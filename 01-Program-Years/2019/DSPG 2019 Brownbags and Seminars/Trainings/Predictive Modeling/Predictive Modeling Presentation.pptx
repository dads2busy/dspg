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4" r:id="rId6"/>
    <p:sldId id="260" r:id="rId7"/>
    <p:sldId id="275" r:id="rId8"/>
    <p:sldId id="276" r:id="rId9"/>
    <p:sldId id="263" r:id="rId10"/>
    <p:sldId id="264" r:id="rId11"/>
    <p:sldId id="265" r:id="rId12"/>
    <p:sldId id="266" r:id="rId13"/>
    <p:sldId id="268" r:id="rId14"/>
    <p:sldId id="269" r:id="rId15"/>
    <p:sldId id="272" r:id="rId16"/>
    <p:sldId id="273" r:id="rId17"/>
    <p:sldId id="27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3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whney, Raghav (rs7te)" userId="S::rs7te@virginia.edu::5fd2584d-5822-4094-96f9-28484473c3bc" providerId="AD" clId="Web-{801C6C41-81DC-BA67-1645-93E83625C72B}"/>
    <pc:docChg chg="delSld">
      <pc:chgData name="Sawhney, Raghav (rs7te)" userId="S::rs7te@virginia.edu::5fd2584d-5822-4094-96f9-28484473c3bc" providerId="AD" clId="Web-{801C6C41-81DC-BA67-1645-93E83625C72B}" dt="2019-07-15T13:18:39.420" v="1"/>
      <pc:docMkLst>
        <pc:docMk/>
      </pc:docMkLst>
      <pc:sldChg chg="del">
        <pc:chgData name="Sawhney, Raghav (rs7te)" userId="S::rs7te@virginia.edu::5fd2584d-5822-4094-96f9-28484473c3bc" providerId="AD" clId="Web-{801C6C41-81DC-BA67-1645-93E83625C72B}" dt="2019-07-15T13:18:39.420" v="1"/>
        <pc:sldMkLst>
          <pc:docMk/>
          <pc:sldMk cId="2597214872" sldId="261"/>
        </pc:sldMkLst>
      </pc:sldChg>
      <pc:sldChg chg="del">
        <pc:chgData name="Sawhney, Raghav (rs7te)" userId="S::rs7te@virginia.edu::5fd2584d-5822-4094-96f9-28484473c3bc" providerId="AD" clId="Web-{801C6C41-81DC-BA67-1645-93E83625C72B}" dt="2019-07-15T13:18:28.717" v="0"/>
        <pc:sldMkLst>
          <pc:docMk/>
          <pc:sldMk cId="1958988894" sldId="26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338C4-A504-415D-8303-72B82ACBD2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D5A64C-034A-42C5-A6FD-547071DE55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62FE3B-8B52-45CC-9BB4-35D62D49B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570F9-4AB6-4C9D-B7FB-A14742ED8B4F}" type="datetimeFigureOut">
              <a:rPr lang="en-US" smtClean="0"/>
              <a:t>7/15/2019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941878-8215-4FBB-AA71-CE0DA8CAB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D00FF3-8725-46B2-B25D-BB4A53F2A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2DE79-E9FE-4A43-9018-E6D0880C4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749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266D9-DB54-438D-A2A7-C72E24F2D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2C4CC-11EC-4881-A419-D999D07289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8688FD-A90B-4975-B43D-39F2C29CB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570F9-4AB6-4C9D-B7FB-A14742ED8B4F}" type="datetimeFigureOut">
              <a:rPr lang="en-US" smtClean="0"/>
              <a:t>7/15/2019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A99FE5-91C3-4EC3-BE8A-1F270C07B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782DD3-CC72-48E4-8CA7-419A8D959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2DE79-E9FE-4A43-9018-E6D0880C4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664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A15EC-72CF-448C-AF3B-F051611BB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28EA79-70EE-414D-8B87-68B35238CC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7B2151-FE21-4576-BF42-CA8B7004D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570F9-4AB6-4C9D-B7FB-A14742ED8B4F}" type="datetimeFigureOut">
              <a:rPr lang="en-US" smtClean="0"/>
              <a:t>7/15/2019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2AAFD9-B280-47A5-A413-101EDAB48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4DB67-486D-494C-A66E-2896F23F5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2DE79-E9FE-4A43-9018-E6D0880C4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440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FA923-4587-42BE-8B53-EC83C0D45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B168FA-D3B0-4BF1-9A91-FCF03C05E9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60EBD5-D458-46E5-AFDB-41B6F7C2C6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69F58E-BF51-42A1-8D94-D6CCCD9FE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570F9-4AB6-4C9D-B7FB-A14742ED8B4F}" type="datetimeFigureOut">
              <a:rPr lang="en-US" smtClean="0"/>
              <a:t>7/15/2019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53F97A-DE1B-4220-B201-690A3C319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8A977A-563E-41AE-8110-B39CD7D2E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2DE79-E9FE-4A43-9018-E6D0880C4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989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2879B-3EBD-4413-B42C-ED313CDB7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B6EB3C-7CDB-4211-B354-2C3FD65130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337292-D8A5-417D-8AB2-CA81ED6999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D46639-5F1E-412B-B3C8-DC49973B6E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E14F15-7FCB-43A8-BC59-FA9460E8EC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82488E-3AAE-4A83-8262-D2E47BB9D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570F9-4AB6-4C9D-B7FB-A14742ED8B4F}" type="datetimeFigureOut">
              <a:rPr lang="en-US" smtClean="0"/>
              <a:t>7/15/2019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CBE999-896E-46D8-8E7A-1E5CAD38D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C34D56-08DE-43BA-AB40-C8F6D6CDC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2DE79-E9FE-4A43-9018-E6D0880C4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090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5C5A0-6268-4B42-BBB0-B6CC1E759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A6DD7C-D65A-43BD-9E4E-FE1E63DEC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570F9-4AB6-4C9D-B7FB-A14742ED8B4F}" type="datetimeFigureOut">
              <a:rPr lang="en-US" smtClean="0"/>
              <a:t>7/15/2019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5651DE-FC7C-4E1B-9F79-784D14C6A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7B4627-63CE-44CA-B9EB-BBC6EB5B4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2DE79-E9FE-4A43-9018-E6D0880C4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678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D11A7D-5218-4208-95E9-E7D197474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570F9-4AB6-4C9D-B7FB-A14742ED8B4F}" type="datetimeFigureOut">
              <a:rPr lang="en-US" smtClean="0"/>
              <a:t>7/15/2019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6035BD-AF1B-419A-8BAB-415EFD9A1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E7BF5D-FB7F-4C91-89D8-84B97457B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2DE79-E9FE-4A43-9018-E6D0880C4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559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75F4D-80A4-4873-850C-633D3B9ED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48FF3-E17F-4424-A6AE-996C141083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AB1DD9-F7A7-4751-8293-EBDB484AA7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B0BE18-265C-4E40-8B56-8731DB7F4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570F9-4AB6-4C9D-B7FB-A14742ED8B4F}" type="datetimeFigureOut">
              <a:rPr lang="en-US" smtClean="0"/>
              <a:t>7/15/2019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5F734C-D407-4311-91FD-E64566072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45FF05-8658-4676-A278-0204A6FEC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2DE79-E9FE-4A43-9018-E6D0880C4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640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20E69-0468-4286-8C37-0FDB45EB1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4C2175-54E0-4E48-9EC0-9EDED3FEA0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B6EAD6-3496-4AF0-BEF1-0F3534DBB4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32654D-95A1-4695-95D9-992375287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570F9-4AB6-4C9D-B7FB-A14742ED8B4F}" type="datetimeFigureOut">
              <a:rPr lang="en-US" smtClean="0"/>
              <a:t>7/15/2019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CD81D4-EDFD-4567-95AE-671A6513F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8F00D6-DD81-4BFA-A1A0-ADBB1FE0D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2DE79-E9FE-4A43-9018-E6D0880C4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923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FC11C-62C9-49F2-94CC-00008EEE2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FADC96-DA5A-4A28-A707-67D0F2854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7FA8A4-7F9D-4770-9836-904E15AF2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570F9-4AB6-4C9D-B7FB-A14742ED8B4F}" type="datetimeFigureOut">
              <a:rPr lang="en-US" smtClean="0"/>
              <a:t>7/15/2019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B90A75-0846-4C67-95B0-A0F4A4B0C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55DEB-B3F7-4AFC-951F-965844F65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2DE79-E9FE-4A43-9018-E6D0880C4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816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4F0B68-FA9D-42E4-9FE3-0248BBCD3B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CFF22B-E4A8-4E75-8E00-1DA787A11E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BDBA00-7964-440B-B8C6-59732FBED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570F9-4AB6-4C9D-B7FB-A14742ED8B4F}" type="datetimeFigureOut">
              <a:rPr lang="en-US" smtClean="0"/>
              <a:t>7/15/2019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619201-EFF5-425E-ADA1-C00433D4C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D4B24-2B02-435C-90D1-497516B81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2DE79-E9FE-4A43-9018-E6D0880C4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094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468BD0-7186-41A0-B35C-6E2D21BF4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0DA86A-E2F6-44B5-9B89-D93ED20C4D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D18110-6AFD-44CD-B5B2-17B8DC0CF0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7570F9-4AB6-4C9D-B7FB-A14742ED8B4F}" type="datetimeFigureOut">
              <a:rPr lang="en-US" smtClean="0"/>
              <a:t>7/15/2019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824691-E377-4FDE-9E2B-CB4321D439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76A58B-AC7B-4A92-AEFC-9012D8DB8E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62DE79-E9FE-4A43-9018-E6D0880C4C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214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FE5A2-BE17-4A83-8CD3-04A56EE33A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Predictive Modeling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6AA684-BBE1-40D9-993A-CBBA9309DF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Introduction and Fundamentals</a:t>
            </a:r>
          </a:p>
        </p:txBody>
      </p:sp>
      <p:sp>
        <p:nvSpPr>
          <p:cNvPr id="5" name="AutoShape 2" descr="/bin/download/Broadband/7%20Weekly%20updates/2019-07-11_weekly_update/WebHome/1562941985858-770.png">
            <a:extLst>
              <a:ext uri="{FF2B5EF4-FFF2-40B4-BE49-F238E27FC236}">
                <a16:creationId xmlns:a16="http://schemas.microsoft.com/office/drawing/2014/main" id="{D62CAA94-A9A0-47AF-BE1E-69B07E60AF8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7000" y="-1531938"/>
            <a:ext cx="3962400" cy="3190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041265E9-5B77-4926-A1DF-EB43E6212A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1675" y="-1531938"/>
            <a:ext cx="142875" cy="142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9546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17FDC-30F8-4BC0-AE40-96F3BFC61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u="sng" dirty="0"/>
              <a:t>Introduction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D91636-877D-4D9C-9ED5-06F7153137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329125"/>
            <a:ext cx="10871447" cy="3229577"/>
          </a:xfrm>
        </p:spPr>
        <p:txBody>
          <a:bodyPr/>
          <a:lstStyle/>
          <a:p>
            <a:r>
              <a:rPr lang="en-US" sz="2400" dirty="0"/>
              <a:t>Predictive analytics is a useful skill for tackling the following questions-</a:t>
            </a:r>
            <a:br>
              <a:rPr lang="en-US" sz="2400" dirty="0"/>
            </a:br>
            <a:endParaRPr lang="en-US" dirty="0"/>
          </a:p>
          <a:p>
            <a:pPr lvl="2">
              <a:buFont typeface="Wingdings" panose="05000000000000000000" pitchFamily="2" charset="2"/>
              <a:buChar char="ü"/>
            </a:pPr>
            <a:r>
              <a:rPr lang="en-US" dirty="0"/>
              <a:t>How can I predict a continuous or categorical outcome using a set of predictors such that the difference between our predictions and answer is as small as possible?</a:t>
            </a:r>
            <a:br>
              <a:rPr lang="en-US" dirty="0"/>
            </a:br>
            <a:endParaRPr lang="en-US" dirty="0"/>
          </a:p>
          <a:p>
            <a:pPr lvl="2">
              <a:buFont typeface="Wingdings" panose="05000000000000000000" pitchFamily="2" charset="2"/>
              <a:buChar char="ü"/>
            </a:pPr>
            <a:r>
              <a:rPr lang="en-US" dirty="0"/>
              <a:t>How can I make correct predictions about an outcome without knowing the underlying process that produced the outcome?</a:t>
            </a:r>
            <a:br>
              <a:rPr lang="en-US" dirty="0"/>
            </a:br>
            <a:endParaRPr lang="en-US" dirty="0"/>
          </a:p>
          <a:p>
            <a:pPr lvl="2">
              <a:buFont typeface="Wingdings" panose="05000000000000000000" pitchFamily="2" charset="2"/>
              <a:buChar char="ü"/>
            </a:pPr>
            <a:r>
              <a:rPr lang="en-US" dirty="0"/>
              <a:t>How can I predict  an outcome with a lot of potential predictors without knowing which ones are important?</a:t>
            </a:r>
          </a:p>
          <a:p>
            <a:pPr lvl="2">
              <a:buFont typeface="Wingdings" panose="05000000000000000000" pitchFamily="2" charset="2"/>
              <a:buChar char="ü"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F1F484-5D1D-476D-BFDD-1478E2E2C2ED}"/>
              </a:ext>
            </a:extLst>
          </p:cNvPr>
          <p:cNvSpPr txBox="1"/>
          <p:nvPr/>
        </p:nvSpPr>
        <p:spPr>
          <a:xfrm>
            <a:off x="838199" y="1690688"/>
            <a:ext cx="1087144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dirty="0"/>
            </a:br>
            <a:r>
              <a:rPr lang="en-US" sz="2400" b="1" u="sng" dirty="0"/>
              <a:t>Predictive Modeling </a:t>
            </a:r>
            <a:r>
              <a:rPr lang="en-US" sz="2400" dirty="0"/>
              <a:t>– Building of a statistical model (set of rules) for predicting or estimating an outcome’s value based on the value of one or more input variables.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481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F1383-8B6E-4FFE-8262-D233CB8F7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Steps of building a predictive model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33511-0480-4E99-95AC-C6F9C7335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AutoNum type="arabicPeriod"/>
            </a:pPr>
            <a:r>
              <a:rPr lang="en-US" dirty="0"/>
              <a:t>Choose your outcome of interest</a:t>
            </a:r>
          </a:p>
          <a:p>
            <a:pPr marL="514350" indent="-514350">
              <a:buAutoNum type="arabicPeriod"/>
            </a:pPr>
            <a:r>
              <a:rPr lang="en-US" dirty="0"/>
              <a:t>Think about variables related to the outcome of interest</a:t>
            </a:r>
          </a:p>
          <a:p>
            <a:pPr marL="514350" indent="-514350">
              <a:buAutoNum type="arabicPeriod"/>
            </a:pPr>
            <a:r>
              <a:rPr lang="en-US" dirty="0"/>
              <a:t>Gather data before and after the outcome occurs </a:t>
            </a:r>
          </a:p>
          <a:p>
            <a:pPr marL="514350" indent="-514350">
              <a:buAutoNum type="arabicPeriod"/>
            </a:pPr>
            <a:r>
              <a:rPr lang="en-US" dirty="0"/>
              <a:t>Enter/Clean/Transform data as required</a:t>
            </a:r>
          </a:p>
          <a:p>
            <a:pPr marL="514350" indent="-514350">
              <a:buAutoNum type="arabicPeriod"/>
            </a:pPr>
            <a:r>
              <a:rPr lang="en-US" dirty="0"/>
              <a:t>Create new variables from existing data</a:t>
            </a:r>
          </a:p>
          <a:p>
            <a:pPr marL="514350" indent="-514350">
              <a:buAutoNum type="arabicPeriod"/>
            </a:pPr>
            <a:r>
              <a:rPr lang="en-US" dirty="0"/>
              <a:t>Fit a predictive model algorithm </a:t>
            </a:r>
          </a:p>
          <a:p>
            <a:pPr marL="514350" indent="-514350">
              <a:buAutoNum type="arabicPeriod"/>
            </a:pPr>
            <a:r>
              <a:rPr lang="en-US" dirty="0"/>
              <a:t>Examine a models performance</a:t>
            </a:r>
          </a:p>
          <a:p>
            <a:pPr marL="514350" indent="-514350">
              <a:buAutoNum type="arabicPeriod"/>
            </a:pPr>
            <a:r>
              <a:rPr lang="en-US" dirty="0"/>
              <a:t>Make adjustments to data/model</a:t>
            </a:r>
          </a:p>
          <a:p>
            <a:pPr marL="514350" indent="-514350">
              <a:buAutoNum type="arabicPeriod"/>
            </a:pPr>
            <a:r>
              <a:rPr lang="en-US" dirty="0"/>
              <a:t>Keep model </a:t>
            </a:r>
          </a:p>
        </p:txBody>
      </p:sp>
    </p:spTree>
    <p:extLst>
      <p:ext uri="{BB962C8B-B14F-4D97-AF65-F5344CB8AC3E}">
        <p14:creationId xmlns:p14="http://schemas.microsoft.com/office/powerpoint/2010/main" val="775032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64194-845C-4DAD-9CE1-8D9DC61F0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Data and Scaling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2CE39-1C9D-49F7-A6B3-F13B59BD4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Scales of measurement (Nominal, Ordinal, Interval, Ratio)</a:t>
            </a:r>
            <a:br>
              <a:rPr lang="en-US" dirty="0"/>
            </a:br>
            <a:endParaRPr lang="en-US" dirty="0"/>
          </a:p>
          <a:p>
            <a:r>
              <a:rPr lang="en-US" dirty="0"/>
              <a:t>Qualitative vs Quantitative</a:t>
            </a:r>
            <a:br>
              <a:rPr lang="en-US" dirty="0"/>
            </a:br>
            <a:endParaRPr lang="en-US" dirty="0"/>
          </a:p>
          <a:p>
            <a:r>
              <a:rPr lang="en-US" dirty="0"/>
              <a:t>Importance of scaling-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 The prediction method we choose differs depending on the scale type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 Different scales provide different amount of information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 Different scales help examine relationships accurately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 Using different scaling might make the data invalid </a:t>
            </a:r>
            <a:br>
              <a:rPr lang="en-US" dirty="0"/>
            </a:b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4173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F0DEA-8AB9-4A64-8480-5B0D52DE9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Data and Scaling contd.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B46F0-340F-4961-9AA6-8B25A36E2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4351338"/>
          </a:xfrm>
        </p:spPr>
        <p:txBody>
          <a:bodyPr>
            <a:normAutofit lnSpcReduction="10000"/>
          </a:bodyPr>
          <a:lstStyle/>
          <a:p>
            <a:pPr marL="0" indent="0" fontAlgn="base">
              <a:buNone/>
            </a:pPr>
            <a:r>
              <a:rPr lang="en-US" b="1" dirty="0"/>
              <a:t>Nominal Scaling: </a:t>
            </a:r>
            <a:r>
              <a:rPr lang="en-US" dirty="0"/>
              <a:t>Unordered Categories/Labels (Categories with no definite order). Example- Gender, </a:t>
            </a:r>
            <a:r>
              <a:rPr lang="en-US" dirty="0" err="1"/>
              <a:t>Zipcode</a:t>
            </a:r>
            <a:r>
              <a:rPr lang="en-US" dirty="0"/>
              <a:t>, Political affiliation </a:t>
            </a:r>
          </a:p>
          <a:p>
            <a:pPr marL="0" indent="0" fontAlgn="base">
              <a:buNone/>
            </a:pPr>
            <a:br>
              <a:rPr lang="en-US" dirty="0"/>
            </a:br>
            <a:r>
              <a:rPr lang="en-US" b="1" dirty="0"/>
              <a:t>Ordinal Scaling: </a:t>
            </a:r>
            <a:r>
              <a:rPr lang="en-US" dirty="0"/>
              <a:t>Ordered Values/Ranks (Values that have a natural order). Example- Ranking, School year</a:t>
            </a:r>
            <a:endParaRPr lang="en-US" b="1" dirty="0"/>
          </a:p>
          <a:p>
            <a:pPr marL="0" indent="0" fontAlgn="base">
              <a:buNone/>
            </a:pPr>
            <a:br>
              <a:rPr lang="en-US" dirty="0"/>
            </a:br>
            <a:r>
              <a:rPr lang="en-US" b="1" dirty="0"/>
              <a:t>Interval Scaling: </a:t>
            </a:r>
            <a:r>
              <a:rPr lang="en-US" dirty="0"/>
              <a:t>Equally spaced numbers (Ordered measurement in equally spaced units. Example- Temperature, IQ, SAT scores </a:t>
            </a:r>
            <a:endParaRPr lang="en-US" b="1" dirty="0"/>
          </a:p>
          <a:p>
            <a:pPr marL="0" indent="0" fontAlgn="base">
              <a:buNone/>
            </a:pPr>
            <a:br>
              <a:rPr lang="en-US" dirty="0"/>
            </a:br>
            <a:r>
              <a:rPr lang="en-US" b="1" dirty="0"/>
              <a:t>Ratio Scaling: </a:t>
            </a:r>
            <a:r>
              <a:rPr lang="en-US" dirty="0"/>
              <a:t>Equally spaced numbers with a true zero. Example- Height, Work Experience</a:t>
            </a: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6370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F645A-1039-4A9F-B411-C7665FA7A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Data Cleaning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18279B-F5C5-431C-88DE-CEBC17596E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64311"/>
            <a:ext cx="2934810" cy="4312652"/>
          </a:xfrm>
        </p:spPr>
        <p:txBody>
          <a:bodyPr>
            <a:normAutofit fontScale="92500"/>
          </a:bodyPr>
          <a:lstStyle/>
          <a:p>
            <a:endParaRPr lang="en-US" sz="2400" dirty="0"/>
          </a:p>
          <a:p>
            <a:pPr marL="0" indent="0">
              <a:buNone/>
            </a:pPr>
            <a:r>
              <a:rPr lang="en-US" sz="2400" dirty="0"/>
              <a:t>Common steps for data cleaning-</a:t>
            </a:r>
          </a:p>
          <a:p>
            <a:r>
              <a:rPr lang="en-US" sz="2400" dirty="0"/>
              <a:t>Check for formatting errors</a:t>
            </a:r>
          </a:p>
          <a:p>
            <a:r>
              <a:rPr lang="en-US" sz="2400" dirty="0"/>
              <a:t>Check for impossible values</a:t>
            </a:r>
          </a:p>
          <a:p>
            <a:r>
              <a:rPr lang="en-US" sz="2400" dirty="0"/>
              <a:t>Check for outliers</a:t>
            </a:r>
          </a:p>
          <a:p>
            <a:r>
              <a:rPr lang="en-US" sz="2400" dirty="0"/>
              <a:t>Check for missing values</a:t>
            </a:r>
          </a:p>
          <a:p>
            <a:r>
              <a:rPr lang="en-US" sz="2400" dirty="0"/>
              <a:t>Check for inattention</a:t>
            </a:r>
          </a:p>
          <a:p>
            <a:pPr marL="0" indent="0">
              <a:buNone/>
            </a:pPr>
            <a:endParaRPr lang="en-US" sz="3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0282DDB-4E89-40FB-9D61-07007820B6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8262" y="2405849"/>
            <a:ext cx="8553738" cy="3664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304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FDC5F-0BD7-4AE7-A765-DF8342391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Data Restructuring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667DF-A461-436A-B8BF-C5DAB74E53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071" y="2024108"/>
            <a:ext cx="7435788" cy="4108466"/>
          </a:xfrm>
        </p:spPr>
        <p:txBody>
          <a:bodyPr>
            <a:normAutofit fontScale="70000" lnSpcReduction="20000"/>
          </a:bodyPr>
          <a:lstStyle/>
          <a:p>
            <a:pPr marL="0" indent="0" fontAlgn="base">
              <a:buNone/>
            </a:pPr>
            <a:r>
              <a:rPr lang="en-US" dirty="0"/>
              <a:t>Converting qualitative nominal data using either </a:t>
            </a:r>
            <a:r>
              <a:rPr lang="en-US" b="1" u="sng" dirty="0"/>
              <a:t>one-hot-encoding</a:t>
            </a:r>
            <a:r>
              <a:rPr lang="en-US" dirty="0"/>
              <a:t> or </a:t>
            </a:r>
            <a:r>
              <a:rPr lang="en-US" b="1" u="sng" dirty="0"/>
              <a:t>dummy coding</a:t>
            </a:r>
            <a:endParaRPr lang="en-US" dirty="0"/>
          </a:p>
          <a:p>
            <a:pPr marL="0" indent="0" fontAlgn="base">
              <a:buNone/>
            </a:pPr>
            <a:br>
              <a:rPr lang="en-US" dirty="0"/>
            </a:br>
            <a:r>
              <a:rPr lang="en-US" b="1" u="sng" dirty="0"/>
              <a:t>One-hot-encoding:</a:t>
            </a:r>
            <a:r>
              <a:rPr lang="en-US" dirty="0"/>
              <a:t> </a:t>
            </a:r>
            <a:endParaRPr lang="en-US" b="1" dirty="0"/>
          </a:p>
          <a:p>
            <a:pPr marL="457200" lvl="1" indent="0" fontAlgn="base">
              <a:buNone/>
            </a:pPr>
            <a:r>
              <a:rPr lang="en-US" dirty="0"/>
              <a:t>Each category is a separate variable/column</a:t>
            </a:r>
          </a:p>
          <a:p>
            <a:pPr marL="457200" lvl="1" indent="0" fontAlgn="base">
              <a:buNone/>
            </a:pPr>
            <a:r>
              <a:rPr lang="en-US" dirty="0"/>
              <a:t>The category the person belongs to has a 1 in the corresponding column</a:t>
            </a:r>
          </a:p>
          <a:p>
            <a:pPr marL="457200" lvl="1" indent="0" fontAlgn="base">
              <a:buNone/>
            </a:pPr>
            <a:r>
              <a:rPr lang="en-US" dirty="0"/>
              <a:t>The categories the person doesn’t belong to has a 0 in the corresponding column</a:t>
            </a:r>
          </a:p>
          <a:p>
            <a:pPr marL="0" indent="0" fontAlgn="base">
              <a:buNone/>
            </a:pPr>
            <a:br>
              <a:rPr lang="en-US" dirty="0"/>
            </a:br>
            <a:r>
              <a:rPr lang="en-US" b="1" u="sng" dirty="0"/>
              <a:t>Dummy coding:</a:t>
            </a:r>
            <a:endParaRPr lang="en-US" b="1" dirty="0"/>
          </a:p>
          <a:p>
            <a:pPr marL="457200" lvl="1" indent="0" fontAlgn="base">
              <a:buNone/>
            </a:pPr>
            <a:r>
              <a:rPr lang="en-US" b="1" u="sng" dirty="0"/>
              <a:t>Each category has a separate variable/column, except for one: the reference category</a:t>
            </a:r>
            <a:endParaRPr lang="en-US" b="1" dirty="0"/>
          </a:p>
          <a:p>
            <a:pPr marL="457200" lvl="1" indent="0" fontAlgn="base">
              <a:buNone/>
            </a:pPr>
            <a:r>
              <a:rPr lang="en-US" dirty="0"/>
              <a:t>The reference category does not receive a predictor column</a:t>
            </a:r>
          </a:p>
          <a:p>
            <a:pPr marL="457200" lvl="1" indent="0" fontAlgn="base">
              <a:buNone/>
            </a:pPr>
            <a:r>
              <a:rPr lang="en-US" dirty="0"/>
              <a:t>The category the person belongs to has a 1 in the corresponding column, if the category has a column</a:t>
            </a:r>
          </a:p>
          <a:p>
            <a:pPr marL="457200" lvl="1" indent="0" fontAlgn="base">
              <a:buNone/>
            </a:pPr>
            <a:r>
              <a:rPr lang="en-US" dirty="0"/>
              <a:t>If the person does not belong to the category, the corresponding column has a 0 in it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3EE7D6-741E-4037-BBB9-B9A3E99C34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003" y="2795587"/>
            <a:ext cx="3838575" cy="12668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CC9AF47-C55A-4E2C-A36D-DA4ED2D8F1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6527" y="4741924"/>
            <a:ext cx="3019425" cy="139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034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1B6E560-744B-46DE-88B0-020079CCE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Data Standardization &amp; Normalization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241DD24-D27F-4BA1-B16C-732CB0FAAD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852930"/>
            <a:ext cx="5039360" cy="2769870"/>
          </a:xfrm>
        </p:spPr>
        <p:txBody>
          <a:bodyPr>
            <a:normAutofit fontScale="92500" lnSpcReduction="20000"/>
          </a:bodyPr>
          <a:lstStyle/>
          <a:p>
            <a:pPr marL="0" indent="0" fontAlgn="base">
              <a:buNone/>
            </a:pPr>
            <a:r>
              <a:rPr lang="en-US" sz="2100" dirty="0"/>
              <a:t>Standardization-</a:t>
            </a:r>
          </a:p>
          <a:p>
            <a:pPr lvl="1" fontAlgn="base"/>
            <a:r>
              <a:rPr lang="en-US" sz="2100" dirty="0"/>
              <a:t>Find the mean of all of the recorded values of the variable</a:t>
            </a:r>
          </a:p>
          <a:p>
            <a:pPr lvl="1" fontAlgn="base"/>
            <a:r>
              <a:rPr lang="en-US" sz="2100" dirty="0"/>
              <a:t>Find the standard deviation of all of the recorded values of the variable</a:t>
            </a:r>
          </a:p>
          <a:p>
            <a:pPr lvl="1" fontAlgn="base"/>
            <a:r>
              <a:rPr lang="en-US" sz="2100" dirty="0"/>
              <a:t>For each value in the column, subtract the mean from it, and divide the difference by the standard deviation 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7E7A7BF-207B-4C34-B6FC-DDFBFC16216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181600" y="2086163"/>
            <a:ext cx="6536125" cy="160191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3BD4A23-5684-455F-8EFD-44B5E804AB42}"/>
              </a:ext>
            </a:extLst>
          </p:cNvPr>
          <p:cNvSpPr/>
          <p:nvPr/>
        </p:nvSpPr>
        <p:spPr>
          <a:xfrm>
            <a:off x="0" y="4003040"/>
            <a:ext cx="4947920" cy="2339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latin typeface="Calibri body"/>
              </a:rPr>
              <a:t>Normalization-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Calibri body"/>
                <a:cs typeface="Calibri" panose="020F0502020204030204" pitchFamily="34" charset="0"/>
              </a:rPr>
              <a:t>Find the minimum and maximum value of all of the recorded values of the variable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Calibri body"/>
                <a:cs typeface="Calibri" panose="020F0502020204030204" pitchFamily="34" charset="0"/>
              </a:rPr>
              <a:t>Subtract the minimum value from the maximum value. This is your denominator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Calibri body"/>
                <a:cs typeface="Calibri" panose="020F0502020204030204" pitchFamily="34" charset="0"/>
              </a:rPr>
              <a:t>For each value in the column, subtract the minimum value from it, and divide it by the denominator you computed in step 3</a:t>
            </a:r>
            <a:endParaRPr lang="en-US" b="0" i="0" u="none" strike="noStrike" dirty="0">
              <a:solidFill>
                <a:srgbClr val="000000"/>
              </a:solidFill>
              <a:effectLst/>
              <a:latin typeface="Calibri body"/>
              <a:cs typeface="Calibri" panose="020F050202020403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4D23410-CD82-4B58-A4A7-928BFC51C5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9360" y="4211149"/>
            <a:ext cx="6790004" cy="1884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703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01D87-63FD-4678-B216-9D8E1577B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Classification Vs Regression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4B6A2-A55D-4911-9A79-D2294D7024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/>
          <a:lstStyle/>
          <a:p>
            <a:r>
              <a:rPr lang="en-US" dirty="0"/>
              <a:t>Introducing the two types of predictive models with examples</a:t>
            </a:r>
          </a:p>
          <a:p>
            <a:r>
              <a:rPr lang="en-US" dirty="0"/>
              <a:t>Importance of choosing the correct model</a:t>
            </a:r>
          </a:p>
          <a:p>
            <a:r>
              <a:rPr lang="en-US" dirty="0"/>
              <a:t>Goals of classification and regression algorithms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D81A7E-A991-49BB-B1C0-C1B0110283B2}"/>
              </a:ext>
            </a:extLst>
          </p:cNvPr>
          <p:cNvSpPr txBox="1"/>
          <p:nvPr/>
        </p:nvSpPr>
        <p:spPr>
          <a:xfrm>
            <a:off x="6096000" y="3753664"/>
            <a:ext cx="4589755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/>
              <a:t>Regression Algorithms</a:t>
            </a:r>
          </a:p>
          <a:p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/>
              <a:t>Linear Regression 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/>
              <a:t>Multiple Regression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/>
              <a:t>Regression Trees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/>
              <a:t>Support Vector Regressors</a:t>
            </a:r>
          </a:p>
          <a:p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35469E-E0F3-47EC-A5F9-F51826EC9B46}"/>
              </a:ext>
            </a:extLst>
          </p:cNvPr>
          <p:cNvSpPr txBox="1"/>
          <p:nvPr/>
        </p:nvSpPr>
        <p:spPr>
          <a:xfrm>
            <a:off x="1017233" y="3753664"/>
            <a:ext cx="4589755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/>
              <a:t>Classification Algorithms</a:t>
            </a:r>
          </a:p>
          <a:p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/>
              <a:t>Logistic Regression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/>
              <a:t>Support Vector Machines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/>
              <a:t>Classification Trees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/>
              <a:t>Naïve Bayes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49643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5ABBF-8AA0-43B0-9408-D9BFE4B7F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Evaluating Prediction Errors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20D9D-09EF-494F-91A7-5F13A929F5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1439"/>
            <a:ext cx="10515600" cy="169881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Discuss</a:t>
            </a:r>
            <a:r>
              <a:rPr lang="en-US" b="1" dirty="0"/>
              <a:t> </a:t>
            </a:r>
            <a:r>
              <a:rPr lang="en-US" dirty="0"/>
              <a:t>the different measures of quantifying the performance of regression and classification predictions 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b="1" dirty="0"/>
              <a:t>Goal- </a:t>
            </a:r>
            <a:r>
              <a:rPr lang="en-US" dirty="0"/>
              <a:t>Low error and high generalizability </a:t>
            </a:r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D57C35-AFC3-4D12-A70E-BA095A17A27C}"/>
              </a:ext>
            </a:extLst>
          </p:cNvPr>
          <p:cNvSpPr txBox="1"/>
          <p:nvPr/>
        </p:nvSpPr>
        <p:spPr>
          <a:xfrm>
            <a:off x="763479" y="3227033"/>
            <a:ext cx="442995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Regression Models	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R² : Describes the proportion of variation in the outcome that can be explained by the model. </a:t>
            </a:r>
            <a:br>
              <a:rPr lang="en-US" dirty="0"/>
            </a:br>
            <a:r>
              <a:rPr lang="en-US" dirty="0"/>
              <a:t>It is equal to the square of the correlation between the predictions and the actual value and ranges from 0% to 100%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Mean Absolute Error (MAE)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Root Mean Absolute Error (RMAE)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algn="r"/>
            <a:r>
              <a:rPr lang="en-US" dirty="0"/>
              <a:t>	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D279B9-B30E-4A74-A668-D6E1C9158215}"/>
              </a:ext>
            </a:extLst>
          </p:cNvPr>
          <p:cNvSpPr txBox="1"/>
          <p:nvPr/>
        </p:nvSpPr>
        <p:spPr>
          <a:xfrm>
            <a:off x="6381105" y="3227033"/>
            <a:ext cx="442995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Classification Models	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Confusion Matrix: Visual representation of performance of classification algorithms.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Mathews Correlation Coefficient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F1 Scores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algn="r"/>
            <a:r>
              <a:rPr lang="en-US" dirty="0"/>
              <a:t>	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962E8F3-EB9D-4C10-9BDB-B541CED286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0217" y="4856594"/>
            <a:ext cx="1952350" cy="1827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4492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A55A8-D181-4250-90F6-3357BC47C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Cross Validation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F58C6-BCE1-4FE6-B4B5-FCB17186BF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9295"/>
            <a:ext cx="10515600" cy="1583400"/>
          </a:xfrm>
        </p:spPr>
        <p:txBody>
          <a:bodyPr/>
          <a:lstStyle/>
          <a:p>
            <a:r>
              <a:rPr lang="en-US" dirty="0"/>
              <a:t>Discussing why generalizability is a problem (Overfitting, changes in time, changes in sample characteristics)</a:t>
            </a:r>
          </a:p>
          <a:p>
            <a:r>
              <a:rPr lang="en-US" dirty="0"/>
              <a:t>Evaluating generalizability of a model using K-Fold Cross Validation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A8390D-2F48-4098-9BE1-7B9A82E5DCA1}"/>
              </a:ext>
            </a:extLst>
          </p:cNvPr>
          <p:cNvSpPr txBox="1"/>
          <p:nvPr/>
        </p:nvSpPr>
        <p:spPr>
          <a:xfrm>
            <a:off x="1074197" y="2991774"/>
            <a:ext cx="1087514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K-Fold Cross Validation Steps-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sz="2400" dirty="0"/>
              <a:t> We have a dataset with predictors and outcomes for N observations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sz="2400" dirty="0"/>
              <a:t> We choose a K value where K is the number of times we want to split the data and test our model 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sz="2400" dirty="0"/>
              <a:t>Split the dataset so we have N/K cases left out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sz="2400" dirty="0"/>
              <a:t>Train the model on the remaining cases (N-N/K)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sz="2400" dirty="0"/>
              <a:t>Evaluate the training model by comparing predicted outcomes to the true outcomes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sz="2400" dirty="0"/>
              <a:t>Repeat the process for the remaining cases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sz="2400" dirty="0"/>
              <a:t>Combine (Average/Median) the evaluations to evaluate overall performance. </a:t>
            </a:r>
          </a:p>
        </p:txBody>
      </p:sp>
    </p:spTree>
    <p:extLst>
      <p:ext uri="{BB962C8B-B14F-4D97-AF65-F5344CB8AC3E}">
        <p14:creationId xmlns:p14="http://schemas.microsoft.com/office/powerpoint/2010/main" val="9999633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E1D94-48C4-4015-A006-892876C9A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Cross Validation (contd.)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F5AAE-95E0-416F-B54D-92246679E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252200" cy="452190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/>
              <a:t>We generally use larger values for K since: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 We get more variability in the models</a:t>
            </a:r>
          </a:p>
          <a:p>
            <a:pPr marL="0" indent="0">
              <a:buNone/>
            </a:pPr>
            <a:r>
              <a:rPr lang="en-US" sz="2400" dirty="0"/>
              <a:t>     performance estimate.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 Better representation of the models </a:t>
            </a:r>
          </a:p>
          <a:p>
            <a:pPr marL="0" indent="0">
              <a:buNone/>
            </a:pPr>
            <a:r>
              <a:rPr lang="en-US" sz="2400" dirty="0"/>
              <a:t>     performance on new data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Limitations of K-Fold Cross Validation- </a:t>
            </a:r>
          </a:p>
          <a:p>
            <a:r>
              <a:rPr lang="en-US" sz="2400" dirty="0"/>
              <a:t>Cannot address changes in relationships over time</a:t>
            </a:r>
          </a:p>
          <a:p>
            <a:r>
              <a:rPr lang="en-US" sz="2400" dirty="0"/>
              <a:t>Cannot address unrepresentative samples</a:t>
            </a:r>
          </a:p>
          <a:p>
            <a:r>
              <a:rPr lang="en-US" sz="2400" dirty="0"/>
              <a:t>Does not work when outcomes are skewed or imbalanced (Also introduce stratified K-Fold cross validation)</a:t>
            </a:r>
          </a:p>
        </p:txBody>
      </p:sp>
      <p:pic>
        <p:nvPicPr>
          <p:cNvPr id="1028" name="Picture 4" descr="https://lh4.googleusercontent.com/Mwd6FQft99H04W8b912BVNMBPtoK6BuXIuFNgUOcv9LME6VHlbEgwunAJzP05-kNXx2oHkIqZaK91eUip0PiTr-C2Wxa58qzXo1FIIQRVURKuDaldvEAaDF8TQi7JqXC3WuD1JMMIyY">
            <a:extLst>
              <a:ext uri="{FF2B5EF4-FFF2-40B4-BE49-F238E27FC236}">
                <a16:creationId xmlns:a16="http://schemas.microsoft.com/office/drawing/2014/main" id="{E3D2DAC6-86C2-4AD2-9C66-E5B64CD75B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0320" y="1825624"/>
            <a:ext cx="5364480" cy="2672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98139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4E61D-6D2A-453D-8761-12C83AF3A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K Nearest Neighbors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5EDDD-61B3-48C0-B343-A1B0BD67F8A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K Nearest Neighbors is a classification and regression algorithm that makes a prediction based upon the closest data points</a:t>
            </a:r>
          </a:p>
          <a:p>
            <a:r>
              <a:rPr lang="en-US" sz="2400" dirty="0"/>
              <a:t>It involves comparing features for the new instance with the features from the instances we have already collected. </a:t>
            </a:r>
          </a:p>
          <a:p>
            <a:r>
              <a:rPr lang="en-US" sz="2400" dirty="0"/>
              <a:t>We can quantify how similar two objects distance vectors are using either the Euclidean distance or the City Block (Manhattan) distance as metrics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3592A4-0D79-468E-BA13-93F9D993C1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7664" y="2107381"/>
            <a:ext cx="5066136" cy="3077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6299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7A815-B859-4F42-9EDD-7181AA913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K Nearest Neighbors (contd.)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14C51-2B6B-4DCC-8C28-F73D0F966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68773" y="1903660"/>
            <a:ext cx="51816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Benefits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/>
              <a:t> Training is very fast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/>
              <a:t> Handles complex relationships between variables an outcomes.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/>
              <a:t> Easy to calculate/explain</a:t>
            </a:r>
            <a:br>
              <a:rPr lang="en-US" sz="2000" dirty="0"/>
            </a:br>
            <a:endParaRPr lang="en-US" sz="2400" dirty="0"/>
          </a:p>
          <a:p>
            <a:r>
              <a:rPr lang="en-US" sz="2400" dirty="0"/>
              <a:t>Limitations</a:t>
            </a:r>
            <a:endParaRPr lang="en-US" sz="160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/>
              <a:t> Slow to make predictions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/>
              <a:t> Does not handle many predictors well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/>
              <a:t> Must standardize variables first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/>
              <a:t> Must have large datasets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0692263-DE4C-4BC4-8E69-C8D613286E02}"/>
              </a:ext>
            </a:extLst>
          </p:cNvPr>
          <p:cNvSpPr txBox="1">
            <a:spLocks/>
          </p:cNvSpPr>
          <p:nvPr/>
        </p:nvSpPr>
        <p:spPr>
          <a:xfrm>
            <a:off x="914400" y="1903660"/>
            <a:ext cx="5181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Algorithm Steps</a:t>
            </a:r>
            <a:br>
              <a:rPr lang="en-US" sz="2400" dirty="0"/>
            </a:br>
            <a:endParaRPr lang="en-US" sz="240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/>
              <a:t>For a given point, we calculate the distance to all the other points.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/>
              <a:t>We then pick up the k closest points.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/>
              <a:t>Calculate the probability of each class label given those points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/>
              <a:t>The original point is classified with the label with the largest probability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639189-286F-4A78-9556-E3E1597FB3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9447" y="4806524"/>
            <a:ext cx="1985639" cy="1972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3490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E7419-A9E6-482E-9389-7AA005EBB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Decision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CCD6C-5BC2-4C75-B267-F03EDFE1F7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667250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Decision trees are flexible and powerful method of finding how an outcome relates to the values of many predictors.</a:t>
            </a:r>
          </a:p>
          <a:p>
            <a:r>
              <a:rPr lang="en-US" sz="2400" dirty="0"/>
              <a:t>Decision trees make use of many different variables to determine which group a case belong to based on the values of its variables</a:t>
            </a:r>
          </a:p>
          <a:p>
            <a:r>
              <a:rPr lang="en-US" sz="2400" dirty="0"/>
              <a:t>Goal- To ask a series of questions that separate our</a:t>
            </a:r>
          </a:p>
          <a:p>
            <a:pPr fontAlgn="base"/>
            <a:r>
              <a:rPr lang="en-US" sz="2400" b="1" dirty="0"/>
              <a:t>Example</a:t>
            </a:r>
            <a:r>
              <a:rPr lang="en-US" sz="2400" dirty="0"/>
              <a:t>: Classifying whether a website is “safe” or “risky”</a:t>
            </a:r>
          </a:p>
          <a:p>
            <a:pPr lvl="1" fontAlgn="base"/>
            <a:r>
              <a:rPr lang="en-US" dirty="0"/>
              <a:t>Can know if a website is risky based on its domain and Google rank</a:t>
            </a:r>
          </a:p>
          <a:p>
            <a:pPr lvl="1" fontAlgn="base"/>
            <a:r>
              <a:rPr lang="en-US" dirty="0"/>
              <a:t>If “.info” domain, risky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53CC3D-5DBC-4BBD-9AEB-FE22A550F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8567" y="1825625"/>
            <a:ext cx="4391025" cy="41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0826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CE87D-776D-45CA-A8A2-9E8592774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Decision Trees(contd.)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CF097-BCFF-4A1C-9B1B-760921BFCF7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600" dirty="0"/>
              <a:t>Algorithm Steps-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dirty="0"/>
              <a:t>Start with a dataset which includes outcome categories and variables associated with it.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dirty="0"/>
              <a:t>Split on every possible value of the outcome variable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dirty="0"/>
              <a:t>Split points into two groups based on whether they are above or below that value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dirty="0"/>
              <a:t>Examine the </a:t>
            </a:r>
            <a:r>
              <a:rPr lang="en-US" sz="1800" b="1" dirty="0"/>
              <a:t>purity </a:t>
            </a:r>
            <a:r>
              <a:rPr lang="en-US" sz="1800" dirty="0"/>
              <a:t>(separation between groups) from splitting at that point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dirty="0"/>
              <a:t>Choose the variable and value for that variable that gives us the best change in purity measure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dirty="0"/>
              <a:t>Repeat splitting process and keep explaining the exceptions till we reach a stopping point. 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BB32B7-F98A-4059-A7D8-4D3CBE9AEF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19800" y="1754603"/>
            <a:ext cx="5181600" cy="312811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/>
              <a:t>Benefits-</a:t>
            </a:r>
            <a:r>
              <a:rPr lang="en-US" dirty="0"/>
              <a:t>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dirty="0"/>
              <a:t>Relationship between outcome and predictors are clear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dirty="0"/>
              <a:t>Easy to understand what variables are important in making predictions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dirty="0"/>
              <a:t>Can examine non linear relationships between predictors and outcomes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dirty="0"/>
              <a:t>Quick to calculate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dirty="0"/>
              <a:t>Works for both classifications and regression problems. </a:t>
            </a:r>
          </a:p>
          <a:p>
            <a:pPr marL="457200" lvl="1" indent="0">
              <a:buNone/>
            </a:pPr>
            <a:r>
              <a:rPr lang="en-US" sz="1800" dirty="0"/>
              <a:t> 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US" sz="1800" dirty="0"/>
          </a:p>
          <a:p>
            <a:pPr lvl="1">
              <a:buFont typeface="Wingdings" panose="05000000000000000000" pitchFamily="2" charset="2"/>
              <a:buChar char="ü"/>
            </a:pPr>
            <a:endParaRPr lang="en-US" sz="1800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8E6A64D9-8E66-4422-9311-934E2AEB6584}"/>
              </a:ext>
            </a:extLst>
          </p:cNvPr>
          <p:cNvSpPr txBox="1">
            <a:spLocks/>
          </p:cNvSpPr>
          <p:nvPr/>
        </p:nvSpPr>
        <p:spPr>
          <a:xfrm>
            <a:off x="6252099" y="4612905"/>
            <a:ext cx="5181600" cy="3128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Limitations-</a:t>
            </a:r>
            <a:r>
              <a:rPr lang="en-US" dirty="0"/>
              <a:t>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dirty="0"/>
              <a:t>Complex to find the best tree since we have many hyperparameters to search through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dirty="0"/>
              <a:t>Tree models can be prone to overfitting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1293076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AD21C-9429-45AD-8BA3-F9EB34A44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1A2768-3A1A-449B-B324-3A9B34018FF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93FB0A-2DDD-4CC9-8DB1-CA4F82AED99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864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5AE3D1135F4E41AB498540A40487BD" ma:contentTypeVersion="18" ma:contentTypeDescription="Create a new document." ma:contentTypeScope="" ma:versionID="15adbd330118f8d06bc6615d15ac85a9">
  <xsd:schema xmlns:xsd="http://www.w3.org/2001/XMLSchema" xmlns:xs="http://www.w3.org/2001/XMLSchema" xmlns:p="http://schemas.microsoft.com/office/2006/metadata/properties" xmlns:ns2="7a2657dd-b8a5-4c99-8d51-b0b9d254c989" xmlns:ns3="5ba80a41-9917-4a22-8f13-cb051ddce64c" targetNamespace="http://schemas.microsoft.com/office/2006/metadata/properties" ma:root="true" ma:fieldsID="f6a41e235a72bf34fead84cba91ed4b2" ns2:_="" ns3:_="">
    <xsd:import namespace="7a2657dd-b8a5-4c99-8d51-b0b9d254c989"/>
    <xsd:import namespace="5ba80a41-9917-4a22-8f13-cb051ddce6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657dd-b8a5-4c99-8d51-b0b9d254c9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d038b50-52dc-447d-ac2e-a29bd036c4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a80a41-9917-4a22-8f13-cb051ddce64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ceef030-0fd2-4c4f-af00-feafa4f18198}" ma:internalName="TaxCatchAll" ma:showField="CatchAllData" ma:web="5ba80a41-9917-4a22-8f13-cb051ddce6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a2657dd-b8a5-4c99-8d51-b0b9d254c989">
      <Terms xmlns="http://schemas.microsoft.com/office/infopath/2007/PartnerControls"/>
    </lcf76f155ced4ddcb4097134ff3c332f>
    <TaxCatchAll xmlns="5ba80a41-9917-4a22-8f13-cb051ddce64c" xsi:nil="true"/>
  </documentManagement>
</p:properties>
</file>

<file path=customXml/itemProps1.xml><?xml version="1.0" encoding="utf-8"?>
<ds:datastoreItem xmlns:ds="http://schemas.openxmlformats.org/officeDocument/2006/customXml" ds:itemID="{D67D47C2-A346-4C5D-88AA-FAB361D08EB1}"/>
</file>

<file path=customXml/itemProps2.xml><?xml version="1.0" encoding="utf-8"?>
<ds:datastoreItem xmlns:ds="http://schemas.openxmlformats.org/officeDocument/2006/customXml" ds:itemID="{504A5AE1-EF30-4799-802E-5A28AEE7D3FA}"/>
</file>

<file path=customXml/itemProps3.xml><?xml version="1.0" encoding="utf-8"?>
<ds:datastoreItem xmlns:ds="http://schemas.openxmlformats.org/officeDocument/2006/customXml" ds:itemID="{0FA57A1D-431F-4F43-AA73-AC88F0672BFF}"/>
</file>

<file path=docProps/app.xml><?xml version="1.0" encoding="utf-8"?>
<Properties xmlns="http://schemas.openxmlformats.org/officeDocument/2006/extended-properties" xmlns:vt="http://schemas.openxmlformats.org/officeDocument/2006/docPropsVTypes">
  <TotalTime>11310</TotalTime>
  <Words>951</Words>
  <Application>Microsoft Office PowerPoint</Application>
  <PresentationFormat>Widescreen</PresentationFormat>
  <Paragraphs>193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Predictive Modeling </vt:lpstr>
      <vt:lpstr>Introduction </vt:lpstr>
      <vt:lpstr>Steps of building a predictive model </vt:lpstr>
      <vt:lpstr>Data and Scaling</vt:lpstr>
      <vt:lpstr>Data and Scaling contd. </vt:lpstr>
      <vt:lpstr>Data Cleaning </vt:lpstr>
      <vt:lpstr>Data Restructuring </vt:lpstr>
      <vt:lpstr>Data Standardization &amp; Normalization </vt:lpstr>
      <vt:lpstr>Classification Vs Regression models</vt:lpstr>
      <vt:lpstr>Evaluating Prediction Errors</vt:lpstr>
      <vt:lpstr>Cross Validation </vt:lpstr>
      <vt:lpstr>Cross Validation (contd.)</vt:lpstr>
      <vt:lpstr>K Nearest Neighbors</vt:lpstr>
      <vt:lpstr>K Nearest Neighbors (contd.)</vt:lpstr>
      <vt:lpstr>Decision Trees</vt:lpstr>
      <vt:lpstr>Decision Trees(contd.)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Predictive Modeling</dc:title>
  <dc:creator>Raghav Sawhney</dc:creator>
  <cp:lastModifiedBy>Raghav Sawhney</cp:lastModifiedBy>
  <cp:revision>32</cp:revision>
  <dcterms:created xsi:type="dcterms:W3CDTF">2019-06-20T18:48:48Z</dcterms:created>
  <dcterms:modified xsi:type="dcterms:W3CDTF">2019-07-15T13:18:39Z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0x010100D45AE3D1135F4E41AB498540A40487BD</vt:lpwstr>
  </property>
</Properties>
</file>