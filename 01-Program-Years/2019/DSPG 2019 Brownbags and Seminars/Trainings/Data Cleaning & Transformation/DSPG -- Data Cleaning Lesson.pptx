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9.xml" ContentType="application/vnd.openxmlformats-officedocument.presentationml.slideMaster+xml"/>
  <Override PartName="/ppt/notesSlides/notesSlide21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4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23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10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66" r:id="rId3"/>
    <p:sldMasterId id="2147483672" r:id="rId4"/>
    <p:sldMasterId id="2147483674" r:id="rId5"/>
    <p:sldMasterId id="2147483680" r:id="rId6"/>
    <p:sldMasterId id="2147483682" r:id="rId7"/>
    <p:sldMasterId id="2147483688" r:id="rId8"/>
    <p:sldMasterId id="2147483690" r:id="rId9"/>
  </p:sldMasterIdLst>
  <p:notesMasterIdLst>
    <p:notesMasterId r:id="rId40"/>
  </p:notesMasterIdLst>
  <p:sldIdLst>
    <p:sldId id="261" r:id="rId10"/>
    <p:sldId id="265" r:id="rId11"/>
    <p:sldId id="275" r:id="rId12"/>
    <p:sldId id="277" r:id="rId13"/>
    <p:sldId id="291" r:id="rId14"/>
    <p:sldId id="293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2" r:id="rId27"/>
    <p:sldId id="294" r:id="rId28"/>
    <p:sldId id="295" r:id="rId29"/>
    <p:sldId id="296" r:id="rId30"/>
    <p:sldId id="297" r:id="rId31"/>
    <p:sldId id="299" r:id="rId32"/>
    <p:sldId id="298" r:id="rId33"/>
    <p:sldId id="300" r:id="rId34"/>
    <p:sldId id="301" r:id="rId35"/>
    <p:sldId id="305" r:id="rId36"/>
    <p:sldId id="302" r:id="rId37"/>
    <p:sldId id="303" r:id="rId38"/>
    <p:sldId id="304" r:id="rId39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12" autoAdjust="0"/>
    <p:restoredTop sz="91935" autoAdjust="0"/>
  </p:normalViewPr>
  <p:slideViewPr>
    <p:cSldViewPr snapToGrid="0">
      <p:cViewPr varScale="1">
        <p:scale>
          <a:sx n="102" d="100"/>
          <a:sy n="102" d="100"/>
        </p:scale>
        <p:origin x="10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customXml" Target="../customXml/item2.xml"/><Relationship Id="rId20" Type="http://schemas.openxmlformats.org/officeDocument/2006/relationships/slide" Target="slides/slide11.xml"/><Relationship Id="rId4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66F972D-C9C3-4684-8F04-4EE2130473DA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75BB4DF-6A98-4887-994B-147B4CA11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1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https://towardsdatascience.com/data-cleaning-with-r-and-the-tidyverse-detecting-missing-values-ea23c519bc62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79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93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0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54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98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can see that the two missing cells were recognized as “NA” and the other missing value with Nan was identified by R as “</a:t>
            </a:r>
            <a:r>
              <a:rPr lang="en-US" dirty="0" err="1" smtClean="0"/>
              <a:t>NaN</a:t>
            </a:r>
            <a:r>
              <a:rPr lang="en-US" dirty="0" smtClean="0"/>
              <a:t>”.</a:t>
            </a:r>
          </a:p>
          <a:p>
            <a:r>
              <a:rPr lang="en-US" dirty="0" smtClean="0"/>
              <a:t>When we run the is.na function, R recognizes both types of missing values. We can see this because there’s three TRUE values that are returned when we run is.na.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32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important (obviously)</a:t>
            </a:r>
          </a:p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mechanisms (MAR, MCAR, MNAR)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 and MOSTLY WRONG ways to deal with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(mean imputation, median imputation,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listwise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deletion)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ways to deal with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(multiple imputation, full information maximum likelihood)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22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Count of is.na picks up NA and </a:t>
            </a:r>
            <a:r>
              <a:rPr lang="en-US" dirty="0" err="1" smtClean="0"/>
              <a:t>NaN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61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Median = 56.95, mutate creates new</a:t>
            </a:r>
            <a:r>
              <a:rPr lang="en-US" baseline="0" dirty="0" smtClean="0"/>
              <a:t> variable but does not save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13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71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6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84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Median = 820.50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21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78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35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71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6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0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27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6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14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If we used a 1-10 scale then anything outside of that would be an error or outlier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4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98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Sometimes missing data is not standardized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42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56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949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BB4DF-6A98-4887-994B-147B4CA115E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76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82757"/>
            <a:ext cx="12192000" cy="73288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5400">
                <a:solidFill>
                  <a:schemeClr val="bg1"/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289" y="2415639"/>
            <a:ext cx="12192000" cy="773112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4400" baseline="0">
                <a:solidFill>
                  <a:schemeClr val="bg1"/>
                </a:solidFill>
                <a:latin typeface="ITC Franklin Gothic Std Demi Extra Compressed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12095" y="3644103"/>
            <a:ext cx="12192000" cy="419581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2800" baseline="0">
                <a:solidFill>
                  <a:schemeClr val="bg1"/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dirty="0"/>
              <a:t>OPTIONAL AUTHOR NAME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063684"/>
            <a:ext cx="12192000" cy="346075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600" b="0" i="1" baseline="0">
                <a:solidFill>
                  <a:schemeClr val="bg1"/>
                </a:solidFill>
                <a:latin typeface="ITC Franklin Gothic Std Book"/>
              </a:defRPr>
            </a:lvl1pPr>
          </a:lstStyle>
          <a:p>
            <a:pPr lvl="0"/>
            <a:r>
              <a:rPr lang="en-US" dirty="0"/>
              <a:t>August 27th, 2016</a:t>
            </a:r>
          </a:p>
        </p:txBody>
      </p:sp>
    </p:spTree>
    <p:extLst>
      <p:ext uri="{BB962C8B-B14F-4D97-AF65-F5344CB8AC3E}">
        <p14:creationId xmlns:p14="http://schemas.microsoft.com/office/powerpoint/2010/main" val="164811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BCE-22B7-494E-B774-A0AAD151798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B8AC6-6724-4257-871B-749BDAA9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0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BCE-22B7-494E-B774-A0AAD151798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B8AC6-6724-4257-871B-749BDAA9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4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607897" y="1473518"/>
            <a:ext cx="6431704" cy="521938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400" baseline="3000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Extra Compressed"/>
              </a:defRPr>
            </a:lvl1pPr>
          </a:lstStyle>
          <a:p>
            <a:pPr lvl="0"/>
            <a:r>
              <a:rPr lang="en-US" dirty="0"/>
              <a:t>1. Introduction Title Placed Here</a:t>
            </a:r>
          </a:p>
          <a:p>
            <a:pPr lvl="0"/>
            <a:r>
              <a:rPr lang="en-US" dirty="0"/>
              <a:t>2. Purpose Title Here</a:t>
            </a:r>
          </a:p>
          <a:p>
            <a:pPr lvl="0"/>
            <a:r>
              <a:rPr lang="en-US" dirty="0"/>
              <a:t>3. Description Title Would Go Here</a:t>
            </a:r>
          </a:p>
          <a:p>
            <a:pPr lvl="0"/>
            <a:r>
              <a:rPr lang="en-US" dirty="0"/>
              <a:t>4.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Etam</a:t>
            </a:r>
            <a:r>
              <a:rPr lang="en-US" dirty="0"/>
              <a:t> Would Go Here</a:t>
            </a:r>
          </a:p>
          <a:p>
            <a:pPr lvl="0"/>
            <a:r>
              <a:rPr lang="en-US" dirty="0"/>
              <a:t>5. </a:t>
            </a:r>
            <a:r>
              <a:rPr lang="en-US" dirty="0" err="1"/>
              <a:t>Ipsum</a:t>
            </a:r>
            <a:r>
              <a:rPr lang="en-US" dirty="0"/>
              <a:t> Dolor Would Go Here</a:t>
            </a:r>
          </a:p>
          <a:p>
            <a:pPr lvl="0"/>
            <a:r>
              <a:rPr lang="en-US" dirty="0"/>
              <a:t>6. Methodology Would Be Placed Here</a:t>
            </a:r>
          </a:p>
          <a:p>
            <a:pPr lvl="0"/>
            <a:r>
              <a:rPr lang="en-US" dirty="0"/>
              <a:t>7. Research Title Would Go Here</a:t>
            </a:r>
          </a:p>
          <a:p>
            <a:pPr lvl="0"/>
            <a:r>
              <a:rPr lang="en-US" dirty="0"/>
              <a:t>8. Findings Another Title Would Go Here</a:t>
            </a:r>
          </a:p>
        </p:txBody>
      </p:sp>
    </p:spTree>
    <p:extLst>
      <p:ext uri="{BB962C8B-B14F-4D97-AF65-F5344CB8AC3E}">
        <p14:creationId xmlns:p14="http://schemas.microsoft.com/office/powerpoint/2010/main" val="378954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BCE-22B7-494E-B774-A0AAD151798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B8AC6-6724-4257-871B-749BDAA9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2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9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et,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39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non ant. Lore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lunpt</a:t>
            </a:r>
            <a:r>
              <a:rPr lang="en-US" dirty="0"/>
              <a:t> and </a:t>
            </a:r>
            <a:r>
              <a:rPr lang="en-US" dirty="0" err="1"/>
              <a:t>ishlam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2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65725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42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038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et,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5226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LIST HERE</a:t>
            </a:r>
          </a:p>
        </p:txBody>
      </p:sp>
    </p:spTree>
    <p:extLst>
      <p:ext uri="{BB962C8B-B14F-4D97-AF65-F5344CB8AC3E}">
        <p14:creationId xmlns:p14="http://schemas.microsoft.com/office/powerpoint/2010/main" val="2889976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SHORT PARAGRAPH TEMPLATE TITLE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non ant. Lore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lunpt</a:t>
            </a:r>
            <a:r>
              <a:rPr lang="en-US" dirty="0"/>
              <a:t> and </a:t>
            </a:r>
            <a:r>
              <a:rPr lang="en-US" dirty="0" err="1"/>
              <a:t>ishlam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054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3167553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648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93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236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2185434"/>
            <a:ext cx="5419628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2185434"/>
            <a:ext cx="5264149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et,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440267" y="213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1068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192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LIST HERE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006426" y="2006600"/>
            <a:ext cx="4240107" cy="3886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  <a:p>
            <a:pPr lvl="0"/>
            <a:r>
              <a:rPr lang="en-US" dirty="0"/>
              <a:t>Et Su </a:t>
            </a:r>
            <a:r>
              <a:rPr lang="en-US" dirty="0" err="1"/>
              <a:t>Domine</a:t>
            </a:r>
            <a:r>
              <a:rPr lang="en-US" dirty="0"/>
              <a:t> Antes</a:t>
            </a:r>
          </a:p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</a:t>
            </a:r>
          </a:p>
          <a:p>
            <a:pPr lvl="0"/>
            <a:r>
              <a:rPr lang="en-US" dirty="0" err="1"/>
              <a:t>Ishnack</a:t>
            </a:r>
            <a:r>
              <a:rPr lang="en-US" dirty="0"/>
              <a:t> Mansions Epson</a:t>
            </a:r>
          </a:p>
        </p:txBody>
      </p:sp>
    </p:spTree>
    <p:extLst>
      <p:ext uri="{BB962C8B-B14F-4D97-AF65-F5344CB8AC3E}">
        <p14:creationId xmlns:p14="http://schemas.microsoft.com/office/powerpoint/2010/main" val="1371563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63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SHORT PARAGRAPH TEMPLATE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22987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potenti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et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vitae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dolor, </a:t>
            </a:r>
            <a:r>
              <a:rPr lang="en-US" dirty="0" err="1"/>
              <a:t>finibus</a:t>
            </a:r>
            <a:r>
              <a:rPr lang="en-US" dirty="0"/>
              <a:t> in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com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Quisquety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dolor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ornare</a:t>
            </a:r>
            <a:r>
              <a:rPr lang="en-US" dirty="0"/>
              <a:t> at </a:t>
            </a:r>
            <a:r>
              <a:rPr lang="en-US" dirty="0" err="1"/>
              <a:t>commodo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un semper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nunc</a:t>
            </a:r>
            <a:r>
              <a:rPr lang="en-US" dirty="0"/>
              <a:t> vitae dictum </a:t>
            </a:r>
            <a:r>
              <a:rPr lang="en-US" dirty="0" err="1"/>
              <a:t>pretium</a:t>
            </a:r>
            <a:r>
              <a:rPr lang="en-US" dirty="0"/>
              <a:t>,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non ant. Lore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lunpt</a:t>
            </a:r>
            <a:r>
              <a:rPr lang="en-US" dirty="0"/>
              <a:t> and </a:t>
            </a:r>
            <a:r>
              <a:rPr lang="en-US" dirty="0" err="1"/>
              <a:t>ishlam</a:t>
            </a:r>
            <a:r>
              <a:rPr lang="en-US" dirty="0"/>
              <a:t>.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etus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4638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446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20804490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067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 dirty="0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 dirty="0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dirty="0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76729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0160"/>
            <a:ext cx="12192000" cy="5232400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12158"/>
              </a:solidFill>
            </a:endParaRPr>
          </a:p>
        </p:txBody>
      </p:sp>
      <p:pic>
        <p:nvPicPr>
          <p:cNvPr id="13" name="Picture 12" descr="dotted_line_white.p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37"/>
          <a:stretch/>
        </p:blipFill>
        <p:spPr>
          <a:xfrm>
            <a:off x="1158596" y="3207553"/>
            <a:ext cx="9981755" cy="2820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163758-D40C-E645-8713-B342A6A91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2055" y="5546195"/>
            <a:ext cx="9114836" cy="11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tents_orange.jp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7" y="329676"/>
            <a:ext cx="3711689" cy="21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3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pic>
        <p:nvPicPr>
          <p:cNvPr id="8" name="Picture 7" descr="UVA_Primary_white.eps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29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brushedge_solid_blue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pic>
        <p:nvPicPr>
          <p:cNvPr id="9" name="Picture 8" descr="UVA_Primary_white.ep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6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VA_Primary_white.eps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2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sp>
        <p:nvSpPr>
          <p:cNvPr id="8" name="Rectangle 3"/>
          <p:cNvSpPr/>
          <p:nvPr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4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6"/>
          <p:cNvSpPr/>
          <p:nvPr/>
        </p:nvSpPr>
        <p:spPr>
          <a:xfrm>
            <a:off x="2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1" y="277922"/>
            <a:ext cx="1877883" cy="3471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6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grounds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10121" b="-16499"/>
          <a:stretch/>
        </p:blipFill>
        <p:spPr>
          <a:xfrm>
            <a:off x="-19614" y="457200"/>
            <a:ext cx="12211615" cy="6974051"/>
          </a:xfrm>
          <a:prstGeom prst="rect">
            <a:avLst/>
          </a:prstGeom>
        </p:spPr>
      </p:pic>
      <p:sp>
        <p:nvSpPr>
          <p:cNvPr id="9" name="Rectangle 3"/>
          <p:cNvSpPr/>
          <p:nvPr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6"/>
          <p:cNvSpPr/>
          <p:nvPr/>
        </p:nvSpPr>
        <p:spPr>
          <a:xfrm>
            <a:off x="-3507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UVA_Primary_white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67" y="277922"/>
            <a:ext cx="1877883" cy="3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6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83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 hidden="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4568085" y="1179719"/>
            <a:ext cx="3055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Data Cleaning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62228" y="4140857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DSPG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05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0" y="269663"/>
            <a:ext cx="12192000" cy="457200"/>
          </a:xfrm>
        </p:spPr>
        <p:txBody>
          <a:bodyPr/>
          <a:lstStyle/>
          <a:p>
            <a:r>
              <a:rPr lang="en-US" dirty="0" smtClean="0"/>
              <a:t>Data Cleaning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464216" y="1027422"/>
            <a:ext cx="9263568" cy="4013200"/>
          </a:xfrm>
        </p:spPr>
        <p:txBody>
          <a:bodyPr/>
          <a:lstStyle/>
          <a:p>
            <a:r>
              <a:rPr lang="en-US" dirty="0"/>
              <a:t>Data cleaning refers to the process of either fixing or removing data in a data source that is incorrect, incomplete, improperly formatted, or duplicated.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298812" y="2114167"/>
            <a:ext cx="4076700" cy="3695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87" y="1808000"/>
            <a:ext cx="8093390" cy="41516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27236" y="3487522"/>
            <a:ext cx="1484177" cy="1373962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89" y="-190313"/>
            <a:ext cx="2793651" cy="302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Reading in Data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55280" y="1689100"/>
            <a:ext cx="8817757" cy="4013200"/>
          </a:xfrm>
        </p:spPr>
        <p:txBody>
          <a:bodyPr/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data1 &lt;- read.csv(“file path”)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pigpen1.csv”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48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glimpse()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Tidyverse</a:t>
            </a:r>
            <a:r>
              <a:rPr lang="en-US" dirty="0" smtClean="0"/>
              <a:t> function that provides a listing of variable names and types 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36" y="2179496"/>
            <a:ext cx="11658728" cy="148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0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Duplicate Rows/Cases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There appears to be duplicate rows in our data set.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305608"/>
              </p:ext>
            </p:extLst>
          </p:nvPr>
        </p:nvGraphicFramePr>
        <p:xfrm>
          <a:off x="1027907" y="2031105"/>
          <a:ext cx="10136187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Worksheet" r:id="rId4" imgW="6505603" imgH="2176482" progId="Excel.Sheet.12">
                  <p:embed/>
                </p:oleObj>
              </mc:Choice>
              <mc:Fallback>
                <p:oleObj name="Worksheet" r:id="rId4" imgW="6505603" imgH="2176482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7907" y="2031105"/>
                        <a:ext cx="10136187" cy="339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24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Duplicate Rows/Cases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Removing duplicate rows/cases.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98027" y="1966281"/>
            <a:ext cx="1721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save:</a:t>
            </a:r>
          </a:p>
          <a:p>
            <a:r>
              <a:rPr lang="en-US" dirty="0"/>
              <a:t>data1 &lt;- *code*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726" y="2002573"/>
            <a:ext cx="9972626" cy="321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0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Monthly Charges variable. 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286193"/>
              </p:ext>
            </p:extLst>
          </p:nvPr>
        </p:nvGraphicFramePr>
        <p:xfrm>
          <a:off x="1028700" y="2030413"/>
          <a:ext cx="10136188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Worksheet" r:id="rId4" imgW="6505603" imgH="1995501" progId="Excel.Sheet.12">
                  <p:embed/>
                </p:oleObj>
              </mc:Choice>
              <mc:Fallback>
                <p:oleObj name="Worksheet" r:id="rId4" imgW="6505603" imgH="199550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2030413"/>
                        <a:ext cx="10136188" cy="310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299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Monthly Charges variable.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b="6544"/>
          <a:stretch/>
        </p:blipFill>
        <p:spPr>
          <a:xfrm>
            <a:off x="849975" y="2435121"/>
            <a:ext cx="10629900" cy="5608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75" y="3530280"/>
            <a:ext cx="9115425" cy="6191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62430" y="1847462"/>
            <a:ext cx="7375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‘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smtClean="0"/>
              <a:t>’ symbol specifies a certain column in Tibble by returning a vector of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4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2042" y="1408805"/>
            <a:ext cx="11127917" cy="40132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/>
              <a:t>Missing/special value types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2000" dirty="0"/>
              <a:t>: Stands </a:t>
            </a:r>
            <a:r>
              <a:rPr lang="en-US" sz="2000" dirty="0" smtClean="0"/>
              <a:t>for not </a:t>
            </a:r>
            <a:r>
              <a:rPr lang="en-US" sz="2000" dirty="0"/>
              <a:t>available</a:t>
            </a:r>
            <a:r>
              <a:rPr lang="en-US" sz="2000" dirty="0" smtClean="0"/>
              <a:t>.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2000" dirty="0" smtClean="0"/>
              <a:t> is </a:t>
            </a:r>
            <a:r>
              <a:rPr lang="en-US" sz="2000" dirty="0"/>
              <a:t>a placeholder for a missing value. All basic operations </a:t>
            </a:r>
            <a:r>
              <a:rPr lang="en-US" sz="2000" dirty="0" smtClean="0"/>
              <a:t>in R handle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2000" dirty="0" smtClean="0"/>
              <a:t> without </a:t>
            </a:r>
            <a:r>
              <a:rPr lang="en-US" sz="2000" dirty="0"/>
              <a:t>crashing and mostly </a:t>
            </a:r>
            <a:r>
              <a:rPr lang="en-US" sz="2000" dirty="0" smtClean="0"/>
              <a:t>return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2000" dirty="0" smtClean="0"/>
              <a:t> as </a:t>
            </a:r>
            <a:r>
              <a:rPr lang="en-US" sz="2000" dirty="0"/>
              <a:t>an answer whenever one of the </a:t>
            </a:r>
            <a:r>
              <a:rPr lang="en-US" sz="2000" dirty="0" smtClean="0"/>
              <a:t>input arguments is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US" sz="2000" dirty="0" smtClean="0"/>
              <a:t>.</a:t>
            </a:r>
            <a:r>
              <a:rPr lang="en-US" sz="2000" dirty="0"/>
              <a:t> [use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000" dirty="0" smtClean="0"/>
              <a:t> </a:t>
            </a:r>
            <a:r>
              <a:rPr lang="en-US" sz="2000" dirty="0"/>
              <a:t>to detect]</a:t>
            </a:r>
            <a:endParaRPr lang="en-US" sz="2000" dirty="0" smtClean="0"/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dirty="0" smtClean="0"/>
              <a:t>: Similar to the </a:t>
            </a:r>
            <a:r>
              <a:rPr lang="en-US" sz="2000" dirty="0"/>
              <a:t>empty set from mathematics</a:t>
            </a:r>
            <a:r>
              <a:rPr lang="en-US" sz="2000" dirty="0" smtClean="0"/>
              <a:t>.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dirty="0" smtClean="0"/>
              <a:t> is </a:t>
            </a:r>
            <a:r>
              <a:rPr lang="en-US" sz="2000" dirty="0"/>
              <a:t>special since it has </a:t>
            </a:r>
            <a:r>
              <a:rPr lang="en-US" sz="2000" dirty="0" smtClean="0"/>
              <a:t>no class (its </a:t>
            </a:r>
            <a:r>
              <a:rPr lang="en-US" sz="2000" dirty="0"/>
              <a:t>class </a:t>
            </a:r>
            <a:r>
              <a:rPr lang="en-US" sz="2000" dirty="0" smtClean="0"/>
              <a:t>is NULL</a:t>
            </a:r>
            <a:r>
              <a:rPr lang="en-US" sz="2000" dirty="0"/>
              <a:t>) and has </a:t>
            </a:r>
            <a:r>
              <a:rPr lang="en-US" sz="2000" dirty="0" smtClean="0"/>
              <a:t>length 0 so </a:t>
            </a:r>
            <a:r>
              <a:rPr lang="en-US" sz="2000" dirty="0"/>
              <a:t>it does not take up any space in a vector</a:t>
            </a:r>
            <a:r>
              <a:rPr lang="en-US" sz="2000" dirty="0" smtClean="0"/>
              <a:t>. [use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is.null</a:t>
            </a:r>
            <a:r>
              <a:rPr lang="en-US" sz="2000" dirty="0" smtClean="0"/>
              <a:t> to detect]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±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en-US" sz="2000" dirty="0" smtClean="0"/>
              <a:t>: Stands for infinity and </a:t>
            </a:r>
            <a:r>
              <a:rPr lang="en-US" sz="2000" dirty="0"/>
              <a:t>only applies to vectors of </a:t>
            </a:r>
            <a:r>
              <a:rPr lang="en-US" sz="2000" dirty="0" smtClean="0"/>
              <a:t>class numeric</a:t>
            </a:r>
            <a:r>
              <a:rPr lang="en-US" sz="2000" dirty="0"/>
              <a:t>. A vector of </a:t>
            </a:r>
            <a:r>
              <a:rPr lang="en-US" sz="2000" dirty="0" smtClean="0"/>
              <a:t>class integer can never be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>
              <a:spcAft>
                <a:spcPts val="1200"/>
              </a:spcAft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2000" dirty="0" smtClean="0"/>
              <a:t>: </a:t>
            </a:r>
            <a:r>
              <a:rPr lang="en-US" sz="2000" dirty="0">
                <a:cs typeface="Arial" panose="020B0604020202020204" pitchFamily="34" charset="0"/>
              </a:rPr>
              <a:t>Stands </a:t>
            </a:r>
            <a:r>
              <a:rPr lang="en-US" sz="2000" dirty="0" smtClean="0">
                <a:cs typeface="Arial" panose="020B0604020202020204" pitchFamily="34" charset="0"/>
              </a:rPr>
              <a:t>for not </a:t>
            </a:r>
            <a:r>
              <a:rPr lang="en-US" sz="2000" dirty="0">
                <a:cs typeface="Arial" panose="020B0604020202020204" pitchFamily="34" charset="0"/>
              </a:rPr>
              <a:t>a number. This is generally the result of a calculation of which the result </a:t>
            </a:r>
            <a:r>
              <a:rPr lang="en-US" sz="2000" dirty="0" smtClean="0">
                <a:cs typeface="Arial" panose="020B0604020202020204" pitchFamily="34" charset="0"/>
              </a:rPr>
              <a:t>is unknown</a:t>
            </a:r>
            <a:r>
              <a:rPr lang="en-US" sz="2000" dirty="0">
                <a:cs typeface="Arial" panose="020B0604020202020204" pitchFamily="34" charset="0"/>
              </a:rPr>
              <a:t>, but it is surely not a number. In particular operations </a:t>
            </a:r>
            <a:r>
              <a:rPr lang="en-US" sz="2000" dirty="0" smtClean="0">
                <a:cs typeface="Arial" panose="020B0604020202020204" pitchFamily="34" charset="0"/>
              </a:rPr>
              <a:t>like 0/0, </a:t>
            </a:r>
            <a:r>
              <a:rPr lang="en-US" sz="2000" dirty="0" err="1" smtClean="0">
                <a:cs typeface="Arial" panose="020B0604020202020204" pitchFamily="34" charset="0"/>
              </a:rPr>
              <a:t>Inf-Inf</a:t>
            </a:r>
            <a:r>
              <a:rPr lang="en-US" sz="2000" dirty="0" smtClean="0">
                <a:cs typeface="Arial" panose="020B0604020202020204" pitchFamily="34" charset="0"/>
              </a:rPr>
              <a:t> and </a:t>
            </a:r>
            <a:r>
              <a:rPr lang="en-US" sz="2000" dirty="0" err="1" smtClean="0">
                <a:cs typeface="Arial" panose="020B0604020202020204" pitchFamily="34" charset="0"/>
              </a:rPr>
              <a:t>Inf</a:t>
            </a:r>
            <a:r>
              <a:rPr lang="en-US" sz="2000" dirty="0" smtClean="0">
                <a:cs typeface="Arial" panose="020B0604020202020204" pitchFamily="34" charset="0"/>
              </a:rPr>
              <a:t>/</a:t>
            </a:r>
            <a:r>
              <a:rPr lang="en-US" sz="2000" dirty="0" err="1" smtClean="0">
                <a:cs typeface="Arial" panose="020B0604020202020204" pitchFamily="34" charset="0"/>
              </a:rPr>
              <a:t>Inf</a:t>
            </a:r>
            <a:r>
              <a:rPr lang="en-US" sz="2000" dirty="0" smtClean="0">
                <a:cs typeface="Arial" panose="020B0604020202020204" pitchFamily="34" charset="0"/>
              </a:rPr>
              <a:t> result in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2000" dirty="0">
                <a:cs typeface="Arial" panose="020B0604020202020204" pitchFamily="34" charset="0"/>
              </a:rPr>
              <a:t>. </a:t>
            </a:r>
            <a:r>
              <a:rPr lang="en-US" sz="2000" dirty="0" smtClean="0">
                <a:cs typeface="Arial" panose="020B0604020202020204" pitchFamily="34" charset="0"/>
              </a:rPr>
              <a:t>Computations </a:t>
            </a:r>
            <a:r>
              <a:rPr lang="en-US" sz="2000" dirty="0">
                <a:cs typeface="Arial" panose="020B0604020202020204" pitchFamily="34" charset="0"/>
              </a:rPr>
              <a:t>involving numbers </a:t>
            </a:r>
            <a:r>
              <a:rPr lang="en-US" sz="2000" dirty="0" smtClean="0">
                <a:cs typeface="Arial" panose="020B0604020202020204" pitchFamily="34" charset="0"/>
              </a:rPr>
              <a:t>and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2000" dirty="0" smtClean="0">
                <a:cs typeface="Arial" panose="020B0604020202020204" pitchFamily="34" charset="0"/>
              </a:rPr>
              <a:t> always </a:t>
            </a:r>
            <a:r>
              <a:rPr lang="en-US" sz="2000" dirty="0">
                <a:cs typeface="Arial" panose="020B0604020202020204" pitchFamily="34" charset="0"/>
              </a:rPr>
              <a:t>result </a:t>
            </a:r>
            <a:r>
              <a:rPr lang="en-US" sz="2000" dirty="0" smtClean="0">
                <a:cs typeface="Arial" panose="020B0604020202020204" pitchFamily="34" charset="0"/>
              </a:rPr>
              <a:t>in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sz="2000" dirty="0" smtClean="0"/>
              <a:t>[use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is.nan</a:t>
            </a:r>
            <a:r>
              <a:rPr lang="en-US" sz="2000" dirty="0" smtClean="0"/>
              <a:t> </a:t>
            </a:r>
            <a:r>
              <a:rPr lang="en-US" sz="2000" dirty="0"/>
              <a:t>to detect]</a:t>
            </a:r>
          </a:p>
          <a:p>
            <a:pPr lvl="1"/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827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count the number of missing values for Monthly </a:t>
            </a:r>
            <a:r>
              <a:rPr lang="en-US" dirty="0"/>
              <a:t>C</a:t>
            </a:r>
            <a:r>
              <a:rPr lang="en-US" dirty="0" smtClean="0"/>
              <a:t>harges variable.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3590"/>
          <a:stretch/>
        </p:blipFill>
        <p:spPr>
          <a:xfrm>
            <a:off x="2628900" y="2519362"/>
            <a:ext cx="6934200" cy="175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8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193" y="1998950"/>
            <a:ext cx="9796679" cy="373398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Identify and replace missing values in Monthly Charges variable with the median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774" y="2178018"/>
            <a:ext cx="23847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Mutate does not save data, only displays it</a:t>
            </a:r>
          </a:p>
          <a:p>
            <a:endParaRPr lang="en-US" sz="1600" dirty="0"/>
          </a:p>
          <a:p>
            <a:r>
              <a:rPr lang="en-US" sz="1600" dirty="0" smtClean="0"/>
              <a:t>To save:</a:t>
            </a:r>
          </a:p>
          <a:p>
            <a:r>
              <a:rPr lang="en-US" sz="1600" dirty="0"/>
              <a:t>d</a:t>
            </a:r>
            <a:r>
              <a:rPr lang="en-US" sz="1600" dirty="0" smtClean="0"/>
              <a:t>ata1 &lt;- *code* </a:t>
            </a:r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4401987" y="3782432"/>
            <a:ext cx="537612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401987" y="4626628"/>
            <a:ext cx="537612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401987" y="5024316"/>
            <a:ext cx="537612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Total Charges variable.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21" y="5037164"/>
            <a:ext cx="11935759" cy="9296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05966" y="5680787"/>
            <a:ext cx="643297" cy="353813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207004"/>
              </p:ext>
            </p:extLst>
          </p:nvPr>
        </p:nvGraphicFramePr>
        <p:xfrm>
          <a:off x="1028700" y="1833563"/>
          <a:ext cx="10136188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Worksheet" r:id="rId5" imgW="6505603" imgH="1995501" progId="Excel.Sheet.12">
                  <p:embed/>
                </p:oleObj>
              </mc:Choice>
              <mc:Fallback>
                <p:oleObj name="Worksheet" r:id="rId5" imgW="6505603" imgH="1995501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8700" y="1833563"/>
                        <a:ext cx="10136188" cy="310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599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94" y="1901072"/>
            <a:ext cx="10318805" cy="4168291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Total Charges variable.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6276" y="5762097"/>
            <a:ext cx="477876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822601" y="5762097"/>
            <a:ext cx="477876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085528" y="5772783"/>
            <a:ext cx="477876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Changing Variable Type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Total Charges variable looks to be a character type, should be numeric before imputing missing data.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22" y="2311225"/>
            <a:ext cx="3990975" cy="590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222" y="3480890"/>
            <a:ext cx="76009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69" y="2248460"/>
            <a:ext cx="9468233" cy="367704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Data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Total Charges variable looks to be a character type, should be numeric before imputing missing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507" y="4015647"/>
            <a:ext cx="716815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475507" y="4640567"/>
            <a:ext cx="716815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475506" y="5256296"/>
            <a:ext cx="716815" cy="266509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9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Payment Method variable.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 flipV="1">
            <a:off x="75496" y="5049653"/>
            <a:ext cx="11967488" cy="757848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264271"/>
              </p:ext>
            </p:extLst>
          </p:nvPr>
        </p:nvGraphicFramePr>
        <p:xfrm>
          <a:off x="1028700" y="1833563"/>
          <a:ext cx="10136188" cy="310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Worksheet" r:id="rId5" imgW="6505603" imgH="1995501" progId="Excel.Sheet.12">
                  <p:embed/>
                </p:oleObj>
              </mc:Choice>
              <mc:Fallback>
                <p:oleObj name="Worksheet" r:id="rId5" imgW="6505603" imgH="1995501" progId="Excel.Sheet.12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8700" y="1833563"/>
                        <a:ext cx="10136188" cy="310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830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Let’s look at the Payment Method variable.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43" y="1848699"/>
            <a:ext cx="11093514" cy="404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5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95" y="2157433"/>
            <a:ext cx="10644211" cy="365757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Since Payment Method is a character variable, we cannot impute a median but can replace NAs with a string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6874" y="5120335"/>
            <a:ext cx="1437459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206873" y="4651644"/>
            <a:ext cx="1437459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206872" y="3953081"/>
            <a:ext cx="1437459" cy="269505"/>
          </a:xfrm>
          <a:prstGeom prst="roundRect">
            <a:avLst/>
          </a:prstGeom>
          <a:noFill/>
          <a:ln>
            <a:solidFill>
              <a:srgbClr val="FFFF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7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Removing Extra Spaces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There are extra spaces in the Gender variable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870140"/>
              </p:ext>
            </p:extLst>
          </p:nvPr>
        </p:nvGraphicFramePr>
        <p:xfrm>
          <a:off x="1028700" y="1833563"/>
          <a:ext cx="10136188" cy="310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Worksheet" r:id="rId4" imgW="6505603" imgH="1995501" progId="Excel.Sheet.12">
                  <p:embed/>
                </p:oleObj>
              </mc:Choice>
              <mc:Fallback>
                <p:oleObj name="Worksheet" r:id="rId4" imgW="6505603" imgH="1995501" progId="Excel.Sheet.12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1833563"/>
                        <a:ext cx="10136188" cy="310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962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Removing Extra Spaces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Use the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str_trim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 smtClean="0"/>
              <a:t> function from the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stringr</a:t>
            </a:r>
            <a:r>
              <a:rPr lang="en-US" dirty="0" smtClean="0"/>
              <a:t> package which removes extra white space before and after a string data entry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3093"/>
          <a:stretch/>
        </p:blipFill>
        <p:spPr>
          <a:xfrm>
            <a:off x="855312" y="2232911"/>
            <a:ext cx="10481377" cy="35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0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Recoding Values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Need to standardize coding of Gender values and treat it as a factor.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1974"/>
          <a:stretch/>
        </p:blipFill>
        <p:spPr>
          <a:xfrm>
            <a:off x="1064132" y="1915655"/>
            <a:ext cx="10063737" cy="386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7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Standardized Time/Date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Need to standardize coding of Customer Since date values into Year-Month-Day.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856188"/>
              </p:ext>
            </p:extLst>
          </p:nvPr>
        </p:nvGraphicFramePr>
        <p:xfrm>
          <a:off x="1027113" y="1929388"/>
          <a:ext cx="10136187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Worksheet" r:id="rId4" imgW="6505603" imgH="1995501" progId="Excel.Sheet.12">
                  <p:embed/>
                </p:oleObj>
              </mc:Choice>
              <mc:Fallback>
                <p:oleObj name="Worksheet" r:id="rId4" imgW="6505603" imgH="1995501" progId="Excel.Sheet.12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7113" y="1929388"/>
                        <a:ext cx="10136187" cy="310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59376" y="5309463"/>
            <a:ext cx="507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Desired Format: Year-Month-Day (e.g., 2019-06-24)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Standardized Time/Date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Need to standardize coding of Customer Since date values into Year-Month-Day.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72" y="1778871"/>
            <a:ext cx="10713256" cy="43556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22794" y="4312362"/>
            <a:ext cx="27814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 date is a day stored as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the number of days since</a:t>
            </a:r>
          </a:p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1970-01-01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as.numeric(</a:t>
            </a:r>
            <a:r>
              <a:rPr lang="en-US" sz="1400" dirty="0" err="1">
                <a:solidFill>
                  <a:srgbClr val="FF0000"/>
                </a:solidFill>
              </a:rPr>
              <a:t>as_date</a:t>
            </a:r>
            <a:r>
              <a:rPr lang="en-US" sz="1400" dirty="0">
                <a:solidFill>
                  <a:srgbClr val="FF0000"/>
                </a:solidFill>
              </a:rPr>
              <a:t>("2017-07-17</a:t>
            </a:r>
            <a:r>
              <a:rPr lang="en-US" sz="1400" dirty="0" smtClean="0">
                <a:solidFill>
                  <a:srgbClr val="FF0000"/>
                </a:solidFill>
              </a:rPr>
              <a:t>"))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## 17364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1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Outlier/Input Error </a:t>
            </a:r>
            <a:r>
              <a:rPr lang="en-US" dirty="0" smtClean="0"/>
              <a:t>Detection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Use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US" dirty="0" smtClean="0"/>
              <a:t>function to look for outliers.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022028"/>
              </p:ext>
            </p:extLst>
          </p:nvPr>
        </p:nvGraphicFramePr>
        <p:xfrm>
          <a:off x="1027113" y="1883438"/>
          <a:ext cx="10136187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Worksheet" r:id="rId4" imgW="6505603" imgH="1995501" progId="Excel.Sheet.12">
                  <p:embed/>
                </p:oleObj>
              </mc:Choice>
              <mc:Fallback>
                <p:oleObj name="Worksheet" r:id="rId4" imgW="6505603" imgH="1995501" progId="Excel.Shee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7113" y="1883438"/>
                        <a:ext cx="10136187" cy="310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860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Outlier/Input Error </a:t>
            </a:r>
            <a:r>
              <a:rPr lang="en-US" dirty="0" smtClean="0"/>
              <a:t>Detection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r>
              <a:rPr lang="en-US" dirty="0" smtClean="0"/>
              <a:t>Use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US" dirty="0" smtClean="0"/>
              <a:t>function to look for outliers.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3728"/>
          <a:stretch/>
        </p:blipFill>
        <p:spPr>
          <a:xfrm>
            <a:off x="271298" y="1911802"/>
            <a:ext cx="11649404" cy="142415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1298" y="3515784"/>
            <a:ext cx="2378856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hist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(data1$NetworkPerf)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 boxplot(data1$NetworkPerf)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090" y="3512527"/>
            <a:ext cx="2295381" cy="28492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900" y="3512527"/>
            <a:ext cx="2329901" cy="28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6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Outlier/Input Error </a:t>
            </a:r>
            <a:r>
              <a:rPr lang="en-US" dirty="0" smtClean="0"/>
              <a:t>Detection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67583" y="1416851"/>
            <a:ext cx="10609943" cy="4013200"/>
          </a:xfrm>
        </p:spPr>
        <p:txBody>
          <a:bodyPr/>
          <a:lstStyle/>
          <a:p>
            <a:r>
              <a:rPr lang="en-US" dirty="0" smtClean="0"/>
              <a:t>Use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describe()</a:t>
            </a:r>
            <a:r>
              <a:rPr lang="en-US" dirty="0" smtClean="0"/>
              <a:t>function to look for outliers.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5648" y="1927587"/>
            <a:ext cx="2463816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library(psych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describe(data1)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describe.by(data1, "Gender"))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431" y="1837490"/>
            <a:ext cx="8405655" cy="42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6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Back Up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8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Variable Types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850046" y="1408805"/>
            <a:ext cx="10491908" cy="4013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Numeric - </a:t>
            </a:r>
            <a:r>
              <a:rPr lang="en-US" dirty="0" smtClean="0">
                <a:latin typeface="Times New Roman" panose="02020603050405020304" pitchFamily="18" charset="0"/>
              </a:rPr>
              <a:t>Numeric </a:t>
            </a:r>
            <a:r>
              <a:rPr lang="en-US" dirty="0">
                <a:latin typeface="Times New Roman" panose="02020603050405020304" pitchFamily="18" charset="0"/>
              </a:rPr>
              <a:t>data (approximations of the real </a:t>
            </a:r>
            <a:r>
              <a:rPr lang="en-US" dirty="0" smtClean="0">
                <a:latin typeface="Times New Roman" panose="02020603050405020304" pitchFamily="18" charset="0"/>
              </a:rPr>
              <a:t>numbers; e.g., 1, 0.6667)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Integer - </a:t>
            </a:r>
            <a:r>
              <a:rPr lang="en-US" dirty="0" smtClean="0">
                <a:latin typeface="Times New Roman" panose="02020603050405020304" pitchFamily="18" charset="0"/>
              </a:rPr>
              <a:t>Integer </a:t>
            </a:r>
            <a:r>
              <a:rPr lang="en-US" dirty="0">
                <a:latin typeface="Times New Roman" panose="02020603050405020304" pitchFamily="18" charset="0"/>
              </a:rPr>
              <a:t>data (whole </a:t>
            </a:r>
            <a:r>
              <a:rPr lang="en-US" dirty="0" smtClean="0">
                <a:latin typeface="Times New Roman" panose="02020603050405020304" pitchFamily="18" charset="0"/>
              </a:rPr>
              <a:t>numbers; e.g., 2, 5)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Factor - </a:t>
            </a:r>
            <a:r>
              <a:rPr lang="en-US" dirty="0" smtClean="0">
                <a:latin typeface="Times New Roman" panose="02020603050405020304" pitchFamily="18" charset="0"/>
              </a:rPr>
              <a:t>Categorical </a:t>
            </a:r>
            <a:r>
              <a:rPr lang="en-US" dirty="0">
                <a:latin typeface="Times New Roman" panose="02020603050405020304" pitchFamily="18" charset="0"/>
              </a:rPr>
              <a:t>data (simple </a:t>
            </a:r>
            <a:r>
              <a:rPr lang="en-US" dirty="0" smtClean="0">
                <a:latin typeface="Times New Roman" panose="02020603050405020304" pitchFamily="18" charset="0"/>
              </a:rPr>
              <a:t>classifications; male, female)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Ordered - </a:t>
            </a:r>
            <a:r>
              <a:rPr lang="en-US" dirty="0" smtClean="0">
                <a:latin typeface="Times New Roman" panose="02020603050405020304" pitchFamily="18" charset="0"/>
              </a:rPr>
              <a:t>Ordinal </a:t>
            </a:r>
            <a:r>
              <a:rPr lang="en-US" dirty="0">
                <a:latin typeface="Times New Roman" panose="02020603050405020304" pitchFamily="18" charset="0"/>
              </a:rPr>
              <a:t>data (ordered </a:t>
            </a:r>
            <a:r>
              <a:rPr lang="en-US" dirty="0" smtClean="0">
                <a:latin typeface="Times New Roman" panose="02020603050405020304" pitchFamily="18" charset="0"/>
              </a:rPr>
              <a:t>classifications; e.g., high school, some college, college)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Character - </a:t>
            </a:r>
            <a:r>
              <a:rPr lang="en-US" dirty="0" smtClean="0">
                <a:latin typeface="Times New Roman" panose="02020603050405020304" pitchFamily="18" charset="0"/>
              </a:rPr>
              <a:t>Character </a:t>
            </a:r>
            <a:r>
              <a:rPr lang="en-US" dirty="0">
                <a:latin typeface="Times New Roman" panose="02020603050405020304" pitchFamily="18" charset="0"/>
              </a:rPr>
              <a:t>data (</a:t>
            </a:r>
            <a:r>
              <a:rPr lang="en-US" dirty="0" smtClean="0">
                <a:latin typeface="Times New Roman" panose="02020603050405020304" pitchFamily="18" charset="0"/>
              </a:rPr>
              <a:t>strings; e.g., “this experiment seems fake”)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Courier New" panose="02070309020205020404" pitchFamily="49" charset="0"/>
              </a:rPr>
              <a:t>Raw - </a:t>
            </a:r>
            <a:r>
              <a:rPr lang="en-US" dirty="0" smtClean="0">
                <a:latin typeface="Times New Roman" panose="02020603050405020304" pitchFamily="18" charset="0"/>
              </a:rPr>
              <a:t>Binary data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anose="02020603050405020304" pitchFamily="18" charset="0"/>
              </a:rPr>
              <a:t>See type using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class(x)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</a:rPr>
              <a:t>or, for all columns of a data frame using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sapply(DF, class)</a:t>
            </a:r>
          </a:p>
        </p:txBody>
      </p:sp>
    </p:spTree>
    <p:extLst>
      <p:ext uri="{BB962C8B-B14F-4D97-AF65-F5344CB8AC3E}">
        <p14:creationId xmlns:p14="http://schemas.microsoft.com/office/powerpoint/2010/main" val="730215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Coercing Variable Types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606660" y="1408805"/>
            <a:ext cx="8978680" cy="4013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Converting a variable from one type to another is </a:t>
            </a:r>
            <a:r>
              <a:rPr lang="en-US" dirty="0" smtClean="0"/>
              <a:t>called coercion</a:t>
            </a:r>
            <a:r>
              <a:rPr lang="en-US" dirty="0"/>
              <a:t>. The reader is probably </a:t>
            </a:r>
            <a:r>
              <a:rPr lang="en-US" dirty="0" smtClean="0"/>
              <a:t>familiar with R's </a:t>
            </a:r>
            <a:r>
              <a:rPr lang="en-US" dirty="0"/>
              <a:t>basic coercion functions, but as a reference they are listed here. By default, values that cannot be converted to the specified type will be converted to </a:t>
            </a:r>
            <a:r>
              <a:rPr lang="en-US" dirty="0" smtClean="0"/>
              <a:t>a ‘NA’ value </a:t>
            </a:r>
            <a:r>
              <a:rPr lang="en-US" dirty="0"/>
              <a:t>while a warning is issued.</a:t>
            </a:r>
            <a:endParaRPr lang="en-US" dirty="0" smtClean="0">
              <a:latin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as.numeric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as.integer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as.factor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as.ordered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as.character</a:t>
            </a:r>
          </a:p>
          <a:p>
            <a:pPr lvl="1">
              <a:spcAft>
                <a:spcPts val="600"/>
              </a:spcAft>
            </a:pPr>
            <a:r>
              <a:rPr lang="en-US" sz="1800" dirty="0" smtClean="0">
                <a:latin typeface="Courier New" panose="02070309020205020404" pitchFamily="49" charset="0"/>
              </a:rPr>
              <a:t>as.logical</a:t>
            </a:r>
          </a:p>
          <a:p>
            <a:pPr>
              <a:spcAft>
                <a:spcPts val="600"/>
              </a:spcAft>
            </a:pPr>
            <a:endParaRPr lang="en-US" dirty="0">
              <a:latin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33846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Indexing Types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91029" y="1408805"/>
            <a:ext cx="10609943" cy="4013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How data is stored:</a:t>
            </a:r>
          </a:p>
          <a:p>
            <a:endParaRPr lang="en-US" sz="800" dirty="0"/>
          </a:p>
          <a:p>
            <a:pPr>
              <a:spcAft>
                <a:spcPts val="600"/>
              </a:spcAft>
            </a:pPr>
            <a:r>
              <a:rPr lang="en-US" dirty="0"/>
              <a:t>Vectors –</a:t>
            </a:r>
            <a:r>
              <a:rPr lang="en-US" dirty="0" smtClean="0"/>
              <a:t> </a:t>
            </a:r>
            <a:r>
              <a:rPr lang="en-US" dirty="0"/>
              <a:t>a sequence of data elements of the same basic </a:t>
            </a:r>
            <a:r>
              <a:rPr lang="en-US" dirty="0" smtClean="0"/>
              <a:t>type</a:t>
            </a:r>
          </a:p>
          <a:p>
            <a:pPr>
              <a:spcAft>
                <a:spcPts val="600"/>
              </a:spcAft>
            </a:pPr>
            <a:r>
              <a:rPr lang="en-US" dirty="0"/>
              <a:t>Lists –</a:t>
            </a:r>
            <a:r>
              <a:rPr lang="en-US" dirty="0" smtClean="0"/>
              <a:t> </a:t>
            </a:r>
            <a:r>
              <a:rPr lang="en-US" dirty="0"/>
              <a:t>a generic vector containing other objects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Matrices </a:t>
            </a:r>
            <a:r>
              <a:rPr lang="en-US" dirty="0"/>
              <a:t>–</a:t>
            </a:r>
            <a:r>
              <a:rPr lang="en-US" dirty="0" smtClean="0"/>
              <a:t> </a:t>
            </a:r>
            <a:r>
              <a:rPr lang="en-US" dirty="0"/>
              <a:t>a collection of data elements arranged in a two-dimensional rectangular </a:t>
            </a:r>
            <a:r>
              <a:rPr lang="en-US" dirty="0" smtClean="0"/>
              <a:t>layout</a:t>
            </a:r>
          </a:p>
          <a:p>
            <a:pPr>
              <a:spcAft>
                <a:spcPts val="600"/>
              </a:spcAft>
            </a:pPr>
            <a:r>
              <a:rPr lang="en-US" sz="2000" dirty="0" smtClean="0"/>
              <a:t>Data </a:t>
            </a:r>
            <a:r>
              <a:rPr lang="en-US" dirty="0" smtClean="0"/>
              <a:t>Frames </a:t>
            </a:r>
            <a:r>
              <a:rPr lang="en-US" dirty="0"/>
              <a:t>–</a:t>
            </a:r>
            <a:r>
              <a:rPr lang="en-US" dirty="0" smtClean="0"/>
              <a:t> a </a:t>
            </a:r>
            <a:r>
              <a:rPr lang="en-US" dirty="0"/>
              <a:t>list of vectors of equal </a:t>
            </a:r>
            <a:r>
              <a:rPr lang="en-US" dirty="0" smtClean="0"/>
              <a:t>length used for data tables with headers</a:t>
            </a:r>
            <a:endParaRPr lang="en-US" sz="2000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Tibbles – special types of data frames with enhanced printing behavior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8077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1D719EA4-291B-42D0-856B-BCA468745EDD}"/>
    </a:ext>
  </a:extLst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C7649694-F61F-48CF-8630-CC341C3E58DB}"/>
    </a:ext>
  </a:extLst>
</a:theme>
</file>

<file path=ppt/theme/theme3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6B4B84B9-3724-4AE3-BFEF-B62E73F93DC7}"/>
    </a:ext>
  </a:extLst>
</a:theme>
</file>

<file path=ppt/theme/theme4.xml><?xml version="1.0" encoding="utf-8"?>
<a:theme xmlns:a="http://schemas.openxmlformats.org/drawingml/2006/main" name="O1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0624CCF3-A511-4738-A876-B81578580641}"/>
    </a:ext>
  </a:extLst>
</a:theme>
</file>

<file path=ppt/theme/theme5.xml><?xml version="1.0" encoding="utf-8"?>
<a:theme xmlns:a="http://schemas.openxmlformats.org/drawingml/2006/main" name="O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64FBB428-3F1B-444A-A920-F37DD1B5EB99}"/>
    </a:ext>
  </a:extLst>
</a:theme>
</file>

<file path=ppt/theme/theme6.xml><?xml version="1.0" encoding="utf-8"?>
<a:theme xmlns:a="http://schemas.openxmlformats.org/drawingml/2006/main" name="O2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FFECF7AE-82E7-460B-80B5-97C898B6EB44}"/>
    </a:ext>
  </a:extLst>
</a:theme>
</file>

<file path=ppt/theme/theme7.xml><?xml version="1.0" encoding="utf-8"?>
<a:theme xmlns:a="http://schemas.openxmlformats.org/drawingml/2006/main" name="O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F9673FE9-EE2D-421C-A59E-DDD563972461}"/>
    </a:ext>
  </a:extLst>
</a:theme>
</file>

<file path=ppt/theme/theme8.xml><?xml version="1.0" encoding="utf-8"?>
<a:theme xmlns:a="http://schemas.openxmlformats.org/drawingml/2006/main" name="O3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AC78921D-09E7-4FC2-9E1D-107D38B876FD}"/>
    </a:ext>
  </a:extLst>
</a:theme>
</file>

<file path=ppt/theme/theme9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VA PPT Template" id="{F6D40F02-13CD-4355-9552-F00F04ED8A09}" vid="{04C09454-7BFD-455E-807F-3574D74E44E9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4489552-C784-4584-8ABD-331B1D084CE5}"/>
</file>

<file path=customXml/itemProps2.xml><?xml version="1.0" encoding="utf-8"?>
<ds:datastoreItem xmlns:ds="http://schemas.openxmlformats.org/officeDocument/2006/customXml" ds:itemID="{60D28D33-16AF-461A-99B2-AD4C9639D32C}"/>
</file>

<file path=customXml/itemProps3.xml><?xml version="1.0" encoding="utf-8"?>
<ds:datastoreItem xmlns:ds="http://schemas.openxmlformats.org/officeDocument/2006/customXml" ds:itemID="{8734C878-C04A-4B02-A727-79A6E9752EF3}"/>
</file>

<file path=docProps/app.xml><?xml version="1.0" encoding="utf-8"?>
<Properties xmlns="http://schemas.openxmlformats.org/officeDocument/2006/extended-properties" xmlns:vt="http://schemas.openxmlformats.org/officeDocument/2006/docPropsVTypes">
  <Template>UVA PPT Template</Template>
  <TotalTime>6715</TotalTime>
  <Words>1104</Words>
  <Application>Microsoft Office PowerPoint</Application>
  <PresentationFormat>Widescreen</PresentationFormat>
  <Paragraphs>153</Paragraphs>
  <Slides>30</Slides>
  <Notes>27</Notes>
  <HiddenSlides>4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51" baseType="lpstr">
      <vt:lpstr>Arial</vt:lpstr>
      <vt:lpstr>Calibri</vt:lpstr>
      <vt:lpstr>Consolas</vt:lpstr>
      <vt:lpstr>Courier New</vt:lpstr>
      <vt:lpstr>ITC Franklin Gothic Std Book</vt:lpstr>
      <vt:lpstr>ITC Franklin Gothic Std Book Compressed</vt:lpstr>
      <vt:lpstr>ITC Franklin Gothic Std Book Condensed</vt:lpstr>
      <vt:lpstr>ITC Franklin Gothic Std Book Extra Compressed</vt:lpstr>
      <vt:lpstr>ITC Franklin Gothic Std Demi Compressed</vt:lpstr>
      <vt:lpstr>ITC Franklin Gothic Std Demi Extra Compressed</vt:lpstr>
      <vt:lpstr>Times New Roman</vt:lpstr>
      <vt:lpstr>title page</vt:lpstr>
      <vt:lpstr>contents</vt:lpstr>
      <vt:lpstr>O1</vt:lpstr>
      <vt:lpstr>O1: image</vt:lpstr>
      <vt:lpstr>O2</vt:lpstr>
      <vt:lpstr>O2: image</vt:lpstr>
      <vt:lpstr>O3</vt:lpstr>
      <vt:lpstr>O3: image</vt:lpstr>
      <vt:lpstr>blank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Nathaniel J Ratcliff, PhD</dc:creator>
  <cp:lastModifiedBy>Nathaniel Ratcliff, PhD</cp:lastModifiedBy>
  <cp:revision>225</cp:revision>
  <cp:lastPrinted>2018-02-15T16:52:07Z</cp:lastPrinted>
  <dcterms:created xsi:type="dcterms:W3CDTF">2017-12-22T15:10:56Z</dcterms:created>
  <dcterms:modified xsi:type="dcterms:W3CDTF">2019-06-21T13:44:59Z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