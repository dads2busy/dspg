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commentAuthors.xml" ContentType="application/vnd.openxmlformats-officedocument.presentationml.commentAuthors+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7" r:id="rId2"/>
  </p:sldIdLst>
  <p:sldSz cx="21945600" cy="329184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15:guide id="1" orient="horz" pos="10368">
          <p15:clr>
            <a:srgbClr val="A4A3A4"/>
          </p15:clr>
        </p15:guide>
        <p15:guide id="2" pos="6912">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ipp, Stephanie S. (sss5sc)" initials="SSS(" lastIdx="3" clrIdx="0">
    <p:extLst>
      <p:ext uri="{19B8F6BF-5375-455C-9EA6-DF929625EA0E}">
        <p15:presenceInfo xmlns:p15="http://schemas.microsoft.com/office/powerpoint/2012/main" userId="S::sss5sc@virginia.edu::32ad11e2-6e98-46b4-87f4-a31b3ad2ebb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3765"/>
    <a:srgbClr val="012F6C"/>
    <a:srgbClr val="2EBFCB"/>
    <a:srgbClr val="F37C20"/>
    <a:srgbClr val="00ACD4"/>
    <a:srgbClr val="A7D5A6"/>
    <a:srgbClr val="2135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381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50000"/>
    <p:restoredTop sz="94753"/>
  </p:normalViewPr>
  <p:slideViewPr>
    <p:cSldViewPr snapToGrid="0">
      <p:cViewPr>
        <p:scale>
          <a:sx n="95" d="100"/>
          <a:sy n="95" d="100"/>
        </p:scale>
        <p:origin x="-112" y="-14824"/>
      </p:cViewPr>
      <p:guideLst>
        <p:guide orient="horz" pos="10368"/>
        <p:guide pos="6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11" Type="http://schemas.openxmlformats.org/officeDocument/2006/relationships/customXml" Target="../customXml/item3.xml"/><Relationship Id="rId5" Type="http://schemas.openxmlformats.org/officeDocument/2006/relationships/presProps" Target="presProps.xml"/><Relationship Id="rId10" Type="http://schemas.openxmlformats.org/officeDocument/2006/relationships/customXml" Target="../customXml/item2.xml"/><Relationship Id="rId4" Type="http://schemas.openxmlformats.org/officeDocument/2006/relationships/commentAuthors" Target="commentAuthors.xml"/><Relationship Id="rId9"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6" name="Shape 26"/>
          <p:cNvSpPr>
            <a:spLocks noGrp="1" noRot="1" noChangeAspect="1"/>
          </p:cNvSpPr>
          <p:nvPr>
            <p:ph type="sldImg"/>
          </p:nvPr>
        </p:nvSpPr>
        <p:spPr>
          <a:xfrm>
            <a:off x="1143000" y="685800"/>
            <a:ext cx="4572000" cy="3429000"/>
          </a:xfrm>
          <a:prstGeom prst="rect">
            <a:avLst/>
          </a:prstGeom>
        </p:spPr>
        <p:txBody>
          <a:bodyPr/>
          <a:lstStyle/>
          <a:p>
            <a:endParaRPr/>
          </a:p>
        </p:txBody>
      </p:sp>
      <p:sp>
        <p:nvSpPr>
          <p:cNvPr id="27" name="Shape 2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0" y="685800"/>
            <a:ext cx="2286000" cy="3429000"/>
          </a:xfrm>
        </p:spPr>
      </p:sp>
      <p:sp>
        <p:nvSpPr>
          <p:cNvPr id="3" name="Notes Placeholder 2"/>
          <p:cNvSpPr>
            <a:spLocks noGrp="1"/>
          </p:cNvSpPr>
          <p:nvPr>
            <p:ph type="body" idx="1"/>
          </p:nvPr>
        </p:nvSpPr>
        <p:spPr/>
        <p:txBody>
          <a:bodyPr/>
          <a:lstStyle/>
          <a:p>
            <a:r>
              <a:rPr lang="en-US"/>
              <a:t>e</a:t>
            </a:r>
          </a:p>
        </p:txBody>
      </p:sp>
    </p:spTree>
    <p:extLst>
      <p:ext uri="{BB962C8B-B14F-4D97-AF65-F5344CB8AC3E}">
        <p14:creationId xmlns:p14="http://schemas.microsoft.com/office/powerpoint/2010/main" val="22811285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emplate 1">
    <p:spTree>
      <p:nvGrpSpPr>
        <p:cNvPr id="1" name=""/>
        <p:cNvGrpSpPr/>
        <p:nvPr/>
      </p:nvGrpSpPr>
      <p:grpSpPr>
        <a:xfrm>
          <a:off x="0" y="0"/>
          <a:ext cx="0" cy="0"/>
          <a:chOff x="0" y="0"/>
          <a:chExt cx="0" cy="0"/>
        </a:xfrm>
      </p:grpSpPr>
      <p:sp>
        <p:nvSpPr>
          <p:cNvPr id="12"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descr="Image"/>
          <p:cNvPicPr>
            <a:picLocks noChangeAspect="1"/>
          </p:cNvPicPr>
          <p:nvPr/>
        </p:nvPicPr>
        <p:blipFill>
          <a:blip r:embed="rId3"/>
          <a:stretch>
            <a:fillRect/>
          </a:stretch>
        </p:blipFill>
        <p:spPr>
          <a:xfrm>
            <a:off x="-46998" y="-620308"/>
            <a:ext cx="22039596" cy="33558350"/>
          </a:xfrm>
          <a:prstGeom prst="rect">
            <a:avLst/>
          </a:prstGeom>
          <a:ln w="12700">
            <a:miter lim="400000"/>
          </a:ln>
        </p:spPr>
      </p:pic>
      <p:sp>
        <p:nvSpPr>
          <p:cNvPr id="3" name="Title Text"/>
          <p:cNvSpPr txBox="1">
            <a:spLocks noGrp="1"/>
          </p:cNvSpPr>
          <p:nvPr>
            <p:ph type="title"/>
          </p:nvPr>
        </p:nvSpPr>
        <p:spPr>
          <a:xfrm>
            <a:off x="2143125" y="10994231"/>
            <a:ext cx="17659350" cy="55721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lIns="85725" tIns="85725" rIns="85725" bIns="85725" anchor="b">
            <a:normAutofit/>
          </a:bodyPr>
          <a:lstStyle/>
          <a:p>
            <a:r>
              <a:t>Title Text</a:t>
            </a:r>
          </a:p>
        </p:txBody>
      </p:sp>
      <p:sp>
        <p:nvSpPr>
          <p:cNvPr id="4" name="Body Level One…"/>
          <p:cNvSpPr txBox="1">
            <a:spLocks noGrp="1"/>
          </p:cNvSpPr>
          <p:nvPr>
            <p:ph type="body" idx="1"/>
          </p:nvPr>
        </p:nvSpPr>
        <p:spPr>
          <a:xfrm>
            <a:off x="2143125" y="16737806"/>
            <a:ext cx="17659350" cy="190738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lIns="85725" tIns="85725" rIns="85725" bIns="85725">
            <a:normAutofit/>
          </a:bodyPr>
          <a:lstStyle/>
          <a:p>
            <a:r>
              <a:t>Body Level One</a:t>
            </a:r>
          </a:p>
          <a:p>
            <a:pPr lvl="1"/>
            <a:r>
              <a:t>Body Level Two</a:t>
            </a:r>
          </a:p>
          <a:p>
            <a:pPr lvl="2"/>
            <a:r>
              <a:t>Body Level Three</a:t>
            </a:r>
          </a:p>
          <a:p>
            <a:pPr lvl="3"/>
            <a:r>
              <a:t>Body Level Four</a:t>
            </a:r>
          </a:p>
          <a:p>
            <a:pPr lvl="4"/>
            <a:r>
              <a:t>Body Level Five</a:t>
            </a:r>
          </a:p>
        </p:txBody>
      </p:sp>
      <p:sp>
        <p:nvSpPr>
          <p:cNvPr id="5" name="Slide Number"/>
          <p:cNvSpPr txBox="1">
            <a:spLocks noGrp="1"/>
          </p:cNvSpPr>
          <p:nvPr>
            <p:ph type="sldNum" sz="quarter" idx="2"/>
          </p:nvPr>
        </p:nvSpPr>
        <p:spPr>
          <a:xfrm>
            <a:off x="10493705" y="23917275"/>
            <a:ext cx="946760" cy="989758"/>
          </a:xfrm>
          <a:prstGeom prst="rect">
            <a:avLst/>
          </a:prstGeom>
          <a:ln w="12700">
            <a:miter lim="400000"/>
          </a:ln>
        </p:spPr>
        <p:txBody>
          <a:bodyPr wrap="none" lIns="85725" tIns="85725" rIns="85725" bIns="85725">
            <a:spAutoFit/>
          </a:bodyPr>
          <a:lstStyle>
            <a:lvl1pPr>
              <a:defRPr sz="5400" b="0">
                <a:latin typeface="Helvetica Neue Thin"/>
                <a:ea typeface="Helvetica Neue Thin"/>
                <a:cs typeface="Helvetica Neue Thin"/>
                <a:sym typeface="Helvetica Neue Thin"/>
              </a:defRPr>
            </a:lvl1pPr>
          </a:lstStyle>
          <a:p>
            <a:fld id="{86CB4B4D-7CA3-9044-876B-883B54F8677D}" type="slidenum">
              <a:rPr/>
              <a:pPr/>
              <a:t>‹#›</a:t>
            </a:fld>
            <a:endParaRPr/>
          </a:p>
        </p:txBody>
      </p:sp>
    </p:spTree>
  </p:cSld>
  <p:clrMap bg1="lt1" tx1="dk1" bg2="lt2" tx2="dk2" accent1="accent1" accent2="accent2" accent3="accent3" accent4="accent4" accent5="accent5" accent6="accent6" hlink="hlink" folHlink="folHlink"/>
  <p:sldLayoutIdLst>
    <p:sldLayoutId id="2147483649" r:id="rId1"/>
  </p:sldLayoutIdLst>
  <p:transition spd="med"/>
  <p:txStyles>
    <p:titleStyle>
      <a:lvl1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1pPr>
      <a:lvl2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2pPr>
      <a:lvl3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3pPr>
      <a:lvl4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4pPr>
      <a:lvl5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5pPr>
      <a:lvl6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6pPr>
      <a:lvl7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7pPr>
      <a:lvl8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8pPr>
      <a:lvl9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9pPr>
    </p:titleStyle>
    <p:bodyStyle>
      <a:lvl1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1pPr>
      <a:lvl2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2pPr>
      <a:lvl3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3pPr>
      <a:lvl4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4pPr>
      <a:lvl5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5pPr>
      <a:lvl6pPr marL="0" marR="0" indent="3556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6pPr>
      <a:lvl7pPr marL="0" marR="0" indent="7112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7pPr>
      <a:lvl8pPr marL="0" marR="0" indent="10668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8pPr>
      <a:lvl9pPr marL="0" marR="0" indent="14224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1pPr>
      <a:lvl2pPr marL="0" marR="0" indent="2286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2pPr>
      <a:lvl3pPr marL="0" marR="0" indent="4572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3pPr>
      <a:lvl4pPr marL="0" marR="0" indent="6858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4pPr>
      <a:lvl5pPr marL="0" marR="0" indent="9144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5pPr>
      <a:lvl6pPr marL="0" marR="0" indent="11430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6pPr>
      <a:lvl7pPr marL="0" marR="0" indent="13716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7pPr>
      <a:lvl8pPr marL="0" marR="0" indent="16002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8pPr>
      <a:lvl9pPr marL="0" marR="0" indent="18288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Body Text - Franklin Gothic Book - 22"/>
          <p:cNvSpPr txBox="1"/>
          <p:nvPr/>
        </p:nvSpPr>
        <p:spPr>
          <a:xfrm>
            <a:off x="901524" y="4433854"/>
            <a:ext cx="19891333" cy="2231380"/>
          </a:xfrm>
          <a:prstGeom prst="rect">
            <a:avLst/>
          </a:prstGeom>
          <a:noFill/>
          <a:ln w="57150"/>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style>
          <a:lnRef idx="2">
            <a:schemeClr val="accent2"/>
          </a:lnRef>
          <a:fillRef idx="1">
            <a:schemeClr val="lt1"/>
          </a:fillRef>
          <a:effectRef idx="0">
            <a:schemeClr val="accent2"/>
          </a:effectRef>
          <a:fontRef idx="minor">
            <a:schemeClr val="dk1"/>
          </a:fontRef>
        </p:style>
        <p:txBody>
          <a:bodyPr wrap="square" lIns="114300" tIns="114300" rIns="114300" bIns="114300" anchor="ctr">
            <a:spAutoFit/>
          </a:bodyPr>
          <a:lstStyle>
            <a:lvl1pPr algn="l" defTabSz="1314450">
              <a:defRPr sz="2200" b="0">
                <a:latin typeface="ITC Franklin Gothic Std"/>
                <a:ea typeface="ITC Franklin Gothic Std"/>
                <a:cs typeface="ITC Franklin Gothic Std"/>
                <a:sym typeface="ITC Franklin Gothic Std"/>
              </a:defRPr>
            </a:lvl1pPr>
          </a:lstStyle>
          <a:p>
            <a:r>
              <a:rPr lang="en-US" sz="2600" dirty="0"/>
              <a:t>Does broadband development affect rural prosperity, as measured by changes in property values and quality of life indicators in rural communities?</a:t>
            </a:r>
          </a:p>
          <a:p>
            <a:pPr marL="342900" indent="-342900">
              <a:buFont typeface="Arial" panose="020B0604020202020204" pitchFamily="34" charset="0"/>
              <a:buChar char="•"/>
            </a:pPr>
            <a:r>
              <a:rPr lang="en-US" sz="2600" dirty="0"/>
              <a:t>Conducted a </a:t>
            </a:r>
            <a:r>
              <a:rPr lang="en-US" sz="2600" b="1" dirty="0">
                <a:solidFill>
                  <a:srgbClr val="F37C20"/>
                </a:solidFill>
              </a:rPr>
              <a:t>comprehensive literature review of value modeling </a:t>
            </a:r>
            <a:r>
              <a:rPr lang="en-US" sz="2600" dirty="0"/>
              <a:t>consisting of factors other than broadband that shape property values. We found relevant environmental, neighborhood, structural, and locational attributes that influence property prices. </a:t>
            </a:r>
          </a:p>
          <a:p>
            <a:pPr marL="342900" indent="-342900">
              <a:buFont typeface="Arial" panose="020B0604020202020204" pitchFamily="34" charset="0"/>
              <a:buChar char="•"/>
            </a:pPr>
            <a:r>
              <a:rPr lang="en-US" sz="2600" dirty="0"/>
              <a:t>Explored methods of </a:t>
            </a:r>
            <a:r>
              <a:rPr lang="en-US" sz="2600" b="1" dirty="0">
                <a:solidFill>
                  <a:srgbClr val="F37C20"/>
                </a:solidFill>
              </a:rPr>
              <a:t>validating Federal Communications Commission (FCC) broadband data, using multiple data sources.</a:t>
            </a:r>
            <a:endParaRPr lang="en-US" sz="2600" b="1" dirty="0"/>
          </a:p>
        </p:txBody>
      </p:sp>
      <p:sp>
        <p:nvSpPr>
          <p:cNvPr id="51" name="Your Name, Graduate Student Name, Post Doc Name, Advisor…"/>
          <p:cNvSpPr txBox="1"/>
          <p:nvPr/>
        </p:nvSpPr>
        <p:spPr>
          <a:xfrm>
            <a:off x="749842" y="1952305"/>
            <a:ext cx="14880681" cy="18062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ctr">
            <a:spAutoFit/>
          </a:bodyPr>
          <a:lstStyle/>
          <a:p>
            <a:pPr algn="l" defTabSz="1314450">
              <a:defRPr sz="2100" b="0">
                <a:solidFill>
                  <a:srgbClr val="FFFFFF"/>
                </a:solidFill>
                <a:latin typeface="ITC Franklin Gothic Std"/>
                <a:ea typeface="ITC Franklin Gothic Std"/>
                <a:cs typeface="ITC Franklin Gothic Std"/>
                <a:sym typeface="ITC Franklin Gothic Std"/>
              </a:defRPr>
            </a:pPr>
            <a:r>
              <a:rPr lang="en-US" sz="2100" b="0" dirty="0">
                <a:solidFill>
                  <a:schemeClr val="bg1"/>
                </a:solidFill>
                <a:latin typeface="ITC Franklin Gothic Std Book"/>
                <a:cs typeface="ITC Franklin Gothic Std Book"/>
              </a:rPr>
              <a:t>DSPG Team: Kat </a:t>
            </a:r>
            <a:r>
              <a:rPr lang="en-US" sz="2100" b="0" dirty="0" err="1">
                <a:solidFill>
                  <a:schemeClr val="bg1"/>
                </a:solidFill>
                <a:latin typeface="ITC Franklin Gothic Std Book"/>
                <a:cs typeface="ITC Franklin Gothic Std Book"/>
              </a:rPr>
              <a:t>Savchyn</a:t>
            </a:r>
            <a:r>
              <a:rPr lang="en-US" sz="2100" b="0" dirty="0">
                <a:solidFill>
                  <a:schemeClr val="bg1"/>
                </a:solidFill>
                <a:latin typeface="ITC Franklin Gothic Std Book"/>
                <a:cs typeface="ITC Franklin Gothic Std Book"/>
              </a:rPr>
              <a:t> (Georgetown University), Sarah McDonald (Marymount University), </a:t>
            </a:r>
          </a:p>
          <a:p>
            <a:pPr algn="l" defTabSz="1314450">
              <a:defRPr sz="2100" b="0">
                <a:solidFill>
                  <a:srgbClr val="FFFFFF"/>
                </a:solidFill>
                <a:latin typeface="ITC Franklin Gothic Std"/>
                <a:ea typeface="ITC Franklin Gothic Std"/>
                <a:cs typeface="ITC Franklin Gothic Std"/>
                <a:sym typeface="ITC Franklin Gothic Std"/>
              </a:defRPr>
            </a:pPr>
            <a:r>
              <a:rPr lang="en-US" sz="2100" b="0" dirty="0">
                <a:solidFill>
                  <a:schemeClr val="bg1"/>
                </a:solidFill>
                <a:latin typeface="ITC Franklin Gothic Std Book"/>
                <a:cs typeface="ITC Franklin Gothic Std Book"/>
              </a:rPr>
              <a:t>Raghav Sawhney (Virginia Tech) </a:t>
            </a:r>
          </a:p>
          <a:p>
            <a:pPr algn="l" defTabSz="1314450">
              <a:lnSpc>
                <a:spcPct val="150000"/>
              </a:lnSpc>
              <a:defRPr sz="2100" b="0">
                <a:solidFill>
                  <a:srgbClr val="FFFFFF"/>
                </a:solidFill>
                <a:latin typeface="ITC Franklin Gothic Std"/>
                <a:ea typeface="ITC Franklin Gothic Std"/>
                <a:cs typeface="ITC Franklin Gothic Std"/>
                <a:sym typeface="ITC Franklin Gothic Std"/>
              </a:defRPr>
            </a:pPr>
            <a:r>
              <a:rPr lang="en-US" sz="2100" b="0" dirty="0">
                <a:solidFill>
                  <a:schemeClr val="bg1"/>
                </a:solidFill>
                <a:latin typeface="ITC Franklin Gothic Std Book"/>
                <a:cs typeface="ITC Franklin Gothic Std Book"/>
              </a:rPr>
              <a:t>SDAD Team: </a:t>
            </a:r>
            <a:r>
              <a:rPr lang="en-US" sz="2100" b="0" dirty="0" err="1">
                <a:solidFill>
                  <a:schemeClr val="bg1"/>
                </a:solidFill>
                <a:latin typeface="ITC Franklin Gothic Std Book"/>
                <a:cs typeface="ITC Franklin Gothic Std Book"/>
              </a:rPr>
              <a:t>Teja</a:t>
            </a:r>
            <a:r>
              <a:rPr lang="en-US" sz="2100" b="0" dirty="0">
                <a:solidFill>
                  <a:schemeClr val="bg1"/>
                </a:solidFill>
                <a:latin typeface="ITC Franklin Gothic Std Book"/>
                <a:cs typeface="ITC Franklin Gothic Std Book"/>
              </a:rPr>
              <a:t> </a:t>
            </a:r>
            <a:r>
              <a:rPr lang="en-US" sz="2100" b="0" dirty="0" err="1">
                <a:solidFill>
                  <a:schemeClr val="bg1"/>
                </a:solidFill>
                <a:latin typeface="ITC Franklin Gothic Std Book"/>
                <a:cs typeface="ITC Franklin Gothic Std Book"/>
              </a:rPr>
              <a:t>Pristavec</a:t>
            </a:r>
            <a:r>
              <a:rPr lang="en-US" sz="2100" b="0" dirty="0">
                <a:solidFill>
                  <a:schemeClr val="bg1"/>
                </a:solidFill>
                <a:latin typeface="ITC Franklin Gothic Std Book"/>
                <a:cs typeface="ITC Franklin Gothic Std Book"/>
              </a:rPr>
              <a:t>, Josh Goldstein, Stephanie Shipp</a:t>
            </a:r>
          </a:p>
          <a:p>
            <a:pPr algn="l" defTabSz="1314450">
              <a:lnSpc>
                <a:spcPct val="150000"/>
              </a:lnSpc>
              <a:defRPr sz="2100" b="0">
                <a:solidFill>
                  <a:srgbClr val="FFFFFF"/>
                </a:solidFill>
                <a:latin typeface="ITC Franklin Gothic Std"/>
                <a:ea typeface="ITC Franklin Gothic Std"/>
                <a:cs typeface="ITC Franklin Gothic Std"/>
                <a:sym typeface="ITC Franklin Gothic Std"/>
              </a:defRPr>
            </a:pPr>
            <a:r>
              <a:rPr lang="en-US" sz="2100" b="0" dirty="0">
                <a:solidFill>
                  <a:schemeClr val="bg1"/>
                </a:solidFill>
                <a:latin typeface="ITC Franklin Gothic Std Book"/>
                <a:cs typeface="ITC Franklin Gothic Std Book"/>
              </a:rPr>
              <a:t>SPONSOR: </a:t>
            </a:r>
            <a:r>
              <a:rPr lang="en-US" sz="2100" dirty="0">
                <a:solidFill>
                  <a:schemeClr val="bg1"/>
                </a:solidFill>
              </a:rPr>
              <a:t>John Pender, Peter Hahn, Zachary Keeler, USDA Economic Research Service</a:t>
            </a:r>
          </a:p>
        </p:txBody>
      </p:sp>
      <p:pic>
        <p:nvPicPr>
          <p:cNvPr id="53" name="Image" descr="Image"/>
          <p:cNvPicPr>
            <a:picLocks noChangeAspect="1"/>
          </p:cNvPicPr>
          <p:nvPr/>
        </p:nvPicPr>
        <p:blipFill>
          <a:blip r:embed="rId3"/>
          <a:stretch>
            <a:fillRect/>
          </a:stretch>
        </p:blipFill>
        <p:spPr>
          <a:xfrm>
            <a:off x="6697514" y="31141639"/>
            <a:ext cx="8550572" cy="1284981"/>
          </a:xfrm>
          <a:prstGeom prst="rect">
            <a:avLst/>
          </a:prstGeom>
          <a:ln w="12700">
            <a:miter lim="400000"/>
          </a:ln>
        </p:spPr>
      </p:pic>
      <p:sp>
        <p:nvSpPr>
          <p:cNvPr id="17" name="TITLE OF RESEARCH STUDY in 54 pt">
            <a:extLst>
              <a:ext uri="{FF2B5EF4-FFF2-40B4-BE49-F238E27FC236}">
                <a16:creationId xmlns:a16="http://schemas.microsoft.com/office/drawing/2014/main" id="{74CD354F-525C-485D-8B7D-4D6F05B2101D}"/>
              </a:ext>
            </a:extLst>
          </p:cNvPr>
          <p:cNvSpPr txBox="1"/>
          <p:nvPr/>
        </p:nvSpPr>
        <p:spPr>
          <a:xfrm>
            <a:off x="756579" y="3730169"/>
            <a:ext cx="9930299" cy="784830"/>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b">
            <a:spAutoFit/>
          </a:bodyPr>
          <a:lstStyle>
            <a:lvl1pPr algn="l">
              <a:defRPr sz="5400" b="0">
                <a:solidFill>
                  <a:srgbClr val="FFFFFF"/>
                </a:solidFill>
                <a:latin typeface="ITC Franklin Gothic Std Demi Co"/>
                <a:ea typeface="ITC Franklin Gothic Std Demi Co"/>
                <a:cs typeface="ITC Franklin Gothic Std Demi Co"/>
                <a:sym typeface="ITC Franklin Gothic Std Demi Co"/>
              </a:defRPr>
            </a:lvl1pPr>
          </a:lstStyle>
          <a:p>
            <a:r>
              <a:rPr lang="en-US" sz="3600" dirty="0">
                <a:solidFill>
                  <a:srgbClr val="1B3765"/>
                </a:solidFill>
                <a:latin typeface="Franklin Gothic Medium" panose="020B0603020102020204" pitchFamily="34" charset="0"/>
              </a:rPr>
              <a:t>Introduction</a:t>
            </a:r>
          </a:p>
        </p:txBody>
      </p:sp>
      <p:sp>
        <p:nvSpPr>
          <p:cNvPr id="18" name="TITLE OF RESEARCH STUDY in 54 pt">
            <a:extLst>
              <a:ext uri="{FF2B5EF4-FFF2-40B4-BE49-F238E27FC236}">
                <a16:creationId xmlns:a16="http://schemas.microsoft.com/office/drawing/2014/main" id="{9CC3F763-258D-4603-801F-E6054035292B}"/>
              </a:ext>
            </a:extLst>
          </p:cNvPr>
          <p:cNvSpPr txBox="1"/>
          <p:nvPr/>
        </p:nvSpPr>
        <p:spPr>
          <a:xfrm>
            <a:off x="526265" y="10717815"/>
            <a:ext cx="7281692" cy="7848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b">
            <a:spAutoFit/>
          </a:bodyPr>
          <a:lstStyle>
            <a:lvl1pPr algn="l">
              <a:defRPr sz="5400" b="0">
                <a:solidFill>
                  <a:srgbClr val="FFFFFF"/>
                </a:solidFill>
                <a:latin typeface="ITC Franklin Gothic Std Demi Co"/>
                <a:ea typeface="ITC Franklin Gothic Std Demi Co"/>
                <a:cs typeface="ITC Franklin Gothic Std Demi Co"/>
                <a:sym typeface="ITC Franklin Gothic Std Demi Co"/>
              </a:defRPr>
            </a:lvl1pPr>
          </a:lstStyle>
          <a:p>
            <a:r>
              <a:rPr lang="en-US" sz="3600" dirty="0">
                <a:solidFill>
                  <a:srgbClr val="1B3765"/>
                </a:solidFill>
                <a:latin typeface="Franklin Gothic Medium" panose="020B0603020102020204" pitchFamily="34" charset="0"/>
              </a:rPr>
              <a:t>Validation Methodology</a:t>
            </a:r>
          </a:p>
        </p:txBody>
      </p:sp>
      <p:sp>
        <p:nvSpPr>
          <p:cNvPr id="20" name="TITLE OF RESEARCH STUDY in 54 pt">
            <a:extLst>
              <a:ext uri="{FF2B5EF4-FFF2-40B4-BE49-F238E27FC236}">
                <a16:creationId xmlns:a16="http://schemas.microsoft.com/office/drawing/2014/main" id="{1E79377F-704B-4B57-A75D-4939DC4FFC5C}"/>
              </a:ext>
            </a:extLst>
          </p:cNvPr>
          <p:cNvSpPr txBox="1"/>
          <p:nvPr/>
        </p:nvSpPr>
        <p:spPr>
          <a:xfrm>
            <a:off x="566616" y="6622776"/>
            <a:ext cx="2516050" cy="7848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b">
            <a:spAutoFit/>
          </a:bodyPr>
          <a:lstStyle>
            <a:lvl1pPr algn="l">
              <a:defRPr sz="5400" b="0">
                <a:solidFill>
                  <a:srgbClr val="FFFFFF"/>
                </a:solidFill>
                <a:latin typeface="ITC Franklin Gothic Std Demi Co"/>
                <a:ea typeface="ITC Franklin Gothic Std Demi Co"/>
                <a:cs typeface="ITC Franklin Gothic Std Demi Co"/>
                <a:sym typeface="ITC Franklin Gothic Std Demi Co"/>
              </a:defRPr>
            </a:lvl1pPr>
          </a:lstStyle>
          <a:p>
            <a:r>
              <a:rPr lang="en-US" sz="3600" dirty="0">
                <a:solidFill>
                  <a:srgbClr val="1B3765"/>
                </a:solidFill>
                <a:latin typeface="Franklin Gothic Medium" panose="020B0603020102020204" pitchFamily="34" charset="0"/>
              </a:rPr>
              <a:t>Data</a:t>
            </a:r>
          </a:p>
        </p:txBody>
      </p:sp>
      <p:sp>
        <p:nvSpPr>
          <p:cNvPr id="21" name="TITLE OF RESEARCH STUDY in 54 pt">
            <a:extLst>
              <a:ext uri="{FF2B5EF4-FFF2-40B4-BE49-F238E27FC236}">
                <a16:creationId xmlns:a16="http://schemas.microsoft.com/office/drawing/2014/main" id="{B3F5E9D9-A1DC-45C0-83D8-202BFF49BE2C}"/>
              </a:ext>
            </a:extLst>
          </p:cNvPr>
          <p:cNvSpPr txBox="1"/>
          <p:nvPr/>
        </p:nvSpPr>
        <p:spPr>
          <a:xfrm>
            <a:off x="526265" y="16157405"/>
            <a:ext cx="9039755" cy="784830"/>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b">
            <a:spAutoFit/>
          </a:bodyPr>
          <a:lstStyle>
            <a:lvl1pPr algn="l">
              <a:defRPr sz="5400" b="0">
                <a:solidFill>
                  <a:srgbClr val="FFFFFF"/>
                </a:solidFill>
                <a:latin typeface="ITC Franklin Gothic Std Demi Co"/>
                <a:ea typeface="ITC Franklin Gothic Std Demi Co"/>
                <a:cs typeface="ITC Franklin Gothic Std Demi Co"/>
                <a:sym typeface="ITC Franklin Gothic Std Demi Co"/>
              </a:defRPr>
            </a:lvl1pPr>
          </a:lstStyle>
          <a:p>
            <a:r>
              <a:rPr lang="en-US" sz="3600" dirty="0">
                <a:solidFill>
                  <a:srgbClr val="1B3765"/>
                </a:solidFill>
                <a:latin typeface="Franklin Gothic Medium" panose="020B0603020102020204" pitchFamily="34" charset="0"/>
              </a:rPr>
              <a:t>Findings</a:t>
            </a:r>
          </a:p>
        </p:txBody>
      </p:sp>
      <p:sp>
        <p:nvSpPr>
          <p:cNvPr id="7" name="Rectangle 6">
            <a:extLst>
              <a:ext uri="{FF2B5EF4-FFF2-40B4-BE49-F238E27FC236}">
                <a16:creationId xmlns:a16="http://schemas.microsoft.com/office/drawing/2014/main" id="{6714257F-B779-41E0-BAA1-C1025B0C6069}"/>
              </a:ext>
            </a:extLst>
          </p:cNvPr>
          <p:cNvSpPr/>
          <p:nvPr/>
        </p:nvSpPr>
        <p:spPr>
          <a:xfrm>
            <a:off x="6497954" y="6836148"/>
            <a:ext cx="4741121" cy="511679"/>
          </a:xfrm>
          <a:prstGeom prst="rect">
            <a:avLst/>
          </a:prstGeom>
          <a:solidFill>
            <a:srgbClr val="2EBFC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noAutofit/>
          </a:bodyPr>
          <a:lstStyle/>
          <a:p>
            <a:pPr marL="0" marR="0" indent="0" defTabSz="1971675"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uFillTx/>
                <a:latin typeface="Franklin Gothic Demi" panose="020B0703020102020204" pitchFamily="34" charset="0"/>
                <a:ea typeface="+mn-ea"/>
                <a:cs typeface="+mn-cs"/>
                <a:sym typeface="Helvetica Neue Medium"/>
              </a:rPr>
              <a:t>American Community Survey</a:t>
            </a:r>
          </a:p>
        </p:txBody>
      </p:sp>
      <p:sp>
        <p:nvSpPr>
          <p:cNvPr id="32" name="Rectangle 31">
            <a:extLst>
              <a:ext uri="{FF2B5EF4-FFF2-40B4-BE49-F238E27FC236}">
                <a16:creationId xmlns:a16="http://schemas.microsoft.com/office/drawing/2014/main" id="{BBB23DA8-5C34-40A5-96A3-9649E338B465}"/>
              </a:ext>
            </a:extLst>
          </p:cNvPr>
          <p:cNvSpPr/>
          <p:nvPr/>
        </p:nvSpPr>
        <p:spPr>
          <a:xfrm>
            <a:off x="11846707" y="6825579"/>
            <a:ext cx="4114800" cy="511679"/>
          </a:xfrm>
          <a:prstGeom prst="rect">
            <a:avLst/>
          </a:prstGeom>
          <a:solidFill>
            <a:srgbClr val="2EBFC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noAutofit/>
          </a:bodyPr>
          <a:lstStyle/>
          <a:p>
            <a:pPr marL="0" marR="0" indent="0" defTabSz="1971675"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err="1">
                <a:ln>
                  <a:noFill/>
                </a:ln>
                <a:solidFill>
                  <a:srgbClr val="FFFFFF"/>
                </a:solidFill>
                <a:effectLst/>
                <a:uFillTx/>
                <a:latin typeface="Franklin Gothic Demi" panose="020B0703020102020204" pitchFamily="34" charset="0"/>
                <a:ea typeface="+mn-ea"/>
                <a:cs typeface="+mn-cs"/>
                <a:sym typeface="Helvetica Neue Medium"/>
              </a:rPr>
              <a:t>BroadbandNow</a:t>
            </a:r>
            <a:endParaRPr kumimoji="0" lang="en-US" sz="2800" b="0" i="0" u="none" strike="noStrike" cap="none" spc="0" normalizeH="0" baseline="0" dirty="0">
              <a:ln>
                <a:noFill/>
              </a:ln>
              <a:solidFill>
                <a:srgbClr val="FFFFFF"/>
              </a:solidFill>
              <a:effectLst/>
              <a:uFillTx/>
              <a:latin typeface="Franklin Gothic Demi" panose="020B0703020102020204" pitchFamily="34" charset="0"/>
              <a:ea typeface="+mn-ea"/>
              <a:cs typeface="+mn-cs"/>
              <a:sym typeface="Helvetica Neue Medium"/>
            </a:endParaRPr>
          </a:p>
        </p:txBody>
      </p:sp>
      <p:sp>
        <p:nvSpPr>
          <p:cNvPr id="38" name="Rectangle 37">
            <a:extLst>
              <a:ext uri="{FF2B5EF4-FFF2-40B4-BE49-F238E27FC236}">
                <a16:creationId xmlns:a16="http://schemas.microsoft.com/office/drawing/2014/main" id="{3DEE275F-9D74-4B21-8785-244C72D4006F}"/>
              </a:ext>
            </a:extLst>
          </p:cNvPr>
          <p:cNvSpPr/>
          <p:nvPr/>
        </p:nvSpPr>
        <p:spPr>
          <a:xfrm>
            <a:off x="2238563" y="6808013"/>
            <a:ext cx="3657600" cy="511679"/>
          </a:xfrm>
          <a:prstGeom prst="rect">
            <a:avLst/>
          </a:prstGeom>
          <a:solidFill>
            <a:srgbClr val="2EBFC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noAutofit/>
          </a:bodyPr>
          <a:lstStyle/>
          <a:p>
            <a:pPr marL="0" marR="0" indent="0" defTabSz="1971675"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uFillTx/>
                <a:latin typeface="Franklin Gothic Demi" panose="020B0703020102020204" pitchFamily="34" charset="0"/>
                <a:ea typeface="+mn-ea"/>
                <a:cs typeface="+mn-cs"/>
                <a:sym typeface="Helvetica Neue Medium"/>
              </a:rPr>
              <a:t>FCC FORM 477</a:t>
            </a:r>
          </a:p>
        </p:txBody>
      </p:sp>
      <p:sp>
        <p:nvSpPr>
          <p:cNvPr id="60" name="TITLE OF RESEARCH STUDY in 54 pt">
            <a:extLst>
              <a:ext uri="{FF2B5EF4-FFF2-40B4-BE49-F238E27FC236}">
                <a16:creationId xmlns:a16="http://schemas.microsoft.com/office/drawing/2014/main" id="{4DFB0A5E-12BC-42B3-8292-E5F017116AE1}"/>
              </a:ext>
            </a:extLst>
          </p:cNvPr>
          <p:cNvSpPr txBox="1"/>
          <p:nvPr/>
        </p:nvSpPr>
        <p:spPr>
          <a:xfrm>
            <a:off x="10467532" y="22231170"/>
            <a:ext cx="6378217" cy="7848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b">
            <a:spAutoFit/>
          </a:bodyPr>
          <a:lstStyle>
            <a:lvl1pPr algn="l">
              <a:defRPr sz="5400" b="0">
                <a:solidFill>
                  <a:srgbClr val="FFFFFF"/>
                </a:solidFill>
                <a:latin typeface="ITC Franklin Gothic Std Demi Co"/>
                <a:ea typeface="ITC Franklin Gothic Std Demi Co"/>
                <a:cs typeface="ITC Franklin Gothic Std Demi Co"/>
                <a:sym typeface="ITC Franklin Gothic Std Demi Co"/>
              </a:defRPr>
            </a:lvl1pPr>
          </a:lstStyle>
          <a:p>
            <a:r>
              <a:rPr lang="en-US" sz="3600" dirty="0">
                <a:solidFill>
                  <a:srgbClr val="1B3765"/>
                </a:solidFill>
                <a:latin typeface="Franklin Gothic Medium" panose="020B0603020102020204" pitchFamily="34" charset="0"/>
              </a:rPr>
              <a:t>Discussion &amp; Further Research</a:t>
            </a:r>
          </a:p>
        </p:txBody>
      </p:sp>
      <p:sp>
        <p:nvSpPr>
          <p:cNvPr id="19" name="Rectangle 18">
            <a:extLst>
              <a:ext uri="{FF2B5EF4-FFF2-40B4-BE49-F238E27FC236}">
                <a16:creationId xmlns:a16="http://schemas.microsoft.com/office/drawing/2014/main" id="{73B05F23-2050-4E74-A3DA-38906270E408}"/>
              </a:ext>
            </a:extLst>
          </p:cNvPr>
          <p:cNvSpPr/>
          <p:nvPr/>
        </p:nvSpPr>
        <p:spPr>
          <a:xfrm>
            <a:off x="18922160" y="29241510"/>
            <a:ext cx="2968117" cy="3383280"/>
          </a:xfrm>
          <a:prstGeom prst="rect">
            <a:avLst/>
          </a:prstGeom>
          <a:solidFill>
            <a:srgbClr val="2EBFC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noAutofit/>
          </a:bodyPr>
          <a:lstStyle/>
          <a:p>
            <a:pPr marL="0" marR="0" indent="0" algn="ctr" defTabSz="1971675" rtl="0" fontAlgn="auto" latinLnBrk="0" hangingPunct="0">
              <a:lnSpc>
                <a:spcPct val="100000"/>
              </a:lnSpc>
              <a:spcBef>
                <a:spcPts val="0"/>
              </a:spcBef>
              <a:spcAft>
                <a:spcPts val="0"/>
              </a:spcAft>
              <a:buClrTx/>
              <a:buSzTx/>
              <a:buFontTx/>
              <a:buNone/>
              <a:tabLst/>
            </a:pPr>
            <a:endParaRPr kumimoji="0" lang="en-US" sz="7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2" name="TextBox 1">
            <a:extLst>
              <a:ext uri="{FF2B5EF4-FFF2-40B4-BE49-F238E27FC236}">
                <a16:creationId xmlns:a16="http://schemas.microsoft.com/office/drawing/2014/main" id="{07CA3B35-499B-4FFE-A078-47D2C27171EE}"/>
              </a:ext>
            </a:extLst>
          </p:cNvPr>
          <p:cNvSpPr txBox="1"/>
          <p:nvPr/>
        </p:nvSpPr>
        <p:spPr>
          <a:xfrm>
            <a:off x="934997" y="7349809"/>
            <a:ext cx="5029200" cy="355866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342900" lvl="2" indent="-342900" algn="l" fontAlgn="base">
              <a:buFont typeface="Courier New" panose="02070309020205020404" pitchFamily="49" charset="0"/>
              <a:buChar char="o"/>
            </a:pPr>
            <a:r>
              <a:rPr lang="en-US" sz="2200" b="0" dirty="0">
                <a:latin typeface="ITC Franklin Gothic Std"/>
              </a:rPr>
              <a:t>Self-reported data from broadband providers, potentially introducing error if advertised coverage estimates are reported rather than actual estimates. </a:t>
            </a:r>
          </a:p>
          <a:p>
            <a:pPr marL="342900" lvl="2" indent="-342900" algn="l" fontAlgn="base">
              <a:buFont typeface="Courier New" panose="02070309020205020404" pitchFamily="49" charset="0"/>
              <a:buChar char="o"/>
            </a:pPr>
            <a:r>
              <a:rPr lang="en-US" sz="2200" b="0" dirty="0">
                <a:latin typeface="ITC Franklin Gothic Std"/>
              </a:rPr>
              <a:t>If a census tract had just one subscriber, the entire census tract is assumed to have broadband.   </a:t>
            </a:r>
          </a:p>
          <a:p>
            <a:pPr marL="342900" indent="-342900" algn="l" fontAlgn="base">
              <a:buFont typeface="Courier New" panose="02070309020205020404" pitchFamily="49" charset="0"/>
              <a:buChar char="o"/>
            </a:pPr>
            <a:r>
              <a:rPr lang="en-US" sz="2200" b="0" dirty="0">
                <a:latin typeface="ITC Franklin Gothic Std"/>
              </a:rPr>
              <a:t>Claims that broadband is not available to 25 million Americans.</a:t>
            </a:r>
          </a:p>
        </p:txBody>
      </p:sp>
      <p:sp>
        <p:nvSpPr>
          <p:cNvPr id="48" name="Rectangle 47">
            <a:extLst>
              <a:ext uri="{FF2B5EF4-FFF2-40B4-BE49-F238E27FC236}">
                <a16:creationId xmlns:a16="http://schemas.microsoft.com/office/drawing/2014/main" id="{E52DC956-4E72-41FB-A63C-62EAA0F7792D}"/>
              </a:ext>
            </a:extLst>
          </p:cNvPr>
          <p:cNvSpPr/>
          <p:nvPr/>
        </p:nvSpPr>
        <p:spPr>
          <a:xfrm>
            <a:off x="16678057" y="6838458"/>
            <a:ext cx="4114800" cy="511679"/>
          </a:xfrm>
          <a:prstGeom prst="rect">
            <a:avLst/>
          </a:prstGeom>
          <a:solidFill>
            <a:srgbClr val="2EBFC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noAutofit/>
          </a:bodyPr>
          <a:lstStyle/>
          <a:p>
            <a:pPr marL="0" marR="0" indent="0" defTabSz="1971675"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uFillTx/>
                <a:latin typeface="Franklin Gothic Demi" panose="020B0703020102020204" pitchFamily="34" charset="0"/>
                <a:ea typeface="+mn-ea"/>
                <a:cs typeface="+mn-cs"/>
                <a:sym typeface="Helvetica Neue Medium"/>
              </a:rPr>
              <a:t>Microsoft </a:t>
            </a:r>
            <a:r>
              <a:rPr kumimoji="0" lang="en-US" sz="2800" b="0" i="0" u="none" strike="noStrike" cap="none" spc="0" normalizeH="0" baseline="0" dirty="0" err="1">
                <a:ln>
                  <a:noFill/>
                </a:ln>
                <a:solidFill>
                  <a:srgbClr val="FFFFFF"/>
                </a:solidFill>
                <a:effectLst/>
                <a:uFillTx/>
                <a:latin typeface="Franklin Gothic Demi" panose="020B0703020102020204" pitchFamily="34" charset="0"/>
                <a:ea typeface="+mn-ea"/>
                <a:cs typeface="+mn-cs"/>
                <a:sym typeface="Helvetica Neue Medium"/>
              </a:rPr>
              <a:t>Airband</a:t>
            </a:r>
            <a:endParaRPr kumimoji="0" lang="en-US" sz="2800" b="0" i="0" u="none" strike="noStrike" cap="none" spc="0" normalizeH="0" baseline="0" dirty="0">
              <a:ln>
                <a:noFill/>
              </a:ln>
              <a:solidFill>
                <a:srgbClr val="FFFFFF"/>
              </a:solidFill>
              <a:effectLst/>
              <a:uFillTx/>
              <a:latin typeface="Franklin Gothic Demi" panose="020B0703020102020204" pitchFamily="34" charset="0"/>
              <a:ea typeface="+mn-ea"/>
              <a:cs typeface="+mn-cs"/>
              <a:sym typeface="Helvetica Neue Medium"/>
            </a:endParaRPr>
          </a:p>
        </p:txBody>
      </p:sp>
      <p:sp>
        <p:nvSpPr>
          <p:cNvPr id="50" name="TextBox 49">
            <a:extLst>
              <a:ext uri="{FF2B5EF4-FFF2-40B4-BE49-F238E27FC236}">
                <a16:creationId xmlns:a16="http://schemas.microsoft.com/office/drawing/2014/main" id="{B1F00027-ED8E-4F91-A749-B304A8719F44}"/>
              </a:ext>
            </a:extLst>
          </p:cNvPr>
          <p:cNvSpPr txBox="1"/>
          <p:nvPr/>
        </p:nvSpPr>
        <p:spPr>
          <a:xfrm>
            <a:off x="6200537" y="7547605"/>
            <a:ext cx="5029200" cy="254300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342900" indent="-342900" algn="l">
              <a:buFont typeface="Courier New" panose="02070309020205020404" pitchFamily="49" charset="0"/>
              <a:buChar char="o"/>
            </a:pPr>
            <a:r>
              <a:rPr lang="en-US" sz="2200" b="0" dirty="0">
                <a:latin typeface="ITC Franklin Gothic Std"/>
              </a:rPr>
              <a:t>Table B28002: Presence and Types of Internet Subscriptions in Household for the 2013-2017 data specific to broadband.</a:t>
            </a:r>
          </a:p>
          <a:p>
            <a:pPr marL="342900" indent="-342900" algn="l">
              <a:buFont typeface="Courier New" panose="02070309020205020404" pitchFamily="49" charset="0"/>
              <a:buChar char="o"/>
            </a:pPr>
            <a:r>
              <a:rPr lang="en-US" sz="2200" b="0" dirty="0">
                <a:latin typeface="ITC Franklin Gothic Std"/>
              </a:rPr>
              <a:t>Self-reported data from households, but does not include group quarters.</a:t>
            </a:r>
          </a:p>
          <a:p>
            <a:pPr marL="342900" lvl="2" indent="-342900" algn="l" fontAlgn="base">
              <a:buFont typeface="Arial" panose="020B0604020202020204" pitchFamily="34" charset="0"/>
              <a:buChar char="•"/>
            </a:pPr>
            <a:endParaRPr lang="en-US" sz="2200" b="0" dirty="0">
              <a:latin typeface="ITC Franklin Gothic Std"/>
            </a:endParaRPr>
          </a:p>
        </p:txBody>
      </p:sp>
      <p:sp>
        <p:nvSpPr>
          <p:cNvPr id="55" name="TextBox 54">
            <a:extLst>
              <a:ext uri="{FF2B5EF4-FFF2-40B4-BE49-F238E27FC236}">
                <a16:creationId xmlns:a16="http://schemas.microsoft.com/office/drawing/2014/main" id="{6D1974F1-AA38-4CB2-8CCF-27E34DB50523}"/>
              </a:ext>
            </a:extLst>
          </p:cNvPr>
          <p:cNvSpPr txBox="1"/>
          <p:nvPr/>
        </p:nvSpPr>
        <p:spPr>
          <a:xfrm>
            <a:off x="11466071" y="7282132"/>
            <a:ext cx="4538804" cy="3897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342900" indent="-342900" algn="l" fontAlgn="base">
              <a:buFont typeface="Courier New" panose="02070309020205020404" pitchFamily="49" charset="0"/>
              <a:buChar char="o"/>
            </a:pPr>
            <a:r>
              <a:rPr lang="en-US" sz="2200" b="0" dirty="0">
                <a:latin typeface="ITC Franklin Gothic Std"/>
              </a:rPr>
              <a:t>Online search engine which lists information for broadband availability on the zip code and city level.</a:t>
            </a:r>
          </a:p>
          <a:p>
            <a:pPr marL="342900" indent="-342900" algn="l" fontAlgn="base">
              <a:buFont typeface="Courier New" panose="02070309020205020404" pitchFamily="49" charset="0"/>
              <a:buChar char="o"/>
            </a:pPr>
            <a:r>
              <a:rPr lang="en-US" sz="2200" b="0" dirty="0">
                <a:latin typeface="ITC Franklin Gothic Std"/>
              </a:rPr>
              <a:t>Provides information on:</a:t>
            </a:r>
          </a:p>
          <a:p>
            <a:pPr marL="548640" lvl="4" indent="-342900" algn="l" fontAlgn="base">
              <a:buFont typeface="Courier New" panose="02070309020205020404" pitchFamily="49" charset="0"/>
              <a:buChar char="o"/>
            </a:pPr>
            <a:r>
              <a:rPr lang="en-US" sz="2200" b="0" dirty="0">
                <a:latin typeface="ITC Franklin Gothic Std"/>
              </a:rPr>
              <a:t>number of providers, </a:t>
            </a:r>
          </a:p>
          <a:p>
            <a:pPr marL="548640" lvl="4" indent="-342900" algn="l" fontAlgn="base">
              <a:buFont typeface="Courier New" panose="02070309020205020404" pitchFamily="49" charset="0"/>
              <a:buChar char="o"/>
            </a:pPr>
            <a:r>
              <a:rPr lang="en-US" sz="2200" b="0" dirty="0">
                <a:latin typeface="ITC Franklin Gothic Std"/>
              </a:rPr>
              <a:t>maximum and average upload and download speeds </a:t>
            </a:r>
          </a:p>
          <a:p>
            <a:pPr marL="548640" lvl="4" indent="-342900" algn="l" fontAlgn="base">
              <a:buFont typeface="Courier New" panose="02070309020205020404" pitchFamily="49" charset="0"/>
              <a:buChar char="o"/>
            </a:pPr>
            <a:r>
              <a:rPr lang="en-US" sz="2200" b="0" dirty="0">
                <a:latin typeface="ITC Franklin Gothic Std"/>
              </a:rPr>
              <a:t>change in broadband speeds over time.</a:t>
            </a:r>
          </a:p>
          <a:p>
            <a:pPr marL="342900" lvl="2" indent="-342900" algn="l" fontAlgn="base">
              <a:buFont typeface="Arial" panose="020B0604020202020204" pitchFamily="34" charset="0"/>
              <a:buChar char="•"/>
            </a:pPr>
            <a:endParaRPr lang="en-US" sz="2200" b="0" dirty="0">
              <a:latin typeface="ITC Franklin Gothic Std"/>
            </a:endParaRPr>
          </a:p>
        </p:txBody>
      </p:sp>
      <p:sp>
        <p:nvSpPr>
          <p:cNvPr id="58" name="TextBox 57">
            <a:extLst>
              <a:ext uri="{FF2B5EF4-FFF2-40B4-BE49-F238E27FC236}">
                <a16:creationId xmlns:a16="http://schemas.microsoft.com/office/drawing/2014/main" id="{285CEDBB-516F-482C-A5A1-C39ACE04904E}"/>
              </a:ext>
            </a:extLst>
          </p:cNvPr>
          <p:cNvSpPr txBox="1"/>
          <p:nvPr/>
        </p:nvSpPr>
        <p:spPr>
          <a:xfrm>
            <a:off x="16004875" y="7523361"/>
            <a:ext cx="4853334" cy="322011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342900" indent="-342900" algn="l" fontAlgn="base">
              <a:buFont typeface="Courier New" panose="02070309020205020404" pitchFamily="49" charset="0"/>
              <a:buChar char="o"/>
            </a:pPr>
            <a:r>
              <a:rPr lang="en-US" sz="2200" b="0" dirty="0">
                <a:latin typeface="ITC Franklin Gothic Std"/>
              </a:rPr>
              <a:t>Finds that 163 million Americans do not use the internet at 25 </a:t>
            </a:r>
            <a:r>
              <a:rPr lang="en-US" sz="2200" b="0" dirty="0" err="1">
                <a:latin typeface="ITC Franklin Gothic Std"/>
              </a:rPr>
              <a:t>mbps</a:t>
            </a:r>
            <a:r>
              <a:rPr lang="en-US" sz="2200" b="0" dirty="0">
                <a:latin typeface="ITC Franklin Gothic Std"/>
              </a:rPr>
              <a:t>, or broadband speed. </a:t>
            </a:r>
          </a:p>
          <a:p>
            <a:pPr marL="342900" indent="-342900" algn="l" fontAlgn="base">
              <a:buFont typeface="Courier New" panose="02070309020205020404" pitchFamily="49" charset="0"/>
              <a:buChar char="o"/>
            </a:pPr>
            <a:r>
              <a:rPr lang="en-US" sz="2200" b="0" dirty="0">
                <a:latin typeface="ITC Franklin Gothic Std"/>
              </a:rPr>
              <a:t>Analyzing its servers logs when electronic devices downloaded Microsoft Windows and/or Office updates, as well as when devices used the Microsoft’s Bing search engine and Xbox gaming consoles.</a:t>
            </a:r>
          </a:p>
        </p:txBody>
      </p:sp>
      <p:pic>
        <p:nvPicPr>
          <p:cNvPr id="4" name="Picture 3">
            <a:extLst>
              <a:ext uri="{FF2B5EF4-FFF2-40B4-BE49-F238E27FC236}">
                <a16:creationId xmlns:a16="http://schemas.microsoft.com/office/drawing/2014/main" id="{CABE0DDE-2031-442A-A39D-D71924A2FF32}"/>
              </a:ext>
            </a:extLst>
          </p:cNvPr>
          <p:cNvPicPr>
            <a:picLocks noChangeAspect="1"/>
          </p:cNvPicPr>
          <p:nvPr/>
        </p:nvPicPr>
        <p:blipFill>
          <a:blip r:embed="rId4"/>
          <a:stretch>
            <a:fillRect/>
          </a:stretch>
        </p:blipFill>
        <p:spPr>
          <a:xfrm>
            <a:off x="10658322" y="16575952"/>
            <a:ext cx="3332373" cy="2049200"/>
          </a:xfrm>
          <a:prstGeom prst="rect">
            <a:avLst/>
          </a:prstGeom>
        </p:spPr>
      </p:pic>
      <p:pic>
        <p:nvPicPr>
          <p:cNvPr id="5" name="Picture 4">
            <a:extLst>
              <a:ext uri="{FF2B5EF4-FFF2-40B4-BE49-F238E27FC236}">
                <a16:creationId xmlns:a16="http://schemas.microsoft.com/office/drawing/2014/main" id="{25E86BE9-76CC-40C2-B5C2-A2E0FF3F4288}"/>
              </a:ext>
            </a:extLst>
          </p:cNvPr>
          <p:cNvPicPr>
            <a:picLocks noChangeAspect="1"/>
          </p:cNvPicPr>
          <p:nvPr/>
        </p:nvPicPr>
        <p:blipFill>
          <a:blip r:embed="rId5"/>
          <a:stretch>
            <a:fillRect/>
          </a:stretch>
        </p:blipFill>
        <p:spPr>
          <a:xfrm>
            <a:off x="10672972" y="18610866"/>
            <a:ext cx="3323901" cy="2138387"/>
          </a:xfrm>
          <a:prstGeom prst="rect">
            <a:avLst/>
          </a:prstGeom>
        </p:spPr>
      </p:pic>
      <p:pic>
        <p:nvPicPr>
          <p:cNvPr id="8" name="Picture 7">
            <a:extLst>
              <a:ext uri="{FF2B5EF4-FFF2-40B4-BE49-F238E27FC236}">
                <a16:creationId xmlns:a16="http://schemas.microsoft.com/office/drawing/2014/main" id="{6275F900-246E-46A4-9F08-A964AC3B93B4}"/>
              </a:ext>
            </a:extLst>
          </p:cNvPr>
          <p:cNvPicPr>
            <a:picLocks noChangeAspect="1"/>
          </p:cNvPicPr>
          <p:nvPr/>
        </p:nvPicPr>
        <p:blipFill>
          <a:blip r:embed="rId6"/>
          <a:stretch>
            <a:fillRect/>
          </a:stretch>
        </p:blipFill>
        <p:spPr>
          <a:xfrm>
            <a:off x="10658322" y="20560823"/>
            <a:ext cx="2366378" cy="1228392"/>
          </a:xfrm>
          <a:prstGeom prst="rect">
            <a:avLst/>
          </a:prstGeom>
        </p:spPr>
      </p:pic>
      <p:sp>
        <p:nvSpPr>
          <p:cNvPr id="9" name="TextBox 8">
            <a:extLst>
              <a:ext uri="{FF2B5EF4-FFF2-40B4-BE49-F238E27FC236}">
                <a16:creationId xmlns:a16="http://schemas.microsoft.com/office/drawing/2014/main" id="{3DBBD89B-61A6-4F41-AB22-EFB551A4C941}"/>
              </a:ext>
            </a:extLst>
          </p:cNvPr>
          <p:cNvSpPr txBox="1"/>
          <p:nvPr/>
        </p:nvSpPr>
        <p:spPr>
          <a:xfrm>
            <a:off x="13902358" y="16270550"/>
            <a:ext cx="7901871" cy="8502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l" defTabSz="1971675" rtl="0" fontAlgn="auto" latinLnBrk="0" hangingPunct="0">
              <a:lnSpc>
                <a:spcPct val="100000"/>
              </a:lnSpc>
              <a:spcBef>
                <a:spcPts val="0"/>
              </a:spcBef>
              <a:spcAft>
                <a:spcPts val="0"/>
              </a:spcAft>
              <a:buClrTx/>
              <a:buSzTx/>
              <a:buFontTx/>
              <a:buNone/>
              <a:tabLst/>
            </a:pPr>
            <a:r>
              <a:rPr lang="en-US" sz="2200" b="0" dirty="0">
                <a:latin typeface="ITC Franklin Gothic Std"/>
              </a:rPr>
              <a:t>Broadband coverage discrepancy map for North Dakota (ND) and South Dakota (SD) at block group level.</a:t>
            </a:r>
            <a:endParaRPr kumimoji="0" lang="en-US" sz="2200" b="0" i="0" u="none" strike="noStrike" cap="none" spc="0" normalizeH="0" baseline="0" dirty="0">
              <a:ln>
                <a:noFill/>
              </a:ln>
              <a:solidFill>
                <a:srgbClr val="000000"/>
              </a:solidFill>
              <a:effectLst/>
              <a:uFillTx/>
              <a:latin typeface="ITC Franklin Gothic Std"/>
              <a:sym typeface="Helvetica Neue"/>
            </a:endParaRPr>
          </a:p>
        </p:txBody>
      </p:sp>
      <p:sp>
        <p:nvSpPr>
          <p:cNvPr id="11" name="TextBox 10">
            <a:extLst>
              <a:ext uri="{FF2B5EF4-FFF2-40B4-BE49-F238E27FC236}">
                <a16:creationId xmlns:a16="http://schemas.microsoft.com/office/drawing/2014/main" id="{9F265CFB-8687-4DB7-8C9D-30AE6673A246}"/>
              </a:ext>
            </a:extLst>
          </p:cNvPr>
          <p:cNvSpPr txBox="1"/>
          <p:nvPr/>
        </p:nvSpPr>
        <p:spPr>
          <a:xfrm>
            <a:off x="13956788" y="17205074"/>
            <a:ext cx="7855260" cy="49128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342900" marR="0" indent="-342900" algn="l" defTabSz="1971675" rtl="0" fontAlgn="auto" latinLnBrk="0" hangingPunct="0">
              <a:lnSpc>
                <a:spcPct val="100000"/>
              </a:lnSpc>
              <a:spcBef>
                <a:spcPts val="0"/>
              </a:spcBef>
              <a:spcAft>
                <a:spcPts val="0"/>
              </a:spcAft>
              <a:buClrTx/>
              <a:buSzTx/>
              <a:buFont typeface="Arial" panose="020B0604020202020204" pitchFamily="34" charset="0"/>
              <a:buChar char="•"/>
              <a:tabLst/>
            </a:pPr>
            <a:r>
              <a:rPr kumimoji="0" lang="en-US" sz="2200" b="0" i="0" u="none" strike="noStrike" cap="none" spc="0" normalizeH="0" baseline="0" dirty="0">
                <a:ln>
                  <a:noFill/>
                </a:ln>
                <a:solidFill>
                  <a:srgbClr val="000000"/>
                </a:solidFill>
                <a:effectLst/>
                <a:uFillTx/>
                <a:latin typeface="ITC Franklin Gothic Std"/>
                <a:sym typeface="Helvetica Neue"/>
              </a:rPr>
              <a:t>Explored the broadband </a:t>
            </a:r>
            <a:r>
              <a:rPr lang="en-US" sz="2200" b="0" dirty="0">
                <a:latin typeface="ITC Franklin Gothic Std"/>
              </a:rPr>
              <a:t>coverage discrepancy between FCC and ACS data in ND and SD to understand the effect of state boundaries and policies on broadband availability. </a:t>
            </a:r>
          </a:p>
          <a:p>
            <a:pPr marL="342900" marR="0" indent="-342900" algn="l" defTabSz="1971675" rtl="0" fontAlgn="auto" latinLnBrk="0" hangingPunct="0">
              <a:lnSpc>
                <a:spcPct val="100000"/>
              </a:lnSpc>
              <a:spcBef>
                <a:spcPts val="0"/>
              </a:spcBef>
              <a:spcAft>
                <a:spcPts val="0"/>
              </a:spcAft>
              <a:buClrTx/>
              <a:buSzTx/>
              <a:buFont typeface="Arial" panose="020B0604020202020204" pitchFamily="34" charset="0"/>
              <a:buChar char="•"/>
              <a:tabLst/>
            </a:pPr>
            <a:r>
              <a:rPr kumimoji="0" lang="en-US" sz="2200" b="0" i="0" u="none" strike="noStrike" cap="none" spc="0" normalizeH="0" baseline="0" dirty="0">
                <a:ln>
                  <a:noFill/>
                </a:ln>
                <a:solidFill>
                  <a:srgbClr val="000000"/>
                </a:solidFill>
                <a:effectLst/>
                <a:uFillTx/>
                <a:latin typeface="ITC Franklin Gothic Std"/>
                <a:sym typeface="Helvetica Neue"/>
              </a:rPr>
              <a:t>We notice hig</a:t>
            </a:r>
            <a:r>
              <a:rPr lang="en-US" sz="2200" b="0" dirty="0">
                <a:latin typeface="ITC Franklin Gothic Std"/>
              </a:rPr>
              <a:t>her coverage discrepancy in the more rural parts of ND and SD. </a:t>
            </a:r>
          </a:p>
          <a:p>
            <a:pPr marL="342900" marR="0" indent="-342900" algn="l" defTabSz="1971675" rtl="0" fontAlgn="auto" latinLnBrk="0" hangingPunct="0">
              <a:lnSpc>
                <a:spcPct val="100000"/>
              </a:lnSpc>
              <a:spcBef>
                <a:spcPts val="0"/>
              </a:spcBef>
              <a:spcAft>
                <a:spcPts val="0"/>
              </a:spcAft>
              <a:buClrTx/>
              <a:buSzTx/>
              <a:buFont typeface="Arial" panose="020B0604020202020204" pitchFamily="34" charset="0"/>
              <a:buChar char="•"/>
              <a:tabLst/>
            </a:pPr>
            <a:r>
              <a:rPr lang="en-US" sz="2200" b="0" dirty="0">
                <a:latin typeface="ITC Franklin Gothic Std"/>
              </a:rPr>
              <a:t>The southwest section of ND is majority urban compared to the rest of the state, and we can see a difference in broadband coverage across the northeast portion of SD, which is more rural. </a:t>
            </a:r>
          </a:p>
          <a:p>
            <a:pPr marL="342900" marR="0" indent="-342900" algn="l" defTabSz="1971675" rtl="0" fontAlgn="auto" latinLnBrk="0" hangingPunct="0">
              <a:lnSpc>
                <a:spcPct val="100000"/>
              </a:lnSpc>
              <a:spcBef>
                <a:spcPts val="0"/>
              </a:spcBef>
              <a:spcAft>
                <a:spcPts val="0"/>
              </a:spcAft>
              <a:buClrTx/>
              <a:buSzTx/>
              <a:buFont typeface="Arial" panose="020B0604020202020204" pitchFamily="34" charset="0"/>
              <a:buChar char="•"/>
              <a:tabLst/>
            </a:pPr>
            <a:r>
              <a:rPr lang="en-US" sz="2200" b="0" dirty="0">
                <a:latin typeface="ITC Franklin Gothic Std"/>
              </a:rPr>
              <a:t>ND is a largely rural state that experienced a surge in broadband availability mainly due to the Broadband Technology Opportunities Program (BTOP), as well as a large-scale introduction of rural cooperatives (co-ops) that are made up of local service providers in the area.</a:t>
            </a:r>
          </a:p>
        </p:txBody>
      </p:sp>
      <p:sp>
        <p:nvSpPr>
          <p:cNvPr id="36" name="TextBox 35">
            <a:extLst>
              <a:ext uri="{FF2B5EF4-FFF2-40B4-BE49-F238E27FC236}">
                <a16:creationId xmlns:a16="http://schemas.microsoft.com/office/drawing/2014/main" id="{34CEE3DF-EE1F-5745-8D8E-0FD0D0E84C72}"/>
              </a:ext>
            </a:extLst>
          </p:cNvPr>
          <p:cNvSpPr txBox="1"/>
          <p:nvPr/>
        </p:nvSpPr>
        <p:spPr>
          <a:xfrm>
            <a:off x="973097" y="11422163"/>
            <a:ext cx="12287176" cy="49128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342900" lvl="2" indent="-342900" algn="l" fontAlgn="base">
              <a:buFont typeface="Courier New" panose="02070309020205020404" pitchFamily="49" charset="0"/>
              <a:buChar char="o"/>
            </a:pPr>
            <a:r>
              <a:rPr lang="en-US" sz="2200" b="0" dirty="0">
                <a:latin typeface="ITC Franklin Gothic Std"/>
              </a:rPr>
              <a:t>Scraped and aggregated data at the county, city, census tract, and block group levels to observe differences in coverage.</a:t>
            </a:r>
          </a:p>
          <a:p>
            <a:pPr marL="342900" lvl="2" indent="-342900" algn="l" fontAlgn="base">
              <a:buFont typeface="Courier New" panose="02070309020205020404" pitchFamily="49" charset="0"/>
              <a:buChar char="o"/>
            </a:pPr>
            <a:r>
              <a:rPr lang="en-US" sz="2200" b="0" dirty="0">
                <a:latin typeface="ITC Franklin Gothic Std"/>
              </a:rPr>
              <a:t>Developed FCC coverage metric using a threshold of 25 </a:t>
            </a:r>
            <a:r>
              <a:rPr lang="en-US" sz="2200" b="0" dirty="0" err="1">
                <a:latin typeface="ITC Franklin Gothic Std"/>
              </a:rPr>
              <a:t>mbps</a:t>
            </a:r>
            <a:r>
              <a:rPr lang="en-US" sz="2200" b="0" dirty="0">
                <a:latin typeface="ITC Franklin Gothic Std"/>
              </a:rPr>
              <a:t> download speed and supplemented with American Community Survey data to determine % of population with broadband access. The absolute difference between this metric and other data sources identifies level of discrepancy:</a:t>
            </a:r>
          </a:p>
          <a:p>
            <a:pPr lvl="3" indent="0" algn="l" fontAlgn="base"/>
            <a:r>
              <a:rPr lang="en-US" sz="2200" b="0" dirty="0">
                <a:latin typeface="ITC Franklin Gothic Std"/>
              </a:rPr>
              <a:t>                1) ACS 007 access to broadband (excluding cellular and satellite)</a:t>
            </a:r>
          </a:p>
          <a:p>
            <a:pPr marL="1651000" lvl="4" indent="-1651000" algn="l" fontAlgn="base"/>
            <a:r>
              <a:rPr lang="en-US" sz="2200" b="0" dirty="0">
                <a:latin typeface="ITC Franklin Gothic Std"/>
              </a:rPr>
              <a:t>                2) FCC internet service connections of at least 10 </a:t>
            </a:r>
            <a:r>
              <a:rPr lang="en-US" sz="2200" b="0" dirty="0" err="1">
                <a:latin typeface="ITC Franklin Gothic Std"/>
              </a:rPr>
              <a:t>mbps</a:t>
            </a:r>
            <a:r>
              <a:rPr lang="en-US" sz="2200" b="0" dirty="0">
                <a:latin typeface="ITC Franklin Gothic Std"/>
              </a:rPr>
              <a:t> (bins) [block group, census tract]</a:t>
            </a:r>
          </a:p>
          <a:p>
            <a:pPr lvl="4" indent="0" algn="l" fontAlgn="base"/>
            <a:r>
              <a:rPr lang="en-US" sz="2200" b="0" dirty="0">
                <a:latin typeface="ITC Franklin Gothic Std"/>
              </a:rPr>
              <a:t>                3) Microsoft usage percentage [county]</a:t>
            </a:r>
          </a:p>
          <a:p>
            <a:pPr lvl="4" indent="0" algn="l" fontAlgn="base"/>
            <a:r>
              <a:rPr lang="en-US" sz="2200" b="0" dirty="0">
                <a:latin typeface="ITC Franklin Gothic Std"/>
              </a:rPr>
              <a:t>                4) </a:t>
            </a:r>
            <a:r>
              <a:rPr lang="en-US" sz="2200" b="0" dirty="0" err="1">
                <a:latin typeface="ITC Franklin Gothic Std"/>
              </a:rPr>
              <a:t>BroadbandNow</a:t>
            </a:r>
            <a:r>
              <a:rPr lang="en-US" sz="2200" b="0" dirty="0">
                <a:latin typeface="ITC Franklin Gothic Std"/>
              </a:rPr>
              <a:t> coverage [city]</a:t>
            </a:r>
          </a:p>
          <a:p>
            <a:pPr marL="342900" lvl="4" indent="-342900" algn="l" fontAlgn="base">
              <a:buFont typeface="Courier New" panose="02070309020205020404" pitchFamily="49" charset="0"/>
              <a:buChar char="o"/>
            </a:pPr>
            <a:r>
              <a:rPr lang="en-US" sz="2200" b="0" dirty="0">
                <a:latin typeface="ITC Franklin Gothic Std"/>
              </a:rPr>
              <a:t>Examined data by USDA-specified Rural-Urban Continuum Codes (RUCC). RUCC codes distinguish metropolitan counties by the population size of their metro area, and nonmetropolitan counties by degree of urbanization and adjacency to a metro area.</a:t>
            </a:r>
          </a:p>
        </p:txBody>
      </p:sp>
      <p:cxnSp>
        <p:nvCxnSpPr>
          <p:cNvPr id="37" name="Straight Connector 36">
            <a:extLst>
              <a:ext uri="{FF2B5EF4-FFF2-40B4-BE49-F238E27FC236}">
                <a16:creationId xmlns:a16="http://schemas.microsoft.com/office/drawing/2014/main" id="{CE3995E2-0533-154B-BC91-D96C5770C54C}"/>
              </a:ext>
            </a:extLst>
          </p:cNvPr>
          <p:cNvCxnSpPr>
            <a:cxnSpLocks/>
          </p:cNvCxnSpPr>
          <p:nvPr/>
        </p:nvCxnSpPr>
        <p:spPr>
          <a:xfrm>
            <a:off x="11229730" y="6836148"/>
            <a:ext cx="0" cy="4024959"/>
          </a:xfrm>
          <a:prstGeom prst="line">
            <a:avLst/>
          </a:prstGeom>
          <a:noFill/>
          <a:ln w="25400" cap="flat">
            <a:solidFill>
              <a:srgbClr val="1B3765"/>
            </a:solidFill>
            <a:prstDash val="solid"/>
            <a:miter lim="400000"/>
          </a:ln>
          <a:effectLst/>
          <a:sp3d/>
        </p:spPr>
        <p:style>
          <a:lnRef idx="0">
            <a:scrgbClr r="0" g="0" b="0"/>
          </a:lnRef>
          <a:fillRef idx="0">
            <a:scrgbClr r="0" g="0" b="0"/>
          </a:fillRef>
          <a:effectRef idx="0">
            <a:scrgbClr r="0" g="0" b="0"/>
          </a:effectRef>
          <a:fontRef idx="none"/>
        </p:style>
      </p:cxnSp>
      <p:cxnSp>
        <p:nvCxnSpPr>
          <p:cNvPr id="39" name="Straight Connector 38">
            <a:extLst>
              <a:ext uri="{FF2B5EF4-FFF2-40B4-BE49-F238E27FC236}">
                <a16:creationId xmlns:a16="http://schemas.microsoft.com/office/drawing/2014/main" id="{28DCE24F-4727-6944-86F4-7F9C9064F36B}"/>
              </a:ext>
            </a:extLst>
          </p:cNvPr>
          <p:cNvCxnSpPr>
            <a:cxnSpLocks/>
          </p:cNvCxnSpPr>
          <p:nvPr/>
        </p:nvCxnSpPr>
        <p:spPr>
          <a:xfrm>
            <a:off x="15953762" y="6825579"/>
            <a:ext cx="0" cy="4024959"/>
          </a:xfrm>
          <a:prstGeom prst="line">
            <a:avLst/>
          </a:prstGeom>
          <a:noFill/>
          <a:ln w="25400" cap="flat">
            <a:solidFill>
              <a:srgbClr val="1B3765"/>
            </a:solidFill>
            <a:prstDash val="solid"/>
            <a:miter lim="400000"/>
          </a:ln>
          <a:effectLst/>
          <a:sp3d/>
        </p:spPr>
        <p:style>
          <a:lnRef idx="0">
            <a:scrgbClr r="0" g="0" b="0"/>
          </a:lnRef>
          <a:fillRef idx="0">
            <a:scrgbClr r="0" g="0" b="0"/>
          </a:fillRef>
          <a:effectRef idx="0">
            <a:scrgbClr r="0" g="0" b="0"/>
          </a:effectRef>
          <a:fontRef idx="none"/>
        </p:style>
      </p:cxnSp>
      <p:cxnSp>
        <p:nvCxnSpPr>
          <p:cNvPr id="41" name="Straight Connector 40">
            <a:extLst>
              <a:ext uri="{FF2B5EF4-FFF2-40B4-BE49-F238E27FC236}">
                <a16:creationId xmlns:a16="http://schemas.microsoft.com/office/drawing/2014/main" id="{F4BB2490-188C-1646-B7B1-50874D23160B}"/>
              </a:ext>
            </a:extLst>
          </p:cNvPr>
          <p:cNvCxnSpPr>
            <a:cxnSpLocks/>
          </p:cNvCxnSpPr>
          <p:nvPr/>
        </p:nvCxnSpPr>
        <p:spPr>
          <a:xfrm>
            <a:off x="5982661" y="6825578"/>
            <a:ext cx="0" cy="4024959"/>
          </a:xfrm>
          <a:prstGeom prst="line">
            <a:avLst/>
          </a:prstGeom>
          <a:noFill/>
          <a:ln w="25400" cap="flat">
            <a:solidFill>
              <a:srgbClr val="1B3765"/>
            </a:solidFill>
            <a:prstDash val="solid"/>
            <a:miter lim="400000"/>
          </a:ln>
          <a:effectLst/>
          <a:sp3d/>
        </p:spPr>
        <p:style>
          <a:lnRef idx="0">
            <a:scrgbClr r="0" g="0" b="0"/>
          </a:lnRef>
          <a:fillRef idx="0">
            <a:scrgbClr r="0" g="0" b="0"/>
          </a:fillRef>
          <a:effectRef idx="0">
            <a:scrgbClr r="0" g="0" b="0"/>
          </a:effectRef>
          <a:fontRef idx="none"/>
        </p:style>
      </p:cxnSp>
      <p:sp>
        <p:nvSpPr>
          <p:cNvPr id="13" name="TextBox 12">
            <a:extLst>
              <a:ext uri="{FF2B5EF4-FFF2-40B4-BE49-F238E27FC236}">
                <a16:creationId xmlns:a16="http://schemas.microsoft.com/office/drawing/2014/main" id="{D9A0D872-D117-2F40-8B79-439F33D661B1}"/>
              </a:ext>
            </a:extLst>
          </p:cNvPr>
          <p:cNvSpPr txBox="1"/>
          <p:nvPr/>
        </p:nvSpPr>
        <p:spPr>
          <a:xfrm>
            <a:off x="13144567" y="15306648"/>
            <a:ext cx="3082202" cy="7271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rgbClr val="1B3765"/>
                </a:solidFill>
                <a:effectLst/>
                <a:uFillTx/>
                <a:latin typeface="Franklin Gothic Medium" panose="020B0603020102020204" pitchFamily="34" charset="0"/>
                <a:sym typeface="Helvetica Neue"/>
              </a:rPr>
              <a:t>Case Study</a:t>
            </a:r>
          </a:p>
        </p:txBody>
      </p:sp>
      <p:cxnSp>
        <p:nvCxnSpPr>
          <p:cNvPr id="26" name="Straight Connector 25">
            <a:extLst>
              <a:ext uri="{FF2B5EF4-FFF2-40B4-BE49-F238E27FC236}">
                <a16:creationId xmlns:a16="http://schemas.microsoft.com/office/drawing/2014/main" id="{D9B75C17-4C3D-BA46-8ED8-97F6E610041B}"/>
              </a:ext>
            </a:extLst>
          </p:cNvPr>
          <p:cNvCxnSpPr>
            <a:cxnSpLocks/>
          </p:cNvCxnSpPr>
          <p:nvPr/>
        </p:nvCxnSpPr>
        <p:spPr>
          <a:xfrm flipV="1">
            <a:off x="10587570" y="22894756"/>
            <a:ext cx="11205349" cy="18532"/>
          </a:xfrm>
          <a:prstGeom prst="line">
            <a:avLst/>
          </a:prstGeom>
          <a:noFill/>
          <a:ln w="25400" cap="flat">
            <a:solidFill>
              <a:srgbClr val="1B3765"/>
            </a:solidFill>
            <a:prstDash val="solid"/>
            <a:miter lim="400000"/>
          </a:ln>
          <a:effectLst/>
          <a:sp3d/>
        </p:spPr>
        <p:style>
          <a:lnRef idx="0">
            <a:scrgbClr r="0" g="0" b="0"/>
          </a:lnRef>
          <a:fillRef idx="0">
            <a:scrgbClr r="0" g="0" b="0"/>
          </a:fillRef>
          <a:effectRef idx="0">
            <a:scrgbClr r="0" g="0" b="0"/>
          </a:effectRef>
          <a:fontRef idx="none"/>
        </p:style>
      </p:cxnSp>
      <p:pic>
        <p:nvPicPr>
          <p:cNvPr id="29" name="Picture 28" descr="A close up of a logo&#10;&#10;Description automatically generated">
            <a:extLst>
              <a:ext uri="{FF2B5EF4-FFF2-40B4-BE49-F238E27FC236}">
                <a16:creationId xmlns:a16="http://schemas.microsoft.com/office/drawing/2014/main" id="{E881D94A-0E2F-1F4A-8DA3-408266F6CF3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9221583" y="29631629"/>
            <a:ext cx="2373007" cy="2323973"/>
          </a:xfrm>
          <a:prstGeom prst="rect">
            <a:avLst/>
          </a:prstGeom>
        </p:spPr>
      </p:pic>
      <p:sp>
        <p:nvSpPr>
          <p:cNvPr id="30" name="TextBox 29">
            <a:extLst>
              <a:ext uri="{FF2B5EF4-FFF2-40B4-BE49-F238E27FC236}">
                <a16:creationId xmlns:a16="http://schemas.microsoft.com/office/drawing/2014/main" id="{B1F4D841-47BF-8440-B2ED-76CF72A16D6F}"/>
              </a:ext>
            </a:extLst>
          </p:cNvPr>
          <p:cNvSpPr txBox="1"/>
          <p:nvPr/>
        </p:nvSpPr>
        <p:spPr>
          <a:xfrm>
            <a:off x="18922159" y="31988190"/>
            <a:ext cx="2968117" cy="60401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r>
              <a:rPr lang="en-US" sz="1400" dirty="0">
                <a:solidFill>
                  <a:schemeClr val="bg1"/>
                </a:solidFill>
              </a:rPr>
              <a:t>http://</a:t>
            </a:r>
            <a:r>
              <a:rPr lang="en-US" sz="1400" dirty="0" err="1">
                <a:solidFill>
                  <a:schemeClr val="bg1"/>
                </a:solidFill>
              </a:rPr>
              <a:t>bband.policy-analytics.net</a:t>
            </a:r>
            <a:r>
              <a:rPr lang="en-US" sz="1400" dirty="0">
                <a:solidFill>
                  <a:schemeClr val="bg1"/>
                </a:solidFill>
              </a:rPr>
              <a:t>/</a:t>
            </a:r>
            <a:endParaRPr kumimoji="0" lang="en-US" sz="1400" i="0" u="none" strike="noStrike" cap="none" spc="0" normalizeH="0" baseline="0" dirty="0">
              <a:ln>
                <a:noFill/>
              </a:ln>
              <a:solidFill>
                <a:schemeClr val="bg1"/>
              </a:solidFill>
              <a:effectLst/>
              <a:uFillTx/>
              <a:sym typeface="Helvetica Neue"/>
            </a:endParaRPr>
          </a:p>
        </p:txBody>
      </p:sp>
      <p:pic>
        <p:nvPicPr>
          <p:cNvPr id="3" name="Picture 2" descr="https://raw.githubusercontent.com/uva-bi-sdad/dspg19broadband/sarah/src/poster_visuals/all_update.png">
            <a:extLst>
              <a:ext uri="{FF2B5EF4-FFF2-40B4-BE49-F238E27FC236}">
                <a16:creationId xmlns:a16="http://schemas.microsoft.com/office/drawing/2014/main" id="{6D12116E-A888-4A3C-806C-C67A7A6C6744}"/>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5595"/>
          <a:stretch/>
        </p:blipFill>
        <p:spPr bwMode="auto">
          <a:xfrm>
            <a:off x="452816" y="17262769"/>
            <a:ext cx="9563421" cy="422115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raw.githubusercontent.com/uva-bi-sdad/dspg19broadband/sarah/src/poster_visuals/metro.png">
            <a:extLst>
              <a:ext uri="{FF2B5EF4-FFF2-40B4-BE49-F238E27FC236}">
                <a16:creationId xmlns:a16="http://schemas.microsoft.com/office/drawing/2014/main" id="{CF6EFC5D-6AC5-4327-B13D-C0F8BB141D80}"/>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t="6120"/>
          <a:stretch/>
        </p:blipFill>
        <p:spPr bwMode="auto">
          <a:xfrm>
            <a:off x="460861" y="21799042"/>
            <a:ext cx="9563421" cy="418976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s://raw.githubusercontent.com/uva-bi-sdad/dspg19broadband/sarah/src/poster_visuals/rucc.png">
            <a:extLst>
              <a:ext uri="{FF2B5EF4-FFF2-40B4-BE49-F238E27FC236}">
                <a16:creationId xmlns:a16="http://schemas.microsoft.com/office/drawing/2014/main" id="{8F485FF4-8B65-46C2-AFB4-567DD1E9AEEC}"/>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t="5527"/>
          <a:stretch/>
        </p:blipFill>
        <p:spPr bwMode="auto">
          <a:xfrm>
            <a:off x="441266" y="26303919"/>
            <a:ext cx="9563419" cy="421628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https://raw.githubusercontent.com/uva-bi-sdad/dspg19broadband/sarah/src/poster_visuals/discrepancy_update.png">
            <a:extLst>
              <a:ext uri="{FF2B5EF4-FFF2-40B4-BE49-F238E27FC236}">
                <a16:creationId xmlns:a16="http://schemas.microsoft.com/office/drawing/2014/main" id="{2FC15563-BF1E-4B54-8D5B-2267A8A40821}"/>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t="7817"/>
          <a:stretch/>
        </p:blipFill>
        <p:spPr bwMode="auto">
          <a:xfrm>
            <a:off x="13070223" y="11623038"/>
            <a:ext cx="8465141" cy="3641592"/>
          </a:xfrm>
          <a:prstGeom prst="rect">
            <a:avLst/>
          </a:prstGeom>
          <a:noFill/>
          <a:extLst>
            <a:ext uri="{909E8E84-426E-40DD-AFC4-6F175D3DCCD1}">
              <a14:hiddenFill xmlns:a14="http://schemas.microsoft.com/office/drawing/2010/main">
                <a:solidFill>
                  <a:srgbClr val="FFFFFF"/>
                </a:solidFill>
              </a14:hiddenFill>
            </a:ext>
          </a:extLst>
        </p:spPr>
      </p:pic>
      <p:sp>
        <p:nvSpPr>
          <p:cNvPr id="45" name="TextBox 44">
            <a:extLst>
              <a:ext uri="{FF2B5EF4-FFF2-40B4-BE49-F238E27FC236}">
                <a16:creationId xmlns:a16="http://schemas.microsoft.com/office/drawing/2014/main" id="{BF6B25C4-DA86-AE48-9158-55C30162082D}"/>
              </a:ext>
            </a:extLst>
          </p:cNvPr>
          <p:cNvSpPr txBox="1"/>
          <p:nvPr/>
        </p:nvSpPr>
        <p:spPr>
          <a:xfrm>
            <a:off x="10559800" y="23239939"/>
            <a:ext cx="11330477" cy="322011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algn="l"/>
            <a:r>
              <a:rPr lang="en-US" sz="2200" dirty="0">
                <a:latin typeface="ITC Franklin Gothic Std Book" panose="020B0504030503020204" pitchFamily="34" charset="0"/>
              </a:rPr>
              <a:t>Findings: </a:t>
            </a:r>
            <a:r>
              <a:rPr lang="en-US" sz="2200" b="0" dirty="0">
                <a:latin typeface="ITC Franklin Gothic Std Book" panose="020B0504030503020204" pitchFamily="34" charset="0"/>
              </a:rPr>
              <a:t>FCC, ACS, and Microsoft </a:t>
            </a:r>
            <a:r>
              <a:rPr lang="en-US" sz="2200" b="0" dirty="0" err="1">
                <a:latin typeface="ITC Franklin Gothic Std Book" panose="020B0504030503020204" pitchFamily="34" charset="0"/>
              </a:rPr>
              <a:t>Airband</a:t>
            </a:r>
            <a:r>
              <a:rPr lang="en-US" sz="2200" b="0" dirty="0">
                <a:latin typeface="ITC Franklin Gothic Std Book" panose="020B0504030503020204" pitchFamily="34" charset="0"/>
              </a:rPr>
              <a:t> data give very inconsistent estimates of broadband accessibility. However, they all estimate lower coverage in rural areas compared to urban areas.  </a:t>
            </a:r>
          </a:p>
          <a:p>
            <a:pPr algn="l"/>
            <a:r>
              <a:rPr lang="en-US" sz="2200" dirty="0">
                <a:latin typeface="ITC Franklin Gothic Std Book" panose="020B0504030503020204" pitchFamily="34" charset="0"/>
              </a:rPr>
              <a:t>Next steps: </a:t>
            </a:r>
            <a:r>
              <a:rPr lang="en-US" sz="2200" b="0" dirty="0">
                <a:latin typeface="ITC Franklin Gothic Std Book" panose="020B0504030503020204" pitchFamily="34" charset="0"/>
              </a:rPr>
              <a:t>Explore the relationship between percent discrepancy and sociodemographic factors for counties by urbanicity. We provide our preliminary exploration of discrepancy and sociodemographic factors correlations below. Sociodemographic factors are more likely to influence discrepancies in metro than non-metro areas.</a:t>
            </a:r>
          </a:p>
          <a:p>
            <a:pPr algn="l"/>
            <a:r>
              <a:rPr lang="en-US" sz="2200" b="0" dirty="0">
                <a:latin typeface="ITC Franklin Gothic Std Book" panose="020B0504030503020204" pitchFamily="34" charset="0"/>
              </a:rPr>
              <a:t>We use FCC, ACS, and Microsoft data to obtain model-based broadband access predictions based on sociodemographic information (e.g. urbanicity, unemployment).</a:t>
            </a:r>
          </a:p>
        </p:txBody>
      </p:sp>
      <p:pic>
        <p:nvPicPr>
          <p:cNvPr id="46" name="Picture 45">
            <a:extLst>
              <a:ext uri="{FF2B5EF4-FFF2-40B4-BE49-F238E27FC236}">
                <a16:creationId xmlns:a16="http://schemas.microsoft.com/office/drawing/2014/main" id="{C940414A-CD02-A248-ABBF-53D005F6A2E0}"/>
              </a:ext>
            </a:extLst>
          </p:cNvPr>
          <p:cNvPicPr>
            <a:picLocks noChangeAspect="1"/>
          </p:cNvPicPr>
          <p:nvPr/>
        </p:nvPicPr>
        <p:blipFill rotWithShape="1">
          <a:blip r:embed="rId12"/>
          <a:srcRect t="4629"/>
          <a:stretch/>
        </p:blipFill>
        <p:spPr>
          <a:xfrm>
            <a:off x="10431146" y="26944908"/>
            <a:ext cx="8509045" cy="3575163"/>
          </a:xfrm>
          <a:prstGeom prst="rect">
            <a:avLst/>
          </a:prstGeom>
        </p:spPr>
      </p:pic>
      <p:sp>
        <p:nvSpPr>
          <p:cNvPr id="12" name="TextBox 11">
            <a:extLst>
              <a:ext uri="{FF2B5EF4-FFF2-40B4-BE49-F238E27FC236}">
                <a16:creationId xmlns:a16="http://schemas.microsoft.com/office/drawing/2014/main" id="{0005F6F8-763B-094C-921E-A69F5F0EDEFD}"/>
              </a:ext>
            </a:extLst>
          </p:cNvPr>
          <p:cNvSpPr txBox="1"/>
          <p:nvPr/>
        </p:nvSpPr>
        <p:spPr>
          <a:xfrm>
            <a:off x="749842" y="159238"/>
            <a:ext cx="13580516" cy="18351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l" defTabSz="1971675"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bg1"/>
                </a:solidFill>
                <a:effectLst/>
                <a:uFillTx/>
                <a:latin typeface="ITC Franklin Gothic Std Book" panose="020B0504030503020204" pitchFamily="34" charset="77"/>
                <a:sym typeface="Helvetica Neue"/>
              </a:rPr>
              <a:t>Broadband Data Validation: </a:t>
            </a:r>
            <a:br>
              <a:rPr kumimoji="0" lang="en-US" sz="5400" b="0" i="0" u="none" strike="noStrike" cap="none" spc="0" normalizeH="0" baseline="0" dirty="0">
                <a:ln>
                  <a:noFill/>
                </a:ln>
                <a:solidFill>
                  <a:schemeClr val="bg1"/>
                </a:solidFill>
                <a:effectLst/>
                <a:uFillTx/>
                <a:latin typeface="ITC Franklin Gothic Std Book" panose="020B0504030503020204" pitchFamily="34" charset="77"/>
                <a:sym typeface="Helvetica Neue"/>
              </a:rPr>
            </a:br>
            <a:r>
              <a:rPr kumimoji="0" lang="en-US" sz="5400" b="0" i="0" u="none" strike="noStrike" cap="none" spc="0" normalizeH="0" baseline="0" dirty="0">
                <a:ln>
                  <a:noFill/>
                </a:ln>
                <a:solidFill>
                  <a:schemeClr val="bg1"/>
                </a:solidFill>
                <a:effectLst/>
                <a:uFillTx/>
                <a:latin typeface="ITC Franklin Gothic Std Book" panose="020B0504030503020204" pitchFamily="34" charset="77"/>
                <a:sym typeface="Helvetica Neue"/>
              </a:rPr>
              <a:t>Comparing U.S. </a:t>
            </a:r>
            <a:r>
              <a:rPr lang="en-US" sz="5400" b="0" dirty="0">
                <a:solidFill>
                  <a:schemeClr val="bg1"/>
                </a:solidFill>
                <a:latin typeface="ITC Franklin Gothic Std Book" panose="020B0504030503020204" pitchFamily="34" charset="77"/>
              </a:rPr>
              <a:t>Broadband Coverage</a:t>
            </a:r>
            <a:endParaRPr kumimoji="0" lang="en-US" sz="5400" b="0" i="0" u="none" strike="noStrike" cap="none" spc="0" normalizeH="0" baseline="0" dirty="0">
              <a:ln>
                <a:noFill/>
              </a:ln>
              <a:solidFill>
                <a:schemeClr val="bg1"/>
              </a:solidFill>
              <a:effectLst/>
              <a:uFillTx/>
              <a:latin typeface="ITC Franklin Gothic Std Book" panose="020B0504030503020204" pitchFamily="34" charset="77"/>
              <a:sym typeface="Helvetica Neue"/>
            </a:endParaRPr>
          </a:p>
        </p:txBody>
      </p:sp>
      <p:sp>
        <p:nvSpPr>
          <p:cNvPr id="6" name="TextBox 5">
            <a:extLst>
              <a:ext uri="{FF2B5EF4-FFF2-40B4-BE49-F238E27FC236}">
                <a16:creationId xmlns:a16="http://schemas.microsoft.com/office/drawing/2014/main" id="{D953EA3B-D3EA-3442-9E47-6F973C4850E8}"/>
              </a:ext>
            </a:extLst>
          </p:cNvPr>
          <p:cNvSpPr txBox="1"/>
          <p:nvPr/>
        </p:nvSpPr>
        <p:spPr>
          <a:xfrm>
            <a:off x="13475944" y="11131847"/>
            <a:ext cx="7912422" cy="4501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800" b="1" i="0" u="none" strike="noStrike" cap="none" spc="0" normalizeH="0" baseline="0" dirty="0">
                <a:ln>
                  <a:noFill/>
                </a:ln>
                <a:solidFill>
                  <a:srgbClr val="000000"/>
                </a:solidFill>
                <a:effectLst/>
                <a:uFillTx/>
                <a:latin typeface="Helvetica Neue"/>
                <a:ea typeface="Helvetica Neue"/>
                <a:cs typeface="Helvetica Neue"/>
                <a:sym typeface="Helvetica Neue"/>
              </a:rPr>
              <a:t>Boxplots for County Distribution of Discrepanc</a:t>
            </a:r>
            <a:r>
              <a:rPr lang="en-US" sz="1800" dirty="0"/>
              <a:t>y Measure by Urbanicity</a:t>
            </a:r>
            <a:endParaRPr kumimoji="0" lang="en-US" sz="1800" b="1" i="0" u="none" strike="noStrike" cap="none" spc="0" normalizeH="0" baseline="0" dirty="0">
              <a:ln>
                <a:noFill/>
              </a:ln>
              <a:solidFill>
                <a:srgbClr val="000000"/>
              </a:solidFill>
              <a:effectLst/>
              <a:uFillTx/>
              <a:latin typeface="Helvetica Neue"/>
              <a:ea typeface="Helvetica Neue"/>
              <a:cs typeface="Helvetica Neue"/>
              <a:sym typeface="Helvetica Neue"/>
            </a:endParaRPr>
          </a:p>
        </p:txBody>
      </p:sp>
      <p:sp>
        <p:nvSpPr>
          <p:cNvPr id="10" name="TextBox 9">
            <a:extLst>
              <a:ext uri="{FF2B5EF4-FFF2-40B4-BE49-F238E27FC236}">
                <a16:creationId xmlns:a16="http://schemas.microsoft.com/office/drawing/2014/main" id="{53935F00-BA21-E240-83A2-F0FE9126CD04}"/>
              </a:ext>
            </a:extLst>
          </p:cNvPr>
          <p:cNvSpPr txBox="1"/>
          <p:nvPr/>
        </p:nvSpPr>
        <p:spPr>
          <a:xfrm>
            <a:off x="13475943" y="14121688"/>
            <a:ext cx="4032669"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Discrepancy</a:t>
            </a:r>
          </a:p>
        </p:txBody>
      </p:sp>
      <p:sp>
        <p:nvSpPr>
          <p:cNvPr id="49" name="TextBox 48">
            <a:extLst>
              <a:ext uri="{FF2B5EF4-FFF2-40B4-BE49-F238E27FC236}">
                <a16:creationId xmlns:a16="http://schemas.microsoft.com/office/drawing/2014/main" id="{6AD63C18-0834-374F-B1CF-A7387D04A919}"/>
              </a:ext>
            </a:extLst>
          </p:cNvPr>
          <p:cNvSpPr txBox="1"/>
          <p:nvPr/>
        </p:nvSpPr>
        <p:spPr>
          <a:xfrm>
            <a:off x="17508613" y="14117609"/>
            <a:ext cx="3965328"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Absolute Discrepancy</a:t>
            </a:r>
          </a:p>
        </p:txBody>
      </p:sp>
      <p:sp>
        <p:nvSpPr>
          <p:cNvPr id="14" name="TextBox 13">
            <a:extLst>
              <a:ext uri="{FF2B5EF4-FFF2-40B4-BE49-F238E27FC236}">
                <a16:creationId xmlns:a16="http://schemas.microsoft.com/office/drawing/2014/main" id="{497B621A-7581-1D42-AB12-77D457E901A7}"/>
              </a:ext>
            </a:extLst>
          </p:cNvPr>
          <p:cNvSpPr txBox="1"/>
          <p:nvPr/>
        </p:nvSpPr>
        <p:spPr>
          <a:xfrm>
            <a:off x="1771178" y="16878312"/>
            <a:ext cx="7902804" cy="4501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800" b="1" i="0" u="none" strike="noStrike" cap="none" spc="0" normalizeH="0" baseline="0" dirty="0">
                <a:ln>
                  <a:noFill/>
                </a:ln>
                <a:solidFill>
                  <a:srgbClr val="000000"/>
                </a:solidFill>
                <a:effectLst/>
                <a:uFillTx/>
                <a:latin typeface="Helvetica Neue"/>
                <a:ea typeface="Helvetica Neue"/>
                <a:cs typeface="Helvetica Neue"/>
                <a:sym typeface="Helvetica Neue"/>
              </a:rPr>
              <a:t>Boxplots for County Distribution of Broadband Access by Data Source</a:t>
            </a:r>
          </a:p>
        </p:txBody>
      </p:sp>
      <p:sp>
        <p:nvSpPr>
          <p:cNvPr id="52" name="TextBox 51">
            <a:extLst>
              <a:ext uri="{FF2B5EF4-FFF2-40B4-BE49-F238E27FC236}">
                <a16:creationId xmlns:a16="http://schemas.microsoft.com/office/drawing/2014/main" id="{6288D0E4-81E0-0C49-9735-DDFF4394E345}"/>
              </a:ext>
            </a:extLst>
          </p:cNvPr>
          <p:cNvSpPr txBox="1"/>
          <p:nvPr/>
        </p:nvSpPr>
        <p:spPr>
          <a:xfrm>
            <a:off x="2707647" y="21388745"/>
            <a:ext cx="5823710" cy="7271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800" b="1" i="0" u="none" strike="noStrike" cap="none" spc="0" normalizeH="0" baseline="0" dirty="0">
                <a:ln>
                  <a:noFill/>
                </a:ln>
                <a:solidFill>
                  <a:srgbClr val="000000"/>
                </a:solidFill>
                <a:effectLst/>
                <a:uFillTx/>
                <a:latin typeface="ITC Franklin Gothic Std Book" panose="020B0504030503020204" pitchFamily="34" charset="0"/>
                <a:sym typeface="Helvetica Neue"/>
              </a:rPr>
              <a:t>Boxplots for County Distribution of Broadband Access </a:t>
            </a:r>
            <a:br>
              <a:rPr kumimoji="0" lang="en-US" sz="1800" b="1" i="0" u="none" strike="noStrike" cap="none" spc="0" normalizeH="0" baseline="0" dirty="0">
                <a:ln>
                  <a:noFill/>
                </a:ln>
                <a:solidFill>
                  <a:srgbClr val="000000"/>
                </a:solidFill>
                <a:effectLst/>
                <a:uFillTx/>
                <a:latin typeface="ITC Franklin Gothic Std Book" panose="020B0504030503020204" pitchFamily="34" charset="0"/>
                <a:sym typeface="Helvetica Neue"/>
              </a:rPr>
            </a:br>
            <a:r>
              <a:rPr kumimoji="0" lang="en-US" sz="1800" b="1" i="0" u="none" strike="noStrike" cap="none" spc="0" normalizeH="0" baseline="0" dirty="0">
                <a:ln>
                  <a:noFill/>
                </a:ln>
                <a:solidFill>
                  <a:srgbClr val="000000"/>
                </a:solidFill>
                <a:effectLst/>
                <a:uFillTx/>
                <a:latin typeface="ITC Franklin Gothic Std Book" panose="020B0504030503020204" pitchFamily="34" charset="0"/>
                <a:sym typeface="Helvetica Neue"/>
              </a:rPr>
              <a:t>by Metro/Non-Metro Areas &amp; Data Source</a:t>
            </a:r>
          </a:p>
        </p:txBody>
      </p:sp>
      <p:sp>
        <p:nvSpPr>
          <p:cNvPr id="54" name="TextBox 53">
            <a:extLst>
              <a:ext uri="{FF2B5EF4-FFF2-40B4-BE49-F238E27FC236}">
                <a16:creationId xmlns:a16="http://schemas.microsoft.com/office/drawing/2014/main" id="{457875B4-5EC9-6B43-ABEE-810FAD758D76}"/>
              </a:ext>
            </a:extLst>
          </p:cNvPr>
          <p:cNvSpPr txBox="1"/>
          <p:nvPr/>
        </p:nvSpPr>
        <p:spPr>
          <a:xfrm>
            <a:off x="460862" y="25935259"/>
            <a:ext cx="9596612" cy="4501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800" b="1" i="0" u="none" strike="noStrike" cap="none" spc="0" normalizeH="0" baseline="0" dirty="0">
                <a:ln>
                  <a:noFill/>
                </a:ln>
                <a:solidFill>
                  <a:srgbClr val="000000"/>
                </a:solidFill>
                <a:effectLst/>
                <a:uFillTx/>
                <a:latin typeface="ITC Franklin Gothic Std Book" panose="020B0504030503020204" pitchFamily="34" charset="0"/>
                <a:sym typeface="Helvetica Neue"/>
              </a:rPr>
              <a:t>Boxplots for County Distribution of Broadband Access by Urbanicity &amp; Data Source</a:t>
            </a:r>
          </a:p>
        </p:txBody>
      </p:sp>
      <p:sp>
        <p:nvSpPr>
          <p:cNvPr id="56" name="TextBox 55">
            <a:extLst>
              <a:ext uri="{FF2B5EF4-FFF2-40B4-BE49-F238E27FC236}">
                <a16:creationId xmlns:a16="http://schemas.microsoft.com/office/drawing/2014/main" id="{54241BD3-D8E0-4942-9CA3-DD5B44E7CBD1}"/>
              </a:ext>
            </a:extLst>
          </p:cNvPr>
          <p:cNvSpPr txBox="1"/>
          <p:nvPr/>
        </p:nvSpPr>
        <p:spPr>
          <a:xfrm>
            <a:off x="10545149" y="26531829"/>
            <a:ext cx="9291809" cy="4501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800" b="1" i="0" u="none" strike="noStrike" cap="none" spc="0" normalizeH="0" baseline="0" dirty="0">
                <a:ln>
                  <a:noFill/>
                </a:ln>
                <a:solidFill>
                  <a:srgbClr val="000000"/>
                </a:solidFill>
                <a:effectLst/>
                <a:uFillTx/>
                <a:latin typeface="ITC Franklin Gothic Std Book" panose="020B0504030503020204" pitchFamily="34" charset="0"/>
                <a:sym typeface="Helvetica Neue"/>
              </a:rPr>
              <a:t>County-level Correlation between Sociodemographic Indicators &amp; Percent Discrepancy</a:t>
            </a:r>
          </a:p>
        </p:txBody>
      </p:sp>
      <p:sp>
        <p:nvSpPr>
          <p:cNvPr id="57" name="TextBox 56">
            <a:extLst>
              <a:ext uri="{FF2B5EF4-FFF2-40B4-BE49-F238E27FC236}">
                <a16:creationId xmlns:a16="http://schemas.microsoft.com/office/drawing/2014/main" id="{5E697C72-36B5-CF4A-8A2F-5929A78F69E6}"/>
              </a:ext>
            </a:extLst>
          </p:cNvPr>
          <p:cNvSpPr txBox="1"/>
          <p:nvPr/>
        </p:nvSpPr>
        <p:spPr>
          <a:xfrm>
            <a:off x="761904" y="20543013"/>
            <a:ext cx="3125609"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FCC</a:t>
            </a:r>
          </a:p>
        </p:txBody>
      </p:sp>
      <p:sp>
        <p:nvSpPr>
          <p:cNvPr id="59" name="TextBox 58">
            <a:extLst>
              <a:ext uri="{FF2B5EF4-FFF2-40B4-BE49-F238E27FC236}">
                <a16:creationId xmlns:a16="http://schemas.microsoft.com/office/drawing/2014/main" id="{88C83FDB-65D2-D04C-8E96-6AB7BA2B44D8}"/>
              </a:ext>
            </a:extLst>
          </p:cNvPr>
          <p:cNvSpPr txBox="1"/>
          <p:nvPr/>
        </p:nvSpPr>
        <p:spPr>
          <a:xfrm>
            <a:off x="3955918" y="20555412"/>
            <a:ext cx="2944296"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ACS</a:t>
            </a:r>
          </a:p>
        </p:txBody>
      </p:sp>
      <p:sp>
        <p:nvSpPr>
          <p:cNvPr id="61" name="TextBox 60">
            <a:extLst>
              <a:ext uri="{FF2B5EF4-FFF2-40B4-BE49-F238E27FC236}">
                <a16:creationId xmlns:a16="http://schemas.microsoft.com/office/drawing/2014/main" id="{474754F6-0B8A-0D49-9D29-ED7D9EB59F43}"/>
              </a:ext>
            </a:extLst>
          </p:cNvPr>
          <p:cNvSpPr txBox="1"/>
          <p:nvPr/>
        </p:nvSpPr>
        <p:spPr>
          <a:xfrm>
            <a:off x="6973565" y="20555412"/>
            <a:ext cx="3079239"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Microsoft</a:t>
            </a:r>
          </a:p>
        </p:txBody>
      </p:sp>
      <p:pic>
        <p:nvPicPr>
          <p:cNvPr id="62" name="Picture 61" descr="https://raw.githubusercontent.com/uva-bi-sdad/dspg19broadband/sarah/src/poster_visuals/all_update.png">
            <a:extLst>
              <a:ext uri="{FF2B5EF4-FFF2-40B4-BE49-F238E27FC236}">
                <a16:creationId xmlns:a16="http://schemas.microsoft.com/office/drawing/2014/main" id="{F9D7A3A4-DABF-9D45-B12A-CF02F0E7D65E}"/>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5595"/>
          <a:stretch/>
        </p:blipFill>
        <p:spPr bwMode="auto">
          <a:xfrm>
            <a:off x="641930" y="17256825"/>
            <a:ext cx="9563421" cy="4221158"/>
          </a:xfrm>
          <a:prstGeom prst="rect">
            <a:avLst/>
          </a:prstGeom>
          <a:noFill/>
          <a:extLst>
            <a:ext uri="{909E8E84-426E-40DD-AFC4-6F175D3DCCD1}">
              <a14:hiddenFill xmlns:a14="http://schemas.microsoft.com/office/drawing/2010/main">
                <a:solidFill>
                  <a:srgbClr val="FFFFFF"/>
                </a:solidFill>
              </a14:hiddenFill>
            </a:ext>
          </a:extLst>
        </p:spPr>
      </p:pic>
      <p:sp>
        <p:nvSpPr>
          <p:cNvPr id="63" name="TextBox 62">
            <a:extLst>
              <a:ext uri="{FF2B5EF4-FFF2-40B4-BE49-F238E27FC236}">
                <a16:creationId xmlns:a16="http://schemas.microsoft.com/office/drawing/2014/main" id="{BC3EED0A-DA2D-104A-972A-95F4A3294FE5}"/>
              </a:ext>
            </a:extLst>
          </p:cNvPr>
          <p:cNvSpPr txBox="1"/>
          <p:nvPr/>
        </p:nvSpPr>
        <p:spPr>
          <a:xfrm>
            <a:off x="978422" y="20585550"/>
            <a:ext cx="3125609"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FCC</a:t>
            </a:r>
          </a:p>
        </p:txBody>
      </p:sp>
      <p:sp>
        <p:nvSpPr>
          <p:cNvPr id="67" name="TextBox 66">
            <a:extLst>
              <a:ext uri="{FF2B5EF4-FFF2-40B4-BE49-F238E27FC236}">
                <a16:creationId xmlns:a16="http://schemas.microsoft.com/office/drawing/2014/main" id="{188288F7-C42E-BC4D-BB01-523662AFFD9A}"/>
              </a:ext>
            </a:extLst>
          </p:cNvPr>
          <p:cNvSpPr txBox="1"/>
          <p:nvPr/>
        </p:nvSpPr>
        <p:spPr>
          <a:xfrm>
            <a:off x="4127927" y="20592620"/>
            <a:ext cx="2989514"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ACS</a:t>
            </a:r>
          </a:p>
        </p:txBody>
      </p:sp>
      <p:cxnSp>
        <p:nvCxnSpPr>
          <p:cNvPr id="71" name="Straight Connector 70">
            <a:extLst>
              <a:ext uri="{FF2B5EF4-FFF2-40B4-BE49-F238E27FC236}">
                <a16:creationId xmlns:a16="http://schemas.microsoft.com/office/drawing/2014/main" id="{44F2E95E-A96F-A74B-93DF-EF2BA4CC7CD2}"/>
              </a:ext>
            </a:extLst>
          </p:cNvPr>
          <p:cNvCxnSpPr>
            <a:cxnSpLocks/>
          </p:cNvCxnSpPr>
          <p:nvPr/>
        </p:nvCxnSpPr>
        <p:spPr>
          <a:xfrm>
            <a:off x="13591778" y="15942536"/>
            <a:ext cx="8220270" cy="0"/>
          </a:xfrm>
          <a:prstGeom prst="line">
            <a:avLst/>
          </a:prstGeom>
          <a:noFill/>
          <a:ln w="25400" cap="flat">
            <a:solidFill>
              <a:srgbClr val="1B3765"/>
            </a:solidFill>
            <a:prstDash val="solid"/>
            <a:miter lim="400000"/>
          </a:ln>
          <a:effectLst/>
          <a:sp3d/>
        </p:spPr>
        <p:style>
          <a:lnRef idx="0">
            <a:scrgbClr r="0" g="0" b="0"/>
          </a:lnRef>
          <a:fillRef idx="0">
            <a:scrgbClr r="0" g="0" b="0"/>
          </a:fillRef>
          <a:effectRef idx="0">
            <a:scrgbClr r="0" g="0" b="0"/>
          </a:effectRef>
          <a:fontRef idx="none"/>
        </p:style>
      </p:cxnSp>
      <p:cxnSp>
        <p:nvCxnSpPr>
          <p:cNvPr id="74" name="Straight Connector 73">
            <a:extLst>
              <a:ext uri="{FF2B5EF4-FFF2-40B4-BE49-F238E27FC236}">
                <a16:creationId xmlns:a16="http://schemas.microsoft.com/office/drawing/2014/main" id="{5C64ABB1-0BC6-9B4B-8460-9DA64B5212F8}"/>
              </a:ext>
            </a:extLst>
          </p:cNvPr>
          <p:cNvCxnSpPr>
            <a:cxnSpLocks/>
          </p:cNvCxnSpPr>
          <p:nvPr/>
        </p:nvCxnSpPr>
        <p:spPr>
          <a:xfrm flipV="1">
            <a:off x="636605" y="11327086"/>
            <a:ext cx="12092803" cy="55755"/>
          </a:xfrm>
          <a:prstGeom prst="line">
            <a:avLst/>
          </a:prstGeom>
          <a:noFill/>
          <a:ln w="25400" cap="flat">
            <a:solidFill>
              <a:srgbClr val="1B3765"/>
            </a:solidFill>
            <a:prstDash val="solid"/>
            <a:miter lim="400000"/>
          </a:ln>
          <a:effectLst/>
          <a:sp3d/>
        </p:spPr>
        <p:style>
          <a:lnRef idx="0">
            <a:scrgbClr r="0" g="0" b="0"/>
          </a:lnRef>
          <a:fillRef idx="0">
            <a:scrgbClr r="0" g="0" b="0"/>
          </a:fillRef>
          <a:effectRef idx="0">
            <a:scrgbClr r="0" g="0" b="0"/>
          </a:effectRef>
          <a:fontRef idx="none"/>
        </p:style>
      </p:cxnSp>
      <p:cxnSp>
        <p:nvCxnSpPr>
          <p:cNvPr id="75" name="Straight Connector 74">
            <a:extLst>
              <a:ext uri="{FF2B5EF4-FFF2-40B4-BE49-F238E27FC236}">
                <a16:creationId xmlns:a16="http://schemas.microsoft.com/office/drawing/2014/main" id="{BABF0409-5136-E242-B16D-EAB2D66303CE}"/>
              </a:ext>
            </a:extLst>
          </p:cNvPr>
          <p:cNvCxnSpPr>
            <a:cxnSpLocks/>
          </p:cNvCxnSpPr>
          <p:nvPr/>
        </p:nvCxnSpPr>
        <p:spPr>
          <a:xfrm>
            <a:off x="566616" y="16869741"/>
            <a:ext cx="9817415" cy="0"/>
          </a:xfrm>
          <a:prstGeom prst="line">
            <a:avLst/>
          </a:prstGeom>
          <a:noFill/>
          <a:ln w="25400" cap="flat">
            <a:solidFill>
              <a:srgbClr val="1B3765"/>
            </a:solidFill>
            <a:prstDash val="solid"/>
            <a:miter lim="400000"/>
          </a:ln>
          <a:effectLst/>
          <a:sp3d/>
        </p:spPr>
        <p:style>
          <a:lnRef idx="0">
            <a:scrgbClr r="0" g="0" b="0"/>
          </a:lnRef>
          <a:fillRef idx="0">
            <a:scrgbClr r="0" g="0" b="0"/>
          </a:fillRef>
          <a:effectRef idx="0">
            <a:scrgbClr r="0" g="0" b="0"/>
          </a:effectRef>
          <a:fontRef idx="none"/>
        </p:style>
      </p:cxnSp>
      <p:cxnSp>
        <p:nvCxnSpPr>
          <p:cNvPr id="76" name="Straight Connector 75">
            <a:extLst>
              <a:ext uri="{FF2B5EF4-FFF2-40B4-BE49-F238E27FC236}">
                <a16:creationId xmlns:a16="http://schemas.microsoft.com/office/drawing/2014/main" id="{18E537D5-DD55-4A4A-9A3D-EA7925D1687C}"/>
              </a:ext>
            </a:extLst>
          </p:cNvPr>
          <p:cNvCxnSpPr>
            <a:cxnSpLocks/>
          </p:cNvCxnSpPr>
          <p:nvPr/>
        </p:nvCxnSpPr>
        <p:spPr>
          <a:xfrm>
            <a:off x="636605" y="7282132"/>
            <a:ext cx="1258025" cy="0"/>
          </a:xfrm>
          <a:prstGeom prst="line">
            <a:avLst/>
          </a:prstGeom>
          <a:noFill/>
          <a:ln w="25400" cap="flat">
            <a:solidFill>
              <a:srgbClr val="1B3765"/>
            </a:solidFill>
            <a:prstDash val="solid"/>
            <a:miter lim="400000"/>
          </a:ln>
          <a:effectLst/>
          <a:sp3d/>
        </p:spPr>
        <p:style>
          <a:lnRef idx="0">
            <a:scrgbClr r="0" g="0" b="0"/>
          </a:lnRef>
          <a:fillRef idx="0">
            <a:scrgbClr r="0" g="0" b="0"/>
          </a:fillRef>
          <a:effectRef idx="0">
            <a:scrgbClr r="0" g="0" b="0"/>
          </a:effectRef>
          <a:fontRef idx="none"/>
        </p:style>
      </p:cxnSp>
      <p:sp>
        <p:nvSpPr>
          <p:cNvPr id="88" name="TextBox 87">
            <a:extLst>
              <a:ext uri="{FF2B5EF4-FFF2-40B4-BE49-F238E27FC236}">
                <a16:creationId xmlns:a16="http://schemas.microsoft.com/office/drawing/2014/main" id="{476E9876-5B93-F04F-A9F0-C1B4EF039CDF}"/>
              </a:ext>
            </a:extLst>
          </p:cNvPr>
          <p:cNvSpPr txBox="1"/>
          <p:nvPr/>
        </p:nvSpPr>
        <p:spPr>
          <a:xfrm>
            <a:off x="886439" y="24823383"/>
            <a:ext cx="3021187" cy="42641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FCC</a:t>
            </a:r>
          </a:p>
        </p:txBody>
      </p:sp>
      <p:sp>
        <p:nvSpPr>
          <p:cNvPr id="89" name="TextBox 88">
            <a:extLst>
              <a:ext uri="{FF2B5EF4-FFF2-40B4-BE49-F238E27FC236}">
                <a16:creationId xmlns:a16="http://schemas.microsoft.com/office/drawing/2014/main" id="{9F23F0AE-F819-714D-9651-94E3EBD541E5}"/>
              </a:ext>
            </a:extLst>
          </p:cNvPr>
          <p:cNvSpPr txBox="1"/>
          <p:nvPr/>
        </p:nvSpPr>
        <p:spPr>
          <a:xfrm>
            <a:off x="3935440" y="24830453"/>
            <a:ext cx="2989514"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ACS</a:t>
            </a:r>
          </a:p>
        </p:txBody>
      </p:sp>
      <p:sp>
        <p:nvSpPr>
          <p:cNvPr id="91" name="TextBox 90">
            <a:extLst>
              <a:ext uri="{FF2B5EF4-FFF2-40B4-BE49-F238E27FC236}">
                <a16:creationId xmlns:a16="http://schemas.microsoft.com/office/drawing/2014/main" id="{7C7D411D-EC55-A041-A6AF-10FD47683B62}"/>
              </a:ext>
            </a:extLst>
          </p:cNvPr>
          <p:cNvSpPr txBox="1"/>
          <p:nvPr/>
        </p:nvSpPr>
        <p:spPr>
          <a:xfrm>
            <a:off x="7166524" y="20585131"/>
            <a:ext cx="3125609"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Microsoft</a:t>
            </a:r>
          </a:p>
        </p:txBody>
      </p:sp>
      <p:sp>
        <p:nvSpPr>
          <p:cNvPr id="92" name="TextBox 91">
            <a:extLst>
              <a:ext uri="{FF2B5EF4-FFF2-40B4-BE49-F238E27FC236}">
                <a16:creationId xmlns:a16="http://schemas.microsoft.com/office/drawing/2014/main" id="{7FEF5714-0E7D-3F48-80F2-EF0D251050E4}"/>
              </a:ext>
            </a:extLst>
          </p:cNvPr>
          <p:cNvSpPr txBox="1"/>
          <p:nvPr/>
        </p:nvSpPr>
        <p:spPr>
          <a:xfrm>
            <a:off x="6973566" y="24823383"/>
            <a:ext cx="3031120" cy="42641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Microsoft</a:t>
            </a:r>
          </a:p>
        </p:txBody>
      </p:sp>
      <p:sp>
        <p:nvSpPr>
          <p:cNvPr id="96" name="TextBox 95">
            <a:extLst>
              <a:ext uri="{FF2B5EF4-FFF2-40B4-BE49-F238E27FC236}">
                <a16:creationId xmlns:a16="http://schemas.microsoft.com/office/drawing/2014/main" id="{370C0C01-B22C-AA47-AED4-BF7B9DD182B7}"/>
              </a:ext>
            </a:extLst>
          </p:cNvPr>
          <p:cNvSpPr txBox="1"/>
          <p:nvPr/>
        </p:nvSpPr>
        <p:spPr>
          <a:xfrm>
            <a:off x="756011" y="29321529"/>
            <a:ext cx="3125609"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FCC</a:t>
            </a:r>
          </a:p>
        </p:txBody>
      </p:sp>
      <p:sp>
        <p:nvSpPr>
          <p:cNvPr id="97" name="TextBox 96">
            <a:extLst>
              <a:ext uri="{FF2B5EF4-FFF2-40B4-BE49-F238E27FC236}">
                <a16:creationId xmlns:a16="http://schemas.microsoft.com/office/drawing/2014/main" id="{14D3AF2D-64FF-EB4E-8E8E-425F7A1236E3}"/>
              </a:ext>
            </a:extLst>
          </p:cNvPr>
          <p:cNvSpPr txBox="1"/>
          <p:nvPr/>
        </p:nvSpPr>
        <p:spPr>
          <a:xfrm>
            <a:off x="3905516" y="29324855"/>
            <a:ext cx="3019438"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ACS</a:t>
            </a:r>
          </a:p>
        </p:txBody>
      </p:sp>
      <p:sp>
        <p:nvSpPr>
          <p:cNvPr id="98" name="TextBox 97">
            <a:extLst>
              <a:ext uri="{FF2B5EF4-FFF2-40B4-BE49-F238E27FC236}">
                <a16:creationId xmlns:a16="http://schemas.microsoft.com/office/drawing/2014/main" id="{99E80F60-CCD1-7040-8DFC-A61E2087358C}"/>
              </a:ext>
            </a:extLst>
          </p:cNvPr>
          <p:cNvSpPr txBox="1"/>
          <p:nvPr/>
        </p:nvSpPr>
        <p:spPr>
          <a:xfrm>
            <a:off x="6944113" y="29321110"/>
            <a:ext cx="3125609"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Microsoft</a:t>
            </a:r>
          </a:p>
        </p:txBody>
      </p:sp>
    </p:spTree>
  </p:cSld>
  <p:clrMapOvr>
    <a:masterClrMapping/>
  </p:clrMapOvr>
  <p:transition spd="med"/>
</p:sld>
</file>

<file path=ppt/theme/theme1.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81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81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FEF2F784-6867-4F8E-AD94-50DBB3E90C06}"/>
</file>

<file path=customXml/itemProps2.xml><?xml version="1.0" encoding="utf-8"?>
<ds:datastoreItem xmlns:ds="http://schemas.openxmlformats.org/officeDocument/2006/customXml" ds:itemID="{5F81DD6B-6715-4A9A-9435-EE7C6032E125}"/>
</file>

<file path=customXml/itemProps3.xml><?xml version="1.0" encoding="utf-8"?>
<ds:datastoreItem xmlns:ds="http://schemas.openxmlformats.org/officeDocument/2006/customXml" ds:itemID="{2A969B9C-F566-492D-BB16-A37CFFB16E9B}"/>
</file>

<file path=docProps/app.xml><?xml version="1.0" encoding="utf-8"?>
<Properties xmlns="http://schemas.openxmlformats.org/officeDocument/2006/extended-properties" xmlns:vt="http://schemas.openxmlformats.org/officeDocument/2006/docPropsVTypes">
  <TotalTime>183</TotalTime>
  <Words>637</Words>
  <Application>Microsoft Macintosh PowerPoint</Application>
  <PresentationFormat>Custom</PresentationFormat>
  <Paragraphs>66</Paragraphs>
  <Slides>1</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vt:i4>
      </vt:variant>
    </vt:vector>
  </HeadingPairs>
  <TitlesOfParts>
    <vt:vector size="12" baseType="lpstr">
      <vt:lpstr>Arial</vt:lpstr>
      <vt:lpstr>Courier New</vt:lpstr>
      <vt:lpstr>Franklin Gothic Demi</vt:lpstr>
      <vt:lpstr>Franklin Gothic Medium</vt:lpstr>
      <vt:lpstr>Helvetica Neue</vt:lpstr>
      <vt:lpstr>Helvetica Neue Medium</vt:lpstr>
      <vt:lpstr>Helvetica Neue Thin</vt:lpstr>
      <vt:lpstr>ITC Franklin Gothic Std</vt:lpstr>
      <vt:lpstr>ITC Franklin Gothic Std Book</vt:lpstr>
      <vt:lpstr>ITC Franklin Gothic Std Demi Co</vt:lpstr>
      <vt:lpstr>White</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cp:lastModifiedBy>Shipp, Stephanie S. (sss5sc)</cp:lastModifiedBy>
  <cp:revision>26</cp:revision>
  <cp:lastPrinted>2019-08-05T11:37:33Z</cp:lastPrinted>
  <dcterms:created xsi:type="dcterms:W3CDTF">2019-07-16T21:17:53Z</dcterms:created>
  <dcterms:modified xsi:type="dcterms:W3CDTF">2019-08-05T12:32:58Z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