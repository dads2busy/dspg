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566"/>
    <a:srgbClr val="666666"/>
    <a:srgbClr val="EE64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4"/>
    <p:restoredTop sz="94643"/>
  </p:normalViewPr>
  <p:slideViewPr>
    <p:cSldViewPr snapToGrid="0" snapToObjects="1">
      <p:cViewPr>
        <p:scale>
          <a:sx n="80" d="100"/>
          <a:sy n="80" d="100"/>
        </p:scale>
        <p:origin x="-528" y="456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3" Type="http://schemas.openxmlformats.org/officeDocument/2006/relationships/hyperlink" Target="https://www.uc.edu/content/dam/uc/corrections/docs/IntheNews/Prison%20Study%20Final%20Report%2010-26-15.pdf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12.svg"/><Relationship Id="rId2" Type="http://schemas.openxmlformats.org/officeDocument/2006/relationships/hyperlink" Target="https://static1.squarespace.com/static/5bc4fff016b6405451831f02/t/5ccc4ad97b81f800016ae8ef/1556892387541/R1+_+UPDATED+2+_+RE+Executive+Summary+(February+2018,+Board)+(2).pdf" TargetMode="Externa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vadoc.virginia.gov/media/1412/vadoc-state-recidivism-report-may-2019.pdf" TargetMode="External"/><Relationship Id="rId11" Type="http://schemas.openxmlformats.org/officeDocument/2006/relationships/image" Target="../media/image6.svg"/><Relationship Id="rId5" Type="http://schemas.openxmlformats.org/officeDocument/2006/relationships/hyperlink" Target="https://www.bjs.gov/content/pub/pdf/rprts05p0510.pdf" TargetMode="External"/><Relationship Id="rId1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hyperlink" Target="https://www.bjs.gov/content/pub/pdf/p17.pdf" TargetMode="External"/><Relationship Id="rId9" Type="http://schemas.openxmlformats.org/officeDocument/2006/relationships/image" Target="../media/image4.sv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90E88B8-D52D-47CA-8201-7512A7F013ED}"/>
              </a:ext>
            </a:extLst>
          </p:cNvPr>
          <p:cNvGrpSpPr/>
          <p:nvPr/>
        </p:nvGrpSpPr>
        <p:grpSpPr>
          <a:xfrm>
            <a:off x="1430866" y="19140643"/>
            <a:ext cx="5071936" cy="8229756"/>
            <a:chOff x="8921977" y="1357750"/>
            <a:chExt cx="2939076" cy="6231042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1C21E02-01B1-412A-9E28-4C35418787CD}"/>
                </a:ext>
              </a:extLst>
            </p:cNvPr>
            <p:cNvSpPr txBox="1"/>
            <p:nvPr/>
          </p:nvSpPr>
          <p:spPr>
            <a:xfrm>
              <a:off x="8934973" y="1357750"/>
              <a:ext cx="2926080" cy="339239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b="0" noProof="1">
                  <a:solidFill>
                    <a:srgbClr val="EE6419"/>
                  </a:solidFill>
                  <a:latin typeface="ITC Franklin Gothic Std Demi"/>
                </a:rPr>
                <a:t>Instruction and Course Design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C7883B3-5D41-4C0C-94BA-CC4D0D124EC0}"/>
                </a:ext>
              </a:extLst>
            </p:cNvPr>
            <p:cNvSpPr txBox="1"/>
            <p:nvPr/>
          </p:nvSpPr>
          <p:spPr>
            <a:xfrm>
              <a:off x="8921977" y="1701306"/>
              <a:ext cx="2861324" cy="5887486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Eliminate redundancy with other prison education courses (e.g., in the Career and Technical Education Program) that cover similar material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Address criminogenic factors and population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syllabi to include these components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Tailor course offerings to the prison population and address criminogenic factors (rather than other MBA students)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Obtain accreditation so students receive college credits for participation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instructor training process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semester-long instructor training where Darden students learn the course material, how to teach to the prison population, and shadow current instructors in their courses</a:t>
              </a:r>
            </a:p>
          </p:txBody>
        </p:sp>
      </p:grpSp>
      <p:sp>
        <p:nvSpPr>
          <p:cNvPr id="42" name="TITLE OF RESEARCH STUDY in 54 pt"/>
          <p:cNvSpPr txBox="1"/>
          <p:nvPr/>
        </p:nvSpPr>
        <p:spPr>
          <a:xfrm>
            <a:off x="994143" y="543469"/>
            <a:ext cx="11455059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dirty="0">
                <a:latin typeface="ITC Franklin Gothic Std Dm Cd"/>
                <a:cs typeface="ITC Franklin Gothic Std Dm Cd"/>
              </a:rPr>
              <a:t>RETURNING CITIZENS REENTRY PROGRAM</a:t>
            </a:r>
            <a:endParaRPr dirty="0">
              <a:latin typeface="ITC Franklin Gothic Std Dm Cd"/>
              <a:cs typeface="ITC Franklin Gothic Std Dm Cd"/>
            </a:endParaRPr>
          </a:p>
        </p:txBody>
      </p:sp>
      <p:sp>
        <p:nvSpPr>
          <p:cNvPr id="43" name="Subhead - Franklin Gothic Demi - 28"/>
          <p:cNvSpPr txBox="1"/>
          <p:nvPr/>
        </p:nvSpPr>
        <p:spPr>
          <a:xfrm>
            <a:off x="1251364" y="4155698"/>
            <a:ext cx="4405277" cy="661720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PROJECT DESCRIPTION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5" name="References - Franklin Gothic Demi - 24"/>
          <p:cNvSpPr txBox="1"/>
          <p:nvPr/>
        </p:nvSpPr>
        <p:spPr>
          <a:xfrm>
            <a:off x="-6276217" y="10279646"/>
            <a:ext cx="230897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endParaRPr dirty="0"/>
          </a:p>
        </p:txBody>
      </p:sp>
      <p:sp>
        <p:nvSpPr>
          <p:cNvPr id="46" name="Reference Text - Franklin Gothic Book - 18"/>
          <p:cNvSpPr txBox="1"/>
          <p:nvPr/>
        </p:nvSpPr>
        <p:spPr>
          <a:xfrm>
            <a:off x="969429" y="28513476"/>
            <a:ext cx="20329594" cy="2166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sz="1400" b="1" dirty="0">
                <a:solidFill>
                  <a:schemeClr val="tx1"/>
                </a:solidFill>
              </a:rPr>
              <a:t>References</a:t>
            </a:r>
            <a:endParaRPr lang="en-US" sz="1400" b="1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[1]     Resilience Education. (2019). Executive Summary. Retrieved July 29, 2019, from Resilience Education website: </a:t>
            </a:r>
            <a:r>
              <a:rPr lang="en-US" sz="12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https://static1.squarespace.com/static/5bc4fff016b6405451831f02/t/5ccc4ad97b81f800016ae8ef/1556892387541/R1+_+UPDATED+2+_+RE+Executive+Summary+(February+2018,+Board)+(2).pdf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[2]     Cho, R. M., &amp; Tyler, J. H. (2010). Does Prison-Based Adult Basic Education Improve Postrelease Outcomes for Male Prisoners in Florida? </a:t>
            </a:r>
            <a:r>
              <a:rPr lang="en-US" sz="1200" i="1" dirty="0">
                <a:solidFill>
                  <a:schemeClr val="tx1"/>
                </a:solidFill>
              </a:rPr>
              <a:t>Crime &amp; Delinquency,59</a:t>
            </a:r>
            <a:r>
              <a:rPr lang="en-US" sz="1200" dirty="0">
                <a:solidFill>
                  <a:schemeClr val="tx1"/>
                </a:solidFill>
              </a:rPr>
              <a:t>(7), 975-1005. doi:10.1177/0011128710389588.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[3]     Davis, L., Bozick, R., Steele, J., Saunders, J., &amp; Miles, J. (2013). Evaluating the Effectiveness of Correctional Education, A Meta-Analysis of Programs. doi:10.7249/rr266.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[4]     Duwe, G., &amp; Clark, V. (2014). The Effects of Prison-Based Educational Programming on Recidivism and Employment. </a:t>
            </a:r>
            <a:r>
              <a:rPr lang="en-US" sz="1200" i="1" dirty="0">
                <a:solidFill>
                  <a:schemeClr val="tx1"/>
                </a:solidFill>
              </a:rPr>
              <a:t>The Prison Journal</a:t>
            </a:r>
            <a:r>
              <a:rPr lang="en-US" sz="1200" dirty="0">
                <a:solidFill>
                  <a:schemeClr val="tx1"/>
                </a:solidFill>
              </a:rPr>
              <a:t>, 94(4), 454-478. doi:10.1177/0032885514548009.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[5]     Latessa, E., Lugo, M., Pompoco, A., Sullivan, C., &amp; Wooldredge, J. (2015). Final Report: Evaluation of Ohio's Prison Programs. Retrieved June 11, 2019. </a:t>
            </a:r>
            <a:r>
              <a:rPr lang="en-US" sz="1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https://www.uc.edu/content/dam/uc/corrections/docs/IntheNews/Prison%20Study%20Final%20Report%2010-26-15.pdf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[6]     Bronson, J., Ph.D., &amp; Carson, E. A., Ph.D. (2019, April). (Rep. No. NCJ 252156). Retrieved June 20, 2019, from Bureau of Justice Statistics website: </a:t>
            </a:r>
            <a:r>
              <a:rPr lang="en-US" sz="1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https://www.bjs.gov/content/pub/pdf/p17.pdf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[7]     Durose, M. R., Cooper, A. D., Ph.D., &amp; Snyder, H. N., Ph.D. (2014, April). (Rep. No. NCJ 244205). Retrieved June 20, 2019, from Bureau of Justice Statistics website: </a:t>
            </a:r>
            <a:r>
              <a:rPr lang="en-US" sz="12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https://www.bjs.gov/content/pub/pdf/rprts05p0510.pdf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[8]     Recidivism at a Glance: Releases from State Responsible Incarceration. (2019, May). Retrieved June 20, 2019, from Virginia Department of Corrections website: </a:t>
            </a:r>
            <a:r>
              <a:rPr lang="en-US" sz="120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https://vadoc.virginia.gov/media/1412/vadoc-state-recidivism-report-may-2019.pdf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  <a:latin typeface="ITC Franklin Gothic Std Book"/>
              <a:cs typeface="ITC Franklin Gothic Std Book"/>
            </a:endParaRP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1787319"/>
            <a:ext cx="12092554" cy="1644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DSPG Team: Jessica </a:t>
            </a:r>
            <a:r>
              <a:rPr lang="en-US" b="0" dirty="0" err="1">
                <a:latin typeface="ITC Franklin Gothic Std Book"/>
                <a:cs typeface="ITC Franklin Gothic Std Book"/>
              </a:rPr>
              <a:t>Keast</a:t>
            </a:r>
            <a:r>
              <a:rPr lang="en-US" b="0" dirty="0">
                <a:latin typeface="ITC Franklin Gothic Std Book"/>
                <a:cs typeface="ITC Franklin Gothic Std Book"/>
              </a:rPr>
              <a:t> (Smith College) and Allegra </a:t>
            </a:r>
            <a:r>
              <a:rPr lang="en-US" b="0" dirty="0" err="1">
                <a:latin typeface="ITC Franklin Gothic Std Book"/>
                <a:cs typeface="ITC Franklin Gothic Std Book"/>
              </a:rPr>
              <a:t>Pocinki</a:t>
            </a:r>
            <a:r>
              <a:rPr lang="en-US" b="0" dirty="0">
                <a:latin typeface="ITC Franklin Gothic Std Book"/>
                <a:cs typeface="ITC Franklin Gothic Std Book"/>
              </a:rPr>
              <a:t> (Rutgers University)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SDAD Team: Nathaniel Ratcliff, Joel Thurston</a:t>
            </a:r>
            <a:r>
              <a:rPr lang="en-US" sz="2100" b="0" dirty="0">
                <a:solidFill>
                  <a:srgbClr val="FFFFFF"/>
                </a:solidFill>
                <a:latin typeface="ITC Franklin Gothic Std Book"/>
              </a:rPr>
              <a:t>, Bayoán Santiago Calderón, and Aaron Schroeder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Sponsor: Greg Fairchild, Resilience Education and UVA Darden School of Business</a:t>
            </a:r>
            <a:endParaRPr b="0" dirty="0">
              <a:latin typeface="ITC Franklin Gothic Std Book"/>
              <a:cs typeface="ITC Franklin Gothic Std Book"/>
            </a:endParaRP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D2F729D-8133-49DA-AA6B-9B0DF222AE45}"/>
              </a:ext>
            </a:extLst>
          </p:cNvPr>
          <p:cNvGrpSpPr/>
          <p:nvPr/>
        </p:nvGrpSpPr>
        <p:grpSpPr>
          <a:xfrm>
            <a:off x="1950531" y="9966873"/>
            <a:ext cx="18044537" cy="8270463"/>
            <a:chOff x="1251364" y="11504688"/>
            <a:chExt cx="20026938" cy="917907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F46BA6B-5070-4459-8E95-398CFA7D9F84}"/>
                </a:ext>
              </a:extLst>
            </p:cNvPr>
            <p:cNvGrpSpPr/>
            <p:nvPr/>
          </p:nvGrpSpPr>
          <p:grpSpPr>
            <a:xfrm>
              <a:off x="1251364" y="11504688"/>
              <a:ext cx="20026938" cy="9179070"/>
              <a:chOff x="1075887" y="11724775"/>
              <a:chExt cx="20026938" cy="9179070"/>
            </a:xfrm>
          </p:grpSpPr>
          <p:sp>
            <p:nvSpPr>
              <p:cNvPr id="35" name="Freeform 6">
                <a:extLst>
                  <a:ext uri="{FF2B5EF4-FFF2-40B4-BE49-F238E27FC236}">
                    <a16:creationId xmlns:a16="http://schemas.microsoft.com/office/drawing/2014/main" id="{80227CC8-CF72-4E45-9485-1246C5417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887" y="11724775"/>
                <a:ext cx="20026938" cy="9179070"/>
              </a:xfrm>
              <a:custGeom>
                <a:avLst/>
                <a:gdLst>
                  <a:gd name="T0" fmla="*/ 24737 w 24949"/>
                  <a:gd name="T1" fmla="*/ 10613 h 11261"/>
                  <a:gd name="T2" fmla="*/ 24821 w 24949"/>
                  <a:gd name="T3" fmla="*/ 10719 h 11261"/>
                  <a:gd name="T4" fmla="*/ 24367 w 24949"/>
                  <a:gd name="T5" fmla="*/ 9957 h 11261"/>
                  <a:gd name="T6" fmla="*/ 24187 w 24949"/>
                  <a:gd name="T7" fmla="*/ 9803 h 11261"/>
                  <a:gd name="T8" fmla="*/ 23965 w 24949"/>
                  <a:gd name="T9" fmla="*/ 9789 h 11261"/>
                  <a:gd name="T10" fmla="*/ 23465 w 24949"/>
                  <a:gd name="T11" fmla="*/ 9751 h 11261"/>
                  <a:gd name="T12" fmla="*/ 23721 w 24949"/>
                  <a:gd name="T13" fmla="*/ 10069 h 11261"/>
                  <a:gd name="T14" fmla="*/ 23353 w 24949"/>
                  <a:gd name="T15" fmla="*/ 9841 h 11261"/>
                  <a:gd name="T16" fmla="*/ 22763 w 24949"/>
                  <a:gd name="T17" fmla="*/ 10265 h 11261"/>
                  <a:gd name="T18" fmla="*/ 22675 w 24949"/>
                  <a:gd name="T19" fmla="*/ 9407 h 11261"/>
                  <a:gd name="T20" fmla="*/ 22323 w 24949"/>
                  <a:gd name="T21" fmla="*/ 8738 h 11261"/>
                  <a:gd name="T22" fmla="*/ 21167 w 24949"/>
                  <a:gd name="T23" fmla="*/ 8424 h 11261"/>
                  <a:gd name="T24" fmla="*/ 21141 w 24949"/>
                  <a:gd name="T25" fmla="*/ 8352 h 11261"/>
                  <a:gd name="T26" fmla="*/ 22207 w 24949"/>
                  <a:gd name="T27" fmla="*/ 8740 h 11261"/>
                  <a:gd name="T28" fmla="*/ 22905 w 24949"/>
                  <a:gd name="T29" fmla="*/ 9152 h 11261"/>
                  <a:gd name="T30" fmla="*/ 23629 w 24949"/>
                  <a:gd name="T31" fmla="*/ 9433 h 11261"/>
                  <a:gd name="T32" fmla="*/ 23443 w 24949"/>
                  <a:gd name="T33" fmla="*/ 9026 h 11261"/>
                  <a:gd name="T34" fmla="*/ 23267 w 24949"/>
                  <a:gd name="T35" fmla="*/ 8886 h 11261"/>
                  <a:gd name="T36" fmla="*/ 22397 w 24949"/>
                  <a:gd name="T37" fmla="*/ 8092 h 11261"/>
                  <a:gd name="T38" fmla="*/ 22905 w 24949"/>
                  <a:gd name="T39" fmla="*/ 8538 h 11261"/>
                  <a:gd name="T40" fmla="*/ 23105 w 24949"/>
                  <a:gd name="T41" fmla="*/ 8204 h 11261"/>
                  <a:gd name="T42" fmla="*/ 23145 w 24949"/>
                  <a:gd name="T43" fmla="*/ 7748 h 11261"/>
                  <a:gd name="T44" fmla="*/ 23449 w 24949"/>
                  <a:gd name="T45" fmla="*/ 7846 h 11261"/>
                  <a:gd name="T46" fmla="*/ 23749 w 24949"/>
                  <a:gd name="T47" fmla="*/ 7892 h 11261"/>
                  <a:gd name="T48" fmla="*/ 23303 w 24949"/>
                  <a:gd name="T49" fmla="*/ 7462 h 11261"/>
                  <a:gd name="T50" fmla="*/ 23073 w 24949"/>
                  <a:gd name="T51" fmla="*/ 7422 h 11261"/>
                  <a:gd name="T52" fmla="*/ 23359 w 24949"/>
                  <a:gd name="T53" fmla="*/ 7298 h 11261"/>
                  <a:gd name="T54" fmla="*/ 22671 w 24949"/>
                  <a:gd name="T55" fmla="*/ 6892 h 11261"/>
                  <a:gd name="T56" fmla="*/ 21801 w 24949"/>
                  <a:gd name="T57" fmla="*/ 5876 h 11261"/>
                  <a:gd name="T58" fmla="*/ 20835 w 24949"/>
                  <a:gd name="T59" fmla="*/ 4989 h 11261"/>
                  <a:gd name="T60" fmla="*/ 21703 w 24949"/>
                  <a:gd name="T61" fmla="*/ 5676 h 11261"/>
                  <a:gd name="T62" fmla="*/ 22671 w 24949"/>
                  <a:gd name="T63" fmla="*/ 6598 h 11261"/>
                  <a:gd name="T64" fmla="*/ 23229 w 24949"/>
                  <a:gd name="T65" fmla="*/ 7074 h 11261"/>
                  <a:gd name="T66" fmla="*/ 23491 w 24949"/>
                  <a:gd name="T67" fmla="*/ 6444 h 11261"/>
                  <a:gd name="T68" fmla="*/ 23649 w 24949"/>
                  <a:gd name="T69" fmla="*/ 6330 h 11261"/>
                  <a:gd name="T70" fmla="*/ 23063 w 24949"/>
                  <a:gd name="T71" fmla="*/ 5603 h 11261"/>
                  <a:gd name="T72" fmla="*/ 22297 w 24949"/>
                  <a:gd name="T73" fmla="*/ 5109 h 11261"/>
                  <a:gd name="T74" fmla="*/ 21183 w 24949"/>
                  <a:gd name="T75" fmla="*/ 4421 h 11261"/>
                  <a:gd name="T76" fmla="*/ 20400 w 24949"/>
                  <a:gd name="T77" fmla="*/ 4265 h 11261"/>
                  <a:gd name="T78" fmla="*/ 20756 w 24949"/>
                  <a:gd name="T79" fmla="*/ 3025 h 11261"/>
                  <a:gd name="T80" fmla="*/ 20969 w 24949"/>
                  <a:gd name="T81" fmla="*/ 2047 h 11261"/>
                  <a:gd name="T82" fmla="*/ 19656 w 24949"/>
                  <a:gd name="T83" fmla="*/ 1302 h 11261"/>
                  <a:gd name="T84" fmla="*/ 19114 w 24949"/>
                  <a:gd name="T85" fmla="*/ 586 h 11261"/>
                  <a:gd name="T86" fmla="*/ 16824 w 24949"/>
                  <a:gd name="T87" fmla="*/ 1052 h 11261"/>
                  <a:gd name="T88" fmla="*/ 15988 w 24949"/>
                  <a:gd name="T89" fmla="*/ 2015 h 11261"/>
                  <a:gd name="T90" fmla="*/ 14664 w 24949"/>
                  <a:gd name="T91" fmla="*/ 2925 h 11261"/>
                  <a:gd name="T92" fmla="*/ 12892 w 24949"/>
                  <a:gd name="T93" fmla="*/ 3365 h 11261"/>
                  <a:gd name="T94" fmla="*/ 12227 w 24949"/>
                  <a:gd name="T95" fmla="*/ 4741 h 11261"/>
                  <a:gd name="T96" fmla="*/ 11155 w 24949"/>
                  <a:gd name="T97" fmla="*/ 6134 h 11261"/>
                  <a:gd name="T98" fmla="*/ 10011 w 24949"/>
                  <a:gd name="T99" fmla="*/ 7668 h 11261"/>
                  <a:gd name="T100" fmla="*/ 7993 w 24949"/>
                  <a:gd name="T101" fmla="*/ 8480 h 11261"/>
                  <a:gd name="T102" fmla="*/ 6351 w 24949"/>
                  <a:gd name="T103" fmla="*/ 8672 h 11261"/>
                  <a:gd name="T104" fmla="*/ 5453 w 24949"/>
                  <a:gd name="T105" fmla="*/ 7740 h 11261"/>
                  <a:gd name="T106" fmla="*/ 3046 w 24949"/>
                  <a:gd name="T107" fmla="*/ 8996 h 11261"/>
                  <a:gd name="T108" fmla="*/ 1858 w 24949"/>
                  <a:gd name="T109" fmla="*/ 10117 h 11261"/>
                  <a:gd name="T110" fmla="*/ 320 w 24949"/>
                  <a:gd name="T111" fmla="*/ 10845 h 11261"/>
                  <a:gd name="T112" fmla="*/ 9079 w 24949"/>
                  <a:gd name="T113" fmla="*/ 11187 h 11261"/>
                  <a:gd name="T114" fmla="*/ 20188 w 24949"/>
                  <a:gd name="T115" fmla="*/ 11223 h 11261"/>
                  <a:gd name="T116" fmla="*/ 24471 w 24949"/>
                  <a:gd name="T117" fmla="*/ 11101 h 11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949" h="11261">
                    <a:moveTo>
                      <a:pt x="24553" y="11205"/>
                    </a:moveTo>
                    <a:lnTo>
                      <a:pt x="24597" y="11163"/>
                    </a:lnTo>
                    <a:lnTo>
                      <a:pt x="24565" y="11121"/>
                    </a:lnTo>
                    <a:lnTo>
                      <a:pt x="24597" y="11073"/>
                    </a:lnTo>
                    <a:lnTo>
                      <a:pt x="24599" y="10979"/>
                    </a:lnTo>
                    <a:lnTo>
                      <a:pt x="24587" y="10883"/>
                    </a:lnTo>
                    <a:lnTo>
                      <a:pt x="24645" y="10797"/>
                    </a:lnTo>
                    <a:lnTo>
                      <a:pt x="24641" y="10617"/>
                    </a:lnTo>
                    <a:lnTo>
                      <a:pt x="24687" y="10569"/>
                    </a:lnTo>
                    <a:lnTo>
                      <a:pt x="24737" y="10613"/>
                    </a:lnTo>
                    <a:lnTo>
                      <a:pt x="24747" y="10697"/>
                    </a:lnTo>
                    <a:lnTo>
                      <a:pt x="24781" y="10797"/>
                    </a:lnTo>
                    <a:lnTo>
                      <a:pt x="24827" y="10887"/>
                    </a:lnTo>
                    <a:lnTo>
                      <a:pt x="24815" y="10967"/>
                    </a:lnTo>
                    <a:lnTo>
                      <a:pt x="24871" y="11023"/>
                    </a:lnTo>
                    <a:lnTo>
                      <a:pt x="24875" y="11203"/>
                    </a:lnTo>
                    <a:lnTo>
                      <a:pt x="24917" y="11207"/>
                    </a:lnTo>
                    <a:lnTo>
                      <a:pt x="24949" y="11147"/>
                    </a:lnTo>
                    <a:lnTo>
                      <a:pt x="24863" y="10821"/>
                    </a:lnTo>
                    <a:lnTo>
                      <a:pt x="24821" y="10719"/>
                    </a:lnTo>
                    <a:lnTo>
                      <a:pt x="24805" y="10651"/>
                    </a:lnTo>
                    <a:lnTo>
                      <a:pt x="24735" y="10565"/>
                    </a:lnTo>
                    <a:lnTo>
                      <a:pt x="24681" y="10317"/>
                    </a:lnTo>
                    <a:lnTo>
                      <a:pt x="24557" y="9777"/>
                    </a:lnTo>
                    <a:lnTo>
                      <a:pt x="24429" y="9739"/>
                    </a:lnTo>
                    <a:lnTo>
                      <a:pt x="24345" y="9793"/>
                    </a:lnTo>
                    <a:lnTo>
                      <a:pt x="24269" y="9789"/>
                    </a:lnTo>
                    <a:lnTo>
                      <a:pt x="24285" y="9837"/>
                    </a:lnTo>
                    <a:lnTo>
                      <a:pt x="24323" y="9901"/>
                    </a:lnTo>
                    <a:lnTo>
                      <a:pt x="24367" y="9957"/>
                    </a:lnTo>
                    <a:lnTo>
                      <a:pt x="24365" y="10067"/>
                    </a:lnTo>
                    <a:lnTo>
                      <a:pt x="24279" y="10023"/>
                    </a:lnTo>
                    <a:lnTo>
                      <a:pt x="24273" y="9933"/>
                    </a:lnTo>
                    <a:lnTo>
                      <a:pt x="24251" y="9899"/>
                    </a:lnTo>
                    <a:lnTo>
                      <a:pt x="24227" y="9883"/>
                    </a:lnTo>
                    <a:lnTo>
                      <a:pt x="24225" y="10019"/>
                    </a:lnTo>
                    <a:lnTo>
                      <a:pt x="24139" y="10021"/>
                    </a:lnTo>
                    <a:lnTo>
                      <a:pt x="24135" y="9935"/>
                    </a:lnTo>
                    <a:lnTo>
                      <a:pt x="24183" y="9885"/>
                    </a:lnTo>
                    <a:lnTo>
                      <a:pt x="24187" y="9803"/>
                    </a:lnTo>
                    <a:lnTo>
                      <a:pt x="24093" y="9765"/>
                    </a:lnTo>
                    <a:lnTo>
                      <a:pt x="23999" y="9789"/>
                    </a:lnTo>
                    <a:lnTo>
                      <a:pt x="24049" y="9841"/>
                    </a:lnTo>
                    <a:lnTo>
                      <a:pt x="24093" y="9931"/>
                    </a:lnTo>
                    <a:lnTo>
                      <a:pt x="24045" y="9929"/>
                    </a:lnTo>
                    <a:lnTo>
                      <a:pt x="23953" y="9843"/>
                    </a:lnTo>
                    <a:lnTo>
                      <a:pt x="23905" y="9927"/>
                    </a:lnTo>
                    <a:lnTo>
                      <a:pt x="23885" y="9865"/>
                    </a:lnTo>
                    <a:lnTo>
                      <a:pt x="23905" y="9799"/>
                    </a:lnTo>
                    <a:lnTo>
                      <a:pt x="23965" y="9789"/>
                    </a:lnTo>
                    <a:lnTo>
                      <a:pt x="23875" y="9739"/>
                    </a:lnTo>
                    <a:lnTo>
                      <a:pt x="23773" y="9663"/>
                    </a:lnTo>
                    <a:lnTo>
                      <a:pt x="23715" y="9639"/>
                    </a:lnTo>
                    <a:lnTo>
                      <a:pt x="23659" y="9609"/>
                    </a:lnTo>
                    <a:lnTo>
                      <a:pt x="23657" y="9673"/>
                    </a:lnTo>
                    <a:lnTo>
                      <a:pt x="23631" y="9707"/>
                    </a:lnTo>
                    <a:lnTo>
                      <a:pt x="23585" y="9707"/>
                    </a:lnTo>
                    <a:lnTo>
                      <a:pt x="23493" y="9617"/>
                    </a:lnTo>
                    <a:lnTo>
                      <a:pt x="23489" y="9665"/>
                    </a:lnTo>
                    <a:lnTo>
                      <a:pt x="23465" y="9751"/>
                    </a:lnTo>
                    <a:lnTo>
                      <a:pt x="23493" y="9811"/>
                    </a:lnTo>
                    <a:lnTo>
                      <a:pt x="23539" y="9843"/>
                    </a:lnTo>
                    <a:lnTo>
                      <a:pt x="23583" y="9795"/>
                    </a:lnTo>
                    <a:lnTo>
                      <a:pt x="23637" y="9851"/>
                    </a:lnTo>
                    <a:lnTo>
                      <a:pt x="23677" y="9933"/>
                    </a:lnTo>
                    <a:lnTo>
                      <a:pt x="23629" y="9931"/>
                    </a:lnTo>
                    <a:lnTo>
                      <a:pt x="23539" y="9885"/>
                    </a:lnTo>
                    <a:lnTo>
                      <a:pt x="23537" y="9979"/>
                    </a:lnTo>
                    <a:lnTo>
                      <a:pt x="23633" y="10067"/>
                    </a:lnTo>
                    <a:lnTo>
                      <a:pt x="23721" y="10069"/>
                    </a:lnTo>
                    <a:lnTo>
                      <a:pt x="23835" y="10087"/>
                    </a:lnTo>
                    <a:lnTo>
                      <a:pt x="23907" y="10135"/>
                    </a:lnTo>
                    <a:lnTo>
                      <a:pt x="23831" y="10145"/>
                    </a:lnTo>
                    <a:lnTo>
                      <a:pt x="23741" y="10087"/>
                    </a:lnTo>
                    <a:lnTo>
                      <a:pt x="23581" y="10095"/>
                    </a:lnTo>
                    <a:lnTo>
                      <a:pt x="23443" y="10017"/>
                    </a:lnTo>
                    <a:lnTo>
                      <a:pt x="23445" y="9797"/>
                    </a:lnTo>
                    <a:lnTo>
                      <a:pt x="23397" y="9747"/>
                    </a:lnTo>
                    <a:lnTo>
                      <a:pt x="23351" y="9751"/>
                    </a:lnTo>
                    <a:lnTo>
                      <a:pt x="23353" y="9841"/>
                    </a:lnTo>
                    <a:lnTo>
                      <a:pt x="23305" y="9885"/>
                    </a:lnTo>
                    <a:lnTo>
                      <a:pt x="23239" y="9893"/>
                    </a:lnTo>
                    <a:lnTo>
                      <a:pt x="23123" y="9825"/>
                    </a:lnTo>
                    <a:lnTo>
                      <a:pt x="23073" y="9921"/>
                    </a:lnTo>
                    <a:lnTo>
                      <a:pt x="23011" y="9935"/>
                    </a:lnTo>
                    <a:lnTo>
                      <a:pt x="22915" y="9999"/>
                    </a:lnTo>
                    <a:lnTo>
                      <a:pt x="22877" y="10099"/>
                    </a:lnTo>
                    <a:lnTo>
                      <a:pt x="22799" y="10125"/>
                    </a:lnTo>
                    <a:lnTo>
                      <a:pt x="22807" y="10191"/>
                    </a:lnTo>
                    <a:lnTo>
                      <a:pt x="22763" y="10265"/>
                    </a:lnTo>
                    <a:lnTo>
                      <a:pt x="22697" y="10255"/>
                    </a:lnTo>
                    <a:lnTo>
                      <a:pt x="22755" y="10093"/>
                    </a:lnTo>
                    <a:lnTo>
                      <a:pt x="22827" y="10017"/>
                    </a:lnTo>
                    <a:lnTo>
                      <a:pt x="22971" y="9841"/>
                    </a:lnTo>
                    <a:lnTo>
                      <a:pt x="22967" y="9783"/>
                    </a:lnTo>
                    <a:lnTo>
                      <a:pt x="22961" y="9633"/>
                    </a:lnTo>
                    <a:lnTo>
                      <a:pt x="22785" y="9543"/>
                    </a:lnTo>
                    <a:lnTo>
                      <a:pt x="22741" y="9471"/>
                    </a:lnTo>
                    <a:lnTo>
                      <a:pt x="22663" y="9469"/>
                    </a:lnTo>
                    <a:lnTo>
                      <a:pt x="22675" y="9407"/>
                    </a:lnTo>
                    <a:lnTo>
                      <a:pt x="22623" y="9344"/>
                    </a:lnTo>
                    <a:lnTo>
                      <a:pt x="22547" y="9362"/>
                    </a:lnTo>
                    <a:lnTo>
                      <a:pt x="22445" y="9310"/>
                    </a:lnTo>
                    <a:lnTo>
                      <a:pt x="22385" y="9242"/>
                    </a:lnTo>
                    <a:lnTo>
                      <a:pt x="22461" y="9114"/>
                    </a:lnTo>
                    <a:lnTo>
                      <a:pt x="22453" y="8998"/>
                    </a:lnTo>
                    <a:lnTo>
                      <a:pt x="22383" y="9038"/>
                    </a:lnTo>
                    <a:lnTo>
                      <a:pt x="22363" y="8902"/>
                    </a:lnTo>
                    <a:lnTo>
                      <a:pt x="22387" y="8766"/>
                    </a:lnTo>
                    <a:lnTo>
                      <a:pt x="22323" y="8738"/>
                    </a:lnTo>
                    <a:lnTo>
                      <a:pt x="22287" y="8876"/>
                    </a:lnTo>
                    <a:lnTo>
                      <a:pt x="22205" y="8920"/>
                    </a:lnTo>
                    <a:lnTo>
                      <a:pt x="22125" y="8900"/>
                    </a:lnTo>
                    <a:lnTo>
                      <a:pt x="21977" y="8746"/>
                    </a:lnTo>
                    <a:lnTo>
                      <a:pt x="21797" y="8680"/>
                    </a:lnTo>
                    <a:lnTo>
                      <a:pt x="21685" y="8728"/>
                    </a:lnTo>
                    <a:lnTo>
                      <a:pt x="21555" y="8610"/>
                    </a:lnTo>
                    <a:lnTo>
                      <a:pt x="21443" y="8544"/>
                    </a:lnTo>
                    <a:lnTo>
                      <a:pt x="21345" y="8376"/>
                    </a:lnTo>
                    <a:lnTo>
                      <a:pt x="21167" y="8424"/>
                    </a:lnTo>
                    <a:lnTo>
                      <a:pt x="21043" y="8348"/>
                    </a:lnTo>
                    <a:lnTo>
                      <a:pt x="20790" y="8378"/>
                    </a:lnTo>
                    <a:lnTo>
                      <a:pt x="20650" y="8324"/>
                    </a:lnTo>
                    <a:lnTo>
                      <a:pt x="20510" y="8372"/>
                    </a:lnTo>
                    <a:lnTo>
                      <a:pt x="20496" y="8292"/>
                    </a:lnTo>
                    <a:lnTo>
                      <a:pt x="20424" y="8284"/>
                    </a:lnTo>
                    <a:lnTo>
                      <a:pt x="20554" y="8220"/>
                    </a:lnTo>
                    <a:lnTo>
                      <a:pt x="20772" y="8268"/>
                    </a:lnTo>
                    <a:lnTo>
                      <a:pt x="21093" y="8268"/>
                    </a:lnTo>
                    <a:lnTo>
                      <a:pt x="21141" y="8352"/>
                    </a:lnTo>
                    <a:lnTo>
                      <a:pt x="21235" y="8304"/>
                    </a:lnTo>
                    <a:lnTo>
                      <a:pt x="21371" y="8306"/>
                    </a:lnTo>
                    <a:lnTo>
                      <a:pt x="21447" y="8460"/>
                    </a:lnTo>
                    <a:lnTo>
                      <a:pt x="21581" y="8548"/>
                    </a:lnTo>
                    <a:lnTo>
                      <a:pt x="21687" y="8522"/>
                    </a:lnTo>
                    <a:lnTo>
                      <a:pt x="21797" y="8338"/>
                    </a:lnTo>
                    <a:lnTo>
                      <a:pt x="21839" y="8580"/>
                    </a:lnTo>
                    <a:lnTo>
                      <a:pt x="21957" y="8572"/>
                    </a:lnTo>
                    <a:lnTo>
                      <a:pt x="22043" y="8688"/>
                    </a:lnTo>
                    <a:lnTo>
                      <a:pt x="22207" y="8740"/>
                    </a:lnTo>
                    <a:lnTo>
                      <a:pt x="22297" y="8666"/>
                    </a:lnTo>
                    <a:lnTo>
                      <a:pt x="22413" y="8654"/>
                    </a:lnTo>
                    <a:lnTo>
                      <a:pt x="22655" y="8750"/>
                    </a:lnTo>
                    <a:lnTo>
                      <a:pt x="22543" y="8978"/>
                    </a:lnTo>
                    <a:lnTo>
                      <a:pt x="22731" y="9178"/>
                    </a:lnTo>
                    <a:lnTo>
                      <a:pt x="22761" y="9178"/>
                    </a:lnTo>
                    <a:lnTo>
                      <a:pt x="22715" y="9048"/>
                    </a:lnTo>
                    <a:lnTo>
                      <a:pt x="22763" y="9036"/>
                    </a:lnTo>
                    <a:lnTo>
                      <a:pt x="22853" y="9176"/>
                    </a:lnTo>
                    <a:lnTo>
                      <a:pt x="22905" y="9152"/>
                    </a:lnTo>
                    <a:lnTo>
                      <a:pt x="22881" y="9252"/>
                    </a:lnTo>
                    <a:lnTo>
                      <a:pt x="23039" y="9360"/>
                    </a:lnTo>
                    <a:lnTo>
                      <a:pt x="23081" y="9437"/>
                    </a:lnTo>
                    <a:lnTo>
                      <a:pt x="23145" y="9529"/>
                    </a:lnTo>
                    <a:lnTo>
                      <a:pt x="23189" y="9611"/>
                    </a:lnTo>
                    <a:lnTo>
                      <a:pt x="23241" y="9545"/>
                    </a:lnTo>
                    <a:lnTo>
                      <a:pt x="23349" y="9481"/>
                    </a:lnTo>
                    <a:lnTo>
                      <a:pt x="23487" y="9433"/>
                    </a:lnTo>
                    <a:lnTo>
                      <a:pt x="23589" y="9475"/>
                    </a:lnTo>
                    <a:lnTo>
                      <a:pt x="23629" y="9433"/>
                    </a:lnTo>
                    <a:lnTo>
                      <a:pt x="23629" y="9336"/>
                    </a:lnTo>
                    <a:lnTo>
                      <a:pt x="23673" y="9166"/>
                    </a:lnTo>
                    <a:lnTo>
                      <a:pt x="23675" y="9074"/>
                    </a:lnTo>
                    <a:lnTo>
                      <a:pt x="23581" y="9118"/>
                    </a:lnTo>
                    <a:lnTo>
                      <a:pt x="23385" y="9330"/>
                    </a:lnTo>
                    <a:lnTo>
                      <a:pt x="23387" y="9236"/>
                    </a:lnTo>
                    <a:lnTo>
                      <a:pt x="23461" y="9174"/>
                    </a:lnTo>
                    <a:lnTo>
                      <a:pt x="23357" y="9072"/>
                    </a:lnTo>
                    <a:lnTo>
                      <a:pt x="23367" y="9026"/>
                    </a:lnTo>
                    <a:lnTo>
                      <a:pt x="23443" y="9026"/>
                    </a:lnTo>
                    <a:lnTo>
                      <a:pt x="23491" y="9050"/>
                    </a:lnTo>
                    <a:lnTo>
                      <a:pt x="23549" y="9052"/>
                    </a:lnTo>
                    <a:lnTo>
                      <a:pt x="23603" y="9016"/>
                    </a:lnTo>
                    <a:lnTo>
                      <a:pt x="23551" y="8998"/>
                    </a:lnTo>
                    <a:lnTo>
                      <a:pt x="23499" y="8970"/>
                    </a:lnTo>
                    <a:lnTo>
                      <a:pt x="23461" y="8906"/>
                    </a:lnTo>
                    <a:lnTo>
                      <a:pt x="23395" y="8888"/>
                    </a:lnTo>
                    <a:lnTo>
                      <a:pt x="23353" y="8930"/>
                    </a:lnTo>
                    <a:lnTo>
                      <a:pt x="23309" y="8878"/>
                    </a:lnTo>
                    <a:lnTo>
                      <a:pt x="23267" y="8886"/>
                    </a:lnTo>
                    <a:lnTo>
                      <a:pt x="23309" y="8840"/>
                    </a:lnTo>
                    <a:lnTo>
                      <a:pt x="23311" y="8754"/>
                    </a:lnTo>
                    <a:lnTo>
                      <a:pt x="23125" y="8616"/>
                    </a:lnTo>
                    <a:lnTo>
                      <a:pt x="22987" y="8616"/>
                    </a:lnTo>
                    <a:lnTo>
                      <a:pt x="22803" y="8528"/>
                    </a:lnTo>
                    <a:lnTo>
                      <a:pt x="22757" y="8478"/>
                    </a:lnTo>
                    <a:lnTo>
                      <a:pt x="22569" y="8388"/>
                    </a:lnTo>
                    <a:lnTo>
                      <a:pt x="22525" y="8202"/>
                    </a:lnTo>
                    <a:lnTo>
                      <a:pt x="22479" y="8114"/>
                    </a:lnTo>
                    <a:lnTo>
                      <a:pt x="22397" y="8092"/>
                    </a:lnTo>
                    <a:lnTo>
                      <a:pt x="22339" y="8012"/>
                    </a:lnTo>
                    <a:lnTo>
                      <a:pt x="22255" y="7908"/>
                    </a:lnTo>
                    <a:lnTo>
                      <a:pt x="22127" y="7714"/>
                    </a:lnTo>
                    <a:lnTo>
                      <a:pt x="21967" y="7576"/>
                    </a:lnTo>
                    <a:lnTo>
                      <a:pt x="21969" y="7410"/>
                    </a:lnTo>
                    <a:lnTo>
                      <a:pt x="22215" y="7626"/>
                    </a:lnTo>
                    <a:lnTo>
                      <a:pt x="22287" y="7788"/>
                    </a:lnTo>
                    <a:lnTo>
                      <a:pt x="22595" y="8164"/>
                    </a:lnTo>
                    <a:lnTo>
                      <a:pt x="22871" y="8420"/>
                    </a:lnTo>
                    <a:lnTo>
                      <a:pt x="22905" y="8538"/>
                    </a:lnTo>
                    <a:lnTo>
                      <a:pt x="23015" y="8524"/>
                    </a:lnTo>
                    <a:lnTo>
                      <a:pt x="23089" y="8474"/>
                    </a:lnTo>
                    <a:lnTo>
                      <a:pt x="23283" y="8452"/>
                    </a:lnTo>
                    <a:lnTo>
                      <a:pt x="23321" y="8366"/>
                    </a:lnTo>
                    <a:lnTo>
                      <a:pt x="23261" y="8290"/>
                    </a:lnTo>
                    <a:lnTo>
                      <a:pt x="23195" y="8268"/>
                    </a:lnTo>
                    <a:lnTo>
                      <a:pt x="23139" y="8318"/>
                    </a:lnTo>
                    <a:lnTo>
                      <a:pt x="23065" y="8330"/>
                    </a:lnTo>
                    <a:lnTo>
                      <a:pt x="23031" y="8222"/>
                    </a:lnTo>
                    <a:lnTo>
                      <a:pt x="23105" y="8204"/>
                    </a:lnTo>
                    <a:lnTo>
                      <a:pt x="23201" y="8210"/>
                    </a:lnTo>
                    <a:lnTo>
                      <a:pt x="23237" y="8160"/>
                    </a:lnTo>
                    <a:lnTo>
                      <a:pt x="23141" y="8080"/>
                    </a:lnTo>
                    <a:lnTo>
                      <a:pt x="23103" y="8032"/>
                    </a:lnTo>
                    <a:lnTo>
                      <a:pt x="23173" y="7974"/>
                    </a:lnTo>
                    <a:lnTo>
                      <a:pt x="23231" y="7948"/>
                    </a:lnTo>
                    <a:lnTo>
                      <a:pt x="23151" y="7854"/>
                    </a:lnTo>
                    <a:lnTo>
                      <a:pt x="23099" y="7744"/>
                    </a:lnTo>
                    <a:lnTo>
                      <a:pt x="23109" y="7712"/>
                    </a:lnTo>
                    <a:lnTo>
                      <a:pt x="23145" y="7748"/>
                    </a:lnTo>
                    <a:lnTo>
                      <a:pt x="23199" y="7826"/>
                    </a:lnTo>
                    <a:lnTo>
                      <a:pt x="23251" y="7790"/>
                    </a:lnTo>
                    <a:lnTo>
                      <a:pt x="23299" y="7854"/>
                    </a:lnTo>
                    <a:lnTo>
                      <a:pt x="23291" y="7912"/>
                    </a:lnTo>
                    <a:lnTo>
                      <a:pt x="23345" y="8014"/>
                    </a:lnTo>
                    <a:lnTo>
                      <a:pt x="23393" y="8028"/>
                    </a:lnTo>
                    <a:lnTo>
                      <a:pt x="23423" y="8002"/>
                    </a:lnTo>
                    <a:lnTo>
                      <a:pt x="23403" y="7904"/>
                    </a:lnTo>
                    <a:lnTo>
                      <a:pt x="23385" y="7818"/>
                    </a:lnTo>
                    <a:lnTo>
                      <a:pt x="23449" y="7846"/>
                    </a:lnTo>
                    <a:lnTo>
                      <a:pt x="23495" y="7900"/>
                    </a:lnTo>
                    <a:lnTo>
                      <a:pt x="23455" y="8098"/>
                    </a:lnTo>
                    <a:lnTo>
                      <a:pt x="23507" y="8142"/>
                    </a:lnTo>
                    <a:lnTo>
                      <a:pt x="23523" y="8194"/>
                    </a:lnTo>
                    <a:lnTo>
                      <a:pt x="23573" y="8130"/>
                    </a:lnTo>
                    <a:lnTo>
                      <a:pt x="23581" y="8228"/>
                    </a:lnTo>
                    <a:lnTo>
                      <a:pt x="23617" y="8274"/>
                    </a:lnTo>
                    <a:lnTo>
                      <a:pt x="23669" y="8180"/>
                    </a:lnTo>
                    <a:lnTo>
                      <a:pt x="23731" y="8014"/>
                    </a:lnTo>
                    <a:lnTo>
                      <a:pt x="23749" y="7892"/>
                    </a:lnTo>
                    <a:lnTo>
                      <a:pt x="23773" y="7782"/>
                    </a:lnTo>
                    <a:lnTo>
                      <a:pt x="23705" y="7740"/>
                    </a:lnTo>
                    <a:lnTo>
                      <a:pt x="23605" y="7776"/>
                    </a:lnTo>
                    <a:lnTo>
                      <a:pt x="23547" y="7714"/>
                    </a:lnTo>
                    <a:lnTo>
                      <a:pt x="23639" y="7664"/>
                    </a:lnTo>
                    <a:lnTo>
                      <a:pt x="23571" y="7620"/>
                    </a:lnTo>
                    <a:lnTo>
                      <a:pt x="23489" y="7598"/>
                    </a:lnTo>
                    <a:lnTo>
                      <a:pt x="23415" y="7570"/>
                    </a:lnTo>
                    <a:lnTo>
                      <a:pt x="23369" y="7478"/>
                    </a:lnTo>
                    <a:lnTo>
                      <a:pt x="23303" y="7462"/>
                    </a:lnTo>
                    <a:lnTo>
                      <a:pt x="23235" y="7484"/>
                    </a:lnTo>
                    <a:lnTo>
                      <a:pt x="23187" y="7526"/>
                    </a:lnTo>
                    <a:lnTo>
                      <a:pt x="23115" y="7546"/>
                    </a:lnTo>
                    <a:lnTo>
                      <a:pt x="23007" y="7470"/>
                    </a:lnTo>
                    <a:lnTo>
                      <a:pt x="22927" y="7436"/>
                    </a:lnTo>
                    <a:lnTo>
                      <a:pt x="22875" y="7380"/>
                    </a:lnTo>
                    <a:lnTo>
                      <a:pt x="22729" y="7314"/>
                    </a:lnTo>
                    <a:lnTo>
                      <a:pt x="22777" y="7316"/>
                    </a:lnTo>
                    <a:lnTo>
                      <a:pt x="22873" y="7352"/>
                    </a:lnTo>
                    <a:lnTo>
                      <a:pt x="23073" y="7422"/>
                    </a:lnTo>
                    <a:lnTo>
                      <a:pt x="23159" y="7436"/>
                    </a:lnTo>
                    <a:lnTo>
                      <a:pt x="23245" y="7408"/>
                    </a:lnTo>
                    <a:lnTo>
                      <a:pt x="23305" y="7420"/>
                    </a:lnTo>
                    <a:lnTo>
                      <a:pt x="23361" y="7416"/>
                    </a:lnTo>
                    <a:lnTo>
                      <a:pt x="23469" y="7424"/>
                    </a:lnTo>
                    <a:lnTo>
                      <a:pt x="23539" y="7390"/>
                    </a:lnTo>
                    <a:lnTo>
                      <a:pt x="23585" y="7330"/>
                    </a:lnTo>
                    <a:lnTo>
                      <a:pt x="23511" y="7320"/>
                    </a:lnTo>
                    <a:lnTo>
                      <a:pt x="23449" y="7306"/>
                    </a:lnTo>
                    <a:lnTo>
                      <a:pt x="23359" y="7298"/>
                    </a:lnTo>
                    <a:lnTo>
                      <a:pt x="23315" y="7290"/>
                    </a:lnTo>
                    <a:lnTo>
                      <a:pt x="23239" y="7282"/>
                    </a:lnTo>
                    <a:lnTo>
                      <a:pt x="23171" y="7206"/>
                    </a:lnTo>
                    <a:lnTo>
                      <a:pt x="23127" y="7128"/>
                    </a:lnTo>
                    <a:lnTo>
                      <a:pt x="23061" y="7120"/>
                    </a:lnTo>
                    <a:lnTo>
                      <a:pt x="22985" y="7126"/>
                    </a:lnTo>
                    <a:lnTo>
                      <a:pt x="22915" y="7120"/>
                    </a:lnTo>
                    <a:lnTo>
                      <a:pt x="22835" y="7118"/>
                    </a:lnTo>
                    <a:lnTo>
                      <a:pt x="22677" y="6974"/>
                    </a:lnTo>
                    <a:lnTo>
                      <a:pt x="22671" y="6892"/>
                    </a:lnTo>
                    <a:lnTo>
                      <a:pt x="22645" y="6792"/>
                    </a:lnTo>
                    <a:lnTo>
                      <a:pt x="22577" y="6682"/>
                    </a:lnTo>
                    <a:lnTo>
                      <a:pt x="22511" y="6600"/>
                    </a:lnTo>
                    <a:lnTo>
                      <a:pt x="22427" y="6584"/>
                    </a:lnTo>
                    <a:lnTo>
                      <a:pt x="22347" y="6544"/>
                    </a:lnTo>
                    <a:lnTo>
                      <a:pt x="22207" y="6412"/>
                    </a:lnTo>
                    <a:lnTo>
                      <a:pt x="22127" y="6298"/>
                    </a:lnTo>
                    <a:lnTo>
                      <a:pt x="22015" y="6116"/>
                    </a:lnTo>
                    <a:lnTo>
                      <a:pt x="21969" y="6006"/>
                    </a:lnTo>
                    <a:lnTo>
                      <a:pt x="21801" y="5876"/>
                    </a:lnTo>
                    <a:lnTo>
                      <a:pt x="21655" y="5714"/>
                    </a:lnTo>
                    <a:lnTo>
                      <a:pt x="21589" y="5571"/>
                    </a:lnTo>
                    <a:lnTo>
                      <a:pt x="21535" y="5387"/>
                    </a:lnTo>
                    <a:lnTo>
                      <a:pt x="21393" y="5305"/>
                    </a:lnTo>
                    <a:lnTo>
                      <a:pt x="21281" y="5321"/>
                    </a:lnTo>
                    <a:lnTo>
                      <a:pt x="21151" y="5227"/>
                    </a:lnTo>
                    <a:lnTo>
                      <a:pt x="21151" y="5091"/>
                    </a:lnTo>
                    <a:lnTo>
                      <a:pt x="21029" y="5129"/>
                    </a:lnTo>
                    <a:lnTo>
                      <a:pt x="20947" y="5161"/>
                    </a:lnTo>
                    <a:lnTo>
                      <a:pt x="20835" y="4989"/>
                    </a:lnTo>
                    <a:lnTo>
                      <a:pt x="20991" y="5007"/>
                    </a:lnTo>
                    <a:lnTo>
                      <a:pt x="21135" y="4981"/>
                    </a:lnTo>
                    <a:lnTo>
                      <a:pt x="21171" y="5075"/>
                    </a:lnTo>
                    <a:lnTo>
                      <a:pt x="21209" y="5229"/>
                    </a:lnTo>
                    <a:lnTo>
                      <a:pt x="21337" y="5241"/>
                    </a:lnTo>
                    <a:lnTo>
                      <a:pt x="21457" y="5305"/>
                    </a:lnTo>
                    <a:lnTo>
                      <a:pt x="21587" y="5325"/>
                    </a:lnTo>
                    <a:lnTo>
                      <a:pt x="21635" y="5461"/>
                    </a:lnTo>
                    <a:lnTo>
                      <a:pt x="21665" y="5607"/>
                    </a:lnTo>
                    <a:lnTo>
                      <a:pt x="21703" y="5676"/>
                    </a:lnTo>
                    <a:lnTo>
                      <a:pt x="21825" y="5828"/>
                    </a:lnTo>
                    <a:lnTo>
                      <a:pt x="21955" y="5954"/>
                    </a:lnTo>
                    <a:lnTo>
                      <a:pt x="22043" y="5982"/>
                    </a:lnTo>
                    <a:lnTo>
                      <a:pt x="22083" y="6068"/>
                    </a:lnTo>
                    <a:lnTo>
                      <a:pt x="22177" y="6168"/>
                    </a:lnTo>
                    <a:lnTo>
                      <a:pt x="22197" y="6280"/>
                    </a:lnTo>
                    <a:lnTo>
                      <a:pt x="22369" y="6354"/>
                    </a:lnTo>
                    <a:lnTo>
                      <a:pt x="22463" y="6422"/>
                    </a:lnTo>
                    <a:lnTo>
                      <a:pt x="22587" y="6544"/>
                    </a:lnTo>
                    <a:lnTo>
                      <a:pt x="22671" y="6598"/>
                    </a:lnTo>
                    <a:lnTo>
                      <a:pt x="22691" y="6644"/>
                    </a:lnTo>
                    <a:lnTo>
                      <a:pt x="22751" y="6740"/>
                    </a:lnTo>
                    <a:lnTo>
                      <a:pt x="22803" y="6832"/>
                    </a:lnTo>
                    <a:lnTo>
                      <a:pt x="22849" y="6958"/>
                    </a:lnTo>
                    <a:lnTo>
                      <a:pt x="22925" y="7022"/>
                    </a:lnTo>
                    <a:lnTo>
                      <a:pt x="22983" y="6976"/>
                    </a:lnTo>
                    <a:lnTo>
                      <a:pt x="23011" y="6926"/>
                    </a:lnTo>
                    <a:lnTo>
                      <a:pt x="23069" y="6994"/>
                    </a:lnTo>
                    <a:lnTo>
                      <a:pt x="23157" y="7002"/>
                    </a:lnTo>
                    <a:lnTo>
                      <a:pt x="23229" y="7074"/>
                    </a:lnTo>
                    <a:lnTo>
                      <a:pt x="23349" y="7108"/>
                    </a:lnTo>
                    <a:lnTo>
                      <a:pt x="23475" y="7108"/>
                    </a:lnTo>
                    <a:lnTo>
                      <a:pt x="23453" y="7000"/>
                    </a:lnTo>
                    <a:lnTo>
                      <a:pt x="23469" y="6884"/>
                    </a:lnTo>
                    <a:lnTo>
                      <a:pt x="23521" y="6832"/>
                    </a:lnTo>
                    <a:lnTo>
                      <a:pt x="23579" y="6792"/>
                    </a:lnTo>
                    <a:lnTo>
                      <a:pt x="23507" y="6678"/>
                    </a:lnTo>
                    <a:lnTo>
                      <a:pt x="23489" y="6604"/>
                    </a:lnTo>
                    <a:lnTo>
                      <a:pt x="23501" y="6528"/>
                    </a:lnTo>
                    <a:lnTo>
                      <a:pt x="23491" y="6444"/>
                    </a:lnTo>
                    <a:lnTo>
                      <a:pt x="23537" y="6384"/>
                    </a:lnTo>
                    <a:lnTo>
                      <a:pt x="23507" y="6290"/>
                    </a:lnTo>
                    <a:lnTo>
                      <a:pt x="23393" y="6240"/>
                    </a:lnTo>
                    <a:lnTo>
                      <a:pt x="23341" y="6198"/>
                    </a:lnTo>
                    <a:lnTo>
                      <a:pt x="23301" y="6172"/>
                    </a:lnTo>
                    <a:lnTo>
                      <a:pt x="23271" y="6132"/>
                    </a:lnTo>
                    <a:lnTo>
                      <a:pt x="23317" y="6104"/>
                    </a:lnTo>
                    <a:lnTo>
                      <a:pt x="23437" y="6178"/>
                    </a:lnTo>
                    <a:lnTo>
                      <a:pt x="23525" y="6202"/>
                    </a:lnTo>
                    <a:lnTo>
                      <a:pt x="23649" y="6330"/>
                    </a:lnTo>
                    <a:lnTo>
                      <a:pt x="23705" y="6312"/>
                    </a:lnTo>
                    <a:lnTo>
                      <a:pt x="23757" y="6196"/>
                    </a:lnTo>
                    <a:lnTo>
                      <a:pt x="23773" y="6076"/>
                    </a:lnTo>
                    <a:lnTo>
                      <a:pt x="23709" y="5988"/>
                    </a:lnTo>
                    <a:lnTo>
                      <a:pt x="23615" y="5910"/>
                    </a:lnTo>
                    <a:lnTo>
                      <a:pt x="23483" y="5840"/>
                    </a:lnTo>
                    <a:lnTo>
                      <a:pt x="23379" y="5826"/>
                    </a:lnTo>
                    <a:lnTo>
                      <a:pt x="23251" y="5784"/>
                    </a:lnTo>
                    <a:lnTo>
                      <a:pt x="23121" y="5696"/>
                    </a:lnTo>
                    <a:lnTo>
                      <a:pt x="23063" y="5603"/>
                    </a:lnTo>
                    <a:lnTo>
                      <a:pt x="22961" y="5565"/>
                    </a:lnTo>
                    <a:lnTo>
                      <a:pt x="22855" y="5543"/>
                    </a:lnTo>
                    <a:lnTo>
                      <a:pt x="22767" y="5541"/>
                    </a:lnTo>
                    <a:lnTo>
                      <a:pt x="22833" y="5459"/>
                    </a:lnTo>
                    <a:lnTo>
                      <a:pt x="22771" y="5335"/>
                    </a:lnTo>
                    <a:lnTo>
                      <a:pt x="22637" y="5227"/>
                    </a:lnTo>
                    <a:lnTo>
                      <a:pt x="22585" y="5071"/>
                    </a:lnTo>
                    <a:lnTo>
                      <a:pt x="22459" y="5091"/>
                    </a:lnTo>
                    <a:lnTo>
                      <a:pt x="22317" y="5045"/>
                    </a:lnTo>
                    <a:lnTo>
                      <a:pt x="22297" y="5109"/>
                    </a:lnTo>
                    <a:lnTo>
                      <a:pt x="22231" y="5173"/>
                    </a:lnTo>
                    <a:lnTo>
                      <a:pt x="22147" y="5127"/>
                    </a:lnTo>
                    <a:lnTo>
                      <a:pt x="22045" y="5001"/>
                    </a:lnTo>
                    <a:lnTo>
                      <a:pt x="21745" y="4957"/>
                    </a:lnTo>
                    <a:lnTo>
                      <a:pt x="21555" y="4863"/>
                    </a:lnTo>
                    <a:lnTo>
                      <a:pt x="21459" y="4771"/>
                    </a:lnTo>
                    <a:lnTo>
                      <a:pt x="21443" y="4653"/>
                    </a:lnTo>
                    <a:lnTo>
                      <a:pt x="21327" y="4561"/>
                    </a:lnTo>
                    <a:lnTo>
                      <a:pt x="21259" y="4493"/>
                    </a:lnTo>
                    <a:lnTo>
                      <a:pt x="21183" y="4421"/>
                    </a:lnTo>
                    <a:lnTo>
                      <a:pt x="21303" y="4355"/>
                    </a:lnTo>
                    <a:lnTo>
                      <a:pt x="21275" y="4137"/>
                    </a:lnTo>
                    <a:lnTo>
                      <a:pt x="21163" y="4117"/>
                    </a:lnTo>
                    <a:lnTo>
                      <a:pt x="21117" y="4189"/>
                    </a:lnTo>
                    <a:lnTo>
                      <a:pt x="21015" y="4211"/>
                    </a:lnTo>
                    <a:lnTo>
                      <a:pt x="20881" y="4253"/>
                    </a:lnTo>
                    <a:lnTo>
                      <a:pt x="20841" y="4301"/>
                    </a:lnTo>
                    <a:lnTo>
                      <a:pt x="20576" y="4375"/>
                    </a:lnTo>
                    <a:lnTo>
                      <a:pt x="20456" y="4347"/>
                    </a:lnTo>
                    <a:lnTo>
                      <a:pt x="20400" y="4265"/>
                    </a:lnTo>
                    <a:lnTo>
                      <a:pt x="20334" y="4129"/>
                    </a:lnTo>
                    <a:lnTo>
                      <a:pt x="20314" y="3929"/>
                    </a:lnTo>
                    <a:lnTo>
                      <a:pt x="20364" y="3721"/>
                    </a:lnTo>
                    <a:lnTo>
                      <a:pt x="20522" y="3481"/>
                    </a:lnTo>
                    <a:lnTo>
                      <a:pt x="20622" y="3147"/>
                    </a:lnTo>
                    <a:lnTo>
                      <a:pt x="20706" y="3161"/>
                    </a:lnTo>
                    <a:lnTo>
                      <a:pt x="20698" y="3245"/>
                    </a:lnTo>
                    <a:lnTo>
                      <a:pt x="20811" y="3245"/>
                    </a:lnTo>
                    <a:lnTo>
                      <a:pt x="20927" y="3193"/>
                    </a:lnTo>
                    <a:lnTo>
                      <a:pt x="20756" y="3025"/>
                    </a:lnTo>
                    <a:lnTo>
                      <a:pt x="20825" y="2999"/>
                    </a:lnTo>
                    <a:lnTo>
                      <a:pt x="20907" y="3025"/>
                    </a:lnTo>
                    <a:lnTo>
                      <a:pt x="20971" y="2991"/>
                    </a:lnTo>
                    <a:lnTo>
                      <a:pt x="21031" y="2943"/>
                    </a:lnTo>
                    <a:lnTo>
                      <a:pt x="21209" y="2897"/>
                    </a:lnTo>
                    <a:lnTo>
                      <a:pt x="21209" y="2633"/>
                    </a:lnTo>
                    <a:lnTo>
                      <a:pt x="21219" y="2461"/>
                    </a:lnTo>
                    <a:lnTo>
                      <a:pt x="21243" y="2323"/>
                    </a:lnTo>
                    <a:lnTo>
                      <a:pt x="21031" y="2137"/>
                    </a:lnTo>
                    <a:lnTo>
                      <a:pt x="20969" y="2047"/>
                    </a:lnTo>
                    <a:lnTo>
                      <a:pt x="20815" y="1919"/>
                    </a:lnTo>
                    <a:lnTo>
                      <a:pt x="20650" y="1921"/>
                    </a:lnTo>
                    <a:lnTo>
                      <a:pt x="20548" y="1828"/>
                    </a:lnTo>
                    <a:lnTo>
                      <a:pt x="20576" y="1718"/>
                    </a:lnTo>
                    <a:lnTo>
                      <a:pt x="20478" y="1676"/>
                    </a:lnTo>
                    <a:lnTo>
                      <a:pt x="20372" y="1608"/>
                    </a:lnTo>
                    <a:lnTo>
                      <a:pt x="20268" y="1576"/>
                    </a:lnTo>
                    <a:lnTo>
                      <a:pt x="19916" y="1508"/>
                    </a:lnTo>
                    <a:lnTo>
                      <a:pt x="19864" y="1444"/>
                    </a:lnTo>
                    <a:lnTo>
                      <a:pt x="19656" y="1302"/>
                    </a:lnTo>
                    <a:lnTo>
                      <a:pt x="19710" y="1134"/>
                    </a:lnTo>
                    <a:lnTo>
                      <a:pt x="19808" y="1062"/>
                    </a:lnTo>
                    <a:lnTo>
                      <a:pt x="19898" y="940"/>
                    </a:lnTo>
                    <a:lnTo>
                      <a:pt x="19784" y="840"/>
                    </a:lnTo>
                    <a:lnTo>
                      <a:pt x="19600" y="764"/>
                    </a:lnTo>
                    <a:lnTo>
                      <a:pt x="19544" y="650"/>
                    </a:lnTo>
                    <a:lnTo>
                      <a:pt x="19414" y="638"/>
                    </a:lnTo>
                    <a:lnTo>
                      <a:pt x="19294" y="608"/>
                    </a:lnTo>
                    <a:lnTo>
                      <a:pt x="19198" y="538"/>
                    </a:lnTo>
                    <a:lnTo>
                      <a:pt x="19114" y="586"/>
                    </a:lnTo>
                    <a:lnTo>
                      <a:pt x="19028" y="572"/>
                    </a:lnTo>
                    <a:lnTo>
                      <a:pt x="18634" y="1268"/>
                    </a:lnTo>
                    <a:lnTo>
                      <a:pt x="18042" y="774"/>
                    </a:lnTo>
                    <a:lnTo>
                      <a:pt x="17036" y="0"/>
                    </a:lnTo>
                    <a:lnTo>
                      <a:pt x="16966" y="206"/>
                    </a:lnTo>
                    <a:lnTo>
                      <a:pt x="17026" y="314"/>
                    </a:lnTo>
                    <a:lnTo>
                      <a:pt x="16978" y="406"/>
                    </a:lnTo>
                    <a:lnTo>
                      <a:pt x="17052" y="468"/>
                    </a:lnTo>
                    <a:lnTo>
                      <a:pt x="16830" y="782"/>
                    </a:lnTo>
                    <a:lnTo>
                      <a:pt x="16824" y="1052"/>
                    </a:lnTo>
                    <a:lnTo>
                      <a:pt x="16836" y="1148"/>
                    </a:lnTo>
                    <a:lnTo>
                      <a:pt x="16692" y="1332"/>
                    </a:lnTo>
                    <a:lnTo>
                      <a:pt x="16564" y="1388"/>
                    </a:lnTo>
                    <a:lnTo>
                      <a:pt x="16432" y="1550"/>
                    </a:lnTo>
                    <a:lnTo>
                      <a:pt x="16314" y="1664"/>
                    </a:lnTo>
                    <a:lnTo>
                      <a:pt x="16340" y="1746"/>
                    </a:lnTo>
                    <a:lnTo>
                      <a:pt x="16250" y="1887"/>
                    </a:lnTo>
                    <a:lnTo>
                      <a:pt x="16186" y="1854"/>
                    </a:lnTo>
                    <a:lnTo>
                      <a:pt x="16058" y="1858"/>
                    </a:lnTo>
                    <a:lnTo>
                      <a:pt x="15988" y="2015"/>
                    </a:lnTo>
                    <a:lnTo>
                      <a:pt x="15922" y="2101"/>
                    </a:lnTo>
                    <a:lnTo>
                      <a:pt x="15810" y="2061"/>
                    </a:lnTo>
                    <a:lnTo>
                      <a:pt x="15698" y="2149"/>
                    </a:lnTo>
                    <a:lnTo>
                      <a:pt x="15544" y="2289"/>
                    </a:lnTo>
                    <a:lnTo>
                      <a:pt x="15486" y="2497"/>
                    </a:lnTo>
                    <a:lnTo>
                      <a:pt x="15346" y="2691"/>
                    </a:lnTo>
                    <a:lnTo>
                      <a:pt x="14974" y="2389"/>
                    </a:lnTo>
                    <a:lnTo>
                      <a:pt x="14798" y="2589"/>
                    </a:lnTo>
                    <a:lnTo>
                      <a:pt x="14734" y="2759"/>
                    </a:lnTo>
                    <a:lnTo>
                      <a:pt x="14664" y="2925"/>
                    </a:lnTo>
                    <a:lnTo>
                      <a:pt x="14650" y="3109"/>
                    </a:lnTo>
                    <a:lnTo>
                      <a:pt x="14548" y="3129"/>
                    </a:lnTo>
                    <a:lnTo>
                      <a:pt x="14228" y="3819"/>
                    </a:lnTo>
                    <a:lnTo>
                      <a:pt x="14064" y="4021"/>
                    </a:lnTo>
                    <a:lnTo>
                      <a:pt x="13952" y="4053"/>
                    </a:lnTo>
                    <a:lnTo>
                      <a:pt x="13692" y="3997"/>
                    </a:lnTo>
                    <a:lnTo>
                      <a:pt x="13442" y="3873"/>
                    </a:lnTo>
                    <a:lnTo>
                      <a:pt x="13352" y="3699"/>
                    </a:lnTo>
                    <a:lnTo>
                      <a:pt x="13188" y="3495"/>
                    </a:lnTo>
                    <a:lnTo>
                      <a:pt x="12892" y="3365"/>
                    </a:lnTo>
                    <a:lnTo>
                      <a:pt x="12826" y="3459"/>
                    </a:lnTo>
                    <a:lnTo>
                      <a:pt x="12806" y="3661"/>
                    </a:lnTo>
                    <a:lnTo>
                      <a:pt x="12714" y="3757"/>
                    </a:lnTo>
                    <a:lnTo>
                      <a:pt x="12732" y="3955"/>
                    </a:lnTo>
                    <a:lnTo>
                      <a:pt x="12638" y="4087"/>
                    </a:lnTo>
                    <a:lnTo>
                      <a:pt x="12578" y="4265"/>
                    </a:lnTo>
                    <a:lnTo>
                      <a:pt x="12469" y="4341"/>
                    </a:lnTo>
                    <a:lnTo>
                      <a:pt x="12361" y="4475"/>
                    </a:lnTo>
                    <a:lnTo>
                      <a:pt x="12409" y="4621"/>
                    </a:lnTo>
                    <a:lnTo>
                      <a:pt x="12227" y="4741"/>
                    </a:lnTo>
                    <a:lnTo>
                      <a:pt x="12113" y="4845"/>
                    </a:lnTo>
                    <a:lnTo>
                      <a:pt x="12041" y="4937"/>
                    </a:lnTo>
                    <a:lnTo>
                      <a:pt x="11993" y="5039"/>
                    </a:lnTo>
                    <a:lnTo>
                      <a:pt x="11919" y="5171"/>
                    </a:lnTo>
                    <a:lnTo>
                      <a:pt x="11963" y="5271"/>
                    </a:lnTo>
                    <a:lnTo>
                      <a:pt x="11885" y="5363"/>
                    </a:lnTo>
                    <a:lnTo>
                      <a:pt x="11754" y="5604"/>
                    </a:lnTo>
                    <a:lnTo>
                      <a:pt x="11547" y="5854"/>
                    </a:lnTo>
                    <a:lnTo>
                      <a:pt x="11357" y="6046"/>
                    </a:lnTo>
                    <a:lnTo>
                      <a:pt x="11155" y="6134"/>
                    </a:lnTo>
                    <a:lnTo>
                      <a:pt x="11047" y="6346"/>
                    </a:lnTo>
                    <a:lnTo>
                      <a:pt x="10897" y="6608"/>
                    </a:lnTo>
                    <a:lnTo>
                      <a:pt x="10907" y="6718"/>
                    </a:lnTo>
                    <a:lnTo>
                      <a:pt x="10727" y="6860"/>
                    </a:lnTo>
                    <a:lnTo>
                      <a:pt x="11051" y="7090"/>
                    </a:lnTo>
                    <a:lnTo>
                      <a:pt x="10703" y="7304"/>
                    </a:lnTo>
                    <a:lnTo>
                      <a:pt x="10771" y="7520"/>
                    </a:lnTo>
                    <a:lnTo>
                      <a:pt x="10209" y="7858"/>
                    </a:lnTo>
                    <a:lnTo>
                      <a:pt x="10153" y="7666"/>
                    </a:lnTo>
                    <a:lnTo>
                      <a:pt x="10011" y="7668"/>
                    </a:lnTo>
                    <a:lnTo>
                      <a:pt x="9717" y="7854"/>
                    </a:lnTo>
                    <a:lnTo>
                      <a:pt x="9325" y="8062"/>
                    </a:lnTo>
                    <a:lnTo>
                      <a:pt x="9259" y="7982"/>
                    </a:lnTo>
                    <a:lnTo>
                      <a:pt x="9117" y="7882"/>
                    </a:lnTo>
                    <a:lnTo>
                      <a:pt x="9029" y="7836"/>
                    </a:lnTo>
                    <a:lnTo>
                      <a:pt x="8935" y="7990"/>
                    </a:lnTo>
                    <a:lnTo>
                      <a:pt x="9021" y="8170"/>
                    </a:lnTo>
                    <a:lnTo>
                      <a:pt x="8803" y="8312"/>
                    </a:lnTo>
                    <a:lnTo>
                      <a:pt x="8589" y="8320"/>
                    </a:lnTo>
                    <a:lnTo>
                      <a:pt x="7993" y="8480"/>
                    </a:lnTo>
                    <a:lnTo>
                      <a:pt x="7841" y="8598"/>
                    </a:lnTo>
                    <a:lnTo>
                      <a:pt x="7591" y="8390"/>
                    </a:lnTo>
                    <a:lnTo>
                      <a:pt x="7419" y="8176"/>
                    </a:lnTo>
                    <a:lnTo>
                      <a:pt x="7273" y="8278"/>
                    </a:lnTo>
                    <a:lnTo>
                      <a:pt x="7263" y="8408"/>
                    </a:lnTo>
                    <a:lnTo>
                      <a:pt x="7129" y="8454"/>
                    </a:lnTo>
                    <a:lnTo>
                      <a:pt x="6957" y="8528"/>
                    </a:lnTo>
                    <a:lnTo>
                      <a:pt x="6759" y="8692"/>
                    </a:lnTo>
                    <a:lnTo>
                      <a:pt x="6515" y="8710"/>
                    </a:lnTo>
                    <a:lnTo>
                      <a:pt x="6351" y="8672"/>
                    </a:lnTo>
                    <a:lnTo>
                      <a:pt x="6279" y="8592"/>
                    </a:lnTo>
                    <a:lnTo>
                      <a:pt x="6185" y="8580"/>
                    </a:lnTo>
                    <a:lnTo>
                      <a:pt x="6125" y="8430"/>
                    </a:lnTo>
                    <a:lnTo>
                      <a:pt x="6015" y="8390"/>
                    </a:lnTo>
                    <a:lnTo>
                      <a:pt x="5895" y="8396"/>
                    </a:lnTo>
                    <a:lnTo>
                      <a:pt x="5751" y="8244"/>
                    </a:lnTo>
                    <a:lnTo>
                      <a:pt x="5581" y="8096"/>
                    </a:lnTo>
                    <a:lnTo>
                      <a:pt x="5581" y="7896"/>
                    </a:lnTo>
                    <a:lnTo>
                      <a:pt x="5565" y="7802"/>
                    </a:lnTo>
                    <a:lnTo>
                      <a:pt x="5453" y="7740"/>
                    </a:lnTo>
                    <a:lnTo>
                      <a:pt x="5397" y="7694"/>
                    </a:lnTo>
                    <a:lnTo>
                      <a:pt x="5369" y="7636"/>
                    </a:lnTo>
                    <a:lnTo>
                      <a:pt x="5581" y="7524"/>
                    </a:lnTo>
                    <a:lnTo>
                      <a:pt x="5499" y="7408"/>
                    </a:lnTo>
                    <a:lnTo>
                      <a:pt x="4367" y="8330"/>
                    </a:lnTo>
                    <a:lnTo>
                      <a:pt x="4215" y="8444"/>
                    </a:lnTo>
                    <a:lnTo>
                      <a:pt x="3888" y="8558"/>
                    </a:lnTo>
                    <a:lnTo>
                      <a:pt x="3566" y="8698"/>
                    </a:lnTo>
                    <a:lnTo>
                      <a:pt x="3264" y="8884"/>
                    </a:lnTo>
                    <a:lnTo>
                      <a:pt x="3046" y="8996"/>
                    </a:lnTo>
                    <a:lnTo>
                      <a:pt x="3044" y="9320"/>
                    </a:lnTo>
                    <a:lnTo>
                      <a:pt x="2864" y="9411"/>
                    </a:lnTo>
                    <a:lnTo>
                      <a:pt x="2728" y="9461"/>
                    </a:lnTo>
                    <a:lnTo>
                      <a:pt x="2556" y="9607"/>
                    </a:lnTo>
                    <a:lnTo>
                      <a:pt x="2600" y="9699"/>
                    </a:lnTo>
                    <a:lnTo>
                      <a:pt x="2552" y="9911"/>
                    </a:lnTo>
                    <a:lnTo>
                      <a:pt x="2318" y="10011"/>
                    </a:lnTo>
                    <a:lnTo>
                      <a:pt x="2124" y="10057"/>
                    </a:lnTo>
                    <a:lnTo>
                      <a:pt x="1940" y="10051"/>
                    </a:lnTo>
                    <a:lnTo>
                      <a:pt x="1858" y="10117"/>
                    </a:lnTo>
                    <a:lnTo>
                      <a:pt x="1846" y="10203"/>
                    </a:lnTo>
                    <a:lnTo>
                      <a:pt x="1736" y="10319"/>
                    </a:lnTo>
                    <a:lnTo>
                      <a:pt x="1734" y="10411"/>
                    </a:lnTo>
                    <a:lnTo>
                      <a:pt x="1698" y="10475"/>
                    </a:lnTo>
                    <a:lnTo>
                      <a:pt x="1606" y="10469"/>
                    </a:lnTo>
                    <a:lnTo>
                      <a:pt x="1178" y="10591"/>
                    </a:lnTo>
                    <a:lnTo>
                      <a:pt x="830" y="10721"/>
                    </a:lnTo>
                    <a:lnTo>
                      <a:pt x="664" y="10763"/>
                    </a:lnTo>
                    <a:lnTo>
                      <a:pt x="492" y="10753"/>
                    </a:lnTo>
                    <a:lnTo>
                      <a:pt x="320" y="10845"/>
                    </a:lnTo>
                    <a:lnTo>
                      <a:pt x="196" y="10859"/>
                    </a:lnTo>
                    <a:lnTo>
                      <a:pt x="0" y="11001"/>
                    </a:lnTo>
                    <a:lnTo>
                      <a:pt x="2188" y="11045"/>
                    </a:lnTo>
                    <a:lnTo>
                      <a:pt x="4411" y="11037"/>
                    </a:lnTo>
                    <a:lnTo>
                      <a:pt x="4925" y="11035"/>
                    </a:lnTo>
                    <a:lnTo>
                      <a:pt x="5557" y="11035"/>
                    </a:lnTo>
                    <a:lnTo>
                      <a:pt x="5627" y="10945"/>
                    </a:lnTo>
                    <a:lnTo>
                      <a:pt x="6623" y="10959"/>
                    </a:lnTo>
                    <a:lnTo>
                      <a:pt x="6389" y="11049"/>
                    </a:lnTo>
                    <a:lnTo>
                      <a:pt x="9079" y="11187"/>
                    </a:lnTo>
                    <a:lnTo>
                      <a:pt x="9759" y="11185"/>
                    </a:lnTo>
                    <a:lnTo>
                      <a:pt x="11619" y="11251"/>
                    </a:lnTo>
                    <a:lnTo>
                      <a:pt x="12658" y="11261"/>
                    </a:lnTo>
                    <a:lnTo>
                      <a:pt x="13470" y="11245"/>
                    </a:lnTo>
                    <a:lnTo>
                      <a:pt x="14252" y="11247"/>
                    </a:lnTo>
                    <a:lnTo>
                      <a:pt x="15794" y="11223"/>
                    </a:lnTo>
                    <a:lnTo>
                      <a:pt x="16892" y="11219"/>
                    </a:lnTo>
                    <a:lnTo>
                      <a:pt x="17978" y="11241"/>
                    </a:lnTo>
                    <a:lnTo>
                      <a:pt x="18874" y="11249"/>
                    </a:lnTo>
                    <a:lnTo>
                      <a:pt x="20188" y="11223"/>
                    </a:lnTo>
                    <a:lnTo>
                      <a:pt x="21601" y="11229"/>
                    </a:lnTo>
                    <a:lnTo>
                      <a:pt x="22991" y="11191"/>
                    </a:lnTo>
                    <a:lnTo>
                      <a:pt x="24141" y="11189"/>
                    </a:lnTo>
                    <a:lnTo>
                      <a:pt x="24419" y="11197"/>
                    </a:lnTo>
                    <a:lnTo>
                      <a:pt x="24365" y="11115"/>
                    </a:lnTo>
                    <a:lnTo>
                      <a:pt x="24317" y="11067"/>
                    </a:lnTo>
                    <a:lnTo>
                      <a:pt x="24275" y="10979"/>
                    </a:lnTo>
                    <a:lnTo>
                      <a:pt x="24361" y="11005"/>
                    </a:lnTo>
                    <a:lnTo>
                      <a:pt x="24411" y="11067"/>
                    </a:lnTo>
                    <a:lnTo>
                      <a:pt x="24471" y="11101"/>
                    </a:lnTo>
                    <a:lnTo>
                      <a:pt x="24503" y="11159"/>
                    </a:lnTo>
                    <a:lnTo>
                      <a:pt x="24509" y="11203"/>
                    </a:lnTo>
                    <a:lnTo>
                      <a:pt x="24553" y="11205"/>
                    </a:lnTo>
                    <a:close/>
                  </a:path>
                </a:pathLst>
              </a:custGeom>
              <a:solidFill>
                <a:srgbClr val="213566"/>
              </a:solidFill>
              <a:ln w="19050" cmpd="sng">
                <a:noFill/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160" kern="0" dirty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36" name="组合 45">
                <a:extLst>
                  <a:ext uri="{FF2B5EF4-FFF2-40B4-BE49-F238E27FC236}">
                    <a16:creationId xmlns:a16="http://schemas.microsoft.com/office/drawing/2014/main" id="{C28150E0-3D80-48E8-AB93-E2EC8E69964C}"/>
                  </a:ext>
                </a:extLst>
              </p:cNvPr>
              <p:cNvGrpSpPr/>
              <p:nvPr/>
            </p:nvGrpSpPr>
            <p:grpSpPr>
              <a:xfrm>
                <a:off x="12192633" y="15079923"/>
                <a:ext cx="2908599" cy="2404554"/>
                <a:chOff x="3988324" y="3155624"/>
                <a:chExt cx="939671" cy="776831"/>
              </a:xfrm>
            </p:grpSpPr>
            <p:sp>
              <p:nvSpPr>
                <p:cNvPr id="37" name="Oval 25">
                  <a:extLst>
                    <a:ext uri="{FF2B5EF4-FFF2-40B4-BE49-F238E27FC236}">
                      <a16:creationId xmlns:a16="http://schemas.microsoft.com/office/drawing/2014/main" id="{E6CFB11C-EBC8-4BF3-A29D-2C78B77571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826336" y="3830796"/>
                  <a:ext cx="101659" cy="101659"/>
                </a:xfrm>
                <a:prstGeom prst="ellipse">
                  <a:avLst/>
                </a:prstGeom>
                <a:solidFill>
                  <a:srgbClr val="E57200"/>
                </a:soli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>
                  <a:outerShdw dist="35921" dir="2700000" sx="66000" sy="66000" algn="ctr" rotWithShape="0">
                    <a:srgbClr val="1C1C1C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 sz="2160" kern="0" dirty="0">
                    <a:solidFill>
                      <a:sysClr val="windowText" lastClr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38" name="圆角矩形 75">
                  <a:extLst>
                    <a:ext uri="{FF2B5EF4-FFF2-40B4-BE49-F238E27FC236}">
                      <a16:creationId xmlns:a16="http://schemas.microsoft.com/office/drawing/2014/main" id="{8067FB2E-768F-4C21-9611-8671FAFEAC2A}"/>
                    </a:ext>
                  </a:extLst>
                </p:cNvPr>
                <p:cNvSpPr/>
                <p:nvPr/>
              </p:nvSpPr>
              <p:spPr>
                <a:xfrm>
                  <a:off x="3988324" y="3155624"/>
                  <a:ext cx="705233" cy="2166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ysDash"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1645295">
                    <a:defRPr/>
                  </a:pPr>
                  <a:r>
                    <a:rPr lang="en-US" sz="2400" dirty="0"/>
                    <a:t>UVA Darden</a:t>
                  </a:r>
                  <a:endParaRPr lang="lt-LT" altLang="zh-CN" sz="2400" b="0" kern="0" dirty="0">
                    <a:solidFill>
                      <a:sysClr val="windowText" lastClr="000000"/>
                    </a:solidFill>
                    <a:latin typeface="Franklin Gothic Demi" panose="020B0703020102020204" pitchFamily="34" charset="0"/>
                  </a:endParaRPr>
                </a:p>
              </p:txBody>
            </p:sp>
            <p:sp>
              <p:nvSpPr>
                <p:cNvPr id="39" name="Oval 25">
                  <a:extLst>
                    <a:ext uri="{FF2B5EF4-FFF2-40B4-BE49-F238E27FC236}">
                      <a16:creationId xmlns:a16="http://schemas.microsoft.com/office/drawing/2014/main" id="{CE824CAF-DB33-4BA5-B910-2EF0C16DBA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724677" y="3391987"/>
                  <a:ext cx="101659" cy="101659"/>
                </a:xfrm>
                <a:prstGeom prst="ellipse">
                  <a:avLst/>
                </a:prstGeom>
                <a:solidFill>
                  <a:srgbClr val="E57200"/>
                </a:soli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>
                  <a:outerShdw dist="35921" dir="2700000" sx="66000" sy="66000" algn="ctr" rotWithShape="0">
                    <a:srgbClr val="1C1C1C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 sz="2160" kern="0" dirty="0">
                    <a:solidFill>
                      <a:sysClr val="windowText" lastClr="000000"/>
                    </a:solidFill>
                    <a:latin typeface="Calibri" pitchFamily="34" charset="0"/>
                  </a:endParaRPr>
                </a:p>
              </p:txBody>
            </p:sp>
          </p:grpSp>
          <p:sp>
            <p:nvSpPr>
              <p:cNvPr id="29" name="Oval 25">
                <a:extLst>
                  <a:ext uri="{FF2B5EF4-FFF2-40B4-BE49-F238E27FC236}">
                    <a16:creationId xmlns:a16="http://schemas.microsoft.com/office/drawing/2014/main" id="{EC4ACC82-FB83-4B18-9E6E-3B5FDD3AE43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055962" y="16156975"/>
                <a:ext cx="314670" cy="314670"/>
              </a:xfrm>
              <a:prstGeom prst="ellipse">
                <a:avLst/>
              </a:prstGeom>
              <a:solidFill>
                <a:srgbClr val="E57200"/>
              </a:solidFill>
              <a:ln w="12700">
                <a:solidFill>
                  <a:schemeClr val="bg1"/>
                </a:solidFill>
                <a:round/>
                <a:headEnd/>
                <a:tailEnd/>
              </a:ln>
              <a:effectLst>
                <a:outerShdw dist="35921" dir="2700000" sx="66000" sy="66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zh-CN" altLang="en-US" sz="2160" kern="0" dirty="0">
                  <a:solidFill>
                    <a:sysClr val="windowText" lastClr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30" name="圆角矩形 75">
                <a:extLst>
                  <a:ext uri="{FF2B5EF4-FFF2-40B4-BE49-F238E27FC236}">
                    <a16:creationId xmlns:a16="http://schemas.microsoft.com/office/drawing/2014/main" id="{6B0BED3E-8B41-44FC-9D32-EF6C3D8224C8}"/>
                  </a:ext>
                </a:extLst>
              </p:cNvPr>
              <p:cNvSpPr/>
              <p:nvPr/>
            </p:nvSpPr>
            <p:spPr>
              <a:xfrm>
                <a:off x="14761513" y="17682070"/>
                <a:ext cx="1605346" cy="6704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noFill/>
                <a:prstDash val="sys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1645295">
                  <a:defRPr/>
                </a:pPr>
                <a:r>
                  <a:rPr lang="en-US" sz="2400" dirty="0"/>
                  <a:t>Dillwyn</a:t>
                </a:r>
                <a:endParaRPr lang="lt-LT" altLang="zh-CN" sz="2160" kern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" name="圆角矩形 75">
                <a:extLst>
                  <a:ext uri="{FF2B5EF4-FFF2-40B4-BE49-F238E27FC236}">
                    <a16:creationId xmlns:a16="http://schemas.microsoft.com/office/drawing/2014/main" id="{38295974-058B-4D3C-A2B3-3AC3044FB1E8}"/>
                  </a:ext>
                </a:extLst>
              </p:cNvPr>
              <p:cNvSpPr/>
              <p:nvPr/>
            </p:nvSpPr>
            <p:spPr>
              <a:xfrm>
                <a:off x="15281936" y="15486526"/>
                <a:ext cx="1792208" cy="6704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noFill/>
                <a:prstDash val="sys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1645295">
                  <a:defRPr/>
                </a:pPr>
                <a:r>
                  <a:rPr lang="en-US" altLang="zh-CN" sz="2400" kern="0" dirty="0">
                    <a:solidFill>
                      <a:sysClr val="windowText" lastClr="000000"/>
                    </a:solidFill>
                  </a:rPr>
                  <a:t>Fluvanna</a:t>
                </a:r>
                <a:endParaRPr lang="lt-LT" altLang="zh-CN" sz="2160" kern="0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06CE2E9D-5AB3-45E9-B7A5-4483169A693B}"/>
                </a:ext>
              </a:extLst>
            </p:cNvPr>
            <p:cNvCxnSpPr>
              <a:cxnSpLocks/>
              <a:stCxn id="38" idx="3"/>
              <a:endCxn id="39" idx="0"/>
            </p:cNvCxnSpPr>
            <p:nvPr/>
          </p:nvCxnSpPr>
          <p:spPr>
            <a:xfrm>
              <a:off x="14551044" y="15195061"/>
              <a:ext cx="253662" cy="396398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009D8481-A171-444B-AFC4-450E74412AE8}"/>
                </a:ext>
              </a:extLst>
            </p:cNvPr>
            <p:cNvCxnSpPr>
              <a:cxnSpLocks/>
              <a:stCxn id="31" idx="1"/>
              <a:endCxn id="29" idx="0"/>
            </p:cNvCxnSpPr>
            <p:nvPr/>
          </p:nvCxnSpPr>
          <p:spPr>
            <a:xfrm rot="10800000" flipV="1">
              <a:off x="15388775" y="15601664"/>
              <a:ext cx="68639" cy="335224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CB3D1DB2-70C2-4CF4-B27F-8533811DF73E}"/>
                </a:ext>
              </a:extLst>
            </p:cNvPr>
            <p:cNvCxnSpPr>
              <a:cxnSpLocks/>
              <a:stCxn id="30" idx="0"/>
              <a:endCxn id="37" idx="6"/>
            </p:cNvCxnSpPr>
            <p:nvPr/>
          </p:nvCxnSpPr>
          <p:spPr>
            <a:xfrm rot="16200000" flipV="1">
              <a:off x="15330724" y="17053044"/>
              <a:ext cx="354927" cy="462952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Subhead - Franklin Gothic Demi - 28">
            <a:extLst>
              <a:ext uri="{FF2B5EF4-FFF2-40B4-BE49-F238E27FC236}">
                <a16:creationId xmlns:a16="http://schemas.microsoft.com/office/drawing/2014/main" id="{533F7CE6-D0C3-409C-8031-E92F2B6FC823}"/>
              </a:ext>
            </a:extLst>
          </p:cNvPr>
          <p:cNvSpPr txBox="1"/>
          <p:nvPr/>
        </p:nvSpPr>
        <p:spPr>
          <a:xfrm>
            <a:off x="14553525" y="4148696"/>
            <a:ext cx="3981540" cy="678972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LITERATURE REVIEW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6" name="Body Text - Franklin Gothic Book - 22">
            <a:extLst>
              <a:ext uri="{FF2B5EF4-FFF2-40B4-BE49-F238E27FC236}">
                <a16:creationId xmlns:a16="http://schemas.microsoft.com/office/drawing/2014/main" id="{BEA836EF-83D3-4918-AE9F-155286561489}"/>
              </a:ext>
            </a:extLst>
          </p:cNvPr>
          <p:cNvSpPr txBox="1"/>
          <p:nvPr/>
        </p:nvSpPr>
        <p:spPr>
          <a:xfrm>
            <a:off x="1251364" y="4825754"/>
            <a:ext cx="6400800" cy="4395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b="1" dirty="0"/>
              <a:t>Motivation: </a:t>
            </a:r>
            <a:r>
              <a:rPr lang="en-US" dirty="0"/>
              <a:t>Education during incarceration is not widespread and its delivery against purported benefits is not well understood or carefully examined.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b="1" dirty="0">
                <a:latin typeface="ITC Franklin Gothic Std Book"/>
                <a:cs typeface="ITC Franklin Gothic Std Book"/>
              </a:rPr>
              <a:t>Research Questions: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What are the summative impacts of education during incarceration?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In addition to potential lowered recidivism, what are other beneficial outcomes of education during incarceration?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Who are the other key players in this area, and how do they operate and evaluate their own programs?</a:t>
            </a:r>
            <a:endParaRPr dirty="0">
              <a:latin typeface="ITC Franklin Gothic Std Book"/>
              <a:cs typeface="ITC Franklin Gothic Std Book"/>
            </a:endParaRPr>
          </a:p>
        </p:txBody>
      </p:sp>
      <p:sp>
        <p:nvSpPr>
          <p:cNvPr id="57" name="Square">
            <a:extLst>
              <a:ext uri="{FF2B5EF4-FFF2-40B4-BE49-F238E27FC236}">
                <a16:creationId xmlns:a16="http://schemas.microsoft.com/office/drawing/2014/main" id="{2B2FA619-FF15-4985-BECE-209C40DC57DC}"/>
              </a:ext>
            </a:extLst>
          </p:cNvPr>
          <p:cNvSpPr/>
          <p:nvPr/>
        </p:nvSpPr>
        <p:spPr>
          <a:xfrm>
            <a:off x="1244905" y="11681083"/>
            <a:ext cx="9813145" cy="969256"/>
          </a:xfrm>
          <a:prstGeom prst="rect">
            <a:avLst/>
          </a:prstGeom>
          <a:solidFill>
            <a:srgbClr val="213566"/>
          </a:solidFill>
          <a:ln w="12700">
            <a:solidFill>
              <a:srgbClr val="213566"/>
            </a:solidFill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600" b="0" dirty="0">
                <a:latin typeface="ITC Franklin Gothic Std Demi"/>
                <a:sym typeface="Helvetica Neue Medium"/>
              </a:rPr>
              <a:t>INCARCERATION AND RECIDIVISM </a:t>
            </a:r>
          </a:p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600" b="0" dirty="0">
                <a:latin typeface="ITC Franklin Gothic Std Demi"/>
                <a:sym typeface="Helvetica Neue Medium"/>
              </a:rPr>
              <a:t>IN THE U.S. AND VIRGINIA, 2017</a:t>
            </a:r>
            <a:endParaRPr sz="2600" b="0" dirty="0">
              <a:latin typeface="ITC Franklin Gothic Std Demi"/>
              <a:sym typeface="ITC Franklin Gothic Std Demi"/>
            </a:endParaRPr>
          </a:p>
        </p:txBody>
      </p:sp>
      <p:sp>
        <p:nvSpPr>
          <p:cNvPr id="58" name="Body Text - Franklin Gothic Book - 22">
            <a:extLst>
              <a:ext uri="{FF2B5EF4-FFF2-40B4-BE49-F238E27FC236}">
                <a16:creationId xmlns:a16="http://schemas.microsoft.com/office/drawing/2014/main" id="{7F70E1BB-0632-48EB-A74E-976F962235CA}"/>
              </a:ext>
            </a:extLst>
          </p:cNvPr>
          <p:cNvSpPr txBox="1"/>
          <p:nvPr/>
        </p:nvSpPr>
        <p:spPr>
          <a:xfrm>
            <a:off x="1251364" y="12665769"/>
            <a:ext cx="9807266" cy="2342932"/>
          </a:xfrm>
          <a:prstGeom prst="rect">
            <a:avLst/>
          </a:prstGeom>
          <a:solidFill>
            <a:schemeClr val="bg1"/>
          </a:solidFill>
          <a:ln w="12700">
            <a:solidFill>
              <a:srgbClr val="213566"/>
            </a:solidFill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numCol="2" spcCol="274320" anchor="ctr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>
              <a:spcAft>
                <a:spcPts val="200"/>
              </a:spcAft>
            </a:pPr>
            <a:r>
              <a:rPr lang="en-US" b="1" dirty="0"/>
              <a:t>National</a:t>
            </a:r>
          </a:p>
          <a:p>
            <a:pPr indent="-914400"/>
            <a:r>
              <a:rPr lang="en-US" b="1" dirty="0"/>
              <a:t>1.5 million</a:t>
            </a:r>
            <a:r>
              <a:rPr lang="en-US" dirty="0"/>
              <a:t> incarcerated in state and        </a:t>
            </a:r>
          </a:p>
          <a:p>
            <a:pPr indent="-914400"/>
            <a:r>
              <a:rPr lang="en-US" dirty="0"/>
              <a:t>      federal prisons [6]</a:t>
            </a:r>
          </a:p>
          <a:p>
            <a:pPr indent="-914400"/>
            <a:r>
              <a:rPr lang="en-US" b="1" dirty="0"/>
              <a:t>622,377</a:t>
            </a:r>
            <a:r>
              <a:rPr lang="en-US" dirty="0"/>
              <a:t> released [6]</a:t>
            </a:r>
          </a:p>
          <a:p>
            <a:pPr indent="-914400"/>
            <a:r>
              <a:rPr lang="en-US" b="1" dirty="0"/>
              <a:t>68% </a:t>
            </a:r>
            <a:r>
              <a:rPr lang="en-US" dirty="0"/>
              <a:t>re-arrested within 3 years [7]</a:t>
            </a:r>
          </a:p>
          <a:p>
            <a:pPr indent="-914400"/>
            <a:r>
              <a:rPr lang="en-US" b="1" dirty="0"/>
              <a:t>36% </a:t>
            </a:r>
            <a:r>
              <a:rPr lang="en-US" dirty="0"/>
              <a:t>re-incarcerated within 3 years [7]</a:t>
            </a:r>
            <a:endParaRPr lang="en-US" b="1" dirty="0"/>
          </a:p>
          <a:p>
            <a:pPr indent="-914400"/>
            <a:r>
              <a:rPr lang="en-US" b="1" dirty="0"/>
              <a:t>Virginia</a:t>
            </a:r>
          </a:p>
          <a:p>
            <a:pPr indent="-914400"/>
            <a:r>
              <a:rPr lang="en-US" b="1" dirty="0"/>
              <a:t>37,158</a:t>
            </a:r>
            <a:r>
              <a:rPr lang="en-US" dirty="0"/>
              <a:t> incarcerated in state and     </a:t>
            </a:r>
          </a:p>
          <a:p>
            <a:pPr indent="-914400"/>
            <a:r>
              <a:rPr lang="en-US" dirty="0"/>
              <a:t>      federal prisons [6]</a:t>
            </a:r>
          </a:p>
          <a:p>
            <a:pPr indent="-914400"/>
            <a:r>
              <a:rPr lang="en-US" b="1" dirty="0"/>
              <a:t>12,648</a:t>
            </a:r>
            <a:r>
              <a:rPr lang="en-US" dirty="0"/>
              <a:t> released [6]</a:t>
            </a:r>
          </a:p>
          <a:p>
            <a:pPr indent="-914400"/>
            <a:r>
              <a:rPr lang="en-US" b="1" dirty="0"/>
              <a:t>56% </a:t>
            </a:r>
            <a:r>
              <a:rPr lang="en-US" dirty="0"/>
              <a:t>re-arrested within 3 years  [8]</a:t>
            </a:r>
          </a:p>
          <a:p>
            <a:pPr indent="-914400"/>
            <a:r>
              <a:rPr lang="en-US" b="1" dirty="0"/>
              <a:t>23% </a:t>
            </a:r>
            <a:r>
              <a:rPr lang="en-US" dirty="0"/>
              <a:t>re-incarcerated within 3 year [8]</a:t>
            </a:r>
          </a:p>
        </p:txBody>
      </p:sp>
      <p:sp>
        <p:nvSpPr>
          <p:cNvPr id="60" name="Body Text - Franklin Gothic Book - 22">
            <a:extLst>
              <a:ext uri="{FF2B5EF4-FFF2-40B4-BE49-F238E27FC236}">
                <a16:creationId xmlns:a16="http://schemas.microsoft.com/office/drawing/2014/main" id="{5CC8E3FA-ABA1-455D-9182-A56322736D9C}"/>
              </a:ext>
            </a:extLst>
          </p:cNvPr>
          <p:cNvSpPr txBox="1"/>
          <p:nvPr/>
        </p:nvSpPr>
        <p:spPr>
          <a:xfrm>
            <a:off x="14553524" y="4843750"/>
            <a:ext cx="6400800" cy="4928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b="1" dirty="0">
                <a:latin typeface="ITC Franklin Gothic Std Book"/>
                <a:cs typeface="ITC Franklin Gothic Std Book"/>
              </a:rPr>
              <a:t>Benefits of prison educational programs:</a:t>
            </a:r>
            <a:r>
              <a:rPr lang="en-US" dirty="0">
                <a:latin typeface="ITC Franklin Gothic Std Book"/>
                <a:cs typeface="ITC Franklin Gothic Std Book"/>
              </a:rPr>
              <a:t> [2-5]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Educational programs generally lower recidivism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Educational programs have a positive effect on post-release earnings and employment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College-level classes lower odds of inmates engaging in misconduct while in prison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dirty="0">
                <a:latin typeface="ITC Franklin Gothic Std Book"/>
                <a:cs typeface="ITC Franklin Gothic Std Book"/>
              </a:rPr>
              <a:t>Recidivism is an imperfect outcome 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Only accounts for reported crime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Not measured consistently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Considers returning offenders equally (even when inappropriate)</a:t>
            </a:r>
          </a:p>
        </p:txBody>
      </p:sp>
      <p:sp>
        <p:nvSpPr>
          <p:cNvPr id="64" name="Subhead - Franklin Gothic Demi - 28">
            <a:extLst>
              <a:ext uri="{FF2B5EF4-FFF2-40B4-BE49-F238E27FC236}">
                <a16:creationId xmlns:a16="http://schemas.microsoft.com/office/drawing/2014/main" id="{59E1CE10-89A0-494D-B886-9D132CEE34A1}"/>
              </a:ext>
            </a:extLst>
          </p:cNvPr>
          <p:cNvSpPr txBox="1"/>
          <p:nvPr/>
        </p:nvSpPr>
        <p:spPr>
          <a:xfrm>
            <a:off x="7874058" y="4149866"/>
            <a:ext cx="4521835" cy="661720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RESILIENCE EDUCATION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5" name="Body Text - Franklin Gothic Book - 22">
            <a:extLst>
              <a:ext uri="{FF2B5EF4-FFF2-40B4-BE49-F238E27FC236}">
                <a16:creationId xmlns:a16="http://schemas.microsoft.com/office/drawing/2014/main" id="{88F451BD-80FE-4B58-BFEF-543334188D90}"/>
              </a:ext>
            </a:extLst>
          </p:cNvPr>
          <p:cNvSpPr txBox="1"/>
          <p:nvPr/>
        </p:nvSpPr>
        <p:spPr>
          <a:xfrm>
            <a:off x="7874058" y="4808792"/>
            <a:ext cx="6400800" cy="5541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dirty="0">
                <a:latin typeface="ITC Franklin Gothic Std Book"/>
                <a:cs typeface="ITC Franklin Gothic Std Book"/>
              </a:rPr>
              <a:t>Partnership between Darden School of Business and two correctional facilities in Virginia: Dillwyn (men’s) and Fluvanna (women’s) [1]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dirty="0">
                <a:latin typeface="ITC Franklin Gothic Std Book"/>
                <a:cs typeface="ITC Franklin Gothic Std Book"/>
              </a:rPr>
              <a:t>Provides four entrepreneurial educational programs, taught by Darden MBA students: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Entrepreneurship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Foundations in Business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Financial Capability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Achieving Success in Personal Finance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b="1" dirty="0">
                <a:latin typeface="ITC Franklin Gothic Std Book"/>
                <a:cs typeface="ITC Franklin Gothic Std Book"/>
              </a:rPr>
              <a:t>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Reduce recidivism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Promote financial stability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Deliver high-quality educational programming for underserved populations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Expand perspectives of MBA volunteers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" b="0" dirty="0">
              <a:latin typeface="ITC Franklin Gothic Std Book"/>
              <a:cs typeface="ITC Franklin Gothic Std Book"/>
            </a:endParaRPr>
          </a:p>
        </p:txBody>
      </p:sp>
      <p:sp>
        <p:nvSpPr>
          <p:cNvPr id="67" name="Square">
            <a:extLst>
              <a:ext uri="{FF2B5EF4-FFF2-40B4-BE49-F238E27FC236}">
                <a16:creationId xmlns:a16="http://schemas.microsoft.com/office/drawing/2014/main" id="{0FB3A5FE-0768-4D26-97A1-A5B54E80DD12}"/>
              </a:ext>
            </a:extLst>
          </p:cNvPr>
          <p:cNvSpPr/>
          <p:nvPr/>
        </p:nvSpPr>
        <p:spPr>
          <a:xfrm>
            <a:off x="969429" y="18444158"/>
            <a:ext cx="19984895" cy="540814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800" b="0" dirty="0">
                <a:latin typeface="ITC Franklin Gothic Std Demi"/>
                <a:sym typeface="Helvetica Neue Medium"/>
              </a:rPr>
              <a:t>RECOMMENDATIONS AND NEXT STEPS</a:t>
            </a:r>
            <a:endParaRPr sz="2800" b="0" dirty="0">
              <a:latin typeface="ITC Franklin Gothic Std Demi"/>
              <a:sym typeface="ITC Franklin Gothic Std Demi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F3069E3-BFED-4CDF-A2CE-B0431BC4FAB5}"/>
              </a:ext>
            </a:extLst>
          </p:cNvPr>
          <p:cNvGrpSpPr/>
          <p:nvPr/>
        </p:nvGrpSpPr>
        <p:grpSpPr>
          <a:xfrm>
            <a:off x="7500290" y="23887408"/>
            <a:ext cx="7816979" cy="4308107"/>
            <a:chOff x="8921977" y="1288966"/>
            <a:chExt cx="2926080" cy="2796070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7931A2F-ED71-44E7-936E-F31A6D3F469A}"/>
                </a:ext>
              </a:extLst>
            </p:cNvPr>
            <p:cNvSpPr txBox="1"/>
            <p:nvPr/>
          </p:nvSpPr>
          <p:spPr>
            <a:xfrm>
              <a:off x="8921977" y="1288966"/>
              <a:ext cx="2926080" cy="233436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b="0" noProof="1">
                  <a:solidFill>
                    <a:srgbClr val="213566"/>
                  </a:solidFill>
                  <a:latin typeface="ITC Franklin Gothic Std Demi"/>
                </a:rPr>
                <a:t>Students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32E5FDF-6B72-43DB-8E42-7D911AB48B03}"/>
                </a:ext>
              </a:extLst>
            </p:cNvPr>
            <p:cNvSpPr txBox="1"/>
            <p:nvPr/>
          </p:nvSpPr>
          <p:spPr>
            <a:xfrm>
              <a:off x="8921977" y="1565592"/>
              <a:ext cx="2926080" cy="2519444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application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Obtain consent from applicants to be surveyed in the future (even if they do not end up participating in Resilience Education courses)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Ease application restrictions to increase pool of applicants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Remove GED/high school diploma requirement, limitations on infractions, allow for transfer of prisoners to course-site locations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a match control: eased restrictions should lead to enough new applicants who are qualified but cannot otherwise be included in the course due to space restrictions</a:t>
              </a:r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79B562F-3A4A-4BF4-B479-A3B595DDCD4C}"/>
              </a:ext>
            </a:extLst>
          </p:cNvPr>
          <p:cNvSpPr>
            <a:spLocks noChangeAspect="1"/>
          </p:cNvSpPr>
          <p:nvPr/>
        </p:nvSpPr>
        <p:spPr>
          <a:xfrm>
            <a:off x="6699444" y="23933477"/>
            <a:ext cx="718255" cy="448056"/>
          </a:xfrm>
          <a:custGeom>
            <a:avLst/>
            <a:gdLst>
              <a:gd name="connsiteX0" fmla="*/ 400050 w 800100"/>
              <a:gd name="connsiteY0" fmla="*/ 327660 h 499110"/>
              <a:gd name="connsiteX1" fmla="*/ 470535 w 800100"/>
              <a:gd name="connsiteY1" fmla="*/ 339090 h 499110"/>
              <a:gd name="connsiteX2" fmla="*/ 554355 w 800100"/>
              <a:gd name="connsiteY2" fmla="*/ 379095 h 499110"/>
              <a:gd name="connsiteX3" fmla="*/ 571500 w 800100"/>
              <a:gd name="connsiteY3" fmla="*/ 413385 h 499110"/>
              <a:gd name="connsiteX4" fmla="*/ 571500 w 800100"/>
              <a:gd name="connsiteY4" fmla="*/ 499110 h 499110"/>
              <a:gd name="connsiteX5" fmla="*/ 228600 w 800100"/>
              <a:gd name="connsiteY5" fmla="*/ 499110 h 499110"/>
              <a:gd name="connsiteX6" fmla="*/ 228600 w 800100"/>
              <a:gd name="connsiteY6" fmla="*/ 413385 h 499110"/>
              <a:gd name="connsiteX7" fmla="*/ 245745 w 800100"/>
              <a:gd name="connsiteY7" fmla="*/ 379095 h 499110"/>
              <a:gd name="connsiteX8" fmla="*/ 329565 w 800100"/>
              <a:gd name="connsiteY8" fmla="*/ 339090 h 499110"/>
              <a:gd name="connsiteX9" fmla="*/ 400050 w 800100"/>
              <a:gd name="connsiteY9" fmla="*/ 327660 h 499110"/>
              <a:gd name="connsiteX10" fmla="*/ 628650 w 800100"/>
              <a:gd name="connsiteY10" fmla="*/ 194310 h 499110"/>
              <a:gd name="connsiteX11" fmla="*/ 699135 w 800100"/>
              <a:gd name="connsiteY11" fmla="*/ 205740 h 499110"/>
              <a:gd name="connsiteX12" fmla="*/ 782955 w 800100"/>
              <a:gd name="connsiteY12" fmla="*/ 245745 h 499110"/>
              <a:gd name="connsiteX13" fmla="*/ 800100 w 800100"/>
              <a:gd name="connsiteY13" fmla="*/ 280035 h 499110"/>
              <a:gd name="connsiteX14" fmla="*/ 800100 w 800100"/>
              <a:gd name="connsiteY14" fmla="*/ 365760 h 499110"/>
              <a:gd name="connsiteX15" fmla="*/ 592455 w 800100"/>
              <a:gd name="connsiteY15" fmla="*/ 365760 h 499110"/>
              <a:gd name="connsiteX16" fmla="*/ 577215 w 800100"/>
              <a:gd name="connsiteY16" fmla="*/ 348615 h 499110"/>
              <a:gd name="connsiteX17" fmla="*/ 489585 w 800100"/>
              <a:gd name="connsiteY17" fmla="*/ 304800 h 499110"/>
              <a:gd name="connsiteX18" fmla="*/ 523875 w 800100"/>
              <a:gd name="connsiteY18" fmla="*/ 220980 h 499110"/>
              <a:gd name="connsiteX19" fmla="*/ 523875 w 800100"/>
              <a:gd name="connsiteY19" fmla="*/ 219075 h 499110"/>
              <a:gd name="connsiteX20" fmla="*/ 558165 w 800100"/>
              <a:gd name="connsiteY20" fmla="*/ 205740 h 499110"/>
              <a:gd name="connsiteX21" fmla="*/ 628650 w 800100"/>
              <a:gd name="connsiteY21" fmla="*/ 194310 h 499110"/>
              <a:gd name="connsiteX22" fmla="*/ 171450 w 800100"/>
              <a:gd name="connsiteY22" fmla="*/ 194310 h 499110"/>
              <a:gd name="connsiteX23" fmla="*/ 241935 w 800100"/>
              <a:gd name="connsiteY23" fmla="*/ 205740 h 499110"/>
              <a:gd name="connsiteX24" fmla="*/ 276225 w 800100"/>
              <a:gd name="connsiteY24" fmla="*/ 217170 h 499110"/>
              <a:gd name="connsiteX25" fmla="*/ 276225 w 800100"/>
              <a:gd name="connsiteY25" fmla="*/ 220980 h 499110"/>
              <a:gd name="connsiteX26" fmla="*/ 310515 w 800100"/>
              <a:gd name="connsiteY26" fmla="*/ 304800 h 499110"/>
              <a:gd name="connsiteX27" fmla="*/ 222885 w 800100"/>
              <a:gd name="connsiteY27" fmla="*/ 348615 h 499110"/>
              <a:gd name="connsiteX28" fmla="*/ 205740 w 800100"/>
              <a:gd name="connsiteY28" fmla="*/ 365760 h 499110"/>
              <a:gd name="connsiteX29" fmla="*/ 0 w 800100"/>
              <a:gd name="connsiteY29" fmla="*/ 365760 h 499110"/>
              <a:gd name="connsiteX30" fmla="*/ 0 w 800100"/>
              <a:gd name="connsiteY30" fmla="*/ 280035 h 499110"/>
              <a:gd name="connsiteX31" fmla="*/ 17145 w 800100"/>
              <a:gd name="connsiteY31" fmla="*/ 245745 h 499110"/>
              <a:gd name="connsiteX32" fmla="*/ 100965 w 800100"/>
              <a:gd name="connsiteY32" fmla="*/ 205740 h 499110"/>
              <a:gd name="connsiteX33" fmla="*/ 171450 w 800100"/>
              <a:gd name="connsiteY33" fmla="*/ 194310 h 499110"/>
              <a:gd name="connsiteX34" fmla="*/ 400050 w 800100"/>
              <a:gd name="connsiteY34" fmla="*/ 133350 h 499110"/>
              <a:gd name="connsiteX35" fmla="*/ 485775 w 800100"/>
              <a:gd name="connsiteY35" fmla="*/ 219075 h 499110"/>
              <a:gd name="connsiteX36" fmla="*/ 400050 w 800100"/>
              <a:gd name="connsiteY36" fmla="*/ 304800 h 499110"/>
              <a:gd name="connsiteX37" fmla="*/ 314325 w 800100"/>
              <a:gd name="connsiteY37" fmla="*/ 219075 h 499110"/>
              <a:gd name="connsiteX38" fmla="*/ 400050 w 800100"/>
              <a:gd name="connsiteY38" fmla="*/ 133350 h 499110"/>
              <a:gd name="connsiteX39" fmla="*/ 628650 w 800100"/>
              <a:gd name="connsiteY39" fmla="*/ 0 h 499110"/>
              <a:gd name="connsiteX40" fmla="*/ 714375 w 800100"/>
              <a:gd name="connsiteY40" fmla="*/ 85725 h 499110"/>
              <a:gd name="connsiteX41" fmla="*/ 628650 w 800100"/>
              <a:gd name="connsiteY41" fmla="*/ 171450 h 499110"/>
              <a:gd name="connsiteX42" fmla="*/ 542925 w 800100"/>
              <a:gd name="connsiteY42" fmla="*/ 85725 h 499110"/>
              <a:gd name="connsiteX43" fmla="*/ 628650 w 800100"/>
              <a:gd name="connsiteY43" fmla="*/ 0 h 499110"/>
              <a:gd name="connsiteX44" fmla="*/ 171450 w 800100"/>
              <a:gd name="connsiteY44" fmla="*/ 0 h 499110"/>
              <a:gd name="connsiteX45" fmla="*/ 257175 w 800100"/>
              <a:gd name="connsiteY45" fmla="*/ 85725 h 499110"/>
              <a:gd name="connsiteX46" fmla="*/ 171450 w 800100"/>
              <a:gd name="connsiteY46" fmla="*/ 171450 h 499110"/>
              <a:gd name="connsiteX47" fmla="*/ 85725 w 800100"/>
              <a:gd name="connsiteY47" fmla="*/ 85725 h 499110"/>
              <a:gd name="connsiteX48" fmla="*/ 171450 w 800100"/>
              <a:gd name="connsiteY48" fmla="*/ 0 h 49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800100" h="499110">
                <a:moveTo>
                  <a:pt x="400050" y="327660"/>
                </a:moveTo>
                <a:cubicBezTo>
                  <a:pt x="424815" y="327660"/>
                  <a:pt x="449580" y="333375"/>
                  <a:pt x="470535" y="339090"/>
                </a:cubicBezTo>
                <a:cubicBezTo>
                  <a:pt x="501015" y="346710"/>
                  <a:pt x="531495" y="360045"/>
                  <a:pt x="554355" y="379095"/>
                </a:cubicBezTo>
                <a:cubicBezTo>
                  <a:pt x="565785" y="386715"/>
                  <a:pt x="571500" y="400050"/>
                  <a:pt x="571500" y="413385"/>
                </a:cubicBezTo>
                <a:lnTo>
                  <a:pt x="571500" y="499110"/>
                </a:lnTo>
                <a:lnTo>
                  <a:pt x="228600" y="499110"/>
                </a:lnTo>
                <a:lnTo>
                  <a:pt x="228600" y="413385"/>
                </a:lnTo>
                <a:cubicBezTo>
                  <a:pt x="228600" y="400050"/>
                  <a:pt x="234315" y="388620"/>
                  <a:pt x="245745" y="379095"/>
                </a:cubicBezTo>
                <a:cubicBezTo>
                  <a:pt x="270510" y="361950"/>
                  <a:pt x="299085" y="346710"/>
                  <a:pt x="329565" y="339090"/>
                </a:cubicBezTo>
                <a:cubicBezTo>
                  <a:pt x="352425" y="331470"/>
                  <a:pt x="377190" y="327660"/>
                  <a:pt x="400050" y="327660"/>
                </a:cubicBezTo>
                <a:close/>
                <a:moveTo>
                  <a:pt x="628650" y="194310"/>
                </a:moveTo>
                <a:cubicBezTo>
                  <a:pt x="653415" y="194310"/>
                  <a:pt x="678180" y="200025"/>
                  <a:pt x="699135" y="205740"/>
                </a:cubicBezTo>
                <a:cubicBezTo>
                  <a:pt x="729615" y="213360"/>
                  <a:pt x="760095" y="226695"/>
                  <a:pt x="782955" y="245745"/>
                </a:cubicBezTo>
                <a:cubicBezTo>
                  <a:pt x="794385" y="253365"/>
                  <a:pt x="800100" y="266700"/>
                  <a:pt x="800100" y="280035"/>
                </a:cubicBezTo>
                <a:lnTo>
                  <a:pt x="800100" y="365760"/>
                </a:lnTo>
                <a:lnTo>
                  <a:pt x="592455" y="365760"/>
                </a:lnTo>
                <a:cubicBezTo>
                  <a:pt x="588645" y="358140"/>
                  <a:pt x="582930" y="354330"/>
                  <a:pt x="577215" y="348615"/>
                </a:cubicBezTo>
                <a:cubicBezTo>
                  <a:pt x="554355" y="331470"/>
                  <a:pt x="525780" y="316230"/>
                  <a:pt x="489585" y="304800"/>
                </a:cubicBezTo>
                <a:cubicBezTo>
                  <a:pt x="510540" y="283845"/>
                  <a:pt x="523875" y="253365"/>
                  <a:pt x="523875" y="220980"/>
                </a:cubicBezTo>
                <a:lnTo>
                  <a:pt x="523875" y="219075"/>
                </a:lnTo>
                <a:cubicBezTo>
                  <a:pt x="535305" y="213360"/>
                  <a:pt x="546735" y="209550"/>
                  <a:pt x="558165" y="205740"/>
                </a:cubicBezTo>
                <a:cubicBezTo>
                  <a:pt x="581025" y="198120"/>
                  <a:pt x="605790" y="194310"/>
                  <a:pt x="628650" y="194310"/>
                </a:cubicBezTo>
                <a:close/>
                <a:moveTo>
                  <a:pt x="171450" y="194310"/>
                </a:moveTo>
                <a:cubicBezTo>
                  <a:pt x="196215" y="194310"/>
                  <a:pt x="220980" y="200025"/>
                  <a:pt x="241935" y="205740"/>
                </a:cubicBezTo>
                <a:cubicBezTo>
                  <a:pt x="253365" y="207645"/>
                  <a:pt x="264795" y="213360"/>
                  <a:pt x="276225" y="217170"/>
                </a:cubicBezTo>
                <a:cubicBezTo>
                  <a:pt x="276225" y="219075"/>
                  <a:pt x="276225" y="219075"/>
                  <a:pt x="276225" y="220980"/>
                </a:cubicBezTo>
                <a:cubicBezTo>
                  <a:pt x="276225" y="253365"/>
                  <a:pt x="289560" y="281940"/>
                  <a:pt x="310515" y="304800"/>
                </a:cubicBezTo>
                <a:cubicBezTo>
                  <a:pt x="280035" y="314325"/>
                  <a:pt x="249555" y="329565"/>
                  <a:pt x="222885" y="348615"/>
                </a:cubicBezTo>
                <a:cubicBezTo>
                  <a:pt x="215265" y="354330"/>
                  <a:pt x="211455" y="358140"/>
                  <a:pt x="205740" y="365760"/>
                </a:cubicBezTo>
                <a:lnTo>
                  <a:pt x="0" y="365760"/>
                </a:lnTo>
                <a:lnTo>
                  <a:pt x="0" y="280035"/>
                </a:lnTo>
                <a:cubicBezTo>
                  <a:pt x="0" y="266700"/>
                  <a:pt x="5715" y="253365"/>
                  <a:pt x="17145" y="245745"/>
                </a:cubicBezTo>
                <a:cubicBezTo>
                  <a:pt x="41910" y="228600"/>
                  <a:pt x="70485" y="215265"/>
                  <a:pt x="100965" y="205740"/>
                </a:cubicBezTo>
                <a:cubicBezTo>
                  <a:pt x="123825" y="198120"/>
                  <a:pt x="148590" y="194310"/>
                  <a:pt x="171450" y="194310"/>
                </a:cubicBezTo>
                <a:close/>
                <a:moveTo>
                  <a:pt x="400050" y="133350"/>
                </a:moveTo>
                <a:cubicBezTo>
                  <a:pt x="447395" y="133350"/>
                  <a:pt x="485775" y="171730"/>
                  <a:pt x="485775" y="219075"/>
                </a:cubicBezTo>
                <a:cubicBezTo>
                  <a:pt x="485775" y="266420"/>
                  <a:pt x="447395" y="304800"/>
                  <a:pt x="400050" y="304800"/>
                </a:cubicBezTo>
                <a:cubicBezTo>
                  <a:pt x="352705" y="304800"/>
                  <a:pt x="314325" y="266420"/>
                  <a:pt x="314325" y="219075"/>
                </a:cubicBezTo>
                <a:cubicBezTo>
                  <a:pt x="314325" y="171730"/>
                  <a:pt x="352705" y="133350"/>
                  <a:pt x="400050" y="133350"/>
                </a:cubicBezTo>
                <a:close/>
                <a:moveTo>
                  <a:pt x="628650" y="0"/>
                </a:moveTo>
                <a:cubicBezTo>
                  <a:pt x="675995" y="0"/>
                  <a:pt x="714375" y="38380"/>
                  <a:pt x="714375" y="85725"/>
                </a:cubicBezTo>
                <a:cubicBezTo>
                  <a:pt x="714375" y="133070"/>
                  <a:pt x="675995" y="171450"/>
                  <a:pt x="628650" y="171450"/>
                </a:cubicBezTo>
                <a:cubicBezTo>
                  <a:pt x="581305" y="171450"/>
                  <a:pt x="542925" y="133070"/>
                  <a:pt x="542925" y="85725"/>
                </a:cubicBezTo>
                <a:cubicBezTo>
                  <a:pt x="542925" y="38380"/>
                  <a:pt x="581305" y="0"/>
                  <a:pt x="628650" y="0"/>
                </a:cubicBezTo>
                <a:close/>
                <a:moveTo>
                  <a:pt x="171450" y="0"/>
                </a:moveTo>
                <a:cubicBezTo>
                  <a:pt x="218795" y="0"/>
                  <a:pt x="257175" y="38380"/>
                  <a:pt x="257175" y="85725"/>
                </a:cubicBezTo>
                <a:cubicBezTo>
                  <a:pt x="257175" y="133070"/>
                  <a:pt x="218795" y="171450"/>
                  <a:pt x="171450" y="171450"/>
                </a:cubicBezTo>
                <a:cubicBezTo>
                  <a:pt x="124105" y="171450"/>
                  <a:pt x="85725" y="133070"/>
                  <a:pt x="85725" y="85725"/>
                </a:cubicBezTo>
                <a:cubicBezTo>
                  <a:pt x="85725" y="38380"/>
                  <a:pt x="124105" y="0"/>
                  <a:pt x="171450" y="0"/>
                </a:cubicBezTo>
                <a:close/>
              </a:path>
            </a:pathLst>
          </a:custGeom>
          <a:solidFill>
            <a:srgbClr val="21356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8DB91E-555D-4E05-860C-73CFA60DDA25}"/>
              </a:ext>
            </a:extLst>
          </p:cNvPr>
          <p:cNvGrpSpPr/>
          <p:nvPr/>
        </p:nvGrpSpPr>
        <p:grpSpPr>
          <a:xfrm>
            <a:off x="6492535" y="19226935"/>
            <a:ext cx="8896052" cy="5021377"/>
            <a:chOff x="6592740" y="21596364"/>
            <a:chExt cx="9382800" cy="535918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7A04DE-FC0F-47A4-AE57-C3C4A48DFAAB}"/>
                </a:ext>
              </a:extLst>
            </p:cNvPr>
            <p:cNvGrpSpPr/>
            <p:nvPr/>
          </p:nvGrpSpPr>
          <p:grpSpPr>
            <a:xfrm>
              <a:off x="6592740" y="21596364"/>
              <a:ext cx="3609391" cy="3609391"/>
              <a:chOff x="4286244" y="21543613"/>
              <a:chExt cx="3657600" cy="3657600"/>
            </a:xfrm>
          </p:grpSpPr>
          <p:sp>
            <p:nvSpPr>
              <p:cNvPr id="90" name="Shape">
                <a:extLst>
                  <a:ext uri="{FF2B5EF4-FFF2-40B4-BE49-F238E27FC236}">
                    <a16:creationId xmlns:a16="http://schemas.microsoft.com/office/drawing/2014/main" id="{A201C978-AA92-4A34-9D51-2A134022C9BF}"/>
                  </a:ext>
                </a:extLst>
              </p:cNvPr>
              <p:cNvSpPr/>
              <p:nvPr/>
            </p:nvSpPr>
            <p:spPr>
              <a:xfrm>
                <a:off x="4286244" y="21543613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208" y="756"/>
                    </a:moveTo>
                    <a:lnTo>
                      <a:pt x="8905" y="2581"/>
                    </a:lnTo>
                    <a:cubicBezTo>
                      <a:pt x="8857" y="2869"/>
                      <a:pt x="8650" y="3101"/>
                      <a:pt x="8373" y="3190"/>
                    </a:cubicBezTo>
                    <a:cubicBezTo>
                      <a:pt x="7945" y="3327"/>
                      <a:pt x="7533" y="3500"/>
                      <a:pt x="7140" y="3704"/>
                    </a:cubicBezTo>
                    <a:cubicBezTo>
                      <a:pt x="6879" y="3839"/>
                      <a:pt x="6566" y="3822"/>
                      <a:pt x="6328" y="3651"/>
                    </a:cubicBezTo>
                    <a:lnTo>
                      <a:pt x="4820" y="2573"/>
                    </a:lnTo>
                    <a:cubicBezTo>
                      <a:pt x="4458" y="2314"/>
                      <a:pt x="4026" y="2304"/>
                      <a:pt x="3783" y="2546"/>
                    </a:cubicBezTo>
                    <a:lnTo>
                      <a:pt x="2543" y="3786"/>
                    </a:lnTo>
                    <a:cubicBezTo>
                      <a:pt x="2299" y="4030"/>
                      <a:pt x="2311" y="4461"/>
                      <a:pt x="2570" y="4822"/>
                    </a:cubicBezTo>
                    <a:lnTo>
                      <a:pt x="3650" y="6334"/>
                    </a:lnTo>
                    <a:cubicBezTo>
                      <a:pt x="3820" y="6572"/>
                      <a:pt x="3838" y="6884"/>
                      <a:pt x="3702" y="7144"/>
                    </a:cubicBezTo>
                    <a:cubicBezTo>
                      <a:pt x="3500" y="7536"/>
                      <a:pt x="3328" y="7947"/>
                      <a:pt x="3192" y="8373"/>
                    </a:cubicBezTo>
                    <a:cubicBezTo>
                      <a:pt x="3103" y="8651"/>
                      <a:pt x="2870" y="8859"/>
                      <a:pt x="2582" y="8907"/>
                    </a:cubicBezTo>
                    <a:lnTo>
                      <a:pt x="752" y="9211"/>
                    </a:lnTo>
                    <a:cubicBezTo>
                      <a:pt x="314" y="9284"/>
                      <a:pt x="0" y="9581"/>
                      <a:pt x="0" y="9925"/>
                    </a:cubicBezTo>
                    <a:lnTo>
                      <a:pt x="0" y="11679"/>
                    </a:lnTo>
                    <a:cubicBezTo>
                      <a:pt x="0" y="12023"/>
                      <a:pt x="314" y="12320"/>
                      <a:pt x="752" y="12393"/>
                    </a:cubicBezTo>
                    <a:lnTo>
                      <a:pt x="2582" y="12697"/>
                    </a:lnTo>
                    <a:cubicBezTo>
                      <a:pt x="2870" y="12746"/>
                      <a:pt x="3103" y="12953"/>
                      <a:pt x="3192" y="13231"/>
                    </a:cubicBezTo>
                    <a:cubicBezTo>
                      <a:pt x="3328" y="13658"/>
                      <a:pt x="3500" y="14068"/>
                      <a:pt x="3702" y="14460"/>
                    </a:cubicBezTo>
                    <a:cubicBezTo>
                      <a:pt x="3837" y="14720"/>
                      <a:pt x="3820" y="15033"/>
                      <a:pt x="3650" y="15271"/>
                    </a:cubicBezTo>
                    <a:lnTo>
                      <a:pt x="2570" y="16782"/>
                    </a:lnTo>
                    <a:cubicBezTo>
                      <a:pt x="2311" y="17143"/>
                      <a:pt x="2300" y="17575"/>
                      <a:pt x="2543" y="17818"/>
                    </a:cubicBezTo>
                    <a:lnTo>
                      <a:pt x="3783" y="19058"/>
                    </a:lnTo>
                    <a:cubicBezTo>
                      <a:pt x="4026" y="19301"/>
                      <a:pt x="4457" y="19290"/>
                      <a:pt x="4820" y="19031"/>
                    </a:cubicBezTo>
                    <a:lnTo>
                      <a:pt x="6328" y="17953"/>
                    </a:lnTo>
                    <a:cubicBezTo>
                      <a:pt x="6567" y="17782"/>
                      <a:pt x="6879" y="17765"/>
                      <a:pt x="7140" y="17901"/>
                    </a:cubicBezTo>
                    <a:cubicBezTo>
                      <a:pt x="7533" y="18105"/>
                      <a:pt x="7945" y="18277"/>
                      <a:pt x="8373" y="18414"/>
                    </a:cubicBezTo>
                    <a:cubicBezTo>
                      <a:pt x="8650" y="18503"/>
                      <a:pt x="8858" y="18736"/>
                      <a:pt x="8905" y="19024"/>
                    </a:cubicBezTo>
                    <a:lnTo>
                      <a:pt x="9208" y="20848"/>
                    </a:lnTo>
                    <a:cubicBezTo>
                      <a:pt x="9282" y="21286"/>
                      <a:pt x="9578" y="21600"/>
                      <a:pt x="9922" y="21600"/>
                    </a:cubicBezTo>
                    <a:lnTo>
                      <a:pt x="11677" y="21600"/>
                    </a:lnTo>
                    <a:cubicBezTo>
                      <a:pt x="12020" y="21600"/>
                      <a:pt x="12317" y="21286"/>
                      <a:pt x="12391" y="20848"/>
                    </a:cubicBezTo>
                    <a:lnTo>
                      <a:pt x="12693" y="19029"/>
                    </a:lnTo>
                    <a:cubicBezTo>
                      <a:pt x="12741" y="18740"/>
                      <a:pt x="12948" y="18508"/>
                      <a:pt x="13227" y="18419"/>
                    </a:cubicBezTo>
                    <a:cubicBezTo>
                      <a:pt x="13657" y="18281"/>
                      <a:pt x="14073" y="18108"/>
                      <a:pt x="14468" y="17904"/>
                    </a:cubicBezTo>
                    <a:cubicBezTo>
                      <a:pt x="14728" y="17769"/>
                      <a:pt x="15040" y="17786"/>
                      <a:pt x="15278" y="17956"/>
                    </a:cubicBezTo>
                    <a:lnTo>
                      <a:pt x="16779" y="19029"/>
                    </a:lnTo>
                    <a:cubicBezTo>
                      <a:pt x="17141" y="19288"/>
                      <a:pt x="17573" y="19298"/>
                      <a:pt x="17816" y="19056"/>
                    </a:cubicBezTo>
                    <a:lnTo>
                      <a:pt x="19056" y="17816"/>
                    </a:lnTo>
                    <a:cubicBezTo>
                      <a:pt x="19300" y="17572"/>
                      <a:pt x="19288" y="17141"/>
                      <a:pt x="19030" y="16780"/>
                    </a:cubicBezTo>
                    <a:lnTo>
                      <a:pt x="17959" y="15282"/>
                    </a:lnTo>
                    <a:cubicBezTo>
                      <a:pt x="17789" y="15043"/>
                      <a:pt x="17772" y="14731"/>
                      <a:pt x="17907" y="14471"/>
                    </a:cubicBezTo>
                    <a:cubicBezTo>
                      <a:pt x="18114" y="14074"/>
                      <a:pt x="18287" y="13658"/>
                      <a:pt x="18425" y="13226"/>
                    </a:cubicBezTo>
                    <a:cubicBezTo>
                      <a:pt x="18514" y="12948"/>
                      <a:pt x="18747" y="12739"/>
                      <a:pt x="19035" y="12692"/>
                    </a:cubicBezTo>
                    <a:lnTo>
                      <a:pt x="20848" y="12391"/>
                    </a:lnTo>
                    <a:cubicBezTo>
                      <a:pt x="21286" y="12318"/>
                      <a:pt x="21600" y="12021"/>
                      <a:pt x="21600" y="11677"/>
                    </a:cubicBezTo>
                    <a:lnTo>
                      <a:pt x="21600" y="9923"/>
                    </a:lnTo>
                    <a:cubicBezTo>
                      <a:pt x="21600" y="9579"/>
                      <a:pt x="21286" y="9282"/>
                      <a:pt x="20848" y="9209"/>
                    </a:cubicBezTo>
                    <a:lnTo>
                      <a:pt x="19035" y="8908"/>
                    </a:lnTo>
                    <a:cubicBezTo>
                      <a:pt x="18747" y="8860"/>
                      <a:pt x="18514" y="8652"/>
                      <a:pt x="18425" y="8374"/>
                    </a:cubicBezTo>
                    <a:cubicBezTo>
                      <a:pt x="18287" y="7942"/>
                      <a:pt x="18113" y="7526"/>
                      <a:pt x="17907" y="7129"/>
                    </a:cubicBezTo>
                    <a:cubicBezTo>
                      <a:pt x="17772" y="6869"/>
                      <a:pt x="17789" y="6556"/>
                      <a:pt x="17959" y="6318"/>
                    </a:cubicBezTo>
                    <a:lnTo>
                      <a:pt x="19030" y="4820"/>
                    </a:lnTo>
                    <a:cubicBezTo>
                      <a:pt x="19289" y="4459"/>
                      <a:pt x="19300" y="4027"/>
                      <a:pt x="19056" y="3784"/>
                    </a:cubicBezTo>
                    <a:lnTo>
                      <a:pt x="17816" y="2544"/>
                    </a:lnTo>
                    <a:cubicBezTo>
                      <a:pt x="17573" y="2301"/>
                      <a:pt x="17142" y="2312"/>
                      <a:pt x="16779" y="2571"/>
                    </a:cubicBezTo>
                    <a:lnTo>
                      <a:pt x="15278" y="3644"/>
                    </a:lnTo>
                    <a:cubicBezTo>
                      <a:pt x="15040" y="3814"/>
                      <a:pt x="14728" y="3832"/>
                      <a:pt x="14468" y="3696"/>
                    </a:cubicBezTo>
                    <a:cubicBezTo>
                      <a:pt x="14073" y="3492"/>
                      <a:pt x="13658" y="3319"/>
                      <a:pt x="13227" y="3181"/>
                    </a:cubicBezTo>
                    <a:cubicBezTo>
                      <a:pt x="12948" y="3092"/>
                      <a:pt x="12741" y="2860"/>
                      <a:pt x="12693" y="2571"/>
                    </a:cubicBezTo>
                    <a:lnTo>
                      <a:pt x="12391" y="752"/>
                    </a:lnTo>
                    <a:cubicBezTo>
                      <a:pt x="12317" y="314"/>
                      <a:pt x="12020" y="0"/>
                      <a:pt x="11677" y="0"/>
                    </a:cubicBezTo>
                    <a:lnTo>
                      <a:pt x="9922" y="0"/>
                    </a:lnTo>
                    <a:cubicBezTo>
                      <a:pt x="9578" y="4"/>
                      <a:pt x="9282" y="318"/>
                      <a:pt x="9208" y="756"/>
                    </a:cubicBezTo>
                    <a:close/>
                    <a:moveTo>
                      <a:pt x="17005" y="10399"/>
                    </a:moveTo>
                    <a:cubicBezTo>
                      <a:pt x="17244" y="14142"/>
                      <a:pt x="14146" y="17241"/>
                      <a:pt x="10403" y="17002"/>
                    </a:cubicBezTo>
                    <a:cubicBezTo>
                      <a:pt x="7308" y="16804"/>
                      <a:pt x="4810" y="14305"/>
                      <a:pt x="4611" y="11211"/>
                    </a:cubicBezTo>
                    <a:cubicBezTo>
                      <a:pt x="4372" y="7467"/>
                      <a:pt x="7471" y="4368"/>
                      <a:pt x="11214" y="4608"/>
                    </a:cubicBezTo>
                    <a:cubicBezTo>
                      <a:pt x="14308" y="4805"/>
                      <a:pt x="16807" y="7305"/>
                      <a:pt x="17005" y="10399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2" name="Shape">
                <a:extLst>
                  <a:ext uri="{FF2B5EF4-FFF2-40B4-BE49-F238E27FC236}">
                    <a16:creationId xmlns:a16="http://schemas.microsoft.com/office/drawing/2014/main" id="{216526CD-6EB3-4CBC-9888-19E476F1B5F3}"/>
                  </a:ext>
                </a:extLst>
              </p:cNvPr>
              <p:cNvSpPr/>
              <p:nvPr/>
            </p:nvSpPr>
            <p:spPr>
              <a:xfrm>
                <a:off x="5200290" y="22450173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4" h="19674" extrusionOk="0">
                    <a:moveTo>
                      <a:pt x="2886" y="2886"/>
                    </a:moveTo>
                    <a:cubicBezTo>
                      <a:pt x="6731" y="-958"/>
                      <a:pt x="12960" y="-963"/>
                      <a:pt x="16798" y="2876"/>
                    </a:cubicBezTo>
                    <a:cubicBezTo>
                      <a:pt x="20637" y="6714"/>
                      <a:pt x="20632" y="12943"/>
                      <a:pt x="16788" y="16788"/>
                    </a:cubicBezTo>
                    <a:cubicBezTo>
                      <a:pt x="12943" y="20632"/>
                      <a:pt x="6714" y="20637"/>
                      <a:pt x="2876" y="16798"/>
                    </a:cubicBezTo>
                    <a:cubicBezTo>
                      <a:pt x="-963" y="12960"/>
                      <a:pt x="-958" y="6731"/>
                      <a:pt x="2886" y="2886"/>
                    </a:cubicBezTo>
                    <a:close/>
                  </a:path>
                </a:pathLst>
              </a:custGeom>
              <a:solidFill>
                <a:srgbClr val="EE6419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pic>
            <p:nvPicPr>
              <p:cNvPr id="105" name="Graphic 104" descr="Classroom">
                <a:extLst>
                  <a:ext uri="{FF2B5EF4-FFF2-40B4-BE49-F238E27FC236}">
                    <a16:creationId xmlns:a16="http://schemas.microsoft.com/office/drawing/2014/main" id="{7AA83A98-F51D-4AF9-A8C7-87C1400A9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344668" y="22568814"/>
                <a:ext cx="1497224" cy="1497224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469755-06D6-4EB6-A4F9-4A167096D9AC}"/>
                </a:ext>
              </a:extLst>
            </p:cNvPr>
            <p:cNvGrpSpPr/>
            <p:nvPr/>
          </p:nvGrpSpPr>
          <p:grpSpPr>
            <a:xfrm>
              <a:off x="9297531" y="23346608"/>
              <a:ext cx="3608937" cy="3608937"/>
              <a:chOff x="8240103" y="23465515"/>
              <a:chExt cx="3657600" cy="3657600"/>
            </a:xfrm>
          </p:grpSpPr>
          <p:sp>
            <p:nvSpPr>
              <p:cNvPr id="89" name="Shape">
                <a:extLst>
                  <a:ext uri="{FF2B5EF4-FFF2-40B4-BE49-F238E27FC236}">
                    <a16:creationId xmlns:a16="http://schemas.microsoft.com/office/drawing/2014/main" id="{62D4F3A0-1BEB-4AFE-B023-8829BBB4D2E5}"/>
                  </a:ext>
                </a:extLst>
              </p:cNvPr>
              <p:cNvSpPr/>
              <p:nvPr/>
            </p:nvSpPr>
            <p:spPr>
              <a:xfrm>
                <a:off x="8240103" y="23465515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209" y="756"/>
                    </a:moveTo>
                    <a:lnTo>
                      <a:pt x="8906" y="2581"/>
                    </a:lnTo>
                    <a:cubicBezTo>
                      <a:pt x="8857" y="2869"/>
                      <a:pt x="8650" y="3101"/>
                      <a:pt x="8373" y="3190"/>
                    </a:cubicBezTo>
                    <a:cubicBezTo>
                      <a:pt x="7945" y="3327"/>
                      <a:pt x="7533" y="3500"/>
                      <a:pt x="7140" y="3704"/>
                    </a:cubicBezTo>
                    <a:cubicBezTo>
                      <a:pt x="6880" y="3839"/>
                      <a:pt x="6566" y="3822"/>
                      <a:pt x="6328" y="3651"/>
                    </a:cubicBezTo>
                    <a:lnTo>
                      <a:pt x="4820" y="2573"/>
                    </a:lnTo>
                    <a:cubicBezTo>
                      <a:pt x="4459" y="2314"/>
                      <a:pt x="4027" y="2304"/>
                      <a:pt x="3784" y="2546"/>
                    </a:cubicBezTo>
                    <a:lnTo>
                      <a:pt x="2544" y="3786"/>
                    </a:lnTo>
                    <a:cubicBezTo>
                      <a:pt x="2301" y="4030"/>
                      <a:pt x="2312" y="4461"/>
                      <a:pt x="2570" y="4822"/>
                    </a:cubicBezTo>
                    <a:lnTo>
                      <a:pt x="3650" y="6334"/>
                    </a:lnTo>
                    <a:cubicBezTo>
                      <a:pt x="3820" y="6572"/>
                      <a:pt x="3838" y="6884"/>
                      <a:pt x="3703" y="7144"/>
                    </a:cubicBezTo>
                    <a:cubicBezTo>
                      <a:pt x="3500" y="7536"/>
                      <a:pt x="3328" y="7947"/>
                      <a:pt x="3192" y="8373"/>
                    </a:cubicBezTo>
                    <a:cubicBezTo>
                      <a:pt x="3103" y="8651"/>
                      <a:pt x="2870" y="8859"/>
                      <a:pt x="2582" y="8907"/>
                    </a:cubicBezTo>
                    <a:lnTo>
                      <a:pt x="752" y="9211"/>
                    </a:lnTo>
                    <a:cubicBezTo>
                      <a:pt x="314" y="9284"/>
                      <a:pt x="0" y="9581"/>
                      <a:pt x="0" y="9925"/>
                    </a:cubicBezTo>
                    <a:lnTo>
                      <a:pt x="0" y="11679"/>
                    </a:lnTo>
                    <a:cubicBezTo>
                      <a:pt x="0" y="12023"/>
                      <a:pt x="314" y="12320"/>
                      <a:pt x="752" y="12393"/>
                    </a:cubicBezTo>
                    <a:lnTo>
                      <a:pt x="2582" y="12697"/>
                    </a:lnTo>
                    <a:cubicBezTo>
                      <a:pt x="2870" y="12746"/>
                      <a:pt x="3103" y="12953"/>
                      <a:pt x="3192" y="13231"/>
                    </a:cubicBezTo>
                    <a:cubicBezTo>
                      <a:pt x="3328" y="13658"/>
                      <a:pt x="3500" y="14068"/>
                      <a:pt x="3703" y="14460"/>
                    </a:cubicBezTo>
                    <a:cubicBezTo>
                      <a:pt x="3837" y="14720"/>
                      <a:pt x="3820" y="15033"/>
                      <a:pt x="3650" y="15271"/>
                    </a:cubicBezTo>
                    <a:lnTo>
                      <a:pt x="2570" y="16782"/>
                    </a:lnTo>
                    <a:cubicBezTo>
                      <a:pt x="2311" y="17143"/>
                      <a:pt x="2301" y="17575"/>
                      <a:pt x="2544" y="17818"/>
                    </a:cubicBezTo>
                    <a:lnTo>
                      <a:pt x="3784" y="19058"/>
                    </a:lnTo>
                    <a:cubicBezTo>
                      <a:pt x="4028" y="19301"/>
                      <a:pt x="4459" y="19290"/>
                      <a:pt x="4820" y="19031"/>
                    </a:cubicBezTo>
                    <a:lnTo>
                      <a:pt x="6328" y="17953"/>
                    </a:lnTo>
                    <a:cubicBezTo>
                      <a:pt x="6567" y="17782"/>
                      <a:pt x="6880" y="17765"/>
                      <a:pt x="7140" y="17901"/>
                    </a:cubicBezTo>
                    <a:cubicBezTo>
                      <a:pt x="7533" y="18105"/>
                      <a:pt x="7945" y="18277"/>
                      <a:pt x="8373" y="18414"/>
                    </a:cubicBezTo>
                    <a:cubicBezTo>
                      <a:pt x="8651" y="18503"/>
                      <a:pt x="8858" y="18736"/>
                      <a:pt x="8906" y="19024"/>
                    </a:cubicBezTo>
                    <a:lnTo>
                      <a:pt x="9209" y="20848"/>
                    </a:lnTo>
                    <a:cubicBezTo>
                      <a:pt x="9282" y="21286"/>
                      <a:pt x="9579" y="21600"/>
                      <a:pt x="9923" y="21600"/>
                    </a:cubicBezTo>
                    <a:lnTo>
                      <a:pt x="11677" y="21600"/>
                    </a:lnTo>
                    <a:cubicBezTo>
                      <a:pt x="12021" y="21600"/>
                      <a:pt x="12318" y="21286"/>
                      <a:pt x="12391" y="20848"/>
                    </a:cubicBezTo>
                    <a:lnTo>
                      <a:pt x="12693" y="19029"/>
                    </a:lnTo>
                    <a:cubicBezTo>
                      <a:pt x="12741" y="18740"/>
                      <a:pt x="12949" y="18508"/>
                      <a:pt x="13228" y="18419"/>
                    </a:cubicBezTo>
                    <a:cubicBezTo>
                      <a:pt x="13658" y="18281"/>
                      <a:pt x="14073" y="18108"/>
                      <a:pt x="14469" y="17904"/>
                    </a:cubicBezTo>
                    <a:cubicBezTo>
                      <a:pt x="14729" y="17769"/>
                      <a:pt x="15041" y="17786"/>
                      <a:pt x="15279" y="17956"/>
                    </a:cubicBezTo>
                    <a:lnTo>
                      <a:pt x="16780" y="19029"/>
                    </a:lnTo>
                    <a:cubicBezTo>
                      <a:pt x="17141" y="19288"/>
                      <a:pt x="17573" y="19298"/>
                      <a:pt x="17817" y="19056"/>
                    </a:cubicBezTo>
                    <a:lnTo>
                      <a:pt x="19057" y="17816"/>
                    </a:lnTo>
                    <a:cubicBezTo>
                      <a:pt x="19300" y="17572"/>
                      <a:pt x="19289" y="17141"/>
                      <a:pt x="19030" y="16780"/>
                    </a:cubicBezTo>
                    <a:lnTo>
                      <a:pt x="17959" y="15282"/>
                    </a:lnTo>
                    <a:cubicBezTo>
                      <a:pt x="17788" y="15043"/>
                      <a:pt x="17772" y="14731"/>
                      <a:pt x="17907" y="14471"/>
                    </a:cubicBezTo>
                    <a:cubicBezTo>
                      <a:pt x="18113" y="14074"/>
                      <a:pt x="18286" y="13658"/>
                      <a:pt x="18425" y="13226"/>
                    </a:cubicBezTo>
                    <a:cubicBezTo>
                      <a:pt x="18514" y="12948"/>
                      <a:pt x="18747" y="12739"/>
                      <a:pt x="19035" y="12692"/>
                    </a:cubicBezTo>
                    <a:lnTo>
                      <a:pt x="20848" y="12391"/>
                    </a:lnTo>
                    <a:cubicBezTo>
                      <a:pt x="21286" y="12318"/>
                      <a:pt x="21600" y="12021"/>
                      <a:pt x="21600" y="11677"/>
                    </a:cubicBezTo>
                    <a:lnTo>
                      <a:pt x="21600" y="9923"/>
                    </a:lnTo>
                    <a:cubicBezTo>
                      <a:pt x="21600" y="9579"/>
                      <a:pt x="21286" y="9282"/>
                      <a:pt x="20848" y="9209"/>
                    </a:cubicBezTo>
                    <a:lnTo>
                      <a:pt x="19035" y="8908"/>
                    </a:lnTo>
                    <a:cubicBezTo>
                      <a:pt x="18747" y="8860"/>
                      <a:pt x="18514" y="8652"/>
                      <a:pt x="18425" y="8374"/>
                    </a:cubicBezTo>
                    <a:cubicBezTo>
                      <a:pt x="18286" y="7942"/>
                      <a:pt x="18112" y="7526"/>
                      <a:pt x="17907" y="7129"/>
                    </a:cubicBezTo>
                    <a:cubicBezTo>
                      <a:pt x="17772" y="6869"/>
                      <a:pt x="17788" y="6556"/>
                      <a:pt x="17959" y="6318"/>
                    </a:cubicBezTo>
                    <a:lnTo>
                      <a:pt x="19030" y="4820"/>
                    </a:lnTo>
                    <a:cubicBezTo>
                      <a:pt x="19289" y="4459"/>
                      <a:pt x="19299" y="4027"/>
                      <a:pt x="19057" y="3784"/>
                    </a:cubicBezTo>
                    <a:lnTo>
                      <a:pt x="17817" y="2544"/>
                    </a:lnTo>
                    <a:cubicBezTo>
                      <a:pt x="17573" y="2301"/>
                      <a:pt x="17142" y="2312"/>
                      <a:pt x="16780" y="2571"/>
                    </a:cubicBezTo>
                    <a:lnTo>
                      <a:pt x="15279" y="3644"/>
                    </a:lnTo>
                    <a:cubicBezTo>
                      <a:pt x="15041" y="3814"/>
                      <a:pt x="14729" y="3832"/>
                      <a:pt x="14469" y="3696"/>
                    </a:cubicBezTo>
                    <a:cubicBezTo>
                      <a:pt x="14073" y="3492"/>
                      <a:pt x="13659" y="3319"/>
                      <a:pt x="13228" y="3181"/>
                    </a:cubicBezTo>
                    <a:cubicBezTo>
                      <a:pt x="12949" y="3092"/>
                      <a:pt x="12741" y="2860"/>
                      <a:pt x="12693" y="2571"/>
                    </a:cubicBezTo>
                    <a:lnTo>
                      <a:pt x="12391" y="752"/>
                    </a:lnTo>
                    <a:cubicBezTo>
                      <a:pt x="12318" y="314"/>
                      <a:pt x="12021" y="0"/>
                      <a:pt x="11677" y="0"/>
                    </a:cubicBezTo>
                    <a:lnTo>
                      <a:pt x="9923" y="0"/>
                    </a:lnTo>
                    <a:cubicBezTo>
                      <a:pt x="9579" y="4"/>
                      <a:pt x="9281" y="318"/>
                      <a:pt x="9209" y="756"/>
                    </a:cubicBezTo>
                    <a:close/>
                    <a:moveTo>
                      <a:pt x="17005" y="10398"/>
                    </a:moveTo>
                    <a:cubicBezTo>
                      <a:pt x="17244" y="14141"/>
                      <a:pt x="14146" y="17240"/>
                      <a:pt x="10402" y="17001"/>
                    </a:cubicBezTo>
                    <a:cubicBezTo>
                      <a:pt x="7308" y="16803"/>
                      <a:pt x="4809" y="14304"/>
                      <a:pt x="4611" y="11209"/>
                    </a:cubicBezTo>
                    <a:cubicBezTo>
                      <a:pt x="4372" y="7466"/>
                      <a:pt x="7470" y="4367"/>
                      <a:pt x="11214" y="4606"/>
                    </a:cubicBezTo>
                    <a:cubicBezTo>
                      <a:pt x="14308" y="4805"/>
                      <a:pt x="16807" y="7305"/>
                      <a:pt x="17005" y="103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3" name="Shape">
                <a:extLst>
                  <a:ext uri="{FF2B5EF4-FFF2-40B4-BE49-F238E27FC236}">
                    <a16:creationId xmlns:a16="http://schemas.microsoft.com/office/drawing/2014/main" id="{7769FFA7-16FD-4C9D-8167-B446012C28EA}"/>
                  </a:ext>
                </a:extLst>
              </p:cNvPr>
              <p:cNvSpPr/>
              <p:nvPr/>
            </p:nvSpPr>
            <p:spPr>
              <a:xfrm>
                <a:off x="9131983" y="24381446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4" h="19674" extrusionOk="0">
                    <a:moveTo>
                      <a:pt x="2886" y="2886"/>
                    </a:moveTo>
                    <a:cubicBezTo>
                      <a:pt x="6731" y="-958"/>
                      <a:pt x="12960" y="-963"/>
                      <a:pt x="16798" y="2876"/>
                    </a:cubicBezTo>
                    <a:cubicBezTo>
                      <a:pt x="20637" y="6714"/>
                      <a:pt x="20632" y="12943"/>
                      <a:pt x="16788" y="16788"/>
                    </a:cubicBezTo>
                    <a:cubicBezTo>
                      <a:pt x="12943" y="20632"/>
                      <a:pt x="6714" y="20637"/>
                      <a:pt x="2876" y="16798"/>
                    </a:cubicBezTo>
                    <a:cubicBezTo>
                      <a:pt x="-963" y="12960"/>
                      <a:pt x="-958" y="6731"/>
                      <a:pt x="2886" y="2886"/>
                    </a:cubicBezTo>
                    <a:close/>
                  </a:path>
                </a:pathLst>
              </a:custGeom>
              <a:solidFill>
                <a:srgbClr val="213566"/>
              </a:solidFill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pic>
            <p:nvPicPr>
              <p:cNvPr id="106" name="Graphic 105" descr="Users">
                <a:extLst>
                  <a:ext uri="{FF2B5EF4-FFF2-40B4-BE49-F238E27FC236}">
                    <a16:creationId xmlns:a16="http://schemas.microsoft.com/office/drawing/2014/main" id="{E243AAC1-81BE-4840-8434-E6FA81206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303899" y="24537649"/>
                <a:ext cx="1513332" cy="1513332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E8B4D7-5EDC-4E82-AF77-15D8BFCA02E4}"/>
                </a:ext>
              </a:extLst>
            </p:cNvPr>
            <p:cNvGrpSpPr/>
            <p:nvPr/>
          </p:nvGrpSpPr>
          <p:grpSpPr>
            <a:xfrm>
              <a:off x="12366603" y="22042591"/>
              <a:ext cx="3608937" cy="3608937"/>
              <a:chOff x="15639140" y="24554738"/>
              <a:chExt cx="3657600" cy="3657600"/>
            </a:xfrm>
          </p:grpSpPr>
          <p:sp>
            <p:nvSpPr>
              <p:cNvPr id="91" name="Shape">
                <a:extLst>
                  <a:ext uri="{FF2B5EF4-FFF2-40B4-BE49-F238E27FC236}">
                    <a16:creationId xmlns:a16="http://schemas.microsoft.com/office/drawing/2014/main" id="{6D3E8FC6-2673-49E6-9CE2-C266B3A66348}"/>
                  </a:ext>
                </a:extLst>
              </p:cNvPr>
              <p:cNvSpPr/>
              <p:nvPr/>
            </p:nvSpPr>
            <p:spPr>
              <a:xfrm>
                <a:off x="15639140" y="24554738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2" h="21421" extrusionOk="0">
                    <a:moveTo>
                      <a:pt x="13014" y="489"/>
                    </a:moveTo>
                    <a:lnTo>
                      <a:pt x="12029" y="2119"/>
                    </a:lnTo>
                    <a:cubicBezTo>
                      <a:pt x="11874" y="2376"/>
                      <a:pt x="11587" y="2519"/>
                      <a:pt x="11286" y="2500"/>
                    </a:cubicBezTo>
                    <a:cubicBezTo>
                      <a:pt x="10825" y="2468"/>
                      <a:pt x="10364" y="2476"/>
                      <a:pt x="9911" y="2523"/>
                    </a:cubicBezTo>
                    <a:cubicBezTo>
                      <a:pt x="9611" y="2554"/>
                      <a:pt x="9317" y="2418"/>
                      <a:pt x="9153" y="2164"/>
                    </a:cubicBezTo>
                    <a:lnTo>
                      <a:pt x="8120" y="559"/>
                    </a:lnTo>
                    <a:cubicBezTo>
                      <a:pt x="7872" y="174"/>
                      <a:pt x="7464" y="0"/>
                      <a:pt x="7138" y="140"/>
                    </a:cubicBezTo>
                    <a:lnTo>
                      <a:pt x="5479" y="854"/>
                    </a:lnTo>
                    <a:cubicBezTo>
                      <a:pt x="5153" y="994"/>
                      <a:pt x="5000" y="1411"/>
                      <a:pt x="5110" y="1857"/>
                    </a:cubicBezTo>
                    <a:lnTo>
                      <a:pt x="5569" y="3714"/>
                    </a:lnTo>
                    <a:cubicBezTo>
                      <a:pt x="5641" y="4006"/>
                      <a:pt x="5538" y="4312"/>
                      <a:pt x="5311" y="4510"/>
                    </a:cubicBezTo>
                    <a:cubicBezTo>
                      <a:pt x="4968" y="4808"/>
                      <a:pt x="4648" y="5136"/>
                      <a:pt x="4354" y="5492"/>
                    </a:cubicBezTo>
                    <a:cubicBezTo>
                      <a:pt x="4163" y="5725"/>
                      <a:pt x="3861" y="5834"/>
                      <a:pt x="3568" y="5770"/>
                    </a:cubicBezTo>
                    <a:lnTo>
                      <a:pt x="1700" y="5365"/>
                    </a:lnTo>
                    <a:cubicBezTo>
                      <a:pt x="1253" y="5268"/>
                      <a:pt x="840" y="5433"/>
                      <a:pt x="709" y="5762"/>
                    </a:cubicBezTo>
                    <a:lnTo>
                      <a:pt x="41" y="7440"/>
                    </a:lnTo>
                    <a:cubicBezTo>
                      <a:pt x="-89" y="7770"/>
                      <a:pt x="97" y="8173"/>
                      <a:pt x="489" y="8410"/>
                    </a:cubicBezTo>
                    <a:lnTo>
                      <a:pt x="2124" y="9397"/>
                    </a:lnTo>
                    <a:cubicBezTo>
                      <a:pt x="2382" y="9552"/>
                      <a:pt x="2526" y="9840"/>
                      <a:pt x="2505" y="10139"/>
                    </a:cubicBezTo>
                    <a:cubicBezTo>
                      <a:pt x="2473" y="10599"/>
                      <a:pt x="2482" y="11058"/>
                      <a:pt x="2526" y="11510"/>
                    </a:cubicBezTo>
                    <a:cubicBezTo>
                      <a:pt x="2556" y="11811"/>
                      <a:pt x="2421" y="12103"/>
                      <a:pt x="2167" y="12267"/>
                    </a:cubicBezTo>
                    <a:lnTo>
                      <a:pt x="558" y="13301"/>
                    </a:lnTo>
                    <a:cubicBezTo>
                      <a:pt x="173" y="13549"/>
                      <a:pt x="-2" y="13957"/>
                      <a:pt x="138" y="14283"/>
                    </a:cubicBezTo>
                    <a:lnTo>
                      <a:pt x="853" y="15942"/>
                    </a:lnTo>
                    <a:cubicBezTo>
                      <a:pt x="993" y="16267"/>
                      <a:pt x="1410" y="16421"/>
                      <a:pt x="1856" y="16310"/>
                    </a:cubicBezTo>
                    <a:lnTo>
                      <a:pt x="3709" y="15853"/>
                    </a:lnTo>
                    <a:cubicBezTo>
                      <a:pt x="4002" y="15781"/>
                      <a:pt x="4308" y="15884"/>
                      <a:pt x="4505" y="16112"/>
                    </a:cubicBezTo>
                    <a:cubicBezTo>
                      <a:pt x="4804" y="16457"/>
                      <a:pt x="5133" y="16780"/>
                      <a:pt x="5490" y="17073"/>
                    </a:cubicBezTo>
                    <a:cubicBezTo>
                      <a:pt x="5721" y="17264"/>
                      <a:pt x="5832" y="17566"/>
                      <a:pt x="5768" y="17860"/>
                    </a:cubicBezTo>
                    <a:lnTo>
                      <a:pt x="5364" y="19721"/>
                    </a:lnTo>
                    <a:cubicBezTo>
                      <a:pt x="5267" y="20168"/>
                      <a:pt x="5432" y="20581"/>
                      <a:pt x="5761" y="20712"/>
                    </a:cubicBezTo>
                    <a:lnTo>
                      <a:pt x="7440" y="21380"/>
                    </a:lnTo>
                    <a:cubicBezTo>
                      <a:pt x="7770" y="21510"/>
                      <a:pt x="8173" y="21324"/>
                      <a:pt x="8410" y="20933"/>
                    </a:cubicBezTo>
                    <a:lnTo>
                      <a:pt x="9392" y="19307"/>
                    </a:lnTo>
                    <a:cubicBezTo>
                      <a:pt x="9547" y="19049"/>
                      <a:pt x="9835" y="18905"/>
                      <a:pt x="10136" y="18926"/>
                    </a:cubicBezTo>
                    <a:cubicBezTo>
                      <a:pt x="10600" y="18958"/>
                      <a:pt x="11062" y="18951"/>
                      <a:pt x="11518" y="18905"/>
                    </a:cubicBezTo>
                    <a:cubicBezTo>
                      <a:pt x="11818" y="18875"/>
                      <a:pt x="12111" y="19010"/>
                      <a:pt x="12274" y="19264"/>
                    </a:cubicBezTo>
                    <a:lnTo>
                      <a:pt x="13302" y="20862"/>
                    </a:lnTo>
                    <a:cubicBezTo>
                      <a:pt x="13550" y="21247"/>
                      <a:pt x="13958" y="21421"/>
                      <a:pt x="14284" y="21282"/>
                    </a:cubicBezTo>
                    <a:lnTo>
                      <a:pt x="15943" y="20567"/>
                    </a:lnTo>
                    <a:cubicBezTo>
                      <a:pt x="16269" y="20427"/>
                      <a:pt x="16422" y="20010"/>
                      <a:pt x="16311" y="19564"/>
                    </a:cubicBezTo>
                    <a:lnTo>
                      <a:pt x="15857" y="17724"/>
                    </a:lnTo>
                    <a:cubicBezTo>
                      <a:pt x="15785" y="17430"/>
                      <a:pt x="15888" y="17124"/>
                      <a:pt x="16116" y="16928"/>
                    </a:cubicBezTo>
                    <a:cubicBezTo>
                      <a:pt x="16464" y="16627"/>
                      <a:pt x="16789" y="16295"/>
                      <a:pt x="17086" y="15933"/>
                    </a:cubicBezTo>
                    <a:cubicBezTo>
                      <a:pt x="17277" y="15701"/>
                      <a:pt x="17579" y="15591"/>
                      <a:pt x="17872" y="15655"/>
                    </a:cubicBezTo>
                    <a:lnTo>
                      <a:pt x="19722" y="16057"/>
                    </a:lnTo>
                    <a:cubicBezTo>
                      <a:pt x="20169" y="16154"/>
                      <a:pt x="20582" y="15989"/>
                      <a:pt x="20713" y="15659"/>
                    </a:cubicBezTo>
                    <a:lnTo>
                      <a:pt x="21381" y="13981"/>
                    </a:lnTo>
                    <a:cubicBezTo>
                      <a:pt x="21511" y="13651"/>
                      <a:pt x="21325" y="13248"/>
                      <a:pt x="20933" y="13012"/>
                    </a:cubicBezTo>
                    <a:lnTo>
                      <a:pt x="19313" y="12034"/>
                    </a:lnTo>
                    <a:cubicBezTo>
                      <a:pt x="19055" y="11879"/>
                      <a:pt x="18911" y="11591"/>
                      <a:pt x="18932" y="11290"/>
                    </a:cubicBezTo>
                    <a:cubicBezTo>
                      <a:pt x="18964" y="10825"/>
                      <a:pt x="18956" y="10360"/>
                      <a:pt x="18910" y="9903"/>
                    </a:cubicBezTo>
                    <a:cubicBezTo>
                      <a:pt x="18879" y="9602"/>
                      <a:pt x="19015" y="9309"/>
                      <a:pt x="19269" y="9145"/>
                    </a:cubicBezTo>
                    <a:lnTo>
                      <a:pt x="20863" y="8119"/>
                    </a:lnTo>
                    <a:cubicBezTo>
                      <a:pt x="21248" y="7871"/>
                      <a:pt x="21422" y="7463"/>
                      <a:pt x="21283" y="7137"/>
                    </a:cubicBezTo>
                    <a:lnTo>
                      <a:pt x="20568" y="5478"/>
                    </a:lnTo>
                    <a:cubicBezTo>
                      <a:pt x="20428" y="5153"/>
                      <a:pt x="20011" y="4999"/>
                      <a:pt x="19565" y="5110"/>
                    </a:cubicBezTo>
                    <a:lnTo>
                      <a:pt x="17720" y="5566"/>
                    </a:lnTo>
                    <a:cubicBezTo>
                      <a:pt x="17428" y="5638"/>
                      <a:pt x="17122" y="5535"/>
                      <a:pt x="16924" y="5308"/>
                    </a:cubicBezTo>
                    <a:cubicBezTo>
                      <a:pt x="16623" y="4962"/>
                      <a:pt x="16292" y="4639"/>
                      <a:pt x="15932" y="4344"/>
                    </a:cubicBezTo>
                    <a:cubicBezTo>
                      <a:pt x="15699" y="4153"/>
                      <a:pt x="15589" y="3851"/>
                      <a:pt x="15652" y="3558"/>
                    </a:cubicBezTo>
                    <a:lnTo>
                      <a:pt x="16055" y="1702"/>
                    </a:lnTo>
                    <a:cubicBezTo>
                      <a:pt x="16152" y="1255"/>
                      <a:pt x="15987" y="842"/>
                      <a:pt x="15658" y="710"/>
                    </a:cubicBezTo>
                    <a:lnTo>
                      <a:pt x="13979" y="43"/>
                    </a:lnTo>
                    <a:cubicBezTo>
                      <a:pt x="13654" y="-90"/>
                      <a:pt x="13250" y="97"/>
                      <a:pt x="13014" y="489"/>
                    </a:cubicBezTo>
                    <a:close/>
                    <a:moveTo>
                      <a:pt x="13467" y="4937"/>
                    </a:moveTo>
                    <a:cubicBezTo>
                      <a:pt x="16353" y="6304"/>
                      <a:pt x="17793" y="9646"/>
                      <a:pt x="16805" y="12682"/>
                    </a:cubicBezTo>
                    <a:cubicBezTo>
                      <a:pt x="15609" y="16354"/>
                      <a:pt x="11464" y="18141"/>
                      <a:pt x="7972" y="16487"/>
                    </a:cubicBezTo>
                    <a:cubicBezTo>
                      <a:pt x="5086" y="15121"/>
                      <a:pt x="3645" y="11778"/>
                      <a:pt x="4634" y="8742"/>
                    </a:cubicBezTo>
                    <a:cubicBezTo>
                      <a:pt x="5829" y="5068"/>
                      <a:pt x="9975" y="3283"/>
                      <a:pt x="13467" y="4937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" name="Shape">
                <a:extLst>
                  <a:ext uri="{FF2B5EF4-FFF2-40B4-BE49-F238E27FC236}">
                    <a16:creationId xmlns:a16="http://schemas.microsoft.com/office/drawing/2014/main" id="{CAD6F56E-F877-4B0D-A016-6F84AFB3AE48}"/>
                  </a:ext>
                </a:extLst>
              </p:cNvPr>
              <p:cNvSpPr/>
              <p:nvPr/>
            </p:nvSpPr>
            <p:spPr>
              <a:xfrm>
                <a:off x="16553540" y="25448948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04" h="19002" extrusionOk="0">
                    <a:moveTo>
                      <a:pt x="5746" y="781"/>
                    </a:moveTo>
                    <a:cubicBezTo>
                      <a:pt x="10565" y="-1299"/>
                      <a:pt x="16153" y="919"/>
                      <a:pt x="18228" y="5736"/>
                    </a:cubicBezTo>
                    <a:cubicBezTo>
                      <a:pt x="20302" y="10552"/>
                      <a:pt x="18077" y="16142"/>
                      <a:pt x="13258" y="18221"/>
                    </a:cubicBezTo>
                    <a:cubicBezTo>
                      <a:pt x="8439" y="20301"/>
                      <a:pt x="2851" y="18083"/>
                      <a:pt x="776" y="13266"/>
                    </a:cubicBezTo>
                    <a:cubicBezTo>
                      <a:pt x="-1298" y="8450"/>
                      <a:pt x="927" y="2860"/>
                      <a:pt x="5746" y="781"/>
                    </a:cubicBezTo>
                    <a:close/>
                  </a:path>
                </a:pathLst>
              </a:custGeom>
              <a:solidFill>
                <a:srgbClr val="666666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pic>
            <p:nvPicPr>
              <p:cNvPr id="107" name="Graphic 106" descr="Head with gears">
                <a:extLst>
                  <a:ext uri="{FF2B5EF4-FFF2-40B4-BE49-F238E27FC236}">
                    <a16:creationId xmlns:a16="http://schemas.microsoft.com/office/drawing/2014/main" id="{5A21AC30-4E55-4460-AF9C-958F7072A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6768648" y="25626146"/>
                <a:ext cx="1494835" cy="1494835"/>
              </a:xfrm>
              <a:prstGeom prst="rect">
                <a:avLst/>
              </a:prstGeom>
            </p:spPr>
          </p:pic>
        </p:grpSp>
      </p:grpSp>
      <p:pic>
        <p:nvPicPr>
          <p:cNvPr id="108" name="Graphic 107" descr="Classroom">
            <a:extLst>
              <a:ext uri="{FF2B5EF4-FFF2-40B4-BE49-F238E27FC236}">
                <a16:creationId xmlns:a16="http://schemas.microsoft.com/office/drawing/2014/main" id="{73EFFA7E-9BCA-4189-A29C-82177E385A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8968" y="19072718"/>
            <a:ext cx="637607" cy="637607"/>
          </a:xfrm>
          <a:prstGeom prst="rect">
            <a:avLst/>
          </a:prstGeom>
        </p:spPr>
      </p:pic>
      <p:pic>
        <p:nvPicPr>
          <p:cNvPr id="109" name="Graphic 108" descr="Head with gears">
            <a:extLst>
              <a:ext uri="{FF2B5EF4-FFF2-40B4-BE49-F238E27FC236}">
                <a16:creationId xmlns:a16="http://schemas.microsoft.com/office/drawing/2014/main" id="{EAB10E85-C149-4E19-99FD-AF160A8DAB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206090" y="19079598"/>
            <a:ext cx="702482" cy="702482"/>
          </a:xfrm>
          <a:prstGeom prst="rect">
            <a:avLst/>
          </a:prstGeom>
        </p:spPr>
      </p:pic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2C68339-16BD-4FBB-AB57-5D0DDABA866D}"/>
              </a:ext>
            </a:extLst>
          </p:cNvPr>
          <p:cNvGrpSpPr/>
          <p:nvPr/>
        </p:nvGrpSpPr>
        <p:grpSpPr>
          <a:xfrm>
            <a:off x="15912597" y="19142299"/>
            <a:ext cx="5269422" cy="8978771"/>
            <a:chOff x="8921747" y="1204077"/>
            <a:chExt cx="3134228" cy="2637473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64B79DE-D0ED-4B77-80FC-A2CB3E440535}"/>
                </a:ext>
              </a:extLst>
            </p:cNvPr>
            <p:cNvSpPr txBox="1"/>
            <p:nvPr/>
          </p:nvSpPr>
          <p:spPr>
            <a:xfrm>
              <a:off x="8925609" y="1204077"/>
              <a:ext cx="2926080" cy="158862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noProof="1">
                  <a:solidFill>
                    <a:srgbClr val="666666"/>
                  </a:solidFill>
                  <a:latin typeface="ITC Franklin Gothic Std Demi"/>
                </a:rPr>
                <a:t>Evaluation/Fidelity Checks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F43042F-01C4-41E5-B82F-997392699936}"/>
                </a:ext>
              </a:extLst>
            </p:cNvPr>
            <p:cNvSpPr txBox="1"/>
            <p:nvPr/>
          </p:nvSpPr>
          <p:spPr>
            <a:xfrm>
              <a:off x="8921747" y="1325438"/>
              <a:ext cx="3134228" cy="2516112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Program evaluations should be tied directly to syllabi to ensure that objectives are being met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a pre- and post-test tied to syllabi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Currently, only math skills are evaluated before and after course completion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Add a measure of baseline comprehension of course materials to be covered. For instance, if Resilience Education seeks to instill confidence in its students for job interviews, then include a Situational Judgment Test to estimate their knowledge of appropriate</a:t>
              </a:r>
              <a:r>
                <a:rPr lang="en-US" sz="2200" b="0" dirty="0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 business behaviors in different scenarios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Conduct instructor evaluation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Since instructor turnover is so regular, all instructors should be evaluated to the same standards throughout the course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dirty="0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Administer post-release survey to collect data on employment status, utility of program for finding jobs, confidence in job placement process, and well-being.</a:t>
              </a:r>
              <a:endParaRPr lang="en-US" sz="22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endParaRPr lang="en-US" sz="22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endParaRPr lang="en-US" sz="2200" b="0" noProof="1">
                <a:solidFill>
                  <a:schemeClr val="tx1"/>
                </a:solidFill>
                <a:latin typeface="ITC Franklin Gothic Std Demi"/>
              </a:endParaRP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7BD4485A-671F-4B76-9344-64FB5BF3B70E}"/>
</file>

<file path=customXml/itemProps2.xml><?xml version="1.0" encoding="utf-8"?>
<ds:datastoreItem xmlns:ds="http://schemas.openxmlformats.org/officeDocument/2006/customXml" ds:itemID="{77129825-797D-4599-BD4E-BCD2FDDD18C5}"/>
</file>

<file path=customXml/itemProps3.xml><?xml version="1.0" encoding="utf-8"?>
<ds:datastoreItem xmlns:ds="http://schemas.openxmlformats.org/officeDocument/2006/customXml" ds:itemID="{9EAA6F6A-D5D6-4243-B55E-72486D80F090}"/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744</Words>
  <Application>Microsoft Macintosh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Arial</vt:lpstr>
      <vt:lpstr>Calibri</vt:lpstr>
      <vt:lpstr>Franklin Gothic Demi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</vt:lpstr>
      <vt:lpstr>ITC Franklin Gothic Std Demi Co</vt:lpstr>
      <vt:lpstr>ITC Franklin Gothic Std Dm Cd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Grace Dusseau</cp:lastModifiedBy>
  <cp:revision>70</cp:revision>
  <cp:lastPrinted>2019-08-05T16:00:48Z</cp:lastPrinted>
  <dcterms:created xsi:type="dcterms:W3CDTF">2019-07-16T21:17:53Z</dcterms:created>
  <dcterms:modified xsi:type="dcterms:W3CDTF">2019-08-05T16:05:22Z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