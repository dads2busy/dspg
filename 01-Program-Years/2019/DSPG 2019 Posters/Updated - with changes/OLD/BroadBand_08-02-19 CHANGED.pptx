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ppt/revisionInfo.xml" ContentType="application/vnd.ms-powerpoint.revision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7" r:id="rId2"/>
  </p:sldIdLst>
  <p:sldSz cx="21945600" cy="3291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15:guide id="1" orient="horz" pos="10368">
          <p15:clr>
            <a:srgbClr val="A4A3A4"/>
          </p15:clr>
        </p15:guide>
        <p15:guide id="2" pos="69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3765"/>
    <a:srgbClr val="012F6C"/>
    <a:srgbClr val="2EBFCB"/>
    <a:srgbClr val="F37C20"/>
    <a:srgbClr val="00ACD4"/>
    <a:srgbClr val="A7D5A6"/>
    <a:srgbClr val="2135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386980-2496-375C-3E15-222463952007}" v="3" dt="2019-08-02T20:23:46.780"/>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381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800"/>
    <p:restoredTop sz="94643"/>
  </p:normalViewPr>
  <p:slideViewPr>
    <p:cSldViewPr snapToGrid="0">
      <p:cViewPr>
        <p:scale>
          <a:sx n="90" d="100"/>
          <a:sy n="90" d="100"/>
        </p:scale>
        <p:origin x="168" y="480"/>
      </p:cViewPr>
      <p:guideLst>
        <p:guide orient="horz" pos="10368"/>
        <p:guide pos="6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3.xml"/><Relationship Id="rId5" Type="http://schemas.openxmlformats.org/officeDocument/2006/relationships/viewProps" Target="viewProps.xml"/><Relationship Id="rId10" Type="http://schemas.openxmlformats.org/officeDocument/2006/relationships/customXml" Target="../customXml/item2.xml"/><Relationship Id="rId4" Type="http://schemas.openxmlformats.org/officeDocument/2006/relationships/presProps" Target="presProps.xml"/><Relationship Id="rId9"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 name="Shape 26"/>
          <p:cNvSpPr>
            <a:spLocks noGrp="1" noRot="1" noChangeAspect="1"/>
          </p:cNvSpPr>
          <p:nvPr>
            <p:ph type="sldImg"/>
          </p:nvPr>
        </p:nvSpPr>
        <p:spPr>
          <a:xfrm>
            <a:off x="1143000" y="685800"/>
            <a:ext cx="4572000" cy="3429000"/>
          </a:xfrm>
          <a:prstGeom prst="rect">
            <a:avLst/>
          </a:prstGeom>
        </p:spPr>
        <p:txBody>
          <a:bodyPr/>
          <a:lstStyle/>
          <a:p>
            <a:endParaRPr/>
          </a:p>
        </p:txBody>
      </p:sp>
      <p:sp>
        <p:nvSpPr>
          <p:cNvPr id="27" name="Shape 2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685800"/>
            <a:ext cx="2286000" cy="3429000"/>
          </a:xfrm>
        </p:spPr>
      </p:sp>
      <p:sp>
        <p:nvSpPr>
          <p:cNvPr id="3" name="Notes Placeholder 2"/>
          <p:cNvSpPr>
            <a:spLocks noGrp="1"/>
          </p:cNvSpPr>
          <p:nvPr>
            <p:ph type="body" idx="1"/>
          </p:nvPr>
        </p:nvSpPr>
        <p:spPr/>
        <p:txBody>
          <a:bodyPr/>
          <a:lstStyle/>
          <a:p>
            <a:r>
              <a:rPr lang="en-US"/>
              <a:t>e</a:t>
            </a:r>
          </a:p>
        </p:txBody>
      </p:sp>
    </p:spTree>
    <p:extLst>
      <p:ext uri="{BB962C8B-B14F-4D97-AF65-F5344CB8AC3E}">
        <p14:creationId xmlns:p14="http://schemas.microsoft.com/office/powerpoint/2010/main" val="2281128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emplate 1">
    <p:spTree>
      <p:nvGrpSpPr>
        <p:cNvPr id="1" name=""/>
        <p:cNvGrpSpPr/>
        <p:nvPr/>
      </p:nvGrpSpPr>
      <p:grpSpPr>
        <a:xfrm>
          <a:off x="0" y="0"/>
          <a:ext cx="0" cy="0"/>
          <a:chOff x="0" y="0"/>
          <a:chExt cx="0" cy="0"/>
        </a:xfrm>
      </p:grpSpPr>
      <p:sp>
        <p:nvSpPr>
          <p:cNvPr id="12"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descr="Image"/>
          <p:cNvPicPr>
            <a:picLocks noChangeAspect="1"/>
          </p:cNvPicPr>
          <p:nvPr/>
        </p:nvPicPr>
        <p:blipFill>
          <a:blip r:embed="rId3"/>
          <a:stretch>
            <a:fillRect/>
          </a:stretch>
        </p:blipFill>
        <p:spPr>
          <a:xfrm>
            <a:off x="-46998" y="-620308"/>
            <a:ext cx="22039596" cy="33558350"/>
          </a:xfrm>
          <a:prstGeom prst="rect">
            <a:avLst/>
          </a:prstGeom>
          <a:ln w="12700">
            <a:miter lim="400000"/>
          </a:ln>
        </p:spPr>
      </p:pic>
      <p:sp>
        <p:nvSpPr>
          <p:cNvPr id="3" name="Title Text"/>
          <p:cNvSpPr txBox="1">
            <a:spLocks noGrp="1"/>
          </p:cNvSpPr>
          <p:nvPr>
            <p:ph type="title"/>
          </p:nvPr>
        </p:nvSpPr>
        <p:spPr>
          <a:xfrm>
            <a:off x="2143125" y="10994231"/>
            <a:ext cx="17659350" cy="5572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lIns="85725" tIns="85725" rIns="85725" bIns="85725" anchor="b">
            <a:normAutofit/>
          </a:bodyPr>
          <a:lstStyle/>
          <a:p>
            <a:r>
              <a:t>Title Text</a:t>
            </a:r>
          </a:p>
        </p:txBody>
      </p:sp>
      <p:sp>
        <p:nvSpPr>
          <p:cNvPr id="4" name="Body Level One…"/>
          <p:cNvSpPr txBox="1">
            <a:spLocks noGrp="1"/>
          </p:cNvSpPr>
          <p:nvPr>
            <p:ph type="body" idx="1"/>
          </p:nvPr>
        </p:nvSpPr>
        <p:spPr>
          <a:xfrm>
            <a:off x="2143125" y="16737806"/>
            <a:ext cx="17659350" cy="19073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lIns="85725" tIns="85725" rIns="85725" bIns="85725">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0493705" y="23917275"/>
            <a:ext cx="946760" cy="989758"/>
          </a:xfrm>
          <a:prstGeom prst="rect">
            <a:avLst/>
          </a:prstGeom>
          <a:ln w="12700">
            <a:miter lim="400000"/>
          </a:ln>
        </p:spPr>
        <p:txBody>
          <a:bodyPr wrap="none" lIns="85725" tIns="85725" rIns="85725" bIns="85725">
            <a:spAutoFit/>
          </a:bodyPr>
          <a:lstStyle>
            <a:lvl1pPr>
              <a:defRPr sz="5400" b="0">
                <a:latin typeface="Helvetica Neue Thin"/>
                <a:ea typeface="Helvetica Neue Thin"/>
                <a:cs typeface="Helvetica Neue Thin"/>
                <a:sym typeface="Helvetica Neue Thin"/>
              </a:defRPr>
            </a:lvl1pPr>
          </a:lstStyle>
          <a:p>
            <a:fld id="{86CB4B4D-7CA3-9044-876B-883B54F8677D}"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1pPr>
      <a:lvl2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2pPr>
      <a:lvl3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3pPr>
      <a:lvl4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4pPr>
      <a:lvl5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5pPr>
      <a:lvl6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6pPr>
      <a:lvl7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7pPr>
      <a:lvl8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8pPr>
      <a:lvl9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9pPr>
    </p:titleStyle>
    <p:bodyStyle>
      <a:lvl1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1pPr>
      <a:lvl2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2pPr>
      <a:lvl3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3pPr>
      <a:lvl4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4pPr>
      <a:lvl5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5pPr>
      <a:lvl6pPr marL="0" marR="0" indent="3556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6pPr>
      <a:lvl7pPr marL="0" marR="0" indent="7112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7pPr>
      <a:lvl8pPr marL="0" marR="0" indent="10668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8pPr>
      <a:lvl9pPr marL="0" marR="0" indent="14224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1pPr>
      <a:lvl2pPr marL="0" marR="0" indent="228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2pPr>
      <a:lvl3pPr marL="0" marR="0" indent="457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3pPr>
      <a:lvl4pPr marL="0" marR="0" indent="685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4pPr>
      <a:lvl5pPr marL="0" marR="0" indent="9144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5pPr>
      <a:lvl6pPr marL="0" marR="0" indent="11430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6pPr>
      <a:lvl7pPr marL="0" marR="0" indent="1371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7pPr>
      <a:lvl8pPr marL="0" marR="0" indent="1600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8pPr>
      <a:lvl9pPr marL="0" marR="0" indent="1828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Body Text - Franklin Gothic Book - 22"/>
          <p:cNvSpPr txBox="1"/>
          <p:nvPr/>
        </p:nvSpPr>
        <p:spPr>
          <a:xfrm>
            <a:off x="952248" y="4442783"/>
            <a:ext cx="20352169" cy="22621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ctr">
            <a:spAutoFit/>
          </a:bodyPr>
          <a:lstStyle>
            <a:lvl1pPr algn="l" defTabSz="1314450">
              <a:defRPr sz="2200" b="0">
                <a:latin typeface="ITC Franklin Gothic Std"/>
                <a:ea typeface="ITC Franklin Gothic Std"/>
                <a:cs typeface="ITC Franklin Gothic Std"/>
                <a:sym typeface="ITC Franklin Gothic Std"/>
              </a:defRPr>
            </a:lvl1pPr>
          </a:lstStyle>
          <a:p>
            <a:r>
              <a:rPr lang="en-US" dirty="0"/>
              <a:t>The broad purpose of this project explores whether broadband development affects rural prosperity, as measured by changes in property values and quality of life indicators in rural communities. The first component of the project conducted a </a:t>
            </a:r>
            <a:r>
              <a:rPr lang="en-US" dirty="0">
                <a:solidFill>
                  <a:srgbClr val="F37C20"/>
                </a:solidFill>
              </a:rPr>
              <a:t>comprehensive literature review of value modeling </a:t>
            </a:r>
            <a:r>
              <a:rPr lang="en-US" dirty="0"/>
              <a:t>consisting of factors other than broadband that shape property values. We found relevant environmental, neighborhood, structural, and locational attributes that influence property prices. The second component of this project explores methods of </a:t>
            </a:r>
            <a:r>
              <a:rPr lang="en-US" dirty="0">
                <a:solidFill>
                  <a:srgbClr val="F37C20"/>
                </a:solidFill>
              </a:rPr>
              <a:t>validating Federal Communications Commission (FCC) broadband data</a:t>
            </a:r>
            <a:r>
              <a:rPr lang="en-US" dirty="0"/>
              <a:t>. Following the Consolidated Appropriations Act, the United States Department of Agriculture (USDA) created the </a:t>
            </a:r>
            <a:r>
              <a:rPr lang="en-US" dirty="0" err="1"/>
              <a:t>ReConnect</a:t>
            </a:r>
            <a:r>
              <a:rPr lang="en-US" dirty="0"/>
              <a:t> Program, which provided $600 million in loans and grants for broadband improvement in rural areas.  The FCC provides data on broadband, FCC Form 477, which informs broadband funding policies, but has known limitations. </a:t>
            </a:r>
            <a:endParaRPr lang="en-US" sz="2400" dirty="0">
              <a:latin typeface="Garamond" panose="02020404030301010803" pitchFamily="18" charset="0"/>
            </a:endParaRPr>
          </a:p>
        </p:txBody>
      </p:sp>
      <p:sp>
        <p:nvSpPr>
          <p:cNvPr id="51" name="Your Name, Graduate Student Name, Post Doc Name, Advisor…"/>
          <p:cNvSpPr txBox="1"/>
          <p:nvPr/>
        </p:nvSpPr>
        <p:spPr>
          <a:xfrm>
            <a:off x="749842" y="1952305"/>
            <a:ext cx="14880681" cy="18062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ctr">
            <a:spAutoFit/>
          </a:bodyPr>
          <a:lstStyle/>
          <a:p>
            <a:pPr algn="l" defTabSz="1314450">
              <a:defRPr sz="2100" b="0">
                <a:solidFill>
                  <a:srgbClr val="FFFFFF"/>
                </a:solidFill>
                <a:latin typeface="ITC Franklin Gothic Std"/>
                <a:ea typeface="ITC Franklin Gothic Std"/>
                <a:cs typeface="ITC Franklin Gothic Std"/>
                <a:sym typeface="ITC Franklin Gothic Std"/>
              </a:defRPr>
            </a:pPr>
            <a:r>
              <a:rPr lang="en-US" sz="2100" b="0" dirty="0">
                <a:solidFill>
                  <a:schemeClr val="bg1"/>
                </a:solidFill>
                <a:latin typeface="ITC Franklin Gothic Std Book"/>
                <a:cs typeface="ITC Franklin Gothic Std Book"/>
              </a:rPr>
              <a:t>DSPG Team: Kat </a:t>
            </a:r>
            <a:r>
              <a:rPr lang="en-US" sz="2100" b="0" dirty="0" err="1">
                <a:solidFill>
                  <a:schemeClr val="bg1"/>
                </a:solidFill>
                <a:latin typeface="ITC Franklin Gothic Std Book"/>
                <a:cs typeface="ITC Franklin Gothic Std Book"/>
              </a:rPr>
              <a:t>Savchyn</a:t>
            </a:r>
            <a:r>
              <a:rPr lang="en-US" sz="2100" b="0" dirty="0">
                <a:solidFill>
                  <a:schemeClr val="bg1"/>
                </a:solidFill>
                <a:latin typeface="ITC Franklin Gothic Std Book"/>
                <a:cs typeface="ITC Franklin Gothic Std Book"/>
              </a:rPr>
              <a:t> (Georgetown University), Sarah McDonald (Marymount University), </a:t>
            </a:r>
          </a:p>
          <a:p>
            <a:pPr algn="l" defTabSz="1314450">
              <a:defRPr sz="2100" b="0">
                <a:solidFill>
                  <a:srgbClr val="FFFFFF"/>
                </a:solidFill>
                <a:latin typeface="ITC Franklin Gothic Std"/>
                <a:ea typeface="ITC Franklin Gothic Std"/>
                <a:cs typeface="ITC Franklin Gothic Std"/>
                <a:sym typeface="ITC Franklin Gothic Std"/>
              </a:defRPr>
            </a:pPr>
            <a:r>
              <a:rPr lang="en-US" sz="2100" b="0" dirty="0">
                <a:solidFill>
                  <a:schemeClr val="bg1"/>
                </a:solidFill>
                <a:latin typeface="ITC Franklin Gothic Std Book"/>
                <a:cs typeface="ITC Franklin Gothic Std Book"/>
              </a:rPr>
              <a:t>Raghav Sawhney (Virginia Tech) </a:t>
            </a:r>
          </a:p>
          <a:p>
            <a:pPr algn="l" defTabSz="1314450">
              <a:lnSpc>
                <a:spcPct val="150000"/>
              </a:lnSpc>
              <a:defRPr sz="2100" b="0">
                <a:solidFill>
                  <a:srgbClr val="FFFFFF"/>
                </a:solidFill>
                <a:latin typeface="ITC Franklin Gothic Std"/>
                <a:ea typeface="ITC Franklin Gothic Std"/>
                <a:cs typeface="ITC Franklin Gothic Std"/>
                <a:sym typeface="ITC Franklin Gothic Std"/>
              </a:defRPr>
            </a:pPr>
            <a:r>
              <a:rPr lang="en-US" sz="2100" b="0" dirty="0">
                <a:solidFill>
                  <a:schemeClr val="bg1"/>
                </a:solidFill>
                <a:latin typeface="ITC Franklin Gothic Std Book"/>
                <a:cs typeface="ITC Franklin Gothic Std Book"/>
              </a:rPr>
              <a:t>SDAD Team: </a:t>
            </a:r>
            <a:r>
              <a:rPr lang="en-US" sz="2100" b="0" dirty="0" err="1">
                <a:solidFill>
                  <a:schemeClr val="bg1"/>
                </a:solidFill>
                <a:latin typeface="ITC Franklin Gothic Std Book"/>
                <a:cs typeface="ITC Franklin Gothic Std Book"/>
              </a:rPr>
              <a:t>Teja</a:t>
            </a:r>
            <a:r>
              <a:rPr lang="en-US" sz="2100" b="0" dirty="0">
                <a:solidFill>
                  <a:schemeClr val="bg1"/>
                </a:solidFill>
                <a:latin typeface="ITC Franklin Gothic Std Book"/>
                <a:cs typeface="ITC Franklin Gothic Std Book"/>
              </a:rPr>
              <a:t> </a:t>
            </a:r>
            <a:r>
              <a:rPr lang="en-US" sz="2100" b="0" dirty="0" err="1">
                <a:solidFill>
                  <a:schemeClr val="bg1"/>
                </a:solidFill>
                <a:latin typeface="ITC Franklin Gothic Std Book"/>
                <a:cs typeface="ITC Franklin Gothic Std Book"/>
              </a:rPr>
              <a:t>Pristavec</a:t>
            </a:r>
            <a:r>
              <a:rPr lang="en-US" sz="2100" b="0" dirty="0">
                <a:solidFill>
                  <a:schemeClr val="bg1"/>
                </a:solidFill>
                <a:latin typeface="ITC Franklin Gothic Std Book"/>
                <a:cs typeface="ITC Franklin Gothic Std Book"/>
              </a:rPr>
              <a:t>, Josh Goldstein, Stephanie Shipp</a:t>
            </a:r>
          </a:p>
          <a:p>
            <a:pPr algn="l" defTabSz="1314450">
              <a:lnSpc>
                <a:spcPct val="150000"/>
              </a:lnSpc>
              <a:defRPr sz="2100" b="0">
                <a:solidFill>
                  <a:srgbClr val="FFFFFF"/>
                </a:solidFill>
                <a:latin typeface="ITC Franklin Gothic Std"/>
                <a:ea typeface="ITC Franklin Gothic Std"/>
                <a:cs typeface="ITC Franklin Gothic Std"/>
                <a:sym typeface="ITC Franklin Gothic Std"/>
              </a:defRPr>
            </a:pPr>
            <a:r>
              <a:rPr lang="en-US" sz="2100" b="0" dirty="0">
                <a:solidFill>
                  <a:schemeClr val="bg1"/>
                </a:solidFill>
                <a:latin typeface="ITC Franklin Gothic Std Book"/>
                <a:cs typeface="ITC Franklin Gothic Std Book"/>
              </a:rPr>
              <a:t>SPONSOR: </a:t>
            </a:r>
            <a:r>
              <a:rPr lang="en-US" sz="2100" dirty="0">
                <a:solidFill>
                  <a:schemeClr val="bg1"/>
                </a:solidFill>
              </a:rPr>
              <a:t>John Pender, Peter Hahn, Zachary Keeler, USDA Economic Research Service</a:t>
            </a:r>
          </a:p>
        </p:txBody>
      </p:sp>
      <p:pic>
        <p:nvPicPr>
          <p:cNvPr id="53" name="Image" descr="Image"/>
          <p:cNvPicPr>
            <a:picLocks noChangeAspect="1"/>
          </p:cNvPicPr>
          <p:nvPr/>
        </p:nvPicPr>
        <p:blipFill>
          <a:blip r:embed="rId3"/>
          <a:stretch>
            <a:fillRect/>
          </a:stretch>
        </p:blipFill>
        <p:spPr>
          <a:xfrm>
            <a:off x="6697514" y="31141639"/>
            <a:ext cx="8550572" cy="1284981"/>
          </a:xfrm>
          <a:prstGeom prst="rect">
            <a:avLst/>
          </a:prstGeom>
          <a:ln w="12700">
            <a:miter lim="400000"/>
          </a:ln>
        </p:spPr>
      </p:pic>
      <p:sp>
        <p:nvSpPr>
          <p:cNvPr id="17" name="TITLE OF RESEARCH STUDY in 54 pt">
            <a:extLst>
              <a:ext uri="{FF2B5EF4-FFF2-40B4-BE49-F238E27FC236}">
                <a16:creationId xmlns:a16="http://schemas.microsoft.com/office/drawing/2014/main" id="{74CD354F-525C-485D-8B7D-4D6F05B2101D}"/>
              </a:ext>
            </a:extLst>
          </p:cNvPr>
          <p:cNvSpPr txBox="1"/>
          <p:nvPr/>
        </p:nvSpPr>
        <p:spPr>
          <a:xfrm>
            <a:off x="756579" y="3730169"/>
            <a:ext cx="9930299" cy="78483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dirty="0">
                <a:solidFill>
                  <a:srgbClr val="1B3765"/>
                </a:solidFill>
                <a:latin typeface="Franklin Gothic Medium" panose="020B0603020102020204" pitchFamily="34" charset="0"/>
              </a:rPr>
              <a:t>Introduction</a:t>
            </a:r>
          </a:p>
        </p:txBody>
      </p:sp>
      <p:sp>
        <p:nvSpPr>
          <p:cNvPr id="18" name="TITLE OF RESEARCH STUDY in 54 pt">
            <a:extLst>
              <a:ext uri="{FF2B5EF4-FFF2-40B4-BE49-F238E27FC236}">
                <a16:creationId xmlns:a16="http://schemas.microsoft.com/office/drawing/2014/main" id="{9CC3F763-258D-4603-801F-E6054035292B}"/>
              </a:ext>
            </a:extLst>
          </p:cNvPr>
          <p:cNvSpPr txBox="1"/>
          <p:nvPr/>
        </p:nvSpPr>
        <p:spPr>
          <a:xfrm>
            <a:off x="756579" y="10841470"/>
            <a:ext cx="7281692" cy="784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dirty="0">
                <a:solidFill>
                  <a:srgbClr val="1B3765"/>
                </a:solidFill>
                <a:latin typeface="Franklin Gothic Medium" panose="020B0603020102020204" pitchFamily="34" charset="0"/>
              </a:rPr>
              <a:t>Validation Methodology</a:t>
            </a:r>
          </a:p>
        </p:txBody>
      </p:sp>
      <p:sp>
        <p:nvSpPr>
          <p:cNvPr id="20" name="TITLE OF RESEARCH STUDY in 54 pt">
            <a:extLst>
              <a:ext uri="{FF2B5EF4-FFF2-40B4-BE49-F238E27FC236}">
                <a16:creationId xmlns:a16="http://schemas.microsoft.com/office/drawing/2014/main" id="{1E79377F-704B-4B57-A75D-4939DC4FFC5C}"/>
              </a:ext>
            </a:extLst>
          </p:cNvPr>
          <p:cNvSpPr txBox="1"/>
          <p:nvPr/>
        </p:nvSpPr>
        <p:spPr>
          <a:xfrm>
            <a:off x="756579" y="6623385"/>
            <a:ext cx="2516050" cy="784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a:solidFill>
                  <a:srgbClr val="1B3765"/>
                </a:solidFill>
                <a:latin typeface="Franklin Gothic Medium" panose="020B0603020102020204" pitchFamily="34" charset="0"/>
              </a:rPr>
              <a:t>Data</a:t>
            </a:r>
          </a:p>
        </p:txBody>
      </p:sp>
      <p:sp>
        <p:nvSpPr>
          <p:cNvPr id="21" name="TITLE OF RESEARCH STUDY in 54 pt">
            <a:extLst>
              <a:ext uri="{FF2B5EF4-FFF2-40B4-BE49-F238E27FC236}">
                <a16:creationId xmlns:a16="http://schemas.microsoft.com/office/drawing/2014/main" id="{B3F5E9D9-A1DC-45C0-83D8-202BFF49BE2C}"/>
              </a:ext>
            </a:extLst>
          </p:cNvPr>
          <p:cNvSpPr txBox="1"/>
          <p:nvPr/>
        </p:nvSpPr>
        <p:spPr>
          <a:xfrm>
            <a:off x="756579" y="16326332"/>
            <a:ext cx="9039755" cy="78483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a:solidFill>
                  <a:srgbClr val="1B3765"/>
                </a:solidFill>
                <a:latin typeface="Franklin Gothic Medium" panose="020B0603020102020204" pitchFamily="34" charset="0"/>
              </a:rPr>
              <a:t>Findings</a:t>
            </a:r>
          </a:p>
        </p:txBody>
      </p:sp>
      <p:sp>
        <p:nvSpPr>
          <p:cNvPr id="7" name="Rectangle 6">
            <a:extLst>
              <a:ext uri="{FF2B5EF4-FFF2-40B4-BE49-F238E27FC236}">
                <a16:creationId xmlns:a16="http://schemas.microsoft.com/office/drawing/2014/main" id="{6714257F-B779-41E0-BAA1-C1025B0C6069}"/>
              </a:ext>
            </a:extLst>
          </p:cNvPr>
          <p:cNvSpPr/>
          <p:nvPr/>
        </p:nvSpPr>
        <p:spPr>
          <a:xfrm>
            <a:off x="6667075" y="6836148"/>
            <a:ext cx="4572000"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algn="r" defTabSz="1971675" rtl="0" fontAlgn="auto" latinLnBrk="0" hangingPunct="0">
              <a:lnSpc>
                <a:spcPct val="100000"/>
              </a:lnSpc>
              <a:spcBef>
                <a:spcPts val="0"/>
              </a:spcBef>
              <a:spcAft>
                <a:spcPts val="0"/>
              </a:spcAft>
              <a:buClrTx/>
              <a:buSzTx/>
              <a:buFontTx/>
              <a:buNone/>
              <a:tabLst/>
            </a:pPr>
            <a:r>
              <a:rPr kumimoji="0" lang="en-US" sz="2200" b="0" i="0" u="none" strike="noStrike" cap="none" spc="0" normalizeH="0" baseline="0">
                <a:ln>
                  <a:noFill/>
                </a:ln>
                <a:solidFill>
                  <a:srgbClr val="FFFFFF"/>
                </a:solidFill>
                <a:effectLst/>
                <a:uFillTx/>
                <a:latin typeface="Franklin Gothic Demi" panose="020B0703020102020204" pitchFamily="34" charset="0"/>
                <a:ea typeface="+mn-ea"/>
                <a:cs typeface="+mn-cs"/>
                <a:sym typeface="Helvetica Neue Medium"/>
              </a:rPr>
              <a:t>American Community Survey</a:t>
            </a:r>
          </a:p>
        </p:txBody>
      </p:sp>
      <p:sp>
        <p:nvSpPr>
          <p:cNvPr id="32" name="Rectangle 31">
            <a:extLst>
              <a:ext uri="{FF2B5EF4-FFF2-40B4-BE49-F238E27FC236}">
                <a16:creationId xmlns:a16="http://schemas.microsoft.com/office/drawing/2014/main" id="{BBB23DA8-5C34-40A5-96A3-9649E338B465}"/>
              </a:ext>
            </a:extLst>
          </p:cNvPr>
          <p:cNvSpPr/>
          <p:nvPr/>
        </p:nvSpPr>
        <p:spPr>
          <a:xfrm>
            <a:off x="11846707" y="6825579"/>
            <a:ext cx="4114800"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algn="r" defTabSz="1971675" rtl="0" fontAlgn="auto" latinLnBrk="0" hangingPunct="0">
              <a:lnSpc>
                <a:spcPct val="100000"/>
              </a:lnSpc>
              <a:spcBef>
                <a:spcPts val="0"/>
              </a:spcBef>
              <a:spcAft>
                <a:spcPts val="0"/>
              </a:spcAft>
              <a:buClrTx/>
              <a:buSzTx/>
              <a:buFontTx/>
              <a:buNone/>
              <a:tabLst/>
            </a:pPr>
            <a:r>
              <a:rPr kumimoji="0" lang="en-US" sz="2200" b="0" i="0" u="none" strike="noStrike" cap="none" spc="0" normalizeH="0" baseline="0">
                <a:ln>
                  <a:noFill/>
                </a:ln>
                <a:solidFill>
                  <a:srgbClr val="FFFFFF"/>
                </a:solidFill>
                <a:effectLst/>
                <a:uFillTx/>
                <a:latin typeface="Franklin Gothic Demi" panose="020B0703020102020204" pitchFamily="34" charset="0"/>
                <a:ea typeface="+mn-ea"/>
                <a:cs typeface="+mn-cs"/>
                <a:sym typeface="Helvetica Neue Medium"/>
              </a:rPr>
              <a:t>BroadbandNow</a:t>
            </a:r>
          </a:p>
        </p:txBody>
      </p:sp>
      <p:sp>
        <p:nvSpPr>
          <p:cNvPr id="38" name="Rectangle 37">
            <a:extLst>
              <a:ext uri="{FF2B5EF4-FFF2-40B4-BE49-F238E27FC236}">
                <a16:creationId xmlns:a16="http://schemas.microsoft.com/office/drawing/2014/main" id="{3DEE275F-9D74-4B21-8785-244C72D4006F}"/>
              </a:ext>
            </a:extLst>
          </p:cNvPr>
          <p:cNvSpPr/>
          <p:nvPr/>
        </p:nvSpPr>
        <p:spPr>
          <a:xfrm>
            <a:off x="2332153" y="6825578"/>
            <a:ext cx="3657600"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algn="r" defTabSz="1971675" rtl="0" fontAlgn="auto" latinLnBrk="0" hangingPunct="0">
              <a:lnSpc>
                <a:spcPct val="100000"/>
              </a:lnSpc>
              <a:spcBef>
                <a:spcPts val="0"/>
              </a:spcBef>
              <a:spcAft>
                <a:spcPts val="0"/>
              </a:spcAft>
              <a:buClrTx/>
              <a:buSzTx/>
              <a:buFontTx/>
              <a:buNone/>
              <a:tabLst/>
            </a:pPr>
            <a:r>
              <a:rPr kumimoji="0" lang="en-US" sz="2200" b="0" i="0" u="none" strike="noStrike" cap="none" spc="0" normalizeH="0" baseline="0">
                <a:ln>
                  <a:noFill/>
                </a:ln>
                <a:solidFill>
                  <a:srgbClr val="FFFFFF"/>
                </a:solidFill>
                <a:effectLst/>
                <a:uFillTx/>
                <a:latin typeface="Franklin Gothic Demi" panose="020B0703020102020204" pitchFamily="34" charset="0"/>
                <a:ea typeface="+mn-ea"/>
                <a:cs typeface="+mn-cs"/>
                <a:sym typeface="Helvetica Neue Medium"/>
              </a:rPr>
              <a:t>FCC FORM 477</a:t>
            </a:r>
          </a:p>
        </p:txBody>
      </p:sp>
      <p:sp>
        <p:nvSpPr>
          <p:cNvPr id="60" name="TITLE OF RESEARCH STUDY in 54 pt">
            <a:extLst>
              <a:ext uri="{FF2B5EF4-FFF2-40B4-BE49-F238E27FC236}">
                <a16:creationId xmlns:a16="http://schemas.microsoft.com/office/drawing/2014/main" id="{4DFB0A5E-12BC-42B3-8292-E5F017116AE1}"/>
              </a:ext>
            </a:extLst>
          </p:cNvPr>
          <p:cNvSpPr txBox="1"/>
          <p:nvPr/>
        </p:nvSpPr>
        <p:spPr>
          <a:xfrm>
            <a:off x="10413527" y="22044492"/>
            <a:ext cx="6378217" cy="784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a:solidFill>
                  <a:srgbClr val="1B3765"/>
                </a:solidFill>
                <a:latin typeface="Franklin Gothic Medium" panose="020B0603020102020204" pitchFamily="34" charset="0"/>
              </a:rPr>
              <a:t>Discussion &amp; Further Research</a:t>
            </a:r>
          </a:p>
        </p:txBody>
      </p:sp>
      <p:sp>
        <p:nvSpPr>
          <p:cNvPr id="19" name="Rectangle 18">
            <a:extLst>
              <a:ext uri="{FF2B5EF4-FFF2-40B4-BE49-F238E27FC236}">
                <a16:creationId xmlns:a16="http://schemas.microsoft.com/office/drawing/2014/main" id="{73B05F23-2050-4E74-A3DA-38906270E408}"/>
              </a:ext>
            </a:extLst>
          </p:cNvPr>
          <p:cNvSpPr/>
          <p:nvPr/>
        </p:nvSpPr>
        <p:spPr>
          <a:xfrm>
            <a:off x="18711843" y="29198151"/>
            <a:ext cx="2968117" cy="3383280"/>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 name="TextBox 1">
            <a:extLst>
              <a:ext uri="{FF2B5EF4-FFF2-40B4-BE49-F238E27FC236}">
                <a16:creationId xmlns:a16="http://schemas.microsoft.com/office/drawing/2014/main" id="{07CA3B35-499B-4FFE-A078-47D2C27171EE}"/>
              </a:ext>
            </a:extLst>
          </p:cNvPr>
          <p:cNvSpPr txBox="1"/>
          <p:nvPr/>
        </p:nvSpPr>
        <p:spPr>
          <a:xfrm>
            <a:off x="934997" y="7349809"/>
            <a:ext cx="5029200" cy="35586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lvl="2" indent="-342900" algn="l" fontAlgn="base">
              <a:buFont typeface="Courier New" panose="02070309020205020404" pitchFamily="49" charset="0"/>
              <a:buChar char="o"/>
            </a:pPr>
            <a:r>
              <a:rPr lang="en-US" sz="2200" b="0" dirty="0">
                <a:latin typeface="ITC Franklin Gothic Std"/>
              </a:rPr>
              <a:t>Receives self-reported data from broadband providers, potentially introducing error if advertised coverage estimates are reported rather than actual estimates. </a:t>
            </a:r>
          </a:p>
          <a:p>
            <a:pPr marL="342900" lvl="2" indent="-342900" algn="l" fontAlgn="base">
              <a:buFont typeface="Courier New" panose="02070309020205020404" pitchFamily="49" charset="0"/>
              <a:buChar char="o"/>
            </a:pPr>
            <a:r>
              <a:rPr lang="en-US" sz="2200" b="0" dirty="0">
                <a:latin typeface="ITC Franklin Gothic Std"/>
              </a:rPr>
              <a:t>If a census tract had just one subscriber, the entire census tract is assumed to have broadband.   </a:t>
            </a:r>
          </a:p>
          <a:p>
            <a:pPr marL="342900" indent="-342900" algn="l" fontAlgn="base">
              <a:buFont typeface="Courier New" panose="02070309020205020404" pitchFamily="49" charset="0"/>
              <a:buChar char="o"/>
            </a:pPr>
            <a:r>
              <a:rPr lang="en-US" sz="2200" b="0" dirty="0">
                <a:latin typeface="ITC Franklin Gothic Std"/>
              </a:rPr>
              <a:t>Claims that broadband is not available to 25 million Americans.</a:t>
            </a:r>
          </a:p>
        </p:txBody>
      </p:sp>
      <p:sp>
        <p:nvSpPr>
          <p:cNvPr id="48" name="Rectangle 47">
            <a:extLst>
              <a:ext uri="{FF2B5EF4-FFF2-40B4-BE49-F238E27FC236}">
                <a16:creationId xmlns:a16="http://schemas.microsoft.com/office/drawing/2014/main" id="{E52DC956-4E72-41FB-A63C-62EAA0F7792D}"/>
              </a:ext>
            </a:extLst>
          </p:cNvPr>
          <p:cNvSpPr/>
          <p:nvPr/>
        </p:nvSpPr>
        <p:spPr>
          <a:xfrm>
            <a:off x="16678057" y="6838458"/>
            <a:ext cx="4114800"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algn="r" defTabSz="1971675" rtl="0" fontAlgn="auto" latinLnBrk="0" hangingPunct="0">
              <a:lnSpc>
                <a:spcPct val="100000"/>
              </a:lnSpc>
              <a:spcBef>
                <a:spcPts val="0"/>
              </a:spcBef>
              <a:spcAft>
                <a:spcPts val="0"/>
              </a:spcAft>
              <a:buClrTx/>
              <a:buSzTx/>
              <a:buFontTx/>
              <a:buNone/>
              <a:tabLst/>
            </a:pPr>
            <a:r>
              <a:rPr kumimoji="0" lang="en-US" sz="2200" b="0" i="0" u="none" strike="noStrike" cap="none" spc="0" normalizeH="0" baseline="0">
                <a:ln>
                  <a:noFill/>
                </a:ln>
                <a:solidFill>
                  <a:srgbClr val="FFFFFF"/>
                </a:solidFill>
                <a:effectLst/>
                <a:uFillTx/>
                <a:latin typeface="Franklin Gothic Demi" panose="020B0703020102020204" pitchFamily="34" charset="0"/>
                <a:ea typeface="+mn-ea"/>
                <a:cs typeface="+mn-cs"/>
                <a:sym typeface="Helvetica Neue Medium"/>
              </a:rPr>
              <a:t>Microsoft Airband</a:t>
            </a:r>
          </a:p>
        </p:txBody>
      </p:sp>
      <p:sp>
        <p:nvSpPr>
          <p:cNvPr id="50" name="TextBox 49">
            <a:extLst>
              <a:ext uri="{FF2B5EF4-FFF2-40B4-BE49-F238E27FC236}">
                <a16:creationId xmlns:a16="http://schemas.microsoft.com/office/drawing/2014/main" id="{B1F00027-ED8E-4F91-A749-B304A8719F44}"/>
              </a:ext>
            </a:extLst>
          </p:cNvPr>
          <p:cNvSpPr txBox="1"/>
          <p:nvPr/>
        </p:nvSpPr>
        <p:spPr>
          <a:xfrm>
            <a:off x="6200534" y="7464109"/>
            <a:ext cx="5029200" cy="3897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indent="-342900" algn="l">
              <a:buFont typeface="Courier New" panose="02070309020205020404" pitchFamily="49" charset="0"/>
              <a:buChar char="o"/>
            </a:pPr>
            <a:r>
              <a:rPr lang="en-US" sz="2200" b="0" dirty="0">
                <a:latin typeface="ITC Franklin Gothic Std"/>
              </a:rPr>
              <a:t>The survey provides more detailed socioeconomic information than the decennial Census form.</a:t>
            </a:r>
          </a:p>
          <a:p>
            <a:pPr marL="342900" indent="-342900" algn="l">
              <a:buFont typeface="Courier New" panose="02070309020205020404" pitchFamily="49" charset="0"/>
              <a:buChar char="o"/>
            </a:pPr>
            <a:r>
              <a:rPr lang="en-US" sz="2200" b="0" dirty="0">
                <a:latin typeface="ITC Franklin Gothic Std"/>
              </a:rPr>
              <a:t>Table B28002: Presence and Types of Internet Subscriptions in Household for the 2013-2017 Five-Year Summary provided data specific to broadband.</a:t>
            </a:r>
          </a:p>
          <a:p>
            <a:pPr marL="342900" indent="-342900" algn="l">
              <a:buFont typeface="Courier New" panose="02070309020205020404" pitchFamily="49" charset="0"/>
              <a:buChar char="o"/>
            </a:pPr>
            <a:r>
              <a:rPr lang="en-US" sz="2200" b="0" dirty="0">
                <a:latin typeface="ITC Franklin Gothic Std"/>
              </a:rPr>
              <a:t>Receives self-reported data from households but does not include group quarters.</a:t>
            </a:r>
          </a:p>
          <a:p>
            <a:pPr marL="342900" lvl="2" indent="-342900" algn="l" fontAlgn="base">
              <a:buFont typeface="Arial" panose="020B0604020202020204" pitchFamily="34" charset="0"/>
              <a:buChar char="•"/>
            </a:pPr>
            <a:endParaRPr lang="en-US" sz="2200" b="0" dirty="0">
              <a:latin typeface="ITC Franklin Gothic Std"/>
            </a:endParaRPr>
          </a:p>
        </p:txBody>
      </p:sp>
      <p:sp>
        <p:nvSpPr>
          <p:cNvPr id="55" name="TextBox 54">
            <a:extLst>
              <a:ext uri="{FF2B5EF4-FFF2-40B4-BE49-F238E27FC236}">
                <a16:creationId xmlns:a16="http://schemas.microsoft.com/office/drawing/2014/main" id="{6D1974F1-AA38-4CB2-8CCF-27E34DB50523}"/>
              </a:ext>
            </a:extLst>
          </p:cNvPr>
          <p:cNvSpPr txBox="1"/>
          <p:nvPr/>
        </p:nvSpPr>
        <p:spPr>
          <a:xfrm>
            <a:off x="11466071" y="7451409"/>
            <a:ext cx="4538804" cy="35586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indent="-342900" algn="l" fontAlgn="base">
              <a:buFont typeface="Courier New" panose="02070309020205020404" pitchFamily="49" charset="0"/>
              <a:buChar char="o"/>
            </a:pPr>
            <a:r>
              <a:rPr lang="en-US" sz="2200" b="0" dirty="0">
                <a:latin typeface="ITC Franklin Gothic Std"/>
              </a:rPr>
              <a:t>Online search engine which lists information for broadband availability on the zip code and city level.</a:t>
            </a:r>
          </a:p>
          <a:p>
            <a:pPr marL="342900" indent="-342900" algn="l" fontAlgn="base">
              <a:buFont typeface="Courier New" panose="02070309020205020404" pitchFamily="49" charset="0"/>
              <a:buChar char="o"/>
            </a:pPr>
            <a:r>
              <a:rPr lang="en-US" sz="2200" b="0" dirty="0">
                <a:latin typeface="ITC Franklin Gothic Std"/>
              </a:rPr>
              <a:t>Provides information regarding the number of providers, maximum and average upload and download speeds as well as the change in broadband speeds over time.</a:t>
            </a:r>
          </a:p>
          <a:p>
            <a:pPr marL="342900" lvl="2" indent="-342900" algn="l" fontAlgn="base">
              <a:buFont typeface="Arial" panose="020B0604020202020204" pitchFamily="34" charset="0"/>
              <a:buChar char="•"/>
            </a:pPr>
            <a:endParaRPr lang="en-US" sz="2200" b="0" dirty="0">
              <a:latin typeface="ITC Franklin Gothic Std"/>
            </a:endParaRPr>
          </a:p>
        </p:txBody>
      </p:sp>
      <p:sp>
        <p:nvSpPr>
          <p:cNvPr id="58" name="TextBox 57">
            <a:extLst>
              <a:ext uri="{FF2B5EF4-FFF2-40B4-BE49-F238E27FC236}">
                <a16:creationId xmlns:a16="http://schemas.microsoft.com/office/drawing/2014/main" id="{285CEDBB-516F-482C-A5A1-C39ACE04904E}"/>
              </a:ext>
            </a:extLst>
          </p:cNvPr>
          <p:cNvSpPr txBox="1"/>
          <p:nvPr/>
        </p:nvSpPr>
        <p:spPr>
          <a:xfrm>
            <a:off x="16076266" y="7337109"/>
            <a:ext cx="4853334" cy="4574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indent="-342900" algn="l" fontAlgn="base">
              <a:buFont typeface="Courier New" panose="02070309020205020404" pitchFamily="49" charset="0"/>
              <a:buChar char="o"/>
            </a:pPr>
            <a:r>
              <a:rPr lang="en-US" sz="2200" b="0" dirty="0">
                <a:latin typeface="ITC Franklin Gothic Std"/>
              </a:rPr>
              <a:t>Finds that around 163 million Americans do not use the internet at 25 </a:t>
            </a:r>
            <a:r>
              <a:rPr lang="en-US" sz="2200" b="0" dirty="0" err="1">
                <a:latin typeface="ITC Franklin Gothic Std"/>
              </a:rPr>
              <a:t>Mbps</a:t>
            </a:r>
            <a:r>
              <a:rPr lang="en-US" sz="2200" b="0" dirty="0">
                <a:latin typeface="ITC Franklin Gothic Std"/>
              </a:rPr>
              <a:t>, or broadband speed. </a:t>
            </a:r>
          </a:p>
          <a:p>
            <a:pPr marL="342900" indent="-342900" algn="l" fontAlgn="base">
              <a:buFont typeface="Courier New" panose="02070309020205020404" pitchFamily="49" charset="0"/>
              <a:buChar char="o"/>
            </a:pPr>
            <a:r>
              <a:rPr lang="en-US" sz="2200" b="0" dirty="0">
                <a:latin typeface="ITC Franklin Gothic Std"/>
              </a:rPr>
              <a:t>Microsoft calculated this by analyzing its servers’ logs when electronic devices downloaded Microsoft Windows and/or Office updates, as well as when devices used the Microsoft’s Bing search engine and Xbox gaming consoles.</a:t>
            </a:r>
          </a:p>
          <a:p>
            <a:pPr marL="342900" indent="-342900" algn="l" fontAlgn="base">
              <a:buFont typeface="Courier New" panose="02070309020205020404" pitchFamily="49" charset="0"/>
              <a:buChar char="o"/>
            </a:pPr>
            <a:endParaRPr lang="en-US" sz="2200" b="0" dirty="0">
              <a:latin typeface="ITC Franklin Gothic Std"/>
            </a:endParaRPr>
          </a:p>
          <a:p>
            <a:pPr marL="342900" indent="-342900" algn="l" fontAlgn="base">
              <a:buFont typeface="Courier New" panose="02070309020205020404" pitchFamily="49" charset="0"/>
              <a:buChar char="o"/>
            </a:pPr>
            <a:endParaRPr lang="en-US" sz="2200" b="0" dirty="0">
              <a:latin typeface="ITC Franklin Gothic Std"/>
            </a:endParaRPr>
          </a:p>
          <a:p>
            <a:pPr marL="342900" lvl="2" indent="-342900" algn="l" fontAlgn="base">
              <a:buFont typeface="Arial" panose="020B0604020202020204" pitchFamily="34" charset="0"/>
              <a:buChar char="•"/>
            </a:pPr>
            <a:endParaRPr lang="en-US" sz="2200" b="0" dirty="0">
              <a:latin typeface="ITC Franklin Gothic Std"/>
            </a:endParaRPr>
          </a:p>
        </p:txBody>
      </p:sp>
      <p:pic>
        <p:nvPicPr>
          <p:cNvPr id="4" name="Picture 3">
            <a:extLst>
              <a:ext uri="{FF2B5EF4-FFF2-40B4-BE49-F238E27FC236}">
                <a16:creationId xmlns:a16="http://schemas.microsoft.com/office/drawing/2014/main" id="{CABE0DDE-2031-442A-A39D-D71924A2FF32}"/>
              </a:ext>
            </a:extLst>
          </p:cNvPr>
          <p:cNvPicPr>
            <a:picLocks noChangeAspect="1"/>
          </p:cNvPicPr>
          <p:nvPr/>
        </p:nvPicPr>
        <p:blipFill>
          <a:blip r:embed="rId4"/>
          <a:stretch>
            <a:fillRect/>
          </a:stretch>
        </p:blipFill>
        <p:spPr>
          <a:xfrm>
            <a:off x="10545149" y="16538453"/>
            <a:ext cx="2810115" cy="1728044"/>
          </a:xfrm>
          <a:prstGeom prst="rect">
            <a:avLst/>
          </a:prstGeom>
        </p:spPr>
      </p:pic>
      <p:pic>
        <p:nvPicPr>
          <p:cNvPr id="5" name="Picture 4">
            <a:extLst>
              <a:ext uri="{FF2B5EF4-FFF2-40B4-BE49-F238E27FC236}">
                <a16:creationId xmlns:a16="http://schemas.microsoft.com/office/drawing/2014/main" id="{25E86BE9-76CC-40C2-B5C2-A2E0FF3F4288}"/>
              </a:ext>
            </a:extLst>
          </p:cNvPr>
          <p:cNvPicPr>
            <a:picLocks noChangeAspect="1"/>
          </p:cNvPicPr>
          <p:nvPr/>
        </p:nvPicPr>
        <p:blipFill>
          <a:blip r:embed="rId5"/>
          <a:stretch>
            <a:fillRect/>
          </a:stretch>
        </p:blipFill>
        <p:spPr>
          <a:xfrm>
            <a:off x="10559800" y="18573367"/>
            <a:ext cx="2802970" cy="1803253"/>
          </a:xfrm>
          <a:prstGeom prst="rect">
            <a:avLst/>
          </a:prstGeom>
        </p:spPr>
      </p:pic>
      <p:pic>
        <p:nvPicPr>
          <p:cNvPr id="8" name="Picture 7">
            <a:extLst>
              <a:ext uri="{FF2B5EF4-FFF2-40B4-BE49-F238E27FC236}">
                <a16:creationId xmlns:a16="http://schemas.microsoft.com/office/drawing/2014/main" id="{6275F900-246E-46A4-9F08-A964AC3B93B4}"/>
              </a:ext>
            </a:extLst>
          </p:cNvPr>
          <p:cNvPicPr>
            <a:picLocks noChangeAspect="1"/>
          </p:cNvPicPr>
          <p:nvPr/>
        </p:nvPicPr>
        <p:blipFill>
          <a:blip r:embed="rId6"/>
          <a:stretch>
            <a:fillRect/>
          </a:stretch>
        </p:blipFill>
        <p:spPr>
          <a:xfrm>
            <a:off x="10545149" y="20523324"/>
            <a:ext cx="1995513" cy="1035875"/>
          </a:xfrm>
          <a:prstGeom prst="rect">
            <a:avLst/>
          </a:prstGeom>
        </p:spPr>
      </p:pic>
      <p:sp>
        <p:nvSpPr>
          <p:cNvPr id="9" name="TextBox 8">
            <a:extLst>
              <a:ext uri="{FF2B5EF4-FFF2-40B4-BE49-F238E27FC236}">
                <a16:creationId xmlns:a16="http://schemas.microsoft.com/office/drawing/2014/main" id="{3DBBD89B-61A6-4F41-AB22-EFB551A4C941}"/>
              </a:ext>
            </a:extLst>
          </p:cNvPr>
          <p:cNvSpPr txBox="1"/>
          <p:nvPr/>
        </p:nvSpPr>
        <p:spPr>
          <a:xfrm>
            <a:off x="13504525" y="16005598"/>
            <a:ext cx="7183775" cy="8502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l" defTabSz="1971675" rtl="0" fontAlgn="auto" latinLnBrk="0" hangingPunct="0">
              <a:lnSpc>
                <a:spcPct val="100000"/>
              </a:lnSpc>
              <a:spcBef>
                <a:spcPts val="0"/>
              </a:spcBef>
              <a:spcAft>
                <a:spcPts val="0"/>
              </a:spcAft>
              <a:buClrTx/>
              <a:buSzTx/>
              <a:buFontTx/>
              <a:buNone/>
              <a:tabLst/>
            </a:pPr>
            <a:r>
              <a:rPr lang="en-US" sz="2200" b="0" dirty="0">
                <a:latin typeface="ITC Franklin Gothic Std"/>
              </a:rPr>
              <a:t>Broadband coverage discrepancy map for North Dakota (ND) and South Dakota (SD) at block group level</a:t>
            </a:r>
            <a:endParaRPr kumimoji="0" lang="en-US" sz="2200" b="0" i="0" u="none" strike="noStrike" cap="none" spc="0" normalizeH="0" baseline="0" dirty="0">
              <a:ln>
                <a:noFill/>
              </a:ln>
              <a:solidFill>
                <a:srgbClr val="000000"/>
              </a:solidFill>
              <a:effectLst/>
              <a:uFillTx/>
              <a:latin typeface="ITC Franklin Gothic Std"/>
              <a:sym typeface="Helvetica Neue"/>
            </a:endParaRPr>
          </a:p>
        </p:txBody>
      </p:sp>
      <p:sp>
        <p:nvSpPr>
          <p:cNvPr id="11" name="TextBox 10">
            <a:extLst>
              <a:ext uri="{FF2B5EF4-FFF2-40B4-BE49-F238E27FC236}">
                <a16:creationId xmlns:a16="http://schemas.microsoft.com/office/drawing/2014/main" id="{9F265CFB-8687-4DB7-8C9D-30AE6673A246}"/>
              </a:ext>
            </a:extLst>
          </p:cNvPr>
          <p:cNvSpPr txBox="1"/>
          <p:nvPr/>
        </p:nvSpPr>
        <p:spPr>
          <a:xfrm>
            <a:off x="13504525" y="16905991"/>
            <a:ext cx="7855260" cy="525143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200" b="0" i="0" u="none" strike="noStrike" cap="none" spc="0" normalizeH="0" baseline="0" dirty="0">
                <a:ln>
                  <a:noFill/>
                </a:ln>
                <a:solidFill>
                  <a:srgbClr val="000000"/>
                </a:solidFill>
                <a:effectLst/>
                <a:uFillTx/>
                <a:latin typeface="ITC Franklin Gothic Std"/>
                <a:sym typeface="Helvetica Neue"/>
              </a:rPr>
              <a:t>Explored the broadband </a:t>
            </a:r>
            <a:r>
              <a:rPr lang="en-US" sz="2200" b="0" dirty="0">
                <a:latin typeface="ITC Franklin Gothic Std"/>
              </a:rPr>
              <a:t>coverage discrepancy between the FCC and ACS data in North and South Dakota to understand the effect of state boundaries and policies on broadband availability. </a:t>
            </a:r>
          </a:p>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200" b="0" i="0" u="none" strike="noStrike" cap="none" spc="0" normalizeH="0" baseline="0" dirty="0">
                <a:ln>
                  <a:noFill/>
                </a:ln>
                <a:solidFill>
                  <a:srgbClr val="000000"/>
                </a:solidFill>
                <a:effectLst/>
                <a:uFillTx/>
                <a:latin typeface="ITC Franklin Gothic Std"/>
                <a:sym typeface="Helvetica Neue"/>
              </a:rPr>
              <a:t>We notice hig</a:t>
            </a:r>
            <a:r>
              <a:rPr lang="en-US" sz="2200" b="0" dirty="0">
                <a:latin typeface="ITC Franklin Gothic Std"/>
              </a:rPr>
              <a:t>her coverage discrepancy in the more rural parts of ND and SD. </a:t>
            </a:r>
          </a:p>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lang="en-US" sz="2200" b="0" dirty="0">
                <a:latin typeface="ITC Franklin Gothic Std"/>
              </a:rPr>
              <a:t>The southwest section of ND is majorly urban compared to the rest of the state and we can clearly see a difference in broadband coverage across the northeast portion of SD which is purely rural. </a:t>
            </a:r>
          </a:p>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lang="en-US" sz="2200" b="0" dirty="0">
                <a:latin typeface="ITC Franklin Gothic Std"/>
              </a:rPr>
              <a:t>North Dakota is a largely rural state that has experienced a surge in broadband availability mainly due to the Broadband Technology Opportunities Program (BTOP) as well as a large-scale introduction of rural cooperatives (co-ops) that are made up of local service providers in the area₁.</a:t>
            </a:r>
          </a:p>
        </p:txBody>
      </p:sp>
      <p:sp>
        <p:nvSpPr>
          <p:cNvPr id="36" name="TextBox 35">
            <a:extLst>
              <a:ext uri="{FF2B5EF4-FFF2-40B4-BE49-F238E27FC236}">
                <a16:creationId xmlns:a16="http://schemas.microsoft.com/office/drawing/2014/main" id="{34CEE3DF-EE1F-5745-8D8E-0FD0D0E84C72}"/>
              </a:ext>
            </a:extLst>
          </p:cNvPr>
          <p:cNvSpPr txBox="1"/>
          <p:nvPr/>
        </p:nvSpPr>
        <p:spPr>
          <a:xfrm>
            <a:off x="973097" y="11577862"/>
            <a:ext cx="12287176" cy="49128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lvl="2" indent="-342900" algn="l" fontAlgn="base">
              <a:buFont typeface="Courier New" panose="02070309020205020404" pitchFamily="49" charset="0"/>
              <a:buChar char="o"/>
            </a:pPr>
            <a:r>
              <a:rPr lang="en-US" sz="2200" b="0" dirty="0">
                <a:latin typeface="ITC Franklin Gothic Std"/>
              </a:rPr>
              <a:t>Data was scraped and aggregated at the County, City, Census Tract, and Block Group levels in order to observe differences in coverage.</a:t>
            </a:r>
          </a:p>
          <a:p>
            <a:pPr marL="342900" lvl="2" indent="-342900" algn="l" fontAlgn="base">
              <a:buFont typeface="Courier New" panose="02070309020205020404" pitchFamily="49" charset="0"/>
              <a:buChar char="o"/>
            </a:pPr>
            <a:r>
              <a:rPr lang="en-US" sz="2200" b="0" dirty="0">
                <a:latin typeface="ITC Franklin Gothic Std"/>
              </a:rPr>
              <a:t>FCC coverage metrics were developed utilizing a threshold of 25 </a:t>
            </a:r>
            <a:r>
              <a:rPr lang="en-US" sz="2200" b="0" dirty="0" err="1">
                <a:latin typeface="ITC Franklin Gothic Std"/>
              </a:rPr>
              <a:t>Mbps</a:t>
            </a:r>
            <a:r>
              <a:rPr lang="en-US" sz="2200" b="0" dirty="0">
                <a:latin typeface="ITC Franklin Gothic Std"/>
              </a:rPr>
              <a:t> download speed and supplemented with Decennial Population data to determine % of population with broadband access. The absolute difference between this metric and other data sources identifies level of discrepancy:</a:t>
            </a:r>
          </a:p>
          <a:p>
            <a:pPr lvl="3" indent="0" algn="l" fontAlgn="base"/>
            <a:r>
              <a:rPr lang="en-US" sz="2200" b="0" dirty="0">
                <a:latin typeface="ITC Franklin Gothic Std"/>
              </a:rPr>
              <a:t>                1) ACS 007 – Access to Broadband (Excluding Cellular and Satellite)</a:t>
            </a:r>
          </a:p>
          <a:p>
            <a:pPr marL="1651000" lvl="4" indent="-1651000" algn="l" fontAlgn="base"/>
            <a:r>
              <a:rPr lang="en-US" sz="2200" b="0" dirty="0">
                <a:latin typeface="ITC Franklin Gothic Std"/>
              </a:rPr>
              <a:t>                2) FCC Internet Service Connections of at least 10 </a:t>
            </a:r>
            <a:r>
              <a:rPr lang="en-US" sz="2200" b="0" dirty="0" err="1">
                <a:latin typeface="ITC Franklin Gothic Std"/>
              </a:rPr>
              <a:t>Mbps</a:t>
            </a:r>
            <a:r>
              <a:rPr lang="en-US" sz="2200" b="0" dirty="0">
                <a:latin typeface="ITC Franklin Gothic Std"/>
              </a:rPr>
              <a:t> (Bins) [Block Group, Census Tract]</a:t>
            </a:r>
          </a:p>
          <a:p>
            <a:pPr lvl="4" indent="0" algn="l" fontAlgn="base"/>
            <a:r>
              <a:rPr lang="en-US" sz="2200" b="0" dirty="0">
                <a:latin typeface="ITC Franklin Gothic Std"/>
              </a:rPr>
              <a:t>                3) Microsoft Usage Percentage [County]</a:t>
            </a:r>
          </a:p>
          <a:p>
            <a:pPr lvl="4" indent="0" algn="l" fontAlgn="base"/>
            <a:r>
              <a:rPr lang="en-US" sz="2200" b="0" dirty="0">
                <a:latin typeface="ITC Franklin Gothic Std"/>
              </a:rPr>
              <a:t>                4) </a:t>
            </a:r>
            <a:r>
              <a:rPr lang="en-US" sz="2200" b="0" dirty="0" err="1">
                <a:latin typeface="ITC Franklin Gothic Std"/>
              </a:rPr>
              <a:t>BroadbandNow</a:t>
            </a:r>
            <a:r>
              <a:rPr lang="en-US" sz="2200" b="0" dirty="0">
                <a:latin typeface="ITC Franklin Gothic Std"/>
              </a:rPr>
              <a:t> Coverage [City level]</a:t>
            </a:r>
          </a:p>
          <a:p>
            <a:pPr marL="342900" lvl="4" indent="-342900" algn="l" fontAlgn="base">
              <a:buFont typeface="Courier New" panose="02070309020205020404" pitchFamily="49" charset="0"/>
              <a:buChar char="o"/>
            </a:pPr>
            <a:r>
              <a:rPr lang="en-US" sz="2200" b="0" dirty="0">
                <a:latin typeface="ITC Franklin Gothic Std"/>
              </a:rPr>
              <a:t>Data examined by USDA-specified Rural-Urban Continuum Codes (RUCC) – RUCC Codes distinguish metropolitan counties by the population size of their metro area, and nonmetropolitan counties by degree of urbanization and adjacency to a metro area.</a:t>
            </a:r>
          </a:p>
        </p:txBody>
      </p:sp>
      <p:cxnSp>
        <p:nvCxnSpPr>
          <p:cNvPr id="37" name="Straight Connector 36">
            <a:extLst>
              <a:ext uri="{FF2B5EF4-FFF2-40B4-BE49-F238E27FC236}">
                <a16:creationId xmlns:a16="http://schemas.microsoft.com/office/drawing/2014/main" id="{CE3995E2-0533-154B-BC91-D96C5770C54C}"/>
              </a:ext>
            </a:extLst>
          </p:cNvPr>
          <p:cNvCxnSpPr>
            <a:cxnSpLocks/>
          </p:cNvCxnSpPr>
          <p:nvPr/>
        </p:nvCxnSpPr>
        <p:spPr>
          <a:xfrm>
            <a:off x="11229730" y="6836148"/>
            <a:ext cx="0" cy="4024959"/>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39" name="Straight Connector 38">
            <a:extLst>
              <a:ext uri="{FF2B5EF4-FFF2-40B4-BE49-F238E27FC236}">
                <a16:creationId xmlns:a16="http://schemas.microsoft.com/office/drawing/2014/main" id="{28DCE24F-4727-6944-86F4-7F9C9064F36B}"/>
              </a:ext>
            </a:extLst>
          </p:cNvPr>
          <p:cNvCxnSpPr>
            <a:cxnSpLocks/>
          </p:cNvCxnSpPr>
          <p:nvPr/>
        </p:nvCxnSpPr>
        <p:spPr>
          <a:xfrm>
            <a:off x="15953762" y="6825579"/>
            <a:ext cx="0" cy="4024959"/>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40" name="Straight Connector 39">
            <a:extLst>
              <a:ext uri="{FF2B5EF4-FFF2-40B4-BE49-F238E27FC236}">
                <a16:creationId xmlns:a16="http://schemas.microsoft.com/office/drawing/2014/main" id="{85A2B735-9B95-884F-8471-C7C83E9DCB1F}"/>
              </a:ext>
            </a:extLst>
          </p:cNvPr>
          <p:cNvCxnSpPr>
            <a:cxnSpLocks/>
          </p:cNvCxnSpPr>
          <p:nvPr/>
        </p:nvCxnSpPr>
        <p:spPr>
          <a:xfrm>
            <a:off x="20796889" y="6838458"/>
            <a:ext cx="0" cy="4024959"/>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41" name="Straight Connector 40">
            <a:extLst>
              <a:ext uri="{FF2B5EF4-FFF2-40B4-BE49-F238E27FC236}">
                <a16:creationId xmlns:a16="http://schemas.microsoft.com/office/drawing/2014/main" id="{F4BB2490-188C-1646-B7B1-50874D23160B}"/>
              </a:ext>
            </a:extLst>
          </p:cNvPr>
          <p:cNvCxnSpPr>
            <a:cxnSpLocks/>
          </p:cNvCxnSpPr>
          <p:nvPr/>
        </p:nvCxnSpPr>
        <p:spPr>
          <a:xfrm>
            <a:off x="5982661" y="6825578"/>
            <a:ext cx="0" cy="4024959"/>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43" name="Straight Connector 42">
            <a:extLst>
              <a:ext uri="{FF2B5EF4-FFF2-40B4-BE49-F238E27FC236}">
                <a16:creationId xmlns:a16="http://schemas.microsoft.com/office/drawing/2014/main" id="{1EDC8C62-D2EA-4A49-A711-4489D41745E7}"/>
              </a:ext>
            </a:extLst>
          </p:cNvPr>
          <p:cNvCxnSpPr>
            <a:cxnSpLocks/>
          </p:cNvCxnSpPr>
          <p:nvPr/>
        </p:nvCxnSpPr>
        <p:spPr>
          <a:xfrm>
            <a:off x="10152667" y="16916400"/>
            <a:ext cx="0" cy="13309600"/>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sp>
        <p:nvSpPr>
          <p:cNvPr id="13" name="TextBox 12">
            <a:extLst>
              <a:ext uri="{FF2B5EF4-FFF2-40B4-BE49-F238E27FC236}">
                <a16:creationId xmlns:a16="http://schemas.microsoft.com/office/drawing/2014/main" id="{D9A0D872-D117-2F40-8B79-439F33D661B1}"/>
              </a:ext>
            </a:extLst>
          </p:cNvPr>
          <p:cNvSpPr txBox="1"/>
          <p:nvPr/>
        </p:nvSpPr>
        <p:spPr>
          <a:xfrm>
            <a:off x="13070223" y="15367646"/>
            <a:ext cx="3082202" cy="7271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1B3765"/>
                </a:solidFill>
                <a:effectLst/>
                <a:uFillTx/>
                <a:latin typeface="Franklin Gothic Medium" panose="020B0603020102020204" pitchFamily="34" charset="0"/>
                <a:sym typeface="Helvetica Neue"/>
              </a:rPr>
              <a:t>Case Study:</a:t>
            </a:r>
          </a:p>
        </p:txBody>
      </p:sp>
      <p:cxnSp>
        <p:nvCxnSpPr>
          <p:cNvPr id="26" name="Straight Connector 25">
            <a:extLst>
              <a:ext uri="{FF2B5EF4-FFF2-40B4-BE49-F238E27FC236}">
                <a16:creationId xmlns:a16="http://schemas.microsoft.com/office/drawing/2014/main" id="{D9B75C17-4C3D-BA46-8ED8-97F6E610041B}"/>
              </a:ext>
            </a:extLst>
          </p:cNvPr>
          <p:cNvCxnSpPr>
            <a:cxnSpLocks/>
          </p:cNvCxnSpPr>
          <p:nvPr/>
        </p:nvCxnSpPr>
        <p:spPr>
          <a:xfrm flipV="1">
            <a:off x="10587570" y="22829322"/>
            <a:ext cx="8957425" cy="83966"/>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pic>
        <p:nvPicPr>
          <p:cNvPr id="29" name="Picture 28" descr="A close up of a logo&#10;&#10;Description automatically generated">
            <a:extLst>
              <a:ext uri="{FF2B5EF4-FFF2-40B4-BE49-F238E27FC236}">
                <a16:creationId xmlns:a16="http://schemas.microsoft.com/office/drawing/2014/main" id="{E881D94A-0E2F-1F4A-8DA3-408266F6CF3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986778" y="29513833"/>
            <a:ext cx="2373007" cy="2373007"/>
          </a:xfrm>
          <a:prstGeom prst="rect">
            <a:avLst/>
          </a:prstGeom>
        </p:spPr>
      </p:pic>
      <p:sp>
        <p:nvSpPr>
          <p:cNvPr id="30" name="TextBox 29">
            <a:extLst>
              <a:ext uri="{FF2B5EF4-FFF2-40B4-BE49-F238E27FC236}">
                <a16:creationId xmlns:a16="http://schemas.microsoft.com/office/drawing/2014/main" id="{B1F4D841-47BF-8440-B2ED-76CF72A16D6F}"/>
              </a:ext>
            </a:extLst>
          </p:cNvPr>
          <p:cNvSpPr txBox="1"/>
          <p:nvPr/>
        </p:nvSpPr>
        <p:spPr>
          <a:xfrm>
            <a:off x="18695526" y="31945118"/>
            <a:ext cx="2968117" cy="6040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r>
              <a:rPr lang="en-US" sz="1400">
                <a:solidFill>
                  <a:schemeClr val="bg1"/>
                </a:solidFill>
              </a:rPr>
              <a:t>http://bband.policy-analytics.net/</a:t>
            </a:r>
            <a:endParaRPr kumimoji="0" lang="en-US" sz="1400" i="0" u="none" strike="noStrike" cap="none" spc="0" normalizeH="0" baseline="0">
              <a:ln>
                <a:noFill/>
              </a:ln>
              <a:solidFill>
                <a:schemeClr val="bg1"/>
              </a:solidFill>
              <a:effectLst/>
              <a:uFillTx/>
              <a:sym typeface="Helvetica Neue"/>
            </a:endParaRPr>
          </a:p>
        </p:txBody>
      </p:sp>
      <p:pic>
        <p:nvPicPr>
          <p:cNvPr id="3" name="Picture 2" descr="https://raw.githubusercontent.com/uva-bi-sdad/dspg19broadband/sarah/src/poster_visuals/all_update.png">
            <a:extLst>
              <a:ext uri="{FF2B5EF4-FFF2-40B4-BE49-F238E27FC236}">
                <a16:creationId xmlns:a16="http://schemas.microsoft.com/office/drawing/2014/main" id="{6D12116E-A888-4A3C-806C-C67A7A6C674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7486" y="16977429"/>
            <a:ext cx="9563421" cy="446293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raw.githubusercontent.com/uva-bi-sdad/dspg19broadband/sarah/src/poster_visuals/metro.png">
            <a:extLst>
              <a:ext uri="{FF2B5EF4-FFF2-40B4-BE49-F238E27FC236}">
                <a16:creationId xmlns:a16="http://schemas.microsoft.com/office/drawing/2014/main" id="{CF6EFC5D-6AC5-4327-B13D-C0F8BB141D8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1861" y="21411724"/>
            <a:ext cx="9563421" cy="446293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raw.githubusercontent.com/uva-bi-sdad/dspg19broadband/sarah/src/poster_visuals/rucc.png">
            <a:extLst>
              <a:ext uri="{FF2B5EF4-FFF2-40B4-BE49-F238E27FC236}">
                <a16:creationId xmlns:a16="http://schemas.microsoft.com/office/drawing/2014/main" id="{8F485FF4-8B65-46C2-AFB4-567DD1E9AEE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5538" y="25844635"/>
            <a:ext cx="9563419" cy="446292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s://raw.githubusercontent.com/uva-bi-sdad/dspg19broadband/sarah/src/poster_visuals/discrepancy_update.png">
            <a:extLst>
              <a:ext uri="{FF2B5EF4-FFF2-40B4-BE49-F238E27FC236}">
                <a16:creationId xmlns:a16="http://schemas.microsoft.com/office/drawing/2014/main" id="{2FC15563-BF1E-4B54-8D5B-2267A8A4082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070223" y="11314231"/>
            <a:ext cx="8465141" cy="3950399"/>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BF6B25C4-DA86-AE48-9158-55C30162082D}"/>
              </a:ext>
            </a:extLst>
          </p:cNvPr>
          <p:cNvSpPr txBox="1"/>
          <p:nvPr/>
        </p:nvSpPr>
        <p:spPr>
          <a:xfrm>
            <a:off x="10559800" y="22856451"/>
            <a:ext cx="11330477" cy="32201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algn="l"/>
            <a:r>
              <a:rPr lang="en-US" sz="2200" b="0"/>
              <a:t>We find that the FCC, ACS, and Microsoft Airband data give very inconsistent estimates of broadband accessibility. However, they all estimate lower coverage in rural areas compared to urban areas.  </a:t>
            </a:r>
          </a:p>
          <a:p>
            <a:pPr algn="l"/>
            <a:endParaRPr lang="en-US" sz="1400" b="0"/>
          </a:p>
          <a:p>
            <a:pPr algn="l"/>
            <a:r>
              <a:rPr lang="en-US" sz="2200" b="0"/>
              <a:t>Next steps:</a:t>
            </a:r>
          </a:p>
          <a:p>
            <a:pPr marL="342900" indent="-342900" algn="l">
              <a:buFont typeface="Arial" panose="020B0604020202020204" pitchFamily="34" charset="0"/>
              <a:buChar char="•"/>
            </a:pPr>
            <a:r>
              <a:rPr lang="en-US" sz="2200" b="0"/>
              <a:t>Explore the relationship between percent discrepancy and sociodemographic factors for counties by urbanicity. We provide our preliminary exploration of discrepancy and sociodemographic factors correlations below. Sociodemographic factors are more likely to influence discrepancies in metro than non-metro areas.</a:t>
            </a:r>
          </a:p>
        </p:txBody>
      </p:sp>
      <p:pic>
        <p:nvPicPr>
          <p:cNvPr id="46" name="Picture 45">
            <a:extLst>
              <a:ext uri="{FF2B5EF4-FFF2-40B4-BE49-F238E27FC236}">
                <a16:creationId xmlns:a16="http://schemas.microsoft.com/office/drawing/2014/main" id="{C940414A-CD02-A248-ABBF-53D005F6A2E0}"/>
              </a:ext>
            </a:extLst>
          </p:cNvPr>
          <p:cNvPicPr>
            <a:picLocks noChangeAspect="1"/>
          </p:cNvPicPr>
          <p:nvPr/>
        </p:nvPicPr>
        <p:blipFill>
          <a:blip r:embed="rId12"/>
          <a:stretch>
            <a:fillRect/>
          </a:stretch>
        </p:blipFill>
        <p:spPr>
          <a:xfrm>
            <a:off x="10963134" y="26010302"/>
            <a:ext cx="7467278" cy="3484730"/>
          </a:xfrm>
          <a:prstGeom prst="rect">
            <a:avLst/>
          </a:prstGeom>
        </p:spPr>
      </p:pic>
      <p:sp>
        <p:nvSpPr>
          <p:cNvPr id="47" name="TextBox 46">
            <a:extLst>
              <a:ext uri="{FF2B5EF4-FFF2-40B4-BE49-F238E27FC236}">
                <a16:creationId xmlns:a16="http://schemas.microsoft.com/office/drawing/2014/main" id="{88C9A799-3AEB-D94A-819C-E705DFCD33B7}"/>
              </a:ext>
            </a:extLst>
          </p:cNvPr>
          <p:cNvSpPr txBox="1"/>
          <p:nvPr/>
        </p:nvSpPr>
        <p:spPr>
          <a:xfrm>
            <a:off x="10545149" y="29418832"/>
            <a:ext cx="7985781" cy="11887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indent="-342900" algn="l">
              <a:buFont typeface="Arial" panose="020B0604020202020204" pitchFamily="34" charset="0"/>
              <a:buChar char="•"/>
            </a:pPr>
            <a:r>
              <a:rPr lang="en-US" sz="2200" b="0"/>
              <a:t>Use FCC, ACS, and Microsoft data to obtain model-based broadband access predictions based on sociodemographic information (e.g. urbanicity, unemployment).</a:t>
            </a:r>
          </a:p>
        </p:txBody>
      </p:sp>
      <p:sp>
        <p:nvSpPr>
          <p:cNvPr id="12" name="TextBox 11">
            <a:extLst>
              <a:ext uri="{FF2B5EF4-FFF2-40B4-BE49-F238E27FC236}">
                <a16:creationId xmlns:a16="http://schemas.microsoft.com/office/drawing/2014/main" id="{0005F6F8-763B-094C-921E-A69F5F0EDEFD}"/>
              </a:ext>
            </a:extLst>
          </p:cNvPr>
          <p:cNvSpPr txBox="1"/>
          <p:nvPr/>
        </p:nvSpPr>
        <p:spPr>
          <a:xfrm>
            <a:off x="749842" y="159238"/>
            <a:ext cx="13580516" cy="18351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l" defTabSz="1971675"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bg1"/>
                </a:solidFill>
                <a:effectLst/>
                <a:uFillTx/>
                <a:latin typeface="ITC Franklin Gothic Std Book" panose="020B0504030503020204" pitchFamily="34" charset="77"/>
                <a:sym typeface="Helvetica Neue"/>
              </a:rPr>
              <a:t>Broadband Data Validation: Comparing U.S. </a:t>
            </a:r>
            <a:r>
              <a:rPr lang="en-US" sz="5400" b="0" dirty="0">
                <a:solidFill>
                  <a:schemeClr val="bg1"/>
                </a:solidFill>
                <a:latin typeface="ITC Franklin Gothic Std Book" panose="020B0504030503020204" pitchFamily="34" charset="77"/>
              </a:rPr>
              <a:t>Broadband Coverage</a:t>
            </a:r>
            <a:endParaRPr kumimoji="0" lang="en-US" sz="5400" b="0" i="0" u="none" strike="noStrike" cap="none" spc="0" normalizeH="0" baseline="0" dirty="0">
              <a:ln>
                <a:noFill/>
              </a:ln>
              <a:solidFill>
                <a:schemeClr val="bg1"/>
              </a:solidFill>
              <a:effectLst/>
              <a:uFillTx/>
              <a:latin typeface="ITC Franklin Gothic Std Book" panose="020B0504030503020204" pitchFamily="34" charset="77"/>
              <a:sym typeface="Helvetica Neue"/>
            </a:endParaRPr>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9700747D-1B25-4F17-968F-1BDF10EB0CD0}"/>
</file>

<file path=customXml/itemProps2.xml><?xml version="1.0" encoding="utf-8"?>
<ds:datastoreItem xmlns:ds="http://schemas.openxmlformats.org/officeDocument/2006/customXml" ds:itemID="{5744E001-9309-4B72-9DD9-01C5E10ECFF1}"/>
</file>

<file path=customXml/itemProps3.xml><?xml version="1.0" encoding="utf-8"?>
<ds:datastoreItem xmlns:ds="http://schemas.openxmlformats.org/officeDocument/2006/customXml" ds:itemID="{6C40663F-0327-4B62-9A87-50981F243A9C}"/>
</file>

<file path=docProps/app.xml><?xml version="1.0" encoding="utf-8"?>
<Properties xmlns="http://schemas.openxmlformats.org/officeDocument/2006/extended-properties" xmlns:vt="http://schemas.openxmlformats.org/officeDocument/2006/docPropsVTypes">
  <TotalTime>36</TotalTime>
  <Words>623</Words>
  <Application>Microsoft Macintosh PowerPoint</Application>
  <PresentationFormat>Custom</PresentationFormat>
  <Paragraphs>46</Paragraphs>
  <Slides>1</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vt:i4>
      </vt:variant>
    </vt:vector>
  </HeadingPairs>
  <TitlesOfParts>
    <vt:vector size="13" baseType="lpstr">
      <vt:lpstr>Arial</vt:lpstr>
      <vt:lpstr>Courier New</vt:lpstr>
      <vt:lpstr>Franklin Gothic Demi</vt:lpstr>
      <vt:lpstr>Franklin Gothic Medium</vt:lpstr>
      <vt:lpstr>Garamond</vt:lpstr>
      <vt:lpstr>Helvetica Neue</vt:lpstr>
      <vt:lpstr>Helvetica Neue Medium</vt:lpstr>
      <vt:lpstr>Helvetica Neue Thin</vt:lpstr>
      <vt:lpstr>ITC Franklin Gothic Std</vt:lpstr>
      <vt:lpstr>ITC Franklin Gothic Std Book</vt:lpstr>
      <vt:lpstr>ITC Franklin Gothic Std Demi Co</vt:lpstr>
      <vt:lpstr>White</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Grace Dusseau</cp:lastModifiedBy>
  <cp:revision>12</cp:revision>
  <cp:lastPrinted>2019-08-04T03:05:54Z</cp:lastPrinted>
  <dcterms:created xsi:type="dcterms:W3CDTF">2019-07-16T21:17:53Z</dcterms:created>
  <dcterms:modified xsi:type="dcterms:W3CDTF">2019-08-04T03:13:46Z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