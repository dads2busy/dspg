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566"/>
    <a:srgbClr val="EE641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034" autoAdjust="0"/>
    <p:restoredTop sz="94674"/>
  </p:normalViewPr>
  <p:slideViewPr>
    <p:cSldViewPr snapToGrid="0" snapToObjects="1">
      <p:cViewPr>
        <p:scale>
          <a:sx n="70" d="100"/>
          <a:sy n="70" d="100"/>
        </p:scale>
        <p:origin x="616" y="176"/>
      </p:cViewPr>
      <p:guideLst>
        <p:guide orient="horz" pos="10368"/>
        <p:guide pos="691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emplate 2">
    <p:spTree>
      <p:nvGrpSpPr>
        <p:cNvPr id="1" name=""/>
        <p:cNvGrpSpPr/>
        <p:nvPr/>
      </p:nvGrpSpPr>
      <p:grpSpPr>
        <a:xfrm>
          <a:off x="0" y="0"/>
          <a:ext cx="0" cy="0"/>
          <a:chOff x="0" y="0"/>
          <a:chExt cx="0" cy="0"/>
        </a:xfrm>
      </p:grpSpPr>
      <p:pic>
        <p:nvPicPr>
          <p:cNvPr id="19" name="Image" descr="Image"/>
          <p:cNvPicPr>
            <a:picLocks noChangeAspect="1"/>
          </p:cNvPicPr>
          <p:nvPr/>
        </p:nvPicPr>
        <p:blipFill>
          <a:blip r:embed="rId2"/>
          <a:stretch>
            <a:fillRect/>
          </a:stretch>
        </p:blipFill>
        <p:spPr>
          <a:xfrm>
            <a:off x="-13095" y="-65166"/>
            <a:ext cx="22754146" cy="32331953"/>
          </a:xfrm>
          <a:prstGeom prst="rect">
            <a:avLst/>
          </a:prstGeom>
          <a:ln w="12700">
            <a:miter lim="400000"/>
          </a:ln>
        </p:spPr>
      </p:pic>
      <p:sp>
        <p:nvSpPr>
          <p:cNvPr id="20"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50"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 descr="Image"/>
          <p:cNvPicPr>
            <a:picLocks noChangeAspect="1"/>
          </p:cNvPicPr>
          <p:nvPr/>
        </p:nvPicPr>
        <p:blipFill>
          <a:blip r:embed="rId2"/>
          <a:stretch>
            <a:fillRect/>
          </a:stretch>
        </p:blipFill>
        <p:spPr>
          <a:xfrm>
            <a:off x="14174517" y="31158015"/>
            <a:ext cx="7135281" cy="1071770"/>
          </a:xfrm>
          <a:prstGeom prst="rect">
            <a:avLst/>
          </a:prstGeom>
          <a:ln w="12700">
            <a:miter lim="400000"/>
          </a:ln>
        </p:spPr>
      </p:pic>
      <p:sp>
        <p:nvSpPr>
          <p:cNvPr id="30" name="TITLE OF RESEARCH STUDY in 54 pt"/>
          <p:cNvSpPr txBox="1"/>
          <p:nvPr/>
        </p:nvSpPr>
        <p:spPr>
          <a:xfrm>
            <a:off x="1141183" y="536595"/>
            <a:ext cx="14475806" cy="10618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5400" b="0" cap="all">
                <a:solidFill>
                  <a:srgbClr val="EE6419"/>
                </a:solidFill>
                <a:latin typeface="ITC Franklin Gothic Std Demi Co"/>
                <a:ea typeface="ITC Franklin Gothic Std Demi Co"/>
                <a:cs typeface="ITC Franklin Gothic Std Demi Co"/>
                <a:sym typeface="ITC Franklin Gothic Std Demi Co"/>
              </a:defRPr>
            </a:lvl1pPr>
          </a:lstStyle>
          <a:p>
            <a:r>
              <a:rPr lang="en-US" dirty="0">
                <a:latin typeface="ITC Franklin Gothic Std Dm Cd"/>
                <a:cs typeface="ITC Franklin Gothic Std Dm Cd"/>
              </a:rPr>
              <a:t>Measuring community embeddedness </a:t>
            </a:r>
          </a:p>
          <a:p>
            <a:r>
              <a:rPr lang="en-US" dirty="0">
                <a:latin typeface="ITC Franklin Gothic Std Dm Cd"/>
                <a:cs typeface="ITC Franklin Gothic Std Dm Cd"/>
              </a:rPr>
              <a:t>near army installations: A feasibility study</a:t>
            </a:r>
            <a:endParaRPr dirty="0">
              <a:latin typeface="ITC Franklin Gothic Std Dm Cd"/>
              <a:cs typeface="ITC Franklin Gothic Std Dm Cd"/>
            </a:endParaRPr>
          </a:p>
        </p:txBody>
      </p:sp>
      <p:sp>
        <p:nvSpPr>
          <p:cNvPr id="34" name="Reference Text - Franklin Gothic Book - 18"/>
          <p:cNvSpPr txBox="1"/>
          <p:nvPr/>
        </p:nvSpPr>
        <p:spPr>
          <a:xfrm>
            <a:off x="1330282" y="29492444"/>
            <a:ext cx="19351657" cy="15745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1800" b="0">
                <a:latin typeface="ITC Franklin Gothic Std"/>
                <a:ea typeface="ITC Franklin Gothic Std"/>
                <a:cs typeface="ITC Franklin Gothic Std"/>
                <a:sym typeface="ITC Franklin Gothic Std"/>
              </a:defRPr>
            </a:lvl1pPr>
          </a:lstStyle>
          <a:p>
            <a:r>
              <a:rPr lang="en-US" sz="1400" dirty="0">
                <a:solidFill>
                  <a:schemeClr val="tx1"/>
                </a:solidFill>
              </a:rPr>
              <a:t>References</a:t>
            </a:r>
          </a:p>
          <a:p>
            <a:pPr marL="342900" indent="-342900">
              <a:buFont typeface="+mj-lt"/>
              <a:buAutoNum type="arabicPeriod"/>
            </a:pPr>
            <a:r>
              <a:rPr lang="en-US" sz="1200" dirty="0" err="1">
                <a:solidFill>
                  <a:schemeClr val="tx1"/>
                </a:solidFill>
              </a:rPr>
              <a:t>Munyon</a:t>
            </a:r>
            <a:r>
              <a:rPr lang="en-US" sz="1200" dirty="0">
                <a:solidFill>
                  <a:schemeClr val="tx1"/>
                </a:solidFill>
              </a:rPr>
              <a:t>, T. P., Madden, L. T., Madden, T. M., &amp; Vigoda-Gadot, E. (2019). (</a:t>
            </a:r>
            <a:r>
              <a:rPr lang="en-US" sz="1200" dirty="0" err="1">
                <a:solidFill>
                  <a:schemeClr val="tx1"/>
                </a:solidFill>
              </a:rPr>
              <a:t>Dys</a:t>
            </a:r>
            <a:r>
              <a:rPr lang="en-US" sz="1200" dirty="0">
                <a:solidFill>
                  <a:schemeClr val="tx1"/>
                </a:solidFill>
              </a:rPr>
              <a:t>)functional attachments?: How community embeddedness impacts workers during and after long-term unemployment. </a:t>
            </a:r>
            <a:r>
              <a:rPr lang="en-US" sz="1200" i="1" dirty="0">
                <a:solidFill>
                  <a:schemeClr val="tx1"/>
                </a:solidFill>
              </a:rPr>
              <a:t>Journal of Vocational Behavior,112</a:t>
            </a:r>
            <a:r>
              <a:rPr lang="en-US" sz="1200" dirty="0">
                <a:solidFill>
                  <a:schemeClr val="tx1"/>
                </a:solidFill>
              </a:rPr>
              <a:t>, 35-50. doi:10.1016/j.jvb.2019.01.005</a:t>
            </a:r>
          </a:p>
          <a:p>
            <a:pPr marL="342900" indent="-342900">
              <a:buFont typeface="+mj-lt"/>
              <a:buAutoNum type="arabicPeriod"/>
            </a:pPr>
            <a:r>
              <a:rPr lang="en-US" sz="1200" dirty="0" err="1">
                <a:solidFill>
                  <a:schemeClr val="tx1"/>
                </a:solidFill>
              </a:rPr>
              <a:t>Felps</a:t>
            </a:r>
            <a:r>
              <a:rPr lang="en-US" sz="1200" dirty="0">
                <a:solidFill>
                  <a:schemeClr val="tx1"/>
                </a:solidFill>
              </a:rPr>
              <a:t>, W., Mitchell, T. R., </a:t>
            </a:r>
            <a:r>
              <a:rPr lang="en-US" sz="1200" dirty="0" err="1">
                <a:solidFill>
                  <a:schemeClr val="tx1"/>
                </a:solidFill>
              </a:rPr>
              <a:t>Hekman</a:t>
            </a:r>
            <a:r>
              <a:rPr lang="en-US" sz="1200" dirty="0">
                <a:solidFill>
                  <a:schemeClr val="tx1"/>
                </a:solidFill>
              </a:rPr>
              <a:t>, D. R., Lee, T. W., </a:t>
            </a:r>
            <a:r>
              <a:rPr lang="en-US" sz="1200" dirty="0" err="1">
                <a:solidFill>
                  <a:schemeClr val="tx1"/>
                </a:solidFill>
              </a:rPr>
              <a:t>Holtom</a:t>
            </a:r>
            <a:r>
              <a:rPr lang="en-US" sz="1200" dirty="0">
                <a:solidFill>
                  <a:schemeClr val="tx1"/>
                </a:solidFill>
              </a:rPr>
              <a:t>, B. C., &amp; Harman, W. S. (2009). Turnover contagion: How coworkers' job embeddedness and job search behaviors influence quitting. Academy of Management Journal, 52(3), 545-561. doi:10.5465/amj.2009.41331075 </a:t>
            </a:r>
          </a:p>
          <a:p>
            <a:pPr marL="342900" indent="-342900">
              <a:buFont typeface="+mj-lt"/>
              <a:buAutoNum type="arabicPeriod"/>
            </a:pPr>
            <a:r>
              <a:rPr lang="en-US" sz="1200" dirty="0" err="1">
                <a:solidFill>
                  <a:schemeClr val="tx1"/>
                </a:solidFill>
              </a:rPr>
              <a:t>Holtom</a:t>
            </a:r>
            <a:r>
              <a:rPr lang="en-US" sz="1200" dirty="0">
                <a:solidFill>
                  <a:schemeClr val="tx1"/>
                </a:solidFill>
              </a:rPr>
              <a:t>, B. C., Mitchell, T. R., Lee, T. W., &amp; </a:t>
            </a:r>
            <a:r>
              <a:rPr lang="en-US" sz="1200" dirty="0" err="1">
                <a:solidFill>
                  <a:schemeClr val="tx1"/>
                </a:solidFill>
              </a:rPr>
              <a:t>Inderrieden</a:t>
            </a:r>
            <a:r>
              <a:rPr lang="en-US" sz="1200" dirty="0">
                <a:solidFill>
                  <a:schemeClr val="tx1"/>
                </a:solidFill>
              </a:rPr>
              <a:t>, E. J. (2005). Shocks as causes of turnover: What they are and how organizations can manage them. Human Resource Management,44(3), 337-352. doi:10.1002/hrm.20074 </a:t>
            </a:r>
          </a:p>
          <a:p>
            <a:pPr marL="342900" indent="-342900">
              <a:buFont typeface="+mj-lt"/>
              <a:buAutoNum type="arabicPeriod"/>
            </a:pPr>
            <a:r>
              <a:rPr lang="en-US" sz="1200" dirty="0">
                <a:solidFill>
                  <a:schemeClr val="tx1"/>
                </a:solidFill>
              </a:rPr>
              <a:t>Mitchell, T. R., </a:t>
            </a:r>
            <a:r>
              <a:rPr lang="en-US" sz="1200" dirty="0" err="1">
                <a:solidFill>
                  <a:schemeClr val="tx1"/>
                </a:solidFill>
              </a:rPr>
              <a:t>Holtom</a:t>
            </a:r>
            <a:r>
              <a:rPr lang="en-US" sz="1200" dirty="0">
                <a:solidFill>
                  <a:schemeClr val="tx1"/>
                </a:solidFill>
              </a:rPr>
              <a:t>, B. C., Lee, T. W., </a:t>
            </a:r>
            <a:r>
              <a:rPr lang="en-US" sz="1200" dirty="0" err="1">
                <a:solidFill>
                  <a:schemeClr val="tx1"/>
                </a:solidFill>
              </a:rPr>
              <a:t>Sablynski</a:t>
            </a:r>
            <a:r>
              <a:rPr lang="en-US" sz="1200" dirty="0">
                <a:solidFill>
                  <a:schemeClr val="tx1"/>
                </a:solidFill>
              </a:rPr>
              <a:t>, C. J., &amp; </a:t>
            </a:r>
            <a:r>
              <a:rPr lang="en-US" sz="1200" dirty="0" err="1">
                <a:solidFill>
                  <a:schemeClr val="tx1"/>
                </a:solidFill>
              </a:rPr>
              <a:t>Erez</a:t>
            </a:r>
            <a:r>
              <a:rPr lang="en-US" sz="1200" dirty="0">
                <a:solidFill>
                  <a:schemeClr val="tx1"/>
                </a:solidFill>
              </a:rPr>
              <a:t>, M. (2001). Why people stay: Using job embeddedness to predict voluntary turnover. Academy of Management Journal, 44(6), 1102-1121. doi:10.5465/3069391 </a:t>
            </a:r>
          </a:p>
          <a:p>
            <a:pPr marL="342900" indent="-342900">
              <a:buFont typeface="+mj-lt"/>
              <a:buAutoNum type="arabicPeriod"/>
            </a:pPr>
            <a:r>
              <a:rPr lang="en-US" sz="1200" dirty="0">
                <a:solidFill>
                  <a:schemeClr val="tx1"/>
                </a:solidFill>
              </a:rPr>
              <a:t>Mitchell, T. R., </a:t>
            </a:r>
            <a:r>
              <a:rPr lang="en-US" sz="1200" dirty="0" err="1">
                <a:solidFill>
                  <a:schemeClr val="tx1"/>
                </a:solidFill>
              </a:rPr>
              <a:t>Holtom</a:t>
            </a:r>
            <a:r>
              <a:rPr lang="en-US" sz="1200" dirty="0">
                <a:solidFill>
                  <a:schemeClr val="tx1"/>
                </a:solidFill>
              </a:rPr>
              <a:t>, B. C., &amp; Lee, T. W. (2001). How to keep your best employees: Developing an effective retention policy. Academy of Management Perspectives, 15(4), 96-108. doi:10.5465/ame.2001.5897929 </a:t>
            </a:r>
          </a:p>
          <a:p>
            <a:pPr marL="342900" indent="-342900">
              <a:buFont typeface="+mj-lt"/>
              <a:buAutoNum type="arabicPeriod"/>
            </a:pPr>
            <a:r>
              <a:rPr lang="en-US" sz="1200" dirty="0">
                <a:solidFill>
                  <a:schemeClr val="tx1"/>
                </a:solidFill>
              </a:rPr>
              <a:t>Ng, T. W., &amp; Feldman, D. C. (2013). Community embeddedness and work outcomes: The mediating role of organizational embeddedness. Human Relations,67(1), 71-103. doi:10.1177/0018726713486946</a:t>
            </a:r>
          </a:p>
        </p:txBody>
      </p:sp>
      <p:sp>
        <p:nvSpPr>
          <p:cNvPr id="39" name="Your Name, Graduate Student Name, Post Doc Name, Advisor…"/>
          <p:cNvSpPr txBox="1"/>
          <p:nvPr/>
        </p:nvSpPr>
        <p:spPr>
          <a:xfrm>
            <a:off x="1223730" y="2296816"/>
            <a:ext cx="10496463" cy="1634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none" lIns="114300" tIns="114300" rIns="114300" bIns="114300" anchor="t" anchorCtr="0">
            <a:noAutofit/>
          </a:bodyPr>
          <a:lstStyle/>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DSPG Team: Jessica </a:t>
            </a:r>
            <a:r>
              <a:rPr lang="en-US" b="0" dirty="0" err="1">
                <a:latin typeface="ITC Franklin Gothic Std Book"/>
                <a:cs typeface="ITC Franklin Gothic Std Book"/>
              </a:rPr>
              <a:t>Keast</a:t>
            </a:r>
            <a:r>
              <a:rPr lang="en-US" b="0" dirty="0">
                <a:latin typeface="ITC Franklin Gothic Std Book"/>
                <a:cs typeface="ITC Franklin Gothic Std Book"/>
              </a:rPr>
              <a:t> (Smith College), Sean </a:t>
            </a:r>
            <a:r>
              <a:rPr lang="en-US" b="0" dirty="0" err="1">
                <a:latin typeface="ITC Franklin Gothic Std Book"/>
                <a:cs typeface="ITC Franklin Gothic Std Book"/>
              </a:rPr>
              <a:t>Pietrowicz</a:t>
            </a:r>
            <a:r>
              <a:rPr lang="en-US" b="0">
                <a:latin typeface="ITC Franklin Gothic Std Book"/>
                <a:cs typeface="ITC Franklin Gothic Std Book"/>
              </a:rPr>
              <a:t> (University Notre Dame), </a:t>
            </a:r>
            <a:r>
              <a:rPr lang="en-US" b="0" dirty="0">
                <a:latin typeface="ITC Franklin Gothic Std Book"/>
                <a:cs typeface="ITC Franklin Gothic Std Book"/>
              </a:rPr>
              <a:t>Allegra </a:t>
            </a:r>
            <a:r>
              <a:rPr lang="en-US" b="0" dirty="0" err="1">
                <a:latin typeface="ITC Franklin Gothic Std Book"/>
                <a:cs typeface="ITC Franklin Gothic Std Book"/>
              </a:rPr>
              <a:t>Pocinki</a:t>
            </a:r>
            <a:r>
              <a:rPr lang="en-US" b="0" dirty="0">
                <a:latin typeface="ITC Franklin Gothic Std Book"/>
                <a:cs typeface="ITC Franklin Gothic Std Book"/>
              </a:rPr>
              <a:t> (Rutgers University)</a:t>
            </a:r>
          </a:p>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SDAD Team: Stephanie Shipp, Joel Thurston, Brandon Kramer, Vicki Lancaster, Josh Goldstein, Nathaniel Ratcliff</a:t>
            </a:r>
          </a:p>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Sponsor: Kelly Ervin, U.S. Army Research Institute for Social and Behavioral Research</a:t>
            </a:r>
            <a:endParaRPr b="0" dirty="0">
              <a:latin typeface="ITC Franklin Gothic Std Book"/>
              <a:cs typeface="ITC Franklin Gothic Std Book"/>
            </a:endParaRPr>
          </a:p>
        </p:txBody>
      </p:sp>
      <p:sp>
        <p:nvSpPr>
          <p:cNvPr id="40" name="TextBox 4"/>
          <p:cNvSpPr txBox="1"/>
          <p:nvPr/>
        </p:nvSpPr>
        <p:spPr>
          <a:xfrm>
            <a:off x="6471961" y="31109125"/>
            <a:ext cx="8767292" cy="5539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45719" rIns="45719">
            <a:spAutoFit/>
          </a:bodyPr>
          <a:lstStyle>
            <a:lvl1pPr algn="l" defTabSz="2633472">
              <a:defRPr sz="3600" b="0">
                <a:solidFill>
                  <a:srgbClr val="20304B"/>
                </a:solidFill>
                <a:latin typeface="ITC Franklin Gothic Std Medium"/>
                <a:ea typeface="ITC Franklin Gothic Std Medium"/>
                <a:cs typeface="ITC Franklin Gothic Std Medium"/>
                <a:sym typeface="ITC Franklin Gothic Std Medium"/>
              </a:defRPr>
            </a:lvl1pPr>
          </a:lstStyle>
          <a:p>
            <a:r>
              <a:rPr lang="en-US" sz="3000" dirty="0">
                <a:latin typeface="Franklin Gothic Medium"/>
                <a:cs typeface="Franklin Gothic Medium"/>
              </a:rPr>
              <a:t>SOCIAL DECISION AND ANALYTICS DIVISION</a:t>
            </a:r>
            <a:endParaRPr sz="3000" dirty="0">
              <a:latin typeface="Franklin Gothic Medium"/>
              <a:cs typeface="Franklin Gothic Medium"/>
            </a:endParaRPr>
          </a:p>
        </p:txBody>
      </p:sp>
      <p:grpSp>
        <p:nvGrpSpPr>
          <p:cNvPr id="8" name="Group 7">
            <a:extLst>
              <a:ext uri="{FF2B5EF4-FFF2-40B4-BE49-F238E27FC236}">
                <a16:creationId xmlns:a16="http://schemas.microsoft.com/office/drawing/2014/main" id="{0E4E58CA-B838-4467-A547-7117031A6F47}"/>
              </a:ext>
            </a:extLst>
          </p:cNvPr>
          <p:cNvGrpSpPr/>
          <p:nvPr/>
        </p:nvGrpSpPr>
        <p:grpSpPr>
          <a:xfrm>
            <a:off x="1022016" y="3780690"/>
            <a:ext cx="6581491" cy="7248007"/>
            <a:chOff x="1022016" y="3780690"/>
            <a:chExt cx="6581491" cy="7248007"/>
          </a:xfrm>
        </p:grpSpPr>
        <p:sp>
          <p:nvSpPr>
            <p:cNvPr id="14" name="Subhead - Franklin Gothic Demi - 28">
              <a:extLst>
                <a:ext uri="{FF2B5EF4-FFF2-40B4-BE49-F238E27FC236}">
                  <a16:creationId xmlns:a16="http://schemas.microsoft.com/office/drawing/2014/main" id="{18E1C5D3-F1D4-46F2-8B64-97777032E195}"/>
                </a:ext>
              </a:extLst>
            </p:cNvPr>
            <p:cNvSpPr txBox="1"/>
            <p:nvPr/>
          </p:nvSpPr>
          <p:spPr>
            <a:xfrm>
              <a:off x="1022016" y="3780690"/>
              <a:ext cx="6581491" cy="661720"/>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PROJECT</a:t>
              </a:r>
              <a:r>
                <a:rPr lang="en-US" dirty="0">
                  <a:solidFill>
                    <a:schemeClr val="bg1"/>
                  </a:solidFill>
                </a:rPr>
                <a:t> </a:t>
              </a:r>
              <a:r>
                <a:rPr lang="en-US" cap="all" dirty="0">
                  <a:solidFill>
                    <a:schemeClr val="bg1"/>
                  </a:solidFill>
                  <a:latin typeface="ITC Franklin Gothic Std Dm Cd"/>
                  <a:sym typeface="ITC Franklin Gothic Std Demi Co"/>
                </a:rPr>
                <a:t>DESCRIPTION</a:t>
              </a:r>
              <a:endParaRPr cap="all" dirty="0">
                <a:solidFill>
                  <a:schemeClr val="bg1"/>
                </a:solidFill>
                <a:latin typeface="ITC Franklin Gothic Std Dm Cd"/>
                <a:sym typeface="ITC Franklin Gothic Std Demi Co"/>
              </a:endParaRPr>
            </a:p>
          </p:txBody>
        </p:sp>
        <p:sp>
          <p:nvSpPr>
            <p:cNvPr id="15" name="Body Text - Franklin Gothic Book - 22">
              <a:extLst>
                <a:ext uri="{FF2B5EF4-FFF2-40B4-BE49-F238E27FC236}">
                  <a16:creationId xmlns:a16="http://schemas.microsoft.com/office/drawing/2014/main" id="{742E2220-9ACA-4A3D-B10C-74196ED5D198}"/>
                </a:ext>
              </a:extLst>
            </p:cNvPr>
            <p:cNvSpPr txBox="1"/>
            <p:nvPr/>
          </p:nvSpPr>
          <p:spPr>
            <a:xfrm>
              <a:off x="1251364" y="4450432"/>
              <a:ext cx="6064518" cy="6578265"/>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r>
                <a:rPr lang="en-US" b="1" dirty="0"/>
                <a:t>Goal: </a:t>
              </a:r>
              <a:r>
                <a:rPr lang="en-US" dirty="0"/>
                <a:t>Define and create composite indicators for measuring community embeddedness</a:t>
              </a:r>
            </a:p>
            <a:p>
              <a:endParaRPr lang="en-US" sz="800" dirty="0">
                <a:latin typeface="ITC Franklin Gothic Std Book"/>
                <a:cs typeface="ITC Franklin Gothic Std Book"/>
              </a:endParaRPr>
            </a:p>
            <a:p>
              <a:r>
                <a:rPr lang="en-US" dirty="0">
                  <a:latin typeface="ITC Franklin Gothic Std Book"/>
                  <a:cs typeface="ITC Franklin Gothic Std Book"/>
                </a:rPr>
                <a:t>The ARI-SDAD collaboration seeks to understand the relationship between the Soldier’s community and Soldier performance and behavior.</a:t>
              </a:r>
            </a:p>
            <a:p>
              <a:endParaRPr lang="en-US" sz="800" dirty="0">
                <a:latin typeface="ITC Franklin Gothic Std Book"/>
                <a:cs typeface="ITC Franklin Gothic Std Book"/>
              </a:endParaRPr>
            </a:p>
            <a:p>
              <a:r>
                <a:rPr lang="en-US" b="1" dirty="0">
                  <a:latin typeface="ITC Franklin Gothic Std Book"/>
                  <a:cs typeface="ITC Franklin Gothic Std Book"/>
                </a:rPr>
                <a:t>Research Questions:</a:t>
              </a:r>
            </a:p>
            <a:p>
              <a:pPr marL="342900" indent="-342900">
                <a:buFont typeface="Arial" panose="020B0604020202020204" pitchFamily="34" charset="0"/>
                <a:buChar char="•"/>
              </a:pPr>
              <a:r>
                <a:rPr lang="en-US" dirty="0">
                  <a:latin typeface="ITC Franklin Gothic Std Book"/>
                  <a:cs typeface="ITC Franklin Gothic Std Book"/>
                </a:rPr>
                <a:t>What is community embeddedness, and what characteristics of a community promote embeddedness?</a:t>
              </a:r>
            </a:p>
            <a:p>
              <a:pPr marL="342900" indent="-342900">
                <a:buFont typeface="Arial" panose="020B0604020202020204" pitchFamily="34" charset="0"/>
                <a:buChar char="•"/>
              </a:pPr>
              <a:r>
                <a:rPr lang="en-US" dirty="0">
                  <a:latin typeface="ITC Franklin Gothic Std Book"/>
                  <a:cs typeface="ITC Franklin Gothic Std Book"/>
                </a:rPr>
                <a:t>How does community embeddedness differ in counties with an Army post to surrounding counties?</a:t>
              </a:r>
            </a:p>
          </p:txBody>
        </p:sp>
      </p:grpSp>
      <p:grpSp>
        <p:nvGrpSpPr>
          <p:cNvPr id="5" name="Group 4">
            <a:extLst>
              <a:ext uri="{FF2B5EF4-FFF2-40B4-BE49-F238E27FC236}">
                <a16:creationId xmlns:a16="http://schemas.microsoft.com/office/drawing/2014/main" id="{596876CE-9490-4BEC-8BC6-5C6F09C1A5D9}"/>
              </a:ext>
            </a:extLst>
          </p:cNvPr>
          <p:cNvGrpSpPr/>
          <p:nvPr/>
        </p:nvGrpSpPr>
        <p:grpSpPr>
          <a:xfrm>
            <a:off x="1101813" y="9665466"/>
            <a:ext cx="6421896" cy="6663818"/>
            <a:chOff x="7943445" y="3776415"/>
            <a:chExt cx="6421896" cy="10402658"/>
          </a:xfrm>
        </p:grpSpPr>
        <p:sp>
          <p:nvSpPr>
            <p:cNvPr id="16" name="Subhead - Franklin Gothic Demi - 28">
              <a:extLst>
                <a:ext uri="{FF2B5EF4-FFF2-40B4-BE49-F238E27FC236}">
                  <a16:creationId xmlns:a16="http://schemas.microsoft.com/office/drawing/2014/main" id="{9B932CC7-4BEE-43A7-BD65-BC8F1DAFDBB5}"/>
                </a:ext>
              </a:extLst>
            </p:cNvPr>
            <p:cNvSpPr txBox="1"/>
            <p:nvPr/>
          </p:nvSpPr>
          <p:spPr>
            <a:xfrm>
              <a:off x="7943445" y="3776415"/>
              <a:ext cx="6421896" cy="1032988"/>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COMMUNITY EMBEDDEDNESS Literature</a:t>
              </a:r>
              <a:endParaRPr cap="all" dirty="0">
                <a:solidFill>
                  <a:schemeClr val="bg1"/>
                </a:solidFill>
                <a:latin typeface="ITC Franklin Gothic Std Dm Cd"/>
              </a:endParaRPr>
            </a:p>
          </p:txBody>
        </p:sp>
        <p:sp>
          <p:nvSpPr>
            <p:cNvPr id="17" name="Body Text - Franklin Gothic Book - 22">
              <a:extLst>
                <a:ext uri="{FF2B5EF4-FFF2-40B4-BE49-F238E27FC236}">
                  <a16:creationId xmlns:a16="http://schemas.microsoft.com/office/drawing/2014/main" id="{AA1D8406-705D-4926-8F0D-744E44073F9C}"/>
                </a:ext>
              </a:extLst>
            </p:cNvPr>
            <p:cNvSpPr txBox="1"/>
            <p:nvPr/>
          </p:nvSpPr>
          <p:spPr>
            <a:xfrm>
              <a:off x="8003086" y="4771087"/>
              <a:ext cx="6064518" cy="940798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marL="342900" indent="-342900">
                <a:buFont typeface="Arial" panose="020B0604020202020204" pitchFamily="34" charset="0"/>
                <a:buChar char="•"/>
              </a:pPr>
              <a:r>
                <a:rPr lang="en-US" dirty="0">
                  <a:latin typeface="ITC Franklin Gothic Std Book" panose="020B0504030503020204" pitchFamily="34" charset="0"/>
                  <a:cs typeface="ITC Franklin Gothic Std Book"/>
                </a:rPr>
                <a:t>Community embeddedness is often studied in terms of job embeddedness, measured using surveys of employees [2-6]</a:t>
              </a:r>
            </a:p>
            <a:p>
              <a:pPr marL="342900" indent="-342900">
                <a:buFont typeface="Arial" panose="020B0604020202020204" pitchFamily="34" charset="0"/>
                <a:buChar char="•"/>
              </a:pPr>
              <a:r>
                <a:rPr lang="en-US" dirty="0">
                  <a:latin typeface="ITC Franklin Gothic Std Book" panose="020B0504030503020204" pitchFamily="34" charset="0"/>
                  <a:cs typeface="ITC Franklin Gothic Std Book"/>
                </a:rPr>
                <a:t>Community embeddedness refers to social links made within an individual’s community, quality of community fit, sacrifices made by those who live in community</a:t>
              </a:r>
            </a:p>
            <a:p>
              <a:endParaRPr lang="en-US" sz="800" dirty="0">
                <a:latin typeface="ITC Franklin Gothic Std Book" panose="020B0504030503020204" pitchFamily="34" charset="0"/>
                <a:cs typeface="ITC Franklin Gothic Std Book"/>
              </a:endParaRPr>
            </a:p>
            <a:p>
              <a:r>
                <a:rPr lang="en-US" dirty="0">
                  <a:latin typeface="ITC Franklin Gothic Std Book" panose="020B0504030503020204" pitchFamily="34" charset="0"/>
                  <a:cs typeface="ITC Franklin Gothic Std Book"/>
                </a:rPr>
                <a:t>This project conceptualizes embeddedness as “</a:t>
              </a:r>
              <a:r>
                <a:rPr lang="en-US" dirty="0">
                  <a:latin typeface="ITC Franklin Gothic Std Book" panose="020B0504030503020204" pitchFamily="34" charset="0"/>
                </a:rPr>
                <a:t>the degree to which certain county factors interact with presence of Army installation to contribute to an individual's interest in staying or moving out of that county</a:t>
              </a:r>
              <a:r>
                <a:rPr lang="en-US" dirty="0">
                  <a:latin typeface="ITC Franklin Gothic Std Book" panose="020B0504030503020204" pitchFamily="34" charset="0"/>
                  <a:cs typeface="ITC Franklin Gothic Std Book"/>
                </a:rPr>
                <a:t>.”</a:t>
              </a:r>
            </a:p>
            <a:p>
              <a:endParaRPr lang="en-US" dirty="0">
                <a:latin typeface="ITC Franklin Gothic Std Book"/>
                <a:cs typeface="ITC Franklin Gothic Std Book"/>
              </a:endParaRPr>
            </a:p>
          </p:txBody>
        </p:sp>
      </p:grpSp>
      <p:grpSp>
        <p:nvGrpSpPr>
          <p:cNvPr id="3" name="Group 2">
            <a:extLst>
              <a:ext uri="{FF2B5EF4-FFF2-40B4-BE49-F238E27FC236}">
                <a16:creationId xmlns:a16="http://schemas.microsoft.com/office/drawing/2014/main" id="{AA61CB87-FC4F-4492-AF94-D214D389E87D}"/>
              </a:ext>
            </a:extLst>
          </p:cNvPr>
          <p:cNvGrpSpPr/>
          <p:nvPr/>
        </p:nvGrpSpPr>
        <p:grpSpPr>
          <a:xfrm>
            <a:off x="1330282" y="26162913"/>
            <a:ext cx="19421855" cy="3492045"/>
            <a:chOff x="10850624" y="12907031"/>
            <a:chExt cx="9777957" cy="3330872"/>
          </a:xfrm>
        </p:grpSpPr>
        <p:sp>
          <p:nvSpPr>
            <p:cNvPr id="41" name="Subhead - Franklin Gothic Demi - 28">
              <a:extLst>
                <a:ext uri="{FF2B5EF4-FFF2-40B4-BE49-F238E27FC236}">
                  <a16:creationId xmlns:a16="http://schemas.microsoft.com/office/drawing/2014/main" id="{084699B2-8C9A-4D8E-A9A6-6CCD4985BF6D}"/>
                </a:ext>
              </a:extLst>
            </p:cNvPr>
            <p:cNvSpPr txBox="1"/>
            <p:nvPr/>
          </p:nvSpPr>
          <p:spPr>
            <a:xfrm>
              <a:off x="10850624" y="12907031"/>
              <a:ext cx="9777957" cy="631178"/>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discussion and next steps</a:t>
              </a:r>
            </a:p>
          </p:txBody>
        </p:sp>
        <p:sp>
          <p:nvSpPr>
            <p:cNvPr id="42" name="Body Text - Franklin Gothic Book - 22">
              <a:extLst>
                <a:ext uri="{FF2B5EF4-FFF2-40B4-BE49-F238E27FC236}">
                  <a16:creationId xmlns:a16="http://schemas.microsoft.com/office/drawing/2014/main" id="{747AE293-ECD9-44D7-99A1-47B31BEB52E8}"/>
                </a:ext>
              </a:extLst>
            </p:cNvPr>
            <p:cNvSpPr txBox="1"/>
            <p:nvPr/>
          </p:nvSpPr>
          <p:spPr>
            <a:xfrm>
              <a:off x="10850624" y="13538209"/>
              <a:ext cx="9777957" cy="2699694"/>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r>
                <a:rPr lang="en-US" b="1" dirty="0">
                  <a:latin typeface="ITC Franklin Gothic Std Book"/>
                  <a:cs typeface="ITC Franklin Gothic Std Book"/>
                </a:rPr>
                <a:t>Findings: </a:t>
              </a:r>
              <a:r>
                <a:rPr lang="en-US" dirty="0">
                  <a:latin typeface="ITC Franklin Gothic Std Book"/>
                  <a:cs typeface="ITC Franklin Gothic Std Book"/>
                </a:rPr>
                <a:t>Using the Social Determinants of Health literature to guide variable selection, we found that counties with higher levels of income tend to have lower rates of community embeddedness. Some of the factors in our model illustrate aspects of the place that lead to embeddedness (rural indicators: rurality, driving to work; urban indicators: air pollution, segregation). Other factors indicate aspects of individuals within a community that point to their ability and willingness to leave (income, population, percent white, commute time, voting patterns).</a:t>
              </a:r>
            </a:p>
            <a:p>
              <a:endParaRPr lang="en-US" sz="800" dirty="0">
                <a:latin typeface="ITC Franklin Gothic Std Book"/>
                <a:cs typeface="ITC Franklin Gothic Std Book"/>
              </a:endParaRPr>
            </a:p>
            <a:p>
              <a:r>
                <a:rPr lang="en-US" b="1" dirty="0">
                  <a:latin typeface="ITC Franklin Gothic Std Book"/>
                  <a:cs typeface="ITC Franklin Gothic Std Book"/>
                </a:rPr>
                <a:t>Next steps: </a:t>
              </a:r>
              <a:r>
                <a:rPr lang="en-US" dirty="0">
                  <a:latin typeface="ITC Franklin Gothic Std Book"/>
                  <a:cs typeface="ITC Franklin Gothic Std Book"/>
                </a:rPr>
                <a:t>Future models should control for race and income and include data from all counties within the U.S., as there may be particular factors that are more prevalent in Virginia and Oklahoma than in the rest of the country. Other frameworks and methods, such as network analysis, should also be considered. We could also explore other potential proxy outcomes other than migration patterns, which might not be the best way to capture embeddedness. </a:t>
              </a:r>
            </a:p>
            <a:p>
              <a:r>
                <a:rPr lang="en-US" dirty="0">
                  <a:latin typeface="ITC Franklin Gothic Std Book"/>
                  <a:cs typeface="ITC Franklin Gothic Std Book"/>
                </a:rPr>
                <a:t> </a:t>
              </a:r>
            </a:p>
          </p:txBody>
        </p:sp>
      </p:grpSp>
      <p:grpSp>
        <p:nvGrpSpPr>
          <p:cNvPr id="47" name="Group 46">
            <a:extLst>
              <a:ext uri="{FF2B5EF4-FFF2-40B4-BE49-F238E27FC236}">
                <a16:creationId xmlns:a16="http://schemas.microsoft.com/office/drawing/2014/main" id="{6CCBF817-0D2B-4F67-AFD6-1F1C4AE8D634}"/>
              </a:ext>
            </a:extLst>
          </p:cNvPr>
          <p:cNvGrpSpPr/>
          <p:nvPr/>
        </p:nvGrpSpPr>
        <p:grpSpPr>
          <a:xfrm>
            <a:off x="14777760" y="3782456"/>
            <a:ext cx="6421705" cy="4772762"/>
            <a:chOff x="10710128" y="12680756"/>
            <a:chExt cx="10296037" cy="6812776"/>
          </a:xfrm>
        </p:grpSpPr>
        <p:sp>
          <p:nvSpPr>
            <p:cNvPr id="48" name="Subhead - Franklin Gothic Demi - 28">
              <a:extLst>
                <a:ext uri="{FF2B5EF4-FFF2-40B4-BE49-F238E27FC236}">
                  <a16:creationId xmlns:a16="http://schemas.microsoft.com/office/drawing/2014/main" id="{5A2B65FF-7E80-466F-9309-7F70E1C59457}"/>
                </a:ext>
              </a:extLst>
            </p:cNvPr>
            <p:cNvSpPr txBox="1"/>
            <p:nvPr/>
          </p:nvSpPr>
          <p:spPr>
            <a:xfrm>
              <a:off x="10710132" y="12680756"/>
              <a:ext cx="9720070" cy="944558"/>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Data selection</a:t>
              </a:r>
              <a:endParaRPr cap="all" dirty="0">
                <a:solidFill>
                  <a:schemeClr val="bg1"/>
                </a:solidFill>
                <a:latin typeface="ITC Franklin Gothic Std Dm Cd"/>
              </a:endParaRPr>
            </a:p>
          </p:txBody>
        </p:sp>
        <p:sp>
          <p:nvSpPr>
            <p:cNvPr id="49" name="Body Text - Franklin Gothic Book - 22">
              <a:extLst>
                <a:ext uri="{FF2B5EF4-FFF2-40B4-BE49-F238E27FC236}">
                  <a16:creationId xmlns:a16="http://schemas.microsoft.com/office/drawing/2014/main" id="{8F4888E7-7CE5-4F81-9EA8-E844991579B4}"/>
                </a:ext>
              </a:extLst>
            </p:cNvPr>
            <p:cNvSpPr txBox="1"/>
            <p:nvPr/>
          </p:nvSpPr>
          <p:spPr>
            <a:xfrm>
              <a:off x="10710128" y="13625314"/>
              <a:ext cx="10296037" cy="5868218"/>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lvl="0" defTabSz="914400" eaLnBrk="0" fontAlgn="base">
                <a:spcBef>
                  <a:spcPct val="0"/>
                </a:spcBef>
                <a:spcAft>
                  <a:spcPct val="0"/>
                </a:spcAft>
              </a:pPr>
              <a:r>
                <a:rPr lang="en-US" altLang="en-US" dirty="0">
                  <a:latin typeface="ITC Franklin Gothic Std Book"/>
                </a:rPr>
                <a:t>Using  the Social Determinants of Health literature, we used data from the American Community Survey, County Health Rankings, </a:t>
              </a:r>
            </a:p>
            <a:p>
              <a:pPr lvl="0" defTabSz="914400" eaLnBrk="0" fontAlgn="base">
                <a:spcBef>
                  <a:spcPct val="0"/>
                </a:spcBef>
                <a:spcAft>
                  <a:spcPct val="0"/>
                </a:spcAft>
              </a:pPr>
              <a:r>
                <a:rPr lang="en-US" altLang="en-US" dirty="0">
                  <a:latin typeface="ITC Franklin Gothic Std Book"/>
                </a:rPr>
                <a:t>Annie E. Casey Foundation Kids Count, Virginia Department of Elections, and Oklahoma State Election Board 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Neighborhood and built environment</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Health and home case</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Economic stability</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Education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Social and community context</a:t>
              </a: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p:txBody>
        </p:sp>
      </p:grpSp>
      <p:sp>
        <p:nvSpPr>
          <p:cNvPr id="43" name="Subhead - Franklin Gothic Demi - 28">
            <a:extLst>
              <a:ext uri="{FF2B5EF4-FFF2-40B4-BE49-F238E27FC236}">
                <a16:creationId xmlns:a16="http://schemas.microsoft.com/office/drawing/2014/main" id="{27F1C1C7-C878-4D5F-8B1A-6BEE9A568CAA}"/>
              </a:ext>
            </a:extLst>
          </p:cNvPr>
          <p:cNvSpPr txBox="1"/>
          <p:nvPr/>
        </p:nvSpPr>
        <p:spPr>
          <a:xfrm>
            <a:off x="1022016" y="15965241"/>
            <a:ext cx="19418281" cy="661720"/>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community embeddedness index for Virginia and Oklahoma counties</a:t>
            </a:r>
            <a:endParaRPr cap="all" dirty="0">
              <a:solidFill>
                <a:schemeClr val="bg1"/>
              </a:solidFill>
              <a:latin typeface="ITC Franklin Gothic Std Dm Cd"/>
              <a:sym typeface="ITC Franklin Gothic Std Demi Co"/>
            </a:endParaRPr>
          </a:p>
        </p:txBody>
      </p:sp>
      <p:grpSp>
        <p:nvGrpSpPr>
          <p:cNvPr id="35" name="Group 34">
            <a:extLst>
              <a:ext uri="{FF2B5EF4-FFF2-40B4-BE49-F238E27FC236}">
                <a16:creationId xmlns:a16="http://schemas.microsoft.com/office/drawing/2014/main" id="{3FE48F2A-BC81-4D99-9A15-538DAFAF159E}"/>
              </a:ext>
            </a:extLst>
          </p:cNvPr>
          <p:cNvGrpSpPr/>
          <p:nvPr/>
        </p:nvGrpSpPr>
        <p:grpSpPr>
          <a:xfrm>
            <a:off x="7767385" y="3759817"/>
            <a:ext cx="6403332" cy="3598755"/>
            <a:chOff x="1251365" y="9342772"/>
            <a:chExt cx="6154902" cy="3394512"/>
          </a:xfrm>
        </p:grpSpPr>
        <p:pic>
          <p:nvPicPr>
            <p:cNvPr id="22" name="Picture 6" descr="A screenshot of a cell phone&#10;&#10;Description generated with very high confidence">
              <a:extLst>
                <a:ext uri="{FF2B5EF4-FFF2-40B4-BE49-F238E27FC236}">
                  <a16:creationId xmlns:a16="http://schemas.microsoft.com/office/drawing/2014/main" id="{96C9FAE8-6C45-47FA-BA30-261C5422F86E}"/>
                </a:ext>
              </a:extLst>
            </p:cNvPr>
            <p:cNvPicPr>
              <a:picLocks noChangeAspect="1"/>
            </p:cNvPicPr>
            <p:nvPr/>
          </p:nvPicPr>
          <p:blipFill>
            <a:blip r:embed="rId3"/>
            <a:stretch>
              <a:fillRect/>
            </a:stretch>
          </p:blipFill>
          <p:spPr>
            <a:xfrm>
              <a:off x="1251365" y="9342772"/>
              <a:ext cx="6154902" cy="3394512"/>
            </a:xfrm>
            <a:prstGeom prst="rect">
              <a:avLst/>
            </a:prstGeom>
          </p:spPr>
        </p:pic>
        <p:sp>
          <p:nvSpPr>
            <p:cNvPr id="26" name="Rectangle 25">
              <a:extLst>
                <a:ext uri="{FF2B5EF4-FFF2-40B4-BE49-F238E27FC236}">
                  <a16:creationId xmlns:a16="http://schemas.microsoft.com/office/drawing/2014/main" id="{E9450525-6919-46C6-87C7-29FCB8A3A2A1}"/>
                </a:ext>
              </a:extLst>
            </p:cNvPr>
            <p:cNvSpPr/>
            <p:nvPr/>
          </p:nvSpPr>
          <p:spPr>
            <a:xfrm>
              <a:off x="3415078" y="9597221"/>
              <a:ext cx="1669956" cy="241501"/>
            </a:xfrm>
            <a:prstGeom prst="rect">
              <a:avLst/>
            </a:prstGeom>
            <a:noFill/>
            <a:ln w="57150" cap="flat">
              <a:solidFill>
                <a:srgbClr val="EE6419"/>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grpSp>
      <p:grpSp>
        <p:nvGrpSpPr>
          <p:cNvPr id="111" name="Group 110">
            <a:extLst>
              <a:ext uri="{FF2B5EF4-FFF2-40B4-BE49-F238E27FC236}">
                <a16:creationId xmlns:a16="http://schemas.microsoft.com/office/drawing/2014/main" id="{B8B7C615-2D27-4B9F-B52B-07C763362F7F}"/>
              </a:ext>
            </a:extLst>
          </p:cNvPr>
          <p:cNvGrpSpPr/>
          <p:nvPr/>
        </p:nvGrpSpPr>
        <p:grpSpPr>
          <a:xfrm>
            <a:off x="12134348" y="17347774"/>
            <a:ext cx="8458200" cy="4304620"/>
            <a:chOff x="12180068" y="16735836"/>
            <a:chExt cx="8458200" cy="4304620"/>
          </a:xfrm>
        </p:grpSpPr>
        <p:pic>
          <p:nvPicPr>
            <p:cNvPr id="106" name="Picture 105">
              <a:extLst>
                <a:ext uri="{FF2B5EF4-FFF2-40B4-BE49-F238E27FC236}">
                  <a16:creationId xmlns:a16="http://schemas.microsoft.com/office/drawing/2014/main" id="{7260DD1D-2501-4AD8-B545-5561371315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80068" y="16735836"/>
              <a:ext cx="8458200" cy="4304620"/>
            </a:xfrm>
            <a:prstGeom prst="rect">
              <a:avLst/>
            </a:prstGeom>
          </p:spPr>
        </p:pic>
        <p:pic>
          <p:nvPicPr>
            <p:cNvPr id="50" name="Graphic 49" descr="Star">
              <a:extLst>
                <a:ext uri="{FF2B5EF4-FFF2-40B4-BE49-F238E27FC236}">
                  <a16:creationId xmlns:a16="http://schemas.microsoft.com/office/drawing/2014/main" id="{4BF25148-562D-431A-A166-DB076FCEF76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428974" y="19552075"/>
              <a:ext cx="347472" cy="347472"/>
            </a:xfrm>
            <a:prstGeom prst="rect">
              <a:avLst/>
            </a:prstGeom>
          </p:spPr>
        </p:pic>
      </p:grpSp>
      <p:sp>
        <p:nvSpPr>
          <p:cNvPr id="57" name="Rectangle 56">
            <a:extLst>
              <a:ext uri="{FF2B5EF4-FFF2-40B4-BE49-F238E27FC236}">
                <a16:creationId xmlns:a16="http://schemas.microsoft.com/office/drawing/2014/main" id="{26B490AC-2BED-4BDA-AE9D-F9CD1242EDD6}"/>
              </a:ext>
            </a:extLst>
          </p:cNvPr>
          <p:cNvSpPr/>
          <p:nvPr/>
        </p:nvSpPr>
        <p:spPr>
          <a:xfrm>
            <a:off x="755865" y="16665053"/>
            <a:ext cx="9507633" cy="646331"/>
          </a:xfrm>
          <a:prstGeom prst="rect">
            <a:avLst/>
          </a:prstGeom>
        </p:spPr>
        <p:txBody>
          <a:bodyPr wrap="square">
            <a:spAutoFit/>
          </a:bodyPr>
          <a:lstStyle/>
          <a:p>
            <a:r>
              <a:rPr lang="en-US" sz="1800" b="0" dirty="0">
                <a:latin typeface="ITC Franklin Gothic Std Book"/>
                <a:cs typeface="ITC Franklin Gothic Std Book"/>
              </a:rPr>
              <a:t>Fort A.P. Hill, Virginia (Caroline County)</a:t>
            </a:r>
          </a:p>
          <a:p>
            <a:r>
              <a:rPr lang="en-US" sz="1800" b="0" dirty="0">
                <a:latin typeface="ITC Franklin Gothic Std Book"/>
                <a:cs typeface="ITC Franklin Gothic Std Book"/>
              </a:rPr>
              <a:t>Used for training active and reserve troops for the Army, Navy, Marine Corps, and Air Force</a:t>
            </a:r>
          </a:p>
        </p:txBody>
      </p:sp>
      <p:sp>
        <p:nvSpPr>
          <p:cNvPr id="58" name="Rectangle 57">
            <a:extLst>
              <a:ext uri="{FF2B5EF4-FFF2-40B4-BE49-F238E27FC236}">
                <a16:creationId xmlns:a16="http://schemas.microsoft.com/office/drawing/2014/main" id="{8FB74DFB-713D-4C36-80A2-7EDBB3CFF9F5}"/>
              </a:ext>
            </a:extLst>
          </p:cNvPr>
          <p:cNvSpPr/>
          <p:nvPr/>
        </p:nvSpPr>
        <p:spPr>
          <a:xfrm>
            <a:off x="10622429" y="16670710"/>
            <a:ext cx="9817868" cy="646331"/>
          </a:xfrm>
          <a:prstGeom prst="rect">
            <a:avLst/>
          </a:prstGeom>
        </p:spPr>
        <p:txBody>
          <a:bodyPr wrap="square">
            <a:spAutoFit/>
          </a:bodyPr>
          <a:lstStyle/>
          <a:p>
            <a:r>
              <a:rPr lang="en-US" sz="1800" b="0" dirty="0">
                <a:latin typeface="ITC Franklin Gothic Std Book"/>
                <a:cs typeface="ITC Franklin Gothic Std Book"/>
              </a:rPr>
              <a:t>Fort Sill, Oklahoma (Comanche County)</a:t>
            </a:r>
          </a:p>
          <a:p>
            <a:r>
              <a:rPr lang="en-US" sz="1800" b="0" dirty="0">
                <a:latin typeface="ITC Franklin Gothic Std Book"/>
                <a:cs typeface="ITC Franklin Gothic Std Book"/>
              </a:rPr>
              <a:t>Home to the Field Artillery Training Command; One of four Army Basic Combat Training locations</a:t>
            </a:r>
          </a:p>
        </p:txBody>
      </p:sp>
      <p:sp>
        <p:nvSpPr>
          <p:cNvPr id="84" name="AutoShape 5" descr="http://sdad.policy-analytics.net:31013/graphics/plot_zoom_png?width=1396&amp;height=704">
            <a:extLst>
              <a:ext uri="{FF2B5EF4-FFF2-40B4-BE49-F238E27FC236}">
                <a16:creationId xmlns:a16="http://schemas.microsoft.com/office/drawing/2014/main" id="{B71730C1-DFE3-403E-B0A7-4A5778A90C18}"/>
              </a:ext>
            </a:extLst>
          </p:cNvPr>
          <p:cNvSpPr>
            <a:spLocks noChangeAspect="1" noChangeArrowheads="1"/>
          </p:cNvSpPr>
          <p:nvPr/>
        </p:nvSpPr>
        <p:spPr bwMode="auto">
          <a:xfrm>
            <a:off x="10820400" y="1630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5" name="Picture 94">
            <a:extLst>
              <a:ext uri="{FF2B5EF4-FFF2-40B4-BE49-F238E27FC236}">
                <a16:creationId xmlns:a16="http://schemas.microsoft.com/office/drawing/2014/main" id="{A702611D-DA9C-4944-912C-ADDB50604E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19766" y="7515988"/>
            <a:ext cx="6898570" cy="8252252"/>
          </a:xfrm>
          <a:prstGeom prst="rect">
            <a:avLst/>
          </a:prstGeom>
        </p:spPr>
      </p:pic>
      <p:grpSp>
        <p:nvGrpSpPr>
          <p:cNvPr id="110" name="Group 109">
            <a:extLst>
              <a:ext uri="{FF2B5EF4-FFF2-40B4-BE49-F238E27FC236}">
                <a16:creationId xmlns:a16="http://schemas.microsoft.com/office/drawing/2014/main" id="{C8E5B721-C7E7-4DE2-A4FD-8711B13B850B}"/>
              </a:ext>
            </a:extLst>
          </p:cNvPr>
          <p:cNvGrpSpPr/>
          <p:nvPr/>
        </p:nvGrpSpPr>
        <p:grpSpPr>
          <a:xfrm>
            <a:off x="1280582" y="17416910"/>
            <a:ext cx="8458200" cy="4264577"/>
            <a:chOff x="1280582" y="16616810"/>
            <a:chExt cx="8458200" cy="4264577"/>
          </a:xfrm>
        </p:grpSpPr>
        <p:pic>
          <p:nvPicPr>
            <p:cNvPr id="99" name="Picture 98">
              <a:extLst>
                <a:ext uri="{FF2B5EF4-FFF2-40B4-BE49-F238E27FC236}">
                  <a16:creationId xmlns:a16="http://schemas.microsoft.com/office/drawing/2014/main" id="{6FA52D62-037A-4050-A0A9-1A2ADA85DF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80582" y="16616810"/>
              <a:ext cx="8458200" cy="4264577"/>
            </a:xfrm>
            <a:prstGeom prst="rect">
              <a:avLst/>
            </a:prstGeom>
          </p:spPr>
        </p:pic>
        <p:pic>
          <p:nvPicPr>
            <p:cNvPr id="46" name="Graphic 45" descr="Star">
              <a:extLst>
                <a:ext uri="{FF2B5EF4-FFF2-40B4-BE49-F238E27FC236}">
                  <a16:creationId xmlns:a16="http://schemas.microsoft.com/office/drawing/2014/main" id="{B690C442-50BB-45D7-84F2-FB9A7877A71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86854" y="18360067"/>
              <a:ext cx="345420" cy="345420"/>
            </a:xfrm>
            <a:prstGeom prst="rect">
              <a:avLst/>
            </a:prstGeom>
          </p:spPr>
        </p:pic>
      </p:grpSp>
      <p:grpSp>
        <p:nvGrpSpPr>
          <p:cNvPr id="112" name="Group 111">
            <a:extLst>
              <a:ext uri="{FF2B5EF4-FFF2-40B4-BE49-F238E27FC236}">
                <a16:creationId xmlns:a16="http://schemas.microsoft.com/office/drawing/2014/main" id="{FCCD9740-7A3B-4C1E-A5D2-DFD8E4807C32}"/>
              </a:ext>
            </a:extLst>
          </p:cNvPr>
          <p:cNvGrpSpPr/>
          <p:nvPr/>
        </p:nvGrpSpPr>
        <p:grpSpPr>
          <a:xfrm>
            <a:off x="10362937" y="18666118"/>
            <a:ext cx="3284815" cy="2425998"/>
            <a:chOff x="10601062" y="18070417"/>
            <a:chExt cx="3284815" cy="2425998"/>
          </a:xfrm>
        </p:grpSpPr>
        <p:pic>
          <p:nvPicPr>
            <p:cNvPr id="37" name="Picture 36">
              <a:extLst>
                <a:ext uri="{FF2B5EF4-FFF2-40B4-BE49-F238E27FC236}">
                  <a16:creationId xmlns:a16="http://schemas.microsoft.com/office/drawing/2014/main" id="{7E82C7DD-4CA6-4C46-8386-9DA03574303C}"/>
                </a:ext>
              </a:extLst>
            </p:cNvPr>
            <p:cNvPicPr>
              <a:picLocks noChangeAspect="1"/>
            </p:cNvPicPr>
            <p:nvPr/>
          </p:nvPicPr>
          <p:blipFill rotWithShape="1">
            <a:blip r:embed="rId9">
              <a:extLst>
                <a:ext uri="{28A0092B-C50C-407E-A947-70E740481C1C}">
                  <a14:useLocalDpi xmlns:a14="http://schemas.microsoft.com/office/drawing/2010/main" val="0"/>
                </a:ext>
              </a:extLst>
            </a:blip>
            <a:srcRect l="86146" t="35419" r="-740" b="32559"/>
            <a:stretch/>
          </p:blipFill>
          <p:spPr>
            <a:xfrm>
              <a:off x="10601062" y="18070417"/>
              <a:ext cx="2654301" cy="2425998"/>
            </a:xfrm>
            <a:prstGeom prst="rect">
              <a:avLst/>
            </a:prstGeom>
          </p:spPr>
        </p:pic>
        <p:pic>
          <p:nvPicPr>
            <p:cNvPr id="54" name="Graphic 53" descr="Star">
              <a:extLst>
                <a:ext uri="{FF2B5EF4-FFF2-40B4-BE49-F238E27FC236}">
                  <a16:creationId xmlns:a16="http://schemas.microsoft.com/office/drawing/2014/main" id="{42692DE9-1197-4840-8828-AF6F7D96487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092785" y="18532344"/>
              <a:ext cx="414785" cy="414785"/>
            </a:xfrm>
            <a:prstGeom prst="rect">
              <a:avLst/>
            </a:prstGeom>
          </p:spPr>
        </p:pic>
        <p:sp>
          <p:nvSpPr>
            <p:cNvPr id="56" name="TextBox 55">
              <a:extLst>
                <a:ext uri="{FF2B5EF4-FFF2-40B4-BE49-F238E27FC236}">
                  <a16:creationId xmlns:a16="http://schemas.microsoft.com/office/drawing/2014/main" id="{EA21E350-0DF6-45FA-84AD-8010D7DBBE81}"/>
                </a:ext>
              </a:extLst>
            </p:cNvPr>
            <p:cNvSpPr txBox="1"/>
            <p:nvPr/>
          </p:nvSpPr>
          <p:spPr>
            <a:xfrm>
              <a:off x="12507570" y="18517787"/>
              <a:ext cx="1378307" cy="10041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gn="l"/>
              <a:r>
                <a:rPr lang="en-US" sz="1800" b="0" dirty="0">
                  <a:latin typeface="ITC Franklin Gothic Std Book"/>
                  <a:cs typeface="ITC Franklin Gothic Std Book"/>
                </a:rPr>
                <a:t>Army installation of interest</a:t>
              </a:r>
              <a:endParaRPr kumimoji="0" lang="en-US" sz="1800" b="0"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100" name="Oval 99">
              <a:extLst>
                <a:ext uri="{FF2B5EF4-FFF2-40B4-BE49-F238E27FC236}">
                  <a16:creationId xmlns:a16="http://schemas.microsoft.com/office/drawing/2014/main" id="{2E2071CE-843A-4AD4-B52F-88103438F0C0}"/>
                </a:ext>
              </a:extLst>
            </p:cNvPr>
            <p:cNvSpPr/>
            <p:nvPr/>
          </p:nvSpPr>
          <p:spPr>
            <a:xfrm>
              <a:off x="12247654" y="19650406"/>
              <a:ext cx="91440" cy="91440"/>
            </a:xfrm>
            <a:prstGeom prst="ellipse">
              <a:avLst/>
            </a:prstGeom>
            <a:solidFill>
              <a:schemeClr val="bg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02" name="Rectangle 101">
              <a:extLst>
                <a:ext uri="{FF2B5EF4-FFF2-40B4-BE49-F238E27FC236}">
                  <a16:creationId xmlns:a16="http://schemas.microsoft.com/office/drawing/2014/main" id="{45AF77FC-33E8-4296-BC46-5B1F7F4666C8}"/>
                </a:ext>
              </a:extLst>
            </p:cNvPr>
            <p:cNvSpPr/>
            <p:nvPr/>
          </p:nvSpPr>
          <p:spPr>
            <a:xfrm>
              <a:off x="12501220" y="19503815"/>
              <a:ext cx="1316386" cy="646331"/>
            </a:xfrm>
            <a:prstGeom prst="rect">
              <a:avLst/>
            </a:prstGeom>
          </p:spPr>
          <p:txBody>
            <a:bodyPr wrap="none">
              <a:spAutoFit/>
            </a:bodyPr>
            <a:lstStyle/>
            <a:p>
              <a:pPr lvl="0" algn="l"/>
              <a:r>
                <a:rPr lang="en-US" sz="1800" b="0" dirty="0">
                  <a:latin typeface="ITC Franklin Gothic Std Book"/>
                  <a:cs typeface="ITC Franklin Gothic Std Book"/>
                </a:rPr>
                <a:t>Other Army</a:t>
              </a:r>
            </a:p>
            <a:p>
              <a:pPr lvl="0" algn="l"/>
              <a:r>
                <a:rPr lang="en-US" sz="1800" b="0" dirty="0">
                  <a:latin typeface="ITC Franklin Gothic Std Book"/>
                  <a:cs typeface="ITC Franklin Gothic Std Book"/>
                </a:rPr>
                <a:t>installations</a:t>
              </a:r>
              <a:endParaRPr lang="en-US" sz="1800" b="0" dirty="0"/>
            </a:p>
          </p:txBody>
        </p:sp>
      </p:grpSp>
      <p:pic>
        <p:nvPicPr>
          <p:cNvPr id="114" name="Picture 113">
            <a:extLst>
              <a:ext uri="{FF2B5EF4-FFF2-40B4-BE49-F238E27FC236}">
                <a16:creationId xmlns:a16="http://schemas.microsoft.com/office/drawing/2014/main" id="{88B5A736-9920-4287-9DF8-256D51A74FC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2009529" y="21898637"/>
            <a:ext cx="8430768" cy="4215384"/>
          </a:xfrm>
          <a:prstGeom prst="rect">
            <a:avLst/>
          </a:prstGeom>
        </p:spPr>
      </p:pic>
      <p:pic>
        <p:nvPicPr>
          <p:cNvPr id="116" name="Picture 115">
            <a:extLst>
              <a:ext uri="{FF2B5EF4-FFF2-40B4-BE49-F238E27FC236}">
                <a16:creationId xmlns:a16="http://schemas.microsoft.com/office/drawing/2014/main" id="{71853A0E-C478-418A-B6E1-4085EBF0C9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95180" y="21898637"/>
            <a:ext cx="8430768" cy="4215384"/>
          </a:xfrm>
          <a:prstGeom prst="rect">
            <a:avLst/>
          </a:prstGeom>
        </p:spPr>
      </p:pic>
      <p:grpSp>
        <p:nvGrpSpPr>
          <p:cNvPr id="119" name="Group 118">
            <a:extLst>
              <a:ext uri="{FF2B5EF4-FFF2-40B4-BE49-F238E27FC236}">
                <a16:creationId xmlns:a16="http://schemas.microsoft.com/office/drawing/2014/main" id="{D67F427E-05AF-45E5-A181-3BD4065AA8BA}"/>
              </a:ext>
            </a:extLst>
          </p:cNvPr>
          <p:cNvGrpSpPr/>
          <p:nvPr/>
        </p:nvGrpSpPr>
        <p:grpSpPr>
          <a:xfrm>
            <a:off x="14777665" y="8419635"/>
            <a:ext cx="6062473" cy="5527579"/>
            <a:chOff x="10902118" y="12816443"/>
            <a:chExt cx="9720074" cy="7890223"/>
          </a:xfrm>
        </p:grpSpPr>
        <p:sp>
          <p:nvSpPr>
            <p:cNvPr id="120" name="Subhead - Franklin Gothic Demi - 28">
              <a:extLst>
                <a:ext uri="{FF2B5EF4-FFF2-40B4-BE49-F238E27FC236}">
                  <a16:creationId xmlns:a16="http://schemas.microsoft.com/office/drawing/2014/main" id="{5293EE88-26CC-4709-8BD0-7FF6C3F09744}"/>
                </a:ext>
              </a:extLst>
            </p:cNvPr>
            <p:cNvSpPr txBox="1"/>
            <p:nvPr/>
          </p:nvSpPr>
          <p:spPr>
            <a:xfrm>
              <a:off x="10902118" y="12816443"/>
              <a:ext cx="9720074" cy="944558"/>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creating the index</a:t>
              </a:r>
              <a:endParaRPr cap="all" dirty="0">
                <a:solidFill>
                  <a:schemeClr val="bg1"/>
                </a:solidFill>
                <a:latin typeface="ITC Franklin Gothic Std Dm Cd"/>
              </a:endParaRPr>
            </a:p>
          </p:txBody>
        </p:sp>
        <p:sp>
          <p:nvSpPr>
            <p:cNvPr id="121" name="Body Text - Franklin Gothic Book - 22">
              <a:extLst>
                <a:ext uri="{FF2B5EF4-FFF2-40B4-BE49-F238E27FC236}">
                  <a16:creationId xmlns:a16="http://schemas.microsoft.com/office/drawing/2014/main" id="{22BDD09D-2A0C-4082-BBD8-83C7B174DD30}"/>
                </a:ext>
              </a:extLst>
            </p:cNvPr>
            <p:cNvSpPr txBox="1"/>
            <p:nvPr/>
          </p:nvSpPr>
          <p:spPr>
            <a:xfrm>
              <a:off x="10954474" y="13761001"/>
              <a:ext cx="9667718" cy="6945665"/>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Analyzed our data using linear regression with the percentage of people who stayed within a county over the past 5 years as a proxy for community embeddedness</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Ran best subsets and lasso regressions to identify the best predictors for our proxy and found that best subsets is a better fit</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Scaled values &amp; ran multiple linear regression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Pulled the coefficients from this model to use as preliminary weights for each of our indicators</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Explored Principle Components Analysis and Factor Analysis to validate decision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Scaled embeddedness construct to create index</a:t>
              </a: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p:txBody>
        </p:sp>
      </p:grpSp>
      <p:sp>
        <p:nvSpPr>
          <p:cNvPr id="122" name="Rectangle 121">
            <a:extLst>
              <a:ext uri="{FF2B5EF4-FFF2-40B4-BE49-F238E27FC236}">
                <a16:creationId xmlns:a16="http://schemas.microsoft.com/office/drawing/2014/main" id="{15BADA69-0224-45FF-AB7D-325E7CFC2189}"/>
              </a:ext>
            </a:extLst>
          </p:cNvPr>
          <p:cNvSpPr/>
          <p:nvPr/>
        </p:nvSpPr>
        <p:spPr>
          <a:xfrm>
            <a:off x="14777665" y="14653374"/>
            <a:ext cx="6024019" cy="1077218"/>
          </a:xfrm>
          <a:prstGeom prst="rect">
            <a:avLst/>
          </a:prstGeom>
        </p:spPr>
        <p:txBody>
          <a:bodyPr wrap="square">
            <a:spAutoFit/>
          </a:bodyPr>
          <a:lstStyle/>
          <a:p>
            <a:pPr lvl="0" algn="l" defTabSz="914400" eaLnBrk="0" fontAlgn="base">
              <a:spcBef>
                <a:spcPct val="0"/>
              </a:spcBef>
              <a:spcAft>
                <a:spcPct val="0"/>
              </a:spcAft>
            </a:pPr>
            <a:r>
              <a:rPr lang="en-US" altLang="en-US" sz="1600" b="0" dirty="0">
                <a:solidFill>
                  <a:schemeClr val="tx1"/>
                </a:solidFill>
                <a:latin typeface="ITC Franklin Gothic Std Book"/>
              </a:rPr>
              <a:t>Definitions: </a:t>
            </a:r>
            <a:r>
              <a:rPr lang="en-US" altLang="en-US" sz="1600" dirty="0">
                <a:solidFill>
                  <a:schemeClr val="tx1"/>
                </a:solidFill>
                <a:latin typeface="ITC Franklin Gothic Std Book"/>
              </a:rPr>
              <a:t>Income ratio:</a:t>
            </a:r>
            <a:r>
              <a:rPr lang="en-US" altLang="en-US" sz="1600" b="0" dirty="0">
                <a:solidFill>
                  <a:schemeClr val="tx1"/>
                </a:solidFill>
                <a:latin typeface="ITC Franklin Gothic Std Book"/>
              </a:rPr>
              <a:t> ratio of household income at 80</a:t>
            </a:r>
            <a:r>
              <a:rPr lang="en-US" altLang="en-US" sz="1600" b="0" baseline="30000" dirty="0">
                <a:solidFill>
                  <a:schemeClr val="tx1"/>
                </a:solidFill>
                <a:latin typeface="ITC Franklin Gothic Std Book"/>
              </a:rPr>
              <a:t>th</a:t>
            </a:r>
            <a:r>
              <a:rPr lang="en-US" altLang="en-US" sz="1600" b="0" dirty="0">
                <a:solidFill>
                  <a:schemeClr val="tx1"/>
                </a:solidFill>
                <a:latin typeface="ITC Franklin Gothic Std Book"/>
              </a:rPr>
              <a:t> percentile to income at 20</a:t>
            </a:r>
            <a:r>
              <a:rPr lang="en-US" altLang="en-US" sz="1600" b="0" baseline="30000" dirty="0">
                <a:solidFill>
                  <a:schemeClr val="tx1"/>
                </a:solidFill>
                <a:latin typeface="ITC Franklin Gothic Std Book"/>
              </a:rPr>
              <a:t>th</a:t>
            </a:r>
            <a:r>
              <a:rPr lang="en-US" altLang="en-US" sz="1600" b="0" dirty="0">
                <a:solidFill>
                  <a:schemeClr val="tx1"/>
                </a:solidFill>
                <a:latin typeface="ITC Franklin Gothic Std Book"/>
              </a:rPr>
              <a:t> ; </a:t>
            </a:r>
            <a:r>
              <a:rPr lang="en-US" altLang="en-US" sz="1600" dirty="0">
                <a:solidFill>
                  <a:schemeClr val="tx1"/>
                </a:solidFill>
                <a:latin typeface="ITC Franklin Gothic Std Book"/>
              </a:rPr>
              <a:t>Segregation:</a:t>
            </a:r>
            <a:r>
              <a:rPr lang="en-US" altLang="en-US" sz="1600" b="0" dirty="0">
                <a:solidFill>
                  <a:schemeClr val="tx1"/>
                </a:solidFill>
                <a:latin typeface="ITC Franklin Gothic Std Book"/>
              </a:rPr>
              <a:t> evenness with which two groups (white/non-white) are distributed across a geographic area; </a:t>
            </a:r>
            <a:r>
              <a:rPr lang="en-US" altLang="en-US" sz="1600" dirty="0">
                <a:solidFill>
                  <a:schemeClr val="tx1"/>
                </a:solidFill>
                <a:latin typeface="ITC Franklin Gothic Std Book"/>
              </a:rPr>
              <a:t>Voted</a:t>
            </a:r>
            <a:r>
              <a:rPr lang="en-US" altLang="en-US" sz="1600" b="0" dirty="0">
                <a:solidFill>
                  <a:schemeClr val="tx1"/>
                </a:solidFill>
                <a:latin typeface="ITC Franklin Gothic Std Book"/>
              </a:rPr>
              <a:t>: Gubernatorial elections in 2017 and 2018</a:t>
            </a:r>
            <a:endParaRPr lang="en-US" sz="1600" b="0" dirty="0">
              <a:solidFill>
                <a:schemeClr val="tx1"/>
              </a:solidFill>
            </a:endParaRP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498E3CF4-6E7D-4180-B987-108F9CFD88F2}"/>
</file>

<file path=customXml/itemProps2.xml><?xml version="1.0" encoding="utf-8"?>
<ds:datastoreItem xmlns:ds="http://schemas.openxmlformats.org/officeDocument/2006/customXml" ds:itemID="{8D7027CE-6F89-48E5-B145-4B2E8DE6DF19}"/>
</file>

<file path=customXml/itemProps3.xml><?xml version="1.0" encoding="utf-8"?>
<ds:datastoreItem xmlns:ds="http://schemas.openxmlformats.org/officeDocument/2006/customXml" ds:itemID="{07202A65-222C-4083-B680-FB5EBBCB3BC0}"/>
</file>

<file path=docProps/app.xml><?xml version="1.0" encoding="utf-8"?>
<Properties xmlns="http://schemas.openxmlformats.org/officeDocument/2006/extended-properties" xmlns:vt="http://schemas.openxmlformats.org/officeDocument/2006/docPropsVTypes">
  <TotalTime>836</TotalTime>
  <Words>692</Words>
  <Application>Microsoft Macintosh PowerPoint</Application>
  <PresentationFormat>Custom</PresentationFormat>
  <Paragraphs>58</Paragraphs>
  <Slides>1</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vt:i4>
      </vt:variant>
    </vt:vector>
  </HeadingPairs>
  <TitlesOfParts>
    <vt:vector size="14" baseType="lpstr">
      <vt:lpstr>Arial</vt:lpstr>
      <vt:lpstr>Franklin Gothic Medium</vt:lpstr>
      <vt:lpstr>Helvetica Neue</vt:lpstr>
      <vt:lpstr>Helvetica Neue Light</vt:lpstr>
      <vt:lpstr>Helvetica Neue Medium</vt:lpstr>
      <vt:lpstr>Helvetica Neue Thin</vt:lpstr>
      <vt:lpstr>ITC Franklin Gothic Std</vt:lpstr>
      <vt:lpstr>ITC Franklin Gothic Std Book</vt:lpstr>
      <vt:lpstr>ITC Franklin Gothic Std Demi</vt:lpstr>
      <vt:lpstr>ITC Franklin Gothic Std Demi Co</vt:lpstr>
      <vt:lpstr>ITC Franklin Gothic Std Dm Cd</vt:lpstr>
      <vt:lpstr>ITC Franklin Gothic Std Medium</vt:lpstr>
      <vt:lpstr>White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Shipp, Stephanie S. (sss5sc)</cp:lastModifiedBy>
  <cp:revision>91</cp:revision>
  <cp:lastPrinted>2019-08-05T14:23:49Z</cp:lastPrinted>
  <dcterms:created xsi:type="dcterms:W3CDTF">2019-07-16T21:17:53Z</dcterms:created>
  <dcterms:modified xsi:type="dcterms:W3CDTF">2019-08-05T14:28:45Z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