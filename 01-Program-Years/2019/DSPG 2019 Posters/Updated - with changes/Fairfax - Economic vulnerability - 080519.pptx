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21945600" cy="32918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69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7B23"/>
    <a:srgbClr val="00ABD5"/>
    <a:srgbClr val="F37A22"/>
    <a:srgbClr val="A7D5A6"/>
    <a:srgbClr val="EE8012"/>
    <a:srgbClr val="AA1FE1"/>
    <a:srgbClr val="09AF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381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44"/>
    <p:restoredTop sz="94674"/>
  </p:normalViewPr>
  <p:slideViewPr>
    <p:cSldViewPr snapToGrid="0">
      <p:cViewPr varScale="1">
        <p:scale>
          <a:sx n="44" d="100"/>
          <a:sy n="44" d="100"/>
        </p:scale>
        <p:origin x="1960" y="272"/>
      </p:cViewPr>
      <p:guideLst>
        <p:guide orient="horz" pos="10368"/>
        <p:guide pos="6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" name="Shape 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empla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998" y="-620308"/>
            <a:ext cx="22039596" cy="3355835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2143125" y="10994231"/>
            <a:ext cx="17659350" cy="5572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lIns="85725" tIns="85725" rIns="85725" bIns="85725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2143125" y="16737806"/>
            <a:ext cx="17659350" cy="1907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lIns="85725" tIns="85725" rIns="85725" bIns="85725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493705" y="23917275"/>
            <a:ext cx="946760" cy="989758"/>
          </a:xfrm>
          <a:prstGeom prst="rect">
            <a:avLst/>
          </a:prstGeom>
          <a:ln w="12700">
            <a:miter lim="400000"/>
          </a:ln>
        </p:spPr>
        <p:txBody>
          <a:bodyPr wrap="none" lIns="85725" tIns="85725" rIns="85725" bIns="85725">
            <a:spAutoFit/>
          </a:bodyPr>
          <a:lstStyle>
            <a:lvl1pPr>
              <a:defRPr sz="5400" b="0"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35560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71120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106680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142240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1pPr>
      <a:lvl2pPr marL="0" marR="0" indent="2286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2pPr>
      <a:lvl3pPr marL="0" marR="0" indent="4572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3pPr>
      <a:lvl4pPr marL="0" marR="0" indent="6858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4pPr>
      <a:lvl5pPr marL="0" marR="0" indent="9144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5pPr>
      <a:lvl6pPr marL="0" marR="0" indent="11430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6pPr>
      <a:lvl7pPr marL="0" marR="0" indent="13716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7pPr>
      <a:lvl8pPr marL="0" marR="0" indent="16002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8pPr>
      <a:lvl9pPr marL="0" marR="0" indent="18288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jp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jp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C37145D0-4A5C-4499-B7D5-443932E59054}"/>
              </a:ext>
            </a:extLst>
          </p:cNvPr>
          <p:cNvSpPr txBox="1"/>
          <p:nvPr/>
        </p:nvSpPr>
        <p:spPr>
          <a:xfrm>
            <a:off x="437605" y="19888901"/>
            <a:ext cx="12487067" cy="13734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Composite Index Construction</a:t>
            </a:r>
          </a:p>
          <a:p>
            <a:pPr marL="0" marR="0" indent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Franklin Gothic Book" panose="020B0503020102020204" pitchFamily="34" charset="0"/>
              <a:sym typeface="Helvetica Neue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C8820A6-6219-B247-AD76-511E9185EC6D}"/>
              </a:ext>
            </a:extLst>
          </p:cNvPr>
          <p:cNvCxnSpPr>
            <a:cxnSpLocks/>
          </p:cNvCxnSpPr>
          <p:nvPr/>
        </p:nvCxnSpPr>
        <p:spPr>
          <a:xfrm>
            <a:off x="257775" y="27774337"/>
            <a:ext cx="21406548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7303891-3BBB-41AE-928E-47E336D1BAC1}"/>
              </a:ext>
            </a:extLst>
          </p:cNvPr>
          <p:cNvSpPr/>
          <p:nvPr/>
        </p:nvSpPr>
        <p:spPr>
          <a:xfrm>
            <a:off x="3402119" y="4826392"/>
            <a:ext cx="11393516" cy="2638740"/>
          </a:xfrm>
          <a:prstGeom prst="roundRect">
            <a:avLst/>
          </a:prstGeom>
          <a:solidFill>
            <a:srgbClr val="00ABD5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ctr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7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2" name="TITLE OF RESEARCH STUDY in 54 pt"/>
          <p:cNvSpPr txBox="1"/>
          <p:nvPr/>
        </p:nvSpPr>
        <p:spPr>
          <a:xfrm>
            <a:off x="362407" y="-30473"/>
            <a:ext cx="15901523" cy="2077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b">
            <a:spAutoFit/>
          </a:bodyPr>
          <a:lstStyle>
            <a:lvl1pPr algn="l">
              <a:defRPr sz="5400" b="0">
                <a:solidFill>
                  <a:srgbClr val="FFFFFF"/>
                </a:solidFill>
                <a:latin typeface="ITC Franklin Gothic Std Demi Co"/>
                <a:ea typeface="ITC Franklin Gothic Std Demi Co"/>
                <a:cs typeface="ITC Franklin Gothic Std Demi Co"/>
                <a:sym typeface="ITC Franklin Gothic Std Demi Co"/>
              </a:defRPr>
            </a:lvl1pPr>
          </a:lstStyle>
          <a:p>
            <a:r>
              <a:rPr lang="en-US" sz="6000" b="1" dirty="0">
                <a:latin typeface="Franklin Gothic Book" panose="020B0503020102020204" pitchFamily="34" charset="0"/>
              </a:rPr>
              <a:t>Fairfax County </a:t>
            </a:r>
            <a:r>
              <a:rPr lang="en-US" sz="6000" b="1" dirty="0" err="1">
                <a:latin typeface="Franklin Gothic Book" panose="020B0503020102020204" pitchFamily="34" charset="0"/>
              </a:rPr>
              <a:t>CommunityScape</a:t>
            </a:r>
            <a:r>
              <a:rPr lang="en-US" sz="6000" b="1" dirty="0">
                <a:latin typeface="Franklin Gothic Book" panose="020B0503020102020204" pitchFamily="34" charset="0"/>
              </a:rPr>
              <a:t>:</a:t>
            </a:r>
            <a:endParaRPr lang="en-US" b="1" dirty="0">
              <a:latin typeface="Franklin Gothic Book" panose="020B0503020102020204" pitchFamily="34" charset="0"/>
            </a:endParaRPr>
          </a:p>
          <a:p>
            <a:r>
              <a:rPr lang="en-US" sz="6000" b="1" dirty="0">
                <a:latin typeface="Franklin Gothic Book" panose="020B0503020102020204" pitchFamily="34" charset="0"/>
              </a:rPr>
              <a:t>Economic Vulnerability</a:t>
            </a:r>
          </a:p>
        </p:txBody>
      </p:sp>
      <p:sp>
        <p:nvSpPr>
          <p:cNvPr id="51" name="Your Name, Graduate Student Name, Post Doc Name, Advisor…"/>
          <p:cNvSpPr txBox="1"/>
          <p:nvPr/>
        </p:nvSpPr>
        <p:spPr>
          <a:xfrm>
            <a:off x="362407" y="1913058"/>
            <a:ext cx="13518297" cy="1892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ctr">
            <a:spAutoFit/>
          </a:bodyPr>
          <a:lstStyle/>
          <a:p>
            <a:pPr algn="l" defTabSz="1314450"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sz="1800" dirty="0">
                <a:solidFill>
                  <a:schemeClr val="bg1"/>
                </a:solidFill>
                <a:latin typeface="ITC Franklin Gothic Std Book" panose="020B0504030503020204" pitchFamily="34" charset="77"/>
                <a:cs typeface="ITC Franklin Gothic Std Book"/>
              </a:rPr>
              <a:t>DSPG Team: Eliza Tobin (University of Virginia), Victoria </a:t>
            </a:r>
            <a:r>
              <a:rPr lang="en-US" sz="1800" dirty="0" err="1">
                <a:solidFill>
                  <a:schemeClr val="bg1"/>
                </a:solidFill>
                <a:latin typeface="ITC Franklin Gothic Std Book" panose="020B0504030503020204" pitchFamily="34" charset="77"/>
                <a:cs typeface="ITC Franklin Gothic Std Book"/>
              </a:rPr>
              <a:t>Halewicz</a:t>
            </a:r>
            <a:r>
              <a:rPr lang="en-US" sz="1800" dirty="0">
                <a:solidFill>
                  <a:schemeClr val="bg1"/>
                </a:solidFill>
                <a:latin typeface="ITC Franklin Gothic Std Book" panose="020B0504030503020204" pitchFamily="34" charset="77"/>
                <a:cs typeface="ITC Franklin Gothic Std Book"/>
              </a:rPr>
              <a:t> and Cong Cong (University of Illinois at Urbana-Champaign), Quinton Neville (Columbia University)</a:t>
            </a:r>
            <a:endParaRPr sz="1800" dirty="0">
              <a:solidFill>
                <a:schemeClr val="bg1"/>
              </a:solidFill>
              <a:latin typeface="ITC Franklin Gothic Std Book" panose="020B0504030503020204" pitchFamily="34" charset="77"/>
              <a:cs typeface="ITC Franklin Gothic Std Book"/>
            </a:endParaRPr>
          </a:p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sz="1800" dirty="0">
                <a:latin typeface="ITC Franklin Gothic Std Book" panose="020B0504030503020204" pitchFamily="34" charset="77"/>
                <a:cs typeface="ITC Franklin Gothic Std Book"/>
              </a:rPr>
              <a:t>SDAD Team: </a:t>
            </a:r>
            <a:r>
              <a:rPr lang="en-US" sz="1800" dirty="0" err="1">
                <a:latin typeface="ITC Franklin Gothic Std Book" panose="020B0504030503020204" pitchFamily="34" charset="77"/>
                <a:cs typeface="ITC Franklin Gothic Std Book"/>
              </a:rPr>
              <a:t>Teja</a:t>
            </a:r>
            <a:r>
              <a:rPr lang="en-US" sz="1800" dirty="0">
                <a:latin typeface="ITC Franklin Gothic Std Book" panose="020B0504030503020204" pitchFamily="34" charset="77"/>
                <a:cs typeface="ITC Franklin Gothic Std Book"/>
              </a:rPr>
              <a:t> </a:t>
            </a:r>
            <a:r>
              <a:rPr lang="en-US" sz="1800" dirty="0" err="1">
                <a:latin typeface="ITC Franklin Gothic Std Book" panose="020B0504030503020204" pitchFamily="34" charset="77"/>
                <a:cs typeface="ITC Franklin Gothic Std Book"/>
              </a:rPr>
              <a:t>Pristavec</a:t>
            </a:r>
            <a:r>
              <a:rPr lang="en-US" sz="1800" dirty="0">
                <a:latin typeface="ITC Franklin Gothic Std Book" panose="020B0504030503020204" pitchFamily="34" charset="77"/>
                <a:cs typeface="ITC Franklin Gothic Std Book"/>
              </a:rPr>
              <a:t>, Josh Goldstein, Brandon Kramer, Vicki Lancaster, Joy Tobin, Stephanie Shipp</a:t>
            </a:r>
          </a:p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sz="1800" dirty="0">
                <a:latin typeface="ITC Franklin Gothic Std Book" panose="020B0504030503020204" pitchFamily="34" charset="77"/>
                <a:cs typeface="ITC Franklin Gothic Std Book"/>
              </a:rPr>
              <a:t>Sponsor: Michelle Gregory and Sophia Dutton, Fairfax County Health and Human Services; </a:t>
            </a:r>
          </a:p>
          <a:p>
            <a:pPr algn="l" defTabSz="1314450"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sz="1800" dirty="0" err="1">
                <a:latin typeface="ITC Franklin Gothic Std Book" panose="020B0504030503020204" pitchFamily="34" charset="77"/>
                <a:cs typeface="ITC Franklin Gothic Std Book"/>
              </a:rPr>
              <a:t>Kathi</a:t>
            </a:r>
            <a:r>
              <a:rPr lang="en-US" sz="1800" dirty="0">
                <a:latin typeface="ITC Franklin Gothic Std Book" panose="020B0504030503020204" pitchFamily="34" charset="77"/>
                <a:cs typeface="ITC Franklin Gothic Std Book"/>
              </a:rPr>
              <a:t> Huddleston, Sahel </a:t>
            </a:r>
            <a:r>
              <a:rPr lang="en-US" sz="1800" dirty="0" err="1">
                <a:latin typeface="ITC Franklin Gothic Std Book" panose="020B0504030503020204" pitchFamily="34" charset="77"/>
                <a:cs typeface="ITC Franklin Gothic Std Book"/>
              </a:rPr>
              <a:t>Hazrati</a:t>
            </a:r>
            <a:r>
              <a:rPr lang="en-US" sz="1800" dirty="0">
                <a:latin typeface="ITC Franklin Gothic Std Book" panose="020B0504030503020204" pitchFamily="34" charset="77"/>
                <a:cs typeface="ITC Franklin Gothic Std Book"/>
              </a:rPr>
              <a:t>, and Grace Lawrence, Inova Translational Medicine Institute</a:t>
            </a:r>
          </a:p>
        </p:txBody>
      </p:sp>
      <p:pic>
        <p:nvPicPr>
          <p:cNvPr id="5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514" y="31141639"/>
            <a:ext cx="8550572" cy="128498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D0BB2B-5FD8-4435-99B7-C37F9A9CFE96}"/>
              </a:ext>
            </a:extLst>
          </p:cNvPr>
          <p:cNvSpPr txBox="1"/>
          <p:nvPr/>
        </p:nvSpPr>
        <p:spPr>
          <a:xfrm>
            <a:off x="3483004" y="5015958"/>
            <a:ext cx="11312631" cy="24814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algn="l"/>
            <a:r>
              <a:rPr lang="en-US" sz="3000" b="0" dirty="0">
                <a:solidFill>
                  <a:schemeClr val="tx1"/>
                </a:solidFill>
                <a:latin typeface="Franklin Gothic Book"/>
              </a:rPr>
              <a:t>Fairfax County and the Inova Health System seek to better understand the context in which their citizens and patients live, learn, work, and play. Both stakeholders would benefit from a </a:t>
            </a:r>
            <a:r>
              <a:rPr lang="en-US" sz="3000" dirty="0">
                <a:solidFill>
                  <a:schemeClr val="tx1"/>
                </a:solidFill>
                <a:latin typeface="Franklin Gothic Book"/>
              </a:rPr>
              <a:t>Fairfax </a:t>
            </a:r>
            <a:r>
              <a:rPr lang="en-US" sz="3000" dirty="0" err="1">
                <a:solidFill>
                  <a:schemeClr val="tx1"/>
                </a:solidFill>
                <a:latin typeface="Franklin Gothic Book"/>
              </a:rPr>
              <a:t>CommunityScape</a:t>
            </a:r>
            <a:r>
              <a:rPr lang="en-US" sz="3000" b="0" dirty="0">
                <a:solidFill>
                  <a:schemeClr val="tx1"/>
                </a:solidFill>
                <a:latin typeface="Franklin Gothic Book"/>
              </a:rPr>
              <a:t>, a </a:t>
            </a:r>
            <a:r>
              <a:rPr lang="en-US" sz="3000" b="0" dirty="0">
                <a:latin typeface="Franklin Gothic Book"/>
              </a:rPr>
              <a:t>quantitative characterization of the county’s social determinants of health and wealth.</a:t>
            </a:r>
            <a:endParaRPr lang="en-US" sz="3000" dirty="0">
              <a:latin typeface="Franklin Gothic Boo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EB8DA7-3424-4CF6-832F-99E1849C70A7}"/>
              </a:ext>
            </a:extLst>
          </p:cNvPr>
          <p:cNvSpPr txBox="1"/>
          <p:nvPr/>
        </p:nvSpPr>
        <p:spPr>
          <a:xfrm>
            <a:off x="257775" y="27763618"/>
            <a:ext cx="16758509" cy="4297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algn="l"/>
            <a:r>
              <a:rPr lang="en-US" sz="4400">
                <a:latin typeface="Franklin Gothic Book" panose="020B0503020102020204" pitchFamily="34" charset="0"/>
              </a:rPr>
              <a:t>Future Directions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0">
                <a:latin typeface="Franklin Gothic Book"/>
              </a:rPr>
              <a:t>Further </a:t>
            </a:r>
            <a:r>
              <a:rPr lang="en-US" sz="3000">
                <a:latin typeface="Franklin Gothic Book"/>
              </a:rPr>
              <a:t>collaboration</a:t>
            </a:r>
            <a:r>
              <a:rPr lang="en-US" sz="3000" b="0">
                <a:latin typeface="Franklin Gothic Book"/>
              </a:rPr>
              <a:t> with Inova and Fairfax County: Place citizens and patients in context.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0">
                <a:latin typeface="Franklin Gothic Book"/>
              </a:rPr>
              <a:t>Index </a:t>
            </a:r>
            <a:r>
              <a:rPr lang="en-US" sz="3000">
                <a:latin typeface="Franklin Gothic Book"/>
              </a:rPr>
              <a:t>refinement</a:t>
            </a:r>
            <a:r>
              <a:rPr lang="en-US" sz="3000" b="0">
                <a:latin typeface="Franklin Gothic Book"/>
              </a:rPr>
              <a:t>: Develop stakeholder weights and compare results.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0">
                <a:latin typeface="Franklin Gothic Book"/>
              </a:rPr>
              <a:t>Index </a:t>
            </a:r>
            <a:r>
              <a:rPr lang="en-US" sz="3000">
                <a:latin typeface="Franklin Gothic Book"/>
              </a:rPr>
              <a:t>validation</a:t>
            </a:r>
            <a:r>
              <a:rPr lang="en-US" sz="3000" b="0">
                <a:latin typeface="Franklin Gothic Book"/>
              </a:rPr>
              <a:t>: How can we ensure our </a:t>
            </a:r>
            <a:r>
              <a:rPr lang="en-US" sz="3000" b="0" err="1">
                <a:latin typeface="Franklin Gothic Book"/>
              </a:rPr>
              <a:t>CommunityScape</a:t>
            </a:r>
            <a:r>
              <a:rPr lang="en-US" sz="3000" b="0">
                <a:latin typeface="Franklin Gothic Book"/>
              </a:rPr>
              <a:t> reflects reality? Does the index predict citizen and patient outcomes?</a:t>
            </a:r>
          </a:p>
          <a:p>
            <a:pPr algn="l"/>
            <a:endParaRPr lang="en-US" sz="3200" b="0">
              <a:latin typeface="Franklin Gothic Book" panose="020B0503020102020204" pitchFamily="34" charset="0"/>
            </a:endParaRPr>
          </a:p>
          <a:p>
            <a:pPr algn="l"/>
            <a:endParaRPr lang="en-US" sz="3200" b="0">
              <a:highlight>
                <a:srgbClr val="FFFF00"/>
              </a:highlight>
              <a:latin typeface="Franklin Gothic Book" panose="020B0503020102020204" pitchFamily="34" charset="0"/>
            </a:endParaRPr>
          </a:p>
          <a:p>
            <a:pPr algn="l"/>
            <a:endParaRPr lang="en-US" sz="3200" b="0">
              <a:latin typeface="Franklin Gothic Book" panose="020B0503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1E88B3-2C95-45F6-AEE7-0FB54B285C23}"/>
              </a:ext>
            </a:extLst>
          </p:cNvPr>
          <p:cNvSpPr txBox="1"/>
          <p:nvPr/>
        </p:nvSpPr>
        <p:spPr>
          <a:xfrm>
            <a:off x="447556" y="7970193"/>
            <a:ext cx="14354355" cy="1173398"/>
          </a:xfrm>
          <a:prstGeom prst="rect">
            <a:avLst/>
          </a:prstGeom>
          <a:solidFill>
            <a:srgbClr val="A7D5A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US" sz="3000" b="0" dirty="0">
                <a:latin typeface="Franklin Gothic Book"/>
                <a:cs typeface="Segoe UI"/>
              </a:rPr>
              <a:t>Objective:​ Create an </a:t>
            </a:r>
            <a:r>
              <a:rPr lang="en-US" sz="3000" dirty="0">
                <a:latin typeface="Franklin Gothic Book"/>
                <a:cs typeface="Segoe UI"/>
              </a:rPr>
              <a:t>economic vulnerability </a:t>
            </a:r>
            <a:r>
              <a:rPr lang="en-US" sz="3000" b="0" dirty="0">
                <a:latin typeface="Franklin Gothic Book"/>
                <a:cs typeface="Segoe UI"/>
              </a:rPr>
              <a:t>index to identify populations at risk, promote informed policy in Fairfax County, and establish a baseline for measuring change.</a:t>
            </a:r>
            <a:endParaRPr lang="en-US" sz="3000" b="0" dirty="0">
              <a:latin typeface="Franklin Gothic Book"/>
            </a:endParaRPr>
          </a:p>
        </p:txBody>
      </p:sp>
      <p:pic>
        <p:nvPicPr>
          <p:cNvPr id="22" name="Picture 22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1E33818E-5073-4527-90F2-360E6B75D5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851"/>
          <a:stretch/>
        </p:blipFill>
        <p:spPr>
          <a:xfrm>
            <a:off x="356266" y="10316769"/>
            <a:ext cx="4357705" cy="1813865"/>
          </a:xfrm>
          <a:prstGeom prst="rect">
            <a:avLst/>
          </a:prstGeom>
        </p:spPr>
      </p:pic>
      <p:pic>
        <p:nvPicPr>
          <p:cNvPr id="24" name="Picture 24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344A09F8-BF91-4CF9-9A5F-6C8CE3095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2974" y="10197482"/>
            <a:ext cx="2853801" cy="1890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6" name="Picture 2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AAF86D5D-2EAA-493E-AF98-9BDD60DA9E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857" y="4238493"/>
            <a:ext cx="2484408" cy="2477550"/>
          </a:xfrm>
          <a:prstGeom prst="rect">
            <a:avLst/>
          </a:prstGeom>
        </p:spPr>
      </p:pic>
      <p:pic>
        <p:nvPicPr>
          <p:cNvPr id="28" name="Picture 28">
            <a:extLst>
              <a:ext uri="{FF2B5EF4-FFF2-40B4-BE49-F238E27FC236}">
                <a16:creationId xmlns:a16="http://schemas.microsoft.com/office/drawing/2014/main" id="{07FDDE56-A2DF-4CB2-850B-67085A304E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857" y="6905302"/>
            <a:ext cx="2484408" cy="57724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D17784F-D1C6-44E2-9270-89A972465AE0}"/>
              </a:ext>
            </a:extLst>
          </p:cNvPr>
          <p:cNvSpPr txBox="1"/>
          <p:nvPr/>
        </p:nvSpPr>
        <p:spPr>
          <a:xfrm>
            <a:off x="304839" y="9459040"/>
            <a:ext cx="4313207" cy="8502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>
                <a:latin typeface="Franklin Gothic Book" panose="020B0503020102020204" pitchFamily="34" charset="0"/>
              </a:rPr>
              <a:t>Data sources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4C213F-AA9A-44EF-AFD3-6D783A433809}"/>
              </a:ext>
            </a:extLst>
          </p:cNvPr>
          <p:cNvSpPr txBox="1"/>
          <p:nvPr/>
        </p:nvSpPr>
        <p:spPr>
          <a:xfrm>
            <a:off x="3421117" y="3985800"/>
            <a:ext cx="4313207" cy="8502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 dirty="0">
                <a:latin typeface="Franklin Gothic Book" panose="020B0503020102020204" pitchFamily="34" charset="0"/>
              </a:rPr>
              <a:t>Introduction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315526-CC9F-4808-933E-B71AC16D06D0}"/>
              </a:ext>
            </a:extLst>
          </p:cNvPr>
          <p:cNvSpPr txBox="1"/>
          <p:nvPr/>
        </p:nvSpPr>
        <p:spPr>
          <a:xfrm>
            <a:off x="303765" y="12304799"/>
            <a:ext cx="4313207" cy="8502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>
                <a:latin typeface="Franklin Gothic Book" panose="020B0503020102020204" pitchFamily="34" charset="0"/>
              </a:rPr>
              <a:t>Measures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73FE49-F11E-4426-95E4-0DAC07F273DF}"/>
              </a:ext>
            </a:extLst>
          </p:cNvPr>
          <p:cNvSpPr txBox="1"/>
          <p:nvPr/>
        </p:nvSpPr>
        <p:spPr>
          <a:xfrm>
            <a:off x="6704369" y="13137796"/>
            <a:ext cx="8011913" cy="62824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Aft>
                <a:spcPts val="800"/>
              </a:spcAft>
            </a:pPr>
            <a:r>
              <a:rPr lang="en-US" sz="2900" b="0" dirty="0">
                <a:solidFill>
                  <a:schemeClr val="tx1"/>
                </a:solidFill>
                <a:latin typeface="Franklin Gothic Book"/>
              </a:rPr>
              <a:t>According to the </a:t>
            </a:r>
            <a:r>
              <a:rPr lang="en-US" sz="2900" dirty="0">
                <a:solidFill>
                  <a:schemeClr val="tx1"/>
                </a:solidFill>
                <a:latin typeface="Franklin Gothic Book"/>
              </a:rPr>
              <a:t>literature</a:t>
            </a:r>
            <a:r>
              <a:rPr lang="en-US" sz="2900" b="0" dirty="0">
                <a:solidFill>
                  <a:schemeClr val="tx1"/>
                </a:solidFill>
                <a:latin typeface="Franklin Gothic Book"/>
              </a:rPr>
              <a:t>, e.g. educational attainment,</a:t>
            </a:r>
            <a:r>
              <a:rPr lang="en-US" sz="2900" b="0" baseline="30000" dirty="0">
                <a:solidFill>
                  <a:schemeClr val="tx1"/>
                </a:solidFill>
                <a:latin typeface="Franklin Gothic Book"/>
              </a:rPr>
              <a:t>1</a:t>
            </a:r>
            <a:r>
              <a:rPr lang="en-US" sz="2900" b="0" dirty="0">
                <a:solidFill>
                  <a:schemeClr val="tx1"/>
                </a:solidFill>
                <a:latin typeface="Franklin Gothic Book"/>
              </a:rPr>
              <a:t> English proficiency,</a:t>
            </a:r>
            <a:r>
              <a:rPr lang="en-US" sz="2900" b="0" baseline="30000" dirty="0">
                <a:solidFill>
                  <a:schemeClr val="tx1"/>
                </a:solidFill>
                <a:latin typeface="Franklin Gothic Book"/>
              </a:rPr>
              <a:t>2</a:t>
            </a:r>
            <a:r>
              <a:rPr lang="en-US" sz="2900" b="0" dirty="0">
                <a:solidFill>
                  <a:schemeClr val="tx1"/>
                </a:solidFill>
                <a:latin typeface="Franklin Gothic Book"/>
              </a:rPr>
              <a:t> </a:t>
            </a:r>
            <a:r>
              <a:rPr lang="en-US" sz="2900" b="0" dirty="0">
                <a:latin typeface="Franklin Gothic Book"/>
              </a:rPr>
              <a:t>and access to medical care,</a:t>
            </a:r>
            <a:r>
              <a:rPr lang="en-US" sz="2900" b="0" baseline="30000" dirty="0">
                <a:latin typeface="Franklin Gothic Book"/>
              </a:rPr>
              <a:t>3</a:t>
            </a:r>
            <a:r>
              <a:rPr lang="en-US" sz="2900" b="0" dirty="0">
                <a:latin typeface="Franklin Gothic Book"/>
              </a:rPr>
              <a:t>  are proxies for economic vulnerability. This information informed our variable selection.</a:t>
            </a:r>
            <a:endParaRPr lang="en-US" sz="2900" dirty="0">
              <a:latin typeface="Franklin Gothic Book"/>
            </a:endParaRPr>
          </a:p>
          <a:p>
            <a:pPr algn="l">
              <a:spcAft>
                <a:spcPts val="800"/>
              </a:spcAft>
            </a:pPr>
            <a:r>
              <a:rPr lang="en-US" sz="2900" b="0" dirty="0">
                <a:latin typeface="Franklin Gothic Book"/>
              </a:rPr>
              <a:t>We combined American Community Survey (ACS) data with Fairfax housing stock data using a </a:t>
            </a:r>
            <a:r>
              <a:rPr lang="en-US" sz="2900" dirty="0">
                <a:latin typeface="Franklin Gothic Book"/>
              </a:rPr>
              <a:t>population synthesis technique</a:t>
            </a:r>
            <a:r>
              <a:rPr lang="en-US" sz="2900" b="0" dirty="0">
                <a:latin typeface="Franklin Gothic Book"/>
              </a:rPr>
              <a:t> to obtain ACS data at three geographic levels (census tract, supervisor district, high school attendance zone).</a:t>
            </a:r>
          </a:p>
          <a:p>
            <a:pPr algn="l">
              <a:spcAft>
                <a:spcPts val="800"/>
              </a:spcAft>
            </a:pPr>
            <a:r>
              <a:rPr lang="en-US" sz="2900" b="0" dirty="0">
                <a:latin typeface="Franklin Gothic Book"/>
              </a:rPr>
              <a:t>We created variables (e.g. proportions, medians as appropriate) at each geography of interest. </a:t>
            </a:r>
            <a:endParaRPr lang="en-US" sz="2900" b="0" dirty="0">
              <a:solidFill>
                <a:schemeClr val="tx1"/>
              </a:solidFill>
              <a:latin typeface="Franklin Gothic Book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140F77C-3A53-4C0A-BA14-DE9DF8CCC33D}"/>
              </a:ext>
            </a:extLst>
          </p:cNvPr>
          <p:cNvSpPr txBox="1"/>
          <p:nvPr/>
        </p:nvSpPr>
        <p:spPr>
          <a:xfrm>
            <a:off x="9516119" y="20024133"/>
            <a:ext cx="5664943" cy="15581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algn="l"/>
            <a:r>
              <a:rPr lang="en-US" sz="3000" b="0">
                <a:latin typeface="Franklin Gothic Book"/>
              </a:rPr>
              <a:t>Our final model uses a varimax rotation with the principal factor solution method.</a:t>
            </a:r>
            <a:endParaRPr 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Franklin Gothic Book"/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E273762-EF5D-4AB5-A139-0ED4E1522445}"/>
              </a:ext>
            </a:extLst>
          </p:cNvPr>
          <p:cNvCxnSpPr/>
          <p:nvPr/>
        </p:nvCxnSpPr>
        <p:spPr>
          <a:xfrm>
            <a:off x="675186" y="19766259"/>
            <a:ext cx="1379476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6793800E-9865-4BD3-9C6B-A205937CEB55}"/>
              </a:ext>
            </a:extLst>
          </p:cNvPr>
          <p:cNvSpPr txBox="1"/>
          <p:nvPr/>
        </p:nvSpPr>
        <p:spPr>
          <a:xfrm>
            <a:off x="4713971" y="10159222"/>
            <a:ext cx="5068716" cy="20197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R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Demographics </a:t>
            </a:r>
          </a:p>
          <a:p>
            <a:pPr marR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3000" b="0" dirty="0">
                <a:latin typeface="Franklin Gothic Book" panose="020B0503020102020204" pitchFamily="34" charset="0"/>
              </a:rPr>
              <a:t>Financial conditions</a:t>
            </a:r>
          </a:p>
          <a:p>
            <a:pPr marR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Employment status</a:t>
            </a:r>
          </a:p>
          <a:p>
            <a:pPr marR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Transportation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3673686-1FC4-4B8C-A545-FB6CB56D54CA}"/>
              </a:ext>
            </a:extLst>
          </p:cNvPr>
          <p:cNvSpPr txBox="1"/>
          <p:nvPr/>
        </p:nvSpPr>
        <p:spPr>
          <a:xfrm>
            <a:off x="11534541" y="10221132"/>
            <a:ext cx="4232787" cy="10964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R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/>
                <a:sym typeface="Helvetica Neue"/>
              </a:rPr>
              <a:t>Domicile locations</a:t>
            </a:r>
            <a:endParaRPr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ranklin Gothic Book"/>
            </a:endParaRPr>
          </a:p>
          <a:p>
            <a:pPr marR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/>
                <a:sym typeface="Helvetica Neue"/>
              </a:rPr>
              <a:t>Housing conditions</a:t>
            </a:r>
            <a:endParaRPr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D0FE53-8A75-41FA-A6DC-2E4EE921950C}"/>
              </a:ext>
            </a:extLst>
          </p:cNvPr>
          <p:cNvSpPr txBox="1"/>
          <p:nvPr/>
        </p:nvSpPr>
        <p:spPr>
          <a:xfrm>
            <a:off x="16718776" y="27961259"/>
            <a:ext cx="4929316" cy="254300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Franklin Gothic Book"/>
              </a:rPr>
              <a:t>FOOTNOTES</a:t>
            </a:r>
            <a:endParaRPr lang="en-US" sz="1400" b="0" dirty="0">
              <a:solidFill>
                <a:srgbClr val="002060"/>
              </a:solidFill>
              <a:latin typeface="Franklin Gothic Book"/>
            </a:endParaRPr>
          </a:p>
          <a:p>
            <a:pPr algn="l"/>
            <a:r>
              <a:rPr lang="en-US" sz="1400" b="0" baseline="30000" dirty="0">
                <a:solidFill>
                  <a:srgbClr val="002060"/>
                </a:solidFill>
                <a:latin typeface="Franklin Gothic Book"/>
              </a:rPr>
              <a:t>1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Malecki, C. K., </a:t>
            </a:r>
            <a:r>
              <a:rPr lang="en-US" sz="1400" b="0" dirty="0" err="1">
                <a:solidFill>
                  <a:srgbClr val="002060"/>
                </a:solidFill>
                <a:latin typeface="Franklin Gothic Book"/>
              </a:rPr>
              <a:t>Demaray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, M. K. (2006). Social support as a buffer in the relationship between socioeconomic status and academic performance. </a:t>
            </a:r>
            <a:r>
              <a:rPr lang="en-US" sz="1400" b="0" i="1" dirty="0">
                <a:solidFill>
                  <a:srgbClr val="002060"/>
                </a:solidFill>
                <a:latin typeface="Franklin Gothic Book"/>
              </a:rPr>
              <a:t>School Psychology Quarterly, 21 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(4), 375-395. </a:t>
            </a:r>
          </a:p>
          <a:p>
            <a:pPr algn="l"/>
            <a:r>
              <a:rPr lang="en-US" sz="1400" b="0" baseline="30000" dirty="0">
                <a:solidFill>
                  <a:srgbClr val="002060"/>
                </a:solidFill>
                <a:latin typeface="Franklin Gothic Book"/>
              </a:rPr>
              <a:t>2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Fry, R. ( 2008). The role of schools in the English language learner achievement gap. Washington, DC: Pew Hispanic Center. </a:t>
            </a:r>
          </a:p>
          <a:p>
            <a:pPr algn="l"/>
            <a:r>
              <a:rPr lang="en-US" sz="1400" b="0" baseline="30000" dirty="0">
                <a:solidFill>
                  <a:srgbClr val="002060"/>
                </a:solidFill>
                <a:latin typeface="Franklin Gothic Book"/>
              </a:rPr>
              <a:t>3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Shi, L., Lebrun, L. A., &amp; Tsai, J. (2009). The influence of English proficiency on access to care. </a:t>
            </a:r>
            <a:r>
              <a:rPr lang="en-US" sz="1400" b="0" i="1" dirty="0">
                <a:solidFill>
                  <a:srgbClr val="002060"/>
                </a:solidFill>
                <a:latin typeface="Franklin Gothic Book"/>
              </a:rPr>
              <a:t>Ethnicity &amp; health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, </a:t>
            </a:r>
            <a:r>
              <a:rPr lang="en-US" sz="1400" b="0" i="1" dirty="0">
                <a:solidFill>
                  <a:srgbClr val="002060"/>
                </a:solidFill>
                <a:latin typeface="Franklin Gothic Book"/>
              </a:rPr>
              <a:t>14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(6), 625-642.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789F835-1294-8643-8B18-537619452E9F}"/>
              </a:ext>
            </a:extLst>
          </p:cNvPr>
          <p:cNvCxnSpPr/>
          <p:nvPr/>
        </p:nvCxnSpPr>
        <p:spPr>
          <a:xfrm>
            <a:off x="565589" y="12397983"/>
            <a:ext cx="1385693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4C94A80-D0D4-7A41-92EA-20655B0FDF52}"/>
              </a:ext>
            </a:extLst>
          </p:cNvPr>
          <p:cNvGrpSpPr/>
          <p:nvPr/>
        </p:nvGrpSpPr>
        <p:grpSpPr>
          <a:xfrm>
            <a:off x="371338" y="13038952"/>
            <a:ext cx="6043066" cy="6324870"/>
            <a:chOff x="181153" y="12566624"/>
            <a:chExt cx="6434267" cy="692041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4AA9D32-722B-49C4-BEDB-28F2D55525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5834" b="7349"/>
            <a:stretch/>
          </p:blipFill>
          <p:spPr>
            <a:xfrm>
              <a:off x="181154" y="12566624"/>
              <a:ext cx="6434266" cy="6920416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76C901C-34F8-8A41-8277-F38C7134281A}"/>
                </a:ext>
              </a:extLst>
            </p:cNvPr>
            <p:cNvSpPr/>
            <p:nvPr/>
          </p:nvSpPr>
          <p:spPr>
            <a:xfrm>
              <a:off x="181153" y="13337628"/>
              <a:ext cx="449467" cy="5454869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bg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85725" tIns="85725" rIns="85725" bIns="85725" numCol="1" spcCol="38100" rtlCol="0" anchor="ctr">
              <a:spAutoFit/>
            </a:bodyPr>
            <a:lstStyle/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7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1A7BBC6-474E-4AFF-A4DB-C418431C7C84}"/>
              </a:ext>
            </a:extLst>
          </p:cNvPr>
          <p:cNvGrpSpPr/>
          <p:nvPr/>
        </p:nvGrpSpPr>
        <p:grpSpPr>
          <a:xfrm>
            <a:off x="9271961" y="23743039"/>
            <a:ext cx="6017934" cy="3704059"/>
            <a:chOff x="844058" y="20570730"/>
            <a:chExt cx="7095666" cy="450852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15BC259-57CD-42A8-AF7B-EC220715D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058" y="21934040"/>
              <a:ext cx="6594094" cy="1922044"/>
            </a:xfrm>
            <a:prstGeom prst="rect">
              <a:avLst/>
            </a:prstGeom>
          </p:spPr>
        </p:pic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7364A5B-498F-4587-A25C-E96DDEE091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5265" y="23226108"/>
              <a:ext cx="0" cy="322194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1CBB34B-8845-4640-8618-BB17FD7E8B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16457" y="23202144"/>
              <a:ext cx="0" cy="322193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D8610A5-E741-485A-957F-2DBB75E7BDFE}"/>
                </a:ext>
              </a:extLst>
            </p:cNvPr>
            <p:cNvCxnSpPr>
              <a:cxnSpLocks/>
            </p:cNvCxnSpPr>
            <p:nvPr/>
          </p:nvCxnSpPr>
          <p:spPr>
            <a:xfrm>
              <a:off x="6278166" y="22111353"/>
              <a:ext cx="0" cy="435243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F40565DE-B741-4266-B8AF-E6CA674CDFF3}"/>
                </a:ext>
              </a:extLst>
            </p:cNvPr>
            <p:cNvCxnSpPr/>
            <p:nvPr/>
          </p:nvCxnSpPr>
          <p:spPr>
            <a:xfrm>
              <a:off x="3624169" y="22111353"/>
              <a:ext cx="0" cy="380899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588D376-7F69-486D-8F44-45B95F5519D9}"/>
                </a:ext>
              </a:extLst>
            </p:cNvPr>
            <p:cNvSpPr txBox="1"/>
            <p:nvPr/>
          </p:nvSpPr>
          <p:spPr>
            <a:xfrm>
              <a:off x="3803709" y="23424852"/>
              <a:ext cx="2199187" cy="1654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85725" tIns="85725" rIns="85725" bIns="85725" numCol="1" spcCol="38100" rtlCol="0" anchor="ctr">
              <a:spAutoFit/>
            </a:bodyPr>
            <a:lstStyle/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ranklin Gothic Book" panose="020B0503020102020204" pitchFamily="34" charset="0"/>
                  <a:sym typeface="Helvetica Neue"/>
                </a:rPr>
                <a:t>Matrix of factor scores</a:t>
              </a:r>
            </a:p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>
                  <a:latin typeface="Franklin Gothic Book" panose="020B0503020102020204" pitchFamily="34" charset="0"/>
                </a:rPr>
                <a:t>(k * p)</a:t>
              </a:r>
              <a:endPara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8A7C7BC-2F8E-4AAE-A5F7-FB982D274F2E}"/>
                </a:ext>
              </a:extLst>
            </p:cNvPr>
            <p:cNvSpPr txBox="1"/>
            <p:nvPr/>
          </p:nvSpPr>
          <p:spPr>
            <a:xfrm>
              <a:off x="2353889" y="20642799"/>
              <a:ext cx="2549413" cy="16544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85725" tIns="85725" rIns="85725" bIns="85725" numCol="1" spcCol="38100" rtlCol="0" anchor="ctr">
              <a:spAutoFit/>
            </a:bodyPr>
            <a:lstStyle/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ranklin Gothic Book" panose="020B0503020102020204" pitchFamily="34" charset="0"/>
                  <a:sym typeface="Helvetica Neue"/>
                </a:rPr>
                <a:t>Standardized design matrix</a:t>
              </a:r>
            </a:p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>
                  <a:latin typeface="Franklin Gothic Book" panose="020B0503020102020204" pitchFamily="34" charset="0"/>
                </a:rPr>
                <a:t>(n * p)</a:t>
              </a:r>
              <a:endPara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7A1B0EC-63CB-4C59-9BDF-B74552268433}"/>
                </a:ext>
              </a:extLst>
            </p:cNvPr>
            <p:cNvSpPr txBox="1"/>
            <p:nvPr/>
          </p:nvSpPr>
          <p:spPr>
            <a:xfrm>
              <a:off x="4635270" y="20570730"/>
              <a:ext cx="3304454" cy="16544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85725" tIns="85725" rIns="85725" bIns="85725" numCol="1" spcCol="38100" rtlCol="0" anchor="ctr">
              <a:spAutoFit/>
            </a:bodyPr>
            <a:lstStyle/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>
                  <a:latin typeface="Franklin Gothic Book" panose="020B0503020102020204" pitchFamily="34" charset="0"/>
                </a:rPr>
                <a:t>P</a:t>
              </a:r>
              <a:r>
                <a:rPr kumimoji="0" lang="en-US" sz="24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ranklin Gothic Book" panose="020B0503020102020204" pitchFamily="34" charset="0"/>
                  <a:sym typeface="Helvetica Neue"/>
                </a:rPr>
                <a:t>roportion of variance explained</a:t>
              </a:r>
            </a:p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>
                  <a:latin typeface="Franklin Gothic Book" panose="020B0503020102020204" pitchFamily="34" charset="0"/>
                </a:rPr>
                <a:t>(k * 1)</a:t>
              </a:r>
              <a:endPara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6EC2BB4-EB81-4894-B14B-7C34ADE42581}"/>
                </a:ext>
              </a:extLst>
            </p:cNvPr>
            <p:cNvSpPr txBox="1"/>
            <p:nvPr/>
          </p:nvSpPr>
          <p:spPr>
            <a:xfrm>
              <a:off x="1027966" y="23514162"/>
              <a:ext cx="2100964" cy="700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85725" tIns="85725" rIns="85725" bIns="85725" numCol="1" spcCol="38100" rtlCol="0" anchor="ctr">
              <a:spAutoFit/>
            </a:bodyPr>
            <a:lstStyle/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ranklin Gothic Book" panose="020B0503020102020204" pitchFamily="34" charset="0"/>
                  <a:sym typeface="Helvetica Neue"/>
                </a:rPr>
                <a:t>Index score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8D596ECC-3E65-0C45-BE52-905025F6A283}"/>
              </a:ext>
            </a:extLst>
          </p:cNvPr>
          <p:cNvSpPr txBox="1"/>
          <p:nvPr/>
        </p:nvSpPr>
        <p:spPr>
          <a:xfrm>
            <a:off x="15276332" y="4118535"/>
            <a:ext cx="4313207" cy="8502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 dirty="0">
                <a:latin typeface="Franklin Gothic Book" panose="020B0503020102020204" pitchFamily="34" charset="0"/>
              </a:rPr>
              <a:t>Results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8D4C9D2-95CE-4032-A224-D6CDF4364BA2}"/>
              </a:ext>
            </a:extLst>
          </p:cNvPr>
          <p:cNvSpPr txBox="1"/>
          <p:nvPr/>
        </p:nvSpPr>
        <p:spPr>
          <a:xfrm>
            <a:off x="15566090" y="26257716"/>
            <a:ext cx="6371716" cy="15273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algn="l"/>
            <a:r>
              <a:rPr lang="en-US" sz="2200" dirty="0">
                <a:solidFill>
                  <a:schemeClr val="tx1"/>
                </a:solidFill>
                <a:latin typeface="Franklin Gothic Book"/>
              </a:rPr>
              <a:t>Regions with high levels of economic vulnerability: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  <a:latin typeface="Franklin Gothic Book"/>
              </a:rPr>
              <a:t>Census tracts: </a:t>
            </a:r>
            <a:r>
              <a:rPr lang="en-US" sz="2200" b="0" dirty="0">
                <a:solidFill>
                  <a:schemeClr val="tx1"/>
                </a:solidFill>
                <a:latin typeface="Franklin Gothic Book"/>
              </a:rPr>
              <a:t>Dulles and Arlington adjacent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  <a:latin typeface="Franklin Gothic Book"/>
              </a:rPr>
              <a:t>High school districts: </a:t>
            </a:r>
            <a:r>
              <a:rPr lang="en-US" sz="2200" b="0" dirty="0">
                <a:solidFill>
                  <a:schemeClr val="tx1"/>
                </a:solidFill>
                <a:latin typeface="Franklin Gothic Book"/>
              </a:rPr>
              <a:t>Annandale, Justice, Mt. Vernon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  <a:latin typeface="Franklin Gothic Book"/>
              </a:rPr>
              <a:t>Supervisor districts: </a:t>
            </a:r>
            <a:r>
              <a:rPr lang="en-US" sz="2200" b="0" dirty="0">
                <a:solidFill>
                  <a:schemeClr val="tx1"/>
                </a:solidFill>
                <a:latin typeface="Franklin Gothic Book"/>
              </a:rPr>
              <a:t>Mason, Lee</a:t>
            </a:r>
            <a:endParaRPr lang="en-US" sz="2000" b="0" dirty="0">
              <a:solidFill>
                <a:schemeClr val="tx1"/>
              </a:solidFill>
              <a:latin typeface="Franklin Gothic Book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C35A8D-45BF-4260-B903-B20D7FB1E18D}"/>
              </a:ext>
            </a:extLst>
          </p:cNvPr>
          <p:cNvSpPr txBox="1"/>
          <p:nvPr/>
        </p:nvSpPr>
        <p:spPr>
          <a:xfrm>
            <a:off x="493884" y="20801072"/>
            <a:ext cx="5735781" cy="498401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latin typeface="Franklin Gothic Book"/>
              </a:rPr>
              <a:t>INDICATORS AND LOADINGS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B1C59EE-3D68-40AF-8699-0F864F0F339A}"/>
              </a:ext>
            </a:extLst>
          </p:cNvPr>
          <p:cNvSpPr txBox="1"/>
          <p:nvPr/>
        </p:nvSpPr>
        <p:spPr>
          <a:xfrm>
            <a:off x="9491617" y="21578347"/>
            <a:ext cx="5314933" cy="20197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algn="l"/>
            <a:r>
              <a:rPr lang="en-US" sz="3000" b="0" dirty="0">
                <a:latin typeface="Franklin Gothic Book"/>
              </a:rPr>
              <a:t>Using the loadings from the model, we computed the economic vulnerability index using the following formula:</a:t>
            </a:r>
            <a:endParaRPr lang="en-US" sz="3000" dirty="0">
              <a:latin typeface="Franklin Gothic Book"/>
            </a:endParaRPr>
          </a:p>
        </p:txBody>
      </p:sp>
      <p:pic>
        <p:nvPicPr>
          <p:cNvPr id="32" name="Picture 32">
            <a:extLst>
              <a:ext uri="{FF2B5EF4-FFF2-40B4-BE49-F238E27FC236}">
                <a16:creationId xmlns:a16="http://schemas.microsoft.com/office/drawing/2014/main" id="{FED26E45-7C92-459B-BEC0-334CE127BD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1165" y="18706112"/>
            <a:ext cx="1037687" cy="1816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B12F1C-F4DF-4EC5-B640-AD72B6501792}"/>
              </a:ext>
            </a:extLst>
          </p:cNvPr>
          <p:cNvSpPr txBox="1"/>
          <p:nvPr/>
        </p:nvSpPr>
        <p:spPr>
          <a:xfrm>
            <a:off x="946744" y="18813955"/>
            <a:ext cx="1515467" cy="3577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r>
              <a:rPr lang="en-US" sz="1200">
                <a:solidFill>
                  <a:srgbClr val="3F3F3F"/>
                </a:solidFill>
                <a:latin typeface="Franklin Gothic Book"/>
              </a:rPr>
              <a:t>density of domiciles</a:t>
            </a:r>
            <a:endParaRPr lang="en-US" sz="1200" b="1" i="1" u="none" strike="noStrike" cap="none" spc="0" normalizeH="0" baseline="0">
              <a:ln>
                <a:noFill/>
              </a:ln>
              <a:solidFill>
                <a:srgbClr val="3F3F3F"/>
              </a:solidFill>
              <a:effectLst/>
              <a:uFillTx/>
              <a:latin typeface="Franklin Gothic Book"/>
              <a:ea typeface="Helvetica Neue"/>
              <a:cs typeface="Helvetica Neue"/>
            </a:endParaRPr>
          </a:p>
        </p:txBody>
      </p:sp>
      <p:pic>
        <p:nvPicPr>
          <p:cNvPr id="39" name="Picture 39">
            <a:extLst>
              <a:ext uri="{FF2B5EF4-FFF2-40B4-BE49-F238E27FC236}">
                <a16:creationId xmlns:a16="http://schemas.microsoft.com/office/drawing/2014/main" id="{6EFC2D43-0ADF-440E-B4C2-71FED302D72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256868" y="3958533"/>
            <a:ext cx="4665342" cy="1010235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EFCBB124-ACF9-4946-A5AB-A9B6B50BF963}"/>
              </a:ext>
            </a:extLst>
          </p:cNvPr>
          <p:cNvSpPr txBox="1"/>
          <p:nvPr/>
        </p:nvSpPr>
        <p:spPr>
          <a:xfrm>
            <a:off x="458857" y="21248668"/>
            <a:ext cx="5735781" cy="5116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200" b="0" dirty="0">
                <a:latin typeface="Franklin Gothic Book"/>
              </a:rPr>
              <a:t>Proportion of geography with…</a:t>
            </a:r>
          </a:p>
        </p:txBody>
      </p:sp>
      <p:pic>
        <p:nvPicPr>
          <p:cNvPr id="118" name="Picture 117">
            <a:extLst>
              <a:ext uri="{FF2B5EF4-FFF2-40B4-BE49-F238E27FC236}">
                <a16:creationId xmlns:a16="http://schemas.microsoft.com/office/drawing/2014/main" id="{B55414A8-D419-B541-B538-28BF5A41736B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879"/>
          <a:stretch/>
        </p:blipFill>
        <p:spPr>
          <a:xfrm>
            <a:off x="15643077" y="4892366"/>
            <a:ext cx="6024187" cy="7161313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D6712A12-ADA3-504D-B49F-B6DC9BFCA67C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891"/>
          <a:stretch/>
        </p:blipFill>
        <p:spPr>
          <a:xfrm>
            <a:off x="15652427" y="11994981"/>
            <a:ext cx="6034931" cy="7175170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FDAD0055-6E05-C846-8D49-16D28A6A1714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82"/>
          <a:stretch/>
        </p:blipFill>
        <p:spPr>
          <a:xfrm>
            <a:off x="15627780" y="19117505"/>
            <a:ext cx="6059578" cy="722080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20D1D6D-8675-0844-A86C-054D6F815BD3}"/>
              </a:ext>
            </a:extLst>
          </p:cNvPr>
          <p:cNvGrpSpPr/>
          <p:nvPr/>
        </p:nvGrpSpPr>
        <p:grpSpPr>
          <a:xfrm>
            <a:off x="493884" y="21787433"/>
            <a:ext cx="8680990" cy="5543042"/>
            <a:chOff x="493884" y="21787433"/>
            <a:chExt cx="8680990" cy="5543042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CD16F683-83D8-F14C-AFEC-0BD6C284C0A4}"/>
                </a:ext>
              </a:extLst>
            </p:cNvPr>
            <p:cNvGrpSpPr/>
            <p:nvPr/>
          </p:nvGrpSpPr>
          <p:grpSpPr>
            <a:xfrm>
              <a:off x="493884" y="21787433"/>
              <a:ext cx="8583903" cy="5543042"/>
              <a:chOff x="539523" y="21685955"/>
              <a:chExt cx="8583903" cy="5543042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B584BF22-F9C4-4641-A472-30A0F6C695AA}"/>
                  </a:ext>
                </a:extLst>
              </p:cNvPr>
              <p:cNvSpPr/>
              <p:nvPr/>
            </p:nvSpPr>
            <p:spPr>
              <a:xfrm>
                <a:off x="6288400" y="23923729"/>
                <a:ext cx="2835026" cy="1109030"/>
              </a:xfrm>
              <a:prstGeom prst="ellipse">
                <a:avLst/>
              </a:prstGeom>
              <a:solidFill>
                <a:srgbClr val="F37A22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00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Franklin Gothic Book" panose="020B0503020102020204" pitchFamily="34" charset="0"/>
                    <a:ea typeface="+mn-ea"/>
                    <a:cs typeface="+mn-cs"/>
                    <a:sym typeface="Helvetica Neue Medium"/>
                  </a:rPr>
                  <a:t>ECONOMIC</a:t>
                </a:r>
              </a:p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solidFill>
                      <a:schemeClr val="tx1"/>
                    </a:solidFill>
                    <a:latin typeface="Franklin Gothic Book" panose="020B0503020102020204" pitchFamily="34" charset="0"/>
                    <a:ea typeface="+mn-ea"/>
                    <a:cs typeface="+mn-cs"/>
                    <a:sym typeface="Helvetica Neue Medium"/>
                  </a:rPr>
                  <a:t>VULNERABILITY</a:t>
                </a:r>
                <a:endParaRPr kumimoji="0" lang="en-US" sz="200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Franklin Gothic Book" panose="020B0503020102020204" pitchFamily="34" charset="0"/>
                  <a:ea typeface="+mn-ea"/>
                  <a:cs typeface="+mn-cs"/>
                  <a:sym typeface="Helvetica Neue Medium"/>
                </a:endParaRPr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C296F7BC-1500-AE4B-B5B6-F4A395C8A62C}"/>
                  </a:ext>
                </a:extLst>
              </p:cNvPr>
              <p:cNvGrpSpPr/>
              <p:nvPr/>
            </p:nvGrpSpPr>
            <p:grpSpPr>
              <a:xfrm>
                <a:off x="539523" y="21685955"/>
                <a:ext cx="2766943" cy="5543042"/>
                <a:chOff x="539523" y="21685955"/>
                <a:chExt cx="2766943" cy="5543042"/>
              </a:xfrm>
            </p:grpSpPr>
            <p:sp>
              <p:nvSpPr>
                <p:cNvPr id="25" name="Rounded Rectangle 24">
                  <a:extLst>
                    <a:ext uri="{FF2B5EF4-FFF2-40B4-BE49-F238E27FC236}">
                      <a16:creationId xmlns:a16="http://schemas.microsoft.com/office/drawing/2014/main" id="{C0AEC4BA-5689-EB40-B90B-2704676AA291}"/>
                    </a:ext>
                  </a:extLst>
                </p:cNvPr>
                <p:cNvSpPr/>
                <p:nvPr/>
              </p:nvSpPr>
              <p:spPr>
                <a:xfrm>
                  <a:off x="555739" y="26035714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BLACK</a:t>
                  </a:r>
                </a:p>
              </p:txBody>
            </p:sp>
            <p:sp>
              <p:nvSpPr>
                <p:cNvPr id="83" name="Rounded Rectangle 82">
                  <a:extLst>
                    <a:ext uri="{FF2B5EF4-FFF2-40B4-BE49-F238E27FC236}">
                      <a16:creationId xmlns:a16="http://schemas.microsoft.com/office/drawing/2014/main" id="{2AAA4E27-93F5-004E-BBFF-C4A7DEAB061C}"/>
                    </a:ext>
                  </a:extLst>
                </p:cNvPr>
                <p:cNvSpPr/>
                <p:nvPr/>
              </p:nvSpPr>
              <p:spPr>
                <a:xfrm>
                  <a:off x="539523" y="22920833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NO HIGH SCHOOL</a:t>
                  </a:r>
                </a:p>
              </p:txBody>
            </p:sp>
            <p:sp>
              <p:nvSpPr>
                <p:cNvPr id="84" name="Rounded Rectangle 83">
                  <a:extLst>
                    <a:ext uri="{FF2B5EF4-FFF2-40B4-BE49-F238E27FC236}">
                      <a16:creationId xmlns:a16="http://schemas.microsoft.com/office/drawing/2014/main" id="{FCABFF9F-4EC4-BE4C-A2C5-23D8CA5EB5B5}"/>
                    </a:ext>
                  </a:extLst>
                </p:cNvPr>
                <p:cNvSpPr/>
                <p:nvPr/>
              </p:nvSpPr>
              <p:spPr>
                <a:xfrm>
                  <a:off x="552566" y="22303394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HISPANIC</a:t>
                  </a:r>
                </a:p>
              </p:txBody>
            </p:sp>
            <p:sp>
              <p:nvSpPr>
                <p:cNvPr id="85" name="Rounded Rectangle 84">
                  <a:extLst>
                    <a:ext uri="{FF2B5EF4-FFF2-40B4-BE49-F238E27FC236}">
                      <a16:creationId xmlns:a16="http://schemas.microsoft.com/office/drawing/2014/main" id="{0087048E-64C3-E443-9588-F06E4F42C1F2}"/>
                    </a:ext>
                  </a:extLst>
                </p:cNvPr>
                <p:cNvSpPr/>
                <p:nvPr/>
              </p:nvSpPr>
              <p:spPr>
                <a:xfrm>
                  <a:off x="539523" y="23538272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LIMITED ENGLISH</a:t>
                  </a:r>
                </a:p>
              </p:txBody>
            </p:sp>
            <p:sp>
              <p:nvSpPr>
                <p:cNvPr id="86" name="Rounded Rectangle 85">
                  <a:extLst>
                    <a:ext uri="{FF2B5EF4-FFF2-40B4-BE49-F238E27FC236}">
                      <a16:creationId xmlns:a16="http://schemas.microsoft.com/office/drawing/2014/main" id="{C2CA50F6-D387-854E-8A80-91D0B650547A}"/>
                    </a:ext>
                  </a:extLst>
                </p:cNvPr>
                <p:cNvSpPr/>
                <p:nvPr/>
              </p:nvSpPr>
              <p:spPr>
                <a:xfrm>
                  <a:off x="552565" y="24163643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IN POVERTY</a:t>
                  </a:r>
                </a:p>
              </p:txBody>
            </p:sp>
            <p:sp>
              <p:nvSpPr>
                <p:cNvPr id="87" name="Rounded Rectangle 86">
                  <a:extLst>
                    <a:ext uri="{FF2B5EF4-FFF2-40B4-BE49-F238E27FC236}">
                      <a16:creationId xmlns:a16="http://schemas.microsoft.com/office/drawing/2014/main" id="{0B50F9E3-C0A2-F544-8AE9-14711966E679}"/>
                    </a:ext>
                  </a:extLst>
                </p:cNvPr>
                <p:cNvSpPr/>
                <p:nvPr/>
              </p:nvSpPr>
              <p:spPr>
                <a:xfrm>
                  <a:off x="539523" y="21685955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NO INSURANCE</a:t>
                  </a:r>
                </a:p>
              </p:txBody>
            </p:sp>
            <p:sp>
              <p:nvSpPr>
                <p:cNvPr id="88" name="Rounded Rectangle 87">
                  <a:extLst>
                    <a:ext uri="{FF2B5EF4-FFF2-40B4-BE49-F238E27FC236}">
                      <a16:creationId xmlns:a16="http://schemas.microsoft.com/office/drawing/2014/main" id="{A02B45D1-1E12-154C-B176-F792ECE7597C}"/>
                    </a:ext>
                  </a:extLst>
                </p:cNvPr>
                <p:cNvSpPr/>
                <p:nvPr/>
              </p:nvSpPr>
              <p:spPr>
                <a:xfrm>
                  <a:off x="555739" y="24774243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SINGLE PARENT</a:t>
                  </a:r>
                </a:p>
              </p:txBody>
            </p:sp>
            <p:sp>
              <p:nvSpPr>
                <p:cNvPr id="89" name="Rounded Rectangle 88">
                  <a:extLst>
                    <a:ext uri="{FF2B5EF4-FFF2-40B4-BE49-F238E27FC236}">
                      <a16:creationId xmlns:a16="http://schemas.microsoft.com/office/drawing/2014/main" id="{BBD66D7C-D259-4248-81BD-21A65FBBF952}"/>
                    </a:ext>
                  </a:extLst>
                </p:cNvPr>
                <p:cNvSpPr/>
                <p:nvPr/>
              </p:nvSpPr>
              <p:spPr>
                <a:xfrm>
                  <a:off x="546301" y="25389192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NO VEHICLE</a:t>
                  </a:r>
                </a:p>
              </p:txBody>
            </p:sp>
            <p:sp>
              <p:nvSpPr>
                <p:cNvPr id="90" name="Rounded Rectangle 89">
                  <a:extLst>
                    <a:ext uri="{FF2B5EF4-FFF2-40B4-BE49-F238E27FC236}">
                      <a16:creationId xmlns:a16="http://schemas.microsoft.com/office/drawing/2014/main" id="{2E8F9B28-BE38-764F-8F16-26C39B5F1EA2}"/>
                    </a:ext>
                  </a:extLst>
                </p:cNvPr>
                <p:cNvSpPr/>
                <p:nvPr/>
              </p:nvSpPr>
              <p:spPr>
                <a:xfrm>
                  <a:off x="546301" y="26662885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RENT BURDENED</a:t>
                  </a:r>
                </a:p>
              </p:txBody>
            </p:sp>
          </p:grp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A9306B06-7C58-0D4D-BB3F-C0E5CE62EB35}"/>
                  </a:ext>
                </a:extLst>
              </p:cNvPr>
              <p:cNvCxnSpPr>
                <a:cxnSpLocks/>
                <a:stCxn id="20" idx="2"/>
                <a:endCxn id="87" idx="3"/>
              </p:cNvCxnSpPr>
              <p:nvPr/>
            </p:nvCxnSpPr>
            <p:spPr>
              <a:xfrm flipH="1" flipV="1">
                <a:off x="3290250" y="21969011"/>
                <a:ext cx="2998150" cy="2509233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DC6ED692-84EA-FC41-8EE5-E611B40D3D98}"/>
                  </a:ext>
                </a:extLst>
              </p:cNvPr>
              <p:cNvCxnSpPr>
                <a:cxnSpLocks/>
                <a:stCxn id="20" idx="2"/>
                <a:endCxn id="84" idx="3"/>
              </p:cNvCxnSpPr>
              <p:nvPr/>
            </p:nvCxnSpPr>
            <p:spPr>
              <a:xfrm flipH="1" flipV="1">
                <a:off x="3303293" y="22586450"/>
                <a:ext cx="2985107" cy="1891794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1E278399-6DC9-9E4E-A5FB-3F1BA3E49E51}"/>
                  </a:ext>
                </a:extLst>
              </p:cNvPr>
              <p:cNvCxnSpPr>
                <a:cxnSpLocks/>
                <a:stCxn id="20" idx="2"/>
                <a:endCxn id="83" idx="3"/>
              </p:cNvCxnSpPr>
              <p:nvPr/>
            </p:nvCxnSpPr>
            <p:spPr>
              <a:xfrm flipH="1" flipV="1">
                <a:off x="3290250" y="23203889"/>
                <a:ext cx="2998150" cy="1274355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2559B4FA-62DA-A442-A93D-FBE8AD40311B}"/>
                  </a:ext>
                </a:extLst>
              </p:cNvPr>
              <p:cNvCxnSpPr>
                <a:cxnSpLocks/>
                <a:stCxn id="20" idx="2"/>
                <a:endCxn id="85" idx="3"/>
              </p:cNvCxnSpPr>
              <p:nvPr/>
            </p:nvCxnSpPr>
            <p:spPr>
              <a:xfrm flipH="1" flipV="1">
                <a:off x="3290250" y="23821328"/>
                <a:ext cx="2998150" cy="656916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B4814466-F9FF-3D40-B689-0624DA097D71}"/>
                  </a:ext>
                </a:extLst>
              </p:cNvPr>
              <p:cNvCxnSpPr>
                <a:cxnSpLocks/>
                <a:stCxn id="20" idx="2"/>
                <a:endCxn id="86" idx="3"/>
              </p:cNvCxnSpPr>
              <p:nvPr/>
            </p:nvCxnSpPr>
            <p:spPr>
              <a:xfrm flipH="1" flipV="1">
                <a:off x="3303292" y="24446699"/>
                <a:ext cx="2985108" cy="31545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688014EE-6A0A-B346-97BE-C61CF5E669C2}"/>
                  </a:ext>
                </a:extLst>
              </p:cNvPr>
              <p:cNvCxnSpPr>
                <a:cxnSpLocks/>
                <a:stCxn id="20" idx="2"/>
                <a:endCxn id="88" idx="3"/>
              </p:cNvCxnSpPr>
              <p:nvPr/>
            </p:nvCxnSpPr>
            <p:spPr>
              <a:xfrm flipH="1">
                <a:off x="3306466" y="24478244"/>
                <a:ext cx="2981934" cy="579055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D028AA4F-F25A-1546-A4B5-A76B277D9A94}"/>
                  </a:ext>
                </a:extLst>
              </p:cNvPr>
              <p:cNvCxnSpPr>
                <a:cxnSpLocks/>
                <a:stCxn id="20" idx="2"/>
                <a:endCxn id="89" idx="3"/>
              </p:cNvCxnSpPr>
              <p:nvPr/>
            </p:nvCxnSpPr>
            <p:spPr>
              <a:xfrm flipH="1">
                <a:off x="3297028" y="24478244"/>
                <a:ext cx="2991372" cy="1194004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F894414A-976E-8C49-9B57-B5A05C58B01E}"/>
                  </a:ext>
                </a:extLst>
              </p:cNvPr>
              <p:cNvCxnSpPr>
                <a:cxnSpLocks/>
                <a:stCxn id="20" idx="2"/>
                <a:endCxn id="25" idx="3"/>
              </p:cNvCxnSpPr>
              <p:nvPr/>
            </p:nvCxnSpPr>
            <p:spPr>
              <a:xfrm flipH="1">
                <a:off x="3306466" y="24478244"/>
                <a:ext cx="2981934" cy="1840526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A7241BCD-3EE1-0246-A256-56DCE46030E1}"/>
                  </a:ext>
                </a:extLst>
              </p:cNvPr>
              <p:cNvCxnSpPr>
                <a:cxnSpLocks/>
                <a:stCxn id="20" idx="2"/>
                <a:endCxn id="90" idx="3"/>
              </p:cNvCxnSpPr>
              <p:nvPr/>
            </p:nvCxnSpPr>
            <p:spPr>
              <a:xfrm flipH="1">
                <a:off x="3297028" y="24478244"/>
                <a:ext cx="2991372" cy="2467697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4415EFE4-A9B8-0248-A745-E3541F6F3504}"/>
                  </a:ext>
                </a:extLst>
              </p:cNvPr>
              <p:cNvSpPr txBox="1"/>
              <p:nvPr/>
            </p:nvSpPr>
            <p:spPr>
              <a:xfrm>
                <a:off x="3392872" y="21806281"/>
                <a:ext cx="655628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0.92</a:t>
                </a: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3101B362-E1BA-3646-A4D7-69341B1DC9BB}"/>
                  </a:ext>
                </a:extLst>
              </p:cNvPr>
              <p:cNvSpPr txBox="1"/>
              <p:nvPr/>
            </p:nvSpPr>
            <p:spPr>
              <a:xfrm>
                <a:off x="3392871" y="22424312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0.92</a:t>
                </a: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3AB14C04-D7D1-EF47-A1AA-B7A43EBDAF31}"/>
                  </a:ext>
                </a:extLst>
              </p:cNvPr>
              <p:cNvSpPr txBox="1"/>
              <p:nvPr/>
            </p:nvSpPr>
            <p:spPr>
              <a:xfrm>
                <a:off x="3386229" y="22958933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0.91</a:t>
                </a: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3528492E-F98F-AA4A-BBF3-43DF06E34EBC}"/>
                  </a:ext>
                </a:extLst>
              </p:cNvPr>
              <p:cNvSpPr txBox="1"/>
              <p:nvPr/>
            </p:nvSpPr>
            <p:spPr>
              <a:xfrm>
                <a:off x="3392871" y="23518550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0.82</a:t>
                </a: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48359EF-38EB-A745-81C4-247F0CE97327}"/>
                  </a:ext>
                </a:extLst>
              </p:cNvPr>
              <p:cNvSpPr txBox="1"/>
              <p:nvPr/>
            </p:nvSpPr>
            <p:spPr>
              <a:xfrm>
                <a:off x="3380381" y="24117510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0.80</a:t>
                </a:r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76FA0DC6-BC46-104E-942B-1D87293CDB6A}"/>
                  </a:ext>
                </a:extLst>
              </p:cNvPr>
              <p:cNvSpPr txBox="1"/>
              <p:nvPr/>
            </p:nvSpPr>
            <p:spPr>
              <a:xfrm>
                <a:off x="3362184" y="24625123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0.74</a:t>
                </a: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57B83866-25DE-7647-9FDA-C5DC23EF5DE6}"/>
                  </a:ext>
                </a:extLst>
              </p:cNvPr>
              <p:cNvSpPr txBox="1"/>
              <p:nvPr/>
            </p:nvSpPr>
            <p:spPr>
              <a:xfrm>
                <a:off x="3362183" y="25115293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0.63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3F9D6C5B-AE27-2949-9AF3-E0F729A982FD}"/>
                  </a:ext>
                </a:extLst>
              </p:cNvPr>
              <p:cNvSpPr txBox="1"/>
              <p:nvPr/>
            </p:nvSpPr>
            <p:spPr>
              <a:xfrm>
                <a:off x="3362182" y="25620308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0.40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B924ADB3-D58F-F94F-BE7B-072019CF2085}"/>
                  </a:ext>
                </a:extLst>
              </p:cNvPr>
              <p:cNvSpPr txBox="1"/>
              <p:nvPr/>
            </p:nvSpPr>
            <p:spPr>
              <a:xfrm>
                <a:off x="3381899" y="26142124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0.33</a:t>
                </a:r>
              </a:p>
            </p:txBody>
          </p:sp>
        </p:grp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7D41FAF-07E2-3A41-BE6B-D4AAE8211B6E}"/>
                </a:ext>
              </a:extLst>
            </p:cNvPr>
            <p:cNvSpPr txBox="1"/>
            <p:nvPr/>
          </p:nvSpPr>
          <p:spPr>
            <a:xfrm>
              <a:off x="6351985" y="25158777"/>
              <a:ext cx="2822889" cy="4501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85725" tIns="85725" rIns="85725" bIns="85725" numCol="1" spcCol="38100" rtlCol="0" anchor="ctr">
              <a:spAutoFit/>
            </a:bodyPr>
            <a:lstStyle/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800" b="0" dirty="0" err="1">
                  <a:latin typeface="ITC Franklin Gothic Std Book" panose="020B0504030503020204" pitchFamily="34" charset="77"/>
                </a:rPr>
                <a:t>Chronbach’s</a:t>
              </a:r>
              <a:r>
                <a:rPr lang="en-US" sz="1800" b="0" dirty="0">
                  <a:latin typeface="ITC Franklin Gothic Std Book" panose="020B0504030503020204" pitchFamily="34" charset="77"/>
                </a:rPr>
                <a:t> alpha = 0.91</a:t>
              </a:r>
              <a:endPara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ITC Franklin Gothic Std Book" panose="020B0504030503020204" pitchFamily="34" charset="77"/>
                <a:sym typeface="Helvetica Neue"/>
              </a:endParaRPr>
            </a:p>
          </p:txBody>
        </p:sp>
      </p:grp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Fairfax_Economic Vulnerability CHANGED v2.potx" id="{98A080FE-6DBA-D445-B4FB-6F988147237B}" vid="{C161364B-957A-ED47-A0DD-C0F973E659B5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38BAC3FF-C2C6-469B-A6C3-3C24A8684924}"/>
</file>

<file path=customXml/itemProps2.xml><?xml version="1.0" encoding="utf-8"?>
<ds:datastoreItem xmlns:ds="http://schemas.openxmlformats.org/officeDocument/2006/customXml" ds:itemID="{3CCB8FAC-93A0-4D12-8792-E5749CBEDCB9}"/>
</file>

<file path=customXml/itemProps3.xml><?xml version="1.0" encoding="utf-8"?>
<ds:datastoreItem xmlns:ds="http://schemas.openxmlformats.org/officeDocument/2006/customXml" ds:itemID="{D9C7817D-01FE-4D84-BC8B-92ED72560458}"/>
</file>

<file path=docProps/app.xml><?xml version="1.0" encoding="utf-8"?>
<Properties xmlns="http://schemas.openxmlformats.org/officeDocument/2006/extended-properties" xmlns:vt="http://schemas.openxmlformats.org/officeDocument/2006/docPropsVTypes">
  <Template>White</Template>
  <TotalTime>155</TotalTime>
  <Words>423</Words>
  <Application>Microsoft Macintosh PowerPoint</Application>
  <PresentationFormat>Custom</PresentationFormat>
  <Paragraphs>68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Arial</vt:lpstr>
      <vt:lpstr>Franklin Gothic Book</vt:lpstr>
      <vt:lpstr>Franklin Gothic Medium</vt:lpstr>
      <vt:lpstr>Helvetica Neue</vt:lpstr>
      <vt:lpstr>Helvetica Neue Medium</vt:lpstr>
      <vt:lpstr>Helvetica Neue Thin</vt:lpstr>
      <vt:lpstr>ITC Franklin Gothic Std</vt:lpstr>
      <vt:lpstr>ITC Franklin Gothic Std Book</vt:lpstr>
      <vt:lpstr>ITC Franklin Gothic Std Demi Co</vt:lpstr>
      <vt:lpstr>Segoe UI</vt:lpstr>
      <vt:lpstr>White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Pristavec, Teja (tp2sk)</dc:creator>
  <cp:lastModifiedBy>Pristavec, Teja (tp2sk)</cp:lastModifiedBy>
  <cp:revision>12</cp:revision>
  <cp:lastPrinted>2019-08-04T17:17:24Z</cp:lastPrinted>
  <dcterms:created xsi:type="dcterms:W3CDTF">2019-08-05T12:28:34Z</dcterms:created>
  <dcterms:modified xsi:type="dcterms:W3CDTF">2019-08-05T15:11:04Z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