
<file path=[Content_Types].xml><?xml version="1.0" encoding="utf-8"?>
<Types xmlns="http://schemas.openxmlformats.org/package/2006/content-types">
  <Default Extension="png" ContentType="image/png"/>
  <Default Extension="rels" ContentType="application/vnd.openxmlformats-package.relationships+xml"/>
  <Default Extension="webp" ContentType="image/png"/>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
  </p:notesMasterIdLst>
  <p:handoutMasterIdLst>
    <p:handoutMasterId r:id="rId4"/>
  </p:handoutMasterIdLst>
  <p:sldIdLst>
    <p:sldId id="260" r:id="rId2"/>
  </p:sldIdLst>
  <p:sldSz cx="21945600" cy="32918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15:guide id="1" orient="horz" pos="10368">
          <p15:clr>
            <a:srgbClr val="A4A3A4"/>
          </p15:clr>
        </p15:guide>
        <p15:guide id="2" pos="6912">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3765"/>
    <a:srgbClr val="66C7FF"/>
    <a:srgbClr val="FF0505"/>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381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96"/>
    <p:restoredTop sz="93591" autoAdjust="0"/>
  </p:normalViewPr>
  <p:slideViewPr>
    <p:cSldViewPr snapToGrid="0" snapToObjects="1">
      <p:cViewPr>
        <p:scale>
          <a:sx n="52" d="100"/>
          <a:sy n="52" d="100"/>
        </p:scale>
        <p:origin x="784" y="-4600"/>
      </p:cViewPr>
      <p:guideLst>
        <p:guide orient="horz" pos="10368"/>
        <p:guide pos="6912"/>
      </p:guideLst>
    </p:cSldViewPr>
  </p:slideViewPr>
  <p:notesTextViewPr>
    <p:cViewPr>
      <p:scale>
        <a:sx n="100" d="100"/>
        <a:sy n="100" d="100"/>
      </p:scale>
      <p:origin x="0" y="0"/>
    </p:cViewPr>
  </p:notesTextViewPr>
  <p:notesViewPr>
    <p:cSldViewPr snapToGrid="0" snapToObjects="1">
      <p:cViewPr varScale="1">
        <p:scale>
          <a:sx n="48" d="100"/>
          <a:sy n="48" d="100"/>
        </p:scale>
        <p:origin x="2692" y="1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11" Type="http://schemas.openxmlformats.org/officeDocument/2006/relationships/customXml" Target="../customXml/item3.xml"/><Relationship Id="rId5" Type="http://schemas.openxmlformats.org/officeDocument/2006/relationships/presProps" Target="presProps.xml"/><Relationship Id="rId10" Type="http://schemas.openxmlformats.org/officeDocument/2006/relationships/customXml" Target="../customXml/item2.xml"/><Relationship Id="rId4" Type="http://schemas.openxmlformats.org/officeDocument/2006/relationships/handoutMaster" Target="handoutMasters/handoutMaster1.xml"/><Relationship Id="rId9" Type="http://schemas.openxmlformats.org/officeDocument/2006/relationships/customXml" Target="../customXml/item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AB67B55-8B78-46C2-B27C-8F74FA866C5A}" type="datetimeFigureOut">
              <a:rPr lang="en-US" smtClean="0"/>
              <a:t>8/3/19</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6EBAA8-28A2-402B-8AF2-3772796B634C}" type="slidenum">
              <a:rPr lang="en-US" smtClean="0"/>
              <a:t>‹#›</a:t>
            </a:fld>
            <a:endParaRPr lang="en-US"/>
          </a:p>
        </p:txBody>
      </p:sp>
    </p:spTree>
    <p:extLst>
      <p:ext uri="{BB962C8B-B14F-4D97-AF65-F5344CB8AC3E}">
        <p14:creationId xmlns:p14="http://schemas.microsoft.com/office/powerpoint/2010/main" val="15010805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6" name="Shape 26"/>
          <p:cNvSpPr>
            <a:spLocks noGrp="1" noRot="1" noChangeAspect="1"/>
          </p:cNvSpPr>
          <p:nvPr>
            <p:ph type="sldImg"/>
          </p:nvPr>
        </p:nvSpPr>
        <p:spPr>
          <a:xfrm>
            <a:off x="1143000" y="685800"/>
            <a:ext cx="4572000" cy="3429000"/>
          </a:xfrm>
          <a:prstGeom prst="rect">
            <a:avLst/>
          </a:prstGeom>
        </p:spPr>
        <p:txBody>
          <a:bodyPr/>
          <a:lstStyle/>
          <a:p>
            <a:endParaRPr/>
          </a:p>
        </p:txBody>
      </p:sp>
      <p:sp>
        <p:nvSpPr>
          <p:cNvPr id="27" name="Shape 2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685800"/>
            <a:ext cx="228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441926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emplate 1">
    <p:spTree>
      <p:nvGrpSpPr>
        <p:cNvPr id="1" name=""/>
        <p:cNvGrpSpPr/>
        <p:nvPr/>
      </p:nvGrpSpPr>
      <p:grpSpPr>
        <a:xfrm>
          <a:off x="0" y="0"/>
          <a:ext cx="0" cy="0"/>
          <a:chOff x="0" y="0"/>
          <a:chExt cx="0" cy="0"/>
        </a:xfrm>
      </p:grpSpPr>
      <p:sp>
        <p:nvSpPr>
          <p:cNvPr id="12"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descr="Image"/>
          <p:cNvPicPr>
            <a:picLocks noChangeAspect="1"/>
          </p:cNvPicPr>
          <p:nvPr/>
        </p:nvPicPr>
        <p:blipFill>
          <a:blip r:embed="rId3"/>
          <a:stretch>
            <a:fillRect/>
          </a:stretch>
        </p:blipFill>
        <p:spPr>
          <a:xfrm>
            <a:off x="-63500" y="-639950"/>
            <a:ext cx="22039596" cy="33558350"/>
          </a:xfrm>
          <a:prstGeom prst="rect">
            <a:avLst/>
          </a:prstGeom>
          <a:ln w="12700">
            <a:miter lim="400000"/>
          </a:ln>
        </p:spPr>
      </p:pic>
      <p:sp>
        <p:nvSpPr>
          <p:cNvPr id="3" name="Title Text"/>
          <p:cNvSpPr txBox="1">
            <a:spLocks noGrp="1"/>
          </p:cNvSpPr>
          <p:nvPr>
            <p:ph type="title"/>
          </p:nvPr>
        </p:nvSpPr>
        <p:spPr>
          <a:xfrm>
            <a:off x="2143125" y="10994231"/>
            <a:ext cx="17659350" cy="5572126"/>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lIns="85725" tIns="85725" rIns="85725" bIns="85725" anchor="b">
            <a:normAutofit/>
          </a:bodyPr>
          <a:lstStyle/>
          <a:p>
            <a:r>
              <a:t>Title Text</a:t>
            </a:r>
          </a:p>
        </p:txBody>
      </p:sp>
      <p:sp>
        <p:nvSpPr>
          <p:cNvPr id="4" name="Body Level One…"/>
          <p:cNvSpPr txBox="1">
            <a:spLocks noGrp="1"/>
          </p:cNvSpPr>
          <p:nvPr>
            <p:ph type="body" idx="1"/>
          </p:nvPr>
        </p:nvSpPr>
        <p:spPr>
          <a:xfrm>
            <a:off x="2143125" y="16737806"/>
            <a:ext cx="17659350" cy="1907382"/>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lIns="85725" tIns="85725" rIns="85725" bIns="85725">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10493705" y="23917275"/>
            <a:ext cx="946760" cy="989758"/>
          </a:xfrm>
          <a:prstGeom prst="rect">
            <a:avLst/>
          </a:prstGeom>
          <a:ln w="12700">
            <a:miter lim="400000"/>
          </a:ln>
        </p:spPr>
        <p:txBody>
          <a:bodyPr wrap="none" lIns="85725" tIns="85725" rIns="85725" bIns="85725">
            <a:spAutoFit/>
          </a:bodyPr>
          <a:lstStyle>
            <a:lvl1pPr>
              <a:defRPr sz="5400" b="0">
                <a:latin typeface="Helvetica Neue Thin"/>
                <a:ea typeface="Helvetica Neue Thin"/>
                <a:cs typeface="Helvetica Neue Thin"/>
                <a:sym typeface="Helvetica Neue Thin"/>
              </a:defRPr>
            </a:lvl1pPr>
          </a:lstStyle>
          <a:p>
            <a:fld id="{86CB4B4D-7CA3-9044-876B-883B54F8677D}"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1pPr>
      <a:lvl2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2pPr>
      <a:lvl3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3pPr>
      <a:lvl4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4pPr>
      <a:lvl5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5pPr>
      <a:lvl6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6pPr>
      <a:lvl7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7pPr>
      <a:lvl8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8pPr>
      <a:lvl9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9pPr>
    </p:titleStyle>
    <p:bodyStyle>
      <a:lvl1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1pPr>
      <a:lvl2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2pPr>
      <a:lvl3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3pPr>
      <a:lvl4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4pPr>
      <a:lvl5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5pPr>
      <a:lvl6pPr marL="0" marR="0" indent="3556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6pPr>
      <a:lvl7pPr marL="0" marR="0" indent="7112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7pPr>
      <a:lvl8pPr marL="0" marR="0" indent="10668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8pPr>
      <a:lvl9pPr marL="0" marR="0" indent="14224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1pPr>
      <a:lvl2pPr marL="0" marR="0" indent="2286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2pPr>
      <a:lvl3pPr marL="0" marR="0" indent="4572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3pPr>
      <a:lvl4pPr marL="0" marR="0" indent="6858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4pPr>
      <a:lvl5pPr marL="0" marR="0" indent="9144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5pPr>
      <a:lvl6pPr marL="0" marR="0" indent="11430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6pPr>
      <a:lvl7pPr marL="0" marR="0" indent="13716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7pPr>
      <a:lvl8pPr marL="0" marR="0" indent="16002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8pPr>
      <a:lvl9pPr marL="0" marR="0" indent="18288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webp"/><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ectangle 59"/>
          <p:cNvSpPr/>
          <p:nvPr/>
        </p:nvSpPr>
        <p:spPr>
          <a:xfrm>
            <a:off x="520290" y="6484549"/>
            <a:ext cx="9888781" cy="1399032"/>
          </a:xfrm>
          <a:prstGeom prst="rect">
            <a:avLst/>
          </a:prstGeom>
          <a:solidFill>
            <a:srgbClr val="1B3765">
              <a:alpha val="21961"/>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58" name="Rectangle 57"/>
          <p:cNvSpPr/>
          <p:nvPr/>
        </p:nvSpPr>
        <p:spPr>
          <a:xfrm>
            <a:off x="520290" y="11829452"/>
            <a:ext cx="9888781" cy="8686800"/>
          </a:xfrm>
          <a:prstGeom prst="rect">
            <a:avLst/>
          </a:prstGeom>
          <a:solidFill>
            <a:srgbClr val="1B3765">
              <a:alpha val="21961"/>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59" name="Rectangle 58"/>
          <p:cNvSpPr/>
          <p:nvPr/>
        </p:nvSpPr>
        <p:spPr>
          <a:xfrm>
            <a:off x="11523467" y="19743687"/>
            <a:ext cx="9896278" cy="5226518"/>
          </a:xfrm>
          <a:prstGeom prst="rect">
            <a:avLst/>
          </a:prstGeom>
          <a:solidFill>
            <a:srgbClr val="1B3765">
              <a:alpha val="21961"/>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7" name="Rectangle 16"/>
          <p:cNvSpPr/>
          <p:nvPr/>
        </p:nvSpPr>
        <p:spPr>
          <a:xfrm>
            <a:off x="11523467" y="5108702"/>
            <a:ext cx="9889559" cy="7021506"/>
          </a:xfrm>
          <a:prstGeom prst="rect">
            <a:avLst/>
          </a:prstGeom>
          <a:solidFill>
            <a:srgbClr val="1B3765">
              <a:alpha val="21961"/>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dirty="0">
              <a:ln>
                <a:noFill/>
              </a:ln>
              <a:solidFill>
                <a:srgbClr val="FFFFFF"/>
              </a:solidFill>
              <a:effectLst/>
              <a:uFillTx/>
              <a:latin typeface="+mn-lt"/>
              <a:ea typeface="+mn-ea"/>
              <a:cs typeface="+mn-cs"/>
              <a:sym typeface="Helvetica Neue Medium"/>
            </a:endParaRPr>
          </a:p>
        </p:txBody>
      </p:sp>
      <p:pic>
        <p:nvPicPr>
          <p:cNvPr id="44" name="Picture 43"/>
          <p:cNvPicPr>
            <a:picLocks noChangeAspect="1"/>
          </p:cNvPicPr>
          <p:nvPr/>
        </p:nvPicPr>
        <p:blipFill rotWithShape="1">
          <a:blip r:embed="rId3"/>
          <a:srcRect t="3142" r="43048" b="88537"/>
          <a:stretch/>
        </p:blipFill>
        <p:spPr>
          <a:xfrm>
            <a:off x="-91440" y="28894756"/>
            <a:ext cx="22037040" cy="1695490"/>
          </a:xfrm>
          <a:prstGeom prst="rect">
            <a:avLst/>
          </a:prstGeom>
        </p:spPr>
      </p:pic>
      <p:sp>
        <p:nvSpPr>
          <p:cNvPr id="42" name="TITLE OF RESEARCH STUDY in 54 pt"/>
          <p:cNvSpPr txBox="1"/>
          <p:nvPr/>
        </p:nvSpPr>
        <p:spPr>
          <a:xfrm>
            <a:off x="1079106" y="120544"/>
            <a:ext cx="12657311" cy="1892826"/>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non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dirty="0">
                <a:latin typeface="ITC Franklin Gothic Std Dm Cd"/>
                <a:cs typeface="ITC Franklin Gothic Std Dm Cd"/>
              </a:rPr>
              <a:t>Big Data In Animal Shelters:</a:t>
            </a:r>
          </a:p>
          <a:p>
            <a:r>
              <a:rPr lang="en-US" dirty="0">
                <a:latin typeface="ITC Franklin Gothic Std Dm Cd"/>
                <a:cs typeface="ITC Franklin Gothic Std Dm Cd"/>
              </a:rPr>
              <a:t>Using Data Science to Aid Dog Adoption</a:t>
            </a:r>
            <a:endParaRPr dirty="0">
              <a:latin typeface="ITC Franklin Gothic Std Dm Cd"/>
              <a:cs typeface="ITC Franklin Gothic Std Dm Cd"/>
            </a:endParaRPr>
          </a:p>
        </p:txBody>
      </p:sp>
      <p:sp>
        <p:nvSpPr>
          <p:cNvPr id="51" name="Your Name, Graduate Student Name, Post Doc Name, Advisor…"/>
          <p:cNvSpPr txBox="1"/>
          <p:nvPr/>
        </p:nvSpPr>
        <p:spPr>
          <a:xfrm>
            <a:off x="1045930" y="1767122"/>
            <a:ext cx="10355399" cy="1685077"/>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none" lIns="114300" tIns="114300" rIns="114300" bIns="114300" anchor="ctr">
            <a:spAutoFit/>
          </a:bodyPr>
          <a:lstStyle/>
          <a:p>
            <a:pPr algn="l" defTabSz="1314450">
              <a:lnSpc>
                <a:spcPct val="150000"/>
              </a:lnSpc>
              <a:defRPr sz="2100" b="0">
                <a:solidFill>
                  <a:srgbClr val="FFFFFF"/>
                </a:solidFill>
                <a:latin typeface="ITC Franklin Gothic Std"/>
                <a:ea typeface="ITC Franklin Gothic Std"/>
                <a:cs typeface="ITC Franklin Gothic Std"/>
                <a:sym typeface="ITC Franklin Gothic Std"/>
              </a:defRPr>
            </a:pPr>
            <a:r>
              <a:rPr lang="en-US" b="0" dirty="0">
                <a:latin typeface="ITC Franklin Gothic Std Book"/>
                <a:cs typeface="ITC Franklin Gothic Std Book"/>
              </a:rPr>
              <a:t>Samantha Cohen</a:t>
            </a:r>
            <a:r>
              <a:rPr lang="en-US" b="0" baseline="30000" dirty="0">
                <a:latin typeface="ITC Franklin Gothic Std Book"/>
                <a:cs typeface="ITC Franklin Gothic Std Book"/>
              </a:rPr>
              <a:t>1,2</a:t>
            </a:r>
            <a:r>
              <a:rPr lang="en-US" b="0" dirty="0">
                <a:latin typeface="ITC Franklin Gothic Std Book"/>
                <a:cs typeface="ITC Franklin Gothic Std Book"/>
              </a:rPr>
              <a:t> &amp; Peter Todd</a:t>
            </a:r>
            <a:r>
              <a:rPr lang="en-US" b="0" baseline="30000" dirty="0">
                <a:latin typeface="ITC Franklin Gothic Std Book"/>
                <a:cs typeface="ITC Franklin Gothic Std Book"/>
              </a:rPr>
              <a:t>2</a:t>
            </a:r>
          </a:p>
          <a:p>
            <a:pPr algn="l" defTabSz="1314450">
              <a:lnSpc>
                <a:spcPct val="150000"/>
              </a:lnSpc>
              <a:defRPr sz="2100" b="0">
                <a:solidFill>
                  <a:srgbClr val="FFFFFF"/>
                </a:solidFill>
                <a:latin typeface="ITC Franklin Gothic Std"/>
                <a:ea typeface="ITC Franklin Gothic Std"/>
                <a:cs typeface="ITC Franklin Gothic Std"/>
                <a:sym typeface="ITC Franklin Gothic Std"/>
              </a:defRPr>
            </a:pPr>
            <a:r>
              <a:rPr lang="en-US" b="0" baseline="30000" dirty="0">
                <a:latin typeface="ITC Franklin Gothic Std Book"/>
                <a:cs typeface="ITC Franklin Gothic Std Book"/>
              </a:rPr>
              <a:t>1</a:t>
            </a:r>
            <a:r>
              <a:rPr lang="en-US" b="0" dirty="0">
                <a:latin typeface="ITC Franklin Gothic Std Book"/>
                <a:cs typeface="ITC Franklin Gothic Std Book"/>
              </a:rPr>
              <a:t>: Social and Decision Analytics Division, </a:t>
            </a:r>
            <a:r>
              <a:rPr lang="en-US" b="0" dirty="0" err="1">
                <a:latin typeface="ITC Franklin Gothic Std Book"/>
                <a:cs typeface="ITC Franklin Gothic Std Book"/>
              </a:rPr>
              <a:t>Biocomplexity</a:t>
            </a:r>
            <a:r>
              <a:rPr lang="en-US" b="0" dirty="0">
                <a:latin typeface="ITC Franklin Gothic Std Book"/>
                <a:cs typeface="ITC Franklin Gothic Std Book"/>
              </a:rPr>
              <a:t> Institute, University of Virginia</a:t>
            </a:r>
            <a:endParaRPr b="0" baseline="30000" dirty="0">
              <a:latin typeface="ITC Franklin Gothic Std Book"/>
              <a:cs typeface="ITC Franklin Gothic Std Book"/>
            </a:endParaRPr>
          </a:p>
          <a:p>
            <a:pPr algn="l" defTabSz="1314450">
              <a:lnSpc>
                <a:spcPct val="150000"/>
              </a:lnSpc>
              <a:defRPr sz="2100" b="0">
                <a:solidFill>
                  <a:srgbClr val="FFFFFF"/>
                </a:solidFill>
                <a:latin typeface="ITC Franklin Gothic Std"/>
                <a:ea typeface="ITC Franklin Gothic Std"/>
                <a:cs typeface="ITC Franklin Gothic Std"/>
                <a:sym typeface="ITC Franklin Gothic Std"/>
              </a:defRPr>
            </a:pPr>
            <a:r>
              <a:rPr lang="en-US" b="0" baseline="30000" dirty="0">
                <a:latin typeface="ITC Franklin Gothic Std Book"/>
                <a:cs typeface="ITC Franklin Gothic Std Book"/>
              </a:rPr>
              <a:t>2</a:t>
            </a:r>
            <a:r>
              <a:rPr lang="en-US" b="0" dirty="0">
                <a:latin typeface="ITC Franklin Gothic Std Book"/>
                <a:cs typeface="ITC Franklin Gothic Std Book"/>
              </a:rPr>
              <a:t>: Cognitive Science Program, Indiana University</a:t>
            </a:r>
          </a:p>
        </p:txBody>
      </p:sp>
      <p:pic>
        <p:nvPicPr>
          <p:cNvPr id="53" name="Image" descr="Image"/>
          <p:cNvPicPr>
            <a:picLocks noChangeAspect="1"/>
          </p:cNvPicPr>
          <p:nvPr/>
        </p:nvPicPr>
        <p:blipFill>
          <a:blip r:embed="rId4"/>
          <a:stretch>
            <a:fillRect/>
          </a:stretch>
        </p:blipFill>
        <p:spPr>
          <a:xfrm>
            <a:off x="12200777" y="30199896"/>
            <a:ext cx="8550572" cy="1284981"/>
          </a:xfrm>
          <a:prstGeom prst="rect">
            <a:avLst/>
          </a:prstGeom>
          <a:ln w="12700">
            <a:miter lim="400000"/>
          </a:ln>
        </p:spPr>
      </p:pic>
      <p:sp>
        <p:nvSpPr>
          <p:cNvPr id="20" name="Body Text - Franklin Gothic Book - 22"/>
          <p:cNvSpPr txBox="1"/>
          <p:nvPr/>
        </p:nvSpPr>
        <p:spPr>
          <a:xfrm>
            <a:off x="947474" y="4391795"/>
            <a:ext cx="9034415" cy="2015936"/>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lvl1pPr algn="l" defTabSz="1314450">
              <a:defRPr sz="2200" b="0">
                <a:latin typeface="ITC Franklin Gothic Std"/>
                <a:ea typeface="ITC Franklin Gothic Std"/>
                <a:cs typeface="ITC Franklin Gothic Std"/>
                <a:sym typeface="ITC Franklin Gothic Std"/>
              </a:defRPr>
            </a:lvl1pPr>
          </a:lstStyle>
          <a:p>
            <a:pPr algn="ctr"/>
            <a:r>
              <a:rPr lang="en-US" sz="3200" b="1" dirty="0">
                <a:solidFill>
                  <a:schemeClr val="tx1"/>
                </a:solidFill>
                <a:latin typeface="ITC Franklin Gothic Std Book"/>
              </a:rPr>
              <a:t>Motivation</a:t>
            </a:r>
            <a:endParaRPr lang="en-US" sz="3200" b="1" dirty="0">
              <a:solidFill>
                <a:srgbClr val="002060"/>
              </a:solidFill>
              <a:latin typeface="ITC Franklin Gothic Std Book"/>
            </a:endParaRPr>
          </a:p>
          <a:p>
            <a:r>
              <a:rPr lang="en-US" sz="2800" dirty="0">
                <a:latin typeface="ITC Franklin Gothic Std Book"/>
              </a:rPr>
              <a:t>Shelters</a:t>
            </a:r>
            <a:r>
              <a:rPr lang="en-US" sz="2800" dirty="0">
                <a:latin typeface="ITC Franklin Gothic Std Book"/>
                <a:cs typeface="ITC Franklin Gothic Std Book"/>
              </a:rPr>
              <a:t> are filled with extensive data on their animals--how can we leverage this data to improve animal outcomes?</a:t>
            </a:r>
          </a:p>
        </p:txBody>
      </p:sp>
      <p:graphicFrame>
        <p:nvGraphicFramePr>
          <p:cNvPr id="12" name="Table 11"/>
          <p:cNvGraphicFramePr>
            <a:graphicFrameLocks noGrp="1"/>
          </p:cNvGraphicFramePr>
          <p:nvPr>
            <p:extLst>
              <p:ext uri="{D42A27DB-BD31-4B8C-83A1-F6EECF244321}">
                <p14:modId xmlns:p14="http://schemas.microsoft.com/office/powerpoint/2010/main" val="599263985"/>
              </p:ext>
            </p:extLst>
          </p:nvPr>
        </p:nvGraphicFramePr>
        <p:xfrm>
          <a:off x="11761214" y="13051019"/>
          <a:ext cx="9665396" cy="5376538"/>
        </p:xfrm>
        <a:graphic>
          <a:graphicData uri="http://schemas.openxmlformats.org/drawingml/2006/table">
            <a:tbl>
              <a:tblPr firstRow="1" bandRow="1">
                <a:tableStyleId>{2D5ABB26-0587-4C30-8999-92F81FD0307C}</a:tableStyleId>
              </a:tblPr>
              <a:tblGrid>
                <a:gridCol w="1922673">
                  <a:extLst>
                    <a:ext uri="{9D8B030D-6E8A-4147-A177-3AD203B41FA5}">
                      <a16:colId xmlns:a16="http://schemas.microsoft.com/office/drawing/2014/main" val="4023652669"/>
                    </a:ext>
                  </a:extLst>
                </a:gridCol>
                <a:gridCol w="1288559">
                  <a:extLst>
                    <a:ext uri="{9D8B030D-6E8A-4147-A177-3AD203B41FA5}">
                      <a16:colId xmlns:a16="http://schemas.microsoft.com/office/drawing/2014/main" val="2075275176"/>
                    </a:ext>
                  </a:extLst>
                </a:gridCol>
                <a:gridCol w="2071800">
                  <a:extLst>
                    <a:ext uri="{9D8B030D-6E8A-4147-A177-3AD203B41FA5}">
                      <a16:colId xmlns:a16="http://schemas.microsoft.com/office/drawing/2014/main" val="4031710385"/>
                    </a:ext>
                  </a:extLst>
                </a:gridCol>
                <a:gridCol w="2035977">
                  <a:extLst>
                    <a:ext uri="{9D8B030D-6E8A-4147-A177-3AD203B41FA5}">
                      <a16:colId xmlns:a16="http://schemas.microsoft.com/office/drawing/2014/main" val="582058427"/>
                    </a:ext>
                  </a:extLst>
                </a:gridCol>
                <a:gridCol w="162153">
                  <a:extLst>
                    <a:ext uri="{9D8B030D-6E8A-4147-A177-3AD203B41FA5}">
                      <a16:colId xmlns:a16="http://schemas.microsoft.com/office/drawing/2014/main" val="1342738382"/>
                    </a:ext>
                  </a:extLst>
                </a:gridCol>
                <a:gridCol w="2184234">
                  <a:extLst>
                    <a:ext uri="{9D8B030D-6E8A-4147-A177-3AD203B41FA5}">
                      <a16:colId xmlns:a16="http://schemas.microsoft.com/office/drawing/2014/main" val="2866946379"/>
                    </a:ext>
                  </a:extLst>
                </a:gridCol>
              </a:tblGrid>
              <a:tr h="506242">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Trait</a:t>
                      </a:r>
                      <a:endParaRPr lang="en-US" sz="1800" b="0">
                        <a:solidFill>
                          <a:schemeClr val="tx1"/>
                        </a:solidFill>
                        <a:effectLst/>
                        <a:latin typeface="Franklin Gothic Book"/>
                        <a:ea typeface="Calibri" panose="020F0502020204030204" pitchFamily="34" charset="0"/>
                        <a:cs typeface="Times New Roman"/>
                      </a:endParaRPr>
                    </a:p>
                  </a:txBody>
                  <a:tcPr marL="29072" marR="29072"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 w/ Preference</a:t>
                      </a:r>
                      <a:endParaRPr lang="en-US" sz="1800" b="0" dirty="0">
                        <a:solidFill>
                          <a:schemeClr val="tx1"/>
                        </a:solidFill>
                        <a:effectLst/>
                        <a:latin typeface="Franklin Gothic Book"/>
                        <a:ea typeface="Calibri" panose="020F0502020204030204" pitchFamily="34" charset="0"/>
                        <a:cs typeface="Times New Roman" panose="02020603050405020304" pitchFamily="18" charset="0"/>
                      </a:endParaRPr>
                    </a:p>
                  </a:txBody>
                  <a:tcPr marL="29072" marR="29072"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marL="0" marR="0" algn="l">
                        <a:lnSpc>
                          <a:spcPct val="107000"/>
                        </a:lnSpc>
                        <a:spcBef>
                          <a:spcPts val="0"/>
                        </a:spcBef>
                        <a:spcAft>
                          <a:spcPts val="0"/>
                        </a:spcAft>
                      </a:pPr>
                      <a:r>
                        <a:rPr lang="en-US" sz="1800" b="0" dirty="0">
                          <a:solidFill>
                            <a:schemeClr val="tx1"/>
                          </a:solidFill>
                          <a:effectLst/>
                          <a:latin typeface="Franklin Gothic Book"/>
                        </a:rPr>
                        <a:t>Trait Levels</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pPr marL="0" marR="0" algn="l">
                        <a:lnSpc>
                          <a:spcPct val="107000"/>
                        </a:lnSpc>
                        <a:spcBef>
                          <a:spcPts val="0"/>
                        </a:spcBef>
                        <a:spcAft>
                          <a:spcPts val="0"/>
                        </a:spcAft>
                      </a:pP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7115432"/>
                  </a:ext>
                </a:extLst>
              </a:tr>
              <a:tr h="299070">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Friendliness</a:t>
                      </a:r>
                      <a:endParaRPr lang="en-US" sz="1800" b="0">
                        <a:solidFill>
                          <a:schemeClr val="tx1"/>
                        </a:solidFill>
                        <a:effectLst/>
                        <a:latin typeface="Franklin Gothic Book"/>
                        <a:ea typeface="Calibri" panose="020F0502020204030204" pitchFamily="34" charset="0"/>
                        <a:cs typeface="Times New Roman"/>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88%</a:t>
                      </a:r>
                      <a:endParaRPr lang="en-US" sz="1800" b="0">
                        <a:solidFill>
                          <a:schemeClr val="tx1"/>
                        </a:solidFill>
                        <a:effectLst/>
                        <a:latin typeface="Franklin Gothic Book"/>
                        <a:ea typeface="Calibri" panose="020F0502020204030204" pitchFamily="34" charset="0"/>
                        <a:cs typeface="Times New Roman"/>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Not at all: 0.0%</a:t>
                      </a:r>
                      <a:endParaRPr lang="en-US" sz="1800" b="0" dirty="0">
                        <a:solidFill>
                          <a:schemeClr val="tx1"/>
                        </a:solidFill>
                        <a:effectLst/>
                        <a:latin typeface="Franklin Gothic Book"/>
                        <a:ea typeface="Calibri" panose="020F0502020204030204" pitchFamily="34" charset="0"/>
                        <a:cs typeface="Times New Roman"/>
                      </a:endParaRPr>
                    </a:p>
                  </a:txBody>
                  <a:tcPr marL="68580" marR="68580" marT="0" marB="0">
                    <a:lnT w="12700" cap="flat" cmpd="sng" algn="ctr">
                      <a:solidFill>
                        <a:schemeClr val="tx1"/>
                      </a:solidFill>
                      <a:prstDash val="solid"/>
                      <a:round/>
                      <a:headEnd type="none" w="med" len="med"/>
                      <a:tailEnd type="none" w="med" len="med"/>
                    </a:lnT>
                  </a:tcPr>
                </a:tc>
                <a:tc gridSpan="2">
                  <a:txBody>
                    <a:bodyPr/>
                    <a:lstStyle/>
                    <a:p>
                      <a:pPr marL="0" marR="0" algn="l">
                        <a:lnSpc>
                          <a:spcPct val="107000"/>
                        </a:lnSpc>
                        <a:spcBef>
                          <a:spcPts val="0"/>
                        </a:spcBef>
                        <a:spcAft>
                          <a:spcPts val="0"/>
                        </a:spcAft>
                      </a:pPr>
                      <a:r>
                        <a:rPr lang="en-US" sz="1800" b="0" dirty="0">
                          <a:solidFill>
                            <a:schemeClr val="tx1"/>
                          </a:solidFill>
                          <a:effectLst/>
                          <a:latin typeface="Franklin Gothic Book"/>
                        </a:rPr>
                        <a:t>Somewhat: 24%</a:t>
                      </a:r>
                      <a:endParaRPr lang="en-US" sz="1800" b="0" dirty="0">
                        <a:solidFill>
                          <a:schemeClr val="tx1"/>
                        </a:solidFill>
                        <a:effectLst/>
                        <a:latin typeface="Franklin Gothic Book"/>
                        <a:ea typeface="Calibri" panose="020F0502020204030204" pitchFamily="34" charset="0"/>
                        <a:cs typeface="Times New Roman"/>
                      </a:endParaRPr>
                    </a:p>
                  </a:txBody>
                  <a:tcPr marL="68580" marR="68580" marT="0" marB="0">
                    <a:lnT w="12700" cap="flat" cmpd="sng" algn="ctr">
                      <a:solidFill>
                        <a:schemeClr val="tx1"/>
                      </a:solidFill>
                      <a:prstDash val="solid"/>
                      <a:round/>
                      <a:headEnd type="none" w="med" len="med"/>
                      <a:tailEnd type="none" w="med" len="med"/>
                    </a:lnT>
                  </a:tcPr>
                </a:tc>
                <a:tc hMerge="1">
                  <a:txBody>
                    <a:bodyPr/>
                    <a:lstStyle/>
                    <a:p>
                      <a:pPr marL="0" marR="0" algn="l">
                        <a:lnSpc>
                          <a:spcPct val="107000"/>
                        </a:lnSpc>
                        <a:spcBef>
                          <a:spcPts val="0"/>
                        </a:spcBef>
                        <a:spcAft>
                          <a:spcPts val="0"/>
                        </a:spcAft>
                      </a:pPr>
                      <a:r>
                        <a:rPr lang="en-US" sz="1800" b="0" dirty="0">
                          <a:solidFill>
                            <a:schemeClr val="tx1"/>
                          </a:solidFill>
                          <a:effectLst/>
                          <a:latin typeface="Franklin Gothic Book"/>
                        </a:rPr>
                        <a:t>Very: 83%</a:t>
                      </a:r>
                      <a:endParaRPr lang="en-US" sz="1800" b="0">
                        <a:solidFill>
                          <a:schemeClr val="tx1"/>
                        </a:solidFill>
                        <a:effectLst/>
                        <a:latin typeface="Franklin Gothic Book"/>
                        <a:ea typeface="Calibri" panose="020F0502020204030204" pitchFamily="34" charset="0"/>
                        <a:cs typeface="Times New Roman"/>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0" marR="0" algn="l">
                        <a:lnSpc>
                          <a:spcPct val="107000"/>
                        </a:lnSpc>
                        <a:spcBef>
                          <a:spcPts val="0"/>
                        </a:spcBef>
                        <a:spcAft>
                          <a:spcPts val="0"/>
                        </a:spcAft>
                      </a:pPr>
                      <a:r>
                        <a:rPr lang="en-US" sz="1800" b="0">
                          <a:solidFill>
                            <a:schemeClr val="tx1"/>
                          </a:solidFill>
                          <a:effectLst/>
                          <a:latin typeface="Franklin Gothic Book"/>
                        </a:rPr>
                        <a:t>Very: 83%</a:t>
                      </a:r>
                      <a:endParaRPr lang="en-US" sz="1800" b="0">
                        <a:solidFill>
                          <a:schemeClr val="tx1"/>
                        </a:solidFill>
                        <a:effectLst/>
                        <a:latin typeface="Franklin Gothic Book"/>
                        <a:ea typeface="Calibri" panose="020F0502020204030204" pitchFamily="34" charset="0"/>
                        <a:cs typeface="Times New Roman"/>
                      </a:endParaRPr>
                    </a:p>
                  </a:txBody>
                  <a:tcPr marL="68580" marR="68580"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109136783"/>
                  </a:ext>
                </a:extLst>
              </a:tr>
              <a:tr h="311790">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Playfulness</a:t>
                      </a:r>
                      <a:endParaRPr lang="en-US" sz="1800" b="0">
                        <a:solidFill>
                          <a:schemeClr val="tx1"/>
                        </a:solidFill>
                        <a:effectLst/>
                        <a:latin typeface="Franklin Gothic Book"/>
                        <a:ea typeface="Calibri" panose="020F0502020204030204" pitchFamily="34" charset="0"/>
                        <a:cs typeface="Times New Roman"/>
                      </a:endParaRPr>
                    </a:p>
                  </a:txBody>
                  <a:tcPr marL="68580" marR="68580" marT="0" marB="0"/>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75%</a:t>
                      </a:r>
                      <a:endParaRPr lang="en-US" sz="1800" b="0" dirty="0">
                        <a:solidFill>
                          <a:schemeClr val="tx1"/>
                        </a:solidFill>
                        <a:effectLst/>
                        <a:latin typeface="Franklin Gothic Book"/>
                        <a:ea typeface="Calibri" panose="020F0502020204030204" pitchFamily="34" charset="0"/>
                        <a:cs typeface="Times New Roman"/>
                      </a:endParaRPr>
                    </a:p>
                  </a:txBody>
                  <a:tcPr marL="68580" marR="68580" marT="0" marB="0"/>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Not at all: 1%</a:t>
                      </a:r>
                      <a:endParaRPr lang="en-US" sz="1800" b="0">
                        <a:solidFill>
                          <a:schemeClr val="tx1"/>
                        </a:solidFill>
                        <a:effectLst/>
                        <a:latin typeface="Franklin Gothic Book"/>
                        <a:ea typeface="Calibri" panose="020F0502020204030204" pitchFamily="34" charset="0"/>
                        <a:cs typeface="Times New Roman"/>
                      </a:endParaRPr>
                    </a:p>
                  </a:txBody>
                  <a:tcPr marL="68580" marR="68580" marT="0" marB="0"/>
                </a:tc>
                <a:tc gridSpan="2">
                  <a:txBody>
                    <a:bodyPr/>
                    <a:lstStyle/>
                    <a:p>
                      <a:pPr marL="0" marR="0" algn="l">
                        <a:lnSpc>
                          <a:spcPct val="107000"/>
                        </a:lnSpc>
                        <a:spcBef>
                          <a:spcPts val="0"/>
                        </a:spcBef>
                        <a:spcAft>
                          <a:spcPts val="0"/>
                        </a:spcAft>
                      </a:pPr>
                      <a:r>
                        <a:rPr lang="en-US" sz="1800" b="0" dirty="0">
                          <a:solidFill>
                            <a:schemeClr val="tx1"/>
                          </a:solidFill>
                          <a:effectLst/>
                          <a:latin typeface="Franklin Gothic Book"/>
                        </a:rPr>
                        <a:t>Somewhat: 69%</a:t>
                      </a:r>
                      <a:endParaRPr lang="en-US" sz="1800" b="0">
                        <a:solidFill>
                          <a:schemeClr val="tx1"/>
                        </a:solidFill>
                        <a:effectLst/>
                        <a:latin typeface="Franklin Gothic Book"/>
                        <a:ea typeface="Calibri" panose="020F0502020204030204" pitchFamily="34" charset="0"/>
                        <a:cs typeface="Times New Roman"/>
                      </a:endParaRPr>
                    </a:p>
                  </a:txBody>
                  <a:tcPr marL="68580" marR="68580" marT="0" marB="0"/>
                </a:tc>
                <a:tc hMerge="1">
                  <a:txBody>
                    <a:bodyPr/>
                    <a:lstStyle/>
                    <a:p>
                      <a:pPr marL="0" marR="0" algn="l">
                        <a:lnSpc>
                          <a:spcPct val="107000"/>
                        </a:lnSpc>
                        <a:spcBef>
                          <a:spcPts val="0"/>
                        </a:spcBef>
                        <a:spcAft>
                          <a:spcPts val="0"/>
                        </a:spcAft>
                      </a:pPr>
                      <a:r>
                        <a:rPr lang="en-US" sz="1800" b="0" dirty="0">
                          <a:solidFill>
                            <a:schemeClr val="tx1"/>
                          </a:solidFill>
                          <a:effectLst/>
                          <a:latin typeface="Franklin Gothic Book"/>
                        </a:rPr>
                        <a:t>Very: 37%</a:t>
                      </a:r>
                      <a:endParaRPr lang="en-US" sz="1800" b="0">
                        <a:solidFill>
                          <a:schemeClr val="tx1"/>
                        </a:solidFill>
                        <a:effectLst/>
                        <a:latin typeface="Franklin Gothic Book"/>
                        <a:ea typeface="Calibri" panose="020F0502020204030204" pitchFamily="34" charset="0"/>
                        <a:cs typeface="Times New Roman"/>
                      </a:endParaRPr>
                    </a:p>
                  </a:txBody>
                  <a:tcPr marL="68580" marR="68580" marT="0" marB="0"/>
                </a:tc>
                <a:tc>
                  <a:txBody>
                    <a:bodyPr/>
                    <a:lstStyle/>
                    <a:p>
                      <a:pPr marL="0" marR="0" algn="l">
                        <a:lnSpc>
                          <a:spcPct val="107000"/>
                        </a:lnSpc>
                        <a:spcBef>
                          <a:spcPts val="0"/>
                        </a:spcBef>
                        <a:spcAft>
                          <a:spcPts val="0"/>
                        </a:spcAft>
                      </a:pPr>
                      <a:r>
                        <a:rPr lang="en-US" sz="1800" b="0">
                          <a:solidFill>
                            <a:schemeClr val="tx1"/>
                          </a:solidFill>
                          <a:effectLst/>
                          <a:latin typeface="Franklin Gothic Book"/>
                        </a:rPr>
                        <a:t>Very: 37%</a:t>
                      </a:r>
                      <a:endParaRPr lang="en-US" sz="1800" b="0">
                        <a:solidFill>
                          <a:schemeClr val="tx1"/>
                        </a:solidFill>
                        <a:effectLst/>
                        <a:latin typeface="Franklin Gothic Book"/>
                        <a:ea typeface="Calibri" panose="020F0502020204030204" pitchFamily="34" charset="0"/>
                        <a:cs typeface="Times New Roman"/>
                      </a:endParaRPr>
                    </a:p>
                  </a:txBody>
                  <a:tcPr marL="68580" marR="68580" marT="0" marB="0"/>
                </a:tc>
                <a:extLst>
                  <a:ext uri="{0D108BD9-81ED-4DB2-BD59-A6C34878D82A}">
                    <a16:rowId xmlns:a16="http://schemas.microsoft.com/office/drawing/2014/main" val="4247940801"/>
                  </a:ext>
                </a:extLst>
              </a:tr>
              <a:tr h="299070">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Energy Level</a:t>
                      </a:r>
                      <a:endParaRPr lang="en-US" sz="1800" b="0">
                        <a:solidFill>
                          <a:schemeClr val="tx1"/>
                        </a:solidFill>
                        <a:effectLst/>
                        <a:latin typeface="Franklin Gothic Book"/>
                        <a:ea typeface="Calibri" panose="020F0502020204030204" pitchFamily="34" charset="0"/>
                        <a:cs typeface="Times New Roman"/>
                      </a:endParaRPr>
                    </a:p>
                  </a:txBody>
                  <a:tcPr marL="68580" marR="68580" marT="0" marB="0"/>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74%</a:t>
                      </a:r>
                      <a:endParaRPr lang="en-US" sz="1800" b="0">
                        <a:solidFill>
                          <a:schemeClr val="tx1"/>
                        </a:solidFill>
                        <a:effectLst/>
                        <a:latin typeface="Franklin Gothic Book"/>
                        <a:ea typeface="Calibri" panose="020F0502020204030204" pitchFamily="34" charset="0"/>
                        <a:cs typeface="Times New Roman"/>
                      </a:endParaRPr>
                    </a:p>
                  </a:txBody>
                  <a:tcPr marL="68580" marR="68580" marT="0" marB="0"/>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Low: 23%</a:t>
                      </a:r>
                      <a:endParaRPr lang="en-US" sz="1800" b="0" dirty="0">
                        <a:solidFill>
                          <a:schemeClr val="tx1"/>
                        </a:solidFill>
                        <a:effectLst/>
                        <a:latin typeface="Franklin Gothic Book"/>
                        <a:ea typeface="Calibri" panose="020F0502020204030204" pitchFamily="34" charset="0"/>
                        <a:cs typeface="Times New Roman"/>
                      </a:endParaRPr>
                    </a:p>
                  </a:txBody>
                  <a:tcPr marL="68580" marR="68580" marT="0" marB="0"/>
                </a:tc>
                <a:tc gridSpan="2">
                  <a:txBody>
                    <a:bodyPr/>
                    <a:lstStyle/>
                    <a:p>
                      <a:pPr marL="0" marR="0" algn="l">
                        <a:lnSpc>
                          <a:spcPct val="107000"/>
                        </a:lnSpc>
                        <a:spcBef>
                          <a:spcPts val="0"/>
                        </a:spcBef>
                        <a:spcAft>
                          <a:spcPts val="0"/>
                        </a:spcAft>
                      </a:pPr>
                      <a:r>
                        <a:rPr lang="en-US" sz="1800" b="0" dirty="0">
                          <a:solidFill>
                            <a:schemeClr val="tx1"/>
                          </a:solidFill>
                          <a:effectLst/>
                          <a:latin typeface="Franklin Gothic Book"/>
                        </a:rPr>
                        <a:t>Medium: 86%</a:t>
                      </a:r>
                      <a:endParaRPr lang="en-US" sz="1800" b="0" dirty="0">
                        <a:solidFill>
                          <a:schemeClr val="tx1"/>
                        </a:solidFill>
                        <a:effectLst/>
                        <a:latin typeface="Franklin Gothic Book"/>
                        <a:ea typeface="Calibri" panose="020F0502020204030204" pitchFamily="34" charset="0"/>
                        <a:cs typeface="Times New Roman"/>
                      </a:endParaRPr>
                    </a:p>
                  </a:txBody>
                  <a:tcPr marL="68580" marR="68580" marT="0" marB="0"/>
                </a:tc>
                <a:tc hMerge="1">
                  <a:txBody>
                    <a:bodyPr/>
                    <a:lstStyle/>
                    <a:p>
                      <a:pPr marL="0" marR="0" algn="l">
                        <a:lnSpc>
                          <a:spcPct val="107000"/>
                        </a:lnSpc>
                        <a:spcBef>
                          <a:spcPts val="0"/>
                        </a:spcBef>
                        <a:spcAft>
                          <a:spcPts val="0"/>
                        </a:spcAft>
                      </a:pPr>
                      <a:r>
                        <a:rPr lang="en-US" sz="1800" b="0" dirty="0">
                          <a:solidFill>
                            <a:schemeClr val="tx1"/>
                          </a:solidFill>
                          <a:effectLst/>
                          <a:latin typeface="Franklin Gothic Book"/>
                        </a:rPr>
                        <a:t>High: 8%</a:t>
                      </a:r>
                      <a:endParaRPr lang="en-US" sz="1800" b="0">
                        <a:solidFill>
                          <a:schemeClr val="tx1"/>
                        </a:solidFill>
                        <a:effectLst/>
                        <a:latin typeface="Franklin Gothic Book"/>
                        <a:ea typeface="Calibri" panose="020F0502020204030204" pitchFamily="34" charset="0"/>
                        <a:cs typeface="Times New Roman"/>
                      </a:endParaRPr>
                    </a:p>
                  </a:txBody>
                  <a:tcPr marL="68580" marR="68580" marT="0" marB="0"/>
                </a:tc>
                <a:tc>
                  <a:txBody>
                    <a:bodyPr/>
                    <a:lstStyle/>
                    <a:p>
                      <a:pPr marL="0" marR="0" algn="l">
                        <a:lnSpc>
                          <a:spcPct val="107000"/>
                        </a:lnSpc>
                        <a:spcBef>
                          <a:spcPts val="0"/>
                        </a:spcBef>
                        <a:spcAft>
                          <a:spcPts val="0"/>
                        </a:spcAft>
                      </a:pPr>
                      <a:r>
                        <a:rPr lang="en-US" sz="1800" b="0">
                          <a:solidFill>
                            <a:schemeClr val="tx1"/>
                          </a:solidFill>
                          <a:effectLst/>
                          <a:latin typeface="Franklin Gothic Book"/>
                        </a:rPr>
                        <a:t>High: 8%</a:t>
                      </a:r>
                      <a:endParaRPr lang="en-US" sz="1800" b="0">
                        <a:solidFill>
                          <a:schemeClr val="tx1"/>
                        </a:solidFill>
                        <a:effectLst/>
                        <a:latin typeface="Franklin Gothic Book"/>
                        <a:ea typeface="Calibri" panose="020F0502020204030204" pitchFamily="34" charset="0"/>
                        <a:cs typeface="Times New Roman"/>
                      </a:endParaRPr>
                    </a:p>
                  </a:txBody>
                  <a:tcPr marL="68580" marR="68580" marT="0" marB="0"/>
                </a:tc>
                <a:extLst>
                  <a:ext uri="{0D108BD9-81ED-4DB2-BD59-A6C34878D82A}">
                    <a16:rowId xmlns:a16="http://schemas.microsoft.com/office/drawing/2014/main" val="2768719778"/>
                  </a:ext>
                </a:extLst>
              </a:tr>
              <a:tr h="506242">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Age (Years)</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73%</a:t>
                      </a:r>
                      <a:endParaRPr lang="en-US" sz="1800" b="0">
                        <a:solidFill>
                          <a:schemeClr val="tx1"/>
                        </a:solidFill>
                        <a:effectLst/>
                        <a:latin typeface="Franklin Gothic Book"/>
                        <a:ea typeface="Calibri" panose="020F0502020204030204" pitchFamily="34" charset="0"/>
                        <a:cs typeface="Times New Roman"/>
                      </a:endParaRPr>
                    </a:p>
                  </a:txBody>
                  <a:tcPr marL="29072" marR="29072" marT="0" marB="0"/>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Young (&lt; 2): 65%</a:t>
                      </a:r>
                      <a:endParaRPr lang="en-US" sz="1800" b="0">
                        <a:solidFill>
                          <a:schemeClr val="tx1"/>
                        </a:solidFill>
                        <a:effectLst/>
                        <a:latin typeface="Franklin Gothic Book"/>
                        <a:ea typeface="Calibri" panose="020F0502020204030204" pitchFamily="34" charset="0"/>
                        <a:cs typeface="Times New Roman"/>
                      </a:endParaRPr>
                    </a:p>
                  </a:txBody>
                  <a:tcPr marL="29072" marR="29072" marT="0" marB="0"/>
                </a:tc>
                <a:tc gridSpan="2">
                  <a:txBody>
                    <a:bodyPr/>
                    <a:lstStyle/>
                    <a:p>
                      <a:pPr marL="0" marR="0" algn="l">
                        <a:lnSpc>
                          <a:spcPct val="107000"/>
                        </a:lnSpc>
                        <a:spcBef>
                          <a:spcPts val="0"/>
                        </a:spcBef>
                        <a:spcAft>
                          <a:spcPts val="0"/>
                        </a:spcAft>
                      </a:pPr>
                      <a:r>
                        <a:rPr lang="en-US" sz="1800" b="0" dirty="0">
                          <a:solidFill>
                            <a:schemeClr val="tx1"/>
                          </a:solidFill>
                          <a:effectLst/>
                          <a:latin typeface="Franklin Gothic Book"/>
                        </a:rPr>
                        <a:t>Adult (2 - 7):</a:t>
                      </a:r>
                      <a:r>
                        <a:rPr lang="en-US" sz="1800" b="0" baseline="0" dirty="0">
                          <a:solidFill>
                            <a:schemeClr val="tx1"/>
                          </a:solidFill>
                          <a:effectLst/>
                          <a:latin typeface="Franklin Gothic Book"/>
                        </a:rPr>
                        <a:t> </a:t>
                      </a:r>
                      <a:r>
                        <a:rPr lang="en-US" sz="1800" b="0" dirty="0">
                          <a:solidFill>
                            <a:schemeClr val="tx1"/>
                          </a:solidFill>
                          <a:effectLst/>
                          <a:latin typeface="Franklin Gothic Book"/>
                        </a:rPr>
                        <a:t>45%</a:t>
                      </a:r>
                      <a:endParaRPr lang="en-US" sz="1800" b="0">
                        <a:solidFill>
                          <a:schemeClr val="tx1"/>
                        </a:solidFill>
                        <a:effectLst/>
                        <a:latin typeface="Franklin Gothic Book"/>
                        <a:ea typeface="Calibri" panose="020F0502020204030204" pitchFamily="34" charset="0"/>
                        <a:cs typeface="Times New Roman"/>
                      </a:endParaRPr>
                    </a:p>
                  </a:txBody>
                  <a:tcPr marL="29072" marR="29072" marT="0" marB="0"/>
                </a:tc>
                <a:tc hMerge="1">
                  <a:txBody>
                    <a:bodyPr/>
                    <a:lstStyle/>
                    <a:p>
                      <a:pPr marL="0" marR="0" algn="l">
                        <a:lnSpc>
                          <a:spcPct val="107000"/>
                        </a:lnSpc>
                        <a:spcBef>
                          <a:spcPts val="0"/>
                        </a:spcBef>
                        <a:spcAft>
                          <a:spcPts val="0"/>
                        </a:spcAft>
                      </a:pPr>
                      <a:r>
                        <a:rPr lang="en-US" sz="1800" b="0" dirty="0">
                          <a:solidFill>
                            <a:schemeClr val="tx1"/>
                          </a:solidFill>
                          <a:effectLst/>
                          <a:latin typeface="Franklin Gothic Book"/>
                        </a:rPr>
                        <a:t>Senior (8+): 7%</a:t>
                      </a:r>
                      <a:endParaRPr lang="en-US" sz="1800" b="0">
                        <a:solidFill>
                          <a:schemeClr val="tx1"/>
                        </a:solidFill>
                        <a:effectLst/>
                        <a:latin typeface="Franklin Gothic Book"/>
                        <a:ea typeface="Calibri" panose="020F0502020204030204" pitchFamily="34" charset="0"/>
                        <a:cs typeface="Times New Roman"/>
                      </a:endParaRPr>
                    </a:p>
                  </a:txBody>
                  <a:tcPr marL="29072" marR="29072" marT="0" marB="0"/>
                </a:tc>
                <a:tc>
                  <a:txBody>
                    <a:bodyPr/>
                    <a:lstStyle/>
                    <a:p>
                      <a:pPr marL="0" marR="0" algn="l">
                        <a:lnSpc>
                          <a:spcPct val="107000"/>
                        </a:lnSpc>
                        <a:spcBef>
                          <a:spcPts val="0"/>
                        </a:spcBef>
                        <a:spcAft>
                          <a:spcPts val="0"/>
                        </a:spcAft>
                      </a:pPr>
                      <a:r>
                        <a:rPr lang="en-US" sz="1800" b="0">
                          <a:solidFill>
                            <a:schemeClr val="tx1"/>
                          </a:solidFill>
                          <a:effectLst/>
                          <a:latin typeface="Franklin Gothic Book"/>
                        </a:rPr>
                        <a:t>Senior (8+): 7%</a:t>
                      </a:r>
                      <a:endParaRPr lang="en-US" sz="1800" b="0">
                        <a:solidFill>
                          <a:schemeClr val="tx1"/>
                        </a:solidFill>
                        <a:effectLst/>
                        <a:latin typeface="Franklin Gothic Book"/>
                        <a:ea typeface="Calibri" panose="020F0502020204030204" pitchFamily="34" charset="0"/>
                        <a:cs typeface="Times New Roman"/>
                      </a:endParaRPr>
                    </a:p>
                  </a:txBody>
                  <a:tcPr marL="29072" marR="29072" marT="0" marB="0"/>
                </a:tc>
                <a:extLst>
                  <a:ext uri="{0D108BD9-81ED-4DB2-BD59-A6C34878D82A}">
                    <a16:rowId xmlns:a16="http://schemas.microsoft.com/office/drawing/2014/main" val="254684546"/>
                  </a:ext>
                </a:extLst>
              </a:tr>
              <a:tr h="299070">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Size</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73%</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Small: 34%</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tc gridSpan="2">
                  <a:txBody>
                    <a:bodyPr/>
                    <a:lstStyle/>
                    <a:p>
                      <a:pPr marL="0" marR="0" algn="l">
                        <a:lnSpc>
                          <a:spcPct val="107000"/>
                        </a:lnSpc>
                        <a:spcBef>
                          <a:spcPts val="0"/>
                        </a:spcBef>
                        <a:spcAft>
                          <a:spcPts val="0"/>
                        </a:spcAft>
                      </a:pPr>
                      <a:r>
                        <a:rPr lang="en-US" sz="1800" b="0" dirty="0">
                          <a:solidFill>
                            <a:schemeClr val="tx1"/>
                          </a:solidFill>
                          <a:effectLst/>
                          <a:latin typeface="Franklin Gothic Book"/>
                        </a:rPr>
                        <a:t>Medium: 59%</a:t>
                      </a:r>
                      <a:endParaRPr lang="en-US" sz="1800" b="0">
                        <a:solidFill>
                          <a:schemeClr val="tx1"/>
                        </a:solidFill>
                        <a:effectLst/>
                        <a:latin typeface="Franklin Gothic Book"/>
                        <a:ea typeface="Calibri" panose="020F0502020204030204" pitchFamily="34" charset="0"/>
                        <a:cs typeface="Times New Roman"/>
                      </a:endParaRPr>
                    </a:p>
                  </a:txBody>
                  <a:tcPr marL="29072" marR="29072" marT="0" marB="0"/>
                </a:tc>
                <a:tc hMerge="1">
                  <a:txBody>
                    <a:bodyPr/>
                    <a:lstStyle/>
                    <a:p>
                      <a:pPr marL="0" marR="0" algn="l">
                        <a:lnSpc>
                          <a:spcPct val="107000"/>
                        </a:lnSpc>
                        <a:spcBef>
                          <a:spcPts val="0"/>
                        </a:spcBef>
                        <a:spcAft>
                          <a:spcPts val="0"/>
                        </a:spcAft>
                      </a:pPr>
                      <a:r>
                        <a:rPr lang="en-US" sz="1800" b="0" dirty="0">
                          <a:solidFill>
                            <a:schemeClr val="tx1"/>
                          </a:solidFill>
                          <a:effectLst/>
                          <a:latin typeface="Franklin Gothic Book"/>
                        </a:rPr>
                        <a:t>Large: 33%</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tc>
                  <a:txBody>
                    <a:bodyPr/>
                    <a:lstStyle/>
                    <a:p>
                      <a:pPr marL="0" marR="0" algn="l">
                        <a:lnSpc>
                          <a:spcPct val="107000"/>
                        </a:lnSpc>
                        <a:spcBef>
                          <a:spcPts val="0"/>
                        </a:spcBef>
                        <a:spcAft>
                          <a:spcPts val="0"/>
                        </a:spcAft>
                      </a:pPr>
                      <a:r>
                        <a:rPr lang="en-US" sz="1800" b="0">
                          <a:solidFill>
                            <a:schemeClr val="tx1"/>
                          </a:solidFill>
                          <a:effectLst/>
                          <a:latin typeface="Franklin Gothic Book"/>
                        </a:rPr>
                        <a:t>Large: 33%</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extLst>
                  <a:ext uri="{0D108BD9-81ED-4DB2-BD59-A6C34878D82A}">
                    <a16:rowId xmlns:a16="http://schemas.microsoft.com/office/drawing/2014/main" val="2559059253"/>
                  </a:ext>
                </a:extLst>
              </a:tr>
              <a:tr h="299070">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Easily Excitable</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69%</a:t>
                      </a:r>
                      <a:endParaRPr lang="en-US" sz="1800" b="0">
                        <a:solidFill>
                          <a:schemeClr val="tx1"/>
                        </a:solidFill>
                        <a:effectLst/>
                        <a:latin typeface="Franklin Gothic Book"/>
                        <a:ea typeface="Calibri" panose="020F0502020204030204" pitchFamily="34" charset="0"/>
                        <a:cs typeface="Times New Roman"/>
                      </a:endParaRPr>
                    </a:p>
                  </a:txBody>
                  <a:tcPr marL="29072" marR="29072" marT="0" marB="0"/>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Not at all: 19%</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tc gridSpan="2">
                  <a:txBody>
                    <a:bodyPr/>
                    <a:lstStyle/>
                    <a:p>
                      <a:pPr marL="0" marR="0" algn="l">
                        <a:lnSpc>
                          <a:spcPct val="107000"/>
                        </a:lnSpc>
                        <a:spcBef>
                          <a:spcPts val="0"/>
                        </a:spcBef>
                        <a:spcAft>
                          <a:spcPts val="0"/>
                        </a:spcAft>
                      </a:pPr>
                      <a:r>
                        <a:rPr lang="en-US" sz="1800" b="0" dirty="0">
                          <a:solidFill>
                            <a:schemeClr val="tx1"/>
                          </a:solidFill>
                          <a:effectLst/>
                          <a:latin typeface="Franklin Gothic Book"/>
                        </a:rPr>
                        <a:t>Somewhat: 68%</a:t>
                      </a:r>
                      <a:endParaRPr lang="en-US" sz="1800" b="0">
                        <a:solidFill>
                          <a:schemeClr val="tx1"/>
                        </a:solidFill>
                        <a:effectLst/>
                        <a:latin typeface="Franklin Gothic Book"/>
                        <a:ea typeface="Calibri" panose="020F0502020204030204" pitchFamily="34" charset="0"/>
                        <a:cs typeface="Times New Roman"/>
                      </a:endParaRPr>
                    </a:p>
                  </a:txBody>
                  <a:tcPr marL="29072" marR="29072" marT="0" marB="0"/>
                </a:tc>
                <a:tc hMerge="1">
                  <a:txBody>
                    <a:bodyPr/>
                    <a:lstStyle/>
                    <a:p>
                      <a:pPr marL="0" marR="0" algn="l">
                        <a:lnSpc>
                          <a:spcPct val="107000"/>
                        </a:lnSpc>
                        <a:spcBef>
                          <a:spcPts val="0"/>
                        </a:spcBef>
                        <a:spcAft>
                          <a:spcPts val="0"/>
                        </a:spcAft>
                      </a:pPr>
                      <a:r>
                        <a:rPr lang="en-US" sz="1800" b="0" dirty="0">
                          <a:solidFill>
                            <a:schemeClr val="tx1"/>
                          </a:solidFill>
                          <a:effectLst/>
                          <a:latin typeface="Franklin Gothic Book"/>
                        </a:rPr>
                        <a:t>Very: 17%</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tc>
                  <a:txBody>
                    <a:bodyPr/>
                    <a:lstStyle/>
                    <a:p>
                      <a:pPr marL="0" marR="0" algn="l">
                        <a:lnSpc>
                          <a:spcPct val="107000"/>
                        </a:lnSpc>
                        <a:spcBef>
                          <a:spcPts val="0"/>
                        </a:spcBef>
                        <a:spcAft>
                          <a:spcPts val="0"/>
                        </a:spcAft>
                      </a:pPr>
                      <a:r>
                        <a:rPr lang="en-US" sz="1800" b="0">
                          <a:solidFill>
                            <a:schemeClr val="tx1"/>
                          </a:solidFill>
                          <a:effectLst/>
                          <a:latin typeface="Franklin Gothic Book"/>
                        </a:rPr>
                        <a:t>Very: 17%</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extLst>
                  <a:ext uri="{0D108BD9-81ED-4DB2-BD59-A6C34878D82A}">
                    <a16:rowId xmlns:a16="http://schemas.microsoft.com/office/drawing/2014/main" val="459499115"/>
                  </a:ext>
                </a:extLst>
              </a:tr>
              <a:tr h="299070">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Intelligence</a:t>
                      </a:r>
                      <a:endParaRPr lang="en-US" sz="1800" b="0">
                        <a:solidFill>
                          <a:schemeClr val="tx1"/>
                        </a:solidFill>
                        <a:effectLst/>
                        <a:latin typeface="Franklin Gothic Book"/>
                        <a:ea typeface="Calibri" panose="020F0502020204030204" pitchFamily="34" charset="0"/>
                        <a:cs typeface="Times New Roman"/>
                      </a:endParaRPr>
                    </a:p>
                  </a:txBody>
                  <a:tcPr marL="29072" marR="29072" marT="0" marB="0"/>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67%</a:t>
                      </a:r>
                      <a:endParaRPr lang="en-US" sz="1800" b="0">
                        <a:solidFill>
                          <a:schemeClr val="tx1"/>
                        </a:solidFill>
                        <a:effectLst/>
                        <a:latin typeface="Franklin Gothic Book"/>
                        <a:ea typeface="Calibri" panose="020F0502020204030204" pitchFamily="34" charset="0"/>
                        <a:cs typeface="Times New Roman"/>
                      </a:endParaRPr>
                    </a:p>
                  </a:txBody>
                  <a:tcPr marL="29072" marR="29072" marT="0" marB="0"/>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Not at all: 0.4%</a:t>
                      </a:r>
                      <a:endParaRPr lang="en-US" sz="1800" b="0">
                        <a:solidFill>
                          <a:schemeClr val="tx1"/>
                        </a:solidFill>
                        <a:effectLst/>
                        <a:latin typeface="Franklin Gothic Book"/>
                        <a:ea typeface="Calibri" panose="020F0502020204030204" pitchFamily="34" charset="0"/>
                        <a:cs typeface="Times New Roman"/>
                      </a:endParaRPr>
                    </a:p>
                  </a:txBody>
                  <a:tcPr marL="29072" marR="29072" marT="0" marB="0"/>
                </a:tc>
                <a:tc gridSpan="2">
                  <a:txBody>
                    <a:bodyPr/>
                    <a:lstStyle/>
                    <a:p>
                      <a:pPr marL="0" marR="0" algn="l">
                        <a:lnSpc>
                          <a:spcPct val="107000"/>
                        </a:lnSpc>
                        <a:spcBef>
                          <a:spcPts val="0"/>
                        </a:spcBef>
                        <a:spcAft>
                          <a:spcPts val="0"/>
                        </a:spcAft>
                      </a:pPr>
                      <a:r>
                        <a:rPr lang="en-US" sz="1800" b="0" dirty="0">
                          <a:solidFill>
                            <a:schemeClr val="tx1"/>
                          </a:solidFill>
                          <a:effectLst/>
                          <a:latin typeface="Franklin Gothic Book"/>
                        </a:rPr>
                        <a:t>Somewhat: 57%</a:t>
                      </a:r>
                      <a:endParaRPr lang="en-US" sz="1800" b="0">
                        <a:solidFill>
                          <a:schemeClr val="tx1"/>
                        </a:solidFill>
                        <a:effectLst/>
                        <a:latin typeface="Franklin Gothic Book"/>
                        <a:ea typeface="Calibri" panose="020F0502020204030204" pitchFamily="34" charset="0"/>
                        <a:cs typeface="Times New Roman"/>
                      </a:endParaRPr>
                    </a:p>
                  </a:txBody>
                  <a:tcPr marL="29072" marR="29072" marT="0" marB="0"/>
                </a:tc>
                <a:tc hMerge="1">
                  <a:txBody>
                    <a:bodyPr/>
                    <a:lstStyle/>
                    <a:p>
                      <a:pPr marL="0" marR="0" algn="l">
                        <a:lnSpc>
                          <a:spcPct val="107000"/>
                        </a:lnSpc>
                        <a:spcBef>
                          <a:spcPts val="0"/>
                        </a:spcBef>
                        <a:spcAft>
                          <a:spcPts val="0"/>
                        </a:spcAft>
                      </a:pPr>
                      <a:r>
                        <a:rPr lang="en-US" sz="1800" b="0" dirty="0">
                          <a:solidFill>
                            <a:schemeClr val="tx1"/>
                          </a:solidFill>
                          <a:effectLst/>
                          <a:latin typeface="Franklin Gothic Book"/>
                        </a:rPr>
                        <a:t>Very: 53%</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tc>
                  <a:txBody>
                    <a:bodyPr/>
                    <a:lstStyle/>
                    <a:p>
                      <a:pPr marL="0" marR="0" algn="l">
                        <a:lnSpc>
                          <a:spcPct val="107000"/>
                        </a:lnSpc>
                        <a:spcBef>
                          <a:spcPts val="0"/>
                        </a:spcBef>
                        <a:spcAft>
                          <a:spcPts val="0"/>
                        </a:spcAft>
                      </a:pPr>
                      <a:r>
                        <a:rPr lang="en-US" sz="1800" b="0">
                          <a:solidFill>
                            <a:schemeClr val="tx1"/>
                          </a:solidFill>
                          <a:effectLst/>
                          <a:latin typeface="Franklin Gothic Book"/>
                        </a:rPr>
                        <a:t>Very: 53%</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extLst>
                  <a:ext uri="{0D108BD9-81ED-4DB2-BD59-A6C34878D82A}">
                    <a16:rowId xmlns:a16="http://schemas.microsoft.com/office/drawing/2014/main" val="2721732051"/>
                  </a:ext>
                </a:extLst>
              </a:tr>
              <a:tr h="299070">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Protectiveness</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66%</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Not at all: 16%</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tc gridSpan="2">
                  <a:txBody>
                    <a:bodyPr/>
                    <a:lstStyle/>
                    <a:p>
                      <a:pPr marL="0" marR="0" algn="l">
                        <a:lnSpc>
                          <a:spcPct val="107000"/>
                        </a:lnSpc>
                        <a:spcBef>
                          <a:spcPts val="0"/>
                        </a:spcBef>
                        <a:spcAft>
                          <a:spcPts val="0"/>
                        </a:spcAft>
                      </a:pPr>
                      <a:r>
                        <a:rPr lang="en-US" sz="1800" b="0" dirty="0">
                          <a:solidFill>
                            <a:schemeClr val="tx1"/>
                          </a:solidFill>
                          <a:effectLst/>
                          <a:latin typeface="Franklin Gothic Book"/>
                        </a:rPr>
                        <a:t>Somewhat: 72%</a:t>
                      </a:r>
                      <a:endParaRPr lang="en-US" sz="1800" b="0">
                        <a:solidFill>
                          <a:schemeClr val="tx1"/>
                        </a:solidFill>
                        <a:effectLst/>
                        <a:latin typeface="Franklin Gothic Book"/>
                        <a:ea typeface="Calibri" panose="020F0502020204030204" pitchFamily="34" charset="0"/>
                        <a:cs typeface="Times New Roman"/>
                      </a:endParaRPr>
                    </a:p>
                  </a:txBody>
                  <a:tcPr marL="29072" marR="29072" marT="0" marB="0"/>
                </a:tc>
                <a:tc hMerge="1">
                  <a:txBody>
                    <a:bodyPr/>
                    <a:lstStyle/>
                    <a:p>
                      <a:pPr marL="0" marR="0" algn="l">
                        <a:lnSpc>
                          <a:spcPct val="107000"/>
                        </a:lnSpc>
                        <a:spcBef>
                          <a:spcPts val="0"/>
                        </a:spcBef>
                        <a:spcAft>
                          <a:spcPts val="0"/>
                        </a:spcAft>
                      </a:pPr>
                      <a:r>
                        <a:rPr lang="en-US" sz="1800" b="0" dirty="0">
                          <a:solidFill>
                            <a:schemeClr val="tx1"/>
                          </a:solidFill>
                          <a:effectLst/>
                          <a:latin typeface="Franklin Gothic Book"/>
                        </a:rPr>
                        <a:t>Very: 18%</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tc>
                  <a:txBody>
                    <a:bodyPr/>
                    <a:lstStyle/>
                    <a:p>
                      <a:pPr marL="0" marR="0" algn="l">
                        <a:lnSpc>
                          <a:spcPct val="107000"/>
                        </a:lnSpc>
                        <a:spcBef>
                          <a:spcPts val="0"/>
                        </a:spcBef>
                        <a:spcAft>
                          <a:spcPts val="0"/>
                        </a:spcAft>
                      </a:pPr>
                      <a:r>
                        <a:rPr lang="en-US" sz="1800" b="0">
                          <a:solidFill>
                            <a:schemeClr val="tx1"/>
                          </a:solidFill>
                          <a:effectLst/>
                          <a:latin typeface="Franklin Gothic Book"/>
                        </a:rPr>
                        <a:t>Very: 18%</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extLst>
                  <a:ext uri="{0D108BD9-81ED-4DB2-BD59-A6C34878D82A}">
                    <a16:rowId xmlns:a16="http://schemas.microsoft.com/office/drawing/2014/main" val="4122805307"/>
                  </a:ext>
                </a:extLst>
              </a:tr>
              <a:tr h="299070">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Nervousness</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58%</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Not at all: 48%</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tc gridSpan="2">
                  <a:txBody>
                    <a:bodyPr/>
                    <a:lstStyle/>
                    <a:p>
                      <a:pPr marL="0" marR="0" algn="l">
                        <a:lnSpc>
                          <a:spcPct val="107000"/>
                        </a:lnSpc>
                        <a:spcBef>
                          <a:spcPts val="0"/>
                        </a:spcBef>
                        <a:spcAft>
                          <a:spcPts val="0"/>
                        </a:spcAft>
                      </a:pPr>
                      <a:r>
                        <a:rPr lang="en-US" sz="1800" b="0" dirty="0">
                          <a:solidFill>
                            <a:schemeClr val="tx1"/>
                          </a:solidFill>
                          <a:effectLst/>
                          <a:latin typeface="Franklin Gothic Book"/>
                        </a:rPr>
                        <a:t>Somewhat: 57%</a:t>
                      </a:r>
                      <a:endParaRPr lang="en-US" sz="1800" b="0">
                        <a:solidFill>
                          <a:schemeClr val="tx1"/>
                        </a:solidFill>
                        <a:effectLst/>
                        <a:latin typeface="Franklin Gothic Book"/>
                        <a:ea typeface="Calibri" panose="020F0502020204030204" pitchFamily="34" charset="0"/>
                        <a:cs typeface="Times New Roman"/>
                      </a:endParaRPr>
                    </a:p>
                  </a:txBody>
                  <a:tcPr marL="29072" marR="29072" marT="0" marB="0"/>
                </a:tc>
                <a:tc hMerge="1">
                  <a:txBody>
                    <a:bodyPr/>
                    <a:lstStyle/>
                    <a:p>
                      <a:pPr marL="0" marR="0" algn="l">
                        <a:lnSpc>
                          <a:spcPct val="107000"/>
                        </a:lnSpc>
                        <a:spcBef>
                          <a:spcPts val="0"/>
                        </a:spcBef>
                        <a:spcAft>
                          <a:spcPts val="0"/>
                        </a:spcAft>
                      </a:pPr>
                      <a:r>
                        <a:rPr lang="en-US" sz="1800" b="0" dirty="0">
                          <a:solidFill>
                            <a:schemeClr val="tx1"/>
                          </a:solidFill>
                          <a:effectLst/>
                          <a:latin typeface="Franklin Gothic Book"/>
                        </a:rPr>
                        <a:t>Very: 1%</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tc>
                  <a:txBody>
                    <a:bodyPr/>
                    <a:lstStyle/>
                    <a:p>
                      <a:pPr marL="0" marR="0" algn="l">
                        <a:lnSpc>
                          <a:spcPct val="107000"/>
                        </a:lnSpc>
                        <a:spcBef>
                          <a:spcPts val="0"/>
                        </a:spcBef>
                        <a:spcAft>
                          <a:spcPts val="0"/>
                        </a:spcAft>
                      </a:pPr>
                      <a:r>
                        <a:rPr lang="en-US" sz="1800" b="0">
                          <a:solidFill>
                            <a:schemeClr val="tx1"/>
                          </a:solidFill>
                          <a:effectLst/>
                          <a:latin typeface="Franklin Gothic Book"/>
                        </a:rPr>
                        <a:t>Very: 1%</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extLst>
                  <a:ext uri="{0D108BD9-81ED-4DB2-BD59-A6C34878D82A}">
                    <a16:rowId xmlns:a16="http://schemas.microsoft.com/office/drawing/2014/main" val="947550417"/>
                  </a:ext>
                </a:extLst>
              </a:tr>
              <a:tr h="506242">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Previous Training</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56%</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No training: 8%</a:t>
                      </a:r>
                      <a:endParaRPr lang="en-US" sz="1800" b="0">
                        <a:solidFill>
                          <a:schemeClr val="tx1"/>
                        </a:solidFill>
                        <a:effectLst/>
                        <a:latin typeface="Franklin Gothic Book"/>
                        <a:ea typeface="Calibri" panose="020F0502020204030204" pitchFamily="34" charset="0"/>
                        <a:cs typeface="Times New Roman"/>
                      </a:endParaRPr>
                    </a:p>
                  </a:txBody>
                  <a:tcPr marL="29072" marR="29072" marT="0" marB="0"/>
                </a:tc>
                <a:tc gridSpan="2">
                  <a:txBody>
                    <a:bodyPr/>
                    <a:lstStyle/>
                    <a:p>
                      <a:pPr marL="0" marR="0" algn="l">
                        <a:lnSpc>
                          <a:spcPct val="107000"/>
                        </a:lnSpc>
                        <a:spcBef>
                          <a:spcPts val="0"/>
                        </a:spcBef>
                        <a:spcAft>
                          <a:spcPts val="0"/>
                        </a:spcAft>
                      </a:pPr>
                      <a:r>
                        <a:rPr lang="en-US" sz="1800" b="0" dirty="0">
                          <a:solidFill>
                            <a:schemeClr val="tx1"/>
                          </a:solidFill>
                          <a:effectLst/>
                          <a:latin typeface="Franklin Gothic Book"/>
                        </a:rPr>
                        <a:t>Some training: 91%</a:t>
                      </a:r>
                      <a:endParaRPr lang="en-US" sz="1800" b="0">
                        <a:solidFill>
                          <a:schemeClr val="tx1"/>
                        </a:solidFill>
                        <a:effectLst/>
                        <a:latin typeface="Franklin Gothic Book"/>
                        <a:ea typeface="Calibri" panose="020F0502020204030204" pitchFamily="34" charset="0"/>
                        <a:cs typeface="Times New Roman"/>
                      </a:endParaRPr>
                    </a:p>
                  </a:txBody>
                  <a:tcPr marL="29072" marR="29072" marT="0" marB="0"/>
                </a:tc>
                <a:tc hMerge="1">
                  <a:txBody>
                    <a:bodyPr/>
                    <a:lstStyle/>
                    <a:p>
                      <a:pPr marL="0" marR="0" algn="l">
                        <a:lnSpc>
                          <a:spcPct val="107000"/>
                        </a:lnSpc>
                        <a:spcBef>
                          <a:spcPts val="0"/>
                        </a:spcBef>
                        <a:spcAft>
                          <a:spcPts val="0"/>
                        </a:spcAft>
                      </a:pPr>
                      <a:r>
                        <a:rPr lang="en-US" sz="1800" b="0" dirty="0">
                          <a:solidFill>
                            <a:schemeClr val="tx1"/>
                          </a:solidFill>
                          <a:effectLst/>
                          <a:latin typeface="Franklin Gothic Book"/>
                        </a:rPr>
                        <a:t>Extensive training:</a:t>
                      </a:r>
                      <a:r>
                        <a:rPr lang="en-US" sz="1800" b="0" baseline="0" dirty="0">
                          <a:solidFill>
                            <a:schemeClr val="tx1"/>
                          </a:solidFill>
                          <a:effectLst/>
                          <a:latin typeface="Franklin Gothic Book"/>
                        </a:rPr>
                        <a:t> </a:t>
                      </a:r>
                      <a:r>
                        <a:rPr lang="en-US" sz="1800" b="0" dirty="0">
                          <a:solidFill>
                            <a:schemeClr val="tx1"/>
                          </a:solidFill>
                          <a:effectLst/>
                          <a:latin typeface="Franklin Gothic Book"/>
                        </a:rPr>
                        <a:t>9%</a:t>
                      </a:r>
                      <a:endParaRPr lang="en-US" sz="1800" b="0">
                        <a:solidFill>
                          <a:schemeClr val="tx1"/>
                        </a:solidFill>
                        <a:effectLst/>
                        <a:latin typeface="Franklin Gothic Book"/>
                        <a:ea typeface="Calibri" panose="020F0502020204030204" pitchFamily="34" charset="0"/>
                        <a:cs typeface="Times New Roman"/>
                      </a:endParaRPr>
                    </a:p>
                  </a:txBody>
                  <a:tcPr marL="29072" marR="29072" marT="0" marB="0"/>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Extensive training:</a:t>
                      </a:r>
                      <a:r>
                        <a:rPr lang="en-US" sz="1800" b="0" baseline="0" dirty="0">
                          <a:solidFill>
                            <a:schemeClr val="tx1"/>
                          </a:solidFill>
                          <a:effectLst/>
                          <a:latin typeface="Franklin Gothic Book"/>
                        </a:rPr>
                        <a:t> </a:t>
                      </a:r>
                      <a:r>
                        <a:rPr lang="en-US" sz="1800" b="0" dirty="0">
                          <a:solidFill>
                            <a:schemeClr val="tx1"/>
                          </a:solidFill>
                          <a:effectLst/>
                          <a:latin typeface="Franklin Gothic Book"/>
                        </a:rPr>
                        <a:t>9%</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extLst>
                  <a:ext uri="{0D108BD9-81ED-4DB2-BD59-A6C34878D82A}">
                    <a16:rowId xmlns:a16="http://schemas.microsoft.com/office/drawing/2014/main" val="2584499139"/>
                  </a:ext>
                </a:extLst>
              </a:tr>
              <a:tr h="299070">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Sex</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36%</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Female: 56%</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tc gridSpan="3">
                  <a:txBody>
                    <a:bodyPr/>
                    <a:lstStyle/>
                    <a:p>
                      <a:pPr marL="0" marR="0" algn="l">
                        <a:lnSpc>
                          <a:spcPct val="107000"/>
                        </a:lnSpc>
                        <a:spcBef>
                          <a:spcPts val="0"/>
                        </a:spcBef>
                        <a:spcAft>
                          <a:spcPts val="0"/>
                        </a:spcAft>
                      </a:pPr>
                      <a:r>
                        <a:rPr lang="en-US" sz="1800" b="0" dirty="0">
                          <a:solidFill>
                            <a:schemeClr val="tx1"/>
                          </a:solidFill>
                          <a:effectLst/>
                          <a:latin typeface="Franklin Gothic Book"/>
                        </a:rPr>
                        <a:t>Male: 44%</a:t>
                      </a:r>
                      <a:endParaRPr lang="en-US" sz="1800" b="0">
                        <a:solidFill>
                          <a:schemeClr val="tx1"/>
                        </a:solidFill>
                        <a:effectLst/>
                        <a:latin typeface="Franklin Gothic Book"/>
                        <a:ea typeface="Calibri" panose="020F0502020204030204" pitchFamily="34" charset="0"/>
                        <a:cs typeface="Times New Roman"/>
                      </a:endParaRPr>
                    </a:p>
                  </a:txBody>
                  <a:tcPr marL="29072" marR="29072" marT="0" marB="0"/>
                </a:tc>
                <a:tc hMerge="1">
                  <a:txBody>
                    <a:bodyPr/>
                    <a:lstStyle/>
                    <a:p>
                      <a:endParaRPr lang="en-US"/>
                    </a:p>
                  </a:txBody>
                  <a:tcPr/>
                </a:tc>
                <a:tc hMerge="1">
                  <a:txBody>
                    <a:bodyPr/>
                    <a:lstStyle/>
                    <a:p>
                      <a:pPr marL="0" marR="0" algn="l">
                        <a:lnSpc>
                          <a:spcPct val="107000"/>
                        </a:lnSpc>
                        <a:spcBef>
                          <a:spcPts val="0"/>
                        </a:spcBef>
                        <a:spcAft>
                          <a:spcPts val="0"/>
                        </a:spcAft>
                      </a:pPr>
                      <a:endParaRPr lang="en-US" sz="1800" b="0">
                        <a:solidFill>
                          <a:schemeClr val="tx1"/>
                        </a:solidFill>
                        <a:effectLst/>
                        <a:latin typeface="Franklin Gothic Book"/>
                        <a:ea typeface="Calibri" panose="020F0502020204030204" pitchFamily="34" charset="0"/>
                        <a:cs typeface="Times New Roman"/>
                      </a:endParaRPr>
                    </a:p>
                  </a:txBody>
                  <a:tcPr marL="29072" marR="29072" marT="0" marB="0"/>
                </a:tc>
                <a:extLst>
                  <a:ext uri="{0D108BD9-81ED-4DB2-BD59-A6C34878D82A}">
                    <a16:rowId xmlns:a16="http://schemas.microsoft.com/office/drawing/2014/main" val="1575060675"/>
                  </a:ext>
                </a:extLst>
              </a:tr>
              <a:tr h="484360">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Purebred Status</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28%</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Purebred: 21%</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tc>
                <a:tc gridSpan="3">
                  <a:txBody>
                    <a:bodyPr/>
                    <a:lstStyle/>
                    <a:p>
                      <a:pPr marL="0" marR="0" algn="l">
                        <a:lnSpc>
                          <a:spcPct val="107000"/>
                        </a:lnSpc>
                        <a:spcBef>
                          <a:spcPts val="0"/>
                        </a:spcBef>
                        <a:spcAft>
                          <a:spcPts val="0"/>
                        </a:spcAft>
                      </a:pPr>
                      <a:r>
                        <a:rPr lang="en-US" sz="1800" b="0" dirty="0">
                          <a:solidFill>
                            <a:schemeClr val="tx1"/>
                          </a:solidFill>
                          <a:effectLst/>
                          <a:latin typeface="Franklin Gothic Book"/>
                        </a:rPr>
                        <a:t>Mixed Breed: 79%</a:t>
                      </a:r>
                      <a:endParaRPr lang="en-US" sz="1800" b="0">
                        <a:solidFill>
                          <a:schemeClr val="tx1"/>
                        </a:solidFill>
                        <a:effectLst/>
                        <a:latin typeface="Franklin Gothic Book"/>
                        <a:ea typeface="Calibri" panose="020F0502020204030204" pitchFamily="34" charset="0"/>
                        <a:cs typeface="Times New Roman"/>
                      </a:endParaRPr>
                    </a:p>
                  </a:txBody>
                  <a:tcPr marL="29072" marR="29072" marT="0" marB="0"/>
                </a:tc>
                <a:tc hMerge="1">
                  <a:txBody>
                    <a:bodyPr/>
                    <a:lstStyle/>
                    <a:p>
                      <a:endParaRPr lang="en-US"/>
                    </a:p>
                  </a:txBody>
                  <a:tcPr/>
                </a:tc>
                <a:tc hMerge="1">
                  <a:txBody>
                    <a:bodyPr/>
                    <a:lstStyle/>
                    <a:p>
                      <a:pPr marL="0" marR="0" algn="l">
                        <a:lnSpc>
                          <a:spcPct val="107000"/>
                        </a:lnSpc>
                        <a:spcBef>
                          <a:spcPts val="0"/>
                        </a:spcBef>
                        <a:spcAft>
                          <a:spcPts val="0"/>
                        </a:spcAft>
                      </a:pPr>
                      <a:endParaRPr lang="en-US" sz="1800" b="0">
                        <a:solidFill>
                          <a:schemeClr val="tx1"/>
                        </a:solidFill>
                        <a:effectLst/>
                        <a:latin typeface="Franklin Gothic Book"/>
                        <a:ea typeface="Calibri" panose="020F0502020204030204" pitchFamily="34" charset="0"/>
                        <a:cs typeface="Times New Roman"/>
                      </a:endParaRPr>
                    </a:p>
                  </a:txBody>
                  <a:tcPr marL="29072" marR="29072" marT="0" marB="0"/>
                </a:tc>
                <a:extLst>
                  <a:ext uri="{0D108BD9-81ED-4DB2-BD59-A6C34878D82A}">
                    <a16:rowId xmlns:a16="http://schemas.microsoft.com/office/drawing/2014/main" val="222779490"/>
                  </a:ext>
                </a:extLst>
              </a:tr>
              <a:tr h="609114">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Color</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nchor="ctr">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14%</a:t>
                      </a:r>
                      <a:endParaRPr lang="en-US" sz="1800" b="0">
                        <a:solidFill>
                          <a:schemeClr val="tx1"/>
                        </a:solidFill>
                        <a:effectLst/>
                        <a:latin typeface="Franklin Gothic Book"/>
                        <a:ea typeface="Calibri" panose="020F0502020204030204" pitchFamily="34" charset="0"/>
                        <a:cs typeface="Times New Roman"/>
                      </a:endParaRPr>
                    </a:p>
                  </a:txBody>
                  <a:tcPr marL="29072" marR="29072" marT="0" marB="0">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Light (White, Grey, Tan): 26%</a:t>
                      </a:r>
                      <a:endParaRPr lang="en-US" sz="1800" b="0">
                        <a:solidFill>
                          <a:schemeClr val="tx1"/>
                        </a:solidFill>
                        <a:effectLst/>
                        <a:latin typeface="Franklin Gothic Book"/>
                        <a:ea typeface="Calibri" panose="020F0502020204030204" pitchFamily="34" charset="0"/>
                        <a:cs typeface="Times New Roman"/>
                      </a:endParaRPr>
                    </a:p>
                  </a:txBody>
                  <a:tcPr marL="29072" marR="29072" marT="0" marB="0">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800" b="0" dirty="0">
                          <a:solidFill>
                            <a:schemeClr val="tx1"/>
                          </a:solidFill>
                          <a:effectLst/>
                          <a:latin typeface="Franklin Gothic Book"/>
                        </a:rPr>
                        <a:t>Medium (Light Brown, Red): 46%</a:t>
                      </a:r>
                      <a:endParaRPr lang="en-US" sz="1800" b="0">
                        <a:solidFill>
                          <a:schemeClr val="tx1"/>
                        </a:solidFill>
                        <a:effectLst/>
                        <a:latin typeface="Franklin Gothic Book"/>
                        <a:ea typeface="Calibri" panose="020F0502020204030204" pitchFamily="34" charset="0"/>
                        <a:cs typeface="Times New Roman"/>
                      </a:endParaRPr>
                    </a:p>
                  </a:txBody>
                  <a:tcPr marL="29072" marR="29072" marT="0" marB="0">
                    <a:lnB w="12700" cap="flat" cmpd="sng" algn="ctr">
                      <a:solidFill>
                        <a:schemeClr val="tx1"/>
                      </a:solidFill>
                      <a:prstDash val="solid"/>
                      <a:round/>
                      <a:headEnd type="none" w="med" len="med"/>
                      <a:tailEnd type="none" w="med" len="med"/>
                    </a:lnB>
                  </a:tcPr>
                </a:tc>
                <a:tc gridSpan="2">
                  <a:txBody>
                    <a:bodyPr/>
                    <a:lstStyle/>
                    <a:p>
                      <a:pPr marL="0" marR="0" algn="l">
                        <a:lnSpc>
                          <a:spcPct val="107000"/>
                        </a:lnSpc>
                        <a:spcBef>
                          <a:spcPts val="0"/>
                        </a:spcBef>
                        <a:spcAft>
                          <a:spcPts val="0"/>
                        </a:spcAft>
                      </a:pPr>
                      <a:r>
                        <a:rPr lang="en-US" sz="1800" b="0" dirty="0">
                          <a:solidFill>
                            <a:schemeClr val="tx1"/>
                          </a:solidFill>
                          <a:effectLst/>
                          <a:latin typeface="Franklin Gothic Book"/>
                        </a:rPr>
                        <a:t>Dark (Black, Dark Brown): 39%</a:t>
                      </a: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lnB w="12700" cap="flat" cmpd="sng" algn="ctr">
                      <a:solidFill>
                        <a:schemeClr val="tx1"/>
                      </a:solidFill>
                      <a:prstDash val="solid"/>
                      <a:round/>
                      <a:headEnd type="none" w="med" len="med"/>
                      <a:tailEnd type="none" w="med" len="med"/>
                    </a:lnB>
                  </a:tcPr>
                </a:tc>
                <a:tc hMerge="1">
                  <a:txBody>
                    <a:bodyPr/>
                    <a:lstStyle/>
                    <a:p>
                      <a:pPr marL="0" marR="0" algn="l">
                        <a:lnSpc>
                          <a:spcPct val="107000"/>
                        </a:lnSpc>
                        <a:spcBef>
                          <a:spcPts val="0"/>
                        </a:spcBef>
                        <a:spcAft>
                          <a:spcPts val="0"/>
                        </a:spcAft>
                      </a:pPr>
                      <a:endParaRPr lang="en-US" sz="1800" b="0" dirty="0">
                        <a:solidFill>
                          <a:schemeClr val="tx1"/>
                        </a:solidFill>
                        <a:effectLst/>
                        <a:latin typeface="Franklin Gothic Book"/>
                        <a:ea typeface="Calibri" panose="020F0502020204030204" pitchFamily="34" charset="0"/>
                        <a:cs typeface="Times New Roman"/>
                      </a:endParaRPr>
                    </a:p>
                  </a:txBody>
                  <a:tcPr marL="29072" marR="29072" marT="0" marB="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7707323"/>
                  </a:ext>
                </a:extLst>
              </a:tr>
            </a:tbl>
          </a:graphicData>
        </a:graphic>
      </p:graphicFrame>
      <p:graphicFrame>
        <p:nvGraphicFramePr>
          <p:cNvPr id="25" name="Table 24"/>
          <p:cNvGraphicFramePr>
            <a:graphicFrameLocks noGrp="1"/>
          </p:cNvGraphicFramePr>
          <p:nvPr>
            <p:extLst>
              <p:ext uri="{D42A27DB-BD31-4B8C-83A1-F6EECF244321}">
                <p14:modId xmlns:p14="http://schemas.microsoft.com/office/powerpoint/2010/main" val="2503693892"/>
              </p:ext>
            </p:extLst>
          </p:nvPr>
        </p:nvGraphicFramePr>
        <p:xfrm>
          <a:off x="11958927" y="20920502"/>
          <a:ext cx="9035191" cy="2811385"/>
        </p:xfrm>
        <a:graphic>
          <a:graphicData uri="http://schemas.openxmlformats.org/drawingml/2006/table">
            <a:tbl>
              <a:tblPr firstRow="1" firstCol="1" bandRow="1">
                <a:tableStyleId>{5940675A-B579-460E-94D1-54222C63F5DA}</a:tableStyleId>
              </a:tblPr>
              <a:tblGrid>
                <a:gridCol w="2656952">
                  <a:extLst>
                    <a:ext uri="{9D8B030D-6E8A-4147-A177-3AD203B41FA5}">
                      <a16:colId xmlns:a16="http://schemas.microsoft.com/office/drawing/2014/main" val="1513470693"/>
                    </a:ext>
                  </a:extLst>
                </a:gridCol>
                <a:gridCol w="3447800">
                  <a:extLst>
                    <a:ext uri="{9D8B030D-6E8A-4147-A177-3AD203B41FA5}">
                      <a16:colId xmlns:a16="http://schemas.microsoft.com/office/drawing/2014/main" val="1966127396"/>
                    </a:ext>
                  </a:extLst>
                </a:gridCol>
                <a:gridCol w="1437365">
                  <a:extLst>
                    <a:ext uri="{9D8B030D-6E8A-4147-A177-3AD203B41FA5}">
                      <a16:colId xmlns:a16="http://schemas.microsoft.com/office/drawing/2014/main" val="1543678393"/>
                    </a:ext>
                  </a:extLst>
                </a:gridCol>
                <a:gridCol w="855841">
                  <a:extLst>
                    <a:ext uri="{9D8B030D-6E8A-4147-A177-3AD203B41FA5}">
                      <a16:colId xmlns:a16="http://schemas.microsoft.com/office/drawing/2014/main" val="3410823300"/>
                    </a:ext>
                  </a:extLst>
                </a:gridCol>
                <a:gridCol w="637233">
                  <a:extLst>
                    <a:ext uri="{9D8B030D-6E8A-4147-A177-3AD203B41FA5}">
                      <a16:colId xmlns:a16="http://schemas.microsoft.com/office/drawing/2014/main" val="2432901279"/>
                    </a:ext>
                  </a:extLst>
                </a:gridCol>
              </a:tblGrid>
              <a:tr h="608757">
                <a:tc>
                  <a:txBody>
                    <a:bodyPr/>
                    <a:lstStyle/>
                    <a:p>
                      <a:pPr marL="0" marR="0" algn="l">
                        <a:lnSpc>
                          <a:spcPct val="100000"/>
                        </a:lnSpc>
                        <a:spcBef>
                          <a:spcPts val="0"/>
                        </a:spcBef>
                        <a:spcAft>
                          <a:spcPts val="0"/>
                        </a:spcAft>
                      </a:pPr>
                      <a:r>
                        <a:rPr lang="en-US" sz="1800" i="0" dirty="0">
                          <a:effectLst/>
                          <a:latin typeface="Franklin Gothic Book"/>
                        </a:rPr>
                        <a:t>Adopter Perceived Trait</a:t>
                      </a:r>
                      <a:endParaRPr lang="en-US" sz="1800" i="0" dirty="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0000"/>
                        </a:lnSpc>
                        <a:spcBef>
                          <a:spcPts val="0"/>
                        </a:spcBef>
                        <a:spcAft>
                          <a:spcPts val="0"/>
                        </a:spcAft>
                      </a:pPr>
                      <a:r>
                        <a:rPr lang="en-US" sz="1800" i="0" dirty="0">
                          <a:effectLst/>
                          <a:latin typeface="Franklin Gothic Book"/>
                        </a:rPr>
                        <a:t>Match-Up II</a:t>
                      </a:r>
                    </a:p>
                    <a:p>
                      <a:pPr marL="0" marR="0" algn="l">
                        <a:lnSpc>
                          <a:spcPct val="100000"/>
                        </a:lnSpc>
                        <a:spcBef>
                          <a:spcPts val="0"/>
                        </a:spcBef>
                        <a:spcAft>
                          <a:spcPts val="0"/>
                        </a:spcAft>
                      </a:pPr>
                      <a:r>
                        <a:rPr lang="en-US" sz="1800" i="0" dirty="0">
                          <a:effectLst/>
                          <a:latin typeface="Franklin Gothic Book"/>
                        </a:rPr>
                        <a:t>Calculated Trait </a:t>
                      </a:r>
                      <a:endParaRPr lang="en-US" sz="1800" i="0" dirty="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0000"/>
                        </a:lnSpc>
                        <a:spcBef>
                          <a:spcPts val="0"/>
                        </a:spcBef>
                        <a:spcAft>
                          <a:spcPts val="0"/>
                        </a:spcAft>
                      </a:pPr>
                      <a:r>
                        <a:rPr lang="en-US" sz="1800" i="0" dirty="0">
                          <a:effectLst/>
                          <a:latin typeface="Franklin Gothic Book"/>
                        </a:rPr>
                        <a:t>Spearman’s</a:t>
                      </a:r>
                      <a:r>
                        <a:rPr lang="en-US" sz="1800" i="1" dirty="0">
                          <a:effectLst/>
                          <a:latin typeface="Franklin Gothic Book"/>
                        </a:rPr>
                        <a:t> r</a:t>
                      </a:r>
                      <a:endParaRPr lang="en-US" sz="1800" i="1" dirty="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0000"/>
                        </a:lnSpc>
                        <a:spcBef>
                          <a:spcPts val="0"/>
                        </a:spcBef>
                        <a:spcAft>
                          <a:spcPts val="0"/>
                        </a:spcAft>
                      </a:pPr>
                      <a:r>
                        <a:rPr lang="en-US" sz="1800" i="1" dirty="0">
                          <a:effectLst/>
                          <a:latin typeface="Franklin Gothic Book"/>
                        </a:rPr>
                        <a:t>p</a:t>
                      </a:r>
                      <a:endParaRPr lang="en-US" sz="1800" i="1" dirty="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0000"/>
                        </a:lnSpc>
                        <a:spcBef>
                          <a:spcPts val="0"/>
                        </a:spcBef>
                        <a:spcAft>
                          <a:spcPts val="0"/>
                        </a:spcAft>
                      </a:pPr>
                      <a:r>
                        <a:rPr lang="en-US" sz="1800" i="1" dirty="0">
                          <a:effectLst/>
                          <a:latin typeface="Franklin Gothic Book"/>
                        </a:rPr>
                        <a:t>n</a:t>
                      </a:r>
                      <a:endParaRPr lang="en-US" sz="1800" i="1" dirty="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502833"/>
                  </a:ext>
                </a:extLst>
              </a:tr>
              <a:tr h="262979">
                <a:tc>
                  <a:txBody>
                    <a:bodyPr/>
                    <a:lstStyle/>
                    <a:p>
                      <a:pPr marL="0" marR="0" algn="l">
                        <a:lnSpc>
                          <a:spcPct val="107000"/>
                        </a:lnSpc>
                        <a:spcBef>
                          <a:spcPts val="0"/>
                        </a:spcBef>
                        <a:spcAft>
                          <a:spcPts val="0"/>
                        </a:spcAft>
                      </a:pPr>
                      <a:r>
                        <a:rPr lang="en-US" sz="1800" dirty="0">
                          <a:effectLst/>
                          <a:latin typeface="Franklin Gothic Book"/>
                        </a:rPr>
                        <a:t>Is anxious</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Fearfulness</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 -0.23</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0.02</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103</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9666283"/>
                  </a:ext>
                </a:extLst>
              </a:tr>
              <a:tr h="262979">
                <a:tc>
                  <a:txBody>
                    <a:bodyPr/>
                    <a:lstStyle/>
                    <a:p>
                      <a:pPr marL="0" marR="0" algn="l">
                        <a:lnSpc>
                          <a:spcPct val="107000"/>
                        </a:lnSpc>
                        <a:spcBef>
                          <a:spcPts val="0"/>
                        </a:spcBef>
                        <a:spcAft>
                          <a:spcPts val="0"/>
                        </a:spcAft>
                      </a:pPr>
                      <a:r>
                        <a:rPr lang="en-US" sz="1800" dirty="0">
                          <a:effectLst/>
                          <a:latin typeface="Franklin Gothic Book"/>
                        </a:rPr>
                        <a:t>Is easily excitable</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Excitability</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  0.32</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b="1" dirty="0">
                          <a:effectLst/>
                          <a:latin typeface="Franklin Gothic Book"/>
                        </a:rPr>
                        <a:t>0.0009</a:t>
                      </a:r>
                      <a:endParaRPr lang="en-US" sz="1800" b="1">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103</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5121736"/>
                  </a:ext>
                </a:extLst>
              </a:tr>
              <a:tr h="262979">
                <a:tc>
                  <a:txBody>
                    <a:bodyPr/>
                    <a:lstStyle/>
                    <a:p>
                      <a:pPr marL="0" marR="0" algn="l">
                        <a:lnSpc>
                          <a:spcPct val="107000"/>
                        </a:lnSpc>
                        <a:spcBef>
                          <a:spcPts val="0"/>
                        </a:spcBef>
                        <a:spcAft>
                          <a:spcPts val="0"/>
                        </a:spcAft>
                      </a:pPr>
                      <a:r>
                        <a:rPr lang="en-US" sz="1800" dirty="0">
                          <a:effectLst/>
                          <a:latin typeface="Franklin Gothic Book"/>
                        </a:rPr>
                        <a:t>Is playful</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Playfulness</a:t>
                      </a:r>
                      <a:endParaRPr lang="en-US" sz="1800" dirty="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 -0.002</a:t>
                      </a:r>
                      <a:endParaRPr lang="en-US" sz="1800" dirty="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0.98</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103</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4857117"/>
                  </a:ext>
                </a:extLst>
              </a:tr>
              <a:tr h="262979">
                <a:tc>
                  <a:txBody>
                    <a:bodyPr/>
                    <a:lstStyle/>
                    <a:p>
                      <a:pPr marL="0" marR="0" algn="l">
                        <a:lnSpc>
                          <a:spcPct val="107000"/>
                        </a:lnSpc>
                        <a:spcBef>
                          <a:spcPts val="0"/>
                        </a:spcBef>
                        <a:spcAft>
                          <a:spcPts val="0"/>
                        </a:spcAft>
                      </a:pPr>
                      <a:r>
                        <a:rPr lang="en-US" sz="1800" dirty="0">
                          <a:effectLst/>
                          <a:latin typeface="Franklin Gothic Book"/>
                        </a:rPr>
                        <a:t>Is sociable</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Friendliness</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  0.15</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0.14</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102</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5143974"/>
                  </a:ext>
                </a:extLst>
              </a:tr>
              <a:tr h="263236">
                <a:tc>
                  <a:txBody>
                    <a:bodyPr/>
                    <a:lstStyle/>
                    <a:p>
                      <a:pPr marL="0" marR="0" algn="l">
                        <a:lnSpc>
                          <a:spcPct val="107000"/>
                        </a:lnSpc>
                        <a:spcBef>
                          <a:spcPts val="0"/>
                        </a:spcBef>
                        <a:spcAft>
                          <a:spcPts val="0"/>
                        </a:spcAft>
                      </a:pPr>
                      <a:r>
                        <a:rPr lang="en-US" sz="1800" dirty="0">
                          <a:effectLst/>
                          <a:latin typeface="Franklin Gothic Book"/>
                        </a:rPr>
                        <a:t>Is well-trained</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Total Commands Followed</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 -0.05</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0.60</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103</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06435177"/>
                  </a:ext>
                </a:extLst>
              </a:tr>
              <a:tr h="490382">
                <a:tc>
                  <a:txBody>
                    <a:bodyPr/>
                    <a:lstStyle/>
                    <a:p>
                      <a:pPr marL="0" marR="0" algn="l">
                        <a:lnSpc>
                          <a:spcPct val="107000"/>
                        </a:lnSpc>
                        <a:spcBef>
                          <a:spcPts val="0"/>
                        </a:spcBef>
                        <a:spcAft>
                          <a:spcPts val="0"/>
                        </a:spcAft>
                      </a:pPr>
                      <a:r>
                        <a:rPr lang="en-US" sz="1800" dirty="0">
                          <a:effectLst/>
                          <a:latin typeface="Franklin Gothic Book"/>
                        </a:rPr>
                        <a:t>Barks frequently</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Number of subtests where ‘bark’ was exhibited.</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  0.08</a:t>
                      </a:r>
                      <a:endParaRPr lang="en-US" sz="1800" dirty="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0.43</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103</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49927854"/>
                  </a:ext>
                </a:extLst>
              </a:tr>
              <a:tr h="255434">
                <a:tc>
                  <a:txBody>
                    <a:bodyPr/>
                    <a:lstStyle/>
                    <a:p>
                      <a:pPr marL="0" marR="0" algn="l">
                        <a:lnSpc>
                          <a:spcPct val="107000"/>
                        </a:lnSpc>
                        <a:spcBef>
                          <a:spcPts val="0"/>
                        </a:spcBef>
                        <a:spcAft>
                          <a:spcPts val="0"/>
                        </a:spcAft>
                      </a:pPr>
                      <a:r>
                        <a:rPr lang="en-US" sz="1800" dirty="0">
                          <a:effectLst/>
                          <a:latin typeface="Franklin Gothic Book"/>
                        </a:rPr>
                        <a:t>Ignores commands</a:t>
                      </a:r>
                      <a:endParaRPr lang="en-US" sz="1800" dirty="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Total Commands Followed</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 -0.07</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0.45</a:t>
                      </a:r>
                      <a:endParaRPr lang="en-US" sz="180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07000"/>
                        </a:lnSpc>
                        <a:spcBef>
                          <a:spcPts val="0"/>
                        </a:spcBef>
                        <a:spcAft>
                          <a:spcPts val="0"/>
                        </a:spcAft>
                      </a:pPr>
                      <a:r>
                        <a:rPr lang="en-US" sz="1800" dirty="0">
                          <a:effectLst/>
                          <a:latin typeface="Franklin Gothic Book"/>
                        </a:rPr>
                        <a:t>102</a:t>
                      </a:r>
                      <a:endParaRPr lang="en-US" sz="1800" dirty="0">
                        <a:effectLst/>
                        <a:latin typeface="Franklin Gothic Book"/>
                        <a:ea typeface="Calibri" panose="020F0502020204030204" pitchFamily="34" charset="0"/>
                        <a:cs typeface="Times New Roman"/>
                      </a:endParaRPr>
                    </a:p>
                  </a:txBody>
                  <a:tcPr marL="29072" marR="29072"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7041693"/>
                  </a:ext>
                </a:extLst>
              </a:tr>
            </a:tbl>
          </a:graphicData>
        </a:graphic>
      </p:graphicFrame>
      <p:sp>
        <p:nvSpPr>
          <p:cNvPr id="54" name="Subhead - Franklin Gothic Demi - 28"/>
          <p:cNvSpPr txBox="1"/>
          <p:nvPr/>
        </p:nvSpPr>
        <p:spPr>
          <a:xfrm>
            <a:off x="-16085399" y="5713082"/>
            <a:ext cx="230897" cy="661720"/>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non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endParaRPr dirty="0"/>
          </a:p>
        </p:txBody>
      </p:sp>
      <p:graphicFrame>
        <p:nvGraphicFramePr>
          <p:cNvPr id="27" name="Table 26"/>
          <p:cNvGraphicFramePr>
            <a:graphicFrameLocks noGrp="1"/>
          </p:cNvGraphicFramePr>
          <p:nvPr>
            <p:extLst>
              <p:ext uri="{D42A27DB-BD31-4B8C-83A1-F6EECF244321}">
                <p14:modId xmlns:p14="http://schemas.microsoft.com/office/powerpoint/2010/main" val="863679567"/>
              </p:ext>
            </p:extLst>
          </p:nvPr>
        </p:nvGraphicFramePr>
        <p:xfrm>
          <a:off x="11958927" y="5842038"/>
          <a:ext cx="9034273" cy="5156401"/>
        </p:xfrm>
        <a:graphic>
          <a:graphicData uri="http://schemas.openxmlformats.org/drawingml/2006/table">
            <a:tbl>
              <a:tblPr firstRow="1" firstCol="1" bandRow="1"/>
              <a:tblGrid>
                <a:gridCol w="3573108">
                  <a:extLst>
                    <a:ext uri="{9D8B030D-6E8A-4147-A177-3AD203B41FA5}">
                      <a16:colId xmlns:a16="http://schemas.microsoft.com/office/drawing/2014/main" val="4152178829"/>
                    </a:ext>
                  </a:extLst>
                </a:gridCol>
                <a:gridCol w="1641499">
                  <a:extLst>
                    <a:ext uri="{9D8B030D-6E8A-4147-A177-3AD203B41FA5}">
                      <a16:colId xmlns:a16="http://schemas.microsoft.com/office/drawing/2014/main" val="2592340630"/>
                    </a:ext>
                  </a:extLst>
                </a:gridCol>
                <a:gridCol w="1180382">
                  <a:extLst>
                    <a:ext uri="{9D8B030D-6E8A-4147-A177-3AD203B41FA5}">
                      <a16:colId xmlns:a16="http://schemas.microsoft.com/office/drawing/2014/main" val="1807559362"/>
                    </a:ext>
                  </a:extLst>
                </a:gridCol>
                <a:gridCol w="1167120">
                  <a:extLst>
                    <a:ext uri="{9D8B030D-6E8A-4147-A177-3AD203B41FA5}">
                      <a16:colId xmlns:a16="http://schemas.microsoft.com/office/drawing/2014/main" val="1380305026"/>
                    </a:ext>
                  </a:extLst>
                </a:gridCol>
                <a:gridCol w="1472164">
                  <a:extLst>
                    <a:ext uri="{9D8B030D-6E8A-4147-A177-3AD203B41FA5}">
                      <a16:colId xmlns:a16="http://schemas.microsoft.com/office/drawing/2014/main" val="3559441127"/>
                    </a:ext>
                  </a:extLst>
                </a:gridCol>
              </a:tblGrid>
              <a:tr h="321032">
                <a:tc>
                  <a:txBody>
                    <a:bodyPr/>
                    <a:lstStyle/>
                    <a:p>
                      <a:pPr marL="0" marR="0" algn="l">
                        <a:lnSpc>
                          <a:spcPct val="107000"/>
                        </a:lnSpc>
                        <a:spcBef>
                          <a:spcPts val="0"/>
                        </a:spcBef>
                        <a:spcAft>
                          <a:spcPts val="0"/>
                        </a:spcAft>
                      </a:pPr>
                      <a:r>
                        <a:rPr lang="en-US" sz="1800" b="0" i="0" dirty="0">
                          <a:effectLst/>
                          <a:latin typeface="Franklin Gothic Book"/>
                          <a:ea typeface="Calibri" panose="020F0502020204030204" pitchFamily="34" charset="0"/>
                          <a:cs typeface="Times New Roman"/>
                        </a:rPr>
                        <a:t> Variable</a:t>
                      </a:r>
                    </a:p>
                  </a:txBody>
                  <a:tcPr marL="23881" marR="23881"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800" b="0" dirty="0">
                          <a:effectLst/>
                          <a:latin typeface="Franklin Gothic Book"/>
                          <a:ea typeface="Calibri" panose="020F0502020204030204" pitchFamily="34" charset="0"/>
                          <a:cs typeface="Times New Roman"/>
                        </a:rPr>
                        <a:t>β Coefficient</a:t>
                      </a:r>
                    </a:p>
                  </a:txBody>
                  <a:tcPr marL="23881" marR="23881"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800" b="0" i="1" dirty="0">
                          <a:effectLst/>
                          <a:latin typeface="Franklin Gothic Book"/>
                          <a:ea typeface="Calibri" panose="020F0502020204030204" pitchFamily="34" charset="0"/>
                          <a:cs typeface="Times New Roman"/>
                        </a:rPr>
                        <a:t>SE</a:t>
                      </a:r>
                      <a:endParaRPr lang="en-US" sz="1800" b="0" dirty="0">
                        <a:effectLst/>
                        <a:latin typeface="Franklin Gothic Book"/>
                        <a:ea typeface="Calibri" panose="020F0502020204030204" pitchFamily="34" charset="0"/>
                        <a:cs typeface="Times New Roman"/>
                      </a:endParaRPr>
                    </a:p>
                  </a:txBody>
                  <a:tcPr marL="23881" marR="23881"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800" b="0" i="1" dirty="0">
                          <a:effectLst/>
                          <a:latin typeface="Franklin Gothic Book"/>
                          <a:ea typeface="Calibri" panose="020F0502020204030204" pitchFamily="34" charset="0"/>
                          <a:cs typeface="Times New Roman"/>
                        </a:rPr>
                        <a:t>t</a:t>
                      </a:r>
                      <a:endParaRPr lang="en-US" sz="1800" b="0" dirty="0">
                        <a:effectLst/>
                        <a:latin typeface="Franklin Gothic Book"/>
                        <a:ea typeface="Calibri" panose="020F0502020204030204" pitchFamily="34" charset="0"/>
                        <a:cs typeface="Times New Roman"/>
                      </a:endParaRPr>
                    </a:p>
                  </a:txBody>
                  <a:tcPr marL="23881" marR="23881"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800" b="0" dirty="0">
                          <a:effectLst/>
                          <a:latin typeface="Franklin Gothic Book"/>
                          <a:ea typeface="Calibri" panose="020F0502020204030204" pitchFamily="34" charset="0"/>
                          <a:cs typeface="Times New Roman"/>
                        </a:rPr>
                        <a:t>P&gt;|t|</a:t>
                      </a:r>
                    </a:p>
                  </a:txBody>
                  <a:tcPr marL="23881" marR="23881"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95442472"/>
                  </a:ext>
                </a:extLst>
              </a:tr>
              <a:tr h="321032">
                <a:tc>
                  <a:txBody>
                    <a:bodyPr/>
                    <a:lstStyle/>
                    <a:p>
                      <a:pPr marL="0" marR="0" algn="l">
                        <a:lnSpc>
                          <a:spcPct val="107000"/>
                        </a:lnSpc>
                        <a:spcBef>
                          <a:spcPts val="0"/>
                        </a:spcBef>
                        <a:spcAft>
                          <a:spcPts val="0"/>
                        </a:spcAft>
                      </a:pPr>
                      <a:r>
                        <a:rPr lang="en-US" sz="1800" i="0" dirty="0">
                          <a:effectLst/>
                          <a:latin typeface="Franklin Gothic Book"/>
                          <a:ea typeface="Calibri" panose="020F0502020204030204" pitchFamily="34" charset="0"/>
                          <a:cs typeface="Times New Roman"/>
                        </a:rPr>
                        <a:t>Constant</a:t>
                      </a:r>
                    </a:p>
                  </a:txBody>
                  <a:tcPr marL="23881" marR="23881"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14.862</a:t>
                      </a:r>
                    </a:p>
                  </a:txBody>
                  <a:tcPr marL="23881" marR="23881"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1.623</a:t>
                      </a:r>
                    </a:p>
                  </a:txBody>
                  <a:tcPr marL="23881" marR="23881"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9.159</a:t>
                      </a:r>
                    </a:p>
                  </a:txBody>
                  <a:tcPr marL="23881" marR="23881"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gn="l">
                        <a:lnSpc>
                          <a:spcPct val="107000"/>
                        </a:lnSpc>
                        <a:spcBef>
                          <a:spcPts val="0"/>
                        </a:spcBef>
                        <a:spcAft>
                          <a:spcPts val="0"/>
                        </a:spcAft>
                      </a:pPr>
                      <a:r>
                        <a:rPr lang="en-US" sz="1800" b="1" dirty="0">
                          <a:effectLst/>
                          <a:latin typeface="Franklin Gothic Book"/>
                          <a:ea typeface="Calibri" panose="020F0502020204030204" pitchFamily="34" charset="0"/>
                          <a:cs typeface="Times New Roman"/>
                        </a:rPr>
                        <a:t>&gt;0.001</a:t>
                      </a:r>
                      <a:endParaRPr lang="en-US" sz="1800" dirty="0">
                        <a:effectLst/>
                        <a:latin typeface="Franklin Gothic Book"/>
                        <a:ea typeface="Calibri" panose="020F0502020204030204" pitchFamily="34" charset="0"/>
                        <a:cs typeface="Times New Roman"/>
                      </a:endParaRPr>
                    </a:p>
                  </a:txBody>
                  <a:tcPr marL="23881" marR="23881"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519167250"/>
                  </a:ext>
                </a:extLst>
              </a:tr>
              <a:tr h="321032">
                <a:tc>
                  <a:txBody>
                    <a:bodyPr/>
                    <a:lstStyle/>
                    <a:p>
                      <a:pPr marL="0" marR="0" algn="l">
                        <a:lnSpc>
                          <a:spcPct val="107000"/>
                        </a:lnSpc>
                        <a:spcBef>
                          <a:spcPts val="0"/>
                        </a:spcBef>
                        <a:spcAft>
                          <a:spcPts val="0"/>
                        </a:spcAft>
                      </a:pPr>
                      <a:r>
                        <a:rPr lang="en-US" sz="1800" i="0" dirty="0">
                          <a:effectLst/>
                          <a:latin typeface="Franklin Gothic Book"/>
                          <a:ea typeface="Calibri" panose="020F0502020204030204" pitchFamily="34" charset="0"/>
                          <a:cs typeface="Times New Roman"/>
                        </a:rPr>
                        <a:t>Friendliness</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-0.1659</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0.072</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-2.306</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0.021</a:t>
                      </a:r>
                    </a:p>
                  </a:txBody>
                  <a:tcPr marL="23881" marR="23881" marT="0" marB="0">
                    <a:lnL>
                      <a:noFill/>
                    </a:lnL>
                    <a:lnR>
                      <a:noFill/>
                    </a:lnR>
                    <a:lnT>
                      <a:noFill/>
                    </a:lnT>
                    <a:lnB>
                      <a:noFill/>
                    </a:lnB>
                  </a:tcPr>
                </a:tc>
                <a:extLst>
                  <a:ext uri="{0D108BD9-81ED-4DB2-BD59-A6C34878D82A}">
                    <a16:rowId xmlns:a16="http://schemas.microsoft.com/office/drawing/2014/main" val="2625718071"/>
                  </a:ext>
                </a:extLst>
              </a:tr>
              <a:tr h="321032">
                <a:tc>
                  <a:txBody>
                    <a:bodyPr/>
                    <a:lstStyle/>
                    <a:p>
                      <a:pPr marL="0" marR="0" algn="l">
                        <a:lnSpc>
                          <a:spcPct val="107000"/>
                        </a:lnSpc>
                        <a:spcBef>
                          <a:spcPts val="0"/>
                        </a:spcBef>
                        <a:spcAft>
                          <a:spcPts val="0"/>
                        </a:spcAft>
                      </a:pPr>
                      <a:r>
                        <a:rPr lang="en-US" sz="1800" i="0" dirty="0">
                          <a:effectLst/>
                          <a:latin typeface="Franklin Gothic Book"/>
                          <a:ea typeface="Calibri" panose="020F0502020204030204" pitchFamily="34" charset="0"/>
                          <a:cs typeface="Times New Roman"/>
                        </a:rPr>
                        <a:t>Playfulness</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1.6813</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0.331</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5.077</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b="1" dirty="0">
                          <a:effectLst/>
                          <a:latin typeface="Franklin Gothic Book"/>
                          <a:ea typeface="Calibri" panose="020F0502020204030204" pitchFamily="34" charset="0"/>
                          <a:cs typeface="Times New Roman"/>
                        </a:rPr>
                        <a:t>&gt;0.001</a:t>
                      </a:r>
                      <a:endParaRPr lang="en-US" sz="1800" dirty="0">
                        <a:effectLst/>
                        <a:latin typeface="Franklin Gothic Book"/>
                        <a:ea typeface="Calibri" panose="020F0502020204030204" pitchFamily="34" charset="0"/>
                        <a:cs typeface="Times New Roman"/>
                      </a:endParaRPr>
                    </a:p>
                  </a:txBody>
                  <a:tcPr marL="23881" marR="23881" marT="0" marB="0">
                    <a:lnL>
                      <a:noFill/>
                    </a:lnL>
                    <a:lnR>
                      <a:noFill/>
                    </a:lnR>
                    <a:lnT>
                      <a:noFill/>
                    </a:lnT>
                    <a:lnB>
                      <a:noFill/>
                    </a:lnB>
                  </a:tcPr>
                </a:tc>
                <a:extLst>
                  <a:ext uri="{0D108BD9-81ED-4DB2-BD59-A6C34878D82A}">
                    <a16:rowId xmlns:a16="http://schemas.microsoft.com/office/drawing/2014/main" val="2607509981"/>
                  </a:ext>
                </a:extLst>
              </a:tr>
              <a:tr h="321032">
                <a:tc>
                  <a:txBody>
                    <a:bodyPr/>
                    <a:lstStyle/>
                    <a:p>
                      <a:pPr marL="0" marR="0" algn="l">
                        <a:lnSpc>
                          <a:spcPct val="107000"/>
                        </a:lnSpc>
                        <a:spcBef>
                          <a:spcPts val="0"/>
                        </a:spcBef>
                        <a:spcAft>
                          <a:spcPts val="0"/>
                        </a:spcAft>
                      </a:pPr>
                      <a:r>
                        <a:rPr lang="en-US" sz="1800" i="0" dirty="0">
                          <a:effectLst/>
                          <a:latin typeface="Franklin Gothic Book"/>
                          <a:ea typeface="Calibri" panose="020F0502020204030204" pitchFamily="34" charset="0"/>
                          <a:cs typeface="Times New Roman"/>
                        </a:rPr>
                        <a:t>Age</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0.2553</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0.135</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1.886</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0.06</a:t>
                      </a:r>
                    </a:p>
                  </a:txBody>
                  <a:tcPr marL="23881" marR="23881" marT="0" marB="0">
                    <a:lnL>
                      <a:noFill/>
                    </a:lnL>
                    <a:lnR>
                      <a:noFill/>
                    </a:lnR>
                    <a:lnT>
                      <a:noFill/>
                    </a:lnT>
                    <a:lnB>
                      <a:noFill/>
                    </a:lnB>
                  </a:tcPr>
                </a:tc>
                <a:extLst>
                  <a:ext uri="{0D108BD9-81ED-4DB2-BD59-A6C34878D82A}">
                    <a16:rowId xmlns:a16="http://schemas.microsoft.com/office/drawing/2014/main" val="4144273684"/>
                  </a:ext>
                </a:extLst>
              </a:tr>
              <a:tr h="321032">
                <a:tc>
                  <a:txBody>
                    <a:bodyPr/>
                    <a:lstStyle/>
                    <a:p>
                      <a:pPr marL="0" marR="0" algn="l">
                        <a:lnSpc>
                          <a:spcPct val="107000"/>
                        </a:lnSpc>
                        <a:spcBef>
                          <a:spcPts val="0"/>
                        </a:spcBef>
                        <a:spcAft>
                          <a:spcPts val="0"/>
                        </a:spcAft>
                      </a:pPr>
                      <a:r>
                        <a:rPr lang="en-US" sz="1800" i="0" dirty="0">
                          <a:effectLst/>
                          <a:latin typeface="Franklin Gothic Book"/>
                          <a:ea typeface="Calibri" panose="020F0502020204030204" pitchFamily="34" charset="0"/>
                          <a:cs typeface="Times New Roman"/>
                        </a:rPr>
                        <a:t>Large (Dummy)</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3.5507</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0.897</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3.958</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b="1" dirty="0">
                          <a:effectLst/>
                          <a:latin typeface="Franklin Gothic Book"/>
                          <a:ea typeface="Calibri" panose="020F0502020204030204" pitchFamily="34" charset="0"/>
                          <a:cs typeface="Times New Roman"/>
                        </a:rPr>
                        <a:t>&gt;0.001</a:t>
                      </a:r>
                      <a:endParaRPr lang="en-US" sz="1800" dirty="0">
                        <a:effectLst/>
                        <a:latin typeface="Franklin Gothic Book"/>
                        <a:ea typeface="Calibri" panose="020F0502020204030204" pitchFamily="34" charset="0"/>
                        <a:cs typeface="Times New Roman"/>
                      </a:endParaRPr>
                    </a:p>
                  </a:txBody>
                  <a:tcPr marL="23881" marR="23881" marT="0" marB="0">
                    <a:lnL>
                      <a:noFill/>
                    </a:lnL>
                    <a:lnR>
                      <a:noFill/>
                    </a:lnR>
                    <a:lnT>
                      <a:noFill/>
                    </a:lnT>
                    <a:lnB>
                      <a:noFill/>
                    </a:lnB>
                  </a:tcPr>
                </a:tc>
                <a:extLst>
                  <a:ext uri="{0D108BD9-81ED-4DB2-BD59-A6C34878D82A}">
                    <a16:rowId xmlns:a16="http://schemas.microsoft.com/office/drawing/2014/main" val="1718519443"/>
                  </a:ext>
                </a:extLst>
              </a:tr>
              <a:tr h="321032">
                <a:tc>
                  <a:txBody>
                    <a:bodyPr/>
                    <a:lstStyle/>
                    <a:p>
                      <a:pPr marL="0" marR="0" algn="l">
                        <a:lnSpc>
                          <a:spcPct val="107000"/>
                        </a:lnSpc>
                        <a:spcBef>
                          <a:spcPts val="0"/>
                        </a:spcBef>
                        <a:spcAft>
                          <a:spcPts val="0"/>
                        </a:spcAft>
                      </a:pPr>
                      <a:r>
                        <a:rPr lang="en-US" sz="1800" i="0" dirty="0">
                          <a:effectLst/>
                          <a:latin typeface="Franklin Gothic Book"/>
                          <a:ea typeface="Calibri" panose="020F0502020204030204" pitchFamily="34" charset="0"/>
                          <a:cs typeface="Times New Roman"/>
                        </a:rPr>
                        <a:t>Small (Dummy)</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-2.5819</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1.291</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-2.0</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0.046</a:t>
                      </a:r>
                    </a:p>
                  </a:txBody>
                  <a:tcPr marL="23881" marR="23881" marT="0" marB="0">
                    <a:lnL>
                      <a:noFill/>
                    </a:lnL>
                    <a:lnR>
                      <a:noFill/>
                    </a:lnR>
                    <a:lnT>
                      <a:noFill/>
                    </a:lnT>
                    <a:lnB>
                      <a:noFill/>
                    </a:lnB>
                  </a:tcPr>
                </a:tc>
                <a:extLst>
                  <a:ext uri="{0D108BD9-81ED-4DB2-BD59-A6C34878D82A}">
                    <a16:rowId xmlns:a16="http://schemas.microsoft.com/office/drawing/2014/main" val="450270380"/>
                  </a:ext>
                </a:extLst>
              </a:tr>
              <a:tr h="321032">
                <a:tc>
                  <a:txBody>
                    <a:bodyPr/>
                    <a:lstStyle/>
                    <a:p>
                      <a:pPr marL="0" marR="0" algn="l">
                        <a:lnSpc>
                          <a:spcPct val="107000"/>
                        </a:lnSpc>
                        <a:spcBef>
                          <a:spcPts val="0"/>
                        </a:spcBef>
                        <a:spcAft>
                          <a:spcPts val="0"/>
                        </a:spcAft>
                      </a:pPr>
                      <a:r>
                        <a:rPr lang="en-US" sz="1800" i="0" dirty="0">
                          <a:effectLst/>
                          <a:latin typeface="Franklin Gothic Book"/>
                          <a:ea typeface="Calibri" panose="020F0502020204030204" pitchFamily="34" charset="0"/>
                          <a:cs typeface="Times New Roman"/>
                        </a:rPr>
                        <a:t>Excitability</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-0.101</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0.167</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-0.605</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0.546</a:t>
                      </a:r>
                    </a:p>
                  </a:txBody>
                  <a:tcPr marL="23881" marR="23881" marT="0" marB="0">
                    <a:lnL>
                      <a:noFill/>
                    </a:lnL>
                    <a:lnR>
                      <a:noFill/>
                    </a:lnR>
                    <a:lnT>
                      <a:noFill/>
                    </a:lnT>
                    <a:lnB>
                      <a:noFill/>
                    </a:lnB>
                  </a:tcPr>
                </a:tc>
                <a:extLst>
                  <a:ext uri="{0D108BD9-81ED-4DB2-BD59-A6C34878D82A}">
                    <a16:rowId xmlns:a16="http://schemas.microsoft.com/office/drawing/2014/main" val="155123777"/>
                  </a:ext>
                </a:extLst>
              </a:tr>
              <a:tr h="321032">
                <a:tc>
                  <a:txBody>
                    <a:bodyPr/>
                    <a:lstStyle/>
                    <a:p>
                      <a:pPr marL="0" marR="0" algn="l">
                        <a:lnSpc>
                          <a:spcPct val="107000"/>
                        </a:lnSpc>
                        <a:spcBef>
                          <a:spcPts val="0"/>
                        </a:spcBef>
                        <a:spcAft>
                          <a:spcPts val="0"/>
                        </a:spcAft>
                      </a:pPr>
                      <a:r>
                        <a:rPr lang="en-US" sz="1800" i="0" dirty="0">
                          <a:effectLst/>
                          <a:latin typeface="Franklin Gothic Book"/>
                          <a:ea typeface="Calibri" panose="020F0502020204030204" pitchFamily="34" charset="0"/>
                          <a:cs typeface="Times New Roman"/>
                        </a:rPr>
                        <a:t>Total Commands Followed</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0.0075</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0.24</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0.031</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0.975</a:t>
                      </a:r>
                    </a:p>
                  </a:txBody>
                  <a:tcPr marL="23881" marR="23881" marT="0" marB="0">
                    <a:lnL>
                      <a:noFill/>
                    </a:lnL>
                    <a:lnR>
                      <a:noFill/>
                    </a:lnR>
                    <a:lnT>
                      <a:noFill/>
                    </a:lnT>
                    <a:lnB>
                      <a:noFill/>
                    </a:lnB>
                  </a:tcPr>
                </a:tc>
                <a:extLst>
                  <a:ext uri="{0D108BD9-81ED-4DB2-BD59-A6C34878D82A}">
                    <a16:rowId xmlns:a16="http://schemas.microsoft.com/office/drawing/2014/main" val="4196433864"/>
                  </a:ext>
                </a:extLst>
              </a:tr>
              <a:tr h="321032">
                <a:tc>
                  <a:txBody>
                    <a:bodyPr/>
                    <a:lstStyle/>
                    <a:p>
                      <a:pPr marL="0" marR="0" algn="l">
                        <a:lnSpc>
                          <a:spcPct val="107000"/>
                        </a:lnSpc>
                        <a:spcBef>
                          <a:spcPts val="0"/>
                        </a:spcBef>
                        <a:spcAft>
                          <a:spcPts val="0"/>
                        </a:spcAft>
                      </a:pPr>
                      <a:r>
                        <a:rPr lang="en-US" sz="1800" i="0" dirty="0">
                          <a:effectLst/>
                          <a:latin typeface="Franklin Gothic Book"/>
                          <a:ea typeface="Calibri" panose="020F0502020204030204" pitchFamily="34" charset="0"/>
                          <a:cs typeface="Times New Roman"/>
                        </a:rPr>
                        <a:t>Fearfulness</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0.1945</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0.139</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1.395</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0.163</a:t>
                      </a:r>
                    </a:p>
                  </a:txBody>
                  <a:tcPr marL="23881" marR="23881" marT="0" marB="0">
                    <a:lnL>
                      <a:noFill/>
                    </a:lnL>
                    <a:lnR>
                      <a:noFill/>
                    </a:lnR>
                    <a:lnT>
                      <a:noFill/>
                    </a:lnT>
                    <a:lnB>
                      <a:noFill/>
                    </a:lnB>
                  </a:tcPr>
                </a:tc>
                <a:extLst>
                  <a:ext uri="{0D108BD9-81ED-4DB2-BD59-A6C34878D82A}">
                    <a16:rowId xmlns:a16="http://schemas.microsoft.com/office/drawing/2014/main" val="3268798660"/>
                  </a:ext>
                </a:extLst>
              </a:tr>
              <a:tr h="321032">
                <a:tc>
                  <a:txBody>
                    <a:bodyPr/>
                    <a:lstStyle/>
                    <a:p>
                      <a:pPr marL="0" marR="0" algn="l">
                        <a:lnSpc>
                          <a:spcPct val="107000"/>
                        </a:lnSpc>
                        <a:spcBef>
                          <a:spcPts val="0"/>
                        </a:spcBef>
                        <a:spcAft>
                          <a:spcPts val="0"/>
                        </a:spcAft>
                      </a:pPr>
                      <a:r>
                        <a:rPr lang="en-US" sz="1800" i="0" dirty="0">
                          <a:effectLst/>
                          <a:latin typeface="Franklin Gothic Book"/>
                          <a:ea typeface="Calibri" panose="020F0502020204030204" pitchFamily="34" charset="0"/>
                          <a:cs typeface="Times New Roman"/>
                        </a:rPr>
                        <a:t>Dark Coloring (Dummy)</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-0.6674</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0.861</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-0.775</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0.439</a:t>
                      </a:r>
                    </a:p>
                  </a:txBody>
                  <a:tcPr marL="23881" marR="23881" marT="0" marB="0">
                    <a:lnL>
                      <a:noFill/>
                    </a:lnL>
                    <a:lnR>
                      <a:noFill/>
                    </a:lnR>
                    <a:lnT>
                      <a:noFill/>
                    </a:lnT>
                    <a:lnB>
                      <a:noFill/>
                    </a:lnB>
                  </a:tcPr>
                </a:tc>
                <a:extLst>
                  <a:ext uri="{0D108BD9-81ED-4DB2-BD59-A6C34878D82A}">
                    <a16:rowId xmlns:a16="http://schemas.microsoft.com/office/drawing/2014/main" val="3370531654"/>
                  </a:ext>
                </a:extLst>
              </a:tr>
              <a:tr h="546675">
                <a:tc>
                  <a:txBody>
                    <a:bodyPr/>
                    <a:lstStyle/>
                    <a:p>
                      <a:pPr marL="0" marR="0" algn="l">
                        <a:lnSpc>
                          <a:spcPct val="107000"/>
                        </a:lnSpc>
                        <a:spcBef>
                          <a:spcPts val="0"/>
                        </a:spcBef>
                        <a:spcAft>
                          <a:spcPts val="0"/>
                        </a:spcAft>
                      </a:pPr>
                      <a:r>
                        <a:rPr lang="en-US" sz="1800" i="0" dirty="0">
                          <a:effectLst/>
                          <a:latin typeface="Franklin Gothic Book"/>
                          <a:ea typeface="Calibri" panose="020F0502020204030204" pitchFamily="34" charset="0"/>
                          <a:cs typeface="Times New Roman"/>
                        </a:rPr>
                        <a:t>Medium Coloring (Dummy)</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-0.1969</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0.983</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-0.2</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0.841</a:t>
                      </a:r>
                    </a:p>
                  </a:txBody>
                  <a:tcPr marL="23881" marR="23881" marT="0" marB="0">
                    <a:lnL>
                      <a:noFill/>
                    </a:lnL>
                    <a:lnR>
                      <a:noFill/>
                    </a:lnR>
                    <a:lnT>
                      <a:noFill/>
                    </a:lnT>
                    <a:lnB>
                      <a:noFill/>
                    </a:lnB>
                  </a:tcPr>
                </a:tc>
                <a:extLst>
                  <a:ext uri="{0D108BD9-81ED-4DB2-BD59-A6C34878D82A}">
                    <a16:rowId xmlns:a16="http://schemas.microsoft.com/office/drawing/2014/main" val="656189339"/>
                  </a:ext>
                </a:extLst>
              </a:tr>
              <a:tr h="321032">
                <a:tc>
                  <a:txBody>
                    <a:bodyPr/>
                    <a:lstStyle/>
                    <a:p>
                      <a:pPr marL="0" marR="0" algn="l">
                        <a:lnSpc>
                          <a:spcPct val="107000"/>
                        </a:lnSpc>
                        <a:spcBef>
                          <a:spcPts val="0"/>
                        </a:spcBef>
                        <a:spcAft>
                          <a:spcPts val="0"/>
                        </a:spcAft>
                      </a:pPr>
                      <a:r>
                        <a:rPr lang="en-US" sz="1800" i="0" dirty="0">
                          <a:effectLst/>
                          <a:latin typeface="Franklin Gothic Book"/>
                          <a:ea typeface="Calibri" panose="020F0502020204030204" pitchFamily="34" charset="0"/>
                          <a:cs typeface="Times New Roman"/>
                        </a:rPr>
                        <a:t>Male (Dummy)</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1.0554</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0.751</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1.405</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0.16</a:t>
                      </a:r>
                    </a:p>
                  </a:txBody>
                  <a:tcPr marL="23881" marR="23881" marT="0" marB="0">
                    <a:lnL>
                      <a:noFill/>
                    </a:lnL>
                    <a:lnR>
                      <a:noFill/>
                    </a:lnR>
                    <a:lnT>
                      <a:noFill/>
                    </a:lnT>
                    <a:lnB>
                      <a:noFill/>
                    </a:lnB>
                  </a:tcPr>
                </a:tc>
                <a:extLst>
                  <a:ext uri="{0D108BD9-81ED-4DB2-BD59-A6C34878D82A}">
                    <a16:rowId xmlns:a16="http://schemas.microsoft.com/office/drawing/2014/main" val="1371331753"/>
                  </a:ext>
                </a:extLst>
              </a:tr>
              <a:tr h="436310">
                <a:tc>
                  <a:txBody>
                    <a:bodyPr/>
                    <a:lstStyle/>
                    <a:p>
                      <a:pPr marL="0" marR="0" algn="l">
                        <a:lnSpc>
                          <a:spcPct val="107000"/>
                        </a:lnSpc>
                        <a:spcBef>
                          <a:spcPts val="0"/>
                        </a:spcBef>
                        <a:spcAft>
                          <a:spcPts val="0"/>
                        </a:spcAft>
                      </a:pPr>
                      <a:r>
                        <a:rPr lang="en-US" sz="1800" i="0" dirty="0">
                          <a:effectLst/>
                          <a:latin typeface="Franklin Gothic Book"/>
                          <a:ea typeface="Calibri" panose="020F0502020204030204" pitchFamily="34" charset="0"/>
                          <a:cs typeface="Times New Roman"/>
                        </a:rPr>
                        <a:t>Purebred (Dummy)</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-0.0154</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0.832</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-0.019</a:t>
                      </a:r>
                    </a:p>
                  </a:txBody>
                  <a:tcPr marL="23881" marR="23881" marT="0" marB="0">
                    <a:lnL>
                      <a:noFill/>
                    </a:lnL>
                    <a:lnR>
                      <a:noFill/>
                    </a:lnR>
                    <a:lnT>
                      <a:noFill/>
                    </a:lnT>
                    <a:lnB>
                      <a:noFill/>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0.985</a:t>
                      </a:r>
                    </a:p>
                  </a:txBody>
                  <a:tcPr marL="23881" marR="23881" marT="0" marB="0">
                    <a:lnL>
                      <a:noFill/>
                    </a:lnL>
                    <a:lnR>
                      <a:noFill/>
                    </a:lnR>
                    <a:lnT>
                      <a:noFill/>
                    </a:lnT>
                    <a:lnB>
                      <a:noFill/>
                    </a:lnB>
                  </a:tcPr>
                </a:tc>
                <a:extLst>
                  <a:ext uri="{0D108BD9-81ED-4DB2-BD59-A6C34878D82A}">
                    <a16:rowId xmlns:a16="http://schemas.microsoft.com/office/drawing/2014/main" val="3046843117"/>
                  </a:ext>
                </a:extLst>
              </a:tr>
              <a:tr h="321032">
                <a:tc>
                  <a:txBody>
                    <a:bodyPr/>
                    <a:lstStyle/>
                    <a:p>
                      <a:pPr marL="0" marR="0" algn="l">
                        <a:lnSpc>
                          <a:spcPct val="107000"/>
                        </a:lnSpc>
                        <a:spcBef>
                          <a:spcPts val="0"/>
                        </a:spcBef>
                        <a:spcAft>
                          <a:spcPts val="0"/>
                        </a:spcAft>
                      </a:pPr>
                      <a:r>
                        <a:rPr lang="en-US" sz="1800" i="0" dirty="0">
                          <a:effectLst/>
                          <a:latin typeface="Franklin Gothic Book"/>
                          <a:ea typeface="Calibri" panose="020F0502020204030204" pitchFamily="34" charset="0"/>
                          <a:cs typeface="Times New Roman"/>
                        </a:rPr>
                        <a:t>Stray (Dummy)</a:t>
                      </a:r>
                    </a:p>
                  </a:txBody>
                  <a:tcPr marL="23881" marR="23881"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-3.0355</a:t>
                      </a:r>
                    </a:p>
                  </a:txBody>
                  <a:tcPr marL="23881" marR="23881"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0.938</a:t>
                      </a:r>
                    </a:p>
                  </a:txBody>
                  <a:tcPr marL="23881" marR="23881"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800" dirty="0">
                          <a:effectLst/>
                          <a:latin typeface="Franklin Gothic Book"/>
                          <a:ea typeface="Calibri" panose="020F0502020204030204" pitchFamily="34" charset="0"/>
                          <a:cs typeface="Times New Roman"/>
                        </a:rPr>
                        <a:t>-3.235</a:t>
                      </a:r>
                    </a:p>
                  </a:txBody>
                  <a:tcPr marL="23881" marR="23881"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800" b="1" dirty="0">
                          <a:effectLst/>
                          <a:latin typeface="Franklin Gothic Book"/>
                          <a:ea typeface="Calibri" panose="020F0502020204030204" pitchFamily="34" charset="0"/>
                          <a:cs typeface="Times New Roman"/>
                        </a:rPr>
                        <a:t>0.001</a:t>
                      </a:r>
                      <a:endParaRPr lang="en-US" sz="1800" dirty="0">
                        <a:effectLst/>
                        <a:latin typeface="Franklin Gothic Book"/>
                        <a:ea typeface="Calibri" panose="020F0502020204030204" pitchFamily="34" charset="0"/>
                        <a:cs typeface="Times New Roman"/>
                      </a:endParaRPr>
                    </a:p>
                  </a:txBody>
                  <a:tcPr marL="23881" marR="23881"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77361712"/>
                  </a:ext>
                </a:extLst>
              </a:tr>
            </a:tbl>
          </a:graphicData>
        </a:graphic>
      </p:graphicFrame>
      <p:sp>
        <p:nvSpPr>
          <p:cNvPr id="57" name="Reference Text - Franklin Gothic Book - 18"/>
          <p:cNvSpPr txBox="1"/>
          <p:nvPr/>
        </p:nvSpPr>
        <p:spPr>
          <a:xfrm>
            <a:off x="2014274" y="6638272"/>
            <a:ext cx="7967615" cy="1061829"/>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lvl1pPr algn="l" defTabSz="1314450">
              <a:defRPr sz="1800" b="0">
                <a:latin typeface="ITC Franklin Gothic Std"/>
                <a:ea typeface="ITC Franklin Gothic Std"/>
                <a:cs typeface="ITC Franklin Gothic Std"/>
                <a:sym typeface="ITC Franklin Gothic Std"/>
              </a:defRPr>
            </a:lvl1pPr>
          </a:lstStyle>
          <a:p>
            <a:r>
              <a:rPr lang="en-US" dirty="0">
                <a:latin typeface="ITC Franklin Gothic Std Book"/>
                <a:cs typeface="ITC Franklin Gothic Std Book"/>
              </a:rPr>
              <a:t>This poster outlines work conducted at Indiana University, and published in </a:t>
            </a:r>
            <a:r>
              <a:rPr lang="en-US" i="1" dirty="0">
                <a:latin typeface="ITC Franklin Gothic Std Book"/>
                <a:cs typeface="ITC Franklin Gothic Std Book"/>
              </a:rPr>
              <a:t>Behavior Research Methods </a:t>
            </a:r>
            <a:r>
              <a:rPr lang="en-US" dirty="0">
                <a:latin typeface="ITC Franklin Gothic Std Book"/>
                <a:cs typeface="ITC Franklin Gothic Std Book"/>
              </a:rPr>
              <a:t>in 2019. Scan the QR code to read the paper without a subscription.</a:t>
            </a:r>
            <a:endParaRPr dirty="0">
              <a:latin typeface="ITC Franklin Gothic Std Book"/>
              <a:cs typeface="ITC Franklin Gothic Std Book"/>
            </a:endParaRPr>
          </a:p>
        </p:txBody>
      </p:sp>
      <p:sp>
        <p:nvSpPr>
          <p:cNvPr id="66" name="Subhead - Franklin Gothic Demi - 28"/>
          <p:cNvSpPr txBox="1"/>
          <p:nvPr/>
        </p:nvSpPr>
        <p:spPr>
          <a:xfrm>
            <a:off x="11857326" y="10972776"/>
            <a:ext cx="9136793" cy="1092607"/>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r>
              <a:rPr lang="en-US" dirty="0"/>
              <a:t>Administrative data suggests most dog traits have little influence on length of stay.</a:t>
            </a:r>
          </a:p>
        </p:txBody>
      </p:sp>
      <p:sp>
        <p:nvSpPr>
          <p:cNvPr id="69" name="Body Text - Franklin Gothic Book - 22"/>
          <p:cNvSpPr txBox="1"/>
          <p:nvPr/>
        </p:nvSpPr>
        <p:spPr>
          <a:xfrm>
            <a:off x="947474" y="11657139"/>
            <a:ext cx="9034415" cy="9253670"/>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lvl1pPr algn="l" defTabSz="1314450">
              <a:defRPr sz="2200" b="0">
                <a:latin typeface="ITC Franklin Gothic Std"/>
                <a:ea typeface="ITC Franklin Gothic Std"/>
                <a:cs typeface="ITC Franklin Gothic Std"/>
                <a:sym typeface="ITC Franklin Gothic Std"/>
              </a:defRPr>
            </a:lvl1pPr>
          </a:lstStyle>
          <a:p>
            <a:pPr algn="ctr"/>
            <a:r>
              <a:rPr lang="en-US" sz="3200" b="1" dirty="0">
                <a:solidFill>
                  <a:schemeClr val="tx1"/>
                </a:solidFill>
                <a:latin typeface="ITC Franklin Gothic Std Book"/>
              </a:rPr>
              <a:t>Method</a:t>
            </a:r>
            <a:endParaRPr lang="en-US" sz="3200" b="1" dirty="0">
              <a:solidFill>
                <a:srgbClr val="002060"/>
              </a:solidFill>
              <a:latin typeface="ITC Franklin Gothic Std Book"/>
            </a:endParaRPr>
          </a:p>
          <a:p>
            <a:pPr>
              <a:lnSpc>
                <a:spcPct val="150000"/>
              </a:lnSpc>
            </a:pPr>
            <a:r>
              <a:rPr lang="en-US" sz="2800" u="sng" dirty="0">
                <a:latin typeface="ITC Franklin Gothic Std Book"/>
              </a:rPr>
              <a:t>Administrative Data and Revealed Preferences</a:t>
            </a:r>
            <a:endParaRPr lang="en-US" u="sng" dirty="0"/>
          </a:p>
          <a:p>
            <a:pPr marL="342900" indent="-342900">
              <a:buFont typeface="Arial" panose="020B0604020202020204" pitchFamily="34" charset="0"/>
              <a:buChar char="•"/>
            </a:pPr>
            <a:r>
              <a:rPr lang="en-US" dirty="0">
                <a:latin typeface="ITC Franklin Gothic Std Book"/>
                <a:cs typeface="ITC Franklin Gothic Std Book"/>
              </a:rPr>
              <a:t>Worked with a Midwestern animal shelter in 2017-2018.</a:t>
            </a:r>
          </a:p>
          <a:p>
            <a:pPr marL="342900" indent="-342900">
              <a:buFont typeface="Arial" panose="020B0604020202020204" pitchFamily="34" charset="0"/>
              <a:buChar char="•"/>
            </a:pPr>
            <a:r>
              <a:rPr lang="en-US" dirty="0">
                <a:latin typeface="ITC Franklin Gothic Std Book"/>
                <a:cs typeface="ITC Franklin Gothic Std Book"/>
              </a:rPr>
              <a:t>Used data stored in existing animal management software, including behavior, appearance, and length of stay.</a:t>
            </a:r>
          </a:p>
          <a:p>
            <a:pPr marL="342900" indent="-342900">
              <a:buFont typeface="Arial" panose="020B0604020202020204" pitchFamily="34" charset="0"/>
              <a:buChar char="•"/>
            </a:pPr>
            <a:r>
              <a:rPr lang="en-US" sz="100" dirty="0">
                <a:latin typeface="ITC Franklin Gothic Std Book"/>
                <a:cs typeface="ITC Franklin Gothic Std Book"/>
              </a:rPr>
              <a:t> </a:t>
            </a:r>
            <a:r>
              <a:rPr lang="en-US" sz="100" b="0" dirty="0">
                <a:latin typeface="ITC Franklin Gothic Std Book"/>
                <a:cs typeface="ITC Franklin Gothic Std Book"/>
              </a:rPr>
              <a:t>Animal Shelter Manager</a:t>
            </a:r>
          </a:p>
          <a:p>
            <a:pPr marL="171450" indent="-171450">
              <a:buFont typeface="Arial" panose="020B0604020202020204" pitchFamily="34" charset="0"/>
              <a:buChar char="•"/>
            </a:pPr>
            <a:endParaRPr lang="en-US" sz="100" b="0" dirty="0">
              <a:latin typeface="ITC Franklin Gothic Std Book"/>
              <a:cs typeface="ITC Franklin Gothic Std Book"/>
            </a:endParaRPr>
          </a:p>
          <a:p>
            <a:pPr marL="171450" indent="-171450">
              <a:buFont typeface="Arial" panose="020B0604020202020204" pitchFamily="34" charset="0"/>
              <a:buChar char="•"/>
            </a:pPr>
            <a:endParaRPr lang="en-US" sz="100" b="0" dirty="0">
              <a:latin typeface="ITC Franklin Gothic Std Book"/>
              <a:cs typeface="ITC Franklin Gothic Std Book"/>
            </a:endParaRPr>
          </a:p>
          <a:p>
            <a:pPr marL="342900" indent="-342900">
              <a:buFont typeface="Arial" panose="020B0604020202020204" pitchFamily="34" charset="0"/>
              <a:buChar char="•"/>
            </a:pPr>
            <a:r>
              <a:rPr lang="en-US" dirty="0">
                <a:latin typeface="ITC Franklin Gothic Std Book"/>
                <a:cs typeface="ITC Franklin Gothic Std Book"/>
              </a:rPr>
              <a:t>Length of stay is an indicator of </a:t>
            </a:r>
            <a:r>
              <a:rPr lang="en-US" i="1" dirty="0">
                <a:latin typeface="ITC Franklin Gothic Std Book"/>
                <a:cs typeface="ITC Franklin Gothic Std Book"/>
              </a:rPr>
              <a:t>revealed </a:t>
            </a:r>
            <a:r>
              <a:rPr lang="en-US" dirty="0">
                <a:latin typeface="ITC Franklin Gothic Std Book"/>
                <a:cs typeface="ITC Franklin Gothic Std Book"/>
              </a:rPr>
              <a:t>demand—dogs with more preferred traits are adopted fastest.</a:t>
            </a:r>
          </a:p>
          <a:p>
            <a:pPr marL="342900" indent="-342900">
              <a:buFont typeface="Arial" panose="020B0604020202020204" pitchFamily="34" charset="0"/>
              <a:buChar char="•"/>
            </a:pPr>
            <a:r>
              <a:rPr lang="en-US" dirty="0">
                <a:latin typeface="ITC Franklin Gothic Std Book"/>
                <a:cs typeface="ITC Franklin Gothic Std Book"/>
              </a:rPr>
              <a:t>Linear regression predicting length of stay based 1060 stays of 904 dogs based on traits stored in Match-Up II®.</a:t>
            </a:r>
          </a:p>
          <a:p>
            <a:pPr>
              <a:lnSpc>
                <a:spcPct val="150000"/>
              </a:lnSpc>
            </a:pPr>
            <a:r>
              <a:rPr lang="en-US" sz="2800" u="sng" dirty="0">
                <a:latin typeface="ITC Franklin Gothic Std Book"/>
                <a:cs typeface="ITC Franklin Gothic Std Book"/>
              </a:rPr>
              <a:t>Stated Preferences and Experimental Data</a:t>
            </a:r>
          </a:p>
          <a:p>
            <a:pPr marL="342900" indent="-342900">
              <a:buFont typeface="Arial" panose="020B0604020202020204" pitchFamily="34" charset="0"/>
              <a:buChar char="•"/>
            </a:pPr>
            <a:r>
              <a:rPr lang="en-US" dirty="0">
                <a:latin typeface="ITC Franklin Gothic Std Book"/>
                <a:cs typeface="ITC Franklin Gothic Std Book"/>
              </a:rPr>
              <a:t>In same animal shelter, incoming canine visitors completed a voluntary survey of </a:t>
            </a:r>
            <a:r>
              <a:rPr lang="en-US" i="1" dirty="0">
                <a:latin typeface="ITC Franklin Gothic Std Book"/>
                <a:cs typeface="ITC Franklin Gothic Std Book"/>
              </a:rPr>
              <a:t>stated </a:t>
            </a:r>
            <a:r>
              <a:rPr lang="en-US" dirty="0">
                <a:latin typeface="ITC Franklin Gothic Std Book"/>
                <a:cs typeface="ITC Franklin Gothic Std Book"/>
              </a:rPr>
              <a:t>preferences for an adoptable dog (</a:t>
            </a:r>
            <a:r>
              <a:rPr lang="en-US" i="1" dirty="0">
                <a:latin typeface="ITC Franklin Gothic Std Book"/>
                <a:cs typeface="ITC Franklin Gothic Std Book"/>
              </a:rPr>
              <a:t>n</a:t>
            </a:r>
            <a:r>
              <a:rPr lang="en-US" dirty="0">
                <a:latin typeface="ITC Franklin Gothic Std Book"/>
                <a:cs typeface="ITC Franklin Gothic Std Book"/>
              </a:rPr>
              <a:t> = 1229).</a:t>
            </a:r>
          </a:p>
          <a:p>
            <a:pPr marL="342900" indent="-342900">
              <a:buFont typeface="Arial" panose="020B0604020202020204" pitchFamily="34" charset="0"/>
              <a:buChar char="•"/>
            </a:pPr>
            <a:r>
              <a:rPr lang="en-US" dirty="0">
                <a:latin typeface="ITC Franklin Gothic Std Book"/>
                <a:cs typeface="ITC Franklin Gothic Std Book"/>
              </a:rPr>
              <a:t>Survey consisted of 13 traits, where participants could state either no preference, or up to </a:t>
            </a:r>
            <a:r>
              <a:rPr lang="en-US" i="1" dirty="0">
                <a:latin typeface="ITC Franklin Gothic Std Book"/>
                <a:cs typeface="ITC Franklin Gothic Std Book"/>
              </a:rPr>
              <a:t>x</a:t>
            </a:r>
            <a:r>
              <a:rPr lang="en-US" dirty="0">
                <a:latin typeface="ITC Franklin Gothic Std Book"/>
                <a:cs typeface="ITC Franklin Gothic Std Book"/>
              </a:rPr>
              <a:t>-1 of </a:t>
            </a:r>
            <a:r>
              <a:rPr lang="en-US" i="1" dirty="0">
                <a:latin typeface="ITC Franklin Gothic Std Book"/>
                <a:cs typeface="ITC Franklin Gothic Std Book"/>
              </a:rPr>
              <a:t>x</a:t>
            </a:r>
            <a:r>
              <a:rPr lang="en-US" dirty="0">
                <a:latin typeface="ITC Franklin Gothic Std Book"/>
                <a:cs typeface="ITC Franklin Gothic Std Book"/>
              </a:rPr>
              <a:t> trait levels.</a:t>
            </a:r>
          </a:p>
          <a:p>
            <a:pPr>
              <a:lnSpc>
                <a:spcPct val="150000"/>
              </a:lnSpc>
            </a:pPr>
            <a:r>
              <a:rPr lang="en-US" sz="2800" u="sng" dirty="0">
                <a:latin typeface="ITC Franklin Gothic Std Book"/>
                <a:cs typeface="ITC Franklin Gothic Std Book"/>
              </a:rPr>
              <a:t>Adopted Dog Ratings                                  </a:t>
            </a:r>
            <a:endParaRPr lang="en-US" sz="7200" u="sng" dirty="0">
              <a:latin typeface="ITC Franklin Gothic Std Book"/>
              <a:cs typeface="ITC Franklin Gothic Std Book"/>
            </a:endParaRPr>
          </a:p>
          <a:p>
            <a:pPr marL="342900" indent="-342900">
              <a:lnSpc>
                <a:spcPct val="150000"/>
              </a:lnSpc>
              <a:buFont typeface="Arial" panose="020B0604020202020204" pitchFamily="34" charset="0"/>
              <a:buChar char="•"/>
            </a:pPr>
            <a:r>
              <a:rPr lang="en-US" dirty="0">
                <a:latin typeface="ITC Franklin Gothic Std Book"/>
                <a:cs typeface="ITC Franklin Gothic Std Book"/>
              </a:rPr>
              <a:t>145 individuals decided to adopt a dog after visiting.</a:t>
            </a:r>
          </a:p>
          <a:p>
            <a:pPr marL="342900" indent="-342900">
              <a:buFont typeface="Arial" panose="020B0604020202020204" pitchFamily="34" charset="0"/>
              <a:buChar char="•"/>
            </a:pPr>
            <a:r>
              <a:rPr lang="en-US" dirty="0">
                <a:latin typeface="ITC Franklin Gothic Std Book"/>
                <a:cs typeface="ITC Franklin Gothic Std Book"/>
              </a:rPr>
              <a:t>These individuals rated their chosen dogs on 45 traits on a 1 to 5 Likert scale.</a:t>
            </a:r>
          </a:p>
          <a:p>
            <a:pPr marL="342900" indent="-342900">
              <a:buFont typeface="Arial" panose="020B0604020202020204" pitchFamily="34" charset="0"/>
              <a:buChar char="•"/>
            </a:pPr>
            <a:r>
              <a:rPr lang="en-US" dirty="0">
                <a:latin typeface="ITC Franklin Gothic Std Book"/>
                <a:cs typeface="ITC Franklin Gothic Std Book"/>
              </a:rPr>
              <a:t>102 of these individuals also had associated Match-Up II records.</a:t>
            </a:r>
          </a:p>
          <a:p>
            <a:pPr marL="342900" indent="-342900">
              <a:buFont typeface="Arial" panose="020B0604020202020204" pitchFamily="34" charset="0"/>
              <a:buChar char="•"/>
            </a:pPr>
            <a:endParaRPr lang="en-US" dirty="0">
              <a:latin typeface="ITC Franklin Gothic Std Book"/>
              <a:cs typeface="ITC Franklin Gothic Std Book"/>
            </a:endParaRPr>
          </a:p>
          <a:p>
            <a:endParaRPr lang="en-US" dirty="0">
              <a:latin typeface="ITC Franklin Gothic Std Book"/>
              <a:cs typeface="ITC Franklin Gothic Std Book"/>
            </a:endParaRPr>
          </a:p>
        </p:txBody>
      </p:sp>
      <p:sp>
        <p:nvSpPr>
          <p:cNvPr id="71" name="Body Text - Franklin Gothic Book - 22"/>
          <p:cNvSpPr txBox="1"/>
          <p:nvPr/>
        </p:nvSpPr>
        <p:spPr>
          <a:xfrm>
            <a:off x="-12994355" y="20708438"/>
            <a:ext cx="8403930" cy="569387"/>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lvl1pPr algn="l" defTabSz="1314450">
              <a:defRPr sz="2200" b="0">
                <a:latin typeface="ITC Franklin Gothic Std"/>
                <a:ea typeface="ITC Franklin Gothic Std"/>
                <a:cs typeface="ITC Franklin Gothic Std"/>
                <a:sym typeface="ITC Franklin Gothic Std"/>
              </a:defRPr>
            </a:lvl1pPr>
          </a:lstStyle>
          <a:p>
            <a:pPr algn="ctr"/>
            <a:endParaRPr lang="en-US" dirty="0">
              <a:latin typeface="ITC Franklin Gothic Std Book"/>
              <a:cs typeface="ITC Franklin Gothic Std Book"/>
            </a:endParaRPr>
          </a:p>
        </p:txBody>
      </p:sp>
      <p:sp>
        <p:nvSpPr>
          <p:cNvPr id="5" name="Rectangle 4"/>
          <p:cNvSpPr/>
          <p:nvPr/>
        </p:nvSpPr>
        <p:spPr>
          <a:xfrm>
            <a:off x="11659615" y="18562279"/>
            <a:ext cx="9135873" cy="954107"/>
          </a:xfrm>
          <a:prstGeom prst="rect">
            <a:avLst/>
          </a:prstGeom>
        </p:spPr>
        <p:txBody>
          <a:bodyPr wrap="square">
            <a:spAutoFit/>
          </a:bodyPr>
          <a:lstStyle/>
          <a:p>
            <a:pPr algn="l"/>
            <a:r>
              <a:rPr lang="en-US" sz="2800" b="0" dirty="0">
                <a:latin typeface="Franklin Gothic Book" panose="020B0503020102020204" pitchFamily="34" charset="0"/>
              </a:rPr>
              <a:t>On surveys, visitors do have preferences on these traits. Preferences were not always linear nor universal. </a:t>
            </a:r>
          </a:p>
        </p:txBody>
      </p:sp>
      <p:sp>
        <p:nvSpPr>
          <p:cNvPr id="30" name="Subhead - Franklin Gothic Demi - 28"/>
          <p:cNvSpPr txBox="1"/>
          <p:nvPr/>
        </p:nvSpPr>
        <p:spPr>
          <a:xfrm>
            <a:off x="11857327" y="23854072"/>
            <a:ext cx="9136793" cy="5401479"/>
          </a:xfrm>
          <a:prstGeom prst="rect">
            <a:avLst/>
          </a:prstGeom>
          <a:ln w="12700">
            <a:noFill/>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r>
              <a:rPr lang="en-US" dirty="0"/>
              <a:t>Ratings by actual adopters do not align well with those in administrative data.</a:t>
            </a:r>
          </a:p>
          <a:p>
            <a:endParaRPr lang="en-US" dirty="0"/>
          </a:p>
          <a:p>
            <a:pPr algn="ctr">
              <a:lnSpc>
                <a:spcPct val="150000"/>
              </a:lnSpc>
            </a:pPr>
            <a:r>
              <a:rPr lang="en-US" sz="3200" b="1" dirty="0"/>
              <a:t>Summary</a:t>
            </a:r>
          </a:p>
          <a:p>
            <a:r>
              <a:rPr lang="en-US" dirty="0"/>
              <a:t>Because human preferences are non-linear and idiosyncratic, typical linear regression models may mask the influence of traits on adoption. in addition, it is unclear that administrative data aligns with visitor experiences, limiting existing data’s potential role in matching visitors to adoptable dogs. </a:t>
            </a:r>
            <a:br>
              <a:rPr lang="en-US" sz="3600" dirty="0"/>
            </a:br>
            <a:endParaRPr lang="en-US" sz="3600" dirty="0"/>
          </a:p>
        </p:txBody>
      </p:sp>
      <p:sp>
        <p:nvSpPr>
          <p:cNvPr id="6" name="TextBox 5"/>
          <p:cNvSpPr txBox="1"/>
          <p:nvPr/>
        </p:nvSpPr>
        <p:spPr>
          <a:xfrm>
            <a:off x="11857327" y="4264243"/>
            <a:ext cx="9033635" cy="15581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a:lnSpc>
                <a:spcPct val="150000"/>
              </a:lnSpc>
            </a:pPr>
            <a:r>
              <a:rPr lang="en-US" sz="3200" dirty="0">
                <a:solidFill>
                  <a:schemeClr val="tx1"/>
                </a:solidFill>
                <a:latin typeface="ITC Franklin Gothic Std Book"/>
              </a:rPr>
              <a:t>Results</a:t>
            </a:r>
            <a:endParaRPr kumimoji="0" lang="en-US" sz="3200" b="0" i="0" u="none" strike="noStrike" cap="none" spc="0" normalizeH="0" baseline="0" dirty="0">
              <a:ln>
                <a:noFill/>
              </a:ln>
              <a:solidFill>
                <a:srgbClr val="000000"/>
              </a:solidFill>
              <a:effectLst/>
              <a:uFillTx/>
              <a:latin typeface="ITC Franklin Gothic Std Book"/>
              <a:sym typeface="Helvetica Neue"/>
            </a:endParaRPr>
          </a:p>
          <a:p>
            <a:pPr marL="0" marR="0" indent="0" algn="l" defTabSz="1971675" rtl="0" fontAlgn="auto" latinLnBrk="0" hangingPunct="0">
              <a:lnSpc>
                <a:spcPct val="150000"/>
              </a:lnSpc>
              <a:spcBef>
                <a:spcPts val="0"/>
              </a:spcBef>
              <a:spcAft>
                <a:spcPts val="0"/>
              </a:spcAft>
              <a:buClrTx/>
              <a:buSzTx/>
              <a:buFontTx/>
              <a:buNone/>
              <a:tabLst/>
            </a:pPr>
            <a:r>
              <a:rPr kumimoji="0" lang="en-US" sz="2800" b="0" i="0" u="none" strike="noStrike" cap="none" spc="0" normalizeH="0" baseline="0" dirty="0">
                <a:ln>
                  <a:noFill/>
                </a:ln>
                <a:solidFill>
                  <a:srgbClr val="000000"/>
                </a:solidFill>
                <a:effectLst/>
                <a:uFillTx/>
                <a:latin typeface="Franklin Gothic Book" panose="020B0503020102020204" pitchFamily="34" charset="0"/>
                <a:sym typeface="Helvetica Neue"/>
              </a:rPr>
              <a:t>What traits in administrative data</a:t>
            </a:r>
            <a:r>
              <a:rPr kumimoji="0" lang="en-US" sz="2800" b="0" i="0" u="none" strike="noStrike" cap="none" spc="0" normalizeH="0" dirty="0">
                <a:ln>
                  <a:noFill/>
                </a:ln>
                <a:solidFill>
                  <a:srgbClr val="000000"/>
                </a:solidFill>
                <a:effectLst/>
                <a:uFillTx/>
                <a:latin typeface="Franklin Gothic Book" panose="020B0503020102020204" pitchFamily="34" charset="0"/>
                <a:sym typeface="Helvetica Neue"/>
              </a:rPr>
              <a:t> predict length of stay?</a:t>
            </a:r>
            <a:endParaRPr kumimoji="0" lang="en-US" sz="2800" b="0" i="0" u="none" strike="noStrike" cap="none" spc="0" normalizeH="0" baseline="0" dirty="0">
              <a:ln>
                <a:noFill/>
              </a:ln>
              <a:solidFill>
                <a:srgbClr val="000000"/>
              </a:solidFill>
              <a:effectLst/>
              <a:uFillTx/>
              <a:latin typeface="Franklin Gothic Book" panose="020B0503020102020204" pitchFamily="34" charset="0"/>
              <a:sym typeface="Helvetica Neue"/>
            </a:endParaRPr>
          </a:p>
        </p:txBody>
      </p:sp>
      <p:sp>
        <p:nvSpPr>
          <p:cNvPr id="32" name="TextBox 31"/>
          <p:cNvSpPr txBox="1"/>
          <p:nvPr/>
        </p:nvSpPr>
        <p:spPr>
          <a:xfrm>
            <a:off x="11659615" y="12506282"/>
            <a:ext cx="8939026" cy="6040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l" defTabSz="1971675"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000000"/>
                </a:solidFill>
                <a:effectLst/>
                <a:uFillTx/>
                <a:latin typeface="Franklin Gothic Book" panose="020B0503020102020204" pitchFamily="34" charset="0"/>
                <a:sym typeface="Helvetica Neue"/>
              </a:rPr>
              <a:t>What traits do visitors say they prefer?</a:t>
            </a:r>
          </a:p>
        </p:txBody>
      </p:sp>
      <p:sp>
        <p:nvSpPr>
          <p:cNvPr id="21" name="Body Text - Franklin Gothic Book - 22"/>
          <p:cNvSpPr txBox="1"/>
          <p:nvPr/>
        </p:nvSpPr>
        <p:spPr>
          <a:xfrm>
            <a:off x="947474" y="8130275"/>
            <a:ext cx="9034415" cy="3093154"/>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lvl1pPr algn="l" defTabSz="1314450">
              <a:defRPr sz="2200" b="0">
                <a:latin typeface="ITC Franklin Gothic Std"/>
                <a:ea typeface="ITC Franklin Gothic Std"/>
                <a:cs typeface="ITC Franklin Gothic Std"/>
                <a:sym typeface="ITC Franklin Gothic Std"/>
              </a:defRPr>
            </a:lvl1pPr>
          </a:lstStyle>
          <a:p>
            <a:pPr algn="ctr"/>
            <a:r>
              <a:rPr lang="en-US" sz="3200" b="1" dirty="0">
                <a:solidFill>
                  <a:schemeClr val="tx1"/>
                </a:solidFill>
                <a:latin typeface="ITC Franklin Gothic Std Book"/>
              </a:rPr>
              <a:t>What Data Do Animal Shelters Produce? </a:t>
            </a:r>
          </a:p>
          <a:p>
            <a:pPr marL="342900" indent="-342900">
              <a:buFont typeface="Arial"/>
              <a:buChar char="•"/>
            </a:pPr>
            <a:r>
              <a:rPr lang="en-US" dirty="0">
                <a:solidFill>
                  <a:schemeClr val="tx1"/>
                </a:solidFill>
                <a:latin typeface="Franklin Gothic Book" panose="020B0503020102020204" pitchFamily="34" charset="0"/>
              </a:rPr>
              <a:t>Visitation Data—Typical experience, peak visiting hours/days</a:t>
            </a:r>
          </a:p>
          <a:p>
            <a:pPr marL="342900" indent="-342900">
              <a:buFont typeface="Arial"/>
              <a:buChar char="•"/>
            </a:pPr>
            <a:r>
              <a:rPr lang="en-US" dirty="0">
                <a:solidFill>
                  <a:schemeClr val="tx1"/>
                </a:solidFill>
                <a:latin typeface="Franklin Gothic Book" panose="020B0503020102020204" pitchFamily="34" charset="0"/>
              </a:rPr>
              <a:t>Shelter Management Software—Environment variables influencing adoption rates, movement throughout the shelter, photos, health</a:t>
            </a:r>
          </a:p>
          <a:p>
            <a:pPr marL="342900" indent="-342900">
              <a:buFont typeface="Arial"/>
              <a:buChar char="•"/>
            </a:pPr>
            <a:r>
              <a:rPr lang="en-US" dirty="0">
                <a:solidFill>
                  <a:schemeClr val="tx1"/>
                </a:solidFill>
                <a:latin typeface="Franklin Gothic Book" panose="020B0503020102020204" pitchFamily="34" charset="0"/>
              </a:rPr>
              <a:t>Online Matching Services (e.g. </a:t>
            </a:r>
            <a:r>
              <a:rPr lang="en-US" dirty="0" err="1">
                <a:solidFill>
                  <a:schemeClr val="tx1"/>
                </a:solidFill>
                <a:latin typeface="Franklin Gothic Book" panose="020B0503020102020204" pitchFamily="34" charset="0"/>
              </a:rPr>
              <a:t>Petfinder</a:t>
            </a:r>
            <a:r>
              <a:rPr lang="en-US" dirty="0">
                <a:solidFill>
                  <a:schemeClr val="tx1"/>
                </a:solidFill>
                <a:latin typeface="Franklin Gothic Book" panose="020B0503020102020204" pitchFamily="34" charset="0"/>
              </a:rPr>
              <a:t>®)—Photos, lengths of stay, text descriptions; engagement by users, out of area interest</a:t>
            </a:r>
          </a:p>
          <a:p>
            <a:pPr marL="342900" indent="-342900">
              <a:buFont typeface="Arial"/>
              <a:buChar char="•"/>
            </a:pPr>
            <a:r>
              <a:rPr lang="en-US" dirty="0">
                <a:solidFill>
                  <a:schemeClr val="tx1"/>
                </a:solidFill>
                <a:latin typeface="Franklin Gothic Book" panose="020B0503020102020204" pitchFamily="34" charset="0"/>
              </a:rPr>
              <a:t>Behavioral evaluations—Response of an animal to situations and stimuli, “personality” and temperament</a:t>
            </a:r>
          </a:p>
        </p:txBody>
      </p:sp>
      <p:sp>
        <p:nvSpPr>
          <p:cNvPr id="35" name="TextBox 34"/>
          <p:cNvSpPr txBox="1"/>
          <p:nvPr/>
        </p:nvSpPr>
        <p:spPr>
          <a:xfrm>
            <a:off x="11857327" y="19783800"/>
            <a:ext cx="9033635" cy="10348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l" defTabSz="1971675" rtl="0" fontAlgn="auto" latinLnBrk="0" hangingPunct="0">
              <a:lnSpc>
                <a:spcPct val="100000"/>
              </a:lnSpc>
              <a:spcBef>
                <a:spcPts val="0"/>
              </a:spcBef>
              <a:spcAft>
                <a:spcPts val="0"/>
              </a:spcAft>
              <a:buClrTx/>
              <a:buSzTx/>
              <a:buFontTx/>
              <a:buNone/>
              <a:tabLst/>
            </a:pPr>
            <a:r>
              <a:rPr kumimoji="0" lang="en-US" sz="2800" b="0" i="0" strike="noStrike" cap="none" spc="0" normalizeH="0" baseline="0" dirty="0">
                <a:ln>
                  <a:noFill/>
                </a:ln>
                <a:solidFill>
                  <a:srgbClr val="000000"/>
                </a:solidFill>
                <a:effectLst/>
                <a:uFillTx/>
                <a:latin typeface="Franklin Gothic Book" panose="020B0503020102020204" pitchFamily="34" charset="0"/>
                <a:sym typeface="Helvetica Neue"/>
              </a:rPr>
              <a:t>Are administrative data good predictors of visitor</a:t>
            </a:r>
            <a:r>
              <a:rPr kumimoji="0" lang="en-US" sz="2800" b="0" i="0" strike="noStrike" cap="none" spc="0" normalizeH="0" dirty="0">
                <a:ln>
                  <a:noFill/>
                </a:ln>
                <a:solidFill>
                  <a:srgbClr val="000000"/>
                </a:solidFill>
                <a:effectLst/>
                <a:uFillTx/>
                <a:latin typeface="Franklin Gothic Book" panose="020B0503020102020204" pitchFamily="34" charset="0"/>
                <a:sym typeface="Helvetica Neue"/>
              </a:rPr>
              <a:t> perceptions?</a:t>
            </a:r>
            <a:endParaRPr kumimoji="0" lang="en-US" sz="2800" b="0" i="0" strike="noStrike" cap="none" spc="0" normalizeH="0" baseline="0" dirty="0">
              <a:ln>
                <a:noFill/>
              </a:ln>
              <a:solidFill>
                <a:srgbClr val="000000"/>
              </a:solidFill>
              <a:effectLst/>
              <a:uFillTx/>
              <a:latin typeface="Franklin Gothic Book" panose="020B0503020102020204" pitchFamily="34" charset="0"/>
              <a:sym typeface="Helvetica Neue"/>
            </a:endParaRPr>
          </a:p>
        </p:txBody>
      </p:sp>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2925" y="21510451"/>
            <a:ext cx="8365575" cy="11741157"/>
          </a:xfrm>
          <a:prstGeom prst="rect">
            <a:avLst/>
          </a:prstGeom>
        </p:spPr>
      </p:pic>
      <p:pic>
        <p:nvPicPr>
          <p:cNvPr id="11" name="Picture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7474" y="6590880"/>
            <a:ext cx="887793" cy="1154131"/>
          </a:xfrm>
          <a:prstGeom prst="rect">
            <a:avLst/>
          </a:prstGeom>
        </p:spPr>
      </p:pic>
    </p:spTree>
    <p:extLst>
      <p:ext uri="{BB962C8B-B14F-4D97-AF65-F5344CB8AC3E}">
        <p14:creationId xmlns:p14="http://schemas.microsoft.com/office/powerpoint/2010/main" val="1061454488"/>
      </p:ext>
    </p:extLst>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6A4292D8-7FC1-45E7-ADFE-C8F106505B4D}"/>
</file>

<file path=customXml/itemProps2.xml><?xml version="1.0" encoding="utf-8"?>
<ds:datastoreItem xmlns:ds="http://schemas.openxmlformats.org/officeDocument/2006/customXml" ds:itemID="{B12FAB8A-DBEB-4446-983B-678ABAA8B78C}"/>
</file>

<file path=customXml/itemProps3.xml><?xml version="1.0" encoding="utf-8"?>
<ds:datastoreItem xmlns:ds="http://schemas.openxmlformats.org/officeDocument/2006/customXml" ds:itemID="{9C2C2E03-0238-4DCC-8AD8-8665518A48E7}"/>
</file>

<file path=docProps/app.xml><?xml version="1.0" encoding="utf-8"?>
<Properties xmlns="http://schemas.openxmlformats.org/officeDocument/2006/extended-properties" xmlns:vt="http://schemas.openxmlformats.org/officeDocument/2006/docPropsVTypes">
  <TotalTime>845</TotalTime>
  <Words>750</Words>
  <Application>Microsoft Macintosh PowerPoint</Application>
  <PresentationFormat>Custom</PresentationFormat>
  <Paragraphs>221</Paragraphs>
  <Slides>1</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vt:i4>
      </vt:variant>
    </vt:vector>
  </HeadingPairs>
  <TitlesOfParts>
    <vt:vector size="14" baseType="lpstr">
      <vt:lpstr>Arial</vt:lpstr>
      <vt:lpstr>Calibri</vt:lpstr>
      <vt:lpstr>Franklin Gothic Book</vt:lpstr>
      <vt:lpstr>Helvetica Neue</vt:lpstr>
      <vt:lpstr>Helvetica Neue Medium</vt:lpstr>
      <vt:lpstr>Helvetica Neue Thin</vt:lpstr>
      <vt:lpstr>ITC Franklin Gothic Std</vt:lpstr>
      <vt:lpstr>ITC Franklin Gothic Std Book</vt:lpstr>
      <vt:lpstr>ITC Franklin Gothic Std Demi</vt:lpstr>
      <vt:lpstr>ITC Franklin Gothic Std Demi Co</vt:lpstr>
      <vt:lpstr>ITC Franklin Gothic Std Dm Cd</vt:lpstr>
      <vt:lpstr>Times New Roman</vt:lpstr>
      <vt:lpstr>White</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Samantha Cohen</dc:creator>
  <cp:lastModifiedBy>Grace Dusseau</cp:lastModifiedBy>
  <cp:revision>525</cp:revision>
  <cp:lastPrinted>2019-08-03T20:14:37Z</cp:lastPrinted>
  <dcterms:created xsi:type="dcterms:W3CDTF">2019-07-16T21:17:53Z</dcterms:created>
  <dcterms:modified xsi:type="dcterms:W3CDTF">2019-08-03T20:14:46Z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