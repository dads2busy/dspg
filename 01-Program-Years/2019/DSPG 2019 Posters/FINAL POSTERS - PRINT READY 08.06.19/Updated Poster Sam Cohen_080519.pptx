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765"/>
    <a:srgbClr val="66C7FF"/>
    <a:srgbClr val="FF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6"/>
    <p:restoredTop sz="93591" autoAdjust="0"/>
  </p:normalViewPr>
  <p:slideViewPr>
    <p:cSldViewPr snapToGrid="0" snapToObjects="1">
      <p:cViewPr>
        <p:scale>
          <a:sx n="44" d="100"/>
          <a:sy n="44" d="100"/>
        </p:scale>
        <p:origin x="2728" y="-1968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2692" y="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handoutMaster" Target="handoutMasters/handoutMaster1.xml"/><Relationship Id="rId9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67B55-8B78-46C2-B27C-8F74FA866C5A}" type="datetimeFigureOut">
              <a:rPr lang="en-US" smtClean="0"/>
              <a:t>8/5/19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EBAA8-28A2-402B-8AF2-3772796B6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80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685800"/>
            <a:ext cx="228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19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0" y="-639950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520290" y="6484549"/>
            <a:ext cx="9888781" cy="1399032"/>
          </a:xfrm>
          <a:prstGeom prst="rect">
            <a:avLst/>
          </a:prstGeom>
          <a:solidFill>
            <a:srgbClr val="1B3765">
              <a:alpha val="21961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20290" y="11582312"/>
            <a:ext cx="9888781" cy="8686800"/>
          </a:xfrm>
          <a:prstGeom prst="rect">
            <a:avLst/>
          </a:prstGeom>
          <a:solidFill>
            <a:srgbClr val="1B3765">
              <a:alpha val="21961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523467" y="19743687"/>
            <a:ext cx="9896278" cy="5226518"/>
          </a:xfrm>
          <a:prstGeom prst="rect">
            <a:avLst/>
          </a:prstGeom>
          <a:solidFill>
            <a:srgbClr val="1B3765">
              <a:alpha val="21961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523467" y="5108702"/>
            <a:ext cx="9889559" cy="7021506"/>
          </a:xfrm>
          <a:prstGeom prst="rect">
            <a:avLst/>
          </a:prstGeom>
          <a:solidFill>
            <a:srgbClr val="1B3765">
              <a:alpha val="21961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TITLE OF RESEARCH STUDY in 54 pt"/>
          <p:cNvSpPr txBox="1"/>
          <p:nvPr/>
        </p:nvSpPr>
        <p:spPr>
          <a:xfrm>
            <a:off x="1079106" y="120544"/>
            <a:ext cx="12657311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dirty="0">
                <a:latin typeface="ITC Franklin Gothic Std Dm Cd"/>
                <a:cs typeface="ITC Franklin Gothic Std Dm Cd"/>
              </a:rPr>
              <a:t>Big Data In Animal Shelters:</a:t>
            </a:r>
          </a:p>
          <a:p>
            <a:r>
              <a:rPr lang="en-US" dirty="0">
                <a:latin typeface="ITC Franklin Gothic Std Dm Cd"/>
                <a:cs typeface="ITC Franklin Gothic Std Dm Cd"/>
              </a:rPr>
              <a:t>Using Data Science to Aid Dog Adoption</a:t>
            </a:r>
            <a:endParaRPr dirty="0">
              <a:latin typeface="ITC Franklin Gothic Std Dm Cd"/>
              <a:cs typeface="ITC Franklin Gothic Std Dm Cd"/>
            </a:endParaRP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1767122"/>
            <a:ext cx="10355399" cy="1685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Samantha Cohen</a:t>
            </a:r>
            <a:r>
              <a:rPr lang="en-US" b="0" baseline="30000" dirty="0">
                <a:latin typeface="ITC Franklin Gothic Std Book"/>
                <a:cs typeface="ITC Franklin Gothic Std Book"/>
              </a:rPr>
              <a:t>1,2</a:t>
            </a:r>
            <a:r>
              <a:rPr lang="en-US" b="0" dirty="0">
                <a:latin typeface="ITC Franklin Gothic Std Book"/>
                <a:cs typeface="ITC Franklin Gothic Std Book"/>
              </a:rPr>
              <a:t> &amp; Peter Todd</a:t>
            </a:r>
            <a:r>
              <a:rPr lang="en-US" b="0" baseline="30000" dirty="0">
                <a:latin typeface="ITC Franklin Gothic Std Book"/>
                <a:cs typeface="ITC Franklin Gothic Std Book"/>
              </a:rPr>
              <a:t>2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baseline="30000" dirty="0">
                <a:latin typeface="ITC Franklin Gothic Std Book"/>
                <a:cs typeface="ITC Franklin Gothic Std Book"/>
              </a:rPr>
              <a:t>1</a:t>
            </a:r>
            <a:r>
              <a:rPr lang="en-US" b="0" dirty="0">
                <a:latin typeface="ITC Franklin Gothic Std Book"/>
                <a:cs typeface="ITC Franklin Gothic Std Book"/>
              </a:rPr>
              <a:t>: Social and Decision Analytics Division, </a:t>
            </a:r>
            <a:r>
              <a:rPr lang="en-US" b="0" dirty="0" err="1">
                <a:latin typeface="ITC Franklin Gothic Std Book"/>
                <a:cs typeface="ITC Franklin Gothic Std Book"/>
              </a:rPr>
              <a:t>Biocomplexity</a:t>
            </a:r>
            <a:r>
              <a:rPr lang="en-US" b="0" dirty="0">
                <a:latin typeface="ITC Franklin Gothic Std Book"/>
                <a:cs typeface="ITC Franklin Gothic Std Book"/>
              </a:rPr>
              <a:t> Institute, University of Virginia</a:t>
            </a:r>
            <a:endParaRPr b="0" baseline="30000" dirty="0">
              <a:latin typeface="ITC Franklin Gothic Std Book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baseline="30000" dirty="0">
                <a:latin typeface="ITC Franklin Gothic Std Book"/>
                <a:cs typeface="ITC Franklin Gothic Std Book"/>
              </a:rPr>
              <a:t>2</a:t>
            </a:r>
            <a:r>
              <a:rPr lang="en-US" b="0" dirty="0">
                <a:latin typeface="ITC Franklin Gothic Std Book"/>
                <a:cs typeface="ITC Franklin Gothic Std Book"/>
              </a:rPr>
              <a:t>: Cognitive Science Program, Indiana University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14" y="31101596"/>
            <a:ext cx="8550572" cy="1284981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Body Text - Franklin Gothic Book - 22"/>
          <p:cNvSpPr txBox="1"/>
          <p:nvPr/>
        </p:nvSpPr>
        <p:spPr>
          <a:xfrm>
            <a:off x="947474" y="4391795"/>
            <a:ext cx="9034415" cy="2015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ITC Franklin Gothic Std Book"/>
              </a:rPr>
              <a:t>Motivation</a:t>
            </a:r>
            <a:endParaRPr lang="en-US" sz="3200" b="1" dirty="0">
              <a:solidFill>
                <a:srgbClr val="002060"/>
              </a:solidFill>
              <a:latin typeface="ITC Franklin Gothic Std Book"/>
            </a:endParaRPr>
          </a:p>
          <a:p>
            <a:r>
              <a:rPr lang="en-US" sz="2800" dirty="0">
                <a:latin typeface="ITC Franklin Gothic Std Book"/>
              </a:rPr>
              <a:t>Shelters</a:t>
            </a:r>
            <a:r>
              <a:rPr lang="en-US" sz="2800" dirty="0">
                <a:latin typeface="ITC Franklin Gothic Std Book"/>
                <a:cs typeface="ITC Franklin Gothic Std Book"/>
              </a:rPr>
              <a:t> are filled with extensive data on their animals--how can we leverage this data to improve animal outcomes?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263985"/>
              </p:ext>
            </p:extLst>
          </p:nvPr>
        </p:nvGraphicFramePr>
        <p:xfrm>
          <a:off x="11761214" y="13051019"/>
          <a:ext cx="9665396" cy="53765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2673">
                  <a:extLst>
                    <a:ext uri="{9D8B030D-6E8A-4147-A177-3AD203B41FA5}">
                      <a16:colId xmlns:a16="http://schemas.microsoft.com/office/drawing/2014/main" val="4023652669"/>
                    </a:ext>
                  </a:extLst>
                </a:gridCol>
                <a:gridCol w="1288559">
                  <a:extLst>
                    <a:ext uri="{9D8B030D-6E8A-4147-A177-3AD203B41FA5}">
                      <a16:colId xmlns:a16="http://schemas.microsoft.com/office/drawing/2014/main" val="2075275176"/>
                    </a:ext>
                  </a:extLst>
                </a:gridCol>
                <a:gridCol w="2071800">
                  <a:extLst>
                    <a:ext uri="{9D8B030D-6E8A-4147-A177-3AD203B41FA5}">
                      <a16:colId xmlns:a16="http://schemas.microsoft.com/office/drawing/2014/main" val="4031710385"/>
                    </a:ext>
                  </a:extLst>
                </a:gridCol>
                <a:gridCol w="2035977">
                  <a:extLst>
                    <a:ext uri="{9D8B030D-6E8A-4147-A177-3AD203B41FA5}">
                      <a16:colId xmlns:a16="http://schemas.microsoft.com/office/drawing/2014/main" val="582058427"/>
                    </a:ext>
                  </a:extLst>
                </a:gridCol>
                <a:gridCol w="162153">
                  <a:extLst>
                    <a:ext uri="{9D8B030D-6E8A-4147-A177-3AD203B41FA5}">
                      <a16:colId xmlns:a16="http://schemas.microsoft.com/office/drawing/2014/main" val="1342738382"/>
                    </a:ext>
                  </a:extLst>
                </a:gridCol>
                <a:gridCol w="2184234">
                  <a:extLst>
                    <a:ext uri="{9D8B030D-6E8A-4147-A177-3AD203B41FA5}">
                      <a16:colId xmlns:a16="http://schemas.microsoft.com/office/drawing/2014/main" val="2866946379"/>
                    </a:ext>
                  </a:extLst>
                </a:gridCol>
              </a:tblGrid>
              <a:tr h="5062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Trait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% w/ Preference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072" marR="2907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Trait Levels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115432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Friendliness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88%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0.0%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24%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83%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83%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09136783"/>
                  </a:ext>
                </a:extLst>
              </a:tr>
              <a:tr h="3117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Playfulness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75%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1%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69%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37%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37%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7940801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Energy Level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74%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Low: 23%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Medium: 86%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High: 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High: 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8719778"/>
                  </a:ext>
                </a:extLst>
              </a:tr>
              <a:tr h="5062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Age (Years)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73%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Young (&lt; 2): 65%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Adult (2 - 7):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45%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Senior (8+): 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Senior (8+): 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54684546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Size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73%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Small: 34%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Medium: 59%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Large: 33%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Large: 33%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559059253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Easily Excitable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69%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19%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68%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17%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17%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459499115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Intelligence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67%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0.4%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57%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53%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53%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721732051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Protectiveness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66%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16%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72%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4122805307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Nervousness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58%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Not at all: 48%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Somewhat: 57%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Very: 1%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947550417"/>
                  </a:ext>
                </a:extLst>
              </a:tr>
              <a:tr h="5062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Previous Training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56%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No training: 8%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Some training: 91%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Extensive training: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Extensive training: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9%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584499139"/>
                  </a:ext>
                </a:extLst>
              </a:tr>
              <a:tr h="2990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Sex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36%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Female: 56%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Male: 44%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1575060675"/>
                  </a:ext>
                </a:extLst>
              </a:tr>
              <a:tr h="484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Purebred Status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28%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Purebred: 21%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Mixed Breed: 79%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/>
                </a:tc>
                <a:extLst>
                  <a:ext uri="{0D108BD9-81ED-4DB2-BD59-A6C34878D82A}">
                    <a16:rowId xmlns:a16="http://schemas.microsoft.com/office/drawing/2014/main" val="222779490"/>
                  </a:ext>
                </a:extLst>
              </a:tr>
              <a:tr h="60911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Color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14%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Light (White, Grey, Tan): 26%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Medium (Light Brown, Red): 46%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Franklin Gothic Book"/>
                        </a:rPr>
                        <a:t>Dark (Black, Dark Brown): 39%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707323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693892"/>
              </p:ext>
            </p:extLst>
          </p:nvPr>
        </p:nvGraphicFramePr>
        <p:xfrm>
          <a:off x="11958927" y="20920502"/>
          <a:ext cx="9035191" cy="28113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56952">
                  <a:extLst>
                    <a:ext uri="{9D8B030D-6E8A-4147-A177-3AD203B41FA5}">
                      <a16:colId xmlns:a16="http://schemas.microsoft.com/office/drawing/2014/main" val="1513470693"/>
                    </a:ext>
                  </a:extLst>
                </a:gridCol>
                <a:gridCol w="3447800">
                  <a:extLst>
                    <a:ext uri="{9D8B030D-6E8A-4147-A177-3AD203B41FA5}">
                      <a16:colId xmlns:a16="http://schemas.microsoft.com/office/drawing/2014/main" val="1966127396"/>
                    </a:ext>
                  </a:extLst>
                </a:gridCol>
                <a:gridCol w="1437365">
                  <a:extLst>
                    <a:ext uri="{9D8B030D-6E8A-4147-A177-3AD203B41FA5}">
                      <a16:colId xmlns:a16="http://schemas.microsoft.com/office/drawing/2014/main" val="1543678393"/>
                    </a:ext>
                  </a:extLst>
                </a:gridCol>
                <a:gridCol w="855841">
                  <a:extLst>
                    <a:ext uri="{9D8B030D-6E8A-4147-A177-3AD203B41FA5}">
                      <a16:colId xmlns:a16="http://schemas.microsoft.com/office/drawing/2014/main" val="3410823300"/>
                    </a:ext>
                  </a:extLst>
                </a:gridCol>
                <a:gridCol w="637233">
                  <a:extLst>
                    <a:ext uri="{9D8B030D-6E8A-4147-A177-3AD203B41FA5}">
                      <a16:colId xmlns:a16="http://schemas.microsoft.com/office/drawing/2014/main" val="2432901279"/>
                    </a:ext>
                  </a:extLst>
                </a:gridCol>
              </a:tblGrid>
              <a:tr h="60875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</a:rPr>
                        <a:t>Adopter Perceived Trait</a:t>
                      </a:r>
                      <a:endParaRPr lang="en-US" sz="1800" i="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</a:rPr>
                        <a:t>Match-Up II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</a:rPr>
                        <a:t>Calculated Trait </a:t>
                      </a:r>
                      <a:endParaRPr lang="en-US" sz="1800" i="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</a:rPr>
                        <a:t>Spearman’s</a:t>
                      </a:r>
                      <a:r>
                        <a:rPr lang="en-US" sz="1800" i="1" dirty="0">
                          <a:effectLst/>
                          <a:latin typeface="Franklin Gothic Book"/>
                        </a:rPr>
                        <a:t> r</a:t>
                      </a:r>
                      <a:endParaRPr lang="en-US" sz="1800" i="1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effectLst/>
                          <a:latin typeface="Franklin Gothic Book"/>
                        </a:rPr>
                        <a:t>p</a:t>
                      </a:r>
                      <a:endParaRPr lang="en-US" sz="1800" i="1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effectLst/>
                          <a:latin typeface="Franklin Gothic Book"/>
                        </a:rPr>
                        <a:t>n</a:t>
                      </a:r>
                      <a:endParaRPr lang="en-US" sz="1800" i="1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502833"/>
                  </a:ext>
                </a:extLst>
              </a:tr>
              <a:tr h="2629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anxious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Fearfulness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-0.23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0.02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666283"/>
                  </a:ext>
                </a:extLst>
              </a:tr>
              <a:tr h="2629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easily excitable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Excitability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 0.32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</a:rPr>
                        <a:t>0.0009</a:t>
                      </a:r>
                      <a:endParaRPr lang="en-US" sz="1800" b="1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121736"/>
                  </a:ext>
                </a:extLst>
              </a:tr>
              <a:tr h="2629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playful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Playfulness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-0.002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0.98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857117"/>
                  </a:ext>
                </a:extLst>
              </a:tr>
              <a:tr h="2629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sociable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Friendliness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 0.15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0.14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102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5143974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Is well-trained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Total Commands Followed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-0.05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0.60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6435177"/>
                  </a:ext>
                </a:extLst>
              </a:tr>
              <a:tr h="4903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Barks frequently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Number of subtests where ‘bark’ was exhibited.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 0.08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0.43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103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9927854"/>
                  </a:ext>
                </a:extLst>
              </a:tr>
              <a:tr h="2554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Ignores commands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Total Commands Followed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 -0.07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0.45</a:t>
                      </a:r>
                      <a:endParaRPr lang="en-US" sz="180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</a:rPr>
                        <a:t>102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9072" marR="2907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041693"/>
                  </a:ext>
                </a:extLst>
              </a:tr>
            </a:tbl>
          </a:graphicData>
        </a:graphic>
      </p:graphicFrame>
      <p:sp>
        <p:nvSpPr>
          <p:cNvPr id="54" name="Subhead - Franklin Gothic Demi - 28"/>
          <p:cNvSpPr txBox="1"/>
          <p:nvPr/>
        </p:nvSpPr>
        <p:spPr>
          <a:xfrm>
            <a:off x="-16085399" y="5713082"/>
            <a:ext cx="230897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endParaRPr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679567"/>
              </p:ext>
            </p:extLst>
          </p:nvPr>
        </p:nvGraphicFramePr>
        <p:xfrm>
          <a:off x="11958927" y="5842038"/>
          <a:ext cx="9034273" cy="5156401"/>
        </p:xfrm>
        <a:graphic>
          <a:graphicData uri="http://schemas.openxmlformats.org/drawingml/2006/table">
            <a:tbl>
              <a:tblPr firstRow="1" firstCol="1" bandRow="1"/>
              <a:tblGrid>
                <a:gridCol w="3573108">
                  <a:extLst>
                    <a:ext uri="{9D8B030D-6E8A-4147-A177-3AD203B41FA5}">
                      <a16:colId xmlns:a16="http://schemas.microsoft.com/office/drawing/2014/main" val="4152178829"/>
                    </a:ext>
                  </a:extLst>
                </a:gridCol>
                <a:gridCol w="1641499">
                  <a:extLst>
                    <a:ext uri="{9D8B030D-6E8A-4147-A177-3AD203B41FA5}">
                      <a16:colId xmlns:a16="http://schemas.microsoft.com/office/drawing/2014/main" val="2592340630"/>
                    </a:ext>
                  </a:extLst>
                </a:gridCol>
                <a:gridCol w="1180382">
                  <a:extLst>
                    <a:ext uri="{9D8B030D-6E8A-4147-A177-3AD203B41FA5}">
                      <a16:colId xmlns:a16="http://schemas.microsoft.com/office/drawing/2014/main" val="1807559362"/>
                    </a:ext>
                  </a:extLst>
                </a:gridCol>
                <a:gridCol w="1167120">
                  <a:extLst>
                    <a:ext uri="{9D8B030D-6E8A-4147-A177-3AD203B41FA5}">
                      <a16:colId xmlns:a16="http://schemas.microsoft.com/office/drawing/2014/main" val="1380305026"/>
                    </a:ext>
                  </a:extLst>
                </a:gridCol>
                <a:gridCol w="1472164">
                  <a:extLst>
                    <a:ext uri="{9D8B030D-6E8A-4147-A177-3AD203B41FA5}">
                      <a16:colId xmlns:a16="http://schemas.microsoft.com/office/drawing/2014/main" val="3559441127"/>
                    </a:ext>
                  </a:extLst>
                </a:gridCol>
              </a:tblGrid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 Variable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β Coefficient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SE</a:t>
                      </a:r>
                      <a:endParaRPr lang="en-US" sz="1800" b="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t</a:t>
                      </a:r>
                      <a:endParaRPr lang="en-US" sz="1800" b="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P&gt;|t|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442472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Constant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14.862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1.623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9.159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&gt;0.001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167250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Friendliness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-0.1659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0.072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-2.306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0.021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718071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Playfulness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1.6813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0.331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5.077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&gt;0.001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509981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Age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0.2553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0.135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1.886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273684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Large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3.5507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0.897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3.958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&gt;0.001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519443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Small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-2.5819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1.291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-2.0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0.046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270380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Excitability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-0.101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0.167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-0.605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0.546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23777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Total Commands Followed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0.0075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0.24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0.031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0.975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433864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Fearfulness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0.1945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0.139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1.395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0.163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98660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Dark Coloring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-0.6674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0.861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-0.775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0.439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531654"/>
                  </a:ext>
                </a:extLst>
              </a:tr>
              <a:tr h="5466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Medium Coloring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-0.1969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0.983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-0.2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0.841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189339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Male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1.0554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0.751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1.405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0.16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331753"/>
                  </a:ext>
                </a:extLst>
              </a:tr>
              <a:tr h="43631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Purebred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-0.0154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0.832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-0.019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0.985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43117"/>
                  </a:ext>
                </a:extLst>
              </a:tr>
              <a:tr h="321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Stray (Dummy)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-3.0355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0.938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-3.235</a:t>
                      </a: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Franklin Gothic Book"/>
                          <a:ea typeface="Calibri" panose="020F0502020204030204" pitchFamily="34" charset="0"/>
                          <a:cs typeface="Times New Roman"/>
                        </a:rPr>
                        <a:t>0.001</a:t>
                      </a:r>
                      <a:endParaRPr lang="en-US" sz="1800" dirty="0">
                        <a:effectLst/>
                        <a:latin typeface="Franklin Gothic Book"/>
                        <a:ea typeface="Calibri" panose="020F0502020204030204" pitchFamily="34" charset="0"/>
                        <a:cs typeface="Times New Roman"/>
                      </a:endParaRPr>
                    </a:p>
                  </a:txBody>
                  <a:tcPr marL="23881" marR="2388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361712"/>
                  </a:ext>
                </a:extLst>
              </a:tr>
            </a:tbl>
          </a:graphicData>
        </a:graphic>
      </p:graphicFrame>
      <p:sp>
        <p:nvSpPr>
          <p:cNvPr id="57" name="Reference Text - Franklin Gothic Book - 18"/>
          <p:cNvSpPr txBox="1"/>
          <p:nvPr/>
        </p:nvSpPr>
        <p:spPr>
          <a:xfrm>
            <a:off x="2014274" y="6638272"/>
            <a:ext cx="7967615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dirty="0">
                <a:latin typeface="ITC Franklin Gothic Std Book"/>
                <a:cs typeface="ITC Franklin Gothic Std Book"/>
              </a:rPr>
              <a:t>This poster outlines work conducted at Indiana University, and published in </a:t>
            </a:r>
            <a:r>
              <a:rPr lang="en-US" i="1" dirty="0">
                <a:latin typeface="ITC Franklin Gothic Std Book"/>
                <a:cs typeface="ITC Franklin Gothic Std Book"/>
              </a:rPr>
              <a:t>Behavior Research Methods </a:t>
            </a:r>
            <a:r>
              <a:rPr lang="en-US" dirty="0">
                <a:latin typeface="ITC Franklin Gothic Std Book"/>
                <a:cs typeface="ITC Franklin Gothic Std Book"/>
              </a:rPr>
              <a:t>in 2019. Scan the QR code to read the paper without a subscription.</a:t>
            </a:r>
            <a:endParaRPr dirty="0">
              <a:latin typeface="ITC Franklin Gothic Std Book"/>
              <a:cs typeface="ITC Franklin Gothic Std Book"/>
            </a:endParaRPr>
          </a:p>
        </p:txBody>
      </p:sp>
      <p:sp>
        <p:nvSpPr>
          <p:cNvPr id="66" name="Subhead - Franklin Gothic Demi - 28"/>
          <p:cNvSpPr txBox="1"/>
          <p:nvPr/>
        </p:nvSpPr>
        <p:spPr>
          <a:xfrm>
            <a:off x="11857326" y="10972776"/>
            <a:ext cx="9136793" cy="1092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Administrative data suggests most dog traits have little influence on length of stay.</a:t>
            </a:r>
          </a:p>
        </p:txBody>
      </p:sp>
      <p:sp>
        <p:nvSpPr>
          <p:cNvPr id="69" name="Body Text - Franklin Gothic Book - 22"/>
          <p:cNvSpPr txBox="1"/>
          <p:nvPr/>
        </p:nvSpPr>
        <p:spPr>
          <a:xfrm>
            <a:off x="947474" y="11409999"/>
            <a:ext cx="9034415" cy="9253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ITC Franklin Gothic Std Book"/>
              </a:rPr>
              <a:t>Method</a:t>
            </a:r>
            <a:endParaRPr lang="en-US" sz="3200" b="1" dirty="0">
              <a:solidFill>
                <a:srgbClr val="002060"/>
              </a:solidFill>
              <a:latin typeface="ITC Franklin Gothic Std Book"/>
            </a:endParaRPr>
          </a:p>
          <a:p>
            <a:pPr>
              <a:lnSpc>
                <a:spcPct val="150000"/>
              </a:lnSpc>
            </a:pPr>
            <a:r>
              <a:rPr lang="en-US" sz="2800" u="sng" dirty="0">
                <a:latin typeface="ITC Franklin Gothic Std Book"/>
              </a:rPr>
              <a:t>Administrative Data and Revealed Preferences</a:t>
            </a:r>
            <a:endParaRPr lang="en-US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Worked with a Midwestern animal shelter in 2017-2018.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Used data stored in existing animal management software, including behavior, appearance, and length of stay.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00" dirty="0">
                <a:latin typeface="ITC Franklin Gothic Std Book"/>
                <a:cs typeface="ITC Franklin Gothic Std Book"/>
              </a:rPr>
              <a:t> </a:t>
            </a:r>
            <a:r>
              <a:rPr lang="en-US" sz="100" b="0" dirty="0">
                <a:latin typeface="ITC Franklin Gothic Std Book"/>
                <a:cs typeface="ITC Franklin Gothic Std Book"/>
              </a:rPr>
              <a:t>Animal Shelter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" b="0" dirty="0">
              <a:latin typeface="ITC Franklin Gothic Std Book"/>
              <a:cs typeface="ITC Franklin Gothic Std Book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" b="0" dirty="0">
              <a:latin typeface="ITC Franklin Gothic Std Book"/>
              <a:cs typeface="ITC Franklin Gothic Std Boo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Length of stay is an indicator of </a:t>
            </a:r>
            <a:r>
              <a:rPr lang="en-US" i="1" dirty="0">
                <a:latin typeface="ITC Franklin Gothic Std Book"/>
                <a:cs typeface="ITC Franklin Gothic Std Book"/>
              </a:rPr>
              <a:t>revealed </a:t>
            </a:r>
            <a:r>
              <a:rPr lang="en-US" dirty="0">
                <a:latin typeface="ITC Franklin Gothic Std Book"/>
                <a:cs typeface="ITC Franklin Gothic Std Book"/>
              </a:rPr>
              <a:t>demand—dogs with more preferred traits are adopted fastest.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Linear regression predicting length of stay based 1060 stays of 904 dogs based on traits stored in Match-Up II®.</a:t>
            </a:r>
          </a:p>
          <a:p>
            <a:pPr>
              <a:lnSpc>
                <a:spcPct val="150000"/>
              </a:lnSpc>
            </a:pPr>
            <a:r>
              <a:rPr lang="en-US" sz="2800" u="sng" dirty="0">
                <a:latin typeface="ITC Franklin Gothic Std Book"/>
                <a:cs typeface="ITC Franklin Gothic Std Book"/>
              </a:rPr>
              <a:t>Stated Preferences and Experimental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In same animal shelter, incoming canine visitors completed a voluntary survey of </a:t>
            </a:r>
            <a:r>
              <a:rPr lang="en-US" i="1" dirty="0">
                <a:latin typeface="ITC Franklin Gothic Std Book"/>
                <a:cs typeface="ITC Franklin Gothic Std Book"/>
              </a:rPr>
              <a:t>stated </a:t>
            </a:r>
            <a:r>
              <a:rPr lang="en-US" dirty="0">
                <a:latin typeface="ITC Franklin Gothic Std Book"/>
                <a:cs typeface="ITC Franklin Gothic Std Book"/>
              </a:rPr>
              <a:t>preferences for an adoptable dog (</a:t>
            </a:r>
            <a:r>
              <a:rPr lang="en-US" i="1" dirty="0">
                <a:latin typeface="ITC Franklin Gothic Std Book"/>
                <a:cs typeface="ITC Franklin Gothic Std Book"/>
              </a:rPr>
              <a:t>n</a:t>
            </a:r>
            <a:r>
              <a:rPr lang="en-US" dirty="0">
                <a:latin typeface="ITC Franklin Gothic Std Book"/>
                <a:cs typeface="ITC Franklin Gothic Std Book"/>
              </a:rPr>
              <a:t> = 1229).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Survey consisted of 13 traits, where participants could state either no preference, or up to </a:t>
            </a:r>
            <a:r>
              <a:rPr lang="en-US" i="1" dirty="0">
                <a:latin typeface="ITC Franklin Gothic Std Book"/>
                <a:cs typeface="ITC Franklin Gothic Std Book"/>
              </a:rPr>
              <a:t>x</a:t>
            </a:r>
            <a:r>
              <a:rPr lang="en-US" dirty="0">
                <a:latin typeface="ITC Franklin Gothic Std Book"/>
                <a:cs typeface="ITC Franklin Gothic Std Book"/>
              </a:rPr>
              <a:t>-1 of </a:t>
            </a:r>
            <a:r>
              <a:rPr lang="en-US" i="1" dirty="0">
                <a:latin typeface="ITC Franklin Gothic Std Book"/>
                <a:cs typeface="ITC Franklin Gothic Std Book"/>
              </a:rPr>
              <a:t>x</a:t>
            </a:r>
            <a:r>
              <a:rPr lang="en-US" dirty="0">
                <a:latin typeface="ITC Franklin Gothic Std Book"/>
                <a:cs typeface="ITC Franklin Gothic Std Book"/>
              </a:rPr>
              <a:t> trait levels.</a:t>
            </a:r>
          </a:p>
          <a:p>
            <a:pPr>
              <a:lnSpc>
                <a:spcPct val="150000"/>
              </a:lnSpc>
            </a:pPr>
            <a:r>
              <a:rPr lang="en-US" sz="2800" u="sng" dirty="0">
                <a:latin typeface="ITC Franklin Gothic Std Book"/>
                <a:cs typeface="ITC Franklin Gothic Std Book"/>
              </a:rPr>
              <a:t>Adopted Dog Ratings                                  </a:t>
            </a:r>
            <a:endParaRPr lang="en-US" sz="7200" u="sng" dirty="0">
              <a:latin typeface="ITC Franklin Gothic Std Book"/>
              <a:cs typeface="ITC Franklin Gothic Std Book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145 individuals decided to adopt a dog after visiting.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These individuals rated their chosen dogs on 45 traits on a 1 to 5 Likert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102 of these individuals also had associated Match-Up II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ITC Franklin Gothic Std Book"/>
              <a:cs typeface="ITC Franklin Gothic Std Book"/>
            </a:endParaRPr>
          </a:p>
          <a:p>
            <a:endParaRPr lang="en-US" dirty="0">
              <a:latin typeface="ITC Franklin Gothic Std Book"/>
              <a:cs typeface="ITC Franklin Gothic Std Book"/>
            </a:endParaRPr>
          </a:p>
        </p:txBody>
      </p:sp>
      <p:sp>
        <p:nvSpPr>
          <p:cNvPr id="71" name="Body Text - Franklin Gothic Book - 22"/>
          <p:cNvSpPr txBox="1"/>
          <p:nvPr/>
        </p:nvSpPr>
        <p:spPr>
          <a:xfrm>
            <a:off x="-12994355" y="20708438"/>
            <a:ext cx="8403930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endParaRPr lang="en-US" dirty="0">
              <a:latin typeface="ITC Franklin Gothic Std Book"/>
              <a:cs typeface="ITC Franklin Gothic Std Book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59615" y="18562279"/>
            <a:ext cx="91358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0" dirty="0">
                <a:latin typeface="Franklin Gothic Book" panose="020B0503020102020204" pitchFamily="34" charset="0"/>
              </a:rPr>
              <a:t>On surveys, visitors do have preferences on these traits. Preferences were not always linear nor universal. </a:t>
            </a:r>
          </a:p>
        </p:txBody>
      </p:sp>
      <p:sp>
        <p:nvSpPr>
          <p:cNvPr id="30" name="Subhead - Franklin Gothic Demi - 28"/>
          <p:cNvSpPr txBox="1"/>
          <p:nvPr/>
        </p:nvSpPr>
        <p:spPr>
          <a:xfrm>
            <a:off x="11857327" y="23854072"/>
            <a:ext cx="9136793" cy="5401479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dirty="0"/>
              <a:t>Ratings by actual adopters do not align well with those in administrative data.</a:t>
            </a:r>
          </a:p>
          <a:p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sz="3200" b="1" dirty="0"/>
              <a:t>Summary</a:t>
            </a:r>
          </a:p>
          <a:p>
            <a:r>
              <a:rPr lang="en-US" dirty="0"/>
              <a:t>Because human preferences are non-linear and idiosyncratic, typical linear regression models may mask the influence of traits on adoption. </a:t>
            </a:r>
            <a:r>
              <a:rPr lang="en-US"/>
              <a:t>In </a:t>
            </a:r>
            <a:r>
              <a:rPr lang="en-US" dirty="0"/>
              <a:t>addition, it is unclear that administrative data aligns with visitor experiences, limiting existing data’s potential role in matching visitors to adoptable dogs.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1857327" y="4264243"/>
            <a:ext cx="9033635" cy="15581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  <a:latin typeface="ITC Franklin Gothic Std Book"/>
              </a:rPr>
              <a:t>Results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ITC Franklin Gothic Std Book"/>
              <a:sym typeface="Helvetica Neue"/>
            </a:endParaRPr>
          </a:p>
          <a:p>
            <a:pPr marL="0" marR="0" indent="0" algn="l" defTabSz="1971675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What traits in administrative data</a:t>
            </a:r>
            <a:r>
              <a:rPr kumimoji="0" lang="en-US" sz="2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 predict length of stay?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659615" y="12506282"/>
            <a:ext cx="8939026" cy="6040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What traits do visitors say they prefer?</a:t>
            </a:r>
          </a:p>
        </p:txBody>
      </p:sp>
      <p:sp>
        <p:nvSpPr>
          <p:cNvPr id="21" name="Body Text - Franklin Gothic Book - 22"/>
          <p:cNvSpPr txBox="1"/>
          <p:nvPr/>
        </p:nvSpPr>
        <p:spPr>
          <a:xfrm>
            <a:off x="947474" y="8130275"/>
            <a:ext cx="9034415" cy="309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ITC Franklin Gothic Std Book"/>
              </a:rPr>
              <a:t>What Data Do Animal Shelters Produce? 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Visitation Data—Typical experience, peak visiting hours/days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Shelter Management Software—Environment variables influencing adoption rates, movement throughout the shelter, photos, health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Online Matching Services (e.g. </a:t>
            </a:r>
            <a:r>
              <a:rPr lang="en-US" dirty="0" err="1">
                <a:solidFill>
                  <a:schemeClr val="tx1"/>
                </a:solidFill>
                <a:latin typeface="Franklin Gothic Book" panose="020B0503020102020204" pitchFamily="34" charset="0"/>
              </a:rPr>
              <a:t>Petfinder</a:t>
            </a: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®)—Photos, lengths of stay, text descriptions; engagement by users, out of area interest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Behavioral evaluations—Response of an animal to situations and stimuli, “personality” and temperament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57327" y="19783800"/>
            <a:ext cx="9033635" cy="10348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Are administrative data good predictors of visitor</a:t>
            </a:r>
            <a:r>
              <a:rPr kumimoji="0" lang="en-US" sz="2800" b="0" i="0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 perceptions?</a:t>
            </a:r>
            <a:endParaRPr kumimoji="0" lang="en-US" sz="2800" b="0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74" y="6590880"/>
            <a:ext cx="887793" cy="11541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5"/>
          <a:stretch/>
        </p:blipFill>
        <p:spPr>
          <a:xfrm>
            <a:off x="840936" y="20377449"/>
            <a:ext cx="8633263" cy="101554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7094" y="29737285"/>
            <a:ext cx="16294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0" dirty="0">
                <a:latin typeface="Franklin Gothic Book" panose="020B0503020102020204" pitchFamily="34" charset="0"/>
              </a:rPr>
              <a:t>Photo credit: Wikimedia commons, </a:t>
            </a:r>
            <a:r>
              <a:rPr lang="en-US" sz="1800" b="0" dirty="0" err="1">
                <a:latin typeface="Franklin Gothic Book" panose="020B0503020102020204" pitchFamily="34" charset="0"/>
              </a:rPr>
              <a:t>Nickyhannaway</a:t>
            </a:r>
            <a:endParaRPr lang="en-US" sz="1800" b="0" dirty="0">
              <a:latin typeface="Franklin Gothic Book" panose="020B0503020102020204" pitchFamily="34" charset="0"/>
            </a:endParaRPr>
          </a:p>
          <a:p>
            <a:r>
              <a:rPr lang="en-US" sz="1800" b="0" dirty="0">
                <a:latin typeface="Franklin Gothic Book" panose="020B0503020102020204" pitchFamily="34" charset="0"/>
              </a:rPr>
              <a:t>https://commons.wikimedia.org/wiki/File:Buck_The_GSD.jpg</a:t>
            </a:r>
          </a:p>
        </p:txBody>
      </p:sp>
    </p:spTree>
    <p:extLst>
      <p:ext uri="{BB962C8B-B14F-4D97-AF65-F5344CB8AC3E}">
        <p14:creationId xmlns:p14="http://schemas.microsoft.com/office/powerpoint/2010/main" val="106145448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240EA63F-9C0E-4689-A15E-CB8314E493DD}"/>
</file>

<file path=customXml/itemProps2.xml><?xml version="1.0" encoding="utf-8"?>
<ds:datastoreItem xmlns:ds="http://schemas.openxmlformats.org/officeDocument/2006/customXml" ds:itemID="{6E0228DB-24BD-4DDD-8F6F-488FF1101EFC}"/>
</file>

<file path=customXml/itemProps3.xml><?xml version="1.0" encoding="utf-8"?>
<ds:datastoreItem xmlns:ds="http://schemas.openxmlformats.org/officeDocument/2006/customXml" ds:itemID="{A3D72FEE-DCA1-455F-90A3-B14B3B03B53D}"/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776</Words>
  <Application>Microsoft Macintosh PowerPoint</Application>
  <PresentationFormat>Custom</PresentationFormat>
  <Paragraphs>223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Arial</vt:lpstr>
      <vt:lpstr>Calibri</vt:lpstr>
      <vt:lpstr>Franklin Gothic Book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</vt:lpstr>
      <vt:lpstr>ITC Franklin Gothic Std Demi Co</vt:lpstr>
      <vt:lpstr>ITC Franklin Gothic Std Dm Cd</vt:lpstr>
      <vt:lpstr>Times New Roman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Samantha Cohen</dc:creator>
  <cp:lastModifiedBy>Draughon, Jillian (jd7rf)</cp:lastModifiedBy>
  <cp:revision>530</cp:revision>
  <cp:lastPrinted>2019-08-03T20:14:37Z</cp:lastPrinted>
  <dcterms:created xsi:type="dcterms:W3CDTF">2019-07-16T21:17:53Z</dcterms:created>
  <dcterms:modified xsi:type="dcterms:W3CDTF">2019-08-05T20:06:39Z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