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0" r:id="rId1"/>
    <p:sldMasterId id="2147483661" r:id="rId2"/>
  </p:sldMasterIdLst>
  <p:notesMasterIdLst>
    <p:notesMasterId r:id="rId4"/>
  </p:notesMasterIdLst>
  <p:sldIdLst>
    <p:sldId id="260" r:id="rId3"/>
  </p:sldIdLst>
  <p:sldSz cx="21945600" cy="32918400"/>
  <p:notesSz cx="6858000" cy="9144000"/>
  <p:embeddedFontLst>
    <p:embeddedFont>
      <p:font typeface="Franklin Gothic" panose="020B0604020202020204" charset="0"/>
      <p:bold r:id="rId5"/>
    </p:embeddedFont>
    <p:embeddedFont>
      <p:font typeface="Franklin Gothic Medium" panose="020B0603020102020204" pitchFamily="34" charset="0"/>
      <p:regular r:id="rId6"/>
      <p:italic r:id="rId7"/>
    </p:embeddedFont>
    <p:embeddedFont>
      <p:font typeface="Helvetica Neue" panose="020B0604020202020204" charset="0"/>
      <p:regular r:id="rId8"/>
      <p:bold r:id="rId9"/>
      <p:italic r:id="rId10"/>
      <p:boldItalic r:id="rId11"/>
    </p:embeddedFont>
    <p:embeddedFont>
      <p:font typeface="Helvetica Neue Light"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7F9D"/>
    <a:srgbClr val="FFFFFF"/>
    <a:srgbClr val="243564"/>
    <a:srgbClr val="2434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0AFA7-226D-6D79-1063-84233EE67C53}" v="1" dt="2019-08-05T17:04:50.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653"/>
    <p:restoredTop sz="94730"/>
  </p:normalViewPr>
  <p:slideViewPr>
    <p:cSldViewPr snapToGrid="0">
      <p:cViewPr>
        <p:scale>
          <a:sx n="55" d="100"/>
          <a:sy n="55" d="100"/>
        </p:scale>
        <p:origin x="3072" y="-936"/>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customXml" Target="../customXml/item3.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customXml" Target="../customXml/item2.xml"/><Relationship Id="rId10" Type="http://schemas.openxmlformats.org/officeDocument/2006/relationships/font" Target="fonts/font6.fntdata"/><Relationship Id="rId19"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sseau, Grace R (grd4bp)" userId="S::grd4bp@virginia.edu::8058f72f-6056-4bad-8d9d-632665c7ad2a" providerId="AD" clId="Web-{E880AFA7-226D-6D79-1063-84233EE67C53}"/>
    <pc:docChg chg="modSld">
      <pc:chgData name="Dusseau, Grace R (grd4bp)" userId="S::grd4bp@virginia.edu::8058f72f-6056-4bad-8d9d-632665c7ad2a" providerId="AD" clId="Web-{E880AFA7-226D-6D79-1063-84233EE67C53}" dt="2019-08-05T17:04:50.075" v="1"/>
      <pc:docMkLst>
        <pc:docMk/>
      </pc:docMkLst>
      <pc:sldChg chg="modSp">
        <pc:chgData name="Dusseau, Grace R (grd4bp)" userId="S::grd4bp@virginia.edu::8058f72f-6056-4bad-8d9d-632665c7ad2a" providerId="AD" clId="Web-{E880AFA7-226D-6D79-1063-84233EE67C53}" dt="2019-08-05T17:04:50.075" v="1"/>
        <pc:sldMkLst>
          <pc:docMk/>
          <pc:sldMk cId="736441970" sldId="260"/>
        </pc:sldMkLst>
        <pc:spChg chg="mod">
          <ac:chgData name="Dusseau, Grace R (grd4bp)" userId="S::grd4bp@virginia.edu::8058f72f-6056-4bad-8d9d-632665c7ad2a" providerId="AD" clId="Web-{E880AFA7-226D-6D79-1063-84233EE67C53}" dt="2019-08-05T17:04:50.075" v="1"/>
          <ac:spMkLst>
            <pc:docMk/>
            <pc:sldMk cId="736441970" sldId="260"/>
            <ac:spMk id="19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309"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5efe2b5df9_2_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5efe2b5df9_2_3: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895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48100" y="4765280"/>
            <a:ext cx="20449500" cy="1313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748080" y="18138400"/>
            <a:ext cx="20449500" cy="50730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748080" y="13765440"/>
            <a:ext cx="20449500" cy="5387100"/>
          </a:xfrm>
          <a:prstGeom prst="rect">
            <a:avLst/>
          </a:prstGeom>
        </p:spPr>
        <p:txBody>
          <a:bodyPr spcFirstLastPara="1" wrap="square" lIns="292550" tIns="292550" rIns="292550" bIns="292550" anchor="ctr" anchorCtr="0">
            <a:no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748080" y="7375840"/>
            <a:ext cx="20449500" cy="21864900"/>
          </a:xfrm>
          <a:prstGeom prst="rect">
            <a:avLst/>
          </a:prstGeom>
        </p:spPr>
        <p:txBody>
          <a:bodyPr spcFirstLastPara="1" wrap="square" lIns="292550" tIns="292550" rIns="292550" bIns="292550" anchor="t"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19" name="Google Shape;19;p4"/>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74808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3" name="Google Shape;23;p5"/>
          <p:cNvSpPr txBox="1">
            <a:spLocks noGrp="1"/>
          </p:cNvSpPr>
          <p:nvPr>
            <p:ph type="body" idx="2"/>
          </p:nvPr>
        </p:nvSpPr>
        <p:spPr>
          <a:xfrm>
            <a:off x="11597760" y="7375840"/>
            <a:ext cx="9599700" cy="21864900"/>
          </a:xfrm>
          <a:prstGeom prst="rect">
            <a:avLst/>
          </a:prstGeom>
        </p:spPr>
        <p:txBody>
          <a:bodyPr spcFirstLastPara="1" wrap="square" lIns="292550" tIns="292550" rIns="292550" bIns="292550" anchor="t" anchorCtr="0">
            <a:noAutofit/>
          </a:bodyPr>
          <a:lstStyle>
            <a:lvl1pPr marL="457200" lvl="0" indent="-514350">
              <a:spcBef>
                <a:spcPts val="0"/>
              </a:spcBef>
              <a:spcAft>
                <a:spcPts val="0"/>
              </a:spcAft>
              <a:buSzPts val="4500"/>
              <a:buChar char="●"/>
              <a:defRPr sz="45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24" name="Google Shape;24;p5"/>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48080" y="2848160"/>
            <a:ext cx="20449500" cy="3664800"/>
          </a:xfrm>
          <a:prstGeom prst="rect">
            <a:avLst/>
          </a:prstGeom>
        </p:spPr>
        <p:txBody>
          <a:bodyPr spcFirstLastPara="1" wrap="square" lIns="292550" tIns="292550" rIns="292550" bIns="292550" anchor="t" anchorCtr="0">
            <a:no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748080" y="3555840"/>
            <a:ext cx="6739200" cy="4836900"/>
          </a:xfrm>
          <a:prstGeom prst="rect">
            <a:avLst/>
          </a:prstGeom>
        </p:spPr>
        <p:txBody>
          <a:bodyPr spcFirstLastPara="1" wrap="square" lIns="292550" tIns="292550" rIns="292550" bIns="292550" anchor="b" anchorCtr="0">
            <a:no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748080" y="8893440"/>
            <a:ext cx="6739200" cy="20348700"/>
          </a:xfrm>
          <a:prstGeom prst="rect">
            <a:avLst/>
          </a:prstGeom>
        </p:spPr>
        <p:txBody>
          <a:bodyPr spcFirstLastPara="1" wrap="square" lIns="292550" tIns="292550" rIns="292550" bIns="292550" anchor="t" anchorCtr="0">
            <a:noAutofit/>
          </a:bodyPr>
          <a:lstStyle>
            <a:lvl1pPr marL="457200" lvl="0" indent="-469900">
              <a:spcBef>
                <a:spcPts val="0"/>
              </a:spcBef>
              <a:spcAft>
                <a:spcPts val="0"/>
              </a:spcAft>
              <a:buSzPts val="3800"/>
              <a:buChar char="●"/>
              <a:defRPr sz="3800"/>
            </a:lvl1pPr>
            <a:lvl2pPr marL="914400" lvl="1" indent="-469900">
              <a:spcBef>
                <a:spcPts val="5100"/>
              </a:spcBef>
              <a:spcAft>
                <a:spcPts val="0"/>
              </a:spcAft>
              <a:buSzPts val="3800"/>
              <a:buChar char="○"/>
              <a:defRPr sz="3800"/>
            </a:lvl2pPr>
            <a:lvl3pPr marL="1371600" lvl="2" indent="-469900">
              <a:spcBef>
                <a:spcPts val="5100"/>
              </a:spcBef>
              <a:spcAft>
                <a:spcPts val="0"/>
              </a:spcAft>
              <a:buSzPts val="3800"/>
              <a:buChar char="■"/>
              <a:defRPr sz="3800"/>
            </a:lvl3pPr>
            <a:lvl4pPr marL="1828800" lvl="3" indent="-469900">
              <a:spcBef>
                <a:spcPts val="5100"/>
              </a:spcBef>
              <a:spcAft>
                <a:spcPts val="0"/>
              </a:spcAft>
              <a:buSzPts val="3800"/>
              <a:buChar char="●"/>
              <a:defRPr sz="3800"/>
            </a:lvl4pPr>
            <a:lvl5pPr marL="2286000" lvl="4" indent="-469900">
              <a:spcBef>
                <a:spcPts val="5100"/>
              </a:spcBef>
              <a:spcAft>
                <a:spcPts val="0"/>
              </a:spcAft>
              <a:buSzPts val="3800"/>
              <a:buChar char="○"/>
              <a:defRPr sz="3800"/>
            </a:lvl5pPr>
            <a:lvl6pPr marL="2743200" lvl="5" indent="-469900">
              <a:spcBef>
                <a:spcPts val="5100"/>
              </a:spcBef>
              <a:spcAft>
                <a:spcPts val="0"/>
              </a:spcAft>
              <a:buSzPts val="3800"/>
              <a:buChar char="■"/>
              <a:defRPr sz="3800"/>
            </a:lvl6pPr>
            <a:lvl7pPr marL="3200400" lvl="6" indent="-469900">
              <a:spcBef>
                <a:spcPts val="5100"/>
              </a:spcBef>
              <a:spcAft>
                <a:spcPts val="0"/>
              </a:spcAft>
              <a:buSzPts val="3800"/>
              <a:buChar char="●"/>
              <a:defRPr sz="3800"/>
            </a:lvl7pPr>
            <a:lvl8pPr marL="3657600" lvl="7" indent="-469900">
              <a:spcBef>
                <a:spcPts val="5100"/>
              </a:spcBef>
              <a:spcAft>
                <a:spcPts val="0"/>
              </a:spcAft>
              <a:buSzPts val="3800"/>
              <a:buChar char="○"/>
              <a:defRPr sz="3800"/>
            </a:lvl8pPr>
            <a:lvl9pPr marL="4114800" lvl="8" indent="-469900">
              <a:spcBef>
                <a:spcPts val="5100"/>
              </a:spcBef>
              <a:spcAft>
                <a:spcPts val="5100"/>
              </a:spcAft>
              <a:buSzPts val="3800"/>
              <a:buChar char="■"/>
              <a:defRPr sz="3800"/>
            </a:lvl9pPr>
          </a:lstStyle>
          <a:p>
            <a:endParaRPr/>
          </a:p>
        </p:txBody>
      </p:sp>
      <p:sp>
        <p:nvSpPr>
          <p:cNvPr id="31" name="Google Shape;31;p7"/>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176600" y="2880960"/>
            <a:ext cx="15282600" cy="26180700"/>
          </a:xfrm>
          <a:prstGeom prst="rect">
            <a:avLst/>
          </a:prstGeom>
        </p:spPr>
        <p:txBody>
          <a:bodyPr spcFirstLastPara="1" wrap="square" lIns="292550" tIns="292550" rIns="292550" bIns="292550" anchor="ctr" anchorCtr="0">
            <a:no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0972800" y="-800"/>
            <a:ext cx="10972800" cy="329184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637200" y="7892320"/>
            <a:ext cx="9708600" cy="94866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637200" y="17939680"/>
            <a:ext cx="9708600" cy="7904100"/>
          </a:xfrm>
          <a:prstGeom prst="rect">
            <a:avLst/>
          </a:prstGeom>
        </p:spPr>
        <p:txBody>
          <a:bodyPr spcFirstLastPara="1" wrap="square" lIns="292550" tIns="292550" rIns="292550" bIns="292550" anchor="t" anchorCtr="0">
            <a:no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1854800" y="4634080"/>
            <a:ext cx="9208800" cy="23649000"/>
          </a:xfrm>
          <a:prstGeom prst="rect">
            <a:avLst/>
          </a:prstGeom>
        </p:spPr>
        <p:txBody>
          <a:bodyPr spcFirstLastPara="1" wrap="square" lIns="292550" tIns="292550" rIns="292550" bIns="292550" anchor="ctr" anchorCtr="0">
            <a:noAutofit/>
          </a:bodyPr>
          <a:lstStyle>
            <a:lvl1pPr marL="457200" lvl="0" indent="-596900">
              <a:spcBef>
                <a:spcPts val="0"/>
              </a:spcBef>
              <a:spcAft>
                <a:spcPts val="0"/>
              </a:spcAft>
              <a:buSzPts val="5800"/>
              <a:buChar char="●"/>
              <a:defRPr/>
            </a:lvl1pPr>
            <a:lvl2pPr marL="914400" lvl="1" indent="-514350">
              <a:spcBef>
                <a:spcPts val="5100"/>
              </a:spcBef>
              <a:spcAft>
                <a:spcPts val="0"/>
              </a:spcAft>
              <a:buSzPts val="4500"/>
              <a:buChar char="○"/>
              <a:defRPr/>
            </a:lvl2pPr>
            <a:lvl3pPr marL="1371600" lvl="2" indent="-514350">
              <a:spcBef>
                <a:spcPts val="5100"/>
              </a:spcBef>
              <a:spcAft>
                <a:spcPts val="0"/>
              </a:spcAft>
              <a:buSzPts val="4500"/>
              <a:buChar char="■"/>
              <a:defRPr/>
            </a:lvl3pPr>
            <a:lvl4pPr marL="1828800" lvl="3" indent="-514350">
              <a:spcBef>
                <a:spcPts val="5100"/>
              </a:spcBef>
              <a:spcAft>
                <a:spcPts val="0"/>
              </a:spcAft>
              <a:buSzPts val="4500"/>
              <a:buChar char="●"/>
              <a:defRPr/>
            </a:lvl4pPr>
            <a:lvl5pPr marL="2286000" lvl="4" indent="-514350">
              <a:spcBef>
                <a:spcPts val="5100"/>
              </a:spcBef>
              <a:spcAft>
                <a:spcPts val="0"/>
              </a:spcAft>
              <a:buSzPts val="4500"/>
              <a:buChar char="○"/>
              <a:defRPr/>
            </a:lvl5pPr>
            <a:lvl6pPr marL="2743200" lvl="5" indent="-514350">
              <a:spcBef>
                <a:spcPts val="5100"/>
              </a:spcBef>
              <a:spcAft>
                <a:spcPts val="0"/>
              </a:spcAft>
              <a:buSzPts val="4500"/>
              <a:buChar char="■"/>
              <a:defRPr/>
            </a:lvl6pPr>
            <a:lvl7pPr marL="3200400" lvl="6" indent="-514350">
              <a:spcBef>
                <a:spcPts val="5100"/>
              </a:spcBef>
              <a:spcAft>
                <a:spcPts val="0"/>
              </a:spcAft>
              <a:buSzPts val="4500"/>
              <a:buChar char="●"/>
              <a:defRPr/>
            </a:lvl7pPr>
            <a:lvl8pPr marL="3657600" lvl="7" indent="-514350">
              <a:spcBef>
                <a:spcPts val="5100"/>
              </a:spcBef>
              <a:spcAft>
                <a:spcPts val="0"/>
              </a:spcAft>
              <a:buSzPts val="4500"/>
              <a:buChar char="○"/>
              <a:defRPr/>
            </a:lvl8pPr>
            <a:lvl9pPr marL="4114800" lvl="8" indent="-514350">
              <a:spcBef>
                <a:spcPts val="5100"/>
              </a:spcBef>
              <a:spcAft>
                <a:spcPts val="5100"/>
              </a:spcAft>
              <a:buSzPts val="4500"/>
              <a:buChar char="■"/>
              <a:defRPr/>
            </a:lvl9pPr>
          </a:lstStyle>
          <a:p>
            <a:endParaRPr/>
          </a:p>
        </p:txBody>
      </p:sp>
      <p:sp>
        <p:nvSpPr>
          <p:cNvPr id="40" name="Google Shape;40;p9"/>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748080" y="27075680"/>
            <a:ext cx="14397000" cy="3872100"/>
          </a:xfrm>
          <a:prstGeom prst="rect">
            <a:avLst/>
          </a:prstGeom>
        </p:spPr>
        <p:txBody>
          <a:bodyPr spcFirstLastPara="1" wrap="square" lIns="292550" tIns="292550" rIns="292550" bIns="292550" anchor="ctr" anchorCtr="0">
            <a:no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748080" y="7079200"/>
            <a:ext cx="20449500" cy="12567000"/>
          </a:xfrm>
          <a:prstGeom prst="rect">
            <a:avLst/>
          </a:prstGeom>
        </p:spPr>
        <p:txBody>
          <a:bodyPr spcFirstLastPara="1" wrap="square" lIns="292550" tIns="292550" rIns="292550" bIns="292550" anchor="b" anchorCtr="0">
            <a:no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748080" y="20174240"/>
            <a:ext cx="20449500" cy="8324700"/>
          </a:xfrm>
          <a:prstGeom prst="rect">
            <a:avLst/>
          </a:prstGeom>
        </p:spPr>
        <p:txBody>
          <a:bodyPr spcFirstLastPara="1" wrap="square" lIns="292550" tIns="292550" rIns="292550" bIns="292550" anchor="t" anchorCtr="0">
            <a:noAutofit/>
          </a:bodyPr>
          <a:lstStyle>
            <a:lvl1pPr marL="457200" lvl="0" indent="-596900" algn="ctr">
              <a:spcBef>
                <a:spcPts val="0"/>
              </a:spcBef>
              <a:spcAft>
                <a:spcPts val="0"/>
              </a:spcAft>
              <a:buSzPts val="5800"/>
              <a:buChar char="●"/>
              <a:defRPr/>
            </a:lvl1pPr>
            <a:lvl2pPr marL="914400" lvl="1" indent="-514350" algn="ctr">
              <a:spcBef>
                <a:spcPts val="5100"/>
              </a:spcBef>
              <a:spcAft>
                <a:spcPts val="0"/>
              </a:spcAft>
              <a:buSzPts val="4500"/>
              <a:buChar char="○"/>
              <a:defRPr/>
            </a:lvl2pPr>
            <a:lvl3pPr marL="1371600" lvl="2" indent="-514350" algn="ctr">
              <a:spcBef>
                <a:spcPts val="5100"/>
              </a:spcBef>
              <a:spcAft>
                <a:spcPts val="0"/>
              </a:spcAft>
              <a:buSzPts val="4500"/>
              <a:buChar char="■"/>
              <a:defRPr/>
            </a:lvl3pPr>
            <a:lvl4pPr marL="1828800" lvl="3" indent="-514350" algn="ctr">
              <a:spcBef>
                <a:spcPts val="5100"/>
              </a:spcBef>
              <a:spcAft>
                <a:spcPts val="0"/>
              </a:spcAft>
              <a:buSzPts val="4500"/>
              <a:buChar char="●"/>
              <a:defRPr/>
            </a:lvl4pPr>
            <a:lvl5pPr marL="2286000" lvl="4" indent="-514350" algn="ctr">
              <a:spcBef>
                <a:spcPts val="5100"/>
              </a:spcBef>
              <a:spcAft>
                <a:spcPts val="0"/>
              </a:spcAft>
              <a:buSzPts val="4500"/>
              <a:buChar char="○"/>
              <a:defRPr/>
            </a:lvl5pPr>
            <a:lvl6pPr marL="2743200" lvl="5" indent="-514350" algn="ctr">
              <a:spcBef>
                <a:spcPts val="5100"/>
              </a:spcBef>
              <a:spcAft>
                <a:spcPts val="0"/>
              </a:spcAft>
              <a:buSzPts val="4500"/>
              <a:buChar char="■"/>
              <a:defRPr/>
            </a:lvl6pPr>
            <a:lvl7pPr marL="3200400" lvl="6" indent="-514350" algn="ctr">
              <a:spcBef>
                <a:spcPts val="5100"/>
              </a:spcBef>
              <a:spcAft>
                <a:spcPts val="0"/>
              </a:spcAft>
              <a:buSzPts val="4500"/>
              <a:buChar char="●"/>
              <a:defRPr/>
            </a:lvl7pPr>
            <a:lvl8pPr marL="3657600" lvl="7" indent="-514350" algn="ctr">
              <a:spcBef>
                <a:spcPts val="5100"/>
              </a:spcBef>
              <a:spcAft>
                <a:spcPts val="0"/>
              </a:spcAft>
              <a:buSzPts val="4500"/>
              <a:buChar char="○"/>
              <a:defRPr/>
            </a:lvl8pPr>
            <a:lvl9pPr marL="4114800" lvl="8" indent="-514350" algn="ctr">
              <a:spcBef>
                <a:spcPts val="5100"/>
              </a:spcBef>
              <a:spcAft>
                <a:spcPts val="5100"/>
              </a:spcAft>
              <a:buSzPts val="4500"/>
              <a:buChar char="■"/>
              <a:defRPr/>
            </a:lvl9pPr>
          </a:lstStyle>
          <a:p>
            <a:endParaRPr/>
          </a:p>
        </p:txBody>
      </p:sp>
      <p:sp>
        <p:nvSpPr>
          <p:cNvPr id="47" name="Google Shape;47;p11"/>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0333899" y="29844588"/>
            <a:ext cx="1317000" cy="2518500"/>
          </a:xfrm>
          <a:prstGeom prst="rect">
            <a:avLst/>
          </a:prstGeom>
        </p:spPr>
        <p:txBody>
          <a:bodyPr spcFirstLastPara="1" wrap="square" lIns="292550" tIns="292550" rIns="292550" bIns="2925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mplate 1"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lvl="0" indent="0" algn="ctr">
              <a:lnSpc>
                <a:spcPct val="100000"/>
              </a:lnSpc>
              <a:spcBef>
                <a:spcPts val="0"/>
              </a:spcBef>
              <a:spcAft>
                <a:spcPts val="0"/>
              </a:spcAft>
              <a:buClr>
                <a:srgbClr val="000000"/>
              </a:buClr>
              <a:buSzPts val="5400"/>
              <a:buFont typeface="Helvetica Neue Light"/>
              <a:buNone/>
              <a:defRPr/>
            </a:lvl1pPr>
            <a:lvl2pPr marL="0" lvl="1" indent="0" algn="ctr">
              <a:lnSpc>
                <a:spcPct val="100000"/>
              </a:lnSpc>
              <a:spcBef>
                <a:spcPts val="0"/>
              </a:spcBef>
              <a:spcAft>
                <a:spcPts val="0"/>
              </a:spcAft>
              <a:buClr>
                <a:srgbClr val="000000"/>
              </a:buClr>
              <a:buSzPts val="5400"/>
              <a:buFont typeface="Helvetica Neue Light"/>
              <a:buNone/>
              <a:defRPr/>
            </a:lvl2pPr>
            <a:lvl3pPr marL="0" lvl="2" indent="0" algn="ctr">
              <a:lnSpc>
                <a:spcPct val="100000"/>
              </a:lnSpc>
              <a:spcBef>
                <a:spcPts val="0"/>
              </a:spcBef>
              <a:spcAft>
                <a:spcPts val="0"/>
              </a:spcAft>
              <a:buClr>
                <a:srgbClr val="000000"/>
              </a:buClr>
              <a:buSzPts val="5400"/>
              <a:buFont typeface="Helvetica Neue Light"/>
              <a:buNone/>
              <a:defRPr/>
            </a:lvl3pPr>
            <a:lvl4pPr marL="0" lvl="3" indent="0" algn="ctr">
              <a:lnSpc>
                <a:spcPct val="100000"/>
              </a:lnSpc>
              <a:spcBef>
                <a:spcPts val="0"/>
              </a:spcBef>
              <a:spcAft>
                <a:spcPts val="0"/>
              </a:spcAft>
              <a:buClr>
                <a:srgbClr val="000000"/>
              </a:buClr>
              <a:buSzPts val="5400"/>
              <a:buFont typeface="Helvetica Neue Light"/>
              <a:buNone/>
              <a:defRPr/>
            </a:lvl4pPr>
            <a:lvl5pPr marL="0" lvl="4" indent="0" algn="ctr">
              <a:lnSpc>
                <a:spcPct val="100000"/>
              </a:lnSpc>
              <a:spcBef>
                <a:spcPts val="0"/>
              </a:spcBef>
              <a:spcAft>
                <a:spcPts val="0"/>
              </a:spcAft>
              <a:buClr>
                <a:srgbClr val="000000"/>
              </a:buClr>
              <a:buSzPts val="5400"/>
              <a:buFont typeface="Helvetica Neue Light"/>
              <a:buNone/>
              <a:defRPr/>
            </a:lvl5pPr>
            <a:lvl6pPr marL="0" lvl="5" indent="0" algn="ctr">
              <a:lnSpc>
                <a:spcPct val="100000"/>
              </a:lnSpc>
              <a:spcBef>
                <a:spcPts val="0"/>
              </a:spcBef>
              <a:spcAft>
                <a:spcPts val="0"/>
              </a:spcAft>
              <a:buClr>
                <a:srgbClr val="000000"/>
              </a:buClr>
              <a:buSzPts val="5400"/>
              <a:buFont typeface="Helvetica Neue Light"/>
              <a:buNone/>
              <a:defRPr/>
            </a:lvl6pPr>
            <a:lvl7pPr marL="0" lvl="6" indent="0" algn="ctr">
              <a:lnSpc>
                <a:spcPct val="100000"/>
              </a:lnSpc>
              <a:spcBef>
                <a:spcPts val="0"/>
              </a:spcBef>
              <a:spcAft>
                <a:spcPts val="0"/>
              </a:spcAft>
              <a:buClr>
                <a:srgbClr val="000000"/>
              </a:buClr>
              <a:buSzPts val="5400"/>
              <a:buFont typeface="Helvetica Neue Light"/>
              <a:buNone/>
              <a:defRPr/>
            </a:lvl7pPr>
            <a:lvl8pPr marL="0" lvl="7" indent="0" algn="ctr">
              <a:lnSpc>
                <a:spcPct val="100000"/>
              </a:lnSpc>
              <a:spcBef>
                <a:spcPts val="0"/>
              </a:spcBef>
              <a:spcAft>
                <a:spcPts val="0"/>
              </a:spcAft>
              <a:buClr>
                <a:srgbClr val="000000"/>
              </a:buClr>
              <a:buSzPts val="5400"/>
              <a:buFont typeface="Helvetica Neue Light"/>
              <a:buNone/>
              <a:defRPr/>
            </a:lvl8pPr>
            <a:lvl9pPr marL="0" lvl="8" indent="0" algn="ctr">
              <a:lnSpc>
                <a:spcPct val="100000"/>
              </a:lnSpc>
              <a:spcBef>
                <a:spcPts val="0"/>
              </a:spcBef>
              <a:spcAft>
                <a:spcPts val="0"/>
              </a:spcAft>
              <a:buClr>
                <a:srgbClr val="000000"/>
              </a:buClr>
              <a:buSzPts val="5400"/>
              <a:buFont typeface="Helvetica Neue Light"/>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48080" y="2848160"/>
            <a:ext cx="20449500" cy="3664800"/>
          </a:xfrm>
          <a:prstGeom prst="rect">
            <a:avLst/>
          </a:prstGeom>
          <a:noFill/>
          <a:ln>
            <a:noFill/>
          </a:ln>
        </p:spPr>
        <p:txBody>
          <a:bodyPr spcFirstLastPara="1" wrap="square" lIns="292550" tIns="292550" rIns="292550" bIns="292550" anchor="t" anchorCtr="0">
            <a:no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748080" y="7375840"/>
            <a:ext cx="20449500" cy="21864900"/>
          </a:xfrm>
          <a:prstGeom prst="rect">
            <a:avLst/>
          </a:prstGeom>
          <a:noFill/>
          <a:ln>
            <a:noFill/>
          </a:ln>
        </p:spPr>
        <p:txBody>
          <a:bodyPr spcFirstLastPara="1" wrap="square" lIns="292550" tIns="292550" rIns="292550" bIns="292550" anchor="t" anchorCtr="0">
            <a:no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5100"/>
              </a:spcBef>
              <a:spcAft>
                <a:spcPts val="0"/>
              </a:spcAft>
              <a:buClr>
                <a:schemeClr val="dk2"/>
              </a:buClr>
              <a:buSzPts val="4500"/>
              <a:buChar char="○"/>
              <a:defRPr sz="4500">
                <a:solidFill>
                  <a:schemeClr val="dk2"/>
                </a:solidFill>
              </a:defRPr>
            </a:lvl2pPr>
            <a:lvl3pPr marL="1371600" lvl="2" indent="-514350">
              <a:lnSpc>
                <a:spcPct val="115000"/>
              </a:lnSpc>
              <a:spcBef>
                <a:spcPts val="5100"/>
              </a:spcBef>
              <a:spcAft>
                <a:spcPts val="0"/>
              </a:spcAft>
              <a:buClr>
                <a:schemeClr val="dk2"/>
              </a:buClr>
              <a:buSzPts val="4500"/>
              <a:buChar char="■"/>
              <a:defRPr sz="4500">
                <a:solidFill>
                  <a:schemeClr val="dk2"/>
                </a:solidFill>
              </a:defRPr>
            </a:lvl3pPr>
            <a:lvl4pPr marL="1828800" lvl="3" indent="-514350">
              <a:lnSpc>
                <a:spcPct val="115000"/>
              </a:lnSpc>
              <a:spcBef>
                <a:spcPts val="5100"/>
              </a:spcBef>
              <a:spcAft>
                <a:spcPts val="0"/>
              </a:spcAft>
              <a:buClr>
                <a:schemeClr val="dk2"/>
              </a:buClr>
              <a:buSzPts val="4500"/>
              <a:buChar char="●"/>
              <a:defRPr sz="4500">
                <a:solidFill>
                  <a:schemeClr val="dk2"/>
                </a:solidFill>
              </a:defRPr>
            </a:lvl4pPr>
            <a:lvl5pPr marL="2286000" lvl="4" indent="-514350">
              <a:lnSpc>
                <a:spcPct val="115000"/>
              </a:lnSpc>
              <a:spcBef>
                <a:spcPts val="5100"/>
              </a:spcBef>
              <a:spcAft>
                <a:spcPts val="0"/>
              </a:spcAft>
              <a:buClr>
                <a:schemeClr val="dk2"/>
              </a:buClr>
              <a:buSzPts val="4500"/>
              <a:buChar char="○"/>
              <a:defRPr sz="4500">
                <a:solidFill>
                  <a:schemeClr val="dk2"/>
                </a:solidFill>
              </a:defRPr>
            </a:lvl5pPr>
            <a:lvl6pPr marL="2743200" lvl="5" indent="-514350">
              <a:lnSpc>
                <a:spcPct val="115000"/>
              </a:lnSpc>
              <a:spcBef>
                <a:spcPts val="5100"/>
              </a:spcBef>
              <a:spcAft>
                <a:spcPts val="0"/>
              </a:spcAft>
              <a:buClr>
                <a:schemeClr val="dk2"/>
              </a:buClr>
              <a:buSzPts val="4500"/>
              <a:buChar char="■"/>
              <a:defRPr sz="4500">
                <a:solidFill>
                  <a:schemeClr val="dk2"/>
                </a:solidFill>
              </a:defRPr>
            </a:lvl6pPr>
            <a:lvl7pPr marL="3200400" lvl="6" indent="-514350">
              <a:lnSpc>
                <a:spcPct val="115000"/>
              </a:lnSpc>
              <a:spcBef>
                <a:spcPts val="5100"/>
              </a:spcBef>
              <a:spcAft>
                <a:spcPts val="0"/>
              </a:spcAft>
              <a:buClr>
                <a:schemeClr val="dk2"/>
              </a:buClr>
              <a:buSzPts val="4500"/>
              <a:buChar char="●"/>
              <a:defRPr sz="4500">
                <a:solidFill>
                  <a:schemeClr val="dk2"/>
                </a:solidFill>
              </a:defRPr>
            </a:lvl7pPr>
            <a:lvl8pPr marL="3657600" lvl="7" indent="-514350">
              <a:lnSpc>
                <a:spcPct val="115000"/>
              </a:lnSpc>
              <a:spcBef>
                <a:spcPts val="5100"/>
              </a:spcBef>
              <a:spcAft>
                <a:spcPts val="0"/>
              </a:spcAft>
              <a:buClr>
                <a:schemeClr val="dk2"/>
              </a:buClr>
              <a:buSzPts val="4500"/>
              <a:buChar char="○"/>
              <a:defRPr sz="4500">
                <a:solidFill>
                  <a:schemeClr val="dk2"/>
                </a:solidFill>
              </a:defRPr>
            </a:lvl8pPr>
            <a:lvl9pPr marL="4114800" lvl="8" indent="-514350">
              <a:lnSpc>
                <a:spcPct val="115000"/>
              </a:lnSpc>
              <a:spcBef>
                <a:spcPts val="5100"/>
              </a:spcBef>
              <a:spcAft>
                <a:spcPts val="510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0333899" y="29844588"/>
            <a:ext cx="1317000" cy="2518500"/>
          </a:xfrm>
          <a:prstGeom prst="rect">
            <a:avLst/>
          </a:prstGeom>
          <a:noFill/>
          <a:ln>
            <a:noFill/>
          </a:ln>
        </p:spPr>
        <p:txBody>
          <a:bodyPr spcFirstLastPara="1" wrap="square" lIns="292550" tIns="292550" rIns="292550" bIns="292550" anchor="ctr" anchorCtr="0">
            <a:no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pic>
        <p:nvPicPr>
          <p:cNvPr id="51" name="Google Shape;51;p13" descr="Image"/>
          <p:cNvPicPr preferRelativeResize="0"/>
          <p:nvPr/>
        </p:nvPicPr>
        <p:blipFill rotWithShape="1">
          <a:blip r:embed="rId3">
            <a:alphaModFix/>
          </a:blip>
          <a:srcRect/>
          <a:stretch/>
        </p:blipFill>
        <p:spPr>
          <a:xfrm>
            <a:off x="-46998" y="-620308"/>
            <a:ext cx="22039596" cy="33558349"/>
          </a:xfrm>
          <a:prstGeom prst="rect">
            <a:avLst/>
          </a:prstGeom>
          <a:noFill/>
          <a:ln>
            <a:noFill/>
          </a:ln>
        </p:spPr>
      </p:pic>
      <p:sp>
        <p:nvSpPr>
          <p:cNvPr id="52" name="Google Shape;52;p13"/>
          <p:cNvSpPr txBox="1">
            <a:spLocks noGrp="1"/>
          </p:cNvSpPr>
          <p:nvPr>
            <p:ph type="title"/>
          </p:nvPr>
        </p:nvSpPr>
        <p:spPr>
          <a:xfrm>
            <a:off x="2143125" y="10994231"/>
            <a:ext cx="17659349" cy="5572126"/>
          </a:xfrm>
          <a:prstGeom prst="rect">
            <a:avLst/>
          </a:prstGeom>
          <a:noFill/>
          <a:ln>
            <a:noFill/>
          </a:ln>
        </p:spPr>
        <p:txBody>
          <a:bodyPr spcFirstLastPara="1" wrap="square" lIns="85725" tIns="85725" rIns="85725" bIns="85725" anchor="b" anchorCtr="0">
            <a:noAutofit/>
          </a:bodyPr>
          <a:lstStyle>
            <a:lvl1pPr marR="0" lvl="0"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27000"/>
              <a:buFont typeface="Helvetica Neue"/>
              <a:buNone/>
              <a:defRPr sz="27000" b="0" i="0" u="none" strike="noStrike" cap="none">
                <a:solidFill>
                  <a:srgbClr val="000000"/>
                </a:solidFill>
                <a:latin typeface="Helvetica Neue"/>
                <a:ea typeface="Helvetica Neue"/>
                <a:cs typeface="Helvetica Neue"/>
                <a:sym typeface="Helvetica Neue"/>
              </a:defRPr>
            </a:lvl9pPr>
          </a:lstStyle>
          <a:p>
            <a:endParaRPr/>
          </a:p>
        </p:txBody>
      </p:sp>
      <p:sp>
        <p:nvSpPr>
          <p:cNvPr id="53" name="Google Shape;53;p13"/>
          <p:cNvSpPr txBox="1">
            <a:spLocks noGrp="1"/>
          </p:cNvSpPr>
          <p:nvPr>
            <p:ph type="body" idx="1"/>
          </p:nvPr>
        </p:nvSpPr>
        <p:spPr>
          <a:xfrm>
            <a:off x="2143125" y="16737806"/>
            <a:ext cx="17659349" cy="1907382"/>
          </a:xfrm>
          <a:prstGeom prst="rect">
            <a:avLst/>
          </a:prstGeom>
          <a:noFill/>
          <a:ln>
            <a:noFill/>
          </a:ln>
        </p:spPr>
        <p:txBody>
          <a:bodyPr spcFirstLastPara="1" wrap="square" lIns="85725" tIns="85725" rIns="85725" bIns="85725" anchor="t" anchorCtr="0">
            <a:noAutofit/>
          </a:bodyPr>
          <a:lstStyle>
            <a:lvl1pPr marL="457200" marR="0" lvl="0"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5pPr>
            <a:lvl6pPr marL="2743200" marR="0" lvl="5"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6pPr>
            <a:lvl7pPr marL="3200400" marR="0" lvl="6"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7pPr>
            <a:lvl8pPr marL="3657600" marR="0" lvl="7"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8pPr>
            <a:lvl9pPr marL="4114800" marR="0" lvl="8" indent="-228600" algn="ctr" rtl="0">
              <a:lnSpc>
                <a:spcPct val="100000"/>
              </a:lnSpc>
              <a:spcBef>
                <a:spcPts val="0"/>
              </a:spcBef>
              <a:spcAft>
                <a:spcPts val="0"/>
              </a:spcAft>
              <a:buClr>
                <a:srgbClr val="000000"/>
              </a:buClr>
              <a:buSzPts val="12400"/>
              <a:buFont typeface="Helvetica Neue"/>
              <a:buNone/>
              <a:defRPr sz="12400" b="0" i="0" u="none" strike="noStrike" cap="none">
                <a:solidFill>
                  <a:srgbClr val="000000"/>
                </a:solidFill>
                <a:latin typeface="Helvetica Neue"/>
                <a:ea typeface="Helvetica Neue"/>
                <a:cs typeface="Helvetica Neue"/>
                <a:sym typeface="Helvetica Neue"/>
              </a:defRPr>
            </a:lvl9pPr>
          </a:lstStyle>
          <a:p>
            <a:endParaRPr/>
          </a:p>
        </p:txBody>
      </p:sp>
      <p:sp>
        <p:nvSpPr>
          <p:cNvPr id="54" name="Google Shape;54;p13"/>
          <p:cNvSpPr txBox="1">
            <a:spLocks noGrp="1"/>
          </p:cNvSpPr>
          <p:nvPr>
            <p:ph type="sldNum" idx="12"/>
          </p:nvPr>
        </p:nvSpPr>
        <p:spPr>
          <a:xfrm>
            <a:off x="10493705" y="23917275"/>
            <a:ext cx="946760" cy="989758"/>
          </a:xfrm>
          <a:prstGeom prst="rect">
            <a:avLst/>
          </a:prstGeom>
          <a:noFill/>
          <a:ln>
            <a:noFill/>
          </a:ln>
        </p:spPr>
        <p:txBody>
          <a:bodyPr spcFirstLastPara="1" wrap="square" lIns="85725" tIns="85725" rIns="85725" bIns="85725" anchor="t" anchorCtr="0">
            <a:noAutofit/>
          </a:bodyPr>
          <a:lstStyle>
            <a:lvl1pPr marL="0" marR="0" lvl="0"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5400"/>
              <a:buFont typeface="Helvetica Neue Light"/>
              <a:buNone/>
              <a:defRPr sz="54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opensource.org/osd" TargetMode="External"/><Relationship Id="rId3" Type="http://schemas.openxmlformats.org/officeDocument/2006/relationships/image" Target="../media/image2.tiff"/><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9.jpg"/><Relationship Id="rId5" Type="http://schemas.openxmlformats.org/officeDocument/2006/relationships/image" Target="../media/image4.png"/><Relationship Id="rId15" Type="http://schemas.openxmlformats.org/officeDocument/2006/relationships/hyperlink" Target="https://developer.github.com/v4" TargetMode="External"/><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hyperlink" Target="https://github.com/" TargetMode="External"/><Relationship Id="rId14" Type="http://schemas.openxmlformats.org/officeDocument/2006/relationships/hyperlink" Target="http://ghtorrent.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5" name="Picture 4">
            <a:extLst>
              <a:ext uri="{FF2B5EF4-FFF2-40B4-BE49-F238E27FC236}">
                <a16:creationId xmlns:a16="http://schemas.microsoft.com/office/drawing/2014/main" id="{DB774E1B-551D-C247-A456-E307D0F73DFD}"/>
              </a:ext>
            </a:extLst>
          </p:cNvPr>
          <p:cNvPicPr>
            <a:picLocks noChangeAspect="1"/>
          </p:cNvPicPr>
          <p:nvPr/>
        </p:nvPicPr>
        <p:blipFill>
          <a:blip r:embed="rId3"/>
          <a:stretch>
            <a:fillRect/>
          </a:stretch>
        </p:blipFill>
        <p:spPr>
          <a:xfrm>
            <a:off x="6373978" y="15445714"/>
            <a:ext cx="6675571" cy="3034350"/>
          </a:xfrm>
          <a:prstGeom prst="rect">
            <a:avLst/>
          </a:prstGeom>
        </p:spPr>
      </p:pic>
      <p:pic>
        <p:nvPicPr>
          <p:cNvPr id="235" name="Google Shape;235;p17"/>
          <p:cNvPicPr preferRelativeResize="0"/>
          <p:nvPr/>
        </p:nvPicPr>
        <p:blipFill rotWithShape="1">
          <a:blip r:embed="rId4">
            <a:alphaModFix/>
          </a:blip>
          <a:srcRect l="23897" t="6087" r="25979" b="2609"/>
          <a:stretch/>
        </p:blipFill>
        <p:spPr>
          <a:xfrm>
            <a:off x="12973114" y="9307068"/>
            <a:ext cx="2335524" cy="2233461"/>
          </a:xfrm>
          <a:prstGeom prst="rect">
            <a:avLst/>
          </a:prstGeom>
          <a:noFill/>
          <a:ln>
            <a:noFill/>
          </a:ln>
        </p:spPr>
      </p:pic>
      <p:sp>
        <p:nvSpPr>
          <p:cNvPr id="197" name="Google Shape;197;p17"/>
          <p:cNvSpPr/>
          <p:nvPr/>
        </p:nvSpPr>
        <p:spPr>
          <a:xfrm>
            <a:off x="1344825" y="4092450"/>
            <a:ext cx="8042654"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txBox="1"/>
          <p:nvPr/>
        </p:nvSpPr>
        <p:spPr>
          <a:xfrm>
            <a:off x="440382" y="204641"/>
            <a:ext cx="13189852" cy="1892700"/>
          </a:xfrm>
          <a:prstGeom prst="rect">
            <a:avLst/>
          </a:prstGeom>
          <a:noFill/>
          <a:ln>
            <a:noFill/>
          </a:ln>
        </p:spPr>
        <p:txBody>
          <a:bodyPr spcFirstLastPara="1" wrap="square" lIns="114300" tIns="114300" rIns="114300" bIns="114300" anchor="b" anchorCtr="0">
            <a:noAutofit/>
          </a:bodyPr>
          <a:lstStyle/>
          <a:p>
            <a:pPr marL="0" marR="0" lvl="0" indent="0" rtl="0">
              <a:lnSpc>
                <a:spcPct val="100000"/>
              </a:lnSpc>
              <a:spcBef>
                <a:spcPts val="0"/>
              </a:spcBef>
              <a:spcAft>
                <a:spcPts val="0"/>
              </a:spcAft>
              <a:buClr>
                <a:srgbClr val="FFFFFF"/>
              </a:buClr>
              <a:buSzPts val="5400"/>
              <a:buFont typeface="Franklin Gothic"/>
              <a:buNone/>
            </a:pPr>
            <a:r>
              <a:rPr lang="en" sz="5400" b="0" i="0" u="none" strike="noStrike" cap="none" dirty="0">
                <a:solidFill>
                  <a:srgbClr val="FFFFFF"/>
                </a:solidFill>
                <a:latin typeface="Franklin Gothic"/>
                <a:ea typeface="Franklin Gothic"/>
                <a:cs typeface="Franklin Gothic"/>
                <a:sym typeface="Franklin Gothic"/>
              </a:rPr>
              <a:t>MEASURING THE UNIVERSE OF</a:t>
            </a:r>
            <a:r>
              <a:rPr lang="en" sz="5400" dirty="0">
                <a:solidFill>
                  <a:srgbClr val="FFFFFF"/>
                </a:solidFill>
                <a:latin typeface="Franklin Gothic"/>
                <a:ea typeface="Franklin Gothic"/>
                <a:cs typeface="Franklin Gothic"/>
                <a:sym typeface="Franklin Gothic"/>
              </a:rPr>
              <a:t> </a:t>
            </a:r>
          </a:p>
          <a:p>
            <a:pPr marL="0" marR="0" lvl="0" indent="0" rtl="0">
              <a:lnSpc>
                <a:spcPct val="100000"/>
              </a:lnSpc>
              <a:spcBef>
                <a:spcPts val="0"/>
              </a:spcBef>
              <a:spcAft>
                <a:spcPts val="0"/>
              </a:spcAft>
              <a:buClr>
                <a:srgbClr val="FFFFFF"/>
              </a:buClr>
              <a:buSzPts val="5400"/>
              <a:buFont typeface="Franklin Gothic"/>
              <a:buNone/>
            </a:pPr>
            <a:r>
              <a:rPr lang="en" sz="5400" b="0" i="0" u="none" strike="noStrike" cap="none" dirty="0">
                <a:solidFill>
                  <a:srgbClr val="FFFFFF"/>
                </a:solidFill>
                <a:latin typeface="Franklin Gothic"/>
                <a:ea typeface="Franklin Gothic"/>
                <a:cs typeface="Franklin Gothic"/>
                <a:sym typeface="Franklin Gothic"/>
              </a:rPr>
              <a:t>OPEN SOURCE SOFTWARE</a:t>
            </a:r>
            <a:endParaRPr sz="5400" dirty="0"/>
          </a:p>
        </p:txBody>
      </p:sp>
      <p:sp>
        <p:nvSpPr>
          <p:cNvPr id="199" name="Google Shape;199;p17"/>
          <p:cNvSpPr txBox="1"/>
          <p:nvPr/>
        </p:nvSpPr>
        <p:spPr>
          <a:xfrm>
            <a:off x="440382" y="2159311"/>
            <a:ext cx="11578658" cy="1366638"/>
          </a:xfrm>
          <a:prstGeom prst="rect">
            <a:avLst/>
          </a:prstGeom>
          <a:noFill/>
          <a:ln>
            <a:noFill/>
          </a:ln>
        </p:spPr>
        <p:txBody>
          <a:bodyPr spcFirstLastPara="1" wrap="square" lIns="114300" tIns="114300" rIns="114300" bIns="114300" anchor="ctr" anchorCtr="0">
            <a:noAutofit/>
          </a:bodyPr>
          <a:lstStyle/>
          <a:p>
            <a:pPr lvl="0">
              <a:buClr>
                <a:srgbClr val="FFFFFF"/>
              </a:buClr>
              <a:buSzPts val="2100"/>
            </a:pPr>
            <a:r>
              <a:rPr lang="en" sz="2100" dirty="0">
                <a:solidFill>
                  <a:srgbClr val="FFFFFF"/>
                </a:solidFill>
                <a:latin typeface="Franklin Gothic"/>
                <a:ea typeface="Franklin Gothic"/>
                <a:cs typeface="Franklin Gothic"/>
                <a:sym typeface="Franklin Gothic"/>
              </a:rPr>
              <a:t>DSPG Team</a:t>
            </a:r>
            <a:r>
              <a:rPr lang="en" sz="2100" dirty="0">
                <a:solidFill>
                  <a:srgbClr val="FFFFFF"/>
                </a:solidFill>
                <a:latin typeface="Franklin Gothic"/>
                <a:sym typeface="Franklin Gothic"/>
              </a:rPr>
              <a:t>: Cong Cong (University of Illinois at Urbana-Champaign), Calvin </a:t>
            </a:r>
            <a:r>
              <a:rPr lang="en" sz="2100" dirty="0">
                <a:solidFill>
                  <a:srgbClr val="FFFFFF"/>
                </a:solidFill>
                <a:latin typeface="Franklin Gothic"/>
                <a:ea typeface="Franklin Gothic"/>
                <a:cs typeface="Franklin Gothic"/>
                <a:sym typeface="Franklin Gothic"/>
              </a:rPr>
              <a:t>Isch (Indiana University), Eliza Tobin (University of Virginia)​ </a:t>
            </a:r>
          </a:p>
          <a:p>
            <a:pPr lvl="0">
              <a:lnSpc>
                <a:spcPct val="150000"/>
              </a:lnSpc>
              <a:buClr>
                <a:srgbClr val="FFFFFF"/>
              </a:buClr>
              <a:buSzPts val="2100"/>
            </a:pPr>
            <a:r>
              <a:rPr lang="en" sz="2100" dirty="0">
                <a:solidFill>
                  <a:srgbClr val="FFFFFF"/>
                </a:solidFill>
                <a:latin typeface="Franklin Gothic"/>
                <a:ea typeface="Franklin Gothic"/>
                <a:cs typeface="Franklin Gothic"/>
                <a:sym typeface="Franklin Gothic"/>
              </a:rPr>
              <a:t>SDAD Team: Gizem </a:t>
            </a:r>
            <a:r>
              <a:rPr lang="en" sz="2100" dirty="0">
                <a:solidFill>
                  <a:srgbClr val="FFFFFF"/>
                </a:solidFill>
                <a:latin typeface="Franklin Gothic"/>
                <a:sym typeface="Franklin Gothic"/>
              </a:rPr>
              <a:t>Korkmaz, </a:t>
            </a:r>
            <a:r>
              <a:rPr lang="en-US" sz="2100" dirty="0">
                <a:solidFill>
                  <a:srgbClr val="FFFFFF"/>
                </a:solidFill>
                <a:latin typeface="Franklin Gothic"/>
              </a:rPr>
              <a:t>Bayoán Santiago Calderón</a:t>
            </a:r>
            <a:r>
              <a:rPr lang="en" sz="2100" dirty="0">
                <a:solidFill>
                  <a:srgbClr val="FFFFFF"/>
                </a:solidFill>
                <a:latin typeface="Franklin Gothic"/>
                <a:sym typeface="Franklin Gothic"/>
              </a:rPr>
              <a:t>, Brandon </a:t>
            </a:r>
            <a:r>
              <a:rPr lang="en" sz="2100" dirty="0">
                <a:solidFill>
                  <a:srgbClr val="FFFFFF"/>
                </a:solidFill>
                <a:latin typeface="Franklin Gothic"/>
                <a:ea typeface="Franklin Gothic"/>
                <a:cs typeface="Franklin Gothic"/>
                <a:sym typeface="Franklin Gothic"/>
              </a:rPr>
              <a:t>Kramer, and Aaron Schroeder</a:t>
            </a:r>
            <a:br>
              <a:rPr lang="en" sz="2100" dirty="0">
                <a:solidFill>
                  <a:srgbClr val="FFFFFF"/>
                </a:solidFill>
                <a:latin typeface="Franklin Gothic"/>
                <a:ea typeface="Franklin Gothic"/>
                <a:cs typeface="Franklin Gothic"/>
                <a:sym typeface="Franklin Gothic"/>
              </a:rPr>
            </a:br>
            <a:r>
              <a:rPr lang="en" sz="2100" dirty="0">
                <a:solidFill>
                  <a:srgbClr val="FFFFFF"/>
                </a:solidFill>
                <a:latin typeface="Franklin Gothic"/>
                <a:ea typeface="Franklin Gothic"/>
                <a:cs typeface="Franklin Gothic"/>
                <a:sym typeface="Franklin Gothic"/>
              </a:rPr>
              <a:t>Sponsor: Carol </a:t>
            </a:r>
            <a:r>
              <a:rPr lang="en" sz="2100" dirty="0">
                <a:solidFill>
                  <a:srgbClr val="FFFFFF"/>
                </a:solidFill>
                <a:latin typeface="Franklin Gothic"/>
                <a:sym typeface="Franklin Gothic"/>
              </a:rPr>
              <a:t>Robbins, </a:t>
            </a:r>
            <a:r>
              <a:rPr lang="en" sz="2100" dirty="0">
                <a:solidFill>
                  <a:srgbClr val="FFFFFF"/>
                </a:solidFill>
                <a:latin typeface="Franklin Gothic"/>
                <a:sym typeface="Barlow Condensed"/>
              </a:rPr>
              <a:t>NCSES</a:t>
            </a:r>
            <a:endParaRPr sz="2100" dirty="0">
              <a:solidFill>
                <a:srgbClr val="FFFFFF"/>
              </a:solidFill>
              <a:latin typeface="Franklin Gothic"/>
              <a:ea typeface="Franklin Gothic"/>
              <a:cs typeface="Franklin Gothic"/>
              <a:sym typeface="Franklin Gothic"/>
            </a:endParaRPr>
          </a:p>
        </p:txBody>
      </p:sp>
      <p:pic>
        <p:nvPicPr>
          <p:cNvPr id="200" name="Google Shape;200;p17" descr="Image"/>
          <p:cNvPicPr preferRelativeResize="0"/>
          <p:nvPr/>
        </p:nvPicPr>
        <p:blipFill rotWithShape="1">
          <a:blip r:embed="rId5">
            <a:alphaModFix/>
          </a:blip>
          <a:srcRect/>
          <a:stretch/>
        </p:blipFill>
        <p:spPr>
          <a:xfrm>
            <a:off x="6697514" y="31141638"/>
            <a:ext cx="8550571" cy="1284981"/>
          </a:xfrm>
          <a:prstGeom prst="rect">
            <a:avLst/>
          </a:prstGeom>
          <a:noFill/>
          <a:ln>
            <a:noFill/>
          </a:ln>
        </p:spPr>
      </p:pic>
      <p:sp>
        <p:nvSpPr>
          <p:cNvPr id="201" name="Google Shape;201;p17"/>
          <p:cNvSpPr txBox="1"/>
          <p:nvPr/>
        </p:nvSpPr>
        <p:spPr>
          <a:xfrm>
            <a:off x="225900" y="5134165"/>
            <a:ext cx="9836582" cy="2469467"/>
          </a:xfrm>
          <a:prstGeom prst="rect">
            <a:avLst/>
          </a:prstGeom>
          <a:noFill/>
          <a:ln>
            <a:noFill/>
          </a:ln>
        </p:spPr>
        <p:txBody>
          <a:bodyPr spcFirstLastPara="1" wrap="square" lIns="114300" tIns="114300" rIns="114300" bIns="114300" anchor="ctr" anchorCtr="0">
            <a:noAutofit/>
          </a:bodyPr>
          <a:lstStyle/>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dirty="0">
                <a:solidFill>
                  <a:srgbClr val="000000"/>
                </a:solidFill>
                <a:latin typeface="Franklin Gothic"/>
                <a:ea typeface="Franklin Gothic"/>
                <a:cs typeface="Franklin Gothic"/>
                <a:sym typeface="Franklin Gothic"/>
              </a:rPr>
              <a:t>This project aims to measure how much Open Source Software (OSS) exists and to better understand the distribution of OSS creation across various sectors to evaluate the economic impact of OSS.</a:t>
            </a:r>
            <a:endParaRPr sz="2200" dirty="0">
              <a:latin typeface="Franklin Gothic"/>
              <a:ea typeface="Franklin Gothic"/>
              <a:cs typeface="Franklin Gothic"/>
              <a:sym typeface="Franklin Gothic"/>
            </a:endParaRPr>
          </a:p>
          <a:p>
            <a:pPr marL="342900" marR="0" lvl="0" indent="-342900" algn="l" rtl="0">
              <a:lnSpc>
                <a:spcPct val="100000"/>
              </a:lnSpc>
              <a:spcBef>
                <a:spcPts val="0"/>
              </a:spcBef>
              <a:spcAft>
                <a:spcPts val="0"/>
              </a:spcAft>
              <a:buClr>
                <a:srgbClr val="000000"/>
              </a:buClr>
              <a:buSzPts val="2200"/>
              <a:buFont typeface="Franklin Gothic"/>
              <a:buChar char="•"/>
            </a:pPr>
            <a:r>
              <a:rPr lang="en" sz="2200" i="0" u="none" strike="noStrike" cap="none" dirty="0">
                <a:solidFill>
                  <a:srgbClr val="000000"/>
                </a:solidFill>
                <a:latin typeface="Franklin Gothic"/>
                <a:ea typeface="Franklin Gothic"/>
                <a:cs typeface="Franklin Gothic"/>
                <a:sym typeface="Franklin Gothic"/>
              </a:rPr>
              <a:t>Traditional measures of innovation </a:t>
            </a:r>
            <a:r>
              <a:rPr lang="en" sz="2200" dirty="0">
                <a:latin typeface="Franklin Gothic"/>
                <a:ea typeface="Franklin Gothic"/>
                <a:cs typeface="Franklin Gothic"/>
                <a:sym typeface="Franklin Gothic"/>
              </a:rPr>
              <a:t>(</a:t>
            </a:r>
            <a:r>
              <a:rPr lang="en" sz="2200" i="0" u="none" strike="noStrike" cap="none" dirty="0">
                <a:solidFill>
                  <a:srgbClr val="000000"/>
                </a:solidFill>
                <a:latin typeface="Franklin Gothic"/>
                <a:ea typeface="Franklin Gothic"/>
                <a:cs typeface="Franklin Gothic"/>
                <a:sym typeface="Franklin Gothic"/>
              </a:rPr>
              <a:t>copyrights, patents, and trademarks) </a:t>
            </a:r>
            <a:r>
              <a:rPr lang="en" sz="2200" dirty="0">
                <a:latin typeface="Franklin Gothic"/>
                <a:ea typeface="Franklin Gothic"/>
                <a:cs typeface="Franklin Gothic"/>
                <a:sym typeface="Franklin Gothic"/>
              </a:rPr>
              <a:t>do not accurately capture the universe of OSS innovation. </a:t>
            </a:r>
          </a:p>
          <a:p>
            <a:pPr marL="342900" marR="0" lvl="0" indent="-342900" algn="l" rtl="0">
              <a:lnSpc>
                <a:spcPct val="100000"/>
              </a:lnSpc>
              <a:spcBef>
                <a:spcPts val="0"/>
              </a:spcBef>
              <a:spcAft>
                <a:spcPts val="0"/>
              </a:spcAft>
              <a:buClr>
                <a:srgbClr val="000000"/>
              </a:buClr>
              <a:buSzPts val="2200"/>
              <a:buFont typeface="Franklin Gothic"/>
              <a:buChar char="•"/>
            </a:pPr>
            <a:r>
              <a:rPr lang="en" sz="2200" dirty="0">
                <a:latin typeface="Franklin Gothic"/>
                <a:ea typeface="Franklin Gothic"/>
                <a:cs typeface="Franklin Gothic"/>
                <a:sym typeface="Franklin Gothic"/>
              </a:rPr>
              <a:t>We define the OSS universe as all GitHub repositories with a registered OSI-approved license.</a:t>
            </a:r>
            <a:endParaRPr sz="2200" dirty="0">
              <a:latin typeface="Franklin Gothic"/>
              <a:ea typeface="Franklin Gothic"/>
              <a:cs typeface="Franklin Gothic"/>
              <a:sym typeface="Franklin Gothic"/>
            </a:endParaRPr>
          </a:p>
        </p:txBody>
      </p:sp>
      <p:sp>
        <p:nvSpPr>
          <p:cNvPr id="202" name="Google Shape;202;p17"/>
          <p:cNvSpPr txBox="1"/>
          <p:nvPr/>
        </p:nvSpPr>
        <p:spPr>
          <a:xfrm>
            <a:off x="1119060" y="4246250"/>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i="0" u="none" strike="noStrike" cap="none" dirty="0">
                <a:solidFill>
                  <a:srgbClr val="FFFFFF"/>
                </a:solidFill>
                <a:latin typeface="Franklin Gothic"/>
                <a:ea typeface="Franklin Gothic"/>
                <a:cs typeface="Franklin Gothic"/>
                <a:sym typeface="Franklin Gothic"/>
              </a:rPr>
              <a:t>Project Introduction</a:t>
            </a:r>
            <a:endParaRPr sz="3200" dirty="0">
              <a:solidFill>
                <a:srgbClr val="FFFFFF"/>
              </a:solidFill>
              <a:latin typeface="Franklin Gothic"/>
              <a:ea typeface="Franklin Gothic"/>
              <a:cs typeface="Franklin Gothic"/>
              <a:sym typeface="Franklin Gothic"/>
            </a:endParaRPr>
          </a:p>
        </p:txBody>
      </p:sp>
      <p:sp>
        <p:nvSpPr>
          <p:cNvPr id="204" name="Google Shape;204;p17"/>
          <p:cNvSpPr txBox="1"/>
          <p:nvPr/>
        </p:nvSpPr>
        <p:spPr>
          <a:xfrm>
            <a:off x="10552161" y="6776198"/>
            <a:ext cx="7906163" cy="2326963"/>
          </a:xfrm>
          <a:prstGeom prst="rect">
            <a:avLst/>
          </a:prstGeom>
          <a:noFill/>
          <a:ln>
            <a:noFill/>
          </a:ln>
        </p:spPr>
        <p:txBody>
          <a:bodyPr spcFirstLastPara="1" wrap="square" lIns="114300" tIns="114300" rIns="114300" bIns="114300" anchor="ctr" anchorCtr="0">
            <a:noAutofit/>
          </a:bodyPr>
          <a:lstStyle/>
          <a:p>
            <a:pPr lvl="0">
              <a:buSzPts val="2000"/>
            </a:pPr>
            <a:r>
              <a:rPr lang="en" sz="2200" b="1" dirty="0">
                <a:latin typeface="Franklin Gothic"/>
                <a:ea typeface="Franklin Gothic"/>
                <a:cs typeface="Franklin Gothic"/>
                <a:sym typeface="Franklin Gothic"/>
              </a:rPr>
              <a:t>Open Source Initiative (</a:t>
            </a:r>
            <a:r>
              <a:rPr lang="en" sz="2200" b="1" i="0" u="none" strike="noStrike" cap="none" dirty="0">
                <a:solidFill>
                  <a:srgbClr val="000000"/>
                </a:solidFill>
                <a:latin typeface="Franklin Gothic"/>
                <a:ea typeface="Franklin Gothic"/>
                <a:cs typeface="Franklin Gothic"/>
                <a:sym typeface="Franklin Gothic"/>
              </a:rPr>
              <a:t>OSI</a:t>
            </a:r>
            <a:r>
              <a:rPr lang="en" sz="2200" dirty="0">
                <a:latin typeface="Franklin Gothic"/>
                <a:ea typeface="Franklin Gothic"/>
                <a:cs typeface="Franklin Gothic"/>
                <a:sym typeface="Franklin Gothic"/>
              </a:rPr>
              <a:t>) </a:t>
            </a:r>
            <a:r>
              <a:rPr lang="en" sz="2200" dirty="0">
                <a:solidFill>
                  <a:schemeClr val="dk1"/>
                </a:solidFill>
                <a:latin typeface="Franklin Gothic"/>
                <a:sym typeface="Franklin Gothic"/>
              </a:rPr>
              <a:t>– </a:t>
            </a:r>
            <a:r>
              <a:rPr lang="en" sz="2200" b="0" i="0" u="none" strike="noStrike" cap="none" dirty="0">
                <a:solidFill>
                  <a:srgbClr val="000000"/>
                </a:solidFill>
                <a:latin typeface="Franklin Gothic"/>
                <a:ea typeface="Franklin Gothic"/>
                <a:cs typeface="Franklin Gothic"/>
                <a:sym typeface="Franklin Gothic"/>
              </a:rPr>
              <a:t>a worldwide non-profit that spreads knowledge about OSS, promotes its usage, and connects various OSS communities [1].</a:t>
            </a:r>
            <a:endParaRPr sz="2200" b="0" i="0" u="none" strike="noStrike" cap="none" dirty="0">
              <a:solidFill>
                <a:srgbClr val="000000"/>
              </a:solidFill>
              <a:latin typeface="Franklin Gothic"/>
              <a:ea typeface="Franklin Gothic"/>
              <a:cs typeface="Franklin Gothic"/>
              <a:sym typeface="Franklin Gothic"/>
            </a:endParaRPr>
          </a:p>
          <a:p>
            <a:pPr lvl="0">
              <a:buClr>
                <a:schemeClr val="dk1"/>
              </a:buClr>
              <a:buSzPts val="2000"/>
            </a:pPr>
            <a:r>
              <a:rPr lang="en" sz="2200" b="1" dirty="0">
                <a:solidFill>
                  <a:schemeClr val="dk1"/>
                </a:solidFill>
                <a:latin typeface="Franklin Gothic"/>
                <a:ea typeface="Franklin Gothic"/>
                <a:cs typeface="Franklin Gothic"/>
                <a:sym typeface="Franklin Gothic"/>
              </a:rPr>
              <a:t>Open Source Software (OSS)</a:t>
            </a:r>
            <a:r>
              <a:rPr lang="en" sz="2200" dirty="0">
                <a:solidFill>
                  <a:schemeClr val="dk1"/>
                </a:solidFill>
                <a:latin typeface="Franklin Gothic"/>
                <a:ea typeface="Franklin Gothic"/>
                <a:cs typeface="Franklin Gothic"/>
                <a:sym typeface="Franklin Gothic"/>
              </a:rPr>
              <a:t> </a:t>
            </a:r>
            <a:r>
              <a:rPr lang="en" sz="2200" dirty="0">
                <a:solidFill>
                  <a:schemeClr val="dk1"/>
                </a:solidFill>
                <a:latin typeface="Franklin Gothic"/>
                <a:sym typeface="Franklin Gothic"/>
              </a:rPr>
              <a:t>– “</a:t>
            </a:r>
            <a:r>
              <a:rPr lang="en" sz="2200" dirty="0">
                <a:solidFill>
                  <a:schemeClr val="dk1"/>
                </a:solidFill>
                <a:latin typeface="Franklin Gothic"/>
                <a:ea typeface="Franklin Gothic"/>
                <a:cs typeface="Franklin Gothic"/>
                <a:sym typeface="Franklin Gothic"/>
              </a:rPr>
              <a:t>a computer software, with its source code made available with a license, in which the copyright holder provides the rights to study, change, and distribute the software to anyone and for any purpose” (Source: OSI).</a:t>
            </a:r>
            <a:endParaRPr sz="2200" dirty="0">
              <a:solidFill>
                <a:schemeClr val="dk1"/>
              </a:solidFill>
              <a:latin typeface="Franklin Gothic"/>
              <a:ea typeface="Franklin Gothic"/>
              <a:cs typeface="Franklin Gothic"/>
              <a:sym typeface="Franklin Gothic"/>
            </a:endParaRPr>
          </a:p>
          <a:p>
            <a:pPr lvl="0">
              <a:buClr>
                <a:schemeClr val="dk1"/>
              </a:buClr>
              <a:buSzPts val="2000"/>
            </a:pPr>
            <a:r>
              <a:rPr lang="en" sz="2200" b="1" dirty="0">
                <a:solidFill>
                  <a:schemeClr val="dk1"/>
                </a:solidFill>
                <a:latin typeface="Franklin Gothic"/>
                <a:ea typeface="Franklin Gothic"/>
                <a:cs typeface="Franklin Gothic"/>
                <a:sym typeface="Franklin Gothic"/>
              </a:rPr>
              <a:t>OSS Licenses </a:t>
            </a:r>
            <a:r>
              <a:rPr lang="en" sz="2200" dirty="0">
                <a:solidFill>
                  <a:schemeClr val="dk1"/>
                </a:solidFill>
                <a:latin typeface="Franklin Gothic"/>
                <a:sym typeface="Franklin Gothic"/>
              </a:rPr>
              <a:t>– define limitations of use and </a:t>
            </a:r>
            <a:r>
              <a:rPr lang="en-US" sz="2200" dirty="0">
                <a:solidFill>
                  <a:schemeClr val="dk1"/>
                </a:solidFill>
                <a:latin typeface="Franklin Gothic"/>
                <a:sym typeface="Franklin Gothic"/>
              </a:rPr>
              <a:t>provide developers with rights over their work while promoting the dispersion of free, accessible code. </a:t>
            </a:r>
            <a:r>
              <a:rPr lang="en" sz="2200" dirty="0">
                <a:solidFill>
                  <a:schemeClr val="dk1"/>
                </a:solidFill>
                <a:latin typeface="Franklin Gothic"/>
                <a:sym typeface="Franklin Gothic"/>
              </a:rPr>
              <a:t>OSS licenses </a:t>
            </a:r>
            <a:r>
              <a:rPr lang="en" sz="2200" dirty="0">
                <a:solidFill>
                  <a:schemeClr val="dk1"/>
                </a:solidFill>
                <a:latin typeface="Franklin Gothic"/>
                <a:ea typeface="Franklin Gothic"/>
                <a:cs typeface="Franklin Gothic"/>
                <a:sym typeface="Franklin Gothic"/>
              </a:rPr>
              <a:t>allow software to be freely used, modified and shared.</a:t>
            </a:r>
            <a:r>
              <a:rPr lang="en" sz="2000" dirty="0">
                <a:solidFill>
                  <a:schemeClr val="dk1"/>
                </a:solidFill>
                <a:latin typeface="Franklin Gothic"/>
                <a:ea typeface="Franklin Gothic"/>
                <a:cs typeface="Franklin Gothic"/>
                <a:sym typeface="Franklin Gothic"/>
              </a:rPr>
              <a:t> </a:t>
            </a:r>
            <a:endParaRPr lang="en-US" sz="2200" dirty="0">
              <a:solidFill>
                <a:schemeClr val="dk1"/>
              </a:solidFill>
              <a:latin typeface="Franklin Gothic"/>
              <a:sym typeface="Franklin Gothic"/>
            </a:endParaRPr>
          </a:p>
          <a:p>
            <a:pPr marL="414020" indent="-48895">
              <a:buClr>
                <a:schemeClr val="dk1"/>
              </a:buClr>
              <a:buSzPts val="2000"/>
            </a:pPr>
            <a:endParaRPr lang="en-US" sz="2200" dirty="0">
              <a:solidFill>
                <a:schemeClr val="dk1"/>
              </a:solidFill>
              <a:latin typeface="Franklin Gothic"/>
            </a:endParaRPr>
          </a:p>
          <a:p>
            <a:pPr marL="0" lvl="0" indent="0" algn="l" rtl="0">
              <a:spcBef>
                <a:spcPts val="0"/>
              </a:spcBef>
              <a:spcAft>
                <a:spcPts val="0"/>
              </a:spcAft>
              <a:buClr>
                <a:schemeClr val="dk1"/>
              </a:buClr>
              <a:buSzPts val="2000"/>
              <a:buFont typeface="Franklin Gothic"/>
              <a:buNone/>
            </a:pPr>
            <a:endParaRPr lang="en" sz="2000" dirty="0">
              <a:solidFill>
                <a:schemeClr val="dk1"/>
              </a:solidFill>
              <a:latin typeface="Franklin Gothic"/>
              <a:ea typeface="Franklin Gothic"/>
              <a:cs typeface="Franklin Gothic"/>
              <a:sym typeface="Franklin Gothic"/>
            </a:endParaRPr>
          </a:p>
          <a:p>
            <a:pPr lvl="1">
              <a:buClr>
                <a:schemeClr val="dk1"/>
              </a:buClr>
              <a:buSzPts val="2000"/>
            </a:pPr>
            <a:endParaRPr dirty="0">
              <a:solidFill>
                <a:schemeClr val="dk1"/>
              </a:solidFill>
            </a:endParaRPr>
          </a:p>
          <a:p>
            <a:pPr marL="0" lvl="0" indent="0" algn="l" rtl="0">
              <a:spcBef>
                <a:spcPts val="0"/>
              </a:spcBef>
              <a:spcAft>
                <a:spcPts val="0"/>
              </a:spcAft>
              <a:buClr>
                <a:schemeClr val="dk1"/>
              </a:buClr>
              <a:buSzPts val="2000"/>
              <a:buFont typeface="Helvetica Neue"/>
              <a:buNone/>
            </a:pPr>
            <a:endParaRPr sz="2000" dirty="0">
              <a:solidFill>
                <a:schemeClr val="dk1"/>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endParaRPr sz="2000" dirty="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Franklin Gothic"/>
              <a:ea typeface="Franklin Gothic"/>
              <a:cs typeface="Franklin Gothic"/>
              <a:sym typeface="Franklin Gothic"/>
            </a:endParaRPr>
          </a:p>
        </p:txBody>
      </p:sp>
      <p:grpSp>
        <p:nvGrpSpPr>
          <p:cNvPr id="207" name="Google Shape;207;p17"/>
          <p:cNvGrpSpPr/>
          <p:nvPr/>
        </p:nvGrpSpPr>
        <p:grpSpPr>
          <a:xfrm>
            <a:off x="7423391" y="9213222"/>
            <a:ext cx="6260617" cy="3820637"/>
            <a:chOff x="-6232750" y="11089577"/>
            <a:chExt cx="5463016" cy="3648431"/>
          </a:xfrm>
        </p:grpSpPr>
        <p:sp>
          <p:nvSpPr>
            <p:cNvPr id="208" name="Google Shape;208;p17"/>
            <p:cNvSpPr/>
            <p:nvPr/>
          </p:nvSpPr>
          <p:spPr>
            <a:xfrm>
              <a:off x="-4390173" y="12448093"/>
              <a:ext cx="3196167" cy="1492960"/>
            </a:xfrm>
            <a:prstGeom prst="rect">
              <a:avLst/>
            </a:prstGeom>
            <a:solidFill>
              <a:srgbClr val="A0D5A4"/>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License</a:t>
              </a:r>
            </a:p>
            <a:p>
              <a:pPr marL="0" lvl="0" indent="0" algn="l" rtl="0">
                <a:spcBef>
                  <a:spcPts val="0"/>
                </a:spcBef>
                <a:spcAft>
                  <a:spcPts val="0"/>
                </a:spcAft>
                <a:buNone/>
              </a:pPr>
              <a:endParaRPr sz="1800" dirty="0"/>
            </a:p>
          </p:txBody>
        </p:sp>
        <p:sp>
          <p:nvSpPr>
            <p:cNvPr id="209" name="Google Shape;209;p17"/>
            <p:cNvSpPr/>
            <p:nvPr/>
          </p:nvSpPr>
          <p:spPr>
            <a:xfrm>
              <a:off x="-6232750" y="11089577"/>
              <a:ext cx="3908700" cy="2161200"/>
            </a:xfrm>
            <a:prstGeom prst="rect">
              <a:avLst/>
            </a:prstGeom>
            <a:solidFill>
              <a:srgbClr val="2CC1C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Repository creation date</a:t>
              </a:r>
              <a:endParaRPr sz="2000" dirty="0"/>
            </a:p>
            <a:p>
              <a:pPr marL="0" lvl="0" indent="0" algn="l" rtl="0">
                <a:spcBef>
                  <a:spcPts val="0"/>
                </a:spcBef>
                <a:spcAft>
                  <a:spcPts val="0"/>
                </a:spcAft>
                <a:buNone/>
              </a:pPr>
              <a:r>
                <a:rPr lang="en" sz="2000" dirty="0"/>
                <a:t>Contributor name</a:t>
              </a:r>
              <a:endParaRPr sz="2000" dirty="0"/>
            </a:p>
            <a:p>
              <a:pPr marL="0" lvl="0" indent="0" algn="l" rtl="0">
                <a:spcBef>
                  <a:spcPts val="0"/>
                </a:spcBef>
                <a:spcAft>
                  <a:spcPts val="0"/>
                </a:spcAft>
                <a:buNone/>
              </a:pPr>
              <a:r>
                <a:rPr lang="en" sz="2000" dirty="0"/>
                <a:t>Self-reported location</a:t>
              </a:r>
              <a:endParaRPr sz="2000" dirty="0"/>
            </a:p>
            <a:p>
              <a:pPr marL="0" lvl="0" indent="0" algn="l" rtl="0">
                <a:spcBef>
                  <a:spcPts val="0"/>
                </a:spcBef>
                <a:spcAft>
                  <a:spcPts val="0"/>
                </a:spcAft>
                <a:buNone/>
              </a:pPr>
              <a:r>
                <a:rPr lang="en" sz="2000" dirty="0"/>
                <a:t>Self-reported company</a:t>
              </a:r>
              <a:endParaRPr sz="2000" dirty="0"/>
            </a:p>
            <a:p>
              <a:pPr marL="0" lvl="0" indent="0" algn="l" rtl="0">
                <a:spcBef>
                  <a:spcPts val="0"/>
                </a:spcBef>
                <a:spcAft>
                  <a:spcPts val="0"/>
                </a:spcAft>
                <a:buNone/>
              </a:pPr>
              <a:r>
                <a:rPr lang="en" sz="2000" dirty="0"/>
                <a:t>Commits</a:t>
              </a:r>
              <a:endParaRPr sz="2000" dirty="0"/>
            </a:p>
          </p:txBody>
        </p:sp>
        <p:sp>
          <p:nvSpPr>
            <p:cNvPr id="210" name="Google Shape;210;p17"/>
            <p:cNvSpPr txBox="1"/>
            <p:nvPr/>
          </p:nvSpPr>
          <p:spPr>
            <a:xfrm>
              <a:off x="-4390174" y="12467982"/>
              <a:ext cx="2066124" cy="793658"/>
            </a:xfrm>
            <a:prstGeom prst="rect">
              <a:avLst/>
            </a:prstGeom>
            <a:solidFill>
              <a:srgbClr val="F27E1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latin typeface="Helvetica Neue"/>
                  <a:ea typeface="Helvetica Neue"/>
                  <a:cs typeface="Helvetica Neue"/>
                  <a:sym typeface="Helvetica Neue"/>
                </a:rPr>
                <a:t>Slug</a:t>
              </a:r>
              <a:br>
                <a:rPr lang="en" sz="1800" dirty="0">
                  <a:latin typeface="Helvetica Neue"/>
                  <a:ea typeface="Helvetica Neue"/>
                  <a:cs typeface="Helvetica Neue"/>
                  <a:sym typeface="Helvetica Neue"/>
                </a:rPr>
              </a:br>
              <a:r>
                <a:rPr lang="en" sz="1800" dirty="0">
                  <a:latin typeface="Helvetica Neue"/>
                  <a:ea typeface="Helvetica Neue"/>
                  <a:cs typeface="Helvetica Neue"/>
                  <a:sym typeface="Helvetica Neue"/>
                </a:rPr>
                <a:t>(owner/repo name)</a:t>
              </a:r>
              <a:endParaRPr sz="1800" dirty="0">
                <a:latin typeface="Helvetica Neue"/>
                <a:ea typeface="Helvetica Neue"/>
                <a:cs typeface="Helvetica Neue"/>
                <a:sym typeface="Helvetica Neue"/>
              </a:endParaRPr>
            </a:p>
          </p:txBody>
        </p:sp>
        <p:sp>
          <p:nvSpPr>
            <p:cNvPr id="211" name="Google Shape;211;p17"/>
            <p:cNvSpPr txBox="1"/>
            <p:nvPr/>
          </p:nvSpPr>
          <p:spPr>
            <a:xfrm>
              <a:off x="-6232750" y="12795425"/>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rgbClr val="FFFFFF"/>
                  </a:solidFill>
                  <a:latin typeface="Helvetica Neue"/>
                  <a:ea typeface="Helvetica Neue"/>
                  <a:cs typeface="Helvetica Neue"/>
                  <a:sym typeface="Helvetica Neue"/>
                </a:rPr>
                <a:t>GHTorrent</a:t>
              </a:r>
              <a:endParaRPr sz="2000" b="1" dirty="0">
                <a:solidFill>
                  <a:srgbClr val="FFFFFF"/>
                </a:solidFill>
                <a:latin typeface="Helvetica Neue"/>
                <a:ea typeface="Helvetica Neue"/>
                <a:cs typeface="Helvetica Neue"/>
                <a:sym typeface="Helvetica Neue"/>
              </a:endParaRPr>
            </a:p>
          </p:txBody>
        </p:sp>
        <p:sp>
          <p:nvSpPr>
            <p:cNvPr id="212" name="Google Shape;212;p17"/>
            <p:cNvSpPr txBox="1"/>
            <p:nvPr/>
          </p:nvSpPr>
          <p:spPr>
            <a:xfrm>
              <a:off x="-2318334" y="13457908"/>
              <a:ext cx="1548600" cy="12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solidFill>
                    <a:schemeClr val="lt1"/>
                  </a:solidFill>
                  <a:latin typeface="Helvetica Neue"/>
                  <a:ea typeface="Helvetica Neue"/>
                  <a:cs typeface="Helvetica Neue"/>
                  <a:sym typeface="Helvetica Neue"/>
                </a:rPr>
                <a:t>GraphQL</a:t>
              </a:r>
              <a:endParaRPr sz="2000" b="1" dirty="0">
                <a:solidFill>
                  <a:schemeClr val="lt1"/>
                </a:solidFill>
                <a:latin typeface="Helvetica Neue"/>
                <a:ea typeface="Helvetica Neue"/>
                <a:cs typeface="Helvetica Neue"/>
                <a:sym typeface="Helvetica Neue"/>
              </a:endParaRPr>
            </a:p>
          </p:txBody>
        </p:sp>
      </p:grpSp>
      <p:sp>
        <p:nvSpPr>
          <p:cNvPr id="214" name="Google Shape;214;p17"/>
          <p:cNvSpPr txBox="1"/>
          <p:nvPr/>
        </p:nvSpPr>
        <p:spPr>
          <a:xfrm>
            <a:off x="12300906" y="28094903"/>
            <a:ext cx="9174697" cy="23987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342900" indent="-342900">
              <a:buSzPts val="2200"/>
              <a:buFont typeface="Franklin Gothic"/>
              <a:buChar char="•"/>
              <a:defRPr sz="2200">
                <a:latin typeface="Franklin Gothic"/>
              </a:defRPr>
            </a:lvl1pPr>
          </a:lstStyle>
          <a:p>
            <a:pPr marL="0" indent="0">
              <a:buNone/>
            </a:pPr>
            <a:endParaRPr dirty="0">
              <a:sym typeface="Franklin Gothic"/>
            </a:endParaRPr>
          </a:p>
          <a:p>
            <a:pPr>
              <a:buFont typeface="Courier New" panose="02070309020205020404" pitchFamily="49" charset="0"/>
              <a:buChar char="o"/>
            </a:pPr>
            <a:r>
              <a:rPr lang="en" dirty="0">
                <a:sym typeface="Franklin Gothic"/>
              </a:rPr>
              <a:t>Get more detailed data on the OSS repositories, including additions and deletions to estimate the development cost using the lines of code</a:t>
            </a:r>
            <a:endParaRPr dirty="0">
              <a:sym typeface="Franklin Gothic"/>
            </a:endParaRPr>
          </a:p>
          <a:p>
            <a:pPr>
              <a:buFont typeface="Courier New" panose="02070309020205020404" pitchFamily="49" charset="0"/>
              <a:buChar char="o"/>
            </a:pPr>
            <a:r>
              <a:rPr lang="en" dirty="0">
                <a:sym typeface="Franklin Gothic"/>
              </a:rPr>
              <a:t>Obtain contributor emails to improve the sector analysis</a:t>
            </a:r>
          </a:p>
          <a:p>
            <a:pPr>
              <a:buFont typeface="Courier New" panose="02070309020205020404" pitchFamily="49" charset="0"/>
              <a:buChar char="o"/>
            </a:pPr>
            <a:r>
              <a:rPr lang="en-US" dirty="0">
                <a:sym typeface="Franklin Gothic"/>
              </a:rPr>
              <a:t>Conduct network analysis to study interactions between contributors and OSS projects, and diffusion of OSS innovation</a:t>
            </a:r>
            <a:endParaRPr dirty="0">
              <a:sym typeface="Franklin Gothic"/>
            </a:endParaRPr>
          </a:p>
        </p:txBody>
      </p:sp>
      <p:grpSp>
        <p:nvGrpSpPr>
          <p:cNvPr id="219" name="Google Shape;219;p17"/>
          <p:cNvGrpSpPr/>
          <p:nvPr/>
        </p:nvGrpSpPr>
        <p:grpSpPr>
          <a:xfrm>
            <a:off x="10099727" y="21267397"/>
            <a:ext cx="7244200" cy="4090510"/>
            <a:chOff x="13678975" y="20803689"/>
            <a:chExt cx="7244200" cy="4090510"/>
          </a:xfrm>
        </p:grpSpPr>
        <p:pic>
          <p:nvPicPr>
            <p:cNvPr id="220" name="Google Shape;220;p17"/>
            <p:cNvPicPr preferRelativeResize="0"/>
            <p:nvPr/>
          </p:nvPicPr>
          <p:blipFill rotWithShape="1">
            <a:blip r:embed="rId6">
              <a:alphaModFix/>
            </a:blip>
            <a:srcRect l="7181" t="6071" r="38700" b="5674"/>
            <a:stretch/>
          </p:blipFill>
          <p:spPr>
            <a:xfrm>
              <a:off x="13678975" y="20838500"/>
              <a:ext cx="1776375" cy="4055700"/>
            </a:xfrm>
            <a:prstGeom prst="rect">
              <a:avLst/>
            </a:prstGeom>
            <a:noFill/>
            <a:ln>
              <a:noFill/>
            </a:ln>
          </p:spPr>
        </p:pic>
        <p:sp>
          <p:nvSpPr>
            <p:cNvPr id="221" name="Google Shape;221;p17"/>
            <p:cNvSpPr txBox="1"/>
            <p:nvPr/>
          </p:nvSpPr>
          <p:spPr>
            <a:xfrm rot="-5400000">
              <a:off x="14467400" y="23078638"/>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666666"/>
                  </a:solidFill>
                </a:rPr>
                <a:t>Missing Value</a:t>
              </a:r>
              <a:endParaRPr sz="1300" b="1">
                <a:solidFill>
                  <a:srgbClr val="666666"/>
                </a:solidFill>
              </a:endParaRPr>
            </a:p>
          </p:txBody>
        </p:sp>
        <p:sp>
          <p:nvSpPr>
            <p:cNvPr id="222" name="Google Shape;222;p17"/>
            <p:cNvSpPr txBox="1"/>
            <p:nvPr/>
          </p:nvSpPr>
          <p:spPr>
            <a:xfrm rot="-5400000">
              <a:off x="14467400" y="21498113"/>
              <a:ext cx="1360800" cy="36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rgbClr val="B7B7B7"/>
                  </a:solidFill>
                </a:rPr>
                <a:t>Unidentified</a:t>
              </a:r>
              <a:endParaRPr sz="1300" b="1">
                <a:solidFill>
                  <a:srgbClr val="B7B7B7"/>
                </a:solidFill>
              </a:endParaRPr>
            </a:p>
          </p:txBody>
        </p:sp>
        <p:sp>
          <p:nvSpPr>
            <p:cNvPr id="223" name="Google Shape;223;p17"/>
            <p:cNvSpPr/>
            <p:nvPr/>
          </p:nvSpPr>
          <p:spPr>
            <a:xfrm>
              <a:off x="16155575" y="21211225"/>
              <a:ext cx="4767600" cy="3298200"/>
            </a:xfrm>
            <a:prstGeom prst="wedgeRectCallout">
              <a:avLst>
                <a:gd name="adj1" fmla="val -76784"/>
                <a:gd name="adj2" fmla="val -51342"/>
              </a:avLst>
            </a:prstGeom>
            <a:noFill/>
            <a:ln w="19050" cap="flat" cmpd="sng">
              <a:solidFill>
                <a:srgbClr val="F27E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4" name="Google Shape;224;p17"/>
            <p:cNvPicPr preferRelativeResize="0"/>
            <p:nvPr/>
          </p:nvPicPr>
          <p:blipFill rotWithShape="1">
            <a:blip r:embed="rId7">
              <a:alphaModFix/>
            </a:blip>
            <a:srcRect l="1045" t="3098" r="16609" b="3285"/>
            <a:stretch/>
          </p:blipFill>
          <p:spPr>
            <a:xfrm>
              <a:off x="16205225" y="21335125"/>
              <a:ext cx="4541400" cy="3174300"/>
            </a:xfrm>
            <a:prstGeom prst="rect">
              <a:avLst/>
            </a:prstGeom>
            <a:noFill/>
            <a:ln>
              <a:noFill/>
            </a:ln>
          </p:spPr>
        </p:pic>
        <p:sp>
          <p:nvSpPr>
            <p:cNvPr id="225" name="Google Shape;225;p17"/>
            <p:cNvSpPr txBox="1"/>
            <p:nvPr/>
          </p:nvSpPr>
          <p:spPr>
            <a:xfrm>
              <a:off x="14028125" y="20803689"/>
              <a:ext cx="6888900" cy="432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a:latin typeface="Franklin Gothic"/>
                  <a:ea typeface="Franklin Gothic"/>
                  <a:cs typeface="Franklin Gothic"/>
                  <a:sym typeface="Franklin Gothic"/>
                </a:rPr>
                <a:t>We can only identify ~2% of the users’ sectors </a:t>
              </a:r>
              <a:endParaRPr>
                <a:latin typeface="Franklin Gothic"/>
                <a:ea typeface="Franklin Gothic"/>
                <a:cs typeface="Franklin Gothic"/>
                <a:sym typeface="Franklin Gothic"/>
              </a:endParaRPr>
            </a:p>
          </p:txBody>
        </p:sp>
      </p:grpSp>
      <p:sp>
        <p:nvSpPr>
          <p:cNvPr id="227" name="Google Shape;227;p17"/>
          <p:cNvSpPr/>
          <p:nvPr/>
        </p:nvSpPr>
        <p:spPr>
          <a:xfrm>
            <a:off x="422625" y="4092450"/>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17"/>
          <p:cNvPicPr preferRelativeResize="0"/>
          <p:nvPr/>
        </p:nvPicPr>
        <p:blipFill>
          <a:blip r:embed="rId8">
            <a:alphaModFix/>
          </a:blip>
          <a:stretch>
            <a:fillRect/>
          </a:stretch>
        </p:blipFill>
        <p:spPr>
          <a:xfrm>
            <a:off x="18767354" y="5048637"/>
            <a:ext cx="2612250" cy="3000000"/>
          </a:xfrm>
          <a:prstGeom prst="rect">
            <a:avLst/>
          </a:prstGeom>
          <a:noFill/>
          <a:ln>
            <a:noFill/>
          </a:ln>
        </p:spPr>
      </p:pic>
      <p:grpSp>
        <p:nvGrpSpPr>
          <p:cNvPr id="229" name="Google Shape;229;p17"/>
          <p:cNvGrpSpPr/>
          <p:nvPr/>
        </p:nvGrpSpPr>
        <p:grpSpPr>
          <a:xfrm>
            <a:off x="10344804" y="28605160"/>
            <a:ext cx="1970701" cy="1343874"/>
            <a:chOff x="1391649" y="11440751"/>
            <a:chExt cx="7914000" cy="706362"/>
          </a:xfrm>
        </p:grpSpPr>
        <p:sp>
          <p:nvSpPr>
            <p:cNvPr id="230" name="Google Shape;230;p17"/>
            <p:cNvSpPr/>
            <p:nvPr/>
          </p:nvSpPr>
          <p:spPr>
            <a:xfrm>
              <a:off x="1391649" y="11440751"/>
              <a:ext cx="7914000" cy="706362"/>
            </a:xfrm>
            <a:prstGeom prst="rect">
              <a:avLst/>
            </a:prstGeom>
            <a:solidFill>
              <a:srgbClr val="757F9D"/>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7"/>
            <p:cNvSpPr txBox="1"/>
            <p:nvPr/>
          </p:nvSpPr>
          <p:spPr>
            <a:xfrm>
              <a:off x="2613192" y="11557682"/>
              <a:ext cx="52959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Next Steps</a:t>
              </a:r>
              <a:endParaRPr sz="3200" dirty="0">
                <a:solidFill>
                  <a:srgbClr val="FFFFFF"/>
                </a:solidFill>
                <a:latin typeface="Franklin Gothic"/>
                <a:ea typeface="Franklin Gothic"/>
                <a:cs typeface="Franklin Gothic"/>
                <a:sym typeface="Franklin Gothic"/>
              </a:endParaRPr>
            </a:p>
          </p:txBody>
        </p:sp>
      </p:grpSp>
      <p:sp>
        <p:nvSpPr>
          <p:cNvPr id="232" name="Google Shape;232;p17"/>
          <p:cNvSpPr/>
          <p:nvPr/>
        </p:nvSpPr>
        <p:spPr>
          <a:xfrm>
            <a:off x="460800" y="7875780"/>
            <a:ext cx="8812379"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7"/>
          <p:cNvSpPr/>
          <p:nvPr/>
        </p:nvSpPr>
        <p:spPr>
          <a:xfrm>
            <a:off x="9432243" y="7869890"/>
            <a:ext cx="841912" cy="785889"/>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7"/>
          <p:cNvSpPr txBox="1"/>
          <p:nvPr/>
        </p:nvSpPr>
        <p:spPr>
          <a:xfrm>
            <a:off x="15248085" y="10190386"/>
            <a:ext cx="5850680" cy="1892700"/>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Clr>
                <a:srgbClr val="000000"/>
              </a:buClr>
              <a:buSzPts val="2000"/>
              <a:buFont typeface="Helvetica Neue"/>
              <a:buNone/>
            </a:pPr>
            <a:r>
              <a:rPr lang="en" sz="2200" b="1" i="0" u="none" strike="noStrike" cap="none" dirty="0">
                <a:solidFill>
                  <a:srgbClr val="000000"/>
                </a:solidFill>
                <a:latin typeface="Franklin Gothic"/>
                <a:ea typeface="Franklin Gothic"/>
                <a:cs typeface="Franklin Gothic"/>
                <a:sym typeface="Franklin Gothic"/>
              </a:rPr>
              <a:t>GitHub</a:t>
            </a:r>
            <a:r>
              <a:rPr lang="en" sz="2200" i="0" u="none" strike="noStrike" cap="none" dirty="0">
                <a:solidFill>
                  <a:srgbClr val="000000"/>
                </a:solidFill>
                <a:latin typeface="Franklin Gothic"/>
                <a:ea typeface="Franklin Gothic"/>
                <a:cs typeface="Franklin Gothic"/>
                <a:sym typeface="Franklin Gothic"/>
              </a:rPr>
              <a:t> -</a:t>
            </a:r>
            <a:r>
              <a:rPr lang="en" sz="2200" b="1" i="0" u="none" strike="noStrike" cap="none" dirty="0">
                <a:solidFill>
                  <a:srgbClr val="000000"/>
                </a:solidFill>
                <a:latin typeface="Franklin Gothic"/>
                <a:ea typeface="Franklin Gothic"/>
                <a:cs typeface="Franklin Gothic"/>
                <a:sym typeface="Franklin Gothic"/>
              </a:rPr>
              <a:t> </a:t>
            </a:r>
            <a:r>
              <a:rPr lang="en" sz="2200" i="0" u="none" strike="noStrike" cap="none" dirty="0">
                <a:solidFill>
                  <a:srgbClr val="000000"/>
                </a:solidFill>
                <a:latin typeface="Franklin Gothic"/>
                <a:ea typeface="Franklin Gothic"/>
                <a:cs typeface="Franklin Gothic"/>
                <a:sym typeface="Franklin Gothic"/>
              </a:rPr>
              <a:t>world's largest </a:t>
            </a:r>
            <a:r>
              <a:rPr lang="en" sz="2200" dirty="0">
                <a:latin typeface="Franklin Gothic"/>
                <a:ea typeface="Franklin Gothic"/>
                <a:cs typeface="Franklin Gothic"/>
                <a:sym typeface="Franklin Gothic"/>
              </a:rPr>
              <a:t>website</a:t>
            </a:r>
            <a:r>
              <a:rPr lang="en" sz="2200" i="0" u="none" strike="noStrike" cap="none" dirty="0">
                <a:solidFill>
                  <a:srgbClr val="000000"/>
                </a:solidFill>
                <a:latin typeface="Franklin Gothic"/>
                <a:ea typeface="Franklin Gothic"/>
                <a:cs typeface="Franklin Gothic"/>
                <a:sym typeface="Franklin Gothic"/>
              </a:rPr>
              <a:t> for developers to build and share software (</a:t>
            </a:r>
            <a:r>
              <a:rPr lang="en" sz="2200" i="0" u="none" strike="noStrike" cap="none" dirty="0">
                <a:solidFill>
                  <a:srgbClr val="000000"/>
                </a:solidFill>
                <a:latin typeface="Franklin Gothic"/>
                <a:ea typeface="Franklin Gothic"/>
                <a:cs typeface="Franklin Gothic"/>
                <a:sym typeface="Franklin Gothic"/>
                <a:hlinkClick r:id="rId9"/>
              </a:rPr>
              <a:t>github.com</a:t>
            </a:r>
            <a:r>
              <a:rPr lang="en" sz="2200" dirty="0">
                <a:latin typeface="Franklin Gothic"/>
                <a:ea typeface="Franklin Gothic"/>
                <a:cs typeface="Franklin Gothic"/>
                <a:sym typeface="Franklin Gothic"/>
              </a:rPr>
              <a:t>)</a:t>
            </a:r>
            <a:endParaRPr sz="2200" b="1" i="0" u="none" strike="noStrike" cap="none" dirty="0">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Repository (Repo) </a:t>
            </a:r>
            <a:r>
              <a:rPr lang="en" sz="2200" i="0" u="none" strike="noStrike" cap="none" dirty="0">
                <a:solidFill>
                  <a:srgbClr val="000000"/>
                </a:solidFill>
                <a:latin typeface="Franklin Gothic"/>
                <a:ea typeface="Franklin Gothic"/>
                <a:cs typeface="Franklin Gothic"/>
                <a:sym typeface="Franklin Gothic"/>
              </a:rPr>
              <a:t>- contains all of a project's files</a:t>
            </a:r>
            <a:r>
              <a:rPr lang="en" sz="2200" dirty="0">
                <a:latin typeface="Franklin Gothic"/>
                <a:ea typeface="Franklin Gothic"/>
                <a:cs typeface="Franklin Gothic"/>
                <a:sym typeface="Franklin Gothic"/>
              </a:rPr>
              <a:t> and relevant discussions</a:t>
            </a:r>
            <a:r>
              <a:rPr lang="en" sz="2200" i="0" u="none" strike="noStrike" cap="none" dirty="0">
                <a:solidFill>
                  <a:srgbClr val="000000"/>
                </a:solidFill>
                <a:latin typeface="Franklin Gothic"/>
                <a:ea typeface="Franklin Gothic"/>
                <a:cs typeface="Franklin Gothic"/>
                <a:sym typeface="Franklin Gothic"/>
              </a:rPr>
              <a:t>         </a:t>
            </a:r>
            <a:endParaRPr sz="2200" i="0" u="none" strike="noStrike" cap="none" dirty="0">
              <a:solidFill>
                <a:srgbClr val="000000"/>
              </a:solidFill>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Commit</a:t>
            </a:r>
            <a:r>
              <a:rPr lang="en" sz="2200" i="0" u="none" strike="noStrike" cap="none" dirty="0">
                <a:solidFill>
                  <a:srgbClr val="000000"/>
                </a:solidFill>
                <a:latin typeface="Franklin Gothic"/>
                <a:ea typeface="Franklin Gothic"/>
                <a:cs typeface="Franklin Gothic"/>
                <a:sym typeface="Franklin Gothic"/>
              </a:rPr>
              <a:t> - an individual change to a file for a rep</a:t>
            </a:r>
            <a:r>
              <a:rPr lang="en" sz="2200" dirty="0">
                <a:latin typeface="Franklin Gothic"/>
                <a:ea typeface="Franklin Gothic"/>
                <a:cs typeface="Franklin Gothic"/>
                <a:sym typeface="Franklin Gothic"/>
              </a:rPr>
              <a:t>ository</a:t>
            </a:r>
            <a:endParaRPr sz="2200" dirty="0">
              <a:latin typeface="Franklin Gothic"/>
              <a:ea typeface="Franklin Gothic"/>
              <a:cs typeface="Franklin Gothic"/>
              <a:sym typeface="Franklin Gothic"/>
            </a:endParaRPr>
          </a:p>
          <a:p>
            <a:pPr marL="0" marR="0" lvl="0" indent="0" algn="l" rtl="0">
              <a:lnSpc>
                <a:spcPct val="100000"/>
              </a:lnSpc>
              <a:spcBef>
                <a:spcPts val="0"/>
              </a:spcBef>
              <a:spcAft>
                <a:spcPts val="0"/>
              </a:spcAft>
              <a:buClr>
                <a:srgbClr val="000000"/>
              </a:buClr>
              <a:buSzPts val="2000"/>
              <a:buFont typeface="Franklin Gothic"/>
              <a:buNone/>
            </a:pPr>
            <a:r>
              <a:rPr lang="en" sz="2200" b="1" i="0" u="none" strike="noStrike" cap="none" dirty="0">
                <a:solidFill>
                  <a:srgbClr val="000000"/>
                </a:solidFill>
                <a:latin typeface="Franklin Gothic"/>
                <a:ea typeface="Franklin Gothic"/>
                <a:cs typeface="Franklin Gothic"/>
                <a:sym typeface="Franklin Gothic"/>
              </a:rPr>
              <a:t>Contributor </a:t>
            </a:r>
            <a:r>
              <a:rPr lang="en" sz="2200" i="0" u="none" strike="noStrike" cap="none" dirty="0">
                <a:solidFill>
                  <a:srgbClr val="000000"/>
                </a:solidFill>
                <a:latin typeface="Franklin Gothic"/>
                <a:ea typeface="Franklin Gothic"/>
                <a:cs typeface="Franklin Gothic"/>
                <a:sym typeface="Franklin Gothic"/>
              </a:rPr>
              <a:t>- someone who successfully committed to a project </a:t>
            </a:r>
          </a:p>
          <a:p>
            <a:pPr marL="0" marR="0" lvl="0" indent="0" algn="l" rtl="0">
              <a:lnSpc>
                <a:spcPct val="100000"/>
              </a:lnSpc>
              <a:spcBef>
                <a:spcPts val="0"/>
              </a:spcBef>
              <a:spcAft>
                <a:spcPts val="0"/>
              </a:spcAft>
              <a:buClr>
                <a:srgbClr val="000000"/>
              </a:buClr>
              <a:buSzPts val="2000"/>
              <a:buFont typeface="Franklin Gothic"/>
              <a:buNone/>
            </a:pPr>
            <a:r>
              <a:rPr lang="en" sz="2200" b="1" dirty="0">
                <a:latin typeface="Franklin Gothic"/>
                <a:ea typeface="Franklin Gothic"/>
                <a:cs typeface="Franklin Gothic"/>
                <a:sym typeface="Franklin Gothic"/>
              </a:rPr>
              <a:t>Slug </a:t>
            </a:r>
            <a:r>
              <a:rPr lang="en" sz="2200" dirty="0">
                <a:latin typeface="Franklin Gothic"/>
                <a:ea typeface="Franklin Gothic"/>
                <a:cs typeface="Franklin Gothic"/>
                <a:sym typeface="Franklin Gothic"/>
              </a:rPr>
              <a:t>- URL friendly combination of owner and repo name (</a:t>
            </a:r>
            <a:r>
              <a:rPr lang="en" sz="2200" i="1" dirty="0">
                <a:latin typeface="Franklin Gothic"/>
                <a:ea typeface="Franklin Gothic"/>
                <a:cs typeface="Franklin Gothic"/>
                <a:sym typeface="Franklin Gothic"/>
              </a:rPr>
              <a:t>i.e., Nosferican/Econometrics.jl)</a:t>
            </a:r>
            <a:endParaRPr sz="2200" i="1" dirty="0">
              <a:latin typeface="Franklin Gothic"/>
              <a:ea typeface="Franklin Gothic"/>
              <a:cs typeface="Franklin Gothic"/>
              <a:sym typeface="Franklin Gothic"/>
            </a:endParaRPr>
          </a:p>
          <a:p>
            <a:pPr marL="342900" marR="0" lvl="0" indent="-215900" algn="ctr" rtl="0">
              <a:lnSpc>
                <a:spcPct val="100000"/>
              </a:lnSpc>
              <a:spcBef>
                <a:spcPts val="0"/>
              </a:spcBef>
              <a:spcAft>
                <a:spcPts val="0"/>
              </a:spcAft>
              <a:buClr>
                <a:srgbClr val="000000"/>
              </a:buClr>
              <a:buSzPts val="2000"/>
              <a:buFont typeface="Arial"/>
              <a:buNone/>
            </a:pPr>
            <a:endParaRPr sz="2000" i="0" u="none" strike="noStrike" cap="none" dirty="0">
              <a:solidFill>
                <a:srgbClr val="000000"/>
              </a:solidFill>
              <a:latin typeface="Franklin Gothic"/>
              <a:ea typeface="Franklin Gothic"/>
              <a:cs typeface="Franklin Gothic"/>
              <a:sym typeface="Franklin Gothic"/>
            </a:endParaRPr>
          </a:p>
        </p:txBody>
      </p:sp>
      <p:sp>
        <p:nvSpPr>
          <p:cNvPr id="236" name="Google Shape;236;p17"/>
          <p:cNvSpPr/>
          <p:nvPr/>
        </p:nvSpPr>
        <p:spPr>
          <a:xfrm>
            <a:off x="10419765" y="4092450"/>
            <a:ext cx="10907110"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7"/>
          <p:cNvSpPr txBox="1"/>
          <p:nvPr/>
        </p:nvSpPr>
        <p:spPr>
          <a:xfrm>
            <a:off x="9536246" y="4246250"/>
            <a:ext cx="48366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Terminology</a:t>
            </a:r>
            <a:endParaRPr sz="3200" dirty="0">
              <a:solidFill>
                <a:srgbClr val="FFFFFF"/>
              </a:solidFill>
              <a:latin typeface="Franklin Gothic"/>
              <a:ea typeface="Franklin Gothic"/>
              <a:cs typeface="Franklin Gothic"/>
              <a:sym typeface="Franklin Gothic"/>
            </a:endParaRPr>
          </a:p>
        </p:txBody>
      </p:sp>
      <p:sp>
        <p:nvSpPr>
          <p:cNvPr id="238" name="Google Shape;238;p17"/>
          <p:cNvSpPr/>
          <p:nvPr/>
        </p:nvSpPr>
        <p:spPr>
          <a:xfrm>
            <a:off x="9529664" y="4092450"/>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7"/>
          <p:cNvSpPr txBox="1"/>
          <p:nvPr/>
        </p:nvSpPr>
        <p:spPr>
          <a:xfrm>
            <a:off x="2694212" y="8034239"/>
            <a:ext cx="6315300" cy="432000"/>
          </a:xfrm>
          <a:prstGeom prst="rect">
            <a:avLst/>
          </a:prstGeom>
          <a:noFill/>
          <a:ln>
            <a:noFill/>
          </a:ln>
        </p:spPr>
        <p:txBody>
          <a:bodyPr spcFirstLastPara="1" wrap="square" lIns="114300" tIns="114300" rIns="114300" bIns="114300" anchor="ctr" anchorCtr="0">
            <a:noAutofit/>
          </a:bodyPr>
          <a:lstStyle/>
          <a:p>
            <a:pPr marL="0" marR="0" lvl="0" indent="0" algn="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Data Collection</a:t>
            </a:r>
            <a:endParaRPr sz="3200" dirty="0">
              <a:solidFill>
                <a:srgbClr val="FFFFFF"/>
              </a:solidFill>
              <a:latin typeface="Franklin Gothic"/>
              <a:ea typeface="Franklin Gothic"/>
              <a:cs typeface="Franklin Gothic"/>
              <a:sym typeface="Franklin Gothic"/>
            </a:endParaRPr>
          </a:p>
        </p:txBody>
      </p:sp>
      <p:sp>
        <p:nvSpPr>
          <p:cNvPr id="241" name="Google Shape;241;p17"/>
          <p:cNvSpPr txBox="1"/>
          <p:nvPr/>
        </p:nvSpPr>
        <p:spPr>
          <a:xfrm>
            <a:off x="315098" y="15199598"/>
            <a:ext cx="6166754" cy="2516973"/>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 sz="2200" dirty="0">
                <a:latin typeface="Franklin Gothic"/>
                <a:sym typeface="Franklin Gothic"/>
              </a:rPr>
              <a:t>Although 87 OSI-approved licenses exist, the top 13 licenses contain &gt;99% of OSS repos on GitHub. </a:t>
            </a:r>
            <a:br>
              <a:rPr lang="en" sz="2200" dirty="0">
                <a:latin typeface="Franklin Gothic"/>
                <a:sym typeface="Franklin Gothic"/>
              </a:rPr>
            </a:br>
            <a:r>
              <a:rPr lang="en" sz="2200" dirty="0">
                <a:latin typeface="Franklin Gothic"/>
                <a:sym typeface="Franklin Gothic"/>
              </a:rPr>
              <a:t>The most popular ones are:</a:t>
            </a:r>
          </a:p>
          <a:p>
            <a:pPr marL="914400" lvl="1" indent="-342900">
              <a:buSzPts val="2200"/>
              <a:buFont typeface="Franklin Gothic"/>
              <a:buChar char="•"/>
            </a:pPr>
            <a:r>
              <a:rPr lang="en" sz="2200" dirty="0">
                <a:latin typeface="Franklin Gothic"/>
                <a:sym typeface="Franklin Gothic"/>
              </a:rPr>
              <a:t>MIT: </a:t>
            </a:r>
            <a:r>
              <a:rPr lang="en-US" sz="2200" dirty="0">
                <a:latin typeface="Franklin Gothic"/>
              </a:rPr>
              <a:t>Massachusetts Institute of Technology </a:t>
            </a:r>
          </a:p>
          <a:p>
            <a:pPr marL="914400" lvl="1" indent="-342900">
              <a:buSzPts val="2200"/>
              <a:buFont typeface="Franklin Gothic"/>
              <a:buChar char="•"/>
            </a:pPr>
            <a:r>
              <a:rPr lang="en-US" sz="2200" dirty="0">
                <a:latin typeface="Franklin Gothic"/>
                <a:sym typeface="Franklin Gothic"/>
              </a:rPr>
              <a:t>Apache License</a:t>
            </a:r>
            <a:endParaRPr lang="en-US" sz="2200" dirty="0">
              <a:latin typeface="Franklin Gothic"/>
            </a:endParaRPr>
          </a:p>
          <a:p>
            <a:pPr marL="914400" lvl="1" indent="-342900">
              <a:buSzPts val="2200"/>
              <a:buFont typeface="Franklin Gothic"/>
              <a:buChar char="•"/>
            </a:pPr>
            <a:r>
              <a:rPr lang="en-US" sz="2200" dirty="0">
                <a:latin typeface="Franklin Gothic"/>
              </a:rPr>
              <a:t>GPL: GNU Public License</a:t>
            </a:r>
          </a:p>
          <a:p>
            <a:pPr marL="914400" lvl="1" indent="-342900">
              <a:buSzPts val="2200"/>
              <a:buFont typeface="Franklin Gothic"/>
              <a:buChar char="•"/>
            </a:pPr>
            <a:r>
              <a:rPr lang="en-US" sz="2200" dirty="0">
                <a:latin typeface="Franklin Gothic"/>
              </a:rPr>
              <a:t>BSD: Berkeley Software Distribution</a:t>
            </a:r>
          </a:p>
        </p:txBody>
      </p:sp>
      <p:sp>
        <p:nvSpPr>
          <p:cNvPr id="242" name="Google Shape;242;p17"/>
          <p:cNvSpPr/>
          <p:nvPr/>
        </p:nvSpPr>
        <p:spPr>
          <a:xfrm>
            <a:off x="1344825" y="13436588"/>
            <a:ext cx="19953903"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7"/>
          <p:cNvSpPr txBox="1"/>
          <p:nvPr/>
        </p:nvSpPr>
        <p:spPr>
          <a:xfrm>
            <a:off x="755475" y="13590326"/>
            <a:ext cx="4606200" cy="472500"/>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3200" dirty="0">
                <a:solidFill>
                  <a:srgbClr val="FFFFFF"/>
                </a:solidFill>
                <a:latin typeface="Franklin Gothic"/>
                <a:ea typeface="Franklin Gothic"/>
                <a:cs typeface="Franklin Gothic"/>
                <a:sym typeface="Franklin Gothic"/>
              </a:rPr>
              <a:t>Data Analysis</a:t>
            </a:r>
            <a:endParaRPr sz="3200" dirty="0">
              <a:solidFill>
                <a:srgbClr val="FFFFFF"/>
              </a:solidFill>
              <a:latin typeface="Franklin Gothic"/>
              <a:ea typeface="Franklin Gothic"/>
              <a:cs typeface="Franklin Gothic"/>
              <a:sym typeface="Franklin Gothic"/>
            </a:endParaRPr>
          </a:p>
        </p:txBody>
      </p:sp>
      <p:sp>
        <p:nvSpPr>
          <p:cNvPr id="244" name="Google Shape;244;p17"/>
          <p:cNvSpPr/>
          <p:nvPr/>
        </p:nvSpPr>
        <p:spPr>
          <a:xfrm>
            <a:off x="400578" y="13436576"/>
            <a:ext cx="718482"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7"/>
          <p:cNvSpPr txBox="1"/>
          <p:nvPr/>
        </p:nvSpPr>
        <p:spPr>
          <a:xfrm>
            <a:off x="339042" y="11326255"/>
            <a:ext cx="9055894" cy="1186400"/>
          </a:xfrm>
          <a:prstGeom prst="rect">
            <a:avLst/>
          </a:prstGeom>
          <a:noFill/>
          <a:ln>
            <a:noFill/>
          </a:ln>
        </p:spPr>
        <p:txBody>
          <a:bodyPr spcFirstLastPara="1" wrap="square" lIns="91425" tIns="91425" rIns="91425" bIns="91425" anchor="t" anchorCtr="0">
            <a:noAutofit/>
          </a:bodyPr>
          <a:lstStyle/>
          <a:p>
            <a:r>
              <a:rPr lang="en" sz="2200" dirty="0">
                <a:solidFill>
                  <a:schemeClr val="dk1"/>
                </a:solidFill>
                <a:latin typeface="Franklin Gothic"/>
                <a:ea typeface="Franklin Gothic"/>
                <a:cs typeface="Franklin Gothic"/>
                <a:sym typeface="Franklin Gothic"/>
              </a:rPr>
              <a:t>We collected: </a:t>
            </a:r>
          </a:p>
          <a:p>
            <a:pPr marL="342900" lvl="0" indent="-342900">
              <a:buSzPts val="2200"/>
              <a:buFont typeface="Franklin Gothic"/>
              <a:buChar char="•"/>
            </a:pPr>
            <a:r>
              <a:rPr lang="en" sz="2200" b="1" dirty="0">
                <a:latin typeface="Franklin Gothic"/>
                <a:sym typeface="Franklin Gothic"/>
              </a:rPr>
              <a:t>55.1M</a:t>
            </a:r>
            <a:r>
              <a:rPr lang="en" sz="2200" dirty="0">
                <a:latin typeface="Franklin Gothic"/>
                <a:sym typeface="Franklin Gothic"/>
              </a:rPr>
              <a:t> repositories with commits from GHTorrent between 2012-2018.</a:t>
            </a:r>
          </a:p>
          <a:p>
            <a:pPr marL="342900" lvl="0" indent="-342900">
              <a:buSzPts val="2200"/>
              <a:buFont typeface="Franklin Gothic"/>
              <a:buChar char="•"/>
            </a:pPr>
            <a:r>
              <a:rPr lang="en" sz="2200" b="1" dirty="0">
                <a:latin typeface="Franklin Gothic"/>
                <a:sym typeface="Helvetica Neue"/>
              </a:rPr>
              <a:t>7M</a:t>
            </a:r>
            <a:r>
              <a:rPr lang="en" sz="2200" dirty="0">
                <a:latin typeface="Franklin Gothic"/>
                <a:sym typeface="Helvetica Neue"/>
              </a:rPr>
              <a:t> repositories with OSI-approved licenses on GitHub as of July 2019.  </a:t>
            </a:r>
            <a:br>
              <a:rPr lang="en" sz="2200" dirty="0">
                <a:latin typeface="Franklin Gothic"/>
                <a:sym typeface="Helvetica Neue"/>
              </a:rPr>
            </a:br>
            <a:r>
              <a:rPr lang="en" sz="2200" dirty="0">
                <a:latin typeface="Franklin Gothic"/>
                <a:sym typeface="Franklin Gothic"/>
              </a:rPr>
              <a:t>Of those, we analyzed </a:t>
            </a:r>
            <a:r>
              <a:rPr lang="en" sz="2200" b="1" dirty="0">
                <a:latin typeface="Franklin Gothic"/>
                <a:sym typeface="Franklin Gothic"/>
              </a:rPr>
              <a:t>4.9M</a:t>
            </a:r>
            <a:r>
              <a:rPr lang="en" sz="2200" dirty="0">
                <a:latin typeface="Franklin Gothic"/>
                <a:sym typeface="Franklin Gothic"/>
              </a:rPr>
              <a:t> repos that have at least one commit.</a:t>
            </a:r>
            <a:endParaRPr sz="2200" dirty="0">
              <a:latin typeface="Franklin Gothic"/>
              <a:sym typeface="Franklin Gothic"/>
            </a:endParaRPr>
          </a:p>
        </p:txBody>
      </p:sp>
      <p:sp>
        <p:nvSpPr>
          <p:cNvPr id="246" name="Google Shape;246;p17"/>
          <p:cNvSpPr txBox="1"/>
          <p:nvPr/>
        </p:nvSpPr>
        <p:spPr>
          <a:xfrm>
            <a:off x="6602865" y="18455101"/>
            <a:ext cx="6528149" cy="1368355"/>
          </a:xfrm>
          <a:prstGeom prst="rect">
            <a:avLst/>
          </a:prstGeom>
          <a:noFill/>
          <a:ln>
            <a:noFill/>
          </a:ln>
        </p:spPr>
        <p:txBody>
          <a:bodyPr spcFirstLastPara="1" wrap="square" lIns="114300" tIns="114300" rIns="114300" bIns="114300" anchor="ctr" anchorCtr="0">
            <a:noAutofit/>
          </a:bodyPr>
          <a:lstStyle/>
          <a:p>
            <a:pPr marL="0" marR="0" lvl="0" indent="0" algn="l" rtl="0">
              <a:lnSpc>
                <a:spcPct val="100000"/>
              </a:lnSpc>
              <a:spcBef>
                <a:spcPts val="0"/>
              </a:spcBef>
              <a:spcAft>
                <a:spcPts val="0"/>
              </a:spcAft>
              <a:buNone/>
            </a:pPr>
            <a:r>
              <a:rPr lang="en" sz="2200" dirty="0">
                <a:latin typeface="Franklin Gothic"/>
                <a:ea typeface="Franklin Gothic"/>
                <a:cs typeface="Franklin Gothic"/>
                <a:sym typeface="Franklin Gothic"/>
              </a:rPr>
              <a:t>MIT is the most common OSS license (55%). These five licenses (presented above</a:t>
            </a:r>
            <a:r>
              <a:rPr lang="en" sz="2200" dirty="0">
                <a:solidFill>
                  <a:schemeClr val="dk1"/>
                </a:solidFill>
                <a:latin typeface="Franklin Gothic"/>
                <a:ea typeface="Franklin Gothic"/>
                <a:cs typeface="Franklin Gothic"/>
                <a:sym typeface="Franklin Gothic"/>
              </a:rPr>
              <a:t>)</a:t>
            </a:r>
            <a:r>
              <a:rPr lang="en" sz="2200" dirty="0">
                <a:latin typeface="Franklin Gothic"/>
                <a:ea typeface="Franklin Gothic"/>
                <a:cs typeface="Franklin Gothic"/>
                <a:sym typeface="Franklin Gothic"/>
              </a:rPr>
              <a:t> together comprise about 93% of all OSS on GitHub. </a:t>
            </a:r>
            <a:endParaRPr sz="2200" dirty="0">
              <a:solidFill>
                <a:schemeClr val="tx1"/>
              </a:solidFill>
              <a:latin typeface="Franklin Gothic"/>
              <a:ea typeface="Franklin Gothic"/>
              <a:cs typeface="Franklin Gothic"/>
              <a:sym typeface="Franklin Gothic"/>
            </a:endParaRPr>
          </a:p>
        </p:txBody>
      </p:sp>
      <p:pic>
        <p:nvPicPr>
          <p:cNvPr id="247" name="Google Shape;247;p17"/>
          <p:cNvPicPr preferRelativeResize="0"/>
          <p:nvPr/>
        </p:nvPicPr>
        <p:blipFill rotWithShape="1">
          <a:blip r:embed="rId10">
            <a:alphaModFix/>
          </a:blip>
          <a:srcRect l="11292" r="17232"/>
          <a:stretch/>
        </p:blipFill>
        <p:spPr>
          <a:xfrm>
            <a:off x="13197791" y="15460973"/>
            <a:ext cx="5575424" cy="4387845"/>
          </a:xfrm>
          <a:prstGeom prst="rect">
            <a:avLst/>
          </a:prstGeom>
          <a:noFill/>
          <a:ln w="9525" cap="flat" cmpd="sng">
            <a:solidFill>
              <a:srgbClr val="000000"/>
            </a:solidFill>
            <a:prstDash val="solid"/>
            <a:round/>
            <a:headEnd type="none" w="sm" len="sm"/>
            <a:tailEnd type="none" w="sm" len="sm"/>
          </a:ln>
        </p:spPr>
      </p:pic>
      <p:sp>
        <p:nvSpPr>
          <p:cNvPr id="249" name="Google Shape;249;p17"/>
          <p:cNvSpPr txBox="1"/>
          <p:nvPr/>
        </p:nvSpPr>
        <p:spPr>
          <a:xfrm>
            <a:off x="10274156" y="26554639"/>
            <a:ext cx="11214610" cy="1847044"/>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US" sz="2200" dirty="0">
                <a:latin typeface="Franklin Gothic"/>
                <a:sym typeface="Franklin Gothic"/>
              </a:rPr>
              <a:t>OSS is growing rapidly; 2,350% increase from 2012 to 2018.</a:t>
            </a:r>
          </a:p>
          <a:p>
            <a:pPr marL="342900" indent="-342900">
              <a:buSzPts val="2200"/>
              <a:buFont typeface="Franklin Gothic"/>
              <a:buChar char="•"/>
            </a:pPr>
            <a:r>
              <a:rPr lang="en-US" sz="2200" dirty="0">
                <a:latin typeface="Franklin Gothic"/>
                <a:sym typeface="Franklin Gothic"/>
              </a:rPr>
              <a:t>P</a:t>
            </a:r>
            <a:r>
              <a:rPr lang="en" sz="2200" dirty="0">
                <a:latin typeface="Franklin Gothic"/>
                <a:sym typeface="Franklin Gothic"/>
              </a:rPr>
              <a:t>ermissive licenses are becoming more common (MIT is the most popular OSS license)​​.</a:t>
            </a:r>
          </a:p>
          <a:p>
            <a:pPr marL="342900" lvl="0" indent="-342900">
              <a:buSzPts val="2200"/>
              <a:buFont typeface="Franklin Gothic"/>
              <a:buChar char="•"/>
            </a:pPr>
            <a:r>
              <a:rPr lang="en-US" sz="2200" dirty="0">
                <a:latin typeface="Franklin Gothic"/>
                <a:sym typeface="Franklin Gothic"/>
              </a:rPr>
              <a:t>Sectors are difficult to identify </a:t>
            </a:r>
            <a:r>
              <a:rPr lang="en" sz="2200" dirty="0">
                <a:latin typeface="Franklin Gothic"/>
                <a:sym typeface="Franklin Gothic"/>
              </a:rPr>
              <a:t>because users are not required to accurately fill in organization information.</a:t>
            </a:r>
            <a:endParaRPr lang="en-US" sz="2200" dirty="0">
              <a:latin typeface="Franklin Gothic"/>
              <a:sym typeface="Franklin Gothic"/>
            </a:endParaRPr>
          </a:p>
          <a:p>
            <a:pPr marL="342900" lvl="0" indent="-342900">
              <a:buSzPts val="2200"/>
              <a:buFont typeface="Franklin Gothic"/>
              <a:buChar char="•"/>
            </a:pPr>
            <a:r>
              <a:rPr lang="en-US" sz="2200" dirty="0">
                <a:latin typeface="Franklin Gothic"/>
                <a:sym typeface="Franklin Gothic"/>
              </a:rPr>
              <a:t>Better standards are needed for tracking and recognizing OSS producers.​</a:t>
            </a:r>
          </a:p>
          <a:p>
            <a:pPr marL="457200" lvl="0" indent="-368300">
              <a:buSzPts val="2200"/>
              <a:buFont typeface="Franklin Gothic"/>
              <a:buChar char="●"/>
            </a:pPr>
            <a:endParaRPr sz="2200" dirty="0">
              <a:latin typeface="Franklin Gothic"/>
              <a:ea typeface="Franklin Gothic"/>
              <a:cs typeface="Franklin Gothic"/>
              <a:sym typeface="Franklin Gothic"/>
            </a:endParaRPr>
          </a:p>
        </p:txBody>
      </p:sp>
      <p:sp>
        <p:nvSpPr>
          <p:cNvPr id="253" name="Google Shape;253;p17"/>
          <p:cNvSpPr txBox="1"/>
          <p:nvPr/>
        </p:nvSpPr>
        <p:spPr>
          <a:xfrm>
            <a:off x="17546252" y="21698293"/>
            <a:ext cx="4290902" cy="3067522"/>
          </a:xfrm>
          <a:prstGeom prst="rect">
            <a:avLst/>
          </a:prstGeom>
          <a:noFill/>
          <a:ln>
            <a:noFill/>
          </a:ln>
        </p:spPr>
        <p:txBody>
          <a:bodyPr spcFirstLastPara="1" wrap="square" lIns="91425" tIns="91425" rIns="91425" bIns="91425" anchor="t" anchorCtr="0">
            <a:noAutofit/>
          </a:bodyPr>
          <a:lstStyle/>
          <a:p>
            <a:pPr marL="342900" indent="-342900">
              <a:buSzPts val="2200"/>
              <a:buFont typeface="Franklin Gothic"/>
              <a:buChar char="•"/>
            </a:pPr>
            <a:r>
              <a:rPr lang="en-US" sz="2200" dirty="0">
                <a:latin typeface="Franklin Gothic"/>
                <a:sym typeface="Franklin Gothic"/>
              </a:rPr>
              <a:t>W</a:t>
            </a:r>
            <a:r>
              <a:rPr lang="en" sz="2200" dirty="0">
                <a:latin typeface="Franklin Gothic"/>
                <a:sym typeface="Franklin Gothic"/>
              </a:rPr>
              <a:t>e used the self-reported company field in contributors profile. </a:t>
            </a:r>
          </a:p>
          <a:p>
            <a:pPr marL="342900" lvl="0" indent="-342900">
              <a:buSzPts val="2200"/>
              <a:buFont typeface="Franklin Gothic"/>
              <a:buChar char="•"/>
            </a:pPr>
            <a:r>
              <a:rPr lang="en" sz="2200" dirty="0">
                <a:latin typeface="Franklin Gothic"/>
                <a:sym typeface="Franklin Gothic"/>
              </a:rPr>
              <a:t>Only 2% of the </a:t>
            </a:r>
            <a:r>
              <a:rPr lang="en-US" sz="2200" dirty="0">
                <a:latin typeface="Franklin Gothic"/>
                <a:sym typeface="Franklin Gothic"/>
              </a:rPr>
              <a:t>contributors</a:t>
            </a:r>
          </a:p>
          <a:p>
            <a:pPr>
              <a:buSzPts val="2200"/>
            </a:pPr>
            <a:r>
              <a:rPr lang="en-US" sz="2200" dirty="0">
                <a:latin typeface="Franklin Gothic"/>
                <a:sym typeface="Franklin Gothic"/>
              </a:rPr>
              <a:t>     can be identified.</a:t>
            </a:r>
            <a:endParaRPr sz="2200" dirty="0">
              <a:latin typeface="Franklin Gothic"/>
              <a:sym typeface="Franklin Gothic"/>
            </a:endParaRPr>
          </a:p>
          <a:p>
            <a:pPr marL="342900" lvl="0" indent="-342900">
              <a:buSzPts val="2200"/>
              <a:buFont typeface="Franklin Gothic"/>
              <a:buChar char="•"/>
            </a:pPr>
            <a:r>
              <a:rPr lang="en-US" sz="2200" dirty="0">
                <a:latin typeface="Franklin Gothic"/>
                <a:sym typeface="Franklin Gothic"/>
              </a:rPr>
              <a:t>OSS is becoming more permissive as businesses contribute more code.</a:t>
            </a:r>
          </a:p>
        </p:txBody>
      </p:sp>
      <p:sp>
        <p:nvSpPr>
          <p:cNvPr id="257" name="Google Shape;257;p17"/>
          <p:cNvSpPr/>
          <p:nvPr/>
        </p:nvSpPr>
        <p:spPr>
          <a:xfrm>
            <a:off x="20708765" y="25620411"/>
            <a:ext cx="780000" cy="780000"/>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7"/>
          <p:cNvSpPr txBox="1"/>
          <p:nvPr/>
        </p:nvSpPr>
        <p:spPr>
          <a:xfrm>
            <a:off x="18725526" y="16424275"/>
            <a:ext cx="2889420" cy="2326800"/>
          </a:xfrm>
          <a:prstGeom prst="rect">
            <a:avLst/>
          </a:prstGeom>
          <a:noFill/>
          <a:ln>
            <a:noFill/>
          </a:ln>
        </p:spPr>
        <p:txBody>
          <a:bodyPr spcFirstLastPara="1" wrap="square" lIns="91425" tIns="91425" rIns="91425" bIns="91425" anchor="ctr" anchorCtr="0">
            <a:noAutofit/>
          </a:bodyPr>
          <a:lstStyle/>
          <a:p>
            <a:pPr marL="342900" lvl="0" indent="-342900">
              <a:buSzPts val="2200"/>
              <a:buFont typeface="Franklin Gothic"/>
              <a:buChar char="•"/>
            </a:pPr>
            <a:r>
              <a:rPr lang="en" sz="2200" dirty="0">
                <a:latin typeface="Franklin Gothic"/>
                <a:sym typeface="Franklin Gothic"/>
              </a:rPr>
              <a:t>MIT, GPL-3.0 and Apache have been increasing in proportion. These licenses are generally more </a:t>
            </a:r>
            <a:r>
              <a:rPr lang="en" sz="2200" i="1" dirty="0">
                <a:latin typeface="Franklin Gothic"/>
                <a:sym typeface="Franklin Gothic"/>
              </a:rPr>
              <a:t>permissive</a:t>
            </a:r>
            <a:r>
              <a:rPr lang="en" sz="2200" dirty="0">
                <a:latin typeface="Franklin Gothic"/>
                <a:sym typeface="Franklin Gothic"/>
              </a:rPr>
              <a:t>.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GPL-2.0 and BSD, two more </a:t>
            </a:r>
            <a:r>
              <a:rPr lang="en" sz="2200" i="1" dirty="0">
                <a:latin typeface="Franklin Gothic"/>
                <a:sym typeface="Franklin Gothic"/>
              </a:rPr>
              <a:t>restrictive</a:t>
            </a:r>
            <a:r>
              <a:rPr lang="en" sz="2200" dirty="0">
                <a:latin typeface="Franklin Gothic"/>
                <a:sym typeface="Franklin Gothic"/>
              </a:rPr>
              <a:t> licenses, decreased in proportion.</a:t>
            </a:r>
            <a:endParaRPr sz="2200" dirty="0">
              <a:latin typeface="Franklin Gothic"/>
              <a:sym typeface="Franklin Gothic"/>
            </a:endParaRPr>
          </a:p>
        </p:txBody>
      </p:sp>
      <p:sp>
        <p:nvSpPr>
          <p:cNvPr id="206" name="Google Shape;206;p17"/>
          <p:cNvSpPr txBox="1"/>
          <p:nvPr/>
        </p:nvSpPr>
        <p:spPr>
          <a:xfrm>
            <a:off x="416868" y="21363411"/>
            <a:ext cx="2918405" cy="2462400"/>
          </a:xfrm>
          <a:prstGeom prst="rect">
            <a:avLst/>
          </a:prstGeom>
          <a:noFill/>
          <a:ln>
            <a:noFill/>
          </a:ln>
        </p:spPr>
        <p:txBody>
          <a:bodyPr spcFirstLastPara="1" wrap="square" lIns="91425" tIns="91425" rIns="91425" bIns="91425" anchor="t" anchorCtr="0">
            <a:noAutofit/>
          </a:bodyPr>
          <a:lstStyle/>
          <a:p>
            <a:r>
              <a:rPr lang="en" sz="2200" dirty="0">
                <a:solidFill>
                  <a:schemeClr val="dk1"/>
                </a:solidFill>
                <a:latin typeface="Franklin Gothic"/>
                <a:ea typeface="Franklin Gothic"/>
                <a:cs typeface="Franklin Gothic"/>
                <a:sym typeface="Franklin Gothic"/>
              </a:rPr>
              <a:t>The number of GitHub repos with an OSS license has been increasing rapidly. </a:t>
            </a:r>
          </a:p>
          <a:p>
            <a:endParaRPr lang="en" sz="2200" dirty="0">
              <a:solidFill>
                <a:schemeClr val="dk1"/>
              </a:solidFill>
              <a:latin typeface="Franklin Gothic"/>
              <a:ea typeface="Franklin Gothic"/>
              <a:cs typeface="Franklin Gothic"/>
              <a:sym typeface="Franklin Gothic"/>
            </a:endParaRPr>
          </a:p>
          <a:p>
            <a:r>
              <a:rPr lang="en" sz="2200" dirty="0">
                <a:solidFill>
                  <a:schemeClr val="dk1"/>
                </a:solidFill>
                <a:latin typeface="Franklin Gothic"/>
                <a:ea typeface="Franklin Gothic"/>
                <a:cs typeface="Franklin Gothic"/>
                <a:sym typeface="Franklin Gothic"/>
              </a:rPr>
              <a:t>In 2012 there were 79.4K repos with OSS licenses. By 2018,  there were 1.9M. </a:t>
            </a:r>
            <a:endParaRPr sz="2200" dirty="0">
              <a:solidFill>
                <a:schemeClr val="dk1"/>
              </a:solidFill>
              <a:latin typeface="Franklin Gothic"/>
              <a:ea typeface="Franklin Gothic"/>
              <a:cs typeface="Franklin Gothic"/>
              <a:sym typeface="Franklin Gothic"/>
            </a:endParaRPr>
          </a:p>
        </p:txBody>
      </p:sp>
      <p:pic>
        <p:nvPicPr>
          <p:cNvPr id="215" name="Google Shape;215;p17"/>
          <p:cNvPicPr preferRelativeResize="0"/>
          <p:nvPr/>
        </p:nvPicPr>
        <p:blipFill>
          <a:blip r:embed="rId11">
            <a:alphaModFix/>
          </a:blip>
          <a:stretch>
            <a:fillRect/>
          </a:stretch>
        </p:blipFill>
        <p:spPr>
          <a:xfrm>
            <a:off x="334029" y="25769729"/>
            <a:ext cx="5997137" cy="3530746"/>
          </a:xfrm>
          <a:prstGeom prst="rect">
            <a:avLst/>
          </a:prstGeom>
          <a:noFill/>
          <a:ln>
            <a:noFill/>
          </a:ln>
        </p:spPr>
      </p:pic>
      <p:cxnSp>
        <p:nvCxnSpPr>
          <p:cNvPr id="216" name="Google Shape;216;p17"/>
          <p:cNvCxnSpPr>
            <a:cxnSpLocks/>
            <a:endCxn id="217" idx="1"/>
          </p:cNvCxnSpPr>
          <p:nvPr/>
        </p:nvCxnSpPr>
        <p:spPr>
          <a:xfrm flipV="1">
            <a:off x="6171979" y="29106303"/>
            <a:ext cx="522831" cy="80136"/>
          </a:xfrm>
          <a:prstGeom prst="straightConnector1">
            <a:avLst/>
          </a:prstGeom>
          <a:noFill/>
          <a:ln w="19050" cap="flat" cmpd="sng">
            <a:solidFill>
              <a:srgbClr val="000000"/>
            </a:solidFill>
            <a:prstDash val="solid"/>
            <a:round/>
            <a:headEnd type="none" w="med" len="med"/>
            <a:tailEnd type="none" w="med" len="med"/>
          </a:ln>
        </p:spPr>
      </p:cxnSp>
      <p:sp>
        <p:nvSpPr>
          <p:cNvPr id="217" name="Google Shape;217;p17"/>
          <p:cNvSpPr txBox="1"/>
          <p:nvPr/>
        </p:nvSpPr>
        <p:spPr>
          <a:xfrm>
            <a:off x="6556787" y="29031163"/>
            <a:ext cx="1970700" cy="288300"/>
          </a:xfrm>
          <a:prstGeom prst="rect">
            <a:avLst/>
          </a:prstGeom>
          <a:solidFill>
            <a:srgbClr val="FFE599"/>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t>&gt; 50 contributors (0.3%)</a:t>
            </a:r>
            <a:endParaRPr sz="1200" b="1" dirty="0"/>
          </a:p>
        </p:txBody>
      </p:sp>
      <p:sp>
        <p:nvSpPr>
          <p:cNvPr id="218" name="Google Shape;218;p17"/>
          <p:cNvSpPr txBox="1"/>
          <p:nvPr/>
        </p:nvSpPr>
        <p:spPr>
          <a:xfrm>
            <a:off x="6251346" y="26029213"/>
            <a:ext cx="3730018" cy="2885700"/>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 sz="2200" dirty="0">
                <a:latin typeface="Franklin Gothic"/>
                <a:sym typeface="Franklin Gothic"/>
              </a:rPr>
              <a:t>Most repositories have fewer than 5 contributors.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On average, 1.94 contributors work on each OSS repository. </a:t>
            </a:r>
            <a:endParaRPr sz="2200" dirty="0">
              <a:latin typeface="Franklin Gothic"/>
              <a:sym typeface="Franklin Gothic"/>
            </a:endParaRPr>
          </a:p>
          <a:p>
            <a:pPr marL="342900" lvl="0" indent="-342900">
              <a:buSzPts val="2200"/>
              <a:buFont typeface="Franklin Gothic"/>
              <a:buChar char="•"/>
            </a:pPr>
            <a:r>
              <a:rPr lang="en" sz="2200" dirty="0">
                <a:latin typeface="Franklin Gothic"/>
                <a:sym typeface="Franklin Gothic"/>
              </a:rPr>
              <a:t>Only 0.3% of all OSS repositories have more than 50 contributors.</a:t>
            </a:r>
            <a:endParaRPr sz="2200" dirty="0">
              <a:latin typeface="Franklin Gothic"/>
              <a:sym typeface="Franklin Gothic"/>
            </a:endParaRPr>
          </a:p>
        </p:txBody>
      </p:sp>
      <p:pic>
        <p:nvPicPr>
          <p:cNvPr id="226" name="Google Shape;226;p17"/>
          <p:cNvPicPr preferRelativeResize="0"/>
          <p:nvPr/>
        </p:nvPicPr>
        <p:blipFill>
          <a:blip r:embed="rId12">
            <a:alphaModFix/>
          </a:blip>
          <a:stretch>
            <a:fillRect/>
          </a:stretch>
        </p:blipFill>
        <p:spPr>
          <a:xfrm>
            <a:off x="3341424" y="21408933"/>
            <a:ext cx="6210749" cy="3846708"/>
          </a:xfrm>
          <a:prstGeom prst="rect">
            <a:avLst/>
          </a:prstGeom>
          <a:noFill/>
          <a:ln>
            <a:noFill/>
          </a:ln>
        </p:spPr>
      </p:pic>
      <p:sp>
        <p:nvSpPr>
          <p:cNvPr id="67" name="Google Shape;205;p17">
            <a:extLst>
              <a:ext uri="{FF2B5EF4-FFF2-40B4-BE49-F238E27FC236}">
                <a16:creationId xmlns:a16="http://schemas.microsoft.com/office/drawing/2014/main" id="{0A577EAE-46AC-214E-84FC-F030BEEFC658}"/>
              </a:ext>
            </a:extLst>
          </p:cNvPr>
          <p:cNvSpPr txBox="1"/>
          <p:nvPr/>
        </p:nvSpPr>
        <p:spPr>
          <a:xfrm>
            <a:off x="300846" y="8858783"/>
            <a:ext cx="7102467" cy="2359955"/>
          </a:xfrm>
          <a:prstGeom prst="rect">
            <a:avLst/>
          </a:prstGeom>
          <a:noFill/>
          <a:ln>
            <a:noFill/>
          </a:ln>
        </p:spPr>
        <p:txBody>
          <a:bodyPr spcFirstLastPara="1" wrap="square" lIns="114300" tIns="114300" rIns="114300" bIns="114300" anchor="ctr" anchorCtr="0">
            <a:noAutofit/>
          </a:bodyPr>
          <a:lstStyle/>
          <a:p>
            <a:pPr marL="342900" indent="-342900">
              <a:buSzPts val="2200"/>
              <a:buFont typeface="Franklin Gothic"/>
              <a:buChar char="•"/>
            </a:pPr>
            <a:r>
              <a:rPr lang="en" sz="2200" dirty="0">
                <a:latin typeface="Franklin Gothic"/>
                <a:sym typeface="Helvetica Neue"/>
              </a:rPr>
              <a:t>We used multiple sources to access information on GitHub repositories: </a:t>
            </a:r>
          </a:p>
          <a:p>
            <a:pPr marL="685800" lvl="8" indent="-342900">
              <a:buSzPts val="2200"/>
              <a:buFont typeface="Franklin Gothic"/>
              <a:buChar char="•"/>
            </a:pPr>
            <a:r>
              <a:rPr lang="en" sz="2200" dirty="0">
                <a:latin typeface="Franklin Gothic"/>
                <a:sym typeface="Helvetica Neue"/>
              </a:rPr>
              <a:t>GHTorrent – </a:t>
            </a:r>
            <a:r>
              <a:rPr lang="en-US" sz="2200" dirty="0">
                <a:latin typeface="Franklin Gothic"/>
                <a:sym typeface="Helvetica Neue"/>
              </a:rPr>
              <a:t>an </a:t>
            </a:r>
            <a:r>
              <a:rPr lang="en" sz="2200" dirty="0">
                <a:latin typeface="Franklin Gothic"/>
                <a:sym typeface="Helvetica Neue"/>
              </a:rPr>
              <a:t>online, </a:t>
            </a:r>
            <a:r>
              <a:rPr lang="en-US" sz="2200" dirty="0">
                <a:latin typeface="Franklin Gothic"/>
                <a:sym typeface="Helvetica Neue"/>
              </a:rPr>
              <a:t>up-to-date database of GitHub initially funded by TUDelft &amp; Microsoft [2]</a:t>
            </a:r>
            <a:endParaRPr lang="en" sz="2200" dirty="0">
              <a:latin typeface="Franklin Gothic"/>
              <a:sym typeface="Helvetica Neue"/>
            </a:endParaRPr>
          </a:p>
          <a:p>
            <a:pPr marL="685800" lvl="8" indent="-342900">
              <a:buSzPts val="2200"/>
              <a:buFont typeface="Franklin Gothic"/>
              <a:buChar char="•"/>
            </a:pPr>
            <a:r>
              <a:rPr lang="en-US" sz="2200" dirty="0">
                <a:latin typeface="Franklin Gothic"/>
                <a:sym typeface="Helvetica Neue"/>
              </a:rPr>
              <a:t>GraphQL</a:t>
            </a:r>
            <a:r>
              <a:rPr lang="en" sz="2200" dirty="0">
                <a:latin typeface="Franklin Gothic"/>
                <a:sym typeface="Helvetica Neue"/>
              </a:rPr>
              <a:t> –</a:t>
            </a:r>
            <a:r>
              <a:rPr lang="en-US" sz="2200" dirty="0">
                <a:latin typeface="Franklin Gothic"/>
                <a:sym typeface="Helvetica Neue"/>
              </a:rPr>
              <a:t> GitHubs current API system includes repository names, owners, and license information [3]</a:t>
            </a:r>
            <a:endParaRPr sz="2000" b="0" i="0" u="none" strike="noStrike" cap="none" dirty="0">
              <a:solidFill>
                <a:srgbClr val="000000"/>
              </a:solidFill>
              <a:latin typeface="Franklin Gothic"/>
              <a:ea typeface="Franklin Gothic"/>
              <a:cs typeface="Franklin Gothic"/>
              <a:sym typeface="Franklin Gothic"/>
            </a:endParaRPr>
          </a:p>
        </p:txBody>
      </p:sp>
      <p:sp>
        <p:nvSpPr>
          <p:cNvPr id="70" name="Google Shape;241;p17">
            <a:extLst>
              <a:ext uri="{FF2B5EF4-FFF2-40B4-BE49-F238E27FC236}">
                <a16:creationId xmlns:a16="http://schemas.microsoft.com/office/drawing/2014/main" id="{DD994905-19A5-7A46-860F-34293471C187}"/>
              </a:ext>
            </a:extLst>
          </p:cNvPr>
          <p:cNvSpPr txBox="1"/>
          <p:nvPr/>
        </p:nvSpPr>
        <p:spPr>
          <a:xfrm>
            <a:off x="377346" y="14458100"/>
            <a:ext cx="20910005" cy="645453"/>
          </a:xfrm>
          <a:prstGeom prst="rect">
            <a:avLst/>
          </a:prstGeom>
          <a:solidFill>
            <a:srgbClr val="243462">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Licenses</a:t>
            </a:r>
            <a:endParaRPr sz="3200" dirty="0">
              <a:solidFill>
                <a:schemeClr val="bg1"/>
              </a:solidFill>
              <a:latin typeface="Franklin Gothic Medium" panose="020B0603020102020204" pitchFamily="34" charset="0"/>
              <a:sym typeface="Franklin Gothic"/>
            </a:endParaRPr>
          </a:p>
        </p:txBody>
      </p:sp>
      <p:sp>
        <p:nvSpPr>
          <p:cNvPr id="3" name="Rectangle 2">
            <a:extLst>
              <a:ext uri="{FF2B5EF4-FFF2-40B4-BE49-F238E27FC236}">
                <a16:creationId xmlns:a16="http://schemas.microsoft.com/office/drawing/2014/main" id="{ACA79A58-FF9A-B949-90BF-D3FADB4189AE}"/>
              </a:ext>
            </a:extLst>
          </p:cNvPr>
          <p:cNvSpPr/>
          <p:nvPr/>
        </p:nvSpPr>
        <p:spPr>
          <a:xfrm>
            <a:off x="307208" y="17809788"/>
            <a:ext cx="6151198" cy="2123658"/>
          </a:xfrm>
          <a:prstGeom prst="rect">
            <a:avLst/>
          </a:prstGeom>
        </p:spPr>
        <p:txBody>
          <a:bodyPr wrap="square" anchor="t">
            <a:spAutoFit/>
          </a:bodyPr>
          <a:lstStyle/>
          <a:p>
            <a:pPr marL="342900" lvl="0" indent="-342900">
              <a:buSzPts val="2200"/>
              <a:buFont typeface="Franklin Gothic"/>
              <a:buChar char="•"/>
            </a:pPr>
            <a:r>
              <a:rPr lang="en-US" sz="2200" dirty="0">
                <a:latin typeface="Franklin Gothic"/>
                <a:sym typeface="Franklin Gothic"/>
              </a:rPr>
              <a:t>License regulations vary:</a:t>
            </a:r>
          </a:p>
          <a:p>
            <a:pPr marL="685800" lvl="1" indent="-342900">
              <a:buSzPts val="2200"/>
              <a:buFont typeface="Franklin Gothic"/>
              <a:buChar char="•"/>
            </a:pPr>
            <a:r>
              <a:rPr lang="en-US" sz="2200" dirty="0">
                <a:latin typeface="Franklin Gothic"/>
                <a:sym typeface="Franklin Gothic"/>
              </a:rPr>
              <a:t>The MIT license allows developers to use the code for any purpose. </a:t>
            </a:r>
          </a:p>
          <a:p>
            <a:pPr marL="685800" lvl="1" indent="-342900">
              <a:buSzPts val="2200"/>
              <a:buFont typeface="Franklin Gothic"/>
              <a:buChar char="•"/>
            </a:pPr>
            <a:r>
              <a:rPr lang="en-US" sz="2200" dirty="0">
                <a:latin typeface="Franklin Gothic"/>
                <a:sym typeface="Franklin Gothic"/>
              </a:rPr>
              <a:t>The GPL license grants the ability to use the respective code under the stipulation that derivative work remains open source</a:t>
            </a:r>
            <a:r>
              <a:rPr lang="en-US" sz="2200" dirty="0">
                <a:solidFill>
                  <a:schemeClr val="dk1"/>
                </a:solidFill>
                <a:latin typeface="Franklin Gothic"/>
                <a:sym typeface="Franklin Gothic"/>
              </a:rPr>
              <a:t>. </a:t>
            </a:r>
          </a:p>
        </p:txBody>
      </p:sp>
      <p:sp>
        <p:nvSpPr>
          <p:cNvPr id="72" name="Google Shape;241;p17">
            <a:extLst>
              <a:ext uri="{FF2B5EF4-FFF2-40B4-BE49-F238E27FC236}">
                <a16:creationId xmlns:a16="http://schemas.microsoft.com/office/drawing/2014/main" id="{A95AE4BA-F8DD-E444-973E-5EF94D1BE544}"/>
              </a:ext>
            </a:extLst>
          </p:cNvPr>
          <p:cNvSpPr txBox="1"/>
          <p:nvPr/>
        </p:nvSpPr>
        <p:spPr>
          <a:xfrm>
            <a:off x="416871" y="20400689"/>
            <a:ext cx="9119376" cy="645453"/>
          </a:xfrm>
          <a:prstGeom prst="rect">
            <a:avLst/>
          </a:prstGeom>
          <a:solidFill>
            <a:srgbClr val="243564">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OSS Projects and Contributors</a:t>
            </a:r>
            <a:endParaRPr sz="3200" dirty="0">
              <a:solidFill>
                <a:schemeClr val="bg1"/>
              </a:solidFill>
              <a:latin typeface="Franklin Gothic Medium" panose="020B0603020102020204" pitchFamily="34" charset="0"/>
              <a:sym typeface="Franklin Gothic"/>
            </a:endParaRPr>
          </a:p>
        </p:txBody>
      </p:sp>
      <p:sp>
        <p:nvSpPr>
          <p:cNvPr id="73" name="Google Shape;241;p17">
            <a:extLst>
              <a:ext uri="{FF2B5EF4-FFF2-40B4-BE49-F238E27FC236}">
                <a16:creationId xmlns:a16="http://schemas.microsoft.com/office/drawing/2014/main" id="{7C1763B5-BF58-654D-B43B-769101B27B59}"/>
              </a:ext>
            </a:extLst>
          </p:cNvPr>
          <p:cNvSpPr txBox="1"/>
          <p:nvPr/>
        </p:nvSpPr>
        <p:spPr>
          <a:xfrm>
            <a:off x="10208990" y="20400690"/>
            <a:ext cx="11271670" cy="663964"/>
          </a:xfrm>
          <a:prstGeom prst="rect">
            <a:avLst/>
          </a:prstGeom>
          <a:solidFill>
            <a:srgbClr val="243564">
              <a:alpha val="63137"/>
            </a:srgbClr>
          </a:solid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None/>
              <a:defRPr sz="2000"/>
            </a:lvl1pPr>
          </a:lstStyle>
          <a:p>
            <a:r>
              <a:rPr lang="en" sz="3200" dirty="0">
                <a:solidFill>
                  <a:schemeClr val="bg1"/>
                </a:solidFill>
                <a:latin typeface="Franklin Gothic Medium" panose="020B0603020102020204" pitchFamily="34" charset="0"/>
                <a:sym typeface="Franklin Gothic"/>
              </a:rPr>
              <a:t>   Limitations: Sectors</a:t>
            </a:r>
            <a:endParaRPr sz="3200" dirty="0">
              <a:solidFill>
                <a:schemeClr val="bg1"/>
              </a:solidFill>
              <a:latin typeface="Franklin Gothic Medium" panose="020B0603020102020204" pitchFamily="34" charset="0"/>
              <a:sym typeface="Franklin Gothic"/>
            </a:endParaRPr>
          </a:p>
        </p:txBody>
      </p:sp>
      <p:sp>
        <p:nvSpPr>
          <p:cNvPr id="76" name="Google Shape;249;p17">
            <a:extLst>
              <a:ext uri="{FF2B5EF4-FFF2-40B4-BE49-F238E27FC236}">
                <a16:creationId xmlns:a16="http://schemas.microsoft.com/office/drawing/2014/main" id="{4AAD3314-2637-8B41-B7D0-6FCAF74E4D0C}"/>
              </a:ext>
            </a:extLst>
          </p:cNvPr>
          <p:cNvSpPr txBox="1"/>
          <p:nvPr/>
        </p:nvSpPr>
        <p:spPr>
          <a:xfrm>
            <a:off x="300846" y="24983598"/>
            <a:ext cx="6915900" cy="634834"/>
          </a:xfrm>
          <a:prstGeom prst="rect">
            <a:avLst/>
          </a:prstGeom>
          <a:noFill/>
          <a:ln>
            <a:noFill/>
          </a:ln>
        </p:spPr>
        <p:txBody>
          <a:bodyPr spcFirstLastPara="1" wrap="square" lIns="91425" tIns="91425" rIns="91425" bIns="91425" anchor="t" anchorCtr="0">
            <a:noAutofit/>
          </a:bodyPr>
          <a:lstStyle/>
          <a:p>
            <a:pPr marL="342900" lvl="0" indent="-342900">
              <a:buSzPts val="2200"/>
              <a:buFont typeface="Franklin Gothic"/>
              <a:buChar char="•"/>
            </a:pPr>
            <a:r>
              <a:rPr lang="en" sz="2200" dirty="0">
                <a:latin typeface="Franklin Gothic"/>
                <a:sym typeface="Franklin Gothic"/>
              </a:rPr>
              <a:t>There are 2.8M unique OSS contributors.</a:t>
            </a:r>
          </a:p>
          <a:p>
            <a:pPr marL="342900" indent="-342900">
              <a:buSzPts val="2200"/>
              <a:buFont typeface="Franklin Gothic"/>
              <a:buChar char="•"/>
            </a:pPr>
            <a:r>
              <a:rPr lang="en-US" sz="2200" dirty="0">
                <a:latin typeface="Franklin Gothic"/>
                <a:sym typeface="Franklin Gothic"/>
              </a:rPr>
              <a:t>On average, one repository receives 36.5 commits.</a:t>
            </a:r>
            <a:endParaRPr lang="en-US" sz="2200" dirty="0">
              <a:latin typeface="Franklin Gothic"/>
            </a:endParaRPr>
          </a:p>
          <a:p>
            <a:pPr marL="457200" lvl="0" indent="-368300" algn="l" rtl="0">
              <a:spcBef>
                <a:spcPts val="0"/>
              </a:spcBef>
              <a:spcAft>
                <a:spcPts val="0"/>
              </a:spcAft>
              <a:buClr>
                <a:schemeClr val="dk1"/>
              </a:buClr>
              <a:buSzPts val="2200"/>
              <a:buFont typeface="Franklin Gothic"/>
              <a:buChar char="●"/>
            </a:pPr>
            <a:endParaRPr sz="2200" dirty="0">
              <a:latin typeface="Franklin Gothic"/>
              <a:ea typeface="Franklin Gothic"/>
              <a:cs typeface="Franklin Gothic"/>
              <a:sym typeface="Franklin Gothic"/>
            </a:endParaRPr>
          </a:p>
        </p:txBody>
      </p:sp>
      <p:grpSp>
        <p:nvGrpSpPr>
          <p:cNvPr id="63" name="Google Shape;254;p17">
            <a:extLst>
              <a:ext uri="{FF2B5EF4-FFF2-40B4-BE49-F238E27FC236}">
                <a16:creationId xmlns:a16="http://schemas.microsoft.com/office/drawing/2014/main" id="{F303DE4F-D36C-3645-BC3A-F58D5F53C68C}"/>
              </a:ext>
            </a:extLst>
          </p:cNvPr>
          <p:cNvGrpSpPr/>
          <p:nvPr/>
        </p:nvGrpSpPr>
        <p:grpSpPr>
          <a:xfrm>
            <a:off x="925748" y="29429697"/>
            <a:ext cx="9077995" cy="335974"/>
            <a:chOff x="1213443" y="11092213"/>
            <a:chExt cx="8053366" cy="780000"/>
          </a:xfrm>
        </p:grpSpPr>
        <p:sp>
          <p:nvSpPr>
            <p:cNvPr id="64" name="Google Shape;255;p17">
              <a:extLst>
                <a:ext uri="{FF2B5EF4-FFF2-40B4-BE49-F238E27FC236}">
                  <a16:creationId xmlns:a16="http://schemas.microsoft.com/office/drawing/2014/main" id="{ED05040C-D69D-9A41-93E9-0E91BE9E2DBF}"/>
                </a:ext>
              </a:extLst>
            </p:cNvPr>
            <p:cNvSpPr/>
            <p:nvPr/>
          </p:nvSpPr>
          <p:spPr>
            <a:xfrm>
              <a:off x="1213443" y="11092213"/>
              <a:ext cx="8053366"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56;p17">
              <a:extLst>
                <a:ext uri="{FF2B5EF4-FFF2-40B4-BE49-F238E27FC236}">
                  <a16:creationId xmlns:a16="http://schemas.microsoft.com/office/drawing/2014/main" id="{28A3F43C-02EE-2140-923A-BADA11113AAE}"/>
                </a:ext>
              </a:extLst>
            </p:cNvPr>
            <p:cNvSpPr txBox="1"/>
            <p:nvPr/>
          </p:nvSpPr>
          <p:spPr>
            <a:xfrm>
              <a:off x="1254876" y="11337296"/>
              <a:ext cx="1227160" cy="376595"/>
            </a:xfrm>
            <a:prstGeom prst="rect">
              <a:avLst/>
            </a:prstGeom>
            <a:noFill/>
            <a:ln>
              <a:noFill/>
            </a:ln>
          </p:spPr>
          <p:txBody>
            <a:bodyPr spcFirstLastPara="1" wrap="square" lIns="114300" tIns="114300" rIns="114300" bIns="114300" anchor="ctr" anchorCtr="0">
              <a:noAutofit/>
            </a:bodyPr>
            <a:lstStyle/>
            <a:p>
              <a:pPr marL="0" marR="0" lvl="0" indent="0" algn="ctr" rtl="0">
                <a:lnSpc>
                  <a:spcPct val="100000"/>
                </a:lnSpc>
                <a:spcBef>
                  <a:spcPts val="0"/>
                </a:spcBef>
                <a:spcAft>
                  <a:spcPts val="0"/>
                </a:spcAft>
                <a:buClr>
                  <a:srgbClr val="000000"/>
                </a:buClr>
                <a:buSzPts val="2800"/>
                <a:buFont typeface="Helvetica Neue"/>
                <a:buNone/>
              </a:pPr>
              <a:r>
                <a:rPr lang="en" sz="1600" dirty="0">
                  <a:solidFill>
                    <a:srgbClr val="FFFFFF"/>
                  </a:solidFill>
                  <a:latin typeface="Franklin Gothic"/>
                  <a:ea typeface="Franklin Gothic"/>
                  <a:cs typeface="Franklin Gothic"/>
                  <a:sym typeface="Franklin Gothic"/>
                </a:rPr>
                <a:t>References</a:t>
              </a:r>
              <a:endParaRPr sz="1600" dirty="0">
                <a:solidFill>
                  <a:srgbClr val="FFFFFF"/>
                </a:solidFill>
                <a:latin typeface="Franklin Gothic"/>
                <a:ea typeface="Franklin Gothic"/>
                <a:cs typeface="Franklin Gothic"/>
                <a:sym typeface="Franklin Gothic"/>
              </a:endParaRPr>
            </a:p>
          </p:txBody>
        </p:sp>
      </p:grpSp>
      <p:sp>
        <p:nvSpPr>
          <p:cNvPr id="66" name="Google Shape;257;p17">
            <a:extLst>
              <a:ext uri="{FF2B5EF4-FFF2-40B4-BE49-F238E27FC236}">
                <a16:creationId xmlns:a16="http://schemas.microsoft.com/office/drawing/2014/main" id="{F3B2F081-AD63-694B-8372-9CF9AEAA0CEB}"/>
              </a:ext>
            </a:extLst>
          </p:cNvPr>
          <p:cNvSpPr/>
          <p:nvPr/>
        </p:nvSpPr>
        <p:spPr>
          <a:xfrm>
            <a:off x="480370" y="29429697"/>
            <a:ext cx="312487" cy="335974"/>
          </a:xfrm>
          <a:prstGeom prst="rect">
            <a:avLst/>
          </a:prstGeom>
          <a:solidFill>
            <a:srgbClr val="F27E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49;p17">
            <a:extLst>
              <a:ext uri="{FF2B5EF4-FFF2-40B4-BE49-F238E27FC236}">
                <a16:creationId xmlns:a16="http://schemas.microsoft.com/office/drawing/2014/main" id="{5C9D5579-0E91-B44A-86DF-0CFB2FAA7058}"/>
              </a:ext>
            </a:extLst>
          </p:cNvPr>
          <p:cNvSpPr txBox="1"/>
          <p:nvPr/>
        </p:nvSpPr>
        <p:spPr>
          <a:xfrm>
            <a:off x="400578" y="29751749"/>
            <a:ext cx="9449569" cy="739502"/>
          </a:xfrm>
          <a:prstGeom prst="rect">
            <a:avLst/>
          </a:prstGeom>
          <a:noFill/>
          <a:ln>
            <a:noFill/>
          </a:ln>
        </p:spPr>
        <p:txBody>
          <a:bodyPr spcFirstLastPara="1" wrap="square" lIns="91425" tIns="91425" rIns="91425" bIns="91425" anchor="t" anchorCtr="0">
            <a:noAutofit/>
          </a:bodyPr>
          <a:lstStyle/>
          <a:p>
            <a:pPr>
              <a:buSzPts val="2200"/>
            </a:pPr>
            <a:r>
              <a:rPr lang="en-US" dirty="0">
                <a:latin typeface="Franklin Gothic"/>
                <a:sym typeface="Franklin Gothic"/>
              </a:rPr>
              <a:t>[1] Open Source Initiative (OSI). 1998. “The open source definition.” </a:t>
            </a:r>
            <a:r>
              <a:rPr lang="en-US" dirty="0">
                <a:latin typeface="Franklin Gothic"/>
                <a:sym typeface="Franklin Gothic"/>
                <a:hlinkClick r:id="rId13"/>
              </a:rPr>
              <a:t>https://opensource.org/osd</a:t>
            </a:r>
            <a:r>
              <a:rPr lang="en-US" dirty="0">
                <a:latin typeface="Franklin Gothic"/>
                <a:sym typeface="Franklin Gothic"/>
              </a:rPr>
              <a:t>.</a:t>
            </a:r>
          </a:p>
          <a:p>
            <a:pPr>
              <a:buSzPts val="2200"/>
            </a:pPr>
            <a:r>
              <a:rPr lang="en" dirty="0">
                <a:latin typeface="Franklin Gothic"/>
                <a:sym typeface="Franklin Gothic"/>
              </a:rPr>
              <a:t>[2] </a:t>
            </a:r>
            <a:r>
              <a:rPr lang="en-US" dirty="0">
                <a:latin typeface="Franklin Gothic"/>
              </a:rPr>
              <a:t>Gousios, G. 2013. </a:t>
            </a:r>
            <a:r>
              <a:rPr lang="en" dirty="0">
                <a:latin typeface="Franklin Gothic"/>
                <a:sym typeface="Franklin Gothic"/>
              </a:rPr>
              <a:t>“</a:t>
            </a:r>
            <a:r>
              <a:rPr lang="en-US" dirty="0">
                <a:latin typeface="Franklin Gothic"/>
              </a:rPr>
              <a:t>The GHTorrent dataset and tool suite.” Available at </a:t>
            </a:r>
            <a:r>
              <a:rPr lang="en-US" dirty="0">
                <a:latin typeface="Franklin Gothic"/>
                <a:hlinkClick r:id="rId14"/>
              </a:rPr>
              <a:t>http://ghtorrent.org</a:t>
            </a:r>
            <a:r>
              <a:rPr lang="en-US" dirty="0">
                <a:latin typeface="Franklin Gothic"/>
              </a:rPr>
              <a:t>.</a:t>
            </a:r>
          </a:p>
          <a:p>
            <a:pPr>
              <a:buSzPts val="2200"/>
            </a:pPr>
            <a:r>
              <a:rPr lang="en-US" dirty="0">
                <a:latin typeface="Franklin Gothic"/>
                <a:sym typeface="Franklin Gothic"/>
              </a:rPr>
              <a:t>[3] GraphQL. 2015. “A query language for your API.” Accessed at </a:t>
            </a:r>
            <a:r>
              <a:rPr lang="en-US" dirty="0">
                <a:latin typeface="Franklin Gothic"/>
                <a:sym typeface="Franklin Gothic"/>
                <a:hlinkClick r:id="rId15"/>
              </a:rPr>
              <a:t>https://developer.github.com/v4</a:t>
            </a:r>
            <a:r>
              <a:rPr lang="en-US" dirty="0">
                <a:latin typeface="Franklin Gothic"/>
                <a:sym typeface="Franklin Gothic"/>
              </a:rPr>
              <a:t>.</a:t>
            </a:r>
            <a:endParaRPr lang="en" dirty="0">
              <a:latin typeface="Franklin Gothic"/>
              <a:sym typeface="Franklin Gothic"/>
            </a:endParaRPr>
          </a:p>
          <a:p>
            <a:pPr marL="88900" lvl="0" algn="l" rtl="0">
              <a:spcBef>
                <a:spcPts val="0"/>
              </a:spcBef>
              <a:spcAft>
                <a:spcPts val="0"/>
              </a:spcAft>
              <a:buClr>
                <a:schemeClr val="dk1"/>
              </a:buClr>
              <a:buSzPts val="2200"/>
            </a:pPr>
            <a:endParaRPr dirty="0">
              <a:latin typeface="Franklin Gothic"/>
              <a:ea typeface="Franklin Gothic"/>
              <a:cs typeface="Franklin Gothic"/>
              <a:sym typeface="Franklin Gothic"/>
            </a:endParaRPr>
          </a:p>
        </p:txBody>
      </p:sp>
      <p:sp>
        <p:nvSpPr>
          <p:cNvPr id="75" name="Google Shape;242;p17">
            <a:extLst>
              <a:ext uri="{FF2B5EF4-FFF2-40B4-BE49-F238E27FC236}">
                <a16:creationId xmlns:a16="http://schemas.microsoft.com/office/drawing/2014/main" id="{492B3CCA-C20B-47CD-9F23-9C23BAC92674}"/>
              </a:ext>
            </a:extLst>
          </p:cNvPr>
          <p:cNvSpPr/>
          <p:nvPr/>
        </p:nvSpPr>
        <p:spPr>
          <a:xfrm>
            <a:off x="10319158" y="25616820"/>
            <a:ext cx="10195798" cy="780000"/>
          </a:xfrm>
          <a:prstGeom prst="rect">
            <a:avLst/>
          </a:prstGeom>
          <a:solidFill>
            <a:srgbClr val="2135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43;p17">
            <a:extLst>
              <a:ext uri="{FF2B5EF4-FFF2-40B4-BE49-F238E27FC236}">
                <a16:creationId xmlns:a16="http://schemas.microsoft.com/office/drawing/2014/main" id="{A8507DCE-745D-4508-A674-CD9F3399B661}"/>
              </a:ext>
            </a:extLst>
          </p:cNvPr>
          <p:cNvSpPr txBox="1"/>
          <p:nvPr/>
        </p:nvSpPr>
        <p:spPr>
          <a:xfrm>
            <a:off x="16600367" y="25770558"/>
            <a:ext cx="4606200" cy="472500"/>
          </a:xfrm>
          <a:prstGeom prst="rect">
            <a:avLst/>
          </a:prstGeom>
          <a:noFill/>
          <a:ln>
            <a:noFill/>
          </a:ln>
        </p:spPr>
        <p:txBody>
          <a:bodyPr spcFirstLastPara="1" wrap="square" lIns="114300" tIns="114300" rIns="114300" bIns="114300" anchor="ctr" anchorCtr="0">
            <a:noAutofit/>
          </a:bodyPr>
          <a:lstStyle/>
          <a:p>
            <a:pPr marL="0" marR="0" lvl="0" indent="0" algn="ctr">
              <a:lnSpc>
                <a:spcPct val="100000"/>
              </a:lnSpc>
              <a:spcBef>
                <a:spcPts val="0"/>
              </a:spcBef>
              <a:spcAft>
                <a:spcPts val="0"/>
              </a:spcAft>
              <a:buClr>
                <a:srgbClr val="000000"/>
              </a:buClr>
              <a:buSzPts val="2800"/>
              <a:buNone/>
            </a:pPr>
            <a:r>
              <a:rPr lang="en" sz="3200" dirty="0">
                <a:solidFill>
                  <a:srgbClr val="FFFFFF"/>
                </a:solidFill>
                <a:latin typeface="Franklin Gothic"/>
                <a:sym typeface="Franklin Gothic"/>
              </a:rPr>
              <a:t>Conclusions</a:t>
            </a:r>
            <a:endParaRPr lang="en-US" dirty="0"/>
          </a:p>
        </p:txBody>
      </p:sp>
    </p:spTree>
    <p:extLst>
      <p:ext uri="{BB962C8B-B14F-4D97-AF65-F5344CB8AC3E}">
        <p14:creationId xmlns:p14="http://schemas.microsoft.com/office/powerpoint/2010/main" val="73644197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8BEAF610-D572-4A91-A1F4-67AF524E2071}"/>
</file>

<file path=customXml/itemProps2.xml><?xml version="1.0" encoding="utf-8"?>
<ds:datastoreItem xmlns:ds="http://schemas.openxmlformats.org/officeDocument/2006/customXml" ds:itemID="{A4E301C3-B915-4BED-ACCE-4DF94978373E}"/>
</file>

<file path=customXml/itemProps3.xml><?xml version="1.0" encoding="utf-8"?>
<ds:datastoreItem xmlns:ds="http://schemas.openxmlformats.org/officeDocument/2006/customXml" ds:itemID="{D5C619D3-1556-4ABE-A808-29F652B855C1}"/>
</file>

<file path=docProps/app.xml><?xml version="1.0" encoding="utf-8"?>
<Properties xmlns="http://schemas.openxmlformats.org/officeDocument/2006/extended-properties" xmlns:vt="http://schemas.openxmlformats.org/officeDocument/2006/docPropsVTypes">
  <TotalTime>348</TotalTime>
  <Words>519</Words>
  <Application>Microsoft Office PowerPoint</Application>
  <PresentationFormat>Custom</PresentationFormat>
  <Paragraphs>82</Paragraphs>
  <Slides>1</Slides>
  <Notes>1</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Simple Light</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Korkmaz, Gizem (gk8yj)</cp:lastModifiedBy>
  <cp:revision>94</cp:revision>
  <cp:lastPrinted>2019-08-05T16:02:03Z</cp:lastPrinted>
  <dcterms:modified xsi:type="dcterms:W3CDTF">2019-08-05T17:04:57Z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