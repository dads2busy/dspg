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6576000" cy="41549638"/>
  <p:notesSz cx="6858000" cy="9144000"/>
  <p:defaultTextStyle>
    <a:defPPr>
      <a:defRPr lang="en-US"/>
    </a:defPPr>
    <a:lvl1pPr marL="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1pPr>
    <a:lvl2pPr marL="1874977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2pPr>
    <a:lvl3pPr marL="3749954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3pPr>
    <a:lvl4pPr marL="5624932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4pPr>
    <a:lvl5pPr marL="7499909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5pPr>
    <a:lvl6pPr marL="9374886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6pPr>
    <a:lvl7pPr marL="11249863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7pPr>
    <a:lvl8pPr marL="1312484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8pPr>
    <a:lvl9pPr marL="14999818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93">
          <p15:clr>
            <a:srgbClr val="A4A3A4"/>
          </p15:clr>
        </p15:guide>
        <p15:guide id="2" pos="111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4C75A4"/>
    <a:srgbClr val="E9F5FF"/>
    <a:srgbClr val="DD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3315"/>
    <p:restoredTop sz="96005"/>
  </p:normalViewPr>
  <p:slideViewPr>
    <p:cSldViewPr snapToGrid="0" snapToObjects="1">
      <p:cViewPr>
        <p:scale>
          <a:sx n="35" d="100"/>
          <a:sy n="35" d="100"/>
        </p:scale>
        <p:origin x="2280" y="144"/>
      </p:cViewPr>
      <p:guideLst>
        <p:guide orient="horz" pos="13293"/>
        <p:guide pos="111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952C8-58A8-6845-938E-77BE031C6269}" type="datetimeFigureOut">
              <a:rPr lang="en-US" smtClean="0"/>
              <a:t>9/8/16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0100" y="1143000"/>
            <a:ext cx="2717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76B4C-A4A1-7D40-A959-CDB1EEF17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76B4C-A4A1-7D40-A959-CDB1EEF178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2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799909"/>
            <a:ext cx="31089600" cy="1446543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2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358568"/>
            <a:ext cx="31546800" cy="17283492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7805569"/>
            <a:ext cx="31546800" cy="9088980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12143"/>
            <a:ext cx="31546800" cy="80310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185435"/>
            <a:ext cx="15473360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177160"/>
            <a:ext cx="15473360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185435"/>
            <a:ext cx="15549564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177160"/>
            <a:ext cx="15549564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982388"/>
            <a:ext cx="18516600" cy="2952717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982388"/>
            <a:ext cx="18516600" cy="2952717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12133"/>
            <a:ext cx="7886700" cy="352113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12133"/>
            <a:ext cx="23202900" cy="352113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12143"/>
            <a:ext cx="31546800" cy="8031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1B2C-7FEC-A643-940A-7934DC981F4F}" type="datetimeFigureOut">
              <a:rPr lang="en-US" smtClean="0"/>
              <a:t>9/8/16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510368"/>
            <a:ext cx="123444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1554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76" y="959347"/>
            <a:ext cx="8712200" cy="3530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8" y="11548036"/>
            <a:ext cx="15495932" cy="1866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11375" y="705683"/>
            <a:ext cx="224762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Blanch Caps" charset="0"/>
                <a:ea typeface="Blanch Caps" charset="0"/>
                <a:cs typeface="Blanch Caps" charset="0"/>
              </a:rPr>
              <a:t>Characterizing Factors that Might </a:t>
            </a:r>
            <a:r>
              <a:rPr lang="en-US" sz="15000" dirty="0" smtClean="0">
                <a:latin typeface="Blanch Caps" charset="0"/>
                <a:ea typeface="Blanch Caps" charset="0"/>
                <a:cs typeface="Blanch Caps" charset="0"/>
              </a:rPr>
              <a:t>Affect</a:t>
            </a:r>
            <a:endParaRPr lang="en-US" sz="15000" dirty="0"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1485" y="5514660"/>
            <a:ext cx="1430586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Policy Analysis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8794" y="11583657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Directive Selection Criteria 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55447" y="4446230"/>
            <a:ext cx="24251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Madison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Arnsbargar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 (Virginia Tech), Jessica Flynn (Cornell University), Emily Stark (Austin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Peay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), with Kathryn Ziemer (SDAL)</a:t>
            </a:r>
          </a:p>
          <a:p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Sponsor: Gregory A.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Ruark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, U.S. Army Research Institute for the Behavioral and Social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95002" y="12890426"/>
            <a:ext cx="35799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 smtClean="0">
                <a:latin typeface="Trebuchet MS" charset="0"/>
                <a:ea typeface="Trebuchet MS" charset="0"/>
                <a:cs typeface="Trebuchet MS" charset="0"/>
              </a:rPr>
              <a:t>DoD Directive </a:t>
            </a:r>
            <a:endParaRPr lang="en-US" sz="3400" b="1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7428" y="12875420"/>
            <a:ext cx="8118817" cy="17173932"/>
          </a:xfrm>
          <a:prstGeom prst="rect">
            <a:avLst/>
          </a:prstGeom>
          <a:solidFill>
            <a:srgbClr val="E9F5FF"/>
          </a:solidFill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Retirement</a:t>
            </a:r>
            <a:endParaRPr lang="en-US" sz="3000" b="1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Benefits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Veteran status </a:t>
            </a:r>
            <a:endParaRPr lang="en-US" sz="30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Training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for civilian jobs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Safety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Laws regarding who can use which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weapons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Dealing with internal/foreign threats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Sexual harassment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Health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Changes to healthcare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Suicide Prevention Program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Treatment of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deceased 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Food service programs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Education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GI Bill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Free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law school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Privacy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Changes in reporting to higher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authorities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Interrogations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ocial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media/internet use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Grants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Additional monetary compensation</a:t>
            </a:r>
          </a:p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Incentive </a:t>
            </a:r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programs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Awards for service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Promoting diversity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Rules about receiving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gifts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Requirements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Foreign language proficiency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Physical fitness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Standards/codes/rules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Dress code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Quality of Life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Receiving packages/mail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Positive work atmosphere/military culture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Non-army activities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Paying for equipment/uniforms out of pocket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97589">
            <a:off x="6952043" y="18337652"/>
            <a:ext cx="4330855" cy="52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447" y="17309213"/>
            <a:ext cx="5856457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January 6, 2011</a:t>
            </a:r>
          </a:p>
          <a:p>
            <a:r>
              <a:rPr lang="en-US" sz="3000" b="1" u="sng" dirty="0">
                <a:latin typeface="Trebuchet MS" charset="0"/>
                <a:ea typeface="Trebuchet MS" charset="0"/>
                <a:cs typeface="Trebuchet MS" charset="0"/>
              </a:rPr>
              <a:t>Health Service </a:t>
            </a:r>
            <a:r>
              <a:rPr lang="en-US" sz="3000" b="1" u="sng" dirty="0" smtClean="0">
                <a:latin typeface="Trebuchet MS" charset="0"/>
                <a:ea typeface="Trebuchet MS" charset="0"/>
                <a:cs typeface="Trebuchet MS" charset="0"/>
              </a:rPr>
              <a:t>Support</a:t>
            </a:r>
          </a:p>
          <a:p>
            <a:r>
              <a:rPr lang="en-US" sz="3200" dirty="0" smtClean="0"/>
              <a:t>Sufficient </a:t>
            </a:r>
            <a:r>
              <a:rPr lang="en-US" sz="3200" dirty="0"/>
              <a:t>medical personnel to meet </a:t>
            </a:r>
            <a:r>
              <a:rPr lang="en-US" sz="3200" dirty="0" smtClean="0"/>
              <a:t>mission </a:t>
            </a:r>
            <a:r>
              <a:rPr lang="en-US" sz="3200" dirty="0"/>
              <a:t>requirements and training of all medical personnel will be monitored in a comprehensive </a:t>
            </a:r>
            <a:r>
              <a:rPr lang="en-US" sz="3200" dirty="0" smtClean="0"/>
              <a:t>manner. </a:t>
            </a:r>
            <a:endParaRPr lang="en-US" sz="32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83255">
            <a:off x="7196869" y="26530337"/>
            <a:ext cx="4330855" cy="52170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981494" y="23588399"/>
            <a:ext cx="4330855" cy="52170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1155447" y="22280841"/>
            <a:ext cx="5856457" cy="29546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June 8, 2015</a:t>
            </a:r>
          </a:p>
          <a:p>
            <a:r>
              <a:rPr lang="en-US" sz="3000" b="1" u="sng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Diversity </a:t>
            </a:r>
            <a:r>
              <a:rPr lang="en-US" sz="3000" b="1" u="sng" dirty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Management and Equal Opportunity in the </a:t>
            </a:r>
            <a:r>
              <a:rPr lang="en-US" sz="3000" b="1" u="sng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DoD</a:t>
            </a:r>
          </a:p>
          <a:p>
            <a:r>
              <a:rPr lang="en-US" sz="3200" dirty="0"/>
              <a:t>Gives DoD personnel the opportunity to rise in ranks with equal </a:t>
            </a:r>
            <a:r>
              <a:rPr lang="en-US" sz="3200" dirty="0" smtClean="0"/>
              <a:t>opportunity.</a:t>
            </a:r>
            <a:endParaRPr lang="en-US" sz="3000" dirty="0" smtClean="0">
              <a:solidFill>
                <a:prstClr val="black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295380" y="26299837"/>
            <a:ext cx="5856457" cy="3016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August 21, 2015</a:t>
            </a:r>
          </a:p>
          <a:p>
            <a:r>
              <a:rPr lang="en-US" sz="3200" b="1" u="sng" dirty="0"/>
              <a:t>Defense Language, Regional Expertise, and Culture (LREC) Program (DLRECP</a:t>
            </a:r>
            <a:r>
              <a:rPr lang="en-US" sz="3200" b="1" u="sng" dirty="0" smtClean="0"/>
              <a:t>)</a:t>
            </a:r>
          </a:p>
          <a:p>
            <a:r>
              <a:rPr lang="en-US" sz="3200" dirty="0"/>
              <a:t>DoD members </a:t>
            </a:r>
            <a:r>
              <a:rPr lang="en-US" sz="3200" dirty="0" smtClean="0"/>
              <a:t>will be screened </a:t>
            </a:r>
            <a:r>
              <a:rPr lang="en-US" sz="3200" dirty="0"/>
              <a:t>for foreign language </a:t>
            </a:r>
            <a:r>
              <a:rPr lang="en-US" sz="3200" dirty="0" smtClean="0"/>
              <a:t>skills.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447" y="13738404"/>
            <a:ext cx="5856457" cy="25237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January 23, 2012</a:t>
            </a:r>
          </a:p>
          <a:p>
            <a:r>
              <a:rPr lang="en-US" sz="3200" b="1" u="sng" dirty="0"/>
              <a:t>Sexual Assault Prevention and Response (SAPR) </a:t>
            </a:r>
            <a:r>
              <a:rPr lang="en-US" sz="3200" b="1" u="sng" dirty="0" smtClean="0"/>
              <a:t>Program</a:t>
            </a:r>
          </a:p>
          <a:p>
            <a:r>
              <a:rPr lang="en-US" sz="3200" dirty="0" smtClean="0"/>
              <a:t>Creates </a:t>
            </a:r>
            <a:r>
              <a:rPr lang="en-US" sz="3200" dirty="0"/>
              <a:t>a culture free of sexual </a:t>
            </a:r>
            <a:r>
              <a:rPr lang="en-US" sz="3200" dirty="0" smtClean="0"/>
              <a:t>harassment on military grounds. 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30993">
            <a:off x="6926255" y="16044165"/>
            <a:ext cx="4330855" cy="52170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416013" y="20387604"/>
            <a:ext cx="122742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Transgender </a:t>
            </a:r>
            <a:endParaRPr lang="en-US" sz="3000" dirty="0">
              <a:solidFill>
                <a:schemeClr val="bg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88794" y="6701048"/>
            <a:ext cx="1479956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Research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Are people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influenced to join or leave the Army if new policies are implemented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?</a:t>
            </a:r>
          </a:p>
          <a:p>
            <a:pPr marL="960438" lvl="1" indent="-446088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Do certain policy types have a greater impact than others?</a:t>
            </a:r>
          </a:p>
          <a:p>
            <a:r>
              <a:rPr lang="en-US" sz="3000" b="1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Method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Started with the Department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of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Defense (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DoD) Directives and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created selection criteria (see below) for deciding if a policy might affect military retention or attrition.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Coded the directives according to the criteria.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P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erformed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a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backward search for policy documents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starting with widely publicized policies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(see Case Study below). </a:t>
            </a:r>
            <a:endParaRPr lang="en-US" sz="3000" dirty="0">
              <a:solidFill>
                <a:srgbClr val="262626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76" y="5682649"/>
            <a:ext cx="15495932" cy="186667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82" y="5682649"/>
            <a:ext cx="15495932" cy="18666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317045" y="5514659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Geographic Location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550" y="30123990"/>
            <a:ext cx="15495932" cy="18666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116353" y="30133996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Case Study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9317045" y="6885878"/>
            <a:ext cx="141628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Research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Are </a:t>
            </a:r>
            <a:r>
              <a:rPr lang="en-US" sz="3000" dirty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people influenced to join the Army if they live near military installations, monuments, or </a:t>
            </a: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national cemeteries?</a:t>
            </a:r>
          </a:p>
          <a:p>
            <a:pPr marL="2332177" lvl="1" indent="-457200">
              <a:buFont typeface="Arial" charset="0"/>
              <a:buChar char="•"/>
            </a:pPr>
            <a:endParaRPr lang="en-US" sz="3000" b="1" dirty="0" smtClean="0">
              <a:solidFill>
                <a:srgbClr val="000000"/>
              </a:solidFill>
              <a:latin typeface="Trebuchet MS" charset="0"/>
              <a:ea typeface="Trebuchet MS" charset="0"/>
              <a:cs typeface="Trebuchet MS" charset="0"/>
            </a:endParaRPr>
          </a:p>
          <a:p>
            <a:r>
              <a:rPr lang="en-US" sz="3000" b="1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Method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We created maps displaying military base locations, recruitment centers, memorials and national cemeteries for three states with a high frequency of installations as a preliminary analysis. </a:t>
            </a:r>
            <a:endParaRPr lang="en-US" sz="3000" dirty="0">
              <a:solidFill>
                <a:srgbClr val="000000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82" y="30123990"/>
            <a:ext cx="15495932" cy="1866671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9317045" y="30123990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Next Steps 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96282" y="31464941"/>
            <a:ext cx="12978655" cy="6605545"/>
            <a:chOff x="3096282" y="30252690"/>
            <a:chExt cx="12978655" cy="6912993"/>
          </a:xfrm>
        </p:grpSpPr>
        <p:sp>
          <p:nvSpPr>
            <p:cNvPr id="75" name="Rectangle 74"/>
            <p:cNvSpPr/>
            <p:nvPr/>
          </p:nvSpPr>
          <p:spPr>
            <a:xfrm>
              <a:off x="3096282" y="30252690"/>
              <a:ext cx="12978655" cy="6912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000" dirty="0">
                <a:latin typeface="Trebuchet MS" charset="0"/>
                <a:ea typeface="Trebuchet MS" charset="0"/>
                <a:cs typeface="Trebuchet MS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602325" y="30419599"/>
              <a:ext cx="12063849" cy="6093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Women in Combat</a:t>
              </a:r>
              <a:r>
                <a:rPr lang="en-US" sz="3000" b="1" baseline="30000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1-3</a:t>
              </a:r>
              <a:endParaRPr lang="en-US" sz="3000" b="1" dirty="0" smtClean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endParaRP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Started with the known policy of allowing women to serve in combat positions and performed a search for policy documents.</a:t>
              </a:r>
              <a:endParaRPr lang="en-US" sz="3000" b="1" dirty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endParaRP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The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Ike Skelton National Defense Authorization Act for Fiscal Year 2011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ordered an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investigation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into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whether or not women have equal opportunities. 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Extensive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research was done on the issue by the Congressional Research Service, United States General Accounting Office, and the Office of the Under Secretary of Defense.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January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24th,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2013</a:t>
              </a:r>
              <a:r>
                <a:rPr lang="en-US" sz="3000" b="1" dirty="0" smtClean="0">
                  <a:solidFill>
                    <a:srgbClr val="FFFFFF"/>
                  </a:solidFill>
                  <a:latin typeface="Trebuchet MS" charset="0"/>
                  <a:ea typeface="Trebuchet MS" charset="0"/>
                  <a:cs typeface="Trebuchet MS" charset="0"/>
                </a:rPr>
                <a:t>,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the USA officially lifted the ban on Women in Combat, which was quickly picked up by the news cycle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. 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Overall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, Congressional Research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Service sources as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well as news outlets should be considered in policy research.</a:t>
              </a: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19038844" y="31464940"/>
            <a:ext cx="1417447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Research conducted thus far has been descriptive analyses regarding policies and military geographic locations.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A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dditional data (e.g., </a:t>
            </a:r>
            <a:r>
              <a:rPr lang="en-US" sz="3000" dirty="0" err="1" smtClean="0">
                <a:latin typeface="Trebuchet MS" charset="0"/>
                <a:ea typeface="Trebuchet MS" charset="0"/>
                <a:cs typeface="Trebuchet MS" charset="0"/>
              </a:rPr>
              <a:t>DoD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, Census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,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social media) will be combined with the policy and geographic information to explore the effect on retention and attrition.</a:t>
            </a:r>
          </a:p>
          <a:p>
            <a:pPr marL="904875" lvl="1" indent="-4572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Policy: 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We will investigate the patterns of policy implementation on military enrollment and attrition.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Reactions to policies will be assessed via social media data.</a:t>
            </a:r>
          </a:p>
          <a:p>
            <a:pPr marL="904875" lvl="1" indent="-4572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Geography: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The location of enrollees will be mapped alongside the geographic location of military installments.</a:t>
            </a:r>
          </a:p>
          <a:p>
            <a:pPr marL="4207154" lvl="2" indent="-457200">
              <a:buFont typeface="Arial" charset="0"/>
              <a:buChar char="•"/>
            </a:pP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0263" y="10821687"/>
            <a:ext cx="15495932" cy="186667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9470989" y="10821687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Military Locations by State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951820" y="39202830"/>
            <a:ext cx="21173158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rebuchet MS"/>
                <a:ea typeface="Raleway Medium" charset="0"/>
                <a:cs typeface="Trebuchet MS"/>
              </a:rPr>
              <a:t>References</a:t>
            </a:r>
          </a:p>
          <a:p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1. United </a:t>
            </a:r>
            <a:r>
              <a:rPr lang="en-US" sz="2000" dirty="0">
                <a:latin typeface="Trebuchet MS"/>
                <a:ea typeface="Trebuchet MS" charset="0"/>
                <a:cs typeface="Trebuchet MS"/>
              </a:rPr>
              <a:t>States of America, General Accounting Office. (1998). Gender Issues: Information on </a:t>
            </a:r>
            <a:r>
              <a:rPr lang="en-US" sz="2000" dirty="0" err="1">
                <a:latin typeface="Trebuchet MS"/>
                <a:ea typeface="Trebuchet MS" charset="0"/>
                <a:cs typeface="Trebuchet MS"/>
              </a:rPr>
              <a:t>DoD's</a:t>
            </a:r>
            <a:r>
              <a:rPr lang="en-US" sz="2000" dirty="0">
                <a:latin typeface="Trebuchet MS"/>
                <a:ea typeface="Trebuchet MS" charset="0"/>
                <a:cs typeface="Trebuchet MS"/>
              </a:rPr>
              <a:t> Assignment Policy and Direct Ground Combat Definition</a:t>
            </a:r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.</a:t>
            </a:r>
          </a:p>
          <a:p>
            <a:r>
              <a:rPr lang="en-US" sz="2000" dirty="0" smtClean="0">
                <a:latin typeface="Trebuchet MS"/>
                <a:cs typeface="Trebuchet MS"/>
              </a:rPr>
              <a:t>2. </a:t>
            </a:r>
            <a:r>
              <a:rPr lang="en-US" sz="2000" dirty="0" err="1" smtClean="0">
                <a:latin typeface="Trebuchet MS"/>
                <a:cs typeface="Trebuchet MS"/>
              </a:rPr>
              <a:t>U.S.Cong</a:t>
            </a:r>
            <a:r>
              <a:rPr lang="en-US" sz="2000" dirty="0">
                <a:latin typeface="Trebuchet MS"/>
                <a:cs typeface="Trebuchet MS"/>
              </a:rPr>
              <a:t>. (2013). Women in combat issues for Congress (D. F. </a:t>
            </a:r>
            <a:r>
              <a:rPr lang="en-US" sz="2000" dirty="0" err="1">
                <a:latin typeface="Trebuchet MS"/>
                <a:cs typeface="Trebuchet MS"/>
              </a:rPr>
              <a:t>Burrelli</a:t>
            </a:r>
            <a:r>
              <a:rPr lang="en-US" sz="2000" dirty="0">
                <a:latin typeface="Trebuchet MS"/>
                <a:cs typeface="Trebuchet MS"/>
              </a:rPr>
              <a:t>, Author) [Cong.]. Washington, D.C</a:t>
            </a:r>
            <a:r>
              <a:rPr lang="en-US" sz="2000" dirty="0" smtClean="0">
                <a:latin typeface="Trebuchet MS"/>
                <a:cs typeface="Trebuchet MS"/>
              </a:rPr>
              <a:t>.: </a:t>
            </a:r>
            <a:r>
              <a:rPr lang="en-US" sz="2000" dirty="0">
                <a:latin typeface="Trebuchet MS"/>
                <a:cs typeface="Trebuchet MS"/>
              </a:rPr>
              <a:t>Congressional Research Service.</a:t>
            </a:r>
            <a:endParaRPr lang="en-US" sz="2000" dirty="0" smtClean="0">
              <a:latin typeface="Trebuchet MS"/>
              <a:ea typeface="Trebuchet MS" charset="0"/>
              <a:cs typeface="Trebuchet MS"/>
            </a:endParaRPr>
          </a:p>
          <a:p>
            <a:r>
              <a:rPr lang="en-US" sz="2000" dirty="0" smtClean="0">
                <a:latin typeface="Trebuchet MS"/>
                <a:cs typeface="Trebuchet MS"/>
              </a:rPr>
              <a:t>3. Women </a:t>
            </a:r>
            <a:r>
              <a:rPr lang="en-US" sz="2000" dirty="0">
                <a:latin typeface="Trebuchet MS"/>
                <a:cs typeface="Trebuchet MS"/>
              </a:rPr>
              <a:t>in combat: US military officially lifts ban on female soldiers. (2013, January 25). The Guardian.</a:t>
            </a:r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 </a:t>
            </a:r>
            <a:endParaRPr lang="en-US" sz="2000" dirty="0">
              <a:latin typeface="Trebuchet MS"/>
              <a:ea typeface="Trebuchet MS" charset="0"/>
              <a:cs typeface="Trebuchet MS"/>
            </a:endParaRPr>
          </a:p>
        </p:txBody>
      </p:sp>
      <p:pic>
        <p:nvPicPr>
          <p:cNvPr id="16" name="Picture 15" descr="Virginia.png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t="20470" b="20057"/>
          <a:stretch/>
        </p:blipFill>
        <p:spPr>
          <a:xfrm>
            <a:off x="23428245" y="24450668"/>
            <a:ext cx="9785069" cy="4965919"/>
          </a:xfrm>
          <a:prstGeom prst="snip2Same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092781" y="25235496"/>
            <a:ext cx="615774" cy="636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alifornia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7133" y="16262172"/>
            <a:ext cx="9999296" cy="83190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9470989" y="13106930"/>
            <a:ext cx="5046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Hawaii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9470989" y="18794596"/>
            <a:ext cx="28209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California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9522422" y="25284693"/>
            <a:ext cx="25866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Virginia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19" name="Picture 18" descr="hawaii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8245" y="12576444"/>
            <a:ext cx="8804963" cy="7325381"/>
          </a:xfrm>
          <a:prstGeom prst="rect">
            <a:avLst/>
          </a:prstGeom>
        </p:spPr>
      </p:pic>
      <p:pic>
        <p:nvPicPr>
          <p:cNvPr id="21" name="Picture 20" descr="Screen Shot 2016-07-22 at 3.51.18 PM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4335" y="12487699"/>
            <a:ext cx="3454400" cy="29083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9653356" y="12890426"/>
            <a:ext cx="2579852" cy="2041851"/>
          </a:xfrm>
          <a:prstGeom prst="rect">
            <a:avLst/>
          </a:prstGeom>
          <a:noFill/>
          <a:ln>
            <a:solidFill>
              <a:srgbClr val="4C7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27998464" y="13970146"/>
            <a:ext cx="1654892" cy="384852"/>
          </a:xfrm>
          <a:prstGeom prst="line">
            <a:avLst/>
          </a:prstGeom>
          <a:ln>
            <a:solidFill>
              <a:srgbClr val="4C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689944" y="14354998"/>
            <a:ext cx="1308520" cy="1173800"/>
          </a:xfrm>
          <a:prstGeom prst="rect">
            <a:avLst/>
          </a:prstGeom>
          <a:noFill/>
          <a:ln>
            <a:solidFill>
              <a:srgbClr val="4C7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with_legend.png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1" t="21745" b="28132"/>
          <a:stretch/>
        </p:blipFill>
        <p:spPr>
          <a:xfrm>
            <a:off x="31124977" y="19410149"/>
            <a:ext cx="2354899" cy="3765507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25708555" y="25235496"/>
            <a:ext cx="981389" cy="1064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295380" y="2006785"/>
            <a:ext cx="228539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Blanch Caps" charset="0"/>
                <a:ea typeface="Blanch Caps" charset="0"/>
                <a:cs typeface="Blanch Caps" charset="0"/>
              </a:rPr>
              <a:t>Military Enlistment, Retention, and Attrition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830" y="38991532"/>
            <a:ext cx="5715000" cy="1854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749101" y="39409416"/>
            <a:ext cx="745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bi.vt.edu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/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sdal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Raleway Medium" charset="0"/>
              <a:ea typeface="Raleway Medium" charset="0"/>
              <a:cs typeface="Raleway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0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A9F45027-2BAF-499F-98A8-1DC554696958}"/>
</file>

<file path=customXml/itemProps2.xml><?xml version="1.0" encoding="utf-8"?>
<ds:datastoreItem xmlns:ds="http://schemas.openxmlformats.org/officeDocument/2006/customXml" ds:itemID="{C1780745-5DE3-4E20-AA28-5265A963E248}"/>
</file>

<file path=customXml/itemProps3.xml><?xml version="1.0" encoding="utf-8"?>
<ds:datastoreItem xmlns:ds="http://schemas.openxmlformats.org/officeDocument/2006/customXml" ds:itemID="{CB8ED771-7389-48CA-932C-0411D2D1FF2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708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Blanch Caps</vt:lpstr>
      <vt:lpstr>Calibri</vt:lpstr>
      <vt:lpstr>Calibri Light</vt:lpstr>
      <vt:lpstr>Raleway</vt:lpstr>
      <vt:lpstr>Raleway Medium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95</cp:revision>
  <cp:lastPrinted>2016-07-22T19:26:20Z</cp:lastPrinted>
  <dcterms:created xsi:type="dcterms:W3CDTF">2016-07-05T19:56:53Z</dcterms:created>
  <dcterms:modified xsi:type="dcterms:W3CDTF">2016-09-08T18:59:26Z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