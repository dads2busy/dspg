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6576000" cy="41148000"/>
  <p:notesSz cx="6858000" cy="9144000"/>
  <p:embeddedFontLst>
    <p:embeddedFont>
      <p:font typeface="Barlow Condensed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69">
          <p15:clr>
            <a:srgbClr val="A4A3A4"/>
          </p15:clr>
        </p15:guide>
        <p15:guide id="2" orient="horz" pos="106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0769"/>
        <p:guide orient="horz" pos="10690"/>
        <p:guide pos="115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pp, Stephanie S. (sss5sc)" userId="S::sss5sc@virginia.edu::32ad11e2-6e98-46b4-87f4-a31b3ad2ebba" providerId="AD" clId="Web-{EA2F3143-67A8-07C1-17E1-FE1B46186239}"/>
    <pc:docChg chg="modSld">
      <pc:chgData name="Shipp, Stephanie S. (sss5sc)" userId="S::sss5sc@virginia.edu::32ad11e2-6e98-46b4-87f4-a31b3ad2ebba" providerId="AD" clId="Web-{EA2F3143-67A8-07C1-17E1-FE1B46186239}" dt="2019-06-03T14:59:09.750" v="0" actId="14100"/>
      <pc:docMkLst>
        <pc:docMk/>
      </pc:docMkLst>
      <pc:sldChg chg="modSp">
        <pc:chgData name="Shipp, Stephanie S. (sss5sc)" userId="S::sss5sc@virginia.edu::32ad11e2-6e98-46b4-87f4-a31b3ad2ebba" providerId="AD" clId="Web-{EA2F3143-67A8-07C1-17E1-FE1B46186239}" dt="2019-06-03T14:59:09.750" v="0" actId="14100"/>
        <pc:sldMkLst>
          <pc:docMk/>
          <pc:sldMk cId="0" sldId="256"/>
        </pc:sldMkLst>
        <pc:grpChg chg="mod">
          <ac:chgData name="Shipp, Stephanie S. (sss5sc)" userId="S::sss5sc@virginia.edu::32ad11e2-6e98-46b4-87f4-a31b3ad2ebba" providerId="AD" clId="Web-{EA2F3143-67A8-07C1-17E1-FE1B46186239}" dt="2019-06-03T14:59:09.750" v="0" actId="14100"/>
          <ac:grpSpMkLst>
            <pc:docMk/>
            <pc:sldMk cId="0" sldId="256"/>
            <ac:grpSpMk id="76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905337" y="685800"/>
            <a:ext cx="304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05000" y="685800"/>
            <a:ext cx="304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ubTitle" idx="1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519950" tIns="519950" rIns="519950" bIns="51995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50" y="28537125"/>
            <a:ext cx="8597699" cy="77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895150" y="28600508"/>
            <a:ext cx="10367314" cy="819636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13"/>
          <p:cNvGrpSpPr/>
          <p:nvPr/>
        </p:nvGrpSpPr>
        <p:grpSpPr>
          <a:xfrm>
            <a:off x="24024611" y="17639658"/>
            <a:ext cx="11300864" cy="8196467"/>
            <a:chOff x="24024611" y="17639658"/>
            <a:chExt cx="11300864" cy="8196467"/>
          </a:xfrm>
        </p:grpSpPr>
        <p:pic>
          <p:nvPicPr>
            <p:cNvPr id="54" name="Google Shape;54;p13"/>
            <p:cNvPicPr preferRelativeResize="0"/>
            <p:nvPr/>
          </p:nvPicPr>
          <p:blipFill rotWithShape="1">
            <a:blip r:embed="rId4">
              <a:alphaModFix/>
            </a:blip>
            <a:srcRect l="14235" r="15396"/>
            <a:stretch/>
          </p:blipFill>
          <p:spPr>
            <a:xfrm>
              <a:off x="24807125" y="18884288"/>
              <a:ext cx="4400549" cy="68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3"/>
            <p:cNvPicPr preferRelativeResize="0"/>
            <p:nvPr/>
          </p:nvPicPr>
          <p:blipFill rotWithShape="1">
            <a:blip r:embed="rId5">
              <a:alphaModFix/>
            </a:blip>
            <a:srcRect l="11216" r="19927"/>
            <a:stretch/>
          </p:blipFill>
          <p:spPr>
            <a:xfrm>
              <a:off x="30527225" y="19019275"/>
              <a:ext cx="4400551" cy="6816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 txBox="1"/>
            <p:nvPr/>
          </p:nvSpPr>
          <p:spPr>
            <a:xfrm>
              <a:off x="24024611" y="17639658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(5) Single Subpopulation Attractiveness Index 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6">
              <a:alphaModFix/>
            </a:blip>
            <a:srcRect r="6933"/>
            <a:stretch/>
          </p:blipFill>
          <p:spPr>
            <a:xfrm>
              <a:off x="29417200" y="19152800"/>
              <a:ext cx="1400175" cy="6304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28154725" y="18011277"/>
              <a:ext cx="32118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Higher</a:t>
              </a:r>
              <a:endParaRPr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Attractiveness</a:t>
              </a:r>
              <a:endParaRPr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30134575" y="17639663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(6) Family Subpopulation Attractiveness Index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2658475" y="7465450"/>
            <a:ext cx="11100600" cy="6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829550" y="3296600"/>
            <a:ext cx="273654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Contributors: Davon Woodard, Eirik Iversen, Cory Kim, Doug Mattingly (Virginia Tech), Josh Goldstein and Stephanie Shipp (VT SDAL)</a:t>
            </a:r>
            <a:endParaRPr sz="48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2737700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and Concept Mapping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3716675" y="26874250"/>
            <a:ext cx="107676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Key Findings and Next Steps</a:t>
            </a:r>
            <a:endParaRPr sz="4800" b="1" i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221550" y="4038913"/>
            <a:ext cx="164202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Sponsors: Wayne Strickland, Executive Director, Roanoke Valley-Alleghany Regional Commission</a:t>
            </a:r>
            <a:endParaRPr sz="36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48775" y="6279400"/>
            <a:ext cx="5805300" cy="9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Issue - Workforce Challenges, for example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80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Long Commutes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Mismatch of job openings &amp; skills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Available child care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Affordable housing options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Objective: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Profiles and Attractiveness Indicators to identify characteristics that appeal to retaining and recruiting a workforce to the region by County Magisterial Districts, City Election Districts, &amp; Roanoke City quadrants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935825" y="28126600"/>
            <a:ext cx="10518000" cy="9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Key Findings &amp; Potential Policy Actions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Different household types live in different parts of the RVAR region, e.g. singles without a degree live in northwestern and southwestern parts while singles and families with college live closer to Roanoke city and surrounding areas (maps 1-4)</a:t>
            </a:r>
            <a:endParaRPr sz="3600">
              <a:solidFill>
                <a:srgbClr val="222222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Attractiveness patterns across RVAR are similar for singles and families (maps 5-6)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914400" lvl="1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○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northwest side of Roanoke City and western side of Franklin County have the highest attractiveness values for both singles and families;  Botetourt County is very attractive to families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Transportation options are limited to vehicles for most residents in region; a larger percent of individuals in Craig and Franklin Counties have longer commutes </a:t>
            </a:r>
            <a:r>
              <a:rPr lang="en" sz="3600" i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(data not shown)</a:t>
            </a:r>
            <a:endParaRPr sz="3600" b="1" i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3600" b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Examine underlying factors to identify policy options</a:t>
            </a:r>
            <a:endParaRPr sz="3600" b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sz="2400" b="1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sz="1800" b="1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048775" y="15864175"/>
            <a:ext cx="33698700" cy="11058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Demographic Profile Rankings and </a:t>
            </a: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Indicators (by County Magisterial Districts or City Election Districts or Quadrants)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048775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Overview and Goals</a:t>
            </a: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767375" y="26878613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Treatment/Workforce Facilities</a:t>
            </a: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896375" y="26878625"/>
            <a:ext cx="109155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 Options</a:t>
            </a:r>
            <a:endParaRPr sz="4800" b="1" i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3235325" y="38277225"/>
            <a:ext cx="83439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Acknowledgements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14672" y="39045348"/>
            <a:ext cx="4590703" cy="113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6956" y="38970999"/>
            <a:ext cx="3756946" cy="1211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3"/>
          <p:cNvGrpSpPr/>
          <p:nvPr/>
        </p:nvGrpSpPr>
        <p:grpSpPr>
          <a:xfrm>
            <a:off x="7829550" y="926127"/>
            <a:ext cx="27454259" cy="1989043"/>
            <a:chOff x="8270736" y="527371"/>
            <a:chExt cx="26601900" cy="1838642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8270736" y="527371"/>
              <a:ext cx="266019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Roanoke Valley-Alleghany Region Attractiveness to Workers</a:t>
              </a: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8270736" y="2138313"/>
              <a:ext cx="266019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9" name="Google Shape;79;p13"/>
          <p:cNvSpPr txBox="1"/>
          <p:nvPr/>
        </p:nvSpPr>
        <p:spPr>
          <a:xfrm>
            <a:off x="24485975" y="5061800"/>
            <a:ext cx="105180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Methods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4358925" y="6655975"/>
            <a:ext cx="10644900" cy="85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 American Community Survey (ACS) synthetic data to align to sub-county/sub-city geographic boundaries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Combine ACS microdata and summary tables to produce synthetic estimates by individual at new geographies, using Iterative Proportional Fitting technique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Re-compute summary statistics of those individuals by the 48 County Magisterial Districts, City Election boundaries, or Roanoke City quadrants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 and Attractiveness Indicators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Rank variables (see below) from 1 to 48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Sum ranks for each area &amp; then normalize ranks from 0 to 1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Scrape data from internet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routes and stops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Workforce development sites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 facilities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2075775" y="17096000"/>
            <a:ext cx="159633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do the four worker populations live in the RVAR? 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6900" y="6782600"/>
            <a:ext cx="5681100" cy="774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216564" y="39045344"/>
            <a:ext cx="3953786" cy="11919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12234025" y="26306682"/>
            <a:ext cx="125289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latin typeface="Barlow Condensed"/>
                <a:ea typeface="Barlow Condensed"/>
                <a:cs typeface="Barlow Condensed"/>
                <a:sym typeface="Barlow Condensed"/>
              </a:rPr>
              <a:t>Sources:  American Community Survey (synthetic data); GIS Shapefiles for each city and county in RVAR</a:t>
            </a:r>
            <a:endParaRPr sz="2400" i="1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2851" y="31399075"/>
            <a:ext cx="1400100" cy="261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76175" y="28746200"/>
            <a:ext cx="1750200" cy="27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Percent of Residents in Roanoke City WIthout Access to A Vehicle, by Census Tracts</a:t>
            </a:r>
            <a:endParaRPr sz="24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709575" y="35528007"/>
            <a:ext cx="37797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Workforce Development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09575" y="35974250"/>
            <a:ext cx="28011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Bus Stops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691175" y="7008250"/>
            <a:ext cx="11100600" cy="7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291575" y="25184829"/>
            <a:ext cx="32118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</a:t>
            </a:r>
            <a:endParaRPr sz="30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</a:t>
            </a:r>
            <a:endParaRPr sz="30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65263" y="14243375"/>
            <a:ext cx="116664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Definition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 a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ttractiveness is adapted from Pattnaik, S., &amp; Misra, R. (2014). Employer Attractiveness: A Conceptual Framework &amp; Scale Development. Indian Journal of Industrial Relations, 50 (2), 318-327. </a:t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2778825" y="28639766"/>
            <a:ext cx="10140325" cy="8835987"/>
            <a:chOff x="12996125" y="28603050"/>
            <a:chExt cx="10140325" cy="85035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12996125" y="28603050"/>
              <a:ext cx="6436050" cy="8503500"/>
              <a:chOff x="12996125" y="28603050"/>
              <a:chExt cx="6436050" cy="8503500"/>
            </a:xfrm>
          </p:grpSpPr>
          <p:pic>
            <p:nvPicPr>
              <p:cNvPr id="94" name="Google Shape;94;p13"/>
              <p:cNvPicPr preferRelativeResize="0"/>
              <p:nvPr/>
            </p:nvPicPr>
            <p:blipFill rotWithShape="1">
              <a:blip r:embed="rId13">
                <a:alphaModFix/>
              </a:blip>
              <a:srcRect l="27819" t="5463" r="42722" b="6267"/>
              <a:stretch/>
            </p:blipFill>
            <p:spPr>
              <a:xfrm>
                <a:off x="12996125" y="28603050"/>
                <a:ext cx="6053875" cy="850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Google Shape;95;p13"/>
              <p:cNvSpPr/>
              <p:nvPr/>
            </p:nvSpPr>
            <p:spPr>
              <a:xfrm>
                <a:off x="18940775" y="32316200"/>
                <a:ext cx="491400" cy="412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13"/>
            <p:cNvSpPr txBox="1"/>
            <p:nvPr/>
          </p:nvSpPr>
          <p:spPr>
            <a:xfrm>
              <a:off x="18487050" y="33853179"/>
              <a:ext cx="4649400" cy="1602000"/>
            </a:xfrm>
            <a:prstGeom prst="rect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Drug Treatment Facilities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45720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Workforce Development Facilities (including colleges)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14767800" y="33131162"/>
            <a:ext cx="1400100" cy="12663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" name="Google Shape;98;p13"/>
          <p:cNvCxnSpPr>
            <a:stCxn id="97" idx="7"/>
          </p:cNvCxnSpPr>
          <p:nvPr/>
        </p:nvCxnSpPr>
        <p:spPr>
          <a:xfrm rot="10800000">
            <a:off x="11233360" y="28593108"/>
            <a:ext cx="4729500" cy="4723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3"/>
          <p:cNvCxnSpPr>
            <a:stCxn id="97" idx="5"/>
          </p:cNvCxnSpPr>
          <p:nvPr/>
        </p:nvCxnSpPr>
        <p:spPr>
          <a:xfrm flipH="1">
            <a:off x="11257660" y="34212017"/>
            <a:ext cx="4705200" cy="2581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3"/>
          <p:cNvSpPr txBox="1"/>
          <p:nvPr/>
        </p:nvSpPr>
        <p:spPr>
          <a:xfrm>
            <a:off x="18049225" y="35648788"/>
            <a:ext cx="5151000" cy="1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latin typeface="Barlow Condensed"/>
                <a:ea typeface="Barlow Condensed"/>
                <a:cs typeface="Barlow Condensed"/>
                <a:sym typeface="Barlow Condensed"/>
              </a:rPr>
              <a:t>Sources: American Community Survey, Roanoke Regional Partnership, Substance Abuse and Mental Health Services Administration (SAMHSA), Moveit.com</a:t>
            </a:r>
            <a:endParaRPr sz="2400" i="1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7745575" y="28219488"/>
            <a:ext cx="4800300" cy="50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Roanoke City: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Location of most workforce training centers 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only public transportation in region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Most residents in Roanoke City have access to a vehicle except those near city center (lighter blue areas)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176175" y="35468125"/>
            <a:ext cx="376725" cy="1172775"/>
            <a:chOff x="1176175" y="35468125"/>
            <a:chExt cx="376725" cy="1172775"/>
          </a:xfrm>
        </p:grpSpPr>
        <p:pic>
          <p:nvPicPr>
            <p:cNvPr id="103" name="Google Shape;103;p13"/>
            <p:cNvPicPr preferRelativeResize="0"/>
            <p:nvPr/>
          </p:nvPicPr>
          <p:blipFill rotWithShape="1">
            <a:blip r:embed="rId14">
              <a:alphaModFix/>
            </a:blip>
            <a:srcRect l="13239" t="19061" r="54467"/>
            <a:stretch/>
          </p:blipFill>
          <p:spPr>
            <a:xfrm>
              <a:off x="1216400" y="36130825"/>
              <a:ext cx="336500" cy="51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 rotWithShape="1">
            <a:blip r:embed="rId15">
              <a:alphaModFix/>
            </a:blip>
            <a:srcRect l="13146" r="49996" b="28305"/>
            <a:stretch/>
          </p:blipFill>
          <p:spPr>
            <a:xfrm>
              <a:off x="1176175" y="35468125"/>
              <a:ext cx="376725" cy="51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3"/>
          <p:cNvGrpSpPr/>
          <p:nvPr/>
        </p:nvGrpSpPr>
        <p:grpSpPr>
          <a:xfrm>
            <a:off x="591575" y="18074375"/>
            <a:ext cx="18662952" cy="8306605"/>
            <a:chOff x="591575" y="18322963"/>
            <a:chExt cx="18662952" cy="8059188"/>
          </a:xfrm>
        </p:grpSpPr>
        <p:pic>
          <p:nvPicPr>
            <p:cNvPr id="106" name="Google Shape;106;p1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4454225" y="19948301"/>
              <a:ext cx="4800301" cy="618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/>
            <p:cNvPicPr preferRelativeResize="0"/>
            <p:nvPr/>
          </p:nvPicPr>
          <p:blipFill rotWithShape="1">
            <a:blip r:embed="rId17">
              <a:alphaModFix/>
            </a:blip>
            <a:srcRect r="5347"/>
            <a:stretch/>
          </p:blipFill>
          <p:spPr>
            <a:xfrm>
              <a:off x="10342500" y="19941696"/>
              <a:ext cx="4158300" cy="624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 rotWithShape="1">
            <a:blip r:embed="rId18">
              <a:alphaModFix/>
            </a:blip>
            <a:srcRect t="1180" b="-1179"/>
            <a:stretch/>
          </p:blipFill>
          <p:spPr>
            <a:xfrm>
              <a:off x="591575" y="19777724"/>
              <a:ext cx="4400550" cy="6480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/>
            <p:cNvPicPr preferRelativeResize="0"/>
            <p:nvPr/>
          </p:nvPicPr>
          <p:blipFill rotWithShape="1">
            <a:blip r:embed="rId19">
              <a:alphaModFix/>
            </a:blip>
            <a:srcRect r="14690"/>
            <a:stretch/>
          </p:blipFill>
          <p:spPr>
            <a:xfrm>
              <a:off x="4637249" y="19684570"/>
              <a:ext cx="4649299" cy="6697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3"/>
            <p:cNvSpPr txBox="1"/>
            <p:nvPr/>
          </p:nvSpPr>
          <p:spPr>
            <a:xfrm>
              <a:off x="4950725" y="18395688"/>
              <a:ext cx="4400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(2) Single, ages 25-34,</a:t>
              </a:r>
              <a:b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815650" y="18322963"/>
              <a:ext cx="4649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(1) Single, ages 18-24,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8808925" y="18687750"/>
              <a:ext cx="22539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Areas more likely to live in</a:t>
              </a: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10523100" y="18420662"/>
              <a:ext cx="48003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(3) Family, ages 35-49,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4654025" y="18459318"/>
              <a:ext cx="44007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(4) Family, ages 35-49</a:t>
              </a:r>
              <a:b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115" name="Google Shape;115;p13"/>
            <p:cNvPicPr preferRelativeResize="0"/>
            <p:nvPr/>
          </p:nvPicPr>
          <p:blipFill rotWithShape="1">
            <a:blip r:embed="rId6">
              <a:alphaModFix/>
            </a:blip>
            <a:srcRect r="6933"/>
            <a:stretch/>
          </p:blipFill>
          <p:spPr>
            <a:xfrm>
              <a:off x="9388200" y="19783849"/>
              <a:ext cx="1400175" cy="6052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13"/>
          <p:cNvCxnSpPr/>
          <p:nvPr/>
        </p:nvCxnSpPr>
        <p:spPr>
          <a:xfrm flipH="1">
            <a:off x="18832050" y="17628450"/>
            <a:ext cx="36000" cy="864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3"/>
          <p:cNvSpPr txBox="1"/>
          <p:nvPr/>
        </p:nvSpPr>
        <p:spPr>
          <a:xfrm>
            <a:off x="8732725" y="25710075"/>
            <a:ext cx="22539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Areas less likely to live in</a:t>
            </a: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8868050" y="17096000"/>
            <a:ext cx="8597700" cy="10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VARIABLES 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of population)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Commute Times</a:t>
            </a: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b="1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(&lt; 1 hr.)</a:t>
            </a:r>
            <a:endParaRPr sz="3000" b="1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Vehicle Ownership </a:t>
            </a:r>
            <a:r>
              <a:rPr lang="en" sz="3000" b="1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(own a vehicle)</a:t>
            </a:r>
            <a:endParaRPr sz="3600" b="1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(public transit is 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primary means to work)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Housing: 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0005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Size of Home</a:t>
            </a: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(Number of bedrooms)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0005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Type of Home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(Apartment/House)</a:t>
            </a:r>
            <a:endParaRPr sz="36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 of Home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(Built before/after 1990)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Community: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Resident Type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(Renter/Owner)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Family Presence</a:t>
            </a: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(Family/NF Households)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Diversity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non-white)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Employment</a:t>
            </a: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employed)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Active Post-Secondary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(enrolled in college)</a:t>
            </a:r>
            <a:b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20">
            <a:alphaModFix/>
          </a:blip>
          <a:srcRect l="37353" t="20967" r="22403"/>
          <a:stretch/>
        </p:blipFill>
        <p:spPr>
          <a:xfrm>
            <a:off x="18410775" y="34256425"/>
            <a:ext cx="279000" cy="11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28200392-619F-426E-97E4-A47642A15243}"/>
</file>

<file path=customXml/itemProps2.xml><?xml version="1.0" encoding="utf-8"?>
<ds:datastoreItem xmlns:ds="http://schemas.openxmlformats.org/officeDocument/2006/customXml" ds:itemID="{C9918285-09AE-445B-A203-C7ED58591BA1}"/>
</file>

<file path=customXml/itemProps3.xml><?xml version="1.0" encoding="utf-8"?>
<ds:datastoreItem xmlns:ds="http://schemas.openxmlformats.org/officeDocument/2006/customXml" ds:itemID="{D579558E-E453-45E7-BCB0-569CD81C79C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2019-06-03T14:59:10Z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