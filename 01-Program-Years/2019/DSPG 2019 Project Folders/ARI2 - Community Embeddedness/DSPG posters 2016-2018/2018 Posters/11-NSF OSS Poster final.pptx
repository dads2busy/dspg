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5"/>
  </p:sldMasterIdLst>
  <p:notesMasterIdLst>
    <p:notesMasterId r:id="rId6"/>
  </p:notesMasterIdLst>
  <p:sldIdLst>
    <p:sldId id="256" r:id="rId7"/>
  </p:sldIdLst>
  <p:sldSz cy="41148000" cx="36576000"/>
  <p:notesSz cx="6858000" cy="9144000"/>
  <p:embeddedFontLst>
    <p:embeddedFont>
      <p:font typeface="Barlow Condensed"/>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C6DD30A3-820F-4D0C-8FA5-698A64A25110}">
  <a:tblStyle styleId="{C6DD30A3-820F-4D0C-8FA5-698A64A2511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font" Target="fonts/BarlowCondensed-regular.fntdata"/><Relationship Id="rId13" Type="http://schemas.openxmlformats.org/officeDocument/2006/relationships/customXml" Target="../customXml/item2.xml"/><Relationship Id="rId3"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customXml" Target="../customXml/item1.xml"/><Relationship Id="rId2" Type="http://schemas.openxmlformats.org/officeDocument/2006/relationships/viewProps" Target="viewProps.xml"/><Relationship Id="rId11" Type="http://schemas.openxmlformats.org/officeDocument/2006/relationships/font" Target="fonts/BarlowCondensed-boldItalic.fntdata"/><Relationship Id="rId1" Type="http://schemas.openxmlformats.org/officeDocument/2006/relationships/theme" Target="theme/theme2.xml"/><Relationship Id="rId6" Type="http://schemas.openxmlformats.org/officeDocument/2006/relationships/notesMaster" Target="notesMasters/notesMaster1.xml"/><Relationship Id="rId5" Type="http://schemas.openxmlformats.org/officeDocument/2006/relationships/slideMaster" Target="slideMasters/slideMaster1.xml"/><Relationship Id="rId10" Type="http://schemas.openxmlformats.org/officeDocument/2006/relationships/font" Target="fonts/BarlowCondensed-italic.fntdata"/><Relationship Id="rId4" Type="http://schemas.openxmlformats.org/officeDocument/2006/relationships/tableStyles" Target="tableStyles.xml"/><Relationship Id="rId9" Type="http://schemas.openxmlformats.org/officeDocument/2006/relationships/font" Target="fonts/BarlowCondensed-bold.fntdata"/><Relationship Id="rId1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g3ea669e4c4_4_231: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ea669e4c4_4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spcBef>
                <a:spcPts val="0"/>
              </a:spcBef>
              <a:spcAft>
                <a:spcPts val="0"/>
              </a:spcAft>
              <a:buNone/>
            </a:pPr>
            <a:r>
              <a:rPr b="1" lang="en"/>
              <a:t>GENERAL RULES TO FOLLOW:</a:t>
            </a:r>
            <a:endParaRPr b="1"/>
          </a:p>
          <a:p>
            <a:pPr indent="-298450" lvl="0" marL="457200" rtl="0">
              <a:spcBef>
                <a:spcPts val="0"/>
              </a:spcBef>
              <a:spcAft>
                <a:spcPts val="0"/>
              </a:spcAft>
              <a:buSzPts val="1100"/>
              <a:buAutoNum type="arabicParenR"/>
            </a:pPr>
            <a:r>
              <a:rPr b="1" lang="en"/>
              <a:t>Stay in Google Slides</a:t>
            </a:r>
            <a:r>
              <a:rPr lang="en"/>
              <a:t> to work on your poster because it: </a:t>
            </a:r>
            <a:endParaRPr/>
          </a:p>
          <a:p>
            <a:pPr indent="-298450" lvl="1" marL="914400" rtl="0">
              <a:spcBef>
                <a:spcPts val="0"/>
              </a:spcBef>
              <a:spcAft>
                <a:spcPts val="0"/>
              </a:spcAft>
              <a:buSzPts val="1100"/>
              <a:buAutoNum type="alphaLcParenR"/>
            </a:pPr>
            <a:r>
              <a:rPr lang="en">
                <a:solidFill>
                  <a:schemeClr val="dk1"/>
                </a:solidFill>
              </a:rPr>
              <a:t>provides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spcBef>
                <a:spcPts val="0"/>
              </a:spcBef>
              <a:spcAft>
                <a:spcPts val="0"/>
              </a:spcAft>
              <a:buSzPts val="1100"/>
              <a:buAutoNum type="alphaLcParenR"/>
            </a:pPr>
            <a:r>
              <a:rPr lang="en"/>
              <a:t>allows you to </a:t>
            </a:r>
            <a:r>
              <a:rPr b="1" lang="en"/>
              <a:t>collaborate</a:t>
            </a:r>
            <a:r>
              <a:rPr lang="en"/>
              <a:t> with others;</a:t>
            </a:r>
            <a:endParaRPr/>
          </a:p>
          <a:p>
            <a:pPr indent="-298450" lvl="1" marL="914400" rtl="0">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spcBef>
                <a:spcPts val="0"/>
              </a:spcBef>
              <a:spcAft>
                <a:spcPts val="0"/>
              </a:spcAft>
              <a:buSzPts val="1100"/>
              <a:buAutoNum type="arabicParenR"/>
            </a:pPr>
            <a:r>
              <a:rPr b="1" lang="en"/>
              <a:t>Editing</a:t>
            </a:r>
            <a:r>
              <a:rPr lang="en"/>
              <a:t> this file:</a:t>
            </a:r>
            <a:endParaRPr/>
          </a:p>
          <a:p>
            <a:pPr indent="-298450" lvl="1" marL="914400" rtl="0">
              <a:spcBef>
                <a:spcPts val="0"/>
              </a:spcBef>
              <a:spcAft>
                <a:spcPts val="0"/>
              </a:spcAft>
              <a:buSzPts val="1100"/>
              <a:buAutoNum type="alphaLcParenR"/>
            </a:pPr>
            <a:r>
              <a:t/>
            </a:r>
            <a:endParaRPr/>
          </a:p>
          <a:p>
            <a:pPr indent="-298450" lvl="0" marL="457200" rtl="0">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3.png"/><Relationship Id="rId10" Type="http://schemas.openxmlformats.org/officeDocument/2006/relationships/image" Target="../media/image5.png"/><Relationship Id="rId13" Type="http://schemas.openxmlformats.org/officeDocument/2006/relationships/image" Target="../media/image6.png"/><Relationship Id="rId12" Type="http://schemas.openxmlformats.org/officeDocument/2006/relationships/image" Target="../media/image8.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bls.gov/oes/" TargetMode="External"/><Relationship Id="rId4" Type="http://schemas.openxmlformats.org/officeDocument/2006/relationships/hyperlink" Target="https://www.bea.gov/industry/io_annual.htm" TargetMode="External"/><Relationship Id="rId9"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image" Target="../media/image7.png"/><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8270713" y="1305725"/>
            <a:ext cx="26601900" cy="1105800"/>
          </a:xfrm>
          <a:prstGeom prst="rect">
            <a:avLst/>
          </a:prstGeom>
          <a:noFill/>
          <a:ln>
            <a:noFill/>
          </a:ln>
        </p:spPr>
        <p:txBody>
          <a:bodyPr anchorCtr="0" anchor="t" bIns="156150" lIns="312475" spcFirstLastPara="1" rIns="312475" wrap="square" tIns="156150">
            <a:noAutofit/>
          </a:bodyPr>
          <a:lstStyle/>
          <a:p>
            <a:pPr indent="0" lvl="0" marL="0" marR="0" rtl="0">
              <a:spcBef>
                <a:spcPts val="0"/>
              </a:spcBef>
              <a:spcAft>
                <a:spcPts val="0"/>
              </a:spcAft>
              <a:buNone/>
            </a:pPr>
            <a:r>
              <a:rPr b="1" lang="en" sz="9600">
                <a:solidFill>
                  <a:srgbClr val="141F22"/>
                </a:solidFill>
                <a:latin typeface="Barlow Condensed"/>
                <a:ea typeface="Barlow Condensed"/>
                <a:cs typeface="Barlow Condensed"/>
                <a:sym typeface="Barlow Condensed"/>
              </a:rPr>
              <a:t>Measuring the Cost and Value of Open Source Software </a:t>
            </a:r>
            <a:endParaRPr b="1" sz="9600">
              <a:solidFill>
                <a:srgbClr val="141F22"/>
              </a:solidFill>
              <a:latin typeface="Barlow Condensed"/>
              <a:ea typeface="Barlow Condensed"/>
              <a:cs typeface="Barlow Condensed"/>
              <a:sym typeface="Barlow Condensed"/>
            </a:endParaRPr>
          </a:p>
        </p:txBody>
      </p:sp>
      <p:sp>
        <p:nvSpPr>
          <p:cNvPr id="52" name="Google Shape;52;p13"/>
          <p:cNvSpPr txBox="1"/>
          <p:nvPr/>
        </p:nvSpPr>
        <p:spPr>
          <a:xfrm>
            <a:off x="7932475" y="-1811480"/>
            <a:ext cx="26601900" cy="1499400"/>
          </a:xfrm>
          <a:prstGeom prst="rect">
            <a:avLst/>
          </a:prstGeom>
          <a:noFill/>
          <a:ln>
            <a:noFill/>
          </a:ln>
        </p:spPr>
        <p:txBody>
          <a:bodyPr anchorCtr="0" anchor="t" bIns="156150" lIns="312475" spcFirstLastPara="1" rIns="312475" wrap="square" tIns="156150">
            <a:noAutofit/>
          </a:bodyPr>
          <a:lstStyle/>
          <a:p>
            <a:pPr indent="0" lvl="0" marL="0" marR="0" rtl="0">
              <a:spcBef>
                <a:spcPts val="0"/>
              </a:spcBef>
              <a:spcAft>
                <a:spcPts val="0"/>
              </a:spcAft>
              <a:buNone/>
            </a:pPr>
            <a:r>
              <a:t/>
            </a:r>
            <a:endParaRPr b="1" sz="96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270725" y="3039425"/>
            <a:ext cx="26926500" cy="697800"/>
          </a:xfrm>
          <a:prstGeom prst="rect">
            <a:avLst/>
          </a:prstGeom>
          <a:noFill/>
          <a:ln>
            <a:noFill/>
          </a:ln>
        </p:spPr>
        <p:txBody>
          <a:bodyPr anchorCtr="0" anchor="t" bIns="156150" lIns="312475" spcFirstLastPara="1" rIns="312475" wrap="square" tIns="156150">
            <a:noAutofit/>
          </a:bodyPr>
          <a:lstStyle/>
          <a:p>
            <a:pPr indent="0" lvl="0" marL="0" marR="0" rtl="0">
              <a:spcBef>
                <a:spcPts val="0"/>
              </a:spcBef>
              <a:spcAft>
                <a:spcPts val="0"/>
              </a:spcAft>
              <a:buNone/>
            </a:pPr>
            <a:r>
              <a:rPr i="1" lang="en" sz="4800">
                <a:solidFill>
                  <a:srgbClr val="141F22"/>
                </a:solidFill>
                <a:latin typeface="Barlow Condensed"/>
                <a:ea typeface="Barlow Condensed"/>
                <a:cs typeface="Barlow Condensed"/>
                <a:sym typeface="Barlow Condensed"/>
              </a:rPr>
              <a:t>Hannah Brinkley (VT), Keren Chen (VT), Eirik Iversen (VT), and </a:t>
            </a:r>
            <a:r>
              <a:rPr i="1" lang="en" sz="4800">
                <a:solidFill>
                  <a:srgbClr val="141F22"/>
                </a:solidFill>
                <a:latin typeface="Barlow Condensed"/>
                <a:ea typeface="Barlow Condensed"/>
                <a:cs typeface="Barlow Condensed"/>
                <a:sym typeface="Barlow Condensed"/>
              </a:rPr>
              <a:t>Bayoán Santiago Calderón</a:t>
            </a:r>
            <a:r>
              <a:rPr i="1" lang="en" sz="4800">
                <a:solidFill>
                  <a:srgbClr val="141F22"/>
                </a:solidFill>
                <a:latin typeface="Barlow Condensed"/>
                <a:ea typeface="Barlow Condensed"/>
                <a:cs typeface="Barlow Condensed"/>
                <a:sym typeface="Barlow Condensed"/>
              </a:rPr>
              <a:t> (Claremont Graduate University)</a:t>
            </a:r>
            <a:endParaRPr i="1" sz="4800">
              <a:solidFill>
                <a:srgbClr val="141F22"/>
              </a:solidFill>
              <a:latin typeface="Barlow Condensed"/>
              <a:ea typeface="Barlow Condensed"/>
              <a:cs typeface="Barlow Condensed"/>
              <a:sym typeface="Barlow Condensed"/>
            </a:endParaRPr>
          </a:p>
        </p:txBody>
      </p:sp>
      <p:sp>
        <p:nvSpPr>
          <p:cNvPr id="54" name="Google Shape;54;p13"/>
          <p:cNvSpPr txBox="1"/>
          <p:nvPr/>
        </p:nvSpPr>
        <p:spPr>
          <a:xfrm>
            <a:off x="24950375" y="34554125"/>
            <a:ext cx="9816900" cy="5748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spcBef>
                <a:spcPts val="0"/>
              </a:spcBef>
              <a:spcAft>
                <a:spcPts val="0"/>
              </a:spcAft>
              <a:buNone/>
            </a:pPr>
            <a:r>
              <a:rPr b="1" lang="en" sz="3000">
                <a:solidFill>
                  <a:srgbClr val="FFFFFF"/>
                </a:solidFill>
                <a:latin typeface="Barlow Condensed"/>
                <a:ea typeface="Barlow Condensed"/>
                <a:cs typeface="Barlow Condensed"/>
                <a:sym typeface="Barlow Condensed"/>
              </a:rPr>
              <a:t>References</a:t>
            </a:r>
            <a:endParaRPr b="1" i="0" sz="3000">
              <a:solidFill>
                <a:srgbClr val="FFFFFF"/>
              </a:solidFill>
              <a:latin typeface="Barlow Condensed"/>
              <a:ea typeface="Barlow Condensed"/>
              <a:cs typeface="Barlow Condensed"/>
              <a:sym typeface="Barlow Condensed"/>
            </a:endParaRPr>
          </a:p>
        </p:txBody>
      </p:sp>
      <p:sp>
        <p:nvSpPr>
          <p:cNvPr id="55" name="Google Shape;55;p13"/>
          <p:cNvSpPr txBox="1"/>
          <p:nvPr/>
        </p:nvSpPr>
        <p:spPr>
          <a:xfrm>
            <a:off x="8270689" y="3826775"/>
            <a:ext cx="26492100" cy="697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SDAL: Gizem Korkmaz, Daniel Chen, and Stephanie Shipp</a:t>
            </a:r>
            <a:endParaRPr i="1"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Sponsor: Carol Robbins, The National Center for Science &amp; Engineering Statistics (NCSES) at the National Science Foundation (NSF)</a:t>
            </a:r>
            <a:endParaRPr i="1" sz="3600">
              <a:solidFill>
                <a:srgbClr val="141F22"/>
              </a:solidFill>
              <a:latin typeface="Barlow Condensed"/>
              <a:ea typeface="Barlow Condensed"/>
              <a:cs typeface="Barlow Condensed"/>
              <a:sym typeface="Barlow Condensed"/>
            </a:endParaRPr>
          </a:p>
        </p:txBody>
      </p:sp>
      <p:sp>
        <p:nvSpPr>
          <p:cNvPr id="56" name="Google Shape;56;p13"/>
          <p:cNvSpPr txBox="1"/>
          <p:nvPr/>
        </p:nvSpPr>
        <p:spPr>
          <a:xfrm>
            <a:off x="831100" y="6258300"/>
            <a:ext cx="34041600" cy="22041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The project aims to test the feasibility and to develop methods to measure the cost and value of Open Source Software (OSS). </a:t>
            </a:r>
            <a:endParaRPr sz="3000">
              <a:solidFill>
                <a:srgbClr val="141F22"/>
              </a:solidFill>
              <a:latin typeface="Barlow Condensed"/>
              <a:ea typeface="Barlow Condensed"/>
              <a:cs typeface="Barlow Condensed"/>
              <a:sym typeface="Barlow Condensed"/>
            </a:endParaRPr>
          </a:p>
          <a:p>
            <a:pPr indent="-419100" lvl="0" marL="45720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To quantify cost, we focus on 4 major programming languages (i.e.,  R, Python, Julia, and JavaScript) and collect information on the development activities of all of the individual packages that use these languages. We use cost modeling approaches from software engineering, in particular, the Constructive Cost Estimation Model [1] (COCOMO) to quantify cost per package using the lines of code and contributor information.</a:t>
            </a:r>
            <a:endParaRPr sz="3000">
              <a:solidFill>
                <a:srgbClr val="141F22"/>
              </a:solidFill>
              <a:latin typeface="Barlow Condensed"/>
              <a:ea typeface="Barlow Condensed"/>
              <a:cs typeface="Barlow Condensed"/>
              <a:sym typeface="Barlow Condensed"/>
            </a:endParaRPr>
          </a:p>
          <a:p>
            <a:pPr indent="-419100" lvl="0" marL="45720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We use reverse dependencies (reuse) of packages to measure the impact. We generate the dependency network to study the connection between the structural features of the network and the cost of the OSS projects.</a:t>
            </a:r>
            <a:endParaRPr sz="3000">
              <a:solidFill>
                <a:srgbClr val="141F22"/>
              </a:solidFill>
              <a:latin typeface="Barlow Condensed"/>
              <a:ea typeface="Barlow Condensed"/>
              <a:cs typeface="Barlow Condensed"/>
              <a:sym typeface="Barlow Condensed"/>
            </a:endParaRPr>
          </a:p>
        </p:txBody>
      </p:sp>
      <p:sp>
        <p:nvSpPr>
          <p:cNvPr id="57" name="Google Shape;57;p13"/>
          <p:cNvSpPr txBox="1"/>
          <p:nvPr/>
        </p:nvSpPr>
        <p:spPr>
          <a:xfrm>
            <a:off x="24702000" y="35041200"/>
            <a:ext cx="10170600" cy="20169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1800">
                <a:solidFill>
                  <a:srgbClr val="141F22"/>
                </a:solidFill>
                <a:latin typeface="Barlow Condensed"/>
                <a:ea typeface="Barlow Condensed"/>
                <a:cs typeface="Barlow Condensed"/>
                <a:sym typeface="Barlow Condensed"/>
              </a:rPr>
              <a:t>[1] Barry Boehm, Chris Abts, A. Winsor Brown, Sunita Chulani, Bradford K. Clark, Ellis Horowitz, Ray Madachy, Donald J. Reifer, and Bert Steece. </a:t>
            </a:r>
            <a:r>
              <a:rPr i="1" lang="en" sz="1800">
                <a:solidFill>
                  <a:srgbClr val="141F22"/>
                </a:solidFill>
                <a:latin typeface="Barlow Condensed"/>
                <a:ea typeface="Barlow Condensed"/>
                <a:cs typeface="Barlow Condensed"/>
                <a:sym typeface="Barlow Condensed"/>
              </a:rPr>
              <a:t>Software Cost Estimation with COCOMO II </a:t>
            </a:r>
            <a:r>
              <a:rPr lang="en" sz="1800">
                <a:solidFill>
                  <a:srgbClr val="141F22"/>
                </a:solidFill>
                <a:latin typeface="Barlow Condensed"/>
                <a:ea typeface="Barlow Condensed"/>
                <a:cs typeface="Barlow Condensed"/>
                <a:sym typeface="Barlow Condensed"/>
              </a:rPr>
              <a:t>(with CD-ROM). Englewood Cliffs, NJ:Prentice-Hall, 2000. </a:t>
            </a:r>
            <a:endParaRPr sz="18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1800">
                <a:solidFill>
                  <a:srgbClr val="141F22"/>
                </a:solidFill>
                <a:latin typeface="Barlow Condensed"/>
                <a:ea typeface="Barlow Condensed"/>
                <a:cs typeface="Barlow Condensed"/>
                <a:sym typeface="Barlow Condensed"/>
              </a:rPr>
              <a:t>[2] Bureau of Labor Statistics, U.S. Department of Labor, Occupational Employment Statistics, 2017. [</a:t>
            </a:r>
            <a:r>
              <a:rPr lang="en" sz="1800" u="sng">
                <a:solidFill>
                  <a:schemeClr val="hlink"/>
                </a:solidFill>
                <a:latin typeface="Barlow Condensed"/>
                <a:ea typeface="Barlow Condensed"/>
                <a:cs typeface="Barlow Condensed"/>
                <a:sym typeface="Barlow Condensed"/>
                <a:hlinkClick r:id="rId3"/>
              </a:rPr>
              <a:t>www.bls.gov/oes/</a:t>
            </a:r>
            <a:r>
              <a:rPr lang="en" sz="1800">
                <a:solidFill>
                  <a:srgbClr val="141F22"/>
                </a:solidFill>
                <a:latin typeface="Barlow Condensed"/>
                <a:ea typeface="Barlow Condensed"/>
                <a:cs typeface="Barlow Condensed"/>
                <a:sym typeface="Barlow Condensed"/>
              </a:rPr>
              <a:t>].</a:t>
            </a:r>
            <a:endParaRPr sz="18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1800">
                <a:solidFill>
                  <a:srgbClr val="141F22"/>
                </a:solidFill>
                <a:latin typeface="Barlow Condensed"/>
                <a:ea typeface="Barlow Condensed"/>
                <a:cs typeface="Barlow Condensed"/>
                <a:sym typeface="Barlow Condensed"/>
              </a:rPr>
              <a:t>[3] Bureau of Economic Analysis, Input-Output Accounts Data: The Use of Commodities by Industries, Before Redefinitions (Purchasers' Prices), 2007. [</a:t>
            </a:r>
            <a:r>
              <a:rPr lang="en" sz="1800" u="sng">
                <a:solidFill>
                  <a:schemeClr val="hlink"/>
                </a:solidFill>
                <a:latin typeface="Barlow Condensed"/>
                <a:ea typeface="Barlow Condensed"/>
                <a:cs typeface="Barlow Condensed"/>
                <a:sym typeface="Barlow Condensed"/>
                <a:hlinkClick r:id="rId4"/>
              </a:rPr>
              <a:t>https://www.bea.gov/industry/io_annual.htm</a:t>
            </a:r>
            <a:r>
              <a:rPr lang="en" sz="1800">
                <a:solidFill>
                  <a:srgbClr val="141F22"/>
                </a:solidFill>
                <a:latin typeface="Barlow Condensed"/>
                <a:ea typeface="Barlow Condensed"/>
                <a:cs typeface="Barlow Condensed"/>
                <a:sym typeface="Barlow Condensed"/>
              </a:rPr>
              <a:t>]</a:t>
            </a:r>
            <a:r>
              <a:rPr lang="en" sz="1800">
                <a:solidFill>
                  <a:srgbClr val="141F22"/>
                </a:solidFill>
                <a:latin typeface="Barlow Condensed"/>
                <a:ea typeface="Barlow Condensed"/>
                <a:cs typeface="Barlow Condensed"/>
                <a:sym typeface="Barlow Condensed"/>
              </a:rPr>
              <a:t>.</a:t>
            </a:r>
            <a:endParaRPr sz="1800">
              <a:solidFill>
                <a:srgbClr val="141F22"/>
              </a:solidFill>
              <a:latin typeface="Barlow Condensed"/>
              <a:ea typeface="Barlow Condensed"/>
              <a:cs typeface="Barlow Condensed"/>
              <a:sym typeface="Barlow Condensed"/>
            </a:endParaRPr>
          </a:p>
          <a:p>
            <a:pPr indent="0" lvl="0" marL="0" rtl="0">
              <a:spcBef>
                <a:spcPts val="0"/>
              </a:spcBef>
              <a:spcAft>
                <a:spcPts val="0"/>
              </a:spcAft>
              <a:buSzPts val="1100"/>
              <a:buNone/>
            </a:pPr>
            <a:r>
              <a:rPr lang="en" sz="1800">
                <a:solidFill>
                  <a:schemeClr val="dk1"/>
                </a:solidFill>
                <a:latin typeface="Barlow Condensed"/>
                <a:ea typeface="Barlow Condensed"/>
                <a:cs typeface="Barlow Condensed"/>
                <a:sym typeface="Barlow Condensed"/>
              </a:rPr>
              <a:t>[4] Vincent D Blondel, Jean-Loup Guillaume, Renaud Lambiotte, Etienne Lefebvre, Fast unfolding of communities in large networks. Journal of Statistical Mechanics: Theory and Experiment 2008 (10), P1000</a:t>
            </a:r>
            <a:endParaRPr sz="1800">
              <a:solidFill>
                <a:schemeClr val="dk1"/>
              </a:solidFill>
              <a:latin typeface="Barlow Condensed"/>
              <a:ea typeface="Barlow Condensed"/>
              <a:cs typeface="Barlow Condensed"/>
              <a:sym typeface="Barlow Condensed"/>
            </a:endParaRPr>
          </a:p>
          <a:p>
            <a:pPr indent="0" lvl="0" marL="0" rtl="0">
              <a:spcBef>
                <a:spcPts val="0"/>
              </a:spcBef>
              <a:spcAft>
                <a:spcPts val="0"/>
              </a:spcAft>
              <a:buSzPts val="1100"/>
              <a:buNone/>
            </a:pPr>
            <a:r>
              <a:rPr lang="en" sz="1800">
                <a:solidFill>
                  <a:srgbClr val="222222"/>
                </a:solidFill>
                <a:highlight>
                  <a:srgbClr val="FFFFFF"/>
                </a:highlight>
                <a:latin typeface="Barlow Condensed"/>
                <a:ea typeface="Barlow Condensed"/>
                <a:cs typeface="Barlow Condensed"/>
                <a:sym typeface="Barlow Condensed"/>
              </a:rPr>
              <a:t>[5] Bastian, M., Heymann, S., &amp; Jacomy, M. (2009). Gephi: An open source software for exploring and manipulating networks. </a:t>
            </a:r>
            <a:r>
              <a:rPr i="1" lang="en" sz="1800">
                <a:solidFill>
                  <a:srgbClr val="222222"/>
                </a:solidFill>
                <a:highlight>
                  <a:srgbClr val="FFFFFF"/>
                </a:highlight>
                <a:latin typeface="Barlow Condensed"/>
                <a:ea typeface="Barlow Condensed"/>
                <a:cs typeface="Barlow Condensed"/>
                <a:sym typeface="Barlow Condensed"/>
              </a:rPr>
              <a:t>ICWSM</a:t>
            </a:r>
            <a:r>
              <a:rPr lang="en" sz="1800">
                <a:solidFill>
                  <a:srgbClr val="222222"/>
                </a:solidFill>
                <a:highlight>
                  <a:srgbClr val="FFFFFF"/>
                </a:highlight>
                <a:latin typeface="Barlow Condensed"/>
                <a:ea typeface="Barlow Condensed"/>
                <a:cs typeface="Barlow Condensed"/>
                <a:sym typeface="Barlow Condensed"/>
              </a:rPr>
              <a:t> </a:t>
            </a:r>
            <a:r>
              <a:rPr i="1" lang="en" sz="1800">
                <a:solidFill>
                  <a:srgbClr val="222222"/>
                </a:solidFill>
                <a:highlight>
                  <a:srgbClr val="FFFFFF"/>
                </a:highlight>
                <a:latin typeface="Barlow Condensed"/>
                <a:ea typeface="Barlow Condensed"/>
                <a:cs typeface="Barlow Condensed"/>
                <a:sym typeface="Barlow Condensed"/>
              </a:rPr>
              <a:t>8</a:t>
            </a:r>
            <a:r>
              <a:rPr lang="en" sz="1800">
                <a:solidFill>
                  <a:srgbClr val="222222"/>
                </a:solidFill>
                <a:highlight>
                  <a:srgbClr val="FFFFFF"/>
                </a:highlight>
                <a:latin typeface="Barlow Condensed"/>
                <a:ea typeface="Barlow Condensed"/>
                <a:cs typeface="Barlow Condensed"/>
                <a:sym typeface="Barlow Condensed"/>
              </a:rPr>
              <a:t>(2009), 361-362.</a:t>
            </a:r>
            <a:endParaRPr sz="1800">
              <a:solidFill>
                <a:schemeClr val="dk1"/>
              </a:solidFill>
              <a:latin typeface="Barlow Condensed"/>
              <a:ea typeface="Barlow Condensed"/>
              <a:cs typeface="Barlow Condensed"/>
              <a:sym typeface="Barlow Condensed"/>
            </a:endParaRPr>
          </a:p>
          <a:p>
            <a:pPr indent="0" lvl="0" marL="0" rtl="0">
              <a:spcBef>
                <a:spcPts val="0"/>
              </a:spcBef>
              <a:spcAft>
                <a:spcPts val="0"/>
              </a:spcAft>
              <a:buSzPts val="1100"/>
              <a:buNone/>
            </a:pPr>
            <a:r>
              <a:t/>
            </a:r>
            <a:endParaRPr sz="1800">
              <a:solidFill>
                <a:schemeClr val="dk1"/>
              </a:solidFill>
              <a:latin typeface="Barlow Condensed"/>
              <a:ea typeface="Barlow Condensed"/>
              <a:cs typeface="Barlow Condensed"/>
              <a:sym typeface="Barlow Condensed"/>
            </a:endParaRPr>
          </a:p>
          <a:p>
            <a:pPr indent="0" lvl="0" marL="0" rtl="0">
              <a:spcBef>
                <a:spcPts val="0"/>
              </a:spcBef>
              <a:spcAft>
                <a:spcPts val="0"/>
              </a:spcAft>
              <a:buSzPts val="1100"/>
              <a:buNone/>
            </a:pPr>
            <a:r>
              <a:t/>
            </a:r>
            <a:endParaRPr sz="1800">
              <a:solidFill>
                <a:schemeClr val="dk1"/>
              </a:solidFill>
              <a:latin typeface="Barlow Condensed"/>
              <a:ea typeface="Barlow Condensed"/>
              <a:cs typeface="Barlow Condensed"/>
              <a:sym typeface="Barlow Condensed"/>
            </a:endParaRPr>
          </a:p>
          <a:p>
            <a:pPr indent="0" lvl="0" marL="0" rtl="0">
              <a:spcBef>
                <a:spcPts val="0"/>
              </a:spcBef>
              <a:spcAft>
                <a:spcPts val="0"/>
              </a:spcAft>
              <a:buNone/>
            </a:pPr>
            <a:r>
              <a:t/>
            </a:r>
            <a:endParaRPr sz="18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18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t/>
            </a:r>
            <a:endParaRPr sz="18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1800">
              <a:solidFill>
                <a:srgbClr val="141F22"/>
              </a:solidFill>
              <a:latin typeface="Barlow Condensed"/>
              <a:ea typeface="Barlow Condensed"/>
              <a:cs typeface="Barlow Condensed"/>
              <a:sym typeface="Barlow Condensed"/>
            </a:endParaRPr>
          </a:p>
        </p:txBody>
      </p:sp>
      <p:sp>
        <p:nvSpPr>
          <p:cNvPr id="58" name="Google Shape;58;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59" name="Google Shape;59;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0" name="Google Shape;60;p13"/>
          <p:cNvSpPr txBox="1"/>
          <p:nvPr/>
        </p:nvSpPr>
        <p:spPr>
          <a:xfrm>
            <a:off x="1063900" y="14523950"/>
            <a:ext cx="15000300" cy="8919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400">
                <a:solidFill>
                  <a:srgbClr val="FFFFFF"/>
                </a:solidFill>
                <a:latin typeface="Barlow Condensed"/>
                <a:ea typeface="Barlow Condensed"/>
                <a:cs typeface="Barlow Condensed"/>
                <a:sym typeface="Barlow Condensed"/>
              </a:rPr>
              <a:t>Cost of Open Source Software</a:t>
            </a:r>
            <a:endParaRPr b="1" sz="4400">
              <a:solidFill>
                <a:srgbClr val="FFFFFF"/>
              </a:solidFill>
              <a:latin typeface="Barlow Condensed"/>
              <a:ea typeface="Barlow Condensed"/>
              <a:cs typeface="Barlow Condensed"/>
              <a:sym typeface="Barlow Condensed"/>
            </a:endParaRPr>
          </a:p>
        </p:txBody>
      </p:sp>
      <p:sp>
        <p:nvSpPr>
          <p:cNvPr id="61" name="Google Shape;61;p13"/>
          <p:cNvSpPr txBox="1"/>
          <p:nvPr/>
        </p:nvSpPr>
        <p:spPr>
          <a:xfrm>
            <a:off x="1048775" y="5301500"/>
            <a:ext cx="33823800" cy="8919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Objective</a:t>
            </a:r>
            <a:endParaRPr b="1" sz="4800">
              <a:solidFill>
                <a:srgbClr val="FFFFFF"/>
              </a:solidFill>
              <a:latin typeface="Barlow Condensed"/>
              <a:ea typeface="Barlow Condensed"/>
              <a:cs typeface="Barlow Condensed"/>
              <a:sym typeface="Barlow Condensed"/>
            </a:endParaRPr>
          </a:p>
        </p:txBody>
      </p:sp>
      <p:sp>
        <p:nvSpPr>
          <p:cNvPr id="62" name="Google Shape;62;p13"/>
          <p:cNvSpPr/>
          <p:nvPr/>
        </p:nvSpPr>
        <p:spPr>
          <a:xfrm>
            <a:off x="28648575" y="25376975"/>
            <a:ext cx="6114300" cy="615415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63" name="Google Shape;63;p13"/>
          <p:cNvSpPr txBox="1"/>
          <p:nvPr/>
        </p:nvSpPr>
        <p:spPr>
          <a:xfrm>
            <a:off x="1048775" y="8507525"/>
            <a:ext cx="338238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Data and Methods</a:t>
            </a:r>
            <a:endParaRPr b="1" sz="4800">
              <a:solidFill>
                <a:srgbClr val="FFFFFF"/>
              </a:solidFill>
              <a:latin typeface="Barlow Condensed"/>
              <a:ea typeface="Barlow Condensed"/>
              <a:cs typeface="Barlow Condensed"/>
              <a:sym typeface="Barlow Condensed"/>
            </a:endParaRPr>
          </a:p>
        </p:txBody>
      </p:sp>
      <p:pic>
        <p:nvPicPr>
          <p:cNvPr id="64" name="Google Shape;64;p13"/>
          <p:cNvPicPr preferRelativeResize="0"/>
          <p:nvPr/>
        </p:nvPicPr>
        <p:blipFill>
          <a:blip r:embed="rId5">
            <a:alphaModFix/>
          </a:blip>
          <a:stretch>
            <a:fillRect/>
          </a:stretch>
        </p:blipFill>
        <p:spPr>
          <a:xfrm>
            <a:off x="26937200" y="15418700"/>
            <a:ext cx="8129474" cy="6379980"/>
          </a:xfrm>
          <a:prstGeom prst="rect">
            <a:avLst/>
          </a:prstGeom>
          <a:noFill/>
          <a:ln>
            <a:noFill/>
          </a:ln>
        </p:spPr>
      </p:pic>
      <p:graphicFrame>
        <p:nvGraphicFramePr>
          <p:cNvPr id="65" name="Google Shape;65;p13"/>
          <p:cNvGraphicFramePr/>
          <p:nvPr/>
        </p:nvGraphicFramePr>
        <p:xfrm>
          <a:off x="1393263" y="31823675"/>
          <a:ext cx="3000000" cy="3000000"/>
        </p:xfrm>
        <a:graphic>
          <a:graphicData uri="http://schemas.openxmlformats.org/drawingml/2006/table">
            <a:tbl>
              <a:tblPr>
                <a:noFill/>
                <a:tableStyleId>{C6DD30A3-820F-4D0C-8FA5-698A64A25110}</a:tableStyleId>
              </a:tblPr>
              <a:tblGrid>
                <a:gridCol w="2215925"/>
                <a:gridCol w="789475"/>
                <a:gridCol w="1810825"/>
                <a:gridCol w="744975"/>
                <a:gridCol w="2045650"/>
                <a:gridCol w="926900"/>
                <a:gridCol w="1882925"/>
                <a:gridCol w="908725"/>
              </a:tblGrid>
              <a:tr h="55475">
                <a:tc gridSpan="8">
                  <a:txBody>
                    <a:bodyPr>
                      <a:noAutofit/>
                    </a:bodyPr>
                    <a:lstStyle/>
                    <a:p>
                      <a:pPr indent="0" lvl="0" marL="0" rtl="0" algn="ctr">
                        <a:spcBef>
                          <a:spcPts val="0"/>
                        </a:spcBef>
                        <a:spcAft>
                          <a:spcPts val="0"/>
                        </a:spcAft>
                        <a:buNone/>
                      </a:pPr>
                      <a:r>
                        <a:rPr b="1" lang="en" sz="2600">
                          <a:latin typeface="Barlow Condensed"/>
                          <a:ea typeface="Barlow Condensed"/>
                          <a:cs typeface="Barlow Condensed"/>
                          <a:sym typeface="Barlow Condensed"/>
                        </a:rPr>
                        <a:t>Top 5 packages with the highest total cost  (in USD)</a:t>
                      </a:r>
                      <a:endParaRPr b="1" sz="2600">
                        <a:latin typeface="Barlow Condensed"/>
                        <a:ea typeface="Barlow Condensed"/>
                        <a:cs typeface="Barlow Condensed"/>
                        <a:sym typeface="Barlow Condensed"/>
                      </a:endParaRPr>
                    </a:p>
                  </a:txBody>
                  <a:tcPr marT="91425" marB="91425" marR="91425" marL="91425"/>
                </a:tc>
                <a:tc hMerge="1"/>
                <a:tc hMerge="1"/>
                <a:tc hMerge="1"/>
                <a:tc hMerge="1"/>
                <a:tc hMerge="1"/>
                <a:tc hMerge="1"/>
                <a:tc hMerge="1"/>
              </a:tr>
              <a:tr h="381000">
                <a:tc gridSpan="2">
                  <a:txBody>
                    <a:bodyPr>
                      <a:noAutofit/>
                    </a:bodyPr>
                    <a:lstStyle/>
                    <a:p>
                      <a:pPr indent="0" lvl="0" marL="0" rtl="0" algn="ctr">
                        <a:spcBef>
                          <a:spcPts val="0"/>
                        </a:spcBef>
                        <a:spcAft>
                          <a:spcPts val="0"/>
                        </a:spcAft>
                        <a:buNone/>
                      </a:pPr>
                      <a:r>
                        <a:rPr b="1" lang="en" sz="2600">
                          <a:solidFill>
                            <a:schemeClr val="dk1"/>
                          </a:solidFill>
                          <a:latin typeface="Barlow Condensed"/>
                          <a:ea typeface="Barlow Condensed"/>
                          <a:cs typeface="Barlow Condensed"/>
                          <a:sym typeface="Barlow Condensed"/>
                        </a:rPr>
                        <a:t>CRAN (R)</a:t>
                      </a:r>
                      <a:endParaRPr b="1" sz="26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F4CCCC"/>
                    </a:solidFill>
                  </a:tcPr>
                </a:tc>
                <a:tc hMerge="1"/>
                <a:tc gridSpan="2">
                  <a:txBody>
                    <a:bodyPr>
                      <a:noAutofit/>
                    </a:bodyPr>
                    <a:lstStyle/>
                    <a:p>
                      <a:pPr indent="0" lvl="0" marL="0" rtl="0" algn="ctr">
                        <a:spcBef>
                          <a:spcPts val="0"/>
                        </a:spcBef>
                        <a:spcAft>
                          <a:spcPts val="0"/>
                        </a:spcAft>
                        <a:buNone/>
                      </a:pPr>
                      <a:r>
                        <a:rPr b="1" lang="en" sz="2600">
                          <a:latin typeface="Barlow Condensed"/>
                          <a:ea typeface="Barlow Condensed"/>
                          <a:cs typeface="Barlow Condensed"/>
                          <a:sym typeface="Barlow Condensed"/>
                        </a:rPr>
                        <a:t>PyPi (Python)</a:t>
                      </a:r>
                      <a:endParaRPr b="1"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hMerge="1"/>
                <a:tc gridSpan="2">
                  <a:txBody>
                    <a:bodyPr>
                      <a:noAutofit/>
                    </a:bodyPr>
                    <a:lstStyle/>
                    <a:p>
                      <a:pPr indent="0" lvl="0" marL="0" rtl="0" algn="ctr">
                        <a:spcBef>
                          <a:spcPts val="0"/>
                        </a:spcBef>
                        <a:spcAft>
                          <a:spcPts val="0"/>
                        </a:spcAft>
                        <a:buNone/>
                      </a:pPr>
                      <a:r>
                        <a:rPr b="1" lang="en" sz="2600">
                          <a:latin typeface="Barlow Condensed"/>
                          <a:ea typeface="Barlow Condensed"/>
                          <a:cs typeface="Barlow Condensed"/>
                          <a:sym typeface="Barlow Condensed"/>
                        </a:rPr>
                        <a:t>Julia (Julia)</a:t>
                      </a:r>
                      <a:endParaRPr b="1"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D0E0E3"/>
                    </a:solidFill>
                  </a:tcPr>
                </a:tc>
                <a:tc hMerge="1"/>
                <a:tc gridSpan="2">
                  <a:txBody>
                    <a:bodyPr>
                      <a:noAutofit/>
                    </a:bodyPr>
                    <a:lstStyle/>
                    <a:p>
                      <a:pPr indent="0" lvl="0" marL="0" rtl="0" algn="ctr">
                        <a:spcBef>
                          <a:spcPts val="0"/>
                        </a:spcBef>
                        <a:spcAft>
                          <a:spcPts val="0"/>
                        </a:spcAft>
                        <a:buNone/>
                      </a:pPr>
                      <a:r>
                        <a:rPr b="1" lang="en" sz="2600">
                          <a:latin typeface="Barlow Condensed"/>
                          <a:ea typeface="Barlow Condensed"/>
                          <a:cs typeface="Barlow Condensed"/>
                          <a:sym typeface="Barlow Condensed"/>
                        </a:rPr>
                        <a:t>CDNJS (JavaScript)</a:t>
                      </a:r>
                      <a:endParaRPr b="1" sz="26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hMerge="1"/>
              </a:tr>
              <a:tr h="381000">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Package</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Cost</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Package</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Cost</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Package</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Cost</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Package</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b="1" lang="en" sz="2400">
                          <a:solidFill>
                            <a:srgbClr val="666666"/>
                          </a:solidFill>
                          <a:latin typeface="Barlow Condensed"/>
                          <a:ea typeface="Barlow Condensed"/>
                          <a:cs typeface="Barlow Condensed"/>
                          <a:sym typeface="Barlow Condensed"/>
                        </a:rPr>
                        <a:t>Cost</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googleAnalyticsR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4.0M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Nupic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3.5M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GeoStatsImages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3.8M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Webkit.js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6.9M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Archivist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4.0M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Django-workon</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3.3M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PSPlot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2.4M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Phaser-ce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4.5M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Quanteda</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3.4M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D1_python</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3.1M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MIToS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2.2M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Phaser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4.3M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CollessLike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Selenium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PDSampler</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Ag-grid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3.2M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Readtext</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2.8M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F4CCCC"/>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Senaite.core</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3.0M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GeoIP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1.9M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D0E0E3"/>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Libsodium.js </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3.1M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r>
              <a:tr h="381000">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TOTAL R</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A999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854M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EA9999"/>
                    </a:solidFill>
                  </a:tcPr>
                </a:tc>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TOTAL Python</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747M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TOTAL JULIA</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A2C4C9"/>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239M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solidFill>
                      <a:srgbClr val="A2C4C9"/>
                    </a:solidFill>
                  </a:tcPr>
                </a:tc>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TOTAL CDNJS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4A7D6"/>
                    </a:solidFill>
                  </a:tcPr>
                </a:tc>
                <a:tc>
                  <a:txBody>
                    <a:bodyPr>
                      <a:noAutofit/>
                    </a:bodyPr>
                    <a:lstStyle/>
                    <a:p>
                      <a:pPr indent="0" lvl="0" marL="0" rtl="0" algn="ctr">
                        <a:spcBef>
                          <a:spcPts val="0"/>
                        </a:spcBef>
                        <a:spcAft>
                          <a:spcPts val="0"/>
                        </a:spcAft>
                        <a:buNone/>
                      </a:pPr>
                      <a:r>
                        <a:rPr lang="en" sz="2400">
                          <a:latin typeface="Barlow Condensed"/>
                          <a:ea typeface="Barlow Condensed"/>
                          <a:cs typeface="Barlow Condensed"/>
                          <a:sym typeface="Barlow Condensed"/>
                        </a:rPr>
                        <a:t>1,199M</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4A7D6"/>
                    </a:solidFill>
                  </a:tcPr>
                </a:tc>
              </a:tr>
            </a:tbl>
          </a:graphicData>
        </a:graphic>
      </p:graphicFrame>
      <p:sp>
        <p:nvSpPr>
          <p:cNvPr id="66" name="Google Shape;66;p13"/>
          <p:cNvSpPr txBox="1"/>
          <p:nvPr/>
        </p:nvSpPr>
        <p:spPr>
          <a:xfrm>
            <a:off x="767125" y="15547175"/>
            <a:ext cx="9962100" cy="8038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The creation cost of packages is estimated using data collected from Github on the </a:t>
            </a:r>
            <a:r>
              <a:rPr i="1" lang="en" sz="3000">
                <a:solidFill>
                  <a:srgbClr val="1155CC"/>
                </a:solidFill>
                <a:latin typeface="Barlow Condensed"/>
                <a:ea typeface="Barlow Condensed"/>
                <a:cs typeface="Barlow Condensed"/>
                <a:sym typeface="Barlow Condensed"/>
              </a:rPr>
              <a:t>lines of code</a:t>
            </a:r>
            <a:r>
              <a:rPr lang="en" sz="3000">
                <a:solidFill>
                  <a:srgbClr val="1155CC"/>
                </a:solidFill>
                <a:latin typeface="Barlow Condensed"/>
                <a:ea typeface="Barlow Condensed"/>
                <a:cs typeface="Barlow Condensed"/>
                <a:sym typeface="Barlow Condensed"/>
              </a:rPr>
              <a:t> added and deleted</a:t>
            </a:r>
            <a:r>
              <a:rPr lang="en" sz="3000">
                <a:solidFill>
                  <a:srgbClr val="141F22"/>
                </a:solidFill>
                <a:latin typeface="Barlow Condensed"/>
                <a:ea typeface="Barlow Condensed"/>
                <a:cs typeface="Barlow Condensed"/>
                <a:sym typeface="Barlow Condensed"/>
              </a:rPr>
              <a:t> by each </a:t>
            </a:r>
            <a:r>
              <a:rPr i="1" lang="en" sz="3000">
                <a:solidFill>
                  <a:srgbClr val="1155CC"/>
                </a:solidFill>
                <a:latin typeface="Barlow Condensed"/>
                <a:ea typeface="Barlow Condensed"/>
                <a:cs typeface="Barlow Condensed"/>
                <a:sym typeface="Barlow Condensed"/>
              </a:rPr>
              <a:t>contributor</a:t>
            </a:r>
            <a:r>
              <a:rPr lang="en" sz="3000">
                <a:solidFill>
                  <a:srgbClr val="1155CC"/>
                </a:solidFill>
                <a:latin typeface="Barlow Condensed"/>
                <a:ea typeface="Barlow Condensed"/>
                <a:cs typeface="Barlow Condensed"/>
                <a:sym typeface="Barlow Condensed"/>
              </a:rPr>
              <a:t> </a:t>
            </a:r>
            <a:r>
              <a:rPr lang="en" sz="3000">
                <a:solidFill>
                  <a:srgbClr val="141F22"/>
                </a:solidFill>
                <a:latin typeface="Barlow Condensed"/>
                <a:ea typeface="Barlow Condensed"/>
                <a:cs typeface="Barlow Condensed"/>
                <a:sym typeface="Barlow Condensed"/>
              </a:rPr>
              <a:t>to each completed package. These distributions are given on the right.</a:t>
            </a:r>
            <a:endParaRPr sz="3000">
              <a:solidFill>
                <a:srgbClr val="141F22"/>
              </a:solidFill>
              <a:latin typeface="Barlow Condensed"/>
              <a:ea typeface="Barlow Condensed"/>
              <a:cs typeface="Barlow Condensed"/>
              <a:sym typeface="Barlow Condensed"/>
            </a:endParaRPr>
          </a:p>
          <a:p>
            <a:pPr indent="457200" lvl="0" marL="0" rtl="0">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The COCOMO [1] calibration factor was used to estimate person-months spent per package using kilo (thousands) of lines of code (KLOC). Here, we use the formula (given below) for the </a:t>
            </a:r>
            <a:r>
              <a:rPr i="1" lang="en" sz="3000">
                <a:solidFill>
                  <a:srgbClr val="141F22"/>
                </a:solidFill>
                <a:latin typeface="Barlow Condensed"/>
                <a:ea typeface="Barlow Condensed"/>
                <a:cs typeface="Barlow Condensed"/>
                <a:sym typeface="Barlow Condensed"/>
              </a:rPr>
              <a:t>organic software class</a:t>
            </a:r>
            <a:r>
              <a:rPr lang="en" sz="3000">
                <a:solidFill>
                  <a:srgbClr val="141F22"/>
                </a:solidFill>
                <a:latin typeface="Barlow Condensed"/>
                <a:ea typeface="Barlow Condensed"/>
                <a:cs typeface="Barlow Condensed"/>
                <a:sym typeface="Barlow Condensed"/>
              </a:rPr>
              <a:t> which consists of software dealing with a well-known programming language and a small, but experienced team of contributors.</a:t>
            </a:r>
            <a:endParaRPr sz="30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                                                              </a:t>
            </a:r>
            <a:endParaRPr i="1" sz="30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i="1" lang="en" sz="3000">
                <a:solidFill>
                  <a:srgbClr val="141F22"/>
                </a:solidFill>
                <a:latin typeface="Barlow Condensed"/>
                <a:ea typeface="Barlow Condensed"/>
                <a:cs typeface="Barlow Condensed"/>
                <a:sym typeface="Barlow Condensed"/>
              </a:rPr>
              <a:t>                                                            </a:t>
            </a:r>
            <a:endParaRPr i="1" sz="30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30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We assume that the input time of contributors is roughly equivalent to </a:t>
            </a:r>
            <a:r>
              <a:rPr i="1" lang="en" sz="3000">
                <a:solidFill>
                  <a:srgbClr val="141F22"/>
                </a:solidFill>
                <a:latin typeface="Barlow Condensed"/>
                <a:ea typeface="Barlow Condensed"/>
                <a:cs typeface="Barlow Condensed"/>
                <a:sym typeface="Barlow Condensed"/>
              </a:rPr>
              <a:t>the </a:t>
            </a:r>
            <a:r>
              <a:rPr i="1" lang="en" sz="3000">
                <a:solidFill>
                  <a:srgbClr val="1155CC"/>
                </a:solidFill>
                <a:latin typeface="Barlow Condensed"/>
                <a:ea typeface="Barlow Condensed"/>
                <a:cs typeface="Barlow Condensed"/>
                <a:sym typeface="Barlow Condensed"/>
              </a:rPr>
              <a:t>average wage for computer programmers</a:t>
            </a:r>
            <a:r>
              <a:rPr lang="en" sz="3000">
                <a:solidFill>
                  <a:srgbClr val="141F22"/>
                </a:solidFill>
                <a:latin typeface="Barlow Condensed"/>
                <a:ea typeface="Barlow Condensed"/>
                <a:cs typeface="Barlow Condensed"/>
                <a:sym typeface="Barlow Condensed"/>
              </a:rPr>
              <a:t> (from Bureau of </a:t>
            </a:r>
            <a:r>
              <a:rPr lang="en" sz="3000">
                <a:solidFill>
                  <a:srgbClr val="141F22"/>
                </a:solidFill>
                <a:latin typeface="Barlow Condensed"/>
                <a:ea typeface="Barlow Condensed"/>
                <a:cs typeface="Barlow Condensed"/>
                <a:sym typeface="Barlow Condensed"/>
              </a:rPr>
              <a:t>Labor Statistics (BLS) 2017 data [2])</a:t>
            </a:r>
            <a:r>
              <a:rPr lang="en" sz="3000">
                <a:solidFill>
                  <a:srgbClr val="141F22"/>
                </a:solidFill>
                <a:latin typeface="Barlow Condensed"/>
                <a:ea typeface="Barlow Condensed"/>
                <a:cs typeface="Barlow Condensed"/>
                <a:sym typeface="Barlow Condensed"/>
              </a:rPr>
              <a:t> plus additional </a:t>
            </a:r>
            <a:r>
              <a:rPr i="1" lang="en" sz="3000">
                <a:solidFill>
                  <a:srgbClr val="1155CC"/>
                </a:solidFill>
                <a:latin typeface="Barlow Condensed"/>
                <a:ea typeface="Barlow Condensed"/>
                <a:cs typeface="Barlow Condensed"/>
                <a:sym typeface="Barlow Condensed"/>
              </a:rPr>
              <a:t>intermediate input and capital services costs</a:t>
            </a:r>
            <a:r>
              <a:rPr lang="en" sz="3000">
                <a:solidFill>
                  <a:srgbClr val="141F22"/>
                </a:solidFill>
                <a:latin typeface="Barlow Condensed"/>
                <a:ea typeface="Barlow Condensed"/>
                <a:cs typeface="Barlow Condensed"/>
                <a:sym typeface="Barlow Condensed"/>
              </a:rPr>
              <a:t> (from Bureau of Economic Analysis (BEA) 2007 data [3]). The per </a:t>
            </a:r>
            <a:r>
              <a:rPr lang="en" sz="3000">
                <a:solidFill>
                  <a:srgbClr val="141F22"/>
                </a:solidFill>
                <a:latin typeface="Barlow Condensed"/>
                <a:ea typeface="Barlow Condensed"/>
                <a:cs typeface="Barlow Condensed"/>
                <a:sym typeface="Barlow Condensed"/>
              </a:rPr>
              <a:t>person month cost for OSS contribution is obtained as $18,096, which is the amount used in our cost calculations.</a:t>
            </a:r>
            <a:endParaRPr sz="3000">
              <a:solidFill>
                <a:srgbClr val="141F22"/>
              </a:solidFill>
              <a:latin typeface="Barlow Condensed"/>
              <a:ea typeface="Barlow Condensed"/>
              <a:cs typeface="Barlow Condensed"/>
              <a:sym typeface="Barlow Condensed"/>
            </a:endParaRPr>
          </a:p>
        </p:txBody>
      </p:sp>
      <p:grpSp>
        <p:nvGrpSpPr>
          <p:cNvPr id="67" name="Google Shape;67;p13"/>
          <p:cNvGrpSpPr/>
          <p:nvPr/>
        </p:nvGrpSpPr>
        <p:grpSpPr>
          <a:xfrm>
            <a:off x="8908555" y="10249727"/>
            <a:ext cx="7516159" cy="4515936"/>
            <a:chOff x="11472413" y="-2294831"/>
            <a:chExt cx="5637260" cy="3387037"/>
          </a:xfrm>
        </p:grpSpPr>
        <p:sp>
          <p:nvSpPr>
            <p:cNvPr id="68" name="Google Shape;68;p13"/>
            <p:cNvSpPr/>
            <p:nvPr/>
          </p:nvSpPr>
          <p:spPr>
            <a:xfrm>
              <a:off x="11472413" y="-2294831"/>
              <a:ext cx="3305700" cy="669000"/>
            </a:xfrm>
            <a:prstGeom prst="chevron">
              <a:avLst>
                <a:gd fmla="val 50000" name="adj"/>
              </a:avLst>
            </a:prstGeom>
            <a:solidFill>
              <a:srgbClr val="A64D79"/>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rgbClr val="FFFFFF"/>
                  </a:solidFill>
                  <a:latin typeface="Barlow Condensed"/>
                  <a:ea typeface="Barlow Condensed"/>
                  <a:cs typeface="Barlow Condensed"/>
                  <a:sym typeface="Barlow Condensed"/>
                </a:rPr>
                <a:t>Manifest File</a:t>
              </a:r>
              <a:endParaRPr sz="3000">
                <a:solidFill>
                  <a:srgbClr val="FFFFFF"/>
                </a:solidFill>
                <a:latin typeface="Barlow Condensed"/>
                <a:ea typeface="Barlow Condensed"/>
                <a:cs typeface="Barlow Condensed"/>
                <a:sym typeface="Barlow Condensed"/>
              </a:endParaRPr>
            </a:p>
          </p:txBody>
        </p:sp>
        <p:sp>
          <p:nvSpPr>
            <p:cNvPr id="69" name="Google Shape;69;p13"/>
            <p:cNvSpPr txBox="1"/>
            <p:nvPr/>
          </p:nvSpPr>
          <p:spPr>
            <a:xfrm>
              <a:off x="14526673" y="-1523494"/>
              <a:ext cx="2583000" cy="2615700"/>
            </a:xfrm>
            <a:prstGeom prst="rect">
              <a:avLst/>
            </a:prstGeom>
            <a:noFill/>
            <a:ln>
              <a:noFill/>
            </a:ln>
          </p:spPr>
          <p:txBody>
            <a:bodyPr anchorCtr="0" anchor="t" bIns="121900" lIns="121900" spcFirstLastPara="1" rIns="121900" wrap="square" tIns="121900">
              <a:noAutofit/>
            </a:bodyPr>
            <a:lstStyle/>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Information about </a:t>
              </a:r>
              <a:br>
                <a:rPr lang="en" sz="2800">
                  <a:latin typeface="Barlow Condensed"/>
                  <a:ea typeface="Barlow Condensed"/>
                  <a:cs typeface="Barlow Condensed"/>
                  <a:sym typeface="Barlow Condensed"/>
                </a:rPr>
              </a:br>
              <a:r>
                <a:rPr lang="en" sz="2800">
                  <a:latin typeface="Barlow Condensed"/>
                  <a:ea typeface="Barlow Condensed"/>
                  <a:cs typeface="Barlow Condensed"/>
                  <a:sym typeface="Barlow Condensed"/>
                </a:rPr>
                <a:t>author, maintainer, license, package status, etc.</a:t>
              </a:r>
              <a:endParaRPr sz="2800">
                <a:latin typeface="Barlow Condensed"/>
                <a:ea typeface="Barlow Condensed"/>
                <a:cs typeface="Barlow Condensed"/>
                <a:sym typeface="Barlow Condensed"/>
              </a:endParaRPr>
            </a:p>
            <a:p>
              <a:pPr indent="0" lvl="0" marL="457200" marR="0" rtl="0" algn="l">
                <a:lnSpc>
                  <a:spcPct val="100000"/>
                </a:lnSpc>
                <a:spcBef>
                  <a:spcPts val="0"/>
                </a:spcBef>
                <a:spcAft>
                  <a:spcPts val="0"/>
                </a:spcAft>
                <a:buNone/>
              </a:pPr>
              <a:r>
                <a:t/>
              </a:r>
              <a:endParaRPr sz="2800">
                <a:latin typeface="Barlow Condensed"/>
                <a:ea typeface="Barlow Condensed"/>
                <a:cs typeface="Barlow Condensed"/>
                <a:sym typeface="Barlow Condensed"/>
              </a:endParaRPr>
            </a:p>
          </p:txBody>
        </p:sp>
      </p:grpSp>
      <p:sp>
        <p:nvSpPr>
          <p:cNvPr id="70" name="Google Shape;70;p13"/>
          <p:cNvSpPr txBox="1"/>
          <p:nvPr/>
        </p:nvSpPr>
        <p:spPr>
          <a:xfrm>
            <a:off x="5155850" y="11266175"/>
            <a:ext cx="3199500" cy="2412300"/>
          </a:xfrm>
          <a:prstGeom prst="rect">
            <a:avLst/>
          </a:prstGeom>
          <a:noFill/>
          <a:ln>
            <a:noFill/>
          </a:ln>
        </p:spPr>
        <p:txBody>
          <a:bodyPr anchorCtr="0" anchor="t" bIns="121900" lIns="121900" spcFirstLastPara="1" rIns="121900" wrap="square" tIns="121900">
            <a:noAutofit/>
          </a:bodyPr>
          <a:lstStyle/>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Language-specific package managers (e.g., CRAN, PyPi)</a:t>
            </a:r>
            <a:endParaRPr sz="2800">
              <a:latin typeface="Barlow Condensed"/>
              <a:ea typeface="Barlow Condensed"/>
              <a:cs typeface="Barlow Condensed"/>
              <a:sym typeface="Barlow Condensed"/>
            </a:endParaRPr>
          </a:p>
          <a:p>
            <a:pPr indent="-406400" lvl="0" marL="457200" rtl="0">
              <a:lnSpc>
                <a:spcPct val="100000"/>
              </a:lnSpc>
              <a:spcBef>
                <a:spcPts val="0"/>
              </a:spcBef>
              <a:spcAft>
                <a:spcPts val="0"/>
              </a:spcAft>
              <a:buSzPts val="2800"/>
              <a:buFont typeface="Roboto"/>
              <a:buChar char="●"/>
            </a:pPr>
            <a:r>
              <a:rPr lang="en" sz="2800">
                <a:latin typeface="Barlow Condensed"/>
                <a:ea typeface="Barlow Condensed"/>
                <a:cs typeface="Barlow Condensed"/>
                <a:sym typeface="Barlow Condensed"/>
              </a:rPr>
              <a:t>Basic </a:t>
            </a:r>
            <a:r>
              <a:rPr lang="en" sz="2800">
                <a:solidFill>
                  <a:schemeClr val="dk1"/>
                </a:solidFill>
                <a:latin typeface="Barlow Condensed"/>
                <a:ea typeface="Barlow Condensed"/>
                <a:cs typeface="Barlow Condensed"/>
                <a:sym typeface="Barlow Condensed"/>
              </a:rPr>
              <a:t>information</a:t>
            </a:r>
            <a:r>
              <a:rPr lang="en" sz="2800">
                <a:latin typeface="Barlow Condensed"/>
                <a:ea typeface="Barlow Condensed"/>
                <a:cs typeface="Barlow Condensed"/>
                <a:sym typeface="Barlow Condensed"/>
              </a:rPr>
              <a:t> about each package is web scraped</a:t>
            </a:r>
            <a:endParaRPr sz="2800">
              <a:latin typeface="Barlow Condensed"/>
              <a:ea typeface="Barlow Condensed"/>
              <a:cs typeface="Barlow Condensed"/>
              <a:sym typeface="Barlow Condensed"/>
            </a:endParaRPr>
          </a:p>
          <a:p>
            <a:pPr indent="0" lvl="0" marL="0" rtl="0">
              <a:lnSpc>
                <a:spcPct val="115000"/>
              </a:lnSpc>
              <a:spcBef>
                <a:spcPts val="0"/>
              </a:spcBef>
              <a:spcAft>
                <a:spcPts val="0"/>
              </a:spcAft>
              <a:buNone/>
            </a:pPr>
            <a:r>
              <a:t/>
            </a:r>
            <a:endParaRPr sz="2800">
              <a:latin typeface="Barlow Condensed"/>
              <a:ea typeface="Barlow Condensed"/>
              <a:cs typeface="Barlow Condensed"/>
              <a:sym typeface="Barlow Condensed"/>
            </a:endParaRPr>
          </a:p>
          <a:p>
            <a:pPr indent="0" lvl="0" marL="0" marR="0" rtl="0" algn="l">
              <a:lnSpc>
                <a:spcPct val="100000"/>
              </a:lnSpc>
              <a:spcBef>
                <a:spcPts val="0"/>
              </a:spcBef>
              <a:spcAft>
                <a:spcPts val="0"/>
              </a:spcAft>
              <a:buNone/>
            </a:pPr>
            <a:r>
              <a:t/>
            </a:r>
            <a:endParaRPr sz="2800">
              <a:solidFill>
                <a:schemeClr val="dk1"/>
              </a:solidFill>
              <a:latin typeface="Barlow Condensed"/>
              <a:ea typeface="Barlow Condensed"/>
              <a:cs typeface="Barlow Condensed"/>
              <a:sym typeface="Barlow Condensed"/>
            </a:endParaRPr>
          </a:p>
        </p:txBody>
      </p:sp>
      <p:sp>
        <p:nvSpPr>
          <p:cNvPr id="71" name="Google Shape;71;p13"/>
          <p:cNvSpPr txBox="1"/>
          <p:nvPr/>
        </p:nvSpPr>
        <p:spPr>
          <a:xfrm>
            <a:off x="9124375" y="11306225"/>
            <a:ext cx="3746700" cy="3487500"/>
          </a:xfrm>
          <a:prstGeom prst="rect">
            <a:avLst/>
          </a:prstGeom>
          <a:noFill/>
          <a:ln>
            <a:noFill/>
          </a:ln>
        </p:spPr>
        <p:txBody>
          <a:bodyPr anchorCtr="0" anchor="t" bIns="121900" lIns="121900" spcFirstLastPara="1" rIns="121900" wrap="square" tIns="121900">
            <a:noAutofit/>
          </a:bodyPr>
          <a:lstStyle/>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Contains metadata</a:t>
            </a:r>
            <a:endParaRPr sz="2800">
              <a:latin typeface="Barlow Condensed"/>
              <a:ea typeface="Barlow Condensed"/>
              <a:cs typeface="Barlow Condensed"/>
              <a:sym typeface="Barlow Condensed"/>
            </a:endParaRPr>
          </a:p>
          <a:p>
            <a:pPr indent="-406400" lvl="1" marL="9144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Author, license, dependencies, </a:t>
            </a:r>
            <a:r>
              <a:rPr lang="en" sz="2800">
                <a:solidFill>
                  <a:schemeClr val="dk1"/>
                </a:solidFill>
                <a:latin typeface="Barlow Condensed"/>
                <a:ea typeface="Barlow Condensed"/>
                <a:cs typeface="Barlow Condensed"/>
                <a:sym typeface="Barlow Condensed"/>
              </a:rPr>
              <a:t>version, etc.</a:t>
            </a:r>
            <a:endParaRPr sz="2800">
              <a:latin typeface="Barlow Condensed"/>
              <a:ea typeface="Barlow Condensed"/>
              <a:cs typeface="Barlow Condensed"/>
              <a:sym typeface="Barlow Condensed"/>
            </a:endParaRPr>
          </a:p>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Some registries parse this information.</a:t>
            </a:r>
            <a:endParaRPr sz="2800">
              <a:latin typeface="Barlow Condensed"/>
              <a:ea typeface="Barlow Condensed"/>
              <a:cs typeface="Barlow Condensed"/>
              <a:sym typeface="Barlow Condensed"/>
            </a:endParaRPr>
          </a:p>
        </p:txBody>
      </p:sp>
      <p:pic>
        <p:nvPicPr>
          <p:cNvPr id="72" name="Google Shape;72;p13"/>
          <p:cNvPicPr preferRelativeResize="0"/>
          <p:nvPr/>
        </p:nvPicPr>
        <p:blipFill>
          <a:blip r:embed="rId6">
            <a:alphaModFix/>
          </a:blip>
          <a:stretch>
            <a:fillRect/>
          </a:stretch>
        </p:blipFill>
        <p:spPr>
          <a:xfrm>
            <a:off x="759100" y="27284903"/>
            <a:ext cx="6406323" cy="4469351"/>
          </a:xfrm>
          <a:prstGeom prst="rect">
            <a:avLst/>
          </a:prstGeom>
          <a:noFill/>
          <a:ln>
            <a:noFill/>
          </a:ln>
        </p:spPr>
      </p:pic>
      <p:grpSp>
        <p:nvGrpSpPr>
          <p:cNvPr id="73" name="Google Shape;73;p13"/>
          <p:cNvGrpSpPr/>
          <p:nvPr/>
        </p:nvGrpSpPr>
        <p:grpSpPr>
          <a:xfrm>
            <a:off x="1034650" y="10249900"/>
            <a:ext cx="4517087" cy="4479875"/>
            <a:chOff x="-139438" y="1582183"/>
            <a:chExt cx="3387900" cy="3359991"/>
          </a:xfrm>
        </p:grpSpPr>
        <p:sp>
          <p:nvSpPr>
            <p:cNvPr id="74" name="Google Shape;74;p13"/>
            <p:cNvSpPr/>
            <p:nvPr/>
          </p:nvSpPr>
          <p:spPr>
            <a:xfrm>
              <a:off x="-139438" y="1582183"/>
              <a:ext cx="3387900" cy="669000"/>
            </a:xfrm>
            <a:prstGeom prst="homePlate">
              <a:avLst>
                <a:gd fmla="val 50000" name="adj"/>
              </a:avLst>
            </a:prstGeom>
            <a:solidFill>
              <a:srgbClr val="4C113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rgbClr val="FFFFFF"/>
                  </a:solidFill>
                  <a:latin typeface="Barlow Condensed"/>
                  <a:ea typeface="Barlow Condensed"/>
                  <a:cs typeface="Barlow Condensed"/>
                  <a:sym typeface="Barlow Condensed"/>
                </a:rPr>
                <a:t>OSS Definition</a:t>
              </a:r>
              <a:endParaRPr sz="3000">
                <a:solidFill>
                  <a:srgbClr val="FFFFFF"/>
                </a:solidFill>
                <a:latin typeface="Barlow Condensed"/>
                <a:ea typeface="Barlow Condensed"/>
                <a:cs typeface="Barlow Condensed"/>
                <a:sym typeface="Barlow Condensed"/>
              </a:endParaRPr>
            </a:p>
          </p:txBody>
        </p:sp>
        <p:sp>
          <p:nvSpPr>
            <p:cNvPr id="75" name="Google Shape;75;p13"/>
            <p:cNvSpPr txBox="1"/>
            <p:nvPr/>
          </p:nvSpPr>
          <p:spPr>
            <a:xfrm>
              <a:off x="-139438" y="2326474"/>
              <a:ext cx="2872200" cy="2615700"/>
            </a:xfrm>
            <a:prstGeom prst="rect">
              <a:avLst/>
            </a:prstGeom>
            <a:noFill/>
            <a:ln>
              <a:noFill/>
            </a:ln>
          </p:spPr>
          <p:txBody>
            <a:bodyPr anchorCtr="0" anchor="t" bIns="121900" lIns="121900" spcFirstLastPara="1" rIns="121900" wrap="square" tIns="121900">
              <a:noAutofit/>
            </a:bodyPr>
            <a:lstStyle/>
            <a:p>
              <a:pPr indent="-406400" lvl="0" marL="457200" rtl="0">
                <a:spcBef>
                  <a:spcPts val="0"/>
                </a:spcBef>
                <a:spcAft>
                  <a:spcPts val="0"/>
                </a:spcAft>
                <a:buClr>
                  <a:schemeClr val="dk1"/>
                </a:buClr>
                <a:buSzPts val="2800"/>
                <a:buFont typeface="Barlow Condensed"/>
                <a:buChar char="●"/>
              </a:pPr>
              <a:r>
                <a:rPr lang="en" sz="2800">
                  <a:solidFill>
                    <a:schemeClr val="dk1"/>
                  </a:solidFill>
                  <a:latin typeface="Barlow Condensed"/>
                  <a:ea typeface="Barlow Condensed"/>
                  <a:cs typeface="Barlow Condensed"/>
                  <a:sym typeface="Barlow Condensed"/>
                </a:rPr>
                <a:t>Open Source Initiative (OSI)-Approved License</a:t>
              </a:r>
              <a:endParaRPr sz="2800">
                <a:solidFill>
                  <a:schemeClr val="dk1"/>
                </a:solidFill>
                <a:latin typeface="Barlow Condensed"/>
                <a:ea typeface="Barlow Condensed"/>
                <a:cs typeface="Barlow Condensed"/>
                <a:sym typeface="Barlow Condensed"/>
              </a:endParaRPr>
            </a:p>
            <a:p>
              <a:pPr indent="-406400" lvl="0" marL="457200" rtl="0">
                <a:spcBef>
                  <a:spcPts val="0"/>
                </a:spcBef>
                <a:spcAft>
                  <a:spcPts val="0"/>
                </a:spcAft>
                <a:buClr>
                  <a:schemeClr val="dk1"/>
                </a:buClr>
                <a:buSzPts val="2800"/>
                <a:buFont typeface="Barlow Condensed"/>
                <a:buChar char="●"/>
              </a:pPr>
              <a:r>
                <a:rPr lang="en" sz="2800">
                  <a:solidFill>
                    <a:schemeClr val="dk1"/>
                  </a:solidFill>
                  <a:latin typeface="Barlow Condensed"/>
                  <a:ea typeface="Barlow Condensed"/>
                  <a:cs typeface="Barlow Condensed"/>
                  <a:sym typeface="Barlow Condensed"/>
                </a:rPr>
                <a:t>Production Ready Release for Current Ecosystem</a:t>
              </a:r>
              <a:endParaRPr sz="2800">
                <a:latin typeface="Barlow Condensed"/>
                <a:ea typeface="Barlow Condensed"/>
                <a:cs typeface="Barlow Condensed"/>
                <a:sym typeface="Barlow Condensed"/>
              </a:endParaRPr>
            </a:p>
            <a:p>
              <a:pPr indent="0" lvl="0" marL="0" rtl="0">
                <a:lnSpc>
                  <a:spcPct val="115000"/>
                </a:lnSpc>
                <a:spcBef>
                  <a:spcPts val="0"/>
                </a:spcBef>
                <a:spcAft>
                  <a:spcPts val="0"/>
                </a:spcAft>
                <a:buNone/>
              </a:pPr>
              <a:r>
                <a:t/>
              </a:r>
              <a:endParaRPr sz="2800">
                <a:latin typeface="Barlow Condensed"/>
                <a:ea typeface="Barlow Condensed"/>
                <a:cs typeface="Barlow Condensed"/>
                <a:sym typeface="Barlow Condensed"/>
              </a:endParaRPr>
            </a:p>
            <a:p>
              <a:pPr indent="0" lvl="0" marL="0" rtl="0">
                <a:lnSpc>
                  <a:spcPct val="115000"/>
                </a:lnSpc>
                <a:spcBef>
                  <a:spcPts val="0"/>
                </a:spcBef>
                <a:spcAft>
                  <a:spcPts val="0"/>
                </a:spcAft>
                <a:buNone/>
              </a:pPr>
              <a:r>
                <a:t/>
              </a:r>
              <a:endParaRPr sz="2800">
                <a:latin typeface="Barlow Condensed"/>
                <a:ea typeface="Barlow Condensed"/>
                <a:cs typeface="Barlow Condensed"/>
                <a:sym typeface="Barlow Condensed"/>
              </a:endParaRPr>
            </a:p>
          </p:txBody>
        </p:sp>
      </p:grpSp>
      <p:sp>
        <p:nvSpPr>
          <p:cNvPr id="76" name="Google Shape;76;p13"/>
          <p:cNvSpPr txBox="1"/>
          <p:nvPr/>
        </p:nvSpPr>
        <p:spPr>
          <a:xfrm>
            <a:off x="16606950" y="11242325"/>
            <a:ext cx="6114300" cy="2436300"/>
          </a:xfrm>
          <a:prstGeom prst="rect">
            <a:avLst/>
          </a:prstGeom>
          <a:noFill/>
          <a:ln>
            <a:noFill/>
          </a:ln>
        </p:spPr>
        <p:txBody>
          <a:bodyPr anchorCtr="0" anchor="t" bIns="121900" lIns="121900" spcFirstLastPara="1" rIns="121900" wrap="square" tIns="121900">
            <a:noAutofit/>
          </a:bodyPr>
          <a:lstStyle/>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For the latest release of the package</a:t>
            </a:r>
            <a:endParaRPr sz="2800">
              <a:latin typeface="Barlow Condensed"/>
              <a:ea typeface="Barlow Condensed"/>
              <a:cs typeface="Barlow Condensed"/>
              <a:sym typeface="Barlow Condensed"/>
            </a:endParaRPr>
          </a:p>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Top 100 contributors by commits</a:t>
            </a:r>
            <a:endParaRPr sz="2800">
              <a:latin typeface="Barlow Condensed"/>
              <a:ea typeface="Barlow Condensed"/>
              <a:cs typeface="Barlow Condensed"/>
              <a:sym typeface="Barlow Condensed"/>
            </a:endParaRPr>
          </a:p>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Timestamped lines of code (LoC)</a:t>
            </a:r>
            <a:endParaRPr sz="2800">
              <a:latin typeface="Barlow Condensed"/>
              <a:ea typeface="Barlow Condensed"/>
              <a:cs typeface="Barlow Condensed"/>
              <a:sym typeface="Barlow Condensed"/>
            </a:endParaRPr>
          </a:p>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Number and time of commits</a:t>
            </a:r>
            <a:endParaRPr sz="2800">
              <a:latin typeface="Barlow Condensed"/>
              <a:ea typeface="Barlow Condensed"/>
              <a:cs typeface="Barlow Condensed"/>
              <a:sym typeface="Barlow Condensed"/>
            </a:endParaRPr>
          </a:p>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Profile of contributors</a:t>
            </a:r>
            <a:endParaRPr sz="2800">
              <a:latin typeface="Barlow Condensed"/>
              <a:ea typeface="Barlow Condensed"/>
              <a:cs typeface="Barlow Condensed"/>
              <a:sym typeface="Barlow Condensed"/>
            </a:endParaRPr>
          </a:p>
          <a:p>
            <a:pPr indent="-406400" lvl="0" marL="457200" rtl="0">
              <a:lnSpc>
                <a:spcPct val="100000"/>
              </a:lnSpc>
              <a:spcBef>
                <a:spcPts val="0"/>
              </a:spcBef>
              <a:spcAft>
                <a:spcPts val="0"/>
              </a:spcAft>
              <a:buSzPts val="2800"/>
              <a:buFont typeface="Barlow Condensed"/>
              <a:buChar char="●"/>
            </a:pPr>
            <a:r>
              <a:rPr lang="en" sz="2800">
                <a:latin typeface="Barlow Condensed"/>
                <a:ea typeface="Barlow Condensed"/>
                <a:cs typeface="Barlow Condensed"/>
                <a:sym typeface="Barlow Condensed"/>
              </a:rPr>
              <a:t>Continuous integration</a:t>
            </a:r>
            <a:endParaRPr sz="2800">
              <a:latin typeface="Barlow Condensed"/>
              <a:ea typeface="Barlow Condensed"/>
              <a:cs typeface="Barlow Condensed"/>
              <a:sym typeface="Barlow Condensed"/>
            </a:endParaRPr>
          </a:p>
        </p:txBody>
      </p:sp>
      <p:graphicFrame>
        <p:nvGraphicFramePr>
          <p:cNvPr id="77" name="Google Shape;77;p13"/>
          <p:cNvGraphicFramePr/>
          <p:nvPr/>
        </p:nvGraphicFramePr>
        <p:xfrm>
          <a:off x="23334700" y="9824713"/>
          <a:ext cx="3000000" cy="3000000"/>
        </p:xfrm>
        <a:graphic>
          <a:graphicData uri="http://schemas.openxmlformats.org/drawingml/2006/table">
            <a:tbl>
              <a:tblPr>
                <a:noFill/>
                <a:tableStyleId>{C6DD30A3-820F-4D0C-8FA5-698A64A25110}</a:tableStyleId>
              </a:tblPr>
              <a:tblGrid>
                <a:gridCol w="1521925"/>
                <a:gridCol w="1769100"/>
                <a:gridCol w="1563125"/>
                <a:gridCol w="2501250"/>
                <a:gridCol w="1613500"/>
              </a:tblGrid>
              <a:tr h="590450">
                <a:tc gridSpan="5">
                  <a:txBody>
                    <a:bodyPr>
                      <a:noAutofit/>
                    </a:bodyPr>
                    <a:lstStyle/>
                    <a:p>
                      <a:pPr indent="0" lvl="0" marL="0" marR="0" rtl="0" algn="ctr">
                        <a:lnSpc>
                          <a:spcPct val="100000"/>
                        </a:lnSpc>
                        <a:spcBef>
                          <a:spcPts val="0"/>
                        </a:spcBef>
                        <a:spcAft>
                          <a:spcPts val="0"/>
                        </a:spcAft>
                        <a:buNone/>
                      </a:pPr>
                      <a:r>
                        <a:rPr b="1" lang="en" sz="2800">
                          <a:solidFill>
                            <a:srgbClr val="141F22"/>
                          </a:solidFill>
                          <a:latin typeface="Barlow Condensed"/>
                          <a:ea typeface="Barlow Condensed"/>
                          <a:cs typeface="Barlow Condensed"/>
                          <a:sym typeface="Barlow Condensed"/>
                        </a:rPr>
                        <a:t>Data Collection</a:t>
                      </a:r>
                      <a:endParaRPr b="1" sz="2800">
                        <a:solidFill>
                          <a:srgbClr val="141F22"/>
                        </a:solidFill>
                        <a:latin typeface="Barlow Condensed"/>
                        <a:ea typeface="Barlow Condensed"/>
                        <a:cs typeface="Barlow Condensed"/>
                        <a:sym typeface="Barlow Condensed"/>
                      </a:endParaRPr>
                    </a:p>
                  </a:txBody>
                  <a:tcPr marT="91425" marB="91425" marR="91425" marL="91425"/>
                </a:tc>
                <a:tc hMerge="1"/>
                <a:tc hMerge="1"/>
                <a:tc hMerge="1"/>
                <a:tc hMerge="1"/>
              </a:tr>
              <a:tr h="1161950">
                <a:tc>
                  <a:txBody>
                    <a:bodyPr>
                      <a:noAutofit/>
                    </a:bodyPr>
                    <a:lstStyle/>
                    <a:p>
                      <a:pPr indent="0" lvl="0" marL="0" marR="0" rtl="0" algn="ctr">
                        <a:lnSpc>
                          <a:spcPct val="100000"/>
                        </a:lnSpc>
                        <a:spcBef>
                          <a:spcPts val="0"/>
                        </a:spcBef>
                        <a:spcAft>
                          <a:spcPts val="0"/>
                        </a:spcAft>
                        <a:buNone/>
                      </a:pPr>
                      <a:r>
                        <a:rPr b="1" lang="en" sz="2800">
                          <a:solidFill>
                            <a:srgbClr val="666666"/>
                          </a:solidFill>
                          <a:latin typeface="Barlow Condensed"/>
                          <a:ea typeface="Barlow Condensed"/>
                          <a:cs typeface="Barlow Condensed"/>
                          <a:sym typeface="Barlow Condensed"/>
                        </a:rPr>
                        <a:t>Language</a:t>
                      </a:r>
                      <a:endParaRPr b="1" sz="2800">
                        <a:solidFill>
                          <a:srgbClr val="666666"/>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marR="0" rtl="0" algn="ctr">
                        <a:lnSpc>
                          <a:spcPct val="100000"/>
                        </a:lnSpc>
                        <a:spcBef>
                          <a:spcPts val="0"/>
                        </a:spcBef>
                        <a:spcAft>
                          <a:spcPts val="0"/>
                        </a:spcAft>
                        <a:buNone/>
                      </a:pPr>
                      <a:r>
                        <a:rPr b="1" lang="en" sz="2800">
                          <a:solidFill>
                            <a:srgbClr val="666666"/>
                          </a:solidFill>
                          <a:latin typeface="Barlow Condensed"/>
                          <a:ea typeface="Barlow Condensed"/>
                          <a:cs typeface="Barlow Condensed"/>
                          <a:sym typeface="Barlow Condensed"/>
                        </a:rPr>
                        <a:t>Package manager</a:t>
                      </a:r>
                      <a:endParaRPr b="1" sz="2800">
                        <a:solidFill>
                          <a:srgbClr val="666666"/>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 sz="2800">
                          <a:solidFill>
                            <a:srgbClr val="666666"/>
                          </a:solidFill>
                          <a:latin typeface="Barlow Condensed"/>
                          <a:ea typeface="Barlow Condensed"/>
                          <a:cs typeface="Barlow Condensed"/>
                          <a:sym typeface="Barlow Condensed"/>
                        </a:rPr>
                        <a:t>Number of packages</a:t>
                      </a:r>
                      <a:endParaRPr b="1" sz="2800">
                        <a:solidFill>
                          <a:srgbClr val="666666"/>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 sz="2800">
                          <a:solidFill>
                            <a:srgbClr val="666666"/>
                          </a:solidFill>
                          <a:latin typeface="Barlow Condensed"/>
                          <a:ea typeface="Barlow Condensed"/>
                          <a:cs typeface="Barlow Condensed"/>
                          <a:sym typeface="Barlow Condensed"/>
                        </a:rPr>
                        <a:t>OSI-approved  &amp; production ready</a:t>
                      </a:r>
                      <a:endParaRPr b="1" sz="2800">
                        <a:solidFill>
                          <a:srgbClr val="666666"/>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b="1" lang="en" sz="2800">
                          <a:solidFill>
                            <a:srgbClr val="666666"/>
                          </a:solidFill>
                          <a:latin typeface="Barlow Condensed"/>
                          <a:ea typeface="Barlow Condensed"/>
                          <a:cs typeface="Barlow Condensed"/>
                          <a:sym typeface="Barlow Condensed"/>
                        </a:rPr>
                        <a:t>Packages on Github</a:t>
                      </a:r>
                      <a:endParaRPr b="1" sz="2800">
                        <a:solidFill>
                          <a:srgbClr val="666666"/>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6475">
                <a:tc>
                  <a:txBody>
                    <a:bodyPr>
                      <a:noAutofit/>
                    </a:bodyPr>
                    <a:lstStyle/>
                    <a:p>
                      <a:pPr indent="0" lvl="0" marL="0" marR="0" rtl="0" algn="l">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R</a:t>
                      </a:r>
                      <a:endParaRPr sz="2600">
                        <a:solidFill>
                          <a:srgbClr val="141F22"/>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CRAN</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12,614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11,886</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3,396</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2300">
                <a:tc>
                  <a:txBody>
                    <a:bodyPr>
                      <a:noAutofit/>
                    </a:bodyPr>
                    <a:lstStyle/>
                    <a:p>
                      <a:pPr indent="0" lvl="0" marL="0" marR="0" rtl="0" algn="l">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Python</a:t>
                      </a:r>
                      <a:endParaRPr sz="2600">
                        <a:solidFill>
                          <a:srgbClr val="141F22"/>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PyPi</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143,047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7,392</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3,804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2300">
                <a:tc>
                  <a:txBody>
                    <a:bodyPr>
                      <a:noAutofit/>
                    </a:bodyPr>
                    <a:lstStyle/>
                    <a:p>
                      <a:pPr indent="0" lvl="0" marL="0" marR="0" rtl="0" algn="l">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Julia</a:t>
                      </a:r>
                      <a:endParaRPr sz="2600">
                        <a:solidFill>
                          <a:srgbClr val="141F22"/>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Pkg.jl</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2,040</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1,324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1,324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59475">
                <a:tc>
                  <a:txBody>
                    <a:bodyPr>
                      <a:noAutofit/>
                    </a:bodyPr>
                    <a:lstStyle/>
                    <a:p>
                      <a:pPr indent="0" lvl="0" marL="0" rtl="0">
                        <a:spcBef>
                          <a:spcPts val="0"/>
                        </a:spcBef>
                        <a:spcAft>
                          <a:spcPts val="0"/>
                        </a:spcAft>
                        <a:buNone/>
                      </a:pPr>
                      <a:r>
                        <a:rPr lang="en" sz="2600">
                          <a:solidFill>
                            <a:srgbClr val="141F22"/>
                          </a:solidFill>
                          <a:latin typeface="Barlow Condensed"/>
                          <a:ea typeface="Barlow Condensed"/>
                          <a:cs typeface="Barlow Condensed"/>
                          <a:sym typeface="Barlow Condensed"/>
                        </a:rPr>
                        <a:t>JavaScript</a:t>
                      </a:r>
                      <a:endParaRPr sz="2600">
                        <a:solidFill>
                          <a:srgbClr val="141F22"/>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CDNJS</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3,367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3,367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3,213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78" name="Google Shape;78;p13"/>
          <p:cNvSpPr txBox="1"/>
          <p:nvPr/>
        </p:nvSpPr>
        <p:spPr>
          <a:xfrm>
            <a:off x="7078850" y="9486725"/>
            <a:ext cx="5151000" cy="697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b="1" lang="en" sz="3000">
                <a:solidFill>
                  <a:srgbClr val="141F22"/>
                </a:solidFill>
                <a:latin typeface="Barlow Condensed"/>
                <a:ea typeface="Barlow Condensed"/>
                <a:cs typeface="Barlow Condensed"/>
                <a:sym typeface="Barlow Condensed"/>
              </a:rPr>
              <a:t>DATA COLLECTION STRATEGY</a:t>
            </a:r>
            <a:endParaRPr b="1" sz="3000">
              <a:solidFill>
                <a:srgbClr val="141F22"/>
              </a:solidFill>
              <a:latin typeface="Barlow Condensed"/>
              <a:ea typeface="Barlow Condensed"/>
              <a:cs typeface="Barlow Condensed"/>
              <a:sym typeface="Barlow Condensed"/>
            </a:endParaRPr>
          </a:p>
        </p:txBody>
      </p:sp>
      <p:sp>
        <p:nvSpPr>
          <p:cNvPr id="79" name="Google Shape;79;p13"/>
          <p:cNvSpPr/>
          <p:nvPr/>
        </p:nvSpPr>
        <p:spPr>
          <a:xfrm>
            <a:off x="12794755" y="10249727"/>
            <a:ext cx="4407600" cy="891900"/>
          </a:xfrm>
          <a:prstGeom prst="chevron">
            <a:avLst>
              <a:gd fmla="val 50000" name="adj"/>
            </a:avLst>
          </a:prstGeom>
          <a:solidFill>
            <a:srgbClr val="C27BA0"/>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rgbClr val="FFFFFF"/>
                </a:solidFill>
                <a:latin typeface="Barlow Condensed"/>
                <a:ea typeface="Barlow Condensed"/>
                <a:cs typeface="Barlow Condensed"/>
                <a:sym typeface="Barlow Condensed"/>
              </a:rPr>
              <a:t>Repository</a:t>
            </a:r>
            <a:endParaRPr sz="3000">
              <a:solidFill>
                <a:srgbClr val="FFFFFF"/>
              </a:solidFill>
              <a:latin typeface="Barlow Condensed"/>
              <a:ea typeface="Barlow Condensed"/>
              <a:cs typeface="Barlow Condensed"/>
              <a:sym typeface="Barlow Condensed"/>
            </a:endParaRPr>
          </a:p>
        </p:txBody>
      </p:sp>
      <p:pic>
        <p:nvPicPr>
          <p:cNvPr id="80" name="Google Shape;80;p13"/>
          <p:cNvPicPr preferRelativeResize="0"/>
          <p:nvPr/>
        </p:nvPicPr>
        <p:blipFill>
          <a:blip r:embed="rId7">
            <a:alphaModFix/>
          </a:blip>
          <a:stretch>
            <a:fillRect/>
          </a:stretch>
        </p:blipFill>
        <p:spPr>
          <a:xfrm>
            <a:off x="10971875" y="15863624"/>
            <a:ext cx="4998893" cy="3487500"/>
          </a:xfrm>
          <a:prstGeom prst="rect">
            <a:avLst/>
          </a:prstGeom>
          <a:noFill/>
          <a:ln>
            <a:noFill/>
          </a:ln>
        </p:spPr>
      </p:pic>
      <p:pic>
        <p:nvPicPr>
          <p:cNvPr id="81" name="Google Shape;81;p13"/>
          <p:cNvPicPr preferRelativeResize="0"/>
          <p:nvPr/>
        </p:nvPicPr>
        <p:blipFill>
          <a:blip r:embed="rId8">
            <a:alphaModFix/>
          </a:blip>
          <a:stretch>
            <a:fillRect/>
          </a:stretch>
        </p:blipFill>
        <p:spPr>
          <a:xfrm>
            <a:off x="10913200" y="19966161"/>
            <a:ext cx="5151000" cy="3593590"/>
          </a:xfrm>
          <a:prstGeom prst="rect">
            <a:avLst/>
          </a:prstGeom>
          <a:noFill/>
          <a:ln>
            <a:noFill/>
          </a:ln>
        </p:spPr>
      </p:pic>
      <p:sp>
        <p:nvSpPr>
          <p:cNvPr id="82" name="Google Shape;82;p13"/>
          <p:cNvSpPr/>
          <p:nvPr/>
        </p:nvSpPr>
        <p:spPr>
          <a:xfrm>
            <a:off x="10729225" y="15791975"/>
            <a:ext cx="5241550" cy="8162925"/>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83" name="Google Shape;83;p13"/>
          <p:cNvSpPr txBox="1"/>
          <p:nvPr/>
        </p:nvSpPr>
        <p:spPr>
          <a:xfrm>
            <a:off x="16316975" y="15636975"/>
            <a:ext cx="10620300" cy="22041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3000">
                <a:solidFill>
                  <a:srgbClr val="141F22"/>
                </a:solidFill>
                <a:latin typeface="Barlow Condensed"/>
                <a:ea typeface="Barlow Condensed"/>
                <a:cs typeface="Barlow Condensed"/>
                <a:sym typeface="Barlow Condensed"/>
              </a:rPr>
              <a:t>We use reverse dependencies of packages as the measure of impact/value. </a:t>
            </a:r>
            <a:br>
              <a:rPr lang="en" sz="3000">
                <a:solidFill>
                  <a:srgbClr val="141F22"/>
                </a:solidFill>
                <a:latin typeface="Barlow Condensed"/>
                <a:ea typeface="Barlow Condensed"/>
                <a:cs typeface="Barlow Condensed"/>
                <a:sym typeface="Barlow Condensed"/>
              </a:rPr>
            </a:br>
            <a:r>
              <a:rPr lang="en" sz="3000">
                <a:solidFill>
                  <a:srgbClr val="141F22"/>
                </a:solidFill>
                <a:latin typeface="Barlow Condensed"/>
                <a:ea typeface="Barlow Condensed"/>
                <a:cs typeface="Barlow Condensed"/>
                <a:sym typeface="Barlow Condensed"/>
              </a:rPr>
              <a:t>We obtain the dependency information from manifest files to generate the dependency network where a directed edge </a:t>
            </a:r>
            <a:r>
              <a:rPr i="1" lang="en" sz="3000">
                <a:solidFill>
                  <a:srgbClr val="141F22"/>
                </a:solidFill>
                <a:latin typeface="Barlow Condensed"/>
                <a:ea typeface="Barlow Condensed"/>
                <a:cs typeface="Barlow Condensed"/>
                <a:sym typeface="Barlow Condensed"/>
              </a:rPr>
              <a:t>i</a:t>
            </a:r>
            <a:r>
              <a:rPr lang="en" sz="3000">
                <a:solidFill>
                  <a:srgbClr val="141F22"/>
                </a:solidFill>
                <a:latin typeface="Barlow Condensed"/>
                <a:ea typeface="Barlow Condensed"/>
                <a:cs typeface="Barlow Condensed"/>
                <a:sym typeface="Barlow Condensed"/>
              </a:rPr>
              <a:t> → </a:t>
            </a:r>
            <a:r>
              <a:rPr i="1" lang="en" sz="3000">
                <a:solidFill>
                  <a:srgbClr val="141F22"/>
                </a:solidFill>
                <a:latin typeface="Barlow Condensed"/>
                <a:ea typeface="Barlow Condensed"/>
                <a:cs typeface="Barlow Condensed"/>
                <a:sym typeface="Barlow Condensed"/>
              </a:rPr>
              <a:t>j</a:t>
            </a:r>
            <a:r>
              <a:rPr lang="en" sz="3000">
                <a:solidFill>
                  <a:srgbClr val="141F22"/>
                </a:solidFill>
                <a:latin typeface="Barlow Condensed"/>
                <a:ea typeface="Barlow Condensed"/>
                <a:cs typeface="Barlow Condensed"/>
                <a:sym typeface="Barlow Condensed"/>
              </a:rPr>
              <a:t> indicates that the package </a:t>
            </a:r>
            <a:r>
              <a:rPr i="1" lang="en" sz="3000">
                <a:solidFill>
                  <a:srgbClr val="141F22"/>
                </a:solidFill>
                <a:latin typeface="Barlow Condensed"/>
                <a:ea typeface="Barlow Condensed"/>
                <a:cs typeface="Barlow Condensed"/>
                <a:sym typeface="Barlow Condensed"/>
              </a:rPr>
              <a:t>j</a:t>
            </a:r>
            <a:r>
              <a:rPr lang="en" sz="3000">
                <a:solidFill>
                  <a:srgbClr val="141F22"/>
                </a:solidFill>
                <a:latin typeface="Barlow Condensed"/>
                <a:ea typeface="Barlow Condensed"/>
                <a:cs typeface="Barlow Condensed"/>
                <a:sym typeface="Barlow Condensed"/>
              </a:rPr>
              <a:t> requires </a:t>
            </a:r>
            <a:r>
              <a:rPr i="1" lang="en" sz="3000">
                <a:solidFill>
                  <a:srgbClr val="141F22"/>
                </a:solidFill>
                <a:latin typeface="Barlow Condensed"/>
                <a:ea typeface="Barlow Condensed"/>
                <a:cs typeface="Barlow Condensed"/>
                <a:sym typeface="Barlow Condensed"/>
              </a:rPr>
              <a:t>i</a:t>
            </a:r>
            <a:r>
              <a:rPr lang="en" sz="3000">
                <a:solidFill>
                  <a:srgbClr val="141F22"/>
                </a:solidFill>
                <a:latin typeface="Barlow Condensed"/>
                <a:ea typeface="Barlow Condensed"/>
                <a:cs typeface="Barlow Condensed"/>
                <a:sym typeface="Barlow Condensed"/>
              </a:rPr>
              <a:t> to be installed to function. Packages with no edges </a:t>
            </a:r>
            <a:br>
              <a:rPr lang="en" sz="3000">
                <a:solidFill>
                  <a:srgbClr val="141F22"/>
                </a:solidFill>
                <a:latin typeface="Barlow Condensed"/>
                <a:ea typeface="Barlow Condensed"/>
                <a:cs typeface="Barlow Condensed"/>
                <a:sym typeface="Barlow Condensed"/>
              </a:rPr>
            </a:br>
            <a:r>
              <a:rPr lang="en" sz="3000">
                <a:solidFill>
                  <a:srgbClr val="141F22"/>
                </a:solidFill>
                <a:latin typeface="Barlow Condensed"/>
                <a:ea typeface="Barlow Condensed"/>
                <a:cs typeface="Barlow Condensed"/>
                <a:sym typeface="Barlow Condensed"/>
              </a:rPr>
              <a:t>(i.e., dependency links) are removed from the network. </a:t>
            </a:r>
            <a:endParaRPr sz="3000">
              <a:latin typeface="Barlow Condensed"/>
              <a:ea typeface="Barlow Condensed"/>
              <a:cs typeface="Barlow Condensed"/>
              <a:sym typeface="Barlow Condensed"/>
            </a:endParaRPr>
          </a:p>
        </p:txBody>
      </p:sp>
      <p:graphicFrame>
        <p:nvGraphicFramePr>
          <p:cNvPr id="84" name="Google Shape;84;p13"/>
          <p:cNvGraphicFramePr/>
          <p:nvPr/>
        </p:nvGraphicFramePr>
        <p:xfrm>
          <a:off x="16316975" y="18120050"/>
          <a:ext cx="3000000" cy="3000000"/>
        </p:xfrm>
        <a:graphic>
          <a:graphicData uri="http://schemas.openxmlformats.org/drawingml/2006/table">
            <a:tbl>
              <a:tblPr>
                <a:noFill/>
                <a:tableStyleId>{C6DD30A3-820F-4D0C-8FA5-698A64A25110}</a:tableStyleId>
              </a:tblPr>
              <a:tblGrid>
                <a:gridCol w="1496325"/>
                <a:gridCol w="1106050"/>
                <a:gridCol w="1157925"/>
                <a:gridCol w="1107125"/>
                <a:gridCol w="1204725"/>
                <a:gridCol w="1882200"/>
                <a:gridCol w="2062425"/>
                <a:gridCol w="1925900"/>
              </a:tblGrid>
              <a:tr h="543575">
                <a:tc gridSpan="8">
                  <a:txBody>
                    <a:bodyPr>
                      <a:noAutofit/>
                    </a:bodyPr>
                    <a:lstStyle/>
                    <a:p>
                      <a:pPr indent="0" lvl="0" marL="0" marR="0" rtl="0" algn="ctr">
                        <a:lnSpc>
                          <a:spcPct val="100000"/>
                        </a:lnSpc>
                        <a:spcBef>
                          <a:spcPts val="0"/>
                        </a:spcBef>
                        <a:spcAft>
                          <a:spcPts val="0"/>
                        </a:spcAft>
                        <a:buNone/>
                      </a:pPr>
                      <a:r>
                        <a:rPr b="1" lang="en" sz="2800">
                          <a:solidFill>
                            <a:srgbClr val="141F22"/>
                          </a:solidFill>
                          <a:latin typeface="Barlow Condensed"/>
                          <a:ea typeface="Barlow Condensed"/>
                          <a:cs typeface="Barlow Condensed"/>
                          <a:sym typeface="Barlow Condensed"/>
                        </a:rPr>
                        <a:t>Dependency Network Characteristics</a:t>
                      </a:r>
                      <a:endParaRPr b="1" sz="2800">
                        <a:solidFill>
                          <a:srgbClr val="141F22"/>
                        </a:solidFill>
                        <a:latin typeface="Barlow Condensed"/>
                        <a:ea typeface="Barlow Condensed"/>
                        <a:cs typeface="Barlow Condensed"/>
                        <a:sym typeface="Barlow Condensed"/>
                      </a:endParaRPr>
                    </a:p>
                  </a:txBody>
                  <a:tcPr marT="91425" marB="91425" marR="91425" marL="91425"/>
                </a:tc>
                <a:tc hMerge="1"/>
                <a:tc hMerge="1"/>
                <a:tc hMerge="1"/>
                <a:tc hMerge="1"/>
                <a:tc hMerge="1"/>
                <a:tc hMerge="1"/>
                <a:tc hMerge="1"/>
              </a:tr>
              <a:tr h="543575">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Language</a:t>
                      </a:r>
                      <a:endParaRPr sz="2600">
                        <a:solidFill>
                          <a:srgbClr val="141F22"/>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#Nodes</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lang="en" sz="2600">
                          <a:solidFill>
                            <a:srgbClr val="141F22"/>
                          </a:solidFill>
                          <a:latin typeface="Barlow Condensed"/>
                          <a:ea typeface="Barlow Condensed"/>
                          <a:cs typeface="Barlow Condensed"/>
                          <a:sym typeface="Barlow Condensed"/>
                        </a:rPr>
                        <a:t>#Edges</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Average degree</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Diameter</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 Connected Components</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Largest Component Size</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 Communities</a:t>
                      </a:r>
                      <a:endParaRPr sz="2600">
                        <a:solidFill>
                          <a:srgbClr val="141F22"/>
                        </a:solidFill>
                        <a:latin typeface="Barlow Condensed"/>
                        <a:ea typeface="Barlow Condensed"/>
                        <a:cs typeface="Barlow Condensed"/>
                        <a:sym typeface="Barlow Condensed"/>
                      </a:endParaRPr>
                    </a:p>
                    <a:p>
                      <a:pPr indent="0" lvl="0" marL="0" marR="0" rtl="0" algn="ct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(Modularity)</a:t>
                      </a:r>
                      <a:endParaRPr sz="2600">
                        <a:solidFill>
                          <a:srgbClr val="141F22"/>
                        </a:solidFill>
                        <a:latin typeface="Barlow Condensed"/>
                        <a:ea typeface="Barlow Condensed"/>
                        <a:cs typeface="Barlow Condensed"/>
                        <a:sym typeface="Barlow Condensed"/>
                      </a:endParaRPr>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6475">
                <a:tc>
                  <a:txBody>
                    <a:bodyPr>
                      <a:noAutofit/>
                    </a:bodyPr>
                    <a:lstStyle/>
                    <a:p>
                      <a:pPr indent="0" lvl="0" marL="0" marR="0" rtl="0" algn="l">
                        <a:lnSpc>
                          <a:spcPct val="100000"/>
                        </a:lnSpc>
                        <a:spcBef>
                          <a:spcPts val="0"/>
                        </a:spcBef>
                        <a:spcAft>
                          <a:spcPts val="0"/>
                        </a:spcAft>
                        <a:buNone/>
                      </a:pPr>
                      <a:r>
                        <a:rPr b="1" lang="en" sz="2600">
                          <a:solidFill>
                            <a:srgbClr val="666666"/>
                          </a:solidFill>
                          <a:latin typeface="Barlow Condensed"/>
                          <a:ea typeface="Barlow Condensed"/>
                          <a:cs typeface="Barlow Condensed"/>
                          <a:sym typeface="Barlow Condensed"/>
                        </a:rPr>
                        <a:t>R*</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6,684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22,024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3.29</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334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6,303 (94.3%)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351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2300">
                <a:tc>
                  <a:txBody>
                    <a:bodyPr>
                      <a:noAutofit/>
                    </a:bodyPr>
                    <a:lstStyle/>
                    <a:p>
                      <a:pPr indent="0" lvl="0" marL="0" marR="0" rtl="0" algn="l">
                        <a:lnSpc>
                          <a:spcPct val="100000"/>
                        </a:lnSpc>
                        <a:spcBef>
                          <a:spcPts val="0"/>
                        </a:spcBef>
                        <a:spcAft>
                          <a:spcPts val="0"/>
                        </a:spcAft>
                        <a:buNone/>
                      </a:pPr>
                      <a:r>
                        <a:rPr b="1" lang="en" sz="2600">
                          <a:solidFill>
                            <a:srgbClr val="666666"/>
                          </a:solidFill>
                          <a:latin typeface="Barlow Condensed"/>
                          <a:ea typeface="Barlow Condensed"/>
                          <a:cs typeface="Barlow Condensed"/>
                          <a:sym typeface="Barlow Condensed"/>
                        </a:rPr>
                        <a:t>Python</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2,419</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3,020</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1.25</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102</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2,113 (87.3%)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133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02300">
                <a:tc>
                  <a:txBody>
                    <a:bodyPr>
                      <a:noAutofit/>
                    </a:bodyPr>
                    <a:lstStyle/>
                    <a:p>
                      <a:pPr indent="0" lvl="0" marL="0" marR="0" rtl="0" algn="l">
                        <a:lnSpc>
                          <a:spcPct val="100000"/>
                        </a:lnSpc>
                        <a:spcBef>
                          <a:spcPts val="0"/>
                        </a:spcBef>
                        <a:spcAft>
                          <a:spcPts val="0"/>
                        </a:spcAft>
                        <a:buNone/>
                      </a:pPr>
                      <a:r>
                        <a:rPr b="1" lang="en" sz="2600">
                          <a:solidFill>
                            <a:srgbClr val="666666"/>
                          </a:solidFill>
                          <a:latin typeface="Barlow Condensed"/>
                          <a:ea typeface="Barlow Condensed"/>
                          <a:cs typeface="Barlow Condensed"/>
                          <a:sym typeface="Barlow Condensed"/>
                        </a:rPr>
                        <a:t>Julia</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1,711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5,440</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3.18</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7</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1,691 (98.8%)</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24</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59475">
                <a:tc>
                  <a:txBody>
                    <a:bodyPr>
                      <a:noAutofit/>
                    </a:bodyPr>
                    <a:lstStyle/>
                    <a:p>
                      <a:pPr indent="0" lvl="0" marL="0" rtl="0">
                        <a:spcBef>
                          <a:spcPts val="0"/>
                        </a:spcBef>
                        <a:spcAft>
                          <a:spcPts val="0"/>
                        </a:spcAft>
                        <a:buNone/>
                      </a:pPr>
                      <a:r>
                        <a:rPr b="1" lang="en" sz="2600">
                          <a:solidFill>
                            <a:srgbClr val="666666"/>
                          </a:solidFill>
                          <a:latin typeface="Barlow Condensed"/>
                          <a:ea typeface="Barlow Condensed"/>
                          <a:cs typeface="Barlow Condensed"/>
                          <a:sym typeface="Barlow Condensed"/>
                        </a:rPr>
                        <a:t>JavaScript</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1,279</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2,591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rtl="0" algn="r">
                        <a:spcBef>
                          <a:spcPts val="0"/>
                        </a:spcBef>
                        <a:spcAft>
                          <a:spcPts val="0"/>
                        </a:spcAft>
                        <a:buNone/>
                      </a:pPr>
                      <a:r>
                        <a:rPr lang="en" sz="2600">
                          <a:solidFill>
                            <a:srgbClr val="141F22"/>
                          </a:solidFill>
                          <a:latin typeface="Barlow Condensed"/>
                          <a:ea typeface="Barlow Condensed"/>
                          <a:cs typeface="Barlow Condensed"/>
                          <a:sym typeface="Barlow Condensed"/>
                        </a:rPr>
                        <a:t>2.02</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Clr>
                          <a:srgbClr val="000000"/>
                        </a:buClr>
                        <a:buSzPts val="1100"/>
                        <a:buFont typeface="Arial"/>
                        <a:buNone/>
                      </a:pPr>
                      <a:r>
                        <a:rPr lang="en" sz="2600">
                          <a:solidFill>
                            <a:srgbClr val="141F22"/>
                          </a:solidFill>
                          <a:latin typeface="Barlow Condensed"/>
                          <a:ea typeface="Barlow Condensed"/>
                          <a:cs typeface="Barlow Condensed"/>
                          <a:sym typeface="Barlow Condensed"/>
                        </a:rPr>
                        <a:t>8</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13</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1,255 (98.1%)</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noAutofit/>
                    </a:bodyPr>
                    <a:lstStyle/>
                    <a:p>
                      <a:pPr indent="0" lvl="0" marL="0" marR="0" rtl="0" algn="r">
                        <a:lnSpc>
                          <a:spcPct val="100000"/>
                        </a:lnSpc>
                        <a:spcBef>
                          <a:spcPts val="0"/>
                        </a:spcBef>
                        <a:spcAft>
                          <a:spcPts val="0"/>
                        </a:spcAft>
                        <a:buNone/>
                      </a:pPr>
                      <a:r>
                        <a:rPr lang="en" sz="2600">
                          <a:solidFill>
                            <a:srgbClr val="141F22"/>
                          </a:solidFill>
                          <a:latin typeface="Barlow Condensed"/>
                          <a:ea typeface="Barlow Condensed"/>
                          <a:cs typeface="Barlow Condensed"/>
                          <a:sym typeface="Barlow Condensed"/>
                        </a:rPr>
                        <a:t>25</a:t>
                      </a:r>
                      <a:endParaRPr sz="2600">
                        <a:solidFill>
                          <a:srgbClr val="141F22"/>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85" name="Google Shape;85;p13"/>
          <p:cNvPicPr preferRelativeResize="0"/>
          <p:nvPr/>
        </p:nvPicPr>
        <p:blipFill>
          <a:blip r:embed="rId9">
            <a:alphaModFix/>
          </a:blip>
          <a:stretch>
            <a:fillRect/>
          </a:stretch>
        </p:blipFill>
        <p:spPr>
          <a:xfrm>
            <a:off x="1013700" y="19726275"/>
            <a:ext cx="9582150" cy="1276350"/>
          </a:xfrm>
          <a:prstGeom prst="rect">
            <a:avLst/>
          </a:prstGeom>
          <a:noFill/>
          <a:ln>
            <a:noFill/>
          </a:ln>
        </p:spPr>
      </p:pic>
      <p:sp>
        <p:nvSpPr>
          <p:cNvPr id="86" name="Google Shape;86;p13"/>
          <p:cNvSpPr txBox="1"/>
          <p:nvPr/>
        </p:nvSpPr>
        <p:spPr>
          <a:xfrm rot="-5400000">
            <a:off x="10277863" y="17059275"/>
            <a:ext cx="1250400" cy="6978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2000">
                <a:solidFill>
                  <a:srgbClr val="141F22"/>
                </a:solidFill>
                <a:latin typeface="Barlow Condensed"/>
                <a:ea typeface="Barlow Condensed"/>
                <a:cs typeface="Barlow Condensed"/>
                <a:sym typeface="Barlow Condensed"/>
              </a:rPr>
              <a:t>Log (KLOC)</a:t>
            </a:r>
            <a:endParaRPr sz="2000">
              <a:latin typeface="Barlow Condensed"/>
              <a:ea typeface="Barlow Condensed"/>
              <a:cs typeface="Barlow Condensed"/>
              <a:sym typeface="Barlow Condensed"/>
            </a:endParaRPr>
          </a:p>
        </p:txBody>
      </p:sp>
      <p:sp>
        <p:nvSpPr>
          <p:cNvPr id="87" name="Google Shape;87;p13"/>
          <p:cNvSpPr txBox="1"/>
          <p:nvPr/>
        </p:nvSpPr>
        <p:spPr>
          <a:xfrm>
            <a:off x="11404375" y="15868175"/>
            <a:ext cx="4445100" cy="412800"/>
          </a:xfrm>
          <a:prstGeom prst="rect">
            <a:avLst/>
          </a:prstGeom>
          <a:solidFill>
            <a:schemeClr val="lt1"/>
          </a:solid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2400">
                <a:solidFill>
                  <a:srgbClr val="141F22"/>
                </a:solidFill>
                <a:latin typeface="Barlow Condensed"/>
                <a:ea typeface="Barlow Condensed"/>
                <a:cs typeface="Barlow Condensed"/>
                <a:sym typeface="Barlow Condensed"/>
              </a:rPr>
              <a:t>Total Thousands of Lines of Code (KLOC)</a:t>
            </a:r>
            <a:endParaRPr sz="2400">
              <a:latin typeface="Barlow Condensed"/>
              <a:ea typeface="Barlow Condensed"/>
              <a:cs typeface="Barlow Condensed"/>
              <a:sym typeface="Barlow Condensed"/>
            </a:endParaRPr>
          </a:p>
        </p:txBody>
      </p:sp>
      <p:sp>
        <p:nvSpPr>
          <p:cNvPr id="88" name="Google Shape;88;p13"/>
          <p:cNvSpPr txBox="1"/>
          <p:nvPr/>
        </p:nvSpPr>
        <p:spPr>
          <a:xfrm>
            <a:off x="12040475" y="19852225"/>
            <a:ext cx="3576600" cy="412800"/>
          </a:xfrm>
          <a:prstGeom prst="rect">
            <a:avLst/>
          </a:prstGeom>
          <a:solidFill>
            <a:schemeClr val="lt1"/>
          </a:solid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2400">
                <a:solidFill>
                  <a:srgbClr val="141F22"/>
                </a:solidFill>
                <a:latin typeface="Barlow Condensed"/>
                <a:ea typeface="Barlow Condensed"/>
                <a:cs typeface="Barlow Condensed"/>
                <a:sym typeface="Barlow Condensed"/>
              </a:rPr>
              <a:t>Total Number of Contributors</a:t>
            </a:r>
            <a:endParaRPr sz="2400">
              <a:latin typeface="Barlow Condensed"/>
              <a:ea typeface="Barlow Condensed"/>
              <a:cs typeface="Barlow Condensed"/>
              <a:sym typeface="Barlow Condensed"/>
            </a:endParaRPr>
          </a:p>
        </p:txBody>
      </p:sp>
      <p:sp>
        <p:nvSpPr>
          <p:cNvPr id="89" name="Google Shape;89;p13"/>
          <p:cNvSpPr txBox="1"/>
          <p:nvPr/>
        </p:nvSpPr>
        <p:spPr>
          <a:xfrm rot="-5400000">
            <a:off x="10302563" y="21707375"/>
            <a:ext cx="1250400" cy="6978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2000">
                <a:solidFill>
                  <a:srgbClr val="141F22"/>
                </a:solidFill>
                <a:latin typeface="Barlow Condensed"/>
                <a:ea typeface="Barlow Condensed"/>
                <a:cs typeface="Barlow Condensed"/>
                <a:sym typeface="Barlow Condensed"/>
              </a:rPr>
              <a:t>Log (Count)</a:t>
            </a:r>
            <a:endParaRPr sz="2000">
              <a:latin typeface="Barlow Condensed"/>
              <a:ea typeface="Barlow Condensed"/>
              <a:cs typeface="Barlow Condensed"/>
              <a:sym typeface="Barlow Condensed"/>
            </a:endParaRPr>
          </a:p>
        </p:txBody>
      </p:sp>
      <p:sp>
        <p:nvSpPr>
          <p:cNvPr id="90" name="Google Shape;90;p13"/>
          <p:cNvSpPr txBox="1"/>
          <p:nvPr/>
        </p:nvSpPr>
        <p:spPr>
          <a:xfrm>
            <a:off x="1048775" y="24292075"/>
            <a:ext cx="33823800" cy="8919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None/>
            </a:pPr>
            <a:r>
              <a:rPr b="1" lang="en" sz="4800">
                <a:solidFill>
                  <a:srgbClr val="FFFFFF"/>
                </a:solidFill>
                <a:latin typeface="Barlow Condensed"/>
                <a:ea typeface="Barlow Condensed"/>
                <a:cs typeface="Barlow Condensed"/>
                <a:sym typeface="Barlow Condensed"/>
              </a:rPr>
              <a:t>Results </a:t>
            </a:r>
            <a:endParaRPr b="1" sz="4800">
              <a:solidFill>
                <a:srgbClr val="FFFFFF"/>
              </a:solidFill>
              <a:latin typeface="Barlow Condensed"/>
              <a:ea typeface="Barlow Condensed"/>
              <a:cs typeface="Barlow Condensed"/>
              <a:sym typeface="Barlow Condensed"/>
            </a:endParaRPr>
          </a:p>
        </p:txBody>
      </p:sp>
      <p:sp>
        <p:nvSpPr>
          <p:cNvPr id="91" name="Google Shape;91;p13"/>
          <p:cNvSpPr txBox="1"/>
          <p:nvPr/>
        </p:nvSpPr>
        <p:spPr>
          <a:xfrm>
            <a:off x="28394675" y="21922475"/>
            <a:ext cx="6672000" cy="2204100"/>
          </a:xfrm>
          <a:prstGeom prst="rect">
            <a:avLst/>
          </a:prstGeom>
          <a:no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2400">
                <a:solidFill>
                  <a:srgbClr val="141F22"/>
                </a:solidFill>
                <a:latin typeface="Barlow Condensed"/>
                <a:ea typeface="Barlow Condensed"/>
                <a:cs typeface="Barlow Condensed"/>
                <a:sym typeface="Barlow Condensed"/>
              </a:rPr>
              <a:t>A subgraph of the R dependency network. The size of the node is proportional to the out-degree, i.e., number of packages that reuses the package, and the different colors indicate communities (different uses of R) identified using the modularity algorithm [4] implemented in Gephi [5]. The small communities (less than 5%) are removed for illustration. </a:t>
            </a:r>
            <a:endParaRPr sz="2400">
              <a:latin typeface="Barlow Condensed"/>
              <a:ea typeface="Barlow Condensed"/>
              <a:cs typeface="Barlow Condensed"/>
              <a:sym typeface="Barlow Condensed"/>
            </a:endParaRPr>
          </a:p>
        </p:txBody>
      </p:sp>
      <p:pic>
        <p:nvPicPr>
          <p:cNvPr id="92" name="Google Shape;92;p13"/>
          <p:cNvPicPr preferRelativeResize="0"/>
          <p:nvPr/>
        </p:nvPicPr>
        <p:blipFill>
          <a:blip r:embed="rId10">
            <a:alphaModFix/>
          </a:blip>
          <a:stretch>
            <a:fillRect/>
          </a:stretch>
        </p:blipFill>
        <p:spPr>
          <a:xfrm>
            <a:off x="33181650" y="3302388"/>
            <a:ext cx="1581150" cy="1590675"/>
          </a:xfrm>
          <a:prstGeom prst="rect">
            <a:avLst/>
          </a:prstGeom>
          <a:noFill/>
          <a:ln>
            <a:noFill/>
          </a:ln>
        </p:spPr>
      </p:pic>
      <p:sp>
        <p:nvSpPr>
          <p:cNvPr id="93" name="Google Shape;93;p13"/>
          <p:cNvSpPr txBox="1"/>
          <p:nvPr/>
        </p:nvSpPr>
        <p:spPr>
          <a:xfrm>
            <a:off x="767125" y="25148375"/>
            <a:ext cx="13425000" cy="697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We estimate the cost of all packages that use R, Python, Julia and JavaScript.  We obtain </a:t>
            </a:r>
            <a:r>
              <a:rPr b="1" i="1" lang="en" sz="3000">
                <a:solidFill>
                  <a:srgbClr val="1C4587"/>
                </a:solidFill>
                <a:latin typeface="Barlow Condensed"/>
                <a:ea typeface="Barlow Condensed"/>
                <a:cs typeface="Barlow Condensed"/>
                <a:sym typeface="Barlow Condensed"/>
              </a:rPr>
              <a:t>power-law distributions</a:t>
            </a:r>
            <a:r>
              <a:rPr lang="en" sz="3000">
                <a:solidFill>
                  <a:srgbClr val="141F22"/>
                </a:solidFill>
                <a:latin typeface="Barlow Condensed"/>
                <a:ea typeface="Barlow Condensed"/>
                <a:cs typeface="Barlow Condensed"/>
                <a:sym typeface="Barlow Condensed"/>
              </a:rPr>
              <a:t> for all languages, which is also found in bibliometrics and patents. </a:t>
            </a:r>
            <a:br>
              <a:rPr lang="en" sz="3000">
                <a:solidFill>
                  <a:srgbClr val="141F22"/>
                </a:solidFill>
                <a:latin typeface="Barlow Condensed"/>
                <a:ea typeface="Barlow Condensed"/>
                <a:cs typeface="Barlow Condensed"/>
                <a:sym typeface="Barlow Condensed"/>
              </a:rPr>
            </a:br>
            <a:r>
              <a:rPr lang="en" sz="3000">
                <a:solidFill>
                  <a:srgbClr val="141F22"/>
                </a:solidFill>
                <a:latin typeface="Barlow Condensed"/>
                <a:ea typeface="Barlow Condensed"/>
                <a:cs typeface="Barlow Condensed"/>
                <a:sym typeface="Barlow Condensed"/>
              </a:rPr>
              <a:t>The density plots and the boxplots are given below.</a:t>
            </a:r>
            <a:endParaRPr sz="30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30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t/>
            </a:r>
            <a:endParaRPr sz="30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lang="en" sz="3000">
                <a:solidFill>
                  <a:srgbClr val="141F22"/>
                </a:solidFill>
                <a:latin typeface="Barlow Condensed"/>
                <a:ea typeface="Barlow Condensed"/>
                <a:cs typeface="Barlow Condensed"/>
                <a:sym typeface="Barlow Condensed"/>
              </a:rPr>
              <a:t>                                                              </a:t>
            </a:r>
            <a:endParaRPr i="1" sz="30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Font typeface="Arial"/>
              <a:buNone/>
            </a:pPr>
            <a:r>
              <a:rPr i="1" lang="en" sz="3000">
                <a:solidFill>
                  <a:srgbClr val="141F22"/>
                </a:solidFill>
                <a:latin typeface="Barlow Condensed"/>
                <a:ea typeface="Barlow Condensed"/>
                <a:cs typeface="Barlow Condensed"/>
                <a:sym typeface="Barlow Condensed"/>
              </a:rPr>
              <a:t>                                                            </a:t>
            </a:r>
            <a:endParaRPr sz="3000">
              <a:solidFill>
                <a:srgbClr val="141F22"/>
              </a:solidFill>
              <a:latin typeface="Barlow Condensed"/>
              <a:ea typeface="Barlow Condensed"/>
              <a:cs typeface="Barlow Condensed"/>
              <a:sym typeface="Barlow Condensed"/>
            </a:endParaRPr>
          </a:p>
        </p:txBody>
      </p:sp>
      <p:sp>
        <p:nvSpPr>
          <p:cNvPr id="94" name="Google Shape;94;p13"/>
          <p:cNvSpPr txBox="1"/>
          <p:nvPr/>
        </p:nvSpPr>
        <p:spPr>
          <a:xfrm>
            <a:off x="16380100" y="14523950"/>
            <a:ext cx="18492600" cy="8919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spcBef>
                <a:spcPts val="0"/>
              </a:spcBef>
              <a:spcAft>
                <a:spcPts val="0"/>
              </a:spcAft>
              <a:buClr>
                <a:srgbClr val="000000"/>
              </a:buClr>
              <a:buFont typeface="Arial"/>
              <a:buNone/>
            </a:pPr>
            <a:r>
              <a:rPr b="1" lang="en" sz="4400">
                <a:solidFill>
                  <a:srgbClr val="FFFFFF"/>
                </a:solidFill>
                <a:latin typeface="Barlow Condensed"/>
                <a:ea typeface="Barlow Condensed"/>
                <a:cs typeface="Barlow Condensed"/>
                <a:sym typeface="Barlow Condensed"/>
              </a:rPr>
              <a:t>Value of Open Source Software</a:t>
            </a:r>
            <a:endParaRPr b="1" sz="4400">
              <a:solidFill>
                <a:srgbClr val="FFFFFF"/>
              </a:solidFill>
              <a:latin typeface="Barlow Condensed"/>
              <a:ea typeface="Barlow Condensed"/>
              <a:cs typeface="Barlow Condensed"/>
              <a:sym typeface="Barlow Condensed"/>
            </a:endParaRPr>
          </a:p>
        </p:txBody>
      </p:sp>
      <p:sp>
        <p:nvSpPr>
          <p:cNvPr id="95" name="Google Shape;95;p13"/>
          <p:cNvSpPr txBox="1"/>
          <p:nvPr/>
        </p:nvSpPr>
        <p:spPr>
          <a:xfrm>
            <a:off x="8608675" y="26850575"/>
            <a:ext cx="3576600" cy="412800"/>
          </a:xfrm>
          <a:prstGeom prst="rect">
            <a:avLst/>
          </a:prstGeom>
          <a:solidFill>
            <a:schemeClr val="lt1"/>
          </a:solid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2400">
                <a:solidFill>
                  <a:srgbClr val="141F22"/>
                </a:solidFill>
                <a:latin typeface="Barlow Condensed"/>
                <a:ea typeface="Barlow Condensed"/>
                <a:cs typeface="Barlow Condensed"/>
                <a:sym typeface="Barlow Condensed"/>
              </a:rPr>
              <a:t>Total Cost of Packages (log)</a:t>
            </a:r>
            <a:endParaRPr sz="2400">
              <a:latin typeface="Barlow Condensed"/>
              <a:ea typeface="Barlow Condensed"/>
              <a:cs typeface="Barlow Condensed"/>
              <a:sym typeface="Barlow Condensed"/>
            </a:endParaRPr>
          </a:p>
        </p:txBody>
      </p:sp>
      <p:pic>
        <p:nvPicPr>
          <p:cNvPr id="96" name="Google Shape;96;p13"/>
          <p:cNvPicPr preferRelativeResize="0"/>
          <p:nvPr/>
        </p:nvPicPr>
        <p:blipFill>
          <a:blip r:embed="rId11">
            <a:alphaModFix/>
          </a:blip>
          <a:stretch>
            <a:fillRect/>
          </a:stretch>
        </p:blipFill>
        <p:spPr>
          <a:xfrm>
            <a:off x="29084950" y="26555225"/>
            <a:ext cx="5241551" cy="4796235"/>
          </a:xfrm>
          <a:prstGeom prst="rect">
            <a:avLst/>
          </a:prstGeom>
          <a:noFill/>
          <a:ln>
            <a:noFill/>
          </a:ln>
        </p:spPr>
      </p:pic>
      <p:sp>
        <p:nvSpPr>
          <p:cNvPr id="97" name="Google Shape;97;p13"/>
          <p:cNvSpPr txBox="1"/>
          <p:nvPr/>
        </p:nvSpPr>
        <p:spPr>
          <a:xfrm>
            <a:off x="24945775" y="32198325"/>
            <a:ext cx="9816900" cy="6978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spcBef>
                <a:spcPts val="0"/>
              </a:spcBef>
              <a:spcAft>
                <a:spcPts val="0"/>
              </a:spcAft>
              <a:buNone/>
            </a:pPr>
            <a:r>
              <a:rPr b="1" lang="en" sz="4800">
                <a:solidFill>
                  <a:srgbClr val="FFFFFF"/>
                </a:solidFill>
                <a:latin typeface="Barlow Condensed"/>
                <a:ea typeface="Barlow Condensed"/>
                <a:cs typeface="Barlow Condensed"/>
                <a:sym typeface="Barlow Condensed"/>
              </a:rPr>
              <a:t>Next Steps</a:t>
            </a:r>
            <a:endParaRPr b="1" i="0" sz="4800">
              <a:solidFill>
                <a:srgbClr val="FFFFFF"/>
              </a:solidFill>
              <a:latin typeface="Barlow Condensed"/>
              <a:ea typeface="Barlow Condensed"/>
              <a:cs typeface="Barlow Condensed"/>
              <a:sym typeface="Barlow Condensed"/>
            </a:endParaRPr>
          </a:p>
        </p:txBody>
      </p:sp>
      <p:sp>
        <p:nvSpPr>
          <p:cNvPr id="98" name="Google Shape;98;p13"/>
          <p:cNvSpPr/>
          <p:nvPr/>
        </p:nvSpPr>
        <p:spPr>
          <a:xfrm>
            <a:off x="5098550" y="10249725"/>
            <a:ext cx="4407600" cy="891900"/>
          </a:xfrm>
          <a:prstGeom prst="chevron">
            <a:avLst>
              <a:gd fmla="val 50000" name="adj"/>
            </a:avLst>
          </a:prstGeom>
          <a:solidFill>
            <a:srgbClr val="741B47"/>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rgbClr val="FFFFFF"/>
                </a:solidFill>
                <a:latin typeface="Barlow Condensed"/>
                <a:ea typeface="Barlow Condensed"/>
                <a:cs typeface="Barlow Condensed"/>
                <a:sym typeface="Barlow Condensed"/>
              </a:rPr>
              <a:t>Registry</a:t>
            </a:r>
            <a:endParaRPr sz="3000">
              <a:solidFill>
                <a:srgbClr val="FFFFFF"/>
              </a:solidFill>
              <a:latin typeface="Barlow Condensed"/>
              <a:ea typeface="Barlow Condensed"/>
              <a:cs typeface="Barlow Condensed"/>
              <a:sym typeface="Barlow Condensed"/>
            </a:endParaRPr>
          </a:p>
        </p:txBody>
      </p:sp>
      <p:sp>
        <p:nvSpPr>
          <p:cNvPr id="99" name="Google Shape;99;p13"/>
          <p:cNvSpPr/>
          <p:nvPr/>
        </p:nvSpPr>
        <p:spPr>
          <a:xfrm>
            <a:off x="16757149" y="10249725"/>
            <a:ext cx="5332500" cy="891900"/>
          </a:xfrm>
          <a:prstGeom prst="chevron">
            <a:avLst>
              <a:gd fmla="val 50000" name="adj"/>
            </a:avLst>
          </a:prstGeom>
          <a:solidFill>
            <a:srgbClr val="D5A6BD"/>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3000">
                <a:solidFill>
                  <a:schemeClr val="lt1"/>
                </a:solidFill>
                <a:latin typeface="Barlow Condensed"/>
                <a:ea typeface="Barlow Condensed"/>
                <a:cs typeface="Barlow Condensed"/>
                <a:sym typeface="Barlow Condensed"/>
              </a:rPr>
              <a:t>Project Code (Github)</a:t>
            </a:r>
            <a:endParaRPr sz="3000">
              <a:solidFill>
                <a:srgbClr val="FFFFFF"/>
              </a:solidFill>
              <a:latin typeface="Barlow Condensed"/>
              <a:ea typeface="Barlow Condensed"/>
              <a:cs typeface="Barlow Condensed"/>
              <a:sym typeface="Barlow Condensed"/>
            </a:endParaRPr>
          </a:p>
        </p:txBody>
      </p:sp>
      <p:sp>
        <p:nvSpPr>
          <p:cNvPr id="100" name="Google Shape;100;p13"/>
          <p:cNvSpPr txBox="1"/>
          <p:nvPr/>
        </p:nvSpPr>
        <p:spPr>
          <a:xfrm>
            <a:off x="16424725" y="22527675"/>
            <a:ext cx="11764200" cy="1590600"/>
          </a:xfrm>
          <a:prstGeom prst="rect">
            <a:avLst/>
          </a:prstGeom>
          <a:noFill/>
          <a:ln>
            <a:noFill/>
          </a:ln>
        </p:spPr>
        <p:txBody>
          <a:bodyPr anchorCtr="0" anchor="t" bIns="91425" lIns="91425" spcFirstLastPara="1" rIns="91425" wrap="square" tIns="91425">
            <a:noAutofit/>
          </a:bodyPr>
          <a:lstStyle/>
          <a:p>
            <a:pPr indent="0" lvl="0" marL="0" rtl="0">
              <a:spcBef>
                <a:spcPts val="0"/>
              </a:spcBef>
              <a:spcAft>
                <a:spcPts val="0"/>
              </a:spcAft>
              <a:buNone/>
            </a:pPr>
            <a:r>
              <a:rPr lang="en" sz="2000">
                <a:solidFill>
                  <a:srgbClr val="141F22"/>
                </a:solidFill>
                <a:latin typeface="Barlow Condensed"/>
                <a:ea typeface="Barlow Condensed"/>
                <a:cs typeface="Barlow Condensed"/>
                <a:sym typeface="Barlow Condensed"/>
              </a:rPr>
              <a:t>*Includes both dependencies and imports. Standard libraries that are supplied with R  (e.g., stats, utils, graphics) are removed.</a:t>
            </a:r>
            <a:endParaRPr sz="20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2000" u="sng">
                <a:solidFill>
                  <a:srgbClr val="141F22"/>
                </a:solidFill>
                <a:latin typeface="Barlow Condensed"/>
                <a:ea typeface="Barlow Condensed"/>
                <a:cs typeface="Barlow Condensed"/>
                <a:sym typeface="Barlow Condensed"/>
              </a:rPr>
              <a:t>Average degree</a:t>
            </a:r>
            <a:r>
              <a:rPr lang="en" sz="2000">
                <a:solidFill>
                  <a:srgbClr val="141F22"/>
                </a:solidFill>
                <a:latin typeface="Barlow Condensed"/>
                <a:ea typeface="Barlow Condensed"/>
                <a:cs typeface="Barlow Condensed"/>
                <a:sym typeface="Barlow Condensed"/>
              </a:rPr>
              <a:t> (indegree and outdegree) indicates the average number of packages that they depend on (and are used by).</a:t>
            </a:r>
            <a:endParaRPr sz="20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2000" u="sng">
                <a:solidFill>
                  <a:srgbClr val="141F22"/>
                </a:solidFill>
                <a:latin typeface="Barlow Condensed"/>
                <a:ea typeface="Barlow Condensed"/>
                <a:cs typeface="Barlow Condensed"/>
                <a:sym typeface="Barlow Condensed"/>
              </a:rPr>
              <a:t>Diameter</a:t>
            </a:r>
            <a:r>
              <a:rPr lang="en" sz="2000">
                <a:solidFill>
                  <a:srgbClr val="141F22"/>
                </a:solidFill>
                <a:latin typeface="Barlow Condensed"/>
                <a:ea typeface="Barlow Condensed"/>
                <a:cs typeface="Barlow Condensed"/>
                <a:sym typeface="Barlow Condensed"/>
              </a:rPr>
              <a:t> is the shortest distance between the two most distant nodes in the network.</a:t>
            </a:r>
            <a:endParaRPr sz="20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2000" u="sng">
                <a:solidFill>
                  <a:srgbClr val="141F22"/>
                </a:solidFill>
                <a:latin typeface="Barlow Condensed"/>
                <a:ea typeface="Barlow Condensed"/>
                <a:cs typeface="Barlow Condensed"/>
                <a:sym typeface="Barlow Condensed"/>
              </a:rPr>
              <a:t>(Weakly) Connected components</a:t>
            </a:r>
            <a:r>
              <a:rPr lang="en" sz="2000">
                <a:solidFill>
                  <a:srgbClr val="141F22"/>
                </a:solidFill>
                <a:latin typeface="Barlow Condensed"/>
                <a:ea typeface="Barlow Condensed"/>
                <a:cs typeface="Barlow Condensed"/>
                <a:sym typeface="Barlow Condensed"/>
              </a:rPr>
              <a:t> are subgraphs such that there is an undirected path from every pair of nodes in the subgraph.</a:t>
            </a:r>
            <a:endParaRPr sz="2000">
              <a:solidFill>
                <a:srgbClr val="141F22"/>
              </a:solidFill>
              <a:latin typeface="Barlow Condensed"/>
              <a:ea typeface="Barlow Condensed"/>
              <a:cs typeface="Barlow Condensed"/>
              <a:sym typeface="Barlow Condensed"/>
            </a:endParaRPr>
          </a:p>
          <a:p>
            <a:pPr indent="0" lvl="0" marL="0" rtl="0">
              <a:spcBef>
                <a:spcPts val="0"/>
              </a:spcBef>
              <a:spcAft>
                <a:spcPts val="0"/>
              </a:spcAft>
              <a:buNone/>
            </a:pPr>
            <a:r>
              <a:rPr lang="en" sz="2000" u="sng">
                <a:solidFill>
                  <a:srgbClr val="141F22"/>
                </a:solidFill>
                <a:latin typeface="Barlow Condensed"/>
                <a:ea typeface="Barlow Condensed"/>
                <a:cs typeface="Barlow Condensed"/>
                <a:sym typeface="Barlow Condensed"/>
              </a:rPr>
              <a:t>Communities</a:t>
            </a:r>
            <a:r>
              <a:rPr lang="en" sz="2000">
                <a:solidFill>
                  <a:srgbClr val="141F22"/>
                </a:solidFill>
                <a:latin typeface="Barlow Condensed"/>
                <a:ea typeface="Barlow Condensed"/>
                <a:cs typeface="Barlow Condensed"/>
                <a:sym typeface="Barlow Condensed"/>
              </a:rPr>
              <a:t> are detected using modularity algorithm [4] that identifies densely connected subgraphs of the network. </a:t>
            </a:r>
            <a:endParaRPr sz="2000">
              <a:solidFill>
                <a:srgbClr val="141F22"/>
              </a:solidFill>
              <a:latin typeface="Barlow Condensed"/>
              <a:ea typeface="Barlow Condensed"/>
              <a:cs typeface="Barlow Condensed"/>
              <a:sym typeface="Barlow Condensed"/>
            </a:endParaRPr>
          </a:p>
        </p:txBody>
      </p:sp>
      <p:sp>
        <p:nvSpPr>
          <p:cNvPr id="101" name="Google Shape;101;p13"/>
          <p:cNvSpPr txBox="1"/>
          <p:nvPr/>
        </p:nvSpPr>
        <p:spPr>
          <a:xfrm>
            <a:off x="28646475" y="25643825"/>
            <a:ext cx="6523800" cy="6978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None/>
            </a:pPr>
            <a:r>
              <a:rPr lang="en" sz="2600">
                <a:solidFill>
                  <a:srgbClr val="141F22"/>
                </a:solidFill>
                <a:latin typeface="Barlow Condensed"/>
                <a:ea typeface="Barlow Condensed"/>
                <a:cs typeface="Barlow Condensed"/>
                <a:sym typeface="Barlow Condensed"/>
              </a:rPr>
              <a:t>Heatmap of the Pearson correlation between the log(cost) and network characteristics of packages</a:t>
            </a:r>
            <a:endParaRPr sz="2600">
              <a:solidFill>
                <a:srgbClr val="141F22"/>
              </a:solidFill>
              <a:latin typeface="Barlow Condensed"/>
              <a:ea typeface="Barlow Condensed"/>
              <a:cs typeface="Barlow Condensed"/>
              <a:sym typeface="Barlow Condensed"/>
            </a:endParaRPr>
          </a:p>
        </p:txBody>
      </p:sp>
      <p:sp>
        <p:nvSpPr>
          <p:cNvPr id="102" name="Google Shape;102;p13"/>
          <p:cNvSpPr txBox="1"/>
          <p:nvPr/>
        </p:nvSpPr>
        <p:spPr>
          <a:xfrm>
            <a:off x="24311800" y="25281575"/>
            <a:ext cx="4445100" cy="6656400"/>
          </a:xfrm>
          <a:prstGeom prst="rect">
            <a:avLst/>
          </a:prstGeom>
          <a:noFill/>
          <a:ln>
            <a:noFill/>
          </a:ln>
        </p:spPr>
        <p:txBody>
          <a:bodyPr anchorCtr="0" anchor="t" bIns="156150" lIns="312475" spcFirstLastPara="1" rIns="312475" wrap="square" tIns="156150">
            <a:noAutofit/>
          </a:bodyPr>
          <a:lstStyle/>
          <a:p>
            <a:pPr indent="-419100" lvl="0" marL="457200" marR="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We do not observe a consistent pattern between cost and value.</a:t>
            </a:r>
            <a:endParaRPr sz="3000">
              <a:solidFill>
                <a:srgbClr val="141F22"/>
              </a:solidFill>
              <a:latin typeface="Barlow Condensed"/>
              <a:ea typeface="Barlow Condensed"/>
              <a:cs typeface="Barlow Condensed"/>
              <a:sym typeface="Barlow Condensed"/>
            </a:endParaRPr>
          </a:p>
          <a:p>
            <a:pPr indent="-419100" lvl="0" marL="45720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The heatmap also shows that the correlation between the log(cost) of packages and network characteristics is low and positive for most of the features. In-degree (the number of used pkgs) has the highest positive correlation with cost for all the languages.</a:t>
            </a:r>
            <a:r>
              <a:rPr i="1" lang="en" sz="3000">
                <a:solidFill>
                  <a:srgbClr val="141F22"/>
                </a:solidFill>
                <a:latin typeface="Barlow Condensed"/>
                <a:ea typeface="Barlow Condensed"/>
                <a:cs typeface="Barlow Condensed"/>
                <a:sym typeface="Barlow Condensed"/>
              </a:rPr>
              <a:t>                                                            </a:t>
            </a:r>
            <a:endParaRPr sz="3000">
              <a:solidFill>
                <a:srgbClr val="141F22"/>
              </a:solidFill>
              <a:latin typeface="Barlow Condensed"/>
              <a:ea typeface="Barlow Condensed"/>
              <a:cs typeface="Barlow Condensed"/>
              <a:sym typeface="Barlow Condensed"/>
            </a:endParaRPr>
          </a:p>
        </p:txBody>
      </p:sp>
      <p:graphicFrame>
        <p:nvGraphicFramePr>
          <p:cNvPr id="103" name="Google Shape;103;p13"/>
          <p:cNvGraphicFramePr/>
          <p:nvPr/>
        </p:nvGraphicFramePr>
        <p:xfrm>
          <a:off x="13502813" y="25357763"/>
          <a:ext cx="3000000" cy="3000000"/>
        </p:xfrm>
        <a:graphic>
          <a:graphicData uri="http://schemas.openxmlformats.org/drawingml/2006/table">
            <a:tbl>
              <a:tblPr>
                <a:noFill/>
                <a:tableStyleId>{C6DD30A3-820F-4D0C-8FA5-698A64A25110}</a:tableStyleId>
              </a:tblPr>
              <a:tblGrid>
                <a:gridCol w="1029400"/>
                <a:gridCol w="1517500"/>
                <a:gridCol w="1446000"/>
                <a:gridCol w="1426425"/>
                <a:gridCol w="1443725"/>
                <a:gridCol w="1406575"/>
                <a:gridCol w="1348100"/>
                <a:gridCol w="1303175"/>
              </a:tblGrid>
              <a:tr h="55475">
                <a:tc gridSpan="8">
                  <a:txBody>
                    <a:bodyPr>
                      <a:noAutofit/>
                    </a:bodyPr>
                    <a:lstStyle/>
                    <a:p>
                      <a:pPr indent="0" lvl="0" marL="0" rtl="0" algn="ctr">
                        <a:spcBef>
                          <a:spcPts val="0"/>
                        </a:spcBef>
                        <a:spcAft>
                          <a:spcPts val="0"/>
                        </a:spcAft>
                        <a:buNone/>
                      </a:pPr>
                      <a:r>
                        <a:rPr b="1" lang="en" sz="2800">
                          <a:latin typeface="Barlow Condensed"/>
                          <a:ea typeface="Barlow Condensed"/>
                          <a:cs typeface="Barlow Condensed"/>
                          <a:sym typeface="Barlow Condensed"/>
                        </a:rPr>
                        <a:t>Selected network features and costs of top packages with the highest out-degree</a:t>
                      </a:r>
                      <a:r>
                        <a:rPr lang="en" sz="2800">
                          <a:latin typeface="Barlow Condensed"/>
                          <a:ea typeface="Barlow Condensed"/>
                          <a:cs typeface="Barlow Condensed"/>
                          <a:sym typeface="Barlow Condensed"/>
                        </a:rPr>
                        <a:t> </a:t>
                      </a:r>
                      <a:endParaRPr sz="2800">
                        <a:latin typeface="Barlow Condensed"/>
                        <a:ea typeface="Barlow Condensed"/>
                        <a:cs typeface="Barlow Condensed"/>
                        <a:sym typeface="Barlow Condensed"/>
                      </a:endParaRPr>
                    </a:p>
                  </a:txBody>
                  <a:tcPr marT="91425" marB="91425" marR="91425" marL="91425"/>
                </a:tc>
                <a:tc hMerge="1"/>
                <a:tc hMerge="1"/>
                <a:tc hMerge="1"/>
                <a:tc hMerge="1"/>
                <a:tc hMerge="1"/>
                <a:tc hMerge="1"/>
                <a:tc hMerge="1"/>
              </a:tr>
              <a:tr h="381000">
                <a:tc>
                  <a:txBody>
                    <a:bodyPr>
                      <a:noAutofit/>
                    </a:bodyPr>
                    <a:lstStyle/>
                    <a:p>
                      <a:pPr indent="0" lvl="0" marL="0" rtl="0" algn="ctr">
                        <a:spcBef>
                          <a:spcPts val="0"/>
                        </a:spcBef>
                        <a:spcAft>
                          <a:spcPts val="0"/>
                        </a:spcAft>
                        <a:buNone/>
                      </a:pPr>
                      <a:r>
                        <a:t/>
                      </a:r>
                      <a:endParaRPr b="1" sz="26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Package</a:t>
                      </a:r>
                      <a:endParaRPr b="1" sz="26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Outdegree</a:t>
                      </a:r>
                      <a:endParaRPr b="1" sz="26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tcPr>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Indegree</a:t>
                      </a:r>
                      <a:endParaRPr b="1" sz="26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tcPr>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Closeness</a:t>
                      </a:r>
                      <a:endParaRPr b="1" sz="2600">
                        <a:solidFill>
                          <a:srgbClr val="666666"/>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Between-</a:t>
                      </a:r>
                      <a:br>
                        <a:rPr b="1" lang="en" sz="2600">
                          <a:solidFill>
                            <a:srgbClr val="666666"/>
                          </a:solidFill>
                          <a:latin typeface="Barlow Condensed"/>
                          <a:ea typeface="Barlow Condensed"/>
                          <a:cs typeface="Barlow Condensed"/>
                          <a:sym typeface="Barlow Condensed"/>
                        </a:rPr>
                      </a:br>
                      <a:r>
                        <a:rPr b="1" lang="en" sz="2600">
                          <a:solidFill>
                            <a:srgbClr val="666666"/>
                          </a:solidFill>
                          <a:latin typeface="Barlow Condensed"/>
                          <a:ea typeface="Barlow Condensed"/>
                          <a:cs typeface="Barlow Condensed"/>
                          <a:sym typeface="Barlow Condensed"/>
                        </a:rPr>
                        <a:t>ness</a:t>
                      </a:r>
                      <a:endParaRPr b="1" sz="2600">
                        <a:solidFill>
                          <a:srgbClr val="666666"/>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Eigen-</a:t>
                      </a:r>
                      <a:br>
                        <a:rPr b="1" lang="en" sz="2600">
                          <a:solidFill>
                            <a:srgbClr val="666666"/>
                          </a:solidFill>
                          <a:latin typeface="Barlow Condensed"/>
                          <a:ea typeface="Barlow Condensed"/>
                          <a:cs typeface="Barlow Condensed"/>
                          <a:sym typeface="Barlow Condensed"/>
                        </a:rPr>
                      </a:br>
                      <a:r>
                        <a:rPr b="1" lang="en" sz="2600">
                          <a:solidFill>
                            <a:srgbClr val="666666"/>
                          </a:solidFill>
                          <a:latin typeface="Barlow Condensed"/>
                          <a:ea typeface="Barlow Condensed"/>
                          <a:cs typeface="Barlow Condensed"/>
                          <a:sym typeface="Barlow Condensed"/>
                        </a:rPr>
                        <a:t>centrality</a:t>
                      </a:r>
                      <a:endParaRPr b="1" sz="2600">
                        <a:solidFill>
                          <a:srgbClr val="666666"/>
                        </a:solidFill>
                        <a:latin typeface="Barlow Condensed"/>
                        <a:ea typeface="Barlow Condensed"/>
                        <a:cs typeface="Barlow Condensed"/>
                        <a:sym typeface="Barlow Condensed"/>
                      </a:endParaRPr>
                    </a:p>
                  </a:txBody>
                  <a:tcPr marT="91425" marB="91425" marR="91425" marL="91425"/>
                </a:tc>
                <a:tc>
                  <a:txBody>
                    <a:bodyPr>
                      <a:noAutofit/>
                    </a:bodyPr>
                    <a:lstStyle/>
                    <a:p>
                      <a:pPr indent="0" lvl="0" marL="0" rtl="0" algn="ctr">
                        <a:spcBef>
                          <a:spcPts val="0"/>
                        </a:spcBef>
                        <a:spcAft>
                          <a:spcPts val="0"/>
                        </a:spcAft>
                        <a:buNone/>
                      </a:pPr>
                      <a:r>
                        <a:rPr b="1" lang="en" sz="2600">
                          <a:solidFill>
                            <a:srgbClr val="666666"/>
                          </a:solidFill>
                          <a:latin typeface="Barlow Condensed"/>
                          <a:ea typeface="Barlow Condensed"/>
                          <a:cs typeface="Barlow Condensed"/>
                          <a:sym typeface="Barlow Condensed"/>
                        </a:rPr>
                        <a:t>Cost</a:t>
                      </a:r>
                      <a:br>
                        <a:rPr b="1" lang="en" sz="2600">
                          <a:solidFill>
                            <a:srgbClr val="666666"/>
                          </a:solidFill>
                          <a:latin typeface="Barlow Condensed"/>
                          <a:ea typeface="Barlow Condensed"/>
                          <a:cs typeface="Barlow Condensed"/>
                          <a:sym typeface="Barlow Condensed"/>
                        </a:rPr>
                      </a:br>
                      <a:r>
                        <a:rPr b="1" lang="en" sz="2600">
                          <a:solidFill>
                            <a:srgbClr val="666666"/>
                          </a:solidFill>
                          <a:latin typeface="Barlow Condensed"/>
                          <a:ea typeface="Barlow Condensed"/>
                          <a:cs typeface="Barlow Condensed"/>
                          <a:sym typeface="Barlow Condensed"/>
                        </a:rPr>
                        <a:t>($)</a:t>
                      </a:r>
                      <a:endParaRPr b="1" sz="2600">
                        <a:solidFill>
                          <a:srgbClr val="666666"/>
                        </a:solidFill>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tcPr>
                </a:tc>
              </a:tr>
              <a:tr h="381000">
                <a:tc rowSpan="3">
                  <a:txBody>
                    <a:bodyPr>
                      <a:noAutofit/>
                    </a:bodyPr>
                    <a:lstStyle/>
                    <a:p>
                      <a:pPr indent="0" lvl="0" marL="0" rtl="0" algn="r">
                        <a:spcBef>
                          <a:spcPts val="0"/>
                        </a:spcBef>
                        <a:spcAft>
                          <a:spcPts val="0"/>
                        </a:spcAft>
                        <a:buNone/>
                      </a:pPr>
                      <a:r>
                        <a:rPr b="1" lang="en" sz="2400">
                          <a:solidFill>
                            <a:srgbClr val="666666"/>
                          </a:solidFill>
                          <a:latin typeface="Barlow Condensed"/>
                          <a:ea typeface="Barlow Condensed"/>
                          <a:cs typeface="Barlow Condensed"/>
                          <a:sym typeface="Barlow Condensed"/>
                        </a:rPr>
                        <a:t>R</a:t>
                      </a:r>
                      <a:endParaRPr b="1"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ggplot2</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925</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7</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0.73</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19.5K</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0.07</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984K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F4CCCC"/>
                    </a:solidFill>
                  </a:tcPr>
                </a:tc>
              </a:tr>
              <a:tr h="381000">
                <a:tc vMerge="1"/>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Rcpp</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838</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0.50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871K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F4CCCC"/>
                    </a:solidFill>
                  </a:tcPr>
                </a:tc>
              </a:tr>
              <a:tr h="381000">
                <a:tc vMerge="1"/>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dplyr</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626</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10</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0.76</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6.5K</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lnSpc>
                          <a:spcPct val="115000"/>
                        </a:lnSpc>
                        <a:spcBef>
                          <a:spcPts val="0"/>
                        </a:spcBef>
                        <a:spcAft>
                          <a:spcPts val="0"/>
                        </a:spcAft>
                        <a:buNone/>
                      </a:pPr>
                      <a:r>
                        <a:rPr lang="en" sz="2400">
                          <a:latin typeface="Barlow Condensed"/>
                          <a:ea typeface="Barlow Condensed"/>
                          <a:cs typeface="Barlow Condensed"/>
                          <a:sym typeface="Barlow Condensed"/>
                        </a:rPr>
                        <a:t>0.06</a:t>
                      </a:r>
                      <a:endParaRPr sz="2400">
                        <a:latin typeface="Barlow Condensed"/>
                        <a:ea typeface="Barlow Condensed"/>
                        <a:cs typeface="Barlow Condensed"/>
                        <a:sym typeface="Barlow Condensed"/>
                      </a:endParaRPr>
                    </a:p>
                  </a:txBody>
                  <a:tcPr marT="91425" marB="91425" marR="91425" marL="91425">
                    <a:solidFill>
                      <a:srgbClr val="F4CC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793K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F4CCCC"/>
                    </a:solidFill>
                  </a:tcPr>
                </a:tc>
              </a:tr>
              <a:tr h="381000">
                <a:tc rowSpan="4">
                  <a:txBody>
                    <a:bodyPr>
                      <a:noAutofit/>
                    </a:bodyPr>
                    <a:lstStyle/>
                    <a:p>
                      <a:pPr indent="0" lvl="0" marL="0" rtl="0" algn="r">
                        <a:spcBef>
                          <a:spcPts val="0"/>
                        </a:spcBef>
                        <a:spcAft>
                          <a:spcPts val="0"/>
                        </a:spcAft>
                        <a:buNone/>
                      </a:pPr>
                      <a:r>
                        <a:rPr b="1" lang="en" sz="2400">
                          <a:solidFill>
                            <a:srgbClr val="666666"/>
                          </a:solidFill>
                          <a:latin typeface="Barlow Condensed"/>
                          <a:ea typeface="Barlow Condensed"/>
                          <a:cs typeface="Barlow Condensed"/>
                          <a:sym typeface="Barlow Condensed"/>
                        </a:rPr>
                        <a:t>Python</a:t>
                      </a:r>
                      <a:r>
                        <a:rPr b="1" lang="en" sz="2400">
                          <a:solidFill>
                            <a:schemeClr val="dk1"/>
                          </a:solidFill>
                          <a:latin typeface="Barlow Condensed"/>
                          <a:ea typeface="Barlow Condensed"/>
                          <a:cs typeface="Barlow Condensed"/>
                          <a:sym typeface="Barlow Condensed"/>
                        </a:rPr>
                        <a:t> </a:t>
                      </a:r>
                      <a:endParaRPr b="1"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requests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735</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0.92</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583K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EAD3"/>
                    </a:solidFill>
                  </a:tcPr>
                </a:tc>
              </a:tr>
              <a:tr h="381000">
                <a:tc vMerge="1"/>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setuptools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182</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0.71</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503K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EAD3"/>
                    </a:solidFill>
                  </a:tcPr>
                </a:tc>
              </a:tr>
              <a:tr h="381000">
                <a:tc vMerge="1"/>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scipy</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131</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0.96</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2.34M</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EAD3"/>
                    </a:solidFill>
                  </a:tcPr>
                </a:tc>
              </a:tr>
              <a:tr h="381000">
                <a:tc vMerge="1"/>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Django</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103</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0.82</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1.85M</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EAD3"/>
                    </a:solidFill>
                  </a:tcPr>
                </a:tc>
              </a:tr>
              <a:tr h="381000">
                <a:tc rowSpan="3">
                  <a:txBody>
                    <a:bodyPr>
                      <a:noAutofit/>
                    </a:bodyPr>
                    <a:lstStyle/>
                    <a:p>
                      <a:pPr indent="0" lvl="0" marL="0" rtl="0" algn="r">
                        <a:spcBef>
                          <a:spcPts val="0"/>
                        </a:spcBef>
                        <a:spcAft>
                          <a:spcPts val="0"/>
                        </a:spcAft>
                        <a:buNone/>
                      </a:pPr>
                      <a:r>
                        <a:rPr b="1" lang="en" sz="2400">
                          <a:solidFill>
                            <a:srgbClr val="666666"/>
                          </a:solidFill>
                          <a:latin typeface="Barlow Condensed"/>
                          <a:ea typeface="Barlow Condensed"/>
                          <a:cs typeface="Barlow Condensed"/>
                          <a:sym typeface="Barlow Condensed"/>
                        </a:rPr>
                        <a:t>Julia</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Compat</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596</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0.60</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213K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0E0E3"/>
                    </a:solidFill>
                  </a:tcPr>
                </a:tc>
              </a:tr>
              <a:tr h="381000">
                <a:tc vMerge="1"/>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Distributions</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147</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7</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0.76</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1.7K</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0.07</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480K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0E0E3"/>
                    </a:solidFill>
                  </a:tcPr>
                </a:tc>
              </a:tr>
              <a:tr h="381000">
                <a:tc vMerge="1"/>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StatsBase</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136</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4</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0.56</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856</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0.02</a:t>
                      </a:r>
                      <a:endParaRPr sz="2400">
                        <a:latin typeface="Barlow Condensed"/>
                        <a:ea typeface="Barlow Condensed"/>
                        <a:cs typeface="Barlow Condensed"/>
                        <a:sym typeface="Barlow Condensed"/>
                      </a:endParaRPr>
                    </a:p>
                  </a:txBody>
                  <a:tcPr marT="91425" marB="91425" marR="91425" marL="91425">
                    <a:solidFill>
                      <a:srgbClr val="D0E0E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277K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0E0E3"/>
                    </a:solidFill>
                  </a:tcPr>
                </a:tc>
              </a:tr>
              <a:tr h="381000">
                <a:tc rowSpan="3">
                  <a:txBody>
                    <a:bodyPr>
                      <a:noAutofit/>
                    </a:bodyPr>
                    <a:lstStyle/>
                    <a:p>
                      <a:pPr indent="0" lvl="0" marL="0" rtl="0" algn="r">
                        <a:spcBef>
                          <a:spcPts val="0"/>
                        </a:spcBef>
                        <a:spcAft>
                          <a:spcPts val="0"/>
                        </a:spcAft>
                        <a:buNone/>
                      </a:pPr>
                      <a:r>
                        <a:rPr b="1" lang="en" sz="2400">
                          <a:solidFill>
                            <a:srgbClr val="666666"/>
                          </a:solidFill>
                          <a:latin typeface="Barlow Condensed"/>
                          <a:ea typeface="Barlow Condensed"/>
                          <a:cs typeface="Barlow Condensed"/>
                          <a:sym typeface="Barlow Condensed"/>
                        </a:rPr>
                        <a:t>CDNJS</a:t>
                      </a:r>
                      <a:endParaRPr b="1" sz="2400">
                        <a:solidFill>
                          <a:srgbClr val="666666"/>
                        </a:solidFill>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mocha</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468</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0.62</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629K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D2E9"/>
                    </a:solidFill>
                  </a:tcPr>
                </a:tc>
              </a:tr>
              <a:tr h="381000">
                <a:tc vMerge="1"/>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gulp</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438</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0.93</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801</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0.02</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214K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D2E9"/>
                    </a:solidFill>
                  </a:tcPr>
                </a:tc>
              </a:tr>
              <a:tr h="381000">
                <a:tc vMerge="1"/>
                <a:tc>
                  <a:txBody>
                    <a:bodyPr>
                      <a:noAutofit/>
                    </a:bodyPr>
                    <a:lstStyle/>
                    <a:p>
                      <a:pPr indent="0" lvl="0" marL="0" rtl="0">
                        <a:spcBef>
                          <a:spcPts val="0"/>
                        </a:spcBef>
                        <a:spcAft>
                          <a:spcPts val="0"/>
                        </a:spcAft>
                        <a:buNone/>
                      </a:pPr>
                      <a:r>
                        <a:rPr lang="en" sz="2400">
                          <a:latin typeface="Barlow Condensed"/>
                          <a:ea typeface="Barlow Condensed"/>
                          <a:cs typeface="Barlow Condensed"/>
                          <a:sym typeface="Barlow Condensed"/>
                        </a:rPr>
                        <a:t>chai</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258</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lnL cap="flat" cmpd="sng" w="9525">
                      <a:solidFill>
                        <a:srgbClr val="9E9E9E"/>
                      </a:solidFill>
                      <a:prstDash val="solid"/>
                      <a:round/>
                      <a:headEnd len="sm" w="sm" type="none"/>
                      <a:tailEnd len="sm" w="sm" type="none"/>
                    </a:lnL>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0.86</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0</a:t>
                      </a:r>
                      <a:endParaRPr sz="2400">
                        <a:latin typeface="Barlow Condensed"/>
                        <a:ea typeface="Barlow Condensed"/>
                        <a:cs typeface="Barlow Condensed"/>
                        <a:sym typeface="Barlow Condensed"/>
                      </a:endParaRPr>
                    </a:p>
                  </a:txBody>
                  <a:tcPr marT="91425" marB="91425" marR="91425" marL="91425">
                    <a:solidFill>
                      <a:srgbClr val="D9D2E9"/>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573K</a:t>
                      </a:r>
                      <a:endParaRPr sz="2400">
                        <a:latin typeface="Barlow Condensed"/>
                        <a:ea typeface="Barlow Condensed"/>
                        <a:cs typeface="Barlow Condensed"/>
                        <a:sym typeface="Barlow Condensed"/>
                      </a:endParaRPr>
                    </a:p>
                  </a:txBody>
                  <a:tcPr marT="91425" marB="91425" marR="91425" marL="91425">
                    <a:lnR cap="flat" cmpd="sng" w="9525">
                      <a:solidFill>
                        <a:srgbClr val="9E9E9E"/>
                      </a:solidFill>
                      <a:prstDash val="solid"/>
                      <a:round/>
                      <a:headEnd len="sm" w="sm" type="none"/>
                      <a:tailEnd len="sm" w="sm" type="none"/>
                    </a:lnR>
                    <a:solidFill>
                      <a:srgbClr val="D9D2E9"/>
                    </a:solidFill>
                  </a:tcPr>
                </a:tc>
              </a:tr>
            </a:tbl>
          </a:graphicData>
        </a:graphic>
      </p:graphicFrame>
      <p:sp>
        <p:nvSpPr>
          <p:cNvPr id="104" name="Google Shape;104;p13"/>
          <p:cNvSpPr txBox="1"/>
          <p:nvPr/>
        </p:nvSpPr>
        <p:spPr>
          <a:xfrm>
            <a:off x="2303125" y="26892550"/>
            <a:ext cx="3837000" cy="412800"/>
          </a:xfrm>
          <a:prstGeom prst="rect">
            <a:avLst/>
          </a:prstGeom>
          <a:solidFill>
            <a:schemeClr val="lt1"/>
          </a:solidFill>
          <a:ln>
            <a:noFill/>
          </a:ln>
        </p:spPr>
        <p:txBody>
          <a:bodyPr anchorCtr="0" anchor="ctr" bIns="91425" lIns="91425" spcFirstLastPara="1" rIns="91425" wrap="square" tIns="91425">
            <a:noAutofit/>
          </a:bodyPr>
          <a:lstStyle/>
          <a:p>
            <a:pPr indent="0" lvl="0" marL="0" rtl="0">
              <a:spcBef>
                <a:spcPts val="0"/>
              </a:spcBef>
              <a:spcAft>
                <a:spcPts val="0"/>
              </a:spcAft>
              <a:buNone/>
            </a:pPr>
            <a:r>
              <a:rPr lang="en" sz="2400">
                <a:solidFill>
                  <a:srgbClr val="141F22"/>
                </a:solidFill>
                <a:latin typeface="Barlow Condensed"/>
                <a:ea typeface="Barlow Condensed"/>
                <a:cs typeface="Barlow Condensed"/>
                <a:sym typeface="Barlow Condensed"/>
              </a:rPr>
              <a:t>Density Plots of Log(Cost)</a:t>
            </a:r>
            <a:endParaRPr sz="2400">
              <a:latin typeface="Barlow Condensed"/>
              <a:ea typeface="Barlow Condensed"/>
              <a:cs typeface="Barlow Condensed"/>
              <a:sym typeface="Barlow Condensed"/>
            </a:endParaRPr>
          </a:p>
        </p:txBody>
      </p:sp>
      <p:sp>
        <p:nvSpPr>
          <p:cNvPr id="105" name="Google Shape;105;p13"/>
          <p:cNvSpPr txBox="1"/>
          <p:nvPr/>
        </p:nvSpPr>
        <p:spPr>
          <a:xfrm>
            <a:off x="24645575" y="32873850"/>
            <a:ext cx="9962100" cy="1276200"/>
          </a:xfrm>
          <a:prstGeom prst="rect">
            <a:avLst/>
          </a:prstGeom>
          <a:noFill/>
          <a:ln>
            <a:noFill/>
          </a:ln>
        </p:spPr>
        <p:txBody>
          <a:bodyPr anchorCtr="0" anchor="t" bIns="156150" lIns="312475" spcFirstLastPara="1" rIns="312475" wrap="square" tIns="156150">
            <a:noAutofit/>
          </a:bodyPr>
          <a:lstStyle/>
          <a:p>
            <a:pPr indent="-419100" lvl="0" marL="457200" marR="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Collect author information (e.g., organization, country) to categorize OSS investment by sector and country.</a:t>
            </a:r>
            <a:endParaRPr sz="3000">
              <a:solidFill>
                <a:srgbClr val="141F22"/>
              </a:solidFill>
              <a:latin typeface="Barlow Condensed"/>
              <a:ea typeface="Barlow Condensed"/>
              <a:cs typeface="Barlow Condensed"/>
              <a:sym typeface="Barlow Condensed"/>
            </a:endParaRPr>
          </a:p>
          <a:p>
            <a:pPr indent="-419100" lvl="0" marL="457200" marR="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Analyze the contributor network to identify influential developers.</a:t>
            </a:r>
            <a:r>
              <a:rPr i="1" lang="en" sz="3000">
                <a:solidFill>
                  <a:srgbClr val="141F22"/>
                </a:solidFill>
                <a:latin typeface="Barlow Condensed"/>
                <a:ea typeface="Barlow Condensed"/>
                <a:cs typeface="Barlow Condensed"/>
                <a:sym typeface="Barlow Condensed"/>
              </a:rPr>
              <a:t>                        </a:t>
            </a:r>
            <a:endParaRPr sz="3000">
              <a:solidFill>
                <a:srgbClr val="141F22"/>
              </a:solidFill>
              <a:latin typeface="Barlow Condensed"/>
              <a:ea typeface="Barlow Condensed"/>
              <a:cs typeface="Barlow Condensed"/>
              <a:sym typeface="Barlow Condensed"/>
            </a:endParaRPr>
          </a:p>
        </p:txBody>
      </p:sp>
      <p:sp>
        <p:nvSpPr>
          <p:cNvPr id="106" name="Google Shape;106;p13"/>
          <p:cNvSpPr/>
          <p:nvPr/>
        </p:nvSpPr>
        <p:spPr>
          <a:xfrm>
            <a:off x="23334700" y="9808625"/>
            <a:ext cx="8968900" cy="4543975"/>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107" name="Google Shape;107;p13"/>
          <p:cNvSpPr/>
          <p:nvPr/>
        </p:nvSpPr>
        <p:spPr>
          <a:xfrm>
            <a:off x="16316975" y="18131825"/>
            <a:ext cx="11942675" cy="4364975"/>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108" name="Google Shape;108;p13"/>
          <p:cNvSpPr/>
          <p:nvPr/>
        </p:nvSpPr>
        <p:spPr>
          <a:xfrm>
            <a:off x="1379575" y="31823675"/>
            <a:ext cx="11325400" cy="497940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109" name="Google Shape;109;p13"/>
          <p:cNvSpPr/>
          <p:nvPr/>
        </p:nvSpPr>
        <p:spPr>
          <a:xfrm>
            <a:off x="13498325" y="25357775"/>
            <a:ext cx="10920900" cy="9196350"/>
          </a:xfrm>
          <a:prstGeom prst="flowChartProcess">
            <a:avLst/>
          </a:prstGeom>
          <a:noFill/>
          <a:ln cap="flat" cmpd="sng" w="76200">
            <a:solidFill>
              <a:srgbClr val="5D89B4"/>
            </a:solidFill>
            <a:prstDash val="solid"/>
            <a:round/>
            <a:headEnd len="sm" w="sm" type="none"/>
            <a:tailEnd len="sm" w="sm" type="none"/>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pic>
        <p:nvPicPr>
          <p:cNvPr id="110" name="Google Shape;110;p13"/>
          <p:cNvPicPr preferRelativeResize="0"/>
          <p:nvPr/>
        </p:nvPicPr>
        <p:blipFill>
          <a:blip r:embed="rId12">
            <a:alphaModFix/>
          </a:blip>
          <a:stretch>
            <a:fillRect/>
          </a:stretch>
        </p:blipFill>
        <p:spPr>
          <a:xfrm>
            <a:off x="7321925" y="27244925"/>
            <a:ext cx="5950031" cy="4479875"/>
          </a:xfrm>
          <a:prstGeom prst="rect">
            <a:avLst/>
          </a:prstGeom>
          <a:noFill/>
          <a:ln>
            <a:noFill/>
          </a:ln>
        </p:spPr>
      </p:pic>
      <p:sp>
        <p:nvSpPr>
          <p:cNvPr id="111" name="Google Shape;111;p13"/>
          <p:cNvSpPr txBox="1"/>
          <p:nvPr/>
        </p:nvSpPr>
        <p:spPr>
          <a:xfrm>
            <a:off x="13476875" y="34623650"/>
            <a:ext cx="10972800" cy="2676300"/>
          </a:xfrm>
          <a:prstGeom prst="rect">
            <a:avLst/>
          </a:prstGeom>
          <a:noFill/>
          <a:ln>
            <a:noFill/>
          </a:ln>
        </p:spPr>
        <p:txBody>
          <a:bodyPr anchorCtr="0" anchor="t" bIns="91425" lIns="91425" spcFirstLastPara="1" rIns="91425" wrap="square" tIns="91425">
            <a:noAutofit/>
          </a:bodyPr>
          <a:lstStyle/>
          <a:p>
            <a:pPr indent="0" lvl="0" marL="0">
              <a:spcBef>
                <a:spcPts val="0"/>
              </a:spcBef>
              <a:spcAft>
                <a:spcPts val="0"/>
              </a:spcAft>
              <a:buClr>
                <a:schemeClr val="dk1"/>
              </a:buClr>
              <a:buSzPts val="1100"/>
              <a:buFont typeface="Arial"/>
              <a:buNone/>
            </a:pPr>
            <a:r>
              <a:rPr lang="en" sz="2400">
                <a:solidFill>
                  <a:schemeClr val="dk1"/>
                </a:solidFill>
                <a:latin typeface="Barlow Condensed"/>
                <a:ea typeface="Barlow Condensed"/>
                <a:cs typeface="Barlow Condensed"/>
                <a:sym typeface="Barlow Condensed"/>
              </a:rPr>
              <a:t>Definitions: </a:t>
            </a:r>
            <a:r>
              <a:rPr lang="en" sz="2400" u="sng">
                <a:solidFill>
                  <a:schemeClr val="dk1"/>
                </a:solidFill>
                <a:latin typeface="Barlow Condensed"/>
                <a:ea typeface="Barlow Condensed"/>
                <a:cs typeface="Barlow Condensed"/>
                <a:sym typeface="Barlow Condensed"/>
              </a:rPr>
              <a:t>Outdegree</a:t>
            </a:r>
            <a:r>
              <a:rPr lang="en" sz="2400">
                <a:solidFill>
                  <a:schemeClr val="dk1"/>
                </a:solidFill>
                <a:latin typeface="Barlow Condensed"/>
                <a:ea typeface="Barlow Condensed"/>
                <a:cs typeface="Barlow Condensed"/>
                <a:sym typeface="Barlow Condensed"/>
              </a:rPr>
              <a:t> (</a:t>
            </a:r>
            <a:r>
              <a:rPr lang="en" sz="2400" u="sng">
                <a:solidFill>
                  <a:schemeClr val="dk1"/>
                </a:solidFill>
                <a:latin typeface="Barlow Condensed"/>
                <a:ea typeface="Barlow Condensed"/>
                <a:cs typeface="Barlow Condensed"/>
                <a:sym typeface="Barlow Condensed"/>
              </a:rPr>
              <a:t>indegree</a:t>
            </a:r>
            <a:r>
              <a:rPr lang="en" sz="2400">
                <a:solidFill>
                  <a:schemeClr val="dk1"/>
                </a:solidFill>
                <a:latin typeface="Barlow Condensed"/>
                <a:ea typeface="Barlow Condensed"/>
                <a:cs typeface="Barlow Condensed"/>
                <a:sym typeface="Barlow Condensed"/>
              </a:rPr>
              <a:t>, respectively) is the total number of outgoing (incoming) links, i.e., the number of packages that depend on (are required by) the package. </a:t>
            </a:r>
            <a:r>
              <a:rPr lang="en" sz="2400" u="sng">
                <a:solidFill>
                  <a:schemeClr val="dk1"/>
                </a:solidFill>
                <a:latin typeface="Barlow Condensed"/>
                <a:ea typeface="Barlow Condensed"/>
                <a:cs typeface="Barlow Condensed"/>
                <a:sym typeface="Barlow Condensed"/>
              </a:rPr>
              <a:t>Closeness centrality </a:t>
            </a:r>
            <a:r>
              <a:rPr lang="en" sz="2400">
                <a:solidFill>
                  <a:schemeClr val="dk1"/>
                </a:solidFill>
                <a:latin typeface="Barlow Condensed"/>
                <a:ea typeface="Barlow Condensed"/>
                <a:cs typeface="Barlow Condensed"/>
                <a:sym typeface="Barlow Condensed"/>
              </a:rPr>
              <a:t>measures how close a node is to every other node. </a:t>
            </a:r>
            <a:r>
              <a:rPr lang="en" sz="2400" u="sng">
                <a:solidFill>
                  <a:schemeClr val="dk1"/>
                </a:solidFill>
                <a:latin typeface="Barlow Condensed"/>
                <a:ea typeface="Barlow Condensed"/>
                <a:cs typeface="Barlow Condensed"/>
                <a:sym typeface="Barlow Condensed"/>
              </a:rPr>
              <a:t>Betweenness</a:t>
            </a:r>
            <a:r>
              <a:rPr lang="en" sz="2400">
                <a:solidFill>
                  <a:schemeClr val="dk1"/>
                </a:solidFill>
                <a:latin typeface="Barlow Condensed"/>
                <a:ea typeface="Barlow Condensed"/>
                <a:cs typeface="Barlow Condensed"/>
                <a:sym typeface="Barlow Condensed"/>
              </a:rPr>
              <a:t> is a measure of being connected to other nodes that are not connected to each other (as a bridge). </a:t>
            </a:r>
            <a:r>
              <a:rPr lang="en" sz="2400" u="sng">
                <a:solidFill>
                  <a:schemeClr val="dk1"/>
                </a:solidFill>
                <a:latin typeface="Barlow Condensed"/>
                <a:ea typeface="Barlow Condensed"/>
                <a:cs typeface="Barlow Condensed"/>
                <a:sym typeface="Barlow Condensed"/>
              </a:rPr>
              <a:t>PageRank </a:t>
            </a:r>
            <a:r>
              <a:rPr lang="en" sz="2400">
                <a:solidFill>
                  <a:schemeClr val="dk1"/>
                </a:solidFill>
                <a:latin typeface="Barlow Condensed"/>
                <a:ea typeface="Barlow Condensed"/>
                <a:cs typeface="Barlow Condensed"/>
                <a:sym typeface="Barlow Condensed"/>
              </a:rPr>
              <a:t>depends on (i) the number of links the node receives, (ii) the number of links given out by its neighbors, (iii) the centrality of its neighbors. </a:t>
            </a:r>
            <a:r>
              <a:rPr lang="en" sz="2400" u="sng">
                <a:solidFill>
                  <a:schemeClr val="dk1"/>
                </a:solidFill>
                <a:latin typeface="Barlow Condensed"/>
                <a:ea typeface="Barlow Condensed"/>
                <a:cs typeface="Barlow Condensed"/>
                <a:sym typeface="Barlow Condensed"/>
              </a:rPr>
              <a:t>Clustering coefficient</a:t>
            </a:r>
            <a:r>
              <a:rPr lang="en" sz="2400">
                <a:solidFill>
                  <a:schemeClr val="dk1"/>
                </a:solidFill>
                <a:latin typeface="Barlow Condensed"/>
                <a:ea typeface="Barlow Condensed"/>
                <a:cs typeface="Barlow Condensed"/>
                <a:sym typeface="Barlow Condensed"/>
              </a:rPr>
              <a:t> quantifies the degree to which a node’s neighbors are connected. </a:t>
            </a:r>
            <a:r>
              <a:rPr lang="en" sz="2400" u="sng">
                <a:solidFill>
                  <a:schemeClr val="dk1"/>
                </a:solidFill>
                <a:latin typeface="Barlow Condensed"/>
                <a:ea typeface="Barlow Condensed"/>
                <a:cs typeface="Barlow Condensed"/>
                <a:sym typeface="Barlow Condensed"/>
              </a:rPr>
              <a:t>Eigencentrality</a:t>
            </a:r>
            <a:r>
              <a:rPr lang="en" sz="2400">
                <a:solidFill>
                  <a:schemeClr val="dk1"/>
                </a:solidFill>
                <a:latin typeface="Barlow Condensed"/>
                <a:ea typeface="Barlow Condensed"/>
                <a:cs typeface="Barlow Condensed"/>
                <a:sym typeface="Barlow Condensed"/>
              </a:rPr>
              <a:t> of a node takes into account the centrality of its neighbors.</a:t>
            </a:r>
            <a:endParaRPr/>
          </a:p>
        </p:txBody>
      </p:sp>
      <p:pic>
        <p:nvPicPr>
          <p:cNvPr id="112" name="Google Shape;112;p13"/>
          <p:cNvPicPr preferRelativeResize="0"/>
          <p:nvPr/>
        </p:nvPicPr>
        <p:blipFill>
          <a:blip r:embed="rId13">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0066390C-6616-42C1-884F-7D37C09CBA26}"/>
</file>

<file path=customXml/itemProps2.xml><?xml version="1.0" encoding="utf-8"?>
<ds:datastoreItem xmlns:ds="http://schemas.openxmlformats.org/officeDocument/2006/customXml" ds:itemID="{DC91F661-B991-472F-ACDB-8AC9149AAA43}"/>
</file>

<file path=customXml/itemProps3.xml><?xml version="1.0" encoding="utf-8"?>
<ds:datastoreItem xmlns:ds="http://schemas.openxmlformats.org/officeDocument/2006/customXml" ds:itemID="{8D37F65C-5DC9-41BC-9F28-AA33C4298CA1}"/>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