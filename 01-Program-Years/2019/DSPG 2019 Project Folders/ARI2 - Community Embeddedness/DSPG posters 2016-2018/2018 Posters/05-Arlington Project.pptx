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 Id="rId9"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jpg"/><Relationship Id="rId7" Type="http://schemas.openxmlformats.org/officeDocument/2006/relationships/image" Target="../media/image8.jpg"/><Relationship Id="rId8"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20125"/>
            <a:ext cx="27009885" cy="1105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Building a More Equitable Arlington:  Baseline</a:t>
            </a:r>
            <a:endParaRPr b="0" i="0" sz="1400" u="none" cap="none" strike="noStrike">
              <a:solidFill>
                <a:srgbClr val="000000"/>
              </a:solidFill>
              <a:latin typeface="Arial"/>
              <a:ea typeface="Arial"/>
              <a:cs typeface="Arial"/>
              <a:sym typeface="Arial"/>
            </a:endParaRPr>
          </a:p>
        </p:txBody>
      </p:sp>
      <p:sp>
        <p:nvSpPr>
          <p:cNvPr id="52" name="Google Shape;52;p13"/>
          <p:cNvSpPr txBox="1"/>
          <p:nvPr/>
        </p:nvSpPr>
        <p:spPr>
          <a:xfrm>
            <a:off x="8270712" y="1432312"/>
            <a:ext cx="27009888" cy="9792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9600"/>
              <a:buFont typeface="Arial"/>
              <a:buNone/>
            </a:pPr>
            <a:r>
              <a:rPr b="1" i="0" lang="en" sz="9600" u="none" cap="none" strike="noStrike">
                <a:solidFill>
                  <a:srgbClr val="141F22"/>
                </a:solidFill>
                <a:latin typeface="Barlow Condensed"/>
                <a:ea typeface="Barlow Condensed"/>
                <a:cs typeface="Barlow Condensed"/>
                <a:sym typeface="Barlow Condensed"/>
              </a:rPr>
              <a:t>Characterizations of Renter Households &amp; Apartment Stock  </a:t>
            </a:r>
            <a:endParaRPr b="1" i="0" sz="9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9600"/>
              <a:buFont typeface="Arial"/>
              <a:buNone/>
            </a:pPr>
            <a:r>
              <a:t/>
            </a:r>
            <a:endParaRPr b="1" i="0" sz="9600" u="none" cap="none" strike="noStrike">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4800"/>
              <a:buFont typeface="Arial"/>
              <a:buNone/>
            </a:pPr>
            <a:r>
              <a:rPr b="0" i="1" lang="en" sz="4800" u="none" cap="none" strike="noStrike">
                <a:solidFill>
                  <a:srgbClr val="141F22"/>
                </a:solidFill>
                <a:latin typeface="Barlow Condensed"/>
                <a:ea typeface="Barlow Condensed"/>
                <a:cs typeface="Barlow Condensed"/>
                <a:sym typeface="Barlow Condensed"/>
              </a:rPr>
              <a:t>Fellow Davon Woodard, Students Armi Mosavian and Weerasu Warajuntano  </a:t>
            </a:r>
            <a:endParaRPr b="0" i="0" sz="1400" u="none" cap="none" strike="noStrike">
              <a:solidFill>
                <a:srgbClr val="000000"/>
              </a:solidFill>
              <a:latin typeface="Arial"/>
              <a:ea typeface="Arial"/>
              <a:cs typeface="Arial"/>
              <a:sym typeface="Arial"/>
            </a:endParaRPr>
          </a:p>
        </p:txBody>
      </p:sp>
      <p:sp>
        <p:nvSpPr>
          <p:cNvPr id="54" name="Google Shape;54;p13"/>
          <p:cNvSpPr txBox="1"/>
          <p:nvPr/>
        </p:nvSpPr>
        <p:spPr>
          <a:xfrm>
            <a:off x="1048775" y="27217150"/>
            <a:ext cx="1101582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Instability</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767370" y="14349625"/>
            <a:ext cx="21777901"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chemeClr val="dk1"/>
              </a:buClr>
              <a:buSzPts val="4800"/>
              <a:buFont typeface="Arial"/>
              <a:buNone/>
            </a:pPr>
            <a:r>
              <a:rPr b="1" i="0" lang="en" sz="4800" u="none" cap="none" strike="noStrike">
                <a:solidFill>
                  <a:schemeClr val="lt1"/>
                </a:solidFill>
                <a:latin typeface="Barlow Condensed"/>
                <a:ea typeface="Barlow Condensed"/>
                <a:cs typeface="Barlow Condensed"/>
                <a:sym typeface="Barlow Condensed"/>
              </a:rPr>
              <a:t>2016 Eviction Filing Rates versus Eviction Rates</a:t>
            </a:r>
            <a:endParaRPr b="1" i="0" sz="4800" u="none" cap="none" strike="noStrike">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767380" y="5061800"/>
            <a:ext cx="11362620" cy="1742700"/>
          </a:xfrm>
          <a:prstGeom prst="rect">
            <a:avLst/>
          </a:prstGeom>
          <a:solidFill>
            <a:srgbClr val="5D89B4"/>
          </a:solidFill>
          <a:ln cap="flat" cmpd="sng" w="9525">
            <a:solidFill>
              <a:srgbClr val="5D89B4"/>
            </a:solidFill>
            <a:prstDash val="solid"/>
            <a:round/>
            <a:headEnd len="sm" w="sm" type="none"/>
            <a:tailEnd len="sm" w="sm" type="none"/>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Arlington County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2016 Renter Population Demographics</a:t>
            </a:r>
            <a:endParaRPr b="1" i="0" sz="4800" u="none" cap="none" strike="noStrike">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4933100" y="13342820"/>
            <a:ext cx="9612056" cy="646225"/>
          </a:xfrm>
          <a:prstGeom prst="rect">
            <a:avLst/>
          </a:prstGeom>
          <a:no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1.  </a:t>
            </a:r>
            <a:r>
              <a:rPr b="0" i="1" lang="en" sz="2000" u="none" cap="none" strike="noStrike">
                <a:solidFill>
                  <a:srgbClr val="5D89B4"/>
                </a:solidFill>
                <a:latin typeface="Barlow Condensed"/>
                <a:ea typeface="Barlow Condensed"/>
                <a:cs typeface="Barlow Condensed"/>
                <a:sym typeface="Barlow Condensed"/>
              </a:rPr>
              <a:t>Location of the Number of Family &amp; non-Family Renter Households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4385650" y="27217150"/>
            <a:ext cx="10060800" cy="1105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3000"/>
              <a:buFont typeface="Arial"/>
              <a:buNone/>
            </a:pPr>
            <a:r>
              <a:rPr b="1" i="0" lang="en" sz="4800" u="none" cap="none" strike="noStrike">
                <a:solidFill>
                  <a:srgbClr val="FFFFFF"/>
                </a:solidFill>
                <a:latin typeface="Barlow Condensed"/>
                <a:ea typeface="Barlow Condensed"/>
                <a:cs typeface="Barlow Condensed"/>
                <a:sym typeface="Barlow Condensed"/>
              </a:rPr>
              <a:t>References/Acknowledgements </a:t>
            </a:r>
            <a:endParaRPr b="1" i="0" sz="4800" u="none" cap="none" strike="noStrike">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6215254"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1" lang="en" sz="3600" u="none" cap="none" strike="noStrike">
                <a:solidFill>
                  <a:srgbClr val="141F22"/>
                </a:solidFill>
                <a:latin typeface="Barlow Condensed"/>
                <a:ea typeface="Barlow Condensed"/>
                <a:cs typeface="Barlow Condensed"/>
                <a:sym typeface="Barlow Condensed"/>
              </a:rPr>
              <a:t>Arlington Community Progress Network (CPN):  Nathanial Root, Jose Quinonez, and Cheryl Ramp </a:t>
            </a:r>
            <a:endParaRPr b="0" i="0" sz="1400" u="none" cap="none" strike="noStrike">
              <a:solidFill>
                <a:srgbClr val="000000"/>
              </a:solidFill>
              <a:latin typeface="Arial"/>
              <a:ea typeface="Arial"/>
              <a:cs typeface="Arial"/>
              <a:sym typeface="Arial"/>
            </a:endParaRPr>
          </a:p>
        </p:txBody>
      </p:sp>
      <p:sp>
        <p:nvSpPr>
          <p:cNvPr id="60" name="Google Shape;60;p13"/>
          <p:cNvSpPr txBox="1"/>
          <p:nvPr/>
        </p:nvSpPr>
        <p:spPr>
          <a:xfrm>
            <a:off x="1124975" y="6804624"/>
            <a:ext cx="10915500" cy="7271415"/>
          </a:xfrm>
          <a:prstGeom prst="rect">
            <a:avLst/>
          </a:prstGeom>
          <a:noFill/>
          <a:ln>
            <a:noFill/>
          </a:ln>
        </p:spPr>
        <p:txBody>
          <a:bodyPr anchorCtr="0" anchor="t" bIns="156150" lIns="312475" spcFirstLastPara="1" rIns="312475" wrap="square" tIns="156150">
            <a:noAutofit/>
          </a:bodyPr>
          <a:lstStyle/>
          <a:p>
            <a:pPr indent="0" lvl="0" marL="358140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The Community Progress Network (CPN) is an Arlington County advisory council of</a:t>
            </a:r>
            <a:endParaRPr b="0" i="0" sz="3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civic and business leaders, elected officials, service providers, nonprofits, and research institutions including the Social Decision and Analytics Lab. The mission of CPN is to promote equity through education, engagement, and advocacy.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This project contributes to the mission of CPN by constructing baseline characterizations of renter family and non-family households and the apartment stock. These analyses can be used to inform policy on affordable housing needs and to educate Arlington County residents as to the plight of low income rental households. </a:t>
            </a:r>
            <a:endParaRPr b="0" i="0" sz="3600" u="none" cap="none" strike="noStrike">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4950075" y="28763875"/>
            <a:ext cx="8819400" cy="8702400"/>
          </a:xfrm>
          <a:prstGeom prst="rect">
            <a:avLst/>
          </a:prstGeom>
          <a:noFill/>
          <a:ln>
            <a:noFill/>
          </a:ln>
        </p:spPr>
        <p:txBody>
          <a:bodyPr anchorCtr="0" anchor="t" bIns="156150" lIns="312475" spcFirstLastPara="1" rIns="312475" wrap="square" tIns="156150">
            <a:noAutofit/>
          </a:bodyPr>
          <a:lstStyle/>
          <a:p>
            <a:pPr indent="-419100" lvl="0" marL="457200" marR="0" rtl="0" algn="l">
              <a:lnSpc>
                <a:spcPct val="100000"/>
              </a:lnSpc>
              <a:spcBef>
                <a:spcPts val="0"/>
              </a:spcBef>
              <a:spcAft>
                <a:spcPts val="0"/>
              </a:spcAft>
              <a:buClr>
                <a:srgbClr val="141F22"/>
              </a:buClr>
              <a:buSzPts val="3000"/>
              <a:buFont typeface="Barlow Condensed"/>
              <a:buAutoNum type="arabicPeriod"/>
            </a:pPr>
            <a:r>
              <a:rPr b="0" i="0" lang="en" sz="3000" u="none" cap="none" strike="noStrike">
                <a:solidFill>
                  <a:schemeClr val="dk1"/>
                </a:solidFill>
                <a:latin typeface="Barlow Condensed"/>
                <a:ea typeface="Barlow Condensed"/>
                <a:cs typeface="Barlow Condensed"/>
                <a:sym typeface="Barlow Condensed"/>
              </a:rPr>
              <a:t>Boggess, L. N., &amp; Hipp, J. R. (2010). Violent crime, residential instability and mobility: Does the relationship differ in minority neighborhoods?. </a:t>
            </a:r>
            <a:r>
              <a:rPr b="0" i="1" lang="en" sz="3000" u="none" cap="none" strike="noStrike">
                <a:solidFill>
                  <a:schemeClr val="dk1"/>
                </a:solidFill>
                <a:latin typeface="Barlow Condensed"/>
                <a:ea typeface="Barlow Condensed"/>
                <a:cs typeface="Barlow Condensed"/>
                <a:sym typeface="Barlow Condensed"/>
              </a:rPr>
              <a:t>Journal of Quantitative Criminology</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26</a:t>
            </a:r>
            <a:r>
              <a:rPr b="0" i="0" lang="en" sz="3000" u="none" cap="none" strike="noStrike">
                <a:solidFill>
                  <a:schemeClr val="dk1"/>
                </a:solidFill>
                <a:latin typeface="Barlow Condensed"/>
                <a:ea typeface="Barlow Condensed"/>
                <a:cs typeface="Barlow Condensed"/>
                <a:sym typeface="Barlow Condensed"/>
              </a:rPr>
              <a:t>(3), 351-370.</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Desmond, M., &amp; Perkins, K. L. (2016). Housing and household instability. </a:t>
            </a:r>
            <a:r>
              <a:rPr b="0" i="1" lang="en" sz="3000" u="none" cap="none" strike="noStrike">
                <a:solidFill>
                  <a:schemeClr val="dk1"/>
                </a:solidFill>
                <a:latin typeface="Barlow Condensed"/>
                <a:ea typeface="Barlow Condensed"/>
                <a:cs typeface="Barlow Condensed"/>
                <a:sym typeface="Barlow Condensed"/>
              </a:rPr>
              <a:t>Urban Affairs Review</a:t>
            </a:r>
            <a:r>
              <a:rPr b="0" i="0" lang="en" sz="3000" u="none" cap="none" strike="noStrike">
                <a:solidFill>
                  <a:schemeClr val="dk1"/>
                </a:solidFill>
                <a:latin typeface="Barlow Condensed"/>
                <a:ea typeface="Barlow Condensed"/>
                <a:cs typeface="Barlow Condensed"/>
                <a:sym typeface="Barlow Condensed"/>
              </a:rPr>
              <a:t>, </a:t>
            </a:r>
            <a:r>
              <a:rPr b="0" i="1" lang="en" sz="3000" u="none" cap="none" strike="noStrike">
                <a:solidFill>
                  <a:schemeClr val="dk1"/>
                </a:solidFill>
                <a:latin typeface="Barlow Condensed"/>
                <a:ea typeface="Barlow Condensed"/>
                <a:cs typeface="Barlow Condensed"/>
                <a:sym typeface="Barlow Condensed"/>
              </a:rPr>
              <a:t>52</a:t>
            </a:r>
            <a:r>
              <a:rPr b="0" i="0" lang="en" sz="3000" u="none" cap="none" strike="noStrike">
                <a:solidFill>
                  <a:schemeClr val="dk1"/>
                </a:solidFill>
                <a:latin typeface="Barlow Condensed"/>
                <a:ea typeface="Barlow Condensed"/>
                <a:cs typeface="Barlow Condensed"/>
                <a:sym typeface="Barlow Condensed"/>
              </a:rPr>
              <a:t>(3), 421-436.</a:t>
            </a:r>
            <a:endParaRPr b="0" i="0" sz="3000" u="none" cap="none" strike="noStrike">
              <a:solidFill>
                <a:schemeClr val="dk1"/>
              </a:solidFill>
              <a:latin typeface="Barlow Condensed"/>
              <a:ea typeface="Barlow Condensed"/>
              <a:cs typeface="Barlow Condensed"/>
              <a:sym typeface="Barlow Condensed"/>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Coulton, C., Theodos, B., &amp; Turner, M. A. (2012). Residential mobility and neighborhood change: Real neighborhoods under the microscope. </a:t>
            </a:r>
            <a:r>
              <a:rPr b="0" i="1" lang="en" sz="3000" u="none" cap="none" strike="noStrike">
                <a:solidFill>
                  <a:schemeClr val="dk1"/>
                </a:solidFill>
                <a:latin typeface="Barlow Condensed"/>
                <a:ea typeface="Barlow Condensed"/>
                <a:cs typeface="Barlow Condensed"/>
                <a:sym typeface="Barlow Condensed"/>
              </a:rPr>
              <a:t>Cityscape</a:t>
            </a:r>
            <a:r>
              <a:rPr b="0" i="0" lang="en" sz="3000" u="none" cap="none" strike="noStrike">
                <a:solidFill>
                  <a:schemeClr val="dk1"/>
                </a:solidFill>
                <a:latin typeface="Barlow Condensed"/>
                <a:ea typeface="Barlow Condensed"/>
                <a:cs typeface="Barlow Condensed"/>
                <a:sym typeface="Barlow Condensed"/>
              </a:rPr>
              <a:t>, 55-89.</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RentCafe</a:t>
            </a:r>
            <a:r>
              <a:rPr b="0" i="1" lang="en" sz="3000" u="none" cap="none" strike="noStrike">
                <a:solidFill>
                  <a:schemeClr val="dk1"/>
                </a:solidFill>
                <a:latin typeface="Barlow Condensed"/>
                <a:ea typeface="Barlow Condensed"/>
                <a:cs typeface="Barlow Condensed"/>
                <a:sym typeface="Barlow Condensed"/>
              </a:rPr>
              <a:t>.</a:t>
            </a:r>
            <a:r>
              <a:rPr b="0" i="0" lang="en" sz="3000" u="none" cap="none" strike="noStrike">
                <a:solidFill>
                  <a:schemeClr val="dk1"/>
                </a:solidFill>
                <a:latin typeface="Barlow Condensed"/>
                <a:ea typeface="Barlow Condensed"/>
                <a:cs typeface="Barlow Condensed"/>
                <a:sym typeface="Barlow Condensed"/>
              </a:rPr>
              <a:t> Yardi System, www.rentcafe.com/1-bedroom-apartments-for-rent/us/va/arlington/. Accessed 27 July 2018.</a:t>
            </a:r>
            <a:endParaRPr/>
          </a:p>
          <a:p>
            <a:pPr indent="0" lvl="0" marL="38100" marR="0" rtl="0" algn="l">
              <a:lnSpc>
                <a:spcPct val="100000"/>
              </a:lnSpc>
              <a:spcBef>
                <a:spcPts val="0"/>
              </a:spcBef>
              <a:spcAft>
                <a:spcPts val="0"/>
              </a:spcAft>
              <a:buNone/>
            </a:pPr>
            <a:r>
              <a:t/>
            </a:r>
            <a:endParaRPr b="0" i="0" sz="3000" u="none" cap="none" strike="noStrike">
              <a:solidFill>
                <a:schemeClr val="dk1"/>
              </a:solidFill>
              <a:latin typeface="Barlow Condensed"/>
              <a:ea typeface="Barlow Condensed"/>
              <a:cs typeface="Barlow Condensed"/>
              <a:sym typeface="Barlow Condensed"/>
            </a:endParaRPr>
          </a:p>
          <a:p>
            <a:pPr indent="-514350" lvl="0" marL="552450" marR="0" rtl="0" algn="l">
              <a:lnSpc>
                <a:spcPct val="100000"/>
              </a:lnSpc>
              <a:spcBef>
                <a:spcPts val="0"/>
              </a:spcBef>
              <a:spcAft>
                <a:spcPts val="0"/>
              </a:spcAft>
              <a:buClr>
                <a:schemeClr val="dk1"/>
              </a:buClr>
              <a:buSzPts val="3000"/>
              <a:buFont typeface="Arial"/>
              <a:buAutoNum type="arabicPeriod"/>
            </a:pPr>
            <a:r>
              <a:rPr b="0" i="0" lang="en" sz="3000" u="none" cap="none" strike="noStrike">
                <a:solidFill>
                  <a:schemeClr val="dk1"/>
                </a:solidFill>
                <a:latin typeface="Barlow Condensed"/>
                <a:ea typeface="Barlow Condensed"/>
                <a:cs typeface="Barlow Condensed"/>
                <a:sym typeface="Barlow Condensed"/>
              </a:rPr>
              <a:t>RStudio Team (2016). RStudio: Integrated Development for R. RStudio, Inc., Boston, MA URL http://www.rstudio.com/.</a:t>
            </a:r>
            <a:endParaRPr/>
          </a:p>
          <a:p>
            <a:pPr indent="0" lvl="0" marL="45720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chemeClr val="dk1"/>
              </a:buClr>
              <a:buSzPts val="3000"/>
              <a:buFont typeface="Arial"/>
              <a:buNone/>
            </a:pPr>
            <a:r>
              <a:t/>
            </a:r>
            <a:endParaRPr b="0" i="0" sz="3000" u="none" cap="none" strike="noStrike">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795513"/>
            <a:ext cx="11286426" cy="6924264"/>
          </a:xfrm>
          <a:prstGeom prst="rect">
            <a:avLst/>
          </a:prstGeom>
          <a:noFill/>
          <a:ln>
            <a:noFill/>
          </a:ln>
        </p:spPr>
        <p:txBody>
          <a:bodyPr anchorCtr="0" anchor="t" bIns="156150" lIns="312475" spcFirstLastPara="1" rIns="312475" wrap="square" tIns="156150">
            <a:noAutofit/>
          </a:bodyPr>
          <a:lstStyle/>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56,176 or 50.7% renter occupied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 median household income for the past 12 months (in 2016 inflation-adjusted dollars) was $84,585 per year ± 2,482 (margin of error).</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10,336 ± 575 (margin of error) households with no vehicle.</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7,045 ± 422 (margin of error) Black or African American heads of households.</a:t>
            </a:r>
            <a:endParaRPr b="0" i="0" sz="1400" u="none" cap="none" strike="noStrike">
              <a:solidFill>
                <a:srgbClr val="000000"/>
              </a:solidFill>
              <a:latin typeface="Arial"/>
              <a:ea typeface="Arial"/>
              <a:cs typeface="Arial"/>
              <a:sym typeface="Arial"/>
            </a:endParaRPr>
          </a:p>
          <a:p>
            <a:pPr indent="-444500" lvl="0" marL="5715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141F22"/>
              </a:solidFill>
              <a:latin typeface="Barlow Condensed"/>
              <a:ea typeface="Barlow Condensed"/>
              <a:cs typeface="Barlow Condensed"/>
              <a:sym typeface="Barlow Condensed"/>
            </a:endParaRPr>
          </a:p>
          <a:p>
            <a:pPr indent="-571500" lvl="0" marL="571500" marR="0" rtl="0" algn="l">
              <a:lnSpc>
                <a:spcPct val="100000"/>
              </a:lnSpc>
              <a:spcBef>
                <a:spcPts val="0"/>
              </a:spcBef>
              <a:spcAft>
                <a:spcPts val="0"/>
              </a:spcAft>
              <a:buClr>
                <a:srgbClr val="000000"/>
              </a:buClr>
              <a:buSzPts val="3600"/>
              <a:buFont typeface="Arial"/>
              <a:buChar char="•"/>
            </a:pPr>
            <a:r>
              <a:rPr b="0" i="0" lang="en" sz="3600" u="none" cap="none" strike="noStrike">
                <a:solidFill>
                  <a:srgbClr val="141F22"/>
                </a:solidFill>
                <a:latin typeface="Barlow Condensed"/>
                <a:ea typeface="Barlow Condensed"/>
                <a:cs typeface="Barlow Condensed"/>
                <a:sym typeface="Barlow Condensed"/>
              </a:rPr>
              <a:t>There were 7,904 ± 492 (margin of error) Hispanic or Latino heads of households.</a:t>
            </a:r>
            <a:endParaRPr b="0" i="0" sz="1400" u="none" cap="none" strike="noStrike">
              <a:solidFill>
                <a:srgbClr val="000000"/>
              </a:solidFill>
              <a:latin typeface="Arial"/>
              <a:ea typeface="Arial"/>
              <a:cs typeface="Arial"/>
              <a:sym typeface="Arial"/>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342900" lvl="0" marL="57150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149100" y="16188688"/>
            <a:ext cx="10915500" cy="6214112"/>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A composite index was constructed to identify vulnerable low income renter households at the census tract level. Indicators that were used to construct the composite index include:</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Low income housing burden</a:t>
            </a:r>
            <a:r>
              <a:rPr b="0" i="0" lang="en" sz="3600" u="none" cap="none" strike="noStrike">
                <a:solidFill>
                  <a:srgbClr val="141F22"/>
                </a:solidFill>
                <a:latin typeface="Barlow Condensed"/>
                <a:ea typeface="Barlow Condensed"/>
                <a:cs typeface="Barlow Condensed"/>
                <a:sym typeface="Barlow Condensed"/>
              </a:rPr>
              <a:t>:  households that spend &gt; 30% of their income on housing where their household income &lt; $35,000 per year (~30% of the area median income of $108,000 per year) (ACS 5-year estimates 2012-2016) </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Eviction Filings</a:t>
            </a:r>
            <a:r>
              <a:rPr b="0" i="0" lang="en" sz="3600" u="none" cap="none" strike="noStrike">
                <a:solidFill>
                  <a:srgbClr val="141F22"/>
                </a:solidFill>
                <a:latin typeface="Barlow Condensed"/>
                <a:ea typeface="Barlow Condensed"/>
                <a:cs typeface="Barlow Condensed"/>
                <a:sym typeface="Barlow Condensed"/>
              </a:rPr>
              <a:t>:  a landlord files a case in court to have the tenant removed from the property (2016 Eviction Lab)</a:t>
            </a:r>
            <a:endParaRPr b="0" i="0" sz="1400" u="none" cap="none" strike="noStrike">
              <a:solidFill>
                <a:srgbClr val="000000"/>
              </a:solidFill>
              <a:latin typeface="Arial"/>
              <a:ea typeface="Arial"/>
              <a:cs typeface="Arial"/>
              <a:sym typeface="Arial"/>
            </a:endParaRPr>
          </a:p>
          <a:p>
            <a:pPr indent="-571500" lvl="0" marL="571500" marR="0" rtl="0" algn="just">
              <a:lnSpc>
                <a:spcPct val="100000"/>
              </a:lnSpc>
              <a:spcBef>
                <a:spcPts val="0"/>
              </a:spcBef>
              <a:spcAft>
                <a:spcPts val="0"/>
              </a:spcAft>
              <a:buClr>
                <a:srgbClr val="000000"/>
              </a:buClr>
              <a:buSzPts val="3600"/>
              <a:buFont typeface="Arial"/>
              <a:buChar char="•"/>
            </a:pPr>
            <a:r>
              <a:rPr b="1" i="0" lang="en" sz="3600" u="none" cap="none" strike="noStrike">
                <a:solidFill>
                  <a:srgbClr val="141F22"/>
                </a:solidFill>
                <a:latin typeface="Barlow Condensed"/>
                <a:ea typeface="Barlow Condensed"/>
                <a:cs typeface="Barlow Condensed"/>
                <a:sym typeface="Barlow Condensed"/>
              </a:rPr>
              <a:t>Crowding</a:t>
            </a:r>
            <a:r>
              <a:rPr b="0" i="0" lang="en" sz="3600" u="none" cap="none" strike="noStrike">
                <a:solidFill>
                  <a:srgbClr val="141F22"/>
                </a:solidFill>
                <a:latin typeface="Barlow Condensed"/>
                <a:ea typeface="Barlow Condensed"/>
                <a:cs typeface="Barlow Condensed"/>
                <a:sym typeface="Barlow Condensed"/>
              </a:rPr>
              <a:t>:  ≥ 1.51 occupants per room (ACS 5-year estimates 2012-2016) </a:t>
            </a:r>
            <a:endParaRPr b="0" i="0" sz="1400" u="none" cap="none" strike="noStrike">
              <a:solidFill>
                <a:srgbClr val="000000"/>
              </a:solidFill>
              <a:latin typeface="Arial"/>
              <a:ea typeface="Arial"/>
              <a:cs typeface="Arial"/>
              <a:sym typeface="Arial"/>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87400" y="14349613"/>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Vulnerable Low Income  ($35,000/year)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Renter Households</a:t>
            </a:r>
            <a:endParaRPr b="1" i="0" sz="4800" u="none" cap="none" strike="noStrike">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48780" y="5061800"/>
            <a:ext cx="111006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Project Objectives</a:t>
            </a:r>
            <a:endParaRPr b="1" i="0" sz="4800" u="none" cap="none" strike="noStrike">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763430" y="28235891"/>
            <a:ext cx="11465699" cy="2958518"/>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For low-income households, “</a:t>
            </a:r>
            <a:r>
              <a:rPr b="1" i="0" lang="en" sz="3600" u="none" cap="none" strike="noStrike">
                <a:solidFill>
                  <a:srgbClr val="141F22"/>
                </a:solidFill>
                <a:latin typeface="Barlow Condensed"/>
                <a:ea typeface="Barlow Condensed"/>
                <a:cs typeface="Barlow Condensed"/>
                <a:sym typeface="Barlow Condensed"/>
              </a:rPr>
              <a:t>renter mobility</a:t>
            </a:r>
            <a:r>
              <a:rPr b="0" i="0" lang="en" sz="3600" u="none" cap="none" strike="noStrike">
                <a:solidFill>
                  <a:srgbClr val="141F22"/>
                </a:solidFill>
                <a:latin typeface="Barlow Condensed"/>
                <a:ea typeface="Barlow Condensed"/>
                <a:cs typeface="Barlow Condensed"/>
                <a:sym typeface="Barlow Condensed"/>
              </a:rPr>
              <a:t>,” changes in residences, can be associated with multiple, interacting factors including housing cost (burden), rental availability, family composition changes, immediate prior evictions, quality and quantity of housing stock.</a:t>
            </a:r>
            <a:r>
              <a:rPr b="0" baseline="30000" i="0" lang="en" sz="3600" u="none" cap="none" strike="noStrike">
                <a:solidFill>
                  <a:srgbClr val="141F22"/>
                </a:solidFill>
                <a:latin typeface="Barlow Condensed"/>
                <a:ea typeface="Barlow Condensed"/>
                <a:cs typeface="Barlow Condensed"/>
                <a:sym typeface="Barlow Condensed"/>
              </a:rPr>
              <a:t>1,2,3 </a:t>
            </a:r>
            <a:r>
              <a:rPr b="0" i="0" lang="en" sz="3600" u="none" cap="none" strike="noStrike">
                <a:solidFill>
                  <a:srgbClr val="141F22"/>
                </a:solidFill>
                <a:latin typeface="Barlow Condensed"/>
                <a:ea typeface="Barlow Condensed"/>
                <a:cs typeface="Barlow Condensed"/>
                <a:sym typeface="Barlow Condensed"/>
              </a:rPr>
              <a:t> </a:t>
            </a:r>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69" name="Google Shape;69;p13"/>
          <p:cNvSpPr txBox="1"/>
          <p:nvPr/>
        </p:nvSpPr>
        <p:spPr>
          <a:xfrm>
            <a:off x="12514474" y="28235891"/>
            <a:ext cx="11480375" cy="3525236"/>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Each neighborhood in Arlington County has its own average price for renting an apartment. The “</a:t>
            </a:r>
            <a:r>
              <a:rPr b="1" i="0" lang="en" sz="3600" u="none" cap="none" strike="noStrike">
                <a:solidFill>
                  <a:srgbClr val="141F22"/>
                </a:solidFill>
                <a:latin typeface="Barlow Condensed"/>
                <a:ea typeface="Barlow Condensed"/>
                <a:cs typeface="Barlow Condensed"/>
                <a:sym typeface="Barlow Condensed"/>
              </a:rPr>
              <a:t>rental affordability</a:t>
            </a:r>
            <a:r>
              <a:rPr b="0" i="0" lang="en" sz="3600" u="none" cap="none" strike="noStrike">
                <a:solidFill>
                  <a:srgbClr val="141F22"/>
                </a:solidFill>
                <a:latin typeface="Barlow Condensed"/>
                <a:ea typeface="Barlow Condensed"/>
                <a:cs typeface="Barlow Condensed"/>
                <a:sym typeface="Barlow Condensed"/>
              </a:rPr>
              <a:t>” is the income needed so that no more than 30% of a household's yearly income is spent on housing.  The average price for a 1-bedroom in Arlington Mill is $1,507 and the average price for a 1-bedroom in North Rosslyn is $2,054.</a:t>
            </a:r>
            <a:endParaRPr b="0" i="0" sz="3600" u="none" cap="none" strike="noStrike">
              <a:solidFill>
                <a:srgbClr val="141F22"/>
              </a:solidFill>
              <a:latin typeface="Barlow Condensed"/>
              <a:ea typeface="Barlow Condensed"/>
              <a:cs typeface="Barlow Condensed"/>
              <a:sym typeface="Barlow Condensed"/>
            </a:endParaRPr>
          </a:p>
        </p:txBody>
      </p:sp>
      <p:pic>
        <p:nvPicPr>
          <p:cNvPr id="70" name="Google Shape;70;p13"/>
          <p:cNvPicPr preferRelativeResize="0"/>
          <p:nvPr/>
        </p:nvPicPr>
        <p:blipFill rotWithShape="1">
          <a:blip r:embed="rId3">
            <a:alphaModFix/>
          </a:blip>
          <a:srcRect b="0" l="0" r="0" t="0"/>
          <a:stretch/>
        </p:blipFill>
        <p:spPr>
          <a:xfrm>
            <a:off x="1173699" y="7071950"/>
            <a:ext cx="3863162" cy="914400"/>
          </a:xfrm>
          <a:prstGeom prst="rect">
            <a:avLst/>
          </a:prstGeom>
          <a:noFill/>
          <a:ln>
            <a:noFill/>
          </a:ln>
        </p:spPr>
      </p:pic>
      <p:pic>
        <p:nvPicPr>
          <p:cNvPr id="71" name="Google Shape;71;p13"/>
          <p:cNvPicPr preferRelativeResize="0"/>
          <p:nvPr/>
        </p:nvPicPr>
        <p:blipFill rotWithShape="1">
          <a:blip r:embed="rId4">
            <a:alphaModFix/>
          </a:blip>
          <a:srcRect b="0" l="0" r="3547" t="0"/>
          <a:stretch/>
        </p:blipFill>
        <p:spPr>
          <a:xfrm>
            <a:off x="24933100" y="5064382"/>
            <a:ext cx="9612056" cy="8229600"/>
          </a:xfrm>
          <a:prstGeom prst="rect">
            <a:avLst/>
          </a:prstGeom>
          <a:noFill/>
          <a:ln cap="flat" cmpd="sng" w="76200">
            <a:solidFill>
              <a:srgbClr val="5D89B4"/>
            </a:solidFill>
            <a:prstDash val="solid"/>
            <a:round/>
            <a:headEnd len="sm" w="sm" type="none"/>
            <a:tailEnd len="sm" w="sm" type="none"/>
          </a:ln>
        </p:spPr>
      </p:pic>
      <p:pic>
        <p:nvPicPr>
          <p:cNvPr id="72" name="Google Shape;72;p13"/>
          <p:cNvPicPr preferRelativeResize="0"/>
          <p:nvPr/>
        </p:nvPicPr>
        <p:blipFill rotWithShape="1">
          <a:blip r:embed="rId5">
            <a:alphaModFix/>
          </a:blip>
          <a:srcRect b="3887" l="6632" r="6094" t="0"/>
          <a:stretch/>
        </p:blipFill>
        <p:spPr>
          <a:xfrm>
            <a:off x="1173699" y="22499825"/>
            <a:ext cx="4609194" cy="4572000"/>
          </a:xfrm>
          <a:prstGeom prst="rect">
            <a:avLst/>
          </a:prstGeom>
          <a:noFill/>
          <a:ln cap="flat" cmpd="sng" w="76200">
            <a:solidFill>
              <a:srgbClr val="5D89B4"/>
            </a:solidFill>
            <a:prstDash val="solid"/>
            <a:round/>
            <a:headEnd len="sm" w="sm" type="none"/>
            <a:tailEnd len="sm" w="sm" type="none"/>
          </a:ln>
        </p:spPr>
      </p:pic>
      <p:sp>
        <p:nvSpPr>
          <p:cNvPr id="73" name="Google Shape;73;p13"/>
          <p:cNvSpPr txBox="1"/>
          <p:nvPr/>
        </p:nvSpPr>
        <p:spPr>
          <a:xfrm>
            <a:off x="6045200" y="22771609"/>
            <a:ext cx="5995275" cy="395805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2. </a:t>
            </a:r>
            <a:r>
              <a:rPr b="0" i="1" lang="en" sz="2000" u="none" cap="none" strike="noStrike">
                <a:solidFill>
                  <a:srgbClr val="5D89B4"/>
                </a:solidFill>
                <a:latin typeface="Barlow Condensed"/>
                <a:ea typeface="Barlow Condensed"/>
                <a:cs typeface="Barlow Condensed"/>
                <a:sym typeface="Barlow Condensed"/>
              </a:rPr>
              <a:t>The most vulnerable renter households are located in the Arlington Mill, Buckingham, and Forest Glen neighborhoods. Within these two census tracts (1022.00 and 1020.03) there were approximately 2,608 ± 325 (margin of error) renter households in 2016; of these, the number that were low income (≤ $35,000 per year) and housing burdened were 2,077 ± 355 (margin of error). There were 217 eviction filings within these two census tracts in 2016. These two census tracts are statistically different from the other 57 census tracts within Arlington as defined by the CENSUS statistical difference calculator (http://www.census.gov/programs-surveys/acs/guidance/comparing-acs-data.html).</a:t>
            </a:r>
            <a:endParaRPr b="0" i="0" sz="3600" u="none" cap="none" strike="noStrike">
              <a:solidFill>
                <a:srgbClr val="141F22"/>
              </a:solidFill>
              <a:latin typeface="Barlow Condensed"/>
              <a:ea typeface="Barlow Condensed"/>
              <a:cs typeface="Barlow Condensed"/>
              <a:sym typeface="Barlow Condensed"/>
            </a:endParaRPr>
          </a:p>
        </p:txBody>
      </p:sp>
      <p:pic>
        <p:nvPicPr>
          <p:cNvPr id="74" name="Google Shape;74;p13"/>
          <p:cNvPicPr preferRelativeResize="0"/>
          <p:nvPr/>
        </p:nvPicPr>
        <p:blipFill rotWithShape="1">
          <a:blip r:embed="rId6">
            <a:alphaModFix/>
          </a:blip>
          <a:srcRect b="0" l="19811" r="19490" t="744"/>
          <a:stretch/>
        </p:blipFill>
        <p:spPr>
          <a:xfrm>
            <a:off x="12843575" y="16406975"/>
            <a:ext cx="6755962" cy="6214101"/>
          </a:xfrm>
          <a:prstGeom prst="rect">
            <a:avLst/>
          </a:prstGeom>
          <a:noFill/>
          <a:ln cap="flat" cmpd="sng" w="76200">
            <a:solidFill>
              <a:srgbClr val="5D89B4"/>
            </a:solidFill>
            <a:prstDash val="solid"/>
            <a:round/>
            <a:headEnd len="sm" w="sm" type="none"/>
            <a:tailEnd len="sm" w="sm" type="none"/>
          </a:ln>
        </p:spPr>
      </p:pic>
      <p:sp>
        <p:nvSpPr>
          <p:cNvPr id="75" name="Google Shape;75;p13"/>
          <p:cNvSpPr txBox="1"/>
          <p:nvPr/>
        </p:nvSpPr>
        <p:spPr>
          <a:xfrm>
            <a:off x="12719282" y="22660330"/>
            <a:ext cx="6755962" cy="149940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3. </a:t>
            </a:r>
            <a:r>
              <a:rPr b="0" i="1" lang="en" sz="2000" u="none" cap="none" strike="noStrike">
                <a:solidFill>
                  <a:srgbClr val="5D89B4"/>
                </a:solidFill>
                <a:latin typeface="Barlow Condensed"/>
                <a:ea typeface="Barlow Condensed"/>
                <a:cs typeface="Barlow Condensed"/>
                <a:sym typeface="Barlow Condensed"/>
              </a:rPr>
              <a:t>Eviction Filing rates were generally low, however, certain census tracts  were hotspots for filings rates, such as tracts 1008 and 1031.  Filing rates are higher as compared to evictions rates, as can be seen in Figure 4. </a:t>
            </a:r>
            <a:endParaRPr b="0" i="0" sz="3600" u="none" cap="none" strike="noStrike">
              <a:solidFill>
                <a:srgbClr val="141F22"/>
              </a:solidFill>
              <a:latin typeface="Barlow Condensed"/>
              <a:ea typeface="Barlow Condensed"/>
              <a:cs typeface="Barlow Condensed"/>
              <a:sym typeface="Barlow Condensed"/>
            </a:endParaRPr>
          </a:p>
        </p:txBody>
      </p:sp>
      <p:pic>
        <p:nvPicPr>
          <p:cNvPr id="76" name="Google Shape;76;p13"/>
          <p:cNvPicPr preferRelativeResize="0"/>
          <p:nvPr/>
        </p:nvPicPr>
        <p:blipFill rotWithShape="1">
          <a:blip r:embed="rId7">
            <a:alphaModFix/>
          </a:blip>
          <a:srcRect b="5258" l="19737" r="19562" t="-199"/>
          <a:stretch/>
        </p:blipFill>
        <p:spPr>
          <a:xfrm>
            <a:off x="20278344" y="20221391"/>
            <a:ext cx="6755952" cy="5872824"/>
          </a:xfrm>
          <a:prstGeom prst="rect">
            <a:avLst/>
          </a:prstGeom>
          <a:noFill/>
          <a:ln cap="flat" cmpd="sng" w="76200">
            <a:solidFill>
              <a:srgbClr val="5D89B4"/>
            </a:solidFill>
            <a:prstDash val="solid"/>
            <a:round/>
            <a:headEnd len="sm" w="sm" type="none"/>
            <a:tailEnd len="sm" w="sm" type="none"/>
          </a:ln>
        </p:spPr>
      </p:pic>
      <p:sp>
        <p:nvSpPr>
          <p:cNvPr id="77" name="Google Shape;77;p13"/>
          <p:cNvSpPr txBox="1"/>
          <p:nvPr/>
        </p:nvSpPr>
        <p:spPr>
          <a:xfrm>
            <a:off x="12479327" y="24043253"/>
            <a:ext cx="7120210" cy="3121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141F22"/>
                </a:solidFill>
                <a:latin typeface="Barlow Condensed"/>
                <a:ea typeface="Barlow Condensed"/>
                <a:cs typeface="Barlow Condensed"/>
                <a:sym typeface="Barlow Condensed"/>
              </a:rPr>
              <a:t>Despite the high filing rates, most of the filings did not go through to become an eviction rate, as can be seen through the decrease in numbers across the two geo-plots.  </a:t>
            </a:r>
            <a:endParaRPr b="0" i="0" sz="3600" u="none" cap="none" strike="noStrike">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514474" y="27217150"/>
            <a:ext cx="11480375" cy="1042500"/>
          </a:xfrm>
          <a:prstGeom prst="rect">
            <a:avLst/>
          </a:prstGeom>
          <a:solidFill>
            <a:srgbClr val="861F41"/>
          </a:solidFill>
          <a:ln>
            <a:noFill/>
          </a:ln>
        </p:spPr>
        <p:txBody>
          <a:bodyPr anchorCtr="0" anchor="t"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Rental Affordability and Stock</a:t>
            </a:r>
            <a:endParaRPr b="1" i="0" sz="4800" u="none" cap="none" strike="noStrike">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400"/>
              <a:buFont typeface="Arial"/>
              <a:buNone/>
            </a:pPr>
            <a:r>
              <a:t/>
            </a:r>
            <a:endParaRPr b="1" i="0" sz="4400" u="none" cap="none" strike="noStrike">
              <a:solidFill>
                <a:srgbClr val="FFFFFF"/>
              </a:solidFill>
              <a:latin typeface="Barlow Condensed"/>
              <a:ea typeface="Barlow Condensed"/>
              <a:cs typeface="Barlow Condensed"/>
              <a:sym typeface="Barlow Condensed"/>
            </a:endParaRPr>
          </a:p>
        </p:txBody>
      </p:sp>
      <p:pic>
        <p:nvPicPr>
          <p:cNvPr id="79" name="Google Shape;79;p13"/>
          <p:cNvPicPr preferRelativeResize="0"/>
          <p:nvPr/>
        </p:nvPicPr>
        <p:blipFill rotWithShape="1">
          <a:blip r:embed="rId8">
            <a:alphaModFix/>
          </a:blip>
          <a:srcRect b="2793" l="0" r="0" t="2794"/>
          <a:stretch/>
        </p:blipFill>
        <p:spPr>
          <a:xfrm>
            <a:off x="1276414" y="31349541"/>
            <a:ext cx="6310252" cy="5486400"/>
          </a:xfrm>
          <a:prstGeom prst="rect">
            <a:avLst/>
          </a:prstGeom>
          <a:noFill/>
          <a:ln cap="flat" cmpd="sng" w="76200">
            <a:solidFill>
              <a:srgbClr val="5D89B4"/>
            </a:solidFill>
            <a:prstDash val="solid"/>
            <a:round/>
            <a:headEnd len="sm" w="sm" type="none"/>
            <a:tailEnd len="sm" w="sm" type="none"/>
          </a:ln>
        </p:spPr>
      </p:pic>
      <p:sp>
        <p:nvSpPr>
          <p:cNvPr id="80" name="Google Shape;80;p13"/>
          <p:cNvSpPr txBox="1"/>
          <p:nvPr/>
        </p:nvSpPr>
        <p:spPr>
          <a:xfrm>
            <a:off x="7697549" y="31194409"/>
            <a:ext cx="4342926" cy="1368341"/>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5.  </a:t>
            </a:r>
            <a:r>
              <a:rPr b="0" i="1" lang="en" sz="2000" u="none" cap="none" strike="noStrike">
                <a:solidFill>
                  <a:srgbClr val="5D89B4"/>
                </a:solidFill>
                <a:latin typeface="Barlow Condensed"/>
                <a:ea typeface="Barlow Condensed"/>
                <a:cs typeface="Barlow Condensed"/>
                <a:sym typeface="Barlow Condensed"/>
              </a:rPr>
              <a:t>2016 Renter Mobility in the previous 12 months  in Arlington County, Virginia.</a:t>
            </a:r>
            <a:endParaRPr b="0" i="1" sz="2000" u="none" cap="none" strike="noStrike">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9948773" y="34095484"/>
            <a:ext cx="3845820" cy="3489980"/>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1" i="0" lang="en" sz="2000" u="none" cap="none" strike="noStrike">
                <a:solidFill>
                  <a:srgbClr val="5D89B4"/>
                </a:solidFill>
                <a:latin typeface="Barlow Condensed"/>
                <a:ea typeface="Barlow Condensed"/>
                <a:cs typeface="Barlow Condensed"/>
                <a:sym typeface="Barlow Condensed"/>
              </a:rPr>
              <a:t>Figure 6.  </a:t>
            </a:r>
            <a:r>
              <a:rPr b="0" i="0" lang="en" sz="2000" u="none" cap="none" strike="noStrike">
                <a:solidFill>
                  <a:srgbClr val="5D89B4"/>
                </a:solidFill>
                <a:latin typeface="Barlow Condensed"/>
                <a:ea typeface="Barlow Condensed"/>
                <a:cs typeface="Barlow Condensed"/>
                <a:sym typeface="Barlow Condensed"/>
              </a:rPr>
              <a:t>Income needed to rent an  one bedroom apartment where the amount spent on the apartment is no ore than 30% of the renters yearly income For example,, in the Nauck neighborhood, the average rent for a 1-bedroom apartment is  $1,551 per month</a:t>
            </a:r>
            <a:r>
              <a:rPr b="0" baseline="30000" i="0" lang="en" sz="2000" u="none" cap="none" strike="noStrike">
                <a:solidFill>
                  <a:srgbClr val="5D89B4"/>
                </a:solidFill>
                <a:latin typeface="Barlow Condensed"/>
                <a:ea typeface="Barlow Condensed"/>
                <a:cs typeface="Barlow Condensed"/>
                <a:sym typeface="Barlow Condensed"/>
              </a:rPr>
              <a:t>4</a:t>
            </a:r>
            <a:r>
              <a:rPr b="0" i="0" lang="en" sz="2000" u="none" cap="none" strike="noStrike">
                <a:solidFill>
                  <a:srgbClr val="5D89B4"/>
                </a:solidFill>
                <a:latin typeface="Barlow Condensed"/>
                <a:ea typeface="Barlow Condensed"/>
                <a:cs typeface="Barlow Condensed"/>
                <a:sym typeface="Barlow Condensed"/>
              </a:rPr>
              <a:t>. So people who live in the Nauck neighborhood must make at least $62,040 per year not to be house burdened,</a:t>
            </a:r>
            <a:r>
              <a:rPr b="0" i="0" lang="en" sz="2000" u="none" cap="none" strike="noStrike">
                <a:solidFill>
                  <a:srgbClr val="141F22"/>
                </a:solidFill>
                <a:latin typeface="Barlow Condensed"/>
                <a:ea typeface="Barlow Condensed"/>
                <a:cs typeface="Barlow Condensed"/>
                <a:sym typeface="Barlow Condensed"/>
              </a:rPr>
              <a:t>. </a:t>
            </a:r>
            <a:endParaRPr b="0" i="0" sz="2000" u="none" cap="none" strike="noStrike">
              <a:solidFill>
                <a:srgbClr val="5D89B4"/>
              </a:solidFill>
              <a:latin typeface="Barlow Condensed"/>
              <a:ea typeface="Barlow Condensed"/>
              <a:cs typeface="Barlow Condensed"/>
              <a:sym typeface="Barlow Condensed"/>
            </a:endParaRPr>
          </a:p>
        </p:txBody>
      </p:sp>
      <p:pic>
        <p:nvPicPr>
          <p:cNvPr id="82" name="Google Shape;82;p13"/>
          <p:cNvPicPr preferRelativeResize="0"/>
          <p:nvPr/>
        </p:nvPicPr>
        <p:blipFill rotWithShape="1">
          <a:blip r:embed="rId9">
            <a:alphaModFix/>
          </a:blip>
          <a:srcRect b="6222" l="9231" r="29565" t="0"/>
          <a:stretch/>
        </p:blipFill>
        <p:spPr>
          <a:xfrm>
            <a:off x="12862729" y="31855875"/>
            <a:ext cx="7086044" cy="5729588"/>
          </a:xfrm>
          <a:prstGeom prst="rect">
            <a:avLst/>
          </a:prstGeom>
          <a:noFill/>
          <a:ln cap="flat" cmpd="sng" w="76200">
            <a:solidFill>
              <a:srgbClr val="5D89B4"/>
            </a:solidFill>
            <a:prstDash val="solid"/>
            <a:round/>
            <a:headEnd len="sm" w="sm" type="none"/>
            <a:tailEnd len="sm" w="sm" type="none"/>
          </a:ln>
        </p:spPr>
      </p:pic>
      <p:sp>
        <p:nvSpPr>
          <p:cNvPr id="83" name="Google Shape;83;p13"/>
          <p:cNvSpPr txBox="1"/>
          <p:nvPr/>
        </p:nvSpPr>
        <p:spPr>
          <a:xfrm>
            <a:off x="20074184" y="16334217"/>
            <a:ext cx="14347266" cy="373839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Barlow Condensed"/>
                <a:ea typeface="Barlow Condensed"/>
                <a:cs typeface="Barlow Condensed"/>
                <a:sym typeface="Barlow Condensed"/>
              </a:rPr>
              <a:t>A </a:t>
            </a:r>
            <a:r>
              <a:rPr b="1" i="0" lang="en" sz="3600" u="none" cap="none" strike="noStrike">
                <a:solidFill>
                  <a:srgbClr val="000000"/>
                </a:solidFill>
                <a:latin typeface="Barlow Condensed"/>
                <a:ea typeface="Barlow Condensed"/>
                <a:cs typeface="Barlow Condensed"/>
                <a:sym typeface="Barlow Condensed"/>
              </a:rPr>
              <a:t>“filing rate”</a:t>
            </a:r>
            <a:r>
              <a:rPr b="0" i="0" lang="en" sz="3600" u="none" cap="none" strike="noStrike">
                <a:solidFill>
                  <a:srgbClr val="000000"/>
                </a:solidFill>
                <a:latin typeface="Barlow Condensed"/>
                <a:ea typeface="Barlow Condensed"/>
                <a:cs typeface="Barlow Condensed"/>
                <a:sym typeface="Barlow Condensed"/>
              </a:rPr>
              <a:t> is the ratio of the number of evictions filed in an area over the number of renter-occupied homes in that area. An </a:t>
            </a:r>
            <a:r>
              <a:rPr b="1" i="0" lang="en" sz="3600" u="none" cap="none" strike="noStrike">
                <a:solidFill>
                  <a:srgbClr val="000000"/>
                </a:solidFill>
                <a:latin typeface="Barlow Condensed"/>
                <a:ea typeface="Barlow Condensed"/>
                <a:cs typeface="Barlow Condensed"/>
                <a:sym typeface="Barlow Condensed"/>
              </a:rPr>
              <a:t>“eviction rate”</a:t>
            </a:r>
            <a:r>
              <a:rPr b="0" i="0" lang="en" sz="3600" u="none" cap="none" strike="noStrike">
                <a:solidFill>
                  <a:srgbClr val="000000"/>
                </a:solidFill>
                <a:latin typeface="Barlow Condensed"/>
                <a:ea typeface="Barlow Condensed"/>
                <a:cs typeface="Barlow Condensed"/>
                <a:sym typeface="Barlow Condensed"/>
              </a:rPr>
              <a:t> is the subset of those homes that received an eviction judgement in which renters were ordered to leave. The filing rate also counts all eviction cases filed in an area, including multiple cases filed against the same address in the same year. But an eviction rate only counts a single address who received an eviction judgement (Definition from EvictionLab.org). </a:t>
            </a:r>
            <a:endParaRPr b="0" i="0" sz="3600" u="none" cap="none" strike="noStrike">
              <a:solidFill>
                <a:srgbClr val="000000"/>
              </a:solidFill>
              <a:latin typeface="Barlow Condensed"/>
              <a:ea typeface="Barlow Condensed"/>
              <a:cs typeface="Barlow Condensed"/>
              <a:sym typeface="Barlow Condensed"/>
            </a:endParaRPr>
          </a:p>
          <a:p>
            <a:pPr indent="-342900" lvl="0" marL="57150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just">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141F22"/>
              </a:solidFill>
              <a:latin typeface="Barlow Condensed"/>
              <a:ea typeface="Barlow Condensed"/>
              <a:cs typeface="Barlow Condensed"/>
              <a:sym typeface="Barlow Condensed"/>
            </a:endParaRPr>
          </a:p>
        </p:txBody>
      </p:sp>
      <p:sp>
        <p:nvSpPr>
          <p:cNvPr id="84" name="Google Shape;84;p13"/>
          <p:cNvSpPr txBox="1"/>
          <p:nvPr/>
        </p:nvSpPr>
        <p:spPr>
          <a:xfrm>
            <a:off x="26989763" y="19730455"/>
            <a:ext cx="7431686" cy="4429275"/>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None/>
            </a:pPr>
            <a:r>
              <a:rPr b="0" i="0" lang="en" sz="3600" u="none" cap="none" strike="noStrike">
                <a:solidFill>
                  <a:srgbClr val="141F22"/>
                </a:solidFill>
                <a:latin typeface="Barlow Condensed"/>
                <a:ea typeface="Barlow Condensed"/>
                <a:cs typeface="Barlow Condensed"/>
                <a:sym typeface="Barlow Condensed"/>
              </a:rPr>
              <a:t>It is interesting to note that the census tract with the highest filing and eviction rates, 1008.00, had only 148 ± 30 (margin of error) rental households in 2016. The census tract with the second highest eviction rate, 1003.00, had only 65 ± 31  (margin of error) rental households in 2016. </a:t>
            </a:r>
            <a:endParaRPr b="0" i="0" sz="3600" u="none" cap="none" strike="noStrike">
              <a:solidFill>
                <a:srgbClr val="141F22"/>
              </a:solidFill>
              <a:latin typeface="Barlow Condensed"/>
              <a:ea typeface="Barlow Condensed"/>
              <a:cs typeface="Barlow Condensed"/>
              <a:sym typeface="Barlow Condensed"/>
            </a:endParaRPr>
          </a:p>
        </p:txBody>
      </p:sp>
      <p:sp>
        <p:nvSpPr>
          <p:cNvPr id="85" name="Google Shape;85;p13"/>
          <p:cNvSpPr txBox="1"/>
          <p:nvPr/>
        </p:nvSpPr>
        <p:spPr>
          <a:xfrm>
            <a:off x="27034297" y="23906381"/>
            <a:ext cx="7555392" cy="2530321"/>
          </a:xfrm>
          <a:prstGeom prst="rect">
            <a:avLst/>
          </a:prstGeom>
          <a:noFill/>
          <a:ln>
            <a:noFill/>
          </a:ln>
        </p:spPr>
        <p:txBody>
          <a:bodyPr anchorCtr="0" anchor="t" bIns="156150" lIns="312475" spcFirstLastPara="1" rIns="312475" wrap="square" tIns="156150">
            <a:noAutofit/>
          </a:bodyPr>
          <a:lstStyle/>
          <a:p>
            <a:pPr indent="0" lvl="0" marL="0" marR="0" rtl="0" algn="just">
              <a:lnSpc>
                <a:spcPct val="100000"/>
              </a:lnSpc>
              <a:spcBef>
                <a:spcPts val="0"/>
              </a:spcBef>
              <a:spcAft>
                <a:spcPts val="0"/>
              </a:spcAft>
              <a:buClr>
                <a:srgbClr val="000000"/>
              </a:buClr>
              <a:buSzPts val="2000"/>
              <a:buFont typeface="Arial"/>
              <a:buNone/>
            </a:pPr>
            <a:r>
              <a:rPr b="1" i="1" lang="en" sz="2000" u="none" cap="none" strike="noStrike">
                <a:solidFill>
                  <a:srgbClr val="5D89B4"/>
                </a:solidFill>
                <a:latin typeface="Barlow Condensed"/>
                <a:ea typeface="Barlow Condensed"/>
                <a:cs typeface="Barlow Condensed"/>
                <a:sym typeface="Barlow Condensed"/>
              </a:rPr>
              <a:t>Figure 4. </a:t>
            </a:r>
            <a:r>
              <a:rPr b="0" i="1" lang="en" sz="2000" u="none" cap="none" strike="noStrike">
                <a:solidFill>
                  <a:srgbClr val="5D89B4"/>
                </a:solidFill>
                <a:latin typeface="Barlow Condensed"/>
                <a:ea typeface="Barlow Condensed"/>
                <a:cs typeface="Barlow Condensed"/>
                <a:sym typeface="Barlow Condensed"/>
              </a:rPr>
              <a:t>Compared to the filing rates, the rate of actual evictions is lower. Most census tracts in Arlington County have little to no eviction rates,. However, census tract 1008  (similar to the filing rates) had the overall highest eviction rate, at 6 evictions total, with census tract 1003 following behind with 4 total evictions. Demographically speaking, neither of the census tracts mention (1008 or 1003) are that different from those in the same area of northern Arlington, and as such, cannot be accounted for their high rate of evictions. </a:t>
            </a:r>
            <a:endParaRPr b="0" i="0" sz="3600" u="none" cap="none" strike="noStrike">
              <a:solidFill>
                <a:srgbClr val="141F22"/>
              </a:solidFill>
              <a:latin typeface="Barlow Condensed"/>
              <a:ea typeface="Barlow Condensed"/>
              <a:cs typeface="Barlow Condensed"/>
              <a:sym typeface="Barlow Condensed"/>
            </a:endParaRPr>
          </a:p>
        </p:txBody>
      </p:sp>
      <p:pic>
        <p:nvPicPr>
          <p:cNvPr id="86" name="Google Shape;86;p13"/>
          <p:cNvPicPr preferRelativeResize="0"/>
          <p:nvPr/>
        </p:nvPicPr>
        <p:blipFill rotWithShape="1">
          <a:blip r:embed="rId10">
            <a:alphaModFix/>
          </a:blip>
          <a:srcRect b="0" l="0" r="0" t="0"/>
          <a:stretch/>
        </p:blipFill>
        <p:spPr>
          <a:xfrm>
            <a:off x="17242423" y="32166919"/>
            <a:ext cx="5207000" cy="990600"/>
          </a:xfrm>
          <a:prstGeom prst="rect">
            <a:avLst/>
          </a:prstGeom>
          <a:noFill/>
          <a:ln cap="flat" cmpd="sng" w="38100">
            <a:solidFill>
              <a:srgbClr val="5D89B4"/>
            </a:solidFill>
            <a:prstDash val="solid"/>
            <a:round/>
            <a:headEnd len="sm" w="sm" type="none"/>
            <a:tailEnd len="sm" w="sm" type="none"/>
          </a:ln>
        </p:spPr>
      </p:pic>
      <p:pic>
        <p:nvPicPr>
          <p:cNvPr id="87" name="Google Shape;87;p13"/>
          <p:cNvPicPr preferRelativeResize="0"/>
          <p:nvPr/>
        </p:nvPicPr>
        <p:blipFill>
          <a:blip r:embed="rId11">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00351CA4-7EB2-487E-AB01-651A1C289488}"/>
</file>

<file path=customXml/itemProps2.xml><?xml version="1.0" encoding="utf-8"?>
<ds:datastoreItem xmlns:ds="http://schemas.openxmlformats.org/officeDocument/2006/customXml" ds:itemID="{48B9C799-D033-44F5-AFD0-862AD330B556}"/>
</file>

<file path=customXml/itemProps3.xml><?xml version="1.0" encoding="utf-8"?>
<ds:datastoreItem xmlns:ds="http://schemas.openxmlformats.org/officeDocument/2006/customXml" ds:itemID="{2965FD72-C287-4910-8263-9A006E7B145C}"/>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