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88" r:id="rId5"/>
    <p:sldMasterId id="2147483689" r:id="rId6"/>
    <p:sldMasterId id="2147483690" r:id="rId7"/>
    <p:sldMasterId id="2147483691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37147FDE-3E32-4C7C-A58C-D25252A50761}">
  <a:tblStyle styleId="{37147FDE-3E32-4C7C-A58C-D25252A5076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8" Type="http://schemas.openxmlformats.org/officeDocument/2006/relationships/slideMaster" Target="slideMasters/slideMaster4.xml"/><Relationship Id="rId26" Type="http://schemas.openxmlformats.org/officeDocument/2006/relationships/customXml" Target="../customXml/item2.xml"/><Relationship Id="rId21" Type="http://schemas.openxmlformats.org/officeDocument/2006/relationships/slide" Target="slides/slide12.xml"/><Relationship Id="rId3" Type="http://schemas.openxmlformats.org/officeDocument/2006/relationships/presProps" Target="presProps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7" Type="http://schemas.openxmlformats.org/officeDocument/2006/relationships/slideMaster" Target="slideMasters/slideMaster3.xml"/><Relationship Id="rId25" Type="http://schemas.openxmlformats.org/officeDocument/2006/relationships/customXml" Target="../customXml/item1.xml"/><Relationship Id="rId20" Type="http://schemas.openxmlformats.org/officeDocument/2006/relationships/slide" Target="slides/slide11.xml"/><Relationship Id="rId2" Type="http://schemas.openxmlformats.org/officeDocument/2006/relationships/viewProps" Target="viewProps.xml"/><Relationship Id="rId16" Type="http://schemas.openxmlformats.org/officeDocument/2006/relationships/slide" Target="slides/slide7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1" Type="http://schemas.openxmlformats.org/officeDocument/2006/relationships/theme" Target="theme/theme1.xml"/><Relationship Id="rId6" Type="http://schemas.openxmlformats.org/officeDocument/2006/relationships/slideMaster" Target="slideMasters/slideMaster2.xml"/><Relationship Id="rId23" Type="http://schemas.openxmlformats.org/officeDocument/2006/relationships/slide" Target="slides/slide14.xml"/><Relationship Id="rId15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22" Type="http://schemas.openxmlformats.org/officeDocument/2006/relationships/slide" Target="slides/slide13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14" Type="http://schemas.openxmlformats.org/officeDocument/2006/relationships/slide" Target="slides/slide5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3245cb76_14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a3245cb76_14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2fcea7a8_8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d2fcea7a8_8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are analyzing the value of a scientific and artistic contribution that is not being accurately measured by current tools such as patents and citations.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are developing a framework, methodology, identifying data sources and variables that are an improvement in this endeavor.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d2fcea7a8_8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2fcea7a8_8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research questions are pretty intuitive: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How much of it is out there (i.e., the stock)? Meaning projects with a production-ready release for the current environment.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How much is being </a:t>
            </a:r>
            <a:r>
              <a:rPr lang="en-US"/>
              <a:t>developed</a:t>
            </a:r>
            <a:r>
              <a:rPr lang="en-US"/>
              <a:t> every year (i.e., the flow)? We can identify this by various measures of activity.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What kind of projects are being developed?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...</a:t>
            </a:r>
            <a:endParaRPr/>
          </a:p>
        </p:txBody>
      </p:sp>
      <p:sp>
        <p:nvSpPr>
          <p:cNvPr id="190" name="Google Shape;190;g3d2fcea7a8_8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2fcea7a8_6_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d2fcea7a8_6_2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r>
              <a:rPr lang="en-US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OSS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g3d2fcea7a8_6_2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2fcea7a8_8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d2fcea7a8_8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being produced, by whom, where, when, and how?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d2fcea7a8_8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2fcea7a8_13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d2fcea7a8_13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major OSS languages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Hannah: </a:t>
            </a:r>
            <a:r>
              <a:rPr lang="en-US"/>
              <a:t>witty comments on why these are great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d2fcea7a8_13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2fcea7a8_8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d2fcea7a8_8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Hannah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being produced, by whom, where, when, and how?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d2fcea7a8_8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2fcea7a8_13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d2fcea7a8_13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Hannah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d2fcea7a8_13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2fcea7a8_6_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d2fcea7a8_6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Hannah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Added functionality</a:t>
            </a:r>
            <a:endParaRPr/>
          </a:p>
        </p:txBody>
      </p:sp>
      <p:sp>
        <p:nvSpPr>
          <p:cNvPr id="233" name="Google Shape;233;g3d2fcea7a8_6_2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29749264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d29749264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d29749264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3245cb76_23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a3245cb76_23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a3245cb76_23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b866c32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db866c32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started w/ 30+ 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created the inventory table w/ info about each pkg managers such as… (eg. size, talk about the table briefly)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selected these 4 commonly used langs, will collect the info about all pkgs in these 4 langs, (and u can see the #pkgs in 3rd column)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will collect development activity information, contributors, etc.</a:t>
            </a:r>
            <a:endParaRPr/>
          </a:p>
        </p:txBody>
      </p:sp>
      <p:sp>
        <p:nvSpPr>
          <p:cNvPr id="264" name="Google Shape;264;g3db866c32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2fcea7a8_8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d2fcea7a8_8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started w/ 30+ 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created the inventory table w/ info about each pkg managers such as… (eg. size, talk about the table briefly)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selected these 4 commonly used langs, will collect the info about all pkgs in these 4 langs, (and u can see the #pkgs in 3rd column)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will collect development activity information, contributors, etc.</a:t>
            </a:r>
            <a:endParaRPr/>
          </a:p>
        </p:txBody>
      </p:sp>
      <p:sp>
        <p:nvSpPr>
          <p:cNvPr id="273" name="Google Shape;273;g3d2fcea7a8_8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b866c323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b866c323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db866c323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2fcea7a8_27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d2fcea7a8_27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d2fcea7a8_27_1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g"/><Relationship Id="rId3" Type="http://schemas.openxmlformats.org/officeDocument/2006/relationships/image" Target="../media/image1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jp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2-08 at 7.04.00 PM.png"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82139"/>
            <a:ext cx="4945311" cy="475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09600" y="-25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Raleway"/>
              <a:buNone/>
              <a:defRPr b="1" i="0" sz="4267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descr="Screen Shot 2015-12-08 at 7.04.00 PM.png" id="17" name="Google Shape;1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51624"/>
            <a:ext cx="4945311" cy="475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ctrTitle"/>
          </p:nvPr>
        </p:nvSpPr>
        <p:spPr>
          <a:xfrm>
            <a:off x="914400" y="2130444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Gill Sans"/>
              <a:buNone/>
              <a:defRPr b="1" i="0" sz="4267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4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Font typeface="Arial"/>
              <a:buNone/>
              <a:defRPr b="0" i="0" sz="3733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_Blank">
  <p:cSld name="3_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iocomplexity-PP-SectionTitle10-SDAL-BKGD-Light_2015-11.jpg" id="22" name="Google Shape;2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121595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Helvetica Neue"/>
              <a:buNone/>
              <a:defRPr b="0" i="0" sz="42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609600" y="-25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Raleway"/>
              <a:buNone/>
              <a:defRPr b="1" i="0" sz="4267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609600" y="11938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65645" lvl="0" marL="4572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b="0" i="0" sz="3733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31800" lvl="1" marL="9144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97954" lvl="2" marL="1371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Screen Shot 2015-12-08 at 7.04.00 PM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51624"/>
            <a:ext cx="4945311" cy="475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Raleway"/>
              <a:buNone/>
              <a:defRPr b="1" i="0" sz="4267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Font typeface="Arial"/>
              <a:buNone/>
              <a:defRPr b="0" i="0" sz="213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Screen Shot 2015-12-08 at 7.04.00 PM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51624"/>
            <a:ext cx="4945311" cy="475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09600" y="-25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Raleway"/>
              <a:buNone/>
              <a:defRPr b="1" i="0" sz="4267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609600" y="1138237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65645" lvl="0" marL="4572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b="0" i="0" sz="3733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31800" lvl="1" marL="9144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97954" lvl="2" marL="1371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81000" lvl="3" marL="18288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6197600" y="1138237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65645" lvl="0" marL="4572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b="0" i="0" sz="3733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31800" lvl="1" marL="9144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97954" lvl="2" marL="1371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81000" lvl="3" marL="18288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Screen Shot 2015-12-08 at 7.04.00 PM.png" id="36" name="Google Shape;3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51624"/>
            <a:ext cx="4945311" cy="475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609600" y="-25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Gill Sans"/>
              <a:buNone/>
              <a:defRPr b="1" i="0" sz="4267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" name="Google Shape;39;p9"/>
          <p:cNvSpPr txBox="1"/>
          <p:nvPr>
            <p:ph idx="1" type="body"/>
          </p:nvPr>
        </p:nvSpPr>
        <p:spPr>
          <a:xfrm>
            <a:off x="609600" y="137795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None/>
              <a:defRPr b="1" i="0" sz="3733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1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609600" y="2017712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97954" lvl="1" marL="914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4045" lvl="3" marL="18288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b="0" i="0" sz="2133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4045" lvl="4" marL="22860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b="0" i="0" sz="2133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4045" lvl="5" marL="27432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4045" lvl="6" marL="32004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4045" lvl="7" marL="36576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4045" lvl="8" marL="41148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3" type="body"/>
          </p:nvPr>
        </p:nvSpPr>
        <p:spPr>
          <a:xfrm>
            <a:off x="6193378" y="137795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None/>
              <a:defRPr b="1" i="0" sz="3733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1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4" type="body"/>
          </p:nvPr>
        </p:nvSpPr>
        <p:spPr>
          <a:xfrm>
            <a:off x="6193378" y="2017712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97954" lvl="1" marL="914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4045" lvl="3" marL="18288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b="0" i="0" sz="2133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4045" lvl="4" marL="22860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b="0" i="0" sz="2133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4045" lvl="5" marL="27432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4045" lvl="6" marL="32004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4045" lvl="7" marL="36576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4045" lvl="8" marL="41148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_Picture with Caption" showMasterSp="0">
  <p:cSld name="3_Picture with Ca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2-08 at 7.04.00 PM.png" id="44" name="Google Shape;4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65036"/>
            <a:ext cx="4945311" cy="47586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Raleway"/>
              <a:buNone/>
              <a:defRPr b="1" i="0" sz="4267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4_Blank">
  <p:cSld name="4_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iocomplexity-PP-SectionTitle10-SDAL-BKGD-Light_2015-11.jp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59573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Title Only">
  <p:cSld name="1_Title 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2-08 at 7.04.00 PM.png" id="54" name="Google Shape;5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51902"/>
            <a:ext cx="4945311" cy="475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5-12-08 at 7.04.00 PM.png" id="55" name="Google Shape;5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51902"/>
            <a:ext cx="4945311" cy="47586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title"/>
          </p:nvPr>
        </p:nvSpPr>
        <p:spPr>
          <a:xfrm>
            <a:off x="609600" y="279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Raleway"/>
              <a:buNone/>
              <a:defRPr b="1" i="0" sz="4267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609600" y="279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Raleway"/>
              <a:buNone/>
              <a:defRPr b="1" i="0" sz="4267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descr="Screen Shot 2015-12-08 at 7.04.00 PM.png" id="59" name="Google Shape;5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51624"/>
            <a:ext cx="4945311" cy="475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5-12-08 at 7.04.00 PM.png" id="60" name="Google Shape;6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51624"/>
            <a:ext cx="4945311" cy="475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ctrTitle"/>
          </p:nvPr>
        </p:nvSpPr>
        <p:spPr>
          <a:xfrm>
            <a:off x="914400" y="2130444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Gill Sans"/>
              <a:buNone/>
              <a:defRPr b="1" i="0" sz="4267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Font typeface="Arial"/>
              <a:buNone/>
              <a:defRPr b="0" i="0" sz="3733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609600" y="-25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Raleway"/>
              <a:buNone/>
              <a:defRPr b="1" i="0" sz="4267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609600" y="11938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65645" lvl="0" marL="4572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b="0" i="0" sz="3733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31800" lvl="1" marL="9144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97954" lvl="2" marL="1371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Screen Shot 2015-12-08 at 7.04.00 PM.png" id="67" name="Google Shape;6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51624"/>
            <a:ext cx="4945311" cy="475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5-12-08 at 7.04.00 PM.png" id="68" name="Google Shape;6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51624"/>
            <a:ext cx="4945311" cy="475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Raleway"/>
              <a:buNone/>
              <a:defRPr b="1" i="0" sz="4267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Font typeface="Arial"/>
              <a:buNone/>
              <a:defRPr b="0" i="0" sz="213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Screen Shot 2015-12-08 at 7.04.00 PM.png" id="72" name="Google Shape;7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51624"/>
            <a:ext cx="4945311" cy="475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5-12-08 at 7.04.00 PM.png" id="73" name="Google Shape;7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51624"/>
            <a:ext cx="4945311" cy="475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>
  <p:cSld name="Two Conte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609600" y="1443037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65645" lvl="0" marL="4572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b="0" i="0" sz="3733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31800" lvl="1" marL="9144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97954" lvl="2" marL="1371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81000" lvl="3" marL="18288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8"/>
          <p:cNvSpPr txBox="1"/>
          <p:nvPr>
            <p:ph idx="2" type="body"/>
          </p:nvPr>
        </p:nvSpPr>
        <p:spPr>
          <a:xfrm>
            <a:off x="6197600" y="1443037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65645" lvl="0" marL="4572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b="0" i="0" sz="3733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31800" lvl="1" marL="9144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97954" lvl="2" marL="1371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81000" lvl="3" marL="18288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Screen Shot 2015-12-08 at 7.04.00 PM.png" id="77" name="Google Shape;7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51624"/>
            <a:ext cx="4945311" cy="475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5-12-08 at 7.04.00 PM.png" id="78" name="Google Shape;7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51624"/>
            <a:ext cx="4945311" cy="47586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8"/>
          <p:cNvSpPr txBox="1"/>
          <p:nvPr>
            <p:ph type="title"/>
          </p:nvPr>
        </p:nvSpPr>
        <p:spPr>
          <a:xfrm>
            <a:off x="609600" y="279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Raleway"/>
              <a:buNone/>
              <a:defRPr b="1" i="0" sz="4267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>
  <p:cSld name="Comparis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609600" y="178435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None/>
              <a:defRPr b="1" i="0" sz="3733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1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9"/>
          <p:cNvSpPr txBox="1"/>
          <p:nvPr>
            <p:ph idx="2" type="body"/>
          </p:nvPr>
        </p:nvSpPr>
        <p:spPr>
          <a:xfrm>
            <a:off x="609600" y="2424112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97954" lvl="1" marL="914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4045" lvl="3" marL="18288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b="0" i="0" sz="2133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4045" lvl="4" marL="22860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b="0" i="0" sz="2133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4045" lvl="5" marL="27432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4045" lvl="6" marL="32004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4045" lvl="7" marL="36576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4045" lvl="8" marL="41148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9"/>
          <p:cNvSpPr txBox="1"/>
          <p:nvPr>
            <p:ph idx="3" type="body"/>
          </p:nvPr>
        </p:nvSpPr>
        <p:spPr>
          <a:xfrm>
            <a:off x="6193378" y="178435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None/>
              <a:defRPr b="1" i="0" sz="3733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1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4" type="body"/>
          </p:nvPr>
        </p:nvSpPr>
        <p:spPr>
          <a:xfrm>
            <a:off x="6193378" y="2424112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97954" lvl="1" marL="914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4045" lvl="3" marL="18288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b="0" i="0" sz="2133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4045" lvl="4" marL="22860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b="0" i="0" sz="2133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4045" lvl="5" marL="27432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4045" lvl="6" marL="32004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4045" lvl="7" marL="36576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4045" lvl="8" marL="41148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type="title"/>
          </p:nvPr>
        </p:nvSpPr>
        <p:spPr>
          <a:xfrm>
            <a:off x="609600" y="279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Raleway"/>
              <a:buNone/>
              <a:defRPr b="1" i="0" sz="4267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2-08 at 7.04.00 PM.png" id="87" name="Google Shape;8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82139"/>
            <a:ext cx="4945311" cy="475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5-12-08 at 7.04.00 PM.png" id="88" name="Google Shape;8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82139"/>
            <a:ext cx="4945311" cy="475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Picture with Caption" showMasterSp="0">
  <p:cSld name="1_Picture with Ca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2-08 at 7.04.00 PM.png" id="90" name="Google Shape;9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65036"/>
            <a:ext cx="4945311" cy="47586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Raleway"/>
              <a:buNone/>
              <a:defRPr b="1" i="0" sz="4267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Blank">
  <p:cSld name="1_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iocomplexity-PP-SectionTitle10-SDAL-BKGD-Light_2015-11.jpg" id="93" name="Google Shape;9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121595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Helvetica Neue"/>
              <a:buNone/>
              <a:defRPr b="0" i="0" sz="42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type="title"/>
          </p:nvPr>
        </p:nvSpPr>
        <p:spPr>
          <a:xfrm>
            <a:off x="831850" y="0"/>
            <a:ext cx="105156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831850" y="1250577"/>
            <a:ext cx="10515600" cy="48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01" name="Google Shape;10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9297" y="6126195"/>
            <a:ext cx="2285999" cy="45527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ctrTitle"/>
          </p:nvPr>
        </p:nvSpPr>
        <p:spPr>
          <a:xfrm>
            <a:off x="430306" y="497541"/>
            <a:ext cx="6992400" cy="2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Raleway"/>
              <a:buNone/>
              <a:defRPr b="1" i="0" sz="6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04" name="Google Shape;104;p25"/>
          <p:cNvSpPr txBox="1"/>
          <p:nvPr>
            <p:ph idx="1" type="subTitle"/>
          </p:nvPr>
        </p:nvSpPr>
        <p:spPr>
          <a:xfrm>
            <a:off x="430306" y="3602038"/>
            <a:ext cx="69924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type="title"/>
          </p:nvPr>
        </p:nvSpPr>
        <p:spPr>
          <a:xfrm>
            <a:off x="443754" y="1"/>
            <a:ext cx="113223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07" name="Google Shape;107;p26"/>
          <p:cNvSpPr txBox="1"/>
          <p:nvPr>
            <p:ph idx="1" type="body"/>
          </p:nvPr>
        </p:nvSpPr>
        <p:spPr>
          <a:xfrm>
            <a:off x="838200" y="1210235"/>
            <a:ext cx="10515600" cy="45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type="title"/>
          </p:nvPr>
        </p:nvSpPr>
        <p:spPr>
          <a:xfrm>
            <a:off x="465787" y="0"/>
            <a:ext cx="113223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10" name="Google Shape;110;p27"/>
          <p:cNvSpPr txBox="1"/>
          <p:nvPr>
            <p:ph idx="1" type="body"/>
          </p:nvPr>
        </p:nvSpPr>
        <p:spPr>
          <a:xfrm>
            <a:off x="838200" y="1210235"/>
            <a:ext cx="10515600" cy="45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443754" y="0"/>
            <a:ext cx="113628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500"/>
              <a:buFont typeface="Raleway"/>
              <a:buNone/>
              <a:defRPr b="1" i="0" sz="55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13" name="Google Shape;113;p28"/>
          <p:cNvSpPr txBox="1"/>
          <p:nvPr>
            <p:ph idx="1" type="body"/>
          </p:nvPr>
        </p:nvSpPr>
        <p:spPr>
          <a:xfrm>
            <a:off x="838200" y="1223682"/>
            <a:ext cx="5181600" cy="49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28"/>
          <p:cNvSpPr txBox="1"/>
          <p:nvPr>
            <p:ph idx="2" type="body"/>
          </p:nvPr>
        </p:nvSpPr>
        <p:spPr>
          <a:xfrm>
            <a:off x="6172200" y="1223682"/>
            <a:ext cx="5181600" cy="49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/>
          <p:nvPr>
            <p:ph type="title"/>
          </p:nvPr>
        </p:nvSpPr>
        <p:spPr>
          <a:xfrm>
            <a:off x="839788" y="1"/>
            <a:ext cx="105156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500"/>
              <a:buFont typeface="Raleway"/>
              <a:buNone/>
              <a:defRPr b="1" i="0" sz="55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17" name="Google Shape;117;p29"/>
          <p:cNvSpPr txBox="1"/>
          <p:nvPr>
            <p:ph idx="1" type="body"/>
          </p:nvPr>
        </p:nvSpPr>
        <p:spPr>
          <a:xfrm>
            <a:off x="839788" y="1193180"/>
            <a:ext cx="51579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  <a:defRPr b="1" i="0" sz="19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29"/>
          <p:cNvSpPr txBox="1"/>
          <p:nvPr>
            <p:ph idx="2" type="body"/>
          </p:nvPr>
        </p:nvSpPr>
        <p:spPr>
          <a:xfrm>
            <a:off x="839788" y="1862253"/>
            <a:ext cx="5157900" cy="4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29"/>
          <p:cNvSpPr txBox="1"/>
          <p:nvPr>
            <p:ph idx="3" type="body"/>
          </p:nvPr>
        </p:nvSpPr>
        <p:spPr>
          <a:xfrm>
            <a:off x="6172200" y="1193180"/>
            <a:ext cx="51831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  <a:defRPr b="1" i="0" sz="19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" name="Google Shape;120;p29"/>
          <p:cNvSpPr txBox="1"/>
          <p:nvPr>
            <p:ph idx="4" type="body"/>
          </p:nvPr>
        </p:nvSpPr>
        <p:spPr>
          <a:xfrm>
            <a:off x="6172200" y="1862253"/>
            <a:ext cx="5183100" cy="4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0"/>
          <p:cNvSpPr txBox="1"/>
          <p:nvPr>
            <p:ph type="title"/>
          </p:nvPr>
        </p:nvSpPr>
        <p:spPr>
          <a:xfrm>
            <a:off x="443754" y="524435"/>
            <a:ext cx="6938700" cy="28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500"/>
              <a:buFont typeface="Raleway"/>
              <a:buNone/>
              <a:defRPr b="1" i="0" sz="55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1"/>
          <p:cNvSpPr txBox="1"/>
          <p:nvPr>
            <p:ph type="title"/>
          </p:nvPr>
        </p:nvSpPr>
        <p:spPr>
          <a:xfrm>
            <a:off x="591014" y="345688"/>
            <a:ext cx="107643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25" name="Google Shape;125;p31"/>
          <p:cNvSpPr txBox="1"/>
          <p:nvPr>
            <p:ph idx="1" type="body"/>
          </p:nvPr>
        </p:nvSpPr>
        <p:spPr>
          <a:xfrm>
            <a:off x="5183188" y="1092820"/>
            <a:ext cx="6172500" cy="47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" name="Google Shape;126;p31"/>
          <p:cNvSpPr txBox="1"/>
          <p:nvPr>
            <p:ph idx="2" type="body"/>
          </p:nvPr>
        </p:nvSpPr>
        <p:spPr>
          <a:xfrm>
            <a:off x="591016" y="1092820"/>
            <a:ext cx="43491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2"/>
          <p:cNvSpPr txBox="1"/>
          <p:nvPr>
            <p:ph type="title"/>
          </p:nvPr>
        </p:nvSpPr>
        <p:spPr>
          <a:xfrm>
            <a:off x="839788" y="457200"/>
            <a:ext cx="10515600" cy="12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29" name="Google Shape;129;p32"/>
          <p:cNvSpPr/>
          <p:nvPr>
            <p:ph idx="2" type="pic"/>
          </p:nvPr>
        </p:nvSpPr>
        <p:spPr>
          <a:xfrm>
            <a:off x="5183188" y="2057400"/>
            <a:ext cx="6172500" cy="3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32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4"/>
          <p:cNvSpPr txBox="1"/>
          <p:nvPr>
            <p:ph type="ctrTitle"/>
          </p:nvPr>
        </p:nvSpPr>
        <p:spPr>
          <a:xfrm>
            <a:off x="430306" y="497541"/>
            <a:ext cx="6992400" cy="2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None/>
              <a:defRPr b="1" i="0" sz="6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6" name="Google Shape;136;p34"/>
          <p:cNvSpPr txBox="1"/>
          <p:nvPr>
            <p:ph idx="1" type="subTitle"/>
          </p:nvPr>
        </p:nvSpPr>
        <p:spPr>
          <a:xfrm>
            <a:off x="430306" y="3602038"/>
            <a:ext cx="69924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5"/>
          <p:cNvSpPr txBox="1"/>
          <p:nvPr>
            <p:ph type="title"/>
          </p:nvPr>
        </p:nvSpPr>
        <p:spPr>
          <a:xfrm>
            <a:off x="443754" y="1"/>
            <a:ext cx="113223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9" name="Google Shape;139;p35"/>
          <p:cNvSpPr txBox="1"/>
          <p:nvPr>
            <p:ph idx="1" type="body"/>
          </p:nvPr>
        </p:nvSpPr>
        <p:spPr>
          <a:xfrm>
            <a:off x="838200" y="1210235"/>
            <a:ext cx="10515600" cy="45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Blank">
  <p:cSld name="1_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iocomplexity-PP-SectionTitle10-SDAL-BKGD-Light_2015-11.jpg" id="141" name="Google Shape;14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12159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None/>
              <a:defRPr b="0" i="0" sz="5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"/>
          <p:cNvSpPr txBox="1"/>
          <p:nvPr>
            <p:ph type="title"/>
          </p:nvPr>
        </p:nvSpPr>
        <p:spPr>
          <a:xfrm>
            <a:off x="443754" y="0"/>
            <a:ext cx="113628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5" name="Google Shape;145;p37"/>
          <p:cNvSpPr txBox="1"/>
          <p:nvPr>
            <p:ph idx="1" type="body"/>
          </p:nvPr>
        </p:nvSpPr>
        <p:spPr>
          <a:xfrm>
            <a:off x="838200" y="1223682"/>
            <a:ext cx="5181600" cy="49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37"/>
          <p:cNvSpPr txBox="1"/>
          <p:nvPr>
            <p:ph idx="2" type="body"/>
          </p:nvPr>
        </p:nvSpPr>
        <p:spPr>
          <a:xfrm>
            <a:off x="6172200" y="1223682"/>
            <a:ext cx="5181600" cy="49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8"/>
          <p:cNvSpPr txBox="1"/>
          <p:nvPr>
            <p:ph type="title"/>
          </p:nvPr>
        </p:nvSpPr>
        <p:spPr>
          <a:xfrm>
            <a:off x="443754" y="524435"/>
            <a:ext cx="6938700" cy="28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Title and Content">
  <p:cSld name="1_Title and Conten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9"/>
          <p:cNvSpPr txBox="1"/>
          <p:nvPr>
            <p:ph type="title"/>
          </p:nvPr>
        </p:nvSpPr>
        <p:spPr>
          <a:xfrm>
            <a:off x="443754" y="1"/>
            <a:ext cx="113223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1" name="Google Shape;151;p39"/>
          <p:cNvSpPr txBox="1"/>
          <p:nvPr>
            <p:ph idx="1" type="body"/>
          </p:nvPr>
        </p:nvSpPr>
        <p:spPr>
          <a:xfrm>
            <a:off x="838200" y="1210235"/>
            <a:ext cx="10515600" cy="45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0"/>
          <p:cNvSpPr txBox="1"/>
          <p:nvPr>
            <p:ph type="title"/>
          </p:nvPr>
        </p:nvSpPr>
        <p:spPr>
          <a:xfrm>
            <a:off x="831850" y="0"/>
            <a:ext cx="105156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4" name="Google Shape;154;p40"/>
          <p:cNvSpPr txBox="1"/>
          <p:nvPr>
            <p:ph idx="1" type="body"/>
          </p:nvPr>
        </p:nvSpPr>
        <p:spPr>
          <a:xfrm>
            <a:off x="831850" y="1250577"/>
            <a:ext cx="10515600" cy="48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1"/>
          <p:cNvSpPr txBox="1"/>
          <p:nvPr>
            <p:ph type="title"/>
          </p:nvPr>
        </p:nvSpPr>
        <p:spPr>
          <a:xfrm>
            <a:off x="839788" y="1"/>
            <a:ext cx="105156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7" name="Google Shape;157;p41"/>
          <p:cNvSpPr txBox="1"/>
          <p:nvPr>
            <p:ph idx="1" type="body"/>
          </p:nvPr>
        </p:nvSpPr>
        <p:spPr>
          <a:xfrm>
            <a:off x="839788" y="1193180"/>
            <a:ext cx="51579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p41"/>
          <p:cNvSpPr txBox="1"/>
          <p:nvPr>
            <p:ph idx="2" type="body"/>
          </p:nvPr>
        </p:nvSpPr>
        <p:spPr>
          <a:xfrm>
            <a:off x="839788" y="1862253"/>
            <a:ext cx="5157900" cy="4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41"/>
          <p:cNvSpPr txBox="1"/>
          <p:nvPr>
            <p:ph idx="3" type="body"/>
          </p:nvPr>
        </p:nvSpPr>
        <p:spPr>
          <a:xfrm>
            <a:off x="6172200" y="1193180"/>
            <a:ext cx="51831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41"/>
          <p:cNvSpPr txBox="1"/>
          <p:nvPr>
            <p:ph idx="4" type="body"/>
          </p:nvPr>
        </p:nvSpPr>
        <p:spPr>
          <a:xfrm>
            <a:off x="6172200" y="1862253"/>
            <a:ext cx="5183100" cy="4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2"/>
          <p:cNvSpPr txBox="1"/>
          <p:nvPr>
            <p:ph type="title"/>
          </p:nvPr>
        </p:nvSpPr>
        <p:spPr>
          <a:xfrm>
            <a:off x="591014" y="345688"/>
            <a:ext cx="107643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3" name="Google Shape;163;p42"/>
          <p:cNvSpPr txBox="1"/>
          <p:nvPr>
            <p:ph idx="1" type="body"/>
          </p:nvPr>
        </p:nvSpPr>
        <p:spPr>
          <a:xfrm>
            <a:off x="5183188" y="1092820"/>
            <a:ext cx="6172200" cy="47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42"/>
          <p:cNvSpPr txBox="1"/>
          <p:nvPr>
            <p:ph idx="2" type="body"/>
          </p:nvPr>
        </p:nvSpPr>
        <p:spPr>
          <a:xfrm>
            <a:off x="591016" y="1092820"/>
            <a:ext cx="43491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3"/>
          <p:cNvSpPr txBox="1"/>
          <p:nvPr>
            <p:ph type="title"/>
          </p:nvPr>
        </p:nvSpPr>
        <p:spPr>
          <a:xfrm>
            <a:off x="839788" y="457200"/>
            <a:ext cx="105156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7" name="Google Shape;167;p43"/>
          <p:cNvSpPr/>
          <p:nvPr>
            <p:ph idx="2" type="pic"/>
          </p:nvPr>
        </p:nvSpPr>
        <p:spPr>
          <a:xfrm>
            <a:off x="5183188" y="2057400"/>
            <a:ext cx="6172200" cy="3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43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>
  <p:cSld name="Title 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4"/>
          <p:cNvSpPr txBox="1"/>
          <p:nvPr>
            <p:ph type="title"/>
          </p:nvPr>
        </p:nvSpPr>
        <p:spPr>
          <a:xfrm>
            <a:off x="609600" y="-25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233E50"/>
              </a:buClr>
              <a:buSzPts val="4300"/>
              <a:buFont typeface="Raleway"/>
              <a:buNone/>
              <a:defRPr b="1" i="0" sz="4300" u="none" cap="none" strike="noStrike">
                <a:solidFill>
                  <a:srgbClr val="233E5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9pPr>
          </a:lstStyle>
          <a:p/>
        </p:txBody>
      </p:sp>
      <p:pic>
        <p:nvPicPr>
          <p:cNvPr descr="Screen Shot 2015-12-08 at 7.04.00 PM.png" id="171" name="Google Shape;171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87" y="6351624"/>
            <a:ext cx="4945311" cy="475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jp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2.jp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29.xml"/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40.xml"/><Relationship Id="rId1" Type="http://schemas.openxmlformats.org/officeDocument/2006/relationships/image" Target="../media/image15.jpg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iocomplexity-PP-SectionTitle10-SDAL-BKGD-Light_2015-11.jpg" id="10" name="Google Shape;10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426" y="-25400"/>
            <a:ext cx="121595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type="title"/>
          </p:nvPr>
        </p:nvSpPr>
        <p:spPr>
          <a:xfrm>
            <a:off x="609600" y="-25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Raleway"/>
              <a:buNone/>
              <a:defRPr b="1" i="0" sz="4267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609600" y="11938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65645" lvl="0" marL="4572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b="0" i="0" sz="3733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31800" lvl="1" marL="9144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97954" lvl="2" marL="1371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iocomplexity-PP-SectionTitle10-SDAL-BKGD-Light_2015-11.jpg" id="49" name="Google Shape;4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426" y="-25400"/>
            <a:ext cx="121595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2"/>
          <p:cNvSpPr txBox="1"/>
          <p:nvPr>
            <p:ph type="title"/>
          </p:nvPr>
        </p:nvSpPr>
        <p:spPr>
          <a:xfrm>
            <a:off x="609600" y="-25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Raleway"/>
              <a:buNone/>
              <a:defRPr b="1" i="0" sz="4267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609600" y="11938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65645" lvl="0" marL="4572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b="0" i="0" sz="3733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31800" lvl="1" marL="9144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97954" lvl="2" marL="1371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Biocomplexity-PP-SectionTitle10-SDAL-BKGD-Light_2015-11.jpg" id="52" name="Google Shape;5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426" y="25400"/>
            <a:ext cx="12159575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3"/>
          <p:cNvSpPr txBox="1"/>
          <p:nvPr>
            <p:ph type="title"/>
          </p:nvPr>
        </p:nvSpPr>
        <p:spPr>
          <a:xfrm>
            <a:off x="443754" y="524435"/>
            <a:ext cx="6938700" cy="28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500"/>
              <a:buFont typeface="Raleway"/>
              <a:buNone/>
              <a:defRPr b="1" i="0" sz="55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97" name="Google Shape;97;p23"/>
          <p:cNvSpPr txBox="1"/>
          <p:nvPr>
            <p:ph idx="1" type="body"/>
          </p:nvPr>
        </p:nvSpPr>
        <p:spPr>
          <a:xfrm>
            <a:off x="838200" y="3617259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3"/>
          <p:cNvSpPr txBox="1"/>
          <p:nvPr>
            <p:ph type="title"/>
          </p:nvPr>
        </p:nvSpPr>
        <p:spPr>
          <a:xfrm>
            <a:off x="443754" y="524435"/>
            <a:ext cx="6938700" cy="28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3" name="Google Shape;133;p33"/>
          <p:cNvSpPr txBox="1"/>
          <p:nvPr>
            <p:ph idx="1" type="body"/>
          </p:nvPr>
        </p:nvSpPr>
        <p:spPr>
          <a:xfrm>
            <a:off x="838200" y="3617259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spreadsheets/d/1kJxFzQB3IJQ9aXNCI_joEZ77L6MnswObSpYbjwGbqwI/edit#gid=0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google.com/spreadsheets/d/1kJxFzQB3IJQ9aXNCI_joEZ77L6MnswObSpYbjwGbqwI/edit#gid=0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5"/>
          <p:cNvSpPr txBox="1"/>
          <p:nvPr>
            <p:ph type="ctrTitle"/>
          </p:nvPr>
        </p:nvSpPr>
        <p:spPr>
          <a:xfrm>
            <a:off x="624654" y="1014832"/>
            <a:ext cx="6885000" cy="2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Raleway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Measuring the Impact and Scope of Open Source Software (OSS) Innovation</a:t>
            </a:r>
            <a:br>
              <a:rPr b="1" i="0" lang="en-US" sz="3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i="0" sz="32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77" name="Google Shape;17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3650" y="5560127"/>
            <a:ext cx="1613100" cy="107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5"/>
          <p:cNvSpPr txBox="1"/>
          <p:nvPr>
            <p:ph idx="1" type="subTitle"/>
          </p:nvPr>
        </p:nvSpPr>
        <p:spPr>
          <a:xfrm>
            <a:off x="314875" y="3634475"/>
            <a:ext cx="8688300" cy="19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US" sz="2220"/>
              <a:t>PI</a:t>
            </a:r>
            <a:r>
              <a:rPr b="1" i="0" lang="en-US" sz="222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b="0" i="0" lang="en-US" sz="222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Gizem Korkmaz</a:t>
            </a:r>
            <a:endParaRPr b="1" sz="2220"/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US" sz="2220"/>
              <a:t>Presenting </a:t>
            </a:r>
            <a:r>
              <a:rPr b="1" i="0" lang="en-US" sz="222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Team: </a:t>
            </a:r>
            <a:r>
              <a:rPr lang="en-US" sz="2220"/>
              <a:t>José Bayoán Santiago Calderón, </a:t>
            </a:r>
            <a:r>
              <a:rPr lang="en-US" sz="2220"/>
              <a:t>Daniel Chen, Eirik Iversen, Hannah Brinkley, Keren Chen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i="0" lang="en-US" sz="222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Sponsor: </a:t>
            </a:r>
            <a:r>
              <a:rPr lang="en-US" sz="2220"/>
              <a:t>Carol Robbins, </a:t>
            </a:r>
            <a:r>
              <a:rPr b="0" i="0" lang="en-US" sz="222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National Science Foundation (NSF)</a:t>
            </a:r>
            <a:br>
              <a:rPr lang="en-US" sz="2220"/>
            </a:br>
            <a:r>
              <a:rPr b="0" i="0" lang="en-US" sz="222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National Center for Science and Engineering Statistics (NCSES)</a:t>
            </a:r>
            <a:endParaRPr b="1" i="0" sz="222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6"/>
          <p:cNvSpPr txBox="1"/>
          <p:nvPr>
            <p:ph type="title"/>
          </p:nvPr>
        </p:nvSpPr>
        <p:spPr>
          <a:xfrm>
            <a:off x="443754" y="1"/>
            <a:ext cx="113223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Raleway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Project Overview</a:t>
            </a:r>
            <a:endParaRPr b="1" i="0" sz="40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5" name="Google Shape;185;p46"/>
          <p:cNvSpPr txBox="1"/>
          <p:nvPr>
            <p:ph idx="1" type="body"/>
          </p:nvPr>
        </p:nvSpPr>
        <p:spPr>
          <a:xfrm>
            <a:off x="568100" y="1022100"/>
            <a:ext cx="8365200" cy="51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NCSES and other economic indicators do not measure the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value of </a:t>
            </a:r>
            <a:r>
              <a:rPr lang="en-US" sz="2400">
                <a:solidFill>
                  <a:srgbClr val="CC0000"/>
                </a:solidFill>
              </a:rPr>
              <a:t>open source software (OSS)</a:t>
            </a:r>
            <a:r>
              <a:rPr lang="en-US" sz="2400"/>
              <a:t> outside the business sector:</a:t>
            </a:r>
            <a:r>
              <a:rPr b="0" i="0" lang="en-US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24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Contribution of people from universities, government research institutions, nonprofits, and individuals</a:t>
            </a:r>
            <a:endParaRPr/>
          </a:p>
          <a:p>
            <a:pPr indent="-203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/>
              <a:t>Importance of </a:t>
            </a:r>
            <a:r>
              <a:rPr i="1" lang="en-US" sz="2400">
                <a:solidFill>
                  <a:srgbClr val="CC0000"/>
                </a:solidFill>
              </a:rPr>
              <a:t>quantifying coding impact</a:t>
            </a:r>
            <a:r>
              <a:rPr lang="en-US" sz="2400"/>
              <a:t> in the scientific community </a:t>
            </a:r>
            <a:endParaRPr sz="2400"/>
          </a:p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i="1" lang="en-US">
                <a:solidFill>
                  <a:srgbClr val="CC0000"/>
                </a:solidFill>
              </a:rPr>
              <a:t>Citations</a:t>
            </a:r>
            <a:r>
              <a:rPr lang="en-US"/>
              <a:t> are used to measure the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i="1" lang="en-US">
                <a:solidFill>
                  <a:srgbClr val="000000"/>
                </a:solidFill>
              </a:rPr>
              <a:t>impact of </a:t>
            </a:r>
            <a:r>
              <a:rPr i="1" lang="en-US">
                <a:solidFill>
                  <a:srgbClr val="CC0000"/>
                </a:solidFill>
              </a:rPr>
              <a:t>patents and publications</a:t>
            </a:r>
            <a:r>
              <a:rPr lang="en-US"/>
              <a:t> used to estimate research outputs 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03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The goal is to test the feasibility and to develop methods to measure the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impact and scope of </a:t>
            </a:r>
            <a:r>
              <a:rPr i="1" lang="en-US" sz="2400">
                <a:solidFill>
                  <a:srgbClr val="CC0000"/>
                </a:solidFill>
              </a:rPr>
              <a:t>OSS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1" sz="2400" u="none" cap="none" strike="noStrike">
              <a:solidFill>
                <a:srgbClr val="CC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86" name="Google Shape;18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4100" y="1897388"/>
            <a:ext cx="272415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6"/>
          <p:cNvSpPr txBox="1"/>
          <p:nvPr/>
        </p:nvSpPr>
        <p:spPr>
          <a:xfrm>
            <a:off x="568100" y="5526525"/>
            <a:ext cx="120597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en-US" sz="24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Identify</a:t>
            </a:r>
            <a:r>
              <a:rPr lang="en-US" sz="24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i="1" lang="en-US" sz="240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data sources and variables</a:t>
            </a:r>
            <a:r>
              <a:rPr lang="en-US" sz="24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to measure attributes and economic value.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7"/>
          <p:cNvSpPr txBox="1"/>
          <p:nvPr>
            <p:ph type="title"/>
          </p:nvPr>
        </p:nvSpPr>
        <p:spPr>
          <a:xfrm>
            <a:off x="443754" y="1"/>
            <a:ext cx="113223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Raleway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Research Questions</a:t>
            </a:r>
            <a:endParaRPr b="1" i="0" sz="40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3" name="Google Shape;193;p47"/>
          <p:cNvSpPr txBox="1"/>
          <p:nvPr>
            <p:ph idx="1" type="body"/>
          </p:nvPr>
        </p:nvSpPr>
        <p:spPr>
          <a:xfrm>
            <a:off x="695700" y="1076600"/>
            <a:ext cx="11496300" cy="5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•"/>
            </a:pPr>
            <a:r>
              <a:rPr lang="en-US" sz="2600"/>
              <a:t>How much open source software is in use? (</a:t>
            </a:r>
            <a:r>
              <a:rPr i="1" lang="en-US" sz="2600">
                <a:solidFill>
                  <a:srgbClr val="C00000"/>
                </a:solidFill>
              </a:rPr>
              <a:t>stock measure</a:t>
            </a:r>
            <a:r>
              <a:rPr lang="en-US" sz="2600"/>
              <a:t>) </a:t>
            </a:r>
            <a:endParaRPr sz="2600"/>
          </a:p>
          <a:p>
            <a:pPr indent="-215900" lvl="1" marL="6858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•"/>
            </a:pPr>
            <a:r>
              <a:rPr lang="en-US" sz="2200"/>
              <a:t>Active completed projects, downloads</a:t>
            </a:r>
            <a:endParaRPr sz="2200"/>
          </a:p>
          <a:p>
            <a:pPr indent="-2159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•"/>
            </a:pPr>
            <a:r>
              <a:rPr lang="en-US" sz="2600"/>
              <a:t>How much is created each year? (</a:t>
            </a:r>
            <a:r>
              <a:rPr i="1" lang="en-US" sz="2600">
                <a:solidFill>
                  <a:srgbClr val="C00000"/>
                </a:solidFill>
              </a:rPr>
              <a:t>flow measure</a:t>
            </a:r>
            <a:r>
              <a:rPr lang="en-US" sz="2600"/>
              <a:t>)</a:t>
            </a:r>
            <a:endParaRPr sz="2600"/>
          </a:p>
          <a:p>
            <a:pPr indent="-2159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•"/>
            </a:pPr>
            <a:r>
              <a:rPr lang="en-US" sz="2200"/>
              <a:t>New projects (annual and cumulative), lines of code, commits, man-hours</a:t>
            </a:r>
            <a:endParaRPr sz="2200"/>
          </a:p>
          <a:p>
            <a:pPr indent="-2159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•"/>
            </a:pPr>
            <a:r>
              <a:rPr lang="en-US" sz="2600"/>
              <a:t>What types (categories) can be identified?</a:t>
            </a:r>
            <a:endParaRPr sz="2600"/>
          </a:p>
          <a:p>
            <a:pPr indent="-2159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•"/>
            </a:pPr>
            <a:r>
              <a:rPr lang="en-US" sz="2600"/>
              <a:t>Who creates it?</a:t>
            </a:r>
            <a:endParaRPr sz="2600"/>
          </a:p>
          <a:p>
            <a:pPr indent="-2159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•"/>
            </a:pPr>
            <a:r>
              <a:rPr i="1" lang="en-US" sz="2200">
                <a:solidFill>
                  <a:srgbClr val="C00000"/>
                </a:solidFill>
              </a:rPr>
              <a:t>Sectors:</a:t>
            </a:r>
            <a:r>
              <a:rPr lang="en-US" sz="2200"/>
              <a:t> Business, Government, Academia, Households, Nonprofits, Foreign</a:t>
            </a:r>
            <a:endParaRPr sz="2200"/>
          </a:p>
          <a:p>
            <a:pPr indent="-2159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•"/>
            </a:pPr>
            <a:r>
              <a:rPr lang="en-US" sz="2600"/>
              <a:t>Who benefits from its development?</a:t>
            </a:r>
            <a:endParaRPr sz="2600"/>
          </a:p>
          <a:p>
            <a:pPr indent="-2159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•"/>
            </a:pPr>
            <a:r>
              <a:rPr i="1" lang="en-US" sz="2200">
                <a:solidFill>
                  <a:srgbClr val="C00000"/>
                </a:solidFill>
              </a:rPr>
              <a:t>Users:</a:t>
            </a:r>
            <a:r>
              <a:rPr lang="en-US" sz="2200"/>
              <a:t> </a:t>
            </a:r>
            <a:r>
              <a:rPr lang="en-US" sz="2200"/>
              <a:t>Downloads, citations, other developers (reverse dependencies)</a:t>
            </a:r>
            <a:endParaRPr sz="2200"/>
          </a:p>
          <a:p>
            <a:pPr indent="-2159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•"/>
            </a:pPr>
            <a:r>
              <a:rPr lang="en-US" sz="2600"/>
              <a:t>What methods can we use to estimate </a:t>
            </a:r>
            <a:r>
              <a:rPr i="1" lang="en-US" sz="2600">
                <a:solidFill>
                  <a:srgbClr val="C00000"/>
                </a:solidFill>
              </a:rPr>
              <a:t>cost and economic value</a:t>
            </a:r>
            <a:r>
              <a:rPr lang="en-US" sz="2600"/>
              <a:t> of open source software? </a:t>
            </a:r>
            <a:endParaRPr sz="2600"/>
          </a:p>
          <a:p>
            <a:pPr indent="-2159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•"/>
            </a:pPr>
            <a:r>
              <a:rPr lang="en-US" sz="2200"/>
              <a:t>S</a:t>
            </a:r>
            <a:r>
              <a:rPr lang="en-US" sz="2200"/>
              <a:t>oftware cost estimation, n</a:t>
            </a:r>
            <a:r>
              <a:rPr lang="en-US" sz="2200"/>
              <a:t>etwork analysis</a:t>
            </a:r>
            <a:endParaRPr sz="2200"/>
          </a:p>
          <a:p>
            <a:pPr indent="0" lvl="0" marL="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8"/>
          <p:cNvSpPr txBox="1"/>
          <p:nvPr/>
        </p:nvSpPr>
        <p:spPr>
          <a:xfrm>
            <a:off x="11570621" y="6473031"/>
            <a:ext cx="621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fld id="{00000000-1234-1234-1234-123412341234}" type="slidenum">
              <a:rPr lang="en-US" sz="1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9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48"/>
          <p:cNvSpPr txBox="1"/>
          <p:nvPr/>
        </p:nvSpPr>
        <p:spPr>
          <a:xfrm>
            <a:off x="831850" y="1087700"/>
            <a:ext cx="9838800" cy="5688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Char char="●"/>
            </a:pP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OSS is a computer software with its source code made available with </a:t>
            </a:r>
            <a:r>
              <a:rPr lang="en-US" sz="240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a license </a:t>
            </a: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 which the copyright holder provides the </a:t>
            </a:r>
            <a:r>
              <a:rPr lang="en-US" sz="240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rights </a:t>
            </a: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 </a:t>
            </a:r>
            <a:r>
              <a:rPr lang="en-US" sz="24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study, change, and distribute</a:t>
            </a: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the software to anyone and for any purpose.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Char char="●"/>
            </a:pPr>
            <a:r>
              <a:rPr lang="en-US" sz="24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OSS is a philosophical framework for how users should interact with software. It considers the rights to use, modify, and distribute it and under what conditions.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●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Operationalized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○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Open Source Initiative (OSI)-Approved License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○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Production Ready Release for Current Ecosystem</a:t>
            </a:r>
            <a:endParaRPr sz="1900"/>
          </a:p>
        </p:txBody>
      </p:sp>
      <p:sp>
        <p:nvSpPr>
          <p:cNvPr id="201" name="Google Shape;201;p48"/>
          <p:cNvSpPr txBox="1"/>
          <p:nvPr>
            <p:ph type="title"/>
          </p:nvPr>
        </p:nvSpPr>
        <p:spPr>
          <a:xfrm>
            <a:off x="831850" y="-16042"/>
            <a:ext cx="105156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E50"/>
              </a:buClr>
              <a:buSzPts val="4400"/>
              <a:buFont typeface="Raleway"/>
              <a:buNone/>
            </a:pPr>
            <a:r>
              <a:rPr lang="en-US" sz="4400">
                <a:solidFill>
                  <a:srgbClr val="233E50"/>
                </a:solidFill>
              </a:rPr>
              <a:t>OSS Definition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9"/>
          <p:cNvSpPr txBox="1"/>
          <p:nvPr/>
        </p:nvSpPr>
        <p:spPr>
          <a:xfrm>
            <a:off x="11570621" y="6473031"/>
            <a:ext cx="621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fld id="{00000000-1234-1234-1234-123412341234}" type="slidenum">
              <a:rPr lang="en-US" sz="1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9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p49"/>
          <p:cNvSpPr txBox="1"/>
          <p:nvPr>
            <p:ph type="title"/>
          </p:nvPr>
        </p:nvSpPr>
        <p:spPr>
          <a:xfrm>
            <a:off x="831850" y="-16042"/>
            <a:ext cx="105156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E50"/>
              </a:buClr>
              <a:buSzPts val="4400"/>
              <a:buFont typeface="Raleway"/>
              <a:buNone/>
            </a:pPr>
            <a:r>
              <a:rPr lang="en-US" sz="4400">
                <a:solidFill>
                  <a:srgbClr val="233E50"/>
                </a:solidFill>
              </a:rPr>
              <a:t>Core Concepts</a:t>
            </a:r>
            <a:endParaRPr/>
          </a:p>
        </p:txBody>
      </p:sp>
      <p:sp>
        <p:nvSpPr>
          <p:cNvPr id="209" name="Google Shape;209;p49"/>
          <p:cNvSpPr txBox="1"/>
          <p:nvPr/>
        </p:nvSpPr>
        <p:spPr>
          <a:xfrm>
            <a:off x="831850" y="1087700"/>
            <a:ext cx="9838800" cy="5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●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Current Focus: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○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OSS universe: how much is out there?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○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Profile of contributors (affiliations and sectors)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○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Contribution over time (rate of development)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○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Depreciation analysis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●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Strategy </a:t>
            </a: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 capture OSS universe</a:t>
            </a: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○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Three categories: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■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Major Projects (e.g., Mozilla, Apache)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400"/>
              <a:buFont typeface="Trebuchet MS"/>
              <a:buChar char="■"/>
            </a:pPr>
            <a:r>
              <a:rPr lang="en-US" sz="2400">
                <a:solidFill>
                  <a:srgbClr val="B7B7B7"/>
                </a:solidFill>
                <a:latin typeface="Trebuchet MS"/>
                <a:ea typeface="Trebuchet MS"/>
                <a:cs typeface="Trebuchet MS"/>
                <a:sym typeface="Trebuchet MS"/>
              </a:rPr>
              <a:t>Programming Languages (e.g., R and Python)</a:t>
            </a:r>
            <a:endParaRPr sz="2400">
              <a:solidFill>
                <a:srgbClr val="B7B7B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400"/>
              <a:buFont typeface="Trebuchet MS"/>
              <a:buChar char="■"/>
            </a:pPr>
            <a:r>
              <a:rPr lang="en-US" sz="2400">
                <a:solidFill>
                  <a:srgbClr val="B7B7B7"/>
                </a:solidFill>
                <a:latin typeface="Trebuchet MS"/>
                <a:ea typeface="Trebuchet MS"/>
                <a:cs typeface="Trebuchet MS"/>
                <a:sym typeface="Trebuchet MS"/>
              </a:rPr>
              <a:t>Packages (e.g., ggplot2, Pandas)</a:t>
            </a:r>
            <a:endParaRPr sz="2400">
              <a:solidFill>
                <a:srgbClr val="B7B7B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50"/>
          <p:cNvPicPr preferRelativeResize="0"/>
          <p:nvPr/>
        </p:nvPicPr>
        <p:blipFill rotWithShape="1">
          <a:blip r:embed="rId3">
            <a:alphaModFix/>
          </a:blip>
          <a:srcRect b="1893" l="11378" r="11324" t="0"/>
          <a:stretch/>
        </p:blipFill>
        <p:spPr>
          <a:xfrm>
            <a:off x="2007625" y="0"/>
            <a:ext cx="8176751" cy="666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1"/>
          <p:cNvSpPr txBox="1"/>
          <p:nvPr/>
        </p:nvSpPr>
        <p:spPr>
          <a:xfrm>
            <a:off x="11570621" y="6473031"/>
            <a:ext cx="621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fld id="{00000000-1234-1234-1234-123412341234}" type="slidenum">
              <a:rPr lang="en-US" sz="1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9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p51"/>
          <p:cNvSpPr txBox="1"/>
          <p:nvPr>
            <p:ph type="title"/>
          </p:nvPr>
        </p:nvSpPr>
        <p:spPr>
          <a:xfrm>
            <a:off x="831850" y="-16042"/>
            <a:ext cx="105156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E50"/>
              </a:buClr>
              <a:buSzPts val="4400"/>
              <a:buFont typeface="Raleway"/>
              <a:buNone/>
            </a:pPr>
            <a:r>
              <a:rPr lang="en-US" sz="4400">
                <a:solidFill>
                  <a:srgbClr val="233E50"/>
                </a:solidFill>
              </a:rPr>
              <a:t>Core Concepts</a:t>
            </a:r>
            <a:endParaRPr/>
          </a:p>
        </p:txBody>
      </p:sp>
      <p:sp>
        <p:nvSpPr>
          <p:cNvPr id="223" name="Google Shape;223;p51"/>
          <p:cNvSpPr txBox="1"/>
          <p:nvPr/>
        </p:nvSpPr>
        <p:spPr>
          <a:xfrm>
            <a:off x="831850" y="1087700"/>
            <a:ext cx="9838800" cy="5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●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Strategy </a:t>
            </a: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 capture OSS universe</a:t>
            </a: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○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Three categories: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400"/>
              <a:buFont typeface="Trebuchet MS"/>
              <a:buChar char="■"/>
            </a:pPr>
            <a:r>
              <a:rPr lang="en-US" sz="2400">
                <a:solidFill>
                  <a:srgbClr val="B7B7B7"/>
                </a:solidFill>
                <a:latin typeface="Trebuchet MS"/>
                <a:ea typeface="Trebuchet MS"/>
                <a:cs typeface="Trebuchet MS"/>
                <a:sym typeface="Trebuchet MS"/>
              </a:rPr>
              <a:t>Major Projects (e.g., Mozilla, Apache)</a:t>
            </a:r>
            <a:endParaRPr sz="2400">
              <a:solidFill>
                <a:srgbClr val="B7B7B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■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Programming Languages (e.g., R and Python)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400"/>
              <a:buFont typeface="Trebuchet MS"/>
              <a:buChar char="■"/>
            </a:pPr>
            <a:r>
              <a:rPr lang="en-US" sz="2400">
                <a:solidFill>
                  <a:srgbClr val="B7B7B7"/>
                </a:solidFill>
                <a:latin typeface="Trebuchet MS"/>
                <a:ea typeface="Trebuchet MS"/>
                <a:cs typeface="Trebuchet MS"/>
                <a:sym typeface="Trebuchet MS"/>
              </a:rPr>
              <a:t>Packages (e.g., ggplot2, Pandas)</a:t>
            </a:r>
            <a:endParaRPr sz="2400">
              <a:solidFill>
                <a:srgbClr val="B7B7B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9337" y="0"/>
            <a:ext cx="9913324" cy="649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3"/>
          <p:cNvSpPr txBox="1"/>
          <p:nvPr/>
        </p:nvSpPr>
        <p:spPr>
          <a:xfrm>
            <a:off x="11570621" y="6473031"/>
            <a:ext cx="621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fld id="{00000000-1234-1234-1234-123412341234}" type="slidenum">
              <a:rPr lang="en-US" sz="1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9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6" name="Google Shape;236;p53"/>
          <p:cNvSpPr txBox="1"/>
          <p:nvPr>
            <p:ph type="title"/>
          </p:nvPr>
        </p:nvSpPr>
        <p:spPr>
          <a:xfrm>
            <a:off x="831850" y="-16042"/>
            <a:ext cx="105156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E50"/>
              </a:buClr>
              <a:buSzPts val="4400"/>
              <a:buFont typeface="Raleway"/>
              <a:buNone/>
            </a:pPr>
            <a:r>
              <a:rPr lang="en-US" sz="4400">
                <a:solidFill>
                  <a:srgbClr val="233E50"/>
                </a:solidFill>
              </a:rPr>
              <a:t>Core Concepts</a:t>
            </a:r>
            <a:endParaRPr/>
          </a:p>
        </p:txBody>
      </p:sp>
      <p:sp>
        <p:nvSpPr>
          <p:cNvPr id="237" name="Google Shape;237;p53"/>
          <p:cNvSpPr txBox="1"/>
          <p:nvPr/>
        </p:nvSpPr>
        <p:spPr>
          <a:xfrm>
            <a:off x="831850" y="1087700"/>
            <a:ext cx="9838800" cy="5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●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Strategy </a:t>
            </a: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 capture OSS universe</a:t>
            </a: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○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Three categories: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Trebuchet MS"/>
              <a:buChar char="■"/>
            </a:pPr>
            <a:r>
              <a:rPr lang="en-US" sz="2400">
                <a:solidFill>
                  <a:srgbClr val="CCCCCC"/>
                </a:solidFill>
                <a:latin typeface="Trebuchet MS"/>
                <a:ea typeface="Trebuchet MS"/>
                <a:cs typeface="Trebuchet MS"/>
                <a:sym typeface="Trebuchet MS"/>
              </a:rPr>
              <a:t>Major Projects (e.g., Mozilla, Apache)</a:t>
            </a:r>
            <a:endParaRPr sz="2400">
              <a:solidFill>
                <a:srgbClr val="CCCC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400"/>
              <a:buFont typeface="Trebuchet MS"/>
              <a:buChar char="■"/>
            </a:pPr>
            <a:r>
              <a:rPr lang="en-US" sz="2400">
                <a:solidFill>
                  <a:srgbClr val="B7B7B7"/>
                </a:solidFill>
                <a:latin typeface="Trebuchet MS"/>
                <a:ea typeface="Trebuchet MS"/>
                <a:cs typeface="Trebuchet MS"/>
                <a:sym typeface="Trebuchet MS"/>
              </a:rPr>
              <a:t>Programming Languages (e.g., R and Python)</a:t>
            </a:r>
            <a:endParaRPr sz="2400">
              <a:solidFill>
                <a:srgbClr val="B7B7B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■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Packages (e.g., ggplot2, Pandas)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4"/>
          <p:cNvSpPr txBox="1"/>
          <p:nvPr/>
        </p:nvSpPr>
        <p:spPr>
          <a:xfrm>
            <a:off x="11570621" y="6473031"/>
            <a:ext cx="621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fld id="{00000000-1234-1234-1234-123412341234}" type="slidenum">
              <a:rPr lang="en-US" sz="1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9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4" name="Google Shape;244;p54"/>
          <p:cNvSpPr txBox="1"/>
          <p:nvPr>
            <p:ph type="title"/>
          </p:nvPr>
        </p:nvSpPr>
        <p:spPr>
          <a:xfrm>
            <a:off x="831850" y="-16042"/>
            <a:ext cx="105156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E50"/>
              </a:buClr>
              <a:buSzPts val="4400"/>
              <a:buFont typeface="Raleway"/>
              <a:buNone/>
            </a:pPr>
            <a:r>
              <a:rPr lang="en-US" sz="4400">
                <a:solidFill>
                  <a:srgbClr val="233E50"/>
                </a:solidFill>
              </a:rPr>
              <a:t>Strategy</a:t>
            </a:r>
            <a:endParaRPr/>
          </a:p>
        </p:txBody>
      </p:sp>
      <p:grpSp>
        <p:nvGrpSpPr>
          <p:cNvPr id="245" name="Google Shape;245;p54"/>
          <p:cNvGrpSpPr/>
          <p:nvPr/>
        </p:nvGrpSpPr>
        <p:grpSpPr>
          <a:xfrm>
            <a:off x="7509568" y="1586327"/>
            <a:ext cx="4407490" cy="4643961"/>
            <a:chOff x="5632317" y="1189775"/>
            <a:chExt cx="3305700" cy="3483058"/>
          </a:xfrm>
        </p:grpSpPr>
        <p:sp>
          <p:nvSpPr>
            <p:cNvPr id="246" name="Google Shape;246;p54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D8382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Repository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7" name="Google Shape;247;p54"/>
            <p:cNvSpPr txBox="1"/>
            <p:nvPr/>
          </p:nvSpPr>
          <p:spPr>
            <a:xfrm>
              <a:off x="5881919" y="2057133"/>
              <a:ext cx="28065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-3556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000"/>
                <a:buFont typeface="Roboto"/>
                <a:buChar char="●"/>
              </a:pPr>
              <a:r>
                <a:rPr lang="en-US" sz="2000">
                  <a:latin typeface="Roboto"/>
                  <a:ea typeface="Roboto"/>
                  <a:cs typeface="Roboto"/>
                  <a:sym typeface="Roboto"/>
                </a:rPr>
                <a:t>Information about the author, maintainer, license, package status, etc.</a:t>
              </a:r>
              <a:endParaRPr sz="2000">
                <a:latin typeface="Roboto"/>
                <a:ea typeface="Roboto"/>
                <a:cs typeface="Roboto"/>
                <a:sym typeface="Roboto"/>
              </a:endParaRPr>
            </a:p>
            <a:p>
              <a:pPr indent="-3556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000"/>
                <a:buFont typeface="Roboto"/>
                <a:buChar char="●"/>
              </a:pPr>
              <a:r>
                <a:rPr lang="en-US" sz="2000">
                  <a:latin typeface="Roboto"/>
                  <a:ea typeface="Roboto"/>
                  <a:cs typeface="Roboto"/>
                  <a:sym typeface="Roboto"/>
                </a:rPr>
                <a:t>When Github is used</a:t>
              </a:r>
              <a:endParaRPr sz="2000">
                <a:latin typeface="Roboto"/>
                <a:ea typeface="Roboto"/>
                <a:cs typeface="Roboto"/>
                <a:sym typeface="Roboto"/>
              </a:endParaRPr>
            </a:p>
            <a:p>
              <a:pPr indent="-3556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000"/>
                <a:buFont typeface="Roboto"/>
                <a:buChar char="○"/>
              </a:pPr>
              <a:r>
                <a:rPr lang="en-US" sz="2000">
                  <a:latin typeface="Roboto"/>
                  <a:ea typeface="Roboto"/>
                  <a:cs typeface="Roboto"/>
                  <a:sym typeface="Roboto"/>
                </a:rPr>
                <a:t>Additional information is provided</a:t>
              </a:r>
              <a:endParaRPr sz="2000">
                <a:latin typeface="Roboto"/>
                <a:ea typeface="Roboto"/>
                <a:cs typeface="Roboto"/>
                <a:sym typeface="Roboto"/>
              </a:endParaRPr>
            </a:p>
            <a:p>
              <a:pPr indent="-355600" lvl="2" marL="1371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000"/>
                <a:buFont typeface="Roboto"/>
                <a:buChar char="■"/>
              </a:pPr>
              <a:r>
                <a:rPr lang="en-US" sz="2000">
                  <a:latin typeface="Roboto"/>
                  <a:ea typeface="Roboto"/>
                  <a:cs typeface="Roboto"/>
                  <a:sym typeface="Roboto"/>
                </a:rPr>
                <a:t>Contributions</a:t>
              </a:r>
              <a:endParaRPr sz="2000">
                <a:latin typeface="Roboto"/>
                <a:ea typeface="Roboto"/>
                <a:cs typeface="Roboto"/>
                <a:sym typeface="Roboto"/>
              </a:endParaRPr>
            </a:p>
            <a:p>
              <a:pPr indent="-355600" lvl="2" marL="1371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000"/>
                <a:buFont typeface="Roboto"/>
                <a:buChar char="■"/>
              </a:pPr>
              <a:r>
                <a:rPr lang="en-US" sz="2000">
                  <a:latin typeface="Roboto"/>
                  <a:ea typeface="Roboto"/>
                  <a:cs typeface="Roboto"/>
                  <a:sym typeface="Roboto"/>
                </a:rPr>
                <a:t>Contributors </a:t>
              </a:r>
              <a:endParaRPr sz="2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8" name="Google Shape;248;p54"/>
          <p:cNvGrpSpPr/>
          <p:nvPr/>
        </p:nvGrpSpPr>
        <p:grpSpPr>
          <a:xfrm>
            <a:off x="0" y="1586613"/>
            <a:ext cx="4729082" cy="4643675"/>
            <a:chOff x="0" y="1189989"/>
            <a:chExt cx="3546900" cy="3482843"/>
          </a:xfrm>
        </p:grpSpPr>
        <p:sp>
          <p:nvSpPr>
            <p:cNvPr id="249" name="Google Shape;249;p54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rgbClr val="802017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Registry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" name="Google Shape;250;p54"/>
            <p:cNvSpPr txBox="1"/>
            <p:nvPr/>
          </p:nvSpPr>
          <p:spPr>
            <a:xfrm>
              <a:off x="463344" y="2057133"/>
              <a:ext cx="2620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-3810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Roboto"/>
                <a:buChar char="●"/>
              </a:pPr>
              <a:r>
                <a:rPr lang="en-US" sz="2400">
                  <a:latin typeface="Roboto"/>
                  <a:ea typeface="Roboto"/>
                  <a:cs typeface="Roboto"/>
                  <a:sym typeface="Roboto"/>
                </a:rPr>
                <a:t>Common supported package managers</a:t>
              </a:r>
              <a:endParaRPr sz="2400">
                <a:latin typeface="Roboto"/>
                <a:ea typeface="Roboto"/>
                <a:cs typeface="Roboto"/>
                <a:sym typeface="Roboto"/>
              </a:endParaRPr>
            </a:p>
            <a:p>
              <a:pPr indent="-3810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Roboto"/>
                <a:buChar char="●"/>
              </a:pPr>
              <a:r>
                <a:rPr lang="en-US" sz="2400">
                  <a:latin typeface="Roboto"/>
                  <a:ea typeface="Roboto"/>
                  <a:cs typeface="Roboto"/>
                  <a:sym typeface="Roboto"/>
                </a:rPr>
                <a:t>Contains basic information about each package</a:t>
              </a:r>
              <a:endParaRPr sz="24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1" name="Google Shape;251;p54"/>
          <p:cNvGrpSpPr/>
          <p:nvPr/>
        </p:nvGrpSpPr>
        <p:grpSpPr>
          <a:xfrm>
            <a:off x="3925507" y="1586327"/>
            <a:ext cx="4407490" cy="4643961"/>
            <a:chOff x="2944204" y="1189775"/>
            <a:chExt cx="3305700" cy="3483058"/>
          </a:xfrm>
        </p:grpSpPr>
        <p:sp>
          <p:nvSpPr>
            <p:cNvPr id="252" name="Google Shape;252;p54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B02C2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Manifest File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3" name="Google Shape;253;p54"/>
            <p:cNvSpPr txBox="1"/>
            <p:nvPr/>
          </p:nvSpPr>
          <p:spPr>
            <a:xfrm>
              <a:off x="3239556" y="2057133"/>
              <a:ext cx="26556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-3556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000"/>
                <a:buFont typeface="Roboto"/>
                <a:buChar char="●"/>
              </a:pPr>
              <a:r>
                <a:rPr lang="en-US" sz="2000">
                  <a:latin typeface="Roboto"/>
                  <a:ea typeface="Roboto"/>
                  <a:cs typeface="Roboto"/>
                  <a:sym typeface="Roboto"/>
                </a:rPr>
                <a:t>Contains Metadata</a:t>
              </a:r>
              <a:endParaRPr sz="2000">
                <a:latin typeface="Roboto"/>
                <a:ea typeface="Roboto"/>
                <a:cs typeface="Roboto"/>
                <a:sym typeface="Roboto"/>
              </a:endParaRPr>
            </a:p>
            <a:p>
              <a:pPr indent="-3556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000"/>
                <a:buFont typeface="Roboto"/>
                <a:buChar char="○"/>
              </a:pPr>
              <a:r>
                <a:rPr lang="en-US" sz="2000">
                  <a:latin typeface="Roboto"/>
                  <a:ea typeface="Roboto"/>
                  <a:cs typeface="Roboto"/>
                  <a:sym typeface="Roboto"/>
                </a:rPr>
                <a:t>Author, license, version, dependencies, etc.</a:t>
              </a:r>
              <a:endParaRPr sz="2000">
                <a:latin typeface="Roboto"/>
                <a:ea typeface="Roboto"/>
                <a:cs typeface="Roboto"/>
                <a:sym typeface="Roboto"/>
              </a:endParaRPr>
            </a:p>
            <a:p>
              <a:pPr indent="-3556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000"/>
                <a:buFont typeface="Roboto"/>
                <a:buChar char="●"/>
              </a:pPr>
              <a:r>
                <a:rPr lang="en-US" sz="2000">
                  <a:latin typeface="Roboto"/>
                  <a:ea typeface="Roboto"/>
                  <a:cs typeface="Roboto"/>
                  <a:sym typeface="Roboto"/>
                </a:rPr>
                <a:t>Some registries parse this information while others do not.</a:t>
              </a:r>
              <a:endParaRPr sz="2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5"/>
          <p:cNvSpPr txBox="1"/>
          <p:nvPr>
            <p:ph type="title"/>
          </p:nvPr>
        </p:nvSpPr>
        <p:spPr>
          <a:xfrm>
            <a:off x="831850" y="0"/>
            <a:ext cx="10515600" cy="1008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Collection</a:t>
            </a:r>
            <a:endParaRPr/>
          </a:p>
        </p:txBody>
      </p:sp>
      <p:sp>
        <p:nvSpPr>
          <p:cNvPr id="260" name="Google Shape;260;p55"/>
          <p:cNvSpPr txBox="1"/>
          <p:nvPr>
            <p:ph idx="1" type="body"/>
          </p:nvPr>
        </p:nvSpPr>
        <p:spPr>
          <a:xfrm>
            <a:off x="831850" y="1250577"/>
            <a:ext cx="10515600" cy="483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>
                <a:solidFill>
                  <a:srgbClr val="000000"/>
                </a:solidFill>
              </a:rPr>
              <a:t>Usual Tools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-US">
                <a:solidFill>
                  <a:srgbClr val="000000"/>
                </a:solidFill>
              </a:rPr>
              <a:t>GitHub API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-US">
                <a:solidFill>
                  <a:srgbClr val="000000"/>
                </a:solidFill>
              </a:rPr>
              <a:t>Travis C.I. API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-US">
                <a:solidFill>
                  <a:srgbClr val="000000"/>
                </a:solidFill>
              </a:rPr>
              <a:t>Licensee (Ruby Gem)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-US">
                <a:solidFill>
                  <a:srgbClr val="000000"/>
                </a:solidFill>
              </a:rPr>
              <a:t>Tables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-US">
                <a:solidFill>
                  <a:srgbClr val="000000"/>
                </a:solidFill>
              </a:rPr>
              <a:t>basic_information: (name, repository, status)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-US">
                <a:solidFill>
                  <a:srgbClr val="000000"/>
                </a:solidFill>
              </a:rPr>
              <a:t>licenses: (name, license type)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-US">
                <a:solidFill>
                  <a:srgbClr val="000000"/>
                </a:solidFill>
              </a:rPr>
              <a:t>authors: (name, entity, role, identity)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-US">
                <a:solidFill>
                  <a:srgbClr val="000000"/>
                </a:solidFill>
              </a:rPr>
              <a:t>dependencies: (name, release, dependency)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-US">
                <a:solidFill>
                  <a:srgbClr val="000000"/>
                </a:solidFill>
              </a:rPr>
              <a:t>contributors: (name, entity, lines of code (LoC), start_date, end_date)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6"/>
          <p:cNvSpPr txBox="1"/>
          <p:nvPr/>
        </p:nvSpPr>
        <p:spPr>
          <a:xfrm>
            <a:off x="11570621" y="6473031"/>
            <a:ext cx="621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fld id="{00000000-1234-1234-1234-123412341234}" type="slidenum">
              <a:rPr lang="en-US" sz="1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9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7" name="Google Shape;267;p56"/>
          <p:cNvSpPr txBox="1"/>
          <p:nvPr>
            <p:ph type="title"/>
          </p:nvPr>
        </p:nvSpPr>
        <p:spPr>
          <a:xfrm>
            <a:off x="831850" y="-16042"/>
            <a:ext cx="105156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E50"/>
              </a:buClr>
              <a:buSzPts val="4400"/>
              <a:buFont typeface="Raleway"/>
              <a:buNone/>
            </a:pPr>
            <a:r>
              <a:rPr lang="en-US" sz="4400">
                <a:solidFill>
                  <a:srgbClr val="233E50"/>
                </a:solidFill>
              </a:rPr>
              <a:t>Data Profiling</a:t>
            </a:r>
            <a:endParaRPr/>
          </a:p>
        </p:txBody>
      </p:sp>
      <p:graphicFrame>
        <p:nvGraphicFramePr>
          <p:cNvPr id="268" name="Google Shape;268;p56"/>
          <p:cNvGraphicFramePr/>
          <p:nvPr/>
        </p:nvGraphicFramePr>
        <p:xfrm>
          <a:off x="623500" y="1865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{37147FDE-3E32-4C7C-A58C-D25252A50761}</a:tableStyleId>
              </a:tblPr>
              <a:tblGrid>
                <a:gridCol w="1984375"/>
                <a:gridCol w="1984375"/>
                <a:gridCol w="1686750"/>
                <a:gridCol w="1997325"/>
                <a:gridCol w="2269050"/>
              </a:tblGrid>
              <a:tr h="9250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Language</a:t>
                      </a:r>
                      <a:endParaRPr sz="24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Package Manager</a:t>
                      </a:r>
                      <a:endParaRPr sz="24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All packages</a:t>
                      </a:r>
                      <a:endParaRPr sz="24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Production Ready</a:t>
                      </a:r>
                      <a:endParaRPr sz="24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OSI-approved</a:t>
                      </a:r>
                      <a:endParaRPr sz="24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5558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R</a:t>
                      </a:r>
                      <a:endParaRPr sz="24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CRAN</a:t>
                      </a:r>
                      <a:endParaRPr sz="24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12,614</a:t>
                      </a:r>
                      <a:endParaRPr sz="24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12,163</a:t>
                      </a:r>
                      <a:endParaRPr sz="24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12,321</a:t>
                      </a:r>
                      <a:endParaRPr sz="24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8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Python</a:t>
                      </a:r>
                      <a:endParaRPr sz="24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PyPi</a:t>
                      </a:r>
                      <a:endParaRPr sz="24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143,047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10,423</a:t>
                      </a:r>
                      <a:endParaRPr sz="24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7,392* (from PR)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597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Julia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Pkg.jl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2,040</a:t>
                      </a:r>
                      <a:endParaRPr sz="240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1,324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2,000</a:t>
                      </a:r>
                      <a:endParaRPr sz="240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</a:tr>
              <a:tr h="9250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JavaScript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CDNJS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3,367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---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2,731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9250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Code.gov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---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4,866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---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999999"/>
                          </a:solidFill>
                        </a:rPr>
                        <a:t>4,866</a:t>
                      </a:r>
                      <a:endParaRPr sz="2400">
                        <a:solidFill>
                          <a:srgbClr val="999999"/>
                        </a:solidFill>
                      </a:endParaRPr>
                    </a:p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9" name="Google Shape;269;p56"/>
          <p:cNvSpPr txBox="1"/>
          <p:nvPr/>
        </p:nvSpPr>
        <p:spPr>
          <a:xfrm>
            <a:off x="1013188" y="1115925"/>
            <a:ext cx="9142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After examining 30+ different languages / package managers / registries we chose a subset most suitable for this project (see full inventory 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list</a:t>
            </a:r>
            <a:r>
              <a:rPr lang="en-US" sz="2000"/>
              <a:t>).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7"/>
          <p:cNvSpPr txBox="1"/>
          <p:nvPr/>
        </p:nvSpPr>
        <p:spPr>
          <a:xfrm>
            <a:off x="11570621" y="6473031"/>
            <a:ext cx="621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fld id="{00000000-1234-1234-1234-123412341234}" type="slidenum">
              <a:rPr lang="en-US" sz="1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9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6" name="Google Shape;276;p57"/>
          <p:cNvSpPr txBox="1"/>
          <p:nvPr>
            <p:ph type="title"/>
          </p:nvPr>
        </p:nvSpPr>
        <p:spPr>
          <a:xfrm>
            <a:off x="831850" y="-16042"/>
            <a:ext cx="105156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E50"/>
              </a:buClr>
              <a:buSzPts val="4400"/>
              <a:buFont typeface="Raleway"/>
              <a:buNone/>
            </a:pPr>
            <a:r>
              <a:rPr lang="en-US" sz="4400">
                <a:solidFill>
                  <a:srgbClr val="233E50"/>
                </a:solidFill>
              </a:rPr>
              <a:t>Data Collection</a:t>
            </a:r>
            <a:endParaRPr/>
          </a:p>
        </p:txBody>
      </p:sp>
      <p:graphicFrame>
        <p:nvGraphicFramePr>
          <p:cNvPr id="277" name="Google Shape;277;p57"/>
          <p:cNvGraphicFramePr/>
          <p:nvPr/>
        </p:nvGraphicFramePr>
        <p:xfrm>
          <a:off x="601650" y="23112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{37147FDE-3E32-4C7C-A58C-D25252A50761}</a:tableStyleId>
              </a:tblPr>
              <a:tblGrid>
                <a:gridCol w="2147075"/>
                <a:gridCol w="2147075"/>
                <a:gridCol w="3470200"/>
                <a:gridCol w="2027350"/>
              </a:tblGrid>
              <a:tr h="971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Language</a:t>
                      </a:r>
                      <a:endParaRPr sz="24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Package Manager</a:t>
                      </a:r>
                      <a:endParaRPr sz="24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Number of packages (OSI &amp; production ready)</a:t>
                      </a:r>
                      <a:endParaRPr sz="24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on Github</a:t>
                      </a:r>
                      <a:endParaRPr sz="24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5837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R</a:t>
                      </a:r>
                      <a:endParaRPr sz="24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CRAN</a:t>
                      </a:r>
                      <a:endParaRPr sz="24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11,886</a:t>
                      </a:r>
                      <a:endParaRPr sz="24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3,049</a:t>
                      </a:r>
                      <a:endParaRPr sz="24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37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Python</a:t>
                      </a:r>
                      <a:endParaRPr sz="24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PyPi</a:t>
                      </a:r>
                      <a:endParaRPr sz="24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7,392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4,605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878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Julia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Pkg.jl</a:t>
                      </a:r>
                      <a:endParaRPr sz="24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1,324</a:t>
                      </a:r>
                      <a:endParaRPr sz="240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1,324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971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JavaScript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CDNJS</a:t>
                      </a:r>
                      <a:endParaRPr sz="24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3,367</a:t>
                      </a:r>
                      <a:endParaRPr sz="24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3,274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278" name="Google Shape;278;p57"/>
          <p:cNvSpPr txBox="1"/>
          <p:nvPr/>
        </p:nvSpPr>
        <p:spPr>
          <a:xfrm>
            <a:off x="1013200" y="1276900"/>
            <a:ext cx="9142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After examining 30+ different languages / package managers / registries we chose a subset most suitable for this project (see full inventory 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list</a:t>
            </a:r>
            <a:r>
              <a:rPr lang="en-US" sz="2000"/>
              <a:t>).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8"/>
          <p:cNvSpPr txBox="1"/>
          <p:nvPr>
            <p:ph type="title"/>
          </p:nvPr>
        </p:nvSpPr>
        <p:spPr>
          <a:xfrm>
            <a:off x="831850" y="0"/>
            <a:ext cx="10515600" cy="1008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Collection</a:t>
            </a:r>
            <a:endParaRPr/>
          </a:p>
        </p:txBody>
      </p:sp>
      <p:sp>
        <p:nvSpPr>
          <p:cNvPr id="285" name="Google Shape;285;p58"/>
          <p:cNvSpPr txBox="1"/>
          <p:nvPr>
            <p:ph idx="1" type="body"/>
          </p:nvPr>
        </p:nvSpPr>
        <p:spPr>
          <a:xfrm>
            <a:off x="831850" y="1250577"/>
            <a:ext cx="10515600" cy="483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/>
              <a:t>Variables on Github:</a:t>
            </a:r>
            <a:endParaRPr/>
          </a:p>
          <a:p>
            <a:pPr indent="-381000" lvl="0" marL="457200" rtl="0" algn="l">
              <a:spcBef>
                <a:spcPts val="1100"/>
              </a:spcBef>
              <a:spcAft>
                <a:spcPts val="0"/>
              </a:spcAft>
              <a:buSzPts val="2400"/>
              <a:buChar char="-"/>
            </a:pPr>
            <a:r>
              <a:rPr lang="en-US"/>
              <a:t>contributors: author credits, organizations, emails, locations, followers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/>
              <a:t>timestamp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/>
              <a:t>additions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/>
              <a:t>deletions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/>
              <a:t>commits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/>
              <a:t>stars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/>
              <a:t>Variables on CRAN:</a:t>
            </a:r>
            <a:endParaRPr/>
          </a:p>
          <a:p>
            <a:pPr indent="-381000" lvl="0" marL="457200" rtl="0" algn="l">
              <a:spcBef>
                <a:spcPts val="1100"/>
              </a:spcBef>
              <a:spcAft>
                <a:spcPts val="0"/>
              </a:spcAft>
              <a:buSzPts val="2400"/>
              <a:buChar char="-"/>
            </a:pPr>
            <a:r>
              <a:rPr lang="en-US"/>
              <a:t>licence, authors, roles, version, dependency, lines of code (mirrors)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/>
              <a:t>Variables on Cranlogs (Depsy):</a:t>
            </a:r>
            <a:endParaRPr/>
          </a:p>
          <a:p>
            <a:pPr indent="-381000" lvl="0" marL="457200" rtl="0" algn="l">
              <a:spcBef>
                <a:spcPts val="1100"/>
              </a:spcBef>
              <a:spcAft>
                <a:spcPts val="0"/>
              </a:spcAft>
              <a:buSzPts val="2400"/>
              <a:buChar char="-"/>
            </a:pPr>
            <a:r>
              <a:rPr lang="en-US"/>
              <a:t>downloads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59"/>
          <p:cNvGrpSpPr/>
          <p:nvPr/>
        </p:nvGrpSpPr>
        <p:grpSpPr>
          <a:xfrm>
            <a:off x="7509568" y="1586327"/>
            <a:ext cx="4407490" cy="4643951"/>
            <a:chOff x="5632317" y="1189775"/>
            <a:chExt cx="3305700" cy="3483050"/>
          </a:xfrm>
        </p:grpSpPr>
        <p:sp>
          <p:nvSpPr>
            <p:cNvPr id="292" name="Google Shape;292;p59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D8382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Analysis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3" name="Google Shape;293;p59"/>
            <p:cNvSpPr txBox="1"/>
            <p:nvPr/>
          </p:nvSpPr>
          <p:spPr>
            <a:xfrm>
              <a:off x="6167063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600"/>
                <a:buFont typeface="Roboto"/>
                <a:buChar char="●"/>
              </a:pPr>
              <a:r>
                <a:rPr lang="en-US" sz="1600">
                  <a:latin typeface="Roboto"/>
                  <a:ea typeface="Roboto"/>
                  <a:cs typeface="Roboto"/>
                  <a:sym typeface="Roboto"/>
                </a:rPr>
                <a:t>Estimate cost and value (by organization, sector, category, language)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600"/>
                <a:buFont typeface="Roboto"/>
                <a:buChar char="●"/>
              </a:pPr>
              <a:r>
                <a:rPr lang="en-US" sz="1600">
                  <a:latin typeface="Roboto"/>
                  <a:ea typeface="Roboto"/>
                  <a:cs typeface="Roboto"/>
                  <a:sym typeface="Roboto"/>
                </a:rPr>
                <a:t>Network analysis of contributors and packages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600"/>
                <a:buFont typeface="Roboto"/>
                <a:buChar char="●"/>
              </a:pPr>
              <a:r>
                <a:rPr lang="en-US" sz="1600">
                  <a:latin typeface="Roboto"/>
                  <a:ea typeface="Roboto"/>
                  <a:cs typeface="Roboto"/>
                  <a:sym typeface="Roboto"/>
                </a:rPr>
                <a:t>Dependency charts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4" name="Google Shape;294;p59"/>
          <p:cNvGrpSpPr/>
          <p:nvPr/>
        </p:nvGrpSpPr>
        <p:grpSpPr>
          <a:xfrm>
            <a:off x="0" y="1586613"/>
            <a:ext cx="4729082" cy="4643665"/>
            <a:chOff x="0" y="1189989"/>
            <a:chExt cx="3546900" cy="3482836"/>
          </a:xfrm>
        </p:grpSpPr>
        <p:sp>
          <p:nvSpPr>
            <p:cNvPr id="295" name="Google Shape;295;p59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rgbClr val="802017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Project Code (Github)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6" name="Google Shape;296;p59"/>
            <p:cNvSpPr txBox="1"/>
            <p:nvPr/>
          </p:nvSpPr>
          <p:spPr>
            <a:xfrm>
              <a:off x="655361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Roboto"/>
                  <a:ea typeface="Roboto"/>
                  <a:cs typeface="Roboto"/>
                  <a:sym typeface="Roboto"/>
                </a:rPr>
                <a:t>Collect the contributions and contributors.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600"/>
                <a:buFont typeface="Roboto"/>
                <a:buChar char="●"/>
              </a:pPr>
              <a:r>
                <a:rPr lang="en-US" sz="1600">
                  <a:latin typeface="Roboto"/>
                  <a:ea typeface="Roboto"/>
                  <a:cs typeface="Roboto"/>
                  <a:sym typeface="Roboto"/>
                </a:rPr>
                <a:t>For the latest release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600"/>
                <a:buFont typeface="Roboto"/>
                <a:buChar char="●"/>
              </a:pPr>
              <a:r>
                <a:rPr lang="en-US" sz="1600">
                  <a:latin typeface="Roboto"/>
                  <a:ea typeface="Roboto"/>
                  <a:cs typeface="Roboto"/>
                  <a:sym typeface="Roboto"/>
                </a:rPr>
                <a:t>For the top 100 contributors by commits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600"/>
                <a:buFont typeface="Roboto"/>
                <a:buChar char="●"/>
              </a:pPr>
              <a:r>
                <a:rPr lang="en-US" sz="1600">
                  <a:latin typeface="Roboto"/>
                  <a:ea typeface="Roboto"/>
                  <a:cs typeface="Roboto"/>
                  <a:sym typeface="Roboto"/>
                </a:rPr>
                <a:t>Timestamped Lines of Code (LoC)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600"/>
                <a:buFont typeface="Roboto"/>
                <a:buChar char="●"/>
              </a:pPr>
              <a:r>
                <a:rPr lang="en-US" sz="1600">
                  <a:latin typeface="Roboto"/>
                  <a:ea typeface="Roboto"/>
                  <a:cs typeface="Roboto"/>
                  <a:sym typeface="Roboto"/>
                </a:rPr>
                <a:t>Profile of contributors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7" name="Google Shape;297;p59"/>
          <p:cNvGrpSpPr/>
          <p:nvPr/>
        </p:nvGrpSpPr>
        <p:grpSpPr>
          <a:xfrm>
            <a:off x="3925507" y="1586327"/>
            <a:ext cx="4407490" cy="4643951"/>
            <a:chOff x="2944204" y="1189775"/>
            <a:chExt cx="3305700" cy="3483050"/>
          </a:xfrm>
        </p:grpSpPr>
        <p:sp>
          <p:nvSpPr>
            <p:cNvPr id="298" name="Google Shape;298;p59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B02C2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Validate Data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9" name="Google Shape;299;p59"/>
            <p:cNvSpPr txBox="1"/>
            <p:nvPr/>
          </p:nvSpPr>
          <p:spPr>
            <a:xfrm>
              <a:off x="3478949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-3302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Roboto"/>
                <a:buChar char="●"/>
              </a:pPr>
              <a:r>
                <a:rPr lang="en-US" sz="1600">
                  <a:latin typeface="Roboto"/>
                  <a:ea typeface="Roboto"/>
                  <a:cs typeface="Roboto"/>
                  <a:sym typeface="Roboto"/>
                </a:rPr>
                <a:t>License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-3302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Roboto"/>
                <a:buChar char="●"/>
              </a:pPr>
              <a:r>
                <a:rPr lang="en-US" sz="1600">
                  <a:latin typeface="Roboto"/>
                  <a:ea typeface="Roboto"/>
                  <a:cs typeface="Roboto"/>
                  <a:sym typeface="Roboto"/>
                </a:rPr>
                <a:t>Package status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-3302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600"/>
                <a:buFont typeface="Roboto"/>
                <a:buChar char="○"/>
              </a:pPr>
              <a:r>
                <a:rPr lang="en-US" sz="1600">
                  <a:latin typeface="Roboto"/>
                  <a:ea typeface="Roboto"/>
                  <a:cs typeface="Roboto"/>
                  <a:sym typeface="Roboto"/>
                </a:rPr>
                <a:t>Continuous</a:t>
              </a:r>
              <a:r>
                <a:rPr lang="en-US" sz="1600">
                  <a:latin typeface="Roboto"/>
                  <a:ea typeface="Roboto"/>
                  <a:cs typeface="Roboto"/>
                  <a:sym typeface="Roboto"/>
                </a:rPr>
                <a:t> Integration (C.I.)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-3302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600"/>
                <a:buFont typeface="Roboto"/>
                <a:buChar char="○"/>
              </a:pPr>
              <a:r>
                <a:rPr lang="en-US" sz="1600">
                  <a:latin typeface="Roboto"/>
                  <a:ea typeface="Roboto"/>
                  <a:cs typeface="Roboto"/>
                  <a:sym typeface="Roboto"/>
                </a:rPr>
                <a:t>Maintainers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-33020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600"/>
                <a:buFont typeface="Roboto"/>
                <a:buChar char="○"/>
              </a:pPr>
              <a:r>
                <a:rPr lang="en-US" sz="1600">
                  <a:latin typeface="Roboto"/>
                  <a:ea typeface="Roboto"/>
                  <a:cs typeface="Roboto"/>
                  <a:sym typeface="Roboto"/>
                </a:rPr>
                <a:t>Activity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00" name="Google Shape;300;p59"/>
          <p:cNvSpPr txBox="1"/>
          <p:nvPr>
            <p:ph type="title"/>
          </p:nvPr>
        </p:nvSpPr>
        <p:spPr>
          <a:xfrm>
            <a:off x="831850" y="-16042"/>
            <a:ext cx="105156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Next Steps</a:t>
            </a:r>
            <a:endParaRPr sz="4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8_SDAL_Biocomplexity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SDAL 2017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8E058865-A147-4A09-BD33-BDC2047DE25C}"/>
</file>

<file path=customXml/itemProps2.xml><?xml version="1.0" encoding="utf-8"?>
<ds:datastoreItem xmlns:ds="http://schemas.openxmlformats.org/officeDocument/2006/customXml" ds:itemID="{60FA7C2A-CC0F-41CD-A95D-BD1F15BC702B}"/>
</file>

<file path=customXml/itemProps3.xml><?xml version="1.0" encoding="utf-8"?>
<ds:datastoreItem xmlns:ds="http://schemas.openxmlformats.org/officeDocument/2006/customXml" ds:itemID="{B6297F5F-A775-42A9-B08F-8B7652577ABE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