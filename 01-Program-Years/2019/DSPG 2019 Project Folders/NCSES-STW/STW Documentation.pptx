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61" r:id="rId2"/>
    <p:sldId id="258" r:id="rId3"/>
    <p:sldId id="273" r:id="rId4"/>
    <p:sldId id="262" r:id="rId5"/>
    <p:sldId id="263" r:id="rId6"/>
    <p:sldId id="264" r:id="rId7"/>
    <p:sldId id="259" r:id="rId8"/>
    <p:sldId id="265" r:id="rId9"/>
    <p:sldId id="266" r:id="rId10"/>
    <p:sldId id="274" r:id="rId11"/>
    <p:sldId id="267" r:id="rId12"/>
    <p:sldId id="272" r:id="rId13"/>
    <p:sldId id="271" r:id="rId14"/>
    <p:sldId id="268" r:id="rId15"/>
    <p:sldId id="270" r:id="rId16"/>
    <p:sldId id="26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6319"/>
    <a:srgbClr val="EF641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06F60D-A2E3-D9EA-51D6-EB477F54C5EC}" v="2954" dt="2019-08-07T18:57:17.821"/>
    <p1510:client id="{81697ACA-E373-0582-89AF-264843963A32}" v="774" dt="2019-08-07T18:29:19.326"/>
    <p1510:client id="{BE762698-DBA6-95D6-CDE6-FAF57421FCCA}" v="626" dt="2019-08-07T18:46:38.1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customXml" Target="../customXml/item2.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 Id="rId27"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owers, Alyssa (af5ug)" userId="S::af5ug@virginia.edu::c3a37977-17ff-41a0-ad75-fd916179f175" providerId="AD" clId="Web-{17FE493D-2A91-1023-08CE-E9F861A7EA92}"/>
    <pc:docChg chg="delSld modSld">
      <pc:chgData name="Fowers, Alyssa (af5ug)" userId="S::af5ug@virginia.edu::c3a37977-17ff-41a0-ad75-fd916179f175" providerId="AD" clId="Web-{17FE493D-2A91-1023-08CE-E9F861A7EA92}" dt="2019-08-08T19:46:46.267" v="32" actId="20577"/>
      <pc:docMkLst>
        <pc:docMk/>
      </pc:docMkLst>
      <pc:sldChg chg="del">
        <pc:chgData name="Fowers, Alyssa (af5ug)" userId="S::af5ug@virginia.edu::c3a37977-17ff-41a0-ad75-fd916179f175" providerId="AD" clId="Web-{17FE493D-2A91-1023-08CE-E9F861A7EA92}" dt="2019-08-08T19:45:50.312" v="1"/>
        <pc:sldMkLst>
          <pc:docMk/>
          <pc:sldMk cId="2699644829" sldId="256"/>
        </pc:sldMkLst>
      </pc:sldChg>
      <pc:sldChg chg="del">
        <pc:chgData name="Fowers, Alyssa (af5ug)" userId="S::af5ug@virginia.edu::c3a37977-17ff-41a0-ad75-fd916179f175" providerId="AD" clId="Web-{17FE493D-2A91-1023-08CE-E9F861A7EA92}" dt="2019-08-08T19:45:50.296" v="0"/>
        <pc:sldMkLst>
          <pc:docMk/>
          <pc:sldMk cId="2977641462" sldId="257"/>
        </pc:sldMkLst>
      </pc:sldChg>
      <pc:sldChg chg="modSp">
        <pc:chgData name="Fowers, Alyssa (af5ug)" userId="S::af5ug@virginia.edu::c3a37977-17ff-41a0-ad75-fd916179f175" providerId="AD" clId="Web-{17FE493D-2A91-1023-08CE-E9F861A7EA92}" dt="2019-08-08T19:45:57.468" v="5" actId="20577"/>
        <pc:sldMkLst>
          <pc:docMk/>
          <pc:sldMk cId="4073411564" sldId="262"/>
        </pc:sldMkLst>
        <pc:spChg chg="mod">
          <ac:chgData name="Fowers, Alyssa (af5ug)" userId="S::af5ug@virginia.edu::c3a37977-17ff-41a0-ad75-fd916179f175" providerId="AD" clId="Web-{17FE493D-2A91-1023-08CE-E9F861A7EA92}" dt="2019-08-08T19:45:57.468" v="5" actId="20577"/>
          <ac:spMkLst>
            <pc:docMk/>
            <pc:sldMk cId="4073411564" sldId="262"/>
            <ac:spMk id="2" creationId="{3C98E5C0-3E28-D845-81F1-91EDE7034F02}"/>
          </ac:spMkLst>
        </pc:spChg>
      </pc:sldChg>
      <pc:sldChg chg="modSp">
        <pc:chgData name="Fowers, Alyssa (af5ug)" userId="S::af5ug@virginia.edu::c3a37977-17ff-41a0-ad75-fd916179f175" providerId="AD" clId="Web-{17FE493D-2A91-1023-08CE-E9F861A7EA92}" dt="2019-08-08T19:46:05.031" v="10" actId="20577"/>
        <pc:sldMkLst>
          <pc:docMk/>
          <pc:sldMk cId="944861312" sldId="263"/>
        </pc:sldMkLst>
        <pc:spChg chg="mod">
          <ac:chgData name="Fowers, Alyssa (af5ug)" userId="S::af5ug@virginia.edu::c3a37977-17ff-41a0-ad75-fd916179f175" providerId="AD" clId="Web-{17FE493D-2A91-1023-08CE-E9F861A7EA92}" dt="2019-08-08T19:46:05.031" v="10" actId="20577"/>
          <ac:spMkLst>
            <pc:docMk/>
            <pc:sldMk cId="944861312" sldId="263"/>
            <ac:spMk id="2" creationId="{3C98E5C0-3E28-D845-81F1-91EDE7034F02}"/>
          </ac:spMkLst>
        </pc:spChg>
      </pc:sldChg>
      <pc:sldChg chg="modSp">
        <pc:chgData name="Fowers, Alyssa (af5ug)" userId="S::af5ug@virginia.edu::c3a37977-17ff-41a0-ad75-fd916179f175" providerId="AD" clId="Web-{17FE493D-2A91-1023-08CE-E9F861A7EA92}" dt="2019-08-08T19:46:08.937" v="13" actId="20577"/>
        <pc:sldMkLst>
          <pc:docMk/>
          <pc:sldMk cId="985592411" sldId="264"/>
        </pc:sldMkLst>
        <pc:spChg chg="mod">
          <ac:chgData name="Fowers, Alyssa (af5ug)" userId="S::af5ug@virginia.edu::c3a37977-17ff-41a0-ad75-fd916179f175" providerId="AD" clId="Web-{17FE493D-2A91-1023-08CE-E9F861A7EA92}" dt="2019-08-08T19:46:08.937" v="13" actId="20577"/>
          <ac:spMkLst>
            <pc:docMk/>
            <pc:sldMk cId="985592411" sldId="264"/>
            <ac:spMk id="2" creationId="{3C98E5C0-3E28-D845-81F1-91EDE7034F02}"/>
          </ac:spMkLst>
        </pc:spChg>
      </pc:sldChg>
      <pc:sldChg chg="modSp">
        <pc:chgData name="Fowers, Alyssa (af5ug)" userId="S::af5ug@virginia.edu::c3a37977-17ff-41a0-ad75-fd916179f175" providerId="AD" clId="Web-{17FE493D-2A91-1023-08CE-E9F861A7EA92}" dt="2019-08-08T19:46:29.907" v="19" actId="20577"/>
        <pc:sldMkLst>
          <pc:docMk/>
          <pc:sldMk cId="1925702162" sldId="265"/>
        </pc:sldMkLst>
        <pc:spChg chg="mod">
          <ac:chgData name="Fowers, Alyssa (af5ug)" userId="S::af5ug@virginia.edu::c3a37977-17ff-41a0-ad75-fd916179f175" providerId="AD" clId="Web-{17FE493D-2A91-1023-08CE-E9F861A7EA92}" dt="2019-08-08T19:46:29.907" v="19" actId="20577"/>
          <ac:spMkLst>
            <pc:docMk/>
            <pc:sldMk cId="1925702162" sldId="265"/>
            <ac:spMk id="2" creationId="{3C98E5C0-3E28-D845-81F1-91EDE7034F02}"/>
          </ac:spMkLst>
        </pc:spChg>
      </pc:sldChg>
      <pc:sldChg chg="modSp">
        <pc:chgData name="Fowers, Alyssa (af5ug)" userId="S::af5ug@virginia.edu::c3a37977-17ff-41a0-ad75-fd916179f175" providerId="AD" clId="Web-{17FE493D-2A91-1023-08CE-E9F861A7EA92}" dt="2019-08-08T19:46:25.203" v="16" actId="20577"/>
        <pc:sldMkLst>
          <pc:docMk/>
          <pc:sldMk cId="3579605812" sldId="266"/>
        </pc:sldMkLst>
        <pc:spChg chg="mod">
          <ac:chgData name="Fowers, Alyssa (af5ug)" userId="S::af5ug@virginia.edu::c3a37977-17ff-41a0-ad75-fd916179f175" providerId="AD" clId="Web-{17FE493D-2A91-1023-08CE-E9F861A7EA92}" dt="2019-08-08T19:46:25.203" v="16" actId="20577"/>
          <ac:spMkLst>
            <pc:docMk/>
            <pc:sldMk cId="3579605812" sldId="266"/>
            <ac:spMk id="2" creationId="{3C98E5C0-3E28-D845-81F1-91EDE7034F02}"/>
          </ac:spMkLst>
        </pc:spChg>
      </pc:sldChg>
      <pc:sldChg chg="modSp">
        <pc:chgData name="Fowers, Alyssa (af5ug)" userId="S::af5ug@virginia.edu::c3a37977-17ff-41a0-ad75-fd916179f175" providerId="AD" clId="Web-{17FE493D-2A91-1023-08CE-E9F861A7EA92}" dt="2019-08-08T19:46:40.126" v="27" actId="20577"/>
        <pc:sldMkLst>
          <pc:docMk/>
          <pc:sldMk cId="3968596615" sldId="268"/>
        </pc:sldMkLst>
        <pc:spChg chg="mod">
          <ac:chgData name="Fowers, Alyssa (af5ug)" userId="S::af5ug@virginia.edu::c3a37977-17ff-41a0-ad75-fd916179f175" providerId="AD" clId="Web-{17FE493D-2A91-1023-08CE-E9F861A7EA92}" dt="2019-08-08T19:46:40.126" v="27" actId="20577"/>
          <ac:spMkLst>
            <pc:docMk/>
            <pc:sldMk cId="3968596615" sldId="268"/>
            <ac:spMk id="2" creationId="{3C98E5C0-3E28-D845-81F1-91EDE7034F02}"/>
          </ac:spMkLst>
        </pc:spChg>
      </pc:sldChg>
      <pc:sldChg chg="modSp">
        <pc:chgData name="Fowers, Alyssa (af5ug)" userId="S::af5ug@virginia.edu::c3a37977-17ff-41a0-ad75-fd916179f175" providerId="AD" clId="Web-{17FE493D-2A91-1023-08CE-E9F861A7EA92}" dt="2019-08-08T19:46:45.892" v="30" actId="20577"/>
        <pc:sldMkLst>
          <pc:docMk/>
          <pc:sldMk cId="2369988752" sldId="269"/>
        </pc:sldMkLst>
        <pc:spChg chg="mod">
          <ac:chgData name="Fowers, Alyssa (af5ug)" userId="S::af5ug@virginia.edu::c3a37977-17ff-41a0-ad75-fd916179f175" providerId="AD" clId="Web-{17FE493D-2A91-1023-08CE-E9F861A7EA92}" dt="2019-08-08T19:46:45.892" v="30" actId="20577"/>
          <ac:spMkLst>
            <pc:docMk/>
            <pc:sldMk cId="2369988752" sldId="269"/>
            <ac:spMk id="2" creationId="{3C98E5C0-3E28-D845-81F1-91EDE7034F02}"/>
          </ac:spMkLst>
        </pc:spChg>
      </pc:sldChg>
      <pc:sldChg chg="modSp">
        <pc:chgData name="Fowers, Alyssa (af5ug)" userId="S::af5ug@virginia.edu::c3a37977-17ff-41a0-ad75-fd916179f175" providerId="AD" clId="Web-{17FE493D-2A91-1023-08CE-E9F861A7EA92}" dt="2019-08-08T19:46:35.829" v="24" actId="20577"/>
        <pc:sldMkLst>
          <pc:docMk/>
          <pc:sldMk cId="4093502343" sldId="274"/>
        </pc:sldMkLst>
        <pc:spChg chg="mod">
          <ac:chgData name="Fowers, Alyssa (af5ug)" userId="S::af5ug@virginia.edu::c3a37977-17ff-41a0-ad75-fd916179f175" providerId="AD" clId="Web-{17FE493D-2A91-1023-08CE-E9F861A7EA92}" dt="2019-08-08T19:46:35.829" v="24" actId="20577"/>
          <ac:spMkLst>
            <pc:docMk/>
            <pc:sldMk cId="4093502343" sldId="274"/>
            <ac:spMk id="2" creationId="{3C98E5C0-3E28-D845-81F1-91EDE7034F02}"/>
          </ac:spMkLst>
        </pc:spChg>
      </pc:sldChg>
    </pc:docChg>
  </pc:docChgLst>
  <pc:docChgLst>
    <pc:chgData name="Lancaster, Vicki Ann (val7zv)" userId="S::val7zv@virginia.edu::1848b937-7720-42a5-9891-d77f8c3cb783" providerId="AD" clId="Web-{5843EAAB-B49B-DE14-E2BC-9E738A9CB122}"/>
    <pc:docChg chg="modSld">
      <pc:chgData name="Lancaster, Vicki Ann (val7zv)" userId="S::val7zv@virginia.edu::1848b937-7720-42a5-9891-d77f8c3cb783" providerId="AD" clId="Web-{5843EAAB-B49B-DE14-E2BC-9E738A9CB122}" dt="2019-08-19T10:58:01.224" v="66" actId="20577"/>
      <pc:docMkLst>
        <pc:docMk/>
      </pc:docMkLst>
      <pc:sldChg chg="modSp">
        <pc:chgData name="Lancaster, Vicki Ann (val7zv)" userId="S::val7zv@virginia.edu::1848b937-7720-42a5-9891-d77f8c3cb783" providerId="AD" clId="Web-{5843EAAB-B49B-DE14-E2BC-9E738A9CB122}" dt="2019-08-19T10:55:00.286" v="7" actId="20577"/>
        <pc:sldMkLst>
          <pc:docMk/>
          <pc:sldMk cId="2161644545" sldId="258"/>
        </pc:sldMkLst>
        <pc:spChg chg="mod">
          <ac:chgData name="Lancaster, Vicki Ann (val7zv)" userId="S::val7zv@virginia.edu::1848b937-7720-42a5-9891-d77f8c3cb783" providerId="AD" clId="Web-{5843EAAB-B49B-DE14-E2BC-9E738A9CB122}" dt="2019-08-19T10:55:00.286" v="7" actId="20577"/>
          <ac:spMkLst>
            <pc:docMk/>
            <pc:sldMk cId="2161644545" sldId="258"/>
            <ac:spMk id="2" creationId="{3C98E5C0-3E28-D845-81F1-91EDE7034F02}"/>
          </ac:spMkLst>
        </pc:spChg>
      </pc:sldChg>
      <pc:sldChg chg="delSp modSp">
        <pc:chgData name="Lancaster, Vicki Ann (val7zv)" userId="S::val7zv@virginia.edu::1848b937-7720-42a5-9891-d77f8c3cb783" providerId="AD" clId="Web-{5843EAAB-B49B-DE14-E2BC-9E738A9CB122}" dt="2019-08-19T10:56:02.395" v="29" actId="20577"/>
        <pc:sldMkLst>
          <pc:docMk/>
          <pc:sldMk cId="3064742412" sldId="259"/>
        </pc:sldMkLst>
        <pc:spChg chg="mod">
          <ac:chgData name="Lancaster, Vicki Ann (val7zv)" userId="S::val7zv@virginia.edu::1848b937-7720-42a5-9891-d77f8c3cb783" providerId="AD" clId="Web-{5843EAAB-B49B-DE14-E2BC-9E738A9CB122}" dt="2019-08-19T10:56:02.395" v="29" actId="20577"/>
          <ac:spMkLst>
            <pc:docMk/>
            <pc:sldMk cId="3064742412" sldId="259"/>
            <ac:spMk id="2" creationId="{82B34E97-7AD8-D542-A5B0-E549DED9383D}"/>
          </ac:spMkLst>
        </pc:spChg>
        <pc:spChg chg="del">
          <ac:chgData name="Lancaster, Vicki Ann (val7zv)" userId="S::val7zv@virginia.edu::1848b937-7720-42a5-9891-d77f8c3cb783" providerId="AD" clId="Web-{5843EAAB-B49B-DE14-E2BC-9E738A9CB122}" dt="2019-08-19T10:55:51.973" v="25"/>
          <ac:spMkLst>
            <pc:docMk/>
            <pc:sldMk cId="3064742412" sldId="259"/>
            <ac:spMk id="3" creationId="{A0A3858B-5ECF-EC44-BB9B-752FFD2C0102}"/>
          </ac:spMkLst>
        </pc:spChg>
        <pc:spChg chg="del">
          <ac:chgData name="Lancaster, Vicki Ann (val7zv)" userId="S::val7zv@virginia.edu::1848b937-7720-42a5-9891-d77f8c3cb783" providerId="AD" clId="Web-{5843EAAB-B49B-DE14-E2BC-9E738A9CB122}" dt="2019-08-19T10:55:54.880" v="26"/>
          <ac:spMkLst>
            <pc:docMk/>
            <pc:sldMk cId="3064742412" sldId="259"/>
            <ac:spMk id="4" creationId="{E51D3A4A-3625-DE45-A3B3-21A54B25519D}"/>
          </ac:spMkLst>
        </pc:spChg>
        <pc:spChg chg="del">
          <ac:chgData name="Lancaster, Vicki Ann (val7zv)" userId="S::val7zv@virginia.edu::1848b937-7720-42a5-9891-d77f8c3cb783" providerId="AD" clId="Web-{5843EAAB-B49B-DE14-E2BC-9E738A9CB122}" dt="2019-08-19T10:55:59.067" v="28"/>
          <ac:spMkLst>
            <pc:docMk/>
            <pc:sldMk cId="3064742412" sldId="259"/>
            <ac:spMk id="5" creationId="{BF49A145-9662-1C44-AA3E-DD0E902EB66E}"/>
          </ac:spMkLst>
        </pc:spChg>
        <pc:spChg chg="del">
          <ac:chgData name="Lancaster, Vicki Ann (val7zv)" userId="S::val7zv@virginia.edu::1848b937-7720-42a5-9891-d77f8c3cb783" providerId="AD" clId="Web-{5843EAAB-B49B-DE14-E2BC-9E738A9CB122}" dt="2019-08-19T10:55:56.536" v="27"/>
          <ac:spMkLst>
            <pc:docMk/>
            <pc:sldMk cId="3064742412" sldId="259"/>
            <ac:spMk id="6" creationId="{D69C7A35-A97F-804B-A1E1-5BD7A5C60312}"/>
          </ac:spMkLst>
        </pc:spChg>
      </pc:sldChg>
      <pc:sldChg chg="delSp modSp">
        <pc:chgData name="Lancaster, Vicki Ann (val7zv)" userId="S::val7zv@virginia.edu::1848b937-7720-42a5-9891-d77f8c3cb783" providerId="AD" clId="Web-{5843EAAB-B49B-DE14-E2BC-9E738A9CB122}" dt="2019-08-19T10:54:48.879" v="4" actId="20577"/>
        <pc:sldMkLst>
          <pc:docMk/>
          <pc:sldMk cId="1874122792" sldId="261"/>
        </pc:sldMkLst>
        <pc:spChg chg="mod">
          <ac:chgData name="Lancaster, Vicki Ann (val7zv)" userId="S::val7zv@virginia.edu::1848b937-7720-42a5-9891-d77f8c3cb783" providerId="AD" clId="Web-{5843EAAB-B49B-DE14-E2BC-9E738A9CB122}" dt="2019-08-19T10:54:48.879" v="4" actId="20577"/>
          <ac:spMkLst>
            <pc:docMk/>
            <pc:sldMk cId="1874122792" sldId="261"/>
            <ac:spMk id="2" creationId="{729DB0E6-CCB8-FB4A-AA89-96201F071363}"/>
          </ac:spMkLst>
        </pc:spChg>
        <pc:spChg chg="del">
          <ac:chgData name="Lancaster, Vicki Ann (val7zv)" userId="S::val7zv@virginia.edu::1848b937-7720-42a5-9891-d77f8c3cb783" providerId="AD" clId="Web-{5843EAAB-B49B-DE14-E2BC-9E738A9CB122}" dt="2019-08-19T10:52:10.941" v="0"/>
          <ac:spMkLst>
            <pc:docMk/>
            <pc:sldMk cId="1874122792" sldId="261"/>
            <ac:spMk id="3" creationId="{0F110B2C-A98E-4746-83F5-C796D3DE8E7E}"/>
          </ac:spMkLst>
        </pc:spChg>
        <pc:spChg chg="del">
          <ac:chgData name="Lancaster, Vicki Ann (val7zv)" userId="S::val7zv@virginia.edu::1848b937-7720-42a5-9891-d77f8c3cb783" providerId="AD" clId="Web-{5843EAAB-B49B-DE14-E2BC-9E738A9CB122}" dt="2019-08-19T10:52:14.175" v="1"/>
          <ac:spMkLst>
            <pc:docMk/>
            <pc:sldMk cId="1874122792" sldId="261"/>
            <ac:spMk id="4" creationId="{47C8C3AC-020A-B743-8AA9-8F97EBC7CB42}"/>
          </ac:spMkLst>
        </pc:spChg>
        <pc:spChg chg="del">
          <ac:chgData name="Lancaster, Vicki Ann (val7zv)" userId="S::val7zv@virginia.edu::1848b937-7720-42a5-9891-d77f8c3cb783" providerId="AD" clId="Web-{5843EAAB-B49B-DE14-E2BC-9E738A9CB122}" dt="2019-08-19T10:52:19.253" v="2"/>
          <ac:spMkLst>
            <pc:docMk/>
            <pc:sldMk cId="1874122792" sldId="261"/>
            <ac:spMk id="5" creationId="{98A47ED3-93CC-704A-AE04-04CA2909ECF0}"/>
          </ac:spMkLst>
        </pc:spChg>
        <pc:spChg chg="del">
          <ac:chgData name="Lancaster, Vicki Ann (val7zv)" userId="S::val7zv@virginia.edu::1848b937-7720-42a5-9891-d77f8c3cb783" providerId="AD" clId="Web-{5843EAAB-B49B-DE14-E2BC-9E738A9CB122}" dt="2019-08-19T10:52:23.238" v="3"/>
          <ac:spMkLst>
            <pc:docMk/>
            <pc:sldMk cId="1874122792" sldId="261"/>
            <ac:spMk id="6" creationId="{D3390102-DAED-0A4D-97D3-A7CB7210A402}"/>
          </ac:spMkLst>
        </pc:spChg>
      </pc:sldChg>
      <pc:sldChg chg="modSp">
        <pc:chgData name="Lancaster, Vicki Ann (val7zv)" userId="S::val7zv@virginia.edu::1848b937-7720-42a5-9891-d77f8c3cb783" providerId="AD" clId="Web-{5843EAAB-B49B-DE14-E2BC-9E738A9CB122}" dt="2019-08-19T10:55:23.020" v="17" actId="20577"/>
        <pc:sldMkLst>
          <pc:docMk/>
          <pc:sldMk cId="4073411564" sldId="262"/>
        </pc:sldMkLst>
        <pc:spChg chg="mod">
          <ac:chgData name="Lancaster, Vicki Ann (val7zv)" userId="S::val7zv@virginia.edu::1848b937-7720-42a5-9891-d77f8c3cb783" providerId="AD" clId="Web-{5843EAAB-B49B-DE14-E2BC-9E738A9CB122}" dt="2019-08-19T10:55:23.020" v="17" actId="20577"/>
          <ac:spMkLst>
            <pc:docMk/>
            <pc:sldMk cId="4073411564" sldId="262"/>
            <ac:spMk id="2" creationId="{3C98E5C0-3E28-D845-81F1-91EDE7034F02}"/>
          </ac:spMkLst>
        </pc:spChg>
      </pc:sldChg>
      <pc:sldChg chg="modSp">
        <pc:chgData name="Lancaster, Vicki Ann (val7zv)" userId="S::val7zv@virginia.edu::1848b937-7720-42a5-9891-d77f8c3cb783" providerId="AD" clId="Web-{5843EAAB-B49B-DE14-E2BC-9E738A9CB122}" dt="2019-08-19T10:55:28.989" v="19" actId="20577"/>
        <pc:sldMkLst>
          <pc:docMk/>
          <pc:sldMk cId="944861312" sldId="263"/>
        </pc:sldMkLst>
        <pc:spChg chg="mod">
          <ac:chgData name="Lancaster, Vicki Ann (val7zv)" userId="S::val7zv@virginia.edu::1848b937-7720-42a5-9891-d77f8c3cb783" providerId="AD" clId="Web-{5843EAAB-B49B-DE14-E2BC-9E738A9CB122}" dt="2019-08-19T10:55:28.989" v="19" actId="20577"/>
          <ac:spMkLst>
            <pc:docMk/>
            <pc:sldMk cId="944861312" sldId="263"/>
            <ac:spMk id="2" creationId="{3C98E5C0-3E28-D845-81F1-91EDE7034F02}"/>
          </ac:spMkLst>
        </pc:spChg>
      </pc:sldChg>
      <pc:sldChg chg="modSp">
        <pc:chgData name="Lancaster, Vicki Ann (val7zv)" userId="S::val7zv@virginia.edu::1848b937-7720-42a5-9891-d77f8c3cb783" providerId="AD" clId="Web-{5843EAAB-B49B-DE14-E2BC-9E738A9CB122}" dt="2019-08-19T10:55:41.880" v="22" actId="20577"/>
        <pc:sldMkLst>
          <pc:docMk/>
          <pc:sldMk cId="985592411" sldId="264"/>
        </pc:sldMkLst>
        <pc:spChg chg="mod">
          <ac:chgData name="Lancaster, Vicki Ann (val7zv)" userId="S::val7zv@virginia.edu::1848b937-7720-42a5-9891-d77f8c3cb783" providerId="AD" clId="Web-{5843EAAB-B49B-DE14-E2BC-9E738A9CB122}" dt="2019-08-19T10:55:41.880" v="22" actId="20577"/>
          <ac:spMkLst>
            <pc:docMk/>
            <pc:sldMk cId="985592411" sldId="264"/>
            <ac:spMk id="2" creationId="{3C98E5C0-3E28-D845-81F1-91EDE7034F02}"/>
          </ac:spMkLst>
        </pc:spChg>
      </pc:sldChg>
      <pc:sldChg chg="modSp">
        <pc:chgData name="Lancaster, Vicki Ann (val7zv)" userId="S::val7zv@virginia.edu::1848b937-7720-42a5-9891-d77f8c3cb783" providerId="AD" clId="Web-{5843EAAB-B49B-DE14-E2BC-9E738A9CB122}" dt="2019-08-19T10:56:18.786" v="32" actId="20577"/>
        <pc:sldMkLst>
          <pc:docMk/>
          <pc:sldMk cId="1925702162" sldId="265"/>
        </pc:sldMkLst>
        <pc:spChg chg="mod">
          <ac:chgData name="Lancaster, Vicki Ann (val7zv)" userId="S::val7zv@virginia.edu::1848b937-7720-42a5-9891-d77f8c3cb783" providerId="AD" clId="Web-{5843EAAB-B49B-DE14-E2BC-9E738A9CB122}" dt="2019-08-19T10:56:18.786" v="32" actId="20577"/>
          <ac:spMkLst>
            <pc:docMk/>
            <pc:sldMk cId="1925702162" sldId="265"/>
            <ac:spMk id="2" creationId="{3C98E5C0-3E28-D845-81F1-91EDE7034F02}"/>
          </ac:spMkLst>
        </pc:spChg>
      </pc:sldChg>
      <pc:sldChg chg="modSp">
        <pc:chgData name="Lancaster, Vicki Ann (val7zv)" userId="S::val7zv@virginia.edu::1848b937-7720-42a5-9891-d77f8c3cb783" providerId="AD" clId="Web-{5843EAAB-B49B-DE14-E2BC-9E738A9CB122}" dt="2019-08-19T10:56:31.161" v="35" actId="20577"/>
        <pc:sldMkLst>
          <pc:docMk/>
          <pc:sldMk cId="3579605812" sldId="266"/>
        </pc:sldMkLst>
        <pc:spChg chg="mod">
          <ac:chgData name="Lancaster, Vicki Ann (val7zv)" userId="S::val7zv@virginia.edu::1848b937-7720-42a5-9891-d77f8c3cb783" providerId="AD" clId="Web-{5843EAAB-B49B-DE14-E2BC-9E738A9CB122}" dt="2019-08-19T10:56:31.161" v="35" actId="20577"/>
          <ac:spMkLst>
            <pc:docMk/>
            <pc:sldMk cId="3579605812" sldId="266"/>
            <ac:spMk id="2" creationId="{3C98E5C0-3E28-D845-81F1-91EDE7034F02}"/>
          </ac:spMkLst>
        </pc:spChg>
      </pc:sldChg>
      <pc:sldChg chg="delSp modSp">
        <pc:chgData name="Lancaster, Vicki Ann (val7zv)" userId="S::val7zv@virginia.edu::1848b937-7720-42a5-9891-d77f8c3cb783" providerId="AD" clId="Web-{5843EAAB-B49B-DE14-E2BC-9E738A9CB122}" dt="2019-08-19T10:57:02.021" v="45" actId="20577"/>
        <pc:sldMkLst>
          <pc:docMk/>
          <pc:sldMk cId="1468346539" sldId="267"/>
        </pc:sldMkLst>
        <pc:spChg chg="mod">
          <ac:chgData name="Lancaster, Vicki Ann (val7zv)" userId="S::val7zv@virginia.edu::1848b937-7720-42a5-9891-d77f8c3cb783" providerId="AD" clId="Web-{5843EAAB-B49B-DE14-E2BC-9E738A9CB122}" dt="2019-08-19T10:57:02.021" v="45" actId="20577"/>
          <ac:spMkLst>
            <pc:docMk/>
            <pc:sldMk cId="1468346539" sldId="267"/>
            <ac:spMk id="2" creationId="{82B34E97-7AD8-D542-A5B0-E549DED9383D}"/>
          </ac:spMkLst>
        </pc:spChg>
        <pc:spChg chg="del">
          <ac:chgData name="Lancaster, Vicki Ann (val7zv)" userId="S::val7zv@virginia.edu::1848b937-7720-42a5-9891-d77f8c3cb783" providerId="AD" clId="Web-{5843EAAB-B49B-DE14-E2BC-9E738A9CB122}" dt="2019-08-19T10:56:48.005" v="41"/>
          <ac:spMkLst>
            <pc:docMk/>
            <pc:sldMk cId="1468346539" sldId="267"/>
            <ac:spMk id="3" creationId="{A0A3858B-5ECF-EC44-BB9B-752FFD2C0102}"/>
          </ac:spMkLst>
        </pc:spChg>
        <pc:spChg chg="del">
          <ac:chgData name="Lancaster, Vicki Ann (val7zv)" userId="S::val7zv@virginia.edu::1848b937-7720-42a5-9891-d77f8c3cb783" providerId="AD" clId="Web-{5843EAAB-B49B-DE14-E2BC-9E738A9CB122}" dt="2019-08-19T10:56:52.536" v="42"/>
          <ac:spMkLst>
            <pc:docMk/>
            <pc:sldMk cId="1468346539" sldId="267"/>
            <ac:spMk id="4" creationId="{E51D3A4A-3625-DE45-A3B3-21A54B25519D}"/>
          </ac:spMkLst>
        </pc:spChg>
        <pc:spChg chg="del">
          <ac:chgData name="Lancaster, Vicki Ann (val7zv)" userId="S::val7zv@virginia.edu::1848b937-7720-42a5-9891-d77f8c3cb783" providerId="AD" clId="Web-{5843EAAB-B49B-DE14-E2BC-9E738A9CB122}" dt="2019-08-19T10:56:56.505" v="44"/>
          <ac:spMkLst>
            <pc:docMk/>
            <pc:sldMk cId="1468346539" sldId="267"/>
            <ac:spMk id="5" creationId="{BF49A145-9662-1C44-AA3E-DD0E902EB66E}"/>
          </ac:spMkLst>
        </pc:spChg>
        <pc:spChg chg="del">
          <ac:chgData name="Lancaster, Vicki Ann (val7zv)" userId="S::val7zv@virginia.edu::1848b937-7720-42a5-9891-d77f8c3cb783" providerId="AD" clId="Web-{5843EAAB-B49B-DE14-E2BC-9E738A9CB122}" dt="2019-08-19T10:56:54.552" v="43"/>
          <ac:spMkLst>
            <pc:docMk/>
            <pc:sldMk cId="1468346539" sldId="267"/>
            <ac:spMk id="6" creationId="{D69C7A35-A97F-804B-A1E1-5BD7A5C60312}"/>
          </ac:spMkLst>
        </pc:spChg>
      </pc:sldChg>
      <pc:sldChg chg="modSp">
        <pc:chgData name="Lancaster, Vicki Ann (val7zv)" userId="S::val7zv@virginia.edu::1848b937-7720-42a5-9891-d77f8c3cb783" providerId="AD" clId="Web-{5843EAAB-B49B-DE14-E2BC-9E738A9CB122}" dt="2019-08-19T10:57:43.771" v="58" actId="20577"/>
        <pc:sldMkLst>
          <pc:docMk/>
          <pc:sldMk cId="3968596615" sldId="268"/>
        </pc:sldMkLst>
        <pc:spChg chg="mod">
          <ac:chgData name="Lancaster, Vicki Ann (val7zv)" userId="S::val7zv@virginia.edu::1848b937-7720-42a5-9891-d77f8c3cb783" providerId="AD" clId="Web-{5843EAAB-B49B-DE14-E2BC-9E738A9CB122}" dt="2019-08-19T10:57:43.771" v="58" actId="20577"/>
          <ac:spMkLst>
            <pc:docMk/>
            <pc:sldMk cId="3968596615" sldId="268"/>
            <ac:spMk id="2" creationId="{3C98E5C0-3E28-D845-81F1-91EDE7034F02}"/>
          </ac:spMkLst>
        </pc:spChg>
      </pc:sldChg>
      <pc:sldChg chg="modSp">
        <pc:chgData name="Lancaster, Vicki Ann (val7zv)" userId="S::val7zv@virginia.edu::1848b937-7720-42a5-9891-d77f8c3cb783" providerId="AD" clId="Web-{5843EAAB-B49B-DE14-E2BC-9E738A9CB122}" dt="2019-08-19T10:57:59.927" v="64" actId="20577"/>
        <pc:sldMkLst>
          <pc:docMk/>
          <pc:sldMk cId="2369988752" sldId="269"/>
        </pc:sldMkLst>
        <pc:spChg chg="mod">
          <ac:chgData name="Lancaster, Vicki Ann (val7zv)" userId="S::val7zv@virginia.edu::1848b937-7720-42a5-9891-d77f8c3cb783" providerId="AD" clId="Web-{5843EAAB-B49B-DE14-E2BC-9E738A9CB122}" dt="2019-08-19T10:57:59.927" v="64" actId="20577"/>
          <ac:spMkLst>
            <pc:docMk/>
            <pc:sldMk cId="2369988752" sldId="269"/>
            <ac:spMk id="2" creationId="{3C98E5C0-3E28-D845-81F1-91EDE7034F02}"/>
          </ac:spMkLst>
        </pc:spChg>
      </pc:sldChg>
      <pc:sldChg chg="modSp">
        <pc:chgData name="Lancaster, Vicki Ann (val7zv)" userId="S::val7zv@virginia.edu::1848b937-7720-42a5-9891-d77f8c3cb783" providerId="AD" clId="Web-{5843EAAB-B49B-DE14-E2BC-9E738A9CB122}" dt="2019-08-19T10:57:49.927" v="61" actId="20577"/>
        <pc:sldMkLst>
          <pc:docMk/>
          <pc:sldMk cId="279499498" sldId="270"/>
        </pc:sldMkLst>
        <pc:spChg chg="mod">
          <ac:chgData name="Lancaster, Vicki Ann (val7zv)" userId="S::val7zv@virginia.edu::1848b937-7720-42a5-9891-d77f8c3cb783" providerId="AD" clId="Web-{5843EAAB-B49B-DE14-E2BC-9E738A9CB122}" dt="2019-08-19T10:57:49.927" v="61" actId="20577"/>
          <ac:spMkLst>
            <pc:docMk/>
            <pc:sldMk cId="279499498" sldId="270"/>
            <ac:spMk id="2" creationId="{3C98E5C0-3E28-D845-81F1-91EDE7034F02}"/>
          </ac:spMkLst>
        </pc:spChg>
      </pc:sldChg>
      <pc:sldChg chg="delSp modSp">
        <pc:chgData name="Lancaster, Vicki Ann (val7zv)" userId="S::val7zv@virginia.edu::1848b937-7720-42a5-9891-d77f8c3cb783" providerId="AD" clId="Web-{5843EAAB-B49B-DE14-E2BC-9E738A9CB122}" dt="2019-08-19T10:57:35.677" v="57"/>
        <pc:sldMkLst>
          <pc:docMk/>
          <pc:sldMk cId="3318314470" sldId="271"/>
        </pc:sldMkLst>
        <pc:spChg chg="mod">
          <ac:chgData name="Lancaster, Vicki Ann (val7zv)" userId="S::val7zv@virginia.edu::1848b937-7720-42a5-9891-d77f8c3cb783" providerId="AD" clId="Web-{5843EAAB-B49B-DE14-E2BC-9E738A9CB122}" dt="2019-08-19T10:57:20.786" v="52" actId="20577"/>
          <ac:spMkLst>
            <pc:docMk/>
            <pc:sldMk cId="3318314470" sldId="271"/>
            <ac:spMk id="2" creationId="{82B34E97-7AD8-D542-A5B0-E549DED9383D}"/>
          </ac:spMkLst>
        </pc:spChg>
        <pc:spChg chg="del">
          <ac:chgData name="Lancaster, Vicki Ann (val7zv)" userId="S::val7zv@virginia.edu::1848b937-7720-42a5-9891-d77f8c3cb783" providerId="AD" clId="Web-{5843EAAB-B49B-DE14-E2BC-9E738A9CB122}" dt="2019-08-19T10:57:29.208" v="55"/>
          <ac:spMkLst>
            <pc:docMk/>
            <pc:sldMk cId="3318314470" sldId="271"/>
            <ac:spMk id="4" creationId="{E51D3A4A-3625-DE45-A3B3-21A54B25519D}"/>
          </ac:spMkLst>
        </pc:spChg>
        <pc:spChg chg="del">
          <ac:chgData name="Lancaster, Vicki Ann (val7zv)" userId="S::val7zv@virginia.edu::1848b937-7720-42a5-9891-d77f8c3cb783" providerId="AD" clId="Web-{5843EAAB-B49B-DE14-E2BC-9E738A9CB122}" dt="2019-08-19T10:57:31.802" v="56"/>
          <ac:spMkLst>
            <pc:docMk/>
            <pc:sldMk cId="3318314470" sldId="271"/>
            <ac:spMk id="5" creationId="{BF49A145-9662-1C44-AA3E-DD0E902EB66E}"/>
          </ac:spMkLst>
        </pc:spChg>
        <pc:spChg chg="del">
          <ac:chgData name="Lancaster, Vicki Ann (val7zv)" userId="S::val7zv@virginia.edu::1848b937-7720-42a5-9891-d77f8c3cb783" providerId="AD" clId="Web-{5843EAAB-B49B-DE14-E2BC-9E738A9CB122}" dt="2019-08-19T10:57:35.677" v="57"/>
          <ac:spMkLst>
            <pc:docMk/>
            <pc:sldMk cId="3318314470" sldId="271"/>
            <ac:spMk id="6" creationId="{D69C7A35-A97F-804B-A1E1-5BD7A5C60312}"/>
          </ac:spMkLst>
        </pc:spChg>
      </pc:sldChg>
      <pc:sldChg chg="modSp">
        <pc:chgData name="Lancaster, Vicki Ann (val7zv)" userId="S::val7zv@virginia.edu::1848b937-7720-42a5-9891-d77f8c3cb783" providerId="AD" clId="Web-{5843EAAB-B49B-DE14-E2BC-9E738A9CB122}" dt="2019-08-19T10:57:13.365" v="50" actId="20577"/>
        <pc:sldMkLst>
          <pc:docMk/>
          <pc:sldMk cId="984554105" sldId="272"/>
        </pc:sldMkLst>
        <pc:spChg chg="mod">
          <ac:chgData name="Lancaster, Vicki Ann (val7zv)" userId="S::val7zv@virginia.edu::1848b937-7720-42a5-9891-d77f8c3cb783" providerId="AD" clId="Web-{5843EAAB-B49B-DE14-E2BC-9E738A9CB122}" dt="2019-08-19T10:57:13.365" v="50" actId="20577"/>
          <ac:spMkLst>
            <pc:docMk/>
            <pc:sldMk cId="984554105" sldId="272"/>
            <ac:spMk id="2" creationId="{3C98E5C0-3E28-D845-81F1-91EDE7034F02}"/>
          </ac:spMkLst>
        </pc:spChg>
      </pc:sldChg>
      <pc:sldChg chg="modSp">
        <pc:chgData name="Lancaster, Vicki Ann (val7zv)" userId="S::val7zv@virginia.edu::1848b937-7720-42a5-9891-d77f8c3cb783" providerId="AD" clId="Web-{5843EAAB-B49B-DE14-E2BC-9E738A9CB122}" dt="2019-08-19T10:55:10.770" v="12" actId="20577"/>
        <pc:sldMkLst>
          <pc:docMk/>
          <pc:sldMk cId="2709149248" sldId="273"/>
        </pc:sldMkLst>
        <pc:spChg chg="mod">
          <ac:chgData name="Lancaster, Vicki Ann (val7zv)" userId="S::val7zv@virginia.edu::1848b937-7720-42a5-9891-d77f8c3cb783" providerId="AD" clId="Web-{5843EAAB-B49B-DE14-E2BC-9E738A9CB122}" dt="2019-08-19T10:55:10.770" v="12" actId="20577"/>
          <ac:spMkLst>
            <pc:docMk/>
            <pc:sldMk cId="2709149248" sldId="273"/>
            <ac:spMk id="2" creationId="{3C98E5C0-3E28-D845-81F1-91EDE7034F02}"/>
          </ac:spMkLst>
        </pc:spChg>
      </pc:sldChg>
      <pc:sldChg chg="modSp">
        <pc:chgData name="Lancaster, Vicki Ann (val7zv)" userId="S::val7zv@virginia.edu::1848b937-7720-42a5-9891-d77f8c3cb783" providerId="AD" clId="Web-{5843EAAB-B49B-DE14-E2BC-9E738A9CB122}" dt="2019-08-19T10:56:41.536" v="38" actId="20577"/>
        <pc:sldMkLst>
          <pc:docMk/>
          <pc:sldMk cId="4093502343" sldId="274"/>
        </pc:sldMkLst>
        <pc:spChg chg="mod">
          <ac:chgData name="Lancaster, Vicki Ann (val7zv)" userId="S::val7zv@virginia.edu::1848b937-7720-42a5-9891-d77f8c3cb783" providerId="AD" clId="Web-{5843EAAB-B49B-DE14-E2BC-9E738A9CB122}" dt="2019-08-19T10:56:41.536" v="38" actId="20577"/>
          <ac:spMkLst>
            <pc:docMk/>
            <pc:sldMk cId="4093502343" sldId="274"/>
            <ac:spMk id="2" creationId="{3C98E5C0-3E28-D845-81F1-91EDE7034F02}"/>
          </ac:spMkLst>
        </pc:spChg>
      </pc:sldChg>
    </pc:docChg>
  </pc:docChgLst>
  <pc:docChgLst>
    <pc:chgData name="McDonald, Sarah (sm9dv)" userId="S::sm9dv@virginia.edu::9e8bfd15-d485-472e-bdd9-a28a60bbc615" providerId="AD" clId="Web-{81697ACA-E373-0582-89AF-264843963A32}"/>
    <pc:docChg chg="addSld delSld modSld">
      <pc:chgData name="McDonald, Sarah (sm9dv)" userId="S::sm9dv@virginia.edu::9e8bfd15-d485-472e-bdd9-a28a60bbc615" providerId="AD" clId="Web-{81697ACA-E373-0582-89AF-264843963A32}" dt="2019-08-07T18:29:17.341" v="751"/>
      <pc:docMkLst>
        <pc:docMk/>
      </pc:docMkLst>
      <pc:sldChg chg="modSp">
        <pc:chgData name="McDonald, Sarah (sm9dv)" userId="S::sm9dv@virginia.edu::9e8bfd15-d485-472e-bdd9-a28a60bbc615" providerId="AD" clId="Web-{81697ACA-E373-0582-89AF-264843963A32}" dt="2019-08-07T18:11:54.734" v="131"/>
        <pc:sldMkLst>
          <pc:docMk/>
          <pc:sldMk cId="3579605812" sldId="266"/>
        </pc:sldMkLst>
        <pc:graphicFrameChg chg="mod modGraphic">
          <ac:chgData name="McDonald, Sarah (sm9dv)" userId="S::sm9dv@virginia.edu::9e8bfd15-d485-472e-bdd9-a28a60bbc615" providerId="AD" clId="Web-{81697ACA-E373-0582-89AF-264843963A32}" dt="2019-08-07T18:11:54.734" v="131"/>
          <ac:graphicFrameMkLst>
            <pc:docMk/>
            <pc:sldMk cId="3579605812" sldId="266"/>
            <ac:graphicFrameMk id="9" creationId="{4DA44824-2CE5-A54D-81F3-0DFA95FADD62}"/>
          </ac:graphicFrameMkLst>
        </pc:graphicFrameChg>
      </pc:sldChg>
      <pc:sldChg chg="addSp delSp modSp">
        <pc:chgData name="McDonald, Sarah (sm9dv)" userId="S::sm9dv@virginia.edu::9e8bfd15-d485-472e-bdd9-a28a60bbc615" providerId="AD" clId="Web-{81697ACA-E373-0582-89AF-264843963A32}" dt="2019-08-07T18:15:57.135" v="365"/>
        <pc:sldMkLst>
          <pc:docMk/>
          <pc:sldMk cId="3968596615" sldId="268"/>
        </pc:sldMkLst>
        <pc:graphicFrameChg chg="add del mod">
          <ac:chgData name="McDonald, Sarah (sm9dv)" userId="S::sm9dv@virginia.edu::9e8bfd15-d485-472e-bdd9-a28a60bbc615" providerId="AD" clId="Web-{81697ACA-E373-0582-89AF-264843963A32}" dt="2019-08-07T18:14:08.146" v="133"/>
          <ac:graphicFrameMkLst>
            <pc:docMk/>
            <pc:sldMk cId="3968596615" sldId="268"/>
            <ac:graphicFrameMk id="4" creationId="{B2FAB163-BEC6-4D2D-8E98-DA682DBA4209}"/>
          </ac:graphicFrameMkLst>
        </pc:graphicFrameChg>
        <pc:graphicFrameChg chg="mod modGraphic">
          <ac:chgData name="McDonald, Sarah (sm9dv)" userId="S::sm9dv@virginia.edu::9e8bfd15-d485-472e-bdd9-a28a60bbc615" providerId="AD" clId="Web-{81697ACA-E373-0582-89AF-264843963A32}" dt="2019-08-07T18:15:57.135" v="365"/>
          <ac:graphicFrameMkLst>
            <pc:docMk/>
            <pc:sldMk cId="3968596615" sldId="268"/>
            <ac:graphicFrameMk id="9" creationId="{4DA44824-2CE5-A54D-81F3-0DFA95FADD62}"/>
          </ac:graphicFrameMkLst>
        </pc:graphicFrameChg>
      </pc:sldChg>
      <pc:sldChg chg="modSp">
        <pc:chgData name="McDonald, Sarah (sm9dv)" userId="S::sm9dv@virginia.edu::9e8bfd15-d485-472e-bdd9-a28a60bbc615" providerId="AD" clId="Web-{81697ACA-E373-0582-89AF-264843963A32}" dt="2019-08-07T18:17:00.669" v="389"/>
        <pc:sldMkLst>
          <pc:docMk/>
          <pc:sldMk cId="279499498" sldId="270"/>
        </pc:sldMkLst>
        <pc:graphicFrameChg chg="mod modGraphic">
          <ac:chgData name="McDonald, Sarah (sm9dv)" userId="S::sm9dv@virginia.edu::9e8bfd15-d485-472e-bdd9-a28a60bbc615" providerId="AD" clId="Web-{81697ACA-E373-0582-89AF-264843963A32}" dt="2019-08-07T18:17:00.669" v="389"/>
          <ac:graphicFrameMkLst>
            <pc:docMk/>
            <pc:sldMk cId="279499498" sldId="270"/>
            <ac:graphicFrameMk id="9" creationId="{4DA44824-2CE5-A54D-81F3-0DFA95FADD62}"/>
          </ac:graphicFrameMkLst>
        </pc:graphicFrameChg>
      </pc:sldChg>
      <pc:sldChg chg="modSp">
        <pc:chgData name="McDonald, Sarah (sm9dv)" userId="S::sm9dv@virginia.edu::9e8bfd15-d485-472e-bdd9-a28a60bbc615" providerId="AD" clId="Web-{81697ACA-E373-0582-89AF-264843963A32}" dt="2019-08-07T18:23:46.233" v="666"/>
        <pc:sldMkLst>
          <pc:docMk/>
          <pc:sldMk cId="984554105" sldId="272"/>
        </pc:sldMkLst>
        <pc:graphicFrameChg chg="mod modGraphic">
          <ac:chgData name="McDonald, Sarah (sm9dv)" userId="S::sm9dv@virginia.edu::9e8bfd15-d485-472e-bdd9-a28a60bbc615" providerId="AD" clId="Web-{81697ACA-E373-0582-89AF-264843963A32}" dt="2019-08-07T18:23:46.233" v="666"/>
          <ac:graphicFrameMkLst>
            <pc:docMk/>
            <pc:sldMk cId="984554105" sldId="272"/>
            <ac:graphicFrameMk id="9" creationId="{4DA44824-2CE5-A54D-81F3-0DFA95FADD62}"/>
          </ac:graphicFrameMkLst>
        </pc:graphicFrameChg>
      </pc:sldChg>
      <pc:sldChg chg="modSp add replId">
        <pc:chgData name="McDonald, Sarah (sm9dv)" userId="S::sm9dv@virginia.edu::9e8bfd15-d485-472e-bdd9-a28a60bbc615" providerId="AD" clId="Web-{81697ACA-E373-0582-89AF-264843963A32}" dt="2019-08-07T18:29:17.341" v="751"/>
        <pc:sldMkLst>
          <pc:docMk/>
          <pc:sldMk cId="2709149248" sldId="273"/>
        </pc:sldMkLst>
        <pc:spChg chg="mod">
          <ac:chgData name="McDonald, Sarah (sm9dv)" userId="S::sm9dv@virginia.edu::9e8bfd15-d485-472e-bdd9-a28a60bbc615" providerId="AD" clId="Web-{81697ACA-E373-0582-89AF-264843963A32}" dt="2019-08-07T18:27:10.914" v="682" actId="20577"/>
          <ac:spMkLst>
            <pc:docMk/>
            <pc:sldMk cId="2709149248" sldId="273"/>
            <ac:spMk id="2" creationId="{3C98E5C0-3E28-D845-81F1-91EDE7034F02}"/>
          </ac:spMkLst>
        </pc:spChg>
        <pc:graphicFrameChg chg="mod modGraphic">
          <ac:chgData name="McDonald, Sarah (sm9dv)" userId="S::sm9dv@virginia.edu::9e8bfd15-d485-472e-bdd9-a28a60bbc615" providerId="AD" clId="Web-{81697ACA-E373-0582-89AF-264843963A32}" dt="2019-08-07T18:29:17.341" v="751"/>
          <ac:graphicFrameMkLst>
            <pc:docMk/>
            <pc:sldMk cId="2709149248" sldId="273"/>
            <ac:graphicFrameMk id="9" creationId="{4DA44824-2CE5-A54D-81F3-0DFA95FADD62}"/>
          </ac:graphicFrameMkLst>
        </pc:graphicFrameChg>
      </pc:sldChg>
      <pc:sldChg chg="new del">
        <pc:chgData name="McDonald, Sarah (sm9dv)" userId="S::sm9dv@virginia.edu::9e8bfd15-d485-472e-bdd9-a28a60bbc615" providerId="AD" clId="Web-{81697ACA-E373-0582-89AF-264843963A32}" dt="2019-08-07T18:26:57.523" v="668"/>
        <pc:sldMkLst>
          <pc:docMk/>
          <pc:sldMk cId="3011128097" sldId="273"/>
        </pc:sldMkLst>
      </pc:sldChg>
    </pc:docChg>
  </pc:docChgLst>
  <pc:docChgLst>
    <pc:chgData name="Isch, Calvin (ci3uz)" userId="S::ci3uz@virginia.edu::d1b8b1a6-b223-4c78-a3de-e3d4ac8ab098" providerId="AD" clId="Web-{BE762698-DBA6-95D6-CDE6-FAF57421FCCA}"/>
    <pc:docChg chg="modSld">
      <pc:chgData name="Isch, Calvin (ci3uz)" userId="S::ci3uz@virginia.edu::d1b8b1a6-b223-4c78-a3de-e3d4ac8ab098" providerId="AD" clId="Web-{BE762698-DBA6-95D6-CDE6-FAF57421FCCA}" dt="2019-08-07T18:46:30.665" v="623"/>
      <pc:docMkLst>
        <pc:docMk/>
      </pc:docMkLst>
      <pc:sldChg chg="modSp">
        <pc:chgData name="Isch, Calvin (ci3uz)" userId="S::ci3uz@virginia.edu::d1b8b1a6-b223-4c78-a3de-e3d4ac8ab098" providerId="AD" clId="Web-{BE762698-DBA6-95D6-CDE6-FAF57421FCCA}" dt="2019-08-07T18:44:36.977" v="541"/>
        <pc:sldMkLst>
          <pc:docMk/>
          <pc:sldMk cId="1925702162" sldId="265"/>
        </pc:sldMkLst>
        <pc:graphicFrameChg chg="mod modGraphic">
          <ac:chgData name="Isch, Calvin (ci3uz)" userId="S::ci3uz@virginia.edu::d1b8b1a6-b223-4c78-a3de-e3d4ac8ab098" providerId="AD" clId="Web-{BE762698-DBA6-95D6-CDE6-FAF57421FCCA}" dt="2019-08-07T18:44:36.977" v="541"/>
          <ac:graphicFrameMkLst>
            <pc:docMk/>
            <pc:sldMk cId="1925702162" sldId="265"/>
            <ac:graphicFrameMk id="9" creationId="{4DA44824-2CE5-A54D-81F3-0DFA95FADD62}"/>
          </ac:graphicFrameMkLst>
        </pc:graphicFrameChg>
      </pc:sldChg>
      <pc:sldChg chg="modSp">
        <pc:chgData name="Isch, Calvin (ci3uz)" userId="S::ci3uz@virginia.edu::d1b8b1a6-b223-4c78-a3de-e3d4ac8ab098" providerId="AD" clId="Web-{BE762698-DBA6-95D6-CDE6-FAF57421FCCA}" dt="2019-08-07T18:46:30.665" v="623"/>
        <pc:sldMkLst>
          <pc:docMk/>
          <pc:sldMk cId="279499498" sldId="270"/>
        </pc:sldMkLst>
        <pc:graphicFrameChg chg="mod modGraphic">
          <ac:chgData name="Isch, Calvin (ci3uz)" userId="S::ci3uz@virginia.edu::d1b8b1a6-b223-4c78-a3de-e3d4ac8ab098" providerId="AD" clId="Web-{BE762698-DBA6-95D6-CDE6-FAF57421FCCA}" dt="2019-08-07T18:46:30.665" v="623"/>
          <ac:graphicFrameMkLst>
            <pc:docMk/>
            <pc:sldMk cId="279499498" sldId="270"/>
            <ac:graphicFrameMk id="9" creationId="{4DA44824-2CE5-A54D-81F3-0DFA95FADD62}"/>
          </ac:graphicFrameMkLst>
        </pc:graphicFrameChg>
      </pc:sldChg>
    </pc:docChg>
  </pc:docChgLst>
  <pc:docChgLst>
    <pc:chgData name="Fowers, Alyssa (af5ug)" userId="S::af5ug@virginia.edu::c3a37977-17ff-41a0-ad75-fd916179f175" providerId="AD" clId="Web-{DF4BB3E4-2C57-58DF-6F47-BFC5ECC13D89}"/>
    <pc:docChg chg="modSld">
      <pc:chgData name="Fowers, Alyssa (af5ug)" userId="S::af5ug@virginia.edu::c3a37977-17ff-41a0-ad75-fd916179f175" providerId="AD" clId="Web-{DF4BB3E4-2C57-58DF-6F47-BFC5ECC13D89}" dt="2019-08-08T19:05:21.285" v="1030"/>
      <pc:docMkLst>
        <pc:docMk/>
      </pc:docMkLst>
      <pc:sldChg chg="modSp">
        <pc:chgData name="Fowers, Alyssa (af5ug)" userId="S::af5ug@virginia.edu::c3a37977-17ff-41a0-ad75-fd916179f175" providerId="AD" clId="Web-{DF4BB3E4-2C57-58DF-6F47-BFC5ECC13D89}" dt="2019-08-08T19:05:21.285" v="1030"/>
        <pc:sldMkLst>
          <pc:docMk/>
          <pc:sldMk cId="2369988752" sldId="269"/>
        </pc:sldMkLst>
        <pc:graphicFrameChg chg="mod modGraphic">
          <ac:chgData name="Fowers, Alyssa (af5ug)" userId="S::af5ug@virginia.edu::c3a37977-17ff-41a0-ad75-fd916179f175" providerId="AD" clId="Web-{DF4BB3E4-2C57-58DF-6F47-BFC5ECC13D89}" dt="2019-08-08T19:05:21.285" v="1030"/>
          <ac:graphicFrameMkLst>
            <pc:docMk/>
            <pc:sldMk cId="2369988752" sldId="269"/>
            <ac:graphicFrameMk id="9" creationId="{4DA44824-2CE5-A54D-81F3-0DFA95FADD62}"/>
          </ac:graphicFrameMkLst>
        </pc:graphicFrameChg>
      </pc:sldChg>
    </pc:docChg>
  </pc:docChgLst>
  <pc:docChgLst>
    <pc:chgData name="Fowers, Alyssa (af5ug)" userId="S::af5ug@virginia.edu::c3a37977-17ff-41a0-ad75-fd916179f175" providerId="AD" clId="Web-{2106F60D-A2E3-D9EA-51D6-EB477F54C5EC}"/>
    <pc:docChg chg="addSld delSld modSld">
      <pc:chgData name="Fowers, Alyssa (af5ug)" userId="S::af5ug@virginia.edu::c3a37977-17ff-41a0-ad75-fd916179f175" providerId="AD" clId="Web-{2106F60D-A2E3-D9EA-51D6-EB477F54C5EC}" dt="2019-08-07T21:11:06.858" v="6841"/>
      <pc:docMkLst>
        <pc:docMk/>
      </pc:docMkLst>
      <pc:sldChg chg="modSp">
        <pc:chgData name="Fowers, Alyssa (af5ug)" userId="S::af5ug@virginia.edu::c3a37977-17ff-41a0-ad75-fd916179f175" providerId="AD" clId="Web-{2106F60D-A2E3-D9EA-51D6-EB477F54C5EC}" dt="2019-08-07T17:41:52.030" v="723"/>
        <pc:sldMkLst>
          <pc:docMk/>
          <pc:sldMk cId="2161644545" sldId="258"/>
        </pc:sldMkLst>
        <pc:graphicFrameChg chg="mod modGraphic">
          <ac:chgData name="Fowers, Alyssa (af5ug)" userId="S::af5ug@virginia.edu::c3a37977-17ff-41a0-ad75-fd916179f175" providerId="AD" clId="Web-{2106F60D-A2E3-D9EA-51D6-EB477F54C5EC}" dt="2019-08-07T17:41:52.030" v="723"/>
          <ac:graphicFrameMkLst>
            <pc:docMk/>
            <pc:sldMk cId="2161644545" sldId="258"/>
            <ac:graphicFrameMk id="9" creationId="{4DA44824-2CE5-A54D-81F3-0DFA95FADD62}"/>
          </ac:graphicFrameMkLst>
        </pc:graphicFrameChg>
      </pc:sldChg>
      <pc:sldChg chg="modSp">
        <pc:chgData name="Fowers, Alyssa (af5ug)" userId="S::af5ug@virginia.edu::c3a37977-17ff-41a0-ad75-fd916179f175" providerId="AD" clId="Web-{2106F60D-A2E3-D9EA-51D6-EB477F54C5EC}" dt="2019-08-07T17:51:34.471" v="1639"/>
        <pc:sldMkLst>
          <pc:docMk/>
          <pc:sldMk cId="4073411564" sldId="262"/>
        </pc:sldMkLst>
        <pc:graphicFrameChg chg="mod modGraphic">
          <ac:chgData name="Fowers, Alyssa (af5ug)" userId="S::af5ug@virginia.edu::c3a37977-17ff-41a0-ad75-fd916179f175" providerId="AD" clId="Web-{2106F60D-A2E3-D9EA-51D6-EB477F54C5EC}" dt="2019-08-07T17:51:34.471" v="1639"/>
          <ac:graphicFrameMkLst>
            <pc:docMk/>
            <pc:sldMk cId="4073411564" sldId="262"/>
            <ac:graphicFrameMk id="9" creationId="{4DA44824-2CE5-A54D-81F3-0DFA95FADD62}"/>
          </ac:graphicFrameMkLst>
        </pc:graphicFrameChg>
      </pc:sldChg>
      <pc:sldChg chg="modSp">
        <pc:chgData name="Fowers, Alyssa (af5ug)" userId="S::af5ug@virginia.edu::c3a37977-17ff-41a0-ad75-fd916179f175" providerId="AD" clId="Web-{2106F60D-A2E3-D9EA-51D6-EB477F54C5EC}" dt="2019-08-07T18:18:22.745" v="4160"/>
        <pc:sldMkLst>
          <pc:docMk/>
          <pc:sldMk cId="944861312" sldId="263"/>
        </pc:sldMkLst>
        <pc:graphicFrameChg chg="mod modGraphic">
          <ac:chgData name="Fowers, Alyssa (af5ug)" userId="S::af5ug@virginia.edu::c3a37977-17ff-41a0-ad75-fd916179f175" providerId="AD" clId="Web-{2106F60D-A2E3-D9EA-51D6-EB477F54C5EC}" dt="2019-08-07T18:18:22.745" v="4160"/>
          <ac:graphicFrameMkLst>
            <pc:docMk/>
            <pc:sldMk cId="944861312" sldId="263"/>
            <ac:graphicFrameMk id="9" creationId="{4DA44824-2CE5-A54D-81F3-0DFA95FADD62}"/>
          </ac:graphicFrameMkLst>
        </pc:graphicFrameChg>
      </pc:sldChg>
      <pc:sldChg chg="modSp">
        <pc:chgData name="Fowers, Alyssa (af5ug)" userId="S::af5ug@virginia.edu::c3a37977-17ff-41a0-ad75-fd916179f175" providerId="AD" clId="Web-{2106F60D-A2E3-D9EA-51D6-EB477F54C5EC}" dt="2019-08-07T18:57:15.805" v="6013"/>
        <pc:sldMkLst>
          <pc:docMk/>
          <pc:sldMk cId="985592411" sldId="264"/>
        </pc:sldMkLst>
        <pc:spChg chg="mod">
          <ac:chgData name="Fowers, Alyssa (af5ug)" userId="S::af5ug@virginia.edu::c3a37977-17ff-41a0-ad75-fd916179f175" providerId="AD" clId="Web-{2106F60D-A2E3-D9EA-51D6-EB477F54C5EC}" dt="2019-08-07T18:46:27.145" v="4425" actId="20577"/>
          <ac:spMkLst>
            <pc:docMk/>
            <pc:sldMk cId="985592411" sldId="264"/>
            <ac:spMk id="2" creationId="{3C98E5C0-3E28-D845-81F1-91EDE7034F02}"/>
          </ac:spMkLst>
        </pc:spChg>
        <pc:graphicFrameChg chg="mod modGraphic">
          <ac:chgData name="Fowers, Alyssa (af5ug)" userId="S::af5ug@virginia.edu::c3a37977-17ff-41a0-ad75-fd916179f175" providerId="AD" clId="Web-{2106F60D-A2E3-D9EA-51D6-EB477F54C5EC}" dt="2019-08-07T18:57:15.805" v="6013"/>
          <ac:graphicFrameMkLst>
            <pc:docMk/>
            <pc:sldMk cId="985592411" sldId="264"/>
            <ac:graphicFrameMk id="9" creationId="{4DA44824-2CE5-A54D-81F3-0DFA95FADD62}"/>
          </ac:graphicFrameMkLst>
        </pc:graphicFrameChg>
      </pc:sldChg>
      <pc:sldChg chg="modSp">
        <pc:chgData name="Fowers, Alyssa (af5ug)" userId="S::af5ug@virginia.edu::c3a37977-17ff-41a0-ad75-fd916179f175" providerId="AD" clId="Web-{2106F60D-A2E3-D9EA-51D6-EB477F54C5EC}" dt="2019-08-07T17:28:13.947" v="91" actId="20577"/>
        <pc:sldMkLst>
          <pc:docMk/>
          <pc:sldMk cId="1468346539" sldId="267"/>
        </pc:sldMkLst>
        <pc:spChg chg="mod">
          <ac:chgData name="Fowers, Alyssa (af5ug)" userId="S::af5ug@virginia.edu::c3a37977-17ff-41a0-ad75-fd916179f175" providerId="AD" clId="Web-{2106F60D-A2E3-D9EA-51D6-EB477F54C5EC}" dt="2019-08-07T17:28:11.041" v="88" actId="20577"/>
          <ac:spMkLst>
            <pc:docMk/>
            <pc:sldMk cId="1468346539" sldId="267"/>
            <ac:spMk id="2" creationId="{82B34E97-7AD8-D542-A5B0-E549DED9383D}"/>
          </ac:spMkLst>
        </pc:spChg>
        <pc:spChg chg="mod">
          <ac:chgData name="Fowers, Alyssa (af5ug)" userId="S::af5ug@virginia.edu::c3a37977-17ff-41a0-ad75-fd916179f175" providerId="AD" clId="Web-{2106F60D-A2E3-D9EA-51D6-EB477F54C5EC}" dt="2019-08-07T17:28:13.947" v="91" actId="20577"/>
          <ac:spMkLst>
            <pc:docMk/>
            <pc:sldMk cId="1468346539" sldId="267"/>
            <ac:spMk id="3" creationId="{A0A3858B-5ECF-EC44-BB9B-752FFD2C0102}"/>
          </ac:spMkLst>
        </pc:spChg>
      </pc:sldChg>
      <pc:sldChg chg="modSp">
        <pc:chgData name="Fowers, Alyssa (af5ug)" userId="S::af5ug@virginia.edu::c3a37977-17ff-41a0-ad75-fd916179f175" providerId="AD" clId="Web-{2106F60D-A2E3-D9EA-51D6-EB477F54C5EC}" dt="2019-08-07T17:27:50.057" v="51" actId="20577"/>
        <pc:sldMkLst>
          <pc:docMk/>
          <pc:sldMk cId="3968596615" sldId="268"/>
        </pc:sldMkLst>
        <pc:spChg chg="mod">
          <ac:chgData name="Fowers, Alyssa (af5ug)" userId="S::af5ug@virginia.edu::c3a37977-17ff-41a0-ad75-fd916179f175" providerId="AD" clId="Web-{2106F60D-A2E3-D9EA-51D6-EB477F54C5EC}" dt="2019-08-07T17:27:50.057" v="51" actId="20577"/>
          <ac:spMkLst>
            <pc:docMk/>
            <pc:sldMk cId="3968596615" sldId="268"/>
            <ac:spMk id="2" creationId="{3C98E5C0-3E28-D845-81F1-91EDE7034F02}"/>
          </ac:spMkLst>
        </pc:spChg>
      </pc:sldChg>
      <pc:sldChg chg="modSp">
        <pc:chgData name="Fowers, Alyssa (af5ug)" userId="S::af5ug@virginia.edu::c3a37977-17ff-41a0-ad75-fd916179f175" providerId="AD" clId="Web-{2106F60D-A2E3-D9EA-51D6-EB477F54C5EC}" dt="2019-08-07T17:27:56.994" v="80" actId="20577"/>
        <pc:sldMkLst>
          <pc:docMk/>
          <pc:sldMk cId="279499498" sldId="270"/>
        </pc:sldMkLst>
        <pc:spChg chg="mod">
          <ac:chgData name="Fowers, Alyssa (af5ug)" userId="S::af5ug@virginia.edu::c3a37977-17ff-41a0-ad75-fd916179f175" providerId="AD" clId="Web-{2106F60D-A2E3-D9EA-51D6-EB477F54C5EC}" dt="2019-08-07T17:27:56.994" v="80" actId="20577"/>
          <ac:spMkLst>
            <pc:docMk/>
            <pc:sldMk cId="279499498" sldId="270"/>
            <ac:spMk id="2" creationId="{3C98E5C0-3E28-D845-81F1-91EDE7034F02}"/>
          </ac:spMkLst>
        </pc:spChg>
      </pc:sldChg>
      <pc:sldChg chg="add del replId">
        <pc:chgData name="Fowers, Alyssa (af5ug)" userId="S::af5ug@virginia.edu::c3a37977-17ff-41a0-ad75-fd916179f175" providerId="AD" clId="Web-{2106F60D-A2E3-D9EA-51D6-EB477F54C5EC}" dt="2019-08-07T17:28:04.557" v="84"/>
        <pc:sldMkLst>
          <pc:docMk/>
          <pc:sldMk cId="699191757" sldId="271"/>
        </pc:sldMkLst>
      </pc:sldChg>
      <pc:sldChg chg="add replId">
        <pc:chgData name="Fowers, Alyssa (af5ug)" userId="S::af5ug@virginia.edu::c3a37977-17ff-41a0-ad75-fd916179f175" providerId="AD" clId="Web-{2106F60D-A2E3-D9EA-51D6-EB477F54C5EC}" dt="2019-08-07T17:28:06.744" v="85"/>
        <pc:sldMkLst>
          <pc:docMk/>
          <pc:sldMk cId="3318314470" sldId="271"/>
        </pc:sldMkLst>
      </pc:sldChg>
      <pc:sldChg chg="modSp add replId">
        <pc:chgData name="Fowers, Alyssa (af5ug)" userId="S::af5ug@virginia.edu::c3a37977-17ff-41a0-ad75-fd916179f175" providerId="AD" clId="Web-{2106F60D-A2E3-D9EA-51D6-EB477F54C5EC}" dt="2019-08-07T17:28:30.791" v="163" actId="20577"/>
        <pc:sldMkLst>
          <pc:docMk/>
          <pc:sldMk cId="984554105" sldId="272"/>
        </pc:sldMkLst>
        <pc:spChg chg="mod">
          <ac:chgData name="Fowers, Alyssa (af5ug)" userId="S::af5ug@virginia.edu::c3a37977-17ff-41a0-ad75-fd916179f175" providerId="AD" clId="Web-{2106F60D-A2E3-D9EA-51D6-EB477F54C5EC}" dt="2019-08-07T17:28:30.791" v="163" actId="20577"/>
          <ac:spMkLst>
            <pc:docMk/>
            <pc:sldMk cId="984554105" sldId="272"/>
            <ac:spMk id="2" creationId="{3C98E5C0-3E28-D845-81F1-91EDE7034F02}"/>
          </ac:spMkLst>
        </pc:spChg>
      </pc:sldChg>
      <pc:sldChg chg="modSp add replId">
        <pc:chgData name="Fowers, Alyssa (af5ug)" userId="S::af5ug@virginia.edu::c3a37977-17ff-41a0-ad75-fd916179f175" providerId="AD" clId="Web-{2106F60D-A2E3-D9EA-51D6-EB477F54C5EC}" dt="2019-08-07T21:11:06.858" v="6841"/>
        <pc:sldMkLst>
          <pc:docMk/>
          <pc:sldMk cId="4093502343" sldId="274"/>
        </pc:sldMkLst>
        <pc:spChg chg="mod">
          <ac:chgData name="Fowers, Alyssa (af5ug)" userId="S::af5ug@virginia.edu::c3a37977-17ff-41a0-ad75-fd916179f175" providerId="AD" clId="Web-{2106F60D-A2E3-D9EA-51D6-EB477F54C5EC}" dt="2019-08-07T18:54:50.054" v="5793" actId="20577"/>
          <ac:spMkLst>
            <pc:docMk/>
            <pc:sldMk cId="4093502343" sldId="274"/>
            <ac:spMk id="2" creationId="{3C98E5C0-3E28-D845-81F1-91EDE7034F02}"/>
          </ac:spMkLst>
        </pc:spChg>
        <pc:graphicFrameChg chg="mod modGraphic">
          <ac:chgData name="Fowers, Alyssa (af5ug)" userId="S::af5ug@virginia.edu::c3a37977-17ff-41a0-ad75-fd916179f175" providerId="AD" clId="Web-{2106F60D-A2E3-D9EA-51D6-EB477F54C5EC}" dt="2019-08-07T21:11:06.858" v="6841"/>
          <ac:graphicFrameMkLst>
            <pc:docMk/>
            <pc:sldMk cId="4093502343" sldId="274"/>
            <ac:graphicFrameMk id="9" creationId="{4DA44824-2CE5-A54D-81F3-0DFA95FADD62}"/>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D517DC-6F5B-CF4B-9400-F1154D57DF07}" type="datetimeFigureOut">
              <a:rPr lang="en-US" smtClean="0"/>
              <a:t>8/19/2019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ADE0CD-D74F-184D-8654-DFB4873F44D8}" type="slidenum">
              <a:rPr lang="en-US" smtClean="0"/>
              <a:t>‹#›</a:t>
            </a:fld>
            <a:endParaRPr lang="en-US"/>
          </a:p>
        </p:txBody>
      </p:sp>
    </p:spTree>
    <p:extLst>
      <p:ext uri="{BB962C8B-B14F-4D97-AF65-F5344CB8AC3E}">
        <p14:creationId xmlns:p14="http://schemas.microsoft.com/office/powerpoint/2010/main" val="4147302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0ADE0CD-D74F-184D-8654-DFB4873F44D8}" type="slidenum">
              <a:rPr lang="en-US" smtClean="0"/>
              <a:t>2</a:t>
            </a:fld>
            <a:endParaRPr lang="en-US"/>
          </a:p>
        </p:txBody>
      </p:sp>
    </p:spTree>
    <p:extLst>
      <p:ext uri="{BB962C8B-B14F-4D97-AF65-F5344CB8AC3E}">
        <p14:creationId xmlns:p14="http://schemas.microsoft.com/office/powerpoint/2010/main" val="18844276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0ADE0CD-D74F-184D-8654-DFB4873F44D8}" type="slidenum">
              <a:rPr lang="en-US" smtClean="0"/>
              <a:t>3</a:t>
            </a:fld>
            <a:endParaRPr lang="en-US"/>
          </a:p>
        </p:txBody>
      </p:sp>
    </p:spTree>
    <p:extLst>
      <p:ext uri="{BB962C8B-B14F-4D97-AF65-F5344CB8AC3E}">
        <p14:creationId xmlns:p14="http://schemas.microsoft.com/office/powerpoint/2010/main" val="2939842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0ADE0CD-D74F-184D-8654-DFB4873F44D8}" type="slidenum">
              <a:rPr lang="en-US" smtClean="0"/>
              <a:t>4</a:t>
            </a:fld>
            <a:endParaRPr lang="en-US"/>
          </a:p>
        </p:txBody>
      </p:sp>
    </p:spTree>
    <p:extLst>
      <p:ext uri="{BB962C8B-B14F-4D97-AF65-F5344CB8AC3E}">
        <p14:creationId xmlns:p14="http://schemas.microsoft.com/office/powerpoint/2010/main" val="25716062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0ADE0CD-D74F-184D-8654-DFB4873F44D8}" type="slidenum">
              <a:rPr lang="en-US" smtClean="0"/>
              <a:t>5</a:t>
            </a:fld>
            <a:endParaRPr lang="en-US"/>
          </a:p>
        </p:txBody>
      </p:sp>
    </p:spTree>
    <p:extLst>
      <p:ext uri="{BB962C8B-B14F-4D97-AF65-F5344CB8AC3E}">
        <p14:creationId xmlns:p14="http://schemas.microsoft.com/office/powerpoint/2010/main" val="27431706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0ADE0CD-D74F-184D-8654-DFB4873F44D8}" type="slidenum">
              <a:rPr lang="en-US" smtClean="0"/>
              <a:t>6</a:t>
            </a:fld>
            <a:endParaRPr lang="en-US"/>
          </a:p>
        </p:txBody>
      </p:sp>
    </p:spTree>
    <p:extLst>
      <p:ext uri="{BB962C8B-B14F-4D97-AF65-F5344CB8AC3E}">
        <p14:creationId xmlns:p14="http://schemas.microsoft.com/office/powerpoint/2010/main" val="36908116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0ADE0CD-D74F-184D-8654-DFB4873F44D8}" type="slidenum">
              <a:rPr lang="en-US" smtClean="0"/>
              <a:t>8</a:t>
            </a:fld>
            <a:endParaRPr lang="en-US"/>
          </a:p>
        </p:txBody>
      </p:sp>
    </p:spTree>
    <p:extLst>
      <p:ext uri="{BB962C8B-B14F-4D97-AF65-F5344CB8AC3E}">
        <p14:creationId xmlns:p14="http://schemas.microsoft.com/office/powerpoint/2010/main" val="4764012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0ADE0CD-D74F-184D-8654-DFB4873F44D8}" type="slidenum">
              <a:rPr lang="en-US" smtClean="0"/>
              <a:t>9</a:t>
            </a:fld>
            <a:endParaRPr lang="en-US"/>
          </a:p>
        </p:txBody>
      </p:sp>
    </p:spTree>
    <p:extLst>
      <p:ext uri="{BB962C8B-B14F-4D97-AF65-F5344CB8AC3E}">
        <p14:creationId xmlns:p14="http://schemas.microsoft.com/office/powerpoint/2010/main" val="28888398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0ADE0CD-D74F-184D-8654-DFB4873F44D8}" type="slidenum">
              <a:rPr lang="en-US" smtClean="0"/>
              <a:t>10</a:t>
            </a:fld>
            <a:endParaRPr lang="en-US"/>
          </a:p>
        </p:txBody>
      </p:sp>
    </p:spTree>
    <p:extLst>
      <p:ext uri="{BB962C8B-B14F-4D97-AF65-F5344CB8AC3E}">
        <p14:creationId xmlns:p14="http://schemas.microsoft.com/office/powerpoint/2010/main" val="26148764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0ADE0CD-D74F-184D-8654-DFB4873F44D8}" type="slidenum">
              <a:rPr lang="en-US" smtClean="0"/>
              <a:t>12</a:t>
            </a:fld>
            <a:endParaRPr lang="en-US"/>
          </a:p>
        </p:txBody>
      </p:sp>
    </p:spTree>
    <p:extLst>
      <p:ext uri="{BB962C8B-B14F-4D97-AF65-F5344CB8AC3E}">
        <p14:creationId xmlns:p14="http://schemas.microsoft.com/office/powerpoint/2010/main" val="4824480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0ADE0CD-D74F-184D-8654-DFB4873F44D8}" type="slidenum">
              <a:rPr lang="en-US" smtClean="0"/>
              <a:t>14</a:t>
            </a:fld>
            <a:endParaRPr lang="en-US"/>
          </a:p>
        </p:txBody>
      </p:sp>
    </p:spTree>
    <p:extLst>
      <p:ext uri="{BB962C8B-B14F-4D97-AF65-F5344CB8AC3E}">
        <p14:creationId xmlns:p14="http://schemas.microsoft.com/office/powerpoint/2010/main" val="5228330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0ADE0CD-D74F-184D-8654-DFB4873F44D8}" type="slidenum">
              <a:rPr lang="en-US" smtClean="0"/>
              <a:t>15</a:t>
            </a:fld>
            <a:endParaRPr lang="en-US"/>
          </a:p>
        </p:txBody>
      </p:sp>
    </p:spTree>
    <p:extLst>
      <p:ext uri="{BB962C8B-B14F-4D97-AF65-F5344CB8AC3E}">
        <p14:creationId xmlns:p14="http://schemas.microsoft.com/office/powerpoint/2010/main" val="42153956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0ADE0CD-D74F-184D-8654-DFB4873F44D8}" type="slidenum">
              <a:rPr lang="en-US" smtClean="0"/>
              <a:t>16</a:t>
            </a:fld>
            <a:endParaRPr lang="en-US"/>
          </a:p>
        </p:txBody>
      </p:sp>
    </p:spTree>
    <p:extLst>
      <p:ext uri="{BB962C8B-B14F-4D97-AF65-F5344CB8AC3E}">
        <p14:creationId xmlns:p14="http://schemas.microsoft.com/office/powerpoint/2010/main" val="39388954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C232C-4ED1-424D-9B81-97807AFD55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A062C6E-D4AC-D949-A0E6-951DD01B58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F979C50-ECDB-FD4D-9D1F-CFB3507CB025}"/>
              </a:ext>
            </a:extLst>
          </p:cNvPr>
          <p:cNvSpPr>
            <a:spLocks noGrp="1"/>
          </p:cNvSpPr>
          <p:nvPr>
            <p:ph type="dt" sz="half" idx="10"/>
          </p:nvPr>
        </p:nvSpPr>
        <p:spPr/>
        <p:txBody>
          <a:bodyPr/>
          <a:lstStyle/>
          <a:p>
            <a:fld id="{DF6463EB-95E3-B541-A5ED-FD1E3B273DE2}" type="datetimeFigureOut">
              <a:rPr lang="en-US" smtClean="0"/>
              <a:t>8/19/2019</a:t>
            </a:fld>
            <a:endParaRPr lang="en-US"/>
          </a:p>
        </p:txBody>
      </p:sp>
      <p:sp>
        <p:nvSpPr>
          <p:cNvPr id="5" name="Footer Placeholder 4">
            <a:extLst>
              <a:ext uri="{FF2B5EF4-FFF2-40B4-BE49-F238E27FC236}">
                <a16:creationId xmlns:a16="http://schemas.microsoft.com/office/drawing/2014/main" id="{1017439A-1579-0844-BF79-60EF22D23E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0905E8-F08C-0443-A1DF-4A93F96722BE}"/>
              </a:ext>
            </a:extLst>
          </p:cNvPr>
          <p:cNvSpPr>
            <a:spLocks noGrp="1"/>
          </p:cNvSpPr>
          <p:nvPr>
            <p:ph type="sldNum" sz="quarter" idx="12"/>
          </p:nvPr>
        </p:nvSpPr>
        <p:spPr/>
        <p:txBody>
          <a:bodyPr/>
          <a:lstStyle/>
          <a:p>
            <a:fld id="{5D0E8714-4C20-6941-BF6E-EEA840FA1E4D}" type="slidenum">
              <a:rPr lang="en-US" smtClean="0"/>
              <a:t>‹#›</a:t>
            </a:fld>
            <a:endParaRPr lang="en-US"/>
          </a:p>
        </p:txBody>
      </p:sp>
    </p:spTree>
    <p:extLst>
      <p:ext uri="{BB962C8B-B14F-4D97-AF65-F5344CB8AC3E}">
        <p14:creationId xmlns:p14="http://schemas.microsoft.com/office/powerpoint/2010/main" val="2785389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8E09-E15F-6D4B-9CE2-72DB1EA4D2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5B7CD8-4CC1-9E4B-B026-AA1695E9FAE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44EA2F-D3BA-9E45-9226-5A52E75093BA}"/>
              </a:ext>
            </a:extLst>
          </p:cNvPr>
          <p:cNvSpPr>
            <a:spLocks noGrp="1"/>
          </p:cNvSpPr>
          <p:nvPr>
            <p:ph type="dt" sz="half" idx="10"/>
          </p:nvPr>
        </p:nvSpPr>
        <p:spPr/>
        <p:txBody>
          <a:bodyPr/>
          <a:lstStyle/>
          <a:p>
            <a:fld id="{DF6463EB-95E3-B541-A5ED-FD1E3B273DE2}" type="datetimeFigureOut">
              <a:rPr lang="en-US" smtClean="0"/>
              <a:t>8/19/2019</a:t>
            </a:fld>
            <a:endParaRPr lang="en-US"/>
          </a:p>
        </p:txBody>
      </p:sp>
      <p:sp>
        <p:nvSpPr>
          <p:cNvPr id="5" name="Footer Placeholder 4">
            <a:extLst>
              <a:ext uri="{FF2B5EF4-FFF2-40B4-BE49-F238E27FC236}">
                <a16:creationId xmlns:a16="http://schemas.microsoft.com/office/drawing/2014/main" id="{A44282DB-8B37-FE4C-B9E3-875CF0664A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C0CB22-9ED1-E846-B560-8B1D32C65096}"/>
              </a:ext>
            </a:extLst>
          </p:cNvPr>
          <p:cNvSpPr>
            <a:spLocks noGrp="1"/>
          </p:cNvSpPr>
          <p:nvPr>
            <p:ph type="sldNum" sz="quarter" idx="12"/>
          </p:nvPr>
        </p:nvSpPr>
        <p:spPr/>
        <p:txBody>
          <a:bodyPr/>
          <a:lstStyle/>
          <a:p>
            <a:fld id="{5D0E8714-4C20-6941-BF6E-EEA840FA1E4D}" type="slidenum">
              <a:rPr lang="en-US" smtClean="0"/>
              <a:t>‹#›</a:t>
            </a:fld>
            <a:endParaRPr lang="en-US"/>
          </a:p>
        </p:txBody>
      </p:sp>
    </p:spTree>
    <p:extLst>
      <p:ext uri="{BB962C8B-B14F-4D97-AF65-F5344CB8AC3E}">
        <p14:creationId xmlns:p14="http://schemas.microsoft.com/office/powerpoint/2010/main" val="920071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6E1D2-7AA4-264D-A2A5-20C2A17D05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BB7C3FC-DED6-4D48-8AEF-135F4E5217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64B90C0-92F4-114E-A6EB-86E8D19E8B7D}"/>
              </a:ext>
            </a:extLst>
          </p:cNvPr>
          <p:cNvSpPr>
            <a:spLocks noGrp="1"/>
          </p:cNvSpPr>
          <p:nvPr>
            <p:ph type="dt" sz="half" idx="10"/>
          </p:nvPr>
        </p:nvSpPr>
        <p:spPr/>
        <p:txBody>
          <a:bodyPr/>
          <a:lstStyle/>
          <a:p>
            <a:fld id="{DF6463EB-95E3-B541-A5ED-FD1E3B273DE2}" type="datetimeFigureOut">
              <a:rPr lang="en-US" smtClean="0"/>
              <a:t>8/19/2019</a:t>
            </a:fld>
            <a:endParaRPr lang="en-US"/>
          </a:p>
        </p:txBody>
      </p:sp>
      <p:sp>
        <p:nvSpPr>
          <p:cNvPr id="5" name="Footer Placeholder 4">
            <a:extLst>
              <a:ext uri="{FF2B5EF4-FFF2-40B4-BE49-F238E27FC236}">
                <a16:creationId xmlns:a16="http://schemas.microsoft.com/office/drawing/2014/main" id="{F879D755-6D9F-F342-89CC-DBF811C618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AB3475-78F6-7546-8D1B-6239ACCFBABB}"/>
              </a:ext>
            </a:extLst>
          </p:cNvPr>
          <p:cNvSpPr>
            <a:spLocks noGrp="1"/>
          </p:cNvSpPr>
          <p:nvPr>
            <p:ph type="sldNum" sz="quarter" idx="12"/>
          </p:nvPr>
        </p:nvSpPr>
        <p:spPr/>
        <p:txBody>
          <a:bodyPr/>
          <a:lstStyle/>
          <a:p>
            <a:fld id="{5D0E8714-4C20-6941-BF6E-EEA840FA1E4D}" type="slidenum">
              <a:rPr lang="en-US" smtClean="0"/>
              <a:t>‹#›</a:t>
            </a:fld>
            <a:endParaRPr lang="en-US"/>
          </a:p>
        </p:txBody>
      </p:sp>
    </p:spTree>
    <p:extLst>
      <p:ext uri="{BB962C8B-B14F-4D97-AF65-F5344CB8AC3E}">
        <p14:creationId xmlns:p14="http://schemas.microsoft.com/office/powerpoint/2010/main" val="4230155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B1F8D-DC66-F84F-8EF4-0DD0115FA1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5B4066-8A13-554D-920E-0302F4DE6B4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509F433-DCBC-B748-AD70-69828038AA4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1C6614-C8EF-6944-B1BE-E454DFF8D701}"/>
              </a:ext>
            </a:extLst>
          </p:cNvPr>
          <p:cNvSpPr>
            <a:spLocks noGrp="1"/>
          </p:cNvSpPr>
          <p:nvPr>
            <p:ph type="dt" sz="half" idx="10"/>
          </p:nvPr>
        </p:nvSpPr>
        <p:spPr/>
        <p:txBody>
          <a:bodyPr/>
          <a:lstStyle/>
          <a:p>
            <a:fld id="{DF6463EB-95E3-B541-A5ED-FD1E3B273DE2}" type="datetimeFigureOut">
              <a:rPr lang="en-US" smtClean="0"/>
              <a:t>8/19/2019</a:t>
            </a:fld>
            <a:endParaRPr lang="en-US"/>
          </a:p>
        </p:txBody>
      </p:sp>
      <p:sp>
        <p:nvSpPr>
          <p:cNvPr id="6" name="Footer Placeholder 5">
            <a:extLst>
              <a:ext uri="{FF2B5EF4-FFF2-40B4-BE49-F238E27FC236}">
                <a16:creationId xmlns:a16="http://schemas.microsoft.com/office/drawing/2014/main" id="{8099C6CE-67E3-DE4F-9847-4E666E0145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D6F4E3-D6A8-8F4D-9A4D-94425D45FBCB}"/>
              </a:ext>
            </a:extLst>
          </p:cNvPr>
          <p:cNvSpPr>
            <a:spLocks noGrp="1"/>
          </p:cNvSpPr>
          <p:nvPr>
            <p:ph type="sldNum" sz="quarter" idx="12"/>
          </p:nvPr>
        </p:nvSpPr>
        <p:spPr/>
        <p:txBody>
          <a:bodyPr/>
          <a:lstStyle/>
          <a:p>
            <a:fld id="{5D0E8714-4C20-6941-BF6E-EEA840FA1E4D}" type="slidenum">
              <a:rPr lang="en-US" smtClean="0"/>
              <a:t>‹#›</a:t>
            </a:fld>
            <a:endParaRPr lang="en-US"/>
          </a:p>
        </p:txBody>
      </p:sp>
    </p:spTree>
    <p:extLst>
      <p:ext uri="{BB962C8B-B14F-4D97-AF65-F5344CB8AC3E}">
        <p14:creationId xmlns:p14="http://schemas.microsoft.com/office/powerpoint/2010/main" val="1877849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6659E-6C0A-CD41-B616-518D7FD133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D535650-869E-7545-B509-1D99A8BEEA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9DE1B34-E638-8D4A-B407-99F1E91E752C}"/>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E61730-6EA3-D24E-8A2B-80358C6F8A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DA63162-5BFA-7847-A366-22FE35961FE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7B3E40-C804-7548-964D-1953890D63B7}"/>
              </a:ext>
            </a:extLst>
          </p:cNvPr>
          <p:cNvSpPr>
            <a:spLocks noGrp="1"/>
          </p:cNvSpPr>
          <p:nvPr>
            <p:ph type="dt" sz="half" idx="10"/>
          </p:nvPr>
        </p:nvSpPr>
        <p:spPr/>
        <p:txBody>
          <a:bodyPr/>
          <a:lstStyle/>
          <a:p>
            <a:fld id="{DF6463EB-95E3-B541-A5ED-FD1E3B273DE2}" type="datetimeFigureOut">
              <a:rPr lang="en-US" smtClean="0"/>
              <a:t>8/19/2019</a:t>
            </a:fld>
            <a:endParaRPr lang="en-US"/>
          </a:p>
        </p:txBody>
      </p:sp>
      <p:sp>
        <p:nvSpPr>
          <p:cNvPr id="8" name="Footer Placeholder 7">
            <a:extLst>
              <a:ext uri="{FF2B5EF4-FFF2-40B4-BE49-F238E27FC236}">
                <a16:creationId xmlns:a16="http://schemas.microsoft.com/office/drawing/2014/main" id="{842BC38D-67BA-4745-9B78-1C85DBB2C8E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6506E2A-E11B-684D-9AFB-D3E1C2728546}"/>
              </a:ext>
            </a:extLst>
          </p:cNvPr>
          <p:cNvSpPr>
            <a:spLocks noGrp="1"/>
          </p:cNvSpPr>
          <p:nvPr>
            <p:ph type="sldNum" sz="quarter" idx="12"/>
          </p:nvPr>
        </p:nvSpPr>
        <p:spPr/>
        <p:txBody>
          <a:bodyPr/>
          <a:lstStyle/>
          <a:p>
            <a:fld id="{5D0E8714-4C20-6941-BF6E-EEA840FA1E4D}" type="slidenum">
              <a:rPr lang="en-US" smtClean="0"/>
              <a:t>‹#›</a:t>
            </a:fld>
            <a:endParaRPr lang="en-US"/>
          </a:p>
        </p:txBody>
      </p:sp>
    </p:spTree>
    <p:extLst>
      <p:ext uri="{BB962C8B-B14F-4D97-AF65-F5344CB8AC3E}">
        <p14:creationId xmlns:p14="http://schemas.microsoft.com/office/powerpoint/2010/main" val="1292909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188FE-E5AB-D446-8865-3A65EFD3A24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97444F0-840E-A341-97DA-7DDAD5C9DB88}"/>
              </a:ext>
            </a:extLst>
          </p:cNvPr>
          <p:cNvSpPr>
            <a:spLocks noGrp="1"/>
          </p:cNvSpPr>
          <p:nvPr>
            <p:ph type="dt" sz="half" idx="10"/>
          </p:nvPr>
        </p:nvSpPr>
        <p:spPr/>
        <p:txBody>
          <a:bodyPr/>
          <a:lstStyle/>
          <a:p>
            <a:fld id="{DF6463EB-95E3-B541-A5ED-FD1E3B273DE2}" type="datetimeFigureOut">
              <a:rPr lang="en-US" smtClean="0"/>
              <a:t>8/19/2019</a:t>
            </a:fld>
            <a:endParaRPr lang="en-US"/>
          </a:p>
        </p:txBody>
      </p:sp>
      <p:sp>
        <p:nvSpPr>
          <p:cNvPr id="4" name="Footer Placeholder 3">
            <a:extLst>
              <a:ext uri="{FF2B5EF4-FFF2-40B4-BE49-F238E27FC236}">
                <a16:creationId xmlns:a16="http://schemas.microsoft.com/office/drawing/2014/main" id="{AF608B54-12E0-F140-BB46-BBD058C42FE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F3282D1-73F7-0846-931D-21ABAD51DDA7}"/>
              </a:ext>
            </a:extLst>
          </p:cNvPr>
          <p:cNvSpPr>
            <a:spLocks noGrp="1"/>
          </p:cNvSpPr>
          <p:nvPr>
            <p:ph type="sldNum" sz="quarter" idx="12"/>
          </p:nvPr>
        </p:nvSpPr>
        <p:spPr/>
        <p:txBody>
          <a:bodyPr/>
          <a:lstStyle/>
          <a:p>
            <a:fld id="{5D0E8714-4C20-6941-BF6E-EEA840FA1E4D}" type="slidenum">
              <a:rPr lang="en-US" smtClean="0"/>
              <a:t>‹#›</a:t>
            </a:fld>
            <a:endParaRPr lang="en-US"/>
          </a:p>
        </p:txBody>
      </p:sp>
    </p:spTree>
    <p:extLst>
      <p:ext uri="{BB962C8B-B14F-4D97-AF65-F5344CB8AC3E}">
        <p14:creationId xmlns:p14="http://schemas.microsoft.com/office/powerpoint/2010/main" val="40676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C08918-C488-304D-B32C-B8FCD54D115D}"/>
              </a:ext>
            </a:extLst>
          </p:cNvPr>
          <p:cNvSpPr>
            <a:spLocks noGrp="1"/>
          </p:cNvSpPr>
          <p:nvPr>
            <p:ph type="dt" sz="half" idx="10"/>
          </p:nvPr>
        </p:nvSpPr>
        <p:spPr/>
        <p:txBody>
          <a:bodyPr/>
          <a:lstStyle/>
          <a:p>
            <a:fld id="{DF6463EB-95E3-B541-A5ED-FD1E3B273DE2}" type="datetimeFigureOut">
              <a:rPr lang="en-US" smtClean="0"/>
              <a:t>8/19/2019</a:t>
            </a:fld>
            <a:endParaRPr lang="en-US"/>
          </a:p>
        </p:txBody>
      </p:sp>
      <p:sp>
        <p:nvSpPr>
          <p:cNvPr id="3" name="Footer Placeholder 2">
            <a:extLst>
              <a:ext uri="{FF2B5EF4-FFF2-40B4-BE49-F238E27FC236}">
                <a16:creationId xmlns:a16="http://schemas.microsoft.com/office/drawing/2014/main" id="{F5553BAD-9B1B-2E43-BDB9-8E3AAD6954D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355FF8-020C-8042-942A-53057BCED3E3}"/>
              </a:ext>
            </a:extLst>
          </p:cNvPr>
          <p:cNvSpPr>
            <a:spLocks noGrp="1"/>
          </p:cNvSpPr>
          <p:nvPr>
            <p:ph type="sldNum" sz="quarter" idx="12"/>
          </p:nvPr>
        </p:nvSpPr>
        <p:spPr/>
        <p:txBody>
          <a:bodyPr/>
          <a:lstStyle/>
          <a:p>
            <a:fld id="{5D0E8714-4C20-6941-BF6E-EEA840FA1E4D}" type="slidenum">
              <a:rPr lang="en-US" smtClean="0"/>
              <a:t>‹#›</a:t>
            </a:fld>
            <a:endParaRPr lang="en-US"/>
          </a:p>
        </p:txBody>
      </p:sp>
    </p:spTree>
    <p:extLst>
      <p:ext uri="{BB962C8B-B14F-4D97-AF65-F5344CB8AC3E}">
        <p14:creationId xmlns:p14="http://schemas.microsoft.com/office/powerpoint/2010/main" val="343665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C99C1-D94F-E840-81A8-83299809E5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F593F4C-2628-6F41-A045-3BAB2A33DE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18FA71-90D4-4C47-8F50-5395B534D8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9C55E9D-1D33-9947-B279-C13613793F66}"/>
              </a:ext>
            </a:extLst>
          </p:cNvPr>
          <p:cNvSpPr>
            <a:spLocks noGrp="1"/>
          </p:cNvSpPr>
          <p:nvPr>
            <p:ph type="dt" sz="half" idx="10"/>
          </p:nvPr>
        </p:nvSpPr>
        <p:spPr/>
        <p:txBody>
          <a:bodyPr/>
          <a:lstStyle/>
          <a:p>
            <a:fld id="{DF6463EB-95E3-B541-A5ED-FD1E3B273DE2}" type="datetimeFigureOut">
              <a:rPr lang="en-US" smtClean="0"/>
              <a:t>8/19/2019</a:t>
            </a:fld>
            <a:endParaRPr lang="en-US"/>
          </a:p>
        </p:txBody>
      </p:sp>
      <p:sp>
        <p:nvSpPr>
          <p:cNvPr id="6" name="Footer Placeholder 5">
            <a:extLst>
              <a:ext uri="{FF2B5EF4-FFF2-40B4-BE49-F238E27FC236}">
                <a16:creationId xmlns:a16="http://schemas.microsoft.com/office/drawing/2014/main" id="{311C6272-19BD-694B-A1E3-F22166CD9B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B676B4-FE6D-804B-90B7-57C891601BA5}"/>
              </a:ext>
            </a:extLst>
          </p:cNvPr>
          <p:cNvSpPr>
            <a:spLocks noGrp="1"/>
          </p:cNvSpPr>
          <p:nvPr>
            <p:ph type="sldNum" sz="quarter" idx="12"/>
          </p:nvPr>
        </p:nvSpPr>
        <p:spPr/>
        <p:txBody>
          <a:bodyPr/>
          <a:lstStyle/>
          <a:p>
            <a:fld id="{5D0E8714-4C20-6941-BF6E-EEA840FA1E4D}" type="slidenum">
              <a:rPr lang="en-US" smtClean="0"/>
              <a:t>‹#›</a:t>
            </a:fld>
            <a:endParaRPr lang="en-US"/>
          </a:p>
        </p:txBody>
      </p:sp>
    </p:spTree>
    <p:extLst>
      <p:ext uri="{BB962C8B-B14F-4D97-AF65-F5344CB8AC3E}">
        <p14:creationId xmlns:p14="http://schemas.microsoft.com/office/powerpoint/2010/main" val="589969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AECD4-41A5-6049-A4C7-B8B6916D54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8E0B035-FE5C-B84A-8BD3-4E603B7278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46FFC7C-7164-2544-8C26-31B08128A2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54A14C8-6026-2E42-9DB1-F5840C1D5EE5}"/>
              </a:ext>
            </a:extLst>
          </p:cNvPr>
          <p:cNvSpPr>
            <a:spLocks noGrp="1"/>
          </p:cNvSpPr>
          <p:nvPr>
            <p:ph type="dt" sz="half" idx="10"/>
          </p:nvPr>
        </p:nvSpPr>
        <p:spPr/>
        <p:txBody>
          <a:bodyPr/>
          <a:lstStyle/>
          <a:p>
            <a:fld id="{DF6463EB-95E3-B541-A5ED-FD1E3B273DE2}" type="datetimeFigureOut">
              <a:rPr lang="en-US" smtClean="0"/>
              <a:t>8/19/2019</a:t>
            </a:fld>
            <a:endParaRPr lang="en-US"/>
          </a:p>
        </p:txBody>
      </p:sp>
      <p:sp>
        <p:nvSpPr>
          <p:cNvPr id="6" name="Footer Placeholder 5">
            <a:extLst>
              <a:ext uri="{FF2B5EF4-FFF2-40B4-BE49-F238E27FC236}">
                <a16:creationId xmlns:a16="http://schemas.microsoft.com/office/drawing/2014/main" id="{9A1A59A8-BCD6-A340-B718-F363F13D06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3509F3-4BED-964A-B2DF-2921A66F3FDB}"/>
              </a:ext>
            </a:extLst>
          </p:cNvPr>
          <p:cNvSpPr>
            <a:spLocks noGrp="1"/>
          </p:cNvSpPr>
          <p:nvPr>
            <p:ph type="sldNum" sz="quarter" idx="12"/>
          </p:nvPr>
        </p:nvSpPr>
        <p:spPr/>
        <p:txBody>
          <a:bodyPr/>
          <a:lstStyle/>
          <a:p>
            <a:fld id="{5D0E8714-4C20-6941-BF6E-EEA840FA1E4D}" type="slidenum">
              <a:rPr lang="en-US" smtClean="0"/>
              <a:t>‹#›</a:t>
            </a:fld>
            <a:endParaRPr lang="en-US"/>
          </a:p>
        </p:txBody>
      </p:sp>
    </p:spTree>
    <p:extLst>
      <p:ext uri="{BB962C8B-B14F-4D97-AF65-F5344CB8AC3E}">
        <p14:creationId xmlns:p14="http://schemas.microsoft.com/office/powerpoint/2010/main" val="3797443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B178D-3948-A546-9E37-9CFF764D39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6329F9-CFFC-FA4A-862A-FAA0E288A6C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32C02C-EC7B-F748-B87B-065E9B645D05}"/>
              </a:ext>
            </a:extLst>
          </p:cNvPr>
          <p:cNvSpPr>
            <a:spLocks noGrp="1"/>
          </p:cNvSpPr>
          <p:nvPr>
            <p:ph type="dt" sz="half" idx="10"/>
          </p:nvPr>
        </p:nvSpPr>
        <p:spPr/>
        <p:txBody>
          <a:bodyPr/>
          <a:lstStyle/>
          <a:p>
            <a:fld id="{DF6463EB-95E3-B541-A5ED-FD1E3B273DE2}" type="datetimeFigureOut">
              <a:rPr lang="en-US" smtClean="0"/>
              <a:t>8/19/2019</a:t>
            </a:fld>
            <a:endParaRPr lang="en-US"/>
          </a:p>
        </p:txBody>
      </p:sp>
      <p:sp>
        <p:nvSpPr>
          <p:cNvPr id="5" name="Footer Placeholder 4">
            <a:extLst>
              <a:ext uri="{FF2B5EF4-FFF2-40B4-BE49-F238E27FC236}">
                <a16:creationId xmlns:a16="http://schemas.microsoft.com/office/drawing/2014/main" id="{F8AAE2A8-55D4-644C-93E5-21BC8DBC6F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7A6436-ACE8-1B4D-9523-62E856198BDB}"/>
              </a:ext>
            </a:extLst>
          </p:cNvPr>
          <p:cNvSpPr>
            <a:spLocks noGrp="1"/>
          </p:cNvSpPr>
          <p:nvPr>
            <p:ph type="sldNum" sz="quarter" idx="12"/>
          </p:nvPr>
        </p:nvSpPr>
        <p:spPr/>
        <p:txBody>
          <a:bodyPr/>
          <a:lstStyle/>
          <a:p>
            <a:fld id="{5D0E8714-4C20-6941-BF6E-EEA840FA1E4D}" type="slidenum">
              <a:rPr lang="en-US" smtClean="0"/>
              <a:t>‹#›</a:t>
            </a:fld>
            <a:endParaRPr lang="en-US"/>
          </a:p>
        </p:txBody>
      </p:sp>
    </p:spTree>
    <p:extLst>
      <p:ext uri="{BB962C8B-B14F-4D97-AF65-F5344CB8AC3E}">
        <p14:creationId xmlns:p14="http://schemas.microsoft.com/office/powerpoint/2010/main" val="1644367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1015FB-975B-4E4A-9E87-DBB1EE35775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9930E0F-ED86-4242-BE24-4A50FE90D2A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9C6007-A539-3D40-A09D-A2FDF67364BA}"/>
              </a:ext>
            </a:extLst>
          </p:cNvPr>
          <p:cNvSpPr>
            <a:spLocks noGrp="1"/>
          </p:cNvSpPr>
          <p:nvPr>
            <p:ph type="dt" sz="half" idx="10"/>
          </p:nvPr>
        </p:nvSpPr>
        <p:spPr/>
        <p:txBody>
          <a:bodyPr/>
          <a:lstStyle/>
          <a:p>
            <a:fld id="{DF6463EB-95E3-B541-A5ED-FD1E3B273DE2}" type="datetimeFigureOut">
              <a:rPr lang="en-US" smtClean="0"/>
              <a:t>8/19/2019</a:t>
            </a:fld>
            <a:endParaRPr lang="en-US"/>
          </a:p>
        </p:txBody>
      </p:sp>
      <p:sp>
        <p:nvSpPr>
          <p:cNvPr id="5" name="Footer Placeholder 4">
            <a:extLst>
              <a:ext uri="{FF2B5EF4-FFF2-40B4-BE49-F238E27FC236}">
                <a16:creationId xmlns:a16="http://schemas.microsoft.com/office/drawing/2014/main" id="{38AE1972-3FE3-8D40-9ABE-AC51965933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864C7F-1A1B-3E40-ADC7-8FDF454E8F16}"/>
              </a:ext>
            </a:extLst>
          </p:cNvPr>
          <p:cNvSpPr>
            <a:spLocks noGrp="1"/>
          </p:cNvSpPr>
          <p:nvPr>
            <p:ph type="sldNum" sz="quarter" idx="12"/>
          </p:nvPr>
        </p:nvSpPr>
        <p:spPr/>
        <p:txBody>
          <a:bodyPr/>
          <a:lstStyle/>
          <a:p>
            <a:fld id="{5D0E8714-4C20-6941-BF6E-EEA840FA1E4D}" type="slidenum">
              <a:rPr lang="en-US" smtClean="0"/>
              <a:t>‹#›</a:t>
            </a:fld>
            <a:endParaRPr lang="en-US"/>
          </a:p>
        </p:txBody>
      </p:sp>
    </p:spTree>
    <p:extLst>
      <p:ext uri="{BB962C8B-B14F-4D97-AF65-F5344CB8AC3E}">
        <p14:creationId xmlns:p14="http://schemas.microsoft.com/office/powerpoint/2010/main" val="3149981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428F1A-ED55-4842-9EF9-785ED97665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D059255-0203-B24C-AB1B-C8F1145B12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234326-FBDD-8C49-8CAC-52A933570C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6463EB-95E3-B541-A5ED-FD1E3B273DE2}" type="datetimeFigureOut">
              <a:rPr lang="en-US" smtClean="0"/>
              <a:t>8/19/2019</a:t>
            </a:fld>
            <a:endParaRPr lang="en-US"/>
          </a:p>
        </p:txBody>
      </p:sp>
      <p:sp>
        <p:nvSpPr>
          <p:cNvPr id="5" name="Footer Placeholder 4">
            <a:extLst>
              <a:ext uri="{FF2B5EF4-FFF2-40B4-BE49-F238E27FC236}">
                <a16:creationId xmlns:a16="http://schemas.microsoft.com/office/drawing/2014/main" id="{2F9C6512-B1CB-6149-9D28-F0199DA14F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B0AC19B-88F3-4B4C-917A-0BEF7D70CC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0E8714-4C20-6941-BF6E-EEA840FA1E4D}" type="slidenum">
              <a:rPr lang="en-US" smtClean="0"/>
              <a:t>‹#›</a:t>
            </a:fld>
            <a:endParaRPr lang="en-US"/>
          </a:p>
        </p:txBody>
      </p:sp>
    </p:spTree>
    <p:extLst>
      <p:ext uri="{BB962C8B-B14F-4D97-AF65-F5344CB8AC3E}">
        <p14:creationId xmlns:p14="http://schemas.microsoft.com/office/powerpoint/2010/main" val="7735477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DB0E6-CCB8-FB4A-AA89-96201F071363}"/>
              </a:ext>
            </a:extLst>
          </p:cNvPr>
          <p:cNvSpPr>
            <a:spLocks noGrp="1"/>
          </p:cNvSpPr>
          <p:nvPr>
            <p:ph type="title"/>
          </p:nvPr>
        </p:nvSpPr>
        <p:spPr/>
        <p:txBody>
          <a:bodyPr/>
          <a:lstStyle/>
          <a:p>
            <a:r>
              <a:rPr lang="en-US" b="1" dirty="0"/>
              <a:t>Job ads</a:t>
            </a:r>
          </a:p>
        </p:txBody>
      </p:sp>
    </p:spTree>
    <p:extLst>
      <p:ext uri="{BB962C8B-B14F-4D97-AF65-F5344CB8AC3E}">
        <p14:creationId xmlns:p14="http://schemas.microsoft.com/office/powerpoint/2010/main" val="18741227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4DA44824-2CE5-A54D-81F3-0DFA95FADD62}"/>
              </a:ext>
            </a:extLst>
          </p:cNvPr>
          <p:cNvGraphicFramePr>
            <a:graphicFrameLocks noGrp="1"/>
          </p:cNvGraphicFramePr>
          <p:nvPr>
            <p:ph sz="half" idx="2"/>
            <p:extLst>
              <p:ext uri="{D42A27DB-BD31-4B8C-83A1-F6EECF244321}">
                <p14:modId xmlns:p14="http://schemas.microsoft.com/office/powerpoint/2010/main" val="2192662744"/>
              </p:ext>
            </p:extLst>
          </p:nvPr>
        </p:nvGraphicFramePr>
        <p:xfrm>
          <a:off x="0" y="914400"/>
          <a:ext cx="12192000" cy="6831051"/>
        </p:xfrm>
        <a:graphic>
          <a:graphicData uri="http://schemas.openxmlformats.org/drawingml/2006/table">
            <a:tbl>
              <a:tblPr firstRow="1" bandRow="1">
                <a:tableStyleId>{21E4AEA4-8DFA-4A89-87EB-49C32662AFE0}</a:tableStyleId>
              </a:tblPr>
              <a:tblGrid>
                <a:gridCol w="1743843">
                  <a:extLst>
                    <a:ext uri="{9D8B030D-6E8A-4147-A177-3AD203B41FA5}">
                      <a16:colId xmlns:a16="http://schemas.microsoft.com/office/drawing/2014/main" val="1352491661"/>
                    </a:ext>
                  </a:extLst>
                </a:gridCol>
                <a:gridCol w="3076635">
                  <a:extLst>
                    <a:ext uri="{9D8B030D-6E8A-4147-A177-3AD203B41FA5}">
                      <a16:colId xmlns:a16="http://schemas.microsoft.com/office/drawing/2014/main" val="3130510922"/>
                    </a:ext>
                  </a:extLst>
                </a:gridCol>
                <a:gridCol w="834357">
                  <a:extLst>
                    <a:ext uri="{9D8B030D-6E8A-4147-A177-3AD203B41FA5}">
                      <a16:colId xmlns:a16="http://schemas.microsoft.com/office/drawing/2014/main" val="1636284579"/>
                    </a:ext>
                  </a:extLst>
                </a:gridCol>
                <a:gridCol w="2145611">
                  <a:extLst>
                    <a:ext uri="{9D8B030D-6E8A-4147-A177-3AD203B41FA5}">
                      <a16:colId xmlns:a16="http://schemas.microsoft.com/office/drawing/2014/main" val="2195260392"/>
                    </a:ext>
                  </a:extLst>
                </a:gridCol>
                <a:gridCol w="2195777">
                  <a:extLst>
                    <a:ext uri="{9D8B030D-6E8A-4147-A177-3AD203B41FA5}">
                      <a16:colId xmlns:a16="http://schemas.microsoft.com/office/drawing/2014/main" val="3536091448"/>
                    </a:ext>
                  </a:extLst>
                </a:gridCol>
                <a:gridCol w="2195777">
                  <a:extLst>
                    <a:ext uri="{9D8B030D-6E8A-4147-A177-3AD203B41FA5}">
                      <a16:colId xmlns:a16="http://schemas.microsoft.com/office/drawing/2014/main" val="4195063144"/>
                    </a:ext>
                  </a:extLst>
                </a:gridCol>
              </a:tblGrid>
              <a:tr h="278430">
                <a:tc>
                  <a:txBody>
                    <a:bodyPr/>
                    <a:lstStyle/>
                    <a:p>
                      <a:r>
                        <a:rPr lang="en-US" sz="1400"/>
                        <a:t>Goal</a:t>
                      </a:r>
                    </a:p>
                  </a:txBody>
                  <a:tcPr/>
                </a:tc>
                <a:tc>
                  <a:txBody>
                    <a:bodyPr/>
                    <a:lstStyle/>
                    <a:p>
                      <a:r>
                        <a:rPr lang="en-US" sz="1400"/>
                        <a:t>Input</a:t>
                      </a:r>
                    </a:p>
                  </a:txBody>
                  <a:tcPr/>
                </a:tc>
                <a:tc>
                  <a:txBody>
                    <a:bodyPr/>
                    <a:lstStyle/>
                    <a:p>
                      <a:r>
                        <a:rPr lang="en-US" sz="1400"/>
                        <a:t>Run Order</a:t>
                      </a:r>
                    </a:p>
                  </a:txBody>
                  <a:tcPr/>
                </a:tc>
                <a:tc>
                  <a:txBody>
                    <a:bodyPr/>
                    <a:lstStyle/>
                    <a:p>
                      <a:r>
                        <a:rPr lang="en-US" sz="1400"/>
                        <a:t>Script</a:t>
                      </a:r>
                    </a:p>
                  </a:txBody>
                  <a:tcPr/>
                </a:tc>
                <a:tc>
                  <a:txBody>
                    <a:bodyPr/>
                    <a:lstStyle/>
                    <a:p>
                      <a:r>
                        <a:rPr lang="en-US" sz="1400"/>
                        <a:t>Output</a:t>
                      </a:r>
                    </a:p>
                  </a:txBody>
                  <a:tcPr/>
                </a:tc>
                <a:tc>
                  <a:txBody>
                    <a:bodyPr/>
                    <a:lstStyle/>
                    <a:p>
                      <a:r>
                        <a:rPr lang="en-US" sz="1400"/>
                        <a:t>Notes</a:t>
                      </a:r>
                    </a:p>
                  </a:txBody>
                  <a:tcPr/>
                </a:tc>
                <a:extLst>
                  <a:ext uri="{0D108BD9-81ED-4DB2-BD59-A6C34878D82A}">
                    <a16:rowId xmlns:a16="http://schemas.microsoft.com/office/drawing/2014/main" val="744206176"/>
                  </a:ext>
                </a:extLst>
              </a:tr>
              <a:tr h="1230439">
                <a:tc>
                  <a:txBody>
                    <a:bodyPr/>
                    <a:lstStyle/>
                    <a:p>
                      <a:r>
                        <a:rPr lang="en-US" sz="1200"/>
                        <a:t>Read 2017 job ads into R server</a:t>
                      </a:r>
                    </a:p>
                  </a:txBody>
                  <a:tcPr/>
                </a:tc>
                <a:tc>
                  <a:txBody>
                    <a:bodyPr/>
                    <a:lstStyle/>
                    <a:p>
                      <a:r>
                        <a:rPr lang="en-US" sz="1200"/>
                        <a:t>Aaron did this—need to check with him about script.</a:t>
                      </a:r>
                    </a:p>
                  </a:txBody>
                  <a:tcPr/>
                </a:tc>
                <a:tc>
                  <a:txBody>
                    <a:bodyPr/>
                    <a:lstStyle/>
                    <a:p>
                      <a:r>
                        <a:rPr lang="en-US" sz="1200"/>
                        <a:t>1</a:t>
                      </a:r>
                    </a:p>
                  </a:txBody>
                  <a:tcPr/>
                </a:tc>
                <a:tc>
                  <a:txBody>
                    <a:bodyPr/>
                    <a:lstStyle/>
                    <a:p>
                      <a:endParaRPr lang="en-US" sz="1200"/>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4290437681"/>
                  </a:ext>
                </a:extLst>
              </a:tr>
              <a:tr h="1398226">
                <a:tc>
                  <a:txBody>
                    <a:bodyPr/>
                    <a:lstStyle/>
                    <a:p>
                      <a:r>
                        <a:rPr lang="en-US" sz="1200"/>
                        <a:t>Read 2016 job ads into R server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Aaron did this—need to check with him about script.</a:t>
                      </a:r>
                    </a:p>
                    <a:p>
                      <a:endParaRPr lang="en-US" sz="1200"/>
                    </a:p>
                  </a:txBody>
                  <a:tcPr/>
                </a:tc>
                <a:tc>
                  <a:txBody>
                    <a:bodyPr/>
                    <a:lstStyle/>
                    <a:p>
                      <a:r>
                        <a:rPr lang="en-US" sz="1200"/>
                        <a:t>2</a:t>
                      </a:r>
                    </a:p>
                  </a:txBody>
                  <a:tcPr/>
                </a:tc>
                <a:tc>
                  <a:txBody>
                    <a:bodyPr/>
                    <a:lstStyle/>
                    <a:p>
                      <a:endParaRPr lang="en-US" sz="1200"/>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2433231062"/>
                  </a:ext>
                </a:extLst>
              </a:tr>
              <a:tr h="1398226">
                <a:tc>
                  <a:txBody>
                    <a:bodyPr/>
                    <a:lstStyle/>
                    <a:p>
                      <a:r>
                        <a:rPr lang="en-US" sz="1200"/>
                        <a:t>Profiling job ads</a:t>
                      </a:r>
                    </a:p>
                  </a:txBody>
                  <a:tcPr/>
                </a:tc>
                <a:tc>
                  <a:txBody>
                    <a:bodyPr/>
                    <a:lstStyle/>
                    <a:p>
                      <a:endParaRPr lang="en-US" sz="1200"/>
                    </a:p>
                  </a:txBody>
                  <a:tcPr/>
                </a:tc>
                <a:tc>
                  <a:txBody>
                    <a:bodyPr/>
                    <a:lstStyle/>
                    <a:p>
                      <a:r>
                        <a:rPr lang="en-US" sz="1200"/>
                        <a:t>3</a:t>
                      </a:r>
                    </a:p>
                  </a:txBody>
                  <a:tcPr/>
                </a:tc>
                <a:tc>
                  <a:txBody>
                    <a:bodyPr/>
                    <a:lstStyle/>
                    <a:p>
                      <a:endParaRPr lang="en-US" sz="1200"/>
                    </a:p>
                  </a:txBody>
                  <a:tcPr/>
                </a:tc>
                <a:tc>
                  <a:txBody>
                    <a:bodyPr/>
                    <a:lstStyle/>
                    <a:p>
                      <a:endParaRPr lang="en-US" sz="1200"/>
                    </a:p>
                    <a:p>
                      <a:endParaRPr lang="en-US" sz="1200"/>
                    </a:p>
                  </a:txBody>
                  <a:tcPr/>
                </a:tc>
                <a:tc>
                  <a:txBody>
                    <a:bodyPr/>
                    <a:lstStyle/>
                    <a:p>
                      <a:endParaRPr lang="en-US" sz="1200"/>
                    </a:p>
                  </a:txBody>
                  <a:tcPr/>
                </a:tc>
                <a:extLst>
                  <a:ext uri="{0D108BD9-81ED-4DB2-BD59-A6C34878D82A}">
                    <a16:rowId xmlns:a16="http://schemas.microsoft.com/office/drawing/2014/main" val="2754239605"/>
                  </a:ext>
                </a:extLst>
              </a:tr>
              <a:tr h="16212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Combine 2016 and 2017 job ad data</a:t>
                      </a:r>
                    </a:p>
                  </a:txBody>
                  <a:tcPr/>
                </a:tc>
                <a:tc>
                  <a:txBody>
                    <a:bodyPr/>
                    <a:lstStyle/>
                    <a:p>
                      <a:r>
                        <a:rPr lang="en-US" sz="1200"/>
                        <a:t>data/</a:t>
                      </a:r>
                      <a:r>
                        <a:rPr lang="en-US" sz="1200" err="1"/>
                        <a:t>stem_edu</a:t>
                      </a:r>
                      <a:r>
                        <a:rPr lang="en-US" sz="1200"/>
                        <a:t>/working/job_ads_2016/job_ads_main_2016.csv</a:t>
                      </a:r>
                    </a:p>
                    <a:p>
                      <a:pPr lvl="0">
                        <a:buNone/>
                      </a:pPr>
                      <a:endParaRPr lang="en-US" sz="1200"/>
                    </a:p>
                    <a:p>
                      <a:pPr lvl="0">
                        <a:buNone/>
                      </a:pPr>
                      <a:r>
                        <a:rPr lang="en-US" sz="1200"/>
                        <a:t>data/</a:t>
                      </a:r>
                      <a:r>
                        <a:rPr lang="en-US" sz="1200" err="1"/>
                        <a:t>stem_edu</a:t>
                      </a:r>
                      <a:r>
                        <a:rPr lang="en-US" sz="1200"/>
                        <a:t>/working/job_ads_2016/job_ads_skills_2016.csv</a:t>
                      </a:r>
                    </a:p>
                    <a:p>
                      <a:pPr lvl="0">
                        <a:buNone/>
                      </a:pPr>
                      <a:endParaRPr lang="en-US" sz="1200"/>
                    </a:p>
                    <a:p>
                      <a:pPr lvl="0">
                        <a:buNone/>
                      </a:pPr>
                      <a:r>
                        <a:rPr lang="en-US" sz="1200"/>
                        <a:t>data/</a:t>
                      </a:r>
                      <a:r>
                        <a:rPr lang="en-US" sz="1200" err="1"/>
                        <a:t>stem_edu</a:t>
                      </a:r>
                      <a:r>
                        <a:rPr lang="en-US" sz="1200"/>
                        <a:t>/working/</a:t>
                      </a:r>
                      <a:r>
                        <a:rPr lang="en-US" sz="1200" err="1"/>
                        <a:t>burning_glass</a:t>
                      </a:r>
                      <a:r>
                        <a:rPr lang="en-US" sz="1200"/>
                        <a:t>/ads_main_2017_51.RDS</a:t>
                      </a:r>
                    </a:p>
                    <a:p>
                      <a:pPr lvl="0">
                        <a:buNone/>
                      </a:pPr>
                      <a:endParaRPr lang="en-US" sz="1200"/>
                    </a:p>
                    <a:p>
                      <a:pPr lvl="0">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a:t>
                      </a:r>
                      <a:r>
                        <a:rPr lang="en-US" sz="1200" b="0" i="0" u="none" strike="noStrike" noProof="0" err="1">
                          <a:latin typeface="Calibri"/>
                        </a:rPr>
                        <a:t>burning_glass</a:t>
                      </a:r>
                      <a:r>
                        <a:rPr lang="en-US" sz="1200" b="0" i="0" u="none" strike="noStrike" noProof="0">
                          <a:latin typeface="Calibri"/>
                        </a:rPr>
                        <a:t>/ads_skills_2017_.RDS</a:t>
                      </a:r>
                      <a:endParaRPr lang="en-US"/>
                    </a:p>
                    <a:p>
                      <a:pPr lvl="0">
                        <a:buNone/>
                      </a:pPr>
                      <a:endParaRPr lang="en-US" sz="1200"/>
                    </a:p>
                  </a:txBody>
                  <a:tcPr/>
                </a:tc>
                <a:tc>
                  <a:txBody>
                    <a:bodyPr/>
                    <a:lstStyle/>
                    <a:p>
                      <a:r>
                        <a:rPr lang="en-US" sz="1200"/>
                        <a:t>4</a:t>
                      </a:r>
                    </a:p>
                  </a:txBody>
                  <a:tcPr/>
                </a:tc>
                <a:tc>
                  <a:txBody>
                    <a:bodyPr/>
                    <a:lstStyle/>
                    <a:p>
                      <a:r>
                        <a:rPr lang="en-US" sz="1200" err="1"/>
                        <a:t>stem_edu</a:t>
                      </a:r>
                      <a:r>
                        <a:rPr lang="en-US" sz="1200"/>
                        <a:t>/</a:t>
                      </a:r>
                      <a:r>
                        <a:rPr lang="en-US" sz="1200" err="1"/>
                        <a:t>src</a:t>
                      </a:r>
                      <a:r>
                        <a:rPr lang="en-US" sz="1200"/>
                        <a:t>/combine_job_ad_16_17.R</a:t>
                      </a:r>
                    </a:p>
                  </a:txBody>
                  <a:tcPr/>
                </a:tc>
                <a:tc>
                  <a:txBody>
                    <a:bodyPr/>
                    <a:lstStyle/>
                    <a:p>
                      <a:pPr lvl="0">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/working/burning_glass_ad_combine_16_17/combine_16_17_job_ad_main.csv</a:t>
                      </a:r>
                    </a:p>
                    <a:p>
                      <a:pPr lvl="0">
                        <a:buNone/>
                      </a:pPr>
                      <a:endParaRPr lang="en-US" sz="1200" b="0" i="0" u="none" strike="noStrike" noProof="0">
                        <a:latin typeface="Calibri"/>
                      </a:endParaRPr>
                    </a:p>
                    <a:p>
                      <a:pPr lvl="0">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/working.burning_glass_ad_combine_16_17/combine_16_17_job_ad_skill.csv</a:t>
                      </a:r>
                      <a:endParaRPr lang="en-US"/>
                    </a:p>
                  </a:txBody>
                  <a:tcPr/>
                </a:tc>
                <a:tc>
                  <a:txBody>
                    <a:bodyPr/>
                    <a:lstStyle/>
                    <a:p>
                      <a:endParaRPr lang="en-US" sz="1200"/>
                    </a:p>
                  </a:txBody>
                  <a:tcPr/>
                </a:tc>
                <a:extLst>
                  <a:ext uri="{0D108BD9-81ED-4DB2-BD59-A6C34878D82A}">
                    <a16:rowId xmlns:a16="http://schemas.microsoft.com/office/drawing/2014/main" val="320507716"/>
                  </a:ext>
                </a:extLst>
              </a:tr>
            </a:tbl>
          </a:graphicData>
        </a:graphic>
      </p:graphicFrame>
      <p:sp>
        <p:nvSpPr>
          <p:cNvPr id="2" name="TextBox 1">
            <a:extLst>
              <a:ext uri="{FF2B5EF4-FFF2-40B4-BE49-F238E27FC236}">
                <a16:creationId xmlns:a16="http://schemas.microsoft.com/office/drawing/2014/main" id="{3C98E5C0-3E28-D845-81F1-91EDE7034F02}"/>
              </a:ext>
            </a:extLst>
          </p:cNvPr>
          <p:cNvSpPr txBox="1"/>
          <p:nvPr/>
        </p:nvSpPr>
        <p:spPr>
          <a:xfrm>
            <a:off x="346213" y="278296"/>
            <a:ext cx="11499574" cy="369332"/>
          </a:xfrm>
          <a:prstGeom prst="rect">
            <a:avLst/>
          </a:prstGeom>
          <a:noFill/>
        </p:spPr>
        <p:txBody>
          <a:bodyPr wrap="square" rtlCol="0" anchor="t">
            <a:spAutoFit/>
          </a:bodyPr>
          <a:lstStyle/>
          <a:p>
            <a:r>
              <a:rPr lang="en-US" b="1" dirty="0"/>
              <a:t>1. Import and profile job ad data</a:t>
            </a:r>
          </a:p>
        </p:txBody>
      </p:sp>
    </p:spTree>
    <p:extLst>
      <p:ext uri="{BB962C8B-B14F-4D97-AF65-F5344CB8AC3E}">
        <p14:creationId xmlns:p14="http://schemas.microsoft.com/office/powerpoint/2010/main" val="2161644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4DA44824-2CE5-A54D-81F3-0DFA95FADD62}"/>
              </a:ext>
            </a:extLst>
          </p:cNvPr>
          <p:cNvGraphicFramePr>
            <a:graphicFrameLocks noGrp="1"/>
          </p:cNvGraphicFramePr>
          <p:nvPr>
            <p:ph sz="half" idx="2"/>
            <p:extLst>
              <p:ext uri="{D42A27DB-BD31-4B8C-83A1-F6EECF244321}">
                <p14:modId xmlns:p14="http://schemas.microsoft.com/office/powerpoint/2010/main" val="196687311"/>
              </p:ext>
            </p:extLst>
          </p:nvPr>
        </p:nvGraphicFramePr>
        <p:xfrm>
          <a:off x="0" y="914400"/>
          <a:ext cx="12192000" cy="3992880"/>
        </p:xfrm>
        <a:graphic>
          <a:graphicData uri="http://schemas.openxmlformats.org/drawingml/2006/table">
            <a:tbl>
              <a:tblPr firstRow="1" bandRow="1">
                <a:tableStyleId>{21E4AEA4-8DFA-4A89-87EB-49C32662AFE0}</a:tableStyleId>
              </a:tblPr>
              <a:tblGrid>
                <a:gridCol w="1743843">
                  <a:extLst>
                    <a:ext uri="{9D8B030D-6E8A-4147-A177-3AD203B41FA5}">
                      <a16:colId xmlns:a16="http://schemas.microsoft.com/office/drawing/2014/main" val="1352491661"/>
                    </a:ext>
                  </a:extLst>
                </a:gridCol>
                <a:gridCol w="3076635">
                  <a:extLst>
                    <a:ext uri="{9D8B030D-6E8A-4147-A177-3AD203B41FA5}">
                      <a16:colId xmlns:a16="http://schemas.microsoft.com/office/drawing/2014/main" val="3130510922"/>
                    </a:ext>
                  </a:extLst>
                </a:gridCol>
                <a:gridCol w="834357">
                  <a:extLst>
                    <a:ext uri="{9D8B030D-6E8A-4147-A177-3AD203B41FA5}">
                      <a16:colId xmlns:a16="http://schemas.microsoft.com/office/drawing/2014/main" val="1636284579"/>
                    </a:ext>
                  </a:extLst>
                </a:gridCol>
                <a:gridCol w="2145611">
                  <a:extLst>
                    <a:ext uri="{9D8B030D-6E8A-4147-A177-3AD203B41FA5}">
                      <a16:colId xmlns:a16="http://schemas.microsoft.com/office/drawing/2014/main" val="2195260392"/>
                    </a:ext>
                  </a:extLst>
                </a:gridCol>
                <a:gridCol w="2195777">
                  <a:extLst>
                    <a:ext uri="{9D8B030D-6E8A-4147-A177-3AD203B41FA5}">
                      <a16:colId xmlns:a16="http://schemas.microsoft.com/office/drawing/2014/main" val="3536091448"/>
                    </a:ext>
                  </a:extLst>
                </a:gridCol>
                <a:gridCol w="2195777">
                  <a:extLst>
                    <a:ext uri="{9D8B030D-6E8A-4147-A177-3AD203B41FA5}">
                      <a16:colId xmlns:a16="http://schemas.microsoft.com/office/drawing/2014/main" val="4195063144"/>
                    </a:ext>
                  </a:extLst>
                </a:gridCol>
              </a:tblGrid>
              <a:tr h="278430">
                <a:tc>
                  <a:txBody>
                    <a:bodyPr/>
                    <a:lstStyle/>
                    <a:p>
                      <a:r>
                        <a:rPr lang="en-US" sz="1400"/>
                        <a:t>Goal</a:t>
                      </a:r>
                    </a:p>
                  </a:txBody>
                  <a:tcPr/>
                </a:tc>
                <a:tc>
                  <a:txBody>
                    <a:bodyPr/>
                    <a:lstStyle/>
                    <a:p>
                      <a:r>
                        <a:rPr lang="en-US" sz="1400"/>
                        <a:t>Input</a:t>
                      </a:r>
                    </a:p>
                  </a:txBody>
                  <a:tcPr/>
                </a:tc>
                <a:tc>
                  <a:txBody>
                    <a:bodyPr/>
                    <a:lstStyle/>
                    <a:p>
                      <a:r>
                        <a:rPr lang="en-US" sz="1400"/>
                        <a:t>Run Order</a:t>
                      </a:r>
                    </a:p>
                  </a:txBody>
                  <a:tcPr/>
                </a:tc>
                <a:tc>
                  <a:txBody>
                    <a:bodyPr/>
                    <a:lstStyle/>
                    <a:p>
                      <a:r>
                        <a:rPr lang="en-US" sz="1400"/>
                        <a:t>Script</a:t>
                      </a:r>
                    </a:p>
                  </a:txBody>
                  <a:tcPr/>
                </a:tc>
                <a:tc>
                  <a:txBody>
                    <a:bodyPr/>
                    <a:lstStyle/>
                    <a:p>
                      <a:r>
                        <a:rPr lang="en-US" sz="1400"/>
                        <a:t>Output</a:t>
                      </a:r>
                    </a:p>
                  </a:txBody>
                  <a:tcPr/>
                </a:tc>
                <a:tc>
                  <a:txBody>
                    <a:bodyPr/>
                    <a:lstStyle/>
                    <a:p>
                      <a:r>
                        <a:rPr lang="en-US" sz="1400"/>
                        <a:t>Notes</a:t>
                      </a:r>
                    </a:p>
                  </a:txBody>
                  <a:tcPr/>
                </a:tc>
                <a:extLst>
                  <a:ext uri="{0D108BD9-81ED-4DB2-BD59-A6C34878D82A}">
                    <a16:rowId xmlns:a16="http://schemas.microsoft.com/office/drawing/2014/main" val="744206176"/>
                  </a:ext>
                </a:extLst>
              </a:tr>
              <a:tr h="1230438">
                <a:tc>
                  <a:txBody>
                    <a:bodyPr/>
                    <a:lstStyle/>
                    <a:p>
                      <a:pPr lvl="0">
                        <a:buNone/>
                      </a:pPr>
                      <a:r>
                        <a:rPr lang="en-US" sz="1200" b="0" i="0" u="none" strike="noStrike" noProof="0">
                          <a:latin typeface="Calibri"/>
                        </a:rPr>
                        <a:t>Data Profiling Blacksburg Job Ad Data</a:t>
                      </a:r>
                    </a:p>
                  </a:txBody>
                  <a:tcPr/>
                </a:tc>
                <a:tc>
                  <a:txBody>
                    <a:bodyPr/>
                    <a:lstStyle/>
                    <a:p>
                      <a:pPr lvl="0">
                        <a:buNone/>
                      </a:pPr>
                      <a:r>
                        <a:rPr lang="en-US" sz="1200" b="0" i="0" u="none" strike="noStrike" noProof="0" err="1">
                          <a:latin typeface="Calibri"/>
                        </a:rPr>
                        <a:t>stem_edu</a:t>
                      </a: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a:t>
                      </a:r>
                      <a:r>
                        <a:rPr lang="en-US" sz="1200" b="0" i="0" u="none" strike="noStrike" noProof="0" err="1">
                          <a:latin typeface="Calibri"/>
                        </a:rPr>
                        <a:t>Team_SA_job_skills_filter</a:t>
                      </a:r>
                      <a:r>
                        <a:rPr lang="en-US" sz="1200" b="0" i="0" u="none" strike="noStrike" noProof="0">
                          <a:latin typeface="Calibri"/>
                        </a:rPr>
                        <a:t>/blacksburg_jobs.csv</a:t>
                      </a:r>
                    </a:p>
                  </a:txBody>
                  <a:tcPr/>
                </a:tc>
                <a:tc>
                  <a:txBody>
                    <a:bodyPr/>
                    <a:lstStyle/>
                    <a:p>
                      <a:pPr lvl="0">
                        <a:buNone/>
                      </a:pPr>
                      <a:r>
                        <a:rPr lang="en-US" sz="1200"/>
                        <a:t>5</a:t>
                      </a:r>
                    </a:p>
                  </a:txBody>
                  <a:tcPr/>
                </a:tc>
                <a:tc>
                  <a:txBody>
                    <a:bodyPr/>
                    <a:lstStyle/>
                    <a:p>
                      <a:pPr lvl="0">
                        <a:buNone/>
                      </a:pPr>
                      <a:r>
                        <a:rPr lang="en-US" sz="1200" b="0" i="0" u="none" strike="noStrike" noProof="0" err="1">
                          <a:latin typeface="Calibri"/>
                        </a:rPr>
                        <a:t>stem_edu</a:t>
                      </a:r>
                      <a:r>
                        <a:rPr lang="en-US" sz="1200" b="0" i="0" u="none" strike="noStrike" noProof="0">
                          <a:latin typeface="Calibri"/>
                        </a:rPr>
                        <a:t>/</a:t>
                      </a:r>
                      <a:r>
                        <a:rPr lang="en-US" sz="1200" b="0" i="0" u="none" strike="noStrike" noProof="0" err="1">
                          <a:latin typeface="Calibri"/>
                        </a:rPr>
                        <a:t>src</a:t>
                      </a:r>
                      <a:r>
                        <a:rPr lang="en-US" sz="1200" b="0" i="0" u="none" strike="noStrike" noProof="0">
                          <a:latin typeface="Calibri"/>
                        </a:rPr>
                        <a:t>/</a:t>
                      </a:r>
                      <a:r>
                        <a:rPr lang="en-US" sz="1200" b="0" i="0" u="none" strike="noStrike" noProof="0" err="1">
                          <a:latin typeface="Calibri"/>
                        </a:rPr>
                        <a:t>sarah</a:t>
                      </a:r>
                      <a:r>
                        <a:rPr lang="en-US" sz="1200" b="0" i="0" u="none" strike="noStrike" noProof="0">
                          <a:latin typeface="Calibri"/>
                        </a:rPr>
                        <a:t>/</a:t>
                      </a:r>
                      <a:r>
                        <a:rPr lang="en-US" sz="1200" b="0" i="0" u="none" strike="noStrike" noProof="0" err="1">
                          <a:latin typeface="Calibri"/>
                        </a:rPr>
                        <a:t>data_profiling</a:t>
                      </a:r>
                      <a:r>
                        <a:rPr lang="en-US" sz="1200" b="0" i="0" u="none" strike="noStrike" noProof="0">
                          <a:latin typeface="Calibri"/>
                        </a:rPr>
                        <a:t>/b-job-data-</a:t>
                      </a:r>
                      <a:r>
                        <a:rPr lang="en-US" sz="1200" b="0" i="0" u="none" strike="noStrike" noProof="0" err="1">
                          <a:latin typeface="Calibri"/>
                        </a:rPr>
                        <a:t>profiling.R</a:t>
                      </a:r>
                    </a:p>
                  </a:txBody>
                  <a:tcPr/>
                </a:tc>
                <a:tc>
                  <a:txBody>
                    <a:bodyPr/>
                    <a:lstStyle/>
                    <a:p>
                      <a:pPr lvl="0" algn="l">
                        <a:lnSpc>
                          <a:spcPct val="100000"/>
                        </a:lnSpc>
                        <a:spcBef>
                          <a:spcPts val="0"/>
                        </a:spcBef>
                        <a:spcAft>
                          <a:spcPts val="0"/>
                        </a:spcAft>
                        <a:buNone/>
                      </a:pPr>
                      <a:r>
                        <a:rPr lang="en-US" sz="1200" b="0" i="0" u="none" strike="noStrike" noProof="0" err="1">
                          <a:latin typeface="Calibri"/>
                        </a:rPr>
                        <a:t>stem_edu</a:t>
                      </a:r>
                      <a:r>
                        <a:rPr lang="en-US" sz="1200" b="0" i="0" u="none" strike="noStrike" noProof="0">
                          <a:latin typeface="Calibri"/>
                        </a:rPr>
                        <a:t>/</a:t>
                      </a:r>
                      <a:r>
                        <a:rPr lang="en-US" sz="1200" b="0" i="0" u="none" strike="noStrike" noProof="0" err="1">
                          <a:latin typeface="Calibri"/>
                        </a:rPr>
                        <a:t>src</a:t>
                      </a:r>
                      <a:r>
                        <a:rPr lang="en-US" sz="1200" b="0" i="0" u="none" strike="noStrike" noProof="0">
                          <a:latin typeface="Calibri"/>
                        </a:rPr>
                        <a:t>/</a:t>
                      </a:r>
                      <a:r>
                        <a:rPr lang="en-US" sz="1200" b="0" i="0" u="none" strike="noStrike" noProof="0" err="1">
                          <a:latin typeface="Calibri"/>
                        </a:rPr>
                        <a:t>sarah</a:t>
                      </a:r>
                      <a:r>
                        <a:rPr lang="en-US" sz="1200" b="0" i="0" u="none" strike="noStrike" noProof="0">
                          <a:latin typeface="Calibri"/>
                        </a:rPr>
                        <a:t>/</a:t>
                      </a:r>
                      <a:r>
                        <a:rPr lang="en-US" sz="1200" b="0" i="0" u="none" strike="noStrike" noProof="0" err="1">
                          <a:latin typeface="Calibri"/>
                        </a:rPr>
                        <a:t>data_profiling</a:t>
                      </a:r>
                      <a:r>
                        <a:rPr lang="en-US" sz="1200" b="0" i="0" u="none" strike="noStrike" noProof="0">
                          <a:latin typeface="Calibri"/>
                        </a:rPr>
                        <a:t>/b_skill_prof.csv</a:t>
                      </a:r>
                    </a:p>
                    <a:p>
                      <a:pPr lvl="0" algn="l">
                        <a:lnSpc>
                          <a:spcPct val="100000"/>
                        </a:lnSpc>
                        <a:spcBef>
                          <a:spcPts val="0"/>
                        </a:spcBef>
                        <a:spcAft>
                          <a:spcPts val="0"/>
                        </a:spcAft>
                        <a:buNone/>
                      </a:pPr>
                      <a:endParaRPr lang="en-US" sz="1200" b="0" i="0" u="none" strike="noStrike" noProof="0">
                        <a:latin typeface="Calibri"/>
                      </a:endParaRPr>
                    </a:p>
                    <a:p>
                      <a:pPr lvl="0" algn="l">
                        <a:lnSpc>
                          <a:spcPct val="100000"/>
                        </a:lnSpc>
                        <a:spcBef>
                          <a:spcPts val="0"/>
                        </a:spcBef>
                        <a:spcAft>
                          <a:spcPts val="0"/>
                        </a:spcAft>
                        <a:buNone/>
                      </a:pPr>
                      <a:r>
                        <a:rPr lang="en-US" sz="1200" b="0" i="0" u="none" strike="noStrike" noProof="0" err="1">
                          <a:latin typeface="Calibri"/>
                        </a:rPr>
                        <a:t>stem_edu</a:t>
                      </a:r>
                      <a:r>
                        <a:rPr lang="en-US" sz="1200" b="0" i="0" u="none" strike="noStrike" noProof="0">
                          <a:latin typeface="Calibri"/>
                        </a:rPr>
                        <a:t>/</a:t>
                      </a:r>
                      <a:r>
                        <a:rPr lang="en-US" sz="1200" b="0" i="0" u="none" strike="noStrike" noProof="0" err="1">
                          <a:latin typeface="Calibri"/>
                        </a:rPr>
                        <a:t>src</a:t>
                      </a:r>
                      <a:r>
                        <a:rPr lang="en-US" sz="1200" b="0" i="0" u="none" strike="noStrike" noProof="0">
                          <a:latin typeface="Calibri"/>
                        </a:rPr>
                        <a:t>/</a:t>
                      </a:r>
                      <a:r>
                        <a:rPr lang="en-US" sz="1200" b="0" i="0" u="none" strike="noStrike" noProof="0" err="1">
                          <a:latin typeface="Calibri"/>
                        </a:rPr>
                        <a:t>sarah</a:t>
                      </a:r>
                      <a:r>
                        <a:rPr lang="en-US" sz="1200" b="0" i="0" u="none" strike="noStrike" noProof="0">
                          <a:latin typeface="Calibri"/>
                        </a:rPr>
                        <a:t>/</a:t>
                      </a:r>
                      <a:r>
                        <a:rPr lang="en-US" sz="1200" b="0" i="0" u="none" strike="noStrike" noProof="0" err="1">
                          <a:latin typeface="Calibri"/>
                        </a:rPr>
                        <a:t>data_profiling</a:t>
                      </a:r>
                      <a:r>
                        <a:rPr lang="en-US" sz="1200" b="0" i="0" u="none" strike="noStrike" noProof="0">
                          <a:latin typeface="Calibri"/>
                        </a:rPr>
                        <a:t>/b_job_prof.csv</a:t>
                      </a:r>
                    </a:p>
                    <a:p>
                      <a:pPr lvl="0" algn="l">
                        <a:lnSpc>
                          <a:spcPct val="100000"/>
                        </a:lnSpc>
                        <a:spcBef>
                          <a:spcPts val="0"/>
                        </a:spcBef>
                        <a:spcAft>
                          <a:spcPts val="0"/>
                        </a:spcAft>
                        <a:buNone/>
                      </a:pPr>
                      <a:endParaRPr lang="en-US" sz="1200" b="0" i="0" u="none" strike="noStrike" noProof="0">
                        <a:latin typeface="Calibri"/>
                      </a:endParaRPr>
                    </a:p>
                    <a:p>
                      <a:pPr lvl="0" algn="l">
                        <a:lnSpc>
                          <a:spcPct val="100000"/>
                        </a:lnSpc>
                        <a:spcBef>
                          <a:spcPts val="0"/>
                        </a:spcBef>
                        <a:spcAft>
                          <a:spcPts val="0"/>
                        </a:spcAft>
                        <a:buNone/>
                      </a:pPr>
                      <a:r>
                        <a:rPr lang="en-US" sz="1200" b="0" i="0" u="none" strike="noStrike" noProof="0" err="1">
                          <a:latin typeface="Calibri"/>
                        </a:rPr>
                        <a:t>stem_edu</a:t>
                      </a:r>
                      <a:r>
                        <a:rPr lang="en-US" sz="1200" b="0" i="0" u="none" strike="noStrike" noProof="0">
                          <a:latin typeface="Calibri"/>
                        </a:rPr>
                        <a:t>/</a:t>
                      </a:r>
                      <a:r>
                        <a:rPr lang="en-US" sz="1200" b="0" i="0" u="none" strike="noStrike" noProof="0" err="1">
                          <a:latin typeface="Calibri"/>
                        </a:rPr>
                        <a:t>src</a:t>
                      </a:r>
                      <a:r>
                        <a:rPr lang="en-US" sz="1200" b="0" i="0" u="none" strike="noStrike" noProof="0">
                          <a:latin typeface="Calibri"/>
                        </a:rPr>
                        <a:t>/</a:t>
                      </a:r>
                      <a:r>
                        <a:rPr lang="en-US" sz="1200" b="0" i="0" u="none" strike="noStrike" noProof="0" err="1">
                          <a:latin typeface="Calibri"/>
                        </a:rPr>
                        <a:t>sarah</a:t>
                      </a:r>
                      <a:r>
                        <a:rPr lang="en-US" sz="1200" b="0" i="0" u="none" strike="noStrike" noProof="0">
                          <a:latin typeface="Calibri"/>
                        </a:rPr>
                        <a:t>/</a:t>
                      </a:r>
                      <a:r>
                        <a:rPr lang="en-US" sz="1200" b="0" i="0" u="none" strike="noStrike" noProof="0" err="1">
                          <a:latin typeface="Calibri"/>
                        </a:rPr>
                        <a:t>data_profiling</a:t>
                      </a:r>
                      <a:r>
                        <a:rPr lang="en-US" sz="1200" b="0" i="0" u="none" strike="noStrike" noProof="0">
                          <a:latin typeface="Calibri"/>
                        </a:rPr>
                        <a:t>/blacksburg_prof.csv</a:t>
                      </a:r>
                    </a:p>
                    <a:p>
                      <a:pPr lvl="0">
                        <a:buNone/>
                      </a:pPr>
                      <a:endParaRPr lang="en-US" sz="1200"/>
                    </a:p>
                  </a:txBody>
                  <a:tcPr/>
                </a:tc>
                <a:tc>
                  <a:txBody>
                    <a:bodyPr/>
                    <a:lstStyle/>
                    <a:p>
                      <a:pPr lvl="0">
                        <a:buNone/>
                      </a:pPr>
                      <a:r>
                        <a:rPr lang="en-US" sz="1200" b="0" i="0" u="none" strike="noStrike" noProof="0">
                          <a:latin typeface="Calibri"/>
                        </a:rPr>
                        <a:t>Output: </a:t>
                      </a:r>
                      <a:r>
                        <a:rPr lang="en-US" sz="1200" b="0" i="0" u="none" strike="noStrike" noProof="0" err="1">
                          <a:latin typeface="Calibri"/>
                        </a:rPr>
                        <a:t>blacksburg_prof</a:t>
                      </a:r>
                      <a:r>
                        <a:rPr lang="en-US" sz="1200" b="0" i="0" u="none" strike="noStrike" noProof="0">
                          <a:latin typeface="Calibri"/>
                        </a:rPr>
                        <a:t>. csv (the third listed) contains b_skill_prof.csv and b_job_prof.csv</a:t>
                      </a:r>
                    </a:p>
                  </a:txBody>
                  <a:tcPr/>
                </a:tc>
                <a:extLst>
                  <a:ext uri="{0D108BD9-81ED-4DB2-BD59-A6C34878D82A}">
                    <a16:rowId xmlns:a16="http://schemas.microsoft.com/office/drawing/2014/main" val="4290437681"/>
                  </a:ext>
                </a:extLst>
              </a:tr>
              <a:tr h="1230437">
                <a:tc>
                  <a:txBody>
                    <a:bodyPr/>
                    <a:lstStyle/>
                    <a:p>
                      <a:pPr lvl="0">
                        <a:buNone/>
                      </a:pPr>
                      <a:r>
                        <a:rPr lang="en-US" sz="1200" b="0" i="0" u="none" strike="noStrike" noProof="0"/>
                        <a:t>Data Profiling Richmond Job Ad Data</a:t>
                      </a:r>
                    </a:p>
                  </a:txBody>
                  <a:tcPr/>
                </a:tc>
                <a:tc>
                  <a:txBody>
                    <a:bodyPr/>
                    <a:lstStyle/>
                    <a:p>
                      <a:pPr lvl="0">
                        <a:buNone/>
                      </a:pPr>
                      <a:r>
                        <a:rPr lang="en-US" sz="1200" b="0" i="0" u="none" strike="noStrike" noProof="0" err="1"/>
                        <a:t>stem_edu</a:t>
                      </a:r>
                      <a:r>
                        <a:rPr lang="en-US" sz="1200" b="0" i="0" u="none" strike="noStrike" noProof="0"/>
                        <a:t>/data/</a:t>
                      </a:r>
                      <a:r>
                        <a:rPr lang="en-US" sz="1200" b="0" i="0" u="none" strike="noStrike" noProof="0" err="1"/>
                        <a:t>stem_edu</a:t>
                      </a:r>
                      <a:r>
                        <a:rPr lang="en-US" sz="1200" b="0" i="0" u="none" strike="noStrike" noProof="0"/>
                        <a:t>/working/</a:t>
                      </a:r>
                      <a:r>
                        <a:rPr lang="en-US" sz="1200" b="0" i="0" u="none" strike="noStrike" noProof="0" err="1"/>
                        <a:t>Team_SA_job_skills_filter</a:t>
                      </a:r>
                      <a:r>
                        <a:rPr lang="en-US" sz="1200" b="0" i="0" u="none" strike="noStrike" noProof="0"/>
                        <a:t>/rich_jobs.csv</a:t>
                      </a:r>
                    </a:p>
                  </a:txBody>
                  <a:tcPr/>
                </a:tc>
                <a:tc>
                  <a:txBody>
                    <a:bodyPr/>
                    <a:lstStyle/>
                    <a:p>
                      <a:pPr lvl="0">
                        <a:buNone/>
                      </a:pPr>
                      <a:r>
                        <a:rPr lang="en-US" sz="1200"/>
                        <a:t>6</a:t>
                      </a:r>
                    </a:p>
                  </a:txBody>
                  <a:tcPr/>
                </a:tc>
                <a:tc>
                  <a:txBody>
                    <a:bodyPr/>
                    <a:lstStyle/>
                    <a:p>
                      <a:pPr lvl="0">
                        <a:buNone/>
                      </a:pPr>
                      <a:r>
                        <a:rPr lang="en-US" sz="1200" b="0" i="0" u="none" strike="noStrike" noProof="0" err="1"/>
                        <a:t>stem_edu</a:t>
                      </a:r>
                      <a:r>
                        <a:rPr lang="en-US" sz="1200" b="0" i="0" u="none" strike="noStrike" noProof="0"/>
                        <a:t>/</a:t>
                      </a:r>
                      <a:r>
                        <a:rPr lang="en-US" sz="1200" b="0" i="0" u="none" strike="noStrike" noProof="0" err="1"/>
                        <a:t>src</a:t>
                      </a:r>
                      <a:r>
                        <a:rPr lang="en-US" sz="1200" b="0" i="0" u="none" strike="noStrike" noProof="0"/>
                        <a:t>/</a:t>
                      </a:r>
                      <a:r>
                        <a:rPr lang="en-US" sz="1200" b="0" i="0" u="none" strike="noStrike" noProof="0" err="1"/>
                        <a:t>sarah</a:t>
                      </a:r>
                      <a:r>
                        <a:rPr lang="en-US" sz="1200" b="0" i="0" u="none" strike="noStrike" noProof="0"/>
                        <a:t>/</a:t>
                      </a:r>
                      <a:r>
                        <a:rPr lang="en-US" sz="1200" b="0" i="0" u="none" strike="noStrike" noProof="0" err="1"/>
                        <a:t>data_profiling</a:t>
                      </a:r>
                      <a:r>
                        <a:rPr lang="en-US" sz="1200" b="0" i="0" u="none" strike="noStrike" noProof="0"/>
                        <a:t>/r-job-data-</a:t>
                      </a:r>
                      <a:r>
                        <a:rPr lang="en-US" sz="1200" b="0" i="0" u="none" strike="noStrike" noProof="0" err="1"/>
                        <a:t>profiling.R</a:t>
                      </a:r>
                    </a:p>
                  </a:txBody>
                  <a:tcPr/>
                </a:tc>
                <a:tc>
                  <a:txBody>
                    <a:bodyPr/>
                    <a:lstStyle/>
                    <a:p>
                      <a:pPr lvl="0" algn="l">
                        <a:lnSpc>
                          <a:spcPct val="100000"/>
                        </a:lnSpc>
                        <a:spcBef>
                          <a:spcPts val="0"/>
                        </a:spcBef>
                        <a:spcAft>
                          <a:spcPts val="0"/>
                        </a:spcAft>
                        <a:buNone/>
                      </a:pPr>
                      <a:r>
                        <a:rPr lang="en-US" sz="1200" b="0" i="0" u="none" strike="noStrike" noProof="0" err="1">
                          <a:latin typeface="Calibri"/>
                        </a:rPr>
                        <a:t>stem_edu</a:t>
                      </a:r>
                      <a:r>
                        <a:rPr lang="en-US" sz="1200" b="0" i="0" u="none" strike="noStrike" noProof="0">
                          <a:latin typeface="Calibri"/>
                        </a:rPr>
                        <a:t>/</a:t>
                      </a:r>
                      <a:r>
                        <a:rPr lang="en-US" sz="1200" b="0" i="0" u="none" strike="noStrike" noProof="0" err="1">
                          <a:latin typeface="Calibri"/>
                        </a:rPr>
                        <a:t>src</a:t>
                      </a:r>
                      <a:r>
                        <a:rPr lang="en-US" sz="1200" b="0" i="0" u="none" strike="noStrike" noProof="0">
                          <a:latin typeface="Calibri"/>
                        </a:rPr>
                        <a:t>/</a:t>
                      </a:r>
                      <a:r>
                        <a:rPr lang="en-US" sz="1200" b="0" i="0" u="none" strike="noStrike" noProof="0" err="1">
                          <a:latin typeface="Calibri"/>
                        </a:rPr>
                        <a:t>sarah</a:t>
                      </a:r>
                      <a:r>
                        <a:rPr lang="en-US" sz="1200" b="0" i="0" u="none" strike="noStrike" noProof="0">
                          <a:latin typeface="Calibri"/>
                        </a:rPr>
                        <a:t>/</a:t>
                      </a:r>
                      <a:r>
                        <a:rPr lang="en-US" sz="1200" b="0" i="0" u="none" strike="noStrike" noProof="0" err="1">
                          <a:latin typeface="Calibri"/>
                        </a:rPr>
                        <a:t>data_profiling</a:t>
                      </a:r>
                      <a:r>
                        <a:rPr lang="en-US" sz="1200" b="0" i="0" u="none" strike="noStrike" noProof="0">
                          <a:latin typeface="Calibri"/>
                        </a:rPr>
                        <a:t>/r_skill_prof.csv</a:t>
                      </a:r>
                    </a:p>
                    <a:p>
                      <a:pPr lvl="0" algn="l">
                        <a:lnSpc>
                          <a:spcPct val="100000"/>
                        </a:lnSpc>
                        <a:spcBef>
                          <a:spcPts val="0"/>
                        </a:spcBef>
                        <a:spcAft>
                          <a:spcPts val="0"/>
                        </a:spcAft>
                        <a:buNone/>
                      </a:pPr>
                      <a:endParaRPr lang="en-US" sz="1200" b="0" i="0" u="none" strike="noStrike" noProof="0">
                        <a:latin typeface="Calibri"/>
                      </a:endParaRPr>
                    </a:p>
                    <a:p>
                      <a:pPr lvl="0" algn="l">
                        <a:lnSpc>
                          <a:spcPct val="100000"/>
                        </a:lnSpc>
                        <a:spcBef>
                          <a:spcPts val="0"/>
                        </a:spcBef>
                        <a:spcAft>
                          <a:spcPts val="0"/>
                        </a:spcAft>
                        <a:buNone/>
                      </a:pPr>
                      <a:r>
                        <a:rPr lang="en-US" sz="1200" b="0" i="0" u="none" strike="noStrike" noProof="0" err="1">
                          <a:latin typeface="Calibri"/>
                        </a:rPr>
                        <a:t>stem_edu</a:t>
                      </a:r>
                      <a:r>
                        <a:rPr lang="en-US" sz="1200" b="0" i="0" u="none" strike="noStrike" noProof="0">
                          <a:latin typeface="Calibri"/>
                        </a:rPr>
                        <a:t>/</a:t>
                      </a:r>
                      <a:r>
                        <a:rPr lang="en-US" sz="1200" b="0" i="0" u="none" strike="noStrike" noProof="0" err="1">
                          <a:latin typeface="Calibri"/>
                        </a:rPr>
                        <a:t>src</a:t>
                      </a:r>
                      <a:r>
                        <a:rPr lang="en-US" sz="1200" b="0" i="0" u="none" strike="noStrike" noProof="0">
                          <a:latin typeface="Calibri"/>
                        </a:rPr>
                        <a:t>/</a:t>
                      </a:r>
                      <a:r>
                        <a:rPr lang="en-US" sz="1200" b="0" i="0" u="none" strike="noStrike" noProof="0" err="1">
                          <a:latin typeface="Calibri"/>
                        </a:rPr>
                        <a:t>sarah</a:t>
                      </a:r>
                      <a:r>
                        <a:rPr lang="en-US" sz="1200" b="0" i="0" u="none" strike="noStrike" noProof="0">
                          <a:latin typeface="Calibri"/>
                        </a:rPr>
                        <a:t>/</a:t>
                      </a:r>
                      <a:r>
                        <a:rPr lang="en-US" sz="1200" b="0" i="0" u="none" strike="noStrike" noProof="0" err="1">
                          <a:latin typeface="Calibri"/>
                        </a:rPr>
                        <a:t>data_profiling</a:t>
                      </a:r>
                      <a:r>
                        <a:rPr lang="en-US" sz="1200" b="0" i="0" u="none" strike="noStrike" noProof="0">
                          <a:latin typeface="Calibri"/>
                        </a:rPr>
                        <a:t>/r_job_prof.csv</a:t>
                      </a:r>
                    </a:p>
                    <a:p>
                      <a:pPr lvl="0" algn="l">
                        <a:lnSpc>
                          <a:spcPct val="100000"/>
                        </a:lnSpc>
                        <a:spcBef>
                          <a:spcPts val="0"/>
                        </a:spcBef>
                        <a:spcAft>
                          <a:spcPts val="0"/>
                        </a:spcAft>
                        <a:buNone/>
                      </a:pPr>
                      <a:endParaRPr lang="en-US" sz="1200" b="0" i="0" u="none" strike="noStrike" noProof="0">
                        <a:latin typeface="Calibri"/>
                      </a:endParaRPr>
                    </a:p>
                    <a:p>
                      <a:pPr lvl="0" algn="l">
                        <a:lnSpc>
                          <a:spcPct val="100000"/>
                        </a:lnSpc>
                        <a:spcBef>
                          <a:spcPts val="0"/>
                        </a:spcBef>
                        <a:spcAft>
                          <a:spcPts val="0"/>
                        </a:spcAft>
                        <a:buNone/>
                      </a:pPr>
                      <a:r>
                        <a:rPr lang="en-US" sz="1200" b="0" i="0" u="none" strike="noStrike" noProof="0" err="1">
                          <a:latin typeface="Calibri"/>
                        </a:rPr>
                        <a:t>stem_edu</a:t>
                      </a:r>
                      <a:r>
                        <a:rPr lang="en-US" sz="1200" b="0" i="0" u="none" strike="noStrike" noProof="0">
                          <a:latin typeface="Calibri"/>
                        </a:rPr>
                        <a:t>/</a:t>
                      </a:r>
                      <a:r>
                        <a:rPr lang="en-US" sz="1200" b="0" i="0" u="none" strike="noStrike" noProof="0" err="1">
                          <a:latin typeface="Calibri"/>
                        </a:rPr>
                        <a:t>src</a:t>
                      </a:r>
                      <a:r>
                        <a:rPr lang="en-US" sz="1200" b="0" i="0" u="none" strike="noStrike" noProof="0">
                          <a:latin typeface="Calibri"/>
                        </a:rPr>
                        <a:t>/</a:t>
                      </a:r>
                      <a:r>
                        <a:rPr lang="en-US" sz="1200" b="0" i="0" u="none" strike="noStrike" noProof="0" err="1">
                          <a:latin typeface="Calibri"/>
                        </a:rPr>
                        <a:t>sarah</a:t>
                      </a:r>
                      <a:r>
                        <a:rPr lang="en-US" sz="1200" b="0" i="0" u="none" strike="noStrike" noProof="0">
                          <a:latin typeface="Calibri"/>
                        </a:rPr>
                        <a:t>/</a:t>
                      </a:r>
                      <a:r>
                        <a:rPr lang="en-US" sz="1200" b="0" i="0" u="none" strike="noStrike" noProof="0" err="1">
                          <a:latin typeface="Calibri"/>
                        </a:rPr>
                        <a:t>data_profiling</a:t>
                      </a:r>
                      <a:r>
                        <a:rPr lang="en-US" sz="1200" b="0" i="0" u="none" strike="noStrike" noProof="0">
                          <a:latin typeface="Calibri"/>
                        </a:rPr>
                        <a:t>/richmond_prof.csv</a:t>
                      </a:r>
                    </a:p>
                    <a:p>
                      <a:pPr lvl="0">
                        <a:buNone/>
                      </a:pPr>
                      <a:endParaRPr lang="en-US" sz="1200"/>
                    </a:p>
                  </a:txBody>
                  <a:tcPr/>
                </a:tc>
                <a:tc>
                  <a:txBody>
                    <a:bodyPr/>
                    <a:lstStyle/>
                    <a:p>
                      <a:pPr lvl="0">
                        <a:buNone/>
                      </a:pPr>
                      <a:r>
                        <a:rPr lang="en-US" sz="1200" b="0" i="0" u="none" strike="noStrike" noProof="0"/>
                        <a:t>Output: </a:t>
                      </a:r>
                      <a:r>
                        <a:rPr lang="en-US" sz="1200" b="0" i="0" u="none" strike="noStrike" noProof="0" err="1"/>
                        <a:t>richmond_prof</a:t>
                      </a:r>
                      <a:r>
                        <a:rPr lang="en-US" sz="1200" b="0" i="0" u="none" strike="noStrike" noProof="0"/>
                        <a:t>. csv (the third listed) contains r_skill_prof.csv and r_job_prof.csv</a:t>
                      </a:r>
                    </a:p>
                  </a:txBody>
                  <a:tcPr/>
                </a:tc>
                <a:extLst>
                  <a:ext uri="{0D108BD9-81ED-4DB2-BD59-A6C34878D82A}">
                    <a16:rowId xmlns:a16="http://schemas.microsoft.com/office/drawing/2014/main" val="234817538"/>
                  </a:ext>
                </a:extLst>
              </a:tr>
            </a:tbl>
          </a:graphicData>
        </a:graphic>
      </p:graphicFrame>
      <p:sp>
        <p:nvSpPr>
          <p:cNvPr id="2" name="TextBox 1">
            <a:extLst>
              <a:ext uri="{FF2B5EF4-FFF2-40B4-BE49-F238E27FC236}">
                <a16:creationId xmlns:a16="http://schemas.microsoft.com/office/drawing/2014/main" id="{3C98E5C0-3E28-D845-81F1-91EDE7034F02}"/>
              </a:ext>
            </a:extLst>
          </p:cNvPr>
          <p:cNvSpPr txBox="1"/>
          <p:nvPr/>
        </p:nvSpPr>
        <p:spPr>
          <a:xfrm>
            <a:off x="346213" y="278296"/>
            <a:ext cx="11499574" cy="369332"/>
          </a:xfrm>
          <a:prstGeom prst="rect">
            <a:avLst/>
          </a:prstGeom>
          <a:noFill/>
        </p:spPr>
        <p:txBody>
          <a:bodyPr wrap="square" rtlCol="0" anchor="t">
            <a:spAutoFit/>
          </a:bodyPr>
          <a:lstStyle/>
          <a:p>
            <a:r>
              <a:rPr lang="en-US" b="1" dirty="0"/>
              <a:t>1. Import and profile job ad data (cont'd)</a:t>
            </a:r>
          </a:p>
        </p:txBody>
      </p:sp>
    </p:spTree>
    <p:extLst>
      <p:ext uri="{BB962C8B-B14F-4D97-AF65-F5344CB8AC3E}">
        <p14:creationId xmlns:p14="http://schemas.microsoft.com/office/powerpoint/2010/main" val="2709149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4DA44824-2CE5-A54D-81F3-0DFA95FADD62}"/>
              </a:ext>
            </a:extLst>
          </p:cNvPr>
          <p:cNvGraphicFramePr>
            <a:graphicFrameLocks noGrp="1"/>
          </p:cNvGraphicFramePr>
          <p:nvPr>
            <p:ph sz="half" idx="2"/>
            <p:extLst>
              <p:ext uri="{D42A27DB-BD31-4B8C-83A1-F6EECF244321}">
                <p14:modId xmlns:p14="http://schemas.microsoft.com/office/powerpoint/2010/main" val="2293621668"/>
              </p:ext>
            </p:extLst>
          </p:nvPr>
        </p:nvGraphicFramePr>
        <p:xfrm>
          <a:off x="0" y="914400"/>
          <a:ext cx="12192000" cy="6856087"/>
        </p:xfrm>
        <a:graphic>
          <a:graphicData uri="http://schemas.openxmlformats.org/drawingml/2006/table">
            <a:tbl>
              <a:tblPr firstRow="1" bandRow="1">
                <a:tableStyleId>{21E4AEA4-8DFA-4A89-87EB-49C32662AFE0}</a:tableStyleId>
              </a:tblPr>
              <a:tblGrid>
                <a:gridCol w="1743843">
                  <a:extLst>
                    <a:ext uri="{9D8B030D-6E8A-4147-A177-3AD203B41FA5}">
                      <a16:colId xmlns:a16="http://schemas.microsoft.com/office/drawing/2014/main" val="1352491661"/>
                    </a:ext>
                  </a:extLst>
                </a:gridCol>
                <a:gridCol w="3076635">
                  <a:extLst>
                    <a:ext uri="{9D8B030D-6E8A-4147-A177-3AD203B41FA5}">
                      <a16:colId xmlns:a16="http://schemas.microsoft.com/office/drawing/2014/main" val="3130510922"/>
                    </a:ext>
                  </a:extLst>
                </a:gridCol>
                <a:gridCol w="834357">
                  <a:extLst>
                    <a:ext uri="{9D8B030D-6E8A-4147-A177-3AD203B41FA5}">
                      <a16:colId xmlns:a16="http://schemas.microsoft.com/office/drawing/2014/main" val="1636284579"/>
                    </a:ext>
                  </a:extLst>
                </a:gridCol>
                <a:gridCol w="2145611">
                  <a:extLst>
                    <a:ext uri="{9D8B030D-6E8A-4147-A177-3AD203B41FA5}">
                      <a16:colId xmlns:a16="http://schemas.microsoft.com/office/drawing/2014/main" val="2195260392"/>
                    </a:ext>
                  </a:extLst>
                </a:gridCol>
                <a:gridCol w="2195777">
                  <a:extLst>
                    <a:ext uri="{9D8B030D-6E8A-4147-A177-3AD203B41FA5}">
                      <a16:colId xmlns:a16="http://schemas.microsoft.com/office/drawing/2014/main" val="3536091448"/>
                    </a:ext>
                  </a:extLst>
                </a:gridCol>
                <a:gridCol w="2195777">
                  <a:extLst>
                    <a:ext uri="{9D8B030D-6E8A-4147-A177-3AD203B41FA5}">
                      <a16:colId xmlns:a16="http://schemas.microsoft.com/office/drawing/2014/main" val="4195063144"/>
                    </a:ext>
                  </a:extLst>
                </a:gridCol>
              </a:tblGrid>
              <a:tr h="278430">
                <a:tc>
                  <a:txBody>
                    <a:bodyPr/>
                    <a:lstStyle/>
                    <a:p>
                      <a:r>
                        <a:rPr lang="en-US" sz="1400"/>
                        <a:t>Goal</a:t>
                      </a:r>
                    </a:p>
                  </a:txBody>
                  <a:tcPr/>
                </a:tc>
                <a:tc>
                  <a:txBody>
                    <a:bodyPr/>
                    <a:lstStyle/>
                    <a:p>
                      <a:r>
                        <a:rPr lang="en-US" sz="1400"/>
                        <a:t>Input</a:t>
                      </a:r>
                    </a:p>
                  </a:txBody>
                  <a:tcPr/>
                </a:tc>
                <a:tc>
                  <a:txBody>
                    <a:bodyPr/>
                    <a:lstStyle/>
                    <a:p>
                      <a:r>
                        <a:rPr lang="en-US" sz="1400"/>
                        <a:t>Run Order</a:t>
                      </a:r>
                    </a:p>
                  </a:txBody>
                  <a:tcPr/>
                </a:tc>
                <a:tc>
                  <a:txBody>
                    <a:bodyPr/>
                    <a:lstStyle/>
                    <a:p>
                      <a:r>
                        <a:rPr lang="en-US" sz="1400"/>
                        <a:t>Script</a:t>
                      </a:r>
                    </a:p>
                  </a:txBody>
                  <a:tcPr/>
                </a:tc>
                <a:tc>
                  <a:txBody>
                    <a:bodyPr/>
                    <a:lstStyle/>
                    <a:p>
                      <a:r>
                        <a:rPr lang="en-US" sz="1400"/>
                        <a:t>Output</a:t>
                      </a:r>
                    </a:p>
                  </a:txBody>
                  <a:tcPr/>
                </a:tc>
                <a:tc>
                  <a:txBody>
                    <a:bodyPr/>
                    <a:lstStyle/>
                    <a:p>
                      <a:r>
                        <a:rPr lang="en-US" sz="1400"/>
                        <a:t>Notes</a:t>
                      </a:r>
                    </a:p>
                  </a:txBody>
                  <a:tcPr/>
                </a:tc>
                <a:extLst>
                  <a:ext uri="{0D108BD9-81ED-4DB2-BD59-A6C34878D82A}">
                    <a16:rowId xmlns:a16="http://schemas.microsoft.com/office/drawing/2014/main" val="744206176"/>
                  </a:ext>
                </a:extLst>
              </a:tr>
              <a:tr h="1230439">
                <a:tc>
                  <a:txBody>
                    <a:bodyPr/>
                    <a:lstStyle/>
                    <a:p>
                      <a:r>
                        <a:rPr lang="en-US" sz="1200"/>
                        <a:t>Apply Rothwell's definition to ONET data to determine which occupations should count as STW</a:t>
                      </a:r>
                    </a:p>
                  </a:txBody>
                  <a:tcPr/>
                </a:tc>
                <a:tc>
                  <a:txBody>
                    <a:bodyPr/>
                    <a:lstStyle/>
                    <a:p>
                      <a:pPr lvl="0">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/original/</a:t>
                      </a:r>
                      <a:r>
                        <a:rPr lang="en-US" sz="1200" b="0" i="0" u="none" strike="noStrike" noProof="0" err="1">
                          <a:latin typeface="Calibri"/>
                        </a:rPr>
                        <a:t>ONET_survey</a:t>
                      </a:r>
                      <a:r>
                        <a:rPr lang="en-US" sz="1200" b="0" i="0" u="none" strike="noStrike" noProof="0">
                          <a:latin typeface="Calibri"/>
                        </a:rPr>
                        <a:t>/Knowledge.xlsx</a:t>
                      </a:r>
                    </a:p>
                    <a:p>
                      <a:pPr lvl="0">
                        <a:buNone/>
                      </a:pPr>
                      <a:r>
                        <a:rPr lang="en-US" sz="1200" b="0" i="0" u="none" strike="noStrike" noProof="0"/>
                        <a:t>data/</a:t>
                      </a:r>
                      <a:r>
                        <a:rPr lang="en-US" sz="1200" b="0" i="0" u="none" strike="noStrike" noProof="0" err="1"/>
                        <a:t>stem_edu</a:t>
                      </a:r>
                      <a:r>
                        <a:rPr lang="en-US" sz="1200" b="0" i="0" u="none" strike="noStrike" noProof="0"/>
                        <a:t>/original/</a:t>
                      </a:r>
                      <a:r>
                        <a:rPr lang="en-US" sz="1200" b="0" i="0" u="none" strike="noStrike" noProof="0" err="1"/>
                        <a:t>ONET_survey</a:t>
                      </a:r>
                      <a:r>
                        <a:rPr lang="en-US" sz="1200" b="0" i="0" u="none" strike="noStrike" noProof="0"/>
                        <a:t>/Education, Training, and Experience.xlsx</a:t>
                      </a:r>
                    </a:p>
                    <a:p>
                      <a:pPr lvl="0">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/original/</a:t>
                      </a:r>
                      <a:r>
                        <a:rPr lang="en-US" sz="1200" b="0" i="0" u="none" strike="noStrike" noProof="0" err="1">
                          <a:latin typeface="Calibri"/>
                        </a:rPr>
                        <a:t>ONET_survey</a:t>
                      </a:r>
                      <a:r>
                        <a:rPr lang="en-US" sz="1200" b="0" i="0" u="none" strike="noStrike" noProof="0">
                          <a:latin typeface="Calibri"/>
                        </a:rPr>
                        <a:t>/Occupation Data.xlsx</a:t>
                      </a:r>
                    </a:p>
                    <a:p>
                      <a:pPr lvl="0">
                        <a:buNone/>
                      </a:pPr>
                      <a:r>
                        <a:rPr lang="en-US" sz="1200" b="0" i="0" u="none" strike="noStrike" noProof="0"/>
                        <a:t>data/</a:t>
                      </a:r>
                      <a:r>
                        <a:rPr lang="en-US" sz="1200" b="0" i="0" u="none" strike="noStrike" noProof="0" err="1"/>
                        <a:t>stem_edu</a:t>
                      </a:r>
                      <a:r>
                        <a:rPr lang="en-US" sz="1200" b="0" i="0" u="none" strike="noStrike" noProof="0"/>
                        <a:t>/original/</a:t>
                      </a:r>
                      <a:r>
                        <a:rPr lang="en-US" sz="1200" b="0" i="0" u="none" strike="noStrike" noProof="0" err="1"/>
                        <a:t>ONET_survey</a:t>
                      </a:r>
                      <a:r>
                        <a:rPr lang="en-US" sz="1200" b="0" i="0" u="none" strike="noStrike" noProof="0"/>
                        <a:t>/Education, Training, and Experience Categories.xlsx</a:t>
                      </a:r>
                      <a:endParaRPr lang="en-US"/>
                    </a:p>
                  </a:txBody>
                  <a:tcPr/>
                </a:tc>
                <a:tc>
                  <a:txBody>
                    <a:bodyPr/>
                    <a:lstStyle/>
                    <a:p>
                      <a:r>
                        <a:rPr lang="en-US" sz="1200"/>
                        <a:t>1</a:t>
                      </a:r>
                    </a:p>
                  </a:txBody>
                  <a:tcPr/>
                </a:tc>
                <a:tc>
                  <a:txBody>
                    <a:bodyPr/>
                    <a:lstStyle/>
                    <a:p>
                      <a:r>
                        <a:rPr lang="en-US" sz="1200" err="1"/>
                        <a:t>src</a:t>
                      </a:r>
                      <a:r>
                        <a:rPr lang="en-US" sz="1200"/>
                        <a:t>/</a:t>
                      </a:r>
                      <a:r>
                        <a:rPr lang="en-US" sz="1200" err="1"/>
                        <a:t>ONET_define</a:t>
                      </a:r>
                      <a:r>
                        <a:rPr lang="en-US" sz="1200"/>
                        <a:t>/</a:t>
                      </a:r>
                      <a:r>
                        <a:rPr lang="en-US" sz="1200" err="1"/>
                        <a:t>defineCodeRothwell.R</a:t>
                      </a:r>
                    </a:p>
                  </a:txBody>
                  <a:tcPr/>
                </a:tc>
                <a:tc>
                  <a:txBody>
                    <a:bodyPr/>
                    <a:lstStyle/>
                    <a:p>
                      <a:pPr lvl="0">
                        <a:buNone/>
                      </a:pPr>
                      <a:r>
                        <a:rPr lang="en-US" sz="1200" b="0" i="0" u="none" strike="noStrike" noProof="0">
                          <a:latin typeface="Calibri"/>
                        </a:rPr>
                        <a:t>List of STW occupations with % of different education levels from O*NET:  </a:t>
                      </a:r>
                      <a:endParaRPr lang="en-US"/>
                    </a:p>
                    <a:p>
                      <a:pPr lvl="0">
                        <a:buNone/>
                      </a:pPr>
                      <a:r>
                        <a:rPr lang="en-US" sz="1200" b="0" i="0" u="none" strike="noStrike" noProof="0" err="1">
                          <a:latin typeface="Calibri"/>
                        </a:rPr>
                        <a:t>src</a:t>
                      </a:r>
                      <a:r>
                        <a:rPr lang="en-US" sz="1200" b="0" i="0" u="none" strike="noStrike" noProof="0">
                          <a:latin typeface="Calibri"/>
                        </a:rPr>
                        <a:t>/</a:t>
                      </a:r>
                      <a:r>
                        <a:rPr lang="en-US" sz="1200" b="0" i="0" u="none" strike="noStrike" noProof="0" err="1">
                          <a:latin typeface="Calibri"/>
                        </a:rPr>
                        <a:t>ONET_define</a:t>
                      </a:r>
                      <a:r>
                        <a:rPr lang="en-US" sz="1200" b="0" i="0" u="none" strike="noStrike" noProof="0">
                          <a:latin typeface="Calibri"/>
                        </a:rPr>
                        <a:t>/Rothwell_STW_list.csv</a:t>
                      </a:r>
                    </a:p>
                    <a:p>
                      <a:pPr lvl="0">
                        <a:buNone/>
                      </a:pPr>
                      <a:endParaRPr lang="en-US" sz="1200" b="0" i="0" u="none" strike="noStrike" noProof="0">
                        <a:latin typeface="Calibri"/>
                      </a:endParaRPr>
                    </a:p>
                    <a:p>
                      <a:pPr lvl="0">
                        <a:buNone/>
                      </a:pPr>
                      <a:r>
                        <a:rPr lang="en-US" sz="1200" b="0" i="0" u="none" strike="noStrike" noProof="0">
                          <a:latin typeface="Calibri"/>
                        </a:rPr>
                        <a:t>All skills associated with a Virginia STW:</a:t>
                      </a:r>
                    </a:p>
                    <a:p>
                      <a:pPr lvl="0">
                        <a:buNone/>
                      </a:pPr>
                      <a:r>
                        <a:rPr lang="en-US" sz="1200" b="0" i="0" u="none" strike="noStrike" noProof="0" err="1"/>
                        <a:t>src</a:t>
                      </a:r>
                      <a:r>
                        <a:rPr lang="en-US" sz="1200" b="0" i="0" u="none" strike="noStrike" noProof="0"/>
                        <a:t>/</a:t>
                      </a:r>
                      <a:r>
                        <a:rPr lang="en-US" sz="1200" b="0" i="0" u="none" strike="noStrike" noProof="0" err="1"/>
                        <a:t>ONET_define</a:t>
                      </a:r>
                      <a:r>
                        <a:rPr lang="en-US" sz="1200" b="0" i="0" u="none" strike="noStrike" noProof="0"/>
                        <a:t>/v_stw_skills.csv</a:t>
                      </a:r>
                      <a:endParaRPr lang="en-US"/>
                    </a:p>
                  </a:txBody>
                  <a:tcPr/>
                </a:tc>
                <a:tc>
                  <a:txBody>
                    <a:bodyPr/>
                    <a:lstStyle/>
                    <a:p>
                      <a:r>
                        <a:rPr lang="en-US" sz="1200"/>
                        <a:t>Lots of side diversions into exploratory analysis and sanity-checking—pretty well commented, but this script takes some twists and turns.</a:t>
                      </a:r>
                    </a:p>
                  </a:txBody>
                  <a:tcPr/>
                </a:tc>
                <a:extLst>
                  <a:ext uri="{0D108BD9-81ED-4DB2-BD59-A6C34878D82A}">
                    <a16:rowId xmlns:a16="http://schemas.microsoft.com/office/drawing/2014/main" val="4290437681"/>
                  </a:ext>
                </a:extLst>
              </a:tr>
              <a:tr h="1398226">
                <a:tc>
                  <a:txBody>
                    <a:bodyPr/>
                    <a:lstStyle/>
                    <a:p>
                      <a:r>
                        <a:rPr lang="en-US" sz="1200"/>
                        <a:t>Graphics of knowledge/education needed for STW used in midterm </a:t>
                      </a:r>
                    </a:p>
                  </a:txBody>
                  <a:tcPr/>
                </a:tc>
                <a:tc>
                  <a:txBody>
                    <a:bodyPr/>
                    <a:lstStyle/>
                    <a:p>
                      <a:pPr lvl="0">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/original/</a:t>
                      </a:r>
                      <a:r>
                        <a:rPr lang="en-US" sz="1200" b="0" i="0" u="none" strike="noStrike" noProof="0" err="1">
                          <a:latin typeface="Calibri"/>
                        </a:rPr>
                        <a:t>ONET_survey</a:t>
                      </a:r>
                      <a:r>
                        <a:rPr lang="en-US" sz="1200" b="0" i="0" u="none" strike="noStrike" noProof="0">
                          <a:latin typeface="Calibri"/>
                        </a:rPr>
                        <a:t>/Knowledge.xlsx</a:t>
                      </a:r>
                    </a:p>
                    <a:p>
                      <a:pPr lvl="0">
                        <a:buNone/>
                      </a:pPr>
                      <a:endParaRPr lang="en-US" sz="1200" b="0" i="0" u="none" strike="noStrike" noProof="0">
                        <a:latin typeface="Calibri"/>
                      </a:endParaRPr>
                    </a:p>
                    <a:p>
                      <a:pPr lvl="0">
                        <a:buNone/>
                      </a:pPr>
                      <a:r>
                        <a:rPr lang="en-US" sz="1200" b="0" i="0" u="none" strike="noStrike" noProof="0"/>
                        <a:t>data/</a:t>
                      </a:r>
                      <a:r>
                        <a:rPr lang="en-US" sz="1200" b="0" i="0" u="none" strike="noStrike" noProof="0" err="1"/>
                        <a:t>stem_edu</a:t>
                      </a:r>
                      <a:r>
                        <a:rPr lang="en-US" sz="1200" b="0" i="0" u="none" strike="noStrike" noProof="0"/>
                        <a:t>/original/</a:t>
                      </a:r>
                      <a:r>
                        <a:rPr lang="en-US" sz="1200" b="0" i="0" u="none" strike="noStrike" noProof="0" err="1"/>
                        <a:t>ONET_survey</a:t>
                      </a:r>
                      <a:r>
                        <a:rPr lang="en-US" sz="1200" b="0" i="0" u="none" strike="noStrike" noProof="0"/>
                        <a:t>/Education, Training, and Experience.xlsx</a:t>
                      </a:r>
                      <a:endParaRPr lang="en-US"/>
                    </a:p>
                  </a:txBody>
                  <a:tcPr/>
                </a:tc>
                <a:tc>
                  <a:txBody>
                    <a:bodyPr/>
                    <a:lstStyle/>
                    <a:p>
                      <a:r>
                        <a:rPr lang="en-US" sz="1200"/>
                        <a:t>2</a:t>
                      </a:r>
                    </a:p>
                  </a:txBody>
                  <a:tcPr/>
                </a:tc>
                <a:tc>
                  <a:txBody>
                    <a:bodyPr/>
                    <a:lstStyle/>
                    <a:p>
                      <a:r>
                        <a:rPr lang="en-US" sz="1200" err="1"/>
                        <a:t>src</a:t>
                      </a:r>
                      <a:r>
                        <a:rPr lang="en-US" sz="1200"/>
                        <a:t>/</a:t>
                      </a:r>
                      <a:r>
                        <a:rPr lang="en-US" sz="1200" err="1"/>
                        <a:t>ONET_define</a:t>
                      </a:r>
                      <a:r>
                        <a:rPr lang="en-US" sz="1200"/>
                        <a:t>/</a:t>
                      </a:r>
                      <a:r>
                        <a:rPr lang="en-US" sz="1200" err="1"/>
                        <a:t>midterm_graphics_code.R</a:t>
                      </a:r>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2433231062"/>
                  </a:ext>
                </a:extLst>
              </a:tr>
              <a:tr h="1398226">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p>
                      <a:endParaRPr lang="en-US" sz="1200"/>
                    </a:p>
                  </a:txBody>
                  <a:tcPr/>
                </a:tc>
                <a:tc>
                  <a:txBody>
                    <a:bodyPr/>
                    <a:lstStyle/>
                    <a:p>
                      <a:endParaRPr lang="en-US" sz="1200"/>
                    </a:p>
                  </a:txBody>
                  <a:tcPr/>
                </a:tc>
                <a:extLst>
                  <a:ext uri="{0D108BD9-81ED-4DB2-BD59-A6C34878D82A}">
                    <a16:rowId xmlns:a16="http://schemas.microsoft.com/office/drawing/2014/main" val="2754239605"/>
                  </a:ext>
                </a:extLst>
              </a:tr>
              <a:tr h="1621235">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320507716"/>
                  </a:ext>
                </a:extLst>
              </a:tr>
            </a:tbl>
          </a:graphicData>
        </a:graphic>
      </p:graphicFrame>
      <p:sp>
        <p:nvSpPr>
          <p:cNvPr id="2" name="TextBox 1">
            <a:extLst>
              <a:ext uri="{FF2B5EF4-FFF2-40B4-BE49-F238E27FC236}">
                <a16:creationId xmlns:a16="http://schemas.microsoft.com/office/drawing/2014/main" id="{3C98E5C0-3E28-D845-81F1-91EDE7034F02}"/>
              </a:ext>
            </a:extLst>
          </p:cNvPr>
          <p:cNvSpPr txBox="1"/>
          <p:nvPr/>
        </p:nvSpPr>
        <p:spPr>
          <a:xfrm>
            <a:off x="346213" y="278296"/>
            <a:ext cx="11499574" cy="369332"/>
          </a:xfrm>
          <a:prstGeom prst="rect">
            <a:avLst/>
          </a:prstGeom>
          <a:noFill/>
        </p:spPr>
        <p:txBody>
          <a:bodyPr wrap="square" rtlCol="0" anchor="t">
            <a:spAutoFit/>
          </a:bodyPr>
          <a:lstStyle/>
          <a:p>
            <a:r>
              <a:rPr lang="en-US" b="1" dirty="0"/>
              <a:t>2. Determine which jobs are in the STW</a:t>
            </a:r>
          </a:p>
        </p:txBody>
      </p:sp>
    </p:spTree>
    <p:extLst>
      <p:ext uri="{BB962C8B-B14F-4D97-AF65-F5344CB8AC3E}">
        <p14:creationId xmlns:p14="http://schemas.microsoft.com/office/powerpoint/2010/main" val="4073411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4DA44824-2CE5-A54D-81F3-0DFA95FADD62}"/>
              </a:ext>
            </a:extLst>
          </p:cNvPr>
          <p:cNvGraphicFramePr>
            <a:graphicFrameLocks noGrp="1"/>
          </p:cNvGraphicFramePr>
          <p:nvPr>
            <p:ph sz="half" idx="2"/>
            <p:extLst>
              <p:ext uri="{D42A27DB-BD31-4B8C-83A1-F6EECF244321}">
                <p14:modId xmlns:p14="http://schemas.microsoft.com/office/powerpoint/2010/main" val="4175505594"/>
              </p:ext>
            </p:extLst>
          </p:nvPr>
        </p:nvGraphicFramePr>
        <p:xfrm>
          <a:off x="0" y="914400"/>
          <a:ext cx="12192000" cy="7101840"/>
        </p:xfrm>
        <a:graphic>
          <a:graphicData uri="http://schemas.openxmlformats.org/drawingml/2006/table">
            <a:tbl>
              <a:tblPr firstRow="1" bandRow="1">
                <a:tableStyleId>{21E4AEA4-8DFA-4A89-87EB-49C32662AFE0}</a:tableStyleId>
              </a:tblPr>
              <a:tblGrid>
                <a:gridCol w="1743843">
                  <a:extLst>
                    <a:ext uri="{9D8B030D-6E8A-4147-A177-3AD203B41FA5}">
                      <a16:colId xmlns:a16="http://schemas.microsoft.com/office/drawing/2014/main" val="1352491661"/>
                    </a:ext>
                  </a:extLst>
                </a:gridCol>
                <a:gridCol w="3076635">
                  <a:extLst>
                    <a:ext uri="{9D8B030D-6E8A-4147-A177-3AD203B41FA5}">
                      <a16:colId xmlns:a16="http://schemas.microsoft.com/office/drawing/2014/main" val="3130510922"/>
                    </a:ext>
                  </a:extLst>
                </a:gridCol>
                <a:gridCol w="834357">
                  <a:extLst>
                    <a:ext uri="{9D8B030D-6E8A-4147-A177-3AD203B41FA5}">
                      <a16:colId xmlns:a16="http://schemas.microsoft.com/office/drawing/2014/main" val="1636284579"/>
                    </a:ext>
                  </a:extLst>
                </a:gridCol>
                <a:gridCol w="2145611">
                  <a:extLst>
                    <a:ext uri="{9D8B030D-6E8A-4147-A177-3AD203B41FA5}">
                      <a16:colId xmlns:a16="http://schemas.microsoft.com/office/drawing/2014/main" val="2195260392"/>
                    </a:ext>
                  </a:extLst>
                </a:gridCol>
                <a:gridCol w="2195777">
                  <a:extLst>
                    <a:ext uri="{9D8B030D-6E8A-4147-A177-3AD203B41FA5}">
                      <a16:colId xmlns:a16="http://schemas.microsoft.com/office/drawing/2014/main" val="3536091448"/>
                    </a:ext>
                  </a:extLst>
                </a:gridCol>
                <a:gridCol w="2195777">
                  <a:extLst>
                    <a:ext uri="{9D8B030D-6E8A-4147-A177-3AD203B41FA5}">
                      <a16:colId xmlns:a16="http://schemas.microsoft.com/office/drawing/2014/main" val="4195063144"/>
                    </a:ext>
                  </a:extLst>
                </a:gridCol>
              </a:tblGrid>
              <a:tr h="278430">
                <a:tc>
                  <a:txBody>
                    <a:bodyPr/>
                    <a:lstStyle/>
                    <a:p>
                      <a:r>
                        <a:rPr lang="en-US" sz="1400"/>
                        <a:t>Goal</a:t>
                      </a:r>
                    </a:p>
                  </a:txBody>
                  <a:tcPr/>
                </a:tc>
                <a:tc>
                  <a:txBody>
                    <a:bodyPr/>
                    <a:lstStyle/>
                    <a:p>
                      <a:r>
                        <a:rPr lang="en-US" sz="1400"/>
                        <a:t>Input</a:t>
                      </a:r>
                    </a:p>
                  </a:txBody>
                  <a:tcPr/>
                </a:tc>
                <a:tc>
                  <a:txBody>
                    <a:bodyPr/>
                    <a:lstStyle/>
                    <a:p>
                      <a:r>
                        <a:rPr lang="en-US" sz="1400"/>
                        <a:t>Run Order</a:t>
                      </a:r>
                    </a:p>
                  </a:txBody>
                  <a:tcPr/>
                </a:tc>
                <a:tc>
                  <a:txBody>
                    <a:bodyPr/>
                    <a:lstStyle/>
                    <a:p>
                      <a:r>
                        <a:rPr lang="en-US" sz="1400"/>
                        <a:t>Script</a:t>
                      </a:r>
                    </a:p>
                  </a:txBody>
                  <a:tcPr/>
                </a:tc>
                <a:tc>
                  <a:txBody>
                    <a:bodyPr/>
                    <a:lstStyle/>
                    <a:p>
                      <a:r>
                        <a:rPr lang="en-US" sz="1400"/>
                        <a:t>Output</a:t>
                      </a:r>
                    </a:p>
                  </a:txBody>
                  <a:tcPr/>
                </a:tc>
                <a:tc>
                  <a:txBody>
                    <a:bodyPr/>
                    <a:lstStyle/>
                    <a:p>
                      <a:r>
                        <a:rPr lang="en-US" sz="1400"/>
                        <a:t>Notes</a:t>
                      </a:r>
                    </a:p>
                  </a:txBody>
                  <a:tcPr/>
                </a:tc>
                <a:extLst>
                  <a:ext uri="{0D108BD9-81ED-4DB2-BD59-A6C34878D82A}">
                    <a16:rowId xmlns:a16="http://schemas.microsoft.com/office/drawing/2014/main" val="744206176"/>
                  </a:ext>
                </a:extLst>
              </a:tr>
              <a:tr h="1230439">
                <a:tc>
                  <a:txBody>
                    <a:bodyPr/>
                    <a:lstStyle/>
                    <a:p>
                      <a:r>
                        <a:rPr lang="en-US" sz="1200"/>
                        <a:t>Initial rough definitions of hard and soft (when it was just Alyssa doing the classifications, in just the 2017 data)</a:t>
                      </a:r>
                    </a:p>
                  </a:txBody>
                  <a:tcPr/>
                </a:tc>
                <a:tc>
                  <a:txBody>
                    <a:bodyPr/>
                    <a:lstStyle/>
                    <a:p>
                      <a:r>
                        <a:rPr lang="en-US" sz="1200"/>
                        <a:t>List of STW jobs: </a:t>
                      </a:r>
                      <a:r>
                        <a:rPr lang="en-US" sz="1200" err="1"/>
                        <a:t>src</a:t>
                      </a:r>
                      <a:r>
                        <a:rPr lang="en-US" sz="1200"/>
                        <a:t>/</a:t>
                      </a:r>
                      <a:r>
                        <a:rPr lang="en-US" sz="1200" err="1"/>
                        <a:t>ONET_define</a:t>
                      </a:r>
                      <a:r>
                        <a:rPr lang="en-US" sz="1200"/>
                        <a:t>/Rothwell_STW_list.csv</a:t>
                      </a:r>
                    </a:p>
                    <a:p>
                      <a:pPr lvl="0">
                        <a:buNone/>
                      </a:pPr>
                      <a:r>
                        <a:rPr lang="en-US" sz="1200"/>
                        <a:t>2017 job ads and skills: data/</a:t>
                      </a:r>
                      <a:r>
                        <a:rPr lang="en-US" sz="1200" err="1"/>
                        <a:t>stem_edu</a:t>
                      </a:r>
                      <a:r>
                        <a:rPr lang="en-US" sz="1200"/>
                        <a:t>/working/</a:t>
                      </a:r>
                      <a:r>
                        <a:rPr lang="en-US" sz="1200" err="1"/>
                        <a:t>burning_glass</a:t>
                      </a:r>
                      <a:r>
                        <a:rPr lang="en-US" sz="1200"/>
                        <a:t>/ads_main_2017_51.RDS</a:t>
                      </a:r>
                    </a:p>
                    <a:p>
                      <a:pPr lvl="0">
                        <a:buNone/>
                      </a:pPr>
                      <a:r>
                        <a:rPr lang="en-US" sz="1200"/>
                        <a:t>data/</a:t>
                      </a:r>
                      <a:r>
                        <a:rPr lang="en-US" sz="1200" err="1"/>
                        <a:t>stem_edu</a:t>
                      </a:r>
                      <a:r>
                        <a:rPr lang="en-US" sz="1200"/>
                        <a:t>/working/</a:t>
                      </a:r>
                      <a:r>
                        <a:rPr lang="en-US" sz="1200" err="1"/>
                        <a:t>burning_glass</a:t>
                      </a:r>
                      <a:r>
                        <a:rPr lang="en-US" sz="1200"/>
                        <a:t>/ads_skills_2017_51.RDS</a:t>
                      </a:r>
                    </a:p>
                    <a:p>
                      <a:pPr lvl="0">
                        <a:buNone/>
                      </a:pPr>
                      <a:endParaRPr lang="en-US" sz="1200"/>
                    </a:p>
                    <a:p>
                      <a:pPr lvl="0">
                        <a:buNone/>
                      </a:pPr>
                      <a:r>
                        <a:rPr lang="en-US" sz="1200"/>
                        <a:t>Initial classification of skill cluster families (based on a file that is generated in the script and then exported for manual classification): </a:t>
                      </a: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a:t>
                      </a:r>
                      <a:r>
                        <a:rPr lang="en-US" sz="1200" b="0" i="0" u="none" strike="noStrike" noProof="0" err="1">
                          <a:latin typeface="Calibri"/>
                        </a:rPr>
                        <a:t>hard_soft_skills</a:t>
                      </a:r>
                      <a:r>
                        <a:rPr lang="en-US" sz="1200" b="0" i="0" u="none" strike="noStrike" noProof="0">
                          <a:latin typeface="Calibri"/>
                        </a:rPr>
                        <a:t>/</a:t>
                      </a:r>
                      <a:r>
                        <a:rPr lang="en-US" sz="1200" b="0" i="0" u="none" strike="noStrike" noProof="0" err="1">
                          <a:latin typeface="Calibri"/>
                        </a:rPr>
                        <a:t>for_validation</a:t>
                      </a:r>
                      <a:r>
                        <a:rPr lang="en-US" sz="1200" b="0" i="0" u="none" strike="noStrike" noProof="0">
                          <a:latin typeface="Calibri"/>
                        </a:rPr>
                        <a:t>/skillclusterfamily_classified_alyssa.csv</a:t>
                      </a:r>
                    </a:p>
                    <a:p>
                      <a:pPr lvl="0">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a:t>
                      </a:r>
                      <a:r>
                        <a:rPr lang="en-US" sz="1200" b="0" i="0" u="none" strike="noStrike" noProof="0" err="1">
                          <a:latin typeface="Calibri"/>
                        </a:rPr>
                        <a:t>hard_soft_skills</a:t>
                      </a:r>
                      <a:r>
                        <a:rPr lang="en-US" sz="1200" b="0" i="0" u="none" strike="noStrike" noProof="0">
                          <a:latin typeface="Calibri"/>
                        </a:rPr>
                        <a:t>/</a:t>
                      </a:r>
                      <a:r>
                        <a:rPr lang="en-US" sz="1200" b="0" i="0" u="none" strike="noStrike" noProof="0" err="1">
                          <a:latin typeface="Calibri"/>
                        </a:rPr>
                        <a:t>for_validation</a:t>
                      </a:r>
                      <a:r>
                        <a:rPr lang="en-US" sz="1200" b="0" i="0" u="none" strike="noStrike" noProof="0">
                          <a:latin typeface="Calibri"/>
                        </a:rPr>
                        <a:t>/</a:t>
                      </a:r>
                      <a:r>
                        <a:rPr lang="en-US" sz="1200" b="0" i="0" u="none" strike="noStrike" noProof="0"/>
                        <a:t>skillcluster_classified_together.csv</a:t>
                      </a:r>
                      <a:endParaRPr lang="en-US"/>
                    </a:p>
                  </a:txBody>
                  <a:tcPr/>
                </a:tc>
                <a:tc>
                  <a:txBody>
                    <a:bodyPr/>
                    <a:lstStyle/>
                    <a:p>
                      <a:r>
                        <a:rPr lang="en-US" sz="1200"/>
                        <a:t>1</a:t>
                      </a:r>
                    </a:p>
                  </a:txBody>
                  <a:tcPr/>
                </a:tc>
                <a:tc>
                  <a:txBody>
                    <a:bodyPr/>
                    <a:lstStyle/>
                    <a:p>
                      <a:r>
                        <a:rPr lang="en-US" sz="1200" err="1"/>
                        <a:t>src</a:t>
                      </a:r>
                      <a:r>
                        <a:rPr lang="en-US" sz="1200"/>
                        <a:t>/</a:t>
                      </a:r>
                      <a:r>
                        <a:rPr lang="en-US" sz="1200" err="1"/>
                        <a:t>hard_soft_skills</a:t>
                      </a:r>
                      <a:r>
                        <a:rPr lang="en-US" sz="1200"/>
                        <a:t>/</a:t>
                      </a:r>
                      <a:r>
                        <a:rPr lang="en-US" sz="1200" err="1"/>
                        <a:t>define_hard_soft_initial.R</a:t>
                      </a:r>
                    </a:p>
                  </a:txBody>
                  <a:tcPr/>
                </a:tc>
                <a:tc>
                  <a:txBody>
                    <a:bodyPr/>
                    <a:lstStyle/>
                    <a:p>
                      <a:r>
                        <a:rPr lang="en-US" sz="1200"/>
                        <a:t>Initial skill cluster families for classification:</a:t>
                      </a:r>
                    </a:p>
                    <a:p>
                      <a:pPr lvl="0">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a:t>
                      </a:r>
                      <a:r>
                        <a:rPr lang="en-US" sz="1200" b="0" i="0" u="none" strike="noStrike" noProof="0" err="1">
                          <a:latin typeface="Calibri"/>
                        </a:rPr>
                        <a:t>hard_soft_skills</a:t>
                      </a:r>
                      <a:r>
                        <a:rPr lang="en-US" sz="1200" b="0" i="0" u="none" strike="noStrike" noProof="0">
                          <a:latin typeface="Calibri"/>
                        </a:rPr>
                        <a:t>/</a:t>
                      </a:r>
                      <a:r>
                        <a:rPr lang="en-US" sz="1200" b="0" i="0" u="none" strike="noStrike" noProof="0" err="1">
                          <a:latin typeface="Calibri"/>
                        </a:rPr>
                        <a:t>for_validation</a:t>
                      </a:r>
                      <a:r>
                        <a:rPr lang="en-US" sz="1200" b="0" i="0" u="none" strike="noStrike" noProof="0">
                          <a:latin typeface="Calibri"/>
                        </a:rPr>
                        <a:t>/</a:t>
                      </a:r>
                      <a:r>
                        <a:rPr lang="en-US" sz="1200" b="0" i="0" u="none" strike="noStrike" noProof="0"/>
                        <a:t>skillclusterfamily_for_validation.csv</a:t>
                      </a:r>
                    </a:p>
                    <a:p>
                      <a:pPr lvl="0">
                        <a:buNone/>
                      </a:pPr>
                      <a:endParaRPr lang="en-US" sz="1200" b="0" i="0" u="none" strike="noStrike" noProof="0"/>
                    </a:p>
                    <a:p>
                      <a:pPr lvl="0">
                        <a:buNone/>
                      </a:pPr>
                      <a:r>
                        <a:rPr lang="en-US" sz="1200" b="0" i="0" u="none" strike="noStrike" noProof="0"/>
                        <a:t>Potentially soft skill clusters to classify: </a:t>
                      </a: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a:t>
                      </a:r>
                      <a:r>
                        <a:rPr lang="en-US" sz="1200" b="0" i="0" u="none" strike="noStrike" noProof="0" err="1">
                          <a:latin typeface="Calibri"/>
                        </a:rPr>
                        <a:t>hard_soft_skills</a:t>
                      </a:r>
                      <a:r>
                        <a:rPr lang="en-US" sz="1200" b="0" i="0" u="none" strike="noStrike" noProof="0">
                          <a:latin typeface="Calibri"/>
                        </a:rPr>
                        <a:t>/</a:t>
                      </a:r>
                      <a:r>
                        <a:rPr lang="en-US" sz="1200" b="0" i="0" u="none" strike="noStrike" noProof="0" err="1">
                          <a:latin typeface="Calibri"/>
                        </a:rPr>
                        <a:t>for_validation</a:t>
                      </a:r>
                      <a:r>
                        <a:rPr lang="en-US" sz="1200" b="0" i="0" u="none" strike="noStrike" noProof="0">
                          <a:latin typeface="Calibri"/>
                        </a:rPr>
                        <a:t>/skillcluster_for_validation.csv</a:t>
                      </a:r>
                    </a:p>
                    <a:p>
                      <a:pPr lvl="0">
                        <a:buNone/>
                      </a:pPr>
                      <a:endParaRPr lang="en-US" sz="1200" b="0" i="0" u="none" strike="noStrike" noProof="0"/>
                    </a:p>
                    <a:p>
                      <a:pPr lvl="0">
                        <a:buNone/>
                      </a:pPr>
                      <a:endParaRPr lang="en-US" sz="1200" b="0" i="0" u="none" strike="noStrike" noProof="0"/>
                    </a:p>
                  </a:txBody>
                  <a:tcPr/>
                </a:tc>
                <a:tc>
                  <a:txBody>
                    <a:bodyPr/>
                    <a:lstStyle/>
                    <a:p>
                      <a:r>
                        <a:rPr lang="en-US" sz="1200"/>
                        <a:t>While going through this, I exported a skill cluster family file to work with/classify in Excel, and then re-uploaded that file back in with the classifications.</a:t>
                      </a:r>
                    </a:p>
                  </a:txBody>
                  <a:tcPr/>
                </a:tc>
                <a:extLst>
                  <a:ext uri="{0D108BD9-81ED-4DB2-BD59-A6C34878D82A}">
                    <a16:rowId xmlns:a16="http://schemas.microsoft.com/office/drawing/2014/main" val="4290437681"/>
                  </a:ext>
                </a:extLst>
              </a:tr>
              <a:tr h="1398226">
                <a:tc>
                  <a:txBody>
                    <a:bodyPr/>
                    <a:lstStyle/>
                    <a:p>
                      <a:r>
                        <a:rPr lang="en-US" sz="1200"/>
                        <a:t>Classifying hard and soft skills as a group, including both 2016 and 2017 data</a:t>
                      </a:r>
                    </a:p>
                  </a:txBody>
                  <a:tcPr/>
                </a:tc>
                <a:tc>
                  <a:txBody>
                    <a:bodyPr/>
                    <a:lstStyle/>
                    <a:p>
                      <a:r>
                        <a:rPr lang="en-US" sz="1200"/>
                        <a:t>Combined 2016/2017 job ads:</a:t>
                      </a:r>
                    </a:p>
                    <a:p>
                      <a:pPr lvl="0">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/working/burning_glass_ad_combine_16_17/combine_16_17_job_ad_main.csv</a:t>
                      </a:r>
                    </a:p>
                    <a:p>
                      <a:pPr lvl="0">
                        <a:buNone/>
                      </a:pPr>
                      <a:r>
                        <a:rPr lang="en-US" sz="1200" b="0" i="0" u="none" strike="noStrike" noProof="0"/>
                        <a:t>.../</a:t>
                      </a:r>
                      <a:r>
                        <a:rPr lang="en-US" sz="1200" b="0" i="0" u="none" strike="noStrike" noProof="0">
                          <a:latin typeface="Calibri"/>
                        </a:rPr>
                        <a:t>combine_16_17_job_ad_skill.csv</a:t>
                      </a:r>
                    </a:p>
                    <a:p>
                      <a:pPr lvl="0">
                        <a:buNone/>
                      </a:pPr>
                      <a:endParaRPr lang="en-US" sz="1200" b="0" i="0" u="none" strike="noStrike" noProof="0">
                        <a:latin typeface="Calibri"/>
                      </a:endParaRPr>
                    </a:p>
                    <a:p>
                      <a:pPr lvl="0">
                        <a:buNone/>
                      </a:pPr>
                      <a:r>
                        <a:rPr lang="en-US" sz="1200" b="0" i="0" u="none" strike="noStrike" noProof="0">
                          <a:latin typeface="Calibri"/>
                        </a:rPr>
                        <a:t>Several iterations of manual classifications (templates are exported as a part of the script and then read back in after we did the classification):</a:t>
                      </a:r>
                    </a:p>
                    <a:p>
                      <a:pPr lvl="0">
                        <a:buNone/>
                      </a:pPr>
                      <a:r>
                        <a:rPr lang="en-US" sz="1200" b="0" i="0" u="none" strike="noStrike" noProof="0"/>
                        <a:t>data/</a:t>
                      </a:r>
                      <a:r>
                        <a:rPr lang="en-US" sz="1200" b="0" i="0" u="none" strike="noStrike" noProof="0" err="1"/>
                        <a:t>stem_edu</a:t>
                      </a:r>
                      <a:r>
                        <a:rPr lang="en-US" sz="1200" b="0" i="0" u="none" strike="noStrike" noProof="0"/>
                        <a:t>/working/</a:t>
                      </a:r>
                      <a:r>
                        <a:rPr lang="en-US" sz="1200" b="0" i="0" u="none" strike="noStrike" noProof="0" err="1"/>
                        <a:t>hard_soft_skills</a:t>
                      </a:r>
                      <a:r>
                        <a:rPr lang="en-US" sz="1200" b="0" i="0" u="none" strike="noStrike" noProof="0"/>
                        <a:t>/</a:t>
                      </a:r>
                      <a:r>
                        <a:rPr lang="en-US" sz="1200" b="0" i="0" u="none" strike="noStrike" noProof="0" err="1"/>
                        <a:t>for_validation</a:t>
                      </a:r>
                      <a:r>
                        <a:rPr lang="en-US" sz="1200" b="0" i="0" u="none" strike="noStrike" noProof="0"/>
                        <a:t>/</a:t>
                      </a:r>
                      <a:r>
                        <a:rPr lang="en-US" sz="1200" b="0" i="0" u="none" strike="noStrike" noProof="0">
                          <a:latin typeface="Calibri"/>
                        </a:rPr>
                        <a:t>skillclusterfamily_classified_together.csv</a:t>
                      </a:r>
                    </a:p>
                    <a:p>
                      <a:pPr lvl="0">
                        <a:buNone/>
                      </a:pPr>
                      <a:r>
                        <a:rPr lang="en-US" sz="1200" b="0" i="0" u="none" strike="noStrike" noProof="0">
                          <a:latin typeface="Calibri"/>
                        </a:rPr>
                        <a:t>.../</a:t>
                      </a:r>
                      <a:r>
                        <a:rPr lang="en-US" sz="1200" b="0" i="0" u="none" strike="noStrike" noProof="0"/>
                        <a:t>skillcluster_classified_together.csv</a:t>
                      </a:r>
                    </a:p>
                    <a:p>
                      <a:pPr lvl="0">
                        <a:buNone/>
                      </a:pPr>
                      <a:r>
                        <a:rPr lang="en-US" sz="1200" b="0" i="0" u="none" strike="noStrike" noProof="0">
                          <a:latin typeface="Calibri"/>
                        </a:rPr>
                        <a:t>.../skillcluster_round2_classified_together.csv</a:t>
                      </a:r>
                    </a:p>
                    <a:p>
                      <a:pPr lvl="0">
                        <a:buNone/>
                      </a:pPr>
                      <a:r>
                        <a:rPr lang="en-US" sz="1200" b="0" i="0" u="none" strike="noStrike" noProof="0">
                          <a:latin typeface="Calibri"/>
                        </a:rPr>
                        <a:t>.../</a:t>
                      </a:r>
                      <a:r>
                        <a:rPr lang="en-US" sz="1200" b="0" i="0" u="none" strike="noStrike" noProof="0"/>
                        <a:t>skill_classified_vicki.csv</a:t>
                      </a:r>
                    </a:p>
                    <a:p>
                      <a:pPr lvl="0">
                        <a:buNone/>
                      </a:pPr>
                      <a:r>
                        <a:rPr lang="en-US" sz="1200" b="0" i="0" u="none" strike="noStrike" noProof="0"/>
                        <a:t>.../</a:t>
                      </a:r>
                      <a:r>
                        <a:rPr lang="en-US" sz="1200" b="0" i="0" u="none" strike="noStrike" noProof="0">
                          <a:latin typeface="Calibri"/>
                        </a:rPr>
                        <a:t>skill_classified_alyssa.csv</a:t>
                      </a:r>
                      <a:endParaRPr lang="en-US" sz="1200" b="0" i="0" u="none" strike="noStrike" noProof="0"/>
                    </a:p>
                    <a:p>
                      <a:pPr lvl="0">
                        <a:buNone/>
                      </a:pPr>
                      <a:r>
                        <a:rPr lang="en-US" sz="1200" b="0" i="0" u="none" strike="noStrike" noProof="0"/>
                        <a:t>.../</a:t>
                      </a:r>
                      <a:r>
                        <a:rPr lang="en-US" sz="1200" b="0" i="0" u="none" strike="noStrike" noProof="0">
                          <a:latin typeface="Calibri"/>
                        </a:rPr>
                        <a:t>skill_classified_sarah.csv</a:t>
                      </a:r>
                    </a:p>
                    <a:p>
                      <a:pPr lvl="0">
                        <a:buNone/>
                      </a:pPr>
                      <a:r>
                        <a:rPr lang="en-US" sz="1200" b="0" i="0" u="none" strike="noStrike" noProof="0">
                          <a:latin typeface="Calibri"/>
                        </a:rPr>
                        <a:t>.../</a:t>
                      </a:r>
                      <a:r>
                        <a:rPr lang="en-US" sz="1200" b="0" i="0" u="none" strike="noStrike" noProof="0"/>
                        <a:t>skill_classified_sam.csv</a:t>
                      </a:r>
                      <a:endParaRPr lang="en-US" sz="1200" b="0" i="0" u="none" strike="noStrike" noProof="0">
                        <a:latin typeface="Calibri"/>
                      </a:endParaRPr>
                    </a:p>
                  </a:txBody>
                  <a:tcPr/>
                </a:tc>
                <a:tc>
                  <a:txBody>
                    <a:bodyPr/>
                    <a:lstStyle/>
                    <a:p>
                      <a:r>
                        <a:rPr lang="en-US" sz="1200"/>
                        <a:t>2</a:t>
                      </a:r>
                    </a:p>
                  </a:txBody>
                  <a:tcPr/>
                </a:tc>
                <a:tc>
                  <a:txBody>
                    <a:bodyPr/>
                    <a:lstStyle/>
                    <a:p>
                      <a:r>
                        <a:rPr lang="en-US" sz="1200" err="1"/>
                        <a:t>src</a:t>
                      </a:r>
                      <a:r>
                        <a:rPr lang="en-US" sz="1200"/>
                        <a:t>/</a:t>
                      </a:r>
                      <a:r>
                        <a:rPr lang="en-US" sz="1200" err="1"/>
                        <a:t>hard_soft_skills</a:t>
                      </a:r>
                      <a:r>
                        <a:rPr lang="en-US" sz="1200"/>
                        <a:t>/define_hard_soft_16_17_combine.R</a:t>
                      </a:r>
                    </a:p>
                  </a:txBody>
                  <a:tcPr/>
                </a:tc>
                <a:tc>
                  <a:txBody>
                    <a:bodyPr/>
                    <a:lstStyle/>
                    <a:p>
                      <a:r>
                        <a:rPr lang="en-US" sz="1200"/>
                        <a:t>Skill clusters and skills to group:</a:t>
                      </a:r>
                    </a:p>
                    <a:p>
                      <a:pPr lvl="0">
                        <a:buNone/>
                      </a:pPr>
                      <a:r>
                        <a:rPr lang="en-US" sz="1200" b="0" i="0" u="none" strike="noStrike" noProof="0"/>
                        <a:t>data/</a:t>
                      </a:r>
                      <a:r>
                        <a:rPr lang="en-US" sz="1200" b="0" i="0" u="none" strike="noStrike" noProof="0" err="1"/>
                        <a:t>stem_edu</a:t>
                      </a:r>
                      <a:r>
                        <a:rPr lang="en-US" sz="1200" b="0" i="0" u="none" strike="noStrike" noProof="0"/>
                        <a:t>/working/</a:t>
                      </a:r>
                      <a:r>
                        <a:rPr lang="en-US" sz="1200" b="0" i="0" u="none" strike="noStrike" noProof="0" err="1"/>
                        <a:t>hard_soft_skills</a:t>
                      </a:r>
                      <a:r>
                        <a:rPr lang="en-US" sz="1200" b="0" i="0" u="none" strike="noStrike" noProof="0"/>
                        <a:t>/</a:t>
                      </a:r>
                      <a:r>
                        <a:rPr lang="en-US" sz="1200" b="0" i="0" u="none" strike="noStrike" noProof="0" err="1"/>
                        <a:t>for_validation</a:t>
                      </a:r>
                      <a:r>
                        <a:rPr lang="en-US" sz="1200" b="0" i="0" u="none" strike="noStrike" noProof="0"/>
                        <a:t>/</a:t>
                      </a:r>
                      <a:r>
                        <a:rPr lang="en-US" sz="1200" b="0" i="0" u="none" strike="noStrike" noProof="0">
                          <a:latin typeface="Calibri"/>
                        </a:rPr>
                        <a:t>skillcluster_for_validation_round2.csv</a:t>
                      </a:r>
                    </a:p>
                    <a:p>
                      <a:pPr lvl="0">
                        <a:buNone/>
                      </a:pPr>
                      <a:r>
                        <a:rPr lang="en-US" sz="1200" b="0" i="0" u="none" strike="noStrike" noProof="0">
                          <a:latin typeface="Calibri"/>
                        </a:rPr>
                        <a:t>.../</a:t>
                      </a:r>
                      <a:r>
                        <a:rPr lang="en-US" sz="1200" b="0" i="0" u="none" strike="noStrike" noProof="0"/>
                        <a:t>skill_for_validation.csv</a:t>
                      </a:r>
                    </a:p>
                    <a:p>
                      <a:pPr lvl="0">
                        <a:buNone/>
                      </a:pPr>
                      <a:endParaRPr lang="en-US" sz="1200" b="0" i="0" u="none" strike="noStrike" noProof="0"/>
                    </a:p>
                    <a:p>
                      <a:pPr lvl="0">
                        <a:buNone/>
                      </a:pPr>
                      <a:r>
                        <a:rPr lang="en-US" sz="1200" b="0" i="0" u="none" strike="noStrike" noProof="0"/>
                        <a:t>Skills that the team disagreed about with a 3-2 split, before we decided to just do it as majority-rules:</a:t>
                      </a:r>
                    </a:p>
                    <a:p>
                      <a:pPr lvl="0">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a:t>
                      </a:r>
                      <a:r>
                        <a:rPr lang="en-US" sz="1200" b="0" i="0" u="none" strike="noStrike" noProof="0" err="1">
                          <a:latin typeface="Calibri"/>
                        </a:rPr>
                        <a:t>hard_soft_skills</a:t>
                      </a:r>
                      <a:r>
                        <a:rPr lang="en-US" sz="1200" b="0" i="0" u="none" strike="noStrike" noProof="0">
                          <a:latin typeface="Calibri"/>
                        </a:rPr>
                        <a:t>/</a:t>
                      </a:r>
                      <a:r>
                        <a:rPr lang="en-US" sz="1200" b="0" i="0" u="none" strike="noStrike" noProof="0" err="1">
                          <a:latin typeface="Calibri"/>
                        </a:rPr>
                        <a:t>for_validation</a:t>
                      </a:r>
                      <a:r>
                        <a:rPr lang="en-US" sz="1200" b="0" i="0" u="none" strike="noStrike" noProof="0">
                          <a:latin typeface="Calibri"/>
                        </a:rPr>
                        <a:t>/skill_disagree.csv</a:t>
                      </a:r>
                    </a:p>
                    <a:p>
                      <a:pPr lvl="0">
                        <a:buNone/>
                      </a:pPr>
                      <a:endParaRPr lang="en-US" sz="1200" b="0" i="0" u="none" strike="noStrike" noProof="0">
                        <a:latin typeface="Calibri"/>
                      </a:endParaRPr>
                    </a:p>
                    <a:p>
                      <a:pPr lvl="0">
                        <a:buNone/>
                      </a:pPr>
                      <a:r>
                        <a:rPr lang="en-US" sz="1200" b="0" i="0" u="none" strike="noStrike" noProof="0">
                          <a:latin typeface="Calibri"/>
                        </a:rPr>
                        <a:t>Final list of STW skills classified as hard/soft:</a:t>
                      </a:r>
                      <a:endParaRPr lang="en-US"/>
                    </a:p>
                    <a:p>
                      <a:pPr lvl="0">
                        <a:buNone/>
                      </a:pPr>
                      <a:r>
                        <a:rPr lang="en-US" sz="1200" b="0" i="0" u="none" strike="noStrike" noProof="0"/>
                        <a:t>data/</a:t>
                      </a:r>
                      <a:r>
                        <a:rPr lang="en-US" sz="1200" b="0" i="0" u="none" strike="noStrike" noProof="0" err="1"/>
                        <a:t>stem_edu</a:t>
                      </a:r>
                      <a:r>
                        <a:rPr lang="en-US" sz="1200" b="0" i="0" u="none" strike="noStrike" noProof="0"/>
                        <a:t>/working/</a:t>
                      </a:r>
                      <a:r>
                        <a:rPr lang="en-US" sz="1200" b="0" i="0" u="none" strike="noStrike" noProof="0" err="1"/>
                        <a:t>hard_soft_skills</a:t>
                      </a:r>
                      <a:r>
                        <a:rPr lang="en-US" sz="1200" b="0" i="0" u="none" strike="noStrike" noProof="0"/>
                        <a:t>/</a:t>
                      </a:r>
                      <a:r>
                        <a:rPr lang="en-US" sz="1200" b="0" i="0" u="none" strike="noStrike" noProof="0">
                          <a:latin typeface="Calibri"/>
                        </a:rPr>
                        <a:t>stw_hard-soft-skill.csv</a:t>
                      </a:r>
                      <a:endParaRPr lang="en-US"/>
                    </a:p>
                    <a:p>
                      <a:pPr lvl="0">
                        <a:buNone/>
                      </a:pPr>
                      <a:endParaRPr lang="en-US" sz="1200" b="0" i="0" u="none" strike="noStrike" noProof="0"/>
                    </a:p>
                  </a:txBody>
                  <a:tcPr/>
                </a:tc>
                <a:tc>
                  <a:txBody>
                    <a:bodyPr/>
                    <a:lstStyle/>
                    <a:p>
                      <a:pPr lvl="0">
                        <a:buNone/>
                      </a:pPr>
                      <a:r>
                        <a:rPr lang="en-US" sz="1200"/>
                        <a:t>This process wound up being more involved than one might expect, because we did multiple rounds of classification (one for 2017 data, then one for 2016 data) and I didn't want to repeat any of the classification work we had already done.</a:t>
                      </a:r>
                    </a:p>
                    <a:p>
                      <a:pPr lvl="0">
                        <a:buNone/>
                      </a:pPr>
                      <a:endParaRPr lang="en-US" sz="1200"/>
                    </a:p>
                    <a:p>
                      <a:pPr lvl="0">
                        <a:buNone/>
                      </a:pPr>
                      <a:r>
                        <a:rPr lang="en-US" sz="1200"/>
                        <a:t>Several files read out for the team to classify, then read back in with the classifications over the course of he script. Pretty well commented so hopefully it's clear. All our assorted votes are in the </a:t>
                      </a:r>
                      <a:r>
                        <a:rPr lang="en-US" sz="1200" err="1"/>
                        <a:t>for_validation</a:t>
                      </a:r>
                      <a:r>
                        <a:rPr lang="en-US" sz="1200"/>
                        <a:t> folder.</a:t>
                      </a:r>
                      <a:endParaRPr lang="en-US"/>
                    </a:p>
                    <a:p>
                      <a:pPr lvl="0">
                        <a:buNone/>
                      </a:pPr>
                      <a:endParaRPr lang="en-US" sz="1200"/>
                    </a:p>
                    <a:p>
                      <a:pPr lvl="0">
                        <a:buNone/>
                      </a:pPr>
                      <a:endParaRPr lang="en-US" sz="1200"/>
                    </a:p>
                  </a:txBody>
                  <a:tcPr/>
                </a:tc>
                <a:extLst>
                  <a:ext uri="{0D108BD9-81ED-4DB2-BD59-A6C34878D82A}">
                    <a16:rowId xmlns:a16="http://schemas.microsoft.com/office/drawing/2014/main" val="2433231062"/>
                  </a:ext>
                </a:extLst>
              </a:tr>
            </a:tbl>
          </a:graphicData>
        </a:graphic>
      </p:graphicFrame>
      <p:sp>
        <p:nvSpPr>
          <p:cNvPr id="2" name="TextBox 1">
            <a:extLst>
              <a:ext uri="{FF2B5EF4-FFF2-40B4-BE49-F238E27FC236}">
                <a16:creationId xmlns:a16="http://schemas.microsoft.com/office/drawing/2014/main" id="{3C98E5C0-3E28-D845-81F1-91EDE7034F02}"/>
              </a:ext>
            </a:extLst>
          </p:cNvPr>
          <p:cNvSpPr txBox="1"/>
          <p:nvPr/>
        </p:nvSpPr>
        <p:spPr>
          <a:xfrm>
            <a:off x="346213" y="278296"/>
            <a:ext cx="11499574" cy="369332"/>
          </a:xfrm>
          <a:prstGeom prst="rect">
            <a:avLst/>
          </a:prstGeom>
          <a:noFill/>
        </p:spPr>
        <p:txBody>
          <a:bodyPr wrap="square" rtlCol="0" anchor="t">
            <a:spAutoFit/>
          </a:bodyPr>
          <a:lstStyle/>
          <a:p>
            <a:r>
              <a:rPr lang="en-US" b="1" dirty="0"/>
              <a:t>3. Classifying hard/soft skills</a:t>
            </a:r>
          </a:p>
        </p:txBody>
      </p:sp>
    </p:spTree>
    <p:extLst>
      <p:ext uri="{BB962C8B-B14F-4D97-AF65-F5344CB8AC3E}">
        <p14:creationId xmlns:p14="http://schemas.microsoft.com/office/powerpoint/2010/main" val="944861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4DA44824-2CE5-A54D-81F3-0DFA95FADD62}"/>
              </a:ext>
            </a:extLst>
          </p:cNvPr>
          <p:cNvGraphicFramePr>
            <a:graphicFrameLocks noGrp="1"/>
          </p:cNvGraphicFramePr>
          <p:nvPr>
            <p:ph sz="half" idx="2"/>
            <p:extLst>
              <p:ext uri="{D42A27DB-BD31-4B8C-83A1-F6EECF244321}">
                <p14:modId xmlns:p14="http://schemas.microsoft.com/office/powerpoint/2010/main" val="4099908624"/>
              </p:ext>
            </p:extLst>
          </p:nvPr>
        </p:nvGraphicFramePr>
        <p:xfrm>
          <a:off x="0" y="914400"/>
          <a:ext cx="12192000" cy="5455920"/>
        </p:xfrm>
        <a:graphic>
          <a:graphicData uri="http://schemas.openxmlformats.org/drawingml/2006/table">
            <a:tbl>
              <a:tblPr firstRow="1" bandRow="1">
                <a:tableStyleId>{21E4AEA4-8DFA-4A89-87EB-49C32662AFE0}</a:tableStyleId>
              </a:tblPr>
              <a:tblGrid>
                <a:gridCol w="1743843">
                  <a:extLst>
                    <a:ext uri="{9D8B030D-6E8A-4147-A177-3AD203B41FA5}">
                      <a16:colId xmlns:a16="http://schemas.microsoft.com/office/drawing/2014/main" val="1352491661"/>
                    </a:ext>
                  </a:extLst>
                </a:gridCol>
                <a:gridCol w="3076635">
                  <a:extLst>
                    <a:ext uri="{9D8B030D-6E8A-4147-A177-3AD203B41FA5}">
                      <a16:colId xmlns:a16="http://schemas.microsoft.com/office/drawing/2014/main" val="3130510922"/>
                    </a:ext>
                  </a:extLst>
                </a:gridCol>
                <a:gridCol w="834357">
                  <a:extLst>
                    <a:ext uri="{9D8B030D-6E8A-4147-A177-3AD203B41FA5}">
                      <a16:colId xmlns:a16="http://schemas.microsoft.com/office/drawing/2014/main" val="1636284579"/>
                    </a:ext>
                  </a:extLst>
                </a:gridCol>
                <a:gridCol w="2145611">
                  <a:extLst>
                    <a:ext uri="{9D8B030D-6E8A-4147-A177-3AD203B41FA5}">
                      <a16:colId xmlns:a16="http://schemas.microsoft.com/office/drawing/2014/main" val="2195260392"/>
                    </a:ext>
                  </a:extLst>
                </a:gridCol>
                <a:gridCol w="2195777">
                  <a:extLst>
                    <a:ext uri="{9D8B030D-6E8A-4147-A177-3AD203B41FA5}">
                      <a16:colId xmlns:a16="http://schemas.microsoft.com/office/drawing/2014/main" val="3536091448"/>
                    </a:ext>
                  </a:extLst>
                </a:gridCol>
                <a:gridCol w="2195777">
                  <a:extLst>
                    <a:ext uri="{9D8B030D-6E8A-4147-A177-3AD203B41FA5}">
                      <a16:colId xmlns:a16="http://schemas.microsoft.com/office/drawing/2014/main" val="4195063144"/>
                    </a:ext>
                  </a:extLst>
                </a:gridCol>
              </a:tblGrid>
              <a:tr h="278430">
                <a:tc>
                  <a:txBody>
                    <a:bodyPr/>
                    <a:lstStyle/>
                    <a:p>
                      <a:r>
                        <a:rPr lang="en-US" sz="1400"/>
                        <a:t>Goal</a:t>
                      </a:r>
                    </a:p>
                  </a:txBody>
                  <a:tcPr/>
                </a:tc>
                <a:tc>
                  <a:txBody>
                    <a:bodyPr/>
                    <a:lstStyle/>
                    <a:p>
                      <a:r>
                        <a:rPr lang="en-US" sz="1400"/>
                        <a:t>Input</a:t>
                      </a:r>
                    </a:p>
                  </a:txBody>
                  <a:tcPr/>
                </a:tc>
                <a:tc>
                  <a:txBody>
                    <a:bodyPr/>
                    <a:lstStyle/>
                    <a:p>
                      <a:r>
                        <a:rPr lang="en-US" sz="1400"/>
                        <a:t>Run Order</a:t>
                      </a:r>
                    </a:p>
                  </a:txBody>
                  <a:tcPr/>
                </a:tc>
                <a:tc>
                  <a:txBody>
                    <a:bodyPr/>
                    <a:lstStyle/>
                    <a:p>
                      <a:r>
                        <a:rPr lang="en-US" sz="1400"/>
                        <a:t>Script</a:t>
                      </a:r>
                    </a:p>
                  </a:txBody>
                  <a:tcPr/>
                </a:tc>
                <a:tc>
                  <a:txBody>
                    <a:bodyPr/>
                    <a:lstStyle/>
                    <a:p>
                      <a:r>
                        <a:rPr lang="en-US" sz="1400"/>
                        <a:t>Output</a:t>
                      </a:r>
                    </a:p>
                  </a:txBody>
                  <a:tcPr/>
                </a:tc>
                <a:tc>
                  <a:txBody>
                    <a:bodyPr/>
                    <a:lstStyle/>
                    <a:p>
                      <a:r>
                        <a:rPr lang="en-US" sz="1400"/>
                        <a:t>Notes</a:t>
                      </a:r>
                    </a:p>
                  </a:txBody>
                  <a:tcPr/>
                </a:tc>
                <a:extLst>
                  <a:ext uri="{0D108BD9-81ED-4DB2-BD59-A6C34878D82A}">
                    <a16:rowId xmlns:a16="http://schemas.microsoft.com/office/drawing/2014/main" val="744206176"/>
                  </a:ext>
                </a:extLst>
              </a:tr>
              <a:tr h="1230439">
                <a:tc>
                  <a:txBody>
                    <a:bodyPr/>
                    <a:lstStyle/>
                    <a:p>
                      <a:r>
                        <a:rPr lang="en-US" sz="1200"/>
                        <a:t>Creating files for the job ads/skills for the top 5 STW positions in Richmond and Blacksburg</a:t>
                      </a:r>
                    </a:p>
                  </a:txBody>
                  <a:tcPr/>
                </a:tc>
                <a:tc>
                  <a:txBody>
                    <a:bodyPr/>
                    <a:lstStyle/>
                    <a:p>
                      <a:r>
                        <a:rPr lang="en-US" sz="1200"/>
                        <a:t>All 2016/2017 job ad mains:</a:t>
                      </a:r>
                    </a:p>
                    <a:p>
                      <a:pPr lvl="0">
                        <a:buNone/>
                      </a:pPr>
                      <a:r>
                        <a:rPr lang="en-US" sz="1200"/>
                        <a:t>data/</a:t>
                      </a:r>
                      <a:r>
                        <a:rPr lang="en-US" sz="1200" err="1"/>
                        <a:t>stem_edu</a:t>
                      </a:r>
                      <a:r>
                        <a:rPr lang="en-US" sz="1200"/>
                        <a:t>/working/burning_glass_ad_combine_16_17/combine_16_17_job_ad_main.csv</a:t>
                      </a:r>
                    </a:p>
                    <a:p>
                      <a:pPr lvl="0">
                        <a:buNone/>
                      </a:pPr>
                      <a:r>
                        <a:rPr lang="en-US" sz="1200"/>
                        <a:t>All 2016/2017 job ad skills</a:t>
                      </a:r>
                    </a:p>
                    <a:p>
                      <a:pPr lvl="0">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/working/burning_glass_ad_combine_16_17/combine_16_17_job_ad_skill.csv</a:t>
                      </a:r>
                    </a:p>
                    <a:p>
                      <a:pPr lvl="0">
                        <a:buNone/>
                      </a:pPr>
                      <a:r>
                        <a:rPr lang="en-US" sz="1200" b="0" i="0" u="none" strike="noStrike" noProof="0">
                          <a:latin typeface="Calibri"/>
                        </a:rPr>
                        <a:t>List of STW occupations:</a:t>
                      </a:r>
                    </a:p>
                    <a:p>
                      <a:pPr lvl="0">
                        <a:buNone/>
                      </a:pPr>
                      <a:r>
                        <a:rPr lang="en-US" sz="1200" b="0" i="0" u="none" strike="noStrike" noProof="0" err="1">
                          <a:latin typeface="Calibri"/>
                        </a:rPr>
                        <a:t>src</a:t>
                      </a:r>
                      <a:r>
                        <a:rPr lang="en-US" sz="1200" b="0" i="0" u="none" strike="noStrike" noProof="0">
                          <a:latin typeface="Calibri"/>
                        </a:rPr>
                        <a:t>/</a:t>
                      </a:r>
                      <a:r>
                        <a:rPr lang="en-US" sz="1200" b="0" i="0" u="none" strike="noStrike" noProof="0" err="1">
                          <a:latin typeface="Calibri"/>
                        </a:rPr>
                        <a:t>ONET_define</a:t>
                      </a:r>
                      <a:r>
                        <a:rPr lang="en-US" sz="1200" b="0" i="0" u="none" strike="noStrike" noProof="0">
                          <a:latin typeface="Calibri"/>
                        </a:rPr>
                        <a:t>/Rothwell_STW_list.csv</a:t>
                      </a:r>
                    </a:p>
                    <a:p>
                      <a:pPr lvl="0">
                        <a:buNone/>
                      </a:pPr>
                      <a:r>
                        <a:rPr lang="en-US" sz="1200" b="0" i="0" u="none" strike="noStrike" noProof="0">
                          <a:latin typeface="Calibri"/>
                        </a:rPr>
                        <a:t>List of hard/soft skills:</a:t>
                      </a:r>
                    </a:p>
                    <a:p>
                      <a:pPr lvl="0">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a:t>
                      </a:r>
                      <a:r>
                        <a:rPr lang="en-US" sz="1200" b="0" i="0" u="none" strike="noStrike" noProof="0" err="1">
                          <a:latin typeface="Calibri"/>
                        </a:rPr>
                        <a:t>hard_soft_skills</a:t>
                      </a:r>
                      <a:r>
                        <a:rPr lang="en-US" sz="1200" b="0" i="0" u="none" strike="noStrike" noProof="0">
                          <a:latin typeface="Calibri"/>
                        </a:rPr>
                        <a:t>/stw_hard-soft-skill.csv</a:t>
                      </a:r>
                    </a:p>
                  </a:txBody>
                  <a:tcPr/>
                </a:tc>
                <a:tc>
                  <a:txBody>
                    <a:bodyPr/>
                    <a:lstStyle/>
                    <a:p>
                      <a:r>
                        <a:rPr lang="en-US" sz="1200"/>
                        <a:t>1</a:t>
                      </a:r>
                    </a:p>
                  </a:txBody>
                  <a:tcPr/>
                </a:tc>
                <a:tc>
                  <a:txBody>
                    <a:bodyPr/>
                    <a:lstStyle/>
                    <a:p>
                      <a:r>
                        <a:rPr lang="en-US" sz="1200" err="1"/>
                        <a:t>src</a:t>
                      </a:r>
                      <a:r>
                        <a:rPr lang="en-US" sz="1200"/>
                        <a:t>/dspg_19_final_job_dataset_define.R</a:t>
                      </a:r>
                    </a:p>
                  </a:txBody>
                  <a:tcPr/>
                </a:tc>
                <a:tc>
                  <a:txBody>
                    <a:bodyPr/>
                    <a:lstStyle/>
                    <a:p>
                      <a:r>
                        <a:rPr lang="en-US" sz="1200"/>
                        <a:t>Data/</a:t>
                      </a:r>
                      <a:r>
                        <a:rPr lang="en-US" sz="1200" err="1"/>
                        <a:t>stem_edu</a:t>
                      </a:r>
                      <a:r>
                        <a:rPr lang="en-US" sz="1200"/>
                        <a:t>/working/burning_glass_ad_combine_16_17/richmond_top5_stw_jobs_main.csv</a:t>
                      </a:r>
                    </a:p>
                    <a:p>
                      <a:pPr lvl="0">
                        <a:buNone/>
                      </a:pPr>
                      <a:r>
                        <a:rPr lang="en-US" sz="1200"/>
                        <a:t>.../blacksburg_top5_stw_jobs_main.csv</a:t>
                      </a:r>
                    </a:p>
                    <a:p>
                      <a:pPr lvl="0">
                        <a:buNone/>
                      </a:pPr>
                      <a:r>
                        <a:rPr lang="en-US" sz="1200"/>
                        <a:t>.../</a:t>
                      </a:r>
                      <a:r>
                        <a:rPr lang="en-US" sz="1200" b="0" i="0" u="none" strike="noStrike" noProof="0">
                          <a:latin typeface="Calibri"/>
                        </a:rPr>
                        <a:t>richmond_top5_stw_jobs_all_skills.csv</a:t>
                      </a:r>
                    </a:p>
                    <a:p>
                      <a:pPr lvl="0">
                        <a:buNone/>
                      </a:pPr>
                      <a:r>
                        <a:rPr lang="en-US" sz="1200" b="0" i="0" u="none" strike="noStrike" noProof="0">
                          <a:latin typeface="Calibri"/>
                        </a:rPr>
                        <a:t>.../</a:t>
                      </a:r>
                      <a:r>
                        <a:rPr lang="en-US" sz="1200" b="0" i="0" u="none" strike="noStrike" noProof="0"/>
                        <a:t>blacksburg_top5_stw_jobs_all_skills.csv</a:t>
                      </a:r>
                    </a:p>
                    <a:p>
                      <a:pPr lvl="0">
                        <a:buNone/>
                      </a:pPr>
                      <a:r>
                        <a:rPr lang="en-US" sz="1200" b="0" i="0" u="none" strike="noStrike" noProof="0"/>
                        <a:t>.../</a:t>
                      </a:r>
                      <a:r>
                        <a:rPr lang="en-US" sz="1200" b="0" i="0" u="none" strike="noStrike" noProof="0">
                          <a:latin typeface="Calibri"/>
                        </a:rPr>
                        <a:t>richmond_top5_stw_jobs_hard_skills.csv</a:t>
                      </a:r>
                    </a:p>
                    <a:p>
                      <a:pPr lvl="0">
                        <a:buNone/>
                      </a:pPr>
                      <a:r>
                        <a:rPr lang="en-US" sz="1200" b="0" i="0" u="none" strike="noStrike" noProof="0">
                          <a:latin typeface="Calibri"/>
                        </a:rPr>
                        <a:t>.../</a:t>
                      </a:r>
                      <a:r>
                        <a:rPr lang="en-US" sz="1200" b="0" i="0" u="none" strike="noStrike" noProof="0"/>
                        <a:t>blacksburg_top5_stw_jobs_hard_skills.csv</a:t>
                      </a:r>
                      <a:endParaRPr lang="en-US" sz="1200" b="0" i="0" u="none" strike="noStrike" noProof="0">
                        <a:latin typeface="Calibri"/>
                      </a:endParaRPr>
                    </a:p>
                  </a:txBody>
                  <a:tcPr/>
                </a:tc>
                <a:tc>
                  <a:txBody>
                    <a:bodyPr/>
                    <a:lstStyle/>
                    <a:p>
                      <a:r>
                        <a:rPr lang="en-US" sz="1200"/>
                        <a:t>This is NOT deduped—there are some skills listed twice for the same ad, and near-duplicates have not been removed.</a:t>
                      </a:r>
                    </a:p>
                  </a:txBody>
                  <a:tcPr/>
                </a:tc>
                <a:extLst>
                  <a:ext uri="{0D108BD9-81ED-4DB2-BD59-A6C34878D82A}">
                    <a16:rowId xmlns:a16="http://schemas.microsoft.com/office/drawing/2014/main" val="4290437681"/>
                  </a:ext>
                </a:extLst>
              </a:tr>
              <a:tr h="1398226">
                <a:tc>
                  <a:txBody>
                    <a:bodyPr/>
                    <a:lstStyle/>
                    <a:p>
                      <a:r>
                        <a:rPr lang="en-US" sz="1200"/>
                        <a:t>Get deduped file of critical care nurse skills, joined with info from skills file</a:t>
                      </a:r>
                    </a:p>
                  </a:txBody>
                  <a:tcPr/>
                </a:tc>
                <a:tc>
                  <a:txBody>
                    <a:bodyPr/>
                    <a:lstStyle/>
                    <a:p>
                      <a:r>
                        <a:rPr lang="en-US" sz="1200"/>
                        <a:t>Job ad files:</a:t>
                      </a:r>
                    </a:p>
                    <a:p>
                      <a:pPr lvl="0">
                        <a:buNone/>
                      </a:pPr>
                      <a:endParaRPr lang="en-US" sz="1200"/>
                    </a:p>
                    <a:p>
                      <a:pPr lvl="0">
                        <a:buNone/>
                      </a:pPr>
                      <a:r>
                        <a:rPr lang="en-US" sz="1200"/>
                        <a:t>data/</a:t>
                      </a:r>
                      <a:r>
                        <a:rPr lang="en-US" sz="1200" err="1"/>
                        <a:t>stem_edu</a:t>
                      </a:r>
                      <a:r>
                        <a:rPr lang="en-US" sz="1200"/>
                        <a:t>/final/dspg19_analysis/</a:t>
                      </a:r>
                      <a:r>
                        <a:rPr lang="en-US" sz="1200" b="0" i="0" u="none" strike="noStrike" noProof="0">
                          <a:latin typeface="Calibri"/>
                        </a:rPr>
                        <a:t>blacksburg_top5_stw_jobs_main.csv</a:t>
                      </a:r>
                      <a:endParaRPr lang="en-US"/>
                    </a:p>
                    <a:p>
                      <a:pPr lvl="0">
                        <a:buNone/>
                      </a:pPr>
                      <a:r>
                        <a:rPr lang="en-US" sz="1200" b="0" i="0" u="none" strike="noStrike" noProof="0">
                          <a:latin typeface="Calibri"/>
                        </a:rPr>
                        <a:t>.../</a:t>
                      </a:r>
                      <a:r>
                        <a:rPr lang="en-US" sz="1200" b="0" i="0" u="none" strike="noStrike" noProof="0"/>
                        <a:t>blacksburg_top5_stw_jobs_all_skills.csv</a:t>
                      </a:r>
                      <a:endParaRPr lang="en-US" sz="1200" b="0" i="0" u="none" strike="noStrike" noProof="0">
                        <a:latin typeface="Calibri"/>
                      </a:endParaRPr>
                    </a:p>
                    <a:p>
                      <a:pPr lvl="0">
                        <a:buNone/>
                      </a:pPr>
                      <a:endParaRPr lang="en-US" sz="1200" b="0" i="0" u="none" strike="noStrike" noProof="0"/>
                    </a:p>
                    <a:p>
                      <a:pPr lvl="0">
                        <a:buNone/>
                      </a:pPr>
                      <a:endParaRPr lang="en-US" sz="1200" b="0" i="0" u="none" strike="noStrike" noProof="0"/>
                    </a:p>
                    <a:p>
                      <a:pPr lvl="0">
                        <a:buNone/>
                      </a:pPr>
                      <a:endParaRPr lang="en-US" sz="1200" b="0" i="0" u="none" strike="noStrike" noProof="0">
                        <a:latin typeface="Calibri"/>
                      </a:endParaRPr>
                    </a:p>
                  </a:txBody>
                  <a:tcPr/>
                </a:tc>
                <a:tc>
                  <a:txBody>
                    <a:bodyPr/>
                    <a:lstStyle/>
                    <a:p>
                      <a:r>
                        <a:rPr lang="en-US" sz="1200"/>
                        <a:t>2</a:t>
                      </a:r>
                    </a:p>
                  </a:txBody>
                  <a:tcPr/>
                </a:tc>
                <a:tc>
                  <a:txBody>
                    <a:bodyPr/>
                    <a:lstStyle/>
                    <a:p>
                      <a:pPr lvl="0">
                        <a:buNone/>
                      </a:pPr>
                      <a:endParaRPr lang="en-US" sz="1200"/>
                    </a:p>
                  </a:txBody>
                  <a:tcPr/>
                </a:tc>
                <a:tc>
                  <a:txBody>
                    <a:bodyPr/>
                    <a:lstStyle/>
                    <a:p>
                      <a:pPr lvl="0">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/final/dspg19_analysis/</a:t>
                      </a:r>
                      <a:r>
                        <a:rPr lang="en-US" sz="1200" b="0" i="0" u="none" strike="noStrike" noProof="0"/>
                        <a:t>FINAL_BLACKSBURG_NURSE_AD.csv</a:t>
                      </a:r>
                    </a:p>
                    <a:p>
                      <a:pPr lvl="0">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/final/dspg19_analysis/FINAL_RICHMOND_NURSE_AD.csv</a:t>
                      </a:r>
                      <a:endParaRPr lang="en-US"/>
                    </a:p>
                  </a:txBody>
                  <a:tcPr/>
                </a:tc>
                <a:tc>
                  <a:txBody>
                    <a:bodyPr/>
                    <a:lstStyle/>
                    <a:p>
                      <a:r>
                        <a:rPr lang="en-US" sz="1200"/>
                        <a:t>Run this twice, once for Richmond and once for Blacksburg, changing the file names at the very beginning.</a:t>
                      </a:r>
                    </a:p>
                    <a:p>
                      <a:pPr lvl="0">
                        <a:buNone/>
                      </a:pPr>
                      <a:endParaRPr lang="en-US" sz="1200"/>
                    </a:p>
                    <a:p>
                      <a:pPr lvl="0">
                        <a:buNone/>
                      </a:pPr>
                      <a:r>
                        <a:rPr lang="en-US" sz="1200"/>
                        <a:t>Job ads and resumes are handled in the same script.</a:t>
                      </a:r>
                    </a:p>
                    <a:p>
                      <a:pPr lvl="0">
                        <a:buNone/>
                      </a:pPr>
                      <a:endParaRPr lang="en-US" sz="1200"/>
                    </a:p>
                    <a:p>
                      <a:pPr lvl="0">
                        <a:buNone/>
                      </a:pPr>
                      <a:r>
                        <a:rPr lang="en-US" sz="1200"/>
                        <a:t>This IS deduped and cleaned (each skill is listed only once on each ad, and near-duplicate skills have been removed).</a:t>
                      </a:r>
                    </a:p>
                  </a:txBody>
                  <a:tcPr/>
                </a:tc>
                <a:extLst>
                  <a:ext uri="{0D108BD9-81ED-4DB2-BD59-A6C34878D82A}">
                    <a16:rowId xmlns:a16="http://schemas.microsoft.com/office/drawing/2014/main" val="2433231062"/>
                  </a:ext>
                </a:extLst>
              </a:tr>
            </a:tbl>
          </a:graphicData>
        </a:graphic>
      </p:graphicFrame>
      <p:sp>
        <p:nvSpPr>
          <p:cNvPr id="2" name="TextBox 1">
            <a:extLst>
              <a:ext uri="{FF2B5EF4-FFF2-40B4-BE49-F238E27FC236}">
                <a16:creationId xmlns:a16="http://schemas.microsoft.com/office/drawing/2014/main" id="{3C98E5C0-3E28-D845-81F1-91EDE7034F02}"/>
              </a:ext>
            </a:extLst>
          </p:cNvPr>
          <p:cNvSpPr txBox="1"/>
          <p:nvPr/>
        </p:nvSpPr>
        <p:spPr>
          <a:xfrm>
            <a:off x="346213" y="278296"/>
            <a:ext cx="11499574" cy="369332"/>
          </a:xfrm>
          <a:prstGeom prst="rect">
            <a:avLst/>
          </a:prstGeom>
          <a:noFill/>
        </p:spPr>
        <p:txBody>
          <a:bodyPr wrap="square" rtlCol="0" anchor="t">
            <a:spAutoFit/>
          </a:bodyPr>
          <a:lstStyle/>
          <a:p>
            <a:r>
              <a:rPr lang="en-US" b="1" dirty="0"/>
              <a:t>4. Narrowing ad data to Richmond and Blacksburg and/or specific occupations</a:t>
            </a:r>
            <a:endParaRPr lang="en-US" b="1" dirty="0">
              <a:cs typeface="Calibri"/>
            </a:endParaRPr>
          </a:p>
        </p:txBody>
      </p:sp>
    </p:spTree>
    <p:extLst>
      <p:ext uri="{BB962C8B-B14F-4D97-AF65-F5344CB8AC3E}">
        <p14:creationId xmlns:p14="http://schemas.microsoft.com/office/powerpoint/2010/main" val="985592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34E97-7AD8-D542-A5B0-E549DED9383D}"/>
              </a:ext>
            </a:extLst>
          </p:cNvPr>
          <p:cNvSpPr>
            <a:spLocks noGrp="1"/>
          </p:cNvSpPr>
          <p:nvPr>
            <p:ph type="title"/>
          </p:nvPr>
        </p:nvSpPr>
        <p:spPr/>
        <p:txBody>
          <a:bodyPr/>
          <a:lstStyle/>
          <a:p>
            <a:r>
              <a:rPr lang="en-US" b="1" dirty="0"/>
              <a:t>Resumes</a:t>
            </a:r>
            <a:endParaRPr lang="en-US" b="1" dirty="0">
              <a:cs typeface="Calibri Light"/>
            </a:endParaRPr>
          </a:p>
        </p:txBody>
      </p:sp>
    </p:spTree>
    <p:extLst>
      <p:ext uri="{BB962C8B-B14F-4D97-AF65-F5344CB8AC3E}">
        <p14:creationId xmlns:p14="http://schemas.microsoft.com/office/powerpoint/2010/main" val="3064742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4DA44824-2CE5-A54D-81F3-0DFA95FADD62}"/>
              </a:ext>
            </a:extLst>
          </p:cNvPr>
          <p:cNvGraphicFramePr>
            <a:graphicFrameLocks noGrp="1"/>
          </p:cNvGraphicFramePr>
          <p:nvPr>
            <p:ph sz="half" idx="2"/>
            <p:extLst>
              <p:ext uri="{D42A27DB-BD31-4B8C-83A1-F6EECF244321}">
                <p14:modId xmlns:p14="http://schemas.microsoft.com/office/powerpoint/2010/main" val="3238361194"/>
              </p:ext>
            </p:extLst>
          </p:nvPr>
        </p:nvGraphicFramePr>
        <p:xfrm>
          <a:off x="0" y="914400"/>
          <a:ext cx="12192000" cy="6307447"/>
        </p:xfrm>
        <a:graphic>
          <a:graphicData uri="http://schemas.openxmlformats.org/drawingml/2006/table">
            <a:tbl>
              <a:tblPr firstRow="1" bandRow="1">
                <a:tableStyleId>{21E4AEA4-8DFA-4A89-87EB-49C32662AFE0}</a:tableStyleId>
              </a:tblPr>
              <a:tblGrid>
                <a:gridCol w="1743843">
                  <a:extLst>
                    <a:ext uri="{9D8B030D-6E8A-4147-A177-3AD203B41FA5}">
                      <a16:colId xmlns:a16="http://schemas.microsoft.com/office/drawing/2014/main" val="1352491661"/>
                    </a:ext>
                  </a:extLst>
                </a:gridCol>
                <a:gridCol w="3076635">
                  <a:extLst>
                    <a:ext uri="{9D8B030D-6E8A-4147-A177-3AD203B41FA5}">
                      <a16:colId xmlns:a16="http://schemas.microsoft.com/office/drawing/2014/main" val="3130510922"/>
                    </a:ext>
                  </a:extLst>
                </a:gridCol>
                <a:gridCol w="834357">
                  <a:extLst>
                    <a:ext uri="{9D8B030D-6E8A-4147-A177-3AD203B41FA5}">
                      <a16:colId xmlns:a16="http://schemas.microsoft.com/office/drawing/2014/main" val="1636284579"/>
                    </a:ext>
                  </a:extLst>
                </a:gridCol>
                <a:gridCol w="2145611">
                  <a:extLst>
                    <a:ext uri="{9D8B030D-6E8A-4147-A177-3AD203B41FA5}">
                      <a16:colId xmlns:a16="http://schemas.microsoft.com/office/drawing/2014/main" val="2195260392"/>
                    </a:ext>
                  </a:extLst>
                </a:gridCol>
                <a:gridCol w="2195777">
                  <a:extLst>
                    <a:ext uri="{9D8B030D-6E8A-4147-A177-3AD203B41FA5}">
                      <a16:colId xmlns:a16="http://schemas.microsoft.com/office/drawing/2014/main" val="3536091448"/>
                    </a:ext>
                  </a:extLst>
                </a:gridCol>
                <a:gridCol w="2195777">
                  <a:extLst>
                    <a:ext uri="{9D8B030D-6E8A-4147-A177-3AD203B41FA5}">
                      <a16:colId xmlns:a16="http://schemas.microsoft.com/office/drawing/2014/main" val="4195063144"/>
                    </a:ext>
                  </a:extLst>
                </a:gridCol>
              </a:tblGrid>
              <a:tr h="278430">
                <a:tc>
                  <a:txBody>
                    <a:bodyPr/>
                    <a:lstStyle/>
                    <a:p>
                      <a:r>
                        <a:rPr lang="en-US" sz="1400"/>
                        <a:t>Goal</a:t>
                      </a:r>
                    </a:p>
                  </a:txBody>
                  <a:tcPr/>
                </a:tc>
                <a:tc>
                  <a:txBody>
                    <a:bodyPr/>
                    <a:lstStyle/>
                    <a:p>
                      <a:r>
                        <a:rPr lang="en-US" sz="1400"/>
                        <a:t>Input</a:t>
                      </a:r>
                    </a:p>
                  </a:txBody>
                  <a:tcPr/>
                </a:tc>
                <a:tc>
                  <a:txBody>
                    <a:bodyPr/>
                    <a:lstStyle/>
                    <a:p>
                      <a:r>
                        <a:rPr lang="en-US" sz="1400"/>
                        <a:t>Run Order</a:t>
                      </a:r>
                    </a:p>
                  </a:txBody>
                  <a:tcPr/>
                </a:tc>
                <a:tc>
                  <a:txBody>
                    <a:bodyPr/>
                    <a:lstStyle/>
                    <a:p>
                      <a:r>
                        <a:rPr lang="en-US" sz="1400"/>
                        <a:t>Script</a:t>
                      </a:r>
                    </a:p>
                  </a:txBody>
                  <a:tcPr/>
                </a:tc>
                <a:tc>
                  <a:txBody>
                    <a:bodyPr/>
                    <a:lstStyle/>
                    <a:p>
                      <a:r>
                        <a:rPr lang="en-US" sz="1400"/>
                        <a:t>Output</a:t>
                      </a:r>
                    </a:p>
                  </a:txBody>
                  <a:tcPr/>
                </a:tc>
                <a:tc>
                  <a:txBody>
                    <a:bodyPr/>
                    <a:lstStyle/>
                    <a:p>
                      <a:r>
                        <a:rPr lang="en-US" sz="1400"/>
                        <a:t>Notes</a:t>
                      </a:r>
                    </a:p>
                  </a:txBody>
                  <a:tcPr/>
                </a:tc>
                <a:extLst>
                  <a:ext uri="{0D108BD9-81ED-4DB2-BD59-A6C34878D82A}">
                    <a16:rowId xmlns:a16="http://schemas.microsoft.com/office/drawing/2014/main" val="744206176"/>
                  </a:ext>
                </a:extLst>
              </a:tr>
              <a:tr h="1230439">
                <a:tc>
                  <a:txBody>
                    <a:bodyPr/>
                    <a:lstStyle/>
                    <a:p>
                      <a:r>
                        <a:rPr lang="en-US" sz="1200"/>
                        <a:t>Select only resumes relating to Virginia</a:t>
                      </a:r>
                    </a:p>
                  </a:txBody>
                  <a:tcPr/>
                </a:tc>
                <a:tc>
                  <a:txBody>
                    <a:bodyPr/>
                    <a:lstStyle/>
                    <a:p>
                      <a:pPr lvl="0">
                        <a:buNone/>
                      </a:pPr>
                      <a:r>
                        <a:rPr lang="en-US" sz="1200" b="0" i="0" u="none" strike="noStrike" noProof="0">
                          <a:latin typeface="Calibri"/>
                        </a:rPr>
                        <a:t>stem_edu/data/stem_edu/original/Burning_Glass_Data/Resume_data/ALL Files</a:t>
                      </a:r>
                    </a:p>
                  </a:txBody>
                  <a:tcPr/>
                </a:tc>
                <a:tc>
                  <a:txBody>
                    <a:bodyPr/>
                    <a:lstStyle/>
                    <a:p>
                      <a:r>
                        <a:rPr lang="en-US" sz="1200"/>
                        <a:t>1</a:t>
                      </a:r>
                    </a:p>
                  </a:txBody>
                  <a:tcPr/>
                </a:tc>
                <a:tc>
                  <a:txBody>
                    <a:bodyPr/>
                    <a:lstStyle/>
                    <a:p>
                      <a:pPr lvl="0">
                        <a:buNone/>
                      </a:pPr>
                      <a:r>
                        <a:rPr lang="en-US" sz="1200" b="0" i="0" u="none" strike="noStrike" noProof="0">
                          <a:latin typeface="Calibri"/>
                        </a:rPr>
                        <a:t>Stem_edu/src/calvin/create_slope_plots.R</a:t>
                      </a:r>
                    </a:p>
                  </a:txBody>
                  <a:tcPr/>
                </a:tc>
                <a:tc>
                  <a:txBody>
                    <a:bodyPr/>
                    <a:lstStyle/>
                    <a:p>
                      <a:r>
                        <a:rPr lang="en-US" sz="1200"/>
                        <a:t>5 CSVs that you can save where you like</a:t>
                      </a:r>
                    </a:p>
                  </a:txBody>
                  <a:tcPr/>
                </a:tc>
                <a:tc>
                  <a:txBody>
                    <a:bodyPr/>
                    <a:lstStyle/>
                    <a:p>
                      <a:pPr lvl="0">
                        <a:buNone/>
                      </a:pPr>
                      <a:r>
                        <a:rPr lang="en-US" sz="1200" b="0" i="0" u="none" strike="noStrike" noProof="0">
                          <a:latin typeface="Calibri"/>
                        </a:rPr>
                        <a:t>This file takes the raw resume data and selects only the people we want to look at. It has been modified to select the people from Virginia, but during the project we were looking for resumes from specific MSAs</a:t>
                      </a:r>
                    </a:p>
                  </a:txBody>
                  <a:tcPr/>
                </a:tc>
                <a:extLst>
                  <a:ext uri="{0D108BD9-81ED-4DB2-BD59-A6C34878D82A}">
                    <a16:rowId xmlns:a16="http://schemas.microsoft.com/office/drawing/2014/main" val="4290437681"/>
                  </a:ext>
                </a:extLst>
              </a:tr>
              <a:tr h="1398226">
                <a:tc>
                  <a:txBody>
                    <a:bodyPr/>
                    <a:lstStyle/>
                    <a:p>
                      <a:r>
                        <a:rPr lang="en-US" sz="1200"/>
                        <a:t>Profile the resume data</a:t>
                      </a:r>
                    </a:p>
                  </a:txBody>
                  <a:tcPr/>
                </a:tc>
                <a:tc>
                  <a:txBody>
                    <a:bodyPr/>
                    <a:lstStyle/>
                    <a:p>
                      <a:r>
                        <a:rPr lang="en-US" sz="1200"/>
                        <a:t>Output from above</a:t>
                      </a:r>
                    </a:p>
                  </a:txBody>
                  <a:tcPr/>
                </a:tc>
                <a:tc>
                  <a:txBody>
                    <a:bodyPr/>
                    <a:lstStyle/>
                    <a:p>
                      <a:r>
                        <a:rPr lang="en-US" sz="1200"/>
                        <a:t>2</a:t>
                      </a:r>
                    </a:p>
                  </a:txBody>
                  <a:tcPr/>
                </a:tc>
                <a:tc>
                  <a:txBody>
                    <a:bodyPr/>
                    <a:lstStyle/>
                    <a:p>
                      <a:r>
                        <a:rPr lang="en-US" sz="1200"/>
                        <a:t>Stem_edu/src/calvin/calvin_profiling.csv</a:t>
                      </a:r>
                    </a:p>
                  </a:txBody>
                  <a:tcPr/>
                </a:tc>
                <a:tc>
                  <a:txBody>
                    <a:bodyPr/>
                    <a:lstStyle/>
                    <a:p>
                      <a:r>
                        <a:rPr lang="en-US" sz="1200"/>
                        <a:t>Text on the console you can read for a profiling document</a:t>
                      </a:r>
                    </a:p>
                  </a:txBody>
                  <a:tcPr/>
                </a:tc>
                <a:tc>
                  <a:txBody>
                    <a:bodyPr/>
                    <a:lstStyle/>
                    <a:p>
                      <a:r>
                        <a:rPr lang="en-US" sz="1200"/>
                        <a:t>This code is likely not useful to anyone but me. You need to change certain variables and such along the way to get an output. I only made a few functions that made the process fast.</a:t>
                      </a:r>
                    </a:p>
                  </a:txBody>
                  <a:tcPr/>
                </a:tc>
                <a:extLst>
                  <a:ext uri="{0D108BD9-81ED-4DB2-BD59-A6C34878D82A}">
                    <a16:rowId xmlns:a16="http://schemas.microsoft.com/office/drawing/2014/main" val="2433231062"/>
                  </a:ext>
                </a:extLst>
              </a:tr>
              <a:tr h="1398226">
                <a:tc>
                  <a:txBody>
                    <a:bodyPr/>
                    <a:lstStyle/>
                    <a:p>
                      <a:endParaRPr lang="en-US" sz="1200"/>
                    </a:p>
                  </a:txBody>
                  <a:tcPr/>
                </a:tc>
                <a:tc>
                  <a:txBody>
                    <a:bodyPr/>
                    <a:lstStyle/>
                    <a:p>
                      <a:endParaRPr lang="en-US" sz="1200"/>
                    </a:p>
                  </a:txBody>
                  <a:tcPr/>
                </a:tc>
                <a:tc>
                  <a:txBody>
                    <a:bodyPr/>
                    <a:lstStyle/>
                    <a:p>
                      <a:r>
                        <a:rPr lang="en-US" sz="1200"/>
                        <a:t>3</a:t>
                      </a:r>
                    </a:p>
                  </a:txBody>
                  <a:tcPr/>
                </a:tc>
                <a:tc>
                  <a:txBody>
                    <a:bodyPr/>
                    <a:lstStyle/>
                    <a:p>
                      <a:endParaRPr lang="en-US" sz="1200"/>
                    </a:p>
                  </a:txBody>
                  <a:tcPr/>
                </a:tc>
                <a:tc>
                  <a:txBody>
                    <a:bodyPr/>
                    <a:lstStyle/>
                    <a:p>
                      <a:endParaRPr lang="en-US" sz="1200"/>
                    </a:p>
                    <a:p>
                      <a:endParaRPr lang="en-US" sz="1200"/>
                    </a:p>
                  </a:txBody>
                  <a:tcPr/>
                </a:tc>
                <a:tc>
                  <a:txBody>
                    <a:bodyPr/>
                    <a:lstStyle/>
                    <a:p>
                      <a:endParaRPr lang="en-US" sz="1200"/>
                    </a:p>
                  </a:txBody>
                  <a:tcPr/>
                </a:tc>
                <a:extLst>
                  <a:ext uri="{0D108BD9-81ED-4DB2-BD59-A6C34878D82A}">
                    <a16:rowId xmlns:a16="http://schemas.microsoft.com/office/drawing/2014/main" val="2754239605"/>
                  </a:ext>
                </a:extLst>
              </a:tr>
              <a:tr h="1621235">
                <a:tc>
                  <a:txBody>
                    <a:bodyPr/>
                    <a:lstStyle/>
                    <a:p>
                      <a:endParaRPr lang="en-US" sz="1200"/>
                    </a:p>
                  </a:txBody>
                  <a:tcPr/>
                </a:tc>
                <a:tc>
                  <a:txBody>
                    <a:bodyPr/>
                    <a:lstStyle/>
                    <a:p>
                      <a:endParaRPr lang="en-US" sz="1200"/>
                    </a:p>
                  </a:txBody>
                  <a:tcPr/>
                </a:tc>
                <a:tc>
                  <a:txBody>
                    <a:bodyPr/>
                    <a:lstStyle/>
                    <a:p>
                      <a:r>
                        <a:rPr lang="en-US" sz="1200"/>
                        <a:t>4</a:t>
                      </a:r>
                    </a:p>
                  </a:txBody>
                  <a:tcPr/>
                </a:tc>
                <a:tc>
                  <a:txBody>
                    <a:bodyPr/>
                    <a:lstStyle/>
                    <a:p>
                      <a:endParaRPr lang="en-US" sz="1200"/>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320507716"/>
                  </a:ext>
                </a:extLst>
              </a:tr>
            </a:tbl>
          </a:graphicData>
        </a:graphic>
      </p:graphicFrame>
      <p:sp>
        <p:nvSpPr>
          <p:cNvPr id="2" name="TextBox 1">
            <a:extLst>
              <a:ext uri="{FF2B5EF4-FFF2-40B4-BE49-F238E27FC236}">
                <a16:creationId xmlns:a16="http://schemas.microsoft.com/office/drawing/2014/main" id="{3C98E5C0-3E28-D845-81F1-91EDE7034F02}"/>
              </a:ext>
            </a:extLst>
          </p:cNvPr>
          <p:cNvSpPr txBox="1"/>
          <p:nvPr/>
        </p:nvSpPr>
        <p:spPr>
          <a:xfrm>
            <a:off x="346213" y="278296"/>
            <a:ext cx="11499574" cy="369332"/>
          </a:xfrm>
          <a:prstGeom prst="rect">
            <a:avLst/>
          </a:prstGeom>
          <a:noFill/>
        </p:spPr>
        <p:txBody>
          <a:bodyPr wrap="square" rtlCol="0" anchor="t">
            <a:spAutoFit/>
          </a:bodyPr>
          <a:lstStyle/>
          <a:p>
            <a:r>
              <a:rPr lang="en-US" b="1" dirty="0"/>
              <a:t>1. Import and profile resume data</a:t>
            </a:r>
          </a:p>
        </p:txBody>
      </p:sp>
    </p:spTree>
    <p:extLst>
      <p:ext uri="{BB962C8B-B14F-4D97-AF65-F5344CB8AC3E}">
        <p14:creationId xmlns:p14="http://schemas.microsoft.com/office/powerpoint/2010/main" val="19257021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4DA44824-2CE5-A54D-81F3-0DFA95FADD62}"/>
              </a:ext>
            </a:extLst>
          </p:cNvPr>
          <p:cNvGraphicFramePr>
            <a:graphicFrameLocks noGrp="1"/>
          </p:cNvGraphicFramePr>
          <p:nvPr>
            <p:ph sz="half" idx="2"/>
            <p:extLst>
              <p:ext uri="{D42A27DB-BD31-4B8C-83A1-F6EECF244321}">
                <p14:modId xmlns:p14="http://schemas.microsoft.com/office/powerpoint/2010/main" val="1267864548"/>
              </p:ext>
            </p:extLst>
          </p:nvPr>
        </p:nvGraphicFramePr>
        <p:xfrm>
          <a:off x="0" y="914400"/>
          <a:ext cx="12192000" cy="7378101"/>
        </p:xfrm>
        <a:graphic>
          <a:graphicData uri="http://schemas.openxmlformats.org/drawingml/2006/table">
            <a:tbl>
              <a:tblPr firstRow="1" bandRow="1">
                <a:tableStyleId>{21E4AEA4-8DFA-4A89-87EB-49C32662AFE0}</a:tableStyleId>
              </a:tblPr>
              <a:tblGrid>
                <a:gridCol w="1743843">
                  <a:extLst>
                    <a:ext uri="{9D8B030D-6E8A-4147-A177-3AD203B41FA5}">
                      <a16:colId xmlns:a16="http://schemas.microsoft.com/office/drawing/2014/main" val="1352491661"/>
                    </a:ext>
                  </a:extLst>
                </a:gridCol>
                <a:gridCol w="3076635">
                  <a:extLst>
                    <a:ext uri="{9D8B030D-6E8A-4147-A177-3AD203B41FA5}">
                      <a16:colId xmlns:a16="http://schemas.microsoft.com/office/drawing/2014/main" val="3130510922"/>
                    </a:ext>
                  </a:extLst>
                </a:gridCol>
                <a:gridCol w="834357">
                  <a:extLst>
                    <a:ext uri="{9D8B030D-6E8A-4147-A177-3AD203B41FA5}">
                      <a16:colId xmlns:a16="http://schemas.microsoft.com/office/drawing/2014/main" val="1636284579"/>
                    </a:ext>
                  </a:extLst>
                </a:gridCol>
                <a:gridCol w="2145611">
                  <a:extLst>
                    <a:ext uri="{9D8B030D-6E8A-4147-A177-3AD203B41FA5}">
                      <a16:colId xmlns:a16="http://schemas.microsoft.com/office/drawing/2014/main" val="2195260392"/>
                    </a:ext>
                  </a:extLst>
                </a:gridCol>
                <a:gridCol w="2195777">
                  <a:extLst>
                    <a:ext uri="{9D8B030D-6E8A-4147-A177-3AD203B41FA5}">
                      <a16:colId xmlns:a16="http://schemas.microsoft.com/office/drawing/2014/main" val="3536091448"/>
                    </a:ext>
                  </a:extLst>
                </a:gridCol>
                <a:gridCol w="2195777">
                  <a:extLst>
                    <a:ext uri="{9D8B030D-6E8A-4147-A177-3AD203B41FA5}">
                      <a16:colId xmlns:a16="http://schemas.microsoft.com/office/drawing/2014/main" val="4195063144"/>
                    </a:ext>
                  </a:extLst>
                </a:gridCol>
              </a:tblGrid>
              <a:tr h="278430">
                <a:tc>
                  <a:txBody>
                    <a:bodyPr/>
                    <a:lstStyle/>
                    <a:p>
                      <a:r>
                        <a:rPr lang="en-US" sz="1400"/>
                        <a:t>Goal</a:t>
                      </a:r>
                    </a:p>
                  </a:txBody>
                  <a:tcPr/>
                </a:tc>
                <a:tc>
                  <a:txBody>
                    <a:bodyPr/>
                    <a:lstStyle/>
                    <a:p>
                      <a:r>
                        <a:rPr lang="en-US" sz="1400"/>
                        <a:t>Input</a:t>
                      </a:r>
                    </a:p>
                  </a:txBody>
                  <a:tcPr/>
                </a:tc>
                <a:tc>
                  <a:txBody>
                    <a:bodyPr/>
                    <a:lstStyle/>
                    <a:p>
                      <a:r>
                        <a:rPr lang="en-US" sz="1400"/>
                        <a:t>Run Order</a:t>
                      </a:r>
                    </a:p>
                  </a:txBody>
                  <a:tcPr/>
                </a:tc>
                <a:tc>
                  <a:txBody>
                    <a:bodyPr/>
                    <a:lstStyle/>
                    <a:p>
                      <a:r>
                        <a:rPr lang="en-US" sz="1400"/>
                        <a:t>Script</a:t>
                      </a:r>
                    </a:p>
                  </a:txBody>
                  <a:tcPr/>
                </a:tc>
                <a:tc>
                  <a:txBody>
                    <a:bodyPr/>
                    <a:lstStyle/>
                    <a:p>
                      <a:r>
                        <a:rPr lang="en-US" sz="1400"/>
                        <a:t>Output</a:t>
                      </a:r>
                    </a:p>
                  </a:txBody>
                  <a:tcPr/>
                </a:tc>
                <a:tc>
                  <a:txBody>
                    <a:bodyPr/>
                    <a:lstStyle/>
                    <a:p>
                      <a:r>
                        <a:rPr lang="en-US" sz="1400"/>
                        <a:t>Notes</a:t>
                      </a:r>
                    </a:p>
                  </a:txBody>
                  <a:tcPr/>
                </a:tc>
                <a:extLst>
                  <a:ext uri="{0D108BD9-81ED-4DB2-BD59-A6C34878D82A}">
                    <a16:rowId xmlns:a16="http://schemas.microsoft.com/office/drawing/2014/main" val="744206176"/>
                  </a:ext>
                </a:extLst>
              </a:tr>
              <a:tr h="1230439">
                <a:tc>
                  <a:txBody>
                    <a:bodyPr/>
                    <a:lstStyle/>
                    <a:p>
                      <a:pPr lvl="0">
                        <a:buNone/>
                      </a:pPr>
                      <a:r>
                        <a:rPr lang="en-US" sz="1200" b="0" i="0" u="none" strike="noStrike" noProof="0">
                          <a:latin typeface="Calibri"/>
                        </a:rPr>
                        <a:t>Data Manipulation (Blacksburg)</a:t>
                      </a:r>
                    </a:p>
                  </a:txBody>
                  <a:tcPr/>
                </a:tc>
                <a:tc>
                  <a:txBody>
                    <a:bodyPr/>
                    <a:lstStyle/>
                    <a:p>
                      <a:pPr lvl="0" algn="l">
                        <a:lnSpc>
                          <a:spcPct val="100000"/>
                        </a:lnSpc>
                        <a:spcBef>
                          <a:spcPts val="0"/>
                        </a:spcBef>
                        <a:spcAft>
                          <a:spcPts val="0"/>
                        </a:spcAft>
                        <a:buNone/>
                      </a:pPr>
                      <a:r>
                        <a:rPr lang="en-US" sz="1200" b="0" i="0" u="none" strike="noStrike" noProof="0" err="1">
                          <a:latin typeface="Calibri"/>
                        </a:rPr>
                        <a:t>stem_edu</a:t>
                      </a: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a:t>
                      </a:r>
                      <a:r>
                        <a:rPr lang="en-US" sz="1200" b="0" i="0" u="none" strike="noStrike" noProof="0" err="1">
                          <a:latin typeface="Calibri"/>
                        </a:rPr>
                        <a:t>MSA_Resumes</a:t>
                      </a:r>
                      <a:r>
                        <a:rPr lang="en-US" sz="1200" b="0" i="0" u="none" strike="noStrike" noProof="0">
                          <a:latin typeface="Calibri"/>
                        </a:rPr>
                        <a:t>/blacksburg_edu.txt</a:t>
                      </a:r>
                    </a:p>
                    <a:p>
                      <a:pPr lvl="0" algn="l">
                        <a:lnSpc>
                          <a:spcPct val="100000"/>
                        </a:lnSpc>
                        <a:spcBef>
                          <a:spcPts val="0"/>
                        </a:spcBef>
                        <a:spcAft>
                          <a:spcPts val="0"/>
                        </a:spcAft>
                        <a:buNone/>
                      </a:pPr>
                      <a:endParaRPr lang="en-US" sz="1200" b="0" i="0" u="none" strike="noStrike" noProof="0">
                        <a:latin typeface="Calibri"/>
                      </a:endParaRPr>
                    </a:p>
                    <a:p>
                      <a:pPr lvl="0" algn="l">
                        <a:lnSpc>
                          <a:spcPct val="100000"/>
                        </a:lnSpc>
                        <a:spcBef>
                          <a:spcPts val="0"/>
                        </a:spcBef>
                        <a:spcAft>
                          <a:spcPts val="0"/>
                        </a:spcAft>
                        <a:buNone/>
                      </a:pPr>
                      <a:r>
                        <a:rPr lang="en-US" sz="1200" b="0" i="0" u="none" strike="noStrike" noProof="0" err="1">
                          <a:latin typeface="Calibri"/>
                        </a:rPr>
                        <a:t>stem_edu</a:t>
                      </a: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a:t>
                      </a:r>
                      <a:r>
                        <a:rPr lang="en-US" sz="1200" b="0" i="0" u="none" strike="noStrike" noProof="0" err="1">
                          <a:latin typeface="Calibri"/>
                        </a:rPr>
                        <a:t>MSA_Resumes</a:t>
                      </a:r>
                      <a:r>
                        <a:rPr lang="en-US" sz="1200" b="0" i="0" u="none" strike="noStrike" noProof="0">
                          <a:latin typeface="Calibri"/>
                        </a:rPr>
                        <a:t>/blacksburg_personal.txt</a:t>
                      </a:r>
                    </a:p>
                    <a:p>
                      <a:pPr lvl="0" algn="l">
                        <a:lnSpc>
                          <a:spcPct val="100000"/>
                        </a:lnSpc>
                        <a:spcBef>
                          <a:spcPts val="0"/>
                        </a:spcBef>
                        <a:spcAft>
                          <a:spcPts val="0"/>
                        </a:spcAft>
                        <a:buNone/>
                      </a:pPr>
                      <a:endParaRPr lang="en-US" sz="1200" b="0" i="0" u="none" strike="noStrike" noProof="0">
                        <a:latin typeface="Calibri"/>
                      </a:endParaRPr>
                    </a:p>
                    <a:p>
                      <a:pPr lvl="0" algn="l">
                        <a:lnSpc>
                          <a:spcPct val="100000"/>
                        </a:lnSpc>
                        <a:spcBef>
                          <a:spcPts val="0"/>
                        </a:spcBef>
                        <a:spcAft>
                          <a:spcPts val="0"/>
                        </a:spcAft>
                        <a:buNone/>
                      </a:pPr>
                      <a:r>
                        <a:rPr lang="en-US" sz="1200" b="0" i="0" u="none" strike="noStrike" noProof="0" err="1">
                          <a:latin typeface="Calibri"/>
                        </a:rPr>
                        <a:t>stem_edu</a:t>
                      </a: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a:t>
                      </a:r>
                      <a:r>
                        <a:rPr lang="en-US" sz="1200" b="0" i="0" u="none" strike="noStrike" noProof="0" err="1">
                          <a:latin typeface="Calibri"/>
                        </a:rPr>
                        <a:t>MSA_Resumes</a:t>
                      </a:r>
                      <a:r>
                        <a:rPr lang="en-US" sz="1200" b="0" i="0" u="none" strike="noStrike" noProof="0">
                          <a:latin typeface="Calibri"/>
                        </a:rPr>
                        <a:t>/blacksburg_skills.txt</a:t>
                      </a:r>
                    </a:p>
                    <a:p>
                      <a:pPr lvl="0">
                        <a:buNone/>
                      </a:pPr>
                      <a:endParaRPr lang="en-US" sz="1200"/>
                    </a:p>
                  </a:txBody>
                  <a:tcPr/>
                </a:tc>
                <a:tc>
                  <a:txBody>
                    <a:bodyPr/>
                    <a:lstStyle/>
                    <a:p>
                      <a:r>
                        <a:rPr lang="en-US" sz="1200"/>
                        <a:t>1</a:t>
                      </a:r>
                    </a:p>
                  </a:txBody>
                  <a:tcPr/>
                </a:tc>
                <a:tc>
                  <a:txBody>
                    <a:bodyPr/>
                    <a:lstStyle/>
                    <a:p>
                      <a:pPr lvl="0">
                        <a:buNone/>
                      </a:pPr>
                      <a:r>
                        <a:rPr lang="en-US" sz="1200" b="0" i="0" u="none" strike="noStrike" noProof="0" err="1">
                          <a:latin typeface="Calibri"/>
                        </a:rPr>
                        <a:t>stem_edu</a:t>
                      </a:r>
                      <a:r>
                        <a:rPr lang="en-US" sz="1200" b="0" i="0" u="none" strike="noStrike" noProof="0">
                          <a:latin typeface="Calibri"/>
                        </a:rPr>
                        <a:t>/</a:t>
                      </a:r>
                      <a:r>
                        <a:rPr lang="en-US" sz="1200" b="0" i="0" u="none" strike="noStrike" noProof="0" err="1">
                          <a:latin typeface="Calibri"/>
                        </a:rPr>
                        <a:t>src</a:t>
                      </a:r>
                      <a:r>
                        <a:rPr lang="en-US" sz="1200" b="0" i="0" u="none" strike="noStrike" noProof="0">
                          <a:latin typeface="Calibri"/>
                        </a:rPr>
                        <a:t>/</a:t>
                      </a:r>
                      <a:r>
                        <a:rPr lang="en-US" sz="1200" b="0" i="0" u="none" strike="noStrike" noProof="0" err="1">
                          <a:latin typeface="Calibri"/>
                        </a:rPr>
                        <a:t>sarah</a:t>
                      </a:r>
                      <a:r>
                        <a:rPr lang="en-US" sz="1200" b="0" i="0" u="none" strike="noStrike" noProof="0">
                          <a:latin typeface="Calibri"/>
                        </a:rPr>
                        <a:t>/</a:t>
                      </a:r>
                      <a:r>
                        <a:rPr lang="en-US" sz="1200" b="0" i="0" u="none" strike="noStrike" noProof="0" err="1">
                          <a:latin typeface="Calibri"/>
                        </a:rPr>
                        <a:t>resume_edits_sarah_b.R</a:t>
                      </a:r>
                    </a:p>
                  </a:txBody>
                  <a:tcPr/>
                </a:tc>
                <a:tc>
                  <a:txBody>
                    <a:bodyPr/>
                    <a:lstStyle/>
                    <a:p>
                      <a:pPr lvl="0" algn="l">
                        <a:lnSpc>
                          <a:spcPct val="100000"/>
                        </a:lnSpc>
                        <a:spcBef>
                          <a:spcPts val="0"/>
                        </a:spcBef>
                        <a:spcAft>
                          <a:spcPts val="0"/>
                        </a:spcAft>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a:t>
                      </a:r>
                      <a:r>
                        <a:rPr lang="en-US" sz="1200" b="0" i="0" u="none" strike="noStrike" noProof="0" err="1">
                          <a:latin typeface="Calibri"/>
                        </a:rPr>
                        <a:t>resume_with_bachelors</a:t>
                      </a:r>
                      <a:r>
                        <a:rPr lang="en-US" sz="1200" b="0" i="0" u="none" strike="noStrike" noProof="0">
                          <a:latin typeface="Calibri"/>
                        </a:rPr>
                        <a:t>/resume_with_bachelors_b_main.csv</a:t>
                      </a:r>
                    </a:p>
                    <a:p>
                      <a:pPr lvl="0" algn="l">
                        <a:lnSpc>
                          <a:spcPct val="100000"/>
                        </a:lnSpc>
                        <a:spcBef>
                          <a:spcPts val="0"/>
                        </a:spcBef>
                        <a:spcAft>
                          <a:spcPts val="0"/>
                        </a:spcAft>
                        <a:buNone/>
                      </a:pPr>
                      <a:endParaRPr lang="en-US" sz="1200" b="0" i="0" u="none" strike="noStrike" noProof="0">
                        <a:latin typeface="Calibri"/>
                      </a:endParaRPr>
                    </a:p>
                    <a:p>
                      <a:pPr lvl="0" algn="l">
                        <a:lnSpc>
                          <a:spcPct val="100000"/>
                        </a:lnSpc>
                        <a:spcBef>
                          <a:spcPts val="0"/>
                        </a:spcBef>
                        <a:spcAft>
                          <a:spcPts val="0"/>
                        </a:spcAft>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a:t>
                      </a:r>
                      <a:r>
                        <a:rPr lang="en-US" sz="1200" b="0" i="0" u="none" strike="noStrike" noProof="0" err="1">
                          <a:latin typeface="Calibri"/>
                        </a:rPr>
                        <a:t>resume_with_bachelors</a:t>
                      </a:r>
                      <a:r>
                        <a:rPr lang="en-US" sz="1200" b="0" i="0" u="none" strike="noStrike" noProof="0">
                          <a:latin typeface="Calibri"/>
                        </a:rPr>
                        <a:t>/resume_with_bachelors_b_skill.csv</a:t>
                      </a:r>
                    </a:p>
                    <a:p>
                      <a:pPr lvl="0">
                        <a:buNone/>
                      </a:pPr>
                      <a:endParaRPr lang="en-US" sz="1200"/>
                    </a:p>
                  </a:txBody>
                  <a:tcPr/>
                </a:tc>
                <a:tc>
                  <a:txBody>
                    <a:bodyPr/>
                    <a:lstStyle/>
                    <a:p>
                      <a:pPr lvl="0" algn="l">
                        <a:lnSpc>
                          <a:spcPct val="100000"/>
                        </a:lnSpc>
                        <a:spcBef>
                          <a:spcPts val="0"/>
                        </a:spcBef>
                        <a:spcAft>
                          <a:spcPts val="0"/>
                        </a:spcAft>
                        <a:buNone/>
                      </a:pPr>
                      <a:r>
                        <a:rPr lang="en-US" sz="1200" b="0" i="0" u="none" strike="noStrike" noProof="0">
                          <a:latin typeface="Calibri"/>
                        </a:rPr>
                        <a:t>Created “bachelors/non-bachelors” column on resume main and resume skill tables</a:t>
                      </a:r>
                    </a:p>
                    <a:p>
                      <a:pPr lvl="0" algn="l">
                        <a:lnSpc>
                          <a:spcPct val="100000"/>
                        </a:lnSpc>
                        <a:spcBef>
                          <a:spcPts val="0"/>
                        </a:spcBef>
                        <a:spcAft>
                          <a:spcPts val="0"/>
                        </a:spcAft>
                        <a:buNone/>
                      </a:pPr>
                      <a:endParaRPr lang="en-US" sz="1200" b="0" i="0" u="none" strike="noStrike" noProof="0">
                        <a:latin typeface="Calibri"/>
                      </a:endParaRPr>
                    </a:p>
                    <a:p>
                      <a:pPr lvl="0" algn="l">
                        <a:lnSpc>
                          <a:spcPct val="100000"/>
                        </a:lnSpc>
                        <a:spcBef>
                          <a:spcPts val="0"/>
                        </a:spcBef>
                        <a:spcAft>
                          <a:spcPts val="0"/>
                        </a:spcAft>
                        <a:buNone/>
                      </a:pPr>
                      <a:r>
                        <a:rPr lang="en-US" sz="1200" b="0" i="0" u="none" strike="noStrike" noProof="0">
                          <a:latin typeface="Calibri"/>
                        </a:rPr>
                        <a:t>There is a draft, that we later changed to this version and did not use, located here: </a:t>
                      </a:r>
                    </a:p>
                    <a:p>
                      <a:pPr lvl="0" algn="l">
                        <a:lnSpc>
                          <a:spcPct val="100000"/>
                        </a:lnSpc>
                        <a:spcBef>
                          <a:spcPts val="0"/>
                        </a:spcBef>
                        <a:spcAft>
                          <a:spcPts val="0"/>
                        </a:spcAft>
                        <a:buNone/>
                      </a:pPr>
                      <a:r>
                        <a:rPr lang="en-US" sz="1200" b="0" i="0" u="none" strike="noStrike" noProof="0" err="1">
                          <a:latin typeface="Calibri"/>
                        </a:rPr>
                        <a:t>Stem_edu</a:t>
                      </a:r>
                      <a:r>
                        <a:rPr lang="en-US" sz="1200" b="0" i="0" u="none" strike="noStrike" noProof="0">
                          <a:latin typeface="Calibri"/>
                        </a:rPr>
                        <a:t>/</a:t>
                      </a:r>
                      <a:r>
                        <a:rPr lang="en-US" sz="1200" b="0" i="0" u="none" strike="noStrike" noProof="0" err="1">
                          <a:latin typeface="Calibri"/>
                        </a:rPr>
                        <a:t>src</a:t>
                      </a:r>
                      <a:r>
                        <a:rPr lang="en-US" sz="1200" b="0" i="0" u="none" strike="noStrike" noProof="0">
                          <a:latin typeface="Calibri"/>
                        </a:rPr>
                        <a:t>/</a:t>
                      </a:r>
                      <a:r>
                        <a:rPr lang="en-US" sz="1200" b="0" i="0" u="none" strike="noStrike" noProof="0" err="1">
                          <a:latin typeface="Calibri"/>
                        </a:rPr>
                        <a:t>sarah</a:t>
                      </a:r>
                      <a:r>
                        <a:rPr lang="en-US" sz="1200" b="0" i="0" u="none" strike="noStrike" noProof="0">
                          <a:latin typeface="Calibri"/>
                        </a:rPr>
                        <a:t>/</a:t>
                      </a:r>
                      <a:r>
                        <a:rPr lang="en-US" sz="1200" b="0" i="0" u="none" strike="noStrike" noProof="0" err="1">
                          <a:latin typeface="Calibri"/>
                        </a:rPr>
                        <a:t>resume_calvin_sarah.R</a:t>
                      </a:r>
                    </a:p>
                    <a:p>
                      <a:pPr lvl="0">
                        <a:buNone/>
                      </a:pPr>
                      <a:endParaRPr lang="en-US" sz="1200"/>
                    </a:p>
                  </a:txBody>
                  <a:tcPr/>
                </a:tc>
                <a:extLst>
                  <a:ext uri="{0D108BD9-81ED-4DB2-BD59-A6C34878D82A}">
                    <a16:rowId xmlns:a16="http://schemas.microsoft.com/office/drawing/2014/main" val="4290437681"/>
                  </a:ext>
                </a:extLst>
              </a:tr>
              <a:tr h="1398226">
                <a:tc>
                  <a:txBody>
                    <a:bodyPr/>
                    <a:lstStyle/>
                    <a:p>
                      <a:pPr lvl="0">
                        <a:buNone/>
                      </a:pPr>
                      <a:r>
                        <a:rPr lang="en-US" sz="1200" b="0" i="0" u="none" strike="noStrike" noProof="0">
                          <a:latin typeface="Calibri"/>
                        </a:rPr>
                        <a:t>Data Manipulation (Richmond)</a:t>
                      </a:r>
                    </a:p>
                  </a:txBody>
                  <a:tcPr/>
                </a:tc>
                <a:tc>
                  <a:txBody>
                    <a:bodyPr/>
                    <a:lstStyle/>
                    <a:p>
                      <a:pPr lvl="0" algn="l">
                        <a:lnSpc>
                          <a:spcPct val="100000"/>
                        </a:lnSpc>
                        <a:spcBef>
                          <a:spcPts val="0"/>
                        </a:spcBef>
                        <a:spcAft>
                          <a:spcPts val="0"/>
                        </a:spcAft>
                        <a:buNone/>
                      </a:pPr>
                      <a:r>
                        <a:rPr lang="en-US" sz="1200" b="0" i="0" u="none" strike="noStrike" noProof="0" err="1">
                          <a:latin typeface="Calibri"/>
                        </a:rPr>
                        <a:t>stem_edu</a:t>
                      </a: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a:t>
                      </a:r>
                      <a:r>
                        <a:rPr lang="en-US" sz="1200" b="0" i="0" u="none" strike="noStrike" noProof="0" err="1">
                          <a:latin typeface="Calibri"/>
                        </a:rPr>
                        <a:t>MSA_Resumes</a:t>
                      </a:r>
                      <a:r>
                        <a:rPr lang="en-US" sz="1200" b="0" i="0" u="none" strike="noStrike" noProof="0">
                          <a:latin typeface="Calibri"/>
                        </a:rPr>
                        <a:t>/richmond_edu.txt</a:t>
                      </a:r>
                    </a:p>
                    <a:p>
                      <a:pPr lvl="0" algn="l">
                        <a:lnSpc>
                          <a:spcPct val="100000"/>
                        </a:lnSpc>
                        <a:spcBef>
                          <a:spcPts val="0"/>
                        </a:spcBef>
                        <a:spcAft>
                          <a:spcPts val="0"/>
                        </a:spcAft>
                        <a:buNone/>
                      </a:pPr>
                      <a:endParaRPr lang="en-US" sz="1200" b="0" i="0" u="none" strike="noStrike" noProof="0">
                        <a:latin typeface="Calibri"/>
                      </a:endParaRPr>
                    </a:p>
                    <a:p>
                      <a:pPr lvl="0" algn="l">
                        <a:lnSpc>
                          <a:spcPct val="100000"/>
                        </a:lnSpc>
                        <a:spcBef>
                          <a:spcPts val="0"/>
                        </a:spcBef>
                        <a:spcAft>
                          <a:spcPts val="0"/>
                        </a:spcAft>
                        <a:buNone/>
                      </a:pPr>
                      <a:r>
                        <a:rPr lang="en-US" sz="1200" b="0" i="0" u="none" strike="noStrike" noProof="0" err="1">
                          <a:latin typeface="Calibri"/>
                        </a:rPr>
                        <a:t>stem_edu</a:t>
                      </a: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a:t>
                      </a:r>
                      <a:r>
                        <a:rPr lang="en-US" sz="1200" b="0" i="0" u="none" strike="noStrike" noProof="0" err="1">
                          <a:latin typeface="Calibri"/>
                        </a:rPr>
                        <a:t>MSA_Resumes</a:t>
                      </a:r>
                      <a:r>
                        <a:rPr lang="en-US" sz="1200" b="0" i="0" u="none" strike="noStrike" noProof="0">
                          <a:latin typeface="Calibri"/>
                        </a:rPr>
                        <a:t>/richmond_personal.txt</a:t>
                      </a:r>
                    </a:p>
                    <a:p>
                      <a:pPr lvl="0" algn="l">
                        <a:lnSpc>
                          <a:spcPct val="100000"/>
                        </a:lnSpc>
                        <a:spcBef>
                          <a:spcPts val="0"/>
                        </a:spcBef>
                        <a:spcAft>
                          <a:spcPts val="0"/>
                        </a:spcAft>
                        <a:buNone/>
                      </a:pPr>
                      <a:endParaRPr lang="en-US" sz="1200" b="0" i="0" u="none" strike="noStrike" noProof="0">
                        <a:latin typeface="Calibri"/>
                      </a:endParaRPr>
                    </a:p>
                    <a:p>
                      <a:pPr lvl="0" algn="l">
                        <a:lnSpc>
                          <a:spcPct val="100000"/>
                        </a:lnSpc>
                        <a:spcBef>
                          <a:spcPts val="0"/>
                        </a:spcBef>
                        <a:spcAft>
                          <a:spcPts val="0"/>
                        </a:spcAft>
                        <a:buNone/>
                      </a:pPr>
                      <a:r>
                        <a:rPr lang="en-US" sz="1200" b="0" i="0" u="none" strike="noStrike" noProof="0" err="1">
                          <a:latin typeface="Calibri"/>
                        </a:rPr>
                        <a:t>stem_edu</a:t>
                      </a: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a:t>
                      </a:r>
                      <a:r>
                        <a:rPr lang="en-US" sz="1200" b="0" i="0" u="none" strike="noStrike" noProof="0" err="1">
                          <a:latin typeface="Calibri"/>
                        </a:rPr>
                        <a:t>MSA_Resumes</a:t>
                      </a:r>
                      <a:r>
                        <a:rPr lang="en-US" sz="1200" b="0" i="0" u="none" strike="noStrike" noProof="0">
                          <a:latin typeface="Calibri"/>
                        </a:rPr>
                        <a:t>/richmond_skills.txt</a:t>
                      </a:r>
                    </a:p>
                    <a:p>
                      <a:pPr lvl="0">
                        <a:buNone/>
                      </a:pPr>
                      <a:endParaRPr lang="en-US" sz="1200"/>
                    </a:p>
                  </a:txBody>
                  <a:tcPr/>
                </a:tc>
                <a:tc>
                  <a:txBody>
                    <a:bodyPr/>
                    <a:lstStyle/>
                    <a:p>
                      <a:r>
                        <a:rPr lang="en-US" sz="1200"/>
                        <a:t>2</a:t>
                      </a:r>
                    </a:p>
                  </a:txBody>
                  <a:tcPr/>
                </a:tc>
                <a:tc>
                  <a:txBody>
                    <a:bodyPr/>
                    <a:lstStyle/>
                    <a:p>
                      <a:pPr lvl="0">
                        <a:buNone/>
                      </a:pPr>
                      <a:r>
                        <a:rPr lang="en-US" sz="1200" b="0" i="0" u="none" strike="noStrike" noProof="0" err="1">
                          <a:latin typeface="Calibri"/>
                        </a:rPr>
                        <a:t>stem_edu</a:t>
                      </a:r>
                      <a:r>
                        <a:rPr lang="en-US" sz="1200" b="0" i="0" u="none" strike="noStrike" noProof="0">
                          <a:latin typeface="Calibri"/>
                        </a:rPr>
                        <a:t>/</a:t>
                      </a:r>
                      <a:r>
                        <a:rPr lang="en-US" sz="1200" b="0" i="0" u="none" strike="noStrike" noProof="0" err="1">
                          <a:latin typeface="Calibri"/>
                        </a:rPr>
                        <a:t>src</a:t>
                      </a:r>
                      <a:r>
                        <a:rPr lang="en-US" sz="1200" b="0" i="0" u="none" strike="noStrike" noProof="0">
                          <a:latin typeface="Calibri"/>
                        </a:rPr>
                        <a:t>/</a:t>
                      </a:r>
                      <a:r>
                        <a:rPr lang="en-US" sz="1200" b="0" i="0" u="none" strike="noStrike" noProof="0" err="1">
                          <a:latin typeface="Calibri"/>
                        </a:rPr>
                        <a:t>sarah</a:t>
                      </a:r>
                      <a:r>
                        <a:rPr lang="en-US" sz="1200" b="0" i="0" u="none" strike="noStrike" noProof="0">
                          <a:latin typeface="Calibri"/>
                        </a:rPr>
                        <a:t>/</a:t>
                      </a:r>
                      <a:r>
                        <a:rPr lang="en-US" sz="1200" b="0" i="0" u="none" strike="noStrike" noProof="0" err="1">
                          <a:latin typeface="Calibri"/>
                        </a:rPr>
                        <a:t>resume_edits_sarah_r.R</a:t>
                      </a:r>
                    </a:p>
                  </a:txBody>
                  <a:tcPr/>
                </a:tc>
                <a:tc>
                  <a:txBody>
                    <a:bodyPr/>
                    <a:lstStyle/>
                    <a:p>
                      <a:pPr lvl="0" algn="l">
                        <a:lnSpc>
                          <a:spcPct val="100000"/>
                        </a:lnSpc>
                        <a:spcBef>
                          <a:spcPts val="0"/>
                        </a:spcBef>
                        <a:spcAft>
                          <a:spcPts val="0"/>
                        </a:spcAft>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a:t>
                      </a:r>
                      <a:r>
                        <a:rPr lang="en-US" sz="1200" b="0" i="0" u="none" strike="noStrike" noProof="0" err="1">
                          <a:latin typeface="Calibri"/>
                        </a:rPr>
                        <a:t>resume_with_bachelors</a:t>
                      </a:r>
                      <a:r>
                        <a:rPr lang="en-US" sz="1200" b="0" i="0" u="none" strike="noStrike" noProof="0">
                          <a:latin typeface="Calibri"/>
                        </a:rPr>
                        <a:t>/resume_with_bachelors_r_main.csv</a:t>
                      </a:r>
                    </a:p>
                    <a:p>
                      <a:pPr lvl="0" algn="l">
                        <a:lnSpc>
                          <a:spcPct val="100000"/>
                        </a:lnSpc>
                        <a:spcBef>
                          <a:spcPts val="0"/>
                        </a:spcBef>
                        <a:spcAft>
                          <a:spcPts val="0"/>
                        </a:spcAft>
                        <a:buNone/>
                      </a:pPr>
                      <a:endParaRPr lang="en-US" sz="1200" b="0" i="0" u="none" strike="noStrike" noProof="0">
                        <a:latin typeface="Calibri"/>
                      </a:endParaRPr>
                    </a:p>
                    <a:p>
                      <a:pPr lvl="0" algn="l">
                        <a:lnSpc>
                          <a:spcPct val="100000"/>
                        </a:lnSpc>
                        <a:spcBef>
                          <a:spcPts val="0"/>
                        </a:spcBef>
                        <a:spcAft>
                          <a:spcPts val="0"/>
                        </a:spcAft>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a:t>
                      </a:r>
                      <a:r>
                        <a:rPr lang="en-US" sz="1200" b="0" i="0" u="none" strike="noStrike" noProof="0" err="1">
                          <a:latin typeface="Calibri"/>
                        </a:rPr>
                        <a:t>resume_with_bachelors</a:t>
                      </a:r>
                      <a:r>
                        <a:rPr lang="en-US" sz="1200" b="0" i="0" u="none" strike="noStrike" noProof="0">
                          <a:latin typeface="Calibri"/>
                        </a:rPr>
                        <a:t>/resume_with_bachelors_r_skill.csv</a:t>
                      </a:r>
                    </a:p>
                    <a:p>
                      <a:pPr lvl="0">
                        <a:buNone/>
                      </a:pPr>
                      <a:endParaRPr lang="en-US" sz="1200"/>
                    </a:p>
                  </a:txBody>
                  <a:tcPr/>
                </a:tc>
                <a:tc>
                  <a:txBody>
                    <a:bodyPr/>
                    <a:lstStyle/>
                    <a:p>
                      <a:pPr lvl="0" algn="l">
                        <a:lnSpc>
                          <a:spcPct val="100000"/>
                        </a:lnSpc>
                        <a:spcBef>
                          <a:spcPts val="0"/>
                        </a:spcBef>
                        <a:spcAft>
                          <a:spcPts val="0"/>
                        </a:spcAft>
                        <a:buNone/>
                      </a:pPr>
                      <a:r>
                        <a:rPr lang="en-US" sz="1200" b="0" i="0" u="none" strike="noStrike" noProof="0">
                          <a:latin typeface="Calibri"/>
                        </a:rPr>
                        <a:t>Created “bachelors/non-bachelors” column on resume main and resume skill tables</a:t>
                      </a:r>
                    </a:p>
                    <a:p>
                      <a:pPr lvl="0" algn="l">
                        <a:lnSpc>
                          <a:spcPct val="100000"/>
                        </a:lnSpc>
                        <a:spcBef>
                          <a:spcPts val="0"/>
                        </a:spcBef>
                        <a:spcAft>
                          <a:spcPts val="0"/>
                        </a:spcAft>
                        <a:buNone/>
                      </a:pPr>
                      <a:endParaRPr lang="en-US" sz="1200" b="0" i="0" u="none" strike="noStrike" noProof="0">
                        <a:latin typeface="Calibri"/>
                      </a:endParaRPr>
                    </a:p>
                    <a:p>
                      <a:pPr lvl="0" algn="l">
                        <a:lnSpc>
                          <a:spcPct val="100000"/>
                        </a:lnSpc>
                        <a:spcBef>
                          <a:spcPts val="0"/>
                        </a:spcBef>
                        <a:spcAft>
                          <a:spcPts val="0"/>
                        </a:spcAft>
                        <a:buNone/>
                      </a:pPr>
                      <a:r>
                        <a:rPr lang="en-US" sz="1200" b="0" i="0" u="none" strike="noStrike" noProof="0">
                          <a:latin typeface="Calibri"/>
                        </a:rPr>
                        <a:t>There is a draft, that we later changed to this version and did not use, located here: </a:t>
                      </a:r>
                    </a:p>
                    <a:p>
                      <a:pPr lvl="0" algn="l">
                        <a:lnSpc>
                          <a:spcPct val="100000"/>
                        </a:lnSpc>
                        <a:spcBef>
                          <a:spcPts val="0"/>
                        </a:spcBef>
                        <a:spcAft>
                          <a:spcPts val="0"/>
                        </a:spcAft>
                        <a:buNone/>
                      </a:pPr>
                      <a:r>
                        <a:rPr lang="en-US" sz="1200" b="0" i="0" u="none" strike="noStrike" noProof="0" err="1">
                          <a:latin typeface="Calibri"/>
                        </a:rPr>
                        <a:t>Stem_edu</a:t>
                      </a:r>
                      <a:r>
                        <a:rPr lang="en-US" sz="1200" b="0" i="0" u="none" strike="noStrike" noProof="0">
                          <a:latin typeface="Calibri"/>
                        </a:rPr>
                        <a:t>/</a:t>
                      </a:r>
                      <a:r>
                        <a:rPr lang="en-US" sz="1200" b="0" i="0" u="none" strike="noStrike" noProof="0" err="1">
                          <a:latin typeface="Calibri"/>
                        </a:rPr>
                        <a:t>src</a:t>
                      </a:r>
                      <a:r>
                        <a:rPr lang="en-US" sz="1200" b="0" i="0" u="none" strike="noStrike" noProof="0">
                          <a:latin typeface="Calibri"/>
                        </a:rPr>
                        <a:t>/</a:t>
                      </a:r>
                      <a:r>
                        <a:rPr lang="en-US" sz="1200" b="0" i="0" u="none" strike="noStrike" noProof="0" err="1">
                          <a:latin typeface="Calibri"/>
                        </a:rPr>
                        <a:t>sarah</a:t>
                      </a:r>
                      <a:r>
                        <a:rPr lang="en-US" sz="1200" b="0" i="0" u="none" strike="noStrike" noProof="0">
                          <a:latin typeface="Calibri"/>
                        </a:rPr>
                        <a:t>/</a:t>
                      </a:r>
                      <a:r>
                        <a:rPr lang="en-US" sz="1200" b="0" i="0" u="none" strike="noStrike" noProof="0" err="1">
                          <a:latin typeface="Calibri"/>
                        </a:rPr>
                        <a:t>resume_calvin_sarah_richmond.R</a:t>
                      </a:r>
                    </a:p>
                    <a:p>
                      <a:pPr lvl="0">
                        <a:buNone/>
                      </a:pPr>
                      <a:endParaRPr lang="en-US" sz="1200"/>
                    </a:p>
                  </a:txBody>
                  <a:tcPr/>
                </a:tc>
                <a:extLst>
                  <a:ext uri="{0D108BD9-81ED-4DB2-BD59-A6C34878D82A}">
                    <a16:rowId xmlns:a16="http://schemas.microsoft.com/office/drawing/2014/main" val="2433231062"/>
                  </a:ext>
                </a:extLst>
              </a:tr>
              <a:tr h="1398226">
                <a:tc>
                  <a:txBody>
                    <a:bodyPr/>
                    <a:lstStyle/>
                    <a:p>
                      <a:endParaRPr lang="en-US" sz="1200"/>
                    </a:p>
                  </a:txBody>
                  <a:tcPr/>
                </a:tc>
                <a:tc>
                  <a:txBody>
                    <a:bodyPr/>
                    <a:lstStyle/>
                    <a:p>
                      <a:endParaRPr lang="en-US" sz="1200"/>
                    </a:p>
                  </a:txBody>
                  <a:tcPr/>
                </a:tc>
                <a:tc>
                  <a:txBody>
                    <a:bodyPr/>
                    <a:lstStyle/>
                    <a:p>
                      <a:r>
                        <a:rPr lang="en-US" sz="1200"/>
                        <a:t>3</a:t>
                      </a:r>
                    </a:p>
                  </a:txBody>
                  <a:tcPr/>
                </a:tc>
                <a:tc>
                  <a:txBody>
                    <a:bodyPr/>
                    <a:lstStyle/>
                    <a:p>
                      <a:endParaRPr lang="en-US" sz="1200"/>
                    </a:p>
                  </a:txBody>
                  <a:tcPr/>
                </a:tc>
                <a:tc>
                  <a:txBody>
                    <a:bodyPr/>
                    <a:lstStyle/>
                    <a:p>
                      <a:endParaRPr lang="en-US" sz="1200"/>
                    </a:p>
                    <a:p>
                      <a:endParaRPr lang="en-US" sz="1200"/>
                    </a:p>
                  </a:txBody>
                  <a:tcPr/>
                </a:tc>
                <a:tc>
                  <a:txBody>
                    <a:bodyPr/>
                    <a:lstStyle/>
                    <a:p>
                      <a:endParaRPr lang="en-US" sz="1200"/>
                    </a:p>
                  </a:txBody>
                  <a:tcPr/>
                </a:tc>
                <a:extLst>
                  <a:ext uri="{0D108BD9-81ED-4DB2-BD59-A6C34878D82A}">
                    <a16:rowId xmlns:a16="http://schemas.microsoft.com/office/drawing/2014/main" val="2754239605"/>
                  </a:ext>
                </a:extLst>
              </a:tr>
              <a:tr h="1621235">
                <a:tc>
                  <a:txBody>
                    <a:bodyPr/>
                    <a:lstStyle/>
                    <a:p>
                      <a:endParaRPr lang="en-US" sz="1200"/>
                    </a:p>
                  </a:txBody>
                  <a:tcPr/>
                </a:tc>
                <a:tc>
                  <a:txBody>
                    <a:bodyPr/>
                    <a:lstStyle/>
                    <a:p>
                      <a:endParaRPr lang="en-US" sz="1200"/>
                    </a:p>
                  </a:txBody>
                  <a:tcPr/>
                </a:tc>
                <a:tc>
                  <a:txBody>
                    <a:bodyPr/>
                    <a:lstStyle/>
                    <a:p>
                      <a:r>
                        <a:rPr lang="en-US" sz="1200"/>
                        <a:t>4</a:t>
                      </a:r>
                    </a:p>
                  </a:txBody>
                  <a:tcPr/>
                </a:tc>
                <a:tc>
                  <a:txBody>
                    <a:bodyPr/>
                    <a:lstStyle/>
                    <a:p>
                      <a:endParaRPr lang="en-US" sz="1200"/>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320507716"/>
                  </a:ext>
                </a:extLst>
              </a:tr>
            </a:tbl>
          </a:graphicData>
        </a:graphic>
      </p:graphicFrame>
      <p:sp>
        <p:nvSpPr>
          <p:cNvPr id="2" name="TextBox 1">
            <a:extLst>
              <a:ext uri="{FF2B5EF4-FFF2-40B4-BE49-F238E27FC236}">
                <a16:creationId xmlns:a16="http://schemas.microsoft.com/office/drawing/2014/main" id="{3C98E5C0-3E28-D845-81F1-91EDE7034F02}"/>
              </a:ext>
            </a:extLst>
          </p:cNvPr>
          <p:cNvSpPr txBox="1"/>
          <p:nvPr/>
        </p:nvSpPr>
        <p:spPr>
          <a:xfrm>
            <a:off x="346213" y="278296"/>
            <a:ext cx="11499574" cy="369332"/>
          </a:xfrm>
          <a:prstGeom prst="rect">
            <a:avLst/>
          </a:prstGeom>
          <a:noFill/>
        </p:spPr>
        <p:txBody>
          <a:bodyPr wrap="square" rtlCol="0" anchor="t">
            <a:spAutoFit/>
          </a:bodyPr>
          <a:lstStyle/>
          <a:p>
            <a:r>
              <a:rPr lang="en-US" b="1" dirty="0"/>
              <a:t>2. Identify resumes with/without bachelor’s degrees</a:t>
            </a:r>
            <a:r>
              <a:rPr lang="en-US" dirty="0"/>
              <a:t> </a:t>
            </a:r>
            <a:endParaRPr lang="en-US"/>
          </a:p>
        </p:txBody>
      </p:sp>
    </p:spTree>
    <p:extLst>
      <p:ext uri="{BB962C8B-B14F-4D97-AF65-F5344CB8AC3E}">
        <p14:creationId xmlns:p14="http://schemas.microsoft.com/office/powerpoint/2010/main" val="3579605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4DA44824-2CE5-A54D-81F3-0DFA95FADD62}"/>
              </a:ext>
            </a:extLst>
          </p:cNvPr>
          <p:cNvGraphicFramePr>
            <a:graphicFrameLocks noGrp="1"/>
          </p:cNvGraphicFramePr>
          <p:nvPr>
            <p:ph sz="half" idx="2"/>
            <p:extLst>
              <p:ext uri="{D42A27DB-BD31-4B8C-83A1-F6EECF244321}">
                <p14:modId xmlns:p14="http://schemas.microsoft.com/office/powerpoint/2010/main" val="2671932731"/>
              </p:ext>
            </p:extLst>
          </p:nvPr>
        </p:nvGraphicFramePr>
        <p:xfrm>
          <a:off x="0" y="914400"/>
          <a:ext cx="12192000" cy="6856087"/>
        </p:xfrm>
        <a:graphic>
          <a:graphicData uri="http://schemas.openxmlformats.org/drawingml/2006/table">
            <a:tbl>
              <a:tblPr firstRow="1" bandRow="1">
                <a:tableStyleId>{21E4AEA4-8DFA-4A89-87EB-49C32662AFE0}</a:tableStyleId>
              </a:tblPr>
              <a:tblGrid>
                <a:gridCol w="1743843">
                  <a:extLst>
                    <a:ext uri="{9D8B030D-6E8A-4147-A177-3AD203B41FA5}">
                      <a16:colId xmlns:a16="http://schemas.microsoft.com/office/drawing/2014/main" val="1352491661"/>
                    </a:ext>
                  </a:extLst>
                </a:gridCol>
                <a:gridCol w="3076635">
                  <a:extLst>
                    <a:ext uri="{9D8B030D-6E8A-4147-A177-3AD203B41FA5}">
                      <a16:colId xmlns:a16="http://schemas.microsoft.com/office/drawing/2014/main" val="3130510922"/>
                    </a:ext>
                  </a:extLst>
                </a:gridCol>
                <a:gridCol w="834357">
                  <a:extLst>
                    <a:ext uri="{9D8B030D-6E8A-4147-A177-3AD203B41FA5}">
                      <a16:colId xmlns:a16="http://schemas.microsoft.com/office/drawing/2014/main" val="1636284579"/>
                    </a:ext>
                  </a:extLst>
                </a:gridCol>
                <a:gridCol w="2145611">
                  <a:extLst>
                    <a:ext uri="{9D8B030D-6E8A-4147-A177-3AD203B41FA5}">
                      <a16:colId xmlns:a16="http://schemas.microsoft.com/office/drawing/2014/main" val="2195260392"/>
                    </a:ext>
                  </a:extLst>
                </a:gridCol>
                <a:gridCol w="2195777">
                  <a:extLst>
                    <a:ext uri="{9D8B030D-6E8A-4147-A177-3AD203B41FA5}">
                      <a16:colId xmlns:a16="http://schemas.microsoft.com/office/drawing/2014/main" val="3536091448"/>
                    </a:ext>
                  </a:extLst>
                </a:gridCol>
                <a:gridCol w="2195777">
                  <a:extLst>
                    <a:ext uri="{9D8B030D-6E8A-4147-A177-3AD203B41FA5}">
                      <a16:colId xmlns:a16="http://schemas.microsoft.com/office/drawing/2014/main" val="4195063144"/>
                    </a:ext>
                  </a:extLst>
                </a:gridCol>
              </a:tblGrid>
              <a:tr h="278430">
                <a:tc>
                  <a:txBody>
                    <a:bodyPr/>
                    <a:lstStyle/>
                    <a:p>
                      <a:r>
                        <a:rPr lang="en-US" sz="1400"/>
                        <a:t>Goal</a:t>
                      </a:r>
                    </a:p>
                  </a:txBody>
                  <a:tcPr/>
                </a:tc>
                <a:tc>
                  <a:txBody>
                    <a:bodyPr/>
                    <a:lstStyle/>
                    <a:p>
                      <a:r>
                        <a:rPr lang="en-US" sz="1400"/>
                        <a:t>Input</a:t>
                      </a:r>
                    </a:p>
                  </a:txBody>
                  <a:tcPr/>
                </a:tc>
                <a:tc>
                  <a:txBody>
                    <a:bodyPr/>
                    <a:lstStyle/>
                    <a:p>
                      <a:r>
                        <a:rPr lang="en-US" sz="1400"/>
                        <a:t>Run Order</a:t>
                      </a:r>
                    </a:p>
                  </a:txBody>
                  <a:tcPr/>
                </a:tc>
                <a:tc>
                  <a:txBody>
                    <a:bodyPr/>
                    <a:lstStyle/>
                    <a:p>
                      <a:r>
                        <a:rPr lang="en-US" sz="1400"/>
                        <a:t>Script</a:t>
                      </a:r>
                    </a:p>
                  </a:txBody>
                  <a:tcPr/>
                </a:tc>
                <a:tc>
                  <a:txBody>
                    <a:bodyPr/>
                    <a:lstStyle/>
                    <a:p>
                      <a:r>
                        <a:rPr lang="en-US" sz="1400"/>
                        <a:t>Output</a:t>
                      </a:r>
                    </a:p>
                  </a:txBody>
                  <a:tcPr/>
                </a:tc>
                <a:tc>
                  <a:txBody>
                    <a:bodyPr/>
                    <a:lstStyle/>
                    <a:p>
                      <a:r>
                        <a:rPr lang="en-US" sz="1400"/>
                        <a:t>Notes</a:t>
                      </a:r>
                    </a:p>
                  </a:txBody>
                  <a:tcPr/>
                </a:tc>
                <a:extLst>
                  <a:ext uri="{0D108BD9-81ED-4DB2-BD59-A6C34878D82A}">
                    <a16:rowId xmlns:a16="http://schemas.microsoft.com/office/drawing/2014/main" val="744206176"/>
                  </a:ext>
                </a:extLst>
              </a:tr>
              <a:tr h="1230439">
                <a:tc>
                  <a:txBody>
                    <a:bodyPr/>
                    <a:lstStyle/>
                    <a:p>
                      <a:pPr lvl="0">
                        <a:buNone/>
                      </a:pPr>
                      <a:r>
                        <a:rPr lang="en-US" sz="1200" b="0" i="0" u="none" strike="noStrike" noProof="0">
                          <a:latin typeface="Calibri"/>
                        </a:rPr>
                        <a:t>Identify plausible candidates for critical care nursing and export</a:t>
                      </a:r>
                    </a:p>
                  </a:txBody>
                  <a:tcPr/>
                </a:tc>
                <a:tc>
                  <a:txBody>
                    <a:bodyPr/>
                    <a:lstStyle/>
                    <a:p>
                      <a:pPr lvl="0" algn="l">
                        <a:lnSpc>
                          <a:spcPct val="100000"/>
                        </a:lnSpc>
                        <a:spcBef>
                          <a:spcPts val="0"/>
                        </a:spcBef>
                        <a:spcAft>
                          <a:spcPts val="0"/>
                        </a:spcAft>
                        <a:buNone/>
                      </a:pPr>
                      <a:r>
                        <a:rPr lang="en-US" sz="1200" b="0" i="0" u="none" strike="noStrike" noProof="0"/>
                        <a:t>data/stem_edu/final/dspg19_analysis/</a:t>
                      </a:r>
                      <a:r>
                        <a:rPr lang="en-US" sz="1200" b="0" i="0" u="none" strike="noStrike" noProof="0">
                          <a:latin typeface="Calibri"/>
                        </a:rPr>
                        <a:t>blacksburg_top5_stw_jobs_main.csv</a:t>
                      </a:r>
                    </a:p>
                    <a:p>
                      <a:pPr lvl="0" algn="l">
                        <a:lnSpc>
                          <a:spcPct val="100000"/>
                        </a:lnSpc>
                        <a:spcBef>
                          <a:spcPts val="0"/>
                        </a:spcBef>
                        <a:spcAft>
                          <a:spcPts val="0"/>
                        </a:spcAft>
                        <a:buNone/>
                      </a:pPr>
                      <a:r>
                        <a:rPr lang="en-US" sz="1200" b="0" i="0" u="none" strike="noStrike" noProof="0">
                          <a:latin typeface="Calibri"/>
                        </a:rPr>
                        <a:t>.../</a:t>
                      </a:r>
                      <a:r>
                        <a:rPr lang="en-US" sz="1200" b="0" i="0" u="none" strike="noStrike" noProof="0"/>
                        <a:t>blacksburg_top5_stw_jobs_all_skills.csv</a:t>
                      </a:r>
                    </a:p>
                    <a:p>
                      <a:pPr lvl="0" algn="l">
                        <a:lnSpc>
                          <a:spcPct val="100000"/>
                        </a:lnSpc>
                        <a:spcBef>
                          <a:spcPts val="0"/>
                        </a:spcBef>
                        <a:spcAft>
                          <a:spcPts val="0"/>
                        </a:spcAft>
                        <a:buNone/>
                      </a:pPr>
                      <a:r>
                        <a:rPr lang="en-US" sz="1200" b="0" i="0" u="none" strike="noStrike" noProof="0"/>
                        <a:t>.../</a:t>
                      </a:r>
                      <a:r>
                        <a:rPr lang="en-US" sz="1200" b="0" i="0" u="none" strike="noStrike" noProof="0">
                          <a:latin typeface="Calibri"/>
                        </a:rPr>
                        <a:t>resume_with_bachelors_b_main.csv</a:t>
                      </a:r>
                    </a:p>
                    <a:p>
                      <a:pPr lvl="0" algn="l">
                        <a:lnSpc>
                          <a:spcPct val="100000"/>
                        </a:lnSpc>
                        <a:spcBef>
                          <a:spcPts val="0"/>
                        </a:spcBef>
                        <a:spcAft>
                          <a:spcPts val="0"/>
                        </a:spcAft>
                        <a:buNone/>
                      </a:pPr>
                      <a:r>
                        <a:rPr lang="en-US" sz="1200" b="0" i="0" u="none" strike="noStrike" noProof="0">
                          <a:latin typeface="Calibri"/>
                        </a:rPr>
                        <a:t>.../</a:t>
                      </a:r>
                      <a:r>
                        <a:rPr lang="en-US" sz="1200" b="0" i="0" u="none" strike="noStrike" noProof="0"/>
                        <a:t>resume_with_bachelors_b_skill.csv</a:t>
                      </a:r>
                    </a:p>
                    <a:p>
                      <a:pPr lvl="0" algn="l">
                        <a:lnSpc>
                          <a:spcPct val="100000"/>
                        </a:lnSpc>
                        <a:spcBef>
                          <a:spcPts val="0"/>
                        </a:spcBef>
                        <a:spcAft>
                          <a:spcPts val="0"/>
                        </a:spcAft>
                        <a:buNone/>
                      </a:pPr>
                      <a:endParaRPr lang="en-US" sz="1200" b="0" i="0" u="none" strike="noStrike" noProof="0"/>
                    </a:p>
                    <a:p>
                      <a:pPr lvl="0" algn="l">
                        <a:lnSpc>
                          <a:spcPct val="100000"/>
                        </a:lnSpc>
                        <a:spcBef>
                          <a:spcPts val="0"/>
                        </a:spcBef>
                        <a:spcAft>
                          <a:spcPts val="0"/>
                        </a:spcAft>
                        <a:buNone/>
                      </a:pPr>
                      <a:r>
                        <a:rPr lang="en-US" sz="1200" b="0" i="0" u="none" strike="noStrike" noProof="0">
                          <a:latin typeface="Calibri"/>
                        </a:rPr>
                        <a:t>.../richmond_top5_stw_jobs_main.csv</a:t>
                      </a:r>
                    </a:p>
                    <a:p>
                      <a:pPr lvl="0" algn="l">
                        <a:lnSpc>
                          <a:spcPct val="100000"/>
                        </a:lnSpc>
                        <a:spcBef>
                          <a:spcPts val="0"/>
                        </a:spcBef>
                        <a:spcAft>
                          <a:spcPts val="0"/>
                        </a:spcAft>
                        <a:buNone/>
                      </a:pPr>
                      <a:r>
                        <a:rPr lang="en-US" sz="1200" b="0" i="0" u="none" strike="noStrike" noProof="0">
                          <a:latin typeface="Calibri"/>
                        </a:rPr>
                        <a:t>.../richmond_top5_stw_jobs_all_skills.csv</a:t>
                      </a:r>
                    </a:p>
                    <a:p>
                      <a:pPr lvl="0" algn="l">
                        <a:lnSpc>
                          <a:spcPct val="100000"/>
                        </a:lnSpc>
                        <a:spcBef>
                          <a:spcPts val="0"/>
                        </a:spcBef>
                        <a:spcAft>
                          <a:spcPts val="0"/>
                        </a:spcAft>
                        <a:buNone/>
                      </a:pPr>
                      <a:r>
                        <a:rPr lang="en-US" sz="1200" b="0" i="0" u="none" strike="noStrike" noProof="0">
                          <a:latin typeface="Calibri"/>
                        </a:rPr>
                        <a:t>.../resume_with_bachelors_r_main.csv</a:t>
                      </a:r>
                    </a:p>
                    <a:p>
                      <a:pPr lvl="0" algn="l">
                        <a:lnSpc>
                          <a:spcPct val="100000"/>
                        </a:lnSpc>
                        <a:spcBef>
                          <a:spcPts val="0"/>
                        </a:spcBef>
                        <a:spcAft>
                          <a:spcPts val="0"/>
                        </a:spcAft>
                        <a:buNone/>
                      </a:pPr>
                      <a:r>
                        <a:rPr lang="en-US" sz="1200" b="0" i="0" u="none" strike="noStrike" noProof="0">
                          <a:latin typeface="Calibri"/>
                        </a:rPr>
                        <a:t>.../resume_with_bachelors_r_skill.csv</a:t>
                      </a:r>
                      <a:endParaRPr lang="en-US"/>
                    </a:p>
                  </a:txBody>
                  <a:tcPr/>
                </a:tc>
                <a:tc>
                  <a:txBody>
                    <a:bodyPr/>
                    <a:lstStyle/>
                    <a:p>
                      <a:r>
                        <a:rPr lang="en-US" sz="1200"/>
                        <a:t>1</a:t>
                      </a:r>
                    </a:p>
                  </a:txBody>
                  <a:tcPr/>
                </a:tc>
                <a:tc>
                  <a:txBody>
                    <a:bodyPr/>
                    <a:lstStyle/>
                    <a:p>
                      <a:pPr lvl="0">
                        <a:buNone/>
                      </a:pPr>
                      <a:r>
                        <a:rPr lang="en-US" sz="1200" b="0" i="0" u="none" strike="noStrike" noProof="0">
                          <a:latin typeface="Calibri"/>
                        </a:rPr>
                        <a:t>src/dspg19_final_nurse_dataset_define.R</a:t>
                      </a:r>
                      <a:endParaRPr lang="en-US" sz="1200" b="0" i="0" u="none" strike="noStrike" noProof="0" err="1">
                        <a:latin typeface="Calibri"/>
                      </a:endParaRPr>
                    </a:p>
                  </a:txBody>
                  <a:tcPr/>
                </a:tc>
                <a:tc>
                  <a:txBody>
                    <a:bodyPr/>
                    <a:lstStyle/>
                    <a:p>
                      <a:pPr lvl="0" algn="l">
                        <a:lnSpc>
                          <a:spcPct val="100000"/>
                        </a:lnSpc>
                        <a:spcBef>
                          <a:spcPts val="0"/>
                        </a:spcBef>
                        <a:spcAft>
                          <a:spcPts val="0"/>
                        </a:spcAft>
                        <a:buNone/>
                      </a:pPr>
                      <a:r>
                        <a:rPr lang="en-US" sz="1200" b="0" i="0" u="none" strike="noStrike" noProof="0">
                          <a:latin typeface="Calibri"/>
                        </a:rPr>
                        <a:t>data/stem_edu/final/dspg19_analysis/FINAL_BLACKSBURG_NURSE_AD.csv</a:t>
                      </a:r>
                    </a:p>
                    <a:p>
                      <a:pPr lvl="0" algn="l">
                        <a:lnSpc>
                          <a:spcPct val="100000"/>
                        </a:lnSpc>
                        <a:spcBef>
                          <a:spcPts val="0"/>
                        </a:spcBef>
                        <a:spcAft>
                          <a:spcPts val="0"/>
                        </a:spcAft>
                        <a:buNone/>
                      </a:pPr>
                      <a:r>
                        <a:rPr lang="en-US" sz="1200" b="0" i="0" u="none" strike="noStrike" noProof="0">
                          <a:latin typeface="Calibri"/>
                        </a:rPr>
                        <a:t>.../FINAL_BLACKSBURG_NURSE_RESUME.csv</a:t>
                      </a:r>
                    </a:p>
                    <a:p>
                      <a:pPr lvl="0" algn="l">
                        <a:lnSpc>
                          <a:spcPct val="100000"/>
                        </a:lnSpc>
                        <a:spcBef>
                          <a:spcPts val="0"/>
                        </a:spcBef>
                        <a:spcAft>
                          <a:spcPts val="0"/>
                        </a:spcAft>
                        <a:buNone/>
                      </a:pPr>
                      <a:r>
                        <a:rPr lang="en-US" sz="1200" b="0" i="0" u="none" strike="noStrike" noProof="0">
                          <a:latin typeface="Calibri"/>
                        </a:rPr>
                        <a:t>.../FINAL_RICHMOND_NURSE_AD.csv</a:t>
                      </a:r>
                    </a:p>
                    <a:p>
                      <a:pPr lvl="0" algn="l">
                        <a:lnSpc>
                          <a:spcPct val="100000"/>
                        </a:lnSpc>
                        <a:spcBef>
                          <a:spcPts val="0"/>
                        </a:spcBef>
                        <a:spcAft>
                          <a:spcPts val="0"/>
                        </a:spcAft>
                        <a:buNone/>
                      </a:pPr>
                      <a:r>
                        <a:rPr lang="en-US" sz="1200" b="0" i="0" u="none" strike="noStrike" noProof="0">
                          <a:latin typeface="Calibri"/>
                        </a:rPr>
                        <a:t>.../FINAL_RICHMOND_NURSE_RESUME.csv</a:t>
                      </a:r>
                    </a:p>
                  </a:txBody>
                  <a:tcPr/>
                </a:tc>
                <a:tc>
                  <a:txBody>
                    <a:bodyPr/>
                    <a:lstStyle/>
                    <a:p>
                      <a:pPr lvl="0" algn="l">
                        <a:lnSpc>
                          <a:spcPct val="100000"/>
                        </a:lnSpc>
                        <a:spcBef>
                          <a:spcPts val="0"/>
                        </a:spcBef>
                        <a:spcAft>
                          <a:spcPts val="0"/>
                        </a:spcAft>
                        <a:buNone/>
                      </a:pPr>
                      <a:r>
                        <a:rPr lang="en-US" sz="1200" b="0" i="0" u="none" strike="noStrike" noProof="0">
                          <a:latin typeface="Calibri"/>
                        </a:rPr>
                        <a:t>Replace "blacksburg" with "richmond" and "b" with "r" in the filenames in order to run this for both Blacksburg and Richmond.</a:t>
                      </a:r>
                    </a:p>
                    <a:p>
                      <a:pPr lvl="0" algn="l">
                        <a:lnSpc>
                          <a:spcPct val="100000"/>
                        </a:lnSpc>
                        <a:spcBef>
                          <a:spcPts val="0"/>
                        </a:spcBef>
                        <a:spcAft>
                          <a:spcPts val="0"/>
                        </a:spcAft>
                        <a:buNone/>
                      </a:pPr>
                      <a:br>
                        <a:rPr lang="en-US" sz="1200" b="0" i="0" u="none" strike="noStrike" noProof="0">
                          <a:latin typeface="Calibri"/>
                        </a:rPr>
                      </a:br>
                      <a:r>
                        <a:rPr lang="en-US" sz="1200" b="0" i="0" u="none" strike="noStrike" noProof="0">
                          <a:latin typeface="Calibri"/>
                        </a:rPr>
                        <a:t>This script generates both the final critical care resume data set and job ad dataset.</a:t>
                      </a:r>
                    </a:p>
                  </a:txBody>
                  <a:tcPr/>
                </a:tc>
                <a:extLst>
                  <a:ext uri="{0D108BD9-81ED-4DB2-BD59-A6C34878D82A}">
                    <a16:rowId xmlns:a16="http://schemas.microsoft.com/office/drawing/2014/main" val="4290437681"/>
                  </a:ext>
                </a:extLst>
              </a:tr>
              <a:tr h="1398226">
                <a:tc>
                  <a:txBody>
                    <a:bodyPr/>
                    <a:lstStyle/>
                    <a:p>
                      <a:pPr lvl="0">
                        <a:buNone/>
                      </a:pPr>
                      <a:endParaRPr lang="en-US" sz="1200" b="0" i="0" u="none" strike="noStrike" noProof="0">
                        <a:latin typeface="Calibri"/>
                      </a:endParaRPr>
                    </a:p>
                  </a:txBody>
                  <a:tcPr/>
                </a:tc>
                <a:tc>
                  <a:txBody>
                    <a:bodyPr/>
                    <a:lstStyle/>
                    <a:p>
                      <a:pPr lvl="0" algn="l">
                        <a:lnSpc>
                          <a:spcPct val="100000"/>
                        </a:lnSpc>
                        <a:spcBef>
                          <a:spcPts val="0"/>
                        </a:spcBef>
                        <a:spcAft>
                          <a:spcPts val="0"/>
                        </a:spcAft>
                        <a:buNone/>
                      </a:pPr>
                      <a:endParaRPr lang="en-US" sz="1200" b="0" i="0" u="none" strike="noStrike" noProof="0">
                        <a:latin typeface="Calibri"/>
                      </a:endParaRPr>
                    </a:p>
                  </a:txBody>
                  <a:tcPr/>
                </a:tc>
                <a:tc>
                  <a:txBody>
                    <a:bodyPr/>
                    <a:lstStyle/>
                    <a:p>
                      <a:r>
                        <a:rPr lang="en-US" sz="1200"/>
                        <a:t>2</a:t>
                      </a:r>
                    </a:p>
                  </a:txBody>
                  <a:tcPr/>
                </a:tc>
                <a:tc>
                  <a:txBody>
                    <a:bodyPr/>
                    <a:lstStyle/>
                    <a:p>
                      <a:pPr lvl="0">
                        <a:buNone/>
                      </a:pPr>
                      <a:endParaRPr lang="en-US" sz="1200" b="0" i="0" u="none" strike="noStrike" noProof="0" err="1">
                        <a:latin typeface="Calibri"/>
                      </a:endParaRPr>
                    </a:p>
                  </a:txBody>
                  <a:tcPr/>
                </a:tc>
                <a:tc>
                  <a:txBody>
                    <a:bodyPr/>
                    <a:lstStyle/>
                    <a:p>
                      <a:pPr lvl="0" algn="l">
                        <a:lnSpc>
                          <a:spcPct val="100000"/>
                        </a:lnSpc>
                        <a:spcBef>
                          <a:spcPts val="0"/>
                        </a:spcBef>
                        <a:spcAft>
                          <a:spcPts val="0"/>
                        </a:spcAft>
                        <a:buNone/>
                      </a:pPr>
                      <a:endParaRPr lang="en-US" sz="1200" b="0" i="0" u="none" strike="noStrike" noProof="0">
                        <a:latin typeface="Calibri"/>
                      </a:endParaRPr>
                    </a:p>
                  </a:txBody>
                  <a:tcPr/>
                </a:tc>
                <a:tc>
                  <a:txBody>
                    <a:bodyPr/>
                    <a:lstStyle/>
                    <a:p>
                      <a:pPr lvl="0" algn="l">
                        <a:lnSpc>
                          <a:spcPct val="100000"/>
                        </a:lnSpc>
                        <a:spcBef>
                          <a:spcPts val="0"/>
                        </a:spcBef>
                        <a:spcAft>
                          <a:spcPts val="0"/>
                        </a:spcAft>
                        <a:buNone/>
                      </a:pPr>
                      <a:endParaRPr lang="en-US" sz="1200" b="0" i="0" u="none" strike="noStrike" noProof="0">
                        <a:latin typeface="Calibri"/>
                      </a:endParaRPr>
                    </a:p>
                  </a:txBody>
                  <a:tcPr/>
                </a:tc>
                <a:extLst>
                  <a:ext uri="{0D108BD9-81ED-4DB2-BD59-A6C34878D82A}">
                    <a16:rowId xmlns:a16="http://schemas.microsoft.com/office/drawing/2014/main" val="2433231062"/>
                  </a:ext>
                </a:extLst>
              </a:tr>
              <a:tr h="1398226">
                <a:tc>
                  <a:txBody>
                    <a:bodyPr/>
                    <a:lstStyle/>
                    <a:p>
                      <a:endParaRPr lang="en-US" sz="1200"/>
                    </a:p>
                  </a:txBody>
                  <a:tcPr/>
                </a:tc>
                <a:tc>
                  <a:txBody>
                    <a:bodyPr/>
                    <a:lstStyle/>
                    <a:p>
                      <a:endParaRPr lang="en-US" sz="1200"/>
                    </a:p>
                  </a:txBody>
                  <a:tcPr/>
                </a:tc>
                <a:tc>
                  <a:txBody>
                    <a:bodyPr/>
                    <a:lstStyle/>
                    <a:p>
                      <a:r>
                        <a:rPr lang="en-US" sz="1200"/>
                        <a:t>3</a:t>
                      </a:r>
                    </a:p>
                  </a:txBody>
                  <a:tcPr/>
                </a:tc>
                <a:tc>
                  <a:txBody>
                    <a:bodyPr/>
                    <a:lstStyle/>
                    <a:p>
                      <a:endParaRPr lang="en-US" sz="1200"/>
                    </a:p>
                  </a:txBody>
                  <a:tcPr/>
                </a:tc>
                <a:tc>
                  <a:txBody>
                    <a:bodyPr/>
                    <a:lstStyle/>
                    <a:p>
                      <a:endParaRPr lang="en-US" sz="1200"/>
                    </a:p>
                    <a:p>
                      <a:endParaRPr lang="en-US" sz="1200"/>
                    </a:p>
                  </a:txBody>
                  <a:tcPr/>
                </a:tc>
                <a:tc>
                  <a:txBody>
                    <a:bodyPr/>
                    <a:lstStyle/>
                    <a:p>
                      <a:endParaRPr lang="en-US" sz="1200"/>
                    </a:p>
                  </a:txBody>
                  <a:tcPr/>
                </a:tc>
                <a:extLst>
                  <a:ext uri="{0D108BD9-81ED-4DB2-BD59-A6C34878D82A}">
                    <a16:rowId xmlns:a16="http://schemas.microsoft.com/office/drawing/2014/main" val="2754239605"/>
                  </a:ext>
                </a:extLst>
              </a:tr>
              <a:tr h="1621235">
                <a:tc>
                  <a:txBody>
                    <a:bodyPr/>
                    <a:lstStyle/>
                    <a:p>
                      <a:endParaRPr lang="en-US" sz="1200"/>
                    </a:p>
                  </a:txBody>
                  <a:tcPr/>
                </a:tc>
                <a:tc>
                  <a:txBody>
                    <a:bodyPr/>
                    <a:lstStyle/>
                    <a:p>
                      <a:endParaRPr lang="en-US" sz="1200"/>
                    </a:p>
                  </a:txBody>
                  <a:tcPr/>
                </a:tc>
                <a:tc>
                  <a:txBody>
                    <a:bodyPr/>
                    <a:lstStyle/>
                    <a:p>
                      <a:r>
                        <a:rPr lang="en-US" sz="1200"/>
                        <a:t>4</a:t>
                      </a:r>
                    </a:p>
                  </a:txBody>
                  <a:tcPr/>
                </a:tc>
                <a:tc>
                  <a:txBody>
                    <a:bodyPr/>
                    <a:lstStyle/>
                    <a:p>
                      <a:endParaRPr lang="en-US" sz="1200"/>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320507716"/>
                  </a:ext>
                </a:extLst>
              </a:tr>
            </a:tbl>
          </a:graphicData>
        </a:graphic>
      </p:graphicFrame>
      <p:sp>
        <p:nvSpPr>
          <p:cNvPr id="2" name="TextBox 1">
            <a:extLst>
              <a:ext uri="{FF2B5EF4-FFF2-40B4-BE49-F238E27FC236}">
                <a16:creationId xmlns:a16="http://schemas.microsoft.com/office/drawing/2014/main" id="{3C98E5C0-3E28-D845-81F1-91EDE7034F02}"/>
              </a:ext>
            </a:extLst>
          </p:cNvPr>
          <p:cNvSpPr txBox="1"/>
          <p:nvPr/>
        </p:nvSpPr>
        <p:spPr>
          <a:xfrm>
            <a:off x="346213" y="278296"/>
            <a:ext cx="11499574" cy="369332"/>
          </a:xfrm>
          <a:prstGeom prst="rect">
            <a:avLst/>
          </a:prstGeom>
          <a:noFill/>
        </p:spPr>
        <p:txBody>
          <a:bodyPr wrap="square" rtlCol="0" anchor="t">
            <a:spAutoFit/>
          </a:bodyPr>
          <a:lstStyle/>
          <a:p>
            <a:r>
              <a:rPr lang="en-US" b="1" dirty="0"/>
              <a:t>3. Identify resumes that are plausible candidates for critical care nursing</a:t>
            </a:r>
          </a:p>
        </p:txBody>
      </p:sp>
    </p:spTree>
    <p:extLst>
      <p:ext uri="{BB962C8B-B14F-4D97-AF65-F5344CB8AC3E}">
        <p14:creationId xmlns:p14="http://schemas.microsoft.com/office/powerpoint/2010/main" val="4093502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34E97-7AD8-D542-A5B0-E549DED9383D}"/>
              </a:ext>
            </a:extLst>
          </p:cNvPr>
          <p:cNvSpPr>
            <a:spLocks noGrp="1"/>
          </p:cNvSpPr>
          <p:nvPr>
            <p:ph type="title"/>
          </p:nvPr>
        </p:nvSpPr>
        <p:spPr/>
        <p:txBody>
          <a:bodyPr/>
          <a:lstStyle/>
          <a:p>
            <a:r>
              <a:rPr lang="en-US" b="1" dirty="0"/>
              <a:t>Education</a:t>
            </a:r>
          </a:p>
        </p:txBody>
      </p:sp>
    </p:spTree>
    <p:extLst>
      <p:ext uri="{BB962C8B-B14F-4D97-AF65-F5344CB8AC3E}">
        <p14:creationId xmlns:p14="http://schemas.microsoft.com/office/powerpoint/2010/main" val="14683465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4DA44824-2CE5-A54D-81F3-0DFA95FADD62}"/>
              </a:ext>
            </a:extLst>
          </p:cNvPr>
          <p:cNvGraphicFramePr>
            <a:graphicFrameLocks noGrp="1"/>
          </p:cNvGraphicFramePr>
          <p:nvPr>
            <p:ph sz="half" idx="2"/>
            <p:extLst>
              <p:ext uri="{D42A27DB-BD31-4B8C-83A1-F6EECF244321}">
                <p14:modId xmlns:p14="http://schemas.microsoft.com/office/powerpoint/2010/main" val="935109719"/>
              </p:ext>
            </p:extLst>
          </p:nvPr>
        </p:nvGraphicFramePr>
        <p:xfrm>
          <a:off x="0" y="914400"/>
          <a:ext cx="12191972" cy="6138057"/>
        </p:xfrm>
        <a:graphic>
          <a:graphicData uri="http://schemas.openxmlformats.org/drawingml/2006/table">
            <a:tbl>
              <a:tblPr firstRow="1" bandRow="1">
                <a:tableStyleId>{21E4AEA4-8DFA-4A89-87EB-49C32662AFE0}</a:tableStyleId>
              </a:tblPr>
              <a:tblGrid>
                <a:gridCol w="1343139">
                  <a:extLst>
                    <a:ext uri="{9D8B030D-6E8A-4147-A177-3AD203B41FA5}">
                      <a16:colId xmlns:a16="http://schemas.microsoft.com/office/drawing/2014/main" val="1352491661"/>
                    </a:ext>
                  </a:extLst>
                </a:gridCol>
                <a:gridCol w="3292207">
                  <a:extLst>
                    <a:ext uri="{9D8B030D-6E8A-4147-A177-3AD203B41FA5}">
                      <a16:colId xmlns:a16="http://schemas.microsoft.com/office/drawing/2014/main" val="3130510922"/>
                    </a:ext>
                  </a:extLst>
                </a:gridCol>
                <a:gridCol w="1019976">
                  <a:extLst>
                    <a:ext uri="{9D8B030D-6E8A-4147-A177-3AD203B41FA5}">
                      <a16:colId xmlns:a16="http://schemas.microsoft.com/office/drawing/2014/main" val="1636284579"/>
                    </a:ext>
                  </a:extLst>
                </a:gridCol>
                <a:gridCol w="918989">
                  <a:extLst>
                    <a:ext uri="{9D8B030D-6E8A-4147-A177-3AD203B41FA5}">
                      <a16:colId xmlns:a16="http://schemas.microsoft.com/office/drawing/2014/main" val="2195260392"/>
                    </a:ext>
                  </a:extLst>
                </a:gridCol>
                <a:gridCol w="1888474">
                  <a:extLst>
                    <a:ext uri="{9D8B030D-6E8A-4147-A177-3AD203B41FA5}">
                      <a16:colId xmlns:a16="http://schemas.microsoft.com/office/drawing/2014/main" val="3536091448"/>
                    </a:ext>
                  </a:extLst>
                </a:gridCol>
                <a:gridCol w="3729187">
                  <a:extLst>
                    <a:ext uri="{9D8B030D-6E8A-4147-A177-3AD203B41FA5}">
                      <a16:colId xmlns:a16="http://schemas.microsoft.com/office/drawing/2014/main" val="4195063144"/>
                    </a:ext>
                  </a:extLst>
                </a:gridCol>
              </a:tblGrid>
              <a:tr h="377337">
                <a:tc>
                  <a:txBody>
                    <a:bodyPr/>
                    <a:lstStyle/>
                    <a:p>
                      <a:r>
                        <a:rPr lang="en-US" sz="1400"/>
                        <a:t>Goal</a:t>
                      </a:r>
                    </a:p>
                  </a:txBody>
                  <a:tcPr/>
                </a:tc>
                <a:tc>
                  <a:txBody>
                    <a:bodyPr/>
                    <a:lstStyle/>
                    <a:p>
                      <a:r>
                        <a:rPr lang="en-US" sz="1400"/>
                        <a:t>Input</a:t>
                      </a:r>
                    </a:p>
                  </a:txBody>
                  <a:tcPr/>
                </a:tc>
                <a:tc>
                  <a:txBody>
                    <a:bodyPr/>
                    <a:lstStyle/>
                    <a:p>
                      <a:r>
                        <a:rPr lang="en-US" sz="1400"/>
                        <a:t>Run Order</a:t>
                      </a:r>
                    </a:p>
                  </a:txBody>
                  <a:tcPr/>
                </a:tc>
                <a:tc>
                  <a:txBody>
                    <a:bodyPr/>
                    <a:lstStyle/>
                    <a:p>
                      <a:r>
                        <a:rPr lang="en-US" sz="1400"/>
                        <a:t>Script</a:t>
                      </a:r>
                    </a:p>
                  </a:txBody>
                  <a:tcPr/>
                </a:tc>
                <a:tc>
                  <a:txBody>
                    <a:bodyPr/>
                    <a:lstStyle/>
                    <a:p>
                      <a:r>
                        <a:rPr lang="en-US" sz="1400"/>
                        <a:t>Output</a:t>
                      </a:r>
                    </a:p>
                  </a:txBody>
                  <a:tcPr/>
                </a:tc>
                <a:tc>
                  <a:txBody>
                    <a:bodyPr/>
                    <a:lstStyle/>
                    <a:p>
                      <a:r>
                        <a:rPr lang="en-US" sz="1400"/>
                        <a:t>Notes</a:t>
                      </a:r>
                    </a:p>
                  </a:txBody>
                  <a:tcPr/>
                </a:tc>
                <a:extLst>
                  <a:ext uri="{0D108BD9-81ED-4DB2-BD59-A6C34878D82A}">
                    <a16:rowId xmlns:a16="http://schemas.microsoft.com/office/drawing/2014/main" val="744206176"/>
                  </a:ext>
                </a:extLst>
              </a:tr>
              <a:tr h="2009660">
                <a:tc>
                  <a:txBody>
                    <a:bodyPr/>
                    <a:lstStyle/>
                    <a:p>
                      <a:pPr lvl="0">
                        <a:buNone/>
                      </a:pPr>
                      <a:r>
                        <a:rPr lang="en-US" sz="1200" b="0" i="0" u="none" strike="noStrike" noProof="0">
                          <a:latin typeface="Calibri"/>
                        </a:rPr>
                        <a:t>Merging IPEDS with SCHEV to add </a:t>
                      </a:r>
                      <a:r>
                        <a:rPr lang="en-US" sz="1200" b="0" i="0" u="none" strike="noStrike" noProof="0" err="1">
                          <a:latin typeface="Calibri"/>
                        </a:rPr>
                        <a:t>lat</a:t>
                      </a:r>
                      <a:r>
                        <a:rPr lang="en-US" sz="1200" b="0" i="0" u="none" strike="noStrike" noProof="0">
                          <a:latin typeface="Calibri"/>
                        </a:rPr>
                        <a:t> and long to institutions</a:t>
                      </a:r>
                    </a:p>
                  </a:txBody>
                  <a:tcPr/>
                </a:tc>
                <a:tc>
                  <a:txBody>
                    <a:bodyPr/>
                    <a:lstStyle/>
                    <a:p>
                      <a:pPr lvl="0" algn="l">
                        <a:lnSpc>
                          <a:spcPct val="100000"/>
                        </a:lnSpc>
                        <a:spcBef>
                          <a:spcPts val="0"/>
                        </a:spcBef>
                        <a:spcAft>
                          <a:spcPts val="0"/>
                        </a:spcAft>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/original/</a:t>
                      </a:r>
                      <a:r>
                        <a:rPr lang="en-US" sz="1200" b="0" i="0" u="none" strike="noStrike" noProof="0" err="1">
                          <a:latin typeface="Calibri"/>
                        </a:rPr>
                        <a:t>IPEDS_Data</a:t>
                      </a:r>
                      <a:r>
                        <a:rPr lang="en-US" sz="1200" b="0" i="0" u="none" strike="noStrike" noProof="0">
                          <a:latin typeface="Calibri"/>
                        </a:rPr>
                        <a:t>/1_Institutional_Char_Directory_Info/hd2017.csv</a:t>
                      </a:r>
                    </a:p>
                    <a:p>
                      <a:pPr lvl="0" algn="l">
                        <a:lnSpc>
                          <a:spcPct val="100000"/>
                        </a:lnSpc>
                        <a:spcBef>
                          <a:spcPts val="0"/>
                        </a:spcBef>
                        <a:spcAft>
                          <a:spcPts val="0"/>
                        </a:spcAft>
                        <a:buNone/>
                      </a:pPr>
                      <a:endParaRPr lang="en-US" sz="1200" b="0" i="0" u="none" strike="noStrike" noProof="0">
                        <a:latin typeface="Calibri"/>
                      </a:endParaRPr>
                    </a:p>
                    <a:p>
                      <a:pPr lvl="0" algn="l">
                        <a:lnSpc>
                          <a:spcPct val="100000"/>
                        </a:lnSpc>
                        <a:spcBef>
                          <a:spcPts val="0"/>
                        </a:spcBef>
                        <a:spcAft>
                          <a:spcPts val="0"/>
                        </a:spcAft>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a:t>
                      </a:r>
                      <a:r>
                        <a:rPr lang="en-US" sz="1200" b="0" i="0" u="none" strike="noStrike" noProof="0" err="1">
                          <a:latin typeface="Calibri"/>
                        </a:rPr>
                        <a:t>schevData</a:t>
                      </a:r>
                      <a:r>
                        <a:rPr lang="en-US" sz="1200" b="0" i="0" u="none" strike="noStrike" noProof="0">
                          <a:latin typeface="Calibri"/>
                        </a:rPr>
                        <a:t>/schev_stw_subbach_combine.csv</a:t>
                      </a:r>
                    </a:p>
                    <a:p>
                      <a:pPr lvl="0" algn="l">
                        <a:lnSpc>
                          <a:spcPct val="100000"/>
                        </a:lnSpc>
                        <a:spcBef>
                          <a:spcPts val="0"/>
                        </a:spcBef>
                        <a:spcAft>
                          <a:spcPts val="0"/>
                        </a:spcAft>
                        <a:buNone/>
                      </a:pPr>
                      <a:endParaRPr lang="en-US" sz="1200" b="0" i="0" u="none" strike="noStrike" noProof="0">
                        <a:latin typeface="Calibri"/>
                      </a:endParaRPr>
                    </a:p>
                    <a:p>
                      <a:pPr lvl="0" algn="l">
                        <a:lnSpc>
                          <a:spcPct val="100000"/>
                        </a:lnSpc>
                        <a:spcBef>
                          <a:spcPts val="0"/>
                        </a:spcBef>
                        <a:spcAft>
                          <a:spcPts val="0"/>
                        </a:spcAft>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a:t>
                      </a:r>
                      <a:r>
                        <a:rPr lang="en-US" sz="1200" b="0" i="0" u="none" strike="noStrike" noProof="0" err="1">
                          <a:latin typeface="Calibri"/>
                        </a:rPr>
                        <a:t>schevData</a:t>
                      </a:r>
                      <a:r>
                        <a:rPr lang="en-US" sz="1200" b="0" i="0" u="none" strike="noStrike" noProof="0">
                          <a:latin typeface="Calibri"/>
                        </a:rPr>
                        <a:t>/schev_stw_schools.csv</a:t>
                      </a:r>
                    </a:p>
                    <a:p>
                      <a:pPr lvl="0" algn="l">
                        <a:lnSpc>
                          <a:spcPct val="100000"/>
                        </a:lnSpc>
                        <a:spcBef>
                          <a:spcPts val="0"/>
                        </a:spcBef>
                        <a:spcAft>
                          <a:spcPts val="0"/>
                        </a:spcAft>
                        <a:buNone/>
                      </a:pPr>
                      <a:endParaRPr lang="en-US" sz="1200" b="0" i="0" u="none" strike="noStrike" noProof="0">
                        <a:latin typeface="Calibri"/>
                      </a:endParaRPr>
                    </a:p>
                    <a:p>
                      <a:pPr lvl="0" algn="l">
                        <a:lnSpc>
                          <a:spcPct val="100000"/>
                        </a:lnSpc>
                        <a:spcBef>
                          <a:spcPts val="0"/>
                        </a:spcBef>
                        <a:spcAft>
                          <a:spcPts val="0"/>
                        </a:spcAft>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a:t>
                      </a:r>
                      <a:r>
                        <a:rPr lang="en-US" sz="1200" b="0" i="0" u="none" strike="noStrike" noProof="0" err="1">
                          <a:latin typeface="Calibri"/>
                        </a:rPr>
                        <a:t>schevData</a:t>
                      </a:r>
                      <a:r>
                        <a:rPr lang="en-US" sz="1200" b="0" i="0" u="none" strike="noStrike" noProof="0">
                          <a:latin typeface="Calibri"/>
                        </a:rPr>
                        <a:t>/schev_subbach_combine.csv</a:t>
                      </a:r>
                    </a:p>
                  </a:txBody>
                  <a:tcPr/>
                </a:tc>
                <a:tc>
                  <a:txBody>
                    <a:bodyPr/>
                    <a:lstStyle/>
                    <a:p>
                      <a:r>
                        <a:rPr lang="en-US" sz="1200"/>
                        <a:t>1</a:t>
                      </a:r>
                    </a:p>
                  </a:txBody>
                  <a:tcPr/>
                </a:tc>
                <a:tc>
                  <a:txBody>
                    <a:bodyPr/>
                    <a:lstStyle/>
                    <a:p>
                      <a:pPr lvl="0">
                        <a:buNone/>
                      </a:pPr>
                      <a:r>
                        <a:rPr lang="en-US" sz="1200" b="0" i="0" u="none" strike="noStrike" noProof="0" err="1">
                          <a:latin typeface="Calibri"/>
                        </a:rPr>
                        <a:t>Stem_edu</a:t>
                      </a:r>
                      <a:r>
                        <a:rPr lang="en-US" sz="1200" b="0" i="0" u="none" strike="noStrike" noProof="0">
                          <a:latin typeface="Calibri"/>
                        </a:rPr>
                        <a:t>/</a:t>
                      </a:r>
                      <a:r>
                        <a:rPr lang="en-US" sz="1200" b="0" i="0" u="none" strike="noStrike" noProof="0" err="1">
                          <a:latin typeface="Calibri"/>
                        </a:rPr>
                        <a:t>src</a:t>
                      </a:r>
                      <a:r>
                        <a:rPr lang="en-US" sz="1200" b="0" i="0" u="none" strike="noStrike" noProof="0">
                          <a:latin typeface="Calibri"/>
                        </a:rPr>
                        <a:t>/</a:t>
                      </a:r>
                      <a:r>
                        <a:rPr lang="en-US" sz="1200" b="0" i="0" u="none" strike="noStrike" noProof="0" err="1">
                          <a:latin typeface="Calibri"/>
                        </a:rPr>
                        <a:t>sarah</a:t>
                      </a:r>
                      <a:r>
                        <a:rPr lang="en-US" sz="1200" b="0" i="0" u="none" strike="noStrike" noProof="0">
                          <a:latin typeface="Calibri"/>
                        </a:rPr>
                        <a:t>/</a:t>
                      </a:r>
                      <a:r>
                        <a:rPr lang="en-US" sz="1200" b="0" i="0" u="none" strike="noStrike" noProof="0" err="1">
                          <a:latin typeface="Calibri"/>
                        </a:rPr>
                        <a:t>ipeds_schev.R</a:t>
                      </a:r>
                    </a:p>
                  </a:txBody>
                  <a:tcPr/>
                </a:tc>
                <a:tc>
                  <a:txBody>
                    <a:bodyPr/>
                    <a:lstStyle/>
                    <a:p>
                      <a:pPr lvl="0" algn="l">
                        <a:lnSpc>
                          <a:spcPct val="100000"/>
                        </a:lnSpc>
                        <a:spcBef>
                          <a:spcPts val="0"/>
                        </a:spcBef>
                        <a:spcAft>
                          <a:spcPts val="0"/>
                        </a:spcAft>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a:t>
                      </a:r>
                      <a:r>
                        <a:rPr lang="en-US" sz="1200" b="0" i="0" u="none" strike="noStrike" noProof="0" err="1">
                          <a:latin typeface="Calibri"/>
                        </a:rPr>
                        <a:t>ipeds_schev</a:t>
                      </a:r>
                      <a:r>
                        <a:rPr lang="en-US" sz="1200" b="0" i="0" u="none" strike="noStrike" noProof="0">
                          <a:latin typeface="Calibri"/>
                        </a:rPr>
                        <a:t>/ipeds_schev_stw_subbach_combine.csv</a:t>
                      </a:r>
                    </a:p>
                    <a:p>
                      <a:pPr lvl="0" algn="l">
                        <a:lnSpc>
                          <a:spcPct val="100000"/>
                        </a:lnSpc>
                        <a:spcBef>
                          <a:spcPts val="0"/>
                        </a:spcBef>
                        <a:spcAft>
                          <a:spcPts val="0"/>
                        </a:spcAft>
                        <a:buNone/>
                      </a:pPr>
                      <a:endParaRPr lang="en-US" sz="1200" b="0" i="0" u="none" strike="noStrike" noProof="0">
                        <a:latin typeface="Calibri"/>
                      </a:endParaRPr>
                    </a:p>
                    <a:p>
                      <a:pPr lvl="0" algn="l">
                        <a:lnSpc>
                          <a:spcPct val="100000"/>
                        </a:lnSpc>
                        <a:spcBef>
                          <a:spcPts val="0"/>
                        </a:spcBef>
                        <a:spcAft>
                          <a:spcPts val="0"/>
                        </a:spcAft>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a:t>
                      </a:r>
                      <a:r>
                        <a:rPr lang="en-US" sz="1200" b="0" i="0" u="none" strike="noStrike" noProof="0" err="1">
                          <a:latin typeface="Calibri"/>
                        </a:rPr>
                        <a:t>ipeds_schev</a:t>
                      </a:r>
                      <a:r>
                        <a:rPr lang="en-US" sz="1200" b="0" i="0" u="none" strike="noStrike" noProof="0">
                          <a:latin typeface="Calibri"/>
                        </a:rPr>
                        <a:t>/ipeds_schev_stw_schools.csv</a:t>
                      </a:r>
                    </a:p>
                    <a:p>
                      <a:pPr lvl="0" algn="l">
                        <a:lnSpc>
                          <a:spcPct val="100000"/>
                        </a:lnSpc>
                        <a:spcBef>
                          <a:spcPts val="0"/>
                        </a:spcBef>
                        <a:spcAft>
                          <a:spcPts val="0"/>
                        </a:spcAft>
                        <a:buNone/>
                      </a:pPr>
                      <a:endParaRPr lang="en-US" sz="1200" b="0" i="0" u="none" strike="noStrike" noProof="0">
                        <a:latin typeface="Calibri"/>
                      </a:endParaRPr>
                    </a:p>
                    <a:p>
                      <a:pPr lvl="0" algn="l">
                        <a:lnSpc>
                          <a:spcPct val="100000"/>
                        </a:lnSpc>
                        <a:spcBef>
                          <a:spcPts val="0"/>
                        </a:spcBef>
                        <a:spcAft>
                          <a:spcPts val="0"/>
                        </a:spcAft>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a:t>
                      </a:r>
                      <a:r>
                        <a:rPr lang="en-US" sz="1200" b="0" i="0" u="none" strike="noStrike" noProof="0" err="1">
                          <a:latin typeface="Calibri"/>
                        </a:rPr>
                        <a:t>ipeds_schev</a:t>
                      </a:r>
                      <a:r>
                        <a:rPr lang="en-US" sz="1200" b="0" i="0" u="none" strike="noStrike" noProof="0">
                          <a:latin typeface="Calibri"/>
                        </a:rPr>
                        <a:t>/ipeds_schev_subbach_combine.csv</a:t>
                      </a:r>
                    </a:p>
                  </a:txBody>
                  <a:tcPr/>
                </a:tc>
                <a:tc>
                  <a:txBody>
                    <a:bodyPr/>
                    <a:lstStyle/>
                    <a:p>
                      <a:pPr lvl="0" algn="l">
                        <a:lnSpc>
                          <a:spcPct val="100000"/>
                        </a:lnSpc>
                        <a:spcBef>
                          <a:spcPts val="0"/>
                        </a:spcBef>
                        <a:spcAft>
                          <a:spcPts val="0"/>
                        </a:spcAft>
                        <a:buNone/>
                      </a:pPr>
                      <a:r>
                        <a:rPr lang="en-US" sz="1200" b="0" i="0" u="none" strike="noStrike" noProof="0">
                          <a:latin typeface="Calibri"/>
                        </a:rPr>
                        <a:t>The SCHEV data had three levels:</a:t>
                      </a:r>
                    </a:p>
                    <a:p>
                      <a:pPr lvl="0" algn="l">
                        <a:lnSpc>
                          <a:spcPct val="100000"/>
                        </a:lnSpc>
                        <a:spcBef>
                          <a:spcPts val="0"/>
                        </a:spcBef>
                        <a:spcAft>
                          <a:spcPts val="0"/>
                        </a:spcAft>
                        <a:buNone/>
                      </a:pPr>
                      <a:r>
                        <a:rPr lang="en-US" sz="1200" b="0" i="0" u="none" strike="noStrike" noProof="0">
                          <a:latin typeface="Calibri"/>
                        </a:rPr>
                        <a:t>STW </a:t>
                      </a:r>
                      <a:r>
                        <a:rPr lang="en-US" sz="1200" b="0" i="0" u="none" strike="noStrike" noProof="0" err="1">
                          <a:latin typeface="Calibri"/>
                        </a:rPr>
                        <a:t>Subbach</a:t>
                      </a:r>
                      <a:r>
                        <a:rPr lang="en-US" sz="1200" b="0" i="0" u="none" strike="noStrike" noProof="0">
                          <a:latin typeface="Calibri"/>
                        </a:rPr>
                        <a:t> Combine: all sub-bachelor's degree programs that are STW-related, based on a CIP code that matches one of the O*NET codes reached via Rothwell's STW definition</a:t>
                      </a:r>
                    </a:p>
                    <a:p>
                      <a:pPr lvl="0" algn="l">
                        <a:lnSpc>
                          <a:spcPct val="100000"/>
                        </a:lnSpc>
                        <a:spcBef>
                          <a:spcPts val="0"/>
                        </a:spcBef>
                        <a:spcAft>
                          <a:spcPts val="0"/>
                        </a:spcAft>
                        <a:buNone/>
                      </a:pPr>
                      <a:r>
                        <a:rPr lang="en-US" sz="1200" b="0" i="0" u="none" strike="noStrike" noProof="0">
                          <a:latin typeface="Calibri"/>
                        </a:rPr>
                        <a:t>STW Schools: a list of each unique Virginia school with an STW-related sub-bachelor's degree program, with a count of total STW-related programs and number of programs at each degree level for each school</a:t>
                      </a:r>
                    </a:p>
                    <a:p>
                      <a:pPr lvl="0" algn="l">
                        <a:lnSpc>
                          <a:spcPct val="100000"/>
                        </a:lnSpc>
                        <a:spcBef>
                          <a:spcPts val="0"/>
                        </a:spcBef>
                        <a:spcAft>
                          <a:spcPts val="0"/>
                        </a:spcAft>
                        <a:buNone/>
                      </a:pPr>
                      <a:r>
                        <a:rPr lang="en-US" sz="1200" b="0" i="0" u="none" strike="noStrike" noProof="0" err="1">
                          <a:latin typeface="Calibri"/>
                        </a:rPr>
                        <a:t>Subbach</a:t>
                      </a:r>
                      <a:r>
                        <a:rPr lang="en-US" sz="1200" b="0" i="0" u="none" strike="noStrike" noProof="0">
                          <a:latin typeface="Calibri"/>
                        </a:rPr>
                        <a:t> Combine: this is all the sub-bachelor's degree programs listed in SCHEV's data</a:t>
                      </a:r>
                    </a:p>
                  </a:txBody>
                  <a:tcPr/>
                </a:tc>
                <a:extLst>
                  <a:ext uri="{0D108BD9-81ED-4DB2-BD59-A6C34878D82A}">
                    <a16:rowId xmlns:a16="http://schemas.microsoft.com/office/drawing/2014/main" val="4290437681"/>
                  </a:ext>
                </a:extLst>
              </a:tr>
              <a:tr h="787706">
                <a:tc>
                  <a:txBody>
                    <a:bodyPr/>
                    <a:lstStyle/>
                    <a:p>
                      <a:pPr lvl="0">
                        <a:buNone/>
                      </a:pPr>
                      <a:r>
                        <a:rPr lang="en-US" sz="1200" b="0" i="0" u="none" strike="noStrike" noProof="0">
                          <a:latin typeface="Calibri"/>
                        </a:rPr>
                        <a:t>Merging IPEDS with VCCS to add </a:t>
                      </a:r>
                      <a:r>
                        <a:rPr lang="en-US" sz="1200" b="0" i="0" u="none" strike="noStrike" noProof="0" err="1">
                          <a:latin typeface="Calibri"/>
                        </a:rPr>
                        <a:t>lat</a:t>
                      </a:r>
                      <a:r>
                        <a:rPr lang="en-US" sz="1200" b="0" i="0" u="none" strike="noStrike" noProof="0">
                          <a:latin typeface="Calibri"/>
                        </a:rPr>
                        <a:t> and long to institutions</a:t>
                      </a:r>
                    </a:p>
                  </a:txBody>
                  <a:tcPr/>
                </a:tc>
                <a:tc>
                  <a:txBody>
                    <a:bodyPr/>
                    <a:lstStyle/>
                    <a:p>
                      <a:pPr lvl="0" algn="l">
                        <a:lnSpc>
                          <a:spcPct val="100000"/>
                        </a:lnSpc>
                        <a:spcBef>
                          <a:spcPts val="0"/>
                        </a:spcBef>
                        <a:spcAft>
                          <a:spcPts val="0"/>
                        </a:spcAft>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/original/</a:t>
                      </a:r>
                      <a:r>
                        <a:rPr lang="en-US" sz="1200" b="0" i="0" u="none" strike="noStrike" noProof="0" err="1">
                          <a:latin typeface="Calibri"/>
                        </a:rPr>
                        <a:t>IPEDS_Data</a:t>
                      </a:r>
                      <a:r>
                        <a:rPr lang="en-US" sz="1200" b="0" i="0" u="none" strike="noStrike" noProof="0">
                          <a:latin typeface="Calibri"/>
                        </a:rPr>
                        <a:t>/1_Institutional_Char_Directory_Info/hd2017.csv</a:t>
                      </a:r>
                    </a:p>
                    <a:p>
                      <a:pPr lvl="0" algn="l">
                        <a:lnSpc>
                          <a:spcPct val="100000"/>
                        </a:lnSpc>
                        <a:spcBef>
                          <a:spcPts val="0"/>
                        </a:spcBef>
                        <a:spcAft>
                          <a:spcPts val="0"/>
                        </a:spcAft>
                        <a:buNone/>
                      </a:pPr>
                      <a:endParaRPr lang="en-US" sz="1200" b="0" i="0" u="none" strike="noStrike" noProof="0">
                        <a:latin typeface="Calibri"/>
                      </a:endParaRPr>
                    </a:p>
                    <a:p>
                      <a:pPr lvl="0" algn="l">
                        <a:lnSpc>
                          <a:spcPct val="100000"/>
                        </a:lnSpc>
                        <a:spcBef>
                          <a:spcPts val="0"/>
                        </a:spcBef>
                        <a:spcAft>
                          <a:spcPts val="0"/>
                        </a:spcAft>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/original/VCCS/vccs_cred.csv</a:t>
                      </a:r>
                    </a:p>
                  </a:txBody>
                  <a:tcPr/>
                </a:tc>
                <a:tc>
                  <a:txBody>
                    <a:bodyPr/>
                    <a:lstStyle/>
                    <a:p>
                      <a:r>
                        <a:rPr lang="en-US" sz="1200"/>
                        <a:t>2</a:t>
                      </a:r>
                    </a:p>
                  </a:txBody>
                  <a:tcPr/>
                </a:tc>
                <a:tc>
                  <a:txBody>
                    <a:bodyPr/>
                    <a:lstStyle/>
                    <a:p>
                      <a:pPr lvl="0">
                        <a:buNone/>
                      </a:pPr>
                      <a:r>
                        <a:rPr lang="en-US" sz="1200" b="0" i="0" u="none" strike="noStrike" noProof="0" err="1">
                          <a:latin typeface="Calibri"/>
                        </a:rPr>
                        <a:t>stem_edu</a:t>
                      </a:r>
                      <a:r>
                        <a:rPr lang="en-US" sz="1200" b="0" i="0" u="none" strike="noStrike" noProof="0">
                          <a:latin typeface="Calibri"/>
                        </a:rPr>
                        <a:t>/</a:t>
                      </a:r>
                      <a:r>
                        <a:rPr lang="en-US" sz="1200" b="0" i="0" u="none" strike="noStrike" noProof="0" err="1">
                          <a:latin typeface="Calibri"/>
                        </a:rPr>
                        <a:t>src</a:t>
                      </a:r>
                      <a:r>
                        <a:rPr lang="en-US" sz="1200" b="0" i="0" u="none" strike="noStrike" noProof="0">
                          <a:latin typeface="Calibri"/>
                        </a:rPr>
                        <a:t>/</a:t>
                      </a:r>
                      <a:r>
                        <a:rPr lang="en-US" sz="1200" b="0" i="0" u="none" strike="noStrike" noProof="0" err="1">
                          <a:latin typeface="Calibri"/>
                        </a:rPr>
                        <a:t>sarah</a:t>
                      </a:r>
                      <a:r>
                        <a:rPr lang="en-US" sz="1200" b="0" i="0" u="none" strike="noStrike" noProof="0">
                          <a:latin typeface="Calibri"/>
                        </a:rPr>
                        <a:t>/</a:t>
                      </a:r>
                      <a:r>
                        <a:rPr lang="en-US" sz="1200" b="0" i="0" u="none" strike="noStrike" noProof="0" err="1">
                          <a:latin typeface="Calibri"/>
                        </a:rPr>
                        <a:t>ipeds_vccs.R</a:t>
                      </a:r>
                    </a:p>
                  </a:txBody>
                  <a:tcPr/>
                </a:tc>
                <a:tc>
                  <a:txBody>
                    <a:bodyPr/>
                    <a:lstStyle/>
                    <a:p>
                      <a:pPr lvl="0">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a:t>
                      </a:r>
                      <a:r>
                        <a:rPr lang="en-US" sz="1200" b="0" i="0" u="none" strike="noStrike" noProof="0" err="1">
                          <a:latin typeface="Calibri"/>
                        </a:rPr>
                        <a:t>ipeds_vccs</a:t>
                      </a:r>
                      <a:r>
                        <a:rPr lang="en-US" sz="1200" b="0" i="0" u="none" strike="noStrike" noProof="0">
                          <a:latin typeface="Calibri"/>
                        </a:rPr>
                        <a:t>/ipeds_vccs_cred.csv</a:t>
                      </a:r>
                    </a:p>
                  </a:txBody>
                  <a:tcPr/>
                </a:tc>
                <a:tc>
                  <a:txBody>
                    <a:bodyPr/>
                    <a:lstStyle/>
                    <a:p>
                      <a:endParaRPr lang="en-US" sz="1200"/>
                    </a:p>
                  </a:txBody>
                  <a:tcPr/>
                </a:tc>
                <a:extLst>
                  <a:ext uri="{0D108BD9-81ED-4DB2-BD59-A6C34878D82A}">
                    <a16:rowId xmlns:a16="http://schemas.microsoft.com/office/drawing/2014/main" val="2433231062"/>
                  </a:ext>
                </a:extLst>
              </a:tr>
              <a:tr h="850858">
                <a:tc>
                  <a:txBody>
                    <a:bodyPr/>
                    <a:lstStyle/>
                    <a:p>
                      <a:pPr lvl="0">
                        <a:buNone/>
                      </a:pPr>
                      <a:r>
                        <a:rPr lang="en-US" sz="1200" b="0" i="0" u="none" strike="noStrike" noProof="0">
                          <a:latin typeface="Calibri"/>
                        </a:rPr>
                        <a:t>Check which institutions are in MSAs and map where institutions are located within MSA</a:t>
                      </a:r>
                    </a:p>
                  </a:txBody>
                  <a:tcPr/>
                </a:tc>
                <a:tc>
                  <a:txBody>
                    <a:bodyPr/>
                    <a:lstStyle/>
                    <a:p>
                      <a:pPr lvl="0" algn="l">
                        <a:lnSpc>
                          <a:spcPct val="100000"/>
                        </a:lnSpc>
                        <a:spcBef>
                          <a:spcPts val="0"/>
                        </a:spcBef>
                        <a:spcAft>
                          <a:spcPts val="0"/>
                        </a:spcAft>
                        <a:buNone/>
                      </a:pPr>
                      <a:r>
                        <a:rPr lang="en-US" sz="1200" b="0" i="0" u="none" strike="noStrike" noProof="0" err="1">
                          <a:latin typeface="Calibri"/>
                        </a:rPr>
                        <a:t>src</a:t>
                      </a:r>
                      <a:r>
                        <a:rPr lang="en-US" sz="1200" b="0" i="0" u="none" strike="noStrike" noProof="0">
                          <a:latin typeface="Calibri"/>
                        </a:rPr>
                        <a:t>/</a:t>
                      </a:r>
                      <a:r>
                        <a:rPr lang="en-US" sz="1200" b="0" i="0" u="none" strike="noStrike" noProof="0" err="1">
                          <a:latin typeface="Calibri"/>
                        </a:rPr>
                        <a:t>sarah</a:t>
                      </a:r>
                      <a:r>
                        <a:rPr lang="en-US" sz="1200" b="0" i="0" u="none" strike="noStrike" noProof="0">
                          <a:latin typeface="Calibri"/>
                        </a:rPr>
                        <a:t>/tl_2017_us_cbsa/tl_2017_us_cbsa.shp</a:t>
                      </a:r>
                    </a:p>
                    <a:p>
                      <a:pPr lvl="0" algn="l">
                        <a:lnSpc>
                          <a:spcPct val="100000"/>
                        </a:lnSpc>
                        <a:spcBef>
                          <a:spcPts val="0"/>
                        </a:spcBef>
                        <a:spcAft>
                          <a:spcPts val="0"/>
                        </a:spcAft>
                        <a:buNone/>
                      </a:pPr>
                      <a:endParaRPr lang="en-US" sz="1200" b="0" i="0" u="none" strike="noStrike" noProof="0">
                        <a:latin typeface="Calibri"/>
                      </a:endParaRPr>
                    </a:p>
                    <a:p>
                      <a:pPr lvl="0" algn="l">
                        <a:lnSpc>
                          <a:spcPct val="100000"/>
                        </a:lnSpc>
                        <a:spcBef>
                          <a:spcPts val="0"/>
                        </a:spcBef>
                        <a:spcAft>
                          <a:spcPts val="0"/>
                        </a:spcAft>
                        <a:buNone/>
                      </a:pPr>
                      <a:r>
                        <a:rPr lang="en-US" sz="1200" b="0" i="0" u="none" strike="noStrike" noProof="0" err="1">
                          <a:latin typeface="Calibri"/>
                        </a:rPr>
                        <a:t>src</a:t>
                      </a:r>
                      <a:r>
                        <a:rPr lang="en-US" sz="1200" b="0" i="0" u="none" strike="noStrike" noProof="0">
                          <a:latin typeface="Calibri"/>
                        </a:rPr>
                        <a:t>/</a:t>
                      </a:r>
                      <a:r>
                        <a:rPr lang="en-US" sz="1200" b="0" i="0" u="none" strike="noStrike" noProof="0" err="1">
                          <a:latin typeface="Calibri"/>
                        </a:rPr>
                        <a:t>sarah</a:t>
                      </a:r>
                      <a:r>
                        <a:rPr lang="en-US" sz="1200" b="0" i="0" u="none" strike="noStrike" noProof="0">
                          <a:latin typeface="Calibri"/>
                        </a:rPr>
                        <a:t>/tl_2017_us_state/tl_2017_us_state.shp</a:t>
                      </a:r>
                    </a:p>
                    <a:p>
                      <a:pPr lvl="0" algn="l">
                        <a:lnSpc>
                          <a:spcPct val="100000"/>
                        </a:lnSpc>
                        <a:spcBef>
                          <a:spcPts val="0"/>
                        </a:spcBef>
                        <a:spcAft>
                          <a:spcPts val="0"/>
                        </a:spcAft>
                        <a:buNone/>
                      </a:pPr>
                      <a:endParaRPr lang="en-US" sz="1200" b="0" i="0" u="none" strike="noStrike" noProof="0">
                        <a:latin typeface="Calibri"/>
                      </a:endParaRPr>
                    </a:p>
                    <a:p>
                      <a:pPr lvl="0" algn="l">
                        <a:lnSpc>
                          <a:spcPct val="100000"/>
                        </a:lnSpc>
                        <a:spcBef>
                          <a:spcPts val="0"/>
                        </a:spcBef>
                        <a:spcAft>
                          <a:spcPts val="0"/>
                        </a:spcAft>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a:t>
                      </a:r>
                      <a:r>
                        <a:rPr lang="en-US" sz="1200" b="0" i="0" u="none" strike="noStrike" noProof="0" err="1">
                          <a:latin typeface="Calibri"/>
                        </a:rPr>
                        <a:t>ipeds_vccs</a:t>
                      </a:r>
                      <a:r>
                        <a:rPr lang="en-US" sz="1200" b="0" i="0" u="none" strike="noStrike" noProof="0">
                          <a:latin typeface="Calibri"/>
                        </a:rPr>
                        <a:t>/ipeds_vccs_cred.csv</a:t>
                      </a:r>
                    </a:p>
                    <a:p>
                      <a:pPr lvl="0" algn="l">
                        <a:lnSpc>
                          <a:spcPct val="100000"/>
                        </a:lnSpc>
                        <a:spcBef>
                          <a:spcPts val="0"/>
                        </a:spcBef>
                        <a:spcAft>
                          <a:spcPts val="0"/>
                        </a:spcAft>
                        <a:buNone/>
                      </a:pPr>
                      <a:endParaRPr lang="en-US" sz="1200" b="0" i="0" u="none" strike="noStrike" noProof="0">
                        <a:latin typeface="Calibri"/>
                      </a:endParaRPr>
                    </a:p>
                    <a:p>
                      <a:pPr lvl="0" algn="l">
                        <a:lnSpc>
                          <a:spcPct val="100000"/>
                        </a:lnSpc>
                        <a:spcBef>
                          <a:spcPts val="0"/>
                        </a:spcBef>
                        <a:spcAft>
                          <a:spcPts val="0"/>
                        </a:spcAft>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a:t>
                      </a:r>
                      <a:r>
                        <a:rPr lang="en-US" sz="1200" b="0" i="0" u="none" strike="noStrike" noProof="0" err="1">
                          <a:latin typeface="Calibri"/>
                        </a:rPr>
                        <a:t>ipeds_schev</a:t>
                      </a:r>
                      <a:r>
                        <a:rPr lang="en-US" sz="1200" b="0" i="0" u="none" strike="noStrike" noProof="0">
                          <a:latin typeface="Calibri"/>
                        </a:rPr>
                        <a:t>/ipeds_schev_stw_schools.csv</a:t>
                      </a:r>
                    </a:p>
                    <a:p>
                      <a:pPr lvl="0" algn="l">
                        <a:lnSpc>
                          <a:spcPct val="100000"/>
                        </a:lnSpc>
                        <a:spcBef>
                          <a:spcPts val="0"/>
                        </a:spcBef>
                        <a:spcAft>
                          <a:spcPts val="0"/>
                        </a:spcAft>
                        <a:buNone/>
                      </a:pPr>
                      <a:endParaRPr lang="en-US" sz="1200" b="0" i="0" u="none" strike="noStrike" noProof="0">
                        <a:latin typeface="Calibri"/>
                      </a:endParaRPr>
                    </a:p>
                    <a:p>
                      <a:pPr lvl="0" algn="l">
                        <a:lnSpc>
                          <a:spcPct val="100000"/>
                        </a:lnSpc>
                        <a:spcBef>
                          <a:spcPts val="0"/>
                        </a:spcBef>
                        <a:spcAft>
                          <a:spcPts val="0"/>
                        </a:spcAft>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a:t>
                      </a:r>
                      <a:r>
                        <a:rPr lang="en-US" sz="1200" b="0" i="0" u="none" strike="noStrike" noProof="0" err="1">
                          <a:latin typeface="Calibri"/>
                        </a:rPr>
                        <a:t>ipeds_schev</a:t>
                      </a:r>
                      <a:r>
                        <a:rPr lang="en-US" sz="1200" b="0" i="0" u="none" strike="noStrike" noProof="0">
                          <a:latin typeface="Calibri"/>
                        </a:rPr>
                        <a:t>/ipeds_schev_stw_subbach_combine.csv</a:t>
                      </a:r>
                    </a:p>
                    <a:p>
                      <a:pPr lvl="0" algn="l">
                        <a:lnSpc>
                          <a:spcPct val="100000"/>
                        </a:lnSpc>
                        <a:spcBef>
                          <a:spcPts val="0"/>
                        </a:spcBef>
                        <a:spcAft>
                          <a:spcPts val="0"/>
                        </a:spcAft>
                        <a:buNone/>
                      </a:pPr>
                      <a:endParaRPr lang="en-US" sz="1200" b="0" i="0" u="none" strike="noStrike" noProof="0">
                        <a:latin typeface="Calibri"/>
                      </a:endParaRPr>
                    </a:p>
                    <a:p>
                      <a:pPr lvl="0" algn="l">
                        <a:lnSpc>
                          <a:spcPct val="100000"/>
                        </a:lnSpc>
                        <a:spcBef>
                          <a:spcPts val="0"/>
                        </a:spcBef>
                        <a:spcAft>
                          <a:spcPts val="0"/>
                        </a:spcAft>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a:t>
                      </a:r>
                      <a:r>
                        <a:rPr lang="en-US" sz="1200" b="0" i="0" u="none" strike="noStrike" noProof="0" err="1">
                          <a:latin typeface="Calibri"/>
                        </a:rPr>
                        <a:t>ipeds_schev</a:t>
                      </a:r>
                      <a:r>
                        <a:rPr lang="en-US" sz="1200" b="0" i="0" u="none" strike="noStrike" noProof="0">
                          <a:latin typeface="Calibri"/>
                        </a:rPr>
                        <a:t>/ipeds_schev_subbach_combine.csv</a:t>
                      </a:r>
                    </a:p>
                  </a:txBody>
                  <a:tcPr/>
                </a:tc>
                <a:tc>
                  <a:txBody>
                    <a:bodyPr/>
                    <a:lstStyle/>
                    <a:p>
                      <a:r>
                        <a:rPr lang="en-US" sz="1200"/>
                        <a:t>3</a:t>
                      </a:r>
                    </a:p>
                  </a:txBody>
                  <a:tcPr/>
                </a:tc>
                <a:tc>
                  <a:txBody>
                    <a:bodyPr/>
                    <a:lstStyle/>
                    <a:p>
                      <a:pPr lvl="0">
                        <a:buNone/>
                      </a:pPr>
                      <a:r>
                        <a:rPr lang="en-US" sz="1200" b="0" i="0" u="none" strike="noStrike" noProof="0" err="1">
                          <a:latin typeface="Calibri"/>
                        </a:rPr>
                        <a:t>stem_edu</a:t>
                      </a:r>
                      <a:r>
                        <a:rPr lang="en-US" sz="1200" b="0" i="0" u="none" strike="noStrike" noProof="0">
                          <a:latin typeface="Calibri"/>
                        </a:rPr>
                        <a:t>/</a:t>
                      </a:r>
                      <a:r>
                        <a:rPr lang="en-US" sz="1200" b="0" i="0" u="none" strike="noStrike" noProof="0" err="1">
                          <a:latin typeface="Calibri"/>
                        </a:rPr>
                        <a:t>src</a:t>
                      </a:r>
                      <a:r>
                        <a:rPr lang="en-US" sz="1200" b="0" i="0" u="none" strike="noStrike" noProof="0">
                          <a:latin typeface="Calibri"/>
                        </a:rPr>
                        <a:t>/</a:t>
                      </a:r>
                      <a:r>
                        <a:rPr lang="en-US" sz="1200" b="0" i="0" u="none" strike="noStrike" noProof="0" err="1">
                          <a:latin typeface="Calibri"/>
                        </a:rPr>
                        <a:t>sarah</a:t>
                      </a:r>
                      <a:r>
                        <a:rPr lang="en-US" sz="1200" b="0" i="0" u="none" strike="noStrike" noProof="0">
                          <a:latin typeface="Calibri"/>
                        </a:rPr>
                        <a:t>/</a:t>
                      </a:r>
                      <a:r>
                        <a:rPr lang="en-US" sz="1200" b="0" i="0" u="none" strike="noStrike" noProof="0" err="1">
                          <a:latin typeface="Calibri"/>
                        </a:rPr>
                        <a:t>msa_schev_vccs.R</a:t>
                      </a:r>
                    </a:p>
                  </a:txBody>
                  <a:tcPr/>
                </a:tc>
                <a:tc>
                  <a:txBody>
                    <a:bodyPr/>
                    <a:lstStyle/>
                    <a:p>
                      <a:r>
                        <a:rPr lang="en-US" sz="1200"/>
                        <a:t>n/a</a:t>
                      </a:r>
                    </a:p>
                    <a:p>
                      <a:endParaRPr lang="en-US" sz="1200"/>
                    </a:p>
                  </a:txBody>
                  <a:tcPr/>
                </a:tc>
                <a:tc>
                  <a:txBody>
                    <a:bodyPr/>
                    <a:lstStyle/>
                    <a:p>
                      <a:endParaRPr lang="en-US" sz="1200"/>
                    </a:p>
                  </a:txBody>
                  <a:tcPr/>
                </a:tc>
                <a:extLst>
                  <a:ext uri="{0D108BD9-81ED-4DB2-BD59-A6C34878D82A}">
                    <a16:rowId xmlns:a16="http://schemas.microsoft.com/office/drawing/2014/main" val="2754239605"/>
                  </a:ext>
                </a:extLst>
              </a:tr>
            </a:tbl>
          </a:graphicData>
        </a:graphic>
      </p:graphicFrame>
      <p:sp>
        <p:nvSpPr>
          <p:cNvPr id="2" name="TextBox 1">
            <a:extLst>
              <a:ext uri="{FF2B5EF4-FFF2-40B4-BE49-F238E27FC236}">
                <a16:creationId xmlns:a16="http://schemas.microsoft.com/office/drawing/2014/main" id="{3C98E5C0-3E28-D845-81F1-91EDE7034F02}"/>
              </a:ext>
            </a:extLst>
          </p:cNvPr>
          <p:cNvSpPr txBox="1"/>
          <p:nvPr/>
        </p:nvSpPr>
        <p:spPr>
          <a:xfrm>
            <a:off x="346213" y="278296"/>
            <a:ext cx="11499574" cy="369332"/>
          </a:xfrm>
          <a:prstGeom prst="rect">
            <a:avLst/>
          </a:prstGeom>
          <a:noFill/>
        </p:spPr>
        <p:txBody>
          <a:bodyPr wrap="square" rtlCol="0" anchor="t">
            <a:spAutoFit/>
          </a:bodyPr>
          <a:lstStyle/>
          <a:p>
            <a:r>
              <a:rPr lang="en-US" b="1" dirty="0"/>
              <a:t>1. Combine and map Virginia education information (SARAH)</a:t>
            </a:r>
          </a:p>
        </p:txBody>
      </p:sp>
    </p:spTree>
    <p:extLst>
      <p:ext uri="{BB962C8B-B14F-4D97-AF65-F5344CB8AC3E}">
        <p14:creationId xmlns:p14="http://schemas.microsoft.com/office/powerpoint/2010/main" val="984554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34E97-7AD8-D542-A5B0-E549DED9383D}"/>
              </a:ext>
            </a:extLst>
          </p:cNvPr>
          <p:cNvSpPr>
            <a:spLocks noGrp="1"/>
          </p:cNvSpPr>
          <p:nvPr>
            <p:ph type="title"/>
          </p:nvPr>
        </p:nvSpPr>
        <p:spPr/>
        <p:txBody>
          <a:bodyPr/>
          <a:lstStyle/>
          <a:p>
            <a:r>
              <a:rPr lang="en-US" b="1" dirty="0"/>
              <a:t>Analysis</a:t>
            </a:r>
          </a:p>
        </p:txBody>
      </p:sp>
      <p:sp>
        <p:nvSpPr>
          <p:cNvPr id="3" name="Text Placeholder 2">
            <a:extLst>
              <a:ext uri="{FF2B5EF4-FFF2-40B4-BE49-F238E27FC236}">
                <a16:creationId xmlns:a16="http://schemas.microsoft.com/office/drawing/2014/main" id="{A0A3858B-5ECF-EC44-BB9B-752FFD2C0102}"/>
              </a:ext>
            </a:extLst>
          </p:cNvPr>
          <p:cNvSpPr>
            <a:spLocks noGrp="1"/>
          </p:cNvSpPr>
          <p:nvPr>
            <p:ph type="body" idx="1"/>
          </p:nvPr>
        </p:nvSpPr>
        <p:spPr/>
        <p:txBody>
          <a:bodyPr/>
          <a:lstStyle/>
          <a:p>
            <a:r>
              <a:rPr lang="en-US"/>
              <a:t>Complete job ads and resumes first!</a:t>
            </a:r>
          </a:p>
        </p:txBody>
      </p:sp>
    </p:spTree>
    <p:extLst>
      <p:ext uri="{BB962C8B-B14F-4D97-AF65-F5344CB8AC3E}">
        <p14:creationId xmlns:p14="http://schemas.microsoft.com/office/powerpoint/2010/main" val="3318314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4DA44824-2CE5-A54D-81F3-0DFA95FADD62}"/>
              </a:ext>
            </a:extLst>
          </p:cNvPr>
          <p:cNvGraphicFramePr>
            <a:graphicFrameLocks noGrp="1"/>
          </p:cNvGraphicFramePr>
          <p:nvPr>
            <p:ph sz="half" idx="2"/>
            <p:extLst>
              <p:ext uri="{D42A27DB-BD31-4B8C-83A1-F6EECF244321}">
                <p14:modId xmlns:p14="http://schemas.microsoft.com/office/powerpoint/2010/main" val="2572409049"/>
              </p:ext>
            </p:extLst>
          </p:nvPr>
        </p:nvGraphicFramePr>
        <p:xfrm>
          <a:off x="0" y="914400"/>
          <a:ext cx="12192000" cy="6490327"/>
        </p:xfrm>
        <a:graphic>
          <a:graphicData uri="http://schemas.openxmlformats.org/drawingml/2006/table">
            <a:tbl>
              <a:tblPr firstRow="1" bandRow="1">
                <a:tableStyleId>{21E4AEA4-8DFA-4A89-87EB-49C32662AFE0}</a:tableStyleId>
              </a:tblPr>
              <a:tblGrid>
                <a:gridCol w="1743843">
                  <a:extLst>
                    <a:ext uri="{9D8B030D-6E8A-4147-A177-3AD203B41FA5}">
                      <a16:colId xmlns:a16="http://schemas.microsoft.com/office/drawing/2014/main" val="1352491661"/>
                    </a:ext>
                  </a:extLst>
                </a:gridCol>
                <a:gridCol w="3076635">
                  <a:extLst>
                    <a:ext uri="{9D8B030D-6E8A-4147-A177-3AD203B41FA5}">
                      <a16:colId xmlns:a16="http://schemas.microsoft.com/office/drawing/2014/main" val="3130510922"/>
                    </a:ext>
                  </a:extLst>
                </a:gridCol>
                <a:gridCol w="834357">
                  <a:extLst>
                    <a:ext uri="{9D8B030D-6E8A-4147-A177-3AD203B41FA5}">
                      <a16:colId xmlns:a16="http://schemas.microsoft.com/office/drawing/2014/main" val="1636284579"/>
                    </a:ext>
                  </a:extLst>
                </a:gridCol>
                <a:gridCol w="2145611">
                  <a:extLst>
                    <a:ext uri="{9D8B030D-6E8A-4147-A177-3AD203B41FA5}">
                      <a16:colId xmlns:a16="http://schemas.microsoft.com/office/drawing/2014/main" val="2195260392"/>
                    </a:ext>
                  </a:extLst>
                </a:gridCol>
                <a:gridCol w="2195777">
                  <a:extLst>
                    <a:ext uri="{9D8B030D-6E8A-4147-A177-3AD203B41FA5}">
                      <a16:colId xmlns:a16="http://schemas.microsoft.com/office/drawing/2014/main" val="3536091448"/>
                    </a:ext>
                  </a:extLst>
                </a:gridCol>
                <a:gridCol w="2195777">
                  <a:extLst>
                    <a:ext uri="{9D8B030D-6E8A-4147-A177-3AD203B41FA5}">
                      <a16:colId xmlns:a16="http://schemas.microsoft.com/office/drawing/2014/main" val="4195063144"/>
                    </a:ext>
                  </a:extLst>
                </a:gridCol>
              </a:tblGrid>
              <a:tr h="278430">
                <a:tc>
                  <a:txBody>
                    <a:bodyPr/>
                    <a:lstStyle/>
                    <a:p>
                      <a:r>
                        <a:rPr lang="en-US" sz="1400"/>
                        <a:t>Goal</a:t>
                      </a:r>
                    </a:p>
                  </a:txBody>
                  <a:tcPr/>
                </a:tc>
                <a:tc>
                  <a:txBody>
                    <a:bodyPr/>
                    <a:lstStyle/>
                    <a:p>
                      <a:r>
                        <a:rPr lang="en-US" sz="1400"/>
                        <a:t>Input</a:t>
                      </a:r>
                    </a:p>
                  </a:txBody>
                  <a:tcPr/>
                </a:tc>
                <a:tc>
                  <a:txBody>
                    <a:bodyPr/>
                    <a:lstStyle/>
                    <a:p>
                      <a:r>
                        <a:rPr lang="en-US" sz="1400"/>
                        <a:t>Run Order</a:t>
                      </a:r>
                    </a:p>
                  </a:txBody>
                  <a:tcPr/>
                </a:tc>
                <a:tc>
                  <a:txBody>
                    <a:bodyPr/>
                    <a:lstStyle/>
                    <a:p>
                      <a:r>
                        <a:rPr lang="en-US" sz="1400"/>
                        <a:t>Script</a:t>
                      </a:r>
                    </a:p>
                  </a:txBody>
                  <a:tcPr/>
                </a:tc>
                <a:tc>
                  <a:txBody>
                    <a:bodyPr/>
                    <a:lstStyle/>
                    <a:p>
                      <a:r>
                        <a:rPr lang="en-US" sz="1400"/>
                        <a:t>Output</a:t>
                      </a:r>
                    </a:p>
                  </a:txBody>
                  <a:tcPr/>
                </a:tc>
                <a:tc>
                  <a:txBody>
                    <a:bodyPr/>
                    <a:lstStyle/>
                    <a:p>
                      <a:r>
                        <a:rPr lang="en-US" sz="1400"/>
                        <a:t>Notes</a:t>
                      </a:r>
                    </a:p>
                  </a:txBody>
                  <a:tcPr/>
                </a:tc>
                <a:extLst>
                  <a:ext uri="{0D108BD9-81ED-4DB2-BD59-A6C34878D82A}">
                    <a16:rowId xmlns:a16="http://schemas.microsoft.com/office/drawing/2014/main" val="744206176"/>
                  </a:ext>
                </a:extLst>
              </a:tr>
              <a:tr h="1230439">
                <a:tc>
                  <a:txBody>
                    <a:bodyPr/>
                    <a:lstStyle/>
                    <a:p>
                      <a:r>
                        <a:rPr lang="en-US" sz="1200"/>
                        <a:t>Exploratory</a:t>
                      </a:r>
                    </a:p>
                  </a:txBody>
                  <a:tcPr/>
                </a:tc>
                <a:tc>
                  <a:txBody>
                    <a:bodyPr/>
                    <a:lstStyle/>
                    <a:p>
                      <a:pPr lvl="0" algn="l">
                        <a:lnSpc>
                          <a:spcPct val="100000"/>
                        </a:lnSpc>
                        <a:spcBef>
                          <a:spcPts val="0"/>
                        </a:spcBef>
                        <a:spcAft>
                          <a:spcPts val="0"/>
                        </a:spcAft>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/working/burning_glass_ad_combine_16_17/blacksburg_top5_stw_jobs_all_skills.csv</a:t>
                      </a:r>
                    </a:p>
                    <a:p>
                      <a:pPr lvl="0" algn="l">
                        <a:lnSpc>
                          <a:spcPct val="100000"/>
                        </a:lnSpc>
                        <a:spcBef>
                          <a:spcPts val="0"/>
                        </a:spcBef>
                        <a:spcAft>
                          <a:spcPts val="0"/>
                        </a:spcAft>
                        <a:buNone/>
                      </a:pPr>
                      <a:endParaRPr lang="en-US" sz="1200" b="0" i="0" u="none" strike="noStrike" noProof="0">
                        <a:latin typeface="Calibri"/>
                      </a:endParaRPr>
                    </a:p>
                    <a:p>
                      <a:pPr lvl="0" algn="l">
                        <a:lnSpc>
                          <a:spcPct val="100000"/>
                        </a:lnSpc>
                        <a:spcBef>
                          <a:spcPts val="0"/>
                        </a:spcBef>
                        <a:spcAft>
                          <a:spcPts val="0"/>
                        </a:spcAft>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/working/burning_glass_ad_combine_16_17/richmond_top5_stw_jobs_all_skills.csv</a:t>
                      </a:r>
                    </a:p>
                    <a:p>
                      <a:pPr lvl="0">
                        <a:buNone/>
                      </a:pPr>
                      <a:endParaRPr lang="en-US" sz="1200"/>
                    </a:p>
                  </a:txBody>
                  <a:tcPr/>
                </a:tc>
                <a:tc>
                  <a:txBody>
                    <a:bodyPr/>
                    <a:lstStyle/>
                    <a:p>
                      <a:r>
                        <a:rPr lang="en-US" sz="1200"/>
                        <a:t>1 (does not matter here)</a:t>
                      </a:r>
                    </a:p>
                  </a:txBody>
                  <a:tcPr/>
                </a:tc>
                <a:tc>
                  <a:txBody>
                    <a:bodyPr/>
                    <a:lstStyle/>
                    <a:p>
                      <a:pPr lvl="0">
                        <a:buNone/>
                      </a:pPr>
                      <a:r>
                        <a:rPr lang="en-US" sz="1200" b="0" i="0" u="none" strike="noStrike" noProof="0" err="1">
                          <a:latin typeface="Calibri"/>
                        </a:rPr>
                        <a:t>stem_edu</a:t>
                      </a:r>
                      <a:r>
                        <a:rPr lang="en-US" sz="1200" b="0" i="0" u="none" strike="noStrike" noProof="0">
                          <a:latin typeface="Calibri"/>
                        </a:rPr>
                        <a:t>/</a:t>
                      </a:r>
                      <a:r>
                        <a:rPr lang="en-US" sz="1200" b="0" i="0" u="none" strike="noStrike" noProof="0" err="1">
                          <a:latin typeface="Calibri"/>
                        </a:rPr>
                        <a:t>src</a:t>
                      </a:r>
                      <a:r>
                        <a:rPr lang="en-US" sz="1200" b="0" i="0" u="none" strike="noStrike" noProof="0">
                          <a:latin typeface="Calibri"/>
                        </a:rPr>
                        <a:t>/</a:t>
                      </a:r>
                      <a:r>
                        <a:rPr lang="en-US" sz="1200" b="0" i="0" u="none" strike="noStrike" noProof="0" err="1">
                          <a:latin typeface="Calibri"/>
                        </a:rPr>
                        <a:t>sarah</a:t>
                      </a:r>
                      <a:r>
                        <a:rPr lang="en-US" sz="1200" b="0" i="0" u="none" strike="noStrike" noProof="0">
                          <a:latin typeface="Calibri"/>
                        </a:rPr>
                        <a:t>/exploratory/describe_top5.R</a:t>
                      </a:r>
                    </a:p>
                  </a:txBody>
                  <a:tcPr/>
                </a:tc>
                <a:tc>
                  <a:txBody>
                    <a:bodyPr/>
                    <a:lstStyle/>
                    <a:p>
                      <a:r>
                        <a:rPr lang="en-US" sz="1200"/>
                        <a:t>n/a</a:t>
                      </a:r>
                    </a:p>
                  </a:txBody>
                  <a:tcPr/>
                </a:tc>
                <a:tc>
                  <a:txBody>
                    <a:bodyPr/>
                    <a:lstStyle/>
                    <a:p>
                      <a:pPr lvl="0">
                        <a:buNone/>
                      </a:pPr>
                      <a:r>
                        <a:rPr lang="en-US" sz="1200" b="0" i="0" u="none" strike="noStrike" noProof="0">
                          <a:latin typeface="Calibri"/>
                        </a:rPr>
                        <a:t>Exploring ways to describe top 5 STW jobs using number of skills requested, and other methods</a:t>
                      </a:r>
                    </a:p>
                  </a:txBody>
                  <a:tcPr/>
                </a:tc>
                <a:extLst>
                  <a:ext uri="{0D108BD9-81ED-4DB2-BD59-A6C34878D82A}">
                    <a16:rowId xmlns:a16="http://schemas.microsoft.com/office/drawing/2014/main" val="4290437681"/>
                  </a:ext>
                </a:extLst>
              </a:tr>
              <a:tr h="1398226">
                <a:tc>
                  <a:txBody>
                    <a:bodyPr/>
                    <a:lstStyle/>
                    <a:p>
                      <a:r>
                        <a:rPr lang="en-US" sz="1200"/>
                        <a:t>Exploratory</a:t>
                      </a:r>
                    </a:p>
                  </a:txBody>
                  <a:tcPr/>
                </a:tc>
                <a:tc>
                  <a:txBody>
                    <a:bodyPr/>
                    <a:lstStyle/>
                    <a:p>
                      <a:pPr lvl="0">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/working/</a:t>
                      </a:r>
                      <a:r>
                        <a:rPr lang="en-US" sz="1200" b="0" i="0" u="none" strike="noStrike" noProof="0" err="1">
                          <a:latin typeface="Calibri"/>
                        </a:rPr>
                        <a:t>skills_by_occupation</a:t>
                      </a:r>
                      <a:r>
                        <a:rPr lang="en-US" sz="1200" b="0" i="0" u="none" strike="noStrike" noProof="0">
                          <a:latin typeface="Calibri"/>
                        </a:rPr>
                        <a:t>/top3occ/hardskills_top3-stw-position.csv</a:t>
                      </a:r>
                    </a:p>
                  </a:txBody>
                  <a:tcPr/>
                </a:tc>
                <a:tc>
                  <a:txBody>
                    <a:bodyPr/>
                    <a:lstStyle/>
                    <a:p>
                      <a:r>
                        <a:rPr lang="en-US" sz="1200"/>
                        <a:t>2 (does not matter here)</a:t>
                      </a:r>
                    </a:p>
                  </a:txBody>
                  <a:tcPr/>
                </a:tc>
                <a:tc>
                  <a:txBody>
                    <a:bodyPr/>
                    <a:lstStyle/>
                    <a:p>
                      <a:pPr lvl="0">
                        <a:buNone/>
                      </a:pPr>
                      <a:r>
                        <a:rPr lang="en-US" sz="1200" b="0" i="0" u="none" strike="noStrike" noProof="0" err="1">
                          <a:latin typeface="Calibri"/>
                        </a:rPr>
                        <a:t>stem_edu</a:t>
                      </a:r>
                      <a:r>
                        <a:rPr lang="en-US" sz="1200" b="0" i="0" u="none" strike="noStrike" noProof="0">
                          <a:latin typeface="Calibri"/>
                        </a:rPr>
                        <a:t>/</a:t>
                      </a:r>
                      <a:r>
                        <a:rPr lang="en-US" sz="1200" b="0" i="0" u="none" strike="noStrike" noProof="0" err="1">
                          <a:latin typeface="Calibri"/>
                        </a:rPr>
                        <a:t>src</a:t>
                      </a:r>
                      <a:r>
                        <a:rPr lang="en-US" sz="1200" b="0" i="0" u="none" strike="noStrike" noProof="0">
                          <a:latin typeface="Calibri"/>
                        </a:rPr>
                        <a:t>/</a:t>
                      </a:r>
                      <a:r>
                        <a:rPr lang="en-US" sz="1200" b="0" i="0" u="none" strike="noStrike" noProof="0" err="1">
                          <a:latin typeface="Calibri"/>
                        </a:rPr>
                        <a:t>sarah</a:t>
                      </a:r>
                      <a:r>
                        <a:rPr lang="en-US" sz="1200" b="0" i="0" u="none" strike="noStrike" noProof="0">
                          <a:latin typeface="Calibri"/>
                        </a:rPr>
                        <a:t>/exploratory/describe_top3.R</a:t>
                      </a:r>
                    </a:p>
                  </a:txBody>
                  <a:tcPr/>
                </a:tc>
                <a:tc>
                  <a:txBody>
                    <a:bodyPr/>
                    <a:lstStyle/>
                    <a:p>
                      <a:r>
                        <a:rPr lang="en-US" sz="1200"/>
                        <a:t>n/a</a:t>
                      </a:r>
                    </a:p>
                  </a:txBody>
                  <a:tcPr/>
                </a:tc>
                <a:tc>
                  <a:txBody>
                    <a:bodyPr/>
                    <a:lstStyle/>
                    <a:p>
                      <a:r>
                        <a:rPr lang="en-US" sz="1200"/>
                        <a:t>E</a:t>
                      </a:r>
                      <a:r>
                        <a:rPr lang="en-US" sz="1200" b="0" i="0" u="none" strike="noStrike" noProof="0">
                          <a:latin typeface="Calibri"/>
                        </a:rPr>
                        <a:t>xploring ways to describe top 3 STW using number of skills requested</a:t>
                      </a:r>
                    </a:p>
                  </a:txBody>
                  <a:tcPr/>
                </a:tc>
                <a:extLst>
                  <a:ext uri="{0D108BD9-81ED-4DB2-BD59-A6C34878D82A}">
                    <a16:rowId xmlns:a16="http://schemas.microsoft.com/office/drawing/2014/main" val="2433231062"/>
                  </a:ext>
                </a:extLst>
              </a:tr>
              <a:tr h="1398226">
                <a:tc>
                  <a:txBody>
                    <a:bodyPr/>
                    <a:lstStyle/>
                    <a:p>
                      <a:endParaRPr lang="en-US" sz="1200"/>
                    </a:p>
                  </a:txBody>
                  <a:tcPr/>
                </a:tc>
                <a:tc>
                  <a:txBody>
                    <a:bodyPr/>
                    <a:lstStyle/>
                    <a:p>
                      <a:endParaRPr lang="en-US" sz="1200"/>
                    </a:p>
                  </a:txBody>
                  <a:tcPr/>
                </a:tc>
                <a:tc>
                  <a:txBody>
                    <a:bodyPr/>
                    <a:lstStyle/>
                    <a:p>
                      <a:r>
                        <a:rPr lang="en-US" sz="1200"/>
                        <a:t>3</a:t>
                      </a:r>
                    </a:p>
                  </a:txBody>
                  <a:tcPr/>
                </a:tc>
                <a:tc>
                  <a:txBody>
                    <a:bodyPr/>
                    <a:lstStyle/>
                    <a:p>
                      <a:endParaRPr lang="en-US" sz="1200"/>
                    </a:p>
                  </a:txBody>
                  <a:tcPr/>
                </a:tc>
                <a:tc>
                  <a:txBody>
                    <a:bodyPr/>
                    <a:lstStyle/>
                    <a:p>
                      <a:endParaRPr lang="en-US" sz="1200"/>
                    </a:p>
                    <a:p>
                      <a:endParaRPr lang="en-US" sz="1200"/>
                    </a:p>
                  </a:txBody>
                  <a:tcPr/>
                </a:tc>
                <a:tc>
                  <a:txBody>
                    <a:bodyPr/>
                    <a:lstStyle/>
                    <a:p>
                      <a:endParaRPr lang="en-US" sz="1200"/>
                    </a:p>
                  </a:txBody>
                  <a:tcPr/>
                </a:tc>
                <a:extLst>
                  <a:ext uri="{0D108BD9-81ED-4DB2-BD59-A6C34878D82A}">
                    <a16:rowId xmlns:a16="http://schemas.microsoft.com/office/drawing/2014/main" val="2754239605"/>
                  </a:ext>
                </a:extLst>
              </a:tr>
              <a:tr h="1621235">
                <a:tc>
                  <a:txBody>
                    <a:bodyPr/>
                    <a:lstStyle/>
                    <a:p>
                      <a:endParaRPr lang="en-US" sz="1200"/>
                    </a:p>
                  </a:txBody>
                  <a:tcPr/>
                </a:tc>
                <a:tc>
                  <a:txBody>
                    <a:bodyPr/>
                    <a:lstStyle/>
                    <a:p>
                      <a:endParaRPr lang="en-US" sz="1200"/>
                    </a:p>
                  </a:txBody>
                  <a:tcPr/>
                </a:tc>
                <a:tc>
                  <a:txBody>
                    <a:bodyPr/>
                    <a:lstStyle/>
                    <a:p>
                      <a:r>
                        <a:rPr lang="en-US" sz="1200"/>
                        <a:t>4</a:t>
                      </a:r>
                    </a:p>
                  </a:txBody>
                  <a:tcPr/>
                </a:tc>
                <a:tc>
                  <a:txBody>
                    <a:bodyPr/>
                    <a:lstStyle/>
                    <a:p>
                      <a:endParaRPr lang="en-US" sz="1200"/>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320507716"/>
                  </a:ext>
                </a:extLst>
              </a:tr>
            </a:tbl>
          </a:graphicData>
        </a:graphic>
      </p:graphicFrame>
      <p:sp>
        <p:nvSpPr>
          <p:cNvPr id="2" name="TextBox 1">
            <a:extLst>
              <a:ext uri="{FF2B5EF4-FFF2-40B4-BE49-F238E27FC236}">
                <a16:creationId xmlns:a16="http://schemas.microsoft.com/office/drawing/2014/main" id="{3C98E5C0-3E28-D845-81F1-91EDE7034F02}"/>
              </a:ext>
            </a:extLst>
          </p:cNvPr>
          <p:cNvSpPr txBox="1"/>
          <p:nvPr/>
        </p:nvSpPr>
        <p:spPr>
          <a:xfrm>
            <a:off x="346213" y="278296"/>
            <a:ext cx="11499574" cy="369332"/>
          </a:xfrm>
          <a:prstGeom prst="rect">
            <a:avLst/>
          </a:prstGeom>
          <a:noFill/>
        </p:spPr>
        <p:txBody>
          <a:bodyPr wrap="square" rtlCol="0" anchor="t">
            <a:spAutoFit/>
          </a:bodyPr>
          <a:lstStyle/>
          <a:p>
            <a:r>
              <a:rPr lang="en-US" b="1" dirty="0"/>
              <a:t>1. Exploratory analysis</a:t>
            </a:r>
            <a:endParaRPr lang="en-US" b="1" dirty="0">
              <a:cs typeface="Calibri"/>
            </a:endParaRPr>
          </a:p>
        </p:txBody>
      </p:sp>
    </p:spTree>
    <p:extLst>
      <p:ext uri="{BB962C8B-B14F-4D97-AF65-F5344CB8AC3E}">
        <p14:creationId xmlns:p14="http://schemas.microsoft.com/office/powerpoint/2010/main" val="39685966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4DA44824-2CE5-A54D-81F3-0DFA95FADD62}"/>
              </a:ext>
            </a:extLst>
          </p:cNvPr>
          <p:cNvGraphicFramePr>
            <a:graphicFrameLocks noGrp="1"/>
          </p:cNvGraphicFramePr>
          <p:nvPr>
            <p:ph sz="half" idx="2"/>
            <p:extLst>
              <p:ext uri="{D42A27DB-BD31-4B8C-83A1-F6EECF244321}">
                <p14:modId xmlns:p14="http://schemas.microsoft.com/office/powerpoint/2010/main" val="2456808233"/>
              </p:ext>
            </p:extLst>
          </p:nvPr>
        </p:nvGraphicFramePr>
        <p:xfrm>
          <a:off x="0" y="914400"/>
          <a:ext cx="12192000" cy="6166286"/>
        </p:xfrm>
        <a:graphic>
          <a:graphicData uri="http://schemas.openxmlformats.org/drawingml/2006/table">
            <a:tbl>
              <a:tblPr firstRow="1" bandRow="1">
                <a:tableStyleId>{21E4AEA4-8DFA-4A89-87EB-49C32662AFE0}</a:tableStyleId>
              </a:tblPr>
              <a:tblGrid>
                <a:gridCol w="1743843">
                  <a:extLst>
                    <a:ext uri="{9D8B030D-6E8A-4147-A177-3AD203B41FA5}">
                      <a16:colId xmlns:a16="http://schemas.microsoft.com/office/drawing/2014/main" val="1352491661"/>
                    </a:ext>
                  </a:extLst>
                </a:gridCol>
                <a:gridCol w="3076635">
                  <a:extLst>
                    <a:ext uri="{9D8B030D-6E8A-4147-A177-3AD203B41FA5}">
                      <a16:colId xmlns:a16="http://schemas.microsoft.com/office/drawing/2014/main" val="3130510922"/>
                    </a:ext>
                  </a:extLst>
                </a:gridCol>
                <a:gridCol w="834357">
                  <a:extLst>
                    <a:ext uri="{9D8B030D-6E8A-4147-A177-3AD203B41FA5}">
                      <a16:colId xmlns:a16="http://schemas.microsoft.com/office/drawing/2014/main" val="1636284579"/>
                    </a:ext>
                  </a:extLst>
                </a:gridCol>
                <a:gridCol w="2145611">
                  <a:extLst>
                    <a:ext uri="{9D8B030D-6E8A-4147-A177-3AD203B41FA5}">
                      <a16:colId xmlns:a16="http://schemas.microsoft.com/office/drawing/2014/main" val="2195260392"/>
                    </a:ext>
                  </a:extLst>
                </a:gridCol>
                <a:gridCol w="2195777">
                  <a:extLst>
                    <a:ext uri="{9D8B030D-6E8A-4147-A177-3AD203B41FA5}">
                      <a16:colId xmlns:a16="http://schemas.microsoft.com/office/drawing/2014/main" val="3536091448"/>
                    </a:ext>
                  </a:extLst>
                </a:gridCol>
                <a:gridCol w="2195777">
                  <a:extLst>
                    <a:ext uri="{9D8B030D-6E8A-4147-A177-3AD203B41FA5}">
                      <a16:colId xmlns:a16="http://schemas.microsoft.com/office/drawing/2014/main" val="4195063144"/>
                    </a:ext>
                  </a:extLst>
                </a:gridCol>
              </a:tblGrid>
              <a:tr h="278430">
                <a:tc>
                  <a:txBody>
                    <a:bodyPr/>
                    <a:lstStyle/>
                    <a:p>
                      <a:r>
                        <a:rPr lang="en-US" sz="1400"/>
                        <a:t>Goal</a:t>
                      </a:r>
                    </a:p>
                  </a:txBody>
                  <a:tcPr/>
                </a:tc>
                <a:tc>
                  <a:txBody>
                    <a:bodyPr/>
                    <a:lstStyle/>
                    <a:p>
                      <a:r>
                        <a:rPr lang="en-US" sz="1400"/>
                        <a:t>Input</a:t>
                      </a:r>
                    </a:p>
                  </a:txBody>
                  <a:tcPr/>
                </a:tc>
                <a:tc>
                  <a:txBody>
                    <a:bodyPr/>
                    <a:lstStyle/>
                    <a:p>
                      <a:r>
                        <a:rPr lang="en-US" sz="1400"/>
                        <a:t>Run Order</a:t>
                      </a:r>
                    </a:p>
                  </a:txBody>
                  <a:tcPr/>
                </a:tc>
                <a:tc>
                  <a:txBody>
                    <a:bodyPr/>
                    <a:lstStyle/>
                    <a:p>
                      <a:r>
                        <a:rPr lang="en-US" sz="1400"/>
                        <a:t>Script</a:t>
                      </a:r>
                    </a:p>
                  </a:txBody>
                  <a:tcPr/>
                </a:tc>
                <a:tc>
                  <a:txBody>
                    <a:bodyPr/>
                    <a:lstStyle/>
                    <a:p>
                      <a:r>
                        <a:rPr lang="en-US" sz="1400"/>
                        <a:t>Output</a:t>
                      </a:r>
                    </a:p>
                  </a:txBody>
                  <a:tcPr/>
                </a:tc>
                <a:tc>
                  <a:txBody>
                    <a:bodyPr/>
                    <a:lstStyle/>
                    <a:p>
                      <a:r>
                        <a:rPr lang="en-US" sz="1400"/>
                        <a:t>Notes</a:t>
                      </a:r>
                    </a:p>
                  </a:txBody>
                  <a:tcPr/>
                </a:tc>
                <a:extLst>
                  <a:ext uri="{0D108BD9-81ED-4DB2-BD59-A6C34878D82A}">
                    <a16:rowId xmlns:a16="http://schemas.microsoft.com/office/drawing/2014/main" val="744206176"/>
                  </a:ext>
                </a:extLst>
              </a:tr>
              <a:tr h="1230439">
                <a:tc>
                  <a:txBody>
                    <a:bodyPr/>
                    <a:lstStyle/>
                    <a:p>
                      <a:r>
                        <a:rPr lang="en-US" sz="1200"/>
                        <a:t>Two-way bar plot (Calvin)</a:t>
                      </a:r>
                    </a:p>
                  </a:txBody>
                  <a:tcPr/>
                </a:tc>
                <a:tc>
                  <a:txBody>
                    <a:bodyPr/>
                    <a:lstStyle/>
                    <a:p>
                      <a:pPr lvl="0">
                        <a:buNone/>
                      </a:pPr>
                      <a:r>
                        <a:rPr lang="en-US" sz="1200" b="0" i="0" u="none" strike="noStrike" noProof="0"/>
                        <a:t>data/stem_edu/final/dspg19_analysis/FINAL_RICHMOND_NURSE_AD.csv</a:t>
                      </a:r>
                    </a:p>
                    <a:p>
                      <a:pPr lvl="0" algn="l">
                        <a:lnSpc>
                          <a:spcPct val="100000"/>
                        </a:lnSpc>
                        <a:spcBef>
                          <a:spcPts val="0"/>
                        </a:spcBef>
                        <a:spcAft>
                          <a:spcPts val="0"/>
                        </a:spcAft>
                        <a:buNone/>
                      </a:pPr>
                      <a:endParaRPr lang="en-US" sz="1200" b="0" i="0" u="none" strike="noStrike" noProof="0"/>
                    </a:p>
                    <a:p>
                      <a:pPr lvl="0" algn="l">
                        <a:lnSpc>
                          <a:spcPct val="100000"/>
                        </a:lnSpc>
                        <a:spcBef>
                          <a:spcPts val="0"/>
                        </a:spcBef>
                        <a:spcAft>
                          <a:spcPts val="0"/>
                        </a:spcAft>
                        <a:buNone/>
                      </a:pPr>
                      <a:r>
                        <a:rPr lang="en-US" sz="1200" b="0" i="0" u="none" strike="noStrike" noProof="0"/>
                        <a:t>data/stem_edu/final/dspg19_analysis/FINAL_RICHMOND_NURSE_RESUME.csv</a:t>
                      </a:r>
                      <a:endParaRPr lang="en-US"/>
                    </a:p>
                  </a:txBody>
                  <a:tcPr/>
                </a:tc>
                <a:tc>
                  <a:txBody>
                    <a:bodyPr/>
                    <a:lstStyle/>
                    <a:p>
                      <a:r>
                        <a:rPr lang="en-US" sz="1200"/>
                        <a:t>1</a:t>
                      </a:r>
                    </a:p>
                  </a:txBody>
                  <a:tcPr/>
                </a:tc>
                <a:tc>
                  <a:txBody>
                    <a:bodyPr/>
                    <a:lstStyle/>
                    <a:p>
                      <a:pPr lvl="0">
                        <a:buNone/>
                      </a:pPr>
                      <a:r>
                        <a:rPr lang="en-US" sz="1200" b="0" i="0" u="none" strike="noStrike" noProof="0">
                          <a:latin typeface="Calibri"/>
                        </a:rPr>
                        <a:t>stem_edu/src/calvin/create_slope_plots.R</a:t>
                      </a:r>
                      <a:endParaRPr lang="en-US"/>
                    </a:p>
                  </a:txBody>
                  <a:tcPr/>
                </a:tc>
                <a:tc>
                  <a:txBody>
                    <a:bodyPr/>
                    <a:lstStyle/>
                    <a:p>
                      <a:r>
                        <a:rPr lang="en-US" sz="1200"/>
                        <a:t>A beautiful two-way bar plot</a:t>
                      </a:r>
                    </a:p>
                  </a:txBody>
                  <a:tcPr/>
                </a:tc>
                <a:tc>
                  <a:txBody>
                    <a:bodyPr/>
                    <a:lstStyle/>
                    <a:p>
                      <a:pPr lvl="0">
                        <a:buNone/>
                      </a:pPr>
                      <a:r>
                        <a:rPr lang="en-US" sz="1200" b="0" i="0" u="none" strike="noStrike" noProof="0">
                          <a:latin typeface="Calibri"/>
                        </a:rPr>
                        <a:t>Note that it comes as two bar plots—cosmetic changes were made in illustrator</a:t>
                      </a:r>
                    </a:p>
                    <a:p>
                      <a:pPr lvl="0">
                        <a:buNone/>
                      </a:pPr>
                      <a:endParaRPr lang="en-US" sz="1200" b="0" i="0" u="none" strike="noStrike" noProof="0">
                        <a:latin typeface="Calibri"/>
                      </a:endParaRPr>
                    </a:p>
                    <a:p>
                      <a:pPr lvl="0">
                        <a:buNone/>
                      </a:pPr>
                      <a:r>
                        <a:rPr lang="en-US" sz="1200" b="0" i="0" u="none" strike="noStrike" noProof="0">
                          <a:latin typeface="Calibri"/>
                        </a:rPr>
                        <a:t>Run in line order.</a:t>
                      </a:r>
                    </a:p>
                  </a:txBody>
                  <a:tcPr/>
                </a:tc>
                <a:extLst>
                  <a:ext uri="{0D108BD9-81ED-4DB2-BD59-A6C34878D82A}">
                    <a16:rowId xmlns:a16="http://schemas.microsoft.com/office/drawing/2014/main" val="4290437681"/>
                  </a:ext>
                </a:extLst>
              </a:tr>
              <a:tr h="1398226">
                <a:tc>
                  <a:txBody>
                    <a:bodyPr/>
                    <a:lstStyle/>
                    <a:p>
                      <a:r>
                        <a:rPr lang="en-US" sz="1200"/>
                        <a:t>Box plot (Sarah)</a:t>
                      </a:r>
                    </a:p>
                  </a:txBody>
                  <a:tcPr/>
                </a:tc>
                <a:tc>
                  <a:txBody>
                    <a:bodyPr/>
                    <a:lstStyle/>
                    <a:p>
                      <a:pPr lvl="0" algn="l">
                        <a:lnSpc>
                          <a:spcPct val="100000"/>
                        </a:lnSpc>
                        <a:spcBef>
                          <a:spcPts val="0"/>
                        </a:spcBef>
                        <a:spcAft>
                          <a:spcPts val="0"/>
                        </a:spcAft>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/final/dspg19_analysis/FINAL_RICHMOND_NURSE_AD.csv</a:t>
                      </a:r>
                    </a:p>
                    <a:p>
                      <a:pPr lvl="0" algn="l">
                        <a:lnSpc>
                          <a:spcPct val="100000"/>
                        </a:lnSpc>
                        <a:spcBef>
                          <a:spcPts val="0"/>
                        </a:spcBef>
                        <a:spcAft>
                          <a:spcPts val="0"/>
                        </a:spcAft>
                        <a:buNone/>
                      </a:pPr>
                      <a:endParaRPr lang="en-US" sz="1200" b="0" i="0" u="none" strike="noStrike" noProof="0">
                        <a:latin typeface="Calibri"/>
                      </a:endParaRPr>
                    </a:p>
                    <a:p>
                      <a:pPr lvl="0" algn="l">
                        <a:lnSpc>
                          <a:spcPct val="100000"/>
                        </a:lnSpc>
                        <a:spcBef>
                          <a:spcPts val="0"/>
                        </a:spcBef>
                        <a:spcAft>
                          <a:spcPts val="0"/>
                        </a:spcAft>
                        <a:buNone/>
                      </a:pPr>
                      <a:r>
                        <a:rPr lang="en-US" sz="1200" b="0" i="0" u="none" strike="noStrike" noProof="0">
                          <a:latin typeface="Calibri"/>
                        </a:rPr>
                        <a:t>data/</a:t>
                      </a:r>
                      <a:r>
                        <a:rPr lang="en-US" sz="1200" b="0" i="0" u="none" strike="noStrike" noProof="0" err="1">
                          <a:latin typeface="Calibri"/>
                        </a:rPr>
                        <a:t>stem_edu</a:t>
                      </a:r>
                      <a:r>
                        <a:rPr lang="en-US" sz="1200" b="0" i="0" u="none" strike="noStrike" noProof="0">
                          <a:latin typeface="Calibri"/>
                        </a:rPr>
                        <a:t>/final/dspg19_analysis/FINAL_RICHMOND_NURSE_RESUME.csv</a:t>
                      </a:r>
                    </a:p>
                    <a:p>
                      <a:pPr lvl="0">
                        <a:buNone/>
                      </a:pPr>
                      <a:endParaRPr lang="en-US" sz="1200"/>
                    </a:p>
                  </a:txBody>
                  <a:tcPr/>
                </a:tc>
                <a:tc>
                  <a:txBody>
                    <a:bodyPr/>
                    <a:lstStyle/>
                    <a:p>
                      <a:r>
                        <a:rPr lang="en-US" sz="1200"/>
                        <a:t>2</a:t>
                      </a:r>
                    </a:p>
                  </a:txBody>
                  <a:tcPr/>
                </a:tc>
                <a:tc>
                  <a:txBody>
                    <a:bodyPr/>
                    <a:lstStyle/>
                    <a:p>
                      <a:pPr lvl="0">
                        <a:buNone/>
                      </a:pPr>
                      <a:r>
                        <a:rPr lang="en-US" sz="1200" b="0" i="0" u="none" strike="noStrike" noProof="0" err="1">
                          <a:latin typeface="Calibri"/>
                        </a:rPr>
                        <a:t>stem_edu</a:t>
                      </a:r>
                      <a:r>
                        <a:rPr lang="en-US" sz="1200" b="0" i="0" u="none" strike="noStrike" noProof="0">
                          <a:latin typeface="Calibri"/>
                        </a:rPr>
                        <a:t>/</a:t>
                      </a:r>
                      <a:r>
                        <a:rPr lang="en-US" sz="1200" b="0" i="0" u="none" strike="noStrike" noProof="0" err="1">
                          <a:latin typeface="Calibri"/>
                        </a:rPr>
                        <a:t>src</a:t>
                      </a:r>
                      <a:r>
                        <a:rPr lang="en-US" sz="1200" b="0" i="0" u="none" strike="noStrike" noProof="0">
                          <a:latin typeface="Calibri"/>
                        </a:rPr>
                        <a:t>/</a:t>
                      </a:r>
                      <a:r>
                        <a:rPr lang="en-US" sz="1200" b="0" i="0" u="none" strike="noStrike" noProof="0" err="1">
                          <a:latin typeface="Calibri"/>
                        </a:rPr>
                        <a:t>sarah</a:t>
                      </a:r>
                      <a:r>
                        <a:rPr lang="en-US" sz="1200" b="0" i="0" u="none" strike="noStrike" noProof="0">
                          <a:latin typeface="Calibri"/>
                        </a:rPr>
                        <a:t>/</a:t>
                      </a:r>
                      <a:r>
                        <a:rPr lang="en-US" sz="1200" b="0" i="0" u="none" strike="noStrike" noProof="0" err="1">
                          <a:latin typeface="Calibri"/>
                        </a:rPr>
                        <a:t>poster_visuals.R</a:t>
                      </a:r>
                    </a:p>
                  </a:txBody>
                  <a:tcPr/>
                </a:tc>
                <a:tc>
                  <a:txBody>
                    <a:bodyPr/>
                    <a:lstStyle/>
                    <a:p>
                      <a:r>
                        <a:rPr lang="en-US" sz="1200"/>
                        <a:t>n/a</a:t>
                      </a:r>
                    </a:p>
                  </a:txBody>
                  <a:tcPr/>
                </a:tc>
                <a:tc>
                  <a:txBody>
                    <a:bodyPr/>
                    <a:lstStyle/>
                    <a:p>
                      <a:endParaRPr lang="en-US" sz="1200"/>
                    </a:p>
                  </a:txBody>
                  <a:tcPr/>
                </a:tc>
                <a:extLst>
                  <a:ext uri="{0D108BD9-81ED-4DB2-BD59-A6C34878D82A}">
                    <a16:rowId xmlns:a16="http://schemas.microsoft.com/office/drawing/2014/main" val="2433231062"/>
                  </a:ext>
                </a:extLst>
              </a:tr>
              <a:tr h="1398226">
                <a:tc>
                  <a:txBody>
                    <a:bodyPr/>
                    <a:lstStyle/>
                    <a:p>
                      <a:endParaRPr lang="en-US" sz="1200"/>
                    </a:p>
                  </a:txBody>
                  <a:tcPr/>
                </a:tc>
                <a:tc>
                  <a:txBody>
                    <a:bodyPr/>
                    <a:lstStyle/>
                    <a:p>
                      <a:endParaRPr lang="en-US" sz="1200"/>
                    </a:p>
                  </a:txBody>
                  <a:tcPr/>
                </a:tc>
                <a:tc>
                  <a:txBody>
                    <a:bodyPr/>
                    <a:lstStyle/>
                    <a:p>
                      <a:r>
                        <a:rPr lang="en-US" sz="1200"/>
                        <a:t>3</a:t>
                      </a:r>
                    </a:p>
                  </a:txBody>
                  <a:tcPr/>
                </a:tc>
                <a:tc>
                  <a:txBody>
                    <a:bodyPr/>
                    <a:lstStyle/>
                    <a:p>
                      <a:endParaRPr lang="en-US" sz="1200"/>
                    </a:p>
                  </a:txBody>
                  <a:tcPr/>
                </a:tc>
                <a:tc>
                  <a:txBody>
                    <a:bodyPr/>
                    <a:lstStyle/>
                    <a:p>
                      <a:endParaRPr lang="en-US" sz="1200"/>
                    </a:p>
                    <a:p>
                      <a:endParaRPr lang="en-US" sz="1200"/>
                    </a:p>
                  </a:txBody>
                  <a:tcPr/>
                </a:tc>
                <a:tc>
                  <a:txBody>
                    <a:bodyPr/>
                    <a:lstStyle/>
                    <a:p>
                      <a:endParaRPr lang="en-US" sz="1200"/>
                    </a:p>
                  </a:txBody>
                  <a:tcPr/>
                </a:tc>
                <a:extLst>
                  <a:ext uri="{0D108BD9-81ED-4DB2-BD59-A6C34878D82A}">
                    <a16:rowId xmlns:a16="http://schemas.microsoft.com/office/drawing/2014/main" val="2754239605"/>
                  </a:ext>
                </a:extLst>
              </a:tr>
              <a:tr h="1621235">
                <a:tc>
                  <a:txBody>
                    <a:bodyPr/>
                    <a:lstStyle/>
                    <a:p>
                      <a:endParaRPr lang="en-US" sz="1200"/>
                    </a:p>
                  </a:txBody>
                  <a:tcPr/>
                </a:tc>
                <a:tc>
                  <a:txBody>
                    <a:bodyPr/>
                    <a:lstStyle/>
                    <a:p>
                      <a:endParaRPr lang="en-US" sz="1200"/>
                    </a:p>
                  </a:txBody>
                  <a:tcPr/>
                </a:tc>
                <a:tc>
                  <a:txBody>
                    <a:bodyPr/>
                    <a:lstStyle/>
                    <a:p>
                      <a:r>
                        <a:rPr lang="en-US" sz="1200"/>
                        <a:t>4</a:t>
                      </a:r>
                    </a:p>
                  </a:txBody>
                  <a:tcPr/>
                </a:tc>
                <a:tc>
                  <a:txBody>
                    <a:bodyPr/>
                    <a:lstStyle/>
                    <a:p>
                      <a:endParaRPr lang="en-US" sz="1200"/>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320507716"/>
                  </a:ext>
                </a:extLst>
              </a:tr>
            </a:tbl>
          </a:graphicData>
        </a:graphic>
      </p:graphicFrame>
      <p:sp>
        <p:nvSpPr>
          <p:cNvPr id="2" name="TextBox 1">
            <a:extLst>
              <a:ext uri="{FF2B5EF4-FFF2-40B4-BE49-F238E27FC236}">
                <a16:creationId xmlns:a16="http://schemas.microsoft.com/office/drawing/2014/main" id="{3C98E5C0-3E28-D845-81F1-91EDE7034F02}"/>
              </a:ext>
            </a:extLst>
          </p:cNvPr>
          <p:cNvSpPr txBox="1"/>
          <p:nvPr/>
        </p:nvSpPr>
        <p:spPr>
          <a:xfrm>
            <a:off x="346213" y="278296"/>
            <a:ext cx="11499574" cy="369332"/>
          </a:xfrm>
          <a:prstGeom prst="rect">
            <a:avLst/>
          </a:prstGeom>
          <a:noFill/>
        </p:spPr>
        <p:txBody>
          <a:bodyPr wrap="square" rtlCol="0" anchor="t">
            <a:spAutoFit/>
          </a:bodyPr>
          <a:lstStyle/>
          <a:p>
            <a:r>
              <a:rPr lang="en-US" b="1" dirty="0"/>
              <a:t>2. Descriptive visualizations</a:t>
            </a:r>
          </a:p>
        </p:txBody>
      </p:sp>
    </p:spTree>
    <p:extLst>
      <p:ext uri="{BB962C8B-B14F-4D97-AF65-F5344CB8AC3E}">
        <p14:creationId xmlns:p14="http://schemas.microsoft.com/office/powerpoint/2010/main" val="2794994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4DA44824-2CE5-A54D-81F3-0DFA95FADD62}"/>
              </a:ext>
            </a:extLst>
          </p:cNvPr>
          <p:cNvGraphicFramePr>
            <a:graphicFrameLocks noGrp="1"/>
          </p:cNvGraphicFramePr>
          <p:nvPr>
            <p:ph sz="half" idx="2"/>
            <p:extLst>
              <p:ext uri="{D42A27DB-BD31-4B8C-83A1-F6EECF244321}">
                <p14:modId xmlns:p14="http://schemas.microsoft.com/office/powerpoint/2010/main" val="4043701867"/>
              </p:ext>
            </p:extLst>
          </p:nvPr>
        </p:nvGraphicFramePr>
        <p:xfrm>
          <a:off x="0" y="914400"/>
          <a:ext cx="12192000" cy="2255520"/>
        </p:xfrm>
        <a:graphic>
          <a:graphicData uri="http://schemas.openxmlformats.org/drawingml/2006/table">
            <a:tbl>
              <a:tblPr firstRow="1" bandRow="1">
                <a:tableStyleId>{21E4AEA4-8DFA-4A89-87EB-49C32662AFE0}</a:tableStyleId>
              </a:tblPr>
              <a:tblGrid>
                <a:gridCol w="1743843">
                  <a:extLst>
                    <a:ext uri="{9D8B030D-6E8A-4147-A177-3AD203B41FA5}">
                      <a16:colId xmlns:a16="http://schemas.microsoft.com/office/drawing/2014/main" val="1352491661"/>
                    </a:ext>
                  </a:extLst>
                </a:gridCol>
                <a:gridCol w="3076635">
                  <a:extLst>
                    <a:ext uri="{9D8B030D-6E8A-4147-A177-3AD203B41FA5}">
                      <a16:colId xmlns:a16="http://schemas.microsoft.com/office/drawing/2014/main" val="3130510922"/>
                    </a:ext>
                  </a:extLst>
                </a:gridCol>
                <a:gridCol w="834357">
                  <a:extLst>
                    <a:ext uri="{9D8B030D-6E8A-4147-A177-3AD203B41FA5}">
                      <a16:colId xmlns:a16="http://schemas.microsoft.com/office/drawing/2014/main" val="1636284579"/>
                    </a:ext>
                  </a:extLst>
                </a:gridCol>
                <a:gridCol w="2145611">
                  <a:extLst>
                    <a:ext uri="{9D8B030D-6E8A-4147-A177-3AD203B41FA5}">
                      <a16:colId xmlns:a16="http://schemas.microsoft.com/office/drawing/2014/main" val="2195260392"/>
                    </a:ext>
                  </a:extLst>
                </a:gridCol>
                <a:gridCol w="2195777">
                  <a:extLst>
                    <a:ext uri="{9D8B030D-6E8A-4147-A177-3AD203B41FA5}">
                      <a16:colId xmlns:a16="http://schemas.microsoft.com/office/drawing/2014/main" val="3536091448"/>
                    </a:ext>
                  </a:extLst>
                </a:gridCol>
                <a:gridCol w="2195777">
                  <a:extLst>
                    <a:ext uri="{9D8B030D-6E8A-4147-A177-3AD203B41FA5}">
                      <a16:colId xmlns:a16="http://schemas.microsoft.com/office/drawing/2014/main" val="4195063144"/>
                    </a:ext>
                  </a:extLst>
                </a:gridCol>
              </a:tblGrid>
              <a:tr h="278430">
                <a:tc>
                  <a:txBody>
                    <a:bodyPr/>
                    <a:lstStyle/>
                    <a:p>
                      <a:r>
                        <a:rPr lang="en-US" sz="1400" dirty="0"/>
                        <a:t>Goal</a:t>
                      </a:r>
                    </a:p>
                  </a:txBody>
                  <a:tcPr/>
                </a:tc>
                <a:tc>
                  <a:txBody>
                    <a:bodyPr/>
                    <a:lstStyle/>
                    <a:p>
                      <a:r>
                        <a:rPr lang="en-US" sz="1400" dirty="0"/>
                        <a:t>Input</a:t>
                      </a:r>
                    </a:p>
                  </a:txBody>
                  <a:tcPr/>
                </a:tc>
                <a:tc>
                  <a:txBody>
                    <a:bodyPr/>
                    <a:lstStyle/>
                    <a:p>
                      <a:r>
                        <a:rPr lang="en-US" sz="1400" dirty="0"/>
                        <a:t>Run Order</a:t>
                      </a:r>
                    </a:p>
                  </a:txBody>
                  <a:tcPr/>
                </a:tc>
                <a:tc>
                  <a:txBody>
                    <a:bodyPr/>
                    <a:lstStyle/>
                    <a:p>
                      <a:r>
                        <a:rPr lang="en-US" sz="1400" dirty="0"/>
                        <a:t>Script</a:t>
                      </a:r>
                    </a:p>
                  </a:txBody>
                  <a:tcPr/>
                </a:tc>
                <a:tc>
                  <a:txBody>
                    <a:bodyPr/>
                    <a:lstStyle/>
                    <a:p>
                      <a:r>
                        <a:rPr lang="en-US" sz="1400" dirty="0"/>
                        <a:t>Output</a:t>
                      </a:r>
                    </a:p>
                  </a:txBody>
                  <a:tcPr/>
                </a:tc>
                <a:tc>
                  <a:txBody>
                    <a:bodyPr/>
                    <a:lstStyle/>
                    <a:p>
                      <a:r>
                        <a:rPr lang="en-US" sz="1400" dirty="0"/>
                        <a:t>Notes</a:t>
                      </a:r>
                    </a:p>
                  </a:txBody>
                  <a:tcPr/>
                </a:tc>
                <a:extLst>
                  <a:ext uri="{0D108BD9-81ED-4DB2-BD59-A6C34878D82A}">
                    <a16:rowId xmlns:a16="http://schemas.microsoft.com/office/drawing/2014/main" val="744206176"/>
                  </a:ext>
                </a:extLst>
              </a:tr>
              <a:tr h="1230439">
                <a:tc>
                  <a:txBody>
                    <a:bodyPr/>
                    <a:lstStyle/>
                    <a:p>
                      <a:r>
                        <a:rPr lang="en-US" sz="1200" dirty="0"/>
                        <a:t>Full analysis path for mismatch (can be re-used in different contexts by switching out input files)</a:t>
                      </a:r>
                    </a:p>
                  </a:txBody>
                  <a:tcPr/>
                </a:tc>
                <a:tc>
                  <a:txBody>
                    <a:bodyPr/>
                    <a:lstStyle/>
                    <a:p>
                      <a:r>
                        <a:rPr lang="en-US" sz="1200" dirty="0"/>
                        <a:t>Resume and ad files for desired location (this is for Blacksburg):</a:t>
                      </a:r>
                    </a:p>
                    <a:p>
                      <a:pPr lvl="0">
                        <a:buNone/>
                      </a:pPr>
                      <a:endParaRPr lang="en-US" sz="1200" dirty="0"/>
                    </a:p>
                    <a:p>
                      <a:pPr lvl="0">
                        <a:buNone/>
                      </a:pPr>
                      <a:r>
                        <a:rPr lang="en-US" sz="1200" dirty="0"/>
                        <a:t>data/</a:t>
                      </a:r>
                      <a:r>
                        <a:rPr lang="en-US" sz="1200" dirty="0" err="1"/>
                        <a:t>stem_edu</a:t>
                      </a:r>
                      <a:r>
                        <a:rPr lang="en-US" sz="1200" dirty="0"/>
                        <a:t>/final/dspg19_analysis/blacksburg_top5_stw_jobs_main.csv</a:t>
                      </a:r>
                    </a:p>
                    <a:p>
                      <a:pPr lvl="0" algn="l">
                        <a:lnSpc>
                          <a:spcPct val="100000"/>
                        </a:lnSpc>
                        <a:spcBef>
                          <a:spcPts val="0"/>
                        </a:spcBef>
                        <a:spcAft>
                          <a:spcPts val="0"/>
                        </a:spcAft>
                        <a:buNone/>
                      </a:pPr>
                      <a:r>
                        <a:rPr lang="en-US" sz="1200" b="0" i="0" u="none" strike="noStrike" noProof="0" dirty="0">
                          <a:latin typeface="Calibri"/>
                        </a:rPr>
                        <a:t>.../blacksburg_top5_stw_jobs_all_skills.csv</a:t>
                      </a:r>
                    </a:p>
                    <a:p>
                      <a:pPr lvl="0" algn="l">
                        <a:lnSpc>
                          <a:spcPct val="100000"/>
                        </a:lnSpc>
                        <a:spcBef>
                          <a:spcPts val="0"/>
                        </a:spcBef>
                        <a:spcAft>
                          <a:spcPts val="0"/>
                        </a:spcAft>
                        <a:buNone/>
                      </a:pPr>
                      <a:r>
                        <a:rPr lang="en-US" sz="1200" b="0" i="0" u="none" strike="noStrike" noProof="0" dirty="0">
                          <a:latin typeface="Calibri"/>
                        </a:rPr>
                        <a:t>.../resume_with_bachelors_b_main.csv</a:t>
                      </a:r>
                    </a:p>
                    <a:p>
                      <a:pPr lvl="0" algn="l">
                        <a:lnSpc>
                          <a:spcPct val="100000"/>
                        </a:lnSpc>
                        <a:spcBef>
                          <a:spcPts val="0"/>
                        </a:spcBef>
                        <a:spcAft>
                          <a:spcPts val="0"/>
                        </a:spcAft>
                        <a:buNone/>
                      </a:pPr>
                      <a:r>
                        <a:rPr lang="en-US" sz="1200" b="0" i="0" u="none" strike="noStrike" noProof="0" dirty="0">
                          <a:latin typeface="Calibri"/>
                        </a:rPr>
                        <a:t>.../resume_with_bachelors_b_skill.csv</a:t>
                      </a:r>
                    </a:p>
                    <a:p>
                      <a:pPr lvl="0">
                        <a:buNone/>
                      </a:pPr>
                      <a:endParaRPr lang="en-US" sz="1200" dirty="0"/>
                    </a:p>
                  </a:txBody>
                  <a:tcPr/>
                </a:tc>
                <a:tc>
                  <a:txBody>
                    <a:bodyPr/>
                    <a:lstStyle/>
                    <a:p>
                      <a:r>
                        <a:rPr lang="en-US" sz="1200" dirty="0"/>
                        <a:t>1</a:t>
                      </a:r>
                    </a:p>
                  </a:txBody>
                  <a:tcPr/>
                </a:tc>
                <a:tc>
                  <a:txBody>
                    <a:bodyPr/>
                    <a:lstStyle/>
                    <a:p>
                      <a:r>
                        <a:rPr lang="en-US" sz="1200" err="1"/>
                        <a:t>src</a:t>
                      </a:r>
                      <a:r>
                        <a:rPr lang="en-US" sz="1200" dirty="0"/>
                        <a:t>/mismatch/</a:t>
                      </a:r>
                      <a:r>
                        <a:rPr lang="en-US" sz="1200" err="1"/>
                        <a:t>full_analysis_path.R</a:t>
                      </a:r>
                    </a:p>
                  </a:txBody>
                  <a:tcPr/>
                </a:tc>
                <a:tc>
                  <a:txBody>
                    <a:bodyPr/>
                    <a:lstStyle/>
                    <a:p>
                      <a:r>
                        <a:rPr lang="en-US" sz="1200"/>
                        <a:t>No files but many charts</a:t>
                      </a:r>
                    </a:p>
                  </a:txBody>
                  <a:tcPr/>
                </a:tc>
                <a:tc>
                  <a:txBody>
                    <a:bodyPr/>
                    <a:lstStyle/>
                    <a:p>
                      <a:r>
                        <a:rPr lang="en-US" sz="1200" dirty="0"/>
                        <a:t>Heavily commented throughout. Needs manual input/checks at a couple of points—don't just run it all the way through in one go. Also outputs visualizations. The mismatch section will take 5ish minutes to run for a Richmond-sized dataset (1,600 x 3,100)</a:t>
                      </a:r>
                    </a:p>
                  </a:txBody>
                  <a:tcPr/>
                </a:tc>
                <a:extLst>
                  <a:ext uri="{0D108BD9-81ED-4DB2-BD59-A6C34878D82A}">
                    <a16:rowId xmlns:a16="http://schemas.microsoft.com/office/drawing/2014/main" val="4290437681"/>
                  </a:ext>
                </a:extLst>
              </a:tr>
            </a:tbl>
          </a:graphicData>
        </a:graphic>
      </p:graphicFrame>
      <p:sp>
        <p:nvSpPr>
          <p:cNvPr id="2" name="TextBox 1">
            <a:extLst>
              <a:ext uri="{FF2B5EF4-FFF2-40B4-BE49-F238E27FC236}">
                <a16:creationId xmlns:a16="http://schemas.microsoft.com/office/drawing/2014/main" id="{3C98E5C0-3E28-D845-81F1-91EDE7034F02}"/>
              </a:ext>
            </a:extLst>
          </p:cNvPr>
          <p:cNvSpPr txBox="1"/>
          <p:nvPr/>
        </p:nvSpPr>
        <p:spPr>
          <a:xfrm>
            <a:off x="346213" y="278296"/>
            <a:ext cx="11499574" cy="369332"/>
          </a:xfrm>
          <a:prstGeom prst="rect">
            <a:avLst/>
          </a:prstGeom>
          <a:noFill/>
        </p:spPr>
        <p:txBody>
          <a:bodyPr wrap="square" rtlCol="0" anchor="t">
            <a:spAutoFit/>
          </a:bodyPr>
          <a:lstStyle/>
          <a:p>
            <a:r>
              <a:rPr lang="en-US" b="1" dirty="0"/>
              <a:t>3. Match/mismatch and skill analysis </a:t>
            </a:r>
            <a:endParaRPr lang="en-US"/>
          </a:p>
        </p:txBody>
      </p:sp>
    </p:spTree>
    <p:extLst>
      <p:ext uri="{BB962C8B-B14F-4D97-AF65-F5344CB8AC3E}">
        <p14:creationId xmlns:p14="http://schemas.microsoft.com/office/powerpoint/2010/main" val="23699887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F83BD23A-92FB-463D-B85F-9A8A19426A71}"/>
</file>

<file path=customXml/itemProps2.xml><?xml version="1.0" encoding="utf-8"?>
<ds:datastoreItem xmlns:ds="http://schemas.openxmlformats.org/officeDocument/2006/customXml" ds:itemID="{28D9DAF5-4ADE-4ADA-A406-D5CA7EC40013}"/>
</file>

<file path=customXml/itemProps3.xml><?xml version="1.0" encoding="utf-8"?>
<ds:datastoreItem xmlns:ds="http://schemas.openxmlformats.org/officeDocument/2006/customXml" ds:itemID="{886A34A0-FA60-4046-92ED-A5E244CE0BDB}"/>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16</Slides>
  <Notes>12</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Job ads</vt:lpstr>
      <vt:lpstr>PowerPoint Presentation</vt:lpstr>
      <vt:lpstr>PowerPoint Presentation</vt:lpstr>
      <vt:lpstr>PowerPoint Presentation</vt:lpstr>
      <vt:lpstr>PowerPoint Presentation</vt:lpstr>
      <vt:lpstr>PowerPoint Presentation</vt:lpstr>
      <vt:lpstr>Resumes</vt:lpstr>
      <vt:lpstr>PowerPoint Presentation</vt:lpstr>
      <vt:lpstr>PowerPoint Presentation</vt:lpstr>
      <vt:lpstr>PowerPoint Presentation</vt:lpstr>
      <vt:lpstr>Education</vt:lpstr>
      <vt:lpstr>PowerPoint Presentation</vt:lpstr>
      <vt:lpstr>Analysis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Documentation Checklist</dc:title>
  <dc:creator>Nair, Devika Tara (dtn2ep)</dc:creator>
  <cp:revision>120</cp:revision>
  <dcterms:created xsi:type="dcterms:W3CDTF">2019-08-07T13:00:35Z</dcterms:created>
  <dcterms:modified xsi:type="dcterms:W3CDTF">2019-08-19T10:58:05Z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