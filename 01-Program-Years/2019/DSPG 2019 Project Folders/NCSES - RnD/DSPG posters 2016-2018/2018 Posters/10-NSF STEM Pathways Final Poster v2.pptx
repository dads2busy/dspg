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1148000" cx="36576000"/>
  <p:notesSz cx="6858000" cy="9144000"/>
  <p:embeddedFontLst>
    <p:embeddedFont>
      <p:font typeface="Barlow Condensed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CB510F63-2249-4799-8141-6DF58767CE43}">
  <a:tblStyle styleId="{CB510F63-2249-4799-8141-6DF58767CE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BarlowCondensed-bold.fntdata"/><Relationship Id="rId13" Type="http://schemas.openxmlformats.org/officeDocument/2006/relationships/customXml" Target="../customXml/item3.xml"/><Relationship Id="rId3" Type="http://schemas.openxmlformats.org/officeDocument/2006/relationships/tableStyles" Target="tableStyles.xml"/><Relationship Id="rId7" Type="http://schemas.openxmlformats.org/officeDocument/2006/relationships/font" Target="fonts/BarlowCondensed-regular.fntdata"/><Relationship Id="rId12" Type="http://schemas.openxmlformats.org/officeDocument/2006/relationships/customXml" Target="../customXml/item2.xml"/><Relationship Id="rId2" Type="http://schemas.openxmlformats.org/officeDocument/2006/relationships/presProps" Target="pres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font" Target="fonts/BarlowCondensed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Barlow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RULES TO FOLLOW:</a:t>
            </a:r>
            <a:endParaRPr b="1"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Stay in Google Slides</a:t>
            </a:r>
            <a:r>
              <a:rPr lang="en"/>
              <a:t> to work on your poster because it: 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rovides a template with all the </a:t>
            </a:r>
            <a:r>
              <a:rPr b="1" lang="en">
                <a:solidFill>
                  <a:schemeClr val="dk1"/>
                </a:solidFill>
              </a:rPr>
              <a:t>approved</a:t>
            </a:r>
            <a:r>
              <a:rPr lang="en">
                <a:solidFill>
                  <a:schemeClr val="dk1"/>
                </a:solidFill>
              </a:rPr>
              <a:t> branding including colors, fonts, and logo placement/usage;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allows you to </a:t>
            </a:r>
            <a:r>
              <a:rPr b="1" lang="en"/>
              <a:t>collaborate</a:t>
            </a:r>
            <a:r>
              <a:rPr lang="en"/>
              <a:t> with others;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rPr lang="en"/>
              <a:t>helps you to </a:t>
            </a:r>
            <a:r>
              <a:rPr b="1" lang="en"/>
              <a:t>communicate</a:t>
            </a:r>
            <a:r>
              <a:rPr lang="en"/>
              <a:t> with your fellow researchers, lab./dept., and creative services;</a:t>
            </a:r>
            <a:endParaRPr/>
          </a:p>
          <a:p>
            <a: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n"/>
              <a:t>Editing</a:t>
            </a:r>
            <a:r>
              <a:rPr lang="en"/>
              <a:t> this file:</a:t>
            </a:r>
            <a:endParaRPr/>
          </a:p>
          <a:p>
            <a: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AutoNum type="alphaLcParenR"/>
            </a:pPr>
            <a:r>
              <a:t/>
            </a:r>
            <a:endParaRPr/>
          </a:p>
          <a:p>
            <a:pPr indent="-298450" lvl="0" marL="457200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1246833" y="5956600"/>
            <a:ext cx="34082400" cy="164202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500"/>
              <a:buChar char="●"/>
              <a:defRPr sz="29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500"/>
              <a:buChar char="○"/>
              <a:defRPr sz="29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500"/>
              <a:buChar char="■"/>
              <a:defRPr sz="29500"/>
            </a:lvl9pPr>
          </a:lstStyle>
          <a:p/>
        </p:txBody>
      </p:sp>
      <p:sp>
        <p:nvSpPr>
          <p:cNvPr id="8" name="Google Shape;8;p2"/>
          <p:cNvSpPr txBox="1"/>
          <p:nvPr>
            <p:ph idx="1" type="subTitle"/>
          </p:nvPr>
        </p:nvSpPr>
        <p:spPr>
          <a:xfrm>
            <a:off x="1246800" y="22673000"/>
            <a:ext cx="34082400" cy="6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00"/>
              <a:buNone/>
              <a:defRPr sz="15900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1246800" y="17206800"/>
            <a:ext cx="34082400" cy="6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500"/>
              <a:buChar char="●"/>
              <a:defRPr sz="20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500"/>
              <a:buChar char="○"/>
              <a:defRPr sz="20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500"/>
              <a:buChar char="■"/>
              <a:defRPr sz="205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1246800" y="9219800"/>
            <a:ext cx="340824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2468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19329600" y="9219800"/>
            <a:ext cx="15999600" cy="27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1246800" y="3560200"/>
            <a:ext cx="34082400" cy="4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lvl="2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lvl="3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lvl="4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lvl="5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lvl="6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lvl="7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lvl="8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1246800" y="4444800"/>
            <a:ext cx="11232000" cy="60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2pPr>
            <a:lvl3pPr lvl="2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3pPr>
            <a:lvl4pPr lvl="3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4pPr>
            <a:lvl5pPr lvl="4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5pPr>
            <a:lvl6pPr lvl="5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6pPr>
            <a:lvl7pPr lvl="6">
              <a:spcBef>
                <a:spcPts val="0"/>
              </a:spcBef>
              <a:spcAft>
                <a:spcPts val="0"/>
              </a:spcAft>
              <a:buSzPts val="13600"/>
              <a:buChar char="●"/>
              <a:defRPr sz="13600"/>
            </a:lvl7pPr>
            <a:lvl8pPr lvl="7">
              <a:spcBef>
                <a:spcPts val="0"/>
              </a:spcBef>
              <a:spcAft>
                <a:spcPts val="0"/>
              </a:spcAft>
              <a:buSzPts val="13600"/>
              <a:buChar char="○"/>
              <a:defRPr sz="13600"/>
            </a:lvl8pPr>
            <a:lvl9pPr lvl="8">
              <a:spcBef>
                <a:spcPts val="0"/>
              </a:spcBef>
              <a:spcAft>
                <a:spcPts val="0"/>
              </a:spcAft>
              <a:buSzPts val="13600"/>
              <a:buChar char="■"/>
              <a:defRPr sz="136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1246800" y="11116800"/>
            <a:ext cx="11232000" cy="254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660400" lvl="0" marL="4572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1pPr>
            <a:lvl2pPr indent="-660400" lvl="1" marL="9144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2pPr>
            <a:lvl3pPr indent="-660400" lvl="2" marL="13716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3pPr>
            <a:lvl4pPr indent="-660400" lvl="3" marL="18288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4pPr>
            <a:lvl5pPr indent="-660400" lvl="4" marL="22860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5pPr>
            <a:lvl6pPr indent="-660400" lvl="5" marL="27432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6pPr>
            <a:lvl7pPr indent="-660400" lvl="6" marL="3200400">
              <a:spcBef>
                <a:spcPts val="0"/>
              </a:spcBef>
              <a:spcAft>
                <a:spcPts val="0"/>
              </a:spcAft>
              <a:buSzPts val="6800"/>
              <a:buChar char="●"/>
              <a:defRPr sz="6800"/>
            </a:lvl7pPr>
            <a:lvl8pPr indent="-660400" lvl="7" marL="3657600">
              <a:spcBef>
                <a:spcPts val="0"/>
              </a:spcBef>
              <a:spcAft>
                <a:spcPts val="0"/>
              </a:spcAft>
              <a:buSzPts val="6800"/>
              <a:buChar char="○"/>
              <a:defRPr sz="6800"/>
            </a:lvl8pPr>
            <a:lvl9pPr indent="-660400" lvl="8" marL="4114800">
              <a:spcBef>
                <a:spcPts val="0"/>
              </a:spcBef>
              <a:spcAft>
                <a:spcPts val="0"/>
              </a:spcAft>
              <a:buSzPts val="6800"/>
              <a:buChar char="■"/>
              <a:defRPr sz="68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961000" y="3601200"/>
            <a:ext cx="25471200" cy="327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1pPr>
            <a:lvl2pPr lvl="1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2pPr>
            <a:lvl3pPr lvl="2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3pPr>
            <a:lvl4pPr lvl="3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4pPr>
            <a:lvl5pPr lvl="4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5pPr>
            <a:lvl6pPr lvl="5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6pPr>
            <a:lvl7pPr lvl="6">
              <a:spcBef>
                <a:spcPts val="0"/>
              </a:spcBef>
              <a:spcAft>
                <a:spcPts val="0"/>
              </a:spcAft>
              <a:buSzPts val="27300"/>
              <a:buChar char="●"/>
              <a:defRPr sz="27300"/>
            </a:lvl7pPr>
            <a:lvl8pPr lvl="7">
              <a:spcBef>
                <a:spcPts val="0"/>
              </a:spcBef>
              <a:spcAft>
                <a:spcPts val="0"/>
              </a:spcAft>
              <a:buSzPts val="27300"/>
              <a:buChar char="○"/>
              <a:defRPr sz="27300"/>
            </a:lvl8pPr>
            <a:lvl9pPr lvl="8">
              <a:spcBef>
                <a:spcPts val="0"/>
              </a:spcBef>
              <a:spcAft>
                <a:spcPts val="0"/>
              </a:spcAft>
              <a:buSzPts val="27300"/>
              <a:buChar char="■"/>
              <a:defRPr sz="273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19950" lIns="519950" spcFirstLastPara="1" rIns="519950" wrap="square" tIns="519950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Char char="●"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Char char="○"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Char char="■"/>
              <a:defRPr sz="240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1062000" y="22424600"/>
            <a:ext cx="16180800" cy="98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00"/>
              <a:buNone/>
              <a:defRPr sz="119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19758000" y="5792600"/>
            <a:ext cx="15347700" cy="295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1246800" y="33844600"/>
            <a:ext cx="23995200" cy="48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46800" y="8849000"/>
            <a:ext cx="34082400" cy="157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9950" lIns="519950" spcFirstLastPara="1" rIns="519950" wrap="square" tIns="519950"/>
          <a:lstStyle>
            <a:lvl1pPr lvl="0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8200"/>
              <a:buChar char="●"/>
              <a:defRPr sz="6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8200"/>
              <a:buChar char="○"/>
              <a:defRPr sz="6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8200"/>
              <a:buChar char="■"/>
              <a:defRPr sz="682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1246800" y="25217800"/>
            <a:ext cx="34082400" cy="104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9950" lIns="519950" spcFirstLastPara="1" rIns="519950" wrap="square" tIns="519950"/>
          <a:lstStyle>
            <a:lvl1pPr indent="-742950" lvl="0" marL="4572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1pPr>
            <a:lvl2pPr indent="-742950" lvl="1" marL="9144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2pPr>
            <a:lvl3pPr indent="-742950" lvl="2" marL="13716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3pPr>
            <a:lvl4pPr indent="-742950" lvl="3" marL="18288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4pPr>
            <a:lvl5pPr indent="-742950" lvl="4" marL="22860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5pPr>
            <a:lvl6pPr indent="-742950" lvl="5" marL="27432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6pPr>
            <a:lvl7pPr indent="-742950" lvl="6" marL="3200400" algn="ctr">
              <a:spcBef>
                <a:spcPts val="0"/>
              </a:spcBef>
              <a:spcAft>
                <a:spcPts val="0"/>
              </a:spcAft>
              <a:buSzPts val="8100"/>
              <a:buChar char="●"/>
              <a:defRPr sz="8100"/>
            </a:lvl7pPr>
            <a:lvl8pPr indent="-742950" lvl="7" marL="3657600" algn="ctr">
              <a:spcBef>
                <a:spcPts val="0"/>
              </a:spcBef>
              <a:spcAft>
                <a:spcPts val="0"/>
              </a:spcAft>
              <a:buSzPts val="8100"/>
              <a:buChar char="○"/>
              <a:defRPr sz="8100"/>
            </a:lvl8pPr>
            <a:lvl9pPr indent="-742950" lvl="8" marL="4114800" algn="ctr">
              <a:spcBef>
                <a:spcPts val="0"/>
              </a:spcBef>
              <a:spcAft>
                <a:spcPts val="0"/>
              </a:spcAft>
              <a:buSzPts val="8100"/>
              <a:buChar char="■"/>
              <a:defRPr sz="8100"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33889831" y="37305734"/>
            <a:ext cx="21951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5100" lIns="145100" spcFirstLastPara="1" rIns="145100" wrap="square" tIns="145100">
            <a:noAutofit/>
          </a:bodyPr>
          <a:lstStyle>
            <a:lvl1pPr lvl="0">
              <a:buNone/>
              <a:defRPr sz="2200"/>
            </a:lvl1pPr>
            <a:lvl2pPr lvl="1">
              <a:buNone/>
              <a:defRPr sz="2200"/>
            </a:lvl2pPr>
            <a:lvl3pPr lvl="2">
              <a:buNone/>
              <a:defRPr sz="2200"/>
            </a:lvl3pPr>
            <a:lvl4pPr lvl="3">
              <a:buNone/>
              <a:defRPr sz="2200"/>
            </a:lvl4pPr>
            <a:lvl5pPr lvl="4">
              <a:buNone/>
              <a:defRPr sz="2200"/>
            </a:lvl5pPr>
            <a:lvl6pPr lvl="5">
              <a:buNone/>
              <a:defRPr sz="2200"/>
            </a:lvl6pPr>
            <a:lvl7pPr lvl="6">
              <a:buNone/>
              <a:defRPr sz="2200"/>
            </a:lvl7pPr>
            <a:lvl8pPr lvl="7">
              <a:buNone/>
              <a:defRPr sz="2200"/>
            </a:lvl8pPr>
            <a:lvl9pPr lvl="8">
              <a:buNone/>
              <a:defRPr sz="2200"/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4052879" y="39256750"/>
            <a:ext cx="28011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Stay Connected:</a:t>
            </a:r>
            <a:endParaRPr b="1" i="1" sz="24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4225" y="39089750"/>
            <a:ext cx="3199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facebook.com/biocomplexity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twitter.com/biocomplexityvt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youtube.com/c/biocomplexity</a:t>
            </a:r>
            <a:endParaRPr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18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google.com/+biocomplexity</a:t>
            </a:r>
            <a:endParaRPr b="1" i="1" sz="18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53" name="Google Shape;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0776" y="32649500"/>
            <a:ext cx="10162500" cy="4661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3325" y="27394349"/>
            <a:ext cx="10780499" cy="478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579725" y="18349925"/>
            <a:ext cx="8887235" cy="56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060750" y="8527750"/>
            <a:ext cx="65034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062525" y="16100586"/>
            <a:ext cx="4827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2 - STEM Pathways Data Map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4454875" y="24454950"/>
            <a:ext cx="101625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Table 1 - HarvardX and MITX enrollment and participation summary (Data source: HarvardX/MITX MOOC enrollment, 2012-2016).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3035800" y="32196275"/>
            <a:ext cx="11922900" cy="177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i="0" sz="46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9423875" y="8424025"/>
            <a:ext cx="6835800" cy="6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Integrated Postsecondary Education Data System (IPEDS)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Adult Training and Education Survey (ATES)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Harvard and MIT MOOC providers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Virginia Department of Education (VDOE)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State Council of Higher Education for Virginia (SCHEV)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College Board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Current Population Survey (CPS) data on Certificates and Licenses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55075" y="27650950"/>
            <a:ext cx="10162500" cy="5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aimed to identify the characteristics of high schools that encourage students to pursue postsecondary educational opportunities.  Predictive models that use school characteristics, such as mean SAT scores and on-time graduation rates, were developed to predict the proportion of students that will enter various postsecondary trajectories such as  4-year college enrollment, employment, and the military. 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Exploratory PCA was used to identify top variables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K-means clustering and exploratory plots were used to characterize schools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Clr>
                <a:srgbClr val="141F22"/>
              </a:buClr>
              <a:buSzPts val="3600"/>
              <a:buFont typeface="Barlow Condensed"/>
              <a:buChar char="●"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Predictive models such as logistic regression, stepwise AIC selection, and cross-validated LASSO penalized regression, were used to assess the predictive power of our data and to determine which features are most relevant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6450" y="10645225"/>
            <a:ext cx="9601124" cy="55072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969975" y="7080675"/>
            <a:ext cx="12287400" cy="5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Science, technology, engineering, and math (STEM) education and training is vital for a competitive workforce and innovation. Knowledge of the diverse set of pathways available to individuals desiring to enter the STEM  workforce is critical for promoting a STEM-capable workforce </a:t>
            </a:r>
            <a:r>
              <a:rPr lang="en" sz="3600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(NSB 2015, NSB 2016)</a:t>
            </a: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. The National Center for Science and Engineering Statistics (NCSES) is interested in identifying and measuring these STEM pathways.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4868425" y="18349925"/>
            <a:ext cx="9601200" cy="4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A MOOC (Massive Open Online Course) is a free and widely accessible online course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Taught by professors from universities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Students don’t need to attend a particular  university to enroll in a specific MOOC 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Char char="➔"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We explored HarvardX and MITX MOOC enrollment data ranging from 2012-2016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081263" y="16107563"/>
            <a:ext cx="7117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1 - SDAL’s data science framework used to guide our research. 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2959600" y="34025525"/>
            <a:ext cx="11922900" cy="27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2016. Science and Engineering Indicators 2016. Arlington, VA: National Science Foundation (NSB-2016-1).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National Science Board. 2015. Revisiting the STEM workforce: a companion to Science and Engineering Indicators 2014.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Arlington, VA: National Science Foundation (NSB-2015-10).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5404475" y="24142875"/>
            <a:ext cx="85101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5- Institutions in Virginia by institution type of fall enrollment size (Data source: IPEDS, 2016).</a:t>
            </a:r>
            <a:endParaRPr i="1" sz="20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1046175" y="18624300"/>
            <a:ext cx="6835800" cy="6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Barlow Condensed"/>
                <a:ea typeface="Barlow Condensed"/>
                <a:cs typeface="Barlow Condensed"/>
                <a:sym typeface="Barlow Condensed"/>
              </a:rPr>
              <a:t>The data sources we selected to explore further were IPEDS, ATES, and HarvardX and MITX in addition to data on Virginia high schools from sources such as VDOE and SCHEV. </a:t>
            </a:r>
            <a:r>
              <a:rPr lang="en" sz="36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was extracted from a multitude of formats, including Microsoft Excel, Comma Separated Values, and web-scraped websites. Hundreds of variables were reviewed, multiple years and multiple datasets were combined, and the data was transformed into usable formats.</a:t>
            </a:r>
            <a:endParaRPr sz="3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69" name="Google Shape;69;p13"/>
          <p:cNvGraphicFramePr/>
          <p:nvPr/>
        </p:nvGraphicFramePr>
        <p:xfrm>
          <a:off x="24702675" y="22392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{CB510F63-2249-4799-8141-6DF58767CE43}</a:tableStyleId>
              </a:tblPr>
              <a:tblGrid>
                <a:gridCol w="1632900"/>
                <a:gridCol w="1973650"/>
                <a:gridCol w="1500500"/>
                <a:gridCol w="1487275"/>
                <a:gridCol w="1301575"/>
                <a:gridCol w="1705200"/>
              </a:tblGrid>
              <a:tr h="8545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Course Category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Participants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Explored 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Certified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Female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% Bachelors</a:t>
                      </a:r>
                      <a:endParaRPr b="1"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5134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73%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(3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5%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23%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64%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7275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Non-STEM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27% 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(1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.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2</a:t>
                      </a: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</a:t>
                      </a:r>
                      <a:r>
                        <a:rPr lang="en" sz="2400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)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19%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41%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74%</a:t>
                      </a:r>
                      <a:endParaRPr sz="2400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0" name="Google Shape;70;p13"/>
          <p:cNvSpPr txBox="1"/>
          <p:nvPr/>
        </p:nvSpPr>
        <p:spPr>
          <a:xfrm>
            <a:off x="23189575" y="29745825"/>
            <a:ext cx="11006700" cy="2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7 - Plot of LASSO coefficients for range of λ penalty values. Higher penalties correspond to a reduction in coefficients with variable selection occuring as coefficients zero out.  Our selected LASSO model optimized cross-validated mean squared prediction error, CVMSPE = 0.1175, with a selected tuning parameter λ = 0.0211.  The final predictive model selected 18 variables with non-zero coefficients.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23189575" y="27843775"/>
            <a:ext cx="107805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6 - </a:t>
            </a:r>
            <a:r>
              <a:rPr lang="en" sz="25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Map of Schools colored by unsupervised K-means clustering algorithm.  Black areas on the map are the urbanized areas, lighter areas are more rural. K = 2 clusters chosen as optimal using elbow, silhouette, and gap-statistic methods.  Clustering reveals geographic correlation with major metropolitan areas in Virginia tending to be clustered together.</a:t>
            </a:r>
            <a:endParaRPr i="1" sz="25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28817" y="28967116"/>
            <a:ext cx="1568604" cy="85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6480400" y="9492725"/>
            <a:ext cx="6835800" cy="463330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8270714" y="3039425"/>
            <a:ext cx="259254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8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Hannah Brinkley (VT), Raghav Sawhney (VT), Emily Sheen (PSU), and Devika Nair (AU)</a:t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48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8270696" y="3750575"/>
            <a:ext cx="180228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Bianica Pires and Ian Crandell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Karen Hamrick, The National Center for Science &amp; Engineering Statistics at NSF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9500075" y="7175500"/>
            <a:ext cx="15066900" cy="28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focused on understanding the landscape of sub-baccalaureate education and training options such as certificates, Massive Open Online Courses (MOOCs), and vocational schools. New and existing data sources that were profiled, prepared, and explored include:</a:t>
            </a:r>
            <a:endParaRPr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7244350" y="14272613"/>
            <a:ext cx="53079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3  - IPEDS and ATES datasets prepared and explored.</a:t>
            </a:r>
            <a:endParaRPr/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80725" y="18522625"/>
            <a:ext cx="7574025" cy="550709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/>
          <p:nvPr/>
        </p:nvSpPr>
        <p:spPr>
          <a:xfrm>
            <a:off x="9113763" y="24346213"/>
            <a:ext cx="53079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2000">
                <a:solidFill>
                  <a:srgbClr val="5D89B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Figure 4  - Education attainment for survey respondents with and without certifications (Data source: ATES, 2016).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866730" y="5199825"/>
            <a:ext cx="18022800" cy="17427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Objective and Motivation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9423873" y="5209275"/>
            <a:ext cx="150669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Discovery &amp; Profiling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866727" y="16666775"/>
            <a:ext cx="33817500" cy="17427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6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Preparation, Linkage &amp; Exploration</a:t>
            </a:r>
            <a:endParaRPr b="1" sz="48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66727" y="25641900"/>
            <a:ext cx="33817500" cy="17427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txBody>
          <a:bodyPr anchorCtr="0" anchor="ctr" bIns="156150" lIns="312475" spcFirstLastPara="1" rIns="312475" wrap="square" tIns="156150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</a:t>
            </a:r>
            <a:r>
              <a:rPr b="1" lang="en" sz="4800">
                <a:solidFill>
                  <a:schemeClr val="l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xploratory Statistical Analysis of Postsecondary-Going Culture at Virginia High Schools</a:t>
            </a:r>
            <a:endParaRPr b="1" sz="4600">
              <a:solidFill>
                <a:schemeClr val="l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5200000" y="19158575"/>
            <a:ext cx="354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8270700" y="1268000"/>
            <a:ext cx="22514100" cy="15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STEM EDUCATION &amp; TRAINING PATHWAYS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12200" y="7513900"/>
            <a:ext cx="4827000" cy="842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14733275" y="19844375"/>
            <a:ext cx="8466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9D9007C8-6041-458A-99C2-20CF46FE1DE2}"/>
</file>

<file path=customXml/itemProps2.xml><?xml version="1.0" encoding="utf-8"?>
<ds:datastoreItem xmlns:ds="http://schemas.openxmlformats.org/officeDocument/2006/customXml" ds:itemID="{A61B90E0-0D95-4B69-B3E2-1DF34DC8E008}"/>
</file>

<file path=customXml/itemProps3.xml><?xml version="1.0" encoding="utf-8"?>
<ds:datastoreItem xmlns:ds="http://schemas.openxmlformats.org/officeDocument/2006/customXml" ds:itemID="{A4D8DF0B-EE34-46C9-86B3-7F4ADFB06EFB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