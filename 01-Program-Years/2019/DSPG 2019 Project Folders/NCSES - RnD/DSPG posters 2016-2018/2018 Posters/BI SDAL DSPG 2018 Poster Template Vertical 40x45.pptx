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1148000" cx="36576000"/>
  <p:notesSz cx="6858000" cy="9144000"/>
  <p:embeddedFontLst>
    <p:embeddedFont>
      <p:font typeface="Barlow Condensed Medium"/>
      <p:regular r:id="rId7"/>
      <p:bold r:id="rId8"/>
      <p:italic r:id="rId9"/>
      <p:boldItalic r:id="rId10"/>
    </p:embeddedFont>
    <p:embeddedFont>
      <p:font typeface="Barlow Condensed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960">
          <p15:clr>
            <a:srgbClr val="A4A3A4"/>
          </p15:clr>
        </p15:guide>
        <p15:guide id="2" pos="11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960" orient="horz"/>
        <p:guide pos="1152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BarlowCondensed-italic.fntdata"/><Relationship Id="rId8" Type="http://schemas.openxmlformats.org/officeDocument/2006/relationships/font" Target="fonts/BarlowCondensedMedium-bold.fntdata"/><Relationship Id="rId3" Type="http://schemas.openxmlformats.org/officeDocument/2006/relationships/presProps" Target="presProps.xml"/><Relationship Id="rId12" Type="http://schemas.openxmlformats.org/officeDocument/2006/relationships/font" Target="fonts/BarlowCondensed-bold.fntdata"/><Relationship Id="rId7" Type="http://schemas.openxmlformats.org/officeDocument/2006/relationships/font" Target="fonts/BarlowCondensedMedium-regular.fntdata"/><Relationship Id="rId17" Type="http://schemas.openxmlformats.org/officeDocument/2006/relationships/customXml" Target="../customXml/item3.xml"/><Relationship Id="rId2" Type="http://schemas.openxmlformats.org/officeDocument/2006/relationships/viewProps" Target="viewProps.xml"/><Relationship Id="rId16" Type="http://schemas.openxmlformats.org/officeDocument/2006/relationships/customXml" Target="../customXml/item2.xml"/><Relationship Id="rId11" Type="http://schemas.openxmlformats.org/officeDocument/2006/relationships/font" Target="fonts/BarlowCondensed-regular.fntdata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15" Type="http://schemas.openxmlformats.org/officeDocument/2006/relationships/customXml" Target="../customXml/item1.xml"/><Relationship Id="rId10" Type="http://schemas.openxmlformats.org/officeDocument/2006/relationships/font" Target="fonts/BarlowCondensedMedium-boldItalic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BarlowCondensedMedium-italic.fntdata"/><Relationship Id="rId14" Type="http://schemas.openxmlformats.org/officeDocument/2006/relationships/font" Target="fonts/BarlowCondense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GENERAL RULES TO FOLLOW:</a:t>
            </a:r>
            <a:endParaRPr b="1"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n"/>
              <a:t>Stay in Google Slides</a:t>
            </a:r>
            <a:r>
              <a:rPr lang="en"/>
              <a:t> to work on your poster because it: 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>
                <a:solidFill>
                  <a:schemeClr val="dk1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rovides a template with all the </a:t>
            </a:r>
            <a:r>
              <a:rPr b="1" lang="en">
                <a:solidFill>
                  <a:schemeClr val="dk1"/>
                </a:solidFill>
              </a:rPr>
              <a:t>approved</a:t>
            </a:r>
            <a:r>
              <a:rPr lang="en">
                <a:solidFill>
                  <a:schemeClr val="dk1"/>
                </a:solidFill>
              </a:rPr>
              <a:t> branding including colors, fonts, and logo placement/usage;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/>
              <a:t>allows you to </a:t>
            </a:r>
            <a:r>
              <a:rPr b="1" lang="en"/>
              <a:t>collaborate</a:t>
            </a:r>
            <a:r>
              <a:rPr lang="en"/>
              <a:t> with others;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/>
              <a:t>helps you to </a:t>
            </a:r>
            <a:r>
              <a:rPr b="1" lang="en"/>
              <a:t>communicate</a:t>
            </a:r>
            <a:r>
              <a:rPr lang="en"/>
              <a:t> with your fellow researchers, lab./dept., and creative services;</a:t>
            </a:r>
            <a:endParaRPr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n"/>
              <a:t>Editing</a:t>
            </a:r>
            <a:r>
              <a:rPr lang="en"/>
              <a:t> this file: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t/>
            </a:r>
            <a:endParaRPr/>
          </a:p>
          <a:p>
            <a:pPr indent="-298450" lvl="0" marL="45720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ctrTitle"/>
          </p:nvPr>
        </p:nvSpPr>
        <p:spPr>
          <a:xfrm>
            <a:off x="1246833" y="5956600"/>
            <a:ext cx="34082400" cy="164202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9pPr>
          </a:lstStyle>
          <a:p/>
        </p:txBody>
      </p:sp>
      <p:sp>
        <p:nvSpPr>
          <p:cNvPr id="8" name="Google Shape;8;p2"/>
          <p:cNvSpPr txBox="1"/>
          <p:nvPr>
            <p:ph idx="1" type="subTitle"/>
          </p:nvPr>
        </p:nvSpPr>
        <p:spPr>
          <a:xfrm>
            <a:off x="1246800" y="22673000"/>
            <a:ext cx="34082400" cy="6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9pPr>
          </a:lstStyle>
          <a:p/>
        </p:txBody>
      </p:sp>
      <p:sp>
        <p:nvSpPr>
          <p:cNvPr id="9" name="Google Shape;9;p2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1246800" y="17206800"/>
            <a:ext cx="34082400" cy="6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1246800" y="9219800"/>
            <a:ext cx="340824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12468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0" name="Google Shape;20;p5"/>
          <p:cNvSpPr txBox="1"/>
          <p:nvPr>
            <p:ph idx="2" type="body"/>
          </p:nvPr>
        </p:nvSpPr>
        <p:spPr>
          <a:xfrm>
            <a:off x="193296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1246800" y="4444800"/>
            <a:ext cx="11232000" cy="60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1pPr>
            <a:lvl2pPr lvl="1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2pPr>
            <a:lvl3pPr lvl="2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3pPr>
            <a:lvl4pPr lvl="3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4pPr>
            <a:lvl5pPr lvl="4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5pPr>
            <a:lvl6pPr lvl="5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6pPr>
            <a:lvl7pPr lvl="6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7pPr>
            <a:lvl8pPr lvl="7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8pPr>
            <a:lvl9pPr lvl="8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1246800" y="11116800"/>
            <a:ext cx="11232000" cy="254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660400" lvl="0" marL="4572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961000" y="3601200"/>
            <a:ext cx="25471200" cy="327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1pPr>
            <a:lvl2pPr lvl="1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2pPr>
            <a:lvl3pPr lvl="2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3pPr>
            <a:lvl4pPr lvl="3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4pPr>
            <a:lvl5pPr lvl="4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5pPr>
            <a:lvl6pPr lvl="5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6pPr>
            <a:lvl7pPr lvl="6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7pPr>
            <a:lvl8pPr lvl="7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8pPr>
            <a:lvl9pPr lvl="8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18288000" y="-1000"/>
            <a:ext cx="18288000" cy="411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19950" lIns="519950" spcFirstLastPara="1" rIns="519950" wrap="square" tIns="51995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1062000" y="9865400"/>
            <a:ext cx="16180800" cy="118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1062000" y="22424600"/>
            <a:ext cx="16180800" cy="98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19758000" y="5792600"/>
            <a:ext cx="15347700" cy="295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1246800" y="33844600"/>
            <a:ext cx="23995200" cy="48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1246800" y="8849000"/>
            <a:ext cx="34082400" cy="157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1246800" y="25217800"/>
            <a:ext cx="34082400" cy="104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/>
        </p:nvSpPr>
        <p:spPr>
          <a:xfrm>
            <a:off x="8270713" y="20125"/>
            <a:ext cx="26601900" cy="11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Title | Barlow Condensed </a:t>
            </a:r>
            <a:r>
              <a:rPr b="1" i="0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Bold </a:t>
            </a:r>
            <a:r>
              <a:rPr b="1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96</a:t>
            </a:r>
            <a:r>
              <a:rPr b="1" i="0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</a:t>
            </a:r>
            <a:r>
              <a:rPr b="1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 </a:t>
            </a:r>
            <a:endParaRPr b="1" sz="9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8270713" y="1432312"/>
            <a:ext cx="266019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Title | Barlow Condensed Bold 96pt </a:t>
            </a:r>
            <a:endParaRPr b="1" sz="9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3" name="Google Shape;53;p13"/>
          <p:cNvSpPr txBox="1"/>
          <p:nvPr/>
        </p:nvSpPr>
        <p:spPr>
          <a:xfrm>
            <a:off x="8270714" y="3039425"/>
            <a:ext cx="259254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Contributors to this Poster | Barlow Condensed</a:t>
            </a: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Italicized </a:t>
            </a: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48</a:t>
            </a: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</a:t>
            </a: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</a:t>
            </a:r>
            <a:endParaRPr i="1" sz="48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1149100" y="27280450"/>
            <a:ext cx="22795200" cy="9792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2767380" y="15568075"/>
            <a:ext cx="11100600" cy="17427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2767380" y="5061800"/>
            <a:ext cx="11100600" cy="17427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24485975" y="5051125"/>
            <a:ext cx="9935550" cy="7299700"/>
          </a:xfrm>
          <a:prstGeom prst="flowChartProcess">
            <a:avLst/>
          </a:prstGeom>
          <a:noFill/>
          <a:ln cap="flat" cmpd="sng" w="76200">
            <a:solidFill>
              <a:srgbClr val="5D89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26878243" y="7887749"/>
            <a:ext cx="5151000" cy="22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360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Suggested border / frame color and thickness</a:t>
            </a:r>
            <a:endParaRPr i="1" sz="360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n" sz="360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for figures and photos</a:t>
            </a:r>
            <a:endParaRPr i="1" sz="360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4485965" y="12366799"/>
            <a:ext cx="56811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/ Photo Caption | Barlow Condensed Italicized 20pt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5525850" y="27217150"/>
            <a:ext cx="10060800" cy="11058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References/Acknowledgements | Barlow Condensed Bold 30pt </a:t>
            </a:r>
            <a:endParaRPr b="1" i="0" sz="30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8270711" y="3674375"/>
            <a:ext cx="132402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Affiliations  | Barlow Condensed Italicized 36pt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1124975" y="6804625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5602050" y="28322950"/>
            <a:ext cx="8819400" cy="85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30pt Body Text | Barlow Condensed 30pt Body Text | Barlow Condensed 30pt Body Text | Barlow Condensed 30pt</a:t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30pt Body Text | Barlow Condensed 30pt Body Text | Barlow Condensed 30pt Body Text | Barlow Condensed 30pt</a:t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30pt Body Text | Barlow Condensed 30pt Body Text | Barlow Condensed 30pt Body Text | Barlow Condensed 30pt</a:t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30pt Body Text | Barlow Condensed 30pt Body Text | Barlow Condensed 30pt Body Text | Barlow Condensed 30pt</a:t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4052879" y="39256750"/>
            <a:ext cx="28011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6150" lIns="312475" spcFirstLastPara="1" rIns="312475" wrap="square" tIns="15615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Stay Connected:</a:t>
            </a:r>
            <a:endParaRPr b="1" i="1" sz="24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5914225" y="39089750"/>
            <a:ext cx="3199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facebook.com/biocomplexity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twitter.com/biocomplexityvt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youtube.com/c/biocomplexity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google.com/+biocomplexity</a:t>
            </a:r>
            <a:endParaRPr b="1"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66" name="Google Shape;66;p13"/>
          <p:cNvGrpSpPr/>
          <p:nvPr/>
        </p:nvGrpSpPr>
        <p:grpSpPr>
          <a:xfrm>
            <a:off x="10748250" y="38161861"/>
            <a:ext cx="12287555" cy="2204167"/>
            <a:chOff x="14336159" y="38252213"/>
            <a:chExt cx="5515803" cy="1742700"/>
          </a:xfrm>
        </p:grpSpPr>
        <p:sp>
          <p:nvSpPr>
            <p:cNvPr id="67" name="Google Shape;67;p13"/>
            <p:cNvSpPr/>
            <p:nvPr/>
          </p:nvSpPr>
          <p:spPr>
            <a:xfrm>
              <a:off x="14336163" y="38252213"/>
              <a:ext cx="5515800" cy="1742700"/>
            </a:xfrm>
            <a:prstGeom prst="flowChartProcess">
              <a:avLst/>
            </a:prstGeom>
            <a:solidFill>
              <a:srgbClr val="5D89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14336159" y="38442116"/>
              <a:ext cx="1909500" cy="13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300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DELETE THIS BLUE BOX</a:t>
              </a:r>
              <a:br>
                <a:rPr b="1" i="1" lang="en" sz="360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</a:br>
              <a:r>
                <a:rPr i="1" lang="en" sz="180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{PLACEHOLDER ONLY}</a:t>
              </a:r>
              <a:endParaRPr i="1" sz="1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6195207" y="38365918"/>
              <a:ext cx="1823700" cy="149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FFFFFF"/>
                  </a:solidFill>
                  <a:latin typeface="Barlow Condensed Medium"/>
                  <a:ea typeface="Barlow Condensed Medium"/>
                  <a:cs typeface="Barlow Condensed Medium"/>
                  <a:sym typeface="Barlow Condensed Medium"/>
                </a:rPr>
                <a:t>This is an allowable area for your </a:t>
              </a:r>
              <a:br>
                <a:rPr i="1" lang="en" sz="1800">
                  <a:solidFill>
                    <a:srgbClr val="FFFFFF"/>
                  </a:solidFill>
                  <a:latin typeface="Barlow Condensed Medium"/>
                  <a:ea typeface="Barlow Condensed Medium"/>
                  <a:cs typeface="Barlow Condensed Medium"/>
                  <a:sym typeface="Barlow Condensed Medium"/>
                </a:rPr>
              </a:br>
              <a:r>
                <a:rPr i="1" lang="en" sz="1800">
                  <a:solidFill>
                    <a:srgbClr val="FFFFFF"/>
                  </a:solidFill>
                  <a:latin typeface="Barlow Condensed Medium"/>
                  <a:ea typeface="Barlow Condensed Medium"/>
                  <a:cs typeface="Barlow Condensed Medium"/>
                  <a:sym typeface="Barlow Condensed Medium"/>
                </a:rPr>
                <a:t>sponsor logos or school affiliation logos</a:t>
              </a:r>
              <a:endParaRPr i="1" sz="1800">
                <a:solidFill>
                  <a:srgbClr val="FFFFFF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endParaRPr>
            </a:p>
          </p:txBody>
        </p:sp>
        <p:sp>
          <p:nvSpPr>
            <p:cNvPr id="70" name="Google Shape;70;p13"/>
            <p:cNvSpPr txBox="1"/>
            <p:nvPr/>
          </p:nvSpPr>
          <p:spPr>
            <a:xfrm>
              <a:off x="17966538" y="38442113"/>
              <a:ext cx="1823700" cy="13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200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DO NOT PLACE LOGOS IN TITLE AREA</a:t>
              </a:r>
              <a:endParaRPr i="1" sz="20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sp>
        <p:nvSpPr>
          <p:cNvPr id="71" name="Google Shape;71;p13"/>
          <p:cNvSpPr txBox="1"/>
          <p:nvPr/>
        </p:nvSpPr>
        <p:spPr>
          <a:xfrm>
            <a:off x="12843575" y="6804625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1124975" y="17292800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12843575" y="17292800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24485983" y="15568075"/>
            <a:ext cx="11100600" cy="17427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1048780" y="15568075"/>
            <a:ext cx="11100600" cy="17427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1048780" y="5061800"/>
            <a:ext cx="11100600" cy="17427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7" name="Google Shape;77;p13"/>
          <p:cNvSpPr/>
          <p:nvPr/>
        </p:nvSpPr>
        <p:spPr>
          <a:xfrm>
            <a:off x="24485975" y="17632988"/>
            <a:ext cx="9935550" cy="7299700"/>
          </a:xfrm>
          <a:prstGeom prst="flowChartProcess">
            <a:avLst/>
          </a:prstGeom>
          <a:noFill/>
          <a:ln cap="flat" cmpd="sng" w="76200">
            <a:solidFill>
              <a:srgbClr val="5D89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3"/>
          <p:cNvSpPr txBox="1"/>
          <p:nvPr/>
        </p:nvSpPr>
        <p:spPr>
          <a:xfrm>
            <a:off x="26878243" y="20469611"/>
            <a:ext cx="5151000" cy="22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360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Suggested border / frame color and thickness</a:t>
            </a:r>
            <a:endParaRPr i="1" sz="360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n" sz="360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for figures and photos</a:t>
            </a:r>
            <a:endParaRPr i="1" sz="360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24485965" y="24948661"/>
            <a:ext cx="56811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/ Photo Caption | Barlow Condensed Italicized 20pt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1124975" y="28274763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12843575" y="28274763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EB07E0EA-0B5F-4C51-A340-BAAA1E5014FE}"/>
</file>

<file path=customXml/itemProps2.xml><?xml version="1.0" encoding="utf-8"?>
<ds:datastoreItem xmlns:ds="http://schemas.openxmlformats.org/officeDocument/2006/customXml" ds:itemID="{38383513-B3F8-4786-9C24-B31F472343C6}"/>
</file>

<file path=customXml/itemProps3.xml><?xml version="1.0" encoding="utf-8"?>
<ds:datastoreItem xmlns:ds="http://schemas.openxmlformats.org/officeDocument/2006/customXml" ds:itemID="{C64BEE2E-8380-4E09-894B-196526433DA6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