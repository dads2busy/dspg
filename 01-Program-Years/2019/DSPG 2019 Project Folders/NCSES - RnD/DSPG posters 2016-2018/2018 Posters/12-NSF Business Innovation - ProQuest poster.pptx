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</p:sldIdLst>
  <p:sldSz cy="41148000" cx="36576000"/>
  <p:notesSz cx="6858000" cy="9144000"/>
  <p:embeddedFontLst>
    <p:embeddedFont>
      <p:font typeface="Barlow Condensed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0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AF8286E-9695-41F1-A143-0A5695C077EF}">
  <a:tblStyle styleId="{9AF8286E-9695-41F1-A143-0A5695C077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0" orient="horz"/>
        <p:guide pos="1152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customXml" Target="../customXml/item1.xml"/><Relationship Id="rId3" Type="http://schemas.openxmlformats.org/officeDocument/2006/relationships/presProps" Target="presProps.xml"/><Relationship Id="rId12" Type="http://schemas.openxmlformats.org/officeDocument/2006/relationships/font" Target="fonts/BarlowCondensed-boldItalic.fntdata"/><Relationship Id="rId7" Type="http://schemas.openxmlformats.org/officeDocument/2006/relationships/notesMaster" Target="notesMasters/notesMaster1.xml"/><Relationship Id="rId2" Type="http://schemas.openxmlformats.org/officeDocument/2006/relationships/viewProps" Target="viewProps.xml"/><Relationship Id="rId11" Type="http://schemas.openxmlformats.org/officeDocument/2006/relationships/font" Target="fonts/BarlowCondensed-italic.fntdata"/><Relationship Id="rId1" Type="http://schemas.openxmlformats.org/officeDocument/2006/relationships/theme" Target="theme/theme2.xml"/><Relationship Id="rId6" Type="http://schemas.openxmlformats.org/officeDocument/2006/relationships/slideMaster" Target="slideMasters/slideMaster2.xml"/><Relationship Id="rId5" Type="http://schemas.openxmlformats.org/officeDocument/2006/relationships/slideMaster" Target="slideMasters/slideMaster1.xml"/><Relationship Id="rId15" Type="http://schemas.openxmlformats.org/officeDocument/2006/relationships/customXml" Target="../customXml/item3.xml"/><Relationship Id="rId10" Type="http://schemas.openxmlformats.org/officeDocument/2006/relationships/font" Target="fonts/BarlowCondensed-bold.fntdata"/><Relationship Id="rId4" Type="http://schemas.openxmlformats.org/officeDocument/2006/relationships/tableStyles" Target="tableStyles.xml"/><Relationship Id="rId9" Type="http://schemas.openxmlformats.org/officeDocument/2006/relationships/font" Target="fonts/BarlowCondensed-regular.fntdata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19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hapeofdata.wordpress.com/2013/07/09/random-forests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befab1a_0_0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dbefab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pic credit: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https://shapeofdata.wordpress.com/2013/07/09/random-forests/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one tree. Manual cleaning and beautifies the tree.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Proquest information. Data source.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246833" y="5956600"/>
            <a:ext cx="34082400" cy="164208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46800" y="22673000"/>
            <a:ext cx="34082400" cy="6340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246800" y="17206800"/>
            <a:ext cx="34082400" cy="6734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246800" y="9219800"/>
            <a:ext cx="159996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9329600" y="9219800"/>
            <a:ext cx="159996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246800" y="4444800"/>
            <a:ext cx="11232000" cy="6045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246800" y="11116800"/>
            <a:ext cx="11232000" cy="25435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961000" y="3601200"/>
            <a:ext cx="25471200" cy="32726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062000" y="22424600"/>
            <a:ext cx="16180800" cy="9880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9758000" y="5792600"/>
            <a:ext cx="15348000" cy="29560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246800" y="33844600"/>
            <a:ext cx="23995200" cy="4840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46800" y="8849000"/>
            <a:ext cx="34082400" cy="157080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246800" y="25217800"/>
            <a:ext cx="34082400" cy="10406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838200" lvl="0" marL="457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ctr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1246833" y="5956600"/>
            <a:ext cx="34082400" cy="164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1246800" y="22673000"/>
            <a:ext cx="34082400" cy="6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1246800" y="17206800"/>
            <a:ext cx="34082400" cy="6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246800" y="9219800"/>
            <a:ext cx="159996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19329600" y="9219800"/>
            <a:ext cx="159996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1246800" y="4444800"/>
            <a:ext cx="11232000" cy="60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1pPr>
            <a:lvl2pPr lvl="1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2pPr>
            <a:lvl3pPr lvl="2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3pPr>
            <a:lvl4pPr lvl="3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4pPr>
            <a:lvl5pPr lvl="4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5pPr>
            <a:lvl6pPr lvl="5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6pPr>
            <a:lvl7pPr lvl="6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7pPr>
            <a:lvl8pPr lvl="7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8pPr>
            <a:lvl9pPr lvl="8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1246800" y="11116800"/>
            <a:ext cx="11232000" cy="254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704850" lvl="0" marL="4572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1961000" y="3601200"/>
            <a:ext cx="25471200" cy="327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1pPr>
            <a:lvl2pPr lvl="1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2pPr>
            <a:lvl3pPr lvl="2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3pPr>
            <a:lvl4pPr lvl="3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4pPr>
            <a:lvl5pPr lvl="4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5pPr>
            <a:lvl6pPr lvl="5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6pPr>
            <a:lvl7pPr lvl="6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7pPr>
            <a:lvl8pPr lvl="7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8pPr>
            <a:lvl9pPr lvl="8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77725" lIns="577725" spcFirstLastPara="1" rIns="577725" wrap="square" tIns="5777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9pPr>
          </a:lstStyle>
          <a:p/>
        </p:txBody>
      </p:sp>
      <p:sp>
        <p:nvSpPr>
          <p:cNvPr id="80" name="Google Shape;80;p21"/>
          <p:cNvSpPr txBox="1"/>
          <p:nvPr>
            <p:ph idx="1" type="subTitle"/>
          </p:nvPr>
        </p:nvSpPr>
        <p:spPr>
          <a:xfrm>
            <a:off x="1062000" y="22424600"/>
            <a:ext cx="16180800" cy="9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19758000" y="5792600"/>
            <a:ext cx="15348000" cy="295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1246800" y="33844600"/>
            <a:ext cx="23995200" cy="48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hasCustomPrompt="1" type="title"/>
          </p:nvPr>
        </p:nvSpPr>
        <p:spPr>
          <a:xfrm>
            <a:off x="1246800" y="8849000"/>
            <a:ext cx="34082400" cy="157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9pPr>
          </a:lstStyle>
          <a:p>
            <a:r>
              <a:t>xx%</a:t>
            </a:r>
          </a:p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1246800" y="25217800"/>
            <a:ext cx="34082400" cy="10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/>
          <a:lstStyle>
            <a:lvl1pPr indent="-838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indent="-704850" lvl="1" marL="9144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indent="-704850" lvl="2" marL="13716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indent="-704850" lvl="3" marL="18288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indent="-704850" lvl="4" marL="22860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indent="-704850" lvl="5" marL="27432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indent="-704850" lvl="6" marL="32004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indent="-704850" lvl="7" marL="36576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indent="-704850" lvl="8" marL="4114800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4.png"/><Relationship Id="rId13" Type="http://schemas.openxmlformats.org/officeDocument/2006/relationships/image" Target="../media/image5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hyperlink" Target="https://shapeofdata.wordpress.com/2013/07/09/random-forests/" TargetMode="External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650" y="28541350"/>
            <a:ext cx="5295901" cy="30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5"/>
          <p:cNvSpPr txBox="1"/>
          <p:nvPr/>
        </p:nvSpPr>
        <p:spPr>
          <a:xfrm>
            <a:off x="8580925" y="494200"/>
            <a:ext cx="266586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Identifying and Predicting Product Launch Articles </a:t>
            </a:r>
            <a:b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with Machine Learning Algorithms</a:t>
            </a:r>
            <a:endParaRPr b="1" sz="72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8" name="Google Shape;98;p25"/>
          <p:cNvSpPr txBox="1"/>
          <p:nvPr/>
        </p:nvSpPr>
        <p:spPr>
          <a:xfrm>
            <a:off x="8270714" y="2963225"/>
            <a:ext cx="25924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3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Fangfang Lee (NYU), Raghav Sawhney (VT), Eirik Iversen (VT), Luke Kim (VT) </a:t>
            </a:r>
            <a:endParaRPr i="1" sz="53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9" name="Google Shape;99;p25"/>
          <p:cNvSpPr txBox="1"/>
          <p:nvPr/>
        </p:nvSpPr>
        <p:spPr>
          <a:xfrm>
            <a:off x="539975" y="11190325"/>
            <a:ext cx="12192900" cy="6984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and Methods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8270711" y="3674375"/>
            <a:ext cx="13240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i="1" sz="37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494825" y="5993648"/>
            <a:ext cx="12501300" cy="4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-43815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Product innovation is traditionally measured through surveys of selected companies. NCSES is interested in exploring the possibility of using non-traditional data sources to measure product innovation in lieu of surveys.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38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This project assesses the feasibility of detecting </a:t>
            </a:r>
            <a:r>
              <a:rPr lang="en" sz="33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news articles that are about product launches </a:t>
            </a: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using an automated machine learning model.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38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Specifically, we test out whether machine learning algorithms can automate the process of predicting whether an article is about product innovation.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4052879" y="39256750"/>
            <a:ext cx="2800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73475" lIns="347200" spcFirstLastPara="1" rIns="347200" wrap="square" tIns="173475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7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330075" y="20649800"/>
            <a:ext cx="12501300" cy="12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“Dictionary Approach”: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Without using any machine learning model, can we manually pick out the words or phrases that predict a product launch article?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Given the appearance of a word, what is the probability of the article being about a product launch?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Using manually labeled articles, the conditional probability, or positive predictive value (PPV) of an article being a launch can be calculated with Bayes Theorem: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can then use the PPV to predict which articles are most likely to be launch based on the words.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Can we compare this naive approach to the machine learning models?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Classification and Regression Tree (CART) [1]: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trees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stratify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or segment the predictor space into a number of sub regions.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 decision tree is a flowchart-like structure in which each internal node represents a "test" on an attribute (e.g. whether a coin flip comes up heads or tails).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Each branch represents the outcome of the test.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Each leaf node represents a class label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paths from root to leaf represent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classification rules.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Random Forest (RF):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Random forest is an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ensemble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algorithm that aggregates a series of decision trees.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RF lowers the variances in predictions that decision trees otherwise have.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591225" y="5296350"/>
            <a:ext cx="12192900" cy="6978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Introduction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9944100" y="38048625"/>
            <a:ext cx="88188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  <p:sp>
        <p:nvSpPr>
          <p:cNvPr id="106" name="Google Shape;106;p25"/>
          <p:cNvSpPr txBox="1"/>
          <p:nvPr/>
        </p:nvSpPr>
        <p:spPr>
          <a:xfrm>
            <a:off x="586775" y="12059200"/>
            <a:ext cx="122517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collected our data from ProQuest, a publication aggregator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. It is an excellent asset for collecting information on business innovation because it compiles a wide variety of articles in all sectors, which includes comprehensive news articles on product announcement and FDA approval.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>
            <a:off x="13083125" y="11164125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Performance and Evaluation 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8" name="Google Shape;108;p25"/>
          <p:cNvSpPr txBox="1"/>
          <p:nvPr/>
        </p:nvSpPr>
        <p:spPr>
          <a:xfrm>
            <a:off x="13122050" y="5318250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Construction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12924275" y="5977450"/>
            <a:ext cx="11029800" cy="51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Data transformation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articles collected from ProQuest are turned into term-document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matrices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--where each column is a word and each row is a document.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From each article we also extract unigrams (individual words) and bigrams (pairs of consecutive words).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unigrams and bigrams are then filtered: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Unigrams must show up in at least 40 documents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Bigrams must show up in at least 5 documents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also perform the following cleaning procedures: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Stemming                         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White-space removal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025" y="14272950"/>
            <a:ext cx="11085176" cy="596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/>
          <p:nvPr/>
        </p:nvSpPr>
        <p:spPr>
          <a:xfrm>
            <a:off x="16634150" y="10138713"/>
            <a:ext cx="46485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Punctuation removal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Stop words removal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24034750" y="6057900"/>
            <a:ext cx="107982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examined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 total of six models for classification: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Unigram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Bigrams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Mixed 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13716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classification--is this article about a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product launch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or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not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classification--is this article about an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FDA approval, a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product launch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, or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neither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Cleaned unigrams, bigrams, and mixed grams serve as predictors in the modeling process.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" name="Google Shape;113;p25"/>
          <p:cNvSpPr txBox="1"/>
          <p:nvPr/>
        </p:nvSpPr>
        <p:spPr>
          <a:xfrm>
            <a:off x="28432800" y="5996875"/>
            <a:ext cx="52959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unigram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Bigram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mixed 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6375" y="24070975"/>
            <a:ext cx="3755608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/>
          <p:nvPr/>
        </p:nvSpPr>
        <p:spPr>
          <a:xfrm>
            <a:off x="13277850" y="24001350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Validation and Application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90150" y="13427450"/>
            <a:ext cx="9288899" cy="300874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/>
        </p:nvSpPr>
        <p:spPr>
          <a:xfrm>
            <a:off x="24916850" y="11977650"/>
            <a:ext cx="94209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Tree Modeling Performance Overview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Accuracy rate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: total number of correct prediction/total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Prediction.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" name="Google Shape;118;p25"/>
          <p:cNvSpPr txBox="1"/>
          <p:nvPr/>
        </p:nvSpPr>
        <p:spPr>
          <a:xfrm>
            <a:off x="13331474" y="11977650"/>
            <a:ext cx="10438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Dictionary Approach Model Overview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used Bayes Theorem to calculate the positive predicted value of a given word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have found a series of words that are likely to be predictive of whether an article is about a launch: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words chosen above are determined by both PPV and discretion of the researchers.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will filter the unlabeled articles by how many times these distinct words have showed up and validate our models.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13212738" y="33040425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Challenge and Next Steps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526125" y="33055475"/>
            <a:ext cx="12251700" cy="6984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13563600" y="24427475"/>
            <a:ext cx="91629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122" name="Google Shape;122;p25"/>
          <p:cNvSpPr txBox="1"/>
          <p:nvPr/>
        </p:nvSpPr>
        <p:spPr>
          <a:xfrm>
            <a:off x="12951225" y="33649750"/>
            <a:ext cx="12501300" cy="30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●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Challenges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Lack of training Data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Out of 3600 articles downloaded, only 484 are manually labeled.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Imbalance of training data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Out of the 484 labeled data, only 21 are about product launch. The imbalance in true positives makes it difficult for the model to detect signal from noise.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Without proper domain knowledge, the ability to manually select important keywords is difficult. 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Tree and forests performed well, but the results aren’t necessarily generalizable.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330075" y="33862850"/>
            <a:ext cx="10725300" cy="26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[1] James, G., Witten, D., Hastie, T., &amp; Tibshirani, R. (2013). </a:t>
            </a:r>
            <a:r>
              <a:rPr i="1"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An introduction to statistical learning</a:t>
            </a: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 (Vol. 112). New York: springer.</a:t>
            </a:r>
            <a:endParaRPr sz="2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Tree graphics: </a:t>
            </a:r>
            <a:r>
              <a:rPr lang="en" sz="2600" u="sng">
                <a:solidFill>
                  <a:schemeClr val="accent5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7"/>
              </a:rPr>
              <a:t>https://shapeofdata.wordpress.com/2013/07/09/random-forests/</a:t>
            </a:r>
            <a:endParaRPr sz="2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25181225" y="33670875"/>
            <a:ext cx="10058400" cy="27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●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Next steps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Label more articles.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Improve the quality of the labeling. 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Improve domain expertise and repeat the iterative process of finding keywords.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Validate more unlabeled articles to check for the optimal threshold of the dictionary approach.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Validate using new data sources, e.g., Factiva.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5" name="Google Shape;12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764750" y="16691850"/>
            <a:ext cx="7662088" cy="5210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23398200" y="16756200"/>
            <a:ext cx="11144100" cy="7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 Diagram (Best performing tree--two class with mixed grams)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Cross Validation &amp; In-Sample misclassification rate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X axis represents tree dept, Y axis represents numbers of misclassified cases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As tree grows deeper, number of in-sample misclassification rate (orange) always decreases due to overfitting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Number of cross-validated misclass rates (blue) is lowest at 11.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7" name="Google Shape;12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966801" y="13477550"/>
            <a:ext cx="10798199" cy="11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/>
        </p:nvSpPr>
        <p:spPr>
          <a:xfrm>
            <a:off x="13277850" y="24731750"/>
            <a:ext cx="111441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Dictionary Approach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Applying the dictionary to 2880 unlabeled articles, we have obtained the following table: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However, after students manually validated the articles with the highest keywords appearance (8 and 7 times), we found out that those articles aren’t about a product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This is due to the structure of the data: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PPV of the keywords is low, even for “generic competit”, a 0.22 indicates that given it appears, there is a 22% the article is about launch.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cannot aggregate the PPV of multiple words because we cannot assume their appearances are independent.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129" name="Google Shape;129;p25"/>
          <p:cNvGraphicFramePr/>
          <p:nvPr/>
        </p:nvGraphicFramePr>
        <p:xfrm>
          <a:off x="13697675" y="26421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{9AF8286E-9695-41F1-A143-0A5695C077EF}</a:tableStyleId>
              </a:tblPr>
              <a:tblGrid>
                <a:gridCol w="1436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847300"/>
              </a:tblGrid>
              <a:tr h="1022100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Number of keywords showing up in an article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0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1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2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3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4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5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6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7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8</a:t>
                      </a:r>
                      <a:endParaRPr sz="4000"/>
                    </a:p>
                  </a:txBody>
                  <a:tcPr marT="91425" marB="91425" marR="91425" marL="91425"/>
                </a:tc>
              </a:tr>
              <a:tr h="881825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Number of unlabeled articles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629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822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500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232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111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56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14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3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</a:t>
                      </a:r>
                      <a:endParaRPr sz="3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p25"/>
          <p:cNvSpPr txBox="1"/>
          <p:nvPr/>
        </p:nvSpPr>
        <p:spPr>
          <a:xfrm>
            <a:off x="24765000" y="24661700"/>
            <a:ext cx="9888600" cy="1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 &amp; Random Forest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assembled our previously trained decision trees and used random forest to compute the predicted probability of an article being about a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diagram shows the distribution of the probability of unlabeled articles being about product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After manually validating the article with the highest probability, we found out that it is indeed about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machine learning models performed better and more reliably.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68113" y="20792825"/>
            <a:ext cx="3049625" cy="30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5"/>
          <p:cNvCxnSpPr/>
          <p:nvPr/>
        </p:nvCxnSpPr>
        <p:spPr>
          <a:xfrm>
            <a:off x="23602950" y="27698700"/>
            <a:ext cx="800100" cy="83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5"/>
          <p:cNvCxnSpPr/>
          <p:nvPr/>
        </p:nvCxnSpPr>
        <p:spPr>
          <a:xfrm flipH="1">
            <a:off x="23564700" y="27641550"/>
            <a:ext cx="857400" cy="85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5"/>
          <p:cNvCxnSpPr/>
          <p:nvPr/>
        </p:nvCxnSpPr>
        <p:spPr>
          <a:xfrm>
            <a:off x="22536150" y="27641550"/>
            <a:ext cx="106680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5"/>
          <p:cNvCxnSpPr/>
          <p:nvPr/>
        </p:nvCxnSpPr>
        <p:spPr>
          <a:xfrm flipH="1">
            <a:off x="22536000" y="27641550"/>
            <a:ext cx="100980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6" name="Google Shape;136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174450" y="17275209"/>
            <a:ext cx="9288901" cy="304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5779338" y="27698710"/>
            <a:ext cx="7695925" cy="38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24904663" y="23684850"/>
            <a:ext cx="1309800" cy="1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Depth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-5400000">
            <a:off x="23417998" y="22192675"/>
            <a:ext cx="1030475" cy="3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/>
          <p:nvPr/>
        </p:nvSpPr>
        <p:spPr>
          <a:xfrm>
            <a:off x="26800075" y="22131750"/>
            <a:ext cx="327000" cy="29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8270689" y="3826775"/>
            <a:ext cx="26492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SDAL: Ian Crandell, 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Gizem Korkmaz, 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and Stephanie Shipp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Sponsor: Gary Anderson, The National Center for Science &amp; Engineering Statistics (NCSES) at the National Science Foundation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181650" y="3302388"/>
            <a:ext cx="15811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5A42ACA7-2287-4E55-AA0A-EC85E5B6D828}"/>
</file>

<file path=customXml/itemProps2.xml><?xml version="1.0" encoding="utf-8"?>
<ds:datastoreItem xmlns:ds="http://schemas.openxmlformats.org/officeDocument/2006/customXml" ds:itemID="{BF5AA11F-FF70-494D-9248-1BC51F9EE524}"/>
</file>

<file path=customXml/itemProps3.xml><?xml version="1.0" encoding="utf-8"?>
<ds:datastoreItem xmlns:ds="http://schemas.openxmlformats.org/officeDocument/2006/customXml" ds:itemID="{8342E128-FC27-4501-9229-21E440540322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