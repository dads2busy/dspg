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6319"/>
    <a:srgbClr val="EF64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C8C86-B7B3-AC2C-0487-4A7C4351503B}" v="1082" dt="2019-08-08T21:46:20.244"/>
    <p1510:client id="{E964800B-B543-520C-D7DE-24B71EA07AAD}" v="1413" dt="2019-08-08T21:09:10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rowicz, Sean (sp3sd)" userId="S::sp3sd@virginia.edu::9d75db99-c872-4e43-b98e-1e42a901c6ac" providerId="AD" clId="Web-{013C8C86-B7B3-AC2C-0487-4A7C4351503B}"/>
    <pc:docChg chg="modSld">
      <pc:chgData name="Pietrowicz, Sean (sp3sd)" userId="S::sp3sd@virginia.edu::9d75db99-c872-4e43-b98e-1e42a901c6ac" providerId="AD" clId="Web-{013C8C86-B7B3-AC2C-0487-4A7C4351503B}" dt="2019-08-08T21:46:19.119" v="1047"/>
      <pc:docMkLst>
        <pc:docMk/>
      </pc:docMkLst>
      <pc:sldChg chg="modSp">
        <pc:chgData name="Pietrowicz, Sean (sp3sd)" userId="S::sp3sd@virginia.edu::9d75db99-c872-4e43-b98e-1e42a901c6ac" providerId="AD" clId="Web-{013C8C86-B7B3-AC2C-0487-4A7C4351503B}" dt="2019-08-08T21:46:19.119" v="1047"/>
        <pc:sldMkLst>
          <pc:docMk/>
          <pc:sldMk cId="1558836235" sldId="264"/>
        </pc:sldMkLst>
        <pc:graphicFrameChg chg="mod modGraphic">
          <ac:chgData name="Pietrowicz, Sean (sp3sd)" userId="S::sp3sd@virginia.edu::9d75db99-c872-4e43-b98e-1e42a901c6ac" providerId="AD" clId="Web-{013C8C86-B7B3-AC2C-0487-4A7C4351503B}" dt="2019-08-08T21:46:19.119" v="1047"/>
          <ac:graphicFrameMkLst>
            <pc:docMk/>
            <pc:sldMk cId="1558836235" sldId="264"/>
            <ac:graphicFrameMk id="9" creationId="{4DA44824-2CE5-A54D-81F3-0DFA95FADD62}"/>
          </ac:graphicFrameMkLst>
        </pc:graphicFrameChg>
      </pc:sldChg>
    </pc:docChg>
  </pc:docChgLst>
  <pc:docChgLst>
    <pc:chgData name="Fowers, Alyssa (af5ug)" userId="S::af5ug@virginia.edu::c3a37977-17ff-41a0-ad75-fd916179f175" providerId="AD" clId="Web-{E964800B-B543-520C-D7DE-24B71EA07AAD}"/>
    <pc:docChg chg="delSld modSld">
      <pc:chgData name="Fowers, Alyssa (af5ug)" userId="S::af5ug@virginia.edu::c3a37977-17ff-41a0-ad75-fd916179f175" providerId="AD" clId="Web-{E964800B-B543-520C-D7DE-24B71EA07AAD}" dt="2019-08-08T21:09:10.008" v="4671"/>
      <pc:docMkLst>
        <pc:docMk/>
      </pc:docMkLst>
      <pc:sldChg chg="modSp">
        <pc:chgData name="Fowers, Alyssa (af5ug)" userId="S::af5ug@virginia.edu::c3a37977-17ff-41a0-ad75-fd916179f175" providerId="AD" clId="Web-{E964800B-B543-520C-D7DE-24B71EA07AAD}" dt="2019-08-08T21:00:57.877" v="3757"/>
        <pc:sldMkLst>
          <pc:docMk/>
          <pc:sldMk cId="2161644545" sldId="258"/>
        </pc:sldMkLst>
        <pc:spChg chg="mod">
          <ac:chgData name="Fowers, Alyssa (af5ug)" userId="S::af5ug@virginia.edu::c3a37977-17ff-41a0-ad75-fd916179f175" providerId="AD" clId="Web-{E964800B-B543-520C-D7DE-24B71EA07AAD}" dt="2019-08-08T20:01:07.569" v="2759" actId="20577"/>
          <ac:spMkLst>
            <pc:docMk/>
            <pc:sldMk cId="2161644545" sldId="258"/>
            <ac:spMk id="2" creationId="{3C98E5C0-3E28-D845-81F1-91EDE7034F02}"/>
          </ac:spMkLst>
        </pc:spChg>
        <pc:graphicFrameChg chg="mod modGraphic">
          <ac:chgData name="Fowers, Alyssa (af5ug)" userId="S::af5ug@virginia.edu::c3a37977-17ff-41a0-ad75-fd916179f175" providerId="AD" clId="Web-{E964800B-B543-520C-D7DE-24B71EA07AAD}" dt="2019-08-08T21:00:57.877" v="3757"/>
          <ac:graphicFrameMkLst>
            <pc:docMk/>
            <pc:sldMk cId="2161644545" sldId="258"/>
            <ac:graphicFrameMk id="9" creationId="{4DA44824-2CE5-A54D-81F3-0DFA95FADD62}"/>
          </ac:graphicFrameMkLst>
        </pc:graphicFrameChg>
      </pc:sldChg>
      <pc:sldChg chg="del">
        <pc:chgData name="Fowers, Alyssa (af5ug)" userId="S::af5ug@virginia.edu::c3a37977-17ff-41a0-ad75-fd916179f175" providerId="AD" clId="Web-{E964800B-B543-520C-D7DE-24B71EA07AAD}" dt="2019-08-08T19:22:30.083" v="460"/>
        <pc:sldMkLst>
          <pc:docMk/>
          <pc:sldMk cId="3267258227" sldId="262"/>
        </pc:sldMkLst>
      </pc:sldChg>
      <pc:sldChg chg="addSp modSp">
        <pc:chgData name="Fowers, Alyssa (af5ug)" userId="S::af5ug@virginia.edu::c3a37977-17ff-41a0-ad75-fd916179f175" providerId="AD" clId="Web-{E964800B-B543-520C-D7DE-24B71EA07AAD}" dt="2019-08-08T20:57:51.219" v="3311"/>
        <pc:sldMkLst>
          <pc:docMk/>
          <pc:sldMk cId="3458026697" sldId="263"/>
        </pc:sldMkLst>
        <pc:spChg chg="mod">
          <ac:chgData name="Fowers, Alyssa (af5ug)" userId="S::af5ug@virginia.edu::c3a37977-17ff-41a0-ad75-fd916179f175" providerId="AD" clId="Web-{E964800B-B543-520C-D7DE-24B71EA07AAD}" dt="2019-08-08T20:57:31.109" v="3269" actId="20577"/>
          <ac:spMkLst>
            <pc:docMk/>
            <pc:sldMk cId="3458026697" sldId="263"/>
            <ac:spMk id="2" creationId="{3C98E5C0-3E28-D845-81F1-91EDE7034F02}"/>
          </ac:spMkLst>
        </pc:spChg>
        <pc:spChg chg="add mod">
          <ac:chgData name="Fowers, Alyssa (af5ug)" userId="S::af5ug@virginia.edu::c3a37977-17ff-41a0-ad75-fd916179f175" providerId="AD" clId="Web-{E964800B-B543-520C-D7DE-24B71EA07AAD}" dt="2019-08-08T19:55:35.175" v="2299" actId="20577"/>
          <ac:spMkLst>
            <pc:docMk/>
            <pc:sldMk cId="3458026697" sldId="263"/>
            <ac:spMk id="3" creationId="{04F692BA-43CF-4BA1-A9C2-ADFA15DA1C04}"/>
          </ac:spMkLst>
        </pc:spChg>
        <pc:graphicFrameChg chg="mod modGraphic">
          <ac:chgData name="Fowers, Alyssa (af5ug)" userId="S::af5ug@virginia.edu::c3a37977-17ff-41a0-ad75-fd916179f175" providerId="AD" clId="Web-{E964800B-B543-520C-D7DE-24B71EA07AAD}" dt="2019-08-08T20:57:51.219" v="3311"/>
          <ac:graphicFrameMkLst>
            <pc:docMk/>
            <pc:sldMk cId="3458026697" sldId="263"/>
            <ac:graphicFrameMk id="9" creationId="{4DA44824-2CE5-A54D-81F3-0DFA95FADD62}"/>
          </ac:graphicFrameMkLst>
        </pc:graphicFrameChg>
      </pc:sldChg>
      <pc:sldChg chg="modSp">
        <pc:chgData name="Fowers, Alyssa (af5ug)" userId="S::af5ug@virginia.edu::c3a37977-17ff-41a0-ad75-fd916179f175" providerId="AD" clId="Web-{E964800B-B543-520C-D7DE-24B71EA07AAD}" dt="2019-08-08T20:57:46.250" v="3307"/>
        <pc:sldMkLst>
          <pc:docMk/>
          <pc:sldMk cId="1558836235" sldId="264"/>
        </pc:sldMkLst>
        <pc:spChg chg="mod">
          <ac:chgData name="Fowers, Alyssa (af5ug)" userId="S::af5ug@virginia.edu::c3a37977-17ff-41a0-ad75-fd916179f175" providerId="AD" clId="Web-{E964800B-B543-520C-D7DE-24B71EA07AAD}" dt="2019-08-08T20:06:00.899" v="3163" actId="20577"/>
          <ac:spMkLst>
            <pc:docMk/>
            <pc:sldMk cId="1558836235" sldId="264"/>
            <ac:spMk id="2" creationId="{3C98E5C0-3E28-D845-81F1-91EDE7034F02}"/>
          </ac:spMkLst>
        </pc:spChg>
        <pc:graphicFrameChg chg="mod modGraphic">
          <ac:chgData name="Fowers, Alyssa (af5ug)" userId="S::af5ug@virginia.edu::c3a37977-17ff-41a0-ad75-fd916179f175" providerId="AD" clId="Web-{E964800B-B543-520C-D7DE-24B71EA07AAD}" dt="2019-08-08T20:57:46.250" v="3307"/>
          <ac:graphicFrameMkLst>
            <pc:docMk/>
            <pc:sldMk cId="1558836235" sldId="264"/>
            <ac:graphicFrameMk id="9" creationId="{4DA44824-2CE5-A54D-81F3-0DFA95FADD62}"/>
          </ac:graphicFrameMkLst>
        </pc:graphicFrameChg>
      </pc:sldChg>
      <pc:sldChg chg="modSp">
        <pc:chgData name="Fowers, Alyssa (af5ug)" userId="S::af5ug@virginia.edu::c3a37977-17ff-41a0-ad75-fd916179f175" providerId="AD" clId="Web-{E964800B-B543-520C-D7DE-24B71EA07AAD}" dt="2019-08-08T21:09:10.008" v="4671"/>
        <pc:sldMkLst>
          <pc:docMk/>
          <pc:sldMk cId="3640021229" sldId="265"/>
        </pc:sldMkLst>
        <pc:spChg chg="mod">
          <ac:chgData name="Fowers, Alyssa (af5ug)" userId="S::af5ug@virginia.edu::c3a37977-17ff-41a0-ad75-fd916179f175" providerId="AD" clId="Web-{E964800B-B543-520C-D7DE-24B71EA07AAD}" dt="2019-08-08T19:22:48.661" v="485" actId="20577"/>
          <ac:spMkLst>
            <pc:docMk/>
            <pc:sldMk cId="3640021229" sldId="265"/>
            <ac:spMk id="2" creationId="{3C98E5C0-3E28-D845-81F1-91EDE7034F02}"/>
          </ac:spMkLst>
        </pc:spChg>
        <pc:graphicFrameChg chg="mod modGraphic">
          <ac:chgData name="Fowers, Alyssa (af5ug)" userId="S::af5ug@virginia.edu::c3a37977-17ff-41a0-ad75-fd916179f175" providerId="AD" clId="Web-{E964800B-B543-520C-D7DE-24B71EA07AAD}" dt="2019-08-08T21:09:10.008" v="4671"/>
          <ac:graphicFrameMkLst>
            <pc:docMk/>
            <pc:sldMk cId="3640021229" sldId="265"/>
            <ac:graphicFrameMk id="9" creationId="{4DA44824-2CE5-A54D-81F3-0DFA95FADD6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517DC-6F5B-CF4B-9400-F1154D57DF07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DE0CD-D74F-184D-8654-DFB4873F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0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E0CD-D74F-184D-8654-DFB4873F44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84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E0CD-D74F-184D-8654-DFB4873F44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2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E0CD-D74F-184D-8654-DFB4873F44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03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E0CD-D74F-184D-8654-DFB4873F44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30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DE0CD-D74F-184D-8654-DFB4873F44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77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232C-4ED1-424D-9B81-97807AFD5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62C6E-D4AC-D949-A0E6-951DD01B5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79C50-ECDB-FD4D-9D1F-CFB3507C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7439A-1579-0844-BF79-60EF22D2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905E8-F08C-0443-A1DF-4A93F967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8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8E09-E15F-6D4B-9CE2-72DB1EA4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B7CD8-4CC1-9E4B-B026-AA1695E9F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4EA2F-D3BA-9E45-9226-5A52E750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282DB-8B37-FE4C-B9E3-875CF066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0CB22-9ED1-E846-B560-8B1D32C6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E1D2-7AA4-264D-A2A5-20C2A17D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7C3FC-DED6-4D48-8AEF-135F4E521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B90C0-92F4-114E-A6EB-86E8D19E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9D755-6D9F-F342-89CC-DBF811C6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B3475-78F6-7546-8D1B-6239ACCF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5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1F8D-DC66-F84F-8EF4-0DD0115F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B4066-8A13-554D-920E-0302F4DE6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9F433-DCBC-B748-AD70-69828038A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C6614-C8EF-6944-B1BE-E454DFF8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9C6CE-67E3-DE4F-9847-4E666E01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6F4E3-D6A8-8F4D-9A4D-94425D45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4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659E-6C0A-CD41-B616-518D7FD1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35650-869E-7545-B509-1D99A8BE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E1B34-E638-8D4A-B407-99F1E91E7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61730-6EA3-D24E-8A2B-80358C6F8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63162-5BFA-7847-A366-22FE35961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B3E40-C804-7548-964D-1953890D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BC38D-67BA-4745-9B78-1C85DBB2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06E2A-E11B-684D-9AFB-D3E1C272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0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88FE-E5AB-D446-8865-3A65EFD3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444F0-840E-A341-97DA-7DDAD5C9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08B54-12E0-F140-BB46-BBD058C4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282D1-73F7-0846-931D-21ABAD51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08918-C488-304D-B32C-B8FCD54D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553BAD-9B1B-2E43-BDB9-8E3AAD69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55FF8-020C-8042-942A-53057BCE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99C1-D94F-E840-81A8-83299809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93F4C-2628-6F41-A045-3BAB2A33D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8FA71-90D4-4C47-8F50-5395B534D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55E9D-1D33-9947-B279-C1361379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C6272-19BD-694B-A1E3-F22166CD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676B4-FE6D-804B-90B7-57C89160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6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ECD4-41A5-6049-A4C7-B8B6916D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0B035-FE5C-B84A-8BD3-4E603B727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FFC7C-7164-2544-8C26-31B08128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A14C8-6026-2E42-9DB1-F5840C1D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A59A8-BCD6-A340-B718-F363F13D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509F3-4BED-964A-B2DF-2921A66F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4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78D-3948-A546-9E37-9CFF764D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329F9-CFFC-FA4A-862A-FAA0E288A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2C02C-EC7B-F748-B87B-065E9B645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AE2A8-55D4-644C-93E5-21BC8DBC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A6436-ACE8-1B4D-9523-62E85619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6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015FB-975B-4E4A-9E87-DBB1EE357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30E0F-ED86-4242-BE24-4A50FE90D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C6007-A539-3D40-A09D-A2FDF673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E1972-3FE3-8D40-9ABE-AC519659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64C7F-1A1B-3E40-ADC7-8FDF454E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81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28F1A-ED55-4842-9EF9-785ED976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59255-0203-B24C-AB1B-C8F1145B1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4326-FBDD-8C49-8CAC-52A933570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463EB-95E3-B541-A5ED-FD1E3B273DE2}" type="datetimeFigureOut">
              <a:rPr lang="en-US" smtClean="0"/>
              <a:t>8/8/2019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C6512-B1CB-6149-9D28-F0199DA14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AC19B-88F3-4B4C-917A-0BEF7D70C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E8714-4C20-6941-BF6E-EEA840FA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4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2FA805-CA9E-984A-AF59-175D12B7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Documentation Checklist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666A6-F901-F945-892C-2413246E8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060880" cy="823912"/>
          </a:xfrm>
          <a:solidFill>
            <a:srgbClr val="EF6419"/>
          </a:solidFill>
        </p:spPr>
        <p:txBody>
          <a:bodyPr/>
          <a:lstStyle/>
          <a:p>
            <a:r>
              <a:rPr lang="en-US"/>
              <a:t>Git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82A257-5CB2-464B-A5F9-A8D06B035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060880" cy="3684588"/>
          </a:xfrm>
          <a:solidFill>
            <a:srgbClr val="EF6419"/>
          </a:solidFill>
        </p:spPr>
        <p:txBody>
          <a:bodyPr/>
          <a:lstStyle/>
          <a:p>
            <a:r>
              <a:rPr lang="en-US"/>
              <a:t>Is all code checked in?</a:t>
            </a:r>
          </a:p>
          <a:p>
            <a:r>
              <a:rPr lang="en-US"/>
              <a:t>Are all branches merged into master? If not, what conflicts pose challenge?</a:t>
            </a:r>
          </a:p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B04824A-CD22-B544-845C-9F32E737D477}"/>
              </a:ext>
            </a:extLst>
          </p:cNvPr>
          <p:cNvSpPr txBox="1">
            <a:spLocks/>
          </p:cNvSpPr>
          <p:nvPr/>
        </p:nvSpPr>
        <p:spPr>
          <a:xfrm>
            <a:off x="4555885" y="1681163"/>
            <a:ext cx="3060880" cy="823912"/>
          </a:xfrm>
          <a:prstGeom prst="rect">
            <a:avLst/>
          </a:prstGeom>
          <a:solidFill>
            <a:srgbClr val="EF6319">
              <a:alpha val="8000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README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42EAACF3-B96E-0542-BA6D-505CE83B527F}"/>
              </a:ext>
            </a:extLst>
          </p:cNvPr>
          <p:cNvSpPr txBox="1">
            <a:spLocks/>
          </p:cNvSpPr>
          <p:nvPr/>
        </p:nvSpPr>
        <p:spPr>
          <a:xfrm>
            <a:off x="4555885" y="2505075"/>
            <a:ext cx="3060880" cy="3684588"/>
          </a:xfrm>
          <a:prstGeom prst="rect">
            <a:avLst/>
          </a:prstGeom>
          <a:solidFill>
            <a:srgbClr val="EF6319">
              <a:alpha val="8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What order to run the scripts?</a:t>
            </a:r>
          </a:p>
          <a:p>
            <a:r>
              <a:rPr lang="en-US"/>
              <a:t>Are there any unresolved issues with the scripts?</a:t>
            </a:r>
          </a:p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BD20776-81E5-CB49-B78B-B0C8D7C12393}"/>
              </a:ext>
            </a:extLst>
          </p:cNvPr>
          <p:cNvSpPr txBox="1">
            <a:spLocks/>
          </p:cNvSpPr>
          <p:nvPr/>
        </p:nvSpPr>
        <p:spPr>
          <a:xfrm>
            <a:off x="8271982" y="1706242"/>
            <a:ext cx="3060880" cy="823912"/>
          </a:xfrm>
          <a:prstGeom prst="rect">
            <a:avLst/>
          </a:prstGeom>
          <a:solidFill>
            <a:srgbClr val="EF6319">
              <a:alpha val="50196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Lower priorities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B2505AF1-58FE-BE42-AE5F-5CF957497049}"/>
              </a:ext>
            </a:extLst>
          </p:cNvPr>
          <p:cNvSpPr txBox="1">
            <a:spLocks/>
          </p:cNvSpPr>
          <p:nvPr/>
        </p:nvSpPr>
        <p:spPr>
          <a:xfrm>
            <a:off x="8271982" y="2530154"/>
            <a:ext cx="3060880" cy="3684588"/>
          </a:xfrm>
          <a:prstGeom prst="rect">
            <a:avLst/>
          </a:prstGeom>
          <a:solidFill>
            <a:srgbClr val="EF6319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Could the code be commented for clarity?</a:t>
            </a:r>
          </a:p>
          <a:p>
            <a:r>
              <a:rPr lang="en-US"/>
              <a:t>Which are key datasets? (original, working, intermediate)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4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DA44824-2CE5-A54D-81F3-0DFA95FADD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03627340"/>
              </p:ext>
            </p:extLst>
          </p:nvPr>
        </p:nvGraphicFramePr>
        <p:xfrm>
          <a:off x="0" y="914400"/>
          <a:ext cx="12192000" cy="61662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3843">
                  <a:extLst>
                    <a:ext uri="{9D8B030D-6E8A-4147-A177-3AD203B41FA5}">
                      <a16:colId xmlns:a16="http://schemas.microsoft.com/office/drawing/2014/main" val="1352491661"/>
                    </a:ext>
                  </a:extLst>
                </a:gridCol>
                <a:gridCol w="3076635">
                  <a:extLst>
                    <a:ext uri="{9D8B030D-6E8A-4147-A177-3AD203B41FA5}">
                      <a16:colId xmlns:a16="http://schemas.microsoft.com/office/drawing/2014/main" val="3130510922"/>
                    </a:ext>
                  </a:extLst>
                </a:gridCol>
                <a:gridCol w="834357">
                  <a:extLst>
                    <a:ext uri="{9D8B030D-6E8A-4147-A177-3AD203B41FA5}">
                      <a16:colId xmlns:a16="http://schemas.microsoft.com/office/drawing/2014/main" val="1636284579"/>
                    </a:ext>
                  </a:extLst>
                </a:gridCol>
                <a:gridCol w="2145611">
                  <a:extLst>
                    <a:ext uri="{9D8B030D-6E8A-4147-A177-3AD203B41FA5}">
                      <a16:colId xmlns:a16="http://schemas.microsoft.com/office/drawing/2014/main" val="2195260392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3536091448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4195063144"/>
                    </a:ext>
                  </a:extLst>
                </a:gridCol>
              </a:tblGrid>
              <a:tr h="278430">
                <a:tc>
                  <a:txBody>
                    <a:bodyPr/>
                    <a:lstStyle/>
                    <a:p>
                      <a:r>
                        <a:rPr lang="en-US" sz="140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06176"/>
                  </a:ext>
                </a:extLst>
              </a:tr>
              <a:tr h="1230439">
                <a:tc>
                  <a:txBody>
                    <a:bodyPr/>
                    <a:lstStyle/>
                    <a:p>
                      <a:r>
                        <a:rPr lang="en-US" sz="1200"/>
                        <a:t>Data 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import_factiva.R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data/original/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/factiva1.zip</a:t>
                      </a:r>
                    </a:p>
                    <a:p>
                      <a:r>
                        <a:rPr lang="en-US" sz="1200"/>
                        <a:t>..</a:t>
                      </a:r>
                    </a:p>
                    <a:p>
                      <a:r>
                        <a:rPr lang="en-US" sz="1200"/>
                        <a:t>data/original/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/factiva8.zip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Do not run this code unless you set new write location – will overwrite original data!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437681"/>
                  </a:ext>
                </a:extLst>
              </a:tr>
              <a:tr h="1398226">
                <a:tc>
                  <a:txBody>
                    <a:bodyPr/>
                    <a:lstStyle/>
                    <a:p>
                      <a:r>
                        <a:rPr lang="en-US" sz="1200"/>
                        <a:t>Data Manipulation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data/original/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 factiva1.zip</a:t>
                      </a:r>
                    </a:p>
                    <a:p>
                      <a:r>
                        <a:rPr lang="en-US" sz="1200"/>
                        <a:t>..</a:t>
                      </a:r>
                    </a:p>
                    <a:p>
                      <a:r>
                        <a:rPr lang="en-US" sz="1200"/>
                        <a:t>data/original/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 factiva8.zip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transform_factiva.R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/factiva_2001.RDS</a:t>
                      </a:r>
                    </a:p>
                    <a:p>
                      <a:r>
                        <a:rPr lang="en-US" sz="1200"/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/factiva_2020.RDS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31062"/>
                  </a:ext>
                </a:extLst>
              </a:tr>
              <a:tr h="1398226">
                <a:tc>
                  <a:txBody>
                    <a:bodyPr/>
                    <a:lstStyle/>
                    <a:p>
                      <a:r>
                        <a:rPr lang="en-US" sz="1200"/>
                        <a:t>Data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/factiva_2001.RDS</a:t>
                      </a:r>
                    </a:p>
                    <a:p>
                      <a:r>
                        <a:rPr lang="en-US" sz="1200"/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/factiva_2020.RDS</a:t>
                      </a:r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model_factiva.R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</a:t>
                      </a:r>
                      <a:r>
                        <a:rPr lang="en-US" sz="1200" err="1"/>
                        <a:t>predictions.csv</a:t>
                      </a:r>
                      <a:endParaRPr lang="en-US" sz="1200"/>
                    </a:p>
                    <a:p>
                      <a:endParaRPr lang="en-US" sz="120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This takes several hours to run!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39605"/>
                  </a:ext>
                </a:extLst>
              </a:tr>
              <a:tr h="1621235">
                <a:tc>
                  <a:txBody>
                    <a:bodyPr/>
                    <a:lstStyle/>
                    <a:p>
                      <a:r>
                        <a:rPr lang="en-US" sz="1200"/>
                        <a:t>Plots, Tables &amp;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/factiva_2001.RDS</a:t>
                      </a:r>
                    </a:p>
                    <a:p>
                      <a:r>
                        <a:rPr lang="en-US" sz="1200"/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/factiva_2020.RDS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data/working/</a:t>
                      </a:r>
                      <a:r>
                        <a:rPr lang="en-US" sz="1200" err="1"/>
                        <a:t>factiva</a:t>
                      </a:r>
                      <a:r>
                        <a:rPr lang="en-US" sz="1200"/>
                        <a:t>/</a:t>
                      </a:r>
                      <a:r>
                        <a:rPr lang="en-US" sz="1200" err="1"/>
                        <a:t>predictions.csv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visualize_factiva.R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output/</a:t>
                      </a:r>
                      <a:r>
                        <a:rPr lang="en-US" sz="1200" err="1"/>
                        <a:t>scatter_money.png</a:t>
                      </a:r>
                      <a:endParaRPr lang="en-US" sz="12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output/</a:t>
                      </a:r>
                      <a:r>
                        <a:rPr lang="en-US" sz="1200" err="1"/>
                        <a:t>bar_publisher.png</a:t>
                      </a:r>
                      <a:endParaRPr lang="en-US" sz="120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771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C98E5C0-3E28-D845-81F1-91EDE7034F02}"/>
              </a:ext>
            </a:extLst>
          </p:cNvPr>
          <p:cNvSpPr txBox="1"/>
          <p:nvPr/>
        </p:nvSpPr>
        <p:spPr>
          <a:xfrm>
            <a:off x="288235" y="198783"/>
            <a:ext cx="1149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297764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DA44824-2CE5-A54D-81F3-0DFA95FADD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36970638"/>
              </p:ext>
            </p:extLst>
          </p:nvPr>
        </p:nvGraphicFramePr>
        <p:xfrm>
          <a:off x="0" y="914400"/>
          <a:ext cx="12192000" cy="61662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3843">
                  <a:extLst>
                    <a:ext uri="{9D8B030D-6E8A-4147-A177-3AD203B41FA5}">
                      <a16:colId xmlns:a16="http://schemas.microsoft.com/office/drawing/2014/main" val="1352491661"/>
                    </a:ext>
                  </a:extLst>
                </a:gridCol>
                <a:gridCol w="3076635">
                  <a:extLst>
                    <a:ext uri="{9D8B030D-6E8A-4147-A177-3AD203B41FA5}">
                      <a16:colId xmlns:a16="http://schemas.microsoft.com/office/drawing/2014/main" val="3130510922"/>
                    </a:ext>
                  </a:extLst>
                </a:gridCol>
                <a:gridCol w="834357">
                  <a:extLst>
                    <a:ext uri="{9D8B030D-6E8A-4147-A177-3AD203B41FA5}">
                      <a16:colId xmlns:a16="http://schemas.microsoft.com/office/drawing/2014/main" val="1636284579"/>
                    </a:ext>
                  </a:extLst>
                </a:gridCol>
                <a:gridCol w="2145611">
                  <a:extLst>
                    <a:ext uri="{9D8B030D-6E8A-4147-A177-3AD203B41FA5}">
                      <a16:colId xmlns:a16="http://schemas.microsoft.com/office/drawing/2014/main" val="2195260392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3536091448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4195063144"/>
                    </a:ext>
                  </a:extLst>
                </a:gridCol>
              </a:tblGrid>
              <a:tr h="278430">
                <a:tc>
                  <a:txBody>
                    <a:bodyPr/>
                    <a:lstStyle/>
                    <a:p>
                      <a:r>
                        <a:rPr lang="en-US" sz="140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06176"/>
                  </a:ext>
                </a:extLst>
              </a:tr>
              <a:tr h="1230439">
                <a:tc>
                  <a:txBody>
                    <a:bodyPr/>
                    <a:lstStyle/>
                    <a:p>
                      <a:r>
                        <a:rPr lang="en-US" sz="1200"/>
                        <a:t>Profiling Federal </a:t>
                      </a:r>
                      <a:r>
                        <a:rPr lang="en-US" sz="1200" err="1"/>
                        <a:t>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data/original/2016-data_multiple_fed-reporter.csv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src</a:t>
                      </a:r>
                      <a:r>
                        <a:rPr lang="en-US" sz="1200"/>
                        <a:t>/profiling/</a:t>
                      </a:r>
                      <a:r>
                        <a:rPr lang="en-US" sz="1200" err="1"/>
                        <a:t>profiling_fed_reporter.R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None in file, but creates </a:t>
                      </a:r>
                      <a:r>
                        <a:rPr lang="en-US" sz="1200" err="1"/>
                        <a:t>dataframe</a:t>
                      </a:r>
                      <a:r>
                        <a:rPr lang="en-US" sz="1200"/>
                        <a:t> of profiling results that could be written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437681"/>
                  </a:ext>
                </a:extLst>
              </a:tr>
              <a:tr h="1398226">
                <a:tc>
                  <a:txBody>
                    <a:bodyPr/>
                    <a:lstStyle/>
                    <a:p>
                      <a:r>
                        <a:rPr lang="en-US" sz="1200"/>
                        <a:t>Profiling USA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data/original/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2016-data_multiple_usa-spending_transaction_prime_grants-only.csv</a:t>
                      </a:r>
                      <a:endParaRPr lang="en-US" sz="1200"/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glossary/country_glossary.csv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glossary/state_zip_glossary.csv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glossary/agency_glossary.csv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src</a:t>
                      </a:r>
                      <a:r>
                        <a:rPr lang="en-US" sz="1200"/>
                        <a:t>/profiling/</a:t>
                      </a:r>
                      <a:r>
                        <a:rPr lang="en-US" sz="1200" err="1"/>
                        <a:t>profiling_usa_spending.R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None in file, but creates </a:t>
                      </a:r>
                      <a:r>
                        <a:rPr lang="en-US" sz="1200" b="0" i="0" u="none" strike="noStrike" noProof="0" err="1">
                          <a:latin typeface="Calibri"/>
                        </a:rPr>
                        <a:t>dataframe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 of profiling results that could be written out</a:t>
                      </a:r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31062"/>
                  </a:ext>
                </a:extLst>
              </a:tr>
              <a:tr h="1398226">
                <a:tc>
                  <a:txBody>
                    <a:bodyPr/>
                    <a:lstStyle/>
                    <a:p>
                      <a:r>
                        <a:rPr lang="en-US" sz="1200"/>
                        <a:t>Creating and exploring USA Spending contract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data/original/2016-data_multiple_usa-spending_transaction_prime_contracts-only.csv</a:t>
                      </a:r>
                    </a:p>
                    <a:p>
                      <a:pPr lvl="0">
                        <a:buNone/>
                      </a:pPr>
                      <a:r>
                        <a:rPr lang="en-US" sz="1200"/>
                        <a:t>.../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2016-data_multiple_usa-spending_transaction_prime_contracts-only.csv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src/merge_contract_grant.R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data/working/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2016-data_multiple_usa-spending_transaction_prime_contracts-only_select-fields.csv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This started as an exploratory attempt to connect the contract and grant files, before I realized the data were very different and needed to be treated differently.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39605"/>
                  </a:ext>
                </a:extLst>
              </a:tr>
              <a:tr h="1621235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/>
                        <a:t>Clean CFDA codes in Federal 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data/original/2016-data_multiple_fed-reporter.csv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glossary/CFDA_glossary_final.csv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src/cleaning_fed_reporter_cfda.R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Data/working/2016-fed_reporter_fixed_cfda.csv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 didn't wind up using CFDA codes in Fed Reporter, so this isn't strictly necessary for our final results. However, it may come in handy in the future!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771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C98E5C0-3E28-D845-81F1-91EDE7034F02}"/>
              </a:ext>
            </a:extLst>
          </p:cNvPr>
          <p:cNvSpPr txBox="1"/>
          <p:nvPr/>
        </p:nvSpPr>
        <p:spPr>
          <a:xfrm>
            <a:off x="346213" y="278296"/>
            <a:ext cx="1149957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1. Profile data, create contract data file</a:t>
            </a:r>
          </a:p>
        </p:txBody>
      </p:sp>
    </p:spTree>
    <p:extLst>
      <p:ext uri="{BB962C8B-B14F-4D97-AF65-F5344CB8AC3E}">
        <p14:creationId xmlns:p14="http://schemas.microsoft.com/office/powerpoint/2010/main" val="216164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DA44824-2CE5-A54D-81F3-0DFA95FADD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4309739"/>
              </p:ext>
            </p:extLst>
          </p:nvPr>
        </p:nvGraphicFramePr>
        <p:xfrm>
          <a:off x="0" y="2071687"/>
          <a:ext cx="12192000" cy="60146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3843">
                  <a:extLst>
                    <a:ext uri="{9D8B030D-6E8A-4147-A177-3AD203B41FA5}">
                      <a16:colId xmlns:a16="http://schemas.microsoft.com/office/drawing/2014/main" val="1352491661"/>
                    </a:ext>
                  </a:extLst>
                </a:gridCol>
                <a:gridCol w="3076635">
                  <a:extLst>
                    <a:ext uri="{9D8B030D-6E8A-4147-A177-3AD203B41FA5}">
                      <a16:colId xmlns:a16="http://schemas.microsoft.com/office/drawing/2014/main" val="3130510922"/>
                    </a:ext>
                  </a:extLst>
                </a:gridCol>
                <a:gridCol w="834357">
                  <a:extLst>
                    <a:ext uri="{9D8B030D-6E8A-4147-A177-3AD203B41FA5}">
                      <a16:colId xmlns:a16="http://schemas.microsoft.com/office/drawing/2014/main" val="1636284579"/>
                    </a:ext>
                  </a:extLst>
                </a:gridCol>
                <a:gridCol w="2145611">
                  <a:extLst>
                    <a:ext uri="{9D8B030D-6E8A-4147-A177-3AD203B41FA5}">
                      <a16:colId xmlns:a16="http://schemas.microsoft.com/office/drawing/2014/main" val="2195260392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3536091448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4195063144"/>
                    </a:ext>
                  </a:extLst>
                </a:gridCol>
              </a:tblGrid>
              <a:tr h="351614">
                <a:tc>
                  <a:txBody>
                    <a:bodyPr/>
                    <a:lstStyle/>
                    <a:p>
                      <a:r>
                        <a:rPr lang="en-US" sz="140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06176"/>
                  </a:ext>
                </a:extLst>
              </a:tr>
              <a:tr h="8230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Split USA Spending and Federal RePORTER data up between agencies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data/working/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2016-data_multiple_usa-spending_transaction_prime_contracts-only_select-fields.csv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.../</a:t>
                      </a:r>
                      <a:r>
                        <a:rPr lang="en-US" sz="1200" b="0" i="0" u="none" strike="noStrike" noProof="0"/>
                        <a:t>2014-fed_reporter_fixed_cfda.csv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.../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2015-fed_reporter_fixed_cfda.csv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.../</a:t>
                      </a:r>
                      <a:r>
                        <a:rPr lang="en-US" sz="1200" b="0" i="0" u="none" strike="noStrike" noProof="0"/>
                        <a:t>2016-fed_reporter_fixed_cfda.csv</a:t>
                      </a:r>
                      <a:endParaRPr lang="en-US" sz="12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src/combine_by_department/split_source_file.R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The following files for all 6 agencies: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data/working/combine_by_department/AGENCY/</a:t>
                      </a:r>
                      <a:r>
                        <a:rPr lang="en-US" sz="1200" b="0" i="0" u="none" strike="noStrike" noProof="0"/>
                        <a:t>AGENCY_usa-spending_grants_2016.csv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.../AGENCY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_usa-spending_contracts_2016.csv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.../AGENCY_</a:t>
                      </a:r>
                      <a:r>
                        <a:rPr lang="en-US" sz="1200" b="0" i="0" u="none" strike="noStrike" noProof="0"/>
                        <a:t>fed-reporter_2016.csv</a:t>
                      </a:r>
                      <a:endParaRPr lang="en-US" sz="12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The federal reporter filenames say 2016, but actually contain data from 2014-2016 (sorry!)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5180"/>
                  </a:ext>
                </a:extLst>
              </a:tr>
              <a:tr h="934974">
                <a:tc>
                  <a:txBody>
                    <a:bodyPr/>
                    <a:lstStyle/>
                    <a:p>
                      <a:r>
                        <a:rPr lang="en-US" sz="1200"/>
                        <a:t>Read in outside source for CDMRP IDs (for DOD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data/original/Awards.xlsx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src/extracting_CDMRP_awards_data.R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Data/combine_by_department/DOD/CDMRP.csv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39605"/>
                  </a:ext>
                </a:extLst>
              </a:tr>
              <a:tr h="10868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FOR GRANTS: Match IDs within an agency between Federal RePORTER and USA Spending, and put a flag in the dataset to show which have workable matches.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data/working/combine_by_department/AGENCY/AGENCY_usa-spending_grants_2016.csv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200"/>
                        <a:t>.../AGENCY_fed-report_2016.csv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src/combine_by_department/AGENCY_combine_code.R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data/working/combine_by_department/AGENCY/AGENCY_fed-reporter_2016_matchflag.csv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200"/>
                    </a:p>
                    <a:p>
                      <a:pPr lvl="0">
                        <a:buNone/>
                      </a:pPr>
                      <a:r>
                        <a:rPr lang="en-US" sz="1200"/>
                        <a:t>data/working/combine_by_department/AGENCY/AGENCY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_usa-spending_grants_2016_matchflag.csv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7716"/>
                  </a:ext>
                </a:extLst>
              </a:tr>
              <a:tr h="10868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FOR CONTRACTS: determine which contracts were S&amp;E based on product and service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data/working/combine_by_department/AGENCY/AGENCY_usa-spending_contracts_2016.csv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src/combine_by_department/AGENCY_contract_resflag.R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data/working/combine_by_department/AGENCY/AGENCY</a:t>
                      </a:r>
                      <a:r>
                        <a:rPr lang="en-US" sz="1200" b="0" i="0" u="none" strike="noStrike" noProof="0"/>
                        <a:t>_usa-spending_contracts_2016_resflag.csv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03293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C98E5C0-3E28-D845-81F1-91EDE7034F02}"/>
              </a:ext>
            </a:extLst>
          </p:cNvPr>
          <p:cNvSpPr txBox="1"/>
          <p:nvPr/>
        </p:nvSpPr>
        <p:spPr>
          <a:xfrm>
            <a:off x="346213" y="278296"/>
            <a:ext cx="1149957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2.1 Determine which grants were S&amp;E </a:t>
            </a:r>
            <a:endParaRPr lang="en-US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692BA-43CF-4BA1-A9C2-ADFA15DA1C04}"/>
              </a:ext>
            </a:extLst>
          </p:cNvPr>
          <p:cNvSpPr txBox="1"/>
          <p:nvPr/>
        </p:nvSpPr>
        <p:spPr>
          <a:xfrm>
            <a:off x="414337" y="902493"/>
            <a:ext cx="110656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USA Spending data was split into six agencies for the matching process. The same naming conventions were used in each of the agencies. The code is in src/combine_by_department; the files are in data/working/combine_by_department, with a folder for each department. In all the file names below, replace AGENCY with the acronym for an agency of interest.</a:t>
            </a:r>
          </a:p>
        </p:txBody>
      </p:sp>
    </p:spTree>
    <p:extLst>
      <p:ext uri="{BB962C8B-B14F-4D97-AF65-F5344CB8AC3E}">
        <p14:creationId xmlns:p14="http://schemas.microsoft.com/office/powerpoint/2010/main" val="345802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DA44824-2CE5-A54D-81F3-0DFA95FADD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6017881"/>
              </p:ext>
            </p:extLst>
          </p:nvPr>
        </p:nvGraphicFramePr>
        <p:xfrm>
          <a:off x="0" y="914400"/>
          <a:ext cx="12192000" cy="63877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3843">
                  <a:extLst>
                    <a:ext uri="{9D8B030D-6E8A-4147-A177-3AD203B41FA5}">
                      <a16:colId xmlns:a16="http://schemas.microsoft.com/office/drawing/2014/main" val="1352491661"/>
                    </a:ext>
                  </a:extLst>
                </a:gridCol>
                <a:gridCol w="3076635">
                  <a:extLst>
                    <a:ext uri="{9D8B030D-6E8A-4147-A177-3AD203B41FA5}">
                      <a16:colId xmlns:a16="http://schemas.microsoft.com/office/drawing/2014/main" val="3130510922"/>
                    </a:ext>
                  </a:extLst>
                </a:gridCol>
                <a:gridCol w="834357">
                  <a:extLst>
                    <a:ext uri="{9D8B030D-6E8A-4147-A177-3AD203B41FA5}">
                      <a16:colId xmlns:a16="http://schemas.microsoft.com/office/drawing/2014/main" val="1636284579"/>
                    </a:ext>
                  </a:extLst>
                </a:gridCol>
                <a:gridCol w="2145611">
                  <a:extLst>
                    <a:ext uri="{9D8B030D-6E8A-4147-A177-3AD203B41FA5}">
                      <a16:colId xmlns:a16="http://schemas.microsoft.com/office/drawing/2014/main" val="2195260392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3536091448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4195063144"/>
                    </a:ext>
                  </a:extLst>
                </a:gridCol>
              </a:tblGrid>
              <a:tr h="535576">
                <a:tc>
                  <a:txBody>
                    <a:bodyPr/>
                    <a:lstStyle/>
                    <a:p>
                      <a:r>
                        <a:rPr lang="en-US" sz="140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06176"/>
                  </a:ext>
                </a:extLst>
              </a:tr>
              <a:tr h="1031965">
                <a:tc>
                  <a:txBody>
                    <a:bodyPr/>
                    <a:lstStyle/>
                    <a:p>
                      <a:r>
                        <a:rPr lang="en-US" sz="1200"/>
                        <a:t>Combine contracts back together into one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</a:t>
                      </a:r>
                      <a:r>
                        <a:rPr lang="en-US" sz="1200" b="0" i="0" u="none" strike="noStrike" noProof="0" err="1">
                          <a:latin typeface="Calibri"/>
                        </a:rPr>
                        <a:t>combine_by_department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/  ...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DOD/dod_usa-spending_contracts_2016_resflag.csv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USDA/usda_usa-spending_contracts_2016_resflag.csv</a:t>
                      </a: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DOE/doe_usa-spending_contracts_2016_resflag.csv</a:t>
                      </a:r>
                      <a:endParaRPr lang="en-US" sz="1200" b="0" i="0" u="none" strike="noStrike" noProof="0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NASA/nasa_usa-spending_contracts_2016_resflag.csv</a:t>
                      </a: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NIH/nih_usa-spending_contracts_2016_resflag.cs</a:t>
                      </a:r>
                      <a:endParaRPr lang="en-US" sz="1200" b="0" i="0" u="none" strike="noStrike" noProof="0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NSF/nsf_usa-spending_contracts_2016_resflag.csv</a:t>
                      </a: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Src</a:t>
                      </a:r>
                      <a:r>
                        <a:rPr lang="en-US" sz="1200"/>
                        <a:t>/</a:t>
                      </a:r>
                      <a:r>
                        <a:rPr lang="en-US" sz="1200" err="1"/>
                        <a:t>combining_all_contracts.R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</a:t>
                      </a:r>
                      <a:r>
                        <a:rPr lang="en-US" sz="1200" b="0" i="0" u="none" strike="noStrike" noProof="0" err="1">
                          <a:latin typeface="Calibri"/>
                        </a:rPr>
                        <a:t>combined_usa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-spending/usa-spending_contracts_2016_resflag.csv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This file does not take PSC codes properly into account. The file usa-spending_contracts_2016_resflag_new.csv fixes this problem.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437681"/>
                  </a:ext>
                </a:extLst>
              </a:tr>
              <a:tr h="3200400">
                <a:tc>
                  <a:txBody>
                    <a:bodyPr/>
                    <a:lstStyle/>
                    <a:p>
                      <a:r>
                        <a:rPr lang="en-US" sz="1200"/>
                        <a:t>Combine grants back together into one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 ...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usda_usa-spending_grants_2016_matchflag.csv</a:t>
                      </a:r>
                    </a:p>
                    <a:p>
                      <a:pPr marL="0" lvl="0" indent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</a:t>
                      </a:r>
                      <a:r>
                        <a:rPr lang="en-US" sz="1200" b="0" i="0" u="none" strike="noStrike" noProof="0" err="1">
                          <a:latin typeface="Calibri"/>
                        </a:rPr>
                        <a:t>combine_by_department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/ ...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DOD/dod_usa_spending_grants_2016_resflag.csv</a:t>
                      </a:r>
                      <a:endParaRPr lang="en-US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NASA/nasa_usa-spending_grants_2016_matchflag.csv</a:t>
                      </a:r>
                      <a:endParaRPr lang="en-US" sz="1200" b="0" i="0" u="none" strike="noStrike" noProof="0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NIH/nih_usa-spending_grants_2016_matchflag.csv</a:t>
                      </a: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NSF/nsf_usa-spending_grants_2016_matchflag.csv</a:t>
                      </a:r>
                      <a:endParaRPr lang="en-US" sz="1200" b="0" i="0" u="none" strike="noStrike" noProof="0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DOE/doe_usa-spending_grants_2016.csv</a:t>
                      </a:r>
                      <a:endParaRPr lang="en-US" sz="12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src</a:t>
                      </a:r>
                      <a:r>
                        <a:rPr lang="en-US" sz="1200"/>
                        <a:t>/</a:t>
                      </a:r>
                      <a:r>
                        <a:rPr lang="en-US" sz="1200" err="1"/>
                        <a:t>combining_all_grants.R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</a:t>
                      </a:r>
                      <a:r>
                        <a:rPr lang="en-US" sz="1200" b="0" i="0" u="none" strike="noStrike" noProof="0" err="1">
                          <a:latin typeface="Calibri"/>
                        </a:rPr>
                        <a:t>combined_usa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-spending/usa_spending_grants_2016_matchflag.csv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310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C98E5C0-3E28-D845-81F1-91EDE7034F02}"/>
              </a:ext>
            </a:extLst>
          </p:cNvPr>
          <p:cNvSpPr txBox="1"/>
          <p:nvPr/>
        </p:nvSpPr>
        <p:spPr>
          <a:xfrm>
            <a:off x="346213" y="278296"/>
            <a:ext cx="11499574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2.2 </a:t>
            </a:r>
            <a:r>
              <a:rPr lang="en-US">
                <a:ea typeface="+mn-lt"/>
                <a:cs typeface="+mn-lt"/>
              </a:rPr>
              <a:t>Determine which grants were S&amp;E 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883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DA44824-2CE5-A54D-81F3-0DFA95FADD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51277497"/>
              </p:ext>
            </p:extLst>
          </p:nvPr>
        </p:nvGraphicFramePr>
        <p:xfrm>
          <a:off x="0" y="914400"/>
          <a:ext cx="12192000" cy="95726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3843">
                  <a:extLst>
                    <a:ext uri="{9D8B030D-6E8A-4147-A177-3AD203B41FA5}">
                      <a16:colId xmlns:a16="http://schemas.microsoft.com/office/drawing/2014/main" val="1352491661"/>
                    </a:ext>
                  </a:extLst>
                </a:gridCol>
                <a:gridCol w="3076635">
                  <a:extLst>
                    <a:ext uri="{9D8B030D-6E8A-4147-A177-3AD203B41FA5}">
                      <a16:colId xmlns:a16="http://schemas.microsoft.com/office/drawing/2014/main" val="3130510922"/>
                    </a:ext>
                  </a:extLst>
                </a:gridCol>
                <a:gridCol w="834357">
                  <a:extLst>
                    <a:ext uri="{9D8B030D-6E8A-4147-A177-3AD203B41FA5}">
                      <a16:colId xmlns:a16="http://schemas.microsoft.com/office/drawing/2014/main" val="1636284579"/>
                    </a:ext>
                  </a:extLst>
                </a:gridCol>
                <a:gridCol w="2145611">
                  <a:extLst>
                    <a:ext uri="{9D8B030D-6E8A-4147-A177-3AD203B41FA5}">
                      <a16:colId xmlns:a16="http://schemas.microsoft.com/office/drawing/2014/main" val="2195260392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3536091448"/>
                    </a:ext>
                  </a:extLst>
                </a:gridCol>
                <a:gridCol w="2195777">
                  <a:extLst>
                    <a:ext uri="{9D8B030D-6E8A-4147-A177-3AD203B41FA5}">
                      <a16:colId xmlns:a16="http://schemas.microsoft.com/office/drawing/2014/main" val="4195063144"/>
                    </a:ext>
                  </a:extLst>
                </a:gridCol>
              </a:tblGrid>
              <a:tr h="278430">
                <a:tc>
                  <a:txBody>
                    <a:bodyPr/>
                    <a:lstStyle/>
                    <a:p>
                      <a:r>
                        <a:rPr lang="en-US" sz="140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06176"/>
                  </a:ext>
                </a:extLst>
              </a:tr>
              <a:tr h="1230439">
                <a:tc>
                  <a:txBody>
                    <a:bodyPr/>
                    <a:lstStyle/>
                    <a:p>
                      <a:r>
                        <a:rPr lang="en-US" sz="1200"/>
                        <a:t>Initial benchmarking that used Federal Reporter matching and CFDA codes for higher 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data/working/combined_usa_spending/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usa-spending_grants_2016_matchflag.csv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.../</a:t>
                      </a:r>
                      <a:r>
                        <a:rPr lang="en-US" sz="1200" b="0" i="0" u="none" strike="noStrike" noProof="0"/>
                        <a:t>usa-spending_contracts_2016_resflag_new.csv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/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data/original/</a:t>
                      </a:r>
                      <a:r>
                        <a:rPr lang="en-US" sz="1200" b="0" i="0" u="none" strike="noStrike" noProof="0">
                          <a:latin typeface="Calibri"/>
                        </a:rPr>
                        <a:t>fy16_highered_obligation_benchmark.csv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</a:t>
                      </a:r>
                      <a:r>
                        <a:rPr lang="en-US" sz="1200" b="0" i="0" u="none" strike="noStrike" noProof="0"/>
                        <a:t>cfda_isSNE_initial.csv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/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data/working/2016-data_multiple_usa-spending_transaction_grants-only_highered-only.csv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/>
                        <a:t>.../2016-data_multiple_usa-spending_transaction_contracts-only_highered-only.csv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src/benchmarking/initial_benchmark.R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src/benchmarking/initial_benchmark_summary.csv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Also benchmarking bar plots and mosaic plots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 didn't wind up using these numbers, but might be helpful if we return to this strategy in the future.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437681"/>
                  </a:ext>
                </a:extLst>
              </a:tr>
              <a:tr h="1398226">
                <a:tc>
                  <a:txBody>
                    <a:bodyPr/>
                    <a:lstStyle/>
                    <a:p>
                      <a:r>
                        <a:rPr lang="en-US" sz="1200"/>
                        <a:t>Final benchmarking that only included CFDA codes for higher 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data/working/combined_usa_spending/usa-spending_grants_2016_matchflag.csv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.../usa-spending_contracts_2016_resflag_new.csv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data/original/fy16_highered_obligation_benchmark.csv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data/working/cfda_isSNE_initial.csv</a:t>
                      </a:r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data/working/2016-data_multiple_usa-spending_transaction_grants-only_highered-only.csv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latin typeface="Calibri"/>
                        </a:rPr>
                        <a:t>.../2016-data_multiple_usa-spending_transaction_contracts-only_highered-only.csv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src/benchmarking/only_cfda_benchmark.R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Nothing written out within the file, but there is a summary table that could be exported.</a:t>
                      </a:r>
                    </a:p>
                    <a:p>
                      <a:pPr lvl="0">
                        <a:buNone/>
                      </a:pPr>
                      <a:endParaRPr lang="en-US" sz="1200"/>
                    </a:p>
                    <a:p>
                      <a:pPr lvl="0">
                        <a:buNone/>
                      </a:pPr>
                      <a:r>
                        <a:rPr lang="en-US" sz="1200"/>
                        <a:t>Benchmarking bar plot and mosaic plots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31062"/>
                  </a:ext>
                </a:extLst>
              </a:tr>
              <a:tr h="139822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39605"/>
                  </a:ext>
                </a:extLst>
              </a:tr>
              <a:tr h="1621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771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C98E5C0-3E28-D845-81F1-91EDE7034F02}"/>
              </a:ext>
            </a:extLst>
          </p:cNvPr>
          <p:cNvSpPr txBox="1"/>
          <p:nvPr/>
        </p:nvSpPr>
        <p:spPr>
          <a:xfrm>
            <a:off x="346213" y="278296"/>
            <a:ext cx="1149957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3. Summarizing, analyzing, and visualizing the data</a:t>
            </a:r>
          </a:p>
        </p:txBody>
      </p:sp>
    </p:spTree>
    <p:extLst>
      <p:ext uri="{BB962C8B-B14F-4D97-AF65-F5344CB8AC3E}">
        <p14:creationId xmlns:p14="http://schemas.microsoft.com/office/powerpoint/2010/main" val="3640021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D58B42F9-47C3-4B26-B2C2-46DB29DFE488}"/>
</file>

<file path=customXml/itemProps2.xml><?xml version="1.0" encoding="utf-8"?>
<ds:datastoreItem xmlns:ds="http://schemas.openxmlformats.org/officeDocument/2006/customXml" ds:itemID="{DBCCDB6D-4DE1-4262-82AB-907AE9DCE949}"/>
</file>

<file path=customXml/itemProps3.xml><?xml version="1.0" encoding="utf-8"?>
<ds:datastoreItem xmlns:ds="http://schemas.openxmlformats.org/officeDocument/2006/customXml" ds:itemID="{14E58DBA-BB20-4190-8DE1-E252453F6A02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Documentation Checklist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Documentation Checklist</dc:title>
  <dc:creator>Nair, Devika Tara (dtn2ep)</dc:creator>
  <cp:revision>1</cp:revision>
  <dcterms:created xsi:type="dcterms:W3CDTF">2019-08-07T13:00:35Z</dcterms:created>
  <dcterms:modified xsi:type="dcterms:W3CDTF">2019-08-08T21:46:48Z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