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1.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2.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3.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6.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drawings/drawing1.xml" ContentType="application/vnd.openxmlformats-officedocument.drawingml.chartshape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22.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5"/>
  </p:sldMasterIdLst>
  <p:notesMasterIdLst>
    <p:notesMasterId r:id="rId33"/>
  </p:notesMasterIdLst>
  <p:handoutMasterIdLst>
    <p:handoutMasterId r:id="rId34"/>
  </p:handoutMasterIdLst>
  <p:sldIdLst>
    <p:sldId id="261" r:id="rId6"/>
    <p:sldId id="352" r:id="rId7"/>
    <p:sldId id="347" r:id="rId8"/>
    <p:sldId id="304" r:id="rId9"/>
    <p:sldId id="311" r:id="rId10"/>
    <p:sldId id="265" r:id="rId11"/>
    <p:sldId id="353" r:id="rId12"/>
    <p:sldId id="350" r:id="rId13"/>
    <p:sldId id="305" r:id="rId14"/>
    <p:sldId id="321" r:id="rId15"/>
    <p:sldId id="320" r:id="rId16"/>
    <p:sldId id="324" r:id="rId17"/>
    <p:sldId id="343" r:id="rId18"/>
    <p:sldId id="328" r:id="rId19"/>
    <p:sldId id="330" r:id="rId20"/>
    <p:sldId id="316" r:id="rId21"/>
    <p:sldId id="351" r:id="rId22"/>
    <p:sldId id="332" r:id="rId23"/>
    <p:sldId id="333" r:id="rId24"/>
    <p:sldId id="315" r:id="rId25"/>
    <p:sldId id="341" r:id="rId26"/>
    <p:sldId id="340" r:id="rId27"/>
    <p:sldId id="325" r:id="rId28"/>
    <p:sldId id="335" r:id="rId29"/>
    <p:sldId id="334" r:id="rId30"/>
    <p:sldId id="322" r:id="rId31"/>
    <p:sldId id="301" r:id="rId32"/>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768">
          <p15:clr>
            <a:srgbClr val="A4A3A4"/>
          </p15:clr>
        </p15:guide>
        <p15:guide id="2" pos="57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EA5E42"/>
    <a:srgbClr val="FF6699"/>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03" autoAdjust="0"/>
    <p:restoredTop sz="96702" autoAdjust="0"/>
  </p:normalViewPr>
  <p:slideViewPr>
    <p:cSldViewPr>
      <p:cViewPr varScale="1">
        <p:scale>
          <a:sx n="126" d="100"/>
          <a:sy n="126" d="100"/>
        </p:scale>
        <p:origin x="1620" y="120"/>
      </p:cViewPr>
      <p:guideLst>
        <p:guide orient="horz" pos="768"/>
        <p:guide pos="576"/>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1440"/>
    </p:cViewPr>
  </p:sorterViewPr>
  <p:notesViewPr>
    <p:cSldViewPr>
      <p:cViewPr varScale="1">
        <p:scale>
          <a:sx n="94" d="100"/>
          <a:sy n="94" d="100"/>
        </p:scale>
        <p:origin x="3642"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JJANKOWS\Pictures\AAAS%20Jankowski2.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JJANKOWS\AppData\Roaming\Microsoft\Excel\AAAS%20Jankowski%20(version%202).xlsb"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ad.nsf.gov\NSF\Users\JJANKOWS\PPUSER\Powerpnt\World%20BRDIS.xlsx" TargetMode="Externa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chartUserShapes" Target="../drawings/drawing1.xml"/></Relationships>
</file>

<file path=ppt/charts/_rels/chart16.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ad.nsf.gov\NSF\Users\JJANKOWS\PPUSER\Powerpnt\RandD%20Researcher.xlsx" TargetMode="External"/><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793-4BA4-8CFF-FF708BBE2EF4}"/>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793-4BA4-8CFF-FF708BBE2EF4}"/>
              </c:ext>
            </c:extLst>
          </c:dPt>
          <c:dPt>
            <c:idx val="2"/>
            <c:bubble3D val="0"/>
            <c:spPr>
              <a:solidFill>
                <a:schemeClr val="accent6">
                  <a:lumMod val="60000"/>
                  <a:lumOff val="4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2793-4BA4-8CFF-FF708BBE2EF4}"/>
              </c:ext>
            </c:extLst>
          </c:dPt>
          <c:dPt>
            <c:idx val="3"/>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7-2793-4BA4-8CFF-FF708BBE2EF4}"/>
              </c:ext>
            </c:extLst>
          </c:dPt>
          <c:dPt>
            <c:idx val="4"/>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2793-4BA4-8CFF-FF708BBE2EF4}"/>
              </c:ext>
            </c:extLst>
          </c:dPt>
          <c:cat>
            <c:strRef>
              <c:f>Total!$I$17:$I$21</c:f>
              <c:strCache>
                <c:ptCount val="5"/>
                <c:pt idx="0">
                  <c:v>Business</c:v>
                </c:pt>
                <c:pt idx="1">
                  <c:v>Federal government</c:v>
                </c:pt>
                <c:pt idx="2">
                  <c:v>FFRDCs</c:v>
                </c:pt>
                <c:pt idx="3">
                  <c:v>Higher education</c:v>
                </c:pt>
                <c:pt idx="4">
                  <c:v>Other nonprofit organizations</c:v>
                </c:pt>
              </c:strCache>
            </c:strRef>
          </c:cat>
          <c:val>
            <c:numRef>
              <c:f>Total!$J$17:$J$21</c:f>
              <c:numCache>
                <c:formatCode>_#0.0</c:formatCode>
                <c:ptCount val="5"/>
                <c:pt idx="0">
                  <c:v>71.3</c:v>
                </c:pt>
                <c:pt idx="1">
                  <c:v>7.5</c:v>
                </c:pt>
                <c:pt idx="2">
                  <c:v>3.8</c:v>
                </c:pt>
                <c:pt idx="3">
                  <c:v>13.2</c:v>
                </c:pt>
                <c:pt idx="4">
                  <c:v>4</c:v>
                </c:pt>
              </c:numCache>
            </c:numRef>
          </c:val>
          <c:extLst>
            <c:ext xmlns:c16="http://schemas.microsoft.com/office/drawing/2014/chart" uri="{C3380CC4-5D6E-409C-BE32-E72D297353CC}">
              <c16:uniqueId val="{0000000A-2793-4BA4-8CFF-FF708BBE2EF4}"/>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BF0B-461E-AE39-F8CF6F62A0D7}"/>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BF0B-461E-AE39-F8CF6F62A0D7}"/>
              </c:ext>
            </c:extLst>
          </c:dPt>
          <c:dPt>
            <c:idx val="2"/>
            <c:bubble3D val="0"/>
            <c:spPr>
              <a:solidFill>
                <a:srgbClr val="00B0F0"/>
              </a:solidFill>
              <a:ln w="25400">
                <a:solidFill>
                  <a:schemeClr val="lt1"/>
                </a:solidFill>
              </a:ln>
              <a:effectLst/>
              <a:sp3d contourW="25400">
                <a:contourClr>
                  <a:schemeClr val="lt1"/>
                </a:contourClr>
              </a:sp3d>
            </c:spPr>
            <c:extLst>
              <c:ext xmlns:c16="http://schemas.microsoft.com/office/drawing/2014/chart" uri="{C3380CC4-5D6E-409C-BE32-E72D297353CC}">
                <c16:uniqueId val="{00000005-BF0B-461E-AE39-F8CF6F62A0D7}"/>
              </c:ext>
            </c:extLst>
          </c:dPt>
          <c:dPt>
            <c:idx val="3"/>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7-BF0B-461E-AE39-F8CF6F62A0D7}"/>
              </c:ext>
            </c:extLst>
          </c:dPt>
          <c:dPt>
            <c:idx val="4"/>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BF0B-461E-AE39-F8CF6F62A0D7}"/>
              </c:ext>
            </c:extLst>
          </c:dPt>
          <c:cat>
            <c:strRef>
              <c:f>Total!$T$18:$T$22</c:f>
              <c:strCache>
                <c:ptCount val="5"/>
                <c:pt idx="0">
                  <c:v>Business</c:v>
                </c:pt>
                <c:pt idx="1">
                  <c:v>Federal government</c:v>
                </c:pt>
                <c:pt idx="2">
                  <c:v>Nonfederal government</c:v>
                </c:pt>
                <c:pt idx="3">
                  <c:v>Higher education</c:v>
                </c:pt>
                <c:pt idx="4">
                  <c:v>Other nonprofit organizations</c:v>
                </c:pt>
              </c:strCache>
            </c:strRef>
          </c:cat>
          <c:val>
            <c:numRef>
              <c:f>Total!$U$18:$U$22</c:f>
              <c:numCache>
                <c:formatCode>_#0.0</c:formatCode>
                <c:ptCount val="5"/>
                <c:pt idx="0">
                  <c:v>67.400000000000006</c:v>
                </c:pt>
                <c:pt idx="1">
                  <c:v>24.1</c:v>
                </c:pt>
                <c:pt idx="2">
                  <c:v>0.9</c:v>
                </c:pt>
                <c:pt idx="3">
                  <c:v>3.7</c:v>
                </c:pt>
                <c:pt idx="4">
                  <c:v>4</c:v>
                </c:pt>
              </c:numCache>
            </c:numRef>
          </c:val>
          <c:extLst>
            <c:ext xmlns:c16="http://schemas.microsoft.com/office/drawing/2014/chart" uri="{C3380CC4-5D6E-409C-BE32-E72D297353CC}">
              <c16:uniqueId val="{0000000A-BF0B-461E-AE39-F8CF6F62A0D7}"/>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3084289391144869E-2"/>
          <c:y val="5.9320720426158019E-2"/>
          <c:w val="0.93383142121771023"/>
          <c:h val="0.88135855914768402"/>
        </c:manualLayout>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BE69-4F45-B631-665E702D3E1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BE69-4F45-B631-665E702D3E15}"/>
              </c:ext>
            </c:extLst>
          </c:dPt>
          <c:dPt>
            <c:idx val="2"/>
            <c:bubble3D val="0"/>
            <c:spPr>
              <a:solidFill>
                <a:schemeClr val="accent2">
                  <a:lumMod val="60000"/>
                  <a:lumOff val="4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BE69-4F45-B631-665E702D3E1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BE69-4F45-B631-665E702D3E15}"/>
              </c:ext>
            </c:extLst>
          </c:dPt>
          <c:dPt>
            <c:idx val="4"/>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BE69-4F45-B631-665E702D3E15}"/>
              </c:ext>
            </c:extLst>
          </c:dPt>
          <c:dPt>
            <c:idx val="5"/>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B-BE69-4F45-B631-665E702D3E15}"/>
              </c:ext>
            </c:extLst>
          </c:dPt>
          <c:cat>
            <c:strRef>
              <c:f>Basic!$A$1:$A$6</c:f>
              <c:strCache>
                <c:ptCount val="6"/>
                <c:pt idx="0">
                  <c:v>Business</c:v>
                </c:pt>
                <c:pt idx="1">
                  <c:v>Federal government</c:v>
                </c:pt>
                <c:pt idx="2">
                  <c:v>FFRDCs</c:v>
                </c:pt>
                <c:pt idx="3">
                  <c:v>Nonfederal government</c:v>
                </c:pt>
                <c:pt idx="4">
                  <c:v>Higher education</c:v>
                </c:pt>
                <c:pt idx="5">
                  <c:v>Other nonprofit organizations</c:v>
                </c:pt>
              </c:strCache>
            </c:strRef>
          </c:cat>
          <c:val>
            <c:numRef>
              <c:f>Basic!$B$1:$B$6</c:f>
              <c:numCache>
                <c:formatCode>_#0.0</c:formatCode>
                <c:ptCount val="6"/>
                <c:pt idx="0">
                  <c:v>25.8</c:v>
                </c:pt>
                <c:pt idx="1">
                  <c:v>7.3</c:v>
                </c:pt>
                <c:pt idx="2">
                  <c:v>5</c:v>
                </c:pt>
                <c:pt idx="3">
                  <c:v>0.1</c:v>
                </c:pt>
                <c:pt idx="4">
                  <c:v>49</c:v>
                </c:pt>
                <c:pt idx="5">
                  <c:v>12.7</c:v>
                </c:pt>
              </c:numCache>
            </c:numRef>
          </c:val>
          <c:extLst>
            <c:ext xmlns:c16="http://schemas.microsoft.com/office/drawing/2014/chart" uri="{C3380CC4-5D6E-409C-BE32-E72D297353CC}">
              <c16:uniqueId val="{0000000C-BE69-4F45-B631-665E702D3E15}"/>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4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E8D-40B4-846E-2EFE000D37B8}"/>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E8D-40B4-846E-2EFE000D37B8}"/>
              </c:ext>
            </c:extLst>
          </c:dPt>
          <c:dPt>
            <c:idx val="2"/>
            <c:bubble3D val="0"/>
            <c:spPr>
              <a:solidFill>
                <a:srgbClr val="00B0F0"/>
              </a:solidFill>
              <a:ln w="25400">
                <a:solidFill>
                  <a:schemeClr val="lt1"/>
                </a:solidFill>
              </a:ln>
              <a:effectLst/>
              <a:sp3d contourW="25400">
                <a:contourClr>
                  <a:schemeClr val="lt1"/>
                </a:contourClr>
              </a:sp3d>
            </c:spPr>
            <c:extLst>
              <c:ext xmlns:c16="http://schemas.microsoft.com/office/drawing/2014/chart" uri="{C3380CC4-5D6E-409C-BE32-E72D297353CC}">
                <c16:uniqueId val="{00000005-CE8D-40B4-846E-2EFE000D37B8}"/>
              </c:ext>
            </c:extLst>
          </c:dPt>
          <c:dPt>
            <c:idx val="3"/>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7-CE8D-40B4-846E-2EFE000D37B8}"/>
              </c:ext>
            </c:extLst>
          </c:dPt>
          <c:dPt>
            <c:idx val="4"/>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CE8D-40B4-846E-2EFE000D37B8}"/>
              </c:ext>
            </c:extLst>
          </c:dPt>
          <c:cat>
            <c:strRef>
              <c:f>Basic!$E$1:$E$5</c:f>
              <c:strCache>
                <c:ptCount val="5"/>
                <c:pt idx="0">
                  <c:v>Business</c:v>
                </c:pt>
                <c:pt idx="1">
                  <c:v>Federal government</c:v>
                </c:pt>
                <c:pt idx="2">
                  <c:v>Nonfederal government</c:v>
                </c:pt>
                <c:pt idx="3">
                  <c:v>Higher education</c:v>
                </c:pt>
                <c:pt idx="4">
                  <c:v>Other nonprofit organizations</c:v>
                </c:pt>
              </c:strCache>
            </c:strRef>
          </c:cat>
          <c:val>
            <c:numRef>
              <c:f>Basic!$F$1:$F$5</c:f>
              <c:numCache>
                <c:formatCode>_#0.0</c:formatCode>
                <c:ptCount val="5"/>
                <c:pt idx="0">
                  <c:v>27.2</c:v>
                </c:pt>
                <c:pt idx="1">
                  <c:v>43.5</c:v>
                </c:pt>
                <c:pt idx="2">
                  <c:v>2.8</c:v>
                </c:pt>
                <c:pt idx="3">
                  <c:v>13.6</c:v>
                </c:pt>
                <c:pt idx="4">
                  <c:v>12.9</c:v>
                </c:pt>
              </c:numCache>
            </c:numRef>
          </c:val>
          <c:extLst>
            <c:ext xmlns:c16="http://schemas.microsoft.com/office/drawing/2014/chart" uri="{C3380CC4-5D6E-409C-BE32-E72D297353CC}">
              <c16:uniqueId val="{0000000A-CE8D-40B4-846E-2EFE000D37B8}"/>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'Time series'!$B$17</c:f>
              <c:strCache>
                <c:ptCount val="1"/>
                <c:pt idx="0">
                  <c:v>Total</c:v>
                </c:pt>
              </c:strCache>
            </c:strRef>
          </c:tx>
          <c:spPr>
            <a:ln w="28575" cap="rnd">
              <a:solidFill>
                <a:schemeClr val="tx2"/>
              </a:solidFill>
              <a:round/>
            </a:ln>
            <a:effectLst/>
          </c:spPr>
          <c:marker>
            <c:symbol val="none"/>
          </c:marker>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series'!$B$18:$B$68</c:f>
              <c:numCache>
                <c:formatCode>#,##0.00</c:formatCode>
                <c:ptCount val="51"/>
                <c:pt idx="0">
                  <c:v>2.72</c:v>
                </c:pt>
                <c:pt idx="1">
                  <c:v>2.71</c:v>
                </c:pt>
                <c:pt idx="2">
                  <c:v>2.71</c:v>
                </c:pt>
                <c:pt idx="3">
                  <c:v>2.62</c:v>
                </c:pt>
                <c:pt idx="4">
                  <c:v>2.5499999999999998</c:v>
                </c:pt>
                <c:pt idx="5">
                  <c:v>2.44</c:v>
                </c:pt>
                <c:pt idx="6">
                  <c:v>2.31</c:v>
                </c:pt>
                <c:pt idx="7">
                  <c:v>2.2400000000000002</c:v>
                </c:pt>
                <c:pt idx="8">
                  <c:v>2.17</c:v>
                </c:pt>
                <c:pt idx="9">
                  <c:v>2.15</c:v>
                </c:pt>
                <c:pt idx="10">
                  <c:v>2.11</c:v>
                </c:pt>
                <c:pt idx="11">
                  <c:v>2.1</c:v>
                </c:pt>
                <c:pt idx="12">
                  <c:v>2.08</c:v>
                </c:pt>
                <c:pt idx="13">
                  <c:v>2.0699999999999998</c:v>
                </c:pt>
                <c:pt idx="14">
                  <c:v>2.1</c:v>
                </c:pt>
                <c:pt idx="15">
                  <c:v>2.21</c:v>
                </c:pt>
                <c:pt idx="16">
                  <c:v>2.25</c:v>
                </c:pt>
                <c:pt idx="17">
                  <c:v>2.41</c:v>
                </c:pt>
                <c:pt idx="18">
                  <c:v>2.4700000000000002</c:v>
                </c:pt>
                <c:pt idx="19">
                  <c:v>2.5299999999999998</c:v>
                </c:pt>
                <c:pt idx="20">
                  <c:v>2.64</c:v>
                </c:pt>
                <c:pt idx="21">
                  <c:v>2.62</c:v>
                </c:pt>
                <c:pt idx="22">
                  <c:v>2.59</c:v>
                </c:pt>
                <c:pt idx="23">
                  <c:v>2.5499999999999998</c:v>
                </c:pt>
                <c:pt idx="24">
                  <c:v>2.5099999999999998</c:v>
                </c:pt>
                <c:pt idx="25">
                  <c:v>2.54</c:v>
                </c:pt>
                <c:pt idx="26">
                  <c:v>2.61</c:v>
                </c:pt>
                <c:pt idx="27">
                  <c:v>2.5299999999999998</c:v>
                </c:pt>
                <c:pt idx="28">
                  <c:v>2.41</c:v>
                </c:pt>
                <c:pt idx="29">
                  <c:v>2.3199999999999998</c:v>
                </c:pt>
                <c:pt idx="30">
                  <c:v>2.4</c:v>
                </c:pt>
                <c:pt idx="31">
                  <c:v>2.44</c:v>
                </c:pt>
                <c:pt idx="32">
                  <c:v>2.46</c:v>
                </c:pt>
                <c:pt idx="33">
                  <c:v>2.48</c:v>
                </c:pt>
                <c:pt idx="34">
                  <c:v>2.5299999999999998</c:v>
                </c:pt>
                <c:pt idx="35">
                  <c:v>2.61</c:v>
                </c:pt>
                <c:pt idx="36">
                  <c:v>2.62</c:v>
                </c:pt>
                <c:pt idx="37">
                  <c:v>2.5299999999999998</c:v>
                </c:pt>
                <c:pt idx="38">
                  <c:v>2.5299999999999998</c:v>
                </c:pt>
                <c:pt idx="39">
                  <c:v>2.4700000000000002</c:v>
                </c:pt>
                <c:pt idx="40">
                  <c:v>2.48</c:v>
                </c:pt>
                <c:pt idx="41">
                  <c:v>2.5299999999999998</c:v>
                </c:pt>
                <c:pt idx="42">
                  <c:v>2.61</c:v>
                </c:pt>
                <c:pt idx="43">
                  <c:v>2.75</c:v>
                </c:pt>
                <c:pt idx="44">
                  <c:v>2.79</c:v>
                </c:pt>
                <c:pt idx="45">
                  <c:v>2.72</c:v>
                </c:pt>
                <c:pt idx="46">
                  <c:v>2.75</c:v>
                </c:pt>
                <c:pt idx="47">
                  <c:v>2.68</c:v>
                </c:pt>
                <c:pt idx="48">
                  <c:v>2.72</c:v>
                </c:pt>
                <c:pt idx="49">
                  <c:v>2.73</c:v>
                </c:pt>
                <c:pt idx="50">
                  <c:v>2.73</c:v>
                </c:pt>
              </c:numCache>
            </c:numRef>
          </c:val>
          <c:smooth val="0"/>
          <c:extLst>
            <c:ext xmlns:c16="http://schemas.microsoft.com/office/drawing/2014/chart" uri="{C3380CC4-5D6E-409C-BE32-E72D297353CC}">
              <c16:uniqueId val="{00000000-D3A4-4FEC-B864-313790A4881F}"/>
            </c:ext>
          </c:extLst>
        </c:ser>
        <c:ser>
          <c:idx val="1"/>
          <c:order val="1"/>
          <c:tx>
            <c:strRef>
              <c:f>'Time series'!$C$17</c:f>
              <c:strCache>
                <c:ptCount val="1"/>
                <c:pt idx="0">
                  <c:v>Federally funded</c:v>
                </c:pt>
              </c:strCache>
            </c:strRef>
          </c:tx>
          <c:spPr>
            <a:ln w="28575" cap="rnd">
              <a:solidFill>
                <a:schemeClr val="accent2"/>
              </a:solidFill>
              <a:round/>
            </a:ln>
            <a:effectLst/>
          </c:spPr>
          <c:marker>
            <c:symbol val="none"/>
          </c:marker>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series'!$C$18:$C$68</c:f>
              <c:numCache>
                <c:formatCode>#,##0.00</c:formatCode>
                <c:ptCount val="51"/>
                <c:pt idx="0">
                  <c:v>1.77</c:v>
                </c:pt>
                <c:pt idx="1">
                  <c:v>1.74</c:v>
                </c:pt>
                <c:pt idx="2">
                  <c:v>1.69</c:v>
                </c:pt>
                <c:pt idx="3">
                  <c:v>1.59</c:v>
                </c:pt>
                <c:pt idx="4">
                  <c:v>1.49</c:v>
                </c:pt>
                <c:pt idx="5">
                  <c:v>1.39</c:v>
                </c:pt>
                <c:pt idx="6">
                  <c:v>1.3</c:v>
                </c:pt>
                <c:pt idx="7">
                  <c:v>1.25</c:v>
                </c:pt>
                <c:pt idx="8">
                  <c:v>1.1599999999999999</c:v>
                </c:pt>
                <c:pt idx="9">
                  <c:v>1.1200000000000001</c:v>
                </c:pt>
                <c:pt idx="10">
                  <c:v>1.1000000000000001</c:v>
                </c:pt>
                <c:pt idx="11">
                  <c:v>1.08</c:v>
                </c:pt>
                <c:pt idx="12">
                  <c:v>1.06</c:v>
                </c:pt>
                <c:pt idx="13">
                  <c:v>1.04</c:v>
                </c:pt>
                <c:pt idx="14">
                  <c:v>1.03</c:v>
                </c:pt>
                <c:pt idx="15">
                  <c:v>1.05</c:v>
                </c:pt>
                <c:pt idx="16">
                  <c:v>1.05</c:v>
                </c:pt>
                <c:pt idx="17">
                  <c:v>1.1100000000000001</c:v>
                </c:pt>
                <c:pt idx="18">
                  <c:v>1.1399999999999999</c:v>
                </c:pt>
                <c:pt idx="19">
                  <c:v>1.1499999999999999</c:v>
                </c:pt>
                <c:pt idx="20">
                  <c:v>1.21</c:v>
                </c:pt>
                <c:pt idx="21">
                  <c:v>1.19</c:v>
                </c:pt>
                <c:pt idx="22">
                  <c:v>1.2</c:v>
                </c:pt>
                <c:pt idx="23">
                  <c:v>1.1399999999999999</c:v>
                </c:pt>
                <c:pt idx="24">
                  <c:v>1.07</c:v>
                </c:pt>
                <c:pt idx="25">
                  <c:v>1.03</c:v>
                </c:pt>
                <c:pt idx="26">
                  <c:v>0.98</c:v>
                </c:pt>
                <c:pt idx="27">
                  <c:v>0.93</c:v>
                </c:pt>
                <c:pt idx="28">
                  <c:v>0.88</c:v>
                </c:pt>
                <c:pt idx="29">
                  <c:v>0.83</c:v>
                </c:pt>
                <c:pt idx="30">
                  <c:v>0.82</c:v>
                </c:pt>
                <c:pt idx="31">
                  <c:v>0.78</c:v>
                </c:pt>
                <c:pt idx="32">
                  <c:v>0.75</c:v>
                </c:pt>
                <c:pt idx="33">
                  <c:v>0.73</c:v>
                </c:pt>
                <c:pt idx="34">
                  <c:v>0.69</c:v>
                </c:pt>
                <c:pt idx="35">
                  <c:v>0.65</c:v>
                </c:pt>
                <c:pt idx="36">
                  <c:v>0.69</c:v>
                </c:pt>
                <c:pt idx="37">
                  <c:v>0.72</c:v>
                </c:pt>
                <c:pt idx="38">
                  <c:v>0.74</c:v>
                </c:pt>
                <c:pt idx="39">
                  <c:v>0.74</c:v>
                </c:pt>
                <c:pt idx="40">
                  <c:v>0.73</c:v>
                </c:pt>
                <c:pt idx="41">
                  <c:v>0.72</c:v>
                </c:pt>
                <c:pt idx="42">
                  <c:v>0.73</c:v>
                </c:pt>
                <c:pt idx="43">
                  <c:v>0.8</c:v>
                </c:pt>
                <c:pt idx="44">
                  <c:v>0.87</c:v>
                </c:pt>
                <c:pt idx="45">
                  <c:v>0.85</c:v>
                </c:pt>
                <c:pt idx="46">
                  <c:v>0.82</c:v>
                </c:pt>
                <c:pt idx="47">
                  <c:v>0.77</c:v>
                </c:pt>
                <c:pt idx="48">
                  <c:v>0.72</c:v>
                </c:pt>
                <c:pt idx="49">
                  <c:v>0.68</c:v>
                </c:pt>
                <c:pt idx="50">
                  <c:v>0.67</c:v>
                </c:pt>
              </c:numCache>
            </c:numRef>
          </c:val>
          <c:smooth val="0"/>
          <c:extLst>
            <c:ext xmlns:c16="http://schemas.microsoft.com/office/drawing/2014/chart" uri="{C3380CC4-5D6E-409C-BE32-E72D297353CC}">
              <c16:uniqueId val="{00000001-D3A4-4FEC-B864-313790A4881F}"/>
            </c:ext>
          </c:extLst>
        </c:ser>
        <c:ser>
          <c:idx val="2"/>
          <c:order val="2"/>
          <c:tx>
            <c:strRef>
              <c:f>'Time series'!$D$17</c:f>
              <c:strCache>
                <c:ptCount val="1"/>
                <c:pt idx="0">
                  <c:v>Business funded</c:v>
                </c:pt>
              </c:strCache>
            </c:strRef>
          </c:tx>
          <c:spPr>
            <a:ln w="28575" cap="rnd">
              <a:solidFill>
                <a:schemeClr val="accent1">
                  <a:lumMod val="75000"/>
                </a:schemeClr>
              </a:solidFill>
              <a:prstDash val="sysDash"/>
              <a:round/>
            </a:ln>
            <a:effectLst/>
          </c:spPr>
          <c:marker>
            <c:symbol val="none"/>
          </c:marker>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series'!$D$18:$D$68</c:f>
              <c:numCache>
                <c:formatCode>#,##0.00</c:formatCode>
                <c:ptCount val="51"/>
                <c:pt idx="0">
                  <c:v>0.88</c:v>
                </c:pt>
                <c:pt idx="1">
                  <c:v>0.9</c:v>
                </c:pt>
                <c:pt idx="2">
                  <c:v>0.95</c:v>
                </c:pt>
                <c:pt idx="3">
                  <c:v>0.96</c:v>
                </c:pt>
                <c:pt idx="4">
                  <c:v>0.98</c:v>
                </c:pt>
                <c:pt idx="5">
                  <c:v>0.97</c:v>
                </c:pt>
                <c:pt idx="6">
                  <c:v>0.93</c:v>
                </c:pt>
                <c:pt idx="7">
                  <c:v>0.91</c:v>
                </c:pt>
                <c:pt idx="8">
                  <c:v>0.93</c:v>
                </c:pt>
                <c:pt idx="9">
                  <c:v>0.96</c:v>
                </c:pt>
                <c:pt idx="10">
                  <c:v>0.94</c:v>
                </c:pt>
                <c:pt idx="11">
                  <c:v>0.94</c:v>
                </c:pt>
                <c:pt idx="12">
                  <c:v>0.94</c:v>
                </c:pt>
                <c:pt idx="13">
                  <c:v>0.95</c:v>
                </c:pt>
                <c:pt idx="14">
                  <c:v>0.99</c:v>
                </c:pt>
                <c:pt idx="15">
                  <c:v>1.08</c:v>
                </c:pt>
                <c:pt idx="16">
                  <c:v>1.1200000000000001</c:v>
                </c:pt>
                <c:pt idx="17">
                  <c:v>1.22</c:v>
                </c:pt>
                <c:pt idx="18">
                  <c:v>1.24</c:v>
                </c:pt>
                <c:pt idx="19">
                  <c:v>1.29</c:v>
                </c:pt>
                <c:pt idx="20">
                  <c:v>1.33</c:v>
                </c:pt>
                <c:pt idx="21">
                  <c:v>1.33</c:v>
                </c:pt>
                <c:pt idx="22">
                  <c:v>1.28</c:v>
                </c:pt>
                <c:pt idx="23">
                  <c:v>1.29</c:v>
                </c:pt>
                <c:pt idx="24">
                  <c:v>1.33</c:v>
                </c:pt>
                <c:pt idx="25">
                  <c:v>1.39</c:v>
                </c:pt>
                <c:pt idx="26">
                  <c:v>1.49</c:v>
                </c:pt>
                <c:pt idx="27">
                  <c:v>1.47</c:v>
                </c:pt>
                <c:pt idx="28">
                  <c:v>1.4</c:v>
                </c:pt>
                <c:pt idx="29">
                  <c:v>1.36</c:v>
                </c:pt>
                <c:pt idx="30">
                  <c:v>1.45</c:v>
                </c:pt>
                <c:pt idx="31">
                  <c:v>1.52</c:v>
                </c:pt>
                <c:pt idx="32">
                  <c:v>1.58</c:v>
                </c:pt>
                <c:pt idx="33">
                  <c:v>1.63</c:v>
                </c:pt>
                <c:pt idx="34">
                  <c:v>1.7</c:v>
                </c:pt>
                <c:pt idx="35">
                  <c:v>1.81</c:v>
                </c:pt>
                <c:pt idx="36">
                  <c:v>1.77</c:v>
                </c:pt>
                <c:pt idx="37">
                  <c:v>1.65</c:v>
                </c:pt>
                <c:pt idx="38">
                  <c:v>1.62</c:v>
                </c:pt>
                <c:pt idx="39">
                  <c:v>1.56</c:v>
                </c:pt>
                <c:pt idx="40">
                  <c:v>1.59</c:v>
                </c:pt>
                <c:pt idx="41">
                  <c:v>1.64</c:v>
                </c:pt>
                <c:pt idx="42">
                  <c:v>1.7</c:v>
                </c:pt>
                <c:pt idx="43">
                  <c:v>1.75</c:v>
                </c:pt>
                <c:pt idx="44">
                  <c:v>1.71</c:v>
                </c:pt>
                <c:pt idx="45">
                  <c:v>1.66</c:v>
                </c:pt>
                <c:pt idx="46">
                  <c:v>1.72</c:v>
                </c:pt>
                <c:pt idx="47">
                  <c:v>1.71</c:v>
                </c:pt>
                <c:pt idx="48">
                  <c:v>1.78</c:v>
                </c:pt>
                <c:pt idx="49">
                  <c:v>1.83</c:v>
                </c:pt>
                <c:pt idx="50">
                  <c:v>1.84</c:v>
                </c:pt>
              </c:numCache>
            </c:numRef>
          </c:val>
          <c:smooth val="0"/>
          <c:extLst>
            <c:ext xmlns:c16="http://schemas.microsoft.com/office/drawing/2014/chart" uri="{C3380CC4-5D6E-409C-BE32-E72D297353CC}">
              <c16:uniqueId val="{00000002-D3A4-4FEC-B864-313790A4881F}"/>
            </c:ext>
          </c:extLst>
        </c:ser>
        <c:ser>
          <c:idx val="3"/>
          <c:order val="3"/>
          <c:tx>
            <c:strRef>
              <c:f>'Time series'!$E$17</c:f>
              <c:strCache>
                <c:ptCount val="1"/>
                <c:pt idx="0">
                  <c:v>Other nonfederal</c:v>
                </c:pt>
              </c:strCache>
            </c:strRef>
          </c:tx>
          <c:spPr>
            <a:ln w="28575" cap="rnd">
              <a:solidFill>
                <a:srgbClr val="FF7C80"/>
              </a:solidFill>
              <a:round/>
            </a:ln>
            <a:effectLst/>
          </c:spPr>
          <c:marker>
            <c:symbol val="none"/>
          </c:marker>
          <c:dPt>
            <c:idx val="23"/>
            <c:marker>
              <c:symbol val="none"/>
            </c:marker>
            <c:bubble3D val="0"/>
            <c:spPr>
              <a:ln w="38100" cap="rnd">
                <a:solidFill>
                  <a:srgbClr val="FF7C80"/>
                </a:solidFill>
                <a:round/>
              </a:ln>
              <a:effectLst/>
            </c:spPr>
            <c:extLst>
              <c:ext xmlns:c16="http://schemas.microsoft.com/office/drawing/2014/chart" uri="{C3380CC4-5D6E-409C-BE32-E72D297353CC}">
                <c16:uniqueId val="{00000000-3187-4648-8C17-7AF8E5CE062C}"/>
              </c:ext>
            </c:extLst>
          </c:dPt>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series'!$E$18:$E$68</c:f>
              <c:numCache>
                <c:formatCode>#,##0.00</c:formatCode>
                <c:ptCount val="51"/>
                <c:pt idx="0">
                  <c:v>7.0000000000000007E-2</c:v>
                </c:pt>
                <c:pt idx="1">
                  <c:v>7.0000000000000007E-2</c:v>
                </c:pt>
                <c:pt idx="2">
                  <c:v>7.0000000000000007E-2</c:v>
                </c:pt>
                <c:pt idx="3">
                  <c:v>7.0000000000000007E-2</c:v>
                </c:pt>
                <c:pt idx="4">
                  <c:v>7.0000000000000007E-2</c:v>
                </c:pt>
                <c:pt idx="5">
                  <c:v>0.08</c:v>
                </c:pt>
                <c:pt idx="6">
                  <c:v>0.08</c:v>
                </c:pt>
                <c:pt idx="7">
                  <c:v>0.08</c:v>
                </c:pt>
                <c:pt idx="8">
                  <c:v>7.0000000000000007E-2</c:v>
                </c:pt>
                <c:pt idx="9">
                  <c:v>0.08</c:v>
                </c:pt>
                <c:pt idx="10">
                  <c:v>0.08</c:v>
                </c:pt>
                <c:pt idx="11">
                  <c:v>0.08</c:v>
                </c:pt>
                <c:pt idx="12">
                  <c:v>0.08</c:v>
                </c:pt>
                <c:pt idx="13">
                  <c:v>0.08</c:v>
                </c:pt>
                <c:pt idx="14">
                  <c:v>0.08</c:v>
                </c:pt>
                <c:pt idx="15">
                  <c:v>0.08</c:v>
                </c:pt>
                <c:pt idx="16">
                  <c:v>0.08</c:v>
                </c:pt>
                <c:pt idx="17">
                  <c:v>0.09</c:v>
                </c:pt>
                <c:pt idx="18">
                  <c:v>0.09</c:v>
                </c:pt>
                <c:pt idx="19">
                  <c:v>0.09</c:v>
                </c:pt>
                <c:pt idx="20">
                  <c:v>0.09</c:v>
                </c:pt>
                <c:pt idx="21">
                  <c:v>0.1</c:v>
                </c:pt>
                <c:pt idx="22">
                  <c:v>0.11</c:v>
                </c:pt>
                <c:pt idx="23">
                  <c:v>0.11</c:v>
                </c:pt>
                <c:pt idx="24">
                  <c:v>0.11</c:v>
                </c:pt>
                <c:pt idx="25">
                  <c:v>0.12</c:v>
                </c:pt>
                <c:pt idx="26">
                  <c:v>0.13</c:v>
                </c:pt>
                <c:pt idx="27">
                  <c:v>0.13</c:v>
                </c:pt>
                <c:pt idx="28">
                  <c:v>0.13</c:v>
                </c:pt>
                <c:pt idx="29">
                  <c:v>0.13</c:v>
                </c:pt>
                <c:pt idx="30">
                  <c:v>0.13</c:v>
                </c:pt>
                <c:pt idx="31">
                  <c:v>0.13</c:v>
                </c:pt>
                <c:pt idx="32">
                  <c:v>0.13</c:v>
                </c:pt>
                <c:pt idx="33">
                  <c:v>0.13</c:v>
                </c:pt>
                <c:pt idx="34">
                  <c:v>0.14000000000000001</c:v>
                </c:pt>
                <c:pt idx="35">
                  <c:v>0.14000000000000001</c:v>
                </c:pt>
                <c:pt idx="36">
                  <c:v>0.15</c:v>
                </c:pt>
                <c:pt idx="37">
                  <c:v>0.17</c:v>
                </c:pt>
                <c:pt idx="38">
                  <c:v>0.17</c:v>
                </c:pt>
                <c:pt idx="39">
                  <c:v>0.17</c:v>
                </c:pt>
                <c:pt idx="40">
                  <c:v>0.17</c:v>
                </c:pt>
                <c:pt idx="41">
                  <c:v>0.17</c:v>
                </c:pt>
                <c:pt idx="42">
                  <c:v>0.18</c:v>
                </c:pt>
                <c:pt idx="43">
                  <c:v>0.2</c:v>
                </c:pt>
                <c:pt idx="44">
                  <c:v>0.21</c:v>
                </c:pt>
                <c:pt idx="45">
                  <c:v>0.21</c:v>
                </c:pt>
                <c:pt idx="46">
                  <c:v>0.21</c:v>
                </c:pt>
                <c:pt idx="47">
                  <c:v>0.21</c:v>
                </c:pt>
                <c:pt idx="48">
                  <c:v>0.22</c:v>
                </c:pt>
                <c:pt idx="49">
                  <c:v>0.22</c:v>
                </c:pt>
                <c:pt idx="50">
                  <c:v>0.23</c:v>
                </c:pt>
              </c:numCache>
            </c:numRef>
          </c:val>
          <c:smooth val="0"/>
          <c:extLst>
            <c:ext xmlns:c16="http://schemas.microsoft.com/office/drawing/2014/chart" uri="{C3380CC4-5D6E-409C-BE32-E72D297353CC}">
              <c16:uniqueId val="{00000003-D3A4-4FEC-B864-313790A4881F}"/>
            </c:ext>
          </c:extLst>
        </c:ser>
        <c:dLbls>
          <c:showLegendKey val="0"/>
          <c:showVal val="0"/>
          <c:showCatName val="0"/>
          <c:showSerName val="0"/>
          <c:showPercent val="0"/>
          <c:showBubbleSize val="0"/>
        </c:dLbls>
        <c:smooth val="0"/>
        <c:axId val="159526272"/>
        <c:axId val="159536256"/>
      </c:lineChart>
      <c:catAx>
        <c:axId val="159526272"/>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59536256"/>
        <c:crosses val="autoZero"/>
        <c:auto val="1"/>
        <c:lblAlgn val="ctr"/>
        <c:lblOffset val="100"/>
        <c:tickLblSkip val="5"/>
        <c:noMultiLvlLbl val="0"/>
      </c:catAx>
      <c:valAx>
        <c:axId val="15953625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59526272"/>
        <c:crossesAt val="1"/>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sz="1400" b="1" i="0" baseline="0" dirty="0">
                <a:latin typeface="Arial" panose="020B0604020202020204" pitchFamily="34" charset="0"/>
              </a:rPr>
              <a:t>R&amp;D expenditures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multiple!$F$26</c:f>
              <c:strCache>
                <c:ptCount val="1"/>
                <c:pt idx="0">
                  <c:v>Current $</c:v>
                </c:pt>
              </c:strCache>
            </c:strRef>
          </c:tx>
          <c:spPr>
            <a:ln w="28575" cap="rnd">
              <a:solidFill>
                <a:schemeClr val="accent1"/>
              </a:solidFill>
              <a:prstDash val="sysDash"/>
              <a:round/>
            </a:ln>
            <a:effectLst/>
          </c:spPr>
          <c:marker>
            <c:symbol val="none"/>
          </c:marker>
          <c:cat>
            <c:numRef>
              <c:f>multiple!$E$27:$E$43</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multiple!$F$27:$F$43</c:f>
              <c:numCache>
                <c:formatCode>General</c:formatCode>
                <c:ptCount val="17"/>
                <c:pt idx="0">
                  <c:v>267.95</c:v>
                </c:pt>
                <c:pt idx="1">
                  <c:v>278.53899999999999</c:v>
                </c:pt>
                <c:pt idx="2">
                  <c:v>277.911</c:v>
                </c:pt>
                <c:pt idx="3">
                  <c:v>291.36500000000001</c:v>
                </c:pt>
                <c:pt idx="4">
                  <c:v>302.73099999999999</c:v>
                </c:pt>
                <c:pt idx="5">
                  <c:v>325.28800000000001</c:v>
                </c:pt>
                <c:pt idx="6">
                  <c:v>350.90800000000002</c:v>
                </c:pt>
                <c:pt idx="7">
                  <c:v>377.89</c:v>
                </c:pt>
                <c:pt idx="8">
                  <c:v>404.77300000000002</c:v>
                </c:pt>
                <c:pt idx="9">
                  <c:v>402.93099999999998</c:v>
                </c:pt>
                <c:pt idx="10">
                  <c:v>406.58</c:v>
                </c:pt>
                <c:pt idx="11">
                  <c:v>426.16</c:v>
                </c:pt>
                <c:pt idx="12">
                  <c:v>433.61900000000003</c:v>
                </c:pt>
                <c:pt idx="13">
                  <c:v>453.964</c:v>
                </c:pt>
                <c:pt idx="14">
                  <c:v>475.42599999999999</c:v>
                </c:pt>
                <c:pt idx="15">
                  <c:v>495.14400000000001</c:v>
                </c:pt>
                <c:pt idx="16">
                  <c:v>509.96699999999998</c:v>
                </c:pt>
              </c:numCache>
            </c:numRef>
          </c:val>
          <c:smooth val="0"/>
          <c:extLst>
            <c:ext xmlns:c16="http://schemas.microsoft.com/office/drawing/2014/chart" uri="{C3380CC4-5D6E-409C-BE32-E72D297353CC}">
              <c16:uniqueId val="{00000000-FB86-4C21-B404-CC79EDB56348}"/>
            </c:ext>
          </c:extLst>
        </c:ser>
        <c:ser>
          <c:idx val="1"/>
          <c:order val="1"/>
          <c:tx>
            <c:strRef>
              <c:f>multiple!$G$26</c:f>
              <c:strCache>
                <c:ptCount val="1"/>
                <c:pt idx="0">
                  <c:v>Constant 2009 $</c:v>
                </c:pt>
              </c:strCache>
            </c:strRef>
          </c:tx>
          <c:spPr>
            <a:ln w="28575" cap="rnd">
              <a:solidFill>
                <a:schemeClr val="accent2"/>
              </a:solidFill>
              <a:round/>
            </a:ln>
            <a:effectLst/>
          </c:spPr>
          <c:marker>
            <c:symbol val="none"/>
          </c:marker>
          <c:cat>
            <c:numRef>
              <c:f>multiple!$E$27:$E$43</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multiple!$G$27:$G$43</c:f>
              <c:numCache>
                <c:formatCode>0</c:formatCode>
                <c:ptCount val="17"/>
                <c:pt idx="0">
                  <c:v>327</c:v>
                </c:pt>
                <c:pt idx="1">
                  <c:v>333</c:v>
                </c:pt>
                <c:pt idx="2">
                  <c:v>327</c:v>
                </c:pt>
                <c:pt idx="3">
                  <c:v>336</c:v>
                </c:pt>
                <c:pt idx="4">
                  <c:v>340</c:v>
                </c:pt>
                <c:pt idx="5">
                  <c:v>354</c:v>
                </c:pt>
                <c:pt idx="6">
                  <c:v>370</c:v>
                </c:pt>
                <c:pt idx="7">
                  <c:v>388</c:v>
                </c:pt>
                <c:pt idx="8">
                  <c:v>408</c:v>
                </c:pt>
                <c:pt idx="9">
                  <c:v>403</c:v>
                </c:pt>
                <c:pt idx="10">
                  <c:v>402</c:v>
                </c:pt>
                <c:pt idx="11">
                  <c:v>413</c:v>
                </c:pt>
                <c:pt idx="12">
                  <c:v>412</c:v>
                </c:pt>
                <c:pt idx="13">
                  <c:v>425</c:v>
                </c:pt>
                <c:pt idx="14">
                  <c:v>437</c:v>
                </c:pt>
                <c:pt idx="15">
                  <c:v>450</c:v>
                </c:pt>
                <c:pt idx="16">
                  <c:v>458</c:v>
                </c:pt>
              </c:numCache>
            </c:numRef>
          </c:val>
          <c:smooth val="0"/>
          <c:extLst>
            <c:ext xmlns:c16="http://schemas.microsoft.com/office/drawing/2014/chart" uri="{C3380CC4-5D6E-409C-BE32-E72D297353CC}">
              <c16:uniqueId val="{00000001-FB86-4C21-B404-CC79EDB56348}"/>
            </c:ext>
          </c:extLst>
        </c:ser>
        <c:dLbls>
          <c:showLegendKey val="0"/>
          <c:showVal val="0"/>
          <c:showCatName val="0"/>
          <c:showSerName val="0"/>
          <c:showPercent val="0"/>
          <c:showBubbleSize val="0"/>
        </c:dLbls>
        <c:smooth val="0"/>
        <c:axId val="127202816"/>
        <c:axId val="127204352"/>
      </c:lineChart>
      <c:catAx>
        <c:axId val="127202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04352"/>
        <c:crosses val="autoZero"/>
        <c:auto val="1"/>
        <c:lblAlgn val="ctr"/>
        <c:lblOffset val="100"/>
        <c:tickLblSkip val="4"/>
        <c:noMultiLvlLbl val="0"/>
      </c:catAx>
      <c:valAx>
        <c:axId val="1272043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02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sz="1400" b="1" i="0" baseline="0" dirty="0">
                <a:latin typeface="Arial" panose="020B0604020202020204" pitchFamily="34" charset="0"/>
              </a:rPr>
              <a:t>Type of R&amp;D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multiple!$AD$68</c:f>
              <c:strCache>
                <c:ptCount val="1"/>
                <c:pt idx="0">
                  <c:v>Basic research</c:v>
                </c:pt>
              </c:strCache>
            </c:strRef>
          </c:tx>
          <c:spPr>
            <a:ln w="28575" cap="rnd">
              <a:solidFill>
                <a:srgbClr val="FF0000"/>
              </a:solidFill>
              <a:prstDash val="sysDash"/>
              <a:round/>
            </a:ln>
            <a:effectLst/>
          </c:spPr>
          <c:marker>
            <c:symbol val="none"/>
          </c:marker>
          <c:cat>
            <c:numRef>
              <c:f>multiple!$AC$69:$AC$85</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multiple!$AD$69:$AD$85</c:f>
              <c:numCache>
                <c:formatCode>0.0</c:formatCode>
                <c:ptCount val="17"/>
                <c:pt idx="0">
                  <c:v>15.7</c:v>
                </c:pt>
                <c:pt idx="1">
                  <c:v>16.8</c:v>
                </c:pt>
                <c:pt idx="2">
                  <c:v>18.3</c:v>
                </c:pt>
                <c:pt idx="3">
                  <c:v>18.8</c:v>
                </c:pt>
                <c:pt idx="4">
                  <c:v>18.600000000000001</c:v>
                </c:pt>
                <c:pt idx="5">
                  <c:v>18.399999999999999</c:v>
                </c:pt>
                <c:pt idx="6">
                  <c:v>17.5</c:v>
                </c:pt>
                <c:pt idx="7">
                  <c:v>17.100000000000001</c:v>
                </c:pt>
                <c:pt idx="8">
                  <c:v>16.899999999999999</c:v>
                </c:pt>
                <c:pt idx="9">
                  <c:v>18</c:v>
                </c:pt>
                <c:pt idx="10">
                  <c:v>18.7</c:v>
                </c:pt>
                <c:pt idx="11">
                  <c:v>17.100000000000001</c:v>
                </c:pt>
                <c:pt idx="12">
                  <c:v>16.899999999999999</c:v>
                </c:pt>
                <c:pt idx="13">
                  <c:v>17.3</c:v>
                </c:pt>
                <c:pt idx="14">
                  <c:v>17.3</c:v>
                </c:pt>
                <c:pt idx="15">
                  <c:v>16.899999999999999</c:v>
                </c:pt>
                <c:pt idx="16">
                  <c:v>16.899999999999999</c:v>
                </c:pt>
              </c:numCache>
            </c:numRef>
          </c:val>
          <c:smooth val="0"/>
          <c:extLst>
            <c:ext xmlns:c16="http://schemas.microsoft.com/office/drawing/2014/chart" uri="{C3380CC4-5D6E-409C-BE32-E72D297353CC}">
              <c16:uniqueId val="{00000000-21D0-444F-B608-75BDD2972363}"/>
            </c:ext>
          </c:extLst>
        </c:ser>
        <c:ser>
          <c:idx val="1"/>
          <c:order val="1"/>
          <c:tx>
            <c:strRef>
              <c:f>multiple!$AE$68</c:f>
              <c:strCache>
                <c:ptCount val="1"/>
                <c:pt idx="0">
                  <c:v>Applied research</c:v>
                </c:pt>
              </c:strCache>
            </c:strRef>
          </c:tx>
          <c:spPr>
            <a:ln w="28575" cap="rnd">
              <a:solidFill>
                <a:schemeClr val="accent2"/>
              </a:solidFill>
              <a:round/>
            </a:ln>
            <a:effectLst/>
          </c:spPr>
          <c:marker>
            <c:symbol val="none"/>
          </c:marker>
          <c:cat>
            <c:numRef>
              <c:f>multiple!$AC$69:$AC$85</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multiple!$AE$69:$AE$85</c:f>
              <c:numCache>
                <c:formatCode>0.0</c:formatCode>
                <c:ptCount val="17"/>
                <c:pt idx="0">
                  <c:v>21.1</c:v>
                </c:pt>
                <c:pt idx="1">
                  <c:v>23</c:v>
                </c:pt>
                <c:pt idx="2">
                  <c:v>18.2</c:v>
                </c:pt>
                <c:pt idx="3">
                  <c:v>21</c:v>
                </c:pt>
                <c:pt idx="4">
                  <c:v>22.8</c:v>
                </c:pt>
                <c:pt idx="5">
                  <c:v>21.4</c:v>
                </c:pt>
                <c:pt idx="6">
                  <c:v>21.8</c:v>
                </c:pt>
                <c:pt idx="7">
                  <c:v>22.6</c:v>
                </c:pt>
                <c:pt idx="8">
                  <c:v>18.899999999999999</c:v>
                </c:pt>
                <c:pt idx="9">
                  <c:v>18.399999999999999</c:v>
                </c:pt>
                <c:pt idx="10">
                  <c:v>19.5</c:v>
                </c:pt>
                <c:pt idx="11">
                  <c:v>19.3</c:v>
                </c:pt>
                <c:pt idx="12">
                  <c:v>20.100000000000001</c:v>
                </c:pt>
                <c:pt idx="13">
                  <c:v>19.5</c:v>
                </c:pt>
                <c:pt idx="14">
                  <c:v>19.3</c:v>
                </c:pt>
                <c:pt idx="15">
                  <c:v>19.600000000000001</c:v>
                </c:pt>
                <c:pt idx="16">
                  <c:v>19.7</c:v>
                </c:pt>
              </c:numCache>
            </c:numRef>
          </c:val>
          <c:smooth val="0"/>
          <c:extLst>
            <c:ext xmlns:c16="http://schemas.microsoft.com/office/drawing/2014/chart" uri="{C3380CC4-5D6E-409C-BE32-E72D297353CC}">
              <c16:uniqueId val="{00000001-21D0-444F-B608-75BDD2972363}"/>
            </c:ext>
          </c:extLst>
        </c:ser>
        <c:ser>
          <c:idx val="2"/>
          <c:order val="2"/>
          <c:tx>
            <c:strRef>
              <c:f>multiple!$AF$68</c:f>
              <c:strCache>
                <c:ptCount val="1"/>
                <c:pt idx="0">
                  <c:v>Development</c:v>
                </c:pt>
              </c:strCache>
            </c:strRef>
          </c:tx>
          <c:spPr>
            <a:ln w="28575" cap="rnd">
              <a:solidFill>
                <a:schemeClr val="tx1"/>
              </a:solidFill>
              <a:round/>
            </a:ln>
            <a:effectLst/>
          </c:spPr>
          <c:marker>
            <c:symbol val="none"/>
          </c:marker>
          <c:cat>
            <c:numRef>
              <c:f>multiple!$AC$69:$AC$85</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multiple!$AF$69:$AF$85</c:f>
              <c:numCache>
                <c:formatCode>0.0</c:formatCode>
                <c:ptCount val="17"/>
                <c:pt idx="0">
                  <c:v>63.2</c:v>
                </c:pt>
                <c:pt idx="1">
                  <c:v>60.2</c:v>
                </c:pt>
                <c:pt idx="2">
                  <c:v>63.5</c:v>
                </c:pt>
                <c:pt idx="3">
                  <c:v>60.2</c:v>
                </c:pt>
                <c:pt idx="4">
                  <c:v>58.5</c:v>
                </c:pt>
                <c:pt idx="5">
                  <c:v>60.2</c:v>
                </c:pt>
                <c:pt idx="6">
                  <c:v>60.6</c:v>
                </c:pt>
                <c:pt idx="7">
                  <c:v>60.3</c:v>
                </c:pt>
                <c:pt idx="8">
                  <c:v>64.099999999999994</c:v>
                </c:pt>
                <c:pt idx="9">
                  <c:v>63.5</c:v>
                </c:pt>
                <c:pt idx="10">
                  <c:v>61.8</c:v>
                </c:pt>
                <c:pt idx="11">
                  <c:v>63.6</c:v>
                </c:pt>
                <c:pt idx="12">
                  <c:v>63</c:v>
                </c:pt>
                <c:pt idx="13">
                  <c:v>63.3</c:v>
                </c:pt>
                <c:pt idx="14">
                  <c:v>63.4</c:v>
                </c:pt>
                <c:pt idx="15">
                  <c:v>63.5</c:v>
                </c:pt>
                <c:pt idx="16">
                  <c:v>63.4</c:v>
                </c:pt>
              </c:numCache>
            </c:numRef>
          </c:val>
          <c:smooth val="0"/>
          <c:extLst>
            <c:ext xmlns:c16="http://schemas.microsoft.com/office/drawing/2014/chart" uri="{C3380CC4-5D6E-409C-BE32-E72D297353CC}">
              <c16:uniqueId val="{00000002-21D0-444F-B608-75BDD2972363}"/>
            </c:ext>
          </c:extLst>
        </c:ser>
        <c:dLbls>
          <c:showLegendKey val="0"/>
          <c:showVal val="0"/>
          <c:showCatName val="0"/>
          <c:showSerName val="0"/>
          <c:showPercent val="0"/>
          <c:showBubbleSize val="0"/>
        </c:dLbls>
        <c:smooth val="0"/>
        <c:axId val="127244160"/>
        <c:axId val="127245696"/>
      </c:lineChart>
      <c:catAx>
        <c:axId val="127244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45696"/>
        <c:crosses val="autoZero"/>
        <c:auto val="1"/>
        <c:lblAlgn val="ctr"/>
        <c:lblOffset val="100"/>
        <c:tickLblSkip val="4"/>
        <c:noMultiLvlLbl val="0"/>
      </c:catAx>
      <c:valAx>
        <c:axId val="1272456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44160"/>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b="1" i="0" baseline="0" dirty="0">
                <a:latin typeface="Arial" panose="020B0604020202020204" pitchFamily="34" charset="0"/>
              </a:rPr>
              <a:t>Source of funding</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multiple!$AD$47</c:f>
              <c:strCache>
                <c:ptCount val="1"/>
                <c:pt idx="0">
                  <c:v>Federal</c:v>
                </c:pt>
              </c:strCache>
            </c:strRef>
          </c:tx>
          <c:spPr>
            <a:ln w="28575" cap="rnd">
              <a:solidFill>
                <a:schemeClr val="accent2"/>
              </a:solidFill>
              <a:round/>
            </a:ln>
            <a:effectLst/>
          </c:spPr>
          <c:marker>
            <c:symbol val="none"/>
          </c:marker>
          <c:cat>
            <c:numRef>
              <c:f>multiple!$AC$48:$AC$64</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multiple!$AD$48:$AD$64</c:f>
              <c:numCache>
                <c:formatCode>0.0</c:formatCode>
                <c:ptCount val="17"/>
                <c:pt idx="0">
                  <c:v>25.1</c:v>
                </c:pt>
                <c:pt idx="1">
                  <c:v>26.5</c:v>
                </c:pt>
                <c:pt idx="2">
                  <c:v>28.4</c:v>
                </c:pt>
                <c:pt idx="3">
                  <c:v>29.2</c:v>
                </c:pt>
                <c:pt idx="4">
                  <c:v>30</c:v>
                </c:pt>
                <c:pt idx="5">
                  <c:v>29.3</c:v>
                </c:pt>
                <c:pt idx="6">
                  <c:v>28.5</c:v>
                </c:pt>
                <c:pt idx="7">
                  <c:v>27.8</c:v>
                </c:pt>
                <c:pt idx="8">
                  <c:v>29.1</c:v>
                </c:pt>
                <c:pt idx="9">
                  <c:v>31.2</c:v>
                </c:pt>
                <c:pt idx="10">
                  <c:v>31.1</c:v>
                </c:pt>
                <c:pt idx="11">
                  <c:v>29.8</c:v>
                </c:pt>
                <c:pt idx="12">
                  <c:v>28.6</c:v>
                </c:pt>
                <c:pt idx="13">
                  <c:v>26.5</c:v>
                </c:pt>
                <c:pt idx="14">
                  <c:v>24.9</c:v>
                </c:pt>
                <c:pt idx="15">
                  <c:v>24.4</c:v>
                </c:pt>
                <c:pt idx="16">
                  <c:v>24.1</c:v>
                </c:pt>
              </c:numCache>
            </c:numRef>
          </c:val>
          <c:smooth val="0"/>
          <c:extLst>
            <c:ext xmlns:c16="http://schemas.microsoft.com/office/drawing/2014/chart" uri="{C3380CC4-5D6E-409C-BE32-E72D297353CC}">
              <c16:uniqueId val="{00000000-75D6-43B3-A700-5F0A30A7CCC2}"/>
            </c:ext>
          </c:extLst>
        </c:ser>
        <c:ser>
          <c:idx val="1"/>
          <c:order val="1"/>
          <c:tx>
            <c:strRef>
              <c:f>multiple!$AE$47</c:f>
              <c:strCache>
                <c:ptCount val="1"/>
                <c:pt idx="0">
                  <c:v>Business</c:v>
                </c:pt>
              </c:strCache>
            </c:strRef>
          </c:tx>
          <c:spPr>
            <a:ln w="28575" cap="rnd">
              <a:solidFill>
                <a:schemeClr val="accent1">
                  <a:lumMod val="50000"/>
                </a:schemeClr>
              </a:solidFill>
              <a:round/>
            </a:ln>
            <a:effectLst/>
          </c:spPr>
          <c:marker>
            <c:symbol val="none"/>
          </c:marker>
          <c:cat>
            <c:numRef>
              <c:f>multiple!$AC$48:$AC$64</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multiple!$AE$48:$AE$64</c:f>
              <c:numCache>
                <c:formatCode>0.0</c:formatCode>
                <c:ptCount val="17"/>
                <c:pt idx="0">
                  <c:v>69.400000000000006</c:v>
                </c:pt>
                <c:pt idx="1">
                  <c:v>67.599999999999994</c:v>
                </c:pt>
                <c:pt idx="2">
                  <c:v>65</c:v>
                </c:pt>
                <c:pt idx="3">
                  <c:v>63.9</c:v>
                </c:pt>
                <c:pt idx="4">
                  <c:v>63.2</c:v>
                </c:pt>
                <c:pt idx="5">
                  <c:v>63.9</c:v>
                </c:pt>
                <c:pt idx="6">
                  <c:v>64.7</c:v>
                </c:pt>
                <c:pt idx="7">
                  <c:v>65.3</c:v>
                </c:pt>
                <c:pt idx="8">
                  <c:v>63.7</c:v>
                </c:pt>
                <c:pt idx="9">
                  <c:v>61.2</c:v>
                </c:pt>
                <c:pt idx="10">
                  <c:v>61</c:v>
                </c:pt>
                <c:pt idx="11">
                  <c:v>62.5</c:v>
                </c:pt>
                <c:pt idx="12">
                  <c:v>63.6</c:v>
                </c:pt>
                <c:pt idx="13">
                  <c:v>65.5</c:v>
                </c:pt>
                <c:pt idx="14">
                  <c:v>67</c:v>
                </c:pt>
                <c:pt idx="15">
                  <c:v>67.3</c:v>
                </c:pt>
                <c:pt idx="16">
                  <c:v>67.400000000000006</c:v>
                </c:pt>
              </c:numCache>
            </c:numRef>
          </c:val>
          <c:smooth val="0"/>
          <c:extLst>
            <c:ext xmlns:c16="http://schemas.microsoft.com/office/drawing/2014/chart" uri="{C3380CC4-5D6E-409C-BE32-E72D297353CC}">
              <c16:uniqueId val="{00000001-75D6-43B3-A700-5F0A30A7CCC2}"/>
            </c:ext>
          </c:extLst>
        </c:ser>
        <c:ser>
          <c:idx val="2"/>
          <c:order val="2"/>
          <c:tx>
            <c:strRef>
              <c:f>multiple!$AF$47</c:f>
              <c:strCache>
                <c:ptCount val="1"/>
                <c:pt idx="0">
                  <c:v>Other</c:v>
                </c:pt>
              </c:strCache>
            </c:strRef>
          </c:tx>
          <c:spPr>
            <a:ln w="28575" cap="rnd">
              <a:solidFill>
                <a:srgbClr val="EA5E42"/>
              </a:solidFill>
              <a:round/>
            </a:ln>
            <a:effectLst/>
          </c:spPr>
          <c:marker>
            <c:symbol val="none"/>
          </c:marker>
          <c:cat>
            <c:numRef>
              <c:f>multiple!$AC$48:$AC$64</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multiple!$AF$48:$AF$64</c:f>
              <c:numCache>
                <c:formatCode>0.0</c:formatCode>
                <c:ptCount val="17"/>
                <c:pt idx="0">
                  <c:v>5.4</c:v>
                </c:pt>
                <c:pt idx="1">
                  <c:v>5.9</c:v>
                </c:pt>
                <c:pt idx="2">
                  <c:v>6.6</c:v>
                </c:pt>
                <c:pt idx="3">
                  <c:v>6.9</c:v>
                </c:pt>
                <c:pt idx="4">
                  <c:v>6.9</c:v>
                </c:pt>
                <c:pt idx="5">
                  <c:v>6.8</c:v>
                </c:pt>
                <c:pt idx="6">
                  <c:v>6.7</c:v>
                </c:pt>
                <c:pt idx="7">
                  <c:v>6.9</c:v>
                </c:pt>
                <c:pt idx="8">
                  <c:v>7.2</c:v>
                </c:pt>
                <c:pt idx="9">
                  <c:v>7.6</c:v>
                </c:pt>
                <c:pt idx="10">
                  <c:v>7.9</c:v>
                </c:pt>
                <c:pt idx="11">
                  <c:v>7.7</c:v>
                </c:pt>
                <c:pt idx="12">
                  <c:v>7.9</c:v>
                </c:pt>
                <c:pt idx="13">
                  <c:v>8.1</c:v>
                </c:pt>
                <c:pt idx="14">
                  <c:v>8.1</c:v>
                </c:pt>
                <c:pt idx="15">
                  <c:v>8.3000000000000007</c:v>
                </c:pt>
                <c:pt idx="16">
                  <c:v>8.6</c:v>
                </c:pt>
              </c:numCache>
            </c:numRef>
          </c:val>
          <c:smooth val="0"/>
          <c:extLst>
            <c:ext xmlns:c16="http://schemas.microsoft.com/office/drawing/2014/chart" uri="{C3380CC4-5D6E-409C-BE32-E72D297353CC}">
              <c16:uniqueId val="{00000002-75D6-43B3-A700-5F0A30A7CCC2}"/>
            </c:ext>
          </c:extLst>
        </c:ser>
        <c:dLbls>
          <c:showLegendKey val="0"/>
          <c:showVal val="0"/>
          <c:showCatName val="0"/>
          <c:showSerName val="0"/>
          <c:showPercent val="0"/>
          <c:showBubbleSize val="0"/>
        </c:dLbls>
        <c:smooth val="0"/>
        <c:axId val="127294080"/>
        <c:axId val="127299968"/>
      </c:lineChart>
      <c:catAx>
        <c:axId val="12729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99968"/>
        <c:crosses val="autoZero"/>
        <c:auto val="1"/>
        <c:lblAlgn val="ctr"/>
        <c:lblOffset val="100"/>
        <c:tickLblSkip val="4"/>
        <c:noMultiLvlLbl val="0"/>
      </c:catAx>
      <c:valAx>
        <c:axId val="12729996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94080"/>
        <c:crossesAt val="1"/>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b="1" i="0" baseline="0" dirty="0">
                <a:latin typeface="Arial" panose="020B0604020202020204" pitchFamily="34" charset="0"/>
              </a:rPr>
              <a:t>Performing sector</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multiple!$AD$5</c:f>
              <c:strCache>
                <c:ptCount val="1"/>
                <c:pt idx="0">
                  <c:v>Federal</c:v>
                </c:pt>
              </c:strCache>
            </c:strRef>
          </c:tx>
          <c:spPr>
            <a:ln w="28575" cap="rnd">
              <a:solidFill>
                <a:schemeClr val="accent2"/>
              </a:solidFill>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multiple!$AD$6:$AD$22</c:f>
              <c:numCache>
                <c:formatCode>0.0</c:formatCode>
                <c:ptCount val="17"/>
                <c:pt idx="0">
                  <c:v>10.6</c:v>
                </c:pt>
                <c:pt idx="1">
                  <c:v>11.8</c:v>
                </c:pt>
                <c:pt idx="2">
                  <c:v>12.8</c:v>
                </c:pt>
                <c:pt idx="3">
                  <c:v>12.8</c:v>
                </c:pt>
                <c:pt idx="4">
                  <c:v>12.4</c:v>
                </c:pt>
                <c:pt idx="5">
                  <c:v>12.2</c:v>
                </c:pt>
                <c:pt idx="6">
                  <c:v>11.9</c:v>
                </c:pt>
                <c:pt idx="7">
                  <c:v>11.7</c:v>
                </c:pt>
                <c:pt idx="8">
                  <c:v>11.3</c:v>
                </c:pt>
                <c:pt idx="9">
                  <c:v>11.8</c:v>
                </c:pt>
                <c:pt idx="10">
                  <c:v>12.5</c:v>
                </c:pt>
                <c:pt idx="11">
                  <c:v>12.6</c:v>
                </c:pt>
                <c:pt idx="12">
                  <c:v>12</c:v>
                </c:pt>
                <c:pt idx="13">
                  <c:v>11.3</c:v>
                </c:pt>
                <c:pt idx="14">
                  <c:v>11.1</c:v>
                </c:pt>
                <c:pt idx="15">
                  <c:v>11</c:v>
                </c:pt>
                <c:pt idx="16">
                  <c:v>11.3</c:v>
                </c:pt>
              </c:numCache>
            </c:numRef>
          </c:val>
          <c:smooth val="0"/>
          <c:extLst>
            <c:ext xmlns:c16="http://schemas.microsoft.com/office/drawing/2014/chart" uri="{C3380CC4-5D6E-409C-BE32-E72D297353CC}">
              <c16:uniqueId val="{00000000-6A13-456F-88A9-BB9E869FE493}"/>
            </c:ext>
          </c:extLst>
        </c:ser>
        <c:ser>
          <c:idx val="1"/>
          <c:order val="1"/>
          <c:tx>
            <c:strRef>
              <c:f>multiple!$AE$5</c:f>
              <c:strCache>
                <c:ptCount val="1"/>
                <c:pt idx="0">
                  <c:v>Business</c:v>
                </c:pt>
              </c:strCache>
            </c:strRef>
          </c:tx>
          <c:spPr>
            <a:ln w="28575" cap="rnd">
              <a:solidFill>
                <a:schemeClr val="accent1">
                  <a:lumMod val="50000"/>
                </a:schemeClr>
              </a:solidFill>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multiple!$AE$6:$AE$22</c:f>
              <c:numCache>
                <c:formatCode>0.0</c:formatCode>
                <c:ptCount val="17"/>
                <c:pt idx="0">
                  <c:v>74.599999999999994</c:v>
                </c:pt>
                <c:pt idx="1">
                  <c:v>72.5</c:v>
                </c:pt>
                <c:pt idx="2">
                  <c:v>69.8</c:v>
                </c:pt>
                <c:pt idx="3">
                  <c:v>68.900000000000006</c:v>
                </c:pt>
                <c:pt idx="4">
                  <c:v>68.8</c:v>
                </c:pt>
                <c:pt idx="5">
                  <c:v>69.5</c:v>
                </c:pt>
                <c:pt idx="6">
                  <c:v>70.599999999999994</c:v>
                </c:pt>
                <c:pt idx="7">
                  <c:v>71.3</c:v>
                </c:pt>
                <c:pt idx="8">
                  <c:v>71.8</c:v>
                </c:pt>
                <c:pt idx="9">
                  <c:v>70.099999999999994</c:v>
                </c:pt>
                <c:pt idx="10">
                  <c:v>68.599999999999994</c:v>
                </c:pt>
                <c:pt idx="11">
                  <c:v>69</c:v>
                </c:pt>
                <c:pt idx="12">
                  <c:v>69.7</c:v>
                </c:pt>
                <c:pt idx="13">
                  <c:v>71</c:v>
                </c:pt>
                <c:pt idx="14">
                  <c:v>71.7</c:v>
                </c:pt>
                <c:pt idx="15">
                  <c:v>71.900000000000006</c:v>
                </c:pt>
                <c:pt idx="16">
                  <c:v>71.3</c:v>
                </c:pt>
              </c:numCache>
            </c:numRef>
          </c:val>
          <c:smooth val="0"/>
          <c:extLst>
            <c:ext xmlns:c16="http://schemas.microsoft.com/office/drawing/2014/chart" uri="{C3380CC4-5D6E-409C-BE32-E72D297353CC}">
              <c16:uniqueId val="{00000001-6A13-456F-88A9-BB9E869FE493}"/>
            </c:ext>
          </c:extLst>
        </c:ser>
        <c:ser>
          <c:idx val="2"/>
          <c:order val="2"/>
          <c:tx>
            <c:strRef>
              <c:f>multiple!$AF$5</c:f>
              <c:strCache>
                <c:ptCount val="1"/>
                <c:pt idx="0">
                  <c:v>Higher Ed</c:v>
                </c:pt>
              </c:strCache>
            </c:strRef>
          </c:tx>
          <c:spPr>
            <a:ln w="28575" cap="rnd">
              <a:solidFill>
                <a:srgbClr val="FF0000"/>
              </a:solidFill>
              <a:prstDash val="sysDash"/>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multiple!$AF$6:$AF$22</c:f>
              <c:numCache>
                <c:formatCode>0.0</c:formatCode>
                <c:ptCount val="17"/>
                <c:pt idx="0">
                  <c:v>11.2</c:v>
                </c:pt>
                <c:pt idx="1">
                  <c:v>11.8</c:v>
                </c:pt>
                <c:pt idx="2">
                  <c:v>13.2</c:v>
                </c:pt>
                <c:pt idx="3">
                  <c:v>13.9</c:v>
                </c:pt>
                <c:pt idx="4">
                  <c:v>14.3</c:v>
                </c:pt>
                <c:pt idx="5">
                  <c:v>14</c:v>
                </c:pt>
                <c:pt idx="6">
                  <c:v>13.5</c:v>
                </c:pt>
                <c:pt idx="7">
                  <c:v>13.1</c:v>
                </c:pt>
                <c:pt idx="8">
                  <c:v>12.9</c:v>
                </c:pt>
                <c:pt idx="9">
                  <c:v>13.6</c:v>
                </c:pt>
                <c:pt idx="10">
                  <c:v>14.3</c:v>
                </c:pt>
                <c:pt idx="11">
                  <c:v>14.1</c:v>
                </c:pt>
                <c:pt idx="12">
                  <c:v>14</c:v>
                </c:pt>
                <c:pt idx="13">
                  <c:v>13.6</c:v>
                </c:pt>
                <c:pt idx="14">
                  <c:v>13.1</c:v>
                </c:pt>
                <c:pt idx="15">
                  <c:v>13.1</c:v>
                </c:pt>
                <c:pt idx="16">
                  <c:v>13.2</c:v>
                </c:pt>
              </c:numCache>
            </c:numRef>
          </c:val>
          <c:smooth val="0"/>
          <c:extLst>
            <c:ext xmlns:c16="http://schemas.microsoft.com/office/drawing/2014/chart" uri="{C3380CC4-5D6E-409C-BE32-E72D297353CC}">
              <c16:uniqueId val="{00000002-6A13-456F-88A9-BB9E869FE493}"/>
            </c:ext>
          </c:extLst>
        </c:ser>
        <c:ser>
          <c:idx val="3"/>
          <c:order val="3"/>
          <c:tx>
            <c:strRef>
              <c:f>multiple!$AG$5</c:f>
              <c:strCache>
                <c:ptCount val="1"/>
                <c:pt idx="0">
                  <c:v>Nonprofits</c:v>
                </c:pt>
              </c:strCache>
            </c:strRef>
          </c:tx>
          <c:spPr>
            <a:ln w="28575" cap="rnd">
              <a:solidFill>
                <a:srgbClr val="EA5E42"/>
              </a:solidFill>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multiple!$AG$6:$AG$22</c:f>
              <c:numCache>
                <c:formatCode>0.0</c:formatCode>
                <c:ptCount val="17"/>
                <c:pt idx="0">
                  <c:v>3.6</c:v>
                </c:pt>
                <c:pt idx="1">
                  <c:v>3.9</c:v>
                </c:pt>
                <c:pt idx="2">
                  <c:v>4.3</c:v>
                </c:pt>
                <c:pt idx="3">
                  <c:v>4.4000000000000004</c:v>
                </c:pt>
                <c:pt idx="4">
                  <c:v>4.4000000000000004</c:v>
                </c:pt>
                <c:pt idx="5">
                  <c:v>4.3</c:v>
                </c:pt>
                <c:pt idx="6">
                  <c:v>4</c:v>
                </c:pt>
                <c:pt idx="7">
                  <c:v>3.9</c:v>
                </c:pt>
                <c:pt idx="8">
                  <c:v>3.9</c:v>
                </c:pt>
                <c:pt idx="9">
                  <c:v>4.3</c:v>
                </c:pt>
                <c:pt idx="10">
                  <c:v>4.4000000000000004</c:v>
                </c:pt>
                <c:pt idx="11">
                  <c:v>4.2</c:v>
                </c:pt>
                <c:pt idx="12">
                  <c:v>4.0999999999999996</c:v>
                </c:pt>
                <c:pt idx="13">
                  <c:v>4</c:v>
                </c:pt>
                <c:pt idx="14">
                  <c:v>4</c:v>
                </c:pt>
                <c:pt idx="15">
                  <c:v>4</c:v>
                </c:pt>
                <c:pt idx="16">
                  <c:v>4</c:v>
                </c:pt>
              </c:numCache>
            </c:numRef>
          </c:val>
          <c:smooth val="0"/>
          <c:extLst>
            <c:ext xmlns:c16="http://schemas.microsoft.com/office/drawing/2014/chart" uri="{C3380CC4-5D6E-409C-BE32-E72D297353CC}">
              <c16:uniqueId val="{00000003-6A13-456F-88A9-BB9E869FE493}"/>
            </c:ext>
          </c:extLst>
        </c:ser>
        <c:dLbls>
          <c:showLegendKey val="0"/>
          <c:showVal val="0"/>
          <c:showCatName val="0"/>
          <c:showSerName val="0"/>
          <c:showPercent val="0"/>
          <c:showBubbleSize val="0"/>
        </c:dLbls>
        <c:smooth val="0"/>
        <c:axId val="128070016"/>
        <c:axId val="128071552"/>
      </c:lineChart>
      <c:catAx>
        <c:axId val="128070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8071552"/>
        <c:crosses val="autoZero"/>
        <c:auto val="1"/>
        <c:lblAlgn val="ctr"/>
        <c:lblOffset val="100"/>
        <c:tickLblSkip val="4"/>
        <c:noMultiLvlLbl val="0"/>
      </c:catAx>
      <c:valAx>
        <c:axId val="1280715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8070016"/>
        <c:crosses val="autoZero"/>
        <c:crossBetween val="between"/>
      </c:valAx>
      <c:spPr>
        <a:noFill/>
        <a:ln>
          <a:noFill/>
        </a:ln>
        <a:effectLst/>
      </c:spPr>
    </c:plotArea>
    <c:legend>
      <c:legendPos val="b"/>
      <c:legendEntry>
        <c:idx val="3"/>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'Funding bar chart'!$V$28</c:f>
              <c:strCache>
                <c:ptCount val="1"/>
                <c:pt idx="0">
                  <c:v>R&amp;D</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chart'!$W$27:$Y$27</c:f>
              <c:strCache>
                <c:ptCount val="3"/>
                <c:pt idx="0">
                  <c:v>2000-2008</c:v>
                </c:pt>
                <c:pt idx="1">
                  <c:v>2008-2010</c:v>
                </c:pt>
                <c:pt idx="2">
                  <c:v>2010-2016</c:v>
                </c:pt>
              </c:strCache>
            </c:strRef>
          </c:cat>
          <c:val>
            <c:numRef>
              <c:f>'Funding bar chart'!$W$28:$Y$28</c:f>
              <c:numCache>
                <c:formatCode>0.00</c:formatCode>
                <c:ptCount val="3"/>
                <c:pt idx="0">
                  <c:v>2.79</c:v>
                </c:pt>
                <c:pt idx="1">
                  <c:v>-0.76</c:v>
                </c:pt>
                <c:pt idx="2">
                  <c:v>2.2000000000000002</c:v>
                </c:pt>
              </c:numCache>
            </c:numRef>
          </c:val>
          <c:extLst>
            <c:ext xmlns:c16="http://schemas.microsoft.com/office/drawing/2014/chart" uri="{C3380CC4-5D6E-409C-BE32-E72D297353CC}">
              <c16:uniqueId val="{00000000-A007-4CED-91F0-E0D446274110}"/>
            </c:ext>
          </c:extLst>
        </c:ser>
        <c:ser>
          <c:idx val="1"/>
          <c:order val="1"/>
          <c:tx>
            <c:strRef>
              <c:f>'Funding bar chart'!$V$29</c:f>
              <c:strCache>
                <c:ptCount val="1"/>
                <c:pt idx="0">
                  <c:v>GDP</c:v>
                </c:pt>
              </c:strCache>
            </c:strRef>
          </c:tx>
          <c:spPr>
            <a:solidFill>
              <a:srgbClr val="FFC000"/>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chart'!$W$27:$Y$27</c:f>
              <c:strCache>
                <c:ptCount val="3"/>
                <c:pt idx="0">
                  <c:v>2000-2008</c:v>
                </c:pt>
                <c:pt idx="1">
                  <c:v>2008-2010</c:v>
                </c:pt>
                <c:pt idx="2">
                  <c:v>2010-2016</c:v>
                </c:pt>
              </c:strCache>
            </c:strRef>
          </c:cat>
          <c:val>
            <c:numRef>
              <c:f>'Funding bar chart'!$W$29:$Y$29</c:f>
              <c:numCache>
                <c:formatCode>0.00</c:formatCode>
                <c:ptCount val="3"/>
                <c:pt idx="0">
                  <c:v>2.1</c:v>
                </c:pt>
                <c:pt idx="1">
                  <c:v>-0.16</c:v>
                </c:pt>
                <c:pt idx="2">
                  <c:v>2.0699999999999998</c:v>
                </c:pt>
              </c:numCache>
            </c:numRef>
          </c:val>
          <c:extLst>
            <c:ext xmlns:c16="http://schemas.microsoft.com/office/drawing/2014/chart" uri="{C3380CC4-5D6E-409C-BE32-E72D297353CC}">
              <c16:uniqueId val="{00000001-A007-4CED-91F0-E0D446274110}"/>
            </c:ext>
          </c:extLst>
        </c:ser>
        <c:dLbls>
          <c:showLegendKey val="0"/>
          <c:showVal val="0"/>
          <c:showCatName val="0"/>
          <c:showSerName val="0"/>
          <c:showPercent val="0"/>
          <c:showBubbleSize val="0"/>
        </c:dLbls>
        <c:gapWidth val="219"/>
        <c:overlap val="-27"/>
        <c:axId val="127132416"/>
        <c:axId val="127133952"/>
      </c:barChart>
      <c:catAx>
        <c:axId val="127132416"/>
        <c:scaling>
          <c:orientation val="minMax"/>
        </c:scaling>
        <c:delete val="1"/>
        <c:axPos val="b"/>
        <c:numFmt formatCode="General" sourceLinked="1"/>
        <c:majorTickMark val="none"/>
        <c:minorTickMark val="none"/>
        <c:tickLblPos val="nextTo"/>
        <c:crossAx val="127133952"/>
        <c:crosses val="autoZero"/>
        <c:auto val="1"/>
        <c:lblAlgn val="ctr"/>
        <c:lblOffset val="100"/>
        <c:noMultiLvlLbl val="0"/>
      </c:catAx>
      <c:valAx>
        <c:axId val="12713395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1324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3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040810447474556E-2"/>
          <c:y val="0.11062352968192299"/>
          <c:w val="0.93243886434927337"/>
          <c:h val="0.82613014080470026"/>
        </c:manualLayout>
      </c:layout>
      <c:barChart>
        <c:barDir val="col"/>
        <c:grouping val="clustered"/>
        <c:varyColors val="0"/>
        <c:ser>
          <c:idx val="0"/>
          <c:order val="0"/>
          <c:tx>
            <c:strRef>
              <c:f>'Funding bar chart'!$I$45</c:f>
              <c:strCache>
                <c:ptCount val="1"/>
                <c:pt idx="0">
                  <c:v>Federal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chart'!$J$44:$L$44</c:f>
              <c:strCache>
                <c:ptCount val="3"/>
                <c:pt idx="0">
                  <c:v>2000-2008</c:v>
                </c:pt>
                <c:pt idx="1">
                  <c:v>2008-2010</c:v>
                </c:pt>
                <c:pt idx="2">
                  <c:v>2010-2016</c:v>
                </c:pt>
              </c:strCache>
            </c:strRef>
          </c:cat>
          <c:val>
            <c:numRef>
              <c:f>'Funding bar chart'!$J$45:$L$45</c:f>
              <c:numCache>
                <c:formatCode>0.0</c:formatCode>
                <c:ptCount val="3"/>
                <c:pt idx="0">
                  <c:v>3.5</c:v>
                </c:pt>
                <c:pt idx="1">
                  <c:v>4.5</c:v>
                </c:pt>
                <c:pt idx="2">
                  <c:v>0.5</c:v>
                </c:pt>
              </c:numCache>
            </c:numRef>
          </c:val>
          <c:extLst>
            <c:ext xmlns:c16="http://schemas.microsoft.com/office/drawing/2014/chart" uri="{C3380CC4-5D6E-409C-BE32-E72D297353CC}">
              <c16:uniqueId val="{00000000-5069-4EE0-8DA4-17C88BD4C39E}"/>
            </c:ext>
          </c:extLst>
        </c:ser>
        <c:ser>
          <c:idx val="1"/>
          <c:order val="1"/>
          <c:tx>
            <c:strRef>
              <c:f>'Funding bar chart'!$I$46</c:f>
              <c:strCache>
                <c:ptCount val="1"/>
                <c:pt idx="0">
                  <c:v>Business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chart'!$J$44:$L$44</c:f>
              <c:strCache>
                <c:ptCount val="3"/>
                <c:pt idx="0">
                  <c:v>2000-2008</c:v>
                </c:pt>
                <c:pt idx="1">
                  <c:v>2008-2010</c:v>
                </c:pt>
                <c:pt idx="2">
                  <c:v>2010-2016</c:v>
                </c:pt>
              </c:strCache>
            </c:strRef>
          </c:cat>
          <c:val>
            <c:numRef>
              <c:f>'Funding bar chart'!$J$46:$L$46</c:f>
              <c:numCache>
                <c:formatCode>0.0</c:formatCode>
                <c:ptCount val="3"/>
                <c:pt idx="0">
                  <c:v>2.2999999999999998</c:v>
                </c:pt>
                <c:pt idx="1">
                  <c:v>-3</c:v>
                </c:pt>
                <c:pt idx="2">
                  <c:v>2.9</c:v>
                </c:pt>
              </c:numCache>
            </c:numRef>
          </c:val>
          <c:extLst>
            <c:ext xmlns:c16="http://schemas.microsoft.com/office/drawing/2014/chart" uri="{C3380CC4-5D6E-409C-BE32-E72D297353CC}">
              <c16:uniqueId val="{00000001-5069-4EE0-8DA4-17C88BD4C39E}"/>
            </c:ext>
          </c:extLst>
        </c:ser>
        <c:ser>
          <c:idx val="2"/>
          <c:order val="2"/>
          <c:tx>
            <c:strRef>
              <c:f>'Funding bar chart'!$I$47</c:f>
              <c:strCache>
                <c:ptCount val="1"/>
                <c:pt idx="0">
                  <c:v>Higher Education</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chart'!$J$44:$L$44</c:f>
              <c:strCache>
                <c:ptCount val="3"/>
                <c:pt idx="0">
                  <c:v>2000-2008</c:v>
                </c:pt>
                <c:pt idx="1">
                  <c:v>2008-2010</c:v>
                </c:pt>
                <c:pt idx="2">
                  <c:v>2010-2016</c:v>
                </c:pt>
              </c:strCache>
            </c:strRef>
          </c:cat>
          <c:val>
            <c:numRef>
              <c:f>'Funding bar chart'!$J$47:$L$47</c:f>
              <c:numCache>
                <c:formatCode>0.0</c:formatCode>
                <c:ptCount val="3"/>
                <c:pt idx="0">
                  <c:v>4.5999999999999996</c:v>
                </c:pt>
                <c:pt idx="1">
                  <c:v>4.5999999999999996</c:v>
                </c:pt>
                <c:pt idx="2">
                  <c:v>0.9</c:v>
                </c:pt>
              </c:numCache>
            </c:numRef>
          </c:val>
          <c:extLst>
            <c:ext xmlns:c16="http://schemas.microsoft.com/office/drawing/2014/chart" uri="{C3380CC4-5D6E-409C-BE32-E72D297353CC}">
              <c16:uniqueId val="{00000002-5069-4EE0-8DA4-17C88BD4C39E}"/>
            </c:ext>
          </c:extLst>
        </c:ser>
        <c:dLbls>
          <c:showLegendKey val="0"/>
          <c:showVal val="0"/>
          <c:showCatName val="0"/>
          <c:showSerName val="0"/>
          <c:showPercent val="0"/>
          <c:showBubbleSize val="0"/>
        </c:dLbls>
        <c:gapWidth val="219"/>
        <c:overlap val="-27"/>
        <c:axId val="140522624"/>
        <c:axId val="140524160"/>
      </c:barChart>
      <c:catAx>
        <c:axId val="140522624"/>
        <c:scaling>
          <c:orientation val="minMax"/>
        </c:scaling>
        <c:delete val="1"/>
        <c:axPos val="b"/>
        <c:numFmt formatCode="General" sourceLinked="1"/>
        <c:majorTickMark val="none"/>
        <c:minorTickMark val="none"/>
        <c:tickLblPos val="nextTo"/>
        <c:crossAx val="140524160"/>
        <c:crosses val="autoZero"/>
        <c:auto val="1"/>
        <c:lblAlgn val="ctr"/>
        <c:lblOffset val="100"/>
        <c:noMultiLvlLbl val="0"/>
      </c:catAx>
      <c:valAx>
        <c:axId val="140524160"/>
        <c:scaling>
          <c:orientation val="minMax"/>
          <c:max val="6"/>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522624"/>
        <c:crosses val="autoZero"/>
        <c:crossBetween val="between"/>
      </c:valAx>
      <c:spPr>
        <a:noFill/>
        <a:ln>
          <a:noFill/>
        </a:ln>
        <a:effectLst/>
      </c:spPr>
    </c:plotArea>
    <c:legend>
      <c:legendPos val="t"/>
      <c:layout>
        <c:manualLayout>
          <c:xMode val="edge"/>
          <c:yMode val="edge"/>
          <c:x val="0.16648550028807374"/>
          <c:y val="1.4054739891861503E-2"/>
          <c:w val="0.65889891812303947"/>
          <c:h val="7.5486679952269223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b="1" i="0" baseline="0">
          <a:latin typeface="Arial" panose="020B060402020202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'Funding bar chart'!$E$30</c:f>
              <c:strCache>
                <c:ptCount val="1"/>
                <c:pt idx="0">
                  <c:v>to Federal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chart'!$F$29:$H$29</c:f>
              <c:strCache>
                <c:ptCount val="3"/>
                <c:pt idx="0">
                  <c:v>2000-2008</c:v>
                </c:pt>
                <c:pt idx="1">
                  <c:v>2008-2010</c:v>
                </c:pt>
                <c:pt idx="2">
                  <c:v>2010-2016</c:v>
                </c:pt>
              </c:strCache>
            </c:strRef>
          </c:cat>
          <c:val>
            <c:numRef>
              <c:f>'Funding bar chart'!$F$30:$H$30</c:f>
              <c:numCache>
                <c:formatCode>General</c:formatCode>
                <c:ptCount val="3"/>
                <c:pt idx="0">
                  <c:v>3.4</c:v>
                </c:pt>
                <c:pt idx="1">
                  <c:v>4.5</c:v>
                </c:pt>
                <c:pt idx="2">
                  <c:v>0.5</c:v>
                </c:pt>
              </c:numCache>
            </c:numRef>
          </c:val>
          <c:extLst>
            <c:ext xmlns:c16="http://schemas.microsoft.com/office/drawing/2014/chart" uri="{C3380CC4-5D6E-409C-BE32-E72D297353CC}">
              <c16:uniqueId val="{00000000-787B-4C2B-A8D6-88460DD89A3E}"/>
            </c:ext>
          </c:extLst>
        </c:ser>
        <c:ser>
          <c:idx val="1"/>
          <c:order val="1"/>
          <c:tx>
            <c:strRef>
              <c:f>'Funding bar chart'!$E$31</c:f>
              <c:strCache>
                <c:ptCount val="1"/>
                <c:pt idx="0">
                  <c:v>to Business</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chart'!$F$29:$H$29</c:f>
              <c:strCache>
                <c:ptCount val="3"/>
                <c:pt idx="0">
                  <c:v>2000-2008</c:v>
                </c:pt>
                <c:pt idx="1">
                  <c:v>2008-2010</c:v>
                </c:pt>
                <c:pt idx="2">
                  <c:v>2010-2016</c:v>
                </c:pt>
              </c:strCache>
            </c:strRef>
          </c:cat>
          <c:val>
            <c:numRef>
              <c:f>'Funding bar chart'!$F$31:$H$31</c:f>
              <c:numCache>
                <c:formatCode>General</c:formatCode>
                <c:ptCount val="3"/>
                <c:pt idx="0">
                  <c:v>7.3</c:v>
                </c:pt>
                <c:pt idx="1">
                  <c:v>-4</c:v>
                </c:pt>
                <c:pt idx="2">
                  <c:v>-6.8</c:v>
                </c:pt>
              </c:numCache>
            </c:numRef>
          </c:val>
          <c:extLst>
            <c:ext xmlns:c16="http://schemas.microsoft.com/office/drawing/2014/chart" uri="{C3380CC4-5D6E-409C-BE32-E72D297353CC}">
              <c16:uniqueId val="{00000001-787B-4C2B-A8D6-88460DD89A3E}"/>
            </c:ext>
          </c:extLst>
        </c:ser>
        <c:ser>
          <c:idx val="2"/>
          <c:order val="2"/>
          <c:tx>
            <c:strRef>
              <c:f>'Funding bar chart'!$E$32</c:f>
              <c:strCache>
                <c:ptCount val="1"/>
                <c:pt idx="0">
                  <c:v>to Higher Ed</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'Funding bar chart'!$F$29:$H$29</c:f>
              <c:strCache>
                <c:ptCount val="3"/>
                <c:pt idx="0">
                  <c:v>2000-2008</c:v>
                </c:pt>
                <c:pt idx="1">
                  <c:v>2008-2010</c:v>
                </c:pt>
                <c:pt idx="2">
                  <c:v>2010-2016</c:v>
                </c:pt>
              </c:strCache>
            </c:strRef>
          </c:cat>
          <c:val>
            <c:numRef>
              <c:f>'Funding bar chart'!$F$32:$H$32</c:f>
              <c:numCache>
                <c:formatCode>General</c:formatCode>
                <c:ptCount val="3"/>
                <c:pt idx="0">
                  <c:v>4.5999999999999996</c:v>
                </c:pt>
                <c:pt idx="1">
                  <c:v>7.1</c:v>
                </c:pt>
                <c:pt idx="2">
                  <c:v>-1.8</c:v>
                </c:pt>
              </c:numCache>
            </c:numRef>
          </c:val>
          <c:extLst>
            <c:ext xmlns:c16="http://schemas.microsoft.com/office/drawing/2014/chart" uri="{C3380CC4-5D6E-409C-BE32-E72D297353CC}">
              <c16:uniqueId val="{00000002-787B-4C2B-A8D6-88460DD89A3E}"/>
            </c:ext>
          </c:extLst>
        </c:ser>
        <c:dLbls>
          <c:showLegendKey val="0"/>
          <c:showVal val="0"/>
          <c:showCatName val="0"/>
          <c:showSerName val="0"/>
          <c:showPercent val="0"/>
          <c:showBubbleSize val="0"/>
        </c:dLbls>
        <c:gapWidth val="219"/>
        <c:overlap val="-27"/>
        <c:axId val="140412800"/>
        <c:axId val="140414336"/>
      </c:barChart>
      <c:catAx>
        <c:axId val="140412800"/>
        <c:scaling>
          <c:orientation val="minMax"/>
        </c:scaling>
        <c:delete val="1"/>
        <c:axPos val="b"/>
        <c:numFmt formatCode="General" sourceLinked="1"/>
        <c:majorTickMark val="none"/>
        <c:minorTickMark val="none"/>
        <c:tickLblPos val="nextTo"/>
        <c:crossAx val="140414336"/>
        <c:crosses val="autoZero"/>
        <c:auto val="1"/>
        <c:lblAlgn val="ctr"/>
        <c:lblOffset val="100"/>
        <c:noMultiLvlLbl val="0"/>
      </c:catAx>
      <c:valAx>
        <c:axId val="140414336"/>
        <c:scaling>
          <c:orientation val="minMax"/>
          <c:max val="8"/>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4128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737532808398949E-2"/>
          <c:y val="6.1874999999999999E-2"/>
          <c:w val="0.89018965951173912"/>
          <c:h val="0.84927083333333331"/>
        </c:manualLayout>
      </c:layout>
      <c:lineChart>
        <c:grouping val="standard"/>
        <c:varyColors val="0"/>
        <c:ser>
          <c:idx val="0"/>
          <c:order val="0"/>
          <c:tx>
            <c:strRef>
              <c:f>Performers!$B$145</c:f>
              <c:strCache>
                <c:ptCount val="1"/>
                <c:pt idx="0">
                  <c:v>Total</c:v>
                </c:pt>
              </c:strCache>
            </c:strRef>
          </c:tx>
          <c:spPr>
            <a:ln w="28575" cap="rnd">
              <a:solidFill>
                <a:srgbClr val="FF0000"/>
              </a:solidFill>
              <a:round/>
            </a:ln>
            <a:effectLst/>
          </c:spPr>
          <c:marker>
            <c:symbol val="none"/>
          </c:marker>
          <c:cat>
            <c:numRef>
              <c:f>Performers!$A$146:$A$162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Performers!$B$146:$B$162</c:f>
              <c:numCache>
                <c:formatCode>#,##0.0</c:formatCode>
                <c:ptCount val="17"/>
                <c:pt idx="0">
                  <c:v>36.5</c:v>
                </c:pt>
                <c:pt idx="1">
                  <c:v>39.1</c:v>
                </c:pt>
                <c:pt idx="2">
                  <c:v>43.1</c:v>
                </c:pt>
                <c:pt idx="3">
                  <c:v>46.8</c:v>
                </c:pt>
                <c:pt idx="4">
                  <c:v>48.6</c:v>
                </c:pt>
                <c:pt idx="5">
                  <c:v>49.5</c:v>
                </c:pt>
                <c:pt idx="6">
                  <c:v>50</c:v>
                </c:pt>
                <c:pt idx="7">
                  <c:v>50.8</c:v>
                </c:pt>
                <c:pt idx="8">
                  <c:v>52.5</c:v>
                </c:pt>
                <c:pt idx="9">
                  <c:v>54.9</c:v>
                </c:pt>
                <c:pt idx="10">
                  <c:v>57.4</c:v>
                </c:pt>
                <c:pt idx="11">
                  <c:v>58.2</c:v>
                </c:pt>
                <c:pt idx="12">
                  <c:v>57.9</c:v>
                </c:pt>
                <c:pt idx="13">
                  <c:v>57.6</c:v>
                </c:pt>
                <c:pt idx="14">
                  <c:v>57.3</c:v>
                </c:pt>
                <c:pt idx="15">
                  <c:v>58.8</c:v>
                </c:pt>
                <c:pt idx="16">
                  <c:v>60.6</c:v>
                </c:pt>
              </c:numCache>
            </c:numRef>
          </c:val>
          <c:smooth val="0"/>
          <c:extLst>
            <c:ext xmlns:c16="http://schemas.microsoft.com/office/drawing/2014/chart" uri="{C3380CC4-5D6E-409C-BE32-E72D297353CC}">
              <c16:uniqueId val="{00000000-074B-4C05-BC64-D412B5F12F02}"/>
            </c:ext>
          </c:extLst>
        </c:ser>
        <c:ser>
          <c:idx val="1"/>
          <c:order val="1"/>
          <c:tx>
            <c:strRef>
              <c:f>Performers!$C$145</c:f>
              <c:strCache>
                <c:ptCount val="1"/>
                <c:pt idx="0">
                  <c:v>Federal government</c:v>
                </c:pt>
              </c:strCache>
            </c:strRef>
          </c:tx>
          <c:spPr>
            <a:ln w="28575" cap="rnd">
              <a:solidFill>
                <a:schemeClr val="accent2"/>
              </a:solidFill>
              <a:round/>
            </a:ln>
            <a:effectLst/>
          </c:spPr>
          <c:marker>
            <c:symbol val="none"/>
          </c:marker>
          <c:cat>
            <c:numRef>
              <c:f>Performers!$A$146:$A$162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Performers!$C$146:$C$162</c:f>
              <c:numCache>
                <c:formatCode>#,##0.0</c:formatCode>
                <c:ptCount val="17"/>
                <c:pt idx="0">
                  <c:v>20.9</c:v>
                </c:pt>
                <c:pt idx="1">
                  <c:v>22.7</c:v>
                </c:pt>
                <c:pt idx="2">
                  <c:v>25.5</c:v>
                </c:pt>
                <c:pt idx="3">
                  <c:v>28.3</c:v>
                </c:pt>
                <c:pt idx="4">
                  <c:v>29.9</c:v>
                </c:pt>
                <c:pt idx="5">
                  <c:v>30.2</c:v>
                </c:pt>
                <c:pt idx="6">
                  <c:v>29.8</c:v>
                </c:pt>
                <c:pt idx="7">
                  <c:v>29.5</c:v>
                </c:pt>
                <c:pt idx="8">
                  <c:v>29.9</c:v>
                </c:pt>
                <c:pt idx="9">
                  <c:v>31.7</c:v>
                </c:pt>
                <c:pt idx="10">
                  <c:v>34.299999999999997</c:v>
                </c:pt>
                <c:pt idx="11">
                  <c:v>34.6</c:v>
                </c:pt>
                <c:pt idx="12">
                  <c:v>33.200000000000003</c:v>
                </c:pt>
                <c:pt idx="13">
                  <c:v>31.7</c:v>
                </c:pt>
                <c:pt idx="14">
                  <c:v>30.4</c:v>
                </c:pt>
                <c:pt idx="15">
                  <c:v>30.5</c:v>
                </c:pt>
                <c:pt idx="16">
                  <c:v>30.7</c:v>
                </c:pt>
              </c:numCache>
            </c:numRef>
          </c:val>
          <c:smooth val="0"/>
          <c:extLst>
            <c:ext xmlns:c16="http://schemas.microsoft.com/office/drawing/2014/chart" uri="{C3380CC4-5D6E-409C-BE32-E72D297353CC}">
              <c16:uniqueId val="{00000001-074B-4C05-BC64-D412B5F12F02}"/>
            </c:ext>
          </c:extLst>
        </c:ser>
        <c:ser>
          <c:idx val="2"/>
          <c:order val="2"/>
          <c:tx>
            <c:strRef>
              <c:f>Performers!$D$145</c:f>
              <c:strCache>
                <c:ptCount val="1"/>
                <c:pt idx="0">
                  <c:v>State government</c:v>
                </c:pt>
              </c:strCache>
            </c:strRef>
          </c:tx>
          <c:spPr>
            <a:ln w="28575" cap="rnd">
              <a:solidFill>
                <a:srgbClr val="00B0F0"/>
              </a:solidFill>
              <a:round/>
            </a:ln>
            <a:effectLst/>
          </c:spPr>
          <c:marker>
            <c:symbol val="none"/>
          </c:marker>
          <c:cat>
            <c:numRef>
              <c:f>Performers!$A$146:$A$162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Performers!$D$146:$D$162</c:f>
              <c:numCache>
                <c:formatCode>#,##0.0</c:formatCode>
                <c:ptCount val="17"/>
                <c:pt idx="0">
                  <c:v>2.7</c:v>
                </c:pt>
                <c:pt idx="1">
                  <c:v>2.8</c:v>
                </c:pt>
                <c:pt idx="2">
                  <c:v>3</c:v>
                </c:pt>
                <c:pt idx="3">
                  <c:v>3.2</c:v>
                </c:pt>
                <c:pt idx="4">
                  <c:v>3.2</c:v>
                </c:pt>
                <c:pt idx="5">
                  <c:v>3.2</c:v>
                </c:pt>
                <c:pt idx="6">
                  <c:v>3.2</c:v>
                </c:pt>
                <c:pt idx="7">
                  <c:v>3.4</c:v>
                </c:pt>
                <c:pt idx="8">
                  <c:v>3.6</c:v>
                </c:pt>
                <c:pt idx="9">
                  <c:v>3.7</c:v>
                </c:pt>
                <c:pt idx="10">
                  <c:v>3.6</c:v>
                </c:pt>
                <c:pt idx="11">
                  <c:v>3.5</c:v>
                </c:pt>
                <c:pt idx="12">
                  <c:v>3.4</c:v>
                </c:pt>
                <c:pt idx="13">
                  <c:v>3.4</c:v>
                </c:pt>
                <c:pt idx="14">
                  <c:v>3.4</c:v>
                </c:pt>
                <c:pt idx="15">
                  <c:v>3.4</c:v>
                </c:pt>
                <c:pt idx="16">
                  <c:v>3.5</c:v>
                </c:pt>
              </c:numCache>
            </c:numRef>
          </c:val>
          <c:smooth val="0"/>
          <c:extLst>
            <c:ext xmlns:c16="http://schemas.microsoft.com/office/drawing/2014/chart" uri="{C3380CC4-5D6E-409C-BE32-E72D297353CC}">
              <c16:uniqueId val="{00000002-074B-4C05-BC64-D412B5F12F02}"/>
            </c:ext>
          </c:extLst>
        </c:ser>
        <c:ser>
          <c:idx val="3"/>
          <c:order val="3"/>
          <c:tx>
            <c:strRef>
              <c:f>Performers!$E$145</c:f>
              <c:strCache>
                <c:ptCount val="1"/>
                <c:pt idx="0">
                  <c:v>Business</c:v>
                </c:pt>
              </c:strCache>
            </c:strRef>
          </c:tx>
          <c:spPr>
            <a:ln w="28575" cap="rnd">
              <a:solidFill>
                <a:srgbClr val="00B050"/>
              </a:solidFill>
              <a:round/>
            </a:ln>
            <a:effectLst/>
          </c:spPr>
          <c:marker>
            <c:symbol val="none"/>
          </c:marker>
          <c:cat>
            <c:numRef>
              <c:f>Performers!$A$146:$A$162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Performers!$E$146:$E$162</c:f>
              <c:numCache>
                <c:formatCode>#,##0.0</c:formatCode>
                <c:ptCount val="17"/>
                <c:pt idx="0">
                  <c:v>2.6</c:v>
                </c:pt>
                <c:pt idx="1">
                  <c:v>2.5</c:v>
                </c:pt>
                <c:pt idx="2">
                  <c:v>2.5</c:v>
                </c:pt>
                <c:pt idx="3">
                  <c:v>2.4</c:v>
                </c:pt>
                <c:pt idx="4">
                  <c:v>2.4</c:v>
                </c:pt>
                <c:pt idx="5">
                  <c:v>2.5</c:v>
                </c:pt>
                <c:pt idx="6">
                  <c:v>2.6</c:v>
                </c:pt>
                <c:pt idx="7">
                  <c:v>2.8</c:v>
                </c:pt>
                <c:pt idx="8">
                  <c:v>3</c:v>
                </c:pt>
                <c:pt idx="9">
                  <c:v>3</c:v>
                </c:pt>
                <c:pt idx="10">
                  <c:v>2.9</c:v>
                </c:pt>
                <c:pt idx="11">
                  <c:v>2.9</c:v>
                </c:pt>
                <c:pt idx="12">
                  <c:v>3</c:v>
                </c:pt>
                <c:pt idx="13">
                  <c:v>3.2</c:v>
                </c:pt>
                <c:pt idx="14">
                  <c:v>3.3</c:v>
                </c:pt>
                <c:pt idx="15">
                  <c:v>3.5</c:v>
                </c:pt>
                <c:pt idx="16">
                  <c:v>3.6</c:v>
                </c:pt>
              </c:numCache>
            </c:numRef>
          </c:val>
          <c:smooth val="0"/>
          <c:extLst>
            <c:ext xmlns:c16="http://schemas.microsoft.com/office/drawing/2014/chart" uri="{C3380CC4-5D6E-409C-BE32-E72D297353CC}">
              <c16:uniqueId val="{00000003-074B-4C05-BC64-D412B5F12F02}"/>
            </c:ext>
          </c:extLst>
        </c:ser>
        <c:ser>
          <c:idx val="4"/>
          <c:order val="4"/>
          <c:tx>
            <c:strRef>
              <c:f>Performers!$F$145</c:f>
              <c:strCache>
                <c:ptCount val="1"/>
                <c:pt idx="0">
                  <c:v>University own</c:v>
                </c:pt>
              </c:strCache>
            </c:strRef>
          </c:tx>
          <c:spPr>
            <a:ln w="28575" cap="rnd">
              <a:solidFill>
                <a:srgbClr val="FF0000"/>
              </a:solidFill>
              <a:prstDash val="dash"/>
              <a:round/>
            </a:ln>
            <a:effectLst/>
          </c:spPr>
          <c:marker>
            <c:symbol val="none"/>
          </c:marker>
          <c:cat>
            <c:numRef>
              <c:f>Performers!$A$146:$A$162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Performers!$F$146:$F$162</c:f>
              <c:numCache>
                <c:formatCode>#,##0.0</c:formatCode>
                <c:ptCount val="17"/>
                <c:pt idx="0">
                  <c:v>7.7</c:v>
                </c:pt>
                <c:pt idx="1">
                  <c:v>8.1999999999999993</c:v>
                </c:pt>
                <c:pt idx="2">
                  <c:v>9</c:v>
                </c:pt>
                <c:pt idx="3">
                  <c:v>9.6</c:v>
                </c:pt>
                <c:pt idx="4">
                  <c:v>9.6999999999999993</c:v>
                </c:pt>
                <c:pt idx="5">
                  <c:v>10.199999999999999</c:v>
                </c:pt>
                <c:pt idx="6">
                  <c:v>10.7</c:v>
                </c:pt>
                <c:pt idx="7">
                  <c:v>11.2</c:v>
                </c:pt>
                <c:pt idx="8">
                  <c:v>11.8</c:v>
                </c:pt>
                <c:pt idx="9">
                  <c:v>12.1</c:v>
                </c:pt>
                <c:pt idx="10">
                  <c:v>12.1</c:v>
                </c:pt>
                <c:pt idx="11">
                  <c:v>12.7</c:v>
                </c:pt>
                <c:pt idx="12">
                  <c:v>13.6</c:v>
                </c:pt>
                <c:pt idx="13">
                  <c:v>14.4</c:v>
                </c:pt>
                <c:pt idx="14">
                  <c:v>14.9</c:v>
                </c:pt>
                <c:pt idx="15">
                  <c:v>15.8</c:v>
                </c:pt>
                <c:pt idx="16">
                  <c:v>16.8</c:v>
                </c:pt>
              </c:numCache>
            </c:numRef>
          </c:val>
          <c:smooth val="0"/>
          <c:extLst>
            <c:ext xmlns:c16="http://schemas.microsoft.com/office/drawing/2014/chart" uri="{C3380CC4-5D6E-409C-BE32-E72D297353CC}">
              <c16:uniqueId val="{00000004-074B-4C05-BC64-D412B5F12F02}"/>
            </c:ext>
          </c:extLst>
        </c:ser>
        <c:ser>
          <c:idx val="5"/>
          <c:order val="5"/>
          <c:tx>
            <c:strRef>
              <c:f>Performers!$G$145</c:f>
              <c:strCache>
                <c:ptCount val="1"/>
                <c:pt idx="0">
                  <c:v>Nonprofit</c:v>
                </c:pt>
              </c:strCache>
            </c:strRef>
          </c:tx>
          <c:spPr>
            <a:ln w="28575" cap="rnd">
              <a:solidFill>
                <a:srgbClr val="EA5E42"/>
              </a:solidFill>
              <a:round/>
            </a:ln>
            <a:effectLst/>
          </c:spPr>
          <c:marker>
            <c:symbol val="none"/>
          </c:marker>
          <c:cat>
            <c:numRef>
              <c:f>Performers!$A$146:$A$162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Performers!$G$146:$G$162</c:f>
              <c:numCache>
                <c:formatCode>#,##0.0</c:formatCode>
                <c:ptCount val="17"/>
                <c:pt idx="0">
                  <c:v>2.8</c:v>
                </c:pt>
                <c:pt idx="1">
                  <c:v>2.9</c:v>
                </c:pt>
                <c:pt idx="2">
                  <c:v>3.2</c:v>
                </c:pt>
                <c:pt idx="3">
                  <c:v>3.3</c:v>
                </c:pt>
                <c:pt idx="4">
                  <c:v>3.4</c:v>
                </c:pt>
                <c:pt idx="5">
                  <c:v>3.4</c:v>
                </c:pt>
                <c:pt idx="6">
                  <c:v>3.6</c:v>
                </c:pt>
                <c:pt idx="7">
                  <c:v>3.9</c:v>
                </c:pt>
                <c:pt idx="8">
                  <c:v>4.2</c:v>
                </c:pt>
                <c:pt idx="9">
                  <c:v>4.4000000000000004</c:v>
                </c:pt>
                <c:pt idx="10">
                  <c:v>4.5</c:v>
                </c:pt>
                <c:pt idx="11">
                  <c:v>4.5</c:v>
                </c:pt>
                <c:pt idx="12">
                  <c:v>4.7</c:v>
                </c:pt>
                <c:pt idx="13">
                  <c:v>5</c:v>
                </c:pt>
                <c:pt idx="14">
                  <c:v>5.2</c:v>
                </c:pt>
                <c:pt idx="15">
                  <c:v>5.6</c:v>
                </c:pt>
                <c:pt idx="16">
                  <c:v>6</c:v>
                </c:pt>
              </c:numCache>
            </c:numRef>
          </c:val>
          <c:smooth val="0"/>
          <c:extLst>
            <c:ext xmlns:c16="http://schemas.microsoft.com/office/drawing/2014/chart" uri="{C3380CC4-5D6E-409C-BE32-E72D297353CC}">
              <c16:uniqueId val="{00000005-074B-4C05-BC64-D412B5F12F02}"/>
            </c:ext>
          </c:extLst>
        </c:ser>
        <c:dLbls>
          <c:showLegendKey val="0"/>
          <c:showVal val="0"/>
          <c:showCatName val="0"/>
          <c:showSerName val="0"/>
          <c:showPercent val="0"/>
          <c:showBubbleSize val="0"/>
        </c:dLbls>
        <c:smooth val="0"/>
        <c:axId val="140163712"/>
        <c:axId val="140177792"/>
      </c:lineChart>
      <c:catAx>
        <c:axId val="14016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177792"/>
        <c:crosses val="autoZero"/>
        <c:auto val="1"/>
        <c:lblAlgn val="ctr"/>
        <c:lblOffset val="100"/>
        <c:tickLblSkip val="4"/>
        <c:noMultiLvlLbl val="0"/>
      </c:catAx>
      <c:valAx>
        <c:axId val="1401777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163712"/>
        <c:crosses val="autoZero"/>
        <c:crossBetween val="between"/>
      </c:valAx>
      <c:spPr>
        <a:noFill/>
        <a:ln>
          <a:noFill/>
        </a:ln>
        <a:effectLst/>
      </c:spPr>
    </c:plotArea>
    <c:plotVisOnly val="1"/>
    <c:dispBlanksAs val="gap"/>
    <c:showDLblsOverMax val="0"/>
  </c:chart>
  <c:spPr>
    <a:noFill/>
    <a:ln>
      <a:noFill/>
    </a:ln>
    <a:effectLst/>
  </c:spPr>
  <c:txPr>
    <a:bodyPr/>
    <a:lstStyle/>
    <a:p>
      <a:pPr>
        <a:defRPr b="1" i="0" baseline="0">
          <a:latin typeface="Arial" panose="020B06040202020202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'Abrev HERD'!$B$24</c:f>
              <c:strCache>
                <c:ptCount val="1"/>
                <c:pt idx="0">
                  <c:v>2016</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Arial" panose="020B06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'Abrev HERD'!$A$25:$A$38</c:f>
              <c:strCache>
                <c:ptCount val="14"/>
                <c:pt idx="0">
                  <c:v>Mathematics and statistics</c:v>
                </c:pt>
                <c:pt idx="1">
                  <c:v>Bioengineering and biomedical eng</c:v>
                </c:pt>
                <c:pt idx="2">
                  <c:v>Psychology</c:v>
                </c:pt>
                <c:pt idx="3">
                  <c:v>Computer and information sciences</c:v>
                </c:pt>
                <c:pt idx="4">
                  <c:v>Life sciences, nec</c:v>
                </c:pt>
                <c:pt idx="5">
                  <c:v>Social sciences</c:v>
                </c:pt>
                <c:pt idx="6">
                  <c:v>Electrical, electronic, and com. engineering</c:v>
                </c:pt>
                <c:pt idx="7">
                  <c:v>Geo, atmospheric, and ocean sciences</c:v>
                </c:pt>
                <c:pt idx="8">
                  <c:v>Agricultural sciences</c:v>
                </c:pt>
                <c:pt idx="9">
                  <c:v>Non-S&amp;E fields</c:v>
                </c:pt>
                <c:pt idx="10">
                  <c:v>Physical sciences</c:v>
                </c:pt>
                <c:pt idx="11">
                  <c:v>Engineering, other than bio and electrical</c:v>
                </c:pt>
                <c:pt idx="12">
                  <c:v>Biological and biomedical sciences</c:v>
                </c:pt>
                <c:pt idx="13">
                  <c:v>Health sciences</c:v>
                </c:pt>
              </c:strCache>
            </c:strRef>
          </c:cat>
          <c:val>
            <c:numRef>
              <c:f>'Abrev HERD'!$B$25:$B$38</c:f>
              <c:numCache>
                <c:formatCode>#,##0</c:formatCode>
                <c:ptCount val="14"/>
                <c:pt idx="0">
                  <c:v>682</c:v>
                </c:pt>
                <c:pt idx="1">
                  <c:v>1084</c:v>
                </c:pt>
                <c:pt idx="2">
                  <c:v>1219</c:v>
                </c:pt>
                <c:pt idx="3">
                  <c:v>2078</c:v>
                </c:pt>
                <c:pt idx="4">
                  <c:v>2152</c:v>
                </c:pt>
                <c:pt idx="5">
                  <c:v>2367</c:v>
                </c:pt>
                <c:pt idx="6">
                  <c:v>2517</c:v>
                </c:pt>
                <c:pt idx="7">
                  <c:v>3088</c:v>
                </c:pt>
                <c:pt idx="8">
                  <c:v>3293</c:v>
                </c:pt>
                <c:pt idx="9">
                  <c:v>4161</c:v>
                </c:pt>
                <c:pt idx="10">
                  <c:v>4894</c:v>
                </c:pt>
                <c:pt idx="11">
                  <c:v>7780</c:v>
                </c:pt>
                <c:pt idx="12">
                  <c:v>13049</c:v>
                </c:pt>
                <c:pt idx="13">
                  <c:v>22394</c:v>
                </c:pt>
              </c:numCache>
            </c:numRef>
          </c:val>
          <c:extLst>
            <c:ext xmlns:c16="http://schemas.microsoft.com/office/drawing/2014/chart" uri="{C3380CC4-5D6E-409C-BE32-E72D297353CC}">
              <c16:uniqueId val="{00000000-B7C7-4C97-8FB3-DC7C9EC04324}"/>
            </c:ext>
          </c:extLst>
        </c:ser>
        <c:ser>
          <c:idx val="1"/>
          <c:order val="1"/>
          <c:tx>
            <c:strRef>
              <c:f>'Abrev HERD'!$C$24</c:f>
              <c:strCache>
                <c:ptCount val="1"/>
                <c:pt idx="0">
                  <c:v>2010</c:v>
                </c:pt>
              </c:strCache>
            </c:strRef>
          </c:tx>
          <c:spPr>
            <a:solidFill>
              <a:schemeClr val="accent2"/>
            </a:solidFill>
            <a:ln>
              <a:noFill/>
            </a:ln>
            <a:effectLst/>
          </c:spPr>
          <c:invertIfNegative val="0"/>
          <c:cat>
            <c:strRef>
              <c:f>'Abrev HERD'!$A$25:$A$38</c:f>
              <c:strCache>
                <c:ptCount val="14"/>
                <c:pt idx="0">
                  <c:v>Mathematics and statistics</c:v>
                </c:pt>
                <c:pt idx="1">
                  <c:v>Bioengineering and biomedical eng</c:v>
                </c:pt>
                <c:pt idx="2">
                  <c:v>Psychology</c:v>
                </c:pt>
                <c:pt idx="3">
                  <c:v>Computer and information sciences</c:v>
                </c:pt>
                <c:pt idx="4">
                  <c:v>Life sciences, nec</c:v>
                </c:pt>
                <c:pt idx="5">
                  <c:v>Social sciences</c:v>
                </c:pt>
                <c:pt idx="6">
                  <c:v>Electrical, electronic, and com. engineering</c:v>
                </c:pt>
                <c:pt idx="7">
                  <c:v>Geo, atmospheric, and ocean sciences</c:v>
                </c:pt>
                <c:pt idx="8">
                  <c:v>Agricultural sciences</c:v>
                </c:pt>
                <c:pt idx="9">
                  <c:v>Non-S&amp;E fields</c:v>
                </c:pt>
                <c:pt idx="10">
                  <c:v>Physical sciences</c:v>
                </c:pt>
                <c:pt idx="11">
                  <c:v>Engineering, other than bio and electrical</c:v>
                </c:pt>
                <c:pt idx="12">
                  <c:v>Biological and biomedical sciences</c:v>
                </c:pt>
                <c:pt idx="13">
                  <c:v>Health sciences</c:v>
                </c:pt>
              </c:strCache>
            </c:strRef>
          </c:cat>
          <c:val>
            <c:numRef>
              <c:f>'Abrev HERD'!$C$25:$C$38</c:f>
              <c:numCache>
                <c:formatCode>#,##0</c:formatCode>
                <c:ptCount val="14"/>
                <c:pt idx="0">
                  <c:v>592</c:v>
                </c:pt>
                <c:pt idx="1">
                  <c:v>745</c:v>
                </c:pt>
                <c:pt idx="2">
                  <c:v>1078</c:v>
                </c:pt>
                <c:pt idx="3">
                  <c:v>1638</c:v>
                </c:pt>
                <c:pt idx="4">
                  <c:v>1759</c:v>
                </c:pt>
                <c:pt idx="5">
                  <c:v>2000</c:v>
                </c:pt>
                <c:pt idx="6">
                  <c:v>2050</c:v>
                </c:pt>
                <c:pt idx="7">
                  <c:v>2992</c:v>
                </c:pt>
                <c:pt idx="8">
                  <c:v>3011</c:v>
                </c:pt>
                <c:pt idx="9">
                  <c:v>2899</c:v>
                </c:pt>
                <c:pt idx="10">
                  <c:v>4622</c:v>
                </c:pt>
                <c:pt idx="11">
                  <c:v>6530</c:v>
                </c:pt>
                <c:pt idx="12">
                  <c:v>10946</c:v>
                </c:pt>
                <c:pt idx="13">
                  <c:v>19268</c:v>
                </c:pt>
              </c:numCache>
            </c:numRef>
          </c:val>
          <c:extLst>
            <c:ext xmlns:c16="http://schemas.microsoft.com/office/drawing/2014/chart" uri="{C3380CC4-5D6E-409C-BE32-E72D297353CC}">
              <c16:uniqueId val="{00000001-B7C7-4C97-8FB3-DC7C9EC04324}"/>
            </c:ext>
          </c:extLst>
        </c:ser>
        <c:dLbls>
          <c:showLegendKey val="0"/>
          <c:showVal val="0"/>
          <c:showCatName val="0"/>
          <c:showSerName val="0"/>
          <c:showPercent val="0"/>
          <c:showBubbleSize val="0"/>
        </c:dLbls>
        <c:gapWidth val="182"/>
        <c:axId val="140301824"/>
        <c:axId val="140303360"/>
      </c:barChart>
      <c:catAx>
        <c:axId val="140301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303360"/>
        <c:crosses val="autoZero"/>
        <c:auto val="1"/>
        <c:lblAlgn val="ctr"/>
        <c:lblOffset val="100"/>
        <c:noMultiLvlLbl val="0"/>
      </c:catAx>
      <c:valAx>
        <c:axId val="140303360"/>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301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sz="1200" b="1" i="0" baseline="0">
          <a:latin typeface="Arial" panose="020B060402020202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'long trend'!$A$13</c:f>
              <c:strCache>
                <c:ptCount val="1"/>
                <c:pt idx="0">
                  <c:v>Domestic R&amp;D paid for by the company and others and performed by the company</c:v>
                </c:pt>
              </c:strCache>
            </c:strRef>
          </c:tx>
          <c:spPr>
            <a:solidFill>
              <a:schemeClr val="accent1"/>
            </a:solidFill>
            <a:ln>
              <a:noFill/>
            </a:ln>
            <a:effectLst/>
          </c:spPr>
          <c:invertIfNegative val="0"/>
          <c:cat>
            <c:numRef>
              <c:f>'long trend'!$B$12:$J$12</c:f>
              <c:numCache>
                <c:formatCode>General</c:formatCode>
                <c:ptCount val="9"/>
                <c:pt idx="0">
                  <c:v>2008</c:v>
                </c:pt>
                <c:pt idx="1">
                  <c:v>2009</c:v>
                </c:pt>
                <c:pt idx="2">
                  <c:v>2010</c:v>
                </c:pt>
                <c:pt idx="3">
                  <c:v>2011</c:v>
                </c:pt>
                <c:pt idx="4">
                  <c:v>2012</c:v>
                </c:pt>
                <c:pt idx="5">
                  <c:v>2013</c:v>
                </c:pt>
                <c:pt idx="6">
                  <c:v>2014</c:v>
                </c:pt>
                <c:pt idx="7">
                  <c:v>2015</c:v>
                </c:pt>
                <c:pt idx="8">
                  <c:v>2016</c:v>
                </c:pt>
              </c:numCache>
            </c:numRef>
          </c:cat>
          <c:val>
            <c:numRef>
              <c:f>'long trend'!$B$13:$J$13</c:f>
              <c:numCache>
                <c:formatCode>#,##0</c:formatCode>
                <c:ptCount val="9"/>
                <c:pt idx="0">
                  <c:v>290.68</c:v>
                </c:pt>
                <c:pt idx="1">
                  <c:v>282.505</c:v>
                </c:pt>
                <c:pt idx="2">
                  <c:v>279.28899999999999</c:v>
                </c:pt>
                <c:pt idx="3">
                  <c:v>290.24</c:v>
                </c:pt>
                <c:pt idx="4">
                  <c:v>302.75900000000001</c:v>
                </c:pt>
                <c:pt idx="5">
                  <c:v>323.10700000000003</c:v>
                </c:pt>
                <c:pt idx="6">
                  <c:v>340.53899999999999</c:v>
                </c:pt>
                <c:pt idx="7">
                  <c:v>355.82100000000003</c:v>
                </c:pt>
                <c:pt idx="8">
                  <c:v>374.685</c:v>
                </c:pt>
              </c:numCache>
            </c:numRef>
          </c:val>
          <c:extLst>
            <c:ext xmlns:c16="http://schemas.microsoft.com/office/drawing/2014/chart" uri="{C3380CC4-5D6E-409C-BE32-E72D297353CC}">
              <c16:uniqueId val="{00000000-E75A-4E5D-BB38-6F5D594BA7AF}"/>
            </c:ext>
          </c:extLst>
        </c:ser>
        <c:ser>
          <c:idx val="1"/>
          <c:order val="1"/>
          <c:tx>
            <c:strRef>
              <c:f>'long trend'!$A$14</c:f>
              <c:strCache>
                <c:ptCount val="1"/>
                <c:pt idx="0">
                  <c:v>Foreign R&amp;D paid for by the company and others and performed by the company</c:v>
                </c:pt>
              </c:strCache>
            </c:strRef>
          </c:tx>
          <c:spPr>
            <a:solidFill>
              <a:schemeClr val="accent2"/>
            </a:solidFill>
            <a:ln>
              <a:noFill/>
            </a:ln>
            <a:effectLst/>
          </c:spPr>
          <c:invertIfNegative val="0"/>
          <c:cat>
            <c:numRef>
              <c:f>'long trend'!$B$12:$J$12</c:f>
              <c:numCache>
                <c:formatCode>General</c:formatCode>
                <c:ptCount val="9"/>
                <c:pt idx="0">
                  <c:v>2008</c:v>
                </c:pt>
                <c:pt idx="1">
                  <c:v>2009</c:v>
                </c:pt>
                <c:pt idx="2">
                  <c:v>2010</c:v>
                </c:pt>
                <c:pt idx="3">
                  <c:v>2011</c:v>
                </c:pt>
                <c:pt idx="4">
                  <c:v>2012</c:v>
                </c:pt>
                <c:pt idx="5">
                  <c:v>2013</c:v>
                </c:pt>
                <c:pt idx="6">
                  <c:v>2014</c:v>
                </c:pt>
                <c:pt idx="7">
                  <c:v>2015</c:v>
                </c:pt>
                <c:pt idx="8">
                  <c:v>2016</c:v>
                </c:pt>
              </c:numCache>
            </c:numRef>
          </c:cat>
          <c:val>
            <c:numRef>
              <c:f>'long trend'!$B$14:$J$14</c:f>
              <c:numCache>
                <c:formatCode>#,##0</c:formatCode>
                <c:ptCount val="9"/>
                <c:pt idx="0">
                  <c:v>61.475000000000001</c:v>
                </c:pt>
                <c:pt idx="1">
                  <c:v>54.066000000000003</c:v>
                </c:pt>
                <c:pt idx="2">
                  <c:v>59.161999999999999</c:v>
                </c:pt>
                <c:pt idx="3">
                  <c:v>69.251000000000005</c:v>
                </c:pt>
                <c:pt idx="4">
                  <c:v>72.156999999999996</c:v>
                </c:pt>
                <c:pt idx="5">
                  <c:v>73.245000000000005</c:v>
                </c:pt>
                <c:pt idx="6">
                  <c:v>75.804000000000002</c:v>
                </c:pt>
                <c:pt idx="7">
                  <c:v>73.691000000000003</c:v>
                </c:pt>
                <c:pt idx="8">
                  <c:v>77.146000000000001</c:v>
                </c:pt>
              </c:numCache>
            </c:numRef>
          </c:val>
          <c:extLst>
            <c:ext xmlns:c16="http://schemas.microsoft.com/office/drawing/2014/chart" uri="{C3380CC4-5D6E-409C-BE32-E72D297353CC}">
              <c16:uniqueId val="{00000001-E75A-4E5D-BB38-6F5D594BA7AF}"/>
            </c:ext>
          </c:extLst>
        </c:ser>
        <c:dLbls>
          <c:showLegendKey val="0"/>
          <c:showVal val="0"/>
          <c:showCatName val="0"/>
          <c:showSerName val="0"/>
          <c:showPercent val="0"/>
          <c:showBubbleSize val="0"/>
        </c:dLbls>
        <c:gapWidth val="219"/>
        <c:overlap val="-27"/>
        <c:axId val="141001088"/>
        <c:axId val="141002624"/>
      </c:barChart>
      <c:catAx>
        <c:axId val="141001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1002624"/>
        <c:crosses val="autoZero"/>
        <c:auto val="1"/>
        <c:lblAlgn val="ctr"/>
        <c:lblOffset val="100"/>
        <c:noMultiLvlLbl val="0"/>
      </c:catAx>
      <c:valAx>
        <c:axId val="14100262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1001088"/>
        <c:crosses val="autoZero"/>
        <c:crossBetween val="between"/>
      </c:valAx>
      <c:spPr>
        <a:noFill/>
        <a:ln>
          <a:noFill/>
        </a:ln>
        <a:effectLst/>
      </c:spPr>
    </c:plotArea>
    <c:legend>
      <c:legendPos val="b"/>
      <c:layout>
        <c:manualLayout>
          <c:xMode val="edge"/>
          <c:yMode val="edge"/>
          <c:x val="2.803434896724866E-2"/>
          <c:y val="0.80513849004168592"/>
          <c:w val="0.94151565293468753"/>
          <c:h val="0.17133209819360815"/>
        </c:manualLayout>
      </c:layout>
      <c:overlay val="0"/>
      <c:spPr>
        <a:noFill/>
        <a:ln>
          <a:noFill/>
        </a:ln>
        <a:effectLst/>
      </c:spPr>
      <c:txPr>
        <a:bodyPr rot="0" spcFirstLastPara="1" vertOverflow="ellipsis" vert="horz" wrap="square" anchor="ctr" anchorCtr="1"/>
        <a:lstStyle/>
        <a:p>
          <a:pPr>
            <a:defRPr sz="95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472003499562561E-2"/>
          <c:y val="3.0057961504811898E-2"/>
          <c:w val="0.88454396325459317"/>
          <c:h val="0.73577136191309422"/>
        </c:manualLayout>
      </c:layout>
      <c:lineChart>
        <c:grouping val="standard"/>
        <c:varyColors val="0"/>
        <c:ser>
          <c:idx val="0"/>
          <c:order val="0"/>
          <c:tx>
            <c:strRef>
              <c:f>'GERD cons'!$A$35</c:f>
              <c:strCache>
                <c:ptCount val="1"/>
                <c:pt idx="0">
                  <c:v>United States</c:v>
                </c:pt>
              </c:strCache>
            </c:strRef>
          </c:tx>
          <c:spPr>
            <a:ln w="28575" cap="rnd">
              <a:solidFill>
                <a:schemeClr val="accent2"/>
              </a:solidFill>
              <a:round/>
            </a:ln>
            <a:effectLst/>
          </c:spPr>
          <c:marker>
            <c:symbol val="none"/>
          </c:marker>
          <c:cat>
            <c:strRef>
              <c:f>'GERD cons'!$B$34:$R$34</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cons'!$B$35:$R$35</c:f>
              <c:numCache>
                <c:formatCode>#,##0_ ;\-#,##0\ </c:formatCode>
                <c:ptCount val="17"/>
                <c:pt idx="0">
                  <c:v>333</c:v>
                </c:pt>
                <c:pt idx="1">
                  <c:v>339</c:v>
                </c:pt>
                <c:pt idx="2">
                  <c:v>333</c:v>
                </c:pt>
                <c:pt idx="3">
                  <c:v>343</c:v>
                </c:pt>
                <c:pt idx="4">
                  <c:v>347</c:v>
                </c:pt>
                <c:pt idx="5">
                  <c:v>361</c:v>
                </c:pt>
                <c:pt idx="6">
                  <c:v>377</c:v>
                </c:pt>
                <c:pt idx="7">
                  <c:v>395</c:v>
                </c:pt>
                <c:pt idx="8">
                  <c:v>415</c:v>
                </c:pt>
                <c:pt idx="9">
                  <c:v>411</c:v>
                </c:pt>
                <c:pt idx="10">
                  <c:v>410</c:v>
                </c:pt>
                <c:pt idx="11">
                  <c:v>421</c:v>
                </c:pt>
                <c:pt idx="12">
                  <c:v>418</c:v>
                </c:pt>
                <c:pt idx="13">
                  <c:v>431</c:v>
                </c:pt>
                <c:pt idx="14">
                  <c:v>443</c:v>
                </c:pt>
                <c:pt idx="15">
                  <c:v>457</c:v>
                </c:pt>
                <c:pt idx="16">
                  <c:v>464</c:v>
                </c:pt>
              </c:numCache>
            </c:numRef>
          </c:val>
          <c:smooth val="0"/>
          <c:extLst>
            <c:ext xmlns:c16="http://schemas.microsoft.com/office/drawing/2014/chart" uri="{C3380CC4-5D6E-409C-BE32-E72D297353CC}">
              <c16:uniqueId val="{00000000-7374-495D-89EA-5943D5A68F34}"/>
            </c:ext>
          </c:extLst>
        </c:ser>
        <c:ser>
          <c:idx val="1"/>
          <c:order val="1"/>
          <c:tx>
            <c:strRef>
              <c:f>'GERD cons'!$A$36</c:f>
              <c:strCache>
                <c:ptCount val="1"/>
                <c:pt idx="0">
                  <c:v>China</c:v>
                </c:pt>
              </c:strCache>
            </c:strRef>
          </c:tx>
          <c:spPr>
            <a:ln w="28575" cap="rnd">
              <a:solidFill>
                <a:srgbClr val="FF0000"/>
              </a:solidFill>
              <a:round/>
            </a:ln>
            <a:effectLst/>
          </c:spPr>
          <c:marker>
            <c:symbol val="none"/>
          </c:marker>
          <c:cat>
            <c:strRef>
              <c:f>'GERD cons'!$B$34:$R$34</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cons'!$B$36:$R$36</c:f>
              <c:numCache>
                <c:formatCode>#,##0_ ;\-#,##0\ </c:formatCode>
                <c:ptCount val="17"/>
                <c:pt idx="0">
                  <c:v>41</c:v>
                </c:pt>
                <c:pt idx="1">
                  <c:v>47</c:v>
                </c:pt>
                <c:pt idx="2">
                  <c:v>57</c:v>
                </c:pt>
                <c:pt idx="3">
                  <c:v>67</c:v>
                </c:pt>
                <c:pt idx="4">
                  <c:v>80</c:v>
                </c:pt>
                <c:pt idx="5">
                  <c:v>96</c:v>
                </c:pt>
                <c:pt idx="6">
                  <c:v>113</c:v>
                </c:pt>
                <c:pt idx="7">
                  <c:v>129</c:v>
                </c:pt>
                <c:pt idx="8">
                  <c:v>149</c:v>
                </c:pt>
                <c:pt idx="9">
                  <c:v>188</c:v>
                </c:pt>
                <c:pt idx="10">
                  <c:v>213</c:v>
                </c:pt>
                <c:pt idx="11">
                  <c:v>243</c:v>
                </c:pt>
                <c:pt idx="12">
                  <c:v>281</c:v>
                </c:pt>
                <c:pt idx="13">
                  <c:v>316</c:v>
                </c:pt>
                <c:pt idx="14">
                  <c:v>345</c:v>
                </c:pt>
                <c:pt idx="15">
                  <c:v>377</c:v>
                </c:pt>
                <c:pt idx="16">
                  <c:v>412</c:v>
                </c:pt>
              </c:numCache>
            </c:numRef>
          </c:val>
          <c:smooth val="0"/>
          <c:extLst>
            <c:ext xmlns:c16="http://schemas.microsoft.com/office/drawing/2014/chart" uri="{C3380CC4-5D6E-409C-BE32-E72D297353CC}">
              <c16:uniqueId val="{00000001-7374-495D-89EA-5943D5A68F34}"/>
            </c:ext>
          </c:extLst>
        </c:ser>
        <c:ser>
          <c:idx val="2"/>
          <c:order val="2"/>
          <c:tx>
            <c:strRef>
              <c:f>'GERD cons'!$A$37</c:f>
              <c:strCache>
                <c:ptCount val="1"/>
                <c:pt idx="0">
                  <c:v>Japan</c:v>
                </c:pt>
              </c:strCache>
            </c:strRef>
          </c:tx>
          <c:spPr>
            <a:ln w="28575" cap="rnd">
              <a:solidFill>
                <a:schemeClr val="accent6"/>
              </a:solidFill>
              <a:prstDash val="sysDash"/>
              <a:round/>
            </a:ln>
            <a:effectLst/>
          </c:spPr>
          <c:marker>
            <c:symbol val="none"/>
          </c:marker>
          <c:cat>
            <c:strRef>
              <c:f>'GERD cons'!$B$34:$R$34</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cons'!$B$37:$R$37</c:f>
              <c:numCache>
                <c:formatCode>#,##0_ ;\-#,##0\ </c:formatCode>
                <c:ptCount val="17"/>
                <c:pt idx="0">
                  <c:v>122</c:v>
                </c:pt>
                <c:pt idx="1">
                  <c:v>126</c:v>
                </c:pt>
                <c:pt idx="2">
                  <c:v>127</c:v>
                </c:pt>
                <c:pt idx="3">
                  <c:v>131</c:v>
                </c:pt>
                <c:pt idx="4">
                  <c:v>133</c:v>
                </c:pt>
                <c:pt idx="5">
                  <c:v>142</c:v>
                </c:pt>
                <c:pt idx="6">
                  <c:v>148</c:v>
                </c:pt>
                <c:pt idx="7">
                  <c:v>154</c:v>
                </c:pt>
                <c:pt idx="8">
                  <c:v>152</c:v>
                </c:pt>
                <c:pt idx="9">
                  <c:v>139</c:v>
                </c:pt>
                <c:pt idx="10">
                  <c:v>141</c:v>
                </c:pt>
                <c:pt idx="11">
                  <c:v>145</c:v>
                </c:pt>
                <c:pt idx="12">
                  <c:v>146</c:v>
                </c:pt>
                <c:pt idx="13">
                  <c:v>154</c:v>
                </c:pt>
                <c:pt idx="14">
                  <c:v>158</c:v>
                </c:pt>
                <c:pt idx="15">
                  <c:v>155</c:v>
                </c:pt>
                <c:pt idx="16">
                  <c:v>150</c:v>
                </c:pt>
              </c:numCache>
            </c:numRef>
          </c:val>
          <c:smooth val="0"/>
          <c:extLst>
            <c:ext xmlns:c16="http://schemas.microsoft.com/office/drawing/2014/chart" uri="{C3380CC4-5D6E-409C-BE32-E72D297353CC}">
              <c16:uniqueId val="{00000002-7374-495D-89EA-5943D5A68F34}"/>
            </c:ext>
          </c:extLst>
        </c:ser>
        <c:ser>
          <c:idx val="3"/>
          <c:order val="3"/>
          <c:tx>
            <c:strRef>
              <c:f>'GERD cons'!$A$38</c:f>
              <c:strCache>
                <c:ptCount val="1"/>
                <c:pt idx="0">
                  <c:v>Germany</c:v>
                </c:pt>
              </c:strCache>
            </c:strRef>
          </c:tx>
          <c:spPr>
            <a:ln w="28575" cap="rnd">
              <a:solidFill>
                <a:schemeClr val="accent4"/>
              </a:solidFill>
              <a:round/>
            </a:ln>
            <a:effectLst/>
          </c:spPr>
          <c:marker>
            <c:symbol val="none"/>
          </c:marker>
          <c:cat>
            <c:strRef>
              <c:f>'GERD cons'!$B$34:$R$34</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cons'!$B$38:$R$38</c:f>
              <c:numCache>
                <c:formatCode>#,##0_ ;\-#,##0\ </c:formatCode>
                <c:ptCount val="17"/>
                <c:pt idx="0">
                  <c:v>70</c:v>
                </c:pt>
                <c:pt idx="1">
                  <c:v>71</c:v>
                </c:pt>
                <c:pt idx="2">
                  <c:v>72</c:v>
                </c:pt>
                <c:pt idx="3">
                  <c:v>73</c:v>
                </c:pt>
                <c:pt idx="4">
                  <c:v>73</c:v>
                </c:pt>
                <c:pt idx="5">
                  <c:v>73</c:v>
                </c:pt>
                <c:pt idx="6">
                  <c:v>77</c:v>
                </c:pt>
                <c:pt idx="7">
                  <c:v>79</c:v>
                </c:pt>
                <c:pt idx="8">
                  <c:v>85</c:v>
                </c:pt>
                <c:pt idx="9">
                  <c:v>84</c:v>
                </c:pt>
                <c:pt idx="10">
                  <c:v>87</c:v>
                </c:pt>
                <c:pt idx="11">
                  <c:v>93</c:v>
                </c:pt>
                <c:pt idx="12">
                  <c:v>96</c:v>
                </c:pt>
                <c:pt idx="13">
                  <c:v>95</c:v>
                </c:pt>
                <c:pt idx="14">
                  <c:v>98</c:v>
                </c:pt>
                <c:pt idx="15">
                  <c:v>102</c:v>
                </c:pt>
                <c:pt idx="16">
                  <c:v>104</c:v>
                </c:pt>
              </c:numCache>
            </c:numRef>
          </c:val>
          <c:smooth val="0"/>
          <c:extLst>
            <c:ext xmlns:c16="http://schemas.microsoft.com/office/drawing/2014/chart" uri="{C3380CC4-5D6E-409C-BE32-E72D297353CC}">
              <c16:uniqueId val="{00000003-7374-495D-89EA-5943D5A68F34}"/>
            </c:ext>
          </c:extLst>
        </c:ser>
        <c:dLbls>
          <c:showLegendKey val="0"/>
          <c:showVal val="0"/>
          <c:showCatName val="0"/>
          <c:showSerName val="0"/>
          <c:showPercent val="0"/>
          <c:showBubbleSize val="0"/>
        </c:dLbls>
        <c:smooth val="0"/>
        <c:axId val="140789632"/>
        <c:axId val="140791168"/>
      </c:lineChart>
      <c:catAx>
        <c:axId val="140789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791168"/>
        <c:crosses val="autoZero"/>
        <c:auto val="1"/>
        <c:lblAlgn val="ctr"/>
        <c:lblOffset val="100"/>
        <c:tickLblSkip val="4"/>
        <c:noMultiLvlLbl val="0"/>
      </c:catAx>
      <c:valAx>
        <c:axId val="140791168"/>
        <c:scaling>
          <c:orientation val="minMax"/>
        </c:scaling>
        <c:delete val="0"/>
        <c:axPos val="l"/>
        <c:majorGridlines>
          <c:spPr>
            <a:ln w="9525" cap="flat" cmpd="sng" algn="ctr">
              <a:solidFill>
                <a:schemeClr val="tx1">
                  <a:lumMod val="15000"/>
                  <a:lumOff val="85000"/>
                </a:schemeClr>
              </a:solidFill>
              <a:round/>
            </a:ln>
            <a:effectLst/>
          </c:spPr>
        </c:majorGridlines>
        <c:numFmt formatCode="#,##0_ ;\-#,##0\ "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7896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579043004239859E-2"/>
          <c:y val="2.6315789473684209E-2"/>
          <c:w val="0.90665172622652934"/>
          <c:h val="0.85608923884514432"/>
        </c:manualLayout>
      </c:layout>
      <c:lineChart>
        <c:grouping val="standard"/>
        <c:varyColors val="0"/>
        <c:ser>
          <c:idx val="0"/>
          <c:order val="0"/>
          <c:tx>
            <c:strRef>
              <c:f>'GERD cons'!$A$40</c:f>
              <c:strCache>
                <c:ptCount val="1"/>
                <c:pt idx="0">
                  <c:v>Korea</c:v>
                </c:pt>
              </c:strCache>
            </c:strRef>
          </c:tx>
          <c:spPr>
            <a:ln w="28575" cap="rnd">
              <a:solidFill>
                <a:srgbClr val="00B050"/>
              </a:solidFill>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cons'!$B$40:$R$40</c:f>
              <c:numCache>
                <c:formatCode>#,##0_ ;\-#,##0\ </c:formatCode>
                <c:ptCount val="17"/>
                <c:pt idx="0">
                  <c:v>21</c:v>
                </c:pt>
                <c:pt idx="1">
                  <c:v>24</c:v>
                </c:pt>
                <c:pt idx="2">
                  <c:v>25</c:v>
                </c:pt>
                <c:pt idx="3">
                  <c:v>27</c:v>
                </c:pt>
                <c:pt idx="4">
                  <c:v>30</c:v>
                </c:pt>
                <c:pt idx="5">
                  <c:v>32</c:v>
                </c:pt>
                <c:pt idx="6">
                  <c:v>37</c:v>
                </c:pt>
                <c:pt idx="7">
                  <c:v>41</c:v>
                </c:pt>
                <c:pt idx="8">
                  <c:v>44</c:v>
                </c:pt>
                <c:pt idx="9">
                  <c:v>47</c:v>
                </c:pt>
                <c:pt idx="10">
                  <c:v>52</c:v>
                </c:pt>
                <c:pt idx="11">
                  <c:v>58</c:v>
                </c:pt>
                <c:pt idx="12">
                  <c:v>64</c:v>
                </c:pt>
                <c:pt idx="13">
                  <c:v>68</c:v>
                </c:pt>
                <c:pt idx="14">
                  <c:v>73</c:v>
                </c:pt>
                <c:pt idx="15">
                  <c:v>74</c:v>
                </c:pt>
                <c:pt idx="16">
                  <c:v>76</c:v>
                </c:pt>
              </c:numCache>
            </c:numRef>
          </c:val>
          <c:smooth val="0"/>
          <c:extLst>
            <c:ext xmlns:c16="http://schemas.microsoft.com/office/drawing/2014/chart" uri="{C3380CC4-5D6E-409C-BE32-E72D297353CC}">
              <c16:uniqueId val="{00000000-855E-4E73-9902-79B6A7120136}"/>
            </c:ext>
          </c:extLst>
        </c:ser>
        <c:ser>
          <c:idx val="1"/>
          <c:order val="1"/>
          <c:tx>
            <c:strRef>
              <c:f>'GERD cons'!$A$41</c:f>
              <c:strCache>
                <c:ptCount val="1"/>
                <c:pt idx="0">
                  <c:v>France</c:v>
                </c:pt>
              </c:strCache>
            </c:strRef>
          </c:tx>
          <c:spPr>
            <a:ln w="28575" cap="rnd">
              <a:solidFill>
                <a:schemeClr val="accent2"/>
              </a:solidFill>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cons'!$B$41:$R$41</c:f>
              <c:numCache>
                <c:formatCode>#,##0_ ;\-#,##0\ </c:formatCode>
                <c:ptCount val="17"/>
                <c:pt idx="0">
                  <c:v>43</c:v>
                </c:pt>
                <c:pt idx="1">
                  <c:v>45</c:v>
                </c:pt>
                <c:pt idx="2">
                  <c:v>46</c:v>
                </c:pt>
                <c:pt idx="3">
                  <c:v>46</c:v>
                </c:pt>
                <c:pt idx="4">
                  <c:v>46</c:v>
                </c:pt>
                <c:pt idx="5">
                  <c:v>46</c:v>
                </c:pt>
                <c:pt idx="6">
                  <c:v>47</c:v>
                </c:pt>
                <c:pt idx="7">
                  <c:v>48</c:v>
                </c:pt>
                <c:pt idx="8">
                  <c:v>49</c:v>
                </c:pt>
                <c:pt idx="9">
                  <c:v>51</c:v>
                </c:pt>
                <c:pt idx="10">
                  <c:v>51</c:v>
                </c:pt>
                <c:pt idx="11">
                  <c:v>52</c:v>
                </c:pt>
                <c:pt idx="12">
                  <c:v>53</c:v>
                </c:pt>
                <c:pt idx="13">
                  <c:v>54</c:v>
                </c:pt>
                <c:pt idx="14">
                  <c:v>55</c:v>
                </c:pt>
                <c:pt idx="15">
                  <c:v>56</c:v>
                </c:pt>
                <c:pt idx="16">
                  <c:v>56</c:v>
                </c:pt>
              </c:numCache>
            </c:numRef>
          </c:val>
          <c:smooth val="0"/>
          <c:extLst>
            <c:ext xmlns:c16="http://schemas.microsoft.com/office/drawing/2014/chart" uri="{C3380CC4-5D6E-409C-BE32-E72D297353CC}">
              <c16:uniqueId val="{00000001-855E-4E73-9902-79B6A7120136}"/>
            </c:ext>
          </c:extLst>
        </c:ser>
        <c:ser>
          <c:idx val="2"/>
          <c:order val="2"/>
          <c:tx>
            <c:strRef>
              <c:f>'GERD cons'!$A$42</c:f>
              <c:strCache>
                <c:ptCount val="1"/>
                <c:pt idx="0">
                  <c:v>United Kingdom</c:v>
                </c:pt>
              </c:strCache>
            </c:strRef>
          </c:tx>
          <c:spPr>
            <a:ln w="28575" cap="rnd">
              <a:solidFill>
                <a:schemeClr val="accent6"/>
              </a:solidFill>
              <a:prstDash val="sysDot"/>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cons'!$B$42:$R$42</c:f>
              <c:numCache>
                <c:formatCode>#,##0_ ;\-#,##0\ </c:formatCode>
                <c:ptCount val="17"/>
                <c:pt idx="0">
                  <c:v>31</c:v>
                </c:pt>
                <c:pt idx="1">
                  <c:v>32</c:v>
                </c:pt>
                <c:pt idx="2">
                  <c:v>33</c:v>
                </c:pt>
                <c:pt idx="3">
                  <c:v>33</c:v>
                </c:pt>
                <c:pt idx="4">
                  <c:v>33</c:v>
                </c:pt>
                <c:pt idx="5">
                  <c:v>35</c:v>
                </c:pt>
                <c:pt idx="6">
                  <c:v>36</c:v>
                </c:pt>
                <c:pt idx="7">
                  <c:v>38</c:v>
                </c:pt>
                <c:pt idx="8">
                  <c:v>38</c:v>
                </c:pt>
                <c:pt idx="9">
                  <c:v>37</c:v>
                </c:pt>
                <c:pt idx="10">
                  <c:v>38</c:v>
                </c:pt>
                <c:pt idx="11">
                  <c:v>38</c:v>
                </c:pt>
                <c:pt idx="12">
                  <c:v>37</c:v>
                </c:pt>
                <c:pt idx="13">
                  <c:v>39</c:v>
                </c:pt>
                <c:pt idx="14">
                  <c:v>41</c:v>
                </c:pt>
                <c:pt idx="15">
                  <c:v>42</c:v>
                </c:pt>
                <c:pt idx="16">
                  <c:v>43</c:v>
                </c:pt>
              </c:numCache>
            </c:numRef>
          </c:val>
          <c:smooth val="0"/>
          <c:extLst>
            <c:ext xmlns:c16="http://schemas.microsoft.com/office/drawing/2014/chart" uri="{C3380CC4-5D6E-409C-BE32-E72D297353CC}">
              <c16:uniqueId val="{00000002-855E-4E73-9902-79B6A7120136}"/>
            </c:ext>
          </c:extLst>
        </c:ser>
        <c:ser>
          <c:idx val="3"/>
          <c:order val="3"/>
          <c:tx>
            <c:strRef>
              <c:f>'GERD cons'!$A$43</c:f>
              <c:strCache>
                <c:ptCount val="1"/>
                <c:pt idx="0">
                  <c:v>Russia</c:v>
                </c:pt>
              </c:strCache>
            </c:strRef>
          </c:tx>
          <c:spPr>
            <a:ln w="28575" cap="rnd">
              <a:solidFill>
                <a:srgbClr val="EA5E42"/>
              </a:solidFill>
              <a:prstDash val="dash"/>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cons'!$B$43:$R$43</c:f>
              <c:numCache>
                <c:formatCode>#,##0_ ;\-#,##0\ </c:formatCode>
                <c:ptCount val="17"/>
                <c:pt idx="0">
                  <c:v>19</c:v>
                </c:pt>
                <c:pt idx="1">
                  <c:v>23</c:v>
                </c:pt>
                <c:pt idx="2">
                  <c:v>25</c:v>
                </c:pt>
                <c:pt idx="3">
                  <c:v>28</c:v>
                </c:pt>
                <c:pt idx="4">
                  <c:v>27</c:v>
                </c:pt>
                <c:pt idx="5">
                  <c:v>26</c:v>
                </c:pt>
                <c:pt idx="6">
                  <c:v>29</c:v>
                </c:pt>
                <c:pt idx="7">
                  <c:v>32</c:v>
                </c:pt>
                <c:pt idx="8">
                  <c:v>32</c:v>
                </c:pt>
                <c:pt idx="9">
                  <c:v>35</c:v>
                </c:pt>
                <c:pt idx="10">
                  <c:v>33</c:v>
                </c:pt>
                <c:pt idx="11">
                  <c:v>33</c:v>
                </c:pt>
                <c:pt idx="12">
                  <c:v>35</c:v>
                </c:pt>
                <c:pt idx="13">
                  <c:v>36</c:v>
                </c:pt>
                <c:pt idx="14">
                  <c:v>37</c:v>
                </c:pt>
                <c:pt idx="15">
                  <c:v>37</c:v>
                </c:pt>
                <c:pt idx="16">
                  <c:v>37</c:v>
                </c:pt>
              </c:numCache>
            </c:numRef>
          </c:val>
          <c:smooth val="0"/>
          <c:extLst>
            <c:ext xmlns:c16="http://schemas.microsoft.com/office/drawing/2014/chart" uri="{C3380CC4-5D6E-409C-BE32-E72D297353CC}">
              <c16:uniqueId val="{00000003-855E-4E73-9902-79B6A7120136}"/>
            </c:ext>
          </c:extLst>
        </c:ser>
        <c:ser>
          <c:idx val="4"/>
          <c:order val="4"/>
          <c:tx>
            <c:strRef>
              <c:f>'GERD cons'!$A$44</c:f>
              <c:strCache>
                <c:ptCount val="1"/>
                <c:pt idx="0">
                  <c:v>Chinese Taipei</c:v>
                </c:pt>
              </c:strCache>
            </c:strRef>
          </c:tx>
          <c:spPr>
            <a:ln w="28575" cap="rnd">
              <a:solidFill>
                <a:srgbClr val="FF0000"/>
              </a:solidFill>
              <a:prstDash val="sysDash"/>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cons'!$B$44:$R$44</c:f>
              <c:numCache>
                <c:formatCode>#,##0_ ;\-#,##0\ </c:formatCode>
                <c:ptCount val="17"/>
                <c:pt idx="0">
                  <c:v>11</c:v>
                </c:pt>
                <c:pt idx="1">
                  <c:v>12</c:v>
                </c:pt>
                <c:pt idx="2">
                  <c:v>13</c:v>
                </c:pt>
                <c:pt idx="3">
                  <c:v>14</c:v>
                </c:pt>
                <c:pt idx="4">
                  <c:v>16</c:v>
                </c:pt>
                <c:pt idx="5">
                  <c:v>17</c:v>
                </c:pt>
                <c:pt idx="6">
                  <c:v>19</c:v>
                </c:pt>
                <c:pt idx="7">
                  <c:v>20</c:v>
                </c:pt>
                <c:pt idx="8">
                  <c:v>22</c:v>
                </c:pt>
                <c:pt idx="9">
                  <c:v>23</c:v>
                </c:pt>
                <c:pt idx="10">
                  <c:v>25</c:v>
                </c:pt>
                <c:pt idx="11">
                  <c:v>27</c:v>
                </c:pt>
                <c:pt idx="12">
                  <c:v>28</c:v>
                </c:pt>
                <c:pt idx="13">
                  <c:v>29</c:v>
                </c:pt>
                <c:pt idx="14">
                  <c:v>30</c:v>
                </c:pt>
                <c:pt idx="15">
                  <c:v>31</c:v>
                </c:pt>
                <c:pt idx="16">
                  <c:v>33</c:v>
                </c:pt>
              </c:numCache>
            </c:numRef>
          </c:val>
          <c:smooth val="0"/>
          <c:extLst>
            <c:ext xmlns:c16="http://schemas.microsoft.com/office/drawing/2014/chart" uri="{C3380CC4-5D6E-409C-BE32-E72D297353CC}">
              <c16:uniqueId val="{00000004-855E-4E73-9902-79B6A7120136}"/>
            </c:ext>
          </c:extLst>
        </c:ser>
        <c:ser>
          <c:idx val="5"/>
          <c:order val="5"/>
          <c:tx>
            <c:strRef>
              <c:f>'GERD cons'!$A$45</c:f>
              <c:strCache>
                <c:ptCount val="1"/>
                <c:pt idx="0">
                  <c:v>Italy</c:v>
                </c:pt>
              </c:strCache>
            </c:strRef>
          </c:tx>
          <c:spPr>
            <a:ln w="28575" cap="rnd">
              <a:solidFill>
                <a:schemeClr val="accent6"/>
              </a:solidFill>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cons'!$B$45:$R$45</c:f>
              <c:numCache>
                <c:formatCode>#,##0_ ;\-#,##0\ </c:formatCode>
                <c:ptCount val="17"/>
                <c:pt idx="0">
                  <c:v>20</c:v>
                </c:pt>
                <c:pt idx="1">
                  <c:v>21</c:v>
                </c:pt>
                <c:pt idx="2">
                  <c:v>22</c:v>
                </c:pt>
                <c:pt idx="3">
                  <c:v>22</c:v>
                </c:pt>
                <c:pt idx="4">
                  <c:v>22</c:v>
                </c:pt>
                <c:pt idx="5">
                  <c:v>22</c:v>
                </c:pt>
                <c:pt idx="6">
                  <c:v>23</c:v>
                </c:pt>
                <c:pt idx="7">
                  <c:v>25</c:v>
                </c:pt>
                <c:pt idx="8">
                  <c:v>25</c:v>
                </c:pt>
                <c:pt idx="9">
                  <c:v>25</c:v>
                </c:pt>
                <c:pt idx="10">
                  <c:v>25</c:v>
                </c:pt>
                <c:pt idx="11">
                  <c:v>25</c:v>
                </c:pt>
                <c:pt idx="12">
                  <c:v>26</c:v>
                </c:pt>
                <c:pt idx="13">
                  <c:v>26</c:v>
                </c:pt>
                <c:pt idx="14">
                  <c:v>27</c:v>
                </c:pt>
                <c:pt idx="15">
                  <c:v>27</c:v>
                </c:pt>
                <c:pt idx="16">
                  <c:v>26</c:v>
                </c:pt>
              </c:numCache>
            </c:numRef>
          </c:val>
          <c:smooth val="0"/>
          <c:extLst>
            <c:ext xmlns:c16="http://schemas.microsoft.com/office/drawing/2014/chart" uri="{C3380CC4-5D6E-409C-BE32-E72D297353CC}">
              <c16:uniqueId val="{00000005-855E-4E73-9902-79B6A7120136}"/>
            </c:ext>
          </c:extLst>
        </c:ser>
        <c:ser>
          <c:idx val="6"/>
          <c:order val="6"/>
          <c:tx>
            <c:strRef>
              <c:f>'GERD cons'!$A$46</c:f>
              <c:strCache>
                <c:ptCount val="1"/>
                <c:pt idx="0">
                  <c:v>Canada</c:v>
                </c:pt>
              </c:strCache>
            </c:strRef>
          </c:tx>
          <c:spPr>
            <a:ln w="28575" cap="rnd">
              <a:solidFill>
                <a:schemeClr val="accent1">
                  <a:lumMod val="60000"/>
                </a:schemeClr>
              </a:solidFill>
              <a:prstDash val="sysDot"/>
              <a:round/>
            </a:ln>
            <a:effectLst/>
          </c:spPr>
          <c:marker>
            <c:symbol val="none"/>
          </c:marker>
          <c:cat>
            <c:strRef>
              <c:f>'GERD cons'!$B$39:$R$39</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'GERD cons'!$B$46:$R$46</c:f>
              <c:numCache>
                <c:formatCode>#,##0_ ;\-#,##0\ </c:formatCode>
                <c:ptCount val="17"/>
                <c:pt idx="0">
                  <c:v>21</c:v>
                </c:pt>
                <c:pt idx="1">
                  <c:v>23</c:v>
                </c:pt>
                <c:pt idx="2">
                  <c:v>23</c:v>
                </c:pt>
                <c:pt idx="3">
                  <c:v>24</c:v>
                </c:pt>
                <c:pt idx="4">
                  <c:v>25</c:v>
                </c:pt>
                <c:pt idx="5">
                  <c:v>25</c:v>
                </c:pt>
                <c:pt idx="6">
                  <c:v>26</c:v>
                </c:pt>
                <c:pt idx="7">
                  <c:v>26</c:v>
                </c:pt>
                <c:pt idx="8">
                  <c:v>25</c:v>
                </c:pt>
                <c:pt idx="9">
                  <c:v>25</c:v>
                </c:pt>
                <c:pt idx="10">
                  <c:v>25</c:v>
                </c:pt>
                <c:pt idx="11">
                  <c:v>25</c:v>
                </c:pt>
                <c:pt idx="12">
                  <c:v>25</c:v>
                </c:pt>
                <c:pt idx="13">
                  <c:v>25</c:v>
                </c:pt>
                <c:pt idx="14">
                  <c:v>26</c:v>
                </c:pt>
                <c:pt idx="15">
                  <c:v>25</c:v>
                </c:pt>
                <c:pt idx="16">
                  <c:v>25</c:v>
                </c:pt>
              </c:numCache>
            </c:numRef>
          </c:val>
          <c:smooth val="0"/>
          <c:extLst>
            <c:ext xmlns:c16="http://schemas.microsoft.com/office/drawing/2014/chart" uri="{C3380CC4-5D6E-409C-BE32-E72D297353CC}">
              <c16:uniqueId val="{00000006-855E-4E73-9902-79B6A7120136}"/>
            </c:ext>
          </c:extLst>
        </c:ser>
        <c:dLbls>
          <c:showLegendKey val="0"/>
          <c:showVal val="0"/>
          <c:showCatName val="0"/>
          <c:showSerName val="0"/>
          <c:showPercent val="0"/>
          <c:showBubbleSize val="0"/>
        </c:dLbls>
        <c:smooth val="0"/>
        <c:axId val="140712192"/>
        <c:axId val="140734464"/>
      </c:lineChart>
      <c:catAx>
        <c:axId val="14071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734464"/>
        <c:crosses val="autoZero"/>
        <c:auto val="1"/>
        <c:lblAlgn val="ctr"/>
        <c:lblOffset val="100"/>
        <c:tickLblSkip val="4"/>
        <c:noMultiLvlLbl val="0"/>
      </c:catAx>
      <c:valAx>
        <c:axId val="140734464"/>
        <c:scaling>
          <c:orientation val="minMax"/>
        </c:scaling>
        <c:delete val="0"/>
        <c:axPos val="l"/>
        <c:majorGridlines>
          <c:spPr>
            <a:ln w="9525" cap="flat" cmpd="sng" algn="ctr">
              <a:solidFill>
                <a:schemeClr val="tx1">
                  <a:lumMod val="15000"/>
                  <a:lumOff val="85000"/>
                </a:schemeClr>
              </a:solidFill>
              <a:round/>
            </a:ln>
            <a:effectLst/>
          </c:spPr>
        </c:majorGridlines>
        <c:numFmt formatCode="#,##0_ ;\-#,##0\ "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07121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'MSTI rd-gdp'!$C$55</c:f>
              <c:strCache>
                <c:ptCount val="1"/>
                <c:pt idx="0">
                  <c:v>Canada</c:v>
                </c:pt>
              </c:strCache>
            </c:strRef>
          </c:tx>
          <c:spPr>
            <a:ln w="28575" cap="rnd">
              <a:solidFill>
                <a:schemeClr val="accent1"/>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rd-gdp'!$C$56:$C$72</c:f>
              <c:numCache>
                <c:formatCode>#,##0.00_ ;\-#,##0.00\ </c:formatCode>
                <c:ptCount val="17"/>
                <c:pt idx="0">
                  <c:v>1.86</c:v>
                </c:pt>
                <c:pt idx="1">
                  <c:v>2.0299999999999998</c:v>
                </c:pt>
                <c:pt idx="2">
                  <c:v>1.98</c:v>
                </c:pt>
                <c:pt idx="3">
                  <c:v>1.97</c:v>
                </c:pt>
                <c:pt idx="4">
                  <c:v>2</c:v>
                </c:pt>
                <c:pt idx="5">
                  <c:v>1.98</c:v>
                </c:pt>
                <c:pt idx="6">
                  <c:v>1.95</c:v>
                </c:pt>
                <c:pt idx="7">
                  <c:v>1.91</c:v>
                </c:pt>
                <c:pt idx="8">
                  <c:v>1.86</c:v>
                </c:pt>
                <c:pt idx="9">
                  <c:v>1.92</c:v>
                </c:pt>
                <c:pt idx="10">
                  <c:v>1.83</c:v>
                </c:pt>
                <c:pt idx="11">
                  <c:v>1.79</c:v>
                </c:pt>
                <c:pt idx="12">
                  <c:v>1.78</c:v>
                </c:pt>
                <c:pt idx="13">
                  <c:v>1.71</c:v>
                </c:pt>
                <c:pt idx="14">
                  <c:v>1.72</c:v>
                </c:pt>
                <c:pt idx="15">
                  <c:v>1.65</c:v>
                </c:pt>
                <c:pt idx="16">
                  <c:v>1.6</c:v>
                </c:pt>
              </c:numCache>
            </c:numRef>
          </c:val>
          <c:smooth val="0"/>
          <c:extLst>
            <c:ext xmlns:c16="http://schemas.microsoft.com/office/drawing/2014/chart" uri="{C3380CC4-5D6E-409C-BE32-E72D297353CC}">
              <c16:uniqueId val="{00000000-28C6-4FE7-BBA0-921BE1E60D23}"/>
            </c:ext>
          </c:extLst>
        </c:ser>
        <c:ser>
          <c:idx val="1"/>
          <c:order val="1"/>
          <c:tx>
            <c:strRef>
              <c:f>'MSTI rd-gdp'!$D$55</c:f>
              <c:strCache>
                <c:ptCount val="1"/>
                <c:pt idx="0">
                  <c:v>France</c:v>
                </c:pt>
              </c:strCache>
            </c:strRef>
          </c:tx>
          <c:spPr>
            <a:ln w="28575" cap="rnd">
              <a:solidFill>
                <a:schemeClr val="accent2"/>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rd-gdp'!$D$56:$D$72</c:f>
              <c:numCache>
                <c:formatCode>#,##0.00_ ;\-#,##0.00\ </c:formatCode>
                <c:ptCount val="17"/>
                <c:pt idx="0">
                  <c:v>2.08</c:v>
                </c:pt>
                <c:pt idx="1">
                  <c:v>2.13</c:v>
                </c:pt>
                <c:pt idx="2">
                  <c:v>2.17</c:v>
                </c:pt>
                <c:pt idx="3">
                  <c:v>2.11</c:v>
                </c:pt>
                <c:pt idx="4">
                  <c:v>2.09</c:v>
                </c:pt>
                <c:pt idx="5">
                  <c:v>2.04</c:v>
                </c:pt>
                <c:pt idx="6">
                  <c:v>2.0499999999999998</c:v>
                </c:pt>
                <c:pt idx="7">
                  <c:v>2.02</c:v>
                </c:pt>
                <c:pt idx="8">
                  <c:v>2.06</c:v>
                </c:pt>
                <c:pt idx="9">
                  <c:v>2.21</c:v>
                </c:pt>
                <c:pt idx="10">
                  <c:v>2.1800000000000002</c:v>
                </c:pt>
                <c:pt idx="11">
                  <c:v>2.19</c:v>
                </c:pt>
                <c:pt idx="12">
                  <c:v>2.23</c:v>
                </c:pt>
                <c:pt idx="13">
                  <c:v>2.2400000000000002</c:v>
                </c:pt>
                <c:pt idx="14">
                  <c:v>2.2799999999999998</c:v>
                </c:pt>
                <c:pt idx="15">
                  <c:v>2.27</c:v>
                </c:pt>
                <c:pt idx="16">
                  <c:v>2.25</c:v>
                </c:pt>
              </c:numCache>
            </c:numRef>
          </c:val>
          <c:smooth val="0"/>
          <c:extLst>
            <c:ext xmlns:c16="http://schemas.microsoft.com/office/drawing/2014/chart" uri="{C3380CC4-5D6E-409C-BE32-E72D297353CC}">
              <c16:uniqueId val="{00000001-28C6-4FE7-BBA0-921BE1E60D23}"/>
            </c:ext>
          </c:extLst>
        </c:ser>
        <c:ser>
          <c:idx val="2"/>
          <c:order val="2"/>
          <c:tx>
            <c:strRef>
              <c:f>'MSTI rd-gdp'!$E$55</c:f>
              <c:strCache>
                <c:ptCount val="1"/>
                <c:pt idx="0">
                  <c:v>Germany</c:v>
                </c:pt>
              </c:strCache>
            </c:strRef>
          </c:tx>
          <c:spPr>
            <a:ln w="28575" cap="rnd">
              <a:solidFill>
                <a:srgbClr val="00B0F0"/>
              </a:solidFill>
              <a:prstDash val="sysDash"/>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rd-gdp'!$E$56:$E$72</c:f>
              <c:numCache>
                <c:formatCode>#,##0.00_ ;\-#,##0.00\ </c:formatCode>
                <c:ptCount val="17"/>
                <c:pt idx="0">
                  <c:v>2.39</c:v>
                </c:pt>
                <c:pt idx="1">
                  <c:v>2.39</c:v>
                </c:pt>
                <c:pt idx="2">
                  <c:v>2.42</c:v>
                </c:pt>
                <c:pt idx="3">
                  <c:v>2.46</c:v>
                </c:pt>
                <c:pt idx="4">
                  <c:v>2.42</c:v>
                </c:pt>
                <c:pt idx="5">
                  <c:v>2.42</c:v>
                </c:pt>
                <c:pt idx="6">
                  <c:v>2.46</c:v>
                </c:pt>
                <c:pt idx="7">
                  <c:v>2.4500000000000002</c:v>
                </c:pt>
                <c:pt idx="8">
                  <c:v>2.6</c:v>
                </c:pt>
                <c:pt idx="9">
                  <c:v>2.73</c:v>
                </c:pt>
                <c:pt idx="10">
                  <c:v>2.71</c:v>
                </c:pt>
                <c:pt idx="11">
                  <c:v>2.8</c:v>
                </c:pt>
                <c:pt idx="12">
                  <c:v>2.87</c:v>
                </c:pt>
                <c:pt idx="13">
                  <c:v>2.82</c:v>
                </c:pt>
                <c:pt idx="14">
                  <c:v>2.87</c:v>
                </c:pt>
                <c:pt idx="15">
                  <c:v>2.92</c:v>
                </c:pt>
                <c:pt idx="16">
                  <c:v>2.94</c:v>
                </c:pt>
              </c:numCache>
            </c:numRef>
          </c:val>
          <c:smooth val="0"/>
          <c:extLst>
            <c:ext xmlns:c16="http://schemas.microsoft.com/office/drawing/2014/chart" uri="{C3380CC4-5D6E-409C-BE32-E72D297353CC}">
              <c16:uniqueId val="{00000002-28C6-4FE7-BBA0-921BE1E60D23}"/>
            </c:ext>
          </c:extLst>
        </c:ser>
        <c:ser>
          <c:idx val="3"/>
          <c:order val="3"/>
          <c:tx>
            <c:strRef>
              <c:f>'MSTI rd-gdp'!$F$55</c:f>
              <c:strCache>
                <c:ptCount val="1"/>
                <c:pt idx="0">
                  <c:v>Israel</c:v>
                </c:pt>
              </c:strCache>
            </c:strRef>
          </c:tx>
          <c:spPr>
            <a:ln w="28575" cap="rnd">
              <a:solidFill>
                <a:schemeClr val="accent4"/>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rd-gdp'!$F$56:$F$72</c:f>
              <c:numCache>
                <c:formatCode>#,##0.00_ ;\-#,##0.00\ </c:formatCode>
                <c:ptCount val="17"/>
                <c:pt idx="0">
                  <c:v>3.93</c:v>
                </c:pt>
                <c:pt idx="1">
                  <c:v>4.1900000000000004</c:v>
                </c:pt>
                <c:pt idx="2">
                  <c:v>4.13</c:v>
                </c:pt>
                <c:pt idx="3">
                  <c:v>3.9</c:v>
                </c:pt>
                <c:pt idx="4">
                  <c:v>3.87</c:v>
                </c:pt>
                <c:pt idx="5">
                  <c:v>4.05</c:v>
                </c:pt>
                <c:pt idx="6">
                  <c:v>4.1399999999999997</c:v>
                </c:pt>
                <c:pt idx="7">
                  <c:v>4.43</c:v>
                </c:pt>
                <c:pt idx="8">
                  <c:v>4.3499999999999996</c:v>
                </c:pt>
                <c:pt idx="9">
                  <c:v>4.13</c:v>
                </c:pt>
                <c:pt idx="10">
                  <c:v>3.94</c:v>
                </c:pt>
                <c:pt idx="11">
                  <c:v>4.01</c:v>
                </c:pt>
                <c:pt idx="12">
                  <c:v>4.16</c:v>
                </c:pt>
                <c:pt idx="13">
                  <c:v>4.1500000000000004</c:v>
                </c:pt>
                <c:pt idx="14">
                  <c:v>4.2</c:v>
                </c:pt>
                <c:pt idx="15">
                  <c:v>4.2699999999999996</c:v>
                </c:pt>
                <c:pt idx="16">
                  <c:v>4.25</c:v>
                </c:pt>
              </c:numCache>
            </c:numRef>
          </c:val>
          <c:smooth val="0"/>
          <c:extLst>
            <c:ext xmlns:c16="http://schemas.microsoft.com/office/drawing/2014/chart" uri="{C3380CC4-5D6E-409C-BE32-E72D297353CC}">
              <c16:uniqueId val="{00000003-28C6-4FE7-BBA0-921BE1E60D23}"/>
            </c:ext>
          </c:extLst>
        </c:ser>
        <c:ser>
          <c:idx val="4"/>
          <c:order val="4"/>
          <c:tx>
            <c:strRef>
              <c:f>'MSTI rd-gdp'!$G$55</c:f>
              <c:strCache>
                <c:ptCount val="1"/>
                <c:pt idx="0">
                  <c:v>Italy</c:v>
                </c:pt>
              </c:strCache>
            </c:strRef>
          </c:tx>
          <c:spPr>
            <a:ln w="28575" cap="rnd">
              <a:solidFill>
                <a:srgbClr val="0070C0"/>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rd-gdp'!$G$56:$G$72</c:f>
              <c:numCache>
                <c:formatCode>#,##0.00_ ;\-#,##0.00\ </c:formatCode>
                <c:ptCount val="17"/>
                <c:pt idx="0">
                  <c:v>1.01</c:v>
                </c:pt>
                <c:pt idx="1">
                  <c:v>1.04</c:v>
                </c:pt>
                <c:pt idx="2">
                  <c:v>1.08</c:v>
                </c:pt>
                <c:pt idx="3">
                  <c:v>1.06</c:v>
                </c:pt>
                <c:pt idx="4">
                  <c:v>1.05</c:v>
                </c:pt>
                <c:pt idx="5">
                  <c:v>1.05</c:v>
                </c:pt>
                <c:pt idx="6">
                  <c:v>1.0900000000000001</c:v>
                </c:pt>
                <c:pt idx="7">
                  <c:v>1.1299999999999999</c:v>
                </c:pt>
                <c:pt idx="8">
                  <c:v>1.1599999999999999</c:v>
                </c:pt>
                <c:pt idx="9">
                  <c:v>1.22</c:v>
                </c:pt>
                <c:pt idx="10">
                  <c:v>1.22</c:v>
                </c:pt>
                <c:pt idx="11">
                  <c:v>1.21</c:v>
                </c:pt>
                <c:pt idx="12">
                  <c:v>1.27</c:v>
                </c:pt>
                <c:pt idx="13">
                  <c:v>1.31</c:v>
                </c:pt>
                <c:pt idx="14">
                  <c:v>1.34</c:v>
                </c:pt>
                <c:pt idx="15">
                  <c:v>1.34</c:v>
                </c:pt>
                <c:pt idx="16">
                  <c:v>1.29</c:v>
                </c:pt>
              </c:numCache>
            </c:numRef>
          </c:val>
          <c:smooth val="0"/>
          <c:extLst>
            <c:ext xmlns:c16="http://schemas.microsoft.com/office/drawing/2014/chart" uri="{C3380CC4-5D6E-409C-BE32-E72D297353CC}">
              <c16:uniqueId val="{00000004-28C6-4FE7-BBA0-921BE1E60D23}"/>
            </c:ext>
          </c:extLst>
        </c:ser>
        <c:ser>
          <c:idx val="5"/>
          <c:order val="5"/>
          <c:tx>
            <c:strRef>
              <c:f>'MSTI rd-gdp'!$H$55</c:f>
              <c:strCache>
                <c:ptCount val="1"/>
                <c:pt idx="0">
                  <c:v>Japan</c:v>
                </c:pt>
              </c:strCache>
            </c:strRef>
          </c:tx>
          <c:spPr>
            <a:ln w="28575" cap="rnd">
              <a:solidFill>
                <a:schemeClr val="accent6"/>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rd-gdp'!$H$56:$H$72</c:f>
              <c:numCache>
                <c:formatCode>#,##0.00_ ;\-#,##0.00\ </c:formatCode>
                <c:ptCount val="17"/>
                <c:pt idx="0">
                  <c:v>2.91</c:v>
                </c:pt>
                <c:pt idx="1">
                  <c:v>2.97</c:v>
                </c:pt>
                <c:pt idx="2">
                  <c:v>3.01</c:v>
                </c:pt>
                <c:pt idx="3">
                  <c:v>3.04</c:v>
                </c:pt>
                <c:pt idx="4">
                  <c:v>3.03</c:v>
                </c:pt>
                <c:pt idx="5">
                  <c:v>3.18</c:v>
                </c:pt>
                <c:pt idx="6">
                  <c:v>3.28</c:v>
                </c:pt>
                <c:pt idx="7">
                  <c:v>3.34</c:v>
                </c:pt>
                <c:pt idx="8">
                  <c:v>3.34</c:v>
                </c:pt>
                <c:pt idx="9">
                  <c:v>3.23</c:v>
                </c:pt>
                <c:pt idx="10">
                  <c:v>3.14</c:v>
                </c:pt>
                <c:pt idx="11">
                  <c:v>3.24</c:v>
                </c:pt>
                <c:pt idx="12">
                  <c:v>3.21</c:v>
                </c:pt>
                <c:pt idx="13">
                  <c:v>3.31</c:v>
                </c:pt>
                <c:pt idx="14">
                  <c:v>3.4</c:v>
                </c:pt>
                <c:pt idx="15">
                  <c:v>3.28</c:v>
                </c:pt>
                <c:pt idx="16">
                  <c:v>3.14</c:v>
                </c:pt>
              </c:numCache>
            </c:numRef>
          </c:val>
          <c:smooth val="0"/>
          <c:extLst>
            <c:ext xmlns:c16="http://schemas.microsoft.com/office/drawing/2014/chart" uri="{C3380CC4-5D6E-409C-BE32-E72D297353CC}">
              <c16:uniqueId val="{00000005-28C6-4FE7-BBA0-921BE1E60D23}"/>
            </c:ext>
          </c:extLst>
        </c:ser>
        <c:ser>
          <c:idx val="6"/>
          <c:order val="6"/>
          <c:tx>
            <c:strRef>
              <c:f>'MSTI rd-gdp'!$I$55</c:f>
              <c:strCache>
                <c:ptCount val="1"/>
                <c:pt idx="0">
                  <c:v>Korea</c:v>
                </c:pt>
              </c:strCache>
            </c:strRef>
          </c:tx>
          <c:spPr>
            <a:ln w="28575" cap="rnd">
              <a:solidFill>
                <a:srgbClr val="FF0000"/>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rd-gdp'!$I$56:$I$72</c:f>
              <c:numCache>
                <c:formatCode>#,##0.00_ ;\-#,##0.00\ </c:formatCode>
                <c:ptCount val="17"/>
                <c:pt idx="0">
                  <c:v>2.1800000000000002</c:v>
                </c:pt>
                <c:pt idx="1">
                  <c:v>2.34</c:v>
                </c:pt>
                <c:pt idx="2">
                  <c:v>2.27</c:v>
                </c:pt>
                <c:pt idx="3">
                  <c:v>2.35</c:v>
                </c:pt>
                <c:pt idx="4">
                  <c:v>2.5299999999999998</c:v>
                </c:pt>
                <c:pt idx="5">
                  <c:v>2.63</c:v>
                </c:pt>
                <c:pt idx="6">
                  <c:v>2.83</c:v>
                </c:pt>
                <c:pt idx="7">
                  <c:v>3</c:v>
                </c:pt>
                <c:pt idx="8">
                  <c:v>3.12</c:v>
                </c:pt>
                <c:pt idx="9">
                  <c:v>3.29</c:v>
                </c:pt>
                <c:pt idx="10">
                  <c:v>3.47</c:v>
                </c:pt>
                <c:pt idx="11">
                  <c:v>3.74</c:v>
                </c:pt>
                <c:pt idx="12">
                  <c:v>4.03</c:v>
                </c:pt>
                <c:pt idx="13">
                  <c:v>4.1500000000000004</c:v>
                </c:pt>
                <c:pt idx="14">
                  <c:v>4.29</c:v>
                </c:pt>
                <c:pt idx="15">
                  <c:v>4.22</c:v>
                </c:pt>
                <c:pt idx="16">
                  <c:v>4.24</c:v>
                </c:pt>
              </c:numCache>
            </c:numRef>
          </c:val>
          <c:smooth val="0"/>
          <c:extLst>
            <c:ext xmlns:c16="http://schemas.microsoft.com/office/drawing/2014/chart" uri="{C3380CC4-5D6E-409C-BE32-E72D297353CC}">
              <c16:uniqueId val="{00000006-28C6-4FE7-BBA0-921BE1E60D23}"/>
            </c:ext>
          </c:extLst>
        </c:ser>
        <c:ser>
          <c:idx val="7"/>
          <c:order val="7"/>
          <c:tx>
            <c:strRef>
              <c:f>'MSTI rd-gdp'!$J$55</c:f>
              <c:strCache>
                <c:ptCount val="1"/>
                <c:pt idx="0">
                  <c:v>United Kingdom</c:v>
                </c:pt>
              </c:strCache>
            </c:strRef>
          </c:tx>
          <c:spPr>
            <a:ln w="28575" cap="rnd">
              <a:solidFill>
                <a:schemeClr val="accent2">
                  <a:lumMod val="60000"/>
                </a:schemeClr>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rd-gdp'!$J$56:$J$72</c:f>
              <c:numCache>
                <c:formatCode>#,##0.00_ ;\-#,##0.00\ </c:formatCode>
                <c:ptCount val="17"/>
                <c:pt idx="0">
                  <c:v>1.63</c:v>
                </c:pt>
                <c:pt idx="1">
                  <c:v>1.62</c:v>
                </c:pt>
                <c:pt idx="2">
                  <c:v>1.63</c:v>
                </c:pt>
                <c:pt idx="3">
                  <c:v>1.59</c:v>
                </c:pt>
                <c:pt idx="4">
                  <c:v>1.55</c:v>
                </c:pt>
                <c:pt idx="5">
                  <c:v>1.56</c:v>
                </c:pt>
                <c:pt idx="6">
                  <c:v>1.59</c:v>
                </c:pt>
                <c:pt idx="7">
                  <c:v>1.63</c:v>
                </c:pt>
                <c:pt idx="8">
                  <c:v>1.63</c:v>
                </c:pt>
                <c:pt idx="9">
                  <c:v>1.69</c:v>
                </c:pt>
                <c:pt idx="10">
                  <c:v>1.67</c:v>
                </c:pt>
                <c:pt idx="11">
                  <c:v>1.67</c:v>
                </c:pt>
                <c:pt idx="12">
                  <c:v>1.6</c:v>
                </c:pt>
                <c:pt idx="13">
                  <c:v>1.65</c:v>
                </c:pt>
                <c:pt idx="14">
                  <c:v>1.67</c:v>
                </c:pt>
                <c:pt idx="15">
                  <c:v>1.67</c:v>
                </c:pt>
                <c:pt idx="16">
                  <c:v>1.69</c:v>
                </c:pt>
              </c:numCache>
            </c:numRef>
          </c:val>
          <c:smooth val="0"/>
          <c:extLst>
            <c:ext xmlns:c16="http://schemas.microsoft.com/office/drawing/2014/chart" uri="{C3380CC4-5D6E-409C-BE32-E72D297353CC}">
              <c16:uniqueId val="{00000007-28C6-4FE7-BBA0-921BE1E60D23}"/>
            </c:ext>
          </c:extLst>
        </c:ser>
        <c:ser>
          <c:idx val="8"/>
          <c:order val="8"/>
          <c:tx>
            <c:strRef>
              <c:f>'MSTI rd-gdp'!$K$55</c:f>
              <c:strCache>
                <c:ptCount val="1"/>
                <c:pt idx="0">
                  <c:v>United States</c:v>
                </c:pt>
              </c:strCache>
            </c:strRef>
          </c:tx>
          <c:spPr>
            <a:ln w="38100" cap="rnd">
              <a:solidFill>
                <a:srgbClr val="002060"/>
              </a:solidFill>
              <a:prstDash val="lgDash"/>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rd-gdp'!$K$56:$K$72</c:f>
              <c:numCache>
                <c:formatCode>#,##0.00_ ;\-#,##0.00\ </c:formatCode>
                <c:ptCount val="17"/>
                <c:pt idx="0">
                  <c:v>2.62</c:v>
                </c:pt>
                <c:pt idx="1">
                  <c:v>2.64</c:v>
                </c:pt>
                <c:pt idx="2">
                  <c:v>2.5499999999999998</c:v>
                </c:pt>
                <c:pt idx="3">
                  <c:v>2.5499999999999998</c:v>
                </c:pt>
                <c:pt idx="4">
                  <c:v>2.4900000000000002</c:v>
                </c:pt>
                <c:pt idx="5">
                  <c:v>2.5099999999999998</c:v>
                </c:pt>
                <c:pt idx="6">
                  <c:v>2.5499999999999998</c:v>
                </c:pt>
                <c:pt idx="7">
                  <c:v>2.63</c:v>
                </c:pt>
                <c:pt idx="8">
                  <c:v>2.77</c:v>
                </c:pt>
                <c:pt idx="9">
                  <c:v>2.82</c:v>
                </c:pt>
                <c:pt idx="10">
                  <c:v>2.74</c:v>
                </c:pt>
                <c:pt idx="11">
                  <c:v>2.77</c:v>
                </c:pt>
                <c:pt idx="12">
                  <c:v>2.69</c:v>
                </c:pt>
                <c:pt idx="13">
                  <c:v>2.72</c:v>
                </c:pt>
                <c:pt idx="14">
                  <c:v>2.73</c:v>
                </c:pt>
                <c:pt idx="15">
                  <c:v>2.74</c:v>
                </c:pt>
                <c:pt idx="16">
                  <c:v>2.74</c:v>
                </c:pt>
              </c:numCache>
            </c:numRef>
          </c:val>
          <c:smooth val="0"/>
          <c:extLst>
            <c:ext xmlns:c16="http://schemas.microsoft.com/office/drawing/2014/chart" uri="{C3380CC4-5D6E-409C-BE32-E72D297353CC}">
              <c16:uniqueId val="{00000008-28C6-4FE7-BBA0-921BE1E60D23}"/>
            </c:ext>
          </c:extLst>
        </c:ser>
        <c:ser>
          <c:idx val="9"/>
          <c:order val="9"/>
          <c:tx>
            <c:strRef>
              <c:f>'MSTI rd-gdp'!$L$55</c:f>
              <c:strCache>
                <c:ptCount val="1"/>
                <c:pt idx="0">
                  <c:v>China</c:v>
                </c:pt>
              </c:strCache>
            </c:strRef>
          </c:tx>
          <c:spPr>
            <a:ln w="28575" cap="rnd">
              <a:solidFill>
                <a:srgbClr val="FF0000"/>
              </a:solidFill>
              <a:prstDash val="sysDash"/>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rd-gdp'!$L$56:$L$72</c:f>
              <c:numCache>
                <c:formatCode>#,##0.00_ ;\-#,##0.00\ </c:formatCode>
                <c:ptCount val="17"/>
                <c:pt idx="0">
                  <c:v>0.89</c:v>
                </c:pt>
                <c:pt idx="1">
                  <c:v>0.94</c:v>
                </c:pt>
                <c:pt idx="2">
                  <c:v>1.06</c:v>
                </c:pt>
                <c:pt idx="3">
                  <c:v>1.1200000000000001</c:v>
                </c:pt>
                <c:pt idx="4">
                  <c:v>1.21</c:v>
                </c:pt>
                <c:pt idx="5">
                  <c:v>1.31</c:v>
                </c:pt>
                <c:pt idx="6">
                  <c:v>1.37</c:v>
                </c:pt>
                <c:pt idx="7">
                  <c:v>1.37</c:v>
                </c:pt>
                <c:pt idx="8">
                  <c:v>1.44</c:v>
                </c:pt>
                <c:pt idx="9">
                  <c:v>1.66</c:v>
                </c:pt>
                <c:pt idx="10">
                  <c:v>1.71</c:v>
                </c:pt>
                <c:pt idx="11">
                  <c:v>1.78</c:v>
                </c:pt>
                <c:pt idx="12">
                  <c:v>1.91</c:v>
                </c:pt>
                <c:pt idx="13">
                  <c:v>1.99</c:v>
                </c:pt>
                <c:pt idx="14">
                  <c:v>2.02</c:v>
                </c:pt>
                <c:pt idx="15">
                  <c:v>2.0699999999999998</c:v>
                </c:pt>
                <c:pt idx="16">
                  <c:v>2.12</c:v>
                </c:pt>
              </c:numCache>
            </c:numRef>
          </c:val>
          <c:smooth val="0"/>
          <c:extLst>
            <c:ext xmlns:c16="http://schemas.microsoft.com/office/drawing/2014/chart" uri="{C3380CC4-5D6E-409C-BE32-E72D297353CC}">
              <c16:uniqueId val="{00000009-28C6-4FE7-BBA0-921BE1E60D23}"/>
            </c:ext>
          </c:extLst>
        </c:ser>
        <c:ser>
          <c:idx val="10"/>
          <c:order val="10"/>
          <c:tx>
            <c:strRef>
              <c:f>'MSTI rd-gdp'!$M$55</c:f>
              <c:strCache>
                <c:ptCount val="1"/>
                <c:pt idx="0">
                  <c:v>Russia</c:v>
                </c:pt>
              </c:strCache>
            </c:strRef>
          </c:tx>
          <c:spPr>
            <a:ln w="28575" cap="rnd">
              <a:solidFill>
                <a:srgbClr val="C00000"/>
              </a:solidFill>
              <a:prstDash val="lgDash"/>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rd-gdp'!$M$56:$M$72</c:f>
              <c:numCache>
                <c:formatCode>#,##0.00_ ;\-#,##0.00\ </c:formatCode>
                <c:ptCount val="17"/>
                <c:pt idx="0">
                  <c:v>0.98</c:v>
                </c:pt>
                <c:pt idx="1">
                  <c:v>1.0900000000000001</c:v>
                </c:pt>
                <c:pt idx="2">
                  <c:v>1.1599999999999999</c:v>
                </c:pt>
                <c:pt idx="3">
                  <c:v>1.19</c:v>
                </c:pt>
                <c:pt idx="4">
                  <c:v>1.07</c:v>
                </c:pt>
                <c:pt idx="5">
                  <c:v>0.99</c:v>
                </c:pt>
                <c:pt idx="6">
                  <c:v>1</c:v>
                </c:pt>
                <c:pt idx="7">
                  <c:v>1.04</c:v>
                </c:pt>
                <c:pt idx="8">
                  <c:v>0.97</c:v>
                </c:pt>
                <c:pt idx="9">
                  <c:v>1.1599999999999999</c:v>
                </c:pt>
                <c:pt idx="10">
                  <c:v>1.05</c:v>
                </c:pt>
                <c:pt idx="11">
                  <c:v>1.01</c:v>
                </c:pt>
                <c:pt idx="12">
                  <c:v>1.03</c:v>
                </c:pt>
                <c:pt idx="13">
                  <c:v>1.03</c:v>
                </c:pt>
                <c:pt idx="14">
                  <c:v>1.07</c:v>
                </c:pt>
                <c:pt idx="15">
                  <c:v>1.1000000000000001</c:v>
                </c:pt>
                <c:pt idx="16">
                  <c:v>1.1000000000000001</c:v>
                </c:pt>
              </c:numCache>
            </c:numRef>
          </c:val>
          <c:smooth val="0"/>
          <c:extLst>
            <c:ext xmlns:c16="http://schemas.microsoft.com/office/drawing/2014/chart" uri="{C3380CC4-5D6E-409C-BE32-E72D297353CC}">
              <c16:uniqueId val="{0000000A-28C6-4FE7-BBA0-921BE1E60D23}"/>
            </c:ext>
          </c:extLst>
        </c:ser>
        <c:ser>
          <c:idx val="11"/>
          <c:order val="11"/>
          <c:tx>
            <c:strRef>
              <c:f>'MSTI rd-gdp'!$N$55</c:f>
              <c:strCache>
                <c:ptCount val="1"/>
                <c:pt idx="0">
                  <c:v>Taipei</c:v>
                </c:pt>
              </c:strCache>
            </c:strRef>
          </c:tx>
          <c:spPr>
            <a:ln w="28575" cap="rnd">
              <a:solidFill>
                <a:srgbClr val="EA5E42"/>
              </a:solidFill>
              <a:round/>
            </a:ln>
            <a:effectLst/>
          </c:spPr>
          <c:marker>
            <c:symbol val="none"/>
          </c:marker>
          <c:cat>
            <c:strRef>
              <c:f>'MSTI rd-gdp'!$B$56:$B$72</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'MSTI rd-gdp'!$N$56:$N$72</c:f>
              <c:numCache>
                <c:formatCode>#,##0.00_ ;\-#,##0.00\ </c:formatCode>
                <c:ptCount val="17"/>
                <c:pt idx="0">
                  <c:v>1.91</c:v>
                </c:pt>
                <c:pt idx="1">
                  <c:v>2.02</c:v>
                </c:pt>
                <c:pt idx="2">
                  <c:v>2.1</c:v>
                </c:pt>
                <c:pt idx="3">
                  <c:v>2.2200000000000002</c:v>
                </c:pt>
                <c:pt idx="4">
                  <c:v>2.2599999999999998</c:v>
                </c:pt>
                <c:pt idx="5">
                  <c:v>2.3199999999999998</c:v>
                </c:pt>
                <c:pt idx="6">
                  <c:v>2.4300000000000002</c:v>
                </c:pt>
                <c:pt idx="7">
                  <c:v>2.4700000000000002</c:v>
                </c:pt>
                <c:pt idx="8">
                  <c:v>2.68</c:v>
                </c:pt>
                <c:pt idx="9">
                  <c:v>2.84</c:v>
                </c:pt>
                <c:pt idx="10">
                  <c:v>2.8</c:v>
                </c:pt>
                <c:pt idx="11">
                  <c:v>2.9</c:v>
                </c:pt>
                <c:pt idx="12">
                  <c:v>2.95</c:v>
                </c:pt>
                <c:pt idx="13">
                  <c:v>3</c:v>
                </c:pt>
                <c:pt idx="14">
                  <c:v>3</c:v>
                </c:pt>
                <c:pt idx="15">
                  <c:v>3.05</c:v>
                </c:pt>
                <c:pt idx="16">
                  <c:v>3.16</c:v>
                </c:pt>
              </c:numCache>
            </c:numRef>
          </c:val>
          <c:smooth val="0"/>
          <c:extLst>
            <c:ext xmlns:c16="http://schemas.microsoft.com/office/drawing/2014/chart" uri="{C3380CC4-5D6E-409C-BE32-E72D297353CC}">
              <c16:uniqueId val="{0000000B-28C6-4FE7-BBA0-921BE1E60D23}"/>
            </c:ext>
          </c:extLst>
        </c:ser>
        <c:dLbls>
          <c:showLegendKey val="0"/>
          <c:showVal val="0"/>
          <c:showCatName val="0"/>
          <c:showSerName val="0"/>
          <c:showPercent val="0"/>
          <c:showBubbleSize val="0"/>
        </c:dLbls>
        <c:smooth val="0"/>
        <c:axId val="141460608"/>
        <c:axId val="141462144"/>
      </c:lineChart>
      <c:catAx>
        <c:axId val="141460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1462144"/>
        <c:crosses val="autoZero"/>
        <c:auto val="1"/>
        <c:lblAlgn val="ctr"/>
        <c:lblOffset val="100"/>
        <c:tickLblSkip val="4"/>
        <c:noMultiLvlLbl val="0"/>
      </c:catAx>
      <c:valAx>
        <c:axId val="14146214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1460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662495834449426E-2"/>
          <c:y val="2.5616929854660343E-2"/>
          <c:w val="0.90148685554054087"/>
          <c:h val="0.90612818371036685"/>
        </c:manualLayout>
      </c:layout>
      <c:bubbleChart>
        <c:varyColors val="0"/>
        <c:ser>
          <c:idx val="0"/>
          <c:order val="0"/>
          <c:spPr>
            <a:solidFill>
              <a:schemeClr val="accent1">
                <a:alpha val="75000"/>
              </a:schemeClr>
            </a:solidFill>
            <a:ln>
              <a:noFill/>
            </a:ln>
            <a:effectLst/>
          </c:spPr>
          <c:invertIfNegative val="0"/>
          <c:dPt>
            <c:idx val="0"/>
            <c:invertIfNegative val="0"/>
            <c:bubble3D val="0"/>
            <c:spPr>
              <a:solidFill>
                <a:srgbClr val="0070C0"/>
              </a:solidFill>
              <a:ln>
                <a:noFill/>
              </a:ln>
              <a:effectLst/>
            </c:spPr>
            <c:extLst>
              <c:ext xmlns:c16="http://schemas.microsoft.com/office/drawing/2014/chart" uri="{C3380CC4-5D6E-409C-BE32-E72D297353CC}">
                <c16:uniqueId val="{00000003-C03E-4BF4-9ECD-338C6F55AE89}"/>
              </c:ext>
            </c:extLst>
          </c:dPt>
          <c:dPt>
            <c:idx val="1"/>
            <c:invertIfNegative val="0"/>
            <c:bubble3D val="0"/>
            <c:spPr>
              <a:solidFill>
                <a:srgbClr val="FF7C80"/>
              </a:solidFill>
              <a:ln>
                <a:solidFill>
                  <a:srgbClr val="FF0000"/>
                </a:solidFill>
              </a:ln>
              <a:effectLst/>
            </c:spPr>
            <c:extLst>
              <c:ext xmlns:c16="http://schemas.microsoft.com/office/drawing/2014/chart" uri="{C3380CC4-5D6E-409C-BE32-E72D297353CC}">
                <c16:uniqueId val="{00000004-C03E-4BF4-9ECD-338C6F55AE89}"/>
              </c:ext>
            </c:extLst>
          </c:dPt>
          <c:dPt>
            <c:idx val="2"/>
            <c:invertIfNegative val="0"/>
            <c:bubble3D val="0"/>
            <c:spPr>
              <a:solidFill>
                <a:srgbClr val="FF7C80"/>
              </a:solidFill>
              <a:ln>
                <a:noFill/>
              </a:ln>
              <a:effectLst/>
            </c:spPr>
            <c:extLst>
              <c:ext xmlns:c16="http://schemas.microsoft.com/office/drawing/2014/chart" uri="{C3380CC4-5D6E-409C-BE32-E72D297353CC}">
                <c16:uniqueId val="{00000002-C03E-4BF4-9ECD-338C6F55AE89}"/>
              </c:ext>
            </c:extLst>
          </c:dPt>
          <c:dPt>
            <c:idx val="3"/>
            <c:invertIfNegative val="0"/>
            <c:bubble3D val="0"/>
            <c:spPr>
              <a:solidFill>
                <a:schemeClr val="accent2">
                  <a:lumMod val="20000"/>
                  <a:lumOff val="80000"/>
                </a:schemeClr>
              </a:solidFill>
              <a:ln>
                <a:noFill/>
              </a:ln>
              <a:effectLst/>
            </c:spPr>
            <c:extLst>
              <c:ext xmlns:c16="http://schemas.microsoft.com/office/drawing/2014/chart" uri="{C3380CC4-5D6E-409C-BE32-E72D297353CC}">
                <c16:uniqueId val="{00000001-C03E-4BF4-9ECD-338C6F55AE89}"/>
              </c:ext>
            </c:extLst>
          </c:dPt>
          <c:dPt>
            <c:idx val="4"/>
            <c:invertIfNegative val="0"/>
            <c:bubble3D val="0"/>
            <c:spPr>
              <a:solidFill>
                <a:srgbClr val="FF7C80"/>
              </a:solidFill>
              <a:ln>
                <a:noFill/>
              </a:ln>
              <a:effectLst/>
            </c:spPr>
            <c:extLst>
              <c:ext xmlns:c16="http://schemas.microsoft.com/office/drawing/2014/chart" uri="{C3380CC4-5D6E-409C-BE32-E72D297353CC}">
                <c16:uniqueId val="{00000005-C03E-4BF4-9ECD-338C6F55AE89}"/>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6-C03E-4BF4-9ECD-338C6F55AE89}"/>
              </c:ext>
            </c:extLst>
          </c:dPt>
          <c:dPt>
            <c:idx val="6"/>
            <c:invertIfNegative val="0"/>
            <c:bubble3D val="0"/>
            <c:spPr>
              <a:solidFill>
                <a:srgbClr val="FF7C80"/>
              </a:solidFill>
              <a:ln>
                <a:noFill/>
              </a:ln>
              <a:effectLst/>
            </c:spPr>
            <c:extLst>
              <c:ext xmlns:c16="http://schemas.microsoft.com/office/drawing/2014/chart" uri="{C3380CC4-5D6E-409C-BE32-E72D297353CC}">
                <c16:uniqueId val="{00000007-C03E-4BF4-9ECD-338C6F55AE89}"/>
              </c:ext>
            </c:extLst>
          </c:dPt>
          <c:dPt>
            <c:idx val="7"/>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C03E-4BF4-9ECD-338C6F55AE89}"/>
              </c:ext>
            </c:extLst>
          </c:dPt>
          <c:dPt>
            <c:idx val="8"/>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A-C03E-4BF4-9ECD-338C6F55AE89}"/>
              </c:ext>
            </c:extLst>
          </c:dPt>
          <c:dPt>
            <c:idx val="9"/>
            <c:invertIfNegative val="0"/>
            <c:bubble3D val="0"/>
            <c:spPr>
              <a:solidFill>
                <a:srgbClr val="FF7C80"/>
              </a:solidFill>
              <a:ln>
                <a:noFill/>
              </a:ln>
              <a:effectLst/>
            </c:spPr>
            <c:extLst>
              <c:ext xmlns:c16="http://schemas.microsoft.com/office/drawing/2014/chart" uri="{C3380CC4-5D6E-409C-BE32-E72D297353CC}">
                <c16:uniqueId val="{00000008-C03E-4BF4-9ECD-338C6F55AE89}"/>
              </c:ext>
            </c:extLst>
          </c:dPt>
          <c:dPt>
            <c:idx val="1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B-C03E-4BF4-9ECD-338C6F55AE89}"/>
              </c:ext>
            </c:extLst>
          </c:dPt>
          <c:dPt>
            <c:idx val="11"/>
            <c:invertIfNegative val="0"/>
            <c:bubble3D val="0"/>
            <c:spPr>
              <a:solidFill>
                <a:srgbClr val="0070C0"/>
              </a:solidFill>
              <a:ln>
                <a:noFill/>
              </a:ln>
              <a:effectLst/>
            </c:spPr>
            <c:extLst>
              <c:ext xmlns:c16="http://schemas.microsoft.com/office/drawing/2014/chart" uri="{C3380CC4-5D6E-409C-BE32-E72D297353CC}">
                <c16:uniqueId val="{0000000C-C03E-4BF4-9ECD-338C6F55AE89}"/>
              </c:ext>
            </c:extLst>
          </c:dPt>
          <c:dPt>
            <c:idx val="12"/>
            <c:invertIfNegative val="0"/>
            <c:bubble3D val="0"/>
            <c:spPr>
              <a:solidFill>
                <a:srgbClr val="FF7C80"/>
              </a:solidFill>
              <a:ln>
                <a:noFill/>
              </a:ln>
              <a:effectLst/>
            </c:spPr>
            <c:extLst>
              <c:ext xmlns:c16="http://schemas.microsoft.com/office/drawing/2014/chart" uri="{C3380CC4-5D6E-409C-BE32-E72D297353CC}">
                <c16:uniqueId val="{00000021-C03E-4BF4-9ECD-338C6F55AE89}"/>
              </c:ext>
            </c:extLst>
          </c:dPt>
          <c:dPt>
            <c:idx val="1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D-C03E-4BF4-9ECD-338C6F55AE89}"/>
              </c:ext>
            </c:extLst>
          </c:dPt>
          <c:dPt>
            <c:idx val="1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E-C03E-4BF4-9ECD-338C6F55AE89}"/>
              </c:ext>
            </c:extLst>
          </c:dPt>
          <c:dPt>
            <c:idx val="1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0-C03E-4BF4-9ECD-338C6F55AE89}"/>
              </c:ext>
            </c:extLst>
          </c:dPt>
          <c:dPt>
            <c:idx val="1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5-C03E-4BF4-9ECD-338C6F55AE89}"/>
              </c:ext>
            </c:extLst>
          </c:dPt>
          <c:dPt>
            <c:idx val="17"/>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1-C03E-4BF4-9ECD-338C6F55AE89}"/>
              </c:ext>
            </c:extLst>
          </c:dPt>
          <c:dPt>
            <c:idx val="19"/>
            <c:invertIfNegative val="0"/>
            <c:bubble3D val="0"/>
            <c:spPr>
              <a:solidFill>
                <a:schemeClr val="accent6">
                  <a:lumMod val="20000"/>
                  <a:lumOff val="80000"/>
                </a:schemeClr>
              </a:solidFill>
              <a:ln>
                <a:solidFill>
                  <a:schemeClr val="accent6">
                    <a:lumMod val="20000"/>
                    <a:lumOff val="80000"/>
                  </a:schemeClr>
                </a:solidFill>
              </a:ln>
              <a:effectLst/>
            </c:spPr>
            <c:extLst>
              <c:ext xmlns:c16="http://schemas.microsoft.com/office/drawing/2014/chart" uri="{C3380CC4-5D6E-409C-BE32-E72D297353CC}">
                <c16:uniqueId val="{00000012-C03E-4BF4-9ECD-338C6F55AE89}"/>
              </c:ext>
            </c:extLst>
          </c:dPt>
          <c:dPt>
            <c:idx val="20"/>
            <c:invertIfNegative val="0"/>
            <c:bubble3D val="0"/>
            <c:spPr>
              <a:solidFill>
                <a:srgbClr val="EA5E42"/>
              </a:solidFill>
              <a:ln>
                <a:noFill/>
              </a:ln>
              <a:effectLst/>
            </c:spPr>
            <c:extLst>
              <c:ext xmlns:c16="http://schemas.microsoft.com/office/drawing/2014/chart" uri="{C3380CC4-5D6E-409C-BE32-E72D297353CC}">
                <c16:uniqueId val="{0000000F-C03E-4BF4-9ECD-338C6F55AE89}"/>
              </c:ext>
            </c:extLst>
          </c:dPt>
          <c:dPt>
            <c:idx val="21"/>
            <c:invertIfNegative val="0"/>
            <c:bubble3D val="0"/>
            <c:spPr>
              <a:solidFill>
                <a:srgbClr val="0070C0"/>
              </a:solidFill>
              <a:ln>
                <a:noFill/>
              </a:ln>
              <a:effectLst/>
            </c:spPr>
            <c:extLst>
              <c:ext xmlns:c16="http://schemas.microsoft.com/office/drawing/2014/chart" uri="{C3380CC4-5D6E-409C-BE32-E72D297353CC}">
                <c16:uniqueId val="{00000017-C03E-4BF4-9ECD-338C6F55AE89}"/>
              </c:ext>
            </c:extLst>
          </c:dPt>
          <c:dPt>
            <c:idx val="2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8-C03E-4BF4-9ECD-338C6F55AE89}"/>
              </c:ext>
            </c:extLst>
          </c:dPt>
          <c:dPt>
            <c:idx val="2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3-C03E-4BF4-9ECD-338C6F55AE89}"/>
              </c:ext>
            </c:extLst>
          </c:dPt>
          <c:dPt>
            <c:idx val="2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9-C03E-4BF4-9ECD-338C6F55AE89}"/>
              </c:ext>
            </c:extLst>
          </c:dPt>
          <c:dPt>
            <c:idx val="2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4-C03E-4BF4-9ECD-338C6F55AE89}"/>
              </c:ext>
            </c:extLst>
          </c:dPt>
          <c:dPt>
            <c:idx val="2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6-C03E-4BF4-9ECD-338C6F55AE89}"/>
              </c:ext>
            </c:extLst>
          </c:dPt>
          <c:dPt>
            <c:idx val="27"/>
            <c:invertIfNegative val="0"/>
            <c:bubble3D val="0"/>
            <c:spPr>
              <a:solidFill>
                <a:srgbClr val="FF7C80"/>
              </a:solidFill>
              <a:ln>
                <a:noFill/>
              </a:ln>
              <a:effectLst/>
            </c:spPr>
            <c:extLst>
              <c:ext xmlns:c16="http://schemas.microsoft.com/office/drawing/2014/chart" uri="{C3380CC4-5D6E-409C-BE32-E72D297353CC}">
                <c16:uniqueId val="{0000001B-C03E-4BF4-9ECD-338C6F55AE89}"/>
              </c:ext>
            </c:extLst>
          </c:dPt>
          <c:dPt>
            <c:idx val="28"/>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D-C03E-4BF4-9ECD-338C6F55AE89}"/>
              </c:ext>
            </c:extLst>
          </c:dPt>
          <c:dPt>
            <c:idx val="29"/>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A-C03E-4BF4-9ECD-338C6F55AE89}"/>
              </c:ext>
            </c:extLst>
          </c:dPt>
          <c:dPt>
            <c:idx val="30"/>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E-C03E-4BF4-9ECD-338C6F55AE89}"/>
              </c:ext>
            </c:extLst>
          </c:dPt>
          <c:dPt>
            <c:idx val="3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1F-C03E-4BF4-9ECD-338C6F55AE89}"/>
              </c:ext>
            </c:extLst>
          </c:dPt>
          <c:dPt>
            <c:idx val="32"/>
            <c:invertIfNegative val="0"/>
            <c:bubble3D val="0"/>
            <c:spPr>
              <a:solidFill>
                <a:srgbClr val="FF7C80"/>
              </a:solidFill>
              <a:ln>
                <a:noFill/>
              </a:ln>
              <a:effectLst/>
            </c:spPr>
            <c:extLst>
              <c:ext xmlns:c16="http://schemas.microsoft.com/office/drawing/2014/chart" uri="{C3380CC4-5D6E-409C-BE32-E72D297353CC}">
                <c16:uniqueId val="{0000001C-C03E-4BF4-9ECD-338C6F55AE89}"/>
              </c:ext>
            </c:extLst>
          </c:dPt>
          <c:dPt>
            <c:idx val="33"/>
            <c:invertIfNegative val="0"/>
            <c:bubble3D val="0"/>
            <c:spPr>
              <a:solidFill>
                <a:srgbClr val="FF7C80"/>
              </a:solidFill>
              <a:ln>
                <a:solidFill>
                  <a:srgbClr val="FF7C80"/>
                </a:solidFill>
              </a:ln>
              <a:effectLst/>
            </c:spPr>
            <c:extLst>
              <c:ext xmlns:c16="http://schemas.microsoft.com/office/drawing/2014/chart" uri="{C3380CC4-5D6E-409C-BE32-E72D297353CC}">
                <c16:uniqueId val="{00000020-C03E-4BF4-9ECD-338C6F55AE89}"/>
              </c:ext>
            </c:extLst>
          </c:dPt>
          <c:xVal>
            <c:numRef>
              <c:f>'R&amp;D_e'!$C$14:$C$55</c:f>
              <c:numCache>
                <c:formatCode>#,##0.0</c:formatCode>
                <c:ptCount val="41"/>
                <c:pt idx="0">
                  <c:v>9.1389215998834441</c:v>
                </c:pt>
                <c:pt idx="1">
                  <c:v>2.090389665724135</c:v>
                </c:pt>
                <c:pt idx="2">
                  <c:v>10.006362880677095</c:v>
                </c:pt>
                <c:pt idx="3">
                  <c:v>9.0108919160064556</c:v>
                </c:pt>
                <c:pt idx="4">
                  <c:v>13.74318194928922</c:v>
                </c:pt>
                <c:pt idx="5">
                  <c:v>9.7578853139373596</c:v>
                </c:pt>
                <c:pt idx="6">
                  <c:v>0.58457000000000003</c:v>
                </c:pt>
                <c:pt idx="7">
                  <c:v>9.2458224410209358</c:v>
                </c:pt>
                <c:pt idx="8">
                  <c:v>6.2106631270394335</c:v>
                </c:pt>
                <c:pt idx="9">
                  <c:v>1.4854000000000001</c:v>
                </c:pt>
                <c:pt idx="10">
                  <c:v>4.9303974080838042</c:v>
                </c:pt>
                <c:pt idx="11">
                  <c:v>8.8220738606922549</c:v>
                </c:pt>
                <c:pt idx="12">
                  <c:v>8.9685848593466666</c:v>
                </c:pt>
                <c:pt idx="13">
                  <c:v>6.627568299059754</c:v>
                </c:pt>
                <c:pt idx="14">
                  <c:v>3.5747844690766342</c:v>
                </c:pt>
                <c:pt idx="15">
                  <c:v>8.7553326035031844</c:v>
                </c:pt>
                <c:pt idx="16">
                  <c:v>8.8085224935047979</c:v>
                </c:pt>
                <c:pt idx="17">
                  <c:v>13.585568725306716</c:v>
                </c:pt>
                <c:pt idx="18">
                  <c:v>9.8675507492949865</c:v>
                </c:pt>
                <c:pt idx="19">
                  <c:v>11.97238981135356</c:v>
                </c:pt>
                <c:pt idx="20">
                  <c:v>17.37848548436509</c:v>
                </c:pt>
                <c:pt idx="21">
                  <c:v>0.76678098754973045</c:v>
                </c:pt>
                <c:pt idx="22">
                  <c:v>5.1718409517845965</c:v>
                </c:pt>
                <c:pt idx="23">
                  <c:v>14.998156384548134</c:v>
                </c:pt>
                <c:pt idx="24">
                  <c:v>7.3520394945528196</c:v>
                </c:pt>
                <c:pt idx="25">
                  <c:v>15.021942820533356</c:v>
                </c:pt>
                <c:pt idx="26">
                  <c:v>11.125558420804126</c:v>
                </c:pt>
                <c:pt idx="27">
                  <c:v>1.5704691565657203</c:v>
                </c:pt>
                <c:pt idx="28">
                  <c:v>8.6497400870226535</c:v>
                </c:pt>
                <c:pt idx="29">
                  <c:v>10.78239512087479</c:v>
                </c:pt>
                <c:pt idx="30">
                  <c:v>5.8764556216877333</c:v>
                </c:pt>
                <c:pt idx="31">
                  <c:v>8.7240582043540833</c:v>
                </c:pt>
                <c:pt idx="32">
                  <c:v>0.20133999999999999</c:v>
                </c:pt>
                <c:pt idx="33">
                  <c:v>7.8932928116162255</c:v>
                </c:pt>
                <c:pt idx="34">
                  <c:v>6.3541612908490457</c:v>
                </c:pt>
                <c:pt idx="35">
                  <c:v>1.0183787536317022</c:v>
                </c:pt>
                <c:pt idx="36">
                  <c:v>8.3908656399362727</c:v>
                </c:pt>
                <c:pt idx="37">
                  <c:v>7.0585629921259843</c:v>
                </c:pt>
                <c:pt idx="38">
                  <c:v>6.7201798041419174</c:v>
                </c:pt>
                <c:pt idx="39">
                  <c:v>10.584866630375613</c:v>
                </c:pt>
                <c:pt idx="40">
                  <c:v>4.0690144493372227</c:v>
                </c:pt>
              </c:numCache>
            </c:numRef>
          </c:xVal>
          <c:yVal>
            <c:numRef>
              <c:f>'R&amp;D_e'!$D$14:$D$55</c:f>
              <c:numCache>
                <c:formatCode>#,##0.0</c:formatCode>
                <c:ptCount val="41"/>
                <c:pt idx="0">
                  <c:v>2.7881732792035416</c:v>
                </c:pt>
                <c:pt idx="1">
                  <c:v>2.0670701317968518</c:v>
                </c:pt>
                <c:pt idx="2">
                  <c:v>3.2864404390050082</c:v>
                </c:pt>
                <c:pt idx="3">
                  <c:v>2.9273685535811556</c:v>
                </c:pt>
                <c:pt idx="4">
                  <c:v>4.2319855776843651</c:v>
                </c:pt>
                <c:pt idx="5">
                  <c:v>2.2168656798722841</c:v>
                </c:pt>
                <c:pt idx="6">
                  <c:v>0.62739999999999996</c:v>
                </c:pt>
                <c:pt idx="7">
                  <c:v>1.7005693341321741</c:v>
                </c:pt>
                <c:pt idx="8">
                  <c:v>1.098931065227668</c:v>
                </c:pt>
                <c:pt idx="9">
                  <c:v>1.1675500000000001</c:v>
                </c:pt>
                <c:pt idx="10">
                  <c:v>1.3304652525583671</c:v>
                </c:pt>
                <c:pt idx="11">
                  <c:v>1.7082932021208412</c:v>
                </c:pt>
                <c:pt idx="12">
                  <c:v>2.105205227870234</c:v>
                </c:pt>
                <c:pt idx="13">
                  <c:v>1.2245564932100825</c:v>
                </c:pt>
                <c:pt idx="14">
                  <c:v>0.88192444529773473</c:v>
                </c:pt>
                <c:pt idx="15">
                  <c:v>1.9942732315273677</c:v>
                </c:pt>
                <c:pt idx="16">
                  <c:v>3.4170513657959338</c:v>
                </c:pt>
                <c:pt idx="17">
                  <c:v>3.2801392359862938</c:v>
                </c:pt>
                <c:pt idx="18">
                  <c:v>3.122307632651443</c:v>
                </c:pt>
                <c:pt idx="19">
                  <c:v>2.4552038162375349</c:v>
                </c:pt>
                <c:pt idx="20">
                  <c:v>4.2525022119038471</c:v>
                </c:pt>
                <c:pt idx="21">
                  <c:v>0.53403407622868082</c:v>
                </c:pt>
                <c:pt idx="22">
                  <c:v>1.0037508593519444</c:v>
                </c:pt>
                <c:pt idx="23">
                  <c:v>2.9586058600877778</c:v>
                </c:pt>
                <c:pt idx="24">
                  <c:v>1.946671444018869</c:v>
                </c:pt>
                <c:pt idx="25">
                  <c:v>2.8976521519156511</c:v>
                </c:pt>
                <c:pt idx="26">
                  <c:v>1.9313710992345305</c:v>
                </c:pt>
                <c:pt idx="27">
                  <c:v>0.72603845088470875</c:v>
                </c:pt>
                <c:pt idx="28">
                  <c:v>1.2752575765692387</c:v>
                </c:pt>
                <c:pt idx="29">
                  <c:v>1.5372170374419492</c:v>
                </c:pt>
                <c:pt idx="30">
                  <c:v>1.3776567977916536</c:v>
                </c:pt>
                <c:pt idx="31">
                  <c:v>0.96974665865004195</c:v>
                </c:pt>
                <c:pt idx="32">
                  <c:v>8.4659999999999999E-2</c:v>
                </c:pt>
                <c:pt idx="33">
                  <c:v>1.2774324243808466</c:v>
                </c:pt>
                <c:pt idx="34">
                  <c:v>1.1784522208940675</c:v>
                </c:pt>
                <c:pt idx="35">
                  <c:v>0.38289202651031917</c:v>
                </c:pt>
                <c:pt idx="36">
                  <c:v>2.2117368837320388</c:v>
                </c:pt>
                <c:pt idx="37">
                  <c:v>1.2821429416184476</c:v>
                </c:pt>
                <c:pt idx="38">
                  <c:v>1.4950144023821821</c:v>
                </c:pt>
                <c:pt idx="39">
                  <c:v>2.1908363089780614</c:v>
                </c:pt>
                <c:pt idx="40">
                  <c:v>0.6249931006588938</c:v>
                </c:pt>
              </c:numCache>
            </c:numRef>
          </c:yVal>
          <c:bubbleSize>
            <c:numRef>
              <c:f>'R&amp;D_e'!$E$14:$E$55</c:f>
              <c:numCache>
                <c:formatCode>#,##0.0</c:formatCode>
                <c:ptCount val="41"/>
                <c:pt idx="0">
                  <c:v>462765.55400694272</c:v>
                </c:pt>
                <c:pt idx="1">
                  <c:v>376858.92207253707</c:v>
                </c:pt>
                <c:pt idx="2">
                  <c:v>154689.25825790828</c:v>
                </c:pt>
                <c:pt idx="3">
                  <c:v>101681.19562826621</c:v>
                </c:pt>
                <c:pt idx="4">
                  <c:v>73719.796061695131</c:v>
                </c:pt>
                <c:pt idx="5">
                  <c:v>54500.095398122307</c:v>
                </c:pt>
                <c:pt idx="6">
                  <c:v>46258.256916111961</c:v>
                </c:pt>
                <c:pt idx="7">
                  <c:v>42115.012694647972</c:v>
                </c:pt>
                <c:pt idx="8">
                  <c:v>36725.154593166531</c:v>
                </c:pt>
                <c:pt idx="9">
                  <c:v>35760.646406733867</c:v>
                </c:pt>
                <c:pt idx="10">
                  <c:v>26809.499881163178</c:v>
                </c:pt>
                <c:pt idx="11">
                  <c:v>25888.101273121956</c:v>
                </c:pt>
                <c:pt idx="12">
                  <c:v>21551.911432970293</c:v>
                </c:pt>
                <c:pt idx="13">
                  <c:v>18029.347803200773</c:v>
                </c:pt>
                <c:pt idx="14">
                  <c:v>15691.565811679668</c:v>
                </c:pt>
                <c:pt idx="15">
                  <c:v>15383.083657694444</c:v>
                </c:pt>
                <c:pt idx="16">
                  <c:v>15242.979090922949</c:v>
                </c:pt>
                <c:pt idx="17">
                  <c:v>14187.139565026564</c:v>
                </c:pt>
                <c:pt idx="18">
                  <c:v>11531.602021153307</c:v>
                </c:pt>
                <c:pt idx="19">
                  <c:v>11280.108233528666</c:v>
                </c:pt>
                <c:pt idx="20">
                  <c:v>11106.959908662031</c:v>
                </c:pt>
                <c:pt idx="21">
                  <c:v>10628.515615369766</c:v>
                </c:pt>
                <c:pt idx="22">
                  <c:v>9344.2348082084663</c:v>
                </c:pt>
                <c:pt idx="23">
                  <c:v>7489.0079710026512</c:v>
                </c:pt>
                <c:pt idx="24">
                  <c:v>6098.0145329238185</c:v>
                </c:pt>
                <c:pt idx="25">
                  <c:v>6030.3867250394469</c:v>
                </c:pt>
                <c:pt idx="26">
                  <c:v>5784.3913500883555</c:v>
                </c:pt>
                <c:pt idx="27">
                  <c:v>4709.3867133816393</c:v>
                </c:pt>
                <c:pt idx="28">
                  <c:v>3522.5993335435951</c:v>
                </c:pt>
                <c:pt idx="29">
                  <c:v>3284.3300283192089</c:v>
                </c:pt>
                <c:pt idx="30">
                  <c:v>3244.6570767185322</c:v>
                </c:pt>
                <c:pt idx="31">
                  <c:v>2482.3358071080756</c:v>
                </c:pt>
                <c:pt idx="32">
                  <c:v>2016.8417808158583</c:v>
                </c:pt>
                <c:pt idx="33">
                  <c:v>1984.4329421851915</c:v>
                </c:pt>
                <c:pt idx="34">
                  <c:v>1795.2630519624793</c:v>
                </c:pt>
                <c:pt idx="35">
                  <c:v>1447.1979111584722</c:v>
                </c:pt>
                <c:pt idx="36">
                  <c:v>1287.0000062359584</c:v>
                </c:pt>
                <c:pt idx="37">
                  <c:v>650.81863123177209</c:v>
                </c:pt>
                <c:pt idx="38">
                  <c:v>511.02152300317931</c:v>
                </c:pt>
                <c:pt idx="39">
                  <c:v>306.06381806184396</c:v>
                </c:pt>
                <c:pt idx="40">
                  <c:v>274.68400028130526</c:v>
                </c:pt>
              </c:numCache>
            </c:numRef>
          </c:bubbleSize>
          <c:bubble3D val="0"/>
          <c:extLst>
            <c:ext xmlns:c16="http://schemas.microsoft.com/office/drawing/2014/chart" uri="{C3380CC4-5D6E-409C-BE32-E72D297353CC}">
              <c16:uniqueId val="{00000000-C03E-4BF4-9ECD-338C6F55AE89}"/>
            </c:ext>
          </c:extLst>
        </c:ser>
        <c:dLbls>
          <c:showLegendKey val="0"/>
          <c:showVal val="0"/>
          <c:showCatName val="0"/>
          <c:showSerName val="0"/>
          <c:showPercent val="0"/>
          <c:showBubbleSize val="0"/>
        </c:dLbls>
        <c:bubbleScale val="100"/>
        <c:showNegBubbles val="0"/>
        <c:axId val="142291712"/>
        <c:axId val="142293248"/>
      </c:bubbleChart>
      <c:valAx>
        <c:axId val="142291712"/>
        <c:scaling>
          <c:orientation val="minMax"/>
          <c:max val="20"/>
          <c:min val="0"/>
        </c:scaling>
        <c:delete val="0"/>
        <c:axPos val="b"/>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2293248"/>
        <c:crosses val="autoZero"/>
        <c:crossBetween val="midCat"/>
      </c:valAx>
      <c:valAx>
        <c:axId val="14229324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422917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D949C6-4FA3-44A9-B3C2-D612FFC5C095}" type="doc">
      <dgm:prSet loTypeId="urn:microsoft.com/office/officeart/2005/8/layout/default#1" loCatId="list" qsTypeId="urn:microsoft.com/office/officeart/2005/8/quickstyle/simple5" qsCatId="simple" csTypeId="urn:microsoft.com/office/officeart/2005/8/colors/accent1_2" csCatId="accent1" phldr="1"/>
      <dgm:spPr/>
      <dgm:t>
        <a:bodyPr/>
        <a:lstStyle/>
        <a:p>
          <a:endParaRPr lang="en-US"/>
        </a:p>
      </dgm:t>
    </dgm:pt>
    <dgm:pt modelId="{59FDF4DF-06A4-4553-9585-3EE10FCB45D6}">
      <dgm:prSet phldrT="[Text]" custT="1"/>
      <dgm:spPr>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dgm:spPr>
      <dgm:t>
        <a:bodyPr/>
        <a:lstStyle/>
        <a:p>
          <a:r>
            <a:rPr lang="en-US" sz="2800" dirty="0">
              <a:solidFill>
                <a:schemeClr val="tx1"/>
              </a:solidFill>
            </a:rPr>
            <a:t>National Science Foundation</a:t>
          </a:r>
        </a:p>
      </dgm:t>
    </dgm:pt>
    <dgm:pt modelId="{6AC32FB2-6624-416D-8D8D-EE569D172ED4}" type="parTrans" cxnId="{06E15000-F7A4-4C79-B1D9-F23F9B60A40C}">
      <dgm:prSet/>
      <dgm:spPr/>
      <dgm:t>
        <a:bodyPr/>
        <a:lstStyle/>
        <a:p>
          <a:endParaRPr lang="en-US"/>
        </a:p>
      </dgm:t>
    </dgm:pt>
    <dgm:pt modelId="{9A4A8DE8-53C0-4A47-AB1C-0B429BF1D807}" type="sibTrans" cxnId="{06E15000-F7A4-4C79-B1D9-F23F9B60A40C}">
      <dgm:prSet/>
      <dgm:spPr/>
      <dgm:t>
        <a:bodyPr/>
        <a:lstStyle/>
        <a:p>
          <a:endParaRPr lang="en-US"/>
        </a:p>
      </dgm:t>
    </dgm:pt>
    <dgm:pt modelId="{297180FE-C86F-44E9-B318-AE1F8A3EB403}">
      <dgm:prSet phldrT="[Text]" custT="1"/>
      <dgm:spPr>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a:lstStyle/>
        <a:p>
          <a:r>
            <a:rPr lang="en-US" sz="2800" dirty="0">
              <a:solidFill>
                <a:schemeClr val="tx1"/>
              </a:solidFill>
            </a:rPr>
            <a:t>Directorate for Social, Behavioral and Economic Sciences</a:t>
          </a:r>
        </a:p>
      </dgm:t>
    </dgm:pt>
    <dgm:pt modelId="{EB8BF2B8-BFA0-4611-837B-B3A6F0189EB3}" type="parTrans" cxnId="{AE32E4A6-457C-4FF7-8ECB-B3F9E4B0748A}">
      <dgm:prSet/>
      <dgm:spPr/>
      <dgm:t>
        <a:bodyPr/>
        <a:lstStyle/>
        <a:p>
          <a:endParaRPr lang="en-US"/>
        </a:p>
      </dgm:t>
    </dgm:pt>
    <dgm:pt modelId="{C76C56D7-080E-47E1-97B9-CAD67B01264C}" type="sibTrans" cxnId="{AE32E4A6-457C-4FF7-8ECB-B3F9E4B0748A}">
      <dgm:prSet/>
      <dgm:spPr/>
      <dgm:t>
        <a:bodyPr/>
        <a:lstStyle/>
        <a:p>
          <a:endParaRPr lang="en-US"/>
        </a:p>
      </dgm:t>
    </dgm:pt>
    <dgm:pt modelId="{EB916474-CC7A-4427-A6C3-D9AB80FB3953}">
      <dgm:prSet phldrT="[Text]" custT="1"/>
      <dgm:spPr>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a:lstStyle/>
        <a:p>
          <a:r>
            <a:rPr lang="en-US" sz="2800" dirty="0">
              <a:solidFill>
                <a:schemeClr val="tx1"/>
              </a:solidFill>
            </a:rPr>
            <a:t>National Center for Science and Engineering Statistics (NCSES)</a:t>
          </a:r>
        </a:p>
      </dgm:t>
    </dgm:pt>
    <dgm:pt modelId="{ABF893AC-6C73-4F18-8E31-A9AC942B0F7E}" type="parTrans" cxnId="{55375BD2-EF35-48E6-ABBE-556BD9BE6F6B}">
      <dgm:prSet/>
      <dgm:spPr/>
      <dgm:t>
        <a:bodyPr/>
        <a:lstStyle/>
        <a:p>
          <a:endParaRPr lang="en-US"/>
        </a:p>
      </dgm:t>
    </dgm:pt>
    <dgm:pt modelId="{73DCFB14-6CB6-493A-8882-3188BDBF54BD}" type="sibTrans" cxnId="{55375BD2-EF35-48E6-ABBE-556BD9BE6F6B}">
      <dgm:prSet/>
      <dgm:spPr/>
      <dgm:t>
        <a:bodyPr/>
        <a:lstStyle/>
        <a:p>
          <a:endParaRPr lang="en-US"/>
        </a:p>
      </dgm:t>
    </dgm:pt>
    <dgm:pt modelId="{C760874A-CE22-4C69-9872-E54CE2547327}" type="pres">
      <dgm:prSet presAssocID="{FED949C6-4FA3-44A9-B3C2-D612FFC5C095}" presName="diagram" presStyleCnt="0">
        <dgm:presLayoutVars>
          <dgm:dir/>
          <dgm:resizeHandles val="exact"/>
        </dgm:presLayoutVars>
      </dgm:prSet>
      <dgm:spPr/>
    </dgm:pt>
    <dgm:pt modelId="{3CAD5180-398F-4F22-AC17-68EF4A0A7AD7}" type="pres">
      <dgm:prSet presAssocID="{59FDF4DF-06A4-4553-9585-3EE10FCB45D6}" presName="node" presStyleLbl="node1" presStyleIdx="0" presStyleCnt="3" custScaleX="131334" custScaleY="28968" custLinFactNeighborX="-26752" custLinFactNeighborY="-39942">
        <dgm:presLayoutVars>
          <dgm:bulletEnabled val="1"/>
        </dgm:presLayoutVars>
      </dgm:prSet>
      <dgm:spPr/>
    </dgm:pt>
    <dgm:pt modelId="{27D1DC6E-5D80-4F4B-BC7F-E6F76EF5B5E7}" type="pres">
      <dgm:prSet presAssocID="{9A4A8DE8-53C0-4A47-AB1C-0B429BF1D807}" presName="sibTrans" presStyleCnt="0"/>
      <dgm:spPr/>
    </dgm:pt>
    <dgm:pt modelId="{6404CBB8-B597-46C5-B2DA-988D09DE5CF3}" type="pres">
      <dgm:prSet presAssocID="{297180FE-C86F-44E9-B318-AE1F8A3EB403}" presName="node" presStyleLbl="node1" presStyleIdx="1" presStyleCnt="3" custScaleX="140989" custScaleY="38460" custLinFactNeighborX="4209" custLinFactNeighborY="-12074">
        <dgm:presLayoutVars>
          <dgm:bulletEnabled val="1"/>
        </dgm:presLayoutVars>
      </dgm:prSet>
      <dgm:spPr/>
    </dgm:pt>
    <dgm:pt modelId="{1C7B5E5D-FE4B-49ED-913A-8BB52470A7A9}" type="pres">
      <dgm:prSet presAssocID="{C76C56D7-080E-47E1-97B9-CAD67B01264C}" presName="sibTrans" presStyleCnt="0"/>
      <dgm:spPr/>
    </dgm:pt>
    <dgm:pt modelId="{EC6B1B90-D4B8-4184-B0D0-98F5EA8D51A7}" type="pres">
      <dgm:prSet presAssocID="{EB916474-CC7A-4427-A6C3-D9AB80FB3953}" presName="node" presStyleLbl="node1" presStyleIdx="2" presStyleCnt="3" custScaleX="137533" custScaleY="34860" custLinFactNeighborX="13147" custLinFactNeighborY="-23074">
        <dgm:presLayoutVars>
          <dgm:bulletEnabled val="1"/>
        </dgm:presLayoutVars>
      </dgm:prSet>
      <dgm:spPr/>
    </dgm:pt>
  </dgm:ptLst>
  <dgm:cxnLst>
    <dgm:cxn modelId="{06E15000-F7A4-4C79-B1D9-F23F9B60A40C}" srcId="{FED949C6-4FA3-44A9-B3C2-D612FFC5C095}" destId="{59FDF4DF-06A4-4553-9585-3EE10FCB45D6}" srcOrd="0" destOrd="0" parTransId="{6AC32FB2-6624-416D-8D8D-EE569D172ED4}" sibTransId="{9A4A8DE8-53C0-4A47-AB1C-0B429BF1D807}"/>
    <dgm:cxn modelId="{26D5DC5B-3897-4986-829F-95B40904515F}" type="presOf" srcId="{59FDF4DF-06A4-4553-9585-3EE10FCB45D6}" destId="{3CAD5180-398F-4F22-AC17-68EF4A0A7AD7}" srcOrd="0" destOrd="0" presId="urn:microsoft.com/office/officeart/2005/8/layout/default#1"/>
    <dgm:cxn modelId="{AEDE4388-A5FD-4C3F-8C3A-EF292CDDFCBF}" type="presOf" srcId="{EB916474-CC7A-4427-A6C3-D9AB80FB3953}" destId="{EC6B1B90-D4B8-4184-B0D0-98F5EA8D51A7}" srcOrd="0" destOrd="0" presId="urn:microsoft.com/office/officeart/2005/8/layout/default#1"/>
    <dgm:cxn modelId="{AE32E4A6-457C-4FF7-8ECB-B3F9E4B0748A}" srcId="{FED949C6-4FA3-44A9-B3C2-D612FFC5C095}" destId="{297180FE-C86F-44E9-B318-AE1F8A3EB403}" srcOrd="1" destOrd="0" parTransId="{EB8BF2B8-BFA0-4611-837B-B3A6F0189EB3}" sibTransId="{C76C56D7-080E-47E1-97B9-CAD67B01264C}"/>
    <dgm:cxn modelId="{387780C7-CFCD-4BEE-97D8-8FF8BD1C11AC}" type="presOf" srcId="{FED949C6-4FA3-44A9-B3C2-D612FFC5C095}" destId="{C760874A-CE22-4C69-9872-E54CE2547327}" srcOrd="0" destOrd="0" presId="urn:microsoft.com/office/officeart/2005/8/layout/default#1"/>
    <dgm:cxn modelId="{55375BD2-EF35-48E6-ABBE-556BD9BE6F6B}" srcId="{FED949C6-4FA3-44A9-B3C2-D612FFC5C095}" destId="{EB916474-CC7A-4427-A6C3-D9AB80FB3953}" srcOrd="2" destOrd="0" parTransId="{ABF893AC-6C73-4F18-8E31-A9AC942B0F7E}" sibTransId="{73DCFB14-6CB6-493A-8882-3188BDBF54BD}"/>
    <dgm:cxn modelId="{042190D9-36D9-4D7A-9D0E-9887F1EB5784}" type="presOf" srcId="{297180FE-C86F-44E9-B318-AE1F8A3EB403}" destId="{6404CBB8-B597-46C5-B2DA-988D09DE5CF3}" srcOrd="0" destOrd="0" presId="urn:microsoft.com/office/officeart/2005/8/layout/default#1"/>
    <dgm:cxn modelId="{F58F3734-E002-4FC1-81F7-A4EDD534C397}" type="presParOf" srcId="{C760874A-CE22-4C69-9872-E54CE2547327}" destId="{3CAD5180-398F-4F22-AC17-68EF4A0A7AD7}" srcOrd="0" destOrd="0" presId="urn:microsoft.com/office/officeart/2005/8/layout/default#1"/>
    <dgm:cxn modelId="{ACC10B01-BD7C-4F7E-812F-14C810A1199A}" type="presParOf" srcId="{C760874A-CE22-4C69-9872-E54CE2547327}" destId="{27D1DC6E-5D80-4F4B-BC7F-E6F76EF5B5E7}" srcOrd="1" destOrd="0" presId="urn:microsoft.com/office/officeart/2005/8/layout/default#1"/>
    <dgm:cxn modelId="{45731CA1-641D-4F76-95FD-DEA497C91F90}" type="presParOf" srcId="{C760874A-CE22-4C69-9872-E54CE2547327}" destId="{6404CBB8-B597-46C5-B2DA-988D09DE5CF3}" srcOrd="2" destOrd="0" presId="urn:microsoft.com/office/officeart/2005/8/layout/default#1"/>
    <dgm:cxn modelId="{40BB1529-8FCA-4FF3-9887-F528B4C137CD}" type="presParOf" srcId="{C760874A-CE22-4C69-9872-E54CE2547327}" destId="{1C7B5E5D-FE4B-49ED-913A-8BB52470A7A9}" srcOrd="3" destOrd="0" presId="urn:microsoft.com/office/officeart/2005/8/layout/default#1"/>
    <dgm:cxn modelId="{5DC11D56-F9F2-4EF4-B3E1-2E7B7247E502}" type="presParOf" srcId="{C760874A-CE22-4C69-9872-E54CE2547327}" destId="{EC6B1B90-D4B8-4184-B0D0-98F5EA8D51A7}" srcOrd="4" destOrd="0" presId="urn:microsoft.com/office/officeart/2005/8/layout/default#1"/>
  </dgm:cxnLst>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D5180-398F-4F22-AC17-68EF4A0A7AD7}">
      <dsp:nvSpPr>
        <dsp:cNvPr id="0" name=""/>
        <dsp:cNvSpPr/>
      </dsp:nvSpPr>
      <dsp:spPr>
        <a:xfrm>
          <a:off x="0" y="0"/>
          <a:ext cx="6567520" cy="869148"/>
        </a:xfrm>
        <a:prstGeom prst="rect">
          <a:avLst/>
        </a:prstGeom>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National Science Foundation</a:t>
          </a:r>
        </a:p>
      </dsp:txBody>
      <dsp:txXfrm>
        <a:off x="0" y="0"/>
        <a:ext cx="6567520" cy="869148"/>
      </dsp:txXfrm>
    </dsp:sp>
    <dsp:sp modelId="{6404CBB8-B597-46C5-B2DA-988D09DE5CF3}">
      <dsp:nvSpPr>
        <dsp:cNvPr id="0" name=""/>
        <dsp:cNvSpPr/>
      </dsp:nvSpPr>
      <dsp:spPr>
        <a:xfrm>
          <a:off x="685810" y="1008605"/>
          <a:ext cx="7050331" cy="1153944"/>
        </a:xfrm>
        <a:prstGeom prst="rect">
          <a:avLst/>
        </a:prstGeom>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Directorate for Social, Behavioral and Economic Sciences</a:t>
          </a:r>
        </a:p>
      </dsp:txBody>
      <dsp:txXfrm>
        <a:off x="685810" y="1008605"/>
        <a:ext cx="7050331" cy="1153944"/>
      </dsp:txXfrm>
    </dsp:sp>
    <dsp:sp modelId="{EC6B1B90-D4B8-4184-B0D0-98F5EA8D51A7}">
      <dsp:nvSpPr>
        <dsp:cNvPr id="0" name=""/>
        <dsp:cNvSpPr/>
      </dsp:nvSpPr>
      <dsp:spPr>
        <a:xfrm>
          <a:off x="1123490" y="2332570"/>
          <a:ext cx="6877509" cy="1045930"/>
        </a:xfrm>
        <a:prstGeom prst="rect">
          <a:avLst/>
        </a:prstGeom>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National Center for Science and Engineering Statistics (NCSES)</a:t>
          </a:r>
        </a:p>
      </dsp:txBody>
      <dsp:txXfrm>
        <a:off x="1123490" y="2332570"/>
        <a:ext cx="6877509" cy="10459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0.21256</cdr:x>
      <cdr:y>0.57285</cdr:y>
    </cdr:from>
    <cdr:to>
      <cdr:x>0.31401</cdr:x>
      <cdr:y>0.63938</cdr:y>
    </cdr:to>
    <cdr:sp macro="" textlink="">
      <cdr:nvSpPr>
        <cdr:cNvPr id="2" name="Rectangle 1">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1117601" y="1855173"/>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16.1%</a:t>
          </a:r>
        </a:p>
      </cdr:txBody>
    </cdr:sp>
  </cdr:relSizeAnchor>
  <cdr:relSizeAnchor xmlns:cdr="http://schemas.openxmlformats.org/drawingml/2006/chartDrawing">
    <cdr:from>
      <cdr:x>0.31401</cdr:x>
      <cdr:y>0.56471</cdr:y>
    </cdr:from>
    <cdr:to>
      <cdr:x>0.41546</cdr:x>
      <cdr:y>0.63123</cdr:y>
    </cdr:to>
    <cdr:sp macro="" textlink="">
      <cdr:nvSpPr>
        <cdr:cNvPr id="3" name="Rectangle 2">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1651001" y="1828800"/>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17.5%</a:t>
          </a:r>
        </a:p>
      </cdr:txBody>
    </cdr:sp>
  </cdr:relSizeAnchor>
  <cdr:relSizeAnchor xmlns:cdr="http://schemas.openxmlformats.org/drawingml/2006/chartDrawing">
    <cdr:from>
      <cdr:x>0.4058</cdr:x>
      <cdr:y>0.54118</cdr:y>
    </cdr:from>
    <cdr:to>
      <cdr:x>0.50725</cdr:x>
      <cdr:y>0.6077</cdr:y>
    </cdr:to>
    <cdr:sp macro="" textlink="">
      <cdr:nvSpPr>
        <cdr:cNvPr id="4" name="Rectangle 3">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2133600" y="1752600"/>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19.3%</a:t>
          </a:r>
        </a:p>
      </cdr:txBody>
    </cdr:sp>
  </cdr:relSizeAnchor>
  <cdr:relSizeAnchor xmlns:cdr="http://schemas.openxmlformats.org/drawingml/2006/chartDrawing">
    <cdr:from>
      <cdr:x>0.50725</cdr:x>
      <cdr:y>0.53144</cdr:y>
    </cdr:from>
    <cdr:to>
      <cdr:x>0.6087</cdr:x>
      <cdr:y>0.59797</cdr:y>
    </cdr:to>
    <cdr:sp macro="" textlink="">
      <cdr:nvSpPr>
        <cdr:cNvPr id="5" name="Rectangle 4">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2667000" y="1721078"/>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19.3%</a:t>
          </a:r>
        </a:p>
      </cdr:txBody>
    </cdr:sp>
  </cdr:relSizeAnchor>
  <cdr:relSizeAnchor xmlns:cdr="http://schemas.openxmlformats.org/drawingml/2006/chartDrawing">
    <cdr:from>
      <cdr:x>0.60689</cdr:x>
      <cdr:y>0.53144</cdr:y>
    </cdr:from>
    <cdr:to>
      <cdr:x>0.70834</cdr:x>
      <cdr:y>0.59797</cdr:y>
    </cdr:to>
    <cdr:sp macro="" textlink="">
      <cdr:nvSpPr>
        <cdr:cNvPr id="6" name="Rectangle 5">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3190903" y="1721078"/>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18.5%</a:t>
          </a:r>
        </a:p>
      </cdr:txBody>
    </cdr:sp>
  </cdr:relSizeAnchor>
  <cdr:relSizeAnchor xmlns:cdr="http://schemas.openxmlformats.org/drawingml/2006/chartDrawing">
    <cdr:from>
      <cdr:x>0.71014</cdr:x>
      <cdr:y>0.534</cdr:y>
    </cdr:from>
    <cdr:to>
      <cdr:x>0.81159</cdr:x>
      <cdr:y>0.60053</cdr:y>
    </cdr:to>
    <cdr:sp macro="" textlink="">
      <cdr:nvSpPr>
        <cdr:cNvPr id="7" name="Rectangle 6">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3733800" y="1729361"/>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18.2%</a:t>
          </a:r>
        </a:p>
      </cdr:txBody>
    </cdr:sp>
  </cdr:relSizeAnchor>
  <cdr:relSizeAnchor xmlns:cdr="http://schemas.openxmlformats.org/drawingml/2006/chartDrawing">
    <cdr:from>
      <cdr:x>0.80435</cdr:x>
      <cdr:y>0.54167</cdr:y>
    </cdr:from>
    <cdr:to>
      <cdr:x>0.9058</cdr:x>
      <cdr:y>0.6082</cdr:y>
    </cdr:to>
    <cdr:sp macro="" textlink="">
      <cdr:nvSpPr>
        <cdr:cNvPr id="8" name="Rectangle 7">
          <a:extLst xmlns:a="http://schemas.openxmlformats.org/drawingml/2006/main">
            <a:ext uri="{FF2B5EF4-FFF2-40B4-BE49-F238E27FC236}">
              <a16:creationId xmlns:a16="http://schemas.microsoft.com/office/drawing/2014/main" id="{57DEBCE6-036E-483A-B93F-32F88B63C526}"/>
            </a:ext>
          </a:extLst>
        </cdr:cNvPr>
        <cdr:cNvSpPr/>
      </cdr:nvSpPr>
      <cdr:spPr>
        <a:xfrm xmlns:a="http://schemas.openxmlformats.org/drawingml/2006/main">
          <a:off x="4229100" y="1754208"/>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17.2%</a:t>
          </a:r>
        </a:p>
      </cdr:txBody>
    </cdr:sp>
  </cdr:relSizeAnchor>
  <cdr:relSizeAnchor xmlns:cdr="http://schemas.openxmlformats.org/drawingml/2006/chartDrawing">
    <cdr:from>
      <cdr:x>0.89855</cdr:x>
      <cdr:y>0.53144</cdr:y>
    </cdr:from>
    <cdr:to>
      <cdr:x>1</cdr:x>
      <cdr:y>0.59797</cdr:y>
    </cdr:to>
    <cdr:sp macro="" textlink="">
      <cdr:nvSpPr>
        <cdr:cNvPr id="9" name="Rectangle 8">
          <a:extLst xmlns:a="http://schemas.openxmlformats.org/drawingml/2006/main">
            <a:ext uri="{FF2B5EF4-FFF2-40B4-BE49-F238E27FC236}">
              <a16:creationId xmlns:a16="http://schemas.microsoft.com/office/drawing/2014/main" id="{7475C8D6-642E-43C0-8B78-80654F14E6AB}"/>
            </a:ext>
          </a:extLst>
        </cdr:cNvPr>
        <cdr:cNvSpPr/>
      </cdr:nvSpPr>
      <cdr:spPr>
        <a:xfrm xmlns:a="http://schemas.openxmlformats.org/drawingml/2006/main">
          <a:off x="4724400" y="1721078"/>
          <a:ext cx="533400" cy="215444"/>
        </a:xfrm>
        <a:prstGeom xmlns:a="http://schemas.openxmlformats.org/drawingml/2006/main" prst="rect">
          <a:avLst/>
        </a:prstGeom>
      </cdr:spPr>
      <cdr:txBody>
        <a:bodyPr xmlns:a="http://schemas.openxmlformats.org/drawingml/2006/main" wrap="square">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800" dirty="0">
              <a:latin typeface="Arial" panose="020B0604020202020204" pitchFamily="34" charset="0"/>
              <a:cs typeface="Arial" panose="020B0604020202020204" pitchFamily="34" charset="0"/>
            </a:rPr>
            <a:t>  17.1%</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D1BD59F-F0F8-4AC2-9D90-3937E97BA94A}"/>
              </a:ext>
            </a:extLst>
          </p:cNvPr>
          <p:cNvSpPr>
            <a:spLocks noGrp="1" noChangeArrowheads="1"/>
          </p:cNvSpPr>
          <p:nvPr>
            <p:ph type="hdr" sz="quarter"/>
          </p:nvPr>
        </p:nvSpPr>
        <p:spPr bwMode="auto">
          <a:xfrm>
            <a:off x="0" y="0"/>
            <a:ext cx="3039015" cy="465781"/>
          </a:xfrm>
          <a:prstGeom prst="rect">
            <a:avLst/>
          </a:prstGeom>
          <a:noFill/>
          <a:ln w="9525">
            <a:noFill/>
            <a:miter lim="800000"/>
            <a:headEnd/>
            <a:tailEnd/>
          </a:ln>
          <a:effectLst/>
        </p:spPr>
        <p:txBody>
          <a:bodyPr vert="horz" wrap="square" lIns="93170" tIns="46585" rIns="93170" bIns="46585" numCol="1" anchor="t" anchorCtr="0" compatLnSpc="1">
            <a:prstTxWarp prst="textNoShape">
              <a:avLst/>
            </a:prstTxWarp>
          </a:bodyPr>
          <a:lstStyle>
            <a:lvl1pPr defTabSz="931871">
              <a:defRPr sz="1200"/>
            </a:lvl1pPr>
          </a:lstStyle>
          <a:p>
            <a:pPr>
              <a:defRPr/>
            </a:pPr>
            <a:endParaRPr lang="en-US"/>
          </a:p>
        </p:txBody>
      </p:sp>
      <p:sp>
        <p:nvSpPr>
          <p:cNvPr id="31747" name="Rectangle 3">
            <a:extLst>
              <a:ext uri="{FF2B5EF4-FFF2-40B4-BE49-F238E27FC236}">
                <a16:creationId xmlns:a16="http://schemas.microsoft.com/office/drawing/2014/main" id="{6C548255-F0B4-4F6F-B7D7-2AC9B244E519}"/>
              </a:ext>
            </a:extLst>
          </p:cNvPr>
          <p:cNvSpPr>
            <a:spLocks noGrp="1" noChangeArrowheads="1"/>
          </p:cNvSpPr>
          <p:nvPr>
            <p:ph type="dt" sz="quarter" idx="1"/>
          </p:nvPr>
        </p:nvSpPr>
        <p:spPr bwMode="auto">
          <a:xfrm>
            <a:off x="3971386" y="0"/>
            <a:ext cx="3039014" cy="465781"/>
          </a:xfrm>
          <a:prstGeom prst="rect">
            <a:avLst/>
          </a:prstGeom>
          <a:noFill/>
          <a:ln w="9525">
            <a:noFill/>
            <a:miter lim="800000"/>
            <a:headEnd/>
            <a:tailEnd/>
          </a:ln>
          <a:effectLst/>
        </p:spPr>
        <p:txBody>
          <a:bodyPr vert="horz" wrap="square" lIns="93170" tIns="46585" rIns="93170" bIns="46585" numCol="1" anchor="t" anchorCtr="0" compatLnSpc="1">
            <a:prstTxWarp prst="textNoShape">
              <a:avLst/>
            </a:prstTxWarp>
          </a:bodyPr>
          <a:lstStyle>
            <a:lvl1pPr algn="r" defTabSz="931871">
              <a:defRPr sz="1200"/>
            </a:lvl1pPr>
          </a:lstStyle>
          <a:p>
            <a:pPr>
              <a:defRPr/>
            </a:pPr>
            <a:endParaRPr lang="en-US"/>
          </a:p>
        </p:txBody>
      </p:sp>
      <p:sp>
        <p:nvSpPr>
          <p:cNvPr id="31748" name="Rectangle 4">
            <a:extLst>
              <a:ext uri="{FF2B5EF4-FFF2-40B4-BE49-F238E27FC236}">
                <a16:creationId xmlns:a16="http://schemas.microsoft.com/office/drawing/2014/main" id="{00C4EC2E-D1D6-4D6B-9DCA-9AEA5FFB53C1}"/>
              </a:ext>
            </a:extLst>
          </p:cNvPr>
          <p:cNvSpPr>
            <a:spLocks noGrp="1" noChangeArrowheads="1"/>
          </p:cNvSpPr>
          <p:nvPr>
            <p:ph type="ftr" sz="quarter" idx="2"/>
          </p:nvPr>
        </p:nvSpPr>
        <p:spPr bwMode="auto">
          <a:xfrm>
            <a:off x="0" y="8830620"/>
            <a:ext cx="3039015" cy="465780"/>
          </a:xfrm>
          <a:prstGeom prst="rect">
            <a:avLst/>
          </a:prstGeom>
          <a:noFill/>
          <a:ln w="9525">
            <a:noFill/>
            <a:miter lim="800000"/>
            <a:headEnd/>
            <a:tailEnd/>
          </a:ln>
          <a:effectLst/>
        </p:spPr>
        <p:txBody>
          <a:bodyPr vert="horz" wrap="square" lIns="93170" tIns="46585" rIns="93170" bIns="46585" numCol="1" anchor="b" anchorCtr="0" compatLnSpc="1">
            <a:prstTxWarp prst="textNoShape">
              <a:avLst/>
            </a:prstTxWarp>
          </a:bodyPr>
          <a:lstStyle>
            <a:lvl1pPr defTabSz="931871">
              <a:defRPr sz="1200"/>
            </a:lvl1pPr>
          </a:lstStyle>
          <a:p>
            <a:pPr>
              <a:defRPr/>
            </a:pPr>
            <a:endParaRPr lang="en-US"/>
          </a:p>
        </p:txBody>
      </p:sp>
      <p:sp>
        <p:nvSpPr>
          <p:cNvPr id="31749" name="Rectangle 5">
            <a:extLst>
              <a:ext uri="{FF2B5EF4-FFF2-40B4-BE49-F238E27FC236}">
                <a16:creationId xmlns:a16="http://schemas.microsoft.com/office/drawing/2014/main" id="{97C1C28B-7872-49A4-B11D-58E6E5B38101}"/>
              </a:ext>
            </a:extLst>
          </p:cNvPr>
          <p:cNvSpPr>
            <a:spLocks noGrp="1" noChangeArrowheads="1"/>
          </p:cNvSpPr>
          <p:nvPr>
            <p:ph type="sldNum" sz="quarter" idx="3"/>
          </p:nvPr>
        </p:nvSpPr>
        <p:spPr bwMode="auto">
          <a:xfrm>
            <a:off x="3971386" y="8830620"/>
            <a:ext cx="3039014" cy="465780"/>
          </a:xfrm>
          <a:prstGeom prst="rect">
            <a:avLst/>
          </a:prstGeom>
          <a:noFill/>
          <a:ln w="9525">
            <a:noFill/>
            <a:miter lim="800000"/>
            <a:headEnd/>
            <a:tailEnd/>
          </a:ln>
          <a:effectLst/>
        </p:spPr>
        <p:txBody>
          <a:bodyPr vert="horz" wrap="square" lIns="93170" tIns="46585" rIns="93170" bIns="46585" numCol="1" anchor="b" anchorCtr="0" compatLnSpc="1">
            <a:prstTxWarp prst="textNoShape">
              <a:avLst/>
            </a:prstTxWarp>
          </a:bodyPr>
          <a:lstStyle>
            <a:lvl1pPr algn="r" defTabSz="931871">
              <a:defRPr sz="1200"/>
            </a:lvl1pPr>
          </a:lstStyle>
          <a:p>
            <a:fld id="{6269A33C-DC3F-432F-9BA8-64E2ED21C9EF}" type="slidenum">
              <a:rPr lang="en-US" altLang="en-US"/>
              <a:pPr/>
              <a:t>‹#›</a:t>
            </a:fld>
            <a:endParaRPr lang="en-US" altLang="en-US"/>
          </a:p>
        </p:txBody>
      </p:sp>
    </p:spTree>
    <p:extLst>
      <p:ext uri="{BB962C8B-B14F-4D97-AF65-F5344CB8AC3E}">
        <p14:creationId xmlns:p14="http://schemas.microsoft.com/office/powerpoint/2010/main" val="1194747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DC5C70A-2228-43C3-A97F-0B720662CCFE}"/>
              </a:ext>
            </a:extLst>
          </p:cNvPr>
          <p:cNvSpPr>
            <a:spLocks noGrp="1" noChangeArrowheads="1"/>
          </p:cNvSpPr>
          <p:nvPr>
            <p:ph type="hdr" sz="quarter"/>
          </p:nvPr>
        </p:nvSpPr>
        <p:spPr bwMode="auto">
          <a:xfrm>
            <a:off x="0" y="0"/>
            <a:ext cx="3075861" cy="460979"/>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lvl1pPr>
              <a:defRPr sz="1200"/>
            </a:lvl1pPr>
          </a:lstStyle>
          <a:p>
            <a:pPr>
              <a:defRPr/>
            </a:pPr>
            <a:endParaRPr lang="en-US"/>
          </a:p>
        </p:txBody>
      </p:sp>
      <p:sp>
        <p:nvSpPr>
          <p:cNvPr id="39939" name="Rectangle 3">
            <a:extLst>
              <a:ext uri="{FF2B5EF4-FFF2-40B4-BE49-F238E27FC236}">
                <a16:creationId xmlns:a16="http://schemas.microsoft.com/office/drawing/2014/main" id="{60BF2D97-58FA-44FD-A005-D7BEF3A490B3}"/>
              </a:ext>
            </a:extLst>
          </p:cNvPr>
          <p:cNvSpPr>
            <a:spLocks noGrp="1" noChangeArrowheads="1"/>
          </p:cNvSpPr>
          <p:nvPr>
            <p:ph type="dt" idx="1"/>
          </p:nvPr>
        </p:nvSpPr>
        <p:spPr bwMode="auto">
          <a:xfrm>
            <a:off x="3998619" y="0"/>
            <a:ext cx="2998965" cy="460979"/>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lvl1pPr algn="r">
              <a:defRPr sz="1200"/>
            </a:lvl1pPr>
          </a:lstStyle>
          <a:p>
            <a:pPr>
              <a:defRPr/>
            </a:pPr>
            <a:endParaRPr lang="en-US"/>
          </a:p>
        </p:txBody>
      </p:sp>
      <p:sp>
        <p:nvSpPr>
          <p:cNvPr id="15364" name="Rectangle 4">
            <a:extLst>
              <a:ext uri="{FF2B5EF4-FFF2-40B4-BE49-F238E27FC236}">
                <a16:creationId xmlns:a16="http://schemas.microsoft.com/office/drawing/2014/main" id="{7F3D82B1-98D2-4D99-A115-0A59C226EF09}"/>
              </a:ext>
            </a:extLst>
          </p:cNvPr>
          <p:cNvSpPr>
            <a:spLocks noGrp="1" noRot="1" noChangeAspect="1" noChangeArrowheads="1" noTextEdit="1"/>
          </p:cNvSpPr>
          <p:nvPr>
            <p:ph type="sldImg" idx="2"/>
          </p:nvPr>
        </p:nvSpPr>
        <p:spPr bwMode="auto">
          <a:xfrm>
            <a:off x="1195388" y="692150"/>
            <a:ext cx="4606925" cy="3455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1" name="Rectangle 5">
            <a:extLst>
              <a:ext uri="{FF2B5EF4-FFF2-40B4-BE49-F238E27FC236}">
                <a16:creationId xmlns:a16="http://schemas.microsoft.com/office/drawing/2014/main" id="{97055D38-5935-4F53-98BF-363975691D60}"/>
              </a:ext>
            </a:extLst>
          </p:cNvPr>
          <p:cNvSpPr>
            <a:spLocks noGrp="1" noChangeArrowheads="1"/>
          </p:cNvSpPr>
          <p:nvPr>
            <p:ph type="body" sz="quarter" idx="3"/>
          </p:nvPr>
        </p:nvSpPr>
        <p:spPr bwMode="auto">
          <a:xfrm>
            <a:off x="922758" y="4379296"/>
            <a:ext cx="5152067" cy="4225636"/>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a:extLst>
              <a:ext uri="{FF2B5EF4-FFF2-40B4-BE49-F238E27FC236}">
                <a16:creationId xmlns:a16="http://schemas.microsoft.com/office/drawing/2014/main" id="{7EC2A8ED-094D-4B30-989C-5D5F23C8BFB5}"/>
              </a:ext>
            </a:extLst>
          </p:cNvPr>
          <p:cNvSpPr>
            <a:spLocks noGrp="1" noChangeArrowheads="1"/>
          </p:cNvSpPr>
          <p:nvPr>
            <p:ph type="ftr" sz="quarter" idx="4"/>
          </p:nvPr>
        </p:nvSpPr>
        <p:spPr bwMode="auto">
          <a:xfrm>
            <a:off x="0" y="8835421"/>
            <a:ext cx="3075861" cy="460979"/>
          </a:xfrm>
          <a:prstGeom prst="rect">
            <a:avLst/>
          </a:prstGeom>
          <a:noFill/>
          <a:ln w="9525">
            <a:noFill/>
            <a:miter lim="800000"/>
            <a:headEnd/>
            <a:tailEnd/>
          </a:ln>
          <a:effectLst/>
        </p:spPr>
        <p:txBody>
          <a:bodyPr vert="horz" wrap="square" lIns="92226" tIns="46113" rIns="92226" bIns="46113" numCol="1" anchor="b" anchorCtr="0" compatLnSpc="1">
            <a:prstTxWarp prst="textNoShape">
              <a:avLst/>
            </a:prstTxWarp>
          </a:bodyPr>
          <a:lstStyle>
            <a:lvl1pPr>
              <a:defRPr sz="1200"/>
            </a:lvl1pPr>
          </a:lstStyle>
          <a:p>
            <a:pPr>
              <a:defRPr/>
            </a:pPr>
            <a:endParaRPr lang="en-US"/>
          </a:p>
        </p:txBody>
      </p:sp>
      <p:sp>
        <p:nvSpPr>
          <p:cNvPr id="39943" name="Rectangle 7">
            <a:extLst>
              <a:ext uri="{FF2B5EF4-FFF2-40B4-BE49-F238E27FC236}">
                <a16:creationId xmlns:a16="http://schemas.microsoft.com/office/drawing/2014/main" id="{5A23E858-4C1C-4B5F-BA99-5D48E9F178BA}"/>
              </a:ext>
            </a:extLst>
          </p:cNvPr>
          <p:cNvSpPr>
            <a:spLocks noGrp="1" noChangeArrowheads="1"/>
          </p:cNvSpPr>
          <p:nvPr>
            <p:ph type="sldNum" sz="quarter" idx="5"/>
          </p:nvPr>
        </p:nvSpPr>
        <p:spPr bwMode="auto">
          <a:xfrm>
            <a:off x="3998619" y="8835421"/>
            <a:ext cx="2998965" cy="460979"/>
          </a:xfrm>
          <a:prstGeom prst="rect">
            <a:avLst/>
          </a:prstGeom>
          <a:noFill/>
          <a:ln w="9525">
            <a:noFill/>
            <a:miter lim="800000"/>
            <a:headEnd/>
            <a:tailEnd/>
          </a:ln>
          <a:effectLst/>
        </p:spPr>
        <p:txBody>
          <a:bodyPr vert="horz" wrap="square" lIns="92226" tIns="46113" rIns="92226" bIns="46113" numCol="1" anchor="b" anchorCtr="0" compatLnSpc="1">
            <a:prstTxWarp prst="textNoShape">
              <a:avLst/>
            </a:prstTxWarp>
          </a:bodyPr>
          <a:lstStyle>
            <a:lvl1pPr algn="r">
              <a:defRPr sz="1200"/>
            </a:lvl1pPr>
          </a:lstStyle>
          <a:p>
            <a:fld id="{DB081016-DCCF-4951-96A4-5C656B2A5A70}" type="slidenum">
              <a:rPr lang="en-US" altLang="en-US"/>
              <a:pPr/>
              <a:t>‹#›</a:t>
            </a:fld>
            <a:endParaRPr lang="en-US" altLang="en-US"/>
          </a:p>
        </p:txBody>
      </p:sp>
    </p:spTree>
    <p:extLst>
      <p:ext uri="{BB962C8B-B14F-4D97-AF65-F5344CB8AC3E}">
        <p14:creationId xmlns:p14="http://schemas.microsoft.com/office/powerpoint/2010/main" val="1122188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787">
              <a:spcBef>
                <a:spcPts val="616"/>
              </a:spcBef>
              <a:spcAft>
                <a:spcPts val="616"/>
              </a:spcAft>
              <a:tabLst>
                <a:tab pos="231683" algn="l"/>
              </a:tabLst>
              <a:defRPr/>
            </a:pPr>
            <a:r>
              <a:rPr lang="en-GB" dirty="0"/>
              <a:t>Thank-you to the AAAS organizers, particularly Bill </a:t>
            </a:r>
            <a:r>
              <a:rPr lang="en-GB" dirty="0" err="1"/>
              <a:t>Bonvillian</a:t>
            </a:r>
            <a:r>
              <a:rPr lang="en-GB" dirty="0"/>
              <a:t> and Bud Rock for inviting me to this session.</a:t>
            </a:r>
          </a:p>
          <a:p>
            <a:pPr defTabSz="939787">
              <a:spcBef>
                <a:spcPts val="616"/>
              </a:spcBef>
              <a:spcAft>
                <a:spcPts val="616"/>
              </a:spcAft>
              <a:tabLst>
                <a:tab pos="231683" algn="l"/>
              </a:tabLst>
              <a:defRPr/>
            </a:pPr>
            <a:r>
              <a:rPr lang="en-US" dirty="0"/>
              <a:t>The National Center for Science and Engineering Statistics (NCSES) is a Division within National Science Foundation, but it is also one of the thirteen principal statistical agencies within the federal government. We have a legislative mandate to collect and analyze statistical data on the science and engineering enterprise for use by policy makers, and the mandate explicitly covers data on US and global research and development. Today I will be summarizing a few of  those R&amp;D data trends.  And of course, the usual disclaimers apply.</a:t>
            </a:r>
          </a:p>
          <a:p>
            <a:pPr defTabSz="939787">
              <a:spcBef>
                <a:spcPts val="616"/>
              </a:spcBef>
              <a:spcAft>
                <a:spcPts val="616"/>
              </a:spcAft>
              <a:tabLst>
                <a:tab pos="231683" algn="l"/>
              </a:tabLst>
              <a:defRPr/>
            </a:pPr>
            <a:endParaRPr lang="en-GB" dirty="0"/>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0</a:t>
            </a:fld>
            <a:endParaRPr lang="en-US" altLang="en-US"/>
          </a:p>
        </p:txBody>
      </p:sp>
    </p:spTree>
    <p:extLst>
      <p:ext uri="{BB962C8B-B14F-4D97-AF65-F5344CB8AC3E}">
        <p14:creationId xmlns:p14="http://schemas.microsoft.com/office/powerpoint/2010/main" val="2692757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AD793D-B2BE-4A88-A233-A6BA21A40C52}" type="slidenum">
              <a:rPr lang="en-US">
                <a:solidFill>
                  <a:prstClr val="black"/>
                </a:solidFill>
              </a:rPr>
              <a:pPr/>
              <a:t>1</a:t>
            </a:fld>
            <a:endParaRPr lang="en-US" dirty="0">
              <a:solidFill>
                <a:prstClr val="black"/>
              </a:solidFill>
            </a:endParaRPr>
          </a:p>
        </p:txBody>
      </p:sp>
      <p:sp>
        <p:nvSpPr>
          <p:cNvPr id="148482" name="Rectangle 1026"/>
          <p:cNvSpPr>
            <a:spLocks noGrp="1" noRot="1" noChangeAspect="1" noChangeArrowheads="1" noTextEdit="1"/>
          </p:cNvSpPr>
          <p:nvPr>
            <p:ph type="sldImg"/>
          </p:nvPr>
        </p:nvSpPr>
        <p:spPr>
          <a:xfrm>
            <a:off x="1539875" y="1162050"/>
            <a:ext cx="4183063" cy="3136900"/>
          </a:xfrm>
          <a:ln/>
        </p:spPr>
      </p:sp>
      <p:sp>
        <p:nvSpPr>
          <p:cNvPr id="148483" name="Rectangle 1027"/>
          <p:cNvSpPr>
            <a:spLocks noGrp="1" noChangeArrowheads="1"/>
          </p:cNvSpPr>
          <p:nvPr>
            <p:ph type="body" idx="1"/>
          </p:nvPr>
        </p:nvSpPr>
        <p:spPr/>
        <p:txBody>
          <a:bodyPr/>
          <a:lstStyle/>
          <a:p>
            <a:pPr defTabSz="939787">
              <a:spcBef>
                <a:spcPts val="616"/>
              </a:spcBef>
              <a:spcAft>
                <a:spcPts val="616"/>
              </a:spcAft>
              <a:tabLst>
                <a:tab pos="231683" algn="l"/>
              </a:tabLst>
              <a:defRPr/>
            </a:pPr>
            <a:r>
              <a:rPr lang="en-US" dirty="0"/>
              <a:t>The National Center for Science and Engineering Statistics (NCSES) is a Division within National Science Foundation, but it is also one of the thirteen principal statistical agencies within the federal government. We have a legislative mandate to collect and analyze statistical data on the science and engineering enterprise for use by policy makers, and the mandate explicitly covers data on US and global research and development. Today I will be summarizing a few of  those R&amp;D data trends.  And of course, the usual disclaimers apply.</a:t>
            </a:r>
          </a:p>
          <a:p>
            <a:pPr defTabSz="939787">
              <a:spcBef>
                <a:spcPts val="616"/>
              </a:spcBef>
              <a:spcAft>
                <a:spcPts val="616"/>
              </a:spcAft>
              <a:tabLst>
                <a:tab pos="231683" algn="l"/>
              </a:tabLst>
              <a:defRPr/>
            </a:pPr>
            <a:endParaRPr lang="en-US" dirty="0"/>
          </a:p>
        </p:txBody>
      </p:sp>
    </p:spTree>
    <p:extLst>
      <p:ext uri="{BB962C8B-B14F-4D97-AF65-F5344CB8AC3E}">
        <p14:creationId xmlns:p14="http://schemas.microsoft.com/office/powerpoint/2010/main" val="251750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AD793D-B2BE-4A88-A233-A6BA21A40C52}" type="slidenum">
              <a:rPr lang="en-US">
                <a:solidFill>
                  <a:prstClr val="black"/>
                </a:solidFill>
              </a:rPr>
              <a:pPr/>
              <a:t>2</a:t>
            </a:fld>
            <a:endParaRPr lang="en-US" dirty="0">
              <a:solidFill>
                <a:prstClr val="black"/>
              </a:solidFill>
            </a:endParaRPr>
          </a:p>
        </p:txBody>
      </p:sp>
      <p:sp>
        <p:nvSpPr>
          <p:cNvPr id="148482" name="Rectangle 1026"/>
          <p:cNvSpPr>
            <a:spLocks noGrp="1" noRot="1" noChangeAspect="1" noChangeArrowheads="1" noTextEdit="1"/>
          </p:cNvSpPr>
          <p:nvPr>
            <p:ph type="sldImg"/>
          </p:nvPr>
        </p:nvSpPr>
        <p:spPr>
          <a:xfrm>
            <a:off x="1539875" y="1162050"/>
            <a:ext cx="4183063" cy="3136900"/>
          </a:xfrm>
          <a:ln/>
        </p:spPr>
      </p:sp>
      <p:sp>
        <p:nvSpPr>
          <p:cNvPr id="148483" name="Rectangle 1027"/>
          <p:cNvSpPr>
            <a:spLocks noGrp="1" noChangeArrowheads="1"/>
          </p:cNvSpPr>
          <p:nvPr>
            <p:ph type="body" idx="1"/>
          </p:nvPr>
        </p:nvSpPr>
        <p:spPr/>
        <p:txBody>
          <a:bodyPr/>
          <a:lstStyle/>
          <a:p>
            <a:pPr defTabSz="939787">
              <a:spcBef>
                <a:spcPts val="616"/>
              </a:spcBef>
              <a:spcAft>
                <a:spcPts val="616"/>
              </a:spcAft>
              <a:tabLst>
                <a:tab pos="231683" algn="l"/>
              </a:tabLst>
              <a:defRPr/>
            </a:pPr>
            <a:r>
              <a:rPr lang="en-US" dirty="0"/>
              <a:t>My task is to kick off this panel by providing a big picture overview of U.S R&amp;D investments, with a focus on recent performer trends and an effort to place these activities within a global context.  </a:t>
            </a:r>
          </a:p>
        </p:txBody>
      </p:sp>
    </p:spTree>
    <p:extLst>
      <p:ext uri="{BB962C8B-B14F-4D97-AF65-F5344CB8AC3E}">
        <p14:creationId xmlns:p14="http://schemas.microsoft.com/office/powerpoint/2010/main" val="2735171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r>
              <a:rPr lang="en-US" dirty="0"/>
              <a:t>Statistically speaking, R&amp;D comprises creative and systematic work undertaken in order to increase the stock of knowledge – including knowledge of humankind, culture and society – and to devise new applications of available knowledge.  It is the Nation’s expenditures on this noble purpose that we struggle to measure.</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3</a:t>
            </a:fld>
            <a:endParaRPr lang="en-US" altLang="en-US"/>
          </a:p>
        </p:txBody>
      </p:sp>
    </p:spTree>
    <p:extLst>
      <p:ext uri="{BB962C8B-B14F-4D97-AF65-F5344CB8AC3E}">
        <p14:creationId xmlns:p14="http://schemas.microsoft.com/office/powerpoint/2010/main" val="3806727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922758" y="4379296"/>
            <a:ext cx="5249442" cy="4225636"/>
          </a:xfrm>
        </p:spPr>
        <p:txBody>
          <a:bodyPr/>
          <a:lstStyle/>
          <a:p>
            <a:r>
              <a:rPr lang="en-US" dirty="0"/>
              <a:t>The source of  the data I will be presenting come from the performers of R&amp;D; that is, those who do the R&amp;D work. Performers generally are in the best position to judge how funds are used (that is whether for an R&amp;D activity or not); where and when the R&amp;D activity takes place; and the immediate source of the funds used for performing the R&amp;D.</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4</a:t>
            </a:fld>
            <a:endParaRPr lang="en-US" altLang="en-US"/>
          </a:p>
        </p:txBody>
      </p:sp>
    </p:spTree>
    <p:extLst>
      <p:ext uri="{BB962C8B-B14F-4D97-AF65-F5344CB8AC3E}">
        <p14:creationId xmlns:p14="http://schemas.microsoft.com/office/powerpoint/2010/main" val="1560972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62000" y="4379296"/>
            <a:ext cx="5867400" cy="4225636"/>
          </a:xfrm>
        </p:spPr>
        <p:txBody>
          <a:bodyPr/>
          <a:lstStyle/>
          <a:p>
            <a:r>
              <a:rPr lang="en-US" dirty="0"/>
              <a:t>From these surveys we estimate that more than one-half trillion dollars were spent on R&amp;D activities within the domestic United States in 2016.</a:t>
            </a:r>
          </a:p>
          <a:p>
            <a:r>
              <a:rPr lang="en-US" dirty="0"/>
              <a:t> As shown in green, the business sector is—by far—both the largest R&amp;D performer and the largest source of R&amp;D funding. The second largest performing sector (in red) was higher education, accounting for 13% of total. Federal intramural performance and that of Federally Funded R&amp;D Centers </a:t>
            </a:r>
            <a:r>
              <a:rPr lang="en-US" strike="sngStrike" dirty="0"/>
              <a:t>(such as NASA’s Jet Propulsion Lab and DOE’ Los Alamos National Lab) </a:t>
            </a:r>
            <a:r>
              <a:rPr lang="en-US" dirty="0"/>
              <a:t>combined accounted for 12% of the Nation’s total R&amp;D performance.</a:t>
            </a:r>
          </a:p>
          <a:p>
            <a:r>
              <a:rPr lang="en-US" dirty="0"/>
              <a:t>In terms of the source of the R&amp;D funds, the federal government (in blue) was second largest trailing substantially business sector investments; nonetheless, it still accounted for an estimated $122 billion in 2016.</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5</a:t>
            </a:fld>
            <a:endParaRPr lang="en-US" altLang="en-US"/>
          </a:p>
        </p:txBody>
      </p:sp>
    </p:spTree>
    <p:extLst>
      <p:ext uri="{BB962C8B-B14F-4D97-AF65-F5344CB8AC3E}">
        <p14:creationId xmlns:p14="http://schemas.microsoft.com/office/powerpoint/2010/main" val="1640626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looks considerably different when we graph the performers and funders of basic research rather than for all R&amp;D. Higher education sector performed almost half of the reported total (contrasted with its 13% share for total R&amp;D performance) .  </a:t>
            </a:r>
          </a:p>
          <a:p>
            <a:r>
              <a:rPr lang="en-US" dirty="0"/>
              <a:t>The federal government provided 44% (or $38 billion) for basic research, again contrasted with its 24% funding share for all of R&amp;D.</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6</a:t>
            </a:fld>
            <a:endParaRPr lang="en-US" altLang="en-US"/>
          </a:p>
        </p:txBody>
      </p:sp>
    </p:spTree>
    <p:extLst>
      <p:ext uri="{BB962C8B-B14F-4D97-AF65-F5344CB8AC3E}">
        <p14:creationId xmlns:p14="http://schemas.microsoft.com/office/powerpoint/2010/main" val="75493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brevity, I will not spend time on the details in this slide, except to note that the performers of  R&amp;D  vary considerably in terms of  the funding sources for their R&amp;D.</a:t>
            </a:r>
          </a:p>
          <a:p>
            <a:r>
              <a:rPr lang="en-US" dirty="0"/>
              <a:t>For example, 93% all of the R&amp;D performed by business in 2016 was funded by business itself whereas the $68 billion of R&amp;D performed by the higher education sector is funded by a much more diverse set of funders.  More on this as we go along.</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7</a:t>
            </a:fld>
            <a:endParaRPr lang="en-US" altLang="en-US"/>
          </a:p>
        </p:txBody>
      </p:sp>
    </p:spTree>
    <p:extLst>
      <p:ext uri="{BB962C8B-B14F-4D97-AF65-F5344CB8AC3E}">
        <p14:creationId xmlns:p14="http://schemas.microsoft.com/office/powerpoint/2010/main" val="3145309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922816" y="4378961"/>
            <a:ext cx="5152067" cy="4225636"/>
          </a:xfrm>
        </p:spPr>
        <p:txBody>
          <a:bodyPr/>
          <a:lstStyle/>
          <a:p>
            <a:r>
              <a:rPr lang="en-US" dirty="0"/>
              <a:t>The ratio of R&amp;D divided by GDP (or R&amp;D intensity) measures a nation’s commitment to scientific knowledge growth and technology development. For the past fifty years this ratio for the United States has fluctuated rather narrowly between 2.1 and 2.8 percent.</a:t>
            </a:r>
          </a:p>
          <a:p>
            <a:r>
              <a:rPr lang="en-US" dirty="0"/>
              <a:t>For some 35 years business R&amp;D funding has increasingly exceeded that from the Federal government. Business R&amp;D now accounts for 1.84% of GDP, compared with the 0.67 Federal R&amp;D-to-GDP ratio.</a:t>
            </a:r>
          </a:p>
          <a:p>
            <a:r>
              <a:rPr lang="en-US" dirty="0"/>
              <a:t>For the remainder of my talk, comparisons will be limited to the period since the year 2000.</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8</a:t>
            </a:fld>
            <a:endParaRPr lang="en-US" altLang="en-US"/>
          </a:p>
        </p:txBody>
      </p:sp>
    </p:spTree>
    <p:extLst>
      <p:ext uri="{BB962C8B-B14F-4D97-AF65-F5344CB8AC3E}">
        <p14:creationId xmlns:p14="http://schemas.microsoft.com/office/powerpoint/2010/main" val="606486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look at structural changes in the composition of the national R&amp;D effort since then.</a:t>
            </a:r>
          </a:p>
          <a:p>
            <a:r>
              <a:rPr lang="en-US" dirty="0"/>
              <a:t>The largest performing and funding sectors have peaked and ebbed, but in broad terms have kept their relative positions since the early 2000s</a:t>
            </a:r>
          </a:p>
          <a:p>
            <a:r>
              <a:rPr lang="en-US" dirty="0"/>
              <a:t>In 2016, development accounted for 63%; applied research for 19% and basic research for 18% of total R&amp;D, roughly the same shares as reported in 2000.</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9</a:t>
            </a:fld>
            <a:endParaRPr lang="en-US" altLang="en-US"/>
          </a:p>
        </p:txBody>
      </p:sp>
    </p:spTree>
    <p:extLst>
      <p:ext uri="{BB962C8B-B14F-4D97-AF65-F5344CB8AC3E}">
        <p14:creationId xmlns:p14="http://schemas.microsoft.com/office/powerpoint/2010/main" val="3007425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that broad overview of stability masks important details.</a:t>
            </a:r>
          </a:p>
          <a:p>
            <a:r>
              <a:rPr lang="en-US" dirty="0"/>
              <a:t>As I graph here, in the immediate periods both before and after the great recession, growth in US R&amp;D performance annually exceeded that of real economic output. However during the great recession, real R&amp;D declined considerably more than did the overall economy.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10</a:t>
            </a:fld>
            <a:endParaRPr lang="en-US" altLang="en-US"/>
          </a:p>
        </p:txBody>
      </p:sp>
    </p:spTree>
    <p:extLst>
      <p:ext uri="{BB962C8B-B14F-4D97-AF65-F5344CB8AC3E}">
        <p14:creationId xmlns:p14="http://schemas.microsoft.com/office/powerpoint/2010/main" val="2414749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Delving a bit deeper shows a fair amount of churn within the individual sectors as well.</a:t>
            </a:r>
          </a:p>
          <a:p>
            <a:r>
              <a:rPr lang="en-US" dirty="0"/>
              <a:t>Even though business R&amp;D (green bars) took a hard hit from 2008 to 2010, it has since recovered growing at an average rate of almost 3% per year. As a result, the business sector accounted for about 89% of all US R&amp;D performance growth since 2010.</a:t>
            </a:r>
          </a:p>
          <a:p>
            <a:r>
              <a:rPr lang="en-US" dirty="0"/>
              <a:t>Higher education R&amp;D performance (red bars), which had the most robust growth before and during the great recession has slowed considerably since 2010, as has Federal R&amp;D performance.</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11</a:t>
            </a:fld>
            <a:endParaRPr lang="en-US" altLang="en-US" dirty="0"/>
          </a:p>
        </p:txBody>
      </p:sp>
    </p:spTree>
    <p:extLst>
      <p:ext uri="{BB962C8B-B14F-4D97-AF65-F5344CB8AC3E}">
        <p14:creationId xmlns:p14="http://schemas.microsoft.com/office/powerpoint/2010/main" val="3742931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 bit more closely at Federal R&amp;D funding to performers, we see that its support to each of the major economic sectors has declined considerably from its role before the onset of the Great Recession.</a:t>
            </a:r>
          </a:p>
          <a:p>
            <a:r>
              <a:rPr lang="en-US" dirty="0"/>
              <a:t>Annual Federal support for academic R&amp;D which increased 7.1% per year between 2008 and 2010 </a:t>
            </a:r>
            <a:r>
              <a:rPr lang="en-US" strike="sngStrike" dirty="0"/>
              <a:t>(largely a result of the one-time infusion of $18 billion of Recovery Act funding) </a:t>
            </a:r>
            <a:r>
              <a:rPr lang="en-US" dirty="0"/>
              <a:t>has since fallen on average by 1.8% per year in inflation-adjusted terms.</a:t>
            </a:r>
          </a:p>
          <a:p>
            <a:r>
              <a:rPr lang="en-US" dirty="0"/>
              <a:t>The notable decline in Federal R&amp;D funding to the business sector during the great recession has only accelerated since then.</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12</a:t>
            </a:fld>
            <a:endParaRPr lang="en-US" altLang="en-US"/>
          </a:p>
        </p:txBody>
      </p:sp>
    </p:spTree>
    <p:extLst>
      <p:ext uri="{BB962C8B-B14F-4D97-AF65-F5344CB8AC3E}">
        <p14:creationId xmlns:p14="http://schemas.microsoft.com/office/powerpoint/2010/main" val="3519953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time constraints, I can’t detail much about federal R&amp;D performers other than to note  that the Department of Defense accounted 60% of all Federal intramural R&amp;D in FY2016 and that FFRDCs sponsored by the Department of Energy—much of it defense related—accounted for more than one-half of all FFRDC performance. </a:t>
            </a:r>
          </a:p>
          <a:p>
            <a:r>
              <a:rPr lang="en-US" dirty="0"/>
              <a:t>Since 2010, inflation-adjusted R&amp;D performed within federal labs has been flat most years, whereas R&amp;D performed by FFRDCs combined has not even kept up with inflation.</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13</a:t>
            </a:fld>
            <a:endParaRPr lang="en-US" altLang="en-US"/>
          </a:p>
        </p:txBody>
      </p:sp>
    </p:spTree>
    <p:extLst>
      <p:ext uri="{BB962C8B-B14F-4D97-AF65-F5344CB8AC3E}">
        <p14:creationId xmlns:p14="http://schemas.microsoft.com/office/powerpoint/2010/main" val="266453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higher education sector, inflation-adjusted R&amp;D performance has grown by less than 1% per year since 2010. Almost all of that growth was funded from universities own internal sources, not from increases in support from government (which has fallen) nor from business or other sources (which have remained rather flat). </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14</a:t>
            </a:fld>
            <a:endParaRPr lang="en-US" altLang="en-US"/>
          </a:p>
        </p:txBody>
      </p:sp>
    </p:spTree>
    <p:extLst>
      <p:ext uri="{BB962C8B-B14F-4D97-AF65-F5344CB8AC3E}">
        <p14:creationId xmlns:p14="http://schemas.microsoft.com/office/powerpoint/2010/main" val="1162830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the Higher Education research fields, the dominance of the health sciences and of the biological and biomedical sciences combined is unmistakable. These two fields accounted for fully half of all higher education R&amp;D performance in both fiscal years 2010 and 2016.</a:t>
            </a:r>
          </a:p>
          <a:p>
            <a:r>
              <a:rPr lang="en-US" dirty="0"/>
              <a:t>The largest percentage growth since 2010 occurred in bioengineering and non-S&amp;E fields, each which grew at about 6% per year but starting from a relatively small base.</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15</a:t>
            </a:fld>
            <a:endParaRPr lang="en-US" altLang="en-US"/>
          </a:p>
        </p:txBody>
      </p:sp>
    </p:spTree>
    <p:extLst>
      <p:ext uri="{BB962C8B-B14F-4D97-AF65-F5344CB8AC3E}">
        <p14:creationId xmlns:p14="http://schemas.microsoft.com/office/powerpoint/2010/main" val="1336358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Business R&amp;D performance, pharmaceuticals and computer and electronic products sectors accounted for the largest shares in both 2010 and 2015. However, the largest double-digit R&amp;D growth took place in the data processing, web hosting and other information sectors. Aerospace was the only industry to report an absolute decline in R&amp;D performance between 2010 and 2015</a:t>
            </a:r>
          </a:p>
          <a:p>
            <a:r>
              <a:rPr lang="en-US" dirty="0"/>
              <a:t>As shown on the right side of the table, just 3 industries (aerospace, professional scientific and technical services, and computer and electronic parts) account for 90% of all Federal support for business R&amp;D.  Total federal dollars fell in each of the three industries between 2010 and 2015, most of which comes from the Department of Defense.</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16</a:t>
            </a:fld>
            <a:endParaRPr lang="en-US" altLang="en-US"/>
          </a:p>
        </p:txBody>
      </p:sp>
    </p:spTree>
    <p:extLst>
      <p:ext uri="{BB962C8B-B14F-4D97-AF65-F5344CB8AC3E}">
        <p14:creationId xmlns:p14="http://schemas.microsoft.com/office/powerpoint/2010/main" val="731706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businesses are investing heavily in global R&amp;D activities. </a:t>
            </a:r>
          </a:p>
          <a:p>
            <a:r>
              <a:rPr lang="en-US" dirty="0"/>
              <a:t>In 2015, many business that performed R&amp;D in the United States also performed R&amp;D in foreign locations. The $74 billion spent performing R&amp;D in other countries represented 17% of their worldwide R&amp;D performance in 2015. </a:t>
            </a:r>
          </a:p>
          <a:p>
            <a:r>
              <a:rPr lang="en-US" dirty="0"/>
              <a:t>More than half of this R&amp;D was performed in Europe, and primarily in Germany and the UK., but very large amounts were spent by US businesses performing R&amp;D in China and India, $6.2 and $5.5 billion respectively.</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17</a:t>
            </a:fld>
            <a:endParaRPr lang="en-US" altLang="en-US"/>
          </a:p>
        </p:txBody>
      </p:sp>
    </p:spTree>
    <p:extLst>
      <p:ext uri="{BB962C8B-B14F-4D97-AF65-F5344CB8AC3E}">
        <p14:creationId xmlns:p14="http://schemas.microsoft.com/office/powerpoint/2010/main" val="2807398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R&amp;D investments in the United States by foreign-owned businesses have also been growing substantially over the past decade, from $41 billion in 2008 to $57 billion in 2015. </a:t>
            </a:r>
          </a:p>
          <a:p>
            <a:r>
              <a:rPr lang="en-US" dirty="0"/>
              <a:t>It is largely European-owned businesses that conduct R&amp;D in the United States, notably Swiss, British, and German-owned businesses. </a:t>
            </a:r>
          </a:p>
          <a:p>
            <a:r>
              <a:rPr lang="en-US" dirty="0"/>
              <a:t>Businesses with Chinese ownership increased their R&amp;D performance in the United States 30-fold during this period, but starting from a negligible amount in 2008 growing to $545 million in 2015.</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18</a:t>
            </a:fld>
            <a:endParaRPr lang="en-US" altLang="en-US"/>
          </a:p>
        </p:txBody>
      </p:sp>
    </p:spTree>
    <p:extLst>
      <p:ext uri="{BB962C8B-B14F-4D97-AF65-F5344CB8AC3E}">
        <p14:creationId xmlns:p14="http://schemas.microsoft.com/office/powerpoint/2010/main" val="3375743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personally am a bit skeptical about the value of comparing US R&amp;D efforts with regional totals, such as with that of all Europe combined</a:t>
            </a:r>
          </a:p>
          <a:p>
            <a:r>
              <a:rPr lang="en-US" dirty="0"/>
              <a:t>But nonetheless, I admit the graphic is telling. Over a short 6 year period from 2009 to 2015, the North American and European shares of global R&amp;D performance fell by 6 and 4 percentage points respectively, while the East/Southeast Asian share grew by almost 9 percentage points.</a:t>
            </a:r>
            <a:endParaRPr lang="en-US" strike="sngStrike"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19</a:t>
            </a:fld>
            <a:endParaRPr lang="en-US" altLang="en-US"/>
          </a:p>
        </p:txBody>
      </p:sp>
    </p:spTree>
    <p:extLst>
      <p:ext uri="{BB962C8B-B14F-4D97-AF65-F5344CB8AC3E}">
        <p14:creationId xmlns:p14="http://schemas.microsoft.com/office/powerpoint/2010/main" val="1001242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country details.</a:t>
            </a:r>
          </a:p>
          <a:p>
            <a:r>
              <a:rPr lang="en-US" dirty="0"/>
              <a:t>The top graph covers the four countries with more than $100 billion of R&amp;D in 2016. The bottom graph provides similar details for the seven countries for which we have time series data and which performed at least $25 billion of R&amp;D in 2016. Collectively these 11 countries accounted for an estimated 87% of the world’s R&amp;D performance.</a:t>
            </a:r>
          </a:p>
          <a:p>
            <a:r>
              <a:rPr lang="en-US" dirty="0"/>
              <a:t>Countries with the most rapid R&amp;D growth since 2000 obviously are China and Korea.</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20</a:t>
            </a:fld>
            <a:endParaRPr lang="en-US" altLang="en-US"/>
          </a:p>
        </p:txBody>
      </p:sp>
    </p:spTree>
    <p:extLst>
      <p:ext uri="{BB962C8B-B14F-4D97-AF65-F5344CB8AC3E}">
        <p14:creationId xmlns:p14="http://schemas.microsoft.com/office/powerpoint/2010/main" val="3301010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return to the R&amp;D intensity graphic presented earlier for the U.S. clearly indicates in which countries are increased R&amp;D investments an implicit economic priority.</a:t>
            </a:r>
          </a:p>
          <a:p>
            <a:r>
              <a:rPr lang="en-US" dirty="0"/>
              <a:t>Since the year 2000, domestic R&amp;D performance in both Korea and China has risen twice as fast as these countries’ overall economic output. </a:t>
            </a:r>
          </a:p>
          <a:p>
            <a:r>
              <a:rPr lang="en-US" dirty="0"/>
              <a:t>In Korea, its R&amp;D-to-GDP ratio increased from 2.2 percent in the year 2000 to 4.2 percent in 2016, which is now second only to Israel’s ratio. For China its R&amp;D intensity indicator climbed rapidly from 0.9 percent in 2000 to 2.1 percent in 2016. Except for the growth reported for Chinese Taipei, the trend for all other countries’ R&amp;D-to-GDP seems rather flat.  </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21</a:t>
            </a:fld>
            <a:endParaRPr lang="en-US" altLang="en-US"/>
          </a:p>
        </p:txBody>
      </p:sp>
    </p:spTree>
    <p:extLst>
      <p:ext uri="{BB962C8B-B14F-4D97-AF65-F5344CB8AC3E}">
        <p14:creationId xmlns:p14="http://schemas.microsoft.com/office/powerpoint/2010/main" val="21508621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5388" y="692150"/>
            <a:ext cx="4606925" cy="3455988"/>
          </a:xfrm>
        </p:spPr>
      </p:sp>
      <p:sp>
        <p:nvSpPr>
          <p:cNvPr id="3" name="Notes Placeholder 2"/>
          <p:cNvSpPr>
            <a:spLocks noGrp="1"/>
          </p:cNvSpPr>
          <p:nvPr>
            <p:ph type="body" idx="1"/>
          </p:nvPr>
        </p:nvSpPr>
        <p:spPr>
          <a:xfrm>
            <a:off x="922758" y="4379296"/>
            <a:ext cx="5249442" cy="4225636"/>
          </a:xfrm>
        </p:spPr>
        <p:txBody>
          <a:bodyPr/>
          <a:lstStyle/>
          <a:p>
            <a:r>
              <a:rPr lang="en-US" dirty="0"/>
              <a:t>And here are performer-funder comparisons for some of the largest R&amp;D performing countries. Except for India, the business sector is the largest performer in each of the countries detailed here, and the higher education sector is the second largest performer in the US and most of other the countries. In China and Korea the government sector is the second largest performer.</a:t>
            </a:r>
          </a:p>
          <a:p>
            <a:r>
              <a:rPr lang="en-US" dirty="0"/>
              <a:t>In terms of R&amp;D funding sources, business is largest and government second largest in each of these countries for which there are data. </a:t>
            </a:r>
          </a:p>
          <a:p>
            <a:r>
              <a:rPr lang="en-US" dirty="0"/>
              <a:t>Funding that originates outside of the reporting country (last column) is relatively more important for the UK, France and Germany than for the US, but by comparison “rest of the world” sources of funding in China, Japan and Korea are relatively insignificant. Most of such funding is for business performance.</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22</a:t>
            </a:fld>
            <a:endParaRPr lang="en-US" altLang="en-US"/>
          </a:p>
        </p:txBody>
      </p:sp>
    </p:spTree>
    <p:extLst>
      <p:ext uri="{BB962C8B-B14F-4D97-AF65-F5344CB8AC3E}">
        <p14:creationId xmlns:p14="http://schemas.microsoft.com/office/powerpoint/2010/main" val="1352667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terms of business R&amp;D performance, the US effort is more concentrated in pharmaceuticals  and the information and communications sectors than is the case in other countries. By comparison, German and Japanese businesses perform relatively high shares of automotive R&amp;D, whereas 50% of the business R&amp;D in Korea is performed in the computer, electronics and optical products sector.  </a:t>
            </a:r>
          </a:p>
          <a:p>
            <a:r>
              <a:rPr lang="en-US" dirty="0"/>
              <a:t>In China relatively large shares of R&amp;D are performed in its basic and fabricated metals industry and its machinery and equipment industry (although detailed business R&amp;D data for China are incomplete)</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23</a:t>
            </a:fld>
            <a:endParaRPr lang="en-US" altLang="en-US"/>
          </a:p>
        </p:txBody>
      </p:sp>
    </p:spTree>
    <p:extLst>
      <p:ext uri="{BB962C8B-B14F-4D97-AF65-F5344CB8AC3E}">
        <p14:creationId xmlns:p14="http://schemas.microsoft.com/office/powerpoint/2010/main" val="27426880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Country data on the type of R&amp;D performed is particularly spotty.</a:t>
            </a:r>
          </a:p>
          <a:p>
            <a:r>
              <a:rPr lang="en-US" dirty="0"/>
              <a:t>However, what quickly jumps out is that for most countries, 16% or more of their total R&amp;D is devoted to basic research activities. For China the basic research share is about 5% of total.</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24</a:t>
            </a:fld>
            <a:endParaRPr lang="en-US" altLang="en-US"/>
          </a:p>
        </p:txBody>
      </p:sp>
    </p:spTree>
    <p:extLst>
      <p:ext uri="{BB962C8B-B14F-4D97-AF65-F5344CB8AC3E}">
        <p14:creationId xmlns:p14="http://schemas.microsoft.com/office/powerpoint/2010/main" val="3924266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Here is a picture of the global R&amp;D landscape from a country-specific perspective.</a:t>
            </a:r>
          </a:p>
          <a:p>
            <a:r>
              <a:rPr lang="en-US" dirty="0"/>
              <a:t>The y axis shows the R&amp;D intensity for each county, note the high placement of Israel and Korea. </a:t>
            </a:r>
          </a:p>
          <a:p>
            <a:r>
              <a:rPr lang="en-US" dirty="0"/>
              <a:t>The x axis shows the number of researchers per thousand of labor force. Israel and Finland rank highest by this metric at 17 and 15  researchers per thousand employed, respectively.</a:t>
            </a:r>
          </a:p>
          <a:p>
            <a:r>
              <a:rPr lang="en-US" dirty="0"/>
              <a:t>The bubbles represent the total amount of R&amp;D performed within a country. Obviously the bubbles for the US and China are largest.</a:t>
            </a:r>
          </a:p>
          <a:p>
            <a:r>
              <a:rPr lang="en-US" dirty="0"/>
              <a:t>Combined this 3-dimension graphic provides a quick visual summary of where a country’s R&amp;D effort stands vis-à-vis the rest of the world.</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25</a:t>
            </a:fld>
            <a:endParaRPr lang="en-US" altLang="en-US"/>
          </a:p>
        </p:txBody>
      </p:sp>
    </p:spTree>
    <p:extLst>
      <p:ext uri="{BB962C8B-B14F-4D97-AF65-F5344CB8AC3E}">
        <p14:creationId xmlns:p14="http://schemas.microsoft.com/office/powerpoint/2010/main" val="486925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maybe this really is the last slide.</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26</a:t>
            </a:fld>
            <a:endParaRPr lang="en-US" altLang="en-US"/>
          </a:p>
        </p:txBody>
      </p:sp>
    </p:spTree>
    <p:extLst>
      <p:ext uri="{BB962C8B-B14F-4D97-AF65-F5344CB8AC3E}">
        <p14:creationId xmlns:p14="http://schemas.microsoft.com/office/powerpoint/2010/main" val="3450101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FA15848D-21D3-4F63-A307-4CE3CD073E7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F7EC85B-6DCC-4C77-A787-F0F9006AF3B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FA1EFF0-4094-4D2A-BC66-5EB5A2308EE6}"/>
              </a:ext>
            </a:extLst>
          </p:cNvPr>
          <p:cNvSpPr>
            <a:spLocks noGrp="1" noChangeArrowheads="1"/>
          </p:cNvSpPr>
          <p:nvPr>
            <p:ph type="sldNum" sz="quarter" idx="12"/>
          </p:nvPr>
        </p:nvSpPr>
        <p:spPr>
          <a:ln/>
        </p:spPr>
        <p:txBody>
          <a:bodyPr/>
          <a:lstStyle>
            <a:lvl1pPr>
              <a:defRPr/>
            </a:lvl1pPr>
          </a:lstStyle>
          <a:p>
            <a:fld id="{6665D052-6F2B-4CE2-BEE2-DC2F1767F99D}" type="slidenum">
              <a:rPr lang="en-US" altLang="en-US"/>
              <a:pPr/>
              <a:t>‹#›</a:t>
            </a:fld>
            <a:endParaRPr lang="en-US" altLang="en-US"/>
          </a:p>
        </p:txBody>
      </p:sp>
    </p:spTree>
    <p:extLst>
      <p:ext uri="{BB962C8B-B14F-4D97-AF65-F5344CB8AC3E}">
        <p14:creationId xmlns:p14="http://schemas.microsoft.com/office/powerpoint/2010/main" val="4280658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16422D-6FE1-4771-B4DF-6DC46651CC7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366B024-89E3-4102-AC95-E96CA64250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220CC7F-398A-4BDB-99F2-99C30CDB5594}"/>
              </a:ext>
            </a:extLst>
          </p:cNvPr>
          <p:cNvSpPr>
            <a:spLocks noGrp="1" noChangeArrowheads="1"/>
          </p:cNvSpPr>
          <p:nvPr>
            <p:ph type="sldNum" sz="quarter" idx="12"/>
          </p:nvPr>
        </p:nvSpPr>
        <p:spPr>
          <a:ln/>
        </p:spPr>
        <p:txBody>
          <a:bodyPr/>
          <a:lstStyle>
            <a:lvl1pPr>
              <a:defRPr/>
            </a:lvl1pPr>
          </a:lstStyle>
          <a:p>
            <a:fld id="{04EBD9D2-50B5-4674-ABC4-36391345BAEA}" type="slidenum">
              <a:rPr lang="en-US" altLang="en-US"/>
              <a:pPr/>
              <a:t>‹#›</a:t>
            </a:fld>
            <a:endParaRPr lang="en-US" altLang="en-US"/>
          </a:p>
        </p:txBody>
      </p:sp>
    </p:spTree>
    <p:extLst>
      <p:ext uri="{BB962C8B-B14F-4D97-AF65-F5344CB8AC3E}">
        <p14:creationId xmlns:p14="http://schemas.microsoft.com/office/powerpoint/2010/main" val="383636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EFA8457-F7F6-402D-A7B4-FB4BAF1EC6B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DBBFC78-7D68-4267-B274-71F6D3B365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27FB8FA-8BA7-47E5-85E2-76D177A6C82C}"/>
              </a:ext>
            </a:extLst>
          </p:cNvPr>
          <p:cNvSpPr>
            <a:spLocks noGrp="1" noChangeArrowheads="1"/>
          </p:cNvSpPr>
          <p:nvPr>
            <p:ph type="sldNum" sz="quarter" idx="12"/>
          </p:nvPr>
        </p:nvSpPr>
        <p:spPr>
          <a:ln/>
        </p:spPr>
        <p:txBody>
          <a:bodyPr/>
          <a:lstStyle>
            <a:lvl1pPr>
              <a:defRPr/>
            </a:lvl1pPr>
          </a:lstStyle>
          <a:p>
            <a:fld id="{DAA33DB0-8085-44B3-A4D8-CDEB37F60E54}" type="slidenum">
              <a:rPr lang="en-US" altLang="en-US"/>
              <a:pPr/>
              <a:t>‹#›</a:t>
            </a:fld>
            <a:endParaRPr lang="en-US" altLang="en-US"/>
          </a:p>
        </p:txBody>
      </p:sp>
    </p:spTree>
    <p:extLst>
      <p:ext uri="{BB962C8B-B14F-4D97-AF65-F5344CB8AC3E}">
        <p14:creationId xmlns:p14="http://schemas.microsoft.com/office/powerpoint/2010/main" val="3677918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241F207-783B-4181-A148-F437EB1BA94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03FC028-8638-491A-9B48-64C4DBD475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BD0066F-D1EC-4B68-9CF6-6DEB4E32523F}"/>
              </a:ext>
            </a:extLst>
          </p:cNvPr>
          <p:cNvSpPr>
            <a:spLocks noGrp="1" noChangeArrowheads="1"/>
          </p:cNvSpPr>
          <p:nvPr>
            <p:ph type="sldNum" sz="quarter" idx="12"/>
          </p:nvPr>
        </p:nvSpPr>
        <p:spPr>
          <a:ln/>
        </p:spPr>
        <p:txBody>
          <a:bodyPr/>
          <a:lstStyle>
            <a:lvl1pPr>
              <a:defRPr/>
            </a:lvl1pPr>
          </a:lstStyle>
          <a:p>
            <a:fld id="{EBA523CE-B3EC-4C9B-8758-F66AF9FAB78E}" type="slidenum">
              <a:rPr lang="en-US" altLang="en-US"/>
              <a:pPr/>
              <a:t>‹#›</a:t>
            </a:fld>
            <a:endParaRPr lang="en-US" altLang="en-US"/>
          </a:p>
        </p:txBody>
      </p:sp>
    </p:spTree>
    <p:extLst>
      <p:ext uri="{BB962C8B-B14F-4D97-AF65-F5344CB8AC3E}">
        <p14:creationId xmlns:p14="http://schemas.microsoft.com/office/powerpoint/2010/main" val="3063427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5A9F73F-67CC-41C8-8C18-681CA112827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B5F5839-0E17-4A23-B8BF-20FC4514422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2F84628-8010-49E5-9BAE-49AAA56F69FC}"/>
              </a:ext>
            </a:extLst>
          </p:cNvPr>
          <p:cNvSpPr>
            <a:spLocks noGrp="1" noChangeArrowheads="1"/>
          </p:cNvSpPr>
          <p:nvPr>
            <p:ph type="sldNum" sz="quarter" idx="12"/>
          </p:nvPr>
        </p:nvSpPr>
        <p:spPr>
          <a:ln/>
        </p:spPr>
        <p:txBody>
          <a:bodyPr/>
          <a:lstStyle>
            <a:lvl1pPr>
              <a:defRPr/>
            </a:lvl1pPr>
          </a:lstStyle>
          <a:p>
            <a:fld id="{1A08D930-9B49-4E49-81BB-B80B14A7C639}" type="slidenum">
              <a:rPr lang="en-US" altLang="en-US"/>
              <a:pPr/>
              <a:t>‹#›</a:t>
            </a:fld>
            <a:endParaRPr lang="en-US" altLang="en-US"/>
          </a:p>
        </p:txBody>
      </p:sp>
    </p:spTree>
    <p:extLst>
      <p:ext uri="{BB962C8B-B14F-4D97-AF65-F5344CB8AC3E}">
        <p14:creationId xmlns:p14="http://schemas.microsoft.com/office/powerpoint/2010/main" val="1984535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4178DCE-1564-4928-A1DE-D798BC851F7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64E4C632-5232-4ABF-9BB8-F644057D8B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F7FC828-B1AF-44DD-AD44-D9CECC57049B}"/>
              </a:ext>
            </a:extLst>
          </p:cNvPr>
          <p:cNvSpPr>
            <a:spLocks noGrp="1" noChangeArrowheads="1"/>
          </p:cNvSpPr>
          <p:nvPr>
            <p:ph type="sldNum" sz="quarter" idx="12"/>
          </p:nvPr>
        </p:nvSpPr>
        <p:spPr>
          <a:ln/>
        </p:spPr>
        <p:txBody>
          <a:bodyPr/>
          <a:lstStyle>
            <a:lvl1pPr>
              <a:defRPr/>
            </a:lvl1pPr>
          </a:lstStyle>
          <a:p>
            <a:fld id="{1B835D90-6387-4175-8905-3408BA5A358B}" type="slidenum">
              <a:rPr lang="en-US" altLang="en-US"/>
              <a:pPr/>
              <a:t>‹#›</a:t>
            </a:fld>
            <a:endParaRPr lang="en-US" altLang="en-US"/>
          </a:p>
        </p:txBody>
      </p:sp>
    </p:spTree>
    <p:extLst>
      <p:ext uri="{BB962C8B-B14F-4D97-AF65-F5344CB8AC3E}">
        <p14:creationId xmlns:p14="http://schemas.microsoft.com/office/powerpoint/2010/main" val="3267462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CBACB41-4127-42F5-9FD9-B069449BF94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4B1635D-3F33-4C25-A913-1C8C6CD7E5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98A7885-9323-4CAA-9E9F-68C5DDA45A97}"/>
              </a:ext>
            </a:extLst>
          </p:cNvPr>
          <p:cNvSpPr>
            <a:spLocks noGrp="1" noChangeArrowheads="1"/>
          </p:cNvSpPr>
          <p:nvPr>
            <p:ph type="sldNum" sz="quarter" idx="12"/>
          </p:nvPr>
        </p:nvSpPr>
        <p:spPr>
          <a:ln/>
        </p:spPr>
        <p:txBody>
          <a:bodyPr/>
          <a:lstStyle>
            <a:lvl1pPr>
              <a:defRPr/>
            </a:lvl1pPr>
          </a:lstStyle>
          <a:p>
            <a:fld id="{D03DD04A-7433-4FD9-B60E-46E4D8E204E0}" type="slidenum">
              <a:rPr lang="en-US" altLang="en-US"/>
              <a:pPr/>
              <a:t>‹#›</a:t>
            </a:fld>
            <a:endParaRPr lang="en-US" altLang="en-US"/>
          </a:p>
        </p:txBody>
      </p:sp>
    </p:spTree>
    <p:extLst>
      <p:ext uri="{BB962C8B-B14F-4D97-AF65-F5344CB8AC3E}">
        <p14:creationId xmlns:p14="http://schemas.microsoft.com/office/powerpoint/2010/main" val="407012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E7E2C6C-6F08-47EF-8DE9-0B1AC86727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5AA31FB-1AE0-47BA-BD06-6FC854B365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3976B7A-69FB-4FE3-89FF-FC537F9DDE20}"/>
              </a:ext>
            </a:extLst>
          </p:cNvPr>
          <p:cNvSpPr>
            <a:spLocks noGrp="1" noChangeArrowheads="1"/>
          </p:cNvSpPr>
          <p:nvPr>
            <p:ph type="sldNum" sz="quarter" idx="12"/>
          </p:nvPr>
        </p:nvSpPr>
        <p:spPr>
          <a:ln/>
        </p:spPr>
        <p:txBody>
          <a:bodyPr/>
          <a:lstStyle>
            <a:lvl1pPr>
              <a:defRPr/>
            </a:lvl1pPr>
          </a:lstStyle>
          <a:p>
            <a:fld id="{3EC0FE45-A7B8-4C9C-92B0-2AF294BD7CD0}" type="slidenum">
              <a:rPr lang="en-US" altLang="en-US"/>
              <a:pPr/>
              <a:t>‹#›</a:t>
            </a:fld>
            <a:endParaRPr lang="en-US" altLang="en-US"/>
          </a:p>
        </p:txBody>
      </p:sp>
    </p:spTree>
    <p:extLst>
      <p:ext uri="{BB962C8B-B14F-4D97-AF65-F5344CB8AC3E}">
        <p14:creationId xmlns:p14="http://schemas.microsoft.com/office/powerpoint/2010/main" val="81721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E2C6454-03E7-412E-9681-DB5B2F4B10D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FFD69BB-CC31-4DC1-893E-4D41302C2B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2FA3865-8464-4F98-8E7D-CD11FD299E57}"/>
              </a:ext>
            </a:extLst>
          </p:cNvPr>
          <p:cNvSpPr>
            <a:spLocks noGrp="1" noChangeArrowheads="1"/>
          </p:cNvSpPr>
          <p:nvPr>
            <p:ph type="sldNum" sz="quarter" idx="12"/>
          </p:nvPr>
        </p:nvSpPr>
        <p:spPr>
          <a:ln/>
        </p:spPr>
        <p:txBody>
          <a:bodyPr/>
          <a:lstStyle>
            <a:lvl1pPr>
              <a:defRPr/>
            </a:lvl1pPr>
          </a:lstStyle>
          <a:p>
            <a:fld id="{4DCA383F-D4AA-4BCB-A6B0-176A3830E6AD}" type="slidenum">
              <a:rPr lang="en-US" altLang="en-US"/>
              <a:pPr/>
              <a:t>‹#›</a:t>
            </a:fld>
            <a:endParaRPr lang="en-US" altLang="en-US"/>
          </a:p>
        </p:txBody>
      </p:sp>
    </p:spTree>
    <p:extLst>
      <p:ext uri="{BB962C8B-B14F-4D97-AF65-F5344CB8AC3E}">
        <p14:creationId xmlns:p14="http://schemas.microsoft.com/office/powerpoint/2010/main" val="4083402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6F75EF7-04B5-4B75-9D8D-BFFBBC06F1C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6A0D6F2-601A-438E-AC4C-828C9FDFA3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677BC8B-ED53-45DD-BB52-9D9FE76799EF}"/>
              </a:ext>
            </a:extLst>
          </p:cNvPr>
          <p:cNvSpPr>
            <a:spLocks noGrp="1" noChangeArrowheads="1"/>
          </p:cNvSpPr>
          <p:nvPr>
            <p:ph type="sldNum" sz="quarter" idx="12"/>
          </p:nvPr>
        </p:nvSpPr>
        <p:spPr>
          <a:ln/>
        </p:spPr>
        <p:txBody>
          <a:bodyPr/>
          <a:lstStyle>
            <a:lvl1pPr>
              <a:defRPr/>
            </a:lvl1pPr>
          </a:lstStyle>
          <a:p>
            <a:fld id="{8A83F877-B1F5-4CF8-BD38-6D399A520E0F}" type="slidenum">
              <a:rPr lang="en-US" altLang="en-US"/>
              <a:pPr/>
              <a:t>‹#›</a:t>
            </a:fld>
            <a:endParaRPr lang="en-US" altLang="en-US"/>
          </a:p>
        </p:txBody>
      </p:sp>
    </p:spTree>
    <p:extLst>
      <p:ext uri="{BB962C8B-B14F-4D97-AF65-F5344CB8AC3E}">
        <p14:creationId xmlns:p14="http://schemas.microsoft.com/office/powerpoint/2010/main" val="1786656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7BC8EB0-5312-46F2-B135-BC6AC2FE80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BC12285-6859-4ADB-B536-B78B4BED51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071102D-B752-4FEA-A332-3A1E713D7B64}"/>
              </a:ext>
            </a:extLst>
          </p:cNvPr>
          <p:cNvSpPr>
            <a:spLocks noGrp="1" noChangeArrowheads="1"/>
          </p:cNvSpPr>
          <p:nvPr>
            <p:ph type="sldNum" sz="quarter" idx="12"/>
          </p:nvPr>
        </p:nvSpPr>
        <p:spPr>
          <a:ln/>
        </p:spPr>
        <p:txBody>
          <a:bodyPr/>
          <a:lstStyle>
            <a:lvl1pPr>
              <a:defRPr/>
            </a:lvl1pPr>
          </a:lstStyle>
          <a:p>
            <a:fld id="{6658E31D-3376-44BA-8D47-6A7D26E57ACC}" type="slidenum">
              <a:rPr lang="en-US" altLang="en-US"/>
              <a:pPr/>
              <a:t>‹#›</a:t>
            </a:fld>
            <a:endParaRPr lang="en-US" altLang="en-US"/>
          </a:p>
        </p:txBody>
      </p:sp>
    </p:spTree>
    <p:extLst>
      <p:ext uri="{BB962C8B-B14F-4D97-AF65-F5344CB8AC3E}">
        <p14:creationId xmlns:p14="http://schemas.microsoft.com/office/powerpoint/2010/main" val="1490018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FE690E0-38D2-4069-98A0-5633B41005D7}"/>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98BB2A5-666A-405B-B782-8F316D1A6CAE}"/>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DD387271-77FE-409E-B357-92326D82A197}"/>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C87E3CD6-C4E9-4FAF-AD2F-98C6FCE118F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a:extLst>
              <a:ext uri="{FF2B5EF4-FFF2-40B4-BE49-F238E27FC236}">
                <a16:creationId xmlns:a16="http://schemas.microsoft.com/office/drawing/2014/main" id="{26C9C296-C25D-46EB-8AFF-7FA5C003EAF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6EEBECD-2820-444F-B303-DC3130AEAD0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hemeOverride" Target="../theme/themeOverride1.xml"/><Relationship Id="rId6" Type="http://schemas.openxmlformats.org/officeDocument/2006/relationships/image" Target="../media/image4.png"/><Relationship Id="rId5" Type="http://schemas.openxmlformats.org/officeDocument/2006/relationships/image" Target="../media/image2.jpe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image" Target="../media/image1.emf"/><Relationship Id="rId7"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chart" Target="../charts/chart10.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chart" Target="../charts/chart11.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chart" Target="../charts/chart1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chart" Target="../charts/chart13.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chart" Target="../charts/chart14.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chart" Target="../charts/chart15.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chart" Target="../charts/chart17.xml"/><Relationship Id="rId5" Type="http://schemas.openxmlformats.org/officeDocument/2006/relationships/chart" Target="../charts/chart16.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chart" Target="../charts/chart18.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1.emf"/><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8">
            <a:extLst>
              <a:ext uri="{FF2B5EF4-FFF2-40B4-BE49-F238E27FC236}">
                <a16:creationId xmlns:a16="http://schemas.microsoft.com/office/drawing/2014/main" id="{D09DD170-B3C4-48EA-A155-4186AFB8DE84}"/>
              </a:ext>
            </a:extLst>
          </p:cNvPr>
          <p:cNvSpPr txBox="1">
            <a:spLocks noChangeArrowheads="1"/>
          </p:cNvSpPr>
          <p:nvPr/>
        </p:nvSpPr>
        <p:spPr bwMode="auto">
          <a:xfrm>
            <a:off x="533400" y="3124200"/>
            <a:ext cx="7543799"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dirty="0">
                <a:latin typeface="Arial" panose="020B0604020202020204" pitchFamily="34" charset="0"/>
              </a:rPr>
              <a:t>John E. Jankowski</a:t>
            </a:r>
          </a:p>
          <a:p>
            <a:pPr algn="ctr" eaLnBrk="1" hangingPunct="1"/>
            <a:r>
              <a:rPr lang="en-US" altLang="en-US" dirty="0">
                <a:latin typeface="Arial" panose="020B0604020202020204" pitchFamily="34" charset="0"/>
              </a:rPr>
              <a:t>“A Global Perspective on R&amp;D Investments”</a:t>
            </a:r>
          </a:p>
          <a:p>
            <a:pPr algn="ctr" eaLnBrk="1" hangingPunct="1"/>
            <a:endParaRPr lang="en-US" altLang="en-US" dirty="0">
              <a:latin typeface="Arial" panose="020B0604020202020204" pitchFamily="34" charset="0"/>
            </a:endParaRPr>
          </a:p>
          <a:p>
            <a:pPr algn="ctr" eaLnBrk="1" hangingPunct="1"/>
            <a:r>
              <a:rPr lang="en-US" altLang="en-US" dirty="0">
                <a:latin typeface="Arial" panose="020B0604020202020204" pitchFamily="34" charset="0"/>
              </a:rPr>
              <a:t>AAAS Forum on Science and Technology Policy</a:t>
            </a:r>
          </a:p>
          <a:p>
            <a:pPr algn="ctr" eaLnBrk="1" hangingPunct="1"/>
            <a:endParaRPr lang="en-US" altLang="en-US" dirty="0">
              <a:latin typeface="Arial" panose="020B0604020202020204" pitchFamily="34" charset="0"/>
            </a:endParaRPr>
          </a:p>
          <a:p>
            <a:pPr algn="ctr" eaLnBrk="1" hangingPunct="1"/>
            <a:r>
              <a:rPr lang="en-US" altLang="en-US" sz="2000" dirty="0">
                <a:latin typeface="Arial" panose="020B0604020202020204" pitchFamily="34" charset="0"/>
              </a:rPr>
              <a:t>June 21, 2018</a:t>
            </a:r>
          </a:p>
          <a:p>
            <a:pPr algn="ctr" eaLnBrk="1" hangingPunct="1"/>
            <a:endParaRPr lang="en-US" altLang="en-US" dirty="0">
              <a:latin typeface="Arial" panose="020B0604020202020204" pitchFamily="34" charset="0"/>
            </a:endParaRPr>
          </a:p>
          <a:p>
            <a:pPr algn="ctr" eaLnBrk="1" hangingPunct="1"/>
            <a:r>
              <a:rPr lang="en-US" altLang="en-US" sz="1800" dirty="0">
                <a:latin typeface="Arial" panose="020B0604020202020204" pitchFamily="34" charset="0"/>
              </a:rPr>
              <a:t>National Science Foundation</a:t>
            </a:r>
          </a:p>
          <a:p>
            <a:pPr algn="ctr" eaLnBrk="1" hangingPunct="1"/>
            <a:r>
              <a:rPr lang="en-US" altLang="en-US" sz="1800" dirty="0">
                <a:latin typeface="Arial" panose="020B0604020202020204" pitchFamily="34" charset="0"/>
              </a:rPr>
              <a:t>National Center for Science and Engineering Statistics</a:t>
            </a:r>
          </a:p>
          <a:p>
            <a:pPr algn="ctr" eaLnBrk="1" hangingPunct="1"/>
            <a:r>
              <a:rPr lang="en-US" altLang="en-US" sz="1800" dirty="0">
                <a:latin typeface="Arial" panose="020B0604020202020204" pitchFamily="34" charset="0"/>
              </a:rPr>
              <a:t>www.nsf.gov/statistics/</a:t>
            </a:r>
          </a:p>
        </p:txBody>
      </p:sp>
      <p:sp>
        <p:nvSpPr>
          <p:cNvPr id="2050" name="Rectangle 3">
            <a:extLst>
              <a:ext uri="{FF2B5EF4-FFF2-40B4-BE49-F238E27FC236}">
                <a16:creationId xmlns:a16="http://schemas.microsoft.com/office/drawing/2014/main" id="{51C6D012-4EB5-467C-9CC4-9FE13264DA50}"/>
              </a:ext>
            </a:extLst>
          </p:cNvPr>
          <p:cNvSpPr>
            <a:spLocks noGrp="1" noChangeArrowheads="1"/>
          </p:cNvSpPr>
          <p:nvPr>
            <p:ph type="title"/>
          </p:nvPr>
        </p:nvSpPr>
        <p:spPr>
          <a:xfrm>
            <a:off x="295276" y="1295400"/>
            <a:ext cx="8534400" cy="1143000"/>
          </a:xfrm>
          <a:noFill/>
        </p:spPr>
        <p:txBody>
          <a:bodyPr/>
          <a:lstStyle/>
          <a:p>
            <a:pPr eaLnBrk="1" hangingPunct="1"/>
            <a:r>
              <a:rPr lang="en-US" sz="3200" b="1" dirty="0">
                <a:latin typeface="Arial" panose="020B0604020202020204" pitchFamily="34" charset="0"/>
                <a:cs typeface="Arial" panose="020B0604020202020204" pitchFamily="34" charset="0"/>
              </a:rPr>
              <a:t>U.S. R&amp;D Investments and Trends </a:t>
            </a:r>
            <a:br>
              <a:rPr lang="en-US" sz="3200" b="1" dirty="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within a Global Setting</a:t>
            </a:r>
            <a:endParaRPr lang="en-US" altLang="en-US" sz="3200" b="1" dirty="0">
              <a:latin typeface="Arial" panose="020B0604020202020204" pitchFamily="34" charset="0"/>
              <a:cs typeface="Arial" panose="020B0604020202020204" pitchFamily="34" charset="0"/>
            </a:endParaRPr>
          </a:p>
        </p:txBody>
      </p:sp>
      <p:sp>
        <p:nvSpPr>
          <p:cNvPr id="2051" name="Rectangle 5" title="divider">
            <a:extLst>
              <a:ext uri="{FF2B5EF4-FFF2-40B4-BE49-F238E27FC236}">
                <a16:creationId xmlns:a16="http://schemas.microsoft.com/office/drawing/2014/main" id="{43895AFD-636A-4AF4-BE19-FF17DAFD7B32}"/>
              </a:ext>
            </a:extLst>
          </p:cNvPr>
          <p:cNvSpPr>
            <a:spLocks noChangeArrowheads="1"/>
          </p:cNvSpPr>
          <p:nvPr/>
        </p:nvSpPr>
        <p:spPr bwMode="auto">
          <a:xfrm>
            <a:off x="0" y="685800"/>
            <a:ext cx="9144000" cy="3048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2054" name="Picture 10" descr="National Center for Science and Engineering Statistics logo">
            <a:extLst>
              <a:ext uri="{FF2B5EF4-FFF2-40B4-BE49-F238E27FC236}">
                <a16:creationId xmlns:a16="http://schemas.microsoft.com/office/drawing/2014/main" id="{E48E4EC4-11C0-4246-9598-3E60E5C19D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8" descr="nsf2">
            <a:extLst>
              <a:ext uri="{FF2B5EF4-FFF2-40B4-BE49-F238E27FC236}">
                <a16:creationId xmlns:a16="http://schemas.microsoft.com/office/drawing/2014/main" id="{807698C5-7370-496D-BD22-B71A01C41E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F9B2CBA-B986-45EE-A352-4DCA250BB234}"/>
              </a:ext>
            </a:extLst>
          </p:cNvPr>
          <p:cNvSpPr>
            <a:spLocks noGrp="1"/>
          </p:cNvSpPr>
          <p:nvPr>
            <p:ph type="sldNum" sz="quarter" idx="12"/>
          </p:nvPr>
        </p:nvSpPr>
        <p:spPr/>
        <p:txBody>
          <a:bodyPr/>
          <a:lstStyle/>
          <a:p>
            <a:fld id="{1B835D90-6387-4175-8905-3408BA5A358B}" type="slidenum">
              <a:rPr lang="en-US" altLang="en-US" smtClean="0"/>
              <a:pPr/>
              <a:t>0</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p:cNvSpPr>
            <a:spLocks noGrp="1" noChangeArrowheads="1"/>
          </p:cNvSpPr>
          <p:nvPr>
            <p:ph type="title"/>
          </p:nvPr>
        </p:nvSpPr>
        <p:spPr>
          <a:xfrm>
            <a:off x="381000" y="685800"/>
            <a:ext cx="7772400" cy="762000"/>
          </a:xfrm>
          <a:noFill/>
        </p:spPr>
        <p:txBody>
          <a:bodyPr>
            <a:normAutofit fontScale="90000"/>
          </a:bodyPr>
          <a:lstStyle/>
          <a:p>
            <a:pPr algn="l"/>
            <a:br>
              <a:rPr lang="en-US" sz="3600" b="1" dirty="0">
                <a:latin typeface="Arial" charset="0"/>
              </a:rPr>
            </a:br>
            <a:endParaRPr lang="en-US" sz="3600" b="1" dirty="0">
              <a:latin typeface="Arial" charset="0"/>
            </a:endParaRPr>
          </a:p>
        </p:txBody>
      </p:sp>
      <p:sp>
        <p:nvSpPr>
          <p:cNvPr id="9" name="Slide Number Placeholder 1"/>
          <p:cNvSpPr>
            <a:spLocks noGrp="1"/>
          </p:cNvSpPr>
          <p:nvPr>
            <p:ph type="sldNum" sz="quarter" idx="12"/>
          </p:nvPr>
        </p:nvSpPr>
        <p:spPr>
          <a:xfrm>
            <a:off x="6953251" y="6382508"/>
            <a:ext cx="2133600" cy="365125"/>
          </a:xfrm>
        </p:spPr>
        <p:txBody>
          <a:bodyPr/>
          <a:lstStyle/>
          <a:p>
            <a:fld id="{F6B8350E-DAEA-4E47-AAB9-1258AB6A15D1}" type="slidenum">
              <a:rPr lang="en-US" smtClean="0">
                <a:solidFill>
                  <a:prstClr val="black">
                    <a:tint val="75000"/>
                  </a:prstClr>
                </a:solidFill>
              </a:rPr>
              <a:pPr/>
              <a:t>1</a:t>
            </a:fld>
            <a:endParaRPr lang="en-US" dirty="0">
              <a:solidFill>
                <a:prstClr val="black">
                  <a:tint val="75000"/>
                </a:prstClr>
              </a:solidFill>
            </a:endParaRPr>
          </a:p>
        </p:txBody>
      </p:sp>
      <p:sp>
        <p:nvSpPr>
          <p:cNvPr id="147460" name="Rectangle 1028"/>
          <p:cNvSpPr>
            <a:spLocks noChangeArrowheads="1"/>
          </p:cNvSpPr>
          <p:nvPr/>
        </p:nvSpPr>
        <p:spPr bwMode="auto">
          <a:xfrm>
            <a:off x="0" y="685800"/>
            <a:ext cx="9144000" cy="76200"/>
          </a:xfrm>
          <a:prstGeom prst="rect">
            <a:avLst/>
          </a:prstGeom>
          <a:gradFill rotWithShape="0">
            <a:gsLst>
              <a:gs pos="0">
                <a:srgbClr val="000099">
                  <a:gamma/>
                  <a:shade val="20000"/>
                  <a:invGamma/>
                </a:srgbClr>
              </a:gs>
              <a:gs pos="100000">
                <a:srgbClr val="000099"/>
              </a:gs>
            </a:gsLst>
            <a:lin ang="0" scaled="1"/>
          </a:gradFill>
          <a:ln w="3175">
            <a:solidFill>
              <a:schemeClr val="tx1"/>
            </a:solidFill>
            <a:miter lim="800000"/>
            <a:headEnd/>
            <a:tailEnd/>
          </a:ln>
          <a:effectLst/>
        </p:spPr>
        <p:txBody>
          <a:bodyPr wrap="none" anchor="ctr"/>
          <a:lstStyle/>
          <a:p>
            <a:pPr fontAlgn="auto">
              <a:spcBef>
                <a:spcPts val="0"/>
              </a:spcBef>
              <a:spcAft>
                <a:spcPts val="0"/>
              </a:spcAft>
            </a:pPr>
            <a:endParaRPr lang="en-US" sz="1800" dirty="0">
              <a:solidFill>
                <a:prstClr val="black"/>
              </a:solidFill>
              <a:latin typeface="Calibri" panose="020F0502020204030204"/>
            </a:endParaRPr>
          </a:p>
        </p:txBody>
      </p:sp>
      <p:sp>
        <p:nvSpPr>
          <p:cNvPr id="147464" name="Rectangle 1032"/>
          <p:cNvSpPr>
            <a:spLocks noChangeArrowheads="1"/>
          </p:cNvSpPr>
          <p:nvPr/>
        </p:nvSpPr>
        <p:spPr bwMode="auto">
          <a:xfrm>
            <a:off x="228600" y="869718"/>
            <a:ext cx="8915400" cy="533400"/>
          </a:xfrm>
          <a:prstGeom prst="rect">
            <a:avLst/>
          </a:prstGeom>
          <a:noFill/>
          <a:ln w="9525">
            <a:noFill/>
            <a:miter lim="800000"/>
            <a:headEnd/>
            <a:tailEnd/>
          </a:ln>
          <a:effectLst/>
        </p:spPr>
        <p:txBody>
          <a:bodyPr anchor="ctr"/>
          <a:lstStyle/>
          <a:p>
            <a:pPr fontAlgn="auto">
              <a:spcBef>
                <a:spcPts val="0"/>
              </a:spcBef>
              <a:spcAft>
                <a:spcPts val="0"/>
              </a:spcAft>
            </a:pPr>
            <a:r>
              <a:rPr lang="en-US" sz="3200" b="1" dirty="0">
                <a:solidFill>
                  <a:schemeClr val="tx2"/>
                </a:solidFill>
                <a:latin typeface="Arial" panose="020B0604020202020204" pitchFamily="34" charset="0"/>
                <a:ea typeface="+mj-ea"/>
                <a:cs typeface="+mj-cs"/>
              </a:rPr>
              <a:t>Organizational Placement of NCSES</a:t>
            </a:r>
          </a:p>
        </p:txBody>
      </p:sp>
      <p:pic>
        <p:nvPicPr>
          <p:cNvPr id="10" name="Picture 8" descr="nsf2"/>
          <p:cNvPicPr>
            <a:picLocks noChangeAspect="1" noChangeArrowheads="1"/>
          </p:cNvPicPr>
          <p:nvPr/>
        </p:nvPicPr>
        <p:blipFill>
          <a:blip r:embed="rId3" cstate="print"/>
          <a:srcRect/>
          <a:stretch>
            <a:fillRect/>
          </a:stretch>
        </p:blipFill>
        <p:spPr bwMode="auto">
          <a:xfrm>
            <a:off x="76200" y="79378"/>
            <a:ext cx="533400" cy="530225"/>
          </a:xfrm>
          <a:prstGeom prst="rect">
            <a:avLst/>
          </a:prstGeom>
          <a:noFill/>
          <a:ln w="9525">
            <a:noFill/>
            <a:miter lim="800000"/>
            <a:headEnd/>
            <a:tailEnd/>
          </a:ln>
        </p:spPr>
      </p:pic>
      <p:pic>
        <p:nvPicPr>
          <p:cNvPr id="13" name="Picture 8" descr="M:\Pubs\Pubs\IB redesign\logo files\NCSES-logos_png-jpg\NCSES_logo_oneline.jpg"/>
          <p:cNvPicPr>
            <a:picLocks noChangeAspect="1" noChangeArrowheads="1"/>
          </p:cNvPicPr>
          <p:nvPr/>
        </p:nvPicPr>
        <p:blipFill>
          <a:blip r:embed="rId4" cstate="print"/>
          <a:srcRect/>
          <a:stretch>
            <a:fillRect/>
          </a:stretch>
        </p:blipFill>
        <p:spPr bwMode="auto">
          <a:xfrm>
            <a:off x="5124451" y="161928"/>
            <a:ext cx="4019551" cy="371475"/>
          </a:xfrm>
          <a:prstGeom prst="rect">
            <a:avLst/>
          </a:prstGeom>
          <a:noFill/>
          <a:ln w="9525">
            <a:noFill/>
            <a:miter lim="800000"/>
            <a:headEnd/>
            <a:tailEnd/>
          </a:ln>
        </p:spPr>
      </p:pic>
      <p:graphicFrame>
        <p:nvGraphicFramePr>
          <p:cNvPr id="11" name="Diagram 10"/>
          <p:cNvGraphicFramePr/>
          <p:nvPr>
            <p:extLst/>
          </p:nvPr>
        </p:nvGraphicFramePr>
        <p:xfrm>
          <a:off x="609600" y="1600197"/>
          <a:ext cx="8001000" cy="40724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Rectangle 1">
            <a:extLst>
              <a:ext uri="{FF2B5EF4-FFF2-40B4-BE49-F238E27FC236}">
                <a16:creationId xmlns:a16="http://schemas.microsoft.com/office/drawing/2014/main" id="{CB8127D7-44A1-4F64-B865-9B894EF06F59}"/>
              </a:ext>
            </a:extLst>
          </p:cNvPr>
          <p:cNvSpPr/>
          <p:nvPr/>
        </p:nvSpPr>
        <p:spPr>
          <a:xfrm>
            <a:off x="557894" y="5531787"/>
            <a:ext cx="8052706" cy="1126462"/>
          </a:xfrm>
          <a:prstGeom prst="rect">
            <a:avLst/>
          </a:prstGeom>
        </p:spPr>
        <p:txBody>
          <a:bodyPr wrap="square">
            <a:spAutoFit/>
          </a:bodyPr>
          <a:lstStyle/>
          <a:p>
            <a:pPr eaLnBrk="0" hangingPunct="0">
              <a:lnSpc>
                <a:spcPct val="120000"/>
              </a:lnSpc>
              <a:spcBef>
                <a:spcPct val="20000"/>
              </a:spcBef>
              <a:defRPr/>
            </a:pPr>
            <a:r>
              <a:rPr lang="en-US" sz="1400" kern="0" dirty="0">
                <a:latin typeface="Arial" pitchFamily="34" charset="0"/>
                <a:cs typeface="Arial" pitchFamily="34" charset="0"/>
              </a:rPr>
              <a:t>As per the </a:t>
            </a:r>
            <a:r>
              <a:rPr lang="en-US" sz="1400" b="1" kern="0" dirty="0">
                <a:latin typeface="Arial" pitchFamily="34" charset="0"/>
                <a:cs typeface="Arial" pitchFamily="34" charset="0"/>
              </a:rPr>
              <a:t>2010 America COMPETES Act</a:t>
            </a:r>
            <a:r>
              <a:rPr lang="en-US" sz="1400" kern="0" dirty="0">
                <a:latin typeface="Arial" pitchFamily="34" charset="0"/>
                <a:cs typeface="Arial" pitchFamily="34" charset="0"/>
              </a:rPr>
              <a:t> and the </a:t>
            </a:r>
            <a:r>
              <a:rPr lang="en-US" sz="1400" b="1" kern="0" dirty="0">
                <a:latin typeface="Arial" pitchFamily="34" charset="0"/>
                <a:cs typeface="Arial" pitchFamily="34" charset="0"/>
              </a:rPr>
              <a:t>1950 NSF Authorization Legislation</a:t>
            </a:r>
            <a:r>
              <a:rPr lang="en-US" sz="1400" kern="0" dirty="0">
                <a:latin typeface="Arial" pitchFamily="34" charset="0"/>
                <a:cs typeface="Arial" pitchFamily="34" charset="0"/>
              </a:rPr>
              <a:t>, NCSES (one of the 13 principal statistical agencies) is the Federal Government’s central clearinghouse for the collection, interpretation, analysis, and dissemination of objective data on science, engineering, technology (SET), and research and development (R&amp;D).</a:t>
            </a:r>
          </a:p>
        </p:txBody>
      </p:sp>
    </p:spTree>
    <p:extLst>
      <p:ext uri="{BB962C8B-B14F-4D97-AF65-F5344CB8AC3E}">
        <p14:creationId xmlns:p14="http://schemas.microsoft.com/office/powerpoint/2010/main" val="1221948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p:cNvSpPr>
            <a:spLocks noGrp="1" noChangeArrowheads="1"/>
          </p:cNvSpPr>
          <p:nvPr>
            <p:ph type="title"/>
          </p:nvPr>
        </p:nvSpPr>
        <p:spPr>
          <a:xfrm>
            <a:off x="381000" y="685800"/>
            <a:ext cx="7772400" cy="762000"/>
          </a:xfrm>
          <a:noFill/>
        </p:spPr>
        <p:txBody>
          <a:bodyPr>
            <a:normAutofit fontScale="90000"/>
          </a:bodyPr>
          <a:lstStyle/>
          <a:p>
            <a:pPr algn="l"/>
            <a:br>
              <a:rPr lang="en-US" sz="3600" b="1" dirty="0">
                <a:latin typeface="Arial" charset="0"/>
              </a:rPr>
            </a:br>
            <a:endParaRPr lang="en-US" sz="3600" b="1" dirty="0">
              <a:latin typeface="Arial" charset="0"/>
            </a:endParaRPr>
          </a:p>
        </p:txBody>
      </p:sp>
      <p:sp>
        <p:nvSpPr>
          <p:cNvPr id="9" name="Slide Number Placeholder 1"/>
          <p:cNvSpPr>
            <a:spLocks noGrp="1"/>
          </p:cNvSpPr>
          <p:nvPr>
            <p:ph type="sldNum" sz="quarter" idx="12"/>
          </p:nvPr>
        </p:nvSpPr>
        <p:spPr>
          <a:xfrm>
            <a:off x="6953251" y="6382508"/>
            <a:ext cx="2133600" cy="365125"/>
          </a:xfrm>
        </p:spPr>
        <p:txBody>
          <a:bodyPr/>
          <a:lstStyle/>
          <a:p>
            <a:fld id="{F6B8350E-DAEA-4E47-AAB9-1258AB6A15D1}" type="slidenum">
              <a:rPr lang="en-US" smtClean="0">
                <a:solidFill>
                  <a:prstClr val="black">
                    <a:tint val="75000"/>
                  </a:prstClr>
                </a:solidFill>
              </a:rPr>
              <a:pPr/>
              <a:t>2</a:t>
            </a:fld>
            <a:endParaRPr lang="en-US" dirty="0">
              <a:solidFill>
                <a:prstClr val="black">
                  <a:tint val="75000"/>
                </a:prstClr>
              </a:solidFill>
            </a:endParaRPr>
          </a:p>
        </p:txBody>
      </p:sp>
      <p:sp>
        <p:nvSpPr>
          <p:cNvPr id="147460" name="Rectangle 1028"/>
          <p:cNvSpPr>
            <a:spLocks noChangeArrowheads="1"/>
          </p:cNvSpPr>
          <p:nvPr/>
        </p:nvSpPr>
        <p:spPr bwMode="auto">
          <a:xfrm>
            <a:off x="0" y="685800"/>
            <a:ext cx="9144000" cy="76200"/>
          </a:xfrm>
          <a:prstGeom prst="rect">
            <a:avLst/>
          </a:prstGeom>
          <a:gradFill rotWithShape="0">
            <a:gsLst>
              <a:gs pos="0">
                <a:srgbClr val="000099">
                  <a:gamma/>
                  <a:shade val="20000"/>
                  <a:invGamma/>
                </a:srgbClr>
              </a:gs>
              <a:gs pos="100000">
                <a:srgbClr val="000099"/>
              </a:gs>
            </a:gsLst>
            <a:lin ang="0" scaled="1"/>
          </a:gradFill>
          <a:ln w="3175">
            <a:solidFill>
              <a:schemeClr val="tx1"/>
            </a:solidFill>
            <a:miter lim="800000"/>
            <a:headEnd/>
            <a:tailEnd/>
          </a:ln>
          <a:effectLst/>
        </p:spPr>
        <p:txBody>
          <a:bodyPr wrap="none" anchor="ctr"/>
          <a:lstStyle/>
          <a:p>
            <a:pPr fontAlgn="auto">
              <a:spcBef>
                <a:spcPts val="0"/>
              </a:spcBef>
              <a:spcAft>
                <a:spcPts val="0"/>
              </a:spcAft>
            </a:pPr>
            <a:endParaRPr lang="en-US" sz="1800" dirty="0">
              <a:solidFill>
                <a:prstClr val="black"/>
              </a:solidFill>
              <a:latin typeface="Calibri" panose="020F0502020204030204"/>
            </a:endParaRPr>
          </a:p>
        </p:txBody>
      </p:sp>
      <p:sp>
        <p:nvSpPr>
          <p:cNvPr id="147464" name="Rectangle 1032"/>
          <p:cNvSpPr>
            <a:spLocks noChangeArrowheads="1"/>
          </p:cNvSpPr>
          <p:nvPr/>
        </p:nvSpPr>
        <p:spPr bwMode="auto">
          <a:xfrm>
            <a:off x="228600" y="869718"/>
            <a:ext cx="8915400" cy="533400"/>
          </a:xfrm>
          <a:prstGeom prst="rect">
            <a:avLst/>
          </a:prstGeom>
          <a:noFill/>
          <a:ln w="9525">
            <a:noFill/>
            <a:miter lim="800000"/>
            <a:headEnd/>
            <a:tailEnd/>
          </a:ln>
          <a:effectLst/>
        </p:spPr>
        <p:txBody>
          <a:bodyPr anchor="ctr"/>
          <a:lstStyle/>
          <a:p>
            <a:pPr algn="ctr" fontAlgn="auto">
              <a:spcBef>
                <a:spcPts val="0"/>
              </a:spcBef>
              <a:spcAft>
                <a:spcPts val="0"/>
              </a:spcAft>
            </a:pPr>
            <a:r>
              <a:rPr lang="en-US" sz="3200" b="1" dirty="0">
                <a:solidFill>
                  <a:schemeClr val="tx2"/>
                </a:solidFill>
                <a:latin typeface="Arial" panose="020B0604020202020204" pitchFamily="34" charset="0"/>
                <a:ea typeface="+mj-ea"/>
                <a:cs typeface="+mj-cs"/>
              </a:rPr>
              <a:t>General Structure of Presentation</a:t>
            </a:r>
          </a:p>
        </p:txBody>
      </p:sp>
      <p:pic>
        <p:nvPicPr>
          <p:cNvPr id="10" name="Picture 8" descr="nsf2"/>
          <p:cNvPicPr>
            <a:picLocks noChangeAspect="1" noChangeArrowheads="1"/>
          </p:cNvPicPr>
          <p:nvPr/>
        </p:nvPicPr>
        <p:blipFill>
          <a:blip r:embed="rId3" cstate="print"/>
          <a:srcRect/>
          <a:stretch>
            <a:fillRect/>
          </a:stretch>
        </p:blipFill>
        <p:spPr bwMode="auto">
          <a:xfrm>
            <a:off x="76200" y="79378"/>
            <a:ext cx="533400" cy="530225"/>
          </a:xfrm>
          <a:prstGeom prst="rect">
            <a:avLst/>
          </a:prstGeom>
          <a:noFill/>
          <a:ln w="9525">
            <a:noFill/>
            <a:miter lim="800000"/>
            <a:headEnd/>
            <a:tailEnd/>
          </a:ln>
        </p:spPr>
      </p:pic>
      <p:pic>
        <p:nvPicPr>
          <p:cNvPr id="13" name="Picture 8" descr="M:\Pubs\Pubs\IB redesign\logo files\NCSES-logos_png-jpg\NCSES_logo_oneline.jpg"/>
          <p:cNvPicPr>
            <a:picLocks noChangeAspect="1" noChangeArrowheads="1"/>
          </p:cNvPicPr>
          <p:nvPr/>
        </p:nvPicPr>
        <p:blipFill>
          <a:blip r:embed="rId4" cstate="print"/>
          <a:srcRect/>
          <a:stretch>
            <a:fillRect/>
          </a:stretch>
        </p:blipFill>
        <p:spPr bwMode="auto">
          <a:xfrm>
            <a:off x="5124451" y="161928"/>
            <a:ext cx="4019551" cy="371475"/>
          </a:xfrm>
          <a:prstGeom prst="rect">
            <a:avLst/>
          </a:prstGeom>
          <a:noFill/>
          <a:ln w="9525">
            <a:noFill/>
            <a:miter lim="800000"/>
            <a:headEnd/>
            <a:tailEnd/>
          </a:ln>
        </p:spPr>
      </p:pic>
      <p:sp>
        <p:nvSpPr>
          <p:cNvPr id="12" name="Content Placeholder 2">
            <a:extLst>
              <a:ext uri="{FF2B5EF4-FFF2-40B4-BE49-F238E27FC236}">
                <a16:creationId xmlns:a16="http://schemas.microsoft.com/office/drawing/2014/main" id="{AC36D890-E90E-4DCA-8872-6949D498AAFE}"/>
              </a:ext>
            </a:extLst>
          </p:cNvPr>
          <p:cNvSpPr txBox="1">
            <a:spLocks/>
          </p:cNvSpPr>
          <p:nvPr/>
        </p:nvSpPr>
        <p:spPr>
          <a:xfrm>
            <a:off x="609601" y="1771162"/>
            <a:ext cx="7772400" cy="4378386"/>
          </a:xfrm>
          <a:prstGeom prst="rect">
            <a:avLst/>
          </a:prstGeom>
        </p:spPr>
        <p:txBody>
          <a:bodyPr>
            <a:normAutofit fontScale="85000" lnSpcReduction="1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120000"/>
              </a:lnSpc>
              <a:defRPr/>
            </a:pPr>
            <a:r>
              <a:rPr lang="en-US" sz="2200" kern="0" dirty="0">
                <a:latin typeface="Arial" pitchFamily="34" charset="0"/>
                <a:cs typeface="Arial" pitchFamily="34" charset="0"/>
              </a:rPr>
              <a:t>R&amp;D Definitions and sources of performer-reported totals</a:t>
            </a:r>
          </a:p>
          <a:p>
            <a:pPr>
              <a:lnSpc>
                <a:spcPct val="120000"/>
              </a:lnSpc>
              <a:defRPr/>
            </a:pPr>
            <a:r>
              <a:rPr lang="en-US" sz="2200" kern="0" dirty="0">
                <a:latin typeface="Arial" pitchFamily="34" charset="0"/>
                <a:cs typeface="Arial" pitchFamily="34" charset="0"/>
              </a:rPr>
              <a:t>The U.S. R&amp;D investment in 2016</a:t>
            </a:r>
          </a:p>
          <a:p>
            <a:pPr>
              <a:lnSpc>
                <a:spcPct val="120000"/>
              </a:lnSpc>
              <a:defRPr/>
            </a:pPr>
            <a:r>
              <a:rPr lang="en-US" sz="2200" kern="0" dirty="0">
                <a:latin typeface="Arial" pitchFamily="34" charset="0"/>
                <a:cs typeface="Arial" pitchFamily="34" charset="0"/>
              </a:rPr>
              <a:t>Recent sector trends in U.S. R&amp;D performance and funding, pre- and post the Great Recession </a:t>
            </a:r>
          </a:p>
          <a:p>
            <a:pPr lvl="1">
              <a:lnSpc>
                <a:spcPct val="120000"/>
              </a:lnSpc>
              <a:defRPr/>
            </a:pPr>
            <a:r>
              <a:rPr lang="en-US" sz="1800" kern="0" dirty="0">
                <a:latin typeface="Arial" pitchFamily="34" charset="0"/>
                <a:cs typeface="Arial" pitchFamily="34" charset="0"/>
              </a:rPr>
              <a:t>Federal R&amp;D performance</a:t>
            </a:r>
          </a:p>
          <a:p>
            <a:pPr lvl="1">
              <a:lnSpc>
                <a:spcPct val="120000"/>
              </a:lnSpc>
              <a:defRPr/>
            </a:pPr>
            <a:r>
              <a:rPr lang="en-US" sz="1800" kern="0" dirty="0">
                <a:latin typeface="Arial" pitchFamily="34" charset="0"/>
                <a:cs typeface="Arial" pitchFamily="34" charset="0"/>
              </a:rPr>
              <a:t>Higher education R&amp;D performance, sources and fields</a:t>
            </a:r>
          </a:p>
          <a:p>
            <a:pPr lvl="1">
              <a:lnSpc>
                <a:spcPct val="120000"/>
              </a:lnSpc>
              <a:defRPr/>
            </a:pPr>
            <a:r>
              <a:rPr lang="en-US" sz="1800" kern="0" dirty="0">
                <a:latin typeface="Arial" pitchFamily="34" charset="0"/>
                <a:cs typeface="Arial" pitchFamily="34" charset="0"/>
              </a:rPr>
              <a:t>Business R&amp;D performance, industries and sources of funds, including worldwide R&amp;D investments</a:t>
            </a:r>
          </a:p>
          <a:p>
            <a:pPr>
              <a:lnSpc>
                <a:spcPct val="120000"/>
              </a:lnSpc>
              <a:defRPr/>
            </a:pPr>
            <a:r>
              <a:rPr lang="en-US" sz="2200" kern="0" dirty="0">
                <a:latin typeface="Arial" pitchFamily="34" charset="0"/>
                <a:cs typeface="Arial" pitchFamily="34" charset="0"/>
              </a:rPr>
              <a:t>Recent trends in global R&amp;D expenditures (U.S., China, Japan…)</a:t>
            </a:r>
          </a:p>
          <a:p>
            <a:pPr lvl="1">
              <a:lnSpc>
                <a:spcPct val="120000"/>
              </a:lnSpc>
              <a:defRPr/>
            </a:pPr>
            <a:r>
              <a:rPr lang="en-US" sz="1800" kern="0" dirty="0">
                <a:latin typeface="Arial" pitchFamily="34" charset="0"/>
                <a:cs typeface="Arial" pitchFamily="34" charset="0"/>
              </a:rPr>
              <a:t>Total R&amp;D expenditures</a:t>
            </a:r>
          </a:p>
          <a:p>
            <a:pPr lvl="1">
              <a:lnSpc>
                <a:spcPct val="120000"/>
              </a:lnSpc>
              <a:defRPr/>
            </a:pPr>
            <a:r>
              <a:rPr lang="en-US" sz="1800" kern="0" dirty="0">
                <a:latin typeface="Arial" pitchFamily="34" charset="0"/>
                <a:cs typeface="Arial" pitchFamily="34" charset="0"/>
              </a:rPr>
              <a:t>R&amp;D-to-GDP intensities</a:t>
            </a:r>
          </a:p>
          <a:p>
            <a:pPr lvl="1">
              <a:lnSpc>
                <a:spcPct val="120000"/>
              </a:lnSpc>
              <a:defRPr/>
            </a:pPr>
            <a:r>
              <a:rPr lang="en-US" sz="1800" kern="0" dirty="0">
                <a:latin typeface="Arial" pitchFamily="34" charset="0"/>
                <a:cs typeface="Arial" pitchFamily="34" charset="0"/>
              </a:rPr>
              <a:t>Performing sectors and sources of R&amp;D funding</a:t>
            </a:r>
          </a:p>
          <a:p>
            <a:pPr lvl="1">
              <a:lnSpc>
                <a:spcPct val="120000"/>
              </a:lnSpc>
              <a:defRPr/>
            </a:pPr>
            <a:r>
              <a:rPr lang="en-US" sz="1800" kern="0" dirty="0">
                <a:latin typeface="Arial" pitchFamily="34" charset="0"/>
                <a:cs typeface="Arial" pitchFamily="34" charset="0"/>
              </a:rPr>
              <a:t>Business sector performance</a:t>
            </a:r>
          </a:p>
          <a:p>
            <a:pPr lvl="1">
              <a:lnSpc>
                <a:spcPct val="120000"/>
              </a:lnSpc>
              <a:defRPr/>
            </a:pPr>
            <a:endParaRPr lang="en-US" sz="1800" kern="0" dirty="0">
              <a:latin typeface="Arial" pitchFamily="34" charset="0"/>
              <a:cs typeface="Arial" pitchFamily="34" charset="0"/>
            </a:endParaRPr>
          </a:p>
          <a:p>
            <a:pPr lvl="1">
              <a:lnSpc>
                <a:spcPct val="120000"/>
              </a:lnSpc>
              <a:defRPr/>
            </a:pPr>
            <a:endParaRPr lang="en-US" sz="1800" kern="0" dirty="0">
              <a:latin typeface="Arial" pitchFamily="34" charset="0"/>
              <a:cs typeface="Arial" pitchFamily="34" charset="0"/>
            </a:endParaRPr>
          </a:p>
          <a:p>
            <a:pPr marL="0" indent="0">
              <a:buFontTx/>
              <a:buNone/>
              <a:defRPr/>
            </a:pPr>
            <a:endParaRPr lang="en-US" sz="2400" kern="0" dirty="0">
              <a:latin typeface="Arial" pitchFamily="34" charset="0"/>
              <a:cs typeface="Arial" pitchFamily="34" charset="0"/>
            </a:endParaRPr>
          </a:p>
        </p:txBody>
      </p:sp>
    </p:spTree>
    <p:extLst>
      <p:ext uri="{BB962C8B-B14F-4D97-AF65-F5344CB8AC3E}">
        <p14:creationId xmlns:p14="http://schemas.microsoft.com/office/powerpoint/2010/main" val="4237194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838200"/>
            <a:ext cx="8229600" cy="1143000"/>
          </a:xfrm>
        </p:spPr>
        <p:txBody>
          <a:bodyPr/>
          <a:lstStyle/>
          <a:p>
            <a:pPr eaLnBrk="1" hangingPunct="1"/>
            <a:r>
              <a:rPr lang="en-US" altLang="en-US" sz="3200" b="1" dirty="0">
                <a:latin typeface="Arial" panose="020B0604020202020204" pitchFamily="34" charset="0"/>
              </a:rPr>
              <a:t>[Statistical] Definition of Research and Experimental Development</a:t>
            </a:r>
          </a:p>
        </p:txBody>
      </p:sp>
      <p:sp>
        <p:nvSpPr>
          <p:cNvPr id="4" name="Slide Number Placeholder 3">
            <a:extLst>
              <a:ext uri="{FF2B5EF4-FFF2-40B4-BE49-F238E27FC236}">
                <a16:creationId xmlns:a16="http://schemas.microsoft.com/office/drawing/2014/main" id="{787C6A86-FFD6-4DDA-8F47-2B435D5BBF01}"/>
              </a:ext>
            </a:extLst>
          </p:cNvPr>
          <p:cNvSpPr>
            <a:spLocks noGrp="1"/>
          </p:cNvSpPr>
          <p:nvPr>
            <p:ph type="sldNum" sz="quarter" idx="12"/>
          </p:nvPr>
        </p:nvSpPr>
        <p:spPr/>
        <p:txBody>
          <a:bodyPr/>
          <a:lstStyle/>
          <a:p>
            <a:fld id="{1B835D90-6387-4175-8905-3408BA5A358B}" type="slidenum">
              <a:rPr lang="en-US" altLang="en-US" smtClean="0"/>
              <a:pPr/>
              <a:t>3</a:t>
            </a:fld>
            <a:endParaRPr lang="en-US" altLang="en-US"/>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CDC0420E-16C7-4B50-BA2B-E6EBBAC82175}"/>
              </a:ext>
            </a:extLst>
          </p:cNvPr>
          <p:cNvPicPr>
            <a:picLocks noChangeAspect="1"/>
          </p:cNvPicPr>
          <p:nvPr/>
        </p:nvPicPr>
        <p:blipFill rotWithShape="1">
          <a:blip r:embed="rId6"/>
          <a:srcRect l="4376" t="1425"/>
          <a:stretch/>
        </p:blipFill>
        <p:spPr>
          <a:xfrm>
            <a:off x="228600" y="2057400"/>
            <a:ext cx="2997642" cy="4281487"/>
          </a:xfrm>
          <a:prstGeom prst="rect">
            <a:avLst/>
          </a:prstGeom>
        </p:spPr>
      </p:pic>
      <p:sp>
        <p:nvSpPr>
          <p:cNvPr id="3" name="Rectangle 2">
            <a:extLst>
              <a:ext uri="{FF2B5EF4-FFF2-40B4-BE49-F238E27FC236}">
                <a16:creationId xmlns:a16="http://schemas.microsoft.com/office/drawing/2014/main" id="{097BA100-C5D8-48EF-B60B-E3FE33BAB99E}"/>
              </a:ext>
            </a:extLst>
          </p:cNvPr>
          <p:cNvSpPr/>
          <p:nvPr/>
        </p:nvSpPr>
        <p:spPr>
          <a:xfrm>
            <a:off x="3429000" y="2583537"/>
            <a:ext cx="5562600" cy="3323987"/>
          </a:xfrm>
          <a:prstGeom prst="rect">
            <a:avLst/>
          </a:prstGeom>
        </p:spPr>
        <p:txBody>
          <a:bodyPr wrap="square">
            <a:spAutoFit/>
          </a:bodyPr>
          <a:lstStyle/>
          <a:p>
            <a:pPr>
              <a:buFontTx/>
              <a:buChar char="•"/>
            </a:pPr>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Research and experimental development </a:t>
            </a:r>
            <a:r>
              <a:rPr lang="en-US" sz="1800" dirty="0">
                <a:latin typeface="Arial" panose="020B0604020202020204" pitchFamily="34" charset="0"/>
                <a:cs typeface="Arial" panose="020B0604020202020204" pitchFamily="34" charset="0"/>
              </a:rPr>
              <a:t>(R&amp;D) comprise creative and systematic work undertaken in order to increase the stock of knowledge – including knowledge of humankind, culture and society – and to devise new applications of available knowledge.</a:t>
            </a:r>
          </a:p>
          <a:p>
            <a:pPr marL="742950" lvl="1" indent="-285750" fontAlgn="auto">
              <a:spcBef>
                <a:spcPts val="0"/>
              </a:spcBef>
              <a:spcAft>
                <a:spcPts val="0"/>
              </a:spcAft>
              <a:buFont typeface="Arial" panose="020B0604020202020204" pitchFamily="34" charset="0"/>
              <a:buChar char="•"/>
            </a:pPr>
            <a:r>
              <a:rPr lang="en-US" sz="1800" dirty="0">
                <a:latin typeface="Arial" panose="020B0604020202020204" pitchFamily="34" charset="0"/>
                <a:cs typeface="Arial" panose="020B0604020202020204" pitchFamily="34" charset="0"/>
              </a:rPr>
              <a:t>Novel </a:t>
            </a:r>
          </a:p>
          <a:p>
            <a:pPr marL="742950" lvl="1" indent="-285750" fontAlgn="auto">
              <a:spcBef>
                <a:spcPts val="0"/>
              </a:spcBef>
              <a:spcAft>
                <a:spcPts val="0"/>
              </a:spcAft>
              <a:buFont typeface="Arial" panose="020B0604020202020204" pitchFamily="34" charset="0"/>
              <a:buChar char="•"/>
            </a:pPr>
            <a:r>
              <a:rPr lang="en-US" sz="1800" dirty="0">
                <a:latin typeface="Arial" panose="020B0604020202020204" pitchFamily="34" charset="0"/>
                <a:cs typeface="Arial" panose="020B0604020202020204" pitchFamily="34" charset="0"/>
              </a:rPr>
              <a:t>Creative</a:t>
            </a:r>
          </a:p>
          <a:p>
            <a:pPr marL="742950" lvl="1" indent="-285750" fontAlgn="auto">
              <a:spcBef>
                <a:spcPts val="0"/>
              </a:spcBef>
              <a:spcAft>
                <a:spcPts val="0"/>
              </a:spcAft>
              <a:buFont typeface="Arial" panose="020B0604020202020204" pitchFamily="34" charset="0"/>
              <a:buChar char="•"/>
            </a:pPr>
            <a:r>
              <a:rPr lang="en-US" sz="1800" dirty="0">
                <a:latin typeface="Arial" panose="020B0604020202020204" pitchFamily="34" charset="0"/>
                <a:cs typeface="Arial" panose="020B0604020202020204" pitchFamily="34" charset="0"/>
              </a:rPr>
              <a:t>Uncertain</a:t>
            </a:r>
          </a:p>
          <a:p>
            <a:pPr marL="742950" lvl="1" indent="-285750" fontAlgn="auto">
              <a:spcBef>
                <a:spcPts val="0"/>
              </a:spcBef>
              <a:spcAft>
                <a:spcPts val="0"/>
              </a:spcAft>
              <a:buFont typeface="Arial" panose="020B0604020202020204" pitchFamily="34" charset="0"/>
              <a:buChar char="•"/>
            </a:pPr>
            <a:r>
              <a:rPr lang="en-US" sz="1800" dirty="0">
                <a:latin typeface="Arial" panose="020B0604020202020204" pitchFamily="34" charset="0"/>
                <a:cs typeface="Arial" panose="020B0604020202020204" pitchFamily="34" charset="0"/>
              </a:rPr>
              <a:t>Systematic</a:t>
            </a:r>
          </a:p>
          <a:p>
            <a:pPr marL="742950" lvl="1" indent="-285750" fontAlgn="auto">
              <a:spcBef>
                <a:spcPts val="0"/>
              </a:spcBef>
              <a:spcAft>
                <a:spcPts val="0"/>
              </a:spcAft>
              <a:buFont typeface="Arial" panose="020B0604020202020204" pitchFamily="34" charset="0"/>
              <a:buChar char="•"/>
            </a:pPr>
            <a:r>
              <a:rPr lang="en-US" sz="1800" dirty="0">
                <a:latin typeface="Arial" panose="020B0604020202020204" pitchFamily="34" charset="0"/>
                <a:cs typeface="Arial" panose="020B0604020202020204" pitchFamily="34" charset="0"/>
              </a:rPr>
              <a:t>Transferable and/or reproducible</a:t>
            </a:r>
          </a:p>
          <a:p>
            <a:pPr lvl="1" fontAlgn="auto">
              <a:spcBef>
                <a:spcPts val="0"/>
              </a:spcBef>
              <a:spcAft>
                <a:spcPts val="0"/>
              </a:spcAft>
            </a:pPr>
            <a:endParaRPr lang="en-US" sz="1600" dirty="0">
              <a:latin typeface="Arial" panose="020B0604020202020204" pitchFamily="34" charset="0"/>
              <a:cs typeface="Arial" panose="020B0604020202020204" pitchFamily="34" charset="0"/>
            </a:endParaRPr>
          </a:p>
          <a:p>
            <a:pPr>
              <a:buFontTx/>
              <a:buChar cha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364894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27" y="703233"/>
            <a:ext cx="9144000" cy="762000"/>
          </a:xfrm>
        </p:spPr>
        <p:txBody>
          <a:bodyPr/>
          <a:lstStyle/>
          <a:p>
            <a:pPr eaLnBrk="1" hangingPunct="1"/>
            <a:r>
              <a:rPr lang="en-US" sz="2800" b="1" dirty="0">
                <a:solidFill>
                  <a:schemeClr val="tx1"/>
                </a:solidFill>
                <a:latin typeface="Arial" charset="0"/>
              </a:rPr>
              <a:t>The Surveyed R&amp;D Enterprise by Sector</a:t>
            </a:r>
            <a:br>
              <a:rPr lang="en-US" sz="2800" b="1" dirty="0">
                <a:solidFill>
                  <a:schemeClr val="tx1"/>
                </a:solidFill>
                <a:latin typeface="Arial" charset="0"/>
              </a:rPr>
            </a:br>
            <a:r>
              <a:rPr lang="en-US" sz="1800" b="1" dirty="0">
                <a:solidFill>
                  <a:schemeClr val="tx1"/>
                </a:solidFill>
                <a:latin typeface="Arial" charset="0"/>
              </a:rPr>
              <a:t>(</a:t>
            </a:r>
            <a:r>
              <a:rPr lang="en-US" sz="1800" b="1" dirty="0">
                <a:solidFill>
                  <a:srgbClr val="FF0000"/>
                </a:solidFill>
                <a:latin typeface="Arial" charset="0"/>
              </a:rPr>
              <a:t>Performer-reported</a:t>
            </a:r>
            <a:r>
              <a:rPr lang="en-US" sz="1800" b="1" dirty="0">
                <a:solidFill>
                  <a:schemeClr val="tx1"/>
                </a:solidFill>
                <a:latin typeface="Arial" charset="0"/>
              </a:rPr>
              <a:t> sources of R&amp;D funding)</a:t>
            </a:r>
          </a:p>
        </p:txBody>
      </p:sp>
      <p:sp>
        <p:nvSpPr>
          <p:cNvPr id="7171" name="Rectangle 4"/>
          <p:cNvSpPr>
            <a:spLocks noChangeArrowheads="1"/>
          </p:cNvSpPr>
          <p:nvPr/>
        </p:nvSpPr>
        <p:spPr bwMode="auto">
          <a:xfrm>
            <a:off x="0" y="606688"/>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pic>
        <p:nvPicPr>
          <p:cNvPr id="7172" name="Picture 10" descr="nsf2"/>
          <p:cNvPicPr>
            <a:picLocks noChangeAspect="1" noChangeArrowheads="1"/>
          </p:cNvPicPr>
          <p:nvPr/>
        </p:nvPicPr>
        <p:blipFill>
          <a:blip r:embed="rId3" cstate="print"/>
          <a:srcRect/>
          <a:stretch>
            <a:fillRect/>
          </a:stretch>
        </p:blipFill>
        <p:spPr bwMode="auto">
          <a:xfrm>
            <a:off x="76200" y="263"/>
            <a:ext cx="533400" cy="530225"/>
          </a:xfrm>
          <a:prstGeom prst="rect">
            <a:avLst/>
          </a:prstGeom>
          <a:noFill/>
          <a:ln w="9525">
            <a:noFill/>
            <a:miter lim="800000"/>
            <a:headEnd/>
            <a:tailEnd/>
          </a:ln>
        </p:spPr>
      </p:pic>
      <p:pic>
        <p:nvPicPr>
          <p:cNvPr id="7173" name="Picture 10" descr="NCSES_logo_oneline_150.eps"/>
          <p:cNvPicPr>
            <a:picLocks noChangeAspect="1"/>
          </p:cNvPicPr>
          <p:nvPr/>
        </p:nvPicPr>
        <p:blipFill>
          <a:blip r:embed="rId4" cstate="print"/>
          <a:srcRect/>
          <a:stretch>
            <a:fillRect/>
          </a:stretch>
        </p:blipFill>
        <p:spPr bwMode="auto">
          <a:xfrm>
            <a:off x="4114800" y="55826"/>
            <a:ext cx="5029200" cy="474662"/>
          </a:xfrm>
          <a:prstGeom prst="rect">
            <a:avLst/>
          </a:prstGeom>
          <a:noFill/>
          <a:ln w="9525">
            <a:noFill/>
            <a:miter lim="800000"/>
            <a:headEnd/>
            <a:tailEnd/>
          </a:ln>
        </p:spPr>
      </p:pic>
      <p:sp>
        <p:nvSpPr>
          <p:cNvPr id="17" name="Flowchart: Connector 16"/>
          <p:cNvSpPr/>
          <p:nvPr/>
        </p:nvSpPr>
        <p:spPr>
          <a:xfrm>
            <a:off x="703123" y="1625460"/>
            <a:ext cx="3200399" cy="2338037"/>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Business</a:t>
            </a:r>
          </a:p>
          <a:p>
            <a:pPr algn="ctr">
              <a:defRPr/>
            </a:pPr>
            <a:r>
              <a:rPr lang="en-US" sz="1400" dirty="0">
                <a:solidFill>
                  <a:srgbClr val="FF0000"/>
                </a:solidFill>
                <a:latin typeface="Arial" pitchFamily="34" charset="0"/>
                <a:cs typeface="Arial" pitchFamily="34" charset="0"/>
              </a:rPr>
              <a:t>Sample of ~45,000 </a:t>
            </a:r>
            <a:r>
              <a:rPr lang="en-US" sz="1400" dirty="0">
                <a:latin typeface="Arial" pitchFamily="34" charset="0"/>
                <a:cs typeface="Arial" pitchFamily="34" charset="0"/>
              </a:rPr>
              <a:t>companies 5-9 employees</a:t>
            </a:r>
          </a:p>
          <a:p>
            <a:pPr algn="ctr">
              <a:defRPr/>
            </a:pPr>
            <a:endParaRPr lang="en-US" sz="800" dirty="0">
              <a:latin typeface="Arial" pitchFamily="34" charset="0"/>
              <a:cs typeface="Arial" pitchFamily="34" charset="0"/>
            </a:endParaRPr>
          </a:p>
          <a:p>
            <a:pPr algn="ctr">
              <a:defRPr/>
            </a:pPr>
            <a:r>
              <a:rPr lang="en-US" sz="900" dirty="0">
                <a:latin typeface="Arial" pitchFamily="34" charset="0"/>
                <a:cs typeface="Arial" pitchFamily="34" charset="0"/>
              </a:rPr>
              <a:t>(Forthcoming: 2016 Micro-Business Survey ~160,000 1-4 emp.; 2017 Annual Business Survey ~550,000 1-9 emp.]</a:t>
            </a:r>
          </a:p>
        </p:txBody>
      </p:sp>
      <p:sp>
        <p:nvSpPr>
          <p:cNvPr id="29" name="Flowchart: Connector 28"/>
          <p:cNvSpPr/>
          <p:nvPr/>
        </p:nvSpPr>
        <p:spPr>
          <a:xfrm>
            <a:off x="3198673" y="3865855"/>
            <a:ext cx="2819400" cy="2712482"/>
          </a:xfrm>
          <a:prstGeom prst="flowChartConnector">
            <a:avLst/>
          </a:prstGeom>
          <a:solidFill>
            <a:schemeClr val="accent5">
              <a:lumMod val="40000"/>
              <a:lumOff val="6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dirty="0">
                <a:latin typeface="Arial" pitchFamily="34" charset="0"/>
                <a:cs typeface="Arial" pitchFamily="34" charset="0"/>
              </a:rPr>
              <a:t>Total U.S. R&amp;D</a:t>
            </a:r>
          </a:p>
        </p:txBody>
      </p:sp>
      <p:cxnSp>
        <p:nvCxnSpPr>
          <p:cNvPr id="137" name="Straight Arrow Connector 136"/>
          <p:cNvCxnSpPr/>
          <p:nvPr/>
        </p:nvCxnSpPr>
        <p:spPr>
          <a:xfrm>
            <a:off x="3198673" y="3865855"/>
            <a:ext cx="361487" cy="366567"/>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H="1">
            <a:off x="5677533" y="3592723"/>
            <a:ext cx="717694" cy="702034"/>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rot="10800000">
            <a:off x="6015372" y="5397046"/>
            <a:ext cx="533400" cy="1588"/>
          </a:xfrm>
          <a:prstGeom prst="straightConnector1">
            <a:avLst/>
          </a:prstGeom>
          <a:ln w="12700">
            <a:prstDash val="sysDash"/>
            <a:tailEnd type="arrow"/>
          </a:ln>
        </p:spPr>
        <p:style>
          <a:lnRef idx="1">
            <a:schemeClr val="accent1"/>
          </a:lnRef>
          <a:fillRef idx="0">
            <a:schemeClr val="accent1"/>
          </a:fillRef>
          <a:effectRef idx="0">
            <a:schemeClr val="accent1"/>
          </a:effectRef>
          <a:fontRef idx="minor">
            <a:schemeClr val="tx1"/>
          </a:fontRef>
        </p:style>
      </p:cxnSp>
      <p:sp>
        <p:nvSpPr>
          <p:cNvPr id="209" name="Flowchart: Connector 208"/>
          <p:cNvSpPr/>
          <p:nvPr/>
        </p:nvSpPr>
        <p:spPr>
          <a:xfrm>
            <a:off x="3960674" y="1808455"/>
            <a:ext cx="2209799" cy="1447800"/>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State </a:t>
            </a:r>
          </a:p>
          <a:p>
            <a:pPr algn="ctr">
              <a:defRPr/>
            </a:pPr>
            <a:r>
              <a:rPr lang="en-US" sz="1600" b="1" dirty="0">
                <a:latin typeface="Arial" pitchFamily="34" charset="0"/>
                <a:cs typeface="Arial" pitchFamily="34" charset="0"/>
              </a:rPr>
              <a:t>government</a:t>
            </a:r>
          </a:p>
          <a:p>
            <a:pPr algn="ctr">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50 states, DC &amp; PR; ~470 agencies</a:t>
            </a:r>
          </a:p>
        </p:txBody>
      </p:sp>
      <p:sp>
        <p:nvSpPr>
          <p:cNvPr id="210" name="Flowchart: Connector 209"/>
          <p:cNvSpPr/>
          <p:nvPr/>
        </p:nvSpPr>
        <p:spPr>
          <a:xfrm>
            <a:off x="6322875" y="1916135"/>
            <a:ext cx="2298865" cy="2316287"/>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Higher education</a:t>
            </a:r>
          </a:p>
          <a:p>
            <a:pPr algn="ctr">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~900 R&amp;D performing institutions</a:t>
            </a:r>
          </a:p>
          <a:p>
            <a:pPr algn="ctr">
              <a:defRPr/>
            </a:pPr>
            <a:r>
              <a:rPr lang="en-US" sz="900" dirty="0">
                <a:latin typeface="Arial" pitchFamily="34" charset="0"/>
                <a:cs typeface="Arial" pitchFamily="34" charset="0"/>
              </a:rPr>
              <a:t>(with ≥$150K R&amp;D)</a:t>
            </a:r>
          </a:p>
        </p:txBody>
      </p:sp>
      <p:sp>
        <p:nvSpPr>
          <p:cNvPr id="212" name="Flowchart: Connector 211"/>
          <p:cNvSpPr/>
          <p:nvPr/>
        </p:nvSpPr>
        <p:spPr>
          <a:xfrm>
            <a:off x="6410467" y="4578728"/>
            <a:ext cx="2654462" cy="1600200"/>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Nonprofits</a:t>
            </a:r>
          </a:p>
          <a:p>
            <a:pPr algn="ctr">
              <a:defRPr/>
            </a:pPr>
            <a:r>
              <a:rPr lang="en-US" sz="1100" dirty="0">
                <a:latin typeface="Arial" pitchFamily="34" charset="0"/>
                <a:cs typeface="Arial" pitchFamily="34" charset="0"/>
              </a:rPr>
              <a:t>[Based on a1997 sample]</a:t>
            </a:r>
          </a:p>
          <a:p>
            <a:pPr algn="ctr">
              <a:defRPr/>
            </a:pPr>
            <a:endParaRPr lang="en-US" sz="600" dirty="0">
              <a:latin typeface="Arial" pitchFamily="34" charset="0"/>
              <a:cs typeface="Arial" pitchFamily="34" charset="0"/>
            </a:endParaRPr>
          </a:p>
          <a:p>
            <a:pPr algn="ctr">
              <a:defRPr/>
            </a:pPr>
            <a:r>
              <a:rPr lang="en-US" sz="1400" dirty="0">
                <a:latin typeface="Arial" pitchFamily="34" charset="0"/>
                <a:cs typeface="Arial" pitchFamily="34" charset="0"/>
              </a:rPr>
              <a:t>New </a:t>
            </a:r>
            <a:r>
              <a:rPr lang="en-US" sz="1400" dirty="0">
                <a:solidFill>
                  <a:srgbClr val="FF0000"/>
                </a:solidFill>
                <a:latin typeface="Arial" pitchFamily="34" charset="0"/>
                <a:cs typeface="Arial" pitchFamily="34" charset="0"/>
              </a:rPr>
              <a:t>sample</a:t>
            </a:r>
            <a:r>
              <a:rPr lang="en-US" sz="1400" dirty="0">
                <a:latin typeface="Arial" pitchFamily="34" charset="0"/>
                <a:cs typeface="Arial" pitchFamily="34" charset="0"/>
              </a:rPr>
              <a:t> of ~6,400 organizations in 2016</a:t>
            </a:r>
          </a:p>
        </p:txBody>
      </p:sp>
      <p:sp>
        <p:nvSpPr>
          <p:cNvPr id="213" name="Flowchart: Connector 212"/>
          <p:cNvSpPr/>
          <p:nvPr/>
        </p:nvSpPr>
        <p:spPr>
          <a:xfrm>
            <a:off x="128009" y="3980954"/>
            <a:ext cx="2705100" cy="1784866"/>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Federal government</a:t>
            </a:r>
          </a:p>
          <a:p>
            <a:pPr algn="ctr">
              <a:spcBef>
                <a:spcPts val="0"/>
              </a:spcBef>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a:t>
            </a:r>
          </a:p>
          <a:p>
            <a:pPr algn="ctr">
              <a:spcBef>
                <a:spcPts val="0"/>
              </a:spcBef>
              <a:defRPr/>
            </a:pPr>
            <a:r>
              <a:rPr lang="en-US" sz="1400" dirty="0">
                <a:latin typeface="Arial" pitchFamily="34" charset="0"/>
                <a:cs typeface="Arial" pitchFamily="34" charset="0"/>
              </a:rPr>
              <a:t>28 agencies</a:t>
            </a:r>
          </a:p>
          <a:p>
            <a:pPr algn="ctr">
              <a:defRPr/>
            </a:pPr>
            <a:r>
              <a:rPr lang="en-US" sz="1400" dirty="0">
                <a:latin typeface="Arial" pitchFamily="34" charset="0"/>
                <a:cs typeface="Arial" pitchFamily="34" charset="0"/>
              </a:rPr>
              <a:t>~90 sub-agencies, ~650 respondents</a:t>
            </a:r>
          </a:p>
        </p:txBody>
      </p:sp>
      <p:cxnSp>
        <p:nvCxnSpPr>
          <p:cNvPr id="233" name="Straight Arrow Connector 232"/>
          <p:cNvCxnSpPr/>
          <p:nvPr/>
        </p:nvCxnSpPr>
        <p:spPr>
          <a:xfrm flipH="1">
            <a:off x="4722920" y="3326023"/>
            <a:ext cx="114300" cy="533400"/>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6318101" y="6238162"/>
            <a:ext cx="184731" cy="369332"/>
          </a:xfrm>
          <a:prstGeom prst="rect">
            <a:avLst/>
          </a:prstGeom>
          <a:noFill/>
        </p:spPr>
        <p:txBody>
          <a:bodyPr wrap="none" rtlCol="0">
            <a:spAutoFit/>
          </a:bodyPr>
          <a:lstStyle/>
          <a:p>
            <a:endParaRPr lang="en-US" sz="1800" dirty="0">
              <a:latin typeface="Arial" pitchFamily="34" charset="0"/>
              <a:cs typeface="Arial" pitchFamily="34" charset="0"/>
            </a:endParaRPr>
          </a:p>
        </p:txBody>
      </p:sp>
      <p:sp>
        <p:nvSpPr>
          <p:cNvPr id="18" name="Flowchart: Connector 17"/>
          <p:cNvSpPr/>
          <p:nvPr/>
        </p:nvSpPr>
        <p:spPr>
          <a:xfrm>
            <a:off x="1627083" y="5739294"/>
            <a:ext cx="1423382" cy="838200"/>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~40 </a:t>
            </a:r>
            <a:r>
              <a:rPr lang="en-US" sz="1400" b="1" dirty="0">
                <a:latin typeface="Arial" pitchFamily="34" charset="0"/>
                <a:cs typeface="Arial" pitchFamily="34" charset="0"/>
              </a:rPr>
              <a:t>FFRDCs</a:t>
            </a:r>
          </a:p>
        </p:txBody>
      </p:sp>
      <p:cxnSp>
        <p:nvCxnSpPr>
          <p:cNvPr id="7" name="Straight Arrow Connector 6"/>
          <p:cNvCxnSpPr/>
          <p:nvPr/>
        </p:nvCxnSpPr>
        <p:spPr>
          <a:xfrm>
            <a:off x="2857752" y="4780255"/>
            <a:ext cx="340921"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833616" y="5669545"/>
            <a:ext cx="389192" cy="1989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E1400850-EB9A-40FF-ADDA-E4A0A5232E50}"/>
              </a:ext>
            </a:extLst>
          </p:cNvPr>
          <p:cNvSpPr>
            <a:spLocks noGrp="1"/>
          </p:cNvSpPr>
          <p:nvPr>
            <p:ph type="sldNum" sz="quarter" idx="12"/>
          </p:nvPr>
        </p:nvSpPr>
        <p:spPr/>
        <p:txBody>
          <a:bodyPr/>
          <a:lstStyle/>
          <a:p>
            <a:fld id="{1B835D90-6387-4175-8905-3408BA5A358B}" type="slidenum">
              <a:rPr lang="en-US" altLang="en-US" smtClean="0"/>
              <a:pPr/>
              <a:t>4</a:t>
            </a:fld>
            <a:endParaRPr lang="en-US" altLang="en-US"/>
          </a:p>
        </p:txBody>
      </p:sp>
    </p:spTree>
    <p:extLst>
      <p:ext uri="{BB962C8B-B14F-4D97-AF65-F5344CB8AC3E}">
        <p14:creationId xmlns:p14="http://schemas.microsoft.com/office/powerpoint/2010/main" val="426715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B74E307-8E63-4019-AC84-B0E0165D9BCA}"/>
              </a:ext>
            </a:extLst>
          </p:cNvPr>
          <p:cNvSpPr>
            <a:spLocks noGrp="1" noChangeArrowheads="1"/>
          </p:cNvSpPr>
          <p:nvPr>
            <p:ph type="title"/>
          </p:nvPr>
        </p:nvSpPr>
        <p:spPr>
          <a:xfrm>
            <a:off x="594360" y="1028700"/>
            <a:ext cx="8183404" cy="1143000"/>
          </a:xfrm>
        </p:spPr>
        <p:txBody>
          <a:bodyPr/>
          <a:lstStyle/>
          <a:p>
            <a:pPr eaLnBrk="1" hangingPunct="1"/>
            <a:r>
              <a:rPr lang="en-US" sz="3200" b="1" dirty="0">
                <a:latin typeface="Arial" charset="0"/>
                <a:cs typeface="Arial" charset="0"/>
              </a:rPr>
              <a:t>U.S. 2016 R&amp;D Expenditures: </a:t>
            </a:r>
            <a:br>
              <a:rPr lang="en-US" sz="3200" b="1" dirty="0">
                <a:latin typeface="Arial" charset="0"/>
                <a:cs typeface="Arial" charset="0"/>
              </a:rPr>
            </a:br>
            <a:r>
              <a:rPr lang="en-US" sz="3200" b="1" dirty="0">
                <a:latin typeface="Arial" charset="0"/>
                <a:cs typeface="Arial" charset="0"/>
              </a:rPr>
              <a:t>$510 Billion </a:t>
            </a:r>
            <a:r>
              <a:rPr lang="en-US" sz="1800" b="1" dirty="0">
                <a:latin typeface="Arial" charset="0"/>
                <a:cs typeface="Arial" charset="0"/>
              </a:rPr>
              <a:t>(prelim.)</a:t>
            </a:r>
            <a:br>
              <a:rPr lang="en-US" sz="3200" dirty="0"/>
            </a:br>
            <a:endParaRPr lang="en-US" altLang="en-US" sz="3200" dirty="0">
              <a:latin typeface="Arial" panose="020B0604020202020204" pitchFamily="34" charset="0"/>
            </a:endParaRPr>
          </a:p>
        </p:txBody>
      </p:sp>
      <p:sp>
        <p:nvSpPr>
          <p:cNvPr id="5123" name="Rectangle 4" title="divider">
            <a:extLst>
              <a:ext uri="{FF2B5EF4-FFF2-40B4-BE49-F238E27FC236}">
                <a16:creationId xmlns:a16="http://schemas.microsoft.com/office/drawing/2014/main" id="{31F02BF7-CA0F-4B08-A815-175706913B47}"/>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5126" name="Picture 10" descr="National Center for Science and Engineering Statistics logo">
            <a:extLst>
              <a:ext uri="{FF2B5EF4-FFF2-40B4-BE49-F238E27FC236}">
                <a16:creationId xmlns:a16="http://schemas.microsoft.com/office/drawing/2014/main" id="{00FB7131-8740-4974-9F0E-C3A67D986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8" descr="nsf2">
            <a:extLst>
              <a:ext uri="{FF2B5EF4-FFF2-40B4-BE49-F238E27FC236}">
                <a16:creationId xmlns:a16="http://schemas.microsoft.com/office/drawing/2014/main" id="{0C59B2C5-9A93-4514-8E79-5228D0F8E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Chart 11">
            <a:extLst>
              <a:ext uri="{FF2B5EF4-FFF2-40B4-BE49-F238E27FC236}">
                <a16:creationId xmlns:a16="http://schemas.microsoft.com/office/drawing/2014/main" id="{8E9A2BA3-F17E-4060-95CE-59C263A05C50}"/>
              </a:ext>
            </a:extLst>
          </p:cNvPr>
          <p:cNvGraphicFramePr>
            <a:graphicFrameLocks/>
          </p:cNvGraphicFramePr>
          <p:nvPr>
            <p:extLst>
              <p:ext uri="{D42A27DB-BD31-4B8C-83A1-F6EECF244321}">
                <p14:modId xmlns:p14="http://schemas.microsoft.com/office/powerpoint/2010/main" val="2046153511"/>
              </p:ext>
            </p:extLst>
          </p:nvPr>
        </p:nvGraphicFramePr>
        <p:xfrm>
          <a:off x="449103" y="3000375"/>
          <a:ext cx="3883820" cy="25003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88E39A22-D44F-4644-8618-0BB4784248B9}"/>
              </a:ext>
            </a:extLst>
          </p:cNvPr>
          <p:cNvGraphicFramePr>
            <a:graphicFrameLocks/>
          </p:cNvGraphicFramePr>
          <p:nvPr>
            <p:extLst>
              <p:ext uri="{D42A27DB-BD31-4B8C-83A1-F6EECF244321}">
                <p14:modId xmlns:p14="http://schemas.microsoft.com/office/powerpoint/2010/main" val="565894810"/>
              </p:ext>
            </p:extLst>
          </p:nvPr>
        </p:nvGraphicFramePr>
        <p:xfrm>
          <a:off x="4478178" y="3048000"/>
          <a:ext cx="4299586" cy="245268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 Box 4">
            <a:extLst>
              <a:ext uri="{FF2B5EF4-FFF2-40B4-BE49-F238E27FC236}">
                <a16:creationId xmlns:a16="http://schemas.microsoft.com/office/drawing/2014/main" id="{27AC0DF7-BDCE-4EEE-8AF3-2D8AB180F76A}"/>
              </a:ext>
            </a:extLst>
          </p:cNvPr>
          <p:cNvSpPr txBox="1">
            <a:spLocks noChangeArrowheads="1"/>
          </p:cNvSpPr>
          <p:nvPr/>
        </p:nvSpPr>
        <p:spPr bwMode="auto">
          <a:xfrm>
            <a:off x="4883468" y="2786390"/>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67%</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$344 billion</a:t>
            </a:r>
            <a:endParaRPr lang="en-US" sz="1400" kern="0" dirty="0">
              <a:solidFill>
                <a:srgbClr val="FFFFFF"/>
              </a:solidFill>
              <a:latin typeface="Arial" pitchFamily="34" charset="0"/>
              <a:cs typeface="Arial" pitchFamily="34" charset="0"/>
            </a:endParaRPr>
          </a:p>
        </p:txBody>
      </p:sp>
      <p:sp>
        <p:nvSpPr>
          <p:cNvPr id="16" name="Text Box 15">
            <a:extLst>
              <a:ext uri="{FF2B5EF4-FFF2-40B4-BE49-F238E27FC236}">
                <a16:creationId xmlns:a16="http://schemas.microsoft.com/office/drawing/2014/main" id="{4B4EC386-9C57-462B-B72A-4196D00D8E02}"/>
              </a:ext>
            </a:extLst>
          </p:cNvPr>
          <p:cNvSpPr txBox="1">
            <a:spLocks noChangeArrowheads="1"/>
          </p:cNvSpPr>
          <p:nvPr/>
        </p:nvSpPr>
        <p:spPr bwMode="auto">
          <a:xfrm>
            <a:off x="762001"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Performing Sector</a:t>
            </a:r>
          </a:p>
        </p:txBody>
      </p:sp>
      <p:sp>
        <p:nvSpPr>
          <p:cNvPr id="17" name="Text Box 15">
            <a:extLst>
              <a:ext uri="{FF2B5EF4-FFF2-40B4-BE49-F238E27FC236}">
                <a16:creationId xmlns:a16="http://schemas.microsoft.com/office/drawing/2014/main" id="{3BBFB6CD-E1F1-42A2-B91B-E6884FBBD217}"/>
              </a:ext>
            </a:extLst>
          </p:cNvPr>
          <p:cNvSpPr txBox="1">
            <a:spLocks noChangeArrowheads="1"/>
          </p:cNvSpPr>
          <p:nvPr/>
        </p:nvSpPr>
        <p:spPr bwMode="auto">
          <a:xfrm>
            <a:off x="4769882"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Source of Funds</a:t>
            </a:r>
          </a:p>
        </p:txBody>
      </p:sp>
      <p:sp>
        <p:nvSpPr>
          <p:cNvPr id="18" name="Text Box 4">
            <a:extLst>
              <a:ext uri="{FF2B5EF4-FFF2-40B4-BE49-F238E27FC236}">
                <a16:creationId xmlns:a16="http://schemas.microsoft.com/office/drawing/2014/main" id="{BFB22386-1F8E-49D1-9FAB-4801AF28C65F}"/>
              </a:ext>
            </a:extLst>
          </p:cNvPr>
          <p:cNvSpPr txBox="1">
            <a:spLocks noChangeArrowheads="1"/>
          </p:cNvSpPr>
          <p:nvPr/>
        </p:nvSpPr>
        <p:spPr bwMode="auto">
          <a:xfrm>
            <a:off x="1127166" y="2753380"/>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71%</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$364 billion</a:t>
            </a:r>
            <a:endParaRPr lang="en-US" sz="1400" kern="0" dirty="0">
              <a:solidFill>
                <a:srgbClr val="FFFFFF"/>
              </a:solidFill>
              <a:latin typeface="Arial" pitchFamily="34" charset="0"/>
              <a:cs typeface="Arial" pitchFamily="34" charset="0"/>
            </a:endParaRPr>
          </a:p>
        </p:txBody>
      </p:sp>
      <p:sp>
        <p:nvSpPr>
          <p:cNvPr id="19" name="Text Box 7">
            <a:extLst>
              <a:ext uri="{FF2B5EF4-FFF2-40B4-BE49-F238E27FC236}">
                <a16:creationId xmlns:a16="http://schemas.microsoft.com/office/drawing/2014/main" id="{14981D6B-BE53-436F-8B41-4B491ED20A85}"/>
              </a:ext>
            </a:extLst>
          </p:cNvPr>
          <p:cNvSpPr txBox="1">
            <a:spLocks noChangeArrowheads="1"/>
          </p:cNvSpPr>
          <p:nvPr/>
        </p:nvSpPr>
        <p:spPr bwMode="auto">
          <a:xfrm>
            <a:off x="302952" y="5139362"/>
            <a:ext cx="1373448"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$21 billion</a:t>
            </a:r>
          </a:p>
        </p:txBody>
      </p:sp>
      <p:sp>
        <p:nvSpPr>
          <p:cNvPr id="20" name="Text Box 7">
            <a:extLst>
              <a:ext uri="{FF2B5EF4-FFF2-40B4-BE49-F238E27FC236}">
                <a16:creationId xmlns:a16="http://schemas.microsoft.com/office/drawing/2014/main" id="{A089AA54-42D2-41CE-8A15-CD0321518967}"/>
              </a:ext>
            </a:extLst>
          </p:cNvPr>
          <p:cNvSpPr txBox="1">
            <a:spLocks noChangeArrowheads="1"/>
          </p:cNvSpPr>
          <p:nvPr/>
        </p:nvSpPr>
        <p:spPr bwMode="auto">
          <a:xfrm>
            <a:off x="4475894" y="5159545"/>
            <a:ext cx="1369359"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4% $21 billion</a:t>
            </a:r>
          </a:p>
        </p:txBody>
      </p:sp>
      <p:sp>
        <p:nvSpPr>
          <p:cNvPr id="21" name="Text Box 6">
            <a:extLst>
              <a:ext uri="{FF2B5EF4-FFF2-40B4-BE49-F238E27FC236}">
                <a16:creationId xmlns:a16="http://schemas.microsoft.com/office/drawing/2014/main" id="{D7FD2547-4B62-4E68-9A6A-05DCCD7D6D16}"/>
              </a:ext>
            </a:extLst>
          </p:cNvPr>
          <p:cNvSpPr txBox="1">
            <a:spLocks noChangeArrowheads="1"/>
          </p:cNvSpPr>
          <p:nvPr/>
        </p:nvSpPr>
        <p:spPr bwMode="auto">
          <a:xfrm>
            <a:off x="7616259" y="5126995"/>
            <a:ext cx="1199367"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24%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$122 billion</a:t>
            </a:r>
          </a:p>
        </p:txBody>
      </p:sp>
      <p:sp>
        <p:nvSpPr>
          <p:cNvPr id="22" name="Text Box 6">
            <a:extLst>
              <a:ext uri="{FF2B5EF4-FFF2-40B4-BE49-F238E27FC236}">
                <a16:creationId xmlns:a16="http://schemas.microsoft.com/office/drawing/2014/main" id="{B4DA55B3-13B1-4360-86C4-B9DD0E4B1520}"/>
              </a:ext>
            </a:extLst>
          </p:cNvPr>
          <p:cNvSpPr txBox="1">
            <a:spLocks noChangeArrowheads="1"/>
          </p:cNvSpPr>
          <p:nvPr/>
        </p:nvSpPr>
        <p:spPr bwMode="auto">
          <a:xfrm>
            <a:off x="3825469" y="4723881"/>
            <a:ext cx="1099981"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8%</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$38 billion</a:t>
            </a:r>
          </a:p>
        </p:txBody>
      </p:sp>
      <p:sp>
        <p:nvSpPr>
          <p:cNvPr id="23" name="Text Box 6">
            <a:extLst>
              <a:ext uri="{FF2B5EF4-FFF2-40B4-BE49-F238E27FC236}">
                <a16:creationId xmlns:a16="http://schemas.microsoft.com/office/drawing/2014/main" id="{481C54B7-38F2-4C00-B7CA-9383ACCA55EA}"/>
              </a:ext>
            </a:extLst>
          </p:cNvPr>
          <p:cNvSpPr txBox="1">
            <a:spLocks noChangeArrowheads="1"/>
          </p:cNvSpPr>
          <p:nvPr/>
        </p:nvSpPr>
        <p:spPr bwMode="auto">
          <a:xfrm>
            <a:off x="3129962" y="5282923"/>
            <a:ext cx="1191352"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FFRDCs 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$19 billion</a:t>
            </a:r>
          </a:p>
        </p:txBody>
      </p:sp>
      <p:sp>
        <p:nvSpPr>
          <p:cNvPr id="24" name="Text Box 6">
            <a:extLst>
              <a:ext uri="{FF2B5EF4-FFF2-40B4-BE49-F238E27FC236}">
                <a16:creationId xmlns:a16="http://schemas.microsoft.com/office/drawing/2014/main" id="{F8509658-B727-41F1-9A46-FFAC9005A5F7}"/>
              </a:ext>
            </a:extLst>
          </p:cNvPr>
          <p:cNvSpPr txBox="1">
            <a:spLocks noChangeArrowheads="1"/>
          </p:cNvSpPr>
          <p:nvPr/>
        </p:nvSpPr>
        <p:spPr bwMode="auto">
          <a:xfrm>
            <a:off x="6293511" y="5614036"/>
            <a:ext cx="1208985"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Non-fed gov.</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 $4 billion</a:t>
            </a:r>
          </a:p>
        </p:txBody>
      </p:sp>
      <p:sp>
        <p:nvSpPr>
          <p:cNvPr id="25" name="Text Box 7">
            <a:extLst>
              <a:ext uri="{FF2B5EF4-FFF2-40B4-BE49-F238E27FC236}">
                <a16:creationId xmlns:a16="http://schemas.microsoft.com/office/drawing/2014/main" id="{BA8E7B10-CB48-44A0-92C6-7CCE4F9D0AB3}"/>
              </a:ext>
            </a:extLst>
          </p:cNvPr>
          <p:cNvSpPr txBox="1">
            <a:spLocks noChangeArrowheads="1"/>
          </p:cNvSpPr>
          <p:nvPr/>
        </p:nvSpPr>
        <p:spPr bwMode="auto">
          <a:xfrm>
            <a:off x="1601343" y="5381449"/>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Ed.13% $68 billion</a:t>
            </a:r>
          </a:p>
        </p:txBody>
      </p:sp>
      <p:sp>
        <p:nvSpPr>
          <p:cNvPr id="26" name="Text Box 7">
            <a:extLst>
              <a:ext uri="{FF2B5EF4-FFF2-40B4-BE49-F238E27FC236}">
                <a16:creationId xmlns:a16="http://schemas.microsoft.com/office/drawing/2014/main" id="{84D2DE2D-EB14-431A-8210-E026FA45FCEC}"/>
              </a:ext>
            </a:extLst>
          </p:cNvPr>
          <p:cNvSpPr txBox="1">
            <a:spLocks noChangeArrowheads="1"/>
          </p:cNvSpPr>
          <p:nvPr/>
        </p:nvSpPr>
        <p:spPr bwMode="auto">
          <a:xfrm>
            <a:off x="4806116" y="5685680"/>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Ed.4% $19 billion</a:t>
            </a:r>
          </a:p>
        </p:txBody>
      </p:sp>
      <p:cxnSp>
        <p:nvCxnSpPr>
          <p:cNvPr id="6" name="Straight Arrow Connector 5">
            <a:extLst>
              <a:ext uri="{FF2B5EF4-FFF2-40B4-BE49-F238E27FC236}">
                <a16:creationId xmlns:a16="http://schemas.microsoft.com/office/drawing/2014/main" id="{1A412FDF-5E8A-4E7B-9E32-87BF31AA25D8}"/>
              </a:ext>
            </a:extLst>
          </p:cNvPr>
          <p:cNvCxnSpPr>
            <a:cxnSpLocks/>
          </p:cNvCxnSpPr>
          <p:nvPr/>
        </p:nvCxnSpPr>
        <p:spPr>
          <a:xfrm flipV="1">
            <a:off x="5816963" y="5275038"/>
            <a:ext cx="202413" cy="487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1909785B-88C3-48FC-84CF-F94411DE6454}"/>
              </a:ext>
            </a:extLst>
          </p:cNvPr>
          <p:cNvCxnSpPr/>
          <p:nvPr/>
        </p:nvCxnSpPr>
        <p:spPr>
          <a:xfrm flipH="1" flipV="1">
            <a:off x="6278271" y="5315696"/>
            <a:ext cx="129822" cy="3699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 Box 6">
            <a:extLst>
              <a:ext uri="{FF2B5EF4-FFF2-40B4-BE49-F238E27FC236}">
                <a16:creationId xmlns:a16="http://schemas.microsoft.com/office/drawing/2014/main" id="{B9855963-D9C4-443C-8A20-30BE8EC80816}"/>
              </a:ext>
            </a:extLst>
          </p:cNvPr>
          <p:cNvSpPr txBox="1">
            <a:spLocks noChangeArrowheads="1"/>
          </p:cNvSpPr>
          <p:nvPr/>
        </p:nvSpPr>
        <p:spPr bwMode="auto">
          <a:xfrm>
            <a:off x="-186333" y="5806143"/>
            <a:ext cx="1896673"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*State gov.</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        0.1% $0.6 billion</a:t>
            </a:r>
          </a:p>
        </p:txBody>
      </p:sp>
      <p:sp>
        <p:nvSpPr>
          <p:cNvPr id="2" name="Rectangle 1">
            <a:extLst>
              <a:ext uri="{FF2B5EF4-FFF2-40B4-BE49-F238E27FC236}">
                <a16:creationId xmlns:a16="http://schemas.microsoft.com/office/drawing/2014/main" id="{BBEA93AA-0C6A-4B86-A810-BE7B35855ED4}"/>
              </a:ext>
            </a:extLst>
          </p:cNvPr>
          <p:cNvSpPr/>
          <p:nvPr/>
        </p:nvSpPr>
        <p:spPr>
          <a:xfrm>
            <a:off x="2962836" y="5079863"/>
            <a:ext cx="304892" cy="461665"/>
          </a:xfrm>
          <a:prstGeom prst="rect">
            <a:avLst/>
          </a:prstGeom>
        </p:spPr>
        <p:txBody>
          <a:bodyPr wrap="none">
            <a:spAutoFit/>
          </a:bodyPr>
          <a:lstStyle/>
          <a:p>
            <a:r>
              <a:rPr lang="en-US" kern="0" dirty="0">
                <a:solidFill>
                  <a:sysClr val="windowText" lastClr="000000"/>
                </a:solidFill>
                <a:latin typeface="Arial" pitchFamily="34" charset="0"/>
                <a:cs typeface="Arial" pitchFamily="34" charset="0"/>
              </a:rPr>
              <a:t>*</a:t>
            </a:r>
            <a:endParaRPr lang="en-US" dirty="0"/>
          </a:p>
        </p:txBody>
      </p:sp>
      <p:cxnSp>
        <p:nvCxnSpPr>
          <p:cNvPr id="4" name="Straight Arrow Connector 3">
            <a:extLst>
              <a:ext uri="{FF2B5EF4-FFF2-40B4-BE49-F238E27FC236}">
                <a16:creationId xmlns:a16="http://schemas.microsoft.com/office/drawing/2014/main" id="{37D4605C-AB99-4D71-8F5D-CF04FCDBDEBF}"/>
              </a:ext>
            </a:extLst>
          </p:cNvPr>
          <p:cNvCxnSpPr/>
          <p:nvPr/>
        </p:nvCxnSpPr>
        <p:spPr>
          <a:xfrm flipH="1" flipV="1">
            <a:off x="3352800" y="5079863"/>
            <a:ext cx="152400" cy="235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554222D-483D-4176-AD21-44FC645504DF}"/>
              </a:ext>
            </a:extLst>
          </p:cNvPr>
          <p:cNvSpPr txBox="1"/>
          <p:nvPr/>
        </p:nvSpPr>
        <p:spPr>
          <a:xfrm>
            <a:off x="342900" y="6477000"/>
            <a:ext cx="4463216"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sp>
        <p:nvSpPr>
          <p:cNvPr id="5" name="Slide Number Placeholder 4">
            <a:extLst>
              <a:ext uri="{FF2B5EF4-FFF2-40B4-BE49-F238E27FC236}">
                <a16:creationId xmlns:a16="http://schemas.microsoft.com/office/drawing/2014/main" id="{11D9E988-B7C0-464F-9729-10CF298F3C82}"/>
              </a:ext>
            </a:extLst>
          </p:cNvPr>
          <p:cNvSpPr>
            <a:spLocks noGrp="1"/>
          </p:cNvSpPr>
          <p:nvPr>
            <p:ph type="sldNum" sz="quarter" idx="12"/>
          </p:nvPr>
        </p:nvSpPr>
        <p:spPr/>
        <p:txBody>
          <a:bodyPr/>
          <a:lstStyle/>
          <a:p>
            <a:fld id="{1B835D90-6387-4175-8905-3408BA5A358B}" type="slidenum">
              <a:rPr lang="en-US" altLang="en-US" smtClean="0"/>
              <a:pPr/>
              <a:t>5</a:t>
            </a:fld>
            <a:endParaRPr lang="en-US" altLang="en-US"/>
          </a:p>
        </p:txBody>
      </p:sp>
    </p:spTree>
    <p:extLst>
      <p:ext uri="{BB962C8B-B14F-4D97-AF65-F5344CB8AC3E}">
        <p14:creationId xmlns:p14="http://schemas.microsoft.com/office/powerpoint/2010/main" val="2560817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B74E307-8E63-4019-AC84-B0E0165D9BCA}"/>
              </a:ext>
            </a:extLst>
          </p:cNvPr>
          <p:cNvSpPr>
            <a:spLocks noGrp="1" noChangeArrowheads="1"/>
          </p:cNvSpPr>
          <p:nvPr>
            <p:ph type="title"/>
          </p:nvPr>
        </p:nvSpPr>
        <p:spPr>
          <a:xfrm>
            <a:off x="594360" y="1028700"/>
            <a:ext cx="8183404" cy="1143000"/>
          </a:xfrm>
        </p:spPr>
        <p:txBody>
          <a:bodyPr/>
          <a:lstStyle/>
          <a:p>
            <a:pPr eaLnBrk="1" hangingPunct="1"/>
            <a:r>
              <a:rPr lang="en-US" sz="3200" b="1" dirty="0">
                <a:latin typeface="Arial" charset="0"/>
                <a:cs typeface="Arial" charset="0"/>
              </a:rPr>
              <a:t>U.S. 2016 Basic Research Expenditures: </a:t>
            </a:r>
            <a:br>
              <a:rPr lang="en-US" sz="3200" b="1" dirty="0">
                <a:latin typeface="Arial" charset="0"/>
                <a:cs typeface="Arial" charset="0"/>
              </a:rPr>
            </a:br>
            <a:r>
              <a:rPr lang="en-US" sz="3200" b="1" dirty="0">
                <a:latin typeface="Arial" charset="0"/>
                <a:cs typeface="Arial" charset="0"/>
              </a:rPr>
              <a:t>$86 Billion </a:t>
            </a:r>
            <a:r>
              <a:rPr lang="en-US" sz="1600" b="1" dirty="0">
                <a:latin typeface="Arial" charset="0"/>
                <a:cs typeface="Arial" charset="0"/>
              </a:rPr>
              <a:t>(prelim.)</a:t>
            </a:r>
            <a:br>
              <a:rPr lang="en-US" sz="3200" dirty="0"/>
            </a:br>
            <a:endParaRPr lang="en-US" altLang="en-US" sz="3200" dirty="0">
              <a:latin typeface="Arial" panose="020B0604020202020204" pitchFamily="34" charset="0"/>
            </a:endParaRPr>
          </a:p>
        </p:txBody>
      </p:sp>
      <p:sp>
        <p:nvSpPr>
          <p:cNvPr id="5123" name="Rectangle 4" title="divider">
            <a:extLst>
              <a:ext uri="{FF2B5EF4-FFF2-40B4-BE49-F238E27FC236}">
                <a16:creationId xmlns:a16="http://schemas.microsoft.com/office/drawing/2014/main" id="{31F02BF7-CA0F-4B08-A815-175706913B47}"/>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5126" name="Picture 10" descr="National Center for Science and Engineering Statistics logo">
            <a:extLst>
              <a:ext uri="{FF2B5EF4-FFF2-40B4-BE49-F238E27FC236}">
                <a16:creationId xmlns:a16="http://schemas.microsoft.com/office/drawing/2014/main" id="{00FB7131-8740-4974-9F0E-C3A67D986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8" descr="nsf2">
            <a:extLst>
              <a:ext uri="{FF2B5EF4-FFF2-40B4-BE49-F238E27FC236}">
                <a16:creationId xmlns:a16="http://schemas.microsoft.com/office/drawing/2014/main" id="{0C59B2C5-9A93-4514-8E79-5228D0F8E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4">
            <a:extLst>
              <a:ext uri="{FF2B5EF4-FFF2-40B4-BE49-F238E27FC236}">
                <a16:creationId xmlns:a16="http://schemas.microsoft.com/office/drawing/2014/main" id="{27AC0DF7-BDCE-4EEE-8AF3-2D8AB180F76A}"/>
              </a:ext>
            </a:extLst>
          </p:cNvPr>
          <p:cNvSpPr txBox="1">
            <a:spLocks noChangeArrowheads="1"/>
          </p:cNvSpPr>
          <p:nvPr/>
        </p:nvSpPr>
        <p:spPr bwMode="auto">
          <a:xfrm>
            <a:off x="4883468" y="2786390"/>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27%</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$23 billion</a:t>
            </a:r>
            <a:endParaRPr lang="en-US" sz="1400" kern="0" dirty="0">
              <a:solidFill>
                <a:srgbClr val="FFFFFF"/>
              </a:solidFill>
              <a:latin typeface="Arial" pitchFamily="34" charset="0"/>
              <a:cs typeface="Arial" pitchFamily="34" charset="0"/>
            </a:endParaRPr>
          </a:p>
        </p:txBody>
      </p:sp>
      <p:sp>
        <p:nvSpPr>
          <p:cNvPr id="16" name="Text Box 15">
            <a:extLst>
              <a:ext uri="{FF2B5EF4-FFF2-40B4-BE49-F238E27FC236}">
                <a16:creationId xmlns:a16="http://schemas.microsoft.com/office/drawing/2014/main" id="{4B4EC386-9C57-462B-B72A-4196D00D8E02}"/>
              </a:ext>
            </a:extLst>
          </p:cNvPr>
          <p:cNvSpPr txBox="1">
            <a:spLocks noChangeArrowheads="1"/>
          </p:cNvSpPr>
          <p:nvPr/>
        </p:nvSpPr>
        <p:spPr bwMode="auto">
          <a:xfrm>
            <a:off x="762001"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Performing Sector</a:t>
            </a:r>
          </a:p>
        </p:txBody>
      </p:sp>
      <p:sp>
        <p:nvSpPr>
          <p:cNvPr id="17" name="Text Box 15">
            <a:extLst>
              <a:ext uri="{FF2B5EF4-FFF2-40B4-BE49-F238E27FC236}">
                <a16:creationId xmlns:a16="http://schemas.microsoft.com/office/drawing/2014/main" id="{3BBFB6CD-E1F1-42A2-B91B-E6884FBBD217}"/>
              </a:ext>
            </a:extLst>
          </p:cNvPr>
          <p:cNvSpPr txBox="1">
            <a:spLocks noChangeArrowheads="1"/>
          </p:cNvSpPr>
          <p:nvPr/>
        </p:nvSpPr>
        <p:spPr bwMode="auto">
          <a:xfrm>
            <a:off x="4769882"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Source of Funds</a:t>
            </a:r>
          </a:p>
        </p:txBody>
      </p:sp>
      <p:sp>
        <p:nvSpPr>
          <p:cNvPr id="18" name="Text Box 4">
            <a:extLst>
              <a:ext uri="{FF2B5EF4-FFF2-40B4-BE49-F238E27FC236}">
                <a16:creationId xmlns:a16="http://schemas.microsoft.com/office/drawing/2014/main" id="{BFB22386-1F8E-49D1-9FAB-4801AF28C65F}"/>
              </a:ext>
            </a:extLst>
          </p:cNvPr>
          <p:cNvSpPr txBox="1">
            <a:spLocks noChangeArrowheads="1"/>
          </p:cNvSpPr>
          <p:nvPr/>
        </p:nvSpPr>
        <p:spPr bwMode="auto">
          <a:xfrm>
            <a:off x="3112553" y="2843593"/>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26%</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$22 billion</a:t>
            </a:r>
            <a:endParaRPr lang="en-US" sz="1400" kern="0" dirty="0">
              <a:solidFill>
                <a:srgbClr val="FFFFFF"/>
              </a:solidFill>
              <a:latin typeface="Arial" pitchFamily="34" charset="0"/>
              <a:cs typeface="Arial" pitchFamily="34" charset="0"/>
            </a:endParaRPr>
          </a:p>
        </p:txBody>
      </p:sp>
      <p:sp>
        <p:nvSpPr>
          <p:cNvPr id="19" name="Text Box 7">
            <a:extLst>
              <a:ext uri="{FF2B5EF4-FFF2-40B4-BE49-F238E27FC236}">
                <a16:creationId xmlns:a16="http://schemas.microsoft.com/office/drawing/2014/main" id="{14981D6B-BE53-436F-8B41-4B491ED20A85}"/>
              </a:ext>
            </a:extLst>
          </p:cNvPr>
          <p:cNvSpPr txBox="1">
            <a:spLocks noChangeArrowheads="1"/>
          </p:cNvSpPr>
          <p:nvPr/>
        </p:nvSpPr>
        <p:spPr bwMode="auto">
          <a:xfrm>
            <a:off x="1179252" y="2735777"/>
            <a:ext cx="1483581"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13%</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$11 billion</a:t>
            </a:r>
          </a:p>
        </p:txBody>
      </p:sp>
      <p:sp>
        <p:nvSpPr>
          <p:cNvPr id="20" name="Text Box 7">
            <a:extLst>
              <a:ext uri="{FF2B5EF4-FFF2-40B4-BE49-F238E27FC236}">
                <a16:creationId xmlns:a16="http://schemas.microsoft.com/office/drawing/2014/main" id="{A089AA54-42D2-41CE-8A15-CD0321518967}"/>
              </a:ext>
            </a:extLst>
          </p:cNvPr>
          <p:cNvSpPr txBox="1">
            <a:spLocks noChangeArrowheads="1"/>
          </p:cNvSpPr>
          <p:nvPr/>
        </p:nvSpPr>
        <p:spPr bwMode="auto">
          <a:xfrm>
            <a:off x="4769883" y="5112554"/>
            <a:ext cx="147437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13% $11 billion</a:t>
            </a:r>
          </a:p>
        </p:txBody>
      </p:sp>
      <p:sp>
        <p:nvSpPr>
          <p:cNvPr id="21" name="Text Box 6">
            <a:extLst>
              <a:ext uri="{FF2B5EF4-FFF2-40B4-BE49-F238E27FC236}">
                <a16:creationId xmlns:a16="http://schemas.microsoft.com/office/drawing/2014/main" id="{D7FD2547-4B62-4E68-9A6A-05DCCD7D6D16}"/>
              </a:ext>
            </a:extLst>
          </p:cNvPr>
          <p:cNvSpPr txBox="1">
            <a:spLocks noChangeArrowheads="1"/>
          </p:cNvSpPr>
          <p:nvPr/>
        </p:nvSpPr>
        <p:spPr bwMode="auto">
          <a:xfrm>
            <a:off x="7715859" y="2843593"/>
            <a:ext cx="1199367"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44%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$38 billion</a:t>
            </a:r>
          </a:p>
        </p:txBody>
      </p:sp>
      <p:sp>
        <p:nvSpPr>
          <p:cNvPr id="22" name="Text Box 6">
            <a:extLst>
              <a:ext uri="{FF2B5EF4-FFF2-40B4-BE49-F238E27FC236}">
                <a16:creationId xmlns:a16="http://schemas.microsoft.com/office/drawing/2014/main" id="{B4DA55B3-13B1-4360-86C4-B9DD0E4B1520}"/>
              </a:ext>
            </a:extLst>
          </p:cNvPr>
          <p:cNvSpPr txBox="1">
            <a:spLocks noChangeArrowheads="1"/>
          </p:cNvSpPr>
          <p:nvPr/>
        </p:nvSpPr>
        <p:spPr bwMode="auto">
          <a:xfrm>
            <a:off x="3773151" y="4784009"/>
            <a:ext cx="1099981"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7%</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$6 billion</a:t>
            </a:r>
          </a:p>
        </p:txBody>
      </p:sp>
      <p:sp>
        <p:nvSpPr>
          <p:cNvPr id="23" name="Text Box 6">
            <a:extLst>
              <a:ext uri="{FF2B5EF4-FFF2-40B4-BE49-F238E27FC236}">
                <a16:creationId xmlns:a16="http://schemas.microsoft.com/office/drawing/2014/main" id="{481C54B7-38F2-4C00-B7CA-9383ACCA55EA}"/>
              </a:ext>
            </a:extLst>
          </p:cNvPr>
          <p:cNvSpPr txBox="1">
            <a:spLocks noChangeArrowheads="1"/>
          </p:cNvSpPr>
          <p:nvPr/>
        </p:nvSpPr>
        <p:spPr bwMode="auto">
          <a:xfrm>
            <a:off x="2946342" y="5319838"/>
            <a:ext cx="1191352"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FFRDCs 5%</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$4 billion</a:t>
            </a:r>
          </a:p>
        </p:txBody>
      </p:sp>
      <p:sp>
        <p:nvSpPr>
          <p:cNvPr id="24" name="Text Box 6">
            <a:extLst>
              <a:ext uri="{FF2B5EF4-FFF2-40B4-BE49-F238E27FC236}">
                <a16:creationId xmlns:a16="http://schemas.microsoft.com/office/drawing/2014/main" id="{F8509658-B727-41F1-9A46-FFAC9005A5F7}"/>
              </a:ext>
            </a:extLst>
          </p:cNvPr>
          <p:cNvSpPr txBox="1">
            <a:spLocks noChangeArrowheads="1"/>
          </p:cNvSpPr>
          <p:nvPr/>
        </p:nvSpPr>
        <p:spPr bwMode="auto">
          <a:xfrm>
            <a:off x="7665390" y="5399326"/>
            <a:ext cx="1208985"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Non-fed gov.</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 $2 billion</a:t>
            </a:r>
          </a:p>
        </p:txBody>
      </p:sp>
      <p:sp>
        <p:nvSpPr>
          <p:cNvPr id="25" name="Text Box 7">
            <a:extLst>
              <a:ext uri="{FF2B5EF4-FFF2-40B4-BE49-F238E27FC236}">
                <a16:creationId xmlns:a16="http://schemas.microsoft.com/office/drawing/2014/main" id="{BA8E7B10-CB48-44A0-92C6-7CCE4F9D0AB3}"/>
              </a:ext>
            </a:extLst>
          </p:cNvPr>
          <p:cNvSpPr txBox="1">
            <a:spLocks noChangeArrowheads="1"/>
          </p:cNvSpPr>
          <p:nvPr/>
        </p:nvSpPr>
        <p:spPr bwMode="auto">
          <a:xfrm>
            <a:off x="429498" y="5191729"/>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 49% $42 billion</a:t>
            </a:r>
          </a:p>
        </p:txBody>
      </p:sp>
      <p:sp>
        <p:nvSpPr>
          <p:cNvPr id="26" name="Text Box 7">
            <a:extLst>
              <a:ext uri="{FF2B5EF4-FFF2-40B4-BE49-F238E27FC236}">
                <a16:creationId xmlns:a16="http://schemas.microsoft.com/office/drawing/2014/main" id="{84D2DE2D-EB14-431A-8210-E026FA45FCEC}"/>
              </a:ext>
            </a:extLst>
          </p:cNvPr>
          <p:cNvSpPr txBox="1">
            <a:spLocks noChangeArrowheads="1"/>
          </p:cNvSpPr>
          <p:nvPr/>
        </p:nvSpPr>
        <p:spPr bwMode="auto">
          <a:xfrm>
            <a:off x="6095270" y="5726329"/>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 14% $12 billion</a:t>
            </a:r>
          </a:p>
        </p:txBody>
      </p:sp>
      <p:cxnSp>
        <p:nvCxnSpPr>
          <p:cNvPr id="6" name="Straight Arrow Connector 5">
            <a:extLst>
              <a:ext uri="{FF2B5EF4-FFF2-40B4-BE49-F238E27FC236}">
                <a16:creationId xmlns:a16="http://schemas.microsoft.com/office/drawing/2014/main" id="{1A412FDF-5E8A-4E7B-9E32-87BF31AA25D8}"/>
              </a:ext>
            </a:extLst>
          </p:cNvPr>
          <p:cNvCxnSpPr>
            <a:cxnSpLocks/>
          </p:cNvCxnSpPr>
          <p:nvPr/>
        </p:nvCxnSpPr>
        <p:spPr>
          <a:xfrm flipV="1">
            <a:off x="6853616" y="5239069"/>
            <a:ext cx="202413" cy="487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1909785B-88C3-48FC-84CF-F94411DE6454}"/>
              </a:ext>
            </a:extLst>
          </p:cNvPr>
          <p:cNvCxnSpPr/>
          <p:nvPr/>
        </p:nvCxnSpPr>
        <p:spPr>
          <a:xfrm flipH="1" flipV="1">
            <a:off x="7999041" y="4990972"/>
            <a:ext cx="129822" cy="3699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Chart 27">
            <a:extLst>
              <a:ext uri="{FF2B5EF4-FFF2-40B4-BE49-F238E27FC236}">
                <a16:creationId xmlns:a16="http://schemas.microsoft.com/office/drawing/2014/main" id="{6A699787-1B5C-4A2E-8284-97FBAE091006}"/>
              </a:ext>
            </a:extLst>
          </p:cNvPr>
          <p:cNvGraphicFramePr>
            <a:graphicFrameLocks/>
          </p:cNvGraphicFramePr>
          <p:nvPr>
            <p:extLst/>
          </p:nvPr>
        </p:nvGraphicFramePr>
        <p:xfrm>
          <a:off x="334375" y="3073172"/>
          <a:ext cx="4222548" cy="235499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5F62CF6F-4DE8-4580-A9D8-7F7CEEAF28B1}"/>
              </a:ext>
            </a:extLst>
          </p:cNvPr>
          <p:cNvGraphicFramePr>
            <a:graphicFrameLocks/>
          </p:cNvGraphicFramePr>
          <p:nvPr>
            <p:extLst/>
          </p:nvPr>
        </p:nvGraphicFramePr>
        <p:xfrm>
          <a:off x="4721706" y="3015949"/>
          <a:ext cx="4016518" cy="2390266"/>
        </p:xfrm>
        <a:graphic>
          <a:graphicData uri="http://schemas.openxmlformats.org/drawingml/2006/chart">
            <c:chart xmlns:c="http://schemas.openxmlformats.org/drawingml/2006/chart" xmlns:r="http://schemas.openxmlformats.org/officeDocument/2006/relationships" r:id="rId6"/>
          </a:graphicData>
        </a:graphic>
      </p:graphicFrame>
      <p:sp>
        <p:nvSpPr>
          <p:cNvPr id="30" name="TextBox 29">
            <a:extLst>
              <a:ext uri="{FF2B5EF4-FFF2-40B4-BE49-F238E27FC236}">
                <a16:creationId xmlns:a16="http://schemas.microsoft.com/office/drawing/2014/main" id="{E238DEE1-0638-43A9-84C0-4AFC2254B00A}"/>
              </a:ext>
            </a:extLst>
          </p:cNvPr>
          <p:cNvSpPr txBox="1"/>
          <p:nvPr/>
        </p:nvSpPr>
        <p:spPr>
          <a:xfrm>
            <a:off x="342900" y="6477000"/>
            <a:ext cx="46863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sp>
        <p:nvSpPr>
          <p:cNvPr id="2" name="Slide Number Placeholder 1">
            <a:extLst>
              <a:ext uri="{FF2B5EF4-FFF2-40B4-BE49-F238E27FC236}">
                <a16:creationId xmlns:a16="http://schemas.microsoft.com/office/drawing/2014/main" id="{3D627AFB-CC6C-4D4A-88C4-E14944244337}"/>
              </a:ext>
            </a:extLst>
          </p:cNvPr>
          <p:cNvSpPr>
            <a:spLocks noGrp="1"/>
          </p:cNvSpPr>
          <p:nvPr>
            <p:ph type="sldNum" sz="quarter" idx="12"/>
          </p:nvPr>
        </p:nvSpPr>
        <p:spPr/>
        <p:txBody>
          <a:bodyPr/>
          <a:lstStyle/>
          <a:p>
            <a:fld id="{1B835D90-6387-4175-8905-3408BA5A358B}" type="slidenum">
              <a:rPr lang="en-US" altLang="en-US" smtClean="0"/>
              <a:pPr/>
              <a:t>6</a:t>
            </a:fld>
            <a:endParaRPr lang="en-US" altLang="en-US"/>
          </a:p>
        </p:txBody>
      </p:sp>
    </p:spTree>
    <p:extLst>
      <p:ext uri="{BB962C8B-B14F-4D97-AF65-F5344CB8AC3E}">
        <p14:creationId xmlns:p14="http://schemas.microsoft.com/office/powerpoint/2010/main" val="1806537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93271" y="540453"/>
            <a:ext cx="8382000" cy="1143000"/>
          </a:xfrm>
        </p:spPr>
        <p:txBody>
          <a:bodyPr/>
          <a:lstStyle/>
          <a:p>
            <a:pPr eaLnBrk="1" hangingPunct="1"/>
            <a:r>
              <a:rPr lang="en-US" altLang="en-US" sz="2800" b="1" dirty="0">
                <a:latin typeface="Arial" panose="020B0604020202020204" pitchFamily="34" charset="0"/>
              </a:rPr>
              <a:t>U.S R&amp;D and Basic Research, by Performer and Source of Funds: 2016</a:t>
            </a:r>
            <a:r>
              <a:rPr lang="en-US" sz="2800" b="1" dirty="0">
                <a:latin typeface="Arial" charset="0"/>
                <a:cs typeface="Arial" charset="0"/>
              </a:rPr>
              <a:t> </a:t>
            </a:r>
            <a:r>
              <a:rPr lang="en-US" sz="1600" b="1" dirty="0">
                <a:latin typeface="Arial" charset="0"/>
                <a:cs typeface="Arial" charset="0"/>
              </a:rPr>
              <a:t>(prelim.)</a:t>
            </a:r>
            <a:endParaRPr lang="en-US" altLang="en-US" sz="1600" b="1" dirty="0">
              <a:latin typeface="Arial" panose="020B0604020202020204" pitchFamily="34" charset="0"/>
            </a:endParaRP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21771" y="606879"/>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8577"/>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53340" y="6440454"/>
            <a:ext cx="160329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NCSES</a:t>
            </a:r>
          </a:p>
        </p:txBody>
      </p:sp>
      <p:graphicFrame>
        <p:nvGraphicFramePr>
          <p:cNvPr id="6" name="Table 5">
            <a:extLst>
              <a:ext uri="{FF2B5EF4-FFF2-40B4-BE49-F238E27FC236}">
                <a16:creationId xmlns:a16="http://schemas.microsoft.com/office/drawing/2014/main" id="{71B5A2B8-DCCF-4BFB-B260-68C3E82BAC25}"/>
              </a:ext>
            </a:extLst>
          </p:cNvPr>
          <p:cNvGraphicFramePr>
            <a:graphicFrameLocks noGrp="1"/>
          </p:cNvGraphicFramePr>
          <p:nvPr>
            <p:extLst>
              <p:ext uri="{D42A27DB-BD31-4B8C-83A1-F6EECF244321}">
                <p14:modId xmlns:p14="http://schemas.microsoft.com/office/powerpoint/2010/main" val="2464441649"/>
              </p:ext>
            </p:extLst>
          </p:nvPr>
        </p:nvGraphicFramePr>
        <p:xfrm>
          <a:off x="1160054" y="1524001"/>
          <a:ext cx="7450546" cy="4930785"/>
        </p:xfrm>
        <a:graphic>
          <a:graphicData uri="http://schemas.openxmlformats.org/drawingml/2006/table">
            <a:tbl>
              <a:tblPr>
                <a:tableStyleId>{5C22544A-7EE6-4342-B048-85BDC9FD1C3A}</a:tableStyleId>
              </a:tblPr>
              <a:tblGrid>
                <a:gridCol w="2148071">
                  <a:extLst>
                    <a:ext uri="{9D8B030D-6E8A-4147-A177-3AD203B41FA5}">
                      <a16:colId xmlns:a16="http://schemas.microsoft.com/office/drawing/2014/main" val="3802478476"/>
                    </a:ext>
                  </a:extLst>
                </a:gridCol>
                <a:gridCol w="574350">
                  <a:extLst>
                    <a:ext uri="{9D8B030D-6E8A-4147-A177-3AD203B41FA5}">
                      <a16:colId xmlns:a16="http://schemas.microsoft.com/office/drawing/2014/main" val="1364720486"/>
                    </a:ext>
                  </a:extLst>
                </a:gridCol>
                <a:gridCol w="677732">
                  <a:extLst>
                    <a:ext uri="{9D8B030D-6E8A-4147-A177-3AD203B41FA5}">
                      <a16:colId xmlns:a16="http://schemas.microsoft.com/office/drawing/2014/main" val="3869641992"/>
                    </a:ext>
                  </a:extLst>
                </a:gridCol>
                <a:gridCol w="735169">
                  <a:extLst>
                    <a:ext uri="{9D8B030D-6E8A-4147-A177-3AD203B41FA5}">
                      <a16:colId xmlns:a16="http://schemas.microsoft.com/office/drawing/2014/main" val="4065940745"/>
                    </a:ext>
                  </a:extLst>
                </a:gridCol>
                <a:gridCol w="781117">
                  <a:extLst>
                    <a:ext uri="{9D8B030D-6E8A-4147-A177-3AD203B41FA5}">
                      <a16:colId xmlns:a16="http://schemas.microsoft.com/office/drawing/2014/main" val="67949928"/>
                    </a:ext>
                  </a:extLst>
                </a:gridCol>
                <a:gridCol w="750485">
                  <a:extLst>
                    <a:ext uri="{9D8B030D-6E8A-4147-A177-3AD203B41FA5}">
                      <a16:colId xmlns:a16="http://schemas.microsoft.com/office/drawing/2014/main" val="3150640534"/>
                    </a:ext>
                  </a:extLst>
                </a:gridCol>
                <a:gridCol w="888329">
                  <a:extLst>
                    <a:ext uri="{9D8B030D-6E8A-4147-A177-3AD203B41FA5}">
                      <a16:colId xmlns:a16="http://schemas.microsoft.com/office/drawing/2014/main" val="1509324745"/>
                    </a:ext>
                  </a:extLst>
                </a:gridCol>
                <a:gridCol w="895293">
                  <a:extLst>
                    <a:ext uri="{9D8B030D-6E8A-4147-A177-3AD203B41FA5}">
                      <a16:colId xmlns:a16="http://schemas.microsoft.com/office/drawing/2014/main" val="1662326215"/>
                    </a:ext>
                  </a:extLst>
                </a:gridCol>
              </a:tblGrid>
              <a:tr h="211356">
                <a:tc>
                  <a:txBody>
                    <a:bodyPr/>
                    <a:lstStyle/>
                    <a:p>
                      <a:pPr algn="l" fontAlgn="b"/>
                      <a:r>
                        <a:rPr lang="en-US" sz="1100" b="1" u="none" strike="noStrike" dirty="0">
                          <a:effectLst/>
                          <a:latin typeface="Arial" panose="020B0604020202020204" pitchFamily="34" charset="0"/>
                          <a:cs typeface="Arial" panose="020B0604020202020204" pitchFamily="34" charset="0"/>
                        </a:rPr>
                        <a:t>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gridSpan="6">
                  <a:txBody>
                    <a:bodyPr/>
                    <a:lstStyle/>
                    <a:p>
                      <a:pPr algn="ctr" fontAlgn="b"/>
                      <a:r>
                        <a:rPr lang="en-US" sz="1100" b="1" u="none" strike="noStrike">
                          <a:effectLst/>
                          <a:latin typeface="Arial" panose="020B0604020202020204" pitchFamily="34" charset="0"/>
                          <a:cs typeface="Arial" panose="020B0604020202020204" pitchFamily="34" charset="0"/>
                        </a:rPr>
                        <a:t>Source of funds ($ millions)</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1" u="none" strike="noStrike">
                          <a:effectLst/>
                          <a:latin typeface="Arial" panose="020B0604020202020204" pitchFamily="34" charset="0"/>
                          <a:cs typeface="Arial" panose="020B0604020202020204" pitchFamily="34" charset="0"/>
                        </a:rPr>
                        <a:t>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94427715"/>
                  </a:ext>
                </a:extLst>
              </a:tr>
              <a:tr h="199614">
                <a:tc rowSpan="2">
                  <a:txBody>
                    <a:bodyPr/>
                    <a:lstStyle/>
                    <a:p>
                      <a:pPr algn="l" fontAlgn="b"/>
                      <a:r>
                        <a:rPr lang="en-US" sz="1100" b="1" u="none" strike="noStrike" dirty="0">
                          <a:effectLst/>
                          <a:latin typeface="Arial" panose="020B0604020202020204" pitchFamily="34" charset="0"/>
                          <a:cs typeface="Arial" panose="020B0604020202020204" pitchFamily="34" charset="0"/>
                        </a:rPr>
                        <a:t>Performing sector</a:t>
                      </a:r>
                    </a:p>
                    <a:p>
                      <a:pPr algn="l" fontAlgn="b"/>
                      <a:r>
                        <a:rPr lang="en-US" sz="1100" b="1" u="none" strike="noStrike" dirty="0">
                          <a:effectLst/>
                          <a:latin typeface="Arial" panose="020B0604020202020204" pitchFamily="34" charset="0"/>
                          <a:cs typeface="Arial" panose="020B0604020202020204" pitchFamily="34" charset="0"/>
                        </a:rPr>
                        <a:t> and type of R&amp;D</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dirty="0">
                          <a:effectLst/>
                          <a:latin typeface="Arial" panose="020B0604020202020204" pitchFamily="34" charset="0"/>
                          <a:cs typeface="Arial" panose="020B0604020202020204" pitchFamily="34" charset="0"/>
                        </a:rPr>
                        <a:t>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a:effectLst/>
                          <a:latin typeface="Arial" panose="020B0604020202020204" pitchFamily="34" charset="0"/>
                          <a:cs typeface="Arial" panose="020B0604020202020204" pitchFamily="34" charset="0"/>
                        </a:rPr>
                        <a:t>Business</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solidFill>
                            <a:srgbClr val="FF0000"/>
                          </a:solidFill>
                          <a:effectLst/>
                          <a:latin typeface="Arial" panose="020B0604020202020204" pitchFamily="34" charset="0"/>
                          <a:cs typeface="Arial" panose="020B0604020202020204" pitchFamily="34" charset="0"/>
                        </a:rPr>
                        <a:t>Federal govt.</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effectLst/>
                          <a:latin typeface="Arial" panose="020B0604020202020204" pitchFamily="34" charset="0"/>
                          <a:cs typeface="Arial" panose="020B0604020202020204" pitchFamily="34" charset="0"/>
                        </a:rPr>
                        <a:t>Nonfederal govt.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a:effectLst/>
                          <a:latin typeface="Arial" panose="020B0604020202020204" pitchFamily="34" charset="0"/>
                          <a:cs typeface="Arial" panose="020B0604020202020204" pitchFamily="34" charset="0"/>
                        </a:rPr>
                        <a:t>Higher education</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effectLst/>
                          <a:latin typeface="Arial" panose="020B0604020202020204" pitchFamily="34" charset="0"/>
                          <a:cs typeface="Arial" panose="020B0604020202020204" pitchFamily="34" charset="0"/>
                        </a:rPr>
                        <a:t>Nonprofit organ.</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effectLst/>
                          <a:latin typeface="Arial" panose="020B0604020202020204" pitchFamily="34" charset="0"/>
                          <a:cs typeface="Arial" panose="020B0604020202020204" pitchFamily="34" charset="0"/>
                        </a:rPr>
                        <a:t>% distribution by</a:t>
                      </a:r>
                      <a:r>
                        <a:rPr lang="en-US" sz="1100" b="1" u="none" strike="noStrike" baseline="0" dirty="0">
                          <a:effectLst/>
                          <a:latin typeface="Arial" panose="020B0604020202020204" pitchFamily="34" charset="0"/>
                          <a:cs typeface="Arial" panose="020B0604020202020204" pitchFamily="34" charset="0"/>
                        </a:rPr>
                        <a:t> </a:t>
                      </a:r>
                      <a:r>
                        <a:rPr lang="en-US" sz="1100" b="1" u="none" strike="noStrike" dirty="0">
                          <a:effectLst/>
                          <a:latin typeface="Arial" panose="020B0604020202020204" pitchFamily="34" charset="0"/>
                          <a:cs typeface="Arial" panose="020B0604020202020204" pitchFamily="34" charset="0"/>
                        </a:rPr>
                        <a:t>performer</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4720472"/>
                  </a:ext>
                </a:extLst>
              </a:tr>
              <a:tr h="333804">
                <a:tc vMerge="1">
                  <a:txBody>
                    <a:bodyPr/>
                    <a:lstStyle/>
                    <a:p>
                      <a:endParaRPr lang="en-US"/>
                    </a:p>
                  </a:txBody>
                  <a:tcPr/>
                </a:tc>
                <a:tc>
                  <a:txBody>
                    <a:bodyPr/>
                    <a:lstStyle/>
                    <a:p>
                      <a:pPr algn="r" fontAlgn="b"/>
                      <a:r>
                        <a:rPr lang="en-US" sz="1100" b="1" u="none" strike="noStrike" dirty="0">
                          <a:effectLst/>
                          <a:latin typeface="Arial" panose="020B0604020202020204" pitchFamily="34" charset="0"/>
                          <a:cs typeface="Arial" panose="020B0604020202020204" pitchFamily="34" charset="0"/>
                        </a:rPr>
                        <a:t>Total</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94301953"/>
                  </a:ext>
                </a:extLst>
              </a:tr>
              <a:tr h="199614">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Total R&amp;D</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509,967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343,563</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122,656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4,425</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18,686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20,637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i="0" u="none" strike="noStrike" dirty="0">
                          <a:effectLst/>
                          <a:latin typeface="Arial" panose="020B0604020202020204" pitchFamily="34" charset="0"/>
                          <a:cs typeface="Arial" panose="020B0604020202020204" pitchFamily="34" charset="0"/>
                        </a:rPr>
                        <a:t>100.0</a:t>
                      </a:r>
                    </a:p>
                  </a:txBody>
                  <a:tcPr marL="9525" marR="9525" marT="9525" marB="0" anchor="ctr"/>
                </a:tc>
                <a:extLst>
                  <a:ext uri="{0D108BD9-81ED-4DB2-BD59-A6C34878D82A}">
                    <a16:rowId xmlns:a16="http://schemas.microsoft.com/office/drawing/2014/main" val="610611958"/>
                  </a:ext>
                </a:extLst>
              </a:tr>
              <a:tr h="185523">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Business</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363,753</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337,697</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24,717</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137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1,202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 71.3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4042375"/>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Federal government</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57,459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195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57,090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22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152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11.3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36385640"/>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     Federal intramural</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37,999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37,999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7.5</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4044780"/>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     FFRDCs</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19,460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195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19,091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22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152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201427500"/>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State government</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651</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262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389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19427369"/>
                  </a:ext>
                </a:extLst>
              </a:tr>
              <a:tr h="185523">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Higher education</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67,521</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4,064</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34,205</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3,877</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18,686</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6,689</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13.2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189138741"/>
                  </a:ext>
                </a:extLst>
              </a:tr>
              <a:tr h="228473">
                <a:tc>
                  <a:txBody>
                    <a:bodyPr/>
                    <a:lstStyle/>
                    <a:p>
                      <a:pPr algn="l" fontAlgn="ctr"/>
                      <a:r>
                        <a:rPr lang="en-US" sz="1100" b="1" u="none" strike="noStrike" dirty="0">
                          <a:effectLst/>
                          <a:latin typeface="Arial" panose="020B0604020202020204" pitchFamily="34" charset="0"/>
                          <a:cs typeface="Arial" panose="020B0604020202020204" pitchFamily="34" charset="0"/>
                        </a:rPr>
                        <a:t>Other nonprofits</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20,583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1,607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6,382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12,594</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4.0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3691931"/>
                  </a:ext>
                </a:extLst>
              </a:tr>
              <a:tr h="500862">
                <a:tc>
                  <a:txBody>
                    <a:bodyPr/>
                    <a:lstStyle/>
                    <a:p>
                      <a:pPr algn="l" fontAlgn="ctr"/>
                      <a:r>
                        <a:rPr lang="en-US" sz="1100" b="1" u="none" strike="noStrike" dirty="0">
                          <a:effectLst/>
                          <a:latin typeface="Arial" panose="020B0604020202020204" pitchFamily="34" charset="0"/>
                          <a:cs typeface="Arial" panose="020B0604020202020204" pitchFamily="34" charset="0"/>
                        </a:rPr>
                        <a:t>% distribution by funding source</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100.0</a:t>
                      </a:r>
                    </a:p>
                    <a:p>
                      <a:pPr algn="r" fontAlgn="ct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67.4</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a:t>
                      </a:r>
                      <a:r>
                        <a:rPr lang="en-US" sz="1100" b="1" u="none" strike="noStrike" dirty="0">
                          <a:solidFill>
                            <a:srgbClr val="FF0000"/>
                          </a:solidFill>
                          <a:effectLst/>
                          <a:latin typeface="Arial" panose="020B0604020202020204" pitchFamily="34" charset="0"/>
                          <a:cs typeface="Arial" panose="020B0604020202020204" pitchFamily="34" charset="0"/>
                        </a:rPr>
                        <a:t>24.1</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0.9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4.0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na</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56179681"/>
                  </a:ext>
                </a:extLst>
              </a:tr>
              <a:tr h="173160">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80688611"/>
                  </a:ext>
                </a:extLst>
              </a:tr>
              <a:tr h="185523">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Basic research</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86,318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23,465</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37,554</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2,405</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11,716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11,178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100.0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37362621"/>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Business</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22,236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20,230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1,866</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14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126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25.8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419774046"/>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Federal government</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10,578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47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a:effectLst/>
                          <a:latin typeface="Arial" panose="020B0604020202020204" pitchFamily="34" charset="0"/>
                          <a:cs typeface="Arial" panose="020B0604020202020204" pitchFamily="34" charset="0"/>
                        </a:rPr>
                        <a:t>10,489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dirty="0">
                          <a:effectLst/>
                          <a:latin typeface="Arial" panose="020B0604020202020204" pitchFamily="34" charset="0"/>
                          <a:cs typeface="Arial" panose="020B0604020202020204" pitchFamily="34" charset="0"/>
                        </a:rPr>
                        <a:t>5</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dirty="0">
                          <a:effectLst/>
                          <a:latin typeface="Arial" panose="020B0604020202020204" pitchFamily="34" charset="0"/>
                          <a:cs typeface="Arial" panose="020B0604020202020204" pitchFamily="34" charset="0"/>
                        </a:rPr>
                        <a:t>37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 12.3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434229887"/>
                  </a:ext>
                </a:extLst>
              </a:tr>
              <a:tr h="185523">
                <a:tc>
                  <a:txBody>
                    <a:bodyPr/>
                    <a:lstStyle/>
                    <a:p>
                      <a:pPr algn="l" fontAlgn="ctr"/>
                      <a:r>
                        <a:rPr lang="en-US" sz="1100" b="1" u="none" strike="noStrike">
                          <a:effectLst/>
                          <a:latin typeface="Arial" panose="020B0604020202020204" pitchFamily="34" charset="0"/>
                          <a:cs typeface="Arial" panose="020B0604020202020204" pitchFamily="34" charset="0"/>
                        </a:rPr>
                        <a:t>     Federal intramural</a:t>
                      </a:r>
                      <a:endParaRPr lang="en-US" sz="1100" b="1" i="0" u="none" strike="noStrike">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6,301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6,301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7.3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73236406"/>
                  </a:ext>
                </a:extLst>
              </a:tr>
              <a:tr h="185523">
                <a:tc>
                  <a:txBody>
                    <a:bodyPr/>
                    <a:lstStyle/>
                    <a:p>
                      <a:pPr algn="l" fontAlgn="ctr"/>
                      <a:r>
                        <a:rPr lang="en-US" sz="1100" b="1" u="none" strike="noStrike">
                          <a:effectLst/>
                          <a:latin typeface="Arial" panose="020B0604020202020204" pitchFamily="34" charset="0"/>
                          <a:cs typeface="Arial" panose="020B0604020202020204" pitchFamily="34" charset="0"/>
                        </a:rPr>
                        <a:t>         FFRDCs</a:t>
                      </a:r>
                      <a:endParaRPr lang="en-US" sz="1100" b="1" i="0" u="none" strike="noStrike">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4,277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47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4,188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37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5.0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51891959"/>
                  </a:ext>
                </a:extLst>
              </a:tr>
              <a:tr h="184349">
                <a:tc>
                  <a:txBody>
                    <a:bodyPr/>
                    <a:lstStyle/>
                    <a:p>
                      <a:pPr algn="l" fontAlgn="ctr"/>
                      <a:r>
                        <a:rPr lang="en-US" sz="1100" b="1" u="none" strike="noStrike" dirty="0">
                          <a:effectLst/>
                          <a:latin typeface="Arial" panose="020B0604020202020204" pitchFamily="34" charset="0"/>
                          <a:cs typeface="Arial" panose="020B0604020202020204" pitchFamily="34" charset="0"/>
                        </a:rPr>
                        <a:t>State government</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92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55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21761262"/>
                  </a:ext>
                </a:extLst>
              </a:tr>
              <a:tr h="185523">
                <a:tc>
                  <a:txBody>
                    <a:bodyPr/>
                    <a:lstStyle/>
                    <a:p>
                      <a:pPr algn="l" fontAlgn="ctr"/>
                      <a:r>
                        <a:rPr lang="en-US" sz="1100" b="1" u="none" strike="noStrike" dirty="0">
                          <a:solidFill>
                            <a:schemeClr val="tx1"/>
                          </a:solidFill>
                          <a:effectLst/>
                          <a:latin typeface="Arial" panose="020B0604020202020204" pitchFamily="34" charset="0"/>
                          <a:cs typeface="Arial" panose="020B0604020202020204" pitchFamily="34" charset="0"/>
                        </a:rPr>
                        <a:t>    Higher education</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42,425</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2,296</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22,060</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2,331</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11,716</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4,022</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49.1</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54347404"/>
                  </a:ext>
                </a:extLst>
              </a:tr>
              <a:tr h="298903">
                <a:tc>
                  <a:txBody>
                    <a:bodyPr/>
                    <a:lstStyle/>
                    <a:p>
                      <a:pPr algn="l" fontAlgn="ctr"/>
                      <a:r>
                        <a:rPr lang="en-US" sz="1100" b="1" u="none" strike="noStrike" dirty="0">
                          <a:effectLst/>
                          <a:latin typeface="Arial" panose="020B0604020202020204" pitchFamily="34" charset="0"/>
                          <a:cs typeface="Arial" panose="020B0604020202020204" pitchFamily="34" charset="0"/>
                        </a:rPr>
                        <a:t>Other nonprofits</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10,987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892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3,102</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6,993</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12.7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379053740"/>
                  </a:ext>
                </a:extLst>
              </a:tr>
              <a:tr h="358786">
                <a:tc>
                  <a:txBody>
                    <a:bodyPr/>
                    <a:lstStyle/>
                    <a:p>
                      <a:pPr marL="0" algn="l" defTabSz="914400" rtl="0" eaLnBrk="1" fontAlgn="ctr" latinLnBrk="0" hangingPunct="1"/>
                      <a:r>
                        <a:rPr lang="en-US" sz="1100" b="1" u="none" strike="noStrike" kern="1200" dirty="0">
                          <a:solidFill>
                            <a:schemeClr val="dk1"/>
                          </a:solidFill>
                          <a:effectLst/>
                          <a:latin typeface="Arial" panose="020B0604020202020204" pitchFamily="34" charset="0"/>
                          <a:ea typeface="+mn-ea"/>
                          <a:cs typeface="Arial" panose="020B0604020202020204" pitchFamily="34" charset="0"/>
                        </a:rPr>
                        <a:t>% distribution by funding source</a:t>
                      </a:r>
                    </a:p>
                  </a:txBody>
                  <a:tcPr marL="228600"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100.0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27.2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a:t>
                      </a:r>
                      <a:r>
                        <a:rPr lang="en-US" sz="1100" b="1" u="none" strike="noStrike" dirty="0">
                          <a:solidFill>
                            <a:srgbClr val="FF0000"/>
                          </a:solidFill>
                          <a:effectLst/>
                          <a:latin typeface="Arial" panose="020B0604020202020204" pitchFamily="34" charset="0"/>
                          <a:cs typeface="Arial" panose="020B0604020202020204" pitchFamily="34" charset="0"/>
                        </a:rPr>
                        <a:t>43.5</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2.8</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13.6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12.9</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err="1">
                          <a:effectLst/>
                          <a:latin typeface="Arial" panose="020B0604020202020204" pitchFamily="34" charset="0"/>
                          <a:cs typeface="Arial" panose="020B0604020202020204" pitchFamily="34" charset="0"/>
                        </a:rPr>
                        <a:t>na</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530947282"/>
                  </a:ext>
                </a:extLst>
              </a:tr>
            </a:tbl>
          </a:graphicData>
        </a:graphic>
      </p:graphicFrame>
      <p:sp>
        <p:nvSpPr>
          <p:cNvPr id="2" name="Slide Number Placeholder 1">
            <a:extLst>
              <a:ext uri="{FF2B5EF4-FFF2-40B4-BE49-F238E27FC236}">
                <a16:creationId xmlns:a16="http://schemas.microsoft.com/office/drawing/2014/main" id="{840C702B-14A1-42B4-88CC-C07B117D6095}"/>
              </a:ext>
            </a:extLst>
          </p:cNvPr>
          <p:cNvSpPr>
            <a:spLocks noGrp="1"/>
          </p:cNvSpPr>
          <p:nvPr>
            <p:ph type="sldNum" sz="quarter" idx="12"/>
          </p:nvPr>
        </p:nvSpPr>
        <p:spPr/>
        <p:txBody>
          <a:bodyPr/>
          <a:lstStyle/>
          <a:p>
            <a:fld id="{1B835D90-6387-4175-8905-3408BA5A358B}" type="slidenum">
              <a:rPr lang="en-US" altLang="en-US" smtClean="0"/>
              <a:pPr/>
              <a:t>7</a:t>
            </a:fld>
            <a:endParaRPr lang="en-US" altLang="en-US"/>
          </a:p>
        </p:txBody>
      </p:sp>
    </p:spTree>
    <p:extLst>
      <p:ext uri="{BB962C8B-B14F-4D97-AF65-F5344CB8AC3E}">
        <p14:creationId xmlns:p14="http://schemas.microsoft.com/office/powerpoint/2010/main" val="967229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624840" y="812622"/>
            <a:ext cx="7772400" cy="1143000"/>
          </a:xfrm>
        </p:spPr>
        <p:txBody>
          <a:bodyPr/>
          <a:lstStyle/>
          <a:p>
            <a:pPr eaLnBrk="1" hangingPunct="1"/>
            <a:r>
              <a:rPr lang="en-US" altLang="en-US" sz="3200" b="1" dirty="0">
                <a:latin typeface="Arial" panose="020B0604020202020204" pitchFamily="34" charset="0"/>
              </a:rPr>
              <a:t>Ratio of R&amp;D to GDP, by Source of R&amp;D Funding: 1965-2015</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60222"/>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09360"/>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53797"/>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Chart 5">
            <a:extLst>
              <a:ext uri="{FF2B5EF4-FFF2-40B4-BE49-F238E27FC236}">
                <a16:creationId xmlns:a16="http://schemas.microsoft.com/office/drawing/2014/main" id="{9FCC5A7A-364B-4A3F-B176-FED2BBCA9EAA}"/>
              </a:ext>
            </a:extLst>
          </p:cNvPr>
          <p:cNvGraphicFramePr>
            <a:graphicFrameLocks/>
          </p:cNvGraphicFramePr>
          <p:nvPr>
            <p:extLst>
              <p:ext uri="{D42A27DB-BD31-4B8C-83A1-F6EECF244321}">
                <p14:modId xmlns:p14="http://schemas.microsoft.com/office/powerpoint/2010/main" val="2355553112"/>
              </p:ext>
            </p:extLst>
          </p:nvPr>
        </p:nvGraphicFramePr>
        <p:xfrm>
          <a:off x="1600200" y="2142898"/>
          <a:ext cx="6248400" cy="421386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8CE382AF-0CA2-4031-AC3F-7603BCDE5D12}"/>
              </a:ext>
            </a:extLst>
          </p:cNvPr>
          <p:cNvSpPr txBox="1"/>
          <p:nvPr/>
        </p:nvSpPr>
        <p:spPr>
          <a:xfrm>
            <a:off x="6013875" y="2066698"/>
            <a:ext cx="91440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Total funding</a:t>
            </a:r>
          </a:p>
        </p:txBody>
      </p:sp>
      <p:sp>
        <p:nvSpPr>
          <p:cNvPr id="8" name="TextBox 7">
            <a:extLst>
              <a:ext uri="{FF2B5EF4-FFF2-40B4-BE49-F238E27FC236}">
                <a16:creationId xmlns:a16="http://schemas.microsoft.com/office/drawing/2014/main" id="{9D37B002-53B7-4C4E-A289-99BE05081F63}"/>
              </a:ext>
            </a:extLst>
          </p:cNvPr>
          <p:cNvSpPr txBox="1"/>
          <p:nvPr/>
        </p:nvSpPr>
        <p:spPr>
          <a:xfrm>
            <a:off x="6019800" y="3387756"/>
            <a:ext cx="110490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Business funded</a:t>
            </a:r>
          </a:p>
        </p:txBody>
      </p:sp>
      <p:sp>
        <p:nvSpPr>
          <p:cNvPr id="9" name="TextBox 8">
            <a:extLst>
              <a:ext uri="{FF2B5EF4-FFF2-40B4-BE49-F238E27FC236}">
                <a16:creationId xmlns:a16="http://schemas.microsoft.com/office/drawing/2014/main" id="{825C6A68-BCCA-4030-BFF1-E7E88FD5327F}"/>
              </a:ext>
            </a:extLst>
          </p:cNvPr>
          <p:cNvSpPr txBox="1"/>
          <p:nvPr/>
        </p:nvSpPr>
        <p:spPr>
          <a:xfrm>
            <a:off x="5962650" y="4610647"/>
            <a:ext cx="121920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Federally-funded</a:t>
            </a:r>
          </a:p>
        </p:txBody>
      </p:sp>
      <p:sp>
        <p:nvSpPr>
          <p:cNvPr id="10" name="TextBox 9">
            <a:extLst>
              <a:ext uri="{FF2B5EF4-FFF2-40B4-BE49-F238E27FC236}">
                <a16:creationId xmlns:a16="http://schemas.microsoft.com/office/drawing/2014/main" id="{78FFEB9E-87D9-4D8A-BF06-8893DE92831E}"/>
              </a:ext>
            </a:extLst>
          </p:cNvPr>
          <p:cNvSpPr txBox="1"/>
          <p:nvPr/>
        </p:nvSpPr>
        <p:spPr>
          <a:xfrm>
            <a:off x="6107430" y="5252637"/>
            <a:ext cx="92202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Other funding</a:t>
            </a:r>
          </a:p>
        </p:txBody>
      </p:sp>
      <p:sp>
        <p:nvSpPr>
          <p:cNvPr id="3" name="TextBox 2">
            <a:extLst>
              <a:ext uri="{FF2B5EF4-FFF2-40B4-BE49-F238E27FC236}">
                <a16:creationId xmlns:a16="http://schemas.microsoft.com/office/drawing/2014/main" id="{F06F8C4D-C8D7-444D-9808-EDC7D0F1C96D}"/>
              </a:ext>
            </a:extLst>
          </p:cNvPr>
          <p:cNvSpPr txBox="1"/>
          <p:nvPr/>
        </p:nvSpPr>
        <p:spPr>
          <a:xfrm>
            <a:off x="7619210" y="2425537"/>
            <a:ext cx="532518"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2.73</a:t>
            </a:r>
          </a:p>
        </p:txBody>
      </p:sp>
      <p:sp>
        <p:nvSpPr>
          <p:cNvPr id="12" name="TextBox 11">
            <a:extLst>
              <a:ext uri="{FF2B5EF4-FFF2-40B4-BE49-F238E27FC236}">
                <a16:creationId xmlns:a16="http://schemas.microsoft.com/office/drawing/2014/main" id="{89364405-0338-48B4-AEA2-DC14F73865B9}"/>
              </a:ext>
            </a:extLst>
          </p:cNvPr>
          <p:cNvSpPr txBox="1"/>
          <p:nvPr/>
        </p:nvSpPr>
        <p:spPr>
          <a:xfrm>
            <a:off x="7589566" y="3563104"/>
            <a:ext cx="532518"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1.84</a:t>
            </a:r>
          </a:p>
        </p:txBody>
      </p:sp>
      <p:sp>
        <p:nvSpPr>
          <p:cNvPr id="13" name="TextBox 12">
            <a:extLst>
              <a:ext uri="{FF2B5EF4-FFF2-40B4-BE49-F238E27FC236}">
                <a16:creationId xmlns:a16="http://schemas.microsoft.com/office/drawing/2014/main" id="{04EAD9C9-FF06-4E93-8363-B4BE6A4109B0}"/>
              </a:ext>
            </a:extLst>
          </p:cNvPr>
          <p:cNvSpPr txBox="1"/>
          <p:nvPr/>
        </p:nvSpPr>
        <p:spPr>
          <a:xfrm>
            <a:off x="7619210" y="5025430"/>
            <a:ext cx="532518"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0.67</a:t>
            </a:r>
          </a:p>
        </p:txBody>
      </p:sp>
      <p:sp>
        <p:nvSpPr>
          <p:cNvPr id="14" name="TextBox 13">
            <a:extLst>
              <a:ext uri="{FF2B5EF4-FFF2-40B4-BE49-F238E27FC236}">
                <a16:creationId xmlns:a16="http://schemas.microsoft.com/office/drawing/2014/main" id="{853EF774-C4B1-43BB-8341-05F89BD2AF2C}"/>
              </a:ext>
            </a:extLst>
          </p:cNvPr>
          <p:cNvSpPr txBox="1"/>
          <p:nvPr/>
        </p:nvSpPr>
        <p:spPr>
          <a:xfrm>
            <a:off x="7581110" y="5638870"/>
            <a:ext cx="532518" cy="523220"/>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0.23</a:t>
            </a:r>
          </a:p>
          <a:p>
            <a:endParaRPr lang="en-US" sz="1400" b="1"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97AD249-3F08-4DAC-8BB1-ACE54A701221}"/>
              </a:ext>
            </a:extLst>
          </p:cNvPr>
          <p:cNvSpPr txBox="1"/>
          <p:nvPr/>
        </p:nvSpPr>
        <p:spPr>
          <a:xfrm>
            <a:off x="281940" y="6513158"/>
            <a:ext cx="46101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cxnSp>
        <p:nvCxnSpPr>
          <p:cNvPr id="5" name="Straight Connector 4">
            <a:extLst>
              <a:ext uri="{FF2B5EF4-FFF2-40B4-BE49-F238E27FC236}">
                <a16:creationId xmlns:a16="http://schemas.microsoft.com/office/drawing/2014/main" id="{85EDC090-EB9C-4D3E-8106-72EB1C20D811}"/>
              </a:ext>
            </a:extLst>
          </p:cNvPr>
          <p:cNvCxnSpPr>
            <a:cxnSpLocks/>
          </p:cNvCxnSpPr>
          <p:nvPr/>
        </p:nvCxnSpPr>
        <p:spPr>
          <a:xfrm flipV="1">
            <a:off x="5958840" y="2066698"/>
            <a:ext cx="0" cy="396240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3A6E494E-14F6-48AC-A642-46F27154F17C}"/>
              </a:ext>
            </a:extLst>
          </p:cNvPr>
          <p:cNvSpPr>
            <a:spLocks noGrp="1"/>
          </p:cNvSpPr>
          <p:nvPr>
            <p:ph type="sldNum" sz="quarter" idx="12"/>
          </p:nvPr>
        </p:nvSpPr>
        <p:spPr>
          <a:xfrm>
            <a:off x="6492240" y="6029098"/>
            <a:ext cx="1905000" cy="457200"/>
          </a:xfrm>
        </p:spPr>
        <p:txBody>
          <a:bodyPr/>
          <a:lstStyle/>
          <a:p>
            <a:fld id="{1B835D90-6387-4175-8905-3408BA5A358B}" type="slidenum">
              <a:rPr lang="en-US" altLang="en-US" smtClean="0"/>
              <a:pPr/>
              <a:t>8</a:t>
            </a:fld>
            <a:endParaRPr lang="en-US" altLang="en-US"/>
          </a:p>
        </p:txBody>
      </p:sp>
      <p:sp>
        <p:nvSpPr>
          <p:cNvPr id="18" name="TextBox 17">
            <a:extLst>
              <a:ext uri="{FF2B5EF4-FFF2-40B4-BE49-F238E27FC236}">
                <a16:creationId xmlns:a16="http://schemas.microsoft.com/office/drawing/2014/main" id="{BE966731-0600-4FF0-8DFA-56E1BF5AE7AF}"/>
              </a:ext>
            </a:extLst>
          </p:cNvPr>
          <p:cNvSpPr txBox="1"/>
          <p:nvPr/>
        </p:nvSpPr>
        <p:spPr>
          <a:xfrm>
            <a:off x="1228725" y="1928198"/>
            <a:ext cx="74295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Percent</a:t>
            </a:r>
          </a:p>
        </p:txBody>
      </p:sp>
    </p:spTree>
    <p:extLst>
      <p:ext uri="{BB962C8B-B14F-4D97-AF65-F5344CB8AC3E}">
        <p14:creationId xmlns:p14="http://schemas.microsoft.com/office/powerpoint/2010/main" val="2138414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457200" y="669925"/>
            <a:ext cx="8229600" cy="685800"/>
          </a:xfrm>
        </p:spPr>
        <p:txBody>
          <a:bodyPr/>
          <a:lstStyle/>
          <a:p>
            <a:pPr eaLnBrk="1" hangingPunct="1"/>
            <a:r>
              <a:rPr lang="en-US" altLang="en-US" sz="3200" b="1" dirty="0">
                <a:latin typeface="Arial" panose="020B0604020202020204" pitchFamily="34" charset="0"/>
              </a:rPr>
              <a:t>U.S. R&amp;D Trends during the Recent Past</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31825"/>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80963"/>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5400"/>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Chart 5">
            <a:extLst>
              <a:ext uri="{FF2B5EF4-FFF2-40B4-BE49-F238E27FC236}">
                <a16:creationId xmlns:a16="http://schemas.microsoft.com/office/drawing/2014/main" id="{4AB217FD-0466-4D8F-8BB6-9CEE854E4E36}"/>
              </a:ext>
            </a:extLst>
          </p:cNvPr>
          <p:cNvGraphicFramePr>
            <a:graphicFrameLocks/>
          </p:cNvGraphicFramePr>
          <p:nvPr>
            <p:extLst>
              <p:ext uri="{D42A27DB-BD31-4B8C-83A1-F6EECF244321}">
                <p14:modId xmlns:p14="http://schemas.microsoft.com/office/powerpoint/2010/main" val="514843688"/>
              </p:ext>
            </p:extLst>
          </p:nvPr>
        </p:nvGraphicFramePr>
        <p:xfrm>
          <a:off x="200215" y="1356360"/>
          <a:ext cx="4447985" cy="24079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id="{F6585F2A-9719-42E8-B232-9722190CEB6B}"/>
              </a:ext>
            </a:extLst>
          </p:cNvPr>
          <p:cNvGraphicFramePr>
            <a:graphicFrameLocks/>
          </p:cNvGraphicFramePr>
          <p:nvPr>
            <p:extLst>
              <p:ext uri="{D42A27DB-BD31-4B8C-83A1-F6EECF244321}">
                <p14:modId xmlns:p14="http://schemas.microsoft.com/office/powerpoint/2010/main" val="3761344237"/>
              </p:ext>
            </p:extLst>
          </p:nvPr>
        </p:nvGraphicFramePr>
        <p:xfrm>
          <a:off x="4953000" y="1371600"/>
          <a:ext cx="4137660" cy="24079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Chart 8">
            <a:extLst>
              <a:ext uri="{FF2B5EF4-FFF2-40B4-BE49-F238E27FC236}">
                <a16:creationId xmlns:a16="http://schemas.microsoft.com/office/drawing/2014/main" id="{0ABBFEF5-7C92-41F1-B58E-31BED2857246}"/>
              </a:ext>
            </a:extLst>
          </p:cNvPr>
          <p:cNvGraphicFramePr>
            <a:graphicFrameLocks/>
          </p:cNvGraphicFramePr>
          <p:nvPr>
            <p:extLst>
              <p:ext uri="{D42A27DB-BD31-4B8C-83A1-F6EECF244321}">
                <p14:modId xmlns:p14="http://schemas.microsoft.com/office/powerpoint/2010/main" val="1324444135"/>
              </p:ext>
            </p:extLst>
          </p:nvPr>
        </p:nvGraphicFramePr>
        <p:xfrm>
          <a:off x="4800600" y="3989071"/>
          <a:ext cx="4137660" cy="240792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 name="Chart 9">
            <a:extLst>
              <a:ext uri="{FF2B5EF4-FFF2-40B4-BE49-F238E27FC236}">
                <a16:creationId xmlns:a16="http://schemas.microsoft.com/office/drawing/2014/main" id="{CF3FB2A8-BF3A-4E65-A4C0-F35A57930C04}"/>
              </a:ext>
            </a:extLst>
          </p:cNvPr>
          <p:cNvGraphicFramePr>
            <a:graphicFrameLocks/>
          </p:cNvGraphicFramePr>
          <p:nvPr>
            <p:extLst>
              <p:ext uri="{D42A27DB-BD31-4B8C-83A1-F6EECF244321}">
                <p14:modId xmlns:p14="http://schemas.microsoft.com/office/powerpoint/2010/main" val="3270806923"/>
              </p:ext>
            </p:extLst>
          </p:nvPr>
        </p:nvGraphicFramePr>
        <p:xfrm>
          <a:off x="355377" y="3989071"/>
          <a:ext cx="4137660" cy="2407920"/>
        </p:xfrm>
        <a:graphic>
          <a:graphicData uri="http://schemas.openxmlformats.org/drawingml/2006/chart">
            <c:chart xmlns:c="http://schemas.openxmlformats.org/drawingml/2006/chart" xmlns:r="http://schemas.openxmlformats.org/officeDocument/2006/relationships" r:id="rId8"/>
          </a:graphicData>
        </a:graphic>
      </p:graphicFrame>
      <p:sp>
        <p:nvSpPr>
          <p:cNvPr id="2" name="TextBox 1">
            <a:extLst>
              <a:ext uri="{FF2B5EF4-FFF2-40B4-BE49-F238E27FC236}">
                <a16:creationId xmlns:a16="http://schemas.microsoft.com/office/drawing/2014/main" id="{173BC5CD-9624-4AB8-8892-548E0763B8C9}"/>
              </a:ext>
            </a:extLst>
          </p:cNvPr>
          <p:cNvSpPr txBox="1"/>
          <p:nvPr/>
        </p:nvSpPr>
        <p:spPr>
          <a:xfrm>
            <a:off x="200215" y="1544477"/>
            <a:ext cx="646331"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Billions</a:t>
            </a:r>
          </a:p>
        </p:txBody>
      </p:sp>
      <p:sp>
        <p:nvSpPr>
          <p:cNvPr id="12" name="TextBox 11">
            <a:extLst>
              <a:ext uri="{FF2B5EF4-FFF2-40B4-BE49-F238E27FC236}">
                <a16:creationId xmlns:a16="http://schemas.microsoft.com/office/drawing/2014/main" id="{B668D821-A444-4B0F-B26F-F7D0419F019C}"/>
              </a:ext>
            </a:extLst>
          </p:cNvPr>
          <p:cNvSpPr txBox="1"/>
          <p:nvPr/>
        </p:nvSpPr>
        <p:spPr>
          <a:xfrm>
            <a:off x="4949134" y="1544478"/>
            <a:ext cx="652743"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Percent</a:t>
            </a:r>
          </a:p>
        </p:txBody>
      </p:sp>
      <p:sp>
        <p:nvSpPr>
          <p:cNvPr id="13" name="TextBox 12">
            <a:extLst>
              <a:ext uri="{FF2B5EF4-FFF2-40B4-BE49-F238E27FC236}">
                <a16:creationId xmlns:a16="http://schemas.microsoft.com/office/drawing/2014/main" id="{1053213D-AE26-4023-B5E3-B8D407254B78}"/>
              </a:ext>
            </a:extLst>
          </p:cNvPr>
          <p:cNvSpPr txBox="1"/>
          <p:nvPr/>
        </p:nvSpPr>
        <p:spPr>
          <a:xfrm>
            <a:off x="4770120" y="4166394"/>
            <a:ext cx="652743"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Percent</a:t>
            </a:r>
          </a:p>
        </p:txBody>
      </p:sp>
      <p:sp>
        <p:nvSpPr>
          <p:cNvPr id="14" name="TextBox 13">
            <a:extLst>
              <a:ext uri="{FF2B5EF4-FFF2-40B4-BE49-F238E27FC236}">
                <a16:creationId xmlns:a16="http://schemas.microsoft.com/office/drawing/2014/main" id="{EA6FF792-612F-46B4-8483-C8399663A304}"/>
              </a:ext>
            </a:extLst>
          </p:cNvPr>
          <p:cNvSpPr txBox="1"/>
          <p:nvPr/>
        </p:nvSpPr>
        <p:spPr>
          <a:xfrm>
            <a:off x="355377" y="4166394"/>
            <a:ext cx="652743"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Percent</a:t>
            </a:r>
          </a:p>
        </p:txBody>
      </p:sp>
      <p:sp>
        <p:nvSpPr>
          <p:cNvPr id="3" name="TextBox 2">
            <a:extLst>
              <a:ext uri="{FF2B5EF4-FFF2-40B4-BE49-F238E27FC236}">
                <a16:creationId xmlns:a16="http://schemas.microsoft.com/office/drawing/2014/main" id="{A52B9943-7C74-4E07-93D5-0945B92A0764}"/>
              </a:ext>
            </a:extLst>
          </p:cNvPr>
          <p:cNvSpPr txBox="1"/>
          <p:nvPr/>
        </p:nvSpPr>
        <p:spPr>
          <a:xfrm>
            <a:off x="4191000" y="3352800"/>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6" name="TextBox 15">
            <a:extLst>
              <a:ext uri="{FF2B5EF4-FFF2-40B4-BE49-F238E27FC236}">
                <a16:creationId xmlns:a16="http://schemas.microsoft.com/office/drawing/2014/main" id="{34718053-3E79-4454-9BA7-B5A3E2DD05BE}"/>
              </a:ext>
            </a:extLst>
          </p:cNvPr>
          <p:cNvSpPr txBox="1"/>
          <p:nvPr/>
        </p:nvSpPr>
        <p:spPr>
          <a:xfrm>
            <a:off x="4035837" y="5996049"/>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7" name="TextBox 16">
            <a:extLst>
              <a:ext uri="{FF2B5EF4-FFF2-40B4-BE49-F238E27FC236}">
                <a16:creationId xmlns:a16="http://schemas.microsoft.com/office/drawing/2014/main" id="{4085F4EC-A596-4697-AFE9-47B7D20306ED}"/>
              </a:ext>
            </a:extLst>
          </p:cNvPr>
          <p:cNvSpPr txBox="1"/>
          <p:nvPr/>
        </p:nvSpPr>
        <p:spPr>
          <a:xfrm>
            <a:off x="8481060" y="5993720"/>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8" name="TextBox 17">
            <a:extLst>
              <a:ext uri="{FF2B5EF4-FFF2-40B4-BE49-F238E27FC236}">
                <a16:creationId xmlns:a16="http://schemas.microsoft.com/office/drawing/2014/main" id="{A334CA67-BFE7-480C-9D11-1CD79A8B87A1}"/>
              </a:ext>
            </a:extLst>
          </p:cNvPr>
          <p:cNvSpPr txBox="1"/>
          <p:nvPr/>
        </p:nvSpPr>
        <p:spPr>
          <a:xfrm>
            <a:off x="8633460" y="3352800"/>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20" name="TextBox 19">
            <a:extLst>
              <a:ext uri="{FF2B5EF4-FFF2-40B4-BE49-F238E27FC236}">
                <a16:creationId xmlns:a16="http://schemas.microsoft.com/office/drawing/2014/main" id="{D541F196-4C03-4B72-B706-0564A9DB263C}"/>
              </a:ext>
            </a:extLst>
          </p:cNvPr>
          <p:cNvSpPr txBox="1"/>
          <p:nvPr/>
        </p:nvSpPr>
        <p:spPr>
          <a:xfrm>
            <a:off x="342900" y="6477000"/>
            <a:ext cx="46863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sp>
        <p:nvSpPr>
          <p:cNvPr id="4" name="Slide Number Placeholder 3">
            <a:extLst>
              <a:ext uri="{FF2B5EF4-FFF2-40B4-BE49-F238E27FC236}">
                <a16:creationId xmlns:a16="http://schemas.microsoft.com/office/drawing/2014/main" id="{422CFB97-B269-4C5A-8973-5EC6745DB030}"/>
              </a:ext>
            </a:extLst>
          </p:cNvPr>
          <p:cNvSpPr>
            <a:spLocks noGrp="1"/>
          </p:cNvSpPr>
          <p:nvPr>
            <p:ph type="sldNum" sz="quarter" idx="12"/>
          </p:nvPr>
        </p:nvSpPr>
        <p:spPr/>
        <p:txBody>
          <a:bodyPr/>
          <a:lstStyle/>
          <a:p>
            <a:fld id="{1B835D90-6387-4175-8905-3408BA5A358B}" type="slidenum">
              <a:rPr lang="en-US" altLang="en-US" smtClean="0"/>
              <a:pPr/>
              <a:t>9</a:t>
            </a:fld>
            <a:endParaRPr lang="en-US" altLang="en-US"/>
          </a:p>
        </p:txBody>
      </p:sp>
    </p:spTree>
    <p:extLst>
      <p:ext uri="{BB962C8B-B14F-4D97-AF65-F5344CB8AC3E}">
        <p14:creationId xmlns:p14="http://schemas.microsoft.com/office/powerpoint/2010/main" val="577643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1066800" y="838200"/>
            <a:ext cx="7391400" cy="1143000"/>
          </a:xfrm>
        </p:spPr>
        <p:txBody>
          <a:bodyPr/>
          <a:lstStyle/>
          <a:p>
            <a:pPr eaLnBrk="1" hangingPunct="1"/>
            <a:r>
              <a:rPr lang="en-US" altLang="en-US" sz="3200" b="1" dirty="0">
                <a:latin typeface="Arial" panose="020B0604020202020204" pitchFamily="34" charset="0"/>
              </a:rPr>
              <a:t>Total R&amp;D and GDP: Pre- and Post the Great Recession</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1CB9811-0CF2-438B-92A1-C71D5421A506}"/>
              </a:ext>
            </a:extLst>
          </p:cNvPr>
          <p:cNvSpPr txBox="1"/>
          <p:nvPr/>
        </p:nvSpPr>
        <p:spPr>
          <a:xfrm>
            <a:off x="2819400" y="5853206"/>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2000-2008</a:t>
            </a:r>
          </a:p>
        </p:txBody>
      </p:sp>
      <p:sp>
        <p:nvSpPr>
          <p:cNvPr id="14" name="TextBox 13">
            <a:extLst>
              <a:ext uri="{FF2B5EF4-FFF2-40B4-BE49-F238E27FC236}">
                <a16:creationId xmlns:a16="http://schemas.microsoft.com/office/drawing/2014/main" id="{438CA487-3F65-41D4-89EA-9AEB151DFC59}"/>
              </a:ext>
            </a:extLst>
          </p:cNvPr>
          <p:cNvSpPr txBox="1"/>
          <p:nvPr/>
        </p:nvSpPr>
        <p:spPr>
          <a:xfrm>
            <a:off x="6301740" y="5877795"/>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2010-2016</a:t>
            </a:r>
          </a:p>
        </p:txBody>
      </p:sp>
      <p:sp>
        <p:nvSpPr>
          <p:cNvPr id="15" name="TextBox 14">
            <a:extLst>
              <a:ext uri="{FF2B5EF4-FFF2-40B4-BE49-F238E27FC236}">
                <a16:creationId xmlns:a16="http://schemas.microsoft.com/office/drawing/2014/main" id="{505694B8-9DD1-4186-9D0A-B5723CCAD63A}"/>
              </a:ext>
            </a:extLst>
          </p:cNvPr>
          <p:cNvSpPr txBox="1"/>
          <p:nvPr/>
        </p:nvSpPr>
        <p:spPr>
          <a:xfrm>
            <a:off x="4358269" y="5853206"/>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2008-2010</a:t>
            </a:r>
          </a:p>
        </p:txBody>
      </p:sp>
      <p:sp>
        <p:nvSpPr>
          <p:cNvPr id="16" name="TextBox 15">
            <a:extLst>
              <a:ext uri="{FF2B5EF4-FFF2-40B4-BE49-F238E27FC236}">
                <a16:creationId xmlns:a16="http://schemas.microsoft.com/office/drawing/2014/main" id="{C91676B4-B143-469C-A5BB-AC996816E9E0}"/>
              </a:ext>
            </a:extLst>
          </p:cNvPr>
          <p:cNvSpPr txBox="1"/>
          <p:nvPr/>
        </p:nvSpPr>
        <p:spPr>
          <a:xfrm>
            <a:off x="1303683" y="2209800"/>
            <a:ext cx="1524000" cy="707886"/>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Average annual percent change</a:t>
            </a:r>
          </a:p>
          <a:p>
            <a:r>
              <a:rPr lang="en-US" sz="1000" b="1" dirty="0">
                <a:latin typeface="Arial" panose="020B0604020202020204" pitchFamily="34" charset="0"/>
                <a:cs typeface="Arial" panose="020B0604020202020204" pitchFamily="34" charset="0"/>
              </a:rPr>
              <a:t>(inflation-adjusted</a:t>
            </a:r>
          </a:p>
          <a:p>
            <a:r>
              <a:rPr lang="en-US" sz="1000" b="1" dirty="0">
                <a:latin typeface="Arial" panose="020B0604020202020204" pitchFamily="34" charset="0"/>
                <a:cs typeface="Arial" panose="020B0604020202020204" pitchFamily="34" charset="0"/>
              </a:rPr>
              <a:t>dollars)</a:t>
            </a:r>
          </a:p>
        </p:txBody>
      </p:sp>
      <p:sp>
        <p:nvSpPr>
          <p:cNvPr id="12" name="TextBox 11">
            <a:extLst>
              <a:ext uri="{FF2B5EF4-FFF2-40B4-BE49-F238E27FC236}">
                <a16:creationId xmlns:a16="http://schemas.microsoft.com/office/drawing/2014/main" id="{2F4BEB6E-C7EB-47BF-AABF-35DC7A5E2826}"/>
              </a:ext>
            </a:extLst>
          </p:cNvPr>
          <p:cNvSpPr txBox="1"/>
          <p:nvPr/>
        </p:nvSpPr>
        <p:spPr>
          <a:xfrm>
            <a:off x="6758940" y="6097913"/>
            <a:ext cx="51054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7" name="TextBox 16">
            <a:extLst>
              <a:ext uri="{FF2B5EF4-FFF2-40B4-BE49-F238E27FC236}">
                <a16:creationId xmlns:a16="http://schemas.microsoft.com/office/drawing/2014/main" id="{BA5683E4-F55E-46C1-A78F-40B5690F161E}"/>
              </a:ext>
            </a:extLst>
          </p:cNvPr>
          <p:cNvSpPr txBox="1"/>
          <p:nvPr/>
        </p:nvSpPr>
        <p:spPr>
          <a:xfrm>
            <a:off x="1984513" y="6346195"/>
            <a:ext cx="4317227"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Source: NCSES, National Patterns of R&amp;D Resources</a:t>
            </a:r>
          </a:p>
        </p:txBody>
      </p:sp>
      <p:graphicFrame>
        <p:nvGraphicFramePr>
          <p:cNvPr id="18" name="Chart 17">
            <a:extLst>
              <a:ext uri="{FF2B5EF4-FFF2-40B4-BE49-F238E27FC236}">
                <a16:creationId xmlns:a16="http://schemas.microsoft.com/office/drawing/2014/main" id="{381A191A-4D14-40A0-B933-0D059EE6DC50}"/>
              </a:ext>
            </a:extLst>
          </p:cNvPr>
          <p:cNvGraphicFramePr>
            <a:graphicFrameLocks/>
          </p:cNvGraphicFramePr>
          <p:nvPr>
            <p:extLst>
              <p:ext uri="{D42A27DB-BD31-4B8C-83A1-F6EECF244321}">
                <p14:modId xmlns:p14="http://schemas.microsoft.com/office/powerpoint/2010/main" val="4028070077"/>
              </p:ext>
            </p:extLst>
          </p:nvPr>
        </p:nvGraphicFramePr>
        <p:xfrm>
          <a:off x="2019300" y="2478444"/>
          <a:ext cx="5334000" cy="326053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5BD5EB46-69B6-4756-B00E-7111D827A99A}"/>
              </a:ext>
            </a:extLst>
          </p:cNvPr>
          <p:cNvSpPr txBox="1"/>
          <p:nvPr/>
        </p:nvSpPr>
        <p:spPr>
          <a:xfrm>
            <a:off x="4084320" y="2743200"/>
            <a:ext cx="1356360" cy="24622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(inflation-adjusted)</a:t>
            </a:r>
          </a:p>
        </p:txBody>
      </p:sp>
      <p:sp>
        <p:nvSpPr>
          <p:cNvPr id="3" name="Slide Number Placeholder 2">
            <a:extLst>
              <a:ext uri="{FF2B5EF4-FFF2-40B4-BE49-F238E27FC236}">
                <a16:creationId xmlns:a16="http://schemas.microsoft.com/office/drawing/2014/main" id="{D0DBF4AC-D402-4B35-A009-DA3F0F0F66E1}"/>
              </a:ext>
            </a:extLst>
          </p:cNvPr>
          <p:cNvSpPr>
            <a:spLocks noGrp="1"/>
          </p:cNvSpPr>
          <p:nvPr>
            <p:ph type="sldNum" sz="quarter" idx="12"/>
          </p:nvPr>
        </p:nvSpPr>
        <p:spPr/>
        <p:txBody>
          <a:bodyPr/>
          <a:lstStyle/>
          <a:p>
            <a:fld id="{1B835D90-6387-4175-8905-3408BA5A358B}" type="slidenum">
              <a:rPr lang="en-US" altLang="en-US" smtClean="0"/>
              <a:pPr/>
              <a:t>10</a:t>
            </a:fld>
            <a:endParaRPr lang="en-US" altLang="en-US"/>
          </a:p>
        </p:txBody>
      </p:sp>
    </p:spTree>
    <p:extLst>
      <p:ext uri="{BB962C8B-B14F-4D97-AF65-F5344CB8AC3E}">
        <p14:creationId xmlns:p14="http://schemas.microsoft.com/office/powerpoint/2010/main" val="4112002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609600" y="838200"/>
            <a:ext cx="7848600" cy="1143000"/>
          </a:xfrm>
        </p:spPr>
        <p:txBody>
          <a:bodyPr/>
          <a:lstStyle/>
          <a:p>
            <a:pPr eaLnBrk="1" hangingPunct="1"/>
            <a:r>
              <a:rPr lang="en-US" altLang="en-US" sz="3200" b="1" dirty="0">
                <a:latin typeface="Arial" panose="020B0604020202020204" pitchFamily="34" charset="0"/>
              </a:rPr>
              <a:t>R&amp;D Performance by Sector: Pre- and Post the Great Recession</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1CB9811-0CF2-438B-92A1-C71D5421A506}"/>
              </a:ext>
            </a:extLst>
          </p:cNvPr>
          <p:cNvSpPr txBox="1"/>
          <p:nvPr/>
        </p:nvSpPr>
        <p:spPr>
          <a:xfrm>
            <a:off x="2990850" y="5792514"/>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2000-2008</a:t>
            </a:r>
          </a:p>
        </p:txBody>
      </p:sp>
      <p:sp>
        <p:nvSpPr>
          <p:cNvPr id="14" name="TextBox 13">
            <a:extLst>
              <a:ext uri="{FF2B5EF4-FFF2-40B4-BE49-F238E27FC236}">
                <a16:creationId xmlns:a16="http://schemas.microsoft.com/office/drawing/2014/main" id="{438CA487-3F65-41D4-89EA-9AEB151DFC59}"/>
              </a:ext>
            </a:extLst>
          </p:cNvPr>
          <p:cNvSpPr txBox="1"/>
          <p:nvPr/>
        </p:nvSpPr>
        <p:spPr>
          <a:xfrm>
            <a:off x="6667500" y="5775666"/>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2010-2016</a:t>
            </a:r>
          </a:p>
        </p:txBody>
      </p:sp>
      <p:sp>
        <p:nvSpPr>
          <p:cNvPr id="15" name="TextBox 14">
            <a:extLst>
              <a:ext uri="{FF2B5EF4-FFF2-40B4-BE49-F238E27FC236}">
                <a16:creationId xmlns:a16="http://schemas.microsoft.com/office/drawing/2014/main" id="{505694B8-9DD1-4186-9D0A-B5723CCAD63A}"/>
              </a:ext>
            </a:extLst>
          </p:cNvPr>
          <p:cNvSpPr txBox="1"/>
          <p:nvPr/>
        </p:nvSpPr>
        <p:spPr>
          <a:xfrm>
            <a:off x="4724400" y="5773209"/>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2008-2010</a:t>
            </a:r>
          </a:p>
        </p:txBody>
      </p:sp>
      <p:sp>
        <p:nvSpPr>
          <p:cNvPr id="3" name="Rectangle 2">
            <a:extLst>
              <a:ext uri="{FF2B5EF4-FFF2-40B4-BE49-F238E27FC236}">
                <a16:creationId xmlns:a16="http://schemas.microsoft.com/office/drawing/2014/main" id="{38D7F56B-8670-4BE8-BAF1-D89C2D635136}"/>
              </a:ext>
            </a:extLst>
          </p:cNvPr>
          <p:cNvSpPr/>
          <p:nvPr/>
        </p:nvSpPr>
        <p:spPr>
          <a:xfrm>
            <a:off x="1810425" y="6030066"/>
            <a:ext cx="4267200" cy="387798"/>
          </a:xfrm>
          <a:prstGeom prst="rect">
            <a:avLst/>
          </a:prstGeom>
        </p:spPr>
        <p:txBody>
          <a:bodyPr wrap="square">
            <a:spAutoFit/>
          </a:bodyPr>
          <a:lstStyle/>
          <a:p>
            <a:pPr marL="285750" indent="-285750">
              <a:lnSpc>
                <a:spcPct val="120000"/>
              </a:lnSpc>
              <a:buFont typeface="Arial" panose="020B0604020202020204" pitchFamily="34" charset="0"/>
              <a:buChar char="•"/>
              <a:defRPr/>
            </a:pPr>
            <a:r>
              <a:rPr lang="en-US" sz="1200" dirty="0">
                <a:latin typeface="Arial" pitchFamily="34" charset="0"/>
                <a:cs typeface="Arial" pitchFamily="34" charset="0"/>
              </a:rPr>
              <a:t>Federal R&amp;D includes Federal intramural and FFRDCs</a:t>
            </a:r>
            <a:r>
              <a:rPr lang="en-US" sz="1600" dirty="0">
                <a:latin typeface="Arial" pitchFamily="34" charset="0"/>
                <a:cs typeface="Arial" pitchFamily="34" charset="0"/>
              </a:rPr>
              <a:t>.</a:t>
            </a:r>
          </a:p>
        </p:txBody>
      </p:sp>
      <p:sp>
        <p:nvSpPr>
          <p:cNvPr id="13" name="TextBox 12">
            <a:extLst>
              <a:ext uri="{FF2B5EF4-FFF2-40B4-BE49-F238E27FC236}">
                <a16:creationId xmlns:a16="http://schemas.microsoft.com/office/drawing/2014/main" id="{118CC28D-0DCC-4BD2-A236-5AD3AF2373EB}"/>
              </a:ext>
            </a:extLst>
          </p:cNvPr>
          <p:cNvSpPr txBox="1"/>
          <p:nvPr/>
        </p:nvSpPr>
        <p:spPr>
          <a:xfrm>
            <a:off x="7124700" y="5948456"/>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7" name="TextBox 16">
            <a:extLst>
              <a:ext uri="{FF2B5EF4-FFF2-40B4-BE49-F238E27FC236}">
                <a16:creationId xmlns:a16="http://schemas.microsoft.com/office/drawing/2014/main" id="{526AE26D-DD01-4224-9F14-69D5BDC82E5B}"/>
              </a:ext>
            </a:extLst>
          </p:cNvPr>
          <p:cNvSpPr txBox="1"/>
          <p:nvPr/>
        </p:nvSpPr>
        <p:spPr>
          <a:xfrm>
            <a:off x="669668" y="5853508"/>
            <a:ext cx="1752600"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Source: NCSES</a:t>
            </a:r>
          </a:p>
        </p:txBody>
      </p:sp>
      <p:graphicFrame>
        <p:nvGraphicFramePr>
          <p:cNvPr id="18" name="Chart 17">
            <a:extLst>
              <a:ext uri="{FF2B5EF4-FFF2-40B4-BE49-F238E27FC236}">
                <a16:creationId xmlns:a16="http://schemas.microsoft.com/office/drawing/2014/main" id="{C173D5C1-25D6-46AC-A1F3-1BDB36832C79}"/>
              </a:ext>
            </a:extLst>
          </p:cNvPr>
          <p:cNvGraphicFramePr>
            <a:graphicFrameLocks/>
          </p:cNvGraphicFramePr>
          <p:nvPr>
            <p:extLst>
              <p:ext uri="{D42A27DB-BD31-4B8C-83A1-F6EECF244321}">
                <p14:modId xmlns:p14="http://schemas.microsoft.com/office/powerpoint/2010/main" val="1630846389"/>
              </p:ext>
            </p:extLst>
          </p:nvPr>
        </p:nvGraphicFramePr>
        <p:xfrm>
          <a:off x="1981200" y="2153991"/>
          <a:ext cx="6248400" cy="3872604"/>
        </p:xfrm>
        <a:graphic>
          <a:graphicData uri="http://schemas.openxmlformats.org/drawingml/2006/chart">
            <c:chart xmlns:c="http://schemas.openxmlformats.org/drawingml/2006/chart" xmlns:r="http://schemas.openxmlformats.org/officeDocument/2006/relationships" r:id="rId5"/>
          </a:graphicData>
        </a:graphic>
      </p:graphicFrame>
      <p:sp>
        <p:nvSpPr>
          <p:cNvPr id="19" name="TextBox 18">
            <a:extLst>
              <a:ext uri="{FF2B5EF4-FFF2-40B4-BE49-F238E27FC236}">
                <a16:creationId xmlns:a16="http://schemas.microsoft.com/office/drawing/2014/main" id="{2971E8F5-D082-4920-BD94-D8DB37F8F789}"/>
              </a:ext>
            </a:extLst>
          </p:cNvPr>
          <p:cNvSpPr txBox="1"/>
          <p:nvPr/>
        </p:nvSpPr>
        <p:spPr>
          <a:xfrm>
            <a:off x="594360" y="2127660"/>
            <a:ext cx="2133600" cy="400110"/>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Average annual percent change (inflation-adjusted dollars)</a:t>
            </a:r>
          </a:p>
        </p:txBody>
      </p:sp>
      <p:sp>
        <p:nvSpPr>
          <p:cNvPr id="4" name="Slide Number Placeholder 3">
            <a:extLst>
              <a:ext uri="{FF2B5EF4-FFF2-40B4-BE49-F238E27FC236}">
                <a16:creationId xmlns:a16="http://schemas.microsoft.com/office/drawing/2014/main" id="{35EEFC7F-EE0C-4D6D-BD85-1722F06B97E6}"/>
              </a:ext>
            </a:extLst>
          </p:cNvPr>
          <p:cNvSpPr>
            <a:spLocks noGrp="1"/>
          </p:cNvSpPr>
          <p:nvPr>
            <p:ph type="sldNum" sz="quarter" idx="12"/>
          </p:nvPr>
        </p:nvSpPr>
        <p:spPr/>
        <p:txBody>
          <a:bodyPr/>
          <a:lstStyle/>
          <a:p>
            <a:fld id="{1B835D90-6387-4175-8905-3408BA5A358B}" type="slidenum">
              <a:rPr lang="en-US" altLang="en-US" smtClean="0"/>
              <a:pPr/>
              <a:t>11</a:t>
            </a:fld>
            <a:endParaRPr lang="en-US" altLang="en-US"/>
          </a:p>
        </p:txBody>
      </p:sp>
    </p:spTree>
    <p:extLst>
      <p:ext uri="{BB962C8B-B14F-4D97-AF65-F5344CB8AC3E}">
        <p14:creationId xmlns:p14="http://schemas.microsoft.com/office/powerpoint/2010/main" val="231112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914400" y="718969"/>
            <a:ext cx="7620000" cy="1143000"/>
          </a:xfrm>
        </p:spPr>
        <p:txBody>
          <a:bodyPr/>
          <a:lstStyle/>
          <a:p>
            <a:pPr eaLnBrk="1" hangingPunct="1"/>
            <a:r>
              <a:rPr lang="en-US" altLang="en-US" sz="3200" b="1" dirty="0">
                <a:latin typeface="Arial" panose="020B0604020202020204" pitchFamily="34" charset="0"/>
              </a:rPr>
              <a:t>Federal R&amp;D Funding to Performers: Pre- and Post the Great Recession</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76200" y="679282"/>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28420"/>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72857"/>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1CB9811-0CF2-438B-92A1-C71D5421A506}"/>
              </a:ext>
            </a:extLst>
          </p:cNvPr>
          <p:cNvSpPr txBox="1"/>
          <p:nvPr/>
        </p:nvSpPr>
        <p:spPr>
          <a:xfrm>
            <a:off x="2895600" y="5731927"/>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2000-2008</a:t>
            </a:r>
          </a:p>
        </p:txBody>
      </p:sp>
      <p:sp>
        <p:nvSpPr>
          <p:cNvPr id="14" name="TextBox 13">
            <a:extLst>
              <a:ext uri="{FF2B5EF4-FFF2-40B4-BE49-F238E27FC236}">
                <a16:creationId xmlns:a16="http://schemas.microsoft.com/office/drawing/2014/main" id="{438CA487-3F65-41D4-89EA-9AEB151DFC59}"/>
              </a:ext>
            </a:extLst>
          </p:cNvPr>
          <p:cNvSpPr txBox="1"/>
          <p:nvPr/>
        </p:nvSpPr>
        <p:spPr>
          <a:xfrm>
            <a:off x="6377940" y="5756516"/>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2010-2016</a:t>
            </a:r>
          </a:p>
        </p:txBody>
      </p:sp>
      <p:sp>
        <p:nvSpPr>
          <p:cNvPr id="15" name="TextBox 14">
            <a:extLst>
              <a:ext uri="{FF2B5EF4-FFF2-40B4-BE49-F238E27FC236}">
                <a16:creationId xmlns:a16="http://schemas.microsoft.com/office/drawing/2014/main" id="{505694B8-9DD1-4186-9D0A-B5723CCAD63A}"/>
              </a:ext>
            </a:extLst>
          </p:cNvPr>
          <p:cNvSpPr txBox="1"/>
          <p:nvPr/>
        </p:nvSpPr>
        <p:spPr>
          <a:xfrm>
            <a:off x="4434469" y="5731927"/>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2008-2010</a:t>
            </a:r>
          </a:p>
        </p:txBody>
      </p:sp>
      <p:sp>
        <p:nvSpPr>
          <p:cNvPr id="16" name="TextBox 15">
            <a:extLst>
              <a:ext uri="{FF2B5EF4-FFF2-40B4-BE49-F238E27FC236}">
                <a16:creationId xmlns:a16="http://schemas.microsoft.com/office/drawing/2014/main" id="{C91676B4-B143-469C-A5BB-AC996816E9E0}"/>
              </a:ext>
            </a:extLst>
          </p:cNvPr>
          <p:cNvSpPr txBox="1"/>
          <p:nvPr/>
        </p:nvSpPr>
        <p:spPr>
          <a:xfrm>
            <a:off x="685800" y="1983575"/>
            <a:ext cx="2133600" cy="400110"/>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Average annual percent change (inflation-adjusted dollars)</a:t>
            </a:r>
          </a:p>
        </p:txBody>
      </p:sp>
      <p:sp>
        <p:nvSpPr>
          <p:cNvPr id="3" name="Rectangle 2">
            <a:extLst>
              <a:ext uri="{FF2B5EF4-FFF2-40B4-BE49-F238E27FC236}">
                <a16:creationId xmlns:a16="http://schemas.microsoft.com/office/drawing/2014/main" id="{38D7F56B-8670-4BE8-BAF1-D89C2D635136}"/>
              </a:ext>
            </a:extLst>
          </p:cNvPr>
          <p:cNvSpPr/>
          <p:nvPr/>
        </p:nvSpPr>
        <p:spPr>
          <a:xfrm>
            <a:off x="266700" y="6170361"/>
            <a:ext cx="7086600" cy="515206"/>
          </a:xfrm>
          <a:prstGeom prst="rect">
            <a:avLst/>
          </a:prstGeom>
        </p:spPr>
        <p:txBody>
          <a:bodyPr wrap="square">
            <a:spAutoFit/>
          </a:bodyPr>
          <a:lstStyle/>
          <a:p>
            <a:pPr marL="285750" indent="-285750">
              <a:lnSpc>
                <a:spcPct val="120000"/>
              </a:lnSpc>
              <a:buFont typeface="Arial" panose="020B0604020202020204" pitchFamily="34" charset="0"/>
              <a:buChar char="•"/>
              <a:defRPr/>
            </a:pPr>
            <a:r>
              <a:rPr lang="en-US" sz="1200" dirty="0">
                <a:latin typeface="Arial" pitchFamily="34" charset="0"/>
                <a:cs typeface="Arial" pitchFamily="34" charset="0"/>
              </a:rPr>
              <a:t>Federal R&amp;D funding for intramural R&amp;D includes FFRDCs.</a:t>
            </a:r>
          </a:p>
          <a:p>
            <a:pPr marL="285750" indent="-285750">
              <a:lnSpc>
                <a:spcPct val="120000"/>
              </a:lnSpc>
              <a:buFont typeface="Arial" panose="020B0604020202020204" pitchFamily="34" charset="0"/>
              <a:buChar char="•"/>
              <a:defRPr/>
            </a:pPr>
            <a:r>
              <a:rPr lang="en-US" sz="1200" dirty="0">
                <a:latin typeface="Arial" pitchFamily="34" charset="0"/>
                <a:cs typeface="Arial" pitchFamily="34" charset="0"/>
              </a:rPr>
              <a:t>Federal R&amp;D funding to business is predominantly from DoD.</a:t>
            </a:r>
          </a:p>
        </p:txBody>
      </p:sp>
      <p:graphicFrame>
        <p:nvGraphicFramePr>
          <p:cNvPr id="13" name="Chart 12">
            <a:extLst>
              <a:ext uri="{FF2B5EF4-FFF2-40B4-BE49-F238E27FC236}">
                <a16:creationId xmlns:a16="http://schemas.microsoft.com/office/drawing/2014/main" id="{7D1910C3-7680-4FD4-B26E-D1CCE27CA603}"/>
              </a:ext>
            </a:extLst>
          </p:cNvPr>
          <p:cNvGraphicFramePr>
            <a:graphicFrameLocks/>
          </p:cNvGraphicFramePr>
          <p:nvPr>
            <p:extLst>
              <p:ext uri="{D42A27DB-BD31-4B8C-83A1-F6EECF244321}">
                <p14:modId xmlns:p14="http://schemas.microsoft.com/office/powerpoint/2010/main" val="2725465658"/>
              </p:ext>
            </p:extLst>
          </p:nvPr>
        </p:nvGraphicFramePr>
        <p:xfrm>
          <a:off x="2133600" y="1981200"/>
          <a:ext cx="5696119" cy="3853775"/>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11">
            <a:extLst>
              <a:ext uri="{FF2B5EF4-FFF2-40B4-BE49-F238E27FC236}">
                <a16:creationId xmlns:a16="http://schemas.microsoft.com/office/drawing/2014/main" id="{2F4BEB6E-C7EB-47BF-AABF-35DC7A5E2826}"/>
              </a:ext>
            </a:extLst>
          </p:cNvPr>
          <p:cNvSpPr txBox="1"/>
          <p:nvPr/>
        </p:nvSpPr>
        <p:spPr>
          <a:xfrm>
            <a:off x="6812280" y="5931043"/>
            <a:ext cx="51054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7" name="TextBox 16">
            <a:extLst>
              <a:ext uri="{FF2B5EF4-FFF2-40B4-BE49-F238E27FC236}">
                <a16:creationId xmlns:a16="http://schemas.microsoft.com/office/drawing/2014/main" id="{BA5683E4-F55E-46C1-A78F-40B5690F161E}"/>
              </a:ext>
            </a:extLst>
          </p:cNvPr>
          <p:cNvSpPr txBox="1"/>
          <p:nvPr/>
        </p:nvSpPr>
        <p:spPr>
          <a:xfrm>
            <a:off x="781050" y="5729341"/>
            <a:ext cx="1257300"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Source: NCSES</a:t>
            </a:r>
          </a:p>
        </p:txBody>
      </p:sp>
      <p:sp>
        <p:nvSpPr>
          <p:cNvPr id="4" name="Slide Number Placeholder 3">
            <a:extLst>
              <a:ext uri="{FF2B5EF4-FFF2-40B4-BE49-F238E27FC236}">
                <a16:creationId xmlns:a16="http://schemas.microsoft.com/office/drawing/2014/main" id="{576BE35D-71CC-4F9B-B91D-82D7D720AF9A}"/>
              </a:ext>
            </a:extLst>
          </p:cNvPr>
          <p:cNvSpPr>
            <a:spLocks noGrp="1"/>
          </p:cNvSpPr>
          <p:nvPr>
            <p:ph type="sldNum" sz="quarter" idx="12"/>
          </p:nvPr>
        </p:nvSpPr>
        <p:spPr/>
        <p:txBody>
          <a:bodyPr/>
          <a:lstStyle/>
          <a:p>
            <a:fld id="{1B835D90-6387-4175-8905-3408BA5A358B}" type="slidenum">
              <a:rPr lang="en-US" altLang="en-US" smtClean="0"/>
              <a:pPr/>
              <a:t>12</a:t>
            </a:fld>
            <a:endParaRPr lang="en-US" altLang="en-US"/>
          </a:p>
        </p:txBody>
      </p:sp>
    </p:spTree>
    <p:extLst>
      <p:ext uri="{BB962C8B-B14F-4D97-AF65-F5344CB8AC3E}">
        <p14:creationId xmlns:p14="http://schemas.microsoft.com/office/powerpoint/2010/main" val="696739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609600" y="523019"/>
            <a:ext cx="8229600" cy="1143000"/>
          </a:xfrm>
        </p:spPr>
        <p:txBody>
          <a:bodyPr/>
          <a:lstStyle/>
          <a:p>
            <a:pPr eaLnBrk="1" hangingPunct="1"/>
            <a:r>
              <a:rPr lang="en-US" altLang="en-US" sz="2800" b="1" dirty="0">
                <a:latin typeface="Arial" panose="020B0604020202020204" pitchFamily="34" charset="0"/>
              </a:rPr>
              <a:t>Federal Intramural and FFRDC Performers: FY2016</a:t>
            </a:r>
            <a:r>
              <a:rPr lang="en-US" sz="2800" b="1" dirty="0">
                <a:latin typeface="Arial" charset="0"/>
                <a:cs typeface="Arial" charset="0"/>
              </a:rPr>
              <a:t> </a:t>
            </a:r>
            <a:r>
              <a:rPr lang="en-US" sz="1600" b="1" dirty="0">
                <a:latin typeface="Arial" charset="0"/>
                <a:cs typeface="Arial" charset="0"/>
              </a:rPr>
              <a:t>(prelim.)</a:t>
            </a:r>
            <a:endParaRPr lang="en-US" altLang="en-US" sz="1600" b="1" dirty="0">
              <a:latin typeface="Arial" panose="020B0604020202020204" pitchFamily="34" charset="0"/>
            </a:endParaRP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32229"/>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8577"/>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4FF7988D-3408-42D1-BAE3-318FA8CA77E3}"/>
              </a:ext>
            </a:extLst>
          </p:cNvPr>
          <p:cNvSpPr txBox="1"/>
          <p:nvPr/>
        </p:nvSpPr>
        <p:spPr>
          <a:xfrm>
            <a:off x="1707211" y="6272998"/>
            <a:ext cx="6400800" cy="24622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 = Agency detail not available. If support provided, included in "other agencies".</a:t>
            </a:r>
          </a:p>
        </p:txBody>
      </p:sp>
      <p:sp>
        <p:nvSpPr>
          <p:cNvPr id="10" name="TextBox 9">
            <a:extLst>
              <a:ext uri="{FF2B5EF4-FFF2-40B4-BE49-F238E27FC236}">
                <a16:creationId xmlns:a16="http://schemas.microsoft.com/office/drawing/2014/main" id="{EE51DB21-F9A1-44DF-8B50-1C7D84810A54}"/>
              </a:ext>
            </a:extLst>
          </p:cNvPr>
          <p:cNvSpPr txBox="1"/>
          <p:nvPr/>
        </p:nvSpPr>
        <p:spPr>
          <a:xfrm>
            <a:off x="99060" y="6553430"/>
            <a:ext cx="5311140"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Source: NCSES, Survey of Federal Funds for R&amp;D, Survey of FFRDC R&amp;D </a:t>
            </a:r>
          </a:p>
        </p:txBody>
      </p:sp>
      <p:graphicFrame>
        <p:nvGraphicFramePr>
          <p:cNvPr id="5" name="Table 4">
            <a:extLst>
              <a:ext uri="{FF2B5EF4-FFF2-40B4-BE49-F238E27FC236}">
                <a16:creationId xmlns:a16="http://schemas.microsoft.com/office/drawing/2014/main" id="{FB62074E-BBB6-4293-A23A-C600B183FECE}"/>
              </a:ext>
            </a:extLst>
          </p:cNvPr>
          <p:cNvGraphicFramePr>
            <a:graphicFrameLocks noGrp="1"/>
          </p:cNvGraphicFramePr>
          <p:nvPr>
            <p:extLst>
              <p:ext uri="{D42A27DB-BD31-4B8C-83A1-F6EECF244321}">
                <p14:modId xmlns:p14="http://schemas.microsoft.com/office/powerpoint/2010/main" val="3103638953"/>
              </p:ext>
            </p:extLst>
          </p:nvPr>
        </p:nvGraphicFramePr>
        <p:xfrm>
          <a:off x="1872076" y="1531071"/>
          <a:ext cx="5029199" cy="4643118"/>
        </p:xfrm>
        <a:graphic>
          <a:graphicData uri="http://schemas.openxmlformats.org/drawingml/2006/table">
            <a:tbl>
              <a:tblPr>
                <a:tableStyleId>{5C22544A-7EE6-4342-B048-85BDC9FD1C3A}</a:tableStyleId>
              </a:tblPr>
              <a:tblGrid>
                <a:gridCol w="2629479">
                  <a:extLst>
                    <a:ext uri="{9D8B030D-6E8A-4147-A177-3AD203B41FA5}">
                      <a16:colId xmlns:a16="http://schemas.microsoft.com/office/drawing/2014/main" val="2012899700"/>
                    </a:ext>
                  </a:extLst>
                </a:gridCol>
                <a:gridCol w="1250918">
                  <a:extLst>
                    <a:ext uri="{9D8B030D-6E8A-4147-A177-3AD203B41FA5}">
                      <a16:colId xmlns:a16="http://schemas.microsoft.com/office/drawing/2014/main" val="1209494110"/>
                    </a:ext>
                  </a:extLst>
                </a:gridCol>
                <a:gridCol w="1148802">
                  <a:extLst>
                    <a:ext uri="{9D8B030D-6E8A-4147-A177-3AD203B41FA5}">
                      <a16:colId xmlns:a16="http://schemas.microsoft.com/office/drawing/2014/main" val="837897101"/>
                    </a:ext>
                  </a:extLst>
                </a:gridCol>
              </a:tblGrid>
              <a:tr h="383965">
                <a:tc>
                  <a:txBody>
                    <a:bodyPr/>
                    <a:lstStyle/>
                    <a:p>
                      <a:pPr algn="l" fontAlgn="b"/>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400" b="1" u="none" strike="noStrike" dirty="0">
                          <a:effectLst/>
                          <a:latin typeface="Arial" panose="020B0604020202020204" pitchFamily="34" charset="0"/>
                          <a:cs typeface="Arial" panose="020B0604020202020204" pitchFamily="34" charset="0"/>
                        </a:rPr>
                        <a:t>Federal Intramural</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400" b="1" u="none" strike="noStrike" dirty="0">
                          <a:effectLst/>
                          <a:latin typeface="Arial" panose="020B0604020202020204" pitchFamily="34" charset="0"/>
                          <a:cs typeface="Arial" panose="020B0604020202020204" pitchFamily="34" charset="0"/>
                        </a:rPr>
                        <a:t>All FFRDCs</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05935161"/>
                  </a:ext>
                </a:extLst>
              </a:tr>
              <a:tr h="443887">
                <a:tc>
                  <a:txBody>
                    <a:bodyPr/>
                    <a:lstStyle/>
                    <a:p>
                      <a:pPr algn="l" fontAlgn="b"/>
                      <a:r>
                        <a:rPr lang="en-US" sz="1400" b="1" u="none" strike="noStrike">
                          <a:effectLst/>
                          <a:latin typeface="Arial" panose="020B0604020202020204" pitchFamily="34" charset="0"/>
                          <a:cs typeface="Arial" panose="020B0604020202020204" pitchFamily="34" charset="0"/>
                        </a:rPr>
                        <a:t>All agencies</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37,918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18,856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614182445"/>
                  </a:ext>
                </a:extLst>
              </a:tr>
              <a:tr h="469357">
                <a:tc>
                  <a:txBody>
                    <a:bodyPr/>
                    <a:lstStyle/>
                    <a:p>
                      <a:pPr algn="l" fontAlgn="b"/>
                      <a:r>
                        <a:rPr lang="en-US" sz="1400" b="1" u="none" strike="noStrike" dirty="0">
                          <a:solidFill>
                            <a:srgbClr val="FF0000"/>
                          </a:solidFill>
                          <a:effectLst/>
                          <a:latin typeface="Arial" panose="020B0604020202020204" pitchFamily="34" charset="0"/>
                          <a:cs typeface="Arial" panose="020B0604020202020204" pitchFamily="34" charset="0"/>
                        </a:rPr>
                        <a:t> Department of Defense </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         22,966 </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4,195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079744634"/>
                  </a:ext>
                </a:extLst>
              </a:tr>
              <a:tr h="410948">
                <a:tc>
                  <a:txBody>
                    <a:bodyPr/>
                    <a:lstStyle/>
                    <a:p>
                      <a:pPr algn="l" fontAlgn="b"/>
                      <a:r>
                        <a:rPr lang="en-US" sz="1400" b="1" u="none" strike="noStrike" dirty="0">
                          <a:effectLst/>
                          <a:latin typeface="Arial" panose="020B0604020202020204" pitchFamily="34" charset="0"/>
                          <a:cs typeface="Arial" panose="020B0604020202020204" pitchFamily="34" charset="0"/>
                        </a:rPr>
                        <a:t> Department of Health and Human Services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6,990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867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529471127"/>
                  </a:ext>
                </a:extLst>
              </a:tr>
              <a:tr h="260754">
                <a:tc>
                  <a:txBody>
                    <a:bodyPr/>
                    <a:lstStyle/>
                    <a:p>
                      <a:pPr algn="l" fontAlgn="b"/>
                      <a:r>
                        <a:rPr lang="en-US" sz="1400" b="1" u="none" strike="noStrike">
                          <a:effectLst/>
                          <a:latin typeface="Arial" panose="020B0604020202020204" pitchFamily="34" charset="0"/>
                          <a:cs typeface="Arial" panose="020B0604020202020204" pitchFamily="34" charset="0"/>
                        </a:rPr>
                        <a:t> Department of Agriculture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1,512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400" b="1" u="none" strike="noStrike" dirty="0">
                          <a:effectLst/>
                          <a:latin typeface="Arial" panose="020B0604020202020204" pitchFamily="34" charset="0"/>
                          <a:cs typeface="Arial" panose="020B0604020202020204" pitchFamily="34" charset="0"/>
                        </a:rPr>
                        <a:t> *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070330901"/>
                  </a:ext>
                </a:extLst>
              </a:tr>
              <a:tr h="410948">
                <a:tc>
                  <a:txBody>
                    <a:bodyPr/>
                    <a:lstStyle/>
                    <a:p>
                      <a:pPr algn="l" fontAlgn="b"/>
                      <a:r>
                        <a:rPr lang="en-US" sz="1400" b="1" u="none" strike="noStrike" dirty="0">
                          <a:effectLst/>
                          <a:latin typeface="Arial" panose="020B0604020202020204" pitchFamily="34" charset="0"/>
                          <a:cs typeface="Arial" panose="020B0604020202020204" pitchFamily="34" charset="0"/>
                        </a:rPr>
                        <a:t> National Aeronautics and Space Administration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1,482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2,013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215944058"/>
                  </a:ext>
                </a:extLst>
              </a:tr>
              <a:tr h="260754">
                <a:tc>
                  <a:txBody>
                    <a:bodyPr/>
                    <a:lstStyle/>
                    <a:p>
                      <a:pPr algn="l" fontAlgn="b"/>
                      <a:r>
                        <a:rPr lang="en-US" sz="1400" b="1" u="none" strike="noStrike">
                          <a:effectLst/>
                          <a:latin typeface="Arial" panose="020B0604020202020204" pitchFamily="34" charset="0"/>
                          <a:cs typeface="Arial" panose="020B0604020202020204" pitchFamily="34" charset="0"/>
                        </a:rPr>
                        <a:t> Department of Commerce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1,171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400" b="1" u="none" strike="noStrike" dirty="0">
                          <a:effectLst/>
                          <a:latin typeface="Arial" panose="020B0604020202020204" pitchFamily="34" charset="0"/>
                          <a:cs typeface="Arial" panose="020B0604020202020204" pitchFamily="34" charset="0"/>
                        </a:rPr>
                        <a:t> *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554802448"/>
                  </a:ext>
                </a:extLst>
              </a:tr>
              <a:tr h="260754">
                <a:tc>
                  <a:txBody>
                    <a:bodyPr/>
                    <a:lstStyle/>
                    <a:p>
                      <a:pPr algn="l" fontAlgn="b"/>
                      <a:r>
                        <a:rPr lang="en-US" sz="1400" b="1" u="none" strike="noStrike" dirty="0">
                          <a:effectLst/>
                          <a:latin typeface="Arial" panose="020B0604020202020204" pitchFamily="34" charset="0"/>
                          <a:cs typeface="Arial" panose="020B0604020202020204" pitchFamily="34" charset="0"/>
                        </a:rPr>
                        <a:t> </a:t>
                      </a:r>
                      <a:r>
                        <a:rPr lang="en-US" sz="1400" b="1" u="none" strike="noStrike" dirty="0">
                          <a:solidFill>
                            <a:srgbClr val="FF0000"/>
                          </a:solidFill>
                          <a:effectLst/>
                          <a:latin typeface="Arial" panose="020B0604020202020204" pitchFamily="34" charset="0"/>
                          <a:cs typeface="Arial" panose="020B0604020202020204" pitchFamily="34" charset="0"/>
                        </a:rPr>
                        <a:t>Department of Energy </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963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a:t>
                      </a:r>
                      <a:r>
                        <a:rPr lang="en-US" sz="1400" b="1" u="none" strike="noStrike" dirty="0">
                          <a:solidFill>
                            <a:srgbClr val="FF0000"/>
                          </a:solidFill>
                          <a:effectLst/>
                          <a:latin typeface="Arial" panose="020B0604020202020204" pitchFamily="34" charset="0"/>
                          <a:cs typeface="Arial" panose="020B0604020202020204" pitchFamily="34" charset="0"/>
                        </a:rPr>
                        <a:t>9,849</a:t>
                      </a:r>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946607742"/>
                  </a:ext>
                </a:extLst>
              </a:tr>
              <a:tr h="260754">
                <a:tc>
                  <a:txBody>
                    <a:bodyPr/>
                    <a:lstStyle/>
                    <a:p>
                      <a:pPr algn="l" fontAlgn="b"/>
                      <a:r>
                        <a:rPr lang="en-US" sz="1400" b="1" u="none" strike="noStrike">
                          <a:effectLst/>
                          <a:latin typeface="Arial" panose="020B0604020202020204" pitchFamily="34" charset="0"/>
                          <a:cs typeface="Arial" panose="020B0604020202020204" pitchFamily="34" charset="0"/>
                        </a:rPr>
                        <a:t> Department of the Interior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712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400" b="1" u="none" strike="noStrike" dirty="0">
                          <a:effectLst/>
                          <a:latin typeface="Arial" panose="020B0604020202020204" pitchFamily="34" charset="0"/>
                          <a:cs typeface="Arial" panose="020B0604020202020204" pitchFamily="34" charset="0"/>
                        </a:rPr>
                        <a:t> *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155049487"/>
                  </a:ext>
                </a:extLst>
              </a:tr>
              <a:tr h="410948">
                <a:tc>
                  <a:txBody>
                    <a:bodyPr/>
                    <a:lstStyle/>
                    <a:p>
                      <a:pPr algn="l" fontAlgn="b"/>
                      <a:r>
                        <a:rPr lang="en-US" sz="1400" b="1" u="none" strike="noStrike" dirty="0">
                          <a:effectLst/>
                          <a:latin typeface="Arial" panose="020B0604020202020204" pitchFamily="34" charset="0"/>
                          <a:cs typeface="Arial" panose="020B0604020202020204" pitchFamily="34" charset="0"/>
                        </a:rPr>
                        <a:t> Department of Veterans Affairs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673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400" b="1" u="none" strike="noStrike" dirty="0">
                          <a:effectLst/>
                          <a:latin typeface="Arial" panose="020B0604020202020204" pitchFamily="34" charset="0"/>
                          <a:cs typeface="Arial" panose="020B0604020202020204" pitchFamily="34" charset="0"/>
                        </a:rPr>
                        <a:t> *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920655751"/>
                  </a:ext>
                </a:extLst>
              </a:tr>
              <a:tr h="410948">
                <a:tc>
                  <a:txBody>
                    <a:bodyPr/>
                    <a:lstStyle/>
                    <a:p>
                      <a:pPr algn="l" fontAlgn="b"/>
                      <a:r>
                        <a:rPr lang="en-US" sz="1400" b="1" u="none" strike="noStrike">
                          <a:effectLst/>
                          <a:latin typeface="Arial" panose="020B0604020202020204" pitchFamily="34" charset="0"/>
                          <a:cs typeface="Arial" panose="020B0604020202020204" pitchFamily="34" charset="0"/>
                        </a:rPr>
                        <a:t> Department of Homeland Security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350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504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372745398"/>
                  </a:ext>
                </a:extLst>
              </a:tr>
              <a:tr h="260754">
                <a:tc>
                  <a:txBody>
                    <a:bodyPr/>
                    <a:lstStyle/>
                    <a:p>
                      <a:pPr algn="l" fontAlgn="b"/>
                      <a:r>
                        <a:rPr lang="en-US" sz="1400" b="1" u="none" strike="noStrike">
                          <a:effectLst/>
                          <a:latin typeface="Arial" panose="020B0604020202020204" pitchFamily="34" charset="0"/>
                          <a:cs typeface="Arial" panose="020B0604020202020204" pitchFamily="34" charset="0"/>
                        </a:rPr>
                        <a:t> Department of Transportation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304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163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172455065"/>
                  </a:ext>
                </a:extLst>
              </a:tr>
              <a:tr h="260754">
                <a:tc>
                  <a:txBody>
                    <a:bodyPr/>
                    <a:lstStyle/>
                    <a:p>
                      <a:pPr algn="l" fontAlgn="b"/>
                      <a:r>
                        <a:rPr lang="en-US" sz="1400" b="1" u="none" strike="noStrike">
                          <a:effectLst/>
                          <a:latin typeface="Arial" panose="020B0604020202020204" pitchFamily="34" charset="0"/>
                          <a:cs typeface="Arial" panose="020B0604020202020204" pitchFamily="34" charset="0"/>
                        </a:rPr>
                        <a:t> Other agencies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a:effectLst/>
                          <a:latin typeface="Arial" panose="020B0604020202020204" pitchFamily="34" charset="0"/>
                          <a:cs typeface="Arial" panose="020B0604020202020204" pitchFamily="34" charset="0"/>
                        </a:rPr>
                        <a:t>               795 </a:t>
                      </a:r>
                      <a:endParaRPr lang="en-US" sz="14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1,265 </a:t>
                      </a:r>
                      <a:endParaRPr lang="en-US" sz="14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716196823"/>
                  </a:ext>
                </a:extLst>
              </a:tr>
            </a:tbl>
          </a:graphicData>
        </a:graphic>
      </p:graphicFrame>
      <p:sp>
        <p:nvSpPr>
          <p:cNvPr id="9" name="TextBox 8">
            <a:extLst>
              <a:ext uri="{FF2B5EF4-FFF2-40B4-BE49-F238E27FC236}">
                <a16:creationId xmlns:a16="http://schemas.microsoft.com/office/drawing/2014/main" id="{D54B0F5F-7AE4-4921-A479-44727BB9186F}"/>
              </a:ext>
            </a:extLst>
          </p:cNvPr>
          <p:cNvSpPr txBox="1"/>
          <p:nvPr/>
        </p:nvSpPr>
        <p:spPr>
          <a:xfrm>
            <a:off x="5142813" y="1949847"/>
            <a:ext cx="1395147" cy="24622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(Millions of dollars)</a:t>
            </a:r>
          </a:p>
        </p:txBody>
      </p:sp>
      <p:sp>
        <p:nvSpPr>
          <p:cNvPr id="11" name="TextBox 10">
            <a:extLst>
              <a:ext uri="{FF2B5EF4-FFF2-40B4-BE49-F238E27FC236}">
                <a16:creationId xmlns:a16="http://schemas.microsoft.com/office/drawing/2014/main" id="{1F4375E6-ED0B-4223-9FB6-5682461CB391}"/>
              </a:ext>
            </a:extLst>
          </p:cNvPr>
          <p:cNvSpPr txBox="1"/>
          <p:nvPr/>
        </p:nvSpPr>
        <p:spPr>
          <a:xfrm>
            <a:off x="7281448" y="2317371"/>
            <a:ext cx="1600200" cy="830997"/>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Lincoln Lab - $850M</a:t>
            </a:r>
          </a:p>
          <a:p>
            <a:r>
              <a:rPr lang="en-US" sz="1200" dirty="0">
                <a:latin typeface="Arial" panose="020B0604020202020204" pitchFamily="34" charset="0"/>
                <a:cs typeface="Arial" panose="020B0604020202020204" pitchFamily="34" charset="0"/>
              </a:rPr>
              <a:t>Sandia - $822M</a:t>
            </a:r>
          </a:p>
          <a:p>
            <a:r>
              <a:rPr lang="en-US" sz="1200" dirty="0">
                <a:latin typeface="Arial" panose="020B0604020202020204" pitchFamily="34" charset="0"/>
                <a:cs typeface="Arial" panose="020B0604020202020204" pitchFamily="34" charset="0"/>
              </a:rPr>
              <a:t>Aerospace - $$809M</a:t>
            </a:r>
          </a:p>
          <a:p>
            <a:r>
              <a:rPr lang="en-US" sz="1200" dirty="0">
                <a:latin typeface="Arial" panose="020B0604020202020204" pitchFamily="34" charset="0"/>
                <a:cs typeface="Arial" panose="020B0604020202020204" pitchFamily="34" charset="0"/>
              </a:rPr>
              <a:t>NSEC - $776M</a:t>
            </a:r>
          </a:p>
        </p:txBody>
      </p:sp>
      <p:sp>
        <p:nvSpPr>
          <p:cNvPr id="12" name="TextBox 11">
            <a:extLst>
              <a:ext uri="{FF2B5EF4-FFF2-40B4-BE49-F238E27FC236}">
                <a16:creationId xmlns:a16="http://schemas.microsoft.com/office/drawing/2014/main" id="{E4CABA2E-BA81-48FE-B827-98D2E54F6854}"/>
              </a:ext>
            </a:extLst>
          </p:cNvPr>
          <p:cNvSpPr txBox="1"/>
          <p:nvPr/>
        </p:nvSpPr>
        <p:spPr>
          <a:xfrm>
            <a:off x="7281448" y="4179741"/>
            <a:ext cx="1752600" cy="120032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Los Alamos - $1,760M</a:t>
            </a:r>
          </a:p>
          <a:p>
            <a:r>
              <a:rPr lang="en-US" sz="1200" dirty="0">
                <a:latin typeface="Arial" panose="020B0604020202020204" pitchFamily="34" charset="0"/>
                <a:cs typeface="Arial" panose="020B0604020202020204" pitchFamily="34" charset="0"/>
              </a:rPr>
              <a:t>Sandia - $1,755M</a:t>
            </a:r>
          </a:p>
          <a:p>
            <a:r>
              <a:rPr lang="en-US" sz="1200" dirty="0">
                <a:latin typeface="Arial" panose="020B0604020202020204" pitchFamily="34" charset="0"/>
                <a:cs typeface="Arial" panose="020B0604020202020204" pitchFamily="34" charset="0"/>
              </a:rPr>
              <a:t>L. Livermore - $1,114M</a:t>
            </a:r>
          </a:p>
          <a:p>
            <a:r>
              <a:rPr lang="en-US" sz="1200" dirty="0">
                <a:latin typeface="Arial" panose="020B0604020202020204" pitchFamily="34" charset="0"/>
                <a:cs typeface="Arial" panose="020B0604020202020204" pitchFamily="34" charset="0"/>
              </a:rPr>
              <a:t>Oak Ridge - $1,0286M</a:t>
            </a:r>
          </a:p>
          <a:p>
            <a:r>
              <a:rPr lang="en-US" sz="1200" dirty="0">
                <a:latin typeface="Arial" panose="020B0604020202020204" pitchFamily="34" charset="0"/>
                <a:cs typeface="Arial" panose="020B0604020202020204" pitchFamily="34" charset="0"/>
              </a:rPr>
              <a:t>L. Berkeley - $691M</a:t>
            </a:r>
          </a:p>
          <a:p>
            <a:r>
              <a:rPr lang="en-US" sz="1200" dirty="0">
                <a:latin typeface="Arial" panose="020B0604020202020204" pitchFamily="34" charset="0"/>
                <a:cs typeface="Arial" panose="020B0604020202020204" pitchFamily="34" charset="0"/>
              </a:rPr>
              <a:t>Brookhaven - $511M</a:t>
            </a:r>
          </a:p>
        </p:txBody>
      </p:sp>
      <p:sp>
        <p:nvSpPr>
          <p:cNvPr id="13" name="TextBox 12">
            <a:extLst>
              <a:ext uri="{FF2B5EF4-FFF2-40B4-BE49-F238E27FC236}">
                <a16:creationId xmlns:a16="http://schemas.microsoft.com/office/drawing/2014/main" id="{57EB8037-CB50-4310-8C73-D1806DB8C86C}"/>
              </a:ext>
            </a:extLst>
          </p:cNvPr>
          <p:cNvSpPr txBox="1"/>
          <p:nvPr/>
        </p:nvSpPr>
        <p:spPr>
          <a:xfrm>
            <a:off x="7357648" y="3781284"/>
            <a:ext cx="1828800"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JPL - $1,852M</a:t>
            </a:r>
          </a:p>
        </p:txBody>
      </p:sp>
      <p:cxnSp>
        <p:nvCxnSpPr>
          <p:cNvPr id="4" name="Straight Connector 3">
            <a:extLst>
              <a:ext uri="{FF2B5EF4-FFF2-40B4-BE49-F238E27FC236}">
                <a16:creationId xmlns:a16="http://schemas.microsoft.com/office/drawing/2014/main" id="{9BC0F8EA-AFD1-4D80-83B5-902DE3E00353}"/>
              </a:ext>
            </a:extLst>
          </p:cNvPr>
          <p:cNvCxnSpPr/>
          <p:nvPr/>
        </p:nvCxnSpPr>
        <p:spPr>
          <a:xfrm flipV="1">
            <a:off x="6938962" y="2418937"/>
            <a:ext cx="304800" cy="294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32B9DDC-BD0B-487A-998B-AFD5026D96CD}"/>
              </a:ext>
            </a:extLst>
          </p:cNvPr>
          <p:cNvCxnSpPr/>
          <p:nvPr/>
        </p:nvCxnSpPr>
        <p:spPr>
          <a:xfrm>
            <a:off x="6901275" y="2819881"/>
            <a:ext cx="388455" cy="286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3CCC20-27EE-4CAE-AF6D-1E550B9A6735}"/>
              </a:ext>
            </a:extLst>
          </p:cNvPr>
          <p:cNvCxnSpPr/>
          <p:nvPr/>
        </p:nvCxnSpPr>
        <p:spPr>
          <a:xfrm flipV="1">
            <a:off x="6922809" y="4264650"/>
            <a:ext cx="346629"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95A0029-5F46-4CDE-99B3-87343AA8B16D}"/>
              </a:ext>
            </a:extLst>
          </p:cNvPr>
          <p:cNvCxnSpPr>
            <a:cxnSpLocks/>
          </p:cNvCxnSpPr>
          <p:nvPr/>
        </p:nvCxnSpPr>
        <p:spPr>
          <a:xfrm>
            <a:off x="6926124" y="4558190"/>
            <a:ext cx="366921" cy="716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1BF9B5A-46C6-432D-A66D-D17EE998F49A}"/>
              </a:ext>
            </a:extLst>
          </p:cNvPr>
          <p:cNvCxnSpPr>
            <a:cxnSpLocks/>
          </p:cNvCxnSpPr>
          <p:nvPr/>
        </p:nvCxnSpPr>
        <p:spPr>
          <a:xfrm flipH="1">
            <a:off x="6922809" y="3886200"/>
            <a:ext cx="457202"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7E440EE-E0C3-4705-893F-B91BB3050039}"/>
              </a:ext>
            </a:extLst>
          </p:cNvPr>
          <p:cNvSpPr>
            <a:spLocks noGrp="1"/>
          </p:cNvSpPr>
          <p:nvPr>
            <p:ph type="sldNum" sz="quarter" idx="12"/>
          </p:nvPr>
        </p:nvSpPr>
        <p:spPr/>
        <p:txBody>
          <a:bodyPr/>
          <a:lstStyle/>
          <a:p>
            <a:fld id="{1B835D90-6387-4175-8905-3408BA5A358B}" type="slidenum">
              <a:rPr lang="en-US" altLang="en-US" smtClean="0"/>
              <a:pPr/>
              <a:t>13</a:t>
            </a:fld>
            <a:endParaRPr lang="en-US" altLang="en-US"/>
          </a:p>
        </p:txBody>
      </p:sp>
    </p:spTree>
    <p:extLst>
      <p:ext uri="{BB962C8B-B14F-4D97-AF65-F5344CB8AC3E}">
        <p14:creationId xmlns:p14="http://schemas.microsoft.com/office/powerpoint/2010/main" val="1641519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236017" y="821783"/>
            <a:ext cx="8671965" cy="1143000"/>
          </a:xfrm>
        </p:spPr>
        <p:txBody>
          <a:bodyPr/>
          <a:lstStyle/>
          <a:p>
            <a:pPr eaLnBrk="1" hangingPunct="1"/>
            <a:r>
              <a:rPr lang="en-US" altLang="en-US" sz="3200" b="1" dirty="0">
                <a:latin typeface="Arial" panose="020B0604020202020204" pitchFamily="34" charset="0"/>
              </a:rPr>
              <a:t>Higher Education R&amp;D Performance, </a:t>
            </a:r>
            <a:br>
              <a:rPr lang="en-US" altLang="en-US" sz="3200" b="1" dirty="0">
                <a:latin typeface="Arial" panose="020B0604020202020204" pitchFamily="34" charset="0"/>
              </a:rPr>
            </a:br>
            <a:r>
              <a:rPr lang="en-US" altLang="en-US" sz="3200" b="1" dirty="0">
                <a:latin typeface="Arial" panose="020B0604020202020204" pitchFamily="34" charset="0"/>
              </a:rPr>
              <a:t>by Source of Funds: 2010-2016</a:t>
            </a:r>
            <a:endParaRPr lang="en-US" altLang="en-US" sz="1600" b="1" dirty="0">
              <a:latin typeface="Arial" panose="020B0604020202020204" pitchFamily="34" charset="0"/>
            </a:endParaRP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8577"/>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716280" y="6256020"/>
            <a:ext cx="736092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 and Survey Higher Education R&amp;D</a:t>
            </a:r>
          </a:p>
        </p:txBody>
      </p:sp>
      <p:graphicFrame>
        <p:nvGraphicFramePr>
          <p:cNvPr id="10" name="Chart 9">
            <a:extLst>
              <a:ext uri="{FF2B5EF4-FFF2-40B4-BE49-F238E27FC236}">
                <a16:creationId xmlns:a16="http://schemas.microsoft.com/office/drawing/2014/main" id="{4FC914AC-5739-4FC2-AF32-58360051ACE0}"/>
              </a:ext>
            </a:extLst>
          </p:cNvPr>
          <p:cNvGraphicFramePr>
            <a:graphicFrameLocks/>
          </p:cNvGraphicFramePr>
          <p:nvPr>
            <p:extLst>
              <p:ext uri="{D42A27DB-BD31-4B8C-83A1-F6EECF244321}">
                <p14:modId xmlns:p14="http://schemas.microsoft.com/office/powerpoint/2010/main" val="2076449589"/>
              </p:ext>
            </p:extLst>
          </p:nvPr>
        </p:nvGraphicFramePr>
        <p:xfrm>
          <a:off x="609600" y="2133600"/>
          <a:ext cx="556260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34CC6212-62A1-4152-8A55-51F3CF8A802A}"/>
              </a:ext>
            </a:extLst>
          </p:cNvPr>
          <p:cNvSpPr txBox="1"/>
          <p:nvPr/>
        </p:nvSpPr>
        <p:spPr>
          <a:xfrm>
            <a:off x="685800" y="1991060"/>
            <a:ext cx="15240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Billions of dollars</a:t>
            </a:r>
          </a:p>
        </p:txBody>
      </p:sp>
      <p:sp>
        <p:nvSpPr>
          <p:cNvPr id="12" name="TextBox 11">
            <a:extLst>
              <a:ext uri="{FF2B5EF4-FFF2-40B4-BE49-F238E27FC236}">
                <a16:creationId xmlns:a16="http://schemas.microsoft.com/office/drawing/2014/main" id="{6055DB2A-2FB9-4166-A3C3-2B0B16216889}"/>
              </a:ext>
            </a:extLst>
          </p:cNvPr>
          <p:cNvSpPr txBox="1"/>
          <p:nvPr/>
        </p:nvSpPr>
        <p:spPr>
          <a:xfrm>
            <a:off x="4495800" y="3627878"/>
            <a:ext cx="120396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Federal gov.</a:t>
            </a:r>
          </a:p>
        </p:txBody>
      </p:sp>
      <p:sp>
        <p:nvSpPr>
          <p:cNvPr id="13" name="TextBox 12">
            <a:extLst>
              <a:ext uri="{FF2B5EF4-FFF2-40B4-BE49-F238E27FC236}">
                <a16:creationId xmlns:a16="http://schemas.microsoft.com/office/drawing/2014/main" id="{25388F2B-F3E1-4847-B42D-8846702F09C8}"/>
              </a:ext>
            </a:extLst>
          </p:cNvPr>
          <p:cNvSpPr txBox="1"/>
          <p:nvPr/>
        </p:nvSpPr>
        <p:spPr>
          <a:xfrm>
            <a:off x="4314538" y="4382824"/>
            <a:ext cx="18288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University own funds</a:t>
            </a:r>
          </a:p>
        </p:txBody>
      </p:sp>
      <p:sp>
        <p:nvSpPr>
          <p:cNvPr id="14" name="TextBox 13">
            <a:extLst>
              <a:ext uri="{FF2B5EF4-FFF2-40B4-BE49-F238E27FC236}">
                <a16:creationId xmlns:a16="http://schemas.microsoft.com/office/drawing/2014/main" id="{77D3CDF9-CA37-4A2B-85A1-897766154A9D}"/>
              </a:ext>
            </a:extLst>
          </p:cNvPr>
          <p:cNvSpPr txBox="1"/>
          <p:nvPr/>
        </p:nvSpPr>
        <p:spPr>
          <a:xfrm>
            <a:off x="4419600" y="4973563"/>
            <a:ext cx="9906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Nonprofits</a:t>
            </a:r>
          </a:p>
        </p:txBody>
      </p:sp>
      <p:sp>
        <p:nvSpPr>
          <p:cNvPr id="15" name="TextBox 14">
            <a:extLst>
              <a:ext uri="{FF2B5EF4-FFF2-40B4-BE49-F238E27FC236}">
                <a16:creationId xmlns:a16="http://schemas.microsoft.com/office/drawing/2014/main" id="{E8AA7820-E7B7-492C-BA68-9C3B4AB67701}"/>
              </a:ext>
            </a:extLst>
          </p:cNvPr>
          <p:cNvSpPr txBox="1"/>
          <p:nvPr/>
        </p:nvSpPr>
        <p:spPr>
          <a:xfrm>
            <a:off x="5943600" y="5120965"/>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Business</a:t>
            </a:r>
          </a:p>
        </p:txBody>
      </p:sp>
      <p:sp>
        <p:nvSpPr>
          <p:cNvPr id="16" name="TextBox 15">
            <a:extLst>
              <a:ext uri="{FF2B5EF4-FFF2-40B4-BE49-F238E27FC236}">
                <a16:creationId xmlns:a16="http://schemas.microsoft.com/office/drawing/2014/main" id="{558EAB42-EAE7-4583-BA60-DCF5BCFA2AF9}"/>
              </a:ext>
            </a:extLst>
          </p:cNvPr>
          <p:cNvSpPr txBox="1"/>
          <p:nvPr/>
        </p:nvSpPr>
        <p:spPr>
          <a:xfrm>
            <a:off x="5867400" y="5284397"/>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State gov.</a:t>
            </a:r>
          </a:p>
        </p:txBody>
      </p:sp>
      <p:graphicFrame>
        <p:nvGraphicFramePr>
          <p:cNvPr id="3" name="Table 2">
            <a:extLst>
              <a:ext uri="{FF2B5EF4-FFF2-40B4-BE49-F238E27FC236}">
                <a16:creationId xmlns:a16="http://schemas.microsoft.com/office/drawing/2014/main" id="{502294F0-0B5A-4A2D-B565-D2DAEEA3F92B}"/>
              </a:ext>
            </a:extLst>
          </p:cNvPr>
          <p:cNvGraphicFramePr>
            <a:graphicFrameLocks noGrp="1"/>
          </p:cNvGraphicFramePr>
          <p:nvPr>
            <p:extLst>
              <p:ext uri="{D42A27DB-BD31-4B8C-83A1-F6EECF244321}">
                <p14:modId xmlns:p14="http://schemas.microsoft.com/office/powerpoint/2010/main" val="2585449402"/>
              </p:ext>
            </p:extLst>
          </p:nvPr>
        </p:nvGraphicFramePr>
        <p:xfrm>
          <a:off x="6324600" y="3435546"/>
          <a:ext cx="2667000" cy="1388745"/>
        </p:xfrm>
        <a:graphic>
          <a:graphicData uri="http://schemas.openxmlformats.org/drawingml/2006/table">
            <a:tbl>
              <a:tblPr>
                <a:tableStyleId>{5C22544A-7EE6-4342-B048-85BDC9FD1C3A}</a:tableStyleId>
              </a:tblPr>
              <a:tblGrid>
                <a:gridCol w="1494079">
                  <a:extLst>
                    <a:ext uri="{9D8B030D-6E8A-4147-A177-3AD203B41FA5}">
                      <a16:colId xmlns:a16="http://schemas.microsoft.com/office/drawing/2014/main" val="3154192478"/>
                    </a:ext>
                  </a:extLst>
                </a:gridCol>
                <a:gridCol w="563321">
                  <a:extLst>
                    <a:ext uri="{9D8B030D-6E8A-4147-A177-3AD203B41FA5}">
                      <a16:colId xmlns:a16="http://schemas.microsoft.com/office/drawing/2014/main" val="1419183999"/>
                    </a:ext>
                  </a:extLst>
                </a:gridCol>
                <a:gridCol w="609600">
                  <a:extLst>
                    <a:ext uri="{9D8B030D-6E8A-4147-A177-3AD203B41FA5}">
                      <a16:colId xmlns:a16="http://schemas.microsoft.com/office/drawing/2014/main" val="1051499764"/>
                    </a:ext>
                  </a:extLst>
                </a:gridCol>
              </a:tblGrid>
              <a:tr h="169157">
                <a:tc>
                  <a:txBody>
                    <a:bodyPr/>
                    <a:lstStyle/>
                    <a:p>
                      <a:pPr algn="r" fontAlgn="b"/>
                      <a:r>
                        <a:rPr lang="en-US" sz="1100" b="0" i="0" u="none" strike="noStrike" dirty="0">
                          <a:effectLst/>
                          <a:latin typeface="Arial" panose="020B0604020202020204" pitchFamily="34" charset="0"/>
                          <a:cs typeface="Arial" panose="020B0604020202020204" pitchFamily="34" charset="0"/>
                        </a:rPr>
                        <a:t>(Billions of $)</a:t>
                      </a:r>
                    </a:p>
                  </a:txBody>
                  <a:tcPr marL="9525" marR="9525" marT="9525" marB="0" anchor="b"/>
                </a:tc>
                <a:tc>
                  <a:txBody>
                    <a:bodyPr/>
                    <a:lstStyle/>
                    <a:p>
                      <a:pPr algn="r" fontAlgn="b"/>
                      <a:r>
                        <a:rPr lang="en-US" sz="1100" u="none" strike="noStrike" dirty="0">
                          <a:effectLst/>
                          <a:latin typeface="Arial" panose="020B0604020202020204" pitchFamily="34" charset="0"/>
                          <a:cs typeface="Arial" panose="020B0604020202020204" pitchFamily="34" charset="0"/>
                        </a:rPr>
                        <a:t>FY2010</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u="none" strike="noStrike" dirty="0">
                          <a:effectLst/>
                          <a:latin typeface="Arial" panose="020B0604020202020204" pitchFamily="34" charset="0"/>
                          <a:cs typeface="Arial" panose="020B0604020202020204" pitchFamily="34" charset="0"/>
                        </a:rPr>
                        <a:t>FY2016</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032557656"/>
                  </a:ext>
                </a:extLst>
              </a:tr>
              <a:tr h="221620">
                <a:tc>
                  <a:txBody>
                    <a:bodyPr/>
                    <a:lstStyle/>
                    <a:p>
                      <a:pPr algn="l" fontAlgn="b"/>
                      <a:r>
                        <a:rPr lang="en-US" sz="1100" b="1" u="none" strike="noStrike" dirty="0">
                          <a:effectLst/>
                          <a:latin typeface="Arial" panose="020B0604020202020204" pitchFamily="34" charset="0"/>
                          <a:cs typeface="Arial" panose="020B0604020202020204" pitchFamily="34" charset="0"/>
                        </a:rPr>
                        <a:t>University own funds total</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dirty="0">
                          <a:effectLst/>
                          <a:latin typeface="Arial" panose="020B0604020202020204" pitchFamily="34" charset="0"/>
                          <a:cs typeface="Arial" panose="020B0604020202020204" pitchFamily="34" charset="0"/>
                        </a:rPr>
                        <a:t>11.9</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dirty="0">
                          <a:effectLst/>
                          <a:latin typeface="Arial" panose="020B0604020202020204" pitchFamily="34" charset="0"/>
                          <a:cs typeface="Arial" panose="020B0604020202020204" pitchFamily="34" charset="0"/>
                        </a:rPr>
                        <a:t>18.0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62100639"/>
                  </a:ext>
                </a:extLst>
              </a:tr>
              <a:tr h="209550">
                <a:tc>
                  <a:txBody>
                    <a:bodyPr/>
                    <a:lstStyle/>
                    <a:p>
                      <a:pPr algn="r" fontAlgn="ctr"/>
                      <a:r>
                        <a:rPr lang="en-US" sz="1100" u="none" strike="noStrike" dirty="0">
                          <a:effectLst/>
                          <a:latin typeface="Arial" panose="020B0604020202020204" pitchFamily="34" charset="0"/>
                          <a:cs typeface="Arial" panose="020B0604020202020204" pitchFamily="34" charset="0"/>
                        </a:rPr>
                        <a:t>Institutionally financed research</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u="none" strike="noStrike" dirty="0">
                          <a:effectLst/>
                          <a:latin typeface="Arial" panose="020B0604020202020204" pitchFamily="34" charset="0"/>
                          <a:cs typeface="Arial" panose="020B0604020202020204" pitchFamily="34" charset="0"/>
                        </a:rPr>
                        <a:t>6.1</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u="none" strike="noStrike" dirty="0">
                          <a:effectLst/>
                          <a:latin typeface="Arial" panose="020B0604020202020204" pitchFamily="34" charset="0"/>
                          <a:cs typeface="Arial" panose="020B0604020202020204" pitchFamily="34" charset="0"/>
                        </a:rPr>
                        <a:t>11.5</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19487627"/>
                  </a:ext>
                </a:extLst>
              </a:tr>
              <a:tr h="161925">
                <a:tc>
                  <a:txBody>
                    <a:bodyPr/>
                    <a:lstStyle/>
                    <a:p>
                      <a:pPr algn="r" fontAlgn="ctr"/>
                      <a:r>
                        <a:rPr lang="en-US" sz="1100" u="none" strike="noStrike" dirty="0">
                          <a:effectLst/>
                          <a:latin typeface="Arial" panose="020B0604020202020204" pitchFamily="34" charset="0"/>
                          <a:cs typeface="Arial" panose="020B0604020202020204" pitchFamily="34" charset="0"/>
                        </a:rPr>
                        <a:t>Cost sharing</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u="none" strike="noStrike">
                          <a:effectLst/>
                          <a:latin typeface="Arial" panose="020B0604020202020204" pitchFamily="34" charset="0"/>
                          <a:cs typeface="Arial" panose="020B0604020202020204" pitchFamily="34" charset="0"/>
                        </a:rPr>
                        <a:t>1.1</a:t>
                      </a:r>
                      <a:endParaRPr lang="en-US" sz="11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u="none" strike="noStrike" dirty="0">
                          <a:effectLst/>
                          <a:latin typeface="Arial" panose="020B0604020202020204" pitchFamily="34" charset="0"/>
                          <a:cs typeface="Arial" panose="020B0604020202020204" pitchFamily="34" charset="0"/>
                        </a:rPr>
                        <a:t>1.4</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48451871"/>
                  </a:ext>
                </a:extLst>
              </a:tr>
              <a:tr h="161925">
                <a:tc>
                  <a:txBody>
                    <a:bodyPr/>
                    <a:lstStyle/>
                    <a:p>
                      <a:pPr algn="r" fontAlgn="ctr"/>
                      <a:r>
                        <a:rPr lang="en-US" sz="1100" u="none" strike="noStrike">
                          <a:effectLst/>
                          <a:latin typeface="Arial" panose="020B0604020202020204" pitchFamily="34" charset="0"/>
                          <a:cs typeface="Arial" panose="020B0604020202020204" pitchFamily="34" charset="0"/>
                        </a:rPr>
                        <a:t>Unrecovered indirect costs</a:t>
                      </a:r>
                      <a:endParaRPr lang="en-US" sz="1100" b="0"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u="none" strike="noStrike">
                          <a:effectLst/>
                          <a:latin typeface="Arial" panose="020B0604020202020204" pitchFamily="34" charset="0"/>
                          <a:cs typeface="Arial" panose="020B0604020202020204" pitchFamily="34" charset="0"/>
                        </a:rPr>
                        <a:t>4.7</a:t>
                      </a:r>
                      <a:endParaRPr lang="en-US" sz="11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u="none" strike="noStrike" dirty="0">
                          <a:effectLst/>
                          <a:latin typeface="Arial" panose="020B0604020202020204" pitchFamily="34" charset="0"/>
                          <a:cs typeface="Arial" panose="020B0604020202020204" pitchFamily="34" charset="0"/>
                        </a:rPr>
                        <a:t>5.1</a:t>
                      </a:r>
                      <a:endParaRPr lang="en-US" sz="1100" b="0"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69198790"/>
                  </a:ext>
                </a:extLst>
              </a:tr>
            </a:tbl>
          </a:graphicData>
        </a:graphic>
      </p:graphicFrame>
      <p:sp>
        <p:nvSpPr>
          <p:cNvPr id="24" name="TextBox 23">
            <a:extLst>
              <a:ext uri="{FF2B5EF4-FFF2-40B4-BE49-F238E27FC236}">
                <a16:creationId xmlns:a16="http://schemas.microsoft.com/office/drawing/2014/main" id="{E3A7DE6E-E8A4-4494-BC38-9EC970B4B65D}"/>
              </a:ext>
            </a:extLst>
          </p:cNvPr>
          <p:cNvSpPr txBox="1"/>
          <p:nvPr/>
        </p:nvSpPr>
        <p:spPr>
          <a:xfrm>
            <a:off x="5593080" y="5773579"/>
            <a:ext cx="70104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Prelim</a:t>
            </a:r>
            <a:r>
              <a:rPr lang="en-US" sz="600" dirty="0">
                <a:latin typeface="Arial" panose="020B0604020202020204" pitchFamily="34" charset="0"/>
                <a:cs typeface="Arial" panose="020B0604020202020204" pitchFamily="34" charset="0"/>
              </a:rPr>
              <a:t>.</a:t>
            </a:r>
          </a:p>
        </p:txBody>
      </p:sp>
      <p:cxnSp>
        <p:nvCxnSpPr>
          <p:cNvPr id="8" name="Straight Connector 7">
            <a:extLst>
              <a:ext uri="{FF2B5EF4-FFF2-40B4-BE49-F238E27FC236}">
                <a16:creationId xmlns:a16="http://schemas.microsoft.com/office/drawing/2014/main" id="{26AB8E37-7D6C-4C7B-B536-369B634FF6A7}"/>
              </a:ext>
            </a:extLst>
          </p:cNvPr>
          <p:cNvCxnSpPr/>
          <p:nvPr/>
        </p:nvCxnSpPr>
        <p:spPr>
          <a:xfrm flipV="1">
            <a:off x="5981700" y="3495968"/>
            <a:ext cx="381000" cy="917266"/>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8166885-CF6A-472C-8CA2-49166A7EC87F}"/>
              </a:ext>
            </a:extLst>
          </p:cNvPr>
          <p:cNvCxnSpPr/>
          <p:nvPr/>
        </p:nvCxnSpPr>
        <p:spPr>
          <a:xfrm>
            <a:off x="6020879" y="4563373"/>
            <a:ext cx="212281" cy="210750"/>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E3DEBE00-A1A6-46F2-B6F8-8611CCCB760E}"/>
              </a:ext>
            </a:extLst>
          </p:cNvPr>
          <p:cNvSpPr txBox="1"/>
          <p:nvPr/>
        </p:nvSpPr>
        <p:spPr>
          <a:xfrm>
            <a:off x="4999529" y="2496501"/>
            <a:ext cx="9144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Total R&amp;D</a:t>
            </a:r>
          </a:p>
        </p:txBody>
      </p:sp>
      <p:sp>
        <p:nvSpPr>
          <p:cNvPr id="4" name="Slide Number Placeholder 3">
            <a:extLst>
              <a:ext uri="{FF2B5EF4-FFF2-40B4-BE49-F238E27FC236}">
                <a16:creationId xmlns:a16="http://schemas.microsoft.com/office/drawing/2014/main" id="{89690404-AA7E-4D72-8192-2B515765A8CC}"/>
              </a:ext>
            </a:extLst>
          </p:cNvPr>
          <p:cNvSpPr>
            <a:spLocks noGrp="1"/>
          </p:cNvSpPr>
          <p:nvPr>
            <p:ph type="sldNum" sz="quarter" idx="12"/>
          </p:nvPr>
        </p:nvSpPr>
        <p:spPr/>
        <p:txBody>
          <a:bodyPr/>
          <a:lstStyle/>
          <a:p>
            <a:fld id="{1B835D90-6387-4175-8905-3408BA5A358B}" type="slidenum">
              <a:rPr lang="en-US" altLang="en-US" smtClean="0"/>
              <a:pPr/>
              <a:t>14</a:t>
            </a:fld>
            <a:endParaRPr lang="en-US" altLang="en-US"/>
          </a:p>
        </p:txBody>
      </p:sp>
    </p:spTree>
    <p:extLst>
      <p:ext uri="{BB962C8B-B14F-4D97-AF65-F5344CB8AC3E}">
        <p14:creationId xmlns:p14="http://schemas.microsoft.com/office/powerpoint/2010/main" val="1384163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723900"/>
            <a:ext cx="8229600" cy="1143000"/>
          </a:xfrm>
        </p:spPr>
        <p:txBody>
          <a:bodyPr/>
          <a:lstStyle/>
          <a:p>
            <a:pPr eaLnBrk="1" hangingPunct="1"/>
            <a:r>
              <a:rPr lang="en-US" altLang="en-US" sz="3200" b="1" dirty="0">
                <a:latin typeface="Arial" panose="020B0604020202020204" pitchFamily="34" charset="0"/>
              </a:rPr>
              <a:t>Higher Education R&amp;D, by Field: </a:t>
            </a:r>
            <a:br>
              <a:rPr lang="en-US" altLang="en-US" sz="3200" b="1" dirty="0">
                <a:latin typeface="Arial" panose="020B0604020202020204" pitchFamily="34" charset="0"/>
              </a:rPr>
            </a:br>
            <a:r>
              <a:rPr lang="en-US" altLang="en-US" sz="3200" b="1" dirty="0">
                <a:latin typeface="Arial" panose="020B0604020202020204" pitchFamily="34" charset="0"/>
              </a:rPr>
              <a:t>FYs 2010 and 2016</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Chart 7">
            <a:extLst>
              <a:ext uri="{FF2B5EF4-FFF2-40B4-BE49-F238E27FC236}">
                <a16:creationId xmlns:a16="http://schemas.microsoft.com/office/drawing/2014/main" id="{21E0EC60-72F6-47D6-BC91-E7302A5FDC66}"/>
              </a:ext>
            </a:extLst>
          </p:cNvPr>
          <p:cNvGraphicFramePr>
            <a:graphicFrameLocks/>
          </p:cNvGraphicFramePr>
          <p:nvPr>
            <p:extLst>
              <p:ext uri="{D42A27DB-BD31-4B8C-83A1-F6EECF244321}">
                <p14:modId xmlns:p14="http://schemas.microsoft.com/office/powerpoint/2010/main" val="1536376649"/>
              </p:ext>
            </p:extLst>
          </p:nvPr>
        </p:nvGraphicFramePr>
        <p:xfrm>
          <a:off x="457200" y="1905000"/>
          <a:ext cx="7162800" cy="48006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6">
            <a:extLst>
              <a:ext uri="{FF2B5EF4-FFF2-40B4-BE49-F238E27FC236}">
                <a16:creationId xmlns:a16="http://schemas.microsoft.com/office/drawing/2014/main" id="{38BAA3B9-1D12-419D-964D-E8F9EC9DD023}"/>
              </a:ext>
            </a:extLst>
          </p:cNvPr>
          <p:cNvSpPr txBox="1"/>
          <p:nvPr/>
        </p:nvSpPr>
        <p:spPr>
          <a:xfrm>
            <a:off x="0" y="6427410"/>
            <a:ext cx="3352800"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NCSES, Survey of Higher Education R&amp;D. </a:t>
            </a:r>
          </a:p>
          <a:p>
            <a:r>
              <a:rPr lang="en-US" sz="1000" dirty="0">
                <a:latin typeface="Arial" panose="020B0604020202020204" pitchFamily="34" charset="0"/>
                <a:cs typeface="Arial" panose="020B0604020202020204" pitchFamily="34" charset="0"/>
              </a:rPr>
              <a:t>Not adjusted for double-counting of pass-through funds.</a:t>
            </a:r>
          </a:p>
        </p:txBody>
      </p:sp>
      <p:sp>
        <p:nvSpPr>
          <p:cNvPr id="9" name="TextBox 8">
            <a:extLst>
              <a:ext uri="{FF2B5EF4-FFF2-40B4-BE49-F238E27FC236}">
                <a16:creationId xmlns:a16="http://schemas.microsoft.com/office/drawing/2014/main" id="{3C5FE99E-08CE-453F-B668-B62E88455A8C}"/>
              </a:ext>
            </a:extLst>
          </p:cNvPr>
          <p:cNvSpPr txBox="1"/>
          <p:nvPr/>
        </p:nvSpPr>
        <p:spPr>
          <a:xfrm>
            <a:off x="3886200" y="1728400"/>
            <a:ext cx="1852346"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(Millions of dollars)</a:t>
            </a:r>
          </a:p>
        </p:txBody>
      </p:sp>
      <p:sp>
        <p:nvSpPr>
          <p:cNvPr id="2" name="Slide Number Placeholder 1">
            <a:extLst>
              <a:ext uri="{FF2B5EF4-FFF2-40B4-BE49-F238E27FC236}">
                <a16:creationId xmlns:a16="http://schemas.microsoft.com/office/drawing/2014/main" id="{0087CA28-56D3-42C0-8311-1EBD4DEE945B}"/>
              </a:ext>
            </a:extLst>
          </p:cNvPr>
          <p:cNvSpPr>
            <a:spLocks noGrp="1"/>
          </p:cNvSpPr>
          <p:nvPr>
            <p:ph type="sldNum" sz="quarter" idx="12"/>
          </p:nvPr>
        </p:nvSpPr>
        <p:spPr/>
        <p:txBody>
          <a:bodyPr/>
          <a:lstStyle/>
          <a:p>
            <a:fld id="{1B835D90-6387-4175-8905-3408BA5A358B}" type="slidenum">
              <a:rPr lang="en-US" altLang="en-US" smtClean="0"/>
              <a:pPr/>
              <a:t>15</a:t>
            </a:fld>
            <a:endParaRPr lang="en-US" altLang="en-US"/>
          </a:p>
        </p:txBody>
      </p:sp>
    </p:spTree>
    <p:extLst>
      <p:ext uri="{BB962C8B-B14F-4D97-AF65-F5344CB8AC3E}">
        <p14:creationId xmlns:p14="http://schemas.microsoft.com/office/powerpoint/2010/main" val="2065077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647700"/>
            <a:ext cx="8229600" cy="800100"/>
          </a:xfrm>
        </p:spPr>
        <p:txBody>
          <a:bodyPr/>
          <a:lstStyle/>
          <a:p>
            <a:pPr eaLnBrk="1" hangingPunct="1"/>
            <a:r>
              <a:rPr lang="en-US" altLang="en-US" sz="3200" b="1" dirty="0">
                <a:latin typeface="Arial" panose="020B0604020202020204" pitchFamily="34" charset="0"/>
              </a:rPr>
              <a:t>Business R&amp;D, by industry: 2010-2015</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101598" y="6574886"/>
            <a:ext cx="4622802"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NCSES, Business R&amp;D and Innovation Survey (BRDIS)</a:t>
            </a:r>
          </a:p>
        </p:txBody>
      </p:sp>
      <p:graphicFrame>
        <p:nvGraphicFramePr>
          <p:cNvPr id="6" name="Table 5">
            <a:extLst>
              <a:ext uri="{FF2B5EF4-FFF2-40B4-BE49-F238E27FC236}">
                <a16:creationId xmlns:a16="http://schemas.microsoft.com/office/drawing/2014/main" id="{3B82F6AD-2FA3-4138-9F8D-3919A34EF70D}"/>
              </a:ext>
            </a:extLst>
          </p:cNvPr>
          <p:cNvGraphicFramePr>
            <a:graphicFrameLocks noGrp="1"/>
          </p:cNvGraphicFramePr>
          <p:nvPr>
            <p:extLst>
              <p:ext uri="{D42A27DB-BD31-4B8C-83A1-F6EECF244321}">
                <p14:modId xmlns:p14="http://schemas.microsoft.com/office/powerpoint/2010/main" val="969439934"/>
              </p:ext>
            </p:extLst>
          </p:nvPr>
        </p:nvGraphicFramePr>
        <p:xfrm>
          <a:off x="585107" y="1347763"/>
          <a:ext cx="7772403" cy="5227123"/>
        </p:xfrm>
        <a:graphic>
          <a:graphicData uri="http://schemas.openxmlformats.org/drawingml/2006/table">
            <a:tbl>
              <a:tblPr>
                <a:tableStyleId>{5C22544A-7EE6-4342-B048-85BDC9FD1C3A}</a:tableStyleId>
              </a:tblPr>
              <a:tblGrid>
                <a:gridCol w="2564091">
                  <a:extLst>
                    <a:ext uri="{9D8B030D-6E8A-4147-A177-3AD203B41FA5}">
                      <a16:colId xmlns:a16="http://schemas.microsoft.com/office/drawing/2014/main" val="714704972"/>
                    </a:ext>
                  </a:extLst>
                </a:gridCol>
                <a:gridCol w="480767">
                  <a:extLst>
                    <a:ext uri="{9D8B030D-6E8A-4147-A177-3AD203B41FA5}">
                      <a16:colId xmlns:a16="http://schemas.microsoft.com/office/drawing/2014/main" val="2301964451"/>
                    </a:ext>
                  </a:extLst>
                </a:gridCol>
                <a:gridCol w="641023">
                  <a:extLst>
                    <a:ext uri="{9D8B030D-6E8A-4147-A177-3AD203B41FA5}">
                      <a16:colId xmlns:a16="http://schemas.microsoft.com/office/drawing/2014/main" val="3815990465"/>
                    </a:ext>
                  </a:extLst>
                </a:gridCol>
                <a:gridCol w="641023">
                  <a:extLst>
                    <a:ext uri="{9D8B030D-6E8A-4147-A177-3AD203B41FA5}">
                      <a16:colId xmlns:a16="http://schemas.microsoft.com/office/drawing/2014/main" val="2636607929"/>
                    </a:ext>
                  </a:extLst>
                </a:gridCol>
                <a:gridCol w="641023">
                  <a:extLst>
                    <a:ext uri="{9D8B030D-6E8A-4147-A177-3AD203B41FA5}">
                      <a16:colId xmlns:a16="http://schemas.microsoft.com/office/drawing/2014/main" val="2630320628"/>
                    </a:ext>
                  </a:extLst>
                </a:gridCol>
                <a:gridCol w="480767">
                  <a:extLst>
                    <a:ext uri="{9D8B030D-6E8A-4147-A177-3AD203B41FA5}">
                      <a16:colId xmlns:a16="http://schemas.microsoft.com/office/drawing/2014/main" val="2275603413"/>
                    </a:ext>
                  </a:extLst>
                </a:gridCol>
                <a:gridCol w="681088">
                  <a:extLst>
                    <a:ext uri="{9D8B030D-6E8A-4147-A177-3AD203B41FA5}">
                      <a16:colId xmlns:a16="http://schemas.microsoft.com/office/drawing/2014/main" val="3658097041"/>
                    </a:ext>
                  </a:extLst>
                </a:gridCol>
                <a:gridCol w="1001597">
                  <a:extLst>
                    <a:ext uri="{9D8B030D-6E8A-4147-A177-3AD203B41FA5}">
                      <a16:colId xmlns:a16="http://schemas.microsoft.com/office/drawing/2014/main" val="1234833140"/>
                    </a:ext>
                  </a:extLst>
                </a:gridCol>
                <a:gridCol w="641024">
                  <a:extLst>
                    <a:ext uri="{9D8B030D-6E8A-4147-A177-3AD203B41FA5}">
                      <a16:colId xmlns:a16="http://schemas.microsoft.com/office/drawing/2014/main" val="3251043278"/>
                    </a:ext>
                  </a:extLst>
                </a:gridCol>
              </a:tblGrid>
              <a:tr h="542722">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000" b="1" u="none" strike="noStrike" dirty="0">
                          <a:effectLst/>
                          <a:latin typeface="Arial" panose="020B0604020202020204" pitchFamily="34" charset="0"/>
                          <a:cs typeface="Arial" panose="020B0604020202020204" pitchFamily="34" charset="0"/>
                        </a:rPr>
                        <a:t>Millions of current dollars)</a:t>
                      </a:r>
                      <a:endParaRPr lang="en-US" sz="10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2010 share</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2010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2012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2015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2015 share</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2010-15 avg. annual</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gridSpan="2">
                  <a:txBody>
                    <a:bodyPr/>
                    <a:lstStyle/>
                    <a:p>
                      <a:pPr algn="r" fontAlgn="b"/>
                      <a:r>
                        <a:rPr lang="en-US" sz="1200" b="1" u="none" strike="noStrike" dirty="0">
                          <a:solidFill>
                            <a:srgbClr val="0070C0"/>
                          </a:solidFill>
                          <a:effectLst/>
                          <a:latin typeface="Arial" panose="020B0604020202020204" pitchFamily="34" charset="0"/>
                          <a:cs typeface="Arial" panose="020B0604020202020204" pitchFamily="34" charset="0"/>
                        </a:rPr>
                        <a:t>Federal  funding</a:t>
                      </a:r>
                      <a:endParaRPr lang="en-US" sz="1200" b="1" i="0" u="none" strike="noStrike" dirty="0">
                        <a:solidFill>
                          <a:srgbClr val="0070C0"/>
                        </a:solidFill>
                        <a:effectLst/>
                        <a:latin typeface="Arial" panose="020B0604020202020204" pitchFamily="34" charset="0"/>
                        <a:cs typeface="Arial" panose="020B0604020202020204" pitchFamily="34" charset="0"/>
                      </a:endParaRPr>
                    </a:p>
                    <a:p>
                      <a:pPr algn="r" fontAlgn="b"/>
                      <a:r>
                        <a:rPr lang="en-US" sz="1200" b="1" u="none" strike="noStrike" dirty="0">
                          <a:effectLst/>
                          <a:latin typeface="Arial" panose="020B0604020202020204" pitchFamily="34" charset="0"/>
                          <a:cs typeface="Arial" panose="020B0604020202020204" pitchFamily="34" charset="0"/>
                        </a:rPr>
                        <a:t>2010         2015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hMerge="1">
                  <a:txBody>
                    <a:bodyPr/>
                    <a:lstStyle/>
                    <a:p>
                      <a:pPr algn="r" fontAlgn="b"/>
                      <a:endParaRPr lang="en-US" sz="10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738857444"/>
                  </a:ext>
                </a:extLst>
              </a:tr>
              <a:tr h="364293">
                <a:tc>
                  <a:txBody>
                    <a:bodyPr/>
                    <a:lstStyle/>
                    <a:p>
                      <a:pPr algn="l" fontAlgn="b"/>
                      <a:r>
                        <a:rPr lang="en-US" sz="1200" b="1" u="none" strike="noStrike" dirty="0">
                          <a:effectLst/>
                          <a:latin typeface="Arial" panose="020B0604020202020204" pitchFamily="34" charset="0"/>
                          <a:cs typeface="Arial" panose="020B0604020202020204" pitchFamily="34" charset="0"/>
                        </a:rPr>
                        <a:t>All industries</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200" b="1" u="none" strike="noStrike" dirty="0">
                          <a:solidFill>
                            <a:schemeClr val="accent2"/>
                          </a:solidFill>
                          <a:effectLst/>
                          <a:latin typeface="Arial" panose="020B0604020202020204" pitchFamily="34" charset="0"/>
                          <a:cs typeface="Arial" panose="020B0604020202020204" pitchFamily="34" charset="0"/>
                        </a:rPr>
                        <a:t> 100%      </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279,289</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302,759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355,821</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39,199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26,990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392054267"/>
                  </a:ext>
                </a:extLst>
              </a:tr>
              <a:tr h="185864">
                <a:tc>
                  <a:txBody>
                    <a:bodyPr/>
                    <a:lstStyle/>
                    <a:p>
                      <a:pPr algn="l" fontAlgn="t"/>
                      <a:r>
                        <a:rPr lang="en-US" sz="1200" b="1" u="none" strike="noStrike" dirty="0">
                          <a:effectLst/>
                          <a:latin typeface="Arial" panose="020B0604020202020204" pitchFamily="34" charset="0"/>
                          <a:cs typeface="Arial" panose="020B0604020202020204" pitchFamily="34" charset="0"/>
                        </a:rPr>
                        <a:t>Manufacturing industries</a:t>
                      </a:r>
                      <a:endParaRPr lang="en-US" sz="1200" b="1" i="0" u="none" strike="noStrike" dirty="0">
                        <a:effectLst/>
                        <a:latin typeface="Arial" panose="020B0604020202020204" pitchFamily="34" charset="0"/>
                        <a:cs typeface="Arial" panose="020B0604020202020204" pitchFamily="34" charset="0"/>
                      </a:endParaRPr>
                    </a:p>
                  </a:txBody>
                  <a:tcPr marL="1143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71.3</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199,147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208,577</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236,132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66.4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26,739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21,552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911115261"/>
                  </a:ext>
                </a:extLst>
              </a:tr>
              <a:tr h="185864">
                <a:tc>
                  <a:txBody>
                    <a:bodyPr/>
                    <a:lstStyle/>
                    <a:p>
                      <a:pPr algn="l" fontAlgn="t"/>
                      <a:r>
                        <a:rPr lang="en-US" sz="1200" b="1" u="none" strike="noStrike" dirty="0">
                          <a:effectLst/>
                          <a:latin typeface="Arial" panose="020B0604020202020204" pitchFamily="34" charset="0"/>
                          <a:cs typeface="Arial" panose="020B0604020202020204" pitchFamily="34" charset="0"/>
                        </a:rPr>
                        <a:t>Food</a:t>
                      </a:r>
                      <a:endParaRPr lang="en-US" sz="1200" b="1" i="0" u="none" strike="noStrike" dirty="0">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4,000</a:t>
                      </a:r>
                      <a:endParaRPr lang="en-US" sz="1200" b="1" i="0" u="none" strike="noStrike">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4,087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4,838</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1.4</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15</a:t>
                      </a: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a:t>
                      </a:r>
                    </a:p>
                  </a:txBody>
                  <a:tcPr marL="6350" marR="6350" marT="6350" marB="0" anchor="b"/>
                </a:tc>
                <a:extLst>
                  <a:ext uri="{0D108BD9-81ED-4DB2-BD59-A6C34878D82A}">
                    <a16:rowId xmlns:a16="http://schemas.microsoft.com/office/drawing/2014/main" val="2088513976"/>
                  </a:ext>
                </a:extLst>
              </a:tr>
              <a:tr h="185864">
                <a:tc>
                  <a:txBody>
                    <a:bodyPr/>
                    <a:lstStyle/>
                    <a:p>
                      <a:pPr algn="l" fontAlgn="t"/>
                      <a:r>
                        <a:rPr lang="en-US" sz="1200" b="1" u="none" strike="noStrike" dirty="0">
                          <a:effectLst/>
                          <a:latin typeface="Arial" panose="020B0604020202020204" pitchFamily="34" charset="0"/>
                          <a:cs typeface="Arial" panose="020B0604020202020204" pitchFamily="34" charset="0"/>
                        </a:rPr>
                        <a:t>Pharmaceuticals and medicines</a:t>
                      </a:r>
                      <a:endParaRPr lang="en-US" sz="1200" b="1" i="0" u="none" strike="noStrike" dirty="0">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17.7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49,469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47,851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58,675</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16.5</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99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138</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139253454"/>
                  </a:ext>
                </a:extLst>
              </a:tr>
              <a:tr h="364293">
                <a:tc>
                  <a:txBody>
                    <a:bodyPr/>
                    <a:lstStyle/>
                    <a:p>
                      <a:pPr algn="l" fontAlgn="t"/>
                      <a:r>
                        <a:rPr lang="en-US" sz="1200" b="1" u="none" strike="noStrike" dirty="0">
                          <a:effectLst/>
                          <a:latin typeface="Arial" panose="020B0604020202020204" pitchFamily="34" charset="0"/>
                          <a:cs typeface="Arial" panose="020B0604020202020204" pitchFamily="34" charset="0"/>
                        </a:rPr>
                        <a:t>Chemicals other than pharmaceuticals</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3.2</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8,874</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8,897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9,521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81</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272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008660753"/>
                  </a:ext>
                </a:extLst>
              </a:tr>
              <a:tr h="185864">
                <a:tc>
                  <a:txBody>
                    <a:bodyPr/>
                    <a:lstStyle/>
                    <a:p>
                      <a:pPr algn="l" fontAlgn="t"/>
                      <a:r>
                        <a:rPr lang="en-US" sz="1200" b="1" u="none" strike="noStrike" dirty="0">
                          <a:effectLst/>
                          <a:latin typeface="Arial" panose="020B0604020202020204" pitchFamily="34" charset="0"/>
                          <a:cs typeface="Arial" panose="020B0604020202020204" pitchFamily="34" charset="0"/>
                        </a:rPr>
                        <a:t>Machinery</a:t>
                      </a:r>
                      <a:endParaRPr lang="en-US" sz="1200" b="1" i="0" u="none" strike="noStrike" dirty="0">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3.7</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10,260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13,752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13,426</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3.8</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98</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222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567797724"/>
                  </a:ext>
                </a:extLst>
              </a:tr>
              <a:tr h="209863">
                <a:tc>
                  <a:txBody>
                    <a:bodyPr/>
                    <a:lstStyle/>
                    <a:p>
                      <a:pPr algn="l" fontAlgn="t"/>
                      <a:r>
                        <a:rPr lang="en-US" sz="1200" b="1" u="none" strike="noStrike">
                          <a:effectLst/>
                          <a:latin typeface="Arial" panose="020B0604020202020204" pitchFamily="34" charset="0"/>
                          <a:cs typeface="Arial" panose="020B0604020202020204" pitchFamily="34" charset="0"/>
                        </a:rPr>
                        <a:t>Computer and electronic products</a:t>
                      </a:r>
                      <a:endParaRPr lang="en-US" sz="1200" b="1" i="0" u="none" strike="noStrike">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22.1</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61,623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66,290</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72,110</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20.3</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5,935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4,213</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506499468"/>
                  </a:ext>
                </a:extLst>
              </a:tr>
              <a:tr h="364293">
                <a:tc>
                  <a:txBody>
                    <a:bodyPr/>
                    <a:lstStyle/>
                    <a:p>
                      <a:pPr algn="l" fontAlgn="t"/>
                      <a:r>
                        <a:rPr lang="en-US" sz="1200" b="1" u="none" strike="noStrike">
                          <a:effectLst/>
                          <a:latin typeface="Arial" panose="020B0604020202020204" pitchFamily="34" charset="0"/>
                          <a:cs typeface="Arial" panose="020B0604020202020204" pitchFamily="34" charset="0"/>
                        </a:rPr>
                        <a:t>Electrical equipment, appliances, and components</a:t>
                      </a:r>
                      <a:endParaRPr lang="en-US" sz="1200" b="1" i="0" u="none" strike="noStrike">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1.2</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3,320</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3,078</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4,335</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1.2</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84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242935526"/>
                  </a:ext>
                </a:extLst>
              </a:tr>
              <a:tr h="185864">
                <a:tc>
                  <a:txBody>
                    <a:bodyPr/>
                    <a:lstStyle/>
                    <a:p>
                      <a:pPr algn="l" fontAlgn="t"/>
                      <a:r>
                        <a:rPr lang="en-US" sz="1200" b="1" u="none" strike="noStrike" dirty="0">
                          <a:solidFill>
                            <a:srgbClr val="FF0000"/>
                          </a:solidFill>
                          <a:effectLst/>
                          <a:latin typeface="Arial" panose="020B0604020202020204" pitchFamily="34" charset="0"/>
                          <a:cs typeface="Arial" panose="020B0604020202020204" pitchFamily="34" charset="0"/>
                        </a:rPr>
                        <a:t>Aerospace products and parts</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29,857</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24,874</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27,464</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7.7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-1.7</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18,921</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15,064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586963827"/>
                  </a:ext>
                </a:extLst>
              </a:tr>
              <a:tr h="364293">
                <a:tc>
                  <a:txBody>
                    <a:bodyPr/>
                    <a:lstStyle/>
                    <a:p>
                      <a:pPr algn="l" fontAlgn="t"/>
                      <a:r>
                        <a:rPr lang="en-US" sz="1200" b="1" u="none" strike="noStrike" dirty="0">
                          <a:solidFill>
                            <a:srgbClr val="FF0000"/>
                          </a:solidFill>
                          <a:effectLst/>
                          <a:latin typeface="Arial" panose="020B0604020202020204" pitchFamily="34" charset="0"/>
                          <a:cs typeface="Arial" panose="020B0604020202020204" pitchFamily="34" charset="0"/>
                        </a:rPr>
                        <a:t>Transportation equipment other than aerospace</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4.7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13,083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17,466</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21,810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6.1</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10.8</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1,270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1,451</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624307159"/>
                  </a:ext>
                </a:extLst>
              </a:tr>
              <a:tr h="185864">
                <a:tc>
                  <a:txBody>
                    <a:bodyPr/>
                    <a:lstStyle/>
                    <a:p>
                      <a:pPr algn="l" fontAlgn="t"/>
                      <a:r>
                        <a:rPr lang="en-US" sz="1200" b="1" u="none" strike="noStrike">
                          <a:effectLst/>
                          <a:latin typeface="Arial" panose="020B0604020202020204" pitchFamily="34" charset="0"/>
                          <a:cs typeface="Arial" panose="020B0604020202020204" pitchFamily="34" charset="0"/>
                        </a:rPr>
                        <a:t>Medical equipment and supplies</a:t>
                      </a:r>
                      <a:endParaRPr lang="en-US" sz="1200" b="1" i="0" u="none" strike="noStrike">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2.3</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6,459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8,333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11,382</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3.2</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12.0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a:t>
                      </a: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a:t>
                      </a:r>
                    </a:p>
                  </a:txBody>
                  <a:tcPr marL="6350" marR="6350" marT="6350" marB="0" anchor="b"/>
                </a:tc>
                <a:extLst>
                  <a:ext uri="{0D108BD9-81ED-4DB2-BD59-A6C34878D82A}">
                    <a16:rowId xmlns:a16="http://schemas.microsoft.com/office/drawing/2014/main" val="926969800"/>
                  </a:ext>
                </a:extLst>
              </a:tr>
              <a:tr h="185864">
                <a:tc>
                  <a:txBody>
                    <a:bodyPr/>
                    <a:lstStyle/>
                    <a:p>
                      <a:pPr algn="l" fontAlgn="t"/>
                      <a:r>
                        <a:rPr lang="en-US" sz="1200" b="1" u="none" strike="noStrike">
                          <a:effectLst/>
                          <a:latin typeface="Arial" panose="020B0604020202020204" pitchFamily="34" charset="0"/>
                          <a:cs typeface="Arial" panose="020B0604020202020204" pitchFamily="34" charset="0"/>
                        </a:rPr>
                        <a:t>Nonmanufacturing industries</a:t>
                      </a:r>
                      <a:endParaRPr lang="en-US" sz="1200" b="1" i="0" u="none" strike="noStrike">
                        <a:effectLst/>
                        <a:latin typeface="Arial" panose="020B0604020202020204" pitchFamily="34" charset="0"/>
                        <a:cs typeface="Arial" panose="020B0604020202020204" pitchFamily="34" charset="0"/>
                      </a:endParaRPr>
                    </a:p>
                  </a:txBody>
                  <a:tcPr marL="1143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28.7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80,142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94,183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119,690</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33.6</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8.4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7,460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5,438</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588004768"/>
                  </a:ext>
                </a:extLst>
              </a:tr>
              <a:tr h="185864">
                <a:tc>
                  <a:txBody>
                    <a:bodyPr/>
                    <a:lstStyle/>
                    <a:p>
                      <a:pPr algn="l" fontAlgn="t"/>
                      <a:r>
                        <a:rPr lang="en-US" sz="1200" b="1" u="none" strike="noStrike">
                          <a:effectLst/>
                          <a:latin typeface="Arial" panose="020B0604020202020204" pitchFamily="34" charset="0"/>
                          <a:cs typeface="Arial" panose="020B0604020202020204" pitchFamily="34" charset="0"/>
                        </a:rPr>
                        <a:t>Software publishers</a:t>
                      </a:r>
                      <a:endParaRPr lang="en-US" sz="1200" b="1" i="0" u="none" strike="noStrike">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9.4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26,187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28,848</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33,248</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9.3</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NA</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807189236"/>
                  </a:ext>
                </a:extLst>
              </a:tr>
              <a:tr h="185864">
                <a:tc>
                  <a:txBody>
                    <a:bodyPr/>
                    <a:lstStyle/>
                    <a:p>
                      <a:pPr algn="l" fontAlgn="t"/>
                      <a:r>
                        <a:rPr lang="en-US" sz="1200" b="1" u="none" strike="noStrike" dirty="0">
                          <a:solidFill>
                            <a:srgbClr val="FF0000"/>
                          </a:solidFill>
                          <a:effectLst/>
                          <a:latin typeface="Arial" panose="020B0604020202020204" pitchFamily="34" charset="0"/>
                          <a:cs typeface="Arial" panose="020B0604020202020204" pitchFamily="34" charset="0"/>
                        </a:rPr>
                        <a:t>Telecommunications</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1,912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2,729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3,607</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13.5</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5</a:t>
                      </a: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5</a:t>
                      </a:r>
                    </a:p>
                  </a:txBody>
                  <a:tcPr marL="6350" marR="6350" marT="6350" marB="0" anchor="b"/>
                </a:tc>
                <a:extLst>
                  <a:ext uri="{0D108BD9-81ED-4DB2-BD59-A6C34878D82A}">
                    <a16:rowId xmlns:a16="http://schemas.microsoft.com/office/drawing/2014/main" val="3726087568"/>
                  </a:ext>
                </a:extLst>
              </a:tr>
              <a:tr h="364293">
                <a:tc>
                  <a:txBody>
                    <a:bodyPr/>
                    <a:lstStyle/>
                    <a:p>
                      <a:pPr algn="l" fontAlgn="t"/>
                      <a:r>
                        <a:rPr lang="en-US" sz="1200" b="1" u="none" strike="noStrike" dirty="0">
                          <a:solidFill>
                            <a:srgbClr val="FF0000"/>
                          </a:solidFill>
                          <a:effectLst/>
                          <a:latin typeface="Arial" panose="020B0604020202020204" pitchFamily="34" charset="0"/>
                          <a:cs typeface="Arial" panose="020B0604020202020204" pitchFamily="34" charset="0"/>
                        </a:rPr>
                        <a:t>Data processing, hosting, and  related services</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2,753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4,914</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9,416</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2.6</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27.9</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3</a:t>
                      </a: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24</a:t>
                      </a:r>
                    </a:p>
                  </a:txBody>
                  <a:tcPr marL="6350" marR="6350" marT="6350" marB="0" anchor="b"/>
                </a:tc>
                <a:extLst>
                  <a:ext uri="{0D108BD9-81ED-4DB2-BD59-A6C34878D82A}">
                    <a16:rowId xmlns:a16="http://schemas.microsoft.com/office/drawing/2014/main" val="1122512012"/>
                  </a:ext>
                </a:extLst>
              </a:tr>
              <a:tr h="185864">
                <a:tc>
                  <a:txBody>
                    <a:bodyPr/>
                    <a:lstStyle/>
                    <a:p>
                      <a:pPr algn="l" fontAlgn="t"/>
                      <a:r>
                        <a:rPr lang="en-US" sz="1200" b="1" u="none" strike="noStrike" dirty="0">
                          <a:solidFill>
                            <a:srgbClr val="FF0000"/>
                          </a:solidFill>
                          <a:effectLst/>
                          <a:latin typeface="Arial" panose="020B0604020202020204" pitchFamily="34" charset="0"/>
                          <a:cs typeface="Arial" panose="020B0604020202020204" pitchFamily="34" charset="0"/>
                        </a:rPr>
                        <a:t>Other information</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5,466</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10,190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19,144</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5.4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28.5</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4</a:t>
                      </a:r>
                    </a:p>
                  </a:txBody>
                  <a:tcPr marL="6350" marR="6350" marT="6350" marB="0" anchor="b"/>
                </a:tc>
                <a:tc>
                  <a:txBody>
                    <a:bodyPr/>
                    <a:lstStyle/>
                    <a:p>
                      <a:pPr algn="r" fontAlgn="b"/>
                      <a:r>
                        <a:rPr lang="en-US" sz="1200" b="1" i="0" u="none" strike="noStrike" dirty="0">
                          <a:effectLst/>
                          <a:latin typeface="Arial" panose="020B0604020202020204" pitchFamily="34" charset="0"/>
                          <a:cs typeface="Arial" panose="020B0604020202020204" pitchFamily="34" charset="0"/>
                        </a:rPr>
                        <a:t>0</a:t>
                      </a:r>
                    </a:p>
                  </a:txBody>
                  <a:tcPr marL="6350" marR="6350" marT="6350" marB="0" anchor="b"/>
                </a:tc>
                <a:extLst>
                  <a:ext uri="{0D108BD9-81ED-4DB2-BD59-A6C34878D82A}">
                    <a16:rowId xmlns:a16="http://schemas.microsoft.com/office/drawing/2014/main" val="6851639"/>
                  </a:ext>
                </a:extLst>
              </a:tr>
              <a:tr h="364293">
                <a:tc>
                  <a:txBody>
                    <a:bodyPr/>
                    <a:lstStyle/>
                    <a:p>
                      <a:pPr algn="l" fontAlgn="t"/>
                      <a:r>
                        <a:rPr lang="en-US" sz="1200" b="1" u="none" strike="noStrike">
                          <a:effectLst/>
                          <a:latin typeface="Arial" panose="020B0604020202020204" pitchFamily="34" charset="0"/>
                          <a:cs typeface="Arial" panose="020B0604020202020204" pitchFamily="34" charset="0"/>
                        </a:rPr>
                        <a:t>Professional, scientific, and technical services</a:t>
                      </a:r>
                      <a:endParaRPr lang="en-US" sz="1200" b="1" i="0" u="none" strike="noStrike">
                        <a:effectLst/>
                        <a:latin typeface="Arial" panose="020B0604020202020204" pitchFamily="34" charset="0"/>
                        <a:cs typeface="Arial" panose="020B0604020202020204" pitchFamily="34" charset="0"/>
                      </a:endParaRPr>
                    </a:p>
                  </a:txBody>
                  <a:tcPr marL="228600" marR="6350" marT="6350" marB="0"/>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11.4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31,798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34,121</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38,626</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10.9</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6,829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5,323</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110559339"/>
                  </a:ext>
                </a:extLst>
              </a:tr>
            </a:tbl>
          </a:graphicData>
        </a:graphic>
      </p:graphicFrame>
      <p:sp>
        <p:nvSpPr>
          <p:cNvPr id="2" name="Slide Number Placeholder 1">
            <a:extLst>
              <a:ext uri="{FF2B5EF4-FFF2-40B4-BE49-F238E27FC236}">
                <a16:creationId xmlns:a16="http://schemas.microsoft.com/office/drawing/2014/main" id="{DDCE417B-8C2F-4D43-8529-FAC8DF965C65}"/>
              </a:ext>
            </a:extLst>
          </p:cNvPr>
          <p:cNvSpPr>
            <a:spLocks noGrp="1"/>
          </p:cNvSpPr>
          <p:nvPr>
            <p:ph type="sldNum" sz="quarter" idx="12"/>
          </p:nvPr>
        </p:nvSpPr>
        <p:spPr>
          <a:xfrm>
            <a:off x="7203489" y="6363907"/>
            <a:ext cx="1905000" cy="457200"/>
          </a:xfrm>
        </p:spPr>
        <p:txBody>
          <a:bodyPr/>
          <a:lstStyle/>
          <a:p>
            <a:fld id="{1B835D90-6387-4175-8905-3408BA5A358B}" type="slidenum">
              <a:rPr lang="en-US" altLang="en-US" smtClean="0"/>
              <a:pPr/>
              <a:t>16</a:t>
            </a:fld>
            <a:endParaRPr lang="en-US" altLang="en-US" dirty="0"/>
          </a:p>
        </p:txBody>
      </p:sp>
    </p:spTree>
    <p:extLst>
      <p:ext uri="{BB962C8B-B14F-4D97-AF65-F5344CB8AC3E}">
        <p14:creationId xmlns:p14="http://schemas.microsoft.com/office/powerpoint/2010/main" val="1130349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609600" y="630515"/>
            <a:ext cx="8229600" cy="1143000"/>
          </a:xfrm>
        </p:spPr>
        <p:txBody>
          <a:bodyPr/>
          <a:lstStyle/>
          <a:p>
            <a:pPr eaLnBrk="1" hangingPunct="1"/>
            <a:r>
              <a:rPr lang="en-US" altLang="en-US" sz="3200" b="1" dirty="0">
                <a:latin typeface="Arial" panose="020B0604020202020204" pitchFamily="34" charset="0"/>
              </a:rPr>
              <a:t>Worldwide US Business R&amp;D: 2008-2016</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228600" y="6400800"/>
            <a:ext cx="1905000"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Source: NCSES, BRDIS</a:t>
            </a:r>
          </a:p>
        </p:txBody>
      </p:sp>
      <p:graphicFrame>
        <p:nvGraphicFramePr>
          <p:cNvPr id="8" name="Chart 7">
            <a:extLst>
              <a:ext uri="{FF2B5EF4-FFF2-40B4-BE49-F238E27FC236}">
                <a16:creationId xmlns:a16="http://schemas.microsoft.com/office/drawing/2014/main" id="{62BB5CC4-4F86-4BD9-8532-B17BFD241FAC}"/>
              </a:ext>
            </a:extLst>
          </p:cNvPr>
          <p:cNvGraphicFramePr>
            <a:graphicFrameLocks/>
          </p:cNvGraphicFramePr>
          <p:nvPr>
            <p:extLst>
              <p:ext uri="{D42A27DB-BD31-4B8C-83A1-F6EECF244321}">
                <p14:modId xmlns:p14="http://schemas.microsoft.com/office/powerpoint/2010/main" val="2666516842"/>
              </p:ext>
            </p:extLst>
          </p:nvPr>
        </p:nvGraphicFramePr>
        <p:xfrm>
          <a:off x="76200" y="2057400"/>
          <a:ext cx="5257800" cy="32385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Table 4">
            <a:extLst>
              <a:ext uri="{FF2B5EF4-FFF2-40B4-BE49-F238E27FC236}">
                <a16:creationId xmlns:a16="http://schemas.microsoft.com/office/drawing/2014/main" id="{1BD1B620-1A8C-425A-9143-F235A4323F04}"/>
              </a:ext>
            </a:extLst>
          </p:cNvPr>
          <p:cNvGraphicFramePr>
            <a:graphicFrameLocks noGrp="1"/>
          </p:cNvGraphicFramePr>
          <p:nvPr>
            <p:extLst>
              <p:ext uri="{D42A27DB-BD31-4B8C-83A1-F6EECF244321}">
                <p14:modId xmlns:p14="http://schemas.microsoft.com/office/powerpoint/2010/main" val="1459831631"/>
              </p:ext>
            </p:extLst>
          </p:nvPr>
        </p:nvGraphicFramePr>
        <p:xfrm>
          <a:off x="5308601" y="2045936"/>
          <a:ext cx="3606799" cy="4388961"/>
        </p:xfrm>
        <a:graphic>
          <a:graphicData uri="http://schemas.openxmlformats.org/drawingml/2006/table">
            <a:tbl>
              <a:tblPr>
                <a:tableStyleId>{5C22544A-7EE6-4342-B048-85BDC9FD1C3A}</a:tableStyleId>
              </a:tblPr>
              <a:tblGrid>
                <a:gridCol w="1321683">
                  <a:extLst>
                    <a:ext uri="{9D8B030D-6E8A-4147-A177-3AD203B41FA5}">
                      <a16:colId xmlns:a16="http://schemas.microsoft.com/office/drawing/2014/main" val="2761822873"/>
                    </a:ext>
                  </a:extLst>
                </a:gridCol>
                <a:gridCol w="837316">
                  <a:extLst>
                    <a:ext uri="{9D8B030D-6E8A-4147-A177-3AD203B41FA5}">
                      <a16:colId xmlns:a16="http://schemas.microsoft.com/office/drawing/2014/main" val="2041536755"/>
                    </a:ext>
                  </a:extLst>
                </a:gridCol>
                <a:gridCol w="762000">
                  <a:extLst>
                    <a:ext uri="{9D8B030D-6E8A-4147-A177-3AD203B41FA5}">
                      <a16:colId xmlns:a16="http://schemas.microsoft.com/office/drawing/2014/main" val="2517243509"/>
                    </a:ext>
                  </a:extLst>
                </a:gridCol>
                <a:gridCol w="685800">
                  <a:extLst>
                    <a:ext uri="{9D8B030D-6E8A-4147-A177-3AD203B41FA5}">
                      <a16:colId xmlns:a16="http://schemas.microsoft.com/office/drawing/2014/main" val="2301343194"/>
                    </a:ext>
                  </a:extLst>
                </a:gridCol>
              </a:tblGrid>
              <a:tr h="422375">
                <a:tc>
                  <a:txBody>
                    <a:bodyPr/>
                    <a:lstStyle/>
                    <a:p>
                      <a:pPr algn="l" fontAlgn="ctr"/>
                      <a:r>
                        <a:rPr lang="en-US" sz="800" b="1" u="none" strike="noStrike" dirty="0">
                          <a:effectLst/>
                          <a:latin typeface="Arial" panose="020B0604020202020204" pitchFamily="34" charset="0"/>
                          <a:cs typeface="Arial" panose="020B0604020202020204" pitchFamily="34" charset="0"/>
                        </a:rPr>
                        <a:t>   (Millions of  </a:t>
                      </a:r>
                    </a:p>
                    <a:p>
                      <a:pPr algn="l" fontAlgn="ctr"/>
                      <a:r>
                        <a:rPr lang="en-US" sz="800" b="1" u="none" strike="noStrike" dirty="0">
                          <a:effectLst/>
                          <a:latin typeface="Arial" panose="020B0604020202020204" pitchFamily="34" charset="0"/>
                          <a:cs typeface="Arial" panose="020B0604020202020204" pitchFamily="34" charset="0"/>
                        </a:rPr>
                        <a:t>   U.S. dollars)</a:t>
                      </a:r>
                      <a:endParaRPr lang="en-US" sz="8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ctr"/>
                </a:tc>
                <a:tc>
                  <a:txBody>
                    <a:bodyPr/>
                    <a:lstStyle/>
                    <a:p>
                      <a:pPr algn="l" fontAlgn="ctr"/>
                      <a:r>
                        <a:rPr lang="en-US" sz="1200" b="1" u="none" strike="noStrike" dirty="0">
                          <a:effectLst/>
                          <a:latin typeface="Arial" panose="020B0604020202020204" pitchFamily="34" charset="0"/>
                          <a:cs typeface="Arial" panose="020B0604020202020204" pitchFamily="34" charset="0"/>
                        </a:rPr>
                        <a:t>Performed outside of US in </a:t>
                      </a:r>
                      <a:r>
                        <a:rPr lang="en-US" sz="1200" b="1" u="none" strike="noStrike" kern="1200" dirty="0">
                          <a:solidFill>
                            <a:schemeClr val="dk1"/>
                          </a:solidFill>
                          <a:effectLst/>
                          <a:latin typeface="Arial" panose="020B0604020202020204" pitchFamily="34" charset="0"/>
                          <a:ea typeface="+mn-ea"/>
                          <a:cs typeface="Arial" panose="020B0604020202020204" pitchFamily="34" charset="0"/>
                        </a:rPr>
                        <a:t>2015</a:t>
                      </a:r>
                    </a:p>
                    <a:p>
                      <a:pPr algn="l" fontAlgn="ct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ctr"/>
                </a:tc>
                <a:tc>
                  <a:txBody>
                    <a:bodyPr/>
                    <a:lstStyle/>
                    <a:p>
                      <a:pPr algn="r" fontAlgn="ctr"/>
                      <a:r>
                        <a:rPr lang="en-US" sz="1200" b="1" u="none" strike="noStrike" dirty="0">
                          <a:effectLst/>
                          <a:latin typeface="Arial" panose="020B0604020202020204" pitchFamily="34" charset="0"/>
                          <a:cs typeface="Arial" panose="020B0604020202020204" pitchFamily="34" charset="0"/>
                        </a:rPr>
                        <a:t>Paid for by the company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ctr"/>
                </a:tc>
                <a:tc>
                  <a:txBody>
                    <a:bodyPr/>
                    <a:lstStyle/>
                    <a:p>
                      <a:pPr algn="r" fontAlgn="ctr"/>
                      <a:r>
                        <a:rPr lang="en-US" sz="1200" b="1" u="none" strike="noStrike" dirty="0">
                          <a:effectLst/>
                          <a:latin typeface="Arial" panose="020B0604020202020204" pitchFamily="34" charset="0"/>
                          <a:cs typeface="Arial" panose="020B0604020202020204" pitchFamily="34" charset="0"/>
                        </a:rPr>
                        <a:t>Paid for by others</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ctr"/>
                </a:tc>
                <a:extLst>
                  <a:ext uri="{0D108BD9-81ED-4DB2-BD59-A6C34878D82A}">
                    <a16:rowId xmlns:a16="http://schemas.microsoft.com/office/drawing/2014/main" val="4140630905"/>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Total</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1143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73,691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67,822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5,868</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600579702"/>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Canada</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2286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4,381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4,172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209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309328243"/>
                  </a:ext>
                </a:extLst>
              </a:tr>
              <a:tr h="172986">
                <a:tc>
                  <a:txBody>
                    <a:bodyPr/>
                    <a:lstStyle/>
                    <a:p>
                      <a:pPr algn="l" fontAlgn="b"/>
                      <a:r>
                        <a:rPr lang="en-US" sz="1200" b="1" u="none" strike="noStrike">
                          <a:effectLst/>
                          <a:latin typeface="Arial" panose="020B0604020202020204" pitchFamily="34" charset="0"/>
                          <a:cs typeface="Arial" panose="020B0604020202020204" pitchFamily="34" charset="0"/>
                        </a:rPr>
                        <a:t>Latin America</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22860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4,444</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4,143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301</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018734334"/>
                  </a:ext>
                </a:extLst>
              </a:tr>
              <a:tr h="230648">
                <a:tc>
                  <a:txBody>
                    <a:bodyPr/>
                    <a:lstStyle/>
                    <a:p>
                      <a:pPr algn="l" fontAlgn="b"/>
                      <a:r>
                        <a:rPr lang="en-US" sz="1200" b="1" u="none" strike="noStrike">
                          <a:effectLst/>
                          <a:latin typeface="Arial" panose="020B0604020202020204" pitchFamily="34" charset="0"/>
                          <a:cs typeface="Arial" panose="020B0604020202020204" pitchFamily="34" charset="0"/>
                        </a:rPr>
                        <a:t>Europe</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22860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36,849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33,449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3,399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924562297"/>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Belgium</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2,058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1,911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148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149910929"/>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France</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2,772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2,496</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276</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115493189"/>
                  </a:ext>
                </a:extLst>
              </a:tr>
              <a:tr h="172986">
                <a:tc>
                  <a:txBody>
                    <a:bodyPr/>
                    <a:lstStyle/>
                    <a:p>
                      <a:pPr algn="l" fontAlgn="ctr"/>
                      <a:r>
                        <a:rPr lang="en-US" sz="1200" b="1" u="none" strike="noStrike" dirty="0">
                          <a:solidFill>
                            <a:srgbClr val="FF0000"/>
                          </a:solidFill>
                          <a:effectLst/>
                          <a:latin typeface="Arial" panose="020B0604020202020204" pitchFamily="34" charset="0"/>
                          <a:cs typeface="Arial" panose="020B0604020202020204" pitchFamily="34" charset="0"/>
                        </a:rPr>
                        <a:t>Germany</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8,157</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7,770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387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949528023"/>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Ireland</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2,317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2,268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0775051"/>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Switzerland</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2,926</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2,489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437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178568484"/>
                  </a:ext>
                </a:extLst>
              </a:tr>
              <a:tr h="172986">
                <a:tc>
                  <a:txBody>
                    <a:bodyPr/>
                    <a:lstStyle/>
                    <a:p>
                      <a:pPr algn="l" fontAlgn="ctr"/>
                      <a:r>
                        <a:rPr lang="en-US" sz="1200" b="1" u="none" strike="noStrike" dirty="0">
                          <a:solidFill>
                            <a:srgbClr val="FF0000"/>
                          </a:solidFill>
                          <a:effectLst/>
                          <a:latin typeface="Arial" panose="020B0604020202020204" pitchFamily="34" charset="0"/>
                          <a:cs typeface="Arial" panose="020B0604020202020204" pitchFamily="34" charset="0"/>
                        </a:rPr>
                        <a:t>United Kingdom</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8,565</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7,368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1,197</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958181303"/>
                  </a:ext>
                </a:extLst>
              </a:tr>
              <a:tr h="216233">
                <a:tc>
                  <a:txBody>
                    <a:bodyPr/>
                    <a:lstStyle/>
                    <a:p>
                      <a:pPr algn="l" fontAlgn="b"/>
                      <a:r>
                        <a:rPr lang="en-US" sz="1200" b="1" u="none" strike="noStrike">
                          <a:effectLst/>
                          <a:latin typeface="Arial" panose="020B0604020202020204" pitchFamily="34" charset="0"/>
                          <a:cs typeface="Arial" panose="020B0604020202020204" pitchFamily="34" charset="0"/>
                        </a:rPr>
                        <a:t>Middle East</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22860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3,702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3,623</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79</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465071009"/>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Israel</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3,530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3,457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73</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789261473"/>
                  </a:ext>
                </a:extLst>
              </a:tr>
              <a:tr h="172986">
                <a:tc>
                  <a:txBody>
                    <a:bodyPr/>
                    <a:lstStyle/>
                    <a:p>
                      <a:pPr algn="l" fontAlgn="b"/>
                      <a:r>
                        <a:rPr lang="en-US" sz="1200" b="1" u="none" strike="noStrike">
                          <a:effectLst/>
                          <a:latin typeface="Arial" panose="020B0604020202020204" pitchFamily="34" charset="0"/>
                          <a:cs typeface="Arial" panose="020B0604020202020204" pitchFamily="34" charset="0"/>
                        </a:rPr>
                        <a:t>Africa</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22860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251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186</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66</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411652241"/>
                  </a:ext>
                </a:extLst>
              </a:tr>
              <a:tr h="230648">
                <a:tc>
                  <a:txBody>
                    <a:bodyPr/>
                    <a:lstStyle/>
                    <a:p>
                      <a:pPr algn="l" fontAlgn="b"/>
                      <a:r>
                        <a:rPr lang="en-US" sz="1200" b="1" u="none" strike="noStrike">
                          <a:effectLst/>
                          <a:latin typeface="Arial" panose="020B0604020202020204" pitchFamily="34" charset="0"/>
                          <a:cs typeface="Arial" panose="020B0604020202020204" pitchFamily="34" charset="0"/>
                        </a:rPr>
                        <a:t>Asia and Pacific</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22860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21,691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20,377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1,314</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584729705"/>
                  </a:ext>
                </a:extLst>
              </a:tr>
              <a:tr h="172986">
                <a:tc>
                  <a:txBody>
                    <a:bodyPr/>
                    <a:lstStyle/>
                    <a:p>
                      <a:pPr algn="l" fontAlgn="ctr"/>
                      <a:r>
                        <a:rPr lang="en-US" sz="1200" b="1" u="none" strike="noStrike" dirty="0">
                          <a:solidFill>
                            <a:srgbClr val="FF0000"/>
                          </a:solidFill>
                          <a:effectLst/>
                          <a:latin typeface="Arial" panose="020B0604020202020204" pitchFamily="34" charset="0"/>
                          <a:cs typeface="Arial" panose="020B0604020202020204" pitchFamily="34" charset="0"/>
                        </a:rPr>
                        <a:t>China</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6,265</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6,000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266</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75082514"/>
                  </a:ext>
                </a:extLst>
              </a:tr>
              <a:tr h="172986">
                <a:tc>
                  <a:txBody>
                    <a:bodyPr/>
                    <a:lstStyle/>
                    <a:p>
                      <a:pPr algn="l" fontAlgn="ctr"/>
                      <a:r>
                        <a:rPr lang="en-US" sz="1200" b="1" u="none" strike="noStrike" dirty="0">
                          <a:solidFill>
                            <a:srgbClr val="FF0000"/>
                          </a:solidFill>
                          <a:effectLst/>
                          <a:latin typeface="Arial" panose="020B0604020202020204" pitchFamily="34" charset="0"/>
                          <a:cs typeface="Arial" panose="020B0604020202020204" pitchFamily="34" charset="0"/>
                        </a:rPr>
                        <a:t>India</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5,534</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5,325</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209</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548054452"/>
                  </a:ext>
                </a:extLst>
              </a:tr>
              <a:tr h="172986">
                <a:tc>
                  <a:txBody>
                    <a:bodyPr/>
                    <a:lstStyle/>
                    <a:p>
                      <a:pPr algn="l" fontAlgn="ctr"/>
                      <a:r>
                        <a:rPr lang="en-US" sz="1200" b="1" u="none" strike="noStrike">
                          <a:effectLst/>
                          <a:latin typeface="Arial" panose="020B0604020202020204" pitchFamily="34" charset="0"/>
                          <a:cs typeface="Arial" panose="020B0604020202020204" pitchFamily="34" charset="0"/>
                        </a:rPr>
                        <a:t>Japan</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42900" marR="6350" marT="6350" marB="0" anchor="ctr"/>
                </a:tc>
                <a:tc>
                  <a:txBody>
                    <a:bodyPr/>
                    <a:lstStyle/>
                    <a:p>
                      <a:pPr algn="r" fontAlgn="b"/>
                      <a:r>
                        <a:rPr lang="en-US" sz="1200" b="1" u="none" strike="noStrike">
                          <a:effectLst/>
                          <a:latin typeface="Arial" panose="020B0604020202020204" pitchFamily="34" charset="0"/>
                          <a:cs typeface="Arial" panose="020B0604020202020204" pitchFamily="34" charset="0"/>
                        </a:rPr>
                        <a:t>2,684</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2,307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378</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717419851"/>
                  </a:ext>
                </a:extLst>
              </a:tr>
            </a:tbl>
          </a:graphicData>
        </a:graphic>
      </p:graphicFrame>
      <p:sp>
        <p:nvSpPr>
          <p:cNvPr id="12" name="TextBox 11">
            <a:extLst>
              <a:ext uri="{FF2B5EF4-FFF2-40B4-BE49-F238E27FC236}">
                <a16:creationId xmlns:a16="http://schemas.microsoft.com/office/drawing/2014/main" id="{6A49B06A-2A78-4839-8025-846505921B5C}"/>
              </a:ext>
            </a:extLst>
          </p:cNvPr>
          <p:cNvSpPr txBox="1"/>
          <p:nvPr/>
        </p:nvSpPr>
        <p:spPr>
          <a:xfrm>
            <a:off x="127000" y="1843384"/>
            <a:ext cx="1777999"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Billions of US dollars</a:t>
            </a:r>
          </a:p>
        </p:txBody>
      </p:sp>
      <p:sp>
        <p:nvSpPr>
          <p:cNvPr id="2" name="Rectangle 1">
            <a:extLst>
              <a:ext uri="{FF2B5EF4-FFF2-40B4-BE49-F238E27FC236}">
                <a16:creationId xmlns:a16="http://schemas.microsoft.com/office/drawing/2014/main" id="{1248A833-5F97-4536-A228-0199916F7853}"/>
              </a:ext>
            </a:extLst>
          </p:cNvPr>
          <p:cNvSpPr/>
          <p:nvPr/>
        </p:nvSpPr>
        <p:spPr>
          <a:xfrm>
            <a:off x="228600" y="5410200"/>
            <a:ext cx="3048000" cy="600164"/>
          </a:xfrm>
          <a:prstGeom prst="rect">
            <a:avLst/>
          </a:prstGeom>
        </p:spPr>
        <p:txBody>
          <a:bodyPr wrap="square">
            <a:spAutoFit/>
          </a:bodyPr>
          <a:lstStyle/>
          <a:p>
            <a:r>
              <a:rPr lang="en-US" sz="1100" dirty="0">
                <a:latin typeface="Arial" panose="020B0604020202020204" pitchFamily="34" charset="0"/>
                <a:cs typeface="Arial" panose="020B0604020202020204" pitchFamily="34" charset="0"/>
              </a:rPr>
              <a:t>Percentages above Foreign R&amp;D bars = share of US-located companies worldwide R&amp;D that is performed outside of the U.S. </a:t>
            </a:r>
          </a:p>
        </p:txBody>
      </p:sp>
      <p:sp>
        <p:nvSpPr>
          <p:cNvPr id="11" name="Rectangle 10">
            <a:extLst>
              <a:ext uri="{FF2B5EF4-FFF2-40B4-BE49-F238E27FC236}">
                <a16:creationId xmlns:a16="http://schemas.microsoft.com/office/drawing/2014/main" id="{57DEBCE6-036E-483A-B93F-32F88B63C526}"/>
              </a:ext>
            </a:extLst>
          </p:cNvPr>
          <p:cNvSpPr/>
          <p:nvPr/>
        </p:nvSpPr>
        <p:spPr>
          <a:xfrm>
            <a:off x="685800" y="3886200"/>
            <a:ext cx="533400"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17.5%</a:t>
            </a:r>
          </a:p>
        </p:txBody>
      </p:sp>
      <p:cxnSp>
        <p:nvCxnSpPr>
          <p:cNvPr id="4" name="Straight Connector 3">
            <a:extLst>
              <a:ext uri="{FF2B5EF4-FFF2-40B4-BE49-F238E27FC236}">
                <a16:creationId xmlns:a16="http://schemas.microsoft.com/office/drawing/2014/main" id="{A375CB8D-331E-4848-A80E-12B6F03FAECF}"/>
              </a:ext>
            </a:extLst>
          </p:cNvPr>
          <p:cNvCxnSpPr/>
          <p:nvPr/>
        </p:nvCxnSpPr>
        <p:spPr>
          <a:xfrm flipV="1">
            <a:off x="4572000" y="2286000"/>
            <a:ext cx="1981200" cy="187821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923311CE-A095-4EA8-A371-2844A2CB21AD}"/>
              </a:ext>
            </a:extLst>
          </p:cNvPr>
          <p:cNvSpPr>
            <a:spLocks noGrp="1"/>
          </p:cNvSpPr>
          <p:nvPr>
            <p:ph type="sldNum" sz="quarter" idx="12"/>
          </p:nvPr>
        </p:nvSpPr>
        <p:spPr/>
        <p:txBody>
          <a:bodyPr/>
          <a:lstStyle/>
          <a:p>
            <a:fld id="{1B835D90-6387-4175-8905-3408BA5A358B}" type="slidenum">
              <a:rPr lang="en-US" altLang="en-US" smtClean="0"/>
              <a:pPr/>
              <a:t>17</a:t>
            </a:fld>
            <a:endParaRPr lang="en-US" altLang="en-US"/>
          </a:p>
        </p:txBody>
      </p:sp>
    </p:spTree>
    <p:extLst>
      <p:ext uri="{BB962C8B-B14F-4D97-AF65-F5344CB8AC3E}">
        <p14:creationId xmlns:p14="http://schemas.microsoft.com/office/powerpoint/2010/main" val="1233730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685800"/>
            <a:ext cx="8229600" cy="1143000"/>
          </a:xfrm>
        </p:spPr>
        <p:txBody>
          <a:bodyPr/>
          <a:lstStyle/>
          <a:p>
            <a:pPr eaLnBrk="1" hangingPunct="1"/>
            <a:r>
              <a:rPr lang="en-US" altLang="en-US" sz="3200" b="1" dirty="0">
                <a:latin typeface="Arial" panose="020B0604020202020204" pitchFamily="34" charset="0"/>
              </a:rPr>
              <a:t>R&amp;D Investment in the US, </a:t>
            </a:r>
            <a:br>
              <a:rPr lang="en-US" altLang="en-US" sz="3200" b="1" dirty="0">
                <a:latin typeface="Arial" panose="020B0604020202020204" pitchFamily="34" charset="0"/>
              </a:rPr>
            </a:br>
            <a:r>
              <a:rPr lang="en-US" altLang="en-US" sz="3200" b="1" dirty="0">
                <a:latin typeface="Arial" panose="020B0604020202020204" pitchFamily="34" charset="0"/>
              </a:rPr>
              <a:t>by Foreign-owned Companies: 2008-2015</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342900" y="6477000"/>
            <a:ext cx="31623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Bureau of Economic Analysis</a:t>
            </a:r>
          </a:p>
        </p:txBody>
      </p:sp>
      <p:graphicFrame>
        <p:nvGraphicFramePr>
          <p:cNvPr id="2" name="Table 1">
            <a:extLst>
              <a:ext uri="{FF2B5EF4-FFF2-40B4-BE49-F238E27FC236}">
                <a16:creationId xmlns:a16="http://schemas.microsoft.com/office/drawing/2014/main" id="{0EE10206-8498-47AF-AF20-4C2542C94985}"/>
              </a:ext>
            </a:extLst>
          </p:cNvPr>
          <p:cNvGraphicFramePr>
            <a:graphicFrameLocks noGrp="1"/>
          </p:cNvGraphicFramePr>
          <p:nvPr>
            <p:extLst>
              <p:ext uri="{D42A27DB-BD31-4B8C-83A1-F6EECF244321}">
                <p14:modId xmlns:p14="http://schemas.microsoft.com/office/powerpoint/2010/main" val="2701914603"/>
              </p:ext>
            </p:extLst>
          </p:nvPr>
        </p:nvGraphicFramePr>
        <p:xfrm>
          <a:off x="533400" y="1920875"/>
          <a:ext cx="7575549" cy="4251319"/>
        </p:xfrm>
        <a:graphic>
          <a:graphicData uri="http://schemas.openxmlformats.org/drawingml/2006/table">
            <a:tbl>
              <a:tblPr>
                <a:tableStyleId>{5C22544A-7EE6-4342-B048-85BDC9FD1C3A}</a:tableStyleId>
              </a:tblPr>
              <a:tblGrid>
                <a:gridCol w="1360063">
                  <a:extLst>
                    <a:ext uri="{9D8B030D-6E8A-4147-A177-3AD203B41FA5}">
                      <a16:colId xmlns:a16="http://schemas.microsoft.com/office/drawing/2014/main" val="3719458582"/>
                    </a:ext>
                  </a:extLst>
                </a:gridCol>
                <a:gridCol w="707233">
                  <a:extLst>
                    <a:ext uri="{9D8B030D-6E8A-4147-A177-3AD203B41FA5}">
                      <a16:colId xmlns:a16="http://schemas.microsoft.com/office/drawing/2014/main" val="3602311489"/>
                    </a:ext>
                  </a:extLst>
                </a:gridCol>
                <a:gridCol w="761635">
                  <a:extLst>
                    <a:ext uri="{9D8B030D-6E8A-4147-A177-3AD203B41FA5}">
                      <a16:colId xmlns:a16="http://schemas.microsoft.com/office/drawing/2014/main" val="3334631144"/>
                    </a:ext>
                  </a:extLst>
                </a:gridCol>
                <a:gridCol w="761635">
                  <a:extLst>
                    <a:ext uri="{9D8B030D-6E8A-4147-A177-3AD203B41FA5}">
                      <a16:colId xmlns:a16="http://schemas.microsoft.com/office/drawing/2014/main" val="778775063"/>
                    </a:ext>
                  </a:extLst>
                </a:gridCol>
                <a:gridCol w="761635">
                  <a:extLst>
                    <a:ext uri="{9D8B030D-6E8A-4147-A177-3AD203B41FA5}">
                      <a16:colId xmlns:a16="http://schemas.microsoft.com/office/drawing/2014/main" val="2015584514"/>
                    </a:ext>
                  </a:extLst>
                </a:gridCol>
                <a:gridCol w="761635">
                  <a:extLst>
                    <a:ext uri="{9D8B030D-6E8A-4147-A177-3AD203B41FA5}">
                      <a16:colId xmlns:a16="http://schemas.microsoft.com/office/drawing/2014/main" val="2409691902"/>
                    </a:ext>
                  </a:extLst>
                </a:gridCol>
                <a:gridCol w="761635">
                  <a:extLst>
                    <a:ext uri="{9D8B030D-6E8A-4147-A177-3AD203B41FA5}">
                      <a16:colId xmlns:a16="http://schemas.microsoft.com/office/drawing/2014/main" val="3447075215"/>
                    </a:ext>
                  </a:extLst>
                </a:gridCol>
                <a:gridCol w="680031">
                  <a:extLst>
                    <a:ext uri="{9D8B030D-6E8A-4147-A177-3AD203B41FA5}">
                      <a16:colId xmlns:a16="http://schemas.microsoft.com/office/drawing/2014/main" val="1686807949"/>
                    </a:ext>
                  </a:extLst>
                </a:gridCol>
                <a:gridCol w="1020047">
                  <a:extLst>
                    <a:ext uri="{9D8B030D-6E8A-4147-A177-3AD203B41FA5}">
                      <a16:colId xmlns:a16="http://schemas.microsoft.com/office/drawing/2014/main" val="1971118872"/>
                    </a:ext>
                  </a:extLst>
                </a:gridCol>
              </a:tblGrid>
              <a:tr h="620937">
                <a:tc>
                  <a:txBody>
                    <a:bodyPr/>
                    <a:lstStyle/>
                    <a:p>
                      <a:pPr algn="l" fontAlgn="b"/>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2008 share</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200" b="1" u="none" strike="noStrike" dirty="0">
                          <a:effectLst/>
                          <a:latin typeface="Arial" panose="020B0604020202020204" pitchFamily="34" charset="0"/>
                          <a:cs typeface="Arial" panose="020B0604020202020204" pitchFamily="34" charset="0"/>
                        </a:rPr>
                        <a:t>2008</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200" b="1" u="none" strike="noStrike" dirty="0">
                          <a:effectLst/>
                          <a:latin typeface="Arial" panose="020B0604020202020204" pitchFamily="34" charset="0"/>
                          <a:cs typeface="Arial" panose="020B0604020202020204" pitchFamily="34" charset="0"/>
                        </a:rPr>
                        <a:t>2010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200" b="1" u="none" strike="noStrike" dirty="0">
                          <a:effectLst/>
                          <a:latin typeface="Arial" panose="020B0604020202020204" pitchFamily="34" charset="0"/>
                          <a:cs typeface="Arial" panose="020B0604020202020204" pitchFamily="34" charset="0"/>
                        </a:rPr>
                        <a:t>2012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200" b="1" u="none" strike="noStrike" dirty="0">
                          <a:effectLst/>
                          <a:latin typeface="Arial" panose="020B0604020202020204" pitchFamily="34" charset="0"/>
                          <a:cs typeface="Arial" panose="020B0604020202020204" pitchFamily="34" charset="0"/>
                        </a:rPr>
                        <a:t>2014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ctr" fontAlgn="b"/>
                      <a:r>
                        <a:rPr lang="en-US" sz="1200" b="1" u="none" strike="noStrike" dirty="0">
                          <a:effectLst/>
                          <a:latin typeface="Arial" panose="020B0604020202020204" pitchFamily="34" charset="0"/>
                          <a:cs typeface="Arial" panose="020B0604020202020204" pitchFamily="34" charset="0"/>
                        </a:rPr>
                        <a:t>2015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2015 share</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2008-2015 average annual</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922044310"/>
                  </a:ext>
                </a:extLst>
              </a:tr>
              <a:tr h="212140">
                <a:tc>
                  <a:txBody>
                    <a:bodyPr/>
                    <a:lstStyle/>
                    <a:p>
                      <a:pPr algn="l" fontAlgn="b"/>
                      <a:r>
                        <a:rPr lang="en-US" sz="1200" b="1" u="none" strike="noStrike" dirty="0">
                          <a:effectLst/>
                          <a:latin typeface="Arial" panose="020B0604020202020204" pitchFamily="34" charset="0"/>
                          <a:cs typeface="Arial" panose="020B0604020202020204" pitchFamily="34" charset="0"/>
                        </a:rPr>
                        <a:t>All Countries Total</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40,727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42,360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50,259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56,952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56,743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4.8</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834267567"/>
                  </a:ext>
                </a:extLst>
              </a:tr>
              <a:tr h="236142">
                <a:tc>
                  <a:txBody>
                    <a:bodyPr/>
                    <a:lstStyle/>
                    <a:p>
                      <a:pPr algn="l" fontAlgn="b"/>
                      <a:r>
                        <a:rPr lang="en-US" sz="1200" b="1" u="none" strike="noStrike">
                          <a:effectLst/>
                          <a:latin typeface="Arial" panose="020B0604020202020204" pitchFamily="34" charset="0"/>
                          <a:cs typeface="Arial" panose="020B0604020202020204" pitchFamily="34" charset="0"/>
                        </a:rPr>
                        <a:t>Canada</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3.2</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1,294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535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611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712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864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1.5</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-5.6</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318654084"/>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Europe</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74.3</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30,273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31,443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37,552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40,973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40,707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71.7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4.3</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039874955"/>
                  </a:ext>
                </a:extLst>
              </a:tr>
              <a:tr h="212140">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chemeClr val="tx1"/>
                          </a:solidFill>
                          <a:effectLst/>
                          <a:latin typeface="Arial" panose="020B0604020202020204" pitchFamily="34" charset="0"/>
                          <a:cs typeface="Arial" panose="020B0604020202020204" pitchFamily="34" charset="0"/>
                        </a:rPr>
                        <a:t>France</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14.3</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chemeClr val="tx1"/>
                          </a:solidFill>
                          <a:effectLst/>
                          <a:latin typeface="Arial" panose="020B0604020202020204" pitchFamily="34" charset="0"/>
                          <a:cs typeface="Arial" panose="020B0604020202020204" pitchFamily="34" charset="0"/>
                        </a:rPr>
                        <a:t>5,802</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4,954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6,508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5,735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5,317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9.4</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-1.2</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541264369"/>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  Germany</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14.0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5,696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5,300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5,895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6,889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kern="1200" dirty="0">
                          <a:solidFill>
                            <a:schemeClr val="dk1"/>
                          </a:solidFill>
                          <a:effectLst/>
                          <a:latin typeface="Arial" panose="020B0604020202020204" pitchFamily="34" charset="0"/>
                          <a:ea typeface="+mn-ea"/>
                          <a:cs typeface="Arial" panose="020B0604020202020204" pitchFamily="34" charset="0"/>
                        </a:rPr>
                        <a:t>7,176</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12.6</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3.4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339328039"/>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  Ireland</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0.8</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324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1,184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2,353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3,556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3,943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6.9</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42.9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37250718"/>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  Netherlands</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4.5</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1,821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1,892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2,016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4,654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4,645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8.2</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14.3</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718127490"/>
                  </a:ext>
                </a:extLst>
              </a:tr>
              <a:tr h="212140">
                <a:tc>
                  <a:txBody>
                    <a:bodyPr/>
                    <a:lstStyle/>
                    <a:p>
                      <a:pPr algn="l" fontAlgn="b"/>
                      <a:r>
                        <a:rPr lang="en-US" sz="1200" b="1" u="none" strike="noStrike" dirty="0">
                          <a:solidFill>
                            <a:srgbClr val="FF0000"/>
                          </a:solidFill>
                          <a:effectLst/>
                          <a:latin typeface="Arial" panose="020B0604020202020204" pitchFamily="34" charset="0"/>
                          <a:cs typeface="Arial" panose="020B0604020202020204" pitchFamily="34" charset="0"/>
                        </a:rPr>
                        <a:t>  Switzerland</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17.0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6,940</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9,299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9,625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10,040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9,670</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17.0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4.8</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573457977"/>
                  </a:ext>
                </a:extLst>
              </a:tr>
              <a:tr h="212140">
                <a:tc>
                  <a:txBody>
                    <a:bodyPr/>
                    <a:lstStyle/>
                    <a:p>
                      <a:pPr algn="l" fontAlgn="b"/>
                      <a:r>
                        <a:rPr lang="en-US" sz="1200" b="1" u="none" strike="noStrike" dirty="0">
                          <a:solidFill>
                            <a:srgbClr val="FF0000"/>
                          </a:solidFill>
                          <a:effectLst/>
                          <a:latin typeface="Arial" panose="020B0604020202020204" pitchFamily="34" charset="0"/>
                          <a:cs typeface="Arial" panose="020B0604020202020204" pitchFamily="34" charset="0"/>
                        </a:rPr>
                        <a:t>  United Kingdom</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17.8</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7,247</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6,314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6,823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7,842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7,943</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14.0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1.3</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090062592"/>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Latin America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4.4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1,773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1,594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1,046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1,926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1,943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3.4</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1.3</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769464930"/>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Africa</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0.0</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9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effectLst/>
                          <a:latin typeface="Arial" panose="020B0604020202020204" pitchFamily="34" charset="0"/>
                          <a:cs typeface="Arial" panose="020B0604020202020204" pitchFamily="34" charset="0"/>
                        </a:rPr>
                        <a:t> (D)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26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0.0</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6.5</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747487224"/>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Middle East</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0.9</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358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537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1,467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1,631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1,745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3.1</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25.4</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156582356"/>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Asia and Pacific</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a:solidFill>
                            <a:schemeClr val="accent2"/>
                          </a:solidFill>
                          <a:effectLst/>
                          <a:latin typeface="Arial" panose="020B0604020202020204" pitchFamily="34" charset="0"/>
                          <a:cs typeface="Arial" panose="020B0604020202020204" pitchFamily="34" charset="0"/>
                        </a:rPr>
                        <a:t>14.0</a:t>
                      </a:r>
                      <a:endParaRPr lang="en-US" sz="1200" b="1" i="0" u="none" strike="noStrike">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5,689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7,054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9,143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11,327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11,071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19.5</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10.0</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3314229566"/>
                  </a:ext>
                </a:extLst>
              </a:tr>
              <a:tr h="212140">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China</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17</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165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421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509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solidFill>
                            <a:srgbClr val="FF0000"/>
                          </a:solidFill>
                          <a:effectLst/>
                          <a:latin typeface="Arial" panose="020B0604020202020204" pitchFamily="34" charset="0"/>
                          <a:cs typeface="Arial" panose="020B0604020202020204" pitchFamily="34" charset="0"/>
                        </a:rPr>
                        <a:t>           545 </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1.0</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rgbClr val="FF0000"/>
                          </a:solidFill>
                          <a:effectLst/>
                          <a:latin typeface="Arial" panose="020B0604020202020204" pitchFamily="34" charset="0"/>
                          <a:cs typeface="Arial" panose="020B0604020202020204" pitchFamily="34" charset="0"/>
                        </a:rPr>
                        <a:t>64.1</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930267048"/>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  India</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0.1</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23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40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67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123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114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0.2</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25.7</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124131240"/>
                  </a:ext>
                </a:extLst>
              </a:tr>
              <a:tr h="212140">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Japan</a:t>
                      </a:r>
                      <a:endParaRPr lang="en-US" sz="1200" b="1" i="0" u="none" strike="noStrike" dirty="0">
                        <a:solidFill>
                          <a:srgbClr val="FF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11.7</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4,781</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5,924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7,110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7,968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        </a:t>
                      </a:r>
                      <a:r>
                        <a:rPr lang="en-US" sz="1200" b="1" u="none" strike="noStrike" dirty="0">
                          <a:solidFill>
                            <a:srgbClr val="FF0000"/>
                          </a:solidFill>
                          <a:effectLst/>
                          <a:latin typeface="Arial" panose="020B0604020202020204" pitchFamily="34" charset="0"/>
                          <a:cs typeface="Arial" panose="020B0604020202020204" pitchFamily="34" charset="0"/>
                        </a:rPr>
                        <a:t>8,019</a:t>
                      </a:r>
                      <a:r>
                        <a:rPr lang="en-US" sz="1200" b="1" u="none" strike="noStrike" dirty="0">
                          <a:effectLst/>
                          <a:latin typeface="Arial" panose="020B0604020202020204" pitchFamily="34" charset="0"/>
                          <a:cs typeface="Arial" panose="020B0604020202020204" pitchFamily="34" charset="0"/>
                        </a:rPr>
                        <a:t> </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14.1</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7.7</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349142727"/>
                  </a:ext>
                </a:extLst>
              </a:tr>
              <a:tr h="212140">
                <a:tc>
                  <a:txBody>
                    <a:bodyPr/>
                    <a:lstStyle/>
                    <a:p>
                      <a:pPr algn="l" fontAlgn="b"/>
                      <a:r>
                        <a:rPr lang="en-US" sz="1200" b="1" u="none" strike="noStrike">
                          <a:effectLst/>
                          <a:latin typeface="Arial" panose="020B0604020202020204" pitchFamily="34" charset="0"/>
                          <a:cs typeface="Arial" panose="020B0604020202020204" pitchFamily="34" charset="0"/>
                        </a:rPr>
                        <a:t>  S. Korea</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0.6</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259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350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804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1,292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n-US" sz="1200" b="1" u="none" strike="noStrike">
                          <a:effectLst/>
                          <a:latin typeface="Arial" panose="020B0604020202020204" pitchFamily="34" charset="0"/>
                          <a:cs typeface="Arial" panose="020B0604020202020204" pitchFamily="34" charset="0"/>
                        </a:rPr>
                        <a:t>        1,034 </a:t>
                      </a:r>
                      <a:endParaRPr lang="en-US" sz="1200" b="1" i="0" u="none" strike="noStrike">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solidFill>
                            <a:schemeClr val="accent2"/>
                          </a:solidFill>
                          <a:effectLst/>
                          <a:latin typeface="Arial" panose="020B0604020202020204" pitchFamily="34" charset="0"/>
                          <a:cs typeface="Arial" panose="020B0604020202020204" pitchFamily="34" charset="0"/>
                        </a:rPr>
                        <a:t>1.8</a:t>
                      </a:r>
                      <a:endParaRPr lang="en-US" sz="1200" b="1" i="0" u="none" strike="noStrike" dirty="0">
                        <a:solidFill>
                          <a:schemeClr val="accent2"/>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n-US" sz="1200" b="1" u="none" strike="noStrike" dirty="0">
                          <a:effectLst/>
                          <a:latin typeface="Arial" panose="020B0604020202020204" pitchFamily="34" charset="0"/>
                          <a:cs typeface="Arial" panose="020B0604020202020204" pitchFamily="34" charset="0"/>
                        </a:rPr>
                        <a:t>21.9</a:t>
                      </a:r>
                      <a:endParaRPr lang="en-US" sz="1200" b="1" i="0" u="none" strike="noStrike" dirty="0">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712152596"/>
                  </a:ext>
                </a:extLst>
              </a:tr>
            </a:tbl>
          </a:graphicData>
        </a:graphic>
      </p:graphicFrame>
      <p:sp>
        <p:nvSpPr>
          <p:cNvPr id="3" name="Rectangle 2">
            <a:extLst>
              <a:ext uri="{FF2B5EF4-FFF2-40B4-BE49-F238E27FC236}">
                <a16:creationId xmlns:a16="http://schemas.microsoft.com/office/drawing/2014/main" id="{97261C1C-AF68-455D-9233-AAC614C7F2EC}"/>
              </a:ext>
            </a:extLst>
          </p:cNvPr>
          <p:cNvSpPr/>
          <p:nvPr/>
        </p:nvSpPr>
        <p:spPr>
          <a:xfrm>
            <a:off x="3962400" y="2028050"/>
            <a:ext cx="1582484" cy="276999"/>
          </a:xfrm>
          <a:prstGeom prst="rect">
            <a:avLst/>
          </a:prstGeom>
        </p:spPr>
        <p:txBody>
          <a:bodyPr wrap="none">
            <a:spAutoFit/>
          </a:bodyPr>
          <a:lstStyle/>
          <a:p>
            <a:r>
              <a:rPr lang="en-US" sz="1200" b="1" dirty="0">
                <a:latin typeface="Arial" panose="020B0604020202020204" pitchFamily="34" charset="0"/>
                <a:cs typeface="Arial" panose="020B0604020202020204" pitchFamily="34" charset="0"/>
              </a:rPr>
              <a:t>(Billions of dollars)</a:t>
            </a:r>
          </a:p>
        </p:txBody>
      </p:sp>
      <p:sp>
        <p:nvSpPr>
          <p:cNvPr id="4" name="Slide Number Placeholder 3">
            <a:extLst>
              <a:ext uri="{FF2B5EF4-FFF2-40B4-BE49-F238E27FC236}">
                <a16:creationId xmlns:a16="http://schemas.microsoft.com/office/drawing/2014/main" id="{A4EA4C4D-D4B4-4E7E-B4F6-05B2D4497BB1}"/>
              </a:ext>
            </a:extLst>
          </p:cNvPr>
          <p:cNvSpPr>
            <a:spLocks noGrp="1"/>
          </p:cNvSpPr>
          <p:nvPr>
            <p:ph type="sldNum" sz="quarter" idx="12"/>
          </p:nvPr>
        </p:nvSpPr>
        <p:spPr/>
        <p:txBody>
          <a:bodyPr/>
          <a:lstStyle/>
          <a:p>
            <a:fld id="{1B835D90-6387-4175-8905-3408BA5A358B}" type="slidenum">
              <a:rPr lang="en-US" altLang="en-US" smtClean="0"/>
              <a:pPr/>
              <a:t>18</a:t>
            </a:fld>
            <a:endParaRPr lang="en-US" altLang="en-US"/>
          </a:p>
        </p:txBody>
      </p:sp>
    </p:spTree>
    <p:extLst>
      <p:ext uri="{BB962C8B-B14F-4D97-AF65-F5344CB8AC3E}">
        <p14:creationId xmlns:p14="http://schemas.microsoft.com/office/powerpoint/2010/main" val="203024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86740" y="457200"/>
            <a:ext cx="8229600" cy="1143000"/>
          </a:xfrm>
        </p:spPr>
        <p:txBody>
          <a:bodyPr/>
          <a:lstStyle/>
          <a:p>
            <a:pPr eaLnBrk="1" hangingPunct="1"/>
            <a:r>
              <a:rPr lang="en-US" altLang="en-US" sz="2400" b="1" dirty="0">
                <a:latin typeface="Arial" panose="020B0604020202020204" pitchFamily="34" charset="0"/>
              </a:rPr>
              <a:t>Global R&amp;D Expenditures, by region: 2009 and 2015</a:t>
            </a:r>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9E2AFCD9-6B2B-4322-AF14-FA3C4A97321E}"/>
              </a:ext>
            </a:extLst>
          </p:cNvPr>
          <p:cNvPicPr>
            <a:picLocks noChangeAspect="1"/>
          </p:cNvPicPr>
          <p:nvPr/>
        </p:nvPicPr>
        <p:blipFill>
          <a:blip r:embed="rId5"/>
          <a:stretch>
            <a:fillRect/>
          </a:stretch>
        </p:blipFill>
        <p:spPr>
          <a:xfrm>
            <a:off x="175260" y="1295400"/>
            <a:ext cx="5943600" cy="2903395"/>
          </a:xfrm>
          <a:prstGeom prst="rect">
            <a:avLst/>
          </a:prstGeom>
        </p:spPr>
      </p:pic>
      <p:pic>
        <p:nvPicPr>
          <p:cNvPr id="2" name="Picture 1">
            <a:extLst>
              <a:ext uri="{FF2B5EF4-FFF2-40B4-BE49-F238E27FC236}">
                <a16:creationId xmlns:a16="http://schemas.microsoft.com/office/drawing/2014/main" id="{B7CEBA3E-45F5-4B85-A88A-46420BB848D1}"/>
              </a:ext>
            </a:extLst>
          </p:cNvPr>
          <p:cNvPicPr>
            <a:picLocks noChangeAspect="1"/>
          </p:cNvPicPr>
          <p:nvPr/>
        </p:nvPicPr>
        <p:blipFill>
          <a:blip r:embed="rId6"/>
          <a:stretch>
            <a:fillRect/>
          </a:stretch>
        </p:blipFill>
        <p:spPr>
          <a:xfrm>
            <a:off x="3054431" y="3810001"/>
            <a:ext cx="6089570" cy="3048000"/>
          </a:xfrm>
          <a:prstGeom prst="rect">
            <a:avLst/>
          </a:prstGeom>
        </p:spPr>
      </p:pic>
      <p:sp>
        <p:nvSpPr>
          <p:cNvPr id="10" name="TextBox 9">
            <a:extLst>
              <a:ext uri="{FF2B5EF4-FFF2-40B4-BE49-F238E27FC236}">
                <a16:creationId xmlns:a16="http://schemas.microsoft.com/office/drawing/2014/main" id="{D14EDE9C-FD82-42E3-9D19-6BC99F3787B0}"/>
              </a:ext>
            </a:extLst>
          </p:cNvPr>
          <p:cNvSpPr txBox="1"/>
          <p:nvPr/>
        </p:nvSpPr>
        <p:spPr>
          <a:xfrm>
            <a:off x="6616148" y="1295400"/>
            <a:ext cx="1905000" cy="24622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Billions of US PPP dollars</a:t>
            </a:r>
          </a:p>
        </p:txBody>
      </p:sp>
      <p:cxnSp>
        <p:nvCxnSpPr>
          <p:cNvPr id="7" name="Straight Arrow Connector 6">
            <a:extLst>
              <a:ext uri="{FF2B5EF4-FFF2-40B4-BE49-F238E27FC236}">
                <a16:creationId xmlns:a16="http://schemas.microsoft.com/office/drawing/2014/main" id="{E56EABCF-FB95-484B-922D-A4347AA09C63}"/>
              </a:ext>
            </a:extLst>
          </p:cNvPr>
          <p:cNvCxnSpPr/>
          <p:nvPr/>
        </p:nvCxnSpPr>
        <p:spPr>
          <a:xfrm>
            <a:off x="5067300" y="2560321"/>
            <a:ext cx="3200400" cy="2667000"/>
          </a:xfrm>
          <a:prstGeom prst="straightConnector1">
            <a:avLst/>
          </a:prstGeom>
          <a:ln w="19050">
            <a:tailEnd type="triangle"/>
          </a:ln>
        </p:spPr>
        <p:style>
          <a:lnRef idx="1">
            <a:schemeClr val="accent4"/>
          </a:lnRef>
          <a:fillRef idx="0">
            <a:schemeClr val="accent4"/>
          </a:fillRef>
          <a:effectRef idx="0">
            <a:schemeClr val="accent4"/>
          </a:effectRef>
          <a:fontRef idx="minor">
            <a:schemeClr val="tx1"/>
          </a:fontRef>
        </p:style>
      </p:cxnSp>
      <p:cxnSp>
        <p:nvCxnSpPr>
          <p:cNvPr id="9" name="Straight Arrow Connector 8">
            <a:extLst>
              <a:ext uri="{FF2B5EF4-FFF2-40B4-BE49-F238E27FC236}">
                <a16:creationId xmlns:a16="http://schemas.microsoft.com/office/drawing/2014/main" id="{B99A39BF-3797-48A4-8521-6AE518ADDE3E}"/>
              </a:ext>
            </a:extLst>
          </p:cNvPr>
          <p:cNvCxnSpPr/>
          <p:nvPr/>
        </p:nvCxnSpPr>
        <p:spPr>
          <a:xfrm>
            <a:off x="1908811" y="2514600"/>
            <a:ext cx="2205989" cy="2217595"/>
          </a:xfrm>
          <a:prstGeom prst="straightConnector1">
            <a:avLst/>
          </a:prstGeom>
          <a:ln w="19050">
            <a:tailEnd type="triangle"/>
          </a:ln>
        </p:spPr>
        <p:style>
          <a:lnRef idx="1">
            <a:schemeClr val="accent4"/>
          </a:lnRef>
          <a:fillRef idx="0">
            <a:schemeClr val="accent4"/>
          </a:fillRef>
          <a:effectRef idx="0">
            <a:schemeClr val="accent4"/>
          </a:effectRef>
          <a:fontRef idx="minor">
            <a:schemeClr val="tx1"/>
          </a:fontRef>
        </p:style>
      </p:cxnSp>
      <p:sp>
        <p:nvSpPr>
          <p:cNvPr id="12" name="TextBox 11">
            <a:extLst>
              <a:ext uri="{FF2B5EF4-FFF2-40B4-BE49-F238E27FC236}">
                <a16:creationId xmlns:a16="http://schemas.microsoft.com/office/drawing/2014/main" id="{FF5A17E8-3394-499C-B69A-000B8C1B08BD}"/>
              </a:ext>
            </a:extLst>
          </p:cNvPr>
          <p:cNvSpPr txBox="1"/>
          <p:nvPr/>
        </p:nvSpPr>
        <p:spPr>
          <a:xfrm>
            <a:off x="457200" y="5609024"/>
            <a:ext cx="1928386" cy="46166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U.S. share In 2015 = $497 (25.6%)</a:t>
            </a:r>
          </a:p>
        </p:txBody>
      </p:sp>
      <p:sp>
        <p:nvSpPr>
          <p:cNvPr id="13" name="TextBox 12">
            <a:extLst>
              <a:ext uri="{FF2B5EF4-FFF2-40B4-BE49-F238E27FC236}">
                <a16:creationId xmlns:a16="http://schemas.microsoft.com/office/drawing/2014/main" id="{F944C7D8-3DFD-43F7-881B-A9F680FB4268}"/>
              </a:ext>
            </a:extLst>
          </p:cNvPr>
          <p:cNvSpPr txBox="1"/>
          <p:nvPr/>
        </p:nvSpPr>
        <p:spPr>
          <a:xfrm>
            <a:off x="457200" y="5147359"/>
            <a:ext cx="1928386" cy="46166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U.S. share In 2009 = $404 (31.5%)</a:t>
            </a:r>
          </a:p>
        </p:txBody>
      </p:sp>
      <p:sp>
        <p:nvSpPr>
          <p:cNvPr id="14" name="TextBox 13">
            <a:extLst>
              <a:ext uri="{FF2B5EF4-FFF2-40B4-BE49-F238E27FC236}">
                <a16:creationId xmlns:a16="http://schemas.microsoft.com/office/drawing/2014/main" id="{7D25D029-1423-46B8-B7EA-96E9B965BD09}"/>
              </a:ext>
            </a:extLst>
          </p:cNvPr>
          <p:cNvSpPr txBox="1"/>
          <p:nvPr/>
        </p:nvSpPr>
        <p:spPr>
          <a:xfrm>
            <a:off x="7046512" y="3519101"/>
            <a:ext cx="605956"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2015</a:t>
            </a:r>
          </a:p>
        </p:txBody>
      </p:sp>
      <p:sp>
        <p:nvSpPr>
          <p:cNvPr id="15" name="TextBox 14">
            <a:extLst>
              <a:ext uri="{FF2B5EF4-FFF2-40B4-BE49-F238E27FC236}">
                <a16:creationId xmlns:a16="http://schemas.microsoft.com/office/drawing/2014/main" id="{37D0A213-91B6-4A35-8627-A27ED6EDB661}"/>
              </a:ext>
            </a:extLst>
          </p:cNvPr>
          <p:cNvSpPr txBox="1"/>
          <p:nvPr/>
        </p:nvSpPr>
        <p:spPr>
          <a:xfrm>
            <a:off x="2161858" y="1651456"/>
            <a:ext cx="605956"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2009</a:t>
            </a:r>
          </a:p>
        </p:txBody>
      </p:sp>
      <p:sp>
        <p:nvSpPr>
          <p:cNvPr id="16" name="TextBox 15">
            <a:extLst>
              <a:ext uri="{FF2B5EF4-FFF2-40B4-BE49-F238E27FC236}">
                <a16:creationId xmlns:a16="http://schemas.microsoft.com/office/drawing/2014/main" id="{FA9CD5B1-830E-42D1-A21B-507A3E37B1D9}"/>
              </a:ext>
            </a:extLst>
          </p:cNvPr>
          <p:cNvSpPr txBox="1"/>
          <p:nvPr/>
        </p:nvSpPr>
        <p:spPr>
          <a:xfrm>
            <a:off x="53009" y="6419088"/>
            <a:ext cx="26670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Source: NCSES, S&amp;E Indicators</a:t>
            </a:r>
          </a:p>
        </p:txBody>
      </p:sp>
      <p:sp>
        <p:nvSpPr>
          <p:cNvPr id="3" name="Slide Number Placeholder 2">
            <a:extLst>
              <a:ext uri="{FF2B5EF4-FFF2-40B4-BE49-F238E27FC236}">
                <a16:creationId xmlns:a16="http://schemas.microsoft.com/office/drawing/2014/main" id="{9B27706B-B53E-494E-8C4C-AC4DA85A8E5A}"/>
              </a:ext>
            </a:extLst>
          </p:cNvPr>
          <p:cNvSpPr>
            <a:spLocks noGrp="1"/>
          </p:cNvSpPr>
          <p:nvPr>
            <p:ph type="sldNum" sz="quarter" idx="12"/>
          </p:nvPr>
        </p:nvSpPr>
        <p:spPr/>
        <p:txBody>
          <a:bodyPr/>
          <a:lstStyle/>
          <a:p>
            <a:fld id="{1B835D90-6387-4175-8905-3408BA5A358B}" type="slidenum">
              <a:rPr lang="en-US" altLang="en-US" smtClean="0"/>
              <a:pPr/>
              <a:t>19</a:t>
            </a:fld>
            <a:endParaRPr lang="en-US" altLang="en-US"/>
          </a:p>
        </p:txBody>
      </p:sp>
    </p:spTree>
    <p:extLst>
      <p:ext uri="{BB962C8B-B14F-4D97-AF65-F5344CB8AC3E}">
        <p14:creationId xmlns:p14="http://schemas.microsoft.com/office/powerpoint/2010/main" val="3133517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557268"/>
            <a:ext cx="8229600" cy="799973"/>
          </a:xfrm>
        </p:spPr>
        <p:txBody>
          <a:bodyPr/>
          <a:lstStyle/>
          <a:p>
            <a:pPr eaLnBrk="1" hangingPunct="1"/>
            <a:r>
              <a:rPr lang="en-US" altLang="en-US" sz="2800" b="1" dirty="0">
                <a:latin typeface="Arial" panose="020B0604020202020204" pitchFamily="34" charset="0"/>
              </a:rPr>
              <a:t>R&amp;D Expenditures, by Country: 2000-2016</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9939" y="62518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Chart 7">
            <a:extLst>
              <a:ext uri="{FF2B5EF4-FFF2-40B4-BE49-F238E27FC236}">
                <a16:creationId xmlns:a16="http://schemas.microsoft.com/office/drawing/2014/main" id="{E86049CD-3F94-4FA2-BB54-A8F04DFA7D2D}"/>
              </a:ext>
            </a:extLst>
          </p:cNvPr>
          <p:cNvGraphicFramePr>
            <a:graphicFrameLocks/>
          </p:cNvGraphicFramePr>
          <p:nvPr>
            <p:extLst>
              <p:ext uri="{D42A27DB-BD31-4B8C-83A1-F6EECF244321}">
                <p14:modId xmlns:p14="http://schemas.microsoft.com/office/powerpoint/2010/main" val="2515291667"/>
              </p:ext>
            </p:extLst>
          </p:nvPr>
        </p:nvGraphicFramePr>
        <p:xfrm>
          <a:off x="304800" y="1181100"/>
          <a:ext cx="6172200" cy="45339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a:extLst>
              <a:ext uri="{FF2B5EF4-FFF2-40B4-BE49-F238E27FC236}">
                <a16:creationId xmlns:a16="http://schemas.microsoft.com/office/drawing/2014/main" id="{AA96D455-5CB8-4306-8F33-E318053E0814}"/>
              </a:ext>
            </a:extLst>
          </p:cNvPr>
          <p:cNvGraphicFramePr>
            <a:graphicFrameLocks/>
          </p:cNvGraphicFramePr>
          <p:nvPr>
            <p:extLst>
              <p:ext uri="{D42A27DB-BD31-4B8C-83A1-F6EECF244321}">
                <p14:modId xmlns:p14="http://schemas.microsoft.com/office/powerpoint/2010/main" val="1382267608"/>
              </p:ext>
            </p:extLst>
          </p:nvPr>
        </p:nvGraphicFramePr>
        <p:xfrm>
          <a:off x="2438400" y="4038600"/>
          <a:ext cx="5894711" cy="2895600"/>
        </p:xfrm>
        <a:graphic>
          <a:graphicData uri="http://schemas.openxmlformats.org/drawingml/2006/chart">
            <c:chart xmlns:c="http://schemas.openxmlformats.org/drawingml/2006/chart" xmlns:r="http://schemas.openxmlformats.org/officeDocument/2006/relationships" r:id="rId6"/>
          </a:graphicData>
        </a:graphic>
      </p:graphicFrame>
      <p:sp>
        <p:nvSpPr>
          <p:cNvPr id="10" name="Rectangle 9">
            <a:extLst>
              <a:ext uri="{FF2B5EF4-FFF2-40B4-BE49-F238E27FC236}">
                <a16:creationId xmlns:a16="http://schemas.microsoft.com/office/drawing/2014/main" id="{A17577F4-AA48-4976-8984-6DF528F5040F}"/>
              </a:ext>
            </a:extLst>
          </p:cNvPr>
          <p:cNvSpPr/>
          <p:nvPr/>
        </p:nvSpPr>
        <p:spPr>
          <a:xfrm>
            <a:off x="838200" y="1181100"/>
            <a:ext cx="1447800" cy="400110"/>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000" b="1" dirty="0">
                <a:solidFill>
                  <a:srgbClr val="000000"/>
                </a:solidFill>
                <a:latin typeface="Arial" panose="020B0604020202020204" pitchFamily="34" charset="0"/>
                <a:cs typeface="Arial" panose="020B0604020202020204" pitchFamily="34" charset="0"/>
              </a:rPr>
              <a:t>Billions of constant PPP dollars</a:t>
            </a:r>
          </a:p>
        </p:txBody>
      </p:sp>
      <p:sp>
        <p:nvSpPr>
          <p:cNvPr id="11" name="Rectangle 10">
            <a:extLst>
              <a:ext uri="{FF2B5EF4-FFF2-40B4-BE49-F238E27FC236}">
                <a16:creationId xmlns:a16="http://schemas.microsoft.com/office/drawing/2014/main" id="{7B1D8C22-C3DF-4EE3-8AC5-A581D87D3F8D}"/>
              </a:ext>
            </a:extLst>
          </p:cNvPr>
          <p:cNvSpPr/>
          <p:nvPr/>
        </p:nvSpPr>
        <p:spPr>
          <a:xfrm>
            <a:off x="6207940" y="1420756"/>
            <a:ext cx="1851452" cy="307777"/>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chemeClr val="accent6"/>
                </a:solidFill>
                <a:latin typeface="Arial" panose="020B0604020202020204" pitchFamily="34" charset="0"/>
                <a:cs typeface="Arial" panose="020B0604020202020204" pitchFamily="34" charset="0"/>
              </a:rPr>
              <a:t>United States</a:t>
            </a:r>
          </a:p>
        </p:txBody>
      </p:sp>
      <p:sp>
        <p:nvSpPr>
          <p:cNvPr id="13" name="Rectangle 12">
            <a:extLst>
              <a:ext uri="{FF2B5EF4-FFF2-40B4-BE49-F238E27FC236}">
                <a16:creationId xmlns:a16="http://schemas.microsoft.com/office/drawing/2014/main" id="{1AB9B404-D41E-49C8-BF6D-30F38886C8A7}"/>
              </a:ext>
            </a:extLst>
          </p:cNvPr>
          <p:cNvSpPr/>
          <p:nvPr/>
        </p:nvSpPr>
        <p:spPr>
          <a:xfrm>
            <a:off x="6207940" y="1855563"/>
            <a:ext cx="1851452" cy="307777"/>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FF0000"/>
                </a:solidFill>
                <a:latin typeface="Arial" panose="020B0604020202020204" pitchFamily="34" charset="0"/>
                <a:cs typeface="Arial" panose="020B0604020202020204" pitchFamily="34" charset="0"/>
              </a:rPr>
              <a:t>China</a:t>
            </a:r>
          </a:p>
        </p:txBody>
      </p:sp>
      <p:sp>
        <p:nvSpPr>
          <p:cNvPr id="14" name="Rectangle 13">
            <a:extLst>
              <a:ext uri="{FF2B5EF4-FFF2-40B4-BE49-F238E27FC236}">
                <a16:creationId xmlns:a16="http://schemas.microsoft.com/office/drawing/2014/main" id="{C4DEEDFD-8563-4E10-8B95-1BE061151AD5}"/>
              </a:ext>
            </a:extLst>
          </p:cNvPr>
          <p:cNvSpPr/>
          <p:nvPr/>
        </p:nvSpPr>
        <p:spPr>
          <a:xfrm>
            <a:off x="6207940" y="3421779"/>
            <a:ext cx="1455892" cy="307777"/>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chemeClr val="accent6"/>
                </a:solidFill>
                <a:latin typeface="Arial" panose="020B0604020202020204" pitchFamily="34" charset="0"/>
                <a:cs typeface="Arial" panose="020B0604020202020204" pitchFamily="34" charset="0"/>
              </a:rPr>
              <a:t>Japan</a:t>
            </a:r>
          </a:p>
        </p:txBody>
      </p:sp>
      <p:sp>
        <p:nvSpPr>
          <p:cNvPr id="15" name="Rectangle 14">
            <a:extLst>
              <a:ext uri="{FF2B5EF4-FFF2-40B4-BE49-F238E27FC236}">
                <a16:creationId xmlns:a16="http://schemas.microsoft.com/office/drawing/2014/main" id="{5AE2A17A-EF18-4BF0-847C-6363CAFCFCB8}"/>
              </a:ext>
            </a:extLst>
          </p:cNvPr>
          <p:cNvSpPr/>
          <p:nvPr/>
        </p:nvSpPr>
        <p:spPr>
          <a:xfrm>
            <a:off x="6207940" y="3799071"/>
            <a:ext cx="1851452" cy="307777"/>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0000"/>
                </a:solidFill>
                <a:latin typeface="Arial" panose="020B0604020202020204" pitchFamily="34" charset="0"/>
                <a:cs typeface="Arial" panose="020B0604020202020204" pitchFamily="34" charset="0"/>
              </a:rPr>
              <a:t>Germany</a:t>
            </a:r>
          </a:p>
        </p:txBody>
      </p:sp>
      <p:sp>
        <p:nvSpPr>
          <p:cNvPr id="16" name="Rectangle 15">
            <a:extLst>
              <a:ext uri="{FF2B5EF4-FFF2-40B4-BE49-F238E27FC236}">
                <a16:creationId xmlns:a16="http://schemas.microsoft.com/office/drawing/2014/main" id="{4587D3FB-20B8-4287-A320-7FDAD51C7759}"/>
              </a:ext>
            </a:extLst>
          </p:cNvPr>
          <p:cNvSpPr/>
          <p:nvPr/>
        </p:nvSpPr>
        <p:spPr>
          <a:xfrm>
            <a:off x="7932420" y="5049372"/>
            <a:ext cx="685800"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chemeClr val="accent6"/>
                </a:solidFill>
                <a:latin typeface="Arial" panose="020B0604020202020204" pitchFamily="34" charset="0"/>
                <a:cs typeface="Arial" panose="020B0604020202020204" pitchFamily="34" charset="0"/>
              </a:rPr>
              <a:t>U.K.</a:t>
            </a:r>
          </a:p>
        </p:txBody>
      </p:sp>
      <p:sp>
        <p:nvSpPr>
          <p:cNvPr id="17" name="Rectangle 16">
            <a:extLst>
              <a:ext uri="{FF2B5EF4-FFF2-40B4-BE49-F238E27FC236}">
                <a16:creationId xmlns:a16="http://schemas.microsoft.com/office/drawing/2014/main" id="{E88FA241-8869-4CFF-AA1A-D27B34765399}"/>
              </a:ext>
            </a:extLst>
          </p:cNvPr>
          <p:cNvSpPr/>
          <p:nvPr/>
        </p:nvSpPr>
        <p:spPr>
          <a:xfrm>
            <a:off x="8001000" y="4596135"/>
            <a:ext cx="1455892"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chemeClr val="accent6"/>
                </a:solidFill>
                <a:latin typeface="Arial" panose="020B0604020202020204" pitchFamily="34" charset="0"/>
                <a:cs typeface="Arial" panose="020B0604020202020204" pitchFamily="34" charset="0"/>
              </a:rPr>
              <a:t>France</a:t>
            </a:r>
          </a:p>
        </p:txBody>
      </p:sp>
      <p:sp>
        <p:nvSpPr>
          <p:cNvPr id="18" name="Rectangle 17">
            <a:extLst>
              <a:ext uri="{FF2B5EF4-FFF2-40B4-BE49-F238E27FC236}">
                <a16:creationId xmlns:a16="http://schemas.microsoft.com/office/drawing/2014/main" id="{E81CC6A2-0572-45C8-8DAE-BFBA3D6CE291}"/>
              </a:ext>
            </a:extLst>
          </p:cNvPr>
          <p:cNvSpPr/>
          <p:nvPr/>
        </p:nvSpPr>
        <p:spPr>
          <a:xfrm>
            <a:off x="8001000" y="4088651"/>
            <a:ext cx="1455892"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chemeClr val="accent5">
                    <a:lumMod val="50000"/>
                  </a:schemeClr>
                </a:solidFill>
                <a:latin typeface="Arial" panose="020B0604020202020204" pitchFamily="34" charset="0"/>
                <a:cs typeface="Arial" panose="020B0604020202020204" pitchFamily="34" charset="0"/>
              </a:rPr>
              <a:t>Korea</a:t>
            </a:r>
          </a:p>
        </p:txBody>
      </p:sp>
      <p:sp>
        <p:nvSpPr>
          <p:cNvPr id="19" name="Rectangle 18">
            <a:extLst>
              <a:ext uri="{FF2B5EF4-FFF2-40B4-BE49-F238E27FC236}">
                <a16:creationId xmlns:a16="http://schemas.microsoft.com/office/drawing/2014/main" id="{532FF761-94DB-476B-BDBB-F2B48048DE6C}"/>
              </a:ext>
            </a:extLst>
          </p:cNvPr>
          <p:cNvSpPr/>
          <p:nvPr/>
        </p:nvSpPr>
        <p:spPr>
          <a:xfrm>
            <a:off x="7966441" y="5253716"/>
            <a:ext cx="1101359"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rgbClr val="EA5E42"/>
                </a:solidFill>
                <a:latin typeface="Arial" panose="020B0604020202020204" pitchFamily="34" charset="0"/>
                <a:cs typeface="Arial" panose="020B0604020202020204" pitchFamily="34" charset="0"/>
              </a:rPr>
              <a:t>Russia</a:t>
            </a:r>
          </a:p>
        </p:txBody>
      </p:sp>
      <p:sp>
        <p:nvSpPr>
          <p:cNvPr id="20" name="Rectangle 19">
            <a:extLst>
              <a:ext uri="{FF2B5EF4-FFF2-40B4-BE49-F238E27FC236}">
                <a16:creationId xmlns:a16="http://schemas.microsoft.com/office/drawing/2014/main" id="{C5346D4E-3ACD-47CD-B01A-E16167C2BBA4}"/>
              </a:ext>
            </a:extLst>
          </p:cNvPr>
          <p:cNvSpPr/>
          <p:nvPr/>
        </p:nvSpPr>
        <p:spPr>
          <a:xfrm>
            <a:off x="8008081" y="5623660"/>
            <a:ext cx="1455892"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chemeClr val="accent6"/>
                </a:solidFill>
                <a:latin typeface="Arial" panose="020B0604020202020204" pitchFamily="34" charset="0"/>
                <a:cs typeface="Arial" panose="020B0604020202020204" pitchFamily="34" charset="0"/>
              </a:rPr>
              <a:t>Italy</a:t>
            </a:r>
          </a:p>
        </p:txBody>
      </p:sp>
      <p:sp>
        <p:nvSpPr>
          <p:cNvPr id="21" name="Rectangle 20">
            <a:extLst>
              <a:ext uri="{FF2B5EF4-FFF2-40B4-BE49-F238E27FC236}">
                <a16:creationId xmlns:a16="http://schemas.microsoft.com/office/drawing/2014/main" id="{BBE88163-85C6-4F24-AA7D-A81179323FFD}"/>
              </a:ext>
            </a:extLst>
          </p:cNvPr>
          <p:cNvSpPr/>
          <p:nvPr/>
        </p:nvSpPr>
        <p:spPr>
          <a:xfrm>
            <a:off x="7924800" y="5442176"/>
            <a:ext cx="1455892"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rgbClr val="FF0000"/>
                </a:solidFill>
                <a:latin typeface="Arial" panose="020B0604020202020204" pitchFamily="34" charset="0"/>
                <a:cs typeface="Arial" panose="020B0604020202020204" pitchFamily="34" charset="0"/>
              </a:rPr>
              <a:t>Chinese</a:t>
            </a:r>
            <a:r>
              <a:rPr lang="en-GB" sz="1200" b="1" dirty="0">
                <a:solidFill>
                  <a:srgbClr val="000000"/>
                </a:solidFill>
                <a:latin typeface="Arial" panose="020B0604020202020204" pitchFamily="34" charset="0"/>
                <a:cs typeface="Arial" panose="020B0604020202020204" pitchFamily="34" charset="0"/>
              </a:rPr>
              <a:t> </a:t>
            </a:r>
            <a:r>
              <a:rPr lang="en-GB" sz="1200" b="1" dirty="0">
                <a:solidFill>
                  <a:srgbClr val="FF0000"/>
                </a:solidFill>
                <a:latin typeface="Arial" panose="020B0604020202020204" pitchFamily="34" charset="0"/>
                <a:cs typeface="Arial" panose="020B0604020202020204" pitchFamily="34" charset="0"/>
              </a:rPr>
              <a:t>Taipei</a:t>
            </a:r>
          </a:p>
        </p:txBody>
      </p:sp>
      <p:sp>
        <p:nvSpPr>
          <p:cNvPr id="22" name="Rectangle 21">
            <a:extLst>
              <a:ext uri="{FF2B5EF4-FFF2-40B4-BE49-F238E27FC236}">
                <a16:creationId xmlns:a16="http://schemas.microsoft.com/office/drawing/2014/main" id="{8F280649-9ED1-4930-AA21-515AA7118A6E}"/>
              </a:ext>
            </a:extLst>
          </p:cNvPr>
          <p:cNvSpPr/>
          <p:nvPr/>
        </p:nvSpPr>
        <p:spPr>
          <a:xfrm>
            <a:off x="8001000" y="5800773"/>
            <a:ext cx="1455892" cy="27699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200" b="1" dirty="0">
                <a:solidFill>
                  <a:schemeClr val="accent5">
                    <a:lumMod val="50000"/>
                  </a:schemeClr>
                </a:solidFill>
                <a:latin typeface="Arial" panose="020B0604020202020204" pitchFamily="34" charset="0"/>
                <a:cs typeface="Arial" panose="020B0604020202020204" pitchFamily="34" charset="0"/>
              </a:rPr>
              <a:t>Canada</a:t>
            </a:r>
          </a:p>
        </p:txBody>
      </p:sp>
      <p:sp>
        <p:nvSpPr>
          <p:cNvPr id="23" name="TextBox 22">
            <a:extLst>
              <a:ext uri="{FF2B5EF4-FFF2-40B4-BE49-F238E27FC236}">
                <a16:creationId xmlns:a16="http://schemas.microsoft.com/office/drawing/2014/main" id="{92570051-4233-4EEF-882C-FA6263D271D0}"/>
              </a:ext>
            </a:extLst>
          </p:cNvPr>
          <p:cNvSpPr txBox="1"/>
          <p:nvPr/>
        </p:nvSpPr>
        <p:spPr>
          <a:xfrm>
            <a:off x="152400" y="6324600"/>
            <a:ext cx="1828800"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Source</a:t>
            </a:r>
            <a:r>
              <a:rPr lang="en-US" sz="1200" b="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OECD, NCSES</a:t>
            </a:r>
          </a:p>
        </p:txBody>
      </p:sp>
      <p:sp>
        <p:nvSpPr>
          <p:cNvPr id="2" name="Slide Number Placeholder 1">
            <a:extLst>
              <a:ext uri="{FF2B5EF4-FFF2-40B4-BE49-F238E27FC236}">
                <a16:creationId xmlns:a16="http://schemas.microsoft.com/office/drawing/2014/main" id="{922D60AC-5453-47D5-B07F-8F4755DA27EE}"/>
              </a:ext>
            </a:extLst>
          </p:cNvPr>
          <p:cNvSpPr>
            <a:spLocks noGrp="1"/>
          </p:cNvSpPr>
          <p:nvPr>
            <p:ph type="sldNum" sz="quarter" idx="12"/>
          </p:nvPr>
        </p:nvSpPr>
        <p:spPr/>
        <p:txBody>
          <a:bodyPr/>
          <a:lstStyle/>
          <a:p>
            <a:fld id="{1B835D90-6387-4175-8905-3408BA5A358B}" type="slidenum">
              <a:rPr lang="en-US" altLang="en-US" smtClean="0"/>
              <a:pPr/>
              <a:t>20</a:t>
            </a:fld>
            <a:endParaRPr lang="en-US" altLang="en-US"/>
          </a:p>
        </p:txBody>
      </p:sp>
    </p:spTree>
    <p:extLst>
      <p:ext uri="{BB962C8B-B14F-4D97-AF65-F5344CB8AC3E}">
        <p14:creationId xmlns:p14="http://schemas.microsoft.com/office/powerpoint/2010/main" val="3865304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734041"/>
            <a:ext cx="8229600" cy="1143000"/>
          </a:xfrm>
        </p:spPr>
        <p:txBody>
          <a:bodyPr/>
          <a:lstStyle/>
          <a:p>
            <a:pPr eaLnBrk="1" hangingPunct="1"/>
            <a:r>
              <a:rPr lang="en-US" altLang="en-US" sz="3200" b="1" dirty="0">
                <a:latin typeface="Arial" panose="020B0604020202020204" pitchFamily="34" charset="0"/>
              </a:rPr>
              <a:t>R&amp;D Intensities (R&amp;D-to-GDP)</a:t>
            </a:r>
            <a:br>
              <a:rPr lang="en-US" altLang="en-US" sz="3200" b="1" dirty="0">
                <a:latin typeface="Arial" panose="020B0604020202020204" pitchFamily="34" charset="0"/>
              </a:rPr>
            </a:br>
            <a:r>
              <a:rPr lang="en-US" altLang="en-US" sz="3200" b="1" dirty="0">
                <a:latin typeface="Arial" panose="020B0604020202020204" pitchFamily="34" charset="0"/>
              </a:rPr>
              <a:t>by Country: 2000-2016</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Chart 8">
            <a:extLst>
              <a:ext uri="{FF2B5EF4-FFF2-40B4-BE49-F238E27FC236}">
                <a16:creationId xmlns:a16="http://schemas.microsoft.com/office/drawing/2014/main" id="{B38E7CFC-175A-4DA6-8E60-88D77E46CC5C}"/>
              </a:ext>
            </a:extLst>
          </p:cNvPr>
          <p:cNvGraphicFramePr>
            <a:graphicFrameLocks/>
          </p:cNvGraphicFramePr>
          <p:nvPr>
            <p:extLst>
              <p:ext uri="{D42A27DB-BD31-4B8C-83A1-F6EECF244321}">
                <p14:modId xmlns:p14="http://schemas.microsoft.com/office/powerpoint/2010/main" val="1171622268"/>
              </p:ext>
            </p:extLst>
          </p:nvPr>
        </p:nvGraphicFramePr>
        <p:xfrm>
          <a:off x="1219200" y="1981200"/>
          <a:ext cx="6286500" cy="4572000"/>
        </p:xfrm>
        <a:graphic>
          <a:graphicData uri="http://schemas.openxmlformats.org/drawingml/2006/chart">
            <c:chart xmlns:c="http://schemas.openxmlformats.org/drawingml/2006/chart" xmlns:r="http://schemas.openxmlformats.org/officeDocument/2006/relationships" r:id="rId5"/>
          </a:graphicData>
        </a:graphic>
      </p:graphicFrame>
      <p:sp>
        <p:nvSpPr>
          <p:cNvPr id="10" name="Rectangle 9">
            <a:extLst>
              <a:ext uri="{FF2B5EF4-FFF2-40B4-BE49-F238E27FC236}">
                <a16:creationId xmlns:a16="http://schemas.microsoft.com/office/drawing/2014/main" id="{24665595-71AE-46CB-897E-BD8822E1BAEE}"/>
              </a:ext>
            </a:extLst>
          </p:cNvPr>
          <p:cNvSpPr/>
          <p:nvPr/>
        </p:nvSpPr>
        <p:spPr>
          <a:xfrm>
            <a:off x="7315200" y="2442235"/>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0000"/>
                </a:solidFill>
                <a:latin typeface="Arial" panose="020B0604020202020204" pitchFamily="34" charset="0"/>
                <a:cs typeface="Arial" panose="020B0604020202020204" pitchFamily="34" charset="0"/>
              </a:rPr>
              <a:t>Israel</a:t>
            </a:r>
          </a:p>
        </p:txBody>
      </p:sp>
      <p:sp>
        <p:nvSpPr>
          <p:cNvPr id="11" name="Rectangle 10">
            <a:extLst>
              <a:ext uri="{FF2B5EF4-FFF2-40B4-BE49-F238E27FC236}">
                <a16:creationId xmlns:a16="http://schemas.microsoft.com/office/drawing/2014/main" id="{0F681722-B8FC-4F68-ADBA-E52AE6133C50}"/>
              </a:ext>
            </a:extLst>
          </p:cNvPr>
          <p:cNvSpPr/>
          <p:nvPr/>
        </p:nvSpPr>
        <p:spPr>
          <a:xfrm>
            <a:off x="7315200" y="2436166"/>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0000"/>
                </a:solidFill>
                <a:latin typeface="Arial" panose="020B0604020202020204" pitchFamily="34" charset="0"/>
                <a:cs typeface="Arial" panose="020B0604020202020204" pitchFamily="34" charset="0"/>
              </a:rPr>
              <a:t>Israel</a:t>
            </a:r>
          </a:p>
        </p:txBody>
      </p:sp>
      <p:sp>
        <p:nvSpPr>
          <p:cNvPr id="12" name="Rectangle 11">
            <a:extLst>
              <a:ext uri="{FF2B5EF4-FFF2-40B4-BE49-F238E27FC236}">
                <a16:creationId xmlns:a16="http://schemas.microsoft.com/office/drawing/2014/main" id="{0AB7EF49-C3D7-4BF9-8922-6B199DF4EEAF}"/>
              </a:ext>
            </a:extLst>
          </p:cNvPr>
          <p:cNvSpPr/>
          <p:nvPr/>
        </p:nvSpPr>
        <p:spPr>
          <a:xfrm>
            <a:off x="7315200" y="2660614"/>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FF0000"/>
                </a:solidFill>
                <a:latin typeface="Arial" panose="020B0604020202020204" pitchFamily="34" charset="0"/>
                <a:cs typeface="Arial" panose="020B0604020202020204" pitchFamily="34" charset="0"/>
              </a:rPr>
              <a:t>Korea</a:t>
            </a:r>
          </a:p>
        </p:txBody>
      </p:sp>
      <p:sp>
        <p:nvSpPr>
          <p:cNvPr id="13" name="Rectangle 12">
            <a:extLst>
              <a:ext uri="{FF2B5EF4-FFF2-40B4-BE49-F238E27FC236}">
                <a16:creationId xmlns:a16="http://schemas.microsoft.com/office/drawing/2014/main" id="{FAC9BBF0-A38A-4C0B-A0D9-51E9FB236300}"/>
              </a:ext>
            </a:extLst>
          </p:cNvPr>
          <p:cNvSpPr/>
          <p:nvPr/>
        </p:nvSpPr>
        <p:spPr>
          <a:xfrm>
            <a:off x="7256531" y="3301515"/>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chemeClr val="accent6">
                    <a:lumMod val="75000"/>
                  </a:schemeClr>
                </a:solidFill>
                <a:latin typeface="Arial" panose="020B0604020202020204" pitchFamily="34" charset="0"/>
                <a:cs typeface="Arial" panose="020B0604020202020204" pitchFamily="34" charset="0"/>
              </a:rPr>
              <a:t>Japan</a:t>
            </a:r>
          </a:p>
        </p:txBody>
      </p:sp>
      <p:sp>
        <p:nvSpPr>
          <p:cNvPr id="14" name="Rectangle 13">
            <a:extLst>
              <a:ext uri="{FF2B5EF4-FFF2-40B4-BE49-F238E27FC236}">
                <a16:creationId xmlns:a16="http://schemas.microsoft.com/office/drawing/2014/main" id="{AA9D1BA2-29D9-49A5-8F11-39B4A4B80B6B}"/>
              </a:ext>
            </a:extLst>
          </p:cNvPr>
          <p:cNvSpPr/>
          <p:nvPr/>
        </p:nvSpPr>
        <p:spPr>
          <a:xfrm>
            <a:off x="7256532" y="3503710"/>
            <a:ext cx="2116068" cy="307777"/>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EA5E42"/>
                </a:solidFill>
                <a:latin typeface="Arial" panose="020B0604020202020204" pitchFamily="34" charset="0"/>
                <a:cs typeface="Arial" panose="020B0604020202020204" pitchFamily="34" charset="0"/>
              </a:rPr>
              <a:t>Chinese Taipei</a:t>
            </a:r>
          </a:p>
        </p:txBody>
      </p:sp>
      <p:sp>
        <p:nvSpPr>
          <p:cNvPr id="15" name="Rectangle 14">
            <a:extLst>
              <a:ext uri="{FF2B5EF4-FFF2-40B4-BE49-F238E27FC236}">
                <a16:creationId xmlns:a16="http://schemas.microsoft.com/office/drawing/2014/main" id="{B0380CBE-BA4B-478D-95DE-CE884A7993C4}"/>
              </a:ext>
            </a:extLst>
          </p:cNvPr>
          <p:cNvSpPr/>
          <p:nvPr/>
        </p:nvSpPr>
        <p:spPr>
          <a:xfrm>
            <a:off x="7253641" y="3887635"/>
            <a:ext cx="1354067" cy="307777"/>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2060"/>
                </a:solidFill>
                <a:latin typeface="Arial" panose="020B0604020202020204" pitchFamily="34" charset="0"/>
                <a:cs typeface="Arial" panose="020B0604020202020204" pitchFamily="34" charset="0"/>
              </a:rPr>
              <a:t>United States</a:t>
            </a:r>
          </a:p>
        </p:txBody>
      </p:sp>
      <p:sp>
        <p:nvSpPr>
          <p:cNvPr id="16" name="Rectangle 15">
            <a:extLst>
              <a:ext uri="{FF2B5EF4-FFF2-40B4-BE49-F238E27FC236}">
                <a16:creationId xmlns:a16="http://schemas.microsoft.com/office/drawing/2014/main" id="{52D7AA4C-7957-48AD-8900-326B5E827CFE}"/>
              </a:ext>
            </a:extLst>
          </p:cNvPr>
          <p:cNvSpPr/>
          <p:nvPr/>
        </p:nvSpPr>
        <p:spPr>
          <a:xfrm>
            <a:off x="7256531" y="4112462"/>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chemeClr val="accent2"/>
                </a:solidFill>
                <a:latin typeface="Arial" panose="020B0604020202020204" pitchFamily="34" charset="0"/>
                <a:cs typeface="Arial" panose="020B0604020202020204" pitchFamily="34" charset="0"/>
              </a:rPr>
              <a:t>France</a:t>
            </a:r>
          </a:p>
        </p:txBody>
      </p:sp>
      <p:sp>
        <p:nvSpPr>
          <p:cNvPr id="17" name="Rectangle 16">
            <a:extLst>
              <a:ext uri="{FF2B5EF4-FFF2-40B4-BE49-F238E27FC236}">
                <a16:creationId xmlns:a16="http://schemas.microsoft.com/office/drawing/2014/main" id="{5E6837B2-8620-4115-9662-59AF879960F6}"/>
              </a:ext>
            </a:extLst>
          </p:cNvPr>
          <p:cNvSpPr/>
          <p:nvPr/>
        </p:nvSpPr>
        <p:spPr>
          <a:xfrm>
            <a:off x="7226017" y="4344572"/>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FF0000"/>
                </a:solidFill>
                <a:latin typeface="Arial" panose="020B0604020202020204" pitchFamily="34" charset="0"/>
                <a:cs typeface="Arial" panose="020B0604020202020204" pitchFamily="34" charset="0"/>
              </a:rPr>
              <a:t>China</a:t>
            </a:r>
          </a:p>
        </p:txBody>
      </p:sp>
      <p:sp>
        <p:nvSpPr>
          <p:cNvPr id="18" name="Rectangle 17">
            <a:extLst>
              <a:ext uri="{FF2B5EF4-FFF2-40B4-BE49-F238E27FC236}">
                <a16:creationId xmlns:a16="http://schemas.microsoft.com/office/drawing/2014/main" id="{EE57A4CA-79F0-4F1B-96DE-A5FFA2C1AA59}"/>
              </a:ext>
            </a:extLst>
          </p:cNvPr>
          <p:cNvSpPr/>
          <p:nvPr/>
        </p:nvSpPr>
        <p:spPr>
          <a:xfrm>
            <a:off x="7226017" y="4597659"/>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2060"/>
                </a:solidFill>
                <a:latin typeface="Arial" panose="020B0604020202020204" pitchFamily="34" charset="0"/>
                <a:cs typeface="Arial" panose="020B0604020202020204" pitchFamily="34" charset="0"/>
              </a:rPr>
              <a:t>U.K.</a:t>
            </a:r>
          </a:p>
        </p:txBody>
      </p:sp>
      <p:sp>
        <p:nvSpPr>
          <p:cNvPr id="19" name="Rectangle 18">
            <a:extLst>
              <a:ext uri="{FF2B5EF4-FFF2-40B4-BE49-F238E27FC236}">
                <a16:creationId xmlns:a16="http://schemas.microsoft.com/office/drawing/2014/main" id="{04B9C7FA-2C7A-4BF8-8D81-1C1894B1534F}"/>
              </a:ext>
            </a:extLst>
          </p:cNvPr>
          <p:cNvSpPr/>
          <p:nvPr/>
        </p:nvSpPr>
        <p:spPr>
          <a:xfrm>
            <a:off x="7203090" y="4780849"/>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B050"/>
                </a:solidFill>
                <a:latin typeface="Arial" panose="020B0604020202020204" pitchFamily="34" charset="0"/>
                <a:cs typeface="Arial" panose="020B0604020202020204" pitchFamily="34" charset="0"/>
              </a:rPr>
              <a:t>Canada</a:t>
            </a:r>
          </a:p>
        </p:txBody>
      </p:sp>
      <p:sp>
        <p:nvSpPr>
          <p:cNvPr id="20" name="Rectangle 19">
            <a:extLst>
              <a:ext uri="{FF2B5EF4-FFF2-40B4-BE49-F238E27FC236}">
                <a16:creationId xmlns:a16="http://schemas.microsoft.com/office/drawing/2014/main" id="{371E5D30-71CF-4707-8BC9-27BCB24FDB29}"/>
              </a:ext>
            </a:extLst>
          </p:cNvPr>
          <p:cNvSpPr/>
          <p:nvPr/>
        </p:nvSpPr>
        <p:spPr>
          <a:xfrm>
            <a:off x="7223824" y="5000169"/>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70C0"/>
                </a:solidFill>
                <a:latin typeface="Arial" panose="020B0604020202020204" pitchFamily="34" charset="0"/>
                <a:cs typeface="Arial" panose="020B0604020202020204" pitchFamily="34" charset="0"/>
              </a:rPr>
              <a:t>Italy</a:t>
            </a:r>
          </a:p>
        </p:txBody>
      </p:sp>
      <p:sp>
        <p:nvSpPr>
          <p:cNvPr id="21" name="Rectangle 20">
            <a:extLst>
              <a:ext uri="{FF2B5EF4-FFF2-40B4-BE49-F238E27FC236}">
                <a16:creationId xmlns:a16="http://schemas.microsoft.com/office/drawing/2014/main" id="{227349A0-C052-42D8-A9A3-15C38A014405}"/>
              </a:ext>
            </a:extLst>
          </p:cNvPr>
          <p:cNvSpPr/>
          <p:nvPr/>
        </p:nvSpPr>
        <p:spPr>
          <a:xfrm>
            <a:off x="7223824" y="5183946"/>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EA5E42"/>
                </a:solidFill>
                <a:latin typeface="Arial" panose="020B0604020202020204" pitchFamily="34" charset="0"/>
                <a:cs typeface="Arial" panose="020B0604020202020204" pitchFamily="34" charset="0"/>
              </a:rPr>
              <a:t>Russia</a:t>
            </a:r>
          </a:p>
        </p:txBody>
      </p:sp>
      <p:sp>
        <p:nvSpPr>
          <p:cNvPr id="22" name="TextBox 21">
            <a:extLst>
              <a:ext uri="{FF2B5EF4-FFF2-40B4-BE49-F238E27FC236}">
                <a16:creationId xmlns:a16="http://schemas.microsoft.com/office/drawing/2014/main" id="{B3EBBAD0-9C8E-4DAC-9E14-CD4779D4094A}"/>
              </a:ext>
            </a:extLst>
          </p:cNvPr>
          <p:cNvSpPr txBox="1"/>
          <p:nvPr/>
        </p:nvSpPr>
        <p:spPr>
          <a:xfrm>
            <a:off x="1638300" y="1766500"/>
            <a:ext cx="1852346"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Percent</a:t>
            </a:r>
          </a:p>
        </p:txBody>
      </p:sp>
      <p:sp>
        <p:nvSpPr>
          <p:cNvPr id="23" name="TextBox 22">
            <a:extLst>
              <a:ext uri="{FF2B5EF4-FFF2-40B4-BE49-F238E27FC236}">
                <a16:creationId xmlns:a16="http://schemas.microsoft.com/office/drawing/2014/main" id="{AB3FD7F1-0E02-43A7-BEE4-0694739ED966}"/>
              </a:ext>
            </a:extLst>
          </p:cNvPr>
          <p:cNvSpPr txBox="1"/>
          <p:nvPr/>
        </p:nvSpPr>
        <p:spPr>
          <a:xfrm>
            <a:off x="76200" y="6436221"/>
            <a:ext cx="2057400"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Source: OECD, NCSES</a:t>
            </a:r>
          </a:p>
        </p:txBody>
      </p:sp>
      <p:sp>
        <p:nvSpPr>
          <p:cNvPr id="24" name="Rectangle 23">
            <a:extLst>
              <a:ext uri="{FF2B5EF4-FFF2-40B4-BE49-F238E27FC236}">
                <a16:creationId xmlns:a16="http://schemas.microsoft.com/office/drawing/2014/main" id="{5A44A9DA-C1D2-4816-B1CC-450D68C7BD21}"/>
              </a:ext>
            </a:extLst>
          </p:cNvPr>
          <p:cNvSpPr/>
          <p:nvPr/>
        </p:nvSpPr>
        <p:spPr>
          <a:xfrm>
            <a:off x="7253641" y="3703671"/>
            <a:ext cx="990600" cy="306289"/>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1400" b="1" dirty="0">
                <a:solidFill>
                  <a:srgbClr val="00B0F0"/>
                </a:solidFill>
                <a:latin typeface="Arial" panose="020B0604020202020204" pitchFamily="34" charset="0"/>
                <a:cs typeface="Arial" panose="020B0604020202020204" pitchFamily="34" charset="0"/>
              </a:rPr>
              <a:t>Germany</a:t>
            </a:r>
          </a:p>
        </p:txBody>
      </p:sp>
      <p:sp>
        <p:nvSpPr>
          <p:cNvPr id="2" name="Slide Number Placeholder 1">
            <a:extLst>
              <a:ext uri="{FF2B5EF4-FFF2-40B4-BE49-F238E27FC236}">
                <a16:creationId xmlns:a16="http://schemas.microsoft.com/office/drawing/2014/main" id="{7143AC62-256C-4395-9372-FD82741A3CC6}"/>
              </a:ext>
            </a:extLst>
          </p:cNvPr>
          <p:cNvSpPr>
            <a:spLocks noGrp="1"/>
          </p:cNvSpPr>
          <p:nvPr>
            <p:ph type="sldNum" sz="quarter" idx="12"/>
          </p:nvPr>
        </p:nvSpPr>
        <p:spPr/>
        <p:txBody>
          <a:bodyPr/>
          <a:lstStyle/>
          <a:p>
            <a:fld id="{1B835D90-6387-4175-8905-3408BA5A358B}" type="slidenum">
              <a:rPr lang="en-US" altLang="en-US" smtClean="0"/>
              <a:pPr/>
              <a:t>21</a:t>
            </a:fld>
            <a:endParaRPr lang="en-US" altLang="en-US"/>
          </a:p>
        </p:txBody>
      </p:sp>
    </p:spTree>
    <p:extLst>
      <p:ext uri="{BB962C8B-B14F-4D97-AF65-F5344CB8AC3E}">
        <p14:creationId xmlns:p14="http://schemas.microsoft.com/office/powerpoint/2010/main" val="868830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609600" y="685800"/>
            <a:ext cx="8229600" cy="1143000"/>
          </a:xfrm>
        </p:spPr>
        <p:txBody>
          <a:bodyPr/>
          <a:lstStyle/>
          <a:p>
            <a:pPr eaLnBrk="1" hangingPunct="1"/>
            <a:r>
              <a:rPr lang="en-US" altLang="en-US" sz="3200" b="1" dirty="0">
                <a:latin typeface="Arial" panose="020B0604020202020204" pitchFamily="34" charset="0"/>
              </a:rPr>
              <a:t>Country Comparisons of R&amp;D </a:t>
            </a:r>
            <a:br>
              <a:rPr lang="en-US" altLang="en-US" sz="3200" b="1" dirty="0">
                <a:latin typeface="Arial" panose="020B0604020202020204" pitchFamily="34" charset="0"/>
              </a:rPr>
            </a:br>
            <a:r>
              <a:rPr lang="en-US" altLang="en-US" sz="3200" b="1" dirty="0">
                <a:latin typeface="Arial" panose="020B0604020202020204" pitchFamily="34" charset="0"/>
              </a:rPr>
              <a:t>Performers and Sources: 2015</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228600" y="6400800"/>
            <a:ext cx="4038600"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Source: OECD, NCSES, Science &amp; Engineering Indicators</a:t>
            </a:r>
          </a:p>
        </p:txBody>
      </p:sp>
      <p:sp>
        <p:nvSpPr>
          <p:cNvPr id="3" name="Slide Number Placeholder 2">
            <a:extLst>
              <a:ext uri="{FF2B5EF4-FFF2-40B4-BE49-F238E27FC236}">
                <a16:creationId xmlns:a16="http://schemas.microsoft.com/office/drawing/2014/main" id="{2D1995F3-BA8D-49E9-B6BB-223262A1FDF0}"/>
              </a:ext>
            </a:extLst>
          </p:cNvPr>
          <p:cNvSpPr>
            <a:spLocks noGrp="1"/>
          </p:cNvSpPr>
          <p:nvPr>
            <p:ph type="sldNum" sz="quarter" idx="12"/>
          </p:nvPr>
        </p:nvSpPr>
        <p:spPr/>
        <p:txBody>
          <a:bodyPr/>
          <a:lstStyle/>
          <a:p>
            <a:fld id="{1B835D90-6387-4175-8905-3408BA5A358B}" type="slidenum">
              <a:rPr lang="en-US" altLang="en-US" smtClean="0"/>
              <a:pPr/>
              <a:t>22</a:t>
            </a:fld>
            <a:endParaRPr lang="en-US" altLang="en-US"/>
          </a:p>
        </p:txBody>
      </p:sp>
      <p:graphicFrame>
        <p:nvGraphicFramePr>
          <p:cNvPr id="9" name="Table 8">
            <a:extLst>
              <a:ext uri="{FF2B5EF4-FFF2-40B4-BE49-F238E27FC236}">
                <a16:creationId xmlns:a16="http://schemas.microsoft.com/office/drawing/2014/main" id="{2DD95026-4123-4C91-8093-C014A89DF271}"/>
              </a:ext>
            </a:extLst>
          </p:cNvPr>
          <p:cNvGraphicFramePr>
            <a:graphicFrameLocks noGrp="1"/>
          </p:cNvGraphicFramePr>
          <p:nvPr>
            <p:extLst>
              <p:ext uri="{D42A27DB-BD31-4B8C-83A1-F6EECF244321}">
                <p14:modId xmlns:p14="http://schemas.microsoft.com/office/powerpoint/2010/main" val="430654145"/>
              </p:ext>
            </p:extLst>
          </p:nvPr>
        </p:nvGraphicFramePr>
        <p:xfrm>
          <a:off x="194939" y="1981200"/>
          <a:ext cx="8648701" cy="3824338"/>
        </p:xfrm>
        <a:graphic>
          <a:graphicData uri="http://schemas.openxmlformats.org/drawingml/2006/table">
            <a:tbl>
              <a:tblPr>
                <a:tableStyleId>{5C22544A-7EE6-4342-B048-85BDC9FD1C3A}</a:tableStyleId>
              </a:tblPr>
              <a:tblGrid>
                <a:gridCol w="1157481">
                  <a:extLst>
                    <a:ext uri="{9D8B030D-6E8A-4147-A177-3AD203B41FA5}">
                      <a16:colId xmlns:a16="http://schemas.microsoft.com/office/drawing/2014/main" val="1317842938"/>
                    </a:ext>
                  </a:extLst>
                </a:gridCol>
                <a:gridCol w="1078575">
                  <a:extLst>
                    <a:ext uri="{9D8B030D-6E8A-4147-A177-3AD203B41FA5}">
                      <a16:colId xmlns:a16="http://schemas.microsoft.com/office/drawing/2014/main" val="3872616182"/>
                    </a:ext>
                  </a:extLst>
                </a:gridCol>
                <a:gridCol w="752835">
                  <a:extLst>
                    <a:ext uri="{9D8B030D-6E8A-4147-A177-3AD203B41FA5}">
                      <a16:colId xmlns:a16="http://schemas.microsoft.com/office/drawing/2014/main" val="964328450"/>
                    </a:ext>
                  </a:extLst>
                </a:gridCol>
                <a:gridCol w="192519">
                  <a:extLst>
                    <a:ext uri="{9D8B030D-6E8A-4147-A177-3AD203B41FA5}">
                      <a16:colId xmlns:a16="http://schemas.microsoft.com/office/drawing/2014/main" val="1634547455"/>
                    </a:ext>
                  </a:extLst>
                </a:gridCol>
                <a:gridCol w="660362">
                  <a:extLst>
                    <a:ext uri="{9D8B030D-6E8A-4147-A177-3AD203B41FA5}">
                      <a16:colId xmlns:a16="http://schemas.microsoft.com/office/drawing/2014/main" val="3192250021"/>
                    </a:ext>
                  </a:extLst>
                </a:gridCol>
                <a:gridCol w="146898">
                  <a:extLst>
                    <a:ext uri="{9D8B030D-6E8A-4147-A177-3AD203B41FA5}">
                      <a16:colId xmlns:a16="http://schemas.microsoft.com/office/drawing/2014/main" val="3065929748"/>
                    </a:ext>
                  </a:extLst>
                </a:gridCol>
                <a:gridCol w="709790">
                  <a:extLst>
                    <a:ext uri="{9D8B030D-6E8A-4147-A177-3AD203B41FA5}">
                      <a16:colId xmlns:a16="http://schemas.microsoft.com/office/drawing/2014/main" val="20006"/>
                    </a:ext>
                  </a:extLst>
                </a:gridCol>
                <a:gridCol w="837652">
                  <a:extLst>
                    <a:ext uri="{9D8B030D-6E8A-4147-A177-3AD203B41FA5}">
                      <a16:colId xmlns:a16="http://schemas.microsoft.com/office/drawing/2014/main" val="435285775"/>
                    </a:ext>
                  </a:extLst>
                </a:gridCol>
                <a:gridCol w="731041">
                  <a:extLst>
                    <a:ext uri="{9D8B030D-6E8A-4147-A177-3AD203B41FA5}">
                      <a16:colId xmlns:a16="http://schemas.microsoft.com/office/drawing/2014/main" val="1419763248"/>
                    </a:ext>
                  </a:extLst>
                </a:gridCol>
                <a:gridCol w="171747">
                  <a:extLst>
                    <a:ext uri="{9D8B030D-6E8A-4147-A177-3AD203B41FA5}">
                      <a16:colId xmlns:a16="http://schemas.microsoft.com/office/drawing/2014/main" val="574321083"/>
                    </a:ext>
                  </a:extLst>
                </a:gridCol>
                <a:gridCol w="604984">
                  <a:extLst>
                    <a:ext uri="{9D8B030D-6E8A-4147-A177-3AD203B41FA5}">
                      <a16:colId xmlns:a16="http://schemas.microsoft.com/office/drawing/2014/main" val="1817326164"/>
                    </a:ext>
                  </a:extLst>
                </a:gridCol>
                <a:gridCol w="157016">
                  <a:extLst>
                    <a:ext uri="{9D8B030D-6E8A-4147-A177-3AD203B41FA5}">
                      <a16:colId xmlns:a16="http://schemas.microsoft.com/office/drawing/2014/main" val="3809229870"/>
                    </a:ext>
                  </a:extLst>
                </a:gridCol>
                <a:gridCol w="619714">
                  <a:extLst>
                    <a:ext uri="{9D8B030D-6E8A-4147-A177-3AD203B41FA5}">
                      <a16:colId xmlns:a16="http://schemas.microsoft.com/office/drawing/2014/main" val="20012"/>
                    </a:ext>
                  </a:extLst>
                </a:gridCol>
                <a:gridCol w="196219">
                  <a:extLst>
                    <a:ext uri="{9D8B030D-6E8A-4147-A177-3AD203B41FA5}">
                      <a16:colId xmlns:a16="http://schemas.microsoft.com/office/drawing/2014/main" val="3390209086"/>
                    </a:ext>
                  </a:extLst>
                </a:gridCol>
                <a:gridCol w="631868">
                  <a:extLst>
                    <a:ext uri="{9D8B030D-6E8A-4147-A177-3AD203B41FA5}">
                      <a16:colId xmlns:a16="http://schemas.microsoft.com/office/drawing/2014/main" val="3066747724"/>
                    </a:ext>
                  </a:extLst>
                </a:gridCol>
              </a:tblGrid>
              <a:tr h="380692">
                <a:tc gridSpan="3">
                  <a:txBody>
                    <a:bodyPr/>
                    <a:lstStyle/>
                    <a:p>
                      <a:pPr algn="l" fontAlgn="b"/>
                      <a:r>
                        <a:rPr lang="en-US" sz="1200" b="1" u="none" strike="noStrike" dirty="0">
                          <a:effectLst/>
                          <a:latin typeface="Arial" panose="020B0604020202020204" pitchFamily="34" charset="0"/>
                          <a:cs typeface="Arial" panose="020B0604020202020204" pitchFamily="34" charset="0"/>
                        </a:rPr>
                        <a:t>(PPP billions of dollars </a:t>
                      </a:r>
                    </a:p>
                    <a:p>
                      <a:pPr algn="l" fontAlgn="b"/>
                      <a:r>
                        <a:rPr lang="en-US" sz="1200" b="1" u="none" strike="noStrike" dirty="0">
                          <a:effectLst/>
                          <a:latin typeface="Arial" panose="020B0604020202020204" pitchFamily="34" charset="0"/>
                          <a:cs typeface="Arial" panose="020B0604020202020204" pitchFamily="34" charset="0"/>
                        </a:rPr>
                        <a:t>and percent share)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gridSpan="2">
                  <a:txBody>
                    <a:bodyPr/>
                    <a:lstStyle/>
                    <a:p>
                      <a:pPr algn="l" fontAlgn="b"/>
                      <a:endParaRPr lang="en-US" sz="1200" b="1" i="0" u="none" strike="noStrike" dirty="0">
                        <a:effectLst/>
                        <a:latin typeface="Arial" panose="020B0604020202020204" pitchFamily="34" charset="0"/>
                        <a:cs typeface="Arial" panose="020B0604020202020204" pitchFamily="34" charset="0"/>
                      </a:endParaRPr>
                    </a:p>
                  </a:txBody>
                  <a:tcPr marL="9525" marR="9525" marT="9525" marB="0" anchor="b"/>
                </a:tc>
                <a:tc hMerge="1">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gridSpan="2">
                  <a:txBody>
                    <a:bodyPr/>
                    <a:lstStyle/>
                    <a:p>
                      <a:pPr algn="l" fontAlgn="b"/>
                      <a:endParaRPr lang="en-US" sz="1200" b="1" i="0" u="none" strike="noStrike" dirty="0">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gridSpan="2">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hMerge="1">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gridSpan="2">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gridSpan="2">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tc hMerge="1">
                  <a:txBody>
                    <a:bodyPr/>
                    <a:lstStyle/>
                    <a:p>
                      <a:pPr algn="l" fontAlgn="b"/>
                      <a:endParaRPr lang="en-US" sz="1200" b="1" i="0" u="none" strike="noStrike">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9372450"/>
                  </a:ext>
                </a:extLst>
              </a:tr>
              <a:tr h="380692">
                <a:tc rowSpan="2">
                  <a:txBody>
                    <a:bodyPr/>
                    <a:lstStyle/>
                    <a:p>
                      <a:pPr algn="l" fontAlgn="b"/>
                      <a:r>
                        <a:rPr lang="en-US" sz="1400" b="1" u="none" strike="noStrike" dirty="0">
                          <a:effectLst/>
                          <a:latin typeface="Arial" panose="020B0604020202020204" pitchFamily="34" charset="0"/>
                          <a:cs typeface="Arial" panose="020B0604020202020204" pitchFamily="34" charset="0"/>
                        </a:rPr>
                        <a:t>Country</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400" b="1" u="none" strike="noStrike" dirty="0">
                          <a:effectLst/>
                          <a:latin typeface="Arial" panose="020B0604020202020204" pitchFamily="34" charset="0"/>
                          <a:cs typeface="Arial" panose="020B0604020202020204" pitchFamily="34" charset="0"/>
                        </a:rPr>
                        <a:t>GERD (PPP $billions)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6">
                  <a:txBody>
                    <a:bodyPr/>
                    <a:lstStyle/>
                    <a:p>
                      <a:pPr algn="ctr" fontAlgn="b"/>
                      <a:r>
                        <a:rPr lang="en-US" sz="1400" b="1" u="sng" strike="noStrike" dirty="0">
                          <a:effectLst/>
                          <a:latin typeface="Arial" panose="020B0604020202020204" pitchFamily="34" charset="0"/>
                          <a:cs typeface="Arial" panose="020B0604020202020204" pitchFamily="34" charset="0"/>
                        </a:rPr>
                        <a:t>R&amp;D performance: Share of total (%)</a:t>
                      </a:r>
                      <a:endParaRPr lang="en-US" sz="1400" b="1" i="0" u="sng"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fontAlgn="b"/>
                      <a:r>
                        <a:rPr lang="en-US" sz="1400" b="1" u="sng" strike="noStrike" dirty="0">
                          <a:effectLst/>
                          <a:latin typeface="Arial" panose="020B0604020202020204" pitchFamily="34" charset="0"/>
                          <a:cs typeface="Arial" panose="020B0604020202020204" pitchFamily="34" charset="0"/>
                        </a:rPr>
                        <a:t>Source of funds: Share of total (%)</a:t>
                      </a:r>
                      <a:endParaRPr lang="en-US" sz="1400" b="1" i="0" u="sng"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725662530"/>
                  </a:ext>
                </a:extLst>
              </a:tr>
              <a:tr h="566207">
                <a:tc vMerge="1">
                  <a:txBody>
                    <a:bodyPr/>
                    <a:lstStyle/>
                    <a:p>
                      <a:endParaRPr lang="en-US"/>
                    </a:p>
                  </a:txBody>
                  <a:tcPr/>
                </a:tc>
                <a:tc vMerge="1">
                  <a:txBody>
                    <a:bodyPr/>
                    <a:lstStyle/>
                    <a:p>
                      <a:endParaRPr lang="en-US"/>
                    </a:p>
                  </a:txBody>
                  <a:tcPr/>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Business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Government</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Govern-</a:t>
                      </a:r>
                      <a:r>
                        <a:rPr lang="en-US" sz="1400" b="1" u="none" strike="noStrike" dirty="0" err="1">
                          <a:effectLst/>
                          <a:latin typeface="Arial" panose="020B0604020202020204" pitchFamily="34" charset="0"/>
                          <a:cs typeface="Arial" panose="020B0604020202020204" pitchFamily="34" charset="0"/>
                        </a:rPr>
                        <a:t>ment</a:t>
                      </a:r>
                      <a:endParaRPr lang="en-US" sz="1400" dirty="0"/>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Higher </a:t>
                      </a:r>
                      <a:r>
                        <a:rPr lang="en-US" sz="1400" b="1" u="none" strike="noStrike" dirty="0" err="1">
                          <a:effectLst/>
                          <a:latin typeface="Arial" panose="020B0604020202020204" pitchFamily="34" charset="0"/>
                          <a:cs typeface="Arial" panose="020B0604020202020204" pitchFamily="34" charset="0"/>
                        </a:rPr>
                        <a:t>edu</a:t>
                      </a:r>
                      <a:r>
                        <a:rPr lang="en-US" sz="1400" b="1" u="none" strike="noStrike" dirty="0">
                          <a:effectLst/>
                          <a:latin typeface="Arial" panose="020B0604020202020204" pitchFamily="34" charset="0"/>
                          <a:cs typeface="Arial" panose="020B0604020202020204" pitchFamily="34" charset="0"/>
                        </a:rPr>
                        <a:t>.</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Private nonprofit</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Business</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Government</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Govern-</a:t>
                      </a:r>
                      <a:r>
                        <a:rPr lang="en-US" sz="1400" b="1" u="none" strike="noStrike" dirty="0" err="1">
                          <a:effectLst/>
                          <a:latin typeface="Arial" panose="020B0604020202020204" pitchFamily="34" charset="0"/>
                          <a:cs typeface="Arial" panose="020B0604020202020204" pitchFamily="34" charset="0"/>
                        </a:rPr>
                        <a:t>ment</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Other domestic</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Rest of world</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Rest of world</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068903432"/>
                  </a:ext>
                </a:extLst>
              </a:tr>
              <a:tr h="426311">
                <a:tc>
                  <a:txBody>
                    <a:bodyPr/>
                    <a:lstStyle/>
                    <a:p>
                      <a:pPr algn="l" fontAlgn="b"/>
                      <a:r>
                        <a:rPr lang="en-US" sz="1400" b="1" u="none" strike="noStrike" dirty="0">
                          <a:effectLst/>
                          <a:latin typeface="Arial" panose="020B0604020202020204" pitchFamily="34" charset="0"/>
                          <a:cs typeface="Arial" panose="020B0604020202020204" pitchFamily="34" charset="0"/>
                        </a:rPr>
                        <a:t>United States </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496.6</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71.7</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11.3</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11.3</a:t>
                      </a:r>
                      <a:endParaRPr lang="en-US" sz="1400" dirty="0"/>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13.0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4.0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62.4</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25.5</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25.5</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7.1</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5.0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5.0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746409485"/>
                  </a:ext>
                </a:extLst>
              </a:tr>
              <a:tr h="241576">
                <a:tc>
                  <a:txBody>
                    <a:bodyPr/>
                    <a:lstStyle/>
                    <a:p>
                      <a:pPr algn="l" fontAlgn="b"/>
                      <a:r>
                        <a:rPr lang="en-US" sz="1400" b="1" u="none" strike="noStrike" dirty="0">
                          <a:effectLst/>
                          <a:latin typeface="Arial" panose="020B0604020202020204" pitchFamily="34" charset="0"/>
                          <a:cs typeface="Arial" panose="020B0604020202020204" pitchFamily="34" charset="0"/>
                        </a:rPr>
                        <a:t>China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408.8</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76.8</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16.2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16.2</a:t>
                      </a:r>
                      <a:endParaRPr lang="en-US" sz="1400" dirty="0"/>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7.0</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err="1">
                          <a:effectLst/>
                          <a:latin typeface="Arial" panose="020B0604020202020204" pitchFamily="34" charset="0"/>
                          <a:cs typeface="Arial" panose="020B0604020202020204" pitchFamily="34" charset="0"/>
                        </a:rPr>
                        <a:t>na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74.7</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21.3</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21.3</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NA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0.7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0.7</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075566891"/>
                  </a:ext>
                </a:extLst>
              </a:tr>
              <a:tr h="241576">
                <a:tc>
                  <a:txBody>
                    <a:bodyPr/>
                    <a:lstStyle/>
                    <a:p>
                      <a:pPr algn="l" fontAlgn="b"/>
                      <a:r>
                        <a:rPr lang="en-US" sz="1400" b="1" u="none" strike="noStrike" dirty="0">
                          <a:effectLst/>
                          <a:latin typeface="Arial" panose="020B0604020202020204" pitchFamily="34" charset="0"/>
                          <a:cs typeface="Arial" panose="020B0604020202020204" pitchFamily="34" charset="0"/>
                        </a:rPr>
                        <a:t>Japan</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170.0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78.5</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7.9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7.9</a:t>
                      </a:r>
                      <a:endParaRPr lang="en-US" sz="1400" dirty="0"/>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12.3</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1.3</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78.0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15.4</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15.4</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6.1</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0.5</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0.5</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658575284"/>
                  </a:ext>
                </a:extLst>
              </a:tr>
              <a:tr h="241576">
                <a:tc>
                  <a:txBody>
                    <a:bodyPr/>
                    <a:lstStyle/>
                    <a:p>
                      <a:pPr algn="l" fontAlgn="b"/>
                      <a:r>
                        <a:rPr lang="en-US" sz="1400" b="1" u="none" strike="noStrike" dirty="0">
                          <a:effectLst/>
                          <a:latin typeface="Arial" panose="020B0604020202020204" pitchFamily="34" charset="0"/>
                          <a:cs typeface="Arial" panose="020B0604020202020204" pitchFamily="34" charset="0"/>
                        </a:rPr>
                        <a:t>Germany</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114.8</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68.7</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14.1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14.1</a:t>
                      </a:r>
                      <a:endParaRPr lang="en-US" sz="1400" dirty="0"/>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17.3</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65.6</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27.9</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27.9</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0.4</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6.2</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6.2</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85441063"/>
                  </a:ext>
                </a:extLst>
              </a:tr>
              <a:tr h="426311">
                <a:tc>
                  <a:txBody>
                    <a:bodyPr/>
                    <a:lstStyle/>
                    <a:p>
                      <a:pPr algn="l" fontAlgn="b"/>
                      <a:r>
                        <a:rPr lang="en-US" sz="1400" b="1" u="none" strike="noStrike" dirty="0">
                          <a:effectLst/>
                          <a:latin typeface="Arial" panose="020B0604020202020204" pitchFamily="34" charset="0"/>
                          <a:cs typeface="Arial" panose="020B0604020202020204" pitchFamily="34" charset="0"/>
                        </a:rPr>
                        <a:t>South Korea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74.1</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77.5</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11.7</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11.7</a:t>
                      </a:r>
                      <a:endParaRPr lang="en-US" sz="1400" dirty="0"/>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9.1</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1.6</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74.5</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23.7</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23.7</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1.0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0.8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0.8</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2319485"/>
                  </a:ext>
                </a:extLst>
              </a:tr>
              <a:tr h="241576">
                <a:tc>
                  <a:txBody>
                    <a:bodyPr/>
                    <a:lstStyle/>
                    <a:p>
                      <a:pPr algn="l" fontAlgn="b"/>
                      <a:r>
                        <a:rPr lang="en-US" sz="1400" b="1" u="none" strike="noStrike" dirty="0">
                          <a:effectLst/>
                          <a:latin typeface="Arial" panose="020B0604020202020204" pitchFamily="34" charset="0"/>
                          <a:cs typeface="Arial" panose="020B0604020202020204" pitchFamily="34" charset="0"/>
                        </a:rPr>
                        <a:t>France</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60.8</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65.1</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13.1</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13.1</a:t>
                      </a:r>
                      <a:endParaRPr lang="en-US" sz="1400" dirty="0"/>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20.3</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1.6</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55.7</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34.6</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34.6</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2.0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7.8</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7.8</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24355527"/>
                  </a:ext>
                </a:extLst>
              </a:tr>
              <a:tr h="241576">
                <a:tc>
                  <a:txBody>
                    <a:bodyPr/>
                    <a:lstStyle/>
                    <a:p>
                      <a:pPr algn="l" fontAlgn="b"/>
                      <a:r>
                        <a:rPr lang="en-US" sz="1400" b="1" u="none" strike="noStrike" dirty="0">
                          <a:effectLst/>
                          <a:latin typeface="Arial" panose="020B0604020202020204" pitchFamily="34" charset="0"/>
                          <a:cs typeface="Arial" panose="020B0604020202020204" pitchFamily="34" charset="0"/>
                        </a:rPr>
                        <a:t>India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50.3</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43.6</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52.5</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52.5</a:t>
                      </a:r>
                      <a:endParaRPr lang="en-US" sz="1400" dirty="0"/>
                    </a:p>
                  </a:txBody>
                  <a:tcPr marL="9525" marR="9525" marT="9525" marB="0" anchor="b"/>
                </a:tc>
                <a:tc hMerge="1">
                  <a:txBody>
                    <a:bodyPr/>
                    <a:lstStyle/>
                    <a:p>
                      <a:pPr algn="r" fontAlgn="b"/>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3.9</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na</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NA</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NA</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NA</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NA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NA</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NA</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67688185"/>
                  </a:ext>
                </a:extLst>
              </a:tr>
              <a:tr h="426311">
                <a:tc>
                  <a:txBody>
                    <a:bodyPr/>
                    <a:lstStyle/>
                    <a:p>
                      <a:pPr algn="l" fontAlgn="b"/>
                      <a:r>
                        <a:rPr lang="en-US" sz="1400" b="1" u="none" strike="noStrike" dirty="0">
                          <a:effectLst/>
                          <a:latin typeface="Arial" panose="020B0604020202020204" pitchFamily="34" charset="0"/>
                          <a:cs typeface="Arial" panose="020B0604020202020204" pitchFamily="34" charset="0"/>
                        </a:rPr>
                        <a:t>United Kingdom</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46.3</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65.7</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6.8</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a:r>
                        <a:rPr lang="en-US" sz="1400" b="1" u="none" strike="noStrike" dirty="0">
                          <a:effectLst/>
                          <a:latin typeface="Arial" panose="020B0604020202020204" pitchFamily="34" charset="0"/>
                          <a:cs typeface="Arial" panose="020B0604020202020204" pitchFamily="34" charset="0"/>
                        </a:rPr>
                        <a:t>6.8</a:t>
                      </a:r>
                      <a:endParaRPr lang="en-US" sz="1400" dirty="0"/>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25.6</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a:effectLst/>
                          <a:latin typeface="Arial" panose="020B0604020202020204" pitchFamily="34" charset="0"/>
                          <a:cs typeface="Arial" panose="020B0604020202020204" pitchFamily="34" charset="0"/>
                        </a:rPr>
                        <a:t>1.9</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a:effectLst/>
                          <a:latin typeface="Arial" panose="020B0604020202020204" pitchFamily="34" charset="0"/>
                          <a:cs typeface="Arial" panose="020B0604020202020204" pitchFamily="34" charset="0"/>
                        </a:rPr>
                        <a:t>48.4</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a:effectLst/>
                          <a:latin typeface="Arial" panose="020B0604020202020204" pitchFamily="34" charset="0"/>
                          <a:cs typeface="Arial" panose="020B0604020202020204" pitchFamily="34" charset="0"/>
                        </a:rPr>
                        <a:t>28.0</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28.0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400" b="1" u="none" strike="noStrike" dirty="0">
                          <a:effectLst/>
                          <a:latin typeface="Arial" panose="020B0604020202020204" pitchFamily="34" charset="0"/>
                          <a:cs typeface="Arial" panose="020B0604020202020204" pitchFamily="34" charset="0"/>
                        </a:rPr>
                        <a:t>6.0</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200" b="1" u="none" strike="noStrike" dirty="0">
                          <a:effectLst/>
                          <a:latin typeface="Arial" panose="020B0604020202020204" pitchFamily="34" charset="0"/>
                          <a:cs typeface="Arial" panose="020B0604020202020204" pitchFamily="34" charset="0"/>
                        </a:rPr>
                        <a:t>17.6</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17.6</a:t>
                      </a:r>
                      <a:endParaRPr lang="en-US" sz="14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343069534"/>
                  </a:ext>
                </a:extLst>
              </a:tr>
            </a:tbl>
          </a:graphicData>
        </a:graphic>
      </p:graphicFrame>
    </p:spTree>
    <p:extLst>
      <p:ext uri="{BB962C8B-B14F-4D97-AF65-F5344CB8AC3E}">
        <p14:creationId xmlns:p14="http://schemas.microsoft.com/office/powerpoint/2010/main" val="452826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33400" y="647700"/>
            <a:ext cx="8229600" cy="952500"/>
          </a:xfrm>
        </p:spPr>
        <p:txBody>
          <a:bodyPr/>
          <a:lstStyle/>
          <a:p>
            <a:pPr eaLnBrk="1" hangingPunct="1"/>
            <a:r>
              <a:rPr lang="en-US" altLang="en-US" sz="3200" b="1" dirty="0">
                <a:latin typeface="Arial" panose="020B0604020202020204" pitchFamily="34" charset="0"/>
              </a:rPr>
              <a:t>Business R&amp;D, by Industry Sector: 2015</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114299" y="6323111"/>
            <a:ext cx="85725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OECD, </a:t>
            </a:r>
            <a:r>
              <a:rPr lang="en-US" sz="1400" dirty="0" err="1">
                <a:latin typeface="Arial" panose="020B0604020202020204" pitchFamily="34" charset="0"/>
                <a:cs typeface="Arial" panose="020B0604020202020204" pitchFamily="34" charset="0"/>
              </a:rPr>
              <a:t>ANalytical</a:t>
            </a:r>
            <a:r>
              <a:rPr lang="en-US" sz="1400" dirty="0">
                <a:latin typeface="Arial" panose="020B0604020202020204" pitchFamily="34" charset="0"/>
                <a:cs typeface="Arial" panose="020B0604020202020204" pitchFamily="34" charset="0"/>
              </a:rPr>
              <a:t> Business Enterprise R&amp;D databases (ANBERD). Accessed 5 June 2018</a:t>
            </a:r>
          </a:p>
        </p:txBody>
      </p:sp>
      <p:graphicFrame>
        <p:nvGraphicFramePr>
          <p:cNvPr id="5" name="Table 4">
            <a:extLst>
              <a:ext uri="{FF2B5EF4-FFF2-40B4-BE49-F238E27FC236}">
                <a16:creationId xmlns:a16="http://schemas.microsoft.com/office/drawing/2014/main" id="{83A2D2B4-D27A-4625-9AD3-428680F7AB48}"/>
              </a:ext>
            </a:extLst>
          </p:cNvPr>
          <p:cNvGraphicFramePr>
            <a:graphicFrameLocks noGrp="1"/>
          </p:cNvGraphicFramePr>
          <p:nvPr>
            <p:extLst>
              <p:ext uri="{D42A27DB-BD31-4B8C-83A1-F6EECF244321}">
                <p14:modId xmlns:p14="http://schemas.microsoft.com/office/powerpoint/2010/main" val="452078420"/>
              </p:ext>
            </p:extLst>
          </p:nvPr>
        </p:nvGraphicFramePr>
        <p:xfrm>
          <a:off x="762000" y="1481040"/>
          <a:ext cx="7924799" cy="4453841"/>
        </p:xfrm>
        <a:graphic>
          <a:graphicData uri="http://schemas.openxmlformats.org/drawingml/2006/table">
            <a:tbl>
              <a:tblPr>
                <a:tableStyleId>{5C22544A-7EE6-4342-B048-85BDC9FD1C3A}</a:tableStyleId>
              </a:tblPr>
              <a:tblGrid>
                <a:gridCol w="4037114">
                  <a:extLst>
                    <a:ext uri="{9D8B030D-6E8A-4147-A177-3AD203B41FA5}">
                      <a16:colId xmlns:a16="http://schemas.microsoft.com/office/drawing/2014/main" val="1751865805"/>
                    </a:ext>
                  </a:extLst>
                </a:gridCol>
                <a:gridCol w="777537">
                  <a:extLst>
                    <a:ext uri="{9D8B030D-6E8A-4147-A177-3AD203B41FA5}">
                      <a16:colId xmlns:a16="http://schemas.microsoft.com/office/drawing/2014/main" val="1254846332"/>
                    </a:ext>
                  </a:extLst>
                </a:gridCol>
                <a:gridCol w="777537">
                  <a:extLst>
                    <a:ext uri="{9D8B030D-6E8A-4147-A177-3AD203B41FA5}">
                      <a16:colId xmlns:a16="http://schemas.microsoft.com/office/drawing/2014/main" val="2748574069"/>
                    </a:ext>
                  </a:extLst>
                </a:gridCol>
                <a:gridCol w="777537">
                  <a:extLst>
                    <a:ext uri="{9D8B030D-6E8A-4147-A177-3AD203B41FA5}">
                      <a16:colId xmlns:a16="http://schemas.microsoft.com/office/drawing/2014/main" val="4241299962"/>
                    </a:ext>
                  </a:extLst>
                </a:gridCol>
                <a:gridCol w="869275">
                  <a:extLst>
                    <a:ext uri="{9D8B030D-6E8A-4147-A177-3AD203B41FA5}">
                      <a16:colId xmlns:a16="http://schemas.microsoft.com/office/drawing/2014/main" val="3947432627"/>
                    </a:ext>
                  </a:extLst>
                </a:gridCol>
                <a:gridCol w="685799">
                  <a:extLst>
                    <a:ext uri="{9D8B030D-6E8A-4147-A177-3AD203B41FA5}">
                      <a16:colId xmlns:a16="http://schemas.microsoft.com/office/drawing/2014/main" val="1576815905"/>
                    </a:ext>
                  </a:extLst>
                </a:gridCol>
              </a:tblGrid>
              <a:tr h="260582">
                <a:tc>
                  <a:txBody>
                    <a:bodyPr/>
                    <a:lstStyle/>
                    <a:p>
                      <a:pPr algn="r" fontAlgn="b"/>
                      <a:r>
                        <a:rPr lang="en-US" sz="1400" b="1" u="none" strike="noStrike" dirty="0">
                          <a:effectLst/>
                          <a:latin typeface="Arial" panose="020B0604020202020204" pitchFamily="34" charset="0"/>
                          <a:cs typeface="Arial" panose="020B0604020202020204" pitchFamily="34" charset="0"/>
                        </a:rPr>
                        <a:t> </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U.S.</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China</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Japan</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Germany</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Korea</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689085971"/>
                  </a:ext>
                </a:extLst>
              </a:tr>
              <a:tr h="446942">
                <a:tc>
                  <a:txBody>
                    <a:bodyPr/>
                    <a:lstStyle/>
                    <a:p>
                      <a:pPr algn="l" fontAlgn="b"/>
                      <a:r>
                        <a:rPr lang="en-US" sz="1400" b="1" u="none" strike="noStrike" dirty="0">
                          <a:effectLst/>
                          <a:latin typeface="Arial" panose="020B0604020202020204" pitchFamily="34" charset="0"/>
                          <a:cs typeface="Arial" panose="020B0604020202020204" pitchFamily="34" charset="0"/>
                        </a:rPr>
                        <a:t>TOTAL Business R&amp;D (million PPPs dollars)</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327,429 </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289,398 </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121,417 </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69,808 </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   57,153 </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259989183"/>
                  </a:ext>
                </a:extLst>
              </a:tr>
              <a:tr h="446942">
                <a:tc>
                  <a:txBody>
                    <a:bodyPr/>
                    <a:lstStyle/>
                    <a:p>
                      <a:pPr algn="l" fontAlgn="b"/>
                      <a:r>
                        <a:rPr lang="en-US" sz="1400" b="1" u="none" strike="noStrike" dirty="0">
                          <a:effectLst/>
                          <a:latin typeface="Arial" panose="020B0604020202020204" pitchFamily="34" charset="0"/>
                          <a:cs typeface="Arial" panose="020B0604020202020204" pitchFamily="34" charset="0"/>
                        </a:rPr>
                        <a:t>MANUFACTURING</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66%</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89%</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87%</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85%</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90%</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506407915"/>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Food product, beverages, tobacco</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4%</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707815053"/>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Textiles, wearing apparel, leather</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0%</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3%</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0%</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486856414"/>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Wood, paper, printing products</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0%</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0%</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0%</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0%</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025591502"/>
                  </a:ext>
                </a:extLst>
              </a:tr>
              <a:tr h="275478">
                <a:tc>
                  <a:txBody>
                    <a:bodyPr/>
                    <a:lstStyle/>
                    <a:p>
                      <a:pPr algn="l" fontAlgn="t"/>
                      <a:r>
                        <a:rPr lang="en-US" sz="1400" b="1" u="none" strike="noStrike" dirty="0">
                          <a:effectLst/>
                          <a:latin typeface="Arial" panose="020B0604020202020204" pitchFamily="34" charset="0"/>
                          <a:cs typeface="Arial" panose="020B0604020202020204" pitchFamily="34" charset="0"/>
                        </a:rPr>
                        <a:t>    Chemicals and chemical products</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3%</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8%</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6%</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6%</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5%</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91040436"/>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a:t>
                      </a:r>
                      <a:r>
                        <a:rPr lang="en-US" sz="1400" b="1" u="none" strike="noStrike" dirty="0">
                          <a:solidFill>
                            <a:srgbClr val="FF0000"/>
                          </a:solidFill>
                          <a:effectLst/>
                          <a:latin typeface="Arial" panose="020B0604020202020204" pitchFamily="34" charset="0"/>
                          <a:cs typeface="Arial" panose="020B0604020202020204" pitchFamily="34" charset="0"/>
                        </a:rPr>
                        <a:t>Pharmaceuticals</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16%</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4%</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11%</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6%</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3%</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778706539"/>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Basic metals and fabricated metal products</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1%</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11%</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969862503"/>
                  </a:ext>
                </a:extLst>
              </a:tr>
              <a:tr h="252846">
                <a:tc>
                  <a:txBody>
                    <a:bodyPr/>
                    <a:lstStyle/>
                    <a:p>
                      <a:pPr algn="l" fontAlgn="t"/>
                      <a:r>
                        <a:rPr lang="en-US" sz="1400" b="1" u="none" strike="noStrike" dirty="0">
                          <a:effectLst/>
                          <a:latin typeface="Arial" panose="020B0604020202020204" pitchFamily="34" charset="0"/>
                          <a:cs typeface="Arial" panose="020B0604020202020204" pitchFamily="34" charset="0"/>
                        </a:rPr>
                        <a:t>    </a:t>
                      </a:r>
                      <a:r>
                        <a:rPr lang="en-US" sz="1400" b="1" u="none" strike="noStrike" dirty="0">
                          <a:solidFill>
                            <a:srgbClr val="FF0000"/>
                          </a:solidFill>
                          <a:effectLst/>
                          <a:latin typeface="Arial" panose="020B0604020202020204" pitchFamily="34" charset="0"/>
                          <a:cs typeface="Arial" panose="020B0604020202020204" pitchFamily="34" charset="0"/>
                        </a:rPr>
                        <a:t>Computer, electronic, optical products</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20%</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16%</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21%</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12%</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50%</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879747688"/>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Electrical equipment</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dirty="0">
                          <a:effectLst/>
                          <a:latin typeface="Arial" panose="020B0604020202020204" pitchFamily="34" charset="0"/>
                          <a:cs typeface="Arial" panose="020B0604020202020204" pitchFamily="34" charset="0"/>
                        </a:rPr>
                        <a:t>1%</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9%</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3%</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4%</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3%</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678502651"/>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Machinery and equipment, </a:t>
                      </a:r>
                      <a:r>
                        <a:rPr lang="en-US" sz="1400" b="1" u="none" strike="noStrike" dirty="0" err="1">
                          <a:effectLst/>
                          <a:latin typeface="Arial" panose="020B0604020202020204" pitchFamily="34" charset="0"/>
                          <a:cs typeface="Arial" panose="020B0604020202020204" pitchFamily="34" charset="0"/>
                        </a:rPr>
                        <a:t>n.e.c</a:t>
                      </a:r>
                      <a:r>
                        <a:rPr lang="en-US" sz="1400" b="1" u="none" strike="noStrike" dirty="0">
                          <a:effectLst/>
                          <a:latin typeface="Arial" panose="020B0604020202020204" pitchFamily="34" charset="0"/>
                          <a:cs typeface="Arial" panose="020B0604020202020204" pitchFamily="34" charset="0"/>
                        </a:rPr>
                        <a:t>.</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4%</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chemeClr val="tx1"/>
                          </a:solidFill>
                          <a:effectLst/>
                          <a:latin typeface="Arial" panose="020B0604020202020204" pitchFamily="34" charset="0"/>
                          <a:cs typeface="Arial" panose="020B0604020202020204" pitchFamily="34" charset="0"/>
                        </a:rPr>
                        <a:t>11%</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10%</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9%</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6%</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4164636526"/>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Motor vehicles, trailers and semi-trailers</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5%</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8%</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26%</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35%</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13%</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418001311"/>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Other transport equipment (</a:t>
                      </a:r>
                      <a:r>
                        <a:rPr lang="en-US" sz="1400" b="1" u="none" strike="noStrike" dirty="0" err="1">
                          <a:effectLst/>
                          <a:latin typeface="Arial" panose="020B0604020202020204" pitchFamily="34" charset="0"/>
                          <a:cs typeface="Arial" panose="020B0604020202020204" pitchFamily="34" charset="0"/>
                        </a:rPr>
                        <a:t>incld</a:t>
                      </a:r>
                      <a:r>
                        <a:rPr lang="en-US" sz="1400" b="1" u="none" strike="noStrike" dirty="0">
                          <a:effectLst/>
                          <a:latin typeface="Arial" panose="020B0604020202020204" pitchFamily="34" charset="0"/>
                          <a:cs typeface="Arial" panose="020B0604020202020204" pitchFamily="34" charset="0"/>
                        </a:rPr>
                        <a:t>. Aerospace)</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8%</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4%</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3%</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2%</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466774641"/>
                  </a:ext>
                </a:extLst>
              </a:tr>
              <a:tr h="312859">
                <a:tc>
                  <a:txBody>
                    <a:bodyPr/>
                    <a:lstStyle/>
                    <a:p>
                      <a:pPr algn="l" fontAlgn="b"/>
                      <a:r>
                        <a:rPr lang="en-US" sz="1400" b="1" u="none" strike="noStrike" dirty="0">
                          <a:effectLst/>
                          <a:latin typeface="Arial" panose="020B0604020202020204" pitchFamily="34" charset="0"/>
                          <a:cs typeface="Arial" panose="020B0604020202020204" pitchFamily="34" charset="0"/>
                        </a:rPr>
                        <a:t>SERVICES</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32%</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NA</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12%</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14%</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8%</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641961258"/>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Information and communication</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dirty="0">
                          <a:solidFill>
                            <a:srgbClr val="FF0000"/>
                          </a:solidFill>
                          <a:effectLst/>
                          <a:latin typeface="Arial" panose="020B0604020202020204" pitchFamily="34" charset="0"/>
                          <a:cs typeface="Arial" panose="020B0604020202020204" pitchFamily="34" charset="0"/>
                        </a:rPr>
                        <a:t>22%</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NA</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5%</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5%</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4%</a:t>
                      </a:r>
                      <a:endParaRPr lang="en-US" sz="1400" b="1" i="0" u="none" strike="noStrike">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330628090"/>
                  </a:ext>
                </a:extLst>
              </a:tr>
              <a:tr h="223472">
                <a:tc>
                  <a:txBody>
                    <a:bodyPr/>
                    <a:lstStyle/>
                    <a:p>
                      <a:pPr algn="l" fontAlgn="t"/>
                      <a:r>
                        <a:rPr lang="en-US" sz="1400" b="1" u="none" strike="noStrike" dirty="0">
                          <a:effectLst/>
                          <a:latin typeface="Arial" panose="020B0604020202020204" pitchFamily="34" charset="0"/>
                          <a:cs typeface="Arial" panose="020B0604020202020204" pitchFamily="34" charset="0"/>
                        </a:rPr>
                        <a:t>    Professional, scientific &amp; technical activities</a:t>
                      </a:r>
                      <a:endParaRPr lang="en-US" sz="1400" b="1" i="0" u="none" strike="noStrike" dirty="0">
                        <a:effectLst/>
                        <a:latin typeface="Arial" panose="020B0604020202020204" pitchFamily="34" charset="0"/>
                        <a:cs typeface="Arial" panose="020B0604020202020204" pitchFamily="34" charset="0"/>
                      </a:endParaRPr>
                    </a:p>
                  </a:txBody>
                  <a:tcPr marL="0" marR="0" marT="0" marB="0"/>
                </a:tc>
                <a:tc>
                  <a:txBody>
                    <a:bodyPr/>
                    <a:lstStyle/>
                    <a:p>
                      <a:pPr algn="r" fontAlgn="b"/>
                      <a:r>
                        <a:rPr lang="en-US" sz="1400" b="1" u="none" strike="noStrike">
                          <a:effectLst/>
                          <a:latin typeface="Arial" panose="020B0604020202020204" pitchFamily="34" charset="0"/>
                          <a:cs typeface="Arial" panose="020B0604020202020204" pitchFamily="34" charset="0"/>
                        </a:rPr>
                        <a:t>7%</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NA</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a:effectLst/>
                          <a:latin typeface="Arial" panose="020B0604020202020204" pitchFamily="34" charset="0"/>
                          <a:cs typeface="Arial" panose="020B0604020202020204" pitchFamily="34" charset="0"/>
                        </a:rPr>
                        <a:t>6%</a:t>
                      </a:r>
                      <a:endParaRPr lang="en-US" sz="1400" b="1" i="0" u="none" strike="noStrike">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8%</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r" fontAlgn="b"/>
                      <a:r>
                        <a:rPr lang="en-US" sz="1400" b="1" u="none" strike="noStrike" dirty="0">
                          <a:effectLst/>
                          <a:latin typeface="Arial" panose="020B0604020202020204" pitchFamily="34" charset="0"/>
                          <a:cs typeface="Arial" panose="020B0604020202020204" pitchFamily="34" charset="0"/>
                        </a:rPr>
                        <a:t>2%</a:t>
                      </a:r>
                      <a:endParaRPr lang="en-US" sz="1400" b="1" i="0" u="none" strike="noStrike" dirty="0">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043343928"/>
                  </a:ext>
                </a:extLst>
              </a:tr>
            </a:tbl>
          </a:graphicData>
        </a:graphic>
      </p:graphicFrame>
      <p:sp>
        <p:nvSpPr>
          <p:cNvPr id="2" name="Slide Number Placeholder 1">
            <a:extLst>
              <a:ext uri="{FF2B5EF4-FFF2-40B4-BE49-F238E27FC236}">
                <a16:creationId xmlns:a16="http://schemas.microsoft.com/office/drawing/2014/main" id="{20B9EA11-EA7E-4744-8FA3-3FA17508B0D5}"/>
              </a:ext>
            </a:extLst>
          </p:cNvPr>
          <p:cNvSpPr>
            <a:spLocks noGrp="1"/>
          </p:cNvSpPr>
          <p:nvPr>
            <p:ph type="sldNum" sz="quarter" idx="12"/>
          </p:nvPr>
        </p:nvSpPr>
        <p:spPr/>
        <p:txBody>
          <a:bodyPr/>
          <a:lstStyle/>
          <a:p>
            <a:fld id="{1B835D90-6387-4175-8905-3408BA5A358B}" type="slidenum">
              <a:rPr lang="en-US" altLang="en-US" smtClean="0"/>
              <a:pPr/>
              <a:t>23</a:t>
            </a:fld>
            <a:endParaRPr lang="en-US" altLang="en-US"/>
          </a:p>
        </p:txBody>
      </p:sp>
    </p:spTree>
    <p:extLst>
      <p:ext uri="{BB962C8B-B14F-4D97-AF65-F5344CB8AC3E}">
        <p14:creationId xmlns:p14="http://schemas.microsoft.com/office/powerpoint/2010/main" val="355823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152400" y="838200"/>
            <a:ext cx="8839200" cy="952500"/>
          </a:xfrm>
        </p:spPr>
        <p:txBody>
          <a:bodyPr/>
          <a:lstStyle/>
          <a:p>
            <a:pPr eaLnBrk="1" hangingPunct="1"/>
            <a:r>
              <a:rPr lang="en-US" altLang="en-US" sz="3200" b="1" dirty="0">
                <a:latin typeface="Arial" panose="020B0604020202020204" pitchFamily="34" charset="0"/>
              </a:rPr>
              <a:t>Country Comparisons of Type of R&amp;D: 2015</a:t>
            </a:r>
            <a:br>
              <a:rPr lang="en-US" altLang="en-US" sz="3200" b="1" dirty="0">
                <a:latin typeface="Arial" panose="020B0604020202020204" pitchFamily="34" charset="0"/>
              </a:rPr>
            </a:br>
            <a:endParaRPr lang="en-US" altLang="en-US" sz="3200" b="1" dirty="0">
              <a:latin typeface="Arial" panose="020B0604020202020204" pitchFamily="34" charset="0"/>
            </a:endParaRP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5B50D0DE-10EB-4CED-A764-9B543CD9DAE9}"/>
              </a:ext>
            </a:extLst>
          </p:cNvPr>
          <p:cNvGraphicFramePr>
            <a:graphicFrameLocks noGrp="1"/>
          </p:cNvGraphicFramePr>
          <p:nvPr>
            <p:extLst>
              <p:ext uri="{D42A27DB-BD31-4B8C-83A1-F6EECF244321}">
                <p14:modId xmlns:p14="http://schemas.microsoft.com/office/powerpoint/2010/main" val="3353109645"/>
              </p:ext>
            </p:extLst>
          </p:nvPr>
        </p:nvGraphicFramePr>
        <p:xfrm>
          <a:off x="2209800" y="1357237"/>
          <a:ext cx="4876800" cy="5183973"/>
        </p:xfrm>
        <a:graphic>
          <a:graphicData uri="http://schemas.openxmlformats.org/drawingml/2006/table">
            <a:tbl>
              <a:tblPr>
                <a:tableStyleId>{5C22544A-7EE6-4342-B048-85BDC9FD1C3A}</a:tableStyleId>
              </a:tblPr>
              <a:tblGrid>
                <a:gridCol w="1256167">
                  <a:extLst>
                    <a:ext uri="{9D8B030D-6E8A-4147-A177-3AD203B41FA5}">
                      <a16:colId xmlns:a16="http://schemas.microsoft.com/office/drawing/2014/main" val="2447078522"/>
                    </a:ext>
                  </a:extLst>
                </a:gridCol>
                <a:gridCol w="267833">
                  <a:extLst>
                    <a:ext uri="{9D8B030D-6E8A-4147-A177-3AD203B41FA5}">
                      <a16:colId xmlns:a16="http://schemas.microsoft.com/office/drawing/2014/main" val="1801161002"/>
                    </a:ext>
                  </a:extLst>
                </a:gridCol>
                <a:gridCol w="549285">
                  <a:extLst>
                    <a:ext uri="{9D8B030D-6E8A-4147-A177-3AD203B41FA5}">
                      <a16:colId xmlns:a16="http://schemas.microsoft.com/office/drawing/2014/main" val="455207420"/>
                    </a:ext>
                  </a:extLst>
                </a:gridCol>
                <a:gridCol w="795776">
                  <a:extLst>
                    <a:ext uri="{9D8B030D-6E8A-4147-A177-3AD203B41FA5}">
                      <a16:colId xmlns:a16="http://schemas.microsoft.com/office/drawing/2014/main" val="3637836241"/>
                    </a:ext>
                  </a:extLst>
                </a:gridCol>
                <a:gridCol w="743944">
                  <a:extLst>
                    <a:ext uri="{9D8B030D-6E8A-4147-A177-3AD203B41FA5}">
                      <a16:colId xmlns:a16="http://schemas.microsoft.com/office/drawing/2014/main" val="4027955917"/>
                    </a:ext>
                  </a:extLst>
                </a:gridCol>
                <a:gridCol w="719552">
                  <a:extLst>
                    <a:ext uri="{9D8B030D-6E8A-4147-A177-3AD203B41FA5}">
                      <a16:colId xmlns:a16="http://schemas.microsoft.com/office/drawing/2014/main" val="102322687"/>
                    </a:ext>
                  </a:extLst>
                </a:gridCol>
                <a:gridCol w="544243">
                  <a:extLst>
                    <a:ext uri="{9D8B030D-6E8A-4147-A177-3AD203B41FA5}">
                      <a16:colId xmlns:a16="http://schemas.microsoft.com/office/drawing/2014/main" val="2801720677"/>
                    </a:ext>
                  </a:extLst>
                </a:gridCol>
              </a:tblGrid>
              <a:tr h="579116">
                <a:tc>
                  <a:txBody>
                    <a:bodyPr/>
                    <a:lstStyle/>
                    <a:p>
                      <a:pPr algn="l" fontAlgn="b"/>
                      <a:r>
                        <a:rPr lang="en-US" sz="1300" b="1" u="none" strike="noStrike" dirty="0">
                          <a:effectLst/>
                          <a:latin typeface="Arial" panose="020B0604020202020204" pitchFamily="34" charset="0"/>
                          <a:cs typeface="Arial" panose="020B0604020202020204" pitchFamily="34" charset="0"/>
                        </a:rPr>
                        <a:t>Country</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gridSpan="2">
                  <a:txBody>
                    <a:bodyPr/>
                    <a:lstStyle/>
                    <a:p>
                      <a:pPr algn="r" fontAlgn="b"/>
                      <a:r>
                        <a:rPr lang="en-US" sz="1300" b="1" u="none" strike="noStrike" dirty="0">
                          <a:effectLst/>
                          <a:latin typeface="Arial" panose="020B0604020202020204" pitchFamily="34" charset="0"/>
                          <a:cs typeface="Arial" panose="020B0604020202020204" pitchFamily="34" charset="0"/>
                        </a:rPr>
                        <a:t>Total R&amp;D</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Basic research</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Applied research</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 Develop-</a:t>
                      </a:r>
                      <a:r>
                        <a:rPr lang="en-US" sz="1300" b="1" u="none" strike="noStrike" dirty="0" err="1">
                          <a:effectLst/>
                          <a:latin typeface="Arial" panose="020B0604020202020204" pitchFamily="34" charset="0"/>
                          <a:cs typeface="Arial" panose="020B0604020202020204" pitchFamily="34" charset="0"/>
                        </a:rPr>
                        <a:t>ment</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Other </a:t>
                      </a:r>
                      <a:r>
                        <a:rPr lang="en-US" sz="1300" b="1" u="none" strike="noStrike" dirty="0" err="1">
                          <a:effectLst/>
                          <a:latin typeface="Arial" panose="020B0604020202020204" pitchFamily="34" charset="0"/>
                          <a:cs typeface="Arial" panose="020B0604020202020204" pitchFamily="34" charset="0"/>
                        </a:rPr>
                        <a:t>nec</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47112487"/>
                  </a:ext>
                </a:extLst>
              </a:tr>
              <a:tr h="172478">
                <a:tc gridSpan="7">
                  <a:txBody>
                    <a:bodyPr/>
                    <a:lstStyle/>
                    <a:p>
                      <a:pPr algn="ctr" fontAlgn="b"/>
                      <a:r>
                        <a:rPr lang="en-US" sz="1100" b="1" i="0" u="none" strike="noStrike" dirty="0">
                          <a:solidFill>
                            <a:srgbClr val="000000"/>
                          </a:solidFill>
                          <a:effectLst/>
                          <a:latin typeface="Arial" panose="020B0604020202020204" pitchFamily="34" charset="0"/>
                          <a:cs typeface="Arial" panose="020B0604020202020204" pitchFamily="34" charset="0"/>
                        </a:rPr>
                        <a:t>(Billions of PPP dollars)</a:t>
                      </a: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5354908"/>
                  </a:ext>
                </a:extLst>
              </a:tr>
              <a:tr h="350433">
                <a:tc gridSpan="2">
                  <a:txBody>
                    <a:bodyPr/>
                    <a:lstStyle/>
                    <a:p>
                      <a:pPr algn="l" fontAlgn="b"/>
                      <a:r>
                        <a:rPr lang="en-US" sz="1300" b="1" u="none" strike="noStrike" dirty="0">
                          <a:effectLst/>
                          <a:latin typeface="Arial" panose="020B0604020202020204" pitchFamily="34" charset="0"/>
                          <a:cs typeface="Arial" panose="020B0604020202020204" pitchFamily="34" charset="0"/>
                        </a:rPr>
                        <a:t>United States</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dirty="0">
                          <a:effectLst/>
                          <a:latin typeface="Arial" panose="020B0604020202020204" pitchFamily="34" charset="0"/>
                          <a:cs typeface="Arial" panose="020B0604020202020204" pitchFamily="34" charset="0"/>
                        </a:rPr>
                        <a:t>496.6</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496.6</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83.9</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97.3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315.3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79873320"/>
                  </a:ext>
                </a:extLst>
              </a:tr>
              <a:tr h="296283">
                <a:tc gridSpan="2">
                  <a:txBody>
                    <a:bodyPr/>
                    <a:lstStyle/>
                    <a:p>
                      <a:pPr algn="l" fontAlgn="b"/>
                      <a:r>
                        <a:rPr lang="en-US" sz="1300" b="1" u="none" strike="noStrike" dirty="0">
                          <a:effectLst/>
                          <a:latin typeface="Arial" panose="020B0604020202020204" pitchFamily="34" charset="0"/>
                          <a:cs typeface="Arial" panose="020B0604020202020204" pitchFamily="34" charset="0"/>
                        </a:rPr>
                        <a:t>China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408.8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408.8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20.8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44.2</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344.2</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75478260"/>
                  </a:ext>
                </a:extLst>
              </a:tr>
              <a:tr h="254114">
                <a:tc gridSpan="2">
                  <a:txBody>
                    <a:bodyPr/>
                    <a:lstStyle/>
                    <a:p>
                      <a:pPr algn="l" fontAlgn="b"/>
                      <a:r>
                        <a:rPr lang="en-US" sz="1300" b="1" u="none" strike="noStrike" dirty="0">
                          <a:effectLst/>
                          <a:latin typeface="Arial" panose="020B0604020202020204" pitchFamily="34" charset="0"/>
                          <a:cs typeface="Arial" panose="020B0604020202020204" pitchFamily="34" charset="0"/>
                        </a:rPr>
                        <a:t>Japan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dirty="0">
                          <a:effectLst/>
                          <a:latin typeface="Arial" panose="020B0604020202020204" pitchFamily="34" charset="0"/>
                          <a:cs typeface="Arial" panose="020B0604020202020204" pitchFamily="34" charset="0"/>
                        </a:rPr>
                        <a:t>170.0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170.0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20.2</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33.8</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108.3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7.7</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92927045"/>
                  </a:ext>
                </a:extLst>
              </a:tr>
              <a:tr h="237117">
                <a:tc gridSpan="2">
                  <a:txBody>
                    <a:bodyPr/>
                    <a:lstStyle/>
                    <a:p>
                      <a:pPr algn="l" fontAlgn="b"/>
                      <a:r>
                        <a:rPr lang="en-US" sz="1300" b="1" u="none" strike="noStrike" dirty="0">
                          <a:effectLst/>
                          <a:latin typeface="Arial" panose="020B0604020202020204" pitchFamily="34" charset="0"/>
                          <a:cs typeface="Arial" panose="020B0604020202020204" pitchFamily="34" charset="0"/>
                        </a:rPr>
                        <a:t>Germany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114.8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114.8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NA</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NA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NA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NA</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800808037"/>
                  </a:ext>
                </a:extLst>
              </a:tr>
              <a:tr h="263854">
                <a:tc gridSpan="2">
                  <a:txBody>
                    <a:bodyPr/>
                    <a:lstStyle/>
                    <a:p>
                      <a:pPr algn="l" fontAlgn="b"/>
                      <a:r>
                        <a:rPr lang="en-US" sz="1300" b="1" u="none" strike="noStrike" dirty="0">
                          <a:effectLst/>
                          <a:latin typeface="Arial" panose="020B0604020202020204" pitchFamily="34" charset="0"/>
                          <a:cs typeface="Arial" panose="020B0604020202020204" pitchFamily="34" charset="0"/>
                        </a:rPr>
                        <a:t>South Korea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74.1</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74.1</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12.7</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15.4</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45.9</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0.0</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9024178"/>
                  </a:ext>
                </a:extLst>
              </a:tr>
              <a:tr h="199128">
                <a:tc gridSpan="2">
                  <a:txBody>
                    <a:bodyPr/>
                    <a:lstStyle/>
                    <a:p>
                      <a:pPr algn="l" fontAlgn="b"/>
                      <a:r>
                        <a:rPr lang="en-US" sz="1300" b="1" u="none" strike="noStrike" dirty="0">
                          <a:effectLst/>
                          <a:latin typeface="Arial" panose="020B0604020202020204" pitchFamily="34" charset="0"/>
                          <a:cs typeface="Arial" panose="020B0604020202020204" pitchFamily="34" charset="0"/>
                        </a:rPr>
                        <a:t>France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60.8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60.8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14.8</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22.9</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21.1</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2.0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441118660"/>
                  </a:ext>
                </a:extLst>
              </a:tr>
              <a:tr h="278067">
                <a:tc gridSpan="2">
                  <a:txBody>
                    <a:bodyPr/>
                    <a:lstStyle/>
                    <a:p>
                      <a:pPr algn="l" fontAlgn="b"/>
                      <a:r>
                        <a:rPr lang="en-US" sz="1300" b="1" u="none" strike="noStrike" dirty="0">
                          <a:effectLst/>
                          <a:latin typeface="Arial" panose="020B0604020202020204" pitchFamily="34" charset="0"/>
                          <a:cs typeface="Arial" panose="020B0604020202020204" pitchFamily="34" charset="0"/>
                        </a:rPr>
                        <a:t>India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dirty="0">
                          <a:effectLst/>
                          <a:latin typeface="Arial" panose="020B0604020202020204" pitchFamily="34" charset="0"/>
                          <a:cs typeface="Arial" panose="020B0604020202020204" pitchFamily="34" charset="0"/>
                        </a:rPr>
                        <a:t>50.3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50.3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8.0</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11.2</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11.8</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19.3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092843614"/>
                  </a:ext>
                </a:extLst>
              </a:tr>
              <a:tr h="237117">
                <a:tc gridSpan="2">
                  <a:txBody>
                    <a:bodyPr/>
                    <a:lstStyle/>
                    <a:p>
                      <a:pPr algn="l" fontAlgn="b"/>
                      <a:r>
                        <a:rPr lang="en-US" sz="1300" b="1" u="none" strike="noStrike" dirty="0">
                          <a:effectLst/>
                          <a:latin typeface="Arial" panose="020B0604020202020204" pitchFamily="34" charset="0"/>
                          <a:cs typeface="Arial" panose="020B0604020202020204" pitchFamily="34" charset="0"/>
                        </a:rPr>
                        <a:t>United Kingdom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46.3</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46.3</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7.8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20.0</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18.4</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170066971"/>
                  </a:ext>
                </a:extLst>
              </a:tr>
              <a:tr h="263854">
                <a:tc gridSpan="2">
                  <a:txBody>
                    <a:bodyPr/>
                    <a:lstStyle/>
                    <a:p>
                      <a:pPr algn="l" fontAlgn="b"/>
                      <a:endParaRPr lang="en-US" sz="1300" b="1" i="0" u="none" strike="noStrike">
                        <a:effectLst/>
                        <a:latin typeface="Arial" panose="020B0604020202020204" pitchFamily="34" charset="0"/>
                        <a:cs typeface="Arial" panose="020B0604020202020204" pitchFamily="34" charset="0"/>
                      </a:endParaRPr>
                    </a:p>
                  </a:txBody>
                  <a:tcPr marL="9525" marR="9525" marT="9525" marB="0" anchor="b"/>
                </a:tc>
                <a:tc hMerge="1">
                  <a:txBody>
                    <a:bodyPr/>
                    <a:lstStyle/>
                    <a:p>
                      <a:pPr algn="l"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gridSpan="4">
                  <a:txBody>
                    <a:bodyPr/>
                    <a:lstStyle/>
                    <a:p>
                      <a:pPr algn="ctr" fontAlgn="b"/>
                      <a:r>
                        <a:rPr lang="en-US" sz="1300" b="1" u="none" strike="noStrike" dirty="0">
                          <a:effectLst/>
                          <a:latin typeface="Arial" panose="020B0604020202020204" pitchFamily="34" charset="0"/>
                          <a:cs typeface="Arial" panose="020B0604020202020204" pitchFamily="34" charset="0"/>
                        </a:rPr>
                        <a:t>Share of total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18451552"/>
                  </a:ext>
                </a:extLst>
              </a:tr>
              <a:tr h="199128">
                <a:tc gridSpan="2">
                  <a:txBody>
                    <a:bodyPr/>
                    <a:lstStyle/>
                    <a:p>
                      <a:pPr algn="l" fontAlgn="b"/>
                      <a:r>
                        <a:rPr lang="en-US" sz="1300" b="1" u="none" strike="noStrike" dirty="0">
                          <a:effectLst/>
                          <a:latin typeface="Arial" panose="020B0604020202020204" pitchFamily="34" charset="0"/>
                          <a:cs typeface="Arial" panose="020B0604020202020204" pitchFamily="34" charset="0"/>
                        </a:rPr>
                        <a:t>United States</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16.9</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19.6</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63.5</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741334882"/>
                  </a:ext>
                </a:extLst>
              </a:tr>
              <a:tr h="253048">
                <a:tc gridSpan="2">
                  <a:txBody>
                    <a:bodyPr/>
                    <a:lstStyle/>
                    <a:p>
                      <a:pPr algn="l" fontAlgn="b"/>
                      <a:r>
                        <a:rPr lang="en-US" sz="1300" b="1" u="none" strike="noStrike" dirty="0">
                          <a:effectLst/>
                          <a:latin typeface="Arial" panose="020B0604020202020204" pitchFamily="34" charset="0"/>
                          <a:cs typeface="Arial" panose="020B0604020202020204" pitchFamily="34" charset="0"/>
                        </a:rPr>
                        <a:t>China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5.1</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10.8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84.2</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317959283"/>
                  </a:ext>
                </a:extLst>
              </a:tr>
              <a:tr h="263727">
                <a:tc gridSpan="2">
                  <a:txBody>
                    <a:bodyPr/>
                    <a:lstStyle/>
                    <a:p>
                      <a:pPr algn="l" fontAlgn="b"/>
                      <a:r>
                        <a:rPr lang="en-US" sz="1300" b="1" u="none" strike="noStrike" dirty="0">
                          <a:effectLst/>
                          <a:latin typeface="Arial" panose="020B0604020202020204" pitchFamily="34" charset="0"/>
                          <a:cs typeface="Arial" panose="020B0604020202020204" pitchFamily="34" charset="0"/>
                        </a:rPr>
                        <a:t>Japan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11.9</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19.9</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63.7</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4.5</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647693751"/>
                  </a:ext>
                </a:extLst>
              </a:tr>
              <a:tr h="161777">
                <a:tc gridSpan="2">
                  <a:txBody>
                    <a:bodyPr/>
                    <a:lstStyle/>
                    <a:p>
                      <a:pPr algn="l" fontAlgn="b"/>
                      <a:r>
                        <a:rPr lang="en-US" sz="1300" b="1" u="none" strike="noStrike" dirty="0">
                          <a:effectLst/>
                          <a:latin typeface="Arial" panose="020B0604020202020204" pitchFamily="34" charset="0"/>
                          <a:cs typeface="Arial" panose="020B0604020202020204" pitchFamily="34" charset="0"/>
                        </a:rPr>
                        <a:t>Germany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NA</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NA</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NA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NA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383342304"/>
                  </a:ext>
                </a:extLst>
              </a:tr>
              <a:tr h="316875">
                <a:tc gridSpan="2">
                  <a:txBody>
                    <a:bodyPr/>
                    <a:lstStyle/>
                    <a:p>
                      <a:pPr algn="l" fontAlgn="b"/>
                      <a:r>
                        <a:rPr lang="en-US" sz="1300" b="1" u="none" strike="noStrike" dirty="0">
                          <a:effectLst/>
                          <a:latin typeface="Arial" panose="020B0604020202020204" pitchFamily="34" charset="0"/>
                          <a:cs typeface="Arial" panose="020B0604020202020204" pitchFamily="34" charset="0"/>
                        </a:rPr>
                        <a:t>South Korea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17.2</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20.8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61.9</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943304458"/>
                  </a:ext>
                </a:extLst>
              </a:tr>
              <a:tr h="249028">
                <a:tc gridSpan="2">
                  <a:txBody>
                    <a:bodyPr/>
                    <a:lstStyle/>
                    <a:p>
                      <a:pPr algn="l" fontAlgn="b"/>
                      <a:r>
                        <a:rPr lang="en-US" sz="1300" b="1" u="none" strike="noStrike" dirty="0">
                          <a:effectLst/>
                          <a:latin typeface="Arial" panose="020B0604020202020204" pitchFamily="34" charset="0"/>
                          <a:cs typeface="Arial" panose="020B0604020202020204" pitchFamily="34" charset="0"/>
                        </a:rPr>
                        <a:t>France</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24.4</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37.6</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34.7</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3.3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33790224"/>
                  </a:ext>
                </a:extLst>
              </a:tr>
              <a:tr h="308826">
                <a:tc gridSpan="2">
                  <a:txBody>
                    <a:bodyPr/>
                    <a:lstStyle/>
                    <a:p>
                      <a:pPr algn="l" fontAlgn="b"/>
                      <a:r>
                        <a:rPr lang="en-US" sz="1300" b="1" u="none" strike="noStrike" dirty="0">
                          <a:effectLst/>
                          <a:latin typeface="Arial" panose="020B0604020202020204" pitchFamily="34" charset="0"/>
                          <a:cs typeface="Arial" panose="020B0604020202020204" pitchFamily="34" charset="0"/>
                        </a:rPr>
                        <a:t>India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16.0</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22.3</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23.5</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38.3</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079647711"/>
                  </a:ext>
                </a:extLst>
              </a:tr>
              <a:tr h="166321">
                <a:tc gridSpan="2">
                  <a:txBody>
                    <a:bodyPr/>
                    <a:lstStyle/>
                    <a:p>
                      <a:pPr algn="l" fontAlgn="b"/>
                      <a:r>
                        <a:rPr lang="en-US" sz="1300" b="1" u="none" strike="noStrike" dirty="0">
                          <a:effectLst/>
                          <a:latin typeface="Arial" panose="020B0604020202020204" pitchFamily="34" charset="0"/>
                          <a:cs typeface="Arial" panose="020B0604020202020204" pitchFamily="34" charset="0"/>
                        </a:rPr>
                        <a:t>United Kingdom</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hMerge="1">
                  <a:txBody>
                    <a:bodyPr/>
                    <a:lstStyle/>
                    <a:p>
                      <a:pPr algn="r" fontAlgn="b"/>
                      <a:r>
                        <a:rPr lang="en-US" sz="1300" b="1" u="none" strike="noStrike">
                          <a:effectLst/>
                          <a:latin typeface="Arial" panose="020B0604020202020204" pitchFamily="34" charset="0"/>
                          <a:cs typeface="Arial" panose="020B0604020202020204" pitchFamily="34" charset="0"/>
                        </a:rPr>
                        <a:t> </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 </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solidFill>
                            <a:srgbClr val="FF0000"/>
                          </a:solidFill>
                          <a:effectLst/>
                          <a:latin typeface="Arial" panose="020B0604020202020204" pitchFamily="34" charset="0"/>
                          <a:cs typeface="Arial" panose="020B0604020202020204" pitchFamily="34" charset="0"/>
                        </a:rPr>
                        <a:t>16.9</a:t>
                      </a:r>
                      <a:endParaRPr lang="en-US" sz="13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43.3</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a:effectLst/>
                          <a:latin typeface="Arial" panose="020B0604020202020204" pitchFamily="34" charset="0"/>
                          <a:cs typeface="Arial" panose="020B0604020202020204" pitchFamily="34" charset="0"/>
                        </a:rPr>
                        <a:t>39.8</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300" b="1" u="none" strike="noStrike" dirty="0">
                          <a:effectLst/>
                          <a:latin typeface="Arial" panose="020B0604020202020204" pitchFamily="34" charset="0"/>
                          <a:cs typeface="Arial" panose="020B0604020202020204" pitchFamily="34" charset="0"/>
                        </a:rPr>
                        <a:t>0.0</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653159715"/>
                  </a:ext>
                </a:extLst>
              </a:tr>
            </a:tbl>
          </a:graphicData>
        </a:graphic>
      </p:graphicFrame>
      <p:sp>
        <p:nvSpPr>
          <p:cNvPr id="8" name="TextBox 7">
            <a:extLst>
              <a:ext uri="{FF2B5EF4-FFF2-40B4-BE49-F238E27FC236}">
                <a16:creationId xmlns:a16="http://schemas.microsoft.com/office/drawing/2014/main" id="{A828714C-6C0E-49C2-9A57-293339F3C580}"/>
              </a:ext>
            </a:extLst>
          </p:cNvPr>
          <p:cNvSpPr txBox="1"/>
          <p:nvPr/>
        </p:nvSpPr>
        <p:spPr>
          <a:xfrm>
            <a:off x="247650" y="6541296"/>
            <a:ext cx="4095750"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Source: OECD, NCSES, Science &amp; Engineering Indicators</a:t>
            </a:r>
          </a:p>
        </p:txBody>
      </p:sp>
      <p:sp>
        <p:nvSpPr>
          <p:cNvPr id="2" name="Slide Number Placeholder 1">
            <a:extLst>
              <a:ext uri="{FF2B5EF4-FFF2-40B4-BE49-F238E27FC236}">
                <a16:creationId xmlns:a16="http://schemas.microsoft.com/office/drawing/2014/main" id="{76454DAF-CE57-4D21-A218-782761068124}"/>
              </a:ext>
            </a:extLst>
          </p:cNvPr>
          <p:cNvSpPr>
            <a:spLocks noGrp="1"/>
          </p:cNvSpPr>
          <p:nvPr>
            <p:ph type="sldNum" sz="quarter" idx="12"/>
          </p:nvPr>
        </p:nvSpPr>
        <p:spPr/>
        <p:txBody>
          <a:bodyPr/>
          <a:lstStyle/>
          <a:p>
            <a:fld id="{1B835D90-6387-4175-8905-3408BA5A358B}" type="slidenum">
              <a:rPr lang="en-US" altLang="en-US" smtClean="0"/>
              <a:pPr/>
              <a:t>24</a:t>
            </a:fld>
            <a:endParaRPr lang="en-US" altLang="en-US"/>
          </a:p>
        </p:txBody>
      </p:sp>
    </p:spTree>
    <p:extLst>
      <p:ext uri="{BB962C8B-B14F-4D97-AF65-F5344CB8AC3E}">
        <p14:creationId xmlns:p14="http://schemas.microsoft.com/office/powerpoint/2010/main" val="4128493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1143000" y="1142240"/>
            <a:ext cx="6693714" cy="416426"/>
          </a:xfrm>
        </p:spPr>
        <p:txBody>
          <a:bodyPr/>
          <a:lstStyle/>
          <a:p>
            <a:pPr eaLnBrk="1" hangingPunct="1"/>
            <a:r>
              <a:rPr lang="en-US" altLang="en-US" sz="3200" b="1" dirty="0">
                <a:latin typeface="Arial" panose="020B0604020202020204" pitchFamily="34" charset="0"/>
              </a:rPr>
              <a:t>Snapshot of the Global R&amp;D Landscape </a:t>
            </a:r>
            <a:r>
              <a:rPr lang="en-US" altLang="en-US" sz="2000" b="1" dirty="0">
                <a:latin typeface="Arial" panose="020B0604020202020204" pitchFamily="34" charset="0"/>
              </a:rPr>
              <a:t>(circa 2015)</a:t>
            </a:r>
          </a:p>
        </p:txBody>
      </p:sp>
      <p:sp>
        <p:nvSpPr>
          <p:cNvPr id="2" name="Rectangle 1">
            <a:extLst>
              <a:ext uri="{FF2B5EF4-FFF2-40B4-BE49-F238E27FC236}">
                <a16:creationId xmlns:a16="http://schemas.microsoft.com/office/drawing/2014/main" id="{292F8B65-B3EB-4F1A-9FD7-41CC4FADD7E3}"/>
              </a:ext>
            </a:extLst>
          </p:cNvPr>
          <p:cNvSpPr/>
          <p:nvPr/>
        </p:nvSpPr>
        <p:spPr>
          <a:xfrm>
            <a:off x="1068978" y="1752720"/>
            <a:ext cx="881019" cy="461665"/>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R&amp;D as a </a:t>
            </a:r>
          </a:p>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percentage of GDP</a:t>
            </a:r>
          </a:p>
        </p:txBody>
      </p:sp>
      <p:sp>
        <p:nvSpPr>
          <p:cNvPr id="34" name="Flowchart: Connector 33">
            <a:extLst>
              <a:ext uri="{FF2B5EF4-FFF2-40B4-BE49-F238E27FC236}">
                <a16:creationId xmlns:a16="http://schemas.microsoft.com/office/drawing/2014/main" id="{45D563E7-83BA-4E94-A6F7-E95153C7F52D}"/>
              </a:ext>
            </a:extLst>
          </p:cNvPr>
          <p:cNvSpPr>
            <a:spLocks noChangeAspect="1"/>
          </p:cNvSpPr>
          <p:nvPr/>
        </p:nvSpPr>
        <p:spPr bwMode="auto">
          <a:xfrm>
            <a:off x="5449775" y="873445"/>
            <a:ext cx="45719" cy="45719"/>
          </a:xfrm>
          <a:prstGeom prst="flowChartConnector">
            <a:avLst/>
          </a:prstGeom>
          <a:solidFill>
            <a:srgbClr val="006BB6"/>
          </a:solidFill>
          <a:ln w="6350"/>
        </p:spPr>
        <p:style>
          <a:lnRef idx="2">
            <a:schemeClr val="accent1">
              <a:shade val="50000"/>
            </a:schemeClr>
          </a:lnRef>
          <a:fillRef idx="1">
            <a:schemeClr val="accent1"/>
          </a:fillRef>
          <a:effectRef idx="0">
            <a:schemeClr val="accent1"/>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a:p>
        </p:txBody>
      </p:sp>
      <p:sp>
        <p:nvSpPr>
          <p:cNvPr id="35" name="Flowchart: Connector 34">
            <a:extLst>
              <a:ext uri="{FF2B5EF4-FFF2-40B4-BE49-F238E27FC236}">
                <a16:creationId xmlns:a16="http://schemas.microsoft.com/office/drawing/2014/main" id="{E45635D7-9917-44EE-BCE5-71F347BE806C}"/>
              </a:ext>
            </a:extLst>
          </p:cNvPr>
          <p:cNvSpPr>
            <a:spLocks noChangeAspect="1"/>
          </p:cNvSpPr>
          <p:nvPr/>
        </p:nvSpPr>
        <p:spPr bwMode="auto">
          <a:xfrm>
            <a:off x="5449774" y="749619"/>
            <a:ext cx="45719" cy="45720"/>
          </a:xfrm>
          <a:prstGeom prst="flowChartConnector">
            <a:avLst/>
          </a:prstGeom>
          <a:solidFill>
            <a:srgbClr val="DE1920"/>
          </a:solidFill>
          <a:ln w="6350"/>
        </p:spPr>
        <p:style>
          <a:lnRef idx="2">
            <a:schemeClr val="accent1">
              <a:shade val="50000"/>
            </a:schemeClr>
          </a:lnRef>
          <a:fillRef idx="1">
            <a:schemeClr val="accent1"/>
          </a:fillRef>
          <a:effectRef idx="0">
            <a:schemeClr val="accent1"/>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a:p>
        </p:txBody>
      </p:sp>
      <p:sp>
        <p:nvSpPr>
          <p:cNvPr id="19" name="Rectangle 18">
            <a:extLst>
              <a:ext uri="{FF2B5EF4-FFF2-40B4-BE49-F238E27FC236}">
                <a16:creationId xmlns:a16="http://schemas.microsoft.com/office/drawing/2014/main" id="{C594B21F-20AF-42D8-8359-4920B323F3B3}"/>
              </a:ext>
            </a:extLst>
          </p:cNvPr>
          <p:cNvSpPr/>
          <p:nvPr/>
        </p:nvSpPr>
        <p:spPr>
          <a:xfrm>
            <a:off x="3810000" y="6485119"/>
            <a:ext cx="259080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Researchers, per thousand employment </a:t>
            </a:r>
          </a:p>
        </p:txBody>
      </p:sp>
      <p:sp>
        <p:nvSpPr>
          <p:cNvPr id="26" name="TextBox 2">
            <a:extLst>
              <a:ext uri="{FF2B5EF4-FFF2-40B4-BE49-F238E27FC236}">
                <a16:creationId xmlns:a16="http://schemas.microsoft.com/office/drawing/2014/main" id="{6D498438-0678-4CEB-8D1D-A5E30386E124}"/>
              </a:ext>
            </a:extLst>
          </p:cNvPr>
          <p:cNvSpPr txBox="1">
            <a:spLocks noChangeAspect="1"/>
          </p:cNvSpPr>
          <p:nvPr/>
        </p:nvSpPr>
        <p:spPr bwMode="auto">
          <a:xfrm>
            <a:off x="7565659" y="2362200"/>
            <a:ext cx="1555150" cy="2038764"/>
          </a:xfrm>
          <a:prstGeom prst="rect">
            <a:avLst/>
          </a:prstGeom>
          <a:solidFill>
            <a:schemeClr val="bg1">
              <a:lumMod val="95000"/>
            </a:schemeClr>
          </a:solidFill>
          <a:ln>
            <a:solidFill>
              <a:schemeClr val="bg1">
                <a:lumMod val="50000"/>
              </a:schemeClr>
            </a:solidFill>
          </a:ln>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800" dirty="0">
                <a:latin typeface="Arial Narrow" panose="020B0606020202030204" pitchFamily="34" charset="0"/>
                <a:cs typeface="Arial" pitchFamily="34" charset="0"/>
              </a:rPr>
              <a:t>R&amp;D expenditures in 2010  USD constant prices and PPP	</a:t>
            </a:r>
          </a:p>
          <a:p>
            <a:pPr algn="ctr">
              <a:lnSpc>
                <a:spcPts val="1200"/>
              </a:lnSpc>
            </a:pPr>
            <a:endParaRPr lang="en-US" sz="800" dirty="0">
              <a:latin typeface="Arial Narrow" panose="020B0606020202030204" pitchFamily="34" charset="0"/>
              <a:cs typeface="Arial" pitchFamily="34" charset="0"/>
            </a:endParaRPr>
          </a:p>
          <a:p>
            <a:pPr algn="l">
              <a:lnSpc>
                <a:spcPts val="1200"/>
              </a:lnSpc>
            </a:pPr>
            <a:r>
              <a:rPr lang="en-US" sz="800" dirty="0">
                <a:latin typeface="Arial Narrow" panose="020B0606020202030204" pitchFamily="34" charset="0"/>
                <a:cs typeface="Arial" pitchFamily="34" charset="0"/>
              </a:rPr>
              <a:t>	1</a:t>
            </a:r>
            <a:r>
              <a:rPr lang="en-US" sz="800" baseline="0" dirty="0">
                <a:latin typeface="Arial Narrow" panose="020B0606020202030204" pitchFamily="34" charset="0"/>
                <a:cs typeface="Arial" pitchFamily="34" charset="0"/>
              </a:rPr>
              <a:t> billion</a:t>
            </a:r>
            <a:endParaRPr lang="en-US" sz="800" dirty="0">
              <a:latin typeface="Arial Narrow" panose="020B0606020202030204" pitchFamily="34" charset="0"/>
              <a:cs typeface="Arial" pitchFamily="34" charset="0"/>
            </a:endParaRPr>
          </a:p>
          <a:p>
            <a:r>
              <a:rPr lang="en-US" sz="800" dirty="0">
                <a:latin typeface="Arial Narrow" panose="020B0606020202030204" pitchFamily="34" charset="0"/>
                <a:cs typeface="Arial" pitchFamily="34" charset="0"/>
              </a:rPr>
              <a:t>	</a:t>
            </a:r>
            <a:endParaRPr lang="en-US" sz="800" dirty="0">
              <a:latin typeface="Arial Narrow" panose="020B0606020202030204" pitchFamily="34" charset="0"/>
              <a:ea typeface="+mn-ea"/>
              <a:cs typeface="Arial" pitchFamily="34" charset="0"/>
            </a:endParaRPr>
          </a:p>
          <a:p>
            <a:pPr algn="l"/>
            <a:r>
              <a:rPr lang="en-US" sz="800" dirty="0">
                <a:latin typeface="Arial Narrow" panose="020B0606020202030204" pitchFamily="34" charset="0"/>
                <a:ea typeface="+mn-ea"/>
                <a:cs typeface="Arial" pitchFamily="34" charset="0"/>
              </a:rPr>
              <a:t>	10</a:t>
            </a:r>
            <a:r>
              <a:rPr lang="en-US" sz="800" baseline="0" dirty="0">
                <a:latin typeface="Arial Narrow" panose="020B0606020202030204" pitchFamily="34" charset="0"/>
                <a:ea typeface="+mn-ea"/>
                <a:cs typeface="Arial" pitchFamily="34" charset="0"/>
              </a:rPr>
              <a:t> b</a:t>
            </a:r>
            <a:r>
              <a:rPr lang="en-US" sz="800" dirty="0">
                <a:latin typeface="Arial Narrow" panose="020B0606020202030204" pitchFamily="34" charset="0"/>
                <a:ea typeface="+mn-ea"/>
                <a:cs typeface="Arial" pitchFamily="34" charset="0"/>
              </a:rPr>
              <a:t>illion</a:t>
            </a:r>
          </a:p>
          <a:p>
            <a:pPr>
              <a:lnSpc>
                <a:spcPts val="1000"/>
              </a:lnSpc>
            </a:pPr>
            <a:r>
              <a:rPr lang="en-US" sz="800" dirty="0">
                <a:latin typeface="Arial Narrow" panose="020B0606020202030204" pitchFamily="34" charset="0"/>
                <a:cs typeface="Arial" pitchFamily="34" charset="0"/>
              </a:rPr>
              <a:t>	</a:t>
            </a:r>
          </a:p>
          <a:p>
            <a:pPr>
              <a:lnSpc>
                <a:spcPts val="1200"/>
              </a:lnSpc>
            </a:pPr>
            <a:endParaRPr lang="en-US" sz="800" dirty="0">
              <a:latin typeface="Arial Narrow" panose="020B0606020202030204" pitchFamily="34" charset="0"/>
              <a:ea typeface="+mn-ea"/>
              <a:cs typeface="Arial" pitchFamily="34" charset="0"/>
            </a:endParaRPr>
          </a:p>
          <a:p>
            <a:pPr>
              <a:lnSpc>
                <a:spcPts val="1200"/>
              </a:lnSpc>
            </a:pPr>
            <a:endParaRPr lang="en-US" sz="800" dirty="0">
              <a:latin typeface="Arial Narrow" panose="020B0606020202030204" pitchFamily="34" charset="0"/>
              <a:ea typeface="+mn-ea"/>
              <a:cs typeface="Arial" pitchFamily="34" charset="0"/>
            </a:endParaRPr>
          </a:p>
          <a:p>
            <a:r>
              <a:rPr lang="en-US" sz="800" dirty="0">
                <a:latin typeface="Arial Narrow" panose="020B0606020202030204" pitchFamily="34" charset="0"/>
                <a:ea typeface="+mn-ea"/>
                <a:cs typeface="Arial" pitchFamily="34" charset="0"/>
              </a:rPr>
              <a:t>	   </a:t>
            </a:r>
          </a:p>
          <a:p>
            <a:r>
              <a:rPr lang="en-US" sz="800" dirty="0">
                <a:latin typeface="Arial Narrow" panose="020B0606020202030204" pitchFamily="34" charset="0"/>
                <a:ea typeface="+mn-ea"/>
                <a:cs typeface="Arial" pitchFamily="34" charset="0"/>
              </a:rPr>
              <a:t>	 100 billion</a:t>
            </a:r>
            <a:r>
              <a:rPr lang="en-US" dirty="0">
                <a:ea typeface="+mn-ea"/>
                <a:cs typeface="+mn-cs"/>
              </a:rPr>
              <a:t>	</a:t>
            </a:r>
            <a:endParaRPr lang="en-US" dirty="0"/>
          </a:p>
          <a:p>
            <a:pPr>
              <a:lnSpc>
                <a:spcPts val="1200"/>
              </a:lnSpc>
            </a:pPr>
            <a:r>
              <a:rPr lang="en-US" dirty="0"/>
              <a:t>	</a:t>
            </a:r>
          </a:p>
        </p:txBody>
      </p:sp>
      <p:sp>
        <p:nvSpPr>
          <p:cNvPr id="28" name="Flowchart: Connector 27">
            <a:extLst>
              <a:ext uri="{FF2B5EF4-FFF2-40B4-BE49-F238E27FC236}">
                <a16:creationId xmlns:a16="http://schemas.microsoft.com/office/drawing/2014/main" id="{50F7B8DF-C5C3-4D0D-A20C-BDC539198A38}"/>
              </a:ext>
            </a:extLst>
          </p:cNvPr>
          <p:cNvSpPr>
            <a:spLocks noChangeAspect="1"/>
          </p:cNvSpPr>
          <p:nvPr/>
        </p:nvSpPr>
        <p:spPr bwMode="auto">
          <a:xfrm>
            <a:off x="8189960" y="2854148"/>
            <a:ext cx="66732" cy="61817"/>
          </a:xfrm>
          <a:prstGeom prst="flowChartConnec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a:p>
        </p:txBody>
      </p:sp>
      <p:sp>
        <p:nvSpPr>
          <p:cNvPr id="29" name="Flowchart: Connector 28">
            <a:extLst>
              <a:ext uri="{FF2B5EF4-FFF2-40B4-BE49-F238E27FC236}">
                <a16:creationId xmlns:a16="http://schemas.microsoft.com/office/drawing/2014/main" id="{5D86670A-504B-4C0E-9656-D157244D1293}"/>
              </a:ext>
            </a:extLst>
          </p:cNvPr>
          <p:cNvSpPr>
            <a:spLocks noChangeAspect="1"/>
          </p:cNvSpPr>
          <p:nvPr/>
        </p:nvSpPr>
        <p:spPr bwMode="auto">
          <a:xfrm>
            <a:off x="7902546" y="3523024"/>
            <a:ext cx="650637" cy="692345"/>
          </a:xfrm>
          <a:prstGeom prst="flowChartConnector">
            <a:avLst/>
          </a:prstGeom>
          <a:noFill/>
          <a:ln w="9525">
            <a:solidFill>
              <a:schemeClr val="tx1"/>
            </a:solidFill>
          </a:ln>
        </p:spPr>
        <p:style>
          <a:lnRef idx="2">
            <a:schemeClr val="accent2"/>
          </a:lnRef>
          <a:fillRef idx="1">
            <a:schemeClr val="lt1"/>
          </a:fillRef>
          <a:effectRef idx="0">
            <a:schemeClr val="accent2"/>
          </a:effectRef>
          <a:fontRef idx="minor">
            <a:schemeClr val="dk1"/>
          </a:fontRef>
        </p:style>
        <p:txBody>
          <a:bodyPr wrap="square"/>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GB"/>
          </a:p>
        </p:txBody>
      </p:sp>
      <p:sp>
        <p:nvSpPr>
          <p:cNvPr id="22" name="TextBox 21">
            <a:extLst>
              <a:ext uri="{FF2B5EF4-FFF2-40B4-BE49-F238E27FC236}">
                <a16:creationId xmlns:a16="http://schemas.microsoft.com/office/drawing/2014/main" id="{EA5166CB-2BA1-4547-9169-6E0FA7305A4D}"/>
              </a:ext>
            </a:extLst>
          </p:cNvPr>
          <p:cNvSpPr txBox="1"/>
          <p:nvPr/>
        </p:nvSpPr>
        <p:spPr>
          <a:xfrm>
            <a:off x="217986" y="6485119"/>
            <a:ext cx="1981200" cy="261610"/>
          </a:xfrm>
          <a:prstGeom prst="rect">
            <a:avLst/>
          </a:prstGeom>
          <a:noFill/>
        </p:spPr>
        <p:txBody>
          <a:bodyPr wrap="square" rtlCol="0">
            <a:spAutoFit/>
          </a:bodyPr>
          <a:lstStyle/>
          <a:p>
            <a:r>
              <a:rPr lang="en-US" sz="1100" dirty="0">
                <a:latin typeface="Arial" panose="020B0604020202020204" pitchFamily="34" charset="0"/>
                <a:cs typeface="Arial" panose="020B0604020202020204" pitchFamily="34" charset="0"/>
              </a:rPr>
              <a:t>Source: OECD</a:t>
            </a:r>
          </a:p>
        </p:txBody>
      </p:sp>
      <p:graphicFrame>
        <p:nvGraphicFramePr>
          <p:cNvPr id="24" name="Chart 23">
            <a:extLst>
              <a:ext uri="{FF2B5EF4-FFF2-40B4-BE49-F238E27FC236}">
                <a16:creationId xmlns:a16="http://schemas.microsoft.com/office/drawing/2014/main" id="{2F070686-4613-43DA-8966-F24DCA5A7E36}"/>
              </a:ext>
            </a:extLst>
          </p:cNvPr>
          <p:cNvGraphicFramePr>
            <a:graphicFrameLocks/>
          </p:cNvGraphicFramePr>
          <p:nvPr>
            <p:extLst>
              <p:ext uri="{D42A27DB-BD31-4B8C-83A1-F6EECF244321}">
                <p14:modId xmlns:p14="http://schemas.microsoft.com/office/powerpoint/2010/main" val="1668490073"/>
              </p:ext>
            </p:extLst>
          </p:nvPr>
        </p:nvGraphicFramePr>
        <p:xfrm>
          <a:off x="1708214" y="1983553"/>
          <a:ext cx="5995606" cy="4461893"/>
        </p:xfrm>
        <a:graphic>
          <a:graphicData uri="http://schemas.openxmlformats.org/drawingml/2006/chart">
            <c:chart xmlns:c="http://schemas.openxmlformats.org/drawingml/2006/chart" xmlns:r="http://schemas.openxmlformats.org/officeDocument/2006/relationships" r:id="rId3"/>
          </a:graphicData>
        </a:graphic>
      </p:graphicFrame>
      <p:sp>
        <p:nvSpPr>
          <p:cNvPr id="25" name="Flowchart: Connector 24">
            <a:extLst>
              <a:ext uri="{FF2B5EF4-FFF2-40B4-BE49-F238E27FC236}">
                <a16:creationId xmlns:a16="http://schemas.microsoft.com/office/drawing/2014/main" id="{6AA00B63-A97F-452D-BADA-A654DD6A5598}"/>
              </a:ext>
            </a:extLst>
          </p:cNvPr>
          <p:cNvSpPr>
            <a:spLocks noChangeAspect="1"/>
          </p:cNvSpPr>
          <p:nvPr/>
        </p:nvSpPr>
        <p:spPr bwMode="auto">
          <a:xfrm>
            <a:off x="8130669" y="3070429"/>
            <a:ext cx="183513" cy="177723"/>
          </a:xfrm>
          <a:prstGeom prst="flowChartConnec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a:p>
        </p:txBody>
      </p:sp>
      <p:pic>
        <p:nvPicPr>
          <p:cNvPr id="33" name="Picture 32" descr="nsf2">
            <a:extLst>
              <a:ext uri="{FF2B5EF4-FFF2-40B4-BE49-F238E27FC236}">
                <a16:creationId xmlns:a16="http://schemas.microsoft.com/office/drawing/2014/main" id="{4A6DB8B8-72FB-43E3-B286-0A621675E568}"/>
              </a:ext>
            </a:extLst>
          </p:cNvPr>
          <p:cNvPicPr>
            <a:picLocks noChangeAspect="1" noChangeArrowheads="1"/>
          </p:cNvPicPr>
          <p:nvPr/>
        </p:nvPicPr>
        <p:blipFill>
          <a:blip r:embed="rId4" cstate="print"/>
          <a:srcRect/>
          <a:stretch>
            <a:fillRect/>
          </a:stretch>
        </p:blipFill>
        <p:spPr bwMode="auto">
          <a:xfrm>
            <a:off x="86139" y="72749"/>
            <a:ext cx="533400" cy="530225"/>
          </a:xfrm>
          <a:prstGeom prst="rect">
            <a:avLst/>
          </a:prstGeom>
          <a:noFill/>
          <a:ln w="9525">
            <a:noFill/>
            <a:miter lim="800000"/>
            <a:headEnd/>
            <a:tailEnd/>
          </a:ln>
        </p:spPr>
      </p:pic>
      <p:pic>
        <p:nvPicPr>
          <p:cNvPr id="36" name="Picture 35" descr="NCSES_logo_oneline_150.eps">
            <a:extLst>
              <a:ext uri="{FF2B5EF4-FFF2-40B4-BE49-F238E27FC236}">
                <a16:creationId xmlns:a16="http://schemas.microsoft.com/office/drawing/2014/main" id="{1165DC05-F5B7-451C-A327-A7EA565E6EC8}"/>
              </a:ext>
            </a:extLst>
          </p:cNvPr>
          <p:cNvPicPr>
            <a:picLocks noChangeAspect="1"/>
          </p:cNvPicPr>
          <p:nvPr/>
        </p:nvPicPr>
        <p:blipFill>
          <a:blip r:embed="rId5" cstate="print"/>
          <a:srcRect/>
          <a:stretch>
            <a:fillRect/>
          </a:stretch>
        </p:blipFill>
        <p:spPr bwMode="auto">
          <a:xfrm>
            <a:off x="4124739" y="128312"/>
            <a:ext cx="5029200" cy="474662"/>
          </a:xfrm>
          <a:prstGeom prst="rect">
            <a:avLst/>
          </a:prstGeom>
          <a:noFill/>
          <a:ln w="9525">
            <a:noFill/>
            <a:miter lim="800000"/>
            <a:headEnd/>
            <a:tailEnd/>
          </a:ln>
        </p:spPr>
      </p:pic>
      <p:sp>
        <p:nvSpPr>
          <p:cNvPr id="39" name="Rectangle 1027">
            <a:extLst>
              <a:ext uri="{FF2B5EF4-FFF2-40B4-BE49-F238E27FC236}">
                <a16:creationId xmlns:a16="http://schemas.microsoft.com/office/drawing/2014/main" id="{C23A27B5-F2BC-4F52-9AEF-AEBB713D4DCE}"/>
              </a:ext>
            </a:extLst>
          </p:cNvPr>
          <p:cNvSpPr>
            <a:spLocks noChangeArrowheads="1"/>
          </p:cNvSpPr>
          <p:nvPr/>
        </p:nvSpPr>
        <p:spPr bwMode="auto">
          <a:xfrm>
            <a:off x="9939" y="679174"/>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41" name="Rectangle 40">
            <a:extLst>
              <a:ext uri="{FF2B5EF4-FFF2-40B4-BE49-F238E27FC236}">
                <a16:creationId xmlns:a16="http://schemas.microsoft.com/office/drawing/2014/main" id="{876CEBF2-35F2-4A60-A6A8-98D5FB9FC208}"/>
              </a:ext>
            </a:extLst>
          </p:cNvPr>
          <p:cNvSpPr/>
          <p:nvPr/>
        </p:nvSpPr>
        <p:spPr>
          <a:xfrm>
            <a:off x="3733800" y="3554844"/>
            <a:ext cx="493644"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U.S.</a:t>
            </a:r>
          </a:p>
        </p:txBody>
      </p:sp>
      <p:sp>
        <p:nvSpPr>
          <p:cNvPr id="42" name="Rectangle 41">
            <a:extLst>
              <a:ext uri="{FF2B5EF4-FFF2-40B4-BE49-F238E27FC236}">
                <a16:creationId xmlns:a16="http://schemas.microsoft.com/office/drawing/2014/main" id="{CDE21748-D926-4F75-BC29-C42FDE030CB1}"/>
              </a:ext>
            </a:extLst>
          </p:cNvPr>
          <p:cNvSpPr/>
          <p:nvPr/>
        </p:nvSpPr>
        <p:spPr>
          <a:xfrm>
            <a:off x="2362200" y="4400964"/>
            <a:ext cx="45720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CHN</a:t>
            </a:r>
          </a:p>
        </p:txBody>
      </p:sp>
      <p:sp>
        <p:nvSpPr>
          <p:cNvPr id="43" name="Rectangle 42">
            <a:extLst>
              <a:ext uri="{FF2B5EF4-FFF2-40B4-BE49-F238E27FC236}">
                <a16:creationId xmlns:a16="http://schemas.microsoft.com/office/drawing/2014/main" id="{F97A3F9D-D451-4D59-BC3A-56A44890CF45}"/>
              </a:ext>
            </a:extLst>
          </p:cNvPr>
          <p:cNvSpPr/>
          <p:nvPr/>
        </p:nvSpPr>
        <p:spPr>
          <a:xfrm>
            <a:off x="4519674" y="3307580"/>
            <a:ext cx="567896"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JPN</a:t>
            </a:r>
          </a:p>
        </p:txBody>
      </p:sp>
      <p:sp>
        <p:nvSpPr>
          <p:cNvPr id="44" name="Rectangle 43">
            <a:extLst>
              <a:ext uri="{FF2B5EF4-FFF2-40B4-BE49-F238E27FC236}">
                <a16:creationId xmlns:a16="http://schemas.microsoft.com/office/drawing/2014/main" id="{9C62AA24-6840-4648-830D-D855BD3B6D80}"/>
              </a:ext>
            </a:extLst>
          </p:cNvPr>
          <p:cNvSpPr/>
          <p:nvPr/>
        </p:nvSpPr>
        <p:spPr>
          <a:xfrm>
            <a:off x="4243035" y="3732467"/>
            <a:ext cx="493644"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GER</a:t>
            </a:r>
          </a:p>
        </p:txBody>
      </p:sp>
      <p:sp>
        <p:nvSpPr>
          <p:cNvPr id="45" name="Rectangle 44">
            <a:extLst>
              <a:ext uri="{FF2B5EF4-FFF2-40B4-BE49-F238E27FC236}">
                <a16:creationId xmlns:a16="http://schemas.microsoft.com/office/drawing/2014/main" id="{2103EC68-08CD-4DDD-A9E0-D96D88376449}"/>
              </a:ext>
            </a:extLst>
          </p:cNvPr>
          <p:cNvSpPr/>
          <p:nvPr/>
        </p:nvSpPr>
        <p:spPr>
          <a:xfrm>
            <a:off x="5548707" y="2638704"/>
            <a:ext cx="518605"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KOR</a:t>
            </a:r>
          </a:p>
        </p:txBody>
      </p:sp>
      <p:sp>
        <p:nvSpPr>
          <p:cNvPr id="46" name="Rectangle 45">
            <a:extLst>
              <a:ext uri="{FF2B5EF4-FFF2-40B4-BE49-F238E27FC236}">
                <a16:creationId xmlns:a16="http://schemas.microsoft.com/office/drawing/2014/main" id="{1AC1DD0C-8300-49F7-961B-07DCFD9BFA4F}"/>
              </a:ext>
            </a:extLst>
          </p:cNvPr>
          <p:cNvSpPr/>
          <p:nvPr/>
        </p:nvSpPr>
        <p:spPr>
          <a:xfrm>
            <a:off x="3594652" y="5265074"/>
            <a:ext cx="493644"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RUS</a:t>
            </a:r>
          </a:p>
        </p:txBody>
      </p:sp>
      <p:sp>
        <p:nvSpPr>
          <p:cNvPr id="47" name="Rectangle 46">
            <a:extLst>
              <a:ext uri="{FF2B5EF4-FFF2-40B4-BE49-F238E27FC236}">
                <a16:creationId xmlns:a16="http://schemas.microsoft.com/office/drawing/2014/main" id="{8B433CED-C829-43CD-BC43-67E4F0CA54F4}"/>
              </a:ext>
            </a:extLst>
          </p:cNvPr>
          <p:cNvSpPr/>
          <p:nvPr/>
        </p:nvSpPr>
        <p:spPr>
          <a:xfrm>
            <a:off x="4493707" y="4214499"/>
            <a:ext cx="424619"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FRA</a:t>
            </a:r>
          </a:p>
        </p:txBody>
      </p:sp>
      <p:sp>
        <p:nvSpPr>
          <p:cNvPr id="48" name="Rectangle 47">
            <a:extLst>
              <a:ext uri="{FF2B5EF4-FFF2-40B4-BE49-F238E27FC236}">
                <a16:creationId xmlns:a16="http://schemas.microsoft.com/office/drawing/2014/main" id="{486A8E28-7867-4545-9538-B6C1193AF928}"/>
              </a:ext>
            </a:extLst>
          </p:cNvPr>
          <p:cNvSpPr/>
          <p:nvPr/>
        </p:nvSpPr>
        <p:spPr>
          <a:xfrm>
            <a:off x="2054220" y="5486400"/>
            <a:ext cx="424619"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IND</a:t>
            </a:r>
          </a:p>
        </p:txBody>
      </p:sp>
      <p:sp>
        <p:nvSpPr>
          <p:cNvPr id="49" name="Rectangle 48">
            <a:extLst>
              <a:ext uri="{FF2B5EF4-FFF2-40B4-BE49-F238E27FC236}">
                <a16:creationId xmlns:a16="http://schemas.microsoft.com/office/drawing/2014/main" id="{5AA97C25-4FDC-4864-832E-BE8312322F47}"/>
              </a:ext>
            </a:extLst>
          </p:cNvPr>
          <p:cNvSpPr/>
          <p:nvPr/>
        </p:nvSpPr>
        <p:spPr>
          <a:xfrm>
            <a:off x="4485995" y="4631607"/>
            <a:ext cx="493644"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U.K.</a:t>
            </a:r>
          </a:p>
        </p:txBody>
      </p:sp>
      <p:sp>
        <p:nvSpPr>
          <p:cNvPr id="50" name="Rectangle 49">
            <a:extLst>
              <a:ext uri="{FF2B5EF4-FFF2-40B4-BE49-F238E27FC236}">
                <a16:creationId xmlns:a16="http://schemas.microsoft.com/office/drawing/2014/main" id="{CE446AD0-4A4A-4226-99BB-EC3B72D4DBED}"/>
              </a:ext>
            </a:extLst>
          </p:cNvPr>
          <p:cNvSpPr/>
          <p:nvPr/>
        </p:nvSpPr>
        <p:spPr>
          <a:xfrm>
            <a:off x="2269746" y="5101078"/>
            <a:ext cx="493644"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BRA</a:t>
            </a:r>
          </a:p>
        </p:txBody>
      </p:sp>
      <p:sp>
        <p:nvSpPr>
          <p:cNvPr id="51" name="Rectangle 50">
            <a:extLst>
              <a:ext uri="{FF2B5EF4-FFF2-40B4-BE49-F238E27FC236}">
                <a16:creationId xmlns:a16="http://schemas.microsoft.com/office/drawing/2014/main" id="{ABD19399-A7B2-4DD8-8C8B-9CAD2B136990}"/>
              </a:ext>
            </a:extLst>
          </p:cNvPr>
          <p:cNvSpPr/>
          <p:nvPr/>
        </p:nvSpPr>
        <p:spPr>
          <a:xfrm>
            <a:off x="3967390" y="4663427"/>
            <a:ext cx="522357"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CAN</a:t>
            </a:r>
          </a:p>
        </p:txBody>
      </p:sp>
      <p:sp>
        <p:nvSpPr>
          <p:cNvPr id="52" name="Rectangle 51">
            <a:extLst>
              <a:ext uri="{FF2B5EF4-FFF2-40B4-BE49-F238E27FC236}">
                <a16:creationId xmlns:a16="http://schemas.microsoft.com/office/drawing/2014/main" id="{2A2380F4-27F5-40EE-AD6D-3EED02637ED4}"/>
              </a:ext>
            </a:extLst>
          </p:cNvPr>
          <p:cNvSpPr/>
          <p:nvPr/>
        </p:nvSpPr>
        <p:spPr>
          <a:xfrm>
            <a:off x="3133586" y="4976766"/>
            <a:ext cx="522357"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ITA</a:t>
            </a:r>
          </a:p>
        </p:txBody>
      </p:sp>
      <p:sp>
        <p:nvSpPr>
          <p:cNvPr id="53" name="Rectangle 52">
            <a:extLst>
              <a:ext uri="{FF2B5EF4-FFF2-40B4-BE49-F238E27FC236}">
                <a16:creationId xmlns:a16="http://schemas.microsoft.com/office/drawing/2014/main" id="{D567BB61-E6A1-4A24-AEB6-DE293F76A834}"/>
              </a:ext>
            </a:extLst>
          </p:cNvPr>
          <p:cNvSpPr/>
          <p:nvPr/>
        </p:nvSpPr>
        <p:spPr>
          <a:xfrm>
            <a:off x="4124739" y="4450596"/>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NLD</a:t>
            </a:r>
          </a:p>
        </p:txBody>
      </p:sp>
      <p:sp>
        <p:nvSpPr>
          <p:cNvPr id="54" name="Rectangle 53">
            <a:extLst>
              <a:ext uri="{FF2B5EF4-FFF2-40B4-BE49-F238E27FC236}">
                <a16:creationId xmlns:a16="http://schemas.microsoft.com/office/drawing/2014/main" id="{0074C2B4-6602-42D4-8CFE-137451ECBCF2}"/>
              </a:ext>
            </a:extLst>
          </p:cNvPr>
          <p:cNvSpPr/>
          <p:nvPr/>
        </p:nvSpPr>
        <p:spPr>
          <a:xfrm>
            <a:off x="6364357" y="2504478"/>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ISR</a:t>
            </a:r>
          </a:p>
        </p:txBody>
      </p:sp>
      <p:sp>
        <p:nvSpPr>
          <p:cNvPr id="55" name="Rectangle 54">
            <a:extLst>
              <a:ext uri="{FF2B5EF4-FFF2-40B4-BE49-F238E27FC236}">
                <a16:creationId xmlns:a16="http://schemas.microsoft.com/office/drawing/2014/main" id="{0E83E7D2-6C56-48F5-B868-C4AA657EA081}"/>
              </a:ext>
            </a:extLst>
          </p:cNvPr>
          <p:cNvSpPr/>
          <p:nvPr/>
        </p:nvSpPr>
        <p:spPr>
          <a:xfrm>
            <a:off x="3736010" y="5101078"/>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SPN</a:t>
            </a:r>
          </a:p>
        </p:txBody>
      </p:sp>
      <p:sp>
        <p:nvSpPr>
          <p:cNvPr id="56" name="Rectangle 55">
            <a:extLst>
              <a:ext uri="{FF2B5EF4-FFF2-40B4-BE49-F238E27FC236}">
                <a16:creationId xmlns:a16="http://schemas.microsoft.com/office/drawing/2014/main" id="{B8E965D0-20C1-494A-99F0-32C297D41750}"/>
              </a:ext>
            </a:extLst>
          </p:cNvPr>
          <p:cNvSpPr/>
          <p:nvPr/>
        </p:nvSpPr>
        <p:spPr>
          <a:xfrm>
            <a:off x="2963182" y="5401653"/>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TUR</a:t>
            </a:r>
          </a:p>
        </p:txBody>
      </p:sp>
      <p:sp>
        <p:nvSpPr>
          <p:cNvPr id="57" name="Rectangle 56">
            <a:extLst>
              <a:ext uri="{FF2B5EF4-FFF2-40B4-BE49-F238E27FC236}">
                <a16:creationId xmlns:a16="http://schemas.microsoft.com/office/drawing/2014/main" id="{A8FF7A05-D201-48EC-AA67-53A766D33556}"/>
              </a:ext>
            </a:extLst>
          </p:cNvPr>
          <p:cNvSpPr/>
          <p:nvPr/>
        </p:nvSpPr>
        <p:spPr>
          <a:xfrm>
            <a:off x="4194448" y="4323037"/>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AUS</a:t>
            </a:r>
          </a:p>
        </p:txBody>
      </p:sp>
      <p:sp>
        <p:nvSpPr>
          <p:cNvPr id="58" name="Rectangle 57">
            <a:extLst>
              <a:ext uri="{FF2B5EF4-FFF2-40B4-BE49-F238E27FC236}">
                <a16:creationId xmlns:a16="http://schemas.microsoft.com/office/drawing/2014/main" id="{47E5A4DC-F053-484D-8902-338B317FB371}"/>
              </a:ext>
            </a:extLst>
          </p:cNvPr>
          <p:cNvSpPr/>
          <p:nvPr/>
        </p:nvSpPr>
        <p:spPr>
          <a:xfrm>
            <a:off x="6044708" y="3770288"/>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FIN</a:t>
            </a:r>
          </a:p>
        </p:txBody>
      </p:sp>
      <p:sp>
        <p:nvSpPr>
          <p:cNvPr id="59" name="Rectangle 58">
            <a:extLst>
              <a:ext uri="{FF2B5EF4-FFF2-40B4-BE49-F238E27FC236}">
                <a16:creationId xmlns:a16="http://schemas.microsoft.com/office/drawing/2014/main" id="{3629C94A-6306-4B62-932E-430EBCDFB562}"/>
              </a:ext>
            </a:extLst>
          </p:cNvPr>
          <p:cNvSpPr/>
          <p:nvPr/>
        </p:nvSpPr>
        <p:spPr>
          <a:xfrm>
            <a:off x="5748340" y="3587519"/>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DEN</a:t>
            </a:r>
          </a:p>
        </p:txBody>
      </p:sp>
      <p:sp>
        <p:nvSpPr>
          <p:cNvPr id="60" name="Rectangle 59">
            <a:extLst>
              <a:ext uri="{FF2B5EF4-FFF2-40B4-BE49-F238E27FC236}">
                <a16:creationId xmlns:a16="http://schemas.microsoft.com/office/drawing/2014/main" id="{6634DCD1-125D-41A3-B1F6-FB7652B8D5F8}"/>
              </a:ext>
            </a:extLst>
          </p:cNvPr>
          <p:cNvSpPr/>
          <p:nvPr/>
        </p:nvSpPr>
        <p:spPr>
          <a:xfrm>
            <a:off x="5279032" y="4106777"/>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BEL</a:t>
            </a:r>
          </a:p>
        </p:txBody>
      </p:sp>
      <p:sp>
        <p:nvSpPr>
          <p:cNvPr id="61" name="Rectangle 60">
            <a:extLst>
              <a:ext uri="{FF2B5EF4-FFF2-40B4-BE49-F238E27FC236}">
                <a16:creationId xmlns:a16="http://schemas.microsoft.com/office/drawing/2014/main" id="{39DFF507-6EBE-4D4D-AA77-66BCF9C3EB63}"/>
              </a:ext>
            </a:extLst>
          </p:cNvPr>
          <p:cNvSpPr/>
          <p:nvPr/>
        </p:nvSpPr>
        <p:spPr>
          <a:xfrm>
            <a:off x="5646479" y="3339400"/>
            <a:ext cx="504690"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SWE</a:t>
            </a:r>
          </a:p>
        </p:txBody>
      </p:sp>
      <p:sp>
        <p:nvSpPr>
          <p:cNvPr id="62" name="Rectangle 61">
            <a:extLst>
              <a:ext uri="{FF2B5EF4-FFF2-40B4-BE49-F238E27FC236}">
                <a16:creationId xmlns:a16="http://schemas.microsoft.com/office/drawing/2014/main" id="{1A933CDB-CEB1-4F6B-B18E-411F974A932A}"/>
              </a:ext>
            </a:extLst>
          </p:cNvPr>
          <p:cNvSpPr/>
          <p:nvPr/>
        </p:nvSpPr>
        <p:spPr>
          <a:xfrm>
            <a:off x="3108512" y="5196413"/>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POL</a:t>
            </a:r>
          </a:p>
        </p:txBody>
      </p:sp>
      <p:sp>
        <p:nvSpPr>
          <p:cNvPr id="63" name="Rectangle 62">
            <a:extLst>
              <a:ext uri="{FF2B5EF4-FFF2-40B4-BE49-F238E27FC236}">
                <a16:creationId xmlns:a16="http://schemas.microsoft.com/office/drawing/2014/main" id="{4F917199-0C29-432C-8BFC-6CF82EF2D180}"/>
              </a:ext>
            </a:extLst>
          </p:cNvPr>
          <p:cNvSpPr/>
          <p:nvPr/>
        </p:nvSpPr>
        <p:spPr>
          <a:xfrm>
            <a:off x="2183946" y="5701844"/>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MEX</a:t>
            </a:r>
          </a:p>
        </p:txBody>
      </p:sp>
      <p:sp>
        <p:nvSpPr>
          <p:cNvPr id="64" name="Rectangle 63">
            <a:extLst>
              <a:ext uri="{FF2B5EF4-FFF2-40B4-BE49-F238E27FC236}">
                <a16:creationId xmlns:a16="http://schemas.microsoft.com/office/drawing/2014/main" id="{6F593B47-4D94-4D18-A182-D59D2CC2CAFD}"/>
              </a:ext>
            </a:extLst>
          </p:cNvPr>
          <p:cNvSpPr/>
          <p:nvPr/>
        </p:nvSpPr>
        <p:spPr>
          <a:xfrm>
            <a:off x="4993414" y="4546610"/>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NOR</a:t>
            </a:r>
          </a:p>
        </p:txBody>
      </p:sp>
      <p:sp>
        <p:nvSpPr>
          <p:cNvPr id="65" name="Rectangle 64">
            <a:extLst>
              <a:ext uri="{FF2B5EF4-FFF2-40B4-BE49-F238E27FC236}">
                <a16:creationId xmlns:a16="http://schemas.microsoft.com/office/drawing/2014/main" id="{D8AE7557-E78B-494E-B5C2-802CCA3F879D}"/>
              </a:ext>
            </a:extLst>
          </p:cNvPr>
          <p:cNvSpPr/>
          <p:nvPr/>
        </p:nvSpPr>
        <p:spPr>
          <a:xfrm>
            <a:off x="4062474" y="3234679"/>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SWZ</a:t>
            </a:r>
          </a:p>
        </p:txBody>
      </p:sp>
      <p:sp>
        <p:nvSpPr>
          <p:cNvPr id="66" name="Rectangle 65">
            <a:extLst>
              <a:ext uri="{FF2B5EF4-FFF2-40B4-BE49-F238E27FC236}">
                <a16:creationId xmlns:a16="http://schemas.microsoft.com/office/drawing/2014/main" id="{7C790023-AAA0-4D3E-B40D-5E99DB059A05}"/>
              </a:ext>
            </a:extLst>
          </p:cNvPr>
          <p:cNvSpPr/>
          <p:nvPr/>
        </p:nvSpPr>
        <p:spPr>
          <a:xfrm>
            <a:off x="4911811" y="4902451"/>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IRE</a:t>
            </a:r>
          </a:p>
        </p:txBody>
      </p:sp>
      <p:sp>
        <p:nvSpPr>
          <p:cNvPr id="67" name="Rectangle 66">
            <a:extLst>
              <a:ext uri="{FF2B5EF4-FFF2-40B4-BE49-F238E27FC236}">
                <a16:creationId xmlns:a16="http://schemas.microsoft.com/office/drawing/2014/main" id="{B75AB45D-1DB4-4A31-BBFE-49DC61786969}"/>
              </a:ext>
            </a:extLst>
          </p:cNvPr>
          <p:cNvSpPr/>
          <p:nvPr/>
        </p:nvSpPr>
        <p:spPr>
          <a:xfrm>
            <a:off x="3672163" y="4516032"/>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CZE</a:t>
            </a:r>
          </a:p>
        </p:txBody>
      </p:sp>
      <p:sp>
        <p:nvSpPr>
          <p:cNvPr id="68" name="Rectangle 67">
            <a:extLst>
              <a:ext uri="{FF2B5EF4-FFF2-40B4-BE49-F238E27FC236}">
                <a16:creationId xmlns:a16="http://schemas.microsoft.com/office/drawing/2014/main" id="{F85A3ECA-F834-440A-97FC-9BF02AFBF304}"/>
              </a:ext>
            </a:extLst>
          </p:cNvPr>
          <p:cNvSpPr/>
          <p:nvPr/>
        </p:nvSpPr>
        <p:spPr>
          <a:xfrm>
            <a:off x="4350113" y="5058247"/>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POR</a:t>
            </a:r>
          </a:p>
        </p:txBody>
      </p:sp>
      <p:sp>
        <p:nvSpPr>
          <p:cNvPr id="69" name="Rectangle 68">
            <a:extLst>
              <a:ext uri="{FF2B5EF4-FFF2-40B4-BE49-F238E27FC236}">
                <a16:creationId xmlns:a16="http://schemas.microsoft.com/office/drawing/2014/main" id="{0FE1D3EC-F19C-43B7-8AD4-FDD788480E04}"/>
              </a:ext>
            </a:extLst>
          </p:cNvPr>
          <p:cNvSpPr/>
          <p:nvPr/>
        </p:nvSpPr>
        <p:spPr>
          <a:xfrm>
            <a:off x="2054220" y="5949963"/>
            <a:ext cx="529654"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IDN</a:t>
            </a:r>
          </a:p>
        </p:txBody>
      </p:sp>
      <p:sp>
        <p:nvSpPr>
          <p:cNvPr id="70" name="Rectangle 69">
            <a:extLst>
              <a:ext uri="{FF2B5EF4-FFF2-40B4-BE49-F238E27FC236}">
                <a16:creationId xmlns:a16="http://schemas.microsoft.com/office/drawing/2014/main" id="{E733A949-2981-46DA-8F62-B455B4AEC375}"/>
              </a:ext>
            </a:extLst>
          </p:cNvPr>
          <p:cNvSpPr/>
          <p:nvPr/>
        </p:nvSpPr>
        <p:spPr>
          <a:xfrm>
            <a:off x="2495621" y="5440834"/>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SAF</a:t>
            </a:r>
          </a:p>
        </p:txBody>
      </p:sp>
      <p:sp>
        <p:nvSpPr>
          <p:cNvPr id="71" name="Rectangle 70">
            <a:extLst>
              <a:ext uri="{FF2B5EF4-FFF2-40B4-BE49-F238E27FC236}">
                <a16:creationId xmlns:a16="http://schemas.microsoft.com/office/drawing/2014/main" id="{A12C4514-695E-4463-B9EC-7454723C2C50}"/>
              </a:ext>
            </a:extLst>
          </p:cNvPr>
          <p:cNvSpPr/>
          <p:nvPr/>
        </p:nvSpPr>
        <p:spPr>
          <a:xfrm>
            <a:off x="4078926" y="5081901"/>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NLZ</a:t>
            </a:r>
          </a:p>
        </p:txBody>
      </p:sp>
      <p:sp>
        <p:nvSpPr>
          <p:cNvPr id="72" name="Rectangle 71">
            <a:extLst>
              <a:ext uri="{FF2B5EF4-FFF2-40B4-BE49-F238E27FC236}">
                <a16:creationId xmlns:a16="http://schemas.microsoft.com/office/drawing/2014/main" id="{91D6FC81-9B65-40A1-8C46-105C1A2980DF}"/>
              </a:ext>
            </a:extLst>
          </p:cNvPr>
          <p:cNvSpPr/>
          <p:nvPr/>
        </p:nvSpPr>
        <p:spPr>
          <a:xfrm>
            <a:off x="4311416" y="5330370"/>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GRE</a:t>
            </a:r>
          </a:p>
        </p:txBody>
      </p:sp>
      <p:sp>
        <p:nvSpPr>
          <p:cNvPr id="73" name="Rectangle 72">
            <a:extLst>
              <a:ext uri="{FF2B5EF4-FFF2-40B4-BE49-F238E27FC236}">
                <a16:creationId xmlns:a16="http://schemas.microsoft.com/office/drawing/2014/main" id="{7C59BE5F-04D2-431B-A6B8-3ECB814E80A9}"/>
              </a:ext>
            </a:extLst>
          </p:cNvPr>
          <p:cNvSpPr/>
          <p:nvPr/>
        </p:nvSpPr>
        <p:spPr>
          <a:xfrm>
            <a:off x="3410696" y="4873196"/>
            <a:ext cx="537963" cy="215444"/>
          </a:xfrm>
          <a:prstGeom prst="rect">
            <a:avLst/>
          </a:prstGeom>
        </p:spPr>
        <p:txBody>
          <a:bodyPr wrap="square">
            <a:spAutoFit/>
          </a:bodyPr>
          <a:lstStyle/>
          <a:p>
            <a:pPr>
              <a:defRPr sz="1000" b="0" i="0" u="none" strike="noStrike" kern="1200" baseline="0">
                <a:solidFill>
                  <a:srgbClr val="000000"/>
                </a:solidFill>
                <a:latin typeface="Arial"/>
                <a:ea typeface="Arial"/>
                <a:cs typeface="Arial"/>
              </a:defRPr>
            </a:pPr>
            <a:r>
              <a:rPr lang="en-GB" sz="800" b="1" dirty="0">
                <a:solidFill>
                  <a:srgbClr val="000000"/>
                </a:solidFill>
                <a:latin typeface="Arial Black" panose="020B0A04020102020204" pitchFamily="34" charset="0"/>
              </a:rPr>
              <a:t>HUN</a:t>
            </a:r>
          </a:p>
        </p:txBody>
      </p:sp>
      <p:sp>
        <p:nvSpPr>
          <p:cNvPr id="3" name="Slide Number Placeholder 2">
            <a:extLst>
              <a:ext uri="{FF2B5EF4-FFF2-40B4-BE49-F238E27FC236}">
                <a16:creationId xmlns:a16="http://schemas.microsoft.com/office/drawing/2014/main" id="{49C9269D-DC2E-4DC1-AA01-898A832F2DAE}"/>
              </a:ext>
            </a:extLst>
          </p:cNvPr>
          <p:cNvSpPr>
            <a:spLocks noGrp="1"/>
          </p:cNvSpPr>
          <p:nvPr>
            <p:ph type="sldNum" sz="quarter" idx="12"/>
          </p:nvPr>
        </p:nvSpPr>
        <p:spPr/>
        <p:txBody>
          <a:bodyPr/>
          <a:lstStyle/>
          <a:p>
            <a:fld id="{1B835D90-6387-4175-8905-3408BA5A358B}" type="slidenum">
              <a:rPr lang="en-US" altLang="en-US" smtClean="0"/>
              <a:pPr/>
              <a:t>25</a:t>
            </a:fld>
            <a:endParaRPr lang="en-US" altLang="en-US"/>
          </a:p>
        </p:txBody>
      </p:sp>
    </p:spTree>
    <p:extLst>
      <p:ext uri="{BB962C8B-B14F-4D97-AF65-F5344CB8AC3E}">
        <p14:creationId xmlns:p14="http://schemas.microsoft.com/office/powerpoint/2010/main" val="55861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2"/>
          </p:nvPr>
        </p:nvSpPr>
        <p:spPr>
          <a:noFill/>
        </p:spPr>
        <p:txBody>
          <a:bodyPr/>
          <a:lstStyle/>
          <a:p>
            <a:fld id="{A39F69CD-83E7-423E-B933-10D4ED57C325}" type="slidenum">
              <a:rPr lang="en-US" smtClean="0"/>
              <a:pPr/>
              <a:t>26</a:t>
            </a:fld>
            <a:endParaRPr lang="en-US"/>
          </a:p>
        </p:txBody>
      </p:sp>
      <p:sp>
        <p:nvSpPr>
          <p:cNvPr id="14339" name="Rectangle 2"/>
          <p:cNvSpPr>
            <a:spLocks noGrp="1" noChangeArrowheads="1"/>
          </p:cNvSpPr>
          <p:nvPr>
            <p:ph type="title"/>
          </p:nvPr>
        </p:nvSpPr>
        <p:spPr>
          <a:xfrm>
            <a:off x="685800" y="841972"/>
            <a:ext cx="7772400" cy="609600"/>
          </a:xfrm>
        </p:spPr>
        <p:txBody>
          <a:bodyPr/>
          <a:lstStyle/>
          <a:p>
            <a:pPr eaLnBrk="1" hangingPunct="1"/>
            <a:r>
              <a:rPr lang="en-US" sz="2800" b="1" dirty="0">
                <a:latin typeface="Arial" panose="020B0604020202020204" pitchFamily="34" charset="0"/>
                <a:cs typeface="Arial" panose="020B0604020202020204" pitchFamily="34" charset="0"/>
              </a:rPr>
              <a:t>Data Availability</a:t>
            </a:r>
          </a:p>
        </p:txBody>
      </p:sp>
      <p:sp>
        <p:nvSpPr>
          <p:cNvPr id="14344" name="Rectangle 7"/>
          <p:cNvSpPr>
            <a:spLocks noChangeArrowheads="1"/>
          </p:cNvSpPr>
          <p:nvPr/>
        </p:nvSpPr>
        <p:spPr bwMode="auto">
          <a:xfrm>
            <a:off x="685800" y="1371600"/>
            <a:ext cx="8077200" cy="5816977"/>
          </a:xfrm>
          <a:prstGeom prst="rect">
            <a:avLst/>
          </a:prstGeom>
          <a:noFill/>
          <a:ln w="9525">
            <a:noFill/>
            <a:miter lim="800000"/>
            <a:headEnd/>
            <a:tailEnd/>
          </a:ln>
        </p:spPr>
        <p:txBody>
          <a:bodyPr>
            <a:spAutoFit/>
          </a:bodyPr>
          <a:lstStyle/>
          <a:p>
            <a:r>
              <a:rPr lang="en-US" sz="1600" dirty="0">
                <a:latin typeface="Arial" panose="020B0604020202020204" pitchFamily="34" charset="0"/>
                <a:cs typeface="Arial" panose="020B0604020202020204" pitchFamily="34" charset="0"/>
              </a:rPr>
              <a:t>National Center for Science and Engineering Statistics https:www.nsf.gov/statistics/</a:t>
            </a:r>
          </a:p>
          <a:p>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 National Patterns of R&amp;D Resources (Mark Boroush)</a:t>
            </a:r>
          </a:p>
          <a:p>
            <a:r>
              <a:rPr lang="en-US" sz="1600" dirty="0">
                <a:latin typeface="Arial" panose="020B0604020202020204" pitchFamily="34" charset="0"/>
                <a:cs typeface="Arial" panose="020B0604020202020204" pitchFamily="34" charset="0"/>
              </a:rPr>
              <a:t>https:www.nsf.gov/statistics/natlpatterns/</a:t>
            </a:r>
          </a:p>
          <a:p>
            <a:endParaRPr lang="en-US" sz="10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Business R&amp;D and Innovation Survey (Ray Wolfe)</a:t>
            </a:r>
          </a:p>
          <a:p>
            <a:r>
              <a:rPr lang="en-US" sz="1600" dirty="0">
                <a:latin typeface="Arial" panose="020B0604020202020204" pitchFamily="34" charset="0"/>
                <a:cs typeface="Arial" panose="020B0604020202020204" pitchFamily="34" charset="0"/>
              </a:rPr>
              <a:t>https:www.nsf.gov/statistics/srvyindustry/</a:t>
            </a:r>
          </a:p>
          <a:p>
            <a:endParaRPr lang="en-US" sz="10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Survey of Federal Funds for R&amp;D (Christopher Pece)</a:t>
            </a:r>
          </a:p>
          <a:p>
            <a:r>
              <a:rPr lang="en-US" sz="1600" dirty="0">
                <a:latin typeface="Arial" panose="020B0604020202020204" pitchFamily="34" charset="0"/>
                <a:cs typeface="Arial" panose="020B0604020202020204" pitchFamily="34" charset="0"/>
              </a:rPr>
              <a:t>https:www.nsf.gov/statistics/srvyfedfunds/</a:t>
            </a:r>
          </a:p>
          <a:p>
            <a:endParaRPr lang="en-US" sz="10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Survey of State Government R&amp;D (Christopher Pece)</a:t>
            </a:r>
          </a:p>
          <a:p>
            <a:r>
              <a:rPr lang="en-US" sz="1600" dirty="0">
                <a:latin typeface="Arial" panose="020B0604020202020204" pitchFamily="34" charset="0"/>
                <a:cs typeface="Arial" panose="020B0604020202020204" pitchFamily="34" charset="0"/>
              </a:rPr>
              <a:t>https:www.nsf.gov/statistics/srvystaterd/</a:t>
            </a:r>
          </a:p>
          <a:p>
            <a:endParaRPr lang="en-US" sz="10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Higher Education R&amp;D Survey (Mike Gibbons)</a:t>
            </a:r>
          </a:p>
          <a:p>
            <a:r>
              <a:rPr lang="en-US" sz="1600" dirty="0">
                <a:latin typeface="Arial" panose="020B0604020202020204" pitchFamily="34" charset="0"/>
                <a:cs typeface="Arial" panose="020B0604020202020204" pitchFamily="34" charset="0"/>
              </a:rPr>
              <a:t>https:www.nsf.gov/statistics/srvyherd/</a:t>
            </a:r>
          </a:p>
          <a:p>
            <a:endParaRPr lang="en-US" sz="10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FFRDC Research and Development Survey (Mike Gibbons)</a:t>
            </a:r>
          </a:p>
          <a:p>
            <a:r>
              <a:rPr lang="en-US" sz="1600" dirty="0">
                <a:latin typeface="Arial" panose="020B0604020202020204" pitchFamily="34" charset="0"/>
                <a:cs typeface="Arial" panose="020B0604020202020204" pitchFamily="34" charset="0"/>
              </a:rPr>
              <a:t>https:www.nsf.gov/statistics/srvyffrdc/</a:t>
            </a:r>
          </a:p>
          <a:p>
            <a:endParaRPr lang="en-US" sz="10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Nonprofit Research Activities Survey (forthcoming) (Ronda Britt)</a:t>
            </a:r>
          </a:p>
          <a:p>
            <a:pPr marL="285750" indent="-285750">
              <a:buFontTx/>
              <a:buChar char="•"/>
            </a:pPr>
            <a:r>
              <a:rPr lang="en-US" sz="1600" dirty="0">
                <a:latin typeface="Arial" panose="020B0604020202020204" pitchFamily="34" charset="0"/>
                <a:cs typeface="Arial" panose="020B0604020202020204" pitchFamily="34" charset="0"/>
              </a:rPr>
              <a:t>Micro-Business R&amp;D and Innovation Survey (forthcoming) (Audrey Kindlon)</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endParaRPr lang="en-US" dirty="0"/>
          </a:p>
        </p:txBody>
      </p:sp>
      <p:pic>
        <p:nvPicPr>
          <p:cNvPr id="10" name="Picture 8" descr="nsf2"/>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11" name="Picture 10" descr="NCSES_logo_oneline_150.eps"/>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1027"/>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pic>
        <p:nvPicPr>
          <p:cNvPr id="9" name="Picture 8" descr="nsf2">
            <a:extLst>
              <a:ext uri="{FF2B5EF4-FFF2-40B4-BE49-F238E27FC236}">
                <a16:creationId xmlns:a16="http://schemas.microsoft.com/office/drawing/2014/main" id="{18E40EEF-5407-4ADA-8225-8951E1EF98B7}"/>
              </a:ext>
            </a:extLst>
          </p:cNvPr>
          <p:cNvPicPr>
            <a:picLocks noChangeAspect="1" noChangeArrowheads="1"/>
          </p:cNvPicPr>
          <p:nvPr/>
        </p:nvPicPr>
        <p:blipFill>
          <a:blip r:embed="rId3" cstate="print"/>
          <a:srcRect/>
          <a:stretch>
            <a:fillRect/>
          </a:stretch>
        </p:blipFill>
        <p:spPr bwMode="auto">
          <a:xfrm>
            <a:off x="86139" y="72749"/>
            <a:ext cx="533400" cy="530225"/>
          </a:xfrm>
          <a:prstGeom prst="rect">
            <a:avLst/>
          </a:prstGeom>
          <a:noFill/>
          <a:ln w="9525">
            <a:noFill/>
            <a:miter lim="800000"/>
            <a:headEnd/>
            <a:tailEnd/>
          </a:ln>
        </p:spPr>
      </p:pic>
      <p:pic>
        <p:nvPicPr>
          <p:cNvPr id="12" name="Picture 11" descr="NCSES_logo_oneline_150.eps">
            <a:extLst>
              <a:ext uri="{FF2B5EF4-FFF2-40B4-BE49-F238E27FC236}">
                <a16:creationId xmlns:a16="http://schemas.microsoft.com/office/drawing/2014/main" id="{25DC934E-4D6D-445E-87FA-79DFE5FB128B}"/>
              </a:ext>
            </a:extLst>
          </p:cNvPr>
          <p:cNvPicPr>
            <a:picLocks noChangeAspect="1"/>
          </p:cNvPicPr>
          <p:nvPr/>
        </p:nvPicPr>
        <p:blipFill>
          <a:blip r:embed="rId4" cstate="print"/>
          <a:srcRect/>
          <a:stretch>
            <a:fillRect/>
          </a:stretch>
        </p:blipFill>
        <p:spPr bwMode="auto">
          <a:xfrm>
            <a:off x="4124739" y="128312"/>
            <a:ext cx="5029200" cy="474662"/>
          </a:xfrm>
          <a:prstGeom prst="rect">
            <a:avLst/>
          </a:prstGeom>
          <a:noFill/>
          <a:ln w="9525">
            <a:noFill/>
            <a:miter lim="800000"/>
            <a:headEnd/>
            <a:tailEnd/>
          </a:ln>
        </p:spPr>
      </p:pic>
      <p:sp>
        <p:nvSpPr>
          <p:cNvPr id="13" name="Rectangle 1027">
            <a:extLst>
              <a:ext uri="{FF2B5EF4-FFF2-40B4-BE49-F238E27FC236}">
                <a16:creationId xmlns:a16="http://schemas.microsoft.com/office/drawing/2014/main" id="{8445E110-060C-4639-8D07-427E813B5A8B}"/>
              </a:ext>
            </a:extLst>
          </p:cNvPr>
          <p:cNvSpPr>
            <a:spLocks noChangeArrowheads="1"/>
          </p:cNvSpPr>
          <p:nvPr/>
        </p:nvSpPr>
        <p:spPr bwMode="auto">
          <a:xfrm>
            <a:off x="9939" y="679174"/>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Tree>
    <p:extLst>
      <p:ext uri="{BB962C8B-B14F-4D97-AF65-F5344CB8AC3E}">
        <p14:creationId xmlns:p14="http://schemas.microsoft.com/office/powerpoint/2010/main" val="510784865"/>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5D401D0D-1032-45DA-B6C0-8C6331812B44}">
  <ds:schemaRefs>
    <ds:schemaRef ds:uri="http://schemas.microsoft.com/sharepoint/v3/contenttype/forms"/>
  </ds:schemaRefs>
</ds:datastoreItem>
</file>

<file path=customXml/itemProps2.xml><?xml version="1.0" encoding="utf-8"?>
<ds:datastoreItem xmlns:ds="http://schemas.openxmlformats.org/officeDocument/2006/customXml" ds:itemID="{CAFF0F44-FC1F-42A6-833A-BB9D225E3AA6}">
  <ds:schemaRefs>
    <ds:schemaRef ds:uri="http://schemas.microsoft.com/office/2006/metadata/longProperties"/>
  </ds:schemaRefs>
</ds:datastoreItem>
</file>

<file path=customXml/itemProps3.xml><?xml version="1.0" encoding="utf-8"?>
<ds:datastoreItem xmlns:ds="http://schemas.openxmlformats.org/officeDocument/2006/customXml" ds:itemID="{CB00E7E6-7E43-42D2-B47F-0AED67B06D66}"/>
</file>

<file path=customXml/itemProps4.xml><?xml version="1.0" encoding="utf-8"?>
<ds:datastoreItem xmlns:ds="http://schemas.openxmlformats.org/officeDocument/2006/customXml" ds:itemID="{D6EADF57-0523-4F38-AF1D-6C30B92BB75F}">
  <ds:schemaRefs>
    <ds:schemaRef ds:uri="http://schemas.microsoft.com/office/2006/metadata/propertie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8474</TotalTime>
  <Words>5665</Words>
  <Application>Microsoft Office PowerPoint</Application>
  <PresentationFormat>On-screen Show (4:3)</PresentationFormat>
  <Paragraphs>1344</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Arial Black</vt:lpstr>
      <vt:lpstr>Arial Narrow</vt:lpstr>
      <vt:lpstr>Calibri</vt:lpstr>
      <vt:lpstr>Times New Roman</vt:lpstr>
      <vt:lpstr>Default Design</vt:lpstr>
      <vt:lpstr>U.S. R&amp;D Investments and Trends  within a Global Setting</vt:lpstr>
      <vt:lpstr> </vt:lpstr>
      <vt:lpstr> </vt:lpstr>
      <vt:lpstr>[Statistical] Definition of Research and Experimental Development</vt:lpstr>
      <vt:lpstr>The Surveyed R&amp;D Enterprise by Sector (Performer-reported sources of R&amp;D funding)</vt:lpstr>
      <vt:lpstr>U.S. 2016 R&amp;D Expenditures:  $510 Billion (prelim.) </vt:lpstr>
      <vt:lpstr>U.S. 2016 Basic Research Expenditures:  $86 Billion (prelim.) </vt:lpstr>
      <vt:lpstr>U.S R&amp;D and Basic Research, by Performer and Source of Funds: 2016 (prelim.)</vt:lpstr>
      <vt:lpstr>Ratio of R&amp;D to GDP, by Source of R&amp;D Funding: 1965-2015</vt:lpstr>
      <vt:lpstr>U.S. R&amp;D Trends during the Recent Past</vt:lpstr>
      <vt:lpstr>Total R&amp;D and GDP: Pre- and Post the Great Recession</vt:lpstr>
      <vt:lpstr>R&amp;D Performance by Sector: Pre- and Post the Great Recession</vt:lpstr>
      <vt:lpstr>Federal R&amp;D Funding to Performers: Pre- and Post the Great Recession</vt:lpstr>
      <vt:lpstr>Federal Intramural and FFRDC Performers: FY2016 (prelim.)</vt:lpstr>
      <vt:lpstr>Higher Education R&amp;D Performance,  by Source of Funds: 2010-2016</vt:lpstr>
      <vt:lpstr>Higher Education R&amp;D, by Field:  FYs 2010 and 2016</vt:lpstr>
      <vt:lpstr>Business R&amp;D, by industry: 2010-2015</vt:lpstr>
      <vt:lpstr>Worldwide US Business R&amp;D: 2008-2016</vt:lpstr>
      <vt:lpstr>R&amp;D Investment in the US,  by Foreign-owned Companies: 2008-2015</vt:lpstr>
      <vt:lpstr>Global R&amp;D Expenditures, by region: 2009 and 2015</vt:lpstr>
      <vt:lpstr>R&amp;D Expenditures, by Country: 2000-2016</vt:lpstr>
      <vt:lpstr>R&amp;D Intensities (R&amp;D-to-GDP) by Country: 2000-2016</vt:lpstr>
      <vt:lpstr>Country Comparisons of R&amp;D  Performers and Sources: 2015</vt:lpstr>
      <vt:lpstr>Business R&amp;D, by Industry Sector: 2015</vt:lpstr>
      <vt:lpstr>Country Comparisons of Type of R&amp;D: 2015 </vt:lpstr>
      <vt:lpstr>Snapshot of the Global R&amp;D Landscape (circa 2015)</vt:lpstr>
      <vt:lpstr>Data Availability</vt:lpstr>
    </vt:vector>
  </TitlesOfParts>
  <Company>National Science Foundation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NCSES Template for Creating PowerPoint Presentations</dc:title>
  <dc:creator>Newman, Joseph</dc:creator>
  <cp:lastModifiedBy>Jankowski, John E.</cp:lastModifiedBy>
  <cp:revision>397</cp:revision>
  <cp:lastPrinted>2018-06-20T12:17:40Z</cp:lastPrinted>
  <dcterms:created xsi:type="dcterms:W3CDTF">2003-01-02T15:22:50Z</dcterms:created>
  <dcterms:modified xsi:type="dcterms:W3CDTF">2018-06-20T14:02:17Z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Year">
    <vt:lpwstr/>
  </property>
  <property fmtid="{D5CDD505-2E9C-101B-9397-08002B2CF9AE}" pid="3" name="Document Name">
    <vt:lpwstr>https://collaboration.inside.nsf.gov/sbe/srs/staff/Policies%20and%20Guidelines/ncses_template.ppt, NCSES Template for Creating PowerPoint Presentations</vt:lpwstr>
  </property>
  <property fmtid="{D5CDD505-2E9C-101B-9397-08002B2CF9AE}" pid="4" name="ContentTypeId">
    <vt:lpwstr>0x010100D45AE3D1135F4E41AB498540A40487BD</vt:lpwstr>
  </property>
</Properties>
</file>