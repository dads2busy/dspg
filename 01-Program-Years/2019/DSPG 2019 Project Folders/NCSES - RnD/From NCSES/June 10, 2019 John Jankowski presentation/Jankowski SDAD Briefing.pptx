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9.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2.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36"/>
  </p:notesMasterIdLst>
  <p:handoutMasterIdLst>
    <p:handoutMasterId r:id="rId37"/>
  </p:handoutMasterIdLst>
  <p:sldIdLst>
    <p:sldId id="326" r:id="rId2"/>
    <p:sldId id="286" r:id="rId3"/>
    <p:sldId id="352" r:id="rId4"/>
    <p:sldId id="481" r:id="rId5"/>
    <p:sldId id="302" r:id="rId6"/>
    <p:sldId id="353" r:id="rId7"/>
    <p:sldId id="492" r:id="rId8"/>
    <p:sldId id="493" r:id="rId9"/>
    <p:sldId id="303" r:id="rId10"/>
    <p:sldId id="354" r:id="rId11"/>
    <p:sldId id="355" r:id="rId12"/>
    <p:sldId id="350" r:id="rId13"/>
    <p:sldId id="305" r:id="rId14"/>
    <p:sldId id="356" r:id="rId15"/>
    <p:sldId id="330" r:id="rId16"/>
    <p:sldId id="323" r:id="rId17"/>
    <p:sldId id="324" r:id="rId18"/>
    <p:sldId id="317" r:id="rId19"/>
    <p:sldId id="315" r:id="rId20"/>
    <p:sldId id="316" r:id="rId21"/>
    <p:sldId id="321" r:id="rId22"/>
    <p:sldId id="331" r:id="rId23"/>
    <p:sldId id="278" r:id="rId24"/>
    <p:sldId id="289" r:id="rId25"/>
    <p:sldId id="487" r:id="rId26"/>
    <p:sldId id="488" r:id="rId27"/>
    <p:sldId id="489" r:id="rId28"/>
    <p:sldId id="320" r:id="rId29"/>
    <p:sldId id="280" r:id="rId30"/>
    <p:sldId id="290" r:id="rId31"/>
    <p:sldId id="486" r:id="rId32"/>
    <p:sldId id="319" r:id="rId33"/>
    <p:sldId id="490" r:id="rId34"/>
    <p:sldId id="485" r:id="rId35"/>
  </p:sldIdLst>
  <p:sldSz cx="9144000" cy="6858000" type="screen4x3"/>
  <p:notesSz cx="6858000" cy="131445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768">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31" autoAdjust="0"/>
    <p:restoredTop sz="94533" autoAdjust="0"/>
  </p:normalViewPr>
  <p:slideViewPr>
    <p:cSldViewPr>
      <p:cViewPr varScale="1">
        <p:scale>
          <a:sx n="135" d="100"/>
          <a:sy n="135" d="100"/>
        </p:scale>
        <p:origin x="714" y="126"/>
      </p:cViewPr>
      <p:guideLst>
        <p:guide orient="horz" pos="768"/>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45"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hen, Samantha (sc2pg)" userId="S::sc2pg@virginia.edu::00765cc7-31bd-431d-b2b3-38c8fe88a53e" providerId="AD" clId="Web-{842F791B-9FD3-992D-C452-82FB6A79348B}"/>
    <pc:docChg chg="modSld">
      <pc:chgData name="Cohen, Samantha (sc2pg)" userId="S::sc2pg@virginia.edu::00765cc7-31bd-431d-b2b3-38c8fe88a53e" providerId="AD" clId="Web-{842F791B-9FD3-992D-C452-82FB6A79348B}" dt="2019-07-02T19:58:10.238" v="2" actId="20577"/>
      <pc:docMkLst>
        <pc:docMk/>
      </pc:docMkLst>
      <pc:sldChg chg="modSp">
        <pc:chgData name="Cohen, Samantha (sc2pg)" userId="S::sc2pg@virginia.edu::00765cc7-31bd-431d-b2b3-38c8fe88a53e" providerId="AD" clId="Web-{842F791B-9FD3-992D-C452-82FB6A79348B}" dt="2019-07-02T19:58:08.567" v="1" actId="20577"/>
        <pc:sldMkLst>
          <pc:docMk/>
          <pc:sldMk cId="158492698" sldId="323"/>
        </pc:sldMkLst>
        <pc:spChg chg="mod">
          <ac:chgData name="Cohen, Samantha (sc2pg)" userId="S::sc2pg@virginia.edu::00765cc7-31bd-431d-b2b3-38c8fe88a53e" providerId="AD" clId="Web-{842F791B-9FD3-992D-C452-82FB6A79348B}" dt="2019-07-02T19:58:08.567" v="1" actId="20577"/>
          <ac:spMkLst>
            <pc:docMk/>
            <pc:sldMk cId="158492698" sldId="323"/>
            <ac:spMk id="10248" creationId="{00000000-0000-0000-0000-00000000000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JJANKOWS\Downloads\tab3%20(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JJANKOWS\Downloads\tab3%20(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JJANKOWS\Downloads\tab3%20(2).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JJANKOWS\Downloads\tab3%20(2).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ad.nsf.gov\NSF\Users\JJANKOWS\PPUSER\Powerpnt\AAAS%20Jankowski2.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ad.nsf.gov\NSF\Users\JJANKOWS\PPUSER\Powerpnt\AAAS%20Jankowski2.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ad.nsf.gov\NSF\Users\JJANKOWS\PPUSER\Powerpnt\AAAS%20Jankowski2.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ad.nsf.gov\NSF\Users\JJANKOWS\PPUSER\Powerpnt\AAAS%20Jankowski2.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22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2793-4BA4-8CFF-FF708BBE2EF4}"/>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2793-4BA4-8CFF-FF708BBE2EF4}"/>
              </c:ext>
            </c:extLst>
          </c:dPt>
          <c:dPt>
            <c:idx val="2"/>
            <c:bubble3D val="0"/>
            <c:spPr>
              <a:solidFill>
                <a:schemeClr val="accent6">
                  <a:lumMod val="60000"/>
                  <a:lumOff val="4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5-2793-4BA4-8CFF-FF708BBE2EF4}"/>
              </c:ext>
            </c:extLst>
          </c:dPt>
          <c:dPt>
            <c:idx val="3"/>
            <c:bubble3D val="0"/>
            <c:spPr>
              <a:solidFill>
                <a:srgbClr val="FF0000"/>
              </a:solidFill>
              <a:ln w="25400">
                <a:solidFill>
                  <a:schemeClr val="lt1"/>
                </a:solidFill>
              </a:ln>
              <a:effectLst/>
              <a:sp3d contourW="25400">
                <a:contourClr>
                  <a:schemeClr val="lt1"/>
                </a:contourClr>
              </a:sp3d>
            </c:spPr>
            <c:extLst>
              <c:ext xmlns:c16="http://schemas.microsoft.com/office/drawing/2014/chart" uri="{C3380CC4-5D6E-409C-BE32-E72D297353CC}">
                <c16:uniqueId val="{00000007-2793-4BA4-8CFF-FF708BBE2EF4}"/>
              </c:ext>
            </c:extLst>
          </c:dPt>
          <c:dPt>
            <c:idx val="4"/>
            <c:bubble3D val="0"/>
            <c:spPr>
              <a:solidFill>
                <a:srgbClr val="FFC000"/>
              </a:solidFill>
              <a:ln w="25400">
                <a:solidFill>
                  <a:schemeClr val="lt1"/>
                </a:solidFill>
              </a:ln>
              <a:effectLst/>
              <a:sp3d contourW="25400">
                <a:contourClr>
                  <a:schemeClr val="lt1"/>
                </a:contourClr>
              </a:sp3d>
            </c:spPr>
            <c:extLst>
              <c:ext xmlns:c16="http://schemas.microsoft.com/office/drawing/2014/chart" uri="{C3380CC4-5D6E-409C-BE32-E72D297353CC}">
                <c16:uniqueId val="{00000009-2793-4BA4-8CFF-FF708BBE2EF4}"/>
              </c:ext>
            </c:extLst>
          </c:dPt>
          <c:cat>
            <c:strRef>
              <c:f>Total!$I$17:$I$21</c:f>
              <c:strCache>
                <c:ptCount val="5"/>
                <c:pt idx="0">
                  <c:v>Business</c:v>
                </c:pt>
                <c:pt idx="1">
                  <c:v>Federal government</c:v>
                </c:pt>
                <c:pt idx="2">
                  <c:v>FFRDCs</c:v>
                </c:pt>
                <c:pt idx="3">
                  <c:v>Higher education</c:v>
                </c:pt>
                <c:pt idx="4">
                  <c:v>Other nonprofit organizations</c:v>
                </c:pt>
              </c:strCache>
            </c:strRef>
          </c:cat>
          <c:val>
            <c:numRef>
              <c:f>Total!$J$17:$J$21</c:f>
              <c:numCache>
                <c:formatCode>_#0.0</c:formatCode>
                <c:ptCount val="5"/>
                <c:pt idx="0">
                  <c:v>71.3</c:v>
                </c:pt>
                <c:pt idx="1">
                  <c:v>7.5</c:v>
                </c:pt>
                <c:pt idx="2">
                  <c:v>3.8</c:v>
                </c:pt>
                <c:pt idx="3">
                  <c:v>13.2</c:v>
                </c:pt>
                <c:pt idx="4">
                  <c:v>4</c:v>
                </c:pt>
              </c:numCache>
            </c:numRef>
          </c:val>
          <c:extLst>
            <c:ext xmlns:c16="http://schemas.microsoft.com/office/drawing/2014/chart" uri="{C3380CC4-5D6E-409C-BE32-E72D297353CC}">
              <c16:uniqueId val="{0000000A-2793-4BA4-8CFF-FF708BBE2EF4}"/>
            </c:ext>
          </c:extLst>
        </c:ser>
        <c:dLbls>
          <c:showLegendKey val="0"/>
          <c:showVal val="0"/>
          <c:showCatName val="0"/>
          <c:showSerName val="0"/>
          <c:showPercent val="0"/>
          <c:showBubbleSize val="0"/>
          <c:showLeaderLines val="1"/>
        </c:dLbls>
      </c:pie3D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22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BF0B-461E-AE39-F8CF6F62A0D7}"/>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BF0B-461E-AE39-F8CF6F62A0D7}"/>
              </c:ext>
            </c:extLst>
          </c:dPt>
          <c:dPt>
            <c:idx val="2"/>
            <c:bubble3D val="0"/>
            <c:spPr>
              <a:solidFill>
                <a:srgbClr val="00B0F0"/>
              </a:solidFill>
              <a:ln w="25400">
                <a:solidFill>
                  <a:schemeClr val="lt1"/>
                </a:solidFill>
              </a:ln>
              <a:effectLst/>
              <a:sp3d contourW="25400">
                <a:contourClr>
                  <a:schemeClr val="lt1"/>
                </a:contourClr>
              </a:sp3d>
            </c:spPr>
            <c:extLst>
              <c:ext xmlns:c16="http://schemas.microsoft.com/office/drawing/2014/chart" uri="{C3380CC4-5D6E-409C-BE32-E72D297353CC}">
                <c16:uniqueId val="{00000005-BF0B-461E-AE39-F8CF6F62A0D7}"/>
              </c:ext>
            </c:extLst>
          </c:dPt>
          <c:dPt>
            <c:idx val="3"/>
            <c:bubble3D val="0"/>
            <c:spPr>
              <a:solidFill>
                <a:srgbClr val="FF0000"/>
              </a:solidFill>
              <a:ln w="25400">
                <a:solidFill>
                  <a:schemeClr val="lt1"/>
                </a:solidFill>
              </a:ln>
              <a:effectLst/>
              <a:sp3d contourW="25400">
                <a:contourClr>
                  <a:schemeClr val="lt1"/>
                </a:contourClr>
              </a:sp3d>
            </c:spPr>
            <c:extLst>
              <c:ext xmlns:c16="http://schemas.microsoft.com/office/drawing/2014/chart" uri="{C3380CC4-5D6E-409C-BE32-E72D297353CC}">
                <c16:uniqueId val="{00000007-BF0B-461E-AE39-F8CF6F62A0D7}"/>
              </c:ext>
            </c:extLst>
          </c:dPt>
          <c:dPt>
            <c:idx val="4"/>
            <c:bubble3D val="0"/>
            <c:spPr>
              <a:solidFill>
                <a:srgbClr val="FFC000"/>
              </a:solidFill>
              <a:ln w="25400">
                <a:solidFill>
                  <a:schemeClr val="lt1"/>
                </a:solidFill>
              </a:ln>
              <a:effectLst/>
              <a:sp3d contourW="25400">
                <a:contourClr>
                  <a:schemeClr val="lt1"/>
                </a:contourClr>
              </a:sp3d>
            </c:spPr>
            <c:extLst>
              <c:ext xmlns:c16="http://schemas.microsoft.com/office/drawing/2014/chart" uri="{C3380CC4-5D6E-409C-BE32-E72D297353CC}">
                <c16:uniqueId val="{00000009-BF0B-461E-AE39-F8CF6F62A0D7}"/>
              </c:ext>
            </c:extLst>
          </c:dPt>
          <c:cat>
            <c:strRef>
              <c:f>Total!$T$18:$T$22</c:f>
              <c:strCache>
                <c:ptCount val="5"/>
                <c:pt idx="0">
                  <c:v>Business</c:v>
                </c:pt>
                <c:pt idx="1">
                  <c:v>Federal government</c:v>
                </c:pt>
                <c:pt idx="2">
                  <c:v>Nonfederal government</c:v>
                </c:pt>
                <c:pt idx="3">
                  <c:v>Higher education</c:v>
                </c:pt>
                <c:pt idx="4">
                  <c:v>Other nonprofit organizations</c:v>
                </c:pt>
              </c:strCache>
            </c:strRef>
          </c:cat>
          <c:val>
            <c:numRef>
              <c:f>Total!$U$18:$U$22</c:f>
              <c:numCache>
                <c:formatCode>_#0.0</c:formatCode>
                <c:ptCount val="5"/>
                <c:pt idx="0">
                  <c:v>67.400000000000006</c:v>
                </c:pt>
                <c:pt idx="1">
                  <c:v>24.1</c:v>
                </c:pt>
                <c:pt idx="2">
                  <c:v>0.9</c:v>
                </c:pt>
                <c:pt idx="3">
                  <c:v>3.7</c:v>
                </c:pt>
                <c:pt idx="4">
                  <c:v>4</c:v>
                </c:pt>
              </c:numCache>
            </c:numRef>
          </c:val>
          <c:extLst>
            <c:ext xmlns:c16="http://schemas.microsoft.com/office/drawing/2014/chart" uri="{C3380CC4-5D6E-409C-BE32-E72D297353CC}">
              <c16:uniqueId val="{0000000A-BF0B-461E-AE39-F8CF6F62A0D7}"/>
            </c:ext>
          </c:extLst>
        </c:ser>
        <c:dLbls>
          <c:showLegendKey val="0"/>
          <c:showVal val="0"/>
          <c:showCatName val="0"/>
          <c:showSerName val="0"/>
          <c:showPercent val="0"/>
          <c:showBubbleSize val="0"/>
          <c:showLeaderLines val="1"/>
        </c:dLbls>
      </c:pie3D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2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3.3084289391144869E-2"/>
          <c:y val="5.9320720426158019E-2"/>
          <c:w val="0.93383142121771023"/>
          <c:h val="0.88135855914768402"/>
        </c:manualLayout>
      </c:layout>
      <c:pie3DChart>
        <c:varyColors val="1"/>
        <c:ser>
          <c:idx val="0"/>
          <c:order val="0"/>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BE69-4F45-B631-665E702D3E15}"/>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BE69-4F45-B631-665E702D3E15}"/>
              </c:ext>
            </c:extLst>
          </c:dPt>
          <c:dPt>
            <c:idx val="2"/>
            <c:bubble3D val="0"/>
            <c:spPr>
              <a:solidFill>
                <a:schemeClr val="accent2">
                  <a:lumMod val="60000"/>
                  <a:lumOff val="4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5-BE69-4F45-B631-665E702D3E15}"/>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BE69-4F45-B631-665E702D3E15}"/>
              </c:ext>
            </c:extLst>
          </c:dPt>
          <c:dPt>
            <c:idx val="4"/>
            <c:bubble3D val="0"/>
            <c:spPr>
              <a:solidFill>
                <a:srgbClr val="FF0000"/>
              </a:solidFill>
              <a:ln w="25400">
                <a:solidFill>
                  <a:schemeClr val="lt1"/>
                </a:solidFill>
              </a:ln>
              <a:effectLst/>
              <a:sp3d contourW="25400">
                <a:contourClr>
                  <a:schemeClr val="lt1"/>
                </a:contourClr>
              </a:sp3d>
            </c:spPr>
            <c:extLst>
              <c:ext xmlns:c16="http://schemas.microsoft.com/office/drawing/2014/chart" uri="{C3380CC4-5D6E-409C-BE32-E72D297353CC}">
                <c16:uniqueId val="{00000009-BE69-4F45-B631-665E702D3E15}"/>
              </c:ext>
            </c:extLst>
          </c:dPt>
          <c:dPt>
            <c:idx val="5"/>
            <c:bubble3D val="0"/>
            <c:spPr>
              <a:solidFill>
                <a:srgbClr val="FFC000"/>
              </a:solidFill>
              <a:ln w="25400">
                <a:solidFill>
                  <a:schemeClr val="lt1"/>
                </a:solidFill>
              </a:ln>
              <a:effectLst/>
              <a:sp3d contourW="25400">
                <a:contourClr>
                  <a:schemeClr val="lt1"/>
                </a:contourClr>
              </a:sp3d>
            </c:spPr>
            <c:extLst>
              <c:ext xmlns:c16="http://schemas.microsoft.com/office/drawing/2014/chart" uri="{C3380CC4-5D6E-409C-BE32-E72D297353CC}">
                <c16:uniqueId val="{0000000B-BE69-4F45-B631-665E702D3E15}"/>
              </c:ext>
            </c:extLst>
          </c:dPt>
          <c:cat>
            <c:strRef>
              <c:f>Basic!$A$1:$A$6</c:f>
              <c:strCache>
                <c:ptCount val="6"/>
                <c:pt idx="0">
                  <c:v>Business</c:v>
                </c:pt>
                <c:pt idx="1">
                  <c:v>Federal government</c:v>
                </c:pt>
                <c:pt idx="2">
                  <c:v>FFRDCs</c:v>
                </c:pt>
                <c:pt idx="3">
                  <c:v>Nonfederal government</c:v>
                </c:pt>
                <c:pt idx="4">
                  <c:v>Higher education</c:v>
                </c:pt>
                <c:pt idx="5">
                  <c:v>Other nonprofit organizations</c:v>
                </c:pt>
              </c:strCache>
            </c:strRef>
          </c:cat>
          <c:val>
            <c:numRef>
              <c:f>Basic!$B$1:$B$6</c:f>
              <c:numCache>
                <c:formatCode>_#0.0</c:formatCode>
                <c:ptCount val="6"/>
                <c:pt idx="0">
                  <c:v>25.8</c:v>
                </c:pt>
                <c:pt idx="1">
                  <c:v>7.3</c:v>
                </c:pt>
                <c:pt idx="2">
                  <c:v>5</c:v>
                </c:pt>
                <c:pt idx="3">
                  <c:v>0.1</c:v>
                </c:pt>
                <c:pt idx="4">
                  <c:v>49</c:v>
                </c:pt>
                <c:pt idx="5">
                  <c:v>12.7</c:v>
                </c:pt>
              </c:numCache>
            </c:numRef>
          </c:val>
          <c:extLst>
            <c:ext xmlns:c16="http://schemas.microsoft.com/office/drawing/2014/chart" uri="{C3380CC4-5D6E-409C-BE32-E72D297353CC}">
              <c16:uniqueId val="{0000000C-BE69-4F45-B631-665E702D3E15}"/>
            </c:ext>
          </c:extLst>
        </c:ser>
        <c:dLbls>
          <c:showLegendKey val="0"/>
          <c:showVal val="0"/>
          <c:showCatName val="0"/>
          <c:showSerName val="0"/>
          <c:showPercent val="0"/>
          <c:showBubbleSize val="0"/>
          <c:showLeaderLines val="1"/>
        </c:dLbls>
      </c:pie3D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24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CE8D-40B4-846E-2EFE000D37B8}"/>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CE8D-40B4-846E-2EFE000D37B8}"/>
              </c:ext>
            </c:extLst>
          </c:dPt>
          <c:dPt>
            <c:idx val="2"/>
            <c:bubble3D val="0"/>
            <c:spPr>
              <a:solidFill>
                <a:srgbClr val="00B0F0"/>
              </a:solidFill>
              <a:ln w="25400">
                <a:solidFill>
                  <a:schemeClr val="lt1"/>
                </a:solidFill>
              </a:ln>
              <a:effectLst/>
              <a:sp3d contourW="25400">
                <a:contourClr>
                  <a:schemeClr val="lt1"/>
                </a:contourClr>
              </a:sp3d>
            </c:spPr>
            <c:extLst>
              <c:ext xmlns:c16="http://schemas.microsoft.com/office/drawing/2014/chart" uri="{C3380CC4-5D6E-409C-BE32-E72D297353CC}">
                <c16:uniqueId val="{00000005-CE8D-40B4-846E-2EFE000D37B8}"/>
              </c:ext>
            </c:extLst>
          </c:dPt>
          <c:dPt>
            <c:idx val="3"/>
            <c:bubble3D val="0"/>
            <c:spPr>
              <a:solidFill>
                <a:srgbClr val="FF0000"/>
              </a:solidFill>
              <a:ln w="25400">
                <a:solidFill>
                  <a:schemeClr val="lt1"/>
                </a:solidFill>
              </a:ln>
              <a:effectLst/>
              <a:sp3d contourW="25400">
                <a:contourClr>
                  <a:schemeClr val="lt1"/>
                </a:contourClr>
              </a:sp3d>
            </c:spPr>
            <c:extLst>
              <c:ext xmlns:c16="http://schemas.microsoft.com/office/drawing/2014/chart" uri="{C3380CC4-5D6E-409C-BE32-E72D297353CC}">
                <c16:uniqueId val="{00000007-CE8D-40B4-846E-2EFE000D37B8}"/>
              </c:ext>
            </c:extLst>
          </c:dPt>
          <c:dPt>
            <c:idx val="4"/>
            <c:bubble3D val="0"/>
            <c:spPr>
              <a:solidFill>
                <a:srgbClr val="FFC000"/>
              </a:solidFill>
              <a:ln w="25400">
                <a:solidFill>
                  <a:schemeClr val="lt1"/>
                </a:solidFill>
              </a:ln>
              <a:effectLst/>
              <a:sp3d contourW="25400">
                <a:contourClr>
                  <a:schemeClr val="lt1"/>
                </a:contourClr>
              </a:sp3d>
            </c:spPr>
            <c:extLst>
              <c:ext xmlns:c16="http://schemas.microsoft.com/office/drawing/2014/chart" uri="{C3380CC4-5D6E-409C-BE32-E72D297353CC}">
                <c16:uniqueId val="{00000009-CE8D-40B4-846E-2EFE000D37B8}"/>
              </c:ext>
            </c:extLst>
          </c:dPt>
          <c:cat>
            <c:strRef>
              <c:f>Basic!$E$1:$E$5</c:f>
              <c:strCache>
                <c:ptCount val="5"/>
                <c:pt idx="0">
                  <c:v>Business</c:v>
                </c:pt>
                <c:pt idx="1">
                  <c:v>Federal government</c:v>
                </c:pt>
                <c:pt idx="2">
                  <c:v>Nonfederal government</c:v>
                </c:pt>
                <c:pt idx="3">
                  <c:v>Higher education</c:v>
                </c:pt>
                <c:pt idx="4">
                  <c:v>Other nonprofit organizations</c:v>
                </c:pt>
              </c:strCache>
            </c:strRef>
          </c:cat>
          <c:val>
            <c:numRef>
              <c:f>Basic!$F$1:$F$5</c:f>
              <c:numCache>
                <c:formatCode>_#0.0</c:formatCode>
                <c:ptCount val="5"/>
                <c:pt idx="0">
                  <c:v>27.2</c:v>
                </c:pt>
                <c:pt idx="1">
                  <c:v>43.5</c:v>
                </c:pt>
                <c:pt idx="2">
                  <c:v>2.8</c:v>
                </c:pt>
                <c:pt idx="3">
                  <c:v>13.6</c:v>
                </c:pt>
                <c:pt idx="4">
                  <c:v>12.9</c:v>
                </c:pt>
              </c:numCache>
            </c:numRef>
          </c:val>
          <c:extLst>
            <c:ext xmlns:c16="http://schemas.microsoft.com/office/drawing/2014/chart" uri="{C3380CC4-5D6E-409C-BE32-E72D297353CC}">
              <c16:uniqueId val="{0000000A-CE8D-40B4-846E-2EFE000D37B8}"/>
            </c:ext>
          </c:extLst>
        </c:ser>
        <c:dLbls>
          <c:showLegendKey val="0"/>
          <c:showVal val="0"/>
          <c:showCatName val="0"/>
          <c:showSerName val="0"/>
          <c:showPercent val="0"/>
          <c:showBubbleSize val="0"/>
          <c:showLeaderLines val="1"/>
        </c:dLbls>
      </c:pie3D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'Time series'!$B$17</c:f>
              <c:strCache>
                <c:ptCount val="1"/>
                <c:pt idx="0">
                  <c:v>Total</c:v>
                </c:pt>
              </c:strCache>
            </c:strRef>
          </c:tx>
          <c:spPr>
            <a:ln w="28575" cap="rnd">
              <a:solidFill>
                <a:schemeClr val="tx2"/>
              </a:solidFill>
              <a:round/>
            </a:ln>
            <a:effectLst/>
          </c:spPr>
          <c:marker>
            <c:symbol val="none"/>
          </c:marker>
          <c:cat>
            <c:strRef>
              <c:f>'Time series'!$A$18:$A$68</c:f>
              <c:strCache>
                <c:ptCount val="51"/>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strCache>
            </c:strRef>
          </c:cat>
          <c:val>
            <c:numRef>
              <c:f>'Time series'!$B$18:$B$68</c:f>
              <c:numCache>
                <c:formatCode>#,##0.00</c:formatCode>
                <c:ptCount val="51"/>
                <c:pt idx="0">
                  <c:v>2.72</c:v>
                </c:pt>
                <c:pt idx="1">
                  <c:v>2.71</c:v>
                </c:pt>
                <c:pt idx="2">
                  <c:v>2.71</c:v>
                </c:pt>
                <c:pt idx="3">
                  <c:v>2.62</c:v>
                </c:pt>
                <c:pt idx="4">
                  <c:v>2.5499999999999998</c:v>
                </c:pt>
                <c:pt idx="5">
                  <c:v>2.44</c:v>
                </c:pt>
                <c:pt idx="6">
                  <c:v>2.31</c:v>
                </c:pt>
                <c:pt idx="7">
                  <c:v>2.2400000000000002</c:v>
                </c:pt>
                <c:pt idx="8">
                  <c:v>2.17</c:v>
                </c:pt>
                <c:pt idx="9">
                  <c:v>2.15</c:v>
                </c:pt>
                <c:pt idx="10">
                  <c:v>2.11</c:v>
                </c:pt>
                <c:pt idx="11">
                  <c:v>2.1</c:v>
                </c:pt>
                <c:pt idx="12">
                  <c:v>2.08</c:v>
                </c:pt>
                <c:pt idx="13">
                  <c:v>2.0699999999999998</c:v>
                </c:pt>
                <c:pt idx="14">
                  <c:v>2.1</c:v>
                </c:pt>
                <c:pt idx="15">
                  <c:v>2.21</c:v>
                </c:pt>
                <c:pt idx="16">
                  <c:v>2.25</c:v>
                </c:pt>
                <c:pt idx="17">
                  <c:v>2.41</c:v>
                </c:pt>
                <c:pt idx="18">
                  <c:v>2.4700000000000002</c:v>
                </c:pt>
                <c:pt idx="19">
                  <c:v>2.5299999999999998</c:v>
                </c:pt>
                <c:pt idx="20">
                  <c:v>2.64</c:v>
                </c:pt>
                <c:pt idx="21">
                  <c:v>2.62</c:v>
                </c:pt>
                <c:pt idx="22">
                  <c:v>2.59</c:v>
                </c:pt>
                <c:pt idx="23">
                  <c:v>2.5499999999999998</c:v>
                </c:pt>
                <c:pt idx="24">
                  <c:v>2.5099999999999998</c:v>
                </c:pt>
                <c:pt idx="25">
                  <c:v>2.54</c:v>
                </c:pt>
                <c:pt idx="26">
                  <c:v>2.61</c:v>
                </c:pt>
                <c:pt idx="27">
                  <c:v>2.5299999999999998</c:v>
                </c:pt>
                <c:pt idx="28">
                  <c:v>2.41</c:v>
                </c:pt>
                <c:pt idx="29">
                  <c:v>2.3199999999999998</c:v>
                </c:pt>
                <c:pt idx="30">
                  <c:v>2.4</c:v>
                </c:pt>
                <c:pt idx="31">
                  <c:v>2.44</c:v>
                </c:pt>
                <c:pt idx="32">
                  <c:v>2.46</c:v>
                </c:pt>
                <c:pt idx="33">
                  <c:v>2.48</c:v>
                </c:pt>
                <c:pt idx="34">
                  <c:v>2.5299999999999998</c:v>
                </c:pt>
                <c:pt idx="35">
                  <c:v>2.61</c:v>
                </c:pt>
                <c:pt idx="36">
                  <c:v>2.62</c:v>
                </c:pt>
                <c:pt idx="37">
                  <c:v>2.5299999999999998</c:v>
                </c:pt>
                <c:pt idx="38">
                  <c:v>2.5299999999999998</c:v>
                </c:pt>
                <c:pt idx="39">
                  <c:v>2.4700000000000002</c:v>
                </c:pt>
                <c:pt idx="40">
                  <c:v>2.48</c:v>
                </c:pt>
                <c:pt idx="41">
                  <c:v>2.5299999999999998</c:v>
                </c:pt>
                <c:pt idx="42">
                  <c:v>2.61</c:v>
                </c:pt>
                <c:pt idx="43">
                  <c:v>2.75</c:v>
                </c:pt>
                <c:pt idx="44">
                  <c:v>2.79</c:v>
                </c:pt>
                <c:pt idx="45">
                  <c:v>2.72</c:v>
                </c:pt>
                <c:pt idx="46">
                  <c:v>2.75</c:v>
                </c:pt>
                <c:pt idx="47">
                  <c:v>2.68</c:v>
                </c:pt>
                <c:pt idx="48">
                  <c:v>2.72</c:v>
                </c:pt>
                <c:pt idx="49">
                  <c:v>2.73</c:v>
                </c:pt>
                <c:pt idx="50">
                  <c:v>2.73</c:v>
                </c:pt>
              </c:numCache>
            </c:numRef>
          </c:val>
          <c:smooth val="0"/>
          <c:extLst>
            <c:ext xmlns:c16="http://schemas.microsoft.com/office/drawing/2014/chart" uri="{C3380CC4-5D6E-409C-BE32-E72D297353CC}">
              <c16:uniqueId val="{00000000-D3A4-4FEC-B864-313790A4881F}"/>
            </c:ext>
          </c:extLst>
        </c:ser>
        <c:ser>
          <c:idx val="1"/>
          <c:order val="1"/>
          <c:tx>
            <c:strRef>
              <c:f>'Time series'!$C$17</c:f>
              <c:strCache>
                <c:ptCount val="1"/>
                <c:pt idx="0">
                  <c:v>Federally funded</c:v>
                </c:pt>
              </c:strCache>
            </c:strRef>
          </c:tx>
          <c:spPr>
            <a:ln w="28575" cap="rnd">
              <a:solidFill>
                <a:schemeClr val="accent2"/>
              </a:solidFill>
              <a:round/>
            </a:ln>
            <a:effectLst/>
          </c:spPr>
          <c:marker>
            <c:symbol val="none"/>
          </c:marker>
          <c:cat>
            <c:strRef>
              <c:f>'Time series'!$A$18:$A$68</c:f>
              <c:strCache>
                <c:ptCount val="51"/>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strCache>
            </c:strRef>
          </c:cat>
          <c:val>
            <c:numRef>
              <c:f>'Time series'!$C$18:$C$68</c:f>
              <c:numCache>
                <c:formatCode>#,##0.00</c:formatCode>
                <c:ptCount val="51"/>
                <c:pt idx="0">
                  <c:v>1.77</c:v>
                </c:pt>
                <c:pt idx="1">
                  <c:v>1.74</c:v>
                </c:pt>
                <c:pt idx="2">
                  <c:v>1.69</c:v>
                </c:pt>
                <c:pt idx="3">
                  <c:v>1.59</c:v>
                </c:pt>
                <c:pt idx="4">
                  <c:v>1.49</c:v>
                </c:pt>
                <c:pt idx="5">
                  <c:v>1.39</c:v>
                </c:pt>
                <c:pt idx="6">
                  <c:v>1.3</c:v>
                </c:pt>
                <c:pt idx="7">
                  <c:v>1.25</c:v>
                </c:pt>
                <c:pt idx="8">
                  <c:v>1.1599999999999999</c:v>
                </c:pt>
                <c:pt idx="9">
                  <c:v>1.1200000000000001</c:v>
                </c:pt>
                <c:pt idx="10">
                  <c:v>1.1000000000000001</c:v>
                </c:pt>
                <c:pt idx="11">
                  <c:v>1.08</c:v>
                </c:pt>
                <c:pt idx="12">
                  <c:v>1.06</c:v>
                </c:pt>
                <c:pt idx="13">
                  <c:v>1.04</c:v>
                </c:pt>
                <c:pt idx="14">
                  <c:v>1.03</c:v>
                </c:pt>
                <c:pt idx="15">
                  <c:v>1.05</c:v>
                </c:pt>
                <c:pt idx="16">
                  <c:v>1.05</c:v>
                </c:pt>
                <c:pt idx="17">
                  <c:v>1.1100000000000001</c:v>
                </c:pt>
                <c:pt idx="18">
                  <c:v>1.1399999999999999</c:v>
                </c:pt>
                <c:pt idx="19">
                  <c:v>1.1499999999999999</c:v>
                </c:pt>
                <c:pt idx="20">
                  <c:v>1.21</c:v>
                </c:pt>
                <c:pt idx="21">
                  <c:v>1.19</c:v>
                </c:pt>
                <c:pt idx="22">
                  <c:v>1.2</c:v>
                </c:pt>
                <c:pt idx="23">
                  <c:v>1.1399999999999999</c:v>
                </c:pt>
                <c:pt idx="24">
                  <c:v>1.07</c:v>
                </c:pt>
                <c:pt idx="25">
                  <c:v>1.03</c:v>
                </c:pt>
                <c:pt idx="26">
                  <c:v>0.98</c:v>
                </c:pt>
                <c:pt idx="27">
                  <c:v>0.93</c:v>
                </c:pt>
                <c:pt idx="28">
                  <c:v>0.88</c:v>
                </c:pt>
                <c:pt idx="29">
                  <c:v>0.83</c:v>
                </c:pt>
                <c:pt idx="30">
                  <c:v>0.82</c:v>
                </c:pt>
                <c:pt idx="31">
                  <c:v>0.78</c:v>
                </c:pt>
                <c:pt idx="32">
                  <c:v>0.75</c:v>
                </c:pt>
                <c:pt idx="33">
                  <c:v>0.73</c:v>
                </c:pt>
                <c:pt idx="34">
                  <c:v>0.69</c:v>
                </c:pt>
                <c:pt idx="35">
                  <c:v>0.65</c:v>
                </c:pt>
                <c:pt idx="36">
                  <c:v>0.69</c:v>
                </c:pt>
                <c:pt idx="37">
                  <c:v>0.72</c:v>
                </c:pt>
                <c:pt idx="38">
                  <c:v>0.74</c:v>
                </c:pt>
                <c:pt idx="39">
                  <c:v>0.74</c:v>
                </c:pt>
                <c:pt idx="40">
                  <c:v>0.73</c:v>
                </c:pt>
                <c:pt idx="41">
                  <c:v>0.72</c:v>
                </c:pt>
                <c:pt idx="42">
                  <c:v>0.73</c:v>
                </c:pt>
                <c:pt idx="43">
                  <c:v>0.8</c:v>
                </c:pt>
                <c:pt idx="44">
                  <c:v>0.87</c:v>
                </c:pt>
                <c:pt idx="45">
                  <c:v>0.85</c:v>
                </c:pt>
                <c:pt idx="46">
                  <c:v>0.82</c:v>
                </c:pt>
                <c:pt idx="47">
                  <c:v>0.77</c:v>
                </c:pt>
                <c:pt idx="48">
                  <c:v>0.72</c:v>
                </c:pt>
                <c:pt idx="49">
                  <c:v>0.68</c:v>
                </c:pt>
                <c:pt idx="50">
                  <c:v>0.67</c:v>
                </c:pt>
              </c:numCache>
            </c:numRef>
          </c:val>
          <c:smooth val="0"/>
          <c:extLst>
            <c:ext xmlns:c16="http://schemas.microsoft.com/office/drawing/2014/chart" uri="{C3380CC4-5D6E-409C-BE32-E72D297353CC}">
              <c16:uniqueId val="{00000001-D3A4-4FEC-B864-313790A4881F}"/>
            </c:ext>
          </c:extLst>
        </c:ser>
        <c:ser>
          <c:idx val="2"/>
          <c:order val="2"/>
          <c:tx>
            <c:strRef>
              <c:f>'Time series'!$D$17</c:f>
              <c:strCache>
                <c:ptCount val="1"/>
                <c:pt idx="0">
                  <c:v>Business funded</c:v>
                </c:pt>
              </c:strCache>
            </c:strRef>
          </c:tx>
          <c:spPr>
            <a:ln w="28575" cap="rnd">
              <a:solidFill>
                <a:schemeClr val="accent1">
                  <a:lumMod val="75000"/>
                </a:schemeClr>
              </a:solidFill>
              <a:prstDash val="sysDash"/>
              <a:round/>
            </a:ln>
            <a:effectLst/>
          </c:spPr>
          <c:marker>
            <c:symbol val="none"/>
          </c:marker>
          <c:cat>
            <c:strRef>
              <c:f>'Time series'!$A$18:$A$68</c:f>
              <c:strCache>
                <c:ptCount val="51"/>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strCache>
            </c:strRef>
          </c:cat>
          <c:val>
            <c:numRef>
              <c:f>'Time series'!$D$18:$D$68</c:f>
              <c:numCache>
                <c:formatCode>#,##0.00</c:formatCode>
                <c:ptCount val="51"/>
                <c:pt idx="0">
                  <c:v>0.88</c:v>
                </c:pt>
                <c:pt idx="1">
                  <c:v>0.9</c:v>
                </c:pt>
                <c:pt idx="2">
                  <c:v>0.95</c:v>
                </c:pt>
                <c:pt idx="3">
                  <c:v>0.96</c:v>
                </c:pt>
                <c:pt idx="4">
                  <c:v>0.98</c:v>
                </c:pt>
                <c:pt idx="5">
                  <c:v>0.97</c:v>
                </c:pt>
                <c:pt idx="6">
                  <c:v>0.93</c:v>
                </c:pt>
                <c:pt idx="7">
                  <c:v>0.91</c:v>
                </c:pt>
                <c:pt idx="8">
                  <c:v>0.93</c:v>
                </c:pt>
                <c:pt idx="9">
                  <c:v>0.96</c:v>
                </c:pt>
                <c:pt idx="10">
                  <c:v>0.94</c:v>
                </c:pt>
                <c:pt idx="11">
                  <c:v>0.94</c:v>
                </c:pt>
                <c:pt idx="12">
                  <c:v>0.94</c:v>
                </c:pt>
                <c:pt idx="13">
                  <c:v>0.95</c:v>
                </c:pt>
                <c:pt idx="14">
                  <c:v>0.99</c:v>
                </c:pt>
                <c:pt idx="15">
                  <c:v>1.08</c:v>
                </c:pt>
                <c:pt idx="16">
                  <c:v>1.1200000000000001</c:v>
                </c:pt>
                <c:pt idx="17">
                  <c:v>1.22</c:v>
                </c:pt>
                <c:pt idx="18">
                  <c:v>1.24</c:v>
                </c:pt>
                <c:pt idx="19">
                  <c:v>1.29</c:v>
                </c:pt>
                <c:pt idx="20">
                  <c:v>1.33</c:v>
                </c:pt>
                <c:pt idx="21">
                  <c:v>1.33</c:v>
                </c:pt>
                <c:pt idx="22">
                  <c:v>1.28</c:v>
                </c:pt>
                <c:pt idx="23">
                  <c:v>1.29</c:v>
                </c:pt>
                <c:pt idx="24">
                  <c:v>1.33</c:v>
                </c:pt>
                <c:pt idx="25">
                  <c:v>1.39</c:v>
                </c:pt>
                <c:pt idx="26">
                  <c:v>1.49</c:v>
                </c:pt>
                <c:pt idx="27">
                  <c:v>1.47</c:v>
                </c:pt>
                <c:pt idx="28">
                  <c:v>1.4</c:v>
                </c:pt>
                <c:pt idx="29">
                  <c:v>1.36</c:v>
                </c:pt>
                <c:pt idx="30">
                  <c:v>1.45</c:v>
                </c:pt>
                <c:pt idx="31">
                  <c:v>1.52</c:v>
                </c:pt>
                <c:pt idx="32">
                  <c:v>1.58</c:v>
                </c:pt>
                <c:pt idx="33">
                  <c:v>1.63</c:v>
                </c:pt>
                <c:pt idx="34">
                  <c:v>1.7</c:v>
                </c:pt>
                <c:pt idx="35">
                  <c:v>1.81</c:v>
                </c:pt>
                <c:pt idx="36">
                  <c:v>1.77</c:v>
                </c:pt>
                <c:pt idx="37">
                  <c:v>1.65</c:v>
                </c:pt>
                <c:pt idx="38">
                  <c:v>1.62</c:v>
                </c:pt>
                <c:pt idx="39">
                  <c:v>1.56</c:v>
                </c:pt>
                <c:pt idx="40">
                  <c:v>1.59</c:v>
                </c:pt>
                <c:pt idx="41">
                  <c:v>1.64</c:v>
                </c:pt>
                <c:pt idx="42">
                  <c:v>1.7</c:v>
                </c:pt>
                <c:pt idx="43">
                  <c:v>1.75</c:v>
                </c:pt>
                <c:pt idx="44">
                  <c:v>1.71</c:v>
                </c:pt>
                <c:pt idx="45">
                  <c:v>1.66</c:v>
                </c:pt>
                <c:pt idx="46">
                  <c:v>1.72</c:v>
                </c:pt>
                <c:pt idx="47">
                  <c:v>1.71</c:v>
                </c:pt>
                <c:pt idx="48">
                  <c:v>1.78</c:v>
                </c:pt>
                <c:pt idx="49">
                  <c:v>1.83</c:v>
                </c:pt>
                <c:pt idx="50">
                  <c:v>1.84</c:v>
                </c:pt>
              </c:numCache>
            </c:numRef>
          </c:val>
          <c:smooth val="0"/>
          <c:extLst>
            <c:ext xmlns:c16="http://schemas.microsoft.com/office/drawing/2014/chart" uri="{C3380CC4-5D6E-409C-BE32-E72D297353CC}">
              <c16:uniqueId val="{00000002-D3A4-4FEC-B864-313790A4881F}"/>
            </c:ext>
          </c:extLst>
        </c:ser>
        <c:ser>
          <c:idx val="3"/>
          <c:order val="3"/>
          <c:tx>
            <c:strRef>
              <c:f>'Time series'!$E$17</c:f>
              <c:strCache>
                <c:ptCount val="1"/>
                <c:pt idx="0">
                  <c:v>Other nonfederal</c:v>
                </c:pt>
              </c:strCache>
            </c:strRef>
          </c:tx>
          <c:spPr>
            <a:ln w="28575" cap="rnd">
              <a:solidFill>
                <a:srgbClr val="FF7C80"/>
              </a:solidFill>
              <a:round/>
            </a:ln>
            <a:effectLst/>
          </c:spPr>
          <c:marker>
            <c:symbol val="none"/>
          </c:marker>
          <c:dPt>
            <c:idx val="23"/>
            <c:marker>
              <c:symbol val="none"/>
            </c:marker>
            <c:bubble3D val="0"/>
            <c:spPr>
              <a:ln w="38100" cap="rnd">
                <a:solidFill>
                  <a:srgbClr val="FF7C80"/>
                </a:solidFill>
                <a:round/>
              </a:ln>
              <a:effectLst/>
            </c:spPr>
            <c:extLst>
              <c:ext xmlns:c16="http://schemas.microsoft.com/office/drawing/2014/chart" uri="{C3380CC4-5D6E-409C-BE32-E72D297353CC}">
                <c16:uniqueId val="{00000000-3187-4648-8C17-7AF8E5CE062C}"/>
              </c:ext>
            </c:extLst>
          </c:dPt>
          <c:cat>
            <c:strRef>
              <c:f>'Time series'!$A$18:$A$68</c:f>
              <c:strCache>
                <c:ptCount val="51"/>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strCache>
            </c:strRef>
          </c:cat>
          <c:val>
            <c:numRef>
              <c:f>'Time series'!$E$18:$E$68</c:f>
              <c:numCache>
                <c:formatCode>#,##0.00</c:formatCode>
                <c:ptCount val="51"/>
                <c:pt idx="0">
                  <c:v>7.0000000000000007E-2</c:v>
                </c:pt>
                <c:pt idx="1">
                  <c:v>7.0000000000000007E-2</c:v>
                </c:pt>
                <c:pt idx="2">
                  <c:v>7.0000000000000007E-2</c:v>
                </c:pt>
                <c:pt idx="3">
                  <c:v>7.0000000000000007E-2</c:v>
                </c:pt>
                <c:pt idx="4">
                  <c:v>7.0000000000000007E-2</c:v>
                </c:pt>
                <c:pt idx="5">
                  <c:v>0.08</c:v>
                </c:pt>
                <c:pt idx="6">
                  <c:v>0.08</c:v>
                </c:pt>
                <c:pt idx="7">
                  <c:v>0.08</c:v>
                </c:pt>
                <c:pt idx="8">
                  <c:v>7.0000000000000007E-2</c:v>
                </c:pt>
                <c:pt idx="9">
                  <c:v>0.08</c:v>
                </c:pt>
                <c:pt idx="10">
                  <c:v>0.08</c:v>
                </c:pt>
                <c:pt idx="11">
                  <c:v>0.08</c:v>
                </c:pt>
                <c:pt idx="12">
                  <c:v>0.08</c:v>
                </c:pt>
                <c:pt idx="13">
                  <c:v>0.08</c:v>
                </c:pt>
                <c:pt idx="14">
                  <c:v>0.08</c:v>
                </c:pt>
                <c:pt idx="15">
                  <c:v>0.08</c:v>
                </c:pt>
                <c:pt idx="16">
                  <c:v>0.08</c:v>
                </c:pt>
                <c:pt idx="17">
                  <c:v>0.09</c:v>
                </c:pt>
                <c:pt idx="18">
                  <c:v>0.09</c:v>
                </c:pt>
                <c:pt idx="19">
                  <c:v>0.09</c:v>
                </c:pt>
                <c:pt idx="20">
                  <c:v>0.09</c:v>
                </c:pt>
                <c:pt idx="21">
                  <c:v>0.1</c:v>
                </c:pt>
                <c:pt idx="22">
                  <c:v>0.11</c:v>
                </c:pt>
                <c:pt idx="23">
                  <c:v>0.11</c:v>
                </c:pt>
                <c:pt idx="24">
                  <c:v>0.11</c:v>
                </c:pt>
                <c:pt idx="25">
                  <c:v>0.12</c:v>
                </c:pt>
                <c:pt idx="26">
                  <c:v>0.13</c:v>
                </c:pt>
                <c:pt idx="27">
                  <c:v>0.13</c:v>
                </c:pt>
                <c:pt idx="28">
                  <c:v>0.13</c:v>
                </c:pt>
                <c:pt idx="29">
                  <c:v>0.13</c:v>
                </c:pt>
                <c:pt idx="30">
                  <c:v>0.13</c:v>
                </c:pt>
                <c:pt idx="31">
                  <c:v>0.13</c:v>
                </c:pt>
                <c:pt idx="32">
                  <c:v>0.13</c:v>
                </c:pt>
                <c:pt idx="33">
                  <c:v>0.13</c:v>
                </c:pt>
                <c:pt idx="34">
                  <c:v>0.14000000000000001</c:v>
                </c:pt>
                <c:pt idx="35">
                  <c:v>0.14000000000000001</c:v>
                </c:pt>
                <c:pt idx="36">
                  <c:v>0.15</c:v>
                </c:pt>
                <c:pt idx="37">
                  <c:v>0.17</c:v>
                </c:pt>
                <c:pt idx="38">
                  <c:v>0.17</c:v>
                </c:pt>
                <c:pt idx="39">
                  <c:v>0.17</c:v>
                </c:pt>
                <c:pt idx="40">
                  <c:v>0.17</c:v>
                </c:pt>
                <c:pt idx="41">
                  <c:v>0.17</c:v>
                </c:pt>
                <c:pt idx="42">
                  <c:v>0.18</c:v>
                </c:pt>
                <c:pt idx="43">
                  <c:v>0.2</c:v>
                </c:pt>
                <c:pt idx="44">
                  <c:v>0.21</c:v>
                </c:pt>
                <c:pt idx="45">
                  <c:v>0.21</c:v>
                </c:pt>
                <c:pt idx="46">
                  <c:v>0.21</c:v>
                </c:pt>
                <c:pt idx="47">
                  <c:v>0.21</c:v>
                </c:pt>
                <c:pt idx="48">
                  <c:v>0.22</c:v>
                </c:pt>
                <c:pt idx="49">
                  <c:v>0.22</c:v>
                </c:pt>
                <c:pt idx="50">
                  <c:v>0.23</c:v>
                </c:pt>
              </c:numCache>
            </c:numRef>
          </c:val>
          <c:smooth val="0"/>
          <c:extLst>
            <c:ext xmlns:c16="http://schemas.microsoft.com/office/drawing/2014/chart" uri="{C3380CC4-5D6E-409C-BE32-E72D297353CC}">
              <c16:uniqueId val="{00000003-D3A4-4FEC-B864-313790A4881F}"/>
            </c:ext>
          </c:extLst>
        </c:ser>
        <c:dLbls>
          <c:showLegendKey val="0"/>
          <c:showVal val="0"/>
          <c:showCatName val="0"/>
          <c:showSerName val="0"/>
          <c:showPercent val="0"/>
          <c:showBubbleSize val="0"/>
        </c:dLbls>
        <c:smooth val="0"/>
        <c:axId val="159526272"/>
        <c:axId val="159536256"/>
      </c:lineChart>
      <c:catAx>
        <c:axId val="159526272"/>
        <c:scaling>
          <c:orientation val="minMax"/>
        </c:scaling>
        <c:delete val="0"/>
        <c:axPos val="b"/>
        <c:numFmt formatCode="General" sourceLinked="1"/>
        <c:majorTickMark val="in"/>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59536256"/>
        <c:crosses val="autoZero"/>
        <c:auto val="1"/>
        <c:lblAlgn val="ctr"/>
        <c:lblOffset val="100"/>
        <c:tickLblSkip val="5"/>
        <c:noMultiLvlLbl val="0"/>
      </c:catAx>
      <c:valAx>
        <c:axId val="159536256"/>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59526272"/>
        <c:crossesAt val="1"/>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mn-cs"/>
              </a:defRPr>
            </a:pPr>
            <a:r>
              <a:rPr lang="en-US" sz="1400" b="1" i="0" baseline="0" dirty="0">
                <a:latin typeface="Arial" panose="020B0604020202020204" pitchFamily="34" charset="0"/>
              </a:rPr>
              <a:t>R&amp;D expenditures</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mn-cs"/>
            </a:defRPr>
          </a:pPr>
          <a:endParaRPr lang="en-US"/>
        </a:p>
      </c:txPr>
    </c:title>
    <c:autoTitleDeleted val="0"/>
    <c:plotArea>
      <c:layout/>
      <c:lineChart>
        <c:grouping val="standard"/>
        <c:varyColors val="0"/>
        <c:ser>
          <c:idx val="0"/>
          <c:order val="0"/>
          <c:tx>
            <c:strRef>
              <c:f>multiple!$F$26</c:f>
              <c:strCache>
                <c:ptCount val="1"/>
                <c:pt idx="0">
                  <c:v>Current $</c:v>
                </c:pt>
              </c:strCache>
            </c:strRef>
          </c:tx>
          <c:spPr>
            <a:ln w="28575" cap="rnd">
              <a:solidFill>
                <a:schemeClr val="accent1"/>
              </a:solidFill>
              <a:prstDash val="sysDash"/>
              <a:round/>
            </a:ln>
            <a:effectLst/>
          </c:spPr>
          <c:marker>
            <c:symbol val="none"/>
          </c:marker>
          <c:cat>
            <c:numRef>
              <c:f>multiple!$E$27:$E$43</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multiple!$F$27:$F$43</c:f>
              <c:numCache>
                <c:formatCode>General</c:formatCode>
                <c:ptCount val="17"/>
                <c:pt idx="0">
                  <c:v>267.95</c:v>
                </c:pt>
                <c:pt idx="1">
                  <c:v>278.53899999999999</c:v>
                </c:pt>
                <c:pt idx="2">
                  <c:v>277.911</c:v>
                </c:pt>
                <c:pt idx="3">
                  <c:v>291.36500000000001</c:v>
                </c:pt>
                <c:pt idx="4">
                  <c:v>302.73099999999999</c:v>
                </c:pt>
                <c:pt idx="5">
                  <c:v>325.28800000000001</c:v>
                </c:pt>
                <c:pt idx="6">
                  <c:v>350.90800000000002</c:v>
                </c:pt>
                <c:pt idx="7">
                  <c:v>377.89</c:v>
                </c:pt>
                <c:pt idx="8">
                  <c:v>404.77300000000002</c:v>
                </c:pt>
                <c:pt idx="9">
                  <c:v>402.93099999999998</c:v>
                </c:pt>
                <c:pt idx="10">
                  <c:v>406.58</c:v>
                </c:pt>
                <c:pt idx="11">
                  <c:v>426.16</c:v>
                </c:pt>
                <c:pt idx="12">
                  <c:v>433.61900000000003</c:v>
                </c:pt>
                <c:pt idx="13">
                  <c:v>453.964</c:v>
                </c:pt>
                <c:pt idx="14">
                  <c:v>475.42599999999999</c:v>
                </c:pt>
                <c:pt idx="15">
                  <c:v>495.14400000000001</c:v>
                </c:pt>
                <c:pt idx="16">
                  <c:v>509.96699999999998</c:v>
                </c:pt>
              </c:numCache>
            </c:numRef>
          </c:val>
          <c:smooth val="0"/>
          <c:extLst>
            <c:ext xmlns:c16="http://schemas.microsoft.com/office/drawing/2014/chart" uri="{C3380CC4-5D6E-409C-BE32-E72D297353CC}">
              <c16:uniqueId val="{00000000-FB86-4C21-B404-CC79EDB56348}"/>
            </c:ext>
          </c:extLst>
        </c:ser>
        <c:ser>
          <c:idx val="1"/>
          <c:order val="1"/>
          <c:tx>
            <c:strRef>
              <c:f>multiple!$G$26</c:f>
              <c:strCache>
                <c:ptCount val="1"/>
                <c:pt idx="0">
                  <c:v>Constant 2009 $</c:v>
                </c:pt>
              </c:strCache>
            </c:strRef>
          </c:tx>
          <c:spPr>
            <a:ln w="28575" cap="rnd">
              <a:solidFill>
                <a:schemeClr val="accent2"/>
              </a:solidFill>
              <a:round/>
            </a:ln>
            <a:effectLst/>
          </c:spPr>
          <c:marker>
            <c:symbol val="none"/>
          </c:marker>
          <c:cat>
            <c:numRef>
              <c:f>multiple!$E$27:$E$43</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multiple!$G$27:$G$43</c:f>
              <c:numCache>
                <c:formatCode>0</c:formatCode>
                <c:ptCount val="17"/>
                <c:pt idx="0">
                  <c:v>327</c:v>
                </c:pt>
                <c:pt idx="1">
                  <c:v>333</c:v>
                </c:pt>
                <c:pt idx="2">
                  <c:v>327</c:v>
                </c:pt>
                <c:pt idx="3">
                  <c:v>336</c:v>
                </c:pt>
                <c:pt idx="4">
                  <c:v>340</c:v>
                </c:pt>
                <c:pt idx="5">
                  <c:v>354</c:v>
                </c:pt>
                <c:pt idx="6">
                  <c:v>370</c:v>
                </c:pt>
                <c:pt idx="7">
                  <c:v>388</c:v>
                </c:pt>
                <c:pt idx="8">
                  <c:v>408</c:v>
                </c:pt>
                <c:pt idx="9">
                  <c:v>403</c:v>
                </c:pt>
                <c:pt idx="10">
                  <c:v>402</c:v>
                </c:pt>
                <c:pt idx="11">
                  <c:v>413</c:v>
                </c:pt>
                <c:pt idx="12">
                  <c:v>412</c:v>
                </c:pt>
                <c:pt idx="13">
                  <c:v>425</c:v>
                </c:pt>
                <c:pt idx="14">
                  <c:v>437</c:v>
                </c:pt>
                <c:pt idx="15">
                  <c:v>450</c:v>
                </c:pt>
                <c:pt idx="16">
                  <c:v>458</c:v>
                </c:pt>
              </c:numCache>
            </c:numRef>
          </c:val>
          <c:smooth val="0"/>
          <c:extLst>
            <c:ext xmlns:c16="http://schemas.microsoft.com/office/drawing/2014/chart" uri="{C3380CC4-5D6E-409C-BE32-E72D297353CC}">
              <c16:uniqueId val="{00000001-FB86-4C21-B404-CC79EDB56348}"/>
            </c:ext>
          </c:extLst>
        </c:ser>
        <c:dLbls>
          <c:showLegendKey val="0"/>
          <c:showVal val="0"/>
          <c:showCatName val="0"/>
          <c:showSerName val="0"/>
          <c:showPercent val="0"/>
          <c:showBubbleSize val="0"/>
        </c:dLbls>
        <c:smooth val="0"/>
        <c:axId val="127202816"/>
        <c:axId val="127204352"/>
      </c:lineChart>
      <c:catAx>
        <c:axId val="1272028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27204352"/>
        <c:crosses val="autoZero"/>
        <c:auto val="1"/>
        <c:lblAlgn val="ctr"/>
        <c:lblOffset val="100"/>
        <c:tickLblSkip val="4"/>
        <c:noMultiLvlLbl val="0"/>
      </c:catAx>
      <c:valAx>
        <c:axId val="1272043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272028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mn-cs"/>
              </a:defRPr>
            </a:pPr>
            <a:r>
              <a:rPr lang="en-US" sz="1400" b="1" i="0" baseline="0" dirty="0">
                <a:latin typeface="Arial" panose="020B0604020202020204" pitchFamily="34" charset="0"/>
              </a:rPr>
              <a:t>Type of R&amp;D</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mn-cs"/>
            </a:defRPr>
          </a:pPr>
          <a:endParaRPr lang="en-US"/>
        </a:p>
      </c:txPr>
    </c:title>
    <c:autoTitleDeleted val="0"/>
    <c:plotArea>
      <c:layout/>
      <c:lineChart>
        <c:grouping val="standard"/>
        <c:varyColors val="0"/>
        <c:ser>
          <c:idx val="0"/>
          <c:order val="0"/>
          <c:tx>
            <c:strRef>
              <c:f>multiple!$AD$68</c:f>
              <c:strCache>
                <c:ptCount val="1"/>
                <c:pt idx="0">
                  <c:v>Basic research</c:v>
                </c:pt>
              </c:strCache>
            </c:strRef>
          </c:tx>
          <c:spPr>
            <a:ln w="28575" cap="rnd">
              <a:solidFill>
                <a:srgbClr val="FF0000"/>
              </a:solidFill>
              <a:prstDash val="sysDash"/>
              <a:round/>
            </a:ln>
            <a:effectLst/>
          </c:spPr>
          <c:marker>
            <c:symbol val="none"/>
          </c:marker>
          <c:cat>
            <c:numRef>
              <c:f>multiple!$AC$69:$AC$85</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multiple!$AD$69:$AD$85</c:f>
              <c:numCache>
                <c:formatCode>0.0</c:formatCode>
                <c:ptCount val="17"/>
                <c:pt idx="0">
                  <c:v>15.7</c:v>
                </c:pt>
                <c:pt idx="1">
                  <c:v>16.8</c:v>
                </c:pt>
                <c:pt idx="2">
                  <c:v>18.3</c:v>
                </c:pt>
                <c:pt idx="3">
                  <c:v>18.8</c:v>
                </c:pt>
                <c:pt idx="4">
                  <c:v>18.600000000000001</c:v>
                </c:pt>
                <c:pt idx="5">
                  <c:v>18.399999999999999</c:v>
                </c:pt>
                <c:pt idx="6">
                  <c:v>17.5</c:v>
                </c:pt>
                <c:pt idx="7">
                  <c:v>17.100000000000001</c:v>
                </c:pt>
                <c:pt idx="8">
                  <c:v>16.899999999999999</c:v>
                </c:pt>
                <c:pt idx="9">
                  <c:v>18</c:v>
                </c:pt>
                <c:pt idx="10">
                  <c:v>18.7</c:v>
                </c:pt>
                <c:pt idx="11">
                  <c:v>17.100000000000001</c:v>
                </c:pt>
                <c:pt idx="12">
                  <c:v>16.899999999999999</c:v>
                </c:pt>
                <c:pt idx="13">
                  <c:v>17.3</c:v>
                </c:pt>
                <c:pt idx="14">
                  <c:v>17.3</c:v>
                </c:pt>
                <c:pt idx="15">
                  <c:v>16.899999999999999</c:v>
                </c:pt>
                <c:pt idx="16">
                  <c:v>16.899999999999999</c:v>
                </c:pt>
              </c:numCache>
            </c:numRef>
          </c:val>
          <c:smooth val="0"/>
          <c:extLst>
            <c:ext xmlns:c16="http://schemas.microsoft.com/office/drawing/2014/chart" uri="{C3380CC4-5D6E-409C-BE32-E72D297353CC}">
              <c16:uniqueId val="{00000000-21D0-444F-B608-75BDD2972363}"/>
            </c:ext>
          </c:extLst>
        </c:ser>
        <c:ser>
          <c:idx val="1"/>
          <c:order val="1"/>
          <c:tx>
            <c:strRef>
              <c:f>multiple!$AE$68</c:f>
              <c:strCache>
                <c:ptCount val="1"/>
                <c:pt idx="0">
                  <c:v>Applied research</c:v>
                </c:pt>
              </c:strCache>
            </c:strRef>
          </c:tx>
          <c:spPr>
            <a:ln w="28575" cap="rnd">
              <a:solidFill>
                <a:schemeClr val="accent2"/>
              </a:solidFill>
              <a:round/>
            </a:ln>
            <a:effectLst/>
          </c:spPr>
          <c:marker>
            <c:symbol val="none"/>
          </c:marker>
          <c:cat>
            <c:numRef>
              <c:f>multiple!$AC$69:$AC$85</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multiple!$AE$69:$AE$85</c:f>
              <c:numCache>
                <c:formatCode>0.0</c:formatCode>
                <c:ptCount val="17"/>
                <c:pt idx="0">
                  <c:v>21.1</c:v>
                </c:pt>
                <c:pt idx="1">
                  <c:v>23</c:v>
                </c:pt>
                <c:pt idx="2">
                  <c:v>18.2</c:v>
                </c:pt>
                <c:pt idx="3">
                  <c:v>21</c:v>
                </c:pt>
                <c:pt idx="4">
                  <c:v>22.8</c:v>
                </c:pt>
                <c:pt idx="5">
                  <c:v>21.4</c:v>
                </c:pt>
                <c:pt idx="6">
                  <c:v>21.8</c:v>
                </c:pt>
                <c:pt idx="7">
                  <c:v>22.6</c:v>
                </c:pt>
                <c:pt idx="8">
                  <c:v>18.899999999999999</c:v>
                </c:pt>
                <c:pt idx="9">
                  <c:v>18.399999999999999</c:v>
                </c:pt>
                <c:pt idx="10">
                  <c:v>19.5</c:v>
                </c:pt>
                <c:pt idx="11">
                  <c:v>19.3</c:v>
                </c:pt>
                <c:pt idx="12">
                  <c:v>20.100000000000001</c:v>
                </c:pt>
                <c:pt idx="13">
                  <c:v>19.5</c:v>
                </c:pt>
                <c:pt idx="14">
                  <c:v>19.3</c:v>
                </c:pt>
                <c:pt idx="15">
                  <c:v>19.600000000000001</c:v>
                </c:pt>
                <c:pt idx="16">
                  <c:v>19.7</c:v>
                </c:pt>
              </c:numCache>
            </c:numRef>
          </c:val>
          <c:smooth val="0"/>
          <c:extLst>
            <c:ext xmlns:c16="http://schemas.microsoft.com/office/drawing/2014/chart" uri="{C3380CC4-5D6E-409C-BE32-E72D297353CC}">
              <c16:uniqueId val="{00000001-21D0-444F-B608-75BDD2972363}"/>
            </c:ext>
          </c:extLst>
        </c:ser>
        <c:ser>
          <c:idx val="2"/>
          <c:order val="2"/>
          <c:tx>
            <c:strRef>
              <c:f>multiple!$AF$68</c:f>
              <c:strCache>
                <c:ptCount val="1"/>
                <c:pt idx="0">
                  <c:v>Development</c:v>
                </c:pt>
              </c:strCache>
            </c:strRef>
          </c:tx>
          <c:spPr>
            <a:ln w="28575" cap="rnd">
              <a:solidFill>
                <a:schemeClr val="tx1"/>
              </a:solidFill>
              <a:round/>
            </a:ln>
            <a:effectLst/>
          </c:spPr>
          <c:marker>
            <c:symbol val="none"/>
          </c:marker>
          <c:cat>
            <c:numRef>
              <c:f>multiple!$AC$69:$AC$85</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multiple!$AF$69:$AF$85</c:f>
              <c:numCache>
                <c:formatCode>0.0</c:formatCode>
                <c:ptCount val="17"/>
                <c:pt idx="0">
                  <c:v>63.2</c:v>
                </c:pt>
                <c:pt idx="1">
                  <c:v>60.2</c:v>
                </c:pt>
                <c:pt idx="2">
                  <c:v>63.5</c:v>
                </c:pt>
                <c:pt idx="3">
                  <c:v>60.2</c:v>
                </c:pt>
                <c:pt idx="4">
                  <c:v>58.5</c:v>
                </c:pt>
                <c:pt idx="5">
                  <c:v>60.2</c:v>
                </c:pt>
                <c:pt idx="6">
                  <c:v>60.6</c:v>
                </c:pt>
                <c:pt idx="7">
                  <c:v>60.3</c:v>
                </c:pt>
                <c:pt idx="8">
                  <c:v>64.099999999999994</c:v>
                </c:pt>
                <c:pt idx="9">
                  <c:v>63.5</c:v>
                </c:pt>
                <c:pt idx="10">
                  <c:v>61.8</c:v>
                </c:pt>
                <c:pt idx="11">
                  <c:v>63.6</c:v>
                </c:pt>
                <c:pt idx="12">
                  <c:v>63</c:v>
                </c:pt>
                <c:pt idx="13">
                  <c:v>63.3</c:v>
                </c:pt>
                <c:pt idx="14">
                  <c:v>63.4</c:v>
                </c:pt>
                <c:pt idx="15">
                  <c:v>63.5</c:v>
                </c:pt>
                <c:pt idx="16">
                  <c:v>63.4</c:v>
                </c:pt>
              </c:numCache>
            </c:numRef>
          </c:val>
          <c:smooth val="0"/>
          <c:extLst>
            <c:ext xmlns:c16="http://schemas.microsoft.com/office/drawing/2014/chart" uri="{C3380CC4-5D6E-409C-BE32-E72D297353CC}">
              <c16:uniqueId val="{00000002-21D0-444F-B608-75BDD2972363}"/>
            </c:ext>
          </c:extLst>
        </c:ser>
        <c:dLbls>
          <c:showLegendKey val="0"/>
          <c:showVal val="0"/>
          <c:showCatName val="0"/>
          <c:showSerName val="0"/>
          <c:showPercent val="0"/>
          <c:showBubbleSize val="0"/>
        </c:dLbls>
        <c:smooth val="0"/>
        <c:axId val="127244160"/>
        <c:axId val="127245696"/>
      </c:lineChart>
      <c:catAx>
        <c:axId val="1272441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27245696"/>
        <c:crosses val="autoZero"/>
        <c:auto val="1"/>
        <c:lblAlgn val="ctr"/>
        <c:lblOffset val="100"/>
        <c:tickLblSkip val="4"/>
        <c:noMultiLvlLbl val="0"/>
      </c:catAx>
      <c:valAx>
        <c:axId val="12724569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27244160"/>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legendEntry>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mn-cs"/>
              </a:defRPr>
            </a:pPr>
            <a:r>
              <a:rPr lang="en-US" b="1" i="0" baseline="0" dirty="0">
                <a:latin typeface="Arial" panose="020B0604020202020204" pitchFamily="34" charset="0"/>
              </a:rPr>
              <a:t>Source of funding</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mn-cs"/>
            </a:defRPr>
          </a:pPr>
          <a:endParaRPr lang="en-US"/>
        </a:p>
      </c:txPr>
    </c:title>
    <c:autoTitleDeleted val="0"/>
    <c:plotArea>
      <c:layout/>
      <c:lineChart>
        <c:grouping val="standard"/>
        <c:varyColors val="0"/>
        <c:ser>
          <c:idx val="0"/>
          <c:order val="0"/>
          <c:tx>
            <c:strRef>
              <c:f>multiple!$AD$47</c:f>
              <c:strCache>
                <c:ptCount val="1"/>
                <c:pt idx="0">
                  <c:v>Federal</c:v>
                </c:pt>
              </c:strCache>
            </c:strRef>
          </c:tx>
          <c:spPr>
            <a:ln w="28575" cap="rnd">
              <a:solidFill>
                <a:schemeClr val="accent2"/>
              </a:solidFill>
              <a:round/>
            </a:ln>
            <a:effectLst/>
          </c:spPr>
          <c:marker>
            <c:symbol val="none"/>
          </c:marker>
          <c:cat>
            <c:numRef>
              <c:f>multiple!$AC$48:$AC$64</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multiple!$AD$48:$AD$64</c:f>
              <c:numCache>
                <c:formatCode>0.0</c:formatCode>
                <c:ptCount val="17"/>
                <c:pt idx="0">
                  <c:v>25.1</c:v>
                </c:pt>
                <c:pt idx="1">
                  <c:v>26.5</c:v>
                </c:pt>
                <c:pt idx="2">
                  <c:v>28.4</c:v>
                </c:pt>
                <c:pt idx="3">
                  <c:v>29.2</c:v>
                </c:pt>
                <c:pt idx="4">
                  <c:v>30</c:v>
                </c:pt>
                <c:pt idx="5">
                  <c:v>29.3</c:v>
                </c:pt>
                <c:pt idx="6">
                  <c:v>28.5</c:v>
                </c:pt>
                <c:pt idx="7">
                  <c:v>27.8</c:v>
                </c:pt>
                <c:pt idx="8">
                  <c:v>29.1</c:v>
                </c:pt>
                <c:pt idx="9">
                  <c:v>31.2</c:v>
                </c:pt>
                <c:pt idx="10">
                  <c:v>31.1</c:v>
                </c:pt>
                <c:pt idx="11">
                  <c:v>29.8</c:v>
                </c:pt>
                <c:pt idx="12">
                  <c:v>28.6</c:v>
                </c:pt>
                <c:pt idx="13">
                  <c:v>26.5</c:v>
                </c:pt>
                <c:pt idx="14">
                  <c:v>24.9</c:v>
                </c:pt>
                <c:pt idx="15">
                  <c:v>24.4</c:v>
                </c:pt>
                <c:pt idx="16">
                  <c:v>24.1</c:v>
                </c:pt>
              </c:numCache>
            </c:numRef>
          </c:val>
          <c:smooth val="0"/>
          <c:extLst>
            <c:ext xmlns:c16="http://schemas.microsoft.com/office/drawing/2014/chart" uri="{C3380CC4-5D6E-409C-BE32-E72D297353CC}">
              <c16:uniqueId val="{00000000-75D6-43B3-A700-5F0A30A7CCC2}"/>
            </c:ext>
          </c:extLst>
        </c:ser>
        <c:ser>
          <c:idx val="1"/>
          <c:order val="1"/>
          <c:tx>
            <c:strRef>
              <c:f>multiple!$AE$47</c:f>
              <c:strCache>
                <c:ptCount val="1"/>
                <c:pt idx="0">
                  <c:v>Business</c:v>
                </c:pt>
              </c:strCache>
            </c:strRef>
          </c:tx>
          <c:spPr>
            <a:ln w="28575" cap="rnd">
              <a:solidFill>
                <a:schemeClr val="accent1">
                  <a:lumMod val="50000"/>
                </a:schemeClr>
              </a:solidFill>
              <a:round/>
            </a:ln>
            <a:effectLst/>
          </c:spPr>
          <c:marker>
            <c:symbol val="none"/>
          </c:marker>
          <c:cat>
            <c:numRef>
              <c:f>multiple!$AC$48:$AC$64</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multiple!$AE$48:$AE$64</c:f>
              <c:numCache>
                <c:formatCode>0.0</c:formatCode>
                <c:ptCount val="17"/>
                <c:pt idx="0">
                  <c:v>69.400000000000006</c:v>
                </c:pt>
                <c:pt idx="1">
                  <c:v>67.599999999999994</c:v>
                </c:pt>
                <c:pt idx="2">
                  <c:v>65</c:v>
                </c:pt>
                <c:pt idx="3">
                  <c:v>63.9</c:v>
                </c:pt>
                <c:pt idx="4">
                  <c:v>63.2</c:v>
                </c:pt>
                <c:pt idx="5">
                  <c:v>63.9</c:v>
                </c:pt>
                <c:pt idx="6">
                  <c:v>64.7</c:v>
                </c:pt>
                <c:pt idx="7">
                  <c:v>65.3</c:v>
                </c:pt>
                <c:pt idx="8">
                  <c:v>63.7</c:v>
                </c:pt>
                <c:pt idx="9">
                  <c:v>61.2</c:v>
                </c:pt>
                <c:pt idx="10">
                  <c:v>61</c:v>
                </c:pt>
                <c:pt idx="11">
                  <c:v>62.5</c:v>
                </c:pt>
                <c:pt idx="12">
                  <c:v>63.6</c:v>
                </c:pt>
                <c:pt idx="13">
                  <c:v>65.5</c:v>
                </c:pt>
                <c:pt idx="14">
                  <c:v>67</c:v>
                </c:pt>
                <c:pt idx="15">
                  <c:v>67.3</c:v>
                </c:pt>
                <c:pt idx="16">
                  <c:v>67.400000000000006</c:v>
                </c:pt>
              </c:numCache>
            </c:numRef>
          </c:val>
          <c:smooth val="0"/>
          <c:extLst>
            <c:ext xmlns:c16="http://schemas.microsoft.com/office/drawing/2014/chart" uri="{C3380CC4-5D6E-409C-BE32-E72D297353CC}">
              <c16:uniqueId val="{00000001-75D6-43B3-A700-5F0A30A7CCC2}"/>
            </c:ext>
          </c:extLst>
        </c:ser>
        <c:ser>
          <c:idx val="2"/>
          <c:order val="2"/>
          <c:tx>
            <c:strRef>
              <c:f>multiple!$AF$47</c:f>
              <c:strCache>
                <c:ptCount val="1"/>
                <c:pt idx="0">
                  <c:v>Other</c:v>
                </c:pt>
              </c:strCache>
            </c:strRef>
          </c:tx>
          <c:spPr>
            <a:ln w="28575" cap="rnd">
              <a:solidFill>
                <a:srgbClr val="EA5E42"/>
              </a:solidFill>
              <a:round/>
            </a:ln>
            <a:effectLst/>
          </c:spPr>
          <c:marker>
            <c:symbol val="none"/>
          </c:marker>
          <c:cat>
            <c:numRef>
              <c:f>multiple!$AC$48:$AC$64</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multiple!$AF$48:$AF$64</c:f>
              <c:numCache>
                <c:formatCode>0.0</c:formatCode>
                <c:ptCount val="17"/>
                <c:pt idx="0">
                  <c:v>5.4</c:v>
                </c:pt>
                <c:pt idx="1">
                  <c:v>5.9</c:v>
                </c:pt>
                <c:pt idx="2">
                  <c:v>6.6</c:v>
                </c:pt>
                <c:pt idx="3">
                  <c:v>6.9</c:v>
                </c:pt>
                <c:pt idx="4">
                  <c:v>6.9</c:v>
                </c:pt>
                <c:pt idx="5">
                  <c:v>6.8</c:v>
                </c:pt>
                <c:pt idx="6">
                  <c:v>6.7</c:v>
                </c:pt>
                <c:pt idx="7">
                  <c:v>6.9</c:v>
                </c:pt>
                <c:pt idx="8">
                  <c:v>7.2</c:v>
                </c:pt>
                <c:pt idx="9">
                  <c:v>7.6</c:v>
                </c:pt>
                <c:pt idx="10">
                  <c:v>7.9</c:v>
                </c:pt>
                <c:pt idx="11">
                  <c:v>7.7</c:v>
                </c:pt>
                <c:pt idx="12">
                  <c:v>7.9</c:v>
                </c:pt>
                <c:pt idx="13">
                  <c:v>8.1</c:v>
                </c:pt>
                <c:pt idx="14">
                  <c:v>8.1</c:v>
                </c:pt>
                <c:pt idx="15">
                  <c:v>8.3000000000000007</c:v>
                </c:pt>
                <c:pt idx="16">
                  <c:v>8.6</c:v>
                </c:pt>
              </c:numCache>
            </c:numRef>
          </c:val>
          <c:smooth val="0"/>
          <c:extLst>
            <c:ext xmlns:c16="http://schemas.microsoft.com/office/drawing/2014/chart" uri="{C3380CC4-5D6E-409C-BE32-E72D297353CC}">
              <c16:uniqueId val="{00000002-75D6-43B3-A700-5F0A30A7CCC2}"/>
            </c:ext>
          </c:extLst>
        </c:ser>
        <c:dLbls>
          <c:showLegendKey val="0"/>
          <c:showVal val="0"/>
          <c:showCatName val="0"/>
          <c:showSerName val="0"/>
          <c:showPercent val="0"/>
          <c:showBubbleSize val="0"/>
        </c:dLbls>
        <c:smooth val="0"/>
        <c:axId val="127294080"/>
        <c:axId val="127299968"/>
      </c:lineChart>
      <c:catAx>
        <c:axId val="127294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27299968"/>
        <c:crosses val="autoZero"/>
        <c:auto val="1"/>
        <c:lblAlgn val="ctr"/>
        <c:lblOffset val="100"/>
        <c:tickLblSkip val="4"/>
        <c:noMultiLvlLbl val="0"/>
      </c:catAx>
      <c:valAx>
        <c:axId val="12729996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27294080"/>
        <c:crossesAt val="1"/>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mn-cs"/>
              </a:defRPr>
            </a:pPr>
            <a:r>
              <a:rPr lang="en-US" b="1" i="0" baseline="0" dirty="0">
                <a:latin typeface="Arial" panose="020B0604020202020204" pitchFamily="34" charset="0"/>
              </a:rPr>
              <a:t>Performing sector</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mn-cs"/>
            </a:defRPr>
          </a:pPr>
          <a:endParaRPr lang="en-US"/>
        </a:p>
      </c:txPr>
    </c:title>
    <c:autoTitleDeleted val="0"/>
    <c:plotArea>
      <c:layout/>
      <c:lineChart>
        <c:grouping val="standard"/>
        <c:varyColors val="0"/>
        <c:ser>
          <c:idx val="0"/>
          <c:order val="0"/>
          <c:tx>
            <c:strRef>
              <c:f>multiple!$AD$5</c:f>
              <c:strCache>
                <c:ptCount val="1"/>
                <c:pt idx="0">
                  <c:v>Federal</c:v>
                </c:pt>
              </c:strCache>
            </c:strRef>
          </c:tx>
          <c:spPr>
            <a:ln w="28575" cap="rnd">
              <a:solidFill>
                <a:schemeClr val="accent2"/>
              </a:solidFill>
              <a:round/>
            </a:ln>
            <a:effectLst/>
          </c:spPr>
          <c:marker>
            <c:symbol val="none"/>
          </c:marker>
          <c:cat>
            <c:numRef>
              <c:f>multiple!$AC$6:$AC$22</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multiple!$AD$6:$AD$22</c:f>
              <c:numCache>
                <c:formatCode>0.0</c:formatCode>
                <c:ptCount val="17"/>
                <c:pt idx="0">
                  <c:v>10.6</c:v>
                </c:pt>
                <c:pt idx="1">
                  <c:v>11.8</c:v>
                </c:pt>
                <c:pt idx="2">
                  <c:v>12.8</c:v>
                </c:pt>
                <c:pt idx="3">
                  <c:v>12.8</c:v>
                </c:pt>
                <c:pt idx="4">
                  <c:v>12.4</c:v>
                </c:pt>
                <c:pt idx="5">
                  <c:v>12.2</c:v>
                </c:pt>
                <c:pt idx="6">
                  <c:v>11.9</c:v>
                </c:pt>
                <c:pt idx="7">
                  <c:v>11.7</c:v>
                </c:pt>
                <c:pt idx="8">
                  <c:v>11.3</c:v>
                </c:pt>
                <c:pt idx="9">
                  <c:v>11.8</c:v>
                </c:pt>
                <c:pt idx="10">
                  <c:v>12.5</c:v>
                </c:pt>
                <c:pt idx="11">
                  <c:v>12.6</c:v>
                </c:pt>
                <c:pt idx="12">
                  <c:v>12</c:v>
                </c:pt>
                <c:pt idx="13">
                  <c:v>11.3</c:v>
                </c:pt>
                <c:pt idx="14">
                  <c:v>11.1</c:v>
                </c:pt>
                <c:pt idx="15">
                  <c:v>11</c:v>
                </c:pt>
                <c:pt idx="16">
                  <c:v>11.3</c:v>
                </c:pt>
              </c:numCache>
            </c:numRef>
          </c:val>
          <c:smooth val="0"/>
          <c:extLst>
            <c:ext xmlns:c16="http://schemas.microsoft.com/office/drawing/2014/chart" uri="{C3380CC4-5D6E-409C-BE32-E72D297353CC}">
              <c16:uniqueId val="{00000000-6A13-456F-88A9-BB9E869FE493}"/>
            </c:ext>
          </c:extLst>
        </c:ser>
        <c:ser>
          <c:idx val="1"/>
          <c:order val="1"/>
          <c:tx>
            <c:strRef>
              <c:f>multiple!$AE$5</c:f>
              <c:strCache>
                <c:ptCount val="1"/>
                <c:pt idx="0">
                  <c:v>Business</c:v>
                </c:pt>
              </c:strCache>
            </c:strRef>
          </c:tx>
          <c:spPr>
            <a:ln w="28575" cap="rnd">
              <a:solidFill>
                <a:schemeClr val="accent1">
                  <a:lumMod val="50000"/>
                </a:schemeClr>
              </a:solidFill>
              <a:round/>
            </a:ln>
            <a:effectLst/>
          </c:spPr>
          <c:marker>
            <c:symbol val="none"/>
          </c:marker>
          <c:cat>
            <c:numRef>
              <c:f>multiple!$AC$6:$AC$22</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multiple!$AE$6:$AE$22</c:f>
              <c:numCache>
                <c:formatCode>0.0</c:formatCode>
                <c:ptCount val="17"/>
                <c:pt idx="0">
                  <c:v>74.599999999999994</c:v>
                </c:pt>
                <c:pt idx="1">
                  <c:v>72.5</c:v>
                </c:pt>
                <c:pt idx="2">
                  <c:v>69.8</c:v>
                </c:pt>
                <c:pt idx="3">
                  <c:v>68.900000000000006</c:v>
                </c:pt>
                <c:pt idx="4">
                  <c:v>68.8</c:v>
                </c:pt>
                <c:pt idx="5">
                  <c:v>69.5</c:v>
                </c:pt>
                <c:pt idx="6">
                  <c:v>70.599999999999994</c:v>
                </c:pt>
                <c:pt idx="7">
                  <c:v>71.3</c:v>
                </c:pt>
                <c:pt idx="8">
                  <c:v>71.8</c:v>
                </c:pt>
                <c:pt idx="9">
                  <c:v>70.099999999999994</c:v>
                </c:pt>
                <c:pt idx="10">
                  <c:v>68.599999999999994</c:v>
                </c:pt>
                <c:pt idx="11">
                  <c:v>69</c:v>
                </c:pt>
                <c:pt idx="12">
                  <c:v>69.7</c:v>
                </c:pt>
                <c:pt idx="13">
                  <c:v>71</c:v>
                </c:pt>
                <c:pt idx="14">
                  <c:v>71.7</c:v>
                </c:pt>
                <c:pt idx="15">
                  <c:v>71.900000000000006</c:v>
                </c:pt>
                <c:pt idx="16">
                  <c:v>71.3</c:v>
                </c:pt>
              </c:numCache>
            </c:numRef>
          </c:val>
          <c:smooth val="0"/>
          <c:extLst>
            <c:ext xmlns:c16="http://schemas.microsoft.com/office/drawing/2014/chart" uri="{C3380CC4-5D6E-409C-BE32-E72D297353CC}">
              <c16:uniqueId val="{00000001-6A13-456F-88A9-BB9E869FE493}"/>
            </c:ext>
          </c:extLst>
        </c:ser>
        <c:ser>
          <c:idx val="2"/>
          <c:order val="2"/>
          <c:tx>
            <c:strRef>
              <c:f>multiple!$AF$5</c:f>
              <c:strCache>
                <c:ptCount val="1"/>
                <c:pt idx="0">
                  <c:v>Higher Ed</c:v>
                </c:pt>
              </c:strCache>
            </c:strRef>
          </c:tx>
          <c:spPr>
            <a:ln w="28575" cap="rnd">
              <a:solidFill>
                <a:srgbClr val="FF0000"/>
              </a:solidFill>
              <a:prstDash val="sysDash"/>
              <a:round/>
            </a:ln>
            <a:effectLst/>
          </c:spPr>
          <c:marker>
            <c:symbol val="none"/>
          </c:marker>
          <c:cat>
            <c:numRef>
              <c:f>multiple!$AC$6:$AC$22</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multiple!$AF$6:$AF$22</c:f>
              <c:numCache>
                <c:formatCode>0.0</c:formatCode>
                <c:ptCount val="17"/>
                <c:pt idx="0">
                  <c:v>11.2</c:v>
                </c:pt>
                <c:pt idx="1">
                  <c:v>11.8</c:v>
                </c:pt>
                <c:pt idx="2">
                  <c:v>13.2</c:v>
                </c:pt>
                <c:pt idx="3">
                  <c:v>13.9</c:v>
                </c:pt>
                <c:pt idx="4">
                  <c:v>14.3</c:v>
                </c:pt>
                <c:pt idx="5">
                  <c:v>14</c:v>
                </c:pt>
                <c:pt idx="6">
                  <c:v>13.5</c:v>
                </c:pt>
                <c:pt idx="7">
                  <c:v>13.1</c:v>
                </c:pt>
                <c:pt idx="8">
                  <c:v>12.9</c:v>
                </c:pt>
                <c:pt idx="9">
                  <c:v>13.6</c:v>
                </c:pt>
                <c:pt idx="10">
                  <c:v>14.3</c:v>
                </c:pt>
                <c:pt idx="11">
                  <c:v>14.1</c:v>
                </c:pt>
                <c:pt idx="12">
                  <c:v>14</c:v>
                </c:pt>
                <c:pt idx="13">
                  <c:v>13.6</c:v>
                </c:pt>
                <c:pt idx="14">
                  <c:v>13.1</c:v>
                </c:pt>
                <c:pt idx="15">
                  <c:v>13.1</c:v>
                </c:pt>
                <c:pt idx="16">
                  <c:v>13.2</c:v>
                </c:pt>
              </c:numCache>
            </c:numRef>
          </c:val>
          <c:smooth val="0"/>
          <c:extLst>
            <c:ext xmlns:c16="http://schemas.microsoft.com/office/drawing/2014/chart" uri="{C3380CC4-5D6E-409C-BE32-E72D297353CC}">
              <c16:uniqueId val="{00000002-6A13-456F-88A9-BB9E869FE493}"/>
            </c:ext>
          </c:extLst>
        </c:ser>
        <c:ser>
          <c:idx val="3"/>
          <c:order val="3"/>
          <c:tx>
            <c:strRef>
              <c:f>multiple!$AG$5</c:f>
              <c:strCache>
                <c:ptCount val="1"/>
                <c:pt idx="0">
                  <c:v>Nonprofits</c:v>
                </c:pt>
              </c:strCache>
            </c:strRef>
          </c:tx>
          <c:spPr>
            <a:ln w="28575" cap="rnd">
              <a:solidFill>
                <a:srgbClr val="EA5E42"/>
              </a:solidFill>
              <a:round/>
            </a:ln>
            <a:effectLst/>
          </c:spPr>
          <c:marker>
            <c:symbol val="none"/>
          </c:marker>
          <c:cat>
            <c:numRef>
              <c:f>multiple!$AC$6:$AC$22</c:f>
              <c:numCache>
                <c:formatCode>General</c:formatCod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numCache>
            </c:numRef>
          </c:cat>
          <c:val>
            <c:numRef>
              <c:f>multiple!$AG$6:$AG$22</c:f>
              <c:numCache>
                <c:formatCode>0.0</c:formatCode>
                <c:ptCount val="17"/>
                <c:pt idx="0">
                  <c:v>3.6</c:v>
                </c:pt>
                <c:pt idx="1">
                  <c:v>3.9</c:v>
                </c:pt>
                <c:pt idx="2">
                  <c:v>4.3</c:v>
                </c:pt>
                <c:pt idx="3">
                  <c:v>4.4000000000000004</c:v>
                </c:pt>
                <c:pt idx="4">
                  <c:v>4.4000000000000004</c:v>
                </c:pt>
                <c:pt idx="5">
                  <c:v>4.3</c:v>
                </c:pt>
                <c:pt idx="6">
                  <c:v>4</c:v>
                </c:pt>
                <c:pt idx="7">
                  <c:v>3.9</c:v>
                </c:pt>
                <c:pt idx="8">
                  <c:v>3.9</c:v>
                </c:pt>
                <c:pt idx="9">
                  <c:v>4.3</c:v>
                </c:pt>
                <c:pt idx="10">
                  <c:v>4.4000000000000004</c:v>
                </c:pt>
                <c:pt idx="11">
                  <c:v>4.2</c:v>
                </c:pt>
                <c:pt idx="12">
                  <c:v>4.0999999999999996</c:v>
                </c:pt>
                <c:pt idx="13">
                  <c:v>4</c:v>
                </c:pt>
                <c:pt idx="14">
                  <c:v>4</c:v>
                </c:pt>
                <c:pt idx="15">
                  <c:v>4</c:v>
                </c:pt>
                <c:pt idx="16">
                  <c:v>4</c:v>
                </c:pt>
              </c:numCache>
            </c:numRef>
          </c:val>
          <c:smooth val="0"/>
          <c:extLst>
            <c:ext xmlns:c16="http://schemas.microsoft.com/office/drawing/2014/chart" uri="{C3380CC4-5D6E-409C-BE32-E72D297353CC}">
              <c16:uniqueId val="{00000003-6A13-456F-88A9-BB9E869FE493}"/>
            </c:ext>
          </c:extLst>
        </c:ser>
        <c:dLbls>
          <c:showLegendKey val="0"/>
          <c:showVal val="0"/>
          <c:showCatName val="0"/>
          <c:showSerName val="0"/>
          <c:showPercent val="0"/>
          <c:showBubbleSize val="0"/>
        </c:dLbls>
        <c:smooth val="0"/>
        <c:axId val="128070016"/>
        <c:axId val="128071552"/>
      </c:lineChart>
      <c:catAx>
        <c:axId val="128070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28071552"/>
        <c:crosses val="autoZero"/>
        <c:auto val="1"/>
        <c:lblAlgn val="ctr"/>
        <c:lblOffset val="100"/>
        <c:tickLblSkip val="4"/>
        <c:noMultiLvlLbl val="0"/>
      </c:catAx>
      <c:valAx>
        <c:axId val="12807155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mn-cs"/>
              </a:defRPr>
            </a:pPr>
            <a:endParaRPr lang="en-US"/>
          </a:p>
        </c:txPr>
        <c:crossAx val="128070016"/>
        <c:crosses val="autoZero"/>
        <c:crossBetween val="between"/>
      </c:valAx>
      <c:spPr>
        <a:noFill/>
        <a:ln>
          <a:noFill/>
        </a:ln>
        <a:effectLst/>
      </c:spPr>
    </c:plotArea>
    <c:legend>
      <c:legendPos val="b"/>
      <c:legendEntry>
        <c:idx val="3"/>
        <c:txPr>
          <a:bodyPr rot="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legendEntry>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D949C6-4FA3-44A9-B3C2-D612FFC5C095}" type="doc">
      <dgm:prSet loTypeId="urn:microsoft.com/office/officeart/2005/8/layout/default#1" loCatId="list" qsTypeId="urn:microsoft.com/office/officeart/2005/8/quickstyle/simple5" qsCatId="simple" csTypeId="urn:microsoft.com/office/officeart/2005/8/colors/accent1_2" csCatId="accent1" phldr="1"/>
      <dgm:spPr/>
      <dgm:t>
        <a:bodyPr/>
        <a:lstStyle/>
        <a:p>
          <a:endParaRPr lang="en-US"/>
        </a:p>
      </dgm:t>
    </dgm:pt>
    <dgm:pt modelId="{59FDF4DF-06A4-4553-9585-3EE10FCB45D6}">
      <dgm:prSet phldrT="[Text]" custT="1"/>
      <dgm:spPr>
        <a:gradFill rotWithShape="0">
          <a:gsLst>
            <a:gs pos="0">
              <a:schemeClr val="bg1"/>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dgm:spPr>
      <dgm:t>
        <a:bodyPr/>
        <a:lstStyle/>
        <a:p>
          <a:r>
            <a:rPr lang="en-US" sz="2800" dirty="0">
              <a:solidFill>
                <a:schemeClr val="tx1"/>
              </a:solidFill>
            </a:rPr>
            <a:t>National Science Foundation</a:t>
          </a:r>
        </a:p>
      </dgm:t>
    </dgm:pt>
    <dgm:pt modelId="{6AC32FB2-6624-416D-8D8D-EE569D172ED4}" type="parTrans" cxnId="{06E15000-F7A4-4C79-B1D9-F23F9B60A40C}">
      <dgm:prSet/>
      <dgm:spPr/>
      <dgm:t>
        <a:bodyPr/>
        <a:lstStyle/>
        <a:p>
          <a:endParaRPr lang="en-US"/>
        </a:p>
      </dgm:t>
    </dgm:pt>
    <dgm:pt modelId="{9A4A8DE8-53C0-4A47-AB1C-0B429BF1D807}" type="sibTrans" cxnId="{06E15000-F7A4-4C79-B1D9-F23F9B60A40C}">
      <dgm:prSet/>
      <dgm:spPr/>
      <dgm:t>
        <a:bodyPr/>
        <a:lstStyle/>
        <a:p>
          <a:endParaRPr lang="en-US"/>
        </a:p>
      </dgm:t>
    </dgm:pt>
    <dgm:pt modelId="{297180FE-C86F-44E9-B318-AE1F8A3EB403}">
      <dgm:prSet phldrT="[Text]" custT="1"/>
      <dgm:spPr>
        <a:gradFill rotWithShape="0">
          <a:gsLst>
            <a:gs pos="0">
              <a:schemeClr val="bg1"/>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dgm:spPr>
      <dgm:t>
        <a:bodyPr/>
        <a:lstStyle/>
        <a:p>
          <a:r>
            <a:rPr lang="en-US" sz="2800" dirty="0">
              <a:solidFill>
                <a:schemeClr val="tx1"/>
              </a:solidFill>
            </a:rPr>
            <a:t>Directorate for Social, Behavioral and Economic Sciences</a:t>
          </a:r>
        </a:p>
      </dgm:t>
    </dgm:pt>
    <dgm:pt modelId="{EB8BF2B8-BFA0-4611-837B-B3A6F0189EB3}" type="parTrans" cxnId="{AE32E4A6-457C-4FF7-8ECB-B3F9E4B0748A}">
      <dgm:prSet/>
      <dgm:spPr/>
      <dgm:t>
        <a:bodyPr/>
        <a:lstStyle/>
        <a:p>
          <a:endParaRPr lang="en-US"/>
        </a:p>
      </dgm:t>
    </dgm:pt>
    <dgm:pt modelId="{C76C56D7-080E-47E1-97B9-CAD67B01264C}" type="sibTrans" cxnId="{AE32E4A6-457C-4FF7-8ECB-B3F9E4B0748A}">
      <dgm:prSet/>
      <dgm:spPr/>
      <dgm:t>
        <a:bodyPr/>
        <a:lstStyle/>
        <a:p>
          <a:endParaRPr lang="en-US"/>
        </a:p>
      </dgm:t>
    </dgm:pt>
    <dgm:pt modelId="{EB916474-CC7A-4427-A6C3-D9AB80FB3953}">
      <dgm:prSet phldrT="[Text]" custT="1"/>
      <dgm:spPr>
        <a:gradFill rotWithShape="0">
          <a:gsLst>
            <a:gs pos="0">
              <a:schemeClr val="bg1"/>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dgm:spPr>
      <dgm:t>
        <a:bodyPr/>
        <a:lstStyle/>
        <a:p>
          <a:r>
            <a:rPr lang="en-US" sz="2800" dirty="0">
              <a:solidFill>
                <a:schemeClr val="tx1"/>
              </a:solidFill>
            </a:rPr>
            <a:t>National Center for Science and Engineering Statistics (NCSES)</a:t>
          </a:r>
        </a:p>
      </dgm:t>
    </dgm:pt>
    <dgm:pt modelId="{ABF893AC-6C73-4F18-8E31-A9AC942B0F7E}" type="parTrans" cxnId="{55375BD2-EF35-48E6-ABBE-556BD9BE6F6B}">
      <dgm:prSet/>
      <dgm:spPr/>
      <dgm:t>
        <a:bodyPr/>
        <a:lstStyle/>
        <a:p>
          <a:endParaRPr lang="en-US"/>
        </a:p>
      </dgm:t>
    </dgm:pt>
    <dgm:pt modelId="{73DCFB14-6CB6-493A-8882-3188BDBF54BD}" type="sibTrans" cxnId="{55375BD2-EF35-48E6-ABBE-556BD9BE6F6B}">
      <dgm:prSet/>
      <dgm:spPr/>
      <dgm:t>
        <a:bodyPr/>
        <a:lstStyle/>
        <a:p>
          <a:endParaRPr lang="en-US"/>
        </a:p>
      </dgm:t>
    </dgm:pt>
    <dgm:pt modelId="{C760874A-CE22-4C69-9872-E54CE2547327}" type="pres">
      <dgm:prSet presAssocID="{FED949C6-4FA3-44A9-B3C2-D612FFC5C095}" presName="diagram" presStyleCnt="0">
        <dgm:presLayoutVars>
          <dgm:dir/>
          <dgm:resizeHandles val="exact"/>
        </dgm:presLayoutVars>
      </dgm:prSet>
      <dgm:spPr/>
    </dgm:pt>
    <dgm:pt modelId="{3CAD5180-398F-4F22-AC17-68EF4A0A7AD7}" type="pres">
      <dgm:prSet presAssocID="{59FDF4DF-06A4-4553-9585-3EE10FCB45D6}" presName="node" presStyleLbl="node1" presStyleIdx="0" presStyleCnt="3" custScaleX="131334" custScaleY="28968" custLinFactNeighborX="-26752" custLinFactNeighborY="-39942">
        <dgm:presLayoutVars>
          <dgm:bulletEnabled val="1"/>
        </dgm:presLayoutVars>
      </dgm:prSet>
      <dgm:spPr/>
    </dgm:pt>
    <dgm:pt modelId="{27D1DC6E-5D80-4F4B-BC7F-E6F76EF5B5E7}" type="pres">
      <dgm:prSet presAssocID="{9A4A8DE8-53C0-4A47-AB1C-0B429BF1D807}" presName="sibTrans" presStyleCnt="0"/>
      <dgm:spPr/>
    </dgm:pt>
    <dgm:pt modelId="{6404CBB8-B597-46C5-B2DA-988D09DE5CF3}" type="pres">
      <dgm:prSet presAssocID="{297180FE-C86F-44E9-B318-AE1F8A3EB403}" presName="node" presStyleLbl="node1" presStyleIdx="1" presStyleCnt="3" custScaleX="140989" custScaleY="38460" custLinFactNeighborX="4209" custLinFactNeighborY="-12074">
        <dgm:presLayoutVars>
          <dgm:bulletEnabled val="1"/>
        </dgm:presLayoutVars>
      </dgm:prSet>
      <dgm:spPr/>
    </dgm:pt>
    <dgm:pt modelId="{1C7B5E5D-FE4B-49ED-913A-8BB52470A7A9}" type="pres">
      <dgm:prSet presAssocID="{C76C56D7-080E-47E1-97B9-CAD67B01264C}" presName="sibTrans" presStyleCnt="0"/>
      <dgm:spPr/>
    </dgm:pt>
    <dgm:pt modelId="{EC6B1B90-D4B8-4184-B0D0-98F5EA8D51A7}" type="pres">
      <dgm:prSet presAssocID="{EB916474-CC7A-4427-A6C3-D9AB80FB3953}" presName="node" presStyleLbl="node1" presStyleIdx="2" presStyleCnt="3" custScaleX="137533" custScaleY="34860" custLinFactNeighborX="13147" custLinFactNeighborY="-23074">
        <dgm:presLayoutVars>
          <dgm:bulletEnabled val="1"/>
        </dgm:presLayoutVars>
      </dgm:prSet>
      <dgm:spPr/>
    </dgm:pt>
  </dgm:ptLst>
  <dgm:cxnLst>
    <dgm:cxn modelId="{06E15000-F7A4-4C79-B1D9-F23F9B60A40C}" srcId="{FED949C6-4FA3-44A9-B3C2-D612FFC5C095}" destId="{59FDF4DF-06A4-4553-9585-3EE10FCB45D6}" srcOrd="0" destOrd="0" parTransId="{6AC32FB2-6624-416D-8D8D-EE569D172ED4}" sibTransId="{9A4A8DE8-53C0-4A47-AB1C-0B429BF1D807}"/>
    <dgm:cxn modelId="{26D5DC5B-3897-4986-829F-95B40904515F}" type="presOf" srcId="{59FDF4DF-06A4-4553-9585-3EE10FCB45D6}" destId="{3CAD5180-398F-4F22-AC17-68EF4A0A7AD7}" srcOrd="0" destOrd="0" presId="urn:microsoft.com/office/officeart/2005/8/layout/default#1"/>
    <dgm:cxn modelId="{AEDE4388-A5FD-4C3F-8C3A-EF292CDDFCBF}" type="presOf" srcId="{EB916474-CC7A-4427-A6C3-D9AB80FB3953}" destId="{EC6B1B90-D4B8-4184-B0D0-98F5EA8D51A7}" srcOrd="0" destOrd="0" presId="urn:microsoft.com/office/officeart/2005/8/layout/default#1"/>
    <dgm:cxn modelId="{AE32E4A6-457C-4FF7-8ECB-B3F9E4B0748A}" srcId="{FED949C6-4FA3-44A9-B3C2-D612FFC5C095}" destId="{297180FE-C86F-44E9-B318-AE1F8A3EB403}" srcOrd="1" destOrd="0" parTransId="{EB8BF2B8-BFA0-4611-837B-B3A6F0189EB3}" sibTransId="{C76C56D7-080E-47E1-97B9-CAD67B01264C}"/>
    <dgm:cxn modelId="{387780C7-CFCD-4BEE-97D8-8FF8BD1C11AC}" type="presOf" srcId="{FED949C6-4FA3-44A9-B3C2-D612FFC5C095}" destId="{C760874A-CE22-4C69-9872-E54CE2547327}" srcOrd="0" destOrd="0" presId="urn:microsoft.com/office/officeart/2005/8/layout/default#1"/>
    <dgm:cxn modelId="{55375BD2-EF35-48E6-ABBE-556BD9BE6F6B}" srcId="{FED949C6-4FA3-44A9-B3C2-D612FFC5C095}" destId="{EB916474-CC7A-4427-A6C3-D9AB80FB3953}" srcOrd="2" destOrd="0" parTransId="{ABF893AC-6C73-4F18-8E31-A9AC942B0F7E}" sibTransId="{73DCFB14-6CB6-493A-8882-3188BDBF54BD}"/>
    <dgm:cxn modelId="{042190D9-36D9-4D7A-9D0E-9887F1EB5784}" type="presOf" srcId="{297180FE-C86F-44E9-B318-AE1F8A3EB403}" destId="{6404CBB8-B597-46C5-B2DA-988D09DE5CF3}" srcOrd="0" destOrd="0" presId="urn:microsoft.com/office/officeart/2005/8/layout/default#1"/>
    <dgm:cxn modelId="{F58F3734-E002-4FC1-81F7-A4EDD534C397}" type="presParOf" srcId="{C760874A-CE22-4C69-9872-E54CE2547327}" destId="{3CAD5180-398F-4F22-AC17-68EF4A0A7AD7}" srcOrd="0" destOrd="0" presId="urn:microsoft.com/office/officeart/2005/8/layout/default#1"/>
    <dgm:cxn modelId="{ACC10B01-BD7C-4F7E-812F-14C810A1199A}" type="presParOf" srcId="{C760874A-CE22-4C69-9872-E54CE2547327}" destId="{27D1DC6E-5D80-4F4B-BC7F-E6F76EF5B5E7}" srcOrd="1" destOrd="0" presId="urn:microsoft.com/office/officeart/2005/8/layout/default#1"/>
    <dgm:cxn modelId="{45731CA1-641D-4F76-95FD-DEA497C91F90}" type="presParOf" srcId="{C760874A-CE22-4C69-9872-E54CE2547327}" destId="{6404CBB8-B597-46C5-B2DA-988D09DE5CF3}" srcOrd="2" destOrd="0" presId="urn:microsoft.com/office/officeart/2005/8/layout/default#1"/>
    <dgm:cxn modelId="{40BB1529-8FCA-4FF3-9887-F528B4C137CD}" type="presParOf" srcId="{C760874A-CE22-4C69-9872-E54CE2547327}" destId="{1C7B5E5D-FE4B-49ED-913A-8BB52470A7A9}" srcOrd="3" destOrd="0" presId="urn:microsoft.com/office/officeart/2005/8/layout/default#1"/>
    <dgm:cxn modelId="{5DC11D56-F9F2-4EF4-B3E1-2E7B7247E502}" type="presParOf" srcId="{C760874A-CE22-4C69-9872-E54CE2547327}" destId="{EC6B1B90-D4B8-4184-B0D0-98F5EA8D51A7}" srcOrd="4" destOrd="0" presId="urn:microsoft.com/office/officeart/2005/8/layout/default#1"/>
  </dgm:cxnLst>
  <dgm:bg/>
  <dgm:whole>
    <a:ln>
      <a:noFill/>
    </a:ln>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A465D38-D1D6-4384-BD2E-AABA1CE1362F}"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085DAD62-CB90-4A5A-BAEF-6323CD122FCA}">
      <dgm:prSet phldrT="[Text]" custT="1"/>
      <dgm:spPr>
        <a:solidFill>
          <a:srgbClr val="99CCFF"/>
        </a:solidFill>
        <a:ln>
          <a:solidFill>
            <a:schemeClr val="tx1"/>
          </a:solidFill>
        </a:ln>
      </dgm:spPr>
      <dgm:t>
        <a:bodyPr/>
        <a:lstStyle/>
        <a:p>
          <a:r>
            <a:rPr lang="en-US" sz="2800" dirty="0">
              <a:solidFill>
                <a:schemeClr val="tx1"/>
              </a:solidFill>
              <a:latin typeface="Arial" panose="020B0604020202020204" pitchFamily="34" charset="0"/>
              <a:cs typeface="Arial" panose="020B0604020202020204" pitchFamily="34" charset="0"/>
            </a:rPr>
            <a:t>National Center for Science and Engineering Statistics</a:t>
          </a:r>
        </a:p>
      </dgm:t>
    </dgm:pt>
    <dgm:pt modelId="{999549CE-AB4A-4069-BC68-2360D2B157B9}" type="parTrans" cxnId="{DF130A5B-A18C-49C6-A139-EEBC71D2D545}">
      <dgm:prSet/>
      <dgm:spPr/>
      <dgm:t>
        <a:bodyPr/>
        <a:lstStyle/>
        <a:p>
          <a:endParaRPr lang="en-US"/>
        </a:p>
      </dgm:t>
    </dgm:pt>
    <dgm:pt modelId="{07DE1613-9796-4AED-B3FA-52A99AE9EBF6}" type="sibTrans" cxnId="{DF130A5B-A18C-49C6-A139-EEBC71D2D545}">
      <dgm:prSet/>
      <dgm:spPr/>
      <dgm:t>
        <a:bodyPr/>
        <a:lstStyle/>
        <a:p>
          <a:endParaRPr lang="en-US"/>
        </a:p>
      </dgm:t>
    </dgm:pt>
    <dgm:pt modelId="{CD021B1C-A17D-4092-8061-45DAC77F3119}" type="asst">
      <dgm:prSet phldrT="[Text]" custT="1"/>
      <dgm:spPr>
        <a:solidFill>
          <a:schemeClr val="bg1"/>
        </a:solidFill>
        <a:ln>
          <a:solidFill>
            <a:schemeClr val="tx1"/>
          </a:solidFill>
        </a:ln>
      </dgm:spPr>
      <dgm:t>
        <a:bodyPr/>
        <a:lstStyle/>
        <a:p>
          <a:r>
            <a:rPr lang="en-US" sz="1600" dirty="0">
              <a:solidFill>
                <a:schemeClr val="tx1"/>
              </a:solidFill>
              <a:latin typeface="Arial" panose="020B0604020202020204" pitchFamily="34" charset="0"/>
              <a:cs typeface="Arial" panose="020B0604020202020204" pitchFamily="34" charset="0"/>
            </a:rPr>
            <a:t>Office of the Division Director</a:t>
          </a:r>
        </a:p>
      </dgm:t>
    </dgm:pt>
    <dgm:pt modelId="{08D76B5B-BB70-4AA5-B32B-3924FF1C4A37}" type="parTrans" cxnId="{BB09D20B-FB3A-497A-A76C-482C60B161E7}">
      <dgm:prSet/>
      <dgm:spPr>
        <a:ln>
          <a:solidFill>
            <a:schemeClr val="tx1"/>
          </a:solidFill>
        </a:ln>
      </dgm:spPr>
      <dgm:t>
        <a:bodyPr/>
        <a:lstStyle/>
        <a:p>
          <a:endParaRPr lang="en-US"/>
        </a:p>
      </dgm:t>
    </dgm:pt>
    <dgm:pt modelId="{8851FEB4-1290-4CAC-810A-9F52AFAC6593}" type="sibTrans" cxnId="{BB09D20B-FB3A-497A-A76C-482C60B161E7}">
      <dgm:prSet/>
      <dgm:spPr/>
      <dgm:t>
        <a:bodyPr/>
        <a:lstStyle/>
        <a:p>
          <a:endParaRPr lang="en-US"/>
        </a:p>
      </dgm:t>
    </dgm:pt>
    <dgm:pt modelId="{AFFCEAB3-3A13-45D1-9A65-088A39866209}">
      <dgm:prSet phldrT="[Text]"/>
      <dgm:spPr>
        <a:solidFill>
          <a:schemeClr val="bg1"/>
        </a:solidFill>
        <a:ln>
          <a:solidFill>
            <a:schemeClr val="tx1"/>
          </a:solidFill>
        </a:ln>
      </dgm:spPr>
      <dgm:t>
        <a:bodyPr/>
        <a:lstStyle/>
        <a:p>
          <a:r>
            <a:rPr lang="en-US" dirty="0">
              <a:solidFill>
                <a:schemeClr val="tx1"/>
              </a:solidFill>
              <a:latin typeface="Arial" panose="020B0604020202020204" pitchFamily="34" charset="0"/>
              <a:cs typeface="Arial" panose="020B0604020202020204" pitchFamily="34" charset="0"/>
            </a:rPr>
            <a:t>Human Resources Statistics Program</a:t>
          </a:r>
          <a:endParaRPr lang="en-US" dirty="0"/>
        </a:p>
      </dgm:t>
    </dgm:pt>
    <dgm:pt modelId="{3EEC86EB-4943-40BF-9B4C-407C9E2E18C8}" type="parTrans" cxnId="{59AE79BE-C3F6-4447-BB7A-811FEDA68BB9}">
      <dgm:prSet/>
      <dgm:spPr>
        <a:ln>
          <a:solidFill>
            <a:schemeClr val="tx1"/>
          </a:solidFill>
        </a:ln>
      </dgm:spPr>
      <dgm:t>
        <a:bodyPr/>
        <a:lstStyle/>
        <a:p>
          <a:endParaRPr lang="en-US"/>
        </a:p>
      </dgm:t>
    </dgm:pt>
    <dgm:pt modelId="{F60C7579-3810-4CAA-90DF-7E186B0B390D}" type="sibTrans" cxnId="{59AE79BE-C3F6-4447-BB7A-811FEDA68BB9}">
      <dgm:prSet/>
      <dgm:spPr/>
      <dgm:t>
        <a:bodyPr/>
        <a:lstStyle/>
        <a:p>
          <a:endParaRPr lang="en-US"/>
        </a:p>
      </dgm:t>
    </dgm:pt>
    <dgm:pt modelId="{BA6B7C42-D782-419F-9E84-B14E892C0870}">
      <dgm:prSet phldrT="[Text]"/>
      <dgm:spPr>
        <a:solidFill>
          <a:schemeClr val="bg1"/>
        </a:solidFill>
        <a:ln>
          <a:solidFill>
            <a:schemeClr val="tx1"/>
          </a:solidFill>
        </a:ln>
      </dgm:spPr>
      <dgm:t>
        <a:bodyPr/>
        <a:lstStyle/>
        <a:p>
          <a:r>
            <a:rPr lang="en-US" dirty="0">
              <a:solidFill>
                <a:schemeClr val="tx1"/>
              </a:solidFill>
              <a:latin typeface="Arial" panose="020B0604020202020204" pitchFamily="34" charset="0"/>
              <a:cs typeface="Arial" panose="020B0604020202020204" pitchFamily="34" charset="0"/>
            </a:rPr>
            <a:t>Research and Development Statistics Program</a:t>
          </a:r>
          <a:endParaRPr lang="en-US" dirty="0"/>
        </a:p>
      </dgm:t>
    </dgm:pt>
    <dgm:pt modelId="{1DD8D8A6-D662-45BE-9704-A08546FCC369}" type="parTrans" cxnId="{4B6F46A1-E703-4E7A-B425-1B6CFC304F32}">
      <dgm:prSet/>
      <dgm:spPr>
        <a:ln>
          <a:solidFill>
            <a:schemeClr val="tx1"/>
          </a:solidFill>
        </a:ln>
      </dgm:spPr>
      <dgm:t>
        <a:bodyPr/>
        <a:lstStyle/>
        <a:p>
          <a:endParaRPr lang="en-US"/>
        </a:p>
      </dgm:t>
    </dgm:pt>
    <dgm:pt modelId="{6A7A39C3-5C17-4B0A-91A3-661CC5D0AB24}" type="sibTrans" cxnId="{4B6F46A1-E703-4E7A-B425-1B6CFC304F32}">
      <dgm:prSet/>
      <dgm:spPr/>
      <dgm:t>
        <a:bodyPr/>
        <a:lstStyle/>
        <a:p>
          <a:endParaRPr lang="en-US"/>
        </a:p>
      </dgm:t>
    </dgm:pt>
    <dgm:pt modelId="{A9EE4E0B-AF45-447D-9307-EFF4062C7CB1}">
      <dgm:prSet phldrT="[Text]"/>
      <dgm:spPr>
        <a:solidFill>
          <a:schemeClr val="bg1"/>
        </a:solidFill>
        <a:ln>
          <a:solidFill>
            <a:schemeClr val="tx1"/>
          </a:solidFill>
        </a:ln>
      </dgm:spPr>
      <dgm:t>
        <a:bodyPr/>
        <a:lstStyle/>
        <a:p>
          <a:r>
            <a:rPr lang="en-US" dirty="0">
              <a:solidFill>
                <a:schemeClr val="tx1"/>
              </a:solidFill>
              <a:latin typeface="Arial" panose="020B0604020202020204" pitchFamily="34" charset="0"/>
              <a:cs typeface="Arial" panose="020B0604020202020204" pitchFamily="34" charset="0"/>
            </a:rPr>
            <a:t>Information and Technology Services Program</a:t>
          </a:r>
          <a:endParaRPr lang="en-US" dirty="0"/>
        </a:p>
      </dgm:t>
    </dgm:pt>
    <dgm:pt modelId="{1355CC8C-7F8A-471D-BDB0-289C987D4D72}" type="parTrans" cxnId="{E5B0E885-1BF0-48A8-9A09-8EDE00B691FF}">
      <dgm:prSet/>
      <dgm:spPr>
        <a:ln>
          <a:solidFill>
            <a:schemeClr val="tx1"/>
          </a:solidFill>
        </a:ln>
      </dgm:spPr>
      <dgm:t>
        <a:bodyPr/>
        <a:lstStyle/>
        <a:p>
          <a:endParaRPr lang="en-US"/>
        </a:p>
      </dgm:t>
    </dgm:pt>
    <dgm:pt modelId="{AD1E1BA8-3E8B-497D-A476-3545C7AEF392}" type="sibTrans" cxnId="{E5B0E885-1BF0-48A8-9A09-8EDE00B691FF}">
      <dgm:prSet/>
      <dgm:spPr/>
      <dgm:t>
        <a:bodyPr/>
        <a:lstStyle/>
        <a:p>
          <a:endParaRPr lang="en-US"/>
        </a:p>
      </dgm:t>
    </dgm:pt>
    <dgm:pt modelId="{37FA3480-829C-48D0-A358-04E3D22A26F5}">
      <dgm:prSet/>
      <dgm:spPr>
        <a:solidFill>
          <a:schemeClr val="bg1"/>
        </a:solidFill>
        <a:ln>
          <a:solidFill>
            <a:schemeClr val="tx1"/>
          </a:solidFill>
        </a:ln>
      </dgm:spPr>
      <dgm:t>
        <a:bodyPr/>
        <a:lstStyle/>
        <a:p>
          <a:r>
            <a:rPr lang="en-US" dirty="0">
              <a:solidFill>
                <a:schemeClr val="tx1"/>
              </a:solidFill>
              <a:latin typeface="Arial" panose="020B0604020202020204" pitchFamily="34" charset="0"/>
              <a:cs typeface="Arial" panose="020B0604020202020204" pitchFamily="34" charset="0"/>
            </a:rPr>
            <a:t>Science and Engineering Indicators Program</a:t>
          </a:r>
        </a:p>
      </dgm:t>
    </dgm:pt>
    <dgm:pt modelId="{E918B75F-9505-4E51-8969-BA4733242B9C}" type="parTrans" cxnId="{192D2AF2-6183-4953-A3BC-1EFF6C4AEEA3}">
      <dgm:prSet/>
      <dgm:spPr>
        <a:ln>
          <a:solidFill>
            <a:schemeClr val="tx1"/>
          </a:solidFill>
        </a:ln>
      </dgm:spPr>
      <dgm:t>
        <a:bodyPr/>
        <a:lstStyle/>
        <a:p>
          <a:endParaRPr lang="en-US"/>
        </a:p>
      </dgm:t>
    </dgm:pt>
    <dgm:pt modelId="{17201CEB-F0CE-4201-9C51-64BAB7F504D3}" type="sibTrans" cxnId="{192D2AF2-6183-4953-A3BC-1EFF6C4AEEA3}">
      <dgm:prSet/>
      <dgm:spPr/>
      <dgm:t>
        <a:bodyPr/>
        <a:lstStyle/>
        <a:p>
          <a:endParaRPr lang="en-US"/>
        </a:p>
      </dgm:t>
    </dgm:pt>
    <dgm:pt modelId="{1C2DBB3B-CF38-4C55-876F-685CDA3853AE}" type="asst">
      <dgm:prSet phldrT="[Text]"/>
      <dgm:spPr>
        <a:solidFill>
          <a:schemeClr val="bg1"/>
        </a:solidFill>
        <a:ln>
          <a:solidFill>
            <a:schemeClr val="tx1"/>
          </a:solidFill>
        </a:ln>
      </dgm:spPr>
      <dgm:t>
        <a:bodyPr/>
        <a:lstStyle/>
        <a:p>
          <a:r>
            <a:rPr lang="en-US" dirty="0">
              <a:solidFill>
                <a:schemeClr val="tx1"/>
              </a:solidFill>
              <a:latin typeface="Arial" panose="020B0604020202020204" pitchFamily="34" charset="0"/>
              <a:cs typeface="Arial" panose="020B0604020202020204" pitchFamily="34" charset="0"/>
            </a:rPr>
            <a:t>Statistics and Methods Program</a:t>
          </a:r>
        </a:p>
        <a:p>
          <a:endParaRPr lang="en-US" dirty="0">
            <a:solidFill>
              <a:schemeClr val="tx1"/>
            </a:solidFill>
            <a:latin typeface="Arial" panose="020B0604020202020204" pitchFamily="34" charset="0"/>
            <a:cs typeface="Arial" panose="020B0604020202020204" pitchFamily="34" charset="0"/>
          </a:endParaRPr>
        </a:p>
      </dgm:t>
    </dgm:pt>
    <dgm:pt modelId="{13ECD522-FF01-4702-8A06-58AB4FD63708}" type="parTrans" cxnId="{F5D2FC99-B463-4653-B387-8314F166A91E}">
      <dgm:prSet/>
      <dgm:spPr/>
      <dgm:t>
        <a:bodyPr/>
        <a:lstStyle/>
        <a:p>
          <a:endParaRPr lang="en-US"/>
        </a:p>
      </dgm:t>
    </dgm:pt>
    <dgm:pt modelId="{0B74540A-9214-4F75-B4BF-3DD8E6F32A56}" type="sibTrans" cxnId="{F5D2FC99-B463-4653-B387-8314F166A91E}">
      <dgm:prSet/>
      <dgm:spPr/>
      <dgm:t>
        <a:bodyPr/>
        <a:lstStyle/>
        <a:p>
          <a:endParaRPr lang="en-US"/>
        </a:p>
      </dgm:t>
    </dgm:pt>
    <dgm:pt modelId="{F3323004-16EF-40CA-96E7-08647028C517}" type="asst">
      <dgm:prSet phldrT="[Text]"/>
      <dgm:spPr>
        <a:solidFill>
          <a:schemeClr val="bg1"/>
        </a:solidFill>
        <a:ln>
          <a:solidFill>
            <a:schemeClr val="tx1"/>
          </a:solidFill>
        </a:ln>
      </dgm:spPr>
      <dgm:t>
        <a:bodyPr/>
        <a:lstStyle/>
        <a:p>
          <a:r>
            <a:rPr lang="en-US" dirty="0">
              <a:solidFill>
                <a:schemeClr val="tx1"/>
              </a:solidFill>
              <a:latin typeface="Arial" panose="020B0604020202020204" pitchFamily="34" charset="0"/>
              <a:cs typeface="Arial" panose="020B0604020202020204" pitchFamily="34" charset="0"/>
            </a:rPr>
            <a:t>Administrative and Program Operations Group</a:t>
          </a:r>
        </a:p>
      </dgm:t>
    </dgm:pt>
    <dgm:pt modelId="{65900AE4-3005-436C-8FEE-82BC6902172F}" type="parTrans" cxnId="{41CAEEC3-B8CB-45D9-AD7B-FBC63D351089}">
      <dgm:prSet/>
      <dgm:spPr/>
      <dgm:t>
        <a:bodyPr/>
        <a:lstStyle/>
        <a:p>
          <a:endParaRPr lang="en-US"/>
        </a:p>
      </dgm:t>
    </dgm:pt>
    <dgm:pt modelId="{16D2120E-EB88-49F8-A4F9-6F176359FBD9}" type="sibTrans" cxnId="{41CAEEC3-B8CB-45D9-AD7B-FBC63D351089}">
      <dgm:prSet/>
      <dgm:spPr/>
      <dgm:t>
        <a:bodyPr/>
        <a:lstStyle/>
        <a:p>
          <a:endParaRPr lang="en-US"/>
        </a:p>
      </dgm:t>
    </dgm:pt>
    <dgm:pt modelId="{EBB57B78-5C42-4474-B55B-8E1A7069B72D}" type="pres">
      <dgm:prSet presAssocID="{6A465D38-D1D6-4384-BD2E-AABA1CE1362F}" presName="hierChild1" presStyleCnt="0">
        <dgm:presLayoutVars>
          <dgm:orgChart val="1"/>
          <dgm:chPref val="1"/>
          <dgm:dir/>
          <dgm:animOne val="branch"/>
          <dgm:animLvl val="lvl"/>
          <dgm:resizeHandles/>
        </dgm:presLayoutVars>
      </dgm:prSet>
      <dgm:spPr/>
    </dgm:pt>
    <dgm:pt modelId="{70CDABD7-4BC9-404E-8306-43A97C3E176F}" type="pres">
      <dgm:prSet presAssocID="{085DAD62-CB90-4A5A-BAEF-6323CD122FCA}" presName="hierRoot1" presStyleCnt="0">
        <dgm:presLayoutVars>
          <dgm:hierBranch val="init"/>
        </dgm:presLayoutVars>
      </dgm:prSet>
      <dgm:spPr/>
    </dgm:pt>
    <dgm:pt modelId="{FC814A9F-29EB-4B5A-A9A9-55EFDA68BF88}" type="pres">
      <dgm:prSet presAssocID="{085DAD62-CB90-4A5A-BAEF-6323CD122FCA}" presName="rootComposite1" presStyleCnt="0"/>
      <dgm:spPr/>
    </dgm:pt>
    <dgm:pt modelId="{6EA331CA-01F2-4DB3-B806-862EDB3B0DBC}" type="pres">
      <dgm:prSet presAssocID="{085DAD62-CB90-4A5A-BAEF-6323CD122FCA}" presName="rootText1" presStyleLbl="node0" presStyleIdx="0" presStyleCnt="3" custScaleX="359196" custScaleY="128090">
        <dgm:presLayoutVars>
          <dgm:chPref val="3"/>
        </dgm:presLayoutVars>
      </dgm:prSet>
      <dgm:spPr/>
    </dgm:pt>
    <dgm:pt modelId="{AC8D603E-4D40-4414-9798-BDD93C70AAD3}" type="pres">
      <dgm:prSet presAssocID="{085DAD62-CB90-4A5A-BAEF-6323CD122FCA}" presName="rootConnector1" presStyleLbl="node1" presStyleIdx="0" presStyleCnt="0"/>
      <dgm:spPr/>
    </dgm:pt>
    <dgm:pt modelId="{320A8A90-0D19-48E3-83AB-A482B97CA121}" type="pres">
      <dgm:prSet presAssocID="{085DAD62-CB90-4A5A-BAEF-6323CD122FCA}" presName="hierChild2" presStyleCnt="0"/>
      <dgm:spPr/>
    </dgm:pt>
    <dgm:pt modelId="{3C971A96-7E5B-4818-AD05-5D7F12ABFBB7}" type="pres">
      <dgm:prSet presAssocID="{3EEC86EB-4943-40BF-9B4C-407C9E2E18C8}" presName="Name37" presStyleLbl="parChTrans1D2" presStyleIdx="0" presStyleCnt="5"/>
      <dgm:spPr/>
    </dgm:pt>
    <dgm:pt modelId="{482FDE63-2B81-40BB-B117-E1A8B0E8AA62}" type="pres">
      <dgm:prSet presAssocID="{AFFCEAB3-3A13-45D1-9A65-088A39866209}" presName="hierRoot2" presStyleCnt="0">
        <dgm:presLayoutVars>
          <dgm:hierBranch val="init"/>
        </dgm:presLayoutVars>
      </dgm:prSet>
      <dgm:spPr/>
    </dgm:pt>
    <dgm:pt modelId="{AFA20A59-C1A8-4A58-80CF-2AC2752D5B2D}" type="pres">
      <dgm:prSet presAssocID="{AFFCEAB3-3A13-45D1-9A65-088A39866209}" presName="rootComposite" presStyleCnt="0"/>
      <dgm:spPr/>
    </dgm:pt>
    <dgm:pt modelId="{F8F90105-A7CE-40FF-969E-0EEC540CEDC4}" type="pres">
      <dgm:prSet presAssocID="{AFFCEAB3-3A13-45D1-9A65-088A39866209}" presName="rootText" presStyleLbl="node2" presStyleIdx="0" presStyleCnt="4" custLinFactNeighborX="-11991" custLinFactNeighborY="48436">
        <dgm:presLayoutVars>
          <dgm:chPref val="3"/>
        </dgm:presLayoutVars>
      </dgm:prSet>
      <dgm:spPr/>
    </dgm:pt>
    <dgm:pt modelId="{E9445733-9176-4222-AF7C-0C3C70494A03}" type="pres">
      <dgm:prSet presAssocID="{AFFCEAB3-3A13-45D1-9A65-088A39866209}" presName="rootConnector" presStyleLbl="node2" presStyleIdx="0" presStyleCnt="4"/>
      <dgm:spPr/>
    </dgm:pt>
    <dgm:pt modelId="{927429D7-9188-4B0D-9822-29920F2D19D2}" type="pres">
      <dgm:prSet presAssocID="{AFFCEAB3-3A13-45D1-9A65-088A39866209}" presName="hierChild4" presStyleCnt="0"/>
      <dgm:spPr/>
    </dgm:pt>
    <dgm:pt modelId="{EA783577-D1F8-4EFB-857D-DCB32659AE90}" type="pres">
      <dgm:prSet presAssocID="{AFFCEAB3-3A13-45D1-9A65-088A39866209}" presName="hierChild5" presStyleCnt="0"/>
      <dgm:spPr/>
    </dgm:pt>
    <dgm:pt modelId="{E3786D57-758B-4EEF-BBD4-721DC5C26C7A}" type="pres">
      <dgm:prSet presAssocID="{1DD8D8A6-D662-45BE-9704-A08546FCC369}" presName="Name37" presStyleLbl="parChTrans1D2" presStyleIdx="1" presStyleCnt="5"/>
      <dgm:spPr/>
    </dgm:pt>
    <dgm:pt modelId="{71066D09-C9F2-47F1-834C-91DA682CB0B5}" type="pres">
      <dgm:prSet presAssocID="{BA6B7C42-D782-419F-9E84-B14E892C0870}" presName="hierRoot2" presStyleCnt="0">
        <dgm:presLayoutVars>
          <dgm:hierBranch val="init"/>
        </dgm:presLayoutVars>
      </dgm:prSet>
      <dgm:spPr/>
    </dgm:pt>
    <dgm:pt modelId="{8C632C99-A057-49C7-BB5C-D743A0ADA46D}" type="pres">
      <dgm:prSet presAssocID="{BA6B7C42-D782-419F-9E84-B14E892C0870}" presName="rootComposite" presStyleCnt="0"/>
      <dgm:spPr/>
    </dgm:pt>
    <dgm:pt modelId="{E22EFB3E-D025-4445-B9AC-909077F935D2}" type="pres">
      <dgm:prSet presAssocID="{BA6B7C42-D782-419F-9E84-B14E892C0870}" presName="rootText" presStyleLbl="node2" presStyleIdx="1" presStyleCnt="4" custLinFactNeighborX="-7349" custLinFactNeighborY="48436">
        <dgm:presLayoutVars>
          <dgm:chPref val="3"/>
        </dgm:presLayoutVars>
      </dgm:prSet>
      <dgm:spPr/>
    </dgm:pt>
    <dgm:pt modelId="{3E7878F7-9565-4C1F-9FFD-28D9F2F93ABE}" type="pres">
      <dgm:prSet presAssocID="{BA6B7C42-D782-419F-9E84-B14E892C0870}" presName="rootConnector" presStyleLbl="node2" presStyleIdx="1" presStyleCnt="4"/>
      <dgm:spPr/>
    </dgm:pt>
    <dgm:pt modelId="{46A0D4D2-3BFB-4F7B-ABF4-8F3443CCD135}" type="pres">
      <dgm:prSet presAssocID="{BA6B7C42-D782-419F-9E84-B14E892C0870}" presName="hierChild4" presStyleCnt="0"/>
      <dgm:spPr/>
    </dgm:pt>
    <dgm:pt modelId="{3DC760B1-CA99-45BA-8278-B61B75594FAC}" type="pres">
      <dgm:prSet presAssocID="{BA6B7C42-D782-419F-9E84-B14E892C0870}" presName="hierChild5" presStyleCnt="0"/>
      <dgm:spPr/>
    </dgm:pt>
    <dgm:pt modelId="{B27058DC-CFC7-40F1-A3AE-DDAC2E8B75DC}" type="pres">
      <dgm:prSet presAssocID="{E918B75F-9505-4E51-8969-BA4733242B9C}" presName="Name37" presStyleLbl="parChTrans1D2" presStyleIdx="2" presStyleCnt="5"/>
      <dgm:spPr/>
    </dgm:pt>
    <dgm:pt modelId="{46446D5A-FC20-4DF8-8952-C5E2BD1C9E58}" type="pres">
      <dgm:prSet presAssocID="{37FA3480-829C-48D0-A358-04E3D22A26F5}" presName="hierRoot2" presStyleCnt="0">
        <dgm:presLayoutVars>
          <dgm:hierBranch val="init"/>
        </dgm:presLayoutVars>
      </dgm:prSet>
      <dgm:spPr/>
    </dgm:pt>
    <dgm:pt modelId="{EE6D8749-ED3A-4CEF-AA67-B615AEE47963}" type="pres">
      <dgm:prSet presAssocID="{37FA3480-829C-48D0-A358-04E3D22A26F5}" presName="rootComposite" presStyleCnt="0"/>
      <dgm:spPr/>
    </dgm:pt>
    <dgm:pt modelId="{D7327288-A3FE-4AF5-8120-121E8334C0E2}" type="pres">
      <dgm:prSet presAssocID="{37FA3480-829C-48D0-A358-04E3D22A26F5}" presName="rootText" presStyleLbl="node2" presStyleIdx="2" presStyleCnt="4" custLinFactNeighborX="-21321" custLinFactNeighborY="48436">
        <dgm:presLayoutVars>
          <dgm:chPref val="3"/>
        </dgm:presLayoutVars>
      </dgm:prSet>
      <dgm:spPr/>
    </dgm:pt>
    <dgm:pt modelId="{5A5281FC-6DE8-43FC-AF17-E2883AF6BE80}" type="pres">
      <dgm:prSet presAssocID="{37FA3480-829C-48D0-A358-04E3D22A26F5}" presName="rootConnector" presStyleLbl="node2" presStyleIdx="2" presStyleCnt="4"/>
      <dgm:spPr/>
    </dgm:pt>
    <dgm:pt modelId="{F7EBF9FC-5D71-4AAD-9D78-D68B8C1F952C}" type="pres">
      <dgm:prSet presAssocID="{37FA3480-829C-48D0-A358-04E3D22A26F5}" presName="hierChild4" presStyleCnt="0"/>
      <dgm:spPr/>
    </dgm:pt>
    <dgm:pt modelId="{3ADD03B5-0684-409A-A1B8-B61344E9DD83}" type="pres">
      <dgm:prSet presAssocID="{37FA3480-829C-48D0-A358-04E3D22A26F5}" presName="hierChild5" presStyleCnt="0"/>
      <dgm:spPr/>
    </dgm:pt>
    <dgm:pt modelId="{22553A5D-1CA7-4D23-AFA3-DE9A739F48A7}" type="pres">
      <dgm:prSet presAssocID="{1355CC8C-7F8A-471D-BDB0-289C987D4D72}" presName="Name37" presStyleLbl="parChTrans1D2" presStyleIdx="3" presStyleCnt="5"/>
      <dgm:spPr/>
    </dgm:pt>
    <dgm:pt modelId="{2043FE64-A2FF-4622-8EB5-8CA2AD048F85}" type="pres">
      <dgm:prSet presAssocID="{A9EE4E0B-AF45-447D-9307-EFF4062C7CB1}" presName="hierRoot2" presStyleCnt="0">
        <dgm:presLayoutVars>
          <dgm:hierBranch val="init"/>
        </dgm:presLayoutVars>
      </dgm:prSet>
      <dgm:spPr/>
    </dgm:pt>
    <dgm:pt modelId="{A1B21481-CF3F-41A5-A6E5-97BC61F47B0F}" type="pres">
      <dgm:prSet presAssocID="{A9EE4E0B-AF45-447D-9307-EFF4062C7CB1}" presName="rootComposite" presStyleCnt="0"/>
      <dgm:spPr/>
    </dgm:pt>
    <dgm:pt modelId="{3BC6C9D0-4D0C-4413-8C89-BD3DC6121AB3}" type="pres">
      <dgm:prSet presAssocID="{A9EE4E0B-AF45-447D-9307-EFF4062C7CB1}" presName="rootText" presStyleLbl="node2" presStyleIdx="3" presStyleCnt="4" custLinFactNeighborX="-35294" custLinFactNeighborY="48436">
        <dgm:presLayoutVars>
          <dgm:chPref val="3"/>
        </dgm:presLayoutVars>
      </dgm:prSet>
      <dgm:spPr/>
    </dgm:pt>
    <dgm:pt modelId="{64CE2DCB-11AC-49A2-9218-F9510FC35C10}" type="pres">
      <dgm:prSet presAssocID="{A9EE4E0B-AF45-447D-9307-EFF4062C7CB1}" presName="rootConnector" presStyleLbl="node2" presStyleIdx="3" presStyleCnt="4"/>
      <dgm:spPr/>
    </dgm:pt>
    <dgm:pt modelId="{0B995F58-C7AC-4ACA-AC08-724EB6CA3E49}" type="pres">
      <dgm:prSet presAssocID="{A9EE4E0B-AF45-447D-9307-EFF4062C7CB1}" presName="hierChild4" presStyleCnt="0"/>
      <dgm:spPr/>
    </dgm:pt>
    <dgm:pt modelId="{77BCDB23-C33B-428D-89BA-C50575285D8B}" type="pres">
      <dgm:prSet presAssocID="{A9EE4E0B-AF45-447D-9307-EFF4062C7CB1}" presName="hierChild5" presStyleCnt="0"/>
      <dgm:spPr/>
    </dgm:pt>
    <dgm:pt modelId="{8CE6322A-5287-41B3-A4FF-FF67F0A5ABD7}" type="pres">
      <dgm:prSet presAssocID="{085DAD62-CB90-4A5A-BAEF-6323CD122FCA}" presName="hierChild3" presStyleCnt="0"/>
      <dgm:spPr/>
    </dgm:pt>
    <dgm:pt modelId="{B12C199F-E931-4FCB-A58B-C380E11391F2}" type="pres">
      <dgm:prSet presAssocID="{08D76B5B-BB70-4AA5-B32B-3924FF1C4A37}" presName="Name111" presStyleLbl="parChTrans1D2" presStyleIdx="4" presStyleCnt="5"/>
      <dgm:spPr/>
    </dgm:pt>
    <dgm:pt modelId="{ECF1575D-C17A-43E9-9D93-8D5B9278C87A}" type="pres">
      <dgm:prSet presAssocID="{CD021B1C-A17D-4092-8061-45DAC77F3119}" presName="hierRoot3" presStyleCnt="0">
        <dgm:presLayoutVars>
          <dgm:hierBranch val="init"/>
        </dgm:presLayoutVars>
      </dgm:prSet>
      <dgm:spPr/>
    </dgm:pt>
    <dgm:pt modelId="{7EB2DC4B-CD1D-4A49-B0D3-8862DEAD0170}" type="pres">
      <dgm:prSet presAssocID="{CD021B1C-A17D-4092-8061-45DAC77F3119}" presName="rootComposite3" presStyleCnt="0"/>
      <dgm:spPr/>
    </dgm:pt>
    <dgm:pt modelId="{A82ED2CE-1894-4A1D-B6E8-F9C37AFA017F}" type="pres">
      <dgm:prSet presAssocID="{CD021B1C-A17D-4092-8061-45DAC77F3119}" presName="rootText3" presStyleLbl="asst1" presStyleIdx="0" presStyleCnt="1" custLinFactNeighborX="-33606" custLinFactNeighborY="20387">
        <dgm:presLayoutVars>
          <dgm:chPref val="3"/>
        </dgm:presLayoutVars>
      </dgm:prSet>
      <dgm:spPr/>
    </dgm:pt>
    <dgm:pt modelId="{50BBEF7E-13B2-4383-9AB8-BBE6D3FE9DD7}" type="pres">
      <dgm:prSet presAssocID="{CD021B1C-A17D-4092-8061-45DAC77F3119}" presName="rootConnector3" presStyleLbl="asst1" presStyleIdx="0" presStyleCnt="1"/>
      <dgm:spPr/>
    </dgm:pt>
    <dgm:pt modelId="{A3DA6B10-D1F7-4FA7-913C-7040D49CA37F}" type="pres">
      <dgm:prSet presAssocID="{CD021B1C-A17D-4092-8061-45DAC77F3119}" presName="hierChild6" presStyleCnt="0"/>
      <dgm:spPr/>
    </dgm:pt>
    <dgm:pt modelId="{6E0CEDC2-10A9-4B85-A721-30219398593C}" type="pres">
      <dgm:prSet presAssocID="{CD021B1C-A17D-4092-8061-45DAC77F3119}" presName="hierChild7" presStyleCnt="0"/>
      <dgm:spPr/>
    </dgm:pt>
    <dgm:pt modelId="{648DD5AB-0C00-4B9A-BC42-4586000149B8}" type="pres">
      <dgm:prSet presAssocID="{1C2DBB3B-CF38-4C55-876F-685CDA3853AE}" presName="hierRoot1" presStyleCnt="0">
        <dgm:presLayoutVars>
          <dgm:hierBranch val="init"/>
        </dgm:presLayoutVars>
      </dgm:prSet>
      <dgm:spPr/>
    </dgm:pt>
    <dgm:pt modelId="{36E3A013-8B7B-4D7B-97E4-DCFF8A2A6C1D}" type="pres">
      <dgm:prSet presAssocID="{1C2DBB3B-CF38-4C55-876F-685CDA3853AE}" presName="rootComposite1" presStyleCnt="0"/>
      <dgm:spPr/>
    </dgm:pt>
    <dgm:pt modelId="{4C8C4C83-310B-4EBB-953C-2CF62348824F}" type="pres">
      <dgm:prSet presAssocID="{1C2DBB3B-CF38-4C55-876F-685CDA3853AE}" presName="rootText1" presStyleLbl="node0" presStyleIdx="1" presStyleCnt="3" custLinFactY="160526" custLinFactNeighborX="2636" custLinFactNeighborY="200000">
        <dgm:presLayoutVars>
          <dgm:chPref val="3"/>
        </dgm:presLayoutVars>
      </dgm:prSet>
      <dgm:spPr/>
    </dgm:pt>
    <dgm:pt modelId="{C305170B-0F8F-43FF-B304-F8381A8490DD}" type="pres">
      <dgm:prSet presAssocID="{1C2DBB3B-CF38-4C55-876F-685CDA3853AE}" presName="rootConnector1" presStyleLbl="asst0" presStyleIdx="0" presStyleCnt="0"/>
      <dgm:spPr/>
    </dgm:pt>
    <dgm:pt modelId="{8D03A765-F103-42D4-A018-8F857BB32EFC}" type="pres">
      <dgm:prSet presAssocID="{1C2DBB3B-CF38-4C55-876F-685CDA3853AE}" presName="hierChild2" presStyleCnt="0"/>
      <dgm:spPr/>
    </dgm:pt>
    <dgm:pt modelId="{DB70759B-FB62-40E2-8600-3088101CD168}" type="pres">
      <dgm:prSet presAssocID="{1C2DBB3B-CF38-4C55-876F-685CDA3853AE}" presName="hierChild3" presStyleCnt="0"/>
      <dgm:spPr/>
    </dgm:pt>
    <dgm:pt modelId="{1440A46A-80D5-4CFE-BD57-9A93A4A1FD59}" type="pres">
      <dgm:prSet presAssocID="{F3323004-16EF-40CA-96E7-08647028C517}" presName="hierRoot1" presStyleCnt="0">
        <dgm:presLayoutVars>
          <dgm:hierBranch val="init"/>
        </dgm:presLayoutVars>
      </dgm:prSet>
      <dgm:spPr/>
    </dgm:pt>
    <dgm:pt modelId="{4241BF52-E047-4B09-A54E-CC84421ED5C9}" type="pres">
      <dgm:prSet presAssocID="{F3323004-16EF-40CA-96E7-08647028C517}" presName="rootComposite1" presStyleCnt="0"/>
      <dgm:spPr/>
    </dgm:pt>
    <dgm:pt modelId="{B8FA3786-C0D3-4BE4-8B3F-048D70A7EB37}" type="pres">
      <dgm:prSet presAssocID="{F3323004-16EF-40CA-96E7-08647028C517}" presName="rootText1" presStyleLbl="node0" presStyleIdx="2" presStyleCnt="3" custLinFactX="-100000" custLinFactY="90053" custLinFactNeighborX="-186535" custLinFactNeighborY="100000">
        <dgm:presLayoutVars>
          <dgm:chPref val="3"/>
        </dgm:presLayoutVars>
      </dgm:prSet>
      <dgm:spPr/>
    </dgm:pt>
    <dgm:pt modelId="{86A28751-8277-4A7A-8AAA-1AE37E87C440}" type="pres">
      <dgm:prSet presAssocID="{F3323004-16EF-40CA-96E7-08647028C517}" presName="rootConnector1" presStyleLbl="asst0" presStyleIdx="0" presStyleCnt="0"/>
      <dgm:spPr/>
    </dgm:pt>
    <dgm:pt modelId="{DAFF7286-1AC6-4965-A4C8-117462F3EB56}" type="pres">
      <dgm:prSet presAssocID="{F3323004-16EF-40CA-96E7-08647028C517}" presName="hierChild2" presStyleCnt="0"/>
      <dgm:spPr/>
    </dgm:pt>
    <dgm:pt modelId="{7D29CD83-F87F-4206-AB22-29F7E0146F1A}" type="pres">
      <dgm:prSet presAssocID="{F3323004-16EF-40CA-96E7-08647028C517}" presName="hierChild3" presStyleCnt="0"/>
      <dgm:spPr/>
    </dgm:pt>
  </dgm:ptLst>
  <dgm:cxnLst>
    <dgm:cxn modelId="{3DDC3D03-9AF5-4AF5-86DF-4FE8AFB0529F}" type="presOf" srcId="{1C2DBB3B-CF38-4C55-876F-685CDA3853AE}" destId="{C305170B-0F8F-43FF-B304-F8381A8490DD}" srcOrd="1" destOrd="0" presId="urn:microsoft.com/office/officeart/2005/8/layout/orgChart1"/>
    <dgm:cxn modelId="{854EC103-723A-4F22-BD6E-787A1D643EBC}" type="presOf" srcId="{F3323004-16EF-40CA-96E7-08647028C517}" destId="{86A28751-8277-4A7A-8AAA-1AE37E87C440}" srcOrd="1" destOrd="0" presId="urn:microsoft.com/office/officeart/2005/8/layout/orgChart1"/>
    <dgm:cxn modelId="{BB09D20B-FB3A-497A-A76C-482C60B161E7}" srcId="{085DAD62-CB90-4A5A-BAEF-6323CD122FCA}" destId="{CD021B1C-A17D-4092-8061-45DAC77F3119}" srcOrd="0" destOrd="0" parTransId="{08D76B5B-BB70-4AA5-B32B-3924FF1C4A37}" sibTransId="{8851FEB4-1290-4CAC-810A-9F52AFAC6593}"/>
    <dgm:cxn modelId="{07E2060C-AA29-4BDD-9B3E-2C3C5D281491}" type="presOf" srcId="{A9EE4E0B-AF45-447D-9307-EFF4062C7CB1}" destId="{3BC6C9D0-4D0C-4413-8C89-BD3DC6121AB3}" srcOrd="0" destOrd="0" presId="urn:microsoft.com/office/officeart/2005/8/layout/orgChart1"/>
    <dgm:cxn modelId="{3261840D-035A-4382-8E2C-4FD3CBE75775}" type="presOf" srcId="{F3323004-16EF-40CA-96E7-08647028C517}" destId="{B8FA3786-C0D3-4BE4-8B3F-048D70A7EB37}" srcOrd="0" destOrd="0" presId="urn:microsoft.com/office/officeart/2005/8/layout/orgChart1"/>
    <dgm:cxn modelId="{BD980D17-E90E-41BE-AF4F-CAA57B6249FA}" type="presOf" srcId="{BA6B7C42-D782-419F-9E84-B14E892C0870}" destId="{3E7878F7-9565-4C1F-9FFD-28D9F2F93ABE}" srcOrd="1" destOrd="0" presId="urn:microsoft.com/office/officeart/2005/8/layout/orgChart1"/>
    <dgm:cxn modelId="{2192801A-AF4F-41B0-AA4F-6E1C5057CAB6}" type="presOf" srcId="{1355CC8C-7F8A-471D-BDB0-289C987D4D72}" destId="{22553A5D-1CA7-4D23-AFA3-DE9A739F48A7}" srcOrd="0" destOrd="0" presId="urn:microsoft.com/office/officeart/2005/8/layout/orgChart1"/>
    <dgm:cxn modelId="{1C54B634-547C-443D-9B21-81AE39D67102}" type="presOf" srcId="{AFFCEAB3-3A13-45D1-9A65-088A39866209}" destId="{F8F90105-A7CE-40FF-969E-0EEC540CEDC4}" srcOrd="0" destOrd="0" presId="urn:microsoft.com/office/officeart/2005/8/layout/orgChart1"/>
    <dgm:cxn modelId="{DF130A5B-A18C-49C6-A139-EEBC71D2D545}" srcId="{6A465D38-D1D6-4384-BD2E-AABA1CE1362F}" destId="{085DAD62-CB90-4A5A-BAEF-6323CD122FCA}" srcOrd="0" destOrd="0" parTransId="{999549CE-AB4A-4069-BC68-2360D2B157B9}" sibTransId="{07DE1613-9796-4AED-B3FA-52A99AE9EBF6}"/>
    <dgm:cxn modelId="{BEF5125D-5709-4955-9009-40DE2506F079}" type="presOf" srcId="{085DAD62-CB90-4A5A-BAEF-6323CD122FCA}" destId="{AC8D603E-4D40-4414-9798-BDD93C70AAD3}" srcOrd="1" destOrd="0" presId="urn:microsoft.com/office/officeart/2005/8/layout/orgChart1"/>
    <dgm:cxn modelId="{86081C41-9ACD-41F5-8F41-97C108D69090}" type="presOf" srcId="{6A465D38-D1D6-4384-BD2E-AABA1CE1362F}" destId="{EBB57B78-5C42-4474-B55B-8E1A7069B72D}" srcOrd="0" destOrd="0" presId="urn:microsoft.com/office/officeart/2005/8/layout/orgChart1"/>
    <dgm:cxn modelId="{2229676A-3EC3-4736-979E-94DE18DB361B}" type="presOf" srcId="{BA6B7C42-D782-419F-9E84-B14E892C0870}" destId="{E22EFB3E-D025-4445-B9AC-909077F935D2}" srcOrd="0" destOrd="0" presId="urn:microsoft.com/office/officeart/2005/8/layout/orgChart1"/>
    <dgm:cxn modelId="{A6D82E76-96F8-4296-BEEC-E7866EE2B7D7}" type="presOf" srcId="{1DD8D8A6-D662-45BE-9704-A08546FCC369}" destId="{E3786D57-758B-4EEF-BBD4-721DC5C26C7A}" srcOrd="0" destOrd="0" presId="urn:microsoft.com/office/officeart/2005/8/layout/orgChart1"/>
    <dgm:cxn modelId="{A95CFF76-E3D2-408E-911A-2CB7BCA60F63}" type="presOf" srcId="{AFFCEAB3-3A13-45D1-9A65-088A39866209}" destId="{E9445733-9176-4222-AF7C-0C3C70494A03}" srcOrd="1" destOrd="0" presId="urn:microsoft.com/office/officeart/2005/8/layout/orgChart1"/>
    <dgm:cxn modelId="{209F907B-D54C-48E9-B544-A216CB336FBD}" type="presOf" srcId="{E918B75F-9505-4E51-8969-BA4733242B9C}" destId="{B27058DC-CFC7-40F1-A3AE-DDAC2E8B75DC}" srcOrd="0" destOrd="0" presId="urn:microsoft.com/office/officeart/2005/8/layout/orgChart1"/>
    <dgm:cxn modelId="{E5B0E885-1BF0-48A8-9A09-8EDE00B691FF}" srcId="{085DAD62-CB90-4A5A-BAEF-6323CD122FCA}" destId="{A9EE4E0B-AF45-447D-9307-EFF4062C7CB1}" srcOrd="4" destOrd="0" parTransId="{1355CC8C-7F8A-471D-BDB0-289C987D4D72}" sibTransId="{AD1E1BA8-3E8B-497D-A476-3545C7AEF392}"/>
    <dgm:cxn modelId="{E62ABC8E-7AFD-4A44-9DBA-3E2EF03B2283}" type="presOf" srcId="{37FA3480-829C-48D0-A358-04E3D22A26F5}" destId="{D7327288-A3FE-4AF5-8120-121E8334C0E2}" srcOrd="0" destOrd="0" presId="urn:microsoft.com/office/officeart/2005/8/layout/orgChart1"/>
    <dgm:cxn modelId="{6249F290-2BCB-4603-B846-F67733B183B5}" type="presOf" srcId="{CD021B1C-A17D-4092-8061-45DAC77F3119}" destId="{50BBEF7E-13B2-4383-9AB8-BBE6D3FE9DD7}" srcOrd="1" destOrd="0" presId="urn:microsoft.com/office/officeart/2005/8/layout/orgChart1"/>
    <dgm:cxn modelId="{F5D2FC99-B463-4653-B387-8314F166A91E}" srcId="{6A465D38-D1D6-4384-BD2E-AABA1CE1362F}" destId="{1C2DBB3B-CF38-4C55-876F-685CDA3853AE}" srcOrd="1" destOrd="0" parTransId="{13ECD522-FF01-4702-8A06-58AB4FD63708}" sibTransId="{0B74540A-9214-4F75-B4BF-3DD8E6F32A56}"/>
    <dgm:cxn modelId="{4B6F46A1-E703-4E7A-B425-1B6CFC304F32}" srcId="{085DAD62-CB90-4A5A-BAEF-6323CD122FCA}" destId="{BA6B7C42-D782-419F-9E84-B14E892C0870}" srcOrd="2" destOrd="0" parTransId="{1DD8D8A6-D662-45BE-9704-A08546FCC369}" sibTransId="{6A7A39C3-5C17-4B0A-91A3-661CC5D0AB24}"/>
    <dgm:cxn modelId="{12FE5DAD-962A-4972-8EF4-3031D118CDCD}" type="presOf" srcId="{A9EE4E0B-AF45-447D-9307-EFF4062C7CB1}" destId="{64CE2DCB-11AC-49A2-9218-F9510FC35C10}" srcOrd="1" destOrd="0" presId="urn:microsoft.com/office/officeart/2005/8/layout/orgChart1"/>
    <dgm:cxn modelId="{827C24B7-4730-4839-8FBD-EE1D1F75E712}" type="presOf" srcId="{085DAD62-CB90-4A5A-BAEF-6323CD122FCA}" destId="{6EA331CA-01F2-4DB3-B806-862EDB3B0DBC}" srcOrd="0" destOrd="0" presId="urn:microsoft.com/office/officeart/2005/8/layout/orgChart1"/>
    <dgm:cxn modelId="{59AE79BE-C3F6-4447-BB7A-811FEDA68BB9}" srcId="{085DAD62-CB90-4A5A-BAEF-6323CD122FCA}" destId="{AFFCEAB3-3A13-45D1-9A65-088A39866209}" srcOrd="1" destOrd="0" parTransId="{3EEC86EB-4943-40BF-9B4C-407C9E2E18C8}" sibTransId="{F60C7579-3810-4CAA-90DF-7E186B0B390D}"/>
    <dgm:cxn modelId="{41CAEEC3-B8CB-45D9-AD7B-FBC63D351089}" srcId="{6A465D38-D1D6-4384-BD2E-AABA1CE1362F}" destId="{F3323004-16EF-40CA-96E7-08647028C517}" srcOrd="2" destOrd="0" parTransId="{65900AE4-3005-436C-8FEE-82BC6902172F}" sibTransId="{16D2120E-EB88-49F8-A4F9-6F176359FBD9}"/>
    <dgm:cxn modelId="{DC5FBFCB-8A11-4316-AF24-64044D36514F}" type="presOf" srcId="{CD021B1C-A17D-4092-8061-45DAC77F3119}" destId="{A82ED2CE-1894-4A1D-B6E8-F9C37AFA017F}" srcOrd="0" destOrd="0" presId="urn:microsoft.com/office/officeart/2005/8/layout/orgChart1"/>
    <dgm:cxn modelId="{450DA7D0-A56F-4D49-B6DC-466F2C8D23AE}" type="presOf" srcId="{37FA3480-829C-48D0-A358-04E3D22A26F5}" destId="{5A5281FC-6DE8-43FC-AF17-E2883AF6BE80}" srcOrd="1" destOrd="0" presId="urn:microsoft.com/office/officeart/2005/8/layout/orgChart1"/>
    <dgm:cxn modelId="{2982C7D1-20BA-4853-BF74-E5CC5F854B11}" type="presOf" srcId="{3EEC86EB-4943-40BF-9B4C-407C9E2E18C8}" destId="{3C971A96-7E5B-4818-AD05-5D7F12ABFBB7}" srcOrd="0" destOrd="0" presId="urn:microsoft.com/office/officeart/2005/8/layout/orgChart1"/>
    <dgm:cxn modelId="{192D2AF2-6183-4953-A3BC-1EFF6C4AEEA3}" srcId="{085DAD62-CB90-4A5A-BAEF-6323CD122FCA}" destId="{37FA3480-829C-48D0-A358-04E3D22A26F5}" srcOrd="3" destOrd="0" parTransId="{E918B75F-9505-4E51-8969-BA4733242B9C}" sibTransId="{17201CEB-F0CE-4201-9C51-64BAB7F504D3}"/>
    <dgm:cxn modelId="{814307FE-783B-4D63-BC05-B0A2B39A5C92}" type="presOf" srcId="{08D76B5B-BB70-4AA5-B32B-3924FF1C4A37}" destId="{B12C199F-E931-4FCB-A58B-C380E11391F2}" srcOrd="0" destOrd="0" presId="urn:microsoft.com/office/officeart/2005/8/layout/orgChart1"/>
    <dgm:cxn modelId="{C36A6EFE-B69D-4E7E-8F76-2DFEA01742BE}" type="presOf" srcId="{1C2DBB3B-CF38-4C55-876F-685CDA3853AE}" destId="{4C8C4C83-310B-4EBB-953C-2CF62348824F}" srcOrd="0" destOrd="0" presId="urn:microsoft.com/office/officeart/2005/8/layout/orgChart1"/>
    <dgm:cxn modelId="{87EC22BE-4194-43DC-8179-A8989C728A61}" type="presParOf" srcId="{EBB57B78-5C42-4474-B55B-8E1A7069B72D}" destId="{70CDABD7-4BC9-404E-8306-43A97C3E176F}" srcOrd="0" destOrd="0" presId="urn:microsoft.com/office/officeart/2005/8/layout/orgChart1"/>
    <dgm:cxn modelId="{800893AC-9050-4813-A3F3-D2FFF71A9297}" type="presParOf" srcId="{70CDABD7-4BC9-404E-8306-43A97C3E176F}" destId="{FC814A9F-29EB-4B5A-A9A9-55EFDA68BF88}" srcOrd="0" destOrd="0" presId="urn:microsoft.com/office/officeart/2005/8/layout/orgChart1"/>
    <dgm:cxn modelId="{18DD787A-468D-4E9B-9055-2C69F1C08EFD}" type="presParOf" srcId="{FC814A9F-29EB-4B5A-A9A9-55EFDA68BF88}" destId="{6EA331CA-01F2-4DB3-B806-862EDB3B0DBC}" srcOrd="0" destOrd="0" presId="urn:microsoft.com/office/officeart/2005/8/layout/orgChart1"/>
    <dgm:cxn modelId="{20412728-DA93-4306-A982-F5BC9D4B38A1}" type="presParOf" srcId="{FC814A9F-29EB-4B5A-A9A9-55EFDA68BF88}" destId="{AC8D603E-4D40-4414-9798-BDD93C70AAD3}" srcOrd="1" destOrd="0" presId="urn:microsoft.com/office/officeart/2005/8/layout/orgChart1"/>
    <dgm:cxn modelId="{E32B7BBC-8038-47EC-B0BC-22254ED6E85F}" type="presParOf" srcId="{70CDABD7-4BC9-404E-8306-43A97C3E176F}" destId="{320A8A90-0D19-48E3-83AB-A482B97CA121}" srcOrd="1" destOrd="0" presId="urn:microsoft.com/office/officeart/2005/8/layout/orgChart1"/>
    <dgm:cxn modelId="{A3D879B5-08CC-4985-82E0-43BB7E4025DF}" type="presParOf" srcId="{320A8A90-0D19-48E3-83AB-A482B97CA121}" destId="{3C971A96-7E5B-4818-AD05-5D7F12ABFBB7}" srcOrd="0" destOrd="0" presId="urn:microsoft.com/office/officeart/2005/8/layout/orgChart1"/>
    <dgm:cxn modelId="{65544E25-5889-44FF-A3F6-391787EEFD7E}" type="presParOf" srcId="{320A8A90-0D19-48E3-83AB-A482B97CA121}" destId="{482FDE63-2B81-40BB-B117-E1A8B0E8AA62}" srcOrd="1" destOrd="0" presId="urn:microsoft.com/office/officeart/2005/8/layout/orgChart1"/>
    <dgm:cxn modelId="{F68667B1-E285-4664-91CC-A6E8FE15193F}" type="presParOf" srcId="{482FDE63-2B81-40BB-B117-E1A8B0E8AA62}" destId="{AFA20A59-C1A8-4A58-80CF-2AC2752D5B2D}" srcOrd="0" destOrd="0" presId="urn:microsoft.com/office/officeart/2005/8/layout/orgChart1"/>
    <dgm:cxn modelId="{96644C78-16EA-4B9C-BB17-F4F1E2F411CB}" type="presParOf" srcId="{AFA20A59-C1A8-4A58-80CF-2AC2752D5B2D}" destId="{F8F90105-A7CE-40FF-969E-0EEC540CEDC4}" srcOrd="0" destOrd="0" presId="urn:microsoft.com/office/officeart/2005/8/layout/orgChart1"/>
    <dgm:cxn modelId="{50608BDD-794D-4789-90E8-75EE65D41B16}" type="presParOf" srcId="{AFA20A59-C1A8-4A58-80CF-2AC2752D5B2D}" destId="{E9445733-9176-4222-AF7C-0C3C70494A03}" srcOrd="1" destOrd="0" presId="urn:microsoft.com/office/officeart/2005/8/layout/orgChart1"/>
    <dgm:cxn modelId="{8B938239-BE31-40B1-B26D-AA8DEF3A7AB4}" type="presParOf" srcId="{482FDE63-2B81-40BB-B117-E1A8B0E8AA62}" destId="{927429D7-9188-4B0D-9822-29920F2D19D2}" srcOrd="1" destOrd="0" presId="urn:microsoft.com/office/officeart/2005/8/layout/orgChart1"/>
    <dgm:cxn modelId="{9DFBC6CE-2261-42A8-BEB9-7F6B70E4FE99}" type="presParOf" srcId="{482FDE63-2B81-40BB-B117-E1A8B0E8AA62}" destId="{EA783577-D1F8-4EFB-857D-DCB32659AE90}" srcOrd="2" destOrd="0" presId="urn:microsoft.com/office/officeart/2005/8/layout/orgChart1"/>
    <dgm:cxn modelId="{393C3145-2232-4F7D-9114-73242D6FF448}" type="presParOf" srcId="{320A8A90-0D19-48E3-83AB-A482B97CA121}" destId="{E3786D57-758B-4EEF-BBD4-721DC5C26C7A}" srcOrd="2" destOrd="0" presId="urn:microsoft.com/office/officeart/2005/8/layout/orgChart1"/>
    <dgm:cxn modelId="{2CAAB736-063E-49E3-B1D5-D345A7BAFC8E}" type="presParOf" srcId="{320A8A90-0D19-48E3-83AB-A482B97CA121}" destId="{71066D09-C9F2-47F1-834C-91DA682CB0B5}" srcOrd="3" destOrd="0" presId="urn:microsoft.com/office/officeart/2005/8/layout/orgChart1"/>
    <dgm:cxn modelId="{D549DA2A-F032-47CA-94E8-23A65BAFCCB4}" type="presParOf" srcId="{71066D09-C9F2-47F1-834C-91DA682CB0B5}" destId="{8C632C99-A057-49C7-BB5C-D743A0ADA46D}" srcOrd="0" destOrd="0" presId="urn:microsoft.com/office/officeart/2005/8/layout/orgChart1"/>
    <dgm:cxn modelId="{44F572F9-BF4D-4D03-BA2D-4A65A6CFA9D7}" type="presParOf" srcId="{8C632C99-A057-49C7-BB5C-D743A0ADA46D}" destId="{E22EFB3E-D025-4445-B9AC-909077F935D2}" srcOrd="0" destOrd="0" presId="urn:microsoft.com/office/officeart/2005/8/layout/orgChart1"/>
    <dgm:cxn modelId="{1F927BA0-90B4-4FCC-9573-76C3412BCBC3}" type="presParOf" srcId="{8C632C99-A057-49C7-BB5C-D743A0ADA46D}" destId="{3E7878F7-9565-4C1F-9FFD-28D9F2F93ABE}" srcOrd="1" destOrd="0" presId="urn:microsoft.com/office/officeart/2005/8/layout/orgChart1"/>
    <dgm:cxn modelId="{3A47DBB4-F5BA-423D-BBC8-A896F18861B9}" type="presParOf" srcId="{71066D09-C9F2-47F1-834C-91DA682CB0B5}" destId="{46A0D4D2-3BFB-4F7B-ABF4-8F3443CCD135}" srcOrd="1" destOrd="0" presId="urn:microsoft.com/office/officeart/2005/8/layout/orgChart1"/>
    <dgm:cxn modelId="{F3FCFCB3-F923-4D1E-A69C-9E874F0A0096}" type="presParOf" srcId="{71066D09-C9F2-47F1-834C-91DA682CB0B5}" destId="{3DC760B1-CA99-45BA-8278-B61B75594FAC}" srcOrd="2" destOrd="0" presId="urn:microsoft.com/office/officeart/2005/8/layout/orgChart1"/>
    <dgm:cxn modelId="{486F894A-21CC-4FFD-9BA1-7A17A0C806D9}" type="presParOf" srcId="{320A8A90-0D19-48E3-83AB-A482B97CA121}" destId="{B27058DC-CFC7-40F1-A3AE-DDAC2E8B75DC}" srcOrd="4" destOrd="0" presId="urn:microsoft.com/office/officeart/2005/8/layout/orgChart1"/>
    <dgm:cxn modelId="{742EAAC3-8A67-4789-9583-32EA63190801}" type="presParOf" srcId="{320A8A90-0D19-48E3-83AB-A482B97CA121}" destId="{46446D5A-FC20-4DF8-8952-C5E2BD1C9E58}" srcOrd="5" destOrd="0" presId="urn:microsoft.com/office/officeart/2005/8/layout/orgChart1"/>
    <dgm:cxn modelId="{6DD7C95C-3CC0-41B3-A350-9D795B468154}" type="presParOf" srcId="{46446D5A-FC20-4DF8-8952-C5E2BD1C9E58}" destId="{EE6D8749-ED3A-4CEF-AA67-B615AEE47963}" srcOrd="0" destOrd="0" presId="urn:microsoft.com/office/officeart/2005/8/layout/orgChart1"/>
    <dgm:cxn modelId="{F8D7B6E8-2EC5-4AF9-9B87-31358923505E}" type="presParOf" srcId="{EE6D8749-ED3A-4CEF-AA67-B615AEE47963}" destId="{D7327288-A3FE-4AF5-8120-121E8334C0E2}" srcOrd="0" destOrd="0" presId="urn:microsoft.com/office/officeart/2005/8/layout/orgChart1"/>
    <dgm:cxn modelId="{A9505FCE-3501-44F2-89E7-76904575EC92}" type="presParOf" srcId="{EE6D8749-ED3A-4CEF-AA67-B615AEE47963}" destId="{5A5281FC-6DE8-43FC-AF17-E2883AF6BE80}" srcOrd="1" destOrd="0" presId="urn:microsoft.com/office/officeart/2005/8/layout/orgChart1"/>
    <dgm:cxn modelId="{4B1BDA13-70B8-4142-8247-865F58F8A801}" type="presParOf" srcId="{46446D5A-FC20-4DF8-8952-C5E2BD1C9E58}" destId="{F7EBF9FC-5D71-4AAD-9D78-D68B8C1F952C}" srcOrd="1" destOrd="0" presId="urn:microsoft.com/office/officeart/2005/8/layout/orgChart1"/>
    <dgm:cxn modelId="{B69D25D7-4000-402F-80D2-6721F4347BDB}" type="presParOf" srcId="{46446D5A-FC20-4DF8-8952-C5E2BD1C9E58}" destId="{3ADD03B5-0684-409A-A1B8-B61344E9DD83}" srcOrd="2" destOrd="0" presId="urn:microsoft.com/office/officeart/2005/8/layout/orgChart1"/>
    <dgm:cxn modelId="{EAD84109-8738-4182-ADEC-22A680396C47}" type="presParOf" srcId="{320A8A90-0D19-48E3-83AB-A482B97CA121}" destId="{22553A5D-1CA7-4D23-AFA3-DE9A739F48A7}" srcOrd="6" destOrd="0" presId="urn:microsoft.com/office/officeart/2005/8/layout/orgChart1"/>
    <dgm:cxn modelId="{09D3651A-7713-41C5-9C54-70F6A542C649}" type="presParOf" srcId="{320A8A90-0D19-48E3-83AB-A482B97CA121}" destId="{2043FE64-A2FF-4622-8EB5-8CA2AD048F85}" srcOrd="7" destOrd="0" presId="urn:microsoft.com/office/officeart/2005/8/layout/orgChart1"/>
    <dgm:cxn modelId="{0AF81350-D8BC-47A2-BA55-97C1399EE981}" type="presParOf" srcId="{2043FE64-A2FF-4622-8EB5-8CA2AD048F85}" destId="{A1B21481-CF3F-41A5-A6E5-97BC61F47B0F}" srcOrd="0" destOrd="0" presId="urn:microsoft.com/office/officeart/2005/8/layout/orgChart1"/>
    <dgm:cxn modelId="{B59BC7E2-74A6-4486-AE1B-7AC1222A4411}" type="presParOf" srcId="{A1B21481-CF3F-41A5-A6E5-97BC61F47B0F}" destId="{3BC6C9D0-4D0C-4413-8C89-BD3DC6121AB3}" srcOrd="0" destOrd="0" presId="urn:microsoft.com/office/officeart/2005/8/layout/orgChart1"/>
    <dgm:cxn modelId="{81F11A89-9624-4A59-BA7D-28684CAB549F}" type="presParOf" srcId="{A1B21481-CF3F-41A5-A6E5-97BC61F47B0F}" destId="{64CE2DCB-11AC-49A2-9218-F9510FC35C10}" srcOrd="1" destOrd="0" presId="urn:microsoft.com/office/officeart/2005/8/layout/orgChart1"/>
    <dgm:cxn modelId="{193E9A55-355D-4A49-B5AF-737BD912EDD9}" type="presParOf" srcId="{2043FE64-A2FF-4622-8EB5-8CA2AD048F85}" destId="{0B995F58-C7AC-4ACA-AC08-724EB6CA3E49}" srcOrd="1" destOrd="0" presId="urn:microsoft.com/office/officeart/2005/8/layout/orgChart1"/>
    <dgm:cxn modelId="{6AC8CCA1-9369-48B2-A9E5-C01D0920A311}" type="presParOf" srcId="{2043FE64-A2FF-4622-8EB5-8CA2AD048F85}" destId="{77BCDB23-C33B-428D-89BA-C50575285D8B}" srcOrd="2" destOrd="0" presId="urn:microsoft.com/office/officeart/2005/8/layout/orgChart1"/>
    <dgm:cxn modelId="{8B6AE661-0D65-4E8B-A7A5-7A3CD14DCEF5}" type="presParOf" srcId="{70CDABD7-4BC9-404E-8306-43A97C3E176F}" destId="{8CE6322A-5287-41B3-A4FF-FF67F0A5ABD7}" srcOrd="2" destOrd="0" presId="urn:microsoft.com/office/officeart/2005/8/layout/orgChart1"/>
    <dgm:cxn modelId="{1BCF61B9-46FA-4F2A-B9ED-50C7ED4CA62F}" type="presParOf" srcId="{8CE6322A-5287-41B3-A4FF-FF67F0A5ABD7}" destId="{B12C199F-E931-4FCB-A58B-C380E11391F2}" srcOrd="0" destOrd="0" presId="urn:microsoft.com/office/officeart/2005/8/layout/orgChart1"/>
    <dgm:cxn modelId="{E1A9019B-8532-4174-89F8-C89133D12DF6}" type="presParOf" srcId="{8CE6322A-5287-41B3-A4FF-FF67F0A5ABD7}" destId="{ECF1575D-C17A-43E9-9D93-8D5B9278C87A}" srcOrd="1" destOrd="0" presId="urn:microsoft.com/office/officeart/2005/8/layout/orgChart1"/>
    <dgm:cxn modelId="{376B7A08-C311-47A9-AA60-7705437A5A3D}" type="presParOf" srcId="{ECF1575D-C17A-43E9-9D93-8D5B9278C87A}" destId="{7EB2DC4B-CD1D-4A49-B0D3-8862DEAD0170}" srcOrd="0" destOrd="0" presId="urn:microsoft.com/office/officeart/2005/8/layout/orgChart1"/>
    <dgm:cxn modelId="{A8E456B0-9AAA-4EA6-B1BF-DF83BD3FB06B}" type="presParOf" srcId="{7EB2DC4B-CD1D-4A49-B0D3-8862DEAD0170}" destId="{A82ED2CE-1894-4A1D-B6E8-F9C37AFA017F}" srcOrd="0" destOrd="0" presId="urn:microsoft.com/office/officeart/2005/8/layout/orgChart1"/>
    <dgm:cxn modelId="{2BAF03B8-BD65-4A28-B16D-4B5AF74DD64A}" type="presParOf" srcId="{7EB2DC4B-CD1D-4A49-B0D3-8862DEAD0170}" destId="{50BBEF7E-13B2-4383-9AB8-BBE6D3FE9DD7}" srcOrd="1" destOrd="0" presId="urn:microsoft.com/office/officeart/2005/8/layout/orgChart1"/>
    <dgm:cxn modelId="{ED45135F-DE75-402A-BA4E-48630E6DB165}" type="presParOf" srcId="{ECF1575D-C17A-43E9-9D93-8D5B9278C87A}" destId="{A3DA6B10-D1F7-4FA7-913C-7040D49CA37F}" srcOrd="1" destOrd="0" presId="urn:microsoft.com/office/officeart/2005/8/layout/orgChart1"/>
    <dgm:cxn modelId="{3F184456-39C8-470D-92A1-265F8F63F990}" type="presParOf" srcId="{ECF1575D-C17A-43E9-9D93-8D5B9278C87A}" destId="{6E0CEDC2-10A9-4B85-A721-30219398593C}" srcOrd="2" destOrd="0" presId="urn:microsoft.com/office/officeart/2005/8/layout/orgChart1"/>
    <dgm:cxn modelId="{47A19D70-A937-440E-840E-3002023C11AA}" type="presParOf" srcId="{EBB57B78-5C42-4474-B55B-8E1A7069B72D}" destId="{648DD5AB-0C00-4B9A-BC42-4586000149B8}" srcOrd="1" destOrd="0" presId="urn:microsoft.com/office/officeart/2005/8/layout/orgChart1"/>
    <dgm:cxn modelId="{7BFDD78B-943D-4632-86D9-BF657A001707}" type="presParOf" srcId="{648DD5AB-0C00-4B9A-BC42-4586000149B8}" destId="{36E3A013-8B7B-4D7B-97E4-DCFF8A2A6C1D}" srcOrd="0" destOrd="0" presId="urn:microsoft.com/office/officeart/2005/8/layout/orgChart1"/>
    <dgm:cxn modelId="{5632F6E0-FEF5-49A9-A83D-9DC8AAA7EEC2}" type="presParOf" srcId="{36E3A013-8B7B-4D7B-97E4-DCFF8A2A6C1D}" destId="{4C8C4C83-310B-4EBB-953C-2CF62348824F}" srcOrd="0" destOrd="0" presId="urn:microsoft.com/office/officeart/2005/8/layout/orgChart1"/>
    <dgm:cxn modelId="{8BD91736-AABC-4A29-B076-26C6A398CC1E}" type="presParOf" srcId="{36E3A013-8B7B-4D7B-97E4-DCFF8A2A6C1D}" destId="{C305170B-0F8F-43FF-B304-F8381A8490DD}" srcOrd="1" destOrd="0" presId="urn:microsoft.com/office/officeart/2005/8/layout/orgChart1"/>
    <dgm:cxn modelId="{DF00CD35-C84B-45AB-9F2E-A697B323EAD5}" type="presParOf" srcId="{648DD5AB-0C00-4B9A-BC42-4586000149B8}" destId="{8D03A765-F103-42D4-A018-8F857BB32EFC}" srcOrd="1" destOrd="0" presId="urn:microsoft.com/office/officeart/2005/8/layout/orgChart1"/>
    <dgm:cxn modelId="{F5309F7F-80F6-4310-8684-5A888CF97589}" type="presParOf" srcId="{648DD5AB-0C00-4B9A-BC42-4586000149B8}" destId="{DB70759B-FB62-40E2-8600-3088101CD168}" srcOrd="2" destOrd="0" presId="urn:microsoft.com/office/officeart/2005/8/layout/orgChart1"/>
    <dgm:cxn modelId="{ECBB78B5-E477-4778-B889-BC02447FF953}" type="presParOf" srcId="{EBB57B78-5C42-4474-B55B-8E1A7069B72D}" destId="{1440A46A-80D5-4CFE-BD57-9A93A4A1FD59}" srcOrd="2" destOrd="0" presId="urn:microsoft.com/office/officeart/2005/8/layout/orgChart1"/>
    <dgm:cxn modelId="{9179A2FF-E701-41B4-BE37-E065730B9F79}" type="presParOf" srcId="{1440A46A-80D5-4CFE-BD57-9A93A4A1FD59}" destId="{4241BF52-E047-4B09-A54E-CC84421ED5C9}" srcOrd="0" destOrd="0" presId="urn:microsoft.com/office/officeart/2005/8/layout/orgChart1"/>
    <dgm:cxn modelId="{752E1F0F-7AD6-4B23-AC86-92ECF5A960F8}" type="presParOf" srcId="{4241BF52-E047-4B09-A54E-CC84421ED5C9}" destId="{B8FA3786-C0D3-4BE4-8B3F-048D70A7EB37}" srcOrd="0" destOrd="0" presId="urn:microsoft.com/office/officeart/2005/8/layout/orgChart1"/>
    <dgm:cxn modelId="{5053E2EE-637B-4231-83AC-3EAC35189DCC}" type="presParOf" srcId="{4241BF52-E047-4B09-A54E-CC84421ED5C9}" destId="{86A28751-8277-4A7A-8AAA-1AE37E87C440}" srcOrd="1" destOrd="0" presId="urn:microsoft.com/office/officeart/2005/8/layout/orgChart1"/>
    <dgm:cxn modelId="{2296CF2E-FF01-46B3-A993-F2DC965FE673}" type="presParOf" srcId="{1440A46A-80D5-4CFE-BD57-9A93A4A1FD59}" destId="{DAFF7286-1AC6-4965-A4C8-117462F3EB56}" srcOrd="1" destOrd="0" presId="urn:microsoft.com/office/officeart/2005/8/layout/orgChart1"/>
    <dgm:cxn modelId="{C632CC88-5302-4092-A6E3-07F21F9FDFF1}" type="presParOf" srcId="{1440A46A-80D5-4CFE-BD57-9A93A4A1FD59}" destId="{7D29CD83-F87F-4206-AB22-29F7E0146F1A}" srcOrd="2" destOrd="0" presId="urn:microsoft.com/office/officeart/2005/8/layout/orgChart1"/>
  </dgm:cxnLst>
  <dgm:bg/>
  <dgm:whole>
    <a:ln>
      <a:noFill/>
    </a:ln>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AD5180-398F-4F22-AC17-68EF4A0A7AD7}">
      <dsp:nvSpPr>
        <dsp:cNvPr id="0" name=""/>
        <dsp:cNvSpPr/>
      </dsp:nvSpPr>
      <dsp:spPr>
        <a:xfrm>
          <a:off x="0" y="0"/>
          <a:ext cx="6567520" cy="869148"/>
        </a:xfrm>
        <a:prstGeom prst="rect">
          <a:avLst/>
        </a:prstGeom>
        <a:gradFill rotWithShape="0">
          <a:gsLst>
            <a:gs pos="0">
              <a:schemeClr val="bg1"/>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National Science Foundation</a:t>
          </a:r>
        </a:p>
      </dsp:txBody>
      <dsp:txXfrm>
        <a:off x="0" y="0"/>
        <a:ext cx="6567520" cy="869148"/>
      </dsp:txXfrm>
    </dsp:sp>
    <dsp:sp modelId="{6404CBB8-B597-46C5-B2DA-988D09DE5CF3}">
      <dsp:nvSpPr>
        <dsp:cNvPr id="0" name=""/>
        <dsp:cNvSpPr/>
      </dsp:nvSpPr>
      <dsp:spPr>
        <a:xfrm>
          <a:off x="685810" y="1008605"/>
          <a:ext cx="7050331" cy="1153944"/>
        </a:xfrm>
        <a:prstGeom prst="rect">
          <a:avLst/>
        </a:prstGeom>
        <a:gradFill rotWithShape="0">
          <a:gsLst>
            <a:gs pos="0">
              <a:schemeClr val="bg1"/>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Directorate for Social, Behavioral and Economic Sciences</a:t>
          </a:r>
        </a:p>
      </dsp:txBody>
      <dsp:txXfrm>
        <a:off x="685810" y="1008605"/>
        <a:ext cx="7050331" cy="1153944"/>
      </dsp:txXfrm>
    </dsp:sp>
    <dsp:sp modelId="{EC6B1B90-D4B8-4184-B0D0-98F5EA8D51A7}">
      <dsp:nvSpPr>
        <dsp:cNvPr id="0" name=""/>
        <dsp:cNvSpPr/>
      </dsp:nvSpPr>
      <dsp:spPr>
        <a:xfrm>
          <a:off x="1123490" y="2332570"/>
          <a:ext cx="6877509" cy="1045930"/>
        </a:xfrm>
        <a:prstGeom prst="rect">
          <a:avLst/>
        </a:prstGeom>
        <a:gradFill rotWithShape="0">
          <a:gsLst>
            <a:gs pos="0">
              <a:schemeClr val="bg1"/>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National Center for Science and Engineering Statistics (NCSES)</a:t>
          </a:r>
        </a:p>
      </dsp:txBody>
      <dsp:txXfrm>
        <a:off x="1123490" y="2332570"/>
        <a:ext cx="6877509" cy="10459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2C199F-E931-4FCB-A58B-C380E11391F2}">
      <dsp:nvSpPr>
        <dsp:cNvPr id="0" name=""/>
        <dsp:cNvSpPr/>
      </dsp:nvSpPr>
      <dsp:spPr>
        <a:xfrm>
          <a:off x="2504302" y="1689330"/>
          <a:ext cx="588950" cy="750356"/>
        </a:xfrm>
        <a:custGeom>
          <a:avLst/>
          <a:gdLst/>
          <a:ahLst/>
          <a:cxnLst/>
          <a:rect l="0" t="0" r="0" b="0"/>
          <a:pathLst>
            <a:path>
              <a:moveTo>
                <a:pt x="588950" y="0"/>
              </a:moveTo>
              <a:lnTo>
                <a:pt x="588950" y="750356"/>
              </a:lnTo>
              <a:lnTo>
                <a:pt x="0" y="750356"/>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22553A5D-1CA7-4D23-AFA3-DE9A739F48A7}">
      <dsp:nvSpPr>
        <dsp:cNvPr id="0" name=""/>
        <dsp:cNvSpPr/>
      </dsp:nvSpPr>
      <dsp:spPr>
        <a:xfrm>
          <a:off x="3093253" y="1689330"/>
          <a:ext cx="1952300" cy="1551868"/>
        </a:xfrm>
        <a:custGeom>
          <a:avLst/>
          <a:gdLst/>
          <a:ahLst/>
          <a:cxnLst/>
          <a:rect l="0" t="0" r="0" b="0"/>
          <a:pathLst>
            <a:path>
              <a:moveTo>
                <a:pt x="0" y="0"/>
              </a:moveTo>
              <a:lnTo>
                <a:pt x="0" y="1411660"/>
              </a:lnTo>
              <a:lnTo>
                <a:pt x="1952300" y="1411660"/>
              </a:lnTo>
              <a:lnTo>
                <a:pt x="1952300" y="1551868"/>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B27058DC-CFC7-40F1-A3AE-DDAC2E8B75DC}">
      <dsp:nvSpPr>
        <dsp:cNvPr id="0" name=""/>
        <dsp:cNvSpPr/>
      </dsp:nvSpPr>
      <dsp:spPr>
        <a:xfrm>
          <a:off x="3093253" y="1689330"/>
          <a:ext cx="523160" cy="1551868"/>
        </a:xfrm>
        <a:custGeom>
          <a:avLst/>
          <a:gdLst/>
          <a:ahLst/>
          <a:cxnLst/>
          <a:rect l="0" t="0" r="0" b="0"/>
          <a:pathLst>
            <a:path>
              <a:moveTo>
                <a:pt x="0" y="0"/>
              </a:moveTo>
              <a:lnTo>
                <a:pt x="0" y="1411660"/>
              </a:lnTo>
              <a:lnTo>
                <a:pt x="523160" y="1411660"/>
              </a:lnTo>
              <a:lnTo>
                <a:pt x="523160" y="1551868"/>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E3786D57-758B-4EEF-BBD4-721DC5C26C7A}">
      <dsp:nvSpPr>
        <dsp:cNvPr id="0" name=""/>
        <dsp:cNvSpPr/>
      </dsp:nvSpPr>
      <dsp:spPr>
        <a:xfrm>
          <a:off x="2187259" y="1689330"/>
          <a:ext cx="905993" cy="1551868"/>
        </a:xfrm>
        <a:custGeom>
          <a:avLst/>
          <a:gdLst/>
          <a:ahLst/>
          <a:cxnLst/>
          <a:rect l="0" t="0" r="0" b="0"/>
          <a:pathLst>
            <a:path>
              <a:moveTo>
                <a:pt x="905993" y="0"/>
              </a:moveTo>
              <a:lnTo>
                <a:pt x="905993" y="1411660"/>
              </a:lnTo>
              <a:lnTo>
                <a:pt x="0" y="1411660"/>
              </a:lnTo>
              <a:lnTo>
                <a:pt x="0" y="1551868"/>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3C971A96-7E5B-4818-AD05-5D7F12ABFBB7}">
      <dsp:nvSpPr>
        <dsp:cNvPr id="0" name=""/>
        <dsp:cNvSpPr/>
      </dsp:nvSpPr>
      <dsp:spPr>
        <a:xfrm>
          <a:off x="667654" y="1689330"/>
          <a:ext cx="2425599" cy="1551868"/>
        </a:xfrm>
        <a:custGeom>
          <a:avLst/>
          <a:gdLst/>
          <a:ahLst/>
          <a:cxnLst/>
          <a:rect l="0" t="0" r="0" b="0"/>
          <a:pathLst>
            <a:path>
              <a:moveTo>
                <a:pt x="2425599" y="0"/>
              </a:moveTo>
              <a:lnTo>
                <a:pt x="2425599" y="1411660"/>
              </a:lnTo>
              <a:lnTo>
                <a:pt x="0" y="1411660"/>
              </a:lnTo>
              <a:lnTo>
                <a:pt x="0" y="1551868"/>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6EA331CA-01F2-4DB3-B806-862EDB3B0DBC}">
      <dsp:nvSpPr>
        <dsp:cNvPr id="0" name=""/>
        <dsp:cNvSpPr/>
      </dsp:nvSpPr>
      <dsp:spPr>
        <a:xfrm>
          <a:off x="695066" y="834132"/>
          <a:ext cx="4796373" cy="855198"/>
        </a:xfrm>
        <a:prstGeom prst="rect">
          <a:avLst/>
        </a:prstGeom>
        <a:solidFill>
          <a:srgbClr val="99CCFF"/>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latin typeface="Arial" panose="020B0604020202020204" pitchFamily="34" charset="0"/>
              <a:cs typeface="Arial" panose="020B0604020202020204" pitchFamily="34" charset="0"/>
            </a:rPr>
            <a:t>National Center for Science and Engineering Statistics</a:t>
          </a:r>
        </a:p>
      </dsp:txBody>
      <dsp:txXfrm>
        <a:off x="695066" y="834132"/>
        <a:ext cx="4796373" cy="855198"/>
      </dsp:txXfrm>
    </dsp:sp>
    <dsp:sp modelId="{F8F90105-A7CE-40FF-969E-0EEC540CEDC4}">
      <dsp:nvSpPr>
        <dsp:cNvPr id="0" name=""/>
        <dsp:cNvSpPr/>
      </dsp:nvSpPr>
      <dsp:spPr>
        <a:xfrm>
          <a:off x="0" y="3241198"/>
          <a:ext cx="1335308" cy="667654"/>
        </a:xfrm>
        <a:prstGeom prst="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solidFill>
              <a:latin typeface="Arial" panose="020B0604020202020204" pitchFamily="34" charset="0"/>
              <a:cs typeface="Arial" panose="020B0604020202020204" pitchFamily="34" charset="0"/>
            </a:rPr>
            <a:t>Human Resources Statistics Program</a:t>
          </a:r>
          <a:endParaRPr lang="en-US" sz="1200" kern="1200" dirty="0"/>
        </a:p>
      </dsp:txBody>
      <dsp:txXfrm>
        <a:off x="0" y="3241198"/>
        <a:ext cx="1335308" cy="667654"/>
      </dsp:txXfrm>
    </dsp:sp>
    <dsp:sp modelId="{E22EFB3E-D025-4445-B9AC-909077F935D2}">
      <dsp:nvSpPr>
        <dsp:cNvPr id="0" name=""/>
        <dsp:cNvSpPr/>
      </dsp:nvSpPr>
      <dsp:spPr>
        <a:xfrm>
          <a:off x="1519605" y="3241198"/>
          <a:ext cx="1335308" cy="667654"/>
        </a:xfrm>
        <a:prstGeom prst="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solidFill>
              <a:latin typeface="Arial" panose="020B0604020202020204" pitchFamily="34" charset="0"/>
              <a:cs typeface="Arial" panose="020B0604020202020204" pitchFamily="34" charset="0"/>
            </a:rPr>
            <a:t>Research and Development Statistics Program</a:t>
          </a:r>
          <a:endParaRPr lang="en-US" sz="1200" kern="1200" dirty="0"/>
        </a:p>
      </dsp:txBody>
      <dsp:txXfrm>
        <a:off x="1519605" y="3241198"/>
        <a:ext cx="1335308" cy="667654"/>
      </dsp:txXfrm>
    </dsp:sp>
    <dsp:sp modelId="{D7327288-A3FE-4AF5-8120-121E8334C0E2}">
      <dsp:nvSpPr>
        <dsp:cNvPr id="0" name=""/>
        <dsp:cNvSpPr/>
      </dsp:nvSpPr>
      <dsp:spPr>
        <a:xfrm>
          <a:off x="2948759" y="3241198"/>
          <a:ext cx="1335308" cy="667654"/>
        </a:xfrm>
        <a:prstGeom prst="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solidFill>
              <a:latin typeface="Arial" panose="020B0604020202020204" pitchFamily="34" charset="0"/>
              <a:cs typeface="Arial" panose="020B0604020202020204" pitchFamily="34" charset="0"/>
            </a:rPr>
            <a:t>Science and Engineering Indicators Program</a:t>
          </a:r>
        </a:p>
      </dsp:txBody>
      <dsp:txXfrm>
        <a:off x="2948759" y="3241198"/>
        <a:ext cx="1335308" cy="667654"/>
      </dsp:txXfrm>
    </dsp:sp>
    <dsp:sp modelId="{3BC6C9D0-4D0C-4413-8C89-BD3DC6121AB3}">
      <dsp:nvSpPr>
        <dsp:cNvPr id="0" name=""/>
        <dsp:cNvSpPr/>
      </dsp:nvSpPr>
      <dsp:spPr>
        <a:xfrm>
          <a:off x="4377899" y="3241198"/>
          <a:ext cx="1335308" cy="667654"/>
        </a:xfrm>
        <a:prstGeom prst="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solidFill>
              <a:latin typeface="Arial" panose="020B0604020202020204" pitchFamily="34" charset="0"/>
              <a:cs typeface="Arial" panose="020B0604020202020204" pitchFamily="34" charset="0"/>
            </a:rPr>
            <a:t>Information and Technology Services Program</a:t>
          </a:r>
          <a:endParaRPr lang="en-US" sz="1200" kern="1200" dirty="0"/>
        </a:p>
      </dsp:txBody>
      <dsp:txXfrm>
        <a:off x="4377899" y="3241198"/>
        <a:ext cx="1335308" cy="667654"/>
      </dsp:txXfrm>
    </dsp:sp>
    <dsp:sp modelId="{A82ED2CE-1894-4A1D-B6E8-F9C37AFA017F}">
      <dsp:nvSpPr>
        <dsp:cNvPr id="0" name=""/>
        <dsp:cNvSpPr/>
      </dsp:nvSpPr>
      <dsp:spPr>
        <a:xfrm>
          <a:off x="1168994" y="2105859"/>
          <a:ext cx="1335308" cy="667654"/>
        </a:xfrm>
        <a:prstGeom prst="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latin typeface="Arial" panose="020B0604020202020204" pitchFamily="34" charset="0"/>
              <a:cs typeface="Arial" panose="020B0604020202020204" pitchFamily="34" charset="0"/>
            </a:rPr>
            <a:t>Office of the Division Director</a:t>
          </a:r>
        </a:p>
      </dsp:txBody>
      <dsp:txXfrm>
        <a:off x="1168994" y="2105859"/>
        <a:ext cx="1335308" cy="667654"/>
      </dsp:txXfrm>
    </dsp:sp>
    <dsp:sp modelId="{4C8C4C83-310B-4EBB-953C-2CF62348824F}">
      <dsp:nvSpPr>
        <dsp:cNvPr id="0" name=""/>
        <dsp:cNvSpPr/>
      </dsp:nvSpPr>
      <dsp:spPr>
        <a:xfrm>
          <a:off x="5807052" y="3241198"/>
          <a:ext cx="1335308" cy="667654"/>
        </a:xfrm>
        <a:prstGeom prst="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solidFill>
              <a:latin typeface="Arial" panose="020B0604020202020204" pitchFamily="34" charset="0"/>
              <a:cs typeface="Arial" panose="020B0604020202020204" pitchFamily="34" charset="0"/>
            </a:rPr>
            <a:t>Statistics and Methods Program</a:t>
          </a:r>
        </a:p>
        <a:p>
          <a:pPr marL="0" lvl="0" indent="0" algn="ctr" defTabSz="533400">
            <a:lnSpc>
              <a:spcPct val="90000"/>
            </a:lnSpc>
            <a:spcBef>
              <a:spcPct val="0"/>
            </a:spcBef>
            <a:spcAft>
              <a:spcPct val="35000"/>
            </a:spcAft>
            <a:buNone/>
          </a:pPr>
          <a:endParaRPr lang="en-US" sz="1200" kern="1200" dirty="0">
            <a:solidFill>
              <a:schemeClr val="tx1"/>
            </a:solidFill>
            <a:latin typeface="Arial" panose="020B0604020202020204" pitchFamily="34" charset="0"/>
            <a:cs typeface="Arial" panose="020B0604020202020204" pitchFamily="34" charset="0"/>
          </a:endParaRPr>
        </a:p>
      </dsp:txBody>
      <dsp:txXfrm>
        <a:off x="5807052" y="3241198"/>
        <a:ext cx="1335308" cy="667654"/>
      </dsp:txXfrm>
    </dsp:sp>
    <dsp:sp modelId="{B8FA3786-C0D3-4BE4-8B3F-048D70A7EB37}">
      <dsp:nvSpPr>
        <dsp:cNvPr id="0" name=""/>
        <dsp:cNvSpPr/>
      </dsp:nvSpPr>
      <dsp:spPr>
        <a:xfrm>
          <a:off x="3561452" y="2103028"/>
          <a:ext cx="1335308" cy="667654"/>
        </a:xfrm>
        <a:prstGeom prst="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solidFill>
              <a:latin typeface="Arial" panose="020B0604020202020204" pitchFamily="34" charset="0"/>
              <a:cs typeface="Arial" panose="020B0604020202020204" pitchFamily="34" charset="0"/>
            </a:rPr>
            <a:t>Administrative and Program Operations Group</a:t>
          </a:r>
        </a:p>
      </dsp:txBody>
      <dsp:txXfrm>
        <a:off x="3561452" y="2103028"/>
        <a:ext cx="1335308" cy="667654"/>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3039463" cy="465138"/>
          </a:xfrm>
          <a:prstGeom prst="rect">
            <a:avLst/>
          </a:prstGeom>
          <a:noFill/>
          <a:ln w="9525">
            <a:noFill/>
            <a:miter lim="800000"/>
            <a:headEnd/>
            <a:tailEnd/>
          </a:ln>
          <a:effectLst/>
        </p:spPr>
        <p:txBody>
          <a:bodyPr vert="horz" wrap="square" lIns="92376" tIns="46188" rIns="92376" bIns="46188" numCol="1" anchor="t" anchorCtr="0" compatLnSpc="1">
            <a:prstTxWarp prst="textNoShape">
              <a:avLst/>
            </a:prstTxWarp>
          </a:bodyPr>
          <a:lstStyle>
            <a:lvl1pPr defTabSz="923925">
              <a:defRPr sz="1200"/>
            </a:lvl1pPr>
          </a:lstStyle>
          <a:p>
            <a:pPr>
              <a:defRPr/>
            </a:pPr>
            <a:endParaRPr lang="en-US"/>
          </a:p>
        </p:txBody>
      </p:sp>
      <p:sp>
        <p:nvSpPr>
          <p:cNvPr id="31747" name="Rectangle 3"/>
          <p:cNvSpPr>
            <a:spLocks noGrp="1" noChangeArrowheads="1"/>
          </p:cNvSpPr>
          <p:nvPr>
            <p:ph type="dt" sz="quarter" idx="1"/>
          </p:nvPr>
        </p:nvSpPr>
        <p:spPr bwMode="auto">
          <a:xfrm>
            <a:off x="3970939" y="0"/>
            <a:ext cx="3039462" cy="465138"/>
          </a:xfrm>
          <a:prstGeom prst="rect">
            <a:avLst/>
          </a:prstGeom>
          <a:noFill/>
          <a:ln w="9525">
            <a:noFill/>
            <a:miter lim="800000"/>
            <a:headEnd/>
            <a:tailEnd/>
          </a:ln>
          <a:effectLst/>
        </p:spPr>
        <p:txBody>
          <a:bodyPr vert="horz" wrap="square" lIns="92376" tIns="46188" rIns="92376" bIns="46188" numCol="1" anchor="t" anchorCtr="0" compatLnSpc="1">
            <a:prstTxWarp prst="textNoShape">
              <a:avLst/>
            </a:prstTxWarp>
          </a:bodyPr>
          <a:lstStyle>
            <a:lvl1pPr algn="r" defTabSz="923925">
              <a:defRPr sz="1200"/>
            </a:lvl1pPr>
          </a:lstStyle>
          <a:p>
            <a:pPr>
              <a:defRPr/>
            </a:pPr>
            <a:endParaRPr lang="en-US"/>
          </a:p>
        </p:txBody>
      </p:sp>
      <p:sp>
        <p:nvSpPr>
          <p:cNvPr id="31748" name="Rectangle 4"/>
          <p:cNvSpPr>
            <a:spLocks noGrp="1" noChangeArrowheads="1"/>
          </p:cNvSpPr>
          <p:nvPr>
            <p:ph type="ftr" sz="quarter" idx="2"/>
          </p:nvPr>
        </p:nvSpPr>
        <p:spPr bwMode="auto">
          <a:xfrm>
            <a:off x="0" y="8831265"/>
            <a:ext cx="3039463" cy="465137"/>
          </a:xfrm>
          <a:prstGeom prst="rect">
            <a:avLst/>
          </a:prstGeom>
          <a:noFill/>
          <a:ln w="9525">
            <a:noFill/>
            <a:miter lim="800000"/>
            <a:headEnd/>
            <a:tailEnd/>
          </a:ln>
          <a:effectLst/>
        </p:spPr>
        <p:txBody>
          <a:bodyPr vert="horz" wrap="square" lIns="92376" tIns="46188" rIns="92376" bIns="46188" numCol="1" anchor="b" anchorCtr="0" compatLnSpc="1">
            <a:prstTxWarp prst="textNoShape">
              <a:avLst/>
            </a:prstTxWarp>
          </a:bodyPr>
          <a:lstStyle>
            <a:lvl1pPr defTabSz="923925">
              <a:defRPr sz="1200"/>
            </a:lvl1pPr>
          </a:lstStyle>
          <a:p>
            <a:pPr>
              <a:defRPr/>
            </a:pPr>
            <a:endParaRPr lang="en-US"/>
          </a:p>
        </p:txBody>
      </p:sp>
      <p:sp>
        <p:nvSpPr>
          <p:cNvPr id="31749" name="Rectangle 5"/>
          <p:cNvSpPr>
            <a:spLocks noGrp="1" noChangeArrowheads="1"/>
          </p:cNvSpPr>
          <p:nvPr>
            <p:ph type="sldNum" sz="quarter" idx="3"/>
          </p:nvPr>
        </p:nvSpPr>
        <p:spPr bwMode="auto">
          <a:xfrm>
            <a:off x="3970939" y="8831265"/>
            <a:ext cx="3039462" cy="465137"/>
          </a:xfrm>
          <a:prstGeom prst="rect">
            <a:avLst/>
          </a:prstGeom>
          <a:noFill/>
          <a:ln w="9525">
            <a:noFill/>
            <a:miter lim="800000"/>
            <a:headEnd/>
            <a:tailEnd/>
          </a:ln>
          <a:effectLst/>
        </p:spPr>
        <p:txBody>
          <a:bodyPr vert="horz" wrap="square" lIns="92376" tIns="46188" rIns="92376" bIns="46188" numCol="1" anchor="b" anchorCtr="0" compatLnSpc="1">
            <a:prstTxWarp prst="textNoShape">
              <a:avLst/>
            </a:prstTxWarp>
          </a:bodyPr>
          <a:lstStyle>
            <a:lvl1pPr algn="r" defTabSz="923925">
              <a:defRPr sz="1200"/>
            </a:lvl1pPr>
          </a:lstStyle>
          <a:p>
            <a:pPr>
              <a:defRPr/>
            </a:pPr>
            <a:fld id="{BF875AEB-4CEF-4E82-8057-E432BDFEC034}" type="slidenum">
              <a:rPr lang="en-US"/>
              <a:pPr>
                <a:defRPr/>
              </a:pPr>
              <a:t>‹#›</a:t>
            </a:fld>
            <a:endParaRPr lang="en-US"/>
          </a:p>
        </p:txBody>
      </p:sp>
    </p:spTree>
    <p:extLst>
      <p:ext uri="{BB962C8B-B14F-4D97-AF65-F5344CB8AC3E}">
        <p14:creationId xmlns:p14="http://schemas.microsoft.com/office/powerpoint/2010/main" val="24088968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1"/>
            <a:ext cx="3075165"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9939" name="Rectangle 3"/>
          <p:cNvSpPr>
            <a:spLocks noGrp="1" noChangeArrowheads="1"/>
          </p:cNvSpPr>
          <p:nvPr>
            <p:ph type="dt" idx="1"/>
          </p:nvPr>
        </p:nvSpPr>
        <p:spPr bwMode="auto">
          <a:xfrm>
            <a:off x="3998525" y="1"/>
            <a:ext cx="2998894"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9220" name="Rectangle 4"/>
          <p:cNvSpPr>
            <a:spLocks noGrp="1" noRot="1" noChangeAspect="1" noChangeArrowheads="1" noTextEdit="1"/>
          </p:cNvSpPr>
          <p:nvPr>
            <p:ph type="sldImg" idx="2"/>
          </p:nvPr>
        </p:nvSpPr>
        <p:spPr bwMode="auto">
          <a:xfrm>
            <a:off x="1195388" y="692150"/>
            <a:ext cx="4606925" cy="3455988"/>
          </a:xfrm>
          <a:prstGeom prst="rect">
            <a:avLst/>
          </a:prstGeom>
          <a:noFill/>
          <a:ln w="9525">
            <a:solidFill>
              <a:srgbClr val="000000"/>
            </a:solidFill>
            <a:miter lim="800000"/>
            <a:headEnd/>
            <a:tailEnd/>
          </a:ln>
        </p:spPr>
      </p:sp>
      <p:sp>
        <p:nvSpPr>
          <p:cNvPr id="39941" name="Rectangle 5"/>
          <p:cNvSpPr>
            <a:spLocks noGrp="1" noChangeArrowheads="1"/>
          </p:cNvSpPr>
          <p:nvPr>
            <p:ph type="body" sz="quarter" idx="3"/>
          </p:nvPr>
        </p:nvSpPr>
        <p:spPr bwMode="auto">
          <a:xfrm>
            <a:off x="923362" y="4379915"/>
            <a:ext cx="5150697" cy="42243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9942" name="Rectangle 6"/>
          <p:cNvSpPr>
            <a:spLocks noGrp="1" noChangeArrowheads="1"/>
          </p:cNvSpPr>
          <p:nvPr>
            <p:ph type="ftr" sz="quarter" idx="4"/>
          </p:nvPr>
        </p:nvSpPr>
        <p:spPr bwMode="auto">
          <a:xfrm>
            <a:off x="0" y="8836027"/>
            <a:ext cx="3075165"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9943" name="Rectangle 7"/>
          <p:cNvSpPr>
            <a:spLocks noGrp="1" noChangeArrowheads="1"/>
          </p:cNvSpPr>
          <p:nvPr>
            <p:ph type="sldNum" sz="quarter" idx="5"/>
          </p:nvPr>
        </p:nvSpPr>
        <p:spPr bwMode="auto">
          <a:xfrm>
            <a:off x="3998525" y="8836027"/>
            <a:ext cx="2998894"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8D46CDD3-D1D7-43FC-AF07-2E4DE1C7D647}" type="slidenum">
              <a:rPr lang="en-US"/>
              <a:pPr>
                <a:defRPr/>
              </a:pPr>
              <a:t>‹#›</a:t>
            </a:fld>
            <a:endParaRPr lang="en-US"/>
          </a:p>
        </p:txBody>
      </p:sp>
    </p:spTree>
    <p:extLst>
      <p:ext uri="{BB962C8B-B14F-4D97-AF65-F5344CB8AC3E}">
        <p14:creationId xmlns:p14="http://schemas.microsoft.com/office/powerpoint/2010/main" val="213054371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92E641A-A1CA-2943-A35F-BCF8E6551894}" type="slidenum">
              <a:rPr lang="en-US" smtClean="0"/>
              <a:t>1</a:t>
            </a:fld>
            <a:endParaRPr lang="en-US"/>
          </a:p>
        </p:txBody>
      </p:sp>
    </p:spTree>
    <p:extLst>
      <p:ext uri="{BB962C8B-B14F-4D97-AF65-F5344CB8AC3E}">
        <p14:creationId xmlns:p14="http://schemas.microsoft.com/office/powerpoint/2010/main" val="1952417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AD793D-B2BE-4A88-A233-A6BA21A40C52}" type="slidenum">
              <a:rPr lang="en-US">
                <a:solidFill>
                  <a:prstClr val="black"/>
                </a:solidFill>
              </a:rPr>
              <a:pPr/>
              <a:t>2</a:t>
            </a:fld>
            <a:endParaRPr lang="en-US" dirty="0">
              <a:solidFill>
                <a:prstClr val="black"/>
              </a:solidFill>
            </a:endParaRPr>
          </a:p>
        </p:txBody>
      </p:sp>
      <p:sp>
        <p:nvSpPr>
          <p:cNvPr id="148482" name="Rectangle 1026"/>
          <p:cNvSpPr>
            <a:spLocks noGrp="1" noRot="1" noChangeAspect="1" noChangeArrowheads="1" noTextEdit="1"/>
          </p:cNvSpPr>
          <p:nvPr>
            <p:ph type="sldImg"/>
          </p:nvPr>
        </p:nvSpPr>
        <p:spPr>
          <a:xfrm>
            <a:off x="1608138" y="1162050"/>
            <a:ext cx="4181475" cy="3136900"/>
          </a:xfrm>
          <a:ln/>
        </p:spPr>
      </p:sp>
      <p:sp>
        <p:nvSpPr>
          <p:cNvPr id="148483" name="Rectangle 1027"/>
          <p:cNvSpPr>
            <a:spLocks noGrp="1" noChangeArrowheads="1"/>
          </p:cNvSpPr>
          <p:nvPr>
            <p:ph type="body" idx="1"/>
          </p:nvPr>
        </p:nvSpPr>
        <p:spPr/>
        <p:txBody>
          <a:bodyPr/>
          <a:lstStyle/>
          <a:p>
            <a:pPr defTabSz="939787">
              <a:spcBef>
                <a:spcPts val="616"/>
              </a:spcBef>
              <a:spcAft>
                <a:spcPts val="616"/>
              </a:spcAft>
              <a:tabLst>
                <a:tab pos="231683" algn="l"/>
              </a:tabLst>
              <a:defRPr/>
            </a:pPr>
            <a:r>
              <a:rPr lang="en-US" dirty="0"/>
              <a:t>The National Center for Science and Engineering Statistics (NCSES) is a Division within National Science Foundation, but it is also one of the thirteen principal statistical agencies within the federal government. We have a legislative mandate to collect and analyze statistical data on the science and engineering enterprise for use by policy makers, and the mandate explicitly covers data on US and global research and development. Today I will be summarizing a few of  those R&amp;D data trends.  And of course, the usual disclaimers apply.</a:t>
            </a:r>
          </a:p>
          <a:p>
            <a:pPr defTabSz="939787">
              <a:spcBef>
                <a:spcPts val="616"/>
              </a:spcBef>
              <a:spcAft>
                <a:spcPts val="616"/>
              </a:spcAft>
              <a:tabLst>
                <a:tab pos="231683" algn="l"/>
              </a:tabLst>
              <a:defRPr/>
            </a:pPr>
            <a:endParaRPr lang="en-US" dirty="0"/>
          </a:p>
        </p:txBody>
      </p:sp>
    </p:spTree>
    <p:extLst>
      <p:ext uri="{BB962C8B-B14F-4D97-AF65-F5344CB8AC3E}">
        <p14:creationId xmlns:p14="http://schemas.microsoft.com/office/powerpoint/2010/main" val="2517505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Times New Roman" pitchFamily="18" charset="0"/>
              </a:defRPr>
            </a:lvl1pPr>
            <a:lvl2pPr marL="770662" indent="-296408" eaLnBrk="0" hangingPunct="0">
              <a:defRPr sz="2500">
                <a:solidFill>
                  <a:schemeClr val="tx1"/>
                </a:solidFill>
                <a:latin typeface="Times New Roman" pitchFamily="18" charset="0"/>
              </a:defRPr>
            </a:lvl2pPr>
            <a:lvl3pPr marL="1185634" indent="-237127" eaLnBrk="0" hangingPunct="0">
              <a:defRPr sz="2500">
                <a:solidFill>
                  <a:schemeClr val="tx1"/>
                </a:solidFill>
                <a:latin typeface="Times New Roman" pitchFamily="18" charset="0"/>
              </a:defRPr>
            </a:lvl3pPr>
            <a:lvl4pPr marL="1659887" indent="-237127" eaLnBrk="0" hangingPunct="0">
              <a:defRPr sz="2500">
                <a:solidFill>
                  <a:schemeClr val="tx1"/>
                </a:solidFill>
                <a:latin typeface="Times New Roman" pitchFamily="18" charset="0"/>
              </a:defRPr>
            </a:lvl4pPr>
            <a:lvl5pPr marL="2134141" indent="-237127" eaLnBrk="0" hangingPunct="0">
              <a:defRPr sz="2500">
                <a:solidFill>
                  <a:schemeClr val="tx1"/>
                </a:solidFill>
                <a:latin typeface="Times New Roman" pitchFamily="18" charset="0"/>
              </a:defRPr>
            </a:lvl5pPr>
            <a:lvl6pPr marL="2608395" indent="-237127" eaLnBrk="0" fontAlgn="base" hangingPunct="0">
              <a:spcBef>
                <a:spcPct val="0"/>
              </a:spcBef>
              <a:spcAft>
                <a:spcPct val="0"/>
              </a:spcAft>
              <a:defRPr sz="2500">
                <a:solidFill>
                  <a:schemeClr val="tx1"/>
                </a:solidFill>
                <a:latin typeface="Times New Roman" pitchFamily="18" charset="0"/>
              </a:defRPr>
            </a:lvl6pPr>
            <a:lvl7pPr marL="3082648" indent="-237127" eaLnBrk="0" fontAlgn="base" hangingPunct="0">
              <a:spcBef>
                <a:spcPct val="0"/>
              </a:spcBef>
              <a:spcAft>
                <a:spcPct val="0"/>
              </a:spcAft>
              <a:defRPr sz="2500">
                <a:solidFill>
                  <a:schemeClr val="tx1"/>
                </a:solidFill>
                <a:latin typeface="Times New Roman" pitchFamily="18" charset="0"/>
              </a:defRPr>
            </a:lvl7pPr>
            <a:lvl8pPr marL="3556902" indent="-237127" eaLnBrk="0" fontAlgn="base" hangingPunct="0">
              <a:spcBef>
                <a:spcPct val="0"/>
              </a:spcBef>
              <a:spcAft>
                <a:spcPct val="0"/>
              </a:spcAft>
              <a:defRPr sz="2500">
                <a:solidFill>
                  <a:schemeClr val="tx1"/>
                </a:solidFill>
                <a:latin typeface="Times New Roman" pitchFamily="18" charset="0"/>
              </a:defRPr>
            </a:lvl8pPr>
            <a:lvl9pPr marL="4031155" indent="-237127" eaLnBrk="0" fontAlgn="base" hangingPunct="0">
              <a:spcBef>
                <a:spcPct val="0"/>
              </a:spcBef>
              <a:spcAft>
                <a:spcPct val="0"/>
              </a:spcAft>
              <a:defRPr sz="2500">
                <a:solidFill>
                  <a:schemeClr val="tx1"/>
                </a:solidFill>
                <a:latin typeface="Times New Roman" pitchFamily="18" charset="0"/>
              </a:defRPr>
            </a:lvl9pPr>
          </a:lstStyle>
          <a:p>
            <a:pPr eaLnBrk="1" hangingPunct="1"/>
            <a:fld id="{5B28A9A8-0822-4F7D-B51F-752DA1FBB733}" type="slidenum">
              <a:rPr lang="en-US" altLang="en-US" sz="1200"/>
              <a:pPr eaLnBrk="1" hangingPunct="1"/>
              <a:t>3</a:t>
            </a:fld>
            <a:endParaRPr lang="en-US" altLang="en-US" sz="1200" dirty="0"/>
          </a:p>
        </p:txBody>
      </p:sp>
      <p:sp>
        <p:nvSpPr>
          <p:cNvPr id="20483" name="Rectangle 7"/>
          <p:cNvSpPr txBox="1">
            <a:spLocks noGrp="1" noChangeArrowheads="1"/>
          </p:cNvSpPr>
          <p:nvPr/>
        </p:nvSpPr>
        <p:spPr bwMode="auto">
          <a:xfrm>
            <a:off x="4221010" y="9120813"/>
            <a:ext cx="3229150" cy="478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28" tIns="47914" rIns="95828" bIns="47914" anchor="b"/>
          <a:lstStyle>
            <a:lvl1pPr defTabSz="923925" eaLnBrk="0" hangingPunct="0">
              <a:defRPr sz="2400">
                <a:solidFill>
                  <a:schemeClr val="tx1"/>
                </a:solidFill>
                <a:latin typeface="Times New Roman" pitchFamily="18" charset="0"/>
              </a:defRPr>
            </a:lvl1pPr>
            <a:lvl2pPr marL="742950" indent="-285750" defTabSz="923925" eaLnBrk="0" hangingPunct="0">
              <a:defRPr sz="2400">
                <a:solidFill>
                  <a:schemeClr val="tx1"/>
                </a:solidFill>
                <a:latin typeface="Times New Roman" pitchFamily="18" charset="0"/>
              </a:defRPr>
            </a:lvl2pPr>
            <a:lvl3pPr marL="1143000" indent="-228600" defTabSz="923925" eaLnBrk="0" hangingPunct="0">
              <a:defRPr sz="2400">
                <a:solidFill>
                  <a:schemeClr val="tx1"/>
                </a:solidFill>
                <a:latin typeface="Times New Roman" pitchFamily="18" charset="0"/>
              </a:defRPr>
            </a:lvl3pPr>
            <a:lvl4pPr marL="1600200" indent="-228600" defTabSz="923925" eaLnBrk="0" hangingPunct="0">
              <a:defRPr sz="2400">
                <a:solidFill>
                  <a:schemeClr val="tx1"/>
                </a:solidFill>
                <a:latin typeface="Times New Roman" pitchFamily="18" charset="0"/>
              </a:defRPr>
            </a:lvl4pPr>
            <a:lvl5pPr marL="2057400" indent="-228600" defTabSz="923925" eaLnBrk="0" hangingPunct="0">
              <a:defRPr sz="2400">
                <a:solidFill>
                  <a:schemeClr val="tx1"/>
                </a:solidFill>
                <a:latin typeface="Times New Roman" pitchFamily="18" charset="0"/>
              </a:defRPr>
            </a:lvl5pPr>
            <a:lvl6pPr marL="2514600" indent="-228600" defTabSz="923925" eaLnBrk="0" fontAlgn="base" hangingPunct="0">
              <a:spcBef>
                <a:spcPct val="0"/>
              </a:spcBef>
              <a:spcAft>
                <a:spcPct val="0"/>
              </a:spcAft>
              <a:defRPr sz="2400">
                <a:solidFill>
                  <a:schemeClr val="tx1"/>
                </a:solidFill>
                <a:latin typeface="Times New Roman" pitchFamily="18" charset="0"/>
              </a:defRPr>
            </a:lvl6pPr>
            <a:lvl7pPr marL="2971800" indent="-228600" defTabSz="923925" eaLnBrk="0" fontAlgn="base" hangingPunct="0">
              <a:spcBef>
                <a:spcPct val="0"/>
              </a:spcBef>
              <a:spcAft>
                <a:spcPct val="0"/>
              </a:spcAft>
              <a:defRPr sz="2400">
                <a:solidFill>
                  <a:schemeClr val="tx1"/>
                </a:solidFill>
                <a:latin typeface="Times New Roman" pitchFamily="18" charset="0"/>
              </a:defRPr>
            </a:lvl7pPr>
            <a:lvl8pPr marL="3429000" indent="-228600" defTabSz="923925" eaLnBrk="0" fontAlgn="base" hangingPunct="0">
              <a:spcBef>
                <a:spcPct val="0"/>
              </a:spcBef>
              <a:spcAft>
                <a:spcPct val="0"/>
              </a:spcAft>
              <a:defRPr sz="2400">
                <a:solidFill>
                  <a:schemeClr val="tx1"/>
                </a:solidFill>
                <a:latin typeface="Times New Roman" pitchFamily="18" charset="0"/>
              </a:defRPr>
            </a:lvl8pPr>
            <a:lvl9pPr marL="3886200" indent="-228600" defTabSz="923925" eaLnBrk="0" fontAlgn="base" hangingPunct="0">
              <a:spcBef>
                <a:spcPct val="0"/>
              </a:spcBef>
              <a:spcAft>
                <a:spcPct val="0"/>
              </a:spcAft>
              <a:defRPr sz="2400">
                <a:solidFill>
                  <a:schemeClr val="tx1"/>
                </a:solidFill>
                <a:latin typeface="Times New Roman" pitchFamily="18" charset="0"/>
              </a:defRPr>
            </a:lvl9pPr>
          </a:lstStyle>
          <a:p>
            <a:pPr algn="r" eaLnBrk="1" hangingPunct="1"/>
            <a:fld id="{0D95B01F-8107-4D9B-A658-C5D4D280EB3D}" type="slidenum">
              <a:rPr lang="en-US" altLang="en-US" sz="1200">
                <a:latin typeface="Arial" charset="0"/>
                <a:cs typeface="Arial" charset="0"/>
              </a:rPr>
              <a:pPr algn="r" eaLnBrk="1" hangingPunct="1"/>
              <a:t>3</a:t>
            </a:fld>
            <a:endParaRPr lang="en-US" altLang="en-US" sz="1200" dirty="0">
              <a:latin typeface="Arial" charset="0"/>
              <a:cs typeface="Arial" charset="0"/>
            </a:endParaRPr>
          </a:p>
        </p:txBody>
      </p:sp>
      <p:sp>
        <p:nvSpPr>
          <p:cNvPr id="20484" name="Rectangle 2"/>
          <p:cNvSpPr>
            <a:spLocks noGrp="1" noRot="1" noChangeAspect="1" noChangeArrowheads="1" noTextEdit="1"/>
          </p:cNvSpPr>
          <p:nvPr>
            <p:ph type="sldImg"/>
          </p:nvPr>
        </p:nvSpPr>
        <p:spPr>
          <a:xfrm>
            <a:off x="1325563" y="720725"/>
            <a:ext cx="4800600" cy="3600450"/>
          </a:xfrm>
          <a:ln/>
        </p:spPr>
      </p:sp>
      <p:sp>
        <p:nvSpPr>
          <p:cNvPr id="20485"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3347740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a:ln/>
        </p:spPr>
      </p:sp>
      <p:sp>
        <p:nvSpPr>
          <p:cNvPr id="102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0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33425" indent="-280988">
              <a:spcBef>
                <a:spcPct val="30000"/>
              </a:spcBef>
              <a:defRPr sz="1200">
                <a:solidFill>
                  <a:schemeClr val="tx1"/>
                </a:solidFill>
                <a:latin typeface="Times New Roman" panose="02020603050405020304" pitchFamily="18" charset="0"/>
              </a:defRPr>
            </a:lvl2pPr>
            <a:lvl3pPr marL="1130300" indent="-223838">
              <a:spcBef>
                <a:spcPct val="30000"/>
              </a:spcBef>
              <a:defRPr sz="1200">
                <a:solidFill>
                  <a:schemeClr val="tx1"/>
                </a:solidFill>
                <a:latin typeface="Times New Roman" panose="02020603050405020304" pitchFamily="18" charset="0"/>
              </a:defRPr>
            </a:lvl3pPr>
            <a:lvl4pPr marL="1584325" indent="-223838">
              <a:spcBef>
                <a:spcPct val="30000"/>
              </a:spcBef>
              <a:defRPr sz="1200">
                <a:solidFill>
                  <a:schemeClr val="tx1"/>
                </a:solidFill>
                <a:latin typeface="Times New Roman" panose="02020603050405020304" pitchFamily="18" charset="0"/>
              </a:defRPr>
            </a:lvl4pPr>
            <a:lvl5pPr marL="2036763" indent="-223838">
              <a:spcBef>
                <a:spcPct val="30000"/>
              </a:spcBef>
              <a:defRPr sz="1200">
                <a:solidFill>
                  <a:schemeClr val="tx1"/>
                </a:solidFill>
                <a:latin typeface="Times New Roman" panose="02020603050405020304" pitchFamily="18" charset="0"/>
              </a:defRPr>
            </a:lvl5pPr>
            <a:lvl6pPr marL="2493963" indent="-223838" eaLnBrk="0" fontAlgn="base" hangingPunct="0">
              <a:spcBef>
                <a:spcPct val="30000"/>
              </a:spcBef>
              <a:spcAft>
                <a:spcPct val="0"/>
              </a:spcAft>
              <a:defRPr sz="1200">
                <a:solidFill>
                  <a:schemeClr val="tx1"/>
                </a:solidFill>
                <a:latin typeface="Times New Roman" panose="02020603050405020304" pitchFamily="18" charset="0"/>
              </a:defRPr>
            </a:lvl6pPr>
            <a:lvl7pPr marL="2951163" indent="-223838" eaLnBrk="0" fontAlgn="base" hangingPunct="0">
              <a:spcBef>
                <a:spcPct val="30000"/>
              </a:spcBef>
              <a:spcAft>
                <a:spcPct val="0"/>
              </a:spcAft>
              <a:defRPr sz="1200">
                <a:solidFill>
                  <a:schemeClr val="tx1"/>
                </a:solidFill>
                <a:latin typeface="Times New Roman" panose="02020603050405020304" pitchFamily="18" charset="0"/>
              </a:defRPr>
            </a:lvl7pPr>
            <a:lvl8pPr marL="3408363" indent="-223838" eaLnBrk="0" fontAlgn="base" hangingPunct="0">
              <a:spcBef>
                <a:spcPct val="30000"/>
              </a:spcBef>
              <a:spcAft>
                <a:spcPct val="0"/>
              </a:spcAft>
              <a:defRPr sz="1200">
                <a:solidFill>
                  <a:schemeClr val="tx1"/>
                </a:solidFill>
                <a:latin typeface="Times New Roman" panose="02020603050405020304" pitchFamily="18" charset="0"/>
              </a:defRPr>
            </a:lvl8pPr>
            <a:lvl9pPr marL="3865563" indent="-2238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7F17AE9-66AC-476E-A5CE-B821CE1BCFB7}" type="slidenum">
              <a:rPr lang="en-US" altLang="en-US"/>
              <a:pPr>
                <a:spcBef>
                  <a:spcPct val="0"/>
                </a:spcBef>
              </a:pPr>
              <a:t>4</a:t>
            </a:fld>
            <a:endParaRPr lang="en-US" altLang="en-US"/>
          </a:p>
        </p:txBody>
      </p:sp>
    </p:spTree>
    <p:extLst>
      <p:ext uri="{BB962C8B-B14F-4D97-AF65-F5344CB8AC3E}">
        <p14:creationId xmlns:p14="http://schemas.microsoft.com/office/powerpoint/2010/main" val="3174622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940000" y="4379296"/>
            <a:ext cx="5347528" cy="4225636"/>
          </a:xfrm>
        </p:spPr>
        <p:txBody>
          <a:bodyPr/>
          <a:lstStyle/>
          <a:p>
            <a:r>
              <a:rPr lang="en-US" dirty="0"/>
              <a:t>The source of  the data I will be presenting come from the performers of R&amp;D; that is, those who do the R&amp;D work. Performers generally are in the best position to judge how funds are used (that is whether for an R&amp;D activity or not); where and when the R&amp;D activity takes place; and the immediate source of the funds used for performing the R&amp;D.</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5</a:t>
            </a:fld>
            <a:endParaRPr lang="en-US" altLang="en-US"/>
          </a:p>
        </p:txBody>
      </p:sp>
    </p:spTree>
    <p:extLst>
      <p:ext uri="{BB962C8B-B14F-4D97-AF65-F5344CB8AC3E}">
        <p14:creationId xmlns:p14="http://schemas.microsoft.com/office/powerpoint/2010/main" val="3559774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a:ln/>
        </p:spPr>
      </p:sp>
      <p:sp>
        <p:nvSpPr>
          <p:cNvPr id="71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1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33425" indent="-280988">
              <a:spcBef>
                <a:spcPct val="30000"/>
              </a:spcBef>
              <a:defRPr sz="1200">
                <a:solidFill>
                  <a:schemeClr val="tx1"/>
                </a:solidFill>
                <a:latin typeface="Times New Roman" panose="02020603050405020304" pitchFamily="18" charset="0"/>
              </a:defRPr>
            </a:lvl2pPr>
            <a:lvl3pPr marL="1130300" indent="-223838">
              <a:spcBef>
                <a:spcPct val="30000"/>
              </a:spcBef>
              <a:defRPr sz="1200">
                <a:solidFill>
                  <a:schemeClr val="tx1"/>
                </a:solidFill>
                <a:latin typeface="Times New Roman" panose="02020603050405020304" pitchFamily="18" charset="0"/>
              </a:defRPr>
            </a:lvl3pPr>
            <a:lvl4pPr marL="1584325" indent="-223838">
              <a:spcBef>
                <a:spcPct val="30000"/>
              </a:spcBef>
              <a:defRPr sz="1200">
                <a:solidFill>
                  <a:schemeClr val="tx1"/>
                </a:solidFill>
                <a:latin typeface="Times New Roman" panose="02020603050405020304" pitchFamily="18" charset="0"/>
              </a:defRPr>
            </a:lvl4pPr>
            <a:lvl5pPr marL="2036763" indent="-223838">
              <a:spcBef>
                <a:spcPct val="30000"/>
              </a:spcBef>
              <a:defRPr sz="1200">
                <a:solidFill>
                  <a:schemeClr val="tx1"/>
                </a:solidFill>
                <a:latin typeface="Times New Roman" panose="02020603050405020304" pitchFamily="18" charset="0"/>
              </a:defRPr>
            </a:lvl5pPr>
            <a:lvl6pPr marL="2493963" indent="-223838" eaLnBrk="0" fontAlgn="base" hangingPunct="0">
              <a:spcBef>
                <a:spcPct val="30000"/>
              </a:spcBef>
              <a:spcAft>
                <a:spcPct val="0"/>
              </a:spcAft>
              <a:defRPr sz="1200">
                <a:solidFill>
                  <a:schemeClr val="tx1"/>
                </a:solidFill>
                <a:latin typeface="Times New Roman" panose="02020603050405020304" pitchFamily="18" charset="0"/>
              </a:defRPr>
            </a:lvl6pPr>
            <a:lvl7pPr marL="2951163" indent="-223838" eaLnBrk="0" fontAlgn="base" hangingPunct="0">
              <a:spcBef>
                <a:spcPct val="30000"/>
              </a:spcBef>
              <a:spcAft>
                <a:spcPct val="0"/>
              </a:spcAft>
              <a:defRPr sz="1200">
                <a:solidFill>
                  <a:schemeClr val="tx1"/>
                </a:solidFill>
                <a:latin typeface="Times New Roman" panose="02020603050405020304" pitchFamily="18" charset="0"/>
              </a:defRPr>
            </a:lvl7pPr>
            <a:lvl8pPr marL="3408363" indent="-223838" eaLnBrk="0" fontAlgn="base" hangingPunct="0">
              <a:spcBef>
                <a:spcPct val="30000"/>
              </a:spcBef>
              <a:spcAft>
                <a:spcPct val="0"/>
              </a:spcAft>
              <a:defRPr sz="1200">
                <a:solidFill>
                  <a:schemeClr val="tx1"/>
                </a:solidFill>
                <a:latin typeface="Times New Roman" panose="02020603050405020304" pitchFamily="18" charset="0"/>
              </a:defRPr>
            </a:lvl8pPr>
            <a:lvl9pPr marL="3865563" indent="-2238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AE2DEDA-921A-4AC5-A6E0-70258C010995}" type="slidenum">
              <a:rPr lang="en-US" altLang="en-US"/>
              <a:pPr>
                <a:spcBef>
                  <a:spcPct val="0"/>
                </a:spcBef>
              </a:pPr>
              <a:t>6</a:t>
            </a:fld>
            <a:endParaRPr lang="en-US" altLang="en-US"/>
          </a:p>
        </p:txBody>
      </p:sp>
    </p:spTree>
    <p:extLst>
      <p:ext uri="{BB962C8B-B14F-4D97-AF65-F5344CB8AC3E}">
        <p14:creationId xmlns:p14="http://schemas.microsoft.com/office/powerpoint/2010/main" val="8131480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a:ln/>
        </p:spPr>
      </p:sp>
      <p:sp>
        <p:nvSpPr>
          <p:cNvPr id="71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1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33425" indent="-280988">
              <a:spcBef>
                <a:spcPct val="30000"/>
              </a:spcBef>
              <a:defRPr sz="1200">
                <a:solidFill>
                  <a:schemeClr val="tx1"/>
                </a:solidFill>
                <a:latin typeface="Times New Roman" panose="02020603050405020304" pitchFamily="18" charset="0"/>
              </a:defRPr>
            </a:lvl2pPr>
            <a:lvl3pPr marL="1130300" indent="-223838">
              <a:spcBef>
                <a:spcPct val="30000"/>
              </a:spcBef>
              <a:defRPr sz="1200">
                <a:solidFill>
                  <a:schemeClr val="tx1"/>
                </a:solidFill>
                <a:latin typeface="Times New Roman" panose="02020603050405020304" pitchFamily="18" charset="0"/>
              </a:defRPr>
            </a:lvl3pPr>
            <a:lvl4pPr marL="1584325" indent="-223838">
              <a:spcBef>
                <a:spcPct val="30000"/>
              </a:spcBef>
              <a:defRPr sz="1200">
                <a:solidFill>
                  <a:schemeClr val="tx1"/>
                </a:solidFill>
                <a:latin typeface="Times New Roman" panose="02020603050405020304" pitchFamily="18" charset="0"/>
              </a:defRPr>
            </a:lvl4pPr>
            <a:lvl5pPr marL="2036763" indent="-223838">
              <a:spcBef>
                <a:spcPct val="30000"/>
              </a:spcBef>
              <a:defRPr sz="1200">
                <a:solidFill>
                  <a:schemeClr val="tx1"/>
                </a:solidFill>
                <a:latin typeface="Times New Roman" panose="02020603050405020304" pitchFamily="18" charset="0"/>
              </a:defRPr>
            </a:lvl5pPr>
            <a:lvl6pPr marL="2493963" indent="-223838" eaLnBrk="0" fontAlgn="base" hangingPunct="0">
              <a:spcBef>
                <a:spcPct val="30000"/>
              </a:spcBef>
              <a:spcAft>
                <a:spcPct val="0"/>
              </a:spcAft>
              <a:defRPr sz="1200">
                <a:solidFill>
                  <a:schemeClr val="tx1"/>
                </a:solidFill>
                <a:latin typeface="Times New Roman" panose="02020603050405020304" pitchFamily="18" charset="0"/>
              </a:defRPr>
            </a:lvl6pPr>
            <a:lvl7pPr marL="2951163" indent="-223838" eaLnBrk="0" fontAlgn="base" hangingPunct="0">
              <a:spcBef>
                <a:spcPct val="30000"/>
              </a:spcBef>
              <a:spcAft>
                <a:spcPct val="0"/>
              </a:spcAft>
              <a:defRPr sz="1200">
                <a:solidFill>
                  <a:schemeClr val="tx1"/>
                </a:solidFill>
                <a:latin typeface="Times New Roman" panose="02020603050405020304" pitchFamily="18" charset="0"/>
              </a:defRPr>
            </a:lvl7pPr>
            <a:lvl8pPr marL="3408363" indent="-223838" eaLnBrk="0" fontAlgn="base" hangingPunct="0">
              <a:spcBef>
                <a:spcPct val="30000"/>
              </a:spcBef>
              <a:spcAft>
                <a:spcPct val="0"/>
              </a:spcAft>
              <a:defRPr sz="1200">
                <a:solidFill>
                  <a:schemeClr val="tx1"/>
                </a:solidFill>
                <a:latin typeface="Times New Roman" panose="02020603050405020304" pitchFamily="18" charset="0"/>
              </a:defRPr>
            </a:lvl8pPr>
            <a:lvl9pPr marL="3865563" indent="-2238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AE2DEDA-921A-4AC5-A6E0-70258C010995}" type="slidenum">
              <a:rPr lang="en-US" altLang="en-US"/>
              <a:pPr>
                <a:spcBef>
                  <a:spcPct val="0"/>
                </a:spcBef>
              </a:pPr>
              <a:t>7</a:t>
            </a:fld>
            <a:endParaRPr lang="en-US" altLang="en-US"/>
          </a:p>
        </p:txBody>
      </p:sp>
    </p:spTree>
    <p:extLst>
      <p:ext uri="{BB962C8B-B14F-4D97-AF65-F5344CB8AC3E}">
        <p14:creationId xmlns:p14="http://schemas.microsoft.com/office/powerpoint/2010/main" val="35004387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76238" y="4379296"/>
            <a:ext cx="5977033" cy="4225636"/>
          </a:xfrm>
        </p:spPr>
        <p:txBody>
          <a:bodyPr/>
          <a:lstStyle/>
          <a:p>
            <a:r>
              <a:rPr lang="en-US" dirty="0"/>
              <a:t>From these surveys we estimate that more than one-half trillion dollars were spent on R&amp;D activities within the domestic United States in 2016.</a:t>
            </a:r>
          </a:p>
          <a:p>
            <a:r>
              <a:rPr lang="en-US" dirty="0"/>
              <a:t> As shown in green, the business sector is—by far—both the largest R&amp;D performer and the largest source of R&amp;D funding. The second largest performing sector (in red) was higher education, accounting for 13% of total. Federal intramural performance and that of Federally Funded R&amp;D Centers </a:t>
            </a:r>
            <a:r>
              <a:rPr lang="en-US" strike="sngStrike" dirty="0"/>
              <a:t>(such as NASA’s Jet Propulsion Lab and DOE’ Los Alamos National Lab) </a:t>
            </a:r>
            <a:r>
              <a:rPr lang="en-US" dirty="0"/>
              <a:t>combined accounted for 12% of the Nation’s total R&amp;D performance.</a:t>
            </a:r>
          </a:p>
          <a:p>
            <a:r>
              <a:rPr lang="en-US" dirty="0"/>
              <a:t>In terms of the source of the R&amp;D funds, the federal government (in blue) was second largest trailing substantially business sector investments; nonetheless, it still accounted for an estimated $122 billion in 2016.</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9</a:t>
            </a:fld>
            <a:endParaRPr lang="en-US" altLang="en-US"/>
          </a:p>
        </p:txBody>
      </p:sp>
    </p:spTree>
    <p:extLst>
      <p:ext uri="{BB962C8B-B14F-4D97-AF65-F5344CB8AC3E}">
        <p14:creationId xmlns:p14="http://schemas.microsoft.com/office/powerpoint/2010/main" val="16406262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picture looks considerably different when we graph the performers and funders of basic research rather than for all R&amp;D. Higher education sector performed almost half of the reported total (contrasted with its 13% share for total R&amp;D performance) .  </a:t>
            </a:r>
          </a:p>
          <a:p>
            <a:r>
              <a:rPr lang="en-US" dirty="0"/>
              <a:t>The federal government provided 44% (or $38 billion) for basic research, again contrasted with its 24% funding share for all of R&amp;D.</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10</a:t>
            </a:fld>
            <a:endParaRPr lang="en-US" altLang="en-US"/>
          </a:p>
        </p:txBody>
      </p:sp>
    </p:spTree>
    <p:extLst>
      <p:ext uri="{BB962C8B-B14F-4D97-AF65-F5344CB8AC3E}">
        <p14:creationId xmlns:p14="http://schemas.microsoft.com/office/powerpoint/2010/main" val="7549321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brevity, I will not spend time on the details in this slide, except to note that the performers of  R&amp;D  vary considerably in terms of  the funding sources for their R&amp;D.</a:t>
            </a:r>
          </a:p>
          <a:p>
            <a:r>
              <a:rPr lang="en-US" dirty="0"/>
              <a:t>For example, 93% all of the R&amp;D performed by business in 2016 was funded by business itself whereas the $68 billion of R&amp;D performed by the higher education sector is funded by a much more diverse set of funders.  More on this as we go along.</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11</a:t>
            </a:fld>
            <a:endParaRPr lang="en-US" altLang="en-US"/>
          </a:p>
        </p:txBody>
      </p:sp>
    </p:spTree>
    <p:extLst>
      <p:ext uri="{BB962C8B-B14F-4D97-AF65-F5344CB8AC3E}">
        <p14:creationId xmlns:p14="http://schemas.microsoft.com/office/powerpoint/2010/main" val="31453094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940059" y="4378961"/>
            <a:ext cx="5248334" cy="4225636"/>
          </a:xfrm>
        </p:spPr>
        <p:txBody>
          <a:bodyPr/>
          <a:lstStyle/>
          <a:p>
            <a:r>
              <a:rPr lang="en-US" dirty="0"/>
              <a:t>The ratio of R&amp;D divided by GDP (or R&amp;D intensity) measures a nation’s commitment to scientific knowledge growth and technology development. For the past fifty years this ratio for the United States has fluctuated rather narrowly between 2.1 and 2.8 percent.</a:t>
            </a:r>
          </a:p>
          <a:p>
            <a:r>
              <a:rPr lang="en-US" dirty="0"/>
              <a:t>For some 35 years business R&amp;D funding has increasingly exceeded that from the Federal government. Business R&amp;D now accounts for 1.84% of GDP, compared with the 0.67 Federal R&amp;D-to-GDP ratio.</a:t>
            </a:r>
          </a:p>
          <a:p>
            <a:r>
              <a:rPr lang="en-US" dirty="0"/>
              <a:t>For the remainder of my talk, comparisons will be limited to the period since the year 2000.</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12</a:t>
            </a:fld>
            <a:endParaRPr lang="en-US" altLang="en-US"/>
          </a:p>
        </p:txBody>
      </p:sp>
    </p:spTree>
    <p:extLst>
      <p:ext uri="{BB962C8B-B14F-4D97-AF65-F5344CB8AC3E}">
        <p14:creationId xmlns:p14="http://schemas.microsoft.com/office/powerpoint/2010/main" val="606486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quick look at structural changes in the composition of the national R&amp;D effort since then.</a:t>
            </a:r>
          </a:p>
          <a:p>
            <a:r>
              <a:rPr lang="en-US" dirty="0"/>
              <a:t>The largest performing and funding sectors have peaked and ebbed, but in broad terms have kept their relative positions since the early 2000s</a:t>
            </a:r>
          </a:p>
          <a:p>
            <a:r>
              <a:rPr lang="en-US" dirty="0"/>
              <a:t>In 2016, development accounted for 63%; applied research for 19% and basic research for 18% of total R&amp;D, roughly the same shares as reported in 2000.</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13</a:t>
            </a:fld>
            <a:endParaRPr lang="en-US" altLang="en-US"/>
          </a:p>
        </p:txBody>
      </p:sp>
    </p:spTree>
    <p:extLst>
      <p:ext uri="{BB962C8B-B14F-4D97-AF65-F5344CB8AC3E}">
        <p14:creationId xmlns:p14="http://schemas.microsoft.com/office/powerpoint/2010/main" val="30074255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B92E641A-A1CA-2943-A35F-BCF8E6551894}" type="slidenum">
              <a:rPr lang="en-US" smtClean="0"/>
              <a:t>22</a:t>
            </a:fld>
            <a:endParaRPr lang="en-US"/>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5909221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2E641A-A1CA-2943-A35F-BCF8E6551894}" type="slidenum">
              <a:rPr lang="en-US" smtClean="0"/>
              <a:t>24</a:t>
            </a:fld>
            <a:endParaRPr lang="en-US"/>
          </a:p>
        </p:txBody>
      </p:sp>
    </p:spTree>
    <p:extLst>
      <p:ext uri="{BB962C8B-B14F-4D97-AF65-F5344CB8AC3E}">
        <p14:creationId xmlns:p14="http://schemas.microsoft.com/office/powerpoint/2010/main" val="17389699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2E641A-A1CA-2943-A35F-BCF8E6551894}" type="slidenum">
              <a:rPr lang="en-US" smtClean="0"/>
              <a:t>25</a:t>
            </a:fld>
            <a:endParaRPr lang="en-US"/>
          </a:p>
        </p:txBody>
      </p:sp>
    </p:spTree>
    <p:extLst>
      <p:ext uri="{BB962C8B-B14F-4D97-AF65-F5344CB8AC3E}">
        <p14:creationId xmlns:p14="http://schemas.microsoft.com/office/powerpoint/2010/main" val="40850004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2E641A-A1CA-2943-A35F-BCF8E6551894}" type="slidenum">
              <a:rPr lang="en-US" smtClean="0"/>
              <a:t>26</a:t>
            </a:fld>
            <a:endParaRPr lang="en-US"/>
          </a:p>
        </p:txBody>
      </p:sp>
    </p:spTree>
    <p:extLst>
      <p:ext uri="{BB962C8B-B14F-4D97-AF65-F5344CB8AC3E}">
        <p14:creationId xmlns:p14="http://schemas.microsoft.com/office/powerpoint/2010/main" val="18423783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2E641A-A1CA-2943-A35F-BCF8E6551894}" type="slidenum">
              <a:rPr lang="en-US" smtClean="0"/>
              <a:t>27</a:t>
            </a:fld>
            <a:endParaRPr lang="en-US"/>
          </a:p>
        </p:txBody>
      </p:sp>
    </p:spTree>
    <p:extLst>
      <p:ext uri="{BB962C8B-B14F-4D97-AF65-F5344CB8AC3E}">
        <p14:creationId xmlns:p14="http://schemas.microsoft.com/office/powerpoint/2010/main" val="10365759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p>
            <a:fld id="{4F2C8607-6964-4CF5-B8B1-E5D85DC4908D}" type="slidenum">
              <a:rPr lang="en-US" smtClean="0"/>
              <a:pPr/>
              <a:t>28</a:t>
            </a:fld>
            <a:endParaRPr lang="en-US"/>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p:spPr>
        <p:txBody>
          <a:bodyPr/>
          <a:lstStyle/>
          <a:p>
            <a:pPr eaLnBrk="1" hangingPunct="1"/>
            <a:endParaRPr lang="en-US" b="1"/>
          </a:p>
        </p:txBody>
      </p:sp>
    </p:spTree>
    <p:extLst>
      <p:ext uri="{BB962C8B-B14F-4D97-AF65-F5344CB8AC3E}">
        <p14:creationId xmlns:p14="http://schemas.microsoft.com/office/powerpoint/2010/main" val="37578962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2E641A-A1CA-2943-A35F-BCF8E6551894}" type="slidenum">
              <a:rPr lang="en-US" smtClean="0"/>
              <a:t>29</a:t>
            </a:fld>
            <a:endParaRPr lang="en-US"/>
          </a:p>
        </p:txBody>
      </p:sp>
    </p:spTree>
    <p:extLst>
      <p:ext uri="{BB962C8B-B14F-4D97-AF65-F5344CB8AC3E}">
        <p14:creationId xmlns:p14="http://schemas.microsoft.com/office/powerpoint/2010/main" val="15909221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2E641A-A1CA-2943-A35F-BCF8E6551894}" type="slidenum">
              <a:rPr lang="en-US" smtClean="0"/>
              <a:t>30</a:t>
            </a:fld>
            <a:endParaRPr lang="en-US"/>
          </a:p>
        </p:txBody>
      </p:sp>
    </p:spTree>
    <p:extLst>
      <p:ext uri="{BB962C8B-B14F-4D97-AF65-F5344CB8AC3E}">
        <p14:creationId xmlns:p14="http://schemas.microsoft.com/office/powerpoint/2010/main" val="37397135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2E641A-A1CA-2943-A35F-BCF8E6551894}" type="slidenum">
              <a:rPr lang="en-US" smtClean="0"/>
              <a:t>31</a:t>
            </a:fld>
            <a:endParaRPr lang="en-US"/>
          </a:p>
        </p:txBody>
      </p:sp>
    </p:spTree>
    <p:extLst>
      <p:ext uri="{BB962C8B-B14F-4D97-AF65-F5344CB8AC3E}">
        <p14:creationId xmlns:p14="http://schemas.microsoft.com/office/powerpoint/2010/main" val="38947366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2E641A-A1CA-2943-A35F-BCF8E6551894}" type="slidenum">
              <a:rPr lang="en-US" smtClean="0"/>
              <a:t>32</a:t>
            </a:fld>
            <a:endParaRPr lang="en-US"/>
          </a:p>
        </p:txBody>
      </p:sp>
    </p:spTree>
    <p:extLst>
      <p:ext uri="{BB962C8B-B14F-4D97-AF65-F5344CB8AC3E}">
        <p14:creationId xmlns:p14="http://schemas.microsoft.com/office/powerpoint/2010/main" val="4955309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4967C35-538A-4389-B179-F15D38AD5806}"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DA6F8DB-4EF5-485C-A909-FC74ECB8DD4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53B14F2-F6F1-4BCF-B40F-59B1D230331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3D1E2E9-E1A7-4961-83D5-F95CD8D35EAB}"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6D4FCBAF-1B1E-47B3-8CC4-C365436D05F3}"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83C18435-F2D0-461D-9025-32A4E7832291}"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5A112BD-5D9C-4E6C-AD2A-64B80ADF82FE}"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29C3CAC-A38A-498B-9F9C-C2C3DB094FDA}"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8D38856-941C-4368-BC60-76ECE79F4B43}"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21F5525-025F-44AA-956D-C580D4CBA02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3141987-C777-4F2C-ACC0-87F1E5F81420}"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6C3C9E45-93F3-4AD9-9863-12F2CEEB8960}"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jpe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jpeg"/><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jpeg"/><Relationship Id="rId7" Type="http://schemas.openxmlformats.org/officeDocument/2006/relationships/diagramQuickStyle" Target="../diagrams/quickStyle2.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2.emf"/><Relationship Id="rId9" Type="http://schemas.microsoft.com/office/2007/relationships/diagramDrawing" Target="../diagrams/drawing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2.emf"/><Relationship Id="rId4"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3.jpeg"/><Relationship Id="rId4"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chart" Target="../charts/chart5.xml"/><Relationship Id="rId4" Type="http://schemas.openxmlformats.org/officeDocument/2006/relationships/image" Target="../media/image1.jpeg"/></Relationships>
</file>

<file path=ppt/slides/_rels/slide14.xml.rels><?xml version="1.0" encoding="UTF-8" standalone="yes"?>
<Relationships xmlns="http://schemas.openxmlformats.org/package/2006/relationships"><Relationship Id="rId8" Type="http://schemas.openxmlformats.org/officeDocument/2006/relationships/chart" Target="../charts/chart9.xml"/><Relationship Id="rId3" Type="http://schemas.openxmlformats.org/officeDocument/2006/relationships/image" Target="../media/image2.emf"/><Relationship Id="rId7" Type="http://schemas.openxmlformats.org/officeDocument/2006/relationships/chart" Target="../charts/chart8.xml"/><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chart" Target="../charts/chart7.xml"/><Relationship Id="rId5" Type="http://schemas.openxmlformats.org/officeDocument/2006/relationships/chart" Target="../charts/chart6.xml"/><Relationship Id="rId4" Type="http://schemas.openxmlformats.org/officeDocument/2006/relationships/image" Target="../media/image1.jpeg"/></Relationships>
</file>

<file path=ppt/slides/_rels/slide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oleObject" Target="../embeddings/oleObject1.bin"/><Relationship Id="rId7" Type="http://schemas.openxmlformats.org/officeDocument/2006/relationships/image" Target="../media/image1.jpeg"/><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9.emf"/><Relationship Id="rId5" Type="http://schemas.openxmlformats.org/officeDocument/2006/relationships/oleObject" Target="../embeddings/oleObject2.bin"/><Relationship Id="rId4" Type="http://schemas.openxmlformats.org/officeDocument/2006/relationships/image" Target="../media/image8.emf"/></Relationships>
</file>

<file path=ppt/slides/_rels/slide2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2.emf"/></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3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4"/>
          <p:cNvSpPr>
            <a:spLocks noGrp="1"/>
          </p:cNvSpPr>
          <p:nvPr>
            <p:ph type="sldNum" sz="quarter" idx="12"/>
          </p:nvPr>
        </p:nvSpPr>
        <p:spPr>
          <a:noFill/>
        </p:spPr>
        <p:txBody>
          <a:bodyPr/>
          <a:lstStyle/>
          <a:p>
            <a:fld id="{EAA92DD5-3F09-4952-9EF9-E01D15C92356}" type="slidenum">
              <a:rPr lang="en-US" smtClean="0"/>
              <a:pPr/>
              <a:t>0</a:t>
            </a:fld>
            <a:endParaRPr lang="en-US"/>
          </a:p>
        </p:txBody>
      </p:sp>
      <p:sp>
        <p:nvSpPr>
          <p:cNvPr id="3075" name="Rectangle 3"/>
          <p:cNvSpPr>
            <a:spLocks noGrp="1" noChangeArrowheads="1"/>
          </p:cNvSpPr>
          <p:nvPr>
            <p:ph type="title"/>
          </p:nvPr>
        </p:nvSpPr>
        <p:spPr>
          <a:xfrm>
            <a:off x="609600" y="1676400"/>
            <a:ext cx="7848600" cy="1143000"/>
          </a:xfrm>
          <a:noFill/>
        </p:spPr>
        <p:txBody>
          <a:bodyPr/>
          <a:lstStyle/>
          <a:p>
            <a:pPr eaLnBrk="1" hangingPunct="1"/>
            <a:r>
              <a:rPr lang="en-US" sz="3200" b="1" dirty="0">
                <a:solidFill>
                  <a:schemeClr val="tx1"/>
                </a:solidFill>
                <a:latin typeface="Arial" panose="020B0604020202020204" pitchFamily="34" charset="0"/>
                <a:cs typeface="Arial" panose="020B0604020202020204" pitchFamily="34" charset="0"/>
              </a:rPr>
              <a:t>Overview of R&amp;D and Innovation Data and Data Sources from NCSES</a:t>
            </a:r>
            <a:br>
              <a:rPr lang="en-US" sz="3200" b="1" dirty="0">
                <a:solidFill>
                  <a:schemeClr val="tx1"/>
                </a:solidFill>
                <a:latin typeface="Arial" panose="020B0604020202020204" pitchFamily="34" charset="0"/>
                <a:cs typeface="Arial" panose="020B0604020202020204" pitchFamily="34" charset="0"/>
              </a:rPr>
            </a:br>
            <a:br>
              <a:rPr lang="en-US" sz="3200" b="1" dirty="0">
                <a:latin typeface="Arial" charset="0"/>
              </a:rPr>
            </a:br>
            <a:endParaRPr lang="en-US" sz="3200" b="1" dirty="0">
              <a:latin typeface="Arial" charset="0"/>
            </a:endParaRPr>
          </a:p>
        </p:txBody>
      </p:sp>
      <p:sp>
        <p:nvSpPr>
          <p:cNvPr id="3079" name="Text Box 7"/>
          <p:cNvSpPr txBox="1">
            <a:spLocks noChangeArrowheads="1"/>
          </p:cNvSpPr>
          <p:nvPr/>
        </p:nvSpPr>
        <p:spPr bwMode="auto">
          <a:xfrm>
            <a:off x="6103938" y="838200"/>
            <a:ext cx="2887662" cy="274638"/>
          </a:xfrm>
          <a:prstGeom prst="rect">
            <a:avLst/>
          </a:prstGeom>
          <a:noFill/>
          <a:ln w="9525">
            <a:noFill/>
            <a:miter lim="800000"/>
            <a:headEnd/>
            <a:tailEnd/>
          </a:ln>
        </p:spPr>
        <p:txBody>
          <a:bodyPr wrap="none">
            <a:spAutoFit/>
          </a:bodyPr>
          <a:lstStyle/>
          <a:p>
            <a:pPr eaLnBrk="0" hangingPunct="0"/>
            <a:r>
              <a:rPr lang="en-US" sz="1200">
                <a:solidFill>
                  <a:schemeClr val="bg1"/>
                </a:solidFill>
                <a:latin typeface="Arial" charset="0"/>
              </a:rPr>
              <a:t>Division of Science Resources Statistics</a:t>
            </a:r>
            <a:endParaRPr lang="en-US">
              <a:solidFill>
                <a:schemeClr val="bg1"/>
              </a:solidFill>
            </a:endParaRPr>
          </a:p>
        </p:txBody>
      </p:sp>
      <p:sp>
        <p:nvSpPr>
          <p:cNvPr id="3080" name="Text Box 8"/>
          <p:cNvSpPr txBox="1">
            <a:spLocks noChangeArrowheads="1"/>
          </p:cNvSpPr>
          <p:nvPr/>
        </p:nvSpPr>
        <p:spPr bwMode="auto">
          <a:xfrm>
            <a:off x="4470400" y="3124200"/>
            <a:ext cx="184150" cy="1552575"/>
          </a:xfrm>
          <a:prstGeom prst="rect">
            <a:avLst/>
          </a:prstGeom>
          <a:noFill/>
          <a:ln w="9525">
            <a:noFill/>
            <a:miter lim="800000"/>
            <a:headEnd/>
            <a:tailEnd/>
          </a:ln>
        </p:spPr>
        <p:txBody>
          <a:bodyPr wrap="none">
            <a:spAutoFit/>
          </a:bodyPr>
          <a:lstStyle/>
          <a:p>
            <a:pPr algn="ctr"/>
            <a:endParaRPr lang="en-US">
              <a:latin typeface="Arial" charset="0"/>
            </a:endParaRPr>
          </a:p>
          <a:p>
            <a:pPr algn="ctr"/>
            <a:endParaRPr lang="en-US">
              <a:latin typeface="Arial" charset="0"/>
            </a:endParaRPr>
          </a:p>
          <a:p>
            <a:pPr algn="ctr"/>
            <a:endParaRPr lang="en-US">
              <a:latin typeface="Arial" charset="0"/>
            </a:endParaRPr>
          </a:p>
          <a:p>
            <a:pPr algn="ctr"/>
            <a:endParaRPr lang="en-US">
              <a:latin typeface="Arial" charset="0"/>
            </a:endParaRPr>
          </a:p>
        </p:txBody>
      </p:sp>
      <p:sp>
        <p:nvSpPr>
          <p:cNvPr id="3081" name="Rectangle 12"/>
          <p:cNvSpPr>
            <a:spLocks noChangeArrowheads="1"/>
          </p:cNvSpPr>
          <p:nvPr/>
        </p:nvSpPr>
        <p:spPr bwMode="auto">
          <a:xfrm>
            <a:off x="1143000" y="3265438"/>
            <a:ext cx="7315200" cy="2677656"/>
          </a:xfrm>
          <a:prstGeom prst="rect">
            <a:avLst/>
          </a:prstGeom>
          <a:noFill/>
          <a:ln w="9525">
            <a:noFill/>
            <a:miter lim="800000"/>
            <a:headEnd/>
            <a:tailEnd/>
          </a:ln>
        </p:spPr>
        <p:txBody>
          <a:bodyPr wrap="square">
            <a:spAutoFit/>
          </a:bodyPr>
          <a:lstStyle/>
          <a:p>
            <a:r>
              <a:rPr lang="en-US" dirty="0">
                <a:latin typeface="Arial" panose="020B0604020202020204" pitchFamily="34" charset="0"/>
                <a:cs typeface="Arial" panose="020B0604020202020204" pitchFamily="34" charset="0"/>
              </a:rPr>
              <a:t>John Jankowski</a:t>
            </a:r>
          </a:p>
          <a:p>
            <a:r>
              <a:rPr lang="en-US" dirty="0">
                <a:latin typeface="Arial" panose="020B0604020202020204" pitchFamily="34" charset="0"/>
                <a:cs typeface="Arial" panose="020B0604020202020204" pitchFamily="34" charset="0"/>
              </a:rPr>
              <a:t>R&amp;D Statistics Program</a:t>
            </a:r>
          </a:p>
          <a:p>
            <a:r>
              <a:rPr lang="en-US" dirty="0">
                <a:latin typeface="Arial" panose="020B0604020202020204" pitchFamily="34" charset="0"/>
                <a:cs typeface="Arial" panose="020B0604020202020204" pitchFamily="34" charset="0"/>
              </a:rPr>
              <a:t>National Center for Science &amp; Engineering Statistics</a:t>
            </a:r>
          </a:p>
          <a:p>
            <a:r>
              <a:rPr lang="en-US" dirty="0">
                <a:latin typeface="Arial" panose="020B0604020202020204" pitchFamily="34" charset="0"/>
                <a:cs typeface="Arial" panose="020B0604020202020204" pitchFamily="34" charset="0"/>
              </a:rPr>
              <a:t>Social, Behavioral and Economic Sciences</a:t>
            </a:r>
          </a:p>
          <a:p>
            <a:r>
              <a:rPr lang="en-US" dirty="0">
                <a:latin typeface="Arial" panose="020B0604020202020204" pitchFamily="34" charset="0"/>
                <a:cs typeface="Arial" panose="020B0604020202020204" pitchFamily="34" charset="0"/>
              </a:rPr>
              <a:t>National Science Foundation</a:t>
            </a:r>
          </a:p>
          <a:p>
            <a:endParaRPr lang="en-US" dirty="0">
              <a:latin typeface="Arial" panose="020B0604020202020204" pitchFamily="34" charset="0"/>
              <a:cs typeface="Arial" panose="020B0604020202020204" pitchFamily="34" charset="0"/>
            </a:endParaRPr>
          </a:p>
          <a:p>
            <a:endParaRPr lang="en-US" dirty="0"/>
          </a:p>
        </p:txBody>
      </p:sp>
      <p:pic>
        <p:nvPicPr>
          <p:cNvPr id="10" name="Picture 9" descr="nsf2"/>
          <p:cNvPicPr>
            <a:picLocks noChangeAspect="1" noChangeArrowheads="1"/>
          </p:cNvPicPr>
          <p:nvPr/>
        </p:nvPicPr>
        <p:blipFill>
          <a:blip r:embed="rId2" cstate="print"/>
          <a:srcRect/>
          <a:stretch>
            <a:fillRect/>
          </a:stretch>
        </p:blipFill>
        <p:spPr bwMode="auto">
          <a:xfrm>
            <a:off x="76200" y="79375"/>
            <a:ext cx="533400" cy="530225"/>
          </a:xfrm>
          <a:prstGeom prst="rect">
            <a:avLst/>
          </a:prstGeom>
          <a:noFill/>
          <a:ln w="9525">
            <a:noFill/>
            <a:miter lim="800000"/>
            <a:headEnd/>
            <a:tailEnd/>
          </a:ln>
        </p:spPr>
      </p:pic>
      <p:pic>
        <p:nvPicPr>
          <p:cNvPr id="11" name="Picture 10" descr="NCSES_logo_oneline_150.eps"/>
          <p:cNvPicPr>
            <a:picLocks noChangeAspect="1"/>
          </p:cNvPicPr>
          <p:nvPr/>
        </p:nvPicPr>
        <p:blipFill>
          <a:blip r:embed="rId3" cstate="print"/>
          <a:srcRect/>
          <a:stretch>
            <a:fillRect/>
          </a:stretch>
        </p:blipFill>
        <p:spPr bwMode="auto">
          <a:xfrm>
            <a:off x="4114800" y="134938"/>
            <a:ext cx="5029200" cy="474662"/>
          </a:xfrm>
          <a:prstGeom prst="rect">
            <a:avLst/>
          </a:prstGeom>
          <a:noFill/>
          <a:ln w="9525">
            <a:noFill/>
            <a:miter lim="800000"/>
            <a:headEnd/>
            <a:tailEnd/>
          </a:ln>
        </p:spPr>
      </p:pic>
      <p:sp>
        <p:nvSpPr>
          <p:cNvPr id="12" name="Rectangle 5"/>
          <p:cNvSpPr>
            <a:spLocks noChangeArrowheads="1"/>
          </p:cNvSpPr>
          <p:nvPr/>
        </p:nvSpPr>
        <p:spPr bwMode="auto">
          <a:xfrm>
            <a:off x="0" y="685800"/>
            <a:ext cx="9144000" cy="3048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90506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0"/>
            <a:ext cx="8458200" cy="1143000"/>
          </a:xfrm>
        </p:spPr>
        <p:txBody>
          <a:bodyPr/>
          <a:lstStyle/>
          <a:p>
            <a:r>
              <a:rPr lang="en-US" sz="2800" b="1" dirty="0">
                <a:latin typeface="Arial" panose="020B0604020202020204" pitchFamily="34" charset="0"/>
                <a:cs typeface="Arial" panose="020B0604020202020204" pitchFamily="34" charset="0"/>
              </a:rPr>
              <a:t>National Center for Science and Engineering Statistics (NCSES)</a:t>
            </a:r>
          </a:p>
        </p:txBody>
      </p:sp>
      <p:sp>
        <p:nvSpPr>
          <p:cNvPr id="3" name="Content Placeholder 2"/>
          <p:cNvSpPr>
            <a:spLocks noGrp="1"/>
          </p:cNvSpPr>
          <p:nvPr>
            <p:ph idx="1"/>
          </p:nvPr>
        </p:nvSpPr>
        <p:spPr>
          <a:xfrm>
            <a:off x="372034" y="1828800"/>
            <a:ext cx="8314765" cy="3628496"/>
          </a:xfrm>
        </p:spPr>
        <p:txBody>
          <a:bodyPr>
            <a:noAutofit/>
          </a:bodyPr>
          <a:lstStyle/>
          <a:p>
            <a:pPr eaLnBrk="0" hangingPunct="0">
              <a:spcBef>
                <a:spcPct val="50000"/>
              </a:spcBef>
              <a:buFontTx/>
              <a:buChar char="•"/>
            </a:pPr>
            <a:r>
              <a:rPr lang="en-US" sz="1600" dirty="0">
                <a:latin typeface="Arial" panose="020B0604020202020204" pitchFamily="34" charset="0"/>
                <a:cs typeface="Arial" panose="020B0604020202020204" pitchFamily="34" charset="0"/>
              </a:rPr>
              <a:t>NCSES is a Division within the Directorate for Social, Behavioral and Economic Sciences within the National Science Foundation.</a:t>
            </a:r>
          </a:p>
          <a:p>
            <a:pPr eaLnBrk="0" hangingPunct="0">
              <a:spcBef>
                <a:spcPct val="50000"/>
              </a:spcBef>
              <a:buFontTx/>
              <a:buChar char="•"/>
            </a:pPr>
            <a:r>
              <a:rPr lang="en-US" sz="1600" dirty="0">
                <a:latin typeface="Arial" panose="020B0604020202020204" pitchFamily="34" charset="0"/>
                <a:cs typeface="Arial" panose="020B0604020202020204" pitchFamily="34" charset="0"/>
              </a:rPr>
              <a:t>NCSES is one of the 13 Federal Government’s principal statistical agencies.</a:t>
            </a:r>
          </a:p>
          <a:p>
            <a:pPr eaLnBrk="0" hangingPunct="0">
              <a:spcBef>
                <a:spcPct val="50000"/>
              </a:spcBef>
              <a:buFontTx/>
              <a:buChar char="•"/>
            </a:pPr>
            <a:r>
              <a:rPr lang="en-US" sz="1600" dirty="0">
                <a:latin typeface="Arial" panose="020B0604020202020204" pitchFamily="34" charset="0"/>
                <a:cs typeface="Arial" panose="020B0604020202020204" pitchFamily="34" charset="0"/>
              </a:rPr>
              <a:t>Created by Congress in 1950, NSF is an independent federal agency “</a:t>
            </a:r>
            <a:r>
              <a:rPr lang="en-US" sz="1600" i="1" dirty="0">
                <a:latin typeface="Arial" panose="020B0604020202020204" pitchFamily="34" charset="0"/>
                <a:cs typeface="Arial" panose="020B0604020202020204" pitchFamily="34" charset="0"/>
              </a:rPr>
              <a:t>to promote the progress of science; to advance the national health, prosperity, and welfare; to secure the national defense…</a:t>
            </a:r>
            <a:r>
              <a:rPr lang="ja-JP" altLang="en-US" sz="1600" dirty="0">
                <a:latin typeface="Arial" panose="020B0604020202020204" pitchFamily="34" charset="0"/>
                <a:cs typeface="Arial" panose="020B0604020202020204" pitchFamily="34" charset="0"/>
              </a:rPr>
              <a:t>”</a:t>
            </a:r>
            <a:endParaRPr lang="en-US" altLang="ja-JP" sz="1600" dirty="0">
              <a:latin typeface="Arial" panose="020B0604020202020204" pitchFamily="34" charset="0"/>
              <a:cs typeface="Arial" panose="020B0604020202020204" pitchFamily="34" charset="0"/>
            </a:endParaRPr>
          </a:p>
          <a:p>
            <a:pPr lvl="1" eaLnBrk="0" hangingPunct="0">
              <a:spcBef>
                <a:spcPts val="0"/>
              </a:spcBef>
              <a:buFontTx/>
              <a:buChar char="•"/>
            </a:pPr>
            <a:r>
              <a:rPr lang="en-US" altLang="ja-JP" sz="1600" dirty="0">
                <a:latin typeface="Arial" panose="020B0604020202020204" pitchFamily="34" charset="0"/>
                <a:cs typeface="Arial" panose="020B0604020202020204" pitchFamily="34" charset="0"/>
              </a:rPr>
              <a:t>NSF is mandated</a:t>
            </a:r>
            <a:r>
              <a:rPr lang="ja-JP" altLang="en-US" sz="1600" i="1" dirty="0">
                <a:latin typeface="Arial" panose="020B0604020202020204" pitchFamily="34" charset="0"/>
                <a:cs typeface="Arial" panose="020B0604020202020204" pitchFamily="34" charset="0"/>
              </a:rPr>
              <a:t>“</a:t>
            </a:r>
            <a:r>
              <a:rPr lang="en-US" sz="1600" i="1" dirty="0">
                <a:latin typeface="Arial" panose="020B0604020202020204" pitchFamily="34" charset="0"/>
                <a:cs typeface="Arial" panose="020B0604020202020204" pitchFamily="34" charset="0"/>
              </a:rPr>
              <a:t>...to provide a central clearinghouse for the collection, interpretation, and analysis of data on scientific and engineering resources and to provide a source of  information for policy formulation by other agencies of the Federal Government…</a:t>
            </a:r>
            <a:r>
              <a:rPr lang="ja-JP" altLang="en-US" sz="1600" i="1"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p>
            <a:pPr lvl="1" eaLnBrk="0" hangingPunct="0">
              <a:spcBef>
                <a:spcPts val="0"/>
              </a:spcBef>
              <a:buFontTx/>
              <a:buChar char="•"/>
            </a:pPr>
            <a:r>
              <a:rPr lang="en-US" sz="1600" dirty="0">
                <a:latin typeface="Arial" panose="020B0604020202020204" pitchFamily="34" charset="0"/>
                <a:cs typeface="Arial" panose="020B0604020202020204" pitchFamily="34" charset="0"/>
              </a:rPr>
              <a:t>This mandate has been fulfilled by NCSES and predecessor agencies.</a:t>
            </a:r>
          </a:p>
          <a:p>
            <a:r>
              <a:rPr lang="en-US" sz="1600" dirty="0">
                <a:latin typeface="Arial" panose="020B0604020202020204" pitchFamily="34" charset="0"/>
                <a:cs typeface="Arial" panose="020B0604020202020204" pitchFamily="34" charset="0"/>
              </a:rPr>
              <a:t>The NCSES role was further codified in the America Competes Reauthorization Act of 2010 </a:t>
            </a:r>
            <a:r>
              <a:rPr lang="en-US" altLang="en-US" sz="1600" dirty="0">
                <a:latin typeface="Arial" panose="020B0604020202020204" pitchFamily="34" charset="0"/>
                <a:cs typeface="Arial" panose="020B0604020202020204" pitchFamily="34" charset="0"/>
              </a:rPr>
              <a:t>(Public law 111-358, </a:t>
            </a:r>
            <a:r>
              <a:rPr lang="en-US" sz="1600" dirty="0">
                <a:latin typeface="Arial" panose="020B0604020202020204" pitchFamily="34" charset="0"/>
                <a:cs typeface="Arial" panose="020B0604020202020204" pitchFamily="34" charset="0"/>
              </a:rPr>
              <a:t>December 6, 2010), which “created” NCSES. The law instructs NCSES to collect, acquire, analyze, report, and disseminate statistical data related to the S&amp;E enterprise in the United States and other nations on (A) R&amp;D trends; (B) the S&amp;E workforce; (C) US competitiveness in science, engineering, technology, and R&amp;D; and (D) the condition and progress of STEM education.</a:t>
            </a:r>
          </a:p>
        </p:txBody>
      </p:sp>
      <p:sp>
        <p:nvSpPr>
          <p:cNvPr id="4" name="Rectangle 4"/>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pic>
        <p:nvPicPr>
          <p:cNvPr id="5" name="Picture 8" descr="nsf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 name="Picture 10" descr="NCSES_logo_oneline_150.eps"/>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Slide Number Placeholder 7"/>
          <p:cNvSpPr>
            <a:spLocks noGrp="1"/>
          </p:cNvSpPr>
          <p:nvPr>
            <p:ph type="sldNum" sz="quarter" idx="12"/>
          </p:nvPr>
        </p:nvSpPr>
        <p:spPr/>
        <p:txBody>
          <a:bodyPr/>
          <a:lstStyle/>
          <a:p>
            <a:fld id="{CF23767F-6E32-4FC2-9154-82A7B294267E}" type="slidenum">
              <a:rPr lang="en-US" smtClean="0"/>
              <a:t>1</a:t>
            </a:fld>
            <a:endParaRPr lang="en-US"/>
          </a:p>
        </p:txBody>
      </p:sp>
    </p:spTree>
    <p:extLst>
      <p:ext uri="{BB962C8B-B14F-4D97-AF65-F5344CB8AC3E}">
        <p14:creationId xmlns:p14="http://schemas.microsoft.com/office/powerpoint/2010/main" val="3852398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1026"/>
          <p:cNvSpPr>
            <a:spLocks noGrp="1" noChangeArrowheads="1"/>
          </p:cNvSpPr>
          <p:nvPr>
            <p:ph type="title"/>
          </p:nvPr>
        </p:nvSpPr>
        <p:spPr>
          <a:xfrm>
            <a:off x="381000" y="685800"/>
            <a:ext cx="7772400" cy="762000"/>
          </a:xfrm>
          <a:noFill/>
        </p:spPr>
        <p:txBody>
          <a:bodyPr>
            <a:normAutofit fontScale="90000"/>
          </a:bodyPr>
          <a:lstStyle/>
          <a:p>
            <a:pPr algn="l"/>
            <a:br>
              <a:rPr lang="en-US" sz="3600" b="1" dirty="0">
                <a:latin typeface="Arial" charset="0"/>
              </a:rPr>
            </a:br>
            <a:endParaRPr lang="en-US" sz="3600" b="1" dirty="0">
              <a:latin typeface="Arial" charset="0"/>
            </a:endParaRPr>
          </a:p>
        </p:txBody>
      </p:sp>
      <p:sp>
        <p:nvSpPr>
          <p:cNvPr id="9" name="Slide Number Placeholder 1"/>
          <p:cNvSpPr>
            <a:spLocks noGrp="1"/>
          </p:cNvSpPr>
          <p:nvPr>
            <p:ph type="sldNum" sz="quarter" idx="12"/>
          </p:nvPr>
        </p:nvSpPr>
        <p:spPr>
          <a:xfrm>
            <a:off x="6953251" y="6382508"/>
            <a:ext cx="2133600" cy="365125"/>
          </a:xfrm>
        </p:spPr>
        <p:txBody>
          <a:bodyPr/>
          <a:lstStyle/>
          <a:p>
            <a:fld id="{F6B8350E-DAEA-4E47-AAB9-1258AB6A15D1}" type="slidenum">
              <a:rPr lang="en-US" smtClean="0">
                <a:solidFill>
                  <a:prstClr val="black">
                    <a:tint val="75000"/>
                  </a:prstClr>
                </a:solidFill>
              </a:rPr>
              <a:pPr/>
              <a:t>2</a:t>
            </a:fld>
            <a:endParaRPr lang="en-US" dirty="0">
              <a:solidFill>
                <a:prstClr val="black">
                  <a:tint val="75000"/>
                </a:prstClr>
              </a:solidFill>
            </a:endParaRPr>
          </a:p>
        </p:txBody>
      </p:sp>
      <p:sp>
        <p:nvSpPr>
          <p:cNvPr id="147460" name="Rectangle 1028"/>
          <p:cNvSpPr>
            <a:spLocks noChangeArrowheads="1"/>
          </p:cNvSpPr>
          <p:nvPr/>
        </p:nvSpPr>
        <p:spPr bwMode="auto">
          <a:xfrm>
            <a:off x="0" y="685800"/>
            <a:ext cx="9144000" cy="76200"/>
          </a:xfrm>
          <a:prstGeom prst="rect">
            <a:avLst/>
          </a:prstGeom>
          <a:gradFill rotWithShape="0">
            <a:gsLst>
              <a:gs pos="0">
                <a:srgbClr val="000099">
                  <a:gamma/>
                  <a:shade val="20000"/>
                  <a:invGamma/>
                </a:srgbClr>
              </a:gs>
              <a:gs pos="100000">
                <a:srgbClr val="000099"/>
              </a:gs>
            </a:gsLst>
            <a:lin ang="0" scaled="1"/>
          </a:gradFill>
          <a:ln w="3175">
            <a:solidFill>
              <a:schemeClr val="tx1"/>
            </a:solidFill>
            <a:miter lim="800000"/>
            <a:headEnd/>
            <a:tailEnd/>
          </a:ln>
          <a:effectLst/>
        </p:spPr>
        <p:txBody>
          <a:bodyPr wrap="none" anchor="ctr"/>
          <a:lstStyle/>
          <a:p>
            <a:pPr fontAlgn="auto">
              <a:spcBef>
                <a:spcPts val="0"/>
              </a:spcBef>
              <a:spcAft>
                <a:spcPts val="0"/>
              </a:spcAft>
            </a:pPr>
            <a:endParaRPr lang="en-US" sz="1800" dirty="0">
              <a:solidFill>
                <a:prstClr val="black"/>
              </a:solidFill>
              <a:latin typeface="Calibri" panose="020F0502020204030204"/>
            </a:endParaRPr>
          </a:p>
        </p:txBody>
      </p:sp>
      <p:sp>
        <p:nvSpPr>
          <p:cNvPr id="147464" name="Rectangle 1032"/>
          <p:cNvSpPr>
            <a:spLocks noChangeArrowheads="1"/>
          </p:cNvSpPr>
          <p:nvPr/>
        </p:nvSpPr>
        <p:spPr bwMode="auto">
          <a:xfrm>
            <a:off x="228600" y="869718"/>
            <a:ext cx="8915400" cy="533400"/>
          </a:xfrm>
          <a:prstGeom prst="rect">
            <a:avLst/>
          </a:prstGeom>
          <a:noFill/>
          <a:ln w="9525">
            <a:noFill/>
            <a:miter lim="800000"/>
            <a:headEnd/>
            <a:tailEnd/>
          </a:ln>
          <a:effectLst/>
        </p:spPr>
        <p:txBody>
          <a:bodyPr anchor="ctr"/>
          <a:lstStyle/>
          <a:p>
            <a:pPr fontAlgn="auto">
              <a:spcBef>
                <a:spcPts val="0"/>
              </a:spcBef>
              <a:spcAft>
                <a:spcPts val="0"/>
              </a:spcAft>
            </a:pPr>
            <a:r>
              <a:rPr lang="en-US" sz="3200" b="1" dirty="0">
                <a:solidFill>
                  <a:schemeClr val="tx2"/>
                </a:solidFill>
                <a:latin typeface="Arial" panose="020B0604020202020204" pitchFamily="34" charset="0"/>
                <a:ea typeface="+mj-ea"/>
                <a:cs typeface="+mj-cs"/>
              </a:rPr>
              <a:t>Organizational Placement of NCSES</a:t>
            </a:r>
          </a:p>
        </p:txBody>
      </p:sp>
      <p:pic>
        <p:nvPicPr>
          <p:cNvPr id="10" name="Picture 8" descr="nsf2"/>
          <p:cNvPicPr>
            <a:picLocks noChangeAspect="1" noChangeArrowheads="1"/>
          </p:cNvPicPr>
          <p:nvPr/>
        </p:nvPicPr>
        <p:blipFill>
          <a:blip r:embed="rId3" cstate="print"/>
          <a:srcRect/>
          <a:stretch>
            <a:fillRect/>
          </a:stretch>
        </p:blipFill>
        <p:spPr bwMode="auto">
          <a:xfrm>
            <a:off x="76200" y="79378"/>
            <a:ext cx="533400" cy="530225"/>
          </a:xfrm>
          <a:prstGeom prst="rect">
            <a:avLst/>
          </a:prstGeom>
          <a:noFill/>
          <a:ln w="9525">
            <a:noFill/>
            <a:miter lim="800000"/>
            <a:headEnd/>
            <a:tailEnd/>
          </a:ln>
        </p:spPr>
      </p:pic>
      <p:pic>
        <p:nvPicPr>
          <p:cNvPr id="13" name="Picture 8" descr="M:\Pubs\Pubs\IB redesign\logo files\NCSES-logos_png-jpg\NCSES_logo_oneline.jpg"/>
          <p:cNvPicPr>
            <a:picLocks noChangeAspect="1" noChangeArrowheads="1"/>
          </p:cNvPicPr>
          <p:nvPr/>
        </p:nvPicPr>
        <p:blipFill>
          <a:blip r:embed="rId4" cstate="print"/>
          <a:srcRect/>
          <a:stretch>
            <a:fillRect/>
          </a:stretch>
        </p:blipFill>
        <p:spPr bwMode="auto">
          <a:xfrm>
            <a:off x="5124451" y="161928"/>
            <a:ext cx="4019551" cy="371475"/>
          </a:xfrm>
          <a:prstGeom prst="rect">
            <a:avLst/>
          </a:prstGeom>
          <a:noFill/>
          <a:ln w="9525">
            <a:noFill/>
            <a:miter lim="800000"/>
            <a:headEnd/>
            <a:tailEnd/>
          </a:ln>
        </p:spPr>
      </p:pic>
      <p:graphicFrame>
        <p:nvGraphicFramePr>
          <p:cNvPr id="11" name="Diagram 10"/>
          <p:cNvGraphicFramePr/>
          <p:nvPr/>
        </p:nvGraphicFramePr>
        <p:xfrm>
          <a:off x="609600" y="1600197"/>
          <a:ext cx="8001000" cy="407246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 name="Rectangle 1">
            <a:extLst>
              <a:ext uri="{FF2B5EF4-FFF2-40B4-BE49-F238E27FC236}">
                <a16:creationId xmlns:a16="http://schemas.microsoft.com/office/drawing/2014/main" id="{CB8127D7-44A1-4F64-B865-9B894EF06F59}"/>
              </a:ext>
            </a:extLst>
          </p:cNvPr>
          <p:cNvSpPr/>
          <p:nvPr/>
        </p:nvSpPr>
        <p:spPr>
          <a:xfrm>
            <a:off x="557894" y="5531787"/>
            <a:ext cx="8052706" cy="1126462"/>
          </a:xfrm>
          <a:prstGeom prst="rect">
            <a:avLst/>
          </a:prstGeom>
        </p:spPr>
        <p:txBody>
          <a:bodyPr wrap="square">
            <a:spAutoFit/>
          </a:bodyPr>
          <a:lstStyle/>
          <a:p>
            <a:pPr eaLnBrk="0" hangingPunct="0">
              <a:lnSpc>
                <a:spcPct val="120000"/>
              </a:lnSpc>
              <a:spcBef>
                <a:spcPct val="20000"/>
              </a:spcBef>
              <a:defRPr/>
            </a:pPr>
            <a:r>
              <a:rPr lang="en-US" sz="1400" kern="0" dirty="0">
                <a:latin typeface="Arial" pitchFamily="34" charset="0"/>
                <a:cs typeface="Arial" pitchFamily="34" charset="0"/>
              </a:rPr>
              <a:t>As per the </a:t>
            </a:r>
            <a:r>
              <a:rPr lang="en-US" sz="1400" b="1" kern="0" dirty="0">
                <a:latin typeface="Arial" pitchFamily="34" charset="0"/>
                <a:cs typeface="Arial" pitchFamily="34" charset="0"/>
              </a:rPr>
              <a:t>2010 America COMPETES Act</a:t>
            </a:r>
            <a:r>
              <a:rPr lang="en-US" sz="1400" kern="0" dirty="0">
                <a:latin typeface="Arial" pitchFamily="34" charset="0"/>
                <a:cs typeface="Arial" pitchFamily="34" charset="0"/>
              </a:rPr>
              <a:t> and the </a:t>
            </a:r>
            <a:r>
              <a:rPr lang="en-US" sz="1400" b="1" kern="0" dirty="0">
                <a:latin typeface="Arial" pitchFamily="34" charset="0"/>
                <a:cs typeface="Arial" pitchFamily="34" charset="0"/>
              </a:rPr>
              <a:t>1950 NSF Authorization Legislation</a:t>
            </a:r>
            <a:r>
              <a:rPr lang="en-US" sz="1400" kern="0" dirty="0">
                <a:latin typeface="Arial" pitchFamily="34" charset="0"/>
                <a:cs typeface="Arial" pitchFamily="34" charset="0"/>
              </a:rPr>
              <a:t>, NCSES (one of the 13 principal statistical agencies) is the Federal Government’s central clearinghouse for the collection, interpretation, analysis, and dissemination of objective data on science, engineering, technology (SET), and research and development (R&amp;D).</a:t>
            </a:r>
          </a:p>
        </p:txBody>
      </p:sp>
    </p:spTree>
    <p:extLst>
      <p:ext uri="{BB962C8B-B14F-4D97-AF65-F5344CB8AC3E}">
        <p14:creationId xmlns:p14="http://schemas.microsoft.com/office/powerpoint/2010/main" val="1221948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idx="4294967295"/>
          </p:nvPr>
        </p:nvSpPr>
        <p:spPr>
          <a:xfrm>
            <a:off x="685800" y="773070"/>
            <a:ext cx="7772400" cy="685800"/>
          </a:xfrm>
        </p:spPr>
        <p:txBody>
          <a:bodyPr/>
          <a:lstStyle/>
          <a:p>
            <a:pPr eaLnBrk="1" hangingPunct="1"/>
            <a:r>
              <a:rPr lang="en-US" altLang="en-US" sz="3600" b="1" dirty="0">
                <a:solidFill>
                  <a:schemeClr val="tx1"/>
                </a:solidFill>
                <a:latin typeface="Arial" charset="0"/>
              </a:rPr>
              <a:t>NCSES Structure</a:t>
            </a:r>
          </a:p>
        </p:txBody>
      </p:sp>
      <p:sp>
        <p:nvSpPr>
          <p:cNvPr id="4101" name="Rectangle 4"/>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dirty="0"/>
          </a:p>
        </p:txBody>
      </p:sp>
      <p:pic>
        <p:nvPicPr>
          <p:cNvPr id="4102" name="Picture 8" descr="nsf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3" name="Picture 10" descr="NCSES_logo_oneline_150.eps"/>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Diagram 1">
            <a:extLst>
              <a:ext uri="{FF2B5EF4-FFF2-40B4-BE49-F238E27FC236}">
                <a16:creationId xmlns:a16="http://schemas.microsoft.com/office/drawing/2014/main" id="{1D2665A1-058D-4C4A-AB18-E03EAF8037C9}"/>
              </a:ext>
            </a:extLst>
          </p:cNvPr>
          <p:cNvGraphicFramePr/>
          <p:nvPr>
            <p:extLst>
              <p:ext uri="{D42A27DB-BD31-4B8C-83A1-F6EECF244321}">
                <p14:modId xmlns:p14="http://schemas.microsoft.com/office/powerpoint/2010/main" val="3869995700"/>
              </p:ext>
            </p:extLst>
          </p:nvPr>
        </p:nvGraphicFramePr>
        <p:xfrm>
          <a:off x="1219200" y="1458870"/>
          <a:ext cx="8724900" cy="44196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cxnSp>
        <p:nvCxnSpPr>
          <p:cNvPr id="4" name="Straight Connector 3">
            <a:extLst>
              <a:ext uri="{FF2B5EF4-FFF2-40B4-BE49-F238E27FC236}">
                <a16:creationId xmlns:a16="http://schemas.microsoft.com/office/drawing/2014/main" id="{F55FD6D0-D7B0-429C-BC05-45C8C6199896}"/>
              </a:ext>
            </a:extLst>
          </p:cNvPr>
          <p:cNvCxnSpPr/>
          <p:nvPr/>
        </p:nvCxnSpPr>
        <p:spPr>
          <a:xfrm>
            <a:off x="4343400" y="3886200"/>
            <a:ext cx="457200" cy="0"/>
          </a:xfrm>
          <a:prstGeom prst="line">
            <a:avLst/>
          </a:prstGeom>
          <a:noFill/>
          <a:ln w="25400" cap="flat" cmpd="sng" algn="ctr">
            <a:solidFill>
              <a:srgbClr val="000000"/>
            </a:solidFill>
            <a:prstDash val="solid"/>
          </a:ln>
          <a:effectLst/>
        </p:spPr>
      </p:cxnSp>
      <p:cxnSp>
        <p:nvCxnSpPr>
          <p:cNvPr id="6" name="Straight Connector 5">
            <a:extLst>
              <a:ext uri="{FF2B5EF4-FFF2-40B4-BE49-F238E27FC236}">
                <a16:creationId xmlns:a16="http://schemas.microsoft.com/office/drawing/2014/main" id="{764772D7-BC2A-45DA-82D9-94A09FFD249D}"/>
              </a:ext>
            </a:extLst>
          </p:cNvPr>
          <p:cNvCxnSpPr/>
          <p:nvPr/>
        </p:nvCxnSpPr>
        <p:spPr>
          <a:xfrm>
            <a:off x="6248400" y="4572000"/>
            <a:ext cx="1447800" cy="0"/>
          </a:xfrm>
          <a:prstGeom prst="line">
            <a:avLst/>
          </a:prstGeom>
          <a:noFill/>
          <a:ln w="25400" cap="flat" cmpd="sng" algn="ctr">
            <a:solidFill>
              <a:srgbClr val="000000"/>
            </a:solidFill>
            <a:prstDash val="solid"/>
          </a:ln>
          <a:effectLst/>
        </p:spPr>
      </p:cxnSp>
      <p:cxnSp>
        <p:nvCxnSpPr>
          <p:cNvPr id="8" name="Straight Connector 7">
            <a:extLst>
              <a:ext uri="{FF2B5EF4-FFF2-40B4-BE49-F238E27FC236}">
                <a16:creationId xmlns:a16="http://schemas.microsoft.com/office/drawing/2014/main" id="{8C2E3637-5411-4994-8A84-46DDF650DC34}"/>
              </a:ext>
            </a:extLst>
          </p:cNvPr>
          <p:cNvCxnSpPr/>
          <p:nvPr/>
        </p:nvCxnSpPr>
        <p:spPr>
          <a:xfrm>
            <a:off x="7696200" y="4572000"/>
            <a:ext cx="0" cy="152400"/>
          </a:xfrm>
          <a:prstGeom prst="line">
            <a:avLst/>
          </a:prstGeom>
          <a:noFill/>
          <a:ln w="25400" cap="flat" cmpd="sng" algn="ctr">
            <a:solidFill>
              <a:srgbClr val="000000"/>
            </a:solidFill>
            <a:prstDash val="solid"/>
          </a:ln>
          <a:effectLst/>
        </p:spPr>
      </p:cxnSp>
    </p:spTree>
    <p:extLst>
      <p:ext uri="{BB962C8B-B14F-4D97-AF65-F5344CB8AC3E}">
        <p14:creationId xmlns:p14="http://schemas.microsoft.com/office/powerpoint/2010/main" val="305931312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1026" descr="nsf logo transparen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76200"/>
            <a:ext cx="533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Rectangle 1027"/>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9220" name="Text Box 1028"/>
          <p:cNvSpPr txBox="1">
            <a:spLocks noChangeArrowheads="1"/>
          </p:cNvSpPr>
          <p:nvPr/>
        </p:nvSpPr>
        <p:spPr bwMode="auto">
          <a:xfrm>
            <a:off x="6365875" y="60325"/>
            <a:ext cx="262572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500">
                <a:solidFill>
                  <a:srgbClr val="000099"/>
                </a:solidFill>
                <a:latin typeface="Arial" panose="020B0604020202020204" pitchFamily="34" charset="0"/>
              </a:rPr>
              <a:t>National Science Foundation</a:t>
            </a:r>
            <a:endParaRPr lang="en-US" altLang="en-US" sz="1500">
              <a:solidFill>
                <a:srgbClr val="000099"/>
              </a:solidFill>
            </a:endParaRPr>
          </a:p>
        </p:txBody>
      </p:sp>
      <p:sp>
        <p:nvSpPr>
          <p:cNvPr id="9221" name="Text Box 1029"/>
          <p:cNvSpPr txBox="1">
            <a:spLocks noChangeArrowheads="1"/>
          </p:cNvSpPr>
          <p:nvPr/>
        </p:nvSpPr>
        <p:spPr bwMode="auto">
          <a:xfrm>
            <a:off x="5197475" y="304800"/>
            <a:ext cx="3794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a:latin typeface="Arial" panose="020B0604020202020204" pitchFamily="34" charset="0"/>
              </a:rPr>
              <a:t>Division of Science Resources Statistics</a:t>
            </a:r>
            <a:endParaRPr lang="en-US" altLang="en-US" sz="1600"/>
          </a:p>
        </p:txBody>
      </p:sp>
      <p:pic>
        <p:nvPicPr>
          <p:cNvPr id="9222" name="Picture 8" descr="nsf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Picture 10" descr="NCSES_logo_oneline_150.eps"/>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2"/>
          <p:cNvSpPr txBox="1">
            <a:spLocks noChangeArrowheads="1"/>
          </p:cNvSpPr>
          <p:nvPr/>
        </p:nvSpPr>
        <p:spPr>
          <a:xfrm>
            <a:off x="762000" y="990600"/>
            <a:ext cx="7772400" cy="685800"/>
          </a:xfrm>
          <a:prstGeom prst="rect">
            <a:avLst/>
          </a:prstGeom>
        </p:spPr>
        <p:txBody>
          <a:bodyPr/>
          <a:lstStyle/>
          <a:p>
            <a:pPr algn="ctr" eaLnBrk="1" hangingPunct="1">
              <a:defRPr/>
            </a:pPr>
            <a:r>
              <a:rPr lang="en-US" sz="2800" b="1" kern="0" dirty="0">
                <a:latin typeface="Arial" pitchFamily="34" charset="0"/>
                <a:ea typeface="+mj-ea"/>
                <a:cs typeface="Arial" pitchFamily="34" charset="0"/>
              </a:rPr>
              <a:t>NCSES Surveys</a:t>
            </a:r>
          </a:p>
        </p:txBody>
      </p:sp>
      <p:sp>
        <p:nvSpPr>
          <p:cNvPr id="16" name="Rectangle 15"/>
          <p:cNvSpPr/>
          <p:nvPr/>
        </p:nvSpPr>
        <p:spPr>
          <a:xfrm>
            <a:off x="4953000" y="2286000"/>
            <a:ext cx="4191000" cy="259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endParaRPr lang="en-US" u="sng" dirty="0">
              <a:solidFill>
                <a:schemeClr val="tx1"/>
              </a:solidFill>
              <a:latin typeface="Arial" pitchFamily="34" charset="0"/>
              <a:cs typeface="Arial" pitchFamily="34" charset="0"/>
            </a:endParaRPr>
          </a:p>
          <a:p>
            <a:pPr eaLnBrk="1" hangingPunct="1">
              <a:defRPr/>
            </a:pPr>
            <a:r>
              <a:rPr lang="en-US" u="sng" dirty="0">
                <a:solidFill>
                  <a:schemeClr val="tx1"/>
                </a:solidFill>
                <a:latin typeface="Arial" pitchFamily="34" charset="0"/>
                <a:cs typeface="Arial" pitchFamily="34" charset="0"/>
              </a:rPr>
              <a:t>Education and Workforce</a:t>
            </a:r>
          </a:p>
          <a:p>
            <a:pPr eaLnBrk="1" hangingPunct="1">
              <a:defRPr/>
            </a:pPr>
            <a:endParaRPr lang="en-US" u="sng" dirty="0">
              <a:solidFill>
                <a:schemeClr val="tx1"/>
              </a:solidFill>
              <a:latin typeface="Arial" pitchFamily="34" charset="0"/>
              <a:cs typeface="Arial" pitchFamily="34" charset="0"/>
            </a:endParaRPr>
          </a:p>
          <a:p>
            <a:pPr eaLnBrk="1" hangingPunct="1">
              <a:defRPr/>
            </a:pPr>
            <a:endParaRPr lang="en-US" u="sng" dirty="0">
              <a:solidFill>
                <a:schemeClr val="tx1"/>
              </a:solidFill>
              <a:latin typeface="Arial" pitchFamily="34" charset="0"/>
              <a:cs typeface="Arial" pitchFamily="34" charset="0"/>
            </a:endParaRPr>
          </a:p>
          <a:p>
            <a:pPr marL="115888" indent="-115888" eaLnBrk="1" hangingPunct="1">
              <a:spcBef>
                <a:spcPts val="600"/>
              </a:spcBef>
              <a:buFont typeface="Arial" pitchFamily="34" charset="0"/>
              <a:buChar char="•"/>
              <a:defRPr/>
            </a:pPr>
            <a:r>
              <a:rPr lang="en-US" sz="1600" dirty="0">
                <a:solidFill>
                  <a:schemeClr val="tx1"/>
                </a:solidFill>
                <a:latin typeface="Arial" pitchFamily="34" charset="0"/>
                <a:cs typeface="Arial" pitchFamily="34" charset="0"/>
              </a:rPr>
              <a:t>Graduate Students and Post doctorates in Science and Engineering (GSS)</a:t>
            </a:r>
          </a:p>
          <a:p>
            <a:pPr marL="115888" indent="-115888">
              <a:spcBef>
                <a:spcPts val="600"/>
              </a:spcBef>
              <a:buFont typeface="Arial" pitchFamily="34" charset="0"/>
              <a:buChar char="•"/>
              <a:defRPr/>
            </a:pPr>
            <a:r>
              <a:rPr lang="en-US" sz="1600" dirty="0">
                <a:solidFill>
                  <a:schemeClr val="tx1"/>
                </a:solidFill>
                <a:latin typeface="Arial" pitchFamily="34" charset="0"/>
                <a:cs typeface="Arial" pitchFamily="34" charset="0"/>
              </a:rPr>
              <a:t>Survey of Earned Doctorates (SED)</a:t>
            </a:r>
          </a:p>
          <a:p>
            <a:pPr marL="115888" indent="-115888" eaLnBrk="1" hangingPunct="1">
              <a:spcBef>
                <a:spcPts val="600"/>
              </a:spcBef>
              <a:buFont typeface="Arial" pitchFamily="34" charset="0"/>
              <a:buChar char="•"/>
              <a:defRPr/>
            </a:pPr>
            <a:r>
              <a:rPr lang="en-US" sz="1600" dirty="0">
                <a:solidFill>
                  <a:schemeClr val="tx1"/>
                </a:solidFill>
                <a:latin typeface="Arial" pitchFamily="34" charset="0"/>
                <a:cs typeface="Arial" pitchFamily="34" charset="0"/>
              </a:rPr>
              <a:t>Early Career Doctorates Project (ECD)</a:t>
            </a:r>
          </a:p>
          <a:p>
            <a:pPr marL="115888" indent="-115888" eaLnBrk="1" hangingPunct="1">
              <a:spcBef>
                <a:spcPts val="600"/>
              </a:spcBef>
              <a:buFont typeface="Arial" pitchFamily="34" charset="0"/>
              <a:buChar char="•"/>
              <a:defRPr/>
            </a:pPr>
            <a:r>
              <a:rPr lang="en-US" sz="1600" dirty="0">
                <a:solidFill>
                  <a:schemeClr val="tx1"/>
                </a:solidFill>
                <a:latin typeface="Arial" pitchFamily="34" charset="0"/>
                <a:cs typeface="Arial" pitchFamily="34" charset="0"/>
              </a:rPr>
              <a:t>Survey of Doctorate Recipients (SDR)</a:t>
            </a:r>
          </a:p>
          <a:p>
            <a:pPr marL="573088" lvl="1" indent="-115888" eaLnBrk="1" hangingPunct="1">
              <a:spcBef>
                <a:spcPts val="600"/>
              </a:spcBef>
              <a:buFont typeface="Arial" pitchFamily="34" charset="0"/>
              <a:buChar char="•"/>
              <a:defRPr/>
            </a:pPr>
            <a:r>
              <a:rPr lang="en-US" sz="1600" dirty="0">
                <a:solidFill>
                  <a:schemeClr val="tx1"/>
                </a:solidFill>
                <a:latin typeface="Arial" pitchFamily="34" charset="0"/>
                <a:cs typeface="Arial" pitchFamily="34" charset="0"/>
              </a:rPr>
              <a:t> International SDR</a:t>
            </a:r>
          </a:p>
          <a:p>
            <a:pPr marL="115888" indent="-115888" eaLnBrk="1" hangingPunct="1">
              <a:spcBef>
                <a:spcPts val="600"/>
              </a:spcBef>
              <a:buFont typeface="Arial" pitchFamily="34" charset="0"/>
              <a:buChar char="•"/>
              <a:defRPr/>
            </a:pPr>
            <a:r>
              <a:rPr lang="en-US" sz="1600" dirty="0">
                <a:solidFill>
                  <a:schemeClr val="tx1"/>
                </a:solidFill>
                <a:latin typeface="Arial" pitchFamily="34" charset="0"/>
                <a:cs typeface="Arial" pitchFamily="34" charset="0"/>
              </a:rPr>
              <a:t>National Survey of College Graduates (NSCG)</a:t>
            </a:r>
          </a:p>
          <a:p>
            <a:pPr marL="115888" indent="-115888" eaLnBrk="1" hangingPunct="1">
              <a:spcBef>
                <a:spcPts val="600"/>
              </a:spcBef>
              <a:buFont typeface="Arial" pitchFamily="34" charset="0"/>
              <a:buChar char="•"/>
              <a:defRPr/>
            </a:pPr>
            <a:r>
              <a:rPr lang="en-US" sz="1600" dirty="0">
                <a:solidFill>
                  <a:schemeClr val="tx1"/>
                </a:solidFill>
                <a:latin typeface="Arial" pitchFamily="34" charset="0"/>
                <a:cs typeface="Arial" pitchFamily="34" charset="0"/>
              </a:rPr>
              <a:t>Survey of Postdocs at FFRDCs</a:t>
            </a:r>
          </a:p>
          <a:p>
            <a:pPr marL="115888" indent="-115888" eaLnBrk="1" hangingPunct="1">
              <a:spcBef>
                <a:spcPts val="600"/>
              </a:spcBef>
              <a:buFont typeface="Arial" pitchFamily="34" charset="0"/>
              <a:buChar char="•"/>
              <a:defRPr/>
            </a:pPr>
            <a:r>
              <a:rPr lang="en-US" sz="1600" dirty="0">
                <a:solidFill>
                  <a:schemeClr val="tx1"/>
                </a:solidFill>
                <a:latin typeface="Arial" pitchFamily="34" charset="0"/>
                <a:cs typeface="Arial" pitchFamily="34" charset="0"/>
              </a:rPr>
              <a:t>Skilled Technical Workforce [planned]</a:t>
            </a:r>
          </a:p>
        </p:txBody>
      </p:sp>
      <p:sp>
        <p:nvSpPr>
          <p:cNvPr id="19" name="Rectangle 18"/>
          <p:cNvSpPr/>
          <p:nvPr/>
        </p:nvSpPr>
        <p:spPr>
          <a:xfrm>
            <a:off x="273756" y="2057400"/>
            <a:ext cx="4648200" cy="403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en-US" u="sng" dirty="0">
                <a:solidFill>
                  <a:schemeClr val="tx1"/>
                </a:solidFill>
                <a:latin typeface="Arial" pitchFamily="34" charset="0"/>
                <a:cs typeface="Arial" pitchFamily="34" charset="0"/>
              </a:rPr>
              <a:t>R&amp;D and Innovation</a:t>
            </a:r>
          </a:p>
          <a:p>
            <a:pPr marL="115888" indent="-115888" eaLnBrk="1" hangingPunct="1">
              <a:spcBef>
                <a:spcPts val="600"/>
              </a:spcBef>
              <a:buFont typeface="Arial" pitchFamily="34" charset="0"/>
              <a:buChar char="•"/>
              <a:defRPr/>
            </a:pPr>
            <a:r>
              <a:rPr lang="en-US" sz="1600" dirty="0">
                <a:solidFill>
                  <a:schemeClr val="tx1"/>
                </a:solidFill>
                <a:latin typeface="Arial" pitchFamily="34" charset="0"/>
                <a:cs typeface="Arial" pitchFamily="34" charset="0"/>
              </a:rPr>
              <a:t>Business R&amp;D </a:t>
            </a:r>
            <a:r>
              <a:rPr lang="en-US" sz="1600" strike="sngStrike" dirty="0">
                <a:solidFill>
                  <a:srgbClr val="FF0000"/>
                </a:solidFill>
                <a:latin typeface="Arial" pitchFamily="34" charset="0"/>
                <a:cs typeface="Arial" pitchFamily="34" charset="0"/>
              </a:rPr>
              <a:t>and Innovation </a:t>
            </a:r>
            <a:r>
              <a:rPr lang="en-US" sz="1600" dirty="0">
                <a:solidFill>
                  <a:schemeClr val="tx1"/>
                </a:solidFill>
                <a:latin typeface="Arial" pitchFamily="34" charset="0"/>
                <a:cs typeface="Arial" pitchFamily="34" charset="0"/>
              </a:rPr>
              <a:t>Survey (BRDIS)</a:t>
            </a:r>
          </a:p>
          <a:p>
            <a:pPr marL="115888" indent="-115888" eaLnBrk="1" hangingPunct="1">
              <a:spcBef>
                <a:spcPts val="600"/>
              </a:spcBef>
              <a:buFont typeface="Arial" pitchFamily="34" charset="0"/>
              <a:buChar char="•"/>
              <a:defRPr/>
            </a:pPr>
            <a:r>
              <a:rPr lang="en-US" sz="1600" dirty="0">
                <a:solidFill>
                  <a:schemeClr val="tx1"/>
                </a:solidFill>
                <a:latin typeface="Arial" pitchFamily="34" charset="0"/>
                <a:cs typeface="Arial" pitchFamily="34" charset="0"/>
              </a:rPr>
              <a:t>Annual Business Survey (ABS) [Modules on owner characteristics, Microbusiness R&amp;D, </a:t>
            </a:r>
            <a:r>
              <a:rPr lang="en-US" sz="1600" dirty="0">
                <a:solidFill>
                  <a:srgbClr val="FF0000"/>
                </a:solidFill>
                <a:latin typeface="Arial" pitchFamily="34" charset="0"/>
                <a:cs typeface="Arial" pitchFamily="34" charset="0"/>
              </a:rPr>
              <a:t>Innovation</a:t>
            </a:r>
            <a:r>
              <a:rPr lang="en-US" sz="1600" dirty="0">
                <a:solidFill>
                  <a:schemeClr val="tx1"/>
                </a:solidFill>
                <a:latin typeface="Arial" pitchFamily="34" charset="0"/>
                <a:cs typeface="Arial" pitchFamily="34" charset="0"/>
              </a:rPr>
              <a:t>, Technology, Globalization]</a:t>
            </a:r>
          </a:p>
          <a:p>
            <a:pPr marL="115888" indent="-115888" eaLnBrk="1" hangingPunct="1">
              <a:spcBef>
                <a:spcPts val="600"/>
              </a:spcBef>
              <a:buFont typeface="Arial" pitchFamily="34" charset="0"/>
              <a:buChar char="•"/>
              <a:defRPr/>
            </a:pPr>
            <a:r>
              <a:rPr lang="en-US" sz="1600" dirty="0">
                <a:solidFill>
                  <a:schemeClr val="tx1"/>
                </a:solidFill>
                <a:latin typeface="Arial" pitchFamily="34" charset="0"/>
                <a:cs typeface="Arial" pitchFamily="34" charset="0"/>
              </a:rPr>
              <a:t>Microbusiness, </a:t>
            </a:r>
            <a:r>
              <a:rPr lang="en-US" sz="1600" dirty="0">
                <a:solidFill>
                  <a:srgbClr val="FF0000"/>
                </a:solidFill>
                <a:latin typeface="Arial" pitchFamily="34" charset="0"/>
                <a:cs typeface="Arial" pitchFamily="34" charset="0"/>
              </a:rPr>
              <a:t>Innovation</a:t>
            </a:r>
            <a:r>
              <a:rPr lang="en-US" sz="1600" dirty="0">
                <a:solidFill>
                  <a:schemeClr val="tx1"/>
                </a:solidFill>
                <a:latin typeface="Arial" pitchFamily="34" charset="0"/>
                <a:cs typeface="Arial" pitchFamily="34" charset="0"/>
              </a:rPr>
              <a:t>, Science &amp; Technology (Micro-BRDIS → ABS)</a:t>
            </a:r>
          </a:p>
          <a:p>
            <a:pPr marL="115888" indent="-115888" eaLnBrk="1" hangingPunct="1">
              <a:spcBef>
                <a:spcPts val="600"/>
              </a:spcBef>
              <a:buFont typeface="Arial" pitchFamily="34" charset="0"/>
              <a:buChar char="•"/>
              <a:defRPr/>
            </a:pPr>
            <a:r>
              <a:rPr lang="en-US" sz="1600" dirty="0">
                <a:solidFill>
                  <a:schemeClr val="tx1"/>
                </a:solidFill>
                <a:latin typeface="Arial" pitchFamily="34" charset="0"/>
                <a:cs typeface="Arial" pitchFamily="34" charset="0"/>
              </a:rPr>
              <a:t>Higher Education R&amp;D Survey (HERD)</a:t>
            </a:r>
          </a:p>
          <a:p>
            <a:pPr marL="115888" indent="-115888">
              <a:spcBef>
                <a:spcPts val="600"/>
              </a:spcBef>
              <a:buFont typeface="Arial" pitchFamily="34" charset="0"/>
              <a:buChar char="•"/>
              <a:defRPr/>
            </a:pPr>
            <a:r>
              <a:rPr lang="en-US" sz="1600" dirty="0">
                <a:solidFill>
                  <a:schemeClr val="tx1"/>
                </a:solidFill>
                <a:latin typeface="Arial" pitchFamily="34" charset="0"/>
                <a:cs typeface="Arial" pitchFamily="34" charset="0"/>
              </a:rPr>
              <a:t>Survey of R&amp;D Expenditures at Federally Funded R&amp;D Centers</a:t>
            </a:r>
          </a:p>
          <a:p>
            <a:pPr marL="115888" indent="-115888">
              <a:spcBef>
                <a:spcPts val="600"/>
              </a:spcBef>
              <a:buFont typeface="Arial" pitchFamily="34" charset="0"/>
              <a:buChar char="•"/>
              <a:defRPr/>
            </a:pPr>
            <a:r>
              <a:rPr lang="en-US" sz="1600" dirty="0">
                <a:solidFill>
                  <a:srgbClr val="FF0000"/>
                </a:solidFill>
                <a:latin typeface="Arial" pitchFamily="34" charset="0"/>
                <a:cs typeface="Arial" pitchFamily="34" charset="0"/>
              </a:rPr>
              <a:t>Survey of Federal Funds for R&amp;D </a:t>
            </a:r>
            <a:r>
              <a:rPr lang="en-US" sz="1000" dirty="0">
                <a:solidFill>
                  <a:srgbClr val="FF0000"/>
                </a:solidFill>
                <a:latin typeface="Arial" pitchFamily="34" charset="0"/>
                <a:cs typeface="Arial" pitchFamily="34" charset="0"/>
              </a:rPr>
              <a:t>(being redesigned)</a:t>
            </a:r>
          </a:p>
          <a:p>
            <a:pPr marL="115888" indent="-115888" eaLnBrk="1" hangingPunct="1">
              <a:spcBef>
                <a:spcPts val="600"/>
              </a:spcBef>
              <a:buFont typeface="Arial" pitchFamily="34" charset="0"/>
              <a:buChar char="•"/>
              <a:defRPr/>
            </a:pPr>
            <a:r>
              <a:rPr lang="en-US" sz="1600" dirty="0">
                <a:solidFill>
                  <a:srgbClr val="FF0000"/>
                </a:solidFill>
                <a:latin typeface="Arial" pitchFamily="34" charset="0"/>
                <a:cs typeface="Arial" pitchFamily="34" charset="0"/>
              </a:rPr>
              <a:t>Survey of Federal S&amp;E Support to Universities, Colleges, and Nonprofit Institutions </a:t>
            </a:r>
            <a:r>
              <a:rPr lang="en-US" sz="900" dirty="0">
                <a:solidFill>
                  <a:srgbClr val="FF0000"/>
                </a:solidFill>
                <a:latin typeface="Arial" pitchFamily="34" charset="0"/>
                <a:cs typeface="Arial" pitchFamily="34" charset="0"/>
              </a:rPr>
              <a:t>(being redesigned)</a:t>
            </a:r>
          </a:p>
          <a:p>
            <a:pPr marL="115888" indent="-115888">
              <a:spcBef>
                <a:spcPts val="600"/>
              </a:spcBef>
              <a:buFont typeface="Arial" pitchFamily="34" charset="0"/>
              <a:buChar char="•"/>
              <a:defRPr/>
            </a:pPr>
            <a:r>
              <a:rPr lang="en-US" sz="1600" dirty="0">
                <a:solidFill>
                  <a:srgbClr val="FF0000"/>
                </a:solidFill>
                <a:latin typeface="Arial" pitchFamily="34" charset="0"/>
                <a:cs typeface="Arial" pitchFamily="34" charset="0"/>
              </a:rPr>
              <a:t>R&amp;D by Budget Function (data tabulation)</a:t>
            </a:r>
            <a:endParaRPr lang="en-US" sz="900" dirty="0">
              <a:solidFill>
                <a:srgbClr val="FF0000"/>
              </a:solidFill>
              <a:latin typeface="Arial" pitchFamily="34" charset="0"/>
              <a:cs typeface="Arial" pitchFamily="34" charset="0"/>
            </a:endParaRPr>
          </a:p>
          <a:p>
            <a:pPr marL="115888" indent="-115888" eaLnBrk="1" hangingPunct="1">
              <a:spcBef>
                <a:spcPts val="600"/>
              </a:spcBef>
              <a:buFont typeface="Arial" pitchFamily="34" charset="0"/>
              <a:buChar char="•"/>
              <a:defRPr/>
            </a:pPr>
            <a:r>
              <a:rPr lang="en-US" sz="1600" dirty="0">
                <a:solidFill>
                  <a:schemeClr val="tx1"/>
                </a:solidFill>
                <a:latin typeface="Arial" pitchFamily="34" charset="0"/>
                <a:cs typeface="Arial" pitchFamily="34" charset="0"/>
              </a:rPr>
              <a:t>Survey of State Government R&amp;D</a:t>
            </a:r>
          </a:p>
          <a:p>
            <a:pPr marL="115888" indent="-115888" eaLnBrk="1" hangingPunct="1">
              <a:spcBef>
                <a:spcPts val="600"/>
              </a:spcBef>
              <a:buFont typeface="Arial" pitchFamily="34" charset="0"/>
              <a:buChar char="•"/>
              <a:defRPr/>
            </a:pPr>
            <a:r>
              <a:rPr lang="en-US" sz="1600" dirty="0">
                <a:solidFill>
                  <a:schemeClr val="tx1"/>
                </a:solidFill>
                <a:latin typeface="Arial" pitchFamily="34" charset="0"/>
                <a:cs typeface="Arial" pitchFamily="34" charset="0"/>
              </a:rPr>
              <a:t>Survey of Nonprofit Research Activities </a:t>
            </a:r>
          </a:p>
          <a:p>
            <a:pPr marL="115888" indent="-115888" eaLnBrk="1" hangingPunct="1">
              <a:spcBef>
                <a:spcPts val="600"/>
              </a:spcBef>
              <a:buFont typeface="Arial" pitchFamily="34" charset="0"/>
              <a:buChar char="•"/>
              <a:defRPr/>
            </a:pPr>
            <a:r>
              <a:rPr lang="en-US" sz="1600" dirty="0">
                <a:solidFill>
                  <a:schemeClr val="tx1"/>
                </a:solidFill>
                <a:latin typeface="Arial" pitchFamily="34" charset="0"/>
                <a:cs typeface="Arial" pitchFamily="34" charset="0"/>
              </a:rPr>
              <a:t>Survey of S&amp;E Research Facilities </a:t>
            </a:r>
          </a:p>
        </p:txBody>
      </p:sp>
    </p:spTree>
    <p:extLst>
      <p:ext uri="{BB962C8B-B14F-4D97-AF65-F5344CB8AC3E}">
        <p14:creationId xmlns:p14="http://schemas.microsoft.com/office/powerpoint/2010/main" val="2842213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727" y="703233"/>
            <a:ext cx="9144000" cy="762000"/>
          </a:xfrm>
        </p:spPr>
        <p:txBody>
          <a:bodyPr/>
          <a:lstStyle/>
          <a:p>
            <a:pPr eaLnBrk="1" hangingPunct="1"/>
            <a:r>
              <a:rPr lang="en-US" sz="2800" b="1" dirty="0">
                <a:solidFill>
                  <a:schemeClr val="tx1"/>
                </a:solidFill>
                <a:latin typeface="Arial" charset="0"/>
              </a:rPr>
              <a:t>The Surveyed R&amp;D Enterprise by Sector</a:t>
            </a:r>
            <a:br>
              <a:rPr lang="en-US" sz="2800" b="1" dirty="0">
                <a:solidFill>
                  <a:schemeClr val="tx1"/>
                </a:solidFill>
                <a:latin typeface="Arial" charset="0"/>
              </a:rPr>
            </a:br>
            <a:r>
              <a:rPr lang="en-US" sz="1800" b="1" dirty="0">
                <a:solidFill>
                  <a:schemeClr val="tx1"/>
                </a:solidFill>
                <a:latin typeface="Arial" charset="0"/>
              </a:rPr>
              <a:t>(</a:t>
            </a:r>
            <a:r>
              <a:rPr lang="en-US" sz="1800" b="1" dirty="0">
                <a:solidFill>
                  <a:srgbClr val="FF0000"/>
                </a:solidFill>
                <a:latin typeface="Arial" charset="0"/>
              </a:rPr>
              <a:t>Performer-reported</a:t>
            </a:r>
            <a:r>
              <a:rPr lang="en-US" sz="1800" b="1" dirty="0">
                <a:solidFill>
                  <a:schemeClr val="tx1"/>
                </a:solidFill>
                <a:latin typeface="Arial" charset="0"/>
              </a:rPr>
              <a:t> sources of R&amp;D funding)</a:t>
            </a:r>
          </a:p>
        </p:txBody>
      </p:sp>
      <p:sp>
        <p:nvSpPr>
          <p:cNvPr id="7171" name="Rectangle 4"/>
          <p:cNvSpPr>
            <a:spLocks noChangeArrowheads="1"/>
          </p:cNvSpPr>
          <p:nvPr/>
        </p:nvSpPr>
        <p:spPr bwMode="auto">
          <a:xfrm>
            <a:off x="0" y="606688"/>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pic>
        <p:nvPicPr>
          <p:cNvPr id="7172" name="Picture 10" descr="nsf2"/>
          <p:cNvPicPr>
            <a:picLocks noChangeAspect="1" noChangeArrowheads="1"/>
          </p:cNvPicPr>
          <p:nvPr/>
        </p:nvPicPr>
        <p:blipFill>
          <a:blip r:embed="rId3" cstate="print"/>
          <a:srcRect/>
          <a:stretch>
            <a:fillRect/>
          </a:stretch>
        </p:blipFill>
        <p:spPr bwMode="auto">
          <a:xfrm>
            <a:off x="76200" y="263"/>
            <a:ext cx="533400" cy="530225"/>
          </a:xfrm>
          <a:prstGeom prst="rect">
            <a:avLst/>
          </a:prstGeom>
          <a:noFill/>
          <a:ln w="9525">
            <a:noFill/>
            <a:miter lim="800000"/>
            <a:headEnd/>
            <a:tailEnd/>
          </a:ln>
        </p:spPr>
      </p:pic>
      <p:pic>
        <p:nvPicPr>
          <p:cNvPr id="7173" name="Picture 10" descr="NCSES_logo_oneline_150.eps"/>
          <p:cNvPicPr>
            <a:picLocks noChangeAspect="1"/>
          </p:cNvPicPr>
          <p:nvPr/>
        </p:nvPicPr>
        <p:blipFill>
          <a:blip r:embed="rId4" cstate="print"/>
          <a:srcRect/>
          <a:stretch>
            <a:fillRect/>
          </a:stretch>
        </p:blipFill>
        <p:spPr bwMode="auto">
          <a:xfrm>
            <a:off x="4114800" y="55826"/>
            <a:ext cx="5029200" cy="474662"/>
          </a:xfrm>
          <a:prstGeom prst="rect">
            <a:avLst/>
          </a:prstGeom>
          <a:noFill/>
          <a:ln w="9525">
            <a:noFill/>
            <a:miter lim="800000"/>
            <a:headEnd/>
            <a:tailEnd/>
          </a:ln>
        </p:spPr>
      </p:pic>
      <p:sp>
        <p:nvSpPr>
          <p:cNvPr id="17" name="Flowchart: Connector 16"/>
          <p:cNvSpPr/>
          <p:nvPr/>
        </p:nvSpPr>
        <p:spPr>
          <a:xfrm>
            <a:off x="703123" y="1625460"/>
            <a:ext cx="3200399" cy="2338037"/>
          </a:xfrm>
          <a:prstGeom prst="flowChartConnector">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1600" b="1" dirty="0">
                <a:latin typeface="Arial" pitchFamily="34" charset="0"/>
                <a:cs typeface="Arial" pitchFamily="34" charset="0"/>
              </a:rPr>
              <a:t>Business</a:t>
            </a:r>
          </a:p>
          <a:p>
            <a:pPr algn="ctr">
              <a:defRPr/>
            </a:pPr>
            <a:r>
              <a:rPr lang="en-US" sz="1400" dirty="0">
                <a:solidFill>
                  <a:srgbClr val="FF0000"/>
                </a:solidFill>
                <a:latin typeface="Arial" pitchFamily="34" charset="0"/>
                <a:cs typeface="Arial" pitchFamily="34" charset="0"/>
              </a:rPr>
              <a:t>Sample of ~45,000 </a:t>
            </a:r>
            <a:r>
              <a:rPr lang="en-US" sz="1400" dirty="0">
                <a:latin typeface="Arial" pitchFamily="34" charset="0"/>
                <a:cs typeface="Arial" pitchFamily="34" charset="0"/>
              </a:rPr>
              <a:t>companies 5+ employees</a:t>
            </a:r>
          </a:p>
          <a:p>
            <a:pPr algn="ctr">
              <a:defRPr/>
            </a:pPr>
            <a:endParaRPr lang="en-US" sz="800" dirty="0">
              <a:latin typeface="Arial" pitchFamily="34" charset="0"/>
              <a:cs typeface="Arial" pitchFamily="34" charset="0"/>
            </a:endParaRPr>
          </a:p>
          <a:p>
            <a:pPr algn="ctr">
              <a:defRPr/>
            </a:pPr>
            <a:r>
              <a:rPr lang="en-US" sz="900" dirty="0">
                <a:latin typeface="Arial" pitchFamily="34" charset="0"/>
                <a:cs typeface="Arial" pitchFamily="34" charset="0"/>
              </a:rPr>
              <a:t>(2016 Micro-Business Survey ~160,000 1-4 emp.; 2017 Annual Business Survey ~550,000 1-9 emp.]</a:t>
            </a:r>
          </a:p>
        </p:txBody>
      </p:sp>
      <p:sp>
        <p:nvSpPr>
          <p:cNvPr id="29" name="Flowchart: Connector 28"/>
          <p:cNvSpPr/>
          <p:nvPr/>
        </p:nvSpPr>
        <p:spPr>
          <a:xfrm>
            <a:off x="3198673" y="3865855"/>
            <a:ext cx="2819400" cy="2712482"/>
          </a:xfrm>
          <a:prstGeom prst="flowChartConnector">
            <a:avLst/>
          </a:prstGeom>
          <a:solidFill>
            <a:schemeClr val="accent5">
              <a:lumMod val="40000"/>
              <a:lumOff val="60000"/>
            </a:schemeClr>
          </a:solid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dirty="0">
                <a:latin typeface="Arial" pitchFamily="34" charset="0"/>
                <a:cs typeface="Arial" pitchFamily="34" charset="0"/>
              </a:rPr>
              <a:t>Total U.S. R&amp;D</a:t>
            </a:r>
          </a:p>
        </p:txBody>
      </p:sp>
      <p:cxnSp>
        <p:nvCxnSpPr>
          <p:cNvPr id="137" name="Straight Arrow Connector 136"/>
          <p:cNvCxnSpPr/>
          <p:nvPr/>
        </p:nvCxnSpPr>
        <p:spPr>
          <a:xfrm>
            <a:off x="3198673" y="3865855"/>
            <a:ext cx="361487" cy="366567"/>
          </a:xfrm>
          <a:prstGeom prst="straightConnector1">
            <a:avLst/>
          </a:prstGeom>
          <a:ln w="12700">
            <a:tailEnd type="arrow"/>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p:nvPr/>
        </p:nvCxnSpPr>
        <p:spPr>
          <a:xfrm flipH="1">
            <a:off x="5677533" y="3592723"/>
            <a:ext cx="717694" cy="702034"/>
          </a:xfrm>
          <a:prstGeom prst="straightConnector1">
            <a:avLst/>
          </a:prstGeom>
          <a:ln w="12700">
            <a:tailEnd type="arrow"/>
          </a:ln>
        </p:spPr>
        <p:style>
          <a:lnRef idx="1">
            <a:schemeClr val="accent1"/>
          </a:lnRef>
          <a:fillRef idx="0">
            <a:schemeClr val="accent1"/>
          </a:fillRef>
          <a:effectRef idx="0">
            <a:schemeClr val="accent1"/>
          </a:effectRef>
          <a:fontRef idx="minor">
            <a:schemeClr val="tx1"/>
          </a:fontRef>
        </p:style>
      </p:cxnSp>
      <p:cxnSp>
        <p:nvCxnSpPr>
          <p:cNvPr id="144" name="Straight Arrow Connector 143"/>
          <p:cNvCxnSpPr/>
          <p:nvPr/>
        </p:nvCxnSpPr>
        <p:spPr>
          <a:xfrm rot="10800000">
            <a:off x="6015372" y="5397046"/>
            <a:ext cx="533400" cy="1588"/>
          </a:xfrm>
          <a:prstGeom prst="straightConnector1">
            <a:avLst/>
          </a:prstGeom>
          <a:ln w="12700">
            <a:prstDash val="sysDash"/>
            <a:tailEnd type="arrow"/>
          </a:ln>
        </p:spPr>
        <p:style>
          <a:lnRef idx="1">
            <a:schemeClr val="accent1"/>
          </a:lnRef>
          <a:fillRef idx="0">
            <a:schemeClr val="accent1"/>
          </a:fillRef>
          <a:effectRef idx="0">
            <a:schemeClr val="accent1"/>
          </a:effectRef>
          <a:fontRef idx="minor">
            <a:schemeClr val="tx1"/>
          </a:fontRef>
        </p:style>
      </p:cxnSp>
      <p:sp>
        <p:nvSpPr>
          <p:cNvPr id="209" name="Flowchart: Connector 208"/>
          <p:cNvSpPr/>
          <p:nvPr/>
        </p:nvSpPr>
        <p:spPr>
          <a:xfrm>
            <a:off x="3960674" y="1808455"/>
            <a:ext cx="2209799" cy="1447800"/>
          </a:xfrm>
          <a:prstGeom prst="flowChartConnector">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1600" b="1" dirty="0">
                <a:latin typeface="Arial" pitchFamily="34" charset="0"/>
                <a:cs typeface="Arial" pitchFamily="34" charset="0"/>
              </a:rPr>
              <a:t>State </a:t>
            </a:r>
          </a:p>
          <a:p>
            <a:pPr algn="ctr">
              <a:defRPr/>
            </a:pPr>
            <a:r>
              <a:rPr lang="en-US" sz="1600" b="1" dirty="0">
                <a:latin typeface="Arial" pitchFamily="34" charset="0"/>
                <a:cs typeface="Arial" pitchFamily="34" charset="0"/>
              </a:rPr>
              <a:t>government</a:t>
            </a:r>
          </a:p>
          <a:p>
            <a:pPr algn="ctr">
              <a:defRPr/>
            </a:pPr>
            <a:r>
              <a:rPr lang="en-US" sz="1400" dirty="0">
                <a:solidFill>
                  <a:srgbClr val="FF0000"/>
                </a:solidFill>
                <a:latin typeface="Arial" pitchFamily="34" charset="0"/>
                <a:cs typeface="Arial" pitchFamily="34" charset="0"/>
              </a:rPr>
              <a:t>Census</a:t>
            </a:r>
            <a:r>
              <a:rPr lang="en-US" sz="1400" dirty="0">
                <a:latin typeface="Arial" pitchFamily="34" charset="0"/>
                <a:cs typeface="Arial" pitchFamily="34" charset="0"/>
              </a:rPr>
              <a:t> of 50 states, DC &amp; PR; ~470 agencies</a:t>
            </a:r>
          </a:p>
        </p:txBody>
      </p:sp>
      <p:sp>
        <p:nvSpPr>
          <p:cNvPr id="210" name="Flowchart: Connector 209"/>
          <p:cNvSpPr/>
          <p:nvPr/>
        </p:nvSpPr>
        <p:spPr>
          <a:xfrm>
            <a:off x="6322875" y="1916135"/>
            <a:ext cx="2298865" cy="2316287"/>
          </a:xfrm>
          <a:prstGeom prst="flowChartConnector">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1600" b="1" dirty="0">
                <a:latin typeface="Arial" pitchFamily="34" charset="0"/>
                <a:cs typeface="Arial" pitchFamily="34" charset="0"/>
              </a:rPr>
              <a:t>Higher education</a:t>
            </a:r>
          </a:p>
          <a:p>
            <a:pPr algn="ctr">
              <a:defRPr/>
            </a:pPr>
            <a:r>
              <a:rPr lang="en-US" sz="1400" dirty="0">
                <a:solidFill>
                  <a:srgbClr val="FF0000"/>
                </a:solidFill>
                <a:latin typeface="Arial" pitchFamily="34" charset="0"/>
                <a:cs typeface="Arial" pitchFamily="34" charset="0"/>
              </a:rPr>
              <a:t>Census</a:t>
            </a:r>
            <a:r>
              <a:rPr lang="en-US" sz="1400" dirty="0">
                <a:latin typeface="Arial" pitchFamily="34" charset="0"/>
                <a:cs typeface="Arial" pitchFamily="34" charset="0"/>
              </a:rPr>
              <a:t> of ~900 R&amp;D performing institutions</a:t>
            </a:r>
          </a:p>
          <a:p>
            <a:pPr algn="ctr">
              <a:defRPr/>
            </a:pPr>
            <a:r>
              <a:rPr lang="en-US" sz="900" dirty="0">
                <a:latin typeface="Arial" pitchFamily="34" charset="0"/>
                <a:cs typeface="Arial" pitchFamily="34" charset="0"/>
              </a:rPr>
              <a:t>(with ≥$150K R&amp;D)</a:t>
            </a:r>
          </a:p>
        </p:txBody>
      </p:sp>
      <p:sp>
        <p:nvSpPr>
          <p:cNvPr id="212" name="Flowchart: Connector 211"/>
          <p:cNvSpPr/>
          <p:nvPr/>
        </p:nvSpPr>
        <p:spPr>
          <a:xfrm>
            <a:off x="6410467" y="4578728"/>
            <a:ext cx="2654462" cy="1600200"/>
          </a:xfrm>
          <a:prstGeom prst="flowChartConnector">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1600" b="1" dirty="0">
                <a:latin typeface="Arial" pitchFamily="34" charset="0"/>
                <a:cs typeface="Arial" pitchFamily="34" charset="0"/>
              </a:rPr>
              <a:t>Nonprofits</a:t>
            </a:r>
          </a:p>
          <a:p>
            <a:pPr algn="ctr">
              <a:defRPr/>
            </a:pPr>
            <a:r>
              <a:rPr lang="en-US" sz="1100" dirty="0">
                <a:latin typeface="Arial" pitchFamily="34" charset="0"/>
                <a:cs typeface="Arial" pitchFamily="34" charset="0"/>
              </a:rPr>
              <a:t>[Based on a1997 sample]</a:t>
            </a:r>
          </a:p>
          <a:p>
            <a:pPr algn="ctr">
              <a:defRPr/>
            </a:pPr>
            <a:endParaRPr lang="en-US" sz="600" dirty="0">
              <a:latin typeface="Arial" pitchFamily="34" charset="0"/>
              <a:cs typeface="Arial" pitchFamily="34" charset="0"/>
            </a:endParaRPr>
          </a:p>
          <a:p>
            <a:pPr algn="ctr">
              <a:defRPr/>
            </a:pPr>
            <a:r>
              <a:rPr lang="en-US" sz="1400" dirty="0">
                <a:latin typeface="Arial" pitchFamily="34" charset="0"/>
                <a:cs typeface="Arial" pitchFamily="34" charset="0"/>
              </a:rPr>
              <a:t>New </a:t>
            </a:r>
            <a:r>
              <a:rPr lang="en-US" sz="1400" dirty="0">
                <a:solidFill>
                  <a:srgbClr val="FF0000"/>
                </a:solidFill>
                <a:latin typeface="Arial" pitchFamily="34" charset="0"/>
                <a:cs typeface="Arial" pitchFamily="34" charset="0"/>
              </a:rPr>
              <a:t>sample</a:t>
            </a:r>
            <a:r>
              <a:rPr lang="en-US" sz="1400" dirty="0">
                <a:latin typeface="Arial" pitchFamily="34" charset="0"/>
                <a:cs typeface="Arial" pitchFamily="34" charset="0"/>
              </a:rPr>
              <a:t> of ~6,400 organizations in 2016</a:t>
            </a:r>
          </a:p>
        </p:txBody>
      </p:sp>
      <p:sp>
        <p:nvSpPr>
          <p:cNvPr id="213" name="Flowchart: Connector 212"/>
          <p:cNvSpPr/>
          <p:nvPr/>
        </p:nvSpPr>
        <p:spPr>
          <a:xfrm>
            <a:off x="128009" y="3980954"/>
            <a:ext cx="2705100" cy="1784866"/>
          </a:xfrm>
          <a:prstGeom prst="flowChartConnector">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1600" b="1" dirty="0">
                <a:latin typeface="Arial" pitchFamily="34" charset="0"/>
                <a:cs typeface="Arial" pitchFamily="34" charset="0"/>
              </a:rPr>
              <a:t>Federal government</a:t>
            </a:r>
          </a:p>
          <a:p>
            <a:pPr algn="ctr">
              <a:spcBef>
                <a:spcPts val="0"/>
              </a:spcBef>
              <a:defRPr/>
            </a:pPr>
            <a:r>
              <a:rPr lang="en-US" sz="1400" dirty="0">
                <a:solidFill>
                  <a:srgbClr val="FF0000"/>
                </a:solidFill>
                <a:latin typeface="Arial" pitchFamily="34" charset="0"/>
                <a:cs typeface="Arial" pitchFamily="34" charset="0"/>
              </a:rPr>
              <a:t>Census</a:t>
            </a:r>
            <a:r>
              <a:rPr lang="en-US" sz="1400" dirty="0">
                <a:latin typeface="Arial" pitchFamily="34" charset="0"/>
                <a:cs typeface="Arial" pitchFamily="34" charset="0"/>
              </a:rPr>
              <a:t> of </a:t>
            </a:r>
          </a:p>
          <a:p>
            <a:pPr algn="ctr">
              <a:spcBef>
                <a:spcPts val="0"/>
              </a:spcBef>
              <a:defRPr/>
            </a:pPr>
            <a:r>
              <a:rPr lang="en-US" sz="1400" dirty="0">
                <a:latin typeface="Arial" pitchFamily="34" charset="0"/>
                <a:cs typeface="Arial" pitchFamily="34" charset="0"/>
              </a:rPr>
              <a:t>28 agencies</a:t>
            </a:r>
          </a:p>
          <a:p>
            <a:pPr algn="ctr">
              <a:defRPr/>
            </a:pPr>
            <a:r>
              <a:rPr lang="en-US" sz="1400" dirty="0">
                <a:latin typeface="Arial" pitchFamily="34" charset="0"/>
                <a:cs typeface="Arial" pitchFamily="34" charset="0"/>
              </a:rPr>
              <a:t>~90 sub-agencies, ~650 respondents</a:t>
            </a:r>
          </a:p>
        </p:txBody>
      </p:sp>
      <p:cxnSp>
        <p:nvCxnSpPr>
          <p:cNvPr id="233" name="Straight Arrow Connector 232"/>
          <p:cNvCxnSpPr/>
          <p:nvPr/>
        </p:nvCxnSpPr>
        <p:spPr>
          <a:xfrm flipH="1">
            <a:off x="4722920" y="3326023"/>
            <a:ext cx="114300" cy="533400"/>
          </a:xfrm>
          <a:prstGeom prst="straightConnector1">
            <a:avLst/>
          </a:prstGeom>
          <a:ln w="12700">
            <a:tailEnd type="arrow"/>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6318101" y="6238162"/>
            <a:ext cx="184731" cy="369332"/>
          </a:xfrm>
          <a:prstGeom prst="rect">
            <a:avLst/>
          </a:prstGeom>
          <a:noFill/>
        </p:spPr>
        <p:txBody>
          <a:bodyPr wrap="none" rtlCol="0">
            <a:spAutoFit/>
          </a:bodyPr>
          <a:lstStyle/>
          <a:p>
            <a:endParaRPr lang="en-US" sz="1800" dirty="0">
              <a:latin typeface="Arial" pitchFamily="34" charset="0"/>
              <a:cs typeface="Arial" pitchFamily="34" charset="0"/>
            </a:endParaRPr>
          </a:p>
        </p:txBody>
      </p:sp>
      <p:sp>
        <p:nvSpPr>
          <p:cNvPr id="18" name="Flowchart: Connector 17"/>
          <p:cNvSpPr/>
          <p:nvPr/>
        </p:nvSpPr>
        <p:spPr>
          <a:xfrm>
            <a:off x="1627083" y="5739294"/>
            <a:ext cx="1423382" cy="838200"/>
          </a:xfrm>
          <a:prstGeom prst="flowChartConnector">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1400" dirty="0">
                <a:solidFill>
                  <a:srgbClr val="FF0000"/>
                </a:solidFill>
                <a:latin typeface="Arial" pitchFamily="34" charset="0"/>
                <a:cs typeface="Arial" pitchFamily="34" charset="0"/>
              </a:rPr>
              <a:t>Census</a:t>
            </a:r>
            <a:r>
              <a:rPr lang="en-US" sz="1400" dirty="0">
                <a:latin typeface="Arial" pitchFamily="34" charset="0"/>
                <a:cs typeface="Arial" pitchFamily="34" charset="0"/>
              </a:rPr>
              <a:t> of ~40 </a:t>
            </a:r>
            <a:r>
              <a:rPr lang="en-US" sz="1400" b="1" dirty="0">
                <a:latin typeface="Arial" pitchFamily="34" charset="0"/>
                <a:cs typeface="Arial" pitchFamily="34" charset="0"/>
              </a:rPr>
              <a:t>FFRDCs</a:t>
            </a:r>
          </a:p>
        </p:txBody>
      </p:sp>
      <p:cxnSp>
        <p:nvCxnSpPr>
          <p:cNvPr id="7" name="Straight Arrow Connector 6"/>
          <p:cNvCxnSpPr/>
          <p:nvPr/>
        </p:nvCxnSpPr>
        <p:spPr>
          <a:xfrm>
            <a:off x="2857752" y="4780255"/>
            <a:ext cx="340921"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2833616" y="5669545"/>
            <a:ext cx="389192" cy="1989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E1400850-EB9A-40FF-ADDA-E4A0A5232E50}"/>
              </a:ext>
            </a:extLst>
          </p:cNvPr>
          <p:cNvSpPr>
            <a:spLocks noGrp="1"/>
          </p:cNvSpPr>
          <p:nvPr>
            <p:ph type="sldNum" sz="quarter" idx="12"/>
          </p:nvPr>
        </p:nvSpPr>
        <p:spPr/>
        <p:txBody>
          <a:bodyPr/>
          <a:lstStyle/>
          <a:p>
            <a:fld id="{1B835D90-6387-4175-8905-3408BA5A358B}" type="slidenum">
              <a:rPr lang="en-US" altLang="en-US" smtClean="0"/>
              <a:pPr/>
              <a:t>5</a:t>
            </a:fld>
            <a:endParaRPr lang="en-US" altLang="en-US"/>
          </a:p>
        </p:txBody>
      </p:sp>
    </p:spTree>
    <p:extLst>
      <p:ext uri="{BB962C8B-B14F-4D97-AF65-F5344CB8AC3E}">
        <p14:creationId xmlns:p14="http://schemas.microsoft.com/office/powerpoint/2010/main" val="3384584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upload.wikimedia.org/wikipedia/commons/thumb/4/4c/OECD_member_states_map.svg/1200px-OECD_member_states_map.svg.png">
            <a:extLst>
              <a:ext uri="{FF2B5EF4-FFF2-40B4-BE49-F238E27FC236}">
                <a16:creationId xmlns:a16="http://schemas.microsoft.com/office/drawing/2014/main" id="{FF9AD11F-36E4-4825-AF60-0041BEB1A6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8" y="1492140"/>
            <a:ext cx="9144000" cy="4694237"/>
          </a:xfrm>
          <a:prstGeom prst="rect">
            <a:avLst/>
          </a:prstGeom>
          <a:noFill/>
          <a:extLst>
            <a:ext uri="{909E8E84-426E-40DD-AFC4-6F175D3DCCD1}">
              <a14:hiddenFill xmlns:a14="http://schemas.microsoft.com/office/drawing/2010/main">
                <a:solidFill>
                  <a:srgbClr val="FFFFFF"/>
                </a:solidFill>
              </a14:hiddenFill>
            </a:ext>
          </a:extLst>
        </p:spPr>
      </p:pic>
      <p:pic>
        <p:nvPicPr>
          <p:cNvPr id="6147" name="Picture 8" descr="nsf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8" descr="M:\Pubs\Pubs\IB redesign\logo files\NCSES-logos_png-jpg\NCSES_logo_oneline.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24450" y="161925"/>
            <a:ext cx="401955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Title 7"/>
          <p:cNvSpPr>
            <a:spLocks noGrp="1"/>
          </p:cNvSpPr>
          <p:nvPr>
            <p:ph type="title"/>
          </p:nvPr>
        </p:nvSpPr>
        <p:spPr>
          <a:xfrm>
            <a:off x="304800" y="685800"/>
            <a:ext cx="8686799" cy="1143000"/>
          </a:xfrm>
        </p:spPr>
        <p:txBody>
          <a:bodyPr/>
          <a:lstStyle/>
          <a:p>
            <a:r>
              <a:rPr lang="en-US" altLang="en-US" sz="2800" dirty="0">
                <a:latin typeface="Arial" panose="020B0604020202020204" pitchFamily="34" charset="0"/>
              </a:rPr>
              <a:t>OECD-NESTI: Providing International Standards for Science, Technology, Innovation (STI) Data</a:t>
            </a:r>
            <a:endParaRPr lang="en-US" altLang="en-US" sz="2800" dirty="0"/>
          </a:p>
        </p:txBody>
      </p:sp>
      <p:sp>
        <p:nvSpPr>
          <p:cNvPr id="9" name="Rectangle 4"/>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sp>
        <p:nvSpPr>
          <p:cNvPr id="3" name="Rectangle 2">
            <a:extLst>
              <a:ext uri="{FF2B5EF4-FFF2-40B4-BE49-F238E27FC236}">
                <a16:creationId xmlns:a16="http://schemas.microsoft.com/office/drawing/2014/main" id="{17751533-C6DB-450E-8D15-C3296F6A6AB2}"/>
              </a:ext>
            </a:extLst>
          </p:cNvPr>
          <p:cNvSpPr/>
          <p:nvPr/>
        </p:nvSpPr>
        <p:spPr>
          <a:xfrm>
            <a:off x="495299" y="3048000"/>
            <a:ext cx="8305800" cy="3477875"/>
          </a:xfrm>
          <a:prstGeom prst="rect">
            <a:avLst/>
          </a:prstGeom>
        </p:spPr>
        <p:txBody>
          <a:bodyPr wrap="square">
            <a:spAutoFit/>
          </a:bodyPr>
          <a:lstStyle/>
          <a:p>
            <a:pPr marL="0" marR="0"/>
            <a:r>
              <a:rPr lang="en-US" sz="1400" dirty="0">
                <a:latin typeface="Arial" panose="020B0604020202020204" pitchFamily="34" charset="0"/>
                <a:cs typeface="Arial" panose="020B0604020202020204" pitchFamily="34" charset="0"/>
              </a:rPr>
              <a:t>NCSES has a leadership role in developing worldwide standards for the collection, reporting and use of internationally comparable statistics about the science and technology enterprise.</a:t>
            </a:r>
          </a:p>
          <a:p>
            <a:pPr marL="0" marR="0"/>
            <a:endParaRPr lang="en-US" sz="1400" dirty="0">
              <a:latin typeface="Arial" panose="020B0604020202020204" pitchFamily="34" charset="0"/>
              <a:cs typeface="Arial" panose="020B0604020202020204" pitchFamily="34" charset="0"/>
            </a:endParaRPr>
          </a:p>
          <a:p>
            <a:pPr marL="0" marR="0" algn="just">
              <a:spcBef>
                <a:spcPts val="0"/>
              </a:spcBef>
              <a:spcAft>
                <a:spcPts val="1200"/>
              </a:spcAft>
            </a:pPr>
            <a:r>
              <a:rPr lang="en-US" sz="1400" dirty="0">
                <a:latin typeface="Arial" panose="020B0604020202020204" pitchFamily="34" charset="0"/>
                <a:cs typeface="Arial" panose="020B0604020202020204" pitchFamily="34" charset="0"/>
              </a:rPr>
              <a:t>The </a:t>
            </a:r>
            <a:r>
              <a:rPr lang="en-US" sz="1400" dirty="0" err="1">
                <a:latin typeface="Arial" panose="020B0604020202020204" pitchFamily="34" charset="0"/>
                <a:cs typeface="Arial" panose="020B0604020202020204" pitchFamily="34" charset="0"/>
              </a:rPr>
              <a:t>Organisation</a:t>
            </a:r>
            <a:r>
              <a:rPr lang="en-US" sz="1400" dirty="0">
                <a:latin typeface="Arial" panose="020B0604020202020204" pitchFamily="34" charset="0"/>
                <a:cs typeface="Arial" panose="020B0604020202020204" pitchFamily="34" charset="0"/>
              </a:rPr>
              <a:t> for Economic Co-operation and Development (OECD) is an intergovernmental economic </a:t>
            </a:r>
            <a:r>
              <a:rPr lang="en-US" sz="1400" dirty="0" err="1">
                <a:latin typeface="Arial" panose="020B0604020202020204" pitchFamily="34" charset="0"/>
                <a:cs typeface="Arial" panose="020B0604020202020204" pitchFamily="34" charset="0"/>
              </a:rPr>
              <a:t>organisation</a:t>
            </a:r>
            <a:r>
              <a:rPr lang="en-US" sz="1400" dirty="0">
                <a:latin typeface="Arial" panose="020B0604020202020204" pitchFamily="34" charset="0"/>
                <a:cs typeface="Arial" panose="020B0604020202020204" pitchFamily="34" charset="0"/>
              </a:rPr>
              <a:t> of 37 economically advanced member countries, founded in 1961 to stimulate economic progress and world trade.</a:t>
            </a:r>
          </a:p>
          <a:p>
            <a:r>
              <a:rPr lang="en-US" sz="1400" dirty="0">
                <a:latin typeface="Arial" panose="020B0604020202020204" pitchFamily="34" charset="0"/>
                <a:ea typeface="Calibri" panose="020F0502020204030204" pitchFamily="34" charset="0"/>
                <a:cs typeface="Arial" panose="020B0604020202020204" pitchFamily="34" charset="0"/>
              </a:rPr>
              <a:t>Within the OECD, the Working Party of National Experts on Science and Technology Indicators (NESTI)—consisting of delegates from each of the Member and Partner countries—is the body in charge of monitoring, supervising, directing and </a:t>
            </a:r>
            <a:r>
              <a:rPr lang="en-US" sz="1400" dirty="0" err="1">
                <a:latin typeface="Arial" panose="020B0604020202020204" pitchFamily="34" charset="0"/>
                <a:ea typeface="Calibri" panose="020F0502020204030204" pitchFamily="34" charset="0"/>
                <a:cs typeface="Arial" panose="020B0604020202020204" pitchFamily="34" charset="0"/>
              </a:rPr>
              <a:t>co-ordinating</a:t>
            </a:r>
            <a:r>
              <a:rPr lang="en-US" sz="1400" dirty="0">
                <a:latin typeface="Arial" panose="020B0604020202020204" pitchFamily="34" charset="0"/>
                <a:ea typeface="Calibri" panose="020F0502020204030204" pitchFamily="34" charset="0"/>
                <a:cs typeface="Arial" panose="020B0604020202020204" pitchFamily="34" charset="0"/>
              </a:rPr>
              <a:t> OECD statistical work on science, technology and innovation (STI), contributing to the development of statistical standards, data infrastructure, indicators and quantitative analyses needed to meet the requirements and priorities of its parent Committee for Scientific and Technological Policy (CSTP), to which State Department staff is the US representative. </a:t>
            </a:r>
          </a:p>
          <a:p>
            <a:endParaRPr lang="en-US" sz="1400" dirty="0">
              <a:latin typeface="Arial" panose="020B0604020202020204" pitchFamily="34" charset="0"/>
              <a:ea typeface="Calibri" panose="020F0502020204030204" pitchFamily="34" charset="0"/>
              <a:cs typeface="Arial" panose="020B0604020202020204" pitchFamily="34" charset="0"/>
            </a:endParaRPr>
          </a:p>
          <a:p>
            <a:r>
              <a:rPr lang="en-US" sz="1400" dirty="0">
                <a:latin typeface="Arial" panose="020B0604020202020204" pitchFamily="34" charset="0"/>
                <a:ea typeface="Calibri" panose="020F0502020204030204" pitchFamily="34" charset="0"/>
                <a:cs typeface="Arial" panose="020B0604020202020204" pitchFamily="34" charset="0"/>
              </a:rPr>
              <a:t>John Jankowski is the current NESTI chair, and is first US delegate to chair NESTI.</a:t>
            </a:r>
          </a:p>
        </p:txBody>
      </p:sp>
    </p:spTree>
    <p:extLst>
      <p:ext uri="{BB962C8B-B14F-4D97-AF65-F5344CB8AC3E}">
        <p14:creationId xmlns:p14="http://schemas.microsoft.com/office/powerpoint/2010/main" val="2167668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8" descr="nsf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8" descr="M:\Pubs\Pubs\IB redesign\logo files\NCSES-logos_png-jpg\NCSES_logo_onelin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4450" y="161925"/>
            <a:ext cx="401955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Title 7"/>
          <p:cNvSpPr>
            <a:spLocks noGrp="1"/>
          </p:cNvSpPr>
          <p:nvPr>
            <p:ph type="title"/>
          </p:nvPr>
        </p:nvSpPr>
        <p:spPr>
          <a:xfrm>
            <a:off x="664725" y="685800"/>
            <a:ext cx="7772400" cy="1143000"/>
          </a:xfrm>
        </p:spPr>
        <p:txBody>
          <a:bodyPr/>
          <a:lstStyle/>
          <a:p>
            <a:r>
              <a:rPr lang="en-US" altLang="en-US" sz="2800" dirty="0">
                <a:latin typeface="Arial" panose="020B0604020202020204" pitchFamily="34" charset="0"/>
              </a:rPr>
              <a:t>International Guidance for the Collection of R&amp;D and Innovation Data</a:t>
            </a:r>
            <a:endParaRPr lang="en-US" altLang="en-US" sz="2800" dirty="0"/>
          </a:p>
        </p:txBody>
      </p:sp>
      <p:sp>
        <p:nvSpPr>
          <p:cNvPr id="9" name="Rectangle 4"/>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pic>
        <p:nvPicPr>
          <p:cNvPr id="8" name="Picture 7" descr="\\main.oecd.org\sdataSTI\Applic\EAS\NESTI\OsloManualRevision2015_17\Communication\Coverpage.JPG">
            <a:extLst>
              <a:ext uri="{FF2B5EF4-FFF2-40B4-BE49-F238E27FC236}">
                <a16:creationId xmlns:a16="http://schemas.microsoft.com/office/drawing/2014/main" id="{B9CC1B9B-4569-4C8A-A756-E0F5919BA20C}"/>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53000" y="1713430"/>
            <a:ext cx="3733800" cy="5091776"/>
          </a:xfrm>
          <a:prstGeom prst="rect">
            <a:avLst/>
          </a:prstGeom>
          <a:noFill/>
          <a:ln>
            <a:noFill/>
          </a:ln>
        </p:spPr>
      </p:pic>
      <p:pic>
        <p:nvPicPr>
          <p:cNvPr id="2" name="Picture 1">
            <a:extLst>
              <a:ext uri="{FF2B5EF4-FFF2-40B4-BE49-F238E27FC236}">
                <a16:creationId xmlns:a16="http://schemas.microsoft.com/office/drawing/2014/main" id="{E4FAF571-00D3-4778-BAAA-0CA7E099B5DA}"/>
              </a:ext>
            </a:extLst>
          </p:cNvPr>
          <p:cNvPicPr>
            <a:picLocks noChangeAspect="1"/>
          </p:cNvPicPr>
          <p:nvPr/>
        </p:nvPicPr>
        <p:blipFill>
          <a:blip r:embed="rId6"/>
          <a:stretch>
            <a:fillRect/>
          </a:stretch>
        </p:blipFill>
        <p:spPr>
          <a:xfrm>
            <a:off x="609600" y="1785530"/>
            <a:ext cx="3466748" cy="5019676"/>
          </a:xfrm>
          <a:prstGeom prst="rect">
            <a:avLst/>
          </a:prstGeom>
        </p:spPr>
      </p:pic>
    </p:spTree>
    <p:extLst>
      <p:ext uri="{BB962C8B-B14F-4D97-AF65-F5344CB8AC3E}">
        <p14:creationId xmlns:p14="http://schemas.microsoft.com/office/powerpoint/2010/main" val="2753015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52400" y="685800"/>
            <a:ext cx="9448800" cy="762000"/>
          </a:xfrm>
        </p:spPr>
        <p:txBody>
          <a:bodyPr/>
          <a:lstStyle/>
          <a:p>
            <a:r>
              <a:rPr lang="en-US" altLang="en-US" sz="2800" b="1" dirty="0">
                <a:latin typeface="Arial" panose="020B0604020202020204" pitchFamily="34" charset="0"/>
                <a:cs typeface="Arial" panose="020B0604020202020204" pitchFamily="34" charset="0"/>
              </a:rPr>
              <a:t>Source Documents on R&amp;D Definitions</a:t>
            </a:r>
          </a:p>
        </p:txBody>
      </p:sp>
      <p:sp>
        <p:nvSpPr>
          <p:cNvPr id="3" name="Content Placeholder 2"/>
          <p:cNvSpPr>
            <a:spLocks noGrp="1"/>
          </p:cNvSpPr>
          <p:nvPr>
            <p:ph idx="1"/>
          </p:nvPr>
        </p:nvSpPr>
        <p:spPr>
          <a:xfrm>
            <a:off x="228600" y="1295400"/>
            <a:ext cx="8626475" cy="5410200"/>
          </a:xfrm>
        </p:spPr>
        <p:txBody>
          <a:bodyPr>
            <a:normAutofit fontScale="70000" lnSpcReduction="20000"/>
          </a:bodyPr>
          <a:lstStyle/>
          <a:p>
            <a:pPr>
              <a:lnSpc>
                <a:spcPct val="120000"/>
              </a:lnSpc>
              <a:defRPr/>
            </a:pPr>
            <a:r>
              <a:rPr lang="en-US" sz="2200" dirty="0">
                <a:latin typeface="Arial" pitchFamily="34" charset="0"/>
                <a:cs typeface="Arial" pitchFamily="34" charset="0"/>
              </a:rPr>
              <a:t>Frascati Manual (2015) -  Guidelines for Collecting and Reporting Data on Research and Experimental Development. Reflected in all NSF surveys on R&amp;D expenditures and funding.</a:t>
            </a:r>
          </a:p>
          <a:p>
            <a:pPr>
              <a:lnSpc>
                <a:spcPct val="120000"/>
              </a:lnSpc>
              <a:defRPr/>
            </a:pPr>
            <a:r>
              <a:rPr lang="en-US" sz="2200" dirty="0">
                <a:latin typeface="Arial" pitchFamily="34" charset="0"/>
                <a:cs typeface="Arial" pitchFamily="34" charset="0"/>
              </a:rPr>
              <a:t>Definitions are mirrored in most government R&amp;D guidelines, often with specific cross-references to NSF surveys.</a:t>
            </a:r>
          </a:p>
          <a:p>
            <a:pPr lvl="1">
              <a:lnSpc>
                <a:spcPct val="120000"/>
              </a:lnSpc>
              <a:defRPr/>
            </a:pPr>
            <a:r>
              <a:rPr lang="en-US" sz="1800" b="1" dirty="0">
                <a:latin typeface="Arial" pitchFamily="34" charset="0"/>
                <a:cs typeface="Arial" pitchFamily="34" charset="0"/>
              </a:rPr>
              <a:t>U.S Federal Government</a:t>
            </a:r>
          </a:p>
          <a:p>
            <a:pPr lvl="2">
              <a:lnSpc>
                <a:spcPct val="120000"/>
              </a:lnSpc>
              <a:defRPr/>
            </a:pPr>
            <a:r>
              <a:rPr lang="en-US" sz="1700" dirty="0">
                <a:latin typeface="Arial" pitchFamily="34" charset="0"/>
                <a:cs typeface="Arial" pitchFamily="34" charset="0"/>
              </a:rPr>
              <a:t>OMB Circular A-11: Section 84 defines R&amp;D for agency use in the development of the president’s budget (Updated summer 2016 - match FM 2015 and NSF Federal Funds in 2017)</a:t>
            </a:r>
          </a:p>
          <a:p>
            <a:pPr lvl="2">
              <a:lnSpc>
                <a:spcPct val="120000"/>
              </a:lnSpc>
              <a:defRPr/>
            </a:pPr>
            <a:r>
              <a:rPr lang="en-US" sz="1700" dirty="0">
                <a:latin typeface="Arial" pitchFamily="34" charset="0"/>
                <a:cs typeface="Arial" pitchFamily="34" charset="0"/>
              </a:rPr>
              <a:t>Federal Accounting </a:t>
            </a:r>
            <a:r>
              <a:rPr lang="en-US" sz="1700">
                <a:latin typeface="Arial" pitchFamily="34" charset="0"/>
                <a:cs typeface="Arial" pitchFamily="34" charset="0"/>
              </a:rPr>
              <a:t>Standards Advisory Board’s </a:t>
            </a:r>
            <a:r>
              <a:rPr lang="en-US" sz="1700" dirty="0">
                <a:latin typeface="Arial" pitchFamily="34" charset="0"/>
                <a:cs typeface="Arial" pitchFamily="34" charset="0"/>
              </a:rPr>
              <a:t>Statement of Federal Financial Accounting Standards No. 8 sets forth generally accepted accounting principles for Federal agencies.</a:t>
            </a:r>
          </a:p>
          <a:p>
            <a:pPr lvl="1">
              <a:lnSpc>
                <a:spcPct val="120000"/>
              </a:lnSpc>
              <a:defRPr/>
            </a:pPr>
            <a:r>
              <a:rPr lang="en-US" sz="1800" b="1" dirty="0">
                <a:latin typeface="Arial" pitchFamily="34" charset="0"/>
                <a:cs typeface="Arial" pitchFamily="34" charset="0"/>
              </a:rPr>
              <a:t>Academic and Nonprofit Organizations</a:t>
            </a:r>
          </a:p>
          <a:p>
            <a:pPr lvl="2">
              <a:lnSpc>
                <a:spcPct val="120000"/>
              </a:lnSpc>
              <a:defRPr/>
            </a:pPr>
            <a:r>
              <a:rPr lang="en-US" sz="1700" dirty="0">
                <a:latin typeface="Arial" pitchFamily="34" charset="0"/>
                <a:cs typeface="Arial" pitchFamily="34" charset="0"/>
              </a:rPr>
              <a:t>Omnibus Circular 2 CFR “Uniform Administrative Requirements, Cost Principles and Audit Requirements for Federal Awards” (December 2013).  Consolidates guidance previously included in</a:t>
            </a:r>
          </a:p>
          <a:p>
            <a:pPr lvl="3">
              <a:lnSpc>
                <a:spcPct val="120000"/>
              </a:lnSpc>
              <a:defRPr/>
            </a:pPr>
            <a:r>
              <a:rPr lang="en-US" sz="1700" dirty="0">
                <a:latin typeface="Arial" pitchFamily="34" charset="0"/>
                <a:cs typeface="Arial" pitchFamily="34" charset="0"/>
              </a:rPr>
              <a:t>OMB Circular 21: Cost Principles for Educational Institutions</a:t>
            </a:r>
          </a:p>
          <a:p>
            <a:pPr lvl="3">
              <a:lnSpc>
                <a:spcPct val="120000"/>
              </a:lnSpc>
              <a:defRPr/>
            </a:pPr>
            <a:r>
              <a:rPr lang="en-US" sz="1700" dirty="0">
                <a:latin typeface="Arial" pitchFamily="34" charset="0"/>
                <a:cs typeface="Arial" pitchFamily="34" charset="0"/>
              </a:rPr>
              <a:t>OMB Circular A-110: Uniform Administrative Requirement for Grants and Other Agreements with Institutions of Higher Education, Hospitals, and other Nonprofit Organizations</a:t>
            </a:r>
          </a:p>
          <a:p>
            <a:pPr lvl="3">
              <a:lnSpc>
                <a:spcPct val="120000"/>
              </a:lnSpc>
              <a:defRPr/>
            </a:pPr>
            <a:r>
              <a:rPr lang="en-US" sz="1700" dirty="0">
                <a:latin typeface="Arial" pitchFamily="34" charset="0"/>
                <a:cs typeface="Arial" pitchFamily="34" charset="0"/>
              </a:rPr>
              <a:t>OMB Circular A-133: Audits of States, Local Governments, and Non-Profit Organizations</a:t>
            </a:r>
          </a:p>
          <a:p>
            <a:pPr lvl="1">
              <a:lnSpc>
                <a:spcPct val="110000"/>
              </a:lnSpc>
              <a:defRPr/>
            </a:pPr>
            <a:r>
              <a:rPr lang="en-US" sz="1800" b="1" dirty="0">
                <a:latin typeface="Arial" pitchFamily="34" charset="0"/>
                <a:cs typeface="Arial" pitchFamily="34" charset="0"/>
              </a:rPr>
              <a:t>Business sector</a:t>
            </a:r>
          </a:p>
          <a:p>
            <a:pPr lvl="2">
              <a:lnSpc>
                <a:spcPct val="120000"/>
              </a:lnSpc>
              <a:defRPr/>
            </a:pPr>
            <a:r>
              <a:rPr lang="en-US" sz="1700" dirty="0">
                <a:latin typeface="Arial" pitchFamily="34" charset="0"/>
                <a:cs typeface="Arial" pitchFamily="34" charset="0"/>
              </a:rPr>
              <a:t>Title 48, Federal Acquisition Regulation: Section 2.101; 31.205; and 35.001 defines R&amp;D for use in government solicitation  provisions and contract clauses</a:t>
            </a:r>
          </a:p>
          <a:p>
            <a:pPr lvl="2">
              <a:lnSpc>
                <a:spcPct val="120000"/>
              </a:lnSpc>
              <a:defRPr/>
            </a:pPr>
            <a:r>
              <a:rPr lang="en-US" sz="1700" dirty="0">
                <a:latin typeface="Arial" pitchFamily="34" charset="0"/>
                <a:cs typeface="Arial" pitchFamily="34" charset="0"/>
              </a:rPr>
              <a:t>Title 26, Internal Revenues: Section 1.174-2 specifies the definition of R&amp;D for tax filing purposes, and Section 1.41 specifies R&amp;D eligible costs for the research and experimental development tax credit</a:t>
            </a:r>
          </a:p>
          <a:p>
            <a:pPr lvl="2">
              <a:lnSpc>
                <a:spcPct val="120000"/>
              </a:lnSpc>
              <a:defRPr/>
            </a:pPr>
            <a:r>
              <a:rPr lang="en-US" sz="1700" dirty="0">
                <a:latin typeface="Arial" pitchFamily="34" charset="0"/>
                <a:cs typeface="Arial" pitchFamily="34" charset="0"/>
              </a:rPr>
              <a:t>Financial Accounting Standards Board (FASB) ASC Topic 730, Research and Development” provides the basis of generally accepted accounting principles for businesses within the United States</a:t>
            </a:r>
          </a:p>
          <a:p>
            <a:pPr lvl="2">
              <a:lnSpc>
                <a:spcPct val="120000"/>
              </a:lnSpc>
              <a:defRPr/>
            </a:pPr>
            <a:endParaRPr lang="en-US" sz="1500" dirty="0">
              <a:latin typeface="Arial" pitchFamily="34" charset="0"/>
              <a:cs typeface="Arial" pitchFamily="34" charset="0"/>
            </a:endParaRPr>
          </a:p>
          <a:p>
            <a:pPr marL="0" indent="0">
              <a:buFontTx/>
              <a:buNone/>
              <a:defRPr/>
            </a:pPr>
            <a:endParaRPr lang="en-US" sz="2400" dirty="0">
              <a:latin typeface="Arial" pitchFamily="34" charset="0"/>
              <a:cs typeface="Arial" pitchFamily="34" charset="0"/>
            </a:endParaRPr>
          </a:p>
        </p:txBody>
      </p:sp>
      <p:sp>
        <p:nvSpPr>
          <p:cNvPr id="11268" name="Rectangle 1027"/>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pic>
        <p:nvPicPr>
          <p:cNvPr id="11269" name="Picture 8" descr="nsf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Picture 10" descr="NCSES_logo_oneline_150.eps"/>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7383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6B74E307-8E63-4019-AC84-B0E0165D9BCA}"/>
              </a:ext>
            </a:extLst>
          </p:cNvPr>
          <p:cNvSpPr>
            <a:spLocks noGrp="1" noChangeArrowheads="1"/>
          </p:cNvSpPr>
          <p:nvPr>
            <p:ph type="title"/>
          </p:nvPr>
        </p:nvSpPr>
        <p:spPr>
          <a:xfrm>
            <a:off x="594360" y="1028700"/>
            <a:ext cx="8183404" cy="1143000"/>
          </a:xfrm>
        </p:spPr>
        <p:txBody>
          <a:bodyPr/>
          <a:lstStyle/>
          <a:p>
            <a:pPr eaLnBrk="1" hangingPunct="1"/>
            <a:r>
              <a:rPr lang="en-US" sz="3200" b="1" dirty="0">
                <a:latin typeface="Arial" charset="0"/>
                <a:cs typeface="Arial" charset="0"/>
              </a:rPr>
              <a:t>U.S. 2016 R&amp;D Expenditures: </a:t>
            </a:r>
            <a:br>
              <a:rPr lang="en-US" sz="3200" b="1" dirty="0">
                <a:latin typeface="Arial" charset="0"/>
                <a:cs typeface="Arial" charset="0"/>
              </a:rPr>
            </a:br>
            <a:r>
              <a:rPr lang="en-US" sz="3200" b="1" dirty="0">
                <a:latin typeface="Arial" charset="0"/>
                <a:cs typeface="Arial" charset="0"/>
              </a:rPr>
              <a:t>$510 Billion </a:t>
            </a:r>
            <a:r>
              <a:rPr lang="en-US" sz="1800" b="1" dirty="0">
                <a:latin typeface="Arial" charset="0"/>
                <a:cs typeface="Arial" charset="0"/>
              </a:rPr>
              <a:t>(prelim.)</a:t>
            </a:r>
            <a:br>
              <a:rPr lang="en-US" sz="3200" dirty="0"/>
            </a:br>
            <a:endParaRPr lang="en-US" altLang="en-US" sz="3200" dirty="0">
              <a:latin typeface="Arial" panose="020B0604020202020204" pitchFamily="34" charset="0"/>
            </a:endParaRPr>
          </a:p>
        </p:txBody>
      </p:sp>
      <p:sp>
        <p:nvSpPr>
          <p:cNvPr id="5123" name="Rectangle 4" title="divider">
            <a:extLst>
              <a:ext uri="{FF2B5EF4-FFF2-40B4-BE49-F238E27FC236}">
                <a16:creationId xmlns:a16="http://schemas.microsoft.com/office/drawing/2014/main" id="{31F02BF7-CA0F-4B08-A815-175706913B47}"/>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5126" name="Picture 10" descr="National Center for Science and Engineering Statistics logo">
            <a:extLst>
              <a:ext uri="{FF2B5EF4-FFF2-40B4-BE49-F238E27FC236}">
                <a16:creationId xmlns:a16="http://schemas.microsoft.com/office/drawing/2014/main" id="{00FB7131-8740-4974-9F0E-C3A67D9867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8" descr="nsf2">
            <a:extLst>
              <a:ext uri="{FF2B5EF4-FFF2-40B4-BE49-F238E27FC236}">
                <a16:creationId xmlns:a16="http://schemas.microsoft.com/office/drawing/2014/main" id="{0C59B2C5-9A93-4514-8E79-5228D0F8EF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 name="Chart 11">
            <a:extLst>
              <a:ext uri="{FF2B5EF4-FFF2-40B4-BE49-F238E27FC236}">
                <a16:creationId xmlns:a16="http://schemas.microsoft.com/office/drawing/2014/main" id="{8E9A2BA3-F17E-4060-95CE-59C263A05C50}"/>
              </a:ext>
            </a:extLst>
          </p:cNvPr>
          <p:cNvGraphicFramePr>
            <a:graphicFrameLocks/>
          </p:cNvGraphicFramePr>
          <p:nvPr/>
        </p:nvGraphicFramePr>
        <p:xfrm>
          <a:off x="449103" y="3000375"/>
          <a:ext cx="3883820" cy="250031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3" name="Chart 12">
            <a:extLst>
              <a:ext uri="{FF2B5EF4-FFF2-40B4-BE49-F238E27FC236}">
                <a16:creationId xmlns:a16="http://schemas.microsoft.com/office/drawing/2014/main" id="{88E39A22-D44F-4644-8618-0BB4784248B9}"/>
              </a:ext>
            </a:extLst>
          </p:cNvPr>
          <p:cNvGraphicFramePr>
            <a:graphicFrameLocks/>
          </p:cNvGraphicFramePr>
          <p:nvPr/>
        </p:nvGraphicFramePr>
        <p:xfrm>
          <a:off x="4478178" y="3048000"/>
          <a:ext cx="4299586" cy="2452688"/>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 Box 4">
            <a:extLst>
              <a:ext uri="{FF2B5EF4-FFF2-40B4-BE49-F238E27FC236}">
                <a16:creationId xmlns:a16="http://schemas.microsoft.com/office/drawing/2014/main" id="{27AC0DF7-BDCE-4EEE-8AF3-2D8AB180F76A}"/>
              </a:ext>
            </a:extLst>
          </p:cNvPr>
          <p:cNvSpPr txBox="1">
            <a:spLocks noChangeArrowheads="1"/>
          </p:cNvSpPr>
          <p:nvPr/>
        </p:nvSpPr>
        <p:spPr bwMode="auto">
          <a:xfrm>
            <a:off x="4883468" y="2786390"/>
            <a:ext cx="1321196"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Business 67%</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$344 billion</a:t>
            </a:r>
            <a:endParaRPr lang="en-US" sz="1400" kern="0" dirty="0">
              <a:solidFill>
                <a:srgbClr val="FFFFFF"/>
              </a:solidFill>
              <a:latin typeface="Arial" pitchFamily="34" charset="0"/>
              <a:cs typeface="Arial" pitchFamily="34" charset="0"/>
            </a:endParaRPr>
          </a:p>
        </p:txBody>
      </p:sp>
      <p:sp>
        <p:nvSpPr>
          <p:cNvPr id="16" name="Text Box 15">
            <a:extLst>
              <a:ext uri="{FF2B5EF4-FFF2-40B4-BE49-F238E27FC236}">
                <a16:creationId xmlns:a16="http://schemas.microsoft.com/office/drawing/2014/main" id="{4B4EC386-9C57-462B-B72A-4196D00D8E02}"/>
              </a:ext>
            </a:extLst>
          </p:cNvPr>
          <p:cNvSpPr txBox="1">
            <a:spLocks noChangeArrowheads="1"/>
          </p:cNvSpPr>
          <p:nvPr/>
        </p:nvSpPr>
        <p:spPr bwMode="auto">
          <a:xfrm>
            <a:off x="762001" y="2133600"/>
            <a:ext cx="3581400" cy="457200"/>
          </a:xfrm>
          <a:prstGeom prst="rect">
            <a:avLst/>
          </a:prstGeom>
          <a:noFill/>
          <a:ln w="9525">
            <a:noFill/>
            <a:miter lim="800000"/>
            <a:headEnd/>
            <a:tailEnd/>
          </a:ln>
        </p:spPr>
        <p:txBody>
          <a:bodyPr>
            <a:spAutoFit/>
          </a:bodyPr>
          <a:lstStyle/>
          <a:p>
            <a:pPr algn="ctr" fontAlgn="auto">
              <a:spcBef>
                <a:spcPts val="0"/>
              </a:spcBef>
              <a:spcAft>
                <a:spcPts val="0"/>
              </a:spcAft>
              <a:defRPr/>
            </a:pPr>
            <a:r>
              <a:rPr lang="en-US" kern="0" dirty="0">
                <a:solidFill>
                  <a:sysClr val="windowText" lastClr="000000"/>
                </a:solidFill>
                <a:latin typeface="Arial" pitchFamily="34" charset="0"/>
                <a:cs typeface="Arial" pitchFamily="34" charset="0"/>
              </a:rPr>
              <a:t>By Performing Sector</a:t>
            </a:r>
          </a:p>
        </p:txBody>
      </p:sp>
      <p:sp>
        <p:nvSpPr>
          <p:cNvPr id="17" name="Text Box 15">
            <a:extLst>
              <a:ext uri="{FF2B5EF4-FFF2-40B4-BE49-F238E27FC236}">
                <a16:creationId xmlns:a16="http://schemas.microsoft.com/office/drawing/2014/main" id="{3BBFB6CD-E1F1-42A2-B91B-E6884FBBD217}"/>
              </a:ext>
            </a:extLst>
          </p:cNvPr>
          <p:cNvSpPr txBox="1">
            <a:spLocks noChangeArrowheads="1"/>
          </p:cNvSpPr>
          <p:nvPr/>
        </p:nvSpPr>
        <p:spPr bwMode="auto">
          <a:xfrm>
            <a:off x="4769882" y="2133600"/>
            <a:ext cx="3581400" cy="457200"/>
          </a:xfrm>
          <a:prstGeom prst="rect">
            <a:avLst/>
          </a:prstGeom>
          <a:noFill/>
          <a:ln w="9525">
            <a:noFill/>
            <a:miter lim="800000"/>
            <a:headEnd/>
            <a:tailEnd/>
          </a:ln>
        </p:spPr>
        <p:txBody>
          <a:bodyPr>
            <a:spAutoFit/>
          </a:bodyPr>
          <a:lstStyle/>
          <a:p>
            <a:pPr algn="ctr" fontAlgn="auto">
              <a:spcBef>
                <a:spcPts val="0"/>
              </a:spcBef>
              <a:spcAft>
                <a:spcPts val="0"/>
              </a:spcAft>
              <a:defRPr/>
            </a:pPr>
            <a:r>
              <a:rPr lang="en-US" kern="0" dirty="0">
                <a:solidFill>
                  <a:sysClr val="windowText" lastClr="000000"/>
                </a:solidFill>
                <a:latin typeface="Arial" pitchFamily="34" charset="0"/>
                <a:cs typeface="Arial" pitchFamily="34" charset="0"/>
              </a:rPr>
              <a:t>By Source of Funds</a:t>
            </a:r>
          </a:p>
        </p:txBody>
      </p:sp>
      <p:sp>
        <p:nvSpPr>
          <p:cNvPr id="18" name="Text Box 4">
            <a:extLst>
              <a:ext uri="{FF2B5EF4-FFF2-40B4-BE49-F238E27FC236}">
                <a16:creationId xmlns:a16="http://schemas.microsoft.com/office/drawing/2014/main" id="{BFB22386-1F8E-49D1-9FAB-4801AF28C65F}"/>
              </a:ext>
            </a:extLst>
          </p:cNvPr>
          <p:cNvSpPr txBox="1">
            <a:spLocks noChangeArrowheads="1"/>
          </p:cNvSpPr>
          <p:nvPr/>
        </p:nvSpPr>
        <p:spPr bwMode="auto">
          <a:xfrm>
            <a:off x="1127166" y="2753380"/>
            <a:ext cx="1321196"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Business 71%</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$364 billion</a:t>
            </a:r>
            <a:endParaRPr lang="en-US" sz="1400" kern="0" dirty="0">
              <a:solidFill>
                <a:srgbClr val="FFFFFF"/>
              </a:solidFill>
              <a:latin typeface="Arial" pitchFamily="34" charset="0"/>
              <a:cs typeface="Arial" pitchFamily="34" charset="0"/>
            </a:endParaRPr>
          </a:p>
        </p:txBody>
      </p:sp>
      <p:sp>
        <p:nvSpPr>
          <p:cNvPr id="19" name="Text Box 7">
            <a:extLst>
              <a:ext uri="{FF2B5EF4-FFF2-40B4-BE49-F238E27FC236}">
                <a16:creationId xmlns:a16="http://schemas.microsoft.com/office/drawing/2014/main" id="{14981D6B-BE53-436F-8B41-4B491ED20A85}"/>
              </a:ext>
            </a:extLst>
          </p:cNvPr>
          <p:cNvSpPr txBox="1">
            <a:spLocks noChangeArrowheads="1"/>
          </p:cNvSpPr>
          <p:nvPr/>
        </p:nvSpPr>
        <p:spPr bwMode="auto">
          <a:xfrm>
            <a:off x="302952" y="5139362"/>
            <a:ext cx="1373448" cy="523220"/>
          </a:xfrm>
          <a:prstGeom prst="rect">
            <a:avLst/>
          </a:prstGeom>
          <a:noFill/>
          <a:ln w="9525">
            <a:noFill/>
            <a:miter lim="800000"/>
            <a:headEnd/>
            <a:tailEnd/>
          </a:ln>
        </p:spPr>
        <p:txBody>
          <a:bodyPr wrap="squar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Nonprofits 4%</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$21 billion</a:t>
            </a:r>
          </a:p>
        </p:txBody>
      </p:sp>
      <p:sp>
        <p:nvSpPr>
          <p:cNvPr id="20" name="Text Box 7">
            <a:extLst>
              <a:ext uri="{FF2B5EF4-FFF2-40B4-BE49-F238E27FC236}">
                <a16:creationId xmlns:a16="http://schemas.microsoft.com/office/drawing/2014/main" id="{A089AA54-42D2-41CE-8A15-CD0321518967}"/>
              </a:ext>
            </a:extLst>
          </p:cNvPr>
          <p:cNvSpPr txBox="1">
            <a:spLocks noChangeArrowheads="1"/>
          </p:cNvSpPr>
          <p:nvPr/>
        </p:nvSpPr>
        <p:spPr bwMode="auto">
          <a:xfrm>
            <a:off x="4475894" y="5159545"/>
            <a:ext cx="1369359" cy="523220"/>
          </a:xfrm>
          <a:prstGeom prst="rect">
            <a:avLst/>
          </a:prstGeom>
          <a:noFill/>
          <a:ln w="9525">
            <a:noFill/>
            <a:miter lim="800000"/>
            <a:headEnd/>
            <a:tailEnd/>
          </a:ln>
        </p:spPr>
        <p:txBody>
          <a:bodyPr wrap="squar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Nonprofits 4% $21 billion</a:t>
            </a:r>
          </a:p>
        </p:txBody>
      </p:sp>
      <p:sp>
        <p:nvSpPr>
          <p:cNvPr id="21" name="Text Box 6">
            <a:extLst>
              <a:ext uri="{FF2B5EF4-FFF2-40B4-BE49-F238E27FC236}">
                <a16:creationId xmlns:a16="http://schemas.microsoft.com/office/drawing/2014/main" id="{D7FD2547-4B62-4E68-9A6A-05DCCD7D6D16}"/>
              </a:ext>
            </a:extLst>
          </p:cNvPr>
          <p:cNvSpPr txBox="1">
            <a:spLocks noChangeArrowheads="1"/>
          </p:cNvSpPr>
          <p:nvPr/>
        </p:nvSpPr>
        <p:spPr bwMode="auto">
          <a:xfrm>
            <a:off x="7616259" y="5126995"/>
            <a:ext cx="1199367"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Federal 24%</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$122 billion</a:t>
            </a:r>
          </a:p>
        </p:txBody>
      </p:sp>
      <p:sp>
        <p:nvSpPr>
          <p:cNvPr id="22" name="Text Box 6">
            <a:extLst>
              <a:ext uri="{FF2B5EF4-FFF2-40B4-BE49-F238E27FC236}">
                <a16:creationId xmlns:a16="http://schemas.microsoft.com/office/drawing/2014/main" id="{B4DA55B3-13B1-4360-86C4-B9DD0E4B1520}"/>
              </a:ext>
            </a:extLst>
          </p:cNvPr>
          <p:cNvSpPr txBox="1">
            <a:spLocks noChangeArrowheads="1"/>
          </p:cNvSpPr>
          <p:nvPr/>
        </p:nvSpPr>
        <p:spPr bwMode="auto">
          <a:xfrm>
            <a:off x="3825469" y="4723881"/>
            <a:ext cx="1099981"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Federal 8%</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$38 billion</a:t>
            </a:r>
          </a:p>
        </p:txBody>
      </p:sp>
      <p:sp>
        <p:nvSpPr>
          <p:cNvPr id="23" name="Text Box 6">
            <a:extLst>
              <a:ext uri="{FF2B5EF4-FFF2-40B4-BE49-F238E27FC236}">
                <a16:creationId xmlns:a16="http://schemas.microsoft.com/office/drawing/2014/main" id="{481C54B7-38F2-4C00-B7CA-9383ACCA55EA}"/>
              </a:ext>
            </a:extLst>
          </p:cNvPr>
          <p:cNvSpPr txBox="1">
            <a:spLocks noChangeArrowheads="1"/>
          </p:cNvSpPr>
          <p:nvPr/>
        </p:nvSpPr>
        <p:spPr bwMode="auto">
          <a:xfrm>
            <a:off x="3129962" y="5282923"/>
            <a:ext cx="1191352"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FFRDCs 4%</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$19 billion</a:t>
            </a:r>
          </a:p>
        </p:txBody>
      </p:sp>
      <p:sp>
        <p:nvSpPr>
          <p:cNvPr id="24" name="Text Box 6">
            <a:extLst>
              <a:ext uri="{FF2B5EF4-FFF2-40B4-BE49-F238E27FC236}">
                <a16:creationId xmlns:a16="http://schemas.microsoft.com/office/drawing/2014/main" id="{F8509658-B727-41F1-9A46-FFAC9005A5F7}"/>
              </a:ext>
            </a:extLst>
          </p:cNvPr>
          <p:cNvSpPr txBox="1">
            <a:spLocks noChangeArrowheads="1"/>
          </p:cNvSpPr>
          <p:nvPr/>
        </p:nvSpPr>
        <p:spPr bwMode="auto">
          <a:xfrm>
            <a:off x="6293511" y="5614036"/>
            <a:ext cx="1208985"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Non-fed gov.</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1% $4 billion</a:t>
            </a:r>
          </a:p>
        </p:txBody>
      </p:sp>
      <p:sp>
        <p:nvSpPr>
          <p:cNvPr id="25" name="Text Box 7">
            <a:extLst>
              <a:ext uri="{FF2B5EF4-FFF2-40B4-BE49-F238E27FC236}">
                <a16:creationId xmlns:a16="http://schemas.microsoft.com/office/drawing/2014/main" id="{BA8E7B10-CB48-44A0-92C6-7CCE4F9D0AB3}"/>
              </a:ext>
            </a:extLst>
          </p:cNvPr>
          <p:cNvSpPr txBox="1">
            <a:spLocks noChangeArrowheads="1"/>
          </p:cNvSpPr>
          <p:nvPr/>
        </p:nvSpPr>
        <p:spPr bwMode="auto">
          <a:xfrm>
            <a:off x="1601343" y="5381449"/>
            <a:ext cx="1516692" cy="523220"/>
          </a:xfrm>
          <a:prstGeom prst="rect">
            <a:avLst/>
          </a:prstGeom>
          <a:noFill/>
          <a:ln w="9525">
            <a:noFill/>
            <a:miter lim="800000"/>
            <a:headEnd/>
            <a:tailEnd/>
          </a:ln>
        </p:spPr>
        <p:txBody>
          <a:bodyPr wrap="squar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Higher Ed.13% $68 billion</a:t>
            </a:r>
          </a:p>
        </p:txBody>
      </p:sp>
      <p:sp>
        <p:nvSpPr>
          <p:cNvPr id="26" name="Text Box 7">
            <a:extLst>
              <a:ext uri="{FF2B5EF4-FFF2-40B4-BE49-F238E27FC236}">
                <a16:creationId xmlns:a16="http://schemas.microsoft.com/office/drawing/2014/main" id="{84D2DE2D-EB14-431A-8210-E026FA45FCEC}"/>
              </a:ext>
            </a:extLst>
          </p:cNvPr>
          <p:cNvSpPr txBox="1">
            <a:spLocks noChangeArrowheads="1"/>
          </p:cNvSpPr>
          <p:nvPr/>
        </p:nvSpPr>
        <p:spPr bwMode="auto">
          <a:xfrm>
            <a:off x="4806116" y="5685680"/>
            <a:ext cx="1516692" cy="523220"/>
          </a:xfrm>
          <a:prstGeom prst="rect">
            <a:avLst/>
          </a:prstGeom>
          <a:noFill/>
          <a:ln w="9525">
            <a:noFill/>
            <a:miter lim="800000"/>
            <a:headEnd/>
            <a:tailEnd/>
          </a:ln>
        </p:spPr>
        <p:txBody>
          <a:bodyPr wrap="squar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Higher Ed.4% $19 billion</a:t>
            </a:r>
          </a:p>
        </p:txBody>
      </p:sp>
      <p:cxnSp>
        <p:nvCxnSpPr>
          <p:cNvPr id="6" name="Straight Arrow Connector 5">
            <a:extLst>
              <a:ext uri="{FF2B5EF4-FFF2-40B4-BE49-F238E27FC236}">
                <a16:creationId xmlns:a16="http://schemas.microsoft.com/office/drawing/2014/main" id="{1A412FDF-5E8A-4E7B-9E32-87BF31AA25D8}"/>
              </a:ext>
            </a:extLst>
          </p:cNvPr>
          <p:cNvCxnSpPr>
            <a:cxnSpLocks/>
          </p:cNvCxnSpPr>
          <p:nvPr/>
        </p:nvCxnSpPr>
        <p:spPr>
          <a:xfrm flipV="1">
            <a:off x="5816963" y="5275038"/>
            <a:ext cx="202413" cy="4872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1909785B-88C3-48FC-84CF-F94411DE6454}"/>
              </a:ext>
            </a:extLst>
          </p:cNvPr>
          <p:cNvCxnSpPr/>
          <p:nvPr/>
        </p:nvCxnSpPr>
        <p:spPr>
          <a:xfrm flipH="1" flipV="1">
            <a:off x="6278271" y="5315696"/>
            <a:ext cx="129822" cy="3699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 Box 6">
            <a:extLst>
              <a:ext uri="{FF2B5EF4-FFF2-40B4-BE49-F238E27FC236}">
                <a16:creationId xmlns:a16="http://schemas.microsoft.com/office/drawing/2014/main" id="{B9855963-D9C4-443C-8A20-30BE8EC80816}"/>
              </a:ext>
            </a:extLst>
          </p:cNvPr>
          <p:cNvSpPr txBox="1">
            <a:spLocks noChangeArrowheads="1"/>
          </p:cNvSpPr>
          <p:nvPr/>
        </p:nvSpPr>
        <p:spPr bwMode="auto">
          <a:xfrm>
            <a:off x="-186333" y="5806143"/>
            <a:ext cx="1896673"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*State gov.</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        0.1% $0.6 billion</a:t>
            </a:r>
          </a:p>
        </p:txBody>
      </p:sp>
      <p:sp>
        <p:nvSpPr>
          <p:cNvPr id="2" name="Rectangle 1">
            <a:extLst>
              <a:ext uri="{FF2B5EF4-FFF2-40B4-BE49-F238E27FC236}">
                <a16:creationId xmlns:a16="http://schemas.microsoft.com/office/drawing/2014/main" id="{BBEA93AA-0C6A-4B86-A810-BE7B35855ED4}"/>
              </a:ext>
            </a:extLst>
          </p:cNvPr>
          <p:cNvSpPr/>
          <p:nvPr/>
        </p:nvSpPr>
        <p:spPr>
          <a:xfrm>
            <a:off x="2962836" y="5079863"/>
            <a:ext cx="304892" cy="461665"/>
          </a:xfrm>
          <a:prstGeom prst="rect">
            <a:avLst/>
          </a:prstGeom>
        </p:spPr>
        <p:txBody>
          <a:bodyPr wrap="none">
            <a:spAutoFit/>
          </a:bodyPr>
          <a:lstStyle/>
          <a:p>
            <a:r>
              <a:rPr lang="en-US" kern="0" dirty="0">
                <a:solidFill>
                  <a:sysClr val="windowText" lastClr="000000"/>
                </a:solidFill>
                <a:latin typeface="Arial" pitchFamily="34" charset="0"/>
                <a:cs typeface="Arial" pitchFamily="34" charset="0"/>
              </a:rPr>
              <a:t>*</a:t>
            </a:r>
            <a:endParaRPr lang="en-US" dirty="0"/>
          </a:p>
        </p:txBody>
      </p:sp>
      <p:cxnSp>
        <p:nvCxnSpPr>
          <p:cNvPr id="4" name="Straight Arrow Connector 3">
            <a:extLst>
              <a:ext uri="{FF2B5EF4-FFF2-40B4-BE49-F238E27FC236}">
                <a16:creationId xmlns:a16="http://schemas.microsoft.com/office/drawing/2014/main" id="{37D4605C-AB99-4D71-8F5D-CF04FCDBDEBF}"/>
              </a:ext>
            </a:extLst>
          </p:cNvPr>
          <p:cNvCxnSpPr/>
          <p:nvPr/>
        </p:nvCxnSpPr>
        <p:spPr>
          <a:xfrm flipH="1" flipV="1">
            <a:off x="3352800" y="5079863"/>
            <a:ext cx="152400" cy="2358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554222D-483D-4176-AD21-44FC645504DF}"/>
              </a:ext>
            </a:extLst>
          </p:cNvPr>
          <p:cNvSpPr txBox="1"/>
          <p:nvPr/>
        </p:nvSpPr>
        <p:spPr>
          <a:xfrm>
            <a:off x="342900" y="6477000"/>
            <a:ext cx="4463216"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Source: NCSES, National Patterns of R&amp;D Resources</a:t>
            </a:r>
          </a:p>
        </p:txBody>
      </p:sp>
      <p:sp>
        <p:nvSpPr>
          <p:cNvPr id="5" name="Slide Number Placeholder 4">
            <a:extLst>
              <a:ext uri="{FF2B5EF4-FFF2-40B4-BE49-F238E27FC236}">
                <a16:creationId xmlns:a16="http://schemas.microsoft.com/office/drawing/2014/main" id="{11D9E988-B7C0-464F-9729-10CF298F3C82}"/>
              </a:ext>
            </a:extLst>
          </p:cNvPr>
          <p:cNvSpPr>
            <a:spLocks noGrp="1"/>
          </p:cNvSpPr>
          <p:nvPr>
            <p:ph type="sldNum" sz="quarter" idx="12"/>
          </p:nvPr>
        </p:nvSpPr>
        <p:spPr/>
        <p:txBody>
          <a:bodyPr/>
          <a:lstStyle/>
          <a:p>
            <a:fld id="{1B835D90-6387-4175-8905-3408BA5A358B}" type="slidenum">
              <a:rPr lang="en-US" altLang="en-US" smtClean="0"/>
              <a:pPr/>
              <a:t>9</a:t>
            </a:fld>
            <a:endParaRPr lang="en-US" altLang="en-US"/>
          </a:p>
        </p:txBody>
      </p:sp>
    </p:spTree>
    <p:extLst>
      <p:ext uri="{BB962C8B-B14F-4D97-AF65-F5344CB8AC3E}">
        <p14:creationId xmlns:p14="http://schemas.microsoft.com/office/powerpoint/2010/main" val="2560817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6B74E307-8E63-4019-AC84-B0E0165D9BCA}"/>
              </a:ext>
            </a:extLst>
          </p:cNvPr>
          <p:cNvSpPr>
            <a:spLocks noGrp="1" noChangeArrowheads="1"/>
          </p:cNvSpPr>
          <p:nvPr>
            <p:ph type="title"/>
          </p:nvPr>
        </p:nvSpPr>
        <p:spPr>
          <a:xfrm>
            <a:off x="594360" y="1028700"/>
            <a:ext cx="8183404" cy="1143000"/>
          </a:xfrm>
        </p:spPr>
        <p:txBody>
          <a:bodyPr/>
          <a:lstStyle/>
          <a:p>
            <a:pPr eaLnBrk="1" hangingPunct="1"/>
            <a:r>
              <a:rPr lang="en-US" sz="3200" b="1" dirty="0">
                <a:latin typeface="Arial" charset="0"/>
                <a:cs typeface="Arial" charset="0"/>
              </a:rPr>
              <a:t>U.S. 2016 Basic Research Expenditures: </a:t>
            </a:r>
            <a:br>
              <a:rPr lang="en-US" sz="3200" b="1" dirty="0">
                <a:latin typeface="Arial" charset="0"/>
                <a:cs typeface="Arial" charset="0"/>
              </a:rPr>
            </a:br>
            <a:r>
              <a:rPr lang="en-US" sz="3200" b="1" dirty="0">
                <a:latin typeface="Arial" charset="0"/>
                <a:cs typeface="Arial" charset="0"/>
              </a:rPr>
              <a:t>$86 Billion </a:t>
            </a:r>
            <a:r>
              <a:rPr lang="en-US" sz="1600" b="1" dirty="0">
                <a:latin typeface="Arial" charset="0"/>
                <a:cs typeface="Arial" charset="0"/>
              </a:rPr>
              <a:t>(prelim.)</a:t>
            </a:r>
            <a:br>
              <a:rPr lang="en-US" sz="3200" dirty="0"/>
            </a:br>
            <a:endParaRPr lang="en-US" altLang="en-US" sz="3200" dirty="0">
              <a:latin typeface="Arial" panose="020B0604020202020204" pitchFamily="34" charset="0"/>
            </a:endParaRPr>
          </a:p>
        </p:txBody>
      </p:sp>
      <p:sp>
        <p:nvSpPr>
          <p:cNvPr id="5123" name="Rectangle 4" title="divider">
            <a:extLst>
              <a:ext uri="{FF2B5EF4-FFF2-40B4-BE49-F238E27FC236}">
                <a16:creationId xmlns:a16="http://schemas.microsoft.com/office/drawing/2014/main" id="{31F02BF7-CA0F-4B08-A815-175706913B47}"/>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5126" name="Picture 10" descr="National Center for Science and Engineering Statistics logo">
            <a:extLst>
              <a:ext uri="{FF2B5EF4-FFF2-40B4-BE49-F238E27FC236}">
                <a16:creationId xmlns:a16="http://schemas.microsoft.com/office/drawing/2014/main" id="{00FB7131-8740-4974-9F0E-C3A67D9867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8" descr="nsf2">
            <a:extLst>
              <a:ext uri="{FF2B5EF4-FFF2-40B4-BE49-F238E27FC236}">
                <a16:creationId xmlns:a16="http://schemas.microsoft.com/office/drawing/2014/main" id="{0C59B2C5-9A93-4514-8E79-5228D0F8EF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4">
            <a:extLst>
              <a:ext uri="{FF2B5EF4-FFF2-40B4-BE49-F238E27FC236}">
                <a16:creationId xmlns:a16="http://schemas.microsoft.com/office/drawing/2014/main" id="{27AC0DF7-BDCE-4EEE-8AF3-2D8AB180F76A}"/>
              </a:ext>
            </a:extLst>
          </p:cNvPr>
          <p:cNvSpPr txBox="1">
            <a:spLocks noChangeArrowheads="1"/>
          </p:cNvSpPr>
          <p:nvPr/>
        </p:nvSpPr>
        <p:spPr bwMode="auto">
          <a:xfrm>
            <a:off x="4883468" y="2786390"/>
            <a:ext cx="1321196"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Business 27%</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$23 billion</a:t>
            </a:r>
            <a:endParaRPr lang="en-US" sz="1400" kern="0" dirty="0">
              <a:solidFill>
                <a:srgbClr val="FFFFFF"/>
              </a:solidFill>
              <a:latin typeface="Arial" pitchFamily="34" charset="0"/>
              <a:cs typeface="Arial" pitchFamily="34" charset="0"/>
            </a:endParaRPr>
          </a:p>
        </p:txBody>
      </p:sp>
      <p:sp>
        <p:nvSpPr>
          <p:cNvPr id="16" name="Text Box 15">
            <a:extLst>
              <a:ext uri="{FF2B5EF4-FFF2-40B4-BE49-F238E27FC236}">
                <a16:creationId xmlns:a16="http://schemas.microsoft.com/office/drawing/2014/main" id="{4B4EC386-9C57-462B-B72A-4196D00D8E02}"/>
              </a:ext>
            </a:extLst>
          </p:cNvPr>
          <p:cNvSpPr txBox="1">
            <a:spLocks noChangeArrowheads="1"/>
          </p:cNvSpPr>
          <p:nvPr/>
        </p:nvSpPr>
        <p:spPr bwMode="auto">
          <a:xfrm>
            <a:off x="762001" y="2133600"/>
            <a:ext cx="3581400" cy="457200"/>
          </a:xfrm>
          <a:prstGeom prst="rect">
            <a:avLst/>
          </a:prstGeom>
          <a:noFill/>
          <a:ln w="9525">
            <a:noFill/>
            <a:miter lim="800000"/>
            <a:headEnd/>
            <a:tailEnd/>
          </a:ln>
        </p:spPr>
        <p:txBody>
          <a:bodyPr>
            <a:spAutoFit/>
          </a:bodyPr>
          <a:lstStyle/>
          <a:p>
            <a:pPr algn="ctr" fontAlgn="auto">
              <a:spcBef>
                <a:spcPts val="0"/>
              </a:spcBef>
              <a:spcAft>
                <a:spcPts val="0"/>
              </a:spcAft>
              <a:defRPr/>
            </a:pPr>
            <a:r>
              <a:rPr lang="en-US" kern="0" dirty="0">
                <a:solidFill>
                  <a:sysClr val="windowText" lastClr="000000"/>
                </a:solidFill>
                <a:latin typeface="Arial" pitchFamily="34" charset="0"/>
                <a:cs typeface="Arial" pitchFamily="34" charset="0"/>
              </a:rPr>
              <a:t>By Performing Sector</a:t>
            </a:r>
          </a:p>
        </p:txBody>
      </p:sp>
      <p:sp>
        <p:nvSpPr>
          <p:cNvPr id="17" name="Text Box 15">
            <a:extLst>
              <a:ext uri="{FF2B5EF4-FFF2-40B4-BE49-F238E27FC236}">
                <a16:creationId xmlns:a16="http://schemas.microsoft.com/office/drawing/2014/main" id="{3BBFB6CD-E1F1-42A2-B91B-E6884FBBD217}"/>
              </a:ext>
            </a:extLst>
          </p:cNvPr>
          <p:cNvSpPr txBox="1">
            <a:spLocks noChangeArrowheads="1"/>
          </p:cNvSpPr>
          <p:nvPr/>
        </p:nvSpPr>
        <p:spPr bwMode="auto">
          <a:xfrm>
            <a:off x="4769882" y="2133600"/>
            <a:ext cx="3581400" cy="457200"/>
          </a:xfrm>
          <a:prstGeom prst="rect">
            <a:avLst/>
          </a:prstGeom>
          <a:noFill/>
          <a:ln w="9525">
            <a:noFill/>
            <a:miter lim="800000"/>
            <a:headEnd/>
            <a:tailEnd/>
          </a:ln>
        </p:spPr>
        <p:txBody>
          <a:bodyPr>
            <a:spAutoFit/>
          </a:bodyPr>
          <a:lstStyle/>
          <a:p>
            <a:pPr algn="ctr" fontAlgn="auto">
              <a:spcBef>
                <a:spcPts val="0"/>
              </a:spcBef>
              <a:spcAft>
                <a:spcPts val="0"/>
              </a:spcAft>
              <a:defRPr/>
            </a:pPr>
            <a:r>
              <a:rPr lang="en-US" kern="0" dirty="0">
                <a:solidFill>
                  <a:sysClr val="windowText" lastClr="000000"/>
                </a:solidFill>
                <a:latin typeface="Arial" pitchFamily="34" charset="0"/>
                <a:cs typeface="Arial" pitchFamily="34" charset="0"/>
              </a:rPr>
              <a:t>By Source of Funds</a:t>
            </a:r>
          </a:p>
        </p:txBody>
      </p:sp>
      <p:sp>
        <p:nvSpPr>
          <p:cNvPr id="18" name="Text Box 4">
            <a:extLst>
              <a:ext uri="{FF2B5EF4-FFF2-40B4-BE49-F238E27FC236}">
                <a16:creationId xmlns:a16="http://schemas.microsoft.com/office/drawing/2014/main" id="{BFB22386-1F8E-49D1-9FAB-4801AF28C65F}"/>
              </a:ext>
            </a:extLst>
          </p:cNvPr>
          <p:cNvSpPr txBox="1">
            <a:spLocks noChangeArrowheads="1"/>
          </p:cNvSpPr>
          <p:nvPr/>
        </p:nvSpPr>
        <p:spPr bwMode="auto">
          <a:xfrm>
            <a:off x="3112553" y="2843593"/>
            <a:ext cx="1321196"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Business 26%</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$22 billion</a:t>
            </a:r>
            <a:endParaRPr lang="en-US" sz="1400" kern="0" dirty="0">
              <a:solidFill>
                <a:srgbClr val="FFFFFF"/>
              </a:solidFill>
              <a:latin typeface="Arial" pitchFamily="34" charset="0"/>
              <a:cs typeface="Arial" pitchFamily="34" charset="0"/>
            </a:endParaRPr>
          </a:p>
        </p:txBody>
      </p:sp>
      <p:sp>
        <p:nvSpPr>
          <p:cNvPr id="19" name="Text Box 7">
            <a:extLst>
              <a:ext uri="{FF2B5EF4-FFF2-40B4-BE49-F238E27FC236}">
                <a16:creationId xmlns:a16="http://schemas.microsoft.com/office/drawing/2014/main" id="{14981D6B-BE53-436F-8B41-4B491ED20A85}"/>
              </a:ext>
            </a:extLst>
          </p:cNvPr>
          <p:cNvSpPr txBox="1">
            <a:spLocks noChangeArrowheads="1"/>
          </p:cNvSpPr>
          <p:nvPr/>
        </p:nvSpPr>
        <p:spPr bwMode="auto">
          <a:xfrm>
            <a:off x="1179252" y="2735777"/>
            <a:ext cx="1483581" cy="523220"/>
          </a:xfrm>
          <a:prstGeom prst="rect">
            <a:avLst/>
          </a:prstGeom>
          <a:noFill/>
          <a:ln w="9525">
            <a:noFill/>
            <a:miter lim="800000"/>
            <a:headEnd/>
            <a:tailEnd/>
          </a:ln>
        </p:spPr>
        <p:txBody>
          <a:bodyPr wrap="squar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Nonprofits 13%</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$11 billion</a:t>
            </a:r>
          </a:p>
        </p:txBody>
      </p:sp>
      <p:sp>
        <p:nvSpPr>
          <p:cNvPr id="20" name="Text Box 7">
            <a:extLst>
              <a:ext uri="{FF2B5EF4-FFF2-40B4-BE49-F238E27FC236}">
                <a16:creationId xmlns:a16="http://schemas.microsoft.com/office/drawing/2014/main" id="{A089AA54-42D2-41CE-8A15-CD0321518967}"/>
              </a:ext>
            </a:extLst>
          </p:cNvPr>
          <p:cNvSpPr txBox="1">
            <a:spLocks noChangeArrowheads="1"/>
          </p:cNvSpPr>
          <p:nvPr/>
        </p:nvSpPr>
        <p:spPr bwMode="auto">
          <a:xfrm>
            <a:off x="4769883" y="5112554"/>
            <a:ext cx="1474372" cy="523220"/>
          </a:xfrm>
          <a:prstGeom prst="rect">
            <a:avLst/>
          </a:prstGeom>
          <a:noFill/>
          <a:ln w="9525">
            <a:noFill/>
            <a:miter lim="800000"/>
            <a:headEnd/>
            <a:tailEnd/>
          </a:ln>
        </p:spPr>
        <p:txBody>
          <a:bodyPr wrap="squar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Nonprofits 13% $11 billion</a:t>
            </a:r>
          </a:p>
        </p:txBody>
      </p:sp>
      <p:sp>
        <p:nvSpPr>
          <p:cNvPr id="21" name="Text Box 6">
            <a:extLst>
              <a:ext uri="{FF2B5EF4-FFF2-40B4-BE49-F238E27FC236}">
                <a16:creationId xmlns:a16="http://schemas.microsoft.com/office/drawing/2014/main" id="{D7FD2547-4B62-4E68-9A6A-05DCCD7D6D16}"/>
              </a:ext>
            </a:extLst>
          </p:cNvPr>
          <p:cNvSpPr txBox="1">
            <a:spLocks noChangeArrowheads="1"/>
          </p:cNvSpPr>
          <p:nvPr/>
        </p:nvSpPr>
        <p:spPr bwMode="auto">
          <a:xfrm>
            <a:off x="7715859" y="2843593"/>
            <a:ext cx="1199367"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Federal 44%</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$38 billion</a:t>
            </a:r>
          </a:p>
        </p:txBody>
      </p:sp>
      <p:sp>
        <p:nvSpPr>
          <p:cNvPr id="22" name="Text Box 6">
            <a:extLst>
              <a:ext uri="{FF2B5EF4-FFF2-40B4-BE49-F238E27FC236}">
                <a16:creationId xmlns:a16="http://schemas.microsoft.com/office/drawing/2014/main" id="{B4DA55B3-13B1-4360-86C4-B9DD0E4B1520}"/>
              </a:ext>
            </a:extLst>
          </p:cNvPr>
          <p:cNvSpPr txBox="1">
            <a:spLocks noChangeArrowheads="1"/>
          </p:cNvSpPr>
          <p:nvPr/>
        </p:nvSpPr>
        <p:spPr bwMode="auto">
          <a:xfrm>
            <a:off x="3773151" y="4784009"/>
            <a:ext cx="1099981"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Federal 7%</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$6 billion</a:t>
            </a:r>
          </a:p>
        </p:txBody>
      </p:sp>
      <p:sp>
        <p:nvSpPr>
          <p:cNvPr id="23" name="Text Box 6">
            <a:extLst>
              <a:ext uri="{FF2B5EF4-FFF2-40B4-BE49-F238E27FC236}">
                <a16:creationId xmlns:a16="http://schemas.microsoft.com/office/drawing/2014/main" id="{481C54B7-38F2-4C00-B7CA-9383ACCA55EA}"/>
              </a:ext>
            </a:extLst>
          </p:cNvPr>
          <p:cNvSpPr txBox="1">
            <a:spLocks noChangeArrowheads="1"/>
          </p:cNvSpPr>
          <p:nvPr/>
        </p:nvSpPr>
        <p:spPr bwMode="auto">
          <a:xfrm>
            <a:off x="2946342" y="5319838"/>
            <a:ext cx="1191352"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FFRDCs 5%</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$4 billion</a:t>
            </a:r>
          </a:p>
        </p:txBody>
      </p:sp>
      <p:sp>
        <p:nvSpPr>
          <p:cNvPr id="24" name="Text Box 6">
            <a:extLst>
              <a:ext uri="{FF2B5EF4-FFF2-40B4-BE49-F238E27FC236}">
                <a16:creationId xmlns:a16="http://schemas.microsoft.com/office/drawing/2014/main" id="{F8509658-B727-41F1-9A46-FFAC9005A5F7}"/>
              </a:ext>
            </a:extLst>
          </p:cNvPr>
          <p:cNvSpPr txBox="1">
            <a:spLocks noChangeArrowheads="1"/>
          </p:cNvSpPr>
          <p:nvPr/>
        </p:nvSpPr>
        <p:spPr bwMode="auto">
          <a:xfrm>
            <a:off x="7665390" y="5399326"/>
            <a:ext cx="1208985" cy="523220"/>
          </a:xfrm>
          <a:prstGeom prst="rect">
            <a:avLst/>
          </a:prstGeom>
          <a:noFill/>
          <a:ln w="9525">
            <a:noFill/>
            <a:miter lim="800000"/>
            <a:headEnd/>
            <a:tailEnd/>
          </a:ln>
        </p:spPr>
        <p:txBody>
          <a:bodyPr wrap="non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Non-fed gov.</a:t>
            </a:r>
          </a:p>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3% $2 billion</a:t>
            </a:r>
          </a:p>
        </p:txBody>
      </p:sp>
      <p:sp>
        <p:nvSpPr>
          <p:cNvPr id="25" name="Text Box 7">
            <a:extLst>
              <a:ext uri="{FF2B5EF4-FFF2-40B4-BE49-F238E27FC236}">
                <a16:creationId xmlns:a16="http://schemas.microsoft.com/office/drawing/2014/main" id="{BA8E7B10-CB48-44A0-92C6-7CCE4F9D0AB3}"/>
              </a:ext>
            </a:extLst>
          </p:cNvPr>
          <p:cNvSpPr txBox="1">
            <a:spLocks noChangeArrowheads="1"/>
          </p:cNvSpPr>
          <p:nvPr/>
        </p:nvSpPr>
        <p:spPr bwMode="auto">
          <a:xfrm>
            <a:off x="429498" y="5191729"/>
            <a:ext cx="1516692" cy="523220"/>
          </a:xfrm>
          <a:prstGeom prst="rect">
            <a:avLst/>
          </a:prstGeom>
          <a:noFill/>
          <a:ln w="9525">
            <a:noFill/>
            <a:miter lim="800000"/>
            <a:headEnd/>
            <a:tailEnd/>
          </a:ln>
        </p:spPr>
        <p:txBody>
          <a:bodyPr wrap="squar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Higher Ed. 49% $42 billion</a:t>
            </a:r>
          </a:p>
        </p:txBody>
      </p:sp>
      <p:sp>
        <p:nvSpPr>
          <p:cNvPr id="26" name="Text Box 7">
            <a:extLst>
              <a:ext uri="{FF2B5EF4-FFF2-40B4-BE49-F238E27FC236}">
                <a16:creationId xmlns:a16="http://schemas.microsoft.com/office/drawing/2014/main" id="{84D2DE2D-EB14-431A-8210-E026FA45FCEC}"/>
              </a:ext>
            </a:extLst>
          </p:cNvPr>
          <p:cNvSpPr txBox="1">
            <a:spLocks noChangeArrowheads="1"/>
          </p:cNvSpPr>
          <p:nvPr/>
        </p:nvSpPr>
        <p:spPr bwMode="auto">
          <a:xfrm>
            <a:off x="6095270" y="5726329"/>
            <a:ext cx="1516692" cy="523220"/>
          </a:xfrm>
          <a:prstGeom prst="rect">
            <a:avLst/>
          </a:prstGeom>
          <a:noFill/>
          <a:ln w="9525">
            <a:noFill/>
            <a:miter lim="800000"/>
            <a:headEnd/>
            <a:tailEnd/>
          </a:ln>
        </p:spPr>
        <p:txBody>
          <a:bodyPr wrap="square">
            <a:spAutoFit/>
          </a:bodyPr>
          <a:lstStyle/>
          <a:p>
            <a:pPr algn="ctr" fontAlgn="auto">
              <a:spcBef>
                <a:spcPts val="0"/>
              </a:spcBef>
              <a:spcAft>
                <a:spcPts val="0"/>
              </a:spcAft>
              <a:defRPr/>
            </a:pPr>
            <a:r>
              <a:rPr lang="en-US" sz="1400" kern="0" dirty="0">
                <a:solidFill>
                  <a:sysClr val="windowText" lastClr="000000"/>
                </a:solidFill>
                <a:latin typeface="Arial" pitchFamily="34" charset="0"/>
                <a:cs typeface="Arial" pitchFamily="34" charset="0"/>
              </a:rPr>
              <a:t>Higher Ed. 14% $12 billion</a:t>
            </a:r>
          </a:p>
        </p:txBody>
      </p:sp>
      <p:cxnSp>
        <p:nvCxnSpPr>
          <p:cNvPr id="6" name="Straight Arrow Connector 5">
            <a:extLst>
              <a:ext uri="{FF2B5EF4-FFF2-40B4-BE49-F238E27FC236}">
                <a16:creationId xmlns:a16="http://schemas.microsoft.com/office/drawing/2014/main" id="{1A412FDF-5E8A-4E7B-9E32-87BF31AA25D8}"/>
              </a:ext>
            </a:extLst>
          </p:cNvPr>
          <p:cNvCxnSpPr>
            <a:cxnSpLocks/>
          </p:cNvCxnSpPr>
          <p:nvPr/>
        </p:nvCxnSpPr>
        <p:spPr>
          <a:xfrm flipV="1">
            <a:off x="6853616" y="5239069"/>
            <a:ext cx="202413" cy="4872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1909785B-88C3-48FC-84CF-F94411DE6454}"/>
              </a:ext>
            </a:extLst>
          </p:cNvPr>
          <p:cNvCxnSpPr/>
          <p:nvPr/>
        </p:nvCxnSpPr>
        <p:spPr>
          <a:xfrm flipH="1" flipV="1">
            <a:off x="7999041" y="4990972"/>
            <a:ext cx="129822" cy="3699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8" name="Chart 27">
            <a:extLst>
              <a:ext uri="{FF2B5EF4-FFF2-40B4-BE49-F238E27FC236}">
                <a16:creationId xmlns:a16="http://schemas.microsoft.com/office/drawing/2014/main" id="{6A699787-1B5C-4A2E-8284-97FBAE091006}"/>
              </a:ext>
            </a:extLst>
          </p:cNvPr>
          <p:cNvGraphicFramePr>
            <a:graphicFrameLocks/>
          </p:cNvGraphicFramePr>
          <p:nvPr/>
        </p:nvGraphicFramePr>
        <p:xfrm>
          <a:off x="334375" y="3073172"/>
          <a:ext cx="4222548" cy="235499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9" name="Chart 28">
            <a:extLst>
              <a:ext uri="{FF2B5EF4-FFF2-40B4-BE49-F238E27FC236}">
                <a16:creationId xmlns:a16="http://schemas.microsoft.com/office/drawing/2014/main" id="{5F62CF6F-4DE8-4580-A9D8-7F7CEEAF28B1}"/>
              </a:ext>
            </a:extLst>
          </p:cNvPr>
          <p:cNvGraphicFramePr>
            <a:graphicFrameLocks/>
          </p:cNvGraphicFramePr>
          <p:nvPr/>
        </p:nvGraphicFramePr>
        <p:xfrm>
          <a:off x="4721706" y="3015949"/>
          <a:ext cx="4016518" cy="2390266"/>
        </p:xfrm>
        <a:graphic>
          <a:graphicData uri="http://schemas.openxmlformats.org/drawingml/2006/chart">
            <c:chart xmlns:c="http://schemas.openxmlformats.org/drawingml/2006/chart" xmlns:r="http://schemas.openxmlformats.org/officeDocument/2006/relationships" r:id="rId6"/>
          </a:graphicData>
        </a:graphic>
      </p:graphicFrame>
      <p:sp>
        <p:nvSpPr>
          <p:cNvPr id="30" name="TextBox 29">
            <a:extLst>
              <a:ext uri="{FF2B5EF4-FFF2-40B4-BE49-F238E27FC236}">
                <a16:creationId xmlns:a16="http://schemas.microsoft.com/office/drawing/2014/main" id="{E238DEE1-0638-43A9-84C0-4AFC2254B00A}"/>
              </a:ext>
            </a:extLst>
          </p:cNvPr>
          <p:cNvSpPr txBox="1"/>
          <p:nvPr/>
        </p:nvSpPr>
        <p:spPr>
          <a:xfrm>
            <a:off x="342900" y="6477000"/>
            <a:ext cx="468630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Source: NCSES, National Patterns of R&amp;D Resources</a:t>
            </a:r>
          </a:p>
        </p:txBody>
      </p:sp>
      <p:sp>
        <p:nvSpPr>
          <p:cNvPr id="2" name="Slide Number Placeholder 1">
            <a:extLst>
              <a:ext uri="{FF2B5EF4-FFF2-40B4-BE49-F238E27FC236}">
                <a16:creationId xmlns:a16="http://schemas.microsoft.com/office/drawing/2014/main" id="{3D627AFB-CC6C-4D4A-88C4-E14944244337}"/>
              </a:ext>
            </a:extLst>
          </p:cNvPr>
          <p:cNvSpPr>
            <a:spLocks noGrp="1"/>
          </p:cNvSpPr>
          <p:nvPr>
            <p:ph type="sldNum" sz="quarter" idx="12"/>
          </p:nvPr>
        </p:nvSpPr>
        <p:spPr/>
        <p:txBody>
          <a:bodyPr/>
          <a:lstStyle/>
          <a:p>
            <a:fld id="{1B835D90-6387-4175-8905-3408BA5A358B}" type="slidenum">
              <a:rPr lang="en-US" altLang="en-US" smtClean="0"/>
              <a:pPr/>
              <a:t>10</a:t>
            </a:fld>
            <a:endParaRPr lang="en-US" altLang="en-US"/>
          </a:p>
        </p:txBody>
      </p:sp>
    </p:spTree>
    <p:extLst>
      <p:ext uri="{BB962C8B-B14F-4D97-AF65-F5344CB8AC3E}">
        <p14:creationId xmlns:p14="http://schemas.microsoft.com/office/powerpoint/2010/main" val="1806537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593271" y="540453"/>
            <a:ext cx="8382000" cy="1143000"/>
          </a:xfrm>
        </p:spPr>
        <p:txBody>
          <a:bodyPr/>
          <a:lstStyle/>
          <a:p>
            <a:pPr eaLnBrk="1" hangingPunct="1"/>
            <a:r>
              <a:rPr lang="en-US" altLang="en-US" sz="2800" b="1" dirty="0">
                <a:latin typeface="Arial" panose="020B0604020202020204" pitchFamily="34" charset="0"/>
              </a:rPr>
              <a:t>U.S R&amp;D and Basic Research, by Performer and Source of Funds: 2016</a:t>
            </a:r>
            <a:r>
              <a:rPr lang="en-US" sz="2800" b="1" dirty="0">
                <a:latin typeface="Arial" charset="0"/>
                <a:cs typeface="Arial" charset="0"/>
              </a:rPr>
              <a:t> </a:t>
            </a:r>
            <a:r>
              <a:rPr lang="en-US" sz="1600" b="1" dirty="0">
                <a:latin typeface="Arial" charset="0"/>
                <a:cs typeface="Arial" charset="0"/>
              </a:rPr>
              <a:t>(prelim.)</a:t>
            </a:r>
            <a:endParaRPr lang="en-US" altLang="en-US" sz="1600" b="1" dirty="0">
              <a:latin typeface="Arial" panose="020B0604020202020204" pitchFamily="34" charset="0"/>
            </a:endParaRPr>
          </a:p>
        </p:txBody>
      </p:sp>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21771" y="606879"/>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38577"/>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38BAA3B9-1D12-419D-964D-E8F9EC9DD023}"/>
              </a:ext>
            </a:extLst>
          </p:cNvPr>
          <p:cNvSpPr txBox="1"/>
          <p:nvPr/>
        </p:nvSpPr>
        <p:spPr>
          <a:xfrm>
            <a:off x="53340" y="6440454"/>
            <a:ext cx="1603290"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NCSES</a:t>
            </a:r>
          </a:p>
        </p:txBody>
      </p:sp>
      <p:graphicFrame>
        <p:nvGraphicFramePr>
          <p:cNvPr id="6" name="Table 5">
            <a:extLst>
              <a:ext uri="{FF2B5EF4-FFF2-40B4-BE49-F238E27FC236}">
                <a16:creationId xmlns:a16="http://schemas.microsoft.com/office/drawing/2014/main" id="{71B5A2B8-DCCF-4BFB-B260-68C3E82BAC25}"/>
              </a:ext>
            </a:extLst>
          </p:cNvPr>
          <p:cNvGraphicFramePr>
            <a:graphicFrameLocks noGrp="1"/>
          </p:cNvGraphicFramePr>
          <p:nvPr/>
        </p:nvGraphicFramePr>
        <p:xfrm>
          <a:off x="1160054" y="1524001"/>
          <a:ext cx="7450546" cy="4930785"/>
        </p:xfrm>
        <a:graphic>
          <a:graphicData uri="http://schemas.openxmlformats.org/drawingml/2006/table">
            <a:tbl>
              <a:tblPr>
                <a:tableStyleId>{5C22544A-7EE6-4342-B048-85BDC9FD1C3A}</a:tableStyleId>
              </a:tblPr>
              <a:tblGrid>
                <a:gridCol w="2148071">
                  <a:extLst>
                    <a:ext uri="{9D8B030D-6E8A-4147-A177-3AD203B41FA5}">
                      <a16:colId xmlns:a16="http://schemas.microsoft.com/office/drawing/2014/main" val="3802478476"/>
                    </a:ext>
                  </a:extLst>
                </a:gridCol>
                <a:gridCol w="574350">
                  <a:extLst>
                    <a:ext uri="{9D8B030D-6E8A-4147-A177-3AD203B41FA5}">
                      <a16:colId xmlns:a16="http://schemas.microsoft.com/office/drawing/2014/main" val="1364720486"/>
                    </a:ext>
                  </a:extLst>
                </a:gridCol>
                <a:gridCol w="677732">
                  <a:extLst>
                    <a:ext uri="{9D8B030D-6E8A-4147-A177-3AD203B41FA5}">
                      <a16:colId xmlns:a16="http://schemas.microsoft.com/office/drawing/2014/main" val="3869641992"/>
                    </a:ext>
                  </a:extLst>
                </a:gridCol>
                <a:gridCol w="735169">
                  <a:extLst>
                    <a:ext uri="{9D8B030D-6E8A-4147-A177-3AD203B41FA5}">
                      <a16:colId xmlns:a16="http://schemas.microsoft.com/office/drawing/2014/main" val="4065940745"/>
                    </a:ext>
                  </a:extLst>
                </a:gridCol>
                <a:gridCol w="781117">
                  <a:extLst>
                    <a:ext uri="{9D8B030D-6E8A-4147-A177-3AD203B41FA5}">
                      <a16:colId xmlns:a16="http://schemas.microsoft.com/office/drawing/2014/main" val="67949928"/>
                    </a:ext>
                  </a:extLst>
                </a:gridCol>
                <a:gridCol w="750485">
                  <a:extLst>
                    <a:ext uri="{9D8B030D-6E8A-4147-A177-3AD203B41FA5}">
                      <a16:colId xmlns:a16="http://schemas.microsoft.com/office/drawing/2014/main" val="3150640534"/>
                    </a:ext>
                  </a:extLst>
                </a:gridCol>
                <a:gridCol w="888329">
                  <a:extLst>
                    <a:ext uri="{9D8B030D-6E8A-4147-A177-3AD203B41FA5}">
                      <a16:colId xmlns:a16="http://schemas.microsoft.com/office/drawing/2014/main" val="1509324745"/>
                    </a:ext>
                  </a:extLst>
                </a:gridCol>
                <a:gridCol w="895293">
                  <a:extLst>
                    <a:ext uri="{9D8B030D-6E8A-4147-A177-3AD203B41FA5}">
                      <a16:colId xmlns:a16="http://schemas.microsoft.com/office/drawing/2014/main" val="1662326215"/>
                    </a:ext>
                  </a:extLst>
                </a:gridCol>
              </a:tblGrid>
              <a:tr h="211356">
                <a:tc>
                  <a:txBody>
                    <a:bodyPr/>
                    <a:lstStyle/>
                    <a:p>
                      <a:pPr algn="l" fontAlgn="b"/>
                      <a:r>
                        <a:rPr lang="en-US" sz="1100" b="1" u="none" strike="noStrike" dirty="0">
                          <a:effectLst/>
                          <a:latin typeface="Arial" panose="020B0604020202020204" pitchFamily="34" charset="0"/>
                          <a:cs typeface="Arial" panose="020B0604020202020204" pitchFamily="34" charset="0"/>
                        </a:rPr>
                        <a:t> </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tc gridSpan="6">
                  <a:txBody>
                    <a:bodyPr/>
                    <a:lstStyle/>
                    <a:p>
                      <a:pPr algn="ctr" fontAlgn="b"/>
                      <a:r>
                        <a:rPr lang="en-US" sz="1100" b="1" u="none" strike="noStrike">
                          <a:effectLst/>
                          <a:latin typeface="Arial" panose="020B0604020202020204" pitchFamily="34" charset="0"/>
                          <a:cs typeface="Arial" panose="020B0604020202020204" pitchFamily="34" charset="0"/>
                        </a:rPr>
                        <a:t>Source of funds ($ millions)</a:t>
                      </a:r>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1" u="none" strike="noStrike">
                          <a:effectLst/>
                          <a:latin typeface="Arial" panose="020B0604020202020204" pitchFamily="34" charset="0"/>
                          <a:cs typeface="Arial" panose="020B0604020202020204" pitchFamily="34" charset="0"/>
                        </a:rPr>
                        <a:t>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894427715"/>
                  </a:ext>
                </a:extLst>
              </a:tr>
              <a:tr h="199614">
                <a:tc rowSpan="2">
                  <a:txBody>
                    <a:bodyPr/>
                    <a:lstStyle/>
                    <a:p>
                      <a:pPr algn="l" fontAlgn="b"/>
                      <a:r>
                        <a:rPr lang="en-US" sz="1100" b="1" u="none" strike="noStrike" dirty="0">
                          <a:effectLst/>
                          <a:latin typeface="Arial" panose="020B0604020202020204" pitchFamily="34" charset="0"/>
                          <a:cs typeface="Arial" panose="020B0604020202020204" pitchFamily="34" charset="0"/>
                        </a:rPr>
                        <a:t>Performing sector</a:t>
                      </a:r>
                    </a:p>
                    <a:p>
                      <a:pPr algn="l" fontAlgn="b"/>
                      <a:r>
                        <a:rPr lang="en-US" sz="1100" b="1" u="none" strike="noStrike" dirty="0">
                          <a:effectLst/>
                          <a:latin typeface="Arial" panose="020B0604020202020204" pitchFamily="34" charset="0"/>
                          <a:cs typeface="Arial" panose="020B0604020202020204" pitchFamily="34" charset="0"/>
                        </a:rPr>
                        <a:t> and type of R&amp;D</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100" b="1" u="none" strike="noStrike" dirty="0">
                          <a:effectLst/>
                          <a:latin typeface="Arial" panose="020B0604020202020204" pitchFamily="34" charset="0"/>
                          <a:cs typeface="Arial" panose="020B0604020202020204" pitchFamily="34" charset="0"/>
                        </a:rPr>
                        <a:t> </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tc rowSpan="2">
                  <a:txBody>
                    <a:bodyPr/>
                    <a:lstStyle/>
                    <a:p>
                      <a:pPr algn="r" fontAlgn="b"/>
                      <a:r>
                        <a:rPr lang="en-US" sz="1100" b="1" u="none" strike="noStrike">
                          <a:effectLst/>
                          <a:latin typeface="Arial" panose="020B0604020202020204" pitchFamily="34" charset="0"/>
                          <a:cs typeface="Arial" panose="020B0604020202020204" pitchFamily="34" charset="0"/>
                        </a:rPr>
                        <a:t>Business</a:t>
                      </a:r>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rowSpan="2">
                  <a:txBody>
                    <a:bodyPr/>
                    <a:lstStyle/>
                    <a:p>
                      <a:pPr algn="r" fontAlgn="b"/>
                      <a:r>
                        <a:rPr lang="en-US" sz="1100" b="1" u="none" strike="noStrike" dirty="0">
                          <a:solidFill>
                            <a:srgbClr val="FF0000"/>
                          </a:solidFill>
                          <a:effectLst/>
                          <a:latin typeface="Arial" panose="020B0604020202020204" pitchFamily="34" charset="0"/>
                          <a:cs typeface="Arial" panose="020B0604020202020204" pitchFamily="34" charset="0"/>
                        </a:rPr>
                        <a:t>Federal govt.</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b"/>
                </a:tc>
                <a:tc rowSpan="2">
                  <a:txBody>
                    <a:bodyPr/>
                    <a:lstStyle/>
                    <a:p>
                      <a:pPr algn="r" fontAlgn="b"/>
                      <a:r>
                        <a:rPr lang="en-US" sz="1100" b="1" u="none" strike="noStrike" dirty="0">
                          <a:effectLst/>
                          <a:latin typeface="Arial" panose="020B0604020202020204" pitchFamily="34" charset="0"/>
                          <a:cs typeface="Arial" panose="020B0604020202020204" pitchFamily="34" charset="0"/>
                        </a:rPr>
                        <a:t>Nonfederal govt.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tc rowSpan="2">
                  <a:txBody>
                    <a:bodyPr/>
                    <a:lstStyle/>
                    <a:p>
                      <a:pPr algn="r" fontAlgn="b"/>
                      <a:r>
                        <a:rPr lang="en-US" sz="1100" b="1" u="none" strike="noStrike">
                          <a:effectLst/>
                          <a:latin typeface="Arial" panose="020B0604020202020204" pitchFamily="34" charset="0"/>
                          <a:cs typeface="Arial" panose="020B0604020202020204" pitchFamily="34" charset="0"/>
                        </a:rPr>
                        <a:t>Higher education</a:t>
                      </a:r>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rowSpan="2">
                  <a:txBody>
                    <a:bodyPr/>
                    <a:lstStyle/>
                    <a:p>
                      <a:pPr algn="r" fontAlgn="b"/>
                      <a:r>
                        <a:rPr lang="en-US" sz="1100" b="1" u="none" strike="noStrike" dirty="0">
                          <a:effectLst/>
                          <a:latin typeface="Arial" panose="020B0604020202020204" pitchFamily="34" charset="0"/>
                          <a:cs typeface="Arial" panose="020B0604020202020204" pitchFamily="34" charset="0"/>
                        </a:rPr>
                        <a:t>Nonprofit organ.</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tc rowSpan="2">
                  <a:txBody>
                    <a:bodyPr/>
                    <a:lstStyle/>
                    <a:p>
                      <a:pPr algn="r" fontAlgn="b"/>
                      <a:r>
                        <a:rPr lang="en-US" sz="1100" b="1" u="none" strike="noStrike" dirty="0">
                          <a:effectLst/>
                          <a:latin typeface="Arial" panose="020B0604020202020204" pitchFamily="34" charset="0"/>
                          <a:cs typeface="Arial" panose="020B0604020202020204" pitchFamily="34" charset="0"/>
                        </a:rPr>
                        <a:t>% distribution by</a:t>
                      </a:r>
                      <a:r>
                        <a:rPr lang="en-US" sz="1100" b="1" u="none" strike="noStrike" baseline="0" dirty="0">
                          <a:effectLst/>
                          <a:latin typeface="Arial" panose="020B0604020202020204" pitchFamily="34" charset="0"/>
                          <a:cs typeface="Arial" panose="020B0604020202020204" pitchFamily="34" charset="0"/>
                        </a:rPr>
                        <a:t> </a:t>
                      </a:r>
                      <a:r>
                        <a:rPr lang="en-US" sz="1100" b="1" u="none" strike="noStrike" dirty="0">
                          <a:effectLst/>
                          <a:latin typeface="Arial" panose="020B0604020202020204" pitchFamily="34" charset="0"/>
                          <a:cs typeface="Arial" panose="020B0604020202020204" pitchFamily="34" charset="0"/>
                        </a:rPr>
                        <a:t>performer</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94720472"/>
                  </a:ext>
                </a:extLst>
              </a:tr>
              <a:tr h="333804">
                <a:tc vMerge="1">
                  <a:txBody>
                    <a:bodyPr/>
                    <a:lstStyle/>
                    <a:p>
                      <a:endParaRPr lang="en-US"/>
                    </a:p>
                  </a:txBody>
                  <a:tcPr/>
                </a:tc>
                <a:tc>
                  <a:txBody>
                    <a:bodyPr/>
                    <a:lstStyle/>
                    <a:p>
                      <a:pPr algn="r" fontAlgn="b"/>
                      <a:r>
                        <a:rPr lang="en-US" sz="1100" b="1" u="none" strike="noStrike" dirty="0">
                          <a:effectLst/>
                          <a:latin typeface="Arial" panose="020B0604020202020204" pitchFamily="34" charset="0"/>
                          <a:cs typeface="Arial" panose="020B0604020202020204" pitchFamily="34" charset="0"/>
                        </a:rPr>
                        <a:t>Total</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294301953"/>
                  </a:ext>
                </a:extLst>
              </a:tr>
              <a:tr h="199614">
                <a:tc>
                  <a:txBody>
                    <a:bodyPr/>
                    <a:lstStyle/>
                    <a:p>
                      <a:pPr algn="l" fontAlgn="ctr"/>
                      <a:r>
                        <a:rPr lang="en-US" sz="1100" b="1" u="none" strike="noStrike" dirty="0">
                          <a:solidFill>
                            <a:srgbClr val="FF0000"/>
                          </a:solidFill>
                          <a:effectLst/>
                          <a:latin typeface="Arial" panose="020B0604020202020204" pitchFamily="34" charset="0"/>
                          <a:cs typeface="Arial" panose="020B0604020202020204" pitchFamily="34" charset="0"/>
                        </a:rPr>
                        <a:t>Total R&amp;D</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509,967</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343,563</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122,656</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4,425</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18,686</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20,637</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i="0" u="none" strike="noStrike" dirty="0">
                          <a:effectLst/>
                          <a:latin typeface="Arial" panose="020B0604020202020204" pitchFamily="34" charset="0"/>
                          <a:cs typeface="Arial" panose="020B0604020202020204" pitchFamily="34" charset="0"/>
                        </a:rPr>
                        <a:t>100.0</a:t>
                      </a:r>
                    </a:p>
                  </a:txBody>
                  <a:tcPr marL="9525" marR="9525" marT="9525" marB="0" anchor="ctr"/>
                </a:tc>
                <a:extLst>
                  <a:ext uri="{0D108BD9-81ED-4DB2-BD59-A6C34878D82A}">
                    <a16:rowId xmlns:a16="http://schemas.microsoft.com/office/drawing/2014/main" val="610611958"/>
                  </a:ext>
                </a:extLst>
              </a:tr>
              <a:tr h="185523">
                <a:tc>
                  <a:txBody>
                    <a:bodyPr/>
                    <a:lstStyle/>
                    <a:p>
                      <a:pPr algn="l" fontAlgn="ctr"/>
                      <a:r>
                        <a:rPr lang="en-US" sz="1100" b="1" u="none" strike="noStrike" dirty="0">
                          <a:solidFill>
                            <a:srgbClr val="FF0000"/>
                          </a:solidFill>
                          <a:effectLst/>
                          <a:latin typeface="Arial" panose="020B0604020202020204" pitchFamily="34" charset="0"/>
                          <a:cs typeface="Arial" panose="020B0604020202020204" pitchFamily="34" charset="0"/>
                        </a:rPr>
                        <a:t>Business</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dirty="0">
                          <a:solidFill>
                            <a:srgbClr val="FF0000"/>
                          </a:solidFill>
                          <a:effectLst/>
                          <a:latin typeface="Arial" panose="020B0604020202020204" pitchFamily="34" charset="0"/>
                          <a:cs typeface="Arial" panose="020B0604020202020204" pitchFamily="34" charset="0"/>
                        </a:rPr>
                        <a:t>363,753</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rgbClr val="FF0000"/>
                          </a:solidFill>
                          <a:effectLst/>
                          <a:latin typeface="Arial" panose="020B0604020202020204" pitchFamily="34" charset="0"/>
                          <a:cs typeface="Arial" panose="020B0604020202020204" pitchFamily="34" charset="0"/>
                        </a:rPr>
                        <a:t>337,697</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rgbClr val="FF0000"/>
                          </a:solidFill>
                          <a:effectLst/>
                          <a:latin typeface="Arial" panose="020B0604020202020204" pitchFamily="34" charset="0"/>
                          <a:cs typeface="Arial" panose="020B0604020202020204" pitchFamily="34" charset="0"/>
                        </a:rPr>
                        <a:t> 24,717</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137 </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r>
                        <a:rPr lang="en-US" sz="1100" b="1" u="none" strike="noStrike">
                          <a:effectLst/>
                          <a:latin typeface="Arial" panose="020B0604020202020204" pitchFamily="34" charset="0"/>
                          <a:cs typeface="Arial" panose="020B0604020202020204" pitchFamily="34" charset="0"/>
                        </a:rPr>
                        <a:t>1,202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r" fontAlgn="ctr"/>
                      <a:r>
                        <a:rPr lang="en-US" sz="1100" b="1" u="none" strike="noStrike">
                          <a:effectLst/>
                          <a:latin typeface="Arial" panose="020B0604020202020204" pitchFamily="34" charset="0"/>
                          <a:cs typeface="Arial" panose="020B0604020202020204" pitchFamily="34" charset="0"/>
                        </a:rPr>
                        <a:t> 71.3</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84042375"/>
                  </a:ext>
                </a:extLst>
              </a:tr>
              <a:tr h="185523">
                <a:tc>
                  <a:txBody>
                    <a:bodyPr/>
                    <a:lstStyle/>
                    <a:p>
                      <a:pPr algn="l" fontAlgn="ctr"/>
                      <a:r>
                        <a:rPr lang="en-US" sz="1100" b="1" u="none" strike="noStrike" dirty="0">
                          <a:effectLst/>
                          <a:latin typeface="Arial" panose="020B0604020202020204" pitchFamily="34" charset="0"/>
                          <a:cs typeface="Arial" panose="020B0604020202020204" pitchFamily="34" charset="0"/>
                        </a:rPr>
                        <a:t>Federal government</a:t>
                      </a:r>
                      <a:endParaRPr lang="en-US" sz="1100" b="1" i="0" u="none" strike="noStrike" dirty="0">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57,459</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195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57,090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22 </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152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11.3</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36385640"/>
                  </a:ext>
                </a:extLst>
              </a:tr>
              <a:tr h="185523">
                <a:tc>
                  <a:txBody>
                    <a:bodyPr/>
                    <a:lstStyle/>
                    <a:p>
                      <a:pPr algn="l" fontAlgn="ctr"/>
                      <a:r>
                        <a:rPr lang="en-US" sz="1100" b="1" u="none" strike="noStrike" dirty="0">
                          <a:effectLst/>
                          <a:latin typeface="Arial" panose="020B0604020202020204" pitchFamily="34" charset="0"/>
                          <a:cs typeface="Arial" panose="020B0604020202020204" pitchFamily="34" charset="0"/>
                        </a:rPr>
                        <a:t>     Federal intramural</a:t>
                      </a:r>
                      <a:endParaRPr lang="en-US" sz="1100" b="1" i="0" u="none" strike="noStrike" dirty="0">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37,999</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37,999</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0</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7.5</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04044780"/>
                  </a:ext>
                </a:extLst>
              </a:tr>
              <a:tr h="185523">
                <a:tc>
                  <a:txBody>
                    <a:bodyPr/>
                    <a:lstStyle/>
                    <a:p>
                      <a:pPr algn="l" fontAlgn="ctr"/>
                      <a:r>
                        <a:rPr lang="en-US" sz="1100" b="1" u="none" strike="noStrike" dirty="0">
                          <a:effectLst/>
                          <a:latin typeface="Arial" panose="020B0604020202020204" pitchFamily="34" charset="0"/>
                          <a:cs typeface="Arial" panose="020B0604020202020204" pitchFamily="34" charset="0"/>
                        </a:rPr>
                        <a:t>     FFRDCs</a:t>
                      </a:r>
                      <a:endParaRPr lang="en-US" sz="1100" b="1" i="0" u="none" strike="noStrike" dirty="0">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19,460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195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r>
                        <a:rPr lang="en-US" sz="1100" b="1" u="none" strike="noStrike">
                          <a:effectLst/>
                          <a:latin typeface="Arial" panose="020B0604020202020204" pitchFamily="34" charset="0"/>
                          <a:cs typeface="Arial" panose="020B0604020202020204" pitchFamily="34" charset="0"/>
                        </a:rPr>
                        <a:t>19,091</a:t>
                      </a:r>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r" fontAlgn="ctr"/>
                      <a:r>
                        <a:rPr lang="en-US" sz="1100" b="1" u="none" strike="noStrike">
                          <a:effectLst/>
                          <a:latin typeface="Arial" panose="020B0604020202020204" pitchFamily="34" charset="0"/>
                          <a:cs typeface="Arial" panose="020B0604020202020204" pitchFamily="34" charset="0"/>
                        </a:rPr>
                        <a:t>22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152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3.8</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201427500"/>
                  </a:ext>
                </a:extLst>
              </a:tr>
              <a:tr h="185523">
                <a:tc>
                  <a:txBody>
                    <a:bodyPr/>
                    <a:lstStyle/>
                    <a:p>
                      <a:pPr algn="l" fontAlgn="ctr"/>
                      <a:r>
                        <a:rPr lang="en-US" sz="1100" b="1" u="none" strike="noStrike" dirty="0">
                          <a:effectLst/>
                          <a:latin typeface="Arial" panose="020B0604020202020204" pitchFamily="34" charset="0"/>
                          <a:cs typeface="Arial" panose="020B0604020202020204" pitchFamily="34" charset="0"/>
                        </a:rPr>
                        <a:t>State government</a:t>
                      </a:r>
                      <a:endParaRPr lang="en-US" sz="1100" b="1" i="0" u="none" strike="noStrike" dirty="0">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651</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262</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389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0.1</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619427369"/>
                  </a:ext>
                </a:extLst>
              </a:tr>
              <a:tr h="185523">
                <a:tc>
                  <a:txBody>
                    <a:bodyPr/>
                    <a:lstStyle/>
                    <a:p>
                      <a:pPr algn="l" fontAlgn="ctr"/>
                      <a:r>
                        <a:rPr lang="en-US" sz="1100" b="1" u="none" strike="noStrike" dirty="0">
                          <a:solidFill>
                            <a:srgbClr val="FF0000"/>
                          </a:solidFill>
                          <a:effectLst/>
                          <a:latin typeface="Arial" panose="020B0604020202020204" pitchFamily="34" charset="0"/>
                          <a:cs typeface="Arial" panose="020B0604020202020204" pitchFamily="34" charset="0"/>
                        </a:rPr>
                        <a:t>Higher education</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dirty="0">
                          <a:solidFill>
                            <a:srgbClr val="FF0000"/>
                          </a:solidFill>
                          <a:effectLst/>
                          <a:latin typeface="Arial" panose="020B0604020202020204" pitchFamily="34" charset="0"/>
                          <a:cs typeface="Arial" panose="020B0604020202020204" pitchFamily="34" charset="0"/>
                        </a:rPr>
                        <a:t>67,521</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rgbClr val="FF0000"/>
                          </a:solidFill>
                          <a:effectLst/>
                          <a:latin typeface="Arial" panose="020B0604020202020204" pitchFamily="34" charset="0"/>
                          <a:cs typeface="Arial" panose="020B0604020202020204" pitchFamily="34" charset="0"/>
                        </a:rPr>
                        <a:t>  4,064</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rgbClr val="FF0000"/>
                          </a:solidFill>
                          <a:effectLst/>
                          <a:latin typeface="Arial" panose="020B0604020202020204" pitchFamily="34" charset="0"/>
                          <a:cs typeface="Arial" panose="020B0604020202020204" pitchFamily="34" charset="0"/>
                        </a:rPr>
                        <a:t> 34,205</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rgbClr val="FF0000"/>
                          </a:solidFill>
                          <a:effectLst/>
                          <a:latin typeface="Arial" panose="020B0604020202020204" pitchFamily="34" charset="0"/>
                          <a:cs typeface="Arial" panose="020B0604020202020204" pitchFamily="34" charset="0"/>
                        </a:rPr>
                        <a:t> 3,877</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rgbClr val="FF0000"/>
                          </a:solidFill>
                          <a:effectLst/>
                          <a:latin typeface="Arial" panose="020B0604020202020204" pitchFamily="34" charset="0"/>
                          <a:cs typeface="Arial" panose="020B0604020202020204" pitchFamily="34" charset="0"/>
                        </a:rPr>
                        <a:t> 18,686</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rgbClr val="FF0000"/>
                          </a:solidFill>
                          <a:effectLst/>
                          <a:latin typeface="Arial" panose="020B0604020202020204" pitchFamily="34" charset="0"/>
                          <a:cs typeface="Arial" panose="020B0604020202020204" pitchFamily="34" charset="0"/>
                        </a:rPr>
                        <a:t> 6,689</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13.2</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189138741"/>
                  </a:ext>
                </a:extLst>
              </a:tr>
              <a:tr h="228473">
                <a:tc>
                  <a:txBody>
                    <a:bodyPr/>
                    <a:lstStyle/>
                    <a:p>
                      <a:pPr algn="l" fontAlgn="ctr"/>
                      <a:r>
                        <a:rPr lang="en-US" sz="1100" b="1" u="none" strike="noStrike" dirty="0">
                          <a:effectLst/>
                          <a:latin typeface="Arial" panose="020B0604020202020204" pitchFamily="34" charset="0"/>
                          <a:cs typeface="Arial" panose="020B0604020202020204" pitchFamily="34" charset="0"/>
                        </a:rPr>
                        <a:t>Other nonprofits</a:t>
                      </a:r>
                      <a:endParaRPr lang="en-US" sz="1100" b="1" i="0" u="none" strike="noStrike" dirty="0">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20,583</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1,607</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6,382</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12,594</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4.0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423691931"/>
                  </a:ext>
                </a:extLst>
              </a:tr>
              <a:tr h="500862">
                <a:tc>
                  <a:txBody>
                    <a:bodyPr/>
                    <a:lstStyle/>
                    <a:p>
                      <a:pPr algn="l" fontAlgn="ctr"/>
                      <a:r>
                        <a:rPr lang="en-US" sz="1100" b="1" u="none" strike="noStrike" dirty="0">
                          <a:effectLst/>
                          <a:latin typeface="Arial" panose="020B0604020202020204" pitchFamily="34" charset="0"/>
                          <a:cs typeface="Arial" panose="020B0604020202020204" pitchFamily="34" charset="0"/>
                        </a:rPr>
                        <a:t>% distribution by funding source</a:t>
                      </a:r>
                      <a:endParaRPr lang="en-US" sz="1100" b="1" i="0" u="none" strike="noStrike" dirty="0">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100.0</a:t>
                      </a:r>
                    </a:p>
                    <a:p>
                      <a:pPr algn="r" fontAlgn="ct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67.4</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a:t>
                      </a:r>
                      <a:r>
                        <a:rPr lang="en-US" sz="1100" b="1" u="none" strike="noStrike" dirty="0">
                          <a:solidFill>
                            <a:srgbClr val="FF0000"/>
                          </a:solidFill>
                          <a:effectLst/>
                          <a:latin typeface="Arial" panose="020B0604020202020204" pitchFamily="34" charset="0"/>
                          <a:cs typeface="Arial" panose="020B0604020202020204" pitchFamily="34" charset="0"/>
                        </a:rPr>
                        <a:t>24.1</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0.9</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3.7</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4.0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na</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756179681"/>
                  </a:ext>
                </a:extLst>
              </a:tr>
              <a:tr h="173160">
                <a:tc>
                  <a:txBody>
                    <a:bodyPr/>
                    <a:lstStyle/>
                    <a:p>
                      <a:pPr algn="l" fontAlgn="b"/>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580688611"/>
                  </a:ext>
                </a:extLst>
              </a:tr>
              <a:tr h="185523">
                <a:tc>
                  <a:txBody>
                    <a:bodyPr/>
                    <a:lstStyle/>
                    <a:p>
                      <a:pPr algn="l" fontAlgn="ctr"/>
                      <a:r>
                        <a:rPr lang="en-US" sz="1100" b="1" u="none" strike="noStrike" dirty="0">
                          <a:solidFill>
                            <a:srgbClr val="FF0000"/>
                          </a:solidFill>
                          <a:effectLst/>
                          <a:latin typeface="Arial" panose="020B0604020202020204" pitchFamily="34" charset="0"/>
                          <a:cs typeface="Arial" panose="020B0604020202020204" pitchFamily="34" charset="0"/>
                        </a:rPr>
                        <a:t>Basic research</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86,318</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23,465</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rgbClr val="FF0000"/>
                          </a:solidFill>
                          <a:effectLst/>
                          <a:latin typeface="Arial" panose="020B0604020202020204" pitchFamily="34" charset="0"/>
                          <a:cs typeface="Arial" panose="020B0604020202020204" pitchFamily="34" charset="0"/>
                        </a:rPr>
                        <a:t>37,554</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2,405</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11,716</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11,178</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100.0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137362621"/>
                  </a:ext>
                </a:extLst>
              </a:tr>
              <a:tr h="185523">
                <a:tc>
                  <a:txBody>
                    <a:bodyPr/>
                    <a:lstStyle/>
                    <a:p>
                      <a:pPr algn="l" fontAlgn="ctr"/>
                      <a:r>
                        <a:rPr lang="en-US" sz="1100" b="1" u="none" strike="noStrike" dirty="0">
                          <a:effectLst/>
                          <a:latin typeface="Arial" panose="020B0604020202020204" pitchFamily="34" charset="0"/>
                          <a:cs typeface="Arial" panose="020B0604020202020204" pitchFamily="34" charset="0"/>
                        </a:rPr>
                        <a:t>Business</a:t>
                      </a:r>
                      <a:endParaRPr lang="en-US" sz="1100" b="1" i="0" u="none" strike="noStrike" dirty="0">
                        <a:effectLst/>
                        <a:latin typeface="Arial" panose="020B0604020202020204" pitchFamily="34" charset="0"/>
                        <a:cs typeface="Arial" panose="020B0604020202020204" pitchFamily="34" charset="0"/>
                      </a:endParaRPr>
                    </a:p>
                  </a:txBody>
                  <a:tcPr marL="2286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22,236</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20,230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1,866</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14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126 </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25.8</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419774046"/>
                  </a:ext>
                </a:extLst>
              </a:tr>
              <a:tr h="185523">
                <a:tc>
                  <a:txBody>
                    <a:bodyPr/>
                    <a:lstStyle/>
                    <a:p>
                      <a:pPr algn="l" fontAlgn="ctr"/>
                      <a:r>
                        <a:rPr lang="en-US" sz="1100" b="1" u="none" strike="noStrike" dirty="0">
                          <a:effectLst/>
                          <a:latin typeface="Arial" panose="020B0604020202020204" pitchFamily="34" charset="0"/>
                          <a:cs typeface="Arial" panose="020B0604020202020204" pitchFamily="34" charset="0"/>
                        </a:rPr>
                        <a:t>Federal government</a:t>
                      </a:r>
                      <a:endParaRPr lang="en-US" sz="1100" b="1" i="0" u="none" strike="noStrike" dirty="0">
                        <a:effectLst/>
                        <a:latin typeface="Arial" panose="020B0604020202020204" pitchFamily="34" charset="0"/>
                        <a:cs typeface="Arial" panose="020B0604020202020204" pitchFamily="34" charset="0"/>
                      </a:endParaRPr>
                    </a:p>
                  </a:txBody>
                  <a:tcPr marL="2286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10,578</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r>
                        <a:rPr lang="en-US" sz="1100" b="1" u="none" strike="noStrike">
                          <a:effectLst/>
                          <a:latin typeface="Arial" panose="020B0604020202020204" pitchFamily="34" charset="0"/>
                          <a:cs typeface="Arial" panose="020B0604020202020204" pitchFamily="34" charset="0"/>
                        </a:rPr>
                        <a:t>47</a:t>
                      </a:r>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100" b="1" u="none" strike="noStrike">
                          <a:effectLst/>
                          <a:latin typeface="Arial" panose="020B0604020202020204" pitchFamily="34" charset="0"/>
                          <a:cs typeface="Arial" panose="020B0604020202020204" pitchFamily="34" charset="0"/>
                        </a:rPr>
                        <a:t>10,489</a:t>
                      </a:r>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100" b="1" u="none" strike="noStrike" dirty="0">
                          <a:effectLst/>
                          <a:latin typeface="Arial" panose="020B0604020202020204" pitchFamily="34" charset="0"/>
                          <a:cs typeface="Arial" panose="020B0604020202020204" pitchFamily="34" charset="0"/>
                        </a:rPr>
                        <a:t>5</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tc>
                  <a:txBody>
                    <a:bodyPr/>
                    <a:lstStyle/>
                    <a:p>
                      <a:pPr algn="r" fontAlgn="ctr"/>
                      <a:r>
                        <a:rPr lang="en-US" sz="1100" b="1" u="none" strike="noStrike">
                          <a:effectLst/>
                          <a:latin typeface="Arial" panose="020B0604020202020204" pitchFamily="34" charset="0"/>
                          <a:cs typeface="Arial" panose="020B0604020202020204" pitchFamily="34" charset="0"/>
                        </a:rPr>
                        <a:t>*</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r>
                        <a:rPr lang="en-US" sz="1100" b="1" u="none" strike="noStrike" dirty="0">
                          <a:effectLst/>
                          <a:latin typeface="Arial" panose="020B0604020202020204" pitchFamily="34" charset="0"/>
                          <a:cs typeface="Arial" panose="020B0604020202020204" pitchFamily="34" charset="0"/>
                        </a:rPr>
                        <a:t>37</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b"/>
                </a:tc>
                <a:tc>
                  <a:txBody>
                    <a:bodyPr/>
                    <a:lstStyle/>
                    <a:p>
                      <a:pPr algn="r" fontAlgn="ctr"/>
                      <a:r>
                        <a:rPr lang="en-US" sz="1100" b="1" u="none" strike="noStrike">
                          <a:effectLst/>
                          <a:latin typeface="Arial" panose="020B0604020202020204" pitchFamily="34" charset="0"/>
                          <a:cs typeface="Arial" panose="020B0604020202020204" pitchFamily="34" charset="0"/>
                        </a:rPr>
                        <a:t> 12.3</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434229887"/>
                  </a:ext>
                </a:extLst>
              </a:tr>
              <a:tr h="185523">
                <a:tc>
                  <a:txBody>
                    <a:bodyPr/>
                    <a:lstStyle/>
                    <a:p>
                      <a:pPr algn="l" fontAlgn="ctr"/>
                      <a:r>
                        <a:rPr lang="en-US" sz="1100" b="1" u="none" strike="noStrike">
                          <a:effectLst/>
                          <a:latin typeface="Arial" panose="020B0604020202020204" pitchFamily="34" charset="0"/>
                          <a:cs typeface="Arial" panose="020B0604020202020204" pitchFamily="34" charset="0"/>
                        </a:rPr>
                        <a:t>     Federal intramural</a:t>
                      </a:r>
                      <a:endParaRPr lang="en-US" sz="1100" b="1" i="0" u="none" strike="noStrike">
                        <a:effectLst/>
                        <a:latin typeface="Arial" panose="020B0604020202020204" pitchFamily="34" charset="0"/>
                        <a:cs typeface="Arial" panose="020B0604020202020204" pitchFamily="34" charset="0"/>
                      </a:endParaRPr>
                    </a:p>
                  </a:txBody>
                  <a:tcPr marL="2286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6,301</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6,301</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0</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0</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7.3</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173236406"/>
                  </a:ext>
                </a:extLst>
              </a:tr>
              <a:tr h="185523">
                <a:tc>
                  <a:txBody>
                    <a:bodyPr/>
                    <a:lstStyle/>
                    <a:p>
                      <a:pPr algn="l" fontAlgn="ctr"/>
                      <a:r>
                        <a:rPr lang="en-US" sz="1100" b="1" u="none" strike="noStrike">
                          <a:effectLst/>
                          <a:latin typeface="Arial" panose="020B0604020202020204" pitchFamily="34" charset="0"/>
                          <a:cs typeface="Arial" panose="020B0604020202020204" pitchFamily="34" charset="0"/>
                        </a:rPr>
                        <a:t>         FFRDCs</a:t>
                      </a:r>
                      <a:endParaRPr lang="en-US" sz="1100" b="1" i="0" u="none" strike="noStrike">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4,277</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47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b"/>
                      <a:r>
                        <a:rPr lang="en-US" sz="1100" b="1" u="none" strike="noStrike">
                          <a:effectLst/>
                          <a:latin typeface="Arial" panose="020B0604020202020204" pitchFamily="34" charset="0"/>
                          <a:cs typeface="Arial" panose="020B0604020202020204" pitchFamily="34" charset="0"/>
                        </a:rPr>
                        <a:t>4,188</a:t>
                      </a:r>
                      <a:endParaRPr lang="en-US" sz="1100" b="1"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r" fontAlgn="ctr"/>
                      <a:r>
                        <a:rPr lang="en-US" sz="1100" b="1" u="none" strike="noStrike">
                          <a:effectLst/>
                          <a:latin typeface="Arial" panose="020B0604020202020204" pitchFamily="34" charset="0"/>
                          <a:cs typeface="Arial" panose="020B0604020202020204" pitchFamily="34" charset="0"/>
                        </a:rPr>
                        <a:t>5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37 </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5.0</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651891959"/>
                  </a:ext>
                </a:extLst>
              </a:tr>
              <a:tr h="184349">
                <a:tc>
                  <a:txBody>
                    <a:bodyPr/>
                    <a:lstStyle/>
                    <a:p>
                      <a:pPr algn="l" fontAlgn="ctr"/>
                      <a:r>
                        <a:rPr lang="en-US" sz="1100" b="1" u="none" strike="noStrike" dirty="0">
                          <a:effectLst/>
                          <a:latin typeface="Arial" panose="020B0604020202020204" pitchFamily="34" charset="0"/>
                          <a:cs typeface="Arial" panose="020B0604020202020204" pitchFamily="34" charset="0"/>
                        </a:rPr>
                        <a:t>State government</a:t>
                      </a:r>
                      <a:endParaRPr lang="en-US" sz="1100" b="1" i="0" u="none" strike="noStrike" dirty="0">
                        <a:effectLst/>
                        <a:latin typeface="Arial" panose="020B0604020202020204" pitchFamily="34" charset="0"/>
                        <a:cs typeface="Arial" panose="020B0604020202020204" pitchFamily="34" charset="0"/>
                      </a:endParaRPr>
                    </a:p>
                  </a:txBody>
                  <a:tcPr marL="2286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92</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37</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55 </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0.1</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4221761262"/>
                  </a:ext>
                </a:extLst>
              </a:tr>
              <a:tr h="185523">
                <a:tc>
                  <a:txBody>
                    <a:bodyPr/>
                    <a:lstStyle/>
                    <a:p>
                      <a:pPr algn="l" fontAlgn="ctr"/>
                      <a:r>
                        <a:rPr lang="en-US" sz="1100" b="1" u="none" strike="noStrike" dirty="0">
                          <a:solidFill>
                            <a:schemeClr val="tx1"/>
                          </a:solidFill>
                          <a:effectLst/>
                          <a:latin typeface="Arial" panose="020B0604020202020204" pitchFamily="34" charset="0"/>
                          <a:cs typeface="Arial" panose="020B0604020202020204" pitchFamily="34" charset="0"/>
                        </a:rPr>
                        <a:t>    Higher education</a:t>
                      </a:r>
                      <a:endParaRPr lang="en-US" sz="1100" b="1" i="0" u="none" strike="noStrike" dirty="0">
                        <a:solidFill>
                          <a:schemeClr val="tx1"/>
                        </a:solidFill>
                        <a:effectLst/>
                        <a:latin typeface="Arial" panose="020B0604020202020204" pitchFamily="34" charset="0"/>
                        <a:cs typeface="Arial" panose="020B0604020202020204" pitchFamily="34" charset="0"/>
                      </a:endParaRPr>
                    </a:p>
                  </a:txBody>
                  <a:tcPr marL="114300" marR="9525" marT="9525" marB="0" anchor="ctr"/>
                </a:tc>
                <a:tc>
                  <a:txBody>
                    <a:bodyPr/>
                    <a:lstStyle/>
                    <a:p>
                      <a:pPr algn="r" fontAlgn="ctr"/>
                      <a:r>
                        <a:rPr lang="en-US" sz="1100" b="1" u="none" strike="noStrike" dirty="0">
                          <a:solidFill>
                            <a:schemeClr val="tx1"/>
                          </a:solidFill>
                          <a:effectLst/>
                          <a:latin typeface="Arial" panose="020B0604020202020204" pitchFamily="34" charset="0"/>
                          <a:cs typeface="Arial" panose="020B0604020202020204" pitchFamily="34" charset="0"/>
                        </a:rPr>
                        <a:t>42,425</a:t>
                      </a:r>
                      <a:endParaRPr lang="en-US" sz="11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chemeClr val="tx1"/>
                          </a:solidFill>
                          <a:effectLst/>
                          <a:latin typeface="Arial" panose="020B0604020202020204" pitchFamily="34" charset="0"/>
                          <a:cs typeface="Arial" panose="020B0604020202020204" pitchFamily="34" charset="0"/>
                        </a:rPr>
                        <a:t>  2,296</a:t>
                      </a:r>
                      <a:endParaRPr lang="en-US" sz="11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chemeClr val="tx1"/>
                          </a:solidFill>
                          <a:effectLst/>
                          <a:latin typeface="Arial" panose="020B0604020202020204" pitchFamily="34" charset="0"/>
                          <a:cs typeface="Arial" panose="020B0604020202020204" pitchFamily="34" charset="0"/>
                        </a:rPr>
                        <a:t> 22,060</a:t>
                      </a:r>
                      <a:endParaRPr lang="en-US" sz="11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chemeClr val="tx1"/>
                          </a:solidFill>
                          <a:effectLst/>
                          <a:latin typeface="Arial" panose="020B0604020202020204" pitchFamily="34" charset="0"/>
                          <a:cs typeface="Arial" panose="020B0604020202020204" pitchFamily="34" charset="0"/>
                        </a:rPr>
                        <a:t>  2,331</a:t>
                      </a:r>
                      <a:endParaRPr lang="en-US" sz="11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chemeClr val="tx1"/>
                          </a:solidFill>
                          <a:effectLst/>
                          <a:latin typeface="Arial" panose="020B0604020202020204" pitchFamily="34" charset="0"/>
                          <a:cs typeface="Arial" panose="020B0604020202020204" pitchFamily="34" charset="0"/>
                        </a:rPr>
                        <a:t>  11,716</a:t>
                      </a:r>
                      <a:endParaRPr lang="en-US" sz="11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chemeClr val="tx1"/>
                          </a:solidFill>
                          <a:effectLst/>
                          <a:latin typeface="Arial" panose="020B0604020202020204" pitchFamily="34" charset="0"/>
                          <a:cs typeface="Arial" panose="020B0604020202020204" pitchFamily="34" charset="0"/>
                        </a:rPr>
                        <a:t> 4,022</a:t>
                      </a:r>
                      <a:endParaRPr lang="en-US" sz="11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solidFill>
                            <a:schemeClr val="tx1"/>
                          </a:solidFill>
                          <a:effectLst/>
                          <a:latin typeface="Arial" panose="020B0604020202020204" pitchFamily="34" charset="0"/>
                          <a:cs typeface="Arial" panose="020B0604020202020204" pitchFamily="34" charset="0"/>
                        </a:rPr>
                        <a:t> 49.1</a:t>
                      </a:r>
                      <a:endParaRPr lang="en-US" sz="11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154347404"/>
                  </a:ext>
                </a:extLst>
              </a:tr>
              <a:tr h="298903">
                <a:tc>
                  <a:txBody>
                    <a:bodyPr/>
                    <a:lstStyle/>
                    <a:p>
                      <a:pPr algn="l" fontAlgn="ctr"/>
                      <a:r>
                        <a:rPr lang="en-US" sz="1100" b="1" u="none" strike="noStrike" dirty="0">
                          <a:effectLst/>
                          <a:latin typeface="Arial" panose="020B0604020202020204" pitchFamily="34" charset="0"/>
                          <a:cs typeface="Arial" panose="020B0604020202020204" pitchFamily="34" charset="0"/>
                        </a:rPr>
                        <a:t>Other nonprofits</a:t>
                      </a:r>
                      <a:endParaRPr lang="en-US" sz="1100" b="1" i="0" u="none" strike="noStrike" dirty="0">
                        <a:effectLst/>
                        <a:latin typeface="Arial" panose="020B0604020202020204" pitchFamily="34" charset="0"/>
                        <a:cs typeface="Arial" panose="020B0604020202020204" pitchFamily="34" charset="0"/>
                      </a:endParaRPr>
                    </a:p>
                  </a:txBody>
                  <a:tcPr marL="228600"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10,987</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892</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3,102</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6,993</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12.7</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379053740"/>
                  </a:ext>
                </a:extLst>
              </a:tr>
              <a:tr h="358786">
                <a:tc>
                  <a:txBody>
                    <a:bodyPr/>
                    <a:lstStyle/>
                    <a:p>
                      <a:pPr marL="0" algn="l" defTabSz="914400" rtl="0" eaLnBrk="1" fontAlgn="ctr" latinLnBrk="0" hangingPunct="1"/>
                      <a:r>
                        <a:rPr lang="en-US" sz="1100" b="1" u="none" strike="noStrike" kern="1200" dirty="0">
                          <a:solidFill>
                            <a:schemeClr val="dk1"/>
                          </a:solidFill>
                          <a:effectLst/>
                          <a:latin typeface="Arial" panose="020B0604020202020204" pitchFamily="34" charset="0"/>
                          <a:ea typeface="+mn-ea"/>
                          <a:cs typeface="Arial" panose="020B0604020202020204" pitchFamily="34" charset="0"/>
                        </a:rPr>
                        <a:t>% distribution by funding source</a:t>
                      </a:r>
                    </a:p>
                  </a:txBody>
                  <a:tcPr marL="228600"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100.0</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27.2</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a:t>
                      </a:r>
                      <a:r>
                        <a:rPr lang="en-US" sz="1100" b="1" u="none" strike="noStrike" dirty="0">
                          <a:solidFill>
                            <a:srgbClr val="FF0000"/>
                          </a:solidFill>
                          <a:effectLst/>
                          <a:latin typeface="Arial" panose="020B0604020202020204" pitchFamily="34" charset="0"/>
                          <a:cs typeface="Arial" panose="020B0604020202020204" pitchFamily="34" charset="0"/>
                        </a:rPr>
                        <a:t>43.5</a:t>
                      </a:r>
                      <a:endParaRPr lang="en-US" sz="11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2.8</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a:effectLst/>
                          <a:latin typeface="Arial" panose="020B0604020202020204" pitchFamily="34" charset="0"/>
                          <a:cs typeface="Arial" panose="020B0604020202020204" pitchFamily="34" charset="0"/>
                        </a:rPr>
                        <a:t>   13.6</a:t>
                      </a:r>
                      <a:endParaRPr lang="en-US" sz="1100" b="1" i="0" u="none" strike="noStrike">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a:effectLst/>
                          <a:latin typeface="Arial" panose="020B0604020202020204" pitchFamily="34" charset="0"/>
                          <a:cs typeface="Arial" panose="020B0604020202020204" pitchFamily="34" charset="0"/>
                        </a:rPr>
                        <a:t>   12.9</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100" b="1" u="none" strike="noStrike" dirty="0" err="1">
                          <a:effectLst/>
                          <a:latin typeface="Arial" panose="020B0604020202020204" pitchFamily="34" charset="0"/>
                          <a:cs typeface="Arial" panose="020B0604020202020204" pitchFamily="34" charset="0"/>
                        </a:rPr>
                        <a:t>na</a:t>
                      </a:r>
                      <a:endParaRPr lang="en-US" sz="1100" b="1" i="0" u="none" strike="noStrike" dirty="0">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530947282"/>
                  </a:ext>
                </a:extLst>
              </a:tr>
            </a:tbl>
          </a:graphicData>
        </a:graphic>
      </p:graphicFrame>
      <p:sp>
        <p:nvSpPr>
          <p:cNvPr id="2" name="Slide Number Placeholder 1">
            <a:extLst>
              <a:ext uri="{FF2B5EF4-FFF2-40B4-BE49-F238E27FC236}">
                <a16:creationId xmlns:a16="http://schemas.microsoft.com/office/drawing/2014/main" id="{840C702B-14A1-42B4-88CC-C07B117D6095}"/>
              </a:ext>
            </a:extLst>
          </p:cNvPr>
          <p:cNvSpPr>
            <a:spLocks noGrp="1"/>
          </p:cNvSpPr>
          <p:nvPr>
            <p:ph type="sldNum" sz="quarter" idx="12"/>
          </p:nvPr>
        </p:nvSpPr>
        <p:spPr/>
        <p:txBody>
          <a:bodyPr/>
          <a:lstStyle/>
          <a:p>
            <a:fld id="{1B835D90-6387-4175-8905-3408BA5A358B}" type="slidenum">
              <a:rPr lang="en-US" altLang="en-US" smtClean="0"/>
              <a:pPr/>
              <a:t>11</a:t>
            </a:fld>
            <a:endParaRPr lang="en-US" altLang="en-US"/>
          </a:p>
        </p:txBody>
      </p:sp>
    </p:spTree>
    <p:extLst>
      <p:ext uri="{BB962C8B-B14F-4D97-AF65-F5344CB8AC3E}">
        <p14:creationId xmlns:p14="http://schemas.microsoft.com/office/powerpoint/2010/main" val="967229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624840" y="812622"/>
            <a:ext cx="7772400" cy="1143000"/>
          </a:xfrm>
        </p:spPr>
        <p:txBody>
          <a:bodyPr/>
          <a:lstStyle/>
          <a:p>
            <a:pPr eaLnBrk="1" hangingPunct="1"/>
            <a:r>
              <a:rPr lang="en-US" altLang="en-US" sz="3200" b="1" dirty="0">
                <a:latin typeface="Arial" panose="020B0604020202020204" pitchFamily="34" charset="0"/>
              </a:rPr>
              <a:t>Ratio of R&amp;D to GDP, by Source of R&amp;D Funding: 1965-2015</a:t>
            </a:r>
          </a:p>
        </p:txBody>
      </p:sp>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0" y="660222"/>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09360"/>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53797"/>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Chart 5">
            <a:extLst>
              <a:ext uri="{FF2B5EF4-FFF2-40B4-BE49-F238E27FC236}">
                <a16:creationId xmlns:a16="http://schemas.microsoft.com/office/drawing/2014/main" id="{9FCC5A7A-364B-4A3F-B176-FED2BBCA9EAA}"/>
              </a:ext>
            </a:extLst>
          </p:cNvPr>
          <p:cNvGraphicFramePr>
            <a:graphicFrameLocks/>
          </p:cNvGraphicFramePr>
          <p:nvPr/>
        </p:nvGraphicFramePr>
        <p:xfrm>
          <a:off x="1600200" y="2142898"/>
          <a:ext cx="6248400" cy="4213860"/>
        </p:xfrm>
        <a:graphic>
          <a:graphicData uri="http://schemas.openxmlformats.org/drawingml/2006/chart">
            <c:chart xmlns:c="http://schemas.openxmlformats.org/drawingml/2006/chart" xmlns:r="http://schemas.openxmlformats.org/officeDocument/2006/relationships" r:id="rId5"/>
          </a:graphicData>
        </a:graphic>
      </p:graphicFrame>
      <p:sp>
        <p:nvSpPr>
          <p:cNvPr id="2" name="TextBox 1">
            <a:extLst>
              <a:ext uri="{FF2B5EF4-FFF2-40B4-BE49-F238E27FC236}">
                <a16:creationId xmlns:a16="http://schemas.microsoft.com/office/drawing/2014/main" id="{8CE382AF-0CA2-4031-AC3F-7603BCDE5D12}"/>
              </a:ext>
            </a:extLst>
          </p:cNvPr>
          <p:cNvSpPr txBox="1"/>
          <p:nvPr/>
        </p:nvSpPr>
        <p:spPr>
          <a:xfrm>
            <a:off x="6013875" y="2066698"/>
            <a:ext cx="914400" cy="523220"/>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Total funding</a:t>
            </a:r>
          </a:p>
        </p:txBody>
      </p:sp>
      <p:sp>
        <p:nvSpPr>
          <p:cNvPr id="8" name="TextBox 7">
            <a:extLst>
              <a:ext uri="{FF2B5EF4-FFF2-40B4-BE49-F238E27FC236}">
                <a16:creationId xmlns:a16="http://schemas.microsoft.com/office/drawing/2014/main" id="{9D37B002-53B7-4C4E-A289-99BE05081F63}"/>
              </a:ext>
            </a:extLst>
          </p:cNvPr>
          <p:cNvSpPr txBox="1"/>
          <p:nvPr/>
        </p:nvSpPr>
        <p:spPr>
          <a:xfrm>
            <a:off x="6019800" y="3387756"/>
            <a:ext cx="1104900" cy="523220"/>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Business funded</a:t>
            </a:r>
          </a:p>
        </p:txBody>
      </p:sp>
      <p:sp>
        <p:nvSpPr>
          <p:cNvPr id="9" name="TextBox 8">
            <a:extLst>
              <a:ext uri="{FF2B5EF4-FFF2-40B4-BE49-F238E27FC236}">
                <a16:creationId xmlns:a16="http://schemas.microsoft.com/office/drawing/2014/main" id="{825C6A68-BCCA-4030-BFF1-E7E88FD5327F}"/>
              </a:ext>
            </a:extLst>
          </p:cNvPr>
          <p:cNvSpPr txBox="1"/>
          <p:nvPr/>
        </p:nvSpPr>
        <p:spPr>
          <a:xfrm>
            <a:off x="5962650" y="4610647"/>
            <a:ext cx="1219200" cy="523220"/>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Federally-funded</a:t>
            </a:r>
          </a:p>
        </p:txBody>
      </p:sp>
      <p:sp>
        <p:nvSpPr>
          <p:cNvPr id="10" name="TextBox 9">
            <a:extLst>
              <a:ext uri="{FF2B5EF4-FFF2-40B4-BE49-F238E27FC236}">
                <a16:creationId xmlns:a16="http://schemas.microsoft.com/office/drawing/2014/main" id="{78FFEB9E-87D9-4D8A-BF06-8893DE92831E}"/>
              </a:ext>
            </a:extLst>
          </p:cNvPr>
          <p:cNvSpPr txBox="1"/>
          <p:nvPr/>
        </p:nvSpPr>
        <p:spPr>
          <a:xfrm>
            <a:off x="6107430" y="5252637"/>
            <a:ext cx="922020" cy="523220"/>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Other funding</a:t>
            </a:r>
          </a:p>
        </p:txBody>
      </p:sp>
      <p:sp>
        <p:nvSpPr>
          <p:cNvPr id="3" name="TextBox 2">
            <a:extLst>
              <a:ext uri="{FF2B5EF4-FFF2-40B4-BE49-F238E27FC236}">
                <a16:creationId xmlns:a16="http://schemas.microsoft.com/office/drawing/2014/main" id="{F06F8C4D-C8D7-444D-9808-EDC7D0F1C96D}"/>
              </a:ext>
            </a:extLst>
          </p:cNvPr>
          <p:cNvSpPr txBox="1"/>
          <p:nvPr/>
        </p:nvSpPr>
        <p:spPr>
          <a:xfrm>
            <a:off x="7619210" y="2425537"/>
            <a:ext cx="532518" cy="307777"/>
          </a:xfrm>
          <a:prstGeom prst="rect">
            <a:avLst/>
          </a:prstGeom>
          <a:noFill/>
        </p:spPr>
        <p:txBody>
          <a:bodyPr wrap="none" rtlCol="0">
            <a:spAutoFit/>
          </a:bodyPr>
          <a:lstStyle/>
          <a:p>
            <a:r>
              <a:rPr lang="en-US" sz="1400" b="1" dirty="0">
                <a:latin typeface="Arial" panose="020B0604020202020204" pitchFamily="34" charset="0"/>
                <a:cs typeface="Arial" panose="020B0604020202020204" pitchFamily="34" charset="0"/>
              </a:rPr>
              <a:t>2.73</a:t>
            </a:r>
          </a:p>
        </p:txBody>
      </p:sp>
      <p:sp>
        <p:nvSpPr>
          <p:cNvPr id="12" name="TextBox 11">
            <a:extLst>
              <a:ext uri="{FF2B5EF4-FFF2-40B4-BE49-F238E27FC236}">
                <a16:creationId xmlns:a16="http://schemas.microsoft.com/office/drawing/2014/main" id="{89364405-0338-48B4-AEA2-DC14F73865B9}"/>
              </a:ext>
            </a:extLst>
          </p:cNvPr>
          <p:cNvSpPr txBox="1"/>
          <p:nvPr/>
        </p:nvSpPr>
        <p:spPr>
          <a:xfrm>
            <a:off x="7589566" y="3563104"/>
            <a:ext cx="532518" cy="307777"/>
          </a:xfrm>
          <a:prstGeom prst="rect">
            <a:avLst/>
          </a:prstGeom>
          <a:noFill/>
        </p:spPr>
        <p:txBody>
          <a:bodyPr wrap="none" rtlCol="0">
            <a:spAutoFit/>
          </a:bodyPr>
          <a:lstStyle/>
          <a:p>
            <a:r>
              <a:rPr lang="en-US" sz="1400" b="1" dirty="0">
                <a:latin typeface="Arial" panose="020B0604020202020204" pitchFamily="34" charset="0"/>
                <a:cs typeface="Arial" panose="020B0604020202020204" pitchFamily="34" charset="0"/>
              </a:rPr>
              <a:t>1.84</a:t>
            </a:r>
          </a:p>
        </p:txBody>
      </p:sp>
      <p:sp>
        <p:nvSpPr>
          <p:cNvPr id="13" name="TextBox 12">
            <a:extLst>
              <a:ext uri="{FF2B5EF4-FFF2-40B4-BE49-F238E27FC236}">
                <a16:creationId xmlns:a16="http://schemas.microsoft.com/office/drawing/2014/main" id="{04EAD9C9-FF06-4E93-8363-B4BE6A4109B0}"/>
              </a:ext>
            </a:extLst>
          </p:cNvPr>
          <p:cNvSpPr txBox="1"/>
          <p:nvPr/>
        </p:nvSpPr>
        <p:spPr>
          <a:xfrm>
            <a:off x="7619210" y="5025430"/>
            <a:ext cx="532518" cy="307777"/>
          </a:xfrm>
          <a:prstGeom prst="rect">
            <a:avLst/>
          </a:prstGeom>
          <a:noFill/>
        </p:spPr>
        <p:txBody>
          <a:bodyPr wrap="none" rtlCol="0">
            <a:spAutoFit/>
          </a:bodyPr>
          <a:lstStyle/>
          <a:p>
            <a:r>
              <a:rPr lang="en-US" sz="1400" b="1" dirty="0">
                <a:latin typeface="Arial" panose="020B0604020202020204" pitchFamily="34" charset="0"/>
                <a:cs typeface="Arial" panose="020B0604020202020204" pitchFamily="34" charset="0"/>
              </a:rPr>
              <a:t>0.67</a:t>
            </a:r>
          </a:p>
        </p:txBody>
      </p:sp>
      <p:sp>
        <p:nvSpPr>
          <p:cNvPr id="14" name="TextBox 13">
            <a:extLst>
              <a:ext uri="{FF2B5EF4-FFF2-40B4-BE49-F238E27FC236}">
                <a16:creationId xmlns:a16="http://schemas.microsoft.com/office/drawing/2014/main" id="{853EF774-C4B1-43BB-8341-05F89BD2AF2C}"/>
              </a:ext>
            </a:extLst>
          </p:cNvPr>
          <p:cNvSpPr txBox="1"/>
          <p:nvPr/>
        </p:nvSpPr>
        <p:spPr>
          <a:xfrm>
            <a:off x="7581110" y="5638870"/>
            <a:ext cx="532518" cy="523220"/>
          </a:xfrm>
          <a:prstGeom prst="rect">
            <a:avLst/>
          </a:prstGeom>
          <a:noFill/>
        </p:spPr>
        <p:txBody>
          <a:bodyPr wrap="none" rtlCol="0">
            <a:spAutoFit/>
          </a:bodyPr>
          <a:lstStyle/>
          <a:p>
            <a:r>
              <a:rPr lang="en-US" sz="1400" b="1" dirty="0">
                <a:latin typeface="Arial" panose="020B0604020202020204" pitchFamily="34" charset="0"/>
                <a:cs typeface="Arial" panose="020B0604020202020204" pitchFamily="34" charset="0"/>
              </a:rPr>
              <a:t>0.23</a:t>
            </a:r>
          </a:p>
          <a:p>
            <a:endParaRPr lang="en-US" sz="1400" b="1"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97AD249-3F08-4DAC-8BB1-ACE54A701221}"/>
              </a:ext>
            </a:extLst>
          </p:cNvPr>
          <p:cNvSpPr txBox="1"/>
          <p:nvPr/>
        </p:nvSpPr>
        <p:spPr>
          <a:xfrm>
            <a:off x="281940" y="6513158"/>
            <a:ext cx="461010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Source: NCSES, National Patterns of R&amp;D Resources</a:t>
            </a:r>
          </a:p>
        </p:txBody>
      </p:sp>
      <p:cxnSp>
        <p:nvCxnSpPr>
          <p:cNvPr id="5" name="Straight Connector 4">
            <a:extLst>
              <a:ext uri="{FF2B5EF4-FFF2-40B4-BE49-F238E27FC236}">
                <a16:creationId xmlns:a16="http://schemas.microsoft.com/office/drawing/2014/main" id="{85EDC090-EB9C-4D3E-8106-72EB1C20D811}"/>
              </a:ext>
            </a:extLst>
          </p:cNvPr>
          <p:cNvCxnSpPr>
            <a:cxnSpLocks/>
          </p:cNvCxnSpPr>
          <p:nvPr/>
        </p:nvCxnSpPr>
        <p:spPr>
          <a:xfrm flipV="1">
            <a:off x="5958840" y="2066698"/>
            <a:ext cx="0" cy="396240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3A6E494E-14F6-48AC-A642-46F27154F17C}"/>
              </a:ext>
            </a:extLst>
          </p:cNvPr>
          <p:cNvSpPr>
            <a:spLocks noGrp="1"/>
          </p:cNvSpPr>
          <p:nvPr>
            <p:ph type="sldNum" sz="quarter" idx="12"/>
          </p:nvPr>
        </p:nvSpPr>
        <p:spPr>
          <a:xfrm>
            <a:off x="6492240" y="6029098"/>
            <a:ext cx="1905000" cy="457200"/>
          </a:xfrm>
        </p:spPr>
        <p:txBody>
          <a:bodyPr/>
          <a:lstStyle/>
          <a:p>
            <a:fld id="{1B835D90-6387-4175-8905-3408BA5A358B}" type="slidenum">
              <a:rPr lang="en-US" altLang="en-US" smtClean="0"/>
              <a:pPr/>
              <a:t>12</a:t>
            </a:fld>
            <a:endParaRPr lang="en-US" altLang="en-US"/>
          </a:p>
        </p:txBody>
      </p:sp>
      <p:sp>
        <p:nvSpPr>
          <p:cNvPr id="18" name="TextBox 17">
            <a:extLst>
              <a:ext uri="{FF2B5EF4-FFF2-40B4-BE49-F238E27FC236}">
                <a16:creationId xmlns:a16="http://schemas.microsoft.com/office/drawing/2014/main" id="{BE966731-0600-4FF0-8DFA-56E1BF5AE7AF}"/>
              </a:ext>
            </a:extLst>
          </p:cNvPr>
          <p:cNvSpPr txBox="1"/>
          <p:nvPr/>
        </p:nvSpPr>
        <p:spPr>
          <a:xfrm>
            <a:off x="1228725" y="1928198"/>
            <a:ext cx="742950"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Percent</a:t>
            </a:r>
          </a:p>
        </p:txBody>
      </p:sp>
    </p:spTree>
    <p:extLst>
      <p:ext uri="{BB962C8B-B14F-4D97-AF65-F5344CB8AC3E}">
        <p14:creationId xmlns:p14="http://schemas.microsoft.com/office/powerpoint/2010/main" val="2138414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211B7F78-4F61-47A5-9DD2-B251A035D5B1}"/>
              </a:ext>
            </a:extLst>
          </p:cNvPr>
          <p:cNvSpPr>
            <a:spLocks noGrp="1" noChangeArrowheads="1"/>
          </p:cNvSpPr>
          <p:nvPr>
            <p:ph type="title"/>
          </p:nvPr>
        </p:nvSpPr>
        <p:spPr>
          <a:xfrm>
            <a:off x="457200" y="669925"/>
            <a:ext cx="8229600" cy="685800"/>
          </a:xfrm>
        </p:spPr>
        <p:txBody>
          <a:bodyPr/>
          <a:lstStyle/>
          <a:p>
            <a:pPr eaLnBrk="1" hangingPunct="1"/>
            <a:r>
              <a:rPr lang="en-US" altLang="en-US" sz="3200" b="1" dirty="0">
                <a:latin typeface="Arial" panose="020B0604020202020204" pitchFamily="34" charset="0"/>
              </a:rPr>
              <a:t>U.S. R&amp;D Trends during the Recent Past</a:t>
            </a:r>
          </a:p>
        </p:txBody>
      </p:sp>
      <p:sp>
        <p:nvSpPr>
          <p:cNvPr id="3076" name="Rectangle 4" title="divider">
            <a:extLst>
              <a:ext uri="{FF2B5EF4-FFF2-40B4-BE49-F238E27FC236}">
                <a16:creationId xmlns:a16="http://schemas.microsoft.com/office/drawing/2014/main" id="{10D884CC-947C-46BA-A5B4-0BB5F8C43DE9}"/>
              </a:ext>
            </a:extLst>
          </p:cNvPr>
          <p:cNvSpPr>
            <a:spLocks noChangeArrowheads="1"/>
          </p:cNvSpPr>
          <p:nvPr/>
        </p:nvSpPr>
        <p:spPr bwMode="auto">
          <a:xfrm>
            <a:off x="0" y="631825"/>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79" name="Picture 10" descr="National Center for Science and Engineering Statistics logo">
            <a:extLst>
              <a:ext uri="{FF2B5EF4-FFF2-40B4-BE49-F238E27FC236}">
                <a16:creationId xmlns:a16="http://schemas.microsoft.com/office/drawing/2014/main" id="{979BAFC6-C069-4FA7-9751-D5660EF7D8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80963"/>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8" descr="nsf2">
            <a:extLst>
              <a:ext uri="{FF2B5EF4-FFF2-40B4-BE49-F238E27FC236}">
                <a16:creationId xmlns:a16="http://schemas.microsoft.com/office/drawing/2014/main" id="{52EB03A0-966B-4800-A3F1-C8D341514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25400"/>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Chart 5">
            <a:extLst>
              <a:ext uri="{FF2B5EF4-FFF2-40B4-BE49-F238E27FC236}">
                <a16:creationId xmlns:a16="http://schemas.microsoft.com/office/drawing/2014/main" id="{4AB217FD-0466-4D8F-8BB6-9CEE854E4E36}"/>
              </a:ext>
            </a:extLst>
          </p:cNvPr>
          <p:cNvGraphicFramePr>
            <a:graphicFrameLocks/>
          </p:cNvGraphicFramePr>
          <p:nvPr/>
        </p:nvGraphicFramePr>
        <p:xfrm>
          <a:off x="200215" y="1356360"/>
          <a:ext cx="4447985" cy="240792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8" name="Chart 7">
            <a:extLst>
              <a:ext uri="{FF2B5EF4-FFF2-40B4-BE49-F238E27FC236}">
                <a16:creationId xmlns:a16="http://schemas.microsoft.com/office/drawing/2014/main" id="{F6585F2A-9719-42E8-B232-9722190CEB6B}"/>
              </a:ext>
            </a:extLst>
          </p:cNvPr>
          <p:cNvGraphicFramePr>
            <a:graphicFrameLocks/>
          </p:cNvGraphicFramePr>
          <p:nvPr/>
        </p:nvGraphicFramePr>
        <p:xfrm>
          <a:off x="4953000" y="1371600"/>
          <a:ext cx="4137660" cy="240792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9" name="Chart 8">
            <a:extLst>
              <a:ext uri="{FF2B5EF4-FFF2-40B4-BE49-F238E27FC236}">
                <a16:creationId xmlns:a16="http://schemas.microsoft.com/office/drawing/2014/main" id="{0ABBFEF5-7C92-41F1-B58E-31BED2857246}"/>
              </a:ext>
            </a:extLst>
          </p:cNvPr>
          <p:cNvGraphicFramePr>
            <a:graphicFrameLocks/>
          </p:cNvGraphicFramePr>
          <p:nvPr/>
        </p:nvGraphicFramePr>
        <p:xfrm>
          <a:off x="4800600" y="3989071"/>
          <a:ext cx="4137660" cy="240792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0" name="Chart 9">
            <a:extLst>
              <a:ext uri="{FF2B5EF4-FFF2-40B4-BE49-F238E27FC236}">
                <a16:creationId xmlns:a16="http://schemas.microsoft.com/office/drawing/2014/main" id="{CF3FB2A8-BF3A-4E65-A4C0-F35A57930C04}"/>
              </a:ext>
            </a:extLst>
          </p:cNvPr>
          <p:cNvGraphicFramePr>
            <a:graphicFrameLocks/>
          </p:cNvGraphicFramePr>
          <p:nvPr/>
        </p:nvGraphicFramePr>
        <p:xfrm>
          <a:off x="355377" y="3989071"/>
          <a:ext cx="4137660" cy="2407920"/>
        </p:xfrm>
        <a:graphic>
          <a:graphicData uri="http://schemas.openxmlformats.org/drawingml/2006/chart">
            <c:chart xmlns:c="http://schemas.openxmlformats.org/drawingml/2006/chart" xmlns:r="http://schemas.openxmlformats.org/officeDocument/2006/relationships" r:id="rId8"/>
          </a:graphicData>
        </a:graphic>
      </p:graphicFrame>
      <p:sp>
        <p:nvSpPr>
          <p:cNvPr id="2" name="TextBox 1">
            <a:extLst>
              <a:ext uri="{FF2B5EF4-FFF2-40B4-BE49-F238E27FC236}">
                <a16:creationId xmlns:a16="http://schemas.microsoft.com/office/drawing/2014/main" id="{173BC5CD-9624-4AB8-8892-548E0763B8C9}"/>
              </a:ext>
            </a:extLst>
          </p:cNvPr>
          <p:cNvSpPr txBox="1"/>
          <p:nvPr/>
        </p:nvSpPr>
        <p:spPr>
          <a:xfrm>
            <a:off x="200215" y="1544477"/>
            <a:ext cx="646331" cy="246221"/>
          </a:xfrm>
          <a:prstGeom prst="rect">
            <a:avLst/>
          </a:prstGeom>
          <a:noFill/>
        </p:spPr>
        <p:txBody>
          <a:bodyPr wrap="none" rtlCol="0">
            <a:spAutoFit/>
          </a:bodyPr>
          <a:lstStyle/>
          <a:p>
            <a:r>
              <a:rPr lang="en-US" sz="1000" b="1" dirty="0">
                <a:latin typeface="Arial" panose="020B0604020202020204" pitchFamily="34" charset="0"/>
                <a:cs typeface="Arial" panose="020B0604020202020204" pitchFamily="34" charset="0"/>
              </a:rPr>
              <a:t>Billions</a:t>
            </a:r>
          </a:p>
        </p:txBody>
      </p:sp>
      <p:sp>
        <p:nvSpPr>
          <p:cNvPr id="12" name="TextBox 11">
            <a:extLst>
              <a:ext uri="{FF2B5EF4-FFF2-40B4-BE49-F238E27FC236}">
                <a16:creationId xmlns:a16="http://schemas.microsoft.com/office/drawing/2014/main" id="{B668D821-A444-4B0F-B26F-F7D0419F019C}"/>
              </a:ext>
            </a:extLst>
          </p:cNvPr>
          <p:cNvSpPr txBox="1"/>
          <p:nvPr/>
        </p:nvSpPr>
        <p:spPr>
          <a:xfrm>
            <a:off x="4949134" y="1544478"/>
            <a:ext cx="652743" cy="246221"/>
          </a:xfrm>
          <a:prstGeom prst="rect">
            <a:avLst/>
          </a:prstGeom>
          <a:noFill/>
        </p:spPr>
        <p:txBody>
          <a:bodyPr wrap="none" rtlCol="0">
            <a:spAutoFit/>
          </a:bodyPr>
          <a:lstStyle/>
          <a:p>
            <a:r>
              <a:rPr lang="en-US" sz="1000" b="1" dirty="0">
                <a:latin typeface="Arial" panose="020B0604020202020204" pitchFamily="34" charset="0"/>
                <a:cs typeface="Arial" panose="020B0604020202020204" pitchFamily="34" charset="0"/>
              </a:rPr>
              <a:t>Percent</a:t>
            </a:r>
          </a:p>
        </p:txBody>
      </p:sp>
      <p:sp>
        <p:nvSpPr>
          <p:cNvPr id="13" name="TextBox 12">
            <a:extLst>
              <a:ext uri="{FF2B5EF4-FFF2-40B4-BE49-F238E27FC236}">
                <a16:creationId xmlns:a16="http://schemas.microsoft.com/office/drawing/2014/main" id="{1053213D-AE26-4023-B5E3-B8D407254B78}"/>
              </a:ext>
            </a:extLst>
          </p:cNvPr>
          <p:cNvSpPr txBox="1"/>
          <p:nvPr/>
        </p:nvSpPr>
        <p:spPr>
          <a:xfrm>
            <a:off x="4770120" y="4166394"/>
            <a:ext cx="652743" cy="246221"/>
          </a:xfrm>
          <a:prstGeom prst="rect">
            <a:avLst/>
          </a:prstGeom>
          <a:noFill/>
        </p:spPr>
        <p:txBody>
          <a:bodyPr wrap="none" rtlCol="0">
            <a:spAutoFit/>
          </a:bodyPr>
          <a:lstStyle/>
          <a:p>
            <a:r>
              <a:rPr lang="en-US" sz="1000" b="1" dirty="0">
                <a:latin typeface="Arial" panose="020B0604020202020204" pitchFamily="34" charset="0"/>
                <a:cs typeface="Arial" panose="020B0604020202020204" pitchFamily="34" charset="0"/>
              </a:rPr>
              <a:t>Percent</a:t>
            </a:r>
          </a:p>
        </p:txBody>
      </p:sp>
      <p:sp>
        <p:nvSpPr>
          <p:cNvPr id="14" name="TextBox 13">
            <a:extLst>
              <a:ext uri="{FF2B5EF4-FFF2-40B4-BE49-F238E27FC236}">
                <a16:creationId xmlns:a16="http://schemas.microsoft.com/office/drawing/2014/main" id="{EA6FF792-612F-46B4-8483-C8399663A304}"/>
              </a:ext>
            </a:extLst>
          </p:cNvPr>
          <p:cNvSpPr txBox="1"/>
          <p:nvPr/>
        </p:nvSpPr>
        <p:spPr>
          <a:xfrm>
            <a:off x="355377" y="4166394"/>
            <a:ext cx="652743" cy="246221"/>
          </a:xfrm>
          <a:prstGeom prst="rect">
            <a:avLst/>
          </a:prstGeom>
          <a:noFill/>
        </p:spPr>
        <p:txBody>
          <a:bodyPr wrap="none" rtlCol="0">
            <a:spAutoFit/>
          </a:bodyPr>
          <a:lstStyle/>
          <a:p>
            <a:r>
              <a:rPr lang="en-US" sz="1000" b="1" dirty="0">
                <a:latin typeface="Arial" panose="020B0604020202020204" pitchFamily="34" charset="0"/>
                <a:cs typeface="Arial" panose="020B0604020202020204" pitchFamily="34" charset="0"/>
              </a:rPr>
              <a:t>Percent</a:t>
            </a:r>
          </a:p>
        </p:txBody>
      </p:sp>
      <p:sp>
        <p:nvSpPr>
          <p:cNvPr id="3" name="TextBox 2">
            <a:extLst>
              <a:ext uri="{FF2B5EF4-FFF2-40B4-BE49-F238E27FC236}">
                <a16:creationId xmlns:a16="http://schemas.microsoft.com/office/drawing/2014/main" id="{A52B9943-7C74-4E07-93D5-0945B92A0764}"/>
              </a:ext>
            </a:extLst>
          </p:cNvPr>
          <p:cNvSpPr txBox="1"/>
          <p:nvPr/>
        </p:nvSpPr>
        <p:spPr>
          <a:xfrm>
            <a:off x="4191000" y="3352800"/>
            <a:ext cx="457200" cy="184666"/>
          </a:xfrm>
          <a:prstGeom prst="rect">
            <a:avLst/>
          </a:prstGeom>
          <a:noFill/>
        </p:spPr>
        <p:txBody>
          <a:bodyPr wrap="square" rtlCol="0">
            <a:spAutoFit/>
          </a:bodyPr>
          <a:lstStyle/>
          <a:p>
            <a:r>
              <a:rPr lang="en-US" sz="600" dirty="0">
                <a:latin typeface="Arial" panose="020B0604020202020204" pitchFamily="34" charset="0"/>
                <a:cs typeface="Arial" panose="020B0604020202020204" pitchFamily="34" charset="0"/>
              </a:rPr>
              <a:t>Prelim.</a:t>
            </a:r>
          </a:p>
        </p:txBody>
      </p:sp>
      <p:sp>
        <p:nvSpPr>
          <p:cNvPr id="16" name="TextBox 15">
            <a:extLst>
              <a:ext uri="{FF2B5EF4-FFF2-40B4-BE49-F238E27FC236}">
                <a16:creationId xmlns:a16="http://schemas.microsoft.com/office/drawing/2014/main" id="{34718053-3E79-4454-9BA7-B5A3E2DD05BE}"/>
              </a:ext>
            </a:extLst>
          </p:cNvPr>
          <p:cNvSpPr txBox="1"/>
          <p:nvPr/>
        </p:nvSpPr>
        <p:spPr>
          <a:xfrm>
            <a:off x="4035837" y="5996049"/>
            <a:ext cx="457200" cy="184666"/>
          </a:xfrm>
          <a:prstGeom prst="rect">
            <a:avLst/>
          </a:prstGeom>
          <a:noFill/>
        </p:spPr>
        <p:txBody>
          <a:bodyPr wrap="square" rtlCol="0">
            <a:spAutoFit/>
          </a:bodyPr>
          <a:lstStyle/>
          <a:p>
            <a:r>
              <a:rPr lang="en-US" sz="600" dirty="0">
                <a:latin typeface="Arial" panose="020B0604020202020204" pitchFamily="34" charset="0"/>
                <a:cs typeface="Arial" panose="020B0604020202020204" pitchFamily="34" charset="0"/>
              </a:rPr>
              <a:t>Prelim.</a:t>
            </a:r>
          </a:p>
        </p:txBody>
      </p:sp>
      <p:sp>
        <p:nvSpPr>
          <p:cNvPr id="17" name="TextBox 16">
            <a:extLst>
              <a:ext uri="{FF2B5EF4-FFF2-40B4-BE49-F238E27FC236}">
                <a16:creationId xmlns:a16="http://schemas.microsoft.com/office/drawing/2014/main" id="{4085F4EC-A596-4697-AFE9-47B7D20306ED}"/>
              </a:ext>
            </a:extLst>
          </p:cNvPr>
          <p:cNvSpPr txBox="1"/>
          <p:nvPr/>
        </p:nvSpPr>
        <p:spPr>
          <a:xfrm>
            <a:off x="8481060" y="5993720"/>
            <a:ext cx="457200" cy="184666"/>
          </a:xfrm>
          <a:prstGeom prst="rect">
            <a:avLst/>
          </a:prstGeom>
          <a:noFill/>
        </p:spPr>
        <p:txBody>
          <a:bodyPr wrap="square" rtlCol="0">
            <a:spAutoFit/>
          </a:bodyPr>
          <a:lstStyle/>
          <a:p>
            <a:r>
              <a:rPr lang="en-US" sz="600" dirty="0">
                <a:latin typeface="Arial" panose="020B0604020202020204" pitchFamily="34" charset="0"/>
                <a:cs typeface="Arial" panose="020B0604020202020204" pitchFamily="34" charset="0"/>
              </a:rPr>
              <a:t>Prelim.</a:t>
            </a:r>
          </a:p>
        </p:txBody>
      </p:sp>
      <p:sp>
        <p:nvSpPr>
          <p:cNvPr id="18" name="TextBox 17">
            <a:extLst>
              <a:ext uri="{FF2B5EF4-FFF2-40B4-BE49-F238E27FC236}">
                <a16:creationId xmlns:a16="http://schemas.microsoft.com/office/drawing/2014/main" id="{A334CA67-BFE7-480C-9D11-1CD79A8B87A1}"/>
              </a:ext>
            </a:extLst>
          </p:cNvPr>
          <p:cNvSpPr txBox="1"/>
          <p:nvPr/>
        </p:nvSpPr>
        <p:spPr>
          <a:xfrm>
            <a:off x="8633460" y="3352800"/>
            <a:ext cx="457200" cy="184666"/>
          </a:xfrm>
          <a:prstGeom prst="rect">
            <a:avLst/>
          </a:prstGeom>
          <a:noFill/>
        </p:spPr>
        <p:txBody>
          <a:bodyPr wrap="square" rtlCol="0">
            <a:spAutoFit/>
          </a:bodyPr>
          <a:lstStyle/>
          <a:p>
            <a:r>
              <a:rPr lang="en-US" sz="600" dirty="0">
                <a:latin typeface="Arial" panose="020B0604020202020204" pitchFamily="34" charset="0"/>
                <a:cs typeface="Arial" panose="020B0604020202020204" pitchFamily="34" charset="0"/>
              </a:rPr>
              <a:t>Prelim.</a:t>
            </a:r>
          </a:p>
        </p:txBody>
      </p:sp>
      <p:sp>
        <p:nvSpPr>
          <p:cNvPr id="20" name="TextBox 19">
            <a:extLst>
              <a:ext uri="{FF2B5EF4-FFF2-40B4-BE49-F238E27FC236}">
                <a16:creationId xmlns:a16="http://schemas.microsoft.com/office/drawing/2014/main" id="{D541F196-4C03-4B72-B706-0564A9DB263C}"/>
              </a:ext>
            </a:extLst>
          </p:cNvPr>
          <p:cNvSpPr txBox="1"/>
          <p:nvPr/>
        </p:nvSpPr>
        <p:spPr>
          <a:xfrm>
            <a:off x="342900" y="6477000"/>
            <a:ext cx="468630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Source: NCSES, National Patterns of R&amp;D Resources</a:t>
            </a:r>
          </a:p>
        </p:txBody>
      </p:sp>
      <p:sp>
        <p:nvSpPr>
          <p:cNvPr id="4" name="Slide Number Placeholder 3">
            <a:extLst>
              <a:ext uri="{FF2B5EF4-FFF2-40B4-BE49-F238E27FC236}">
                <a16:creationId xmlns:a16="http://schemas.microsoft.com/office/drawing/2014/main" id="{422CFB97-B269-4C5A-8973-5EC6745DB030}"/>
              </a:ext>
            </a:extLst>
          </p:cNvPr>
          <p:cNvSpPr>
            <a:spLocks noGrp="1"/>
          </p:cNvSpPr>
          <p:nvPr>
            <p:ph type="sldNum" sz="quarter" idx="12"/>
          </p:nvPr>
        </p:nvSpPr>
        <p:spPr/>
        <p:txBody>
          <a:bodyPr/>
          <a:lstStyle/>
          <a:p>
            <a:fld id="{1B835D90-6387-4175-8905-3408BA5A358B}" type="slidenum">
              <a:rPr lang="en-US" altLang="en-US" smtClean="0"/>
              <a:pPr/>
              <a:t>13</a:t>
            </a:fld>
            <a:endParaRPr lang="en-US" altLang="en-US"/>
          </a:p>
        </p:txBody>
      </p:sp>
    </p:spTree>
    <p:extLst>
      <p:ext uri="{BB962C8B-B14F-4D97-AF65-F5344CB8AC3E}">
        <p14:creationId xmlns:p14="http://schemas.microsoft.com/office/powerpoint/2010/main" val="577643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4"/>
          <p:cNvSpPr>
            <a:spLocks noGrp="1"/>
          </p:cNvSpPr>
          <p:nvPr>
            <p:ph type="sldNum" sz="quarter" idx="12"/>
          </p:nvPr>
        </p:nvSpPr>
        <p:spPr>
          <a:noFill/>
        </p:spPr>
        <p:txBody>
          <a:bodyPr/>
          <a:lstStyle/>
          <a:p>
            <a:fld id="{FA9D281B-5408-4080-A975-3A2570992ED4}" type="slidenum">
              <a:rPr lang="en-US" smtClean="0"/>
              <a:pPr/>
              <a:t>14</a:t>
            </a:fld>
            <a:endParaRPr lang="en-US"/>
          </a:p>
        </p:txBody>
      </p:sp>
      <p:sp>
        <p:nvSpPr>
          <p:cNvPr id="8195" name="Rectangle 2"/>
          <p:cNvSpPr>
            <a:spLocks noGrp="1" noChangeArrowheads="1"/>
          </p:cNvSpPr>
          <p:nvPr>
            <p:ph type="title"/>
          </p:nvPr>
        </p:nvSpPr>
        <p:spPr>
          <a:xfrm>
            <a:off x="342900" y="918014"/>
            <a:ext cx="8458200" cy="533400"/>
          </a:xfrm>
        </p:spPr>
        <p:txBody>
          <a:bodyPr/>
          <a:lstStyle/>
          <a:p>
            <a:pPr eaLnBrk="1" hangingPunct="1"/>
            <a:r>
              <a:rPr lang="en-US" sz="2800" b="1" dirty="0">
                <a:latin typeface="Arial" panose="020B0604020202020204" pitchFamily="34" charset="0"/>
                <a:cs typeface="Arial" panose="020B0604020202020204" pitchFamily="34" charset="0"/>
              </a:rPr>
              <a:t>Federal R&amp;D Budget Authority, Budget Function</a:t>
            </a:r>
            <a:br>
              <a:rPr lang="en-US" sz="2800" b="1" dirty="0">
                <a:latin typeface="Arial" panose="020B0604020202020204" pitchFamily="34" charset="0"/>
                <a:cs typeface="Arial" panose="020B0604020202020204" pitchFamily="34" charset="0"/>
              </a:rPr>
            </a:br>
            <a:r>
              <a:rPr lang="en-US" sz="1800" b="1" dirty="0">
                <a:latin typeface="Arial" panose="020B0604020202020204" pitchFamily="34" charset="0"/>
                <a:cs typeface="Arial" panose="020B0604020202020204" pitchFamily="34" charset="0"/>
              </a:rPr>
              <a:t>(percent share of Federal R&amp;D total)</a:t>
            </a:r>
          </a:p>
        </p:txBody>
      </p:sp>
      <p:pic>
        <p:nvPicPr>
          <p:cNvPr id="9" name="Picture 8" descr="nsf2"/>
          <p:cNvPicPr>
            <a:picLocks noChangeAspect="1" noChangeArrowheads="1"/>
          </p:cNvPicPr>
          <p:nvPr/>
        </p:nvPicPr>
        <p:blipFill>
          <a:blip r:embed="rId2" cstate="print"/>
          <a:srcRect/>
          <a:stretch>
            <a:fillRect/>
          </a:stretch>
        </p:blipFill>
        <p:spPr bwMode="auto">
          <a:xfrm>
            <a:off x="76200" y="79375"/>
            <a:ext cx="533400" cy="530225"/>
          </a:xfrm>
          <a:prstGeom prst="rect">
            <a:avLst/>
          </a:prstGeom>
          <a:noFill/>
          <a:ln w="9525">
            <a:noFill/>
            <a:miter lim="800000"/>
            <a:headEnd/>
            <a:tailEnd/>
          </a:ln>
        </p:spPr>
      </p:pic>
      <p:pic>
        <p:nvPicPr>
          <p:cNvPr id="10" name="Picture 9" descr="NCSES_logo_oneline_150.eps"/>
          <p:cNvPicPr>
            <a:picLocks noChangeAspect="1"/>
          </p:cNvPicPr>
          <p:nvPr/>
        </p:nvPicPr>
        <p:blipFill>
          <a:blip r:embed="rId3" cstate="print"/>
          <a:srcRect/>
          <a:stretch>
            <a:fillRect/>
          </a:stretch>
        </p:blipFill>
        <p:spPr bwMode="auto">
          <a:xfrm>
            <a:off x="4114800" y="134938"/>
            <a:ext cx="5029200" cy="474662"/>
          </a:xfrm>
          <a:prstGeom prst="rect">
            <a:avLst/>
          </a:prstGeom>
          <a:noFill/>
          <a:ln w="9525">
            <a:noFill/>
            <a:miter lim="800000"/>
            <a:headEnd/>
            <a:tailEnd/>
          </a:ln>
        </p:spPr>
      </p:pic>
      <p:sp>
        <p:nvSpPr>
          <p:cNvPr id="8" name="Rectangle 4"/>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graphicFrame>
        <p:nvGraphicFramePr>
          <p:cNvPr id="2" name="Table 1"/>
          <p:cNvGraphicFramePr>
            <a:graphicFrameLocks noGrp="1"/>
          </p:cNvGraphicFramePr>
          <p:nvPr>
            <p:extLst>
              <p:ext uri="{D42A27DB-BD31-4B8C-83A1-F6EECF244321}">
                <p14:modId xmlns:p14="http://schemas.microsoft.com/office/powerpoint/2010/main" val="4244168233"/>
              </p:ext>
            </p:extLst>
          </p:nvPr>
        </p:nvGraphicFramePr>
        <p:xfrm>
          <a:off x="1562099" y="1607428"/>
          <a:ext cx="4953000" cy="4827434"/>
        </p:xfrm>
        <a:graphic>
          <a:graphicData uri="http://schemas.openxmlformats.org/drawingml/2006/table">
            <a:tbl>
              <a:tblPr>
                <a:tableStyleId>{5C22544A-7EE6-4342-B048-85BDC9FD1C3A}</a:tableStyleId>
              </a:tblPr>
              <a:tblGrid>
                <a:gridCol w="533400">
                  <a:extLst>
                    <a:ext uri="{9D8B030D-6E8A-4147-A177-3AD203B41FA5}">
                      <a16:colId xmlns:a16="http://schemas.microsoft.com/office/drawing/2014/main" val="20000"/>
                    </a:ext>
                  </a:extLst>
                </a:gridCol>
                <a:gridCol w="2172129">
                  <a:extLst>
                    <a:ext uri="{9D8B030D-6E8A-4147-A177-3AD203B41FA5}">
                      <a16:colId xmlns:a16="http://schemas.microsoft.com/office/drawing/2014/main" val="20001"/>
                    </a:ext>
                  </a:extLst>
                </a:gridCol>
                <a:gridCol w="799671">
                  <a:extLst>
                    <a:ext uri="{9D8B030D-6E8A-4147-A177-3AD203B41FA5}">
                      <a16:colId xmlns:a16="http://schemas.microsoft.com/office/drawing/2014/main" val="20002"/>
                    </a:ext>
                  </a:extLst>
                </a:gridCol>
                <a:gridCol w="685799">
                  <a:extLst>
                    <a:ext uri="{9D8B030D-6E8A-4147-A177-3AD203B41FA5}">
                      <a16:colId xmlns:a16="http://schemas.microsoft.com/office/drawing/2014/main" val="20003"/>
                    </a:ext>
                  </a:extLst>
                </a:gridCol>
                <a:gridCol w="762001">
                  <a:extLst>
                    <a:ext uri="{9D8B030D-6E8A-4147-A177-3AD203B41FA5}">
                      <a16:colId xmlns:a16="http://schemas.microsoft.com/office/drawing/2014/main" val="20004"/>
                    </a:ext>
                  </a:extLst>
                </a:gridCol>
              </a:tblGrid>
              <a:tr h="272172">
                <a:tc>
                  <a:txBody>
                    <a:bodyPr/>
                    <a:lstStyle/>
                    <a:p>
                      <a:pPr algn="l" fontAlgn="b"/>
                      <a:r>
                        <a:rPr lang="en-US" sz="1000" u="none" strike="noStrike" dirty="0">
                          <a:effectLst/>
                          <a:latin typeface="Arial" panose="020B0604020202020204" pitchFamily="34" charset="0"/>
                          <a:cs typeface="Arial" panose="020B0604020202020204" pitchFamily="34" charset="0"/>
                        </a:rPr>
                        <a:t>2017 rank</a:t>
                      </a:r>
                      <a:endParaRPr lang="en-US" sz="1000" b="0" i="0" u="none" strike="noStrike" dirty="0">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000" u="none" strike="noStrike">
                          <a:effectLst/>
                          <a:latin typeface="Arial" panose="020B0604020202020204" pitchFamily="34" charset="0"/>
                          <a:cs typeface="Arial" panose="020B0604020202020204" pitchFamily="34" charset="0"/>
                        </a:rPr>
                        <a:t>Budget function  </a:t>
                      </a:r>
                      <a:endParaRPr lang="en-US" sz="1000" b="0"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000" u="none" strike="noStrike" dirty="0">
                          <a:effectLst/>
                          <a:latin typeface="Arial" panose="020B0604020202020204" pitchFamily="34" charset="0"/>
                          <a:cs typeface="Arial" panose="020B0604020202020204" pitchFamily="34" charset="0"/>
                        </a:rPr>
                        <a:t>2017</a:t>
                      </a:r>
                    </a:p>
                    <a:p>
                      <a:pPr algn="r" fontAlgn="b"/>
                      <a:r>
                        <a:rPr lang="en-US" sz="1000" u="none" strike="noStrike" dirty="0">
                          <a:effectLst/>
                          <a:latin typeface="Arial" panose="020B0604020202020204" pitchFamily="34" charset="0"/>
                          <a:cs typeface="Arial" panose="020B0604020202020204" pitchFamily="34" charset="0"/>
                        </a:rPr>
                        <a:t> actual</a:t>
                      </a:r>
                      <a:endParaRPr lang="en-US" sz="1000" b="0" i="0" u="none" strike="noStrike" dirty="0">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000" u="none" strike="noStrike" dirty="0">
                          <a:effectLst/>
                          <a:latin typeface="Arial" panose="020B0604020202020204" pitchFamily="34" charset="0"/>
                          <a:cs typeface="Arial" panose="020B0604020202020204" pitchFamily="34" charset="0"/>
                        </a:rPr>
                        <a:t>2018 preliminary</a:t>
                      </a:r>
                      <a:endParaRPr lang="en-US" sz="1000" b="0" i="0" u="none" strike="noStrike" dirty="0">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000" u="none" strike="noStrike" dirty="0">
                          <a:effectLst/>
                          <a:latin typeface="Arial" panose="020B0604020202020204" pitchFamily="34" charset="0"/>
                          <a:cs typeface="Arial" panose="020B0604020202020204" pitchFamily="34" charset="0"/>
                        </a:rPr>
                        <a:t>2019 proposed</a:t>
                      </a:r>
                      <a:endParaRPr lang="en-US" sz="1000" b="0" i="0" u="none" strike="noStrike" dirty="0">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0000"/>
                  </a:ext>
                </a:extLst>
              </a:tr>
              <a:tr h="384567">
                <a:tc>
                  <a:txBody>
                    <a:bodyPr/>
                    <a:lstStyle/>
                    <a:p>
                      <a:pPr algn="l" fontAlgn="b"/>
                      <a:endParaRPr lang="en-US" sz="1000" b="0"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000" u="none" strike="noStrike" dirty="0">
                          <a:effectLst/>
                          <a:latin typeface="Arial" panose="020B0604020202020204" pitchFamily="34" charset="0"/>
                          <a:cs typeface="Arial" panose="020B0604020202020204" pitchFamily="34" charset="0"/>
                        </a:rPr>
                        <a:t>All functions conducting R&amp;D</a:t>
                      </a:r>
                    </a:p>
                    <a:p>
                      <a:pPr algn="l" fontAlgn="b"/>
                      <a:r>
                        <a:rPr lang="en-US" sz="1000" b="0" i="0" u="none" strike="noStrike" dirty="0">
                          <a:effectLst/>
                          <a:latin typeface="Arial" panose="020B0604020202020204" pitchFamily="34" charset="0"/>
                          <a:cs typeface="Arial" panose="020B0604020202020204" pitchFamily="34" charset="0"/>
                        </a:rPr>
                        <a:t>(Billions of dollars)</a:t>
                      </a:r>
                    </a:p>
                  </a:txBody>
                  <a:tcPr marL="9525" marR="9525" marT="9525" marB="0" anchor="b"/>
                </a:tc>
                <a:tc>
                  <a:txBody>
                    <a:bodyPr/>
                    <a:lstStyle/>
                    <a:p>
                      <a:pPr algn="r" fontAlgn="b"/>
                      <a:r>
                        <a:rPr lang="en-US" sz="1000" u="none" strike="noStrike" dirty="0">
                          <a:effectLst/>
                          <a:latin typeface="Arial" panose="020B0604020202020204" pitchFamily="34" charset="0"/>
                          <a:cs typeface="Arial" panose="020B0604020202020204" pitchFamily="34" charset="0"/>
                        </a:rPr>
                        <a:t>$127.306</a:t>
                      </a:r>
                      <a:endParaRPr lang="en-US" sz="1000" b="0" i="0" u="none" strike="noStrike" dirty="0">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000" u="none" strike="noStrike" dirty="0">
                          <a:effectLst/>
                          <a:latin typeface="Arial" panose="020B0604020202020204" pitchFamily="34" charset="0"/>
                          <a:cs typeface="Arial" panose="020B0604020202020204" pitchFamily="34" charset="0"/>
                        </a:rPr>
                        <a:t>$130.541</a:t>
                      </a:r>
                      <a:endParaRPr lang="en-US" sz="1000" b="0" i="0" u="none" strike="noStrike" dirty="0">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US" sz="1000" u="none" strike="noStrike" dirty="0">
                          <a:effectLst/>
                          <a:latin typeface="Arial" panose="020B0604020202020204" pitchFamily="34" charset="0"/>
                          <a:cs typeface="Arial" panose="020B0604020202020204" pitchFamily="34" charset="0"/>
                        </a:rPr>
                        <a:t>$123.736</a:t>
                      </a:r>
                      <a:endParaRPr lang="en-US" sz="1000" b="0" i="0" u="none" strike="noStrike" dirty="0">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0001"/>
                  </a:ext>
                </a:extLst>
              </a:tr>
              <a:tr h="283815">
                <a:tc>
                  <a:txBody>
                    <a:bodyPr/>
                    <a:lstStyle/>
                    <a:p>
                      <a:pPr algn="l" fontAlgn="b"/>
                      <a:r>
                        <a:rPr lang="en-US" sz="1000" u="none" strike="noStrike">
                          <a:effectLst/>
                          <a:latin typeface="Arial" panose="020B0604020202020204" pitchFamily="34" charset="0"/>
                          <a:cs typeface="Arial" panose="020B0604020202020204" pitchFamily="34" charset="0"/>
                        </a:rPr>
                        <a:t>   1    </a:t>
                      </a:r>
                      <a:endParaRPr lang="en-US" sz="1000" b="0"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000" u="none" strike="noStrike" dirty="0">
                          <a:effectLst/>
                          <a:latin typeface="Arial" panose="020B0604020202020204" pitchFamily="34" charset="0"/>
                          <a:cs typeface="Arial" panose="020B0604020202020204" pitchFamily="34" charset="0"/>
                        </a:rPr>
                        <a:t>National defense (050)</a:t>
                      </a:r>
                      <a:endParaRPr lang="en-US" sz="1000" b="0" i="0" u="none" strike="noStrike" dirty="0">
                        <a:effectLst/>
                        <a:latin typeface="Arial" panose="020B0604020202020204" pitchFamily="34" charset="0"/>
                        <a:cs typeface="Arial" panose="020B0604020202020204" pitchFamily="34" charset="0"/>
                      </a:endParaRPr>
                    </a:p>
                  </a:txBody>
                  <a:tcPr marL="114300"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45.2</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46.8</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53.3</a:t>
                      </a:r>
                    </a:p>
                  </a:txBody>
                  <a:tcPr marL="9525" marR="9525" marT="9525" marB="0" anchor="b"/>
                </a:tc>
                <a:extLst>
                  <a:ext uri="{0D108BD9-81ED-4DB2-BD59-A6C34878D82A}">
                    <a16:rowId xmlns:a16="http://schemas.microsoft.com/office/drawing/2014/main" val="10002"/>
                  </a:ext>
                </a:extLst>
              </a:tr>
              <a:tr h="203831">
                <a:tc>
                  <a:txBody>
                    <a:bodyPr/>
                    <a:lstStyle/>
                    <a:p>
                      <a:pPr algn="l" fontAlgn="b"/>
                      <a:r>
                        <a:rPr lang="en-US" sz="1000" u="none" strike="noStrike">
                          <a:effectLst/>
                          <a:latin typeface="Arial" panose="020B0604020202020204" pitchFamily="34" charset="0"/>
                          <a:cs typeface="Arial" panose="020B0604020202020204" pitchFamily="34" charset="0"/>
                        </a:rPr>
                        <a:t>   2    </a:t>
                      </a:r>
                      <a:endParaRPr lang="en-US" sz="1000" b="0"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000" u="none" strike="noStrike">
                          <a:effectLst/>
                          <a:latin typeface="Arial" panose="020B0604020202020204" pitchFamily="34" charset="0"/>
                          <a:cs typeface="Arial" panose="020B0604020202020204" pitchFamily="34" charset="0"/>
                        </a:rPr>
                        <a:t>Health (550)</a:t>
                      </a:r>
                      <a:endParaRPr lang="en-US" sz="1000" b="0" i="0" u="none" strike="noStrike">
                        <a:effectLst/>
                        <a:latin typeface="Arial" panose="020B0604020202020204" pitchFamily="34" charset="0"/>
                        <a:cs typeface="Arial" panose="020B0604020202020204" pitchFamily="34" charset="0"/>
                      </a:endParaRPr>
                    </a:p>
                  </a:txBody>
                  <a:tcPr marL="114300"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27.0</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26.5</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20.4</a:t>
                      </a:r>
                    </a:p>
                  </a:txBody>
                  <a:tcPr marL="9525" marR="9525" marT="9525" marB="0" anchor="b"/>
                </a:tc>
                <a:extLst>
                  <a:ext uri="{0D108BD9-81ED-4DB2-BD59-A6C34878D82A}">
                    <a16:rowId xmlns:a16="http://schemas.microsoft.com/office/drawing/2014/main" val="10003"/>
                  </a:ext>
                </a:extLst>
              </a:tr>
              <a:tr h="203831">
                <a:tc>
                  <a:txBody>
                    <a:bodyPr/>
                    <a:lstStyle/>
                    <a:p>
                      <a:pPr algn="l" fontAlgn="b"/>
                      <a:r>
                        <a:rPr lang="en-US" sz="1000" u="none" strike="noStrike">
                          <a:effectLst/>
                          <a:latin typeface="Arial" panose="020B0604020202020204" pitchFamily="34" charset="0"/>
                          <a:cs typeface="Arial" panose="020B0604020202020204" pitchFamily="34" charset="0"/>
                        </a:rPr>
                        <a:t>   3    </a:t>
                      </a:r>
                      <a:endParaRPr lang="en-US" sz="1000" b="0"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000" u="none" strike="noStrike">
                          <a:effectLst/>
                          <a:latin typeface="Arial" panose="020B0604020202020204" pitchFamily="34" charset="0"/>
                          <a:cs typeface="Arial" panose="020B0604020202020204" pitchFamily="34" charset="0"/>
                        </a:rPr>
                        <a:t>General science and basic research (251)</a:t>
                      </a:r>
                      <a:endParaRPr lang="en-US" sz="1000" b="0" i="0" u="none" strike="noStrike">
                        <a:effectLst/>
                        <a:latin typeface="Arial" panose="020B0604020202020204" pitchFamily="34" charset="0"/>
                        <a:cs typeface="Arial" panose="020B0604020202020204" pitchFamily="34" charset="0"/>
                      </a:endParaRPr>
                    </a:p>
                  </a:txBody>
                  <a:tcPr marL="114300"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8.9</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8.7</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9.3</a:t>
                      </a:r>
                    </a:p>
                  </a:txBody>
                  <a:tcPr marL="9525" marR="9525" marT="9525" marB="0" anchor="b"/>
                </a:tc>
                <a:extLst>
                  <a:ext uri="{0D108BD9-81ED-4DB2-BD59-A6C34878D82A}">
                    <a16:rowId xmlns:a16="http://schemas.microsoft.com/office/drawing/2014/main" val="10004"/>
                  </a:ext>
                </a:extLst>
              </a:tr>
              <a:tr h="203831">
                <a:tc>
                  <a:txBody>
                    <a:bodyPr/>
                    <a:lstStyle/>
                    <a:p>
                      <a:pPr algn="l" fontAlgn="b"/>
                      <a:r>
                        <a:rPr lang="en-US" sz="1000" u="none" strike="noStrike">
                          <a:effectLst/>
                          <a:latin typeface="Arial" panose="020B0604020202020204" pitchFamily="34" charset="0"/>
                          <a:cs typeface="Arial" panose="020B0604020202020204" pitchFamily="34" charset="0"/>
                        </a:rPr>
                        <a:t>   4    </a:t>
                      </a:r>
                      <a:endParaRPr lang="en-US" sz="1000" b="0"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000" u="none" strike="noStrike">
                          <a:effectLst/>
                          <a:latin typeface="Arial" panose="020B0604020202020204" pitchFamily="34" charset="0"/>
                          <a:cs typeface="Arial" panose="020B0604020202020204" pitchFamily="34" charset="0"/>
                        </a:rPr>
                        <a:t>Space flight, research, and related (252)</a:t>
                      </a:r>
                      <a:endParaRPr lang="en-US" sz="1000" b="0" i="0" u="none" strike="noStrike">
                        <a:effectLst/>
                        <a:latin typeface="Arial" panose="020B0604020202020204" pitchFamily="34" charset="0"/>
                        <a:cs typeface="Arial" panose="020B0604020202020204" pitchFamily="34" charset="0"/>
                      </a:endParaRPr>
                    </a:p>
                  </a:txBody>
                  <a:tcPr marL="114300"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8.0</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7.5</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8.2</a:t>
                      </a:r>
                    </a:p>
                  </a:txBody>
                  <a:tcPr marL="9525" marR="9525" marT="9525" marB="0" anchor="b"/>
                </a:tc>
                <a:extLst>
                  <a:ext uri="{0D108BD9-81ED-4DB2-BD59-A6C34878D82A}">
                    <a16:rowId xmlns:a16="http://schemas.microsoft.com/office/drawing/2014/main" val="10005"/>
                  </a:ext>
                </a:extLst>
              </a:tr>
              <a:tr h="203831">
                <a:tc>
                  <a:txBody>
                    <a:bodyPr/>
                    <a:lstStyle/>
                    <a:p>
                      <a:pPr algn="l" fontAlgn="b"/>
                      <a:r>
                        <a:rPr lang="en-US" sz="1000" u="none" strike="noStrike">
                          <a:effectLst/>
                          <a:latin typeface="Arial" panose="020B0604020202020204" pitchFamily="34" charset="0"/>
                          <a:cs typeface="Arial" panose="020B0604020202020204" pitchFamily="34" charset="0"/>
                        </a:rPr>
                        <a:t>   5    </a:t>
                      </a:r>
                      <a:endParaRPr lang="en-US" sz="1000" b="0"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000" u="none" strike="noStrike">
                          <a:effectLst/>
                          <a:latin typeface="Arial" panose="020B0604020202020204" pitchFamily="34" charset="0"/>
                          <a:cs typeface="Arial" panose="020B0604020202020204" pitchFamily="34" charset="0"/>
                        </a:rPr>
                        <a:t>Energy (270)</a:t>
                      </a:r>
                      <a:endParaRPr lang="en-US" sz="1000" b="0" i="0" u="none" strike="noStrike">
                        <a:effectLst/>
                        <a:latin typeface="Arial" panose="020B0604020202020204" pitchFamily="34" charset="0"/>
                        <a:cs typeface="Arial" panose="020B0604020202020204" pitchFamily="34" charset="0"/>
                      </a:endParaRPr>
                    </a:p>
                  </a:txBody>
                  <a:tcPr marL="114300"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2.8</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2.7</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1.6</a:t>
                      </a:r>
                    </a:p>
                  </a:txBody>
                  <a:tcPr marL="9525" marR="9525" marT="9525" marB="0" anchor="b"/>
                </a:tc>
                <a:extLst>
                  <a:ext uri="{0D108BD9-81ED-4DB2-BD59-A6C34878D82A}">
                    <a16:rowId xmlns:a16="http://schemas.microsoft.com/office/drawing/2014/main" val="10006"/>
                  </a:ext>
                </a:extLst>
              </a:tr>
              <a:tr h="203831">
                <a:tc>
                  <a:txBody>
                    <a:bodyPr/>
                    <a:lstStyle/>
                    <a:p>
                      <a:pPr algn="l" fontAlgn="b"/>
                      <a:r>
                        <a:rPr lang="en-US" sz="1000" u="none" strike="noStrike">
                          <a:effectLst/>
                          <a:latin typeface="Arial" panose="020B0604020202020204" pitchFamily="34" charset="0"/>
                          <a:cs typeface="Arial" panose="020B0604020202020204" pitchFamily="34" charset="0"/>
                        </a:rPr>
                        <a:t>   6    </a:t>
                      </a:r>
                      <a:endParaRPr lang="en-US" sz="1000" b="0"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000" u="none" strike="noStrike" dirty="0">
                          <a:effectLst/>
                          <a:latin typeface="Arial" panose="020B0604020202020204" pitchFamily="34" charset="0"/>
                          <a:cs typeface="Arial" panose="020B0604020202020204" pitchFamily="34" charset="0"/>
                        </a:rPr>
                        <a:t>Natural resources and environment (300)</a:t>
                      </a:r>
                      <a:endParaRPr lang="en-US" sz="1000" b="0" i="0" u="none" strike="noStrike" dirty="0">
                        <a:effectLst/>
                        <a:latin typeface="Arial" panose="020B0604020202020204" pitchFamily="34" charset="0"/>
                        <a:cs typeface="Arial" panose="020B0604020202020204" pitchFamily="34" charset="0"/>
                      </a:endParaRPr>
                    </a:p>
                  </a:txBody>
                  <a:tcPr marL="114300"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2.0</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2.0</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1.5</a:t>
                      </a:r>
                    </a:p>
                  </a:txBody>
                  <a:tcPr marL="9525" marR="9525" marT="9525" marB="0" anchor="b"/>
                </a:tc>
                <a:extLst>
                  <a:ext uri="{0D108BD9-81ED-4DB2-BD59-A6C34878D82A}">
                    <a16:rowId xmlns:a16="http://schemas.microsoft.com/office/drawing/2014/main" val="10007"/>
                  </a:ext>
                </a:extLst>
              </a:tr>
              <a:tr h="203831">
                <a:tc>
                  <a:txBody>
                    <a:bodyPr/>
                    <a:lstStyle/>
                    <a:p>
                      <a:pPr algn="l" fontAlgn="b"/>
                      <a:r>
                        <a:rPr lang="en-US" sz="1000" u="none" strike="noStrike">
                          <a:effectLst/>
                          <a:latin typeface="Arial" panose="020B0604020202020204" pitchFamily="34" charset="0"/>
                          <a:cs typeface="Arial" panose="020B0604020202020204" pitchFamily="34" charset="0"/>
                        </a:rPr>
                        <a:t>   7    </a:t>
                      </a:r>
                      <a:endParaRPr lang="en-US" sz="1000" b="0"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000" u="none" strike="noStrike">
                          <a:effectLst/>
                          <a:latin typeface="Arial" panose="020B0604020202020204" pitchFamily="34" charset="0"/>
                          <a:cs typeface="Arial" panose="020B0604020202020204" pitchFamily="34" charset="0"/>
                        </a:rPr>
                        <a:t>Agriculture (350)</a:t>
                      </a:r>
                      <a:endParaRPr lang="en-US" sz="1000" b="0" i="0" u="none" strike="noStrike">
                        <a:effectLst/>
                        <a:latin typeface="Arial" panose="020B0604020202020204" pitchFamily="34" charset="0"/>
                        <a:cs typeface="Arial" panose="020B0604020202020204" pitchFamily="34" charset="0"/>
                      </a:endParaRPr>
                    </a:p>
                  </a:txBody>
                  <a:tcPr marL="114300"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1.8</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1.7</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1.7</a:t>
                      </a:r>
                    </a:p>
                  </a:txBody>
                  <a:tcPr marL="9525" marR="9525" marT="9525" marB="0" anchor="b"/>
                </a:tc>
                <a:extLst>
                  <a:ext uri="{0D108BD9-81ED-4DB2-BD59-A6C34878D82A}">
                    <a16:rowId xmlns:a16="http://schemas.microsoft.com/office/drawing/2014/main" val="10008"/>
                  </a:ext>
                </a:extLst>
              </a:tr>
              <a:tr h="203831">
                <a:tc>
                  <a:txBody>
                    <a:bodyPr/>
                    <a:lstStyle/>
                    <a:p>
                      <a:pPr algn="l" fontAlgn="b"/>
                      <a:r>
                        <a:rPr lang="en-US" sz="1000" u="none" strike="noStrike">
                          <a:effectLst/>
                          <a:latin typeface="Arial" panose="020B0604020202020204" pitchFamily="34" charset="0"/>
                          <a:cs typeface="Arial" panose="020B0604020202020204" pitchFamily="34" charset="0"/>
                        </a:rPr>
                        <a:t>   8    </a:t>
                      </a:r>
                      <a:endParaRPr lang="en-US" sz="1000" b="0"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000" u="none" strike="noStrike">
                          <a:effectLst/>
                          <a:latin typeface="Arial" panose="020B0604020202020204" pitchFamily="34" charset="0"/>
                          <a:cs typeface="Arial" panose="020B0604020202020204" pitchFamily="34" charset="0"/>
                        </a:rPr>
                        <a:t>Transportation (400)</a:t>
                      </a:r>
                      <a:endParaRPr lang="en-US" sz="1000" b="0" i="0" u="none" strike="noStrike">
                        <a:effectLst/>
                        <a:latin typeface="Arial" panose="020B0604020202020204" pitchFamily="34" charset="0"/>
                        <a:cs typeface="Arial" panose="020B0604020202020204" pitchFamily="34" charset="0"/>
                      </a:endParaRPr>
                    </a:p>
                  </a:txBody>
                  <a:tcPr marL="114300"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1.2</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1.1</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1.1</a:t>
                      </a:r>
                    </a:p>
                  </a:txBody>
                  <a:tcPr marL="9525" marR="9525" marT="9525" marB="0" anchor="b"/>
                </a:tc>
                <a:extLst>
                  <a:ext uri="{0D108BD9-81ED-4DB2-BD59-A6C34878D82A}">
                    <a16:rowId xmlns:a16="http://schemas.microsoft.com/office/drawing/2014/main" val="10009"/>
                  </a:ext>
                </a:extLst>
              </a:tr>
              <a:tr h="203831">
                <a:tc>
                  <a:txBody>
                    <a:bodyPr/>
                    <a:lstStyle/>
                    <a:p>
                      <a:pPr algn="l" fontAlgn="b"/>
                      <a:r>
                        <a:rPr lang="en-US" sz="1000" u="none" strike="noStrike">
                          <a:effectLst/>
                          <a:latin typeface="Arial" panose="020B0604020202020204" pitchFamily="34" charset="0"/>
                          <a:cs typeface="Arial" panose="020B0604020202020204" pitchFamily="34" charset="0"/>
                        </a:rPr>
                        <a:t>   9    </a:t>
                      </a:r>
                      <a:endParaRPr lang="en-US" sz="1000" b="0"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000" u="none" strike="noStrike">
                          <a:effectLst/>
                          <a:latin typeface="Arial" panose="020B0604020202020204" pitchFamily="34" charset="0"/>
                          <a:cs typeface="Arial" panose="020B0604020202020204" pitchFamily="34" charset="0"/>
                        </a:rPr>
                        <a:t>Veterans benefits and services (700)</a:t>
                      </a:r>
                      <a:endParaRPr lang="en-US" sz="1000" b="0" i="0" u="none" strike="noStrike">
                        <a:effectLst/>
                        <a:latin typeface="Arial" panose="020B0604020202020204" pitchFamily="34" charset="0"/>
                        <a:cs typeface="Arial" panose="020B0604020202020204" pitchFamily="34" charset="0"/>
                      </a:endParaRPr>
                    </a:p>
                  </a:txBody>
                  <a:tcPr marL="114300"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1.1</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1.0</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1.1</a:t>
                      </a:r>
                    </a:p>
                  </a:txBody>
                  <a:tcPr marL="9525" marR="9525" marT="9525" marB="0" anchor="b"/>
                </a:tc>
                <a:extLst>
                  <a:ext uri="{0D108BD9-81ED-4DB2-BD59-A6C34878D82A}">
                    <a16:rowId xmlns:a16="http://schemas.microsoft.com/office/drawing/2014/main" val="10010"/>
                  </a:ext>
                </a:extLst>
              </a:tr>
              <a:tr h="203831">
                <a:tc>
                  <a:txBody>
                    <a:bodyPr/>
                    <a:lstStyle/>
                    <a:p>
                      <a:pPr algn="l" fontAlgn="b"/>
                      <a:r>
                        <a:rPr lang="en-US" sz="1000" u="none" strike="noStrike">
                          <a:effectLst/>
                          <a:latin typeface="Arial" panose="020B0604020202020204" pitchFamily="34" charset="0"/>
                          <a:cs typeface="Arial" panose="020B0604020202020204" pitchFamily="34" charset="0"/>
                        </a:rPr>
                        <a:t>  10    </a:t>
                      </a:r>
                      <a:endParaRPr lang="en-US" sz="1000" b="0"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u="none" strike="noStrike" dirty="0">
                          <a:effectLst/>
                          <a:latin typeface="Arial" panose="020B0604020202020204" pitchFamily="34" charset="0"/>
                          <a:cs typeface="Arial" panose="020B0604020202020204" pitchFamily="34" charset="0"/>
                        </a:rPr>
                        <a:t>Commerce and housing credit (370)</a:t>
                      </a:r>
                      <a:endParaRPr lang="en-US" sz="1000" b="0" i="0" u="none" strike="noStrike" dirty="0">
                        <a:effectLst/>
                        <a:latin typeface="Arial" panose="020B0604020202020204" pitchFamily="34" charset="0"/>
                        <a:cs typeface="Arial" panose="020B0604020202020204" pitchFamily="34" charset="0"/>
                      </a:endParaRPr>
                    </a:p>
                  </a:txBody>
                  <a:tcPr marL="114300"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0.8</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0.8</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0.7</a:t>
                      </a:r>
                    </a:p>
                  </a:txBody>
                  <a:tcPr marL="9525" marR="9525" marT="9525" marB="0" anchor="b"/>
                </a:tc>
                <a:extLst>
                  <a:ext uri="{0D108BD9-81ED-4DB2-BD59-A6C34878D82A}">
                    <a16:rowId xmlns:a16="http://schemas.microsoft.com/office/drawing/2014/main" val="10011"/>
                  </a:ext>
                </a:extLst>
              </a:tr>
              <a:tr h="203831">
                <a:tc>
                  <a:txBody>
                    <a:bodyPr/>
                    <a:lstStyle/>
                    <a:p>
                      <a:pPr algn="l" fontAlgn="b"/>
                      <a:r>
                        <a:rPr lang="en-US" sz="1000" u="none" strike="noStrike">
                          <a:effectLst/>
                          <a:latin typeface="Arial" panose="020B0604020202020204" pitchFamily="34" charset="0"/>
                          <a:cs typeface="Arial" panose="020B0604020202020204" pitchFamily="34" charset="0"/>
                        </a:rPr>
                        <a:t>  11    </a:t>
                      </a:r>
                      <a:endParaRPr lang="en-US" sz="1000" b="0"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u="none" strike="noStrike" dirty="0">
                          <a:effectLst/>
                          <a:latin typeface="Arial" panose="020B0604020202020204" pitchFamily="34" charset="0"/>
                          <a:cs typeface="Arial" panose="020B0604020202020204" pitchFamily="34" charset="0"/>
                        </a:rPr>
                        <a:t>Administration of justice (750)</a:t>
                      </a:r>
                      <a:endParaRPr lang="en-US" sz="1000" b="0" i="0" u="none" strike="noStrike" dirty="0">
                        <a:effectLst/>
                        <a:latin typeface="Arial" panose="020B0604020202020204" pitchFamily="34" charset="0"/>
                        <a:cs typeface="Arial" panose="020B0604020202020204" pitchFamily="34" charset="0"/>
                      </a:endParaRPr>
                    </a:p>
                  </a:txBody>
                  <a:tcPr marL="114300"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0.6</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0.5</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0.4</a:t>
                      </a:r>
                    </a:p>
                  </a:txBody>
                  <a:tcPr marL="9525" marR="9525" marT="9525" marB="0" anchor="b"/>
                </a:tc>
                <a:extLst>
                  <a:ext uri="{0D108BD9-81ED-4DB2-BD59-A6C34878D82A}">
                    <a16:rowId xmlns:a16="http://schemas.microsoft.com/office/drawing/2014/main" val="10012"/>
                  </a:ext>
                </a:extLst>
              </a:tr>
              <a:tr h="203831">
                <a:tc>
                  <a:txBody>
                    <a:bodyPr/>
                    <a:lstStyle/>
                    <a:p>
                      <a:pPr algn="l" fontAlgn="b"/>
                      <a:r>
                        <a:rPr lang="en-US" sz="1000" u="none" strike="noStrike">
                          <a:effectLst/>
                          <a:latin typeface="Arial" panose="020B0604020202020204" pitchFamily="34" charset="0"/>
                          <a:cs typeface="Arial" panose="020B0604020202020204" pitchFamily="34" charset="0"/>
                        </a:rPr>
                        <a:t>  12    </a:t>
                      </a:r>
                      <a:endParaRPr lang="en-US" sz="1000" b="0"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000" u="none" strike="noStrike" dirty="0">
                          <a:effectLst/>
                          <a:latin typeface="Arial" panose="020B0604020202020204" pitchFamily="34" charset="0"/>
                          <a:cs typeface="Arial" panose="020B0604020202020204" pitchFamily="34" charset="0"/>
                        </a:rPr>
                        <a:t>Education, training, employment, and social services (500)</a:t>
                      </a:r>
                      <a:endParaRPr lang="en-US" sz="1000" b="0" i="0" u="none" strike="noStrike" dirty="0">
                        <a:effectLst/>
                        <a:latin typeface="Arial" panose="020B0604020202020204" pitchFamily="34" charset="0"/>
                        <a:cs typeface="Arial" panose="020B0604020202020204" pitchFamily="34" charset="0"/>
                      </a:endParaRPr>
                    </a:p>
                  </a:txBody>
                  <a:tcPr marL="114300"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0.4</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0.4</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0.5</a:t>
                      </a:r>
                    </a:p>
                  </a:txBody>
                  <a:tcPr marL="9525" marR="9525" marT="9525" marB="0" anchor="b"/>
                </a:tc>
                <a:extLst>
                  <a:ext uri="{0D108BD9-81ED-4DB2-BD59-A6C34878D82A}">
                    <a16:rowId xmlns:a16="http://schemas.microsoft.com/office/drawing/2014/main" val="10013"/>
                  </a:ext>
                </a:extLst>
              </a:tr>
              <a:tr h="203831">
                <a:tc>
                  <a:txBody>
                    <a:bodyPr/>
                    <a:lstStyle/>
                    <a:p>
                      <a:pPr algn="l" fontAlgn="b"/>
                      <a:r>
                        <a:rPr lang="en-US" sz="1000" u="none" strike="noStrike">
                          <a:effectLst/>
                          <a:latin typeface="Arial" panose="020B0604020202020204" pitchFamily="34" charset="0"/>
                          <a:cs typeface="Arial" panose="020B0604020202020204" pitchFamily="34" charset="0"/>
                        </a:rPr>
                        <a:t>  13    </a:t>
                      </a:r>
                      <a:endParaRPr lang="en-US" sz="1000" b="0"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000" u="none" strike="noStrike">
                          <a:effectLst/>
                          <a:latin typeface="Arial" panose="020B0604020202020204" pitchFamily="34" charset="0"/>
                          <a:cs typeface="Arial" panose="020B0604020202020204" pitchFamily="34" charset="0"/>
                        </a:rPr>
                        <a:t>International affairs (150)</a:t>
                      </a:r>
                      <a:endParaRPr lang="en-US" sz="1000" b="0" i="0" u="none" strike="noStrike">
                        <a:effectLst/>
                        <a:latin typeface="Arial" panose="020B0604020202020204" pitchFamily="34" charset="0"/>
                        <a:cs typeface="Arial" panose="020B0604020202020204" pitchFamily="34" charset="0"/>
                      </a:endParaRPr>
                    </a:p>
                  </a:txBody>
                  <a:tcPr marL="114300" marR="9525" marT="9525" marB="0" anchor="b"/>
                </a:tc>
                <a:tc>
                  <a:txBody>
                    <a:bodyPr/>
                    <a:lstStyle/>
                    <a:p>
                      <a:pPr algn="r" fontAlgn="b"/>
                      <a:r>
                        <a:rPr lang="en-US" sz="1000" b="0" i="0" u="none" strike="noStrike" dirty="0">
                          <a:solidFill>
                            <a:srgbClr val="000000"/>
                          </a:solidFill>
                          <a:effectLst/>
                          <a:latin typeface="Arial" panose="020B0604020202020204" pitchFamily="34" charset="0"/>
                          <a:cs typeface="Arial" panose="020B0604020202020204" pitchFamily="34" charset="0"/>
                        </a:rPr>
                        <a:t>0.2</a:t>
                      </a:r>
                    </a:p>
                  </a:txBody>
                  <a:tcPr marL="9525" marR="9525" marT="9525" marB="0" anchor="b"/>
                </a:tc>
                <a:tc>
                  <a:txBody>
                    <a:bodyPr/>
                    <a:lstStyle/>
                    <a:p>
                      <a:pPr algn="r" fontAlgn="b"/>
                      <a:r>
                        <a:rPr lang="en-US" sz="1000" b="0" i="0" u="none" strike="noStrike" dirty="0">
                          <a:solidFill>
                            <a:srgbClr val="000000"/>
                          </a:solidFill>
                          <a:effectLst/>
                          <a:latin typeface="Arial" panose="020B0604020202020204" pitchFamily="34" charset="0"/>
                          <a:cs typeface="Arial" panose="020B0604020202020204" pitchFamily="34" charset="0"/>
                        </a:rPr>
                        <a:t>0.2</a:t>
                      </a:r>
                    </a:p>
                  </a:txBody>
                  <a:tcPr marL="9525" marR="9525" marT="9525" marB="0" anchor="b"/>
                </a:tc>
                <a:tc>
                  <a:txBody>
                    <a:bodyPr/>
                    <a:lstStyle/>
                    <a:p>
                      <a:pPr algn="r" fontAlgn="b"/>
                      <a:r>
                        <a:rPr lang="en-US" sz="1000" b="0" i="0" u="none" strike="noStrike" dirty="0">
                          <a:solidFill>
                            <a:srgbClr val="000000"/>
                          </a:solidFill>
                          <a:effectLst/>
                          <a:latin typeface="Arial" panose="020B0604020202020204" pitchFamily="34" charset="0"/>
                          <a:cs typeface="Arial" panose="020B0604020202020204" pitchFamily="34" charset="0"/>
                        </a:rPr>
                        <a:t>0.1</a:t>
                      </a:r>
                    </a:p>
                  </a:txBody>
                  <a:tcPr marL="9525" marR="9525" marT="9525" marB="0" anchor="b"/>
                </a:tc>
                <a:extLst>
                  <a:ext uri="{0D108BD9-81ED-4DB2-BD59-A6C34878D82A}">
                    <a16:rowId xmlns:a16="http://schemas.microsoft.com/office/drawing/2014/main" val="10015"/>
                  </a:ext>
                </a:extLst>
              </a:tr>
              <a:tr h="299295">
                <a:tc>
                  <a:txBody>
                    <a:bodyPr/>
                    <a:lstStyle/>
                    <a:p>
                      <a:pPr algn="l" fontAlgn="b"/>
                      <a:r>
                        <a:rPr lang="en-US" sz="1000" u="none" strike="noStrike">
                          <a:effectLst/>
                          <a:latin typeface="Arial" panose="020B0604020202020204" pitchFamily="34" charset="0"/>
                          <a:cs typeface="Arial" panose="020B0604020202020204" pitchFamily="34" charset="0"/>
                        </a:rPr>
                        <a:t>  14    </a:t>
                      </a:r>
                      <a:endParaRPr lang="en-US" sz="1000" b="0"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u="none" strike="noStrike" dirty="0">
                          <a:effectLst/>
                          <a:latin typeface="Arial" panose="020B0604020202020204" pitchFamily="34" charset="0"/>
                          <a:cs typeface="Arial" panose="020B0604020202020204" pitchFamily="34" charset="0"/>
                        </a:rPr>
                        <a:t>Income security (600)</a:t>
                      </a:r>
                      <a:endParaRPr lang="en-US" sz="1000" b="0" i="0" u="none" strike="noStrike" dirty="0">
                        <a:effectLst/>
                        <a:latin typeface="Arial" panose="020B0604020202020204" pitchFamily="34" charset="0"/>
                        <a:cs typeface="Arial" panose="020B0604020202020204" pitchFamily="34" charset="0"/>
                      </a:endParaRPr>
                    </a:p>
                  </a:txBody>
                  <a:tcPr marL="114300"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0.1</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a:t>
                      </a:r>
                    </a:p>
                  </a:txBody>
                  <a:tcPr marL="9525" marR="9525" marT="9525" marB="0" anchor="b"/>
                </a:tc>
                <a:tc>
                  <a:txBody>
                    <a:bodyPr/>
                    <a:lstStyle/>
                    <a:p>
                      <a:pPr algn="r" fontAlgn="b"/>
                      <a:r>
                        <a:rPr lang="en-US" sz="1000" b="0" i="0" u="none" strike="noStrike" dirty="0">
                          <a:solidFill>
                            <a:srgbClr val="000000"/>
                          </a:solidFill>
                          <a:effectLst/>
                          <a:latin typeface="Arial" panose="020B0604020202020204" pitchFamily="34" charset="0"/>
                          <a:cs typeface="Arial" panose="020B0604020202020204" pitchFamily="34" charset="0"/>
                        </a:rPr>
                        <a:t>0.1</a:t>
                      </a:r>
                    </a:p>
                  </a:txBody>
                  <a:tcPr marL="9525" marR="9525" marT="9525" marB="0" anchor="b"/>
                </a:tc>
                <a:extLst>
                  <a:ext uri="{0D108BD9-81ED-4DB2-BD59-A6C34878D82A}">
                    <a16:rowId xmlns:a16="http://schemas.microsoft.com/office/drawing/2014/main" val="10016"/>
                  </a:ext>
                </a:extLst>
              </a:tr>
              <a:tr h="343159">
                <a:tc>
                  <a:txBody>
                    <a:bodyPr/>
                    <a:lstStyle/>
                    <a:p>
                      <a:pPr algn="l" fontAlgn="b"/>
                      <a:r>
                        <a:rPr lang="en-US" sz="1000" u="none" strike="noStrike">
                          <a:effectLst/>
                          <a:latin typeface="Arial" panose="020B0604020202020204" pitchFamily="34" charset="0"/>
                          <a:cs typeface="Arial" panose="020B0604020202020204" pitchFamily="34" charset="0"/>
                        </a:rPr>
                        <a:t>  15    </a:t>
                      </a:r>
                      <a:endParaRPr lang="en-US" sz="1000" b="0" i="0" u="none" strike="noStrike">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US" sz="1000" u="none" strike="noStrike">
                          <a:effectLst/>
                          <a:latin typeface="Arial" panose="020B0604020202020204" pitchFamily="34" charset="0"/>
                          <a:cs typeface="Arial" panose="020B0604020202020204" pitchFamily="34" charset="0"/>
                        </a:rPr>
                        <a:t>Community and regional development (450)</a:t>
                      </a:r>
                      <a:endParaRPr lang="en-US" sz="1000" b="0" i="0" u="none" strike="noStrike">
                        <a:effectLst/>
                        <a:latin typeface="Arial" panose="020B0604020202020204" pitchFamily="34" charset="0"/>
                        <a:cs typeface="Arial" panose="020B0604020202020204" pitchFamily="34" charset="0"/>
                      </a:endParaRPr>
                    </a:p>
                  </a:txBody>
                  <a:tcPr marL="114300"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0.1</a:t>
                      </a:r>
                    </a:p>
                  </a:txBody>
                  <a:tcPr marL="9525" marR="9525" marT="9525" marB="0" anchor="b"/>
                </a:tc>
                <a:tc>
                  <a:txBody>
                    <a:bodyPr/>
                    <a:lstStyle/>
                    <a:p>
                      <a:pPr algn="r" fontAlgn="b"/>
                      <a:r>
                        <a:rPr lang="en-US" sz="1000" b="0" i="0" u="none" strike="noStrike">
                          <a:solidFill>
                            <a:srgbClr val="000000"/>
                          </a:solidFill>
                          <a:effectLst/>
                          <a:latin typeface="Arial" panose="020B0604020202020204" pitchFamily="34" charset="0"/>
                          <a:cs typeface="Arial" panose="020B0604020202020204" pitchFamily="34" charset="0"/>
                        </a:rPr>
                        <a:t>0.1</a:t>
                      </a:r>
                    </a:p>
                  </a:txBody>
                  <a:tcPr marL="9525" marR="9525" marT="9525" marB="0" anchor="b"/>
                </a:tc>
                <a:tc>
                  <a:txBody>
                    <a:bodyPr/>
                    <a:lstStyle/>
                    <a:p>
                      <a:pPr algn="r" fontAlgn="b"/>
                      <a:r>
                        <a:rPr lang="en-US" sz="1000" b="0" i="0" u="none" strike="noStrike" dirty="0">
                          <a:solidFill>
                            <a:srgbClr val="000000"/>
                          </a:solidFill>
                          <a:effectLst/>
                          <a:latin typeface="Arial" panose="020B0604020202020204" pitchFamily="34" charset="0"/>
                          <a:cs typeface="Arial" panose="020B0604020202020204" pitchFamily="34" charset="0"/>
                        </a:rPr>
                        <a:t>0.1</a:t>
                      </a:r>
                    </a:p>
                  </a:txBody>
                  <a:tcPr marL="9525" marR="9525" marT="9525" marB="0" anchor="b"/>
                </a:tc>
                <a:extLst>
                  <a:ext uri="{0D108BD9-81ED-4DB2-BD59-A6C34878D82A}">
                    <a16:rowId xmlns:a16="http://schemas.microsoft.com/office/drawing/2014/main" val="10017"/>
                  </a:ext>
                </a:extLst>
              </a:tr>
              <a:tr h="203831">
                <a:tc>
                  <a:txBody>
                    <a:bodyPr/>
                    <a:lstStyle/>
                    <a:p>
                      <a:pPr algn="l" fontAlgn="b"/>
                      <a:r>
                        <a:rPr lang="en-US" sz="1000" u="none" strike="noStrike" dirty="0">
                          <a:effectLst/>
                          <a:latin typeface="Arial" panose="020B0604020202020204" pitchFamily="34" charset="0"/>
                          <a:cs typeface="Arial" panose="020B0604020202020204" pitchFamily="34" charset="0"/>
                        </a:rPr>
                        <a:t>  16    </a:t>
                      </a:r>
                      <a:endParaRPr lang="en-US" sz="1000" b="0" i="0" u="none" strike="noStrike" dirty="0">
                        <a:effectLst/>
                        <a:latin typeface="Arial" panose="020B0604020202020204" pitchFamily="34" charset="0"/>
                        <a:cs typeface="Arial" panose="020B0604020202020204" pitchFamily="34" charset="0"/>
                      </a:endParaRPr>
                    </a:p>
                  </a:txBody>
                  <a:tcPr marL="9525" marR="9525" marT="9525"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u="none" strike="noStrike" dirty="0">
                          <a:effectLst/>
                          <a:latin typeface="Arial" panose="020B0604020202020204" pitchFamily="34" charset="0"/>
                          <a:cs typeface="Arial" panose="020B0604020202020204" pitchFamily="34" charset="0"/>
                        </a:rPr>
                        <a:t>Medicare (570)</a:t>
                      </a:r>
                      <a:endParaRPr lang="en-US" sz="1000" b="0" i="0" u="none" strike="noStrike" dirty="0">
                        <a:effectLst/>
                        <a:latin typeface="Arial" panose="020B0604020202020204" pitchFamily="34" charset="0"/>
                        <a:cs typeface="Arial" panose="020B0604020202020204" pitchFamily="34" charset="0"/>
                      </a:endParaRPr>
                    </a:p>
                  </a:txBody>
                  <a:tcPr marL="114300" marR="9525" marT="9525" marB="0" anchor="b"/>
                </a:tc>
                <a:tc>
                  <a:txBody>
                    <a:bodyPr/>
                    <a:lstStyle/>
                    <a:p>
                      <a:pPr algn="r" fontAlgn="b"/>
                      <a:r>
                        <a:rPr lang="en-US" sz="1000" b="0" i="0"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b"/>
                </a:tc>
                <a:tc>
                  <a:txBody>
                    <a:bodyPr/>
                    <a:lstStyle/>
                    <a:p>
                      <a:pPr algn="r" fontAlgn="b"/>
                      <a:r>
                        <a:rPr lang="en-US" sz="1000" b="0" i="0"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b"/>
                </a:tc>
                <a:tc>
                  <a:txBody>
                    <a:bodyPr/>
                    <a:lstStyle/>
                    <a:p>
                      <a:pPr algn="r" fontAlgn="b"/>
                      <a:r>
                        <a:rPr lang="en-US" sz="1000" b="0" i="0"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b"/>
                </a:tc>
                <a:extLst>
                  <a:ext uri="{0D108BD9-81ED-4DB2-BD59-A6C34878D82A}">
                    <a16:rowId xmlns:a16="http://schemas.microsoft.com/office/drawing/2014/main" val="10018"/>
                  </a:ext>
                </a:extLst>
              </a:tr>
            </a:tbl>
          </a:graphicData>
        </a:graphic>
      </p:graphicFrame>
    </p:spTree>
    <p:extLst>
      <p:ext uri="{BB962C8B-B14F-4D97-AF65-F5344CB8AC3E}">
        <p14:creationId xmlns:p14="http://schemas.microsoft.com/office/powerpoint/2010/main" val="28488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p:cNvSpPr>
            <a:spLocks noGrp="1"/>
          </p:cNvSpPr>
          <p:nvPr>
            <p:ph type="sldNum" sz="quarter" idx="12"/>
          </p:nvPr>
        </p:nvSpPr>
        <p:spPr>
          <a:noFill/>
        </p:spPr>
        <p:txBody>
          <a:bodyPr/>
          <a:lstStyle/>
          <a:p>
            <a:fld id="{EF093B9C-5581-4A0F-9F9A-F271099E8558}" type="slidenum">
              <a:rPr lang="en-US" smtClean="0"/>
              <a:pPr/>
              <a:t>15</a:t>
            </a:fld>
            <a:endParaRPr lang="en-US"/>
          </a:p>
        </p:txBody>
      </p:sp>
      <p:sp>
        <p:nvSpPr>
          <p:cNvPr id="10243" name="Rectangle 2"/>
          <p:cNvSpPr>
            <a:spLocks noGrp="1" noChangeArrowheads="1"/>
          </p:cNvSpPr>
          <p:nvPr>
            <p:ph type="title"/>
          </p:nvPr>
        </p:nvSpPr>
        <p:spPr>
          <a:xfrm>
            <a:off x="685800" y="993766"/>
            <a:ext cx="7772400" cy="533400"/>
          </a:xfrm>
        </p:spPr>
        <p:txBody>
          <a:bodyPr/>
          <a:lstStyle/>
          <a:p>
            <a:pPr eaLnBrk="1" hangingPunct="1"/>
            <a:r>
              <a:rPr lang="en-US" sz="2800" b="1" dirty="0">
                <a:latin typeface="Arial" panose="020B0604020202020204" pitchFamily="34" charset="0"/>
                <a:cs typeface="Arial" panose="020B0604020202020204" pitchFamily="34" charset="0"/>
              </a:rPr>
              <a:t>Federal Funds Variables (1)</a:t>
            </a:r>
          </a:p>
        </p:txBody>
      </p:sp>
      <p:sp>
        <p:nvSpPr>
          <p:cNvPr id="10248" name="Rectangle 7"/>
          <p:cNvSpPr>
            <a:spLocks noChangeArrowheads="1"/>
          </p:cNvSpPr>
          <p:nvPr/>
        </p:nvSpPr>
        <p:spPr bwMode="auto">
          <a:xfrm>
            <a:off x="609600" y="1595437"/>
            <a:ext cx="8229600" cy="3200876"/>
          </a:xfrm>
          <a:prstGeom prst="rect">
            <a:avLst/>
          </a:prstGeom>
          <a:noFill/>
          <a:ln w="9525">
            <a:noFill/>
            <a:miter lim="800000"/>
            <a:headEnd/>
            <a:tailEnd/>
          </a:ln>
        </p:spPr>
        <p:txBody>
          <a:bodyPr wrap="square" anchor="t">
            <a:spAutoFit/>
          </a:bodyPr>
          <a:lstStyle/>
          <a:p>
            <a:pPr>
              <a:buFontTx/>
              <a:buChar char="•"/>
            </a:pPr>
            <a:r>
              <a:rPr lang="en-US" dirty="0"/>
              <a:t> </a:t>
            </a:r>
            <a:r>
              <a:rPr lang="en-US" sz="2000" dirty="0">
                <a:latin typeface="Arial" panose="020B0604020202020204" pitchFamily="34" charset="0"/>
                <a:cs typeface="Arial" panose="020B0604020202020204" pitchFamily="34" charset="0"/>
              </a:rPr>
              <a:t>Annual census of all 28 Federal agencies with S&amp;E R&amp;D obligations</a:t>
            </a:r>
          </a:p>
          <a:p>
            <a:pPr lvl="1"/>
            <a:r>
              <a:rPr lang="en-US" sz="2000" dirty="0">
                <a:latin typeface="Arial" panose="020B0604020202020204" pitchFamily="34" charset="0"/>
                <a:cs typeface="Arial" panose="020B0604020202020204" pitchFamily="34" charset="0"/>
              </a:rPr>
              <a:t>     - Past year, current year, budget year     (100% response)</a:t>
            </a:r>
          </a:p>
          <a:p>
            <a:pPr>
              <a:buFontTx/>
              <a:buChar char="•"/>
            </a:pPr>
            <a:r>
              <a:rPr lang="en-US" sz="2000" dirty="0">
                <a:latin typeface="Arial" panose="020B0604020202020204" pitchFamily="34" charset="0"/>
                <a:cs typeface="Arial" panose="020B0604020202020204" pitchFamily="34" charset="0"/>
              </a:rPr>
              <a:t> By funding agency</a:t>
            </a:r>
          </a:p>
          <a:p>
            <a:pPr>
              <a:buFont typeface="Arial"/>
              <a:buChar char="•"/>
            </a:pPr>
            <a:endParaRPr lang="en-US" sz="2000">
              <a:latin typeface="Arial" panose="020B0604020202020204" pitchFamily="34" charset="0"/>
              <a:cs typeface="Arial" panose="020B0604020202020204" pitchFamily="34" charset="0"/>
            </a:endParaRPr>
          </a:p>
          <a:p>
            <a:pPr>
              <a:buFontTx/>
              <a:buChar char="•"/>
            </a:pPr>
            <a:r>
              <a:rPr lang="en-US" sz="2000" dirty="0">
                <a:latin typeface="Arial" panose="020B0604020202020204" pitchFamily="34" charset="0"/>
                <a:cs typeface="Arial" panose="020B0604020202020204" pitchFamily="34" charset="0"/>
              </a:rPr>
              <a:t> By performing sector - Not project-specific</a:t>
            </a:r>
          </a:p>
          <a:p>
            <a:pPr lvl="1"/>
            <a:r>
              <a:rPr lang="en-US" sz="2000" dirty="0">
                <a:latin typeface="Arial" panose="020B0604020202020204" pitchFamily="34" charset="0"/>
                <a:cs typeface="Arial" panose="020B0604020202020204" pitchFamily="34" charset="0"/>
              </a:rPr>
              <a:t>     - Federal intramural, industry, universities,   </a:t>
            </a:r>
          </a:p>
          <a:p>
            <a:pPr lvl="1"/>
            <a:r>
              <a:rPr lang="en-US" sz="2000" dirty="0">
                <a:latin typeface="Arial" panose="020B0604020202020204" pitchFamily="34" charset="0"/>
                <a:cs typeface="Arial" panose="020B0604020202020204" pitchFamily="34" charset="0"/>
              </a:rPr>
              <a:t>       nonprofits, individual FFRDCs,    </a:t>
            </a:r>
          </a:p>
          <a:p>
            <a:pPr lvl="1"/>
            <a:r>
              <a:rPr lang="en-US" sz="2000" dirty="0">
                <a:latin typeface="Arial" panose="020B0604020202020204" pitchFamily="34" charset="0"/>
                <a:cs typeface="Arial" panose="020B0604020202020204" pitchFamily="34" charset="0"/>
              </a:rPr>
              <a:t>       foreign performers, state and local government</a:t>
            </a:r>
          </a:p>
          <a:p>
            <a:pPr lvl="1"/>
            <a:endParaRPr lang="en-US" sz="20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Note: Outlays are collected for total R&amp;D and R&amp;D plant (all sectors combined)</a:t>
            </a:r>
          </a:p>
        </p:txBody>
      </p:sp>
      <p:pic>
        <p:nvPicPr>
          <p:cNvPr id="9" name="Picture 8" descr="nsf2"/>
          <p:cNvPicPr>
            <a:picLocks noChangeAspect="1" noChangeArrowheads="1"/>
          </p:cNvPicPr>
          <p:nvPr/>
        </p:nvPicPr>
        <p:blipFill>
          <a:blip r:embed="rId2" cstate="print"/>
          <a:srcRect/>
          <a:stretch>
            <a:fillRect/>
          </a:stretch>
        </p:blipFill>
        <p:spPr bwMode="auto">
          <a:xfrm>
            <a:off x="76200" y="79375"/>
            <a:ext cx="533400" cy="530225"/>
          </a:xfrm>
          <a:prstGeom prst="rect">
            <a:avLst/>
          </a:prstGeom>
          <a:noFill/>
          <a:ln w="9525">
            <a:noFill/>
            <a:miter lim="800000"/>
            <a:headEnd/>
            <a:tailEnd/>
          </a:ln>
        </p:spPr>
      </p:pic>
      <p:pic>
        <p:nvPicPr>
          <p:cNvPr id="10" name="Picture 9" descr="NCSES_logo_oneline_150.eps"/>
          <p:cNvPicPr>
            <a:picLocks noChangeAspect="1"/>
          </p:cNvPicPr>
          <p:nvPr/>
        </p:nvPicPr>
        <p:blipFill>
          <a:blip r:embed="rId3" cstate="print"/>
          <a:srcRect/>
          <a:stretch>
            <a:fillRect/>
          </a:stretch>
        </p:blipFill>
        <p:spPr bwMode="auto">
          <a:xfrm>
            <a:off x="4114800" y="134938"/>
            <a:ext cx="5029200" cy="474662"/>
          </a:xfrm>
          <a:prstGeom prst="rect">
            <a:avLst/>
          </a:prstGeom>
          <a:noFill/>
          <a:ln w="9525">
            <a:noFill/>
            <a:miter lim="800000"/>
            <a:headEnd/>
            <a:tailEnd/>
          </a:ln>
        </p:spPr>
      </p:pic>
      <p:sp>
        <p:nvSpPr>
          <p:cNvPr id="8" name="Rectangle 4"/>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1584926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4"/>
          <p:cNvSpPr>
            <a:spLocks noGrp="1"/>
          </p:cNvSpPr>
          <p:nvPr>
            <p:ph type="sldNum" sz="quarter" idx="12"/>
          </p:nvPr>
        </p:nvSpPr>
        <p:spPr>
          <a:noFill/>
        </p:spPr>
        <p:txBody>
          <a:bodyPr/>
          <a:lstStyle/>
          <a:p>
            <a:fld id="{86809D31-DCC0-40AA-AF52-8C40143786EF}" type="slidenum">
              <a:rPr lang="en-US" smtClean="0"/>
              <a:pPr/>
              <a:t>16</a:t>
            </a:fld>
            <a:endParaRPr lang="en-US"/>
          </a:p>
        </p:txBody>
      </p:sp>
      <p:sp>
        <p:nvSpPr>
          <p:cNvPr id="11267" name="Rectangle 2"/>
          <p:cNvSpPr>
            <a:spLocks noGrp="1" noChangeArrowheads="1"/>
          </p:cNvSpPr>
          <p:nvPr>
            <p:ph type="title"/>
          </p:nvPr>
        </p:nvSpPr>
        <p:spPr>
          <a:xfrm>
            <a:off x="685800" y="990600"/>
            <a:ext cx="7772400" cy="685800"/>
          </a:xfrm>
        </p:spPr>
        <p:txBody>
          <a:bodyPr/>
          <a:lstStyle/>
          <a:p>
            <a:pPr eaLnBrk="1" hangingPunct="1"/>
            <a:r>
              <a:rPr lang="en-US" sz="2800" b="1" dirty="0">
                <a:latin typeface="Arial" panose="020B0604020202020204" pitchFamily="34" charset="0"/>
                <a:cs typeface="Arial" panose="020B0604020202020204" pitchFamily="34" charset="0"/>
              </a:rPr>
              <a:t>Federal Funds Variables (2)</a:t>
            </a:r>
            <a:endParaRPr lang="en-US" sz="2800" b="1" dirty="0"/>
          </a:p>
        </p:txBody>
      </p:sp>
      <p:sp>
        <p:nvSpPr>
          <p:cNvPr id="11272" name="Rectangle 7"/>
          <p:cNvSpPr>
            <a:spLocks noChangeArrowheads="1"/>
          </p:cNvSpPr>
          <p:nvPr/>
        </p:nvSpPr>
        <p:spPr bwMode="auto">
          <a:xfrm>
            <a:off x="762000" y="1828800"/>
            <a:ext cx="8077200" cy="4585871"/>
          </a:xfrm>
          <a:prstGeom prst="rect">
            <a:avLst/>
          </a:prstGeom>
          <a:noFill/>
          <a:ln w="9525">
            <a:noFill/>
            <a:miter lim="800000"/>
            <a:headEnd/>
            <a:tailEnd/>
          </a:ln>
        </p:spPr>
        <p:txBody>
          <a:bodyPr>
            <a:spAutoFit/>
          </a:bodyPr>
          <a:lstStyle/>
          <a:p>
            <a:pPr>
              <a:buFontTx/>
              <a:buChar char="•"/>
            </a:pPr>
            <a:r>
              <a:rPr lang="en-US" dirty="0"/>
              <a:t> </a:t>
            </a:r>
            <a:r>
              <a:rPr lang="en-US" sz="2000" dirty="0">
                <a:latin typeface="Arial" panose="020B0604020202020204" pitchFamily="34" charset="0"/>
                <a:cs typeface="Arial" panose="020B0604020202020204" pitchFamily="34" charset="0"/>
              </a:rPr>
              <a:t>Basic research, applied research, and total research, by 33 detailed science and engineering fields</a:t>
            </a:r>
          </a:p>
          <a:p>
            <a:pPr lvl="1"/>
            <a:r>
              <a:rPr lang="en-US" sz="2000" dirty="0">
                <a:latin typeface="Arial" panose="020B0604020202020204" pitchFamily="34" charset="0"/>
                <a:cs typeface="Arial" panose="020B0604020202020204" pitchFamily="34" charset="0"/>
              </a:rPr>
              <a:t>- To all sectors combined (census of 28 Departments and independent agencies)</a:t>
            </a:r>
          </a:p>
          <a:p>
            <a:r>
              <a:rPr lang="en-US" sz="2000" dirty="0">
                <a:latin typeface="Arial" panose="020B0604020202020204" pitchFamily="34" charset="0"/>
                <a:cs typeface="Arial" panose="020B0604020202020204" pitchFamily="34" charset="0"/>
              </a:rPr>
              <a:t>      - To universities and colleges (for 7 agencies: USDA, DOD, 	Energy, HHS, Homeland Security, NASA, NSF)</a:t>
            </a:r>
          </a:p>
          <a:p>
            <a:pPr lvl="1"/>
            <a:endParaRPr lang="en-US" sz="2000" dirty="0">
              <a:latin typeface="Arial" panose="020B0604020202020204" pitchFamily="34" charset="0"/>
              <a:cs typeface="Arial" panose="020B0604020202020204" pitchFamily="34" charset="0"/>
            </a:endParaRPr>
          </a:p>
          <a:p>
            <a:pPr>
              <a:buFontTx/>
              <a:buChar char="•"/>
            </a:pPr>
            <a:r>
              <a:rPr lang="en-US" sz="2000" dirty="0">
                <a:latin typeface="Arial" panose="020B0604020202020204" pitchFamily="34" charset="0"/>
                <a:cs typeface="Arial" panose="020B0604020202020204" pitchFamily="34" charset="0"/>
              </a:rPr>
              <a:t> Foreign country recipient</a:t>
            </a:r>
          </a:p>
          <a:p>
            <a:pPr>
              <a:buFontTx/>
              <a:buChar char="•"/>
            </a:pPr>
            <a:endParaRPr lang="en-US" sz="2000" dirty="0">
              <a:latin typeface="Arial" panose="020B0604020202020204" pitchFamily="34" charset="0"/>
              <a:cs typeface="Arial" panose="020B0604020202020204" pitchFamily="34" charset="0"/>
            </a:endParaRPr>
          </a:p>
          <a:p>
            <a:pPr>
              <a:buFontTx/>
              <a:buChar char="•"/>
            </a:pPr>
            <a:r>
              <a:rPr lang="en-US" sz="2000" dirty="0">
                <a:latin typeface="Arial" panose="020B0604020202020204" pitchFamily="34" charset="0"/>
                <a:cs typeface="Arial" panose="020B0604020202020204" pitchFamily="34" charset="0"/>
              </a:rPr>
              <a:t> State location (for 11 agencies: 7 plus DOC, DOI, EPA, DOT)</a:t>
            </a:r>
          </a:p>
          <a:p>
            <a:pPr>
              <a:buFontTx/>
              <a:buChar char="•"/>
            </a:pPr>
            <a:endParaRPr lang="en-US" sz="2000" dirty="0">
              <a:latin typeface="Arial" panose="020B0604020202020204" pitchFamily="34" charset="0"/>
              <a:cs typeface="Arial" panose="020B0604020202020204" pitchFamily="34" charset="0"/>
            </a:endParaRPr>
          </a:p>
          <a:p>
            <a:pPr>
              <a:buFontTx/>
              <a:buChar char="•"/>
            </a:pPr>
            <a:r>
              <a:rPr lang="en-US" sz="2000" dirty="0">
                <a:latin typeface="Arial" panose="020B0604020202020204" pitchFamily="34" charset="0"/>
                <a:cs typeface="Arial" panose="020B0604020202020204" pitchFamily="34" charset="0"/>
              </a:rPr>
              <a:t> Federal R&amp;D personnel costs</a:t>
            </a:r>
          </a:p>
          <a:p>
            <a:pPr>
              <a:buFontTx/>
              <a:buChar char="•"/>
            </a:pPr>
            <a:endParaRPr lang="en-US" dirty="0"/>
          </a:p>
          <a:p>
            <a:endParaRPr lang="en-US" dirty="0"/>
          </a:p>
        </p:txBody>
      </p:sp>
      <p:pic>
        <p:nvPicPr>
          <p:cNvPr id="9" name="Picture 8" descr="nsf2"/>
          <p:cNvPicPr>
            <a:picLocks noChangeAspect="1" noChangeArrowheads="1"/>
          </p:cNvPicPr>
          <p:nvPr/>
        </p:nvPicPr>
        <p:blipFill>
          <a:blip r:embed="rId2" cstate="print"/>
          <a:srcRect/>
          <a:stretch>
            <a:fillRect/>
          </a:stretch>
        </p:blipFill>
        <p:spPr bwMode="auto">
          <a:xfrm>
            <a:off x="76200" y="79375"/>
            <a:ext cx="533400" cy="530225"/>
          </a:xfrm>
          <a:prstGeom prst="rect">
            <a:avLst/>
          </a:prstGeom>
          <a:noFill/>
          <a:ln w="9525">
            <a:noFill/>
            <a:miter lim="800000"/>
            <a:headEnd/>
            <a:tailEnd/>
          </a:ln>
        </p:spPr>
      </p:pic>
      <p:pic>
        <p:nvPicPr>
          <p:cNvPr id="10" name="Picture 9" descr="NCSES_logo_oneline_150.eps"/>
          <p:cNvPicPr>
            <a:picLocks noChangeAspect="1"/>
          </p:cNvPicPr>
          <p:nvPr/>
        </p:nvPicPr>
        <p:blipFill>
          <a:blip r:embed="rId3" cstate="print"/>
          <a:srcRect/>
          <a:stretch>
            <a:fillRect/>
          </a:stretch>
        </p:blipFill>
        <p:spPr bwMode="auto">
          <a:xfrm>
            <a:off x="4114800" y="134938"/>
            <a:ext cx="5029200" cy="474662"/>
          </a:xfrm>
          <a:prstGeom prst="rect">
            <a:avLst/>
          </a:prstGeom>
          <a:noFill/>
          <a:ln w="9525">
            <a:noFill/>
            <a:miter lim="800000"/>
            <a:headEnd/>
            <a:tailEnd/>
          </a:ln>
        </p:spPr>
      </p:pic>
      <p:sp>
        <p:nvSpPr>
          <p:cNvPr id="8" name="Rectangle 4"/>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1268682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p:cNvSpPr>
            <a:spLocks noGrp="1"/>
          </p:cNvSpPr>
          <p:nvPr>
            <p:ph type="sldNum" sz="quarter" idx="12"/>
          </p:nvPr>
        </p:nvSpPr>
        <p:spPr>
          <a:noFill/>
        </p:spPr>
        <p:txBody>
          <a:bodyPr/>
          <a:lstStyle/>
          <a:p>
            <a:fld id="{EBC0B287-06D2-4FFC-9C24-F4B81E915B46}" type="slidenum">
              <a:rPr lang="en-US" smtClean="0">
                <a:latin typeface="Arial" panose="020B0604020202020204" pitchFamily="34" charset="0"/>
                <a:cs typeface="Arial" panose="020B0604020202020204" pitchFamily="34" charset="0"/>
              </a:rPr>
              <a:pPr/>
              <a:t>17</a:t>
            </a:fld>
            <a:endParaRPr lang="en-US">
              <a:latin typeface="Arial" panose="020B0604020202020204" pitchFamily="34" charset="0"/>
              <a:cs typeface="Arial" panose="020B0604020202020204" pitchFamily="34" charset="0"/>
            </a:endParaRPr>
          </a:p>
        </p:txBody>
      </p:sp>
      <p:sp>
        <p:nvSpPr>
          <p:cNvPr id="13315" name="Rectangle 2"/>
          <p:cNvSpPr>
            <a:spLocks noGrp="1" noChangeArrowheads="1"/>
          </p:cNvSpPr>
          <p:nvPr>
            <p:ph type="title"/>
          </p:nvPr>
        </p:nvSpPr>
        <p:spPr>
          <a:xfrm>
            <a:off x="685800" y="1295400"/>
            <a:ext cx="7772400" cy="304800"/>
          </a:xfrm>
        </p:spPr>
        <p:txBody>
          <a:bodyPr/>
          <a:lstStyle/>
          <a:p>
            <a:pPr eaLnBrk="1" hangingPunct="1"/>
            <a:r>
              <a:rPr lang="en-US" sz="2400" b="1" dirty="0">
                <a:latin typeface="Arial" panose="020B0604020202020204" pitchFamily="34" charset="0"/>
                <a:cs typeface="Arial" panose="020B0604020202020204" pitchFamily="34" charset="0"/>
              </a:rPr>
              <a:t>Federal obligations by type of work:  FY 2016</a:t>
            </a:r>
            <a:br>
              <a:rPr lang="en-US" sz="2400" b="1" dirty="0">
                <a:latin typeface="Arial" panose="020B0604020202020204" pitchFamily="34" charset="0"/>
                <a:cs typeface="Arial" panose="020B0604020202020204" pitchFamily="34" charset="0"/>
              </a:rPr>
            </a:br>
            <a:endParaRPr lang="en-US" sz="2400" b="1" dirty="0">
              <a:latin typeface="Arial" panose="020B0604020202020204" pitchFamily="34" charset="0"/>
              <a:cs typeface="Arial" panose="020B0604020202020204" pitchFamily="34" charset="0"/>
            </a:endParaRPr>
          </a:p>
        </p:txBody>
      </p:sp>
      <p:sp>
        <p:nvSpPr>
          <p:cNvPr id="13320" name="Text Box 8"/>
          <p:cNvSpPr txBox="1">
            <a:spLocks noChangeArrowheads="1"/>
          </p:cNvSpPr>
          <p:nvPr/>
        </p:nvSpPr>
        <p:spPr bwMode="auto">
          <a:xfrm>
            <a:off x="4395773" y="146050"/>
            <a:ext cx="298480" cy="1077218"/>
          </a:xfrm>
          <a:prstGeom prst="rect">
            <a:avLst/>
          </a:prstGeom>
          <a:noFill/>
          <a:ln w="9525">
            <a:noFill/>
            <a:miter lim="800000"/>
            <a:headEnd/>
            <a:tailEnd/>
          </a:ln>
        </p:spPr>
        <p:txBody>
          <a:bodyPr wrap="none">
            <a:spAutoFit/>
          </a:bodyPr>
          <a:lstStyle/>
          <a:p>
            <a:pPr algn="ctr" eaLnBrk="0" hangingPunct="0"/>
            <a:r>
              <a:rPr lang="en-US" sz="3200" b="1">
                <a:latin typeface="Arial" panose="020B0604020202020204" pitchFamily="34" charset="0"/>
                <a:cs typeface="Arial" panose="020B0604020202020204" pitchFamily="34" charset="0"/>
              </a:rPr>
              <a:t> </a:t>
            </a:r>
          </a:p>
          <a:p>
            <a:pPr algn="ctr" eaLnBrk="0" hangingPunct="0"/>
            <a:endParaRPr lang="en-US" sz="3200" b="1">
              <a:latin typeface="Arial" panose="020B0604020202020204" pitchFamily="34" charset="0"/>
              <a:cs typeface="Arial" panose="020B0604020202020204" pitchFamily="34" charset="0"/>
            </a:endParaRPr>
          </a:p>
        </p:txBody>
      </p:sp>
      <p:sp>
        <p:nvSpPr>
          <p:cNvPr id="13321" name="Rectangle 9"/>
          <p:cNvSpPr>
            <a:spLocks noChangeArrowheads="1"/>
          </p:cNvSpPr>
          <p:nvPr/>
        </p:nvSpPr>
        <p:spPr bwMode="auto">
          <a:xfrm>
            <a:off x="1143000" y="1752600"/>
            <a:ext cx="5715000" cy="396875"/>
          </a:xfrm>
          <a:prstGeom prst="rect">
            <a:avLst/>
          </a:prstGeom>
          <a:noFill/>
          <a:ln w="9525">
            <a:noFill/>
            <a:miter lim="800000"/>
            <a:headEnd/>
            <a:tailEnd/>
          </a:ln>
        </p:spPr>
        <p:txBody>
          <a:bodyPr>
            <a:spAutoFit/>
          </a:bodyPr>
          <a:lstStyle/>
          <a:p>
            <a:endParaRPr lang="en-US" sz="2000">
              <a:latin typeface="Arial" panose="020B0604020202020204" pitchFamily="34" charset="0"/>
              <a:cs typeface="Arial" panose="020B0604020202020204" pitchFamily="34" charset="0"/>
            </a:endParaRPr>
          </a:p>
        </p:txBody>
      </p:sp>
      <p:sp>
        <p:nvSpPr>
          <p:cNvPr id="13322" name="Text Box 10"/>
          <p:cNvSpPr txBox="1">
            <a:spLocks noChangeArrowheads="1"/>
          </p:cNvSpPr>
          <p:nvPr/>
        </p:nvSpPr>
        <p:spPr bwMode="auto">
          <a:xfrm>
            <a:off x="22874" y="6452781"/>
            <a:ext cx="4543482" cy="415498"/>
          </a:xfrm>
          <a:prstGeom prst="rect">
            <a:avLst/>
          </a:prstGeom>
          <a:noFill/>
          <a:ln w="9525">
            <a:noFill/>
            <a:miter lim="800000"/>
            <a:headEnd/>
            <a:tailEnd/>
          </a:ln>
        </p:spPr>
        <p:txBody>
          <a:bodyPr wrap="square">
            <a:spAutoFit/>
          </a:bodyPr>
          <a:lstStyle/>
          <a:p>
            <a:pPr eaLnBrk="0" hangingPunct="0"/>
            <a:endParaRPr lang="en-US" sz="9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Source: Survey of Federal Funds for R&amp;D, FY 2016</a:t>
            </a:r>
          </a:p>
        </p:txBody>
      </p:sp>
      <p:sp>
        <p:nvSpPr>
          <p:cNvPr id="13323" name="Rectangle 11"/>
          <p:cNvSpPr>
            <a:spLocks noChangeArrowheads="1"/>
          </p:cNvSpPr>
          <p:nvPr/>
        </p:nvSpPr>
        <p:spPr bwMode="auto">
          <a:xfrm>
            <a:off x="4556181" y="117475"/>
            <a:ext cx="284052" cy="1384995"/>
          </a:xfrm>
          <a:prstGeom prst="rect">
            <a:avLst/>
          </a:prstGeom>
          <a:noFill/>
          <a:ln w="9525">
            <a:noFill/>
            <a:miter lim="800000"/>
            <a:headEnd/>
            <a:tailEnd/>
          </a:ln>
        </p:spPr>
        <p:txBody>
          <a:bodyPr wrap="none">
            <a:spAutoFit/>
          </a:bodyPr>
          <a:lstStyle/>
          <a:p>
            <a:pPr algn="ctr" eaLnBrk="0" hangingPunct="0"/>
            <a:r>
              <a:rPr lang="en-US" sz="2800" b="1">
                <a:latin typeface="Arial" panose="020B0604020202020204" pitchFamily="34" charset="0"/>
                <a:cs typeface="Arial" panose="020B0604020202020204" pitchFamily="34" charset="0"/>
              </a:rPr>
              <a:t> </a:t>
            </a:r>
          </a:p>
          <a:p>
            <a:pPr algn="ctr" eaLnBrk="0" hangingPunct="0"/>
            <a:r>
              <a:rPr lang="en-US" sz="2800" b="1">
                <a:latin typeface="Arial" panose="020B0604020202020204" pitchFamily="34" charset="0"/>
                <a:cs typeface="Arial" panose="020B0604020202020204" pitchFamily="34" charset="0"/>
              </a:rPr>
              <a:t> </a:t>
            </a:r>
          </a:p>
          <a:p>
            <a:pPr algn="ctr" eaLnBrk="0" hangingPunct="0"/>
            <a:endParaRPr lang="en-US" sz="2800" b="1">
              <a:latin typeface="Arial" panose="020B0604020202020204" pitchFamily="34" charset="0"/>
              <a:cs typeface="Arial" panose="020B0604020202020204" pitchFamily="34" charset="0"/>
            </a:endParaRPr>
          </a:p>
        </p:txBody>
      </p:sp>
      <p:sp>
        <p:nvSpPr>
          <p:cNvPr id="13324" name="Text Box 12"/>
          <p:cNvSpPr txBox="1">
            <a:spLocks noChangeArrowheads="1"/>
          </p:cNvSpPr>
          <p:nvPr/>
        </p:nvSpPr>
        <p:spPr bwMode="auto">
          <a:xfrm>
            <a:off x="1339850" y="1765300"/>
            <a:ext cx="184150" cy="274638"/>
          </a:xfrm>
          <a:prstGeom prst="rect">
            <a:avLst/>
          </a:prstGeom>
          <a:noFill/>
          <a:ln w="9525">
            <a:noFill/>
            <a:miter lim="800000"/>
            <a:headEnd/>
            <a:tailEnd/>
          </a:ln>
        </p:spPr>
        <p:txBody>
          <a:bodyPr wrap="none">
            <a:spAutoFit/>
          </a:bodyPr>
          <a:lstStyle/>
          <a:p>
            <a:pPr eaLnBrk="0" hangingPunct="0"/>
            <a:endParaRPr lang="en-US" sz="1200" b="1">
              <a:latin typeface="Arial" panose="020B0604020202020204" pitchFamily="34" charset="0"/>
              <a:cs typeface="Arial" panose="020B0604020202020204" pitchFamily="34" charset="0"/>
            </a:endParaRPr>
          </a:p>
        </p:txBody>
      </p:sp>
      <p:sp>
        <p:nvSpPr>
          <p:cNvPr id="13325" name="Rectangle 31"/>
          <p:cNvSpPr>
            <a:spLocks noChangeArrowheads="1"/>
          </p:cNvSpPr>
          <p:nvPr/>
        </p:nvSpPr>
        <p:spPr bwMode="auto">
          <a:xfrm>
            <a:off x="914400" y="0"/>
            <a:ext cx="7721600" cy="1143000"/>
          </a:xfrm>
          <a:prstGeom prst="rect">
            <a:avLst/>
          </a:prstGeom>
          <a:noFill/>
          <a:ln w="9525">
            <a:noFill/>
            <a:miter lim="800000"/>
            <a:headEnd/>
            <a:tailEnd/>
          </a:ln>
        </p:spPr>
        <p:txBody>
          <a:bodyPr anchor="ctr"/>
          <a:lstStyle/>
          <a:p>
            <a:pPr algn="ctr"/>
            <a:endParaRPr lang="en-US" sz="3600" b="1">
              <a:solidFill>
                <a:schemeClr val="tx2"/>
              </a:solidFill>
              <a:latin typeface="Arial" panose="020B0604020202020204" pitchFamily="34" charset="0"/>
              <a:cs typeface="Arial" panose="020B0604020202020204" pitchFamily="34" charset="0"/>
            </a:endParaRPr>
          </a:p>
        </p:txBody>
      </p:sp>
      <p:sp>
        <p:nvSpPr>
          <p:cNvPr id="13326" name="Oval 33"/>
          <p:cNvSpPr>
            <a:spLocks noChangeArrowheads="1"/>
          </p:cNvSpPr>
          <p:nvPr/>
        </p:nvSpPr>
        <p:spPr bwMode="auto">
          <a:xfrm>
            <a:off x="76200" y="1550988"/>
            <a:ext cx="3644900" cy="1649412"/>
          </a:xfrm>
          <a:prstGeom prst="ellipse">
            <a:avLst/>
          </a:prstGeom>
          <a:noFill/>
          <a:ln w="9525">
            <a:solidFill>
              <a:schemeClr val="tx1"/>
            </a:solidFill>
            <a:round/>
            <a:headEnd/>
            <a:tailEnd/>
          </a:ln>
        </p:spPr>
        <p:txBody>
          <a:bodyPr wrap="none" anchor="ctr"/>
          <a:lstStyle/>
          <a:p>
            <a:pPr algn="ctr" eaLnBrk="0" hangingPunct="0"/>
            <a:r>
              <a:rPr lang="en-US" sz="1800" dirty="0">
                <a:latin typeface="Arial" panose="020B0604020202020204" pitchFamily="34" charset="0"/>
                <a:cs typeface="Arial" panose="020B0604020202020204" pitchFamily="34" charset="0"/>
              </a:rPr>
              <a:t>Basic Research - $32.3 billion</a:t>
            </a:r>
          </a:p>
          <a:p>
            <a:pPr algn="ctr" eaLnBrk="0" hangingPunct="0"/>
            <a:r>
              <a:rPr lang="en-US" sz="1800" dirty="0">
                <a:latin typeface="Arial" panose="020B0604020202020204" pitchFamily="34" charset="0"/>
                <a:cs typeface="Arial" panose="020B0604020202020204" pitchFamily="34" charset="0"/>
              </a:rPr>
              <a:t>$15.5 billion to U&amp;C</a:t>
            </a:r>
          </a:p>
          <a:p>
            <a:pPr algn="ctr" eaLnBrk="0" hangingPunct="0"/>
            <a:r>
              <a:rPr lang="en-US" sz="1800" dirty="0">
                <a:latin typeface="Arial" panose="020B0604020202020204" pitchFamily="34" charset="0"/>
                <a:cs typeface="Arial" panose="020B0604020202020204" pitchFamily="34" charset="0"/>
              </a:rPr>
              <a:t>$6.1 billion for in-house</a:t>
            </a:r>
          </a:p>
        </p:txBody>
      </p:sp>
      <p:sp>
        <p:nvSpPr>
          <p:cNvPr id="13327" name="Oval 34"/>
          <p:cNvSpPr>
            <a:spLocks noChangeArrowheads="1"/>
          </p:cNvSpPr>
          <p:nvPr/>
        </p:nvSpPr>
        <p:spPr bwMode="auto">
          <a:xfrm>
            <a:off x="3878263" y="1888430"/>
            <a:ext cx="5011737" cy="1298377"/>
          </a:xfrm>
          <a:prstGeom prst="ellipse">
            <a:avLst/>
          </a:prstGeom>
          <a:noFill/>
          <a:ln w="9525">
            <a:solidFill>
              <a:schemeClr val="tx1"/>
            </a:solidFill>
            <a:round/>
            <a:headEnd/>
            <a:tailEnd/>
          </a:ln>
        </p:spPr>
        <p:txBody>
          <a:bodyPr anchor="ctr">
            <a:spAutoFit/>
          </a:bodyPr>
          <a:lstStyle/>
          <a:p>
            <a:pPr algn="ctr" eaLnBrk="0" hangingPunct="0"/>
            <a:r>
              <a:rPr lang="en-US" sz="1800" dirty="0">
                <a:latin typeface="Arial" panose="020B0604020202020204" pitchFamily="34" charset="0"/>
                <a:cs typeface="Arial" panose="020B0604020202020204" pitchFamily="34" charset="0"/>
              </a:rPr>
              <a:t>Applied Research - $34.4 billion </a:t>
            </a:r>
          </a:p>
          <a:p>
            <a:pPr algn="ctr" eaLnBrk="0" hangingPunct="0"/>
            <a:r>
              <a:rPr lang="en-US" sz="1800" dirty="0">
                <a:latin typeface="Arial" panose="020B0604020202020204" pitchFamily="34" charset="0"/>
                <a:cs typeface="Arial" panose="020B0604020202020204" pitchFamily="34" charset="0"/>
              </a:rPr>
              <a:t>$11.3 billion to U&amp;C</a:t>
            </a:r>
          </a:p>
          <a:p>
            <a:pPr algn="ctr" eaLnBrk="0" hangingPunct="0"/>
            <a:r>
              <a:rPr lang="en-US" sz="1800" dirty="0">
                <a:latin typeface="Arial" panose="020B0604020202020204" pitchFamily="34" charset="0"/>
                <a:cs typeface="Arial" panose="020B0604020202020204" pitchFamily="34" charset="0"/>
              </a:rPr>
              <a:t>$9.8 billion for in-house</a:t>
            </a:r>
          </a:p>
        </p:txBody>
      </p:sp>
      <p:sp>
        <p:nvSpPr>
          <p:cNvPr id="13328" name="Oval 35"/>
          <p:cNvSpPr>
            <a:spLocks noChangeArrowheads="1"/>
          </p:cNvSpPr>
          <p:nvPr/>
        </p:nvSpPr>
        <p:spPr bwMode="auto">
          <a:xfrm>
            <a:off x="3087703" y="3490089"/>
            <a:ext cx="2387570" cy="995422"/>
          </a:xfrm>
          <a:prstGeom prst="ellipse">
            <a:avLst/>
          </a:prstGeom>
          <a:solidFill>
            <a:srgbClr val="99CCFF"/>
          </a:solidFill>
          <a:ln w="9525">
            <a:solidFill>
              <a:schemeClr val="tx1"/>
            </a:solidFill>
            <a:round/>
            <a:headEnd/>
            <a:tailEnd/>
          </a:ln>
        </p:spPr>
        <p:txBody>
          <a:bodyPr wrap="none" anchor="ctr">
            <a:spAutoFit/>
          </a:bodyPr>
          <a:lstStyle/>
          <a:p>
            <a:pPr algn="ctr" eaLnBrk="0" hangingPunct="0"/>
            <a:r>
              <a:rPr lang="en-US" sz="2000" dirty="0">
                <a:latin typeface="Arial" panose="020B0604020202020204" pitchFamily="34" charset="0"/>
                <a:cs typeface="Arial" panose="020B0604020202020204" pitchFamily="34" charset="0"/>
              </a:rPr>
              <a:t>Federal R&amp;D</a:t>
            </a:r>
          </a:p>
          <a:p>
            <a:pPr algn="ctr" eaLnBrk="0" hangingPunct="0"/>
            <a:r>
              <a:rPr lang="en-US" sz="2000" dirty="0">
                <a:latin typeface="Arial" panose="020B0604020202020204" pitchFamily="34" charset="0"/>
                <a:cs typeface="Arial" panose="020B0604020202020204" pitchFamily="34" charset="0"/>
              </a:rPr>
              <a:t>$117.5 billion</a:t>
            </a:r>
          </a:p>
        </p:txBody>
      </p:sp>
      <p:sp>
        <p:nvSpPr>
          <p:cNvPr id="13329" name="Line 36"/>
          <p:cNvSpPr>
            <a:spLocks noChangeShapeType="1"/>
          </p:cNvSpPr>
          <p:nvPr/>
        </p:nvSpPr>
        <p:spPr bwMode="auto">
          <a:xfrm>
            <a:off x="2514600" y="3045966"/>
            <a:ext cx="708025" cy="673100"/>
          </a:xfrm>
          <a:prstGeom prst="line">
            <a:avLst/>
          </a:prstGeom>
          <a:noFill/>
          <a:ln w="9525">
            <a:solidFill>
              <a:schemeClr val="tx1"/>
            </a:solidFill>
            <a:round/>
            <a:headEnd/>
            <a:tailEnd type="triangle" w="med" len="med"/>
          </a:ln>
        </p:spPr>
        <p:txBody>
          <a:bodyPr wrap="none" anchor="ctr"/>
          <a:lstStyle/>
          <a:p>
            <a:endParaRPr lang="en-US">
              <a:latin typeface="Arial" panose="020B0604020202020204" pitchFamily="34" charset="0"/>
              <a:cs typeface="Arial" panose="020B0604020202020204" pitchFamily="34" charset="0"/>
            </a:endParaRPr>
          </a:p>
        </p:txBody>
      </p:sp>
      <p:sp>
        <p:nvSpPr>
          <p:cNvPr id="13330" name="Line 37"/>
          <p:cNvSpPr>
            <a:spLocks noChangeShapeType="1"/>
          </p:cNvSpPr>
          <p:nvPr/>
        </p:nvSpPr>
        <p:spPr bwMode="auto">
          <a:xfrm flipH="1">
            <a:off x="5364957" y="3212406"/>
            <a:ext cx="509587" cy="482600"/>
          </a:xfrm>
          <a:prstGeom prst="line">
            <a:avLst/>
          </a:prstGeom>
          <a:noFill/>
          <a:ln w="9525">
            <a:solidFill>
              <a:schemeClr val="tx1"/>
            </a:solidFill>
            <a:round/>
            <a:headEnd/>
            <a:tailEnd type="triangle" w="med" len="med"/>
          </a:ln>
        </p:spPr>
        <p:txBody>
          <a:bodyPr/>
          <a:lstStyle/>
          <a:p>
            <a:endParaRPr lang="en-US">
              <a:latin typeface="Arial" panose="020B0604020202020204" pitchFamily="34" charset="0"/>
              <a:cs typeface="Arial" panose="020B0604020202020204" pitchFamily="34" charset="0"/>
            </a:endParaRPr>
          </a:p>
        </p:txBody>
      </p:sp>
      <p:sp>
        <p:nvSpPr>
          <p:cNvPr id="13331" name="Oval 39"/>
          <p:cNvSpPr>
            <a:spLocks noChangeArrowheads="1"/>
          </p:cNvSpPr>
          <p:nvPr/>
        </p:nvSpPr>
        <p:spPr bwMode="auto">
          <a:xfrm>
            <a:off x="268948" y="3778203"/>
            <a:ext cx="3357563" cy="2792413"/>
          </a:xfrm>
          <a:prstGeom prst="ellipse">
            <a:avLst/>
          </a:prstGeom>
          <a:noFill/>
          <a:ln w="9525">
            <a:solidFill>
              <a:schemeClr val="tx1"/>
            </a:solidFill>
            <a:round/>
            <a:headEnd/>
            <a:tailEnd/>
          </a:ln>
        </p:spPr>
        <p:txBody>
          <a:bodyPr wrap="none" anchor="ctr"/>
          <a:lstStyle/>
          <a:p>
            <a:pPr algn="ctr" eaLnBrk="0" hangingPunct="0"/>
            <a:endParaRPr lang="en-US" sz="1800" dirty="0">
              <a:latin typeface="Arial" panose="020B0604020202020204" pitchFamily="34" charset="0"/>
              <a:cs typeface="Arial" panose="020B0604020202020204" pitchFamily="34" charset="0"/>
            </a:endParaRPr>
          </a:p>
          <a:p>
            <a:pPr algn="ctr" eaLnBrk="0" hangingPunct="0"/>
            <a:r>
              <a:rPr lang="en-US" sz="1800" dirty="0">
                <a:latin typeface="Arial" panose="020B0604020202020204" pitchFamily="34" charset="0"/>
                <a:cs typeface="Arial" panose="020B0604020202020204" pitchFamily="34" charset="0"/>
              </a:rPr>
              <a:t>Development - $48.3 billion</a:t>
            </a:r>
          </a:p>
          <a:p>
            <a:pPr algn="ctr" eaLnBrk="0" hangingPunct="0"/>
            <a:r>
              <a:rPr lang="en-US" sz="1800" dirty="0">
                <a:latin typeface="Arial" panose="020B0604020202020204" pitchFamily="34" charset="0"/>
                <a:cs typeface="Arial" panose="020B0604020202020204" pitchFamily="34" charset="0"/>
              </a:rPr>
              <a:t>$27.3 billion to industry</a:t>
            </a:r>
          </a:p>
          <a:p>
            <a:pPr algn="ctr" eaLnBrk="0" hangingPunct="0"/>
            <a:r>
              <a:rPr lang="en-US" sz="1800" dirty="0">
                <a:latin typeface="Arial" panose="020B0604020202020204" pitchFamily="34" charset="0"/>
                <a:cs typeface="Arial" panose="020B0604020202020204" pitchFamily="34" charset="0"/>
              </a:rPr>
              <a:t>$16.1 billion for in-house</a:t>
            </a:r>
          </a:p>
          <a:p>
            <a:pPr algn="ctr" eaLnBrk="0" hangingPunct="0"/>
            <a:endParaRPr lang="en-US" sz="1800" dirty="0">
              <a:latin typeface="Arial" panose="020B0604020202020204" pitchFamily="34" charset="0"/>
              <a:cs typeface="Arial" panose="020B0604020202020204" pitchFamily="34" charset="0"/>
            </a:endParaRPr>
          </a:p>
        </p:txBody>
      </p:sp>
      <p:sp>
        <p:nvSpPr>
          <p:cNvPr id="13332" name="Oval 40"/>
          <p:cNvSpPr>
            <a:spLocks noChangeArrowheads="1"/>
          </p:cNvSpPr>
          <p:nvPr/>
        </p:nvSpPr>
        <p:spPr bwMode="auto">
          <a:xfrm>
            <a:off x="4670425" y="4799013"/>
            <a:ext cx="3454400" cy="1236662"/>
          </a:xfrm>
          <a:prstGeom prst="ellipse">
            <a:avLst/>
          </a:prstGeom>
          <a:noFill/>
          <a:ln w="9525">
            <a:solidFill>
              <a:schemeClr val="tx1"/>
            </a:solidFill>
            <a:round/>
            <a:headEnd/>
            <a:tailEnd/>
          </a:ln>
        </p:spPr>
        <p:txBody>
          <a:bodyPr wrap="none" anchor="ctr"/>
          <a:lstStyle/>
          <a:p>
            <a:pPr algn="ctr" eaLnBrk="0" hangingPunct="0"/>
            <a:endParaRPr lang="en-US" sz="1800" dirty="0">
              <a:latin typeface="Arial" panose="020B0604020202020204" pitchFamily="34" charset="0"/>
              <a:cs typeface="Arial" panose="020B0604020202020204" pitchFamily="34" charset="0"/>
            </a:endParaRPr>
          </a:p>
          <a:p>
            <a:pPr algn="ctr" eaLnBrk="0" hangingPunct="0"/>
            <a:r>
              <a:rPr lang="en-US" sz="1800" dirty="0">
                <a:latin typeface="Arial" panose="020B0604020202020204" pitchFamily="34" charset="0"/>
                <a:cs typeface="Arial" panose="020B0604020202020204" pitchFamily="34" charset="0"/>
              </a:rPr>
              <a:t>R&amp;D plant - $2.4 billion</a:t>
            </a:r>
          </a:p>
          <a:p>
            <a:pPr algn="ctr" eaLnBrk="0" hangingPunct="0"/>
            <a:r>
              <a:rPr lang="en-US" sz="1800" dirty="0">
                <a:latin typeface="Arial" panose="020B0604020202020204" pitchFamily="34" charset="0"/>
                <a:cs typeface="Arial" panose="020B0604020202020204" pitchFamily="34" charset="0"/>
              </a:rPr>
              <a:t>$0.8 billion to FFRDCs</a:t>
            </a:r>
          </a:p>
          <a:p>
            <a:pPr algn="ctr" eaLnBrk="0" hangingPunct="0"/>
            <a:r>
              <a:rPr lang="en-US" sz="1800" dirty="0">
                <a:latin typeface="Arial" panose="020B0604020202020204" pitchFamily="34" charset="0"/>
                <a:cs typeface="Arial" panose="020B0604020202020204" pitchFamily="34" charset="0"/>
              </a:rPr>
              <a:t>$0.6 billion for in-house</a:t>
            </a:r>
          </a:p>
          <a:p>
            <a:pPr algn="ctr" eaLnBrk="0" hangingPunct="0"/>
            <a:endParaRPr lang="en-US" sz="1800" dirty="0">
              <a:latin typeface="Arial" panose="020B0604020202020204" pitchFamily="34" charset="0"/>
              <a:cs typeface="Arial" panose="020B0604020202020204" pitchFamily="34" charset="0"/>
            </a:endParaRPr>
          </a:p>
        </p:txBody>
      </p:sp>
      <p:sp>
        <p:nvSpPr>
          <p:cNvPr id="13333" name="Line 41"/>
          <p:cNvSpPr>
            <a:spLocks noChangeShapeType="1"/>
          </p:cNvSpPr>
          <p:nvPr/>
        </p:nvSpPr>
        <p:spPr bwMode="auto">
          <a:xfrm flipV="1">
            <a:off x="3598068" y="4558641"/>
            <a:ext cx="246063" cy="244475"/>
          </a:xfrm>
          <a:prstGeom prst="line">
            <a:avLst/>
          </a:prstGeom>
          <a:noFill/>
          <a:ln w="9525">
            <a:solidFill>
              <a:schemeClr val="tx1"/>
            </a:solidFill>
            <a:round/>
            <a:headEnd/>
            <a:tailEnd type="triangle" w="med" len="med"/>
          </a:ln>
        </p:spPr>
        <p:txBody>
          <a:bodyPr wrap="none" anchor="ctr"/>
          <a:lstStyle/>
          <a:p>
            <a:endParaRPr lang="en-US">
              <a:latin typeface="Arial" panose="020B0604020202020204" pitchFamily="34" charset="0"/>
              <a:cs typeface="Arial" panose="020B0604020202020204" pitchFamily="34" charset="0"/>
            </a:endParaRPr>
          </a:p>
        </p:txBody>
      </p:sp>
      <p:sp>
        <p:nvSpPr>
          <p:cNvPr id="13334" name="Line 42"/>
          <p:cNvSpPr>
            <a:spLocks noChangeShapeType="1"/>
          </p:cNvSpPr>
          <p:nvPr/>
        </p:nvSpPr>
        <p:spPr bwMode="auto">
          <a:xfrm flipH="1" flipV="1">
            <a:off x="5356490" y="4290814"/>
            <a:ext cx="450850" cy="566738"/>
          </a:xfrm>
          <a:prstGeom prst="line">
            <a:avLst/>
          </a:prstGeom>
          <a:noFill/>
          <a:ln w="9525">
            <a:solidFill>
              <a:schemeClr val="tx1"/>
            </a:solidFill>
            <a:round/>
            <a:headEnd/>
            <a:tailEnd type="triangle" w="med" len="med"/>
          </a:ln>
        </p:spPr>
        <p:txBody>
          <a:bodyPr wrap="none" anchor="ctr"/>
          <a:lstStyle/>
          <a:p>
            <a:endParaRPr lang="en-US">
              <a:latin typeface="Arial" panose="020B0604020202020204" pitchFamily="34" charset="0"/>
              <a:cs typeface="Arial" panose="020B0604020202020204" pitchFamily="34" charset="0"/>
            </a:endParaRPr>
          </a:p>
        </p:txBody>
      </p:sp>
      <p:pic>
        <p:nvPicPr>
          <p:cNvPr id="24" name="Picture 8" descr="nsf2"/>
          <p:cNvPicPr>
            <a:picLocks noChangeAspect="1" noChangeArrowheads="1"/>
          </p:cNvPicPr>
          <p:nvPr/>
        </p:nvPicPr>
        <p:blipFill>
          <a:blip r:embed="rId2" cstate="print"/>
          <a:srcRect/>
          <a:stretch>
            <a:fillRect/>
          </a:stretch>
        </p:blipFill>
        <p:spPr bwMode="auto">
          <a:xfrm>
            <a:off x="76200" y="79375"/>
            <a:ext cx="533400" cy="530225"/>
          </a:xfrm>
          <a:prstGeom prst="rect">
            <a:avLst/>
          </a:prstGeom>
          <a:noFill/>
          <a:ln w="9525">
            <a:noFill/>
            <a:miter lim="800000"/>
            <a:headEnd/>
            <a:tailEnd/>
          </a:ln>
        </p:spPr>
      </p:pic>
      <p:pic>
        <p:nvPicPr>
          <p:cNvPr id="25" name="Picture 24" descr="NCSES_logo_oneline_150.eps"/>
          <p:cNvPicPr>
            <a:picLocks noChangeAspect="1"/>
          </p:cNvPicPr>
          <p:nvPr/>
        </p:nvPicPr>
        <p:blipFill>
          <a:blip r:embed="rId3" cstate="print"/>
          <a:srcRect/>
          <a:stretch>
            <a:fillRect/>
          </a:stretch>
        </p:blipFill>
        <p:spPr bwMode="auto">
          <a:xfrm>
            <a:off x="4114800" y="134938"/>
            <a:ext cx="5029200" cy="474662"/>
          </a:xfrm>
          <a:prstGeom prst="rect">
            <a:avLst/>
          </a:prstGeom>
          <a:noFill/>
          <a:ln w="9525">
            <a:noFill/>
            <a:miter lim="800000"/>
            <a:headEnd/>
            <a:tailEnd/>
          </a:ln>
        </p:spPr>
      </p:pic>
      <p:sp>
        <p:nvSpPr>
          <p:cNvPr id="27" name="Rectangle 5"/>
          <p:cNvSpPr>
            <a:spLocks noChangeArrowheads="1"/>
          </p:cNvSpPr>
          <p:nvPr/>
        </p:nvSpPr>
        <p:spPr bwMode="auto">
          <a:xfrm>
            <a:off x="0" y="685800"/>
            <a:ext cx="9144000" cy="3048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7646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p:cNvSpPr>
            <a:spLocks noGrp="1"/>
          </p:cNvSpPr>
          <p:nvPr>
            <p:ph type="sldNum" sz="quarter" idx="12"/>
          </p:nvPr>
        </p:nvSpPr>
        <p:spPr>
          <a:noFill/>
        </p:spPr>
        <p:txBody>
          <a:bodyPr/>
          <a:lstStyle/>
          <a:p>
            <a:fld id="{00E971FF-3A6C-45B7-B1C1-098D99A24BE1}" type="slidenum">
              <a:rPr lang="en-US" smtClean="0"/>
              <a:pPr/>
              <a:t>18</a:t>
            </a:fld>
            <a:endParaRPr lang="en-US"/>
          </a:p>
        </p:txBody>
      </p:sp>
      <p:sp>
        <p:nvSpPr>
          <p:cNvPr id="16387" name="Rectangle 2"/>
          <p:cNvSpPr>
            <a:spLocks noGrp="1" noChangeArrowheads="1"/>
          </p:cNvSpPr>
          <p:nvPr>
            <p:ph type="title"/>
          </p:nvPr>
        </p:nvSpPr>
        <p:spPr>
          <a:xfrm>
            <a:off x="685800" y="1143000"/>
            <a:ext cx="7772400" cy="381000"/>
          </a:xfrm>
        </p:spPr>
        <p:txBody>
          <a:bodyPr/>
          <a:lstStyle/>
          <a:p>
            <a:pPr eaLnBrk="1" hangingPunct="1"/>
            <a:r>
              <a:rPr lang="en-US" sz="2800" b="1" dirty="0">
                <a:latin typeface="Arial" panose="020B0604020202020204" pitchFamily="34" charset="0"/>
                <a:cs typeface="Arial" panose="020B0604020202020204" pitchFamily="34" charset="0"/>
              </a:rPr>
              <a:t>Federal Funds Research Fields</a:t>
            </a:r>
            <a:endParaRPr lang="en-US" sz="2400" b="1" dirty="0">
              <a:latin typeface="Arial" panose="020B0604020202020204" pitchFamily="34" charset="0"/>
              <a:cs typeface="Arial" panose="020B0604020202020204" pitchFamily="34" charset="0"/>
            </a:endParaRPr>
          </a:p>
        </p:txBody>
      </p:sp>
      <p:sp>
        <p:nvSpPr>
          <p:cNvPr id="16392" name="Rectangle 8"/>
          <p:cNvSpPr>
            <a:spLocks noChangeArrowheads="1"/>
          </p:cNvSpPr>
          <p:nvPr/>
        </p:nvSpPr>
        <p:spPr bwMode="auto">
          <a:xfrm>
            <a:off x="166688" y="1727200"/>
            <a:ext cx="2817812" cy="5054600"/>
          </a:xfrm>
          <a:prstGeom prst="rect">
            <a:avLst/>
          </a:prstGeom>
          <a:noFill/>
          <a:ln w="9525">
            <a:noFill/>
            <a:miter lim="800000"/>
            <a:headEnd/>
            <a:tailEnd/>
          </a:ln>
        </p:spPr>
        <p:txBody>
          <a:bodyPr/>
          <a:lstStyle/>
          <a:p>
            <a:pPr marL="342900" indent="-342900">
              <a:spcBef>
                <a:spcPct val="20000"/>
              </a:spcBef>
              <a:buFontTx/>
              <a:buChar char="•"/>
            </a:pPr>
            <a:r>
              <a:rPr lang="en-US" sz="1800" dirty="0">
                <a:latin typeface="Arial" panose="020B0604020202020204" pitchFamily="34" charset="0"/>
                <a:cs typeface="Arial" panose="020B0604020202020204" pitchFamily="34" charset="0"/>
              </a:rPr>
              <a:t>Life sciences</a:t>
            </a:r>
          </a:p>
          <a:p>
            <a:pPr marL="742950" lvl="1" indent="-285750">
              <a:buFontTx/>
              <a:buChar char="–"/>
            </a:pPr>
            <a:r>
              <a:rPr lang="en-US" sz="1400" dirty="0">
                <a:latin typeface="Arial" panose="020B0604020202020204" pitchFamily="34" charset="0"/>
                <a:cs typeface="Arial" panose="020B0604020202020204" pitchFamily="34" charset="0"/>
              </a:rPr>
              <a:t>Biological (excluding environmental)</a:t>
            </a:r>
          </a:p>
          <a:p>
            <a:pPr marL="742950" lvl="1" indent="-285750">
              <a:buFontTx/>
              <a:buChar char="–"/>
            </a:pPr>
            <a:r>
              <a:rPr lang="en-US" sz="1400" dirty="0">
                <a:latin typeface="Arial" panose="020B0604020202020204" pitchFamily="34" charset="0"/>
                <a:cs typeface="Arial" panose="020B0604020202020204" pitchFamily="34" charset="0"/>
              </a:rPr>
              <a:t>Environmental biology</a:t>
            </a:r>
          </a:p>
          <a:p>
            <a:pPr marL="742950" lvl="1" indent="-285750">
              <a:buFontTx/>
              <a:buChar char="–"/>
            </a:pPr>
            <a:r>
              <a:rPr lang="en-US" sz="1400" dirty="0">
                <a:latin typeface="Arial" panose="020B0604020202020204" pitchFamily="34" charset="0"/>
                <a:cs typeface="Arial" panose="020B0604020202020204" pitchFamily="34" charset="0"/>
              </a:rPr>
              <a:t>Agricultural</a:t>
            </a:r>
          </a:p>
          <a:p>
            <a:pPr marL="742950" lvl="1" indent="-285750">
              <a:buFontTx/>
              <a:buChar char="–"/>
            </a:pPr>
            <a:r>
              <a:rPr lang="en-US" sz="1400" dirty="0">
                <a:latin typeface="Arial" panose="020B0604020202020204" pitchFamily="34" charset="0"/>
                <a:cs typeface="Arial" panose="020B0604020202020204" pitchFamily="34" charset="0"/>
              </a:rPr>
              <a:t>Medical</a:t>
            </a:r>
          </a:p>
          <a:p>
            <a:pPr marL="742950" lvl="1" indent="-285750">
              <a:buFontTx/>
              <a:buChar char="–"/>
            </a:pPr>
            <a:r>
              <a:rPr lang="en-US" sz="1400" dirty="0">
                <a:latin typeface="Arial" panose="020B0604020202020204" pitchFamily="34" charset="0"/>
                <a:cs typeface="Arial" panose="020B0604020202020204" pitchFamily="34" charset="0"/>
              </a:rPr>
              <a:t>Life sciences, </a:t>
            </a:r>
            <a:r>
              <a:rPr lang="en-US" sz="1400" dirty="0" err="1">
                <a:latin typeface="Arial" panose="020B0604020202020204" pitchFamily="34" charset="0"/>
                <a:cs typeface="Arial" panose="020B0604020202020204" pitchFamily="34" charset="0"/>
              </a:rPr>
              <a:t>n.e.c</a:t>
            </a:r>
            <a:r>
              <a:rPr lang="en-US" sz="1800" dirty="0">
                <a:latin typeface="Arial" panose="020B0604020202020204" pitchFamily="34" charset="0"/>
                <a:cs typeface="Arial" panose="020B0604020202020204" pitchFamily="34" charset="0"/>
              </a:rPr>
              <a:t> </a:t>
            </a:r>
          </a:p>
          <a:p>
            <a:pPr marL="342900" indent="-342900">
              <a:spcBef>
                <a:spcPct val="20000"/>
              </a:spcBef>
              <a:buFontTx/>
              <a:buChar char="•"/>
            </a:pPr>
            <a:r>
              <a:rPr lang="en-US" sz="1800" dirty="0">
                <a:latin typeface="Arial" panose="020B0604020202020204" pitchFamily="34" charset="0"/>
                <a:cs typeface="Arial" panose="020B0604020202020204" pitchFamily="34" charset="0"/>
              </a:rPr>
              <a:t>Psychology</a:t>
            </a:r>
          </a:p>
          <a:p>
            <a:pPr marL="742950" lvl="1" indent="-285750">
              <a:buFontTx/>
              <a:buChar char="–"/>
            </a:pPr>
            <a:r>
              <a:rPr lang="en-US" sz="1400" dirty="0">
                <a:latin typeface="Arial" panose="020B0604020202020204" pitchFamily="34" charset="0"/>
                <a:cs typeface="Arial" panose="020B0604020202020204" pitchFamily="34" charset="0"/>
              </a:rPr>
              <a:t>Biological aspects</a:t>
            </a:r>
          </a:p>
          <a:p>
            <a:pPr marL="742950" lvl="1" indent="-285750">
              <a:buFontTx/>
              <a:buChar char="–"/>
            </a:pPr>
            <a:r>
              <a:rPr lang="en-US" sz="1400" dirty="0">
                <a:latin typeface="Arial" panose="020B0604020202020204" pitchFamily="34" charset="0"/>
                <a:cs typeface="Arial" panose="020B0604020202020204" pitchFamily="34" charset="0"/>
              </a:rPr>
              <a:t>Social aspects</a:t>
            </a:r>
          </a:p>
          <a:p>
            <a:pPr marL="742950" lvl="1" indent="-285750">
              <a:buFontTx/>
              <a:buChar char="–"/>
            </a:pPr>
            <a:r>
              <a:rPr lang="en-US" sz="1400" dirty="0">
                <a:latin typeface="Arial" panose="020B0604020202020204" pitchFamily="34" charset="0"/>
                <a:cs typeface="Arial" panose="020B0604020202020204" pitchFamily="34" charset="0"/>
              </a:rPr>
              <a:t>Psychological sciences, </a:t>
            </a:r>
            <a:r>
              <a:rPr lang="en-US" sz="1400" dirty="0" err="1">
                <a:latin typeface="Arial" panose="020B0604020202020204" pitchFamily="34" charset="0"/>
                <a:cs typeface="Arial" panose="020B0604020202020204" pitchFamily="34" charset="0"/>
              </a:rPr>
              <a:t>n.e.c</a:t>
            </a:r>
            <a:r>
              <a:rPr lang="en-US" sz="1400" dirty="0">
                <a:latin typeface="Arial" panose="020B0604020202020204" pitchFamily="34" charset="0"/>
                <a:cs typeface="Arial" panose="020B0604020202020204" pitchFamily="34" charset="0"/>
              </a:rPr>
              <a:t>. </a:t>
            </a:r>
          </a:p>
          <a:p>
            <a:pPr marL="342900" indent="-342900">
              <a:spcBef>
                <a:spcPct val="20000"/>
              </a:spcBef>
              <a:buFontTx/>
              <a:buChar char="•"/>
            </a:pPr>
            <a:r>
              <a:rPr lang="en-US" sz="1800" dirty="0">
                <a:latin typeface="Arial" panose="020B0604020202020204" pitchFamily="34" charset="0"/>
                <a:cs typeface="Arial" panose="020B0604020202020204" pitchFamily="34" charset="0"/>
              </a:rPr>
              <a:t>Physical sciences</a:t>
            </a:r>
          </a:p>
          <a:p>
            <a:pPr marL="742950" lvl="1" indent="-285750">
              <a:buFontTx/>
              <a:buChar char="–"/>
            </a:pPr>
            <a:r>
              <a:rPr lang="en-US" sz="1400" dirty="0">
                <a:latin typeface="Arial" panose="020B0604020202020204" pitchFamily="34" charset="0"/>
                <a:cs typeface="Arial" panose="020B0604020202020204" pitchFamily="34" charset="0"/>
              </a:rPr>
              <a:t>Astronomy</a:t>
            </a:r>
          </a:p>
          <a:p>
            <a:pPr marL="742950" lvl="1" indent="-285750">
              <a:buFontTx/>
              <a:buChar char="–"/>
            </a:pPr>
            <a:r>
              <a:rPr lang="en-US" sz="1400" dirty="0">
                <a:latin typeface="Arial" panose="020B0604020202020204" pitchFamily="34" charset="0"/>
                <a:cs typeface="Arial" panose="020B0604020202020204" pitchFamily="34" charset="0"/>
              </a:rPr>
              <a:t>Chemistry</a:t>
            </a:r>
          </a:p>
          <a:p>
            <a:pPr marL="742950" lvl="1" indent="-285750">
              <a:buFontTx/>
              <a:buChar char="–"/>
            </a:pPr>
            <a:r>
              <a:rPr lang="en-US" sz="1400" dirty="0">
                <a:latin typeface="Arial" panose="020B0604020202020204" pitchFamily="34" charset="0"/>
                <a:cs typeface="Arial" panose="020B0604020202020204" pitchFamily="34" charset="0"/>
              </a:rPr>
              <a:t>Physics</a:t>
            </a:r>
          </a:p>
          <a:p>
            <a:pPr marL="742950" lvl="1" indent="-285750">
              <a:buFontTx/>
              <a:buChar char="–"/>
            </a:pPr>
            <a:r>
              <a:rPr lang="en-US" sz="1400" dirty="0">
                <a:latin typeface="Arial" panose="020B0604020202020204" pitchFamily="34" charset="0"/>
                <a:cs typeface="Arial" panose="020B0604020202020204" pitchFamily="34" charset="0"/>
              </a:rPr>
              <a:t>Physical sciences, </a:t>
            </a:r>
            <a:r>
              <a:rPr lang="en-US" sz="1400" dirty="0" err="1">
                <a:latin typeface="Arial" panose="020B0604020202020204" pitchFamily="34" charset="0"/>
                <a:cs typeface="Arial" panose="020B0604020202020204" pitchFamily="34" charset="0"/>
              </a:rPr>
              <a:t>n.e.c</a:t>
            </a:r>
            <a:r>
              <a:rPr lang="en-US" sz="1400" dirty="0">
                <a:latin typeface="Arial" panose="020B0604020202020204" pitchFamily="34" charset="0"/>
                <a:cs typeface="Arial" panose="020B0604020202020204" pitchFamily="34" charset="0"/>
              </a:rPr>
              <a:t>.  </a:t>
            </a:r>
          </a:p>
        </p:txBody>
      </p:sp>
      <p:sp>
        <p:nvSpPr>
          <p:cNvPr id="16393" name="Rectangle 9"/>
          <p:cNvSpPr>
            <a:spLocks noChangeArrowheads="1"/>
          </p:cNvSpPr>
          <p:nvPr/>
        </p:nvSpPr>
        <p:spPr bwMode="auto">
          <a:xfrm>
            <a:off x="2971800" y="1689100"/>
            <a:ext cx="3463925" cy="5016500"/>
          </a:xfrm>
          <a:prstGeom prst="rect">
            <a:avLst/>
          </a:prstGeom>
          <a:noFill/>
          <a:ln w="9525">
            <a:noFill/>
            <a:miter lim="800000"/>
            <a:headEnd/>
            <a:tailEnd/>
          </a:ln>
        </p:spPr>
        <p:txBody>
          <a:bodyPr/>
          <a:lstStyle/>
          <a:p>
            <a:pPr marL="342900" indent="-342900">
              <a:spcBef>
                <a:spcPct val="20000"/>
              </a:spcBef>
              <a:buFontTx/>
              <a:buChar char="•"/>
            </a:pPr>
            <a:r>
              <a:rPr lang="en-US" sz="1800" dirty="0">
                <a:latin typeface="Arial" panose="020B0604020202020204" pitchFamily="34" charset="0"/>
                <a:cs typeface="Arial" panose="020B0604020202020204" pitchFamily="34" charset="0"/>
              </a:rPr>
              <a:t>Environmental sciences</a:t>
            </a:r>
          </a:p>
          <a:p>
            <a:pPr marL="742950" lvl="1" indent="-285750">
              <a:buFontTx/>
              <a:buChar char="–"/>
            </a:pPr>
            <a:r>
              <a:rPr lang="en-US" sz="1400" dirty="0">
                <a:latin typeface="Arial" panose="020B0604020202020204" pitchFamily="34" charset="0"/>
                <a:cs typeface="Arial" panose="020B0604020202020204" pitchFamily="34" charset="0"/>
              </a:rPr>
              <a:t>Atmospheric sciences</a:t>
            </a:r>
          </a:p>
          <a:p>
            <a:pPr marL="742950" lvl="1" indent="-285750">
              <a:buFontTx/>
              <a:buChar char="–"/>
            </a:pPr>
            <a:r>
              <a:rPr lang="en-US" sz="1400" dirty="0">
                <a:latin typeface="Arial" panose="020B0604020202020204" pitchFamily="34" charset="0"/>
                <a:cs typeface="Arial" panose="020B0604020202020204" pitchFamily="34" charset="0"/>
              </a:rPr>
              <a:t>Geological sciences</a:t>
            </a:r>
          </a:p>
          <a:p>
            <a:pPr marL="742950" lvl="1" indent="-285750">
              <a:buFontTx/>
              <a:buChar char="–"/>
            </a:pPr>
            <a:r>
              <a:rPr lang="en-US" sz="1400" dirty="0">
                <a:latin typeface="Arial" panose="020B0604020202020204" pitchFamily="34" charset="0"/>
                <a:cs typeface="Arial" panose="020B0604020202020204" pitchFamily="34" charset="0"/>
              </a:rPr>
              <a:t>Oceanography</a:t>
            </a:r>
          </a:p>
          <a:p>
            <a:pPr marL="742950" lvl="1" indent="-285750">
              <a:buFontTx/>
              <a:buChar char="–"/>
            </a:pPr>
            <a:r>
              <a:rPr lang="en-US" sz="1400" dirty="0">
                <a:latin typeface="Arial" panose="020B0604020202020204" pitchFamily="34" charset="0"/>
                <a:cs typeface="Arial" panose="020B0604020202020204" pitchFamily="34" charset="0"/>
              </a:rPr>
              <a:t>Environmental sciences, </a:t>
            </a:r>
            <a:r>
              <a:rPr lang="en-US" sz="1400" dirty="0" err="1">
                <a:latin typeface="Arial" panose="020B0604020202020204" pitchFamily="34" charset="0"/>
                <a:cs typeface="Arial" panose="020B0604020202020204" pitchFamily="34" charset="0"/>
              </a:rPr>
              <a:t>n.e.c</a:t>
            </a:r>
            <a:r>
              <a:rPr lang="en-US" sz="1400" dirty="0">
                <a:latin typeface="Arial" panose="020B0604020202020204" pitchFamily="34" charset="0"/>
                <a:cs typeface="Arial" panose="020B0604020202020204" pitchFamily="34" charset="0"/>
              </a:rPr>
              <a:t>.</a:t>
            </a:r>
            <a:r>
              <a:rPr lang="en-US" sz="1600" dirty="0">
                <a:latin typeface="Arial" panose="020B0604020202020204" pitchFamily="34" charset="0"/>
                <a:cs typeface="Arial" panose="020B0604020202020204" pitchFamily="34" charset="0"/>
              </a:rPr>
              <a:t> </a:t>
            </a:r>
          </a:p>
          <a:p>
            <a:pPr marL="342900" indent="-342900">
              <a:spcBef>
                <a:spcPct val="20000"/>
              </a:spcBef>
              <a:buFontTx/>
              <a:buChar char="•"/>
            </a:pPr>
            <a:r>
              <a:rPr lang="en-US" sz="1800" dirty="0">
                <a:latin typeface="Arial" panose="020B0604020202020204" pitchFamily="34" charset="0"/>
                <a:cs typeface="Arial" panose="020B0604020202020204" pitchFamily="34" charset="0"/>
              </a:rPr>
              <a:t>Mathematics and computer sciences</a:t>
            </a:r>
          </a:p>
          <a:p>
            <a:pPr marL="742950" lvl="1" indent="-285750">
              <a:buFontTx/>
              <a:buChar char="–"/>
            </a:pPr>
            <a:r>
              <a:rPr lang="en-US" sz="1400" dirty="0">
                <a:latin typeface="Arial" panose="020B0604020202020204" pitchFamily="34" charset="0"/>
                <a:cs typeface="Arial" panose="020B0604020202020204" pitchFamily="34" charset="0"/>
              </a:rPr>
              <a:t>Mathematics</a:t>
            </a:r>
          </a:p>
          <a:p>
            <a:pPr marL="742950" lvl="1" indent="-285750">
              <a:buFontTx/>
              <a:buChar char="–"/>
            </a:pPr>
            <a:r>
              <a:rPr lang="en-US" sz="1400" dirty="0">
                <a:latin typeface="Arial" panose="020B0604020202020204" pitchFamily="34" charset="0"/>
                <a:cs typeface="Arial" panose="020B0604020202020204" pitchFamily="34" charset="0"/>
              </a:rPr>
              <a:t>Computer sciences</a:t>
            </a:r>
          </a:p>
          <a:p>
            <a:pPr marL="742950" lvl="1" indent="-285750">
              <a:buFontTx/>
              <a:buChar char="–"/>
            </a:pPr>
            <a:r>
              <a:rPr lang="en-US" sz="1400" dirty="0">
                <a:latin typeface="Arial" panose="020B0604020202020204" pitchFamily="34" charset="0"/>
                <a:cs typeface="Arial" panose="020B0604020202020204" pitchFamily="34" charset="0"/>
              </a:rPr>
              <a:t>Mathematics and computer sciences, </a:t>
            </a:r>
            <a:r>
              <a:rPr lang="en-US" sz="1400" dirty="0" err="1">
                <a:latin typeface="Arial" panose="020B0604020202020204" pitchFamily="34" charset="0"/>
                <a:cs typeface="Arial" panose="020B0604020202020204" pitchFamily="34" charset="0"/>
              </a:rPr>
              <a:t>n.e.c</a:t>
            </a:r>
            <a:r>
              <a:rPr lang="en-US" sz="1400" dirty="0">
                <a:latin typeface="Arial" panose="020B0604020202020204" pitchFamily="34" charset="0"/>
                <a:cs typeface="Arial" panose="020B0604020202020204" pitchFamily="34" charset="0"/>
              </a:rPr>
              <a:t>.</a:t>
            </a:r>
          </a:p>
          <a:p>
            <a:pPr marL="342900" indent="-342900">
              <a:lnSpc>
                <a:spcPct val="90000"/>
              </a:lnSpc>
              <a:spcBef>
                <a:spcPct val="20000"/>
              </a:spcBef>
              <a:buFontTx/>
              <a:buChar char="•"/>
            </a:pPr>
            <a:r>
              <a:rPr lang="en-US" sz="1800" dirty="0">
                <a:latin typeface="Arial" panose="020B0604020202020204" pitchFamily="34" charset="0"/>
                <a:cs typeface="Arial" panose="020B0604020202020204" pitchFamily="34" charset="0"/>
              </a:rPr>
              <a:t>Engineering</a:t>
            </a:r>
          </a:p>
          <a:p>
            <a:pPr marL="742950" lvl="1" indent="-285750">
              <a:buFontTx/>
              <a:buChar char="–"/>
            </a:pPr>
            <a:r>
              <a:rPr lang="en-US" sz="1400" dirty="0">
                <a:latin typeface="Arial" panose="020B0604020202020204" pitchFamily="34" charset="0"/>
                <a:cs typeface="Arial" panose="020B0604020202020204" pitchFamily="34" charset="0"/>
              </a:rPr>
              <a:t>Aeronautical</a:t>
            </a:r>
          </a:p>
          <a:p>
            <a:pPr marL="742950" lvl="1" indent="-285750">
              <a:buFontTx/>
              <a:buChar char="–"/>
            </a:pPr>
            <a:r>
              <a:rPr lang="en-US" sz="1400" dirty="0" err="1">
                <a:latin typeface="Arial" panose="020B0604020202020204" pitchFamily="34" charset="0"/>
                <a:cs typeface="Arial" panose="020B0604020202020204" pitchFamily="34" charset="0"/>
              </a:rPr>
              <a:t>Astronautical</a:t>
            </a:r>
            <a:endParaRPr lang="en-US" sz="1400" dirty="0">
              <a:latin typeface="Arial" panose="020B0604020202020204" pitchFamily="34" charset="0"/>
              <a:cs typeface="Arial" panose="020B0604020202020204" pitchFamily="34" charset="0"/>
            </a:endParaRPr>
          </a:p>
          <a:p>
            <a:pPr marL="742950" lvl="1" indent="-285750">
              <a:buFontTx/>
              <a:buChar char="–"/>
            </a:pPr>
            <a:r>
              <a:rPr lang="en-US" sz="1400" dirty="0">
                <a:latin typeface="Arial" panose="020B0604020202020204" pitchFamily="34" charset="0"/>
                <a:cs typeface="Arial" panose="020B0604020202020204" pitchFamily="34" charset="0"/>
              </a:rPr>
              <a:t>Chemical</a:t>
            </a:r>
          </a:p>
          <a:p>
            <a:pPr marL="742950" lvl="1" indent="-285750">
              <a:buFontTx/>
              <a:buChar char="–"/>
            </a:pPr>
            <a:r>
              <a:rPr lang="en-US" sz="1400" dirty="0">
                <a:latin typeface="Arial" panose="020B0604020202020204" pitchFamily="34" charset="0"/>
                <a:cs typeface="Arial" panose="020B0604020202020204" pitchFamily="34" charset="0"/>
              </a:rPr>
              <a:t>Civil</a:t>
            </a:r>
          </a:p>
          <a:p>
            <a:pPr marL="742950" lvl="1" indent="-285750">
              <a:buFontTx/>
              <a:buChar char="–"/>
            </a:pPr>
            <a:r>
              <a:rPr lang="en-US" sz="1400" dirty="0">
                <a:latin typeface="Arial" panose="020B0604020202020204" pitchFamily="34" charset="0"/>
                <a:cs typeface="Arial" panose="020B0604020202020204" pitchFamily="34" charset="0"/>
              </a:rPr>
              <a:t>Electrical</a:t>
            </a:r>
          </a:p>
          <a:p>
            <a:pPr marL="742950" lvl="1" indent="-285750">
              <a:buFontTx/>
              <a:buChar char="–"/>
            </a:pPr>
            <a:r>
              <a:rPr lang="en-US" sz="1400" dirty="0">
                <a:latin typeface="Arial" panose="020B0604020202020204" pitchFamily="34" charset="0"/>
                <a:cs typeface="Arial" panose="020B0604020202020204" pitchFamily="34" charset="0"/>
              </a:rPr>
              <a:t>Mechanical</a:t>
            </a:r>
          </a:p>
          <a:p>
            <a:pPr marL="742950" lvl="1" indent="-285750">
              <a:buFontTx/>
              <a:buChar char="–"/>
            </a:pPr>
            <a:r>
              <a:rPr lang="en-US" sz="1400" dirty="0">
                <a:latin typeface="Arial" panose="020B0604020202020204" pitchFamily="34" charset="0"/>
                <a:cs typeface="Arial" panose="020B0604020202020204" pitchFamily="34" charset="0"/>
              </a:rPr>
              <a:t>metallurgy and materials</a:t>
            </a:r>
          </a:p>
          <a:p>
            <a:pPr marL="742950" lvl="1" indent="-285750">
              <a:buFontTx/>
              <a:buChar char="–"/>
            </a:pPr>
            <a:r>
              <a:rPr lang="en-US" sz="1400" dirty="0">
                <a:latin typeface="Arial" panose="020B0604020202020204" pitchFamily="34" charset="0"/>
                <a:cs typeface="Arial" panose="020B0604020202020204" pitchFamily="34" charset="0"/>
              </a:rPr>
              <a:t>Engineering, </a:t>
            </a:r>
            <a:r>
              <a:rPr lang="en-US" sz="1400" dirty="0" err="1">
                <a:latin typeface="Arial" panose="020B0604020202020204" pitchFamily="34" charset="0"/>
                <a:cs typeface="Arial" panose="020B0604020202020204" pitchFamily="34" charset="0"/>
              </a:rPr>
              <a:t>n.e.c</a:t>
            </a:r>
            <a:r>
              <a:rPr lang="en-US" sz="1400" dirty="0">
                <a:latin typeface="Arial" panose="020B0604020202020204" pitchFamily="34" charset="0"/>
                <a:cs typeface="Arial" panose="020B0604020202020204" pitchFamily="34" charset="0"/>
              </a:rPr>
              <a:t>.</a:t>
            </a:r>
          </a:p>
        </p:txBody>
      </p:sp>
      <p:sp>
        <p:nvSpPr>
          <p:cNvPr id="16394" name="Rectangle 10"/>
          <p:cNvSpPr>
            <a:spLocks noChangeArrowheads="1"/>
          </p:cNvSpPr>
          <p:nvPr/>
        </p:nvSpPr>
        <p:spPr bwMode="auto">
          <a:xfrm>
            <a:off x="6151563" y="1752600"/>
            <a:ext cx="2805112" cy="4876800"/>
          </a:xfrm>
          <a:prstGeom prst="rect">
            <a:avLst/>
          </a:prstGeom>
          <a:noFill/>
          <a:ln w="9525">
            <a:noFill/>
            <a:miter lim="800000"/>
            <a:headEnd/>
            <a:tailEnd/>
          </a:ln>
        </p:spPr>
        <p:txBody>
          <a:bodyPr/>
          <a:lstStyle/>
          <a:p>
            <a:pPr marL="342900" indent="-342900">
              <a:lnSpc>
                <a:spcPct val="90000"/>
              </a:lnSpc>
              <a:spcBef>
                <a:spcPct val="20000"/>
              </a:spcBef>
              <a:buFontTx/>
              <a:buChar char="•"/>
            </a:pPr>
            <a:r>
              <a:rPr lang="en-US" sz="1800" dirty="0">
                <a:latin typeface="Arial" panose="020B0604020202020204" pitchFamily="34" charset="0"/>
                <a:cs typeface="Arial" panose="020B0604020202020204" pitchFamily="34" charset="0"/>
              </a:rPr>
              <a:t>Social sciences</a:t>
            </a:r>
          </a:p>
          <a:p>
            <a:pPr marL="742950" lvl="1" indent="-285750">
              <a:buFontTx/>
              <a:buChar char="–"/>
            </a:pPr>
            <a:r>
              <a:rPr lang="en-US" sz="1400" dirty="0">
                <a:latin typeface="Arial" panose="020B0604020202020204" pitchFamily="34" charset="0"/>
                <a:cs typeface="Arial" panose="020B0604020202020204" pitchFamily="34" charset="0"/>
              </a:rPr>
              <a:t>Anthropology</a:t>
            </a:r>
          </a:p>
          <a:p>
            <a:pPr marL="742950" lvl="1" indent="-285750">
              <a:buFontTx/>
              <a:buChar char="–"/>
            </a:pPr>
            <a:r>
              <a:rPr lang="en-US" sz="1400" dirty="0">
                <a:latin typeface="Arial" panose="020B0604020202020204" pitchFamily="34" charset="0"/>
                <a:cs typeface="Arial" panose="020B0604020202020204" pitchFamily="34" charset="0"/>
              </a:rPr>
              <a:t>Economics</a:t>
            </a:r>
          </a:p>
          <a:p>
            <a:pPr marL="742950" lvl="1" indent="-285750">
              <a:buFontTx/>
              <a:buChar char="–"/>
            </a:pPr>
            <a:r>
              <a:rPr lang="en-US" sz="1400" dirty="0">
                <a:latin typeface="Arial" panose="020B0604020202020204" pitchFamily="34" charset="0"/>
                <a:cs typeface="Arial" panose="020B0604020202020204" pitchFamily="34" charset="0"/>
              </a:rPr>
              <a:t>Political science</a:t>
            </a:r>
          </a:p>
          <a:p>
            <a:pPr marL="742950" lvl="1" indent="-285750">
              <a:buFontTx/>
              <a:buChar char="–"/>
            </a:pPr>
            <a:r>
              <a:rPr lang="en-US" sz="1400" dirty="0">
                <a:latin typeface="Arial" panose="020B0604020202020204" pitchFamily="34" charset="0"/>
                <a:cs typeface="Arial" panose="020B0604020202020204" pitchFamily="34" charset="0"/>
              </a:rPr>
              <a:t>Sociology</a:t>
            </a:r>
          </a:p>
          <a:p>
            <a:pPr marL="742950" lvl="1" indent="-285750">
              <a:buFontTx/>
              <a:buChar char="–"/>
            </a:pPr>
            <a:r>
              <a:rPr lang="en-US" sz="1400" dirty="0">
                <a:latin typeface="Arial" panose="020B0604020202020204" pitchFamily="34" charset="0"/>
                <a:cs typeface="Arial" panose="020B0604020202020204" pitchFamily="34" charset="0"/>
              </a:rPr>
              <a:t>Social sciences, </a:t>
            </a:r>
            <a:r>
              <a:rPr lang="en-US" sz="1400" dirty="0" err="1">
                <a:latin typeface="Arial" panose="020B0604020202020204" pitchFamily="34" charset="0"/>
                <a:cs typeface="Arial" panose="020B0604020202020204" pitchFamily="34" charset="0"/>
              </a:rPr>
              <a:t>n.e.c</a:t>
            </a:r>
            <a:r>
              <a:rPr lang="en-US" sz="1400" dirty="0">
                <a:latin typeface="Arial" panose="020B0604020202020204" pitchFamily="34" charset="0"/>
                <a:cs typeface="Arial" panose="020B0604020202020204" pitchFamily="34" charset="0"/>
              </a:rPr>
              <a:t>.</a:t>
            </a:r>
            <a:r>
              <a:rPr lang="en-US" sz="1600" dirty="0">
                <a:latin typeface="Arial" panose="020B0604020202020204" pitchFamily="34" charset="0"/>
                <a:cs typeface="Arial" panose="020B0604020202020204" pitchFamily="34" charset="0"/>
              </a:rPr>
              <a:t> </a:t>
            </a:r>
          </a:p>
          <a:p>
            <a:pPr marL="342900" indent="-342900">
              <a:lnSpc>
                <a:spcPct val="90000"/>
              </a:lnSpc>
              <a:spcBef>
                <a:spcPct val="20000"/>
              </a:spcBef>
              <a:buFontTx/>
              <a:buChar char="•"/>
            </a:pPr>
            <a:r>
              <a:rPr lang="en-US" sz="1800" dirty="0">
                <a:latin typeface="Arial" panose="020B0604020202020204" pitchFamily="34" charset="0"/>
                <a:cs typeface="Arial" panose="020B0604020202020204" pitchFamily="34" charset="0"/>
              </a:rPr>
              <a:t>Other sciences not elsewhere classified </a:t>
            </a:r>
          </a:p>
        </p:txBody>
      </p:sp>
      <p:pic>
        <p:nvPicPr>
          <p:cNvPr id="11" name="Picture 8" descr="nsf2"/>
          <p:cNvPicPr>
            <a:picLocks noChangeAspect="1" noChangeArrowheads="1"/>
          </p:cNvPicPr>
          <p:nvPr/>
        </p:nvPicPr>
        <p:blipFill>
          <a:blip r:embed="rId2" cstate="print"/>
          <a:srcRect/>
          <a:stretch>
            <a:fillRect/>
          </a:stretch>
        </p:blipFill>
        <p:spPr bwMode="auto">
          <a:xfrm>
            <a:off x="76200" y="79375"/>
            <a:ext cx="533400" cy="530225"/>
          </a:xfrm>
          <a:prstGeom prst="rect">
            <a:avLst/>
          </a:prstGeom>
          <a:noFill/>
          <a:ln w="9525">
            <a:noFill/>
            <a:miter lim="800000"/>
            <a:headEnd/>
            <a:tailEnd/>
          </a:ln>
        </p:spPr>
      </p:pic>
      <p:pic>
        <p:nvPicPr>
          <p:cNvPr id="12" name="Picture 11" descr="NCSES_logo_oneline_150.eps"/>
          <p:cNvPicPr>
            <a:picLocks noChangeAspect="1"/>
          </p:cNvPicPr>
          <p:nvPr/>
        </p:nvPicPr>
        <p:blipFill>
          <a:blip r:embed="rId3" cstate="print"/>
          <a:srcRect/>
          <a:stretch>
            <a:fillRect/>
          </a:stretch>
        </p:blipFill>
        <p:spPr bwMode="auto">
          <a:xfrm>
            <a:off x="4114800" y="134938"/>
            <a:ext cx="5029200" cy="474662"/>
          </a:xfrm>
          <a:prstGeom prst="rect">
            <a:avLst/>
          </a:prstGeom>
          <a:noFill/>
          <a:ln w="9525">
            <a:noFill/>
            <a:miter lim="800000"/>
            <a:headEnd/>
            <a:tailEnd/>
          </a:ln>
        </p:spPr>
      </p:pic>
      <p:sp>
        <p:nvSpPr>
          <p:cNvPr id="10" name="Rectangle 4"/>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14613922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Slide Number Placeholder 4"/>
          <p:cNvSpPr>
            <a:spLocks noGrp="1"/>
          </p:cNvSpPr>
          <p:nvPr>
            <p:ph type="sldNum" sz="quarter" idx="12"/>
          </p:nvPr>
        </p:nvSpPr>
        <p:spPr>
          <a:noFill/>
        </p:spPr>
        <p:txBody>
          <a:bodyPr/>
          <a:lstStyle/>
          <a:p>
            <a:fld id="{63AB4836-502D-488A-8FFD-A2462309793B}" type="slidenum">
              <a:rPr lang="en-US" smtClean="0">
                <a:latin typeface="Arial" panose="020B0604020202020204" pitchFamily="34" charset="0"/>
                <a:cs typeface="Arial" panose="020B0604020202020204" pitchFamily="34" charset="0"/>
              </a:rPr>
              <a:pPr/>
              <a:t>19</a:t>
            </a:fld>
            <a:endParaRPr lang="en-US" dirty="0">
              <a:latin typeface="Arial" panose="020B0604020202020204" pitchFamily="34" charset="0"/>
              <a:cs typeface="Arial" panose="020B0604020202020204" pitchFamily="34" charset="0"/>
            </a:endParaRPr>
          </a:p>
        </p:txBody>
      </p:sp>
      <p:sp>
        <p:nvSpPr>
          <p:cNvPr id="1029" name="Rectangle 2"/>
          <p:cNvSpPr>
            <a:spLocks noGrp="1" noChangeArrowheads="1"/>
          </p:cNvSpPr>
          <p:nvPr>
            <p:ph type="title"/>
          </p:nvPr>
        </p:nvSpPr>
        <p:spPr>
          <a:xfrm>
            <a:off x="696913" y="1125662"/>
            <a:ext cx="7772400" cy="533400"/>
          </a:xfrm>
        </p:spPr>
        <p:txBody>
          <a:bodyPr/>
          <a:lstStyle/>
          <a:p>
            <a:pPr eaLnBrk="1" hangingPunct="1"/>
            <a:r>
              <a:rPr lang="en-US" sz="2400" b="1" dirty="0">
                <a:latin typeface="Arial" panose="020B0604020202020204" pitchFamily="34" charset="0"/>
                <a:cs typeface="Arial" panose="020B0604020202020204" pitchFamily="34" charset="0"/>
              </a:rPr>
              <a:t>FY 2016 Federal Obligations for Research</a:t>
            </a:r>
            <a:br>
              <a:rPr lang="en-US" sz="2400" b="1" dirty="0">
                <a:latin typeface="Arial" panose="020B0604020202020204" pitchFamily="34" charset="0"/>
                <a:cs typeface="Arial" panose="020B0604020202020204" pitchFamily="34" charset="0"/>
              </a:rPr>
            </a:br>
            <a:r>
              <a:rPr lang="en-US" sz="2400" b="1" dirty="0">
                <a:latin typeface="Arial" panose="020B0604020202020204" pitchFamily="34" charset="0"/>
                <a:cs typeface="Arial" panose="020B0604020202020204" pitchFamily="34" charset="0"/>
              </a:rPr>
              <a:t>($66.7 Billion)</a:t>
            </a:r>
          </a:p>
        </p:txBody>
      </p:sp>
      <p:sp>
        <p:nvSpPr>
          <p:cNvPr id="1034" name="Rectangle 7"/>
          <p:cNvSpPr>
            <a:spLocks noChangeArrowheads="1"/>
          </p:cNvSpPr>
          <p:nvPr/>
        </p:nvSpPr>
        <p:spPr bwMode="auto">
          <a:xfrm>
            <a:off x="914400" y="1020763"/>
            <a:ext cx="7391400" cy="396875"/>
          </a:xfrm>
          <a:prstGeom prst="rect">
            <a:avLst/>
          </a:prstGeom>
          <a:noFill/>
          <a:ln w="9525">
            <a:noFill/>
            <a:miter lim="800000"/>
            <a:headEnd/>
            <a:tailEnd/>
          </a:ln>
        </p:spPr>
        <p:txBody>
          <a:bodyPr>
            <a:spAutoFit/>
          </a:bodyPr>
          <a:lstStyle/>
          <a:p>
            <a:endParaRPr lang="en-US" sz="2000">
              <a:latin typeface="Arial" panose="020B0604020202020204" pitchFamily="34" charset="0"/>
              <a:cs typeface="Arial" panose="020B0604020202020204" pitchFamily="34" charset="0"/>
            </a:endParaRPr>
          </a:p>
        </p:txBody>
      </p:sp>
      <p:sp>
        <p:nvSpPr>
          <p:cNvPr id="1035" name="Text Box 8"/>
          <p:cNvSpPr txBox="1">
            <a:spLocks noChangeArrowheads="1"/>
          </p:cNvSpPr>
          <p:nvPr/>
        </p:nvSpPr>
        <p:spPr bwMode="auto">
          <a:xfrm>
            <a:off x="4395773" y="146050"/>
            <a:ext cx="298480" cy="1077218"/>
          </a:xfrm>
          <a:prstGeom prst="rect">
            <a:avLst/>
          </a:prstGeom>
          <a:noFill/>
          <a:ln w="9525">
            <a:noFill/>
            <a:miter lim="800000"/>
            <a:headEnd/>
            <a:tailEnd/>
          </a:ln>
        </p:spPr>
        <p:txBody>
          <a:bodyPr wrap="none">
            <a:spAutoFit/>
          </a:bodyPr>
          <a:lstStyle/>
          <a:p>
            <a:pPr algn="ctr" eaLnBrk="0" hangingPunct="0"/>
            <a:r>
              <a:rPr lang="en-US" sz="3200" b="1">
                <a:latin typeface="Arial" panose="020B0604020202020204" pitchFamily="34" charset="0"/>
                <a:cs typeface="Arial" panose="020B0604020202020204" pitchFamily="34" charset="0"/>
              </a:rPr>
              <a:t> </a:t>
            </a:r>
          </a:p>
          <a:p>
            <a:pPr algn="ctr" eaLnBrk="0" hangingPunct="0"/>
            <a:endParaRPr lang="en-US" sz="3200" b="1">
              <a:latin typeface="Arial" panose="020B0604020202020204" pitchFamily="34" charset="0"/>
              <a:cs typeface="Arial" panose="020B0604020202020204" pitchFamily="34" charset="0"/>
            </a:endParaRPr>
          </a:p>
        </p:txBody>
      </p:sp>
      <p:sp>
        <p:nvSpPr>
          <p:cNvPr id="1036" name="Rectangle 9"/>
          <p:cNvSpPr>
            <a:spLocks noChangeArrowheads="1"/>
          </p:cNvSpPr>
          <p:nvPr/>
        </p:nvSpPr>
        <p:spPr bwMode="auto">
          <a:xfrm>
            <a:off x="1143000" y="1752600"/>
            <a:ext cx="5715000" cy="396875"/>
          </a:xfrm>
          <a:prstGeom prst="rect">
            <a:avLst/>
          </a:prstGeom>
          <a:noFill/>
          <a:ln w="9525">
            <a:noFill/>
            <a:miter lim="800000"/>
            <a:headEnd/>
            <a:tailEnd/>
          </a:ln>
        </p:spPr>
        <p:txBody>
          <a:bodyPr>
            <a:spAutoFit/>
          </a:bodyPr>
          <a:lstStyle/>
          <a:p>
            <a:endParaRPr lang="en-US" sz="2000">
              <a:latin typeface="Arial" panose="020B0604020202020204" pitchFamily="34" charset="0"/>
              <a:cs typeface="Arial" panose="020B0604020202020204" pitchFamily="34" charset="0"/>
            </a:endParaRPr>
          </a:p>
        </p:txBody>
      </p:sp>
      <p:graphicFrame>
        <p:nvGraphicFramePr>
          <p:cNvPr id="1026" name="Object 10"/>
          <p:cNvGraphicFramePr>
            <a:graphicFrameLocks noChangeAspect="1"/>
          </p:cNvGraphicFramePr>
          <p:nvPr/>
        </p:nvGraphicFramePr>
        <p:xfrm>
          <a:off x="-115888" y="2816225"/>
          <a:ext cx="4699001" cy="3097213"/>
        </p:xfrm>
        <a:graphic>
          <a:graphicData uri="http://schemas.openxmlformats.org/presentationml/2006/ole">
            <mc:AlternateContent xmlns:mc="http://schemas.openxmlformats.org/markup-compatibility/2006">
              <mc:Choice xmlns:v="urn:schemas-microsoft-com:vml" Requires="v">
                <p:oleObj spid="_x0000_s2102" name="Chart" r:id="rId3" imgW="4476599" imgH="2952610" progId="MSGraph.Chart.8">
                  <p:embed followColorScheme="full"/>
                </p:oleObj>
              </mc:Choice>
              <mc:Fallback>
                <p:oleObj name="Chart" r:id="rId3" imgW="4476599" imgH="2952610" progId="MSGraph.Chart.8">
                  <p:embed followColorScheme="full"/>
                  <p:pic>
                    <p:nvPicPr>
                      <p:cNvPr id="1026" name="Object 10"/>
                      <p:cNvPicPr>
                        <a:picLocks noChangeAspect="1" noChangeArrowheads="1"/>
                      </p:cNvPicPr>
                      <p:nvPr/>
                    </p:nvPicPr>
                    <p:blipFill>
                      <a:blip r:embed="rId4"/>
                      <a:srcRect/>
                      <a:stretch>
                        <a:fillRect/>
                      </a:stretch>
                    </p:blipFill>
                    <p:spPr bwMode="auto">
                      <a:xfrm>
                        <a:off x="-115888" y="2816225"/>
                        <a:ext cx="4699001" cy="3097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7" name="Text Box 12"/>
          <p:cNvSpPr txBox="1">
            <a:spLocks noChangeArrowheads="1"/>
          </p:cNvSpPr>
          <p:nvPr/>
        </p:nvSpPr>
        <p:spPr bwMode="auto">
          <a:xfrm>
            <a:off x="3128963" y="4922838"/>
            <a:ext cx="984250" cy="400110"/>
          </a:xfrm>
          <a:prstGeom prst="rect">
            <a:avLst/>
          </a:prstGeom>
          <a:noFill/>
          <a:ln w="9525">
            <a:noFill/>
            <a:miter lim="800000"/>
            <a:headEnd/>
            <a:tailEnd/>
          </a:ln>
        </p:spPr>
        <p:txBody>
          <a:bodyPr wrap="square">
            <a:spAutoFit/>
          </a:bodyPr>
          <a:lstStyle/>
          <a:p>
            <a:pPr algn="ctr" eaLnBrk="0" hangingPunct="0"/>
            <a:r>
              <a:rPr lang="en-US" sz="1000" b="1" dirty="0">
                <a:latin typeface="Arial" panose="020B0604020202020204" pitchFamily="34" charset="0"/>
                <a:cs typeface="Arial" panose="020B0604020202020204" pitchFamily="34" charset="0"/>
              </a:rPr>
              <a:t>HHS 48%</a:t>
            </a:r>
          </a:p>
          <a:p>
            <a:pPr algn="ctr" eaLnBrk="0" hangingPunct="0"/>
            <a:r>
              <a:rPr lang="en-US" sz="1000" b="1" dirty="0">
                <a:latin typeface="Arial" panose="020B0604020202020204" pitchFamily="34" charset="0"/>
                <a:cs typeface="Arial" panose="020B0604020202020204" pitchFamily="34" charset="0"/>
              </a:rPr>
              <a:t>$32.1 billion</a:t>
            </a:r>
            <a:endParaRPr lang="en-US" sz="1000" b="1" dirty="0">
              <a:solidFill>
                <a:schemeClr val="bg1"/>
              </a:solidFill>
              <a:latin typeface="Arial" panose="020B0604020202020204" pitchFamily="34" charset="0"/>
              <a:cs typeface="Arial" panose="020B0604020202020204" pitchFamily="34" charset="0"/>
            </a:endParaRPr>
          </a:p>
        </p:txBody>
      </p:sp>
      <p:sp>
        <p:nvSpPr>
          <p:cNvPr id="1038" name="Text Box 13"/>
          <p:cNvSpPr txBox="1">
            <a:spLocks noChangeArrowheads="1"/>
          </p:cNvSpPr>
          <p:nvPr/>
        </p:nvSpPr>
        <p:spPr bwMode="auto">
          <a:xfrm>
            <a:off x="2174972" y="2800350"/>
            <a:ext cx="1357313" cy="396875"/>
          </a:xfrm>
          <a:prstGeom prst="rect">
            <a:avLst/>
          </a:prstGeom>
          <a:noFill/>
          <a:ln w="9525">
            <a:noFill/>
            <a:miter lim="800000"/>
            <a:headEnd/>
            <a:tailEnd/>
          </a:ln>
        </p:spPr>
        <p:txBody>
          <a:bodyPr>
            <a:spAutoFit/>
          </a:bodyPr>
          <a:lstStyle/>
          <a:p>
            <a:pPr algn="ctr" eaLnBrk="0" hangingPunct="0"/>
            <a:r>
              <a:rPr lang="en-US" sz="1000" b="1" dirty="0">
                <a:latin typeface="Arial" panose="020B0604020202020204" pitchFamily="34" charset="0"/>
                <a:cs typeface="Arial" panose="020B0604020202020204" pitchFamily="34" charset="0"/>
              </a:rPr>
              <a:t>NASA 8%</a:t>
            </a:r>
          </a:p>
          <a:p>
            <a:pPr algn="ctr" eaLnBrk="0" hangingPunct="0"/>
            <a:r>
              <a:rPr lang="en-US" sz="1000" b="1" dirty="0">
                <a:latin typeface="Arial" panose="020B0604020202020204" pitchFamily="34" charset="0"/>
                <a:cs typeface="Arial" panose="020B0604020202020204" pitchFamily="34" charset="0"/>
              </a:rPr>
              <a:t>$5.6 billion</a:t>
            </a:r>
          </a:p>
        </p:txBody>
      </p:sp>
      <p:sp>
        <p:nvSpPr>
          <p:cNvPr id="1039" name="Text Box 14"/>
          <p:cNvSpPr txBox="1">
            <a:spLocks noChangeArrowheads="1"/>
          </p:cNvSpPr>
          <p:nvPr/>
        </p:nvSpPr>
        <p:spPr bwMode="auto">
          <a:xfrm>
            <a:off x="581548" y="3158949"/>
            <a:ext cx="843501" cy="400110"/>
          </a:xfrm>
          <a:prstGeom prst="rect">
            <a:avLst/>
          </a:prstGeom>
          <a:noFill/>
          <a:ln w="9525">
            <a:noFill/>
            <a:miter lim="800000"/>
            <a:headEnd/>
            <a:tailEnd/>
          </a:ln>
        </p:spPr>
        <p:txBody>
          <a:bodyPr wrap="none">
            <a:spAutoFit/>
          </a:bodyPr>
          <a:lstStyle/>
          <a:p>
            <a:pPr algn="ctr" eaLnBrk="0" hangingPunct="0"/>
            <a:r>
              <a:rPr lang="en-US" sz="1000" b="1" dirty="0">
                <a:latin typeface="Arial" panose="020B0604020202020204" pitchFamily="34" charset="0"/>
                <a:cs typeface="Arial" panose="020B0604020202020204" pitchFamily="34" charset="0"/>
              </a:rPr>
              <a:t>DOD 11%</a:t>
            </a:r>
          </a:p>
          <a:p>
            <a:pPr algn="ctr" eaLnBrk="0" hangingPunct="0"/>
            <a:r>
              <a:rPr lang="en-US" sz="1000" b="1" dirty="0">
                <a:latin typeface="Arial" panose="020B0604020202020204" pitchFamily="34" charset="0"/>
                <a:cs typeface="Arial" panose="020B0604020202020204" pitchFamily="34" charset="0"/>
              </a:rPr>
              <a:t>$7.2 billion</a:t>
            </a:r>
          </a:p>
        </p:txBody>
      </p:sp>
      <p:sp>
        <p:nvSpPr>
          <p:cNvPr id="1040" name="Text Box 15"/>
          <p:cNvSpPr txBox="1">
            <a:spLocks noChangeArrowheads="1"/>
          </p:cNvSpPr>
          <p:nvPr/>
        </p:nvSpPr>
        <p:spPr bwMode="auto">
          <a:xfrm>
            <a:off x="206166" y="4366691"/>
            <a:ext cx="843501" cy="400110"/>
          </a:xfrm>
          <a:prstGeom prst="rect">
            <a:avLst/>
          </a:prstGeom>
          <a:noFill/>
          <a:ln w="9525">
            <a:noFill/>
            <a:miter lim="800000"/>
            <a:headEnd/>
            <a:tailEnd/>
          </a:ln>
        </p:spPr>
        <p:txBody>
          <a:bodyPr wrap="none">
            <a:spAutoFit/>
          </a:bodyPr>
          <a:lstStyle/>
          <a:p>
            <a:pPr algn="ctr" eaLnBrk="0" hangingPunct="0"/>
            <a:r>
              <a:rPr lang="en-US" sz="1000" b="1" dirty="0">
                <a:latin typeface="Arial" panose="020B0604020202020204" pitchFamily="34" charset="0"/>
                <a:cs typeface="Arial" panose="020B0604020202020204" pitchFamily="34" charset="0"/>
              </a:rPr>
              <a:t>DOE 14%</a:t>
            </a:r>
          </a:p>
          <a:p>
            <a:pPr algn="ctr" eaLnBrk="0" hangingPunct="0"/>
            <a:r>
              <a:rPr lang="en-US" sz="1000" b="1" dirty="0">
                <a:latin typeface="Arial" panose="020B0604020202020204" pitchFamily="34" charset="0"/>
                <a:cs typeface="Arial" panose="020B0604020202020204" pitchFamily="34" charset="0"/>
              </a:rPr>
              <a:t>$9.2 billion</a:t>
            </a:r>
          </a:p>
        </p:txBody>
      </p:sp>
      <p:graphicFrame>
        <p:nvGraphicFramePr>
          <p:cNvPr id="1027" name="Object 16"/>
          <p:cNvGraphicFramePr>
            <a:graphicFrameLocks noChangeAspect="1"/>
          </p:cNvGraphicFramePr>
          <p:nvPr/>
        </p:nvGraphicFramePr>
        <p:xfrm>
          <a:off x="4421188" y="2746375"/>
          <a:ext cx="4799012" cy="3197225"/>
        </p:xfrm>
        <a:graphic>
          <a:graphicData uri="http://schemas.openxmlformats.org/presentationml/2006/ole">
            <mc:AlternateContent xmlns:mc="http://schemas.openxmlformats.org/markup-compatibility/2006">
              <mc:Choice xmlns:v="urn:schemas-microsoft-com:vml" Requires="v">
                <p:oleObj spid="_x0000_s2103" name="Chart" r:id="rId5" imgW="4572000" imgH="3047911" progId="MSGraph.Chart.8">
                  <p:embed followColorScheme="full"/>
                </p:oleObj>
              </mc:Choice>
              <mc:Fallback>
                <p:oleObj name="Chart" r:id="rId5" imgW="4572000" imgH="3047911" progId="MSGraph.Chart.8">
                  <p:embed followColorScheme="full"/>
                  <p:pic>
                    <p:nvPicPr>
                      <p:cNvPr id="1027" name="Object 16"/>
                      <p:cNvPicPr>
                        <a:picLocks noChangeAspect="1" noChangeArrowheads="1"/>
                      </p:cNvPicPr>
                      <p:nvPr/>
                    </p:nvPicPr>
                    <p:blipFill>
                      <a:blip r:embed="rId6"/>
                      <a:srcRect/>
                      <a:stretch>
                        <a:fillRect/>
                      </a:stretch>
                    </p:blipFill>
                    <p:spPr bwMode="auto">
                      <a:xfrm>
                        <a:off x="4421188" y="2746375"/>
                        <a:ext cx="4799012" cy="319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1" name="Text Box 17"/>
          <p:cNvSpPr txBox="1">
            <a:spLocks noChangeArrowheads="1"/>
          </p:cNvSpPr>
          <p:nvPr/>
        </p:nvSpPr>
        <p:spPr bwMode="auto">
          <a:xfrm>
            <a:off x="7987558" y="3554413"/>
            <a:ext cx="941284" cy="553998"/>
          </a:xfrm>
          <a:prstGeom prst="rect">
            <a:avLst/>
          </a:prstGeom>
          <a:noFill/>
          <a:ln w="9525">
            <a:noFill/>
            <a:miter lim="800000"/>
            <a:headEnd/>
            <a:tailEnd/>
          </a:ln>
        </p:spPr>
        <p:txBody>
          <a:bodyPr wrap="none">
            <a:spAutoFit/>
          </a:bodyPr>
          <a:lstStyle/>
          <a:p>
            <a:pPr algn="ctr" eaLnBrk="0" hangingPunct="0"/>
            <a:r>
              <a:rPr lang="en-US" sz="1000" b="1" dirty="0">
                <a:latin typeface="Arial" panose="020B0604020202020204" pitchFamily="34" charset="0"/>
                <a:cs typeface="Arial" panose="020B0604020202020204" pitchFamily="34" charset="0"/>
              </a:rPr>
              <a:t>Social </a:t>
            </a:r>
          </a:p>
          <a:p>
            <a:pPr algn="ctr" eaLnBrk="0" hangingPunct="0"/>
            <a:r>
              <a:rPr lang="en-US" sz="1000" b="1" dirty="0">
                <a:latin typeface="Arial" panose="020B0604020202020204" pitchFamily="34" charset="0"/>
                <a:cs typeface="Arial" panose="020B0604020202020204" pitchFamily="34" charset="0"/>
              </a:rPr>
              <a:t>sciences 2%</a:t>
            </a:r>
          </a:p>
          <a:p>
            <a:pPr algn="ctr" eaLnBrk="0" hangingPunct="0"/>
            <a:r>
              <a:rPr lang="en-US" sz="1000" b="1" dirty="0">
                <a:latin typeface="Arial" panose="020B0604020202020204" pitchFamily="34" charset="0"/>
                <a:cs typeface="Arial" panose="020B0604020202020204" pitchFamily="34" charset="0"/>
              </a:rPr>
              <a:t>$1.2 billion</a:t>
            </a:r>
            <a:endParaRPr lang="en-US" sz="1000" b="1" dirty="0">
              <a:solidFill>
                <a:schemeClr val="bg1"/>
              </a:solidFill>
              <a:latin typeface="Arial" panose="020B0604020202020204" pitchFamily="34" charset="0"/>
              <a:cs typeface="Arial" panose="020B0604020202020204" pitchFamily="34" charset="0"/>
            </a:endParaRPr>
          </a:p>
        </p:txBody>
      </p:sp>
      <p:sp>
        <p:nvSpPr>
          <p:cNvPr id="1042" name="Text Box 18"/>
          <p:cNvSpPr txBox="1">
            <a:spLocks noChangeArrowheads="1"/>
          </p:cNvSpPr>
          <p:nvPr/>
        </p:nvSpPr>
        <p:spPr bwMode="auto">
          <a:xfrm>
            <a:off x="7300224" y="2941578"/>
            <a:ext cx="1213795" cy="400110"/>
          </a:xfrm>
          <a:prstGeom prst="rect">
            <a:avLst/>
          </a:prstGeom>
          <a:noFill/>
          <a:ln w="9525">
            <a:noFill/>
            <a:miter lim="800000"/>
            <a:headEnd/>
            <a:tailEnd/>
          </a:ln>
        </p:spPr>
        <p:txBody>
          <a:bodyPr wrap="none">
            <a:spAutoFit/>
          </a:bodyPr>
          <a:lstStyle/>
          <a:p>
            <a:pPr algn="ctr" eaLnBrk="0" hangingPunct="0"/>
            <a:r>
              <a:rPr lang="en-US" sz="1000" b="1" dirty="0">
                <a:latin typeface="Arial" panose="020B0604020202020204" pitchFamily="34" charset="0"/>
                <a:cs typeface="Arial" panose="020B0604020202020204" pitchFamily="34" charset="0"/>
              </a:rPr>
              <a:t>Engineering 19%</a:t>
            </a:r>
          </a:p>
          <a:p>
            <a:pPr algn="ctr" eaLnBrk="0" hangingPunct="0"/>
            <a:r>
              <a:rPr lang="en-US" sz="1000" b="1" dirty="0">
                <a:latin typeface="Arial" panose="020B0604020202020204" pitchFamily="34" charset="0"/>
                <a:cs typeface="Arial" panose="020B0604020202020204" pitchFamily="34" charset="0"/>
              </a:rPr>
              <a:t>$12.8 billion</a:t>
            </a:r>
          </a:p>
        </p:txBody>
      </p:sp>
      <p:sp>
        <p:nvSpPr>
          <p:cNvPr id="1043" name="Text Box 19"/>
          <p:cNvSpPr txBox="1">
            <a:spLocks noChangeArrowheads="1"/>
          </p:cNvSpPr>
          <p:nvPr/>
        </p:nvSpPr>
        <p:spPr bwMode="auto">
          <a:xfrm>
            <a:off x="5901243" y="2533650"/>
            <a:ext cx="1011816" cy="553998"/>
          </a:xfrm>
          <a:prstGeom prst="rect">
            <a:avLst/>
          </a:prstGeom>
          <a:noFill/>
          <a:ln w="9525">
            <a:noFill/>
            <a:miter lim="800000"/>
            <a:headEnd/>
            <a:tailEnd/>
          </a:ln>
        </p:spPr>
        <p:txBody>
          <a:bodyPr wrap="none">
            <a:spAutoFit/>
          </a:bodyPr>
          <a:lstStyle/>
          <a:p>
            <a:pPr algn="ctr" eaLnBrk="0" hangingPunct="0"/>
            <a:r>
              <a:rPr lang="en-US" sz="1000" b="1" dirty="0">
                <a:latin typeface="Arial" panose="020B0604020202020204" pitchFamily="34" charset="0"/>
                <a:cs typeface="Arial" panose="020B0604020202020204" pitchFamily="34" charset="0"/>
              </a:rPr>
              <a:t>Physical </a:t>
            </a:r>
          </a:p>
          <a:p>
            <a:pPr algn="ctr" eaLnBrk="0" hangingPunct="0"/>
            <a:r>
              <a:rPr lang="en-US" sz="1000" b="1" dirty="0">
                <a:latin typeface="Arial" panose="020B0604020202020204" pitchFamily="34" charset="0"/>
                <a:cs typeface="Arial" panose="020B0604020202020204" pitchFamily="34" charset="0"/>
              </a:rPr>
              <a:t>sciences 10%</a:t>
            </a:r>
          </a:p>
          <a:p>
            <a:pPr algn="ctr" eaLnBrk="0" hangingPunct="0"/>
            <a:r>
              <a:rPr lang="en-US" sz="1000" b="1" dirty="0">
                <a:latin typeface="Arial" panose="020B0604020202020204" pitchFamily="34" charset="0"/>
                <a:cs typeface="Arial" panose="020B0604020202020204" pitchFamily="34" charset="0"/>
              </a:rPr>
              <a:t>$6.7 billion</a:t>
            </a:r>
          </a:p>
        </p:txBody>
      </p:sp>
      <p:sp>
        <p:nvSpPr>
          <p:cNvPr id="1044" name="Text Box 20"/>
          <p:cNvSpPr txBox="1">
            <a:spLocks noChangeArrowheads="1"/>
          </p:cNvSpPr>
          <p:nvPr/>
        </p:nvSpPr>
        <p:spPr bwMode="auto">
          <a:xfrm>
            <a:off x="4102606" y="3394254"/>
            <a:ext cx="1311578" cy="553998"/>
          </a:xfrm>
          <a:prstGeom prst="rect">
            <a:avLst/>
          </a:prstGeom>
          <a:noFill/>
          <a:ln w="9525">
            <a:noFill/>
            <a:miter lim="800000"/>
            <a:headEnd/>
            <a:tailEnd/>
          </a:ln>
        </p:spPr>
        <p:txBody>
          <a:bodyPr wrap="none">
            <a:spAutoFit/>
          </a:bodyPr>
          <a:lstStyle/>
          <a:p>
            <a:pPr algn="ctr" eaLnBrk="0" hangingPunct="0"/>
            <a:r>
              <a:rPr lang="en-US" sz="1000" b="1" dirty="0">
                <a:latin typeface="Arial" panose="020B0604020202020204" pitchFamily="34" charset="0"/>
                <a:cs typeface="Arial" panose="020B0604020202020204" pitchFamily="34" charset="0"/>
              </a:rPr>
              <a:t>Computer</a:t>
            </a:r>
          </a:p>
          <a:p>
            <a:pPr algn="ctr" eaLnBrk="0" hangingPunct="0"/>
            <a:r>
              <a:rPr lang="en-US" sz="1000" b="1" dirty="0">
                <a:latin typeface="Arial" panose="020B0604020202020204" pitchFamily="34" charset="0"/>
                <a:cs typeface="Arial" panose="020B0604020202020204" pitchFamily="34" charset="0"/>
              </a:rPr>
              <a:t>sciences /Math 6%</a:t>
            </a:r>
          </a:p>
          <a:p>
            <a:pPr algn="ctr" eaLnBrk="0" hangingPunct="0"/>
            <a:r>
              <a:rPr lang="en-US" sz="1000" b="1" dirty="0">
                <a:latin typeface="Arial" panose="020B0604020202020204" pitchFamily="34" charset="0"/>
                <a:cs typeface="Arial" panose="020B0604020202020204" pitchFamily="34" charset="0"/>
              </a:rPr>
              <a:t>$4.2 billion</a:t>
            </a:r>
          </a:p>
        </p:txBody>
      </p:sp>
      <p:sp>
        <p:nvSpPr>
          <p:cNvPr id="1045" name="Text Box 21"/>
          <p:cNvSpPr txBox="1">
            <a:spLocks noChangeArrowheads="1"/>
          </p:cNvSpPr>
          <p:nvPr/>
        </p:nvSpPr>
        <p:spPr bwMode="auto">
          <a:xfrm>
            <a:off x="627916" y="6156325"/>
            <a:ext cx="4527273" cy="569387"/>
          </a:xfrm>
          <a:prstGeom prst="rect">
            <a:avLst/>
          </a:prstGeom>
          <a:noFill/>
          <a:ln w="9525">
            <a:noFill/>
            <a:miter lim="800000"/>
            <a:headEnd/>
            <a:tailEnd/>
          </a:ln>
        </p:spPr>
        <p:txBody>
          <a:bodyPr wrap="square">
            <a:spAutoFit/>
          </a:bodyPr>
          <a:lstStyle/>
          <a:p>
            <a:pPr eaLnBrk="0" hangingPunct="0"/>
            <a:endParaRPr lang="en-US" sz="900" dirty="0">
              <a:latin typeface="Arial" panose="020B0604020202020204" pitchFamily="34" charset="0"/>
              <a:cs typeface="Arial" panose="020B0604020202020204" pitchFamily="34" charset="0"/>
            </a:endParaRPr>
          </a:p>
          <a:p>
            <a:pPr eaLnBrk="0" hangingPunct="0"/>
            <a:r>
              <a:rPr lang="en-US" sz="1100" dirty="0">
                <a:latin typeface="Arial" panose="020B0604020202020204" pitchFamily="34" charset="0"/>
                <a:cs typeface="Arial" panose="020B0604020202020204" pitchFamily="34" charset="0"/>
              </a:rPr>
              <a:t>Because of rounding, detail may not sum to totals.</a:t>
            </a:r>
          </a:p>
          <a:p>
            <a:r>
              <a:rPr lang="en-US" sz="1100" dirty="0">
                <a:latin typeface="Arial" panose="020B0604020202020204" pitchFamily="34" charset="0"/>
                <a:cs typeface="Arial" panose="020B0604020202020204" pitchFamily="34" charset="0"/>
              </a:rPr>
              <a:t>Source: Survey of Federal Funds for R&amp;D, FY 2016</a:t>
            </a:r>
          </a:p>
        </p:txBody>
      </p:sp>
      <p:sp>
        <p:nvSpPr>
          <p:cNvPr id="1046" name="Text Box 22"/>
          <p:cNvSpPr txBox="1">
            <a:spLocks noChangeArrowheads="1"/>
          </p:cNvSpPr>
          <p:nvPr/>
        </p:nvSpPr>
        <p:spPr bwMode="auto">
          <a:xfrm>
            <a:off x="1141395" y="1965325"/>
            <a:ext cx="2255874" cy="400110"/>
          </a:xfrm>
          <a:prstGeom prst="rect">
            <a:avLst/>
          </a:prstGeom>
          <a:noFill/>
          <a:ln w="9525">
            <a:noFill/>
            <a:miter lim="800000"/>
            <a:headEnd/>
            <a:tailEnd/>
          </a:ln>
        </p:spPr>
        <p:txBody>
          <a:bodyPr wrap="none">
            <a:spAutoFit/>
          </a:bodyPr>
          <a:lstStyle/>
          <a:p>
            <a:pPr algn="ctr" eaLnBrk="0" hangingPunct="0"/>
            <a:r>
              <a:rPr lang="en-US" sz="2000" b="1" dirty="0">
                <a:latin typeface="Arial" panose="020B0604020202020204" pitchFamily="34" charset="0"/>
                <a:cs typeface="Arial" panose="020B0604020202020204" pitchFamily="34" charset="0"/>
              </a:rPr>
              <a:t>By Major Agency</a:t>
            </a:r>
          </a:p>
        </p:txBody>
      </p:sp>
      <p:sp>
        <p:nvSpPr>
          <p:cNvPr id="1047" name="Text Box 23"/>
          <p:cNvSpPr txBox="1">
            <a:spLocks noChangeArrowheads="1"/>
          </p:cNvSpPr>
          <p:nvPr/>
        </p:nvSpPr>
        <p:spPr bwMode="auto">
          <a:xfrm>
            <a:off x="1399911" y="2758839"/>
            <a:ext cx="843501" cy="400110"/>
          </a:xfrm>
          <a:prstGeom prst="rect">
            <a:avLst/>
          </a:prstGeom>
          <a:noFill/>
          <a:ln w="9525">
            <a:noFill/>
            <a:miter lim="800000"/>
            <a:headEnd/>
            <a:tailEnd/>
          </a:ln>
        </p:spPr>
        <p:txBody>
          <a:bodyPr wrap="none">
            <a:spAutoFit/>
          </a:bodyPr>
          <a:lstStyle/>
          <a:p>
            <a:pPr algn="ctr" eaLnBrk="0" hangingPunct="0"/>
            <a:r>
              <a:rPr lang="en-US" sz="1000" b="1" dirty="0">
                <a:latin typeface="Arial" panose="020B0604020202020204" pitchFamily="34" charset="0"/>
                <a:cs typeface="Arial" panose="020B0604020202020204" pitchFamily="34" charset="0"/>
              </a:rPr>
              <a:t>NSF 8%</a:t>
            </a:r>
          </a:p>
          <a:p>
            <a:pPr algn="ctr" eaLnBrk="0" hangingPunct="0"/>
            <a:r>
              <a:rPr lang="en-US" sz="1000" b="1" dirty="0">
                <a:latin typeface="Arial" panose="020B0604020202020204" pitchFamily="34" charset="0"/>
                <a:cs typeface="Arial" panose="020B0604020202020204" pitchFamily="34" charset="0"/>
              </a:rPr>
              <a:t>$5.6 billion</a:t>
            </a:r>
          </a:p>
        </p:txBody>
      </p:sp>
      <p:sp>
        <p:nvSpPr>
          <p:cNvPr id="1048" name="Text Box 24"/>
          <p:cNvSpPr txBox="1">
            <a:spLocks noChangeArrowheads="1"/>
          </p:cNvSpPr>
          <p:nvPr/>
        </p:nvSpPr>
        <p:spPr bwMode="auto">
          <a:xfrm>
            <a:off x="7569635" y="5045949"/>
            <a:ext cx="1011816" cy="553998"/>
          </a:xfrm>
          <a:prstGeom prst="rect">
            <a:avLst/>
          </a:prstGeom>
          <a:noFill/>
          <a:ln w="9525">
            <a:noFill/>
            <a:miter lim="800000"/>
            <a:headEnd/>
            <a:tailEnd/>
          </a:ln>
        </p:spPr>
        <p:txBody>
          <a:bodyPr wrap="none">
            <a:spAutoFit/>
          </a:bodyPr>
          <a:lstStyle/>
          <a:p>
            <a:pPr algn="ctr" eaLnBrk="0" hangingPunct="0"/>
            <a:r>
              <a:rPr lang="en-US" sz="1000" b="1" dirty="0">
                <a:latin typeface="Arial" panose="020B0604020202020204" pitchFamily="34" charset="0"/>
                <a:cs typeface="Arial" panose="020B0604020202020204" pitchFamily="34" charset="0"/>
              </a:rPr>
              <a:t>Life </a:t>
            </a:r>
          </a:p>
          <a:p>
            <a:pPr algn="ctr" eaLnBrk="0" hangingPunct="0"/>
            <a:r>
              <a:rPr lang="en-US" sz="1000" b="1" dirty="0">
                <a:latin typeface="Arial" panose="020B0604020202020204" pitchFamily="34" charset="0"/>
                <a:cs typeface="Arial" panose="020B0604020202020204" pitchFamily="34" charset="0"/>
              </a:rPr>
              <a:t>sciences 48%</a:t>
            </a:r>
          </a:p>
          <a:p>
            <a:pPr algn="ctr" eaLnBrk="0" hangingPunct="0"/>
            <a:r>
              <a:rPr lang="en-US" sz="1000" b="1" dirty="0">
                <a:latin typeface="Arial" panose="020B0604020202020204" pitchFamily="34" charset="0"/>
                <a:cs typeface="Arial" panose="020B0604020202020204" pitchFamily="34" charset="0"/>
              </a:rPr>
              <a:t>$31.9 billion</a:t>
            </a:r>
            <a:endParaRPr lang="en-US" sz="1000" b="1" dirty="0">
              <a:solidFill>
                <a:schemeClr val="bg1"/>
              </a:solidFill>
              <a:latin typeface="Arial" panose="020B0604020202020204" pitchFamily="34" charset="0"/>
              <a:cs typeface="Arial" panose="020B0604020202020204" pitchFamily="34" charset="0"/>
            </a:endParaRPr>
          </a:p>
        </p:txBody>
      </p:sp>
      <p:sp>
        <p:nvSpPr>
          <p:cNvPr id="1049" name="Text Box 25"/>
          <p:cNvSpPr txBox="1">
            <a:spLocks noChangeArrowheads="1"/>
          </p:cNvSpPr>
          <p:nvPr/>
        </p:nvSpPr>
        <p:spPr bwMode="auto">
          <a:xfrm>
            <a:off x="4473594" y="4713436"/>
            <a:ext cx="1231427" cy="553998"/>
          </a:xfrm>
          <a:prstGeom prst="rect">
            <a:avLst/>
          </a:prstGeom>
          <a:noFill/>
          <a:ln w="9525">
            <a:noFill/>
            <a:miter lim="800000"/>
            <a:headEnd/>
            <a:tailEnd/>
          </a:ln>
        </p:spPr>
        <p:txBody>
          <a:bodyPr wrap="none">
            <a:spAutoFit/>
          </a:bodyPr>
          <a:lstStyle/>
          <a:p>
            <a:pPr algn="ctr" eaLnBrk="0" hangingPunct="0"/>
            <a:r>
              <a:rPr lang="en-US" sz="1000" b="1" dirty="0">
                <a:latin typeface="Arial" panose="020B0604020202020204" pitchFamily="34" charset="0"/>
                <a:cs typeface="Arial" panose="020B0604020202020204" pitchFamily="34" charset="0"/>
              </a:rPr>
              <a:t>Other</a:t>
            </a:r>
          </a:p>
          <a:p>
            <a:pPr algn="ctr" eaLnBrk="0" hangingPunct="0"/>
            <a:r>
              <a:rPr lang="en-US" sz="1000" b="1" dirty="0">
                <a:latin typeface="Arial" panose="020B0604020202020204" pitchFamily="34" charset="0"/>
                <a:cs typeface="Arial" panose="020B0604020202020204" pitchFamily="34" charset="0"/>
              </a:rPr>
              <a:t>sciences, </a:t>
            </a:r>
            <a:r>
              <a:rPr lang="en-US" sz="1000" b="1" dirty="0" err="1">
                <a:latin typeface="Arial" panose="020B0604020202020204" pitchFamily="34" charset="0"/>
                <a:cs typeface="Arial" panose="020B0604020202020204" pitchFamily="34" charset="0"/>
              </a:rPr>
              <a:t>nec</a:t>
            </a:r>
            <a:r>
              <a:rPr lang="en-US" sz="1000" b="1" dirty="0">
                <a:latin typeface="Arial" panose="020B0604020202020204" pitchFamily="34" charset="0"/>
                <a:cs typeface="Arial" panose="020B0604020202020204" pitchFamily="34" charset="0"/>
              </a:rPr>
              <a:t> 5%</a:t>
            </a:r>
          </a:p>
          <a:p>
            <a:pPr algn="ctr" eaLnBrk="0" hangingPunct="0"/>
            <a:r>
              <a:rPr lang="en-US" sz="1000" b="1" dirty="0">
                <a:latin typeface="Arial" panose="020B0604020202020204" pitchFamily="34" charset="0"/>
                <a:cs typeface="Arial" panose="020B0604020202020204" pitchFamily="34" charset="0"/>
              </a:rPr>
              <a:t>$3.5 billion</a:t>
            </a:r>
            <a:endParaRPr lang="en-US" sz="1000" b="1" dirty="0">
              <a:solidFill>
                <a:schemeClr val="bg1"/>
              </a:solidFill>
              <a:latin typeface="Arial" panose="020B0604020202020204" pitchFamily="34" charset="0"/>
              <a:cs typeface="Arial" panose="020B0604020202020204" pitchFamily="34" charset="0"/>
            </a:endParaRPr>
          </a:p>
        </p:txBody>
      </p:sp>
      <p:sp>
        <p:nvSpPr>
          <p:cNvPr id="1050" name="Text Box 26"/>
          <p:cNvSpPr txBox="1">
            <a:spLocks noChangeArrowheads="1"/>
          </p:cNvSpPr>
          <p:nvPr/>
        </p:nvSpPr>
        <p:spPr bwMode="auto">
          <a:xfrm>
            <a:off x="443862" y="5021306"/>
            <a:ext cx="843501" cy="400110"/>
          </a:xfrm>
          <a:prstGeom prst="rect">
            <a:avLst/>
          </a:prstGeom>
          <a:noFill/>
          <a:ln w="9525">
            <a:noFill/>
            <a:miter lim="800000"/>
            <a:headEnd/>
            <a:tailEnd/>
          </a:ln>
        </p:spPr>
        <p:txBody>
          <a:bodyPr wrap="none">
            <a:spAutoFit/>
          </a:bodyPr>
          <a:lstStyle/>
          <a:p>
            <a:pPr algn="ctr" eaLnBrk="0" hangingPunct="0"/>
            <a:r>
              <a:rPr lang="en-US" sz="1000" b="1" dirty="0">
                <a:latin typeface="Arial" panose="020B0604020202020204" pitchFamily="34" charset="0"/>
                <a:cs typeface="Arial" panose="020B0604020202020204" pitchFamily="34" charset="0"/>
              </a:rPr>
              <a:t>USDA 3%</a:t>
            </a:r>
          </a:p>
          <a:p>
            <a:pPr algn="ctr" eaLnBrk="0" hangingPunct="0"/>
            <a:r>
              <a:rPr lang="en-US" sz="1000" b="1" dirty="0">
                <a:latin typeface="Arial" panose="020B0604020202020204" pitchFamily="34" charset="0"/>
                <a:cs typeface="Arial" panose="020B0604020202020204" pitchFamily="34" charset="0"/>
              </a:rPr>
              <a:t>$2.2 billion</a:t>
            </a:r>
          </a:p>
        </p:txBody>
      </p:sp>
      <p:sp>
        <p:nvSpPr>
          <p:cNvPr id="1051" name="Text Box 27"/>
          <p:cNvSpPr txBox="1">
            <a:spLocks noChangeArrowheads="1"/>
          </p:cNvSpPr>
          <p:nvPr/>
        </p:nvSpPr>
        <p:spPr bwMode="auto">
          <a:xfrm>
            <a:off x="4254562" y="4126091"/>
            <a:ext cx="1357313" cy="396875"/>
          </a:xfrm>
          <a:prstGeom prst="rect">
            <a:avLst/>
          </a:prstGeom>
          <a:noFill/>
          <a:ln w="9525">
            <a:noFill/>
            <a:miter lim="800000"/>
            <a:headEnd/>
            <a:tailEnd/>
          </a:ln>
        </p:spPr>
        <p:txBody>
          <a:bodyPr>
            <a:spAutoFit/>
          </a:bodyPr>
          <a:lstStyle/>
          <a:p>
            <a:pPr algn="ctr" eaLnBrk="0" hangingPunct="0"/>
            <a:r>
              <a:rPr lang="en-US" sz="1000" b="1" dirty="0">
                <a:latin typeface="Arial" panose="020B0604020202020204" pitchFamily="34" charset="0"/>
                <a:cs typeface="Arial" panose="020B0604020202020204" pitchFamily="34" charset="0"/>
              </a:rPr>
              <a:t>Psychology 3%</a:t>
            </a:r>
          </a:p>
          <a:p>
            <a:pPr algn="ctr" eaLnBrk="0" hangingPunct="0"/>
            <a:r>
              <a:rPr lang="en-US" sz="1000" b="1" dirty="0">
                <a:latin typeface="Arial" panose="020B0604020202020204" pitchFamily="34" charset="0"/>
                <a:cs typeface="Arial" panose="020B0604020202020204" pitchFamily="34" charset="0"/>
              </a:rPr>
              <a:t>$2.0 billion</a:t>
            </a:r>
          </a:p>
        </p:txBody>
      </p:sp>
      <p:sp>
        <p:nvSpPr>
          <p:cNvPr id="1052" name="Text Box 29"/>
          <p:cNvSpPr txBox="1">
            <a:spLocks noChangeArrowheads="1"/>
          </p:cNvSpPr>
          <p:nvPr/>
        </p:nvSpPr>
        <p:spPr bwMode="auto">
          <a:xfrm>
            <a:off x="4947654" y="2922588"/>
            <a:ext cx="1072731" cy="553998"/>
          </a:xfrm>
          <a:prstGeom prst="rect">
            <a:avLst/>
          </a:prstGeom>
          <a:noFill/>
          <a:ln w="9525">
            <a:noFill/>
            <a:miter lim="800000"/>
            <a:headEnd/>
            <a:tailEnd/>
          </a:ln>
        </p:spPr>
        <p:txBody>
          <a:bodyPr wrap="none">
            <a:spAutoFit/>
          </a:bodyPr>
          <a:lstStyle/>
          <a:p>
            <a:pPr algn="ctr" eaLnBrk="0" hangingPunct="0"/>
            <a:r>
              <a:rPr lang="en-US" sz="1000" b="1" dirty="0">
                <a:latin typeface="Arial" panose="020B0604020202020204" pitchFamily="34" charset="0"/>
                <a:cs typeface="Arial" panose="020B0604020202020204" pitchFamily="34" charset="0"/>
              </a:rPr>
              <a:t>Environmental</a:t>
            </a:r>
          </a:p>
          <a:p>
            <a:pPr algn="ctr" eaLnBrk="0" hangingPunct="0"/>
            <a:r>
              <a:rPr lang="en-US" sz="1000" b="1" dirty="0">
                <a:latin typeface="Arial" panose="020B0604020202020204" pitchFamily="34" charset="0"/>
                <a:cs typeface="Arial" panose="020B0604020202020204" pitchFamily="34" charset="0"/>
              </a:rPr>
              <a:t>sciences 7%</a:t>
            </a:r>
          </a:p>
          <a:p>
            <a:pPr algn="ctr" eaLnBrk="0" hangingPunct="0"/>
            <a:r>
              <a:rPr lang="en-US" sz="1000" b="1" dirty="0">
                <a:latin typeface="Arial" panose="020B0604020202020204" pitchFamily="34" charset="0"/>
                <a:cs typeface="Arial" panose="020B0604020202020204" pitchFamily="34" charset="0"/>
              </a:rPr>
              <a:t>$4.4 billion</a:t>
            </a:r>
          </a:p>
        </p:txBody>
      </p:sp>
      <p:sp>
        <p:nvSpPr>
          <p:cNvPr id="1053" name="Line 30"/>
          <p:cNvSpPr>
            <a:spLocks noChangeShapeType="1"/>
          </p:cNvSpPr>
          <p:nvPr/>
        </p:nvSpPr>
        <p:spPr bwMode="auto">
          <a:xfrm flipV="1">
            <a:off x="5295900" y="4741401"/>
            <a:ext cx="228600" cy="25400"/>
          </a:xfrm>
          <a:prstGeom prst="line">
            <a:avLst/>
          </a:prstGeom>
          <a:noFill/>
          <a:ln w="9525">
            <a:solidFill>
              <a:schemeClr val="tx1"/>
            </a:solidFill>
            <a:round/>
            <a:headEnd/>
            <a:tailEnd type="triangle" w="sm" len="sm"/>
          </a:ln>
        </p:spPr>
        <p:txBody>
          <a:bodyPr/>
          <a:lstStyle/>
          <a:p>
            <a:endParaRPr lang="en-US">
              <a:latin typeface="Arial" panose="020B0604020202020204" pitchFamily="34" charset="0"/>
              <a:cs typeface="Arial" panose="020B0604020202020204" pitchFamily="34" charset="0"/>
            </a:endParaRPr>
          </a:p>
        </p:txBody>
      </p:sp>
      <p:sp>
        <p:nvSpPr>
          <p:cNvPr id="1054" name="Line 31"/>
          <p:cNvSpPr>
            <a:spLocks noChangeShapeType="1"/>
          </p:cNvSpPr>
          <p:nvPr/>
        </p:nvSpPr>
        <p:spPr bwMode="auto">
          <a:xfrm>
            <a:off x="5372100" y="4305300"/>
            <a:ext cx="152400" cy="50800"/>
          </a:xfrm>
          <a:prstGeom prst="line">
            <a:avLst/>
          </a:prstGeom>
          <a:noFill/>
          <a:ln w="9525">
            <a:solidFill>
              <a:schemeClr val="tx1"/>
            </a:solidFill>
            <a:round/>
            <a:headEnd/>
            <a:tailEnd type="triangle" w="sm" len="sm"/>
          </a:ln>
        </p:spPr>
        <p:txBody>
          <a:bodyPr/>
          <a:lstStyle/>
          <a:p>
            <a:endParaRPr lang="en-US">
              <a:latin typeface="Arial" panose="020B0604020202020204" pitchFamily="34" charset="0"/>
              <a:cs typeface="Arial" panose="020B0604020202020204" pitchFamily="34" charset="0"/>
            </a:endParaRPr>
          </a:p>
        </p:txBody>
      </p:sp>
      <p:sp>
        <p:nvSpPr>
          <p:cNvPr id="1055" name="Line 32"/>
          <p:cNvSpPr>
            <a:spLocks noChangeShapeType="1"/>
          </p:cNvSpPr>
          <p:nvPr/>
        </p:nvSpPr>
        <p:spPr bwMode="auto">
          <a:xfrm>
            <a:off x="5143500" y="3791129"/>
            <a:ext cx="457200" cy="152400"/>
          </a:xfrm>
          <a:prstGeom prst="line">
            <a:avLst/>
          </a:prstGeom>
          <a:noFill/>
          <a:ln w="9525">
            <a:solidFill>
              <a:schemeClr val="tx1"/>
            </a:solidFill>
            <a:round/>
            <a:headEnd/>
            <a:tailEnd type="triangle" w="sm" len="sm"/>
          </a:ln>
        </p:spPr>
        <p:txBody>
          <a:bodyPr/>
          <a:lstStyle/>
          <a:p>
            <a:endParaRPr lang="en-US">
              <a:latin typeface="Arial" panose="020B0604020202020204" pitchFamily="34" charset="0"/>
              <a:cs typeface="Arial" panose="020B0604020202020204" pitchFamily="34" charset="0"/>
            </a:endParaRPr>
          </a:p>
        </p:txBody>
      </p:sp>
      <p:sp>
        <p:nvSpPr>
          <p:cNvPr id="1056" name="Rectangle 33"/>
          <p:cNvSpPr>
            <a:spLocks noChangeArrowheads="1"/>
          </p:cNvSpPr>
          <p:nvPr/>
        </p:nvSpPr>
        <p:spPr bwMode="auto">
          <a:xfrm>
            <a:off x="5537200" y="1965325"/>
            <a:ext cx="2720617" cy="400110"/>
          </a:xfrm>
          <a:prstGeom prst="rect">
            <a:avLst/>
          </a:prstGeom>
          <a:noFill/>
          <a:ln w="9525">
            <a:noFill/>
            <a:miter lim="800000"/>
            <a:headEnd/>
            <a:tailEnd/>
          </a:ln>
        </p:spPr>
        <p:txBody>
          <a:bodyPr wrap="none">
            <a:spAutoFit/>
          </a:bodyPr>
          <a:lstStyle/>
          <a:p>
            <a:pPr eaLnBrk="0" hangingPunct="0"/>
            <a:r>
              <a:rPr lang="en-US" sz="2000" b="1" dirty="0">
                <a:latin typeface="Arial" panose="020B0604020202020204" pitchFamily="34" charset="0"/>
                <a:cs typeface="Arial" panose="020B0604020202020204" pitchFamily="34" charset="0"/>
              </a:rPr>
              <a:t>By Field of Research</a:t>
            </a:r>
          </a:p>
        </p:txBody>
      </p:sp>
      <p:sp>
        <p:nvSpPr>
          <p:cNvPr id="1057" name="Text Box 34"/>
          <p:cNvSpPr txBox="1">
            <a:spLocks noChangeArrowheads="1"/>
          </p:cNvSpPr>
          <p:nvPr/>
        </p:nvSpPr>
        <p:spPr bwMode="auto">
          <a:xfrm>
            <a:off x="886348" y="5429353"/>
            <a:ext cx="843501" cy="400110"/>
          </a:xfrm>
          <a:prstGeom prst="rect">
            <a:avLst/>
          </a:prstGeom>
          <a:noFill/>
          <a:ln w="9525">
            <a:noFill/>
            <a:miter lim="800000"/>
            <a:headEnd/>
            <a:tailEnd/>
          </a:ln>
        </p:spPr>
        <p:txBody>
          <a:bodyPr wrap="none">
            <a:spAutoFit/>
          </a:bodyPr>
          <a:lstStyle/>
          <a:p>
            <a:pPr algn="ctr" eaLnBrk="0" hangingPunct="0"/>
            <a:r>
              <a:rPr lang="en-US" sz="1000" b="1" dirty="0">
                <a:latin typeface="Arial" panose="020B0604020202020204" pitchFamily="34" charset="0"/>
                <a:cs typeface="Arial" panose="020B0604020202020204" pitchFamily="34" charset="0"/>
              </a:rPr>
              <a:t>Other 7%</a:t>
            </a:r>
          </a:p>
          <a:p>
            <a:pPr algn="ctr" eaLnBrk="0" hangingPunct="0"/>
            <a:r>
              <a:rPr lang="en-US" sz="1000" b="1" dirty="0">
                <a:latin typeface="Arial" panose="020B0604020202020204" pitchFamily="34" charset="0"/>
                <a:cs typeface="Arial" panose="020B0604020202020204" pitchFamily="34" charset="0"/>
              </a:rPr>
              <a:t>$4.9 billion</a:t>
            </a:r>
          </a:p>
        </p:txBody>
      </p:sp>
      <p:pic>
        <p:nvPicPr>
          <p:cNvPr id="34" name="Picture 8" descr="nsf2"/>
          <p:cNvPicPr>
            <a:picLocks noChangeAspect="1" noChangeArrowheads="1"/>
          </p:cNvPicPr>
          <p:nvPr/>
        </p:nvPicPr>
        <p:blipFill>
          <a:blip r:embed="rId7" cstate="print"/>
          <a:srcRect/>
          <a:stretch>
            <a:fillRect/>
          </a:stretch>
        </p:blipFill>
        <p:spPr bwMode="auto">
          <a:xfrm>
            <a:off x="76200" y="79375"/>
            <a:ext cx="533400" cy="530225"/>
          </a:xfrm>
          <a:prstGeom prst="rect">
            <a:avLst/>
          </a:prstGeom>
          <a:noFill/>
          <a:ln w="9525">
            <a:noFill/>
            <a:miter lim="800000"/>
            <a:headEnd/>
            <a:tailEnd/>
          </a:ln>
        </p:spPr>
      </p:pic>
      <p:pic>
        <p:nvPicPr>
          <p:cNvPr id="35" name="Picture 34" descr="NCSES_logo_oneline_150.eps"/>
          <p:cNvPicPr>
            <a:picLocks noChangeAspect="1"/>
          </p:cNvPicPr>
          <p:nvPr/>
        </p:nvPicPr>
        <p:blipFill>
          <a:blip r:embed="rId8" cstate="print"/>
          <a:srcRect/>
          <a:stretch>
            <a:fillRect/>
          </a:stretch>
        </p:blipFill>
        <p:spPr bwMode="auto">
          <a:xfrm>
            <a:off x="4114800" y="134938"/>
            <a:ext cx="5029200" cy="474662"/>
          </a:xfrm>
          <a:prstGeom prst="rect">
            <a:avLst/>
          </a:prstGeom>
          <a:noFill/>
          <a:ln w="9525">
            <a:noFill/>
            <a:miter lim="800000"/>
            <a:headEnd/>
            <a:tailEnd/>
          </a:ln>
        </p:spPr>
      </p:pic>
      <p:sp>
        <p:nvSpPr>
          <p:cNvPr id="33" name="Rectangle 4"/>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2183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4"/>
          <p:cNvSpPr>
            <a:spLocks noGrp="1"/>
          </p:cNvSpPr>
          <p:nvPr>
            <p:ph type="sldNum" sz="quarter" idx="12"/>
          </p:nvPr>
        </p:nvSpPr>
        <p:spPr>
          <a:noFill/>
        </p:spPr>
        <p:txBody>
          <a:bodyPr/>
          <a:lstStyle/>
          <a:p>
            <a:fld id="{FA9D281B-5408-4080-A975-3A2570992ED4}" type="slidenum">
              <a:rPr lang="en-US" smtClean="0"/>
              <a:pPr/>
              <a:t>20</a:t>
            </a:fld>
            <a:endParaRPr lang="en-US"/>
          </a:p>
        </p:txBody>
      </p:sp>
      <p:sp>
        <p:nvSpPr>
          <p:cNvPr id="8195" name="Rectangle 2"/>
          <p:cNvSpPr>
            <a:spLocks noGrp="1" noChangeArrowheads="1"/>
          </p:cNvSpPr>
          <p:nvPr>
            <p:ph type="title"/>
          </p:nvPr>
        </p:nvSpPr>
        <p:spPr>
          <a:xfrm>
            <a:off x="680156" y="909599"/>
            <a:ext cx="7772400" cy="533400"/>
          </a:xfrm>
        </p:spPr>
        <p:txBody>
          <a:bodyPr/>
          <a:lstStyle/>
          <a:p>
            <a:pPr eaLnBrk="1" hangingPunct="1"/>
            <a:r>
              <a:rPr lang="en-US" sz="2800" b="1" dirty="0">
                <a:latin typeface="Arial" panose="020B0604020202020204" pitchFamily="34" charset="0"/>
                <a:cs typeface="Arial" panose="020B0604020202020204" pitchFamily="34" charset="0"/>
              </a:rPr>
              <a:t>Federal S&amp;E Support Survey Variables</a:t>
            </a:r>
          </a:p>
        </p:txBody>
      </p:sp>
      <p:sp>
        <p:nvSpPr>
          <p:cNvPr id="8200" name="Rectangle 7"/>
          <p:cNvSpPr>
            <a:spLocks noChangeArrowheads="1"/>
          </p:cNvSpPr>
          <p:nvPr/>
        </p:nvSpPr>
        <p:spPr bwMode="auto">
          <a:xfrm>
            <a:off x="680156" y="1624465"/>
            <a:ext cx="8235244" cy="5078313"/>
          </a:xfrm>
          <a:prstGeom prst="rect">
            <a:avLst/>
          </a:prstGeom>
          <a:noFill/>
          <a:ln w="9525">
            <a:noFill/>
            <a:miter lim="800000"/>
            <a:headEnd/>
            <a:tailEnd/>
          </a:ln>
        </p:spPr>
        <p:txBody>
          <a:bodyPr wrap="square">
            <a:spAutoFit/>
          </a:bodyPr>
          <a:lstStyle/>
          <a:p>
            <a:pPr>
              <a:buFontTx/>
              <a:buChar char="•"/>
            </a:pPr>
            <a:r>
              <a:rPr lang="en-US" sz="2000" dirty="0">
                <a:latin typeface="Arial" panose="020B0604020202020204" pitchFamily="34" charset="0"/>
                <a:cs typeface="Arial" panose="020B0604020202020204" pitchFamily="34" charset="0"/>
              </a:rPr>
              <a:t>  R&amp;D data collected from 19 federal agencies that account for virtually all S&amp;E R&amp;D obligated to academic institutions. (100% response)</a:t>
            </a:r>
          </a:p>
          <a:p>
            <a:pPr>
              <a:buFontTx/>
              <a:buChar char="•"/>
            </a:pPr>
            <a:endParaRPr lang="en-US" sz="2000" dirty="0">
              <a:latin typeface="Arial" panose="020B0604020202020204" pitchFamily="34" charset="0"/>
              <a:cs typeface="Arial" panose="020B0604020202020204" pitchFamily="34" charset="0"/>
            </a:endParaRPr>
          </a:p>
          <a:p>
            <a:pPr>
              <a:buFontTx/>
              <a:buChar char="•"/>
            </a:pPr>
            <a:r>
              <a:rPr lang="en-US" sz="2000" dirty="0">
                <a:latin typeface="Arial" panose="020B0604020202020204" pitchFamily="34" charset="0"/>
                <a:cs typeface="Arial" panose="020B0604020202020204" pitchFamily="34" charset="0"/>
              </a:rPr>
              <a:t>Annual survey collecting past year S&amp;E obligations</a:t>
            </a:r>
          </a:p>
          <a:p>
            <a:pPr>
              <a:buFontTx/>
              <a:buChar char="•"/>
            </a:pPr>
            <a:r>
              <a:rPr lang="en-US" sz="2000" dirty="0">
                <a:latin typeface="Arial" panose="020B0604020202020204" pitchFamily="34" charset="0"/>
                <a:cs typeface="Arial" panose="020B0604020202020204" pitchFamily="34" charset="0"/>
              </a:rPr>
              <a:t> By funding agency</a:t>
            </a:r>
          </a:p>
          <a:p>
            <a:pPr>
              <a:buFontTx/>
              <a:buChar char="•"/>
            </a:pPr>
            <a:r>
              <a:rPr lang="en-US" sz="2000" dirty="0">
                <a:latin typeface="Arial" panose="020B0604020202020204" pitchFamily="34" charset="0"/>
                <a:cs typeface="Arial" panose="020B0604020202020204" pitchFamily="34" charset="0"/>
              </a:rPr>
              <a:t> To individual named institutions</a:t>
            </a:r>
          </a:p>
          <a:p>
            <a:pPr lvl="1">
              <a:buFontTx/>
              <a:buChar char="•"/>
            </a:pPr>
            <a:r>
              <a:rPr lang="en-US" sz="2000" dirty="0">
                <a:latin typeface="Arial" panose="020B0604020202020204" pitchFamily="34" charset="0"/>
                <a:cs typeface="Arial" panose="020B0604020202020204" pitchFamily="34" charset="0"/>
              </a:rPr>
              <a:t>Educational institutions (minority serving subsets)</a:t>
            </a:r>
          </a:p>
          <a:p>
            <a:pPr lvl="1">
              <a:buFontTx/>
              <a:buChar char="•"/>
            </a:pPr>
            <a:r>
              <a:rPr lang="en-US" sz="2000" dirty="0">
                <a:latin typeface="Arial" panose="020B0604020202020204" pitchFamily="34" charset="0"/>
                <a:cs typeface="Arial" panose="020B0604020202020204" pitchFamily="34" charset="0"/>
              </a:rPr>
              <a:t>Nonprofit institutions</a:t>
            </a:r>
          </a:p>
          <a:p>
            <a:pPr>
              <a:buFontTx/>
              <a:buChar char="•"/>
            </a:pPr>
            <a:r>
              <a:rPr lang="en-US" sz="2000" dirty="0">
                <a:latin typeface="Arial" panose="020B0604020202020204" pitchFamily="34" charset="0"/>
                <a:cs typeface="Arial" panose="020B0604020202020204" pitchFamily="34" charset="0"/>
              </a:rPr>
              <a:t> For science and engineering activity</a:t>
            </a:r>
          </a:p>
          <a:p>
            <a:pPr lvl="1">
              <a:buFontTx/>
              <a:buChar char="•"/>
            </a:pPr>
            <a:r>
              <a:rPr lang="en-US" sz="2000" dirty="0">
                <a:latin typeface="Arial" panose="020B0604020202020204" pitchFamily="34" charset="0"/>
                <a:cs typeface="Arial" panose="020B0604020202020204" pitchFamily="34" charset="0"/>
              </a:rPr>
              <a:t>S&amp;E R&amp;D</a:t>
            </a:r>
          </a:p>
          <a:p>
            <a:pPr lvl="1">
              <a:buFontTx/>
              <a:buChar char="•"/>
            </a:pPr>
            <a:r>
              <a:rPr lang="en-US" sz="2000" dirty="0">
                <a:latin typeface="Arial" panose="020B0604020202020204" pitchFamily="34" charset="0"/>
                <a:cs typeface="Arial" panose="020B0604020202020204" pitchFamily="34" charset="0"/>
              </a:rPr>
              <a:t>R&amp;D plant</a:t>
            </a:r>
          </a:p>
          <a:p>
            <a:pPr lvl="1">
              <a:buFontTx/>
              <a:buChar char="•"/>
            </a:pPr>
            <a:r>
              <a:rPr lang="en-US" sz="2000" dirty="0">
                <a:latin typeface="Arial" panose="020B0604020202020204" pitchFamily="34" charset="0"/>
                <a:cs typeface="Arial" panose="020B0604020202020204" pitchFamily="34" charset="0"/>
              </a:rPr>
              <a:t>Facilities for instruction in S&amp;E</a:t>
            </a:r>
          </a:p>
          <a:p>
            <a:pPr lvl="1">
              <a:buFontTx/>
              <a:buChar char="•"/>
            </a:pPr>
            <a:r>
              <a:rPr lang="en-US" sz="2000" dirty="0">
                <a:latin typeface="Arial" panose="020B0604020202020204" pitchFamily="34" charset="0"/>
                <a:cs typeface="Arial" panose="020B0604020202020204" pitchFamily="34" charset="0"/>
              </a:rPr>
              <a:t>Fellowships, traineeships and training grants</a:t>
            </a:r>
          </a:p>
          <a:p>
            <a:pPr lvl="1">
              <a:buFontTx/>
              <a:buChar char="•"/>
            </a:pPr>
            <a:r>
              <a:rPr lang="en-US" sz="2000" dirty="0">
                <a:latin typeface="Arial" panose="020B0604020202020204" pitchFamily="34" charset="0"/>
                <a:cs typeface="Arial" panose="020B0604020202020204" pitchFamily="34" charset="0"/>
              </a:rPr>
              <a:t>General support for S&amp;E</a:t>
            </a:r>
          </a:p>
          <a:p>
            <a:pPr lvl="1">
              <a:buFontTx/>
              <a:buChar char="•"/>
            </a:pPr>
            <a:r>
              <a:rPr lang="en-US" sz="2000" dirty="0">
                <a:latin typeface="Arial" panose="020B0604020202020204" pitchFamily="34" charset="0"/>
                <a:cs typeface="Arial" panose="020B0604020202020204" pitchFamily="34" charset="0"/>
              </a:rPr>
              <a:t>Other S&amp;E activities (conferences, institutes etc)</a:t>
            </a:r>
          </a:p>
          <a:p>
            <a:pPr lvl="1"/>
            <a:endParaRPr lang="en-US" dirty="0"/>
          </a:p>
        </p:txBody>
      </p:sp>
      <p:pic>
        <p:nvPicPr>
          <p:cNvPr id="9" name="Picture 8" descr="nsf2"/>
          <p:cNvPicPr>
            <a:picLocks noChangeAspect="1" noChangeArrowheads="1"/>
          </p:cNvPicPr>
          <p:nvPr/>
        </p:nvPicPr>
        <p:blipFill>
          <a:blip r:embed="rId2" cstate="print"/>
          <a:srcRect/>
          <a:stretch>
            <a:fillRect/>
          </a:stretch>
        </p:blipFill>
        <p:spPr bwMode="auto">
          <a:xfrm>
            <a:off x="76200" y="79375"/>
            <a:ext cx="533400" cy="530225"/>
          </a:xfrm>
          <a:prstGeom prst="rect">
            <a:avLst/>
          </a:prstGeom>
          <a:noFill/>
          <a:ln w="9525">
            <a:noFill/>
            <a:miter lim="800000"/>
            <a:headEnd/>
            <a:tailEnd/>
          </a:ln>
        </p:spPr>
      </p:pic>
      <p:pic>
        <p:nvPicPr>
          <p:cNvPr id="10" name="Picture 9" descr="NCSES_logo_oneline_150.eps"/>
          <p:cNvPicPr>
            <a:picLocks noChangeAspect="1"/>
          </p:cNvPicPr>
          <p:nvPr/>
        </p:nvPicPr>
        <p:blipFill>
          <a:blip r:embed="rId3" cstate="print"/>
          <a:srcRect/>
          <a:stretch>
            <a:fillRect/>
          </a:stretch>
        </p:blipFill>
        <p:spPr bwMode="auto">
          <a:xfrm>
            <a:off x="4114800" y="134938"/>
            <a:ext cx="5029200" cy="474662"/>
          </a:xfrm>
          <a:prstGeom prst="rect">
            <a:avLst/>
          </a:prstGeom>
          <a:noFill/>
          <a:ln w="9525">
            <a:noFill/>
            <a:miter lim="800000"/>
            <a:headEnd/>
            <a:tailEnd/>
          </a:ln>
        </p:spPr>
      </p:pic>
      <p:sp>
        <p:nvSpPr>
          <p:cNvPr id="8" name="Rectangle 4"/>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9946913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4"/>
          <p:cNvSpPr>
            <a:spLocks noGrp="1"/>
          </p:cNvSpPr>
          <p:nvPr>
            <p:ph type="sldNum" sz="quarter" idx="12"/>
          </p:nvPr>
        </p:nvSpPr>
        <p:spPr>
          <a:noFill/>
        </p:spPr>
        <p:txBody>
          <a:bodyPr/>
          <a:lstStyle/>
          <a:p>
            <a:fld id="{FA9D281B-5408-4080-A975-3A2570992ED4}" type="slidenum">
              <a:rPr lang="en-US" smtClean="0"/>
              <a:pPr/>
              <a:t>21</a:t>
            </a:fld>
            <a:endParaRPr lang="en-US"/>
          </a:p>
        </p:txBody>
      </p:sp>
      <p:sp>
        <p:nvSpPr>
          <p:cNvPr id="8195" name="Rectangle 2"/>
          <p:cNvSpPr>
            <a:spLocks noGrp="1" noChangeArrowheads="1"/>
          </p:cNvSpPr>
          <p:nvPr>
            <p:ph type="title"/>
          </p:nvPr>
        </p:nvSpPr>
        <p:spPr>
          <a:xfrm>
            <a:off x="598311" y="908766"/>
            <a:ext cx="7772400" cy="533400"/>
          </a:xfrm>
        </p:spPr>
        <p:txBody>
          <a:bodyPr/>
          <a:lstStyle/>
          <a:p>
            <a:pPr eaLnBrk="1" hangingPunct="1"/>
            <a:r>
              <a:rPr lang="en-US" sz="2800" b="1" dirty="0">
                <a:latin typeface="Arial" panose="020B0604020202020204" pitchFamily="34" charset="0"/>
                <a:cs typeface="Arial" panose="020B0604020202020204" pitchFamily="34" charset="0"/>
              </a:rPr>
              <a:t>Federal academic science and engineering obligations, by activity and agency: FY 2017</a:t>
            </a:r>
          </a:p>
        </p:txBody>
      </p:sp>
      <p:pic>
        <p:nvPicPr>
          <p:cNvPr id="9" name="Picture 8" descr="nsf2"/>
          <p:cNvPicPr>
            <a:picLocks noChangeAspect="1" noChangeArrowheads="1"/>
          </p:cNvPicPr>
          <p:nvPr/>
        </p:nvPicPr>
        <p:blipFill>
          <a:blip r:embed="rId2" cstate="print"/>
          <a:srcRect/>
          <a:stretch>
            <a:fillRect/>
          </a:stretch>
        </p:blipFill>
        <p:spPr bwMode="auto">
          <a:xfrm>
            <a:off x="76200" y="79375"/>
            <a:ext cx="533400" cy="530225"/>
          </a:xfrm>
          <a:prstGeom prst="rect">
            <a:avLst/>
          </a:prstGeom>
          <a:noFill/>
          <a:ln w="9525">
            <a:noFill/>
            <a:miter lim="800000"/>
            <a:headEnd/>
            <a:tailEnd/>
          </a:ln>
        </p:spPr>
      </p:pic>
      <p:pic>
        <p:nvPicPr>
          <p:cNvPr id="10" name="Picture 9" descr="NCSES_logo_oneline_150.eps"/>
          <p:cNvPicPr>
            <a:picLocks noChangeAspect="1"/>
          </p:cNvPicPr>
          <p:nvPr/>
        </p:nvPicPr>
        <p:blipFill>
          <a:blip r:embed="rId3" cstate="print"/>
          <a:srcRect/>
          <a:stretch>
            <a:fillRect/>
          </a:stretch>
        </p:blipFill>
        <p:spPr bwMode="auto">
          <a:xfrm>
            <a:off x="4114800" y="134938"/>
            <a:ext cx="5029200" cy="474662"/>
          </a:xfrm>
          <a:prstGeom prst="rect">
            <a:avLst/>
          </a:prstGeom>
          <a:noFill/>
          <a:ln w="9525">
            <a:noFill/>
            <a:miter lim="800000"/>
            <a:headEnd/>
            <a:tailEnd/>
          </a:ln>
        </p:spPr>
      </p:pic>
      <p:sp>
        <p:nvSpPr>
          <p:cNvPr id="8" name="Rectangle 4"/>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graphicFrame>
        <p:nvGraphicFramePr>
          <p:cNvPr id="3" name="Table 2"/>
          <p:cNvGraphicFramePr>
            <a:graphicFrameLocks noGrp="1"/>
          </p:cNvGraphicFramePr>
          <p:nvPr/>
        </p:nvGraphicFramePr>
        <p:xfrm>
          <a:off x="386646" y="1671721"/>
          <a:ext cx="8077198" cy="4408412"/>
        </p:xfrm>
        <a:graphic>
          <a:graphicData uri="http://schemas.openxmlformats.org/drawingml/2006/table">
            <a:tbl>
              <a:tblPr>
                <a:tableStyleId>{5C22544A-7EE6-4342-B048-85BDC9FD1C3A}</a:tableStyleId>
              </a:tblPr>
              <a:tblGrid>
                <a:gridCol w="2358419">
                  <a:extLst>
                    <a:ext uri="{9D8B030D-6E8A-4147-A177-3AD203B41FA5}">
                      <a16:colId xmlns:a16="http://schemas.microsoft.com/office/drawing/2014/main" val="20000"/>
                    </a:ext>
                  </a:extLst>
                </a:gridCol>
                <a:gridCol w="755310">
                  <a:extLst>
                    <a:ext uri="{9D8B030D-6E8A-4147-A177-3AD203B41FA5}">
                      <a16:colId xmlns:a16="http://schemas.microsoft.com/office/drawing/2014/main" val="20001"/>
                    </a:ext>
                  </a:extLst>
                </a:gridCol>
                <a:gridCol w="709067">
                  <a:extLst>
                    <a:ext uri="{9D8B030D-6E8A-4147-A177-3AD203B41FA5}">
                      <a16:colId xmlns:a16="http://schemas.microsoft.com/office/drawing/2014/main" val="20002"/>
                    </a:ext>
                  </a:extLst>
                </a:gridCol>
                <a:gridCol w="709067">
                  <a:extLst>
                    <a:ext uri="{9D8B030D-6E8A-4147-A177-3AD203B41FA5}">
                      <a16:colId xmlns:a16="http://schemas.microsoft.com/office/drawing/2014/main" val="20003"/>
                    </a:ext>
                  </a:extLst>
                </a:gridCol>
                <a:gridCol w="709067">
                  <a:extLst>
                    <a:ext uri="{9D8B030D-6E8A-4147-A177-3AD203B41FA5}">
                      <a16:colId xmlns:a16="http://schemas.microsoft.com/office/drawing/2014/main" val="20004"/>
                    </a:ext>
                  </a:extLst>
                </a:gridCol>
                <a:gridCol w="709067">
                  <a:extLst>
                    <a:ext uri="{9D8B030D-6E8A-4147-A177-3AD203B41FA5}">
                      <a16:colId xmlns:a16="http://schemas.microsoft.com/office/drawing/2014/main" val="20005"/>
                    </a:ext>
                  </a:extLst>
                </a:gridCol>
                <a:gridCol w="709067">
                  <a:extLst>
                    <a:ext uri="{9D8B030D-6E8A-4147-A177-3AD203B41FA5}">
                      <a16:colId xmlns:a16="http://schemas.microsoft.com/office/drawing/2014/main" val="20006"/>
                    </a:ext>
                  </a:extLst>
                </a:gridCol>
                <a:gridCol w="709067">
                  <a:extLst>
                    <a:ext uri="{9D8B030D-6E8A-4147-A177-3AD203B41FA5}">
                      <a16:colId xmlns:a16="http://schemas.microsoft.com/office/drawing/2014/main" val="20007"/>
                    </a:ext>
                  </a:extLst>
                </a:gridCol>
                <a:gridCol w="709067">
                  <a:extLst>
                    <a:ext uri="{9D8B030D-6E8A-4147-A177-3AD203B41FA5}">
                      <a16:colId xmlns:a16="http://schemas.microsoft.com/office/drawing/2014/main" val="20008"/>
                    </a:ext>
                  </a:extLst>
                </a:gridCol>
              </a:tblGrid>
              <a:tr h="491560">
                <a:tc>
                  <a:txBody>
                    <a:bodyPr/>
                    <a:lstStyle/>
                    <a:p>
                      <a:pPr algn="l" fontAlgn="b"/>
                      <a:r>
                        <a:rPr lang="en-US" sz="1050" u="none" strike="noStrike" dirty="0">
                          <a:effectLst/>
                          <a:latin typeface="Arial" panose="020B0604020202020204" pitchFamily="34" charset="0"/>
                          <a:cs typeface="Arial" panose="020B0604020202020204" pitchFamily="34" charset="0"/>
                        </a:rPr>
                        <a:t>Activity (Dollars in millions)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r>
                        <a:rPr lang="en-US" sz="1050" u="none" strike="noStrike" dirty="0">
                          <a:effectLst/>
                          <a:latin typeface="Arial" panose="020B0604020202020204" pitchFamily="34" charset="0"/>
                          <a:cs typeface="Arial" panose="020B0604020202020204" pitchFamily="34" charset="0"/>
                        </a:rPr>
                        <a:t>All federal obligations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r>
                        <a:rPr lang="en-US" sz="1050" u="none" strike="noStrike" dirty="0">
                          <a:effectLst/>
                          <a:latin typeface="Arial" panose="020B0604020202020204" pitchFamily="34" charset="0"/>
                          <a:cs typeface="Arial" panose="020B0604020202020204" pitchFamily="34" charset="0"/>
                        </a:rPr>
                        <a:t>DOD</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r>
                        <a:rPr lang="en-US" sz="1050" u="none" strike="noStrike" dirty="0">
                          <a:effectLst/>
                          <a:latin typeface="Arial" panose="020B0604020202020204" pitchFamily="34" charset="0"/>
                          <a:cs typeface="Arial" panose="020B0604020202020204" pitchFamily="34" charset="0"/>
                        </a:rPr>
                        <a:t>DOE</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r>
                        <a:rPr lang="en-US" sz="1050" u="none" strike="noStrike" dirty="0">
                          <a:effectLst/>
                          <a:latin typeface="Arial" panose="020B0604020202020204" pitchFamily="34" charset="0"/>
                          <a:cs typeface="Arial" panose="020B0604020202020204" pitchFamily="34" charset="0"/>
                        </a:rPr>
                        <a:t>HHS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r>
                        <a:rPr lang="en-US" sz="1050" u="none" strike="noStrike" dirty="0">
                          <a:effectLst/>
                          <a:latin typeface="Arial" panose="020B0604020202020204" pitchFamily="34" charset="0"/>
                          <a:cs typeface="Arial" panose="020B0604020202020204" pitchFamily="34" charset="0"/>
                        </a:rPr>
                        <a:t>NASA</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r>
                        <a:rPr lang="en-US" sz="1050" u="none" strike="noStrike" dirty="0">
                          <a:effectLst/>
                          <a:latin typeface="Arial" panose="020B0604020202020204" pitchFamily="34" charset="0"/>
                          <a:cs typeface="Arial" panose="020B0604020202020204" pitchFamily="34" charset="0"/>
                        </a:rPr>
                        <a:t>NSF</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r>
                        <a:rPr lang="en-US" sz="1050" u="none" strike="noStrike" dirty="0">
                          <a:effectLst/>
                          <a:latin typeface="Arial" panose="020B0604020202020204" pitchFamily="34" charset="0"/>
                          <a:cs typeface="Arial" panose="020B0604020202020204" pitchFamily="34" charset="0"/>
                        </a:rPr>
                        <a:t>USDA</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r>
                        <a:rPr lang="en-US" sz="1050" u="none" strike="noStrike" dirty="0">
                          <a:effectLst/>
                          <a:latin typeface="Arial" panose="020B0604020202020204" pitchFamily="34" charset="0"/>
                          <a:cs typeface="Arial" panose="020B0604020202020204" pitchFamily="34" charset="0"/>
                        </a:rPr>
                        <a:t>Other agencies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0000"/>
                  </a:ext>
                </a:extLst>
              </a:tr>
              <a:tr h="197963">
                <a:tc>
                  <a:txBody>
                    <a:bodyPr/>
                    <a:lstStyle/>
                    <a:p>
                      <a:pPr algn="l" fontAlgn="ct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l" fontAlgn="ct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l" fontAlgn="ct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l" fontAlgn="ct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l" fontAlgn="ct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l" fontAlgn="ct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l" fontAlgn="ct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l" fontAlgn="ct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l" fontAlgn="ct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0001"/>
                  </a:ext>
                </a:extLst>
              </a:tr>
              <a:tr h="229522">
                <a:tc>
                  <a:txBody>
                    <a:bodyPr/>
                    <a:lstStyle/>
                    <a:p>
                      <a:pPr algn="l" fontAlgn="ctr"/>
                      <a:r>
                        <a:rPr lang="en-US" sz="1050" u="none" strike="noStrike">
                          <a:effectLst/>
                          <a:latin typeface="Arial" panose="020B0604020202020204" pitchFamily="34" charset="0"/>
                          <a:cs typeface="Arial" panose="020B0604020202020204" pitchFamily="34" charset="0"/>
                        </a:rPr>
                        <a:t>All universities and colleges</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32,430.8</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4,170.3</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995.1</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19,051.7</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1,101.8</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5,358.7</a:t>
                      </a:r>
                    </a:p>
                  </a:txBody>
                  <a:tcPr marL="9525" marR="9525" marT="9525" marB="0" anchor="b"/>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941.0</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812.2</a:t>
                      </a:r>
                    </a:p>
                  </a:txBody>
                  <a:tcPr marL="9525" marR="9525" marT="9525" marB="0" anchor="b"/>
                </a:tc>
                <a:extLst>
                  <a:ext uri="{0D108BD9-81ED-4DB2-BD59-A6C34878D82A}">
                    <a16:rowId xmlns:a16="http://schemas.microsoft.com/office/drawing/2014/main" val="10002"/>
                  </a:ext>
                </a:extLst>
              </a:tr>
              <a:tr h="229522">
                <a:tc>
                  <a:txBody>
                    <a:bodyPr/>
                    <a:lstStyle/>
                    <a:p>
                      <a:pPr algn="l" fontAlgn="ctr"/>
                      <a:r>
                        <a:rPr lang="en-US" sz="1050" u="none" strike="noStrike">
                          <a:effectLst/>
                          <a:latin typeface="Arial" panose="020B0604020202020204" pitchFamily="34" charset="0"/>
                          <a:cs typeface="Arial" panose="020B0604020202020204" pitchFamily="34" charset="0"/>
                        </a:rPr>
                        <a:t>Research and development</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85725" marR="9525" marT="9525" marB="0" anchor="ctr"/>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29,796.4</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3,645.3</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846.9</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18,141.9</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1,101.8</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4,567.3</a:t>
                      </a:r>
                    </a:p>
                  </a:txBody>
                  <a:tcPr marL="9525" marR="9525" marT="9525" marB="0" anchor="b"/>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858.3</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634.9</a:t>
                      </a:r>
                    </a:p>
                  </a:txBody>
                  <a:tcPr marL="9525" marR="9525" marT="9525" marB="0" anchor="b"/>
                </a:tc>
                <a:extLst>
                  <a:ext uri="{0D108BD9-81ED-4DB2-BD59-A6C34878D82A}">
                    <a16:rowId xmlns:a16="http://schemas.microsoft.com/office/drawing/2014/main" val="10003"/>
                  </a:ext>
                </a:extLst>
              </a:tr>
              <a:tr h="229522">
                <a:tc>
                  <a:txBody>
                    <a:bodyPr/>
                    <a:lstStyle/>
                    <a:p>
                      <a:pPr algn="l" fontAlgn="ctr"/>
                      <a:r>
                        <a:rPr lang="en-US" sz="1050" u="none" strike="noStrike">
                          <a:effectLst/>
                          <a:latin typeface="Arial" panose="020B0604020202020204" pitchFamily="34" charset="0"/>
                          <a:cs typeface="Arial" panose="020B0604020202020204" pitchFamily="34" charset="0"/>
                        </a:rPr>
                        <a:t>R&amp;D plant</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85725" marR="9525" marT="9525" marB="0" anchor="ctr"/>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431.7</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0.0</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100.0</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4.9</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0.0</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326.1</a:t>
                      </a:r>
                    </a:p>
                  </a:txBody>
                  <a:tcPr marL="9525" marR="9525" marT="9525" marB="0" anchor="b"/>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0.0</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0.7</a:t>
                      </a:r>
                    </a:p>
                  </a:txBody>
                  <a:tcPr marL="9525" marR="9525" marT="9525" marB="0" anchor="b"/>
                </a:tc>
                <a:extLst>
                  <a:ext uri="{0D108BD9-81ED-4DB2-BD59-A6C34878D82A}">
                    <a16:rowId xmlns:a16="http://schemas.microsoft.com/office/drawing/2014/main" val="10004"/>
                  </a:ext>
                </a:extLst>
              </a:tr>
              <a:tr h="229522">
                <a:tc>
                  <a:txBody>
                    <a:bodyPr/>
                    <a:lstStyle/>
                    <a:p>
                      <a:pPr algn="l" fontAlgn="ctr"/>
                      <a:r>
                        <a:rPr lang="en-US" sz="1050" u="none" strike="noStrike">
                          <a:effectLst/>
                          <a:latin typeface="Arial" panose="020B0604020202020204" pitchFamily="34" charset="0"/>
                          <a:cs typeface="Arial" panose="020B0604020202020204" pitchFamily="34" charset="0"/>
                        </a:rPr>
                        <a:t>Facilities and equipment for S&amp;E instruction</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85725" marR="9525" marT="9525" marB="0" anchor="ctr"/>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3.1</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0.0</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0.0</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0.0</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0.0</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0.0</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0.0</a:t>
                      </a:r>
                    </a:p>
                  </a:txBody>
                  <a:tcPr marL="9525" marR="9525" marT="9525" marB="0" anchor="b"/>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3.1</a:t>
                      </a:r>
                    </a:p>
                  </a:txBody>
                  <a:tcPr marL="9525" marR="9525" marT="9525" marB="0" anchor="b"/>
                </a:tc>
                <a:extLst>
                  <a:ext uri="{0D108BD9-81ED-4DB2-BD59-A6C34878D82A}">
                    <a16:rowId xmlns:a16="http://schemas.microsoft.com/office/drawing/2014/main" val="10005"/>
                  </a:ext>
                </a:extLst>
              </a:tr>
              <a:tr h="229522">
                <a:tc>
                  <a:txBody>
                    <a:bodyPr/>
                    <a:lstStyle/>
                    <a:p>
                      <a:pPr algn="l" fontAlgn="ctr"/>
                      <a:r>
                        <a:rPr lang="en-US" sz="1050" u="none" strike="noStrike" dirty="0">
                          <a:effectLst/>
                          <a:latin typeface="Arial" panose="020B0604020202020204" pitchFamily="34" charset="0"/>
                          <a:cs typeface="Arial" panose="020B0604020202020204" pitchFamily="34" charset="0"/>
                        </a:rPr>
                        <a:t>Fellowships, traineeships, and training grants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85725" marR="9525" marT="9525" marB="0" anchor="ctr"/>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1,371.4</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0.0</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48.2</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834.5</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0.0</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391.2</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66.2</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31.3</a:t>
                      </a:r>
                    </a:p>
                  </a:txBody>
                  <a:tcPr marL="9525" marR="9525" marT="9525" marB="0" anchor="b"/>
                </a:tc>
                <a:extLst>
                  <a:ext uri="{0D108BD9-81ED-4DB2-BD59-A6C34878D82A}">
                    <a16:rowId xmlns:a16="http://schemas.microsoft.com/office/drawing/2014/main" val="10006"/>
                  </a:ext>
                </a:extLst>
              </a:tr>
              <a:tr h="229522">
                <a:tc>
                  <a:txBody>
                    <a:bodyPr/>
                    <a:lstStyle/>
                    <a:p>
                      <a:pPr algn="l" fontAlgn="ctr"/>
                      <a:r>
                        <a:rPr lang="en-US" sz="1050" u="none" strike="noStrike">
                          <a:effectLst/>
                          <a:latin typeface="Arial" panose="020B0604020202020204" pitchFamily="34" charset="0"/>
                          <a:cs typeface="Arial" panose="020B0604020202020204" pitchFamily="34" charset="0"/>
                        </a:rPr>
                        <a:t>General support for science and engineering</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85725" marR="9525" marT="9525" marB="0" anchor="ctr"/>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96.4</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20.3</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0.0</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68.5</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0.0</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0.5</a:t>
                      </a:r>
                    </a:p>
                  </a:txBody>
                  <a:tcPr marL="9525" marR="9525" marT="9525" marB="0" anchor="b"/>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5.0</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2.1</a:t>
                      </a:r>
                    </a:p>
                  </a:txBody>
                  <a:tcPr marL="9525" marR="9525" marT="9525" marB="0" anchor="b"/>
                </a:tc>
                <a:extLst>
                  <a:ext uri="{0D108BD9-81ED-4DB2-BD59-A6C34878D82A}">
                    <a16:rowId xmlns:a16="http://schemas.microsoft.com/office/drawing/2014/main" val="10007"/>
                  </a:ext>
                </a:extLst>
              </a:tr>
              <a:tr h="229522">
                <a:tc>
                  <a:txBody>
                    <a:bodyPr/>
                    <a:lstStyle/>
                    <a:p>
                      <a:pPr algn="l" fontAlgn="ctr"/>
                      <a:r>
                        <a:rPr lang="en-US" sz="1050" u="none" strike="noStrike" dirty="0">
                          <a:effectLst/>
                          <a:latin typeface="Arial" panose="020B0604020202020204" pitchFamily="34" charset="0"/>
                          <a:cs typeface="Arial" panose="020B0604020202020204" pitchFamily="34" charset="0"/>
                        </a:rPr>
                        <a:t>Other S&amp;E activities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85725" marR="9525" marT="9525" marB="0" anchor="ctr"/>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731.8</a:t>
                      </a:r>
                    </a:p>
                  </a:txBody>
                  <a:tcPr marL="9525" marR="9525" marT="9525" marB="0" anchor="b"/>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504.8</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0.0</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1.9</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0.0</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73.6</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11.5</a:t>
                      </a:r>
                    </a:p>
                  </a:txBody>
                  <a:tcPr marL="9525" marR="9525" marT="9525" marB="0" anchor="b"/>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140.0</a:t>
                      </a:r>
                    </a:p>
                  </a:txBody>
                  <a:tcPr marL="9525" marR="9525" marT="9525" marB="0" anchor="b"/>
                </a:tc>
                <a:extLst>
                  <a:ext uri="{0D108BD9-81ED-4DB2-BD59-A6C34878D82A}">
                    <a16:rowId xmlns:a16="http://schemas.microsoft.com/office/drawing/2014/main" val="10008"/>
                  </a:ext>
                </a:extLst>
              </a:tr>
              <a:tr h="197963">
                <a:tc>
                  <a:txBody>
                    <a:bodyPr/>
                    <a:lstStyle/>
                    <a:p>
                      <a:pPr algn="l" fontAlgn="ct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algn="r" defTabSz="914400" rtl="0" eaLnBrk="1" fontAlgn="ctr" latinLnBrk="0" hangingPunct="1"/>
                      <a:endParaRPr lang="en-US" sz="1050" u="none" strike="noStrike" kern="120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r" defTabSz="914400" rtl="0" eaLnBrk="1" fontAlgn="ctr" latinLnBrk="0" hangingPunct="1"/>
                      <a:endParaRPr lang="en-US" sz="1050" u="none" strike="noStrike" kern="120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r" defTabSz="914400" rtl="0" eaLnBrk="1" fontAlgn="ctr" latinLnBrk="0" hangingPunct="1"/>
                      <a:endParaRPr lang="en-US" sz="105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r" defTabSz="914400" rtl="0" eaLnBrk="1" fontAlgn="ctr" latinLnBrk="0" hangingPunct="1"/>
                      <a:endParaRPr lang="en-US" sz="105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r" defTabSz="914400" rtl="0" eaLnBrk="1" fontAlgn="ctr" latinLnBrk="0" hangingPunct="1"/>
                      <a:endParaRPr lang="en-US" sz="105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r" defTabSz="914400" rtl="0" eaLnBrk="1" fontAlgn="ctr" latinLnBrk="0" hangingPunct="1"/>
                      <a:endParaRPr lang="en-US" sz="1050" u="none" strike="noStrike" kern="120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r" defTabSz="914400" rtl="0" eaLnBrk="1" fontAlgn="ctr" latinLnBrk="0" hangingPunct="1"/>
                      <a:endParaRPr lang="en-US" sz="105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r" defTabSz="914400" rtl="0" eaLnBrk="1" fontAlgn="ctr" latinLnBrk="0" hangingPunct="1"/>
                      <a:endParaRPr lang="en-US" sz="105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extLst>
                  <a:ext uri="{0D108BD9-81ED-4DB2-BD59-A6C34878D82A}">
                    <a16:rowId xmlns:a16="http://schemas.microsoft.com/office/drawing/2014/main" val="10009"/>
                  </a:ext>
                </a:extLst>
              </a:tr>
              <a:tr h="229522">
                <a:tc>
                  <a:txBody>
                    <a:bodyPr/>
                    <a:lstStyle/>
                    <a:p>
                      <a:pPr algn="l" fontAlgn="ctr"/>
                      <a:r>
                        <a:rPr lang="en-US" sz="1050" u="none" strike="noStrike" dirty="0">
                          <a:effectLst/>
                          <a:latin typeface="Arial" panose="020B0604020202020204" pitchFamily="34" charset="0"/>
                          <a:cs typeface="Arial" panose="020B0604020202020204" pitchFamily="34" charset="0"/>
                        </a:rPr>
                        <a:t>Historically Black Colleges &amp; Universities (all S&amp;E activities)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85725" marR="9525" marT="9525" marB="0" anchor="ctr"/>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307.9</a:t>
                      </a:r>
                    </a:p>
                  </a:txBody>
                  <a:tcPr marL="9525" marR="9525" marT="9525" marB="0" anchor="b"/>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18.2</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12.9</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98.2</a:t>
                      </a:r>
                    </a:p>
                  </a:txBody>
                  <a:tcPr marL="9525" marR="9525" marT="9525" marB="0" anchor="b"/>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5.2</a:t>
                      </a:r>
                    </a:p>
                  </a:txBody>
                  <a:tcPr marL="9525" marR="9525" marT="9525" marB="0" anchor="b"/>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78.7</a:t>
                      </a:r>
                    </a:p>
                  </a:txBody>
                  <a:tcPr marL="9525" marR="9525" marT="9525" marB="0" anchor="b"/>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74.6</a:t>
                      </a:r>
                    </a:p>
                  </a:txBody>
                  <a:tcPr marL="9525" marR="9525" marT="9525" marB="0" anchor="b"/>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20.2</a:t>
                      </a:r>
                    </a:p>
                  </a:txBody>
                  <a:tcPr marL="9525" marR="9525" marT="9525" marB="0" anchor="b"/>
                </a:tc>
                <a:extLst>
                  <a:ext uri="{0D108BD9-81ED-4DB2-BD59-A6C34878D82A}">
                    <a16:rowId xmlns:a16="http://schemas.microsoft.com/office/drawing/2014/main" val="10010"/>
                  </a:ext>
                </a:extLst>
              </a:tr>
              <a:tr h="229522">
                <a:tc>
                  <a:txBody>
                    <a:bodyPr/>
                    <a:lstStyle/>
                    <a:p>
                      <a:pPr algn="l" fontAlgn="ctr"/>
                      <a:r>
                        <a:rPr lang="en-US" sz="1050" u="none" strike="noStrike">
                          <a:effectLst/>
                          <a:latin typeface="Arial" panose="020B0604020202020204" pitchFamily="34" charset="0"/>
                          <a:cs typeface="Arial" panose="020B0604020202020204" pitchFamily="34" charset="0"/>
                        </a:rPr>
                        <a:t>Research and development</a:t>
                      </a: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171450" marR="9525" marT="9525" marB="0" anchor="ctr"/>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234.5</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15.5</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12.9</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86.7</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5.2</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36.3</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70.4</a:t>
                      </a:r>
                    </a:p>
                  </a:txBody>
                  <a:tcPr marL="9525" marR="9525" marT="9525" marB="0" anchor="b"/>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7.5</a:t>
                      </a:r>
                    </a:p>
                  </a:txBody>
                  <a:tcPr marL="9525" marR="9525" marT="9525" marB="0" anchor="b"/>
                </a:tc>
                <a:extLst>
                  <a:ext uri="{0D108BD9-81ED-4DB2-BD59-A6C34878D82A}">
                    <a16:rowId xmlns:a16="http://schemas.microsoft.com/office/drawing/2014/main" val="10011"/>
                  </a:ext>
                </a:extLst>
              </a:tr>
              <a:tr h="197963">
                <a:tc>
                  <a:txBody>
                    <a:bodyPr/>
                    <a:lstStyle/>
                    <a:p>
                      <a:pPr algn="l" fontAlgn="ct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0012"/>
                  </a:ext>
                </a:extLst>
              </a:tr>
              <a:tr h="229522">
                <a:tc>
                  <a:txBody>
                    <a:bodyPr/>
                    <a:lstStyle/>
                    <a:p>
                      <a:pPr algn="l" fontAlgn="ctr"/>
                      <a:r>
                        <a:rPr lang="en-US" sz="1050" u="none" strike="noStrike" dirty="0">
                          <a:effectLst/>
                          <a:latin typeface="Arial" panose="020B0604020202020204" pitchFamily="34" charset="0"/>
                          <a:cs typeface="Arial" panose="020B0604020202020204" pitchFamily="34" charset="0"/>
                        </a:rPr>
                        <a:t>High Hispanic Enrollment institutions (all S&amp;E activities)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85725" marR="9525" marT="9525" marB="0" anchor="ctr"/>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1,735.6</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161.6</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48.4</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7.0</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1,010.5</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59.4</a:t>
                      </a:r>
                    </a:p>
                  </a:txBody>
                  <a:tcPr marL="9525" marR="9525" marT="9525" marB="0" anchor="b"/>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364.6</a:t>
                      </a:r>
                    </a:p>
                  </a:txBody>
                  <a:tcPr marL="9525" marR="9525" marT="9525" marB="0" anchor="b"/>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43.9</a:t>
                      </a:r>
                    </a:p>
                  </a:txBody>
                  <a:tcPr marL="9525" marR="9525" marT="9525" marB="0" anchor="b"/>
                </a:tc>
                <a:extLst>
                  <a:ext uri="{0D108BD9-81ED-4DB2-BD59-A6C34878D82A}">
                    <a16:rowId xmlns:a16="http://schemas.microsoft.com/office/drawing/2014/main" val="10013"/>
                  </a:ext>
                </a:extLst>
              </a:tr>
              <a:tr h="197963">
                <a:tc>
                  <a:txBody>
                    <a:bodyPr/>
                    <a:lstStyle/>
                    <a:p>
                      <a:pPr algn="l" fontAlgn="ctr"/>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algn="r" defTabSz="914400" rtl="0" eaLnBrk="1" fontAlgn="ctr" latinLnBrk="0" hangingPunct="1"/>
                      <a:endParaRPr lang="en-US" sz="1050" u="none" strike="noStrike" kern="120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r" defTabSz="914400" rtl="0" eaLnBrk="1" fontAlgn="ctr" latinLnBrk="0" hangingPunct="1"/>
                      <a:endParaRPr lang="en-US" sz="105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r" defTabSz="914400" rtl="0" eaLnBrk="1" fontAlgn="ctr" latinLnBrk="0" hangingPunct="1"/>
                      <a:endParaRPr lang="en-US" sz="105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r" defTabSz="914400" rtl="0" eaLnBrk="1" fontAlgn="ctr" latinLnBrk="0" hangingPunct="1"/>
                      <a:endParaRPr lang="en-US" sz="1050" u="none" strike="noStrike" kern="120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r" defTabSz="914400" rtl="0" eaLnBrk="1" fontAlgn="ctr" latinLnBrk="0" hangingPunct="1"/>
                      <a:endParaRPr lang="en-US" sz="1050" u="none" strike="noStrike" kern="120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r" defTabSz="914400" rtl="0" eaLnBrk="1" fontAlgn="ctr" latinLnBrk="0" hangingPunct="1"/>
                      <a:endParaRPr lang="en-US" sz="1050" u="none" strike="noStrike" kern="120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r" defTabSz="914400" rtl="0" eaLnBrk="1" fontAlgn="ctr" latinLnBrk="0" hangingPunct="1"/>
                      <a:endParaRPr lang="en-US" sz="1050" u="none" strike="noStrike" kern="120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r" defTabSz="914400" rtl="0" eaLnBrk="1" fontAlgn="ctr" latinLnBrk="0" hangingPunct="1"/>
                      <a:endParaRPr lang="en-US" sz="1050" u="none" strike="noStrike" kern="1200" dirty="0">
                        <a:solidFill>
                          <a:schemeClr val="dk1"/>
                        </a:solidFill>
                        <a:effectLst/>
                        <a:latin typeface="Arial" panose="020B0604020202020204" pitchFamily="34" charset="0"/>
                        <a:ea typeface="+mn-ea"/>
                        <a:cs typeface="Arial" panose="020B0604020202020204" pitchFamily="34" charset="0"/>
                      </a:endParaRPr>
                    </a:p>
                  </a:txBody>
                  <a:tcPr marL="9525" marR="9525" marT="9525" marB="0" anchor="ctr"/>
                </a:tc>
                <a:extLst>
                  <a:ext uri="{0D108BD9-81ED-4DB2-BD59-A6C34878D82A}">
                    <a16:rowId xmlns:a16="http://schemas.microsoft.com/office/drawing/2014/main" val="10015"/>
                  </a:ext>
                </a:extLst>
              </a:tr>
              <a:tr h="229522">
                <a:tc>
                  <a:txBody>
                    <a:bodyPr/>
                    <a:lstStyle/>
                    <a:p>
                      <a:pPr algn="l" fontAlgn="ctr"/>
                      <a:r>
                        <a:rPr lang="en-US" sz="1050" u="none" strike="noStrike" dirty="0">
                          <a:effectLst/>
                          <a:latin typeface="Arial" panose="020B0604020202020204" pitchFamily="34" charset="0"/>
                          <a:cs typeface="Arial" panose="020B0604020202020204" pitchFamily="34" charset="0"/>
                        </a:rPr>
                        <a:t>Tribal colleges and universities (all S&amp;E activities)</a:t>
                      </a:r>
                      <a:endParaRPr lang="en-US" sz="1050" b="0" i="0" u="none" strike="noStrike" dirty="0">
                        <a:solidFill>
                          <a:srgbClr val="000000"/>
                        </a:solidFill>
                        <a:effectLst/>
                        <a:latin typeface="Arial" panose="020B0604020202020204" pitchFamily="34" charset="0"/>
                        <a:cs typeface="Arial" panose="020B0604020202020204" pitchFamily="34" charset="0"/>
                      </a:endParaRPr>
                    </a:p>
                  </a:txBody>
                  <a:tcPr marL="85725" marR="9525" marT="9525" marB="0" anchor="ctr"/>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    57.7</a:t>
                      </a:r>
                    </a:p>
                  </a:txBody>
                  <a:tcPr marL="9525" marR="9525" marT="9525" marB="0" anchor="ctr"/>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     1.0</a:t>
                      </a:r>
                    </a:p>
                  </a:txBody>
                  <a:tcPr marL="9525" marR="9525" marT="9525" marB="0" anchor="ctr"/>
                </a:tc>
                <a:tc>
                  <a:txBody>
                    <a:bodyPr/>
                    <a:lstStyle/>
                    <a:p>
                      <a:pPr marL="0" algn="r" defTabSz="914400" rtl="0" eaLnBrk="1" fontAlgn="ctr" latinLnBrk="0" hangingPunct="1"/>
                      <a:r>
                        <a:rPr lang="en-US" sz="1050" u="none" strike="noStrike" kern="1200">
                          <a:solidFill>
                            <a:schemeClr val="dk1"/>
                          </a:solidFill>
                          <a:effectLst/>
                          <a:latin typeface="Arial" panose="020B0604020202020204" pitchFamily="34" charset="0"/>
                          <a:ea typeface="+mn-ea"/>
                          <a:cs typeface="Arial" panose="020B0604020202020204" pitchFamily="34" charset="0"/>
                        </a:rPr>
                        <a:t>       0</a:t>
                      </a:r>
                    </a:p>
                  </a:txBody>
                  <a:tcPr marL="9525" marR="9525" marT="9525" marB="0" anchor="ctr"/>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     1.4</a:t>
                      </a:r>
                    </a:p>
                  </a:txBody>
                  <a:tcPr marL="9525" marR="9525" marT="9525" marB="0" anchor="ctr"/>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      0</a:t>
                      </a:r>
                    </a:p>
                  </a:txBody>
                  <a:tcPr marL="9525" marR="9525" marT="9525" marB="0" anchor="ctr"/>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    13.9</a:t>
                      </a:r>
                    </a:p>
                  </a:txBody>
                  <a:tcPr marL="9525" marR="9525" marT="9525" marB="0" anchor="ctr"/>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   9.3</a:t>
                      </a:r>
                    </a:p>
                  </a:txBody>
                  <a:tcPr marL="9525" marR="9525" marT="9525" marB="0" anchor="ctr"/>
                </a:tc>
                <a:tc>
                  <a:txBody>
                    <a:bodyPr/>
                    <a:lstStyle/>
                    <a:p>
                      <a:pPr marL="0" algn="r" defTabSz="914400" rtl="0" eaLnBrk="1" fontAlgn="ctr" latinLnBrk="0" hangingPunct="1"/>
                      <a:r>
                        <a:rPr lang="en-US" sz="1050" u="none" strike="noStrike" kern="1200" dirty="0">
                          <a:solidFill>
                            <a:schemeClr val="dk1"/>
                          </a:solidFill>
                          <a:effectLst/>
                          <a:latin typeface="Arial" panose="020B0604020202020204" pitchFamily="34" charset="0"/>
                          <a:ea typeface="+mn-ea"/>
                          <a:cs typeface="Arial" panose="020B0604020202020204" pitchFamily="34" charset="0"/>
                        </a:rPr>
                        <a:t>  32.2</a:t>
                      </a:r>
                    </a:p>
                  </a:txBody>
                  <a:tcPr marL="9525" marR="9525" marT="9525" marB="0" anchor="ctr"/>
                </a:tc>
                <a:extLst>
                  <a:ext uri="{0D108BD9-81ED-4DB2-BD59-A6C34878D82A}">
                    <a16:rowId xmlns:a16="http://schemas.microsoft.com/office/drawing/2014/main" val="10016"/>
                  </a:ext>
                </a:extLst>
              </a:tr>
            </a:tbl>
          </a:graphicData>
        </a:graphic>
      </p:graphicFrame>
      <p:sp>
        <p:nvSpPr>
          <p:cNvPr id="4" name="Rectangle 3"/>
          <p:cNvSpPr/>
          <p:nvPr/>
        </p:nvSpPr>
        <p:spPr>
          <a:xfrm>
            <a:off x="196144" y="6289092"/>
            <a:ext cx="8458202" cy="584775"/>
          </a:xfrm>
          <a:prstGeom prst="rect">
            <a:avLst/>
          </a:prstGeom>
        </p:spPr>
        <p:txBody>
          <a:bodyPr wrap="square">
            <a:spAutoFit/>
          </a:bodyPr>
          <a:lstStyle/>
          <a:p>
            <a:r>
              <a:rPr lang="en-US" sz="1600" dirty="0">
                <a:latin typeface="Arial" panose="020B0604020202020204" pitchFamily="34" charset="0"/>
                <a:cs typeface="Arial" panose="020B0604020202020204" pitchFamily="34" charset="0"/>
              </a:rPr>
              <a:t>Source: Survey of Federal S&amp;E Support to Universities, Colleges, and Nonprofit Institutions</a:t>
            </a:r>
          </a:p>
          <a:p>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06190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4959" y="597195"/>
            <a:ext cx="8229600" cy="1143000"/>
          </a:xfrm>
        </p:spPr>
        <p:txBody>
          <a:bodyPr/>
          <a:lstStyle/>
          <a:p>
            <a:r>
              <a:rPr lang="en-US" sz="2800" b="1" dirty="0">
                <a:latin typeface="Arial" panose="020B0604020202020204" pitchFamily="34" charset="0"/>
                <a:cs typeface="Arial" panose="020B0604020202020204" pitchFamily="34" charset="0"/>
              </a:rPr>
              <a:t>NCSES Innovation Surveys</a:t>
            </a:r>
          </a:p>
        </p:txBody>
      </p:sp>
      <p:sp>
        <p:nvSpPr>
          <p:cNvPr id="3" name="Content Placeholder 2"/>
          <p:cNvSpPr>
            <a:spLocks noGrp="1"/>
          </p:cNvSpPr>
          <p:nvPr>
            <p:ph idx="1"/>
          </p:nvPr>
        </p:nvSpPr>
        <p:spPr>
          <a:xfrm>
            <a:off x="304800" y="1600200"/>
            <a:ext cx="8529918" cy="4800600"/>
          </a:xfrm>
        </p:spPr>
        <p:txBody>
          <a:bodyPr>
            <a:normAutofit fontScale="47500" lnSpcReduction="20000"/>
          </a:bodyPr>
          <a:lstStyle/>
          <a:p>
            <a:r>
              <a:rPr lang="en-US" dirty="0">
                <a:latin typeface="Arial" panose="020B0604020202020204" pitchFamily="34" charset="0"/>
                <a:cs typeface="Arial" panose="020B0604020202020204" pitchFamily="34" charset="0"/>
              </a:rPr>
              <a:t>Surveys conducted in partnership with the Census Bureau</a:t>
            </a:r>
          </a:p>
          <a:p>
            <a:r>
              <a:rPr lang="en-US" dirty="0">
                <a:latin typeface="Arial" panose="020B0604020202020204" pitchFamily="34" charset="0"/>
                <a:cs typeface="Arial" panose="020B0604020202020204" pitchFamily="34" charset="0"/>
              </a:rPr>
              <a:t>Mandatory survey; item nonresponse for innovation questions historically ~10%-20%</a:t>
            </a:r>
          </a:p>
          <a:p>
            <a:pPr marL="0" indent="0">
              <a:buNone/>
            </a:pP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Business R&amp;D and Innovation Survey (BRDIS) (Reference years: 2008-2016)</a:t>
            </a:r>
          </a:p>
          <a:p>
            <a:pPr lvl="1"/>
            <a:r>
              <a:rPr lang="en-US" dirty="0">
                <a:latin typeface="Arial" panose="020B0604020202020204" pitchFamily="34" charset="0"/>
                <a:cs typeface="Arial" panose="020B0604020202020204" pitchFamily="34" charset="0"/>
              </a:rPr>
              <a:t>All industries with 5 or more employees; primarily a survey for R&amp;D activities; </a:t>
            </a:r>
          </a:p>
          <a:p>
            <a:pPr lvl="1"/>
            <a:r>
              <a:rPr lang="en-US" dirty="0">
                <a:latin typeface="Arial" panose="020B0604020202020204" pitchFamily="34" charset="0"/>
                <a:cs typeface="Arial" panose="020B0604020202020204" pitchFamily="34" charset="0"/>
              </a:rPr>
              <a:t>Sample size =~42,000; 2016 Response rate =~80%</a:t>
            </a:r>
          </a:p>
          <a:p>
            <a:pPr lvl="1"/>
            <a:r>
              <a:rPr lang="en-US" dirty="0">
                <a:latin typeface="Arial" panose="020B0604020202020204" pitchFamily="34" charset="0"/>
                <a:cs typeface="Arial" panose="020B0604020202020204" pitchFamily="34" charset="0"/>
              </a:rPr>
              <a:t>Innovation data collected 2008-2016</a:t>
            </a:r>
          </a:p>
          <a:p>
            <a:pPr lvl="1"/>
            <a:r>
              <a:rPr lang="en-US" dirty="0">
                <a:latin typeface="Arial" panose="020B0604020202020204" pitchFamily="34" charset="0"/>
                <a:cs typeface="Arial" panose="020B0604020202020204" pitchFamily="34" charset="0"/>
              </a:rPr>
              <a:t>Starting with 2017 data collection, innovation data no longer collected</a:t>
            </a:r>
          </a:p>
          <a:p>
            <a:pPr lvl="2"/>
            <a:r>
              <a:rPr lang="en-US" dirty="0">
                <a:latin typeface="Arial" panose="020B0604020202020204" pitchFamily="34" charset="0"/>
                <a:cs typeface="Arial" panose="020B0604020202020204" pitchFamily="34" charset="0"/>
              </a:rPr>
              <a:t>All industries with 9 or more employees; remains primarily an R&amp;D survey</a:t>
            </a:r>
          </a:p>
          <a:p>
            <a:pPr lvl="2"/>
            <a:r>
              <a:rPr lang="en-US" dirty="0">
                <a:latin typeface="Arial" panose="020B0604020202020204" pitchFamily="34" charset="0"/>
                <a:cs typeface="Arial" panose="020B0604020202020204" pitchFamily="34" charset="0"/>
              </a:rPr>
              <a:t>Survey now called the Business R&amp;D Survey (BRDS)</a:t>
            </a:r>
            <a:endParaRPr lang="en-US" sz="21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Microbusiness R&amp;D and Innovation Survey (</a:t>
            </a:r>
            <a:r>
              <a:rPr lang="en-US" dirty="0" err="1">
                <a:latin typeface="Arial" panose="020B0604020202020204" pitchFamily="34" charset="0"/>
                <a:cs typeface="Arial" panose="020B0604020202020204" pitchFamily="34" charset="0"/>
              </a:rPr>
              <a:t>MicroBRDIS</a:t>
            </a:r>
            <a:r>
              <a:rPr lang="en-US" dirty="0">
                <a:latin typeface="Arial" panose="020B0604020202020204" pitchFamily="34" charset="0"/>
                <a:cs typeface="Arial" panose="020B0604020202020204" pitchFamily="34" charset="0"/>
              </a:rPr>
              <a:t>) (Reference year 2016)</a:t>
            </a:r>
          </a:p>
          <a:p>
            <a:pPr lvl="1"/>
            <a:r>
              <a:rPr lang="en-US" sz="2700" dirty="0">
                <a:latin typeface="Arial" panose="020B0604020202020204" pitchFamily="34" charset="0"/>
                <a:cs typeface="Arial" panose="020B0604020202020204" pitchFamily="34" charset="0"/>
              </a:rPr>
              <a:t>All industries with 1-9 employees with a focus on 1-4; small business owner survey with questions on R&amp;D and innovation and owner characteristics</a:t>
            </a:r>
          </a:p>
          <a:p>
            <a:pPr lvl="1"/>
            <a:r>
              <a:rPr lang="en-US" sz="2700" dirty="0">
                <a:latin typeface="Arial" panose="020B0604020202020204" pitchFamily="34" charset="0"/>
                <a:cs typeface="Arial" panose="020B0604020202020204" pitchFamily="34" charset="0"/>
              </a:rPr>
              <a:t>Sample size =~200,000; 2016 Response rate =~76% for 1-4 and ~78% for 5-9</a:t>
            </a:r>
          </a:p>
          <a:p>
            <a:pPr lvl="1"/>
            <a:endParaRPr lang="en-US" sz="27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Annual Business Survey (ABS) (Reference years 2017-2021 or longer)</a:t>
            </a:r>
          </a:p>
          <a:p>
            <a:pPr lvl="1"/>
            <a:r>
              <a:rPr lang="en-US" sz="2700" dirty="0">
                <a:latin typeface="Arial" panose="020B0604020202020204" pitchFamily="34" charset="0"/>
                <a:cs typeface="Arial" panose="020B0604020202020204" pitchFamily="34" charset="0"/>
              </a:rPr>
              <a:t>All industries with 1 or more employees</a:t>
            </a:r>
          </a:p>
          <a:p>
            <a:pPr lvl="1"/>
            <a:r>
              <a:rPr lang="en-US" sz="2700" dirty="0">
                <a:latin typeface="Arial" panose="020B0604020202020204" pitchFamily="34" charset="0"/>
                <a:cs typeface="Arial" panose="020B0604020202020204" pitchFamily="34" charset="0"/>
              </a:rPr>
              <a:t>Sample size in 2017 = 850,000; non benchmark year samples = 350,000</a:t>
            </a:r>
          </a:p>
          <a:p>
            <a:pPr lvl="1"/>
            <a:r>
              <a:rPr lang="en-US" sz="2700" dirty="0">
                <a:latin typeface="Arial" panose="020B0604020202020204" pitchFamily="34" charset="0"/>
                <a:cs typeface="Arial" panose="020B0604020202020204" pitchFamily="34" charset="0"/>
              </a:rPr>
              <a:t>Rotating module approach combining previously stand-alone surveys</a:t>
            </a:r>
          </a:p>
          <a:p>
            <a:pPr lvl="1"/>
            <a:r>
              <a:rPr lang="en-US" sz="2700" dirty="0">
                <a:latin typeface="Arial" panose="020B0604020202020204" pitchFamily="34" charset="0"/>
                <a:cs typeface="Arial" panose="020B0604020202020204" pitchFamily="34" charset="0"/>
              </a:rPr>
              <a:t>Collects R&amp;D data for businesses with 1-9 employees (previously Micro-BRDIS)</a:t>
            </a:r>
          </a:p>
          <a:p>
            <a:pPr lvl="1"/>
            <a:r>
              <a:rPr lang="en-US" sz="2700" dirty="0">
                <a:latin typeface="Arial" panose="020B0604020202020204" pitchFamily="34" charset="0"/>
                <a:cs typeface="Arial" panose="020B0604020202020204" pitchFamily="34" charset="0"/>
              </a:rPr>
              <a:t>Collects data on business owner characteristics (Survey of Business Owners), financing, technology and intellectual property and (for 2017-2019) innovation </a:t>
            </a:r>
          </a:p>
          <a:p>
            <a:endParaRPr lang="en-US" dirty="0"/>
          </a:p>
        </p:txBody>
      </p:sp>
      <p:sp>
        <p:nvSpPr>
          <p:cNvPr id="5" name="Slide Number Placeholder 4"/>
          <p:cNvSpPr>
            <a:spLocks noGrp="1"/>
          </p:cNvSpPr>
          <p:nvPr>
            <p:ph type="sldNum" sz="quarter" idx="12"/>
          </p:nvPr>
        </p:nvSpPr>
        <p:spPr/>
        <p:txBody>
          <a:bodyPr/>
          <a:lstStyle/>
          <a:p>
            <a:fld id="{CF23767F-6E32-4FC2-9154-82A7B294267E}" type="slidenum">
              <a:rPr lang="en-US" smtClean="0"/>
              <a:t>22</a:t>
            </a:fld>
            <a:endParaRPr lang="en-US"/>
          </a:p>
        </p:txBody>
      </p:sp>
      <p:pic>
        <p:nvPicPr>
          <p:cNvPr id="6" name="Picture 5" descr="nsf2">
            <a:extLst>
              <a:ext uri="{FF2B5EF4-FFF2-40B4-BE49-F238E27FC236}">
                <a16:creationId xmlns:a16="http://schemas.microsoft.com/office/drawing/2014/main" id="{BEBC42E2-C3E8-4B65-AF0B-7D97DB1FC884}"/>
              </a:ext>
            </a:extLst>
          </p:cNvPr>
          <p:cNvPicPr>
            <a:picLocks noChangeAspect="1" noChangeArrowheads="1"/>
          </p:cNvPicPr>
          <p:nvPr/>
        </p:nvPicPr>
        <p:blipFill>
          <a:blip r:embed="rId3" cstate="print"/>
          <a:srcRect/>
          <a:stretch>
            <a:fillRect/>
          </a:stretch>
        </p:blipFill>
        <p:spPr bwMode="auto">
          <a:xfrm>
            <a:off x="76200" y="79375"/>
            <a:ext cx="533400" cy="530225"/>
          </a:xfrm>
          <a:prstGeom prst="rect">
            <a:avLst/>
          </a:prstGeom>
          <a:noFill/>
          <a:ln w="9525">
            <a:noFill/>
            <a:miter lim="800000"/>
            <a:headEnd/>
            <a:tailEnd/>
          </a:ln>
        </p:spPr>
      </p:pic>
      <p:pic>
        <p:nvPicPr>
          <p:cNvPr id="7" name="Picture 6" descr="NCSES_logo_oneline_150.eps">
            <a:extLst>
              <a:ext uri="{FF2B5EF4-FFF2-40B4-BE49-F238E27FC236}">
                <a16:creationId xmlns:a16="http://schemas.microsoft.com/office/drawing/2014/main" id="{38CD6CE1-A9C4-469A-8B76-C9920BBDA478}"/>
              </a:ext>
            </a:extLst>
          </p:cNvPr>
          <p:cNvPicPr>
            <a:picLocks noChangeAspect="1"/>
          </p:cNvPicPr>
          <p:nvPr/>
        </p:nvPicPr>
        <p:blipFill>
          <a:blip r:embed="rId4" cstate="print"/>
          <a:srcRect/>
          <a:stretch>
            <a:fillRect/>
          </a:stretch>
        </p:blipFill>
        <p:spPr bwMode="auto">
          <a:xfrm>
            <a:off x="4114800" y="134938"/>
            <a:ext cx="5029200" cy="474662"/>
          </a:xfrm>
          <a:prstGeom prst="rect">
            <a:avLst/>
          </a:prstGeom>
          <a:noFill/>
          <a:ln w="9525">
            <a:noFill/>
            <a:miter lim="800000"/>
            <a:headEnd/>
            <a:tailEnd/>
          </a:ln>
        </p:spPr>
      </p:pic>
      <p:sp>
        <p:nvSpPr>
          <p:cNvPr id="8" name="Rectangle 4">
            <a:extLst>
              <a:ext uri="{FF2B5EF4-FFF2-40B4-BE49-F238E27FC236}">
                <a16:creationId xmlns:a16="http://schemas.microsoft.com/office/drawing/2014/main" id="{9DE6623B-F2BE-4F21-A79C-45BD92B8BC1F}"/>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1928225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4"/>
          <p:cNvSpPr>
            <a:spLocks noGrp="1"/>
          </p:cNvSpPr>
          <p:nvPr>
            <p:ph type="sldNum" sz="quarter" idx="12"/>
          </p:nvPr>
        </p:nvSpPr>
        <p:spPr/>
        <p:txBody>
          <a:bodyPr/>
          <a:lstStyle/>
          <a:p>
            <a:fld id="{BF7223F4-3317-49F2-B521-5F9BD8D1AAFD}" type="slidenum">
              <a:rPr lang="en-US"/>
              <a:pPr/>
              <a:t>23</a:t>
            </a:fld>
            <a:endParaRPr lang="en-US"/>
          </a:p>
        </p:txBody>
      </p:sp>
      <p:pic>
        <p:nvPicPr>
          <p:cNvPr id="76802" name="Picture 2" descr="nsf logo transparent"/>
          <p:cNvPicPr>
            <a:picLocks noChangeAspect="1" noChangeArrowheads="1"/>
          </p:cNvPicPr>
          <p:nvPr/>
        </p:nvPicPr>
        <p:blipFill>
          <a:blip r:embed="rId2" cstate="print"/>
          <a:srcRect/>
          <a:stretch>
            <a:fillRect/>
          </a:stretch>
        </p:blipFill>
        <p:spPr bwMode="auto">
          <a:xfrm>
            <a:off x="76200" y="76200"/>
            <a:ext cx="533400" cy="533400"/>
          </a:xfrm>
          <a:prstGeom prst="rect">
            <a:avLst/>
          </a:prstGeom>
          <a:noFill/>
        </p:spPr>
      </p:pic>
      <p:sp>
        <p:nvSpPr>
          <p:cNvPr id="76803" name="Rectangle 3"/>
          <p:cNvSpPr>
            <a:spLocks noChangeArrowheads="1"/>
          </p:cNvSpPr>
          <p:nvPr/>
        </p:nvSpPr>
        <p:spPr bwMode="auto">
          <a:xfrm>
            <a:off x="0" y="685800"/>
            <a:ext cx="9144000" cy="76200"/>
          </a:xfrm>
          <a:prstGeom prst="rect">
            <a:avLst/>
          </a:prstGeom>
          <a:gradFill rotWithShape="0">
            <a:gsLst>
              <a:gs pos="0">
                <a:srgbClr val="000099">
                  <a:gamma/>
                  <a:shade val="20000"/>
                  <a:invGamma/>
                </a:srgbClr>
              </a:gs>
              <a:gs pos="100000">
                <a:srgbClr val="000099"/>
              </a:gs>
            </a:gsLst>
            <a:lin ang="0" scaled="1"/>
          </a:gradFill>
          <a:ln w="3175">
            <a:solidFill>
              <a:schemeClr val="tx1"/>
            </a:solidFill>
            <a:miter lim="800000"/>
            <a:headEnd/>
            <a:tailEnd/>
          </a:ln>
          <a:effectLst/>
        </p:spPr>
        <p:txBody>
          <a:bodyPr wrap="none" anchor="ctr"/>
          <a:lstStyle/>
          <a:p>
            <a:endParaRPr lang="en-US"/>
          </a:p>
        </p:txBody>
      </p:sp>
      <p:sp>
        <p:nvSpPr>
          <p:cNvPr id="76804" name="Text Box 4"/>
          <p:cNvSpPr txBox="1">
            <a:spLocks noChangeArrowheads="1"/>
          </p:cNvSpPr>
          <p:nvPr/>
        </p:nvSpPr>
        <p:spPr bwMode="auto">
          <a:xfrm>
            <a:off x="6365875" y="60325"/>
            <a:ext cx="2625725" cy="320675"/>
          </a:xfrm>
          <a:prstGeom prst="rect">
            <a:avLst/>
          </a:prstGeom>
          <a:noFill/>
          <a:ln w="9525">
            <a:noFill/>
            <a:miter lim="800000"/>
            <a:headEnd/>
            <a:tailEnd/>
          </a:ln>
          <a:effectLst/>
        </p:spPr>
        <p:txBody>
          <a:bodyPr wrap="none">
            <a:spAutoFit/>
          </a:bodyPr>
          <a:lstStyle/>
          <a:p>
            <a:pPr eaLnBrk="0" hangingPunct="0"/>
            <a:r>
              <a:rPr lang="en-US" sz="1500">
                <a:solidFill>
                  <a:srgbClr val="000099"/>
                </a:solidFill>
                <a:latin typeface="Arial" charset="0"/>
              </a:rPr>
              <a:t>National Science Foundation</a:t>
            </a:r>
            <a:endParaRPr lang="en-US" sz="1500">
              <a:solidFill>
                <a:srgbClr val="000099"/>
              </a:solidFill>
            </a:endParaRPr>
          </a:p>
        </p:txBody>
      </p:sp>
      <p:sp>
        <p:nvSpPr>
          <p:cNvPr id="76805" name="Text Box 5"/>
          <p:cNvSpPr txBox="1">
            <a:spLocks noChangeArrowheads="1"/>
          </p:cNvSpPr>
          <p:nvPr/>
        </p:nvSpPr>
        <p:spPr bwMode="auto">
          <a:xfrm>
            <a:off x="5197475" y="304800"/>
            <a:ext cx="3794125" cy="336550"/>
          </a:xfrm>
          <a:prstGeom prst="rect">
            <a:avLst/>
          </a:prstGeom>
          <a:noFill/>
          <a:ln w="9525">
            <a:noFill/>
            <a:miter lim="800000"/>
            <a:headEnd/>
            <a:tailEnd/>
          </a:ln>
          <a:effectLst/>
        </p:spPr>
        <p:txBody>
          <a:bodyPr wrap="none">
            <a:spAutoFit/>
          </a:bodyPr>
          <a:lstStyle/>
          <a:p>
            <a:pPr eaLnBrk="0" hangingPunct="0"/>
            <a:r>
              <a:rPr lang="en-US" sz="1600">
                <a:latin typeface="Arial" charset="0"/>
              </a:rPr>
              <a:t>Division of Science Resources Statistics</a:t>
            </a:r>
            <a:endParaRPr lang="en-US" sz="1600"/>
          </a:p>
        </p:txBody>
      </p:sp>
      <p:sp>
        <p:nvSpPr>
          <p:cNvPr id="76806" name="Text Box 6"/>
          <p:cNvSpPr txBox="1">
            <a:spLocks noChangeArrowheads="1"/>
          </p:cNvSpPr>
          <p:nvPr/>
        </p:nvSpPr>
        <p:spPr bwMode="auto">
          <a:xfrm>
            <a:off x="457200" y="1733569"/>
            <a:ext cx="7924800" cy="5324535"/>
          </a:xfrm>
          <a:prstGeom prst="rect">
            <a:avLst/>
          </a:prstGeom>
          <a:noFill/>
          <a:ln w="9525">
            <a:noFill/>
            <a:miter lim="800000"/>
            <a:headEnd/>
            <a:tailEnd/>
          </a:ln>
          <a:effectLst/>
        </p:spPr>
        <p:txBody>
          <a:bodyPr>
            <a:spAutoFit/>
          </a:bodyPr>
          <a:lstStyle/>
          <a:p>
            <a:pPr marL="231775" indent="-231775"/>
            <a:endParaRPr lang="en-US" sz="800" dirty="0">
              <a:latin typeface="Arial" charset="0"/>
            </a:endParaRPr>
          </a:p>
          <a:p>
            <a:pPr marL="684213" lvl="1" indent="-227013"/>
            <a:endParaRPr lang="en-US" sz="1800" dirty="0">
              <a:latin typeface="Arial" charset="0"/>
            </a:endParaRPr>
          </a:p>
          <a:p>
            <a:pPr marL="684213" lvl="1" indent="-227013"/>
            <a:r>
              <a:rPr lang="en-US" sz="1800" dirty="0">
                <a:latin typeface="Arial" charset="0"/>
              </a:rPr>
              <a:t>During [the recent 3-year period], </a:t>
            </a:r>
            <a:r>
              <a:rPr lang="en-US" sz="1800" u="sng" dirty="0">
                <a:latin typeface="Arial" charset="0"/>
              </a:rPr>
              <a:t>did your enterprise introduce</a:t>
            </a:r>
            <a:r>
              <a:rPr lang="en-US" sz="1800" dirty="0">
                <a:latin typeface="Arial" charset="0"/>
              </a:rPr>
              <a:t>…</a:t>
            </a:r>
          </a:p>
          <a:p>
            <a:pPr marL="684213" lvl="1" indent="-227013"/>
            <a:r>
              <a:rPr lang="en-US" sz="800" dirty="0">
                <a:latin typeface="Arial" charset="0"/>
              </a:rPr>
              <a:t> </a:t>
            </a:r>
          </a:p>
          <a:p>
            <a:pPr marL="684213" lvl="1" indent="-227013">
              <a:buFontTx/>
              <a:buChar char="•"/>
            </a:pPr>
            <a:r>
              <a:rPr lang="en-US" sz="1800" dirty="0">
                <a:latin typeface="Arial" charset="0"/>
              </a:rPr>
              <a:t>new or significantly improved goods or services with respect to their capabilities, user friendliness, components or sub-systems?   (</a:t>
            </a:r>
            <a:r>
              <a:rPr lang="en-US" sz="1800" u="sng" dirty="0">
                <a:latin typeface="Arial" charset="0"/>
              </a:rPr>
              <a:t>Product innovation)</a:t>
            </a:r>
          </a:p>
          <a:p>
            <a:pPr marL="684213" lvl="1" indent="-227013">
              <a:buFontTx/>
              <a:buChar char="•"/>
            </a:pPr>
            <a:r>
              <a:rPr lang="en-US" sz="1800" dirty="0">
                <a:latin typeface="Arial" charset="0"/>
              </a:rPr>
              <a:t>a new or significantly improved production process, distribution method, or support activity for your goods or service? 	       (</a:t>
            </a:r>
            <a:r>
              <a:rPr lang="en-US" sz="1800" u="sng" dirty="0">
                <a:latin typeface="Arial" charset="0"/>
              </a:rPr>
              <a:t>Process innovation)</a:t>
            </a:r>
          </a:p>
          <a:p>
            <a:pPr marL="684213" lvl="1" indent="-227013">
              <a:buFontTx/>
              <a:buChar char="•"/>
            </a:pPr>
            <a:r>
              <a:rPr lang="en-US" sz="1800" dirty="0">
                <a:latin typeface="Arial" charset="0"/>
              </a:rPr>
              <a:t>new business practices; new methods of organizing work responsibilities and decision making; or new methods of organizing external relations with other firms or public institutions?  (</a:t>
            </a:r>
            <a:r>
              <a:rPr lang="en-US" sz="1800" u="sng" dirty="0">
                <a:latin typeface="Arial" charset="0"/>
              </a:rPr>
              <a:t>Organizational innovation)</a:t>
            </a:r>
            <a:endParaRPr lang="en-US" sz="1800" dirty="0">
              <a:latin typeface="Arial" charset="0"/>
            </a:endParaRPr>
          </a:p>
          <a:p>
            <a:pPr marL="684213" lvl="1" indent="-227013">
              <a:buFontTx/>
              <a:buChar char="•"/>
            </a:pPr>
            <a:r>
              <a:rPr lang="en-US" sz="1800" dirty="0">
                <a:latin typeface="Arial" charset="0"/>
              </a:rPr>
              <a:t>significant changes to the design or packaging of a good or service; new media or techniques for product promotion; new methods for product placement; or new methods of pricing goods or services? (</a:t>
            </a:r>
            <a:r>
              <a:rPr lang="en-US" sz="1800" u="sng" dirty="0">
                <a:latin typeface="Arial" charset="0"/>
              </a:rPr>
              <a:t>Marketing innovation</a:t>
            </a:r>
            <a:r>
              <a:rPr lang="en-US" sz="1800" dirty="0">
                <a:latin typeface="Arial" charset="0"/>
              </a:rPr>
              <a:t>)</a:t>
            </a:r>
          </a:p>
          <a:p>
            <a:pPr marL="684213" lvl="1" indent="-227013">
              <a:buFontTx/>
              <a:buChar char="•"/>
            </a:pPr>
            <a:endParaRPr lang="en-US" sz="1800" dirty="0">
              <a:latin typeface="Arial" charset="0"/>
            </a:endParaRPr>
          </a:p>
          <a:p>
            <a:pPr marL="684213" lvl="1" indent="-227013">
              <a:buFontTx/>
              <a:buChar char="•"/>
            </a:pPr>
            <a:endParaRPr lang="en-US" sz="1800" dirty="0">
              <a:latin typeface="Arial" charset="0"/>
            </a:endParaRPr>
          </a:p>
        </p:txBody>
      </p:sp>
      <p:sp>
        <p:nvSpPr>
          <p:cNvPr id="76807" name="Text Box 7"/>
          <p:cNvSpPr txBox="1">
            <a:spLocks noChangeArrowheads="1"/>
          </p:cNvSpPr>
          <p:nvPr/>
        </p:nvSpPr>
        <p:spPr bwMode="auto">
          <a:xfrm>
            <a:off x="76200" y="779462"/>
            <a:ext cx="8915400" cy="954107"/>
          </a:xfrm>
          <a:prstGeom prst="rect">
            <a:avLst/>
          </a:prstGeom>
          <a:noFill/>
          <a:ln w="9525">
            <a:noFill/>
            <a:miter lim="800000"/>
            <a:headEnd/>
            <a:tailEnd/>
          </a:ln>
          <a:effectLst/>
        </p:spPr>
        <p:txBody>
          <a:bodyPr wrap="square">
            <a:spAutoFit/>
          </a:bodyPr>
          <a:lstStyle/>
          <a:p>
            <a:pPr algn="ctr"/>
            <a:r>
              <a:rPr lang="en-US" sz="2800" b="1" dirty="0">
                <a:latin typeface="Arial" charset="0"/>
              </a:rPr>
              <a:t>What </a:t>
            </a:r>
            <a:r>
              <a:rPr lang="en-US" sz="2800" b="1" dirty="0">
                <a:solidFill>
                  <a:srgbClr val="FF0000"/>
                </a:solidFill>
                <a:latin typeface="Arial" charset="0"/>
              </a:rPr>
              <a:t>was</a:t>
            </a:r>
            <a:r>
              <a:rPr lang="en-US" sz="2800" b="1" dirty="0">
                <a:latin typeface="Arial" charset="0"/>
              </a:rPr>
              <a:t> Innovation per the </a:t>
            </a:r>
            <a:r>
              <a:rPr lang="en-US" sz="2800" b="1" dirty="0">
                <a:solidFill>
                  <a:srgbClr val="FF0000"/>
                </a:solidFill>
                <a:latin typeface="Arial" charset="0"/>
              </a:rPr>
              <a:t>old</a:t>
            </a:r>
            <a:r>
              <a:rPr lang="en-US" sz="2800" b="1" dirty="0">
                <a:latin typeface="Arial" charset="0"/>
              </a:rPr>
              <a:t> Oslo Manual (2005) &amp; European Community Innovation Survey?</a:t>
            </a:r>
          </a:p>
        </p:txBody>
      </p:sp>
      <p:pic>
        <p:nvPicPr>
          <p:cNvPr id="9" name="Picture 8" descr="nsf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NCSES_logo_oneline_150.eps"/>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130270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38963"/>
            <a:ext cx="8839200" cy="1143000"/>
          </a:xfrm>
        </p:spPr>
        <p:txBody>
          <a:bodyPr/>
          <a:lstStyle/>
          <a:p>
            <a:r>
              <a:rPr lang="en-US" sz="2800" b="1" dirty="0">
                <a:latin typeface="Arial" panose="020B0604020202020204" pitchFamily="34" charset="0"/>
                <a:cs typeface="Arial" panose="020B0604020202020204" pitchFamily="34" charset="0"/>
              </a:rPr>
              <a:t>2018 Oslo Manual Revision Process</a:t>
            </a:r>
            <a:br>
              <a:rPr lang="en-US" sz="2800" b="1" dirty="0">
                <a:latin typeface="Arial" panose="020B0604020202020204" pitchFamily="34" charset="0"/>
                <a:cs typeface="Arial" panose="020B0604020202020204" pitchFamily="34" charset="0"/>
              </a:rPr>
            </a:br>
            <a:endParaRPr lang="en-US" sz="1800" dirty="0"/>
          </a:p>
        </p:txBody>
      </p:sp>
      <p:sp>
        <p:nvSpPr>
          <p:cNvPr id="3" name="Content Placeholder 2"/>
          <p:cNvSpPr>
            <a:spLocks noGrp="1"/>
          </p:cNvSpPr>
          <p:nvPr>
            <p:ph idx="1"/>
          </p:nvPr>
        </p:nvSpPr>
        <p:spPr>
          <a:xfrm>
            <a:off x="457200" y="1635217"/>
            <a:ext cx="8057029" cy="4525963"/>
          </a:xfrm>
        </p:spPr>
        <p:txBody>
          <a:bodyPr>
            <a:noAutofit/>
          </a:bodyPr>
          <a:lstStyle/>
          <a:p>
            <a:r>
              <a:rPr lang="en-US" sz="1600" dirty="0">
                <a:latin typeface="Arial" panose="020B0604020202020204" pitchFamily="34" charset="0"/>
                <a:cs typeface="Arial" panose="020B0604020202020204" pitchFamily="34" charset="0"/>
              </a:rPr>
              <a:t>Three year international effort, led by the OECD’s Working Party of National Experts on Science and Technology Indicators (NESTI) and the European Union. Resulted in the 4</a:t>
            </a:r>
            <a:r>
              <a:rPr lang="en-US" sz="1600" baseline="30000" dirty="0">
                <a:latin typeface="Arial" panose="020B0604020202020204" pitchFamily="34" charset="0"/>
                <a:cs typeface="Arial" panose="020B0604020202020204" pitchFamily="34" charset="0"/>
              </a:rPr>
              <a:t>th</a:t>
            </a:r>
            <a:r>
              <a:rPr lang="en-US" sz="1600" dirty="0">
                <a:latin typeface="Arial" panose="020B0604020202020204" pitchFamily="34" charset="0"/>
                <a:cs typeface="Arial" panose="020B0604020202020204" pitchFamily="34" charset="0"/>
              </a:rPr>
              <a:t> edition of the Oslo Manual (2018), formally launched in Paris on October 22, 2018. </a:t>
            </a:r>
          </a:p>
          <a:p>
            <a:r>
              <a:rPr lang="en-US" sz="1600" dirty="0">
                <a:latin typeface="Arial" panose="020B0604020202020204" pitchFamily="34" charset="0"/>
                <a:cs typeface="Arial" panose="020B0604020202020204" pitchFamily="34" charset="0"/>
              </a:rPr>
              <a:t>Provides general definition of innovation and revised concepts for measuring business innovation (upcoming slide)</a:t>
            </a:r>
          </a:p>
          <a:p>
            <a:r>
              <a:rPr lang="en-US" sz="1600" dirty="0">
                <a:latin typeface="Arial" panose="020B0604020202020204" pitchFamily="34" charset="0"/>
                <a:cs typeface="Arial" panose="020B0604020202020204" pitchFamily="34" charset="0"/>
              </a:rPr>
              <a:t>Adaptation of terminology to be consistent with the System of National Accounts (SNA) and with other statistical manuals such as the Frascati Manual (for collecting R&amp;D information)</a:t>
            </a:r>
          </a:p>
          <a:p>
            <a:r>
              <a:rPr lang="en-US" sz="1600" dirty="0">
                <a:latin typeface="Arial" panose="020B0604020202020204" pitchFamily="34" charset="0"/>
                <a:cs typeface="Arial" panose="020B0604020202020204" pitchFamily="34" charset="0"/>
              </a:rPr>
              <a:t>Acknowledges cross-cutting issues: Digitalization and Globalization</a:t>
            </a:r>
          </a:p>
          <a:p>
            <a:r>
              <a:rPr lang="en-US" sz="1600" dirty="0">
                <a:latin typeface="Arial" panose="020B0604020202020204" pitchFamily="34" charset="0"/>
                <a:cs typeface="Arial" panose="020B0604020202020204" pitchFamily="34" charset="0"/>
              </a:rPr>
              <a:t>Specific provision for experimentation in terms of types of questions and types of data (e.g., administrative data)</a:t>
            </a:r>
          </a:p>
          <a:p>
            <a:r>
              <a:rPr lang="en-US" sz="1600" dirty="0">
                <a:latin typeface="Arial" panose="020B0604020202020204" pitchFamily="34" charset="0"/>
                <a:cs typeface="Arial" panose="020B0604020202020204" pitchFamily="34" charset="0"/>
              </a:rPr>
              <a:t>Includes expanded methodological guidance</a:t>
            </a:r>
          </a:p>
          <a:p>
            <a:r>
              <a:rPr lang="en-US" sz="1600" dirty="0">
                <a:latin typeface="Arial" panose="020B0604020202020204" pitchFamily="34" charset="0"/>
                <a:cs typeface="Arial" panose="020B0604020202020204" pitchFamily="34" charset="0"/>
              </a:rPr>
              <a:t>Recognizes the object-based approach for measuring innovation (focal innovation), but emphasizes subject-based approach</a:t>
            </a:r>
          </a:p>
          <a:p>
            <a:r>
              <a:rPr lang="en-US" sz="1800" dirty="0">
                <a:latin typeface="Arial" panose="020B0604020202020204" pitchFamily="34" charset="0"/>
                <a:cs typeface="Arial" panose="020B0604020202020204" pitchFamily="34" charset="0"/>
              </a:rPr>
              <a:t>Broad expansion of topic areas</a:t>
            </a:r>
            <a:endParaRPr lang="en-US" sz="1800" dirty="0">
              <a:solidFill>
                <a:srgbClr val="FF0000"/>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CF23767F-6E32-4FC2-9154-82A7B294267E}" type="slidenum">
              <a:rPr lang="en-US" smtClean="0"/>
              <a:t>24</a:t>
            </a:fld>
            <a:endParaRPr lang="en-US"/>
          </a:p>
        </p:txBody>
      </p:sp>
      <p:pic>
        <p:nvPicPr>
          <p:cNvPr id="6" name="Picture 5" descr="nsf2">
            <a:extLst>
              <a:ext uri="{FF2B5EF4-FFF2-40B4-BE49-F238E27FC236}">
                <a16:creationId xmlns:a16="http://schemas.microsoft.com/office/drawing/2014/main" id="{384F3B49-FAEE-4F3E-A215-D7FEBE45EC9C}"/>
              </a:ext>
            </a:extLst>
          </p:cNvPr>
          <p:cNvPicPr>
            <a:picLocks noChangeAspect="1" noChangeArrowheads="1"/>
          </p:cNvPicPr>
          <p:nvPr/>
        </p:nvPicPr>
        <p:blipFill>
          <a:blip r:embed="rId3" cstate="print"/>
          <a:srcRect/>
          <a:stretch>
            <a:fillRect/>
          </a:stretch>
        </p:blipFill>
        <p:spPr bwMode="auto">
          <a:xfrm>
            <a:off x="76200" y="79375"/>
            <a:ext cx="533400" cy="530225"/>
          </a:xfrm>
          <a:prstGeom prst="rect">
            <a:avLst/>
          </a:prstGeom>
          <a:noFill/>
          <a:ln w="9525">
            <a:noFill/>
            <a:miter lim="800000"/>
            <a:headEnd/>
            <a:tailEnd/>
          </a:ln>
        </p:spPr>
      </p:pic>
      <p:pic>
        <p:nvPicPr>
          <p:cNvPr id="7" name="Picture 6" descr="NCSES_logo_oneline_150.eps">
            <a:extLst>
              <a:ext uri="{FF2B5EF4-FFF2-40B4-BE49-F238E27FC236}">
                <a16:creationId xmlns:a16="http://schemas.microsoft.com/office/drawing/2014/main" id="{56B3A7A2-CC82-493A-AD44-3BAF33CD4864}"/>
              </a:ext>
            </a:extLst>
          </p:cNvPr>
          <p:cNvPicPr>
            <a:picLocks noChangeAspect="1"/>
          </p:cNvPicPr>
          <p:nvPr/>
        </p:nvPicPr>
        <p:blipFill>
          <a:blip r:embed="rId4" cstate="print"/>
          <a:srcRect/>
          <a:stretch>
            <a:fillRect/>
          </a:stretch>
        </p:blipFill>
        <p:spPr bwMode="auto">
          <a:xfrm>
            <a:off x="4114800" y="134938"/>
            <a:ext cx="5029200" cy="474662"/>
          </a:xfrm>
          <a:prstGeom prst="rect">
            <a:avLst/>
          </a:prstGeom>
          <a:noFill/>
          <a:ln w="9525">
            <a:noFill/>
            <a:miter lim="800000"/>
            <a:headEnd/>
            <a:tailEnd/>
          </a:ln>
        </p:spPr>
      </p:pic>
      <p:sp>
        <p:nvSpPr>
          <p:cNvPr id="8" name="Rectangle 4">
            <a:extLst>
              <a:ext uri="{FF2B5EF4-FFF2-40B4-BE49-F238E27FC236}">
                <a16:creationId xmlns:a16="http://schemas.microsoft.com/office/drawing/2014/main" id="{103C131B-F2E2-451A-9037-7BE3612EDF8E}"/>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1459372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34582"/>
            <a:ext cx="9144000" cy="1143000"/>
          </a:xfrm>
        </p:spPr>
        <p:txBody>
          <a:bodyPr/>
          <a:lstStyle/>
          <a:p>
            <a:r>
              <a:rPr lang="en-US" sz="2800" b="1" dirty="0">
                <a:latin typeface="Arial" panose="020B0604020202020204" pitchFamily="34" charset="0"/>
                <a:cs typeface="Arial" panose="020B0604020202020204" pitchFamily="34" charset="0"/>
              </a:rPr>
              <a:t>Contents of 2018 Oslo Manual</a:t>
            </a:r>
            <a:br>
              <a:rPr lang="en-US" sz="2800" b="1" dirty="0">
                <a:latin typeface="Arial" panose="020B0604020202020204" pitchFamily="34" charset="0"/>
                <a:cs typeface="Arial" panose="020B0604020202020204" pitchFamily="34" charset="0"/>
              </a:rPr>
            </a:br>
            <a:r>
              <a:rPr lang="en-US" sz="2800" b="1" dirty="0">
                <a:latin typeface="Arial" panose="020B0604020202020204" pitchFamily="34" charset="0"/>
                <a:cs typeface="Arial" panose="020B0604020202020204" pitchFamily="34" charset="0"/>
              </a:rPr>
              <a:t>(What to Prioritize in the U.S. 2019 ABS Collection?)</a:t>
            </a:r>
            <a:br>
              <a:rPr lang="en-US" sz="2800" b="1" dirty="0">
                <a:latin typeface="Arial" panose="020B0604020202020204" pitchFamily="34" charset="0"/>
                <a:cs typeface="Arial" panose="020B0604020202020204" pitchFamily="34" charset="0"/>
              </a:rPr>
            </a:br>
            <a:endParaRPr lang="en-US" sz="1800" dirty="0"/>
          </a:p>
        </p:txBody>
      </p:sp>
      <p:sp>
        <p:nvSpPr>
          <p:cNvPr id="3" name="Content Placeholder 2"/>
          <p:cNvSpPr>
            <a:spLocks noGrp="1"/>
          </p:cNvSpPr>
          <p:nvPr>
            <p:ph idx="1"/>
          </p:nvPr>
        </p:nvSpPr>
        <p:spPr>
          <a:xfrm>
            <a:off x="299868" y="2177582"/>
            <a:ext cx="8844131" cy="4525963"/>
          </a:xfrm>
        </p:spPr>
        <p:txBody>
          <a:bodyPr>
            <a:noAutofit/>
          </a:bodyPr>
          <a:lstStyle/>
          <a:p>
            <a:r>
              <a:rPr lang="en-US" sz="1800" dirty="0">
                <a:latin typeface="Arial" panose="020B0604020202020204" pitchFamily="34" charset="0"/>
                <a:cs typeface="Arial" panose="020B0604020202020204" pitchFamily="34" charset="0"/>
              </a:rPr>
              <a:t>Chapter 1. Introduction to innovation statistics</a:t>
            </a:r>
          </a:p>
          <a:p>
            <a:r>
              <a:rPr lang="en-GB" sz="1800" dirty="0">
                <a:latin typeface="Arial" panose="020B0604020202020204" pitchFamily="34" charset="0"/>
                <a:cs typeface="Arial" panose="020B0604020202020204" pitchFamily="34" charset="0"/>
              </a:rPr>
              <a:t>Chapter 2. Concepts for measuring innovation</a:t>
            </a:r>
          </a:p>
          <a:p>
            <a:r>
              <a:rPr lang="en-GB" sz="1800" dirty="0">
                <a:latin typeface="Arial" panose="020B0604020202020204" pitchFamily="34" charset="0"/>
                <a:cs typeface="Arial" panose="020B0604020202020204" pitchFamily="34" charset="0"/>
              </a:rPr>
              <a:t>Chapter 3. Concepts and definitions for measuring business innovation</a:t>
            </a:r>
          </a:p>
          <a:p>
            <a:r>
              <a:rPr lang="en-GB" sz="1800" dirty="0">
                <a:solidFill>
                  <a:schemeClr val="tx2">
                    <a:lumMod val="60000"/>
                    <a:lumOff val="40000"/>
                  </a:schemeClr>
                </a:solidFill>
                <a:latin typeface="Arial" panose="020B0604020202020204" pitchFamily="34" charset="0"/>
                <a:cs typeface="Arial" panose="020B0604020202020204" pitchFamily="34" charset="0"/>
              </a:rPr>
              <a:t>Chapter 4. Measuring business innovation </a:t>
            </a:r>
            <a:r>
              <a:rPr lang="en-GB" sz="1800">
                <a:solidFill>
                  <a:schemeClr val="tx2">
                    <a:lumMod val="60000"/>
                    <a:lumOff val="40000"/>
                  </a:schemeClr>
                </a:solidFill>
                <a:latin typeface="Arial" panose="020B0604020202020204" pitchFamily="34" charset="0"/>
                <a:cs typeface="Arial" panose="020B0604020202020204" pitchFamily="34" charset="0"/>
              </a:rPr>
              <a:t>activities </a:t>
            </a:r>
          </a:p>
          <a:p>
            <a:r>
              <a:rPr lang="en-GB" sz="1800">
                <a:solidFill>
                  <a:schemeClr val="tx2">
                    <a:lumMod val="60000"/>
                    <a:lumOff val="40000"/>
                  </a:schemeClr>
                </a:solidFill>
                <a:latin typeface="Arial" panose="020B0604020202020204" pitchFamily="34" charset="0"/>
                <a:cs typeface="Arial" panose="020B0604020202020204" pitchFamily="34" charset="0"/>
              </a:rPr>
              <a:t>Chapter </a:t>
            </a:r>
            <a:r>
              <a:rPr lang="en-GB" sz="1800" dirty="0">
                <a:solidFill>
                  <a:schemeClr val="tx2">
                    <a:lumMod val="60000"/>
                    <a:lumOff val="40000"/>
                  </a:schemeClr>
                </a:solidFill>
                <a:latin typeface="Arial" panose="020B0604020202020204" pitchFamily="34" charset="0"/>
                <a:cs typeface="Arial" panose="020B0604020202020204" pitchFamily="34" charset="0"/>
              </a:rPr>
              <a:t>5. Measuring business capabilities for innovation </a:t>
            </a:r>
          </a:p>
          <a:p>
            <a:r>
              <a:rPr lang="en-GB" sz="1800" dirty="0">
                <a:solidFill>
                  <a:schemeClr val="tx2">
                    <a:lumMod val="60000"/>
                    <a:lumOff val="40000"/>
                  </a:schemeClr>
                </a:solidFill>
                <a:latin typeface="Arial" panose="020B0604020202020204" pitchFamily="34" charset="0"/>
                <a:cs typeface="Arial" panose="020B0604020202020204" pitchFamily="34" charset="0"/>
              </a:rPr>
              <a:t>Chapter 6. Business innovation and knowledge flows </a:t>
            </a:r>
          </a:p>
          <a:p>
            <a:r>
              <a:rPr lang="en-GB" sz="1800" dirty="0">
                <a:solidFill>
                  <a:schemeClr val="tx2">
                    <a:lumMod val="60000"/>
                    <a:lumOff val="40000"/>
                  </a:schemeClr>
                </a:solidFill>
                <a:latin typeface="Arial" panose="020B0604020202020204" pitchFamily="34" charset="0"/>
                <a:cs typeface="Arial" panose="020B0604020202020204" pitchFamily="34" charset="0"/>
              </a:rPr>
              <a:t>Chapter 7. Measuring external factors influencing firm innovation </a:t>
            </a:r>
          </a:p>
          <a:p>
            <a:r>
              <a:rPr lang="en-GB" sz="1800" dirty="0">
                <a:solidFill>
                  <a:schemeClr val="tx2">
                    <a:lumMod val="60000"/>
                    <a:lumOff val="40000"/>
                  </a:schemeClr>
                </a:solidFill>
                <a:latin typeface="Arial" panose="020B0604020202020204" pitchFamily="34" charset="0"/>
                <a:cs typeface="Arial" panose="020B0604020202020204" pitchFamily="34" charset="0"/>
              </a:rPr>
              <a:t>Chapter 8. Objectives and outcomes of business innovation </a:t>
            </a:r>
          </a:p>
          <a:p>
            <a:r>
              <a:rPr lang="en-GB" sz="1800" dirty="0">
                <a:latin typeface="Arial" panose="020B0604020202020204" pitchFamily="34" charset="0"/>
                <a:cs typeface="Arial" panose="020B0604020202020204" pitchFamily="34" charset="0"/>
              </a:rPr>
              <a:t>Chapter 9. Methods for collecting data on business innovation</a:t>
            </a:r>
          </a:p>
          <a:p>
            <a:r>
              <a:rPr lang="en-GB" sz="1800" dirty="0">
                <a:latin typeface="Arial" panose="020B0604020202020204" pitchFamily="34" charset="0"/>
                <a:cs typeface="Arial" panose="020B0604020202020204" pitchFamily="34" charset="0"/>
              </a:rPr>
              <a:t>Chapter 10. The object method for innovation measurement</a:t>
            </a:r>
          </a:p>
          <a:p>
            <a:r>
              <a:rPr lang="en-GB" sz="1800" dirty="0">
                <a:latin typeface="Arial" panose="020B0604020202020204" pitchFamily="34" charset="0"/>
                <a:cs typeface="Arial" panose="020B0604020202020204" pitchFamily="34" charset="0"/>
              </a:rPr>
              <a:t>Chapter 11. Use of innovation data for statistical indicators and analysis</a:t>
            </a:r>
          </a:p>
          <a:p>
            <a:endParaRPr lang="en-GB" sz="1000" dirty="0">
              <a:latin typeface="Arial" panose="020B0604020202020204" pitchFamily="34" charset="0"/>
              <a:cs typeface="Arial" panose="020B0604020202020204" pitchFamily="34" charset="0"/>
            </a:endParaRPr>
          </a:p>
          <a:p>
            <a:pPr marL="0" indent="0">
              <a:buNone/>
            </a:pPr>
            <a:r>
              <a:rPr lang="en-GB" sz="1800" dirty="0">
                <a:solidFill>
                  <a:srgbClr val="FF0000"/>
                </a:solidFill>
                <a:latin typeface="Arial" panose="020B0604020202020204" pitchFamily="34" charset="0"/>
                <a:cs typeface="Arial" panose="020B0604020202020204" pitchFamily="34" charset="0"/>
              </a:rPr>
              <a:t>Each chapter has recommendations for </a:t>
            </a:r>
            <a:r>
              <a:rPr lang="en-GB" sz="1800" u="sng" dirty="0">
                <a:solidFill>
                  <a:srgbClr val="FF0000"/>
                </a:solidFill>
                <a:latin typeface="Arial" panose="020B0604020202020204" pitchFamily="34" charset="0"/>
                <a:cs typeface="Arial" panose="020B0604020202020204" pitchFamily="34" charset="0"/>
              </a:rPr>
              <a:t>key indicators </a:t>
            </a:r>
            <a:r>
              <a:rPr lang="en-GB" sz="1800" dirty="0">
                <a:solidFill>
                  <a:srgbClr val="FF0000"/>
                </a:solidFill>
                <a:latin typeface="Arial" panose="020B0604020202020204" pitchFamily="34" charset="0"/>
                <a:cs typeface="Arial" panose="020B0604020202020204" pitchFamily="34" charset="0"/>
              </a:rPr>
              <a:t>and supplementary indicators—NCSES Workshop held in October 2018 to prioritize variables</a:t>
            </a:r>
            <a:endParaRPr lang="en-US" sz="1600" dirty="0">
              <a:solidFill>
                <a:srgbClr val="FF0000"/>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CF23767F-6E32-4FC2-9154-82A7B294267E}" type="slidenum">
              <a:rPr lang="en-US" smtClean="0"/>
              <a:t>25</a:t>
            </a:fld>
            <a:endParaRPr lang="en-US"/>
          </a:p>
        </p:txBody>
      </p:sp>
      <p:pic>
        <p:nvPicPr>
          <p:cNvPr id="6" name="Picture 5" descr="nsf2">
            <a:extLst>
              <a:ext uri="{FF2B5EF4-FFF2-40B4-BE49-F238E27FC236}">
                <a16:creationId xmlns:a16="http://schemas.microsoft.com/office/drawing/2014/main" id="{987FB3A6-88A8-4977-BA9D-F56B645B754A}"/>
              </a:ext>
            </a:extLst>
          </p:cNvPr>
          <p:cNvPicPr>
            <a:picLocks noChangeAspect="1" noChangeArrowheads="1"/>
          </p:cNvPicPr>
          <p:nvPr/>
        </p:nvPicPr>
        <p:blipFill>
          <a:blip r:embed="rId3" cstate="print"/>
          <a:srcRect/>
          <a:stretch>
            <a:fillRect/>
          </a:stretch>
        </p:blipFill>
        <p:spPr bwMode="auto">
          <a:xfrm>
            <a:off x="76200" y="79375"/>
            <a:ext cx="533400" cy="530225"/>
          </a:xfrm>
          <a:prstGeom prst="rect">
            <a:avLst/>
          </a:prstGeom>
          <a:noFill/>
          <a:ln w="9525">
            <a:noFill/>
            <a:miter lim="800000"/>
            <a:headEnd/>
            <a:tailEnd/>
          </a:ln>
        </p:spPr>
      </p:pic>
      <p:pic>
        <p:nvPicPr>
          <p:cNvPr id="7" name="Picture 6" descr="NCSES_logo_oneline_150.eps">
            <a:extLst>
              <a:ext uri="{FF2B5EF4-FFF2-40B4-BE49-F238E27FC236}">
                <a16:creationId xmlns:a16="http://schemas.microsoft.com/office/drawing/2014/main" id="{1C2C9EBD-CBFA-4072-8392-1DD71BC38654}"/>
              </a:ext>
            </a:extLst>
          </p:cNvPr>
          <p:cNvPicPr>
            <a:picLocks noChangeAspect="1"/>
          </p:cNvPicPr>
          <p:nvPr/>
        </p:nvPicPr>
        <p:blipFill>
          <a:blip r:embed="rId4" cstate="print"/>
          <a:srcRect/>
          <a:stretch>
            <a:fillRect/>
          </a:stretch>
        </p:blipFill>
        <p:spPr bwMode="auto">
          <a:xfrm>
            <a:off x="4114800" y="134938"/>
            <a:ext cx="5029200" cy="474662"/>
          </a:xfrm>
          <a:prstGeom prst="rect">
            <a:avLst/>
          </a:prstGeom>
          <a:noFill/>
          <a:ln w="9525">
            <a:noFill/>
            <a:miter lim="800000"/>
            <a:headEnd/>
            <a:tailEnd/>
          </a:ln>
        </p:spPr>
      </p:pic>
      <p:sp>
        <p:nvSpPr>
          <p:cNvPr id="8" name="Rectangle 4">
            <a:extLst>
              <a:ext uri="{FF2B5EF4-FFF2-40B4-BE49-F238E27FC236}">
                <a16:creationId xmlns:a16="http://schemas.microsoft.com/office/drawing/2014/main" id="{4A35543F-0145-4ED4-B424-3E1C17018276}"/>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33910382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671" y="1034582"/>
            <a:ext cx="8839200" cy="1143000"/>
          </a:xfrm>
        </p:spPr>
        <p:txBody>
          <a:bodyPr/>
          <a:lstStyle/>
          <a:p>
            <a:r>
              <a:rPr lang="en-US" sz="2800" b="1" dirty="0">
                <a:latin typeface="Arial" panose="020B0604020202020204" pitchFamily="34" charset="0"/>
                <a:cs typeface="Arial" panose="020B0604020202020204" pitchFamily="34" charset="0"/>
              </a:rPr>
              <a:t>General Definition(s) of Innovation (1)</a:t>
            </a:r>
            <a:br>
              <a:rPr lang="en-US" sz="2800" b="1" dirty="0">
                <a:latin typeface="Arial" panose="020B0604020202020204" pitchFamily="34" charset="0"/>
                <a:cs typeface="Arial" panose="020B0604020202020204" pitchFamily="34" charset="0"/>
              </a:rPr>
            </a:br>
            <a:endParaRPr lang="en-US" sz="1800" dirty="0"/>
          </a:p>
        </p:txBody>
      </p:sp>
      <p:sp>
        <p:nvSpPr>
          <p:cNvPr id="3" name="Content Placeholder 2"/>
          <p:cNvSpPr>
            <a:spLocks noGrp="1"/>
          </p:cNvSpPr>
          <p:nvPr>
            <p:ph idx="1"/>
          </p:nvPr>
        </p:nvSpPr>
        <p:spPr>
          <a:xfrm>
            <a:off x="477371" y="1905000"/>
            <a:ext cx="8305800" cy="4525963"/>
          </a:xfrm>
        </p:spPr>
        <p:txBody>
          <a:bodyPr>
            <a:noAutofit/>
          </a:bodyPr>
          <a:lstStyle/>
          <a:p>
            <a:r>
              <a:rPr lang="en-GB" sz="1800" dirty="0">
                <a:latin typeface="Arial" panose="020B0604020202020204" pitchFamily="34" charset="0"/>
                <a:cs typeface="Arial" panose="020B0604020202020204" pitchFamily="34" charset="0"/>
              </a:rPr>
              <a:t>An </a:t>
            </a:r>
            <a:r>
              <a:rPr lang="en-GB" sz="1800" b="1" dirty="0">
                <a:latin typeface="Arial" panose="020B0604020202020204" pitchFamily="34" charset="0"/>
                <a:cs typeface="Arial" panose="020B0604020202020204" pitchFamily="34" charset="0"/>
              </a:rPr>
              <a:t>Innovation</a:t>
            </a:r>
            <a:r>
              <a:rPr lang="en-GB" sz="1800" dirty="0">
                <a:latin typeface="Arial" panose="020B0604020202020204" pitchFamily="34" charset="0"/>
                <a:cs typeface="Arial" panose="020B0604020202020204" pitchFamily="34" charset="0"/>
              </a:rPr>
              <a:t> is a new or improved product or process (or combination thereof) that differs significantly from the unit’s previous products or processes and that has been made available to potential users (product) or brought into use by the unit (process).</a:t>
            </a:r>
          </a:p>
          <a:p>
            <a:pPr lvl="1"/>
            <a:r>
              <a:rPr lang="en-GB" sz="1400" dirty="0">
                <a:latin typeface="Arial" panose="020B0604020202020204" pitchFamily="34" charset="0"/>
                <a:cs typeface="Arial" panose="020B0604020202020204" pitchFamily="34" charset="0"/>
              </a:rPr>
              <a:t>This definition is to be the basis for measuring innovation in all sectors of the economy.</a:t>
            </a:r>
          </a:p>
          <a:p>
            <a:endParaRPr lang="en-US" sz="1000" dirty="0">
              <a:latin typeface="Arial" panose="020B0604020202020204" pitchFamily="34" charset="0"/>
              <a:cs typeface="Arial" panose="020B0604020202020204" pitchFamily="34" charset="0"/>
            </a:endParaRPr>
          </a:p>
          <a:p>
            <a:r>
              <a:rPr lang="en-GB" sz="1800" dirty="0">
                <a:latin typeface="Arial" panose="020B0604020202020204" pitchFamily="34" charset="0"/>
                <a:cs typeface="Arial" panose="020B0604020202020204" pitchFamily="34" charset="0"/>
              </a:rPr>
              <a:t>A </a:t>
            </a:r>
            <a:r>
              <a:rPr lang="en-GB" sz="1800" b="1" dirty="0">
                <a:latin typeface="Arial" panose="020B0604020202020204" pitchFamily="34" charset="0"/>
                <a:cs typeface="Arial" panose="020B0604020202020204" pitchFamily="34" charset="0"/>
              </a:rPr>
              <a:t>business innovation </a:t>
            </a:r>
            <a:r>
              <a:rPr lang="en-GB" sz="1800" dirty="0">
                <a:latin typeface="Arial" panose="020B0604020202020204" pitchFamily="34" charset="0"/>
                <a:cs typeface="Arial" panose="020B0604020202020204" pitchFamily="34" charset="0"/>
              </a:rPr>
              <a:t>is a new or improved product or business process (or combination thereof) that differs significantly from the firm's previous products or business processes and that has been introduced on the market or brought into use by the firm.</a:t>
            </a:r>
            <a:endParaRPr lang="en-US" sz="1800" dirty="0">
              <a:latin typeface="Arial" panose="020B0604020202020204" pitchFamily="34" charset="0"/>
              <a:cs typeface="Arial" panose="020B0604020202020204" pitchFamily="34" charset="0"/>
            </a:endParaRPr>
          </a:p>
          <a:p>
            <a:pPr lvl="1"/>
            <a:r>
              <a:rPr lang="en-GB" sz="1600" dirty="0">
                <a:latin typeface="Arial" panose="020B0604020202020204" pitchFamily="34" charset="0"/>
                <a:cs typeface="Arial" panose="020B0604020202020204" pitchFamily="34" charset="0"/>
              </a:rPr>
              <a:t>A </a:t>
            </a:r>
            <a:r>
              <a:rPr lang="en-GB" sz="1600" b="1" dirty="0">
                <a:latin typeface="Arial" panose="020B0604020202020204" pitchFamily="34" charset="0"/>
                <a:cs typeface="Arial" panose="020B0604020202020204" pitchFamily="34" charset="0"/>
              </a:rPr>
              <a:t>product innovation </a:t>
            </a:r>
            <a:r>
              <a:rPr lang="en-GB" sz="1600" dirty="0">
                <a:latin typeface="Arial" panose="020B0604020202020204" pitchFamily="34" charset="0"/>
                <a:cs typeface="Arial" panose="020B0604020202020204" pitchFamily="34" charset="0"/>
              </a:rPr>
              <a:t>is a new or improved good or service that differs significantly from the firm’s previous goods or services and that has been introduced on the market.</a:t>
            </a:r>
          </a:p>
          <a:p>
            <a:pPr lvl="1"/>
            <a:r>
              <a:rPr lang="en-GB" sz="1600" dirty="0">
                <a:latin typeface="Arial" panose="020B0604020202020204" pitchFamily="34" charset="0"/>
                <a:cs typeface="Arial" panose="020B0604020202020204" pitchFamily="34" charset="0"/>
              </a:rPr>
              <a:t>A </a:t>
            </a:r>
            <a:r>
              <a:rPr lang="en-GB" sz="1600" b="1" dirty="0">
                <a:latin typeface="Arial" panose="020B0604020202020204" pitchFamily="34" charset="0"/>
                <a:cs typeface="Arial" panose="020B0604020202020204" pitchFamily="34" charset="0"/>
              </a:rPr>
              <a:t>business process innovation </a:t>
            </a:r>
            <a:r>
              <a:rPr lang="en-GB" sz="1600" dirty="0">
                <a:latin typeface="Arial" panose="020B0604020202020204" pitchFamily="34" charset="0"/>
                <a:cs typeface="Arial" panose="020B0604020202020204" pitchFamily="34" charset="0"/>
              </a:rPr>
              <a:t>is a new or improved business process for one or more business functions that differs significantly from the firm’s previous business processes and that has been brought into use by the firm</a:t>
            </a:r>
            <a:r>
              <a:rPr lang="en-US" sz="1600" dirty="0">
                <a:latin typeface="Arial" panose="020B0604020202020204" pitchFamily="34" charset="0"/>
                <a:cs typeface="Arial" panose="020B0604020202020204" pitchFamily="34" charset="0"/>
              </a:rPr>
              <a:t>. </a:t>
            </a:r>
          </a:p>
        </p:txBody>
      </p:sp>
      <p:sp>
        <p:nvSpPr>
          <p:cNvPr id="5" name="Slide Number Placeholder 4"/>
          <p:cNvSpPr>
            <a:spLocks noGrp="1"/>
          </p:cNvSpPr>
          <p:nvPr>
            <p:ph type="sldNum" sz="quarter" idx="12"/>
          </p:nvPr>
        </p:nvSpPr>
        <p:spPr/>
        <p:txBody>
          <a:bodyPr/>
          <a:lstStyle/>
          <a:p>
            <a:fld id="{CF23767F-6E32-4FC2-9154-82A7B294267E}" type="slidenum">
              <a:rPr lang="en-US" smtClean="0"/>
              <a:t>26</a:t>
            </a:fld>
            <a:endParaRPr lang="en-US"/>
          </a:p>
        </p:txBody>
      </p:sp>
      <p:pic>
        <p:nvPicPr>
          <p:cNvPr id="6" name="Picture 5" descr="nsf2">
            <a:extLst>
              <a:ext uri="{FF2B5EF4-FFF2-40B4-BE49-F238E27FC236}">
                <a16:creationId xmlns:a16="http://schemas.microsoft.com/office/drawing/2014/main" id="{C3881C30-4CFF-4E6B-B2E9-ABFFEBF05F89}"/>
              </a:ext>
            </a:extLst>
          </p:cNvPr>
          <p:cNvPicPr>
            <a:picLocks noChangeAspect="1" noChangeArrowheads="1"/>
          </p:cNvPicPr>
          <p:nvPr/>
        </p:nvPicPr>
        <p:blipFill>
          <a:blip r:embed="rId3" cstate="print"/>
          <a:srcRect/>
          <a:stretch>
            <a:fillRect/>
          </a:stretch>
        </p:blipFill>
        <p:spPr bwMode="auto">
          <a:xfrm>
            <a:off x="76200" y="79375"/>
            <a:ext cx="533400" cy="530225"/>
          </a:xfrm>
          <a:prstGeom prst="rect">
            <a:avLst/>
          </a:prstGeom>
          <a:noFill/>
          <a:ln w="9525">
            <a:noFill/>
            <a:miter lim="800000"/>
            <a:headEnd/>
            <a:tailEnd/>
          </a:ln>
        </p:spPr>
      </p:pic>
      <p:pic>
        <p:nvPicPr>
          <p:cNvPr id="7" name="Picture 6" descr="NCSES_logo_oneline_150.eps">
            <a:extLst>
              <a:ext uri="{FF2B5EF4-FFF2-40B4-BE49-F238E27FC236}">
                <a16:creationId xmlns:a16="http://schemas.microsoft.com/office/drawing/2014/main" id="{1A4D850A-C4C8-4056-816A-A31AE98E80DE}"/>
              </a:ext>
            </a:extLst>
          </p:cNvPr>
          <p:cNvPicPr>
            <a:picLocks noChangeAspect="1"/>
          </p:cNvPicPr>
          <p:nvPr/>
        </p:nvPicPr>
        <p:blipFill>
          <a:blip r:embed="rId4" cstate="print"/>
          <a:srcRect/>
          <a:stretch>
            <a:fillRect/>
          </a:stretch>
        </p:blipFill>
        <p:spPr bwMode="auto">
          <a:xfrm>
            <a:off x="4114800" y="134938"/>
            <a:ext cx="5029200" cy="474662"/>
          </a:xfrm>
          <a:prstGeom prst="rect">
            <a:avLst/>
          </a:prstGeom>
          <a:noFill/>
          <a:ln w="9525">
            <a:noFill/>
            <a:miter lim="800000"/>
            <a:headEnd/>
            <a:tailEnd/>
          </a:ln>
        </p:spPr>
      </p:pic>
      <p:sp>
        <p:nvSpPr>
          <p:cNvPr id="8" name="Rectangle 4">
            <a:extLst>
              <a:ext uri="{FF2B5EF4-FFF2-40B4-BE49-F238E27FC236}">
                <a16:creationId xmlns:a16="http://schemas.microsoft.com/office/drawing/2014/main" id="{7DCA8985-584A-4158-9C80-CD1F056FB4E8}"/>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1454345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671" y="1034582"/>
            <a:ext cx="8839200" cy="1143000"/>
          </a:xfrm>
        </p:spPr>
        <p:txBody>
          <a:bodyPr/>
          <a:lstStyle/>
          <a:p>
            <a:r>
              <a:rPr lang="en-US" sz="2800" b="1" dirty="0">
                <a:latin typeface="Arial" panose="020B0604020202020204" pitchFamily="34" charset="0"/>
                <a:cs typeface="Arial" panose="020B0604020202020204" pitchFamily="34" charset="0"/>
              </a:rPr>
              <a:t>General Definition(s) of Innovation (2)</a:t>
            </a:r>
            <a:br>
              <a:rPr lang="en-US" sz="2800" b="1" dirty="0">
                <a:latin typeface="Arial" panose="020B0604020202020204" pitchFamily="34" charset="0"/>
                <a:cs typeface="Arial" panose="020B0604020202020204" pitchFamily="34" charset="0"/>
              </a:rPr>
            </a:br>
            <a:endParaRPr lang="en-US" sz="1800" dirty="0"/>
          </a:p>
        </p:txBody>
      </p:sp>
      <p:sp>
        <p:nvSpPr>
          <p:cNvPr id="3" name="Content Placeholder 2"/>
          <p:cNvSpPr>
            <a:spLocks noGrp="1"/>
          </p:cNvSpPr>
          <p:nvPr>
            <p:ph idx="1"/>
          </p:nvPr>
        </p:nvSpPr>
        <p:spPr>
          <a:xfrm>
            <a:off x="477371" y="1905000"/>
            <a:ext cx="8361829" cy="4525963"/>
          </a:xfrm>
        </p:spPr>
        <p:txBody>
          <a:bodyPr>
            <a:noAutofit/>
          </a:bodyPr>
          <a:lstStyle/>
          <a:p>
            <a:r>
              <a:rPr lang="en-US" sz="1800" dirty="0">
                <a:latin typeface="Arial" panose="020B0604020202020204" pitchFamily="34" charset="0"/>
                <a:cs typeface="Arial" panose="020B0604020202020204" pitchFamily="34" charset="0"/>
              </a:rPr>
              <a:t>There are two major types of innovation by object: innovations that change the firm’s products (product innovations), and innovations that change the firm’s business processes (business process innovations)</a:t>
            </a:r>
          </a:p>
          <a:p>
            <a:pPr lvl="1"/>
            <a:r>
              <a:rPr lang="en-US" sz="1600" b="1" dirty="0">
                <a:latin typeface="Arial" panose="020B0604020202020204" pitchFamily="34" charset="0"/>
                <a:cs typeface="Arial" panose="020B0604020202020204" pitchFamily="34" charset="0"/>
              </a:rPr>
              <a:t>Product innovations </a:t>
            </a:r>
            <a:r>
              <a:rPr lang="en-US" sz="1600" dirty="0">
                <a:latin typeface="Arial" panose="020B0604020202020204" pitchFamily="34" charset="0"/>
                <a:cs typeface="Arial" panose="020B0604020202020204" pitchFamily="34" charset="0"/>
              </a:rPr>
              <a:t>can involve two generic types of products: goods (tangible objects) and services (intangible activities). (Note: Knowledge-capturing products, as identified in the SNA, can have the characteristics of either a good or service and concern the provision, storage, safekeeping, communication and dissemination of digital information that users can access repeatedly.) </a:t>
            </a:r>
          </a:p>
          <a:p>
            <a:pPr lvl="1"/>
            <a:r>
              <a:rPr lang="en-US" sz="1600" dirty="0">
                <a:latin typeface="Arial" panose="020B0604020202020204" pitchFamily="34" charset="0"/>
                <a:cs typeface="Arial" panose="020B0604020202020204" pitchFamily="34" charset="0"/>
              </a:rPr>
              <a:t>There are six types of </a:t>
            </a:r>
            <a:r>
              <a:rPr lang="en-US" sz="1600" b="1" dirty="0">
                <a:latin typeface="Arial" panose="020B0604020202020204" pitchFamily="34" charset="0"/>
                <a:cs typeface="Arial" panose="020B0604020202020204" pitchFamily="34" charset="0"/>
              </a:rPr>
              <a:t>business process functions</a:t>
            </a:r>
            <a:r>
              <a:rPr lang="en-US" sz="1600" dirty="0">
                <a:latin typeface="Arial" panose="020B0604020202020204" pitchFamily="34" charset="0"/>
                <a:cs typeface="Arial" panose="020B0604020202020204" pitchFamily="34" charset="0"/>
              </a:rPr>
              <a:t>: (1) methods for producing goods or providing services; (2) distribution and logistics; (3) marketing and sales; (4) information and communication systems; (5) administration and management activities; and (6) product and business process development (including activities to identify, develop or adapt products or a firm’s processes).</a:t>
            </a:r>
          </a:p>
          <a:p>
            <a:pPr marL="457200" lvl="1" indent="0">
              <a:buNone/>
            </a:pPr>
            <a:endParaRPr lang="en-US" sz="1600" dirty="0">
              <a:latin typeface="Arial" panose="020B0604020202020204" pitchFamily="34" charset="0"/>
              <a:cs typeface="Arial" panose="020B0604020202020204" pitchFamily="34" charset="0"/>
            </a:endParaRPr>
          </a:p>
          <a:p>
            <a:r>
              <a:rPr lang="en-GB" sz="1800" dirty="0">
                <a:latin typeface="Arial" panose="020B0604020202020204" pitchFamily="34" charset="0"/>
                <a:cs typeface="Arial" panose="020B0604020202020204" pitchFamily="34" charset="0"/>
              </a:rPr>
              <a:t>The 2018 Oslo Manual cross-walks this revised set of innovation types to the 2005 Oslo Manual’s four types of innovation. </a:t>
            </a:r>
            <a:endParaRPr lang="en-US" sz="16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CF23767F-6E32-4FC2-9154-82A7B294267E}" type="slidenum">
              <a:rPr lang="en-US" smtClean="0"/>
              <a:t>27</a:t>
            </a:fld>
            <a:endParaRPr lang="en-US"/>
          </a:p>
        </p:txBody>
      </p:sp>
      <p:pic>
        <p:nvPicPr>
          <p:cNvPr id="6" name="Picture 5" descr="nsf2">
            <a:extLst>
              <a:ext uri="{FF2B5EF4-FFF2-40B4-BE49-F238E27FC236}">
                <a16:creationId xmlns:a16="http://schemas.microsoft.com/office/drawing/2014/main" id="{CFA9A052-B03B-4901-BE0B-9D9C17D28484}"/>
              </a:ext>
            </a:extLst>
          </p:cNvPr>
          <p:cNvPicPr>
            <a:picLocks noChangeAspect="1" noChangeArrowheads="1"/>
          </p:cNvPicPr>
          <p:nvPr/>
        </p:nvPicPr>
        <p:blipFill>
          <a:blip r:embed="rId3" cstate="print"/>
          <a:srcRect/>
          <a:stretch>
            <a:fillRect/>
          </a:stretch>
        </p:blipFill>
        <p:spPr bwMode="auto">
          <a:xfrm>
            <a:off x="76200" y="79375"/>
            <a:ext cx="533400" cy="530225"/>
          </a:xfrm>
          <a:prstGeom prst="rect">
            <a:avLst/>
          </a:prstGeom>
          <a:noFill/>
          <a:ln w="9525">
            <a:noFill/>
            <a:miter lim="800000"/>
            <a:headEnd/>
            <a:tailEnd/>
          </a:ln>
        </p:spPr>
      </p:pic>
      <p:pic>
        <p:nvPicPr>
          <p:cNvPr id="7" name="Picture 6" descr="NCSES_logo_oneline_150.eps">
            <a:extLst>
              <a:ext uri="{FF2B5EF4-FFF2-40B4-BE49-F238E27FC236}">
                <a16:creationId xmlns:a16="http://schemas.microsoft.com/office/drawing/2014/main" id="{DB488A5B-D984-4348-B744-6249A7EE1085}"/>
              </a:ext>
            </a:extLst>
          </p:cNvPr>
          <p:cNvPicPr>
            <a:picLocks noChangeAspect="1"/>
          </p:cNvPicPr>
          <p:nvPr/>
        </p:nvPicPr>
        <p:blipFill>
          <a:blip r:embed="rId4" cstate="print"/>
          <a:srcRect/>
          <a:stretch>
            <a:fillRect/>
          </a:stretch>
        </p:blipFill>
        <p:spPr bwMode="auto">
          <a:xfrm>
            <a:off x="4114800" y="134938"/>
            <a:ext cx="5029200" cy="474662"/>
          </a:xfrm>
          <a:prstGeom prst="rect">
            <a:avLst/>
          </a:prstGeom>
          <a:noFill/>
          <a:ln w="9525">
            <a:noFill/>
            <a:miter lim="800000"/>
            <a:headEnd/>
            <a:tailEnd/>
          </a:ln>
        </p:spPr>
      </p:pic>
      <p:sp>
        <p:nvSpPr>
          <p:cNvPr id="8" name="Rectangle 4">
            <a:extLst>
              <a:ext uri="{FF2B5EF4-FFF2-40B4-BE49-F238E27FC236}">
                <a16:creationId xmlns:a16="http://schemas.microsoft.com/office/drawing/2014/main" id="{9D496E35-BCF4-4D7E-9F81-030A262869D0}"/>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19280827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85800" y="838200"/>
            <a:ext cx="7772400" cy="762000"/>
          </a:xfrm>
        </p:spPr>
        <p:txBody>
          <a:bodyPr/>
          <a:lstStyle/>
          <a:p>
            <a:pPr eaLnBrk="1" hangingPunct="1"/>
            <a:r>
              <a:rPr lang="en-US" sz="2800" b="1" dirty="0">
                <a:latin typeface="Arial" pitchFamily="34" charset="0"/>
                <a:cs typeface="Arial" pitchFamily="34" charset="0"/>
              </a:rPr>
              <a:t>2009-16 BRDIS Innovation Questions </a:t>
            </a:r>
          </a:p>
        </p:txBody>
      </p:sp>
      <p:sp>
        <p:nvSpPr>
          <p:cNvPr id="5123" name="Rectangle 3"/>
          <p:cNvSpPr>
            <a:spLocks noGrp="1" noChangeArrowheads="1"/>
          </p:cNvSpPr>
          <p:nvPr>
            <p:ph type="body" idx="1"/>
          </p:nvPr>
        </p:nvSpPr>
        <p:spPr bwMode="auto">
          <a:xfrm>
            <a:off x="76200" y="1676400"/>
            <a:ext cx="9067800" cy="4686300"/>
          </a:xfrm>
          <a:noFill/>
          <a:ln>
            <a:miter lim="800000"/>
            <a:headEnd/>
            <a:tailEnd/>
          </a:ln>
        </p:spPr>
        <p:txBody>
          <a:bodyPr vert="horz" wrap="square" lIns="91440" tIns="45720" rIns="91440" bIns="45720" numCol="1" anchor="t" anchorCtr="0" compatLnSpc="1">
            <a:prstTxWarp prst="textNoShape">
              <a:avLst/>
            </a:prstTxWarp>
            <a:noAutofit/>
          </a:bodyPr>
          <a:lstStyle/>
          <a:p>
            <a:pPr marL="406400" indent="-406400" eaLnBrk="1" hangingPunct="1">
              <a:buClr>
                <a:schemeClr val="tx1"/>
              </a:buClr>
            </a:pPr>
            <a:r>
              <a:rPr lang="en-US" sz="1800" dirty="0">
                <a:latin typeface="Arial" pitchFamily="34" charset="0"/>
                <a:cs typeface="Arial" pitchFamily="34" charset="0"/>
              </a:rPr>
              <a:t>BRDIS was to be a platform for innovation (based on 2005 OM) questions </a:t>
            </a:r>
          </a:p>
          <a:p>
            <a:pPr marL="406400" indent="-406400">
              <a:buClr>
                <a:schemeClr val="tx1"/>
              </a:buClr>
            </a:pPr>
            <a:r>
              <a:rPr lang="en-US" sz="1800" dirty="0">
                <a:latin typeface="Arial" pitchFamily="34" charset="0"/>
                <a:cs typeface="Arial" pitchFamily="34" charset="0"/>
              </a:rPr>
              <a:t>Measures only product and process innovation </a:t>
            </a:r>
          </a:p>
          <a:p>
            <a:pPr marL="406400" indent="-406400">
              <a:buClr>
                <a:schemeClr val="tx1"/>
              </a:buClr>
              <a:buNone/>
            </a:pPr>
            <a:r>
              <a:rPr lang="en-US" sz="1800" dirty="0">
                <a:latin typeface="Arial" pitchFamily="34" charset="0"/>
                <a:cs typeface="Arial" pitchFamily="34" charset="0"/>
              </a:rPr>
              <a:t>	 Yes/No questions:  During 2007-2009, did you introduce…</a:t>
            </a:r>
          </a:p>
          <a:p>
            <a:pPr marL="1168400" lvl="1" indent="-711200" eaLnBrk="1" hangingPunct="1">
              <a:spcBef>
                <a:spcPts val="0"/>
              </a:spcBef>
              <a:buClr>
                <a:schemeClr val="tx1"/>
              </a:buClr>
              <a:buFontTx/>
              <a:buNone/>
            </a:pPr>
            <a:r>
              <a:rPr lang="en-US" sz="1800" dirty="0">
                <a:latin typeface="Arial" pitchFamily="34" charset="0"/>
                <a:cs typeface="Arial" pitchFamily="34" charset="0"/>
              </a:rPr>
              <a:t>- New or significantly improved goods? …services? </a:t>
            </a:r>
          </a:p>
          <a:p>
            <a:pPr marL="1168400" lvl="1" indent="-711200" eaLnBrk="1" hangingPunct="1">
              <a:spcBef>
                <a:spcPts val="0"/>
              </a:spcBef>
              <a:buClr>
                <a:schemeClr val="tx1"/>
              </a:buClr>
              <a:buFontTx/>
              <a:buNone/>
            </a:pPr>
            <a:r>
              <a:rPr lang="en-US" sz="1800" dirty="0">
                <a:latin typeface="Arial" pitchFamily="34" charset="0"/>
                <a:cs typeface="Arial" pitchFamily="34" charset="0"/>
              </a:rPr>
              <a:t>- New or significantly improved methods of manufacturing or producing goods or services? …logistics, delivery or distribution methods? …support activities?</a:t>
            </a:r>
          </a:p>
          <a:p>
            <a:pPr marL="1168400" lvl="1" indent="-711200" eaLnBrk="1" hangingPunct="1">
              <a:lnSpc>
                <a:spcPct val="120000"/>
              </a:lnSpc>
              <a:buFontTx/>
              <a:buChar char="-"/>
            </a:pPr>
            <a:endParaRPr lang="en-US" sz="1100" dirty="0">
              <a:latin typeface="Arial" pitchFamily="34" charset="0"/>
              <a:cs typeface="Arial" pitchFamily="34" charset="0"/>
            </a:endParaRPr>
          </a:p>
          <a:p>
            <a:pPr marL="406400" indent="-406400">
              <a:buClr>
                <a:schemeClr val="tx1"/>
              </a:buClr>
            </a:pPr>
            <a:r>
              <a:rPr lang="en-US" sz="1800" dirty="0">
                <a:latin typeface="Arial" pitchFamily="34" charset="0"/>
                <a:cs typeface="Arial" pitchFamily="34" charset="0"/>
              </a:rPr>
              <a:t>No specific guidance on defining innovation</a:t>
            </a:r>
          </a:p>
          <a:p>
            <a:pPr marL="406400" indent="-406400" eaLnBrk="1" hangingPunct="1">
              <a:buClr>
                <a:schemeClr val="tx1"/>
              </a:buClr>
            </a:pPr>
            <a:r>
              <a:rPr lang="en-US" sz="1800" dirty="0">
                <a:latin typeface="Arial" pitchFamily="34" charset="0"/>
                <a:cs typeface="Arial" pitchFamily="34" charset="0"/>
              </a:rPr>
              <a:t>Does not define innovative activity per se</a:t>
            </a:r>
          </a:p>
          <a:p>
            <a:pPr marL="406400" indent="-406400" eaLnBrk="1" hangingPunct="1">
              <a:buClr>
                <a:schemeClr val="tx1"/>
              </a:buClr>
              <a:buNone/>
            </a:pPr>
            <a:r>
              <a:rPr lang="en-US" sz="1800" dirty="0">
                <a:latin typeface="Arial" pitchFamily="34" charset="0"/>
                <a:cs typeface="Arial" pitchFamily="34" charset="0"/>
              </a:rPr>
              <a:t>	(for example, does not include performance of R&amp;D as an innovation activity)</a:t>
            </a:r>
          </a:p>
          <a:p>
            <a:pPr marL="406400" indent="-406400" eaLnBrk="1" hangingPunct="1">
              <a:buClr>
                <a:schemeClr val="tx1"/>
              </a:buClr>
              <a:buNone/>
            </a:pPr>
            <a:endParaRPr lang="en-US" sz="1800" dirty="0">
              <a:latin typeface="Arial" pitchFamily="34" charset="0"/>
              <a:cs typeface="Arial" pitchFamily="34" charset="0"/>
            </a:endParaRPr>
          </a:p>
          <a:p>
            <a:pPr marL="406400" indent="-406400">
              <a:spcBef>
                <a:spcPts val="0"/>
              </a:spcBef>
              <a:buClr>
                <a:schemeClr val="tx1"/>
              </a:buClr>
            </a:pPr>
            <a:r>
              <a:rPr lang="en-US" sz="1800" dirty="0">
                <a:latin typeface="Arial" pitchFamily="34" charset="0"/>
                <a:cs typeface="Arial" pitchFamily="34" charset="0"/>
              </a:rPr>
              <a:t>Degree of novelty:  Innovation sales as a percentage of total sales</a:t>
            </a:r>
          </a:p>
          <a:p>
            <a:pPr marL="1168400" lvl="1" indent="-711200">
              <a:spcBef>
                <a:spcPts val="0"/>
              </a:spcBef>
              <a:buNone/>
            </a:pPr>
            <a:r>
              <a:rPr lang="en-US" sz="1800" dirty="0">
                <a:latin typeface="Arial" pitchFamily="34" charset="0"/>
                <a:cs typeface="Arial" pitchFamily="34" charset="0"/>
              </a:rPr>
              <a:t>	- that were new to one of your markets</a:t>
            </a:r>
          </a:p>
          <a:p>
            <a:pPr marL="1168400" lvl="1" indent="-711200">
              <a:spcBef>
                <a:spcPts val="0"/>
              </a:spcBef>
              <a:buNone/>
            </a:pPr>
            <a:r>
              <a:rPr lang="en-US" sz="1800" dirty="0">
                <a:latin typeface="Arial" pitchFamily="34" charset="0"/>
                <a:cs typeface="Arial" pitchFamily="34" charset="0"/>
              </a:rPr>
              <a:t>	- that were only new to your firm</a:t>
            </a:r>
          </a:p>
          <a:p>
            <a:pPr marL="1168400" lvl="1" indent="-711200">
              <a:spcBef>
                <a:spcPts val="0"/>
              </a:spcBef>
              <a:buNone/>
            </a:pPr>
            <a:r>
              <a:rPr lang="en-US" sz="1800" dirty="0">
                <a:latin typeface="Arial" pitchFamily="34" charset="0"/>
                <a:cs typeface="Arial" pitchFamily="34" charset="0"/>
              </a:rPr>
              <a:t>	- that were unchanged or only marginally modified</a:t>
            </a:r>
          </a:p>
          <a:p>
            <a:pPr marL="1168400" lvl="1" indent="-711200" eaLnBrk="1" hangingPunct="1">
              <a:lnSpc>
                <a:spcPct val="120000"/>
              </a:lnSpc>
              <a:buFontTx/>
              <a:buNone/>
            </a:pPr>
            <a:endParaRPr lang="en-US" sz="160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pic>
        <p:nvPicPr>
          <p:cNvPr id="5" name="Picture 4" descr="nsf2">
            <a:extLst>
              <a:ext uri="{FF2B5EF4-FFF2-40B4-BE49-F238E27FC236}">
                <a16:creationId xmlns:a16="http://schemas.microsoft.com/office/drawing/2014/main" id="{582FD167-202A-499F-A1C7-79C4311B7AEF}"/>
              </a:ext>
            </a:extLst>
          </p:cNvPr>
          <p:cNvPicPr>
            <a:picLocks noChangeAspect="1" noChangeArrowheads="1"/>
          </p:cNvPicPr>
          <p:nvPr/>
        </p:nvPicPr>
        <p:blipFill>
          <a:blip r:embed="rId3" cstate="print"/>
          <a:srcRect/>
          <a:stretch>
            <a:fillRect/>
          </a:stretch>
        </p:blipFill>
        <p:spPr bwMode="auto">
          <a:xfrm>
            <a:off x="76200" y="79375"/>
            <a:ext cx="533400" cy="530225"/>
          </a:xfrm>
          <a:prstGeom prst="rect">
            <a:avLst/>
          </a:prstGeom>
          <a:noFill/>
          <a:ln w="9525">
            <a:noFill/>
            <a:miter lim="800000"/>
            <a:headEnd/>
            <a:tailEnd/>
          </a:ln>
        </p:spPr>
      </p:pic>
      <p:pic>
        <p:nvPicPr>
          <p:cNvPr id="6" name="Picture 5" descr="NCSES_logo_oneline_150.eps">
            <a:extLst>
              <a:ext uri="{FF2B5EF4-FFF2-40B4-BE49-F238E27FC236}">
                <a16:creationId xmlns:a16="http://schemas.microsoft.com/office/drawing/2014/main" id="{35296A18-658A-4302-848F-66CC8903707B}"/>
              </a:ext>
            </a:extLst>
          </p:cNvPr>
          <p:cNvPicPr>
            <a:picLocks noChangeAspect="1"/>
          </p:cNvPicPr>
          <p:nvPr/>
        </p:nvPicPr>
        <p:blipFill>
          <a:blip r:embed="rId4" cstate="print"/>
          <a:srcRect/>
          <a:stretch>
            <a:fillRect/>
          </a:stretch>
        </p:blipFill>
        <p:spPr bwMode="auto">
          <a:xfrm>
            <a:off x="4114800" y="134938"/>
            <a:ext cx="5029200" cy="474662"/>
          </a:xfrm>
          <a:prstGeom prst="rect">
            <a:avLst/>
          </a:prstGeom>
          <a:noFill/>
          <a:ln w="9525">
            <a:noFill/>
            <a:miter lim="800000"/>
            <a:headEnd/>
            <a:tailEnd/>
          </a:ln>
        </p:spPr>
      </p:pic>
      <p:sp>
        <p:nvSpPr>
          <p:cNvPr id="7" name="Rectangle 4">
            <a:extLst>
              <a:ext uri="{FF2B5EF4-FFF2-40B4-BE49-F238E27FC236}">
                <a16:creationId xmlns:a16="http://schemas.microsoft.com/office/drawing/2014/main" id="{9889CEDC-644D-4AE7-A456-482D45E65B0B}"/>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2961382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671" y="1034582"/>
            <a:ext cx="8839200" cy="1143000"/>
          </a:xfrm>
        </p:spPr>
        <p:txBody>
          <a:bodyPr/>
          <a:lstStyle/>
          <a:p>
            <a:r>
              <a:rPr lang="en-US" sz="2800" b="1" dirty="0">
                <a:latin typeface="Arial" panose="020B0604020202020204" pitchFamily="34" charset="0"/>
                <a:cs typeface="Arial" panose="020B0604020202020204" pitchFamily="34" charset="0"/>
              </a:rPr>
              <a:t>Revised Approach to 2016 Micro-BRDIS</a:t>
            </a:r>
            <a:br>
              <a:rPr lang="en-US" sz="2800" b="1" dirty="0">
                <a:latin typeface="Arial" panose="020B0604020202020204" pitchFamily="34" charset="0"/>
                <a:cs typeface="Arial" panose="020B0604020202020204" pitchFamily="34" charset="0"/>
              </a:rPr>
            </a:br>
            <a:endParaRPr lang="en-US" sz="1800" dirty="0"/>
          </a:p>
        </p:txBody>
      </p:sp>
      <p:sp>
        <p:nvSpPr>
          <p:cNvPr id="3" name="Content Placeholder 2"/>
          <p:cNvSpPr>
            <a:spLocks noGrp="1"/>
          </p:cNvSpPr>
          <p:nvPr>
            <p:ph idx="1"/>
          </p:nvPr>
        </p:nvSpPr>
        <p:spPr>
          <a:xfrm>
            <a:off x="477371" y="1905000"/>
            <a:ext cx="8305800" cy="4525963"/>
          </a:xfrm>
        </p:spPr>
        <p:txBody>
          <a:bodyPr>
            <a:noAutofit/>
          </a:bodyPr>
          <a:lstStyle/>
          <a:p>
            <a:r>
              <a:rPr lang="en-US" sz="1800" dirty="0">
                <a:latin typeface="Arial" panose="020B0604020202020204" pitchFamily="34" charset="0"/>
                <a:cs typeface="Arial" panose="020B0604020202020204" pitchFamily="34" charset="0"/>
              </a:rPr>
              <a:t>Respondents to this survey were very small businesses (1-9 employees) and cognitive testing found that wording different from that used in BRDIS worked better for them.</a:t>
            </a:r>
          </a:p>
          <a:p>
            <a:r>
              <a:rPr lang="en-US" sz="1800" dirty="0">
                <a:latin typeface="Arial" panose="020B0604020202020204" pitchFamily="34" charset="0"/>
                <a:cs typeface="Arial" panose="020B0604020202020204" pitchFamily="34" charset="0"/>
              </a:rPr>
              <a:t>Specific elements of innovation from the Oslo Manual definitions were incorporated into the question items. </a:t>
            </a:r>
          </a:p>
          <a:p>
            <a:r>
              <a:rPr lang="en-US" sz="1800" dirty="0">
                <a:latin typeface="Arial" panose="020B0604020202020204" pitchFamily="34" charset="0"/>
                <a:cs typeface="Arial" panose="020B0604020202020204" pitchFamily="34" charset="0"/>
              </a:rPr>
              <a:t>Included questions on product, process, organizational and marketing innovation. (BRDIS asked only about product and process innovation) </a:t>
            </a:r>
          </a:p>
          <a:p>
            <a:r>
              <a:rPr lang="en-US" sz="1800" dirty="0">
                <a:latin typeface="Arial" panose="020B0604020202020204" pitchFamily="34" charset="0"/>
                <a:cs typeface="Arial" panose="020B0604020202020204" pitchFamily="34" charset="0"/>
              </a:rPr>
              <a:t>Each aspect of innovation (for each form of product, process, marketing, and organization) was broken into individual yes/no questions. </a:t>
            </a:r>
          </a:p>
        </p:txBody>
      </p:sp>
      <p:sp>
        <p:nvSpPr>
          <p:cNvPr id="5" name="Slide Number Placeholder 4"/>
          <p:cNvSpPr>
            <a:spLocks noGrp="1"/>
          </p:cNvSpPr>
          <p:nvPr>
            <p:ph type="sldNum" sz="quarter" idx="12"/>
          </p:nvPr>
        </p:nvSpPr>
        <p:spPr/>
        <p:txBody>
          <a:bodyPr/>
          <a:lstStyle/>
          <a:p>
            <a:fld id="{CF23767F-6E32-4FC2-9154-82A7B294267E}" type="slidenum">
              <a:rPr lang="en-US" smtClean="0"/>
              <a:t>29</a:t>
            </a:fld>
            <a:endParaRPr lang="en-US"/>
          </a:p>
        </p:txBody>
      </p:sp>
      <p:pic>
        <p:nvPicPr>
          <p:cNvPr id="6" name="Picture 5" descr="nsf2">
            <a:extLst>
              <a:ext uri="{FF2B5EF4-FFF2-40B4-BE49-F238E27FC236}">
                <a16:creationId xmlns:a16="http://schemas.microsoft.com/office/drawing/2014/main" id="{68EE0F6F-72E2-4707-96DB-1AF5E1AE7391}"/>
              </a:ext>
            </a:extLst>
          </p:cNvPr>
          <p:cNvPicPr>
            <a:picLocks noChangeAspect="1" noChangeArrowheads="1"/>
          </p:cNvPicPr>
          <p:nvPr/>
        </p:nvPicPr>
        <p:blipFill>
          <a:blip r:embed="rId3" cstate="print"/>
          <a:srcRect/>
          <a:stretch>
            <a:fillRect/>
          </a:stretch>
        </p:blipFill>
        <p:spPr bwMode="auto">
          <a:xfrm>
            <a:off x="76200" y="79375"/>
            <a:ext cx="533400" cy="530225"/>
          </a:xfrm>
          <a:prstGeom prst="rect">
            <a:avLst/>
          </a:prstGeom>
          <a:noFill/>
          <a:ln w="9525">
            <a:noFill/>
            <a:miter lim="800000"/>
            <a:headEnd/>
            <a:tailEnd/>
          </a:ln>
        </p:spPr>
      </p:pic>
      <p:pic>
        <p:nvPicPr>
          <p:cNvPr id="7" name="Picture 6" descr="NCSES_logo_oneline_150.eps">
            <a:extLst>
              <a:ext uri="{FF2B5EF4-FFF2-40B4-BE49-F238E27FC236}">
                <a16:creationId xmlns:a16="http://schemas.microsoft.com/office/drawing/2014/main" id="{248D1958-B095-471A-AB1B-62AC252C5D8E}"/>
              </a:ext>
            </a:extLst>
          </p:cNvPr>
          <p:cNvPicPr>
            <a:picLocks noChangeAspect="1"/>
          </p:cNvPicPr>
          <p:nvPr/>
        </p:nvPicPr>
        <p:blipFill>
          <a:blip r:embed="rId4" cstate="print"/>
          <a:srcRect/>
          <a:stretch>
            <a:fillRect/>
          </a:stretch>
        </p:blipFill>
        <p:spPr bwMode="auto">
          <a:xfrm>
            <a:off x="4114800" y="134938"/>
            <a:ext cx="5029200" cy="474662"/>
          </a:xfrm>
          <a:prstGeom prst="rect">
            <a:avLst/>
          </a:prstGeom>
          <a:noFill/>
          <a:ln w="9525">
            <a:noFill/>
            <a:miter lim="800000"/>
            <a:headEnd/>
            <a:tailEnd/>
          </a:ln>
        </p:spPr>
      </p:pic>
      <p:sp>
        <p:nvSpPr>
          <p:cNvPr id="8" name="Rectangle 4">
            <a:extLst>
              <a:ext uri="{FF2B5EF4-FFF2-40B4-BE49-F238E27FC236}">
                <a16:creationId xmlns:a16="http://schemas.microsoft.com/office/drawing/2014/main" id="{B46FB287-47FA-4EC2-BAB1-886534C35972}"/>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18242808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671" y="1034582"/>
            <a:ext cx="8839200" cy="1143000"/>
          </a:xfrm>
        </p:spPr>
        <p:txBody>
          <a:bodyPr/>
          <a:lstStyle/>
          <a:p>
            <a:r>
              <a:rPr lang="en-US" sz="2800" b="1" dirty="0">
                <a:latin typeface="Arial" panose="020B0604020202020204" pitchFamily="34" charset="0"/>
                <a:cs typeface="Arial" panose="020B0604020202020204" pitchFamily="34" charset="0"/>
              </a:rPr>
              <a:t>Expanded Approach to reference year 2017 ABS </a:t>
            </a:r>
            <a:br>
              <a:rPr lang="en-US" sz="2800" b="1" dirty="0">
                <a:latin typeface="Arial" panose="020B0604020202020204" pitchFamily="34" charset="0"/>
                <a:cs typeface="Arial" panose="020B0604020202020204" pitchFamily="34" charset="0"/>
              </a:rPr>
            </a:br>
            <a:r>
              <a:rPr lang="en-US" sz="2800" b="1" dirty="0">
                <a:latin typeface="Arial" panose="020B0604020202020204" pitchFamily="34" charset="0"/>
                <a:cs typeface="Arial" panose="020B0604020202020204" pitchFamily="34" charset="0"/>
              </a:rPr>
              <a:t>(based substantially on 2005 OM)</a:t>
            </a:r>
            <a:br>
              <a:rPr lang="en-US" sz="2800" b="1" dirty="0">
                <a:latin typeface="Arial" panose="020B0604020202020204" pitchFamily="34" charset="0"/>
                <a:cs typeface="Arial" panose="020B0604020202020204" pitchFamily="34" charset="0"/>
              </a:rPr>
            </a:br>
            <a:endParaRPr lang="en-US" sz="1800" dirty="0"/>
          </a:p>
        </p:txBody>
      </p:sp>
      <p:sp>
        <p:nvSpPr>
          <p:cNvPr id="3" name="Content Placeholder 2"/>
          <p:cNvSpPr>
            <a:spLocks noGrp="1"/>
          </p:cNvSpPr>
          <p:nvPr>
            <p:ph idx="1"/>
          </p:nvPr>
        </p:nvSpPr>
        <p:spPr>
          <a:xfrm>
            <a:off x="396689" y="2179823"/>
            <a:ext cx="8366312" cy="4525963"/>
          </a:xfrm>
        </p:spPr>
        <p:txBody>
          <a:bodyPr>
            <a:noAutofit/>
          </a:bodyPr>
          <a:lstStyle/>
          <a:p>
            <a:r>
              <a:rPr lang="en-US" sz="2000" dirty="0">
                <a:latin typeface="Arial" panose="020B0604020202020204" pitchFamily="34" charset="0"/>
                <a:cs typeface="Arial" panose="020B0604020202020204" pitchFamily="34" charset="0"/>
              </a:rPr>
              <a:t>Launched in mid-2018 and currently being processed</a:t>
            </a:r>
          </a:p>
          <a:p>
            <a:r>
              <a:rPr lang="en-US" sz="2000" dirty="0">
                <a:latin typeface="Arial" panose="020B0604020202020204" pitchFamily="34" charset="0"/>
                <a:cs typeface="Arial" panose="020B0604020202020204" pitchFamily="34" charset="0"/>
              </a:rPr>
              <a:t>Included specific topics on innovation from the 2005 Oslo Manual, based on the European Community Innovation Survey. </a:t>
            </a:r>
          </a:p>
          <a:p>
            <a:r>
              <a:rPr lang="en-US" sz="2000" dirty="0">
                <a:latin typeface="Arial" panose="020B0604020202020204" pitchFamily="34" charset="0"/>
                <a:cs typeface="Arial" panose="020B0604020202020204" pitchFamily="34" charset="0"/>
              </a:rPr>
              <a:t>Definitions were incorporated into the question items on product, process, organizational and marketing innovation and included individual yes/no questions for each</a:t>
            </a:r>
          </a:p>
          <a:p>
            <a:r>
              <a:rPr lang="en-US" sz="2000" dirty="0">
                <a:latin typeface="Arial" panose="020B0604020202020204" pitchFamily="34" charset="0"/>
                <a:cs typeface="Arial" panose="020B0604020202020204" pitchFamily="34" charset="0"/>
              </a:rPr>
              <a:t>Included questions on</a:t>
            </a:r>
            <a:r>
              <a:rPr lang="en-US" sz="1800" dirty="0">
                <a:latin typeface="Arial" panose="020B0604020202020204" pitchFamily="34" charset="0"/>
                <a:cs typeface="Arial" panose="020B0604020202020204" pitchFamily="34" charset="0"/>
              </a:rPr>
              <a:t> </a:t>
            </a:r>
          </a:p>
          <a:p>
            <a:pPr lvl="1">
              <a:spcBef>
                <a:spcPts val="0"/>
              </a:spcBef>
            </a:pPr>
            <a:r>
              <a:rPr lang="en-US" sz="1800" dirty="0">
                <a:latin typeface="Arial" panose="020B0604020202020204" pitchFamily="34" charset="0"/>
                <a:cs typeface="Arial" panose="020B0604020202020204" pitchFamily="34" charset="0"/>
              </a:rPr>
              <a:t>Novelty of innovation (new to firm vs new to market)</a:t>
            </a:r>
          </a:p>
          <a:p>
            <a:pPr lvl="1">
              <a:spcBef>
                <a:spcPts val="0"/>
              </a:spcBef>
            </a:pPr>
            <a:r>
              <a:rPr lang="en-US" sz="1800" dirty="0">
                <a:latin typeface="Arial" panose="020B0604020202020204" pitchFamily="34" charset="0"/>
                <a:cs typeface="Arial" panose="020B0604020202020204" pitchFamily="34" charset="0"/>
              </a:rPr>
              <a:t>Percentage of innovation sales in total sales</a:t>
            </a:r>
          </a:p>
          <a:p>
            <a:pPr lvl="1">
              <a:spcBef>
                <a:spcPts val="0"/>
              </a:spcBef>
            </a:pPr>
            <a:r>
              <a:rPr lang="en-US" sz="1800" dirty="0">
                <a:latin typeface="Arial" panose="020B0604020202020204" pitchFamily="34" charset="0"/>
                <a:cs typeface="Arial" panose="020B0604020202020204" pitchFamily="34" charset="0"/>
              </a:rPr>
              <a:t>Importance of various business strategies</a:t>
            </a:r>
          </a:p>
          <a:p>
            <a:pPr lvl="1">
              <a:spcBef>
                <a:spcPts val="0"/>
              </a:spcBef>
            </a:pPr>
            <a:r>
              <a:rPr lang="en-US" sz="1800" dirty="0">
                <a:latin typeface="Arial" panose="020B0604020202020204" pitchFamily="34" charset="0"/>
                <a:cs typeface="Arial" panose="020B0604020202020204" pitchFamily="34" charset="0"/>
              </a:rPr>
              <a:t>Types of innovation activities engaged in</a:t>
            </a:r>
          </a:p>
          <a:p>
            <a:pPr lvl="1">
              <a:spcBef>
                <a:spcPts val="0"/>
              </a:spcBef>
            </a:pPr>
            <a:r>
              <a:rPr lang="en-US" sz="1800" dirty="0">
                <a:latin typeface="Arial" panose="020B0604020202020204" pitchFamily="34" charset="0"/>
                <a:cs typeface="Arial" panose="020B0604020202020204" pitchFamily="34" charset="0"/>
              </a:rPr>
              <a:t>Results of innovation activities (abandonment, successful, ongoing)</a:t>
            </a:r>
          </a:p>
          <a:p>
            <a:pPr lvl="1">
              <a:spcBef>
                <a:spcPts val="0"/>
              </a:spcBef>
            </a:pPr>
            <a:r>
              <a:rPr lang="en-US" sz="1800" dirty="0">
                <a:latin typeface="Arial" panose="020B0604020202020204" pitchFamily="34" charset="0"/>
                <a:cs typeface="Arial" panose="020B0604020202020204" pitchFamily="34" charset="0"/>
              </a:rPr>
              <a:t>Type and location of cooperation partner</a:t>
            </a:r>
          </a:p>
          <a:p>
            <a:pPr lvl="1">
              <a:spcBef>
                <a:spcPts val="0"/>
              </a:spcBef>
            </a:pPr>
            <a:r>
              <a:rPr lang="en-US" sz="1800" dirty="0">
                <a:latin typeface="Arial" panose="020B0604020202020204" pitchFamily="34" charset="0"/>
                <a:cs typeface="Arial" panose="020B0604020202020204" pitchFamily="34" charset="0"/>
              </a:rPr>
              <a:t>Factors interfering with business innovation </a:t>
            </a:r>
          </a:p>
        </p:txBody>
      </p:sp>
      <p:sp>
        <p:nvSpPr>
          <p:cNvPr id="5" name="Slide Number Placeholder 4"/>
          <p:cNvSpPr>
            <a:spLocks noGrp="1"/>
          </p:cNvSpPr>
          <p:nvPr>
            <p:ph type="sldNum" sz="quarter" idx="12"/>
          </p:nvPr>
        </p:nvSpPr>
        <p:spPr/>
        <p:txBody>
          <a:bodyPr/>
          <a:lstStyle/>
          <a:p>
            <a:fld id="{CF23767F-6E32-4FC2-9154-82A7B294267E}" type="slidenum">
              <a:rPr lang="en-US" smtClean="0"/>
              <a:t>30</a:t>
            </a:fld>
            <a:endParaRPr lang="en-US"/>
          </a:p>
        </p:txBody>
      </p:sp>
      <p:pic>
        <p:nvPicPr>
          <p:cNvPr id="6" name="Picture 5" descr="nsf2">
            <a:extLst>
              <a:ext uri="{FF2B5EF4-FFF2-40B4-BE49-F238E27FC236}">
                <a16:creationId xmlns:a16="http://schemas.microsoft.com/office/drawing/2014/main" id="{B6680BE5-FF21-4CCA-9216-2D1B3CF2D823}"/>
              </a:ext>
            </a:extLst>
          </p:cNvPr>
          <p:cNvPicPr>
            <a:picLocks noChangeAspect="1" noChangeArrowheads="1"/>
          </p:cNvPicPr>
          <p:nvPr/>
        </p:nvPicPr>
        <p:blipFill>
          <a:blip r:embed="rId3" cstate="print"/>
          <a:srcRect/>
          <a:stretch>
            <a:fillRect/>
          </a:stretch>
        </p:blipFill>
        <p:spPr bwMode="auto">
          <a:xfrm>
            <a:off x="76200" y="79375"/>
            <a:ext cx="533400" cy="530225"/>
          </a:xfrm>
          <a:prstGeom prst="rect">
            <a:avLst/>
          </a:prstGeom>
          <a:noFill/>
          <a:ln w="9525">
            <a:noFill/>
            <a:miter lim="800000"/>
            <a:headEnd/>
            <a:tailEnd/>
          </a:ln>
        </p:spPr>
      </p:pic>
      <p:pic>
        <p:nvPicPr>
          <p:cNvPr id="7" name="Picture 6" descr="NCSES_logo_oneline_150.eps">
            <a:extLst>
              <a:ext uri="{FF2B5EF4-FFF2-40B4-BE49-F238E27FC236}">
                <a16:creationId xmlns:a16="http://schemas.microsoft.com/office/drawing/2014/main" id="{86D38C5F-2D03-4926-BE71-2D2697B2D466}"/>
              </a:ext>
            </a:extLst>
          </p:cNvPr>
          <p:cNvPicPr>
            <a:picLocks noChangeAspect="1"/>
          </p:cNvPicPr>
          <p:nvPr/>
        </p:nvPicPr>
        <p:blipFill>
          <a:blip r:embed="rId4" cstate="print"/>
          <a:srcRect/>
          <a:stretch>
            <a:fillRect/>
          </a:stretch>
        </p:blipFill>
        <p:spPr bwMode="auto">
          <a:xfrm>
            <a:off x="4114800" y="134938"/>
            <a:ext cx="5029200" cy="474662"/>
          </a:xfrm>
          <a:prstGeom prst="rect">
            <a:avLst/>
          </a:prstGeom>
          <a:noFill/>
          <a:ln w="9525">
            <a:noFill/>
            <a:miter lim="800000"/>
            <a:headEnd/>
            <a:tailEnd/>
          </a:ln>
        </p:spPr>
      </p:pic>
      <p:sp>
        <p:nvSpPr>
          <p:cNvPr id="8" name="Rectangle 4">
            <a:extLst>
              <a:ext uri="{FF2B5EF4-FFF2-40B4-BE49-F238E27FC236}">
                <a16:creationId xmlns:a16="http://schemas.microsoft.com/office/drawing/2014/main" id="{DE0E4D11-1C7A-4D84-A4C1-FE4627522707}"/>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14920439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671" y="1034582"/>
            <a:ext cx="8839200" cy="1143000"/>
          </a:xfrm>
        </p:spPr>
        <p:txBody>
          <a:bodyPr/>
          <a:lstStyle/>
          <a:p>
            <a:r>
              <a:rPr lang="en-US" sz="2800" b="1" dirty="0">
                <a:latin typeface="Arial" pitchFamily="34" charset="0"/>
                <a:cs typeface="Arial" pitchFamily="34" charset="0"/>
              </a:rPr>
              <a:t>Reference year 2018 Annual Business Survey </a:t>
            </a:r>
            <a:br>
              <a:rPr lang="en-US" sz="2800" b="1" dirty="0">
                <a:latin typeface="Arial" pitchFamily="34" charset="0"/>
                <a:cs typeface="Arial" pitchFamily="34" charset="0"/>
              </a:rPr>
            </a:br>
            <a:r>
              <a:rPr lang="en-US" sz="2800" b="1" dirty="0">
                <a:latin typeface="Arial" pitchFamily="34" charset="0"/>
                <a:cs typeface="Arial" pitchFamily="34" charset="0"/>
              </a:rPr>
              <a:t>(based somewhat on 2018 OM)</a:t>
            </a:r>
            <a:br>
              <a:rPr lang="en-US" sz="2800" b="1" dirty="0">
                <a:latin typeface="Arial" pitchFamily="34" charset="0"/>
                <a:cs typeface="Arial" pitchFamily="34" charset="0"/>
              </a:rPr>
            </a:br>
            <a:endParaRPr lang="en-US" sz="1800" dirty="0"/>
          </a:p>
        </p:txBody>
      </p:sp>
      <p:sp>
        <p:nvSpPr>
          <p:cNvPr id="3" name="Content Placeholder 2"/>
          <p:cNvSpPr>
            <a:spLocks noGrp="1"/>
          </p:cNvSpPr>
          <p:nvPr>
            <p:ph idx="1"/>
          </p:nvPr>
        </p:nvSpPr>
        <p:spPr>
          <a:xfrm>
            <a:off x="533400" y="2179823"/>
            <a:ext cx="7772400" cy="4525963"/>
          </a:xfrm>
        </p:spPr>
        <p:txBody>
          <a:bodyPr>
            <a:noAutofit/>
          </a:bodyPr>
          <a:lstStyle/>
          <a:p>
            <a:r>
              <a:rPr lang="en-US" sz="1800" dirty="0">
                <a:latin typeface="Arial" panose="020B0604020202020204" pitchFamily="34" charset="0"/>
                <a:cs typeface="Arial" panose="020B0604020202020204" pitchFamily="34" charset="0"/>
              </a:rPr>
              <a:t>To be launched mid-2019 with reference year 2018</a:t>
            </a:r>
          </a:p>
          <a:p>
            <a:r>
              <a:rPr lang="en-US" sz="1800" dirty="0">
                <a:latin typeface="Arial" panose="020B0604020202020204" pitchFamily="34" charset="0"/>
                <a:cs typeface="Arial" panose="020B0604020202020204" pitchFamily="34" charset="0"/>
              </a:rPr>
              <a:t>Extremely scaled back version – in order to incorporate findings from an US experts workshop and methodological testing</a:t>
            </a:r>
          </a:p>
          <a:p>
            <a:r>
              <a:rPr lang="en-US" sz="1800" dirty="0">
                <a:latin typeface="Arial" panose="020B0604020202020204" pitchFamily="34" charset="0"/>
                <a:cs typeface="Arial" panose="020B0604020202020204" pitchFamily="34" charset="0"/>
              </a:rPr>
              <a:t>Incorporates new 2018 Oslo Manual definitions of innovation (upcoming slides)</a:t>
            </a:r>
          </a:p>
          <a:p>
            <a:r>
              <a:rPr lang="en-US" sz="1800" dirty="0">
                <a:latin typeface="Arial" panose="020B0604020202020204" pitchFamily="34" charset="0"/>
                <a:cs typeface="Arial" panose="020B0604020202020204" pitchFamily="34" charset="0"/>
              </a:rPr>
              <a:t>Includes questions on </a:t>
            </a:r>
          </a:p>
          <a:p>
            <a:pPr lvl="1"/>
            <a:r>
              <a:rPr lang="en-US" sz="1800" dirty="0">
                <a:latin typeface="Arial" panose="020B0604020202020204" pitchFamily="34" charset="0"/>
                <a:cs typeface="Arial" panose="020B0604020202020204" pitchFamily="34" charset="0"/>
              </a:rPr>
              <a:t>Percentage of innovation sales in total sales</a:t>
            </a:r>
          </a:p>
          <a:p>
            <a:pPr lvl="1"/>
            <a:r>
              <a:rPr lang="en-US" sz="1800" dirty="0">
                <a:latin typeface="Arial" panose="020B0604020202020204" pitchFamily="34" charset="0"/>
                <a:cs typeface="Arial" panose="020B0604020202020204" pitchFamily="34" charset="0"/>
              </a:rPr>
              <a:t>Types of innovation activities engaged in</a:t>
            </a:r>
          </a:p>
          <a:p>
            <a:pPr lvl="1"/>
            <a:r>
              <a:rPr lang="en-US" sz="1800" dirty="0">
                <a:latin typeface="Arial" panose="020B0604020202020204" pitchFamily="34" charset="0"/>
                <a:cs typeface="Arial" panose="020B0604020202020204" pitchFamily="34" charset="0"/>
              </a:rPr>
              <a:t>Total costs of innovation activities</a:t>
            </a:r>
          </a:p>
        </p:txBody>
      </p:sp>
      <p:sp>
        <p:nvSpPr>
          <p:cNvPr id="5" name="Slide Number Placeholder 4"/>
          <p:cNvSpPr>
            <a:spLocks noGrp="1"/>
          </p:cNvSpPr>
          <p:nvPr>
            <p:ph type="sldNum" sz="quarter" idx="12"/>
          </p:nvPr>
        </p:nvSpPr>
        <p:spPr/>
        <p:txBody>
          <a:bodyPr/>
          <a:lstStyle/>
          <a:p>
            <a:fld id="{CF23767F-6E32-4FC2-9154-82A7B294267E}" type="slidenum">
              <a:rPr lang="en-US" smtClean="0"/>
              <a:t>31</a:t>
            </a:fld>
            <a:endParaRPr lang="en-US"/>
          </a:p>
        </p:txBody>
      </p:sp>
      <p:pic>
        <p:nvPicPr>
          <p:cNvPr id="6" name="Picture 5" descr="nsf2">
            <a:extLst>
              <a:ext uri="{FF2B5EF4-FFF2-40B4-BE49-F238E27FC236}">
                <a16:creationId xmlns:a16="http://schemas.microsoft.com/office/drawing/2014/main" id="{D58E32B0-121E-410F-BD42-A30E9397A82B}"/>
              </a:ext>
            </a:extLst>
          </p:cNvPr>
          <p:cNvPicPr>
            <a:picLocks noChangeAspect="1" noChangeArrowheads="1"/>
          </p:cNvPicPr>
          <p:nvPr/>
        </p:nvPicPr>
        <p:blipFill>
          <a:blip r:embed="rId3" cstate="print"/>
          <a:srcRect/>
          <a:stretch>
            <a:fillRect/>
          </a:stretch>
        </p:blipFill>
        <p:spPr bwMode="auto">
          <a:xfrm>
            <a:off x="76200" y="79375"/>
            <a:ext cx="533400" cy="530225"/>
          </a:xfrm>
          <a:prstGeom prst="rect">
            <a:avLst/>
          </a:prstGeom>
          <a:noFill/>
          <a:ln w="9525">
            <a:noFill/>
            <a:miter lim="800000"/>
            <a:headEnd/>
            <a:tailEnd/>
          </a:ln>
        </p:spPr>
      </p:pic>
      <p:pic>
        <p:nvPicPr>
          <p:cNvPr id="7" name="Picture 6" descr="NCSES_logo_oneline_150.eps">
            <a:extLst>
              <a:ext uri="{FF2B5EF4-FFF2-40B4-BE49-F238E27FC236}">
                <a16:creationId xmlns:a16="http://schemas.microsoft.com/office/drawing/2014/main" id="{FB1A104D-1D42-4621-AA3E-49A512EF513E}"/>
              </a:ext>
            </a:extLst>
          </p:cNvPr>
          <p:cNvPicPr>
            <a:picLocks noChangeAspect="1"/>
          </p:cNvPicPr>
          <p:nvPr/>
        </p:nvPicPr>
        <p:blipFill>
          <a:blip r:embed="rId4" cstate="print"/>
          <a:srcRect/>
          <a:stretch>
            <a:fillRect/>
          </a:stretch>
        </p:blipFill>
        <p:spPr bwMode="auto">
          <a:xfrm>
            <a:off x="4114800" y="134938"/>
            <a:ext cx="5029200" cy="474662"/>
          </a:xfrm>
          <a:prstGeom prst="rect">
            <a:avLst/>
          </a:prstGeom>
          <a:noFill/>
          <a:ln w="9525">
            <a:noFill/>
            <a:miter lim="800000"/>
            <a:headEnd/>
            <a:tailEnd/>
          </a:ln>
        </p:spPr>
      </p:pic>
      <p:sp>
        <p:nvSpPr>
          <p:cNvPr id="8" name="Rectangle 4">
            <a:extLst>
              <a:ext uri="{FF2B5EF4-FFF2-40B4-BE49-F238E27FC236}">
                <a16:creationId xmlns:a16="http://schemas.microsoft.com/office/drawing/2014/main" id="{178B8E77-2D88-43CF-82DF-0187EFA91B5E}"/>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26772578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671" y="1034582"/>
            <a:ext cx="8839200" cy="1143000"/>
          </a:xfrm>
        </p:spPr>
        <p:txBody>
          <a:bodyPr/>
          <a:lstStyle/>
          <a:p>
            <a:r>
              <a:rPr lang="en-US" sz="2800" b="1" dirty="0">
                <a:latin typeface="Arial" pitchFamily="34" charset="0"/>
                <a:cs typeface="Arial" pitchFamily="34" charset="0"/>
              </a:rPr>
              <a:t>Reference year 2019 Annual Business Survey </a:t>
            </a:r>
            <a:br>
              <a:rPr lang="en-US" sz="2800" b="1" dirty="0">
                <a:latin typeface="Arial" pitchFamily="34" charset="0"/>
                <a:cs typeface="Arial" pitchFamily="34" charset="0"/>
              </a:rPr>
            </a:br>
            <a:r>
              <a:rPr lang="en-US" sz="2800" b="1" dirty="0">
                <a:latin typeface="Arial" pitchFamily="34" charset="0"/>
                <a:cs typeface="Arial" pitchFamily="34" charset="0"/>
              </a:rPr>
              <a:t>(based on 2018 OM and US priorities)</a:t>
            </a:r>
            <a:br>
              <a:rPr lang="en-US" sz="2800" b="1" dirty="0">
                <a:latin typeface="Arial" pitchFamily="34" charset="0"/>
                <a:cs typeface="Arial" pitchFamily="34" charset="0"/>
              </a:rPr>
            </a:br>
            <a:endParaRPr lang="en-US" sz="1800" dirty="0"/>
          </a:p>
        </p:txBody>
      </p:sp>
      <p:sp>
        <p:nvSpPr>
          <p:cNvPr id="3" name="Content Placeholder 2"/>
          <p:cNvSpPr>
            <a:spLocks noGrp="1"/>
          </p:cNvSpPr>
          <p:nvPr>
            <p:ph idx="1"/>
          </p:nvPr>
        </p:nvSpPr>
        <p:spPr>
          <a:xfrm>
            <a:off x="570614" y="2057400"/>
            <a:ext cx="7772400" cy="4525963"/>
          </a:xfrm>
        </p:spPr>
        <p:txBody>
          <a:bodyPr>
            <a:noAutofit/>
          </a:bodyPr>
          <a:lstStyle/>
          <a:p>
            <a:r>
              <a:rPr lang="en-US" sz="1800" dirty="0">
                <a:latin typeface="Arial" panose="020B0604020202020204" pitchFamily="34" charset="0"/>
                <a:cs typeface="Arial" panose="020B0604020202020204" pitchFamily="34" charset="0"/>
              </a:rPr>
              <a:t>To be launched mid-2020 with reference year 2019</a:t>
            </a:r>
          </a:p>
          <a:p>
            <a:r>
              <a:rPr lang="en-US" sz="1800" dirty="0">
                <a:latin typeface="Arial" panose="020B0604020202020204" pitchFamily="34" charset="0"/>
                <a:cs typeface="Arial" panose="020B0604020202020204" pitchFamily="34" charset="0"/>
              </a:rPr>
              <a:t>Expanded version of 2018 CIS – incorporate findings from experts’ workshop and methodological testing</a:t>
            </a:r>
          </a:p>
          <a:p>
            <a:r>
              <a:rPr lang="en-US" sz="1800" dirty="0">
                <a:latin typeface="Arial" panose="020B0604020202020204" pitchFamily="34" charset="0"/>
                <a:cs typeface="Arial" panose="020B0604020202020204" pitchFamily="34" charset="0"/>
              </a:rPr>
              <a:t>Includes questions on </a:t>
            </a:r>
          </a:p>
          <a:p>
            <a:pPr lvl="1"/>
            <a:r>
              <a:rPr lang="en-US" sz="1800" dirty="0">
                <a:latin typeface="Arial" panose="020B0604020202020204" pitchFamily="34" charset="0"/>
                <a:cs typeface="Arial" panose="020B0604020202020204" pitchFamily="34" charset="0"/>
              </a:rPr>
              <a:t>Novelty of the product innovation</a:t>
            </a:r>
          </a:p>
          <a:p>
            <a:pPr lvl="1"/>
            <a:r>
              <a:rPr lang="en-US" sz="1800" dirty="0">
                <a:latin typeface="Arial" panose="020B0604020202020204" pitchFamily="34" charset="0"/>
                <a:cs typeface="Arial" panose="020B0604020202020204" pitchFamily="34" charset="0"/>
              </a:rPr>
              <a:t>Percentage of innovation sales in total sales</a:t>
            </a:r>
          </a:p>
          <a:p>
            <a:pPr lvl="1"/>
            <a:r>
              <a:rPr lang="en-US" sz="1800" dirty="0">
                <a:latin typeface="Arial" panose="020B0604020202020204" pitchFamily="34" charset="0"/>
                <a:cs typeface="Arial" panose="020B0604020202020204" pitchFamily="34" charset="0"/>
              </a:rPr>
              <a:t>Sources of innovations, including innovation cooperation partners</a:t>
            </a:r>
          </a:p>
          <a:p>
            <a:pPr lvl="1"/>
            <a:r>
              <a:rPr lang="en-US" sz="1800" dirty="0">
                <a:latin typeface="Arial" panose="020B0604020202020204" pitchFamily="34" charset="0"/>
                <a:cs typeface="Arial" panose="020B0604020202020204" pitchFamily="34" charset="0"/>
              </a:rPr>
              <a:t>Types of improved business processes</a:t>
            </a:r>
          </a:p>
          <a:p>
            <a:pPr lvl="1"/>
            <a:r>
              <a:rPr lang="en-US" sz="1800" dirty="0">
                <a:latin typeface="Arial" panose="020B0604020202020204" pitchFamily="34" charset="0"/>
                <a:cs typeface="Arial" panose="020B0604020202020204" pitchFamily="34" charset="0"/>
              </a:rPr>
              <a:t>Types of innovation activities engaged in</a:t>
            </a:r>
          </a:p>
          <a:p>
            <a:pPr lvl="1"/>
            <a:r>
              <a:rPr lang="en-US" sz="1800" dirty="0">
                <a:latin typeface="Arial" panose="020B0604020202020204" pitchFamily="34" charset="0"/>
                <a:cs typeface="Arial" panose="020B0604020202020204" pitchFamily="34" charset="0"/>
              </a:rPr>
              <a:t>Total costs of innovation activities</a:t>
            </a:r>
          </a:p>
          <a:p>
            <a:pPr lvl="1"/>
            <a:r>
              <a:rPr lang="en-US" sz="1800" dirty="0">
                <a:latin typeface="Arial" panose="020B0604020202020204" pitchFamily="34" charset="0"/>
                <a:cs typeface="Arial" panose="020B0604020202020204" pitchFamily="34" charset="0"/>
              </a:rPr>
              <a:t>Government support for innovation</a:t>
            </a:r>
          </a:p>
          <a:p>
            <a:pPr lvl="1"/>
            <a:r>
              <a:rPr lang="en-US" sz="1800" dirty="0">
                <a:latin typeface="Arial" panose="020B0604020202020204" pitchFamily="34" charset="0"/>
                <a:cs typeface="Arial" panose="020B0604020202020204" pitchFamily="34" charset="0"/>
              </a:rPr>
              <a:t>Drivers and Barriers of innovation</a:t>
            </a:r>
          </a:p>
          <a:p>
            <a:pPr lvl="1"/>
            <a:r>
              <a:rPr lang="en-US" sz="1800" dirty="0">
                <a:latin typeface="Arial" panose="020B0604020202020204" pitchFamily="34" charset="0"/>
                <a:cs typeface="Arial" panose="020B0604020202020204" pitchFamily="34" charset="0"/>
              </a:rPr>
              <a:t>Business strategies</a:t>
            </a:r>
          </a:p>
          <a:p>
            <a:pPr lvl="1"/>
            <a:r>
              <a:rPr lang="en-US" sz="1800" dirty="0">
                <a:latin typeface="Arial" panose="020B0604020202020204" pitchFamily="34" charset="0"/>
                <a:cs typeface="Arial" panose="020B0604020202020204" pitchFamily="34" charset="0"/>
              </a:rPr>
              <a:t>Use of digital technologies</a:t>
            </a:r>
          </a:p>
          <a:p>
            <a:pPr lvl="1"/>
            <a:endParaRPr lang="en-US" sz="18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CF23767F-6E32-4FC2-9154-82A7B294267E}" type="slidenum">
              <a:rPr lang="en-US" smtClean="0"/>
              <a:t>32</a:t>
            </a:fld>
            <a:endParaRPr lang="en-US"/>
          </a:p>
        </p:txBody>
      </p:sp>
      <p:pic>
        <p:nvPicPr>
          <p:cNvPr id="6" name="Picture 5" descr="nsf2">
            <a:extLst>
              <a:ext uri="{FF2B5EF4-FFF2-40B4-BE49-F238E27FC236}">
                <a16:creationId xmlns:a16="http://schemas.microsoft.com/office/drawing/2014/main" id="{D58E32B0-121E-410F-BD42-A30E9397A82B}"/>
              </a:ext>
            </a:extLst>
          </p:cNvPr>
          <p:cNvPicPr>
            <a:picLocks noChangeAspect="1" noChangeArrowheads="1"/>
          </p:cNvPicPr>
          <p:nvPr/>
        </p:nvPicPr>
        <p:blipFill>
          <a:blip r:embed="rId3" cstate="print"/>
          <a:srcRect/>
          <a:stretch>
            <a:fillRect/>
          </a:stretch>
        </p:blipFill>
        <p:spPr bwMode="auto">
          <a:xfrm>
            <a:off x="76200" y="79375"/>
            <a:ext cx="533400" cy="530225"/>
          </a:xfrm>
          <a:prstGeom prst="rect">
            <a:avLst/>
          </a:prstGeom>
          <a:noFill/>
          <a:ln w="9525">
            <a:noFill/>
            <a:miter lim="800000"/>
            <a:headEnd/>
            <a:tailEnd/>
          </a:ln>
        </p:spPr>
      </p:pic>
      <p:pic>
        <p:nvPicPr>
          <p:cNvPr id="7" name="Picture 6" descr="NCSES_logo_oneline_150.eps">
            <a:extLst>
              <a:ext uri="{FF2B5EF4-FFF2-40B4-BE49-F238E27FC236}">
                <a16:creationId xmlns:a16="http://schemas.microsoft.com/office/drawing/2014/main" id="{FB1A104D-1D42-4621-AA3E-49A512EF513E}"/>
              </a:ext>
            </a:extLst>
          </p:cNvPr>
          <p:cNvPicPr>
            <a:picLocks noChangeAspect="1"/>
          </p:cNvPicPr>
          <p:nvPr/>
        </p:nvPicPr>
        <p:blipFill>
          <a:blip r:embed="rId4" cstate="print"/>
          <a:srcRect/>
          <a:stretch>
            <a:fillRect/>
          </a:stretch>
        </p:blipFill>
        <p:spPr bwMode="auto">
          <a:xfrm>
            <a:off x="4114800" y="134938"/>
            <a:ext cx="5029200" cy="474662"/>
          </a:xfrm>
          <a:prstGeom prst="rect">
            <a:avLst/>
          </a:prstGeom>
          <a:noFill/>
          <a:ln w="9525">
            <a:noFill/>
            <a:miter lim="800000"/>
            <a:headEnd/>
            <a:tailEnd/>
          </a:ln>
        </p:spPr>
      </p:pic>
      <p:sp>
        <p:nvSpPr>
          <p:cNvPr id="8" name="Rectangle 4">
            <a:extLst>
              <a:ext uri="{FF2B5EF4-FFF2-40B4-BE49-F238E27FC236}">
                <a16:creationId xmlns:a16="http://schemas.microsoft.com/office/drawing/2014/main" id="{178B8E77-2D88-43CF-82DF-0187EFA91B5E}"/>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34602861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4"/>
          <p:cNvSpPr>
            <a:spLocks noGrp="1"/>
          </p:cNvSpPr>
          <p:nvPr>
            <p:ph type="sldNum" sz="quarter" idx="12"/>
          </p:nvPr>
        </p:nvSpPr>
        <p:spPr>
          <a:noFill/>
        </p:spPr>
        <p:txBody>
          <a:bodyPr/>
          <a:lstStyle/>
          <a:p>
            <a:fld id="{FA9D281B-5408-4080-A975-3A2570992ED4}" type="slidenum">
              <a:rPr lang="en-US" smtClean="0"/>
              <a:pPr/>
              <a:t>33</a:t>
            </a:fld>
            <a:endParaRPr lang="en-US"/>
          </a:p>
        </p:txBody>
      </p:sp>
      <p:sp>
        <p:nvSpPr>
          <p:cNvPr id="8195" name="Rectangle 2"/>
          <p:cNvSpPr>
            <a:spLocks noGrp="1" noChangeArrowheads="1"/>
          </p:cNvSpPr>
          <p:nvPr>
            <p:ph type="title"/>
          </p:nvPr>
        </p:nvSpPr>
        <p:spPr>
          <a:xfrm>
            <a:off x="609600" y="2209800"/>
            <a:ext cx="7772400" cy="533400"/>
          </a:xfrm>
        </p:spPr>
        <p:txBody>
          <a:bodyPr/>
          <a:lstStyle/>
          <a:p>
            <a:pPr eaLnBrk="1" hangingPunct="1"/>
            <a:r>
              <a:rPr lang="en-US" sz="2800" b="1" dirty="0">
                <a:latin typeface="Arial" panose="020B0604020202020204" pitchFamily="34" charset="0"/>
                <a:cs typeface="Arial" panose="020B0604020202020204" pitchFamily="34" charset="0"/>
              </a:rPr>
              <a:t>Thank You</a:t>
            </a:r>
            <a:br>
              <a:rPr lang="en-US" sz="2800" b="1" dirty="0">
                <a:latin typeface="Arial" panose="020B0604020202020204" pitchFamily="34" charset="0"/>
                <a:cs typeface="Arial" panose="020B0604020202020204" pitchFamily="34" charset="0"/>
              </a:rPr>
            </a:br>
            <a:br>
              <a:rPr lang="en-US" sz="2800" b="1" dirty="0">
                <a:latin typeface="Arial" panose="020B0604020202020204" pitchFamily="34" charset="0"/>
                <a:cs typeface="Arial" panose="020B0604020202020204" pitchFamily="34" charset="0"/>
              </a:rPr>
            </a:br>
            <a:br>
              <a:rPr lang="en-US" sz="2800" b="1" dirty="0">
                <a:latin typeface="Arial" panose="020B0604020202020204" pitchFamily="34" charset="0"/>
                <a:cs typeface="Arial" panose="020B0604020202020204" pitchFamily="34" charset="0"/>
              </a:rPr>
            </a:br>
            <a:r>
              <a:rPr lang="en-US" sz="2800" b="1" dirty="0">
                <a:latin typeface="Arial" panose="020B0604020202020204" pitchFamily="34" charset="0"/>
                <a:cs typeface="Arial" panose="020B0604020202020204" pitchFamily="34" charset="0"/>
              </a:rPr>
              <a:t>John Jankowski</a:t>
            </a:r>
            <a:br>
              <a:rPr lang="en-US" sz="2800" b="1" dirty="0">
                <a:latin typeface="Arial" panose="020B0604020202020204" pitchFamily="34" charset="0"/>
                <a:cs typeface="Arial" panose="020B0604020202020204" pitchFamily="34" charset="0"/>
              </a:rPr>
            </a:br>
            <a:r>
              <a:rPr lang="en-US" sz="2800" b="1" dirty="0">
                <a:latin typeface="Arial" panose="020B0604020202020204" pitchFamily="34" charset="0"/>
                <a:cs typeface="Arial" panose="020B0604020202020204" pitchFamily="34" charset="0"/>
              </a:rPr>
              <a:t>jjankows@nsf.gov</a:t>
            </a:r>
          </a:p>
        </p:txBody>
      </p:sp>
      <p:pic>
        <p:nvPicPr>
          <p:cNvPr id="9" name="Picture 8" descr="nsf2"/>
          <p:cNvPicPr>
            <a:picLocks noChangeAspect="1" noChangeArrowheads="1"/>
          </p:cNvPicPr>
          <p:nvPr/>
        </p:nvPicPr>
        <p:blipFill>
          <a:blip r:embed="rId2" cstate="print"/>
          <a:srcRect/>
          <a:stretch>
            <a:fillRect/>
          </a:stretch>
        </p:blipFill>
        <p:spPr bwMode="auto">
          <a:xfrm>
            <a:off x="76200" y="79375"/>
            <a:ext cx="533400" cy="530225"/>
          </a:xfrm>
          <a:prstGeom prst="rect">
            <a:avLst/>
          </a:prstGeom>
          <a:noFill/>
          <a:ln w="9525">
            <a:noFill/>
            <a:miter lim="800000"/>
            <a:headEnd/>
            <a:tailEnd/>
          </a:ln>
        </p:spPr>
      </p:pic>
      <p:pic>
        <p:nvPicPr>
          <p:cNvPr id="10" name="Picture 9" descr="NCSES_logo_oneline_150.eps"/>
          <p:cNvPicPr>
            <a:picLocks noChangeAspect="1"/>
          </p:cNvPicPr>
          <p:nvPr/>
        </p:nvPicPr>
        <p:blipFill>
          <a:blip r:embed="rId3" cstate="print"/>
          <a:srcRect/>
          <a:stretch>
            <a:fillRect/>
          </a:stretch>
        </p:blipFill>
        <p:spPr bwMode="auto">
          <a:xfrm>
            <a:off x="4114800" y="134938"/>
            <a:ext cx="5029200" cy="474662"/>
          </a:xfrm>
          <a:prstGeom prst="rect">
            <a:avLst/>
          </a:prstGeom>
          <a:noFill/>
          <a:ln w="9525">
            <a:noFill/>
            <a:miter lim="800000"/>
            <a:headEnd/>
            <a:tailEnd/>
          </a:ln>
        </p:spPr>
      </p:pic>
      <p:sp>
        <p:nvSpPr>
          <p:cNvPr id="8" name="Rectangle 4"/>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3110722078"/>
      </p:ext>
    </p:extLst>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321242B3-4F37-4094-B7A3-7F78544C8EFB}"/>
</file>

<file path=customXml/itemProps2.xml><?xml version="1.0" encoding="utf-8"?>
<ds:datastoreItem xmlns:ds="http://schemas.openxmlformats.org/officeDocument/2006/customXml" ds:itemID="{5A604F99-5629-40BC-BD7E-15545F1BA654}"/>
</file>

<file path=customXml/itemProps3.xml><?xml version="1.0" encoding="utf-8"?>
<ds:datastoreItem xmlns:ds="http://schemas.openxmlformats.org/officeDocument/2006/customXml" ds:itemID="{A638AA1B-1595-442D-AF51-EFBDF224AB5C}"/>
</file>

<file path=docProps/app.xml><?xml version="1.0" encoding="utf-8"?>
<Properties xmlns="http://schemas.openxmlformats.org/officeDocument/2006/extended-properties" xmlns:vt="http://schemas.openxmlformats.org/officeDocument/2006/docPropsVTypes">
  <TotalTime>3326</TotalTime>
  <Words>4628</Words>
  <Application>Microsoft Office PowerPoint</Application>
  <PresentationFormat>On-screen Show (4:3)</PresentationFormat>
  <Paragraphs>872</Paragraphs>
  <Slides>34</Slides>
  <Notes>22</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Default Design</vt:lpstr>
      <vt:lpstr>Overview of R&amp;D and Innovation Data and Data Sources from NCSES  </vt:lpstr>
      <vt:lpstr>National Center for Science and Engineering Statistics (NCSES)</vt:lpstr>
      <vt:lpstr> </vt:lpstr>
      <vt:lpstr>NCSES Structure</vt:lpstr>
      <vt:lpstr>PowerPoint Presentation</vt:lpstr>
      <vt:lpstr>The Surveyed R&amp;D Enterprise by Sector (Performer-reported sources of R&amp;D funding)</vt:lpstr>
      <vt:lpstr>OECD-NESTI: Providing International Standards for Science, Technology, Innovation (STI) Data</vt:lpstr>
      <vt:lpstr>International Guidance for the Collection of R&amp;D and Innovation Data</vt:lpstr>
      <vt:lpstr>Source Documents on R&amp;D Definitions</vt:lpstr>
      <vt:lpstr>U.S. 2016 R&amp;D Expenditures:  $510 Billion (prelim.) </vt:lpstr>
      <vt:lpstr>U.S. 2016 Basic Research Expenditures:  $86 Billion (prelim.) </vt:lpstr>
      <vt:lpstr>U.S R&amp;D and Basic Research, by Performer and Source of Funds: 2016 (prelim.)</vt:lpstr>
      <vt:lpstr>Ratio of R&amp;D to GDP, by Source of R&amp;D Funding: 1965-2015</vt:lpstr>
      <vt:lpstr>U.S. R&amp;D Trends during the Recent Past</vt:lpstr>
      <vt:lpstr>Federal R&amp;D Budget Authority, Budget Function (percent share of Federal R&amp;D total)</vt:lpstr>
      <vt:lpstr>Federal Funds Variables (1)</vt:lpstr>
      <vt:lpstr>Federal Funds Variables (2)</vt:lpstr>
      <vt:lpstr>Federal obligations by type of work:  FY 2016 </vt:lpstr>
      <vt:lpstr>Federal Funds Research Fields</vt:lpstr>
      <vt:lpstr>FY 2016 Federal Obligations for Research ($66.7 Billion)</vt:lpstr>
      <vt:lpstr>Federal S&amp;E Support Survey Variables</vt:lpstr>
      <vt:lpstr>Federal academic science and engineering obligations, by activity and agency: FY 2017</vt:lpstr>
      <vt:lpstr>NCSES Innovation Surveys</vt:lpstr>
      <vt:lpstr>PowerPoint Presentation</vt:lpstr>
      <vt:lpstr>2018 Oslo Manual Revision Process </vt:lpstr>
      <vt:lpstr>Contents of 2018 Oslo Manual (What to Prioritize in the U.S. 2019 ABS Collection?) </vt:lpstr>
      <vt:lpstr>General Definition(s) of Innovation (1) </vt:lpstr>
      <vt:lpstr>General Definition(s) of Innovation (2) </vt:lpstr>
      <vt:lpstr>2009-16 BRDIS Innovation Questions </vt:lpstr>
      <vt:lpstr>Revised Approach to 2016 Micro-BRDIS </vt:lpstr>
      <vt:lpstr>Expanded Approach to reference year 2017 ABS  (based substantially on 2005 OM) </vt:lpstr>
      <vt:lpstr>Reference year 2018 Annual Business Survey  (based somewhat on 2018 OM) </vt:lpstr>
      <vt:lpstr>Reference year 2019 Annual Business Survey  (based on 2018 OM and US priorities) </vt:lpstr>
      <vt:lpstr>Thank You   John Jankowski jjankows@nsf.gov</vt:lpstr>
    </vt:vector>
  </TitlesOfParts>
  <Company>National Science Foundation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SRS PPT template</dc:title>
  <dc:creator>Jankowski, John E.</dc:creator>
  <cp:lastModifiedBy>Jankowski, John E.</cp:lastModifiedBy>
  <cp:revision>285</cp:revision>
  <cp:lastPrinted>2019-06-07T19:08:23Z</cp:lastPrinted>
  <dcterms:created xsi:type="dcterms:W3CDTF">2003-01-02T15:22:50Z</dcterms:created>
  <dcterms:modified xsi:type="dcterms:W3CDTF">2019-07-02T19:58:13Z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