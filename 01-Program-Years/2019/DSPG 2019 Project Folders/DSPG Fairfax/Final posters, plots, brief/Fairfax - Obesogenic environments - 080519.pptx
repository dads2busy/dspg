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0" r:id="rId1"/>
    <p:sldMasterId id="2147483661" r:id="rId2"/>
  </p:sldMasterIdLst>
  <p:notesMasterIdLst>
    <p:notesMasterId r:id="rId4"/>
  </p:notesMasterIdLst>
  <p:sldIdLst>
    <p:sldId id="256" r:id="rId3"/>
  </p:sldIdLst>
  <p:sldSz cx="21945600" cy="32918400"/>
  <p:notesSz cx="6858000" cy="9144000"/>
  <p:embeddedFontLst>
    <p:embeddedFont>
      <p:font typeface="Franklin Gothic" panose="020B0603020102020204" pitchFamily="34" charset="0"/>
      <p:bold r:id="rId5"/>
    </p:embeddedFont>
    <p:embeddedFont>
      <p:font typeface="Helvetica Neue" panose="02000503000000020004" pitchFamily="2" charset="0"/>
      <p:regular r:id="rId6"/>
      <p:bold r:id="rId7"/>
      <p:italic r:id="rId8"/>
      <p:boldItalic r:id="rId9"/>
    </p:embeddedFont>
    <p:embeddedFont>
      <p:font typeface="Helvetica Neue Light" panose="02000403000000020004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675"/>
  </p:normalViewPr>
  <p:slideViewPr>
    <p:cSldViewPr snapToGrid="0">
      <p:cViewPr>
        <p:scale>
          <a:sx n="66" d="100"/>
          <a:sy n="66" d="100"/>
        </p:scale>
        <p:origin x="272" y="-406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309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e5cc78951_3_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Standardize the variables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at each geographic observational unit for each Factor (where the weights are coming from the loadings in our factor analysis model) to obtain each Factor score.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of the Factor scores (where the weights are coming from the proportion of variance explained by each factor).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 Normalize the results to a consistent (0, 1) scale.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g5e5cc78951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100" y="4765280"/>
            <a:ext cx="20449500" cy="1313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8080" y="18138400"/>
            <a:ext cx="20449500" cy="50730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48080" y="13765440"/>
            <a:ext cx="20449500" cy="5387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59776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48080" y="3555840"/>
            <a:ext cx="6739200" cy="48369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48080" y="8893440"/>
            <a:ext cx="6739200" cy="20348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4699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76600" y="2880960"/>
            <a:ext cx="15282600" cy="261807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1pPr>
            <a:lvl2pPr lvl="1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2pPr>
            <a:lvl3pPr lvl="2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3pPr>
            <a:lvl4pPr lvl="3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4pPr>
            <a:lvl5pPr lvl="4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5pPr>
            <a:lvl6pPr lvl="5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6pPr>
            <a:lvl7pPr lvl="6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7pPr>
            <a:lvl8pPr lvl="7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8pPr>
            <a:lvl9pPr lvl="8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972800" y="-800"/>
            <a:ext cx="109728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37200" y="7892320"/>
            <a:ext cx="9708600" cy="94866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37200" y="17939680"/>
            <a:ext cx="9708600" cy="79041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854800" y="4634080"/>
            <a:ext cx="9208800" cy="236490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48080" y="27075680"/>
            <a:ext cx="14397000" cy="3872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48080" y="7079200"/>
            <a:ext cx="20449500" cy="1256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48080" y="20174240"/>
            <a:ext cx="20449500" cy="8324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 algn="ctr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 algn="ctr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plate 1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●"/>
              <a:defRPr sz="5800">
                <a:solidFill>
                  <a:schemeClr val="dk2"/>
                </a:solidFill>
              </a:defRPr>
            </a:lvl1pPr>
            <a:lvl2pPr marL="914400" lvl="1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2pPr>
            <a:lvl3pPr marL="1371600" lvl="2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3pPr>
            <a:lvl4pPr marL="1828800" lvl="3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4pPr>
            <a:lvl5pPr marL="2286000" lvl="4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5pPr>
            <a:lvl6pPr marL="2743200" lvl="5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6pPr>
            <a:lvl7pPr marL="3200400" lvl="6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7pPr>
            <a:lvl8pPr marL="3657600" lvl="7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8pPr>
            <a:lvl9pPr marL="4114800" lvl="8" indent="-514350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r">
              <a:buNone/>
              <a:defRPr sz="3200">
                <a:solidFill>
                  <a:schemeClr val="dk2"/>
                </a:solidFill>
              </a:defRPr>
            </a:lvl1pPr>
            <a:lvl2pPr lvl="1" algn="r">
              <a:buNone/>
              <a:defRPr sz="3200">
                <a:solidFill>
                  <a:schemeClr val="dk2"/>
                </a:solidFill>
              </a:defRPr>
            </a:lvl2pPr>
            <a:lvl3pPr lvl="2" algn="r">
              <a:buNone/>
              <a:defRPr sz="3200">
                <a:solidFill>
                  <a:schemeClr val="dk2"/>
                </a:solidFill>
              </a:defRPr>
            </a:lvl3pPr>
            <a:lvl4pPr lvl="3" algn="r">
              <a:buNone/>
              <a:defRPr sz="3200">
                <a:solidFill>
                  <a:schemeClr val="dk2"/>
                </a:solidFill>
              </a:defRPr>
            </a:lvl4pPr>
            <a:lvl5pPr lvl="4" algn="r">
              <a:buNone/>
              <a:defRPr sz="3200">
                <a:solidFill>
                  <a:schemeClr val="dk2"/>
                </a:solidFill>
              </a:defRPr>
            </a:lvl5pPr>
            <a:lvl6pPr lvl="5" algn="r">
              <a:buNone/>
              <a:defRPr sz="3200">
                <a:solidFill>
                  <a:schemeClr val="dk2"/>
                </a:solidFill>
              </a:defRPr>
            </a:lvl6pPr>
            <a:lvl7pPr lvl="6" algn="r">
              <a:buNone/>
              <a:defRPr sz="3200">
                <a:solidFill>
                  <a:schemeClr val="dk2"/>
                </a:solidFill>
              </a:defRPr>
            </a:lvl7pPr>
            <a:lvl8pPr lvl="7" algn="r">
              <a:buNone/>
              <a:defRPr sz="3200">
                <a:solidFill>
                  <a:schemeClr val="dk2"/>
                </a:solidFill>
              </a:defRPr>
            </a:lvl8pPr>
            <a:lvl9pPr lvl="8" algn="r">
              <a:buNone/>
              <a:defRPr sz="3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6998" y="-620308"/>
            <a:ext cx="22039596" cy="3355834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49" cy="557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49" cy="190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13877725" y="26744100"/>
            <a:ext cx="7664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15"/>
          <p:cNvSpPr/>
          <p:nvPr/>
        </p:nvSpPr>
        <p:spPr>
          <a:xfrm>
            <a:off x="430425" y="3914415"/>
            <a:ext cx="79842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5"/>
          <p:cNvSpPr txBox="1"/>
          <p:nvPr/>
        </p:nvSpPr>
        <p:spPr>
          <a:xfrm>
            <a:off x="583850" y="192154"/>
            <a:ext cx="13006200" cy="18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FAIRFAX COUNTY COMMUNITYSCAPE: </a:t>
            </a:r>
            <a:endParaRPr sz="5400" dirty="0">
              <a:solidFill>
                <a:schemeClr val="lt1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OBESOGENIC ENVIRONMENTS</a:t>
            </a:r>
            <a:endParaRPr sz="54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83850" y="2020908"/>
            <a:ext cx="11681435" cy="165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lvl="0"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DSPG Team: Cong Cong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and Victoria Halewicz</a:t>
            </a: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(University of Illinois at Urbana-Champaign), Quinton Neville (Columbia University), 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Eliza Tobin (University of Virginia) </a:t>
            </a:r>
          </a:p>
          <a:p>
            <a:pPr lvl="0">
              <a:lnSpc>
                <a:spcPct val="150000"/>
              </a:lnSpc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SDAD Team: Teja Pristavec, Josh Goldstein, Brandon Kramer, Joy Tobin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nklin Gothic"/>
              <a:buNone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Sponsor: Fairfax County and INOVA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65" name="Google Shape;65;p1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514" y="31141638"/>
            <a:ext cx="8550571" cy="12849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205310" y="42462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i="0" u="none" strike="noStrike" cap="none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Project </a:t>
            </a: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Introduction 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007050" y="3940907"/>
            <a:ext cx="12541800" cy="7953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" name="Google Shape;68;p15"/>
          <p:cNvSpPr txBox="1"/>
          <p:nvPr/>
        </p:nvSpPr>
        <p:spPr>
          <a:xfrm>
            <a:off x="1144860" y="154964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3058972" y="419256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Framework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8863727" y="4800005"/>
            <a:ext cx="4871835" cy="23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Obesogenic Environment</a:t>
            </a:r>
            <a:endParaRPr sz="2400" b="1" u="sng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“The sum of influences that”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the social determinants of health have on promoting obesity in individuals or populations.” (Swinburn et al. 1999)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5350125" y="117206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15"/>
          <p:cNvSpPr/>
          <p:nvPr/>
        </p:nvSpPr>
        <p:spPr>
          <a:xfrm>
            <a:off x="15350125" y="137101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5"/>
          <p:cNvSpPr/>
          <p:nvPr/>
        </p:nvSpPr>
        <p:spPr>
          <a:xfrm>
            <a:off x="15345025" y="15882700"/>
            <a:ext cx="12990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15316675" y="12061175"/>
            <a:ext cx="14133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1: 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Food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0.92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5316675" y="13979001"/>
            <a:ext cx="1413300" cy="9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2: </a:t>
            </a:r>
            <a:r>
              <a:rPr lang="en" sz="1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Social and Economic Status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0.89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5253223" y="16119046"/>
            <a:ext cx="1482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3: Physical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rot="10800000">
            <a:off x="13517125" y="11926183"/>
            <a:ext cx="1833000" cy="58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5"/>
          <p:cNvCxnSpPr/>
          <p:nvPr/>
        </p:nvCxnSpPr>
        <p:spPr>
          <a:xfrm rot="10800000">
            <a:off x="13441375" y="12237875"/>
            <a:ext cx="1875300" cy="26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5"/>
          <p:cNvCxnSpPr>
            <a:stCxn id="73" idx="2"/>
          </p:cNvCxnSpPr>
          <p:nvPr/>
        </p:nvCxnSpPr>
        <p:spPr>
          <a:xfrm rot="10800000">
            <a:off x="13268125" y="12485950"/>
            <a:ext cx="20820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15"/>
          <p:cNvCxnSpPr/>
          <p:nvPr/>
        </p:nvCxnSpPr>
        <p:spPr>
          <a:xfrm flipH="1">
            <a:off x="13138225" y="12486279"/>
            <a:ext cx="2211900" cy="326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5"/>
          <p:cNvCxnSpPr>
            <a:stCxn id="73" idx="2"/>
          </p:cNvCxnSpPr>
          <p:nvPr/>
        </p:nvCxnSpPr>
        <p:spPr>
          <a:xfrm flipH="1">
            <a:off x="13647025" y="12487150"/>
            <a:ext cx="1703100" cy="53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5"/>
          <p:cNvCxnSpPr>
            <a:stCxn id="73" idx="2"/>
          </p:cNvCxnSpPr>
          <p:nvPr/>
        </p:nvCxnSpPr>
        <p:spPr>
          <a:xfrm flipH="1">
            <a:off x="14328925" y="12487150"/>
            <a:ext cx="1021200" cy="709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5"/>
          <p:cNvCxnSpPr>
            <a:stCxn id="74" idx="2"/>
          </p:cNvCxnSpPr>
          <p:nvPr/>
        </p:nvCxnSpPr>
        <p:spPr>
          <a:xfrm rot="10800000">
            <a:off x="14621125" y="13971750"/>
            <a:ext cx="729000" cy="504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5"/>
          <p:cNvCxnSpPr>
            <a:stCxn id="74" idx="2"/>
          </p:cNvCxnSpPr>
          <p:nvPr/>
        </p:nvCxnSpPr>
        <p:spPr>
          <a:xfrm flipH="1">
            <a:off x="14285725" y="14476650"/>
            <a:ext cx="1064400" cy="362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15"/>
          <p:cNvCxnSpPr>
            <a:stCxn id="74" idx="2"/>
          </p:cNvCxnSpPr>
          <p:nvPr/>
        </p:nvCxnSpPr>
        <p:spPr>
          <a:xfrm flipH="1">
            <a:off x="14740225" y="14476650"/>
            <a:ext cx="609900" cy="673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5"/>
          <p:cNvCxnSpPr/>
          <p:nvPr/>
        </p:nvCxnSpPr>
        <p:spPr>
          <a:xfrm rot="10800000">
            <a:off x="14182268" y="15929613"/>
            <a:ext cx="1149300" cy="69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5"/>
          <p:cNvCxnSpPr/>
          <p:nvPr/>
        </p:nvCxnSpPr>
        <p:spPr>
          <a:xfrm flipH="1">
            <a:off x="13962042" y="16625349"/>
            <a:ext cx="1369500" cy="6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5"/>
          <p:cNvCxnSpPr/>
          <p:nvPr/>
        </p:nvCxnSpPr>
        <p:spPr>
          <a:xfrm flipH="1">
            <a:off x="14259368" y="16625313"/>
            <a:ext cx="1072200" cy="666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5"/>
          <p:cNvSpPr/>
          <p:nvPr/>
        </p:nvSpPr>
        <p:spPr>
          <a:xfrm>
            <a:off x="14210575" y="1209864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2" name="Google Shape;92;p15"/>
          <p:cNvSpPr/>
          <p:nvPr/>
        </p:nvSpPr>
        <p:spPr>
          <a:xfrm>
            <a:off x="13647025" y="1219046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3" name="Google Shape;93;p15"/>
          <p:cNvSpPr/>
          <p:nvPr/>
        </p:nvSpPr>
        <p:spPr>
          <a:xfrm>
            <a:off x="14086075" y="1241330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4" name="Google Shape;94;p15"/>
          <p:cNvSpPr/>
          <p:nvPr/>
        </p:nvSpPr>
        <p:spPr>
          <a:xfrm>
            <a:off x="13408825" y="126361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5" name="Google Shape;95;p15"/>
          <p:cNvSpPr/>
          <p:nvPr/>
        </p:nvSpPr>
        <p:spPr>
          <a:xfrm>
            <a:off x="13882825" y="1276889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6" name="Google Shape;96;p15"/>
          <p:cNvSpPr/>
          <p:nvPr/>
        </p:nvSpPr>
        <p:spPr>
          <a:xfrm>
            <a:off x="14418775" y="1291343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0.6</a:t>
            </a:r>
            <a:endParaRPr dirty="0"/>
          </a:p>
        </p:txBody>
      </p:sp>
      <p:sp>
        <p:nvSpPr>
          <p:cNvPr id="97" name="Google Shape;97;p15"/>
          <p:cNvSpPr/>
          <p:nvPr/>
        </p:nvSpPr>
        <p:spPr>
          <a:xfrm>
            <a:off x="14762575" y="1409919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8" name="Google Shape;98;p15"/>
          <p:cNvSpPr/>
          <p:nvPr/>
        </p:nvSpPr>
        <p:spPr>
          <a:xfrm>
            <a:off x="14822125" y="147982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0.5</a:t>
            </a:r>
            <a:endParaRPr dirty="0"/>
          </a:p>
        </p:txBody>
      </p:sp>
      <p:sp>
        <p:nvSpPr>
          <p:cNvPr id="99" name="Google Shape;99;p15"/>
          <p:cNvSpPr/>
          <p:nvPr/>
        </p:nvSpPr>
        <p:spPr>
          <a:xfrm>
            <a:off x="14494975" y="14567064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0" name="Google Shape;100;p15"/>
          <p:cNvSpPr/>
          <p:nvPr/>
        </p:nvSpPr>
        <p:spPr>
          <a:xfrm>
            <a:off x="14414427" y="15986675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101" name="Google Shape;101;p15"/>
          <p:cNvSpPr/>
          <p:nvPr/>
        </p:nvSpPr>
        <p:spPr>
          <a:xfrm>
            <a:off x="14340402" y="16461716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2" name="Google Shape;102;p15"/>
          <p:cNvSpPr/>
          <p:nvPr/>
        </p:nvSpPr>
        <p:spPr>
          <a:xfrm>
            <a:off x="14414427" y="16936741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cxnSp>
        <p:nvCxnSpPr>
          <p:cNvPr id="103" name="Google Shape;103;p15"/>
          <p:cNvCxnSpPr>
            <a:stCxn id="74" idx="2"/>
          </p:cNvCxnSpPr>
          <p:nvPr/>
        </p:nvCxnSpPr>
        <p:spPr>
          <a:xfrm rot="10800000">
            <a:off x="13993525" y="14215050"/>
            <a:ext cx="1356600" cy="26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Google Shape;104;p15"/>
          <p:cNvSpPr/>
          <p:nvPr/>
        </p:nvSpPr>
        <p:spPr>
          <a:xfrm>
            <a:off x="14208475" y="14200366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cxnSp>
        <p:nvCxnSpPr>
          <p:cNvPr id="105" name="Google Shape;105;p15"/>
          <p:cNvCxnSpPr>
            <a:stCxn id="74" idx="2"/>
          </p:cNvCxnSpPr>
          <p:nvPr/>
        </p:nvCxnSpPr>
        <p:spPr>
          <a:xfrm flipH="1">
            <a:off x="13766125" y="14476650"/>
            <a:ext cx="1584000" cy="5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" name="Google Shape;106;p15"/>
          <p:cNvSpPr/>
          <p:nvPr/>
        </p:nvSpPr>
        <p:spPr>
          <a:xfrm>
            <a:off x="13960488" y="1441746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12436563" y="11720638"/>
            <a:ext cx="12990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Restaurants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2555322" y="1205462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Fast Food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2047876" y="12318958"/>
            <a:ext cx="1253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Gas Stations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863650" y="12637130"/>
            <a:ext cx="14571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Supermarkets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2436675" y="12931959"/>
            <a:ext cx="1530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Alcohol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455000" y="13138160"/>
            <a:ext cx="1875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Convenience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3965775" y="13699600"/>
            <a:ext cx="12537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Insurance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3188475" y="13979008"/>
            <a:ext cx="912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Hispanic</a:t>
            </a:r>
            <a:endParaRPr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436663" y="14331042"/>
            <a:ext cx="1530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High School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3570375" y="1467200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Poverty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4236675" y="15016004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Black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2817561" y="15656716"/>
            <a:ext cx="15570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Team Sport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2366975" y="16350160"/>
            <a:ext cx="1865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Swimming Pool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2935158" y="17129955"/>
            <a:ext cx="1321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Playground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 rot="10800000" flipH="1">
            <a:off x="14599497" y="5635513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5"/>
          <p:cNvSpPr/>
          <p:nvPr/>
        </p:nvSpPr>
        <p:spPr>
          <a:xfrm>
            <a:off x="386625" y="9454425"/>
            <a:ext cx="64269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69931" y="9537144"/>
            <a:ext cx="50193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Sources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4" name="Google Shape;124;p15"/>
          <p:cNvCxnSpPr/>
          <p:nvPr/>
        </p:nvCxnSpPr>
        <p:spPr>
          <a:xfrm rot="10800000" flipH="1">
            <a:off x="14599497" y="66255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15"/>
          <p:cNvCxnSpPr/>
          <p:nvPr/>
        </p:nvCxnSpPr>
        <p:spPr>
          <a:xfrm rot="10800000" flipH="1">
            <a:off x="14599497" y="76561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p15"/>
          <p:cNvSpPr/>
          <p:nvPr/>
        </p:nvSpPr>
        <p:spPr>
          <a:xfrm rot="-5400000">
            <a:off x="12140219" y="6766256"/>
            <a:ext cx="4060800" cy="808988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Measurable Variables</a:t>
            </a:r>
            <a:endParaRPr sz="30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25" y="10515650"/>
            <a:ext cx="1833000" cy="153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2420625" y="10596950"/>
            <a:ext cx="4491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OpenStreetMap (OSM):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Geospatial locations of physical features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3546375" y="14092100"/>
            <a:ext cx="3249900" cy="1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639825" y="11477500"/>
            <a:ext cx="3249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American Community Survey (ACS):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Demographics, Financial Conditions, Employment Status, Transportation, Synthetic Population.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31" name="Google Shape;131;p15"/>
          <p:cNvCxnSpPr/>
          <p:nvPr/>
        </p:nvCxnSpPr>
        <p:spPr>
          <a:xfrm rot="10800000" flipH="1">
            <a:off x="14599497" y="86867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15"/>
          <p:cNvSpPr txBox="1"/>
          <p:nvPr/>
        </p:nvSpPr>
        <p:spPr>
          <a:xfrm>
            <a:off x="3639825" y="13855100"/>
            <a:ext cx="3305100" cy="12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Housing Stock: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Domicile Locations​,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Housing Conditions​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600950" y="9469050"/>
            <a:ext cx="139479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15"/>
          <p:cNvSpPr/>
          <p:nvPr/>
        </p:nvSpPr>
        <p:spPr>
          <a:xfrm>
            <a:off x="18714150" y="6449313"/>
            <a:ext cx="2082000" cy="18927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2386560" y="95949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Methods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8714150" y="6878463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99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Obesogenic Environment</a:t>
            </a:r>
            <a:endParaRPr sz="2400" b="1" dirty="0">
              <a:solidFill>
                <a:srgbClr val="FF990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5832425" y="5237350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5350325" y="54565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SES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5832425" y="6700388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5350325" y="69620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Food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5832425" y="8084725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5350325" y="8313725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Phys.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46" name="Google Shape;146;p15"/>
          <p:cNvCxnSpPr/>
          <p:nvPr/>
        </p:nvCxnSpPr>
        <p:spPr>
          <a:xfrm rot="10800000" flipH="1">
            <a:off x="17378288" y="7789238"/>
            <a:ext cx="1142400" cy="660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17313800" y="6190600"/>
            <a:ext cx="1181100" cy="5526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8" name="Google Shape;14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4349" y="13638523"/>
            <a:ext cx="4131464" cy="38035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5"/>
          <p:cNvCxnSpPr/>
          <p:nvPr/>
        </p:nvCxnSpPr>
        <p:spPr>
          <a:xfrm rot="10800000" flipH="1">
            <a:off x="17369288" y="7275000"/>
            <a:ext cx="1037100" cy="6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" name="Google Shape;150;p15"/>
          <p:cNvSpPr txBox="1"/>
          <p:nvPr/>
        </p:nvSpPr>
        <p:spPr>
          <a:xfrm>
            <a:off x="17940475" y="4979000"/>
            <a:ext cx="30000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Composite Index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15"/>
          <p:cNvSpPr txBox="1"/>
          <p:nvPr/>
        </p:nvSpPr>
        <p:spPr>
          <a:xfrm>
            <a:off x="16885525" y="5364938"/>
            <a:ext cx="5109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Explaining unobservable factors</a:t>
            </a:r>
            <a:endParaRPr sz="2400" dirty="0">
              <a:solidFill>
                <a:srgbClr val="00206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with measurable variables 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7575200" y="11350475"/>
            <a:ext cx="4146900" cy="3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 ACS &amp; Fairfax variable exploration → selection 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​Distance-time mutation from OSM data and travel-time isochrones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7600950" y="10459275"/>
            <a:ext cx="41469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15"/>
          <p:cNvSpPr txBox="1"/>
          <p:nvPr/>
        </p:nvSpPr>
        <p:spPr>
          <a:xfrm>
            <a:off x="7402435" y="106811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Variable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93694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15"/>
          <p:cNvSpPr/>
          <p:nvPr/>
        </p:nvSpPr>
        <p:spPr>
          <a:xfrm>
            <a:off x="423925" y="15335618"/>
            <a:ext cx="6313500" cy="593995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15"/>
          <p:cNvSpPr txBox="1"/>
          <p:nvPr/>
        </p:nvSpPr>
        <p:spPr>
          <a:xfrm>
            <a:off x="607805" y="15390670"/>
            <a:ext cx="5807051" cy="59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Results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7312700" y="10462425"/>
            <a:ext cx="42294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5"/>
          <p:cNvSpPr/>
          <p:nvPr/>
        </p:nvSpPr>
        <p:spPr>
          <a:xfrm>
            <a:off x="192475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5"/>
          <p:cNvSpPr/>
          <p:nvPr/>
        </p:nvSpPr>
        <p:spPr>
          <a:xfrm>
            <a:off x="12463800" y="10461225"/>
            <a:ext cx="4146900" cy="7953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5"/>
          <p:cNvSpPr txBox="1"/>
          <p:nvPr/>
        </p:nvSpPr>
        <p:spPr>
          <a:xfrm>
            <a:off x="12265285" y="1069835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Factor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4384700" y="9988037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15"/>
          <p:cNvSpPr txBox="1"/>
          <p:nvPr/>
        </p:nvSpPr>
        <p:spPr>
          <a:xfrm>
            <a:off x="331410" y="15950874"/>
            <a:ext cx="6852300" cy="1816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Regions at high risk (darker color) of exposure to obesogenic environments: </a:t>
            </a: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Supervisor Districts: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Mason, Providence, Lee.</a:t>
            </a:r>
            <a:endParaRPr sz="22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High School Districts: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Justice, Annandale, Falls Church.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Census Tracts: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Arlington and Dulles Airport adjacent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7476100" y="10591925"/>
            <a:ext cx="38535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Index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17334175" y="11350475"/>
            <a:ext cx="41469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Standardize features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Factor loading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3. Proportions variance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4. Weighted sum score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5. Normalize score scale (0, 1)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0854132" y="20861342"/>
            <a:ext cx="446100" cy="247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7" name="Google Shape;16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97725" y="13831613"/>
            <a:ext cx="4492000" cy="315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575" y="14041145"/>
            <a:ext cx="2972360" cy="11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050" y="12253657"/>
            <a:ext cx="3000000" cy="111891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/>
          <p:nvPr/>
        </p:nvSpPr>
        <p:spPr>
          <a:xfrm>
            <a:off x="430425" y="17753025"/>
            <a:ext cx="21118475" cy="510694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bg1"/>
                </a:solidFill>
              </a:rPr>
              <a:t>Obesogenic Environments</a:t>
            </a:r>
            <a:endParaRPr sz="3200" dirty="0"/>
          </a:p>
        </p:txBody>
      </p:sp>
      <p:sp>
        <p:nvSpPr>
          <p:cNvPr id="172" name="Google Shape;172;p15"/>
          <p:cNvSpPr/>
          <p:nvPr/>
        </p:nvSpPr>
        <p:spPr>
          <a:xfrm>
            <a:off x="365475" y="26746650"/>
            <a:ext cx="65184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5"/>
          <p:cNvSpPr txBox="1"/>
          <p:nvPr/>
        </p:nvSpPr>
        <p:spPr>
          <a:xfrm>
            <a:off x="1454460" y="269477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Limitations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7094103" y="26744100"/>
            <a:ext cx="6518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15"/>
          <p:cNvSpPr txBox="1"/>
          <p:nvPr/>
        </p:nvSpPr>
        <p:spPr>
          <a:xfrm>
            <a:off x="8184147" y="26945538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Conclusions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5432347" y="2694211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Next Steps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23924" y="27627275"/>
            <a:ext cx="638758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OSM data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</a:t>
            </a:r>
            <a:r>
              <a:rPr lang="en" sz="2400" dirty="0" err="1">
                <a:latin typeface="Franklin Gothic"/>
                <a:ea typeface="Franklin Gothic"/>
                <a:cs typeface="Franklin Gothic"/>
                <a:sym typeface="Franklin Gothic"/>
              </a:rPr>
              <a:t>TravelTime</a:t>
            </a: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2400" dirty="0">
                <a:latin typeface="Franklin Gothic"/>
                <a:ea typeface="Franklin Gothic"/>
                <a:cs typeface="Franklin Gothic"/>
                <a:sym typeface="Franklin Gothic"/>
              </a:rPr>
              <a:t>application programming interface (API)</a:t>
            </a: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Index weights and validation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6998725" y="27627275"/>
            <a:ext cx="68790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Interdisciplinary method for index construction provides new measurement for health inequities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Low-income racial and ethnic minority groups have high risk, especially Hispanics </a:t>
            </a:r>
            <a:endParaRPr sz="24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Policy intervention and resource allocation requires analysis at multiple geographic units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3877724" y="27713513"/>
            <a:ext cx="767112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Overlaying findings with Inova health data to better understand patient population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Conduct sensitivity analysis (robustness of index)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Compare current policy initiatives with maps to  enhance existing measures and to create evidence-based policy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-403520" y="578749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183" name="Google Shape;183;p15"/>
          <p:cNvSpPr txBox="1"/>
          <p:nvPr/>
        </p:nvSpPr>
        <p:spPr>
          <a:xfrm>
            <a:off x="323050" y="29963500"/>
            <a:ext cx="19512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Centers for Disease Control and Prevention (2019). Social determinants of health. Available at https://www.cdc.gov/socialdeterminants/index.htm (7/31/2019).​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Swinburn, B., Egger, G., &amp; Raza, F. (1999). Dissecting Obesogenic Environments: The Development and Application of a Framework for Identifying and Prioritizing Environmental Interventions for Obesity. </a:t>
            </a:r>
            <a:r>
              <a:rPr lang="en" sz="1200" i="1" dirty="0"/>
              <a:t>Preventive Medicine, 29,</a:t>
            </a:r>
            <a:r>
              <a:rPr lang="en" sz="1200" dirty="0"/>
              <a:t> 563-70. doi:10.1006/pmed.1999.0585​</a:t>
            </a:r>
            <a:endParaRPr sz="12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323050" y="29635025"/>
            <a:ext cx="111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Resources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Rectangle: Rounded Corners 20">
            <a:extLst>
              <a:ext uri="{FF2B5EF4-FFF2-40B4-BE49-F238E27FC236}">
                <a16:creationId xmlns:a16="http://schemas.microsoft.com/office/drawing/2014/main" id="{29FE1B1A-08E4-8A40-B320-2ACF5E353114}"/>
              </a:ext>
            </a:extLst>
          </p:cNvPr>
          <p:cNvSpPr/>
          <p:nvPr/>
        </p:nvSpPr>
        <p:spPr>
          <a:xfrm>
            <a:off x="260911" y="5017605"/>
            <a:ext cx="8295055" cy="2098447"/>
          </a:xfrm>
          <a:prstGeom prst="roundRect">
            <a:avLst/>
          </a:prstGeom>
          <a:solidFill>
            <a:srgbClr val="B0D3A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and Inova Health System would like to identify where obesity risk factors for vulnerable populations are high, offering health officials and policymakers an actionable resource to inform policy.</a:t>
            </a:r>
          </a:p>
        </p:txBody>
      </p:sp>
      <p:sp>
        <p:nvSpPr>
          <p:cNvPr id="186" name="Rectangle: Rounded Corners 20">
            <a:extLst>
              <a:ext uri="{FF2B5EF4-FFF2-40B4-BE49-F238E27FC236}">
                <a16:creationId xmlns:a16="http://schemas.microsoft.com/office/drawing/2014/main" id="{F98F15D6-D4B0-F244-8508-D89AA577A830}"/>
              </a:ext>
            </a:extLst>
          </p:cNvPr>
          <p:cNvSpPr/>
          <p:nvPr/>
        </p:nvSpPr>
        <p:spPr>
          <a:xfrm>
            <a:off x="241703" y="7237914"/>
            <a:ext cx="8224935" cy="1621721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Objective: </a:t>
            </a:r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Create an obesogenic index to measure obesity risk  quantitatively in Fairfax County and establish a baseline for measuring change.</a:t>
            </a:r>
          </a:p>
        </p:txBody>
      </p:sp>
      <p:pic>
        <p:nvPicPr>
          <p:cNvPr id="188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6CB1795-6FD6-E442-A552-88C929F331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1680" y="7135455"/>
            <a:ext cx="2133568" cy="2127679"/>
          </a:xfrm>
          <a:prstGeom prst="rect">
            <a:avLst/>
          </a:prstGeom>
        </p:spPr>
      </p:pic>
      <p:pic>
        <p:nvPicPr>
          <p:cNvPr id="189" name="Picture 28">
            <a:extLst>
              <a:ext uri="{FF2B5EF4-FFF2-40B4-BE49-F238E27FC236}">
                <a16:creationId xmlns:a16="http://schemas.microsoft.com/office/drawing/2014/main" id="{8E7ECA49-A8EA-7348-91A6-3E37959C5E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0289" y="7726386"/>
            <a:ext cx="2484408" cy="577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DA14E0-7394-0C4D-AF3B-58F0243CD009}"/>
              </a:ext>
            </a:extLst>
          </p:cNvPr>
          <p:cNvSpPr txBox="1"/>
          <p:nvPr/>
        </p:nvSpPr>
        <p:spPr>
          <a:xfrm>
            <a:off x="1831928" y="18405344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Supervisor Districts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9166C59-0910-4E4F-BA50-B5408D7A7783}"/>
              </a:ext>
            </a:extLst>
          </p:cNvPr>
          <p:cNvSpPr txBox="1"/>
          <p:nvPr/>
        </p:nvSpPr>
        <p:spPr>
          <a:xfrm>
            <a:off x="8129395" y="18432743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High School Districts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088429B-98B1-4E4A-A6C7-0D2698125AE4}"/>
              </a:ext>
            </a:extLst>
          </p:cNvPr>
          <p:cNvSpPr txBox="1"/>
          <p:nvPr/>
        </p:nvSpPr>
        <p:spPr>
          <a:xfrm>
            <a:off x="14547281" y="18366005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Census Tracts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0995D3-5613-6C45-B07C-71D4F9345335}"/>
              </a:ext>
            </a:extLst>
          </p:cNvPr>
          <p:cNvGrpSpPr/>
          <p:nvPr/>
        </p:nvGrpSpPr>
        <p:grpSpPr>
          <a:xfrm>
            <a:off x="20337495" y="21524165"/>
            <a:ext cx="1276229" cy="3800628"/>
            <a:chOff x="20381194" y="20786386"/>
            <a:chExt cx="1276229" cy="3800628"/>
          </a:xfrm>
        </p:grpSpPr>
        <p:pic>
          <p:nvPicPr>
            <p:cNvPr id="136" name="Picture 39">
              <a:extLst>
                <a:ext uri="{FF2B5EF4-FFF2-40B4-BE49-F238E27FC236}">
                  <a16:creationId xmlns:a16="http://schemas.microsoft.com/office/drawing/2014/main" id="{00F86425-EFA2-B04E-ACD9-F983F2732C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37284" t="42571" r="6443" b="7947"/>
            <a:stretch/>
          </p:blipFill>
          <p:spPr>
            <a:xfrm rot="5400000">
              <a:off x="19528481" y="22385785"/>
              <a:ext cx="3026053" cy="576184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786FD4B-43FB-D643-AA29-A5896DE671D5}"/>
                </a:ext>
              </a:extLst>
            </p:cNvPr>
            <p:cNvSpPr txBox="1"/>
            <p:nvPr/>
          </p:nvSpPr>
          <p:spPr>
            <a:xfrm>
              <a:off x="20425590" y="24186904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High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77EF85D-485E-014D-B01F-41BEAB2BBD74}"/>
                </a:ext>
              </a:extLst>
            </p:cNvPr>
            <p:cNvSpPr txBox="1"/>
            <p:nvPr/>
          </p:nvSpPr>
          <p:spPr>
            <a:xfrm>
              <a:off x="20381194" y="20786386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Low</a:t>
              </a: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AD64C01-5779-4549-A9F9-25F74E2F3003}"/>
              </a:ext>
            </a:extLst>
          </p:cNvPr>
          <p:cNvSpPr txBox="1"/>
          <p:nvPr/>
        </p:nvSpPr>
        <p:spPr>
          <a:xfrm>
            <a:off x="19835950" y="20256300"/>
            <a:ext cx="2236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Obesogenic environment exposure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2D11D7-1995-9E4C-8041-017F9253AC4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15135"/>
          <a:stretch/>
        </p:blipFill>
        <p:spPr>
          <a:xfrm>
            <a:off x="448191" y="18976325"/>
            <a:ext cx="6422372" cy="7567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BE39AB-2CB5-DA4D-95A1-F9F18E5938D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16087"/>
          <a:stretch/>
        </p:blipFill>
        <p:spPr>
          <a:xfrm>
            <a:off x="7084606" y="18960815"/>
            <a:ext cx="6356005" cy="75744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C71D0C-3842-B845-B688-018CEC597999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15630"/>
          <a:stretch/>
        </p:blipFill>
        <p:spPr>
          <a:xfrm>
            <a:off x="13766125" y="18950540"/>
            <a:ext cx="6428496" cy="76193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DBF8852F-B51D-456E-8576-5D4D414ABDC6}"/>
</file>

<file path=customXml/itemProps2.xml><?xml version="1.0" encoding="utf-8"?>
<ds:datastoreItem xmlns:ds="http://schemas.openxmlformats.org/officeDocument/2006/customXml" ds:itemID="{E590E756-91C6-4F1A-B7C7-E6C90178B8B9}"/>
</file>

<file path=customXml/itemProps3.xml><?xml version="1.0" encoding="utf-8"?>
<ds:datastoreItem xmlns:ds="http://schemas.openxmlformats.org/officeDocument/2006/customXml" ds:itemID="{C5DDC326-3C28-45EE-A4A8-D9CB33FFFFBF}"/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574</Words>
  <Application>Microsoft Macintosh PowerPoint</Application>
  <PresentationFormat>Custom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Helvetica Neue Light</vt:lpstr>
      <vt:lpstr>Franklin Gothic</vt:lpstr>
      <vt:lpstr>Helvetica Neue</vt:lpstr>
      <vt:lpstr>ITC Franklin Gothic Std Book</vt:lpstr>
      <vt:lpstr>Arial</vt:lpstr>
      <vt:lpstr>Simple Light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Pristavec, Teja (tp2sk)</cp:lastModifiedBy>
  <cp:revision>30</cp:revision>
  <cp:lastPrinted>2019-08-04T21:15:16Z</cp:lastPrinted>
  <dcterms:modified xsi:type="dcterms:W3CDTF">2019-08-05T14:57:09Z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