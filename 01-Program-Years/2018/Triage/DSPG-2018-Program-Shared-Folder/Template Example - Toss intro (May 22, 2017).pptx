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90" r:id="rId2"/>
    <p:sldId id="291" r:id="rId3"/>
    <p:sldId id="292" r:id="rId4"/>
    <p:sldId id="2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704" autoAdjust="0"/>
    <p:restoredTop sz="94419"/>
  </p:normalViewPr>
  <p:slideViewPr>
    <p:cSldViewPr snapToGrid="0" snapToObjects="1">
      <p:cViewPr varScale="1">
        <p:scale>
          <a:sx n="90" d="100"/>
          <a:sy n="90" d="100"/>
        </p:scale>
        <p:origin x="-120" y="-2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8" d="100"/>
        <a:sy n="12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403BC-9698-974A-ACA6-F2154E84B95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DB2EF-E2C2-E040-98A0-4E2033F8A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1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i.e., they are not captured in surveys nor are in economics measures such as the Gross Domestic Product (GDP).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DB2EF-E2C2-E040-98A0-4E2033F8A5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7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0306" y="497541"/>
            <a:ext cx="6992470" cy="2850777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306" y="3602038"/>
            <a:ext cx="699247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6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54" y="1"/>
            <a:ext cx="11322422" cy="10219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0235"/>
            <a:ext cx="10515600" cy="4598894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3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54" y="1"/>
            <a:ext cx="11322422" cy="10219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0235"/>
            <a:ext cx="10515600" cy="4598894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8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1008529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250577"/>
            <a:ext cx="10515600" cy="48390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47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54" y="0"/>
            <a:ext cx="11362764" cy="10085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682"/>
            <a:ext cx="5181600" cy="4953281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682"/>
            <a:ext cx="5181600" cy="4953281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0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10036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93180"/>
            <a:ext cx="5157787" cy="479503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862253"/>
            <a:ext cx="5157787" cy="432741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93180"/>
            <a:ext cx="5183188" cy="479503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62253"/>
            <a:ext cx="5183188" cy="432741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0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0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014" y="345688"/>
            <a:ext cx="10764373" cy="635619"/>
          </a:xfrm>
        </p:spPr>
        <p:txBody>
          <a:bodyPr anchor="ctr" anchorCtr="0">
            <a:normAutofit/>
          </a:bodyPr>
          <a:lstStyle>
            <a:lvl1pPr algn="l"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2820"/>
            <a:ext cx="6172200" cy="47682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016" y="1092820"/>
            <a:ext cx="4348974" cy="477616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342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5600" cy="1204332"/>
          </a:xfrm>
        </p:spPr>
        <p:txBody>
          <a:bodyPr anchor="ctr" anchorCtr="0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484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3754" y="524435"/>
            <a:ext cx="6938682" cy="2837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17259"/>
            <a:ext cx="105156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4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tx2"/>
          </a:solidFill>
          <a:latin typeface="Raleway" charset="0"/>
          <a:ea typeface="Raleway" charset="0"/>
          <a:cs typeface="Raleway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2"/>
          </a:solidFill>
          <a:latin typeface="Trebuchet MS" charset="0"/>
          <a:ea typeface="Trebuchet MS" charset="0"/>
          <a:cs typeface="Trebuchet M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754" y="537882"/>
            <a:ext cx="6884894" cy="2850777"/>
          </a:xfrm>
        </p:spPr>
        <p:txBody>
          <a:bodyPr anchor="ctr" anchorCtr="0">
            <a:normAutofit/>
          </a:bodyPr>
          <a:lstStyle/>
          <a:p>
            <a:r>
              <a:rPr lang="en-US" sz="3200" dirty="0" smtClean="0"/>
              <a:t>Measuring </a:t>
            </a:r>
            <a:r>
              <a:rPr lang="en-US" sz="3200" dirty="0"/>
              <a:t>the </a:t>
            </a:r>
            <a:r>
              <a:rPr lang="en-US" sz="3200" dirty="0" smtClean="0"/>
              <a:t>Impact of </a:t>
            </a:r>
            <a:r>
              <a:rPr lang="en-US" sz="3200" dirty="0"/>
              <a:t>Open Source Software </a:t>
            </a:r>
            <a:r>
              <a:rPr lang="en-US" sz="3200" dirty="0" smtClean="0"/>
              <a:t>Innovation 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b="1" dirty="0">
              <a:solidFill>
                <a:schemeClr val="tx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3544" y="3685140"/>
            <a:ext cx="8900663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 smtClean="0"/>
              <a:t>SDAL Leads: Stephanie Shipp &amp; Gizem Korkmaz</a:t>
            </a:r>
          </a:p>
          <a:p>
            <a:pPr algn="l"/>
            <a:r>
              <a:rPr lang="en-US" b="1" dirty="0" smtClean="0"/>
              <a:t>SDAL Team: Josh Goldstein</a:t>
            </a:r>
          </a:p>
          <a:p>
            <a:r>
              <a:rPr lang="en-US" b="1" dirty="0" smtClean="0"/>
              <a:t>Sponsor: National Science Foundation (NSF) </a:t>
            </a:r>
            <a:r>
              <a:rPr lang="mr-IN" b="1" dirty="0" smtClean="0"/>
              <a:t>–</a:t>
            </a:r>
            <a:r>
              <a:rPr lang="en-US" b="1" dirty="0" smtClean="0"/>
              <a:t> </a:t>
            </a:r>
          </a:p>
          <a:p>
            <a:r>
              <a:rPr lang="en-US" dirty="0" smtClean="0"/>
              <a:t>National </a:t>
            </a:r>
            <a:r>
              <a:rPr lang="en-US" dirty="0"/>
              <a:t>Center for Science and Engineering Statistics </a:t>
            </a:r>
            <a:r>
              <a:rPr lang="en-US" dirty="0" smtClean="0"/>
              <a:t>(NCSES)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69198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NCSES and other economic indicators do not measure the value of goods and services that do not have market transactions, </a:t>
            </a:r>
            <a:endParaRPr lang="en-US" dirty="0" smtClean="0"/>
          </a:p>
          <a:p>
            <a:r>
              <a:rPr lang="en-US" dirty="0" smtClean="0"/>
              <a:t>The goal </a:t>
            </a:r>
            <a:r>
              <a:rPr lang="en-US" dirty="0"/>
              <a:t>is to test the feasibility and to develop methods to measure the </a:t>
            </a:r>
            <a:r>
              <a:rPr lang="en-US" dirty="0" smtClean="0"/>
              <a:t>impact and scope </a:t>
            </a:r>
            <a:r>
              <a:rPr lang="en-US" dirty="0"/>
              <a:t>of open source software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517" y="3783758"/>
            <a:ext cx="8647703" cy="235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3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Research Questions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What sources of data and variables could serve as proxies for measuring attributes and economic value of open source software? </a:t>
            </a:r>
          </a:p>
          <a:p>
            <a:pPr lvl="1"/>
            <a:r>
              <a:rPr lang="en-US" dirty="0"/>
              <a:t>Counts of OSS, by sector, by technology, by cost, by benefits, by geography</a:t>
            </a:r>
          </a:p>
          <a:p>
            <a:pPr lvl="1"/>
            <a:r>
              <a:rPr lang="en-US" dirty="0"/>
              <a:t>Attributes, e.g., # citations, #downloaded, # sectors, etc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dirty="0"/>
              <a:t>How accessible are these data sources and variables from a repeatability and reliability perspective?</a:t>
            </a:r>
          </a:p>
          <a:p>
            <a:pPr lvl="0"/>
            <a:r>
              <a:rPr lang="en-US" dirty="0"/>
              <a:t>What indicators or models could be created to measure attributes and eventually economic value? </a:t>
            </a:r>
          </a:p>
          <a:p>
            <a:pPr lvl="0"/>
            <a:r>
              <a:rPr lang="en-US" dirty="0"/>
              <a:t>What are gaps or limitations in the proposed approaches?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0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mtClean="0"/>
              <a:t>Project Plan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965" y="1292628"/>
            <a:ext cx="5568230" cy="4281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3754" y="1282549"/>
            <a:ext cx="57589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Building on research conducted during Summer 2016, Fall 2016, and Spring </a:t>
            </a: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2017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Understanding existing cost/value models for private  software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Adapting to open source software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Data collection (</a:t>
            </a:r>
            <a:r>
              <a:rPr lang="en-US" sz="2800" dirty="0" err="1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webscraping</a:t>
            </a: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)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  <a:latin typeface="Trebuchet MS" charset="0"/>
                <a:ea typeface="Trebuchet MS" charset="0"/>
                <a:cs typeface="Trebuchet MS" charset="0"/>
              </a:rPr>
              <a:t>Modeling and network analysis</a:t>
            </a:r>
            <a:endParaRPr lang="en-US" sz="2800" dirty="0">
              <a:solidFill>
                <a:schemeClr val="tx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974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246</Words>
  <Application>Microsoft Macintosh PowerPoint</Application>
  <PresentationFormat>Custom</PresentationFormat>
  <Paragraphs>23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Measuring the Impact of Open Source Software Innovation  </vt:lpstr>
      <vt:lpstr>Project Overview</vt:lpstr>
      <vt:lpstr>Research Questions</vt:lpstr>
      <vt:lpstr>Project Plan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SDAL Test</dc:title>
  <dc:creator>Microsoft Office User</dc:creator>
  <cp:lastModifiedBy>Stephanie Shipp</cp:lastModifiedBy>
  <cp:revision>57</cp:revision>
  <dcterms:created xsi:type="dcterms:W3CDTF">2016-03-03T20:17:21Z</dcterms:created>
  <dcterms:modified xsi:type="dcterms:W3CDTF">2017-05-23T01:10:11Z</dcterms:modified>
</cp:coreProperties>
</file>