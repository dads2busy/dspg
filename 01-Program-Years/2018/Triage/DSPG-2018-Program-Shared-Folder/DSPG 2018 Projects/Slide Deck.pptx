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Raleway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i.e., they are not captured in surveys nor are in economics measures such as the Gross Domestic Product (GDP).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430306" y="497541"/>
            <a:ext cx="6992470" cy="285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i="0" sz="6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30306" y="3602038"/>
            <a:ext cx="699247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838200" y="1210235"/>
            <a:ext cx="10515600" cy="4598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838200" y="1210235"/>
            <a:ext cx="10515600" cy="4598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1850" y="0"/>
            <a:ext cx="10515600" cy="1008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1850" y="1250577"/>
            <a:ext cx="10515600" cy="4839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43754" y="0"/>
            <a:ext cx="11362764" cy="1008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838200" y="1223682"/>
            <a:ext cx="5181600" cy="495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6172200" y="1223682"/>
            <a:ext cx="5181600" cy="495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9788" y="1"/>
            <a:ext cx="10515600" cy="1003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9788" y="1193180"/>
            <a:ext cx="5157787" cy="479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839788" y="1862253"/>
            <a:ext cx="5157787" cy="4327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6172200" y="1193180"/>
            <a:ext cx="5183188" cy="479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4" type="body"/>
          </p:nvPr>
        </p:nvSpPr>
        <p:spPr>
          <a:xfrm>
            <a:off x="6172200" y="1862253"/>
            <a:ext cx="5183188" cy="4327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43754" y="524435"/>
            <a:ext cx="6938682" cy="2837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591014" y="345688"/>
            <a:ext cx="10764373" cy="63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5183188" y="1092820"/>
            <a:ext cx="6172200" cy="4768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91016" y="1092820"/>
            <a:ext cx="4348974" cy="477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9788" y="457200"/>
            <a:ext cx="10515600" cy="1204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5183188" y="2057400"/>
            <a:ext cx="6172200" cy="380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43754" y="524435"/>
            <a:ext cx="6938682" cy="2837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361725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ctrTitle"/>
          </p:nvPr>
        </p:nvSpPr>
        <p:spPr>
          <a:xfrm>
            <a:off x="443754" y="537882"/>
            <a:ext cx="6884894" cy="285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aleway"/>
              <a:buNone/>
            </a:pPr>
            <a:r>
              <a:rPr lang="en-US" sz="3200"/>
              <a:t>Virginia Tech</a:t>
            </a:r>
            <a:endParaRPr sz="3200"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aleway"/>
              <a:buNone/>
            </a:pPr>
            <a:r>
              <a:rPr lang="en-US" sz="3200"/>
              <a:t>Student Lifecycle Metrics</a:t>
            </a:r>
            <a:endParaRPr b="1" i="0" sz="3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343544" y="3685140"/>
            <a:ext cx="8900663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1" lang="en-US" sz="2220"/>
              <a:t>PI: Aaron Schroeder</a:t>
            </a:r>
            <a:endParaRPr b="1" sz="222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SDAL Leads: Gizem Korkmaz &amp; Sallie Keller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SDAL Team: </a:t>
            </a:r>
            <a:r>
              <a:rPr b="1" lang="en-US" sz="2220"/>
              <a:t>Devika Nair, Jay Warajuntano, Doug Mattingly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Sponsor: </a:t>
            </a:r>
            <a:r>
              <a:rPr b="1" lang="en-US" sz="2220"/>
              <a:t>Virginia Tech</a:t>
            </a: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t/>
            </a:r>
            <a:endParaRPr b="1" i="0" sz="222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</a:pPr>
            <a:r>
              <a:rPr lang="en-US"/>
              <a:t>Agenda</a:t>
            </a:r>
            <a:endParaRPr b="1" i="0" sz="5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838200" y="1210235"/>
            <a:ext cx="10515600" cy="4598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/>
              <a:t>  Research Questions</a:t>
            </a:r>
            <a:endParaRPr/>
          </a:p>
          <a:p>
            <a:pPr indent="-228600" lvl="0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/>
              <a:t>  Project Plan</a:t>
            </a:r>
            <a:endParaRPr/>
          </a:p>
          <a:p>
            <a:pPr indent="-228600" lvl="0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/>
              <a:t>  Research Areas</a:t>
            </a:r>
            <a:endParaRPr/>
          </a:p>
          <a:p>
            <a:pPr indent="-254000" lvl="1" marL="1600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/>
              <a:t>  Admissions</a:t>
            </a:r>
            <a:endParaRPr/>
          </a:p>
          <a:p>
            <a:pPr indent="-254000" lvl="1" marL="1600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/>
              <a:t>  Progression</a:t>
            </a:r>
            <a:endParaRPr/>
          </a:p>
          <a:p>
            <a:pPr indent="-254000" lvl="1" marL="1600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/>
              <a:t>  Outcomes</a:t>
            </a:r>
            <a:endParaRPr/>
          </a:p>
          <a:p>
            <a:pPr indent="-228600" lvl="0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/>
              <a:t>  Next Steps</a:t>
            </a:r>
            <a:br>
              <a:rPr lang="en-US"/>
            </a:br>
            <a:endParaRPr b="0" i="0" sz="28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Research Questions</a:t>
            </a:r>
            <a:endParaRPr b="1" i="0" sz="4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698725" y="1820350"/>
            <a:ext cx="50283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/>
              <a:t>Admissions</a:t>
            </a:r>
            <a:r>
              <a:rPr lang="en-US" sz="1800"/>
              <a:t>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How do students respond to acceptances? What patterns accompany students who choose to enroll elsewhere?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/>
              <a:t>Student Success</a:t>
            </a:r>
            <a:r>
              <a:rPr lang="en-US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How do students perform throughout their 4 years at Virginia Tech? What patterns characterize students struggling to complete their studies?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/>
              <a:t>Post-Graduate Outcomes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Are graduates able to achieve their desired career goals within 6 months of completing their VT degree?</a:t>
            </a:r>
            <a:endParaRPr sz="1600"/>
          </a:p>
        </p:txBody>
      </p:sp>
      <p:sp>
        <p:nvSpPr>
          <p:cNvPr id="63" name="Google Shape;63;p13"/>
          <p:cNvSpPr txBox="1"/>
          <p:nvPr/>
        </p:nvSpPr>
        <p:spPr>
          <a:xfrm>
            <a:off x="1112475" y="2081175"/>
            <a:ext cx="3829500" cy="300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Goal: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To understand how low-income and/or minority students trend throughout their lifecycle at Virginia Tech. 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443754" y="1"/>
            <a:ext cx="1132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Project Plan</a:t>
            </a:r>
            <a:endParaRPr b="1" i="0" sz="4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191525" y="2044550"/>
            <a:ext cx="4326300" cy="2897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/>
              <a:t>Deadline: June 30</a:t>
            </a:r>
            <a:endParaRPr b="1" i="1" sz="1800"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/>
              <a:t>Data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Quality Review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Fitness Evaluation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Identification of key identifiers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/>
              <a:t>Approach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Topic Selection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Method Selection</a:t>
            </a:r>
            <a:endParaRPr sz="1800"/>
          </a:p>
        </p:txBody>
      </p:sp>
      <p:sp>
        <p:nvSpPr>
          <p:cNvPr id="70" name="Google Shape;70;p14"/>
          <p:cNvSpPr txBox="1"/>
          <p:nvPr/>
        </p:nvSpPr>
        <p:spPr>
          <a:xfrm>
            <a:off x="5802525" y="1282550"/>
            <a:ext cx="5201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800">
                <a:solidFill>
                  <a:schemeClr val="dk1"/>
                </a:solidFill>
              </a:rPr>
              <a:t>Deadline: July 15</a:t>
            </a:r>
            <a:endParaRPr b="1"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Variable Adjustments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Transforming variables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Creating new variables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Linking data </a:t>
            </a:r>
            <a:endParaRPr b="1" i="1"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-US" sz="1800"/>
              <a:t>Deadline July 31</a:t>
            </a:r>
            <a:endParaRPr b="1" i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/>
              <a:t>Modeling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Prediction generation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Subset comparisons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-US" sz="1800"/>
              <a:t>Deadline: August 5</a:t>
            </a:r>
            <a:endParaRPr b="1" i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/>
              <a:t>Presentation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Poster Preparation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Presentation Practice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