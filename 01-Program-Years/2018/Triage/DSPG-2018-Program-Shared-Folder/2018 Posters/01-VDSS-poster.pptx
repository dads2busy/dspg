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
      <p:font typeface="Barlow Condensed Light"/>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93E43F68-242B-4E01-ABD7-644FBB390B9E}">
  <a:tblStyle styleId="{93E43F68-242B-4E01-ABD7-644FBB390B9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Condensed-boldItalic.fntdata"/><Relationship Id="rId10" Type="http://schemas.openxmlformats.org/officeDocument/2006/relationships/font" Target="fonts/BarlowCondensed-italic.fntdata"/><Relationship Id="rId13" Type="http://schemas.openxmlformats.org/officeDocument/2006/relationships/font" Target="fonts/BarlowCondensedLight-bold.fntdata"/><Relationship Id="rId12" Type="http://schemas.openxmlformats.org/officeDocument/2006/relationships/font" Target="fonts/BarlowCondensed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BarlowCondensed-bold.fntdata"/><Relationship Id="rId15" Type="http://schemas.openxmlformats.org/officeDocument/2006/relationships/font" Target="fonts/BarlowCondensedLight-boldItalic.fntdata"/><Relationship Id="rId14" Type="http://schemas.openxmlformats.org/officeDocument/2006/relationships/font" Target="fonts/BarlowCondensedLigh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BarlowCondense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a:t>
            </a:r>
            <a:r>
              <a:rPr lang="en">
                <a:solidFill>
                  <a:schemeClr val="dk1"/>
                </a:solidFill>
              </a:rPr>
              <a:t>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s://law.lis.virginia.gov/admincode/title22/" TargetMode="External"/><Relationship Id="rId10" Type="http://schemas.openxmlformats.org/officeDocument/2006/relationships/hyperlink" Target="https://law.lis.virginia.gov/admincode/title22/" TargetMode="External"/><Relationship Id="rId13" Type="http://schemas.openxmlformats.org/officeDocument/2006/relationships/image" Target="../media/image6.png"/><Relationship Id="rId12" Type="http://schemas.openxmlformats.org/officeDocument/2006/relationships/image" Target="../media/image5.jpg"/><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jpg"/><Relationship Id="rId9" Type="http://schemas.openxmlformats.org/officeDocument/2006/relationships/hyperlink" Target="http://www.dss.virginia.gov/about/manuals.cgi" TargetMode="External"/><Relationship Id="rId5" Type="http://schemas.openxmlformats.org/officeDocument/2006/relationships/image" Target="../media/image4.jpg"/><Relationship Id="rId6" Type="http://schemas.openxmlformats.org/officeDocument/2006/relationships/hyperlink" Target="https://www.ndacan.cornell.edu/index.cfm" TargetMode="External"/><Relationship Id="rId7" Type="http://schemas.openxmlformats.org/officeDocument/2006/relationships/hyperlink" Target="http://www.ndacan.cornell.edu" TargetMode="External"/><Relationship Id="rId8" Type="http://schemas.openxmlformats.org/officeDocument/2006/relationships/hyperlink" Target="http://www.dss.virginia.gov/about/manuals.cg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p:nvPr/>
        </p:nvSpPr>
        <p:spPr>
          <a:xfrm>
            <a:off x="24266275" y="23419700"/>
            <a:ext cx="10890600" cy="8525400"/>
          </a:xfrm>
          <a:prstGeom prst="rect">
            <a:avLst/>
          </a:prstGeom>
          <a:solidFill>
            <a:srgbClr val="861F41">
              <a:alpha val="10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 name="Google Shape;52;p13"/>
          <p:cNvPicPr preferRelativeResize="0"/>
          <p:nvPr/>
        </p:nvPicPr>
        <p:blipFill>
          <a:blip r:embed="rId3">
            <a:alphaModFix/>
          </a:blip>
          <a:stretch>
            <a:fillRect/>
          </a:stretch>
        </p:blipFill>
        <p:spPr>
          <a:xfrm>
            <a:off x="31063100" y="17783625"/>
            <a:ext cx="4083250" cy="3869550"/>
          </a:xfrm>
          <a:prstGeom prst="rect">
            <a:avLst/>
          </a:prstGeom>
          <a:noFill/>
          <a:ln>
            <a:noFill/>
          </a:ln>
        </p:spPr>
      </p:pic>
      <p:pic>
        <p:nvPicPr>
          <p:cNvPr id="53" name="Google Shape;53;p13"/>
          <p:cNvPicPr preferRelativeResize="0"/>
          <p:nvPr/>
        </p:nvPicPr>
        <p:blipFill>
          <a:blip r:embed="rId4">
            <a:alphaModFix/>
          </a:blip>
          <a:stretch>
            <a:fillRect/>
          </a:stretch>
        </p:blipFill>
        <p:spPr>
          <a:xfrm>
            <a:off x="25284800" y="16747301"/>
            <a:ext cx="5321100" cy="5001800"/>
          </a:xfrm>
          <a:prstGeom prst="rect">
            <a:avLst/>
          </a:prstGeom>
          <a:noFill/>
          <a:ln>
            <a:noFill/>
          </a:ln>
        </p:spPr>
      </p:pic>
      <p:sp>
        <p:nvSpPr>
          <p:cNvPr id="54" name="Google Shape;54;p13"/>
          <p:cNvSpPr/>
          <p:nvPr/>
        </p:nvSpPr>
        <p:spPr>
          <a:xfrm>
            <a:off x="11751175" y="9430475"/>
            <a:ext cx="13727700" cy="1227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1186650" y="28119575"/>
            <a:ext cx="10060800" cy="85254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br>
              <a:rPr lang="en" sz="7500">
                <a:solidFill>
                  <a:srgbClr val="FFFFFF"/>
                </a:solidFill>
                <a:latin typeface="Barlow Condensed"/>
                <a:ea typeface="Barlow Condensed"/>
                <a:cs typeface="Barlow Condensed"/>
                <a:sym typeface="Barlow Condensed"/>
              </a:rPr>
            </a:br>
            <a:r>
              <a:rPr lang="en" sz="7800">
                <a:solidFill>
                  <a:srgbClr val="FFFFFF"/>
                </a:solidFill>
                <a:latin typeface="Barlow Condensed"/>
                <a:ea typeface="Barlow Condensed"/>
                <a:cs typeface="Barlow Condensed"/>
                <a:sym typeface="Barlow Condensed"/>
              </a:rPr>
              <a:t>  </a:t>
            </a:r>
            <a:br>
              <a:rPr lang="en" sz="7800">
                <a:solidFill>
                  <a:srgbClr val="FFFFFF"/>
                </a:solidFill>
                <a:latin typeface="Barlow Condensed"/>
                <a:ea typeface="Barlow Condensed"/>
                <a:cs typeface="Barlow Condensed"/>
                <a:sym typeface="Barlow Condensed"/>
              </a:rPr>
            </a:br>
            <a:br>
              <a:rPr lang="en" sz="7500">
                <a:solidFill>
                  <a:srgbClr val="FFFFFF"/>
                </a:solidFill>
                <a:latin typeface="Barlow Condensed"/>
                <a:ea typeface="Barlow Condensed"/>
                <a:cs typeface="Barlow Condensed"/>
                <a:sym typeface="Barlow Condensed"/>
              </a:rPr>
            </a:br>
            <a:r>
              <a:rPr lang="en" sz="7500">
                <a:solidFill>
                  <a:srgbClr val="FFFFFF"/>
                </a:solidFill>
                <a:latin typeface="Barlow Condensed"/>
                <a:ea typeface="Barlow Condensed"/>
                <a:cs typeface="Barlow Condensed"/>
                <a:sym typeface="Barlow Condensed"/>
              </a:rPr>
              <a:t> </a:t>
            </a:r>
            <a:r>
              <a:rPr lang="en" sz="7500">
                <a:solidFill>
                  <a:srgbClr val="FFFFFF"/>
                </a:solidFill>
                <a:highlight>
                  <a:srgbClr val="5D89B4"/>
                </a:highlight>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3</a:t>
            </a:r>
            <a:r>
              <a:rPr b="1" lang="en" sz="7500">
                <a:solidFill>
                  <a:srgbClr val="F3F3F3"/>
                </a:solidFill>
                <a:highlight>
                  <a:srgbClr val="5D89B4"/>
                </a:highlight>
                <a:latin typeface="Barlow Condensed"/>
                <a:ea typeface="Barlow Condensed"/>
                <a:cs typeface="Barlow Condensed"/>
                <a:sym typeface="Barlow Condensed"/>
              </a:rPr>
              <a:t> </a:t>
            </a:r>
            <a:r>
              <a:rPr b="1" lang="en" sz="7500">
                <a:solidFill>
                  <a:srgbClr val="F3F3F3"/>
                </a:solidFill>
                <a:latin typeface="Barlow Condensed"/>
                <a:ea typeface="Barlow Condensed"/>
                <a:cs typeface="Barlow Condensed"/>
                <a:sym typeface="Barlow Condensed"/>
              </a:rPr>
              <a:t>  </a:t>
            </a:r>
            <a:r>
              <a:rPr lang="en" sz="7500">
                <a:solidFill>
                  <a:schemeClr val="dk1"/>
                </a:solidFill>
                <a:latin typeface="Barlow Condensed"/>
                <a:ea typeface="Barlow Condensed"/>
                <a:cs typeface="Barlow Condensed"/>
                <a:sym typeface="Barlow Condensed"/>
              </a:rPr>
              <a:t>FUTURE RESEARCH </a:t>
            </a:r>
            <a:endParaRPr sz="75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gn="l">
              <a:lnSpc>
                <a:spcPct val="115000"/>
              </a:lnSpc>
              <a:spcBef>
                <a:spcPts val="0"/>
              </a:spcBef>
              <a:spcAft>
                <a:spcPts val="0"/>
              </a:spcAft>
              <a:buNone/>
            </a:pPr>
            <a:r>
              <a:rPr lang="en" sz="3600">
                <a:solidFill>
                  <a:srgbClr val="222222"/>
                </a:solidFill>
                <a:latin typeface="Barlow Condensed"/>
                <a:ea typeface="Barlow Condensed"/>
                <a:cs typeface="Barlow Condensed"/>
                <a:sym typeface="Barlow Condensed"/>
              </a:rPr>
              <a:t>VDSS is interested in continuing the project after the summer. After acquiring access to OASIS and VaCMS data, SDAL can exchange the information in the dashboard  from NIS to Oasis and VaCMS. Eventually, we can implement data sharing for confirming PIIs (case id, address, last name, and client ID), to validate the proof of concept demonstrated described here.</a:t>
            </a:r>
            <a:endParaRPr sz="3600">
              <a:solidFill>
                <a:srgbClr val="222222"/>
              </a:solidFill>
              <a:latin typeface="Barlow Condensed"/>
              <a:ea typeface="Barlow Condensed"/>
              <a:cs typeface="Barlow Condensed"/>
              <a:sym typeface="Barlow Condensed"/>
            </a:endParaRPr>
          </a:p>
          <a:p>
            <a:pPr indent="0" lvl="0" marL="0" rtl="0" algn="l">
              <a:lnSpc>
                <a:spcPct val="115000"/>
              </a:lnSpc>
              <a:spcBef>
                <a:spcPts val="0"/>
              </a:spcBef>
              <a:spcAft>
                <a:spcPts val="0"/>
              </a:spcAft>
              <a:buClr>
                <a:schemeClr val="dk1"/>
              </a:buClr>
              <a:buSzPts val="1100"/>
              <a:buFont typeface="Arial"/>
              <a:buNone/>
            </a:pPr>
            <a:r>
              <a:t/>
            </a:r>
            <a:endParaRPr i="1" sz="3600">
              <a:solidFill>
                <a:srgbClr val="2222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t/>
            </a:r>
            <a:endParaRPr sz="7500">
              <a:solidFill>
                <a:schemeClr val="dk1"/>
              </a:solidFill>
              <a:latin typeface="Barlow Condensed"/>
              <a:ea typeface="Barlow Condensed"/>
              <a:cs typeface="Barlow Condensed"/>
              <a:sym typeface="Barlow Condensed"/>
            </a:endParaRPr>
          </a:p>
          <a:p>
            <a:pPr indent="0" lvl="0" marL="0" rtl="0" algn="l">
              <a:spcBef>
                <a:spcPts val="0"/>
              </a:spcBef>
              <a:spcAft>
                <a:spcPts val="0"/>
              </a:spcAft>
              <a:buNone/>
            </a:pPr>
            <a:r>
              <a:t/>
            </a:r>
            <a:endParaRPr/>
          </a:p>
        </p:txBody>
      </p:sp>
      <p:sp>
        <p:nvSpPr>
          <p:cNvPr id="56" name="Google Shape;56;p13"/>
          <p:cNvSpPr txBox="1"/>
          <p:nvPr/>
        </p:nvSpPr>
        <p:spPr>
          <a:xfrm>
            <a:off x="8270725" y="20125"/>
            <a:ext cx="26601900" cy="3058500"/>
          </a:xfrm>
          <a:prstGeom prst="rect">
            <a:avLst/>
          </a:prstGeom>
          <a:no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9600">
                <a:solidFill>
                  <a:srgbClr val="141F22"/>
                </a:solidFill>
                <a:latin typeface="Barlow Condensed"/>
                <a:ea typeface="Barlow Condensed"/>
                <a:cs typeface="Barlow Condensed"/>
                <a:sym typeface="Barlow Condensed"/>
              </a:rPr>
              <a:t>Developing Family Relationship Networks for the </a:t>
            </a:r>
            <a:br>
              <a:rPr b="1" lang="en" sz="9600">
                <a:solidFill>
                  <a:srgbClr val="141F22"/>
                </a:solidFill>
                <a:latin typeface="Barlow Condensed"/>
                <a:ea typeface="Barlow Condensed"/>
                <a:cs typeface="Barlow Condensed"/>
                <a:sym typeface="Barlow Condensed"/>
              </a:rPr>
            </a:br>
            <a:r>
              <a:rPr b="1" lang="en" sz="9600">
                <a:solidFill>
                  <a:srgbClr val="141F22"/>
                </a:solidFill>
                <a:latin typeface="Barlow Condensed"/>
                <a:ea typeface="Barlow Condensed"/>
                <a:cs typeface="Barlow Condensed"/>
                <a:sym typeface="Barlow Condensed"/>
              </a:rPr>
              <a:t>Virginia Department of Social Services</a:t>
            </a:r>
            <a:endParaRPr b="1" sz="9600">
              <a:solidFill>
                <a:srgbClr val="141F22"/>
              </a:solidFill>
              <a:latin typeface="Barlow Condensed"/>
              <a:ea typeface="Barlow Condensed"/>
              <a:cs typeface="Barlow Condensed"/>
              <a:sym typeface="Barlow Condensed"/>
            </a:endParaRPr>
          </a:p>
        </p:txBody>
      </p:sp>
      <p:sp>
        <p:nvSpPr>
          <p:cNvPr id="57" name="Google Shape;57;p13"/>
          <p:cNvSpPr/>
          <p:nvPr/>
        </p:nvSpPr>
        <p:spPr>
          <a:xfrm>
            <a:off x="1186650" y="20802600"/>
            <a:ext cx="10060800" cy="9565225"/>
          </a:xfrm>
          <a:prstGeom prst="flowChartOffpageConnector">
            <a:avLst/>
          </a:prstGeom>
          <a:solidFill>
            <a:srgbClr val="FFFFFF"/>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br>
              <a:rPr b="1" lang="en" sz="7500">
                <a:solidFill>
                  <a:srgbClr val="FFFFFF"/>
                </a:solidFill>
                <a:highlight>
                  <a:srgbClr val="5D89B4"/>
                </a:highlight>
                <a:latin typeface="Barlow Condensed"/>
                <a:ea typeface="Barlow Condensed"/>
                <a:cs typeface="Barlow Condensed"/>
                <a:sym typeface="Barlow Condensed"/>
              </a:rPr>
            </a:br>
            <a:r>
              <a:rPr b="1" lang="en" sz="7500">
                <a:solidFill>
                  <a:srgbClr val="FFFFFF"/>
                </a:solidFill>
                <a:highlight>
                  <a:srgbClr val="5D89B4"/>
                </a:highlight>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2</a:t>
            </a:r>
            <a:r>
              <a:rPr b="1" lang="en" sz="7500">
                <a:solidFill>
                  <a:srgbClr val="CFE2F3"/>
                </a:solidFill>
                <a:highlight>
                  <a:srgbClr val="5D89B4"/>
                </a:highlight>
                <a:latin typeface="Barlow Condensed"/>
                <a:ea typeface="Barlow Condensed"/>
                <a:cs typeface="Barlow Condensed"/>
                <a:sym typeface="Barlow Condensed"/>
              </a:rPr>
              <a:t> </a:t>
            </a:r>
            <a:r>
              <a:rPr b="1" lang="en" sz="7500">
                <a:solidFill>
                  <a:srgbClr val="F3F3F3"/>
                </a:solidFill>
                <a:latin typeface="Barlow Condensed"/>
                <a:ea typeface="Barlow Condensed"/>
                <a:cs typeface="Barlow Condensed"/>
                <a:sym typeface="Barlow Condensed"/>
              </a:rPr>
              <a:t>  </a:t>
            </a:r>
            <a:r>
              <a:rPr lang="en" sz="7500">
                <a:latin typeface="Barlow Condensed"/>
                <a:ea typeface="Barlow Condensed"/>
                <a:cs typeface="Barlow Condensed"/>
                <a:sym typeface="Barlow Condensed"/>
              </a:rPr>
              <a:t>EXPLORATORY ANALYSIS</a:t>
            </a:r>
            <a:endParaRPr sz="7500">
              <a:latin typeface="Barlow Condensed"/>
              <a:ea typeface="Barlow Condensed"/>
              <a:cs typeface="Barlow Condensed"/>
              <a:sym typeface="Barlow Condensed"/>
            </a:endParaRPr>
          </a:p>
          <a:p>
            <a:pPr indent="0" lvl="0" marL="0" rtl="0" algn="l">
              <a:spcBef>
                <a:spcPts val="0"/>
              </a:spcBef>
              <a:spcAft>
                <a:spcPts val="0"/>
              </a:spcAft>
              <a:buNone/>
            </a:pPr>
            <a:r>
              <a:t/>
            </a:r>
            <a:endParaRPr sz="3600">
              <a:latin typeface="Barlow Condensed"/>
              <a:ea typeface="Barlow Condensed"/>
              <a:cs typeface="Barlow Condensed"/>
              <a:sym typeface="Barlow Condensed"/>
            </a:endParaRPr>
          </a:p>
          <a:p>
            <a:pPr indent="0" lvl="0" marL="0" rtl="0" algn="l">
              <a:spcBef>
                <a:spcPts val="0"/>
              </a:spcBef>
              <a:spcAft>
                <a:spcPts val="0"/>
              </a:spcAft>
              <a:buNone/>
            </a:pPr>
            <a:r>
              <a:rPr lang="en" sz="3600">
                <a:latin typeface="Barlow Condensed"/>
                <a:ea typeface="Barlow Condensed"/>
                <a:cs typeface="Barlow Condensed"/>
                <a:sym typeface="Barlow Condensed"/>
              </a:rPr>
              <a:t>Using NIS data, and at the request of our sponsor, we developed a broad classification tool that anyone can use in the future to identify family types. To do this, we: </a:t>
            </a:r>
            <a:br>
              <a:rPr lang="en" sz="3600">
                <a:latin typeface="Barlow Condensed"/>
                <a:ea typeface="Barlow Condensed"/>
                <a:cs typeface="Barlow Condensed"/>
                <a:sym typeface="Barlow Condensed"/>
              </a:rPr>
            </a:br>
            <a:endParaRPr sz="3600">
              <a:latin typeface="Barlow Condensed"/>
              <a:ea typeface="Barlow Condensed"/>
              <a:cs typeface="Barlow Condensed"/>
              <a:sym typeface="Barlow Condensed"/>
            </a:endParaRPr>
          </a:p>
          <a:p>
            <a:pPr indent="-457200" lvl="0" marL="457200" rtl="0" algn="l">
              <a:spcBef>
                <a:spcPts val="0"/>
              </a:spcBef>
              <a:spcAft>
                <a:spcPts val="0"/>
              </a:spcAft>
              <a:buSzPts val="3600"/>
              <a:buFont typeface="Barlow Condensed"/>
              <a:buChar char="-"/>
            </a:pPr>
            <a:r>
              <a:rPr lang="en" sz="3600">
                <a:latin typeface="Barlow Condensed"/>
                <a:ea typeface="Barlow Condensed"/>
                <a:cs typeface="Barlow Condensed"/>
                <a:sym typeface="Barlow Condensed"/>
              </a:rPr>
              <a:t>Used R to calculate summary statistics</a:t>
            </a:r>
            <a:endParaRPr sz="3600">
              <a:latin typeface="Barlow Condensed"/>
              <a:ea typeface="Barlow Condensed"/>
              <a:cs typeface="Barlow Condensed"/>
              <a:sym typeface="Barlow Condensed"/>
            </a:endParaRPr>
          </a:p>
          <a:p>
            <a:pPr indent="-457200" lvl="0" marL="457200" rtl="0" algn="l">
              <a:spcBef>
                <a:spcPts val="0"/>
              </a:spcBef>
              <a:spcAft>
                <a:spcPts val="0"/>
              </a:spcAft>
              <a:buSzPts val="3600"/>
              <a:buFont typeface="Barlow Condensed"/>
              <a:buChar char="-"/>
            </a:pPr>
            <a:r>
              <a:rPr lang="en" sz="3600">
                <a:latin typeface="Barlow Condensed"/>
                <a:ea typeface="Barlow Condensed"/>
                <a:cs typeface="Barlow Condensed"/>
                <a:sym typeface="Barlow Condensed"/>
              </a:rPr>
              <a:t>Created a network structure of tables (nodes to edges)</a:t>
            </a:r>
            <a:endParaRPr sz="3600">
              <a:latin typeface="Barlow Condensed"/>
              <a:ea typeface="Barlow Condensed"/>
              <a:cs typeface="Barlow Condensed"/>
              <a:sym typeface="Barlow Condensed"/>
            </a:endParaRPr>
          </a:p>
          <a:p>
            <a:pPr indent="-457200" lvl="0" marL="457200" rtl="0" algn="l">
              <a:spcBef>
                <a:spcPts val="0"/>
              </a:spcBef>
              <a:spcAft>
                <a:spcPts val="0"/>
              </a:spcAft>
              <a:buSzPts val="3600"/>
              <a:buFont typeface="Barlow Condensed"/>
              <a:buChar char="-"/>
            </a:pPr>
            <a:r>
              <a:rPr lang="en" sz="3600">
                <a:latin typeface="Barlow Condensed"/>
                <a:ea typeface="Barlow Condensed"/>
                <a:cs typeface="Barlow Condensed"/>
                <a:sym typeface="Barlow Condensed"/>
              </a:rPr>
              <a:t>Created network visualizations</a:t>
            </a:r>
            <a:endParaRPr sz="3600">
              <a:latin typeface="Barlow Condensed"/>
              <a:ea typeface="Barlow Condensed"/>
              <a:cs typeface="Barlow Condensed"/>
              <a:sym typeface="Barlow Condensed"/>
            </a:endParaRPr>
          </a:p>
          <a:p>
            <a:pPr indent="-457200" lvl="0" marL="457200" rtl="0" algn="l">
              <a:spcBef>
                <a:spcPts val="0"/>
              </a:spcBef>
              <a:spcAft>
                <a:spcPts val="0"/>
              </a:spcAft>
              <a:buSzPts val="3600"/>
              <a:buFont typeface="Barlow Condensed"/>
              <a:buChar char="-"/>
            </a:pPr>
            <a:r>
              <a:rPr lang="en" sz="3600">
                <a:latin typeface="Barlow Condensed"/>
                <a:ea typeface="Barlow Condensed"/>
                <a:cs typeface="Barlow Condensed"/>
                <a:sym typeface="Barlow Condensed"/>
              </a:rPr>
              <a:t>Developed a dashboard for family structure queries and displaying vizualizations.</a:t>
            </a:r>
            <a:endParaRPr sz="3600">
              <a:latin typeface="Barlow Condensed"/>
              <a:ea typeface="Barlow Condensed"/>
              <a:cs typeface="Barlow Condensed"/>
              <a:sym typeface="Barlow Condensed"/>
            </a:endParaRPr>
          </a:p>
        </p:txBody>
      </p:sp>
      <p:sp>
        <p:nvSpPr>
          <p:cNvPr id="58" name="Google Shape;58;p13"/>
          <p:cNvSpPr txBox="1"/>
          <p:nvPr/>
        </p:nvSpPr>
        <p:spPr>
          <a:xfrm>
            <a:off x="8270725" y="3039425"/>
            <a:ext cx="25925400" cy="14916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i="1" lang="en" sz="4800">
                <a:solidFill>
                  <a:srgbClr val="141F22"/>
                </a:solidFill>
                <a:latin typeface="Barlow Condensed"/>
                <a:ea typeface="Barlow Condensed"/>
                <a:cs typeface="Barlow Condensed"/>
                <a:sym typeface="Barlow Condensed"/>
              </a:rPr>
              <a:t>Megan Grondine (Virginia Tech), Daniel Liden (University of Minnesota, Twin Cities), Alexa Nosal (Virginia Tech)</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rPr i="1" lang="en" sz="4800">
                <a:solidFill>
                  <a:srgbClr val="141F22"/>
                </a:solidFill>
                <a:latin typeface="Barlow Condensed"/>
                <a:ea typeface="Barlow Condensed"/>
                <a:cs typeface="Barlow Condensed"/>
                <a:sym typeface="Barlow Condensed"/>
              </a:rPr>
              <a:t>SDAL:  Brian Goode, Aaron Schroeder</a:t>
            </a:r>
            <a:endParaRPr i="1" sz="4800">
              <a:solidFill>
                <a:srgbClr val="141F22"/>
              </a:solidFill>
              <a:latin typeface="Barlow Condensed"/>
              <a:ea typeface="Barlow Condensed"/>
              <a:cs typeface="Barlow Condensed"/>
              <a:sym typeface="Barlow Condensed"/>
            </a:endParaRPr>
          </a:p>
        </p:txBody>
      </p:sp>
      <p:sp>
        <p:nvSpPr>
          <p:cNvPr id="59" name="Google Shape;59;p13"/>
          <p:cNvSpPr txBox="1"/>
          <p:nvPr/>
        </p:nvSpPr>
        <p:spPr>
          <a:xfrm>
            <a:off x="18288000" y="4275821"/>
            <a:ext cx="20361600" cy="11121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Jeff Price : Research Analyst at the Virginia Department of Social Services</a:t>
            </a:r>
            <a:endParaRPr i="1" sz="3600">
              <a:solidFill>
                <a:srgbClr val="141F22"/>
              </a:solidFill>
              <a:latin typeface="Barlow Condensed"/>
              <a:ea typeface="Barlow Condensed"/>
              <a:cs typeface="Barlow Condensed"/>
              <a:sym typeface="Barlow Condensed"/>
            </a:endParaRPr>
          </a:p>
        </p:txBody>
      </p:sp>
      <p:sp>
        <p:nvSpPr>
          <p:cNvPr id="60" name="Google Shape;60;p13"/>
          <p:cNvSpPr txBox="1"/>
          <p:nvPr/>
        </p:nvSpPr>
        <p:spPr>
          <a:xfrm>
            <a:off x="1364850" y="6016750"/>
            <a:ext cx="31977300" cy="30585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5500">
                <a:solidFill>
                  <a:srgbClr val="5D89B4"/>
                </a:solidFill>
                <a:latin typeface="Barlow Condensed"/>
                <a:ea typeface="Barlow Condensed"/>
                <a:cs typeface="Barlow Condensed"/>
                <a:sym typeface="Barlow Condensed"/>
              </a:rPr>
              <a:t>“How many distinct individuals and families did we serve today?”</a:t>
            </a:r>
            <a:r>
              <a:rPr i="1" lang="en" sz="5500">
                <a:solidFill>
                  <a:schemeClr val="accent3"/>
                </a:solidFill>
                <a:latin typeface="Barlow Condensed"/>
                <a:ea typeface="Barlow Condensed"/>
                <a:cs typeface="Barlow Condensed"/>
                <a:sym typeface="Barlow Condensed"/>
              </a:rPr>
              <a:t> </a:t>
            </a:r>
            <a:r>
              <a:rPr i="1" lang="en" sz="3500">
                <a:solidFill>
                  <a:schemeClr val="accent3"/>
                </a:solidFill>
                <a:latin typeface="Barlow Condensed"/>
                <a:ea typeface="Barlow Condensed"/>
                <a:cs typeface="Barlow Condensed"/>
                <a:sym typeface="Barlow Condensed"/>
              </a:rPr>
              <a:t>- Jeff Price, VDSS Research and Planning</a:t>
            </a:r>
            <a:endParaRPr i="1" sz="3500">
              <a:solidFill>
                <a:schemeClr val="accent3"/>
              </a:solidFill>
              <a:latin typeface="Barlow Condensed"/>
              <a:ea typeface="Barlow Condensed"/>
              <a:cs typeface="Barlow Condensed"/>
              <a:sym typeface="Barlow Condensed"/>
            </a:endParaRPr>
          </a:p>
          <a:p>
            <a:pPr indent="457200" lvl="0" marL="457200" rtl="0" algn="l">
              <a:spcBef>
                <a:spcPts val="0"/>
              </a:spcBef>
              <a:spcAft>
                <a:spcPts val="0"/>
              </a:spcAft>
              <a:buNone/>
            </a:pPr>
            <a:r>
              <a:rPr lang="en" sz="3600">
                <a:solidFill>
                  <a:srgbClr val="141F22"/>
                </a:solidFill>
                <a:latin typeface="Barlow Condensed"/>
                <a:ea typeface="Barlow Condensed"/>
                <a:cs typeface="Barlow Condensed"/>
                <a:sym typeface="Barlow Condensed"/>
              </a:rPr>
              <a:t>Project Title: Unsupervised Learning Data Analysis to Develop Network Visualizations of Family Relationships</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None/>
            </a:pPr>
            <a:r>
              <a:rPr lang="en" sz="3600">
                <a:solidFill>
                  <a:srgbClr val="141F22"/>
                </a:solidFill>
                <a:latin typeface="Barlow Condensed"/>
                <a:ea typeface="Barlow Condensed"/>
                <a:cs typeface="Barlow Condensed"/>
                <a:sym typeface="Barlow Condensed"/>
              </a:rPr>
              <a:t>Problem Statement: Depending on the program, and the way the program identifies, tracks, and manages people within the program, each program may define ‘household’ and ‘family’ differently</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None/>
            </a:pPr>
            <a:r>
              <a:rPr lang="en" sz="3600">
                <a:solidFill>
                  <a:srgbClr val="141F22"/>
                </a:solidFill>
                <a:latin typeface="Barlow Condensed"/>
                <a:ea typeface="Barlow Condensed"/>
                <a:cs typeface="Barlow Condensed"/>
                <a:sym typeface="Barlow Condensed"/>
              </a:rPr>
              <a:t>Task: Create proof of concept using data from the National Incidence Study of Child Abuse and Neglect (NIS) that will easily translate for VDSS datasets in the future</a:t>
            </a:r>
            <a:endParaRPr sz="3600">
              <a:solidFill>
                <a:srgbClr val="2222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2" name="Google Shape;62;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940725" y="5124975"/>
            <a:ext cx="34205700" cy="10398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7500">
                <a:solidFill>
                  <a:srgbClr val="FFFFFF"/>
                </a:solidFill>
                <a:latin typeface="Barlow Condensed"/>
                <a:ea typeface="Barlow Condensed"/>
                <a:cs typeface="Barlow Condensed"/>
                <a:sym typeface="Barlow Condensed"/>
              </a:rPr>
              <a:t>Project Overview</a:t>
            </a:r>
            <a:endParaRPr b="1" sz="7500">
              <a:solidFill>
                <a:srgbClr val="FFFFFF"/>
              </a:solidFill>
              <a:latin typeface="Barlow Condensed"/>
              <a:ea typeface="Barlow Condensed"/>
              <a:cs typeface="Barlow Condensed"/>
              <a:sym typeface="Barlow Condensed"/>
            </a:endParaRPr>
          </a:p>
        </p:txBody>
      </p:sp>
      <p:sp>
        <p:nvSpPr>
          <p:cNvPr id="64" name="Google Shape;64;p13"/>
          <p:cNvSpPr/>
          <p:nvPr/>
        </p:nvSpPr>
        <p:spPr>
          <a:xfrm>
            <a:off x="1186650" y="9454700"/>
            <a:ext cx="10060800" cy="12602450"/>
          </a:xfrm>
          <a:prstGeom prst="flowChartOffpageConnector">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br>
              <a:rPr b="1" lang="en" sz="3600">
                <a:solidFill>
                  <a:srgbClr val="FFFFFF"/>
                </a:solidFill>
                <a:highlight>
                  <a:srgbClr val="5D89B4"/>
                </a:highlight>
                <a:latin typeface="Barlow Condensed"/>
                <a:ea typeface="Barlow Condensed"/>
                <a:cs typeface="Barlow Condensed"/>
                <a:sym typeface="Barlow Condensed"/>
              </a:rPr>
            </a:br>
            <a:r>
              <a:rPr b="1" lang="en" sz="3600">
                <a:solidFill>
                  <a:srgbClr val="FFFFFF"/>
                </a:solidFill>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 1 </a:t>
            </a:r>
            <a:r>
              <a:rPr b="1" lang="en" sz="7500">
                <a:solidFill>
                  <a:srgbClr val="F3F3F3"/>
                </a:solidFill>
                <a:latin typeface="Barlow Condensed"/>
                <a:ea typeface="Barlow Condensed"/>
                <a:cs typeface="Barlow Condensed"/>
                <a:sym typeface="Barlow Condensed"/>
              </a:rPr>
              <a:t>  </a:t>
            </a:r>
            <a:r>
              <a:rPr lang="en" sz="7500">
                <a:solidFill>
                  <a:schemeClr val="dk1"/>
                </a:solidFill>
                <a:latin typeface="Barlow Condensed"/>
                <a:ea typeface="Barlow Condensed"/>
                <a:cs typeface="Barlow Condensed"/>
                <a:sym typeface="Barlow Condensed"/>
              </a:rPr>
              <a:t>DATA EXPLORATION</a:t>
            </a:r>
            <a:endParaRPr sz="75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VDSS stakeholder definitions of “family” and “nonfamily” vary significantly. Some are articulate with detail, while others are more vague.  Stakeholders have different needs for defining “family.” This creates an issue for the department as a whole as they try to identify who they are serving.</a:t>
            </a:r>
            <a:br>
              <a:rPr lang="en" sz="3600">
                <a:solidFill>
                  <a:srgbClr val="141F22"/>
                </a:solidFill>
                <a:latin typeface="Barlow Condensed"/>
                <a:ea typeface="Barlow Condensed"/>
                <a:cs typeface="Barlow Condensed"/>
                <a:sym typeface="Barlow Condensed"/>
              </a:rPr>
            </a:br>
            <a:r>
              <a:rPr lang="en" sz="3600" u="sng">
                <a:solidFill>
                  <a:srgbClr val="141F22"/>
                </a:solidFill>
                <a:latin typeface="Barlow Condensed"/>
                <a:ea typeface="Barlow Condensed"/>
                <a:cs typeface="Barlow Condensed"/>
                <a:sym typeface="Barlow Condensed"/>
              </a:rPr>
              <a:t>Stakeholders:</a:t>
            </a:r>
            <a:endParaRPr sz="3600" u="sng">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Childcare Subsidy </a:t>
            </a:r>
            <a:endParaRPr sz="3600">
              <a:solidFill>
                <a:srgbClr val="141F22"/>
              </a:solidFill>
              <a:latin typeface="Barlow Condensed"/>
              <a:ea typeface="Barlow Condensed"/>
              <a:cs typeface="Barlow Condensed"/>
              <a:sym typeface="Barlow Condensed"/>
            </a:endParaRPr>
          </a:p>
          <a:p>
            <a:pPr indent="-406400" lvl="1" marL="1371600" rtl="0" algn="l">
              <a:spcBef>
                <a:spcPts val="0"/>
              </a:spcBef>
              <a:spcAft>
                <a:spcPts val="0"/>
              </a:spcAft>
              <a:buClr>
                <a:srgbClr val="141F22"/>
              </a:buClr>
              <a:buSzPts val="2800"/>
              <a:buFont typeface="Barlow Condensed"/>
              <a:buChar char="○"/>
            </a:pPr>
            <a:r>
              <a:rPr lang="en" sz="2800">
                <a:solidFill>
                  <a:schemeClr val="dk1"/>
                </a:solidFill>
                <a:latin typeface="Barlow Condensed Light"/>
                <a:ea typeface="Barlow Condensed Light"/>
                <a:cs typeface="Barlow Condensed Light"/>
                <a:sym typeface="Barlow Condensed Light"/>
              </a:rPr>
              <a:t>“Any individual(s), adult(s), and/or children related by blood, marriage, adoption or expression of kinship who function as a family unit.”</a:t>
            </a:r>
            <a:endParaRPr sz="2800">
              <a:solidFill>
                <a:schemeClr val="dk1"/>
              </a:solidFill>
              <a:latin typeface="Barlow Condensed Light"/>
              <a:ea typeface="Barlow Condensed Light"/>
              <a:cs typeface="Barlow Condensed Light"/>
              <a:sym typeface="Barlow Condensed Light"/>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TANF</a:t>
            </a:r>
            <a:endParaRPr sz="3600">
              <a:solidFill>
                <a:srgbClr val="141F22"/>
              </a:solidFill>
              <a:latin typeface="Barlow Condensed"/>
              <a:ea typeface="Barlow Condensed"/>
              <a:cs typeface="Barlow Condensed"/>
              <a:sym typeface="Barlow Condensed"/>
            </a:endParaRPr>
          </a:p>
          <a:p>
            <a:pPr indent="-406400" lvl="1" marL="1371600" rtl="0" algn="l">
              <a:spcBef>
                <a:spcPts val="0"/>
              </a:spcBef>
              <a:spcAft>
                <a:spcPts val="0"/>
              </a:spcAft>
              <a:buClr>
                <a:schemeClr val="dk1"/>
              </a:buClr>
              <a:buSzPts val="2800"/>
              <a:buFont typeface="Barlow Condensed Light"/>
              <a:buChar char="○"/>
            </a:pPr>
            <a:r>
              <a:rPr lang="en" sz="2800">
                <a:solidFill>
                  <a:schemeClr val="dk1"/>
                </a:solidFill>
                <a:latin typeface="Barlow Condensed Light"/>
                <a:ea typeface="Barlow Condensed Light"/>
                <a:cs typeface="Barlow Condensed Light"/>
                <a:sym typeface="Barlow Condensed Light"/>
              </a:rPr>
              <a:t>No definition of “family.” However, "assistance unit" means "those persons who must participate together as a family unit." Allows child to receive benefits from non-family caretakers through “Family Cap” provision.</a:t>
            </a:r>
            <a:endParaRPr sz="2800">
              <a:solidFill>
                <a:schemeClr val="dk1"/>
              </a:solidFill>
              <a:latin typeface="Barlow Condensed Light"/>
              <a:ea typeface="Barlow Condensed Light"/>
              <a:cs typeface="Barlow Condensed Light"/>
              <a:sym typeface="Barlow Condensed Light"/>
            </a:endParaRPr>
          </a:p>
          <a:p>
            <a:pPr indent="0" lvl="0" marL="0" rtl="0" algn="l">
              <a:spcBef>
                <a:spcPts val="0"/>
              </a:spcBef>
              <a:spcAft>
                <a:spcPts val="0"/>
              </a:spcAft>
              <a:buClr>
                <a:srgbClr val="000000"/>
              </a:buClr>
              <a:buSzPts val="1100"/>
              <a:buFont typeface="Arial"/>
              <a:buNone/>
            </a:pPr>
            <a:r>
              <a:t/>
            </a:r>
            <a:endParaRPr>
              <a:solidFill>
                <a:schemeClr val="dk1"/>
              </a:solidFill>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Child Protective Services, Child Support Enforcement, Foster Care, Medicaid, SNAP</a:t>
            </a:r>
            <a:endParaRPr sz="3600">
              <a:solidFill>
                <a:srgbClr val="141F22"/>
              </a:solidFill>
              <a:latin typeface="Barlow Condensed"/>
              <a:ea typeface="Barlow Condensed"/>
              <a:cs typeface="Barlow Condensed"/>
              <a:sym typeface="Barlow Condensed"/>
            </a:endParaRPr>
          </a:p>
          <a:p>
            <a:pPr indent="0" lvl="0" marL="914400" rtl="0" algn="l">
              <a:spcBef>
                <a:spcPts val="0"/>
              </a:spcBef>
              <a:spcAft>
                <a:spcPts val="0"/>
              </a:spcAft>
              <a:buNone/>
            </a:pPr>
            <a:r>
              <a:t/>
            </a:r>
            <a:endParaRPr sz="2800">
              <a:solidFill>
                <a:schemeClr val="dk1"/>
              </a:solidFill>
              <a:latin typeface="Barlow Condensed Light"/>
              <a:ea typeface="Barlow Condensed Light"/>
              <a:cs typeface="Barlow Condensed Light"/>
              <a:sym typeface="Barlow Condensed Light"/>
            </a:endParaRPr>
          </a:p>
          <a:p>
            <a:pPr indent="0" lvl="0" marL="0" rtl="0" algn="l">
              <a:spcBef>
                <a:spcPts val="0"/>
              </a:spcBef>
              <a:spcAft>
                <a:spcPts val="0"/>
              </a:spcAft>
              <a:buNone/>
            </a:pPr>
            <a:r>
              <a:t/>
            </a:r>
            <a:endParaRPr/>
          </a:p>
        </p:txBody>
      </p:sp>
      <p:sp>
        <p:nvSpPr>
          <p:cNvPr id="65" name="Google Shape;65;p13"/>
          <p:cNvSpPr txBox="1"/>
          <p:nvPr/>
        </p:nvSpPr>
        <p:spPr>
          <a:xfrm>
            <a:off x="11674950" y="10953575"/>
            <a:ext cx="6115200" cy="107556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VDSS is </a:t>
            </a:r>
            <a:r>
              <a:rPr lang="en" sz="3600">
                <a:solidFill>
                  <a:srgbClr val="141F22"/>
                </a:solidFill>
                <a:latin typeface="Barlow Condensed"/>
                <a:ea typeface="Barlow Condensed"/>
                <a:cs typeface="Barlow Condensed"/>
                <a:sym typeface="Barlow Condensed"/>
              </a:rPr>
              <a:t>dedicated</a:t>
            </a:r>
            <a:r>
              <a:rPr lang="en" sz="3600">
                <a:solidFill>
                  <a:srgbClr val="141F22"/>
                </a:solidFill>
                <a:latin typeface="Barlow Condensed"/>
                <a:ea typeface="Barlow Condensed"/>
                <a:cs typeface="Barlow Condensed"/>
                <a:sym typeface="Barlow Condensed"/>
              </a:rPr>
              <a:t> to ensuring the </a:t>
            </a:r>
            <a:r>
              <a:rPr lang="en" sz="3600">
                <a:solidFill>
                  <a:srgbClr val="141F22"/>
                </a:solidFill>
                <a:latin typeface="Barlow Condensed"/>
                <a:ea typeface="Barlow Condensed"/>
                <a:cs typeface="Barlow Condensed"/>
                <a:sym typeface="Barlow Condensed"/>
              </a:rPr>
              <a:t>wellbeing</a:t>
            </a:r>
            <a:r>
              <a:rPr lang="en" sz="3600">
                <a:solidFill>
                  <a:srgbClr val="141F22"/>
                </a:solidFill>
                <a:latin typeface="Barlow Condensed"/>
                <a:ea typeface="Barlow Condensed"/>
                <a:cs typeface="Barlow Condensed"/>
                <a:sym typeface="Barlow Condensed"/>
              </a:rPr>
              <a:t> of children, families, and households across the state of Virginia. The agency is one of the largest in Virginia, partnered with over 120 social services departments, non-profit and faith-based organizations. Their vast and diverse services benefit children and their families in many aspects, but the variety in their services leads to an agency-wide problem with the definition of family and household. </a:t>
            </a:r>
            <a:r>
              <a:rPr lang="en" sz="3600">
                <a:solidFill>
                  <a:srgbClr val="141F22"/>
                </a:solidFill>
                <a:latin typeface="Barlow Condensed"/>
                <a:ea typeface="Barlow Condensed"/>
                <a:cs typeface="Barlow Condensed"/>
                <a:sym typeface="Barlow Condensed"/>
              </a:rPr>
              <a:t>VDSS needs to be able to report on their service accounts of individuals and families. Their current system prohibits them from efficiently completing this task.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1615350" y="9438175"/>
            <a:ext cx="5321100" cy="1039800"/>
          </a:xfrm>
          <a:prstGeom prst="rect">
            <a:avLst/>
          </a:prstGeom>
          <a:no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7500">
                <a:solidFill>
                  <a:srgbClr val="C64600"/>
                </a:solidFill>
                <a:latin typeface="Barlow Condensed"/>
                <a:ea typeface="Barlow Condensed"/>
                <a:cs typeface="Barlow Condensed"/>
                <a:sym typeface="Barlow Condensed"/>
              </a:rPr>
              <a:t>About VDSS</a:t>
            </a:r>
            <a:endParaRPr b="1" sz="7500">
              <a:solidFill>
                <a:srgbClr val="C64600"/>
              </a:solidFill>
              <a:latin typeface="Barlow Condensed"/>
              <a:ea typeface="Barlow Condensed"/>
              <a:cs typeface="Barlow Condensed"/>
              <a:sym typeface="Barlow Condensed"/>
            </a:endParaRPr>
          </a:p>
        </p:txBody>
      </p:sp>
      <p:sp>
        <p:nvSpPr>
          <p:cNvPr id="67" name="Google Shape;67;p13"/>
          <p:cNvSpPr txBox="1"/>
          <p:nvPr/>
        </p:nvSpPr>
        <p:spPr>
          <a:xfrm>
            <a:off x="11674950" y="22683400"/>
            <a:ext cx="23471400" cy="10398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7500">
                <a:solidFill>
                  <a:srgbClr val="FFFFFF"/>
                </a:solidFill>
                <a:latin typeface="Barlow Condensed"/>
                <a:ea typeface="Barlow Condensed"/>
                <a:cs typeface="Barlow Condensed"/>
                <a:sym typeface="Barlow Condensed"/>
              </a:rPr>
              <a:t>Clustering &amp; Statistical Summaries</a:t>
            </a:r>
            <a:endParaRPr b="1" sz="7500">
              <a:solidFill>
                <a:srgbClr val="FFFFFF"/>
              </a:solidFill>
              <a:latin typeface="Barlow Condensed"/>
              <a:ea typeface="Barlow Condensed"/>
              <a:cs typeface="Barlow Condensed"/>
              <a:sym typeface="Barlow Condensed"/>
            </a:endParaRPr>
          </a:p>
        </p:txBody>
      </p:sp>
      <p:cxnSp>
        <p:nvCxnSpPr>
          <p:cNvPr id="68" name="Google Shape;68;p13"/>
          <p:cNvCxnSpPr/>
          <p:nvPr/>
        </p:nvCxnSpPr>
        <p:spPr>
          <a:xfrm>
            <a:off x="11455950" y="9269225"/>
            <a:ext cx="10500" cy="27467400"/>
          </a:xfrm>
          <a:prstGeom prst="straightConnector1">
            <a:avLst/>
          </a:prstGeom>
          <a:noFill/>
          <a:ln cap="flat" cmpd="sng" w="9525">
            <a:solidFill>
              <a:srgbClr val="595959"/>
            </a:solidFill>
            <a:prstDash val="solid"/>
            <a:round/>
            <a:headEnd len="med" w="med" type="none"/>
            <a:tailEnd len="med" w="med" type="none"/>
          </a:ln>
        </p:spPr>
      </p:cxnSp>
      <p:sp>
        <p:nvSpPr>
          <p:cNvPr id="69" name="Google Shape;69;p13"/>
          <p:cNvSpPr txBox="1"/>
          <p:nvPr/>
        </p:nvSpPr>
        <p:spPr>
          <a:xfrm>
            <a:off x="25505600" y="9269225"/>
            <a:ext cx="8994300" cy="14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500">
                <a:solidFill>
                  <a:srgbClr val="861F41"/>
                </a:solidFill>
                <a:latin typeface="Barlow Condensed"/>
                <a:ea typeface="Barlow Condensed"/>
                <a:cs typeface="Barlow Condensed"/>
                <a:sym typeface="Barlow Condensed"/>
              </a:rPr>
              <a:t>Dashboard</a:t>
            </a:r>
            <a:endParaRPr b="1" sz="7500">
              <a:solidFill>
                <a:srgbClr val="861F41"/>
              </a:solidFill>
              <a:latin typeface="Barlow Condensed"/>
              <a:ea typeface="Barlow Condensed"/>
              <a:cs typeface="Barlow Condensed"/>
              <a:sym typeface="Barlow Condensed"/>
            </a:endParaRPr>
          </a:p>
        </p:txBody>
      </p:sp>
      <p:sp>
        <p:nvSpPr>
          <p:cNvPr id="70" name="Google Shape;70;p13"/>
          <p:cNvSpPr txBox="1"/>
          <p:nvPr/>
        </p:nvSpPr>
        <p:spPr>
          <a:xfrm>
            <a:off x="25754000" y="10466825"/>
            <a:ext cx="8994300" cy="38694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We developed a dashboard that allows users to select the number of parents, the relationship Person A has to the child, the relationship Person B has to the child, and Other Involved Persons. The dashboard returns a table of applicable cases as well as the network relationship image (examples below). </a:t>
            </a:r>
            <a:endParaRPr sz="3600">
              <a:solidFill>
                <a:srgbClr val="141F22"/>
              </a:solidFill>
              <a:latin typeface="Barlow Condensed"/>
              <a:ea typeface="Barlow Condensed"/>
              <a:cs typeface="Barlow Condensed"/>
              <a:sym typeface="Barlow Condensed"/>
            </a:endParaRPr>
          </a:p>
        </p:txBody>
      </p:sp>
      <p:pic>
        <p:nvPicPr>
          <p:cNvPr id="71" name="Google Shape;71;p13"/>
          <p:cNvPicPr preferRelativeResize="0"/>
          <p:nvPr/>
        </p:nvPicPr>
        <p:blipFill>
          <a:blip r:embed="rId5">
            <a:alphaModFix/>
          </a:blip>
          <a:stretch>
            <a:fillRect/>
          </a:stretch>
        </p:blipFill>
        <p:spPr>
          <a:xfrm>
            <a:off x="30113975" y="14088400"/>
            <a:ext cx="4911050" cy="3869550"/>
          </a:xfrm>
          <a:prstGeom prst="rect">
            <a:avLst/>
          </a:prstGeom>
          <a:noFill/>
          <a:ln>
            <a:noFill/>
          </a:ln>
        </p:spPr>
      </p:pic>
      <p:sp>
        <p:nvSpPr>
          <p:cNvPr id="72" name="Google Shape;72;p13"/>
          <p:cNvSpPr txBox="1"/>
          <p:nvPr/>
        </p:nvSpPr>
        <p:spPr>
          <a:xfrm>
            <a:off x="24255800" y="32179875"/>
            <a:ext cx="10890600" cy="11058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3000">
                <a:solidFill>
                  <a:srgbClr val="FFFFFF"/>
                </a:solidFill>
                <a:latin typeface="Barlow Condensed"/>
                <a:ea typeface="Barlow Condensed"/>
                <a:cs typeface="Barlow Condensed"/>
                <a:sym typeface="Barlow Condensed"/>
              </a:rPr>
              <a:t>References/Acknowledgements </a:t>
            </a:r>
            <a:endParaRPr b="1" i="0" sz="3000">
              <a:solidFill>
                <a:srgbClr val="FFFFFF"/>
              </a:solidFill>
              <a:latin typeface="Barlow Condensed"/>
              <a:ea typeface="Barlow Condensed"/>
              <a:cs typeface="Barlow Condensed"/>
              <a:sym typeface="Barlow Condensed"/>
            </a:endParaRPr>
          </a:p>
        </p:txBody>
      </p:sp>
      <p:sp>
        <p:nvSpPr>
          <p:cNvPr id="73" name="Google Shape;73;p13"/>
          <p:cNvSpPr txBox="1"/>
          <p:nvPr/>
        </p:nvSpPr>
        <p:spPr>
          <a:xfrm>
            <a:off x="24190075" y="33221625"/>
            <a:ext cx="10757100" cy="43617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2400">
                <a:solidFill>
                  <a:schemeClr val="dk1"/>
                </a:solidFill>
                <a:highlight>
                  <a:srgbClr val="FFFFFF"/>
                </a:highlight>
                <a:latin typeface="Barlow Condensed"/>
                <a:ea typeface="Barlow Condensed"/>
                <a:cs typeface="Barlow Condensed"/>
                <a:sym typeface="Barlow Condensed"/>
              </a:rPr>
              <a:t>“National Data Archive on Child Abuse and Neglect (NDACAN).” n.d. Accessed August 1, 2018. </a:t>
            </a:r>
            <a:r>
              <a:rPr lang="en" sz="2400" u="sng">
                <a:solidFill>
                  <a:schemeClr val="hlink"/>
                </a:solidFill>
                <a:highlight>
                  <a:srgbClr val="FFFFFF"/>
                </a:highlight>
                <a:latin typeface="Barlow Condensed"/>
                <a:ea typeface="Barlow Condensed"/>
                <a:cs typeface="Barlow Condensed"/>
                <a:sym typeface="Barlow Condensed"/>
                <a:hlinkClick r:id="rId6"/>
              </a:rPr>
              <a:t>https://www.ndacan.cornell.edu/index.cfm</a:t>
            </a:r>
            <a:r>
              <a:rPr lang="en" sz="2400">
                <a:solidFill>
                  <a:schemeClr val="dk1"/>
                </a:solidFill>
                <a:highlight>
                  <a:srgbClr val="FFFFFF"/>
                </a:highlight>
                <a:latin typeface="Barlow Condensed"/>
                <a:ea typeface="Barlow Condensed"/>
                <a:cs typeface="Barlow Condensed"/>
                <a:sym typeface="Barlow Condensed"/>
              </a:rPr>
              <a:t>.</a:t>
            </a:r>
            <a:endParaRPr sz="24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24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lang="en" sz="2400">
                <a:solidFill>
                  <a:schemeClr val="dk1"/>
                </a:solidFill>
                <a:highlight>
                  <a:srgbClr val="FFFFFF"/>
                </a:highlight>
                <a:latin typeface="Barlow Condensed"/>
                <a:ea typeface="Barlow Condensed"/>
                <a:cs typeface="Barlow Condensed"/>
                <a:sym typeface="Barlow Condensed"/>
              </a:rPr>
              <a:t>Sedlak, A.J., Mettenburg, J., Brown, J., Basena, M., and Madden, K. (2010). Fourth National Incidence Study of Child Abuse and Neglect (NIS–4) Data File. Rockville, MD: Westat, Inc. Available from the National Data Archive on Child Abuse and Neglect web site: </a:t>
            </a:r>
            <a:r>
              <a:rPr lang="en" sz="2400" u="sng">
                <a:solidFill>
                  <a:schemeClr val="hlink"/>
                </a:solidFill>
                <a:highlight>
                  <a:srgbClr val="FFFFFF"/>
                </a:highlight>
                <a:latin typeface="Barlow Condensed"/>
                <a:ea typeface="Barlow Condensed"/>
                <a:cs typeface="Barlow Condensed"/>
                <a:sym typeface="Barlow Condensed"/>
                <a:hlinkClick r:id="rId7"/>
              </a:rPr>
              <a:t>http://www.ndacan.cornell.edu</a:t>
            </a:r>
            <a:endParaRPr sz="2400">
              <a:solidFill>
                <a:schemeClr val="dk1"/>
              </a:solidFill>
              <a:highlight>
                <a:srgbClr val="FFFFFF"/>
              </a:highlight>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t/>
            </a:r>
            <a:endParaRPr sz="2400">
              <a:solidFill>
                <a:schemeClr val="dk1"/>
              </a:solidFill>
              <a:highlight>
                <a:srgbClr val="FFFFFF"/>
              </a:highlight>
              <a:latin typeface="Barlow Condensed"/>
              <a:ea typeface="Barlow Condensed"/>
              <a:cs typeface="Barlow Condensed"/>
              <a:sym typeface="Barlow Condensed"/>
            </a:endParaRPr>
          </a:p>
          <a:p>
            <a:pPr indent="-279400" lvl="0" marL="279400" rtl="0" algn="l">
              <a:lnSpc>
                <a:spcPct val="100000"/>
              </a:lnSpc>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“VDSS Manuals.” n.d. Accessed August 2, 2018.</a:t>
            </a:r>
            <a:r>
              <a:rPr lang="en" sz="2400">
                <a:solidFill>
                  <a:schemeClr val="dk1"/>
                </a:solidFill>
                <a:uFill>
                  <a:noFill/>
                </a:uFill>
                <a:latin typeface="Barlow Condensed"/>
                <a:ea typeface="Barlow Condensed"/>
                <a:cs typeface="Barlow Condensed"/>
                <a:sym typeface="Barlow Condensed"/>
                <a:hlinkClick r:id="rId8"/>
              </a:rPr>
              <a:t> </a:t>
            </a:r>
            <a:r>
              <a:rPr lang="en" sz="2400" u="sng">
                <a:solidFill>
                  <a:schemeClr val="hlink"/>
                </a:solidFill>
                <a:latin typeface="Barlow Condensed"/>
                <a:ea typeface="Barlow Condensed"/>
                <a:cs typeface="Barlow Condensed"/>
                <a:sym typeface="Barlow Condensed"/>
                <a:hlinkClick r:id="rId9"/>
              </a:rPr>
              <a:t>http://www.dss.virginia.gov/about/manuals.cgi</a:t>
            </a:r>
            <a:r>
              <a:rPr lang="en" sz="2400">
                <a:solidFill>
                  <a:schemeClr val="dk1"/>
                </a:solidFill>
                <a:latin typeface="Barlow Condensed"/>
                <a:ea typeface="Barlow Condensed"/>
                <a:cs typeface="Barlow Condensed"/>
                <a:sym typeface="Barlow Condensed"/>
              </a:rPr>
              <a:t>.</a:t>
            </a:r>
            <a:endParaRPr sz="2400">
              <a:solidFill>
                <a:schemeClr val="dk1"/>
              </a:solidFill>
              <a:latin typeface="Barlow Condensed"/>
              <a:ea typeface="Barlow Condensed"/>
              <a:cs typeface="Barlow Condensed"/>
              <a:sym typeface="Barlow Condensed"/>
            </a:endParaRPr>
          </a:p>
          <a:p>
            <a:pPr indent="-279400" lvl="0" marL="279400" rtl="0" algn="l">
              <a:lnSpc>
                <a:spcPct val="100000"/>
              </a:lnSpc>
              <a:spcBef>
                <a:spcPts val="0"/>
              </a:spcBef>
              <a:spcAft>
                <a:spcPts val="0"/>
              </a:spcAft>
              <a:buClr>
                <a:schemeClr val="dk1"/>
              </a:buClr>
              <a:buSzPts val="1100"/>
              <a:buFont typeface="Arial"/>
              <a:buNone/>
            </a:pPr>
            <a:r>
              <a:t/>
            </a:r>
            <a:endParaRPr sz="24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“Virginia Administrative Code - Title 22. Social Services.” n.d. Accessed August 2, 2018.</a:t>
            </a:r>
            <a:r>
              <a:rPr lang="en" sz="2400">
                <a:solidFill>
                  <a:schemeClr val="dk1"/>
                </a:solidFill>
                <a:uFill>
                  <a:noFill/>
                </a:uFill>
                <a:latin typeface="Barlow Condensed"/>
                <a:ea typeface="Barlow Condensed"/>
                <a:cs typeface="Barlow Condensed"/>
                <a:sym typeface="Barlow Condensed"/>
                <a:hlinkClick r:id="rId10"/>
              </a:rPr>
              <a:t> </a:t>
            </a:r>
            <a:r>
              <a:rPr lang="en" sz="2400" u="sng">
                <a:solidFill>
                  <a:schemeClr val="hlink"/>
                </a:solidFill>
                <a:latin typeface="Barlow Condensed"/>
                <a:ea typeface="Barlow Condensed"/>
                <a:cs typeface="Barlow Condensed"/>
                <a:sym typeface="Barlow Condensed"/>
                <a:hlinkClick r:id="rId11"/>
              </a:rPr>
              <a:t>https://law.lis.virginia.gov/admincode/title22/</a:t>
            </a:r>
            <a:r>
              <a:rPr lang="en" sz="1100">
                <a:solidFill>
                  <a:schemeClr val="dk1"/>
                </a:solidFill>
              </a:rPr>
              <a:t>.</a:t>
            </a:r>
            <a:endParaRPr sz="1100">
              <a:solidFill>
                <a:schemeClr val="dk1"/>
              </a:solidFill>
            </a:endParaRPr>
          </a:p>
          <a:p>
            <a:pPr indent="0" lvl="0" marL="0" rtl="0" algn="l">
              <a:spcBef>
                <a:spcPts val="0"/>
              </a:spcBef>
              <a:spcAft>
                <a:spcPts val="0"/>
              </a:spcAft>
              <a:buClr>
                <a:srgbClr val="000000"/>
              </a:buClr>
              <a:buFont typeface="Arial"/>
              <a:buNone/>
            </a:pPr>
            <a:br>
              <a:rPr lang="en" sz="2400">
                <a:solidFill>
                  <a:schemeClr val="dk1"/>
                </a:solidFill>
                <a:highlight>
                  <a:srgbClr val="FFFFFF"/>
                </a:highlight>
                <a:latin typeface="Barlow Condensed"/>
                <a:ea typeface="Barlow Condensed"/>
                <a:cs typeface="Barlow Condensed"/>
                <a:sym typeface="Barlow Condensed"/>
              </a:rPr>
            </a:br>
            <a:endParaRPr sz="2400">
              <a:solidFill>
                <a:srgbClr val="141F22"/>
              </a:solidFill>
              <a:latin typeface="Barlow Condensed"/>
              <a:ea typeface="Barlow Condensed"/>
              <a:cs typeface="Barlow Condensed"/>
              <a:sym typeface="Barlow Condensed"/>
            </a:endParaRPr>
          </a:p>
        </p:txBody>
      </p:sp>
      <p:sp>
        <p:nvSpPr>
          <p:cNvPr id="74" name="Google Shape;74;p13"/>
          <p:cNvSpPr txBox="1"/>
          <p:nvPr/>
        </p:nvSpPr>
        <p:spPr>
          <a:xfrm>
            <a:off x="18288000" y="10945875"/>
            <a:ext cx="7011300" cy="107556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chemeClr val="dk1"/>
                </a:solidFill>
                <a:latin typeface="Barlow Condensed"/>
                <a:ea typeface="Barlow Condensed"/>
                <a:cs typeface="Barlow Condensed"/>
                <a:sym typeface="Barlow Condensed"/>
              </a:rPr>
              <a:t>In order to build a prototype family structure query and visualization tool and to explore the analysis possibilities of family data network, we obtained data from the Fourth National Incidence Study of Child Abuse and Neglect (NIS–4). The NIS data were collected from 2004-2006. Demographic characteristics of children and their families were collected. Data came from Child Protective Services (CPS) agencies and from various community professionals in health, law enforcement, schools, and other community institutions. Each row of data represented a child. We extracted details about the the child’s primary caregiver and up to five additional individuals involved in each case.</a:t>
            </a:r>
            <a:br>
              <a:rPr lang="en" sz="3600">
                <a:solidFill>
                  <a:schemeClr val="dk1"/>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75" name="Google Shape;75;p13"/>
          <p:cNvSpPr txBox="1"/>
          <p:nvPr/>
        </p:nvSpPr>
        <p:spPr>
          <a:xfrm>
            <a:off x="18484275" y="9430475"/>
            <a:ext cx="5321100" cy="1039800"/>
          </a:xfrm>
          <a:prstGeom prst="rect">
            <a:avLst/>
          </a:prstGeom>
          <a:no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7500">
                <a:solidFill>
                  <a:srgbClr val="861F41"/>
                </a:solidFill>
                <a:latin typeface="Barlow Condensed"/>
                <a:ea typeface="Barlow Condensed"/>
                <a:cs typeface="Barlow Condensed"/>
                <a:sym typeface="Barlow Condensed"/>
              </a:rPr>
              <a:t>N</a:t>
            </a:r>
            <a:r>
              <a:rPr b="1" lang="en" sz="7500">
                <a:solidFill>
                  <a:srgbClr val="861F41"/>
                </a:solidFill>
                <a:latin typeface="Barlow Condensed"/>
                <a:ea typeface="Barlow Condensed"/>
                <a:cs typeface="Barlow Condensed"/>
                <a:sym typeface="Barlow Condensed"/>
              </a:rPr>
              <a:t>IS Data</a:t>
            </a:r>
            <a:endParaRPr b="1" sz="7500">
              <a:solidFill>
                <a:srgbClr val="861F41"/>
              </a:solidFill>
              <a:latin typeface="Barlow Condensed"/>
              <a:ea typeface="Barlow Condensed"/>
              <a:cs typeface="Barlow Condensed"/>
              <a:sym typeface="Barlow Condensed"/>
            </a:endParaRPr>
          </a:p>
        </p:txBody>
      </p:sp>
      <p:pic>
        <p:nvPicPr>
          <p:cNvPr id="76" name="Google Shape;76;p13"/>
          <p:cNvPicPr preferRelativeResize="0"/>
          <p:nvPr/>
        </p:nvPicPr>
        <p:blipFill>
          <a:blip r:embed="rId12">
            <a:alphaModFix/>
          </a:blip>
          <a:stretch>
            <a:fillRect/>
          </a:stretch>
        </p:blipFill>
        <p:spPr>
          <a:xfrm>
            <a:off x="26196682" y="14460870"/>
            <a:ext cx="3199500" cy="2515030"/>
          </a:xfrm>
          <a:prstGeom prst="rect">
            <a:avLst/>
          </a:prstGeom>
          <a:noFill/>
          <a:ln>
            <a:noFill/>
          </a:ln>
        </p:spPr>
      </p:pic>
      <p:sp>
        <p:nvSpPr>
          <p:cNvPr id="77" name="Google Shape;77;p13"/>
          <p:cNvSpPr/>
          <p:nvPr/>
        </p:nvSpPr>
        <p:spPr>
          <a:xfrm>
            <a:off x="25611200" y="14088400"/>
            <a:ext cx="9535150" cy="75718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 name="Google Shape;78;p13"/>
          <p:cNvCxnSpPr/>
          <p:nvPr/>
        </p:nvCxnSpPr>
        <p:spPr>
          <a:xfrm>
            <a:off x="18027075" y="9645575"/>
            <a:ext cx="73500" cy="11838300"/>
          </a:xfrm>
          <a:prstGeom prst="straightConnector1">
            <a:avLst/>
          </a:prstGeom>
          <a:noFill/>
          <a:ln cap="flat" cmpd="sng" w="9525">
            <a:solidFill>
              <a:schemeClr val="dk2"/>
            </a:solidFill>
            <a:prstDash val="solid"/>
            <a:round/>
            <a:headEnd len="med" w="med" type="none"/>
            <a:tailEnd len="med" w="med" type="none"/>
          </a:ln>
        </p:spPr>
      </p:cxnSp>
      <p:sp>
        <p:nvSpPr>
          <p:cNvPr id="79" name="Google Shape;79;p13"/>
          <p:cNvSpPr txBox="1"/>
          <p:nvPr/>
        </p:nvSpPr>
        <p:spPr>
          <a:xfrm>
            <a:off x="24190075" y="24124425"/>
            <a:ext cx="10757100" cy="78639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SzPts val="1100"/>
              <a:buFont typeface="Arial"/>
              <a:buNone/>
            </a:pPr>
            <a:r>
              <a:rPr lang="en" sz="3600">
                <a:latin typeface="Barlow Condensed"/>
                <a:ea typeface="Barlow Condensed"/>
                <a:cs typeface="Barlow Condensed"/>
                <a:sym typeface="Barlow Condensed"/>
              </a:rPr>
              <a:t>We conducted unsupervised learning on the NIS family structure data. As the data comprised categorical and count data, we first used Random Forest to generate a dissimilarity measure between observations. Unlike most other unsupervised learning methods, Random Forest handles non-continuous features without difficulty. We then used k-medoids clustering as implemented in the </a:t>
            </a:r>
            <a:r>
              <a:rPr i="1" lang="en" sz="3600">
                <a:latin typeface="Barlow Condensed"/>
                <a:ea typeface="Barlow Condensed"/>
                <a:cs typeface="Barlow Condensed"/>
                <a:sym typeface="Barlow Condensed"/>
              </a:rPr>
              <a:t>cluster</a:t>
            </a:r>
            <a:r>
              <a:rPr lang="en" sz="3600">
                <a:latin typeface="Barlow Condensed"/>
                <a:ea typeface="Barlow Condensed"/>
                <a:cs typeface="Barlow Condensed"/>
                <a:sym typeface="Barlow Condensed"/>
              </a:rPr>
              <a:t> package in R. The clusters obtained were primarily defined by who filled the primary and secondary caregiver roles, and what their relationship to each other was. Using Random Forest also results in a measure of feature importance. This importance measure confirmed that the primary and secondary caregiver roles and their relationships were the most important features defining family structure.</a:t>
            </a:r>
            <a:endParaRPr sz="3600">
              <a:latin typeface="Barlow Condensed"/>
              <a:ea typeface="Barlow Condensed"/>
              <a:cs typeface="Barlow Condensed"/>
              <a:sym typeface="Barlow Condensed"/>
            </a:endParaRPr>
          </a:p>
          <a:p>
            <a:pPr indent="0" lvl="0" marL="457200" rtl="0" algn="l">
              <a:spcBef>
                <a:spcPts val="0"/>
              </a:spcBef>
              <a:spcAft>
                <a:spcPts val="0"/>
              </a:spcAft>
              <a:buClr>
                <a:schemeClr val="dk1"/>
              </a:buClr>
              <a:buSzPts val="1100"/>
              <a:buFont typeface="Arial"/>
              <a:buNone/>
            </a:pPr>
            <a:r>
              <a:t/>
            </a:r>
            <a:endParaRPr sz="3600">
              <a:latin typeface="Barlow Condensed"/>
              <a:ea typeface="Barlow Condensed"/>
              <a:cs typeface="Barlow Condensed"/>
              <a:sym typeface="Barlow Condensed"/>
            </a:endParaRPr>
          </a:p>
          <a:p>
            <a:pPr indent="0" lvl="0" marL="457200" rtl="0" algn="l">
              <a:spcBef>
                <a:spcPts val="0"/>
              </a:spcBef>
              <a:spcAft>
                <a:spcPts val="0"/>
              </a:spcAft>
              <a:buNone/>
            </a:pPr>
            <a:r>
              <a:t/>
            </a:r>
            <a:endParaRPr sz="3600">
              <a:latin typeface="Barlow Condensed"/>
              <a:ea typeface="Barlow Condensed"/>
              <a:cs typeface="Barlow Condensed"/>
              <a:sym typeface="Barlow Condensed"/>
            </a:endParaRPr>
          </a:p>
        </p:txBody>
      </p:sp>
      <p:cxnSp>
        <p:nvCxnSpPr>
          <p:cNvPr id="80" name="Google Shape;80;p13"/>
          <p:cNvCxnSpPr/>
          <p:nvPr/>
        </p:nvCxnSpPr>
        <p:spPr>
          <a:xfrm>
            <a:off x="1093125" y="8902875"/>
            <a:ext cx="34205700" cy="0"/>
          </a:xfrm>
          <a:prstGeom prst="straightConnector1">
            <a:avLst/>
          </a:prstGeom>
          <a:noFill/>
          <a:ln cap="flat" cmpd="sng" w="9525">
            <a:solidFill>
              <a:srgbClr val="5D89B4"/>
            </a:solidFill>
            <a:prstDash val="dot"/>
            <a:round/>
            <a:headEnd len="med" w="med" type="none"/>
            <a:tailEnd len="med" w="med" type="none"/>
          </a:ln>
        </p:spPr>
      </p:cxnSp>
      <p:graphicFrame>
        <p:nvGraphicFramePr>
          <p:cNvPr id="81" name="Google Shape;81;p13"/>
          <p:cNvGraphicFramePr/>
          <p:nvPr/>
        </p:nvGraphicFramePr>
        <p:xfrm>
          <a:off x="11751175" y="24289500"/>
          <a:ext cx="3000000" cy="3000000"/>
        </p:xfrm>
        <a:graphic>
          <a:graphicData uri="http://schemas.openxmlformats.org/drawingml/2006/table">
            <a:tbl>
              <a:tblPr>
                <a:noFill/>
                <a:tableStyleId>{93E43F68-242B-4E01-ABD7-644FBB390B9E}</a:tableStyleId>
              </a:tblPr>
              <a:tblGrid>
                <a:gridCol w="2507000"/>
                <a:gridCol w="1827525"/>
                <a:gridCol w="1780675"/>
              </a:tblGrid>
              <a:tr h="1090950">
                <a:tc gridSpan="3">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Relationship to Child (%)</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hMerge="1"/>
                <a:tc hMerge="1"/>
              </a:tr>
              <a:tr h="1347675">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Type</a:t>
                      </a:r>
                      <a:endParaRPr b="1"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Primary</a:t>
                      </a:r>
                      <a:endParaRPr b="1" sz="3600">
                        <a:latin typeface="Barlow Condensed"/>
                        <a:ea typeface="Barlow Condensed"/>
                        <a:cs typeface="Barlow Condensed"/>
                        <a:sym typeface="Barlow Condensed"/>
                      </a:endParaRPr>
                    </a:p>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Caregiver</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Person</a:t>
                      </a:r>
                      <a:endParaRPr b="1" sz="3600">
                        <a:latin typeface="Barlow Condensed"/>
                        <a:ea typeface="Barlow Condensed"/>
                        <a:cs typeface="Barlow Condensed"/>
                        <a:sym typeface="Barlow Condensed"/>
                      </a:endParaRPr>
                    </a:p>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B</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91</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32.8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Grandparent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2.5</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4.0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Step 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1.3</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8.4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Foster 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1.2</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0.56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Other 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1.2</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Unrelated</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0.98</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10.2</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Guardian</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0.84</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403050">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Sibling</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0.28</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0.46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bl>
          </a:graphicData>
        </a:graphic>
      </p:graphicFrame>
      <p:graphicFrame>
        <p:nvGraphicFramePr>
          <p:cNvPr id="82" name="Google Shape;82;p13"/>
          <p:cNvGraphicFramePr/>
          <p:nvPr/>
        </p:nvGraphicFramePr>
        <p:xfrm>
          <a:off x="18151100" y="24297375"/>
          <a:ext cx="3000000" cy="3000000"/>
        </p:xfrm>
        <a:graphic>
          <a:graphicData uri="http://schemas.openxmlformats.org/drawingml/2006/table">
            <a:tbl>
              <a:tblPr>
                <a:noFill/>
                <a:tableStyleId>{93E43F68-242B-4E01-ABD7-644FBB390B9E}</a:tableStyleId>
              </a:tblPr>
              <a:tblGrid>
                <a:gridCol w="3873775"/>
                <a:gridCol w="1780500"/>
              </a:tblGrid>
              <a:tr h="1083075">
                <a:tc gridSpan="2">
                  <a:txBody>
                    <a:bodyPr>
                      <a:noAutofit/>
                    </a:bodyPr>
                    <a:lstStyle/>
                    <a:p>
                      <a:pPr indent="0" lvl="0" marL="88900" marR="88900" rtl="0" algn="ctr">
                        <a:lnSpc>
                          <a:spcPct val="80000"/>
                        </a:lnSpc>
                        <a:spcBef>
                          <a:spcPts val="0"/>
                        </a:spcBef>
                        <a:spcAft>
                          <a:spcPts val="0"/>
                        </a:spcAft>
                        <a:buNone/>
                      </a:pPr>
                      <a:r>
                        <a:rPr b="1" lang="en" sz="3600">
                          <a:latin typeface="Barlow Condensed"/>
                          <a:ea typeface="Barlow Condensed"/>
                          <a:cs typeface="Barlow Condensed"/>
                          <a:sym typeface="Barlow Condensed"/>
                        </a:rPr>
                        <a:t>Primary Caregiver Relationship to Person B</a:t>
                      </a:r>
                      <a:endParaRPr b="1"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hMerge="1"/>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Spouse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32.8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Unmarried partner</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17.7</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Housemate/roommate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0.32</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3.0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Sibling</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0.54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Son/Daughter</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0.60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441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In-law</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0.06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3962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Other 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1.0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9422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Other non-relative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0.63</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bl>
          </a:graphicData>
        </a:graphic>
      </p:graphicFrame>
      <p:sp>
        <p:nvSpPr>
          <p:cNvPr id="83" name="Google Shape;83;p13"/>
          <p:cNvSpPr txBox="1"/>
          <p:nvPr/>
        </p:nvSpPr>
        <p:spPr>
          <a:xfrm>
            <a:off x="27489150" y="14573250"/>
            <a:ext cx="70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(A)</a:t>
            </a:r>
            <a:endParaRPr sz="2400"/>
          </a:p>
        </p:txBody>
      </p:sp>
      <p:sp>
        <p:nvSpPr>
          <p:cNvPr id="84" name="Google Shape;84;p13"/>
          <p:cNvSpPr txBox="1"/>
          <p:nvPr/>
        </p:nvSpPr>
        <p:spPr>
          <a:xfrm>
            <a:off x="32442150" y="14649450"/>
            <a:ext cx="70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(B)</a:t>
            </a:r>
            <a:endParaRPr sz="2400"/>
          </a:p>
        </p:txBody>
      </p:sp>
      <p:sp>
        <p:nvSpPr>
          <p:cNvPr id="85" name="Google Shape;85;p13"/>
          <p:cNvSpPr txBox="1"/>
          <p:nvPr/>
        </p:nvSpPr>
        <p:spPr>
          <a:xfrm>
            <a:off x="28632150" y="18154650"/>
            <a:ext cx="70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(C)</a:t>
            </a:r>
            <a:endParaRPr sz="2400"/>
          </a:p>
        </p:txBody>
      </p:sp>
      <p:sp>
        <p:nvSpPr>
          <p:cNvPr id="86" name="Google Shape;86;p13"/>
          <p:cNvSpPr txBox="1"/>
          <p:nvPr/>
        </p:nvSpPr>
        <p:spPr>
          <a:xfrm>
            <a:off x="33051750" y="17545050"/>
            <a:ext cx="70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(D)</a:t>
            </a:r>
            <a:endParaRPr sz="2400"/>
          </a:p>
        </p:txBody>
      </p:sp>
      <p:pic>
        <p:nvPicPr>
          <p:cNvPr id="87" name="Google Shape;87;p13"/>
          <p:cNvPicPr preferRelativeResize="0"/>
          <p:nvPr/>
        </p:nvPicPr>
        <p:blipFill>
          <a:blip r:embed="rId13">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