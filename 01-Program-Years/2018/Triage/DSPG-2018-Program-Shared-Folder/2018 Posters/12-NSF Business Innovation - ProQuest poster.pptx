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</p:sldIdLst>
  <p:sldSz cy="41148000" cx="36576000"/>
  <p:notesSz cx="6858000" cy="9144000"/>
  <p:embeddedFontLst>
    <p:embeddedFont>
      <p:font typeface="Barlow Condensed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083">
          <p15:clr>
            <a:srgbClr val="A4A3A4"/>
          </p15:clr>
        </p15:guide>
        <p15:guide id="2" pos="160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AD51A59E-A490-4442-9AFE-DCB732CBB68F}">
  <a:tblStyle styleId="{AD51A59E-A490-4442-9AFE-DCB732CBB6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083" orient="horz"/>
        <p:guide pos="1603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arlowCondensed-italic.fntdata"/><Relationship Id="rId10" Type="http://schemas.openxmlformats.org/officeDocument/2006/relationships/font" Target="fonts/BarlowCondensed-bold.fntdata"/><Relationship Id="rId12" Type="http://schemas.openxmlformats.org/officeDocument/2006/relationships/font" Target="fonts/BarlowCondense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font" Target="fonts/BarlowCondensed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905319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shapeofdata.wordpress.com/2013/07/09/random-forests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befab1a_0_0:notes"/>
          <p:cNvSpPr/>
          <p:nvPr>
            <p:ph idx="2" type="sldImg"/>
          </p:nvPr>
        </p:nvSpPr>
        <p:spPr>
          <a:xfrm>
            <a:off x="1905337" y="685800"/>
            <a:ext cx="304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befab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pic credit: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https://shapeofdata.wordpress.com/2013/07/09/random-forests/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 one tree. Manual cleaning and beautifies the tree.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Proquest information. Data source. 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700"/>
              <a:buNone/>
              <a:defRPr sz="277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00"/>
              <a:buNone/>
              <a:defRPr sz="149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2pPr>
            <a:lvl3pPr lvl="2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3pPr>
            <a:lvl4pPr lvl="3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4pPr>
            <a:lvl5pPr lvl="4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5pPr>
            <a:lvl6pPr lvl="5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6pPr>
            <a:lvl7pPr lvl="6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7pPr>
            <a:lvl8pPr lvl="7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8pPr>
            <a:lvl9pPr lvl="8" algn="ctr">
              <a:spcBef>
                <a:spcPts val="0"/>
              </a:spcBef>
              <a:spcAft>
                <a:spcPts val="0"/>
              </a:spcAft>
              <a:buSzPts val="19200"/>
              <a:buNone/>
              <a:defRPr sz="19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704850" lvl="0" marL="45720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9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1pPr>
            <a:lvl2pPr lvl="1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2pPr>
            <a:lvl3pPr lvl="2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3pPr>
            <a:lvl4pPr lvl="3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4pPr>
            <a:lvl5pPr lvl="4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5pPr>
            <a:lvl6pPr lvl="5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6pPr>
            <a:lvl7pPr lvl="6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7pPr>
            <a:lvl8pPr lvl="7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8pPr>
            <a:lvl9pPr lvl="8">
              <a:spcBef>
                <a:spcPts val="0"/>
              </a:spcBef>
              <a:spcAft>
                <a:spcPts val="0"/>
              </a:spcAft>
              <a:buSzPts val="12800"/>
              <a:buNone/>
              <a:defRPr sz="12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635000" lvl="0" marL="457200">
              <a:spcBef>
                <a:spcPts val="0"/>
              </a:spcBef>
              <a:spcAft>
                <a:spcPts val="0"/>
              </a:spcAft>
              <a:buSzPts val="6400"/>
              <a:buChar char="●"/>
              <a:defRPr sz="6400"/>
            </a:lvl1pPr>
            <a:lvl2pPr indent="-635000" lvl="1" marL="9144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2pPr>
            <a:lvl3pPr indent="-635000" lvl="2" marL="13716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3pPr>
            <a:lvl4pPr indent="-635000" lvl="3" marL="18288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4pPr>
            <a:lvl5pPr indent="-635000" lvl="4" marL="22860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5pPr>
            <a:lvl6pPr indent="-635000" lvl="5" marL="2743200">
              <a:spcBef>
                <a:spcPts val="8500"/>
              </a:spcBef>
              <a:spcAft>
                <a:spcPts val="0"/>
              </a:spcAft>
              <a:buSzPts val="6400"/>
              <a:buChar char="■"/>
              <a:defRPr sz="6400"/>
            </a:lvl6pPr>
            <a:lvl7pPr indent="-635000" lvl="6" marL="3200400">
              <a:spcBef>
                <a:spcPts val="8500"/>
              </a:spcBef>
              <a:spcAft>
                <a:spcPts val="0"/>
              </a:spcAft>
              <a:buSzPts val="6400"/>
              <a:buChar char="●"/>
              <a:defRPr sz="6400"/>
            </a:lvl7pPr>
            <a:lvl8pPr indent="-635000" lvl="7" marL="3657600">
              <a:spcBef>
                <a:spcPts val="8500"/>
              </a:spcBef>
              <a:spcAft>
                <a:spcPts val="0"/>
              </a:spcAft>
              <a:buSzPts val="6400"/>
              <a:buChar char="○"/>
              <a:defRPr sz="6400"/>
            </a:lvl8pPr>
            <a:lvl9pPr indent="-635000" lvl="8" marL="4114800">
              <a:spcBef>
                <a:spcPts val="8500"/>
              </a:spcBef>
              <a:spcAft>
                <a:spcPts val="8500"/>
              </a:spcAft>
              <a:buSzPts val="6400"/>
              <a:buChar char="■"/>
              <a:defRPr sz="6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1pPr>
            <a:lvl2pPr lvl="1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2pPr>
            <a:lvl3pPr lvl="2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3pPr>
            <a:lvl4pPr lvl="3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4pPr>
            <a:lvl5pPr lvl="4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5pPr>
            <a:lvl6pPr lvl="5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6pPr>
            <a:lvl7pPr lvl="6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7pPr>
            <a:lvl8pPr lvl="7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8pPr>
            <a:lvl9pPr lvl="8">
              <a:spcBef>
                <a:spcPts val="0"/>
              </a:spcBef>
              <a:spcAft>
                <a:spcPts val="0"/>
              </a:spcAft>
              <a:buSzPts val="25600"/>
              <a:buNone/>
              <a:defRPr sz="25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400"/>
              <a:buNone/>
              <a:defRPr sz="22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200"/>
              <a:buNone/>
              <a:defRPr sz="11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838200" lvl="0" marL="457200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</p:spPr>
        <p:txBody>
          <a:bodyPr anchorCtr="0" anchor="b" bIns="487600" lIns="487600" spcFirstLastPara="1" rIns="487600" wrap="square" tIns="487600"/>
          <a:lstStyle>
            <a:lvl1pPr lvl="0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0"/>
              <a:buNone/>
              <a:defRPr sz="6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</p:spPr>
        <p:txBody>
          <a:bodyPr anchorCtr="0" anchor="t" bIns="487600" lIns="487600" spcFirstLastPara="1" rIns="487600" wrap="square" tIns="487600"/>
          <a:lstStyle>
            <a:lvl1pPr indent="-838200" lvl="0" marL="457200" algn="ctr">
              <a:spcBef>
                <a:spcPts val="0"/>
              </a:spcBef>
              <a:spcAft>
                <a:spcPts val="0"/>
              </a:spcAft>
              <a:buSzPts val="9600"/>
              <a:buChar char="●"/>
              <a:defRPr/>
            </a:lvl1pPr>
            <a:lvl2pPr indent="-704850" lvl="1" marL="9144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2pPr>
            <a:lvl3pPr indent="-704850" lvl="2" marL="13716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3pPr>
            <a:lvl4pPr indent="-704850" lvl="3" marL="18288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4pPr>
            <a:lvl5pPr indent="-704850" lvl="4" marL="22860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5pPr>
            <a:lvl6pPr indent="-704850" lvl="5" marL="2743200" algn="ctr">
              <a:spcBef>
                <a:spcPts val="8500"/>
              </a:spcBef>
              <a:spcAft>
                <a:spcPts val="0"/>
              </a:spcAft>
              <a:buSzPts val="7500"/>
              <a:buChar char="■"/>
              <a:defRPr/>
            </a:lvl6pPr>
            <a:lvl7pPr indent="-704850" lvl="6" marL="3200400" algn="ctr">
              <a:spcBef>
                <a:spcPts val="8500"/>
              </a:spcBef>
              <a:spcAft>
                <a:spcPts val="0"/>
              </a:spcAft>
              <a:buSzPts val="7500"/>
              <a:buChar char="●"/>
              <a:defRPr/>
            </a:lvl7pPr>
            <a:lvl8pPr indent="-704850" lvl="7" marL="3657600" algn="ctr">
              <a:spcBef>
                <a:spcPts val="8500"/>
              </a:spcBef>
              <a:spcAft>
                <a:spcPts val="0"/>
              </a:spcAft>
              <a:buSzPts val="7500"/>
              <a:buChar char="○"/>
              <a:defRPr/>
            </a:lvl8pPr>
            <a:lvl9pPr indent="-704850" lvl="8" marL="4114800" algn="ctr">
              <a:spcBef>
                <a:spcPts val="8500"/>
              </a:spcBef>
              <a:spcAft>
                <a:spcPts val="8500"/>
              </a:spcAft>
              <a:buSzPts val="75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1246833" y="5956600"/>
            <a:ext cx="34082400" cy="164208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2500"/>
              <a:buChar char="●"/>
              <a:defRPr sz="3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2500"/>
              <a:buChar char="○"/>
              <a:defRPr sz="3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2500"/>
              <a:buChar char="■"/>
              <a:defRPr sz="325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1246800" y="22673000"/>
            <a:ext cx="34082400" cy="63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600"/>
              <a:buNone/>
              <a:defRPr sz="17600"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1246800" y="17206800"/>
            <a:ext cx="34082400" cy="6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2900"/>
              <a:buChar char="●"/>
              <a:defRPr sz="229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2900"/>
              <a:buChar char="○"/>
              <a:defRPr sz="229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2900"/>
              <a:buChar char="■"/>
              <a:defRPr sz="22900"/>
            </a:lvl9pPr>
          </a:lstStyle>
          <a:p/>
        </p:txBody>
      </p:sp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2468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19329600" y="9219800"/>
            <a:ext cx="159996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lvl="1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lvl="2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lvl="3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lvl="4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lvl="5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lvl="6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lvl="7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lvl="8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1246800" y="4444800"/>
            <a:ext cx="11232000" cy="60456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1pPr>
            <a:lvl2pPr lvl="1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2pPr>
            <a:lvl3pPr lvl="2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3pPr>
            <a:lvl4pPr lvl="3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4pPr>
            <a:lvl5pPr lvl="4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5pPr>
            <a:lvl6pPr lvl="5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6pPr>
            <a:lvl7pPr lvl="6" rtl="0">
              <a:spcBef>
                <a:spcPts val="0"/>
              </a:spcBef>
              <a:spcAft>
                <a:spcPts val="0"/>
              </a:spcAft>
              <a:buSzPts val="14900"/>
              <a:buChar char="●"/>
              <a:defRPr sz="14900"/>
            </a:lvl7pPr>
            <a:lvl8pPr lvl="7" rtl="0">
              <a:spcBef>
                <a:spcPts val="0"/>
              </a:spcBef>
              <a:spcAft>
                <a:spcPts val="0"/>
              </a:spcAft>
              <a:buSzPts val="14900"/>
              <a:buChar char="○"/>
              <a:defRPr sz="14900"/>
            </a:lvl8pPr>
            <a:lvl9pPr lvl="8" rtl="0">
              <a:spcBef>
                <a:spcPts val="0"/>
              </a:spcBef>
              <a:spcAft>
                <a:spcPts val="0"/>
              </a:spcAft>
              <a:buSzPts val="14900"/>
              <a:buChar char="■"/>
              <a:defRPr sz="149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1246800" y="11116800"/>
            <a:ext cx="11232000" cy="254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704850" lvl="0" marL="4572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1pPr>
            <a:lvl2pPr indent="-704850" lvl="1" marL="9144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2pPr>
            <a:lvl3pPr indent="-704850" lvl="2" marL="13716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3pPr>
            <a:lvl4pPr indent="-704850" lvl="3" marL="18288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4pPr>
            <a:lvl5pPr indent="-704850" lvl="4" marL="22860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5pPr>
            <a:lvl6pPr indent="-704850" lvl="5" marL="27432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6pPr>
            <a:lvl7pPr indent="-704850" lvl="6" marL="3200400" rtl="0">
              <a:spcBef>
                <a:spcPts val="0"/>
              </a:spcBef>
              <a:spcAft>
                <a:spcPts val="0"/>
              </a:spcAft>
              <a:buSzPts val="7500"/>
              <a:buChar char="●"/>
              <a:defRPr sz="7500"/>
            </a:lvl7pPr>
            <a:lvl8pPr indent="-704850" lvl="7" marL="3657600" rtl="0">
              <a:spcBef>
                <a:spcPts val="0"/>
              </a:spcBef>
              <a:spcAft>
                <a:spcPts val="0"/>
              </a:spcAft>
              <a:buSzPts val="7500"/>
              <a:buChar char="○"/>
              <a:defRPr sz="7500"/>
            </a:lvl8pPr>
            <a:lvl9pPr indent="-704850" lvl="8" marL="4114800" rtl="0">
              <a:spcBef>
                <a:spcPts val="0"/>
              </a:spcBef>
              <a:spcAft>
                <a:spcPts val="0"/>
              </a:spcAft>
              <a:buSzPts val="7500"/>
              <a:buChar char="■"/>
              <a:defRPr sz="75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1961000" y="3601200"/>
            <a:ext cx="25471200" cy="327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1pPr>
            <a:lvl2pPr lvl="1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2pPr>
            <a:lvl3pPr lvl="2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3pPr>
            <a:lvl4pPr lvl="3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4pPr>
            <a:lvl5pPr lvl="4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5pPr>
            <a:lvl6pPr lvl="5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6pPr>
            <a:lvl7pPr lvl="6" rtl="0">
              <a:spcBef>
                <a:spcPts val="0"/>
              </a:spcBef>
              <a:spcAft>
                <a:spcPts val="0"/>
              </a:spcAft>
              <a:buSzPts val="30400"/>
              <a:buChar char="●"/>
              <a:defRPr sz="30400"/>
            </a:lvl7pPr>
            <a:lvl8pPr lvl="7" rtl="0">
              <a:spcBef>
                <a:spcPts val="0"/>
              </a:spcBef>
              <a:spcAft>
                <a:spcPts val="0"/>
              </a:spcAft>
              <a:buSzPts val="30400"/>
              <a:buChar char="○"/>
              <a:defRPr sz="30400"/>
            </a:lvl8pPr>
            <a:lvl9pPr lvl="8" rtl="0">
              <a:spcBef>
                <a:spcPts val="0"/>
              </a:spcBef>
              <a:spcAft>
                <a:spcPts val="0"/>
              </a:spcAft>
              <a:buSzPts val="30400"/>
              <a:buChar char="■"/>
              <a:defRPr sz="30400"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18288000" y="-1000"/>
            <a:ext cx="18288000" cy="4114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577725" lIns="577725" spcFirstLastPara="1" rIns="577725" wrap="square" tIns="577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1062000" y="9865400"/>
            <a:ext cx="16180800" cy="118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6700"/>
              <a:buChar char="●"/>
              <a:defRPr sz="26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6700"/>
              <a:buChar char="○"/>
              <a:defRPr sz="26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6700"/>
              <a:buChar char="■"/>
              <a:defRPr sz="26700"/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1062000" y="22424600"/>
            <a:ext cx="16180800" cy="988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00"/>
              <a:buNone/>
              <a:defRPr sz="13300"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19758000" y="5792600"/>
            <a:ext cx="15348000" cy="2956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1246800" y="33844600"/>
            <a:ext cx="23995200" cy="484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hasCustomPrompt="1" type="title"/>
          </p:nvPr>
        </p:nvSpPr>
        <p:spPr>
          <a:xfrm>
            <a:off x="1246800" y="8849000"/>
            <a:ext cx="34082400" cy="157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577725" lIns="577725" spcFirstLastPara="1" rIns="577725" wrap="square" tIns="5777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5700"/>
              <a:buChar char="●"/>
              <a:defRPr sz="757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5700"/>
              <a:buChar char="○"/>
              <a:defRPr sz="757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5700"/>
              <a:buChar char="■"/>
              <a:defRPr sz="75700"/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1246800" y="25217800"/>
            <a:ext cx="34082400" cy="104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77725" lIns="577725" spcFirstLastPara="1" rIns="577725" wrap="square" tIns="577725"/>
          <a:lstStyle>
            <a:lvl1pPr indent="-806450" lvl="0" marL="4572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1pPr>
            <a:lvl2pPr indent="-806450" lvl="1" marL="9144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2pPr>
            <a:lvl3pPr indent="-806450" lvl="2" marL="13716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3pPr>
            <a:lvl4pPr indent="-806450" lvl="3" marL="18288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4pPr>
            <a:lvl5pPr indent="-806450" lvl="4" marL="22860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5pPr>
            <a:lvl6pPr indent="-806450" lvl="5" marL="27432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6pPr>
            <a:lvl7pPr indent="-806450" lvl="6" marL="3200400" rtl="0" algn="ctr">
              <a:spcBef>
                <a:spcPts val="0"/>
              </a:spcBef>
              <a:spcAft>
                <a:spcPts val="0"/>
              </a:spcAft>
              <a:buSzPts val="9100"/>
              <a:buChar char="●"/>
              <a:defRPr sz="9100"/>
            </a:lvl7pPr>
            <a:lvl8pPr indent="-806450" lvl="7" marL="3657600" rtl="0" algn="ctr">
              <a:spcBef>
                <a:spcPts val="0"/>
              </a:spcBef>
              <a:spcAft>
                <a:spcPts val="0"/>
              </a:spcAft>
              <a:buSzPts val="9100"/>
              <a:buChar char="○"/>
              <a:defRPr sz="9100"/>
            </a:lvl8pPr>
            <a:lvl9pPr indent="-806450" lvl="8" marL="4114800" rtl="0" algn="ctr">
              <a:spcBef>
                <a:spcPts val="0"/>
              </a:spcBef>
              <a:spcAft>
                <a:spcPts val="0"/>
              </a:spcAft>
              <a:buSzPts val="9100"/>
              <a:buChar char="■"/>
              <a:defRPr sz="9100"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61200" lIns="161200" spcFirstLastPara="1" rIns="161200" wrap="square" tIns="161200">
            <a:noAutofit/>
          </a:bodyPr>
          <a:lstStyle>
            <a:lvl1pPr lvl="0" rtl="0">
              <a:buNone/>
              <a:defRPr sz="2700"/>
            </a:lvl1pPr>
            <a:lvl2pPr lvl="1" rtl="0">
              <a:buNone/>
              <a:defRPr sz="2700"/>
            </a:lvl2pPr>
            <a:lvl3pPr lvl="2" rtl="0">
              <a:buNone/>
              <a:defRPr sz="2700"/>
            </a:lvl3pPr>
            <a:lvl4pPr lvl="3" rtl="0">
              <a:buNone/>
              <a:defRPr sz="2700"/>
            </a:lvl4pPr>
            <a:lvl5pPr lvl="4" rtl="0">
              <a:buNone/>
              <a:defRPr sz="2700"/>
            </a:lvl5pPr>
            <a:lvl6pPr lvl="5" rtl="0">
              <a:buNone/>
              <a:defRPr sz="2700"/>
            </a:lvl6pPr>
            <a:lvl7pPr lvl="6" rtl="0">
              <a:buNone/>
              <a:defRPr sz="2700"/>
            </a:lvl7pPr>
            <a:lvl8pPr lvl="7" rtl="0">
              <a:buNone/>
              <a:defRPr sz="2700"/>
            </a:lvl8pPr>
            <a:lvl9pPr lvl="8" rtl="0">
              <a:buNone/>
              <a:defRPr sz="2700"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46800" y="3560200"/>
            <a:ext cx="34082400" cy="45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None/>
              <a:defRPr sz="14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46800" y="9219800"/>
            <a:ext cx="34082400" cy="273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600" lIns="487600" spcFirstLastPara="1" rIns="487600" wrap="square" tIns="487600"/>
          <a:lstStyle>
            <a:lvl1pPr indent="-838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Char char="●"/>
              <a:defRPr sz="9600">
                <a:solidFill>
                  <a:schemeClr val="dk2"/>
                </a:solidFill>
              </a:defRPr>
            </a:lvl1pPr>
            <a:lvl2pPr indent="-704850" lvl="1" marL="914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2pPr>
            <a:lvl3pPr indent="-704850" lvl="2" marL="1371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3pPr>
            <a:lvl4pPr indent="-704850" lvl="3" marL="18288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4pPr>
            <a:lvl5pPr indent="-704850" lvl="4" marL="22860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5pPr>
            <a:lvl6pPr indent="-704850" lvl="5" marL="27432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6pPr>
            <a:lvl7pPr indent="-704850" lvl="6" marL="32004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●"/>
              <a:defRPr sz="7500">
                <a:solidFill>
                  <a:schemeClr val="dk2"/>
                </a:solidFill>
              </a:defRPr>
            </a:lvl7pPr>
            <a:lvl8pPr indent="-704850" lvl="7" marL="3657600">
              <a:lnSpc>
                <a:spcPct val="115000"/>
              </a:lnSpc>
              <a:spcBef>
                <a:spcPts val="8500"/>
              </a:spcBef>
              <a:spcAft>
                <a:spcPts val="0"/>
              </a:spcAft>
              <a:buClr>
                <a:schemeClr val="dk2"/>
              </a:buClr>
              <a:buSzPts val="7500"/>
              <a:buChar char="○"/>
              <a:defRPr sz="7500">
                <a:solidFill>
                  <a:schemeClr val="dk2"/>
                </a:solidFill>
              </a:defRPr>
            </a:lvl8pPr>
            <a:lvl9pPr indent="-704850" lvl="8" marL="4114800">
              <a:lnSpc>
                <a:spcPct val="115000"/>
              </a:lnSpc>
              <a:spcBef>
                <a:spcPts val="8500"/>
              </a:spcBef>
              <a:spcAft>
                <a:spcPts val="8500"/>
              </a:spcAft>
              <a:buClr>
                <a:schemeClr val="dk2"/>
              </a:buClr>
              <a:buSzPts val="7500"/>
              <a:buChar char="■"/>
              <a:defRPr sz="75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889831" y="37305734"/>
            <a:ext cx="21948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600" lIns="487600" spcFirstLastPara="1" rIns="487600" wrap="square" tIns="487600">
            <a:noAutofit/>
          </a:bodyPr>
          <a:lstStyle>
            <a:lvl1pPr lvl="0" algn="r">
              <a:buNone/>
              <a:defRPr sz="5300">
                <a:solidFill>
                  <a:schemeClr val="dk2"/>
                </a:solidFill>
              </a:defRPr>
            </a:lvl1pPr>
            <a:lvl2pPr lvl="1" algn="r">
              <a:buNone/>
              <a:defRPr sz="5300">
                <a:solidFill>
                  <a:schemeClr val="dk2"/>
                </a:solidFill>
              </a:defRPr>
            </a:lvl2pPr>
            <a:lvl3pPr lvl="2" algn="r">
              <a:buNone/>
              <a:defRPr sz="5300">
                <a:solidFill>
                  <a:schemeClr val="dk2"/>
                </a:solidFill>
              </a:defRPr>
            </a:lvl3pPr>
            <a:lvl4pPr lvl="3" algn="r">
              <a:buNone/>
              <a:defRPr sz="5300">
                <a:solidFill>
                  <a:schemeClr val="dk2"/>
                </a:solidFill>
              </a:defRPr>
            </a:lvl4pPr>
            <a:lvl5pPr lvl="4" algn="r">
              <a:buNone/>
              <a:defRPr sz="5300">
                <a:solidFill>
                  <a:schemeClr val="dk2"/>
                </a:solidFill>
              </a:defRPr>
            </a:lvl5pPr>
            <a:lvl6pPr lvl="5" algn="r">
              <a:buNone/>
              <a:defRPr sz="5300">
                <a:solidFill>
                  <a:schemeClr val="dk2"/>
                </a:solidFill>
              </a:defRPr>
            </a:lvl6pPr>
            <a:lvl7pPr lvl="6" algn="r">
              <a:buNone/>
              <a:defRPr sz="5300">
                <a:solidFill>
                  <a:schemeClr val="dk2"/>
                </a:solidFill>
              </a:defRPr>
            </a:lvl7pPr>
            <a:lvl8pPr lvl="7" algn="r">
              <a:buNone/>
              <a:defRPr sz="5300">
                <a:solidFill>
                  <a:schemeClr val="dk2"/>
                </a:solidFill>
              </a:defRPr>
            </a:lvl8pPr>
            <a:lvl9pPr lvl="8" algn="r">
              <a:buNone/>
              <a:defRPr sz="5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3.png"/><Relationship Id="rId13" Type="http://schemas.openxmlformats.org/officeDocument/2006/relationships/image" Target="../media/image5.png"/><Relationship Id="rId1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7.png"/><Relationship Id="rId15" Type="http://schemas.openxmlformats.org/officeDocument/2006/relationships/image" Target="../media/image6.png"/><Relationship Id="rId14" Type="http://schemas.openxmlformats.org/officeDocument/2006/relationships/image" Target="../media/image2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hyperlink" Target="https://shapeofdata.wordpress.com/2013/07/09/random-forests/" TargetMode="External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62650" y="28541350"/>
            <a:ext cx="5295901" cy="30169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5"/>
          <p:cNvSpPr txBox="1"/>
          <p:nvPr/>
        </p:nvSpPr>
        <p:spPr>
          <a:xfrm>
            <a:off x="8580925" y="494200"/>
            <a:ext cx="266586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Identifying and Predicting Product Launch Articles </a:t>
            </a:r>
            <a:b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</a:br>
            <a:r>
              <a:rPr b="1" lang="en" sz="72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with Machine Learning Algorithms</a:t>
            </a:r>
            <a:endParaRPr b="1" sz="72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8" name="Google Shape;98;p25"/>
          <p:cNvSpPr txBox="1"/>
          <p:nvPr/>
        </p:nvSpPr>
        <p:spPr>
          <a:xfrm>
            <a:off x="8270714" y="2963225"/>
            <a:ext cx="25924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53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Fangfang Lee (NYU), Raghav Sawhney (VT), Eirik Iversen (VT), Luke Kim (VT) </a:t>
            </a:r>
            <a:endParaRPr i="1" sz="53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9" name="Google Shape;99;p25"/>
          <p:cNvSpPr txBox="1"/>
          <p:nvPr/>
        </p:nvSpPr>
        <p:spPr>
          <a:xfrm>
            <a:off x="539975" y="11190325"/>
            <a:ext cx="121929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Data and Methods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8270711" y="3674375"/>
            <a:ext cx="132408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i="1" sz="37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494825" y="5993648"/>
            <a:ext cx="12501300" cy="44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Product innovation is traditionally measured through surveys of selected companies. NCSES is interested in exploring the possibility of using non-traditional data sources to measure product innovation in lieu of surveys.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This project assesses the feasibility of detecting </a:t>
            </a:r>
            <a:r>
              <a:rPr lang="en" sz="33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news articles that are about product launches </a:t>
            </a: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using an automated machine learning model.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Barlow Condensed"/>
              <a:buChar char="●"/>
            </a:pPr>
            <a:r>
              <a:rPr lang="en" sz="3300">
                <a:latin typeface="Barlow Condensed"/>
                <a:ea typeface="Barlow Condensed"/>
                <a:cs typeface="Barlow Condensed"/>
                <a:sym typeface="Barlow Condensed"/>
              </a:rPr>
              <a:t>Specifically, we test out whether machine learning algorithms can automate the process of predicting whether an article is about product innovation.</a:t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t/>
            </a:r>
            <a:endParaRPr sz="33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2" name="Google Shape;102;p25"/>
          <p:cNvSpPr txBox="1"/>
          <p:nvPr/>
        </p:nvSpPr>
        <p:spPr>
          <a:xfrm>
            <a:off x="4052879" y="39256750"/>
            <a:ext cx="2800800" cy="4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173475" lIns="347200" spcFirstLastPara="1" rIns="347200" wrap="square" tIns="1734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700">
              <a:solidFill>
                <a:srgbClr val="5D89B4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3" name="Google Shape;103;p25"/>
          <p:cNvSpPr txBox="1"/>
          <p:nvPr/>
        </p:nvSpPr>
        <p:spPr>
          <a:xfrm>
            <a:off x="330075" y="20649800"/>
            <a:ext cx="12501300" cy="12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73475" lIns="347200" spcFirstLastPara="1" rIns="347200" wrap="square" tIns="173475">
            <a:noAutofit/>
          </a:bodyPr>
          <a:lstStyle/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“Dictionary Approach”: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Without using any machine learning model, can we manually pick out the words or phrases that predict a product launch article?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Given the appearance of a word, what is the probability of the article being about a product launch?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Using manually labeled articles, the conditional probability, or positive predictive value (PPV) of an article being a launch can be calculated with Bayes Theorem: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 then use the PPV to predict which articles are most likely to be launch based on the words.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Can we compare this naive approach to the machine learning models?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and Regression Tree (CART) [1]: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trees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stratify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segment the predictor space into a number of sub regions.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decision tree is a flowchart-like structure in which each internal node represents a "test" on an attribute (e.g. whether a coin flip comes up heads or tails).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branch represents the outcome of the test.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Each leaf node represents a class label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paths from root to leaf represent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classification rules.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(RF):</a:t>
            </a:r>
            <a:endParaRPr b="1"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Random forest is an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ensemble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algorithm that aggregates a series of decision trees.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RF lowers the variances in predictions that decision trees otherwise have.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591225" y="5296350"/>
            <a:ext cx="12192900" cy="6978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Introduction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9944100" y="38048625"/>
            <a:ext cx="8818800" cy="25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600" lIns="101600" spcFirstLastPara="1" rIns="101600" wrap="square" tIns="101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/>
          </a:p>
        </p:txBody>
      </p:sp>
      <p:sp>
        <p:nvSpPr>
          <p:cNvPr id="106" name="Google Shape;106;p25"/>
          <p:cNvSpPr txBox="1"/>
          <p:nvPr/>
        </p:nvSpPr>
        <p:spPr>
          <a:xfrm>
            <a:off x="586775" y="12059200"/>
            <a:ext cx="122517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collected our data from ProQuest, a publication aggregator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. It is an excellent asset for collecting information on business innovation because it compiles a wide variety of articles in all sectors, which includes comprehensive news articles on product announcement and FDA approval.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7" name="Google Shape;107;p25"/>
          <p:cNvSpPr txBox="1"/>
          <p:nvPr/>
        </p:nvSpPr>
        <p:spPr>
          <a:xfrm>
            <a:off x="13083125" y="111641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Performance and Evaluation 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8" name="Google Shape;108;p25"/>
          <p:cNvSpPr txBox="1"/>
          <p:nvPr/>
        </p:nvSpPr>
        <p:spPr>
          <a:xfrm>
            <a:off x="13122050" y="53182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Construction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09" name="Google Shape;109;p25"/>
          <p:cNvSpPr txBox="1"/>
          <p:nvPr/>
        </p:nvSpPr>
        <p:spPr>
          <a:xfrm>
            <a:off x="12924275" y="5977450"/>
            <a:ext cx="11029800" cy="5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Data transformation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articles collected from ProQuest are turned into term-document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matrices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--where each column is a word and each row is a document.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From each article we also extract unigrams (individual words) and bigrams (pairs of consecutive words).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unigrams and bigrams are then filtered: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Unigrams must show up in at least 40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Bigrams must show up in at least 5 documents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also perform the following cleaning procedures: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Stemming                         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White-space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0" name="Google Shape;11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025" y="14272950"/>
            <a:ext cx="11085176" cy="59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5"/>
          <p:cNvSpPr txBox="1"/>
          <p:nvPr/>
        </p:nvSpPr>
        <p:spPr>
          <a:xfrm>
            <a:off x="16634150" y="10138713"/>
            <a:ext cx="4648500" cy="11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Punctuation removal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Stop words removal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2" name="Google Shape;112;p25"/>
          <p:cNvSpPr txBox="1"/>
          <p:nvPr/>
        </p:nvSpPr>
        <p:spPr>
          <a:xfrm>
            <a:off x="24034750" y="6057900"/>
            <a:ext cx="107982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examined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 total of six models for classification: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Bigrams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Two class classification--is this article about a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not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classification--is this article about an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FDA approval, a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product launch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, or </a:t>
            </a: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neither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?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★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Cleaned unigrams, bigrams, and mixed grams serve as predictors in the modeling process.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3" name="Google Shape;113;p25"/>
          <p:cNvSpPr txBox="1"/>
          <p:nvPr/>
        </p:nvSpPr>
        <p:spPr>
          <a:xfrm>
            <a:off x="28432800" y="5996875"/>
            <a:ext cx="5295900" cy="19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unigram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Bigram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Three class + mixed grams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6375" y="24070975"/>
            <a:ext cx="3755608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5"/>
          <p:cNvSpPr txBox="1"/>
          <p:nvPr/>
        </p:nvSpPr>
        <p:spPr>
          <a:xfrm>
            <a:off x="13277850" y="24001350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Model Validation and Application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16" name="Google Shape;116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90150" y="13427450"/>
            <a:ext cx="9288899" cy="300874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/>
        </p:nvSpPr>
        <p:spPr>
          <a:xfrm>
            <a:off x="24916850" y="11977650"/>
            <a:ext cx="9420900" cy="11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Tree Modeling Performance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b="1" lang="en" sz="3000">
                <a:latin typeface="Barlow Condensed"/>
                <a:ea typeface="Barlow Condensed"/>
                <a:cs typeface="Barlow Condensed"/>
                <a:sym typeface="Barlow Condensed"/>
              </a:rPr>
              <a:t>Accuracy rate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: total number of correct prediction/total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Prediction.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3331474" y="11977650"/>
            <a:ext cx="10438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Model Overview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used Bayes Theorem to calculate the positive predicted value of a given word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have found a series of words that are likely to be predictive of whether an article is about a launch: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words chosen above are determined by both PPV and discretion of the researchers.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will filter the unlabeled articles by how many times these distinct words have showed up and validate our models.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3212738" y="33040425"/>
            <a:ext cx="21441000" cy="698400"/>
          </a:xfrm>
          <a:prstGeom prst="rect">
            <a:avLst/>
          </a:prstGeom>
          <a:solidFill>
            <a:srgbClr val="C64600"/>
          </a:solidFill>
          <a:ln>
            <a:noFill/>
          </a:ln>
        </p:spPr>
        <p:txBody>
          <a:bodyPr anchorCtr="0" anchor="ctr" bIns="159350" lIns="318875" spcFirstLastPara="1" rIns="318875" wrap="square" tIns="1593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49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Challenge and Next Steps</a:t>
            </a:r>
            <a:endParaRPr b="1" sz="49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0" name="Google Shape;120;p25"/>
          <p:cNvSpPr txBox="1"/>
          <p:nvPr/>
        </p:nvSpPr>
        <p:spPr>
          <a:xfrm>
            <a:off x="526125" y="33055475"/>
            <a:ext cx="12251700" cy="698400"/>
          </a:xfrm>
          <a:prstGeom prst="rect">
            <a:avLst/>
          </a:prstGeom>
          <a:solidFill>
            <a:srgbClr val="5D89B4"/>
          </a:solidFill>
          <a:ln>
            <a:noFill/>
          </a:ln>
        </p:spPr>
        <p:txBody>
          <a:bodyPr anchorCtr="0" anchor="ctr" bIns="173475" lIns="347200" spcFirstLastPara="1" rIns="347200" wrap="square" tIns="173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5300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References</a:t>
            </a:r>
            <a:endParaRPr b="1" sz="5300">
              <a:solidFill>
                <a:srgbClr val="FFFFFF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13563600" y="24427475"/>
            <a:ext cx="91629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122" name="Google Shape;122;p25"/>
          <p:cNvSpPr txBox="1"/>
          <p:nvPr/>
        </p:nvSpPr>
        <p:spPr>
          <a:xfrm>
            <a:off x="12951225" y="33649750"/>
            <a:ext cx="12501300" cy="30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Challenges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Lack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3600 articles downloaded, only 484 are manually labeled.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Imbalance of training data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Out of the 484 labeled data, only 21 are about product launch. The imbalance in true positives makes it difficult for the model to detect signal from noise.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■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Without proper domain knowledge, the ability to manually select important keywords is difficult.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Tree and forests performed well, but the results aren’t necessarily generalizable.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3" name="Google Shape;123;p25"/>
          <p:cNvSpPr txBox="1"/>
          <p:nvPr/>
        </p:nvSpPr>
        <p:spPr>
          <a:xfrm>
            <a:off x="330075" y="33862850"/>
            <a:ext cx="10725300" cy="26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[1] James, G., Witten, D., Hastie, T., &amp; Tibshirani, R. (2013). </a:t>
            </a:r>
            <a:r>
              <a:rPr i="1"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An introduction to statistical learning</a:t>
            </a: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 (Vol. 112). New York: springer.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rgbClr val="222222"/>
                </a:solidFill>
                <a:highlight>
                  <a:srgbClr val="FFFFFF"/>
                </a:highlight>
                <a:latin typeface="Barlow Condensed"/>
                <a:ea typeface="Barlow Condensed"/>
                <a:cs typeface="Barlow Condensed"/>
                <a:sym typeface="Barlow Condensed"/>
              </a:rPr>
              <a:t>Tree graphics: </a:t>
            </a:r>
            <a:r>
              <a:rPr lang="en" sz="2600" u="sng">
                <a:solidFill>
                  <a:schemeClr val="accent5"/>
                </a:solidFill>
                <a:latin typeface="Barlow Condensed"/>
                <a:ea typeface="Barlow Condensed"/>
                <a:cs typeface="Barlow Condensed"/>
                <a:sym typeface="Barlow Condensed"/>
                <a:hlinkClick r:id="rId7"/>
              </a:rPr>
              <a:t>https://shapeofdata.wordpress.com/2013/07/09/random-forests/</a:t>
            </a:r>
            <a:endParaRPr sz="2600">
              <a:solidFill>
                <a:srgbClr val="222222"/>
              </a:solidFill>
              <a:highlight>
                <a:srgbClr val="FFFFFF"/>
              </a:highlight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124" name="Google Shape;124;p25"/>
          <p:cNvSpPr txBox="1"/>
          <p:nvPr/>
        </p:nvSpPr>
        <p:spPr>
          <a:xfrm>
            <a:off x="25181225" y="33670875"/>
            <a:ext cx="10058400" cy="27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●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Next steps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Label more articles.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the quality of the labeling. 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Improve domain expertise and repeat the iterative process of finding keywords.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more unlabeled articles to check for the optimal threshold of the dictionary approach.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Char char="○"/>
            </a:pPr>
            <a:r>
              <a:rPr lang="en" sz="2800">
                <a:latin typeface="Barlow Condensed"/>
                <a:ea typeface="Barlow Condensed"/>
                <a:cs typeface="Barlow Condensed"/>
                <a:sym typeface="Barlow Condensed"/>
              </a:rPr>
              <a:t>Validate using new data sources, e.g., Factiva.</a:t>
            </a:r>
            <a:endParaRPr sz="28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5" name="Google Shape;12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764750" y="16691850"/>
            <a:ext cx="7662088" cy="5210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/>
        </p:nvSpPr>
        <p:spPr>
          <a:xfrm>
            <a:off x="23398200" y="16756200"/>
            <a:ext cx="11144100" cy="72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Diagram (Best performing tree--two class with mixed grams)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Cross Validation &amp; In-Sample misclassification rate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X axis represents tree dept, Y axis represents numbers of misclassified cases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 tree grows deeper, number of in-sample misclassification rate (orange) always decreases due to overfitting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8" marL="41148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Number of cross-validated misclass rates (blue) is lowest at 11.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27" name="Google Shape;12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966801" y="13477550"/>
            <a:ext cx="10798199" cy="116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5"/>
          <p:cNvSpPr txBox="1"/>
          <p:nvPr/>
        </p:nvSpPr>
        <p:spPr>
          <a:xfrm>
            <a:off x="13277850" y="24731750"/>
            <a:ext cx="11144100" cy="84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Dictionary Approach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Applying the dictionary to 2880 unlabeled articles, we have obtained the following table: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However, after students manually validated the articles with the highest keywords appearance (8 and 7 times), we found out that those articles aren’t about a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This is due to the structure of the data: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PPV of the keywords is low, even for “generic competit”, a 0.22 indicates that given it appears, there is a 22% the article is about launch. 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2" marL="13716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■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cannot aggregate the PPV of multiple words because we cannot assume their appearances are independent.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graphicFrame>
        <p:nvGraphicFramePr>
          <p:cNvPr id="129" name="Google Shape;129;p25"/>
          <p:cNvGraphicFramePr/>
          <p:nvPr/>
        </p:nvGraphicFramePr>
        <p:xfrm>
          <a:off x="13697675" y="264218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{AD51A59E-A490-4442-9AFE-DCB732CBB68F}</a:tableStyleId>
              </a:tblPr>
              <a:tblGrid>
                <a:gridCol w="1436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1055125"/>
                <a:gridCol w="847300"/>
              </a:tblGrid>
              <a:tr h="1022100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</a:rPr>
                        <a:t>Number of keywords showing up in an article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0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1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2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3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4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5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6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7</a:t>
                      </a:r>
                      <a:endParaRPr sz="40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4000"/>
                        <a:t>8</a:t>
                      </a:r>
                      <a:endParaRPr sz="4000"/>
                    </a:p>
                  </a:txBody>
                  <a:tcPr marT="91425" marB="91425" marR="91425" marL="91425"/>
                </a:tc>
              </a:tr>
              <a:tr h="881825"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/>
                        <a:t>Number of unlabeled articles</a:t>
                      </a:r>
                      <a:endParaRPr sz="16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629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822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500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232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111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56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14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3</a:t>
                      </a:r>
                      <a:endParaRPr sz="3500"/>
                    </a:p>
                  </a:txBody>
                  <a:tcPr marT="91425" marB="91425" marR="91425" marL="91425"/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3500"/>
                        <a:t>1</a:t>
                      </a:r>
                      <a:endParaRPr sz="3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0" name="Google Shape;130;p25"/>
          <p:cNvSpPr txBox="1"/>
          <p:nvPr/>
        </p:nvSpPr>
        <p:spPr>
          <a:xfrm>
            <a:off x="24765000" y="24661700"/>
            <a:ext cx="9888600" cy="17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●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Decision Tree &amp; Random Forest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We </a:t>
            </a: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assembled our previously trained decision trees and used random forest to compute the predicted probability of an article being about a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diagram shows the distribution of the probability of unlabeled articles being about product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After manually validating the article with the highest probability, we found out that it is indeed about launch.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Barlow Condensed"/>
              <a:buChar char="○"/>
            </a:pPr>
            <a:r>
              <a:rPr lang="en" sz="3000">
                <a:latin typeface="Barlow Condensed"/>
                <a:ea typeface="Barlow Condensed"/>
                <a:cs typeface="Barlow Condensed"/>
                <a:sym typeface="Barlow Condensed"/>
              </a:rPr>
              <a:t>The machine learning models performed better and more reliably.</a:t>
            </a:r>
            <a:endParaRPr sz="3000"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068113" y="20792825"/>
            <a:ext cx="3049625" cy="30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25"/>
          <p:cNvCxnSpPr/>
          <p:nvPr/>
        </p:nvCxnSpPr>
        <p:spPr>
          <a:xfrm>
            <a:off x="23602950" y="27698700"/>
            <a:ext cx="800100" cy="8382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5"/>
          <p:cNvCxnSpPr/>
          <p:nvPr/>
        </p:nvCxnSpPr>
        <p:spPr>
          <a:xfrm flipH="1">
            <a:off x="23564700" y="27641550"/>
            <a:ext cx="857400" cy="857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" name="Google Shape;134;p25"/>
          <p:cNvCxnSpPr/>
          <p:nvPr/>
        </p:nvCxnSpPr>
        <p:spPr>
          <a:xfrm>
            <a:off x="22536150" y="27641550"/>
            <a:ext cx="1066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" name="Google Shape;135;p25"/>
          <p:cNvCxnSpPr/>
          <p:nvPr/>
        </p:nvCxnSpPr>
        <p:spPr>
          <a:xfrm flipH="1">
            <a:off x="22536000" y="27641550"/>
            <a:ext cx="1009800" cy="9144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36" name="Google Shape;136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4174450" y="17275209"/>
            <a:ext cx="9288901" cy="3041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5779338" y="27698710"/>
            <a:ext cx="7695925" cy="3847963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5"/>
          <p:cNvSpPr txBox="1"/>
          <p:nvPr/>
        </p:nvSpPr>
        <p:spPr>
          <a:xfrm>
            <a:off x="24904663" y="23684850"/>
            <a:ext cx="1309800" cy="1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Depth</a:t>
            </a:r>
            <a:endParaRPr/>
          </a:p>
        </p:txBody>
      </p:sp>
      <p:pic>
        <p:nvPicPr>
          <p:cNvPr id="139" name="Google Shape;139;p2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 rot="-5400000">
            <a:off x="23417998" y="22192675"/>
            <a:ext cx="1030475" cy="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/>
          <p:nvPr/>
        </p:nvSpPr>
        <p:spPr>
          <a:xfrm>
            <a:off x="26800075" y="22131750"/>
            <a:ext cx="327000" cy="290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5"/>
          <p:cNvSpPr txBox="1"/>
          <p:nvPr/>
        </p:nvSpPr>
        <p:spPr>
          <a:xfrm>
            <a:off x="8270689" y="3826775"/>
            <a:ext cx="264921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150" lIns="312475" spcFirstLastPara="1" rIns="312475" wrap="square" tIns="156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SDAL: Ian Crandell,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Gizem Korkmaz, </a:t>
            </a: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and Stephanie Shipp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i="1" lang="en" sz="3600">
                <a:solidFill>
                  <a:srgbClr val="141F22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Sponsor: Gary Anderson, The National Center for Science &amp; Engineering Statistics (NCSES) at the National Science Foundation</a:t>
            </a:r>
            <a:endParaRPr i="1" sz="3600">
              <a:solidFill>
                <a:srgbClr val="141F22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3181650" y="3302388"/>
            <a:ext cx="1581150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9691325" y="380344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