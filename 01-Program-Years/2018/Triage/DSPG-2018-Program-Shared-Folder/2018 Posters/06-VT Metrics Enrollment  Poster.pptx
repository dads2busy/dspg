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BarlowCondense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arlowCondense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Condensed-regular.fntdata"/><Relationship Id="rId8" Type="http://schemas.openxmlformats.org/officeDocument/2006/relationships/font" Target="fonts/BarlowCondense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34: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19705200" y="25094425"/>
            <a:ext cx="5570100" cy="1858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None/>
            </a:pPr>
            <a:r>
              <a:rPr i="1" lang="en" sz="2000">
                <a:solidFill>
                  <a:srgbClr val="5D89B4"/>
                </a:solidFill>
                <a:latin typeface="Barlow Condensed"/>
                <a:ea typeface="Barlow Condensed"/>
                <a:cs typeface="Barlow Condensed"/>
                <a:sym typeface="Barlow Condensed"/>
              </a:rPr>
              <a:t>Figure 3. ROC plot indicating accuracy of the logistic model;  increasing distance of the curve from the baseline y = x is associated with increased accuracy of model. </a:t>
            </a:r>
            <a:endParaRPr i="1">
              <a:solidFill>
                <a:srgbClr val="5D89B4"/>
              </a:solidFill>
              <a:latin typeface="Barlow Condensed"/>
              <a:ea typeface="Barlow Condensed"/>
              <a:cs typeface="Barlow Condensed"/>
              <a:sym typeface="Barlow Condensed"/>
            </a:endParaRPr>
          </a:p>
        </p:txBody>
      </p:sp>
      <p:sp>
        <p:nvSpPr>
          <p:cNvPr id="52" name="Google Shape;52;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a:t>
            </a:r>
            <a:r>
              <a:rPr b="1" lang="en" sz="9600">
                <a:solidFill>
                  <a:srgbClr val="141F22"/>
                </a:solidFill>
                <a:latin typeface="Barlow Condensed"/>
                <a:ea typeface="Barlow Condensed"/>
                <a:cs typeface="Barlow Condensed"/>
                <a:sym typeface="Barlow Condensed"/>
              </a:rPr>
              <a:t> | Enrollment Decisions</a:t>
            </a:r>
            <a:endParaRPr b="1" sz="9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1149100" y="27280450"/>
            <a:ext cx="10798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a:t>
            </a:r>
            <a:endParaRPr b="1" sz="44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884005" y="11186575"/>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6817428" y="17747199"/>
            <a:ext cx="56811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1. Correlation plot for all the 18 variables to show potential collinearity between variables.</a:t>
            </a:r>
            <a:endParaRPr i="1" sz="2000">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5525850" y="27217150"/>
            <a:ext cx="93468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124975" y="6804625"/>
            <a:ext cx="10915500" cy="42435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attract students with particular emphasis on vulnerable populations.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5602050" y="28322950"/>
            <a:ext cx="8819400" cy="72816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Papandrea, Dawn. “</a:t>
            </a:r>
            <a:r>
              <a:rPr lang="en" sz="3000">
                <a:solidFill>
                  <a:srgbClr val="333333"/>
                </a:solidFill>
                <a:highlight>
                  <a:srgbClr val="FFFFFF"/>
                </a:highlight>
                <a:latin typeface="Barlow Condensed"/>
                <a:ea typeface="Barlow Condensed"/>
                <a:cs typeface="Barlow Condensed"/>
                <a:sym typeface="Barlow Condensed"/>
              </a:rPr>
              <a:t>International admissions: getting to know you: 5 ways virtual interviews are improving the process of admitting (or not) international student applicants.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University Business</a:t>
            </a:r>
            <a:r>
              <a:rPr lang="en" sz="3000">
                <a:solidFill>
                  <a:srgbClr val="141F22"/>
                </a:solidFill>
                <a:latin typeface="Barlow Condensed"/>
                <a:ea typeface="Barlow Condensed"/>
                <a:cs typeface="Barlow Condensed"/>
                <a:sym typeface="Barlow Condensed"/>
              </a:rPr>
              <a:t>, June 2016, p. 32+. </a:t>
            </a:r>
            <a:r>
              <a:rPr i="1" lang="en" sz="3000">
                <a:solidFill>
                  <a:srgbClr val="141F22"/>
                </a:solidFill>
                <a:latin typeface="Barlow Condensed"/>
                <a:ea typeface="Barlow Condensed"/>
                <a:cs typeface="Barlow Condensed"/>
                <a:sym typeface="Barlow Condensed"/>
              </a:rPr>
              <a:t>ducators Reference Complete</a:t>
            </a:r>
            <a:r>
              <a:rPr lang="en" sz="3000">
                <a:solidFill>
                  <a:srgbClr val="141F22"/>
                </a:solidFill>
                <a:latin typeface="Barlow Condensed"/>
                <a:ea typeface="Barlow Condensed"/>
                <a:cs typeface="Barlow Condensed"/>
                <a:sym typeface="Barlow Condensed"/>
              </a:rPr>
              <a:t>, http://link.galegroup.com.ezproxy.lib.vt.edu/apps/doc/A455058055/PROF?u=viva_vpi&amp;sid+PROF&amp;xid=fe36e197.</a:t>
            </a:r>
            <a:r>
              <a:rPr lang="en" sz="3000">
                <a:solidFill>
                  <a:srgbClr val="141F22"/>
                </a:solidFill>
                <a:latin typeface="Barlow Condensed"/>
                <a:ea typeface="Barlow Condensed"/>
                <a:cs typeface="Barlow Condensed"/>
                <a:sym typeface="Barlow Condensed"/>
              </a:rPr>
              <a:t> Accessed 12 June 2018.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Calisir, Fethi, et al. “</a:t>
            </a:r>
            <a:r>
              <a:rPr lang="en" sz="3000">
                <a:solidFill>
                  <a:srgbClr val="333333"/>
                </a:solidFill>
                <a:highlight>
                  <a:srgbClr val="FFFFFF"/>
                </a:highlight>
                <a:latin typeface="Barlow Condensed"/>
                <a:ea typeface="Barlow Condensed"/>
                <a:cs typeface="Barlow Condensed"/>
                <a:sym typeface="Barlow Condensed"/>
              </a:rPr>
              <a:t>Predicting academic performance of master's students in engineering management</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College Student Journal</a:t>
            </a:r>
            <a:r>
              <a:rPr lang="en" sz="3000">
                <a:solidFill>
                  <a:srgbClr val="141F22"/>
                </a:solidFill>
                <a:latin typeface="Barlow Condensed"/>
                <a:ea typeface="Barlow Condensed"/>
                <a:cs typeface="Barlow Condensed"/>
                <a:sym typeface="Barlow Condensed"/>
              </a:rPr>
              <a:t>, vol. 50, no. 4, December 2016, p. 501+. </a:t>
            </a:r>
            <a:r>
              <a:rPr i="1" lang="en" sz="3000">
                <a:solidFill>
                  <a:srgbClr val="141F22"/>
                </a:solidFill>
                <a:latin typeface="Barlow Condensed"/>
                <a:ea typeface="Barlow Condensed"/>
                <a:cs typeface="Barlow Condensed"/>
                <a:sym typeface="Barlow Condensed"/>
              </a:rPr>
              <a:t>Educators Reference Complete</a:t>
            </a:r>
            <a:r>
              <a:rPr lang="en" sz="3000">
                <a:solidFill>
                  <a:srgbClr val="141F22"/>
                </a:solidFill>
                <a:latin typeface="Barlow Condensed"/>
                <a:ea typeface="Barlow Condensed"/>
                <a:cs typeface="Barlow Condensed"/>
                <a:sym typeface="Barlow Condensed"/>
              </a:rPr>
              <a:t>, http://link.galegroup.com.ezproxy.lib.vt.edu/apps/doc/A474548660/PROF?u=viva_vpi&amp;sid+PROF&amp;xid=b47b9880. Accessed 19 June 2018.</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804625"/>
            <a:ext cx="10915500" cy="47946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During the admissions’ phase of a student’s life cycle, there are a number of motivating factors behind a prospective applicant’s decision to enroll within a university. Everything from price to college culture is weighed. Our goal is to analyze and model enrollment decisions from the perspective of applicant and university characteristics. </a:t>
            </a:r>
            <a:endParaRPr sz="3600">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032425" y="13050025"/>
            <a:ext cx="10915500" cy="6094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Competitive Factors</a:t>
            </a:r>
            <a:r>
              <a:rPr lang="en" sz="3600">
                <a:solidFill>
                  <a:srgbClr val="141F22"/>
                </a:solidFill>
                <a:latin typeface="Barlow Condensed"/>
                <a:ea typeface="Barlow Condensed"/>
                <a:cs typeface="Barlow Condensed"/>
                <a:sym typeface="Barlow Condensed"/>
              </a:rPr>
              <a:t> University competitive factors, such as rank or graduation rate</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32425" y="18911250"/>
            <a:ext cx="22795200" cy="17427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32425" y="11186575"/>
            <a:ext cx="113502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Variables</a:t>
            </a:r>
            <a:endParaRPr b="1" sz="4800">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1048770" y="5061800"/>
            <a:ext cx="228954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26649643" y="15620961"/>
            <a:ext cx="5151000" cy="2204100"/>
          </a:xfrm>
          <a:prstGeom prst="rect">
            <a:avLst/>
          </a:prstGeom>
          <a:noFill/>
          <a:ln>
            <a:noFill/>
          </a:ln>
        </p:spPr>
        <p:txBody>
          <a:bodyPr anchorCtr="0" anchor="t" bIns="156150" lIns="312475" spcFirstLastPara="1" rIns="312475" wrap="square" tIns="156150">
            <a:noAutofit/>
          </a:bodyPr>
          <a:lstStyle/>
          <a:p>
            <a:pPr indent="0" lvl="0" marL="0" rtl="0" algn="ctr">
              <a:spcBef>
                <a:spcPts val="0"/>
              </a:spcBef>
              <a:spcAft>
                <a:spcPts val="0"/>
              </a:spcAft>
              <a:buClr>
                <a:srgbClr val="000000"/>
              </a:buClr>
              <a:buSzPts val="1100"/>
              <a:buFont typeface="Arial"/>
              <a:buNone/>
            </a:pPr>
            <a:r>
              <a:rPr i="1" lang="en" sz="3600">
                <a:solidFill>
                  <a:srgbClr val="B7B7B7"/>
                </a:solidFill>
                <a:latin typeface="Barlow Condensed"/>
                <a:ea typeface="Barlow Condensed"/>
                <a:cs typeface="Barlow Condensed"/>
                <a:sym typeface="Barlow Condensed"/>
              </a:rPr>
              <a:t>Suggested border / frame color and thickness</a:t>
            </a:r>
            <a:endParaRPr i="1" sz="3600">
              <a:solidFill>
                <a:srgbClr val="B7B7B7"/>
              </a:solidFill>
              <a:latin typeface="Barlow Condensed"/>
              <a:ea typeface="Barlow Condensed"/>
              <a:cs typeface="Barlow Condensed"/>
              <a:sym typeface="Barlow Condensed"/>
            </a:endParaRPr>
          </a:p>
          <a:p>
            <a:pPr indent="0" lvl="0" marL="0" rtl="0" algn="ctr">
              <a:spcBef>
                <a:spcPts val="0"/>
              </a:spcBef>
              <a:spcAft>
                <a:spcPts val="0"/>
              </a:spcAft>
              <a:buSzPts val="1100"/>
              <a:buNone/>
            </a:pPr>
            <a:r>
              <a:rPr i="1" lang="en" sz="3600">
                <a:solidFill>
                  <a:srgbClr val="B7B7B7"/>
                </a:solidFill>
                <a:latin typeface="Barlow Condensed"/>
                <a:ea typeface="Barlow Condensed"/>
                <a:cs typeface="Barlow Condensed"/>
                <a:sym typeface="Barlow Condensed"/>
              </a:rPr>
              <a:t>for figures and photos</a:t>
            </a:r>
            <a:endParaRPr i="1" sz="3600">
              <a:solidFill>
                <a:srgbClr val="B7B7B7"/>
              </a:solidFill>
              <a:latin typeface="Barlow Condensed"/>
              <a:ea typeface="Barlow Condensed"/>
              <a:cs typeface="Barlow Condensed"/>
              <a:sym typeface="Barlow Condensed"/>
            </a:endParaRPr>
          </a:p>
        </p:txBody>
      </p:sp>
      <p:sp>
        <p:nvSpPr>
          <p:cNvPr id="70" name="Google Shape;70;p13"/>
          <p:cNvSpPr txBox="1"/>
          <p:nvPr/>
        </p:nvSpPr>
        <p:spPr>
          <a:xfrm>
            <a:off x="1124975" y="28274763"/>
            <a:ext cx="10915500" cy="8038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In conclusion, we were able to successfully model the factors that influence enrollment decisions. Ultimately, 14 out of 18 variables were identified as important attributes for applicants’ decision making process. Many of these variables were binary (such as gender or first-generation status), while some had multiple levels. For example, applicants were offered acceptance to one of the 7 VT colleges, a notably significant factor for enrollment decisions.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Moreover, </a:t>
            </a:r>
            <a:r>
              <a:rPr lang="en" sz="3600">
                <a:solidFill>
                  <a:srgbClr val="141F22"/>
                </a:solidFill>
                <a:latin typeface="Barlow Condensed"/>
                <a:ea typeface="Barlow Condensed"/>
                <a:cs typeface="Barlow Condensed"/>
                <a:sym typeface="Barlow Condensed"/>
              </a:rPr>
              <a:t>4 out of 14 significant variables showed a negative odds ratio,</a:t>
            </a:r>
            <a:r>
              <a:rPr lang="en" sz="3600">
                <a:solidFill>
                  <a:srgbClr val="141F22"/>
                </a:solidFill>
                <a:latin typeface="Barlow Condensed"/>
                <a:ea typeface="Barlow Condensed"/>
                <a:cs typeface="Barlow Condensed"/>
                <a:sym typeface="Barlow Condensed"/>
              </a:rPr>
              <a:t> indicating that these variables decreased enrollment likelihood</a:t>
            </a:r>
            <a:r>
              <a:rPr lang="en" sz="3600">
                <a:solidFill>
                  <a:srgbClr val="141F22"/>
                </a:solidFill>
                <a:latin typeface="Barlow Condensed"/>
                <a:ea typeface="Barlow Condensed"/>
                <a:cs typeface="Barlow Condensed"/>
                <a:sym typeface="Barlow Condensed"/>
              </a:rPr>
              <a:t>. These included gender, underrepresented minority status, VT college offered, and high school GPA.  We believe that t</a:t>
            </a:r>
            <a:r>
              <a:rPr lang="en" sz="3600">
                <a:solidFill>
                  <a:srgbClr val="141F22"/>
                </a:solidFill>
                <a:latin typeface="Barlow Condensed"/>
                <a:ea typeface="Barlow Condensed"/>
                <a:cs typeface="Barlow Condensed"/>
                <a:sym typeface="Barlow Condensed"/>
              </a:rPr>
              <a:t>he Provost’s office might want to explore potential strategies to  to attract applicants who show vulnerability in these areas.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2843575" y="28274776"/>
            <a:ext cx="10915500" cy="88170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4 significant variables with negative impact on enrollment decisions are gender, </a:t>
            </a:r>
            <a:r>
              <a:rPr lang="en" sz="3600">
                <a:solidFill>
                  <a:srgbClr val="141F22"/>
                </a:solidFill>
                <a:latin typeface="Barlow Condensed"/>
                <a:ea typeface="Barlow Condensed"/>
                <a:cs typeface="Barlow Condensed"/>
                <a:sym typeface="Barlow Condensed"/>
              </a:rPr>
              <a:t>underrepresented</a:t>
            </a:r>
            <a:r>
              <a:rPr lang="en" sz="3600">
                <a:solidFill>
                  <a:srgbClr val="141F22"/>
                </a:solidFill>
                <a:latin typeface="Barlow Condensed"/>
                <a:ea typeface="Barlow Condensed"/>
                <a:cs typeface="Barlow Condensed"/>
                <a:sym typeface="Barlow Condensed"/>
              </a:rPr>
              <a:t> minority, college offered, and high school GPA. Future research into enrollment decision trends could be spent exploring patterns between VT colleges and identifying successful strategies for attracting applicants.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Potential strategies to attract applicants within these riskier populations might include: </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Incorporate and weight applicant interviews and essays alongside high school GPA as academic indicators. </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Conduct one-on-one welcome meetings for international student applicants.</a:t>
            </a:r>
            <a:r>
              <a:rPr baseline="30000" lang="en" sz="3600">
                <a:solidFill>
                  <a:srgbClr val="141F22"/>
                </a:solidFill>
                <a:latin typeface="Barlow Condensed"/>
                <a:ea typeface="Barlow Condensed"/>
                <a:cs typeface="Barlow Condensed"/>
                <a:sym typeface="Barlow Condensed"/>
              </a:rPr>
              <a:t>1</a:t>
            </a:r>
            <a:r>
              <a:rPr lang="en" sz="3600">
                <a:solidFill>
                  <a:srgbClr val="141F22"/>
                </a:solidFill>
                <a:latin typeface="Barlow Condensed"/>
                <a:ea typeface="Barlow Condensed"/>
                <a:cs typeface="Barlow Condensed"/>
                <a:sym typeface="Barlow Condensed"/>
              </a:rPr>
              <a:t> </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Continue to build a supportive and safe college environment for LGBTQ and minority applicants.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13186550" y="12736400"/>
            <a:ext cx="10572600" cy="584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a:t>
            </a:r>
            <a:r>
              <a:rPr lang="en" sz="3600">
                <a:solidFill>
                  <a:srgbClr val="141F22"/>
                </a:solidFill>
                <a:latin typeface="Barlow Condensed"/>
                <a:ea typeface="Barlow Condensed"/>
                <a:cs typeface="Barlow Condensed"/>
                <a:sym typeface="Barlow Condensed"/>
              </a:rPr>
              <a:t>decision</a:t>
            </a:r>
            <a:r>
              <a:rPr lang="en" sz="3600">
                <a:solidFill>
                  <a:srgbClr val="141F22"/>
                </a:solidFill>
                <a:latin typeface="Barlow Condensed"/>
                <a:ea typeface="Barlow Condensed"/>
                <a:cs typeface="Barlow Condensed"/>
                <a:sym typeface="Barlow Condensed"/>
              </a:rPr>
              <a:t>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3" name="Google Shape;73;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3"/>
          <p:cNvPicPr preferRelativeResize="0"/>
          <p:nvPr/>
        </p:nvPicPr>
        <p:blipFill>
          <a:blip r:embed="rId3">
            <a:alphaModFix/>
          </a:blip>
          <a:stretch>
            <a:fillRect/>
          </a:stretch>
        </p:blipFill>
        <p:spPr>
          <a:xfrm>
            <a:off x="25732438" y="11048113"/>
            <a:ext cx="7518675" cy="6903300"/>
          </a:xfrm>
          <a:prstGeom prst="rect">
            <a:avLst/>
          </a:prstGeom>
          <a:noFill/>
          <a:ln>
            <a:noFill/>
          </a:ln>
        </p:spPr>
      </p:pic>
      <p:sp>
        <p:nvSpPr>
          <p:cNvPr id="75" name="Google Shape;75;p13"/>
          <p:cNvSpPr txBox="1"/>
          <p:nvPr/>
        </p:nvSpPr>
        <p:spPr>
          <a:xfrm>
            <a:off x="24627575" y="5061800"/>
            <a:ext cx="100608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sp>
        <p:nvSpPr>
          <p:cNvPr id="76" name="Google Shape;76;p13"/>
          <p:cNvSpPr txBox="1"/>
          <p:nvPr/>
        </p:nvSpPr>
        <p:spPr>
          <a:xfrm>
            <a:off x="24562175" y="6804625"/>
            <a:ext cx="9859200" cy="3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 We utilized applicant data from a wide range of sources for this project: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National Student Clearinghouse</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Virginia Department of Education</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College Board</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US News</a:t>
            </a:r>
            <a:endParaRPr/>
          </a:p>
        </p:txBody>
      </p:sp>
      <p:sp>
        <p:nvSpPr>
          <p:cNvPr id="77" name="Google Shape;77;p13"/>
          <p:cNvSpPr txBox="1"/>
          <p:nvPr/>
        </p:nvSpPr>
        <p:spPr>
          <a:xfrm>
            <a:off x="12754000" y="20811550"/>
            <a:ext cx="10915500" cy="2078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diagrammed at left. The regression estimates indicate the number of times the probability shifts with that variable, while the bars show the standard deviation. </a:t>
            </a:r>
            <a:endParaRPr sz="3600">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49775" y="20862000"/>
            <a:ext cx="10915500" cy="5940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enrollment decisions, Of the original 36 variables, 18 were selected. A</a:t>
            </a:r>
            <a:r>
              <a:rPr lang="en" sz="3600">
                <a:solidFill>
                  <a:srgbClr val="141F22"/>
                </a:solidFill>
                <a:latin typeface="Barlow Condensed"/>
                <a:ea typeface="Barlow Condensed"/>
                <a:cs typeface="Barlow Condensed"/>
                <a:sym typeface="Barlow Condensed"/>
              </a:rPr>
              <a:t> correlation plot was drawn against the variables to identify any potential variables with collinearity, and the resulting plot is shown in Figure 1. The plot indicates a correlation score of 0.5 between in-state tuition, residency-college state match, and high school college-goingness culture.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18 variables to model enrollment decisions and the resulting model’s coefficients are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pic>
        <p:nvPicPr>
          <p:cNvPr id="79" name="Google Shape;79;p13"/>
          <p:cNvPicPr preferRelativeResize="0"/>
          <p:nvPr/>
        </p:nvPicPr>
        <p:blipFill>
          <a:blip r:embed="rId4">
            <a:alphaModFix/>
          </a:blip>
          <a:stretch>
            <a:fillRect/>
          </a:stretch>
        </p:blipFill>
        <p:spPr>
          <a:xfrm>
            <a:off x="19956598" y="22094429"/>
            <a:ext cx="3333323" cy="2999999"/>
          </a:xfrm>
          <a:prstGeom prst="rect">
            <a:avLst/>
          </a:prstGeom>
          <a:noFill/>
          <a:ln>
            <a:noFill/>
          </a:ln>
        </p:spPr>
      </p:pic>
      <p:sp>
        <p:nvSpPr>
          <p:cNvPr id="80" name="Google Shape;80;p13"/>
          <p:cNvSpPr txBox="1"/>
          <p:nvPr/>
        </p:nvSpPr>
        <p:spPr>
          <a:xfrm>
            <a:off x="27067227" y="25403900"/>
            <a:ext cx="71289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of</a:t>
            </a:r>
            <a:r>
              <a:rPr i="1" lang="en" sz="2000">
                <a:solidFill>
                  <a:srgbClr val="5D89B4"/>
                </a:solidFill>
                <a:latin typeface="Barlow Condensed"/>
                <a:ea typeface="Barlow Condensed"/>
                <a:cs typeface="Barlow Condensed"/>
                <a:sym typeface="Barlow Condensed"/>
              </a:rPr>
              <a:t> significant variables indicated by logistic regression: points show magnitude of log-odds ratio for each variable while bars indicate size of standard deviation.</a:t>
            </a:r>
            <a:endParaRPr i="1" sz="2000">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2748325" y="23112550"/>
            <a:ext cx="5833200" cy="26274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The model’s prediction showed an accuracy rate of 82%. The ROC </a:t>
            </a:r>
            <a:r>
              <a:rPr lang="en" sz="3600">
                <a:solidFill>
                  <a:srgbClr val="141F22"/>
                </a:solidFill>
                <a:latin typeface="Barlow Condensed"/>
                <a:ea typeface="Barlow Condensed"/>
                <a:cs typeface="Barlow Condensed"/>
                <a:sym typeface="Barlow Condensed"/>
              </a:rPr>
              <a:t>diagrammed at left shows the performance of the model, well above the baseline rate of 50%.</a:t>
            </a:r>
            <a:endParaRPr sz="36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12754000" y="27280450"/>
            <a:ext cx="107697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400">
              <a:solidFill>
                <a:srgbClr val="FFFFFF"/>
              </a:solidFill>
              <a:latin typeface="Barlow Condensed"/>
              <a:ea typeface="Barlow Condensed"/>
              <a:cs typeface="Barlow Condensed"/>
              <a:sym typeface="Barlow Condensed"/>
            </a:endParaRPr>
          </a:p>
        </p:txBody>
      </p:sp>
      <p:pic>
        <p:nvPicPr>
          <p:cNvPr id="83" name="Google Shape;83;p13"/>
          <p:cNvPicPr preferRelativeResize="0"/>
          <p:nvPr/>
        </p:nvPicPr>
        <p:blipFill>
          <a:blip r:embed="rId5">
            <a:alphaModFix/>
          </a:blip>
          <a:stretch>
            <a:fillRect/>
          </a:stretch>
        </p:blipFill>
        <p:spPr>
          <a:xfrm>
            <a:off x="24728387" y="20249357"/>
            <a:ext cx="9859200" cy="4845060"/>
          </a:xfrm>
          <a:prstGeom prst="rect">
            <a:avLst/>
          </a:prstGeom>
          <a:noFill/>
          <a:ln cap="flat" cmpd="sng" w="9525">
            <a:solidFill>
              <a:srgbClr val="FFFFFF"/>
            </a:solidFill>
            <a:prstDash val="solid"/>
            <a:round/>
            <a:headEnd len="sm" w="sm" type="none"/>
            <a:tailEnd len="sm" w="sm" type="none"/>
          </a:ln>
        </p:spPr>
      </p:pic>
      <p:pic>
        <p:nvPicPr>
          <p:cNvPr id="84" name="Google Shape;84;p13"/>
          <p:cNvPicPr preferRelativeResize="0"/>
          <p:nvPr/>
        </p:nvPicPr>
        <p:blipFill>
          <a:blip r:embed="rId6">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