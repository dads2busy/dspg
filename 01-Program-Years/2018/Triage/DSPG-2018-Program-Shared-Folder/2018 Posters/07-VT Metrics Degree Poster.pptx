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BarlowCondense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arlowCondense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Condensed-regular.fntdata"/><Relationship Id="rId8" Type="http://schemas.openxmlformats.org/officeDocument/2006/relationships/font" Target="fonts/BarlowCondense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216: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a:blip r:embed="rId3">
            <a:alphaModFix/>
          </a:blip>
          <a:stretch>
            <a:fillRect/>
          </a:stretch>
        </p:blipFill>
        <p:spPr>
          <a:xfrm>
            <a:off x="16423850" y="22564450"/>
            <a:ext cx="10060797" cy="5467093"/>
          </a:xfrm>
          <a:prstGeom prst="rect">
            <a:avLst/>
          </a:prstGeom>
          <a:noFill/>
          <a:ln>
            <a:noFill/>
          </a:ln>
        </p:spPr>
      </p:pic>
      <p:pic>
        <p:nvPicPr>
          <p:cNvPr id="52" name="Google Shape;52;p13"/>
          <p:cNvPicPr preferRelativeResize="0"/>
          <p:nvPr/>
        </p:nvPicPr>
        <p:blipFill>
          <a:blip r:embed="rId4">
            <a:alphaModFix/>
          </a:blip>
          <a:stretch>
            <a:fillRect/>
          </a:stretch>
        </p:blipFill>
        <p:spPr>
          <a:xfrm>
            <a:off x="8034524" y="21402424"/>
            <a:ext cx="8232650" cy="6042471"/>
          </a:xfrm>
          <a:prstGeom prst="rect">
            <a:avLst/>
          </a:prstGeom>
          <a:noFill/>
          <a:ln>
            <a:noFill/>
          </a:ln>
        </p:spPr>
      </p:pic>
      <p:pic>
        <p:nvPicPr>
          <p:cNvPr id="53" name="Google Shape;53;p13"/>
          <p:cNvPicPr preferRelativeResize="0"/>
          <p:nvPr/>
        </p:nvPicPr>
        <p:blipFill>
          <a:blip r:embed="rId5">
            <a:alphaModFix/>
          </a:blip>
          <a:stretch>
            <a:fillRect/>
          </a:stretch>
        </p:blipFill>
        <p:spPr>
          <a:xfrm>
            <a:off x="27397238" y="20835575"/>
            <a:ext cx="6410325" cy="6115050"/>
          </a:xfrm>
          <a:prstGeom prst="rect">
            <a:avLst/>
          </a:prstGeom>
          <a:noFill/>
          <a:ln>
            <a:noFill/>
          </a:ln>
        </p:spPr>
      </p:pic>
      <p:sp>
        <p:nvSpPr>
          <p:cNvPr id="54" name="Google Shape;54;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 | Degree Completion</a:t>
            </a:r>
            <a:endParaRPr b="1" sz="9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1149100" y="29414050"/>
            <a:ext cx="188514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a:t>
            </a:r>
            <a:endParaRPr b="1" sz="4400">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032425" y="13208925"/>
            <a:ext cx="118110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22392600" y="29287450"/>
            <a:ext cx="124800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sz="3000">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a:t>
            </a:r>
            <a:r>
              <a:rPr i="1" lang="en" sz="3600">
                <a:solidFill>
                  <a:srgbClr val="141F22"/>
                </a:solidFill>
                <a:latin typeface="Barlow Condensed"/>
                <a:ea typeface="Barlow Condensed"/>
                <a:cs typeface="Barlow Condensed"/>
                <a:sym typeface="Barlow Condensed"/>
              </a:rPr>
              <a:t>ponsor</a:t>
            </a:r>
            <a:r>
              <a:rPr i="1" lang="en" sz="3600">
                <a:solidFill>
                  <a:srgbClr val="141F22"/>
                </a:solidFill>
                <a:latin typeface="Barlow Condensed"/>
                <a:ea typeface="Barlow Condensed"/>
                <a:cs typeface="Barlow Condensed"/>
                <a:sym typeface="Barlow Condensed"/>
              </a:rPr>
              <a:t>: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1124975" y="6804625"/>
            <a:ext cx="16167300" cy="5940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
            </a:r>
            <a:r>
              <a:rPr lang="en" sz="3600">
                <a:solidFill>
                  <a:srgbClr val="141F22"/>
                </a:solidFill>
                <a:latin typeface="Barlow Condensed"/>
                <a:ea typeface="Barlow Condensed"/>
                <a:cs typeface="Barlow Condensed"/>
                <a:sym typeface="Barlow Condensed"/>
              </a:rPr>
              <a:t>attract</a:t>
            </a:r>
            <a:r>
              <a:rPr lang="en" sz="3600">
                <a:solidFill>
                  <a:srgbClr val="141F22"/>
                </a:solidFill>
                <a:latin typeface="Barlow Condensed"/>
                <a:ea typeface="Barlow Condensed"/>
                <a:cs typeface="Barlow Condensed"/>
                <a:sym typeface="Barlow Condensed"/>
              </a:rPr>
              <a:t> students with particular emphasis on vulnerable populations.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As students progress through their undergraduate studies, their goal is ultimately to obtain a degree. Our goal is to understand how student characteristics correlate with student success, as defined by graduation within 6 years. This study made use of Virginia Tech’s University Data Commons, the school’s data lake that houses student and operational data.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22454750" y="30692625"/>
            <a:ext cx="11966700" cy="63024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Murphy, Joel P. and Murphy, Shirley A.</a:t>
            </a:r>
            <a:r>
              <a:rPr lang="en" sz="3000">
                <a:solidFill>
                  <a:srgbClr val="141F22"/>
                </a:solidFill>
                <a:latin typeface="Barlow Condensed"/>
                <a:ea typeface="Barlow Condensed"/>
                <a:cs typeface="Barlow Condensed"/>
                <a:sym typeface="Barlow Condensed"/>
              </a:rPr>
              <a:t> “</a:t>
            </a:r>
            <a:r>
              <a:rPr lang="en" sz="3000">
                <a:solidFill>
                  <a:srgbClr val="333333"/>
                </a:solidFill>
                <a:highlight>
                  <a:schemeClr val="lt1"/>
                </a:highlight>
                <a:latin typeface="Barlow Condensed"/>
                <a:ea typeface="Barlow Condensed"/>
                <a:cs typeface="Barlow Condensed"/>
                <a:sym typeface="Barlow Condensed"/>
              </a:rPr>
              <a:t>Get Ready, Get In, Get Through: Factors that Influence Latio College Student Success.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Journal of Latinos and Education</a:t>
            </a:r>
            <a:r>
              <a:rPr lang="en" sz="3000">
                <a:solidFill>
                  <a:srgbClr val="141F22"/>
                </a:solidFill>
                <a:latin typeface="Barlow Condensed"/>
                <a:ea typeface="Barlow Condensed"/>
                <a:cs typeface="Barlow Condensed"/>
                <a:sym typeface="Barlow Condensed"/>
              </a:rPr>
              <a:t>, vol. 17, issue 1, 10 February 2017, p. 3-17. </a:t>
            </a:r>
            <a:r>
              <a:rPr i="1" lang="en" sz="3000">
                <a:solidFill>
                  <a:srgbClr val="141F22"/>
                </a:solidFill>
                <a:latin typeface="Barlow Condensed"/>
                <a:ea typeface="Barlow Condensed"/>
                <a:cs typeface="Barlow Condensed"/>
                <a:sym typeface="Barlow Condensed"/>
              </a:rPr>
              <a:t>https://www-tandfonline-com.ezproxy.lib.vt.edu/doi/full/10.1080/15348431.2016.1268139?scroll=top&amp;needAccess=true</a:t>
            </a:r>
            <a:r>
              <a:rPr lang="en" sz="3000">
                <a:solidFill>
                  <a:srgbClr val="141F22"/>
                </a:solidFill>
                <a:latin typeface="Barlow Condensed"/>
                <a:ea typeface="Barlow Condensed"/>
                <a:cs typeface="Barlow Condensed"/>
                <a:sym typeface="Barlow Condensed"/>
              </a:rPr>
              <a:t>. Accessed 11 June 2018.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Wilson, Rick L. and Hardgrave, Bill C. “</a:t>
            </a:r>
            <a:r>
              <a:rPr lang="en" sz="3000">
                <a:solidFill>
                  <a:srgbClr val="333333"/>
                </a:solidFill>
                <a:highlight>
                  <a:schemeClr val="lt1"/>
                </a:highlight>
                <a:latin typeface="Barlow Condensed"/>
                <a:ea typeface="Barlow Condensed"/>
                <a:cs typeface="Barlow Condensed"/>
                <a:sym typeface="Barlow Condensed"/>
              </a:rPr>
              <a:t>Predicting Graduate Student Success in an MBA Program: Regression Versus Classification</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Educational and Psychological Measurement</a:t>
            </a:r>
            <a:r>
              <a:rPr lang="en" sz="3000">
                <a:solidFill>
                  <a:srgbClr val="141F22"/>
                </a:solidFill>
                <a:latin typeface="Barlow Condensed"/>
                <a:ea typeface="Barlow Condensed"/>
                <a:cs typeface="Barlow Condensed"/>
                <a:sym typeface="Barlow Condensed"/>
              </a:rPr>
              <a:t>, vol. 55, issue 2, 1 April 1995, p. 186-195. </a:t>
            </a:r>
            <a:r>
              <a:rPr lang="en" sz="3000">
                <a:solidFill>
                  <a:srgbClr val="141F22"/>
                </a:solidFill>
                <a:highlight>
                  <a:srgbClr val="FFFFFF"/>
                </a:highlight>
                <a:latin typeface="Barlow Condensed"/>
                <a:ea typeface="Barlow Condensed"/>
                <a:cs typeface="Barlow Condensed"/>
                <a:sym typeface="Barlow Condensed"/>
              </a:rPr>
              <a:t>https://doi.org/10.1177/0013164495055002003</a:t>
            </a:r>
            <a:r>
              <a:rPr lang="en" sz="3000">
                <a:solidFill>
                  <a:srgbClr val="141F22"/>
                </a:solidFill>
                <a:latin typeface="Barlow Condensed"/>
                <a:ea typeface="Barlow Condensed"/>
                <a:cs typeface="Barlow Condensed"/>
                <a:sym typeface="Barlow Condensed"/>
              </a:rPr>
              <a:t>. Accessed 19 June 2018.</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0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5" name="Google Shape;65;p13"/>
          <p:cNvSpPr txBox="1"/>
          <p:nvPr/>
        </p:nvSpPr>
        <p:spPr>
          <a:xfrm>
            <a:off x="13903475" y="13200475"/>
            <a:ext cx="199185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6" name="Google Shape;66;p13"/>
          <p:cNvSpPr txBox="1"/>
          <p:nvPr/>
        </p:nvSpPr>
        <p:spPr>
          <a:xfrm>
            <a:off x="1048775" y="5061800"/>
            <a:ext cx="161673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124975" y="30692625"/>
            <a:ext cx="18579900" cy="6154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model highlighted several variables of interest in relation to graduation likelihood. Positive impacts arise from factors such as 2-years credit hour, ROTC, and being male; meanwhile, test scores, unmet need, and GPA, tend to have more of a negative effect on likelihood of graduating.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This study has implications for how universities may approach degree completion across their undergraduate populations. Strategies may be developed to help provide targeted support to students with particular vulnerability to non-completion based on prior coursework, individual background, or social engagement. Furthermore, it may be beneficial to conduct further research on the social embeddedness of student populations and how these groups interact via support networks. Identifying positive social behaviors associated with increased graduation likelihood may help the university to develop strategies to encourage student success.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8" name="Google Shape;68;p13"/>
          <p:cNvSpPr txBox="1"/>
          <p:nvPr/>
        </p:nvSpPr>
        <p:spPr>
          <a:xfrm>
            <a:off x="1032425" y="15223288"/>
            <a:ext cx="11966700" cy="457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decision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nvSpPr>
        <p:spPr>
          <a:xfrm>
            <a:off x="239146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21 variables to model graduation outcomes and the resulting model’s coefficients are </a:t>
            </a:r>
            <a:r>
              <a:rPr lang="en" sz="3600">
                <a:solidFill>
                  <a:srgbClr val="141F22"/>
                </a:solidFill>
                <a:latin typeface="Barlow Condensed"/>
                <a:ea typeface="Barlow Condensed"/>
                <a:cs typeface="Barlow Condensed"/>
                <a:sym typeface="Barlow Condensed"/>
              </a:rPr>
              <a:t>diagrammed below. The regression estimates indicate the number of times the prob</a:t>
            </a:r>
            <a:r>
              <a:rPr lang="en" sz="3600">
                <a:solidFill>
                  <a:srgbClr val="141F22"/>
                </a:solidFill>
                <a:latin typeface="Barlow Condensed"/>
                <a:ea typeface="Barlow Condensed"/>
                <a:cs typeface="Barlow Condensed"/>
                <a:sym typeface="Barlow Condensed"/>
              </a:rPr>
              <a:t>a</a:t>
            </a:r>
            <a:r>
              <a:rPr lang="en" sz="3600">
                <a:solidFill>
                  <a:srgbClr val="141F22"/>
                </a:solidFill>
                <a:latin typeface="Barlow Condensed"/>
                <a:ea typeface="Barlow Condensed"/>
                <a:cs typeface="Barlow Condensed"/>
                <a:sym typeface="Barlow Condensed"/>
              </a:rPr>
              <a:t>bility shifts with that variable, while the bars show the standard deviation. The model’s prediction showed an accuracy rate of 94%. The ROC curve below shows significant deviation from baseline.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40074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progression. Of the original 128 variables, 21 were selected. A correlation plot was drawn against the variables to identify any potential variables with collinearity, and the resulting plot is shown in Figure 1. The plot indicates a correlation score of 0.6 between 6 year graduation and credit hours.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27397213" y="27856475"/>
            <a:ext cx="64104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3. Correlation plot for all of the 18 variables to show the significance of the relationship between variables.</a:t>
            </a:r>
            <a:endParaRPr i="1" sz="2000">
              <a:solidFill>
                <a:srgbClr val="5D89B4"/>
              </a:solidFill>
              <a:latin typeface="Barlow Condensed"/>
              <a:ea typeface="Barlow Condensed"/>
              <a:cs typeface="Barlow Condensed"/>
              <a:sym typeface="Barlow Condensed"/>
            </a:endParaRPr>
          </a:p>
          <a:p>
            <a:pPr indent="0" lvl="0" marL="0" rtl="0" algn="l">
              <a:spcBef>
                <a:spcPts val="0"/>
              </a:spcBef>
              <a:spcAft>
                <a:spcPts val="0"/>
              </a:spcAft>
              <a:buNone/>
            </a:pPr>
            <a:r>
              <a:t/>
            </a:r>
            <a:endParaRPr i="1" sz="2000">
              <a:solidFill>
                <a:srgbClr val="5D89B4"/>
              </a:solidFill>
              <a:latin typeface="Barlow Condensed"/>
              <a:ea typeface="Barlow Condensed"/>
              <a:cs typeface="Barlow Condensed"/>
              <a:sym typeface="Barlow Condensed"/>
            </a:endParaRPr>
          </a:p>
        </p:txBody>
      </p:sp>
      <p:sp>
        <p:nvSpPr>
          <p:cNvPr id="73" name="Google Shape;73;p13"/>
          <p:cNvSpPr txBox="1"/>
          <p:nvPr/>
        </p:nvSpPr>
        <p:spPr>
          <a:xfrm>
            <a:off x="18211800" y="5061800"/>
            <a:ext cx="156102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18288000" y="6920625"/>
            <a:ext cx="14750400" cy="56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Financial Status </a:t>
            </a:r>
            <a:r>
              <a:rPr lang="en" sz="3600">
                <a:solidFill>
                  <a:srgbClr val="141F22"/>
                </a:solidFill>
                <a:latin typeface="Barlow Condensed"/>
                <a:ea typeface="Barlow Condensed"/>
                <a:cs typeface="Barlow Condensed"/>
                <a:sym typeface="Barlow Condensed"/>
              </a:rPr>
              <a:t>Financial obstacles to degree completion</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Social Embeddedness</a:t>
            </a:r>
            <a:r>
              <a:rPr lang="en" sz="3600">
                <a:solidFill>
                  <a:srgbClr val="141F22"/>
                </a:solidFill>
                <a:latin typeface="Barlow Condensed"/>
                <a:ea typeface="Barlow Condensed"/>
                <a:cs typeface="Barlow Condensed"/>
                <a:sym typeface="Barlow Condensed"/>
              </a:rPr>
              <a:t> Student involvement with campus life and Blacksburg community</a:t>
            </a:r>
            <a:endParaRPr b="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519439" y="28013950"/>
            <a:ext cx="141273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1. Student populations most (left-side) and least (right-side) likely to graduate. Size indicates number of students, color indicates race (orange hues indicate minority status), and labels indicate minority status and two year credit rate for the largest sub-populations. </a:t>
            </a:r>
            <a:endParaRPr i="1" sz="2000">
              <a:solidFill>
                <a:srgbClr val="5D89B4"/>
              </a:solidFill>
              <a:latin typeface="Barlow Condensed"/>
              <a:ea typeface="Barlow Condensed"/>
              <a:cs typeface="Barlow Condensed"/>
              <a:sym typeface="Barlow Condensed"/>
            </a:endParaRPr>
          </a:p>
        </p:txBody>
      </p:sp>
      <p:pic>
        <p:nvPicPr>
          <p:cNvPr id="76" name="Google Shape;76;p13"/>
          <p:cNvPicPr preferRelativeResize="0"/>
          <p:nvPr/>
        </p:nvPicPr>
        <p:blipFill>
          <a:blip r:embed="rId6">
            <a:alphaModFix/>
          </a:blip>
          <a:stretch>
            <a:fillRect/>
          </a:stretch>
        </p:blipFill>
        <p:spPr>
          <a:xfrm>
            <a:off x="1048775" y="20854700"/>
            <a:ext cx="6829087" cy="6667200"/>
          </a:xfrm>
          <a:prstGeom prst="rect">
            <a:avLst/>
          </a:prstGeom>
          <a:noFill/>
          <a:ln>
            <a:noFill/>
          </a:ln>
        </p:spPr>
      </p:pic>
      <p:pic>
        <p:nvPicPr>
          <p:cNvPr id="77" name="Google Shape;77;p13"/>
          <p:cNvPicPr preferRelativeResize="0"/>
          <p:nvPr/>
        </p:nvPicPr>
        <p:blipFill>
          <a:blip r:embed="rId7">
            <a:alphaModFix/>
          </a:blip>
          <a:stretch>
            <a:fillRect/>
          </a:stretch>
        </p:blipFill>
        <p:spPr>
          <a:xfrm>
            <a:off x="18243038" y="19600313"/>
            <a:ext cx="3695700" cy="2828925"/>
          </a:xfrm>
          <a:prstGeom prst="rect">
            <a:avLst/>
          </a:prstGeom>
          <a:noFill/>
          <a:ln>
            <a:noFill/>
          </a:ln>
        </p:spPr>
      </p:pic>
      <p:sp>
        <p:nvSpPr>
          <p:cNvPr id="78" name="Google Shape;78;p13"/>
          <p:cNvSpPr txBox="1"/>
          <p:nvPr/>
        </p:nvSpPr>
        <p:spPr>
          <a:xfrm flipH="1">
            <a:off x="15991874" y="28169900"/>
            <a:ext cx="135636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for logistic regression model &amp; corresponding ROC plot. Majority of variables showed significance. </a:t>
            </a:r>
            <a:endParaRPr i="1" sz="2000">
              <a:solidFill>
                <a:srgbClr val="5D89B4"/>
              </a:solidFill>
              <a:latin typeface="Barlow Condensed"/>
              <a:ea typeface="Barlow Condensed"/>
              <a:cs typeface="Barlow Condensed"/>
              <a:sym typeface="Barlow Condensed"/>
            </a:endParaRPr>
          </a:p>
        </p:txBody>
      </p:sp>
      <p:pic>
        <p:nvPicPr>
          <p:cNvPr id="79" name="Google Shape;79;p13"/>
          <p:cNvPicPr preferRelativeResize="0"/>
          <p:nvPr/>
        </p:nvPicPr>
        <p:blipFill>
          <a:blip r:embed="rId8">
            <a:alphaModFix/>
          </a:blip>
          <a:stretch>
            <a:fillRect/>
          </a:stretch>
        </p:blipFill>
        <p:spPr>
          <a:xfrm>
            <a:off x="7503625" y="20750863"/>
            <a:ext cx="2495550" cy="1952625"/>
          </a:xfrm>
          <a:prstGeom prst="rect">
            <a:avLst/>
          </a:prstGeom>
          <a:noFill/>
          <a:ln>
            <a:noFill/>
          </a:ln>
        </p:spPr>
      </p:pic>
      <p:pic>
        <p:nvPicPr>
          <p:cNvPr id="80" name="Google Shape;80;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