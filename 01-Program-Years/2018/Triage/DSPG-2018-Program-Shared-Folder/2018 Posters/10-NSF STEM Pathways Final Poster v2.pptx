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1148000" cx="36576000"/>
  <p:notesSz cx="6858000" cy="9144000"/>
  <p:embeddedFontLst>
    <p:embeddedFont>
      <p:font typeface="Barlow Condensed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76928DB7-B158-4CFF-B857-8AE9B99579EF}">
  <a:tblStyle styleId="{76928DB7-B158-4CFF-B857-8AE9B99579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BarlowCondense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arlowCondensed-regular.fntdata"/><Relationship Id="rId8" Type="http://schemas.openxmlformats.org/officeDocument/2006/relationships/font" Target="fonts/BarlowCondense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RULES TO FOLLOW: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Stay in Google Slides</a:t>
            </a:r>
            <a:r>
              <a:rPr lang="en"/>
              <a:t> to work on your poster because it: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rovides a template with all the </a:t>
            </a:r>
            <a:r>
              <a:rPr b="1" lang="en">
                <a:solidFill>
                  <a:schemeClr val="dk1"/>
                </a:solidFill>
              </a:rPr>
              <a:t>approved</a:t>
            </a:r>
            <a:r>
              <a:rPr lang="en">
                <a:solidFill>
                  <a:schemeClr val="dk1"/>
                </a:solidFill>
              </a:rPr>
              <a:t> branding including colors, fonts, and logo placement/usage;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allows you to </a:t>
            </a:r>
            <a:r>
              <a:rPr b="1" lang="en"/>
              <a:t>collaborate</a:t>
            </a:r>
            <a:r>
              <a:rPr lang="en"/>
              <a:t> with others;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helps you to </a:t>
            </a:r>
            <a:r>
              <a:rPr b="1" lang="en"/>
              <a:t>communicate</a:t>
            </a:r>
            <a:r>
              <a:rPr lang="en"/>
              <a:t> with your fellow researchers, lab./dept., and creative services;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Editing</a:t>
            </a:r>
            <a:r>
              <a:rPr lang="en"/>
              <a:t> this file: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660400" lvl="0" marL="4572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9950" lIns="519950" spcFirstLastPara="1" rIns="519950" wrap="square" tIns="51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b="1" i="1" sz="24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b="1"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0776" y="32649500"/>
            <a:ext cx="10162500" cy="466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3325" y="27394349"/>
            <a:ext cx="10780499" cy="478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79725" y="18349925"/>
            <a:ext cx="8887235" cy="56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2060750" y="8527750"/>
            <a:ext cx="6503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4062525" y="16100586"/>
            <a:ext cx="4827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2 - STEM Pathways Data Map 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4454875" y="24454950"/>
            <a:ext cx="101625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Table 1 - HarvardX and MITX enrollment and participation summary (Data source: HarvardX/MITX MOOC enrollment, 2012-2016).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3035800" y="32196275"/>
            <a:ext cx="11922900" cy="17760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</a:t>
            </a:r>
            <a:endParaRPr b="1" i="0" sz="46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423875" y="8424025"/>
            <a:ext cx="6835800" cy="6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Integrated Postsecondary Education Data System (IPEDS)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Adult Training and Education Survey (ATES)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Harvard and MIT MOOC providers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Virginia Department of Education (VDOE)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State Council of Higher Education for Virginia (SCHEV)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College Board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Current Population Survey (CPS) data on Certificates and Licenses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55075" y="27650950"/>
            <a:ext cx="10162500" cy="55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 aimed to identify the characteristics of high schools that encourage students to pursue postsecondary educational opportunities.  Predictive models that use school characteristics, such as mean SAT scores and on-time graduation rates, were developed to predict the proportion of students that will enter various postsecondary trajectories such as  4-year college enrollment, employment, and the military.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Exploratory PCA was used to identify top variables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K-means clustering and exploratory plots were used to characterize schools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Predictive models such as logistic regression, stepwise AIC selection, and cross-validated LASSO penalized regression, were used to assess the predictive power of our data and to determine which features are most relevant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6450" y="10645225"/>
            <a:ext cx="9601124" cy="55072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969975" y="7080675"/>
            <a:ext cx="12287400" cy="5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Science, technology, engineering, and math (STEM) education and training is vital for a competitive workforce and innovation. Knowledge of the diverse set of pathways available to individuals desiring to enter the STEM  workforce is critical for promoting a STEM-capable workforce </a:t>
            </a:r>
            <a:r>
              <a:rPr lang="en" sz="36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(NSB 2015, NSB 2016)</a:t>
            </a: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. The National Center for Science and Engineering Statistics (NCSES) is interested in identifying and measuring these STEM pathways.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4868425" y="18349925"/>
            <a:ext cx="96012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A MOOC (Massive Open Online Course) is a free and widely accessible online course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Taught by professors from universities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Students don’t need to attend a particular  university to enroll in a specific MOOC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We explored HarvardX and MITX MOOC enrollment data ranging from 2012-2016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081263" y="16107563"/>
            <a:ext cx="71178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1 - SDAL’s data science framework used to guide our research. 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959600" y="34025525"/>
            <a:ext cx="11922900" cy="27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National Science Board. 2016. Science and Engineering Indicators 2016. Arlington, VA: National Science Foundation (NSB-2016-1).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National Science Board. 2015. Revisiting the STEM workforce: a companion to Science and Engineering Indicators 2014.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Arlington, VA: National Science Foundation (NSB-2015-10).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5404475" y="24142875"/>
            <a:ext cx="85101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5- Institutions in Virginia by institution type of fall enrollment size (Data source: IPEDS, 2016).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046175" y="18624300"/>
            <a:ext cx="6835800" cy="6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The data sources we selected to explore further were IPEDS, ATES, and HarvardX and MITX in addition to data on Virginia high schools from sources such as VDOE and SCHEV. </a:t>
            </a:r>
            <a:r>
              <a:rPr lang="en" sz="36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was extracted from a multitude of formats, including Microsoft Excel, Comma Separated Values, and web-scraped websites. Hundreds of variables were reviewed, multiple years and multiple datasets were combined, and the data was transformed into usable formats.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69" name="Google Shape;69;p13"/>
          <p:cNvGraphicFramePr/>
          <p:nvPr/>
        </p:nvGraphicFramePr>
        <p:xfrm>
          <a:off x="24702675" y="2239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{76928DB7-B158-4CFF-B857-8AE9B99579EF}</a:tableStyleId>
              </a:tblPr>
              <a:tblGrid>
                <a:gridCol w="1632900"/>
                <a:gridCol w="1973650"/>
                <a:gridCol w="1500500"/>
                <a:gridCol w="1487275"/>
                <a:gridCol w="1301575"/>
                <a:gridCol w="1705200"/>
              </a:tblGrid>
              <a:tr h="854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Course Category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Participants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Explored 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Certified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Female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Bachelors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34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STEM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73% 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(3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.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M)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16%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23%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64%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727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Non-STEM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27% 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(1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.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)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19%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41%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74%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0" name="Google Shape;70;p13"/>
          <p:cNvSpPr txBox="1"/>
          <p:nvPr/>
        </p:nvSpPr>
        <p:spPr>
          <a:xfrm>
            <a:off x="23189575" y="29745825"/>
            <a:ext cx="110067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7 - Plot of LASSO coefficients for range of λ penalty values. Higher penalties correspond to a reduction in coefficients with variable selection occuring as coefficients zero out.  Our selected LASSO model optimized cross-validated mean squared prediction error, CVMSPE = 0.1175, with a selected tuning parameter λ = 0.0211.  The final predictive model selected 18 variables with non-zero coefficients.</a:t>
            </a:r>
            <a:endParaRPr i="1" sz="25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3189575" y="27843775"/>
            <a:ext cx="107805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6 - </a:t>
            </a:r>
            <a:r>
              <a:rPr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Map of Schools colored by unsupervised K-means clustering algorithm.  Black areas on the map are the urbanized areas, lighter areas are more rural. K = 2 clusters chosen as optimal using elbow, silhouette, and gap-statistic methods.  Clustering reveals geographic correlation with major metropolitan areas in Virginia tending to be clustered together.</a:t>
            </a:r>
            <a:endParaRPr i="1" sz="25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28817" y="28967116"/>
            <a:ext cx="1568604" cy="851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480400" y="9492725"/>
            <a:ext cx="6835800" cy="463330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8270714" y="3039425"/>
            <a:ext cx="25925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Hannah Brinkley (VT), Raghav Sawhney (VT), Emily Sheen (PSU), and Devika Nair (AU)</a:t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8270696" y="3750575"/>
            <a:ext cx="180228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SDAL: Bianica Pires and Ian Crandell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Sponsor: Karen Hamrick, The National Center for Science &amp; Engineering Statistics at NSF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9500075" y="7175500"/>
            <a:ext cx="15066900" cy="28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focused on understanding the landscape of sub-baccalaureate education and training options such as certificates, Massive Open Online Courses (MOOCs), and vocational schools. New and existing data sources that were profiled, prepared, and explored include: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27244350" y="14272613"/>
            <a:ext cx="53079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3  - IPEDS and ATES datasets prepared and explored.</a:t>
            </a:r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80725" y="18522625"/>
            <a:ext cx="7574025" cy="55070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/>
          <p:nvPr/>
        </p:nvSpPr>
        <p:spPr>
          <a:xfrm>
            <a:off x="9113763" y="24346213"/>
            <a:ext cx="53079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4  - Education attainment for survey respondents with and without certifications (Data source: ATES, 2016).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866730" y="5199825"/>
            <a:ext cx="180228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Objective and Motivation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9423873" y="5209275"/>
            <a:ext cx="150669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&amp; Profiling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866727" y="16666775"/>
            <a:ext cx="338175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6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Preparation, Linkage &amp; Exploration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866727" y="25641900"/>
            <a:ext cx="33817500" cy="17427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</a:t>
            </a: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xploratory Statistical Analysis of Postsecondary-Going Culture at Virginia High Schools</a:t>
            </a:r>
            <a:endParaRPr b="1" sz="46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5200000" y="19158575"/>
            <a:ext cx="3546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8270700" y="1268000"/>
            <a:ext cx="225141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STEM EDUCATION &amp; TRAINING PATHWAYS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612200" y="7513900"/>
            <a:ext cx="4827000" cy="842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14733275" y="19844375"/>
            <a:ext cx="8466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