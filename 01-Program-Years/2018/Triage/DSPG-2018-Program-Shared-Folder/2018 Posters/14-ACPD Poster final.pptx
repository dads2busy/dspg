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5"/>
  </p:sldMasterIdLst>
  <p:notesMasterIdLst>
    <p:notesMasterId r:id="rId6"/>
  </p:notesMasterIdLst>
  <p:sldIdLst>
    <p:sldId id="256" r:id="rId7"/>
  </p:sldIdLst>
  <p:sldSz cy="41148000" cx="36576000"/>
  <p:notesSz cx="6858000" cy="9144000"/>
  <p:embeddedFontLst>
    <p:embeddedFont>
      <p:font typeface="Barlow Condensed"/>
      <p:regular r:id="rId8"/>
      <p:bold r:id="rId9"/>
      <p:italic r:id="rId10"/>
      <p:boldItalic r:id="rId1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2960">
          <p15:clr>
            <a:srgbClr val="A4A3A4"/>
          </p15:clr>
        </p15:guide>
        <p15:guide id="2" pos="115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tableStyles.xml><?xml version="1.0" encoding="utf-8"?>
<a:tblStyleLst xmlns:a="http://schemas.openxmlformats.org/drawingml/2006/main" xmlns:r="http://schemas.openxmlformats.org/officeDocument/2006/relationships" def="{DDF198FE-A5AF-4E5E-A789-1F06D0756A5C}">
  <a:tblStyle styleId="{DDF198FE-A5AF-4E5E-A789-1F06D0756A5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B7BF00AE-51D1-4380-8EFF-20F7162B925C}"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2960" orient="horz"/>
        <p:guide pos="1152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BarlowCondensed-boldItalic.fntdata"/><Relationship Id="rId10" Type="http://schemas.openxmlformats.org/officeDocument/2006/relationships/font" Target="fonts/BarlowCondense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font" Target="fonts/BarlowCondensed-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font" Target="fonts/BarlowCondensed-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1905337" y="685800"/>
            <a:ext cx="3048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7" name="Shape 47"/>
        <p:cNvGrpSpPr/>
        <p:nvPr/>
      </p:nvGrpSpPr>
      <p:grpSpPr>
        <a:xfrm>
          <a:off x="0" y="0"/>
          <a:ext cx="0" cy="0"/>
          <a:chOff x="0" y="0"/>
          <a:chExt cx="0" cy="0"/>
        </a:xfrm>
      </p:grpSpPr>
      <p:sp>
        <p:nvSpPr>
          <p:cNvPr id="48" name="Google Shape;48;g3e781508ca_4_1:notes"/>
          <p:cNvSpPr/>
          <p:nvPr>
            <p:ph idx="2" type="sldImg"/>
          </p:nvPr>
        </p:nvSpPr>
        <p:spPr>
          <a:xfrm>
            <a:off x="1905337" y="685800"/>
            <a:ext cx="3048000" cy="3429000"/>
          </a:xfrm>
          <a:custGeom>
            <a:rect b="b" l="l" r="r" t="t"/>
            <a:pathLst>
              <a:path extrusionOk="0" h="120000" w="120000">
                <a:moveTo>
                  <a:pt x="0" y="0"/>
                </a:moveTo>
                <a:lnTo>
                  <a:pt x="120000" y="0"/>
                </a:lnTo>
                <a:lnTo>
                  <a:pt x="120000" y="120000"/>
                </a:lnTo>
                <a:lnTo>
                  <a:pt x="0" y="120000"/>
                </a:lnTo>
                <a:close/>
              </a:path>
            </a:pathLst>
          </a:custGeom>
        </p:spPr>
      </p:sp>
      <p:sp>
        <p:nvSpPr>
          <p:cNvPr id="49" name="Google Shape;49;g3e781508ca_4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GENERAL RULES TO FOLLOW:</a:t>
            </a:r>
            <a:endParaRPr b="1"/>
          </a:p>
          <a:p>
            <a:pPr indent="-298450" lvl="0" marL="457200" rtl="0" algn="l">
              <a:spcBef>
                <a:spcPts val="0"/>
              </a:spcBef>
              <a:spcAft>
                <a:spcPts val="0"/>
              </a:spcAft>
              <a:buSzPts val="1100"/>
              <a:buAutoNum type="arabicParenR"/>
            </a:pPr>
            <a:r>
              <a:rPr b="1" lang="en"/>
              <a:t>Stay in Google Slides</a:t>
            </a:r>
            <a:r>
              <a:rPr lang="en"/>
              <a:t> to work on your poster because it: </a:t>
            </a:r>
            <a:endParaRPr/>
          </a:p>
          <a:p>
            <a:pPr indent="-298450" lvl="1" marL="914400" rtl="0" algn="l">
              <a:spcBef>
                <a:spcPts val="0"/>
              </a:spcBef>
              <a:spcAft>
                <a:spcPts val="0"/>
              </a:spcAft>
              <a:buSzPts val="1100"/>
              <a:buAutoNum type="alphaLcParenR"/>
            </a:pPr>
            <a:r>
              <a:rPr lang="en">
                <a:solidFill>
                  <a:schemeClr val="dk1"/>
                </a:solidFill>
              </a:rPr>
              <a:t>provides a template with all the </a:t>
            </a:r>
            <a:r>
              <a:rPr b="1" lang="en">
                <a:solidFill>
                  <a:schemeClr val="dk1"/>
                </a:solidFill>
              </a:rPr>
              <a:t>approved</a:t>
            </a:r>
            <a:r>
              <a:rPr lang="en">
                <a:solidFill>
                  <a:schemeClr val="dk1"/>
                </a:solidFill>
              </a:rPr>
              <a:t> branding including colors, fonts, and logo placement/usage;</a:t>
            </a:r>
            <a:endParaRPr/>
          </a:p>
          <a:p>
            <a:pPr indent="-298450" lvl="1" marL="914400" rtl="0" algn="l">
              <a:spcBef>
                <a:spcPts val="0"/>
              </a:spcBef>
              <a:spcAft>
                <a:spcPts val="0"/>
              </a:spcAft>
              <a:buSzPts val="1100"/>
              <a:buAutoNum type="alphaLcParenR"/>
            </a:pPr>
            <a:r>
              <a:rPr lang="en"/>
              <a:t>allows you to </a:t>
            </a:r>
            <a:r>
              <a:rPr b="1" lang="en"/>
              <a:t>collaborate</a:t>
            </a:r>
            <a:r>
              <a:rPr lang="en"/>
              <a:t> with others;</a:t>
            </a:r>
            <a:endParaRPr/>
          </a:p>
          <a:p>
            <a:pPr indent="-298450" lvl="1" marL="914400" rtl="0" algn="l">
              <a:spcBef>
                <a:spcPts val="0"/>
              </a:spcBef>
              <a:spcAft>
                <a:spcPts val="0"/>
              </a:spcAft>
              <a:buSzPts val="1100"/>
              <a:buAutoNum type="alphaLcParenR"/>
            </a:pPr>
            <a:r>
              <a:rPr lang="en"/>
              <a:t>helps you to </a:t>
            </a:r>
            <a:r>
              <a:rPr b="1" lang="en"/>
              <a:t>communicate</a:t>
            </a:r>
            <a:r>
              <a:rPr lang="en"/>
              <a:t> with your fellow researchers, lab./dept., and creative services;</a:t>
            </a:r>
            <a:endParaRPr/>
          </a:p>
          <a:p>
            <a:pPr indent="-298450" lvl="0" marL="457200" rtl="0" algn="l">
              <a:spcBef>
                <a:spcPts val="0"/>
              </a:spcBef>
              <a:spcAft>
                <a:spcPts val="0"/>
              </a:spcAft>
              <a:buSzPts val="1100"/>
              <a:buAutoNum type="arabicParenR"/>
            </a:pPr>
            <a:r>
              <a:rPr b="1" lang="en"/>
              <a:t>Editing</a:t>
            </a:r>
            <a:r>
              <a:rPr lang="en"/>
              <a:t> this file:</a:t>
            </a:r>
            <a:endParaRPr/>
          </a:p>
          <a:p>
            <a:pPr indent="-298450" lvl="1" marL="914400" rtl="0" algn="l">
              <a:spcBef>
                <a:spcPts val="0"/>
              </a:spcBef>
              <a:spcAft>
                <a:spcPts val="0"/>
              </a:spcAft>
              <a:buSzPts val="1100"/>
              <a:buAutoNum type="alphaLcParenR"/>
            </a:pPr>
            <a:r>
              <a:t/>
            </a:r>
            <a:endParaRPr/>
          </a:p>
          <a:p>
            <a:pPr indent="-298450" lvl="0" marL="457200" rtl="0" algn="l">
              <a:spcBef>
                <a:spcPts val="0"/>
              </a:spcBef>
              <a:spcAft>
                <a:spcPts val="0"/>
              </a:spcAft>
              <a:buSzPts val="1100"/>
              <a:buAutoNum type="arabicParenR"/>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6" name="Shape 6"/>
        <p:cNvGrpSpPr/>
        <p:nvPr/>
      </p:nvGrpSpPr>
      <p:grpSpPr>
        <a:xfrm>
          <a:off x="0" y="0"/>
          <a:ext cx="0" cy="0"/>
          <a:chOff x="0" y="0"/>
          <a:chExt cx="0" cy="0"/>
        </a:xfrm>
      </p:grpSpPr>
      <p:sp>
        <p:nvSpPr>
          <p:cNvPr id="7" name="Google Shape;7;p2"/>
          <p:cNvSpPr txBox="1"/>
          <p:nvPr>
            <p:ph type="ctrTitle"/>
          </p:nvPr>
        </p:nvSpPr>
        <p:spPr>
          <a:xfrm>
            <a:off x="1246833" y="5956600"/>
            <a:ext cx="34082400" cy="164202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29500"/>
              <a:buChar char="●"/>
              <a:defRPr sz="29500"/>
            </a:lvl1pPr>
            <a:lvl2pPr lvl="1" algn="ctr">
              <a:spcBef>
                <a:spcPts val="0"/>
              </a:spcBef>
              <a:spcAft>
                <a:spcPts val="0"/>
              </a:spcAft>
              <a:buSzPts val="29500"/>
              <a:buChar char="○"/>
              <a:defRPr sz="29500"/>
            </a:lvl2pPr>
            <a:lvl3pPr lvl="2" algn="ctr">
              <a:spcBef>
                <a:spcPts val="0"/>
              </a:spcBef>
              <a:spcAft>
                <a:spcPts val="0"/>
              </a:spcAft>
              <a:buSzPts val="29500"/>
              <a:buChar char="■"/>
              <a:defRPr sz="29500"/>
            </a:lvl3pPr>
            <a:lvl4pPr lvl="3" algn="ctr">
              <a:spcBef>
                <a:spcPts val="0"/>
              </a:spcBef>
              <a:spcAft>
                <a:spcPts val="0"/>
              </a:spcAft>
              <a:buSzPts val="29500"/>
              <a:buChar char="●"/>
              <a:defRPr sz="29500"/>
            </a:lvl4pPr>
            <a:lvl5pPr lvl="4" algn="ctr">
              <a:spcBef>
                <a:spcPts val="0"/>
              </a:spcBef>
              <a:spcAft>
                <a:spcPts val="0"/>
              </a:spcAft>
              <a:buSzPts val="29500"/>
              <a:buChar char="○"/>
              <a:defRPr sz="29500"/>
            </a:lvl5pPr>
            <a:lvl6pPr lvl="5" algn="ctr">
              <a:spcBef>
                <a:spcPts val="0"/>
              </a:spcBef>
              <a:spcAft>
                <a:spcPts val="0"/>
              </a:spcAft>
              <a:buSzPts val="29500"/>
              <a:buChar char="■"/>
              <a:defRPr sz="29500"/>
            </a:lvl6pPr>
            <a:lvl7pPr lvl="6" algn="ctr">
              <a:spcBef>
                <a:spcPts val="0"/>
              </a:spcBef>
              <a:spcAft>
                <a:spcPts val="0"/>
              </a:spcAft>
              <a:buSzPts val="29500"/>
              <a:buChar char="●"/>
              <a:defRPr sz="29500"/>
            </a:lvl7pPr>
            <a:lvl8pPr lvl="7" algn="ctr">
              <a:spcBef>
                <a:spcPts val="0"/>
              </a:spcBef>
              <a:spcAft>
                <a:spcPts val="0"/>
              </a:spcAft>
              <a:buSzPts val="29500"/>
              <a:buChar char="○"/>
              <a:defRPr sz="29500"/>
            </a:lvl8pPr>
            <a:lvl9pPr lvl="8" algn="ctr">
              <a:spcBef>
                <a:spcPts val="0"/>
              </a:spcBef>
              <a:spcAft>
                <a:spcPts val="0"/>
              </a:spcAft>
              <a:buSzPts val="29500"/>
              <a:buChar char="■"/>
              <a:defRPr sz="29500"/>
            </a:lvl9pPr>
          </a:lstStyle>
          <a:p/>
        </p:txBody>
      </p:sp>
      <p:sp>
        <p:nvSpPr>
          <p:cNvPr id="8" name="Google Shape;8;p2"/>
          <p:cNvSpPr txBox="1"/>
          <p:nvPr>
            <p:ph idx="1" type="subTitle"/>
          </p:nvPr>
        </p:nvSpPr>
        <p:spPr>
          <a:xfrm>
            <a:off x="1246800" y="22673000"/>
            <a:ext cx="34082400" cy="6342000"/>
          </a:xfrm>
          <a:prstGeom prst="rect">
            <a:avLst/>
          </a:prstGeom>
          <a:noFill/>
          <a:ln>
            <a:noFill/>
          </a:ln>
        </p:spPr>
        <p:txBody>
          <a:bodyPr anchorCtr="0" anchor="ctr" bIns="519950" lIns="519950" spcFirstLastPara="1" rIns="519950" wrap="square" tIns="519950"/>
          <a:lstStyle>
            <a:lvl1pPr lvl="0" algn="ctr">
              <a:lnSpc>
                <a:spcPct val="100000"/>
              </a:lnSpc>
              <a:spcBef>
                <a:spcPts val="0"/>
              </a:spcBef>
              <a:spcAft>
                <a:spcPts val="0"/>
              </a:spcAft>
              <a:buSzPts val="15900"/>
              <a:buNone/>
              <a:defRPr sz="15900"/>
            </a:lvl1pPr>
            <a:lvl2pPr lvl="1" algn="ctr">
              <a:lnSpc>
                <a:spcPct val="100000"/>
              </a:lnSpc>
              <a:spcBef>
                <a:spcPts val="0"/>
              </a:spcBef>
              <a:spcAft>
                <a:spcPts val="0"/>
              </a:spcAft>
              <a:buSzPts val="15900"/>
              <a:buNone/>
              <a:defRPr sz="15900"/>
            </a:lvl2pPr>
            <a:lvl3pPr lvl="2" algn="ctr">
              <a:lnSpc>
                <a:spcPct val="100000"/>
              </a:lnSpc>
              <a:spcBef>
                <a:spcPts val="0"/>
              </a:spcBef>
              <a:spcAft>
                <a:spcPts val="0"/>
              </a:spcAft>
              <a:buSzPts val="15900"/>
              <a:buNone/>
              <a:defRPr sz="15900"/>
            </a:lvl3pPr>
            <a:lvl4pPr lvl="3" algn="ctr">
              <a:lnSpc>
                <a:spcPct val="100000"/>
              </a:lnSpc>
              <a:spcBef>
                <a:spcPts val="0"/>
              </a:spcBef>
              <a:spcAft>
                <a:spcPts val="0"/>
              </a:spcAft>
              <a:buSzPts val="15900"/>
              <a:buNone/>
              <a:defRPr sz="15900"/>
            </a:lvl4pPr>
            <a:lvl5pPr lvl="4" algn="ctr">
              <a:lnSpc>
                <a:spcPct val="100000"/>
              </a:lnSpc>
              <a:spcBef>
                <a:spcPts val="0"/>
              </a:spcBef>
              <a:spcAft>
                <a:spcPts val="0"/>
              </a:spcAft>
              <a:buSzPts val="15900"/>
              <a:buNone/>
              <a:defRPr sz="15900"/>
            </a:lvl5pPr>
            <a:lvl6pPr lvl="5" algn="ctr">
              <a:lnSpc>
                <a:spcPct val="100000"/>
              </a:lnSpc>
              <a:spcBef>
                <a:spcPts val="0"/>
              </a:spcBef>
              <a:spcAft>
                <a:spcPts val="0"/>
              </a:spcAft>
              <a:buSzPts val="15900"/>
              <a:buNone/>
              <a:defRPr sz="15900"/>
            </a:lvl6pPr>
            <a:lvl7pPr lvl="6" algn="ctr">
              <a:lnSpc>
                <a:spcPct val="100000"/>
              </a:lnSpc>
              <a:spcBef>
                <a:spcPts val="0"/>
              </a:spcBef>
              <a:spcAft>
                <a:spcPts val="0"/>
              </a:spcAft>
              <a:buSzPts val="15900"/>
              <a:buNone/>
              <a:defRPr sz="15900"/>
            </a:lvl7pPr>
            <a:lvl8pPr lvl="7" algn="ctr">
              <a:lnSpc>
                <a:spcPct val="100000"/>
              </a:lnSpc>
              <a:spcBef>
                <a:spcPts val="0"/>
              </a:spcBef>
              <a:spcAft>
                <a:spcPts val="0"/>
              </a:spcAft>
              <a:buSzPts val="15900"/>
              <a:buNone/>
              <a:defRPr sz="15900"/>
            </a:lvl8pPr>
            <a:lvl9pPr lvl="8" algn="ctr">
              <a:lnSpc>
                <a:spcPct val="100000"/>
              </a:lnSpc>
              <a:spcBef>
                <a:spcPts val="0"/>
              </a:spcBef>
              <a:spcAft>
                <a:spcPts val="0"/>
              </a:spcAft>
              <a:buSzPts val="15900"/>
              <a:buNone/>
              <a:defRPr sz="15900"/>
            </a:lvl9pPr>
          </a:lstStyle>
          <a:p/>
        </p:txBody>
      </p:sp>
      <p:sp>
        <p:nvSpPr>
          <p:cNvPr id="9" name="Google Shape;9;p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0" name="Shape 10"/>
        <p:cNvGrpSpPr/>
        <p:nvPr/>
      </p:nvGrpSpPr>
      <p:grpSpPr>
        <a:xfrm>
          <a:off x="0" y="0"/>
          <a:ext cx="0" cy="0"/>
          <a:chOff x="0" y="0"/>
          <a:chExt cx="0" cy="0"/>
        </a:xfrm>
      </p:grpSpPr>
      <p:sp>
        <p:nvSpPr>
          <p:cNvPr id="11" name="Google Shape;11;p3"/>
          <p:cNvSpPr txBox="1"/>
          <p:nvPr>
            <p:ph type="title"/>
          </p:nvPr>
        </p:nvSpPr>
        <p:spPr>
          <a:xfrm>
            <a:off x="1246800" y="17206800"/>
            <a:ext cx="34082400" cy="6734700"/>
          </a:xfrm>
          <a:prstGeom prst="rect">
            <a:avLst/>
          </a:prstGeom>
          <a:noFill/>
          <a:ln>
            <a:noFill/>
          </a:ln>
        </p:spPr>
        <p:txBody>
          <a:bodyPr anchorCtr="0" anchor="ctr" bIns="519950" lIns="519950" spcFirstLastPara="1" rIns="519950" wrap="square" tIns="519950"/>
          <a:lstStyle>
            <a:lvl1pPr lvl="0" algn="ctr">
              <a:spcBef>
                <a:spcPts val="0"/>
              </a:spcBef>
              <a:spcAft>
                <a:spcPts val="0"/>
              </a:spcAft>
              <a:buSzPts val="20500"/>
              <a:buChar char="●"/>
              <a:defRPr sz="20500"/>
            </a:lvl1pPr>
            <a:lvl2pPr lvl="1" algn="ctr">
              <a:spcBef>
                <a:spcPts val="0"/>
              </a:spcBef>
              <a:spcAft>
                <a:spcPts val="0"/>
              </a:spcAft>
              <a:buSzPts val="20500"/>
              <a:buChar char="○"/>
              <a:defRPr sz="20500"/>
            </a:lvl2pPr>
            <a:lvl3pPr lvl="2" algn="ctr">
              <a:spcBef>
                <a:spcPts val="0"/>
              </a:spcBef>
              <a:spcAft>
                <a:spcPts val="0"/>
              </a:spcAft>
              <a:buSzPts val="20500"/>
              <a:buChar char="■"/>
              <a:defRPr sz="20500"/>
            </a:lvl3pPr>
            <a:lvl4pPr lvl="3" algn="ctr">
              <a:spcBef>
                <a:spcPts val="0"/>
              </a:spcBef>
              <a:spcAft>
                <a:spcPts val="0"/>
              </a:spcAft>
              <a:buSzPts val="20500"/>
              <a:buChar char="●"/>
              <a:defRPr sz="20500"/>
            </a:lvl4pPr>
            <a:lvl5pPr lvl="4" algn="ctr">
              <a:spcBef>
                <a:spcPts val="0"/>
              </a:spcBef>
              <a:spcAft>
                <a:spcPts val="0"/>
              </a:spcAft>
              <a:buSzPts val="20500"/>
              <a:buChar char="○"/>
              <a:defRPr sz="20500"/>
            </a:lvl5pPr>
            <a:lvl6pPr lvl="5" algn="ctr">
              <a:spcBef>
                <a:spcPts val="0"/>
              </a:spcBef>
              <a:spcAft>
                <a:spcPts val="0"/>
              </a:spcAft>
              <a:buSzPts val="20500"/>
              <a:buChar char="■"/>
              <a:defRPr sz="20500"/>
            </a:lvl6pPr>
            <a:lvl7pPr lvl="6" algn="ctr">
              <a:spcBef>
                <a:spcPts val="0"/>
              </a:spcBef>
              <a:spcAft>
                <a:spcPts val="0"/>
              </a:spcAft>
              <a:buSzPts val="20500"/>
              <a:buChar char="●"/>
              <a:defRPr sz="20500"/>
            </a:lvl7pPr>
            <a:lvl8pPr lvl="7" algn="ctr">
              <a:spcBef>
                <a:spcPts val="0"/>
              </a:spcBef>
              <a:spcAft>
                <a:spcPts val="0"/>
              </a:spcAft>
              <a:buSzPts val="20500"/>
              <a:buChar char="○"/>
              <a:defRPr sz="20500"/>
            </a:lvl8pPr>
            <a:lvl9pPr lvl="8" algn="ctr">
              <a:spcBef>
                <a:spcPts val="0"/>
              </a:spcBef>
              <a:spcAft>
                <a:spcPts val="0"/>
              </a:spcAft>
              <a:buSzPts val="20500"/>
              <a:buChar char="■"/>
              <a:defRPr sz="20500"/>
            </a:lvl9pPr>
          </a:lstStyle>
          <a:p/>
        </p:txBody>
      </p:sp>
      <p:sp>
        <p:nvSpPr>
          <p:cNvPr id="12" name="Google Shape;12;p3"/>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3" name="Shape 13"/>
        <p:cNvGrpSpPr/>
        <p:nvPr/>
      </p:nvGrpSpPr>
      <p:grpSpPr>
        <a:xfrm>
          <a:off x="0" y="0"/>
          <a:ext cx="0" cy="0"/>
          <a:chOff x="0" y="0"/>
          <a:chExt cx="0" cy="0"/>
        </a:xfrm>
      </p:grpSpPr>
      <p:sp>
        <p:nvSpPr>
          <p:cNvPr id="14" name="Google Shape;14;p4"/>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15" name="Google Shape;15;p4"/>
          <p:cNvSpPr txBox="1"/>
          <p:nvPr>
            <p:ph idx="1" type="body"/>
          </p:nvPr>
        </p:nvSpPr>
        <p:spPr>
          <a:xfrm>
            <a:off x="1246800" y="9219800"/>
            <a:ext cx="340824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742950" lvl="1" marL="914400">
              <a:spcBef>
                <a:spcPts val="0"/>
              </a:spcBef>
              <a:spcAft>
                <a:spcPts val="0"/>
              </a:spcAft>
              <a:buSzPts val="8100"/>
              <a:buChar char="○"/>
              <a:defRPr sz="8100"/>
            </a:lvl2pPr>
            <a:lvl3pPr indent="-742950" lvl="2" marL="1371600">
              <a:spcBef>
                <a:spcPts val="0"/>
              </a:spcBef>
              <a:spcAft>
                <a:spcPts val="0"/>
              </a:spcAft>
              <a:buSzPts val="8100"/>
              <a:buChar char="■"/>
              <a:defRPr sz="8100"/>
            </a:lvl3pPr>
            <a:lvl4pPr indent="-742950" lvl="3" marL="1828800">
              <a:spcBef>
                <a:spcPts val="0"/>
              </a:spcBef>
              <a:spcAft>
                <a:spcPts val="0"/>
              </a:spcAft>
              <a:buSzPts val="8100"/>
              <a:buChar char="●"/>
              <a:defRPr sz="8100"/>
            </a:lvl4pPr>
            <a:lvl5pPr indent="-742950" lvl="4" marL="2286000">
              <a:spcBef>
                <a:spcPts val="0"/>
              </a:spcBef>
              <a:spcAft>
                <a:spcPts val="0"/>
              </a:spcAft>
              <a:buSzPts val="8100"/>
              <a:buChar char="○"/>
              <a:defRPr sz="8100"/>
            </a:lvl5pPr>
            <a:lvl6pPr indent="-742950" lvl="5" marL="2743200">
              <a:spcBef>
                <a:spcPts val="0"/>
              </a:spcBef>
              <a:spcAft>
                <a:spcPts val="0"/>
              </a:spcAft>
              <a:buSzPts val="8100"/>
              <a:buChar char="■"/>
              <a:defRPr sz="8100"/>
            </a:lvl6pPr>
            <a:lvl7pPr indent="-742950" lvl="6" marL="3200400">
              <a:spcBef>
                <a:spcPts val="0"/>
              </a:spcBef>
              <a:spcAft>
                <a:spcPts val="0"/>
              </a:spcAft>
              <a:buSzPts val="8100"/>
              <a:buChar char="●"/>
              <a:defRPr sz="8100"/>
            </a:lvl7pPr>
            <a:lvl8pPr indent="-742950" lvl="7" marL="3657600">
              <a:spcBef>
                <a:spcPts val="0"/>
              </a:spcBef>
              <a:spcAft>
                <a:spcPts val="0"/>
              </a:spcAft>
              <a:buSzPts val="8100"/>
              <a:buChar char="○"/>
              <a:defRPr sz="8100"/>
            </a:lvl8pPr>
            <a:lvl9pPr indent="-742950" lvl="8" marL="4114800">
              <a:spcBef>
                <a:spcPts val="0"/>
              </a:spcBef>
              <a:spcAft>
                <a:spcPts val="0"/>
              </a:spcAft>
              <a:buSzPts val="8100"/>
              <a:buChar char="■"/>
              <a:defRPr sz="8100"/>
            </a:lvl9pPr>
          </a:lstStyle>
          <a:p/>
        </p:txBody>
      </p:sp>
      <p:sp>
        <p:nvSpPr>
          <p:cNvPr id="16" name="Google Shape;16;p4"/>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17" name="Shape 17"/>
        <p:cNvGrpSpPr/>
        <p:nvPr/>
      </p:nvGrpSpPr>
      <p:grpSpPr>
        <a:xfrm>
          <a:off x="0" y="0"/>
          <a:ext cx="0" cy="0"/>
          <a:chOff x="0" y="0"/>
          <a:chExt cx="0" cy="0"/>
        </a:xfrm>
      </p:grpSpPr>
      <p:sp>
        <p:nvSpPr>
          <p:cNvPr id="18" name="Google Shape;18;p5"/>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19" name="Google Shape;19;p5"/>
          <p:cNvSpPr txBox="1"/>
          <p:nvPr>
            <p:ph idx="1" type="body"/>
          </p:nvPr>
        </p:nvSpPr>
        <p:spPr>
          <a:xfrm>
            <a:off x="1246800" y="9219800"/>
            <a:ext cx="159996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0" name="Google Shape;20;p5"/>
          <p:cNvSpPr txBox="1"/>
          <p:nvPr>
            <p:ph idx="2" type="body"/>
          </p:nvPr>
        </p:nvSpPr>
        <p:spPr>
          <a:xfrm>
            <a:off x="19329600" y="9219800"/>
            <a:ext cx="159996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1" name="Google Shape;21;p5"/>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2" name="Shape 22"/>
        <p:cNvGrpSpPr/>
        <p:nvPr/>
      </p:nvGrpSpPr>
      <p:grpSpPr>
        <a:xfrm>
          <a:off x="0" y="0"/>
          <a:ext cx="0" cy="0"/>
          <a:chOff x="0" y="0"/>
          <a:chExt cx="0" cy="0"/>
        </a:xfrm>
      </p:grpSpPr>
      <p:sp>
        <p:nvSpPr>
          <p:cNvPr id="23" name="Google Shape;23;p6"/>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24" name="Google Shape;24;p6"/>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5" name="Shape 25"/>
        <p:cNvGrpSpPr/>
        <p:nvPr/>
      </p:nvGrpSpPr>
      <p:grpSpPr>
        <a:xfrm>
          <a:off x="0" y="0"/>
          <a:ext cx="0" cy="0"/>
          <a:chOff x="0" y="0"/>
          <a:chExt cx="0" cy="0"/>
        </a:xfrm>
      </p:grpSpPr>
      <p:sp>
        <p:nvSpPr>
          <p:cNvPr id="26" name="Google Shape;26;p7"/>
          <p:cNvSpPr txBox="1"/>
          <p:nvPr>
            <p:ph type="title"/>
          </p:nvPr>
        </p:nvSpPr>
        <p:spPr>
          <a:xfrm>
            <a:off x="1246800" y="4444800"/>
            <a:ext cx="11232000" cy="6045900"/>
          </a:xfrm>
          <a:prstGeom prst="rect">
            <a:avLst/>
          </a:prstGeom>
          <a:noFill/>
          <a:ln>
            <a:noFill/>
          </a:ln>
        </p:spPr>
        <p:txBody>
          <a:bodyPr anchorCtr="0" anchor="b" bIns="519950" lIns="519950" spcFirstLastPara="1" rIns="519950" wrap="square" tIns="519950"/>
          <a:lstStyle>
            <a:lvl1pPr lvl="0">
              <a:spcBef>
                <a:spcPts val="0"/>
              </a:spcBef>
              <a:spcAft>
                <a:spcPts val="0"/>
              </a:spcAft>
              <a:buSzPts val="13600"/>
              <a:buChar char="●"/>
              <a:defRPr sz="13600"/>
            </a:lvl1pPr>
            <a:lvl2pPr lvl="1">
              <a:spcBef>
                <a:spcPts val="0"/>
              </a:spcBef>
              <a:spcAft>
                <a:spcPts val="0"/>
              </a:spcAft>
              <a:buSzPts val="13600"/>
              <a:buChar char="○"/>
              <a:defRPr sz="13600"/>
            </a:lvl2pPr>
            <a:lvl3pPr lvl="2">
              <a:spcBef>
                <a:spcPts val="0"/>
              </a:spcBef>
              <a:spcAft>
                <a:spcPts val="0"/>
              </a:spcAft>
              <a:buSzPts val="13600"/>
              <a:buChar char="■"/>
              <a:defRPr sz="13600"/>
            </a:lvl3pPr>
            <a:lvl4pPr lvl="3">
              <a:spcBef>
                <a:spcPts val="0"/>
              </a:spcBef>
              <a:spcAft>
                <a:spcPts val="0"/>
              </a:spcAft>
              <a:buSzPts val="13600"/>
              <a:buChar char="●"/>
              <a:defRPr sz="13600"/>
            </a:lvl4pPr>
            <a:lvl5pPr lvl="4">
              <a:spcBef>
                <a:spcPts val="0"/>
              </a:spcBef>
              <a:spcAft>
                <a:spcPts val="0"/>
              </a:spcAft>
              <a:buSzPts val="13600"/>
              <a:buChar char="○"/>
              <a:defRPr sz="13600"/>
            </a:lvl5pPr>
            <a:lvl6pPr lvl="5">
              <a:spcBef>
                <a:spcPts val="0"/>
              </a:spcBef>
              <a:spcAft>
                <a:spcPts val="0"/>
              </a:spcAft>
              <a:buSzPts val="13600"/>
              <a:buChar char="■"/>
              <a:defRPr sz="13600"/>
            </a:lvl6pPr>
            <a:lvl7pPr lvl="6">
              <a:spcBef>
                <a:spcPts val="0"/>
              </a:spcBef>
              <a:spcAft>
                <a:spcPts val="0"/>
              </a:spcAft>
              <a:buSzPts val="13600"/>
              <a:buChar char="●"/>
              <a:defRPr sz="13600"/>
            </a:lvl7pPr>
            <a:lvl8pPr lvl="7">
              <a:spcBef>
                <a:spcPts val="0"/>
              </a:spcBef>
              <a:spcAft>
                <a:spcPts val="0"/>
              </a:spcAft>
              <a:buSzPts val="13600"/>
              <a:buChar char="○"/>
              <a:defRPr sz="13600"/>
            </a:lvl8pPr>
            <a:lvl9pPr lvl="8">
              <a:spcBef>
                <a:spcPts val="0"/>
              </a:spcBef>
              <a:spcAft>
                <a:spcPts val="0"/>
              </a:spcAft>
              <a:buSzPts val="13600"/>
              <a:buChar char="■"/>
              <a:defRPr sz="13600"/>
            </a:lvl9pPr>
          </a:lstStyle>
          <a:p/>
        </p:txBody>
      </p:sp>
      <p:sp>
        <p:nvSpPr>
          <p:cNvPr id="27" name="Google Shape;27;p7"/>
          <p:cNvSpPr txBox="1"/>
          <p:nvPr>
            <p:ph idx="1" type="body"/>
          </p:nvPr>
        </p:nvSpPr>
        <p:spPr>
          <a:xfrm>
            <a:off x="1246800" y="11116800"/>
            <a:ext cx="11232000" cy="25435800"/>
          </a:xfrm>
          <a:prstGeom prst="rect">
            <a:avLst/>
          </a:prstGeom>
          <a:noFill/>
          <a:ln>
            <a:noFill/>
          </a:ln>
        </p:spPr>
        <p:txBody>
          <a:bodyPr anchorCtr="0" anchor="ctr" bIns="519950" lIns="519950" spcFirstLastPara="1" rIns="519950" wrap="square" tIns="519950"/>
          <a:lstStyle>
            <a:lvl1pPr indent="-660400" lvl="0" marL="457200">
              <a:spcBef>
                <a:spcPts val="0"/>
              </a:spcBef>
              <a:spcAft>
                <a:spcPts val="0"/>
              </a:spcAft>
              <a:buSzPts val="6800"/>
              <a:buChar char="●"/>
              <a:defRPr sz="68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8" name="Google Shape;28;p7"/>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29" name="Shape 29"/>
        <p:cNvGrpSpPr/>
        <p:nvPr/>
      </p:nvGrpSpPr>
      <p:grpSpPr>
        <a:xfrm>
          <a:off x="0" y="0"/>
          <a:ext cx="0" cy="0"/>
          <a:chOff x="0" y="0"/>
          <a:chExt cx="0" cy="0"/>
        </a:xfrm>
      </p:grpSpPr>
      <p:sp>
        <p:nvSpPr>
          <p:cNvPr id="30" name="Google Shape;30;p8"/>
          <p:cNvSpPr txBox="1"/>
          <p:nvPr>
            <p:ph type="title"/>
          </p:nvPr>
        </p:nvSpPr>
        <p:spPr>
          <a:xfrm>
            <a:off x="1961000" y="3601200"/>
            <a:ext cx="25471200" cy="32725800"/>
          </a:xfrm>
          <a:prstGeom prst="rect">
            <a:avLst/>
          </a:prstGeom>
          <a:noFill/>
          <a:ln>
            <a:noFill/>
          </a:ln>
        </p:spPr>
        <p:txBody>
          <a:bodyPr anchorCtr="0" anchor="ctr" bIns="519950" lIns="519950" spcFirstLastPara="1" rIns="519950" wrap="square" tIns="519950"/>
          <a:lstStyle>
            <a:lvl1pPr lvl="0">
              <a:spcBef>
                <a:spcPts val="0"/>
              </a:spcBef>
              <a:spcAft>
                <a:spcPts val="0"/>
              </a:spcAft>
              <a:buSzPts val="27300"/>
              <a:buChar char="●"/>
              <a:defRPr sz="27300"/>
            </a:lvl1pPr>
            <a:lvl2pPr lvl="1">
              <a:spcBef>
                <a:spcPts val="0"/>
              </a:spcBef>
              <a:spcAft>
                <a:spcPts val="0"/>
              </a:spcAft>
              <a:buSzPts val="27300"/>
              <a:buChar char="○"/>
              <a:defRPr sz="27300"/>
            </a:lvl2pPr>
            <a:lvl3pPr lvl="2">
              <a:spcBef>
                <a:spcPts val="0"/>
              </a:spcBef>
              <a:spcAft>
                <a:spcPts val="0"/>
              </a:spcAft>
              <a:buSzPts val="27300"/>
              <a:buChar char="■"/>
              <a:defRPr sz="27300"/>
            </a:lvl3pPr>
            <a:lvl4pPr lvl="3">
              <a:spcBef>
                <a:spcPts val="0"/>
              </a:spcBef>
              <a:spcAft>
                <a:spcPts val="0"/>
              </a:spcAft>
              <a:buSzPts val="27300"/>
              <a:buChar char="●"/>
              <a:defRPr sz="27300"/>
            </a:lvl4pPr>
            <a:lvl5pPr lvl="4">
              <a:spcBef>
                <a:spcPts val="0"/>
              </a:spcBef>
              <a:spcAft>
                <a:spcPts val="0"/>
              </a:spcAft>
              <a:buSzPts val="27300"/>
              <a:buChar char="○"/>
              <a:defRPr sz="27300"/>
            </a:lvl5pPr>
            <a:lvl6pPr lvl="5">
              <a:spcBef>
                <a:spcPts val="0"/>
              </a:spcBef>
              <a:spcAft>
                <a:spcPts val="0"/>
              </a:spcAft>
              <a:buSzPts val="27300"/>
              <a:buChar char="■"/>
              <a:defRPr sz="27300"/>
            </a:lvl6pPr>
            <a:lvl7pPr lvl="6">
              <a:spcBef>
                <a:spcPts val="0"/>
              </a:spcBef>
              <a:spcAft>
                <a:spcPts val="0"/>
              </a:spcAft>
              <a:buSzPts val="27300"/>
              <a:buChar char="●"/>
              <a:defRPr sz="27300"/>
            </a:lvl7pPr>
            <a:lvl8pPr lvl="7">
              <a:spcBef>
                <a:spcPts val="0"/>
              </a:spcBef>
              <a:spcAft>
                <a:spcPts val="0"/>
              </a:spcAft>
              <a:buSzPts val="27300"/>
              <a:buChar char="○"/>
              <a:defRPr sz="27300"/>
            </a:lvl8pPr>
            <a:lvl9pPr lvl="8">
              <a:spcBef>
                <a:spcPts val="0"/>
              </a:spcBef>
              <a:spcAft>
                <a:spcPts val="0"/>
              </a:spcAft>
              <a:buSzPts val="27300"/>
              <a:buChar char="■"/>
              <a:defRPr sz="27300"/>
            </a:lvl9pPr>
          </a:lstStyle>
          <a:p/>
        </p:txBody>
      </p:sp>
      <p:sp>
        <p:nvSpPr>
          <p:cNvPr id="31" name="Google Shape;31;p8"/>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2" name="Shape 32"/>
        <p:cNvGrpSpPr/>
        <p:nvPr/>
      </p:nvGrpSpPr>
      <p:grpSpPr>
        <a:xfrm>
          <a:off x="0" y="0"/>
          <a:ext cx="0" cy="0"/>
          <a:chOff x="0" y="0"/>
          <a:chExt cx="0" cy="0"/>
        </a:xfrm>
      </p:grpSpPr>
      <p:sp>
        <p:nvSpPr>
          <p:cNvPr id="33" name="Google Shape;33;p9"/>
          <p:cNvSpPr/>
          <p:nvPr/>
        </p:nvSpPr>
        <p:spPr>
          <a:xfrm>
            <a:off x="18288000" y="-1000"/>
            <a:ext cx="18288000" cy="41148000"/>
          </a:xfrm>
          <a:prstGeom prst="rect">
            <a:avLst/>
          </a:prstGeom>
          <a:solidFill>
            <a:schemeClr val="lt2"/>
          </a:solidFill>
          <a:ln>
            <a:noFill/>
          </a:ln>
        </p:spPr>
        <p:txBody>
          <a:bodyPr anchorCtr="0" anchor="ctr" bIns="519950" lIns="519950" spcFirstLastPara="1" rIns="519950" wrap="square" tIns="519950">
            <a:noAutofit/>
          </a:bodyPr>
          <a:lstStyle/>
          <a:p>
            <a:pPr indent="0" lvl="0" marL="0" rtl="0" algn="l">
              <a:spcBef>
                <a:spcPts val="0"/>
              </a:spcBef>
              <a:spcAft>
                <a:spcPts val="0"/>
              </a:spcAft>
              <a:buNone/>
            </a:pPr>
            <a:r>
              <a:t/>
            </a:r>
            <a:endParaRPr/>
          </a:p>
        </p:txBody>
      </p:sp>
      <p:sp>
        <p:nvSpPr>
          <p:cNvPr id="34" name="Google Shape;34;p9"/>
          <p:cNvSpPr txBox="1"/>
          <p:nvPr>
            <p:ph type="title"/>
          </p:nvPr>
        </p:nvSpPr>
        <p:spPr>
          <a:xfrm>
            <a:off x="1062000" y="9865400"/>
            <a:ext cx="16180800" cy="118584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24000"/>
              <a:buChar char="●"/>
              <a:defRPr sz="24000"/>
            </a:lvl1pPr>
            <a:lvl2pPr lvl="1" algn="ctr">
              <a:spcBef>
                <a:spcPts val="0"/>
              </a:spcBef>
              <a:spcAft>
                <a:spcPts val="0"/>
              </a:spcAft>
              <a:buSzPts val="24000"/>
              <a:buChar char="○"/>
              <a:defRPr sz="24000"/>
            </a:lvl2pPr>
            <a:lvl3pPr lvl="2" algn="ctr">
              <a:spcBef>
                <a:spcPts val="0"/>
              </a:spcBef>
              <a:spcAft>
                <a:spcPts val="0"/>
              </a:spcAft>
              <a:buSzPts val="24000"/>
              <a:buChar char="■"/>
              <a:defRPr sz="24000"/>
            </a:lvl3pPr>
            <a:lvl4pPr lvl="3" algn="ctr">
              <a:spcBef>
                <a:spcPts val="0"/>
              </a:spcBef>
              <a:spcAft>
                <a:spcPts val="0"/>
              </a:spcAft>
              <a:buSzPts val="24000"/>
              <a:buChar char="●"/>
              <a:defRPr sz="24000"/>
            </a:lvl4pPr>
            <a:lvl5pPr lvl="4" algn="ctr">
              <a:spcBef>
                <a:spcPts val="0"/>
              </a:spcBef>
              <a:spcAft>
                <a:spcPts val="0"/>
              </a:spcAft>
              <a:buSzPts val="24000"/>
              <a:buChar char="○"/>
              <a:defRPr sz="24000"/>
            </a:lvl5pPr>
            <a:lvl6pPr lvl="5" algn="ctr">
              <a:spcBef>
                <a:spcPts val="0"/>
              </a:spcBef>
              <a:spcAft>
                <a:spcPts val="0"/>
              </a:spcAft>
              <a:buSzPts val="24000"/>
              <a:buChar char="■"/>
              <a:defRPr sz="24000"/>
            </a:lvl6pPr>
            <a:lvl7pPr lvl="6" algn="ctr">
              <a:spcBef>
                <a:spcPts val="0"/>
              </a:spcBef>
              <a:spcAft>
                <a:spcPts val="0"/>
              </a:spcAft>
              <a:buSzPts val="24000"/>
              <a:buChar char="●"/>
              <a:defRPr sz="24000"/>
            </a:lvl7pPr>
            <a:lvl8pPr lvl="7" algn="ctr">
              <a:spcBef>
                <a:spcPts val="0"/>
              </a:spcBef>
              <a:spcAft>
                <a:spcPts val="0"/>
              </a:spcAft>
              <a:buSzPts val="24000"/>
              <a:buChar char="○"/>
              <a:defRPr sz="24000"/>
            </a:lvl8pPr>
            <a:lvl9pPr lvl="8" algn="ctr">
              <a:spcBef>
                <a:spcPts val="0"/>
              </a:spcBef>
              <a:spcAft>
                <a:spcPts val="0"/>
              </a:spcAft>
              <a:buSzPts val="24000"/>
              <a:buChar char="■"/>
              <a:defRPr sz="24000"/>
            </a:lvl9pPr>
          </a:lstStyle>
          <a:p/>
        </p:txBody>
      </p:sp>
      <p:sp>
        <p:nvSpPr>
          <p:cNvPr id="35" name="Google Shape;35;p9"/>
          <p:cNvSpPr txBox="1"/>
          <p:nvPr>
            <p:ph idx="1" type="subTitle"/>
          </p:nvPr>
        </p:nvSpPr>
        <p:spPr>
          <a:xfrm>
            <a:off x="1062000" y="22424600"/>
            <a:ext cx="16180800" cy="9880200"/>
          </a:xfrm>
          <a:prstGeom prst="rect">
            <a:avLst/>
          </a:prstGeom>
          <a:noFill/>
          <a:ln>
            <a:noFill/>
          </a:ln>
        </p:spPr>
        <p:txBody>
          <a:bodyPr anchorCtr="0" anchor="ctr" bIns="519950" lIns="519950" spcFirstLastPara="1" rIns="519950" wrap="square" tIns="519950"/>
          <a:lstStyle>
            <a:lvl1pPr lvl="0" algn="ctr">
              <a:lnSpc>
                <a:spcPct val="100000"/>
              </a:lnSpc>
              <a:spcBef>
                <a:spcPts val="0"/>
              </a:spcBef>
              <a:spcAft>
                <a:spcPts val="0"/>
              </a:spcAft>
              <a:buSzPts val="11900"/>
              <a:buNone/>
              <a:defRPr sz="11900"/>
            </a:lvl1pPr>
            <a:lvl2pPr lvl="1" algn="ctr">
              <a:lnSpc>
                <a:spcPct val="100000"/>
              </a:lnSpc>
              <a:spcBef>
                <a:spcPts val="0"/>
              </a:spcBef>
              <a:spcAft>
                <a:spcPts val="0"/>
              </a:spcAft>
              <a:buSzPts val="11900"/>
              <a:buNone/>
              <a:defRPr sz="11900"/>
            </a:lvl2pPr>
            <a:lvl3pPr lvl="2" algn="ctr">
              <a:lnSpc>
                <a:spcPct val="100000"/>
              </a:lnSpc>
              <a:spcBef>
                <a:spcPts val="0"/>
              </a:spcBef>
              <a:spcAft>
                <a:spcPts val="0"/>
              </a:spcAft>
              <a:buSzPts val="11900"/>
              <a:buNone/>
              <a:defRPr sz="11900"/>
            </a:lvl3pPr>
            <a:lvl4pPr lvl="3" algn="ctr">
              <a:lnSpc>
                <a:spcPct val="100000"/>
              </a:lnSpc>
              <a:spcBef>
                <a:spcPts val="0"/>
              </a:spcBef>
              <a:spcAft>
                <a:spcPts val="0"/>
              </a:spcAft>
              <a:buSzPts val="11900"/>
              <a:buNone/>
              <a:defRPr sz="11900"/>
            </a:lvl4pPr>
            <a:lvl5pPr lvl="4" algn="ctr">
              <a:lnSpc>
                <a:spcPct val="100000"/>
              </a:lnSpc>
              <a:spcBef>
                <a:spcPts val="0"/>
              </a:spcBef>
              <a:spcAft>
                <a:spcPts val="0"/>
              </a:spcAft>
              <a:buSzPts val="11900"/>
              <a:buNone/>
              <a:defRPr sz="11900"/>
            </a:lvl5pPr>
            <a:lvl6pPr lvl="5" algn="ctr">
              <a:lnSpc>
                <a:spcPct val="100000"/>
              </a:lnSpc>
              <a:spcBef>
                <a:spcPts val="0"/>
              </a:spcBef>
              <a:spcAft>
                <a:spcPts val="0"/>
              </a:spcAft>
              <a:buSzPts val="11900"/>
              <a:buNone/>
              <a:defRPr sz="11900"/>
            </a:lvl6pPr>
            <a:lvl7pPr lvl="6" algn="ctr">
              <a:lnSpc>
                <a:spcPct val="100000"/>
              </a:lnSpc>
              <a:spcBef>
                <a:spcPts val="0"/>
              </a:spcBef>
              <a:spcAft>
                <a:spcPts val="0"/>
              </a:spcAft>
              <a:buSzPts val="11900"/>
              <a:buNone/>
              <a:defRPr sz="11900"/>
            </a:lvl7pPr>
            <a:lvl8pPr lvl="7" algn="ctr">
              <a:lnSpc>
                <a:spcPct val="100000"/>
              </a:lnSpc>
              <a:spcBef>
                <a:spcPts val="0"/>
              </a:spcBef>
              <a:spcAft>
                <a:spcPts val="0"/>
              </a:spcAft>
              <a:buSzPts val="11900"/>
              <a:buNone/>
              <a:defRPr sz="11900"/>
            </a:lvl8pPr>
            <a:lvl9pPr lvl="8" algn="ctr">
              <a:lnSpc>
                <a:spcPct val="100000"/>
              </a:lnSpc>
              <a:spcBef>
                <a:spcPts val="0"/>
              </a:spcBef>
              <a:spcAft>
                <a:spcPts val="0"/>
              </a:spcAft>
              <a:buSzPts val="11900"/>
              <a:buNone/>
              <a:defRPr sz="11900"/>
            </a:lvl9pPr>
          </a:lstStyle>
          <a:p/>
        </p:txBody>
      </p:sp>
      <p:sp>
        <p:nvSpPr>
          <p:cNvPr id="36" name="Google Shape;36;p9"/>
          <p:cNvSpPr txBox="1"/>
          <p:nvPr>
            <p:ph idx="2" type="body"/>
          </p:nvPr>
        </p:nvSpPr>
        <p:spPr>
          <a:xfrm>
            <a:off x="19758000" y="5792600"/>
            <a:ext cx="15347700" cy="295617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742950" lvl="1" marL="914400">
              <a:spcBef>
                <a:spcPts val="0"/>
              </a:spcBef>
              <a:spcAft>
                <a:spcPts val="0"/>
              </a:spcAft>
              <a:buSzPts val="8100"/>
              <a:buChar char="○"/>
              <a:defRPr sz="8100"/>
            </a:lvl2pPr>
            <a:lvl3pPr indent="-742950" lvl="2" marL="1371600">
              <a:spcBef>
                <a:spcPts val="0"/>
              </a:spcBef>
              <a:spcAft>
                <a:spcPts val="0"/>
              </a:spcAft>
              <a:buSzPts val="8100"/>
              <a:buChar char="■"/>
              <a:defRPr sz="8100"/>
            </a:lvl3pPr>
            <a:lvl4pPr indent="-742950" lvl="3" marL="1828800">
              <a:spcBef>
                <a:spcPts val="0"/>
              </a:spcBef>
              <a:spcAft>
                <a:spcPts val="0"/>
              </a:spcAft>
              <a:buSzPts val="8100"/>
              <a:buChar char="●"/>
              <a:defRPr sz="8100"/>
            </a:lvl4pPr>
            <a:lvl5pPr indent="-742950" lvl="4" marL="2286000">
              <a:spcBef>
                <a:spcPts val="0"/>
              </a:spcBef>
              <a:spcAft>
                <a:spcPts val="0"/>
              </a:spcAft>
              <a:buSzPts val="8100"/>
              <a:buChar char="○"/>
              <a:defRPr sz="8100"/>
            </a:lvl5pPr>
            <a:lvl6pPr indent="-742950" lvl="5" marL="2743200">
              <a:spcBef>
                <a:spcPts val="0"/>
              </a:spcBef>
              <a:spcAft>
                <a:spcPts val="0"/>
              </a:spcAft>
              <a:buSzPts val="8100"/>
              <a:buChar char="■"/>
              <a:defRPr sz="8100"/>
            </a:lvl6pPr>
            <a:lvl7pPr indent="-742950" lvl="6" marL="3200400">
              <a:spcBef>
                <a:spcPts val="0"/>
              </a:spcBef>
              <a:spcAft>
                <a:spcPts val="0"/>
              </a:spcAft>
              <a:buSzPts val="8100"/>
              <a:buChar char="●"/>
              <a:defRPr sz="8100"/>
            </a:lvl7pPr>
            <a:lvl8pPr indent="-742950" lvl="7" marL="3657600">
              <a:spcBef>
                <a:spcPts val="0"/>
              </a:spcBef>
              <a:spcAft>
                <a:spcPts val="0"/>
              </a:spcAft>
              <a:buSzPts val="8100"/>
              <a:buChar char="○"/>
              <a:defRPr sz="8100"/>
            </a:lvl8pPr>
            <a:lvl9pPr indent="-742950" lvl="8" marL="4114800">
              <a:spcBef>
                <a:spcPts val="0"/>
              </a:spcBef>
              <a:spcAft>
                <a:spcPts val="0"/>
              </a:spcAft>
              <a:buSzPts val="8100"/>
              <a:buChar char="■"/>
              <a:defRPr sz="8100"/>
            </a:lvl9pPr>
          </a:lstStyle>
          <a:p/>
        </p:txBody>
      </p:sp>
      <p:sp>
        <p:nvSpPr>
          <p:cNvPr id="37" name="Google Shape;37;p9"/>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38" name="Shape 38"/>
        <p:cNvGrpSpPr/>
        <p:nvPr/>
      </p:nvGrpSpPr>
      <p:grpSpPr>
        <a:xfrm>
          <a:off x="0" y="0"/>
          <a:ext cx="0" cy="0"/>
          <a:chOff x="0" y="0"/>
          <a:chExt cx="0" cy="0"/>
        </a:xfrm>
      </p:grpSpPr>
      <p:sp>
        <p:nvSpPr>
          <p:cNvPr id="39" name="Google Shape;39;p10"/>
          <p:cNvSpPr txBox="1"/>
          <p:nvPr>
            <p:ph idx="1" type="body"/>
          </p:nvPr>
        </p:nvSpPr>
        <p:spPr>
          <a:xfrm>
            <a:off x="1246800" y="33844600"/>
            <a:ext cx="23995200" cy="4840500"/>
          </a:xfrm>
          <a:prstGeom prst="rect">
            <a:avLst/>
          </a:prstGeom>
          <a:noFill/>
          <a:ln>
            <a:noFill/>
          </a:ln>
        </p:spPr>
        <p:txBody>
          <a:bodyPr anchorCtr="0" anchor="ctr" bIns="519950" lIns="519950" spcFirstLastPara="1" rIns="519950" wrap="square" tIns="519950"/>
          <a:lstStyle>
            <a:lvl1pPr indent="-228600" lvl="0" marL="457200">
              <a:lnSpc>
                <a:spcPct val="100000"/>
              </a:lnSpc>
              <a:spcBef>
                <a:spcPts val="0"/>
              </a:spcBef>
              <a:spcAft>
                <a:spcPts val="0"/>
              </a:spcAft>
              <a:buSzPts val="8100"/>
              <a:buNone/>
              <a:defRPr sz="8100"/>
            </a:lvl1pPr>
          </a:lstStyle>
          <a:p/>
        </p:txBody>
      </p:sp>
      <p:sp>
        <p:nvSpPr>
          <p:cNvPr id="40" name="Google Shape;40;p10"/>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1" name="Shape 41"/>
        <p:cNvGrpSpPr/>
        <p:nvPr/>
      </p:nvGrpSpPr>
      <p:grpSpPr>
        <a:xfrm>
          <a:off x="0" y="0"/>
          <a:ext cx="0" cy="0"/>
          <a:chOff x="0" y="0"/>
          <a:chExt cx="0" cy="0"/>
        </a:xfrm>
      </p:grpSpPr>
      <p:sp>
        <p:nvSpPr>
          <p:cNvPr id="42" name="Google Shape;42;p11"/>
          <p:cNvSpPr txBox="1"/>
          <p:nvPr>
            <p:ph hasCustomPrompt="1" type="title"/>
          </p:nvPr>
        </p:nvSpPr>
        <p:spPr>
          <a:xfrm>
            <a:off x="1246800" y="8849000"/>
            <a:ext cx="34082400" cy="157074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68200"/>
              <a:buChar char="●"/>
              <a:defRPr sz="68200"/>
            </a:lvl1pPr>
            <a:lvl2pPr lvl="1" algn="ctr">
              <a:spcBef>
                <a:spcPts val="0"/>
              </a:spcBef>
              <a:spcAft>
                <a:spcPts val="0"/>
              </a:spcAft>
              <a:buSzPts val="68200"/>
              <a:buChar char="○"/>
              <a:defRPr sz="68200"/>
            </a:lvl2pPr>
            <a:lvl3pPr lvl="2" algn="ctr">
              <a:spcBef>
                <a:spcPts val="0"/>
              </a:spcBef>
              <a:spcAft>
                <a:spcPts val="0"/>
              </a:spcAft>
              <a:buSzPts val="68200"/>
              <a:buChar char="■"/>
              <a:defRPr sz="68200"/>
            </a:lvl3pPr>
            <a:lvl4pPr lvl="3" algn="ctr">
              <a:spcBef>
                <a:spcPts val="0"/>
              </a:spcBef>
              <a:spcAft>
                <a:spcPts val="0"/>
              </a:spcAft>
              <a:buSzPts val="68200"/>
              <a:buChar char="●"/>
              <a:defRPr sz="68200"/>
            </a:lvl4pPr>
            <a:lvl5pPr lvl="4" algn="ctr">
              <a:spcBef>
                <a:spcPts val="0"/>
              </a:spcBef>
              <a:spcAft>
                <a:spcPts val="0"/>
              </a:spcAft>
              <a:buSzPts val="68200"/>
              <a:buChar char="○"/>
              <a:defRPr sz="68200"/>
            </a:lvl5pPr>
            <a:lvl6pPr lvl="5" algn="ctr">
              <a:spcBef>
                <a:spcPts val="0"/>
              </a:spcBef>
              <a:spcAft>
                <a:spcPts val="0"/>
              </a:spcAft>
              <a:buSzPts val="68200"/>
              <a:buChar char="■"/>
              <a:defRPr sz="68200"/>
            </a:lvl6pPr>
            <a:lvl7pPr lvl="6" algn="ctr">
              <a:spcBef>
                <a:spcPts val="0"/>
              </a:spcBef>
              <a:spcAft>
                <a:spcPts val="0"/>
              </a:spcAft>
              <a:buSzPts val="68200"/>
              <a:buChar char="●"/>
              <a:defRPr sz="68200"/>
            </a:lvl7pPr>
            <a:lvl8pPr lvl="7" algn="ctr">
              <a:spcBef>
                <a:spcPts val="0"/>
              </a:spcBef>
              <a:spcAft>
                <a:spcPts val="0"/>
              </a:spcAft>
              <a:buSzPts val="68200"/>
              <a:buChar char="○"/>
              <a:defRPr sz="68200"/>
            </a:lvl8pPr>
            <a:lvl9pPr lvl="8" algn="ctr">
              <a:spcBef>
                <a:spcPts val="0"/>
              </a:spcBef>
              <a:spcAft>
                <a:spcPts val="0"/>
              </a:spcAft>
              <a:buSzPts val="68200"/>
              <a:buChar char="■"/>
              <a:defRPr sz="68200"/>
            </a:lvl9pPr>
          </a:lstStyle>
          <a:p>
            <a:r>
              <a:t>xx%</a:t>
            </a:r>
          </a:p>
        </p:txBody>
      </p:sp>
      <p:sp>
        <p:nvSpPr>
          <p:cNvPr id="43" name="Google Shape;43;p11"/>
          <p:cNvSpPr txBox="1"/>
          <p:nvPr>
            <p:ph idx="1" type="body"/>
          </p:nvPr>
        </p:nvSpPr>
        <p:spPr>
          <a:xfrm>
            <a:off x="1246800" y="25217800"/>
            <a:ext cx="34082400" cy="10407000"/>
          </a:xfrm>
          <a:prstGeom prst="rect">
            <a:avLst/>
          </a:prstGeom>
          <a:noFill/>
          <a:ln>
            <a:noFill/>
          </a:ln>
        </p:spPr>
        <p:txBody>
          <a:bodyPr anchorCtr="0" anchor="ctr" bIns="519950" lIns="519950" spcFirstLastPara="1" rIns="519950" wrap="square" tIns="519950"/>
          <a:lstStyle>
            <a:lvl1pPr indent="-742950" lvl="0" marL="457200" algn="ctr">
              <a:spcBef>
                <a:spcPts val="0"/>
              </a:spcBef>
              <a:spcAft>
                <a:spcPts val="0"/>
              </a:spcAft>
              <a:buSzPts val="8100"/>
              <a:buChar char="●"/>
              <a:defRPr sz="8100"/>
            </a:lvl1pPr>
            <a:lvl2pPr indent="-742950" lvl="1" marL="914400" algn="ctr">
              <a:spcBef>
                <a:spcPts val="0"/>
              </a:spcBef>
              <a:spcAft>
                <a:spcPts val="0"/>
              </a:spcAft>
              <a:buSzPts val="8100"/>
              <a:buChar char="○"/>
              <a:defRPr sz="8100"/>
            </a:lvl2pPr>
            <a:lvl3pPr indent="-742950" lvl="2" marL="1371600" algn="ctr">
              <a:spcBef>
                <a:spcPts val="0"/>
              </a:spcBef>
              <a:spcAft>
                <a:spcPts val="0"/>
              </a:spcAft>
              <a:buSzPts val="8100"/>
              <a:buChar char="■"/>
              <a:defRPr sz="8100"/>
            </a:lvl3pPr>
            <a:lvl4pPr indent="-742950" lvl="3" marL="1828800" algn="ctr">
              <a:spcBef>
                <a:spcPts val="0"/>
              </a:spcBef>
              <a:spcAft>
                <a:spcPts val="0"/>
              </a:spcAft>
              <a:buSzPts val="8100"/>
              <a:buChar char="●"/>
              <a:defRPr sz="8100"/>
            </a:lvl4pPr>
            <a:lvl5pPr indent="-742950" lvl="4" marL="2286000" algn="ctr">
              <a:spcBef>
                <a:spcPts val="0"/>
              </a:spcBef>
              <a:spcAft>
                <a:spcPts val="0"/>
              </a:spcAft>
              <a:buSzPts val="8100"/>
              <a:buChar char="○"/>
              <a:defRPr sz="8100"/>
            </a:lvl5pPr>
            <a:lvl6pPr indent="-742950" lvl="5" marL="2743200" algn="ctr">
              <a:spcBef>
                <a:spcPts val="0"/>
              </a:spcBef>
              <a:spcAft>
                <a:spcPts val="0"/>
              </a:spcAft>
              <a:buSzPts val="8100"/>
              <a:buChar char="■"/>
              <a:defRPr sz="8100"/>
            </a:lvl6pPr>
            <a:lvl7pPr indent="-742950" lvl="6" marL="3200400" algn="ctr">
              <a:spcBef>
                <a:spcPts val="0"/>
              </a:spcBef>
              <a:spcAft>
                <a:spcPts val="0"/>
              </a:spcAft>
              <a:buSzPts val="8100"/>
              <a:buChar char="●"/>
              <a:defRPr sz="8100"/>
            </a:lvl7pPr>
            <a:lvl8pPr indent="-742950" lvl="7" marL="3657600" algn="ctr">
              <a:spcBef>
                <a:spcPts val="0"/>
              </a:spcBef>
              <a:spcAft>
                <a:spcPts val="0"/>
              </a:spcAft>
              <a:buSzPts val="8100"/>
              <a:buChar char="○"/>
              <a:defRPr sz="8100"/>
            </a:lvl8pPr>
            <a:lvl9pPr indent="-742950" lvl="8" marL="4114800" algn="ctr">
              <a:spcBef>
                <a:spcPts val="0"/>
              </a:spcBef>
              <a:spcAft>
                <a:spcPts val="0"/>
              </a:spcAft>
              <a:buSzPts val="8100"/>
              <a:buChar char="■"/>
              <a:defRPr sz="8100"/>
            </a:lvl9pPr>
          </a:lstStyle>
          <a:p/>
        </p:txBody>
      </p:sp>
      <p:sp>
        <p:nvSpPr>
          <p:cNvPr id="44" name="Google Shape;44;p11"/>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5" name="Shape 45"/>
        <p:cNvGrpSpPr/>
        <p:nvPr/>
      </p:nvGrpSpPr>
      <p:grpSpPr>
        <a:xfrm>
          <a:off x="0" y="0"/>
          <a:ext cx="0" cy="0"/>
          <a:chOff x="0" y="0"/>
          <a:chExt cx="0" cy="0"/>
        </a:xfrm>
      </p:grpSpPr>
      <p:sp>
        <p:nvSpPr>
          <p:cNvPr id="46" name="Google Shape;46;p1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hyperlink" Target="http://bit.ly/21nPzoE" TargetMode="External"/><Relationship Id="rId9" Type="http://schemas.openxmlformats.org/officeDocument/2006/relationships/image" Target="../media/image5.png"/><Relationship Id="rId5" Type="http://schemas.openxmlformats.org/officeDocument/2006/relationships/image" Target="../media/image3.jpg"/><Relationship Id="rId6" Type="http://schemas.openxmlformats.org/officeDocument/2006/relationships/image" Target="../media/image6.png"/><Relationship Id="rId7" Type="http://schemas.openxmlformats.org/officeDocument/2006/relationships/image" Target="../media/image4.png"/><Relationship Id="rId8" Type="http://schemas.openxmlformats.org/officeDocument/2006/relationships/hyperlink" Target="http://www.bls.gov/data/inflation_calculator.ht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0" name="Shape 50"/>
        <p:cNvGrpSpPr/>
        <p:nvPr/>
      </p:nvGrpSpPr>
      <p:grpSpPr>
        <a:xfrm>
          <a:off x="0" y="0"/>
          <a:ext cx="0" cy="0"/>
          <a:chOff x="0" y="0"/>
          <a:chExt cx="0" cy="0"/>
        </a:xfrm>
      </p:grpSpPr>
      <p:pic>
        <p:nvPicPr>
          <p:cNvPr id="51" name="Google Shape;51;p13"/>
          <p:cNvPicPr preferRelativeResize="0"/>
          <p:nvPr/>
        </p:nvPicPr>
        <p:blipFill rotWithShape="1">
          <a:blip r:embed="rId3">
            <a:alphaModFix/>
          </a:blip>
          <a:srcRect b="0" l="930" r="-929" t="0"/>
          <a:stretch/>
        </p:blipFill>
        <p:spPr>
          <a:xfrm>
            <a:off x="18084038" y="21322763"/>
            <a:ext cx="10535117" cy="7227000"/>
          </a:xfrm>
          <a:prstGeom prst="rect">
            <a:avLst/>
          </a:prstGeom>
          <a:noFill/>
          <a:ln>
            <a:noFill/>
          </a:ln>
        </p:spPr>
      </p:pic>
      <p:sp>
        <p:nvSpPr>
          <p:cNvPr id="52" name="Google Shape;52;p13"/>
          <p:cNvSpPr txBox="1"/>
          <p:nvPr/>
        </p:nvSpPr>
        <p:spPr>
          <a:xfrm>
            <a:off x="8270725" y="20125"/>
            <a:ext cx="26945400" cy="3019200"/>
          </a:xfrm>
          <a:prstGeom prst="rect">
            <a:avLst/>
          </a:prstGeom>
          <a:noFill/>
          <a:ln>
            <a:noFill/>
          </a:ln>
        </p:spPr>
        <p:txBody>
          <a:bodyPr anchorCtr="0" anchor="ctr" bIns="156150" lIns="312475" spcFirstLastPara="1" rIns="312475" wrap="square" tIns="156150">
            <a:noAutofit/>
          </a:bodyPr>
          <a:lstStyle/>
          <a:p>
            <a:pPr indent="0" lvl="0" marL="0" marR="0" rtl="0" algn="l">
              <a:spcBef>
                <a:spcPts val="0"/>
              </a:spcBef>
              <a:spcAft>
                <a:spcPts val="0"/>
              </a:spcAft>
              <a:buNone/>
            </a:pPr>
            <a:r>
              <a:rPr b="1" lang="en" sz="9600">
                <a:solidFill>
                  <a:srgbClr val="141F22"/>
                </a:solidFill>
                <a:latin typeface="Barlow Condensed"/>
                <a:ea typeface="Barlow Condensed"/>
                <a:cs typeface="Barlow Condensed"/>
                <a:sym typeface="Barlow Condensed"/>
              </a:rPr>
              <a:t>Evaluating the Impact of the Arlington Restaurant Initiative on Alcohol-Related Crimes in Clarendon</a:t>
            </a:r>
            <a:endParaRPr b="1" sz="9600">
              <a:solidFill>
                <a:srgbClr val="141F22"/>
              </a:solidFill>
              <a:latin typeface="Barlow Condensed"/>
              <a:ea typeface="Barlow Condensed"/>
              <a:cs typeface="Barlow Condensed"/>
              <a:sym typeface="Barlow Condensed"/>
            </a:endParaRPr>
          </a:p>
        </p:txBody>
      </p:sp>
      <p:sp>
        <p:nvSpPr>
          <p:cNvPr id="53" name="Google Shape;53;p13"/>
          <p:cNvSpPr txBox="1"/>
          <p:nvPr/>
        </p:nvSpPr>
        <p:spPr>
          <a:xfrm>
            <a:off x="8038525" y="3039425"/>
            <a:ext cx="28028400" cy="697800"/>
          </a:xfrm>
          <a:prstGeom prst="rect">
            <a:avLst/>
          </a:prstGeom>
          <a:noFill/>
          <a:ln>
            <a:noFill/>
          </a:ln>
        </p:spPr>
        <p:txBody>
          <a:bodyPr anchorCtr="0" anchor="t" bIns="156150" lIns="312475" spcFirstLastPara="1" rIns="312475" wrap="square" tIns="156150">
            <a:noAutofit/>
          </a:bodyPr>
          <a:lstStyle/>
          <a:p>
            <a:pPr indent="0" lvl="0" marL="0" marR="0" rtl="0" algn="l">
              <a:spcBef>
                <a:spcPts val="0"/>
              </a:spcBef>
              <a:spcAft>
                <a:spcPts val="0"/>
              </a:spcAft>
              <a:buNone/>
            </a:pPr>
            <a:r>
              <a:rPr i="1" lang="en" sz="4800">
                <a:solidFill>
                  <a:srgbClr val="141F22"/>
                </a:solidFill>
                <a:latin typeface="Barlow Condensed"/>
                <a:ea typeface="Barlow Condensed"/>
                <a:cs typeface="Barlow Condensed"/>
                <a:sym typeface="Barlow Condensed"/>
              </a:rPr>
              <a:t>Alexa Nosal (VT), Kelsey McMahon (VT), Megan Grondine (VT), Hannah Brinkley (VT) , and Bayoán Santiago Calderón (CGU) </a:t>
            </a:r>
            <a:endParaRPr i="1" sz="4800">
              <a:solidFill>
                <a:srgbClr val="141F22"/>
              </a:solidFill>
              <a:latin typeface="Barlow Condensed"/>
              <a:ea typeface="Barlow Condensed"/>
              <a:cs typeface="Barlow Condensed"/>
              <a:sym typeface="Barlow Condensed"/>
            </a:endParaRPr>
          </a:p>
          <a:p>
            <a:pPr indent="0" lvl="0" marL="0" marR="0" rtl="0" algn="l">
              <a:spcBef>
                <a:spcPts val="0"/>
              </a:spcBef>
              <a:spcAft>
                <a:spcPts val="0"/>
              </a:spcAft>
              <a:buNone/>
            </a:pPr>
            <a:r>
              <a:rPr i="1" lang="en" sz="3600">
                <a:solidFill>
                  <a:srgbClr val="141F22"/>
                </a:solidFill>
                <a:latin typeface="Barlow Condensed"/>
                <a:ea typeface="Barlow Condensed"/>
                <a:cs typeface="Barlow Condensed"/>
                <a:sym typeface="Barlow Condensed"/>
              </a:rPr>
              <a:t>SDAL: </a:t>
            </a:r>
            <a:r>
              <a:rPr i="1" lang="en" sz="3600">
                <a:solidFill>
                  <a:srgbClr val="141F22"/>
                </a:solidFill>
                <a:latin typeface="Barlow Condensed"/>
                <a:ea typeface="Barlow Condensed"/>
                <a:cs typeface="Barlow Condensed"/>
                <a:sym typeface="Barlow Condensed"/>
              </a:rPr>
              <a:t>Gizem Korkmaz and Aaron Schroeder</a:t>
            </a:r>
            <a:endParaRPr i="1"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None/>
            </a:pPr>
            <a:r>
              <a:rPr i="1" lang="en" sz="3600">
                <a:solidFill>
                  <a:srgbClr val="141F22"/>
                </a:solidFill>
                <a:latin typeface="Barlow Condensed"/>
                <a:ea typeface="Barlow Condensed"/>
                <a:cs typeface="Barlow Condensed"/>
                <a:sym typeface="Barlow Condensed"/>
              </a:rPr>
              <a:t>Sponsors: Jim Mastoras, Arlington County Police Departme</a:t>
            </a:r>
            <a:r>
              <a:rPr i="1" lang="en" sz="3600">
                <a:solidFill>
                  <a:srgbClr val="141F22"/>
                </a:solidFill>
                <a:latin typeface="Barlow Condensed"/>
                <a:ea typeface="Barlow Condensed"/>
                <a:cs typeface="Barlow Condensed"/>
                <a:sym typeface="Barlow Condensed"/>
              </a:rPr>
              <a:t>nt; and the Virginia Tech Center for Peace Studies and Violence Prevention (CPSVP) </a:t>
            </a:r>
            <a:endParaRPr i="1"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None/>
            </a:pPr>
            <a:r>
              <a:t/>
            </a:r>
            <a:endParaRPr i="1" sz="3600">
              <a:solidFill>
                <a:srgbClr val="141F22"/>
              </a:solidFill>
              <a:latin typeface="Barlow Condensed"/>
              <a:ea typeface="Barlow Condensed"/>
              <a:cs typeface="Barlow Condensed"/>
              <a:sym typeface="Barlow Condensed"/>
            </a:endParaRPr>
          </a:p>
          <a:p>
            <a:pPr indent="0" lvl="0" marL="0" marR="0" rtl="0" algn="l">
              <a:spcBef>
                <a:spcPts val="0"/>
              </a:spcBef>
              <a:spcAft>
                <a:spcPts val="0"/>
              </a:spcAft>
              <a:buNone/>
            </a:pPr>
            <a:r>
              <a:t/>
            </a:r>
            <a:endParaRPr i="1" sz="4800">
              <a:solidFill>
                <a:srgbClr val="141F22"/>
              </a:solidFill>
              <a:latin typeface="Barlow Condensed"/>
              <a:ea typeface="Barlow Condensed"/>
              <a:cs typeface="Barlow Condensed"/>
              <a:sym typeface="Barlow Condensed"/>
            </a:endParaRPr>
          </a:p>
          <a:p>
            <a:pPr indent="0" lvl="0" marL="0" marR="0" rtl="0" algn="l">
              <a:spcBef>
                <a:spcPts val="0"/>
              </a:spcBef>
              <a:spcAft>
                <a:spcPts val="0"/>
              </a:spcAft>
              <a:buNone/>
            </a:pPr>
            <a:r>
              <a:t/>
            </a:r>
            <a:endParaRPr i="1" sz="4800">
              <a:solidFill>
                <a:srgbClr val="141F22"/>
              </a:solidFill>
              <a:latin typeface="Barlow Condensed"/>
              <a:ea typeface="Barlow Condensed"/>
              <a:cs typeface="Barlow Condensed"/>
              <a:sym typeface="Barlow Condensed"/>
            </a:endParaRPr>
          </a:p>
          <a:p>
            <a:pPr indent="0" lvl="0" marL="0" marR="0" rtl="0" algn="l">
              <a:spcBef>
                <a:spcPts val="0"/>
              </a:spcBef>
              <a:spcAft>
                <a:spcPts val="0"/>
              </a:spcAft>
              <a:buNone/>
            </a:pPr>
            <a:r>
              <a:t/>
            </a:r>
            <a:endParaRPr i="1" sz="4800">
              <a:solidFill>
                <a:srgbClr val="141F22"/>
              </a:solidFill>
              <a:latin typeface="Barlow Condensed"/>
              <a:ea typeface="Barlow Condensed"/>
              <a:cs typeface="Barlow Condensed"/>
              <a:sym typeface="Barlow Condensed"/>
            </a:endParaRPr>
          </a:p>
          <a:p>
            <a:pPr indent="0" lvl="0" marL="0" marR="0" rtl="0" algn="l">
              <a:spcBef>
                <a:spcPts val="0"/>
              </a:spcBef>
              <a:spcAft>
                <a:spcPts val="0"/>
              </a:spcAft>
              <a:buNone/>
            </a:pPr>
            <a:r>
              <a:t/>
            </a:r>
            <a:endParaRPr i="1" sz="4800">
              <a:solidFill>
                <a:srgbClr val="141F22"/>
              </a:solidFill>
              <a:latin typeface="Barlow Condensed"/>
              <a:ea typeface="Barlow Condensed"/>
              <a:cs typeface="Barlow Condensed"/>
              <a:sym typeface="Barlow Condensed"/>
            </a:endParaRPr>
          </a:p>
        </p:txBody>
      </p:sp>
      <p:sp>
        <p:nvSpPr>
          <p:cNvPr id="54" name="Google Shape;54;p13"/>
          <p:cNvSpPr txBox="1"/>
          <p:nvPr/>
        </p:nvSpPr>
        <p:spPr>
          <a:xfrm>
            <a:off x="22134400" y="34081400"/>
            <a:ext cx="12700200" cy="697800"/>
          </a:xfrm>
          <a:prstGeom prst="rect">
            <a:avLst/>
          </a:prstGeom>
          <a:solidFill>
            <a:srgbClr val="861F41"/>
          </a:solidFill>
          <a:ln>
            <a:noFill/>
          </a:ln>
        </p:spPr>
        <p:txBody>
          <a:bodyPr anchorCtr="0" anchor="ctr" bIns="156150" lIns="312475" spcFirstLastPara="1" rIns="312475" wrap="square" tIns="156150">
            <a:noAutofit/>
          </a:bodyPr>
          <a:lstStyle/>
          <a:p>
            <a:pPr indent="0" lvl="0" marL="0" marR="0" rtl="0" algn="l">
              <a:spcBef>
                <a:spcPts val="0"/>
              </a:spcBef>
              <a:spcAft>
                <a:spcPts val="0"/>
              </a:spcAft>
              <a:buNone/>
            </a:pPr>
            <a:r>
              <a:rPr b="1" lang="en" sz="3000">
                <a:solidFill>
                  <a:srgbClr val="FFFFFF"/>
                </a:solidFill>
                <a:latin typeface="Barlow Condensed"/>
                <a:ea typeface="Barlow Condensed"/>
                <a:cs typeface="Barlow Condensed"/>
                <a:sym typeface="Barlow Condensed"/>
              </a:rPr>
              <a:t>References/Acknowledgements </a:t>
            </a:r>
            <a:endParaRPr b="1" i="0" sz="3000">
              <a:solidFill>
                <a:srgbClr val="FFFFFF"/>
              </a:solidFill>
              <a:latin typeface="Barlow Condensed"/>
              <a:ea typeface="Barlow Condensed"/>
              <a:cs typeface="Barlow Condensed"/>
              <a:sym typeface="Barlow Condensed"/>
            </a:endParaRPr>
          </a:p>
        </p:txBody>
      </p:sp>
      <p:sp>
        <p:nvSpPr>
          <p:cNvPr id="55" name="Google Shape;55;p13"/>
          <p:cNvSpPr txBox="1"/>
          <p:nvPr/>
        </p:nvSpPr>
        <p:spPr>
          <a:xfrm>
            <a:off x="37306986" y="-3632900"/>
            <a:ext cx="13240200" cy="6978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Clr>
                <a:srgbClr val="000000"/>
              </a:buClr>
              <a:buFont typeface="Arial"/>
              <a:buNone/>
            </a:pPr>
            <a:r>
              <a:rPr i="1" lang="en" sz="3600">
                <a:solidFill>
                  <a:srgbClr val="141F22"/>
                </a:solidFill>
                <a:latin typeface="Barlow Condensed"/>
                <a:ea typeface="Barlow Condensed"/>
                <a:cs typeface="Barlow Condensed"/>
                <a:sym typeface="Barlow Condensed"/>
              </a:rPr>
              <a:t>Sponsor: Jim Mastoras, Arlington County Police Department</a:t>
            </a:r>
            <a:endParaRPr i="1" sz="3600">
              <a:solidFill>
                <a:srgbClr val="141F22"/>
              </a:solidFill>
              <a:latin typeface="Barlow Condensed"/>
              <a:ea typeface="Barlow Condensed"/>
              <a:cs typeface="Barlow Condensed"/>
              <a:sym typeface="Barlow Condensed"/>
            </a:endParaRPr>
          </a:p>
        </p:txBody>
      </p:sp>
      <p:sp>
        <p:nvSpPr>
          <p:cNvPr id="56" name="Google Shape;56;p13"/>
          <p:cNvSpPr txBox="1"/>
          <p:nvPr/>
        </p:nvSpPr>
        <p:spPr>
          <a:xfrm>
            <a:off x="896375" y="18244325"/>
            <a:ext cx="17793600" cy="3574200"/>
          </a:xfrm>
          <a:prstGeom prst="rect">
            <a:avLst/>
          </a:prstGeom>
          <a:noFill/>
          <a:ln>
            <a:noFill/>
          </a:ln>
        </p:spPr>
        <p:txBody>
          <a:bodyPr anchorCtr="0" anchor="t" bIns="156150" lIns="312475" spcFirstLastPara="1" rIns="312475" wrap="square" tIns="156150">
            <a:noAutofit/>
          </a:bodyPr>
          <a:lstStyle/>
          <a:p>
            <a:pPr indent="-419100" lvl="0" marL="457200" rtl="0" algn="l">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Crime incident data were obtained from the Arlington County Police Incident Log dataset using the API.</a:t>
            </a:r>
            <a:endParaRPr sz="3000">
              <a:solidFill>
                <a:srgbClr val="141F22"/>
              </a:solidFill>
              <a:latin typeface="Barlow Condensed"/>
              <a:ea typeface="Barlow Condensed"/>
              <a:cs typeface="Barlow Condensed"/>
              <a:sym typeface="Barlow Condensed"/>
            </a:endParaRPr>
          </a:p>
          <a:p>
            <a:pPr indent="-419100" lvl="0" marL="457200" rtl="0" algn="l">
              <a:lnSpc>
                <a:spcPct val="100000"/>
              </a:lnSpc>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S</a:t>
            </a:r>
            <a:r>
              <a:rPr lang="en" sz="3000">
                <a:solidFill>
                  <a:srgbClr val="141F22"/>
                </a:solidFill>
                <a:latin typeface="Barlow Condensed"/>
                <a:ea typeface="Barlow Condensed"/>
                <a:cs typeface="Barlow Condensed"/>
                <a:sym typeface="Barlow Condensed"/>
              </a:rPr>
              <a:t>patial and temporal filters were applied to obtain data for the Clarendon area (</a:t>
            </a:r>
            <a:r>
              <a:rPr lang="en" sz="3000">
                <a:solidFill>
                  <a:schemeClr val="dk1"/>
                </a:solidFill>
                <a:latin typeface="Barlow Condensed"/>
                <a:ea typeface="Barlow Condensed"/>
                <a:cs typeface="Barlow Condensed"/>
                <a:sym typeface="Barlow Condensed"/>
              </a:rPr>
              <a:t>about a 0.4 km radius from the Clarendon metro station)</a:t>
            </a:r>
            <a:r>
              <a:rPr lang="en" sz="3000">
                <a:solidFill>
                  <a:srgbClr val="141F22"/>
                </a:solidFill>
                <a:latin typeface="Barlow Condensed"/>
                <a:ea typeface="Barlow Condensed"/>
                <a:cs typeface="Barlow Condensed"/>
                <a:sym typeface="Barlow Condensed"/>
              </a:rPr>
              <a:t> from 21:00 to 03:00, the time frame in which the majority of alcohol-related crimes occur. </a:t>
            </a:r>
            <a:endParaRPr sz="3000">
              <a:solidFill>
                <a:srgbClr val="141F22"/>
              </a:solidFill>
              <a:latin typeface="Barlow Condensed"/>
              <a:ea typeface="Barlow Condensed"/>
              <a:cs typeface="Barlow Condensed"/>
              <a:sym typeface="Barlow Condensed"/>
            </a:endParaRPr>
          </a:p>
          <a:p>
            <a:pPr indent="-419100" lvl="0" marL="457200" rtl="0" algn="l">
              <a:lnSpc>
                <a:spcPct val="100000"/>
              </a:lnSpc>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Focused on five different categories of crime: aggravated assault, disorderly conduct, drunk in public, DUI, rape/sexual assault. Table on the right summarizes crime rates for the time periods and area of study.</a:t>
            </a:r>
            <a:endParaRPr sz="3000">
              <a:solidFill>
                <a:srgbClr val="141F22"/>
              </a:solidFill>
              <a:latin typeface="Barlow Condensed"/>
              <a:ea typeface="Barlow Condensed"/>
              <a:cs typeface="Barlow Condensed"/>
              <a:sym typeface="Barlow Condensed"/>
            </a:endParaRPr>
          </a:p>
          <a:p>
            <a:pPr indent="-419100" lvl="0" marL="457200" rtl="0" algn="l">
              <a:lnSpc>
                <a:spcPct val="100000"/>
              </a:lnSpc>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Conducted exploratory analysis of spatial and temporal variation, and the differences between trends in Clarendon and Arlington.</a:t>
            </a:r>
            <a:endParaRPr sz="3000">
              <a:solidFill>
                <a:srgbClr val="141F22"/>
              </a:solidFill>
              <a:latin typeface="Barlow Condensed"/>
              <a:ea typeface="Barlow Condensed"/>
              <a:cs typeface="Barlow Condensed"/>
              <a:sym typeface="Barlow Condensed"/>
            </a:endParaRPr>
          </a:p>
        </p:txBody>
      </p:sp>
      <p:sp>
        <p:nvSpPr>
          <p:cNvPr id="57" name="Google Shape;57;p13"/>
          <p:cNvSpPr txBox="1"/>
          <p:nvPr/>
        </p:nvSpPr>
        <p:spPr>
          <a:xfrm>
            <a:off x="21868850" y="34796675"/>
            <a:ext cx="13240200" cy="27225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Clr>
                <a:schemeClr val="dk1"/>
              </a:buClr>
              <a:buSzPts val="1100"/>
              <a:buFont typeface="Arial"/>
              <a:buNone/>
            </a:pPr>
            <a:r>
              <a:rPr lang="en" sz="2000">
                <a:solidFill>
                  <a:schemeClr val="dk1"/>
                </a:solidFill>
                <a:latin typeface="Barlow Condensed"/>
                <a:ea typeface="Barlow Condensed"/>
                <a:cs typeface="Barlow Condensed"/>
                <a:sym typeface="Barlow Condensed"/>
              </a:rPr>
              <a:t>[1] </a:t>
            </a:r>
            <a:r>
              <a:rPr lang="en" sz="2000">
                <a:solidFill>
                  <a:schemeClr val="dk1"/>
                </a:solidFill>
                <a:latin typeface="Barlow Condensed"/>
                <a:ea typeface="Barlow Condensed"/>
                <a:cs typeface="Barlow Condensed"/>
                <a:sym typeface="Barlow Condensed"/>
              </a:rPr>
              <a:t>Miller, Cohen, Wiersema. V</a:t>
            </a:r>
            <a:r>
              <a:rPr i="1" lang="en" sz="2000">
                <a:solidFill>
                  <a:schemeClr val="dk1"/>
                </a:solidFill>
                <a:latin typeface="Barlow Condensed"/>
                <a:ea typeface="Barlow Condensed"/>
                <a:cs typeface="Barlow Condensed"/>
                <a:sym typeface="Barlow Condensed"/>
              </a:rPr>
              <a:t>ictim Cost and Consequences: A New Look, </a:t>
            </a:r>
            <a:r>
              <a:rPr lang="en" sz="2000">
                <a:solidFill>
                  <a:schemeClr val="dk1"/>
                </a:solidFill>
                <a:latin typeface="Barlow Condensed"/>
                <a:ea typeface="Barlow Condensed"/>
                <a:cs typeface="Barlow Condensed"/>
                <a:sym typeface="Barlow Condensed"/>
              </a:rPr>
              <a:t>National Institute of Justice, 1996. </a:t>
            </a:r>
            <a:endParaRPr sz="2000">
              <a:solidFill>
                <a:schemeClr val="dk1"/>
              </a:solidFill>
              <a:latin typeface="Barlow Condensed"/>
              <a:ea typeface="Barlow Condensed"/>
              <a:cs typeface="Barlow Condensed"/>
              <a:sym typeface="Barlow Condensed"/>
            </a:endParaRPr>
          </a:p>
          <a:p>
            <a:pPr indent="0" lvl="0" marL="0" rtl="0" algn="l">
              <a:spcBef>
                <a:spcPts val="0"/>
              </a:spcBef>
              <a:spcAft>
                <a:spcPts val="0"/>
              </a:spcAft>
              <a:buClr>
                <a:schemeClr val="dk1"/>
              </a:buClr>
              <a:buSzPts val="1100"/>
              <a:buFont typeface="Arial"/>
              <a:buNone/>
            </a:pPr>
            <a:r>
              <a:rPr lang="en" sz="2000">
                <a:solidFill>
                  <a:schemeClr val="dk1"/>
                </a:solidFill>
                <a:latin typeface="Barlow Condensed"/>
                <a:ea typeface="Barlow Condensed"/>
                <a:cs typeface="Barlow Condensed"/>
                <a:sym typeface="Barlow Condensed"/>
              </a:rPr>
              <a:t>Heaton. </a:t>
            </a:r>
            <a:r>
              <a:rPr i="1" lang="en" sz="2000">
                <a:solidFill>
                  <a:schemeClr val="dk1"/>
                </a:solidFill>
                <a:latin typeface="Barlow Condensed"/>
                <a:ea typeface="Barlow Condensed"/>
                <a:cs typeface="Barlow Condensed"/>
                <a:sym typeface="Barlow Condensed"/>
              </a:rPr>
              <a:t>Hidden in Plain Sight: What Cost-of-Crime Research Can Tell Us About Investing in Police,</a:t>
            </a:r>
            <a:r>
              <a:rPr lang="en" sz="2000">
                <a:solidFill>
                  <a:schemeClr val="dk1"/>
                </a:solidFill>
                <a:latin typeface="Barlow Condensed"/>
                <a:ea typeface="Barlow Condensed"/>
                <a:cs typeface="Barlow Condensed"/>
                <a:sym typeface="Barlow Condensed"/>
              </a:rPr>
              <a:t> RAND Corporation, 2010.</a:t>
            </a:r>
            <a:endParaRPr sz="2000">
              <a:solidFill>
                <a:schemeClr val="dk1"/>
              </a:solidFill>
              <a:latin typeface="Barlow Condensed"/>
              <a:ea typeface="Barlow Condensed"/>
              <a:cs typeface="Barlow Condensed"/>
              <a:sym typeface="Barlow Condensed"/>
            </a:endParaRPr>
          </a:p>
          <a:p>
            <a:pPr indent="0" lvl="0" marL="0" rtl="0" algn="l">
              <a:spcBef>
                <a:spcPts val="0"/>
              </a:spcBef>
              <a:spcAft>
                <a:spcPts val="0"/>
              </a:spcAft>
              <a:buClr>
                <a:schemeClr val="dk1"/>
              </a:buClr>
              <a:buSzPts val="1100"/>
              <a:buFont typeface="Arial"/>
              <a:buNone/>
            </a:pPr>
            <a:r>
              <a:rPr lang="en" sz="2000">
                <a:solidFill>
                  <a:schemeClr val="dk1"/>
                </a:solidFill>
                <a:latin typeface="Barlow Condensed"/>
                <a:ea typeface="Barlow Condensed"/>
                <a:cs typeface="Barlow Condensed"/>
                <a:sym typeface="Barlow Condensed"/>
              </a:rPr>
              <a:t>[2] McCollister, French, Fang.</a:t>
            </a:r>
            <a:r>
              <a:rPr i="1" lang="en" sz="2000">
                <a:solidFill>
                  <a:schemeClr val="dk1"/>
                </a:solidFill>
                <a:latin typeface="Barlow Condensed"/>
                <a:ea typeface="Barlow Condensed"/>
                <a:cs typeface="Barlow Condensed"/>
                <a:sym typeface="Barlow Condensed"/>
              </a:rPr>
              <a:t> The Cost of Crime to Society: New Crime-Specific Estimates for Policy and Program Evaluation, </a:t>
            </a:r>
            <a:r>
              <a:rPr lang="en" sz="2000">
                <a:solidFill>
                  <a:schemeClr val="dk1"/>
                </a:solidFill>
                <a:latin typeface="Barlow Condensed"/>
                <a:ea typeface="Barlow Condensed"/>
                <a:cs typeface="Barlow Condensed"/>
                <a:sym typeface="Barlow Condensed"/>
              </a:rPr>
              <a:t>Drug and Alcohol Dependence, 2010.</a:t>
            </a:r>
            <a:endParaRPr sz="2000">
              <a:solidFill>
                <a:schemeClr val="dk1"/>
              </a:solidFill>
              <a:latin typeface="Barlow Condensed"/>
              <a:ea typeface="Barlow Condensed"/>
              <a:cs typeface="Barlow Condensed"/>
              <a:sym typeface="Barlow Condensed"/>
            </a:endParaRPr>
          </a:p>
          <a:p>
            <a:pPr indent="0" lvl="0" marL="0" rtl="0" algn="l">
              <a:spcBef>
                <a:spcPts val="0"/>
              </a:spcBef>
              <a:spcAft>
                <a:spcPts val="0"/>
              </a:spcAft>
              <a:buClr>
                <a:schemeClr val="dk1"/>
              </a:buClr>
              <a:buSzPts val="1100"/>
              <a:buFont typeface="Arial"/>
              <a:buNone/>
            </a:pPr>
            <a:r>
              <a:rPr lang="en" sz="2000">
                <a:solidFill>
                  <a:schemeClr val="dk1"/>
                </a:solidFill>
                <a:latin typeface="Barlow Condensed"/>
                <a:ea typeface="Barlow Condensed"/>
                <a:cs typeface="Barlow Condensed"/>
                <a:sym typeface="Barlow Condensed"/>
              </a:rPr>
              <a:t>[3] Maurer et al. </a:t>
            </a:r>
            <a:r>
              <a:rPr i="1" lang="en" sz="2000">
                <a:solidFill>
                  <a:schemeClr val="dk1"/>
                </a:solidFill>
                <a:latin typeface="Barlow Condensed"/>
                <a:ea typeface="Barlow Condensed"/>
                <a:cs typeface="Barlow Condensed"/>
                <a:sym typeface="Barlow Condensed"/>
              </a:rPr>
              <a:t>Experts Report Challenges Estimating Costs and Suggest Improvements to Better Inform Policy Decisions</a:t>
            </a:r>
            <a:r>
              <a:rPr lang="en" sz="2000">
                <a:solidFill>
                  <a:schemeClr val="dk1"/>
                </a:solidFill>
                <a:latin typeface="Barlow Condensed"/>
                <a:ea typeface="Barlow Condensed"/>
                <a:cs typeface="Barlow Condensed"/>
                <a:sym typeface="Barlow Condensed"/>
              </a:rPr>
              <a:t>, GAO highlights, 2017.</a:t>
            </a:r>
            <a:endParaRPr sz="2000">
              <a:solidFill>
                <a:schemeClr val="dk1"/>
              </a:solidFill>
              <a:latin typeface="Barlow Condensed"/>
              <a:ea typeface="Barlow Condensed"/>
              <a:cs typeface="Barlow Condensed"/>
              <a:sym typeface="Barlow Condensed"/>
            </a:endParaRPr>
          </a:p>
          <a:p>
            <a:pPr indent="0" lvl="0" marL="0" rtl="0" algn="l">
              <a:spcBef>
                <a:spcPts val="0"/>
              </a:spcBef>
              <a:spcAft>
                <a:spcPts val="0"/>
              </a:spcAft>
              <a:buClr>
                <a:schemeClr val="dk1"/>
              </a:buClr>
              <a:buSzPts val="1100"/>
              <a:buFont typeface="Arial"/>
              <a:buNone/>
            </a:pPr>
            <a:r>
              <a:rPr lang="en" sz="2000">
                <a:solidFill>
                  <a:schemeClr val="dk1"/>
                </a:solidFill>
                <a:latin typeface="Barlow Condensed"/>
                <a:ea typeface="Barlow Condensed"/>
                <a:cs typeface="Barlow Condensed"/>
                <a:sym typeface="Barlow Condensed"/>
              </a:rPr>
              <a:t>[4] Arlington County. 2018. Police Incident Log. </a:t>
            </a:r>
            <a:r>
              <a:rPr lang="en" sz="2000" u="sng">
                <a:solidFill>
                  <a:schemeClr val="accent5"/>
                </a:solidFill>
                <a:latin typeface="Barlow Condensed"/>
                <a:ea typeface="Barlow Condensed"/>
                <a:cs typeface="Barlow Condensed"/>
                <a:sym typeface="Barlow Condensed"/>
                <a:hlinkClick r:id="rId4"/>
              </a:rPr>
              <a:t>http://bit.ly/21nPzoE</a:t>
            </a:r>
            <a:r>
              <a:rPr lang="en" sz="2000">
                <a:solidFill>
                  <a:schemeClr val="dk1"/>
                </a:solidFill>
                <a:latin typeface="Barlow Condensed"/>
                <a:ea typeface="Barlow Condensed"/>
                <a:cs typeface="Barlow Condensed"/>
                <a:sym typeface="Barlow Condensed"/>
              </a:rPr>
              <a:t>.</a:t>
            </a:r>
            <a:endParaRPr sz="2000">
              <a:solidFill>
                <a:schemeClr val="dk1"/>
              </a:solidFill>
              <a:latin typeface="Barlow Condensed"/>
              <a:ea typeface="Barlow Condensed"/>
              <a:cs typeface="Barlow Condensed"/>
              <a:sym typeface="Barlow Condensed"/>
            </a:endParaRPr>
          </a:p>
          <a:p>
            <a:pPr indent="0" lvl="0" marL="0" rtl="0" algn="l">
              <a:spcBef>
                <a:spcPts val="0"/>
              </a:spcBef>
              <a:spcAft>
                <a:spcPts val="0"/>
              </a:spcAft>
              <a:buClr>
                <a:schemeClr val="dk1"/>
              </a:buClr>
              <a:buSzPts val="1100"/>
              <a:buFont typeface="Arial"/>
              <a:buNone/>
            </a:pPr>
            <a:r>
              <a:t/>
            </a:r>
            <a:endParaRPr sz="2000">
              <a:solidFill>
                <a:schemeClr val="dk1"/>
              </a:solidFill>
              <a:latin typeface="Barlow Condensed"/>
              <a:ea typeface="Barlow Condensed"/>
              <a:cs typeface="Barlow Condensed"/>
              <a:sym typeface="Barlow Condensed"/>
            </a:endParaRPr>
          </a:p>
          <a:p>
            <a:pPr indent="0" lvl="0" marL="0" rtl="0" algn="l">
              <a:spcBef>
                <a:spcPts val="0"/>
              </a:spcBef>
              <a:spcAft>
                <a:spcPts val="0"/>
              </a:spcAft>
              <a:buClr>
                <a:schemeClr val="dk1"/>
              </a:buClr>
              <a:buSzPts val="1100"/>
              <a:buFont typeface="Arial"/>
              <a:buNone/>
            </a:pPr>
            <a:r>
              <a:rPr lang="en" sz="2000">
                <a:solidFill>
                  <a:schemeClr val="dk1"/>
                </a:solidFill>
                <a:latin typeface="Barlow Condensed"/>
                <a:ea typeface="Barlow Condensed"/>
                <a:cs typeface="Barlow Condensed"/>
                <a:sym typeface="Barlow Condensed"/>
              </a:rPr>
              <a:t>Special thanks to Dr. Wenwen Zhang and her students at VT Urban Affairs and Planning.</a:t>
            </a:r>
            <a:endParaRPr sz="2000">
              <a:solidFill>
                <a:schemeClr val="dk1"/>
              </a:solidFill>
              <a:latin typeface="Barlow Condensed"/>
              <a:ea typeface="Barlow Condensed"/>
              <a:cs typeface="Barlow Condensed"/>
              <a:sym typeface="Barlow Condensed"/>
            </a:endParaRPr>
          </a:p>
        </p:txBody>
      </p:sp>
      <p:sp>
        <p:nvSpPr>
          <p:cNvPr id="58" name="Google Shape;58;p13"/>
          <p:cNvSpPr txBox="1"/>
          <p:nvPr/>
        </p:nvSpPr>
        <p:spPr>
          <a:xfrm>
            <a:off x="4052879" y="39256750"/>
            <a:ext cx="2801100" cy="412800"/>
          </a:xfrm>
          <a:prstGeom prst="rect">
            <a:avLst/>
          </a:prstGeom>
          <a:noFill/>
          <a:ln>
            <a:noFill/>
          </a:ln>
        </p:spPr>
        <p:txBody>
          <a:bodyPr anchorCtr="0" anchor="b" bIns="156150" lIns="312475" spcFirstLastPara="1" rIns="312475" wrap="square" tIns="156150">
            <a:noAutofit/>
          </a:bodyPr>
          <a:lstStyle/>
          <a:p>
            <a:pPr indent="0" lvl="0" marL="0" marR="0" rtl="0" algn="l">
              <a:spcBef>
                <a:spcPts val="0"/>
              </a:spcBef>
              <a:spcAft>
                <a:spcPts val="0"/>
              </a:spcAft>
              <a:buNone/>
            </a:pPr>
            <a:r>
              <a:rPr b="1" i="1" lang="en" sz="2400">
                <a:solidFill>
                  <a:srgbClr val="5D89B4"/>
                </a:solidFill>
                <a:latin typeface="Barlow Condensed"/>
                <a:ea typeface="Barlow Condensed"/>
                <a:cs typeface="Barlow Condensed"/>
                <a:sym typeface="Barlow Condensed"/>
              </a:rPr>
              <a:t>Stay Connected:</a:t>
            </a:r>
            <a:endParaRPr b="1" i="1" sz="2400">
              <a:solidFill>
                <a:srgbClr val="5D89B4"/>
              </a:solidFill>
              <a:latin typeface="Barlow Condensed"/>
              <a:ea typeface="Barlow Condensed"/>
              <a:cs typeface="Barlow Condensed"/>
              <a:sym typeface="Barlow Condensed"/>
            </a:endParaRPr>
          </a:p>
        </p:txBody>
      </p:sp>
      <p:sp>
        <p:nvSpPr>
          <p:cNvPr id="59" name="Google Shape;59;p13"/>
          <p:cNvSpPr txBox="1"/>
          <p:nvPr/>
        </p:nvSpPr>
        <p:spPr>
          <a:xfrm>
            <a:off x="5914225" y="39089750"/>
            <a:ext cx="3199500" cy="1499400"/>
          </a:xfrm>
          <a:prstGeom prst="rect">
            <a:avLst/>
          </a:prstGeom>
          <a:noFill/>
          <a:ln>
            <a:noFill/>
          </a:ln>
        </p:spPr>
        <p:txBody>
          <a:bodyPr anchorCtr="0" anchor="t" bIns="156150" lIns="312475" spcFirstLastPara="1" rIns="312475" wrap="square" tIns="156150">
            <a:noAutofit/>
          </a:bodyPr>
          <a:lstStyle/>
          <a:p>
            <a:pPr indent="0" lvl="0" marL="0" rtl="0" algn="l">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facebook.com/biocomplexity</a:t>
            </a:r>
            <a:endParaRPr i="1" sz="1800">
              <a:solidFill>
                <a:srgbClr val="5D89B4"/>
              </a:solidFill>
              <a:latin typeface="Barlow Condensed"/>
              <a:ea typeface="Barlow Condensed"/>
              <a:cs typeface="Barlow Condensed"/>
              <a:sym typeface="Barlow Condensed"/>
            </a:endParaRPr>
          </a:p>
          <a:p>
            <a:pPr indent="0" lvl="0" marL="0" rtl="0" algn="l">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twitter.com/biocomplexityvt</a:t>
            </a:r>
            <a:endParaRPr i="1" sz="1800">
              <a:solidFill>
                <a:srgbClr val="5D89B4"/>
              </a:solidFill>
              <a:latin typeface="Barlow Condensed"/>
              <a:ea typeface="Barlow Condensed"/>
              <a:cs typeface="Barlow Condensed"/>
              <a:sym typeface="Barlow Condensed"/>
            </a:endParaRPr>
          </a:p>
          <a:p>
            <a:pPr indent="0" lvl="0" marL="0" rtl="0" algn="l">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youtube.com/c/biocomplexity</a:t>
            </a:r>
            <a:endParaRPr i="1" sz="1800">
              <a:solidFill>
                <a:srgbClr val="5D89B4"/>
              </a:solidFill>
              <a:latin typeface="Barlow Condensed"/>
              <a:ea typeface="Barlow Condensed"/>
              <a:cs typeface="Barlow Condensed"/>
              <a:sym typeface="Barlow Condensed"/>
            </a:endParaRPr>
          </a:p>
          <a:p>
            <a:pPr indent="0" lvl="0" marL="0" rtl="0" algn="l">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google.com/+biocomplexity</a:t>
            </a:r>
            <a:endParaRPr b="1" i="1" sz="1800">
              <a:solidFill>
                <a:srgbClr val="5D89B4"/>
              </a:solidFill>
              <a:latin typeface="Barlow Condensed"/>
              <a:ea typeface="Barlow Condensed"/>
              <a:cs typeface="Barlow Condensed"/>
              <a:sym typeface="Barlow Condensed"/>
            </a:endParaRPr>
          </a:p>
        </p:txBody>
      </p:sp>
      <p:sp>
        <p:nvSpPr>
          <p:cNvPr id="60" name="Google Shape;60;p13"/>
          <p:cNvSpPr txBox="1"/>
          <p:nvPr/>
        </p:nvSpPr>
        <p:spPr>
          <a:xfrm>
            <a:off x="1035600" y="17291700"/>
            <a:ext cx="33760500" cy="891900"/>
          </a:xfrm>
          <a:prstGeom prst="rect">
            <a:avLst/>
          </a:prstGeom>
          <a:solidFill>
            <a:srgbClr val="C64600"/>
          </a:solidFill>
          <a:ln>
            <a:noFill/>
          </a:ln>
        </p:spPr>
        <p:txBody>
          <a:bodyPr anchorCtr="0" anchor="ctr" bIns="156150" lIns="312475" spcFirstLastPara="1" rIns="312475" wrap="square" tIns="156150">
            <a:noAutofit/>
          </a:bodyPr>
          <a:lstStyle/>
          <a:p>
            <a:pPr indent="0" lvl="0" marL="0" marR="0" rtl="0" algn="l">
              <a:lnSpc>
                <a:spcPct val="100000"/>
              </a:lnSpc>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Exploratory Data Analysis</a:t>
            </a:r>
            <a:endParaRPr b="1" sz="4800">
              <a:solidFill>
                <a:srgbClr val="FFFFFF"/>
              </a:solidFill>
              <a:latin typeface="Barlow Condensed"/>
              <a:ea typeface="Barlow Condensed"/>
              <a:cs typeface="Barlow Condensed"/>
              <a:sym typeface="Barlow Condensed"/>
            </a:endParaRPr>
          </a:p>
        </p:txBody>
      </p:sp>
      <p:sp>
        <p:nvSpPr>
          <p:cNvPr id="61" name="Google Shape;61;p13"/>
          <p:cNvSpPr txBox="1"/>
          <p:nvPr/>
        </p:nvSpPr>
        <p:spPr>
          <a:xfrm>
            <a:off x="769150" y="6103110"/>
            <a:ext cx="19679100" cy="3348300"/>
          </a:xfrm>
          <a:prstGeom prst="rect">
            <a:avLst/>
          </a:prstGeom>
          <a:noFill/>
          <a:ln>
            <a:noFill/>
          </a:ln>
        </p:spPr>
        <p:txBody>
          <a:bodyPr anchorCtr="0" anchor="t" bIns="156150" lIns="312475" spcFirstLastPara="1" rIns="312475" wrap="square" tIns="156150">
            <a:noAutofit/>
          </a:bodyPr>
          <a:lstStyle/>
          <a:p>
            <a:pPr indent="-419100" lvl="0" marL="457200" rtl="0" algn="l">
              <a:spcBef>
                <a:spcPts val="0"/>
              </a:spcBef>
              <a:spcAft>
                <a:spcPts val="0"/>
              </a:spcAft>
              <a:buClr>
                <a:srgbClr val="141F22"/>
              </a:buClr>
              <a:buSzPts val="3000"/>
              <a:buFont typeface="Barlow Condensed"/>
              <a:buChar char="●"/>
            </a:pPr>
            <a:r>
              <a:rPr b="1" lang="en" sz="3000">
                <a:solidFill>
                  <a:srgbClr val="141F22"/>
                </a:solidFill>
                <a:latin typeface="Barlow Condensed"/>
                <a:ea typeface="Barlow Condensed"/>
                <a:cs typeface="Barlow Condensed"/>
                <a:sym typeface="Barlow Condensed"/>
              </a:rPr>
              <a:t>Background: </a:t>
            </a:r>
            <a:r>
              <a:rPr lang="en" sz="3000">
                <a:solidFill>
                  <a:srgbClr val="141F22"/>
                </a:solidFill>
                <a:latin typeface="Barlow Condensed"/>
                <a:ea typeface="Barlow Condensed"/>
                <a:cs typeface="Barlow Condensed"/>
                <a:sym typeface="Barlow Condensed"/>
              </a:rPr>
              <a:t>Arlington County features some of the most unique restaurants and nightlife destinations in the Washington D.C. metro region. Areas such as Clarendon, however, with a large number of restaurants have become a difficult issue for </a:t>
            </a:r>
            <a:r>
              <a:rPr lang="en" sz="3000">
                <a:solidFill>
                  <a:srgbClr val="141F22"/>
                </a:solidFill>
                <a:latin typeface="Barlow Condensed"/>
                <a:ea typeface="Barlow Condensed"/>
                <a:cs typeface="Barlow Condensed"/>
                <a:sym typeface="Barlow Condensed"/>
              </a:rPr>
              <a:t>police</a:t>
            </a:r>
            <a:r>
              <a:rPr lang="en" sz="3000">
                <a:solidFill>
                  <a:srgbClr val="141F22"/>
                </a:solidFill>
                <a:latin typeface="Barlow Condensed"/>
                <a:ea typeface="Barlow Condensed"/>
                <a:cs typeface="Barlow Condensed"/>
                <a:sym typeface="Barlow Condensed"/>
              </a:rPr>
              <a:t> to manage due to alcohol-related crimes such as malicious wounding, sexual assault, public intoxication, assault on police, DUI, disorderly conduct, and rape.</a:t>
            </a:r>
            <a:endParaRPr sz="3000">
              <a:solidFill>
                <a:srgbClr val="141F22"/>
              </a:solidFill>
              <a:latin typeface="Barlow Condensed"/>
              <a:ea typeface="Barlow Condensed"/>
              <a:cs typeface="Barlow Condensed"/>
              <a:sym typeface="Barlow Condensed"/>
            </a:endParaRPr>
          </a:p>
          <a:p>
            <a:pPr indent="-419100" lvl="0" marL="457200" rtl="0" algn="l">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Arlington County Police Department (</a:t>
            </a:r>
            <a:r>
              <a:rPr lang="en" sz="3000">
                <a:solidFill>
                  <a:srgbClr val="141F22"/>
                </a:solidFill>
                <a:latin typeface="Barlow Condensed"/>
                <a:ea typeface="Barlow Condensed"/>
                <a:cs typeface="Barlow Condensed"/>
                <a:sym typeface="Barlow Condensed"/>
              </a:rPr>
              <a:t>ACPD) launched the </a:t>
            </a:r>
            <a:r>
              <a:rPr i="1" lang="en" sz="3000">
                <a:solidFill>
                  <a:srgbClr val="861F41"/>
                </a:solidFill>
                <a:latin typeface="Barlow Condensed"/>
                <a:ea typeface="Barlow Condensed"/>
                <a:cs typeface="Barlow Condensed"/>
                <a:sym typeface="Barlow Condensed"/>
              </a:rPr>
              <a:t>Arlington Restaurant Initiative (ARI) </a:t>
            </a:r>
            <a:r>
              <a:rPr lang="en" sz="3000">
                <a:solidFill>
                  <a:srgbClr val="141F22"/>
                </a:solidFill>
                <a:latin typeface="Barlow Condensed"/>
                <a:ea typeface="Barlow Condensed"/>
                <a:cs typeface="Barlow Condensed"/>
                <a:sym typeface="Barlow Condensed"/>
              </a:rPr>
              <a:t>that focuses on best practices for restaurants and nightlife to reduce the risk of </a:t>
            </a:r>
            <a:r>
              <a:rPr lang="en" sz="3000">
                <a:solidFill>
                  <a:srgbClr val="141F22"/>
                </a:solidFill>
                <a:latin typeface="Barlow Condensed"/>
                <a:ea typeface="Barlow Condensed"/>
                <a:cs typeface="Barlow Condensed"/>
                <a:sym typeface="Barlow Condensed"/>
              </a:rPr>
              <a:t>alcohol-related disorder. </a:t>
            </a:r>
            <a:r>
              <a:rPr lang="en" sz="3000">
                <a:solidFill>
                  <a:srgbClr val="141F22"/>
                </a:solidFill>
                <a:latin typeface="Barlow Condensed"/>
                <a:ea typeface="Barlow Condensed"/>
                <a:cs typeface="Barlow Condensed"/>
                <a:sym typeface="Barlow Condensed"/>
              </a:rPr>
              <a:t>The initiative grew out of the </a:t>
            </a:r>
            <a:r>
              <a:rPr i="1" lang="en" sz="3000">
                <a:solidFill>
                  <a:srgbClr val="861F41"/>
                </a:solidFill>
                <a:latin typeface="Barlow Condensed"/>
                <a:ea typeface="Barlow Condensed"/>
                <a:cs typeface="Barlow Condensed"/>
                <a:sym typeface="Barlow Condensed"/>
              </a:rPr>
              <a:t>Clarendon Detail</a:t>
            </a:r>
            <a:r>
              <a:rPr lang="en" sz="3000">
                <a:solidFill>
                  <a:srgbClr val="141F22"/>
                </a:solidFill>
                <a:latin typeface="Barlow Condensed"/>
                <a:ea typeface="Barlow Condensed"/>
                <a:cs typeface="Barlow Condensed"/>
                <a:sym typeface="Barlow Condensed"/>
              </a:rPr>
              <a:t>, the creation of a team of patrol officers using </a:t>
            </a:r>
            <a:r>
              <a:rPr lang="en" sz="3000">
                <a:solidFill>
                  <a:srgbClr val="141F22"/>
                </a:solidFill>
                <a:latin typeface="Barlow Condensed"/>
                <a:ea typeface="Barlow Condensed"/>
                <a:cs typeface="Barlow Condensed"/>
                <a:sym typeface="Barlow Condensed"/>
              </a:rPr>
              <a:t>overtime</a:t>
            </a:r>
            <a:r>
              <a:rPr lang="en" sz="3000">
                <a:solidFill>
                  <a:srgbClr val="141F22"/>
                </a:solidFill>
                <a:latin typeface="Barlow Condensed"/>
                <a:ea typeface="Barlow Condensed"/>
                <a:cs typeface="Barlow Condensed"/>
                <a:sym typeface="Barlow Condensed"/>
              </a:rPr>
              <a:t> to control pedestrian and road traffic, and to ensure that intoxicated patrons are protected from harm.</a:t>
            </a:r>
            <a:endParaRPr sz="3000">
              <a:solidFill>
                <a:srgbClr val="141F22"/>
              </a:solidFill>
              <a:latin typeface="Barlow Condensed"/>
              <a:ea typeface="Barlow Condensed"/>
              <a:cs typeface="Barlow Condensed"/>
              <a:sym typeface="Barlow Condensed"/>
            </a:endParaRPr>
          </a:p>
        </p:txBody>
      </p:sp>
      <p:sp>
        <p:nvSpPr>
          <p:cNvPr id="62" name="Google Shape;62;p13"/>
          <p:cNvSpPr txBox="1"/>
          <p:nvPr/>
        </p:nvSpPr>
        <p:spPr>
          <a:xfrm>
            <a:off x="1048775" y="28703475"/>
            <a:ext cx="19679100" cy="891900"/>
          </a:xfrm>
          <a:prstGeom prst="rect">
            <a:avLst/>
          </a:prstGeom>
          <a:solidFill>
            <a:srgbClr val="861F41"/>
          </a:solidFill>
          <a:ln>
            <a:noFill/>
          </a:ln>
        </p:spPr>
        <p:txBody>
          <a:bodyPr anchorCtr="0" anchor="ctr" bIns="156150" lIns="312475" spcFirstLastPara="1" rIns="312475" wrap="square" tIns="156150">
            <a:noAutofit/>
          </a:bodyPr>
          <a:lstStyle/>
          <a:p>
            <a:pPr indent="0" lvl="0" marL="0" marR="0" rtl="0" algn="l">
              <a:lnSpc>
                <a:spcPct val="100000"/>
              </a:lnSpc>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Cost of Crimes</a:t>
            </a:r>
            <a:endParaRPr b="1" sz="4800">
              <a:solidFill>
                <a:srgbClr val="FFFFFF"/>
              </a:solidFill>
              <a:latin typeface="Barlow Condensed"/>
              <a:ea typeface="Barlow Condensed"/>
              <a:cs typeface="Barlow Condensed"/>
              <a:sym typeface="Barlow Condensed"/>
            </a:endParaRPr>
          </a:p>
        </p:txBody>
      </p:sp>
      <p:sp>
        <p:nvSpPr>
          <p:cNvPr id="63" name="Google Shape;63;p13"/>
          <p:cNvSpPr txBox="1"/>
          <p:nvPr/>
        </p:nvSpPr>
        <p:spPr>
          <a:xfrm>
            <a:off x="13392150" y="29818363"/>
            <a:ext cx="7584000" cy="6313200"/>
          </a:xfrm>
          <a:prstGeom prst="rect">
            <a:avLst/>
          </a:prstGeom>
          <a:noFill/>
          <a:ln>
            <a:noFill/>
          </a:ln>
        </p:spPr>
        <p:txBody>
          <a:bodyPr anchorCtr="0" anchor="t" bIns="156150" lIns="312475" spcFirstLastPara="1" rIns="312475" wrap="square" tIns="156150">
            <a:noAutofit/>
          </a:bodyPr>
          <a:lstStyle/>
          <a:p>
            <a:pPr indent="0" lvl="0" marL="0" rtl="0" algn="l">
              <a:lnSpc>
                <a:spcPct val="100000"/>
              </a:lnSpc>
              <a:spcBef>
                <a:spcPts val="0"/>
              </a:spcBef>
              <a:spcAft>
                <a:spcPts val="0"/>
              </a:spcAft>
              <a:buClr>
                <a:schemeClr val="dk1"/>
              </a:buClr>
              <a:buFont typeface="Arial"/>
              <a:buNone/>
            </a:pPr>
            <a:r>
              <a:rPr lang="en" sz="3000">
                <a:solidFill>
                  <a:srgbClr val="141F22"/>
                </a:solidFill>
                <a:latin typeface="Barlow Condensed"/>
                <a:ea typeface="Barlow Condensed"/>
                <a:cs typeface="Barlow Condensed"/>
                <a:sym typeface="Barlow Condensed"/>
              </a:rPr>
              <a:t>Not only is the ARI important in improving safety and quality of life in Arlington, but it also helps save taxpayer money. </a:t>
            </a:r>
            <a:endParaRPr sz="3000">
              <a:solidFill>
                <a:srgbClr val="141F22"/>
              </a:solidFill>
              <a:latin typeface="Barlow Condensed"/>
              <a:ea typeface="Barlow Condensed"/>
              <a:cs typeface="Barlow Condensed"/>
              <a:sym typeface="Barlow Condensed"/>
            </a:endParaRPr>
          </a:p>
          <a:p>
            <a:pPr indent="0" lvl="0" marL="0" rtl="0" algn="l">
              <a:lnSpc>
                <a:spcPct val="100000"/>
              </a:lnSpc>
              <a:spcBef>
                <a:spcPts val="0"/>
              </a:spcBef>
              <a:spcAft>
                <a:spcPts val="0"/>
              </a:spcAft>
              <a:buClr>
                <a:schemeClr val="dk1"/>
              </a:buClr>
              <a:buFont typeface="Arial"/>
              <a:buNone/>
            </a:pPr>
            <a:r>
              <a:rPr lang="en" sz="3000">
                <a:solidFill>
                  <a:srgbClr val="141F22"/>
                </a:solidFill>
                <a:latin typeface="Barlow Condensed"/>
                <a:ea typeface="Barlow Condensed"/>
                <a:cs typeface="Barlow Condensed"/>
                <a:sym typeface="Barlow Condensed"/>
              </a:rPr>
              <a:t>The table on the left shows the economic cost of crimes from a variety of studies that use different methods of cost estimation. Some of the methods include tangible costs, intangible costs, or both. </a:t>
            </a:r>
            <a:endParaRPr sz="3000">
              <a:solidFill>
                <a:srgbClr val="141F22"/>
              </a:solidFill>
              <a:latin typeface="Barlow Condensed"/>
              <a:ea typeface="Barlow Condensed"/>
              <a:cs typeface="Barlow Condensed"/>
              <a:sym typeface="Barlow Condensed"/>
            </a:endParaRPr>
          </a:p>
          <a:p>
            <a:pPr indent="-419100" lvl="0" marL="457200" rtl="0" algn="l">
              <a:lnSpc>
                <a:spcPct val="100000"/>
              </a:lnSpc>
              <a:spcBef>
                <a:spcPts val="0"/>
              </a:spcBef>
              <a:spcAft>
                <a:spcPts val="0"/>
              </a:spcAft>
              <a:buClr>
                <a:srgbClr val="141F22"/>
              </a:buClr>
              <a:buSzPts val="3000"/>
              <a:buFont typeface="Barlow Condensed"/>
              <a:buChar char="-"/>
            </a:pPr>
            <a:r>
              <a:rPr b="1" lang="en" sz="3000">
                <a:solidFill>
                  <a:srgbClr val="141F22"/>
                </a:solidFill>
                <a:latin typeface="Barlow Condensed"/>
                <a:ea typeface="Barlow Condensed"/>
                <a:cs typeface="Barlow Condensed"/>
                <a:sym typeface="Barlow Condensed"/>
              </a:rPr>
              <a:t>Tangible costs</a:t>
            </a:r>
            <a:r>
              <a:rPr lang="en" sz="3000">
                <a:solidFill>
                  <a:srgbClr val="141F22"/>
                </a:solidFill>
                <a:latin typeface="Barlow Condensed"/>
                <a:ea typeface="Barlow Condensed"/>
                <a:cs typeface="Barlow Condensed"/>
                <a:sym typeface="Barlow Condensed"/>
              </a:rPr>
              <a:t> include costs such as medical expenses, lost wages/productivity, and the cost to repair property.</a:t>
            </a:r>
            <a:endParaRPr sz="3000">
              <a:solidFill>
                <a:srgbClr val="141F22"/>
              </a:solidFill>
              <a:latin typeface="Barlow Condensed"/>
              <a:ea typeface="Barlow Condensed"/>
              <a:cs typeface="Barlow Condensed"/>
              <a:sym typeface="Barlow Condensed"/>
            </a:endParaRPr>
          </a:p>
          <a:p>
            <a:pPr indent="-419100" lvl="0" marL="457200" rtl="0" algn="l">
              <a:lnSpc>
                <a:spcPct val="100000"/>
              </a:lnSpc>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 </a:t>
            </a:r>
            <a:r>
              <a:rPr b="1" lang="en" sz="3000">
                <a:solidFill>
                  <a:srgbClr val="141F22"/>
                </a:solidFill>
                <a:latin typeface="Barlow Condensed"/>
                <a:ea typeface="Barlow Condensed"/>
                <a:cs typeface="Barlow Condensed"/>
                <a:sym typeface="Barlow Condensed"/>
              </a:rPr>
              <a:t>Intangible costs</a:t>
            </a:r>
            <a:r>
              <a:rPr lang="en" sz="3000">
                <a:solidFill>
                  <a:srgbClr val="141F22"/>
                </a:solidFill>
                <a:latin typeface="Barlow Condensed"/>
                <a:ea typeface="Barlow Condensed"/>
                <a:cs typeface="Barlow Condensed"/>
                <a:sym typeface="Barlow Condensed"/>
              </a:rPr>
              <a:t> are the cost of pain and lost quality of life. </a:t>
            </a:r>
            <a:endParaRPr sz="3000">
              <a:solidFill>
                <a:srgbClr val="141F22"/>
              </a:solidFill>
              <a:latin typeface="Barlow Condensed"/>
              <a:ea typeface="Barlow Condensed"/>
              <a:cs typeface="Barlow Condensed"/>
              <a:sym typeface="Barlow Condensed"/>
            </a:endParaRPr>
          </a:p>
          <a:p>
            <a:pPr indent="0" lvl="0" marL="0" rtl="0" algn="l">
              <a:lnSpc>
                <a:spcPct val="100000"/>
              </a:lnSpc>
              <a:spcBef>
                <a:spcPts val="0"/>
              </a:spcBef>
              <a:spcAft>
                <a:spcPts val="0"/>
              </a:spcAft>
              <a:buNone/>
            </a:pPr>
            <a:r>
              <a:rPr lang="en" sz="3000">
                <a:solidFill>
                  <a:srgbClr val="141F22"/>
                </a:solidFill>
                <a:latin typeface="Barlow Condensed"/>
                <a:ea typeface="Barlow Condensed"/>
                <a:cs typeface="Barlow Condensed"/>
                <a:sym typeface="Barlow Condensed"/>
              </a:rPr>
              <a:t>The Miller (1996) studies and ticket fees do only tangible costs while the other studies include both tangible and intangible.</a:t>
            </a:r>
            <a:br>
              <a:rPr lang="en" sz="3000">
                <a:solidFill>
                  <a:srgbClr val="141F22"/>
                </a:solidFill>
                <a:latin typeface="Barlow Condensed"/>
                <a:ea typeface="Barlow Condensed"/>
                <a:cs typeface="Barlow Condensed"/>
                <a:sym typeface="Barlow Condensed"/>
              </a:rPr>
            </a:br>
            <a:endParaRPr sz="3000">
              <a:solidFill>
                <a:srgbClr val="141F22"/>
              </a:solidFill>
              <a:latin typeface="Barlow Condensed"/>
              <a:ea typeface="Barlow Condensed"/>
              <a:cs typeface="Barlow Condensed"/>
              <a:sym typeface="Barlow Condensed"/>
            </a:endParaRPr>
          </a:p>
        </p:txBody>
      </p:sp>
      <p:graphicFrame>
        <p:nvGraphicFramePr>
          <p:cNvPr id="64" name="Google Shape;64;p13"/>
          <p:cNvGraphicFramePr/>
          <p:nvPr/>
        </p:nvGraphicFramePr>
        <p:xfrm>
          <a:off x="19966388" y="18285813"/>
          <a:ext cx="3000000" cy="3000000"/>
        </p:xfrm>
        <a:graphic>
          <a:graphicData uri="http://schemas.openxmlformats.org/drawingml/2006/table">
            <a:tbl>
              <a:tblPr>
                <a:noFill/>
                <a:tableStyleId>{DDF198FE-A5AF-4E5E-A789-1F06D0756A5C}</a:tableStyleId>
              </a:tblPr>
              <a:tblGrid>
                <a:gridCol w="1214625"/>
                <a:gridCol w="1836775"/>
                <a:gridCol w="1723150"/>
                <a:gridCol w="2415400"/>
                <a:gridCol w="1226950"/>
                <a:gridCol w="2012200"/>
                <a:gridCol w="2873350"/>
              </a:tblGrid>
              <a:tr h="808675">
                <a:tc>
                  <a:txBody>
                    <a:bodyPr>
                      <a:noAutofit/>
                    </a:bodyPr>
                    <a:lstStyle/>
                    <a:p>
                      <a:pPr indent="0" lvl="0" marL="0" rtl="0" algn="ctr">
                        <a:spcBef>
                          <a:spcPts val="0"/>
                        </a:spcBef>
                        <a:spcAft>
                          <a:spcPts val="0"/>
                        </a:spcAft>
                        <a:buNone/>
                      </a:pPr>
                      <a:r>
                        <a:rPr b="1" lang="en" sz="2800">
                          <a:solidFill>
                            <a:srgbClr val="FFFFFF"/>
                          </a:solidFill>
                          <a:latin typeface="Barlow Condensed"/>
                          <a:ea typeface="Barlow Condensed"/>
                          <a:cs typeface="Barlow Condensed"/>
                          <a:sym typeface="Barlow Condensed"/>
                        </a:rPr>
                        <a:t>Year</a:t>
                      </a:r>
                      <a:endParaRPr b="1" sz="2800">
                        <a:solidFill>
                          <a:srgbClr val="FFFFFF"/>
                        </a:solidFill>
                        <a:latin typeface="Barlow Condensed"/>
                        <a:ea typeface="Barlow Condensed"/>
                        <a:cs typeface="Barlow Condensed"/>
                        <a:sym typeface="Barlow Condensed"/>
                      </a:endParaRPr>
                    </a:p>
                  </a:txBody>
                  <a:tcPr marT="68575" marB="68575" marR="68575" marL="68575">
                    <a:lnR cap="flat" cmpd="sng" w="9525">
                      <a:solidFill>
                        <a:srgbClr val="9E9E9E"/>
                      </a:solidFill>
                      <a:prstDash val="solid"/>
                      <a:round/>
                      <a:headEnd len="sm" w="sm" type="none"/>
                      <a:tailEnd len="sm" w="sm" type="none"/>
                    </a:lnR>
                    <a:solidFill>
                      <a:srgbClr val="0B5394"/>
                    </a:solidFill>
                  </a:tcPr>
                </a:tc>
                <a:tc>
                  <a:txBody>
                    <a:bodyPr>
                      <a:noAutofit/>
                    </a:bodyPr>
                    <a:lstStyle/>
                    <a:p>
                      <a:pPr indent="0" lvl="0" marL="0" rtl="0" algn="ctr">
                        <a:spcBef>
                          <a:spcPts val="0"/>
                        </a:spcBef>
                        <a:spcAft>
                          <a:spcPts val="0"/>
                        </a:spcAft>
                        <a:buNone/>
                      </a:pPr>
                      <a:r>
                        <a:rPr b="1" lang="en" sz="2800">
                          <a:solidFill>
                            <a:srgbClr val="FFFFFF"/>
                          </a:solidFill>
                          <a:latin typeface="Barlow Condensed"/>
                          <a:ea typeface="Barlow Condensed"/>
                          <a:cs typeface="Barlow Condensed"/>
                          <a:sym typeface="Barlow Condensed"/>
                        </a:rPr>
                        <a:t>Aggravated Assault</a:t>
                      </a:r>
                      <a:endParaRPr b="1" sz="2800">
                        <a:solidFill>
                          <a:srgbClr val="FFFFFF"/>
                        </a:solidFill>
                        <a:latin typeface="Barlow Condensed"/>
                        <a:ea typeface="Barlow Condensed"/>
                        <a:cs typeface="Barlow Condensed"/>
                        <a:sym typeface="Barlow Condensed"/>
                      </a:endParaRPr>
                    </a:p>
                  </a:txBody>
                  <a:tcPr marT="68575" marB="6857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B5394"/>
                    </a:solidFill>
                  </a:tcPr>
                </a:tc>
                <a:tc>
                  <a:txBody>
                    <a:bodyPr>
                      <a:noAutofit/>
                    </a:bodyPr>
                    <a:lstStyle/>
                    <a:p>
                      <a:pPr indent="0" lvl="0" marL="0" rtl="0" algn="ctr">
                        <a:spcBef>
                          <a:spcPts val="0"/>
                        </a:spcBef>
                        <a:spcAft>
                          <a:spcPts val="0"/>
                        </a:spcAft>
                        <a:buNone/>
                      </a:pPr>
                      <a:r>
                        <a:rPr b="1" lang="en" sz="2800">
                          <a:solidFill>
                            <a:srgbClr val="FFFFFF"/>
                          </a:solidFill>
                          <a:latin typeface="Barlow Condensed"/>
                          <a:ea typeface="Barlow Condensed"/>
                          <a:cs typeface="Barlow Condensed"/>
                          <a:sym typeface="Barlow Condensed"/>
                        </a:rPr>
                        <a:t>Disorderly Conduct</a:t>
                      </a:r>
                      <a:endParaRPr b="1" sz="2800">
                        <a:solidFill>
                          <a:srgbClr val="FFFFFF"/>
                        </a:solidFill>
                        <a:latin typeface="Barlow Condensed"/>
                        <a:ea typeface="Barlow Condensed"/>
                        <a:cs typeface="Barlow Condensed"/>
                        <a:sym typeface="Barlow Condensed"/>
                      </a:endParaRPr>
                    </a:p>
                  </a:txBody>
                  <a:tcPr marT="68575" marB="6857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B5394"/>
                    </a:solidFill>
                  </a:tcPr>
                </a:tc>
                <a:tc>
                  <a:txBody>
                    <a:bodyPr>
                      <a:noAutofit/>
                    </a:bodyPr>
                    <a:lstStyle/>
                    <a:p>
                      <a:pPr indent="0" lvl="0" marL="0" rtl="0" algn="ctr">
                        <a:spcBef>
                          <a:spcPts val="0"/>
                        </a:spcBef>
                        <a:spcAft>
                          <a:spcPts val="0"/>
                        </a:spcAft>
                        <a:buNone/>
                      </a:pPr>
                      <a:r>
                        <a:rPr b="1" lang="en" sz="2800">
                          <a:solidFill>
                            <a:srgbClr val="FFFFFF"/>
                          </a:solidFill>
                          <a:latin typeface="Barlow Condensed"/>
                          <a:ea typeface="Barlow Condensed"/>
                          <a:cs typeface="Barlow Condensed"/>
                          <a:sym typeface="Barlow Condensed"/>
                        </a:rPr>
                        <a:t>Drunk in Public</a:t>
                      </a:r>
                      <a:endParaRPr b="1" sz="2800">
                        <a:solidFill>
                          <a:srgbClr val="FFFFFF"/>
                        </a:solidFill>
                        <a:latin typeface="Barlow Condensed"/>
                        <a:ea typeface="Barlow Condensed"/>
                        <a:cs typeface="Barlow Condensed"/>
                        <a:sym typeface="Barlow Condensed"/>
                      </a:endParaRPr>
                    </a:p>
                  </a:txBody>
                  <a:tcPr marT="68575" marB="6857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B5394"/>
                    </a:solidFill>
                  </a:tcPr>
                </a:tc>
                <a:tc>
                  <a:txBody>
                    <a:bodyPr>
                      <a:noAutofit/>
                    </a:bodyPr>
                    <a:lstStyle/>
                    <a:p>
                      <a:pPr indent="0" lvl="0" marL="0" rtl="0" algn="ctr">
                        <a:spcBef>
                          <a:spcPts val="0"/>
                        </a:spcBef>
                        <a:spcAft>
                          <a:spcPts val="0"/>
                        </a:spcAft>
                        <a:buNone/>
                      </a:pPr>
                      <a:r>
                        <a:rPr b="1" lang="en" sz="2800">
                          <a:solidFill>
                            <a:srgbClr val="FFFFFF"/>
                          </a:solidFill>
                          <a:latin typeface="Barlow Condensed"/>
                          <a:ea typeface="Barlow Condensed"/>
                          <a:cs typeface="Barlow Condensed"/>
                          <a:sym typeface="Barlow Condensed"/>
                        </a:rPr>
                        <a:t>DUI</a:t>
                      </a:r>
                      <a:endParaRPr b="1" sz="2800">
                        <a:solidFill>
                          <a:srgbClr val="FFFFFF"/>
                        </a:solidFill>
                        <a:latin typeface="Barlow Condensed"/>
                        <a:ea typeface="Barlow Condensed"/>
                        <a:cs typeface="Barlow Condensed"/>
                        <a:sym typeface="Barlow Condensed"/>
                      </a:endParaRPr>
                    </a:p>
                  </a:txBody>
                  <a:tcPr marT="68575" marB="6857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B5394"/>
                    </a:solidFill>
                  </a:tcPr>
                </a:tc>
                <a:tc>
                  <a:txBody>
                    <a:bodyPr>
                      <a:noAutofit/>
                    </a:bodyPr>
                    <a:lstStyle/>
                    <a:p>
                      <a:pPr indent="0" lvl="0" marL="0" rtl="0" algn="ctr">
                        <a:spcBef>
                          <a:spcPts val="0"/>
                        </a:spcBef>
                        <a:spcAft>
                          <a:spcPts val="0"/>
                        </a:spcAft>
                        <a:buNone/>
                      </a:pPr>
                      <a:r>
                        <a:rPr b="1" lang="en" sz="2800">
                          <a:solidFill>
                            <a:srgbClr val="FFFFFF"/>
                          </a:solidFill>
                          <a:latin typeface="Barlow Condensed"/>
                          <a:ea typeface="Barlow Condensed"/>
                          <a:cs typeface="Barlow Condensed"/>
                          <a:sym typeface="Barlow Condensed"/>
                        </a:rPr>
                        <a:t>Rape / Sexual Assault</a:t>
                      </a:r>
                      <a:endParaRPr b="1" sz="2800">
                        <a:solidFill>
                          <a:srgbClr val="FFFFFF"/>
                        </a:solidFill>
                        <a:latin typeface="Barlow Condensed"/>
                        <a:ea typeface="Barlow Condensed"/>
                        <a:cs typeface="Barlow Condensed"/>
                        <a:sym typeface="Barlow Condensed"/>
                      </a:endParaRPr>
                    </a:p>
                  </a:txBody>
                  <a:tcPr marT="68575" marB="6857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B5394"/>
                    </a:solidFill>
                  </a:tcPr>
                </a:tc>
                <a:tc>
                  <a:txBody>
                    <a:bodyPr>
                      <a:noAutofit/>
                    </a:bodyPr>
                    <a:lstStyle/>
                    <a:p>
                      <a:pPr indent="0" lvl="0" marL="0" rtl="0" algn="ctr">
                        <a:spcBef>
                          <a:spcPts val="0"/>
                        </a:spcBef>
                        <a:spcAft>
                          <a:spcPts val="0"/>
                        </a:spcAft>
                        <a:buNone/>
                      </a:pPr>
                      <a:r>
                        <a:rPr b="1" lang="en" sz="2800">
                          <a:solidFill>
                            <a:srgbClr val="FFFFFF"/>
                          </a:solidFill>
                          <a:latin typeface="Barlow Condensed"/>
                          <a:ea typeface="Barlow Condensed"/>
                          <a:cs typeface="Barlow Condensed"/>
                          <a:sym typeface="Barlow Condensed"/>
                        </a:rPr>
                        <a:t>Underage Drinking / Fake ID</a:t>
                      </a:r>
                      <a:endParaRPr b="1" sz="2800">
                        <a:solidFill>
                          <a:srgbClr val="FFFFFF"/>
                        </a:solidFill>
                        <a:latin typeface="Barlow Condensed"/>
                        <a:ea typeface="Barlow Condensed"/>
                        <a:cs typeface="Barlow Condensed"/>
                        <a:sym typeface="Barlow Condensed"/>
                      </a:endParaRPr>
                    </a:p>
                  </a:txBody>
                  <a:tcPr marT="68575" marB="6857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B5394"/>
                    </a:solidFill>
                  </a:tcPr>
                </a:tc>
              </a:tr>
              <a:tr h="147275">
                <a:tc>
                  <a:txBody>
                    <a:bodyPr>
                      <a:noAutofit/>
                    </a:bodyPr>
                    <a:lstStyle/>
                    <a:p>
                      <a:pPr indent="0" lvl="0" marL="0" rtl="0" algn="ctr">
                        <a:spcBef>
                          <a:spcPts val="0"/>
                        </a:spcBef>
                        <a:spcAft>
                          <a:spcPts val="0"/>
                        </a:spcAft>
                        <a:buNone/>
                      </a:pPr>
                      <a:r>
                        <a:rPr b="1" lang="en" sz="2800">
                          <a:latin typeface="Barlow Condensed"/>
                          <a:ea typeface="Barlow Condensed"/>
                          <a:cs typeface="Barlow Condensed"/>
                          <a:sym typeface="Barlow Condensed"/>
                        </a:rPr>
                        <a:t>2015</a:t>
                      </a:r>
                      <a:endParaRPr b="1" sz="2800">
                        <a:latin typeface="Barlow Condensed"/>
                        <a:ea typeface="Barlow Condensed"/>
                        <a:cs typeface="Barlow Condensed"/>
                        <a:sym typeface="Barlow Condensed"/>
                      </a:endParaRPr>
                    </a:p>
                  </a:txBody>
                  <a:tcPr marT="68575" marB="68575" marR="68575" marL="68575" anchor="ctr">
                    <a:solidFill>
                      <a:srgbClr val="9FC5E8"/>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92</a:t>
                      </a:r>
                      <a:endParaRPr sz="2800">
                        <a:latin typeface="Barlow Condensed"/>
                        <a:ea typeface="Barlow Condensed"/>
                        <a:cs typeface="Barlow Condensed"/>
                        <a:sym typeface="Barlow Condensed"/>
                      </a:endParaRPr>
                    </a:p>
                  </a:txBody>
                  <a:tcPr marT="68575" marB="68575" marR="68575" marL="68575" anchor="ctr">
                    <a:lnT cap="flat" cmpd="sng" w="9525">
                      <a:solidFill>
                        <a:srgbClr val="9E9E9E"/>
                      </a:solidFill>
                      <a:prstDash val="solid"/>
                      <a:round/>
                      <a:headEnd len="sm" w="sm" type="none"/>
                      <a:tailEnd len="sm" w="sm" type="none"/>
                    </a:lnT>
                    <a:solidFill>
                      <a:srgbClr val="9FC5E8"/>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22</a:t>
                      </a:r>
                      <a:endParaRPr sz="2800">
                        <a:latin typeface="Barlow Condensed"/>
                        <a:ea typeface="Barlow Condensed"/>
                        <a:cs typeface="Barlow Condensed"/>
                        <a:sym typeface="Barlow Condensed"/>
                      </a:endParaRPr>
                    </a:p>
                  </a:txBody>
                  <a:tcPr marT="68575" marB="68575" marR="68575" marL="68575" anchor="ctr">
                    <a:lnT cap="flat" cmpd="sng" w="9525">
                      <a:solidFill>
                        <a:srgbClr val="9E9E9E"/>
                      </a:solidFill>
                      <a:prstDash val="solid"/>
                      <a:round/>
                      <a:headEnd len="sm" w="sm" type="none"/>
                      <a:tailEnd len="sm" w="sm" type="none"/>
                    </a:lnT>
                    <a:solidFill>
                      <a:srgbClr val="9FC5E8"/>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176</a:t>
                      </a:r>
                      <a:endParaRPr sz="2800">
                        <a:latin typeface="Barlow Condensed"/>
                        <a:ea typeface="Barlow Condensed"/>
                        <a:cs typeface="Barlow Condensed"/>
                        <a:sym typeface="Barlow Condensed"/>
                      </a:endParaRPr>
                    </a:p>
                  </a:txBody>
                  <a:tcPr marT="68575" marB="68575" marR="68575" marL="68575" anchor="ctr">
                    <a:lnT cap="flat" cmpd="sng" w="9525">
                      <a:solidFill>
                        <a:srgbClr val="9E9E9E"/>
                      </a:solidFill>
                      <a:prstDash val="solid"/>
                      <a:round/>
                      <a:headEnd len="sm" w="sm" type="none"/>
                      <a:tailEnd len="sm" w="sm" type="none"/>
                    </a:lnT>
                    <a:solidFill>
                      <a:srgbClr val="9FC5E8"/>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40</a:t>
                      </a:r>
                      <a:endParaRPr sz="2800">
                        <a:latin typeface="Barlow Condensed"/>
                        <a:ea typeface="Barlow Condensed"/>
                        <a:cs typeface="Barlow Condensed"/>
                        <a:sym typeface="Barlow Condensed"/>
                      </a:endParaRPr>
                    </a:p>
                  </a:txBody>
                  <a:tcPr marT="68575" marB="68575" marR="68575" marL="68575" anchor="ctr">
                    <a:lnT cap="flat" cmpd="sng" w="9525">
                      <a:solidFill>
                        <a:srgbClr val="9E9E9E"/>
                      </a:solidFill>
                      <a:prstDash val="solid"/>
                      <a:round/>
                      <a:headEnd len="sm" w="sm" type="none"/>
                      <a:tailEnd len="sm" w="sm" type="none"/>
                    </a:lnT>
                    <a:solidFill>
                      <a:srgbClr val="9FC5E8"/>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2</a:t>
                      </a:r>
                      <a:endParaRPr sz="2800">
                        <a:latin typeface="Barlow Condensed"/>
                        <a:ea typeface="Barlow Condensed"/>
                        <a:cs typeface="Barlow Condensed"/>
                        <a:sym typeface="Barlow Condensed"/>
                      </a:endParaRPr>
                    </a:p>
                  </a:txBody>
                  <a:tcPr marT="68575" marB="68575" marR="68575" marL="68575" anchor="ctr">
                    <a:lnT cap="flat" cmpd="sng" w="9525">
                      <a:solidFill>
                        <a:srgbClr val="9E9E9E"/>
                      </a:solidFill>
                      <a:prstDash val="solid"/>
                      <a:round/>
                      <a:headEnd len="sm" w="sm" type="none"/>
                      <a:tailEnd len="sm" w="sm" type="none"/>
                    </a:lnT>
                    <a:solidFill>
                      <a:srgbClr val="9FC5E8"/>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1</a:t>
                      </a:r>
                      <a:endParaRPr sz="2800">
                        <a:latin typeface="Barlow Condensed"/>
                        <a:ea typeface="Barlow Condensed"/>
                        <a:cs typeface="Barlow Condensed"/>
                        <a:sym typeface="Barlow Condensed"/>
                      </a:endParaRPr>
                    </a:p>
                  </a:txBody>
                  <a:tcPr marT="68575" marB="68575" marR="68575" marL="68575" anchor="ctr">
                    <a:lnT cap="flat" cmpd="sng" w="9525">
                      <a:solidFill>
                        <a:srgbClr val="9E9E9E"/>
                      </a:solidFill>
                      <a:prstDash val="solid"/>
                      <a:round/>
                      <a:headEnd len="sm" w="sm" type="none"/>
                      <a:tailEnd len="sm" w="sm" type="none"/>
                    </a:lnT>
                    <a:solidFill>
                      <a:srgbClr val="9FC5E8"/>
                    </a:solidFill>
                  </a:tcPr>
                </a:tc>
              </a:tr>
              <a:tr h="596450">
                <a:tc>
                  <a:txBody>
                    <a:bodyPr>
                      <a:noAutofit/>
                    </a:bodyPr>
                    <a:lstStyle/>
                    <a:p>
                      <a:pPr indent="0" lvl="0" marL="0" rtl="0" algn="ctr">
                        <a:spcBef>
                          <a:spcPts val="0"/>
                        </a:spcBef>
                        <a:spcAft>
                          <a:spcPts val="0"/>
                        </a:spcAft>
                        <a:buNone/>
                      </a:pPr>
                      <a:r>
                        <a:rPr b="1" lang="en" sz="2800">
                          <a:latin typeface="Barlow Condensed"/>
                          <a:ea typeface="Barlow Condensed"/>
                          <a:cs typeface="Barlow Condensed"/>
                          <a:sym typeface="Barlow Condensed"/>
                        </a:rPr>
                        <a:t>2016</a:t>
                      </a:r>
                      <a:endParaRPr b="1" sz="2800">
                        <a:latin typeface="Barlow Condensed"/>
                        <a:ea typeface="Barlow Condensed"/>
                        <a:cs typeface="Barlow Condensed"/>
                        <a:sym typeface="Barlow Condensed"/>
                      </a:endParaRPr>
                    </a:p>
                  </a:txBody>
                  <a:tcPr marT="68575" marB="68575" marR="68575" marL="68575" anchor="ctr">
                    <a:solidFill>
                      <a:srgbClr val="E7E6E6"/>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74</a:t>
                      </a:r>
                      <a:endParaRPr sz="2800">
                        <a:latin typeface="Barlow Condensed"/>
                        <a:ea typeface="Barlow Condensed"/>
                        <a:cs typeface="Barlow Condensed"/>
                        <a:sym typeface="Barlow Condensed"/>
                      </a:endParaRPr>
                    </a:p>
                  </a:txBody>
                  <a:tcPr marT="68575" marB="68575" marR="68575" marL="68575" anchor="ctr">
                    <a:solidFill>
                      <a:srgbClr val="E7E6E6"/>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41</a:t>
                      </a:r>
                      <a:endParaRPr sz="2800">
                        <a:latin typeface="Barlow Condensed"/>
                        <a:ea typeface="Barlow Condensed"/>
                        <a:cs typeface="Barlow Condensed"/>
                        <a:sym typeface="Barlow Condensed"/>
                      </a:endParaRPr>
                    </a:p>
                  </a:txBody>
                  <a:tcPr marT="68575" marB="68575" marR="68575" marL="68575" anchor="ctr">
                    <a:solidFill>
                      <a:srgbClr val="E7E6E6"/>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188</a:t>
                      </a:r>
                      <a:endParaRPr sz="2800">
                        <a:latin typeface="Barlow Condensed"/>
                        <a:ea typeface="Barlow Condensed"/>
                        <a:cs typeface="Barlow Condensed"/>
                        <a:sym typeface="Barlow Condensed"/>
                      </a:endParaRPr>
                    </a:p>
                  </a:txBody>
                  <a:tcPr marT="68575" marB="68575" marR="68575" marL="68575" anchor="ctr">
                    <a:solidFill>
                      <a:srgbClr val="E7E6E6"/>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51</a:t>
                      </a:r>
                      <a:endParaRPr sz="2800">
                        <a:latin typeface="Barlow Condensed"/>
                        <a:ea typeface="Barlow Condensed"/>
                        <a:cs typeface="Barlow Condensed"/>
                        <a:sym typeface="Barlow Condensed"/>
                      </a:endParaRPr>
                    </a:p>
                  </a:txBody>
                  <a:tcPr marT="68575" marB="68575" marR="68575" marL="68575" anchor="ctr">
                    <a:solidFill>
                      <a:srgbClr val="E7E6E6"/>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7</a:t>
                      </a:r>
                      <a:endParaRPr sz="2800">
                        <a:latin typeface="Barlow Condensed"/>
                        <a:ea typeface="Barlow Condensed"/>
                        <a:cs typeface="Barlow Condensed"/>
                        <a:sym typeface="Barlow Condensed"/>
                      </a:endParaRPr>
                    </a:p>
                  </a:txBody>
                  <a:tcPr marT="68575" marB="68575" marR="68575" marL="68575" anchor="ctr">
                    <a:solidFill>
                      <a:srgbClr val="E7E6E6"/>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2</a:t>
                      </a:r>
                      <a:endParaRPr sz="2800">
                        <a:latin typeface="Barlow Condensed"/>
                        <a:ea typeface="Barlow Condensed"/>
                        <a:cs typeface="Barlow Condensed"/>
                        <a:sym typeface="Barlow Condensed"/>
                      </a:endParaRPr>
                    </a:p>
                  </a:txBody>
                  <a:tcPr marT="68575" marB="68575" marR="68575" marL="68575" anchor="ctr">
                    <a:solidFill>
                      <a:srgbClr val="E7E6E6"/>
                    </a:solidFill>
                  </a:tcPr>
                </a:tc>
              </a:tr>
              <a:tr h="480325">
                <a:tc>
                  <a:txBody>
                    <a:bodyPr>
                      <a:noAutofit/>
                    </a:bodyPr>
                    <a:lstStyle/>
                    <a:p>
                      <a:pPr indent="0" lvl="0" marL="0" rtl="0" algn="ctr">
                        <a:spcBef>
                          <a:spcPts val="0"/>
                        </a:spcBef>
                        <a:spcAft>
                          <a:spcPts val="0"/>
                        </a:spcAft>
                        <a:buNone/>
                      </a:pPr>
                      <a:r>
                        <a:rPr b="1" lang="en" sz="2800">
                          <a:latin typeface="Barlow Condensed"/>
                          <a:ea typeface="Barlow Condensed"/>
                          <a:cs typeface="Barlow Condensed"/>
                          <a:sym typeface="Barlow Condensed"/>
                        </a:rPr>
                        <a:t>2017</a:t>
                      </a:r>
                      <a:endParaRPr b="1" sz="2800">
                        <a:latin typeface="Barlow Condensed"/>
                        <a:ea typeface="Barlow Condensed"/>
                        <a:cs typeface="Barlow Condensed"/>
                        <a:sym typeface="Barlow Condensed"/>
                      </a:endParaRPr>
                    </a:p>
                  </a:txBody>
                  <a:tcPr marT="68575" marB="68575" marR="68575" marL="68575" anchor="ctr">
                    <a:solidFill>
                      <a:srgbClr val="9FC5E8"/>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35</a:t>
                      </a:r>
                      <a:endParaRPr sz="2800">
                        <a:latin typeface="Barlow Condensed"/>
                        <a:ea typeface="Barlow Condensed"/>
                        <a:cs typeface="Barlow Condensed"/>
                        <a:sym typeface="Barlow Condensed"/>
                      </a:endParaRPr>
                    </a:p>
                  </a:txBody>
                  <a:tcPr marT="68575" marB="68575" marR="68575" marL="68575" anchor="ctr">
                    <a:solidFill>
                      <a:srgbClr val="9FC5E8"/>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6</a:t>
                      </a:r>
                      <a:endParaRPr sz="2800">
                        <a:latin typeface="Barlow Condensed"/>
                        <a:ea typeface="Barlow Condensed"/>
                        <a:cs typeface="Barlow Condensed"/>
                        <a:sym typeface="Barlow Condensed"/>
                      </a:endParaRPr>
                    </a:p>
                  </a:txBody>
                  <a:tcPr marT="68575" marB="68575" marR="68575" marL="68575" anchor="ctr">
                    <a:solidFill>
                      <a:srgbClr val="9FC5E8"/>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162</a:t>
                      </a:r>
                      <a:endParaRPr sz="2800">
                        <a:latin typeface="Barlow Condensed"/>
                        <a:ea typeface="Barlow Condensed"/>
                        <a:cs typeface="Barlow Condensed"/>
                        <a:sym typeface="Barlow Condensed"/>
                      </a:endParaRPr>
                    </a:p>
                  </a:txBody>
                  <a:tcPr marT="68575" marB="68575" marR="68575" marL="68575" anchor="ctr">
                    <a:solidFill>
                      <a:srgbClr val="9FC5E8"/>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27</a:t>
                      </a:r>
                      <a:endParaRPr sz="2800">
                        <a:latin typeface="Barlow Condensed"/>
                        <a:ea typeface="Barlow Condensed"/>
                        <a:cs typeface="Barlow Condensed"/>
                        <a:sym typeface="Barlow Condensed"/>
                      </a:endParaRPr>
                    </a:p>
                  </a:txBody>
                  <a:tcPr marT="68575" marB="68575" marR="68575" marL="68575" anchor="ctr">
                    <a:solidFill>
                      <a:srgbClr val="9FC5E8"/>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9</a:t>
                      </a:r>
                      <a:endParaRPr sz="2800">
                        <a:latin typeface="Barlow Condensed"/>
                        <a:ea typeface="Barlow Condensed"/>
                        <a:cs typeface="Barlow Condensed"/>
                        <a:sym typeface="Barlow Condensed"/>
                      </a:endParaRPr>
                    </a:p>
                  </a:txBody>
                  <a:tcPr marT="68575" marB="68575" marR="68575" marL="68575" anchor="ctr">
                    <a:solidFill>
                      <a:srgbClr val="9FC5E8"/>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0</a:t>
                      </a:r>
                      <a:endParaRPr sz="2800">
                        <a:latin typeface="Barlow Condensed"/>
                        <a:ea typeface="Barlow Condensed"/>
                        <a:cs typeface="Barlow Condensed"/>
                        <a:sym typeface="Barlow Condensed"/>
                      </a:endParaRPr>
                    </a:p>
                  </a:txBody>
                  <a:tcPr marT="68575" marB="68575" marR="68575" marL="68575" anchor="ctr">
                    <a:solidFill>
                      <a:srgbClr val="9FC5E8"/>
                    </a:solidFill>
                  </a:tcPr>
                </a:tc>
              </a:tr>
            </a:tbl>
          </a:graphicData>
        </a:graphic>
      </p:graphicFrame>
      <p:pic>
        <p:nvPicPr>
          <p:cNvPr id="65" name="Google Shape;65;p13"/>
          <p:cNvPicPr preferRelativeResize="0"/>
          <p:nvPr/>
        </p:nvPicPr>
        <p:blipFill>
          <a:blip r:embed="rId5">
            <a:alphaModFix/>
          </a:blip>
          <a:stretch>
            <a:fillRect/>
          </a:stretch>
        </p:blipFill>
        <p:spPr>
          <a:xfrm>
            <a:off x="1197500" y="21475450"/>
            <a:ext cx="9981400" cy="7025930"/>
          </a:xfrm>
          <a:prstGeom prst="rect">
            <a:avLst/>
          </a:prstGeom>
          <a:noFill/>
          <a:ln>
            <a:noFill/>
          </a:ln>
        </p:spPr>
      </p:pic>
      <p:sp>
        <p:nvSpPr>
          <p:cNvPr id="66" name="Google Shape;66;p13"/>
          <p:cNvSpPr txBox="1"/>
          <p:nvPr/>
        </p:nvSpPr>
        <p:spPr>
          <a:xfrm>
            <a:off x="28695350" y="21437525"/>
            <a:ext cx="6489900" cy="5474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3000">
                <a:latin typeface="Barlow Condensed"/>
                <a:ea typeface="Barlow Condensed"/>
                <a:cs typeface="Barlow Condensed"/>
                <a:sym typeface="Barlow Condensed"/>
              </a:rPr>
              <a:t>The goal is to show</a:t>
            </a:r>
            <a:r>
              <a:rPr lang="en" sz="3000">
                <a:latin typeface="Barlow Condensed"/>
                <a:ea typeface="Barlow Condensed"/>
                <a:cs typeface="Barlow Condensed"/>
                <a:sym typeface="Barlow Condensed"/>
              </a:rPr>
              <a:t> the effect of ARI on the rate of crime in Arlington during special “drinking” events and holidays. </a:t>
            </a:r>
            <a:endParaRPr sz="3000">
              <a:latin typeface="Barlow Condensed"/>
              <a:ea typeface="Barlow Condensed"/>
              <a:cs typeface="Barlow Condensed"/>
              <a:sym typeface="Barlow Condensed"/>
            </a:endParaRPr>
          </a:p>
          <a:p>
            <a:pPr indent="-419100" lvl="0" marL="457200" rtl="0" algn="l">
              <a:lnSpc>
                <a:spcPct val="100000"/>
              </a:lnSpc>
              <a:spcBef>
                <a:spcPts val="0"/>
              </a:spcBef>
              <a:spcAft>
                <a:spcPts val="0"/>
              </a:spcAft>
              <a:buSzPts val="3000"/>
              <a:buFont typeface="Barlow Condensed"/>
              <a:buChar char="●"/>
            </a:pPr>
            <a:r>
              <a:rPr lang="en" sz="3000">
                <a:latin typeface="Barlow Condensed"/>
                <a:ea typeface="Barlow Condensed"/>
                <a:cs typeface="Barlow Condensed"/>
                <a:sym typeface="Barlow Condensed"/>
              </a:rPr>
              <a:t>We chose the holidays that are normally associated with increased rates of alcohol consumption. </a:t>
            </a:r>
            <a:endParaRPr sz="3000">
              <a:latin typeface="Barlow Condensed"/>
              <a:ea typeface="Barlow Condensed"/>
              <a:cs typeface="Barlow Condensed"/>
              <a:sym typeface="Barlow Condensed"/>
            </a:endParaRPr>
          </a:p>
          <a:p>
            <a:pPr indent="-419100" lvl="0" marL="457200" rtl="0" algn="l">
              <a:lnSpc>
                <a:spcPct val="100000"/>
              </a:lnSpc>
              <a:spcBef>
                <a:spcPts val="0"/>
              </a:spcBef>
              <a:spcAft>
                <a:spcPts val="0"/>
              </a:spcAft>
              <a:buSzPts val="3000"/>
              <a:buFont typeface="Barlow Condensed"/>
              <a:buChar char="●"/>
            </a:pPr>
            <a:r>
              <a:rPr lang="en" sz="3000">
                <a:latin typeface="Barlow Condensed"/>
                <a:ea typeface="Barlow Condensed"/>
                <a:cs typeface="Barlow Condensed"/>
                <a:sym typeface="Barlow Condensed"/>
              </a:rPr>
              <a:t>The graph includes </a:t>
            </a:r>
            <a:r>
              <a:rPr lang="en" sz="3000">
                <a:solidFill>
                  <a:schemeClr val="dk1"/>
                </a:solidFill>
                <a:latin typeface="Barlow Condensed"/>
                <a:ea typeface="Barlow Condensed"/>
                <a:cs typeface="Barlow Condensed"/>
                <a:sym typeface="Barlow Condensed"/>
              </a:rPr>
              <a:t>alcohol-related </a:t>
            </a:r>
            <a:r>
              <a:rPr lang="en" sz="3000">
                <a:latin typeface="Barlow Condensed"/>
                <a:ea typeface="Barlow Condensed"/>
                <a:cs typeface="Barlow Condensed"/>
                <a:sym typeface="Barlow Condensed"/>
              </a:rPr>
              <a:t>crimes committed between the hours of 21:00 to 03:00 (night) for Clarendon and Arlington (incl. Clarendon) before and after the ARI strategies were implemented in 2016. </a:t>
            </a:r>
            <a:endParaRPr sz="3000">
              <a:latin typeface="Barlow Condensed"/>
              <a:ea typeface="Barlow Condensed"/>
              <a:cs typeface="Barlow Condensed"/>
              <a:sym typeface="Barlow Condensed"/>
            </a:endParaRPr>
          </a:p>
          <a:p>
            <a:pPr indent="-419100" lvl="0" marL="457200" rtl="0" algn="l">
              <a:lnSpc>
                <a:spcPct val="100000"/>
              </a:lnSpc>
              <a:spcBef>
                <a:spcPts val="0"/>
              </a:spcBef>
              <a:spcAft>
                <a:spcPts val="0"/>
              </a:spcAft>
              <a:buSzPts val="3000"/>
              <a:buFont typeface="Barlow Condensed"/>
              <a:buChar char="●"/>
            </a:pPr>
            <a:r>
              <a:rPr lang="en" sz="3000">
                <a:latin typeface="Barlow Condensed"/>
                <a:ea typeface="Barlow Condensed"/>
                <a:cs typeface="Barlow Condensed"/>
                <a:sym typeface="Barlow Condensed"/>
              </a:rPr>
              <a:t>This plot shows a general decrease in crime in both regions on holidays.  </a:t>
            </a:r>
            <a:endParaRPr sz="3000">
              <a:latin typeface="Barlow Condensed"/>
              <a:ea typeface="Barlow Condensed"/>
              <a:cs typeface="Barlow Condensed"/>
              <a:sym typeface="Barlow Condensed"/>
            </a:endParaRPr>
          </a:p>
        </p:txBody>
      </p:sp>
      <p:sp>
        <p:nvSpPr>
          <p:cNvPr id="67" name="Google Shape;67;p13"/>
          <p:cNvSpPr txBox="1"/>
          <p:nvPr/>
        </p:nvSpPr>
        <p:spPr>
          <a:xfrm>
            <a:off x="11026500" y="21703475"/>
            <a:ext cx="6842400" cy="6313200"/>
          </a:xfrm>
          <a:prstGeom prst="rect">
            <a:avLst/>
          </a:prstGeom>
          <a:noFill/>
          <a:ln>
            <a:noFill/>
          </a:ln>
        </p:spPr>
        <p:txBody>
          <a:bodyPr anchorCtr="0" anchor="t" bIns="91425" lIns="91425" spcFirstLastPara="1" rIns="91425" wrap="square" tIns="91425">
            <a:noAutofit/>
          </a:bodyPr>
          <a:lstStyle/>
          <a:p>
            <a:pPr indent="-419100" lvl="0" marL="457200" rtl="0" algn="l">
              <a:lnSpc>
                <a:spcPct val="100000"/>
              </a:lnSpc>
              <a:spcBef>
                <a:spcPts val="0"/>
              </a:spcBef>
              <a:spcAft>
                <a:spcPts val="0"/>
              </a:spcAft>
              <a:buSzPts val="3000"/>
              <a:buFont typeface="Barlow Condensed"/>
              <a:buChar char="●"/>
            </a:pPr>
            <a:r>
              <a:rPr lang="en" sz="3000">
                <a:latin typeface="Barlow Condensed"/>
                <a:ea typeface="Barlow Condensed"/>
                <a:cs typeface="Barlow Condensed"/>
                <a:sym typeface="Barlow Condensed"/>
              </a:rPr>
              <a:t>ARI</a:t>
            </a:r>
            <a:r>
              <a:rPr lang="en" sz="3000">
                <a:latin typeface="Barlow Condensed"/>
                <a:ea typeface="Barlow Condensed"/>
                <a:cs typeface="Barlow Condensed"/>
                <a:sym typeface="Barlow Condensed"/>
              </a:rPr>
              <a:t> works to decrease alcohol-related crimes between the hours of 21:00 and 03:00 (night), when observed nightlife is most active.</a:t>
            </a:r>
            <a:endParaRPr sz="3000">
              <a:latin typeface="Barlow Condensed"/>
              <a:ea typeface="Barlow Condensed"/>
              <a:cs typeface="Barlow Condensed"/>
              <a:sym typeface="Barlow Condensed"/>
            </a:endParaRPr>
          </a:p>
          <a:p>
            <a:pPr indent="-419100" lvl="0" marL="457200" rtl="0" algn="l">
              <a:lnSpc>
                <a:spcPct val="100000"/>
              </a:lnSpc>
              <a:spcBef>
                <a:spcPts val="0"/>
              </a:spcBef>
              <a:spcAft>
                <a:spcPts val="0"/>
              </a:spcAft>
              <a:buSzPts val="3000"/>
              <a:buFont typeface="Barlow Condensed"/>
              <a:buChar char="●"/>
            </a:pPr>
            <a:r>
              <a:rPr lang="en" sz="3000">
                <a:latin typeface="Barlow Condensed"/>
                <a:ea typeface="Barlow Condensed"/>
                <a:cs typeface="Barlow Condensed"/>
                <a:sym typeface="Barlow Condensed"/>
              </a:rPr>
              <a:t>The figure on the left includes only the alcohol-related crime types (shown in table above) that occurred within the Clarendon area.</a:t>
            </a:r>
            <a:endParaRPr sz="3000">
              <a:latin typeface="Barlow Condensed"/>
              <a:ea typeface="Barlow Condensed"/>
              <a:cs typeface="Barlow Condensed"/>
              <a:sym typeface="Barlow Condensed"/>
            </a:endParaRPr>
          </a:p>
          <a:p>
            <a:pPr indent="-419100" lvl="0" marL="457200" rtl="0" algn="l">
              <a:lnSpc>
                <a:spcPct val="100000"/>
              </a:lnSpc>
              <a:spcBef>
                <a:spcPts val="0"/>
              </a:spcBef>
              <a:spcAft>
                <a:spcPts val="0"/>
              </a:spcAft>
              <a:buSzPts val="3000"/>
              <a:buFont typeface="Barlow Condensed"/>
              <a:buChar char="●"/>
            </a:pPr>
            <a:r>
              <a:rPr lang="en" sz="3000">
                <a:latin typeface="Barlow Condensed"/>
                <a:ea typeface="Barlow Condensed"/>
                <a:cs typeface="Barlow Condensed"/>
                <a:sym typeface="Barlow Condensed"/>
              </a:rPr>
              <a:t>The intervals in this graph depict the importance of the continuation of this program, as there is a sharp decrease in alcohol-related crimes since the program strategies were implemented in 2016. </a:t>
            </a:r>
            <a:endParaRPr sz="3000">
              <a:latin typeface="Barlow Condensed"/>
              <a:ea typeface="Barlow Condensed"/>
              <a:cs typeface="Barlow Condensed"/>
              <a:sym typeface="Barlow Condensed"/>
            </a:endParaRPr>
          </a:p>
          <a:p>
            <a:pPr indent="0" lvl="0" marL="0" rtl="0" algn="l">
              <a:lnSpc>
                <a:spcPct val="100000"/>
              </a:lnSpc>
              <a:spcBef>
                <a:spcPts val="0"/>
              </a:spcBef>
              <a:spcAft>
                <a:spcPts val="0"/>
              </a:spcAft>
              <a:buNone/>
            </a:pPr>
            <a:r>
              <a:t/>
            </a:r>
            <a:endParaRPr sz="3000">
              <a:solidFill>
                <a:schemeClr val="dk1"/>
              </a:solidFill>
              <a:latin typeface="Barlow Condensed"/>
              <a:ea typeface="Barlow Condensed"/>
              <a:cs typeface="Barlow Condensed"/>
              <a:sym typeface="Barlow Condensed"/>
            </a:endParaRPr>
          </a:p>
          <a:p>
            <a:pPr indent="0" lvl="0" marL="0" rtl="0" algn="l">
              <a:lnSpc>
                <a:spcPct val="100000"/>
              </a:lnSpc>
              <a:spcBef>
                <a:spcPts val="0"/>
              </a:spcBef>
              <a:spcAft>
                <a:spcPts val="0"/>
              </a:spcAft>
              <a:buNone/>
            </a:pPr>
            <a:r>
              <a:t/>
            </a:r>
            <a:endParaRPr sz="3000">
              <a:solidFill>
                <a:srgbClr val="141F22"/>
              </a:solidFill>
              <a:latin typeface="Barlow Condensed"/>
              <a:ea typeface="Barlow Condensed"/>
              <a:cs typeface="Barlow Condensed"/>
              <a:sym typeface="Barlow Condensed"/>
            </a:endParaRPr>
          </a:p>
        </p:txBody>
      </p:sp>
      <p:pic>
        <p:nvPicPr>
          <p:cNvPr id="68" name="Google Shape;68;p13"/>
          <p:cNvPicPr preferRelativeResize="0"/>
          <p:nvPr/>
        </p:nvPicPr>
        <p:blipFill>
          <a:blip r:embed="rId6">
            <a:alphaModFix/>
          </a:blip>
          <a:stretch>
            <a:fillRect/>
          </a:stretch>
        </p:blipFill>
        <p:spPr>
          <a:xfrm>
            <a:off x="20515812" y="6328300"/>
            <a:ext cx="14455728" cy="8743703"/>
          </a:xfrm>
          <a:prstGeom prst="rect">
            <a:avLst/>
          </a:prstGeom>
          <a:noFill/>
          <a:ln cap="flat" cmpd="sng" w="19050">
            <a:solidFill>
              <a:srgbClr val="336699"/>
            </a:solidFill>
            <a:prstDash val="solid"/>
            <a:round/>
            <a:headEnd len="sm" w="sm" type="none"/>
            <a:tailEnd len="sm" w="sm" type="none"/>
          </a:ln>
        </p:spPr>
      </p:pic>
      <p:graphicFrame>
        <p:nvGraphicFramePr>
          <p:cNvPr id="69" name="Google Shape;69;p13"/>
          <p:cNvGraphicFramePr/>
          <p:nvPr/>
        </p:nvGraphicFramePr>
        <p:xfrm>
          <a:off x="11676088" y="12764700"/>
          <a:ext cx="3000000" cy="3000000"/>
        </p:xfrm>
        <a:graphic>
          <a:graphicData uri="http://schemas.openxmlformats.org/drawingml/2006/table">
            <a:tbl>
              <a:tblPr>
                <a:noFill/>
                <a:tableStyleId>{B7BF00AE-51D1-4380-8EFF-20F7162B925C}</a:tableStyleId>
              </a:tblPr>
              <a:tblGrid>
                <a:gridCol w="3059125"/>
                <a:gridCol w="1674800"/>
                <a:gridCol w="1963700"/>
              </a:tblGrid>
              <a:tr h="516525">
                <a:tc gridSpan="3">
                  <a:txBody>
                    <a:bodyPr>
                      <a:noAutofit/>
                    </a:bodyPr>
                    <a:lstStyle/>
                    <a:p>
                      <a:pPr indent="0" lvl="0" marL="88900" marR="88900" rtl="0" algn="ctr">
                        <a:lnSpc>
                          <a:spcPct val="100000"/>
                        </a:lnSpc>
                        <a:spcBef>
                          <a:spcPts val="0"/>
                        </a:spcBef>
                        <a:spcAft>
                          <a:spcPts val="0"/>
                        </a:spcAft>
                        <a:buNone/>
                      </a:pPr>
                      <a:r>
                        <a:rPr b="1" lang="en" sz="2500">
                          <a:latin typeface="Barlow Condensed"/>
                          <a:ea typeface="Barlow Condensed"/>
                          <a:cs typeface="Barlow Condensed"/>
                          <a:sym typeface="Barlow Condensed"/>
                        </a:rPr>
                        <a:t>Summary of </a:t>
                      </a:r>
                      <a:r>
                        <a:rPr b="1" lang="en" sz="2500">
                          <a:latin typeface="Barlow Condensed"/>
                          <a:ea typeface="Barlow Condensed"/>
                          <a:cs typeface="Barlow Condensed"/>
                          <a:sym typeface="Barlow Condensed"/>
                        </a:rPr>
                        <a:t>Clarendon Detail Resources </a:t>
                      </a:r>
                      <a:endParaRPr b="1"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hMerge="1"/>
                <a:tc hMerge="1"/>
              </a:tr>
              <a:tr h="516525">
                <a:tc>
                  <a:txBody>
                    <a:bodyPr>
                      <a:noAutofit/>
                    </a:bodyPr>
                    <a:lstStyle/>
                    <a:p>
                      <a:pPr indent="0" lvl="0" marL="88900" marR="88900" rtl="0" algn="l">
                        <a:lnSpc>
                          <a:spcPct val="100000"/>
                        </a:lnSpc>
                        <a:spcBef>
                          <a:spcPts val="0"/>
                        </a:spcBef>
                        <a:spcAft>
                          <a:spcPts val="0"/>
                        </a:spcAft>
                        <a:buNone/>
                      </a:pPr>
                      <a:r>
                        <a:rPr lang="en" sz="2500">
                          <a:latin typeface="Barlow Condensed"/>
                          <a:ea typeface="Barlow Condensed"/>
                          <a:cs typeface="Barlow Condensed"/>
                          <a:sym typeface="Barlow Condensed"/>
                        </a:rPr>
                        <a:t> </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ctr">
                        <a:lnSpc>
                          <a:spcPct val="100000"/>
                        </a:lnSpc>
                        <a:spcBef>
                          <a:spcPts val="0"/>
                        </a:spcBef>
                        <a:spcAft>
                          <a:spcPts val="0"/>
                        </a:spcAft>
                        <a:buNone/>
                      </a:pPr>
                      <a:r>
                        <a:rPr b="1" lang="en" sz="2500">
                          <a:latin typeface="Barlow Condensed"/>
                          <a:ea typeface="Barlow Condensed"/>
                          <a:cs typeface="Barlow Condensed"/>
                          <a:sym typeface="Barlow Condensed"/>
                        </a:rPr>
                        <a:t>2016</a:t>
                      </a:r>
                      <a:endParaRPr b="1"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ctr">
                        <a:lnSpc>
                          <a:spcPct val="100000"/>
                        </a:lnSpc>
                        <a:spcBef>
                          <a:spcPts val="0"/>
                        </a:spcBef>
                        <a:spcAft>
                          <a:spcPts val="0"/>
                        </a:spcAft>
                        <a:buNone/>
                      </a:pPr>
                      <a:r>
                        <a:rPr b="1" lang="en" sz="2500">
                          <a:latin typeface="Barlow Condensed"/>
                          <a:ea typeface="Barlow Condensed"/>
                          <a:cs typeface="Barlow Condensed"/>
                          <a:sym typeface="Barlow Condensed"/>
                        </a:rPr>
                        <a:t>2017</a:t>
                      </a:r>
                      <a:endParaRPr b="1"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r>
              <a:tr h="516525">
                <a:tc>
                  <a:txBody>
                    <a:bodyPr>
                      <a:noAutofit/>
                    </a:bodyPr>
                    <a:lstStyle/>
                    <a:p>
                      <a:pPr indent="0" lvl="0" marL="88900" marR="88900" rtl="0" algn="l">
                        <a:lnSpc>
                          <a:spcPct val="100000"/>
                        </a:lnSpc>
                        <a:spcBef>
                          <a:spcPts val="0"/>
                        </a:spcBef>
                        <a:spcAft>
                          <a:spcPts val="0"/>
                        </a:spcAft>
                        <a:buNone/>
                      </a:pPr>
                      <a:r>
                        <a:rPr lang="en" sz="2500">
                          <a:latin typeface="Barlow Condensed"/>
                          <a:ea typeface="Barlow Condensed"/>
                          <a:cs typeface="Barlow Condensed"/>
                          <a:sym typeface="Barlow Condensed"/>
                        </a:rPr>
                        <a:t>Weekend Days</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117</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109</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r>
              <a:tr h="516525">
                <a:tc>
                  <a:txBody>
                    <a:bodyPr>
                      <a:noAutofit/>
                    </a:bodyPr>
                    <a:lstStyle/>
                    <a:p>
                      <a:pPr indent="0" lvl="0" marL="88900" marR="88900" rtl="0" algn="l">
                        <a:lnSpc>
                          <a:spcPct val="100000"/>
                        </a:lnSpc>
                        <a:spcBef>
                          <a:spcPts val="0"/>
                        </a:spcBef>
                        <a:spcAft>
                          <a:spcPts val="0"/>
                        </a:spcAft>
                        <a:buNone/>
                      </a:pPr>
                      <a:r>
                        <a:rPr lang="en" sz="2500">
                          <a:latin typeface="Barlow Condensed"/>
                          <a:ea typeface="Barlow Condensed"/>
                          <a:cs typeface="Barlow Condensed"/>
                          <a:sym typeface="Barlow Condensed"/>
                        </a:rPr>
                        <a:t>Officers</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1,153</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1,254</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r>
              <a:tr h="516525">
                <a:tc>
                  <a:txBody>
                    <a:bodyPr>
                      <a:noAutofit/>
                    </a:bodyPr>
                    <a:lstStyle/>
                    <a:p>
                      <a:pPr indent="0" lvl="0" marL="88900" marR="88900" rtl="0" algn="l">
                        <a:lnSpc>
                          <a:spcPct val="100000"/>
                        </a:lnSpc>
                        <a:spcBef>
                          <a:spcPts val="0"/>
                        </a:spcBef>
                        <a:spcAft>
                          <a:spcPts val="0"/>
                        </a:spcAft>
                        <a:buNone/>
                      </a:pPr>
                      <a:r>
                        <a:rPr lang="en" sz="2500">
                          <a:latin typeface="Barlow Condensed"/>
                          <a:ea typeface="Barlow Condensed"/>
                          <a:cs typeface="Barlow Condensed"/>
                          <a:sym typeface="Barlow Condensed"/>
                        </a:rPr>
                        <a:t>Avg. Officers per Day</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b="1" lang="en" sz="2500">
                          <a:latin typeface="Barlow Condensed"/>
                          <a:ea typeface="Barlow Condensed"/>
                          <a:cs typeface="Barlow Condensed"/>
                          <a:sym typeface="Barlow Condensed"/>
                        </a:rPr>
                        <a:t>9.9</a:t>
                      </a:r>
                      <a:endParaRPr b="1"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b="1" lang="en" sz="2500">
                          <a:latin typeface="Barlow Condensed"/>
                          <a:ea typeface="Barlow Condensed"/>
                          <a:cs typeface="Barlow Condensed"/>
                          <a:sym typeface="Barlow Condensed"/>
                        </a:rPr>
                        <a:t>11.5</a:t>
                      </a:r>
                      <a:endParaRPr b="1"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r>
            </a:tbl>
          </a:graphicData>
        </a:graphic>
      </p:graphicFrame>
      <p:sp>
        <p:nvSpPr>
          <p:cNvPr id="70" name="Google Shape;70;p13"/>
          <p:cNvSpPr txBox="1"/>
          <p:nvPr/>
        </p:nvSpPr>
        <p:spPr>
          <a:xfrm>
            <a:off x="1048775" y="5301500"/>
            <a:ext cx="33694200" cy="891900"/>
          </a:xfrm>
          <a:prstGeom prst="rect">
            <a:avLst/>
          </a:prstGeom>
          <a:solidFill>
            <a:srgbClr val="5D89B4"/>
          </a:solidFill>
          <a:ln>
            <a:noFill/>
          </a:ln>
        </p:spPr>
        <p:txBody>
          <a:bodyPr anchorCtr="0" anchor="ctr" bIns="156150" lIns="312475" spcFirstLastPara="1" rIns="312475" wrap="square" tIns="156150">
            <a:noAutofit/>
          </a:bodyPr>
          <a:lstStyle/>
          <a:p>
            <a:pPr indent="0" lvl="0" marL="0" rtl="0" algn="l">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Project Overview</a:t>
            </a:r>
            <a:endParaRPr b="1" sz="4800">
              <a:solidFill>
                <a:srgbClr val="FFFFFF"/>
              </a:solidFill>
              <a:latin typeface="Barlow Condensed"/>
              <a:ea typeface="Barlow Condensed"/>
              <a:cs typeface="Barlow Condensed"/>
              <a:sym typeface="Barlow Condensed"/>
            </a:endParaRPr>
          </a:p>
        </p:txBody>
      </p:sp>
      <p:pic>
        <p:nvPicPr>
          <p:cNvPr id="71" name="Google Shape;71;p13"/>
          <p:cNvPicPr preferRelativeResize="0"/>
          <p:nvPr/>
        </p:nvPicPr>
        <p:blipFill>
          <a:blip r:embed="rId7">
            <a:alphaModFix/>
          </a:blip>
          <a:stretch>
            <a:fillRect/>
          </a:stretch>
        </p:blipFill>
        <p:spPr>
          <a:xfrm>
            <a:off x="32900524" y="3833087"/>
            <a:ext cx="1271024" cy="1410188"/>
          </a:xfrm>
          <a:prstGeom prst="rect">
            <a:avLst/>
          </a:prstGeom>
          <a:noFill/>
          <a:ln>
            <a:noFill/>
          </a:ln>
        </p:spPr>
      </p:pic>
      <p:graphicFrame>
        <p:nvGraphicFramePr>
          <p:cNvPr id="72" name="Google Shape;72;p13"/>
          <p:cNvGraphicFramePr/>
          <p:nvPr/>
        </p:nvGraphicFramePr>
        <p:xfrm>
          <a:off x="1533588" y="9340688"/>
          <a:ext cx="3000000" cy="3000000"/>
        </p:xfrm>
        <a:graphic>
          <a:graphicData uri="http://schemas.openxmlformats.org/drawingml/2006/table">
            <a:tbl>
              <a:tblPr>
                <a:noFill/>
                <a:tableStyleId>{B7BF00AE-51D1-4380-8EFF-20F7162B925C}</a:tableStyleId>
              </a:tblPr>
              <a:tblGrid>
                <a:gridCol w="5021275"/>
                <a:gridCol w="1998650"/>
                <a:gridCol w="1944650"/>
              </a:tblGrid>
              <a:tr h="516525">
                <a:tc gridSpan="3">
                  <a:txBody>
                    <a:bodyPr>
                      <a:noAutofit/>
                    </a:bodyPr>
                    <a:lstStyle/>
                    <a:p>
                      <a:pPr indent="0" lvl="0" marL="88900" marR="88900" rtl="0" algn="ctr">
                        <a:lnSpc>
                          <a:spcPct val="100000"/>
                        </a:lnSpc>
                        <a:spcBef>
                          <a:spcPts val="0"/>
                        </a:spcBef>
                        <a:spcAft>
                          <a:spcPts val="0"/>
                        </a:spcAft>
                        <a:buNone/>
                      </a:pPr>
                      <a:r>
                        <a:rPr b="1" lang="en" sz="2500">
                          <a:latin typeface="Barlow Condensed"/>
                          <a:ea typeface="Barlow Condensed"/>
                          <a:cs typeface="Barlow Condensed"/>
                          <a:sym typeface="Barlow Condensed"/>
                        </a:rPr>
                        <a:t>Clarendon Detail Contacts</a:t>
                      </a:r>
                      <a:endParaRPr b="1"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hMerge="1"/>
                <a:tc hMerge="1"/>
              </a:tr>
              <a:tr h="516525">
                <a:tc>
                  <a:txBody>
                    <a:bodyPr>
                      <a:noAutofit/>
                    </a:bodyPr>
                    <a:lstStyle/>
                    <a:p>
                      <a:pPr indent="0" lvl="0" marL="88900" marR="88900" rtl="0" algn="l">
                        <a:lnSpc>
                          <a:spcPct val="100000"/>
                        </a:lnSpc>
                        <a:spcBef>
                          <a:spcPts val="0"/>
                        </a:spcBef>
                        <a:spcAft>
                          <a:spcPts val="0"/>
                        </a:spcAft>
                        <a:buNone/>
                      </a:pPr>
                      <a:r>
                        <a:rPr lang="en" sz="2500">
                          <a:latin typeface="Barlow Condensed"/>
                          <a:ea typeface="Barlow Condensed"/>
                          <a:cs typeface="Barlow Condensed"/>
                          <a:sym typeface="Barlow Condensed"/>
                        </a:rPr>
                        <a:t> </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ctr">
                        <a:lnSpc>
                          <a:spcPct val="100000"/>
                        </a:lnSpc>
                        <a:spcBef>
                          <a:spcPts val="0"/>
                        </a:spcBef>
                        <a:spcAft>
                          <a:spcPts val="0"/>
                        </a:spcAft>
                        <a:buNone/>
                      </a:pPr>
                      <a:r>
                        <a:rPr b="1" lang="en" sz="2500">
                          <a:latin typeface="Barlow Condensed"/>
                          <a:ea typeface="Barlow Condensed"/>
                          <a:cs typeface="Barlow Condensed"/>
                          <a:sym typeface="Barlow Condensed"/>
                        </a:rPr>
                        <a:t>2016</a:t>
                      </a:r>
                      <a:endParaRPr b="1"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ctr">
                        <a:lnSpc>
                          <a:spcPct val="100000"/>
                        </a:lnSpc>
                        <a:spcBef>
                          <a:spcPts val="0"/>
                        </a:spcBef>
                        <a:spcAft>
                          <a:spcPts val="0"/>
                        </a:spcAft>
                        <a:buNone/>
                      </a:pPr>
                      <a:r>
                        <a:rPr b="1" lang="en" sz="2500">
                          <a:latin typeface="Barlow Condensed"/>
                          <a:ea typeface="Barlow Condensed"/>
                          <a:cs typeface="Barlow Condensed"/>
                          <a:sym typeface="Barlow Condensed"/>
                        </a:rPr>
                        <a:t>2017</a:t>
                      </a:r>
                      <a:endParaRPr b="1"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r>
              <a:tr h="516525">
                <a:tc>
                  <a:txBody>
                    <a:bodyPr>
                      <a:noAutofit/>
                    </a:bodyPr>
                    <a:lstStyle/>
                    <a:p>
                      <a:pPr indent="0" lvl="0" marL="88900" marR="88900" rtl="0" algn="l">
                        <a:lnSpc>
                          <a:spcPct val="100000"/>
                        </a:lnSpc>
                        <a:spcBef>
                          <a:spcPts val="0"/>
                        </a:spcBef>
                        <a:spcAft>
                          <a:spcPts val="0"/>
                        </a:spcAft>
                        <a:buNone/>
                      </a:pPr>
                      <a:r>
                        <a:rPr lang="en" sz="2500">
                          <a:latin typeface="Barlow Condensed"/>
                          <a:ea typeface="Barlow Condensed"/>
                          <a:cs typeface="Barlow Condensed"/>
                          <a:sym typeface="Barlow Condensed"/>
                        </a:rPr>
                        <a:t>Assaults/Disputes</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451</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570</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r>
              <a:tr h="516525">
                <a:tc>
                  <a:txBody>
                    <a:bodyPr>
                      <a:noAutofit/>
                    </a:bodyPr>
                    <a:lstStyle/>
                    <a:p>
                      <a:pPr indent="0" lvl="0" marL="88900" marR="88900" rtl="0" algn="l">
                        <a:lnSpc>
                          <a:spcPct val="100000"/>
                        </a:lnSpc>
                        <a:spcBef>
                          <a:spcPts val="0"/>
                        </a:spcBef>
                        <a:spcAft>
                          <a:spcPts val="0"/>
                        </a:spcAft>
                        <a:buNone/>
                      </a:pPr>
                      <a:r>
                        <a:rPr lang="en" sz="2500">
                          <a:latin typeface="Barlow Condensed"/>
                          <a:ea typeface="Barlow Condensed"/>
                          <a:cs typeface="Barlow Condensed"/>
                          <a:sym typeface="Barlow Condensed"/>
                        </a:rPr>
                        <a:t>Drunk in Public (DIP) / Sent on Way (SOW)</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1,308</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1,400</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r>
              <a:tr h="100000">
                <a:tc>
                  <a:txBody>
                    <a:bodyPr>
                      <a:noAutofit/>
                    </a:bodyPr>
                    <a:lstStyle/>
                    <a:p>
                      <a:pPr indent="0" lvl="0" marL="88900" marR="88900" rtl="0" algn="l">
                        <a:lnSpc>
                          <a:spcPct val="100000"/>
                        </a:lnSpc>
                        <a:spcBef>
                          <a:spcPts val="0"/>
                        </a:spcBef>
                        <a:spcAft>
                          <a:spcPts val="0"/>
                        </a:spcAft>
                        <a:buNone/>
                      </a:pPr>
                      <a:r>
                        <a:rPr lang="en" sz="2500">
                          <a:latin typeface="Barlow Condensed"/>
                          <a:ea typeface="Barlow Condensed"/>
                          <a:cs typeface="Barlow Condensed"/>
                          <a:sym typeface="Barlow Condensed"/>
                        </a:rPr>
                        <a:t>DIP Pedestrians</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 </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7B7B7"/>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5,375</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r>
              <a:tr h="516525">
                <a:tc>
                  <a:txBody>
                    <a:bodyPr>
                      <a:noAutofit/>
                    </a:bodyPr>
                    <a:lstStyle/>
                    <a:p>
                      <a:pPr indent="0" lvl="0" marL="88900" marR="88900" rtl="0" algn="l">
                        <a:lnSpc>
                          <a:spcPct val="100000"/>
                        </a:lnSpc>
                        <a:spcBef>
                          <a:spcPts val="0"/>
                        </a:spcBef>
                        <a:spcAft>
                          <a:spcPts val="0"/>
                        </a:spcAft>
                        <a:buNone/>
                      </a:pPr>
                      <a:r>
                        <a:rPr lang="en" sz="2500">
                          <a:latin typeface="Barlow Condensed"/>
                          <a:ea typeface="Barlow Condensed"/>
                          <a:cs typeface="Barlow Condensed"/>
                          <a:sym typeface="Barlow Condensed"/>
                        </a:rPr>
                        <a:t>Uber/Taxi Obstructions</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4,080</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8,465</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r>
              <a:tr h="516525">
                <a:tc>
                  <a:txBody>
                    <a:bodyPr>
                      <a:noAutofit/>
                    </a:bodyPr>
                    <a:lstStyle/>
                    <a:p>
                      <a:pPr indent="0" lvl="0" marL="88900" marR="88900" rtl="0" algn="l">
                        <a:lnSpc>
                          <a:spcPct val="100000"/>
                        </a:lnSpc>
                        <a:spcBef>
                          <a:spcPts val="0"/>
                        </a:spcBef>
                        <a:spcAft>
                          <a:spcPts val="0"/>
                        </a:spcAft>
                        <a:buNone/>
                      </a:pPr>
                      <a:r>
                        <a:rPr lang="en" sz="2500">
                          <a:latin typeface="Barlow Condensed"/>
                          <a:ea typeface="Barlow Condensed"/>
                          <a:cs typeface="Barlow Condensed"/>
                          <a:sym typeface="Barlow Condensed"/>
                        </a:rPr>
                        <a:t>Bannings</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25</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31</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r>
              <a:tr h="516525">
                <a:tc>
                  <a:txBody>
                    <a:bodyPr>
                      <a:noAutofit/>
                    </a:bodyPr>
                    <a:lstStyle/>
                    <a:p>
                      <a:pPr indent="0" lvl="0" marL="88900" marR="88900" rtl="0" algn="l">
                        <a:lnSpc>
                          <a:spcPct val="100000"/>
                        </a:lnSpc>
                        <a:spcBef>
                          <a:spcPts val="0"/>
                        </a:spcBef>
                        <a:spcAft>
                          <a:spcPts val="0"/>
                        </a:spcAft>
                        <a:buNone/>
                      </a:pPr>
                      <a:r>
                        <a:rPr lang="en" sz="2500">
                          <a:latin typeface="Barlow Condensed"/>
                          <a:ea typeface="Barlow Condensed"/>
                          <a:cs typeface="Barlow Condensed"/>
                          <a:sym typeface="Barlow Condensed"/>
                        </a:rPr>
                        <a:t>Reports</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190</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123</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r>
              <a:tr h="516525">
                <a:tc>
                  <a:txBody>
                    <a:bodyPr>
                      <a:noAutofit/>
                    </a:bodyPr>
                    <a:lstStyle/>
                    <a:p>
                      <a:pPr indent="0" lvl="0" marL="88900" marR="88900" rtl="0" algn="l">
                        <a:lnSpc>
                          <a:spcPct val="100000"/>
                        </a:lnSpc>
                        <a:spcBef>
                          <a:spcPts val="0"/>
                        </a:spcBef>
                        <a:spcAft>
                          <a:spcPts val="0"/>
                        </a:spcAft>
                        <a:buNone/>
                      </a:pPr>
                      <a:r>
                        <a:rPr lang="en" sz="2500">
                          <a:latin typeface="Barlow Condensed"/>
                          <a:ea typeface="Barlow Condensed"/>
                          <a:cs typeface="Barlow Condensed"/>
                          <a:sym typeface="Barlow Condensed"/>
                        </a:rPr>
                        <a:t>Field Observation Report (FOR)</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8</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47</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r>
              <a:tr h="516525">
                <a:tc>
                  <a:txBody>
                    <a:bodyPr>
                      <a:noAutofit/>
                    </a:bodyPr>
                    <a:lstStyle/>
                    <a:p>
                      <a:pPr indent="0" lvl="0" marL="88900" marR="88900" rtl="0" algn="l">
                        <a:lnSpc>
                          <a:spcPct val="100000"/>
                        </a:lnSpc>
                        <a:spcBef>
                          <a:spcPts val="0"/>
                        </a:spcBef>
                        <a:spcAft>
                          <a:spcPts val="0"/>
                        </a:spcAft>
                        <a:buNone/>
                      </a:pPr>
                      <a:r>
                        <a:rPr lang="en" sz="2500">
                          <a:latin typeface="Barlow Condensed"/>
                          <a:ea typeface="Barlow Condensed"/>
                          <a:cs typeface="Barlow Condensed"/>
                          <a:sym typeface="Barlow Condensed"/>
                        </a:rPr>
                        <a:t>Contacts</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8,922</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15,898</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r>
              <a:tr h="516525">
                <a:tc>
                  <a:txBody>
                    <a:bodyPr>
                      <a:noAutofit/>
                    </a:bodyPr>
                    <a:lstStyle/>
                    <a:p>
                      <a:pPr indent="0" lvl="0" marL="88900" marR="88900" rtl="0" algn="l">
                        <a:lnSpc>
                          <a:spcPct val="100000"/>
                        </a:lnSpc>
                        <a:spcBef>
                          <a:spcPts val="0"/>
                        </a:spcBef>
                        <a:spcAft>
                          <a:spcPts val="0"/>
                        </a:spcAft>
                        <a:buNone/>
                      </a:pPr>
                      <a:r>
                        <a:rPr lang="en" sz="2500">
                          <a:latin typeface="Barlow Condensed"/>
                          <a:ea typeface="Barlow Condensed"/>
                          <a:cs typeface="Barlow Condensed"/>
                          <a:sym typeface="Barlow Condensed"/>
                        </a:rPr>
                        <a:t>Arrests</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 </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7B7B7"/>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98</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r>
              <a:tr h="516525">
                <a:tc>
                  <a:txBody>
                    <a:bodyPr>
                      <a:noAutofit/>
                    </a:bodyPr>
                    <a:lstStyle/>
                    <a:p>
                      <a:pPr indent="0" lvl="0" marL="88900" marR="88900" rtl="0" algn="l">
                        <a:lnSpc>
                          <a:spcPct val="100000"/>
                        </a:lnSpc>
                        <a:spcBef>
                          <a:spcPts val="0"/>
                        </a:spcBef>
                        <a:spcAft>
                          <a:spcPts val="0"/>
                        </a:spcAft>
                        <a:buNone/>
                      </a:pPr>
                      <a:r>
                        <a:rPr lang="en" sz="2500">
                          <a:latin typeface="Barlow Condensed"/>
                          <a:ea typeface="Barlow Condensed"/>
                          <a:cs typeface="Barlow Condensed"/>
                          <a:sym typeface="Barlow Condensed"/>
                        </a:rPr>
                        <a:t>Virginia Uniform Summons (VUS)</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 </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7B7B7"/>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39</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r>
            </a:tbl>
          </a:graphicData>
        </a:graphic>
      </p:graphicFrame>
      <p:sp>
        <p:nvSpPr>
          <p:cNvPr id="73" name="Google Shape;73;p13"/>
          <p:cNvSpPr txBox="1"/>
          <p:nvPr/>
        </p:nvSpPr>
        <p:spPr>
          <a:xfrm>
            <a:off x="22095800" y="28946675"/>
            <a:ext cx="12700200" cy="697800"/>
          </a:xfrm>
          <a:prstGeom prst="rect">
            <a:avLst/>
          </a:prstGeom>
          <a:solidFill>
            <a:srgbClr val="861F41"/>
          </a:solidFill>
          <a:ln>
            <a:noFill/>
          </a:ln>
        </p:spPr>
        <p:txBody>
          <a:bodyPr anchorCtr="0" anchor="ctr" bIns="156150" lIns="312475" spcFirstLastPara="1" rIns="312475" wrap="square" tIns="156150">
            <a:noAutofit/>
          </a:bodyPr>
          <a:lstStyle/>
          <a:p>
            <a:pPr indent="0" lvl="0" marL="0" rtl="0" algn="l">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Next Steps</a:t>
            </a:r>
            <a:endParaRPr b="1" sz="4800">
              <a:solidFill>
                <a:srgbClr val="FFFFFF"/>
              </a:solidFill>
              <a:latin typeface="Barlow Condensed"/>
              <a:ea typeface="Barlow Condensed"/>
              <a:cs typeface="Barlow Condensed"/>
              <a:sym typeface="Barlow Condensed"/>
            </a:endParaRPr>
          </a:p>
        </p:txBody>
      </p:sp>
      <p:sp>
        <p:nvSpPr>
          <p:cNvPr id="74" name="Google Shape;74;p13"/>
          <p:cNvSpPr txBox="1"/>
          <p:nvPr/>
        </p:nvSpPr>
        <p:spPr>
          <a:xfrm>
            <a:off x="22001975" y="29577875"/>
            <a:ext cx="12794100" cy="2819100"/>
          </a:xfrm>
          <a:prstGeom prst="rect">
            <a:avLst/>
          </a:prstGeom>
          <a:noFill/>
          <a:ln>
            <a:noFill/>
          </a:ln>
        </p:spPr>
        <p:txBody>
          <a:bodyPr anchorCtr="0" anchor="t" bIns="156150" lIns="312475" spcFirstLastPara="1" rIns="312475" wrap="square" tIns="156150">
            <a:noAutofit/>
          </a:bodyPr>
          <a:lstStyle/>
          <a:p>
            <a:pPr indent="-419100" lvl="0" marL="457200" rtl="0" algn="l">
              <a:lnSpc>
                <a:spcPct val="100000"/>
              </a:lnSpc>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This study illustrates an exploratory analysis of the effect of ARI on alcohol-related crimes before and after it was implemented in 2016.</a:t>
            </a:r>
            <a:endParaRPr sz="3000">
              <a:solidFill>
                <a:srgbClr val="141F22"/>
              </a:solidFill>
              <a:latin typeface="Barlow Condensed"/>
              <a:ea typeface="Barlow Condensed"/>
              <a:cs typeface="Barlow Condensed"/>
              <a:sym typeface="Barlow Condensed"/>
            </a:endParaRPr>
          </a:p>
          <a:p>
            <a:pPr indent="-419100" lvl="0" marL="457200" rtl="0" algn="l">
              <a:lnSpc>
                <a:spcPct val="100000"/>
              </a:lnSpc>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The next step is to develop methods to estimate the reduction in crime that is solely due to the ARI since other factors also have a role in the reduction of crimes.</a:t>
            </a:r>
            <a:endParaRPr sz="3000">
              <a:solidFill>
                <a:srgbClr val="141F22"/>
              </a:solidFill>
              <a:latin typeface="Barlow Condensed"/>
              <a:ea typeface="Barlow Condensed"/>
              <a:cs typeface="Barlow Condensed"/>
              <a:sym typeface="Barlow Condensed"/>
            </a:endParaRPr>
          </a:p>
          <a:p>
            <a:pPr indent="-419100" lvl="0" marL="457200" rtl="0" algn="l">
              <a:lnSpc>
                <a:spcPct val="100000"/>
              </a:lnSpc>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The crime cost estimates will then be used to calculate the cost savings as a result of the ARI program. </a:t>
            </a:r>
            <a:endParaRPr sz="3000">
              <a:solidFill>
                <a:srgbClr val="141F22"/>
              </a:solidFill>
              <a:latin typeface="Barlow Condensed"/>
              <a:ea typeface="Barlow Condensed"/>
              <a:cs typeface="Barlow Condensed"/>
              <a:sym typeface="Barlow Condensed"/>
            </a:endParaRPr>
          </a:p>
          <a:p>
            <a:pPr indent="-419100" lvl="0" marL="457200" rtl="0" algn="l">
              <a:lnSpc>
                <a:spcPct val="100000"/>
              </a:lnSpc>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The interactive version of the plots and the model results will be illustrated on our dashboard during the DSPG 2018 symposium.</a:t>
            </a:r>
            <a:endParaRPr sz="3000">
              <a:solidFill>
                <a:srgbClr val="141F22"/>
              </a:solidFill>
              <a:latin typeface="Barlow Condensed"/>
              <a:ea typeface="Barlow Condensed"/>
              <a:cs typeface="Barlow Condensed"/>
              <a:sym typeface="Barlow Condensed"/>
            </a:endParaRPr>
          </a:p>
        </p:txBody>
      </p:sp>
      <p:graphicFrame>
        <p:nvGraphicFramePr>
          <p:cNvPr id="75" name="Google Shape;75;p13"/>
          <p:cNvGraphicFramePr/>
          <p:nvPr/>
        </p:nvGraphicFramePr>
        <p:xfrm>
          <a:off x="1254650" y="30027125"/>
          <a:ext cx="3000000" cy="3000000"/>
        </p:xfrm>
        <a:graphic>
          <a:graphicData uri="http://schemas.openxmlformats.org/drawingml/2006/table">
            <a:tbl>
              <a:tblPr>
                <a:noFill/>
                <a:tableStyleId>{DDF198FE-A5AF-4E5E-A789-1F06D0756A5C}</a:tableStyleId>
              </a:tblPr>
              <a:tblGrid>
                <a:gridCol w="2569625"/>
                <a:gridCol w="1803600"/>
                <a:gridCol w="1632575"/>
                <a:gridCol w="1225450"/>
                <a:gridCol w="1554900"/>
                <a:gridCol w="1465650"/>
                <a:gridCol w="1666225"/>
              </a:tblGrid>
              <a:tr h="1220200">
                <a:tc>
                  <a:txBody>
                    <a:bodyPr>
                      <a:noAutofit/>
                    </a:bodyPr>
                    <a:lstStyle/>
                    <a:p>
                      <a:pPr indent="0" lvl="0" marL="0" rtl="0" algn="l">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rPr lang="en" sz="2600">
                          <a:latin typeface="Barlow Condensed"/>
                          <a:ea typeface="Barlow Condensed"/>
                          <a:cs typeface="Barlow Condensed"/>
                          <a:sym typeface="Barlow Condensed"/>
                        </a:rPr>
                        <a:t>Miller, Chonen, Wiersema (1996)</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rPr lang="en" sz="2600">
                          <a:latin typeface="Barlow Condensed"/>
                          <a:ea typeface="Barlow Condensed"/>
                          <a:cs typeface="Barlow Condensed"/>
                          <a:sym typeface="Barlow Condensed"/>
                        </a:rPr>
                        <a:t>Miller et al. (1996)</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rPr lang="en" sz="2600">
                          <a:latin typeface="Barlow Condensed"/>
                          <a:ea typeface="Barlow Condensed"/>
                          <a:cs typeface="Barlow Condensed"/>
                          <a:sym typeface="Barlow Condensed"/>
                        </a:rPr>
                        <a:t>Aos et al. (2001)</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rPr lang="en" sz="2600">
                          <a:latin typeface="Barlow Condensed"/>
                          <a:ea typeface="Barlow Condensed"/>
                          <a:cs typeface="Barlow Condensed"/>
                          <a:sym typeface="Barlow Condensed"/>
                        </a:rPr>
                        <a:t>Cohen et al. (2004)</a:t>
                      </a:r>
                      <a:endParaRPr sz="2600">
                        <a:latin typeface="Barlow Condensed"/>
                        <a:ea typeface="Barlow Condensed"/>
                        <a:cs typeface="Barlow Condensed"/>
                        <a:sym typeface="Barlow Condensed"/>
                      </a:endParaRPr>
                    </a:p>
                  </a:txBody>
                  <a:tcPr marT="91425" marB="91425" marR="91425" marL="91425">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rPr lang="en" sz="2600">
                          <a:latin typeface="Barlow Condensed"/>
                          <a:ea typeface="Barlow Condensed"/>
                          <a:cs typeface="Barlow Condensed"/>
                          <a:sym typeface="Barlow Condensed"/>
                        </a:rPr>
                        <a:t>McCollister (2010)</a:t>
                      </a:r>
                      <a:endParaRPr sz="2600">
                        <a:latin typeface="Barlow Condensed"/>
                        <a:ea typeface="Barlow Condensed"/>
                        <a:cs typeface="Barlow Condensed"/>
                        <a:sym typeface="Barlow Condensed"/>
                      </a:endParaRPr>
                    </a:p>
                  </a:txBody>
                  <a:tcPr marT="91425" marB="91425" marR="91425" marL="91425">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rPr lang="en" sz="2600">
                          <a:latin typeface="Barlow Condensed"/>
                          <a:ea typeface="Barlow Condensed"/>
                          <a:cs typeface="Barlow Condensed"/>
                          <a:sym typeface="Barlow Condensed"/>
                        </a:rPr>
                        <a:t>Other Ticket Fees (before other legal fees)</a:t>
                      </a:r>
                      <a:endParaRPr sz="2600">
                        <a:latin typeface="Barlow Condensed"/>
                        <a:ea typeface="Barlow Condensed"/>
                        <a:cs typeface="Barlow Condensed"/>
                        <a:sym typeface="Barlow Condensed"/>
                      </a:endParaRPr>
                    </a:p>
                  </a:txBody>
                  <a:tcPr marT="91425" marB="91425" marR="91425" marL="91425">
                    <a:lnB cap="flat" cmpd="sng" w="9525">
                      <a:solidFill>
                        <a:srgbClr val="9E9E9E"/>
                      </a:solidFill>
                      <a:prstDash val="solid"/>
                      <a:round/>
                      <a:headEnd len="sm" w="sm" type="none"/>
                      <a:tailEnd len="sm" w="sm" type="none"/>
                    </a:lnB>
                  </a:tcPr>
                </a:tc>
              </a:tr>
              <a:tr h="686800">
                <a:tc>
                  <a:txBody>
                    <a:bodyPr>
                      <a:noAutofit/>
                    </a:bodyPr>
                    <a:lstStyle/>
                    <a:p>
                      <a:pPr indent="0" lvl="0" marL="0" rtl="0" algn="l">
                        <a:spcBef>
                          <a:spcPts val="0"/>
                        </a:spcBef>
                        <a:spcAft>
                          <a:spcPts val="0"/>
                        </a:spcAft>
                        <a:buNone/>
                      </a:pPr>
                      <a:r>
                        <a:rPr lang="en" sz="2600">
                          <a:latin typeface="Barlow Condensed"/>
                          <a:ea typeface="Barlow Condensed"/>
                          <a:cs typeface="Barlow Condensed"/>
                          <a:sym typeface="Barlow Condensed"/>
                        </a:rPr>
                        <a:t>Aggravated assault</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rPr lang="en" sz="2600">
                          <a:latin typeface="Barlow Condensed"/>
                          <a:ea typeface="Barlow Condensed"/>
                          <a:cs typeface="Barlow Condensed"/>
                          <a:sym typeface="Barlow Condensed"/>
                        </a:rPr>
                        <a:t>$14,673</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rPr lang="en" sz="2600">
                          <a:latin typeface="Barlow Condensed"/>
                          <a:ea typeface="Barlow Condensed"/>
                          <a:cs typeface="Barlow Condensed"/>
                          <a:sym typeface="Barlow Condensed"/>
                        </a:rPr>
                        <a:t>$24,493</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rPr lang="en" sz="2600">
                          <a:latin typeface="Barlow Condensed"/>
                          <a:ea typeface="Barlow Condensed"/>
                          <a:cs typeface="Barlow Condensed"/>
                          <a:sym typeface="Barlow Condensed"/>
                        </a:rPr>
                        <a:t>$120,514</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rPr lang="en" sz="2600">
                          <a:latin typeface="Barlow Condensed"/>
                          <a:ea typeface="Barlow Condensed"/>
                          <a:cs typeface="Barlow Condensed"/>
                          <a:sym typeface="Barlow Condensed"/>
                        </a:rPr>
                        <a:t>$96,547</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rPr lang="en" sz="2600">
                          <a:latin typeface="Barlow Condensed"/>
                          <a:ea typeface="Barlow Condensed"/>
                          <a:cs typeface="Barlow Condensed"/>
                          <a:sym typeface="Barlow Condensed"/>
                        </a:rPr>
                        <a:t>$122,198</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220200">
                <a:tc>
                  <a:txBody>
                    <a:bodyPr>
                      <a:noAutofit/>
                    </a:bodyPr>
                    <a:lstStyle/>
                    <a:p>
                      <a:pPr indent="0" lvl="0" marL="0" rtl="0" algn="l">
                        <a:spcBef>
                          <a:spcPts val="0"/>
                        </a:spcBef>
                        <a:spcAft>
                          <a:spcPts val="0"/>
                        </a:spcAft>
                        <a:buNone/>
                      </a:pPr>
                      <a:r>
                        <a:rPr lang="en" sz="2600">
                          <a:solidFill>
                            <a:schemeClr val="dk1"/>
                          </a:solidFill>
                          <a:latin typeface="Barlow Condensed"/>
                          <a:ea typeface="Barlow Condensed"/>
                          <a:cs typeface="Barlow Condensed"/>
                          <a:sym typeface="Barlow Condensed"/>
                        </a:rPr>
                        <a:t>Drunk in Public, </a:t>
                      </a:r>
                      <a:r>
                        <a:rPr lang="en" sz="2600">
                          <a:latin typeface="Barlow Condensed"/>
                          <a:ea typeface="Barlow Condensed"/>
                          <a:cs typeface="Barlow Condensed"/>
                          <a:sym typeface="Barlow Condensed"/>
                        </a:rPr>
                        <a:t>Disorderly Conduct &amp; Public Urination</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rPr lang="en" sz="2600">
                          <a:latin typeface="Barlow Condensed"/>
                          <a:ea typeface="Barlow Condensed"/>
                          <a:cs typeface="Barlow Condensed"/>
                          <a:sym typeface="Barlow Condensed"/>
                        </a:rPr>
                        <a:t>$250</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568400">
                <a:tc>
                  <a:txBody>
                    <a:bodyPr>
                      <a:noAutofit/>
                    </a:bodyPr>
                    <a:lstStyle/>
                    <a:p>
                      <a:pPr indent="0" lvl="0" marL="0" rtl="0" algn="l">
                        <a:spcBef>
                          <a:spcPts val="0"/>
                        </a:spcBef>
                        <a:spcAft>
                          <a:spcPts val="0"/>
                        </a:spcAft>
                        <a:buNone/>
                      </a:pPr>
                      <a:r>
                        <a:rPr lang="en" sz="2600">
                          <a:latin typeface="Barlow Condensed"/>
                          <a:ea typeface="Barlow Condensed"/>
                          <a:cs typeface="Barlow Condensed"/>
                          <a:sym typeface="Barlow Condensed"/>
                        </a:rPr>
                        <a:t>DUI</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rPr lang="en" sz="2600">
                          <a:latin typeface="Barlow Condensed"/>
                          <a:ea typeface="Barlow Condensed"/>
                          <a:cs typeface="Barlow Condensed"/>
                          <a:sym typeface="Barlow Condensed"/>
                        </a:rPr>
                        <a:t>$28,097</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rPr lang="en" sz="2600">
                          <a:latin typeface="Barlow Condensed"/>
                          <a:ea typeface="Barlow Condensed"/>
                          <a:cs typeface="Barlow Condensed"/>
                          <a:sym typeface="Barlow Condensed"/>
                        </a:rPr>
                        <a:t>$300</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724900">
                <a:tc>
                  <a:txBody>
                    <a:bodyPr>
                      <a:noAutofit/>
                    </a:bodyPr>
                    <a:lstStyle/>
                    <a:p>
                      <a:pPr indent="0" lvl="0" marL="0" rtl="0" algn="l">
                        <a:spcBef>
                          <a:spcPts val="0"/>
                        </a:spcBef>
                        <a:spcAft>
                          <a:spcPts val="0"/>
                        </a:spcAft>
                        <a:buNone/>
                      </a:pPr>
                      <a:r>
                        <a:rPr lang="en" sz="2600">
                          <a:latin typeface="Barlow Condensed"/>
                          <a:ea typeface="Barlow Condensed"/>
                          <a:cs typeface="Barlow Condensed"/>
                          <a:sym typeface="Barlow Condensed"/>
                        </a:rPr>
                        <a:t>Rape/sexual assault</a:t>
                      </a:r>
                      <a:endParaRPr sz="26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rPr lang="en" sz="2600">
                          <a:latin typeface="Barlow Condensed"/>
                          <a:ea typeface="Barlow Condensed"/>
                          <a:cs typeface="Barlow Condensed"/>
                          <a:sym typeface="Barlow Condensed"/>
                        </a:rPr>
                        <a:t>$135,806</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rPr lang="en" sz="2600">
                          <a:latin typeface="Barlow Condensed"/>
                          <a:ea typeface="Barlow Condensed"/>
                          <a:cs typeface="Barlow Condensed"/>
                          <a:sym typeface="Barlow Condensed"/>
                        </a:rPr>
                        <a:t>$142,065</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rPr lang="en" sz="2600">
                          <a:latin typeface="Barlow Condensed"/>
                          <a:ea typeface="Barlow Condensed"/>
                          <a:cs typeface="Barlow Condensed"/>
                          <a:sym typeface="Barlow Condensed"/>
                        </a:rPr>
                        <a:t>$422,180 </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rPr lang="en" sz="2600">
                          <a:latin typeface="Barlow Condensed"/>
                          <a:ea typeface="Barlow Condensed"/>
                          <a:cs typeface="Barlow Condensed"/>
                          <a:sym typeface="Barlow Condensed"/>
                        </a:rPr>
                        <a:t>$326,880</a:t>
                      </a:r>
                      <a:endParaRPr sz="2600">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rPr lang="en" sz="2600">
                          <a:latin typeface="Barlow Condensed"/>
                          <a:ea typeface="Barlow Condensed"/>
                          <a:cs typeface="Barlow Condensed"/>
                          <a:sym typeface="Barlow Condensed"/>
                        </a:rPr>
                        <a:t>$274,925</a:t>
                      </a:r>
                      <a:endParaRPr sz="2600">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953500">
                <a:tc>
                  <a:txBody>
                    <a:bodyPr>
                      <a:noAutofit/>
                    </a:bodyPr>
                    <a:lstStyle/>
                    <a:p>
                      <a:pPr indent="0" lvl="0" marL="0" rtl="0" algn="l">
                        <a:spcBef>
                          <a:spcPts val="0"/>
                        </a:spcBef>
                        <a:spcAft>
                          <a:spcPts val="0"/>
                        </a:spcAft>
                        <a:buNone/>
                      </a:pPr>
                      <a:r>
                        <a:rPr lang="en" sz="2600">
                          <a:latin typeface="Barlow Condensed"/>
                          <a:ea typeface="Barlow Condensed"/>
                          <a:cs typeface="Barlow Condensed"/>
                          <a:sym typeface="Barlow Condensed"/>
                        </a:rPr>
                        <a:t>Underage Drinking / </a:t>
                      </a:r>
                      <a:br>
                        <a:rPr lang="en" sz="2600">
                          <a:latin typeface="Barlow Condensed"/>
                          <a:ea typeface="Barlow Condensed"/>
                          <a:cs typeface="Barlow Condensed"/>
                          <a:sym typeface="Barlow Condensed"/>
                        </a:rPr>
                      </a:br>
                      <a:r>
                        <a:rPr lang="en" sz="2600">
                          <a:latin typeface="Barlow Condensed"/>
                          <a:ea typeface="Barlow Condensed"/>
                          <a:cs typeface="Barlow Condensed"/>
                          <a:sym typeface="Barlow Condensed"/>
                        </a:rPr>
                        <a:t>Fake ID</a:t>
                      </a:r>
                      <a:endParaRPr sz="26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tcPr>
                </a:tc>
                <a:tc>
                  <a:txBody>
                    <a:bodyPr>
                      <a:noAutofit/>
                    </a:bodyPr>
                    <a:lstStyle/>
                    <a:p>
                      <a:pPr indent="0" lvl="0" marL="0" rtl="0" algn="l">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tcPr>
                </a:tc>
                <a:tc>
                  <a:txBody>
                    <a:bodyPr>
                      <a:noAutofit/>
                    </a:bodyPr>
                    <a:lstStyle/>
                    <a:p>
                      <a:pPr indent="0" lvl="0" marL="0" rtl="0" algn="l">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tcPr>
                </a:tc>
                <a:tc>
                  <a:txBody>
                    <a:bodyPr>
                      <a:noAutofit/>
                    </a:bodyPr>
                    <a:lstStyle/>
                    <a:p>
                      <a:pPr indent="0" lvl="0" marL="0" rtl="0" algn="l">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tcPr>
                </a:tc>
                <a:tc>
                  <a:txBody>
                    <a:bodyPr>
                      <a:noAutofit/>
                    </a:bodyPr>
                    <a:lstStyle/>
                    <a:p>
                      <a:pPr indent="0" lvl="0" marL="0" rtl="0" algn="l">
                        <a:spcBef>
                          <a:spcPts val="0"/>
                        </a:spcBef>
                        <a:spcAft>
                          <a:spcPts val="0"/>
                        </a:spcAft>
                        <a:buNone/>
                      </a:pPr>
                      <a:r>
                        <a:rPr lang="en" sz="2600">
                          <a:latin typeface="Barlow Condensed"/>
                          <a:ea typeface="Barlow Condensed"/>
                          <a:cs typeface="Barlow Condensed"/>
                          <a:sym typeface="Barlow Condensed"/>
                        </a:rPr>
                        <a:t>$500</a:t>
                      </a:r>
                      <a:endParaRPr sz="2600">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tcPr>
                </a:tc>
              </a:tr>
            </a:tbl>
          </a:graphicData>
        </a:graphic>
      </p:graphicFrame>
      <p:sp>
        <p:nvSpPr>
          <p:cNvPr id="76" name="Google Shape;76;p13"/>
          <p:cNvSpPr txBox="1"/>
          <p:nvPr/>
        </p:nvSpPr>
        <p:spPr>
          <a:xfrm>
            <a:off x="1205200" y="36165350"/>
            <a:ext cx="11918100" cy="89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2000">
                <a:solidFill>
                  <a:srgbClr val="333333"/>
                </a:solidFill>
                <a:highlight>
                  <a:srgbClr val="FFFFFF"/>
                </a:highlight>
                <a:latin typeface="Barlow Condensed"/>
                <a:ea typeface="Barlow Condensed"/>
                <a:cs typeface="Barlow Condensed"/>
                <a:sym typeface="Barlow Condensed"/>
              </a:rPr>
              <a:t>Note</a:t>
            </a:r>
            <a:r>
              <a:rPr lang="en" sz="2000">
                <a:solidFill>
                  <a:srgbClr val="333333"/>
                </a:solidFill>
                <a:highlight>
                  <a:srgbClr val="FFFFFF"/>
                </a:highlight>
                <a:latin typeface="Barlow Condensed"/>
                <a:ea typeface="Barlow Condensed"/>
                <a:cs typeface="Barlow Condensed"/>
                <a:sym typeface="Barlow Condensed"/>
              </a:rPr>
              <a:t>: all unit costs expressed in 2016 dollars. Unit cost values were inflated using the Bureau of Labor Statistics inflation calculator based on the consumer price index (CPI). U.S. Department of Labor (2018), </a:t>
            </a:r>
            <a:r>
              <a:rPr lang="en" sz="2000" u="sng">
                <a:solidFill>
                  <a:srgbClr val="336699"/>
                </a:solidFill>
                <a:highlight>
                  <a:srgbClr val="FFFFFF"/>
                </a:highlight>
                <a:latin typeface="Barlow Condensed"/>
                <a:ea typeface="Barlow Condensed"/>
                <a:cs typeface="Barlow Condensed"/>
                <a:sym typeface="Barlow Condensed"/>
                <a:hlinkClick r:id="rId8"/>
              </a:rPr>
              <a:t>http://www.bls.gov/data/inflation_calculator.htm</a:t>
            </a:r>
            <a:r>
              <a:rPr lang="en" sz="2000">
                <a:solidFill>
                  <a:srgbClr val="333333"/>
                </a:solidFill>
                <a:highlight>
                  <a:srgbClr val="FFFFFF"/>
                </a:highlight>
                <a:latin typeface="Barlow Condensed"/>
                <a:ea typeface="Barlow Condensed"/>
                <a:cs typeface="Barlow Condensed"/>
                <a:sym typeface="Barlow Condensed"/>
              </a:rPr>
              <a:t>.</a:t>
            </a:r>
            <a:endParaRPr sz="2000">
              <a:highlight>
                <a:srgbClr val="FFFFFF"/>
              </a:highlight>
              <a:latin typeface="Barlow Condensed"/>
              <a:ea typeface="Barlow Condensed"/>
              <a:cs typeface="Barlow Condensed"/>
              <a:sym typeface="Barlow Condensed"/>
            </a:endParaRPr>
          </a:p>
        </p:txBody>
      </p:sp>
      <p:sp>
        <p:nvSpPr>
          <p:cNvPr id="77" name="Google Shape;77;p13"/>
          <p:cNvSpPr txBox="1"/>
          <p:nvPr/>
        </p:nvSpPr>
        <p:spPr>
          <a:xfrm>
            <a:off x="20546225" y="15055050"/>
            <a:ext cx="14455800" cy="187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141F22"/>
                </a:solidFill>
                <a:latin typeface="Barlow Condensed"/>
                <a:ea typeface="Barlow Condensed"/>
                <a:cs typeface="Barlow Condensed"/>
                <a:sym typeface="Barlow Condensed"/>
              </a:rPr>
              <a:t>Clarendon has over 40 restaurants (pinned </a:t>
            </a:r>
            <a:r>
              <a:rPr lang="en" sz="2800">
                <a:latin typeface="Barlow Condensed"/>
                <a:ea typeface="Barlow Condensed"/>
                <a:cs typeface="Barlow Condensed"/>
                <a:sym typeface="Barlow Condensed"/>
              </a:rPr>
              <a:t>in </a:t>
            </a:r>
            <a:r>
              <a:rPr lang="en" sz="2800">
                <a:highlight>
                  <a:srgbClr val="00FFFF"/>
                </a:highlight>
                <a:latin typeface="Barlow Condensed"/>
                <a:ea typeface="Barlow Condensed"/>
                <a:cs typeface="Barlow Condensed"/>
                <a:sym typeface="Barlow Condensed"/>
              </a:rPr>
              <a:t>blue</a:t>
            </a:r>
            <a:r>
              <a:rPr lang="en" sz="2800">
                <a:latin typeface="Barlow Condensed"/>
                <a:ea typeface="Barlow Condensed"/>
                <a:cs typeface="Barlow Condensed"/>
                <a:sym typeface="Barlow Condensed"/>
              </a:rPr>
              <a:t> circles</a:t>
            </a:r>
            <a:r>
              <a:rPr lang="en" sz="2800">
                <a:solidFill>
                  <a:srgbClr val="141F22"/>
                </a:solidFill>
                <a:latin typeface="Barlow Condensed"/>
                <a:ea typeface="Barlow Condensed"/>
                <a:cs typeface="Barlow Condensed"/>
                <a:sym typeface="Barlow Condensed"/>
              </a:rPr>
              <a:t>) with ABC (Alcohol and Beverage Control) licenses and an average of 5,500 patrons per weekend night. Each year, approximately 580,00 patrons visit Clarendon between 21:00 and 03:00, especially during holidays and special ”drinking” events. Alcohol-related crime counts in Clarendon on Friday, Saturday, and Sunday between 21:00 and 03:00 for 2015-2017 are given in </a:t>
            </a:r>
            <a:r>
              <a:rPr lang="en" sz="2800">
                <a:solidFill>
                  <a:srgbClr val="141F22"/>
                </a:solidFill>
                <a:highlight>
                  <a:srgbClr val="FFE599"/>
                </a:highlight>
                <a:latin typeface="Barlow Condensed"/>
                <a:ea typeface="Barlow Condensed"/>
                <a:cs typeface="Barlow Condensed"/>
                <a:sym typeface="Barlow Condensed"/>
              </a:rPr>
              <a:t>yellow</a:t>
            </a:r>
            <a:r>
              <a:rPr lang="en" sz="2800">
                <a:solidFill>
                  <a:srgbClr val="141F22"/>
                </a:solidFill>
                <a:latin typeface="Barlow Condensed"/>
                <a:ea typeface="Barlow Condensed"/>
                <a:cs typeface="Barlow Condensed"/>
                <a:sym typeface="Barlow Condensed"/>
              </a:rPr>
              <a:t> and </a:t>
            </a:r>
            <a:r>
              <a:rPr lang="en" sz="2800">
                <a:solidFill>
                  <a:srgbClr val="141F22"/>
                </a:solidFill>
                <a:highlight>
                  <a:srgbClr val="D9EAD3"/>
                </a:highlight>
                <a:latin typeface="Barlow Condensed"/>
                <a:ea typeface="Barlow Condensed"/>
                <a:cs typeface="Barlow Condensed"/>
                <a:sym typeface="Barlow Condensed"/>
              </a:rPr>
              <a:t>green</a:t>
            </a:r>
            <a:r>
              <a:rPr lang="en" sz="2800">
                <a:solidFill>
                  <a:srgbClr val="141F22"/>
                </a:solidFill>
                <a:latin typeface="Barlow Condensed"/>
                <a:ea typeface="Barlow Condensed"/>
                <a:cs typeface="Barlow Condensed"/>
                <a:sym typeface="Barlow Condensed"/>
              </a:rPr>
              <a:t> circles.</a:t>
            </a:r>
            <a:endParaRPr i="1" sz="2800">
              <a:solidFill>
                <a:srgbClr val="333333"/>
              </a:solidFill>
              <a:highlight>
                <a:srgbClr val="FFFFFF"/>
              </a:highlight>
              <a:latin typeface="Barlow Condensed"/>
              <a:ea typeface="Barlow Condensed"/>
              <a:cs typeface="Barlow Condensed"/>
              <a:sym typeface="Barlow Condensed"/>
            </a:endParaRPr>
          </a:p>
        </p:txBody>
      </p:sp>
      <p:sp>
        <p:nvSpPr>
          <p:cNvPr id="78" name="Google Shape;78;p13"/>
          <p:cNvSpPr/>
          <p:nvPr/>
        </p:nvSpPr>
        <p:spPr>
          <a:xfrm>
            <a:off x="1220425" y="21414550"/>
            <a:ext cx="9743325" cy="7025925"/>
          </a:xfrm>
          <a:prstGeom prst="flowChartProcess">
            <a:avLst/>
          </a:prstGeom>
          <a:noFill/>
          <a:ln cap="flat" cmpd="sng" w="76200">
            <a:solidFill>
              <a:srgbClr val="5D89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3"/>
          <p:cNvSpPr/>
          <p:nvPr/>
        </p:nvSpPr>
        <p:spPr>
          <a:xfrm>
            <a:off x="18084050" y="21261075"/>
            <a:ext cx="10535100" cy="7227000"/>
          </a:xfrm>
          <a:prstGeom prst="flowChartProcess">
            <a:avLst/>
          </a:prstGeom>
          <a:noFill/>
          <a:ln cap="flat" cmpd="sng" w="76200">
            <a:solidFill>
              <a:srgbClr val="5D89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3"/>
          <p:cNvSpPr/>
          <p:nvPr/>
        </p:nvSpPr>
        <p:spPr>
          <a:xfrm>
            <a:off x="1197575" y="30027125"/>
            <a:ext cx="11975100" cy="6143600"/>
          </a:xfrm>
          <a:prstGeom prst="flowChartProcess">
            <a:avLst/>
          </a:prstGeom>
          <a:noFill/>
          <a:ln cap="flat" cmpd="sng" w="76200">
            <a:solidFill>
              <a:srgbClr val="5D89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3"/>
          <p:cNvSpPr txBox="1"/>
          <p:nvPr/>
        </p:nvSpPr>
        <p:spPr>
          <a:xfrm>
            <a:off x="10644750" y="9082900"/>
            <a:ext cx="9805500" cy="3719100"/>
          </a:xfrm>
          <a:prstGeom prst="rect">
            <a:avLst/>
          </a:prstGeom>
          <a:noFill/>
          <a:ln>
            <a:noFill/>
          </a:ln>
        </p:spPr>
        <p:txBody>
          <a:bodyPr anchorCtr="0" anchor="ctr" bIns="91425" lIns="91425" spcFirstLastPara="1" rIns="91425" wrap="square" tIns="91425">
            <a:noAutofit/>
          </a:bodyPr>
          <a:lstStyle/>
          <a:p>
            <a:pPr indent="-419100" lvl="0" marL="457200" rtl="0" algn="l">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Officers working the Clarendon Detail collect activity logs (summarized on the left)  to capture information about all contacts between police and citizens on the busiest nights regardless of whether or not a formal incident report was written. </a:t>
            </a:r>
            <a:endParaRPr sz="3000">
              <a:solidFill>
                <a:srgbClr val="141F22"/>
              </a:solidFill>
              <a:latin typeface="Barlow Condensed"/>
              <a:ea typeface="Barlow Condensed"/>
              <a:cs typeface="Barlow Condensed"/>
              <a:sym typeface="Barlow Condensed"/>
            </a:endParaRPr>
          </a:p>
          <a:p>
            <a:pPr indent="-419100" lvl="0" marL="457200" rtl="0" algn="l">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The logs revealed that, despite the impact of excessive alcohol consumption on the crimes listed above, only about 10% of police contacts with the public result in an arrest.</a:t>
            </a:r>
            <a:endParaRPr sz="3000">
              <a:solidFill>
                <a:srgbClr val="141F22"/>
              </a:solidFill>
              <a:latin typeface="Barlow Condensed"/>
              <a:ea typeface="Barlow Condensed"/>
              <a:cs typeface="Barlow Condensed"/>
              <a:sym typeface="Barlow Condensed"/>
            </a:endParaRPr>
          </a:p>
          <a:p>
            <a:pPr indent="0" lvl="0" marL="0" rtl="0" algn="l">
              <a:spcBef>
                <a:spcPts val="0"/>
              </a:spcBef>
              <a:spcAft>
                <a:spcPts val="0"/>
              </a:spcAft>
              <a:buNone/>
            </a:pPr>
            <a:r>
              <a:t/>
            </a:r>
            <a:endParaRPr sz="3000">
              <a:solidFill>
                <a:srgbClr val="141F22"/>
              </a:solidFill>
              <a:latin typeface="Barlow Condensed"/>
              <a:ea typeface="Barlow Condensed"/>
              <a:cs typeface="Barlow Condensed"/>
              <a:sym typeface="Barlow Condensed"/>
            </a:endParaRPr>
          </a:p>
        </p:txBody>
      </p:sp>
      <p:sp>
        <p:nvSpPr>
          <p:cNvPr id="82" name="Google Shape;82;p13"/>
          <p:cNvSpPr txBox="1"/>
          <p:nvPr/>
        </p:nvSpPr>
        <p:spPr>
          <a:xfrm>
            <a:off x="769150" y="16291448"/>
            <a:ext cx="19679100" cy="891900"/>
          </a:xfrm>
          <a:prstGeom prst="rect">
            <a:avLst/>
          </a:prstGeom>
          <a:noFill/>
          <a:ln>
            <a:noFill/>
          </a:ln>
        </p:spPr>
        <p:txBody>
          <a:bodyPr anchorCtr="0" anchor="t" bIns="156150" lIns="312475" spcFirstLastPara="1" rIns="312475" wrap="square" tIns="156150">
            <a:noAutofit/>
          </a:bodyPr>
          <a:lstStyle/>
          <a:p>
            <a:pPr indent="-419100" lvl="0" marL="457200" rtl="0" algn="l">
              <a:spcBef>
                <a:spcPts val="0"/>
              </a:spcBef>
              <a:spcAft>
                <a:spcPts val="0"/>
              </a:spcAft>
              <a:buClr>
                <a:srgbClr val="141F22"/>
              </a:buClr>
              <a:buSzPts val="3000"/>
              <a:buFont typeface="Barlow Condensed"/>
              <a:buChar char="●"/>
            </a:pPr>
            <a:r>
              <a:rPr b="1" lang="en" sz="3000">
                <a:solidFill>
                  <a:srgbClr val="141F22"/>
                </a:solidFill>
                <a:latin typeface="Barlow Condensed"/>
                <a:ea typeface="Barlow Condensed"/>
                <a:cs typeface="Barlow Condensed"/>
                <a:sym typeface="Barlow Condensed"/>
              </a:rPr>
              <a:t>Objective: </a:t>
            </a:r>
            <a:r>
              <a:rPr lang="en" sz="3000">
                <a:solidFill>
                  <a:srgbClr val="141F22"/>
                </a:solidFill>
                <a:latin typeface="Barlow Condensed"/>
                <a:ea typeface="Barlow Condensed"/>
                <a:cs typeface="Barlow Condensed"/>
                <a:sym typeface="Barlow Condensed"/>
              </a:rPr>
              <a:t>Evaluate effectiveness (social and economic impact) of ARI in Clarendon to help ACPD sustain and support the  program.</a:t>
            </a:r>
            <a:endParaRPr sz="3000">
              <a:solidFill>
                <a:srgbClr val="141F22"/>
              </a:solidFill>
              <a:latin typeface="Barlow Condensed"/>
              <a:ea typeface="Barlow Condensed"/>
              <a:cs typeface="Barlow Condensed"/>
              <a:sym typeface="Barlow Condensed"/>
            </a:endParaRPr>
          </a:p>
        </p:txBody>
      </p:sp>
      <p:pic>
        <p:nvPicPr>
          <p:cNvPr id="83" name="Google Shape;83;p13"/>
          <p:cNvPicPr preferRelativeResize="0"/>
          <p:nvPr/>
        </p:nvPicPr>
        <p:blipFill>
          <a:blip r:embed="rId9">
            <a:alphaModFix/>
          </a:blip>
          <a:stretch>
            <a:fillRect/>
          </a:stretch>
        </p:blipFill>
        <p:spPr>
          <a:xfrm>
            <a:off x="9691325" y="38034400"/>
            <a:ext cx="2857500" cy="2857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