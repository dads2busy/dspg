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wdp" ContentType="image/vnd.ms-photo"/>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
  </p:notesMasterIdLst>
  <p:sldIdLst>
    <p:sldId id="256" r:id="rId2"/>
  </p:sldIdLst>
  <p:sldSz cx="36576000" cy="42062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248">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DF9F23-58C0-4EDB-810E-6ACDE143BE6B}">
  <a:tblStyle styleId="{99DF9F23-58C0-4EDB-810E-6ACDE143BE6B}"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698"/>
    <p:restoredTop sz="94647"/>
  </p:normalViewPr>
  <p:slideViewPr>
    <p:cSldViewPr snapToGrid="0">
      <p:cViewPr>
        <p:scale>
          <a:sx n="30" d="100"/>
          <a:sy n="30" d="100"/>
        </p:scale>
        <p:origin x="3792" y="800"/>
      </p:cViewPr>
      <p:guideLst>
        <p:guide orient="horz" pos="13248"/>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13988135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Shape 8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4" name="Shape 84"/>
          <p:cNvSpPr>
            <a:spLocks noGrp="1" noRot="1" noChangeAspect="1"/>
          </p:cNvSpPr>
          <p:nvPr>
            <p:ph type="sldImg" idx="2"/>
          </p:nvPr>
        </p:nvSpPr>
        <p:spPr>
          <a:xfrm>
            <a:off x="1938338" y="685800"/>
            <a:ext cx="29813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207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Title Slide">
    <p:spTree>
      <p:nvGrpSpPr>
        <p:cNvPr id="1" name="Shape 11"/>
        <p:cNvGrpSpPr/>
        <p:nvPr/>
      </p:nvGrpSpPr>
      <p:grpSpPr>
        <a:xfrm>
          <a:off x="0" y="0"/>
          <a:ext cx="0" cy="0"/>
          <a:chOff x="0" y="0"/>
          <a:chExt cx="0" cy="0"/>
        </a:xfrm>
      </p:grpSpPr>
      <p:pic>
        <p:nvPicPr>
          <p:cNvPr id="12" name="Shape 12"/>
          <p:cNvPicPr preferRelativeResize="0"/>
          <p:nvPr/>
        </p:nvPicPr>
        <p:blipFill rotWithShape="1">
          <a:blip r:embed="rId2">
            <a:alphaModFix/>
          </a:blip>
          <a:srcRect/>
          <a:stretch/>
        </p:blipFill>
        <p:spPr>
          <a:xfrm>
            <a:off x="0" y="0"/>
            <a:ext cx="36576001" cy="420623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sp>
        <p:nvSpPr>
          <p:cNvPr id="14" name="Shape 14"/>
          <p:cNvSpPr txBox="1">
            <a:spLocks noGrp="1"/>
          </p:cNvSpPr>
          <p:nvPr>
            <p:ph type="ctrTitle"/>
          </p:nvPr>
        </p:nvSpPr>
        <p:spPr>
          <a:xfrm>
            <a:off x="2743200" y="6883825"/>
            <a:ext cx="31089600" cy="14643947"/>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5" name="Shape 15"/>
          <p:cNvSpPr txBox="1">
            <a:spLocks noGrp="1"/>
          </p:cNvSpPr>
          <p:nvPr>
            <p:ph type="subTitle" idx="1"/>
          </p:nvPr>
        </p:nvSpPr>
        <p:spPr>
          <a:xfrm>
            <a:off x="4572000" y="22092500"/>
            <a:ext cx="27432000" cy="10155339"/>
          </a:xfrm>
          <a:prstGeom prst="rect">
            <a:avLst/>
          </a:prstGeom>
          <a:noFill/>
          <a:ln>
            <a:noFill/>
          </a:ln>
        </p:spPr>
        <p:txBody>
          <a:bodyPr lIns="91425" tIns="91425" rIns="91425" bIns="91425" anchor="t" anchorCtr="0"/>
          <a:lstStyle>
            <a:lvl1pPr marL="0" marR="0" lvl="0" indent="0" algn="ctr"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ctr"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2pPr>
            <a:lvl3pPr marL="3657600" marR="0" lvl="2" indent="0" algn="ctr" rtl="0">
              <a:lnSpc>
                <a:spcPct val="90000"/>
              </a:lnSpc>
              <a:spcBef>
                <a:spcPts val="2000"/>
              </a:spcBef>
              <a:buClr>
                <a:schemeClr val="dk1"/>
              </a:buClr>
              <a:buFont typeface="Arial"/>
              <a:buNone/>
              <a:defRPr sz="7200" b="0" i="0" u="none" strike="noStrike" cap="none">
                <a:solidFill>
                  <a:schemeClr val="dk1"/>
                </a:solidFill>
                <a:latin typeface="Calibri"/>
                <a:ea typeface="Calibri"/>
                <a:cs typeface="Calibri"/>
                <a:sym typeface="Calibri"/>
              </a:defRPr>
            </a:lvl3pPr>
            <a:lvl4pPr marL="5486400" marR="0" lvl="3"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4pPr>
            <a:lvl5pPr marL="7315200" marR="0" lvl="4"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5pPr>
            <a:lvl6pPr marL="9144000" marR="0" lvl="5"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6pPr>
            <a:lvl7pPr marL="10972800" marR="0" lvl="6"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7pPr>
            <a:lvl8pPr marL="12801600" marR="0" lvl="7"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8pPr>
            <a:lvl9pPr marL="14630400" marR="0" lvl="8"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7" name="Shape 17"/>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8" name="Shape 18"/>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1" name="Shape 21"/>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3" name="Shape 23"/>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4" name="Shape 24"/>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2495551" y="10486402"/>
            <a:ext cx="31546800" cy="1749678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2495551" y="28148715"/>
            <a:ext cx="31546800" cy="920114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rgbClr val="888888"/>
              </a:buClr>
              <a:buFont typeface="Arial"/>
              <a:buNone/>
              <a:defRPr sz="8000" b="0" i="0" u="none" strike="noStrike" cap="none">
                <a:solidFill>
                  <a:srgbClr val="888888"/>
                </a:solidFill>
                <a:latin typeface="Calibri"/>
                <a:ea typeface="Calibri"/>
                <a:cs typeface="Calibri"/>
                <a:sym typeface="Calibri"/>
              </a:defRPr>
            </a:lvl2pPr>
            <a:lvl3pPr marL="3657600" marR="0" lvl="2" indent="0" algn="l" rtl="0">
              <a:lnSpc>
                <a:spcPct val="90000"/>
              </a:lnSpc>
              <a:spcBef>
                <a:spcPts val="2000"/>
              </a:spcBef>
              <a:buClr>
                <a:srgbClr val="888888"/>
              </a:buClr>
              <a:buFont typeface="Arial"/>
              <a:buNone/>
              <a:defRPr sz="7200" b="0" i="0" u="none" strike="noStrike" cap="none">
                <a:solidFill>
                  <a:srgbClr val="888888"/>
                </a:solidFill>
                <a:latin typeface="Calibri"/>
                <a:ea typeface="Calibri"/>
                <a:cs typeface="Calibri"/>
                <a:sym typeface="Calibri"/>
              </a:defRPr>
            </a:lvl3pPr>
            <a:lvl4pPr marL="5486400" marR="0" lvl="3"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4pPr>
            <a:lvl5pPr marL="7315200" marR="0" lvl="4"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5pPr>
            <a:lvl6pPr marL="9144000" marR="0" lvl="5"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6pPr>
            <a:lvl7pPr marL="10972800" marR="0" lvl="6"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7pPr>
            <a:lvl8pPr marL="12801600" marR="0" lvl="7"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8pPr>
            <a:lvl9pPr marL="14630400" marR="0" lvl="8"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9pPr>
          </a:lstStyle>
          <a:p>
            <a:endParaRPr/>
          </a:p>
        </p:txBody>
      </p:sp>
      <p:sp>
        <p:nvSpPr>
          <p:cNvPr id="28" name="Shape 2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9" name="Shape 2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0" name="Shape 3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2514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body" idx="2"/>
          </p:nvPr>
        </p:nvSpPr>
        <p:spPr>
          <a:xfrm>
            <a:off x="18516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6" name="Shape 36"/>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7" name="Shape 37"/>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2519364"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0" name="Shape 40"/>
          <p:cNvSpPr txBox="1">
            <a:spLocks noGrp="1"/>
          </p:cNvSpPr>
          <p:nvPr>
            <p:ph type="body" idx="1"/>
          </p:nvPr>
        </p:nvSpPr>
        <p:spPr>
          <a:xfrm>
            <a:off x="2519367" y="10311132"/>
            <a:ext cx="15473360"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2"/>
          </p:nvPr>
        </p:nvSpPr>
        <p:spPr>
          <a:xfrm>
            <a:off x="2519367" y="15364459"/>
            <a:ext cx="15473360"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body" idx="3"/>
          </p:nvPr>
        </p:nvSpPr>
        <p:spPr>
          <a:xfrm>
            <a:off x="18516601" y="10311132"/>
            <a:ext cx="15549563"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body" idx="4"/>
          </p:nvPr>
        </p:nvSpPr>
        <p:spPr>
          <a:xfrm>
            <a:off x="18516601" y="15364459"/>
            <a:ext cx="15549563"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5" name="Shape 45"/>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6" name="Shape 46"/>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0" name="Shape 5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1" name="Shape 5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4" name="Shape 5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5" name="Shape 5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6"/>
        <p:cNvGrpSpPr/>
        <p:nvPr/>
      </p:nvGrpSpPr>
      <p:grpSpPr>
        <a:xfrm>
          <a:off x="0" y="0"/>
          <a:ext cx="0" cy="0"/>
          <a:chOff x="0" y="0"/>
          <a:chExt cx="0" cy="0"/>
        </a:xfrm>
      </p:grpSpPr>
      <p:sp>
        <p:nvSpPr>
          <p:cNvPr id="57" name="Shape 57"/>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8" name="Shape 58"/>
          <p:cNvSpPr txBox="1">
            <a:spLocks noGrp="1"/>
          </p:cNvSpPr>
          <p:nvPr>
            <p:ph type="body" idx="1"/>
          </p:nvPr>
        </p:nvSpPr>
        <p:spPr>
          <a:xfrm>
            <a:off x="15549564" y="6056216"/>
            <a:ext cx="18516600" cy="29891567"/>
          </a:xfrm>
          <a:prstGeom prst="rect">
            <a:avLst/>
          </a:prstGeom>
          <a:noFill/>
          <a:ln>
            <a:noFill/>
          </a:ln>
        </p:spPr>
        <p:txBody>
          <a:bodyPr lIns="91425" tIns="91425" rIns="91425" bIns="91425" anchor="t" anchorCtr="0"/>
          <a:lstStyle>
            <a:lvl1pPr marL="914400" marR="0" lvl="0" indent="-101600" algn="l" rtl="0">
              <a:lnSpc>
                <a:spcPct val="90000"/>
              </a:lnSpc>
              <a:spcBef>
                <a:spcPts val="4000"/>
              </a:spcBef>
              <a:buClr>
                <a:schemeClr val="dk1"/>
              </a:buClr>
              <a:buSzPct val="100000"/>
              <a:buFont typeface="Arial"/>
              <a:buChar char="•"/>
              <a:defRPr sz="12800" b="0" i="0" u="none" strike="noStrike" cap="none">
                <a:solidFill>
                  <a:schemeClr val="dk1"/>
                </a:solidFill>
                <a:latin typeface="Calibri"/>
                <a:ea typeface="Calibri"/>
                <a:cs typeface="Calibri"/>
                <a:sym typeface="Calibri"/>
              </a:defRPr>
            </a:lvl1pPr>
            <a:lvl2pPr marL="2743200" marR="0" lvl="1" indent="-203200" algn="l" rtl="0">
              <a:lnSpc>
                <a:spcPct val="90000"/>
              </a:lnSpc>
              <a:spcBef>
                <a:spcPts val="2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2pPr>
            <a:lvl3pPr marL="4572000" marR="0" lvl="2"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3pPr>
            <a:lvl4pPr marL="6400800" marR="0" lvl="3"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4pPr>
            <a:lvl5pPr marL="8229600" marR="0" lvl="4"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5pPr>
            <a:lvl6pPr marL="10058400" marR="0" lvl="5"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6pPr>
            <a:lvl7pPr marL="11887200" marR="0" lvl="6"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7pPr>
            <a:lvl8pPr marL="13716000" marR="0" lvl="7"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8pPr>
            <a:lvl9pPr marL="15544800" marR="0" lvl="8"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body" idx="2"/>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1" name="Shape 61"/>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2" name="Shape 62"/>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3"/>
        <p:cNvGrpSpPr/>
        <p:nvPr/>
      </p:nvGrpSpPr>
      <p:grpSpPr>
        <a:xfrm>
          <a:off x="0" y="0"/>
          <a:ext cx="0" cy="0"/>
          <a:chOff x="0" y="0"/>
          <a:chExt cx="0" cy="0"/>
        </a:xfrm>
      </p:grpSpPr>
      <p:sp>
        <p:nvSpPr>
          <p:cNvPr id="64" name="Shape 64"/>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5" name="Shape 65"/>
          <p:cNvSpPr>
            <a:spLocks noGrp="1"/>
          </p:cNvSpPr>
          <p:nvPr>
            <p:ph type="pic" idx="2"/>
          </p:nvPr>
        </p:nvSpPr>
        <p:spPr>
          <a:xfrm>
            <a:off x="15549564" y="6056216"/>
            <a:ext cx="18516600" cy="2989156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128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112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96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body" idx="1"/>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8" name="Shape 68"/>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9" name="Shape 69"/>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2" name="Shape 72"/>
          <p:cNvSpPr txBox="1">
            <a:spLocks noGrp="1"/>
          </p:cNvSpPr>
          <p:nvPr>
            <p:ph type="body" idx="1"/>
          </p:nvPr>
        </p:nvSpPr>
        <p:spPr>
          <a:xfrm rot="5400000">
            <a:off x="4943896" y="8767869"/>
            <a:ext cx="26688205" cy="315468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4" name="Shape 7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5" name="Shape 7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6"/>
        <p:cNvGrpSpPr/>
        <p:nvPr/>
      </p:nvGrpSpPr>
      <p:grpSpPr>
        <a:xfrm>
          <a:off x="0" y="0"/>
          <a:ext cx="0" cy="0"/>
          <a:chOff x="0" y="0"/>
          <a:chExt cx="0" cy="0"/>
        </a:xfrm>
      </p:grpSpPr>
      <p:sp>
        <p:nvSpPr>
          <p:cNvPr id="77" name="Shape 77"/>
          <p:cNvSpPr txBox="1">
            <a:spLocks noGrp="1"/>
          </p:cNvSpPr>
          <p:nvPr>
            <p:ph type="title"/>
          </p:nvPr>
        </p:nvSpPr>
        <p:spPr>
          <a:xfrm rot="5400000">
            <a:off x="12295083" y="16119052"/>
            <a:ext cx="35645939" cy="788670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8" name="Shape 78"/>
          <p:cNvSpPr txBox="1">
            <a:spLocks noGrp="1"/>
          </p:cNvSpPr>
          <p:nvPr>
            <p:ph type="body" idx="1"/>
          </p:nvPr>
        </p:nvSpPr>
        <p:spPr>
          <a:xfrm rot="5400000">
            <a:off x="-3706918" y="8460952"/>
            <a:ext cx="35645939" cy="232029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0" name="Shape 8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1" name="Shape 8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 name="Shape 7"/>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b="0" i="0" u="none" strike="noStrike" cap="none">
                <a:solidFill>
                  <a:srgbClr val="888888"/>
                </a:solidFill>
                <a:latin typeface="Calibri"/>
                <a:ea typeface="Calibri"/>
                <a:cs typeface="Calibri"/>
                <a:sym typeface="Calibri"/>
              </a:rPr>
              <a:t>‹#›</a:t>
            </a:fld>
            <a:endParaRPr lang="en-US" sz="48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microsoft.com/office/2007/relationships/hdphoto" Target="../media/hdphoto1.wdp"/><Relationship Id="rId5" Type="http://schemas.openxmlformats.org/officeDocument/2006/relationships/image" Target="../media/image3.png"/><Relationship Id="rId6" Type="http://schemas.openxmlformats.org/officeDocument/2006/relationships/image" Target="../media/image4.emf"/><Relationship Id="rId7" Type="http://schemas.openxmlformats.org/officeDocument/2006/relationships/image" Target="../media/image5.emf"/><Relationship Id="rId8" Type="http://schemas.openxmlformats.org/officeDocument/2006/relationships/image" Target="../media/image6.JPG"/><Relationship Id="rId9" Type="http://schemas.openxmlformats.org/officeDocument/2006/relationships/image" Target="../media/image7.png"/><Relationship Id="rId10"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31" name="Picture 30">
            <a:extLst>
              <a:ext uri="{FF2B5EF4-FFF2-40B4-BE49-F238E27FC236}">
                <a16:creationId xmlns:a16="http://schemas.microsoft.com/office/drawing/2014/main" xmlns="" id="{AD4876CF-1C35-4BB0-AB5B-2CCF2EE061D0}"/>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9709" b="88350" l="1383" r="96968">
                        <a14:foregroundMark x1="4947" y1="34951" x2="3830" y2="16505"/>
                        <a14:foregroundMark x1="3830" y1="16505" x2="2234" y2="15534"/>
                        <a14:foregroundMark x1="2234" y1="15534" x2="2128" y2="24272"/>
                        <a14:foregroundMark x1="2128" y1="24272" x2="2128" y2="24272"/>
                        <a14:foregroundMark x1="1649" y1="29126" x2="1436" y2="56311"/>
                        <a14:foregroundMark x1="1436" y1="56311" x2="2340" y2="81553"/>
                        <a14:foregroundMark x1="2340" y1="81553" x2="3777" y2="88350"/>
                        <a14:foregroundMark x1="3777" y1="88350" x2="5213" y2="75728"/>
                        <a14:foregroundMark x1="5213" y1="75728" x2="5372" y2="70874"/>
                        <a14:foregroundMark x1="5372" y1="70874" x2="7394" y2="66990"/>
                        <a14:foregroundMark x1="7394" y1="66990" x2="13138" y2="66990"/>
                        <a14:foregroundMark x1="13138" y1="66990" x2="13138" y2="66990"/>
                        <a14:foregroundMark x1="15957" y1="79612" x2="22181" y2="81553"/>
                        <a14:foregroundMark x1="22181" y1="81553" x2="29894" y2="70874"/>
                        <a14:foregroundMark x1="29894" y1="70874" x2="33617" y2="73786"/>
                        <a14:foregroundMark x1="33617" y1="73786" x2="35000" y2="82524"/>
                        <a14:foregroundMark x1="35000" y1="82524" x2="38457" y2="84466"/>
                        <a14:foregroundMark x1="44309" y1="77670" x2="46596" y2="77670"/>
                        <a14:foregroundMark x1="46596" y1="77670" x2="50426" y2="73786"/>
                        <a14:foregroundMark x1="50426" y1="73786" x2="64149" y2="80583"/>
                        <a14:foregroundMark x1="64149" y1="80583" x2="64149" y2="82524"/>
                        <a14:foregroundMark x1="66862" y1="81553" x2="70851" y2="81553"/>
                        <a14:foregroundMark x1="70851" y1="81553" x2="74947" y2="77670"/>
                        <a14:foregroundMark x1="74947" y1="77670" x2="82713" y2="82524"/>
                        <a14:foregroundMark x1="82713" y1="82524" x2="86383" y2="77670"/>
                        <a14:foregroundMark x1="86383" y1="77670" x2="96596" y2="88350"/>
                        <a14:foregroundMark x1="96596" y1="88350" x2="96968" y2="86408"/>
                      </a14:backgroundRemoval>
                    </a14:imgEffect>
                  </a14:imgLayer>
                </a14:imgProps>
              </a:ext>
            </a:extLst>
          </a:blip>
          <a:stretch>
            <a:fillRect/>
          </a:stretch>
        </p:blipFill>
        <p:spPr>
          <a:xfrm>
            <a:off x="620069" y="10265649"/>
            <a:ext cx="33546592" cy="1837925"/>
          </a:xfrm>
          <a:prstGeom prst="rect">
            <a:avLst/>
          </a:prstGeom>
        </p:spPr>
      </p:pic>
      <p:pic>
        <p:nvPicPr>
          <p:cNvPr id="86" name="Shape 86"/>
          <p:cNvPicPr preferRelativeResize="0"/>
          <p:nvPr/>
        </p:nvPicPr>
        <p:blipFill>
          <a:blip r:embed="rId5">
            <a:alphaModFix/>
          </a:blip>
          <a:stretch>
            <a:fillRect/>
          </a:stretch>
        </p:blipFill>
        <p:spPr>
          <a:xfrm>
            <a:off x="21365125" y="27941175"/>
            <a:ext cx="13999797" cy="8179800"/>
          </a:xfrm>
          <a:prstGeom prst="rect">
            <a:avLst/>
          </a:prstGeom>
          <a:noFill/>
          <a:ln>
            <a:noFill/>
          </a:ln>
        </p:spPr>
      </p:pic>
      <p:pic>
        <p:nvPicPr>
          <p:cNvPr id="9" name="Picture 8">
            <a:extLst>
              <a:ext uri="{FF2B5EF4-FFF2-40B4-BE49-F238E27FC236}">
                <a16:creationId xmlns:a16="http://schemas.microsoft.com/office/drawing/2014/main" xmlns="" id="{E2A7072D-4709-40BC-B8E9-FF4B94AF52E2}"/>
              </a:ext>
            </a:extLst>
          </p:cNvPr>
          <p:cNvPicPr>
            <a:picLocks noChangeAspect="1"/>
          </p:cNvPicPr>
          <p:nvPr/>
        </p:nvPicPr>
        <p:blipFill>
          <a:blip r:embed="rId6"/>
          <a:stretch>
            <a:fillRect/>
          </a:stretch>
        </p:blipFill>
        <p:spPr>
          <a:xfrm>
            <a:off x="7315196" y="35200218"/>
            <a:ext cx="31981569" cy="786491"/>
          </a:xfrm>
          <a:prstGeom prst="rect">
            <a:avLst/>
          </a:prstGeom>
        </p:spPr>
      </p:pic>
      <p:pic>
        <p:nvPicPr>
          <p:cNvPr id="2" name="Picture 1">
            <a:extLst>
              <a:ext uri="{FF2B5EF4-FFF2-40B4-BE49-F238E27FC236}">
                <a16:creationId xmlns:a16="http://schemas.microsoft.com/office/drawing/2014/main" xmlns="" id="{2CDA432B-2BBC-4648-9FE6-6921141EA457}"/>
              </a:ext>
            </a:extLst>
          </p:cNvPr>
          <p:cNvPicPr>
            <a:picLocks noChangeAspect="1"/>
          </p:cNvPicPr>
          <p:nvPr/>
        </p:nvPicPr>
        <p:blipFill rotWithShape="1">
          <a:blip r:embed="rId7"/>
          <a:srcRect t="1200"/>
          <a:stretch/>
        </p:blipFill>
        <p:spPr>
          <a:xfrm>
            <a:off x="2509521" y="11570160"/>
            <a:ext cx="9200252" cy="27354382"/>
          </a:xfrm>
          <a:prstGeom prst="rect">
            <a:avLst/>
          </a:prstGeom>
        </p:spPr>
      </p:pic>
      <p:pic>
        <p:nvPicPr>
          <p:cNvPr id="6" name="Picture 5">
            <a:extLst>
              <a:ext uri="{FF2B5EF4-FFF2-40B4-BE49-F238E27FC236}">
                <a16:creationId xmlns:a16="http://schemas.microsoft.com/office/drawing/2014/main" xmlns="" id="{D6514BF2-33FC-4BCB-B9FB-64400900BE09}"/>
              </a:ext>
            </a:extLst>
          </p:cNvPr>
          <p:cNvPicPr>
            <a:picLocks noChangeAspect="1"/>
          </p:cNvPicPr>
          <p:nvPr/>
        </p:nvPicPr>
        <p:blipFill>
          <a:blip r:embed="rId8"/>
          <a:stretch>
            <a:fillRect/>
          </a:stretch>
        </p:blipFill>
        <p:spPr>
          <a:xfrm>
            <a:off x="585185" y="5868449"/>
            <a:ext cx="33546592" cy="1837925"/>
          </a:xfrm>
          <a:prstGeom prst="rect">
            <a:avLst/>
          </a:prstGeom>
        </p:spPr>
      </p:pic>
      <p:pic>
        <p:nvPicPr>
          <p:cNvPr id="89" name="Shape 89"/>
          <p:cNvPicPr preferRelativeResize="0"/>
          <p:nvPr/>
        </p:nvPicPr>
        <p:blipFill rotWithShape="1">
          <a:blip r:embed="rId9">
            <a:alphaModFix/>
          </a:blip>
          <a:srcRect l="73589" b="27441"/>
          <a:stretch/>
        </p:blipFill>
        <p:spPr>
          <a:xfrm>
            <a:off x="31561250" y="23703377"/>
            <a:ext cx="3343025" cy="4246800"/>
          </a:xfrm>
          <a:prstGeom prst="rect">
            <a:avLst/>
          </a:prstGeom>
          <a:noFill/>
          <a:ln>
            <a:noFill/>
          </a:ln>
        </p:spPr>
      </p:pic>
      <p:sp>
        <p:nvSpPr>
          <p:cNvPr id="92" name="Shape 92"/>
          <p:cNvSpPr txBox="1"/>
          <p:nvPr/>
        </p:nvSpPr>
        <p:spPr>
          <a:xfrm>
            <a:off x="11050375" y="741021"/>
            <a:ext cx="23538600" cy="2157900"/>
          </a:xfrm>
          <a:prstGeom prst="rect">
            <a:avLst/>
          </a:prstGeom>
          <a:noFill/>
          <a:ln>
            <a:noFill/>
          </a:ln>
        </p:spPr>
        <p:txBody>
          <a:bodyPr lIns="91425" tIns="45700" rIns="91425" bIns="45700" anchor="t" anchorCtr="0">
            <a:noAutofit/>
          </a:bodyPr>
          <a:lstStyle/>
          <a:p>
            <a:pPr marL="0" marR="0" lvl="0" indent="0" rtl="0">
              <a:spcBef>
                <a:spcPts val="0"/>
              </a:spcBef>
              <a:buSzPct val="25000"/>
              <a:buNone/>
            </a:pPr>
            <a:r>
              <a:rPr lang="en-US" sz="20000" dirty="0">
                <a:solidFill>
                  <a:srgbClr val="141F22"/>
                </a:solidFill>
                <a:latin typeface="Blanch Caps" charset="0"/>
                <a:ea typeface="Blanch Caps" charset="0"/>
                <a:cs typeface="Blanch Caps" charset="0"/>
              </a:rPr>
              <a:t>Profiling Army Bases</a:t>
            </a:r>
          </a:p>
        </p:txBody>
      </p:sp>
      <p:sp>
        <p:nvSpPr>
          <p:cNvPr id="93" name="Shape 93"/>
          <p:cNvSpPr txBox="1"/>
          <p:nvPr/>
        </p:nvSpPr>
        <p:spPr>
          <a:xfrm>
            <a:off x="2684375" y="6864131"/>
            <a:ext cx="28338900" cy="4246800"/>
          </a:xfrm>
          <a:prstGeom prst="rect">
            <a:avLst/>
          </a:prstGeom>
          <a:noFill/>
          <a:ln>
            <a:noFill/>
          </a:ln>
        </p:spPr>
        <p:txBody>
          <a:bodyPr lIns="91425" tIns="45700" rIns="91425" bIns="45700" anchor="t" anchorCtr="0">
            <a:noAutofit/>
          </a:bodyPr>
          <a:lstStyle/>
          <a:p>
            <a:pPr marL="0" lvl="0" indent="-69850" rtl="0">
              <a:lnSpc>
                <a:spcPct val="90000"/>
              </a:lnSpc>
              <a:spcBef>
                <a:spcPts val="1100"/>
              </a:spcBef>
              <a:buClr>
                <a:schemeClr val="dk1"/>
              </a:buClr>
              <a:buSzPct val="25000"/>
              <a:buFont typeface="Arial"/>
              <a:buNone/>
            </a:pPr>
            <a:r>
              <a:rPr lang="en-US" sz="6500" i="1" dirty="0">
                <a:solidFill>
                  <a:srgbClr val="6998BD"/>
                </a:solidFill>
                <a:latin typeface="Trebuchet MS"/>
                <a:ea typeface="Trebuchet MS"/>
                <a:cs typeface="Trebuchet MS"/>
                <a:sym typeface="Trebuchet MS"/>
              </a:rPr>
              <a:t>Do Soldiers leave the Army because of better opportunities in civilian life?</a:t>
            </a:r>
          </a:p>
          <a:p>
            <a:pPr lvl="0" rtl="0">
              <a:spcBef>
                <a:spcPts val="0"/>
              </a:spcBef>
              <a:spcAft>
                <a:spcPts val="600"/>
              </a:spcAft>
              <a:buNone/>
            </a:pPr>
            <a:r>
              <a:rPr lang="en-US" sz="3600" b="1" dirty="0" smtClean="0">
                <a:latin typeface="Trebuchet MS"/>
                <a:ea typeface="Trebuchet MS"/>
                <a:cs typeface="Trebuchet MS"/>
                <a:sym typeface="Trebuchet MS"/>
              </a:rPr>
              <a:t>Project </a:t>
            </a:r>
            <a:r>
              <a:rPr lang="en-US" sz="3600" b="1" dirty="0">
                <a:latin typeface="Trebuchet MS"/>
                <a:ea typeface="Trebuchet MS"/>
                <a:cs typeface="Trebuchet MS"/>
                <a:sym typeface="Trebuchet MS"/>
              </a:rPr>
              <a:t>Title:</a:t>
            </a:r>
            <a:r>
              <a:rPr lang="en-US" sz="3600" dirty="0">
                <a:latin typeface="Trebuchet MS"/>
                <a:ea typeface="Trebuchet MS"/>
                <a:cs typeface="Trebuchet MS"/>
                <a:sym typeface="Trebuchet MS"/>
              </a:rPr>
              <a:t>  Towards an Integrated Data Framework for Understanding the Context  of Army Environments: </a:t>
            </a:r>
            <a:endParaRPr lang="en-US" sz="3600" dirty="0" smtClean="0">
              <a:latin typeface="Trebuchet MS"/>
              <a:ea typeface="Trebuchet MS"/>
              <a:cs typeface="Trebuchet MS"/>
              <a:sym typeface="Trebuchet MS"/>
            </a:endParaRPr>
          </a:p>
          <a:p>
            <a:pPr lvl="0" rtl="0">
              <a:spcBef>
                <a:spcPts val="0"/>
              </a:spcBef>
              <a:spcAft>
                <a:spcPts val="600"/>
              </a:spcAft>
              <a:buNone/>
            </a:pPr>
            <a:r>
              <a:rPr lang="en-US" sz="3600" dirty="0" smtClean="0">
                <a:latin typeface="Trebuchet MS"/>
                <a:ea typeface="Trebuchet MS"/>
                <a:cs typeface="Trebuchet MS"/>
                <a:sym typeface="Trebuchet MS"/>
              </a:rPr>
              <a:t>A </a:t>
            </a:r>
            <a:r>
              <a:rPr lang="en-US" sz="3600" dirty="0">
                <a:latin typeface="Trebuchet MS"/>
                <a:ea typeface="Trebuchet MS"/>
                <a:cs typeface="Trebuchet MS"/>
                <a:sym typeface="Trebuchet MS"/>
              </a:rPr>
              <a:t>Case Study of Attrition of Army Soldiers</a:t>
            </a:r>
            <a:br>
              <a:rPr lang="en-US" sz="3600" dirty="0">
                <a:latin typeface="Trebuchet MS"/>
                <a:ea typeface="Trebuchet MS"/>
                <a:cs typeface="Trebuchet MS"/>
                <a:sym typeface="Trebuchet MS"/>
              </a:rPr>
            </a:br>
            <a:r>
              <a:rPr lang="en-US" sz="3600" b="1" dirty="0" smtClean="0">
                <a:latin typeface="Trebuchet MS"/>
                <a:ea typeface="Trebuchet MS"/>
                <a:cs typeface="Trebuchet MS"/>
                <a:sym typeface="Trebuchet MS"/>
              </a:rPr>
              <a:t>Task</a:t>
            </a:r>
            <a:r>
              <a:rPr lang="en-US" sz="3600" b="1" dirty="0">
                <a:latin typeface="Trebuchet MS"/>
                <a:ea typeface="Trebuchet MS"/>
                <a:cs typeface="Trebuchet MS"/>
                <a:sym typeface="Trebuchet MS"/>
              </a:rPr>
              <a:t>:</a:t>
            </a:r>
            <a:r>
              <a:rPr lang="en-US" sz="3600" dirty="0">
                <a:latin typeface="Trebuchet MS"/>
                <a:ea typeface="Trebuchet MS"/>
                <a:cs typeface="Trebuchet MS"/>
                <a:sym typeface="Trebuchet MS"/>
              </a:rPr>
              <a:t> Identify publicly available data sources (e.g., Census and BLS data) to create social, demographic, economic, and other quantitative profiles of Army bases and their surrounding areas. Identify relevant variables for use in statistical models. </a:t>
            </a:r>
          </a:p>
          <a:p>
            <a:pPr marL="0" marR="0" lvl="0" indent="0" algn="l" rtl="0">
              <a:lnSpc>
                <a:spcPct val="100000"/>
              </a:lnSpc>
              <a:spcBef>
                <a:spcPts val="0"/>
              </a:spcBef>
              <a:spcAft>
                <a:spcPts val="0"/>
              </a:spcAft>
              <a:buClr>
                <a:srgbClr val="141F22"/>
              </a:buClr>
              <a:buFont typeface="Trebuchet MS"/>
              <a:buNone/>
            </a:pPr>
            <a:endParaRPr sz="3600" dirty="0">
              <a:solidFill>
                <a:schemeClr val="dk2"/>
              </a:solidFill>
              <a:latin typeface="Trebuchet MS"/>
              <a:ea typeface="Trebuchet MS"/>
              <a:cs typeface="Trebuchet MS"/>
              <a:sym typeface="Trebuchet MS"/>
            </a:endParaRPr>
          </a:p>
          <a:p>
            <a:pPr marL="0" marR="0" lvl="0" indent="0" algn="l" rtl="0">
              <a:lnSpc>
                <a:spcPct val="100000"/>
              </a:lnSpc>
              <a:spcBef>
                <a:spcPts val="0"/>
              </a:spcBef>
              <a:spcAft>
                <a:spcPts val="0"/>
              </a:spcAft>
              <a:buClr>
                <a:schemeClr val="dk1"/>
              </a:buClr>
              <a:buFont typeface="Calibri"/>
              <a:buNone/>
            </a:pPr>
            <a:endParaRPr sz="3600" b="0" i="0" dirty="0">
              <a:solidFill>
                <a:srgbClr val="141F22"/>
              </a:solidFill>
              <a:latin typeface="Trebuchet MS"/>
              <a:ea typeface="Trebuchet MS"/>
              <a:cs typeface="Trebuchet MS"/>
              <a:sym typeface="Trebuchet MS"/>
            </a:endParaRPr>
          </a:p>
        </p:txBody>
      </p:sp>
      <p:sp>
        <p:nvSpPr>
          <p:cNvPr id="94" name="Shape 94"/>
          <p:cNvSpPr txBox="1"/>
          <p:nvPr/>
        </p:nvSpPr>
        <p:spPr>
          <a:xfrm>
            <a:off x="2763641" y="10323365"/>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a:solidFill>
                  <a:srgbClr val="141F22"/>
                </a:solidFill>
                <a:latin typeface="Raleway"/>
                <a:ea typeface="Raleway"/>
                <a:cs typeface="Raleway"/>
                <a:sym typeface="Raleway"/>
              </a:rPr>
              <a:t>Profiling Bases </a:t>
            </a:r>
          </a:p>
        </p:txBody>
      </p:sp>
      <p:pic>
        <p:nvPicPr>
          <p:cNvPr id="95" name="Shape 95"/>
          <p:cNvPicPr preferRelativeResize="0"/>
          <p:nvPr/>
        </p:nvPicPr>
        <p:blipFill>
          <a:blip r:embed="rId10">
            <a:alphaModFix/>
          </a:blip>
          <a:stretch>
            <a:fillRect/>
          </a:stretch>
        </p:blipFill>
        <p:spPr>
          <a:xfrm>
            <a:off x="31038900" y="7006601"/>
            <a:ext cx="2148135" cy="2157899"/>
          </a:xfrm>
          <a:prstGeom prst="rect">
            <a:avLst/>
          </a:prstGeom>
          <a:noFill/>
          <a:ln>
            <a:noFill/>
          </a:ln>
        </p:spPr>
      </p:pic>
      <p:sp>
        <p:nvSpPr>
          <p:cNvPr id="96" name="Shape 96"/>
          <p:cNvSpPr txBox="1"/>
          <p:nvPr/>
        </p:nvSpPr>
        <p:spPr>
          <a:xfrm>
            <a:off x="2687441" y="5770221"/>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dirty="0">
                <a:solidFill>
                  <a:srgbClr val="141F22"/>
                </a:solidFill>
                <a:latin typeface="Raleway"/>
                <a:ea typeface="Raleway"/>
                <a:cs typeface="Raleway"/>
                <a:sym typeface="Raleway"/>
              </a:rPr>
              <a:t>Project Overview</a:t>
            </a:r>
          </a:p>
        </p:txBody>
      </p:sp>
      <p:graphicFrame>
        <p:nvGraphicFramePr>
          <p:cNvPr id="97" name="Shape 97"/>
          <p:cNvGraphicFramePr/>
          <p:nvPr/>
        </p:nvGraphicFramePr>
        <p:xfrm>
          <a:off x="12131950" y="14331262"/>
          <a:ext cx="21781725" cy="4568475"/>
        </p:xfrm>
        <a:graphic>
          <a:graphicData uri="http://schemas.openxmlformats.org/drawingml/2006/table">
            <a:tbl>
              <a:tblPr>
                <a:noFill/>
                <a:tableStyleId>{99DF9F23-58C0-4EDB-810E-6ACDE143BE6B}</a:tableStyleId>
              </a:tblPr>
              <a:tblGrid>
                <a:gridCol w="9976575">
                  <a:extLst>
                    <a:ext uri="{9D8B030D-6E8A-4147-A177-3AD203B41FA5}">
                      <a16:colId xmlns:a16="http://schemas.microsoft.com/office/drawing/2014/main" xmlns="" val="20000"/>
                    </a:ext>
                  </a:extLst>
                </a:gridCol>
                <a:gridCol w="11805150">
                  <a:extLst>
                    <a:ext uri="{9D8B030D-6E8A-4147-A177-3AD203B41FA5}">
                      <a16:colId xmlns:a16="http://schemas.microsoft.com/office/drawing/2014/main" xmlns="" val="20001"/>
                    </a:ext>
                  </a:extLst>
                </a:gridCol>
              </a:tblGrid>
              <a:tr h="1185225">
                <a:tc>
                  <a:txBody>
                    <a:bodyPr/>
                    <a:lstStyle/>
                    <a:p>
                      <a:pPr lvl="0" rtl="0">
                        <a:spcBef>
                          <a:spcPts val="0"/>
                        </a:spcBef>
                        <a:buNone/>
                      </a:pPr>
                      <a:r>
                        <a:rPr lang="en-US" sz="3600" b="1">
                          <a:latin typeface="Trebuchet MS"/>
                          <a:ea typeface="Trebuchet MS"/>
                          <a:cs typeface="Trebuchet MS"/>
                          <a:sym typeface="Trebuchet MS"/>
                        </a:rPr>
                        <a:t>ACS</a:t>
                      </a:r>
                    </a:p>
                    <a:p>
                      <a:pPr lvl="0">
                        <a:spcBef>
                          <a:spcPts val="0"/>
                        </a:spcBef>
                        <a:buNone/>
                      </a:pPr>
                      <a:r>
                        <a:rPr lang="en-US" sz="2400" b="1">
                          <a:latin typeface="Trebuchet MS"/>
                          <a:ea typeface="Trebuchet MS"/>
                          <a:cs typeface="Trebuchet MS"/>
                          <a:sym typeface="Trebuchet MS"/>
                        </a:rPr>
                        <a:t>(American Community Survey)</a:t>
                      </a:r>
                    </a:p>
                  </a:txBody>
                  <a:tcPr marL="91425" marR="91425" marT="91425" marB="91425">
                    <a:lnL w="38100" cap="flat" cmpd="sng">
                      <a:solidFill>
                        <a:schemeClr val="lt1"/>
                      </a:solidFill>
                      <a:prstDash val="solid"/>
                      <a:round/>
                      <a:headEnd type="none" w="med" len="med"/>
                      <a:tailEnd type="none" w="med" len="med"/>
                    </a:lnL>
                    <a:lnR w="38100" cap="flat" cmpd="sng">
                      <a:solidFill>
                        <a:schemeClr val="lt1"/>
                      </a:solidFill>
                      <a:prstDash val="solid"/>
                      <a:round/>
                      <a:headEnd type="none" w="med" len="med"/>
                      <a:tailEnd type="none" w="med" len="med"/>
                    </a:lnR>
                    <a:lnT w="38100" cap="flat" cmpd="sng">
                      <a:solidFill>
                        <a:schemeClr val="lt1"/>
                      </a:solidFill>
                      <a:prstDash val="solid"/>
                      <a:round/>
                      <a:headEnd type="none" w="med" len="med"/>
                      <a:tailEnd type="none" w="med" len="med"/>
                    </a:lnT>
                    <a:lnB w="38100" cap="flat" cmpd="sng">
                      <a:solidFill>
                        <a:srgbClr val="E0E8F3"/>
                      </a:solidFill>
                      <a:prstDash val="solid"/>
                      <a:round/>
                      <a:headEnd type="none" w="med" len="med"/>
                      <a:tailEnd type="none" w="med" len="med"/>
                    </a:lnB>
                    <a:solidFill>
                      <a:srgbClr val="E0E8F3"/>
                    </a:solidFill>
                  </a:tcPr>
                </a:tc>
                <a:tc>
                  <a:txBody>
                    <a:bodyPr/>
                    <a:lstStyle/>
                    <a:p>
                      <a:pPr lvl="0">
                        <a:spcBef>
                          <a:spcPts val="0"/>
                        </a:spcBef>
                        <a:buNone/>
                      </a:pPr>
                      <a:r>
                        <a:rPr lang="en-US" sz="3600" b="1">
                          <a:latin typeface="Trebuchet MS"/>
                          <a:ea typeface="Trebuchet MS"/>
                          <a:cs typeface="Trebuchet MS"/>
                          <a:sym typeface="Trebuchet MS"/>
                        </a:rPr>
                        <a:t>BLS</a:t>
                      </a:r>
                    </a:p>
                    <a:p>
                      <a:pPr lvl="0">
                        <a:spcBef>
                          <a:spcPts val="0"/>
                        </a:spcBef>
                        <a:buClr>
                          <a:schemeClr val="dk1"/>
                        </a:buClr>
                        <a:buSzPct val="45833"/>
                        <a:buFont typeface="Arial"/>
                        <a:buNone/>
                      </a:pPr>
                      <a:r>
                        <a:rPr lang="en-US" sz="2400" b="1">
                          <a:solidFill>
                            <a:schemeClr val="dk1"/>
                          </a:solidFill>
                          <a:latin typeface="Trebuchet MS"/>
                          <a:ea typeface="Trebuchet MS"/>
                          <a:cs typeface="Trebuchet MS"/>
                          <a:sym typeface="Trebuchet MS"/>
                        </a:rPr>
                        <a:t>(Bureau of Labor Statistics)</a:t>
                      </a:r>
                    </a:p>
                  </a:txBody>
                  <a:tcPr marL="91425" marR="91425" marT="91425" marB="91425">
                    <a:lnL w="38100" cap="flat" cmpd="sng">
                      <a:solidFill>
                        <a:schemeClr val="lt1"/>
                      </a:solidFill>
                      <a:prstDash val="solid"/>
                      <a:round/>
                      <a:headEnd type="none" w="med" len="med"/>
                      <a:tailEnd type="none" w="med" len="med"/>
                    </a:lnL>
                    <a:lnR w="38100" cap="flat" cmpd="sng">
                      <a:solidFill>
                        <a:schemeClr val="lt1"/>
                      </a:solidFill>
                      <a:prstDash val="solid"/>
                      <a:round/>
                      <a:headEnd type="none" w="med" len="med"/>
                      <a:tailEnd type="none" w="med" len="med"/>
                    </a:lnR>
                    <a:lnT w="38100" cap="flat" cmpd="sng">
                      <a:solidFill>
                        <a:schemeClr val="lt1"/>
                      </a:solidFill>
                      <a:prstDash val="solid"/>
                      <a:round/>
                      <a:headEnd type="none" w="med" len="med"/>
                      <a:tailEnd type="none" w="med" len="med"/>
                    </a:lnT>
                    <a:lnB w="38100" cap="flat" cmpd="sng">
                      <a:solidFill>
                        <a:schemeClr val="lt1"/>
                      </a:solidFill>
                      <a:prstDash val="solid"/>
                      <a:round/>
                      <a:headEnd type="none" w="med" len="med"/>
                      <a:tailEnd type="none" w="med" len="med"/>
                    </a:lnB>
                    <a:solidFill>
                      <a:srgbClr val="E0E8F3"/>
                    </a:solidFill>
                  </a:tcPr>
                </a:tc>
                <a:extLst>
                  <a:ext uri="{0D108BD9-81ED-4DB2-BD59-A6C34878D82A}">
                    <a16:rowId xmlns:a16="http://schemas.microsoft.com/office/drawing/2014/main" xmlns="" val="10000"/>
                  </a:ext>
                </a:extLst>
              </a:tr>
              <a:tr h="3114725">
                <a:tc>
                  <a:txBody>
                    <a:bodyPr/>
                    <a:lstStyle/>
                    <a:p>
                      <a:pPr lvl="0">
                        <a:spcBef>
                          <a:spcPts val="0"/>
                        </a:spcBef>
                        <a:buNone/>
                      </a:pPr>
                      <a:r>
                        <a:rPr lang="en-US" sz="3000" b="1">
                          <a:latin typeface="Trebuchet MS"/>
                          <a:ea typeface="Trebuchet MS"/>
                          <a:cs typeface="Trebuchet MS"/>
                          <a:sym typeface="Trebuchet MS"/>
                        </a:rPr>
                        <a:t>Geographic Level: </a:t>
                      </a:r>
                      <a:r>
                        <a:rPr lang="en-US" sz="3000">
                          <a:latin typeface="Trebuchet MS"/>
                          <a:ea typeface="Trebuchet MS"/>
                          <a:cs typeface="Trebuchet MS"/>
                          <a:sym typeface="Trebuchet MS"/>
                        </a:rPr>
                        <a:t>ZIP Code Tabulated Area</a:t>
                      </a:r>
                    </a:p>
                    <a:p>
                      <a:pPr lvl="0">
                        <a:spcBef>
                          <a:spcPts val="0"/>
                        </a:spcBef>
                        <a:buNone/>
                      </a:pPr>
                      <a:r>
                        <a:rPr lang="en-US" sz="3000" b="1">
                          <a:latin typeface="Trebuchet MS"/>
                          <a:ea typeface="Trebuchet MS"/>
                          <a:cs typeface="Trebuchet MS"/>
                          <a:sym typeface="Trebuchet MS"/>
                        </a:rPr>
                        <a:t>Intention: </a:t>
                      </a:r>
                      <a:r>
                        <a:rPr lang="en-US" sz="3000">
                          <a:latin typeface="Trebuchet MS"/>
                          <a:ea typeface="Trebuchet MS"/>
                          <a:cs typeface="Trebuchet MS"/>
                          <a:sym typeface="Trebuchet MS"/>
                        </a:rPr>
                        <a:t>Demographic Analysis</a:t>
                      </a:r>
                    </a:p>
                    <a:p>
                      <a:pPr lvl="0" rtl="0">
                        <a:spcBef>
                          <a:spcPts val="0"/>
                        </a:spcBef>
                        <a:buNone/>
                      </a:pPr>
                      <a:r>
                        <a:rPr lang="en-US" sz="3000" b="1">
                          <a:latin typeface="Trebuchet MS"/>
                          <a:ea typeface="Trebuchet MS"/>
                          <a:cs typeface="Trebuchet MS"/>
                          <a:sym typeface="Trebuchet MS"/>
                        </a:rPr>
                        <a:t>Targeted Variables: </a:t>
                      </a:r>
                      <a:r>
                        <a:rPr lang="en-US" sz="3000">
                          <a:solidFill>
                            <a:schemeClr val="dk1"/>
                          </a:solidFill>
                          <a:latin typeface="Trebuchet MS"/>
                          <a:ea typeface="Trebuchet MS"/>
                          <a:cs typeface="Trebuchet MS"/>
                          <a:sym typeface="Trebuchet MS"/>
                        </a:rPr>
                        <a:t>Educational Attainment, Children Under 18, Poverty Line Status, Transportation to Work, Marital Status, Sex, Race, Ethnicity, Government Assistance, Veteran Status, Employment Status</a:t>
                      </a:r>
                    </a:p>
                  </a:txBody>
                  <a:tcPr marL="91425" marR="91425" marT="91425" marB="91425">
                    <a:lnL w="38100" cap="flat" cmpd="sng">
                      <a:solidFill>
                        <a:srgbClr val="E0E8F3"/>
                      </a:solidFill>
                      <a:prstDash val="solid"/>
                      <a:round/>
                      <a:headEnd type="none" w="med" len="med"/>
                      <a:tailEnd type="none" w="med" len="med"/>
                    </a:lnL>
                    <a:lnR w="38100" cap="flat" cmpd="sng">
                      <a:solidFill>
                        <a:srgbClr val="E0E8F3"/>
                      </a:solidFill>
                      <a:prstDash val="solid"/>
                      <a:round/>
                      <a:headEnd type="none" w="med" len="med"/>
                      <a:tailEnd type="none" w="med" len="med"/>
                    </a:lnR>
                    <a:lnT w="38100" cap="flat" cmpd="sng">
                      <a:solidFill>
                        <a:srgbClr val="E0E8F3"/>
                      </a:solidFill>
                      <a:prstDash val="solid"/>
                      <a:round/>
                      <a:headEnd type="none" w="med" len="med"/>
                      <a:tailEnd type="none" w="med" len="med"/>
                    </a:lnT>
                    <a:lnB w="38100" cap="flat" cmpd="sng">
                      <a:solidFill>
                        <a:srgbClr val="E0E8F3"/>
                      </a:solidFill>
                      <a:prstDash val="solid"/>
                      <a:round/>
                      <a:headEnd type="none" w="med" len="med"/>
                      <a:tailEnd type="none" w="med" len="med"/>
                    </a:lnB>
                  </a:tcPr>
                </a:tc>
                <a:tc>
                  <a:txBody>
                    <a:bodyPr/>
                    <a:lstStyle/>
                    <a:p>
                      <a:pPr lvl="0">
                        <a:spcBef>
                          <a:spcPts val="0"/>
                        </a:spcBef>
                        <a:buNone/>
                      </a:pPr>
                      <a:r>
                        <a:rPr lang="en-US" sz="3000" b="1">
                          <a:latin typeface="Trebuchet MS"/>
                          <a:ea typeface="Trebuchet MS"/>
                          <a:cs typeface="Trebuchet MS"/>
                          <a:sym typeface="Trebuchet MS"/>
                        </a:rPr>
                        <a:t>Geographic Level:</a:t>
                      </a:r>
                      <a:r>
                        <a:rPr lang="en-US" sz="3000">
                          <a:latin typeface="Trebuchet MS"/>
                          <a:ea typeface="Trebuchet MS"/>
                          <a:cs typeface="Trebuchet MS"/>
                          <a:sym typeface="Trebuchet MS"/>
                        </a:rPr>
                        <a:t> State</a:t>
                      </a:r>
                    </a:p>
                    <a:p>
                      <a:pPr lvl="0">
                        <a:spcBef>
                          <a:spcPts val="0"/>
                        </a:spcBef>
                        <a:buNone/>
                      </a:pPr>
                      <a:r>
                        <a:rPr lang="en-US" sz="3000" b="1">
                          <a:latin typeface="Trebuchet MS"/>
                          <a:ea typeface="Trebuchet MS"/>
                          <a:cs typeface="Trebuchet MS"/>
                          <a:sym typeface="Trebuchet MS"/>
                        </a:rPr>
                        <a:t>Intention: </a:t>
                      </a:r>
                      <a:r>
                        <a:rPr lang="en-US" sz="3000">
                          <a:latin typeface="Trebuchet MS"/>
                          <a:ea typeface="Trebuchet MS"/>
                          <a:cs typeface="Trebuchet MS"/>
                          <a:sym typeface="Trebuchet MS"/>
                        </a:rPr>
                        <a:t>Employment Analysis and Identification of Economic Opportunities</a:t>
                      </a:r>
                    </a:p>
                    <a:p>
                      <a:pPr lvl="0">
                        <a:spcBef>
                          <a:spcPts val="0"/>
                        </a:spcBef>
                        <a:buNone/>
                      </a:pPr>
                      <a:r>
                        <a:rPr lang="en-US" sz="3000" b="1">
                          <a:latin typeface="Trebuchet MS"/>
                          <a:ea typeface="Trebuchet MS"/>
                          <a:cs typeface="Trebuchet MS"/>
                          <a:sym typeface="Trebuchet MS"/>
                        </a:rPr>
                        <a:t>Targeted Datasets:</a:t>
                      </a:r>
                      <a:r>
                        <a:rPr lang="en-US" sz="3000">
                          <a:latin typeface="Trebuchet MS"/>
                          <a:ea typeface="Trebuchet MS"/>
                          <a:cs typeface="Trebuchet MS"/>
                          <a:sym typeface="Trebuchet MS"/>
                        </a:rPr>
                        <a:t> </a:t>
                      </a:r>
                    </a:p>
                    <a:p>
                      <a:pPr lvl="0">
                        <a:spcBef>
                          <a:spcPts val="0"/>
                        </a:spcBef>
                        <a:buNone/>
                      </a:pPr>
                      <a:r>
                        <a:rPr lang="en-US" sz="3000">
                          <a:latin typeface="Trebuchet MS"/>
                          <a:ea typeface="Trebuchet MS"/>
                          <a:cs typeface="Trebuchet MS"/>
                          <a:sym typeface="Trebuchet MS"/>
                        </a:rPr>
                        <a:t>Job Openings and Labor Turnover Survey (</a:t>
                      </a:r>
                      <a:r>
                        <a:rPr lang="en-US" sz="3000" b="1">
                          <a:latin typeface="Trebuchet MS"/>
                          <a:ea typeface="Trebuchet MS"/>
                          <a:cs typeface="Trebuchet MS"/>
                          <a:sym typeface="Trebuchet MS"/>
                        </a:rPr>
                        <a:t>JOLTS</a:t>
                      </a:r>
                      <a:r>
                        <a:rPr lang="en-US" sz="3000">
                          <a:latin typeface="Trebuchet MS"/>
                          <a:ea typeface="Trebuchet MS"/>
                          <a:cs typeface="Trebuchet MS"/>
                          <a:sym typeface="Trebuchet MS"/>
                        </a:rPr>
                        <a:t>), </a:t>
                      </a:r>
                    </a:p>
                    <a:p>
                      <a:pPr lvl="0">
                        <a:spcBef>
                          <a:spcPts val="0"/>
                        </a:spcBef>
                        <a:buNone/>
                      </a:pPr>
                      <a:r>
                        <a:rPr lang="en-US" sz="3000">
                          <a:latin typeface="Trebuchet MS"/>
                          <a:ea typeface="Trebuchet MS"/>
                          <a:cs typeface="Trebuchet MS"/>
                          <a:sym typeface="Trebuchet MS"/>
                        </a:rPr>
                        <a:t>Occupational Employment Statistics(</a:t>
                      </a:r>
                      <a:r>
                        <a:rPr lang="en-US" sz="3000" b="1">
                          <a:latin typeface="Trebuchet MS"/>
                          <a:ea typeface="Trebuchet MS"/>
                          <a:cs typeface="Trebuchet MS"/>
                          <a:sym typeface="Trebuchet MS"/>
                        </a:rPr>
                        <a:t>OES</a:t>
                      </a:r>
                      <a:r>
                        <a:rPr lang="en-US" sz="3000">
                          <a:latin typeface="Trebuchet MS"/>
                          <a:ea typeface="Trebuchet MS"/>
                          <a:cs typeface="Trebuchet MS"/>
                          <a:sym typeface="Trebuchet MS"/>
                        </a:rPr>
                        <a:t>), Current Employment Statistics (</a:t>
                      </a:r>
                      <a:r>
                        <a:rPr lang="en-US" sz="3000" b="1">
                          <a:latin typeface="Trebuchet MS"/>
                          <a:ea typeface="Trebuchet MS"/>
                          <a:cs typeface="Trebuchet MS"/>
                          <a:sym typeface="Trebuchet MS"/>
                        </a:rPr>
                        <a:t>CES</a:t>
                      </a:r>
                      <a:r>
                        <a:rPr lang="en-US" sz="3000">
                          <a:latin typeface="Trebuchet MS"/>
                          <a:ea typeface="Trebuchet MS"/>
                          <a:cs typeface="Trebuchet MS"/>
                          <a:sym typeface="Trebuchet MS"/>
                        </a:rPr>
                        <a:t>), Current Population Survey (</a:t>
                      </a:r>
                      <a:r>
                        <a:rPr lang="en-US" sz="3000" b="1">
                          <a:latin typeface="Trebuchet MS"/>
                          <a:ea typeface="Trebuchet MS"/>
                          <a:cs typeface="Trebuchet MS"/>
                          <a:sym typeface="Trebuchet MS"/>
                        </a:rPr>
                        <a:t>CPS</a:t>
                      </a:r>
                      <a:r>
                        <a:rPr lang="en-US" sz="3000">
                          <a:latin typeface="Trebuchet MS"/>
                          <a:ea typeface="Trebuchet MS"/>
                          <a:cs typeface="Trebuchet MS"/>
                          <a:sym typeface="Trebuchet MS"/>
                        </a:rPr>
                        <a:t>)</a:t>
                      </a:r>
                    </a:p>
                  </a:txBody>
                  <a:tcPr marL="91425" marR="91425" marT="91425" marB="91425">
                    <a:lnL w="38100" cap="flat" cmpd="sng">
                      <a:solidFill>
                        <a:srgbClr val="E0E8F3"/>
                      </a:solidFill>
                      <a:prstDash val="solid"/>
                      <a:round/>
                      <a:headEnd type="none" w="med" len="med"/>
                      <a:tailEnd type="none" w="med" len="med"/>
                    </a:lnL>
                    <a:lnR w="38100" cap="flat" cmpd="sng">
                      <a:solidFill>
                        <a:srgbClr val="E0E8F3"/>
                      </a:solidFill>
                      <a:prstDash val="solid"/>
                      <a:round/>
                      <a:headEnd type="none" w="med" len="med"/>
                      <a:tailEnd type="none" w="med" len="med"/>
                    </a:lnR>
                    <a:lnT w="38100" cap="flat" cmpd="sng">
                      <a:solidFill>
                        <a:schemeClr val="lt1"/>
                      </a:solidFill>
                      <a:prstDash val="solid"/>
                      <a:round/>
                      <a:headEnd type="none" w="med" len="med"/>
                      <a:tailEnd type="none" w="med" len="med"/>
                    </a:lnT>
                    <a:lnB w="38100" cap="flat" cmpd="sng">
                      <a:solidFill>
                        <a:srgbClr val="E0E8F3"/>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98" name="Shape 98"/>
          <p:cNvSpPr txBox="1"/>
          <p:nvPr/>
        </p:nvSpPr>
        <p:spPr>
          <a:xfrm>
            <a:off x="2687449" y="22454517"/>
            <a:ext cx="9022323" cy="8179800"/>
          </a:xfrm>
          <a:prstGeom prst="rect">
            <a:avLst/>
          </a:prstGeom>
          <a:noFill/>
          <a:ln>
            <a:noFill/>
          </a:ln>
        </p:spPr>
        <p:txBody>
          <a:bodyPr lIns="91425" tIns="45700" rIns="91425" bIns="45700" anchor="t" anchorCtr="0">
            <a:noAutofit/>
          </a:bodyPr>
          <a:lstStyle/>
          <a:p>
            <a:pPr lvl="0" rtl="0">
              <a:lnSpc>
                <a:spcPct val="90000"/>
              </a:lnSpc>
              <a:spcBef>
                <a:spcPts val="1100"/>
              </a:spcBef>
              <a:buNone/>
            </a:pPr>
            <a:r>
              <a:rPr lang="en-US" sz="3000" dirty="0">
                <a:latin typeface="Trebuchet MS"/>
                <a:ea typeface="Trebuchet MS"/>
                <a:cs typeface="Trebuchet MS"/>
                <a:sym typeface="Trebuchet MS"/>
              </a:rPr>
              <a:t>Goal: Used visual analysis to look for trends in variables</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Collect Zip Codes and convert to ZCTAs</a:t>
            </a:r>
          </a:p>
          <a:p>
            <a:pPr marL="914400" lvl="1" indent="-419100" rtl="0">
              <a:lnSpc>
                <a:spcPct val="90000"/>
              </a:lnSpc>
              <a:spcBef>
                <a:spcPts val="1100"/>
              </a:spcBef>
              <a:buSzPct val="100000"/>
              <a:buFont typeface="Trebuchet MS"/>
              <a:buAutoNum type="alphaLcPeriod"/>
            </a:pPr>
            <a:r>
              <a:rPr lang="en-US" sz="3000" dirty="0">
                <a:latin typeface="Trebuchet MS"/>
                <a:ea typeface="Trebuchet MS"/>
                <a:cs typeface="Trebuchet MS"/>
                <a:sym typeface="Trebuchet MS"/>
              </a:rPr>
              <a:t>ZIP Code v. ZIP code Tabulated Area (ZCTA)</a:t>
            </a:r>
          </a:p>
          <a:p>
            <a:pPr marL="1371600" lvl="2" indent="-419100" rtl="0">
              <a:lnSpc>
                <a:spcPct val="90000"/>
              </a:lnSpc>
              <a:spcBef>
                <a:spcPts val="1100"/>
              </a:spcBef>
              <a:buSzPct val="100000"/>
              <a:buFont typeface="Trebuchet MS"/>
              <a:buAutoNum type="romanLcPeriod"/>
            </a:pPr>
            <a:r>
              <a:rPr lang="en-US" sz="3000" dirty="0">
                <a:latin typeface="Trebuchet MS"/>
                <a:ea typeface="Trebuchet MS"/>
                <a:cs typeface="Trebuchet MS"/>
                <a:sym typeface="Trebuchet MS"/>
              </a:rPr>
              <a:t>ZIP Codes are USPS delivery areas - good for future linkage to Army’s Person Data Environment (PDE) data enclave but leads to over counting in analysis.</a:t>
            </a:r>
          </a:p>
          <a:p>
            <a:pPr marL="1371600" lvl="2" indent="-419100" rtl="0">
              <a:lnSpc>
                <a:spcPct val="90000"/>
              </a:lnSpc>
              <a:spcBef>
                <a:spcPts val="1100"/>
              </a:spcBef>
              <a:buSzPct val="100000"/>
              <a:buFont typeface="Trebuchet MS"/>
              <a:buAutoNum type="romanLcPeriod"/>
            </a:pPr>
            <a:r>
              <a:rPr lang="en-US" sz="3000" dirty="0">
                <a:latin typeface="Trebuchet MS"/>
                <a:ea typeface="Trebuchet MS"/>
                <a:cs typeface="Trebuchet MS"/>
                <a:sym typeface="Trebuchet MS"/>
              </a:rPr>
              <a:t>ZCTAs are defined to stay in county lines and determined by population. </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Gather data from ACS: Create Zip Matcher function</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Create and automate plots for Comparative Analysis</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Format output into easy to read HTML documents, </a:t>
            </a:r>
            <a:r>
              <a:rPr lang="en-US" sz="3000" dirty="0">
                <a:solidFill>
                  <a:schemeClr val="dk1"/>
                </a:solidFill>
                <a:latin typeface="Trebuchet MS"/>
                <a:ea typeface="Trebuchet MS"/>
                <a:cs typeface="Trebuchet MS"/>
                <a:sym typeface="Trebuchet MS"/>
              </a:rPr>
              <a:t>using R Markdown </a:t>
            </a:r>
          </a:p>
        </p:txBody>
      </p:sp>
      <p:sp>
        <p:nvSpPr>
          <p:cNvPr id="99" name="Shape 99"/>
          <p:cNvSpPr txBox="1"/>
          <p:nvPr/>
        </p:nvSpPr>
        <p:spPr>
          <a:xfrm>
            <a:off x="12124525" y="19150275"/>
            <a:ext cx="21981900" cy="3489300"/>
          </a:xfrm>
          <a:prstGeom prst="rect">
            <a:avLst/>
          </a:prstGeom>
          <a:noFill/>
          <a:ln>
            <a:noFill/>
          </a:ln>
        </p:spPr>
        <p:txBody>
          <a:bodyPr lIns="91425" tIns="45700" rIns="91425" bIns="45700" anchor="t" anchorCtr="0">
            <a:noAutofit/>
          </a:bodyPr>
          <a:lstStyle/>
          <a:p>
            <a:pPr marR="0" lvl="0" rtl="0">
              <a:lnSpc>
                <a:spcPct val="100000"/>
              </a:lnSpc>
              <a:spcBef>
                <a:spcPts val="0"/>
              </a:spcBef>
              <a:buNone/>
            </a:pPr>
            <a:r>
              <a:rPr lang="en-US" sz="3600" b="1">
                <a:latin typeface="Trebuchet MS"/>
                <a:ea typeface="Trebuchet MS"/>
                <a:cs typeface="Trebuchet MS"/>
                <a:sym typeface="Trebuchet MS"/>
              </a:rPr>
              <a:t>Comparative Analysis: </a:t>
            </a:r>
            <a:r>
              <a:rPr lang="en-US" sz="3600">
                <a:latin typeface="Trebuchet MS"/>
                <a:ea typeface="Trebuchet MS"/>
                <a:cs typeface="Trebuchet MS"/>
                <a:sym typeface="Trebuchet MS"/>
              </a:rPr>
              <a:t>example - Fort Belvoir, Virginia located in Fairfax County, Virginia</a:t>
            </a:r>
          </a:p>
          <a:p>
            <a:pPr marL="457200" lvl="0" indent="-419100" rtl="0">
              <a:spcBef>
                <a:spcPts val="0"/>
              </a:spcBef>
              <a:buClr>
                <a:schemeClr val="dk1"/>
              </a:buClr>
              <a:buSzPct val="100000"/>
              <a:buFont typeface="Trebuchet MS"/>
              <a:buChar char="●"/>
            </a:pPr>
            <a:r>
              <a:rPr lang="en-US" sz="3000">
                <a:solidFill>
                  <a:schemeClr val="dk1"/>
                </a:solidFill>
                <a:latin typeface="Trebuchet MS"/>
                <a:ea typeface="Trebuchet MS"/>
                <a:cs typeface="Trebuchet MS"/>
                <a:sym typeface="Trebuchet MS"/>
              </a:rPr>
              <a:t>Assess the demographic characteristics of geographic base location in comparison to the community surrounding it. </a:t>
            </a:r>
          </a:p>
          <a:p>
            <a:pPr marL="457200" lvl="0" indent="-419100" rtl="0">
              <a:spcBef>
                <a:spcPts val="0"/>
              </a:spcBef>
              <a:buClr>
                <a:schemeClr val="dk1"/>
              </a:buClr>
              <a:buSzPct val="100000"/>
              <a:buFont typeface="Trebuchet MS"/>
              <a:buChar char="●"/>
            </a:pPr>
            <a:r>
              <a:rPr lang="en-US" sz="3000">
                <a:solidFill>
                  <a:schemeClr val="dk1"/>
                </a:solidFill>
                <a:latin typeface="Trebuchet MS"/>
                <a:ea typeface="Trebuchet MS"/>
                <a:cs typeface="Trebuchet MS"/>
                <a:sym typeface="Trebuchet MS"/>
              </a:rPr>
              <a:t>Includes two plots:</a:t>
            </a:r>
          </a:p>
          <a:p>
            <a:pPr marL="914400" lvl="1" indent="-419100" rtl="0">
              <a:spcBef>
                <a:spcPts val="0"/>
              </a:spcBef>
              <a:buClr>
                <a:schemeClr val="dk1"/>
              </a:buClr>
              <a:buSzPct val="100000"/>
              <a:buFont typeface="Trebuchet MS"/>
              <a:buChar char="○"/>
            </a:pPr>
            <a:r>
              <a:rPr lang="en-US" sz="3000">
                <a:solidFill>
                  <a:schemeClr val="dk1"/>
                </a:solidFill>
                <a:latin typeface="Trebuchet MS"/>
                <a:ea typeface="Trebuchet MS"/>
                <a:cs typeface="Trebuchet MS"/>
                <a:sym typeface="Trebuchet MS"/>
              </a:rPr>
              <a:t>One compares ZCTAs associated with base and all other ZCTAs in surrounding county (to the left)</a:t>
            </a:r>
          </a:p>
          <a:p>
            <a:pPr marL="914400" lvl="1" indent="-419100" rtl="0">
              <a:spcBef>
                <a:spcPts val="0"/>
              </a:spcBef>
              <a:buClr>
                <a:schemeClr val="dk1"/>
              </a:buClr>
              <a:buSzPct val="100000"/>
              <a:buFont typeface="Trebuchet MS"/>
              <a:buChar char="○"/>
            </a:pPr>
            <a:r>
              <a:rPr lang="en-US" sz="3000">
                <a:solidFill>
                  <a:schemeClr val="dk1"/>
                </a:solidFill>
                <a:latin typeface="Trebuchet MS"/>
                <a:ea typeface="Trebuchet MS"/>
                <a:cs typeface="Trebuchet MS"/>
                <a:sym typeface="Trebuchet MS"/>
              </a:rPr>
              <a:t>One compared ZCTAs associated with base and aggregated surrounding county average (below) </a:t>
            </a:r>
          </a:p>
          <a:p>
            <a:pPr marR="0" lvl="0" rtl="0">
              <a:spcBef>
                <a:spcPts val="0"/>
              </a:spcBef>
              <a:buNone/>
            </a:pPr>
            <a:endParaRPr sz="3000">
              <a:solidFill>
                <a:srgbClr val="000000"/>
              </a:solidFill>
              <a:latin typeface="Trebuchet MS"/>
              <a:ea typeface="Trebuchet MS"/>
              <a:cs typeface="Trebuchet MS"/>
              <a:sym typeface="Trebuchet MS"/>
            </a:endParaRPr>
          </a:p>
        </p:txBody>
      </p:sp>
      <p:sp>
        <p:nvSpPr>
          <p:cNvPr id="100" name="Shape 100"/>
          <p:cNvSpPr txBox="1"/>
          <p:nvPr/>
        </p:nvSpPr>
        <p:spPr>
          <a:xfrm>
            <a:off x="13086587" y="34703700"/>
            <a:ext cx="13760999"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a:solidFill>
                  <a:srgbClr val="141F22"/>
                </a:solidFill>
                <a:latin typeface="Raleway"/>
                <a:ea typeface="Raleway"/>
                <a:cs typeface="Raleway"/>
                <a:sym typeface="Raleway"/>
              </a:rPr>
              <a:t>Conclusions and Future Work</a:t>
            </a:r>
          </a:p>
        </p:txBody>
      </p:sp>
      <p:sp>
        <p:nvSpPr>
          <p:cNvPr id="101" name="Shape 101"/>
          <p:cNvSpPr txBox="1"/>
          <p:nvPr/>
        </p:nvSpPr>
        <p:spPr>
          <a:xfrm>
            <a:off x="12124525" y="28547500"/>
            <a:ext cx="9393000" cy="6425100"/>
          </a:xfrm>
          <a:prstGeom prst="rect">
            <a:avLst/>
          </a:prstGeom>
          <a:noFill/>
          <a:ln>
            <a:noFill/>
          </a:ln>
        </p:spPr>
        <p:txBody>
          <a:bodyPr lIns="91425" tIns="45700" rIns="91425" bIns="45700" anchor="t" anchorCtr="0">
            <a:noAutofit/>
          </a:bodyPr>
          <a:lstStyle/>
          <a:p>
            <a:pPr marR="0" lvl="0" algn="just" rtl="0">
              <a:lnSpc>
                <a:spcPct val="100000"/>
              </a:lnSpc>
              <a:spcBef>
                <a:spcPts val="0"/>
              </a:spcBef>
              <a:buNone/>
            </a:pPr>
            <a:r>
              <a:rPr lang="en-US" sz="3600" b="1">
                <a:latin typeface="Trebuchet MS"/>
                <a:ea typeface="Trebuchet MS"/>
                <a:cs typeface="Trebuchet MS"/>
                <a:sym typeface="Trebuchet MS"/>
              </a:rPr>
              <a:t>Geographic Analysis:</a:t>
            </a:r>
          </a:p>
          <a:p>
            <a:pPr marL="457200" marR="0" lvl="0" indent="-419100" algn="just" rtl="0">
              <a:lnSpc>
                <a:spcPct val="100000"/>
              </a:lnSpc>
              <a:spcBef>
                <a:spcPts val="0"/>
              </a:spcBef>
              <a:buSzPct val="100000"/>
              <a:buFont typeface="Trebuchet MS"/>
              <a:buChar char="●"/>
            </a:pPr>
            <a:r>
              <a:rPr lang="en-US" sz="3000">
                <a:latin typeface="Trebuchet MS"/>
                <a:ea typeface="Trebuchet MS"/>
                <a:cs typeface="Trebuchet MS"/>
                <a:sym typeface="Trebuchet MS"/>
              </a:rPr>
              <a:t>To understand the state level BLS data, variables are plotted across the country. ACS data is plotted by ZIP Code Tabulated Area</a:t>
            </a:r>
          </a:p>
          <a:p>
            <a:pPr marL="457200" marR="0" lvl="0" indent="-419100" algn="just" rtl="0">
              <a:lnSpc>
                <a:spcPct val="100000"/>
              </a:lnSpc>
              <a:spcBef>
                <a:spcPts val="0"/>
              </a:spcBef>
              <a:buSzPct val="100000"/>
              <a:buFont typeface="Trebuchet MS"/>
              <a:buChar char="●"/>
            </a:pPr>
            <a:r>
              <a:rPr lang="en-US" sz="3000">
                <a:latin typeface="Trebuchet MS"/>
                <a:ea typeface="Trebuchet MS"/>
                <a:cs typeface="Trebuchet MS"/>
                <a:sym typeface="Trebuchet MS"/>
              </a:rPr>
              <a:t>The BLS data includes state-level variables such as:</a:t>
            </a:r>
          </a:p>
          <a:p>
            <a:pPr marL="914400" marR="0" lvl="1" indent="-419100" rtl="0">
              <a:lnSpc>
                <a:spcPct val="100000"/>
              </a:lnSpc>
              <a:spcBef>
                <a:spcPts val="0"/>
              </a:spcBef>
              <a:buSzPct val="100000"/>
              <a:buFont typeface="Trebuchet MS"/>
              <a:buChar char="○"/>
            </a:pPr>
            <a:r>
              <a:rPr lang="en-US" sz="3000">
                <a:latin typeface="Trebuchet MS"/>
                <a:ea typeface="Trebuchet MS"/>
                <a:cs typeface="Trebuchet MS"/>
                <a:sym typeface="Trebuchet MS"/>
              </a:rPr>
              <a:t>Mean Wages, Mean Salaries, Counts of Government Employees (OES)</a:t>
            </a:r>
          </a:p>
          <a:p>
            <a:pPr marL="914400" marR="0" lvl="1" indent="-419100" rtl="0">
              <a:lnSpc>
                <a:spcPct val="100000"/>
              </a:lnSpc>
              <a:spcBef>
                <a:spcPts val="0"/>
              </a:spcBef>
              <a:buSzPct val="100000"/>
              <a:buFont typeface="Trebuchet MS"/>
              <a:buChar char="○"/>
            </a:pPr>
            <a:r>
              <a:rPr lang="en-US" sz="3000">
                <a:latin typeface="Trebuchet MS"/>
                <a:ea typeface="Trebuchet MS"/>
                <a:cs typeface="Trebuchet MS"/>
                <a:sym typeface="Trebuchet MS"/>
              </a:rPr>
              <a:t>Layoffs/Discharge Rates, Quit Rates (JOLTS)</a:t>
            </a:r>
          </a:p>
          <a:p>
            <a:pPr marL="914400" marR="0" lvl="1" indent="-419100" rtl="0">
              <a:lnSpc>
                <a:spcPct val="100000"/>
              </a:lnSpc>
              <a:spcBef>
                <a:spcPts val="0"/>
              </a:spcBef>
              <a:buSzPct val="100000"/>
              <a:buFont typeface="Trebuchet MS"/>
              <a:buChar char="○"/>
            </a:pPr>
            <a:r>
              <a:rPr lang="en-US" sz="3000">
                <a:latin typeface="Trebuchet MS"/>
                <a:ea typeface="Trebuchet MS"/>
                <a:cs typeface="Trebuchet MS"/>
                <a:sym typeface="Trebuchet MS"/>
              </a:rPr>
              <a:t>Duration of Employment, Discouraged Workers, Multiple Job Holders((CPS)</a:t>
            </a:r>
          </a:p>
          <a:p>
            <a:pPr marL="914400" marR="0" lvl="1" indent="-419100" rtl="0">
              <a:lnSpc>
                <a:spcPct val="100000"/>
              </a:lnSpc>
              <a:spcBef>
                <a:spcPts val="0"/>
              </a:spcBef>
              <a:buSzPct val="100000"/>
              <a:buFont typeface="Trebuchet MS"/>
              <a:buChar char="○"/>
            </a:pPr>
            <a:r>
              <a:rPr lang="en-US" sz="3000">
                <a:latin typeface="Trebuchet MS"/>
                <a:ea typeface="Trebuchet MS"/>
                <a:cs typeface="Trebuchet MS"/>
                <a:sym typeface="Trebuchet MS"/>
              </a:rPr>
              <a:t>Hours Worked By Government Employees (CES)</a:t>
            </a:r>
          </a:p>
        </p:txBody>
      </p:sp>
      <p:sp>
        <p:nvSpPr>
          <p:cNvPr id="102" name="Shape 102"/>
          <p:cNvSpPr txBox="1"/>
          <p:nvPr/>
        </p:nvSpPr>
        <p:spPr>
          <a:xfrm>
            <a:off x="11199238" y="3894149"/>
            <a:ext cx="25376762" cy="2835716"/>
          </a:xfrm>
          <a:prstGeom prst="rect">
            <a:avLst/>
          </a:prstGeom>
          <a:noFill/>
          <a:ln>
            <a:noFill/>
          </a:ln>
        </p:spPr>
        <p:txBody>
          <a:bodyPr lIns="91425" tIns="45700" rIns="91425" bIns="45700" anchor="t" anchorCtr="0">
            <a:noAutofit/>
          </a:bodyPr>
          <a:lstStyle/>
          <a:p>
            <a:pPr marL="0" marR="0" lvl="0" indent="0" rtl="0">
              <a:spcBef>
                <a:spcPts val="0"/>
              </a:spcBef>
              <a:buSzPct val="25000"/>
              <a:buNone/>
            </a:pPr>
            <a:r>
              <a:rPr lang="en-US" sz="3600" dirty="0" err="1">
                <a:solidFill>
                  <a:srgbClr val="757070"/>
                </a:solidFill>
                <a:latin typeface="Raleway"/>
                <a:ea typeface="Raleway"/>
                <a:cs typeface="Raleway"/>
                <a:sym typeface="Raleway"/>
              </a:rPr>
              <a:t>Zarni</a:t>
            </a:r>
            <a:r>
              <a:rPr lang="en-US" sz="3600" dirty="0">
                <a:solidFill>
                  <a:srgbClr val="757070"/>
                </a:solidFill>
                <a:latin typeface="Raleway"/>
                <a:ea typeface="Raleway"/>
                <a:cs typeface="Raleway"/>
                <a:sym typeface="Raleway"/>
              </a:rPr>
              <a:t> </a:t>
            </a:r>
            <a:r>
              <a:rPr lang="en-US" sz="3600" dirty="0" err="1">
                <a:solidFill>
                  <a:srgbClr val="757070"/>
                </a:solidFill>
                <a:latin typeface="Raleway"/>
                <a:ea typeface="Raleway"/>
                <a:cs typeface="Raleway"/>
                <a:sym typeface="Raleway"/>
              </a:rPr>
              <a:t>Htet</a:t>
            </a:r>
            <a:r>
              <a:rPr lang="en-US" sz="3600" dirty="0">
                <a:solidFill>
                  <a:srgbClr val="757070"/>
                </a:solidFill>
                <a:latin typeface="Raleway"/>
                <a:ea typeface="Raleway"/>
                <a:cs typeface="Raleway"/>
                <a:sym typeface="Raleway"/>
              </a:rPr>
              <a:t> (New York University), Adrienne Rogers (Virginia Tech),  </a:t>
            </a:r>
          </a:p>
          <a:p>
            <a:pPr marL="0" marR="0" lvl="0" indent="0" rtl="0">
              <a:spcBef>
                <a:spcPts val="0"/>
              </a:spcBef>
              <a:buSzPct val="25000"/>
              <a:buNone/>
            </a:pPr>
            <a:r>
              <a:rPr lang="en-US" sz="3600" dirty="0">
                <a:solidFill>
                  <a:srgbClr val="757070"/>
                </a:solidFill>
                <a:latin typeface="Raleway"/>
                <a:ea typeface="Raleway"/>
                <a:cs typeface="Raleway"/>
                <a:sym typeface="Raleway"/>
              </a:rPr>
              <a:t>David Hinkle (Virginia Tech), Joseph Kim (Virginia Tech), David Park (Virginia Tech)</a:t>
            </a:r>
          </a:p>
          <a:p>
            <a:pPr marL="0" marR="0" lvl="0" indent="0" rtl="0">
              <a:spcBef>
                <a:spcPts val="0"/>
              </a:spcBef>
              <a:buSzPct val="25000"/>
              <a:buNone/>
            </a:pPr>
            <a:r>
              <a:rPr lang="en-US" sz="3600" dirty="0">
                <a:solidFill>
                  <a:srgbClr val="757070"/>
                </a:solidFill>
                <a:latin typeface="Raleway"/>
                <a:ea typeface="Raleway"/>
                <a:cs typeface="Raleway"/>
                <a:sym typeface="Raleway"/>
              </a:rPr>
              <a:t>with Joshua Goldstein and Stephanie Shipp </a:t>
            </a:r>
            <a:r>
              <a:rPr lang="en-US" sz="3600" dirty="0" smtClean="0">
                <a:solidFill>
                  <a:srgbClr val="757070"/>
                </a:solidFill>
                <a:latin typeface="Raleway"/>
                <a:ea typeface="Raleway"/>
                <a:cs typeface="Raleway"/>
                <a:sym typeface="Raleway"/>
              </a:rPr>
              <a:t>(SDAL)</a:t>
            </a:r>
          </a:p>
          <a:p>
            <a:pPr>
              <a:buSzPct val="25000"/>
            </a:pPr>
            <a:r>
              <a:rPr lang="en-US" sz="3600" dirty="0" smtClean="0">
                <a:solidFill>
                  <a:srgbClr val="757070"/>
                </a:solidFill>
                <a:latin typeface="Raleway"/>
                <a:ea typeface="Raleway"/>
                <a:cs typeface="Raleway"/>
                <a:sym typeface="Raleway"/>
              </a:rPr>
              <a:t>Sponsors </a:t>
            </a:r>
            <a:r>
              <a:rPr lang="en-US" sz="3600" dirty="0">
                <a:solidFill>
                  <a:srgbClr val="757070"/>
                </a:solidFill>
                <a:latin typeface="Raleway"/>
                <a:ea typeface="Raleway"/>
                <a:cs typeface="Raleway"/>
                <a:sym typeface="Trebuchet MS"/>
              </a:rPr>
              <a:t>Greg </a:t>
            </a:r>
            <a:r>
              <a:rPr lang="en-US" sz="3600" dirty="0" err="1">
                <a:solidFill>
                  <a:srgbClr val="757070"/>
                </a:solidFill>
                <a:latin typeface="Raleway"/>
                <a:ea typeface="Raleway"/>
                <a:cs typeface="Raleway"/>
                <a:sym typeface="Trebuchet MS"/>
              </a:rPr>
              <a:t>Ruark</a:t>
            </a:r>
            <a:r>
              <a:rPr lang="en-US" sz="3600" dirty="0">
                <a:solidFill>
                  <a:srgbClr val="757070"/>
                </a:solidFill>
                <a:latin typeface="Raleway"/>
                <a:ea typeface="Raleway"/>
                <a:cs typeface="Raleway"/>
                <a:sym typeface="Trebuchet MS"/>
              </a:rPr>
              <a:t> </a:t>
            </a:r>
            <a:r>
              <a:rPr lang="en-US" sz="3600" dirty="0" smtClean="0">
                <a:solidFill>
                  <a:srgbClr val="757070"/>
                </a:solidFill>
                <a:latin typeface="Raleway"/>
                <a:ea typeface="Raleway"/>
                <a:cs typeface="Raleway"/>
                <a:sym typeface="Trebuchet MS"/>
              </a:rPr>
              <a:t>, </a:t>
            </a:r>
            <a:r>
              <a:rPr lang="en-US" sz="3600" dirty="0">
                <a:solidFill>
                  <a:srgbClr val="757070"/>
                </a:solidFill>
                <a:latin typeface="Raleway"/>
                <a:ea typeface="Raleway"/>
                <a:cs typeface="Raleway"/>
                <a:sym typeface="Trebuchet MS"/>
              </a:rPr>
              <a:t>Andrew Slaughter, US Army Research Institute for </a:t>
            </a:r>
            <a:r>
              <a:rPr lang="en-US" sz="3600" dirty="0" smtClean="0">
                <a:solidFill>
                  <a:srgbClr val="757070"/>
                </a:solidFill>
                <a:latin typeface="Raleway"/>
                <a:ea typeface="Raleway"/>
                <a:cs typeface="Raleway"/>
                <a:sym typeface="Trebuchet MS"/>
              </a:rPr>
              <a:t>Behavioral a&amp; Social Science Research </a:t>
            </a:r>
            <a:br>
              <a:rPr lang="en-US" sz="3600" dirty="0" smtClean="0">
                <a:solidFill>
                  <a:srgbClr val="757070"/>
                </a:solidFill>
                <a:latin typeface="Raleway"/>
                <a:ea typeface="Raleway"/>
                <a:cs typeface="Raleway"/>
                <a:sym typeface="Trebuchet MS"/>
              </a:rPr>
            </a:br>
            <a:endParaRPr lang="en-US" sz="3600" dirty="0">
              <a:solidFill>
                <a:srgbClr val="757070"/>
              </a:solidFill>
              <a:latin typeface="Raleway"/>
              <a:ea typeface="Raleway"/>
              <a:cs typeface="Raleway"/>
              <a:sym typeface="Trebuchet MS"/>
            </a:endParaRPr>
          </a:p>
          <a:p>
            <a:pPr marL="0" marR="0" lvl="0" indent="0" rtl="0">
              <a:spcBef>
                <a:spcPts val="0"/>
              </a:spcBef>
              <a:buSzPct val="25000"/>
              <a:buNone/>
            </a:pPr>
            <a:endParaRPr lang="en-US" sz="3600" dirty="0">
              <a:solidFill>
                <a:srgbClr val="757070"/>
              </a:solidFill>
              <a:latin typeface="Raleway"/>
              <a:ea typeface="Raleway"/>
              <a:cs typeface="Raleway"/>
              <a:sym typeface="Raleway"/>
            </a:endParaRPr>
          </a:p>
        </p:txBody>
      </p:sp>
      <p:sp>
        <p:nvSpPr>
          <p:cNvPr id="103" name="Shape 103"/>
          <p:cNvSpPr txBox="1"/>
          <p:nvPr/>
        </p:nvSpPr>
        <p:spPr>
          <a:xfrm>
            <a:off x="12131987" y="13585300"/>
            <a:ext cx="21149100" cy="689100"/>
          </a:xfrm>
          <a:prstGeom prst="rect">
            <a:avLst/>
          </a:prstGeom>
          <a:noFill/>
          <a:ln>
            <a:noFill/>
          </a:ln>
        </p:spPr>
        <p:txBody>
          <a:bodyPr lIns="91425" tIns="45700" rIns="91425" bIns="45700" anchor="t" anchorCtr="0">
            <a:noAutofit/>
          </a:bodyPr>
          <a:lstStyle/>
          <a:p>
            <a:pPr marR="0" lvl="0" algn="just" rtl="0">
              <a:lnSpc>
                <a:spcPct val="100000"/>
              </a:lnSpc>
              <a:spcBef>
                <a:spcPts val="0"/>
              </a:spcBef>
              <a:buNone/>
            </a:pPr>
            <a:r>
              <a:rPr lang="en-US" sz="3600" b="1">
                <a:latin typeface="Trebuchet MS"/>
                <a:ea typeface="Trebuchet MS"/>
                <a:cs typeface="Trebuchet MS"/>
                <a:sym typeface="Trebuchet MS"/>
              </a:rPr>
              <a:t>Data:</a:t>
            </a:r>
          </a:p>
        </p:txBody>
      </p:sp>
      <p:sp>
        <p:nvSpPr>
          <p:cNvPr id="104" name="Shape 104"/>
          <p:cNvSpPr txBox="1"/>
          <p:nvPr/>
        </p:nvSpPr>
        <p:spPr>
          <a:xfrm>
            <a:off x="12132000" y="11496900"/>
            <a:ext cx="21149100" cy="2050800"/>
          </a:xfrm>
          <a:prstGeom prst="rect">
            <a:avLst/>
          </a:prstGeom>
          <a:noFill/>
          <a:ln>
            <a:noFill/>
          </a:ln>
        </p:spPr>
        <p:txBody>
          <a:bodyPr lIns="91425" tIns="45700" rIns="91425" bIns="45700" anchor="t" anchorCtr="0">
            <a:noAutofit/>
          </a:bodyPr>
          <a:lstStyle/>
          <a:p>
            <a:pPr marR="0" lvl="0" algn="just" rtl="0">
              <a:lnSpc>
                <a:spcPct val="100000"/>
              </a:lnSpc>
              <a:spcBef>
                <a:spcPts val="0"/>
              </a:spcBef>
              <a:buNone/>
            </a:pPr>
            <a:r>
              <a:rPr lang="en-US" sz="3600" b="1" dirty="0">
                <a:latin typeface="Trebuchet MS"/>
                <a:ea typeface="Trebuchet MS"/>
                <a:cs typeface="Trebuchet MS"/>
                <a:sym typeface="Trebuchet MS"/>
              </a:rPr>
              <a:t>Purpose</a:t>
            </a:r>
          </a:p>
          <a:p>
            <a:pPr marR="0" lvl="0" algn="just" rtl="0">
              <a:lnSpc>
                <a:spcPct val="100000"/>
              </a:lnSpc>
              <a:spcBef>
                <a:spcPts val="0"/>
              </a:spcBef>
              <a:buClr>
                <a:schemeClr val="dk1"/>
              </a:buClr>
              <a:buSzPct val="36666"/>
              <a:buFont typeface="Arial"/>
              <a:buNone/>
            </a:pPr>
            <a:r>
              <a:rPr lang="en-US" sz="3000" dirty="0">
                <a:solidFill>
                  <a:srgbClr val="222222"/>
                </a:solidFill>
                <a:highlight>
                  <a:srgbClr val="FFFFFF"/>
                </a:highlight>
                <a:latin typeface="Trebuchet MS"/>
                <a:ea typeface="Trebuchet MS"/>
                <a:cs typeface="Trebuchet MS"/>
                <a:sym typeface="Trebuchet MS"/>
              </a:rPr>
              <a:t>Identify which social, demographic and economic variables are of interest for modeling characteristics of Army Installations that might account for attrition at these bases.</a:t>
            </a:r>
          </a:p>
          <a:p>
            <a:pPr marR="0" lvl="0" algn="just" rtl="0">
              <a:lnSpc>
                <a:spcPct val="100000"/>
              </a:lnSpc>
              <a:spcBef>
                <a:spcPts val="0"/>
              </a:spcBef>
              <a:buNone/>
            </a:pPr>
            <a:r>
              <a:rPr lang="en-US" sz="3600" b="1" dirty="0">
                <a:latin typeface="Trebuchet MS"/>
                <a:ea typeface="Trebuchet MS"/>
                <a:cs typeface="Trebuchet MS"/>
                <a:sym typeface="Trebuchet MS"/>
              </a:rPr>
              <a:t>Universe: </a:t>
            </a:r>
            <a:r>
              <a:rPr lang="en-US" sz="3000" dirty="0">
                <a:latin typeface="Trebuchet MS"/>
                <a:ea typeface="Trebuchet MS"/>
                <a:cs typeface="Trebuchet MS"/>
                <a:sym typeface="Trebuchet MS"/>
              </a:rPr>
              <a:t>Army Installations across the 50 United States and territories. </a:t>
            </a:r>
          </a:p>
          <a:p>
            <a:pPr marR="0" lvl="0" algn="just" rtl="0">
              <a:lnSpc>
                <a:spcPct val="100000"/>
              </a:lnSpc>
              <a:spcBef>
                <a:spcPts val="0"/>
              </a:spcBef>
              <a:buNone/>
            </a:pPr>
            <a:endParaRPr sz="3600" b="1" dirty="0">
              <a:latin typeface="Trebuchet MS"/>
              <a:ea typeface="Trebuchet MS"/>
              <a:cs typeface="Trebuchet MS"/>
              <a:sym typeface="Trebuchet MS"/>
            </a:endParaRPr>
          </a:p>
        </p:txBody>
      </p:sp>
      <p:sp>
        <p:nvSpPr>
          <p:cNvPr id="105" name="Shape 105"/>
          <p:cNvSpPr txBox="1"/>
          <p:nvPr/>
        </p:nvSpPr>
        <p:spPr>
          <a:xfrm>
            <a:off x="2935225" y="13659025"/>
            <a:ext cx="8405400" cy="4599300"/>
          </a:xfrm>
          <a:prstGeom prst="rect">
            <a:avLst/>
          </a:prstGeom>
          <a:noFill/>
          <a:ln>
            <a:noFill/>
          </a:ln>
        </p:spPr>
        <p:txBody>
          <a:bodyPr lIns="91425" tIns="91425" rIns="91425" bIns="91425" anchor="t" anchorCtr="0">
            <a:noAutofit/>
          </a:bodyPr>
          <a:lstStyle/>
          <a:p>
            <a:pPr lvl="0" rtl="0">
              <a:lnSpc>
                <a:spcPct val="90000"/>
              </a:lnSpc>
              <a:spcBef>
                <a:spcPts val="1100"/>
              </a:spcBef>
              <a:buNone/>
            </a:pPr>
            <a:r>
              <a:rPr lang="en-US" sz="3000" dirty="0">
                <a:latin typeface="Trebuchet MS"/>
                <a:ea typeface="Trebuchet MS"/>
                <a:cs typeface="Trebuchet MS"/>
                <a:sym typeface="Trebuchet MS"/>
              </a:rPr>
              <a:t>Goal: Collect data from publicly available data sources that explain social, demographic and economic characteristics of Army Bases</a:t>
            </a:r>
          </a:p>
          <a:p>
            <a:pPr marL="457200" lvl="0" indent="-419100" rtl="0">
              <a:lnSpc>
                <a:spcPct val="90000"/>
              </a:lnSpc>
              <a:spcBef>
                <a:spcPts val="1100"/>
              </a:spcBef>
              <a:buSzPct val="100000"/>
              <a:buFont typeface="Trebuchet MS"/>
              <a:buChar char="●"/>
            </a:pPr>
            <a:r>
              <a:rPr lang="en-US" sz="3000" dirty="0">
                <a:latin typeface="Trebuchet MS"/>
                <a:ea typeface="Trebuchet MS"/>
                <a:cs typeface="Trebuchet MS"/>
                <a:sym typeface="Trebuchet MS"/>
              </a:rPr>
              <a:t>U.S Census Bureau, American Community Survey (ACS): Gathered all tables of interest from ACS. Pulled military and demographic variables for future use </a:t>
            </a:r>
          </a:p>
          <a:p>
            <a:pPr marL="457200" lvl="0" indent="-419100" rtl="0">
              <a:lnSpc>
                <a:spcPct val="90000"/>
              </a:lnSpc>
              <a:spcBef>
                <a:spcPts val="1100"/>
              </a:spcBef>
              <a:buSzPct val="100000"/>
              <a:buFont typeface="Trebuchet MS"/>
              <a:buChar char="●"/>
            </a:pPr>
            <a:r>
              <a:rPr lang="en-US" sz="3000" dirty="0">
                <a:latin typeface="Trebuchet MS"/>
                <a:ea typeface="Trebuchet MS"/>
                <a:cs typeface="Trebuchet MS"/>
                <a:sym typeface="Trebuchet MS"/>
              </a:rPr>
              <a:t>Bureau of Labor Statistics (BLS): Gathered relevant BLS data and also wrote a brief description of each survey</a:t>
            </a:r>
          </a:p>
          <a:p>
            <a:pPr marL="457200" lvl="0" indent="-419100" rtl="0">
              <a:lnSpc>
                <a:spcPct val="90000"/>
              </a:lnSpc>
              <a:spcBef>
                <a:spcPts val="1100"/>
              </a:spcBef>
              <a:buSzPct val="100000"/>
              <a:buFont typeface="Trebuchet MS"/>
              <a:buChar char="●"/>
            </a:pPr>
            <a:r>
              <a:rPr lang="en-US" sz="3000" dirty="0">
                <a:latin typeface="Trebuchet MS"/>
                <a:ea typeface="Trebuchet MS"/>
                <a:cs typeface="Trebuchet MS"/>
                <a:sym typeface="Trebuchet MS"/>
              </a:rPr>
              <a:t>Base Names / ZIP Codes: Manually compiled a list to match zip codes and their bases. </a:t>
            </a:r>
          </a:p>
        </p:txBody>
      </p:sp>
      <p:sp>
        <p:nvSpPr>
          <p:cNvPr id="106" name="Shape 106"/>
          <p:cNvSpPr txBox="1"/>
          <p:nvPr/>
        </p:nvSpPr>
        <p:spPr>
          <a:xfrm>
            <a:off x="2684374" y="33064884"/>
            <a:ext cx="9025397" cy="5412600"/>
          </a:xfrm>
          <a:prstGeom prst="rect">
            <a:avLst/>
          </a:prstGeom>
          <a:noFill/>
          <a:ln>
            <a:noFill/>
          </a:ln>
        </p:spPr>
        <p:txBody>
          <a:bodyPr lIns="91425" tIns="91425" rIns="91425" bIns="91425" anchor="ctr" anchorCtr="0">
            <a:noAutofit/>
          </a:bodyPr>
          <a:lstStyle/>
          <a:p>
            <a:pPr marL="0" lvl="0" indent="0" rtl="0">
              <a:lnSpc>
                <a:spcPct val="90000"/>
              </a:lnSpc>
              <a:spcBef>
                <a:spcPts val="500"/>
              </a:spcBef>
              <a:buNone/>
            </a:pPr>
            <a:r>
              <a:rPr lang="en-US" sz="3000" dirty="0">
                <a:latin typeface="Trebuchet MS"/>
                <a:ea typeface="Trebuchet MS"/>
                <a:cs typeface="Trebuchet MS"/>
                <a:sym typeface="Trebuchet MS"/>
              </a:rPr>
              <a:t>Goal: Allow for comparative analysis across multiple bases in a user friendly platform</a:t>
            </a:r>
          </a:p>
          <a:p>
            <a:pPr marL="457200" lvl="0"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Perform Geographic Analysis for Census and BLS state-level data  </a:t>
            </a:r>
          </a:p>
          <a:p>
            <a:pPr marL="457200" lvl="0"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Dashboard</a:t>
            </a:r>
          </a:p>
          <a:p>
            <a:pPr marL="1371600" lvl="2" indent="-419100" rtl="0">
              <a:lnSpc>
                <a:spcPct val="90000"/>
              </a:lnSpc>
              <a:spcBef>
                <a:spcPts val="500"/>
              </a:spcBef>
              <a:buSzPct val="100000"/>
              <a:buFont typeface="Trebuchet MS"/>
              <a:buAutoNum type="romanLcPeriod"/>
            </a:pPr>
            <a:r>
              <a:rPr lang="en-US" sz="3000" dirty="0">
                <a:latin typeface="Trebuchet MS"/>
                <a:ea typeface="Trebuchet MS"/>
                <a:cs typeface="Trebuchet MS"/>
                <a:sym typeface="Trebuchet MS"/>
              </a:rPr>
              <a:t>Create user friendly, interactive platform for analysis using </a:t>
            </a:r>
            <a:r>
              <a:rPr lang="en-US" sz="3000" dirty="0" err="1">
                <a:latin typeface="Trebuchet MS"/>
                <a:ea typeface="Trebuchet MS"/>
                <a:cs typeface="Trebuchet MS"/>
                <a:sym typeface="Trebuchet MS"/>
              </a:rPr>
              <a:t>RShiny</a:t>
            </a:r>
            <a:r>
              <a:rPr lang="en-US" sz="3000" dirty="0">
                <a:latin typeface="Trebuchet MS"/>
                <a:ea typeface="Trebuchet MS"/>
                <a:cs typeface="Trebuchet MS"/>
                <a:sym typeface="Trebuchet MS"/>
              </a:rPr>
              <a:t> and Leaflet</a:t>
            </a:r>
          </a:p>
          <a:p>
            <a:pPr marL="1828800" lvl="3"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Display bases across map of United States</a:t>
            </a:r>
          </a:p>
          <a:p>
            <a:pPr marL="1828800" lvl="3"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Size points for bases by population</a:t>
            </a:r>
          </a:p>
          <a:p>
            <a:pPr marL="1828800" lvl="3"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Color points for bases by ACS variables</a:t>
            </a:r>
          </a:p>
          <a:p>
            <a:pPr marL="1828800" lvl="3"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Import Exploratory Analysis comparative graphs</a:t>
            </a:r>
          </a:p>
        </p:txBody>
      </p:sp>
      <p:sp>
        <p:nvSpPr>
          <p:cNvPr id="107" name="Shape 107"/>
          <p:cNvSpPr txBox="1"/>
          <p:nvPr/>
        </p:nvSpPr>
        <p:spPr>
          <a:xfrm>
            <a:off x="13212250" y="35712350"/>
            <a:ext cx="19309800" cy="3112200"/>
          </a:xfrm>
          <a:prstGeom prst="rect">
            <a:avLst/>
          </a:prstGeom>
          <a:noFill/>
          <a:ln>
            <a:noFill/>
          </a:ln>
        </p:spPr>
        <p:txBody>
          <a:bodyPr lIns="91425" tIns="91425" rIns="91425" bIns="91425" anchor="ctr" anchorCtr="0">
            <a:noAutofit/>
          </a:bodyPr>
          <a:lstStyle/>
          <a:p>
            <a:pPr lvl="0" rtl="0">
              <a:lnSpc>
                <a:spcPct val="90000"/>
              </a:lnSpc>
              <a:spcBef>
                <a:spcPts val="1100"/>
              </a:spcBef>
              <a:buNone/>
            </a:pPr>
            <a:r>
              <a:rPr lang="en-US" sz="3500" b="1">
                <a:latin typeface="Trebuchet MS"/>
                <a:ea typeface="Trebuchet MS"/>
                <a:cs typeface="Trebuchet MS"/>
                <a:sym typeface="Trebuchet MS"/>
              </a:rPr>
              <a:t>Variables of Interest for Model: </a:t>
            </a:r>
          </a:p>
          <a:p>
            <a:pPr marL="457200" lvl="0" indent="-412750" rtl="0">
              <a:lnSpc>
                <a:spcPct val="90000"/>
              </a:lnSpc>
              <a:spcBef>
                <a:spcPts val="500"/>
              </a:spcBef>
              <a:buSzPct val="100000"/>
              <a:buFont typeface="Trebuchet MS"/>
              <a:buChar char="●"/>
            </a:pPr>
            <a:r>
              <a:rPr lang="en-US" sz="2900">
                <a:latin typeface="Trebuchet MS"/>
                <a:ea typeface="Trebuchet MS"/>
                <a:cs typeface="Trebuchet MS"/>
                <a:sym typeface="Trebuchet MS"/>
              </a:rPr>
              <a:t>Control for demographic variables across geographic regions</a:t>
            </a:r>
          </a:p>
          <a:p>
            <a:pPr marL="457200" lvl="0" indent="-412750" rtl="0">
              <a:lnSpc>
                <a:spcPct val="90000"/>
              </a:lnSpc>
              <a:spcBef>
                <a:spcPts val="500"/>
              </a:spcBef>
              <a:buSzPct val="100000"/>
              <a:buFont typeface="Trebuchet MS"/>
              <a:buChar char="●"/>
            </a:pPr>
            <a:r>
              <a:rPr lang="en-US" sz="2900">
                <a:latin typeface="Trebuchet MS"/>
                <a:ea typeface="Trebuchet MS"/>
                <a:cs typeface="Trebuchet MS"/>
                <a:sym typeface="Trebuchet MS"/>
              </a:rPr>
              <a:t>Identify economic &amp; workforce variables to evaluate opportunity cost of staying in or leaving the Army</a:t>
            </a:r>
          </a:p>
          <a:p>
            <a:pPr lvl="0" rtl="0">
              <a:lnSpc>
                <a:spcPct val="90000"/>
              </a:lnSpc>
              <a:spcBef>
                <a:spcPts val="1100"/>
              </a:spcBef>
              <a:buNone/>
            </a:pPr>
            <a:r>
              <a:rPr lang="en-US" sz="3500" b="1">
                <a:latin typeface="Trebuchet MS"/>
                <a:ea typeface="Trebuchet MS"/>
                <a:cs typeface="Trebuchet MS"/>
                <a:sym typeface="Trebuchet MS"/>
              </a:rPr>
              <a:t>Next Steps:</a:t>
            </a:r>
          </a:p>
          <a:p>
            <a:pPr marL="457200" lvl="0" indent="-412750" rtl="0">
              <a:lnSpc>
                <a:spcPct val="90000"/>
              </a:lnSpc>
              <a:spcBef>
                <a:spcPts val="500"/>
              </a:spcBef>
              <a:buSzPct val="100000"/>
              <a:buFont typeface="Trebuchet MS"/>
              <a:buChar char="●"/>
            </a:pPr>
            <a:r>
              <a:rPr lang="en-US" sz="2900">
                <a:latin typeface="Trebuchet MS"/>
                <a:ea typeface="Trebuchet MS"/>
                <a:cs typeface="Trebuchet MS"/>
                <a:sym typeface="Trebuchet MS"/>
              </a:rPr>
              <a:t>Import dataset into Army’s Person Data Environment (PDE) data enclave. Data to be publicly available to researchers in PDE and incorporate into survival model of Army Attrition </a:t>
            </a:r>
          </a:p>
        </p:txBody>
      </p:sp>
      <p:pic>
        <p:nvPicPr>
          <p:cNvPr id="108" name="Shape 108"/>
          <p:cNvPicPr preferRelativeResize="0"/>
          <p:nvPr/>
        </p:nvPicPr>
        <p:blipFill>
          <a:blip r:embed="rId11">
            <a:alphaModFix/>
          </a:blip>
          <a:stretch>
            <a:fillRect/>
          </a:stretch>
        </p:blipFill>
        <p:spPr>
          <a:xfrm>
            <a:off x="12326724" y="21755850"/>
            <a:ext cx="11059075" cy="6677349"/>
          </a:xfrm>
          <a:prstGeom prst="rect">
            <a:avLst/>
          </a:prstGeom>
          <a:noFill/>
          <a:ln>
            <a:noFill/>
          </a:ln>
        </p:spPr>
      </p:pic>
      <p:pic>
        <p:nvPicPr>
          <p:cNvPr id="109" name="Shape 109"/>
          <p:cNvPicPr preferRelativeResize="0"/>
          <p:nvPr/>
        </p:nvPicPr>
        <p:blipFill>
          <a:blip r:embed="rId12">
            <a:alphaModFix/>
          </a:blip>
          <a:stretch>
            <a:fillRect/>
          </a:stretch>
        </p:blipFill>
        <p:spPr>
          <a:xfrm>
            <a:off x="23690599" y="21907100"/>
            <a:ext cx="7658824" cy="6425100"/>
          </a:xfrm>
          <a:prstGeom prst="rect">
            <a:avLst/>
          </a:prstGeom>
          <a:noFill/>
          <a:ln>
            <a:noFill/>
          </a:ln>
        </p:spPr>
      </p:pic>
      <p:pic>
        <p:nvPicPr>
          <p:cNvPr id="26" name="Picture 2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6034969" y="39582281"/>
            <a:ext cx="3621185" cy="15896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698</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Blanch Caps</vt:lpstr>
      <vt:lpstr>Calibri</vt:lpstr>
      <vt:lpstr>Trebuchet MS</vt:lpstr>
      <vt:lpstr>Arial</vt:lpstr>
      <vt:lpstr>Raleway</vt:lpstr>
      <vt:lpstr>Office Theme</vt:lpstr>
      <vt:lpstr>PowerPoint Presentation</vt:lpstr>
    </vt:vector>
  </TitlesOfParts>
  <LinksUpToDate>false</LinksUpToDate>
  <SharedDoc>false</SharedDoc>
  <HyperlinksChanged>false</HyperlinksChanged>
  <AppVersion>15.0030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Adrienne</dc:creator>
  <cp:lastModifiedBy>xandershanks@yahoo.com</cp:lastModifiedBy>
  <cp:revision>10</cp:revision>
  <dcterms:modified xsi:type="dcterms:W3CDTF">2017-07-20T17:25:53Z</dcterms:modified>
</cp:coreProperties>
</file>