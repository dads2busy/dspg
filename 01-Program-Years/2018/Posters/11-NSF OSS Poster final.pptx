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C703648E-0CD3-489F-8C9F-E5423F543BB7}">
  <a:tblStyle styleId="{C703648E-0CD3-489F-8C9F-E5423F543BB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regular.fntdata"/><Relationship Id="rId13"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1.xml"/><Relationship Id="rId2" Type="http://schemas.openxmlformats.org/officeDocument/2006/relationships/viewProps" Target="viewProps.xml"/><Relationship Id="rId11" Type="http://schemas.openxmlformats.org/officeDocument/2006/relationships/font" Target="fonts/BarlowCondensed-boldItalic.fntdata"/><Relationship Id="rId1" Type="http://schemas.openxmlformats.org/officeDocument/2006/relationships/theme" Target="theme/theme1.xml"/><Relationship Id="rId6" Type="http://schemas.openxmlformats.org/officeDocument/2006/relationships/notesMaster" Target="notesMasters/notesMaster1.xml"/><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a669e4c4_4_23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a669e4c4_4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4.png"/><Relationship Id="rId13" Type="http://schemas.openxmlformats.org/officeDocument/2006/relationships/image" Target="../media/image7.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bls.gov/oes/" TargetMode="External"/><Relationship Id="rId4" Type="http://schemas.openxmlformats.org/officeDocument/2006/relationships/hyperlink" Target="https://www.bea.gov/industry/io_annual.htm" TargetMode="External"/><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3.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1305725"/>
            <a:ext cx="26601900" cy="1105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Measuring the Cost and Value of Open Source Software </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7932475" y="-1811480"/>
            <a:ext cx="26601900" cy="14994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25" y="3039425"/>
            <a:ext cx="26926500" cy="697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4800">
                <a:solidFill>
                  <a:srgbClr val="141F22"/>
                </a:solidFill>
                <a:latin typeface="Barlow Condensed"/>
                <a:ea typeface="Barlow Condensed"/>
                <a:cs typeface="Barlow Condensed"/>
                <a:sym typeface="Barlow Condensed"/>
              </a:rPr>
              <a:t>Hannah Brinkley (VT), Keren Chen (VT), Eirik Iversen (VT), and </a:t>
            </a:r>
            <a:r>
              <a:rPr i="1" lang="en" sz="4800">
                <a:solidFill>
                  <a:srgbClr val="141F22"/>
                </a:solidFill>
                <a:latin typeface="Barlow Condensed"/>
                <a:ea typeface="Barlow Condensed"/>
                <a:cs typeface="Barlow Condensed"/>
                <a:sym typeface="Barlow Condensed"/>
              </a:rPr>
              <a:t>Bayoán Santiago Calderón</a:t>
            </a:r>
            <a:r>
              <a:rPr i="1" lang="en" sz="4800">
                <a:solidFill>
                  <a:srgbClr val="141F22"/>
                </a:solidFill>
                <a:latin typeface="Barlow Condensed"/>
                <a:ea typeface="Barlow Condensed"/>
                <a:cs typeface="Barlow Condensed"/>
                <a:sym typeface="Barlow Condensed"/>
              </a:rPr>
              <a:t> (Claremont Graduate University)</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4950375" y="34554125"/>
            <a:ext cx="9816900" cy="574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8270689" y="3826775"/>
            <a:ext cx="264921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Gizem Korkmaz, Daniel Chen, and Stephanie Shipp</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Carol Robbins, The National Center for Science &amp; Engineering Statistics (NCSES) at the National Science Foundation (NSF)</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31100" y="6258300"/>
            <a:ext cx="34041600" cy="22041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project aims to test the feasibility and to develop methods to measure the cost and value of Open Source Software (OSS).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To quantify cost, we focus on 4 major programming languages (i.e.,  R, Python, Julia, and JavaScript) and collect information on the development activities of all of the individual packages that use these languages. We use cost modeling approaches from software engineering, in particular, the Constructive Cost Estimation Model [1] (COCOMO) to quantify cost per package using the lines of code and contributor information.</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use reverse dependencies (reuse) of packages to measure the impact. We generate the dependency network to study the connection between the structural features of the network and the cost of the OSS projects.</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4702000" y="35041200"/>
            <a:ext cx="10170600" cy="2016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1800">
                <a:solidFill>
                  <a:srgbClr val="141F22"/>
                </a:solidFill>
                <a:latin typeface="Barlow Condensed"/>
                <a:ea typeface="Barlow Condensed"/>
                <a:cs typeface="Barlow Condensed"/>
                <a:sym typeface="Barlow Condensed"/>
              </a:rPr>
              <a:t>[1] Barry Boehm, Chris Abts, A. Winsor Brown, Sunita Chulani, Bradford K. Clark, Ellis Horowitz, Ray Madachy, Donald J. Reifer, and Bert Steece. </a:t>
            </a:r>
            <a:r>
              <a:rPr i="1" lang="en" sz="1800">
                <a:solidFill>
                  <a:srgbClr val="141F22"/>
                </a:solidFill>
                <a:latin typeface="Barlow Condensed"/>
                <a:ea typeface="Barlow Condensed"/>
                <a:cs typeface="Barlow Condensed"/>
                <a:sym typeface="Barlow Condensed"/>
              </a:rPr>
              <a:t>Software Cost Estimation with COCOMO II </a:t>
            </a:r>
            <a:r>
              <a:rPr lang="en" sz="1800">
                <a:solidFill>
                  <a:srgbClr val="141F22"/>
                </a:solidFill>
                <a:latin typeface="Barlow Condensed"/>
                <a:ea typeface="Barlow Condensed"/>
                <a:cs typeface="Barlow Condensed"/>
                <a:sym typeface="Barlow Condensed"/>
              </a:rPr>
              <a:t>(with CD-ROM). Englewood Cliffs, NJ:Prentice-Hall, 2000.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1800">
                <a:solidFill>
                  <a:srgbClr val="141F22"/>
                </a:solidFill>
                <a:latin typeface="Barlow Condensed"/>
                <a:ea typeface="Barlow Condensed"/>
                <a:cs typeface="Barlow Condensed"/>
                <a:sym typeface="Barlow Condensed"/>
              </a:rPr>
              <a:t>[2] Bureau of Labor Statistics, U.S. Department of Labor, Occupational Employment Statistics, 2017. [</a:t>
            </a:r>
            <a:r>
              <a:rPr lang="en" sz="1800" u="sng">
                <a:solidFill>
                  <a:schemeClr val="hlink"/>
                </a:solidFill>
                <a:latin typeface="Barlow Condensed"/>
                <a:ea typeface="Barlow Condensed"/>
                <a:cs typeface="Barlow Condensed"/>
                <a:sym typeface="Barlow Condensed"/>
                <a:hlinkClick r:id="rId3"/>
              </a:rPr>
              <a:t>www.bls.gov/oes/</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1800">
                <a:solidFill>
                  <a:srgbClr val="141F22"/>
                </a:solidFill>
                <a:latin typeface="Barlow Condensed"/>
                <a:ea typeface="Barlow Condensed"/>
                <a:cs typeface="Barlow Condensed"/>
                <a:sym typeface="Barlow Condensed"/>
              </a:rPr>
              <a:t>[3] Bureau of Economic Analysis, Input-Output Accounts Data: The Use of Commodities by Industries, Before Redefinitions (Purchasers' Prices), 2007. [</a:t>
            </a:r>
            <a:r>
              <a:rPr lang="en" sz="1800" u="sng">
                <a:solidFill>
                  <a:schemeClr val="hlink"/>
                </a:solidFill>
                <a:latin typeface="Barlow Condensed"/>
                <a:ea typeface="Barlow Condensed"/>
                <a:cs typeface="Barlow Condensed"/>
                <a:sym typeface="Barlow Condensed"/>
                <a:hlinkClick r:id="rId4"/>
              </a:rPr>
              <a:t>https://www.bea.gov/industry/io_annual.htm</a:t>
            </a:r>
            <a:r>
              <a:rPr lang="en" sz="1800">
                <a:solidFill>
                  <a:srgbClr val="141F22"/>
                </a:solidFill>
                <a:latin typeface="Barlow Condensed"/>
                <a:ea typeface="Barlow Condensed"/>
                <a:cs typeface="Barlow Condensed"/>
                <a:sym typeface="Barlow Condensed"/>
              </a:rPr>
              <a:t>]</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SzPts val="1100"/>
              <a:buNone/>
            </a:pPr>
            <a:r>
              <a:rPr lang="en" sz="1800">
                <a:solidFill>
                  <a:schemeClr val="dk1"/>
                </a:solidFill>
                <a:latin typeface="Barlow Condensed"/>
                <a:ea typeface="Barlow Condensed"/>
                <a:cs typeface="Barlow Condensed"/>
                <a:sym typeface="Barlow Condensed"/>
              </a:rPr>
              <a:t>[4] Vincent D Blondel, Jean-Loup Guillaume, Renaud Lambiotte, Etienne Lefebvre, Fast unfolding of communities in large networks. Journal of Statistical Mechanics: Theory and Experiment 2008 (10), P1000</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SzPts val="1100"/>
              <a:buNone/>
            </a:pPr>
            <a:r>
              <a:rPr lang="en" sz="1800">
                <a:solidFill>
                  <a:srgbClr val="222222"/>
                </a:solidFill>
                <a:highlight>
                  <a:srgbClr val="FFFFFF"/>
                </a:highlight>
                <a:latin typeface="Barlow Condensed"/>
                <a:ea typeface="Barlow Condensed"/>
                <a:cs typeface="Barlow Condensed"/>
                <a:sym typeface="Barlow Condensed"/>
              </a:rPr>
              <a:t>[5] Bastian, M., Heymann, S., &amp; Jacomy, M. (2009). Gephi: An open source software for exploring and manipulating networks. </a:t>
            </a:r>
            <a:r>
              <a:rPr i="1" lang="en" sz="1800">
                <a:solidFill>
                  <a:srgbClr val="222222"/>
                </a:solidFill>
                <a:highlight>
                  <a:srgbClr val="FFFFFF"/>
                </a:highlight>
                <a:latin typeface="Barlow Condensed"/>
                <a:ea typeface="Barlow Condensed"/>
                <a:cs typeface="Barlow Condensed"/>
                <a:sym typeface="Barlow Condensed"/>
              </a:rPr>
              <a:t>ICWSM</a:t>
            </a:r>
            <a:r>
              <a:rPr lang="en" sz="1800">
                <a:solidFill>
                  <a:srgbClr val="222222"/>
                </a:solidFill>
                <a:highlight>
                  <a:srgbClr val="FFFFFF"/>
                </a:highlight>
                <a:latin typeface="Barlow Condensed"/>
                <a:ea typeface="Barlow Condensed"/>
                <a:cs typeface="Barlow Condensed"/>
                <a:sym typeface="Barlow Condensed"/>
              </a:rPr>
              <a:t> </a:t>
            </a:r>
            <a:r>
              <a:rPr i="1" lang="en" sz="1800">
                <a:solidFill>
                  <a:srgbClr val="222222"/>
                </a:solidFill>
                <a:highlight>
                  <a:srgbClr val="FFFFFF"/>
                </a:highlight>
                <a:latin typeface="Barlow Condensed"/>
                <a:ea typeface="Barlow Condensed"/>
                <a:cs typeface="Barlow Condensed"/>
                <a:sym typeface="Barlow Condensed"/>
              </a:rPr>
              <a:t>8</a:t>
            </a:r>
            <a:r>
              <a:rPr lang="en" sz="1800">
                <a:solidFill>
                  <a:srgbClr val="222222"/>
                </a:solidFill>
                <a:highlight>
                  <a:srgbClr val="FFFFFF"/>
                </a:highlight>
                <a:latin typeface="Barlow Condensed"/>
                <a:ea typeface="Barlow Condensed"/>
                <a:cs typeface="Barlow Condensed"/>
                <a:sym typeface="Barlow Condensed"/>
              </a:rPr>
              <a:t>(2009), 361-362.</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lgn="l">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18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63900" y="14523950"/>
            <a:ext cx="150003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Cost of Open Source Software</a:t>
            </a:r>
            <a:endParaRPr b="1" sz="44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775" y="5301500"/>
            <a:ext cx="338238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Objective</a:t>
            </a:r>
            <a:endParaRPr b="1" sz="4800">
              <a:solidFill>
                <a:srgbClr val="FFFFFF"/>
              </a:solidFill>
              <a:latin typeface="Barlow Condensed"/>
              <a:ea typeface="Barlow Condensed"/>
              <a:cs typeface="Barlow Condensed"/>
              <a:sym typeface="Barlow Condensed"/>
            </a:endParaRPr>
          </a:p>
        </p:txBody>
      </p:sp>
      <p:sp>
        <p:nvSpPr>
          <p:cNvPr id="62" name="Google Shape;62;p13"/>
          <p:cNvSpPr/>
          <p:nvPr/>
        </p:nvSpPr>
        <p:spPr>
          <a:xfrm>
            <a:off x="28648575" y="25376975"/>
            <a:ext cx="6114300" cy="61541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nvSpPr>
        <p:spPr>
          <a:xfrm>
            <a:off x="1048775" y="8507525"/>
            <a:ext cx="33823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and Methods</a:t>
            </a:r>
            <a:endParaRPr b="1" sz="4800">
              <a:solidFill>
                <a:srgbClr val="FFFFFF"/>
              </a:solidFill>
              <a:latin typeface="Barlow Condensed"/>
              <a:ea typeface="Barlow Condensed"/>
              <a:cs typeface="Barlow Condensed"/>
              <a:sym typeface="Barlow Condensed"/>
            </a:endParaRPr>
          </a:p>
        </p:txBody>
      </p:sp>
      <p:pic>
        <p:nvPicPr>
          <p:cNvPr id="64" name="Google Shape;64;p13"/>
          <p:cNvPicPr preferRelativeResize="0"/>
          <p:nvPr/>
        </p:nvPicPr>
        <p:blipFill>
          <a:blip r:embed="rId5">
            <a:alphaModFix/>
          </a:blip>
          <a:stretch>
            <a:fillRect/>
          </a:stretch>
        </p:blipFill>
        <p:spPr>
          <a:xfrm>
            <a:off x="26937200" y="15418700"/>
            <a:ext cx="8129474" cy="6379980"/>
          </a:xfrm>
          <a:prstGeom prst="rect">
            <a:avLst/>
          </a:prstGeom>
          <a:noFill/>
          <a:ln>
            <a:noFill/>
          </a:ln>
        </p:spPr>
      </p:pic>
      <p:graphicFrame>
        <p:nvGraphicFramePr>
          <p:cNvPr id="65" name="Google Shape;65;p13"/>
          <p:cNvGraphicFramePr/>
          <p:nvPr/>
        </p:nvGraphicFramePr>
        <p:xfrm>
          <a:off x="1393263" y="31823675"/>
          <a:ext cx="3000000" cy="3000000"/>
        </p:xfrm>
        <a:graphic>
          <a:graphicData uri="http://schemas.openxmlformats.org/drawingml/2006/table">
            <a:tbl>
              <a:tblPr>
                <a:noFill/>
                <a:tableStyleId>{C703648E-0CD3-489F-8C9F-E5423F543BB7}</a:tableStyleId>
              </a:tblPr>
              <a:tblGrid>
                <a:gridCol w="2215925"/>
                <a:gridCol w="789475"/>
                <a:gridCol w="1810825"/>
                <a:gridCol w="744975"/>
                <a:gridCol w="2045650"/>
                <a:gridCol w="926900"/>
                <a:gridCol w="1882925"/>
                <a:gridCol w="908725"/>
              </a:tblGrid>
              <a:tr h="55475">
                <a:tc gridSpan="8">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Top 5 packages with the highest total cost  (in USD)</a:t>
                      </a:r>
                      <a:endParaRPr b="1" sz="26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gridSpan="2">
                  <a:txBody>
                    <a:bodyPr>
                      <a:noAutofit/>
                    </a:bodyPr>
                    <a:lstStyle/>
                    <a:p>
                      <a:pPr indent="0" lvl="0" marL="0" rtl="0" algn="ctr">
                        <a:spcBef>
                          <a:spcPts val="0"/>
                        </a:spcBef>
                        <a:spcAft>
                          <a:spcPts val="0"/>
                        </a:spcAft>
                        <a:buNone/>
                      </a:pPr>
                      <a:r>
                        <a:rPr b="1" lang="en" sz="2600">
                          <a:solidFill>
                            <a:schemeClr val="dk1"/>
                          </a:solidFill>
                          <a:latin typeface="Barlow Condensed"/>
                          <a:ea typeface="Barlow Condensed"/>
                          <a:cs typeface="Barlow Condensed"/>
                          <a:sym typeface="Barlow Condensed"/>
                        </a:rPr>
                        <a:t>CRAN (R)</a:t>
                      </a:r>
                      <a:endParaRPr b="1"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4CCCC"/>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PyPi (Python)</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Julia (Julia)</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0E0E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CDNJS (JavaScript)</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hMerge="1"/>
              </a:tr>
              <a:tr h="381000">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googleAnalyticsR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Nupic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GeoStatsImages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Webkit.js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6.9M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Archivist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Django-workon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PSPlot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Phaser-ce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Quanteda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D1_python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MIToS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CollessLike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Selenium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PDSampler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Ag-grid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Readtext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Senaite.core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GeoIP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Libsodium.js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854M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EA9999"/>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747M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JULIA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2C4C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239M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A2C4C9"/>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CDNJS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1,199M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r>
            </a:tbl>
          </a:graphicData>
        </a:graphic>
      </p:graphicFrame>
      <p:sp>
        <p:nvSpPr>
          <p:cNvPr id="66" name="Google Shape;66;p13"/>
          <p:cNvSpPr txBox="1"/>
          <p:nvPr/>
        </p:nvSpPr>
        <p:spPr>
          <a:xfrm>
            <a:off x="767125" y="15547175"/>
            <a:ext cx="9962100" cy="8038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creation cost of packages is estimated using data collected from Github on the </a:t>
            </a:r>
            <a:r>
              <a:rPr i="1" lang="en" sz="3000">
                <a:solidFill>
                  <a:srgbClr val="1155CC"/>
                </a:solidFill>
                <a:latin typeface="Barlow Condensed"/>
                <a:ea typeface="Barlow Condensed"/>
                <a:cs typeface="Barlow Condensed"/>
                <a:sym typeface="Barlow Condensed"/>
              </a:rPr>
              <a:t>lines of code</a:t>
            </a:r>
            <a:r>
              <a:rPr lang="en" sz="3000">
                <a:solidFill>
                  <a:srgbClr val="1155CC"/>
                </a:solidFill>
                <a:latin typeface="Barlow Condensed"/>
                <a:ea typeface="Barlow Condensed"/>
                <a:cs typeface="Barlow Condensed"/>
                <a:sym typeface="Barlow Condensed"/>
              </a:rPr>
              <a:t> added and deleted</a:t>
            </a:r>
            <a:r>
              <a:rPr lang="en" sz="3000">
                <a:solidFill>
                  <a:srgbClr val="141F22"/>
                </a:solidFill>
                <a:latin typeface="Barlow Condensed"/>
                <a:ea typeface="Barlow Condensed"/>
                <a:cs typeface="Barlow Condensed"/>
                <a:sym typeface="Barlow Condensed"/>
              </a:rPr>
              <a:t> by each </a:t>
            </a:r>
            <a:r>
              <a:rPr i="1" lang="en" sz="3000">
                <a:solidFill>
                  <a:srgbClr val="1155CC"/>
                </a:solidFill>
                <a:latin typeface="Barlow Condensed"/>
                <a:ea typeface="Barlow Condensed"/>
                <a:cs typeface="Barlow Condensed"/>
                <a:sym typeface="Barlow Condensed"/>
              </a:rPr>
              <a:t>contributor</a:t>
            </a:r>
            <a:r>
              <a:rPr lang="en" sz="3000">
                <a:solidFill>
                  <a:srgbClr val="1155CC"/>
                </a:solidFill>
                <a:latin typeface="Barlow Condensed"/>
                <a:ea typeface="Barlow Condensed"/>
                <a:cs typeface="Barlow Condensed"/>
                <a:sym typeface="Barlow Condensed"/>
              </a:rPr>
              <a:t> </a:t>
            </a:r>
            <a:r>
              <a:rPr lang="en" sz="3000">
                <a:solidFill>
                  <a:srgbClr val="141F22"/>
                </a:solidFill>
                <a:latin typeface="Barlow Condensed"/>
                <a:ea typeface="Barlow Condensed"/>
                <a:cs typeface="Barlow Condensed"/>
                <a:sym typeface="Barlow Condensed"/>
              </a:rPr>
              <a:t>to each completed package. These distributions are given on the right.</a:t>
            </a:r>
            <a:endParaRPr sz="3000">
              <a:solidFill>
                <a:srgbClr val="141F22"/>
              </a:solidFill>
              <a:latin typeface="Barlow Condensed"/>
              <a:ea typeface="Barlow Condensed"/>
              <a:cs typeface="Barlow Condensed"/>
              <a:sym typeface="Barlow Condensed"/>
            </a:endParaRPr>
          </a:p>
          <a:p>
            <a:pPr indent="45720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COCOMO [1] calibration factor was used to estimate person-months spent per package using kilo (thousands) of lines of code (KLOC). Here, we use the formula (given below) for the </a:t>
            </a:r>
            <a:r>
              <a:rPr i="1" lang="en" sz="3000">
                <a:solidFill>
                  <a:srgbClr val="141F22"/>
                </a:solidFill>
                <a:latin typeface="Barlow Condensed"/>
                <a:ea typeface="Barlow Condensed"/>
                <a:cs typeface="Barlow Condensed"/>
                <a:sym typeface="Barlow Condensed"/>
              </a:rPr>
              <a:t>organic software class</a:t>
            </a:r>
            <a:r>
              <a:rPr lang="en" sz="3000">
                <a:solidFill>
                  <a:srgbClr val="141F22"/>
                </a:solidFill>
                <a:latin typeface="Barlow Condensed"/>
                <a:ea typeface="Barlow Condensed"/>
                <a:cs typeface="Barlow Condensed"/>
                <a:sym typeface="Barlow Condensed"/>
              </a:rPr>
              <a:t> which consists of software dealing with a well-known programming language and a small, but experienced team of contributors.</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assume that the input time of contributors is roughly equivalent to </a:t>
            </a:r>
            <a:r>
              <a:rPr i="1" lang="en" sz="3000">
                <a:solidFill>
                  <a:srgbClr val="141F22"/>
                </a:solidFill>
                <a:latin typeface="Barlow Condensed"/>
                <a:ea typeface="Barlow Condensed"/>
                <a:cs typeface="Barlow Condensed"/>
                <a:sym typeface="Barlow Condensed"/>
              </a:rPr>
              <a:t>the </a:t>
            </a:r>
            <a:r>
              <a:rPr i="1" lang="en" sz="3000">
                <a:solidFill>
                  <a:srgbClr val="1155CC"/>
                </a:solidFill>
                <a:latin typeface="Barlow Condensed"/>
                <a:ea typeface="Barlow Condensed"/>
                <a:cs typeface="Barlow Condensed"/>
                <a:sym typeface="Barlow Condensed"/>
              </a:rPr>
              <a:t>average wage for computer programmers</a:t>
            </a:r>
            <a:r>
              <a:rPr lang="en" sz="3000">
                <a:solidFill>
                  <a:srgbClr val="141F22"/>
                </a:solidFill>
                <a:latin typeface="Barlow Condensed"/>
                <a:ea typeface="Barlow Condensed"/>
                <a:cs typeface="Barlow Condensed"/>
                <a:sym typeface="Barlow Condensed"/>
              </a:rPr>
              <a:t> (from Bureau of </a:t>
            </a:r>
            <a:r>
              <a:rPr lang="en" sz="3000">
                <a:solidFill>
                  <a:srgbClr val="141F22"/>
                </a:solidFill>
                <a:latin typeface="Barlow Condensed"/>
                <a:ea typeface="Barlow Condensed"/>
                <a:cs typeface="Barlow Condensed"/>
                <a:sym typeface="Barlow Condensed"/>
              </a:rPr>
              <a:t>Labor Statistics (BLS) 2017 data [2])</a:t>
            </a:r>
            <a:r>
              <a:rPr lang="en" sz="3000">
                <a:solidFill>
                  <a:srgbClr val="141F22"/>
                </a:solidFill>
                <a:latin typeface="Barlow Condensed"/>
                <a:ea typeface="Barlow Condensed"/>
                <a:cs typeface="Barlow Condensed"/>
                <a:sym typeface="Barlow Condensed"/>
              </a:rPr>
              <a:t> plus additional </a:t>
            </a:r>
            <a:r>
              <a:rPr i="1" lang="en" sz="3000">
                <a:solidFill>
                  <a:srgbClr val="1155CC"/>
                </a:solidFill>
                <a:latin typeface="Barlow Condensed"/>
                <a:ea typeface="Barlow Condensed"/>
                <a:cs typeface="Barlow Condensed"/>
                <a:sym typeface="Barlow Condensed"/>
              </a:rPr>
              <a:t>intermediate input and capital services costs</a:t>
            </a:r>
            <a:r>
              <a:rPr lang="en" sz="3000">
                <a:solidFill>
                  <a:srgbClr val="141F22"/>
                </a:solidFill>
                <a:latin typeface="Barlow Condensed"/>
                <a:ea typeface="Barlow Condensed"/>
                <a:cs typeface="Barlow Condensed"/>
                <a:sym typeface="Barlow Condensed"/>
              </a:rPr>
              <a:t> (from Bureau of Economic Analysis (BEA) 2007 data [3]). The per </a:t>
            </a:r>
            <a:r>
              <a:rPr lang="en" sz="3000">
                <a:solidFill>
                  <a:srgbClr val="141F22"/>
                </a:solidFill>
                <a:latin typeface="Barlow Condensed"/>
                <a:ea typeface="Barlow Condensed"/>
                <a:cs typeface="Barlow Condensed"/>
                <a:sym typeface="Barlow Condensed"/>
              </a:rPr>
              <a:t>person month cost for OSS contribution is obtained as $18,096, which is the amount used in our cost calculations.</a:t>
            </a:r>
            <a:endParaRPr sz="30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8908555" y="10249727"/>
            <a:ext cx="7516159" cy="4515936"/>
            <a:chOff x="11472413" y="-2294831"/>
            <a:chExt cx="5637260" cy="3387037"/>
          </a:xfrm>
        </p:grpSpPr>
        <p:sp>
          <p:nvSpPr>
            <p:cNvPr id="68" name="Google Shape;68;p13"/>
            <p:cNvSpPr/>
            <p:nvPr/>
          </p:nvSpPr>
          <p:spPr>
            <a:xfrm>
              <a:off x="11472413" y="-2294831"/>
              <a:ext cx="3305700" cy="669000"/>
            </a:xfrm>
            <a:prstGeom prst="chevron">
              <a:avLst>
                <a:gd fmla="val 50000" name="adj"/>
              </a:avLst>
            </a:prstGeom>
            <a:solidFill>
              <a:srgbClr val="A64D79"/>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Manifest File</a:t>
              </a:r>
              <a:endParaRPr sz="30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14526673" y="-1523494"/>
              <a:ext cx="2583000" cy="26157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Information about </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author, maintainer, license, package status, etc.</a:t>
              </a:r>
              <a:endParaRPr sz="2800">
                <a:latin typeface="Barlow Condensed"/>
                <a:ea typeface="Barlow Condensed"/>
                <a:cs typeface="Barlow Condensed"/>
                <a:sym typeface="Barlow Condensed"/>
              </a:endParaRPr>
            </a:p>
            <a:p>
              <a:pPr indent="0" lvl="0" marL="457200" marR="0" rtl="0" algn="l">
                <a:lnSpc>
                  <a:spcPct val="100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0" name="Google Shape;70;p13"/>
          <p:cNvSpPr txBox="1"/>
          <p:nvPr/>
        </p:nvSpPr>
        <p:spPr>
          <a:xfrm>
            <a:off x="5155850" y="11266175"/>
            <a:ext cx="3199500" cy="24123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Language-specific package managers (e.g., CRAN, PyPi)</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Roboto"/>
              <a:buChar char="●"/>
            </a:pPr>
            <a:r>
              <a:rPr lang="en" sz="2800">
                <a:latin typeface="Barlow Condensed"/>
                <a:ea typeface="Barlow Condensed"/>
                <a:cs typeface="Barlow Condensed"/>
                <a:sym typeface="Barlow Condensed"/>
              </a:rPr>
              <a:t>Basic </a:t>
            </a:r>
            <a:r>
              <a:rPr lang="en" sz="2800">
                <a:solidFill>
                  <a:schemeClr val="dk1"/>
                </a:solidFill>
                <a:latin typeface="Barlow Condensed"/>
                <a:ea typeface="Barlow Condensed"/>
                <a:cs typeface="Barlow Condensed"/>
                <a:sym typeface="Barlow Condensed"/>
              </a:rPr>
              <a:t>information</a:t>
            </a:r>
            <a:r>
              <a:rPr lang="en" sz="2800">
                <a:latin typeface="Barlow Condensed"/>
                <a:ea typeface="Barlow Condensed"/>
                <a:cs typeface="Barlow Condensed"/>
                <a:sym typeface="Barlow Condensed"/>
              </a:rPr>
              <a:t> about each package is web scraped</a:t>
            </a:r>
            <a:endParaRPr sz="2800">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marR="0" rtl="0" algn="l">
              <a:lnSpc>
                <a:spcPct val="100000"/>
              </a:lnSpc>
              <a:spcBef>
                <a:spcPts val="0"/>
              </a:spcBef>
              <a:spcAft>
                <a:spcPts val="0"/>
              </a:spcAft>
              <a:buNone/>
            </a:pPr>
            <a:r>
              <a:t/>
            </a:r>
            <a:endParaRPr sz="2800">
              <a:solidFill>
                <a:schemeClr val="dk1"/>
              </a:solidFill>
              <a:latin typeface="Barlow Condensed"/>
              <a:ea typeface="Barlow Condensed"/>
              <a:cs typeface="Barlow Condensed"/>
              <a:sym typeface="Barlow Condensed"/>
            </a:endParaRPr>
          </a:p>
        </p:txBody>
      </p:sp>
      <p:sp>
        <p:nvSpPr>
          <p:cNvPr id="71" name="Google Shape;71;p13"/>
          <p:cNvSpPr txBox="1"/>
          <p:nvPr/>
        </p:nvSpPr>
        <p:spPr>
          <a:xfrm>
            <a:off x="9124375" y="11306225"/>
            <a:ext cx="3746700" cy="34875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Contains metadata</a:t>
            </a:r>
            <a:endParaRPr sz="2800">
              <a:latin typeface="Barlow Condensed"/>
              <a:ea typeface="Barlow Condensed"/>
              <a:cs typeface="Barlow Condensed"/>
              <a:sym typeface="Barlow Condensed"/>
            </a:endParaRPr>
          </a:p>
          <a:p>
            <a:pPr indent="-406400" lvl="1" marL="9144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Author, license, dependencies, </a:t>
            </a:r>
            <a:r>
              <a:rPr lang="en" sz="2800">
                <a:solidFill>
                  <a:schemeClr val="dk1"/>
                </a:solidFill>
                <a:latin typeface="Barlow Condensed"/>
                <a:ea typeface="Barlow Condensed"/>
                <a:cs typeface="Barlow Condensed"/>
                <a:sym typeface="Barlow Condensed"/>
              </a:rPr>
              <a:t>version, etc.</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Some registries parse this information.</a:t>
            </a:r>
            <a:endParaRPr sz="2800">
              <a:latin typeface="Barlow Condensed"/>
              <a:ea typeface="Barlow Condensed"/>
              <a:cs typeface="Barlow Condensed"/>
              <a:sym typeface="Barlow Condensed"/>
            </a:endParaRPr>
          </a:p>
        </p:txBody>
      </p:sp>
      <p:pic>
        <p:nvPicPr>
          <p:cNvPr id="72" name="Google Shape;72;p13"/>
          <p:cNvPicPr preferRelativeResize="0"/>
          <p:nvPr/>
        </p:nvPicPr>
        <p:blipFill>
          <a:blip r:embed="rId6">
            <a:alphaModFix/>
          </a:blip>
          <a:stretch>
            <a:fillRect/>
          </a:stretch>
        </p:blipFill>
        <p:spPr>
          <a:xfrm>
            <a:off x="759100" y="27284903"/>
            <a:ext cx="6406323" cy="4469351"/>
          </a:xfrm>
          <a:prstGeom prst="rect">
            <a:avLst/>
          </a:prstGeom>
          <a:noFill/>
          <a:ln>
            <a:noFill/>
          </a:ln>
        </p:spPr>
      </p:pic>
      <p:grpSp>
        <p:nvGrpSpPr>
          <p:cNvPr id="73" name="Google Shape;73;p13"/>
          <p:cNvGrpSpPr/>
          <p:nvPr/>
        </p:nvGrpSpPr>
        <p:grpSpPr>
          <a:xfrm>
            <a:off x="1034650" y="10249900"/>
            <a:ext cx="4517087" cy="4479875"/>
            <a:chOff x="-139438" y="1582183"/>
            <a:chExt cx="3387900" cy="3359991"/>
          </a:xfrm>
        </p:grpSpPr>
        <p:sp>
          <p:nvSpPr>
            <p:cNvPr id="74" name="Google Shape;74;p13"/>
            <p:cNvSpPr/>
            <p:nvPr/>
          </p:nvSpPr>
          <p:spPr>
            <a:xfrm>
              <a:off x="-139438" y="1582183"/>
              <a:ext cx="3387900" cy="669000"/>
            </a:xfrm>
            <a:prstGeom prst="homePlate">
              <a:avLst>
                <a:gd fmla="val 50000" name="adj"/>
              </a:avLst>
            </a:prstGeom>
            <a:solidFill>
              <a:srgbClr val="4C113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OSS Definition</a:t>
              </a:r>
              <a:endParaRPr sz="3000">
                <a:solidFill>
                  <a:srgbClr val="FFFFFF"/>
                </a:solidFill>
                <a:latin typeface="Barlow Condensed"/>
                <a:ea typeface="Barlow Condensed"/>
                <a:cs typeface="Barlow Condensed"/>
                <a:sym typeface="Barlow Condensed"/>
              </a:endParaRPr>
            </a:p>
          </p:txBody>
        </p:sp>
        <p:sp>
          <p:nvSpPr>
            <p:cNvPr id="75" name="Google Shape;75;p13"/>
            <p:cNvSpPr txBox="1"/>
            <p:nvPr/>
          </p:nvSpPr>
          <p:spPr>
            <a:xfrm>
              <a:off x="-139438" y="2326474"/>
              <a:ext cx="2872200" cy="2615700"/>
            </a:xfrm>
            <a:prstGeom prst="rect">
              <a:avLst/>
            </a:prstGeom>
            <a:noFill/>
            <a:ln>
              <a:noFill/>
            </a:ln>
          </p:spPr>
          <p:txBody>
            <a:bodyPr anchorCtr="0" anchor="t" bIns="121900" lIns="121900" spcFirstLastPara="1" rIns="121900" wrap="square" tIns="121900">
              <a:noAutofit/>
            </a:bodyPr>
            <a:lstStyle/>
            <a:p>
              <a:pPr indent="-406400" lvl="0" marL="457200" rtl="0" algn="l">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Open Source Initiative (OSI)-Approved License</a:t>
              </a:r>
              <a:endParaRPr sz="2800">
                <a:solidFill>
                  <a:schemeClr val="dk1"/>
                </a:solidFill>
                <a:latin typeface="Barlow Condensed"/>
                <a:ea typeface="Barlow Condensed"/>
                <a:cs typeface="Barlow Condensed"/>
                <a:sym typeface="Barlow Condensed"/>
              </a:endParaRPr>
            </a:p>
            <a:p>
              <a:pPr indent="-406400" lvl="0" marL="457200" rtl="0" algn="l">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Production Ready Release for Current Ecosystem</a:t>
              </a:r>
              <a:endParaRPr sz="2800">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rtl="0" algn="l">
                <a:lnSpc>
                  <a:spcPct val="115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6" name="Google Shape;76;p13"/>
          <p:cNvSpPr txBox="1"/>
          <p:nvPr/>
        </p:nvSpPr>
        <p:spPr>
          <a:xfrm>
            <a:off x="16606950" y="11242325"/>
            <a:ext cx="6114300" cy="2436300"/>
          </a:xfrm>
          <a:prstGeom prst="rect">
            <a:avLst/>
          </a:prstGeom>
          <a:noFill/>
          <a:ln>
            <a:noFill/>
          </a:ln>
        </p:spPr>
        <p:txBody>
          <a:bodyPr anchorCtr="0" anchor="t" bIns="121900" lIns="121900" spcFirstLastPara="1" rIns="121900" wrap="square" tIns="121900">
            <a:noAutofit/>
          </a:bodyPr>
          <a:lstStyle/>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For the latest release of the package</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Top 100 contributors by commits</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Timestamped lines of code (LoC)</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Number and time of commits</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Profile of contributors</a:t>
            </a:r>
            <a:endParaRPr sz="2800">
              <a:latin typeface="Barlow Condensed"/>
              <a:ea typeface="Barlow Condensed"/>
              <a:cs typeface="Barlow Condensed"/>
              <a:sym typeface="Barlow Condensed"/>
            </a:endParaRPr>
          </a:p>
          <a:p>
            <a:pPr indent="-406400" lvl="0" marL="457200" rtl="0" algn="l">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Continuous integration</a:t>
            </a:r>
            <a:endParaRPr sz="2800">
              <a:latin typeface="Barlow Condensed"/>
              <a:ea typeface="Barlow Condensed"/>
              <a:cs typeface="Barlow Condensed"/>
              <a:sym typeface="Barlow Condensed"/>
            </a:endParaRPr>
          </a:p>
        </p:txBody>
      </p:sp>
      <p:graphicFrame>
        <p:nvGraphicFramePr>
          <p:cNvPr id="77" name="Google Shape;77;p13"/>
          <p:cNvGraphicFramePr/>
          <p:nvPr/>
        </p:nvGraphicFramePr>
        <p:xfrm>
          <a:off x="23334700" y="9824713"/>
          <a:ext cx="3000000" cy="3000000"/>
        </p:xfrm>
        <a:graphic>
          <a:graphicData uri="http://schemas.openxmlformats.org/drawingml/2006/table">
            <a:tbl>
              <a:tblPr>
                <a:noFill/>
                <a:tableStyleId>{C703648E-0CD3-489F-8C9F-E5423F543BB7}</a:tableStyleId>
              </a:tblPr>
              <a:tblGrid>
                <a:gridCol w="1521925"/>
                <a:gridCol w="1769100"/>
                <a:gridCol w="1563125"/>
                <a:gridCol w="2501250"/>
                <a:gridCol w="1613500"/>
              </a:tblGrid>
              <a:tr h="590450">
                <a:tc gridSpan="5">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Data Collection</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r>
              <a:tr h="1161950">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Language</a:t>
                      </a:r>
                      <a:endParaRPr b="1" sz="28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 manager</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Number of packages</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OSI-approved  &amp; production ready</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Packages on Github</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R</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CRAN</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12,614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11,886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3,396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Python</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PyPi</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143,047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7,392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3,804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Julia</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Pkg.jl</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2,040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lgn="l">
                        <a:spcBef>
                          <a:spcPts val="0"/>
                        </a:spcBef>
                        <a:spcAft>
                          <a:spcPts val="0"/>
                        </a:spcAft>
                        <a:buNone/>
                      </a:pPr>
                      <a:r>
                        <a:rPr lang="en" sz="2600">
                          <a:solidFill>
                            <a:srgbClr val="141F22"/>
                          </a:solidFill>
                          <a:latin typeface="Barlow Condensed"/>
                          <a:ea typeface="Barlow Condensed"/>
                          <a:cs typeface="Barlow Condensed"/>
                          <a:sym typeface="Barlow Condensed"/>
                        </a:rPr>
                        <a:t>JavaScript</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CDNJS</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3,213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 name="Google Shape;78;p13"/>
          <p:cNvSpPr txBox="1"/>
          <p:nvPr/>
        </p:nvSpPr>
        <p:spPr>
          <a:xfrm>
            <a:off x="7078850" y="9486725"/>
            <a:ext cx="51510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3000">
                <a:solidFill>
                  <a:srgbClr val="141F22"/>
                </a:solidFill>
                <a:latin typeface="Barlow Condensed"/>
                <a:ea typeface="Barlow Condensed"/>
                <a:cs typeface="Barlow Condensed"/>
                <a:sym typeface="Barlow Condensed"/>
              </a:rPr>
              <a:t>DATA COLLECTION STRATEGY</a:t>
            </a:r>
            <a:endParaRPr b="1" sz="3000">
              <a:solidFill>
                <a:srgbClr val="141F22"/>
              </a:solidFill>
              <a:latin typeface="Barlow Condensed"/>
              <a:ea typeface="Barlow Condensed"/>
              <a:cs typeface="Barlow Condensed"/>
              <a:sym typeface="Barlow Condensed"/>
            </a:endParaRPr>
          </a:p>
        </p:txBody>
      </p:sp>
      <p:sp>
        <p:nvSpPr>
          <p:cNvPr id="79" name="Google Shape;79;p13"/>
          <p:cNvSpPr/>
          <p:nvPr/>
        </p:nvSpPr>
        <p:spPr>
          <a:xfrm>
            <a:off x="12794755" y="10249727"/>
            <a:ext cx="4407600" cy="891900"/>
          </a:xfrm>
          <a:prstGeom prst="chevron">
            <a:avLst>
              <a:gd fmla="val 50000" name="adj"/>
            </a:avLst>
          </a:prstGeom>
          <a:solidFill>
            <a:srgbClr val="C27BA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Repository</a:t>
            </a:r>
            <a:endParaRPr sz="3000">
              <a:solidFill>
                <a:srgbClr val="FFFFFF"/>
              </a:solidFill>
              <a:latin typeface="Barlow Condensed"/>
              <a:ea typeface="Barlow Condensed"/>
              <a:cs typeface="Barlow Condensed"/>
              <a:sym typeface="Barlow Condensed"/>
            </a:endParaRPr>
          </a:p>
        </p:txBody>
      </p:sp>
      <p:pic>
        <p:nvPicPr>
          <p:cNvPr id="80" name="Google Shape;80;p13"/>
          <p:cNvPicPr preferRelativeResize="0"/>
          <p:nvPr/>
        </p:nvPicPr>
        <p:blipFill>
          <a:blip r:embed="rId7">
            <a:alphaModFix/>
          </a:blip>
          <a:stretch>
            <a:fillRect/>
          </a:stretch>
        </p:blipFill>
        <p:spPr>
          <a:xfrm>
            <a:off x="10971875" y="15863624"/>
            <a:ext cx="4998893" cy="3487500"/>
          </a:xfrm>
          <a:prstGeom prst="rect">
            <a:avLst/>
          </a:prstGeom>
          <a:noFill/>
          <a:ln>
            <a:noFill/>
          </a:ln>
        </p:spPr>
      </p:pic>
      <p:pic>
        <p:nvPicPr>
          <p:cNvPr id="81" name="Google Shape;81;p13"/>
          <p:cNvPicPr preferRelativeResize="0"/>
          <p:nvPr/>
        </p:nvPicPr>
        <p:blipFill>
          <a:blip r:embed="rId8">
            <a:alphaModFix/>
          </a:blip>
          <a:stretch>
            <a:fillRect/>
          </a:stretch>
        </p:blipFill>
        <p:spPr>
          <a:xfrm>
            <a:off x="10913200" y="19966161"/>
            <a:ext cx="5151000" cy="3593590"/>
          </a:xfrm>
          <a:prstGeom prst="rect">
            <a:avLst/>
          </a:prstGeom>
          <a:noFill/>
          <a:ln>
            <a:noFill/>
          </a:ln>
        </p:spPr>
      </p:pic>
      <p:sp>
        <p:nvSpPr>
          <p:cNvPr id="82" name="Google Shape;82;p13"/>
          <p:cNvSpPr/>
          <p:nvPr/>
        </p:nvSpPr>
        <p:spPr>
          <a:xfrm>
            <a:off x="10729225" y="15791975"/>
            <a:ext cx="5241550" cy="8162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txBox="1"/>
          <p:nvPr/>
        </p:nvSpPr>
        <p:spPr>
          <a:xfrm>
            <a:off x="16316975" y="15636975"/>
            <a:ext cx="10620300" cy="220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rgbClr val="141F22"/>
                </a:solidFill>
                <a:latin typeface="Barlow Condensed"/>
                <a:ea typeface="Barlow Condensed"/>
                <a:cs typeface="Barlow Condensed"/>
                <a:sym typeface="Barlow Condensed"/>
              </a:rPr>
              <a:t>We use reverse dependencies of packages as the measure of impact/value.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We obtain the dependency information from manifest files to generate the dependency network where a directed edge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indicates that the package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requires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to be installed to function. Packages with no edges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(i.e., dependency links) are removed from the network. </a:t>
            </a:r>
            <a:endParaRPr sz="3000">
              <a:latin typeface="Barlow Condensed"/>
              <a:ea typeface="Barlow Condensed"/>
              <a:cs typeface="Barlow Condensed"/>
              <a:sym typeface="Barlow Condensed"/>
            </a:endParaRPr>
          </a:p>
        </p:txBody>
      </p:sp>
      <p:graphicFrame>
        <p:nvGraphicFramePr>
          <p:cNvPr id="84" name="Google Shape;84;p13"/>
          <p:cNvGraphicFramePr/>
          <p:nvPr/>
        </p:nvGraphicFramePr>
        <p:xfrm>
          <a:off x="16316975" y="18120050"/>
          <a:ext cx="3000000" cy="3000000"/>
        </p:xfrm>
        <a:graphic>
          <a:graphicData uri="http://schemas.openxmlformats.org/drawingml/2006/table">
            <a:tbl>
              <a:tblPr>
                <a:noFill/>
                <a:tableStyleId>{C703648E-0CD3-489F-8C9F-E5423F543BB7}</a:tableStyleId>
              </a:tblPr>
              <a:tblGrid>
                <a:gridCol w="1496325"/>
                <a:gridCol w="1106050"/>
                <a:gridCol w="1157925"/>
                <a:gridCol w="1107125"/>
                <a:gridCol w="1204725"/>
                <a:gridCol w="1882200"/>
                <a:gridCol w="2062425"/>
                <a:gridCol w="1925900"/>
              </a:tblGrid>
              <a:tr h="543575">
                <a:tc gridSpan="8">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Dependency Network Characteristics</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543575">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Language</a:t>
                      </a:r>
                      <a:endParaRPr sz="2600">
                        <a:solidFill>
                          <a:srgbClr val="141F22"/>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#Nodes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#Edges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Average degree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Diameter</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Connected Components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Largest Component Size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Communities</a:t>
                      </a:r>
                      <a:endParaRPr sz="2600">
                        <a:solidFill>
                          <a:srgbClr val="141F22"/>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(Modularity)</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R*</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6,684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22,024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3.29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334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6,303 (94.3%)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351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Python</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2,419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3,020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2,113 (87.3%)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Julia</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1,711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5,440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3.18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1,691 (98.8%)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lgn="l">
                        <a:spcBef>
                          <a:spcPts val="0"/>
                        </a:spcBef>
                        <a:spcAft>
                          <a:spcPts val="0"/>
                        </a:spcAft>
                        <a:buNone/>
                      </a:pPr>
                      <a:r>
                        <a:rPr b="1" lang="en" sz="2600">
                          <a:solidFill>
                            <a:srgbClr val="666666"/>
                          </a:solidFill>
                          <a:latin typeface="Barlow Condensed"/>
                          <a:ea typeface="Barlow Condensed"/>
                          <a:cs typeface="Barlow Condensed"/>
                          <a:sym typeface="Barlow Condensed"/>
                        </a:rPr>
                        <a:t>JavaScript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1,279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2,591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2.02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1,255 (98.1%)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85" name="Google Shape;85;p13"/>
          <p:cNvPicPr preferRelativeResize="0"/>
          <p:nvPr/>
        </p:nvPicPr>
        <p:blipFill>
          <a:blip r:embed="rId9">
            <a:alphaModFix/>
          </a:blip>
          <a:stretch>
            <a:fillRect/>
          </a:stretch>
        </p:blipFill>
        <p:spPr>
          <a:xfrm>
            <a:off x="1013700" y="19726275"/>
            <a:ext cx="9582150" cy="1276350"/>
          </a:xfrm>
          <a:prstGeom prst="rect">
            <a:avLst/>
          </a:prstGeom>
          <a:noFill/>
          <a:ln>
            <a:noFill/>
          </a:ln>
        </p:spPr>
      </p:pic>
      <p:sp>
        <p:nvSpPr>
          <p:cNvPr id="86" name="Google Shape;86;p13"/>
          <p:cNvSpPr txBox="1"/>
          <p:nvPr/>
        </p:nvSpPr>
        <p:spPr>
          <a:xfrm rot="-5400000">
            <a:off x="10277863" y="17059275"/>
            <a:ext cx="1250400" cy="69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141F22"/>
                </a:solidFill>
                <a:latin typeface="Barlow Condensed"/>
                <a:ea typeface="Barlow Condensed"/>
                <a:cs typeface="Barlow Condensed"/>
                <a:sym typeface="Barlow Condensed"/>
              </a:rPr>
              <a:t>Log (KLOC)</a:t>
            </a:r>
            <a:endParaRPr sz="2000">
              <a:latin typeface="Barlow Condensed"/>
              <a:ea typeface="Barlow Condensed"/>
              <a:cs typeface="Barlow Condensed"/>
              <a:sym typeface="Barlow Condensed"/>
            </a:endParaRPr>
          </a:p>
        </p:txBody>
      </p:sp>
      <p:sp>
        <p:nvSpPr>
          <p:cNvPr id="87" name="Google Shape;87;p13"/>
          <p:cNvSpPr txBox="1"/>
          <p:nvPr/>
        </p:nvSpPr>
        <p:spPr>
          <a:xfrm>
            <a:off x="11404375" y="15868175"/>
            <a:ext cx="44451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Total Thousands of Lines of Code (KLOC)</a:t>
            </a:r>
            <a:endParaRPr sz="2400">
              <a:latin typeface="Barlow Condensed"/>
              <a:ea typeface="Barlow Condensed"/>
              <a:cs typeface="Barlow Condensed"/>
              <a:sym typeface="Barlow Condensed"/>
            </a:endParaRPr>
          </a:p>
        </p:txBody>
      </p:sp>
      <p:sp>
        <p:nvSpPr>
          <p:cNvPr id="88" name="Google Shape;88;p13"/>
          <p:cNvSpPr txBox="1"/>
          <p:nvPr/>
        </p:nvSpPr>
        <p:spPr>
          <a:xfrm>
            <a:off x="12040475" y="1985222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Total Number of Contributors</a:t>
            </a:r>
            <a:endParaRPr sz="2400">
              <a:latin typeface="Barlow Condensed"/>
              <a:ea typeface="Barlow Condensed"/>
              <a:cs typeface="Barlow Condensed"/>
              <a:sym typeface="Barlow Condensed"/>
            </a:endParaRPr>
          </a:p>
        </p:txBody>
      </p:sp>
      <p:sp>
        <p:nvSpPr>
          <p:cNvPr id="89" name="Google Shape;89;p13"/>
          <p:cNvSpPr txBox="1"/>
          <p:nvPr/>
        </p:nvSpPr>
        <p:spPr>
          <a:xfrm rot="-5400000">
            <a:off x="10302563" y="21707375"/>
            <a:ext cx="1250400" cy="69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141F22"/>
                </a:solidFill>
                <a:latin typeface="Barlow Condensed"/>
                <a:ea typeface="Barlow Condensed"/>
                <a:cs typeface="Barlow Condensed"/>
                <a:sym typeface="Barlow Condensed"/>
              </a:rPr>
              <a:t>Log (Count)</a:t>
            </a:r>
            <a:endParaRPr sz="2000">
              <a:latin typeface="Barlow Condensed"/>
              <a:ea typeface="Barlow Condensed"/>
              <a:cs typeface="Barlow Condensed"/>
              <a:sym typeface="Barlow Condensed"/>
            </a:endParaRPr>
          </a:p>
        </p:txBody>
      </p:sp>
      <p:sp>
        <p:nvSpPr>
          <p:cNvPr id="90" name="Google Shape;90;p13"/>
          <p:cNvSpPr txBox="1"/>
          <p:nvPr/>
        </p:nvSpPr>
        <p:spPr>
          <a:xfrm>
            <a:off x="1048775" y="24292075"/>
            <a:ext cx="338238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4800">
                <a:solidFill>
                  <a:srgbClr val="FFFFFF"/>
                </a:solidFill>
                <a:latin typeface="Barlow Condensed"/>
                <a:ea typeface="Barlow Condensed"/>
                <a:cs typeface="Barlow Condensed"/>
                <a:sym typeface="Barlow Condensed"/>
              </a:rPr>
              <a:t>Results </a:t>
            </a:r>
            <a:endParaRPr b="1" sz="4800">
              <a:solidFill>
                <a:srgbClr val="FFFFFF"/>
              </a:solidFill>
              <a:latin typeface="Barlow Condensed"/>
              <a:ea typeface="Barlow Condensed"/>
              <a:cs typeface="Barlow Condensed"/>
              <a:sym typeface="Barlow Condensed"/>
            </a:endParaRPr>
          </a:p>
        </p:txBody>
      </p:sp>
      <p:sp>
        <p:nvSpPr>
          <p:cNvPr id="91" name="Google Shape;91;p13"/>
          <p:cNvSpPr txBox="1"/>
          <p:nvPr/>
        </p:nvSpPr>
        <p:spPr>
          <a:xfrm>
            <a:off x="28394675" y="21922475"/>
            <a:ext cx="6672000" cy="220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A subgraph of the R dependency network. The size of the node is proportional to the out-degree, i.e., number of packages that reuses the package, and the different colors indicate communities (different uses of R) identified using the modularity algorithm [4] implemented in Gephi [5]. The small communities (less than 5%) are removed for illustration. </a:t>
            </a:r>
            <a:endParaRPr sz="2400">
              <a:latin typeface="Barlow Condensed"/>
              <a:ea typeface="Barlow Condensed"/>
              <a:cs typeface="Barlow Condensed"/>
              <a:sym typeface="Barlow Condensed"/>
            </a:endParaRPr>
          </a:p>
        </p:txBody>
      </p:sp>
      <p:pic>
        <p:nvPicPr>
          <p:cNvPr id="92" name="Google Shape;92;p13"/>
          <p:cNvPicPr preferRelativeResize="0"/>
          <p:nvPr/>
        </p:nvPicPr>
        <p:blipFill>
          <a:blip r:embed="rId10">
            <a:alphaModFix/>
          </a:blip>
          <a:stretch>
            <a:fillRect/>
          </a:stretch>
        </p:blipFill>
        <p:spPr>
          <a:xfrm>
            <a:off x="33181650" y="3302388"/>
            <a:ext cx="1581150" cy="1590675"/>
          </a:xfrm>
          <a:prstGeom prst="rect">
            <a:avLst/>
          </a:prstGeom>
          <a:noFill/>
          <a:ln>
            <a:noFill/>
          </a:ln>
        </p:spPr>
      </p:pic>
      <p:sp>
        <p:nvSpPr>
          <p:cNvPr id="93" name="Google Shape;93;p13"/>
          <p:cNvSpPr txBox="1"/>
          <p:nvPr/>
        </p:nvSpPr>
        <p:spPr>
          <a:xfrm>
            <a:off x="767125" y="25148375"/>
            <a:ext cx="134250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estimate the cost of all packages that use R, Python, Julia and JavaScript.  We obtain </a:t>
            </a:r>
            <a:r>
              <a:rPr b="1" i="1" lang="en" sz="3000">
                <a:solidFill>
                  <a:srgbClr val="1C4587"/>
                </a:solidFill>
                <a:latin typeface="Barlow Condensed"/>
                <a:ea typeface="Barlow Condensed"/>
                <a:cs typeface="Barlow Condensed"/>
                <a:sym typeface="Barlow Condensed"/>
              </a:rPr>
              <a:t>power-law distributions</a:t>
            </a:r>
            <a:r>
              <a:rPr lang="en" sz="3000">
                <a:solidFill>
                  <a:srgbClr val="141F22"/>
                </a:solidFill>
                <a:latin typeface="Barlow Condensed"/>
                <a:ea typeface="Barlow Condensed"/>
                <a:cs typeface="Barlow Condensed"/>
                <a:sym typeface="Barlow Condensed"/>
              </a:rPr>
              <a:t> for all languages, which is also found in bibliometrics and patents.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The density plots and the boxplots are given below.</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94" name="Google Shape;94;p13"/>
          <p:cNvSpPr txBox="1"/>
          <p:nvPr/>
        </p:nvSpPr>
        <p:spPr>
          <a:xfrm>
            <a:off x="16380100" y="14523950"/>
            <a:ext cx="184926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Value of Open Source Software</a:t>
            </a:r>
            <a:endParaRPr b="1" sz="4400">
              <a:solidFill>
                <a:srgbClr val="FFFFFF"/>
              </a:solidFill>
              <a:latin typeface="Barlow Condensed"/>
              <a:ea typeface="Barlow Condensed"/>
              <a:cs typeface="Barlow Condensed"/>
              <a:sym typeface="Barlow Condensed"/>
            </a:endParaRPr>
          </a:p>
        </p:txBody>
      </p:sp>
      <p:sp>
        <p:nvSpPr>
          <p:cNvPr id="95" name="Google Shape;95;p13"/>
          <p:cNvSpPr txBox="1"/>
          <p:nvPr/>
        </p:nvSpPr>
        <p:spPr>
          <a:xfrm>
            <a:off x="8608675" y="2685057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Total Cost of Packages (log)</a:t>
            </a:r>
            <a:endParaRPr sz="2400">
              <a:latin typeface="Barlow Condensed"/>
              <a:ea typeface="Barlow Condensed"/>
              <a:cs typeface="Barlow Condensed"/>
              <a:sym typeface="Barlow Condensed"/>
            </a:endParaRPr>
          </a:p>
        </p:txBody>
      </p:sp>
      <p:pic>
        <p:nvPicPr>
          <p:cNvPr id="96" name="Google Shape;96;p13"/>
          <p:cNvPicPr preferRelativeResize="0"/>
          <p:nvPr/>
        </p:nvPicPr>
        <p:blipFill>
          <a:blip r:embed="rId11">
            <a:alphaModFix/>
          </a:blip>
          <a:stretch>
            <a:fillRect/>
          </a:stretch>
        </p:blipFill>
        <p:spPr>
          <a:xfrm>
            <a:off x="29084950" y="26555225"/>
            <a:ext cx="5241551" cy="4796235"/>
          </a:xfrm>
          <a:prstGeom prst="rect">
            <a:avLst/>
          </a:prstGeom>
          <a:noFill/>
          <a:ln>
            <a:noFill/>
          </a:ln>
        </p:spPr>
      </p:pic>
      <p:sp>
        <p:nvSpPr>
          <p:cNvPr id="97" name="Google Shape;97;p13"/>
          <p:cNvSpPr txBox="1"/>
          <p:nvPr/>
        </p:nvSpPr>
        <p:spPr>
          <a:xfrm>
            <a:off x="24945775" y="32198325"/>
            <a:ext cx="98169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4800">
                <a:solidFill>
                  <a:srgbClr val="FFFFFF"/>
                </a:solidFill>
                <a:latin typeface="Barlow Condensed"/>
                <a:ea typeface="Barlow Condensed"/>
                <a:cs typeface="Barlow Condensed"/>
                <a:sym typeface="Barlow Condensed"/>
              </a:rPr>
              <a:t>Next Steps</a:t>
            </a:r>
            <a:endParaRPr b="1" i="0" sz="4800">
              <a:solidFill>
                <a:srgbClr val="FFFFFF"/>
              </a:solidFill>
              <a:latin typeface="Barlow Condensed"/>
              <a:ea typeface="Barlow Condensed"/>
              <a:cs typeface="Barlow Condensed"/>
              <a:sym typeface="Barlow Condensed"/>
            </a:endParaRPr>
          </a:p>
        </p:txBody>
      </p:sp>
      <p:sp>
        <p:nvSpPr>
          <p:cNvPr id="98" name="Google Shape;98;p13"/>
          <p:cNvSpPr/>
          <p:nvPr/>
        </p:nvSpPr>
        <p:spPr>
          <a:xfrm>
            <a:off x="5098550" y="10249725"/>
            <a:ext cx="4407600" cy="891900"/>
          </a:xfrm>
          <a:prstGeom prst="chevron">
            <a:avLst>
              <a:gd fmla="val 50000" name="adj"/>
            </a:avLst>
          </a:prstGeom>
          <a:solidFill>
            <a:srgbClr val="741B4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Registry</a:t>
            </a:r>
            <a:endParaRPr sz="3000">
              <a:solidFill>
                <a:srgbClr val="FFFFFF"/>
              </a:solidFill>
              <a:latin typeface="Barlow Condensed"/>
              <a:ea typeface="Barlow Condensed"/>
              <a:cs typeface="Barlow Condensed"/>
              <a:sym typeface="Barlow Condensed"/>
            </a:endParaRPr>
          </a:p>
        </p:txBody>
      </p:sp>
      <p:sp>
        <p:nvSpPr>
          <p:cNvPr id="99" name="Google Shape;99;p13"/>
          <p:cNvSpPr/>
          <p:nvPr/>
        </p:nvSpPr>
        <p:spPr>
          <a:xfrm>
            <a:off x="16757149" y="10249725"/>
            <a:ext cx="5332500" cy="891900"/>
          </a:xfrm>
          <a:prstGeom prst="chevron">
            <a:avLst>
              <a:gd fmla="val 50000" name="adj"/>
            </a:avLst>
          </a:prstGeom>
          <a:solidFill>
            <a:srgbClr val="D5A6B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chemeClr val="lt1"/>
                </a:solidFill>
                <a:latin typeface="Barlow Condensed"/>
                <a:ea typeface="Barlow Condensed"/>
                <a:cs typeface="Barlow Condensed"/>
                <a:sym typeface="Barlow Condensed"/>
              </a:rPr>
              <a:t>Project Code (Github)</a:t>
            </a:r>
            <a:endParaRPr sz="3000">
              <a:solidFill>
                <a:srgbClr val="FFFFFF"/>
              </a:solidFill>
              <a:latin typeface="Barlow Condensed"/>
              <a:ea typeface="Barlow Condensed"/>
              <a:cs typeface="Barlow Condensed"/>
              <a:sym typeface="Barlow Condensed"/>
            </a:endParaRPr>
          </a:p>
        </p:txBody>
      </p:sp>
      <p:sp>
        <p:nvSpPr>
          <p:cNvPr id="100" name="Google Shape;100;p13"/>
          <p:cNvSpPr txBox="1"/>
          <p:nvPr/>
        </p:nvSpPr>
        <p:spPr>
          <a:xfrm>
            <a:off x="16424725" y="22527675"/>
            <a:ext cx="11764200" cy="15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141F22"/>
                </a:solidFill>
                <a:latin typeface="Barlow Condensed"/>
                <a:ea typeface="Barlow Condensed"/>
                <a:cs typeface="Barlow Condensed"/>
                <a:sym typeface="Barlow Condensed"/>
              </a:rPr>
              <a:t>*Includes both dependencies and imports. Standard libraries that are supplied with R  (e.g., stats, utils, graphics) are removed.</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Average degree</a:t>
            </a:r>
            <a:r>
              <a:rPr lang="en" sz="2000">
                <a:solidFill>
                  <a:srgbClr val="141F22"/>
                </a:solidFill>
                <a:latin typeface="Barlow Condensed"/>
                <a:ea typeface="Barlow Condensed"/>
                <a:cs typeface="Barlow Condensed"/>
                <a:sym typeface="Barlow Condensed"/>
              </a:rPr>
              <a:t> (indegree and outdegree) indicates the average number of packages that they depend on (and are used by).</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Diameter</a:t>
            </a:r>
            <a:r>
              <a:rPr lang="en" sz="2000">
                <a:solidFill>
                  <a:srgbClr val="141F22"/>
                </a:solidFill>
                <a:latin typeface="Barlow Condensed"/>
                <a:ea typeface="Barlow Condensed"/>
                <a:cs typeface="Barlow Condensed"/>
                <a:sym typeface="Barlow Condensed"/>
              </a:rPr>
              <a:t> is the shortest distance between the two most distant nodes in the network.</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(Weakly) Connected components</a:t>
            </a:r>
            <a:r>
              <a:rPr lang="en" sz="2000">
                <a:solidFill>
                  <a:srgbClr val="141F22"/>
                </a:solidFill>
                <a:latin typeface="Barlow Condensed"/>
                <a:ea typeface="Barlow Condensed"/>
                <a:cs typeface="Barlow Condensed"/>
                <a:sym typeface="Barlow Condensed"/>
              </a:rPr>
              <a:t> are subgraphs such that there is an undirected path from every pair of nodes in the subgraph.</a:t>
            </a:r>
            <a:endParaRPr sz="2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2000" u="sng">
                <a:solidFill>
                  <a:srgbClr val="141F22"/>
                </a:solidFill>
                <a:latin typeface="Barlow Condensed"/>
                <a:ea typeface="Barlow Condensed"/>
                <a:cs typeface="Barlow Condensed"/>
                <a:sym typeface="Barlow Condensed"/>
              </a:rPr>
              <a:t>Communities</a:t>
            </a:r>
            <a:r>
              <a:rPr lang="en" sz="2000">
                <a:solidFill>
                  <a:srgbClr val="141F22"/>
                </a:solidFill>
                <a:latin typeface="Barlow Condensed"/>
                <a:ea typeface="Barlow Condensed"/>
                <a:cs typeface="Barlow Condensed"/>
                <a:sym typeface="Barlow Condensed"/>
              </a:rPr>
              <a:t> are detected using modularity algorithm [4] that identifies densely connected subgraphs of the network. </a:t>
            </a:r>
            <a:endParaRPr sz="2000">
              <a:solidFill>
                <a:srgbClr val="141F22"/>
              </a:solidFill>
              <a:latin typeface="Barlow Condensed"/>
              <a:ea typeface="Barlow Condensed"/>
              <a:cs typeface="Barlow Condensed"/>
              <a:sym typeface="Barlow Condensed"/>
            </a:endParaRPr>
          </a:p>
        </p:txBody>
      </p:sp>
      <p:sp>
        <p:nvSpPr>
          <p:cNvPr id="101" name="Google Shape;101;p13"/>
          <p:cNvSpPr txBox="1"/>
          <p:nvPr/>
        </p:nvSpPr>
        <p:spPr>
          <a:xfrm>
            <a:off x="28646475" y="25643825"/>
            <a:ext cx="65238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2600">
                <a:solidFill>
                  <a:srgbClr val="141F22"/>
                </a:solidFill>
                <a:latin typeface="Barlow Condensed"/>
                <a:ea typeface="Barlow Condensed"/>
                <a:cs typeface="Barlow Condensed"/>
                <a:sym typeface="Barlow Condensed"/>
              </a:rPr>
              <a:t>Heatmap of the Pearson correlation between the log(cost) and network characteristics of packages</a:t>
            </a:r>
            <a:endParaRPr sz="2600">
              <a:solidFill>
                <a:srgbClr val="141F22"/>
              </a:solidFill>
              <a:latin typeface="Barlow Condensed"/>
              <a:ea typeface="Barlow Condensed"/>
              <a:cs typeface="Barlow Condensed"/>
              <a:sym typeface="Barlow Condensed"/>
            </a:endParaRPr>
          </a:p>
        </p:txBody>
      </p:sp>
      <p:sp>
        <p:nvSpPr>
          <p:cNvPr id="102" name="Google Shape;102;p13"/>
          <p:cNvSpPr txBox="1"/>
          <p:nvPr/>
        </p:nvSpPr>
        <p:spPr>
          <a:xfrm>
            <a:off x="24311800" y="25281575"/>
            <a:ext cx="4445100" cy="6656400"/>
          </a:xfrm>
          <a:prstGeom prst="rect">
            <a:avLst/>
          </a:prstGeom>
          <a:noFill/>
          <a:ln>
            <a:noFill/>
          </a:ln>
        </p:spPr>
        <p:txBody>
          <a:bodyPr anchorCtr="0" anchor="t" bIns="156150" lIns="312475" spcFirstLastPara="1" rIns="312475" wrap="square" tIns="156150">
            <a:noAutofit/>
          </a:bodyPr>
          <a:lstStyle/>
          <a:p>
            <a:pPr indent="-419100" lvl="0" marL="457200" marR="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do not observe a consistent pattern between cost and value.</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heatmap also shows that the correlation between the log(cost) of packages and network characteristics is low and positive for most of the features. In-degree (the number of used pkgs) has the highest positive correlation with cost for all the languages.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graphicFrame>
        <p:nvGraphicFramePr>
          <p:cNvPr id="103" name="Google Shape;103;p13"/>
          <p:cNvGraphicFramePr/>
          <p:nvPr/>
        </p:nvGraphicFramePr>
        <p:xfrm>
          <a:off x="13502813" y="25357763"/>
          <a:ext cx="3000000" cy="3000000"/>
        </p:xfrm>
        <a:graphic>
          <a:graphicData uri="http://schemas.openxmlformats.org/drawingml/2006/table">
            <a:tbl>
              <a:tblPr>
                <a:noFill/>
                <a:tableStyleId>{C703648E-0CD3-489F-8C9F-E5423F543BB7}</a:tableStyleId>
              </a:tblPr>
              <a:tblGrid>
                <a:gridCol w="1029400"/>
                <a:gridCol w="1517500"/>
                <a:gridCol w="1446000"/>
                <a:gridCol w="1426425"/>
                <a:gridCol w="1443725"/>
                <a:gridCol w="1406575"/>
                <a:gridCol w="1348100"/>
                <a:gridCol w="1303175"/>
              </a:tblGrid>
              <a:tr h="55475">
                <a:tc gridSpan="8">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Selected network features and costs of top packages with the highest out-degree</a:t>
                      </a:r>
                      <a:r>
                        <a:rPr lang="en" sz="2800">
                          <a:latin typeface="Barlow Condensed"/>
                          <a:ea typeface="Barlow Condensed"/>
                          <a:cs typeface="Barlow Condensed"/>
                          <a:sym typeface="Barlow Condensed"/>
                        </a:rPr>
                        <a:t> </a:t>
                      </a:r>
                      <a:endParaRPr sz="28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a:txBody>
                    <a:bodyPr>
                      <a:noAutofit/>
                    </a:bodyPr>
                    <a:lstStyle/>
                    <a:p>
                      <a:pPr indent="0" lvl="0" marL="0" rtl="0" algn="ctr">
                        <a:spcBef>
                          <a:spcPts val="0"/>
                        </a:spcBef>
                        <a:spcAft>
                          <a:spcPts val="0"/>
                        </a:spcAft>
                        <a:buNone/>
                      </a:pPr>
                      <a:r>
                        <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Package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Outdegree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Indegree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Closeness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Between-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Eigen-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centrality</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Cost</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R</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ggplot2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925</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0.73</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19.5K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984K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Rcpp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838</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0.50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871K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dplyr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626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793K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rowSpan="4">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Python</a:t>
                      </a:r>
                      <a:r>
                        <a:rPr b="1" lang="en" sz="2400">
                          <a:solidFill>
                            <a:schemeClr val="dk1"/>
                          </a:solidFill>
                          <a:latin typeface="Barlow Condensed"/>
                          <a:ea typeface="Barlow Condensed"/>
                          <a:cs typeface="Barlow Condensed"/>
                          <a:sym typeface="Barlow Condensed"/>
                        </a:rPr>
                        <a:t> </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requests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735</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583K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setuptools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0.71</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503K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scipy</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131</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0.96</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2.34M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Django</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1.85M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Julia</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Compat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596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Distributions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147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1.7K</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480K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StatsBase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277K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CDNJS</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mocha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468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629K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gulp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438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0.93</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801</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chai</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258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0.86</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573K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bl>
          </a:graphicData>
        </a:graphic>
      </p:graphicFrame>
      <p:sp>
        <p:nvSpPr>
          <p:cNvPr id="104" name="Google Shape;104;p13"/>
          <p:cNvSpPr txBox="1"/>
          <p:nvPr/>
        </p:nvSpPr>
        <p:spPr>
          <a:xfrm>
            <a:off x="2303125" y="26892550"/>
            <a:ext cx="38370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141F22"/>
                </a:solidFill>
                <a:latin typeface="Barlow Condensed"/>
                <a:ea typeface="Barlow Condensed"/>
                <a:cs typeface="Barlow Condensed"/>
                <a:sym typeface="Barlow Condensed"/>
              </a:rPr>
              <a:t>Density Plots of Log(Cost)</a:t>
            </a:r>
            <a:endParaRPr sz="2400">
              <a:latin typeface="Barlow Condensed"/>
              <a:ea typeface="Barlow Condensed"/>
              <a:cs typeface="Barlow Condensed"/>
              <a:sym typeface="Barlow Condensed"/>
            </a:endParaRPr>
          </a:p>
        </p:txBody>
      </p:sp>
      <p:sp>
        <p:nvSpPr>
          <p:cNvPr id="105" name="Google Shape;105;p13"/>
          <p:cNvSpPr txBox="1"/>
          <p:nvPr/>
        </p:nvSpPr>
        <p:spPr>
          <a:xfrm>
            <a:off x="24645575" y="32873850"/>
            <a:ext cx="9962100" cy="1276200"/>
          </a:xfrm>
          <a:prstGeom prst="rect">
            <a:avLst/>
          </a:prstGeom>
          <a:noFill/>
          <a:ln>
            <a:noFill/>
          </a:ln>
        </p:spPr>
        <p:txBody>
          <a:bodyPr anchorCtr="0" anchor="t" bIns="156150" lIns="312475" spcFirstLastPara="1" rIns="312475" wrap="square" tIns="156150">
            <a:noAutofit/>
          </a:bodyPr>
          <a:lstStyle/>
          <a:p>
            <a:pPr indent="-419100" lvl="0" marL="457200" marR="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Collect author information (e.g., organization, country) to categorize OSS investment by sector and country.</a:t>
            </a:r>
            <a:endParaRPr sz="3000">
              <a:solidFill>
                <a:srgbClr val="141F22"/>
              </a:solidFill>
              <a:latin typeface="Barlow Condensed"/>
              <a:ea typeface="Barlow Condensed"/>
              <a:cs typeface="Barlow Condensed"/>
              <a:sym typeface="Barlow Condensed"/>
            </a:endParaRPr>
          </a:p>
          <a:p>
            <a:pPr indent="-419100" lvl="0" marL="457200" marR="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Analyze the contributor network to identify influential developers.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106" name="Google Shape;106;p13"/>
          <p:cNvSpPr/>
          <p:nvPr/>
        </p:nvSpPr>
        <p:spPr>
          <a:xfrm>
            <a:off x="23334700" y="9808625"/>
            <a:ext cx="8968900" cy="4543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16316975" y="18131825"/>
            <a:ext cx="11942675" cy="4364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1379575" y="31823675"/>
            <a:ext cx="11325400" cy="49794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13498325" y="25357775"/>
            <a:ext cx="10920900" cy="91963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a:blip r:embed="rId12">
            <a:alphaModFix/>
          </a:blip>
          <a:stretch>
            <a:fillRect/>
          </a:stretch>
        </p:blipFill>
        <p:spPr>
          <a:xfrm>
            <a:off x="7321925" y="27244925"/>
            <a:ext cx="5950031" cy="4479875"/>
          </a:xfrm>
          <a:prstGeom prst="rect">
            <a:avLst/>
          </a:prstGeom>
          <a:noFill/>
          <a:ln>
            <a:noFill/>
          </a:ln>
        </p:spPr>
      </p:pic>
      <p:sp>
        <p:nvSpPr>
          <p:cNvPr id="111" name="Google Shape;111;p13"/>
          <p:cNvSpPr txBox="1"/>
          <p:nvPr/>
        </p:nvSpPr>
        <p:spPr>
          <a:xfrm>
            <a:off x="13476875" y="34623650"/>
            <a:ext cx="10972800" cy="26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Definitions: </a:t>
            </a:r>
            <a:r>
              <a:rPr lang="en" sz="2400" u="sng">
                <a:solidFill>
                  <a:schemeClr val="dk1"/>
                </a:solidFill>
                <a:latin typeface="Barlow Condensed"/>
                <a:ea typeface="Barlow Condensed"/>
                <a:cs typeface="Barlow Condensed"/>
                <a:sym typeface="Barlow Condensed"/>
              </a:rPr>
              <a:t>Outdegree</a:t>
            </a:r>
            <a:r>
              <a:rPr lang="en" sz="2400">
                <a:solidFill>
                  <a:schemeClr val="dk1"/>
                </a:solidFill>
                <a:latin typeface="Barlow Condensed"/>
                <a:ea typeface="Barlow Condensed"/>
                <a:cs typeface="Barlow Condensed"/>
                <a:sym typeface="Barlow Condensed"/>
              </a:rPr>
              <a:t> (</a:t>
            </a:r>
            <a:r>
              <a:rPr lang="en" sz="2400" u="sng">
                <a:solidFill>
                  <a:schemeClr val="dk1"/>
                </a:solidFill>
                <a:latin typeface="Barlow Condensed"/>
                <a:ea typeface="Barlow Condensed"/>
                <a:cs typeface="Barlow Condensed"/>
                <a:sym typeface="Barlow Condensed"/>
              </a:rPr>
              <a:t>indegree</a:t>
            </a:r>
            <a:r>
              <a:rPr lang="en" sz="2400">
                <a:solidFill>
                  <a:schemeClr val="dk1"/>
                </a:solidFill>
                <a:latin typeface="Barlow Condensed"/>
                <a:ea typeface="Barlow Condensed"/>
                <a:cs typeface="Barlow Condensed"/>
                <a:sym typeface="Barlow Condensed"/>
              </a:rPr>
              <a:t>, respectively) is the total number of outgoing (incoming) links, i.e., the number of packages that depend on (are required by) the package. </a:t>
            </a:r>
            <a:r>
              <a:rPr lang="en" sz="2400" u="sng">
                <a:solidFill>
                  <a:schemeClr val="dk1"/>
                </a:solidFill>
                <a:latin typeface="Barlow Condensed"/>
                <a:ea typeface="Barlow Condensed"/>
                <a:cs typeface="Barlow Condensed"/>
                <a:sym typeface="Barlow Condensed"/>
              </a:rPr>
              <a:t>Closeness centrality </a:t>
            </a:r>
            <a:r>
              <a:rPr lang="en" sz="2400">
                <a:solidFill>
                  <a:schemeClr val="dk1"/>
                </a:solidFill>
                <a:latin typeface="Barlow Condensed"/>
                <a:ea typeface="Barlow Condensed"/>
                <a:cs typeface="Barlow Condensed"/>
                <a:sym typeface="Barlow Condensed"/>
              </a:rPr>
              <a:t>measures how close a node is to every other node. </a:t>
            </a:r>
            <a:r>
              <a:rPr lang="en" sz="2400" u="sng">
                <a:solidFill>
                  <a:schemeClr val="dk1"/>
                </a:solidFill>
                <a:latin typeface="Barlow Condensed"/>
                <a:ea typeface="Barlow Condensed"/>
                <a:cs typeface="Barlow Condensed"/>
                <a:sym typeface="Barlow Condensed"/>
              </a:rPr>
              <a:t>Betweenness</a:t>
            </a:r>
            <a:r>
              <a:rPr lang="en" sz="2400">
                <a:solidFill>
                  <a:schemeClr val="dk1"/>
                </a:solidFill>
                <a:latin typeface="Barlow Condensed"/>
                <a:ea typeface="Barlow Condensed"/>
                <a:cs typeface="Barlow Condensed"/>
                <a:sym typeface="Barlow Condensed"/>
              </a:rPr>
              <a:t> is a measure of being connected to other nodes that are not connected to each other (as a bridge). </a:t>
            </a:r>
            <a:r>
              <a:rPr lang="en" sz="2400" u="sng">
                <a:solidFill>
                  <a:schemeClr val="dk1"/>
                </a:solidFill>
                <a:latin typeface="Barlow Condensed"/>
                <a:ea typeface="Barlow Condensed"/>
                <a:cs typeface="Barlow Condensed"/>
                <a:sym typeface="Barlow Condensed"/>
              </a:rPr>
              <a:t>PageRank </a:t>
            </a:r>
            <a:r>
              <a:rPr lang="en" sz="2400">
                <a:solidFill>
                  <a:schemeClr val="dk1"/>
                </a:solidFill>
                <a:latin typeface="Barlow Condensed"/>
                <a:ea typeface="Barlow Condensed"/>
                <a:cs typeface="Barlow Condensed"/>
                <a:sym typeface="Barlow Condensed"/>
              </a:rPr>
              <a:t>depends on (i) the number of links the node receives, (ii) the number of links given out by its neighbors, (iii) the centrality of its neighbors. </a:t>
            </a:r>
            <a:r>
              <a:rPr lang="en" sz="2400" u="sng">
                <a:solidFill>
                  <a:schemeClr val="dk1"/>
                </a:solidFill>
                <a:latin typeface="Barlow Condensed"/>
                <a:ea typeface="Barlow Condensed"/>
                <a:cs typeface="Barlow Condensed"/>
                <a:sym typeface="Barlow Condensed"/>
              </a:rPr>
              <a:t>Clustering coefficient</a:t>
            </a:r>
            <a:r>
              <a:rPr lang="en" sz="2400">
                <a:solidFill>
                  <a:schemeClr val="dk1"/>
                </a:solidFill>
                <a:latin typeface="Barlow Condensed"/>
                <a:ea typeface="Barlow Condensed"/>
                <a:cs typeface="Barlow Condensed"/>
                <a:sym typeface="Barlow Condensed"/>
              </a:rPr>
              <a:t> quantifies the degree to which a node’s neighbors are connected. </a:t>
            </a:r>
            <a:r>
              <a:rPr lang="en" sz="2400" u="sng">
                <a:solidFill>
                  <a:schemeClr val="dk1"/>
                </a:solidFill>
                <a:latin typeface="Barlow Condensed"/>
                <a:ea typeface="Barlow Condensed"/>
                <a:cs typeface="Barlow Condensed"/>
                <a:sym typeface="Barlow Condensed"/>
              </a:rPr>
              <a:t>Eigencentrality</a:t>
            </a:r>
            <a:r>
              <a:rPr lang="en" sz="2400">
                <a:solidFill>
                  <a:schemeClr val="dk1"/>
                </a:solidFill>
                <a:latin typeface="Barlow Condensed"/>
                <a:ea typeface="Barlow Condensed"/>
                <a:cs typeface="Barlow Condensed"/>
                <a:sym typeface="Barlow Condensed"/>
              </a:rPr>
              <a:t> of a node takes into account the centrality of its neighbors.</a:t>
            </a:r>
            <a:endParaRPr/>
          </a:p>
        </p:txBody>
      </p:sp>
      <p:pic>
        <p:nvPicPr>
          <p:cNvPr id="112" name="Google Shape;112;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77EC3AD-AE88-4DB4-8DD2-6509ED49584B}"/>
</file>

<file path=customXml/itemProps2.xml><?xml version="1.0" encoding="utf-8"?>
<ds:datastoreItem xmlns:ds="http://schemas.openxmlformats.org/officeDocument/2006/customXml" ds:itemID="{41FFC8C5-BB9A-4B68-A11F-5880E98220C4}"/>
</file>

<file path=customXml/itemProps3.xml><?xml version="1.0" encoding="utf-8"?>
<ds:datastoreItem xmlns:ds="http://schemas.openxmlformats.org/officeDocument/2006/customXml" ds:itemID="{ACBF6B07-0D7E-4351-B7A4-930504AA16DB}"/>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