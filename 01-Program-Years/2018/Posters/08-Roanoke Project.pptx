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769">
          <p15:clr>
            <a:srgbClr val="A4A3A4"/>
          </p15:clr>
        </p15:guide>
        <p15:guide id="2" orient="horz" pos="106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769" orient="horz"/>
        <p:guide pos="10690" orient="horz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BarlowCondensed-bold.fntdata"/><Relationship Id="rId13" Type="http://schemas.openxmlformats.org/officeDocument/2006/relationships/customXml" Target="../customXml/item3.xml"/><Relationship Id="rId3" Type="http://schemas.openxmlformats.org/officeDocument/2006/relationships/presProps" Target="presProps.xml"/><Relationship Id="rId7" Type="http://schemas.openxmlformats.org/officeDocument/2006/relationships/font" Target="fonts/BarlowCondensed-regular.fntdata"/><Relationship Id="rId12" Type="http://schemas.openxmlformats.org/officeDocument/2006/relationships/customXml" Target="../customXml/item2.xml"/><Relationship Id="rId2" Type="http://schemas.openxmlformats.org/officeDocument/2006/relationships/viewProps" Target="viewProps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openxmlformats.org/officeDocument/2006/relationships/font" Target="fonts/BarlowCondensed-boldItalic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3.jp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21" Type="http://schemas.openxmlformats.org/officeDocument/2006/relationships/image" Target="../media/image10.png"/><Relationship Id="rId13" Type="http://schemas.openxmlformats.org/officeDocument/2006/relationships/image" Target="../media/image9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9" Type="http://schemas.openxmlformats.org/officeDocument/2006/relationships/image" Target="../media/image6.png"/><Relationship Id="rId15" Type="http://schemas.openxmlformats.org/officeDocument/2006/relationships/image" Target="../media/image8.jpg"/><Relationship Id="rId14" Type="http://schemas.openxmlformats.org/officeDocument/2006/relationships/image" Target="../media/image1.jpg"/><Relationship Id="rId17" Type="http://schemas.openxmlformats.org/officeDocument/2006/relationships/image" Target="../media/image15.png"/><Relationship Id="rId16" Type="http://schemas.openxmlformats.org/officeDocument/2006/relationships/image" Target="../media/image16.png"/><Relationship Id="rId5" Type="http://schemas.openxmlformats.org/officeDocument/2006/relationships/image" Target="../media/image18.png"/><Relationship Id="rId19" Type="http://schemas.openxmlformats.org/officeDocument/2006/relationships/image" Target="../media/image17.png"/><Relationship Id="rId6" Type="http://schemas.openxmlformats.org/officeDocument/2006/relationships/image" Target="../media/image5.png"/><Relationship Id="rId18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950" y="28537125"/>
            <a:ext cx="8597699" cy="77469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895150" y="28600508"/>
            <a:ext cx="10367314" cy="819636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13"/>
          <p:cNvGrpSpPr/>
          <p:nvPr/>
        </p:nvGrpSpPr>
        <p:grpSpPr>
          <a:xfrm>
            <a:off x="24024611" y="17639658"/>
            <a:ext cx="11300864" cy="8196467"/>
            <a:chOff x="24024611" y="17639658"/>
            <a:chExt cx="11300864" cy="8196467"/>
          </a:xfrm>
        </p:grpSpPr>
        <p:pic>
          <p:nvPicPr>
            <p:cNvPr id="54" name="Google Shape;54;p13"/>
            <p:cNvPicPr preferRelativeResize="0"/>
            <p:nvPr/>
          </p:nvPicPr>
          <p:blipFill rotWithShape="1">
            <a:blip r:embed="rId4">
              <a:alphaModFix/>
            </a:blip>
            <a:srcRect b="0" l="14235" r="15396" t="0"/>
            <a:stretch/>
          </p:blipFill>
          <p:spPr>
            <a:xfrm>
              <a:off x="24807125" y="18884288"/>
              <a:ext cx="4400549" cy="681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3"/>
            <p:cNvPicPr preferRelativeResize="0"/>
            <p:nvPr/>
          </p:nvPicPr>
          <p:blipFill rotWithShape="1">
            <a:blip r:embed="rId5">
              <a:alphaModFix/>
            </a:blip>
            <a:srcRect b="0" l="11216" r="19927" t="0"/>
            <a:stretch/>
          </p:blipFill>
          <p:spPr>
            <a:xfrm>
              <a:off x="30527225" y="19019275"/>
              <a:ext cx="4400551" cy="6816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13"/>
            <p:cNvSpPr txBox="1"/>
            <p:nvPr/>
          </p:nvSpPr>
          <p:spPr>
            <a:xfrm>
              <a:off x="24024611" y="17639658"/>
              <a:ext cx="5190900" cy="22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(5) Single Subpopulation Attractiveness Index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6">
              <a:alphaModFix/>
            </a:blip>
            <a:srcRect b="0" l="0" r="6933" t="0"/>
            <a:stretch/>
          </p:blipFill>
          <p:spPr>
            <a:xfrm>
              <a:off x="29417200" y="19152800"/>
              <a:ext cx="1400175" cy="63042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 txBox="1"/>
            <p:nvPr/>
          </p:nvSpPr>
          <p:spPr>
            <a:xfrm>
              <a:off x="28154725" y="18011277"/>
              <a:ext cx="32118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Higher</a:t>
              </a:r>
              <a:endParaRPr b="1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Attractiveness</a:t>
              </a:r>
              <a:endParaRPr b="1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30134575" y="17639663"/>
              <a:ext cx="5190900" cy="22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(6) 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Family Subpopulation Attractiveness Index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60" name="Google Shape;60;p13"/>
          <p:cNvSpPr txBox="1"/>
          <p:nvPr/>
        </p:nvSpPr>
        <p:spPr>
          <a:xfrm>
            <a:off x="12658475" y="7465450"/>
            <a:ext cx="11100600" cy="6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829550" y="3296600"/>
            <a:ext cx="273654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Contributors: Davon Woodard, Eirik Iversen, Cory Kim, Doug Mattingly (Virginia Tech), 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Josh Goldstein and Stephanie Shipp (VT SDAL)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2737700" y="5061800"/>
            <a:ext cx="111006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and Concept Mapping</a:t>
            </a:r>
            <a:endParaRPr b="1" sz="48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3716675" y="26874250"/>
            <a:ext cx="107676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Key Findings and Next Steps</a:t>
            </a:r>
            <a:endParaRPr b="1" i="0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221550" y="4038913"/>
            <a:ext cx="16420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Sponsors: Wa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yne Strickland, Executive Director, Roanoke Valley-Alleghany Regional Commission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048775" y="6279400"/>
            <a:ext cx="5805300" cy="9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Issue - Workforce Challenges, for example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80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Long Commutes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Mismatch of job openings &amp; skills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Available child care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Affordable housing options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Objective: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Create Demographic Profiles and Attractiveness Indicators to identify characteristics that appeal to retaining and recruiting a workforce to the region by County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Magisterial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Districts, City Election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Districts, &amp; Roanoke City quadrants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3935825" y="28126600"/>
            <a:ext cx="10518000" cy="9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Key Findings &amp; Potential Policy Actions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Different household types live in different parts of the RVAR region, e.g. singles without a degree live in northwestern and southwestern parts while singles and families with college live closer to Roanoke city and surrounding areas (maps 1-4)</a:t>
            </a:r>
            <a:endParaRPr sz="3600">
              <a:solidFill>
                <a:srgbClr val="222222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Attractiveness patterns across RVAR are similar for singles and families (maps 5-6)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○"/>
            </a:pPr>
            <a:r>
              <a:rPr lang="en" sz="3600">
                <a:solidFill>
                  <a:srgbClr val="222222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The northwest side of Roanoke City and western side of Franklin County have the highest attractiveness values for both singles and families;  Botetourt County is very attractive to families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Transportation options are limited to vehicles for most residents in region; a larger percent of individuals in Craig and Franklin Counties have longer commutes </a:t>
            </a:r>
            <a:r>
              <a:rPr i="1"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(data not shown)</a:t>
            </a:r>
            <a:endParaRPr b="1" i="1"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Next Steps</a:t>
            </a:r>
            <a:endParaRPr b="1"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Examine underlying factors to identify policy options</a:t>
            </a:r>
            <a:endParaRPr b="1"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048775" y="15864175"/>
            <a:ext cx="33698700" cy="11058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Demographic Profile Rankings and </a:t>
            </a: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 Indicators (by County Magisterial Districts or City Election Districts or Quadrants)</a:t>
            </a:r>
            <a:endParaRPr b="1" sz="48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048775" y="5061800"/>
            <a:ext cx="111006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Overview and Goals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2767375" y="26878613"/>
            <a:ext cx="100608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Drug Treatment/Workforce Facilities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896375" y="26878625"/>
            <a:ext cx="109155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Transportation Options</a:t>
            </a:r>
            <a:endParaRPr b="1" i="0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3235325" y="38277225"/>
            <a:ext cx="83439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Acknowledgements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14672" y="39045348"/>
            <a:ext cx="4590703" cy="113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86956" y="38970999"/>
            <a:ext cx="3756946" cy="12116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3"/>
          <p:cNvGrpSpPr/>
          <p:nvPr/>
        </p:nvGrpSpPr>
        <p:grpSpPr>
          <a:xfrm>
            <a:off x="7829550" y="926127"/>
            <a:ext cx="27365375" cy="1989043"/>
            <a:chOff x="8270736" y="527371"/>
            <a:chExt cx="26601900" cy="1838642"/>
          </a:xfrm>
        </p:grpSpPr>
        <p:sp>
          <p:nvSpPr>
            <p:cNvPr id="77" name="Google Shape;77;p13"/>
            <p:cNvSpPr txBox="1"/>
            <p:nvPr/>
          </p:nvSpPr>
          <p:spPr>
            <a:xfrm>
              <a:off x="8270736" y="527371"/>
              <a:ext cx="26601900" cy="16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Roanoke Valley-Alleghany Region Attractiveness to Workers</a:t>
              </a:r>
              <a:endParaRPr b="1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78" name="Google Shape;78;p13"/>
            <p:cNvSpPr txBox="1"/>
            <p:nvPr/>
          </p:nvSpPr>
          <p:spPr>
            <a:xfrm>
              <a:off x="8270736" y="2138313"/>
              <a:ext cx="26601900" cy="2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1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79" name="Google Shape;79;p13"/>
          <p:cNvSpPr txBox="1"/>
          <p:nvPr/>
        </p:nvSpPr>
        <p:spPr>
          <a:xfrm>
            <a:off x="24485975" y="5061800"/>
            <a:ext cx="105180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Methods</a:t>
            </a:r>
            <a:endParaRPr b="1" sz="48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4358925" y="6655975"/>
            <a:ext cx="10644900" cy="85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Develop American Community Survey (ACS) synthetic data to align to sub-county/sub-city geographic </a:t>
            </a: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boundaries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Combine ACS microdata and summary tables to produce synthetic estimates by individual at new geographies, using Iterative Proportional Fitting technique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Re-compute summary statistics of those individuals by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48 County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Magisterial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Districts, City Election boundaries, or Roanoke City quadrants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Create Demographic Profile and Attractiveness Indicators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Rank variables (see below) from 1 to 48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Sum ranks for each area &amp; then normalize ranks from 0 to 1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Scrape data from internet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transportation routes and stops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Workforce development sites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Drug treatment facilities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2075775" y="17096000"/>
            <a:ext cx="159633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Where do the four worker populations live in the RVAR? 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56900" y="6782600"/>
            <a:ext cx="5681100" cy="774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216564" y="39045344"/>
            <a:ext cx="3953786" cy="119195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>
            <a:off x="12234025" y="26306682"/>
            <a:ext cx="125289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Barlow Condensed"/>
                <a:ea typeface="Barlow Condensed"/>
                <a:cs typeface="Barlow Condensed"/>
                <a:sym typeface="Barlow Condensed"/>
              </a:rPr>
              <a:t>Sources:  American Community Survey (synthetic data); GIS </a:t>
            </a:r>
            <a:r>
              <a:rPr i="1" lang="en" sz="2400">
                <a:latin typeface="Barlow Condensed"/>
                <a:ea typeface="Barlow Condensed"/>
                <a:cs typeface="Barlow Condensed"/>
                <a:sym typeface="Barlow Condensed"/>
              </a:rPr>
              <a:t>Shapefiles</a:t>
            </a:r>
            <a:r>
              <a:rPr i="1" lang="en" sz="2400">
                <a:latin typeface="Barlow Condensed"/>
                <a:ea typeface="Barlow Condensed"/>
                <a:cs typeface="Barlow Condensed"/>
                <a:sym typeface="Barlow Condensed"/>
              </a:rPr>
              <a:t> for each city and county in RVAR</a:t>
            </a:r>
            <a:endParaRPr i="1"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52851" y="31399075"/>
            <a:ext cx="1400100" cy="2619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76175" y="28746200"/>
            <a:ext cx="1750200" cy="27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Percent of Residents in Roanoke City WIthout Access to A Vehicle, by Census Tracts</a:t>
            </a:r>
            <a:endParaRPr sz="24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709575" y="35528007"/>
            <a:ext cx="37797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Workforce Development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709575" y="35974250"/>
            <a:ext cx="2801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Bus Stops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691175" y="7008250"/>
            <a:ext cx="11100600" cy="70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8291575" y="25184829"/>
            <a:ext cx="32118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Lower</a:t>
            </a:r>
            <a:endParaRPr b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</a:t>
            </a:r>
            <a:endParaRPr b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2665263" y="14243375"/>
            <a:ext cx="116664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Definition</a:t>
            </a: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of a</a:t>
            </a: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ttractiveness is adapted from Pattnaik, S., &amp; Misra, R. (2014). Employer Attractiveness: A Conceptual Framework &amp; Scale Development. Indian Journal of Industrial Relations, 50 (2), 318-327. </a:t>
            </a:r>
            <a:endParaRPr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12778825" y="28639766"/>
            <a:ext cx="10140325" cy="8835987"/>
            <a:chOff x="12996125" y="28603050"/>
            <a:chExt cx="10140325" cy="85035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12996125" y="28603050"/>
              <a:ext cx="6436050" cy="8503500"/>
              <a:chOff x="12996125" y="28603050"/>
              <a:chExt cx="6436050" cy="8503500"/>
            </a:xfrm>
          </p:grpSpPr>
          <p:pic>
            <p:nvPicPr>
              <p:cNvPr id="94" name="Google Shape;94;p13"/>
              <p:cNvPicPr preferRelativeResize="0"/>
              <p:nvPr/>
            </p:nvPicPr>
            <p:blipFill rotWithShape="1">
              <a:blip r:embed="rId13">
                <a:alphaModFix/>
              </a:blip>
              <a:srcRect b="6267" l="27819" r="42722" t="5463"/>
              <a:stretch/>
            </p:blipFill>
            <p:spPr>
              <a:xfrm>
                <a:off x="12996125" y="28603050"/>
                <a:ext cx="6053875" cy="8503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" name="Google Shape;95;p13"/>
              <p:cNvSpPr/>
              <p:nvPr/>
            </p:nvSpPr>
            <p:spPr>
              <a:xfrm>
                <a:off x="18940775" y="32316200"/>
                <a:ext cx="491400" cy="4128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6" name="Google Shape;96;p13"/>
            <p:cNvSpPr txBox="1"/>
            <p:nvPr/>
          </p:nvSpPr>
          <p:spPr>
            <a:xfrm>
              <a:off x="18487050" y="33853179"/>
              <a:ext cx="4649400" cy="1602000"/>
            </a:xfrm>
            <a:prstGeom prst="rect">
              <a:avLst/>
            </a:prstGeom>
            <a:noFill/>
            <a:ln cap="flat" cmpd="sng" w="2857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Drug Treatment Facilities</a:t>
              </a:r>
              <a:endParaRPr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Workforce Development Facilities (including colleges)</a:t>
              </a:r>
              <a:endParaRPr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97" name="Google Shape;97;p13"/>
          <p:cNvSpPr/>
          <p:nvPr/>
        </p:nvSpPr>
        <p:spPr>
          <a:xfrm>
            <a:off x="14767800" y="33131162"/>
            <a:ext cx="1400100" cy="12663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13"/>
          <p:cNvCxnSpPr>
            <a:stCxn id="97" idx="7"/>
          </p:cNvCxnSpPr>
          <p:nvPr/>
        </p:nvCxnSpPr>
        <p:spPr>
          <a:xfrm rot="10800000">
            <a:off x="11233360" y="28593108"/>
            <a:ext cx="4729500" cy="472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3"/>
          <p:cNvCxnSpPr>
            <a:stCxn id="97" idx="5"/>
          </p:cNvCxnSpPr>
          <p:nvPr/>
        </p:nvCxnSpPr>
        <p:spPr>
          <a:xfrm flipH="1">
            <a:off x="11257660" y="34212017"/>
            <a:ext cx="4705200" cy="2581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18049225" y="35648788"/>
            <a:ext cx="51510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Barlow Condensed"/>
                <a:ea typeface="Barlow Condensed"/>
                <a:cs typeface="Barlow Condensed"/>
                <a:sym typeface="Barlow Condensed"/>
              </a:rPr>
              <a:t>Sources: American Community Survey, Roanoke Regional Partnership, Substance Abuse and Mental Health Services Administration (SAMHSA), Moveit.com</a:t>
            </a:r>
            <a:endParaRPr i="1"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7745575" y="28219488"/>
            <a:ext cx="4800300" cy="5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Roanoke City: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Location of most workforce training centers 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The only public transportation in region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Most residents in Roanoke City have access to a </a:t>
            </a: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vehicle</a:t>
            </a: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 except those near city center (lighter blue areas)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102" name="Google Shape;102;p13"/>
          <p:cNvGrpSpPr/>
          <p:nvPr/>
        </p:nvGrpSpPr>
        <p:grpSpPr>
          <a:xfrm>
            <a:off x="1176175" y="35468125"/>
            <a:ext cx="376725" cy="1172775"/>
            <a:chOff x="1176175" y="35468125"/>
            <a:chExt cx="376725" cy="1172775"/>
          </a:xfrm>
        </p:grpSpPr>
        <p:pic>
          <p:nvPicPr>
            <p:cNvPr id="103" name="Google Shape;103;p13"/>
            <p:cNvPicPr preferRelativeResize="0"/>
            <p:nvPr/>
          </p:nvPicPr>
          <p:blipFill rotWithShape="1">
            <a:blip r:embed="rId14">
              <a:alphaModFix/>
            </a:blip>
            <a:srcRect b="0" l="13239" r="54467" t="19061"/>
            <a:stretch/>
          </p:blipFill>
          <p:spPr>
            <a:xfrm>
              <a:off x="1216400" y="36130825"/>
              <a:ext cx="336500" cy="510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3"/>
            <p:cNvPicPr preferRelativeResize="0"/>
            <p:nvPr/>
          </p:nvPicPr>
          <p:blipFill rotWithShape="1">
            <a:blip r:embed="rId15">
              <a:alphaModFix/>
            </a:blip>
            <a:srcRect b="28305" l="13146" r="49996" t="0"/>
            <a:stretch/>
          </p:blipFill>
          <p:spPr>
            <a:xfrm>
              <a:off x="1176175" y="35468125"/>
              <a:ext cx="376725" cy="510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3"/>
          <p:cNvGrpSpPr/>
          <p:nvPr/>
        </p:nvGrpSpPr>
        <p:grpSpPr>
          <a:xfrm>
            <a:off x="591575" y="18074375"/>
            <a:ext cx="18662952" cy="8306605"/>
            <a:chOff x="591575" y="18322963"/>
            <a:chExt cx="18662952" cy="8059188"/>
          </a:xfrm>
        </p:grpSpPr>
        <p:pic>
          <p:nvPicPr>
            <p:cNvPr id="106" name="Google Shape;106;p13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14454225" y="19948301"/>
              <a:ext cx="4800301" cy="6180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3"/>
            <p:cNvPicPr preferRelativeResize="0"/>
            <p:nvPr/>
          </p:nvPicPr>
          <p:blipFill rotWithShape="1">
            <a:blip r:embed="rId17">
              <a:alphaModFix/>
            </a:blip>
            <a:srcRect b="0" l="0" r="5347" t="0"/>
            <a:stretch/>
          </p:blipFill>
          <p:spPr>
            <a:xfrm>
              <a:off x="10342500" y="19941696"/>
              <a:ext cx="4158300" cy="6247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3"/>
            <p:cNvPicPr preferRelativeResize="0"/>
            <p:nvPr/>
          </p:nvPicPr>
          <p:blipFill rotWithShape="1">
            <a:blip r:embed="rId18">
              <a:alphaModFix/>
            </a:blip>
            <a:srcRect b="-1179" l="0" r="0" t="1180"/>
            <a:stretch/>
          </p:blipFill>
          <p:spPr>
            <a:xfrm>
              <a:off x="591575" y="19777724"/>
              <a:ext cx="4400550" cy="6480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3"/>
            <p:cNvPicPr preferRelativeResize="0"/>
            <p:nvPr/>
          </p:nvPicPr>
          <p:blipFill rotWithShape="1">
            <a:blip r:embed="rId19">
              <a:alphaModFix/>
            </a:blip>
            <a:srcRect b="0" l="0" r="14690" t="0"/>
            <a:stretch/>
          </p:blipFill>
          <p:spPr>
            <a:xfrm>
              <a:off x="4637249" y="19684570"/>
              <a:ext cx="4649299" cy="6697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3"/>
            <p:cNvSpPr txBox="1"/>
            <p:nvPr/>
          </p:nvSpPr>
          <p:spPr>
            <a:xfrm>
              <a:off x="4950725" y="18395688"/>
              <a:ext cx="44004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(2) Single, ages 25-34,</a:t>
              </a:r>
              <a:b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College Degree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815650" y="18322963"/>
              <a:ext cx="46494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(1) 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Single, ages 18-24,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 College Degree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8808925" y="18687750"/>
              <a:ext cx="22539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Areas more likely to live in</a:t>
              </a:r>
              <a:endParaRPr b="1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3" name="Google Shape;113;p13"/>
            <p:cNvSpPr txBox="1"/>
            <p:nvPr/>
          </p:nvSpPr>
          <p:spPr>
            <a:xfrm>
              <a:off x="10523100" y="18420662"/>
              <a:ext cx="4800300" cy="12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(3) Family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, ages 35-49,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 College Degree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4" name="Google Shape;114;p13"/>
            <p:cNvSpPr txBox="1"/>
            <p:nvPr/>
          </p:nvSpPr>
          <p:spPr>
            <a:xfrm>
              <a:off x="14654025" y="18459318"/>
              <a:ext cx="44007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(4) 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Family, ages 35-49</a:t>
              </a:r>
              <a:b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College Degree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pic>
          <p:nvPicPr>
            <p:cNvPr id="115" name="Google Shape;115;p13"/>
            <p:cNvPicPr preferRelativeResize="0"/>
            <p:nvPr/>
          </p:nvPicPr>
          <p:blipFill rotWithShape="1">
            <a:blip r:embed="rId6">
              <a:alphaModFix/>
            </a:blip>
            <a:srcRect b="0" l="0" r="6933" t="0"/>
            <a:stretch/>
          </p:blipFill>
          <p:spPr>
            <a:xfrm>
              <a:off x="9388200" y="19783849"/>
              <a:ext cx="1400175" cy="60522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6" name="Google Shape;116;p13"/>
          <p:cNvCxnSpPr/>
          <p:nvPr/>
        </p:nvCxnSpPr>
        <p:spPr>
          <a:xfrm flipH="1">
            <a:off x="18832050" y="17628450"/>
            <a:ext cx="36000" cy="864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3"/>
          <p:cNvSpPr txBox="1"/>
          <p:nvPr/>
        </p:nvSpPr>
        <p:spPr>
          <a:xfrm>
            <a:off x="8732725" y="25710075"/>
            <a:ext cx="22539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Areas less likely to live in</a:t>
            </a:r>
            <a:endParaRPr b="1"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8868050" y="17096000"/>
            <a:ext cx="8597700" cy="10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 VARIABLES 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of population)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Transportation: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Commute Times</a:t>
            </a:r>
            <a:r>
              <a:rPr b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(&lt; 1 hr.)</a:t>
            </a:r>
            <a:endParaRPr b="1"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Vehicle Ownership </a:t>
            </a:r>
            <a:r>
              <a:rPr b="1"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(own a vehicle)</a:t>
            </a:r>
            <a:endParaRPr b="1"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Transportation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(public transit is 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primary means to work)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Housing: 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0005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Size of Home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(Number of bedrooms)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0005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Type of Home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(Apartment/House)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Age of Home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(Built before/after 1990)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Community: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Resident Type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(Renter/Owner)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Family Presence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(Family/NF Households)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Diversity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non-white)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Employment</a:t>
            </a:r>
            <a:r>
              <a:rPr b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employed)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Active </a:t>
            </a: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Post-Secondary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(enrolled in college)</a:t>
            </a:r>
            <a:b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9" name="Google Shape;119;p13"/>
          <p:cNvPicPr preferRelativeResize="0"/>
          <p:nvPr/>
        </p:nvPicPr>
        <p:blipFill rotWithShape="1">
          <a:blip r:embed="rId20">
            <a:alphaModFix/>
          </a:blip>
          <a:srcRect b="0" l="37353" r="22403" t="20967"/>
          <a:stretch/>
        </p:blipFill>
        <p:spPr>
          <a:xfrm>
            <a:off x="18410775" y="34256425"/>
            <a:ext cx="279000" cy="113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170661CD-1604-4382-90C9-271B76344976}"/>
</file>

<file path=customXml/itemProps2.xml><?xml version="1.0" encoding="utf-8"?>
<ds:datastoreItem xmlns:ds="http://schemas.openxmlformats.org/officeDocument/2006/customXml" ds:itemID="{386D1674-56AF-4863-A799-13D82CD61E8E}"/>
</file>

<file path=customXml/itemProps3.xml><?xml version="1.0" encoding="utf-8"?>
<ds:datastoreItem xmlns:ds="http://schemas.openxmlformats.org/officeDocument/2006/customXml" ds:itemID="{F25B157C-406C-456B-A7B4-135A859A67D4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