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Lst>
  <p:sldSz cy="41148000" cx="36576000"/>
  <p:notesSz cx="6858000" cy="9144000"/>
  <p:embeddedFontLst>
    <p:embeddedFont>
      <p:font typeface="Barlow Condensed"/>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2130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21305"/>
      </p:guideLst>
    </p:cSldViewPr>
  </p:slideViewPr>
</p:viewPr>
</file>

<file path=ppt/_rels/presentation.xml.rels><?xml version="1.0" encoding="UTF-8" standalone="yes"?>
<Relationships xmlns="http://schemas.openxmlformats.org/package/2006/relationships"><Relationship Id="rId8" Type="http://schemas.openxmlformats.org/officeDocument/2006/relationships/font" Target="fonts/BarlowCondensed-bold.fntdata"/><Relationship Id="rId13" Type="http://schemas.openxmlformats.org/officeDocument/2006/relationships/customXml" Target="../customXml/item3.xml"/><Relationship Id="rId3" Type="http://schemas.openxmlformats.org/officeDocument/2006/relationships/presProps" Target="presProps.xml"/><Relationship Id="rId7" Type="http://schemas.openxmlformats.org/officeDocument/2006/relationships/font" Target="fonts/BarlowCondensed-regular.fntdata"/><Relationship Id="rId12" Type="http://schemas.openxmlformats.org/officeDocument/2006/relationships/customXml" Target="../customXml/item2.xml"/><Relationship Id="rId2" Type="http://schemas.openxmlformats.org/officeDocument/2006/relationships/viewProps" Target="viewProps.xml"/><Relationship Id="rId1" Type="http://schemas.openxmlformats.org/officeDocument/2006/relationships/theme" Target="theme/theme1.xml"/><Relationship Id="rId6" Type="http://schemas.openxmlformats.org/officeDocument/2006/relationships/slide" Target="slides/slide1.xml"/><Relationship Id="rId11" Type="http://schemas.openxmlformats.org/officeDocument/2006/relationships/customXml" Target="../customXml/item1.xml"/><Relationship Id="rId5" Type="http://schemas.openxmlformats.org/officeDocument/2006/relationships/notesMaster" Target="notesMasters/notesMaster1.xml"/><Relationship Id="rId10" Type="http://schemas.openxmlformats.org/officeDocument/2006/relationships/font" Target="fonts/BarlowCondensed-boldItalic.fntdata"/><Relationship Id="rId4" Type="http://schemas.openxmlformats.org/officeDocument/2006/relationships/slideMaster" Target="slideMasters/slideMaster1.xml"/><Relationship Id="rId9" Type="http://schemas.openxmlformats.org/officeDocument/2006/relationships/font" Target="fonts/BarlowCondense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g3de8c51a49_0_34:notes"/>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de8c51a49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GENERAL RULES TO FOLLOW:</a:t>
            </a:r>
            <a:endParaRPr b="1"/>
          </a:p>
          <a:p>
            <a:pPr indent="-298450" lvl="0" marL="457200" rtl="0" algn="l">
              <a:spcBef>
                <a:spcPts val="0"/>
              </a:spcBef>
              <a:spcAft>
                <a:spcPts val="0"/>
              </a:spcAft>
              <a:buSzPts val="1100"/>
              <a:buAutoNum type="arabicParenR"/>
            </a:pPr>
            <a:r>
              <a:rPr b="1" lang="en"/>
              <a:t>Stay in Google Slides</a:t>
            </a:r>
            <a:r>
              <a:rPr lang="en"/>
              <a:t> to work on your poster because it: </a:t>
            </a:r>
            <a:endParaRPr/>
          </a:p>
          <a:p>
            <a:pPr indent="-298450" lvl="1" marL="914400" rtl="0" algn="l">
              <a:spcBef>
                <a:spcPts val="0"/>
              </a:spcBef>
              <a:spcAft>
                <a:spcPts val="0"/>
              </a:spcAft>
              <a:buSzPts val="1100"/>
              <a:buAutoNum type="alphaLcParenR"/>
            </a:pPr>
            <a:r>
              <a:rPr lang="en">
                <a:solidFill>
                  <a:schemeClr val="dk1"/>
                </a:solidFill>
              </a:rPr>
              <a:t>provides a template with all the </a:t>
            </a:r>
            <a:r>
              <a:rPr b="1" lang="en">
                <a:solidFill>
                  <a:schemeClr val="dk1"/>
                </a:solidFill>
              </a:rPr>
              <a:t>approved</a:t>
            </a:r>
            <a:r>
              <a:rPr lang="en">
                <a:solidFill>
                  <a:schemeClr val="dk1"/>
                </a:solidFill>
              </a:rPr>
              <a:t> branding including colors, fonts, and logo placement/usage;</a:t>
            </a:r>
            <a:endParaRPr/>
          </a:p>
          <a:p>
            <a:pPr indent="-298450" lvl="1" marL="914400" rtl="0" algn="l">
              <a:spcBef>
                <a:spcPts val="0"/>
              </a:spcBef>
              <a:spcAft>
                <a:spcPts val="0"/>
              </a:spcAft>
              <a:buSzPts val="1100"/>
              <a:buAutoNum type="alphaLcParenR"/>
            </a:pPr>
            <a:r>
              <a:rPr lang="en"/>
              <a:t>allows you to </a:t>
            </a:r>
            <a:r>
              <a:rPr b="1" lang="en"/>
              <a:t>collaborate</a:t>
            </a:r>
            <a:r>
              <a:rPr lang="en"/>
              <a:t> with others;</a:t>
            </a:r>
            <a:endParaRPr/>
          </a:p>
          <a:p>
            <a:pPr indent="-298450" lvl="1" marL="914400" rtl="0" algn="l">
              <a:spcBef>
                <a:spcPts val="0"/>
              </a:spcBef>
              <a:spcAft>
                <a:spcPts val="0"/>
              </a:spcAft>
              <a:buSzPts val="1100"/>
              <a:buAutoNum type="alphaLcParenR"/>
            </a:pPr>
            <a:r>
              <a:rPr lang="en"/>
              <a:t>helps you to </a:t>
            </a:r>
            <a:r>
              <a:rPr b="1" lang="en"/>
              <a:t>communicate</a:t>
            </a:r>
            <a:r>
              <a:rPr lang="en"/>
              <a:t> with your fellow researchers, lab./dept., and creative services;</a:t>
            </a:r>
            <a:endParaRPr/>
          </a:p>
          <a:p>
            <a:pPr indent="-298450" lvl="0" marL="457200" rtl="0" algn="l">
              <a:spcBef>
                <a:spcPts val="0"/>
              </a:spcBef>
              <a:spcAft>
                <a:spcPts val="0"/>
              </a:spcAft>
              <a:buSzPts val="1100"/>
              <a:buAutoNum type="arabicParenR"/>
            </a:pPr>
            <a:r>
              <a:rPr b="1" lang="en"/>
              <a:t>Editing</a:t>
            </a:r>
            <a:r>
              <a:rPr lang="en"/>
              <a:t> this file:</a:t>
            </a:r>
            <a:endParaRPr/>
          </a:p>
          <a:p>
            <a:pPr indent="-298450" lvl="1" marL="914400" rtl="0" algn="l">
              <a:spcBef>
                <a:spcPts val="0"/>
              </a:spcBef>
              <a:spcAft>
                <a:spcPts val="0"/>
              </a:spcAft>
              <a:buSzPts val="1100"/>
              <a:buAutoNum type="alphaLcParenR"/>
            </a:pPr>
            <a:r>
              <a:t/>
            </a:r>
            <a:endParaRPr/>
          </a:p>
          <a:p>
            <a:pPr indent="-298450" lvl="0" marL="457200" rtl="0" algn="l">
              <a:spcBef>
                <a:spcPts val="0"/>
              </a:spcBef>
              <a:spcAft>
                <a:spcPts val="0"/>
              </a:spcAft>
              <a:buSzPts val="1100"/>
              <a:buAutoNum type="arabicParen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400" cy="164202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9500"/>
              <a:buChar char="●"/>
              <a:defRPr sz="29500"/>
            </a:lvl1pPr>
            <a:lvl2pPr lvl="1" algn="ctr">
              <a:spcBef>
                <a:spcPts val="0"/>
              </a:spcBef>
              <a:spcAft>
                <a:spcPts val="0"/>
              </a:spcAft>
              <a:buSzPts val="29500"/>
              <a:buChar char="○"/>
              <a:defRPr sz="29500"/>
            </a:lvl2pPr>
            <a:lvl3pPr lvl="2" algn="ctr">
              <a:spcBef>
                <a:spcPts val="0"/>
              </a:spcBef>
              <a:spcAft>
                <a:spcPts val="0"/>
              </a:spcAft>
              <a:buSzPts val="29500"/>
              <a:buChar char="■"/>
              <a:defRPr sz="29500"/>
            </a:lvl3pPr>
            <a:lvl4pPr lvl="3" algn="ctr">
              <a:spcBef>
                <a:spcPts val="0"/>
              </a:spcBef>
              <a:spcAft>
                <a:spcPts val="0"/>
              </a:spcAft>
              <a:buSzPts val="29500"/>
              <a:buChar char="●"/>
              <a:defRPr sz="29500"/>
            </a:lvl4pPr>
            <a:lvl5pPr lvl="4" algn="ctr">
              <a:spcBef>
                <a:spcPts val="0"/>
              </a:spcBef>
              <a:spcAft>
                <a:spcPts val="0"/>
              </a:spcAft>
              <a:buSzPts val="29500"/>
              <a:buChar char="○"/>
              <a:defRPr sz="29500"/>
            </a:lvl5pPr>
            <a:lvl6pPr lvl="5" algn="ctr">
              <a:spcBef>
                <a:spcPts val="0"/>
              </a:spcBef>
              <a:spcAft>
                <a:spcPts val="0"/>
              </a:spcAft>
              <a:buSzPts val="29500"/>
              <a:buChar char="■"/>
              <a:defRPr sz="29500"/>
            </a:lvl6pPr>
            <a:lvl7pPr lvl="6" algn="ctr">
              <a:spcBef>
                <a:spcPts val="0"/>
              </a:spcBef>
              <a:spcAft>
                <a:spcPts val="0"/>
              </a:spcAft>
              <a:buSzPts val="29500"/>
              <a:buChar char="●"/>
              <a:defRPr sz="29500"/>
            </a:lvl7pPr>
            <a:lvl8pPr lvl="7" algn="ctr">
              <a:spcBef>
                <a:spcPts val="0"/>
              </a:spcBef>
              <a:spcAft>
                <a:spcPts val="0"/>
              </a:spcAft>
              <a:buSzPts val="29500"/>
              <a:buChar char="○"/>
              <a:defRPr sz="29500"/>
            </a:lvl8pPr>
            <a:lvl9pPr lvl="8" algn="ctr">
              <a:spcBef>
                <a:spcPts val="0"/>
              </a:spcBef>
              <a:spcAft>
                <a:spcPts val="0"/>
              </a:spcAft>
              <a:buSzPts val="29500"/>
              <a:buChar char="■"/>
              <a:defRPr sz="29500"/>
            </a:lvl9pPr>
          </a:lstStyle>
          <a:p/>
        </p:txBody>
      </p:sp>
      <p:sp>
        <p:nvSpPr>
          <p:cNvPr id="8" name="Google Shape;8;p2"/>
          <p:cNvSpPr txBox="1"/>
          <p:nvPr>
            <p:ph idx="1" type="subTitle"/>
          </p:nvPr>
        </p:nvSpPr>
        <p:spPr>
          <a:xfrm>
            <a:off x="1246800" y="22673000"/>
            <a:ext cx="34082400" cy="63420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5900"/>
              <a:buNone/>
              <a:defRPr sz="15900"/>
            </a:lvl1pPr>
            <a:lvl2pPr lvl="1" algn="ctr">
              <a:lnSpc>
                <a:spcPct val="100000"/>
              </a:lnSpc>
              <a:spcBef>
                <a:spcPts val="0"/>
              </a:spcBef>
              <a:spcAft>
                <a:spcPts val="0"/>
              </a:spcAft>
              <a:buSzPts val="15900"/>
              <a:buNone/>
              <a:defRPr sz="15900"/>
            </a:lvl2pPr>
            <a:lvl3pPr lvl="2" algn="ctr">
              <a:lnSpc>
                <a:spcPct val="100000"/>
              </a:lnSpc>
              <a:spcBef>
                <a:spcPts val="0"/>
              </a:spcBef>
              <a:spcAft>
                <a:spcPts val="0"/>
              </a:spcAft>
              <a:buSzPts val="15900"/>
              <a:buNone/>
              <a:defRPr sz="15900"/>
            </a:lvl3pPr>
            <a:lvl4pPr lvl="3" algn="ctr">
              <a:lnSpc>
                <a:spcPct val="100000"/>
              </a:lnSpc>
              <a:spcBef>
                <a:spcPts val="0"/>
              </a:spcBef>
              <a:spcAft>
                <a:spcPts val="0"/>
              </a:spcAft>
              <a:buSzPts val="15900"/>
              <a:buNone/>
              <a:defRPr sz="15900"/>
            </a:lvl4pPr>
            <a:lvl5pPr lvl="4" algn="ctr">
              <a:lnSpc>
                <a:spcPct val="100000"/>
              </a:lnSpc>
              <a:spcBef>
                <a:spcPts val="0"/>
              </a:spcBef>
              <a:spcAft>
                <a:spcPts val="0"/>
              </a:spcAft>
              <a:buSzPts val="15900"/>
              <a:buNone/>
              <a:defRPr sz="15900"/>
            </a:lvl5pPr>
            <a:lvl6pPr lvl="5" algn="ctr">
              <a:lnSpc>
                <a:spcPct val="100000"/>
              </a:lnSpc>
              <a:spcBef>
                <a:spcPts val="0"/>
              </a:spcBef>
              <a:spcAft>
                <a:spcPts val="0"/>
              </a:spcAft>
              <a:buSzPts val="15900"/>
              <a:buNone/>
              <a:defRPr sz="15900"/>
            </a:lvl6pPr>
            <a:lvl7pPr lvl="6" algn="ctr">
              <a:lnSpc>
                <a:spcPct val="100000"/>
              </a:lnSpc>
              <a:spcBef>
                <a:spcPts val="0"/>
              </a:spcBef>
              <a:spcAft>
                <a:spcPts val="0"/>
              </a:spcAft>
              <a:buSzPts val="15900"/>
              <a:buNone/>
              <a:defRPr sz="15900"/>
            </a:lvl7pPr>
            <a:lvl8pPr lvl="7" algn="ctr">
              <a:lnSpc>
                <a:spcPct val="100000"/>
              </a:lnSpc>
              <a:spcBef>
                <a:spcPts val="0"/>
              </a:spcBef>
              <a:spcAft>
                <a:spcPts val="0"/>
              </a:spcAft>
              <a:buSzPts val="15900"/>
              <a:buNone/>
              <a:defRPr sz="15900"/>
            </a:lvl8pPr>
            <a:lvl9pPr lvl="8" algn="ctr">
              <a:lnSpc>
                <a:spcPct val="100000"/>
              </a:lnSpc>
              <a:spcBef>
                <a:spcPts val="0"/>
              </a:spcBef>
              <a:spcAft>
                <a:spcPts val="0"/>
              </a:spcAft>
              <a:buSzPts val="15900"/>
              <a:buNone/>
              <a:defRPr sz="15900"/>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400" cy="6734700"/>
          </a:xfrm>
          <a:prstGeom prst="rect">
            <a:avLst/>
          </a:prstGeom>
          <a:noFill/>
          <a:ln>
            <a:noFill/>
          </a:ln>
        </p:spPr>
        <p:txBody>
          <a:bodyPr anchorCtr="0" anchor="ctr" bIns="519950" lIns="519950" spcFirstLastPara="1" rIns="519950" wrap="square" tIns="519950"/>
          <a:lstStyle>
            <a:lvl1pPr lvl="0" algn="ctr">
              <a:spcBef>
                <a:spcPts val="0"/>
              </a:spcBef>
              <a:spcAft>
                <a:spcPts val="0"/>
              </a:spcAft>
              <a:buSzPts val="20500"/>
              <a:buChar char="●"/>
              <a:defRPr sz="20500"/>
            </a:lvl1pPr>
            <a:lvl2pPr lvl="1" algn="ctr">
              <a:spcBef>
                <a:spcPts val="0"/>
              </a:spcBef>
              <a:spcAft>
                <a:spcPts val="0"/>
              </a:spcAft>
              <a:buSzPts val="20500"/>
              <a:buChar char="○"/>
              <a:defRPr sz="20500"/>
            </a:lvl2pPr>
            <a:lvl3pPr lvl="2" algn="ctr">
              <a:spcBef>
                <a:spcPts val="0"/>
              </a:spcBef>
              <a:spcAft>
                <a:spcPts val="0"/>
              </a:spcAft>
              <a:buSzPts val="20500"/>
              <a:buChar char="■"/>
              <a:defRPr sz="20500"/>
            </a:lvl3pPr>
            <a:lvl4pPr lvl="3" algn="ctr">
              <a:spcBef>
                <a:spcPts val="0"/>
              </a:spcBef>
              <a:spcAft>
                <a:spcPts val="0"/>
              </a:spcAft>
              <a:buSzPts val="20500"/>
              <a:buChar char="●"/>
              <a:defRPr sz="20500"/>
            </a:lvl4pPr>
            <a:lvl5pPr lvl="4" algn="ctr">
              <a:spcBef>
                <a:spcPts val="0"/>
              </a:spcBef>
              <a:spcAft>
                <a:spcPts val="0"/>
              </a:spcAft>
              <a:buSzPts val="20500"/>
              <a:buChar char="○"/>
              <a:defRPr sz="20500"/>
            </a:lvl5pPr>
            <a:lvl6pPr lvl="5" algn="ctr">
              <a:spcBef>
                <a:spcPts val="0"/>
              </a:spcBef>
              <a:spcAft>
                <a:spcPts val="0"/>
              </a:spcAft>
              <a:buSzPts val="20500"/>
              <a:buChar char="■"/>
              <a:defRPr sz="20500"/>
            </a:lvl6pPr>
            <a:lvl7pPr lvl="6" algn="ctr">
              <a:spcBef>
                <a:spcPts val="0"/>
              </a:spcBef>
              <a:spcAft>
                <a:spcPts val="0"/>
              </a:spcAft>
              <a:buSzPts val="20500"/>
              <a:buChar char="●"/>
              <a:defRPr sz="20500"/>
            </a:lvl7pPr>
            <a:lvl8pPr lvl="7" algn="ctr">
              <a:spcBef>
                <a:spcPts val="0"/>
              </a:spcBef>
              <a:spcAft>
                <a:spcPts val="0"/>
              </a:spcAft>
              <a:buSzPts val="20500"/>
              <a:buChar char="○"/>
              <a:defRPr sz="20500"/>
            </a:lvl8pPr>
            <a:lvl9pPr lvl="8" algn="ctr">
              <a:spcBef>
                <a:spcPts val="0"/>
              </a:spcBef>
              <a:spcAft>
                <a:spcPts val="0"/>
              </a:spcAft>
              <a:buSzPts val="20500"/>
              <a:buChar char="■"/>
              <a:defRPr sz="20500"/>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5" name="Google Shape;15;p4"/>
          <p:cNvSpPr txBox="1"/>
          <p:nvPr>
            <p:ph idx="1" type="body"/>
          </p:nvPr>
        </p:nvSpPr>
        <p:spPr>
          <a:xfrm>
            <a:off x="1246800" y="9219800"/>
            <a:ext cx="340824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a:spcBef>
                <a:spcPts val="0"/>
              </a:spcBef>
              <a:spcAft>
                <a:spcPts val="0"/>
              </a:spcAft>
              <a:buSzPts val="13600"/>
              <a:buChar char="●"/>
              <a:defRPr sz="13600"/>
            </a:lvl1pPr>
            <a:lvl2pPr lvl="1">
              <a:spcBef>
                <a:spcPts val="0"/>
              </a:spcBef>
              <a:spcAft>
                <a:spcPts val="0"/>
              </a:spcAft>
              <a:buSzPts val="13600"/>
              <a:buChar char="○"/>
              <a:defRPr sz="13600"/>
            </a:lvl2pPr>
            <a:lvl3pPr lvl="2">
              <a:spcBef>
                <a:spcPts val="0"/>
              </a:spcBef>
              <a:spcAft>
                <a:spcPts val="0"/>
              </a:spcAft>
              <a:buSzPts val="13600"/>
              <a:buChar char="■"/>
              <a:defRPr sz="13600"/>
            </a:lvl3pPr>
            <a:lvl4pPr lvl="3">
              <a:spcBef>
                <a:spcPts val="0"/>
              </a:spcBef>
              <a:spcAft>
                <a:spcPts val="0"/>
              </a:spcAft>
              <a:buSzPts val="13600"/>
              <a:buChar char="●"/>
              <a:defRPr sz="13600"/>
            </a:lvl4pPr>
            <a:lvl5pPr lvl="4">
              <a:spcBef>
                <a:spcPts val="0"/>
              </a:spcBef>
              <a:spcAft>
                <a:spcPts val="0"/>
              </a:spcAft>
              <a:buSzPts val="13600"/>
              <a:buChar char="○"/>
              <a:defRPr sz="13600"/>
            </a:lvl5pPr>
            <a:lvl6pPr lvl="5">
              <a:spcBef>
                <a:spcPts val="0"/>
              </a:spcBef>
              <a:spcAft>
                <a:spcPts val="0"/>
              </a:spcAft>
              <a:buSzPts val="13600"/>
              <a:buChar char="■"/>
              <a:defRPr sz="13600"/>
            </a:lvl6pPr>
            <a:lvl7pPr lvl="6">
              <a:spcBef>
                <a:spcPts val="0"/>
              </a:spcBef>
              <a:spcAft>
                <a:spcPts val="0"/>
              </a:spcAft>
              <a:buSzPts val="13600"/>
              <a:buChar char="●"/>
              <a:defRPr sz="13600"/>
            </a:lvl7pPr>
            <a:lvl8pPr lvl="7">
              <a:spcBef>
                <a:spcPts val="0"/>
              </a:spcBef>
              <a:spcAft>
                <a:spcPts val="0"/>
              </a:spcAft>
              <a:buSzPts val="13600"/>
              <a:buChar char="○"/>
              <a:defRPr sz="13600"/>
            </a:lvl8pPr>
            <a:lvl9pPr lvl="8">
              <a:spcBef>
                <a:spcPts val="0"/>
              </a:spcBef>
              <a:spcAft>
                <a:spcPts val="0"/>
              </a:spcAft>
              <a:buSzPts val="13600"/>
              <a:buChar char="■"/>
              <a:defRPr sz="13600"/>
            </a:lvl9pPr>
          </a:lstStyle>
          <a:p/>
        </p:txBody>
      </p:sp>
      <p:sp>
        <p:nvSpPr>
          <p:cNvPr id="27" name="Google Shape;27;p7"/>
          <p:cNvSpPr txBox="1"/>
          <p:nvPr>
            <p:ph idx="1" type="body"/>
          </p:nvPr>
        </p:nvSpPr>
        <p:spPr>
          <a:xfrm>
            <a:off x="1246800" y="11116800"/>
            <a:ext cx="11232000" cy="25435800"/>
          </a:xfrm>
          <a:prstGeom prst="rect">
            <a:avLst/>
          </a:prstGeom>
          <a:noFill/>
          <a:ln>
            <a:noFill/>
          </a:ln>
        </p:spPr>
        <p:txBody>
          <a:bodyPr anchorCtr="0" anchor="ctr" bIns="519950" lIns="519950" spcFirstLastPara="1" rIns="519950" wrap="square" tIns="519950"/>
          <a:lstStyle>
            <a:lvl1pPr indent="-660400" lvl="0" marL="457200">
              <a:spcBef>
                <a:spcPts val="0"/>
              </a:spcBef>
              <a:spcAft>
                <a:spcPts val="0"/>
              </a:spcAft>
              <a:buSzPts val="6800"/>
              <a:buChar char="●"/>
              <a:defRPr sz="68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0" cy="32725800"/>
          </a:xfrm>
          <a:prstGeom prst="rect">
            <a:avLst/>
          </a:prstGeom>
          <a:noFill/>
          <a:ln>
            <a:noFill/>
          </a:ln>
        </p:spPr>
        <p:txBody>
          <a:bodyPr anchorCtr="0" anchor="ctr" bIns="519950" lIns="519950" spcFirstLastPara="1" rIns="519950" wrap="square" tIns="519950"/>
          <a:lstStyle>
            <a:lvl1pPr lvl="0">
              <a:spcBef>
                <a:spcPts val="0"/>
              </a:spcBef>
              <a:spcAft>
                <a:spcPts val="0"/>
              </a:spcAft>
              <a:buSzPts val="27300"/>
              <a:buChar char="●"/>
              <a:defRPr sz="27300"/>
            </a:lvl1pPr>
            <a:lvl2pPr lvl="1">
              <a:spcBef>
                <a:spcPts val="0"/>
              </a:spcBef>
              <a:spcAft>
                <a:spcPts val="0"/>
              </a:spcAft>
              <a:buSzPts val="27300"/>
              <a:buChar char="○"/>
              <a:defRPr sz="27300"/>
            </a:lvl2pPr>
            <a:lvl3pPr lvl="2">
              <a:spcBef>
                <a:spcPts val="0"/>
              </a:spcBef>
              <a:spcAft>
                <a:spcPts val="0"/>
              </a:spcAft>
              <a:buSzPts val="27300"/>
              <a:buChar char="■"/>
              <a:defRPr sz="27300"/>
            </a:lvl3pPr>
            <a:lvl4pPr lvl="3">
              <a:spcBef>
                <a:spcPts val="0"/>
              </a:spcBef>
              <a:spcAft>
                <a:spcPts val="0"/>
              </a:spcAft>
              <a:buSzPts val="27300"/>
              <a:buChar char="●"/>
              <a:defRPr sz="27300"/>
            </a:lvl4pPr>
            <a:lvl5pPr lvl="4">
              <a:spcBef>
                <a:spcPts val="0"/>
              </a:spcBef>
              <a:spcAft>
                <a:spcPts val="0"/>
              </a:spcAft>
              <a:buSzPts val="27300"/>
              <a:buChar char="○"/>
              <a:defRPr sz="27300"/>
            </a:lvl5pPr>
            <a:lvl6pPr lvl="5">
              <a:spcBef>
                <a:spcPts val="0"/>
              </a:spcBef>
              <a:spcAft>
                <a:spcPts val="0"/>
              </a:spcAft>
              <a:buSzPts val="27300"/>
              <a:buChar char="■"/>
              <a:defRPr sz="27300"/>
            </a:lvl6pPr>
            <a:lvl7pPr lvl="6">
              <a:spcBef>
                <a:spcPts val="0"/>
              </a:spcBef>
              <a:spcAft>
                <a:spcPts val="0"/>
              </a:spcAft>
              <a:buSzPts val="27300"/>
              <a:buChar char="●"/>
              <a:defRPr sz="27300"/>
            </a:lvl7pPr>
            <a:lvl8pPr lvl="7">
              <a:spcBef>
                <a:spcPts val="0"/>
              </a:spcBef>
              <a:spcAft>
                <a:spcPts val="0"/>
              </a:spcAft>
              <a:buSzPts val="27300"/>
              <a:buChar char="○"/>
              <a:defRPr sz="27300"/>
            </a:lvl8pPr>
            <a:lvl9pPr lvl="8">
              <a:spcBef>
                <a:spcPts val="0"/>
              </a:spcBef>
              <a:spcAft>
                <a:spcPts val="0"/>
              </a:spcAft>
              <a:buSzPts val="27300"/>
              <a:buChar char="■"/>
              <a:defRPr sz="27300"/>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0" cy="41148000"/>
          </a:xfrm>
          <a:prstGeom prst="rect">
            <a:avLst/>
          </a:prstGeom>
          <a:solidFill>
            <a:schemeClr val="lt2"/>
          </a:solidFill>
          <a:ln>
            <a:noFill/>
          </a:ln>
        </p:spPr>
        <p:txBody>
          <a:bodyPr anchorCtr="0" anchor="ctr" bIns="519950" lIns="519950" spcFirstLastPara="1" rIns="519950" wrap="square" tIns="519950">
            <a:noAutofit/>
          </a:bodyPr>
          <a:lstStyle/>
          <a:p>
            <a:pPr indent="0" lvl="0" marL="0" rtl="0" algn="l">
              <a:spcBef>
                <a:spcPts val="0"/>
              </a:spcBef>
              <a:spcAft>
                <a:spcPts val="0"/>
              </a:spcAft>
              <a:buNone/>
            </a:pPr>
            <a:r>
              <a:t/>
            </a:r>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4000"/>
              <a:buChar char="●"/>
              <a:defRPr sz="24000"/>
            </a:lvl1pPr>
            <a:lvl2pPr lvl="1" algn="ctr">
              <a:spcBef>
                <a:spcPts val="0"/>
              </a:spcBef>
              <a:spcAft>
                <a:spcPts val="0"/>
              </a:spcAft>
              <a:buSzPts val="24000"/>
              <a:buChar char="○"/>
              <a:defRPr sz="24000"/>
            </a:lvl2pPr>
            <a:lvl3pPr lvl="2" algn="ctr">
              <a:spcBef>
                <a:spcPts val="0"/>
              </a:spcBef>
              <a:spcAft>
                <a:spcPts val="0"/>
              </a:spcAft>
              <a:buSzPts val="24000"/>
              <a:buChar char="■"/>
              <a:defRPr sz="24000"/>
            </a:lvl3pPr>
            <a:lvl4pPr lvl="3" algn="ctr">
              <a:spcBef>
                <a:spcPts val="0"/>
              </a:spcBef>
              <a:spcAft>
                <a:spcPts val="0"/>
              </a:spcAft>
              <a:buSzPts val="24000"/>
              <a:buChar char="●"/>
              <a:defRPr sz="24000"/>
            </a:lvl4pPr>
            <a:lvl5pPr lvl="4" algn="ctr">
              <a:spcBef>
                <a:spcPts val="0"/>
              </a:spcBef>
              <a:spcAft>
                <a:spcPts val="0"/>
              </a:spcAft>
              <a:buSzPts val="24000"/>
              <a:buChar char="○"/>
              <a:defRPr sz="24000"/>
            </a:lvl5pPr>
            <a:lvl6pPr lvl="5" algn="ctr">
              <a:spcBef>
                <a:spcPts val="0"/>
              </a:spcBef>
              <a:spcAft>
                <a:spcPts val="0"/>
              </a:spcAft>
              <a:buSzPts val="24000"/>
              <a:buChar char="■"/>
              <a:defRPr sz="24000"/>
            </a:lvl6pPr>
            <a:lvl7pPr lvl="6" algn="ctr">
              <a:spcBef>
                <a:spcPts val="0"/>
              </a:spcBef>
              <a:spcAft>
                <a:spcPts val="0"/>
              </a:spcAft>
              <a:buSzPts val="24000"/>
              <a:buChar char="●"/>
              <a:defRPr sz="24000"/>
            </a:lvl7pPr>
            <a:lvl8pPr lvl="7" algn="ctr">
              <a:spcBef>
                <a:spcPts val="0"/>
              </a:spcBef>
              <a:spcAft>
                <a:spcPts val="0"/>
              </a:spcAft>
              <a:buSzPts val="24000"/>
              <a:buChar char="○"/>
              <a:defRPr sz="24000"/>
            </a:lvl8pPr>
            <a:lvl9pPr lvl="8" algn="ctr">
              <a:spcBef>
                <a:spcPts val="0"/>
              </a:spcBef>
              <a:spcAft>
                <a:spcPts val="0"/>
              </a:spcAft>
              <a:buSzPts val="24000"/>
              <a:buChar char="■"/>
              <a:defRPr sz="24000"/>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1900"/>
              <a:buNone/>
              <a:defRPr sz="11900"/>
            </a:lvl1pPr>
            <a:lvl2pPr lvl="1" algn="ctr">
              <a:lnSpc>
                <a:spcPct val="100000"/>
              </a:lnSpc>
              <a:spcBef>
                <a:spcPts val="0"/>
              </a:spcBef>
              <a:spcAft>
                <a:spcPts val="0"/>
              </a:spcAft>
              <a:buSzPts val="11900"/>
              <a:buNone/>
              <a:defRPr sz="11900"/>
            </a:lvl2pPr>
            <a:lvl3pPr lvl="2" algn="ctr">
              <a:lnSpc>
                <a:spcPct val="100000"/>
              </a:lnSpc>
              <a:spcBef>
                <a:spcPts val="0"/>
              </a:spcBef>
              <a:spcAft>
                <a:spcPts val="0"/>
              </a:spcAft>
              <a:buSzPts val="11900"/>
              <a:buNone/>
              <a:defRPr sz="11900"/>
            </a:lvl3pPr>
            <a:lvl4pPr lvl="3" algn="ctr">
              <a:lnSpc>
                <a:spcPct val="100000"/>
              </a:lnSpc>
              <a:spcBef>
                <a:spcPts val="0"/>
              </a:spcBef>
              <a:spcAft>
                <a:spcPts val="0"/>
              </a:spcAft>
              <a:buSzPts val="11900"/>
              <a:buNone/>
              <a:defRPr sz="11900"/>
            </a:lvl4pPr>
            <a:lvl5pPr lvl="4" algn="ctr">
              <a:lnSpc>
                <a:spcPct val="100000"/>
              </a:lnSpc>
              <a:spcBef>
                <a:spcPts val="0"/>
              </a:spcBef>
              <a:spcAft>
                <a:spcPts val="0"/>
              </a:spcAft>
              <a:buSzPts val="11900"/>
              <a:buNone/>
              <a:defRPr sz="11900"/>
            </a:lvl5pPr>
            <a:lvl6pPr lvl="5" algn="ctr">
              <a:lnSpc>
                <a:spcPct val="100000"/>
              </a:lnSpc>
              <a:spcBef>
                <a:spcPts val="0"/>
              </a:spcBef>
              <a:spcAft>
                <a:spcPts val="0"/>
              </a:spcAft>
              <a:buSzPts val="11900"/>
              <a:buNone/>
              <a:defRPr sz="11900"/>
            </a:lvl6pPr>
            <a:lvl7pPr lvl="6" algn="ctr">
              <a:lnSpc>
                <a:spcPct val="100000"/>
              </a:lnSpc>
              <a:spcBef>
                <a:spcPts val="0"/>
              </a:spcBef>
              <a:spcAft>
                <a:spcPts val="0"/>
              </a:spcAft>
              <a:buSzPts val="11900"/>
              <a:buNone/>
              <a:defRPr sz="11900"/>
            </a:lvl7pPr>
            <a:lvl8pPr lvl="7" algn="ctr">
              <a:lnSpc>
                <a:spcPct val="100000"/>
              </a:lnSpc>
              <a:spcBef>
                <a:spcPts val="0"/>
              </a:spcBef>
              <a:spcAft>
                <a:spcPts val="0"/>
              </a:spcAft>
              <a:buSzPts val="11900"/>
              <a:buNone/>
              <a:defRPr sz="11900"/>
            </a:lvl8pPr>
            <a:lvl9pPr lvl="8" algn="ctr">
              <a:lnSpc>
                <a:spcPct val="100000"/>
              </a:lnSpc>
              <a:spcBef>
                <a:spcPts val="0"/>
              </a:spcBef>
              <a:spcAft>
                <a:spcPts val="0"/>
              </a:spcAft>
              <a:buSzPts val="11900"/>
              <a:buNone/>
              <a:defRPr sz="11900"/>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0" cy="4840500"/>
          </a:xfrm>
          <a:prstGeom prst="rect">
            <a:avLst/>
          </a:prstGeom>
          <a:noFill/>
          <a:ln>
            <a:noFill/>
          </a:ln>
        </p:spPr>
        <p:txBody>
          <a:bodyPr anchorCtr="0" anchor="ctr" bIns="519950" lIns="519950" spcFirstLastPara="1" rIns="519950" wrap="square" tIns="519950"/>
          <a:lstStyle>
            <a:lvl1pPr indent="-228600" lvl="0" marL="457200">
              <a:lnSpc>
                <a:spcPct val="100000"/>
              </a:lnSpc>
              <a:spcBef>
                <a:spcPts val="0"/>
              </a:spcBef>
              <a:spcAft>
                <a:spcPts val="0"/>
              </a:spcAft>
              <a:buSzPts val="8100"/>
              <a:buNone/>
              <a:defRPr sz="8100"/>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400" cy="15707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68200"/>
              <a:buChar char="●"/>
              <a:defRPr sz="68200"/>
            </a:lvl1pPr>
            <a:lvl2pPr lvl="1" algn="ctr">
              <a:spcBef>
                <a:spcPts val="0"/>
              </a:spcBef>
              <a:spcAft>
                <a:spcPts val="0"/>
              </a:spcAft>
              <a:buSzPts val="68200"/>
              <a:buChar char="○"/>
              <a:defRPr sz="68200"/>
            </a:lvl2pPr>
            <a:lvl3pPr lvl="2" algn="ctr">
              <a:spcBef>
                <a:spcPts val="0"/>
              </a:spcBef>
              <a:spcAft>
                <a:spcPts val="0"/>
              </a:spcAft>
              <a:buSzPts val="68200"/>
              <a:buChar char="■"/>
              <a:defRPr sz="68200"/>
            </a:lvl3pPr>
            <a:lvl4pPr lvl="3" algn="ctr">
              <a:spcBef>
                <a:spcPts val="0"/>
              </a:spcBef>
              <a:spcAft>
                <a:spcPts val="0"/>
              </a:spcAft>
              <a:buSzPts val="68200"/>
              <a:buChar char="●"/>
              <a:defRPr sz="68200"/>
            </a:lvl4pPr>
            <a:lvl5pPr lvl="4" algn="ctr">
              <a:spcBef>
                <a:spcPts val="0"/>
              </a:spcBef>
              <a:spcAft>
                <a:spcPts val="0"/>
              </a:spcAft>
              <a:buSzPts val="68200"/>
              <a:buChar char="○"/>
              <a:defRPr sz="68200"/>
            </a:lvl5pPr>
            <a:lvl6pPr lvl="5" algn="ctr">
              <a:spcBef>
                <a:spcPts val="0"/>
              </a:spcBef>
              <a:spcAft>
                <a:spcPts val="0"/>
              </a:spcAft>
              <a:buSzPts val="68200"/>
              <a:buChar char="■"/>
              <a:defRPr sz="68200"/>
            </a:lvl6pPr>
            <a:lvl7pPr lvl="6" algn="ctr">
              <a:spcBef>
                <a:spcPts val="0"/>
              </a:spcBef>
              <a:spcAft>
                <a:spcPts val="0"/>
              </a:spcAft>
              <a:buSzPts val="68200"/>
              <a:buChar char="●"/>
              <a:defRPr sz="68200"/>
            </a:lvl7pPr>
            <a:lvl8pPr lvl="7" algn="ctr">
              <a:spcBef>
                <a:spcPts val="0"/>
              </a:spcBef>
              <a:spcAft>
                <a:spcPts val="0"/>
              </a:spcAft>
              <a:buSzPts val="68200"/>
              <a:buChar char="○"/>
              <a:defRPr sz="68200"/>
            </a:lvl8pPr>
            <a:lvl9pPr lvl="8" algn="ctr">
              <a:spcBef>
                <a:spcPts val="0"/>
              </a:spcBef>
              <a:spcAft>
                <a:spcPts val="0"/>
              </a:spcAft>
              <a:buSzPts val="68200"/>
              <a:buChar char="■"/>
              <a:defRPr sz="68200"/>
            </a:lvl9pPr>
          </a:lstStyle>
          <a:p>
            <a:r>
              <a:t>xx%</a:t>
            </a:r>
          </a:p>
        </p:txBody>
      </p:sp>
      <p:sp>
        <p:nvSpPr>
          <p:cNvPr id="43" name="Google Shape;43;p11"/>
          <p:cNvSpPr txBox="1"/>
          <p:nvPr>
            <p:ph idx="1" type="body"/>
          </p:nvPr>
        </p:nvSpPr>
        <p:spPr>
          <a:xfrm>
            <a:off x="1246800" y="25217800"/>
            <a:ext cx="34082400" cy="10407000"/>
          </a:xfrm>
          <a:prstGeom prst="rect">
            <a:avLst/>
          </a:prstGeom>
          <a:noFill/>
          <a:ln>
            <a:noFill/>
          </a:ln>
        </p:spPr>
        <p:txBody>
          <a:bodyPr anchorCtr="0" anchor="ctr" bIns="519950" lIns="519950" spcFirstLastPara="1" rIns="519950" wrap="square" tIns="519950"/>
          <a:lstStyle>
            <a:lvl1pPr indent="-742950" lvl="0" marL="457200" algn="ctr">
              <a:spcBef>
                <a:spcPts val="0"/>
              </a:spcBef>
              <a:spcAft>
                <a:spcPts val="0"/>
              </a:spcAft>
              <a:buSzPts val="8100"/>
              <a:buChar char="●"/>
              <a:defRPr sz="8100"/>
            </a:lvl1pPr>
            <a:lvl2pPr indent="-742950" lvl="1" marL="914400" algn="ctr">
              <a:spcBef>
                <a:spcPts val="0"/>
              </a:spcBef>
              <a:spcAft>
                <a:spcPts val="0"/>
              </a:spcAft>
              <a:buSzPts val="8100"/>
              <a:buChar char="○"/>
              <a:defRPr sz="8100"/>
            </a:lvl2pPr>
            <a:lvl3pPr indent="-742950" lvl="2" marL="1371600" algn="ctr">
              <a:spcBef>
                <a:spcPts val="0"/>
              </a:spcBef>
              <a:spcAft>
                <a:spcPts val="0"/>
              </a:spcAft>
              <a:buSzPts val="8100"/>
              <a:buChar char="■"/>
              <a:defRPr sz="8100"/>
            </a:lvl3pPr>
            <a:lvl4pPr indent="-742950" lvl="3" marL="1828800" algn="ctr">
              <a:spcBef>
                <a:spcPts val="0"/>
              </a:spcBef>
              <a:spcAft>
                <a:spcPts val="0"/>
              </a:spcAft>
              <a:buSzPts val="8100"/>
              <a:buChar char="●"/>
              <a:defRPr sz="8100"/>
            </a:lvl4pPr>
            <a:lvl5pPr indent="-742950" lvl="4" marL="2286000" algn="ctr">
              <a:spcBef>
                <a:spcPts val="0"/>
              </a:spcBef>
              <a:spcAft>
                <a:spcPts val="0"/>
              </a:spcAft>
              <a:buSzPts val="8100"/>
              <a:buChar char="○"/>
              <a:defRPr sz="8100"/>
            </a:lvl5pPr>
            <a:lvl6pPr indent="-742950" lvl="5" marL="2743200" algn="ctr">
              <a:spcBef>
                <a:spcPts val="0"/>
              </a:spcBef>
              <a:spcAft>
                <a:spcPts val="0"/>
              </a:spcAft>
              <a:buSzPts val="8100"/>
              <a:buChar char="■"/>
              <a:defRPr sz="8100"/>
            </a:lvl6pPr>
            <a:lvl7pPr indent="-742950" lvl="6" marL="3200400" algn="ctr">
              <a:spcBef>
                <a:spcPts val="0"/>
              </a:spcBef>
              <a:spcAft>
                <a:spcPts val="0"/>
              </a:spcAft>
              <a:buSzPts val="8100"/>
              <a:buChar char="●"/>
              <a:defRPr sz="8100"/>
            </a:lvl7pPr>
            <a:lvl8pPr indent="-742950" lvl="7" marL="3657600" algn="ctr">
              <a:spcBef>
                <a:spcPts val="0"/>
              </a:spcBef>
              <a:spcAft>
                <a:spcPts val="0"/>
              </a:spcAft>
              <a:buSzPts val="8100"/>
              <a:buChar char="○"/>
              <a:defRPr sz="8100"/>
            </a:lvl8pPr>
            <a:lvl9pPr indent="-742950" lvl="8" marL="4114800" algn="ctr">
              <a:spcBef>
                <a:spcPts val="0"/>
              </a:spcBef>
              <a:spcAft>
                <a:spcPts val="0"/>
              </a:spcAft>
              <a:buSzPts val="8100"/>
              <a:buChar char="■"/>
              <a:defRPr sz="8100"/>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sp>
        <p:nvSpPr>
          <p:cNvPr id="51" name="Google Shape;51;p13"/>
          <p:cNvSpPr txBox="1"/>
          <p:nvPr/>
        </p:nvSpPr>
        <p:spPr>
          <a:xfrm>
            <a:off x="19705200" y="25094425"/>
            <a:ext cx="5570100" cy="1858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None/>
            </a:pPr>
            <a:r>
              <a:rPr i="1" lang="en" sz="2000">
                <a:solidFill>
                  <a:srgbClr val="5D89B4"/>
                </a:solidFill>
                <a:latin typeface="Barlow Condensed"/>
                <a:ea typeface="Barlow Condensed"/>
                <a:cs typeface="Barlow Condensed"/>
                <a:sym typeface="Barlow Condensed"/>
              </a:rPr>
              <a:t>Figure 3. ROC plot indicating accuracy of the logistic model;  increasing distance of the curve from the baseline y = x is associated with increased accuracy of model. </a:t>
            </a:r>
            <a:endParaRPr i="1">
              <a:solidFill>
                <a:srgbClr val="5D89B4"/>
              </a:solidFill>
              <a:latin typeface="Barlow Condensed"/>
              <a:ea typeface="Barlow Condensed"/>
              <a:cs typeface="Barlow Condensed"/>
              <a:sym typeface="Barlow Condensed"/>
            </a:endParaRPr>
          </a:p>
        </p:txBody>
      </p:sp>
      <p:sp>
        <p:nvSpPr>
          <p:cNvPr id="52" name="Google Shape;52;p13"/>
          <p:cNvSpPr txBox="1"/>
          <p:nvPr/>
        </p:nvSpPr>
        <p:spPr>
          <a:xfrm>
            <a:off x="8270713" y="20125"/>
            <a:ext cx="26601900" cy="1105800"/>
          </a:xfrm>
          <a:prstGeom prst="rect">
            <a:avLst/>
          </a:prstGeom>
          <a:noFill/>
          <a:ln>
            <a:noFill/>
          </a:ln>
        </p:spPr>
        <p:txBody>
          <a:bodyPr anchorCtr="0" anchor="t" bIns="156150" lIns="312475" spcFirstLastPara="1" rIns="312475" wrap="square" tIns="156150">
            <a:noAutofit/>
          </a:bodyPr>
          <a:lstStyle/>
          <a:p>
            <a:pPr indent="0" lvl="0" marL="0" marR="0" rtl="0" algn="l">
              <a:spcBef>
                <a:spcPts val="0"/>
              </a:spcBef>
              <a:spcAft>
                <a:spcPts val="0"/>
              </a:spcAft>
              <a:buNone/>
            </a:pPr>
            <a:r>
              <a:t/>
            </a:r>
            <a:endParaRPr b="1" sz="9600">
              <a:solidFill>
                <a:srgbClr val="141F22"/>
              </a:solidFill>
              <a:latin typeface="Barlow Condensed"/>
              <a:ea typeface="Barlow Condensed"/>
              <a:cs typeface="Barlow Condensed"/>
              <a:sym typeface="Barlow Condensed"/>
            </a:endParaRPr>
          </a:p>
        </p:txBody>
      </p:sp>
      <p:sp>
        <p:nvSpPr>
          <p:cNvPr id="53" name="Google Shape;53;p13"/>
          <p:cNvSpPr txBox="1"/>
          <p:nvPr/>
        </p:nvSpPr>
        <p:spPr>
          <a:xfrm>
            <a:off x="8270713" y="1432312"/>
            <a:ext cx="26601900" cy="9792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9600">
                <a:solidFill>
                  <a:srgbClr val="141F22"/>
                </a:solidFill>
                <a:latin typeface="Barlow Condensed"/>
                <a:ea typeface="Barlow Condensed"/>
                <a:cs typeface="Barlow Condensed"/>
                <a:sym typeface="Barlow Condensed"/>
              </a:rPr>
              <a:t>Virginia Tech Metrics</a:t>
            </a:r>
            <a:r>
              <a:rPr b="1" lang="en" sz="9600">
                <a:solidFill>
                  <a:srgbClr val="141F22"/>
                </a:solidFill>
                <a:latin typeface="Barlow Condensed"/>
                <a:ea typeface="Barlow Condensed"/>
                <a:cs typeface="Barlow Condensed"/>
                <a:sym typeface="Barlow Condensed"/>
              </a:rPr>
              <a:t> | Enrollment Decisions</a:t>
            </a:r>
            <a:endParaRPr b="1" sz="96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t/>
            </a:r>
            <a:endParaRPr b="1" sz="9600">
              <a:solidFill>
                <a:srgbClr val="141F22"/>
              </a:solidFill>
              <a:latin typeface="Barlow Condensed"/>
              <a:ea typeface="Barlow Condensed"/>
              <a:cs typeface="Barlow Condensed"/>
              <a:sym typeface="Barlow Condensed"/>
            </a:endParaRPr>
          </a:p>
        </p:txBody>
      </p:sp>
      <p:sp>
        <p:nvSpPr>
          <p:cNvPr id="54" name="Google Shape;54;p13"/>
          <p:cNvSpPr txBox="1"/>
          <p:nvPr/>
        </p:nvSpPr>
        <p:spPr>
          <a:xfrm>
            <a:off x="8270714" y="3039425"/>
            <a:ext cx="25925400" cy="697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i="1" lang="en" sz="4800">
                <a:solidFill>
                  <a:srgbClr val="141F22"/>
                </a:solidFill>
                <a:latin typeface="Barlow Condensed"/>
                <a:ea typeface="Barlow Condensed"/>
                <a:cs typeface="Barlow Condensed"/>
                <a:sym typeface="Barlow Condensed"/>
              </a:rPr>
              <a:t>Jay Warajuntano (VT), Doug Mattingly (VT) and Devika Nair (American University)</a:t>
            </a:r>
            <a:endParaRPr i="1" sz="48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t/>
            </a:r>
            <a:endParaRPr i="1" sz="4800">
              <a:solidFill>
                <a:srgbClr val="141F22"/>
              </a:solidFill>
              <a:latin typeface="Barlow Condensed"/>
              <a:ea typeface="Barlow Condensed"/>
              <a:cs typeface="Barlow Condensed"/>
              <a:sym typeface="Barlow Condensed"/>
            </a:endParaRPr>
          </a:p>
        </p:txBody>
      </p:sp>
      <p:sp>
        <p:nvSpPr>
          <p:cNvPr id="55" name="Google Shape;55;p13"/>
          <p:cNvSpPr txBox="1"/>
          <p:nvPr/>
        </p:nvSpPr>
        <p:spPr>
          <a:xfrm>
            <a:off x="1149100" y="27280450"/>
            <a:ext cx="10798800" cy="9792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Conclusion</a:t>
            </a:r>
            <a:endParaRPr b="1" sz="4400">
              <a:solidFill>
                <a:srgbClr val="FFFFFF"/>
              </a:solidFill>
              <a:latin typeface="Barlow Condensed"/>
              <a:ea typeface="Barlow Condensed"/>
              <a:cs typeface="Barlow Condensed"/>
              <a:sym typeface="Barlow Condensed"/>
            </a:endParaRPr>
          </a:p>
        </p:txBody>
      </p:sp>
      <p:sp>
        <p:nvSpPr>
          <p:cNvPr id="56" name="Google Shape;56;p13"/>
          <p:cNvSpPr txBox="1"/>
          <p:nvPr/>
        </p:nvSpPr>
        <p:spPr>
          <a:xfrm>
            <a:off x="12884005" y="11186575"/>
            <a:ext cx="11100600"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Methods</a:t>
            </a:r>
            <a:endParaRPr b="1" sz="4800">
              <a:solidFill>
                <a:srgbClr val="FFFFFF"/>
              </a:solidFill>
              <a:latin typeface="Barlow Condensed"/>
              <a:ea typeface="Barlow Condensed"/>
              <a:cs typeface="Barlow Condensed"/>
              <a:sym typeface="Barlow Condensed"/>
            </a:endParaRPr>
          </a:p>
        </p:txBody>
      </p:sp>
      <p:sp>
        <p:nvSpPr>
          <p:cNvPr id="57" name="Google Shape;57;p13"/>
          <p:cNvSpPr txBox="1"/>
          <p:nvPr/>
        </p:nvSpPr>
        <p:spPr>
          <a:xfrm>
            <a:off x="26817428" y="17747199"/>
            <a:ext cx="5681100" cy="9792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i="1" lang="en" sz="2000">
                <a:solidFill>
                  <a:srgbClr val="5D89B4"/>
                </a:solidFill>
                <a:latin typeface="Barlow Condensed"/>
                <a:ea typeface="Barlow Condensed"/>
                <a:cs typeface="Barlow Condensed"/>
                <a:sym typeface="Barlow Condensed"/>
              </a:rPr>
              <a:t>Figure 1. Correlation plot for all the 18 variables to show potential collinearity between variables.</a:t>
            </a:r>
            <a:endParaRPr i="1" sz="2000">
              <a:solidFill>
                <a:srgbClr val="5D89B4"/>
              </a:solidFill>
              <a:latin typeface="Barlow Condensed"/>
              <a:ea typeface="Barlow Condensed"/>
              <a:cs typeface="Barlow Condensed"/>
              <a:sym typeface="Barlow Condensed"/>
            </a:endParaRPr>
          </a:p>
        </p:txBody>
      </p:sp>
      <p:sp>
        <p:nvSpPr>
          <p:cNvPr id="58" name="Google Shape;58;p13"/>
          <p:cNvSpPr txBox="1"/>
          <p:nvPr/>
        </p:nvSpPr>
        <p:spPr>
          <a:xfrm>
            <a:off x="25525850" y="27217150"/>
            <a:ext cx="9346800" cy="11058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None/>
            </a:pPr>
            <a:r>
              <a:rPr b="1" lang="en" sz="3000">
                <a:solidFill>
                  <a:srgbClr val="FFFFFF"/>
                </a:solidFill>
                <a:latin typeface="Barlow Condensed"/>
                <a:ea typeface="Barlow Condensed"/>
                <a:cs typeface="Barlow Condensed"/>
                <a:sym typeface="Barlow Condensed"/>
              </a:rPr>
              <a:t>References</a:t>
            </a:r>
            <a:endParaRPr b="1" i="0" sz="3000">
              <a:solidFill>
                <a:srgbClr val="FFFFFF"/>
              </a:solidFill>
              <a:latin typeface="Barlow Condensed"/>
              <a:ea typeface="Barlow Condensed"/>
              <a:cs typeface="Barlow Condensed"/>
              <a:sym typeface="Barlow Condensed"/>
            </a:endParaRPr>
          </a:p>
        </p:txBody>
      </p:sp>
      <p:sp>
        <p:nvSpPr>
          <p:cNvPr id="59" name="Google Shape;59;p13"/>
          <p:cNvSpPr txBox="1"/>
          <p:nvPr/>
        </p:nvSpPr>
        <p:spPr>
          <a:xfrm>
            <a:off x="8270711" y="3674375"/>
            <a:ext cx="13240200" cy="697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SDAL: Aaron Schroeder, Gizem Korkmaz and Sallie Keller</a:t>
            </a:r>
            <a:endParaRPr i="1"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Sponsor: </a:t>
            </a:r>
            <a:r>
              <a:rPr i="1" lang="en" sz="3600">
                <a:solidFill>
                  <a:srgbClr val="141F22"/>
                </a:solidFill>
                <a:latin typeface="Barlow Condensed"/>
                <a:ea typeface="Barlow Condensed"/>
                <a:cs typeface="Barlow Condensed"/>
                <a:sym typeface="Barlow Condensed"/>
              </a:rPr>
              <a:t>Ken Smith (Virginia Tech University, Vice Provost)</a:t>
            </a:r>
            <a:endParaRPr i="1" sz="3600">
              <a:solidFill>
                <a:srgbClr val="141F22"/>
              </a:solidFill>
              <a:latin typeface="Barlow Condensed"/>
              <a:ea typeface="Barlow Condensed"/>
              <a:cs typeface="Barlow Condensed"/>
              <a:sym typeface="Barlow Condensed"/>
            </a:endParaRPr>
          </a:p>
        </p:txBody>
      </p:sp>
      <p:sp>
        <p:nvSpPr>
          <p:cNvPr id="60" name="Google Shape;60;p13"/>
          <p:cNvSpPr txBox="1"/>
          <p:nvPr/>
        </p:nvSpPr>
        <p:spPr>
          <a:xfrm>
            <a:off x="1124975" y="6804625"/>
            <a:ext cx="10915500" cy="42435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Virginia Tech University is a land-grant university situated in Blacksburg attracting students from across the country from a diverse set of backgrounds. The Provost’s office is tasked with oversight of all educational activities and student affairs. Ken Smith, the Vice Provost charged our team with exploring and identifying trends around the university’s ability to attract students with particular emphasis on vulnerable populations. </a:t>
            </a:r>
            <a:endParaRPr sz="3600">
              <a:solidFill>
                <a:srgbClr val="141F22"/>
              </a:solidFill>
              <a:latin typeface="Barlow Condensed"/>
              <a:ea typeface="Barlow Condensed"/>
              <a:cs typeface="Barlow Condensed"/>
              <a:sym typeface="Barlow Condensed"/>
            </a:endParaRPr>
          </a:p>
        </p:txBody>
      </p:sp>
      <p:sp>
        <p:nvSpPr>
          <p:cNvPr id="61" name="Google Shape;61;p13"/>
          <p:cNvSpPr txBox="1"/>
          <p:nvPr/>
        </p:nvSpPr>
        <p:spPr>
          <a:xfrm>
            <a:off x="25602050" y="28322950"/>
            <a:ext cx="8819400" cy="7281600"/>
          </a:xfrm>
          <a:prstGeom prst="rect">
            <a:avLst/>
          </a:prstGeom>
          <a:noFill/>
          <a:ln>
            <a:noFill/>
          </a:ln>
        </p:spPr>
        <p:txBody>
          <a:bodyPr anchorCtr="0" anchor="t" bIns="156150" lIns="312475" spcFirstLastPara="1" rIns="312475" wrap="square" tIns="156150">
            <a:noAutofit/>
          </a:bodyPr>
          <a:lstStyle/>
          <a:p>
            <a:pPr indent="-419100" lvl="0" marL="457200" rtl="0" algn="l">
              <a:spcBef>
                <a:spcPts val="0"/>
              </a:spcBef>
              <a:spcAft>
                <a:spcPts val="0"/>
              </a:spcAft>
              <a:buClr>
                <a:srgbClr val="141F22"/>
              </a:buClr>
              <a:buSzPts val="3000"/>
              <a:buFont typeface="Barlow Condensed"/>
              <a:buAutoNum type="arabicPeriod"/>
            </a:pPr>
            <a:r>
              <a:rPr lang="en" sz="3000">
                <a:solidFill>
                  <a:srgbClr val="141F22"/>
                </a:solidFill>
                <a:latin typeface="Barlow Condensed"/>
                <a:ea typeface="Barlow Condensed"/>
                <a:cs typeface="Barlow Condensed"/>
                <a:sym typeface="Barlow Condensed"/>
              </a:rPr>
              <a:t>Papandrea, Dawn. “</a:t>
            </a:r>
            <a:r>
              <a:rPr lang="en" sz="3000">
                <a:solidFill>
                  <a:srgbClr val="333333"/>
                </a:solidFill>
                <a:highlight>
                  <a:srgbClr val="FFFFFF"/>
                </a:highlight>
                <a:latin typeface="Barlow Condensed"/>
                <a:ea typeface="Barlow Condensed"/>
                <a:cs typeface="Barlow Condensed"/>
                <a:sym typeface="Barlow Condensed"/>
              </a:rPr>
              <a:t>International admissions: getting to know you: 5 ways virtual interviews are improving the process of admitting (or not) international student applicants.</a:t>
            </a:r>
            <a:r>
              <a:rPr lang="en" sz="3000">
                <a:solidFill>
                  <a:srgbClr val="141F22"/>
                </a:solidFill>
                <a:latin typeface="Barlow Condensed"/>
                <a:ea typeface="Barlow Condensed"/>
                <a:cs typeface="Barlow Condensed"/>
                <a:sym typeface="Barlow Condensed"/>
              </a:rPr>
              <a:t>” </a:t>
            </a:r>
            <a:r>
              <a:rPr i="1" lang="en" sz="3000">
                <a:solidFill>
                  <a:srgbClr val="141F22"/>
                </a:solidFill>
                <a:latin typeface="Barlow Condensed"/>
                <a:ea typeface="Barlow Condensed"/>
                <a:cs typeface="Barlow Condensed"/>
                <a:sym typeface="Barlow Condensed"/>
              </a:rPr>
              <a:t>University Business</a:t>
            </a:r>
            <a:r>
              <a:rPr lang="en" sz="3000">
                <a:solidFill>
                  <a:srgbClr val="141F22"/>
                </a:solidFill>
                <a:latin typeface="Barlow Condensed"/>
                <a:ea typeface="Barlow Condensed"/>
                <a:cs typeface="Barlow Condensed"/>
                <a:sym typeface="Barlow Condensed"/>
              </a:rPr>
              <a:t>, June 2016, p. 32+. </a:t>
            </a:r>
            <a:r>
              <a:rPr i="1" lang="en" sz="3000">
                <a:solidFill>
                  <a:srgbClr val="141F22"/>
                </a:solidFill>
                <a:latin typeface="Barlow Condensed"/>
                <a:ea typeface="Barlow Condensed"/>
                <a:cs typeface="Barlow Condensed"/>
                <a:sym typeface="Barlow Condensed"/>
              </a:rPr>
              <a:t>ducators Reference Complete</a:t>
            </a:r>
            <a:r>
              <a:rPr lang="en" sz="3000">
                <a:solidFill>
                  <a:srgbClr val="141F22"/>
                </a:solidFill>
                <a:latin typeface="Barlow Condensed"/>
                <a:ea typeface="Barlow Condensed"/>
                <a:cs typeface="Barlow Condensed"/>
                <a:sym typeface="Barlow Condensed"/>
              </a:rPr>
              <a:t>, http://link.galegroup.com.ezproxy.lib.vt.edu/apps/doc/A455058055/PROF?u=viva_vpi&amp;sid+PROF&amp;xid=fe36e197.</a:t>
            </a:r>
            <a:r>
              <a:rPr lang="en" sz="3000">
                <a:solidFill>
                  <a:srgbClr val="141F22"/>
                </a:solidFill>
                <a:latin typeface="Barlow Condensed"/>
                <a:ea typeface="Barlow Condensed"/>
                <a:cs typeface="Barlow Condensed"/>
                <a:sym typeface="Barlow Condensed"/>
              </a:rPr>
              <a:t> Accessed 12 June 2018. </a:t>
            </a:r>
            <a:endParaRPr sz="3000">
              <a:solidFill>
                <a:srgbClr val="141F22"/>
              </a:solidFill>
              <a:latin typeface="Barlow Condensed"/>
              <a:ea typeface="Barlow Condensed"/>
              <a:cs typeface="Barlow Condensed"/>
              <a:sym typeface="Barlow Condensed"/>
            </a:endParaRPr>
          </a:p>
          <a:p>
            <a:pPr indent="-419100" lvl="0" marL="457200" rtl="0" algn="l">
              <a:spcBef>
                <a:spcPts val="0"/>
              </a:spcBef>
              <a:spcAft>
                <a:spcPts val="0"/>
              </a:spcAft>
              <a:buClr>
                <a:srgbClr val="141F22"/>
              </a:buClr>
              <a:buSzPts val="3000"/>
              <a:buFont typeface="Barlow Condensed"/>
              <a:buAutoNum type="arabicPeriod"/>
            </a:pPr>
            <a:r>
              <a:rPr lang="en" sz="3000">
                <a:solidFill>
                  <a:srgbClr val="141F22"/>
                </a:solidFill>
                <a:latin typeface="Barlow Condensed"/>
                <a:ea typeface="Barlow Condensed"/>
                <a:cs typeface="Barlow Condensed"/>
                <a:sym typeface="Barlow Condensed"/>
              </a:rPr>
              <a:t>Calisir, Fethi, et al. “</a:t>
            </a:r>
            <a:r>
              <a:rPr lang="en" sz="3000">
                <a:solidFill>
                  <a:srgbClr val="333333"/>
                </a:solidFill>
                <a:highlight>
                  <a:srgbClr val="FFFFFF"/>
                </a:highlight>
                <a:latin typeface="Barlow Condensed"/>
                <a:ea typeface="Barlow Condensed"/>
                <a:cs typeface="Barlow Condensed"/>
                <a:sym typeface="Barlow Condensed"/>
              </a:rPr>
              <a:t>Predicting academic performance of master's students in engineering management</a:t>
            </a:r>
            <a:r>
              <a:rPr lang="en" sz="3000">
                <a:solidFill>
                  <a:srgbClr val="141F22"/>
                </a:solidFill>
                <a:latin typeface="Barlow Condensed"/>
                <a:ea typeface="Barlow Condensed"/>
                <a:cs typeface="Barlow Condensed"/>
                <a:sym typeface="Barlow Condensed"/>
              </a:rPr>
              <a:t>” </a:t>
            </a:r>
            <a:r>
              <a:rPr i="1" lang="en" sz="3000">
                <a:solidFill>
                  <a:srgbClr val="141F22"/>
                </a:solidFill>
                <a:latin typeface="Barlow Condensed"/>
                <a:ea typeface="Barlow Condensed"/>
                <a:cs typeface="Barlow Condensed"/>
                <a:sym typeface="Barlow Condensed"/>
              </a:rPr>
              <a:t>College Student Journal</a:t>
            </a:r>
            <a:r>
              <a:rPr lang="en" sz="3000">
                <a:solidFill>
                  <a:srgbClr val="141F22"/>
                </a:solidFill>
                <a:latin typeface="Barlow Condensed"/>
                <a:ea typeface="Barlow Condensed"/>
                <a:cs typeface="Barlow Condensed"/>
                <a:sym typeface="Barlow Condensed"/>
              </a:rPr>
              <a:t>, vol. 50, no. 4, December 2016, p. 501+. </a:t>
            </a:r>
            <a:r>
              <a:rPr i="1" lang="en" sz="3000">
                <a:solidFill>
                  <a:srgbClr val="141F22"/>
                </a:solidFill>
                <a:latin typeface="Barlow Condensed"/>
                <a:ea typeface="Barlow Condensed"/>
                <a:cs typeface="Barlow Condensed"/>
                <a:sym typeface="Barlow Condensed"/>
              </a:rPr>
              <a:t>Educators Reference Complete</a:t>
            </a:r>
            <a:r>
              <a:rPr lang="en" sz="3000">
                <a:solidFill>
                  <a:srgbClr val="141F22"/>
                </a:solidFill>
                <a:latin typeface="Barlow Condensed"/>
                <a:ea typeface="Barlow Condensed"/>
                <a:cs typeface="Barlow Condensed"/>
                <a:sym typeface="Barlow Condensed"/>
              </a:rPr>
              <a:t>, http://link.galegroup.com.ezproxy.lib.vt.edu/apps/doc/A474548660/PROF?u=viva_vpi&amp;sid+PROF&amp;xid=b47b9880. Accessed 19 June 2018.</a:t>
            </a:r>
            <a:endParaRPr sz="3000">
              <a:solidFill>
                <a:srgbClr val="141F22"/>
              </a:solidFill>
              <a:latin typeface="Barlow Condensed"/>
              <a:ea typeface="Barlow Condensed"/>
              <a:cs typeface="Barlow Condensed"/>
              <a:sym typeface="Barlow Condensed"/>
            </a:endParaRPr>
          </a:p>
          <a:p>
            <a:pPr indent="-419100" lvl="0" marL="457200" rtl="0" algn="l">
              <a:spcBef>
                <a:spcPts val="0"/>
              </a:spcBef>
              <a:spcAft>
                <a:spcPts val="0"/>
              </a:spcAft>
              <a:buClr>
                <a:srgbClr val="141F22"/>
              </a:buClr>
              <a:buSzPts val="3000"/>
              <a:buFont typeface="Barlow Condensed"/>
              <a:buAutoNum type="arabicPeriod"/>
            </a:pPr>
            <a:r>
              <a:rPr lang="en" sz="3000">
                <a:solidFill>
                  <a:srgbClr val="141F22"/>
                </a:solidFill>
                <a:latin typeface="Barlow Condensed"/>
                <a:ea typeface="Barlow Condensed"/>
                <a:cs typeface="Barlow Condensed"/>
                <a:sym typeface="Barlow Condensed"/>
              </a:rPr>
              <a:t>Tibshirani R (1996) Regression shrinkage and selection via the Lasso. J R Stat Soc Ser B (Methodological) 58(1):267–288</a:t>
            </a:r>
            <a:endParaRPr sz="3000">
              <a:solidFill>
                <a:srgbClr val="141F22"/>
              </a:solidFill>
              <a:latin typeface="Barlow Condensed"/>
              <a:ea typeface="Barlow Condensed"/>
              <a:cs typeface="Barlow Condensed"/>
              <a:sym typeface="Barlow Condensed"/>
            </a:endParaRPr>
          </a:p>
        </p:txBody>
      </p:sp>
      <p:sp>
        <p:nvSpPr>
          <p:cNvPr id="62" name="Google Shape;62;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lgn="l">
              <a:spcBef>
                <a:spcPts val="0"/>
              </a:spcBef>
              <a:spcAft>
                <a:spcPts val="0"/>
              </a:spcAft>
              <a:buNone/>
            </a:pPr>
            <a:r>
              <a:rPr b="1" i="1" lang="en" sz="2400">
                <a:solidFill>
                  <a:srgbClr val="5D89B4"/>
                </a:solidFill>
                <a:latin typeface="Barlow Condensed"/>
                <a:ea typeface="Barlow Condensed"/>
                <a:cs typeface="Barlow Condensed"/>
                <a:sym typeface="Barlow Condensed"/>
              </a:rPr>
              <a:t>Stay Connected:</a:t>
            </a:r>
            <a:endParaRPr b="1" i="1" sz="2400">
              <a:solidFill>
                <a:srgbClr val="5D89B4"/>
              </a:solidFill>
              <a:latin typeface="Barlow Condensed"/>
              <a:ea typeface="Barlow Condensed"/>
              <a:cs typeface="Barlow Condensed"/>
              <a:sym typeface="Barlow Condensed"/>
            </a:endParaRPr>
          </a:p>
        </p:txBody>
      </p:sp>
      <p:sp>
        <p:nvSpPr>
          <p:cNvPr id="63" name="Google Shape;63;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facebook.com/biocomplexity</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twitter.com/biocomplexityvt</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youtube.com/c/biocomplexity</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google.com/+biocomplexity</a:t>
            </a:r>
            <a:endParaRPr b="1" i="1" sz="1800">
              <a:solidFill>
                <a:srgbClr val="5D89B4"/>
              </a:solidFill>
              <a:latin typeface="Barlow Condensed"/>
              <a:ea typeface="Barlow Condensed"/>
              <a:cs typeface="Barlow Condensed"/>
              <a:sym typeface="Barlow Condensed"/>
            </a:endParaRPr>
          </a:p>
        </p:txBody>
      </p:sp>
      <p:sp>
        <p:nvSpPr>
          <p:cNvPr id="64" name="Google Shape;64;p13"/>
          <p:cNvSpPr txBox="1"/>
          <p:nvPr/>
        </p:nvSpPr>
        <p:spPr>
          <a:xfrm>
            <a:off x="12843575" y="6804625"/>
            <a:ext cx="10915500" cy="47946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During the admissions’ phase of a student’s life cycle, there are a number of motivating factors behind a prospective applicant’s decision to enroll within a university. Everything from price to college culture is weighed. Our goal is to analyze and model enrollment decisions from the perspective of applicant and university characteristics. </a:t>
            </a:r>
            <a:endParaRPr sz="3600">
              <a:solidFill>
                <a:srgbClr val="141F22"/>
              </a:solidFill>
              <a:latin typeface="Barlow Condensed"/>
              <a:ea typeface="Barlow Condensed"/>
              <a:cs typeface="Barlow Condensed"/>
              <a:sym typeface="Barlow Condensed"/>
            </a:endParaRPr>
          </a:p>
        </p:txBody>
      </p:sp>
      <p:sp>
        <p:nvSpPr>
          <p:cNvPr id="65" name="Google Shape;65;p13"/>
          <p:cNvSpPr txBox="1"/>
          <p:nvPr/>
        </p:nvSpPr>
        <p:spPr>
          <a:xfrm>
            <a:off x="1032425" y="13050025"/>
            <a:ext cx="10915500" cy="60942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The project leveraged and combined several data sources to identify a number of meaningful variables that break out across the following categories: </a:t>
            </a:r>
            <a:endParaRPr sz="3600">
              <a:solidFill>
                <a:srgbClr val="141F22"/>
              </a:solidFill>
              <a:latin typeface="Barlow Condensed"/>
              <a:ea typeface="Barlow Condensed"/>
              <a:cs typeface="Barlow Condensed"/>
              <a:sym typeface="Barlow Condensed"/>
            </a:endParaRPr>
          </a:p>
          <a:p>
            <a:pPr indent="-457200" lvl="0" marL="914400" rtl="0" algn="l">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Individual Background </a:t>
            </a:r>
            <a:r>
              <a:rPr lang="en" sz="3600">
                <a:solidFill>
                  <a:srgbClr val="141F22"/>
                </a:solidFill>
                <a:latin typeface="Barlow Condensed"/>
                <a:ea typeface="Barlow Condensed"/>
                <a:cs typeface="Barlow Condensed"/>
                <a:sym typeface="Barlow Condensed"/>
              </a:rPr>
              <a:t>Demographic and family characteristics </a:t>
            </a:r>
            <a:endParaRPr sz="3600">
              <a:solidFill>
                <a:srgbClr val="141F22"/>
              </a:solidFill>
              <a:latin typeface="Barlow Condensed"/>
              <a:ea typeface="Barlow Condensed"/>
              <a:cs typeface="Barlow Condensed"/>
              <a:sym typeface="Barlow Condensed"/>
            </a:endParaRPr>
          </a:p>
          <a:p>
            <a:pPr indent="-457200" lvl="0" marL="914400" rtl="0" algn="l">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Academic Performance </a:t>
            </a:r>
            <a:r>
              <a:rPr lang="en" sz="3600">
                <a:solidFill>
                  <a:srgbClr val="141F22"/>
                </a:solidFill>
                <a:latin typeface="Barlow Condensed"/>
                <a:ea typeface="Barlow Condensed"/>
                <a:cs typeface="Barlow Condensed"/>
                <a:sym typeface="Barlow Condensed"/>
              </a:rPr>
              <a:t>Scholarly performance, either for applicants during their high school years or for students within their degree program</a:t>
            </a:r>
            <a:endParaRPr sz="3600">
              <a:solidFill>
                <a:srgbClr val="141F22"/>
              </a:solidFill>
              <a:latin typeface="Barlow Condensed"/>
              <a:ea typeface="Barlow Condensed"/>
              <a:cs typeface="Barlow Condensed"/>
              <a:sym typeface="Barlow Condensed"/>
            </a:endParaRPr>
          </a:p>
          <a:p>
            <a:pPr indent="-457200" lvl="0" marL="914400" rtl="0" algn="l">
              <a:spcBef>
                <a:spcPts val="0"/>
              </a:spcBef>
              <a:spcAft>
                <a:spcPts val="0"/>
              </a:spcAft>
              <a:buClr>
                <a:srgbClr val="141F22"/>
              </a:buClr>
              <a:buSzPts val="3600"/>
              <a:buFont typeface="Barlow Condensed"/>
              <a:buChar char="●"/>
            </a:pPr>
            <a:r>
              <a:rPr b="1" lang="en" sz="3600">
                <a:solidFill>
                  <a:srgbClr val="141F22"/>
                </a:solidFill>
                <a:latin typeface="Barlow Condensed"/>
                <a:ea typeface="Barlow Condensed"/>
                <a:cs typeface="Barlow Condensed"/>
                <a:sym typeface="Barlow Condensed"/>
              </a:rPr>
              <a:t>Competitive Factors</a:t>
            </a:r>
            <a:r>
              <a:rPr lang="en" sz="3600">
                <a:solidFill>
                  <a:srgbClr val="141F22"/>
                </a:solidFill>
                <a:latin typeface="Barlow Condensed"/>
                <a:ea typeface="Barlow Condensed"/>
                <a:cs typeface="Barlow Condensed"/>
                <a:sym typeface="Barlow Condensed"/>
              </a:rPr>
              <a:t> University competitive factors, such as rank or graduation rate</a:t>
            </a:r>
            <a:endParaRPr sz="3600">
              <a:solidFill>
                <a:srgbClr val="141F22"/>
              </a:solidFill>
              <a:latin typeface="Barlow Condensed"/>
              <a:ea typeface="Barlow Condensed"/>
              <a:cs typeface="Barlow Condensed"/>
              <a:sym typeface="Barlow Condensed"/>
            </a:endParaRPr>
          </a:p>
        </p:txBody>
      </p:sp>
      <p:sp>
        <p:nvSpPr>
          <p:cNvPr id="66" name="Google Shape;66;p13"/>
          <p:cNvSpPr txBox="1"/>
          <p:nvPr/>
        </p:nvSpPr>
        <p:spPr>
          <a:xfrm>
            <a:off x="1032425" y="18911250"/>
            <a:ext cx="22795200" cy="17427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Results</a:t>
            </a:r>
            <a:endParaRPr b="1" sz="4800">
              <a:solidFill>
                <a:srgbClr val="FFFFFF"/>
              </a:solidFill>
              <a:latin typeface="Barlow Condensed"/>
              <a:ea typeface="Barlow Condensed"/>
              <a:cs typeface="Barlow Condensed"/>
              <a:sym typeface="Barlow Condensed"/>
            </a:endParaRPr>
          </a:p>
        </p:txBody>
      </p:sp>
      <p:sp>
        <p:nvSpPr>
          <p:cNvPr id="67" name="Google Shape;67;p13"/>
          <p:cNvSpPr txBox="1"/>
          <p:nvPr/>
        </p:nvSpPr>
        <p:spPr>
          <a:xfrm>
            <a:off x="1032425" y="11186575"/>
            <a:ext cx="11350200"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Variables</a:t>
            </a:r>
            <a:endParaRPr b="1" sz="4800">
              <a:solidFill>
                <a:srgbClr val="FFFFFF"/>
              </a:solidFill>
              <a:latin typeface="Barlow Condensed"/>
              <a:ea typeface="Barlow Condensed"/>
              <a:cs typeface="Barlow Condensed"/>
              <a:sym typeface="Barlow Condensed"/>
            </a:endParaRPr>
          </a:p>
        </p:txBody>
      </p:sp>
      <p:sp>
        <p:nvSpPr>
          <p:cNvPr id="68" name="Google Shape;68;p13"/>
          <p:cNvSpPr txBox="1"/>
          <p:nvPr/>
        </p:nvSpPr>
        <p:spPr>
          <a:xfrm>
            <a:off x="1048770" y="5061800"/>
            <a:ext cx="22895400" cy="17427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Background</a:t>
            </a:r>
            <a:endParaRPr b="1" sz="4800">
              <a:solidFill>
                <a:srgbClr val="FFFFFF"/>
              </a:solidFill>
              <a:latin typeface="Barlow Condensed"/>
              <a:ea typeface="Barlow Condensed"/>
              <a:cs typeface="Barlow Condensed"/>
              <a:sym typeface="Barlow Condensed"/>
            </a:endParaRPr>
          </a:p>
        </p:txBody>
      </p:sp>
      <p:sp>
        <p:nvSpPr>
          <p:cNvPr id="69" name="Google Shape;69;p13"/>
          <p:cNvSpPr txBox="1"/>
          <p:nvPr/>
        </p:nvSpPr>
        <p:spPr>
          <a:xfrm>
            <a:off x="26649643" y="15620961"/>
            <a:ext cx="5151000" cy="2204100"/>
          </a:xfrm>
          <a:prstGeom prst="rect">
            <a:avLst/>
          </a:prstGeom>
          <a:noFill/>
          <a:ln>
            <a:noFill/>
          </a:ln>
        </p:spPr>
        <p:txBody>
          <a:bodyPr anchorCtr="0" anchor="t" bIns="156150" lIns="312475" spcFirstLastPara="1" rIns="312475" wrap="square" tIns="156150">
            <a:noAutofit/>
          </a:bodyPr>
          <a:lstStyle/>
          <a:p>
            <a:pPr indent="0" lvl="0" marL="0" rtl="0" algn="ctr">
              <a:spcBef>
                <a:spcPts val="0"/>
              </a:spcBef>
              <a:spcAft>
                <a:spcPts val="0"/>
              </a:spcAft>
              <a:buClr>
                <a:srgbClr val="000000"/>
              </a:buClr>
              <a:buSzPts val="1100"/>
              <a:buFont typeface="Arial"/>
              <a:buNone/>
            </a:pPr>
            <a:r>
              <a:rPr i="1" lang="en" sz="3600">
                <a:solidFill>
                  <a:srgbClr val="B7B7B7"/>
                </a:solidFill>
                <a:latin typeface="Barlow Condensed"/>
                <a:ea typeface="Barlow Condensed"/>
                <a:cs typeface="Barlow Condensed"/>
                <a:sym typeface="Barlow Condensed"/>
              </a:rPr>
              <a:t>Suggested border / frame color and thickness</a:t>
            </a:r>
            <a:endParaRPr i="1" sz="3600">
              <a:solidFill>
                <a:srgbClr val="B7B7B7"/>
              </a:solidFill>
              <a:latin typeface="Barlow Condensed"/>
              <a:ea typeface="Barlow Condensed"/>
              <a:cs typeface="Barlow Condensed"/>
              <a:sym typeface="Barlow Condensed"/>
            </a:endParaRPr>
          </a:p>
          <a:p>
            <a:pPr indent="0" lvl="0" marL="0" rtl="0" algn="ctr">
              <a:spcBef>
                <a:spcPts val="0"/>
              </a:spcBef>
              <a:spcAft>
                <a:spcPts val="0"/>
              </a:spcAft>
              <a:buSzPts val="1100"/>
              <a:buNone/>
            </a:pPr>
            <a:r>
              <a:rPr i="1" lang="en" sz="3600">
                <a:solidFill>
                  <a:srgbClr val="B7B7B7"/>
                </a:solidFill>
                <a:latin typeface="Barlow Condensed"/>
                <a:ea typeface="Barlow Condensed"/>
                <a:cs typeface="Barlow Condensed"/>
                <a:sym typeface="Barlow Condensed"/>
              </a:rPr>
              <a:t>for figures and photos</a:t>
            </a:r>
            <a:endParaRPr i="1" sz="3600">
              <a:solidFill>
                <a:srgbClr val="B7B7B7"/>
              </a:solidFill>
              <a:latin typeface="Barlow Condensed"/>
              <a:ea typeface="Barlow Condensed"/>
              <a:cs typeface="Barlow Condensed"/>
              <a:sym typeface="Barlow Condensed"/>
            </a:endParaRPr>
          </a:p>
        </p:txBody>
      </p:sp>
      <p:sp>
        <p:nvSpPr>
          <p:cNvPr id="70" name="Google Shape;70;p13"/>
          <p:cNvSpPr txBox="1"/>
          <p:nvPr/>
        </p:nvSpPr>
        <p:spPr>
          <a:xfrm>
            <a:off x="1124975" y="28274763"/>
            <a:ext cx="10915500" cy="8038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In conclusion, we were able to successfully model the factors that influence enrollment decisions. Ultimately, 14 out of 18 variables were identified as important attributes for applicants’ decision making process. Many of these variables were binary (such as gender or first-generation status), while some had multiple levels. For example, applicants were offered acceptance to one of the 7 VT colleges, a notably significant factor for enrollment decisions.</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Moreover, </a:t>
            </a:r>
            <a:r>
              <a:rPr lang="en" sz="3600">
                <a:solidFill>
                  <a:srgbClr val="141F22"/>
                </a:solidFill>
                <a:latin typeface="Barlow Condensed"/>
                <a:ea typeface="Barlow Condensed"/>
                <a:cs typeface="Barlow Condensed"/>
                <a:sym typeface="Barlow Condensed"/>
              </a:rPr>
              <a:t>4 out of 14 significant variables showed a negative odds ratio,</a:t>
            </a:r>
            <a:r>
              <a:rPr lang="en" sz="3600">
                <a:solidFill>
                  <a:srgbClr val="141F22"/>
                </a:solidFill>
                <a:latin typeface="Barlow Condensed"/>
                <a:ea typeface="Barlow Condensed"/>
                <a:cs typeface="Barlow Condensed"/>
                <a:sym typeface="Barlow Condensed"/>
              </a:rPr>
              <a:t> indicating that these variables decreased enrollment likelihood</a:t>
            </a:r>
            <a:r>
              <a:rPr lang="en" sz="3600">
                <a:solidFill>
                  <a:srgbClr val="141F22"/>
                </a:solidFill>
                <a:latin typeface="Barlow Condensed"/>
                <a:ea typeface="Barlow Condensed"/>
                <a:cs typeface="Barlow Condensed"/>
                <a:sym typeface="Barlow Condensed"/>
              </a:rPr>
              <a:t>. These included gender, underrepresented minority status, VT college offered, and high school GPA.  We believe that t</a:t>
            </a:r>
            <a:r>
              <a:rPr lang="en" sz="3600">
                <a:solidFill>
                  <a:srgbClr val="141F22"/>
                </a:solidFill>
                <a:latin typeface="Barlow Condensed"/>
                <a:ea typeface="Barlow Condensed"/>
                <a:cs typeface="Barlow Condensed"/>
                <a:sym typeface="Barlow Condensed"/>
              </a:rPr>
              <a:t>he Provost’s office might want to explore potential strategies to  to attract applicants who show vulnerability in these areas.</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71" name="Google Shape;71;p13"/>
          <p:cNvSpPr txBox="1"/>
          <p:nvPr/>
        </p:nvSpPr>
        <p:spPr>
          <a:xfrm>
            <a:off x="12843575" y="28274776"/>
            <a:ext cx="10915500" cy="88170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The 4 significant variables with negative impact on enrollment decisions are gender, </a:t>
            </a:r>
            <a:r>
              <a:rPr lang="en" sz="3600">
                <a:solidFill>
                  <a:srgbClr val="141F22"/>
                </a:solidFill>
                <a:latin typeface="Barlow Condensed"/>
                <a:ea typeface="Barlow Condensed"/>
                <a:cs typeface="Barlow Condensed"/>
                <a:sym typeface="Barlow Condensed"/>
              </a:rPr>
              <a:t>underrepresented</a:t>
            </a:r>
            <a:r>
              <a:rPr lang="en" sz="3600">
                <a:solidFill>
                  <a:srgbClr val="141F22"/>
                </a:solidFill>
                <a:latin typeface="Barlow Condensed"/>
                <a:ea typeface="Barlow Condensed"/>
                <a:cs typeface="Barlow Condensed"/>
                <a:sym typeface="Barlow Condensed"/>
              </a:rPr>
              <a:t> minority, college offered, and high school GPA. Future research into enrollment decision trends could be spent exploring patterns between VT colleges and identifying successful strategies for attracting applicants.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Potential strategies to attract applicants within these riskier populations might include: </a:t>
            </a:r>
            <a:endParaRPr sz="3600">
              <a:solidFill>
                <a:srgbClr val="141F22"/>
              </a:solidFill>
              <a:latin typeface="Barlow Condensed"/>
              <a:ea typeface="Barlow Condensed"/>
              <a:cs typeface="Barlow Condensed"/>
              <a:sym typeface="Barlow Condensed"/>
            </a:endParaRPr>
          </a:p>
          <a:p>
            <a:pPr indent="-457200" lvl="0" marL="457200" rtl="0" algn="l">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Incorporate and weight applicant interviews and essays alongside high school GPA as academic indicators. </a:t>
            </a:r>
            <a:endParaRPr sz="3600">
              <a:solidFill>
                <a:srgbClr val="141F22"/>
              </a:solidFill>
              <a:latin typeface="Barlow Condensed"/>
              <a:ea typeface="Barlow Condensed"/>
              <a:cs typeface="Barlow Condensed"/>
              <a:sym typeface="Barlow Condensed"/>
            </a:endParaRPr>
          </a:p>
          <a:p>
            <a:pPr indent="-457200" lvl="0" marL="457200" rtl="0" algn="l">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Conduct one-on-one welcome meetings for international student applicants.</a:t>
            </a:r>
            <a:r>
              <a:rPr baseline="30000" lang="en" sz="3600">
                <a:solidFill>
                  <a:srgbClr val="141F22"/>
                </a:solidFill>
                <a:latin typeface="Barlow Condensed"/>
                <a:ea typeface="Barlow Condensed"/>
                <a:cs typeface="Barlow Condensed"/>
                <a:sym typeface="Barlow Condensed"/>
              </a:rPr>
              <a:t>1</a:t>
            </a:r>
            <a:r>
              <a:rPr lang="en" sz="3600">
                <a:solidFill>
                  <a:srgbClr val="141F22"/>
                </a:solidFill>
                <a:latin typeface="Barlow Condensed"/>
                <a:ea typeface="Barlow Condensed"/>
                <a:cs typeface="Barlow Condensed"/>
                <a:sym typeface="Barlow Condensed"/>
              </a:rPr>
              <a:t> </a:t>
            </a:r>
            <a:endParaRPr sz="3600">
              <a:solidFill>
                <a:srgbClr val="141F22"/>
              </a:solidFill>
              <a:latin typeface="Barlow Condensed"/>
              <a:ea typeface="Barlow Condensed"/>
              <a:cs typeface="Barlow Condensed"/>
              <a:sym typeface="Barlow Condensed"/>
            </a:endParaRPr>
          </a:p>
          <a:p>
            <a:pPr indent="-457200" lvl="0" marL="457200" rtl="0" algn="l">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Continue to build a supportive and safe college environment for LGBTQ and minority applicants.</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72" name="Google Shape;72;p13"/>
          <p:cNvSpPr txBox="1"/>
          <p:nvPr/>
        </p:nvSpPr>
        <p:spPr>
          <a:xfrm>
            <a:off x="13186550" y="12736400"/>
            <a:ext cx="10572600" cy="5840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The study utilized logistic regression with LASSO-selected features to model enrollment </a:t>
            </a:r>
            <a:r>
              <a:rPr lang="en" sz="3600">
                <a:solidFill>
                  <a:srgbClr val="141F22"/>
                </a:solidFill>
                <a:latin typeface="Barlow Condensed"/>
                <a:ea typeface="Barlow Condensed"/>
                <a:cs typeface="Barlow Condensed"/>
                <a:sym typeface="Barlow Condensed"/>
              </a:rPr>
              <a:t>decision</a:t>
            </a:r>
            <a:r>
              <a:rPr lang="en" sz="3600">
                <a:solidFill>
                  <a:srgbClr val="141F22"/>
                </a:solidFill>
                <a:latin typeface="Barlow Condensed"/>
                <a:ea typeface="Barlow Condensed"/>
                <a:cs typeface="Barlow Condensed"/>
                <a:sym typeface="Barlow Condensed"/>
              </a:rPr>
              <a:t> and successful student progression behaviors. LASSO (least absolute shrinkage and selection operators) is a regression analysis method that seeks to reduce the dimensionality of the data. A second technique, binomial logistic regression, was applied to the reduced datasets’ variables to better model the relationships between our responses and the independent variables and capture the accuracy of our model.</a:t>
            </a:r>
            <a:br>
              <a:rPr lang="en" sz="3600">
                <a:solidFill>
                  <a:srgbClr val="141F22"/>
                </a:solidFill>
                <a:latin typeface="Barlow Condensed"/>
                <a:ea typeface="Barlow Condensed"/>
                <a:cs typeface="Barlow Condensed"/>
                <a:sym typeface="Barlow Condensed"/>
              </a:rPr>
            </a:br>
            <a:endParaRPr sz="3600">
              <a:solidFill>
                <a:srgbClr val="141F22"/>
              </a:solidFill>
              <a:latin typeface="Barlow Condensed"/>
              <a:ea typeface="Barlow Condensed"/>
              <a:cs typeface="Barlow Condensed"/>
              <a:sym typeface="Barlow Condensed"/>
            </a:endParaRPr>
          </a:p>
        </p:txBody>
      </p:sp>
      <p:sp>
        <p:nvSpPr>
          <p:cNvPr id="73" name="Google Shape;73;p13"/>
          <p:cNvSpPr txBox="1"/>
          <p:nvPr/>
        </p:nvSpPr>
        <p:spPr>
          <a:xfrm>
            <a:off x="152400" y="15240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 name="Google Shape;74;p13"/>
          <p:cNvPicPr preferRelativeResize="0"/>
          <p:nvPr/>
        </p:nvPicPr>
        <p:blipFill>
          <a:blip r:embed="rId3">
            <a:alphaModFix/>
          </a:blip>
          <a:stretch>
            <a:fillRect/>
          </a:stretch>
        </p:blipFill>
        <p:spPr>
          <a:xfrm>
            <a:off x="25732438" y="11048113"/>
            <a:ext cx="7518675" cy="6903300"/>
          </a:xfrm>
          <a:prstGeom prst="rect">
            <a:avLst/>
          </a:prstGeom>
          <a:noFill/>
          <a:ln>
            <a:noFill/>
          </a:ln>
        </p:spPr>
      </p:pic>
      <p:sp>
        <p:nvSpPr>
          <p:cNvPr id="75" name="Google Shape;75;p13"/>
          <p:cNvSpPr txBox="1"/>
          <p:nvPr/>
        </p:nvSpPr>
        <p:spPr>
          <a:xfrm>
            <a:off x="24627575" y="5061800"/>
            <a:ext cx="10060800" cy="17427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Data Sources</a:t>
            </a:r>
            <a:endParaRPr b="1" sz="4800">
              <a:solidFill>
                <a:srgbClr val="FFFFFF"/>
              </a:solidFill>
              <a:latin typeface="Barlow Condensed"/>
              <a:ea typeface="Barlow Condensed"/>
              <a:cs typeface="Barlow Condensed"/>
              <a:sym typeface="Barlow Condensed"/>
            </a:endParaRPr>
          </a:p>
        </p:txBody>
      </p:sp>
      <p:sp>
        <p:nvSpPr>
          <p:cNvPr id="76" name="Google Shape;76;p13"/>
          <p:cNvSpPr txBox="1"/>
          <p:nvPr/>
        </p:nvSpPr>
        <p:spPr>
          <a:xfrm>
            <a:off x="24562175" y="6804625"/>
            <a:ext cx="9859200" cy="3621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 We utilized applicant data from a wide range of sources for this project: </a:t>
            </a:r>
            <a:endParaRPr sz="3600">
              <a:solidFill>
                <a:srgbClr val="141F22"/>
              </a:solidFill>
              <a:latin typeface="Barlow Condensed"/>
              <a:ea typeface="Barlow Condensed"/>
              <a:cs typeface="Barlow Condensed"/>
              <a:sym typeface="Barlow Condensed"/>
            </a:endParaRPr>
          </a:p>
          <a:p>
            <a:pPr indent="-457200" lvl="0" marL="914400" rtl="0" algn="l">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National Student Clearinghouse</a:t>
            </a:r>
            <a:endParaRPr sz="3600">
              <a:solidFill>
                <a:srgbClr val="141F22"/>
              </a:solidFill>
              <a:latin typeface="Barlow Condensed"/>
              <a:ea typeface="Barlow Condensed"/>
              <a:cs typeface="Barlow Condensed"/>
              <a:sym typeface="Barlow Condensed"/>
            </a:endParaRPr>
          </a:p>
          <a:p>
            <a:pPr indent="-457200" lvl="0" marL="914400" rtl="0" algn="l">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Virginia Department of Education</a:t>
            </a:r>
            <a:endParaRPr sz="3600">
              <a:solidFill>
                <a:srgbClr val="141F22"/>
              </a:solidFill>
              <a:latin typeface="Barlow Condensed"/>
              <a:ea typeface="Barlow Condensed"/>
              <a:cs typeface="Barlow Condensed"/>
              <a:sym typeface="Barlow Condensed"/>
            </a:endParaRPr>
          </a:p>
          <a:p>
            <a:pPr indent="-457200" lvl="0" marL="914400" rtl="0" algn="l">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College Board</a:t>
            </a:r>
            <a:endParaRPr sz="3600">
              <a:solidFill>
                <a:srgbClr val="141F22"/>
              </a:solidFill>
              <a:latin typeface="Barlow Condensed"/>
              <a:ea typeface="Barlow Condensed"/>
              <a:cs typeface="Barlow Condensed"/>
              <a:sym typeface="Barlow Condensed"/>
            </a:endParaRPr>
          </a:p>
          <a:p>
            <a:pPr indent="-457200" lvl="0" marL="914400" rtl="0" algn="l">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US News</a:t>
            </a:r>
            <a:endParaRPr/>
          </a:p>
        </p:txBody>
      </p:sp>
      <p:sp>
        <p:nvSpPr>
          <p:cNvPr id="77" name="Google Shape;77;p13"/>
          <p:cNvSpPr txBox="1"/>
          <p:nvPr/>
        </p:nvSpPr>
        <p:spPr>
          <a:xfrm>
            <a:off x="12754000" y="20811550"/>
            <a:ext cx="10915500" cy="20787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diagrammed at left. The regression estimates indicate the number of times the probability shifts with that variable, while the bars show the standard deviation. </a:t>
            </a:r>
            <a:endParaRPr sz="3600">
              <a:solidFill>
                <a:srgbClr val="141F22"/>
              </a:solidFill>
              <a:latin typeface="Barlow Condensed"/>
              <a:ea typeface="Barlow Condensed"/>
              <a:cs typeface="Barlow Condensed"/>
              <a:sym typeface="Barlow Condensed"/>
            </a:endParaRPr>
          </a:p>
        </p:txBody>
      </p:sp>
      <p:sp>
        <p:nvSpPr>
          <p:cNvPr id="78" name="Google Shape;78;p13"/>
          <p:cNvSpPr txBox="1"/>
          <p:nvPr/>
        </p:nvSpPr>
        <p:spPr>
          <a:xfrm>
            <a:off x="1249775" y="20862000"/>
            <a:ext cx="10915500" cy="59403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LASSO highlighted the variables as having significant impact on enrollment decisions, Of the original 36 variables, 18 were selected. A</a:t>
            </a:r>
            <a:r>
              <a:rPr lang="en" sz="3600">
                <a:solidFill>
                  <a:srgbClr val="141F22"/>
                </a:solidFill>
                <a:latin typeface="Barlow Condensed"/>
                <a:ea typeface="Barlow Condensed"/>
                <a:cs typeface="Barlow Condensed"/>
                <a:sym typeface="Barlow Condensed"/>
              </a:rPr>
              <a:t> correlation plot was drawn against the variables to identify any potential variables with collinearity, and the resulting plot is shown in Figure 1. The plot indicates a correlation score of 0.5 between in-state tuition, residency-college state match, and high school college-goingness culture.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Logistic regression was run on these 18 variables to model enrollment decisions and the resulting model’s coefficients are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t/>
            </a:r>
            <a:endParaRPr sz="3600">
              <a:solidFill>
                <a:srgbClr val="141F22"/>
              </a:solidFill>
              <a:latin typeface="Barlow Condensed"/>
              <a:ea typeface="Barlow Condensed"/>
              <a:cs typeface="Barlow Condensed"/>
              <a:sym typeface="Barlow Condensed"/>
            </a:endParaRPr>
          </a:p>
        </p:txBody>
      </p:sp>
      <p:pic>
        <p:nvPicPr>
          <p:cNvPr id="79" name="Google Shape;79;p13"/>
          <p:cNvPicPr preferRelativeResize="0"/>
          <p:nvPr/>
        </p:nvPicPr>
        <p:blipFill>
          <a:blip r:embed="rId4">
            <a:alphaModFix/>
          </a:blip>
          <a:stretch>
            <a:fillRect/>
          </a:stretch>
        </p:blipFill>
        <p:spPr>
          <a:xfrm>
            <a:off x="19956598" y="22094429"/>
            <a:ext cx="3333323" cy="2999999"/>
          </a:xfrm>
          <a:prstGeom prst="rect">
            <a:avLst/>
          </a:prstGeom>
          <a:noFill/>
          <a:ln>
            <a:noFill/>
          </a:ln>
        </p:spPr>
      </p:pic>
      <p:sp>
        <p:nvSpPr>
          <p:cNvPr id="80" name="Google Shape;80;p13"/>
          <p:cNvSpPr txBox="1"/>
          <p:nvPr/>
        </p:nvSpPr>
        <p:spPr>
          <a:xfrm>
            <a:off x="27067227" y="25403900"/>
            <a:ext cx="7128900" cy="9792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i="1" lang="en" sz="2000">
                <a:solidFill>
                  <a:srgbClr val="5D89B4"/>
                </a:solidFill>
                <a:latin typeface="Barlow Condensed"/>
                <a:ea typeface="Barlow Condensed"/>
                <a:cs typeface="Barlow Condensed"/>
                <a:sym typeface="Barlow Condensed"/>
              </a:rPr>
              <a:t>Figure 2. Coefficient plot of</a:t>
            </a:r>
            <a:r>
              <a:rPr i="1" lang="en" sz="2000">
                <a:solidFill>
                  <a:srgbClr val="5D89B4"/>
                </a:solidFill>
                <a:latin typeface="Barlow Condensed"/>
                <a:ea typeface="Barlow Condensed"/>
                <a:cs typeface="Barlow Condensed"/>
                <a:sym typeface="Barlow Condensed"/>
              </a:rPr>
              <a:t> significant variables indicated by logistic regression: points show magnitude of log-odds ratio for each variable while bars indicate size of standard deviation.</a:t>
            </a:r>
            <a:endParaRPr i="1" sz="2000">
              <a:solidFill>
                <a:srgbClr val="5D89B4"/>
              </a:solidFill>
              <a:latin typeface="Barlow Condensed"/>
              <a:ea typeface="Barlow Condensed"/>
              <a:cs typeface="Barlow Condensed"/>
              <a:sym typeface="Barlow Condensed"/>
            </a:endParaRPr>
          </a:p>
        </p:txBody>
      </p:sp>
      <p:sp>
        <p:nvSpPr>
          <p:cNvPr id="81" name="Google Shape;81;p13"/>
          <p:cNvSpPr txBox="1"/>
          <p:nvPr/>
        </p:nvSpPr>
        <p:spPr>
          <a:xfrm>
            <a:off x="12748325" y="23112550"/>
            <a:ext cx="5833200" cy="26274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3600">
                <a:solidFill>
                  <a:srgbClr val="141F22"/>
                </a:solidFill>
                <a:latin typeface="Barlow Condensed"/>
                <a:ea typeface="Barlow Condensed"/>
                <a:cs typeface="Barlow Condensed"/>
                <a:sym typeface="Barlow Condensed"/>
              </a:rPr>
              <a:t>The model’s prediction showed an accuracy rate of 82%. The ROC </a:t>
            </a:r>
            <a:r>
              <a:rPr lang="en" sz="3600">
                <a:solidFill>
                  <a:srgbClr val="141F22"/>
                </a:solidFill>
                <a:latin typeface="Barlow Condensed"/>
                <a:ea typeface="Barlow Condensed"/>
                <a:cs typeface="Barlow Condensed"/>
                <a:sym typeface="Barlow Condensed"/>
              </a:rPr>
              <a:t>diagrammed at left shows the performance of the model, well above the baseline rate of 50%.</a:t>
            </a:r>
            <a:endParaRPr sz="3600">
              <a:solidFill>
                <a:srgbClr val="141F22"/>
              </a:solidFill>
              <a:latin typeface="Barlow Condensed"/>
              <a:ea typeface="Barlow Condensed"/>
              <a:cs typeface="Barlow Condensed"/>
              <a:sym typeface="Barlow Condensed"/>
            </a:endParaRPr>
          </a:p>
        </p:txBody>
      </p:sp>
      <p:sp>
        <p:nvSpPr>
          <p:cNvPr id="82" name="Google Shape;82;p13"/>
          <p:cNvSpPr txBox="1"/>
          <p:nvPr/>
        </p:nvSpPr>
        <p:spPr>
          <a:xfrm>
            <a:off x="12754000" y="27280450"/>
            <a:ext cx="10769700" cy="9792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Next Steps</a:t>
            </a:r>
            <a:endParaRPr b="1" sz="4400">
              <a:solidFill>
                <a:srgbClr val="FFFFFF"/>
              </a:solidFill>
              <a:latin typeface="Barlow Condensed"/>
              <a:ea typeface="Barlow Condensed"/>
              <a:cs typeface="Barlow Condensed"/>
              <a:sym typeface="Barlow Condensed"/>
            </a:endParaRPr>
          </a:p>
        </p:txBody>
      </p:sp>
      <p:pic>
        <p:nvPicPr>
          <p:cNvPr id="83" name="Google Shape;83;p13"/>
          <p:cNvPicPr preferRelativeResize="0"/>
          <p:nvPr/>
        </p:nvPicPr>
        <p:blipFill>
          <a:blip r:embed="rId5">
            <a:alphaModFix/>
          </a:blip>
          <a:stretch>
            <a:fillRect/>
          </a:stretch>
        </p:blipFill>
        <p:spPr>
          <a:xfrm>
            <a:off x="24728387" y="20249357"/>
            <a:ext cx="9859200" cy="4845060"/>
          </a:xfrm>
          <a:prstGeom prst="rect">
            <a:avLst/>
          </a:prstGeom>
          <a:noFill/>
          <a:ln cap="flat" cmpd="sng" w="9525">
            <a:solidFill>
              <a:srgbClr val="FFFFFF"/>
            </a:solidFill>
            <a:prstDash val="solid"/>
            <a:round/>
            <a:headEnd len="sm" w="sm" type="none"/>
            <a:tailEnd len="sm" w="sm" type="none"/>
          </a:ln>
        </p:spPr>
      </p:pic>
      <p:pic>
        <p:nvPicPr>
          <p:cNvPr id="84" name="Google Shape;84;p13"/>
          <p:cNvPicPr preferRelativeResize="0"/>
          <p:nvPr/>
        </p:nvPicPr>
        <p:blipFill>
          <a:blip r:embed="rId6">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1BDBF1EE-E1B8-4A4C-8D10-0D5340386ADB}"/>
</file>

<file path=customXml/itemProps2.xml><?xml version="1.0" encoding="utf-8"?>
<ds:datastoreItem xmlns:ds="http://schemas.openxmlformats.org/officeDocument/2006/customXml" ds:itemID="{9CFD8521-7B1A-42C3-93B4-7AE433058BBF}"/>
</file>

<file path=customXml/itemProps3.xml><?xml version="1.0" encoding="utf-8"?>
<ds:datastoreItem xmlns:ds="http://schemas.openxmlformats.org/officeDocument/2006/customXml" ds:itemID="{424D5979-C849-480E-A7CB-5FB60BEE516D}"/>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