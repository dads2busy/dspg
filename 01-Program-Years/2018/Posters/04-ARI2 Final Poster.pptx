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
      <p:font typeface="Barlow Condensed Light"/>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font" Target="fonts/BarlowCondensedLight-italic.fntdata"/><Relationship Id="rId8" Type="http://schemas.openxmlformats.org/officeDocument/2006/relationships/font" Target="fonts/BarlowCondensed-bold.fntdata"/><Relationship Id="rId3" Type="http://schemas.openxmlformats.org/officeDocument/2006/relationships/presProps" Target="presProps.xml"/><Relationship Id="rId12" Type="http://schemas.openxmlformats.org/officeDocument/2006/relationships/font" Target="fonts/BarlowCondensedLight-bold.fntdata"/><Relationship Id="rId7" Type="http://schemas.openxmlformats.org/officeDocument/2006/relationships/font" Target="fonts/BarlowCondensed-regular.fntdata"/><Relationship Id="rId17" Type="http://schemas.openxmlformats.org/officeDocument/2006/relationships/customXml" Target="../customXml/item3.xml"/><Relationship Id="rId2" Type="http://schemas.openxmlformats.org/officeDocument/2006/relationships/viewProps" Target="viewProps.xml"/><Relationship Id="rId16" Type="http://schemas.openxmlformats.org/officeDocument/2006/relationships/customXml" Target="../customXml/item2.xml"/><Relationship Id="rId11" Type="http://schemas.openxmlformats.org/officeDocument/2006/relationships/font" Target="fonts/BarlowCondensedLight-regular.fntdata"/><Relationship Id="rId1" Type="http://schemas.openxmlformats.org/officeDocument/2006/relationships/theme" Target="theme/theme1.xml"/><Relationship Id="rId6" Type="http://schemas.openxmlformats.org/officeDocument/2006/relationships/slide" Target="slides/slide1.xml"/><Relationship Id="rId5" Type="http://schemas.openxmlformats.org/officeDocument/2006/relationships/notesMaster" Target="notesMasters/notesMaster1.xml"/><Relationship Id="rId15" Type="http://schemas.openxmlformats.org/officeDocument/2006/relationships/customXml" Target="../customXml/item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 Id="rId14" Type="http://schemas.openxmlformats.org/officeDocument/2006/relationships/font" Target="fonts/BarlowCondensed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a:t>
            </a:r>
            <a:r>
              <a:rPr lang="en">
                <a:solidFill>
                  <a:schemeClr val="dk1"/>
                </a:solidFill>
              </a:rPr>
              <a:t>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jpg"/><Relationship Id="rId5" Type="http://schemas.openxmlformats.org/officeDocument/2006/relationships/image" Target="../media/image5.jpg"/><Relationship Id="rId6" Type="http://schemas.openxmlformats.org/officeDocument/2006/relationships/image" Target="../media/image3.png"/><Relationship Id="rId7"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25" y="20125"/>
            <a:ext cx="26601900" cy="2976300"/>
          </a:xfrm>
          <a:prstGeom prst="rect">
            <a:avLst/>
          </a:prstGeom>
          <a:no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9600">
                <a:solidFill>
                  <a:srgbClr val="141F22"/>
                </a:solidFill>
                <a:latin typeface="Barlow Condensed"/>
                <a:ea typeface="Barlow Condensed"/>
                <a:cs typeface="Barlow Condensed"/>
                <a:sym typeface="Barlow Condensed"/>
              </a:rPr>
              <a:t>Community Profiles of Army Installations</a:t>
            </a:r>
            <a:endParaRPr b="1" sz="9600">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8270714" y="2996575"/>
            <a:ext cx="25925400" cy="697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rPr i="1" lang="en" sz="3600">
                <a:solidFill>
                  <a:srgbClr val="141F22"/>
                </a:solidFill>
                <a:latin typeface="Barlow Condensed"/>
                <a:ea typeface="Barlow Condensed"/>
                <a:cs typeface="Barlow Condensed"/>
                <a:sym typeface="Barlow Condensed"/>
              </a:rPr>
              <a:t>Kelsey McMahon (Virginia Tech), Megan Grondine (Virginia Tech), Emily Sheen (Pennsylvania State University), Daniel Liden (University of Minnesota) </a:t>
            </a:r>
            <a:endParaRPr i="1" sz="36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rPr i="1" lang="en" sz="3600">
                <a:solidFill>
                  <a:srgbClr val="141F22"/>
                </a:solidFill>
                <a:latin typeface="Barlow Condensed"/>
                <a:ea typeface="Barlow Condensed"/>
                <a:cs typeface="Barlow Condensed"/>
                <a:sym typeface="Barlow Condensed"/>
              </a:rPr>
              <a:t>with Joshua Goldstein and Stephanie Shipp (SDAL)</a:t>
            </a:r>
            <a:endParaRPr i="1" sz="36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rPr i="1" lang="en" sz="3600">
                <a:solidFill>
                  <a:srgbClr val="141F22"/>
                </a:solidFill>
                <a:latin typeface="Barlow Condensed"/>
                <a:ea typeface="Barlow Condensed"/>
                <a:cs typeface="Barlow Condensed"/>
                <a:sym typeface="Barlow Condensed"/>
              </a:rPr>
              <a:t>Joel Thurston and Nathaniel Ratcliff, US Army Research Institute for Behavioral and Social Science Research</a:t>
            </a:r>
            <a:endParaRPr i="1" sz="36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3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24103300" y="15526550"/>
            <a:ext cx="11100600" cy="979200"/>
          </a:xfrm>
          <a:prstGeom prst="rect">
            <a:avLst/>
          </a:prstGeom>
          <a:solidFill>
            <a:srgbClr val="C64600"/>
          </a:solid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Conclusions and Next Steps</a:t>
            </a:r>
            <a:endParaRPr b="1" sz="4800">
              <a:solidFill>
                <a:srgbClr val="FFFFFF"/>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b="1" sz="4400">
              <a:solidFill>
                <a:srgbClr val="FFFFFF"/>
              </a:solidFill>
              <a:latin typeface="Barlow Condensed"/>
              <a:ea typeface="Barlow Condensed"/>
              <a:cs typeface="Barlow Condensed"/>
              <a:sym typeface="Barlow Condensed"/>
            </a:endParaRPr>
          </a:p>
        </p:txBody>
      </p:sp>
      <p:sp>
        <p:nvSpPr>
          <p:cNvPr id="54" name="Google Shape;54;p13"/>
          <p:cNvSpPr txBox="1"/>
          <p:nvPr/>
        </p:nvSpPr>
        <p:spPr>
          <a:xfrm>
            <a:off x="870500" y="27791900"/>
            <a:ext cx="11498400" cy="979200"/>
          </a:xfrm>
          <a:prstGeom prst="rect">
            <a:avLst/>
          </a:prstGeom>
          <a:solidFill>
            <a:srgbClr val="861F41"/>
          </a:solidFill>
          <a:ln cap="flat" cmpd="sng" w="9525">
            <a:solidFill>
              <a:srgbClr val="FFFFFF"/>
            </a:solidFill>
            <a:prstDash val="solid"/>
            <a:round/>
            <a:headEnd len="sm" w="sm" type="none"/>
            <a:tailEnd len="sm" w="sm" type="none"/>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Exploratory Analysis</a:t>
            </a:r>
            <a:endParaRPr b="1" sz="48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12542825" y="9950225"/>
            <a:ext cx="111006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4000">
                <a:solidFill>
                  <a:srgbClr val="FFFFFF"/>
                </a:solidFill>
                <a:latin typeface="Barlow Condensed"/>
                <a:ea typeface="Barlow Condensed"/>
                <a:cs typeface="Barlow Condensed"/>
                <a:sym typeface="Barlow Condensed"/>
              </a:rPr>
              <a:t>References/Acknowledgements</a:t>
            </a:r>
            <a:endParaRPr b="1" i="0" sz="4000">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124975" y="6058925"/>
            <a:ext cx="10915500" cy="83097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latin typeface="Barlow Condensed"/>
                <a:ea typeface="Barlow Condensed"/>
                <a:cs typeface="Barlow Condensed"/>
                <a:sym typeface="Barlow Condensed"/>
              </a:rPr>
              <a:t>The goal of this project is to understand and quantify embeddedness of Army Soldiers in their jobs and communities. </a:t>
            </a:r>
            <a:endParaRPr sz="3600">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1200">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i="1" lang="en" sz="3600">
                <a:solidFill>
                  <a:schemeClr val="dk1"/>
                </a:solidFill>
                <a:latin typeface="Barlow Condensed"/>
                <a:ea typeface="Barlow Condensed"/>
                <a:cs typeface="Barlow Condensed"/>
                <a:sym typeface="Barlow Condensed"/>
              </a:rPr>
              <a:t>Research Questions: </a:t>
            </a:r>
            <a:endParaRPr i="1" sz="3600">
              <a:solidFill>
                <a:schemeClr val="dk1"/>
              </a:solidFill>
              <a:latin typeface="Barlow Condensed"/>
              <a:ea typeface="Barlow Condensed"/>
              <a:cs typeface="Barlow Condensed"/>
              <a:sym typeface="Barlow Condensed"/>
            </a:endParaRPr>
          </a:p>
          <a:p>
            <a:pPr indent="-457200" lvl="0" marL="457200" rtl="0" algn="l">
              <a:lnSpc>
                <a:spcPct val="115000"/>
              </a:lnSpc>
              <a:spcBef>
                <a:spcPts val="0"/>
              </a:spcBef>
              <a:spcAft>
                <a:spcPts val="0"/>
              </a:spcAft>
              <a:buClr>
                <a:schemeClr val="dk1"/>
              </a:buClr>
              <a:buSzPts val="3600"/>
              <a:buFont typeface="Barlow Condensed"/>
              <a:buChar char="●"/>
            </a:pPr>
            <a:r>
              <a:rPr b="1" lang="en" sz="3600">
                <a:solidFill>
                  <a:schemeClr val="dk1"/>
                </a:solidFill>
                <a:latin typeface="Barlow Condensed"/>
                <a:ea typeface="Barlow Condensed"/>
                <a:cs typeface="Barlow Condensed"/>
                <a:sym typeface="Barlow Condensed"/>
              </a:rPr>
              <a:t>Can we relate the characteristics of community embeddedness back to metrics of Soldier performance?</a:t>
            </a:r>
            <a:endParaRPr b="1" sz="3600">
              <a:solidFill>
                <a:schemeClr val="dk1"/>
              </a:solidFill>
              <a:latin typeface="Barlow Condensed"/>
              <a:ea typeface="Barlow Condensed"/>
              <a:cs typeface="Barlow Condensed"/>
              <a:sym typeface="Barlow Condensed"/>
            </a:endParaRPr>
          </a:p>
          <a:p>
            <a:pPr indent="-457200" lvl="0" marL="457200" rtl="0" algn="l">
              <a:lnSpc>
                <a:spcPct val="115000"/>
              </a:lnSpc>
              <a:spcBef>
                <a:spcPts val="0"/>
              </a:spcBef>
              <a:spcAft>
                <a:spcPts val="0"/>
              </a:spcAft>
              <a:buClr>
                <a:schemeClr val="dk1"/>
              </a:buClr>
              <a:buSzPts val="3600"/>
              <a:buFont typeface="Barlow Condensed"/>
              <a:buChar char="●"/>
            </a:pPr>
            <a:r>
              <a:rPr b="1" lang="en" sz="3600">
                <a:solidFill>
                  <a:schemeClr val="dk1"/>
                </a:solidFill>
                <a:latin typeface="Barlow Condensed"/>
                <a:ea typeface="Barlow Condensed"/>
                <a:cs typeface="Barlow Condensed"/>
                <a:sym typeface="Barlow Condensed"/>
              </a:rPr>
              <a:t>Can similar community profiles be clustered into categories using unsupervised learning methods?</a:t>
            </a:r>
            <a:endParaRPr b="1" sz="3600">
              <a:latin typeface="Barlow Condensed"/>
              <a:ea typeface="Barlow Condensed"/>
              <a:cs typeface="Barlow Condensed"/>
              <a:sym typeface="Barlow Condensed"/>
            </a:endParaRPr>
          </a:p>
          <a:p>
            <a:pPr indent="0" lvl="0" marL="0" rtl="0" algn="l">
              <a:spcBef>
                <a:spcPts val="0"/>
              </a:spcBef>
              <a:spcAft>
                <a:spcPts val="0"/>
              </a:spcAft>
              <a:buClr>
                <a:srgbClr val="000000"/>
              </a:buClr>
              <a:buSzPts val="1100"/>
              <a:buFont typeface="Arial"/>
              <a:buNone/>
            </a:pPr>
            <a:r>
              <a:t/>
            </a:r>
            <a:endParaRPr sz="1200">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600">
                <a:latin typeface="Barlow Condensed"/>
                <a:ea typeface="Barlow Condensed"/>
                <a:cs typeface="Barlow Condensed"/>
                <a:sym typeface="Barlow Condensed"/>
              </a:rPr>
              <a:t>We searched the web for publicly available data sources that could help expand the installation community profiles that were created by DSPG 2017.  After creating a clean and detailed data product, we examined relationships among variables that may indicate h</a:t>
            </a:r>
            <a:r>
              <a:rPr lang="en" sz="3600">
                <a:highlight>
                  <a:srgbClr val="FFFFFF"/>
                </a:highlight>
                <a:latin typeface="Barlow Condensed"/>
                <a:ea typeface="Barlow Condensed"/>
                <a:cs typeface="Barlow Condensed"/>
                <a:sym typeface="Barlow Condensed"/>
              </a:rPr>
              <a:t>ow social behaviors and external influences drive Soldiers to successfully perform their jobs.  We did not address soldier performance within installations due to delays in obtaining data from ARI.</a:t>
            </a:r>
            <a:endParaRPr sz="3600">
              <a:latin typeface="Barlow Condensed"/>
              <a:ea typeface="Barlow Condensed"/>
              <a:cs typeface="Barlow Condensed"/>
              <a:sym typeface="Barlow Condensed"/>
            </a:endParaRPr>
          </a:p>
        </p:txBody>
      </p:sp>
      <p:sp>
        <p:nvSpPr>
          <p:cNvPr id="57" name="Google Shape;57;p13"/>
          <p:cNvSpPr txBox="1"/>
          <p:nvPr/>
        </p:nvSpPr>
        <p:spPr>
          <a:xfrm>
            <a:off x="12605225" y="11056025"/>
            <a:ext cx="10915500" cy="4495200"/>
          </a:xfrm>
          <a:prstGeom prst="rect">
            <a:avLst/>
          </a:prstGeom>
          <a:noFill/>
          <a:ln>
            <a:noFill/>
          </a:ln>
        </p:spPr>
        <p:txBody>
          <a:bodyPr anchorCtr="0" anchor="t" bIns="156150" lIns="312475" spcFirstLastPara="1" rIns="312475" wrap="square" tIns="156150">
            <a:noAutofit/>
          </a:bodyPr>
          <a:lstStyle/>
          <a:p>
            <a:pPr indent="-419100" lvl="0" marL="457200" rtl="0" algn="l">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Holtom, Mitchell, and Lee:  "Increasing human and social capital by applying job embeddedness theory"</a:t>
            </a:r>
            <a:endParaRPr sz="3000">
              <a:solidFill>
                <a:schemeClr val="dk1"/>
              </a:solidFill>
              <a:latin typeface="Barlow Condensed"/>
              <a:ea typeface="Barlow Condensed"/>
              <a:cs typeface="Barlow Condensed"/>
              <a:sym typeface="Barlow Condensed"/>
            </a:endParaRPr>
          </a:p>
          <a:p>
            <a:pPr indent="-419100" lvl="0" marL="457200" rtl="0" algn="l">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Kiazad, Holton, Hom, and Newman: "Job Embeddedness: A Multifoci Theoretical Extension"</a:t>
            </a:r>
            <a:endParaRPr sz="3000">
              <a:solidFill>
                <a:schemeClr val="dk1"/>
              </a:solidFill>
              <a:latin typeface="Barlow Condensed"/>
              <a:ea typeface="Barlow Condensed"/>
              <a:cs typeface="Barlow Condensed"/>
              <a:sym typeface="Barlow Condensed"/>
            </a:endParaRPr>
          </a:p>
          <a:p>
            <a:pPr indent="-419100" lvl="0" marL="457200" rtl="0" algn="l">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Lee et. al.: "The Effects of Job Embeddedness on Organizational Citizenship, Job Performance, Volitional Absences, and Voluntary Turnover" </a:t>
            </a:r>
            <a:endParaRPr sz="3000">
              <a:solidFill>
                <a:schemeClr val="dk1"/>
              </a:solidFill>
              <a:latin typeface="Barlow Condensed"/>
              <a:ea typeface="Barlow Condensed"/>
              <a:cs typeface="Barlow Condensed"/>
              <a:sym typeface="Barlow Condensed"/>
            </a:endParaRPr>
          </a:p>
          <a:p>
            <a:pPr indent="-419100" lvl="0" marL="457200" rtl="0" algn="l">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Zhang, Fried, and Griffeth: "A review of job embeddedness: Conceptual, measurement issues, and directions for future research"</a:t>
            </a:r>
            <a:endParaRPr sz="3000">
              <a:solidFill>
                <a:srgbClr val="141F22"/>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2376700" y="6109175"/>
            <a:ext cx="11100600" cy="38409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SzPts val="1100"/>
              <a:buNone/>
            </a:pPr>
            <a:r>
              <a:rPr i="1" lang="en" sz="3600">
                <a:latin typeface="Barlow Condensed"/>
                <a:ea typeface="Barlow Condensed"/>
                <a:cs typeface="Barlow Condensed"/>
                <a:sym typeface="Barlow Condensed"/>
              </a:rPr>
              <a:t>Publicly available data sources</a:t>
            </a:r>
            <a:endParaRPr i="1" sz="3600">
              <a:latin typeface="Barlow Condensed"/>
              <a:ea typeface="Barlow Condensed"/>
              <a:cs typeface="Barlow Condensed"/>
              <a:sym typeface="Barlow Condensed"/>
            </a:endParaRPr>
          </a:p>
          <a:p>
            <a:pPr indent="-533400" lvl="0" marL="609600" rtl="0" algn="l">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County Health Rankings </a:t>
            </a:r>
            <a:r>
              <a:rPr lang="en" sz="3600">
                <a:latin typeface="Barlow Condensed Light"/>
                <a:ea typeface="Barlow Condensed Light"/>
                <a:cs typeface="Barlow Condensed Light"/>
                <a:sym typeface="Barlow Condensed Light"/>
              </a:rPr>
              <a:t>- overall health data</a:t>
            </a:r>
            <a:endParaRPr sz="3600">
              <a:latin typeface="Barlow Condensed Light"/>
              <a:ea typeface="Barlow Condensed Light"/>
              <a:cs typeface="Barlow Condensed Light"/>
              <a:sym typeface="Barlow Condensed Light"/>
            </a:endParaRPr>
          </a:p>
          <a:p>
            <a:pPr indent="-533400" lvl="0" marL="609600" rtl="0" algn="l">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Simply Analytics</a:t>
            </a:r>
            <a:r>
              <a:rPr lang="en" sz="3600">
                <a:latin typeface="Barlow Condensed Light"/>
                <a:ea typeface="Barlow Condensed Light"/>
                <a:cs typeface="Barlow Condensed Light"/>
                <a:sym typeface="Barlow Condensed Light"/>
              </a:rPr>
              <a:t> - popular data, business data, location data</a:t>
            </a:r>
            <a:endParaRPr sz="3600">
              <a:latin typeface="Barlow Condensed Light"/>
              <a:ea typeface="Barlow Condensed Light"/>
              <a:cs typeface="Barlow Condensed Light"/>
              <a:sym typeface="Barlow Condensed Light"/>
            </a:endParaRPr>
          </a:p>
          <a:p>
            <a:pPr indent="-533400" lvl="0" marL="609600" rtl="0" algn="l">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NCES</a:t>
            </a:r>
            <a:r>
              <a:rPr lang="en" sz="3600">
                <a:latin typeface="Barlow Condensed Light"/>
                <a:ea typeface="Barlow Condensed Light"/>
                <a:cs typeface="Barlow Condensed Light"/>
                <a:sym typeface="Barlow Condensed Light"/>
              </a:rPr>
              <a:t> - public &amp; private elementary through high school in US</a:t>
            </a:r>
            <a:endParaRPr sz="3600">
              <a:latin typeface="Barlow Condensed Light"/>
              <a:ea typeface="Barlow Condensed Light"/>
              <a:cs typeface="Barlow Condensed Light"/>
              <a:sym typeface="Barlow Condensed Light"/>
            </a:endParaRPr>
          </a:p>
          <a:p>
            <a:pPr indent="-533400" lvl="0" marL="609600" rtl="0" algn="l">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ACS </a:t>
            </a:r>
            <a:r>
              <a:rPr lang="en" sz="3600">
                <a:latin typeface="Barlow Condensed Light"/>
                <a:ea typeface="Barlow Condensed Light"/>
                <a:cs typeface="Barlow Condensed Light"/>
                <a:sym typeface="Barlow Condensed Light"/>
              </a:rPr>
              <a:t>- from last year’s ARI profiling project</a:t>
            </a:r>
            <a:endParaRPr sz="3600">
              <a:latin typeface="Barlow Condensed Light"/>
              <a:ea typeface="Barlow Condensed Light"/>
              <a:cs typeface="Barlow Condensed Light"/>
              <a:sym typeface="Barlow Condensed Light"/>
            </a:endParaRPr>
          </a:p>
          <a:p>
            <a:pPr indent="0" lvl="0" marL="0" rtl="0" algn="l">
              <a:spcBef>
                <a:spcPts val="0"/>
              </a:spcBef>
              <a:spcAft>
                <a:spcPts val="0"/>
              </a:spcAft>
              <a:buNone/>
            </a:pPr>
            <a:r>
              <a:rPr i="1" lang="en" sz="3600">
                <a:latin typeface="Barlow Condensed"/>
                <a:ea typeface="Barlow Condensed"/>
                <a:cs typeface="Barlow Condensed"/>
                <a:sym typeface="Barlow Condensed"/>
              </a:rPr>
              <a:t>Reviews of embeddedness literature (Shown in References below)</a:t>
            </a:r>
            <a:endParaRPr sz="3600">
              <a:latin typeface="Barlow Condensed"/>
              <a:ea typeface="Barlow Condensed"/>
              <a:cs typeface="Barlow Condensed"/>
              <a:sym typeface="Barlow Condensed"/>
            </a:endParaRPr>
          </a:p>
        </p:txBody>
      </p:sp>
      <p:sp>
        <p:nvSpPr>
          <p:cNvPr id="61" name="Google Shape;61;p13"/>
          <p:cNvSpPr txBox="1"/>
          <p:nvPr/>
        </p:nvSpPr>
        <p:spPr>
          <a:xfrm>
            <a:off x="12605225" y="16921300"/>
            <a:ext cx="11100600" cy="10891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We implemented K-means and Partitioning Around Medoids (PAM) clustering with Random Forest, extracting variable importance measures from the Random Forest.  </a:t>
            </a:r>
            <a:r>
              <a:rPr lang="en" sz="3600">
                <a:solidFill>
                  <a:srgbClr val="141F22"/>
                </a:solidFill>
                <a:latin typeface="Barlow Condensed"/>
                <a:ea typeface="Barlow Condensed"/>
                <a:cs typeface="Barlow Condensed"/>
                <a:sym typeface="Barlow Condensed"/>
              </a:rPr>
              <a:t>We chose the PAM random forest clustering method as optimal because it is less sensitive to outliers than K-means, and we can extract variable importance measures to guide our exploratory analysis.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3600">
                <a:solidFill>
                  <a:srgbClr val="141F22"/>
                </a:solidFill>
                <a:latin typeface="Barlow Condensed"/>
                <a:ea typeface="Barlow Condensed"/>
                <a:cs typeface="Barlow Condensed"/>
                <a:sym typeface="Barlow Condensed"/>
              </a:rPr>
              <a:t>We selected the optimal number of clusters as 3 using the elbow, silhouette, and gap statistic methods.  The PAM Random Forest technique results in installation clustering shown in the graph on the left. As you can see, there is a strong geographic relationship within clusters. </a:t>
            </a:r>
            <a:endParaRPr>
              <a:solidFill>
                <a:schemeClr val="dk1"/>
              </a:solidFill>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most significant variables identified by the Random forest clustering algorithm include:</a:t>
            </a:r>
            <a:endParaRPr sz="3600">
              <a:solidFill>
                <a:srgbClr val="141F22"/>
              </a:solidFill>
              <a:latin typeface="Barlow Condensed"/>
              <a:ea typeface="Barlow Condensed"/>
              <a:cs typeface="Barlow Condensed"/>
              <a:sym typeface="Barlow Condensed"/>
            </a:endParaRPr>
          </a:p>
          <a:p>
            <a:pPr indent="-457200" lvl="0" marL="13716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Median home ownership costs, Air pollution, Transportation costs, Exercise access, Obesity, Household density, Mentally unhealthy days, Intersection density, Public transportation use, Smoking</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840300" y="28854350"/>
            <a:ext cx="10915500" cy="73881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chemeClr val="dk1"/>
              </a:buClr>
              <a:buSzPts val="1100"/>
              <a:buFont typeface="Arial"/>
              <a:buNone/>
            </a:pPr>
            <a:r>
              <a:rPr lang="en" sz="3600">
                <a:solidFill>
                  <a:schemeClr val="dk1"/>
                </a:solidFill>
                <a:latin typeface="Barlow Condensed"/>
                <a:ea typeface="Barlow Condensed"/>
                <a:cs typeface="Barlow Condensed"/>
                <a:sym typeface="Barlow Condensed"/>
              </a:rPr>
              <a:t>We started our exploratory analysis with the important variables identified by the random forest clustering algorithm.  We plotted every combination of these top 10 variables in a matrix, and identified trends and correlations between them.</a:t>
            </a:r>
            <a:endParaRPr sz="3600">
              <a:solidFill>
                <a:schemeClr val="dk1"/>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SzPts val="1100"/>
              <a:buFont typeface="Arial"/>
              <a:buNone/>
            </a:pPr>
            <a:r>
              <a:rPr lang="en" sz="3600">
                <a:solidFill>
                  <a:schemeClr val="dk1"/>
                </a:solidFill>
                <a:latin typeface="Barlow Condensed"/>
                <a:ea typeface="Barlow Condensed"/>
                <a:cs typeface="Barlow Condensed"/>
                <a:sym typeface="Barlow Condensed"/>
              </a:rPr>
              <a:t>We also plotted other variables not identified by random forest to gain additional insights the algorithm may have missed.  We explored histograms and scatter plots of many chosen variables we expected may be important for future analysis.</a:t>
            </a:r>
            <a:endParaRPr sz="3600">
              <a:solidFill>
                <a:schemeClr val="dk1"/>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rPr lang="en" sz="3600">
                <a:solidFill>
                  <a:srgbClr val="141F22"/>
                </a:solidFill>
                <a:latin typeface="Barlow Condensed"/>
                <a:ea typeface="Barlow Condensed"/>
                <a:cs typeface="Barlow Condensed"/>
                <a:sym typeface="Barlow Condensed"/>
              </a:rPr>
              <a:t>Separate from the data exploration, we performed a detailed qualitative analysis on a subset of 12 installations, diving into the history, population, installation resources, and community characteristics.</a:t>
            </a:r>
            <a:endParaRPr sz="36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p:txBody>
      </p:sp>
      <p:sp>
        <p:nvSpPr>
          <p:cNvPr id="63" name="Google Shape;63;p13"/>
          <p:cNvSpPr txBox="1"/>
          <p:nvPr/>
        </p:nvSpPr>
        <p:spPr>
          <a:xfrm>
            <a:off x="893363" y="15551100"/>
            <a:ext cx="22844100" cy="9792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lgn="l">
              <a:spcBef>
                <a:spcPts val="0"/>
              </a:spcBef>
              <a:spcAft>
                <a:spcPts val="0"/>
              </a:spcAft>
              <a:buClr>
                <a:schemeClr val="dk1"/>
              </a:buClr>
              <a:buFont typeface="Arial"/>
              <a:buNone/>
            </a:pPr>
            <a:r>
              <a:rPr b="1" lang="en" sz="4800">
                <a:solidFill>
                  <a:srgbClr val="FFFFFF"/>
                </a:solidFill>
                <a:latin typeface="Barlow Condensed"/>
                <a:ea typeface="Barlow Condensed"/>
                <a:cs typeface="Barlow Condensed"/>
                <a:sym typeface="Barlow Condensed"/>
              </a:rPr>
              <a:t>Clustering Results </a:t>
            </a:r>
            <a:endParaRPr b="1" sz="4800">
              <a:solidFill>
                <a:srgbClr val="FFFFFF"/>
              </a:solidFill>
              <a:latin typeface="Barlow Condensed"/>
              <a:ea typeface="Barlow Condensed"/>
              <a:cs typeface="Barlow Condensed"/>
              <a:sym typeface="Barlow Condensed"/>
            </a:endParaRPr>
          </a:p>
        </p:txBody>
      </p:sp>
      <p:sp>
        <p:nvSpPr>
          <p:cNvPr id="64" name="Google Shape;64;p13"/>
          <p:cNvSpPr txBox="1"/>
          <p:nvPr/>
        </p:nvSpPr>
        <p:spPr>
          <a:xfrm>
            <a:off x="1048775" y="5061800"/>
            <a:ext cx="111006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Project Description</a:t>
            </a:r>
            <a:endParaRPr b="1" sz="4800">
              <a:solidFill>
                <a:srgbClr val="FFFFFF"/>
              </a:solidFill>
              <a:latin typeface="Barlow Condensed"/>
              <a:ea typeface="Barlow Condensed"/>
              <a:cs typeface="Barlow Condensed"/>
              <a:sym typeface="Barlow Condensed"/>
            </a:endParaRPr>
          </a:p>
        </p:txBody>
      </p:sp>
      <p:sp>
        <p:nvSpPr>
          <p:cNvPr id="65" name="Google Shape;65;p13"/>
          <p:cNvSpPr txBox="1"/>
          <p:nvPr/>
        </p:nvSpPr>
        <p:spPr>
          <a:xfrm>
            <a:off x="11947525" y="35384250"/>
            <a:ext cx="23231700" cy="24417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i="1" lang="en" sz="2000">
                <a:solidFill>
                  <a:srgbClr val="5D89B4"/>
                </a:solidFill>
                <a:highlight>
                  <a:srgbClr val="FFFFFF"/>
                </a:highlight>
                <a:latin typeface="Barlow Condensed"/>
                <a:ea typeface="Barlow Condensed"/>
                <a:cs typeface="Barlow Condensed"/>
                <a:sym typeface="Barlow Condensed"/>
              </a:rPr>
              <a:t>Figure 3</a:t>
            </a:r>
            <a:r>
              <a:rPr b="1" i="1" lang="en" sz="2000">
                <a:solidFill>
                  <a:srgbClr val="5D89B4"/>
                </a:solidFill>
                <a:highlight>
                  <a:srgbClr val="FFFFFF"/>
                </a:highlight>
                <a:latin typeface="Barlow Condensed"/>
                <a:ea typeface="Barlow Condensed"/>
                <a:cs typeface="Barlow Condensed"/>
                <a:sym typeface="Barlow Condensed"/>
              </a:rPr>
              <a:t>:</a:t>
            </a:r>
            <a:r>
              <a:rPr i="1" lang="en" sz="2000">
                <a:solidFill>
                  <a:srgbClr val="5D89B4"/>
                </a:solidFill>
                <a:highlight>
                  <a:srgbClr val="FFFFFF"/>
                </a:highlight>
                <a:latin typeface="Barlow Condensed"/>
                <a:ea typeface="Barlow Condensed"/>
                <a:cs typeface="Barlow Condensed"/>
                <a:sym typeface="Barlow Condensed"/>
              </a:rPr>
              <a:t> Scatter plot of Employment Access Index vs. Mentally Unhealthy Days, colored by Random Forest Cluster.  Employment Access Index is a Job Access Score from 0 to 10 computed by H+T based on access to jobs and variety of employment types.  Mentally Unhealthy Days is from the </a:t>
            </a:r>
            <a:r>
              <a:rPr i="1" lang="en" sz="2000">
                <a:solidFill>
                  <a:srgbClr val="5D89B4"/>
                </a:solidFill>
                <a:latin typeface="Barlow Condensed"/>
                <a:ea typeface="Barlow Condensed"/>
                <a:cs typeface="Barlow Condensed"/>
                <a:sym typeface="Barlow Condensed"/>
              </a:rPr>
              <a:t>Behavioral Risk Factor Surveillance System (BRFSS)</a:t>
            </a:r>
            <a:r>
              <a:rPr i="1" lang="en" sz="2000">
                <a:solidFill>
                  <a:srgbClr val="5D89B4"/>
                </a:solidFill>
                <a:highlight>
                  <a:srgbClr val="FFFFFF"/>
                </a:highlight>
                <a:latin typeface="Barlow Condensed"/>
                <a:ea typeface="Barlow Condensed"/>
                <a:cs typeface="Barlow Condensed"/>
                <a:sym typeface="Barlow Condensed"/>
              </a:rPr>
              <a:t> telephone survey, giving the average number of mentally unhealthy days reported per month for respondents from the county.</a:t>
            </a:r>
            <a:endParaRPr i="1" sz="2000">
              <a:solidFill>
                <a:srgbClr val="5D89B4"/>
              </a:solidFill>
              <a:highlight>
                <a:srgbClr val="FFFFFF"/>
              </a:highlight>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b="1" i="1" lang="en" sz="2000">
                <a:solidFill>
                  <a:srgbClr val="5D89B4"/>
                </a:solidFill>
                <a:highlight>
                  <a:schemeClr val="lt1"/>
                </a:highlight>
                <a:latin typeface="Barlow Condensed"/>
                <a:ea typeface="Barlow Condensed"/>
                <a:cs typeface="Barlow Condensed"/>
                <a:sym typeface="Barlow Condensed"/>
              </a:rPr>
              <a:t>Figure 4:</a:t>
            </a:r>
            <a:r>
              <a:rPr i="1" lang="en" sz="2000">
                <a:solidFill>
                  <a:srgbClr val="5D89B4"/>
                </a:solidFill>
                <a:highlight>
                  <a:schemeClr val="lt1"/>
                </a:highlight>
                <a:latin typeface="Barlow Condensed"/>
                <a:ea typeface="Barlow Condensed"/>
                <a:cs typeface="Barlow Condensed"/>
                <a:sym typeface="Barlow Condensed"/>
              </a:rPr>
              <a:t> Scatter plot of Obese Population vs. Mentally Unhealthy Days, colored by Random Forest Cluster.  Adult Obesity is calculated by the CDC Diabetes Interactive Atlas and represents the percentage of adults that report a BMI of 30 or more. Mentally Unhealthy Days is from the </a:t>
            </a:r>
            <a:r>
              <a:rPr i="1" lang="en" sz="2000">
                <a:solidFill>
                  <a:srgbClr val="5D89B4"/>
                </a:solidFill>
                <a:latin typeface="Barlow Condensed"/>
                <a:ea typeface="Barlow Condensed"/>
                <a:cs typeface="Barlow Condensed"/>
                <a:sym typeface="Barlow Condensed"/>
              </a:rPr>
              <a:t>Behavioral Risk Factor Surveillance System (BRFSS)</a:t>
            </a:r>
            <a:r>
              <a:rPr i="1" lang="en" sz="2000">
                <a:solidFill>
                  <a:srgbClr val="5D89B4"/>
                </a:solidFill>
                <a:highlight>
                  <a:schemeClr val="lt1"/>
                </a:highlight>
                <a:latin typeface="Barlow Condensed"/>
                <a:ea typeface="Barlow Condensed"/>
                <a:cs typeface="Barlow Condensed"/>
                <a:sym typeface="Barlow Condensed"/>
              </a:rPr>
              <a:t> telephone survey, giving the average number of mentally unhealthy days reported per month for respondents from the county.</a:t>
            </a:r>
            <a:endParaRPr i="1" sz="2000">
              <a:solidFill>
                <a:srgbClr val="5D89B4"/>
              </a:solidFill>
              <a:highlight>
                <a:schemeClr val="lt1"/>
              </a:highlight>
              <a:latin typeface="Barlow Condensed"/>
              <a:ea typeface="Barlow Condensed"/>
              <a:cs typeface="Barlow Condensed"/>
              <a:sym typeface="Barlow Condensed"/>
            </a:endParaRPr>
          </a:p>
          <a:p>
            <a:pPr indent="0" lvl="0" marL="0" rtl="0" algn="l">
              <a:spcBef>
                <a:spcPts val="0"/>
              </a:spcBef>
              <a:spcAft>
                <a:spcPts val="0"/>
              </a:spcAft>
              <a:buNone/>
            </a:pPr>
            <a:r>
              <a:rPr b="1" i="1" lang="en" sz="2000">
                <a:solidFill>
                  <a:srgbClr val="5D89B4"/>
                </a:solidFill>
                <a:highlight>
                  <a:schemeClr val="lt1"/>
                </a:highlight>
                <a:latin typeface="Barlow Condensed"/>
                <a:ea typeface="Barlow Condensed"/>
                <a:cs typeface="Barlow Condensed"/>
                <a:sym typeface="Barlow Condensed"/>
              </a:rPr>
              <a:t>Figure 5: </a:t>
            </a:r>
            <a:r>
              <a:rPr i="1" lang="en" sz="2000">
                <a:solidFill>
                  <a:srgbClr val="5D89B4"/>
                </a:solidFill>
                <a:highlight>
                  <a:schemeClr val="lt1"/>
                </a:highlight>
                <a:latin typeface="Barlow Condensed"/>
                <a:ea typeface="Barlow Condensed"/>
                <a:cs typeface="Barlow Condensed"/>
                <a:sym typeface="Barlow Condensed"/>
              </a:rPr>
              <a:t> Scatter plot of Median SMOC vs. Annual GHG per Acre, colored by Random Forest Cluster.  Median Selected Monthly Ownership Costs are from the American Community Survey (ACS)  and represent owners with a mortgage. According to H+T, ownership costs include mortgage payments, real estate taxes, various insurances, fuels, mobile home costs, and condo fees.  Annual Greenhouse Gas Emissions per Acre is from the H+T Index. According to the H+T Glossary of Terms, “This variable is  calculated </a:t>
            </a:r>
            <a:r>
              <a:rPr lang="en" sz="2000">
                <a:solidFill>
                  <a:srgbClr val="5D89B4"/>
                </a:solidFill>
                <a:latin typeface="Barlow Condensed"/>
                <a:ea typeface="Barlow Condensed"/>
                <a:cs typeface="Barlow Condensed"/>
                <a:sym typeface="Barlow Condensed"/>
              </a:rPr>
              <a:t>using the values for Vehicle Miles Traveled, national average fuel efficiency (20.7 mpg), and an average emissions factor (0.438 metric tonnes of CO2 per mile). This per acre measure divides the total block group emissions by the total land acres in the block group.”</a:t>
            </a:r>
            <a:endParaRPr i="1" sz="2000">
              <a:solidFill>
                <a:srgbClr val="5D89B4"/>
              </a:solidFill>
              <a:highlight>
                <a:srgbClr val="FFFFFF"/>
              </a:highlight>
              <a:latin typeface="Barlow Condensed"/>
              <a:ea typeface="Barlow Condensed"/>
              <a:cs typeface="Barlow Condensed"/>
              <a:sym typeface="Barlow Condensed"/>
            </a:endParaRPr>
          </a:p>
        </p:txBody>
      </p:sp>
      <p:sp>
        <p:nvSpPr>
          <p:cNvPr id="66" name="Google Shape;66;p13"/>
          <p:cNvSpPr txBox="1"/>
          <p:nvPr/>
        </p:nvSpPr>
        <p:spPr>
          <a:xfrm>
            <a:off x="24078650" y="16507950"/>
            <a:ext cx="11100600" cy="6408000"/>
          </a:xfrm>
          <a:prstGeom prst="rect">
            <a:avLst/>
          </a:prstGeom>
          <a:solidFill>
            <a:srgbClr val="C64600">
              <a:alpha val="11120"/>
            </a:srgbClr>
          </a:solid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Our research provides detailed community profiles for the Army installations across the United States, as well as a preliminary look at which communities are most similar, identified by our clustering methods.</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Now that the community profiles have been expanded to include many interesting characteristics, the community data must be linked back to Soldier performance data.  Future research should attempt to link soldier performance to community health and risk factors, and identify which community variables share the strongest relationship with Soldier performance.</a:t>
            </a:r>
            <a:endParaRPr sz="3600">
              <a:solidFill>
                <a:srgbClr val="141F22"/>
              </a:solidFill>
              <a:latin typeface="Barlow Condensed"/>
              <a:ea typeface="Barlow Condensed"/>
              <a:cs typeface="Barlow Condensed"/>
              <a:sym typeface="Barlow Condensed"/>
            </a:endParaRPr>
          </a:p>
        </p:txBody>
      </p:sp>
      <p:grpSp>
        <p:nvGrpSpPr>
          <p:cNvPr id="67" name="Google Shape;67;p13"/>
          <p:cNvGrpSpPr/>
          <p:nvPr/>
        </p:nvGrpSpPr>
        <p:grpSpPr>
          <a:xfrm>
            <a:off x="23867964" y="5112055"/>
            <a:ext cx="8668555" cy="8646940"/>
            <a:chOff x="6056633" y="8996700"/>
            <a:chExt cx="3798000" cy="3897300"/>
          </a:xfrm>
        </p:grpSpPr>
        <p:sp>
          <p:nvSpPr>
            <p:cNvPr id="68" name="Google Shape;68;p13"/>
            <p:cNvSpPr/>
            <p:nvPr/>
          </p:nvSpPr>
          <p:spPr>
            <a:xfrm>
              <a:off x="6056633" y="8996700"/>
              <a:ext cx="3798000" cy="3897300"/>
            </a:xfrm>
            <a:prstGeom prst="ellipse">
              <a:avLst/>
            </a:prstGeom>
            <a:solidFill>
              <a:srgbClr val="C4E0B2"/>
            </a:solidFill>
            <a:ln cap="flat" cmpd="sng" w="12700">
              <a:solidFill>
                <a:srgbClr val="7F7F7F"/>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ctr">
                <a:spcBef>
                  <a:spcPts val="0"/>
                </a:spcBef>
                <a:spcAft>
                  <a:spcPts val="0"/>
                </a:spcAft>
                <a:buNone/>
              </a:pPr>
              <a:r>
                <a:t/>
              </a:r>
              <a:endParaRPr i="0" sz="1100" u="none" cap="none" strike="noStrike">
                <a:solidFill>
                  <a:srgbClr val="000000"/>
                </a:solidFill>
                <a:latin typeface="Barlow Condensed"/>
                <a:ea typeface="Barlow Condensed"/>
                <a:cs typeface="Barlow Condensed"/>
                <a:sym typeface="Barlow Condensed"/>
              </a:endParaRPr>
            </a:p>
          </p:txBody>
        </p:sp>
        <p:sp>
          <p:nvSpPr>
            <p:cNvPr id="69" name="Google Shape;69;p13"/>
            <p:cNvSpPr/>
            <p:nvPr/>
          </p:nvSpPr>
          <p:spPr>
            <a:xfrm>
              <a:off x="6817642" y="10653490"/>
              <a:ext cx="2330100" cy="2240400"/>
            </a:xfrm>
            <a:prstGeom prst="ellipse">
              <a:avLst/>
            </a:prstGeom>
            <a:solidFill>
              <a:srgbClr val="385623"/>
            </a:solidFill>
            <a:ln cap="flat" cmpd="sng" w="12700">
              <a:solidFill>
                <a:srgbClr val="7F7F7F"/>
              </a:solidFill>
              <a:prstDash val="solid"/>
              <a:miter lim="800000"/>
              <a:headEnd len="sm" w="sm" type="none"/>
              <a:tailEnd len="sm" w="sm" type="none"/>
            </a:ln>
          </p:spPr>
          <p:txBody>
            <a:bodyPr anchorCtr="0" anchor="b" bIns="60925" lIns="121900" spcFirstLastPara="1" rIns="121900" wrap="square" tIns="60925">
              <a:noAutofit/>
            </a:bodyPr>
            <a:lstStyle/>
            <a:p>
              <a:pPr indent="0" lvl="0" marL="0" marR="0" rtl="0" algn="ctr">
                <a:spcBef>
                  <a:spcPts val="0"/>
                </a:spcBef>
                <a:spcAft>
                  <a:spcPts val="0"/>
                </a:spcAft>
                <a:buNone/>
              </a:pPr>
              <a:r>
                <a:t/>
              </a:r>
              <a:endParaRPr i="0" sz="1600" u="none" cap="none" strike="noStrike">
                <a:solidFill>
                  <a:srgbClr val="FFFFFF"/>
                </a:solidFill>
                <a:latin typeface="Barlow Condensed"/>
                <a:ea typeface="Barlow Condensed"/>
                <a:cs typeface="Barlow Condensed"/>
                <a:sym typeface="Barlow Condensed"/>
              </a:endParaRPr>
            </a:p>
          </p:txBody>
        </p:sp>
        <p:sp>
          <p:nvSpPr>
            <p:cNvPr id="70" name="Google Shape;70;p13"/>
            <p:cNvSpPr/>
            <p:nvPr/>
          </p:nvSpPr>
          <p:spPr>
            <a:xfrm>
              <a:off x="6958494" y="10135573"/>
              <a:ext cx="2090700" cy="2010300"/>
            </a:xfrm>
            <a:prstGeom prst="ellipse">
              <a:avLst/>
            </a:prstGeom>
            <a:solidFill>
              <a:srgbClr val="009193"/>
            </a:solidFill>
            <a:ln cap="flat" cmpd="sng" w="12700">
              <a:solidFill>
                <a:srgbClr val="7F7F7F"/>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ctr">
                <a:spcBef>
                  <a:spcPts val="0"/>
                </a:spcBef>
                <a:spcAft>
                  <a:spcPts val="0"/>
                </a:spcAft>
                <a:buNone/>
              </a:pPr>
              <a:r>
                <a:t/>
              </a:r>
              <a:endParaRPr i="0" sz="1100" u="none" cap="none" strike="noStrike">
                <a:solidFill>
                  <a:srgbClr val="FFFFFF"/>
                </a:solidFill>
                <a:latin typeface="Barlow Condensed"/>
                <a:ea typeface="Barlow Condensed"/>
                <a:cs typeface="Barlow Condensed"/>
                <a:sym typeface="Barlow Condensed"/>
              </a:endParaRPr>
            </a:p>
          </p:txBody>
        </p:sp>
        <p:sp>
          <p:nvSpPr>
            <p:cNvPr id="71" name="Google Shape;71;p13"/>
            <p:cNvSpPr/>
            <p:nvPr/>
          </p:nvSpPr>
          <p:spPr>
            <a:xfrm>
              <a:off x="7332898" y="11006240"/>
              <a:ext cx="1454100" cy="1153200"/>
            </a:xfrm>
            <a:prstGeom prst="ellipse">
              <a:avLst/>
            </a:prstGeom>
            <a:solidFill>
              <a:srgbClr val="002060"/>
            </a:solidFill>
            <a:ln cap="flat" cmpd="sng" w="12700">
              <a:solidFill>
                <a:srgbClr val="7F7F7F"/>
              </a:solidFill>
              <a:prstDash val="solid"/>
              <a:miter lim="800000"/>
              <a:headEnd len="sm" w="sm" type="none"/>
              <a:tailEnd len="sm" w="sm" type="none"/>
            </a:ln>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0" sz="1900" u="none" cap="none" strike="noStrike">
                <a:solidFill>
                  <a:srgbClr val="000000"/>
                </a:solidFill>
                <a:latin typeface="Barlow Condensed"/>
                <a:ea typeface="Barlow Condensed"/>
                <a:cs typeface="Barlow Condensed"/>
                <a:sym typeface="Barlow Condensed"/>
              </a:endParaRPr>
            </a:p>
          </p:txBody>
        </p:sp>
        <p:sp>
          <p:nvSpPr>
            <p:cNvPr id="72" name="Google Shape;72;p13"/>
            <p:cNvSpPr txBox="1"/>
            <p:nvPr/>
          </p:nvSpPr>
          <p:spPr>
            <a:xfrm>
              <a:off x="6894623" y="11328058"/>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solidFill>
                    <a:srgbClr val="FFFFFF"/>
                  </a:solidFill>
                  <a:latin typeface="Barlow Condensed"/>
                  <a:ea typeface="Barlow Condensed"/>
                  <a:cs typeface="Barlow Condensed"/>
                  <a:sym typeface="Barlow Condensed"/>
                </a:rPr>
                <a:t>Soldier</a:t>
              </a:r>
              <a:endParaRPr sz="3600">
                <a:latin typeface="Barlow Condensed"/>
                <a:ea typeface="Barlow Condensed"/>
                <a:cs typeface="Barlow Condensed"/>
                <a:sym typeface="Barlow Condensed"/>
              </a:endParaRPr>
            </a:p>
          </p:txBody>
        </p:sp>
        <p:sp>
          <p:nvSpPr>
            <p:cNvPr id="73" name="Google Shape;73;p13"/>
            <p:cNvSpPr txBox="1"/>
            <p:nvPr/>
          </p:nvSpPr>
          <p:spPr>
            <a:xfrm>
              <a:off x="6636401" y="9366944"/>
              <a:ext cx="25419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i="0" lang="en" sz="3600" u="none" cap="none" strike="noStrike">
                  <a:solidFill>
                    <a:srgbClr val="000000"/>
                  </a:solidFill>
                  <a:latin typeface="Barlow Condensed"/>
                  <a:ea typeface="Barlow Condensed"/>
                  <a:cs typeface="Barlow Condensed"/>
                  <a:sym typeface="Barlow Condensed"/>
                </a:rPr>
                <a:t>Community</a:t>
              </a:r>
              <a:endParaRPr b="1" i="0" sz="3600" u="none" cap="none" strike="noStrike">
                <a:solidFill>
                  <a:srgbClr val="000000"/>
                </a:solidFill>
                <a:latin typeface="Barlow Condensed"/>
                <a:ea typeface="Barlow Condensed"/>
                <a:cs typeface="Barlow Condensed"/>
                <a:sym typeface="Barlow Condensed"/>
              </a:endParaRPr>
            </a:p>
            <a:p>
              <a:pPr indent="0" lvl="0" marL="0" marR="0" rtl="0" algn="ctr">
                <a:spcBef>
                  <a:spcPts val="0"/>
                </a:spcBef>
                <a:spcAft>
                  <a:spcPts val="0"/>
                </a:spcAft>
                <a:buNone/>
              </a:pPr>
              <a:r>
                <a:rPr b="1" lang="en" sz="3600">
                  <a:latin typeface="Barlow Condensed"/>
                  <a:ea typeface="Barlow Condensed"/>
                  <a:cs typeface="Barlow Condensed"/>
                  <a:sym typeface="Barlow Condensed"/>
                </a:rPr>
                <a:t>(county)</a:t>
              </a:r>
              <a:endParaRPr b="1" sz="3600">
                <a:latin typeface="Barlow Condensed"/>
                <a:ea typeface="Barlow Condensed"/>
                <a:cs typeface="Barlow Condensed"/>
                <a:sym typeface="Barlow Condensed"/>
              </a:endParaRPr>
            </a:p>
          </p:txBody>
        </p:sp>
        <p:sp>
          <p:nvSpPr>
            <p:cNvPr id="74" name="Google Shape;74;p13"/>
            <p:cNvSpPr txBox="1"/>
            <p:nvPr/>
          </p:nvSpPr>
          <p:spPr>
            <a:xfrm>
              <a:off x="6838847" y="10398309"/>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latin typeface="Barlow Condensed"/>
                  <a:ea typeface="Barlow Condensed"/>
                  <a:cs typeface="Barlow Condensed"/>
                  <a:sym typeface="Barlow Condensed"/>
                </a:rPr>
                <a:t>Family</a:t>
              </a:r>
              <a:endParaRPr sz="3600">
                <a:latin typeface="Barlow Condensed"/>
                <a:ea typeface="Barlow Condensed"/>
                <a:cs typeface="Barlow Condensed"/>
                <a:sym typeface="Barlow Condensed"/>
              </a:endParaRPr>
            </a:p>
          </p:txBody>
        </p:sp>
        <p:sp>
          <p:nvSpPr>
            <p:cNvPr id="75" name="Google Shape;75;p13"/>
            <p:cNvSpPr txBox="1"/>
            <p:nvPr/>
          </p:nvSpPr>
          <p:spPr>
            <a:xfrm>
              <a:off x="6848357" y="12132222"/>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solidFill>
                    <a:srgbClr val="000000"/>
                  </a:solidFill>
                  <a:latin typeface="Barlow Condensed"/>
                  <a:ea typeface="Barlow Condensed"/>
                  <a:cs typeface="Barlow Condensed"/>
                  <a:sym typeface="Barlow Condensed"/>
                </a:rPr>
                <a:t>Army</a:t>
              </a:r>
              <a:endParaRPr sz="3600">
                <a:latin typeface="Barlow Condensed"/>
                <a:ea typeface="Barlow Condensed"/>
                <a:cs typeface="Barlow Condensed"/>
                <a:sym typeface="Barlow Condensed"/>
              </a:endParaRPr>
            </a:p>
          </p:txBody>
        </p:sp>
      </p:grpSp>
      <p:sp>
        <p:nvSpPr>
          <p:cNvPr id="76" name="Google Shape;76;p13"/>
          <p:cNvSpPr txBox="1"/>
          <p:nvPr/>
        </p:nvSpPr>
        <p:spPr>
          <a:xfrm>
            <a:off x="30226863" y="6224238"/>
            <a:ext cx="5008200" cy="1937700"/>
          </a:xfrm>
          <a:prstGeom prst="rect">
            <a:avLst/>
          </a:prstGeom>
          <a:solidFill>
            <a:srgbClr val="C4E0B2"/>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3000">
                <a:solidFill>
                  <a:schemeClr val="dk1"/>
                </a:solidFill>
                <a:latin typeface="Barlow Condensed"/>
                <a:ea typeface="Barlow Condensed"/>
                <a:cs typeface="Barlow Condensed"/>
                <a:sym typeface="Barlow Condensed"/>
              </a:rPr>
              <a:t>Community Variables:</a:t>
            </a:r>
            <a:endParaRPr i="1" sz="3000">
              <a:solidFill>
                <a:schemeClr val="dk1"/>
              </a:solidFill>
              <a:latin typeface="Barlow Condensed"/>
              <a:ea typeface="Barlow Condensed"/>
              <a:cs typeface="Barlow Condensed"/>
              <a:sym typeface="Barlow Condensed"/>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Median SMOC</a:t>
            </a:r>
            <a:endParaRPr sz="3000">
              <a:solidFill>
                <a:schemeClr val="dk1"/>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Job opportunities</a:t>
            </a:r>
            <a:endParaRPr sz="3000">
              <a:solidFill>
                <a:schemeClr val="dk1"/>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Educational opportunities</a:t>
            </a:r>
            <a:endParaRPr sz="3000">
              <a:latin typeface="Barlow Condensed"/>
              <a:ea typeface="Barlow Condensed"/>
              <a:cs typeface="Barlow Condensed"/>
              <a:sym typeface="Barlow Condensed"/>
            </a:endParaRPr>
          </a:p>
        </p:txBody>
      </p:sp>
      <p:sp>
        <p:nvSpPr>
          <p:cNvPr id="77" name="Google Shape;77;p13"/>
          <p:cNvSpPr txBox="1"/>
          <p:nvPr/>
        </p:nvSpPr>
        <p:spPr>
          <a:xfrm>
            <a:off x="30895275" y="8214673"/>
            <a:ext cx="4339800" cy="2441700"/>
          </a:xfrm>
          <a:prstGeom prst="rect">
            <a:avLst/>
          </a:prstGeom>
          <a:solidFill>
            <a:srgbClr val="009193"/>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3000">
                <a:solidFill>
                  <a:schemeClr val="dk1"/>
                </a:solidFill>
                <a:latin typeface="Barlow Condensed"/>
                <a:ea typeface="Barlow Condensed"/>
                <a:cs typeface="Barlow Condensed"/>
                <a:sym typeface="Barlow Condensed"/>
              </a:rPr>
              <a:t>Family Variables</a:t>
            </a:r>
            <a:endParaRPr sz="3000">
              <a:solidFill>
                <a:schemeClr val="dk1"/>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Health insurance</a:t>
            </a:r>
            <a:endParaRPr sz="3000">
              <a:solidFill>
                <a:schemeClr val="dk1"/>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Spousal Employment opportunities</a:t>
            </a:r>
            <a:endParaRPr sz="3000">
              <a:solidFill>
                <a:schemeClr val="dk1"/>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Welfare</a:t>
            </a:r>
            <a:endParaRPr sz="3000">
              <a:latin typeface="Barlow Condensed"/>
              <a:ea typeface="Barlow Condensed"/>
              <a:cs typeface="Barlow Condensed"/>
              <a:sym typeface="Barlow Condensed"/>
            </a:endParaRPr>
          </a:p>
        </p:txBody>
      </p:sp>
      <p:sp>
        <p:nvSpPr>
          <p:cNvPr id="78" name="Google Shape;78;p13"/>
          <p:cNvSpPr txBox="1"/>
          <p:nvPr/>
        </p:nvSpPr>
        <p:spPr>
          <a:xfrm>
            <a:off x="31799463" y="10709098"/>
            <a:ext cx="3435600" cy="1937700"/>
          </a:xfrm>
          <a:prstGeom prst="rect">
            <a:avLst/>
          </a:prstGeom>
          <a:solidFill>
            <a:srgbClr val="002060"/>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3000">
                <a:solidFill>
                  <a:srgbClr val="FFFFFF"/>
                </a:solidFill>
                <a:latin typeface="Barlow Condensed"/>
                <a:ea typeface="Barlow Condensed"/>
                <a:cs typeface="Barlow Condensed"/>
                <a:sym typeface="Barlow Condensed"/>
              </a:rPr>
              <a:t>Soldier Variables</a:t>
            </a:r>
            <a:endParaRPr i="1" sz="3000">
              <a:solidFill>
                <a:srgbClr val="FFFFFF"/>
              </a:solidFill>
              <a:latin typeface="Barlow Condensed"/>
              <a:ea typeface="Barlow Condensed"/>
              <a:cs typeface="Barlow Condensed"/>
              <a:sym typeface="Barlow Condensed"/>
            </a:endParaRPr>
          </a:p>
          <a:p>
            <a:pPr indent="-495300" lvl="0" marL="609600" rtl="0" algn="l">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Marital Status</a:t>
            </a:r>
            <a:endParaRPr sz="3000">
              <a:solidFill>
                <a:srgbClr val="FFFFFF"/>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Income</a:t>
            </a:r>
            <a:endParaRPr sz="3000">
              <a:solidFill>
                <a:srgbClr val="FFFFFF"/>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Children</a:t>
            </a:r>
            <a:endParaRPr sz="3000">
              <a:solidFill>
                <a:srgbClr val="FFFFFF"/>
              </a:solidFill>
              <a:latin typeface="Barlow Condensed"/>
              <a:ea typeface="Barlow Condensed"/>
              <a:cs typeface="Barlow Condensed"/>
              <a:sym typeface="Barlow Condensed"/>
            </a:endParaRPr>
          </a:p>
        </p:txBody>
      </p:sp>
      <p:sp>
        <p:nvSpPr>
          <p:cNvPr id="79" name="Google Shape;79;p13"/>
          <p:cNvSpPr txBox="1"/>
          <p:nvPr/>
        </p:nvSpPr>
        <p:spPr>
          <a:xfrm>
            <a:off x="23989725" y="14193375"/>
            <a:ext cx="11379300" cy="13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2400">
                <a:solidFill>
                  <a:srgbClr val="5D89B4"/>
                </a:solidFill>
                <a:latin typeface="Barlow Condensed"/>
                <a:ea typeface="Barlow Condensed"/>
                <a:cs typeface="Barlow Condensed"/>
                <a:sym typeface="Barlow Condensed"/>
              </a:rPr>
              <a:t>Figure 1: Graphic showing embeddedness of the Soldier within the Army, the family, and the community, and relevant variables related to each. Note SMOC is “Selected monthly owner costs” - the sum of payments for mortgages, including home equity loans and other junior mortgages</a:t>
            </a:r>
            <a:r>
              <a:rPr i="1" lang="en" sz="2400">
                <a:solidFill>
                  <a:srgbClr val="5D89B4"/>
                </a:solidFill>
                <a:latin typeface="Barlow Condensed"/>
                <a:ea typeface="Barlow Condensed"/>
                <a:cs typeface="Barlow Condensed"/>
                <a:sym typeface="Barlow Condensed"/>
              </a:rPr>
              <a:t>; for example insurance and utilities.</a:t>
            </a:r>
            <a:endParaRPr i="1" sz="2400">
              <a:solidFill>
                <a:srgbClr val="5D89B4"/>
              </a:solidFill>
              <a:latin typeface="Barlow Condensed"/>
              <a:ea typeface="Barlow Condensed"/>
              <a:cs typeface="Barlow Condensed"/>
              <a:sym typeface="Barlow Condensed"/>
            </a:endParaRPr>
          </a:p>
        </p:txBody>
      </p:sp>
      <p:pic>
        <p:nvPicPr>
          <p:cNvPr id="80" name="Google Shape;80;p13"/>
          <p:cNvPicPr preferRelativeResize="0"/>
          <p:nvPr/>
        </p:nvPicPr>
        <p:blipFill rotWithShape="1">
          <a:blip r:embed="rId3">
            <a:alphaModFix/>
          </a:blip>
          <a:srcRect b="0" l="130" r="-129" t="0"/>
          <a:stretch/>
        </p:blipFill>
        <p:spPr>
          <a:xfrm>
            <a:off x="24106300" y="23146750"/>
            <a:ext cx="10915500" cy="6076250"/>
          </a:xfrm>
          <a:prstGeom prst="rect">
            <a:avLst/>
          </a:prstGeom>
          <a:noFill/>
          <a:ln>
            <a:noFill/>
          </a:ln>
        </p:spPr>
      </p:pic>
      <p:pic>
        <p:nvPicPr>
          <p:cNvPr id="81" name="Google Shape;81;p13"/>
          <p:cNvPicPr preferRelativeResize="0"/>
          <p:nvPr/>
        </p:nvPicPr>
        <p:blipFill rotWithShape="1">
          <a:blip r:embed="rId4">
            <a:alphaModFix/>
          </a:blip>
          <a:srcRect b="0" l="-939" r="-111" t="0"/>
          <a:stretch/>
        </p:blipFill>
        <p:spPr>
          <a:xfrm>
            <a:off x="11991750" y="29480600"/>
            <a:ext cx="11498451" cy="5979850"/>
          </a:xfrm>
          <a:prstGeom prst="rect">
            <a:avLst/>
          </a:prstGeom>
          <a:noFill/>
          <a:ln>
            <a:noFill/>
          </a:ln>
        </p:spPr>
      </p:pic>
      <p:sp>
        <p:nvSpPr>
          <p:cNvPr id="82" name="Google Shape;82;p13"/>
          <p:cNvSpPr txBox="1"/>
          <p:nvPr/>
        </p:nvSpPr>
        <p:spPr>
          <a:xfrm>
            <a:off x="861700" y="24951200"/>
            <a:ext cx="11498400" cy="110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Arial"/>
              <a:buNone/>
            </a:pPr>
            <a:r>
              <a:rPr i="1" lang="en" sz="2000">
                <a:solidFill>
                  <a:srgbClr val="5D89B4"/>
                </a:solidFill>
                <a:latin typeface="Barlow Condensed"/>
                <a:ea typeface="Barlow Condensed"/>
                <a:cs typeface="Barlow Condensed"/>
                <a:sym typeface="Barlow Condensed"/>
              </a:rPr>
              <a:t>Figure 2:</a:t>
            </a:r>
            <a:r>
              <a:rPr i="1" lang="en" sz="2000">
                <a:solidFill>
                  <a:srgbClr val="5D89B4"/>
                </a:solidFill>
                <a:latin typeface="Barlow Condensed"/>
                <a:ea typeface="Barlow Condensed"/>
                <a:cs typeface="Barlow Condensed"/>
                <a:sym typeface="Barlow Condensed"/>
              </a:rPr>
              <a:t> Map of Installations in the contiguous US, colored by random forest clustering algorithm with K = 3 clusters.  Notice the geographic correlation of the clustering, with the orange installations clustered in more major metropolitan areas, green scattered across the country, and blue in the Northwestern US.</a:t>
            </a:r>
            <a:endParaRPr sz="2000">
              <a:latin typeface="Barlow Condensed"/>
              <a:ea typeface="Barlow Condensed"/>
              <a:cs typeface="Barlow Condensed"/>
              <a:sym typeface="Barlow Condensed"/>
            </a:endParaRPr>
          </a:p>
        </p:txBody>
      </p:sp>
      <p:pic>
        <p:nvPicPr>
          <p:cNvPr id="83" name="Google Shape;83;p13"/>
          <p:cNvPicPr preferRelativeResize="0"/>
          <p:nvPr/>
        </p:nvPicPr>
        <p:blipFill rotWithShape="1">
          <a:blip r:embed="rId5">
            <a:alphaModFix/>
          </a:blip>
          <a:srcRect b="0" l="-170" r="170" t="0"/>
          <a:stretch/>
        </p:blipFill>
        <p:spPr>
          <a:xfrm>
            <a:off x="24015275" y="29404400"/>
            <a:ext cx="10915500" cy="6076250"/>
          </a:xfrm>
          <a:prstGeom prst="rect">
            <a:avLst/>
          </a:prstGeom>
          <a:noFill/>
          <a:ln>
            <a:noFill/>
          </a:ln>
        </p:spPr>
      </p:pic>
      <p:sp>
        <p:nvSpPr>
          <p:cNvPr id="84" name="Google Shape;84;p13"/>
          <p:cNvSpPr txBox="1"/>
          <p:nvPr/>
        </p:nvSpPr>
        <p:spPr>
          <a:xfrm>
            <a:off x="12631175" y="5061800"/>
            <a:ext cx="111006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Sources</a:t>
            </a:r>
            <a:endParaRPr b="1" sz="4800">
              <a:solidFill>
                <a:srgbClr val="FFFFFF"/>
              </a:solidFill>
              <a:latin typeface="Barlow Condensed"/>
              <a:ea typeface="Barlow Condensed"/>
              <a:cs typeface="Barlow Condensed"/>
              <a:sym typeface="Barlow Condensed"/>
            </a:endParaRPr>
          </a:p>
        </p:txBody>
      </p:sp>
      <p:pic>
        <p:nvPicPr>
          <p:cNvPr id="85" name="Google Shape;85;p13"/>
          <p:cNvPicPr preferRelativeResize="0"/>
          <p:nvPr/>
        </p:nvPicPr>
        <p:blipFill>
          <a:blip r:embed="rId6">
            <a:alphaModFix/>
          </a:blip>
          <a:stretch>
            <a:fillRect/>
          </a:stretch>
        </p:blipFill>
        <p:spPr>
          <a:xfrm>
            <a:off x="864037" y="18256104"/>
            <a:ext cx="11437386" cy="6408000"/>
          </a:xfrm>
          <a:prstGeom prst="rect">
            <a:avLst/>
          </a:prstGeom>
          <a:noFill/>
          <a:ln cap="flat" cmpd="sng" w="19050">
            <a:solidFill>
              <a:srgbClr val="861F41"/>
            </a:solidFill>
            <a:prstDash val="solid"/>
            <a:round/>
            <a:headEnd len="sm" w="sm" type="none"/>
            <a:tailEnd len="sm" w="sm" type="none"/>
          </a:ln>
          <a:effectLst>
            <a:outerShdw blurRad="57150" rotWithShape="0" algn="bl" dir="5400000" dist="19050">
              <a:srgbClr val="000000">
                <a:alpha val="50000"/>
              </a:srgbClr>
            </a:outerShdw>
          </a:effectLst>
        </p:spPr>
      </p:pic>
      <p:pic>
        <p:nvPicPr>
          <p:cNvPr id="86" name="Google Shape;86;p13"/>
          <p:cNvPicPr preferRelativeResize="0"/>
          <p:nvPr/>
        </p:nvPicPr>
        <p:blipFill>
          <a:blip r:embed="rId7">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E1330B55-5601-48A4-8BCB-508A21EA6CC5}"/>
</file>

<file path=customXml/itemProps2.xml><?xml version="1.0" encoding="utf-8"?>
<ds:datastoreItem xmlns:ds="http://schemas.openxmlformats.org/officeDocument/2006/customXml" ds:itemID="{B7CF4629-3CB0-48E7-9C3B-CD55940A0607}"/>
</file>

<file path=customXml/itemProps3.xml><?xml version="1.0" encoding="utf-8"?>
<ds:datastoreItem xmlns:ds="http://schemas.openxmlformats.org/officeDocument/2006/customXml" ds:itemID="{84D7718F-A3E7-4F77-AD57-AAC5B20D5E29}"/>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