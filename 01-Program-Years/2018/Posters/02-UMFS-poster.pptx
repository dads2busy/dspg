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Lst>
  <p:sldSz cy="41148000" cx="36576000"/>
  <p:notesSz cx="6858000" cy="9144000"/>
  <p:embeddedFontLst>
    <p:embeddedFont>
      <p:font typeface="Barlow Condensed"/>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11520"/>
      </p:guideLst>
    </p:cSldViewPr>
  </p:slideViewPr>
</p:viewPr>
</file>

<file path=ppt/_rels/presentation.xml.rels><?xml version="1.0" encoding="UTF-8" standalone="yes"?>
<Relationships xmlns="http://schemas.openxmlformats.org/package/2006/relationships"><Relationship Id="rId8" Type="http://schemas.openxmlformats.org/officeDocument/2006/relationships/font" Target="fonts/BarlowCondensed-bold.fntdata"/><Relationship Id="rId13" Type="http://schemas.openxmlformats.org/officeDocument/2006/relationships/customXml" Target="../customXml/item3.xml"/><Relationship Id="rId3" Type="http://schemas.openxmlformats.org/officeDocument/2006/relationships/presProps" Target="presProps.xml"/><Relationship Id="rId7" Type="http://schemas.openxmlformats.org/officeDocument/2006/relationships/font" Target="fonts/BarlowCondensed-regular.fntdata"/><Relationship Id="rId12" Type="http://schemas.openxmlformats.org/officeDocument/2006/relationships/customXml" Target="../customXml/item2.xml"/><Relationship Id="rId2" Type="http://schemas.openxmlformats.org/officeDocument/2006/relationships/viewProps" Target="viewProps.xml"/><Relationship Id="rId1" Type="http://schemas.openxmlformats.org/officeDocument/2006/relationships/theme" Target="theme/theme2.xml"/><Relationship Id="rId6" Type="http://schemas.openxmlformats.org/officeDocument/2006/relationships/slide" Target="slides/slide1.xml"/><Relationship Id="rId11" Type="http://schemas.openxmlformats.org/officeDocument/2006/relationships/customXml" Target="../customXml/item1.xml"/><Relationship Id="rId5" Type="http://schemas.openxmlformats.org/officeDocument/2006/relationships/notesMaster" Target="notesMasters/notesMaster1.xml"/><Relationship Id="rId10" Type="http://schemas.openxmlformats.org/officeDocument/2006/relationships/font" Target="fonts/BarlowCondensed-boldItalic.fntdata"/><Relationship Id="rId4" Type="http://schemas.openxmlformats.org/officeDocument/2006/relationships/slideMaster" Target="slideMasters/slideMaster1.xml"/><Relationship Id="rId9" Type="http://schemas.openxmlformats.org/officeDocument/2006/relationships/font" Target="fonts/BarlowCondense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1905000"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 name="Google Shape;4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GENERAL RULES TO FOLLOW:</a:t>
            </a:r>
            <a:endParaRPr b="1"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AutoNum type="arabicParenR"/>
            </a:pPr>
            <a:r>
              <a:rPr b="1" i="0" lang="en" sz="1100" u="none" cap="none" strike="noStrike">
                <a:solidFill>
                  <a:srgbClr val="000000"/>
                </a:solidFill>
                <a:latin typeface="Arial"/>
                <a:ea typeface="Arial"/>
                <a:cs typeface="Arial"/>
                <a:sym typeface="Arial"/>
              </a:rPr>
              <a:t>Stay in Google Slides</a:t>
            </a:r>
            <a:r>
              <a:rPr b="0" i="0" lang="en" sz="1100" u="none" cap="none" strike="noStrike">
                <a:solidFill>
                  <a:srgbClr val="000000"/>
                </a:solidFill>
                <a:latin typeface="Arial"/>
                <a:ea typeface="Arial"/>
                <a:cs typeface="Arial"/>
                <a:sym typeface="Arial"/>
              </a:rPr>
              <a:t> to work on your poster because it: </a:t>
            </a:r>
            <a:endParaRPr b="0" i="0" sz="1100" u="none" cap="none" strike="noStrike">
              <a:solidFill>
                <a:srgbClr val="000000"/>
              </a:solidFill>
              <a:latin typeface="Arial"/>
              <a:ea typeface="Arial"/>
              <a:cs typeface="Arial"/>
              <a:sym typeface="Arial"/>
            </a:endParaRPr>
          </a:p>
          <a:p>
            <a:pPr indent="-298450" lvl="1" marL="914400" marR="0" rtl="0" algn="l">
              <a:lnSpc>
                <a:spcPct val="100000"/>
              </a:lnSpc>
              <a:spcBef>
                <a:spcPts val="0"/>
              </a:spcBef>
              <a:spcAft>
                <a:spcPts val="0"/>
              </a:spcAft>
              <a:buClr>
                <a:srgbClr val="000000"/>
              </a:buClr>
              <a:buSzPts val="1100"/>
              <a:buFont typeface="Arial"/>
              <a:buAutoNum type="alphaLcParenR"/>
            </a:pPr>
            <a:r>
              <a:rPr b="0" i="0" lang="en" sz="1100" u="none" cap="none" strike="noStrike">
                <a:solidFill>
                  <a:schemeClr val="dk1"/>
                </a:solidFill>
                <a:latin typeface="Arial"/>
                <a:ea typeface="Arial"/>
                <a:cs typeface="Arial"/>
                <a:sym typeface="Arial"/>
              </a:rPr>
              <a:t>provides a template with all the </a:t>
            </a:r>
            <a:r>
              <a:rPr b="1" i="0" lang="en" sz="1100" u="none" cap="none" strike="noStrike">
                <a:solidFill>
                  <a:schemeClr val="dk1"/>
                </a:solidFill>
                <a:latin typeface="Arial"/>
                <a:ea typeface="Arial"/>
                <a:cs typeface="Arial"/>
                <a:sym typeface="Arial"/>
              </a:rPr>
              <a:t>approved</a:t>
            </a:r>
            <a:r>
              <a:rPr b="0" i="0" lang="en" sz="1100" u="none" cap="none" strike="noStrike">
                <a:solidFill>
                  <a:schemeClr val="dk1"/>
                </a:solidFill>
                <a:latin typeface="Arial"/>
                <a:ea typeface="Arial"/>
                <a:cs typeface="Arial"/>
                <a:sym typeface="Arial"/>
              </a:rPr>
              <a:t> branding including colors, fonts, and logo placement/usage;</a:t>
            </a:r>
            <a:endParaRPr b="0" i="0" sz="1100" u="none" cap="none" strike="noStrike">
              <a:solidFill>
                <a:srgbClr val="000000"/>
              </a:solidFill>
              <a:latin typeface="Arial"/>
              <a:ea typeface="Arial"/>
              <a:cs typeface="Arial"/>
              <a:sym typeface="Arial"/>
            </a:endParaRPr>
          </a:p>
          <a:p>
            <a:pPr indent="-298450" lvl="1" marL="914400" marR="0" rtl="0" algn="l">
              <a:lnSpc>
                <a:spcPct val="100000"/>
              </a:lnSpc>
              <a:spcBef>
                <a:spcPts val="0"/>
              </a:spcBef>
              <a:spcAft>
                <a:spcPts val="0"/>
              </a:spcAft>
              <a:buClr>
                <a:srgbClr val="000000"/>
              </a:buClr>
              <a:buSzPts val="1100"/>
              <a:buFont typeface="Arial"/>
              <a:buAutoNum type="alphaLcParenR"/>
            </a:pPr>
            <a:r>
              <a:rPr b="0" i="0" lang="en" sz="1100" u="none" cap="none" strike="noStrike">
                <a:solidFill>
                  <a:srgbClr val="000000"/>
                </a:solidFill>
                <a:latin typeface="Arial"/>
                <a:ea typeface="Arial"/>
                <a:cs typeface="Arial"/>
                <a:sym typeface="Arial"/>
              </a:rPr>
              <a:t>allows you to </a:t>
            </a:r>
            <a:r>
              <a:rPr b="1" i="0" lang="en" sz="1100" u="none" cap="none" strike="noStrike">
                <a:solidFill>
                  <a:srgbClr val="000000"/>
                </a:solidFill>
                <a:latin typeface="Arial"/>
                <a:ea typeface="Arial"/>
                <a:cs typeface="Arial"/>
                <a:sym typeface="Arial"/>
              </a:rPr>
              <a:t>collaborate</a:t>
            </a:r>
            <a:r>
              <a:rPr b="0" i="0" lang="en" sz="1100" u="none" cap="none" strike="noStrike">
                <a:solidFill>
                  <a:srgbClr val="000000"/>
                </a:solidFill>
                <a:latin typeface="Arial"/>
                <a:ea typeface="Arial"/>
                <a:cs typeface="Arial"/>
                <a:sym typeface="Arial"/>
              </a:rPr>
              <a:t> with others;</a:t>
            </a:r>
            <a:endParaRPr b="0" i="0" sz="1100" u="none" cap="none" strike="noStrike">
              <a:solidFill>
                <a:srgbClr val="000000"/>
              </a:solidFill>
              <a:latin typeface="Arial"/>
              <a:ea typeface="Arial"/>
              <a:cs typeface="Arial"/>
              <a:sym typeface="Arial"/>
            </a:endParaRPr>
          </a:p>
          <a:p>
            <a:pPr indent="-298450" lvl="1" marL="914400" marR="0" rtl="0" algn="l">
              <a:lnSpc>
                <a:spcPct val="100000"/>
              </a:lnSpc>
              <a:spcBef>
                <a:spcPts val="0"/>
              </a:spcBef>
              <a:spcAft>
                <a:spcPts val="0"/>
              </a:spcAft>
              <a:buClr>
                <a:srgbClr val="000000"/>
              </a:buClr>
              <a:buSzPts val="1100"/>
              <a:buFont typeface="Arial"/>
              <a:buAutoNum type="alphaLcParenR"/>
            </a:pPr>
            <a:r>
              <a:rPr b="0" i="0" lang="en" sz="1100" u="none" cap="none" strike="noStrike">
                <a:solidFill>
                  <a:srgbClr val="000000"/>
                </a:solidFill>
                <a:latin typeface="Arial"/>
                <a:ea typeface="Arial"/>
                <a:cs typeface="Arial"/>
                <a:sym typeface="Arial"/>
              </a:rPr>
              <a:t>helps you to </a:t>
            </a:r>
            <a:r>
              <a:rPr b="1" i="0" lang="en" sz="1100" u="none" cap="none" strike="noStrike">
                <a:solidFill>
                  <a:srgbClr val="000000"/>
                </a:solidFill>
                <a:latin typeface="Arial"/>
                <a:ea typeface="Arial"/>
                <a:cs typeface="Arial"/>
                <a:sym typeface="Arial"/>
              </a:rPr>
              <a:t>communicate</a:t>
            </a:r>
            <a:r>
              <a:rPr b="0" i="0" lang="en" sz="1100" u="none" cap="none" strike="noStrike">
                <a:solidFill>
                  <a:srgbClr val="000000"/>
                </a:solidFill>
                <a:latin typeface="Arial"/>
                <a:ea typeface="Arial"/>
                <a:cs typeface="Arial"/>
                <a:sym typeface="Arial"/>
              </a:rPr>
              <a:t> with your fellow researchers, lab./dept., and creative services;</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AutoNum type="arabicParenR"/>
            </a:pPr>
            <a:r>
              <a:rPr b="1" i="0" lang="en" sz="1100" u="none" cap="none" strike="noStrike">
                <a:solidFill>
                  <a:srgbClr val="000000"/>
                </a:solidFill>
                <a:latin typeface="Arial"/>
                <a:ea typeface="Arial"/>
                <a:cs typeface="Arial"/>
                <a:sym typeface="Arial"/>
              </a:rPr>
              <a:t>Editing</a:t>
            </a:r>
            <a:r>
              <a:rPr b="0" i="0" lang="en" sz="1100" u="none" cap="none" strike="noStrike">
                <a:solidFill>
                  <a:srgbClr val="000000"/>
                </a:solidFill>
                <a:latin typeface="Arial"/>
                <a:ea typeface="Arial"/>
                <a:cs typeface="Arial"/>
                <a:sym typeface="Arial"/>
              </a:rPr>
              <a:t> this file:</a:t>
            </a:r>
            <a:endParaRPr b="0" i="0" sz="1100" u="none" cap="none" strike="noStrike">
              <a:solidFill>
                <a:srgbClr val="000000"/>
              </a:solidFill>
              <a:latin typeface="Arial"/>
              <a:ea typeface="Arial"/>
              <a:cs typeface="Arial"/>
              <a:sym typeface="Arial"/>
            </a:endParaRPr>
          </a:p>
          <a:p>
            <a:pPr indent="-228600" lvl="1" marL="9144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399" cy="16420200"/>
          </a:xfrm>
          <a:prstGeom prst="rect">
            <a:avLst/>
          </a:prstGeom>
          <a:noFill/>
          <a:ln>
            <a:noFill/>
          </a:ln>
        </p:spPr>
        <p:txBody>
          <a:bodyPr anchorCtr="0" anchor="b" bIns="519950" lIns="519950" spcFirstLastPara="1" rIns="519950" wrap="square" tIns="519950"/>
          <a:lstStyle>
            <a:lvl1pPr lvl="0"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9pPr>
          </a:lstStyle>
          <a:p/>
        </p:txBody>
      </p:sp>
      <p:sp>
        <p:nvSpPr>
          <p:cNvPr id="8" name="Google Shape;8;p2"/>
          <p:cNvSpPr txBox="1"/>
          <p:nvPr>
            <p:ph idx="1" type="subTitle"/>
          </p:nvPr>
        </p:nvSpPr>
        <p:spPr>
          <a:xfrm>
            <a:off x="1246800" y="22673000"/>
            <a:ext cx="34082399" cy="6342000"/>
          </a:xfrm>
          <a:prstGeom prst="rect">
            <a:avLst/>
          </a:prstGeom>
          <a:noFill/>
          <a:ln>
            <a:noFill/>
          </a:ln>
        </p:spPr>
        <p:txBody>
          <a:bodyPr anchorCtr="0" anchor="ctr" bIns="519950" lIns="519950" spcFirstLastPara="1" rIns="519950" wrap="square" tIns="519950"/>
          <a:lstStyle>
            <a:lvl1pPr lvl="0"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399" cy="6734700"/>
          </a:xfrm>
          <a:prstGeom prst="rect">
            <a:avLst/>
          </a:prstGeom>
          <a:noFill/>
          <a:ln>
            <a:noFill/>
          </a:ln>
        </p:spPr>
        <p:txBody>
          <a:bodyPr anchorCtr="0" anchor="ctr" bIns="519950" lIns="519950" spcFirstLastPara="1" rIns="519950" wrap="square" tIns="519950"/>
          <a:lstStyle>
            <a:lvl1pPr lvl="0"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399" cy="45813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15" name="Google Shape;15;p4"/>
          <p:cNvSpPr txBox="1"/>
          <p:nvPr>
            <p:ph idx="1" type="body"/>
          </p:nvPr>
        </p:nvSpPr>
        <p:spPr>
          <a:xfrm>
            <a:off x="1246800" y="9219800"/>
            <a:ext cx="34082399" cy="273306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742950" lvl="1" marL="914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indent="-742950" lvl="2" marL="1371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indent="-742950" lvl="3" marL="1828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indent="-742950" lvl="4" marL="22860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indent="-742950" lvl="5" marL="2743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indent="-742950" lvl="6" marL="3200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indent="-742950" lvl="7" marL="3657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indent="-742950" lvl="8" marL="4114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399" cy="45813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660400" lvl="1" marL="914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2pPr>
            <a:lvl3pPr indent="-660400" lvl="2" marL="1371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3pPr>
            <a:lvl4pPr indent="-660400" lvl="3" marL="1828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4pPr>
            <a:lvl5pPr indent="-660400" lvl="4" marL="22860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5pPr>
            <a:lvl6pPr indent="-660400" lvl="5" marL="2743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6pPr>
            <a:lvl7pPr indent="-660400" lvl="6" marL="3200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7pPr>
            <a:lvl8pPr indent="-660400" lvl="7" marL="3657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8pPr>
            <a:lvl9pPr indent="-660400" lvl="8" marL="4114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660400" lvl="1" marL="914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2pPr>
            <a:lvl3pPr indent="-660400" lvl="2" marL="1371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3pPr>
            <a:lvl4pPr indent="-660400" lvl="3" marL="1828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4pPr>
            <a:lvl5pPr indent="-660400" lvl="4" marL="22860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5pPr>
            <a:lvl6pPr indent="-660400" lvl="5" marL="2743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6pPr>
            <a:lvl7pPr indent="-660400" lvl="6" marL="3200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7pPr>
            <a:lvl8pPr indent="-660400" lvl="7" marL="3657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8pPr>
            <a:lvl9pPr indent="-660400" lvl="8" marL="4114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399" cy="45813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9pPr>
          </a:lstStyle>
          <a:p/>
        </p:txBody>
      </p:sp>
      <p:sp>
        <p:nvSpPr>
          <p:cNvPr id="27" name="Google Shape;27;p7"/>
          <p:cNvSpPr txBox="1"/>
          <p:nvPr>
            <p:ph idx="1" type="body"/>
          </p:nvPr>
        </p:nvSpPr>
        <p:spPr>
          <a:xfrm>
            <a:off x="1246800" y="11116800"/>
            <a:ext cx="11232000" cy="25435799"/>
          </a:xfrm>
          <a:prstGeom prst="rect">
            <a:avLst/>
          </a:prstGeom>
          <a:noFill/>
          <a:ln>
            <a:noFill/>
          </a:ln>
        </p:spPr>
        <p:txBody>
          <a:bodyPr anchorCtr="0" anchor="ctr" bIns="519950" lIns="519950" spcFirstLastPara="1" rIns="519950" wrap="square" tIns="519950"/>
          <a:lstStyle>
            <a:lvl1pPr indent="-660400" lvl="0" marL="457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1pPr>
            <a:lvl2pPr indent="-660400" lvl="1" marL="914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2pPr>
            <a:lvl3pPr indent="-660400" lvl="2" marL="1371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3pPr>
            <a:lvl4pPr indent="-660400" lvl="3" marL="1828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4pPr>
            <a:lvl5pPr indent="-660400" lvl="4" marL="22860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5pPr>
            <a:lvl6pPr indent="-660400" lvl="5" marL="2743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6pPr>
            <a:lvl7pPr indent="-660400" lvl="6" marL="3200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7pPr>
            <a:lvl8pPr indent="-660400" lvl="7" marL="3657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8pPr>
            <a:lvl9pPr indent="-660400" lvl="8" marL="4114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1" cy="327258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1" cy="41147999"/>
          </a:xfrm>
          <a:prstGeom prst="rect">
            <a:avLst/>
          </a:prstGeom>
          <a:solidFill>
            <a:schemeClr val="lt2"/>
          </a:solidFill>
          <a:ln>
            <a:noFill/>
          </a:ln>
        </p:spPr>
        <p:txBody>
          <a:bodyPr anchorCtr="0" anchor="ctr" bIns="519950" lIns="519950" spcFirstLastPara="1" rIns="519950" wrap="square" tIns="5199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742950" lvl="1" marL="914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indent="-742950" lvl="2" marL="1371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indent="-742950" lvl="3" marL="1828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indent="-742950" lvl="4" marL="22860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indent="-742950" lvl="5" marL="2743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indent="-742950" lvl="6" marL="3200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indent="-742950" lvl="7" marL="3657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indent="-742950" lvl="8" marL="4114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1" cy="4840500"/>
          </a:xfrm>
          <a:prstGeom prst="rect">
            <a:avLst/>
          </a:prstGeom>
          <a:noFill/>
          <a:ln>
            <a:noFill/>
          </a:ln>
        </p:spPr>
        <p:txBody>
          <a:bodyPr anchorCtr="0" anchor="ctr" bIns="519950" lIns="519950" spcFirstLastPara="1" rIns="519950" wrap="square" tIns="519950"/>
          <a:lstStyle>
            <a:lvl1pPr indent="-228600" lvl="0" marL="457200" marR="0" rtl="0" algn="l">
              <a:lnSpc>
                <a:spcPct val="100000"/>
              </a:lnSpc>
              <a:spcBef>
                <a:spcPts val="0"/>
              </a:spcBef>
              <a:spcAft>
                <a:spcPts val="0"/>
              </a:spcAft>
              <a:buClr>
                <a:srgbClr val="000000"/>
              </a:buClr>
              <a:buSzPts val="8100"/>
              <a:buFont typeface="Arial"/>
              <a:buNone/>
              <a:defRPr b="0" i="0" sz="8100" u="none" cap="none" strike="noStrike">
                <a:solidFill>
                  <a:srgbClr val="000000"/>
                </a:solidFill>
                <a:latin typeface="Arial"/>
                <a:ea typeface="Arial"/>
                <a:cs typeface="Arial"/>
                <a:sym typeface="Arial"/>
              </a:defRPr>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399" cy="15707399"/>
          </a:xfrm>
          <a:prstGeom prst="rect">
            <a:avLst/>
          </a:prstGeom>
          <a:noFill/>
          <a:ln>
            <a:noFill/>
          </a:ln>
        </p:spPr>
        <p:txBody>
          <a:bodyPr anchorCtr="0" anchor="b" bIns="519950" lIns="519950" spcFirstLastPara="1" rIns="519950" wrap="square" tIns="519950"/>
          <a:lstStyle>
            <a:lvl1pPr lvl="0"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9pPr>
          </a:lstStyle>
          <a:p>
            <a:r>
              <a:t>xx%</a:t>
            </a:r>
          </a:p>
        </p:txBody>
      </p:sp>
      <p:sp>
        <p:nvSpPr>
          <p:cNvPr id="43" name="Google Shape;43;p11"/>
          <p:cNvSpPr txBox="1"/>
          <p:nvPr>
            <p:ph idx="1" type="body"/>
          </p:nvPr>
        </p:nvSpPr>
        <p:spPr>
          <a:xfrm>
            <a:off x="1246800" y="25217800"/>
            <a:ext cx="34082399" cy="10407000"/>
          </a:xfrm>
          <a:prstGeom prst="rect">
            <a:avLst/>
          </a:prstGeom>
          <a:noFill/>
          <a:ln>
            <a:noFill/>
          </a:ln>
        </p:spPr>
        <p:txBody>
          <a:bodyPr anchorCtr="0" anchor="ctr" bIns="519950" lIns="519950" spcFirstLastPara="1" rIns="519950" wrap="square" tIns="519950"/>
          <a:lstStyle>
            <a:lvl1pPr indent="-742950" lvl="0" marL="4572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742950" lvl="1" marL="9144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indent="-742950" lvl="2" marL="13716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indent="-742950" lvl="3" marL="18288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indent="-742950" lvl="4" marL="22860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indent="-742950" lvl="5" marL="27432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indent="-742950" lvl="6" marL="32004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indent="-742950" lvl="7" marL="36576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indent="-742950" lvl="8" marL="41148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0"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hyperlink" Target="https://doi.org/10.1093/swr/svt013" TargetMode="External"/><Relationship Id="rId9" Type="http://schemas.openxmlformats.org/officeDocument/2006/relationships/image" Target="../media/image4.png"/><Relationship Id="rId5" Type="http://schemas.openxmlformats.org/officeDocument/2006/relationships/hyperlink" Target="https://doi.org/10.1093/swr/svt013" TargetMode="External"/><Relationship Id="rId6" Type="http://schemas.openxmlformats.org/officeDocument/2006/relationships/hyperlink" Target="https://doi.org/10.1016/j.childyouth.2015.05.019" TargetMode="External"/><Relationship Id="rId7" Type="http://schemas.openxmlformats.org/officeDocument/2006/relationships/hyperlink" Target="https://doi.org/10.1080/15548732.2013.843494" TargetMode="External"/><Relationship Id="rId8"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sp>
        <p:nvSpPr>
          <p:cNvPr id="51" name="Google Shape;51;p13"/>
          <p:cNvSpPr txBox="1"/>
          <p:nvPr/>
        </p:nvSpPr>
        <p:spPr>
          <a:xfrm>
            <a:off x="8270725" y="20125"/>
            <a:ext cx="26601900" cy="30192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9600"/>
              <a:buFont typeface="Arial"/>
              <a:buNone/>
            </a:pPr>
            <a:r>
              <a:rPr b="1" lang="en" sz="9600">
                <a:solidFill>
                  <a:srgbClr val="141F22"/>
                </a:solidFill>
                <a:latin typeface="Barlow Condensed"/>
                <a:ea typeface="Barlow Condensed"/>
                <a:cs typeface="Barlow Condensed"/>
                <a:sym typeface="Barlow Condensed"/>
              </a:rPr>
              <a:t>UMFS: Retention of Foster Parents for Foster Children with Special Medical or Behavioral Needs</a:t>
            </a:r>
            <a:r>
              <a:rPr b="1" i="0" lang="en" sz="9600" u="none" cap="none" strike="noStrike">
                <a:solidFill>
                  <a:srgbClr val="141F22"/>
                </a:solidFill>
                <a:latin typeface="Barlow Condensed"/>
                <a:ea typeface="Barlow Condensed"/>
                <a:cs typeface="Barlow Condensed"/>
                <a:sym typeface="Barlow Condensed"/>
              </a:rPr>
              <a:t> </a:t>
            </a:r>
            <a:endParaRPr b="1" i="0" sz="9600" u="none" cap="none" strike="noStrike">
              <a:solidFill>
                <a:srgbClr val="141F22"/>
              </a:solidFill>
              <a:latin typeface="Barlow Condensed"/>
              <a:ea typeface="Barlow Condensed"/>
              <a:cs typeface="Barlow Condensed"/>
              <a:sym typeface="Barlow Condensed"/>
            </a:endParaRPr>
          </a:p>
        </p:txBody>
      </p:sp>
      <p:sp>
        <p:nvSpPr>
          <p:cNvPr id="52" name="Google Shape;52;p13"/>
          <p:cNvSpPr txBox="1"/>
          <p:nvPr/>
        </p:nvSpPr>
        <p:spPr>
          <a:xfrm>
            <a:off x="8270714" y="3039425"/>
            <a:ext cx="25925400" cy="697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chemeClr val="dk1"/>
              </a:buClr>
              <a:buSzPts val="1100"/>
              <a:buFont typeface="Arial"/>
              <a:buNone/>
            </a:pPr>
            <a:r>
              <a:rPr i="1" lang="en" sz="4800">
                <a:solidFill>
                  <a:srgbClr val="141F22"/>
                </a:solidFill>
                <a:latin typeface="Barlow Condensed"/>
                <a:ea typeface="Barlow Condensed"/>
                <a:cs typeface="Barlow Condensed"/>
                <a:sym typeface="Barlow Condensed"/>
              </a:rPr>
              <a:t>Armi Mosavian    Daniel Liden							     Brian Goode      Josh Goldstein</a:t>
            </a:r>
            <a:endParaRPr i="1" sz="4800">
              <a:solidFill>
                <a:srgbClr val="141F22"/>
              </a:solidFill>
              <a:latin typeface="Barlow Condensed"/>
              <a:ea typeface="Barlow Condensed"/>
              <a:cs typeface="Barlow Condensed"/>
              <a:sym typeface="Barlow Condensed"/>
            </a:endParaRPr>
          </a:p>
        </p:txBody>
      </p:sp>
      <p:sp>
        <p:nvSpPr>
          <p:cNvPr id="53" name="Google Shape;53;p13"/>
          <p:cNvSpPr txBox="1"/>
          <p:nvPr/>
        </p:nvSpPr>
        <p:spPr>
          <a:xfrm>
            <a:off x="8270697" y="3674375"/>
            <a:ext cx="16429500" cy="697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3600"/>
              <a:buFont typeface="Arial"/>
              <a:buNone/>
            </a:pPr>
            <a:r>
              <a:rPr i="1" lang="en" sz="3600">
                <a:solidFill>
                  <a:srgbClr val="141F22"/>
                </a:solidFill>
                <a:latin typeface="Barlow Condensed"/>
                <a:ea typeface="Barlow Condensed"/>
                <a:cs typeface="Barlow Condensed"/>
                <a:sym typeface="Barlow Condensed"/>
              </a:rPr>
              <a:t>Virginia Tech			  University of Minnesota, Twin Cities      VT SDAL                      VT SDAL                           </a:t>
            </a:r>
            <a:endParaRPr b="0" i="1" sz="3600" u="none" cap="none" strike="noStrike">
              <a:solidFill>
                <a:srgbClr val="141F22"/>
              </a:solidFill>
              <a:latin typeface="Barlow Condensed"/>
              <a:ea typeface="Barlow Condensed"/>
              <a:cs typeface="Barlow Condensed"/>
              <a:sym typeface="Barlow Condensed"/>
            </a:endParaRPr>
          </a:p>
        </p:txBody>
      </p:sp>
      <p:sp>
        <p:nvSpPr>
          <p:cNvPr id="54" name="Google Shape;54;p13"/>
          <p:cNvSpPr txBox="1"/>
          <p:nvPr/>
        </p:nvSpPr>
        <p:spPr>
          <a:xfrm>
            <a:off x="749375" y="6626173"/>
            <a:ext cx="10396800" cy="65487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3600"/>
              <a:buFont typeface="Arial"/>
              <a:buNone/>
            </a:pPr>
            <a:r>
              <a:rPr lang="en" sz="3600">
                <a:solidFill>
                  <a:srgbClr val="141F22"/>
                </a:solidFill>
                <a:latin typeface="Barlow Condensed"/>
                <a:ea typeface="Barlow Condensed"/>
                <a:cs typeface="Barlow Condensed"/>
                <a:sym typeface="Barlow Condensed"/>
              </a:rPr>
              <a:t>UMFS recruits and trains parents for treatment foster care and aims to provide stable foster homes for children and adolescents with special medical and behavioral needs.</a:t>
            </a:r>
            <a:endParaRPr sz="3600">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sz="3600">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rPr lang="en" sz="3600">
                <a:solidFill>
                  <a:srgbClr val="141F22"/>
                </a:solidFill>
                <a:latin typeface="Barlow Condensed"/>
                <a:ea typeface="Barlow Condensed"/>
                <a:cs typeface="Barlow Condensed"/>
                <a:sym typeface="Barlow Condensed"/>
              </a:rPr>
              <a:t>Treatment foster care focuses specifically on children with behavioral, emotional, or social challenges; special medical needs; and histories of disruptions or trauma in the foster care system. UMFS also works to match adolescents and teens, who often struggle to find stable foster placements, with foster families.</a:t>
            </a:r>
            <a:endParaRPr sz="3600">
              <a:solidFill>
                <a:srgbClr val="141F22"/>
              </a:solidFill>
              <a:latin typeface="Barlow Condensed"/>
              <a:ea typeface="Barlow Condensed"/>
              <a:cs typeface="Barlow Condensed"/>
              <a:sym typeface="Barlow Condensed"/>
            </a:endParaRPr>
          </a:p>
        </p:txBody>
      </p:sp>
      <p:sp>
        <p:nvSpPr>
          <p:cNvPr id="55" name="Google Shape;55;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2400"/>
              <a:buFont typeface="Arial"/>
              <a:buNone/>
            </a:pPr>
            <a:r>
              <a:rPr b="1" i="1" lang="en" sz="2400" u="none" cap="none" strike="noStrike">
                <a:solidFill>
                  <a:srgbClr val="5D89B4"/>
                </a:solidFill>
                <a:latin typeface="Barlow Condensed"/>
                <a:ea typeface="Barlow Condensed"/>
                <a:cs typeface="Barlow Condensed"/>
                <a:sym typeface="Barlow Condensed"/>
              </a:rPr>
              <a:t>Stay Connected:</a:t>
            </a:r>
            <a:endParaRPr b="1" i="1" sz="2400" u="none" cap="none" strike="noStrike">
              <a:solidFill>
                <a:srgbClr val="5D89B4"/>
              </a:solidFill>
              <a:latin typeface="Barlow Condensed"/>
              <a:ea typeface="Barlow Condensed"/>
              <a:cs typeface="Barlow Condensed"/>
              <a:sym typeface="Barlow Condensed"/>
            </a:endParaRPr>
          </a:p>
        </p:txBody>
      </p:sp>
      <p:sp>
        <p:nvSpPr>
          <p:cNvPr id="56" name="Google Shape;56;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facebook.com/biocomplexity</a:t>
            </a:r>
            <a:endParaRPr b="0" i="1" sz="1800" u="none" cap="none" strike="noStrike">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twitter.com/biocomplexityvt</a:t>
            </a:r>
            <a:endParaRPr b="0" i="1" sz="1800" u="none" cap="none" strike="noStrike">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youtube.com/c/biocomplexity</a:t>
            </a:r>
            <a:endParaRPr b="0" i="1" sz="1800" u="none" cap="none" strike="noStrike">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google.com/+biocomplexity</a:t>
            </a:r>
            <a:endParaRPr b="1" i="1" sz="1800" u="none" cap="none" strike="noStrike">
              <a:solidFill>
                <a:srgbClr val="5D89B4"/>
              </a:solidFill>
              <a:latin typeface="Barlow Condensed"/>
              <a:ea typeface="Barlow Condensed"/>
              <a:cs typeface="Barlow Condensed"/>
              <a:sym typeface="Barlow Condensed"/>
            </a:endParaRPr>
          </a:p>
        </p:txBody>
      </p:sp>
      <p:sp>
        <p:nvSpPr>
          <p:cNvPr id="57" name="Google Shape;57;p13"/>
          <p:cNvSpPr txBox="1"/>
          <p:nvPr/>
        </p:nvSpPr>
        <p:spPr>
          <a:xfrm>
            <a:off x="1048800" y="4650025"/>
            <a:ext cx="10572900" cy="16983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United Methodist Foster Services </a:t>
            </a:r>
            <a:endParaRPr b="1" i="0" sz="4800" u="none" cap="none" strike="noStrike">
              <a:solidFill>
                <a:srgbClr val="FFFFFF"/>
              </a:solidFill>
              <a:latin typeface="Barlow Condensed"/>
              <a:ea typeface="Barlow Condensed"/>
              <a:cs typeface="Barlow Condensed"/>
              <a:sym typeface="Barlow Condensed"/>
            </a:endParaRPr>
          </a:p>
        </p:txBody>
      </p:sp>
      <p:sp>
        <p:nvSpPr>
          <p:cNvPr id="58" name="Google Shape;58;p13"/>
          <p:cNvSpPr txBox="1"/>
          <p:nvPr/>
        </p:nvSpPr>
        <p:spPr>
          <a:xfrm>
            <a:off x="12130375" y="6451650"/>
            <a:ext cx="14552400" cy="74019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SzPts val="3600"/>
              <a:buFont typeface="Arial"/>
              <a:buNone/>
            </a:pPr>
            <a:r>
              <a:rPr lang="en" sz="3600">
                <a:solidFill>
                  <a:srgbClr val="141F22"/>
                </a:solidFill>
                <a:latin typeface="Barlow Condensed"/>
                <a:ea typeface="Barlow Condensed"/>
                <a:cs typeface="Barlow Condensed"/>
                <a:sym typeface="Barlow Condensed"/>
              </a:rPr>
              <a:t>UMFS is interested in using data from various points of contact between UMFS and foster parents in order to identify foster parent characteristics associated with placement stability and to find opportunities for training and other interventions aimed at improving foster parent retention. Improving </a:t>
            </a:r>
            <a:r>
              <a:rPr b="1" lang="en" sz="3600">
                <a:solidFill>
                  <a:srgbClr val="141F22"/>
                </a:solidFill>
                <a:latin typeface="Barlow Condensed"/>
                <a:ea typeface="Barlow Condensed"/>
                <a:cs typeface="Barlow Condensed"/>
                <a:sym typeface="Barlow Condensed"/>
              </a:rPr>
              <a:t>retention</a:t>
            </a:r>
            <a:r>
              <a:rPr lang="en" sz="3600">
                <a:solidFill>
                  <a:srgbClr val="141F22"/>
                </a:solidFill>
                <a:latin typeface="Barlow Condensed"/>
                <a:ea typeface="Barlow Condensed"/>
                <a:cs typeface="Barlow Condensed"/>
                <a:sym typeface="Barlow Condensed"/>
              </a:rPr>
              <a:t> means ensuring that current foster parents keep fostering in the future. Improving </a:t>
            </a:r>
            <a:r>
              <a:rPr b="1" lang="en" sz="3600">
                <a:solidFill>
                  <a:srgbClr val="141F22"/>
                </a:solidFill>
                <a:latin typeface="Barlow Condensed"/>
                <a:ea typeface="Barlow Condensed"/>
                <a:cs typeface="Barlow Condensed"/>
                <a:sym typeface="Barlow Condensed"/>
              </a:rPr>
              <a:t>placement stability</a:t>
            </a:r>
            <a:r>
              <a:rPr lang="en" sz="3600">
                <a:solidFill>
                  <a:srgbClr val="141F22"/>
                </a:solidFill>
                <a:latin typeface="Barlow Condensed"/>
                <a:ea typeface="Barlow Condensed"/>
                <a:cs typeface="Barlow Condensed"/>
                <a:sym typeface="Barlow Condensed"/>
              </a:rPr>
              <a:t> means ensuring that foster children are able to remain in the same home for a long period of time. </a:t>
            </a:r>
            <a:r>
              <a:rPr b="1" lang="en" sz="3600">
                <a:solidFill>
                  <a:srgbClr val="141F22"/>
                </a:solidFill>
                <a:latin typeface="Barlow Condensed"/>
                <a:ea typeface="Barlow Condensed"/>
                <a:cs typeface="Barlow Condensed"/>
                <a:sym typeface="Barlow Condensed"/>
              </a:rPr>
              <a:t>Disruption</a:t>
            </a:r>
            <a:r>
              <a:rPr lang="en" sz="3600">
                <a:solidFill>
                  <a:srgbClr val="141F22"/>
                </a:solidFill>
                <a:latin typeface="Barlow Condensed"/>
                <a:ea typeface="Barlow Condensed"/>
                <a:cs typeface="Barlow Condensed"/>
                <a:sym typeface="Barlow Condensed"/>
              </a:rPr>
              <a:t> occurs when a foster child needs to be removed from his/her current living situation.</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3600"/>
              <a:buFont typeface="Arial"/>
              <a:buNone/>
            </a:pPr>
            <a:r>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3600"/>
              <a:buFont typeface="Arial"/>
              <a:buNone/>
            </a:pPr>
            <a:r>
              <a:rPr lang="en" sz="3600">
                <a:solidFill>
                  <a:srgbClr val="141F22"/>
                </a:solidFill>
                <a:latin typeface="Barlow Condensed"/>
                <a:ea typeface="Barlow Condensed"/>
                <a:cs typeface="Barlow Condensed"/>
                <a:sym typeface="Barlow Condensed"/>
              </a:rPr>
              <a:t>We first compared the demographics of UMFS’s foster families in Richmond, VA to the broader foster family population in Richmond. We obtained the overall Richmond foster data from the The Adoption and Foster Care Analysis and Reporting System (AFCARS) dataset, which comes from a federally-mandated data collection process providing case-level demographic data on children in adoption/foster care programs.</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3600"/>
              <a:buFont typeface="Arial"/>
              <a:buNone/>
            </a:pPr>
            <a:r>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3600"/>
              <a:buFont typeface="Arial"/>
              <a:buNone/>
            </a:pPr>
            <a:r>
              <a:t/>
            </a:r>
            <a:endParaRPr sz="3600">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sz="3600">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sz="3600">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sz="3600">
              <a:solidFill>
                <a:srgbClr val="141F22"/>
              </a:solidFill>
              <a:latin typeface="Barlow Condensed"/>
              <a:ea typeface="Barlow Condensed"/>
              <a:cs typeface="Barlow Condensed"/>
              <a:sym typeface="Barlow Condensed"/>
            </a:endParaRPr>
          </a:p>
        </p:txBody>
      </p:sp>
      <p:sp>
        <p:nvSpPr>
          <p:cNvPr id="59" name="Google Shape;59;p13"/>
          <p:cNvSpPr txBox="1"/>
          <p:nvPr/>
        </p:nvSpPr>
        <p:spPr>
          <a:xfrm>
            <a:off x="12282775" y="4650025"/>
            <a:ext cx="21913500" cy="16983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lang="en" sz="4800">
                <a:solidFill>
                  <a:srgbClr val="FFFFFF"/>
                </a:solidFill>
                <a:latin typeface="Barlow Condensed"/>
                <a:ea typeface="Barlow Condensed"/>
                <a:cs typeface="Barlow Condensed"/>
                <a:sym typeface="Barlow Condensed"/>
              </a:rPr>
              <a:t>The Project: Retention and Disruptions</a:t>
            </a:r>
            <a:endParaRPr b="1" i="0" sz="4800" u="none" cap="none" strike="noStrike">
              <a:solidFill>
                <a:srgbClr val="FFFFFF"/>
              </a:solidFill>
              <a:latin typeface="Barlow Condensed"/>
              <a:ea typeface="Barlow Condensed"/>
              <a:cs typeface="Barlow Condensed"/>
              <a:sym typeface="Barlow Condensed"/>
            </a:endParaRPr>
          </a:p>
        </p:txBody>
      </p:sp>
      <p:sp>
        <p:nvSpPr>
          <p:cNvPr id="60" name="Google Shape;60;p13"/>
          <p:cNvSpPr txBox="1"/>
          <p:nvPr/>
        </p:nvSpPr>
        <p:spPr>
          <a:xfrm>
            <a:off x="1136850" y="13452725"/>
            <a:ext cx="10396800"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lang="en" sz="4800">
                <a:solidFill>
                  <a:srgbClr val="FFFFFF"/>
                </a:solidFill>
                <a:latin typeface="Barlow Condensed"/>
                <a:ea typeface="Barlow Condensed"/>
                <a:cs typeface="Barlow Condensed"/>
                <a:sym typeface="Barlow Condensed"/>
              </a:rPr>
              <a:t>Literature Review </a:t>
            </a:r>
            <a:endParaRPr b="1" i="0" sz="4800" u="none" cap="none" strike="noStrike">
              <a:solidFill>
                <a:srgbClr val="FFFFFF"/>
              </a:solidFill>
              <a:latin typeface="Barlow Condensed"/>
              <a:ea typeface="Barlow Condensed"/>
              <a:cs typeface="Barlow Condensed"/>
              <a:sym typeface="Barlow Condensed"/>
            </a:endParaRPr>
          </a:p>
        </p:txBody>
      </p:sp>
      <p:sp>
        <p:nvSpPr>
          <p:cNvPr id="61" name="Google Shape;61;p13"/>
          <p:cNvSpPr txBox="1"/>
          <p:nvPr/>
        </p:nvSpPr>
        <p:spPr>
          <a:xfrm>
            <a:off x="1048800" y="20100375"/>
            <a:ext cx="10572900" cy="16983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t/>
            </a:r>
            <a:endParaRPr b="1" sz="4800">
              <a:solidFill>
                <a:srgbClr val="FFFFFF"/>
              </a:solidFill>
              <a:latin typeface="Barlow Condensed"/>
              <a:ea typeface="Barlow Condensed"/>
              <a:cs typeface="Barlow Condensed"/>
              <a:sym typeface="Barlow Condensed"/>
            </a:endParaRPr>
          </a:p>
          <a:p>
            <a:pPr indent="0" lvl="0" marL="0" marR="0" rtl="0" algn="ctr">
              <a:lnSpc>
                <a:spcPct val="100000"/>
              </a:lnSpc>
              <a:spcBef>
                <a:spcPts val="0"/>
              </a:spcBef>
              <a:spcAft>
                <a:spcPts val="0"/>
              </a:spcAft>
              <a:buClr>
                <a:srgbClr val="000000"/>
              </a:buClr>
              <a:buSzPts val="4800"/>
              <a:buFont typeface="Arial"/>
              <a:buNone/>
            </a:pPr>
            <a:r>
              <a:rPr b="1" lang="en" sz="4800">
                <a:solidFill>
                  <a:srgbClr val="FFFFFF"/>
                </a:solidFill>
                <a:latin typeface="Barlow Condensed"/>
                <a:ea typeface="Barlow Condensed"/>
                <a:cs typeface="Barlow Condensed"/>
                <a:sym typeface="Barlow Condensed"/>
              </a:rPr>
              <a:t>Concept Map</a:t>
            </a:r>
            <a:endParaRPr b="1" sz="4800">
              <a:solidFill>
                <a:srgbClr val="FFFFFF"/>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4800"/>
              <a:buFont typeface="Arial"/>
              <a:buNone/>
            </a:pPr>
            <a:r>
              <a:t/>
            </a:r>
            <a:endParaRPr b="1" sz="4800">
              <a:solidFill>
                <a:srgbClr val="FFFFFF"/>
              </a:solidFill>
              <a:latin typeface="Barlow Condensed"/>
              <a:ea typeface="Barlow Condensed"/>
              <a:cs typeface="Barlow Condensed"/>
              <a:sym typeface="Barlow Condensed"/>
            </a:endParaRPr>
          </a:p>
        </p:txBody>
      </p:sp>
      <p:sp>
        <p:nvSpPr>
          <p:cNvPr id="62" name="Google Shape;62;p13"/>
          <p:cNvSpPr txBox="1"/>
          <p:nvPr/>
        </p:nvSpPr>
        <p:spPr>
          <a:xfrm>
            <a:off x="23672063" y="26633588"/>
            <a:ext cx="10572900" cy="16983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lang="en" sz="4800">
                <a:solidFill>
                  <a:srgbClr val="FFFFFF"/>
                </a:solidFill>
                <a:latin typeface="Barlow Condensed"/>
                <a:ea typeface="Barlow Condensed"/>
                <a:cs typeface="Barlow Condensed"/>
                <a:sym typeface="Barlow Condensed"/>
              </a:rPr>
              <a:t>Further Steps</a:t>
            </a:r>
            <a:endParaRPr b="1" sz="4800">
              <a:solidFill>
                <a:srgbClr val="FFFFFF"/>
              </a:solidFill>
              <a:latin typeface="Barlow Condensed"/>
              <a:ea typeface="Barlow Condensed"/>
              <a:cs typeface="Barlow Condensed"/>
              <a:sym typeface="Barlow Condensed"/>
            </a:endParaRPr>
          </a:p>
        </p:txBody>
      </p:sp>
      <p:sp>
        <p:nvSpPr>
          <p:cNvPr id="63" name="Google Shape;63;p13"/>
          <p:cNvSpPr txBox="1"/>
          <p:nvPr/>
        </p:nvSpPr>
        <p:spPr>
          <a:xfrm>
            <a:off x="832050" y="15473275"/>
            <a:ext cx="10396800" cy="41367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3600"/>
              <a:buFont typeface="Arial"/>
              <a:buNone/>
            </a:pPr>
            <a:r>
              <a:rPr lang="en" sz="3600">
                <a:solidFill>
                  <a:srgbClr val="141F22"/>
                </a:solidFill>
                <a:latin typeface="Barlow Condensed"/>
                <a:ea typeface="Barlow Condensed"/>
                <a:cs typeface="Barlow Condensed"/>
                <a:sym typeface="Barlow Condensed"/>
              </a:rPr>
              <a:t>Numerous analyses of surveys and administrative data from foster parents have been published in the past. Much of the published research focused on the core themes of this project: foster parent retention, prevention of disruptions, and unique features of providing foster care for adolescents and teens with special needs. We reviewed the existing literature to extract data-supported themes and recommendations.</a:t>
            </a:r>
            <a:endParaRPr sz="3600">
              <a:solidFill>
                <a:srgbClr val="141F22"/>
              </a:solidFill>
              <a:latin typeface="Barlow Condensed"/>
              <a:ea typeface="Barlow Condensed"/>
              <a:cs typeface="Barlow Condensed"/>
              <a:sym typeface="Barlow Condensed"/>
            </a:endParaRPr>
          </a:p>
        </p:txBody>
      </p:sp>
      <p:sp>
        <p:nvSpPr>
          <p:cNvPr id="64" name="Google Shape;64;p13"/>
          <p:cNvSpPr txBox="1"/>
          <p:nvPr/>
        </p:nvSpPr>
        <p:spPr>
          <a:xfrm>
            <a:off x="25703450" y="12711950"/>
            <a:ext cx="9169200" cy="1990800"/>
          </a:xfrm>
          <a:prstGeom prst="rect">
            <a:avLst/>
          </a:prstGeom>
          <a:noFill/>
          <a:ln>
            <a:noFill/>
          </a:ln>
        </p:spPr>
        <p:txBody>
          <a:bodyPr anchorCtr="0" anchor="t" bIns="182875" lIns="0" spcFirstLastPara="1" rIns="31247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1" lang="en" sz="2000">
                <a:solidFill>
                  <a:srgbClr val="5D89B4"/>
                </a:solidFill>
                <a:latin typeface="Barlow Condensed"/>
                <a:ea typeface="Barlow Condensed"/>
                <a:cs typeface="Barlow Condensed"/>
                <a:sym typeface="Barlow Condensed"/>
              </a:rPr>
              <a:t>Figure 1: </a:t>
            </a:r>
            <a:r>
              <a:rPr i="1" lang="en" sz="2000">
                <a:solidFill>
                  <a:srgbClr val="5D89B4"/>
                </a:solidFill>
                <a:latin typeface="Barlow Condensed"/>
                <a:ea typeface="Barlow Condensed"/>
                <a:cs typeface="Barlow Condensed"/>
                <a:sym typeface="Barlow Condensed"/>
              </a:rPr>
              <a:t>The median age of UMFS foster parents was lower than that of the foster parent population of Richmond as a whole. We also found that a higher proportion of UMFS foster parents were white compared to the overall Richmond foster parent population.</a:t>
            </a:r>
            <a:br>
              <a:rPr i="1" lang="en" sz="2000">
                <a:solidFill>
                  <a:srgbClr val="5D89B4"/>
                </a:solidFill>
                <a:latin typeface="Barlow Condensed"/>
                <a:ea typeface="Barlow Condensed"/>
                <a:cs typeface="Barlow Condensed"/>
                <a:sym typeface="Barlow Condensed"/>
              </a:rPr>
            </a:br>
            <a:r>
              <a:rPr i="1" lang="en" sz="2000">
                <a:solidFill>
                  <a:srgbClr val="5D89B4"/>
                </a:solidFill>
                <a:latin typeface="Barlow Condensed"/>
                <a:ea typeface="Barlow Condensed"/>
                <a:cs typeface="Barlow Condensed"/>
                <a:sym typeface="Barlow Condensed"/>
              </a:rPr>
              <a:t>(“Adoption and Foster Care Analysis and Reporting System (AFCARS) Data File.” 2017. US Department of Health and Human Services Administration for Children and Families. Accessed through National Data Archive on Child Abuse and Neglect)</a:t>
            </a:r>
            <a:endParaRPr i="1" sz="2000">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i="1" sz="2000">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sz="3600">
              <a:solidFill>
                <a:srgbClr val="141F22"/>
              </a:solidFill>
              <a:latin typeface="Barlow Condensed"/>
              <a:ea typeface="Barlow Condensed"/>
              <a:cs typeface="Barlow Condensed"/>
              <a:sym typeface="Barlow Condensed"/>
            </a:endParaRPr>
          </a:p>
        </p:txBody>
      </p:sp>
      <p:pic>
        <p:nvPicPr>
          <p:cNvPr id="65" name="Google Shape;65;p13"/>
          <p:cNvPicPr preferRelativeResize="0"/>
          <p:nvPr/>
        </p:nvPicPr>
        <p:blipFill rotWithShape="1">
          <a:blip r:embed="rId3">
            <a:alphaModFix/>
          </a:blip>
          <a:srcRect b="29924" l="12625" r="0" t="13001"/>
          <a:stretch/>
        </p:blipFill>
        <p:spPr>
          <a:xfrm>
            <a:off x="2196863" y="24019188"/>
            <a:ext cx="20980324" cy="13017050"/>
          </a:xfrm>
          <a:prstGeom prst="rect">
            <a:avLst/>
          </a:prstGeom>
          <a:noFill/>
          <a:ln>
            <a:noFill/>
          </a:ln>
        </p:spPr>
      </p:pic>
      <p:sp>
        <p:nvSpPr>
          <p:cNvPr id="66" name="Google Shape;66;p13"/>
          <p:cNvSpPr txBox="1"/>
          <p:nvPr/>
        </p:nvSpPr>
        <p:spPr>
          <a:xfrm>
            <a:off x="10801350" y="2726775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[1]</a:t>
            </a:r>
            <a:endParaRPr sz="3600">
              <a:latin typeface="Barlow Condensed"/>
              <a:ea typeface="Barlow Condensed"/>
              <a:cs typeface="Barlow Condensed"/>
              <a:sym typeface="Barlow Condensed"/>
            </a:endParaRPr>
          </a:p>
        </p:txBody>
      </p:sp>
      <p:sp>
        <p:nvSpPr>
          <p:cNvPr id="67" name="Google Shape;67;p13"/>
          <p:cNvSpPr txBox="1"/>
          <p:nvPr/>
        </p:nvSpPr>
        <p:spPr>
          <a:xfrm>
            <a:off x="12593800" y="2791910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[1]</a:t>
            </a:r>
            <a:endParaRPr sz="3600">
              <a:latin typeface="Barlow Condensed"/>
              <a:ea typeface="Barlow Condensed"/>
              <a:cs typeface="Barlow Condensed"/>
              <a:sym typeface="Barlow Condensed"/>
            </a:endParaRPr>
          </a:p>
        </p:txBody>
      </p:sp>
      <p:sp>
        <p:nvSpPr>
          <p:cNvPr id="68" name="Google Shape;68;p13"/>
          <p:cNvSpPr txBox="1"/>
          <p:nvPr/>
        </p:nvSpPr>
        <p:spPr>
          <a:xfrm>
            <a:off x="14349650" y="31895275"/>
            <a:ext cx="808500" cy="8136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[2]</a:t>
            </a:r>
            <a:endParaRPr sz="3600">
              <a:latin typeface="Barlow Condensed"/>
              <a:ea typeface="Barlow Condensed"/>
              <a:cs typeface="Barlow Condensed"/>
              <a:sym typeface="Barlow Condensed"/>
            </a:endParaRPr>
          </a:p>
        </p:txBody>
      </p:sp>
      <p:sp>
        <p:nvSpPr>
          <p:cNvPr id="69" name="Google Shape;69;p13"/>
          <p:cNvSpPr txBox="1"/>
          <p:nvPr/>
        </p:nvSpPr>
        <p:spPr>
          <a:xfrm>
            <a:off x="12206575" y="2954560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[3]</a:t>
            </a:r>
            <a:endParaRPr sz="3600">
              <a:latin typeface="Barlow Condensed"/>
              <a:ea typeface="Barlow Condensed"/>
              <a:cs typeface="Barlow Condensed"/>
              <a:sym typeface="Barlow Condensed"/>
            </a:endParaRPr>
          </a:p>
        </p:txBody>
      </p:sp>
      <p:sp>
        <p:nvSpPr>
          <p:cNvPr id="70" name="Google Shape;70;p13"/>
          <p:cNvSpPr txBox="1"/>
          <p:nvPr/>
        </p:nvSpPr>
        <p:spPr>
          <a:xfrm>
            <a:off x="14787425" y="27632075"/>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[4]</a:t>
            </a:r>
            <a:endParaRPr sz="3600">
              <a:latin typeface="Barlow Condensed"/>
              <a:ea typeface="Barlow Condensed"/>
              <a:cs typeface="Barlow Condensed"/>
              <a:sym typeface="Barlow Condensed"/>
            </a:endParaRPr>
          </a:p>
        </p:txBody>
      </p:sp>
      <p:sp>
        <p:nvSpPr>
          <p:cNvPr id="71" name="Google Shape;71;p13"/>
          <p:cNvSpPr txBox="1"/>
          <p:nvPr/>
        </p:nvSpPr>
        <p:spPr>
          <a:xfrm>
            <a:off x="13511400" y="30262875"/>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[4]</a:t>
            </a:r>
            <a:endParaRPr sz="3600">
              <a:latin typeface="Barlow Condensed"/>
              <a:ea typeface="Barlow Condensed"/>
              <a:cs typeface="Barlow Condensed"/>
              <a:sym typeface="Barlow Condensed"/>
            </a:endParaRPr>
          </a:p>
        </p:txBody>
      </p:sp>
      <p:sp>
        <p:nvSpPr>
          <p:cNvPr id="72" name="Google Shape;72;p13"/>
          <p:cNvSpPr txBox="1"/>
          <p:nvPr/>
        </p:nvSpPr>
        <p:spPr>
          <a:xfrm>
            <a:off x="14806850" y="2929765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[4]</a:t>
            </a:r>
            <a:endParaRPr sz="3600">
              <a:latin typeface="Barlow Condensed"/>
              <a:ea typeface="Barlow Condensed"/>
              <a:cs typeface="Barlow Condensed"/>
              <a:sym typeface="Barlow Condensed"/>
            </a:endParaRPr>
          </a:p>
        </p:txBody>
      </p:sp>
      <p:sp>
        <p:nvSpPr>
          <p:cNvPr id="73" name="Google Shape;73;p13"/>
          <p:cNvSpPr txBox="1"/>
          <p:nvPr/>
        </p:nvSpPr>
        <p:spPr>
          <a:xfrm>
            <a:off x="11621700" y="3058240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[5]</a:t>
            </a:r>
            <a:endParaRPr sz="3600">
              <a:latin typeface="Barlow Condensed"/>
              <a:ea typeface="Barlow Condensed"/>
              <a:cs typeface="Barlow Condensed"/>
              <a:sym typeface="Barlow Condensed"/>
            </a:endParaRPr>
          </a:p>
        </p:txBody>
      </p:sp>
      <p:sp>
        <p:nvSpPr>
          <p:cNvPr id="74" name="Google Shape;74;p13"/>
          <p:cNvSpPr txBox="1"/>
          <p:nvPr/>
        </p:nvSpPr>
        <p:spPr>
          <a:xfrm>
            <a:off x="9784450" y="3003460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[5]</a:t>
            </a:r>
            <a:endParaRPr sz="3600">
              <a:latin typeface="Barlow Condensed"/>
              <a:ea typeface="Barlow Condensed"/>
              <a:cs typeface="Barlow Condensed"/>
              <a:sym typeface="Barlow Condensed"/>
            </a:endParaRPr>
          </a:p>
        </p:txBody>
      </p:sp>
      <p:sp>
        <p:nvSpPr>
          <p:cNvPr id="75" name="Google Shape;75;p13"/>
          <p:cNvSpPr txBox="1"/>
          <p:nvPr/>
        </p:nvSpPr>
        <p:spPr>
          <a:xfrm>
            <a:off x="15436000" y="2870425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[6]</a:t>
            </a:r>
            <a:endParaRPr sz="3600">
              <a:latin typeface="Barlow Condensed"/>
              <a:ea typeface="Barlow Condensed"/>
              <a:cs typeface="Barlow Condensed"/>
              <a:sym typeface="Barlow Condensed"/>
            </a:endParaRPr>
          </a:p>
        </p:txBody>
      </p:sp>
      <p:sp>
        <p:nvSpPr>
          <p:cNvPr id="76" name="Google Shape;76;p13"/>
          <p:cNvSpPr txBox="1"/>
          <p:nvPr/>
        </p:nvSpPr>
        <p:spPr>
          <a:xfrm>
            <a:off x="609925" y="21927975"/>
            <a:ext cx="5120700" cy="4136700"/>
          </a:xfrm>
          <a:prstGeom prst="rect">
            <a:avLst/>
          </a:prstGeom>
          <a:noFill/>
          <a:ln>
            <a:noFill/>
          </a:ln>
        </p:spPr>
        <p:txBody>
          <a:bodyPr anchorCtr="0" anchor="t" bIns="156150" lIns="312475" spcFirstLastPara="1" rIns="312475" wrap="square" tIns="156150">
            <a:noAutofit/>
          </a:bodyPr>
          <a:lstStyle/>
          <a:p>
            <a:pPr indent="-355600" lvl="0" marL="457200" marR="0" rtl="0" algn="l">
              <a:lnSpc>
                <a:spcPct val="100000"/>
              </a:lnSpc>
              <a:spcBef>
                <a:spcPts val="0"/>
              </a:spcBef>
              <a:spcAft>
                <a:spcPts val="0"/>
              </a:spcAft>
              <a:buClr>
                <a:srgbClr val="5D89B4"/>
              </a:buClr>
              <a:buSzPts val="2000"/>
              <a:buFont typeface="Barlow Condensed"/>
              <a:buChar char="●"/>
            </a:pPr>
            <a:r>
              <a:rPr b="1" lang="en" sz="2000">
                <a:solidFill>
                  <a:srgbClr val="5D89B4"/>
                </a:solidFill>
                <a:latin typeface="Barlow Condensed"/>
                <a:ea typeface="Barlow Condensed"/>
                <a:cs typeface="Barlow Condensed"/>
                <a:sym typeface="Barlow Condensed"/>
              </a:rPr>
              <a:t>[1]</a:t>
            </a:r>
            <a:r>
              <a:rPr lang="en" sz="2000">
                <a:solidFill>
                  <a:srgbClr val="5D89B4"/>
                </a:solidFill>
                <a:latin typeface="Barlow Condensed"/>
                <a:ea typeface="Barlow Condensed"/>
                <a:cs typeface="Barlow Condensed"/>
                <a:sym typeface="Barlow Condensed"/>
              </a:rPr>
              <a:t> “Recruitment and Retention of Resource Families.” 2005. 001. Breakthrough Series Collaborative. Seattle, WA: Casey family programs. </a:t>
            </a:r>
            <a:endParaRPr sz="2000">
              <a:solidFill>
                <a:srgbClr val="5D89B4"/>
              </a:solidFill>
              <a:latin typeface="Barlow Condensed"/>
              <a:ea typeface="Barlow Condensed"/>
              <a:cs typeface="Barlow Condensed"/>
              <a:sym typeface="Barlow Condensed"/>
            </a:endParaRPr>
          </a:p>
          <a:p>
            <a:pPr indent="-355600" lvl="0" marL="457200" marR="0" rtl="0" algn="l">
              <a:lnSpc>
                <a:spcPct val="100000"/>
              </a:lnSpc>
              <a:spcBef>
                <a:spcPts val="0"/>
              </a:spcBef>
              <a:spcAft>
                <a:spcPts val="0"/>
              </a:spcAft>
              <a:buClr>
                <a:srgbClr val="5D89B4"/>
              </a:buClr>
              <a:buSzPts val="2000"/>
              <a:buFont typeface="Barlow Condensed"/>
              <a:buChar char="●"/>
            </a:pPr>
            <a:r>
              <a:rPr b="1" lang="en" sz="2000">
                <a:solidFill>
                  <a:srgbClr val="5D89B4"/>
                </a:solidFill>
                <a:latin typeface="Barlow Condensed"/>
                <a:ea typeface="Barlow Condensed"/>
                <a:cs typeface="Barlow Condensed"/>
                <a:sym typeface="Barlow Condensed"/>
              </a:rPr>
              <a:t>[2] </a:t>
            </a:r>
            <a:r>
              <a:rPr lang="en" sz="2000">
                <a:solidFill>
                  <a:srgbClr val="5D89B4"/>
                </a:solidFill>
                <a:latin typeface="Barlow Condensed"/>
                <a:ea typeface="Barlow Condensed"/>
                <a:cs typeface="Barlow Condensed"/>
                <a:sym typeface="Barlow Condensed"/>
              </a:rPr>
              <a:t>Orme, John G., and Donna J. Cherry. 2015. “The Vital Few Foster Parents: Replication and Extension.” Children and Youth Services Review 56 (September): 33–41.</a:t>
            </a:r>
            <a:endParaRPr sz="2000">
              <a:solidFill>
                <a:srgbClr val="5D89B4"/>
              </a:solidFill>
              <a:latin typeface="Barlow Condensed"/>
              <a:ea typeface="Barlow Condensed"/>
              <a:cs typeface="Barlow Condensed"/>
              <a:sym typeface="Barlow Condensed"/>
            </a:endParaRPr>
          </a:p>
          <a:p>
            <a:pPr indent="-355600" lvl="0" marL="457200" marR="0" rtl="0" algn="l">
              <a:lnSpc>
                <a:spcPct val="100000"/>
              </a:lnSpc>
              <a:spcBef>
                <a:spcPts val="0"/>
              </a:spcBef>
              <a:spcAft>
                <a:spcPts val="0"/>
              </a:spcAft>
              <a:buClr>
                <a:srgbClr val="5D89B4"/>
              </a:buClr>
              <a:buSzPts val="2000"/>
              <a:buFont typeface="Barlow Condensed"/>
              <a:buChar char="●"/>
            </a:pPr>
            <a:r>
              <a:rPr b="1" lang="en" sz="2000">
                <a:solidFill>
                  <a:srgbClr val="5D89B4"/>
                </a:solidFill>
                <a:latin typeface="Barlow Condensed"/>
                <a:ea typeface="Barlow Condensed"/>
                <a:cs typeface="Barlow Condensed"/>
                <a:sym typeface="Barlow Condensed"/>
              </a:rPr>
              <a:t>[3] </a:t>
            </a:r>
            <a:r>
              <a:rPr lang="en" sz="2000">
                <a:solidFill>
                  <a:srgbClr val="5D89B4"/>
                </a:solidFill>
                <a:latin typeface="Barlow Condensed"/>
                <a:ea typeface="Barlow Condensed"/>
                <a:cs typeface="Barlow Condensed"/>
                <a:sym typeface="Barlow Condensed"/>
              </a:rPr>
              <a:t>Orme, John, Donna J. Cherry, and Mary Ellen Cox. 2013. “Measuring Willingness to Foster Children with Disabilities and Special Medical Conditions.” Social Work Research 37 (3): 169–78.</a:t>
            </a:r>
            <a:r>
              <a:rPr lang="en" sz="2000">
                <a:solidFill>
                  <a:srgbClr val="5D89B4"/>
                </a:solidFill>
                <a:uFill>
                  <a:noFill/>
                </a:uFill>
                <a:latin typeface="Barlow Condensed"/>
                <a:ea typeface="Barlow Condensed"/>
                <a:cs typeface="Barlow Condensed"/>
                <a:sym typeface="Barlow Condensed"/>
                <a:hlinkClick r:id="rId4"/>
              </a:rPr>
              <a:t> </a:t>
            </a:r>
            <a:endParaRPr sz="2000">
              <a:solidFill>
                <a:srgbClr val="5D89B4"/>
              </a:solidFill>
              <a:latin typeface="Barlow Condensed"/>
              <a:ea typeface="Barlow Condensed"/>
              <a:cs typeface="Barlow Condensed"/>
              <a:sym typeface="Barlow Condensed"/>
            </a:endParaRPr>
          </a:p>
          <a:p>
            <a:pPr indent="-355600" lvl="0" marL="457200" marR="0" rtl="0" algn="l">
              <a:lnSpc>
                <a:spcPct val="100000"/>
              </a:lnSpc>
              <a:spcBef>
                <a:spcPts val="0"/>
              </a:spcBef>
              <a:spcAft>
                <a:spcPts val="0"/>
              </a:spcAft>
              <a:buClr>
                <a:srgbClr val="5D89B4"/>
              </a:buClr>
              <a:buSzPts val="2000"/>
              <a:buFont typeface="Barlow Condensed"/>
              <a:buChar char="●"/>
            </a:pPr>
            <a:r>
              <a:rPr b="1" lang="en" sz="2000">
                <a:solidFill>
                  <a:srgbClr val="5D89B4"/>
                </a:solidFill>
                <a:latin typeface="Barlow Condensed"/>
                <a:ea typeface="Barlow Condensed"/>
                <a:cs typeface="Barlow Condensed"/>
                <a:sym typeface="Barlow Condensed"/>
              </a:rPr>
              <a:t>[4] </a:t>
            </a:r>
            <a:r>
              <a:rPr lang="en" sz="2000">
                <a:solidFill>
                  <a:srgbClr val="5D89B4"/>
                </a:solidFill>
                <a:latin typeface="Barlow Condensed"/>
                <a:ea typeface="Barlow Condensed"/>
                <a:cs typeface="Barlow Condensed"/>
                <a:sym typeface="Barlow Condensed"/>
              </a:rPr>
              <a:t>Rhodes, Kathryn W., John G. Orme, and Cheryl Buehler. 2001. “A Comparison of Family Foster Parents Who Quit, Consider Quitting, and Plan to Continue Fostering.” Social Service Review 75 (1): 84–114.</a:t>
            </a:r>
            <a:endParaRPr sz="2000">
              <a:solidFill>
                <a:srgbClr val="5D89B4"/>
              </a:solidFill>
              <a:latin typeface="Barlow Condensed"/>
              <a:ea typeface="Barlow Condensed"/>
              <a:cs typeface="Barlow Condensed"/>
              <a:sym typeface="Barlow Condensed"/>
            </a:endParaRPr>
          </a:p>
          <a:p>
            <a:pPr indent="-355600" lvl="0" marL="457200" marR="0" rtl="0" algn="l">
              <a:lnSpc>
                <a:spcPct val="100000"/>
              </a:lnSpc>
              <a:spcBef>
                <a:spcPts val="0"/>
              </a:spcBef>
              <a:spcAft>
                <a:spcPts val="0"/>
              </a:spcAft>
              <a:buClr>
                <a:srgbClr val="5D89B4"/>
              </a:buClr>
              <a:buSzPts val="2000"/>
              <a:buFont typeface="Barlow Condensed"/>
              <a:buChar char="●"/>
            </a:pPr>
            <a:r>
              <a:rPr b="1" lang="en" sz="2000">
                <a:solidFill>
                  <a:srgbClr val="5D89B4"/>
                </a:solidFill>
                <a:latin typeface="Barlow Condensed"/>
                <a:ea typeface="Barlow Condensed"/>
                <a:cs typeface="Barlow Condensed"/>
                <a:sym typeface="Barlow Condensed"/>
              </a:rPr>
              <a:t>[5] </a:t>
            </a:r>
            <a:r>
              <a:rPr lang="en" sz="2000">
                <a:solidFill>
                  <a:srgbClr val="5D89B4"/>
                </a:solidFill>
                <a:latin typeface="Barlow Condensed"/>
                <a:ea typeface="Barlow Condensed"/>
                <a:cs typeface="Barlow Condensed"/>
                <a:sym typeface="Barlow Condensed"/>
              </a:rPr>
              <a:t>Semanchin Jones, Annette, and Susan Wells. 2008. “PATH/Wisconsin - Bremer Project: Preventing Placement Disruptions in Foster Care.” Literature Review. University of Minnesota School of Social Work.</a:t>
            </a:r>
            <a:endParaRPr sz="2000">
              <a:solidFill>
                <a:srgbClr val="5D89B4"/>
              </a:solidFill>
              <a:latin typeface="Barlow Condensed"/>
              <a:ea typeface="Barlow Condensed"/>
              <a:cs typeface="Barlow Condensed"/>
              <a:sym typeface="Barlow Condensed"/>
            </a:endParaRPr>
          </a:p>
          <a:p>
            <a:pPr indent="-355600" lvl="0" marL="457200" marR="0" rtl="0" algn="l">
              <a:lnSpc>
                <a:spcPct val="100000"/>
              </a:lnSpc>
              <a:spcBef>
                <a:spcPts val="0"/>
              </a:spcBef>
              <a:spcAft>
                <a:spcPts val="0"/>
              </a:spcAft>
              <a:buClr>
                <a:srgbClr val="5D89B4"/>
              </a:buClr>
              <a:buSzPts val="2000"/>
              <a:buFont typeface="Barlow Condensed"/>
              <a:buChar char="●"/>
            </a:pPr>
            <a:r>
              <a:rPr b="1" lang="en" sz="2000">
                <a:solidFill>
                  <a:srgbClr val="5D89B4"/>
                </a:solidFill>
                <a:latin typeface="Barlow Condensed"/>
                <a:ea typeface="Barlow Condensed"/>
                <a:cs typeface="Barlow Condensed"/>
                <a:sym typeface="Barlow Condensed"/>
              </a:rPr>
              <a:t>[6] </a:t>
            </a:r>
            <a:r>
              <a:rPr lang="en" sz="2000">
                <a:solidFill>
                  <a:srgbClr val="5D89B4"/>
                </a:solidFill>
                <a:latin typeface="Barlow Condensed"/>
                <a:ea typeface="Barlow Condensed"/>
                <a:cs typeface="Barlow Condensed"/>
                <a:sym typeface="Barlow Condensed"/>
              </a:rPr>
              <a:t>“Guide to Supporting Foster Parents.” 2013. Module 3. Wisconsin  Foster Parent Retention &amp; Support Subcommittee.</a:t>
            </a:r>
            <a:endParaRPr sz="2000">
              <a:solidFill>
                <a:srgbClr val="5D89B4"/>
              </a:solidFill>
              <a:latin typeface="Barlow Condensed"/>
              <a:ea typeface="Barlow Condensed"/>
              <a:cs typeface="Barlow Condensed"/>
              <a:sym typeface="Barlow Condensed"/>
            </a:endParaRPr>
          </a:p>
        </p:txBody>
      </p:sp>
      <p:sp>
        <p:nvSpPr>
          <p:cNvPr id="77" name="Google Shape;77;p13"/>
          <p:cNvSpPr/>
          <p:nvPr/>
        </p:nvSpPr>
        <p:spPr>
          <a:xfrm>
            <a:off x="12282775" y="14198075"/>
            <a:ext cx="11389200" cy="3760500"/>
          </a:xfrm>
          <a:prstGeom prst="roundRect">
            <a:avLst>
              <a:gd fmla="val 16667" name="adj"/>
            </a:avLst>
          </a:prstGeom>
          <a:solidFill>
            <a:srgbClr val="CFE2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000">
                <a:latin typeface="Barlow Condensed"/>
                <a:ea typeface="Barlow Condensed"/>
                <a:cs typeface="Barlow Condensed"/>
                <a:sym typeface="Barlow Condensed"/>
              </a:rPr>
              <a:t>Literature Review</a:t>
            </a:r>
            <a:endParaRPr b="1"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Gibbs, Deborah. 2005. “Understanding Foster Parenting: Using Administrative Data to Explore Retention.” Washington, D.C.: U.S. Department of Health and Human Services, Office of the Assistant Secretary for Planning and Evaluation.</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“Guide to Supporting Foster Parents.” 2013. Module 3. Wisconsin  Foster Parent Retention &amp; Support Subcommittee.</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Orme, John G., and Donna J. Cherry. 2015. “The Vital Few Foster Parents: Replication and Extension.” Children and Youth Services Review 56 (September): 33–41. </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Orme, John G., Donna J. Cherry, and Taylor E. Krcek. 2013. “Who Is Willing to Foster Children With Disabilities?” Journal of Public Child Welfare 7 (5): 566–85. </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“Recruitment and Retention of Resource Families.” 2005. 001. Breakthrough Series Collaborative. Seattle, WA: Casey family programs. Rhodes, Kathryn W., John G. Orme, and Cheryl Buehler. 2001. “A Comparison of Family Foster Parents Who Quit, Consider Quitting, and Plan to Continue Fostering.” Social Service Review 75 (1): 84–114.</a:t>
            </a:r>
            <a:endParaRPr sz="2000">
              <a:latin typeface="Barlow Condensed"/>
              <a:ea typeface="Barlow Condensed"/>
              <a:cs typeface="Barlow Condensed"/>
              <a:sym typeface="Barlow Condensed"/>
            </a:endParaRPr>
          </a:p>
          <a:p>
            <a:pPr indent="0" lvl="0" marL="0" rtl="0" algn="l">
              <a:spcBef>
                <a:spcPts val="0"/>
              </a:spcBef>
              <a:spcAft>
                <a:spcPts val="0"/>
              </a:spcAft>
              <a:buNone/>
            </a:pPr>
            <a:r>
              <a:t/>
            </a:r>
            <a:endParaRPr sz="2000">
              <a:latin typeface="Barlow Condensed"/>
              <a:ea typeface="Barlow Condensed"/>
              <a:cs typeface="Barlow Condensed"/>
              <a:sym typeface="Barlow Condensed"/>
            </a:endParaRPr>
          </a:p>
          <a:p>
            <a:pPr indent="0" lvl="0" marL="0" rtl="0" algn="l">
              <a:spcBef>
                <a:spcPts val="0"/>
              </a:spcBef>
              <a:spcAft>
                <a:spcPts val="0"/>
              </a:spcAft>
              <a:buNone/>
            </a:pPr>
            <a:r>
              <a:t/>
            </a:r>
            <a:endParaRPr sz="2000">
              <a:latin typeface="Barlow Condensed"/>
              <a:ea typeface="Barlow Condensed"/>
              <a:cs typeface="Barlow Condensed"/>
              <a:sym typeface="Barlow Condensed"/>
            </a:endParaRPr>
          </a:p>
        </p:txBody>
      </p:sp>
      <p:cxnSp>
        <p:nvCxnSpPr>
          <p:cNvPr id="78" name="Google Shape;78;p13"/>
          <p:cNvCxnSpPr/>
          <p:nvPr/>
        </p:nvCxnSpPr>
        <p:spPr>
          <a:xfrm>
            <a:off x="17629527" y="18029311"/>
            <a:ext cx="0" cy="203100"/>
          </a:xfrm>
          <a:prstGeom prst="straightConnector1">
            <a:avLst/>
          </a:prstGeom>
          <a:noFill/>
          <a:ln cap="flat" cmpd="sng" w="9525">
            <a:solidFill>
              <a:srgbClr val="000000"/>
            </a:solidFill>
            <a:prstDash val="solid"/>
            <a:round/>
            <a:headEnd len="med" w="med" type="none"/>
            <a:tailEnd len="med" w="med" type="triangle"/>
          </a:ln>
        </p:spPr>
      </p:cxnSp>
      <p:sp>
        <p:nvSpPr>
          <p:cNvPr id="79" name="Google Shape;79;p13"/>
          <p:cNvSpPr/>
          <p:nvPr/>
        </p:nvSpPr>
        <p:spPr>
          <a:xfrm>
            <a:off x="12298475" y="21505400"/>
            <a:ext cx="11389200" cy="2124600"/>
          </a:xfrm>
          <a:prstGeom prst="roundRect">
            <a:avLst>
              <a:gd fmla="val 16667" name="adj"/>
            </a:avLst>
          </a:prstGeom>
          <a:solidFill>
            <a:srgbClr val="CFE2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000">
                <a:latin typeface="Barlow Condensed"/>
                <a:ea typeface="Barlow Condensed"/>
                <a:cs typeface="Barlow Condensed"/>
                <a:sym typeface="Barlow Condensed"/>
              </a:rPr>
              <a:t>Key Findings</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Major factors linked to foster parent attrition include dissatisfaction with the child welfare agency, poor communication with case workers, inability to handle foster child behavior, and lack of access to specific services.</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Major changes in foster parents’ lives, such as illness and divorce, are a major reason for foster parents quitting.</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Foster parents report insufficient training in areas including fostering children from different races/cultures, fostering children with special needs, and fostering teenagers.</a:t>
            </a:r>
            <a:endParaRPr sz="2000">
              <a:latin typeface="Barlow Condensed"/>
              <a:ea typeface="Barlow Condensed"/>
              <a:cs typeface="Barlow Condensed"/>
              <a:sym typeface="Barlow Condensed"/>
            </a:endParaRPr>
          </a:p>
          <a:p>
            <a:pPr indent="0" lvl="0" marL="0" rtl="0" algn="l">
              <a:spcBef>
                <a:spcPts val="0"/>
              </a:spcBef>
              <a:spcAft>
                <a:spcPts val="0"/>
              </a:spcAft>
              <a:buNone/>
            </a:pPr>
            <a:r>
              <a:t/>
            </a:r>
            <a:endParaRPr sz="2000">
              <a:latin typeface="Barlow Condensed"/>
              <a:ea typeface="Barlow Condensed"/>
              <a:cs typeface="Barlow Condensed"/>
              <a:sym typeface="Barlow Condensed"/>
            </a:endParaRPr>
          </a:p>
        </p:txBody>
      </p:sp>
      <p:cxnSp>
        <p:nvCxnSpPr>
          <p:cNvPr id="80" name="Google Shape;80;p13"/>
          <p:cNvCxnSpPr/>
          <p:nvPr/>
        </p:nvCxnSpPr>
        <p:spPr>
          <a:xfrm>
            <a:off x="17744977" y="21209273"/>
            <a:ext cx="0" cy="203100"/>
          </a:xfrm>
          <a:prstGeom prst="straightConnector1">
            <a:avLst/>
          </a:prstGeom>
          <a:noFill/>
          <a:ln cap="flat" cmpd="sng" w="9525">
            <a:solidFill>
              <a:srgbClr val="000000"/>
            </a:solidFill>
            <a:prstDash val="solid"/>
            <a:round/>
            <a:headEnd len="med" w="med" type="none"/>
            <a:tailEnd len="med" w="med" type="triangle"/>
          </a:ln>
        </p:spPr>
      </p:cxnSp>
      <p:sp>
        <p:nvSpPr>
          <p:cNvPr id="81" name="Google Shape;81;p13"/>
          <p:cNvSpPr/>
          <p:nvPr/>
        </p:nvSpPr>
        <p:spPr>
          <a:xfrm>
            <a:off x="12282775" y="18303125"/>
            <a:ext cx="11389200" cy="2813100"/>
          </a:xfrm>
          <a:prstGeom prst="roundRect">
            <a:avLst>
              <a:gd fmla="val 16667" name="adj"/>
            </a:avLst>
          </a:prstGeom>
          <a:solidFill>
            <a:srgbClr val="CFE2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000">
                <a:latin typeface="Barlow Condensed"/>
                <a:ea typeface="Barlow Condensed"/>
                <a:cs typeface="Barlow Condensed"/>
                <a:sym typeface="Barlow Condensed"/>
              </a:rPr>
              <a:t>Practice Implications</a:t>
            </a:r>
            <a:endParaRPr b="1"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Building a strong and open relationship between case workers can help to ensure that foster parents receive the ongoing support they need.</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Training should include a focus on predictable life changes and how to manage them while providing foster care. Parents who feel supported are more likely to continue fostering.</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The “vital few” foster parents who foster the most children for the greatest periods of time can are important resources. Their experiences can be useful to both less-experience foster parents and decision makers in child welfare agencies.</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Foster parent should be involved in, or at least made aware of, decisions regarding their foster children’s futures.</a:t>
            </a:r>
            <a:endParaRPr sz="2000">
              <a:latin typeface="Barlow Condensed"/>
              <a:ea typeface="Barlow Condensed"/>
              <a:cs typeface="Barlow Condensed"/>
              <a:sym typeface="Barlow Condensed"/>
            </a:endParaRPr>
          </a:p>
          <a:p>
            <a:pPr indent="0" lvl="0" marL="0" rtl="0" algn="l">
              <a:spcBef>
                <a:spcPts val="0"/>
              </a:spcBef>
              <a:spcAft>
                <a:spcPts val="0"/>
              </a:spcAft>
              <a:buNone/>
            </a:pPr>
            <a:r>
              <a:t/>
            </a:r>
            <a:endParaRPr sz="2000">
              <a:latin typeface="Barlow Condensed"/>
              <a:ea typeface="Barlow Condensed"/>
              <a:cs typeface="Barlow Condensed"/>
              <a:sym typeface="Barlow Condensed"/>
            </a:endParaRPr>
          </a:p>
        </p:txBody>
      </p:sp>
      <p:sp>
        <p:nvSpPr>
          <p:cNvPr id="82" name="Google Shape;82;p13"/>
          <p:cNvSpPr/>
          <p:nvPr/>
        </p:nvSpPr>
        <p:spPr>
          <a:xfrm>
            <a:off x="24738850" y="14729463"/>
            <a:ext cx="9985500" cy="4136700"/>
          </a:xfrm>
          <a:prstGeom prst="roundRect">
            <a:avLst>
              <a:gd fmla="val 16667" name="adj"/>
            </a:avLst>
          </a:prstGeom>
          <a:solidFill>
            <a:srgbClr val="CFE2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2000">
                <a:latin typeface="Barlow Condensed"/>
                <a:ea typeface="Barlow Condensed"/>
                <a:cs typeface="Barlow Condensed"/>
                <a:sym typeface="Barlow Condensed"/>
              </a:rPr>
              <a:t>Literature Review</a:t>
            </a:r>
            <a:endParaRPr b="1" sz="2000">
              <a:latin typeface="Barlow Condensed"/>
              <a:ea typeface="Barlow Condensed"/>
              <a:cs typeface="Barlow Condensed"/>
              <a:sym typeface="Barlow Condensed"/>
            </a:endParaRPr>
          </a:p>
          <a:p>
            <a:pPr indent="-355600" lvl="0" marL="457200" rtl="0" algn="l">
              <a:lnSpc>
                <a:spcPct val="100000"/>
              </a:lnSpc>
              <a:spcBef>
                <a:spcPts val="0"/>
              </a:spcBef>
              <a:spcAft>
                <a:spcPts val="0"/>
              </a:spcAft>
              <a:buSzPts val="2000"/>
              <a:buFont typeface="Barlow Condensed"/>
              <a:buChar char="●"/>
            </a:pPr>
            <a:r>
              <a:rPr lang="en" sz="2000">
                <a:solidFill>
                  <a:schemeClr val="dk1"/>
                </a:solidFill>
                <a:latin typeface="Barlow Condensed"/>
                <a:ea typeface="Barlow Condensed"/>
                <a:cs typeface="Barlow Condensed"/>
                <a:sym typeface="Barlow Condensed"/>
              </a:rPr>
              <a:t>Lightfoot, Elizabeth. 2014. “Children and Youth with Disabilities in the Child Welfare System: An Overview.” </a:t>
            </a:r>
            <a:r>
              <a:rPr i="1" lang="en" sz="2000">
                <a:solidFill>
                  <a:schemeClr val="dk1"/>
                </a:solidFill>
                <a:latin typeface="Barlow Condensed"/>
                <a:ea typeface="Barlow Condensed"/>
                <a:cs typeface="Barlow Condensed"/>
                <a:sym typeface="Barlow Condensed"/>
              </a:rPr>
              <a:t>Child Welfare</a:t>
            </a:r>
            <a:r>
              <a:rPr lang="en" sz="2000">
                <a:solidFill>
                  <a:schemeClr val="dk1"/>
                </a:solidFill>
                <a:latin typeface="Barlow Condensed"/>
                <a:ea typeface="Barlow Condensed"/>
                <a:cs typeface="Barlow Condensed"/>
                <a:sym typeface="Barlow Condensed"/>
              </a:rPr>
              <a:t> 93 (2): 23–45.</a:t>
            </a:r>
            <a:endParaRPr sz="2000">
              <a:solidFill>
                <a:schemeClr val="dk1"/>
              </a:solidFill>
              <a:latin typeface="Barlow Condensed"/>
              <a:ea typeface="Barlow Condensed"/>
              <a:cs typeface="Barlow Condensed"/>
              <a:sym typeface="Barlow Condensed"/>
            </a:endParaRPr>
          </a:p>
          <a:p>
            <a:pPr indent="-355600" lvl="0" marL="457200" rtl="0" algn="l">
              <a:lnSpc>
                <a:spcPct val="100000"/>
              </a:lnSpc>
              <a:spcBef>
                <a:spcPts val="0"/>
              </a:spcBef>
              <a:spcAft>
                <a:spcPts val="0"/>
              </a:spcAft>
              <a:buSzPts val="2000"/>
              <a:buFont typeface="Barlow Condensed"/>
              <a:buChar char="●"/>
            </a:pPr>
            <a:r>
              <a:rPr lang="en" sz="2000">
                <a:solidFill>
                  <a:schemeClr val="dk1"/>
                </a:solidFill>
                <a:latin typeface="Barlow Condensed"/>
                <a:ea typeface="Barlow Condensed"/>
                <a:cs typeface="Barlow Condensed"/>
                <a:sym typeface="Barlow Condensed"/>
              </a:rPr>
              <a:t>Orme, John, Donna J. Cherry, and Mary Ellen Cox. 2013. “Measuring Willingness to Foster Children with Disabilities and Special Medical Conditions.” </a:t>
            </a:r>
            <a:r>
              <a:rPr i="1" lang="en" sz="2000">
                <a:solidFill>
                  <a:schemeClr val="dk1"/>
                </a:solidFill>
                <a:latin typeface="Barlow Condensed"/>
                <a:ea typeface="Barlow Condensed"/>
                <a:cs typeface="Barlow Condensed"/>
                <a:sym typeface="Barlow Condensed"/>
              </a:rPr>
              <a:t>Social Work Research</a:t>
            </a:r>
            <a:r>
              <a:rPr lang="en" sz="2000">
                <a:solidFill>
                  <a:schemeClr val="dk1"/>
                </a:solidFill>
                <a:latin typeface="Barlow Condensed"/>
                <a:ea typeface="Barlow Condensed"/>
                <a:cs typeface="Barlow Condensed"/>
                <a:sym typeface="Barlow Condensed"/>
              </a:rPr>
              <a:t> 37 (3): 169–78.</a:t>
            </a:r>
            <a:r>
              <a:rPr lang="en" sz="2000">
                <a:solidFill>
                  <a:schemeClr val="dk1"/>
                </a:solidFill>
                <a:uFill>
                  <a:noFill/>
                </a:uFill>
                <a:latin typeface="Barlow Condensed"/>
                <a:ea typeface="Barlow Condensed"/>
                <a:cs typeface="Barlow Condensed"/>
                <a:sym typeface="Barlow Condensed"/>
                <a:hlinkClick r:id="rId5"/>
              </a:rPr>
              <a:t> </a:t>
            </a:r>
            <a:endParaRPr sz="2000">
              <a:solidFill>
                <a:schemeClr val="dk1"/>
              </a:solidFill>
              <a:latin typeface="Barlow Condensed"/>
              <a:ea typeface="Barlow Condensed"/>
              <a:cs typeface="Barlow Condensed"/>
              <a:sym typeface="Barlow Condensed"/>
            </a:endParaRPr>
          </a:p>
          <a:p>
            <a:pPr indent="-355600" lvl="0" marL="457200" rtl="0" algn="l">
              <a:lnSpc>
                <a:spcPct val="100000"/>
              </a:lnSpc>
              <a:spcBef>
                <a:spcPts val="0"/>
              </a:spcBef>
              <a:spcAft>
                <a:spcPts val="0"/>
              </a:spcAft>
              <a:buSzPts val="2000"/>
              <a:buFont typeface="Barlow Condensed"/>
              <a:buChar char="●"/>
            </a:pPr>
            <a:r>
              <a:rPr lang="en" sz="2000">
                <a:solidFill>
                  <a:schemeClr val="dk1"/>
                </a:solidFill>
                <a:latin typeface="Barlow Condensed"/>
                <a:ea typeface="Barlow Condensed"/>
                <a:cs typeface="Barlow Condensed"/>
                <a:sym typeface="Barlow Condensed"/>
              </a:rPr>
              <a:t>Orme, John G., and Donna J. Cherry. 2015. “The Vital Few Foster Parents: Replication and Extension.” </a:t>
            </a:r>
            <a:r>
              <a:rPr i="1" lang="en" sz="2000">
                <a:solidFill>
                  <a:schemeClr val="dk1"/>
                </a:solidFill>
                <a:latin typeface="Barlow Condensed"/>
                <a:ea typeface="Barlow Condensed"/>
                <a:cs typeface="Barlow Condensed"/>
                <a:sym typeface="Barlow Condensed"/>
              </a:rPr>
              <a:t>Children and Youth Services Review</a:t>
            </a:r>
            <a:r>
              <a:rPr lang="en" sz="2000">
                <a:solidFill>
                  <a:schemeClr val="dk1"/>
                </a:solidFill>
                <a:latin typeface="Barlow Condensed"/>
                <a:ea typeface="Barlow Condensed"/>
                <a:cs typeface="Barlow Condensed"/>
                <a:sym typeface="Barlow Condensed"/>
              </a:rPr>
              <a:t> 56 (September): 33–41.</a:t>
            </a:r>
            <a:r>
              <a:rPr lang="en" sz="2000">
                <a:solidFill>
                  <a:schemeClr val="dk1"/>
                </a:solidFill>
                <a:uFill>
                  <a:noFill/>
                </a:uFill>
                <a:latin typeface="Barlow Condensed"/>
                <a:ea typeface="Barlow Condensed"/>
                <a:cs typeface="Barlow Condensed"/>
                <a:sym typeface="Barlow Condensed"/>
                <a:hlinkClick r:id="rId6"/>
              </a:rPr>
              <a:t> </a:t>
            </a:r>
            <a:endParaRPr sz="2000">
              <a:solidFill>
                <a:schemeClr val="dk1"/>
              </a:solidFill>
              <a:latin typeface="Barlow Condensed"/>
              <a:ea typeface="Barlow Condensed"/>
              <a:cs typeface="Barlow Condensed"/>
              <a:sym typeface="Barlow Condensed"/>
            </a:endParaRPr>
          </a:p>
          <a:p>
            <a:pPr indent="-355600" lvl="0" marL="457200" rtl="0" algn="l">
              <a:lnSpc>
                <a:spcPct val="100000"/>
              </a:lnSpc>
              <a:spcBef>
                <a:spcPts val="0"/>
              </a:spcBef>
              <a:spcAft>
                <a:spcPts val="0"/>
              </a:spcAft>
              <a:buSzPts val="2000"/>
              <a:buFont typeface="Barlow Condensed"/>
              <a:buChar char="●"/>
            </a:pPr>
            <a:r>
              <a:rPr lang="en" sz="2000">
                <a:solidFill>
                  <a:schemeClr val="dk1"/>
                </a:solidFill>
                <a:latin typeface="Barlow Condensed"/>
                <a:ea typeface="Barlow Condensed"/>
                <a:cs typeface="Barlow Condensed"/>
                <a:sym typeface="Barlow Condensed"/>
              </a:rPr>
              <a:t>Orme, John G., Donna J. Cherry, and Jason D. Brown. 2017. “Against All Odds: Vital Few Foster Families.” </a:t>
            </a:r>
            <a:r>
              <a:rPr i="1" lang="en" sz="2000">
                <a:solidFill>
                  <a:schemeClr val="dk1"/>
                </a:solidFill>
                <a:latin typeface="Barlow Condensed"/>
                <a:ea typeface="Barlow Condensed"/>
                <a:cs typeface="Barlow Condensed"/>
                <a:sym typeface="Barlow Condensed"/>
              </a:rPr>
              <a:t>Children and Youth Services Review</a:t>
            </a:r>
            <a:r>
              <a:rPr lang="en" sz="2000">
                <a:solidFill>
                  <a:schemeClr val="dk1"/>
                </a:solidFill>
                <a:latin typeface="Barlow Condensed"/>
                <a:ea typeface="Barlow Condensed"/>
                <a:cs typeface="Barlow Condensed"/>
                <a:sym typeface="Barlow Condensed"/>
              </a:rPr>
              <a:t> 79 (August): 584–93.</a:t>
            </a:r>
            <a:endParaRPr sz="2000">
              <a:solidFill>
                <a:schemeClr val="dk1"/>
              </a:solidFill>
              <a:latin typeface="Barlow Condensed"/>
              <a:ea typeface="Barlow Condensed"/>
              <a:cs typeface="Barlow Condensed"/>
              <a:sym typeface="Barlow Condensed"/>
            </a:endParaRPr>
          </a:p>
          <a:p>
            <a:pPr indent="-355600" lvl="0" marL="457200" rtl="0" algn="l">
              <a:lnSpc>
                <a:spcPct val="100000"/>
              </a:lnSpc>
              <a:spcBef>
                <a:spcPts val="0"/>
              </a:spcBef>
              <a:spcAft>
                <a:spcPts val="0"/>
              </a:spcAft>
              <a:buSzPts val="2000"/>
              <a:buFont typeface="Barlow Condensed"/>
              <a:buChar char="●"/>
            </a:pPr>
            <a:r>
              <a:rPr lang="en" sz="2000">
                <a:solidFill>
                  <a:schemeClr val="dk1"/>
                </a:solidFill>
                <a:latin typeface="Barlow Condensed"/>
                <a:ea typeface="Barlow Condensed"/>
                <a:cs typeface="Barlow Condensed"/>
                <a:sym typeface="Barlow Condensed"/>
              </a:rPr>
              <a:t>Orme, John G., Donna J. Cherry, and Taylor E. Krcek. 2013. “Who Is Willing to Foster Children With Disabilities?” </a:t>
            </a:r>
            <a:r>
              <a:rPr i="1" lang="en" sz="2000">
                <a:solidFill>
                  <a:schemeClr val="dk1"/>
                </a:solidFill>
                <a:latin typeface="Barlow Condensed"/>
                <a:ea typeface="Barlow Condensed"/>
                <a:cs typeface="Barlow Condensed"/>
                <a:sym typeface="Barlow Condensed"/>
              </a:rPr>
              <a:t>Journal of Public Child Welfare</a:t>
            </a:r>
            <a:r>
              <a:rPr lang="en" sz="2000">
                <a:solidFill>
                  <a:schemeClr val="dk1"/>
                </a:solidFill>
                <a:latin typeface="Barlow Condensed"/>
                <a:ea typeface="Barlow Condensed"/>
                <a:cs typeface="Barlow Condensed"/>
                <a:sym typeface="Barlow Condensed"/>
              </a:rPr>
              <a:t> 7 (5): 566–85.</a:t>
            </a:r>
            <a:r>
              <a:rPr lang="en" sz="2000">
                <a:solidFill>
                  <a:schemeClr val="dk1"/>
                </a:solidFill>
                <a:uFill>
                  <a:noFill/>
                </a:uFill>
                <a:latin typeface="Barlow Condensed"/>
                <a:ea typeface="Barlow Condensed"/>
                <a:cs typeface="Barlow Condensed"/>
                <a:sym typeface="Barlow Condensed"/>
                <a:hlinkClick r:id="rId7"/>
              </a:rPr>
              <a:t> </a:t>
            </a:r>
            <a:endParaRPr sz="2000">
              <a:solidFill>
                <a:schemeClr val="dk1"/>
              </a:solidFill>
              <a:latin typeface="Barlow Condensed"/>
              <a:ea typeface="Barlow Condensed"/>
              <a:cs typeface="Barlow Condensed"/>
              <a:sym typeface="Barlow Condensed"/>
            </a:endParaRPr>
          </a:p>
          <a:p>
            <a:pPr indent="0" lvl="0" marL="457200" rtl="0" algn="l">
              <a:lnSpc>
                <a:spcPct val="100000"/>
              </a:lnSpc>
              <a:spcBef>
                <a:spcPts val="0"/>
              </a:spcBef>
              <a:spcAft>
                <a:spcPts val="0"/>
              </a:spcAft>
              <a:buNone/>
            </a:pPr>
            <a:r>
              <a:t/>
            </a:r>
            <a:endParaRPr sz="2000">
              <a:latin typeface="Barlow Condensed"/>
              <a:ea typeface="Barlow Condensed"/>
              <a:cs typeface="Barlow Condensed"/>
              <a:sym typeface="Barlow Condensed"/>
            </a:endParaRPr>
          </a:p>
          <a:p>
            <a:pPr indent="0" lvl="0" marL="0" rtl="0" algn="l">
              <a:lnSpc>
                <a:spcPct val="100000"/>
              </a:lnSpc>
              <a:spcBef>
                <a:spcPts val="0"/>
              </a:spcBef>
              <a:spcAft>
                <a:spcPts val="0"/>
              </a:spcAft>
              <a:buNone/>
            </a:pPr>
            <a:r>
              <a:t/>
            </a:r>
            <a:endParaRPr sz="2000">
              <a:latin typeface="Barlow Condensed"/>
              <a:ea typeface="Barlow Condensed"/>
              <a:cs typeface="Barlow Condensed"/>
              <a:sym typeface="Barlow Condensed"/>
            </a:endParaRPr>
          </a:p>
          <a:p>
            <a:pPr indent="0" lvl="0" marL="0" rtl="0" algn="l">
              <a:lnSpc>
                <a:spcPct val="100000"/>
              </a:lnSpc>
              <a:spcBef>
                <a:spcPts val="0"/>
              </a:spcBef>
              <a:spcAft>
                <a:spcPts val="0"/>
              </a:spcAft>
              <a:buNone/>
            </a:pPr>
            <a:r>
              <a:t/>
            </a:r>
            <a:endParaRPr sz="2000">
              <a:latin typeface="Barlow Condensed"/>
              <a:ea typeface="Barlow Condensed"/>
              <a:cs typeface="Barlow Condensed"/>
              <a:sym typeface="Barlow Condensed"/>
            </a:endParaRPr>
          </a:p>
          <a:p>
            <a:pPr indent="0" lvl="0" marL="0" rtl="0" algn="l">
              <a:lnSpc>
                <a:spcPct val="100000"/>
              </a:lnSpc>
              <a:spcBef>
                <a:spcPts val="0"/>
              </a:spcBef>
              <a:spcAft>
                <a:spcPts val="0"/>
              </a:spcAft>
              <a:buNone/>
            </a:pPr>
            <a:r>
              <a:t/>
            </a:r>
            <a:endParaRPr sz="2000">
              <a:latin typeface="Barlow Condensed"/>
              <a:ea typeface="Barlow Condensed"/>
              <a:cs typeface="Barlow Condensed"/>
              <a:sym typeface="Barlow Condensed"/>
            </a:endParaRPr>
          </a:p>
        </p:txBody>
      </p:sp>
      <p:cxnSp>
        <p:nvCxnSpPr>
          <p:cNvPr id="83" name="Google Shape;83;p13"/>
          <p:cNvCxnSpPr/>
          <p:nvPr/>
        </p:nvCxnSpPr>
        <p:spPr>
          <a:xfrm>
            <a:off x="29731588" y="18878273"/>
            <a:ext cx="0" cy="203100"/>
          </a:xfrm>
          <a:prstGeom prst="straightConnector1">
            <a:avLst/>
          </a:prstGeom>
          <a:noFill/>
          <a:ln cap="flat" cmpd="sng" w="9525">
            <a:solidFill>
              <a:srgbClr val="000000"/>
            </a:solidFill>
            <a:prstDash val="solid"/>
            <a:round/>
            <a:headEnd len="med" w="med" type="none"/>
            <a:tailEnd len="med" w="med" type="triangle"/>
          </a:ln>
        </p:spPr>
      </p:cxnSp>
      <p:sp>
        <p:nvSpPr>
          <p:cNvPr id="84" name="Google Shape;84;p13"/>
          <p:cNvSpPr/>
          <p:nvPr/>
        </p:nvSpPr>
        <p:spPr>
          <a:xfrm>
            <a:off x="24700200" y="19069275"/>
            <a:ext cx="9985500" cy="3760500"/>
          </a:xfrm>
          <a:prstGeom prst="roundRect">
            <a:avLst>
              <a:gd fmla="val 16667" name="adj"/>
            </a:avLst>
          </a:prstGeom>
          <a:solidFill>
            <a:srgbClr val="CFE2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000">
                <a:latin typeface="Barlow Condensed"/>
                <a:ea typeface="Barlow Condensed"/>
                <a:cs typeface="Barlow Condensed"/>
                <a:sym typeface="Barlow Condensed"/>
              </a:rPr>
              <a:t>Key Findings</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The willingness of parents to foster a child with special needs changes depending on the child’s specific needs. </a:t>
            </a:r>
            <a:endParaRPr sz="2000">
              <a:latin typeface="Barlow Condensed"/>
              <a:ea typeface="Barlow Condensed"/>
              <a:cs typeface="Barlow Condensed"/>
              <a:sym typeface="Barlow Condensed"/>
            </a:endParaRPr>
          </a:p>
          <a:p>
            <a:pPr indent="-355600" lvl="1" marL="9144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Willingness to foster special needs children also depends on the resources, help, and support provided to the foster family.</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F</a:t>
            </a:r>
            <a:r>
              <a:rPr lang="en" sz="2000">
                <a:latin typeface="Barlow Condensed"/>
                <a:ea typeface="Barlow Condensed"/>
                <a:cs typeface="Barlow Condensed"/>
                <a:sym typeface="Barlow Condensed"/>
              </a:rPr>
              <a:t>oster parents noted that they would be more willing to foster special needs childten if they were able to get pre/post licensure and training that addresses special needs.</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solidFill>
                  <a:schemeClr val="dk1"/>
                </a:solidFill>
                <a:latin typeface="Barlow Condensed"/>
                <a:ea typeface="Barlow Condensed"/>
                <a:cs typeface="Barlow Condensed"/>
                <a:sym typeface="Barlow Condensed"/>
              </a:rPr>
              <a:t>Approximately 20% of foster parents provide 60-80% of foster care. These parents tend to foster longer, foster more children, and foster children with a greater variety of needs.</a:t>
            </a:r>
            <a:endParaRPr sz="2000">
              <a:solidFill>
                <a:schemeClr val="dk1"/>
              </a:solidFill>
              <a:latin typeface="Barlow Condensed"/>
              <a:ea typeface="Barlow Condensed"/>
              <a:cs typeface="Barlow Condensed"/>
              <a:sym typeface="Barlow Condensed"/>
            </a:endParaRPr>
          </a:p>
          <a:p>
            <a:pPr indent="-355600" lvl="1" marL="914400" rtl="0" algn="l">
              <a:spcBef>
                <a:spcPts val="0"/>
              </a:spcBef>
              <a:spcAft>
                <a:spcPts val="0"/>
              </a:spcAft>
              <a:buClr>
                <a:schemeClr val="dk1"/>
              </a:buClr>
              <a:buSzPts val="2000"/>
              <a:buFont typeface="Barlow Condensed"/>
              <a:buChar char="○"/>
            </a:pPr>
            <a:r>
              <a:rPr lang="en" sz="2000">
                <a:solidFill>
                  <a:schemeClr val="dk1"/>
                </a:solidFill>
                <a:latin typeface="Barlow Condensed"/>
                <a:ea typeface="Barlow Condensed"/>
                <a:cs typeface="Barlow Condensed"/>
                <a:sym typeface="Barlow Condensed"/>
              </a:rPr>
              <a:t>Foster mothers can be broken down into unconditional and selective mothers; the former willing to foster any child, and the latter having specific requirements</a:t>
            </a:r>
            <a:endParaRPr sz="2000">
              <a:solidFill>
                <a:schemeClr val="dk1"/>
              </a:solidFill>
              <a:latin typeface="Barlow Condensed"/>
              <a:ea typeface="Barlow Condensed"/>
              <a:cs typeface="Barlow Condensed"/>
              <a:sym typeface="Barlow Condensed"/>
            </a:endParaRPr>
          </a:p>
        </p:txBody>
      </p:sp>
      <p:cxnSp>
        <p:nvCxnSpPr>
          <p:cNvPr id="85" name="Google Shape;85;p13"/>
          <p:cNvCxnSpPr/>
          <p:nvPr/>
        </p:nvCxnSpPr>
        <p:spPr>
          <a:xfrm>
            <a:off x="29731588" y="22829772"/>
            <a:ext cx="0" cy="203100"/>
          </a:xfrm>
          <a:prstGeom prst="straightConnector1">
            <a:avLst/>
          </a:prstGeom>
          <a:noFill/>
          <a:ln cap="flat" cmpd="sng" w="9525">
            <a:solidFill>
              <a:srgbClr val="000000"/>
            </a:solidFill>
            <a:prstDash val="solid"/>
            <a:round/>
            <a:headEnd len="med" w="med" type="none"/>
            <a:tailEnd len="med" w="med" type="triangle"/>
          </a:ln>
        </p:spPr>
      </p:cxnSp>
      <p:sp>
        <p:nvSpPr>
          <p:cNvPr id="86" name="Google Shape;86;p13"/>
          <p:cNvSpPr/>
          <p:nvPr/>
        </p:nvSpPr>
        <p:spPr>
          <a:xfrm>
            <a:off x="24777550" y="23032875"/>
            <a:ext cx="9908100" cy="3019200"/>
          </a:xfrm>
          <a:prstGeom prst="roundRect">
            <a:avLst>
              <a:gd fmla="val 16667" name="adj"/>
            </a:avLst>
          </a:prstGeom>
          <a:solidFill>
            <a:srgbClr val="CFE2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000">
                <a:latin typeface="Barlow Condensed"/>
                <a:ea typeface="Barlow Condensed"/>
                <a:cs typeface="Barlow Condensed"/>
                <a:sym typeface="Barlow Condensed"/>
              </a:rPr>
              <a:t>Practice Implications</a:t>
            </a:r>
            <a:endParaRPr b="1"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Providing training for potential and current foster parents on how to take care of children with special needs could increase the willingness of parents to foster children with special needs. </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Adequate compensation and support should be given to parents who are fostering special needs children to ease financial and emotional burdens that could arise from medical costs.</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Parents should be fully informed on the extent of special needs  a child has so as to be adequately prepared to take on the child. </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Stigmas have been and should continue to be destroyed around certain special needs so as to lessen the hesitancy on fostering children with those needs. </a:t>
            </a:r>
            <a:endParaRPr sz="2000">
              <a:latin typeface="Barlow Condensed"/>
              <a:ea typeface="Barlow Condensed"/>
              <a:cs typeface="Barlow Condensed"/>
              <a:sym typeface="Barlow Condensed"/>
            </a:endParaRPr>
          </a:p>
          <a:p>
            <a:pPr indent="0" lvl="0" marL="0" rtl="0" algn="l">
              <a:spcBef>
                <a:spcPts val="0"/>
              </a:spcBef>
              <a:spcAft>
                <a:spcPts val="0"/>
              </a:spcAft>
              <a:buNone/>
            </a:pPr>
            <a:r>
              <a:t/>
            </a:r>
            <a:endParaRPr sz="2000">
              <a:latin typeface="Barlow Condensed"/>
              <a:ea typeface="Barlow Condensed"/>
              <a:cs typeface="Barlow Condensed"/>
              <a:sym typeface="Barlow Condensed"/>
            </a:endParaRPr>
          </a:p>
        </p:txBody>
      </p:sp>
      <p:sp>
        <p:nvSpPr>
          <p:cNvPr id="87" name="Google Shape;87;p13"/>
          <p:cNvSpPr txBox="1"/>
          <p:nvPr/>
        </p:nvSpPr>
        <p:spPr>
          <a:xfrm>
            <a:off x="23672075" y="28589975"/>
            <a:ext cx="10396800" cy="8773800"/>
          </a:xfrm>
          <a:prstGeom prst="rect">
            <a:avLst/>
          </a:prstGeom>
          <a:noFill/>
          <a:ln>
            <a:noFill/>
          </a:ln>
        </p:spPr>
        <p:txBody>
          <a:bodyPr anchorCtr="0" anchor="t" bIns="156150" lIns="312475" spcFirstLastPara="1" rIns="312475" wrap="square" tIns="156150">
            <a:noAutofit/>
          </a:bodyPr>
          <a:lstStyle/>
          <a:p>
            <a:pPr indent="-457200" lvl="0" marL="457200" marR="0" rtl="0" algn="l">
              <a:lnSpc>
                <a:spcPct val="100000"/>
              </a:lnSpc>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The the literature search identified major themes associated with foster parent retention, particularly in the context of special needs foster care. These major themes are highlighted in the concept map.</a:t>
            </a:r>
            <a:endParaRPr sz="3600">
              <a:solidFill>
                <a:srgbClr val="141F22"/>
              </a:solidFill>
              <a:latin typeface="Barlow Condensed"/>
              <a:ea typeface="Barlow Condensed"/>
              <a:cs typeface="Barlow Condensed"/>
              <a:sym typeface="Barlow Condensed"/>
            </a:endParaRPr>
          </a:p>
          <a:p>
            <a:pPr indent="-457200" lvl="0" marL="457200" marR="0" rtl="0" algn="l">
              <a:lnSpc>
                <a:spcPct val="100000"/>
              </a:lnSpc>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Further data from UMFS, particularly home studies, can be analyzed with respect to the themes identified in this literature review. For instance, the literature suggests that relationships with case workers are important for foster parent success and retention. Any information related to relationships with case workers can be extracted from the home studies and analyzed.</a:t>
            </a:r>
            <a:endParaRPr sz="3600">
              <a:solidFill>
                <a:srgbClr val="141F22"/>
              </a:solidFill>
              <a:latin typeface="Barlow Condensed"/>
              <a:ea typeface="Barlow Condensed"/>
              <a:cs typeface="Barlow Condensed"/>
              <a:sym typeface="Barlow Condensed"/>
            </a:endParaRPr>
          </a:p>
          <a:p>
            <a:pPr indent="-457200" lvl="0" marL="457200" marR="0" rtl="0" algn="l">
              <a:lnSpc>
                <a:spcPct val="100000"/>
              </a:lnSpc>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Further data discovery and/or collection, perhaps in the form of surveys addressing the themes identified in the literature, could be used to generate new evidence specific to UMFS’s foster parent population.</a:t>
            </a:r>
            <a:endParaRPr sz="3600">
              <a:solidFill>
                <a:srgbClr val="141F22"/>
              </a:solidFill>
              <a:latin typeface="Barlow Condensed"/>
              <a:ea typeface="Barlow Condensed"/>
              <a:cs typeface="Barlow Condensed"/>
              <a:sym typeface="Barlow Condensed"/>
            </a:endParaRPr>
          </a:p>
        </p:txBody>
      </p:sp>
      <p:pic>
        <p:nvPicPr>
          <p:cNvPr id="88" name="Google Shape;88;p13"/>
          <p:cNvPicPr preferRelativeResize="0"/>
          <p:nvPr/>
        </p:nvPicPr>
        <p:blipFill>
          <a:blip r:embed="rId8">
            <a:alphaModFix/>
          </a:blip>
          <a:stretch>
            <a:fillRect/>
          </a:stretch>
        </p:blipFill>
        <p:spPr>
          <a:xfrm>
            <a:off x="16025677" y="38145350"/>
            <a:ext cx="3207685" cy="2635600"/>
          </a:xfrm>
          <a:prstGeom prst="rect">
            <a:avLst/>
          </a:prstGeom>
          <a:noFill/>
          <a:ln>
            <a:noFill/>
          </a:ln>
        </p:spPr>
      </p:pic>
      <p:pic>
        <p:nvPicPr>
          <p:cNvPr id="89" name="Google Shape;89;p13"/>
          <p:cNvPicPr preferRelativeResize="0"/>
          <p:nvPr/>
        </p:nvPicPr>
        <p:blipFill rotWithShape="1">
          <a:blip r:embed="rId9">
            <a:alphaModFix/>
          </a:blip>
          <a:srcRect b="1306" l="-1324" r="2461" t="7965"/>
          <a:stretch/>
        </p:blipFill>
        <p:spPr>
          <a:xfrm>
            <a:off x="26347825" y="6626175"/>
            <a:ext cx="8295263" cy="6085776"/>
          </a:xfrm>
          <a:prstGeom prst="rect">
            <a:avLst/>
          </a:prstGeom>
          <a:noFill/>
          <a:ln>
            <a:noFill/>
          </a:ln>
        </p:spPr>
      </p:pic>
      <p:pic>
        <p:nvPicPr>
          <p:cNvPr id="90" name="Google Shape;90;p13"/>
          <p:cNvPicPr preferRelativeResize="0"/>
          <p:nvPr/>
        </p:nvPicPr>
        <p:blipFill>
          <a:blip r:embed="rId10">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33A06A44-AA3E-494A-AA31-D1653C434092}"/>
</file>

<file path=customXml/itemProps2.xml><?xml version="1.0" encoding="utf-8"?>
<ds:datastoreItem xmlns:ds="http://schemas.openxmlformats.org/officeDocument/2006/customXml" ds:itemID="{1F1CA6BA-A0E2-4FC1-9CE6-02CFE7876E24}"/>
</file>

<file path=customXml/itemProps3.xml><?xml version="1.0" encoding="utf-8"?>
<ds:datastoreItem xmlns:ds="http://schemas.openxmlformats.org/officeDocument/2006/customXml" ds:itemID="{4702571B-CC98-4543-B192-1AAAF7FFE274}"/>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