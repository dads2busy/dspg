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31952D97-DA03-4C8B-82B8-30B7393C3881}">
  <a:tblStyle styleId="{31952D97-DA03-4C8B-82B8-30B7393C388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0B88737-95ED-4FFA-969E-428D33301F4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1.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781508ca_4_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781508c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bit.ly/21nPzoE" TargetMode="External"/><Relationship Id="rId9" Type="http://schemas.openxmlformats.org/officeDocument/2006/relationships/image" Target="../media/image2.png"/><Relationship Id="rId5" Type="http://schemas.openxmlformats.org/officeDocument/2006/relationships/image" Target="../media/image1.jp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hyperlink" Target="http://www.bls.gov/data/inflation_calculator.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b="0" l="930" r="-929" t="0"/>
          <a:stretch/>
        </p:blipFill>
        <p:spPr>
          <a:xfrm>
            <a:off x="18084038" y="21322763"/>
            <a:ext cx="10535117" cy="7227000"/>
          </a:xfrm>
          <a:prstGeom prst="rect">
            <a:avLst/>
          </a:prstGeom>
          <a:noFill/>
          <a:ln>
            <a:noFill/>
          </a:ln>
        </p:spPr>
      </p:pic>
      <p:sp>
        <p:nvSpPr>
          <p:cNvPr id="52" name="Google Shape;52;p13"/>
          <p:cNvSpPr txBox="1"/>
          <p:nvPr/>
        </p:nvSpPr>
        <p:spPr>
          <a:xfrm>
            <a:off x="8270725" y="20125"/>
            <a:ext cx="26945400" cy="30192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Evaluating the Impact of the Arlington Restaurant Initiative on Alcohol-Related Crimes in Clarendon</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038525" y="3039425"/>
            <a:ext cx="280284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Alexa Nosal (VT), Kelsey McMahon (VT), Megan Grondine (VT), Hannah Brinkley (VT) , and Bayoán Santiago Calderón (CGU)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SDAL: </a:t>
            </a:r>
            <a:r>
              <a:rPr i="1" lang="en" sz="3600">
                <a:solidFill>
                  <a:srgbClr val="141F22"/>
                </a:solidFill>
                <a:latin typeface="Barlow Condensed"/>
                <a:ea typeface="Barlow Condensed"/>
                <a:cs typeface="Barlow Condensed"/>
                <a:sym typeface="Barlow Condensed"/>
              </a:rPr>
              <a:t>Gizem Korkmaz and Aaron Schroeder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i="1" lang="en" sz="3600">
                <a:solidFill>
                  <a:srgbClr val="141F22"/>
                </a:solidFill>
                <a:latin typeface="Barlow Condensed"/>
                <a:ea typeface="Barlow Condensed"/>
                <a:cs typeface="Barlow Condensed"/>
                <a:sym typeface="Barlow Condensed"/>
              </a:rPr>
              <a:t>Sponsors: Jim Mastoras, Arlington County Police Departme</a:t>
            </a:r>
            <a:r>
              <a:rPr i="1" lang="en" sz="3600">
                <a:solidFill>
                  <a:srgbClr val="141F22"/>
                </a:solidFill>
                <a:latin typeface="Barlow Condensed"/>
                <a:ea typeface="Barlow Condensed"/>
                <a:cs typeface="Barlow Condensed"/>
                <a:sym typeface="Barlow Condensed"/>
              </a:rPr>
              <a:t>nt; and the Virginia Tech Center for Peace Studies and Violence Prevention (CPSVP) </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2134400" y="34081400"/>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37306986" y="-3632900"/>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Jim Mastoras, Arlington County Police Department</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96375" y="18244325"/>
            <a:ext cx="17793600" cy="35742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Crime incident data were obtained from the Arlington County Police Incident Log dataset using the API.</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S</a:t>
            </a:r>
            <a:r>
              <a:rPr lang="en" sz="3000">
                <a:solidFill>
                  <a:srgbClr val="141F22"/>
                </a:solidFill>
                <a:latin typeface="Barlow Condensed"/>
                <a:ea typeface="Barlow Condensed"/>
                <a:cs typeface="Barlow Condensed"/>
                <a:sym typeface="Barlow Condensed"/>
              </a:rPr>
              <a:t>patial and temporal filters were applied to obtain data for the Clarendon area (</a:t>
            </a:r>
            <a:r>
              <a:rPr lang="en" sz="3000">
                <a:solidFill>
                  <a:schemeClr val="dk1"/>
                </a:solidFill>
                <a:latin typeface="Barlow Condensed"/>
                <a:ea typeface="Barlow Condensed"/>
                <a:cs typeface="Barlow Condensed"/>
                <a:sym typeface="Barlow Condensed"/>
              </a:rPr>
              <a:t>about a 0.4 km radius from the Clarendon metro station)</a:t>
            </a:r>
            <a:r>
              <a:rPr lang="en" sz="3000">
                <a:solidFill>
                  <a:srgbClr val="141F22"/>
                </a:solidFill>
                <a:latin typeface="Barlow Condensed"/>
                <a:ea typeface="Barlow Condensed"/>
                <a:cs typeface="Barlow Condensed"/>
                <a:sym typeface="Barlow Condensed"/>
              </a:rPr>
              <a:t> from 21:00 to 03:00, the time frame in which the majority of alcohol-related crimes occur.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Focused on five different categories of crime: aggravated assault, disorderly conduct, drunk in public, DUI, rape/sexual assault. Table on the right summarizes crime rates for the time periods and area of study.</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Conducted exploratory analysis of spatial and temporal variation, and the differences between trends in Clarendon and Arlington.</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1868850" y="34796675"/>
            <a:ext cx="13240200" cy="2722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[1] </a:t>
            </a:r>
            <a:r>
              <a:rPr lang="en" sz="2000">
                <a:solidFill>
                  <a:schemeClr val="dk1"/>
                </a:solidFill>
                <a:latin typeface="Barlow Condensed"/>
                <a:ea typeface="Barlow Condensed"/>
                <a:cs typeface="Barlow Condensed"/>
                <a:sym typeface="Barlow Condensed"/>
              </a:rPr>
              <a:t>Miller, Cohen, Wiersema. V</a:t>
            </a:r>
            <a:r>
              <a:rPr i="1" lang="en" sz="2000">
                <a:solidFill>
                  <a:schemeClr val="dk1"/>
                </a:solidFill>
                <a:latin typeface="Barlow Condensed"/>
                <a:ea typeface="Barlow Condensed"/>
                <a:cs typeface="Barlow Condensed"/>
                <a:sym typeface="Barlow Condensed"/>
              </a:rPr>
              <a:t>ictim Cost and Consequences: A New Look, </a:t>
            </a:r>
            <a:r>
              <a:rPr lang="en" sz="2000">
                <a:solidFill>
                  <a:schemeClr val="dk1"/>
                </a:solidFill>
                <a:latin typeface="Barlow Condensed"/>
                <a:ea typeface="Barlow Condensed"/>
                <a:cs typeface="Barlow Condensed"/>
                <a:sym typeface="Barlow Condensed"/>
              </a:rPr>
              <a:t>National Institute of Justice, 1996. </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Heaton. </a:t>
            </a:r>
            <a:r>
              <a:rPr i="1" lang="en" sz="2000">
                <a:solidFill>
                  <a:schemeClr val="dk1"/>
                </a:solidFill>
                <a:latin typeface="Barlow Condensed"/>
                <a:ea typeface="Barlow Condensed"/>
                <a:cs typeface="Barlow Condensed"/>
                <a:sym typeface="Barlow Condensed"/>
              </a:rPr>
              <a:t>Hidden in Plain Sight: What Cost-of-Crime Research Can Tell Us About Investing in Police,</a:t>
            </a:r>
            <a:r>
              <a:rPr lang="en" sz="2000">
                <a:solidFill>
                  <a:schemeClr val="dk1"/>
                </a:solidFill>
                <a:latin typeface="Barlow Condensed"/>
                <a:ea typeface="Barlow Condensed"/>
                <a:cs typeface="Barlow Condensed"/>
                <a:sym typeface="Barlow Condensed"/>
              </a:rPr>
              <a:t> RAND Corporation, 2010.</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[2] McCollister, French, Fang.</a:t>
            </a:r>
            <a:r>
              <a:rPr i="1" lang="en" sz="2000">
                <a:solidFill>
                  <a:schemeClr val="dk1"/>
                </a:solidFill>
                <a:latin typeface="Barlow Condensed"/>
                <a:ea typeface="Barlow Condensed"/>
                <a:cs typeface="Barlow Condensed"/>
                <a:sym typeface="Barlow Condensed"/>
              </a:rPr>
              <a:t> The Cost of Crime to Society: New Crime-Specific Estimates for Policy and Program Evaluation, </a:t>
            </a:r>
            <a:r>
              <a:rPr lang="en" sz="2000">
                <a:solidFill>
                  <a:schemeClr val="dk1"/>
                </a:solidFill>
                <a:latin typeface="Barlow Condensed"/>
                <a:ea typeface="Barlow Condensed"/>
                <a:cs typeface="Barlow Condensed"/>
                <a:sym typeface="Barlow Condensed"/>
              </a:rPr>
              <a:t>Drug and Alcohol Dependence, 2010.</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[3] Maurer et al. </a:t>
            </a:r>
            <a:r>
              <a:rPr i="1" lang="en" sz="2000">
                <a:solidFill>
                  <a:schemeClr val="dk1"/>
                </a:solidFill>
                <a:latin typeface="Barlow Condensed"/>
                <a:ea typeface="Barlow Condensed"/>
                <a:cs typeface="Barlow Condensed"/>
                <a:sym typeface="Barlow Condensed"/>
              </a:rPr>
              <a:t>Experts Report Challenges Estimating Costs and Suggest Improvements to Better Inform Policy Decisions</a:t>
            </a:r>
            <a:r>
              <a:rPr lang="en" sz="2000">
                <a:solidFill>
                  <a:schemeClr val="dk1"/>
                </a:solidFill>
                <a:latin typeface="Barlow Condensed"/>
                <a:ea typeface="Barlow Condensed"/>
                <a:cs typeface="Barlow Condensed"/>
                <a:sym typeface="Barlow Condensed"/>
              </a:rPr>
              <a:t>, GAO highlights, 2017.</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[4] Arlington County. 2018. Police Incident Log. </a:t>
            </a:r>
            <a:r>
              <a:rPr lang="en" sz="2000" u="sng">
                <a:solidFill>
                  <a:schemeClr val="accent5"/>
                </a:solidFill>
                <a:latin typeface="Barlow Condensed"/>
                <a:ea typeface="Barlow Condensed"/>
                <a:cs typeface="Barlow Condensed"/>
                <a:sym typeface="Barlow Condensed"/>
                <a:hlinkClick r:id="rId4"/>
              </a:rPr>
              <a:t>http://bit.ly/21nPzoE</a:t>
            </a:r>
            <a:r>
              <a:rPr lang="en" sz="2000">
                <a:solidFill>
                  <a:schemeClr val="dk1"/>
                </a:solidFill>
                <a:latin typeface="Barlow Condensed"/>
                <a:ea typeface="Barlow Condensed"/>
                <a:cs typeface="Barlow Condensed"/>
                <a:sym typeface="Barlow Condensed"/>
              </a:rPr>
              <a:t>.</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20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Special thanks to Dr. Wenwen Zhang and her students at VT Urban Affairs and Planning.</a:t>
            </a:r>
            <a:endParaRPr sz="2000">
              <a:solidFill>
                <a:schemeClr val="dk1"/>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35600" y="17291700"/>
            <a:ext cx="337605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Data Analysis</a:t>
            </a:r>
            <a:endParaRPr b="1" sz="48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769150" y="6103110"/>
            <a:ext cx="19679100" cy="33483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Background: </a:t>
            </a:r>
            <a:r>
              <a:rPr lang="en" sz="3000">
                <a:solidFill>
                  <a:srgbClr val="141F22"/>
                </a:solidFill>
                <a:latin typeface="Barlow Condensed"/>
                <a:ea typeface="Barlow Condensed"/>
                <a:cs typeface="Barlow Condensed"/>
                <a:sym typeface="Barlow Condensed"/>
              </a:rPr>
              <a:t>Arlington County features some of the most unique restaurants and nightlife destinations in the Washington D.C. metro region. Areas such as Clarendon, however, with a large number of restaurants have become a difficult issue for </a:t>
            </a:r>
            <a:r>
              <a:rPr lang="en" sz="3000">
                <a:solidFill>
                  <a:srgbClr val="141F22"/>
                </a:solidFill>
                <a:latin typeface="Barlow Condensed"/>
                <a:ea typeface="Barlow Condensed"/>
                <a:cs typeface="Barlow Condensed"/>
                <a:sym typeface="Barlow Condensed"/>
              </a:rPr>
              <a:t>police</a:t>
            </a:r>
            <a:r>
              <a:rPr lang="en" sz="3000">
                <a:solidFill>
                  <a:srgbClr val="141F22"/>
                </a:solidFill>
                <a:latin typeface="Barlow Condensed"/>
                <a:ea typeface="Barlow Condensed"/>
                <a:cs typeface="Barlow Condensed"/>
                <a:sym typeface="Barlow Condensed"/>
              </a:rPr>
              <a:t> to manage due to alcohol-related crimes such as malicious wounding, sexual assault, public intoxication, assault on police, DUI, disorderly conduct, and rape.</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Arlington County Police Department (</a:t>
            </a:r>
            <a:r>
              <a:rPr lang="en" sz="3000">
                <a:solidFill>
                  <a:srgbClr val="141F22"/>
                </a:solidFill>
                <a:latin typeface="Barlow Condensed"/>
                <a:ea typeface="Barlow Condensed"/>
                <a:cs typeface="Barlow Condensed"/>
                <a:sym typeface="Barlow Condensed"/>
              </a:rPr>
              <a:t>ACPD) launched the </a:t>
            </a:r>
            <a:r>
              <a:rPr i="1" lang="en" sz="3000">
                <a:solidFill>
                  <a:srgbClr val="861F41"/>
                </a:solidFill>
                <a:latin typeface="Barlow Condensed"/>
                <a:ea typeface="Barlow Condensed"/>
                <a:cs typeface="Barlow Condensed"/>
                <a:sym typeface="Barlow Condensed"/>
              </a:rPr>
              <a:t>Arlington Restaurant Initiative (ARI) </a:t>
            </a:r>
            <a:r>
              <a:rPr lang="en" sz="3000">
                <a:solidFill>
                  <a:srgbClr val="141F22"/>
                </a:solidFill>
                <a:latin typeface="Barlow Condensed"/>
                <a:ea typeface="Barlow Condensed"/>
                <a:cs typeface="Barlow Condensed"/>
                <a:sym typeface="Barlow Condensed"/>
              </a:rPr>
              <a:t>that focuses on best practices for restaurants and nightlife to reduce the risk of </a:t>
            </a:r>
            <a:r>
              <a:rPr lang="en" sz="3000">
                <a:solidFill>
                  <a:srgbClr val="141F22"/>
                </a:solidFill>
                <a:latin typeface="Barlow Condensed"/>
                <a:ea typeface="Barlow Condensed"/>
                <a:cs typeface="Barlow Condensed"/>
                <a:sym typeface="Barlow Condensed"/>
              </a:rPr>
              <a:t>alcohol-related disorder. </a:t>
            </a:r>
            <a:r>
              <a:rPr lang="en" sz="3000">
                <a:solidFill>
                  <a:srgbClr val="141F22"/>
                </a:solidFill>
                <a:latin typeface="Barlow Condensed"/>
                <a:ea typeface="Barlow Condensed"/>
                <a:cs typeface="Barlow Condensed"/>
                <a:sym typeface="Barlow Condensed"/>
              </a:rPr>
              <a:t>The initiative grew out of the </a:t>
            </a:r>
            <a:r>
              <a:rPr i="1" lang="en" sz="3000">
                <a:solidFill>
                  <a:srgbClr val="861F41"/>
                </a:solidFill>
                <a:latin typeface="Barlow Condensed"/>
                <a:ea typeface="Barlow Condensed"/>
                <a:cs typeface="Barlow Condensed"/>
                <a:sym typeface="Barlow Condensed"/>
              </a:rPr>
              <a:t>Clarendon Detail</a:t>
            </a:r>
            <a:r>
              <a:rPr lang="en" sz="3000">
                <a:solidFill>
                  <a:srgbClr val="141F22"/>
                </a:solidFill>
                <a:latin typeface="Barlow Condensed"/>
                <a:ea typeface="Barlow Condensed"/>
                <a:cs typeface="Barlow Condensed"/>
                <a:sym typeface="Barlow Condensed"/>
              </a:rPr>
              <a:t>, the creation of a team of patrol officers using </a:t>
            </a:r>
            <a:r>
              <a:rPr lang="en" sz="3000">
                <a:solidFill>
                  <a:srgbClr val="141F22"/>
                </a:solidFill>
                <a:latin typeface="Barlow Condensed"/>
                <a:ea typeface="Barlow Condensed"/>
                <a:cs typeface="Barlow Condensed"/>
                <a:sym typeface="Barlow Condensed"/>
              </a:rPr>
              <a:t>overtime</a:t>
            </a:r>
            <a:r>
              <a:rPr lang="en" sz="3000">
                <a:solidFill>
                  <a:srgbClr val="141F22"/>
                </a:solidFill>
                <a:latin typeface="Barlow Condensed"/>
                <a:ea typeface="Barlow Condensed"/>
                <a:cs typeface="Barlow Condensed"/>
                <a:sym typeface="Barlow Condensed"/>
              </a:rPr>
              <a:t> to control pedestrian and road traffic, and to ensure that intoxicated patrons are protected from harm.</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1048775" y="28703475"/>
            <a:ext cx="196791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Cost of Crimes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13392150" y="29818363"/>
            <a:ext cx="7584000" cy="63132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Not only is the ARI important in improving safety and quality of life in Arlington, but it also helps save taxpayer money. </a:t>
            </a:r>
            <a:endParaRPr sz="30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table on the left shows the economic cost of crimes from a variety of studies that use different methods of cost estimation. Some of the methods include tangible costs, intangible costs, or both.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Tangible costs</a:t>
            </a:r>
            <a:r>
              <a:rPr lang="en" sz="3000">
                <a:solidFill>
                  <a:srgbClr val="141F22"/>
                </a:solidFill>
                <a:latin typeface="Barlow Condensed"/>
                <a:ea typeface="Barlow Condensed"/>
                <a:cs typeface="Barlow Condensed"/>
                <a:sym typeface="Barlow Condensed"/>
              </a:rPr>
              <a:t> include costs such as medical expenses, lost wages/productivity, and the cost to repair property.</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 </a:t>
            </a:r>
            <a:r>
              <a:rPr b="1" lang="en" sz="3000">
                <a:solidFill>
                  <a:srgbClr val="141F22"/>
                </a:solidFill>
                <a:latin typeface="Barlow Condensed"/>
                <a:ea typeface="Barlow Condensed"/>
                <a:cs typeface="Barlow Condensed"/>
                <a:sym typeface="Barlow Condensed"/>
              </a:rPr>
              <a:t>Intangible costs</a:t>
            </a:r>
            <a:r>
              <a:rPr lang="en" sz="3000">
                <a:solidFill>
                  <a:srgbClr val="141F22"/>
                </a:solidFill>
                <a:latin typeface="Barlow Condensed"/>
                <a:ea typeface="Barlow Condensed"/>
                <a:cs typeface="Barlow Condensed"/>
                <a:sym typeface="Barlow Condensed"/>
              </a:rPr>
              <a:t> are the cost of pain and lost quality of life. </a:t>
            </a:r>
            <a:endParaRPr sz="30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3000">
                <a:solidFill>
                  <a:srgbClr val="141F22"/>
                </a:solidFill>
                <a:latin typeface="Barlow Condensed"/>
                <a:ea typeface="Barlow Condensed"/>
                <a:cs typeface="Barlow Condensed"/>
                <a:sym typeface="Barlow Condensed"/>
              </a:rPr>
              <a:t>The Miller (1996) studies and ticket fees do only tangible costs while the other studies include both tangible and intangible.</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p:txBody>
      </p:sp>
      <p:graphicFrame>
        <p:nvGraphicFramePr>
          <p:cNvPr id="64" name="Google Shape;64;p13"/>
          <p:cNvGraphicFramePr/>
          <p:nvPr/>
        </p:nvGraphicFramePr>
        <p:xfrm>
          <a:off x="19966388" y="18285813"/>
          <a:ext cx="3000000" cy="3000000"/>
        </p:xfrm>
        <a:graphic>
          <a:graphicData uri="http://schemas.openxmlformats.org/drawingml/2006/table">
            <a:tbl>
              <a:tblPr>
                <a:noFill/>
                <a:tableStyleId>{31952D97-DA03-4C8B-82B8-30B7393C3881}</a:tableStyleId>
              </a:tblPr>
              <a:tblGrid>
                <a:gridCol w="1214625"/>
                <a:gridCol w="1836775"/>
                <a:gridCol w="1723150"/>
                <a:gridCol w="2415400"/>
                <a:gridCol w="1226950"/>
                <a:gridCol w="2012200"/>
                <a:gridCol w="2873350"/>
              </a:tblGrid>
              <a:tr h="808675">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Year</a:t>
                      </a:r>
                      <a:endParaRPr b="1" sz="2800">
                        <a:solidFill>
                          <a:srgbClr val="FFFFFF"/>
                        </a:solidFill>
                        <a:latin typeface="Barlow Condensed"/>
                        <a:ea typeface="Barlow Condensed"/>
                        <a:cs typeface="Barlow Condensed"/>
                        <a:sym typeface="Barlow Condensed"/>
                      </a:endParaRPr>
                    </a:p>
                  </a:txBody>
                  <a:tcPr marT="68575" marB="68575" marR="68575" marL="68575">
                    <a:lnR cap="flat" cmpd="sng" w="9525">
                      <a:solidFill>
                        <a:srgbClr val="9E9E9E"/>
                      </a:solidFill>
                      <a:prstDash val="solid"/>
                      <a:round/>
                      <a:headEnd len="sm" w="sm" type="none"/>
                      <a:tailEnd len="sm" w="sm" type="none"/>
                    </a:lnR>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Aggravated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Disorderly Conduct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Drunk in Public</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DUI</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Rape / Sexual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Underage Drinking / Fake ID</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r>
              <a:tr h="14727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2015</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176</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40</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r>
              <a:tr h="596450">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2016</a:t>
                      </a:r>
                      <a:endParaRPr b="1"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74</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188</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51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solidFill>
                      <a:srgbClr val="E7E6E6"/>
                    </a:solidFill>
                  </a:tcPr>
                </a:tc>
              </a:tr>
              <a:tr h="48032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2017</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35</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6</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162</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27</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0</a:t>
                      </a:r>
                      <a:endParaRPr sz="2800">
                        <a:latin typeface="Barlow Condensed"/>
                        <a:ea typeface="Barlow Condensed"/>
                        <a:cs typeface="Barlow Condensed"/>
                        <a:sym typeface="Barlow Condensed"/>
                      </a:endParaRPr>
                    </a:p>
                  </a:txBody>
                  <a:tcPr marT="68575" marB="68575" marR="68575" marL="68575" anchor="ctr">
                    <a:solidFill>
                      <a:srgbClr val="9FC5E8"/>
                    </a:solidFill>
                  </a:tcPr>
                </a:tc>
              </a:tr>
            </a:tbl>
          </a:graphicData>
        </a:graphic>
      </p:graphicFrame>
      <p:pic>
        <p:nvPicPr>
          <p:cNvPr id="65" name="Google Shape;65;p13"/>
          <p:cNvPicPr preferRelativeResize="0"/>
          <p:nvPr/>
        </p:nvPicPr>
        <p:blipFill>
          <a:blip r:embed="rId5">
            <a:alphaModFix/>
          </a:blip>
          <a:stretch>
            <a:fillRect/>
          </a:stretch>
        </p:blipFill>
        <p:spPr>
          <a:xfrm>
            <a:off x="1197500" y="21475450"/>
            <a:ext cx="9981400" cy="7025930"/>
          </a:xfrm>
          <a:prstGeom prst="rect">
            <a:avLst/>
          </a:prstGeom>
          <a:noFill/>
          <a:ln>
            <a:noFill/>
          </a:ln>
        </p:spPr>
      </p:pic>
      <p:sp>
        <p:nvSpPr>
          <p:cNvPr id="66" name="Google Shape;66;p13"/>
          <p:cNvSpPr txBox="1"/>
          <p:nvPr/>
        </p:nvSpPr>
        <p:spPr>
          <a:xfrm>
            <a:off x="28695350" y="21437525"/>
            <a:ext cx="6489900" cy="5474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000">
                <a:latin typeface="Barlow Condensed"/>
                <a:ea typeface="Barlow Condensed"/>
                <a:cs typeface="Barlow Condensed"/>
                <a:sym typeface="Barlow Condensed"/>
              </a:rPr>
              <a:t>The goal is to show</a:t>
            </a:r>
            <a:r>
              <a:rPr lang="en" sz="3000">
                <a:latin typeface="Barlow Condensed"/>
                <a:ea typeface="Barlow Condensed"/>
                <a:cs typeface="Barlow Condensed"/>
                <a:sym typeface="Barlow Condensed"/>
              </a:rPr>
              <a:t> the effect of ARI on the rate of crime in Arlington during special “drinking” events and holidays.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We chose the holidays that are normally associated with increased rates of alcohol consumption.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graph includes </a:t>
            </a:r>
            <a:r>
              <a:rPr lang="en" sz="3000">
                <a:solidFill>
                  <a:schemeClr val="dk1"/>
                </a:solidFill>
                <a:latin typeface="Barlow Condensed"/>
                <a:ea typeface="Barlow Condensed"/>
                <a:cs typeface="Barlow Condensed"/>
                <a:sym typeface="Barlow Condensed"/>
              </a:rPr>
              <a:t>alcohol-related </a:t>
            </a:r>
            <a:r>
              <a:rPr lang="en" sz="3000">
                <a:latin typeface="Barlow Condensed"/>
                <a:ea typeface="Barlow Condensed"/>
                <a:cs typeface="Barlow Condensed"/>
                <a:sym typeface="Barlow Condensed"/>
              </a:rPr>
              <a:t>crimes committed between the hours of 21:00 to 03:00 (night) for Clarendon and Arlington (incl. Clarendon) before and after the ARI strategies were implemented in 2016. </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This plot shows a general decrease in crime in both regions on holidays.  </a:t>
            </a:r>
            <a:endParaRPr sz="3000">
              <a:latin typeface="Barlow Condensed"/>
              <a:ea typeface="Barlow Condensed"/>
              <a:cs typeface="Barlow Condensed"/>
              <a:sym typeface="Barlow Condensed"/>
            </a:endParaRPr>
          </a:p>
        </p:txBody>
      </p:sp>
      <p:sp>
        <p:nvSpPr>
          <p:cNvPr id="67" name="Google Shape;67;p13"/>
          <p:cNvSpPr txBox="1"/>
          <p:nvPr/>
        </p:nvSpPr>
        <p:spPr>
          <a:xfrm>
            <a:off x="11026500" y="21703475"/>
            <a:ext cx="6842400" cy="6313200"/>
          </a:xfrm>
          <a:prstGeom prst="rect">
            <a:avLst/>
          </a:prstGeom>
          <a:noFill/>
          <a:ln>
            <a:noFill/>
          </a:ln>
        </p:spPr>
        <p:txBody>
          <a:bodyPr anchorCtr="0" anchor="t" bIns="91425" lIns="91425" spcFirstLastPara="1" rIns="91425" wrap="square" tIns="91425">
            <a:noAutofit/>
          </a:bodyPr>
          <a:lstStyle/>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ARI</a:t>
            </a:r>
            <a:r>
              <a:rPr lang="en" sz="3000">
                <a:latin typeface="Barlow Condensed"/>
                <a:ea typeface="Barlow Condensed"/>
                <a:cs typeface="Barlow Condensed"/>
                <a:sym typeface="Barlow Condensed"/>
              </a:rPr>
              <a:t> works to decrease alcohol-related crimes between the hours of 21:00 and 03:00 (night), when observed nightlife is most active.</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figure on the left includes only the alcohol-related crime types (shown in table above) that occurred within the Clarendon area.</a:t>
            </a:r>
            <a:endParaRPr sz="3000">
              <a:latin typeface="Barlow Condensed"/>
              <a:ea typeface="Barlow Condensed"/>
              <a:cs typeface="Barlow Condensed"/>
              <a:sym typeface="Barlow Condensed"/>
            </a:endParaRPr>
          </a:p>
          <a:p>
            <a:pPr indent="-419100" lvl="0" marL="457200" rtl="0" algn="l">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intervals in this graph depict the importance of the continuation of this program, as there is a sharp decrease in alcohol-related crimes since the program strategies were implemented in 2016. </a:t>
            </a:r>
            <a:endParaRPr sz="3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0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pic>
        <p:nvPicPr>
          <p:cNvPr id="68" name="Google Shape;68;p13"/>
          <p:cNvPicPr preferRelativeResize="0"/>
          <p:nvPr/>
        </p:nvPicPr>
        <p:blipFill>
          <a:blip r:embed="rId6">
            <a:alphaModFix/>
          </a:blip>
          <a:stretch>
            <a:fillRect/>
          </a:stretch>
        </p:blipFill>
        <p:spPr>
          <a:xfrm>
            <a:off x="20515812" y="6328300"/>
            <a:ext cx="14455728" cy="8743703"/>
          </a:xfrm>
          <a:prstGeom prst="rect">
            <a:avLst/>
          </a:prstGeom>
          <a:noFill/>
          <a:ln cap="flat" cmpd="sng" w="19050">
            <a:solidFill>
              <a:srgbClr val="336699"/>
            </a:solidFill>
            <a:prstDash val="solid"/>
            <a:round/>
            <a:headEnd len="sm" w="sm" type="none"/>
            <a:tailEnd len="sm" w="sm" type="none"/>
          </a:ln>
        </p:spPr>
      </p:pic>
      <p:graphicFrame>
        <p:nvGraphicFramePr>
          <p:cNvPr id="69" name="Google Shape;69;p13"/>
          <p:cNvGraphicFramePr/>
          <p:nvPr/>
        </p:nvGraphicFramePr>
        <p:xfrm>
          <a:off x="11676088" y="12764700"/>
          <a:ext cx="3000000" cy="3000000"/>
        </p:xfrm>
        <a:graphic>
          <a:graphicData uri="http://schemas.openxmlformats.org/drawingml/2006/table">
            <a:tbl>
              <a:tblPr>
                <a:noFill/>
                <a:tableStyleId>{D0B88737-95ED-4FFA-969E-428D33301F46}</a:tableStyleId>
              </a:tblPr>
              <a:tblGrid>
                <a:gridCol w="3059125"/>
                <a:gridCol w="1674800"/>
                <a:gridCol w="196370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Summary of </a:t>
                      </a:r>
                      <a:r>
                        <a:rPr b="1" lang="en" sz="2500">
                          <a:latin typeface="Barlow Condensed"/>
                          <a:ea typeface="Barlow Condensed"/>
                          <a:cs typeface="Barlow Condensed"/>
                          <a:sym typeface="Barlow Condensed"/>
                        </a:rPr>
                        <a:t>Clarendon Detail Resources </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Weekend Days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109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Officers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1,153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1,254</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Avg. Officers per Day</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9.9</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11.5</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0" name="Google Shape;70;p13"/>
          <p:cNvSpPr txBox="1"/>
          <p:nvPr/>
        </p:nvSpPr>
        <p:spPr>
          <a:xfrm>
            <a:off x="1048775" y="5301500"/>
            <a:ext cx="336942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Overview</a:t>
            </a:r>
            <a:endParaRPr b="1" sz="4800">
              <a:solidFill>
                <a:srgbClr val="FFFFFF"/>
              </a:solidFill>
              <a:latin typeface="Barlow Condensed"/>
              <a:ea typeface="Barlow Condensed"/>
              <a:cs typeface="Barlow Condensed"/>
              <a:sym typeface="Barlow Condensed"/>
            </a:endParaRPr>
          </a:p>
        </p:txBody>
      </p:sp>
      <p:pic>
        <p:nvPicPr>
          <p:cNvPr id="71" name="Google Shape;71;p13"/>
          <p:cNvPicPr preferRelativeResize="0"/>
          <p:nvPr/>
        </p:nvPicPr>
        <p:blipFill>
          <a:blip r:embed="rId7">
            <a:alphaModFix/>
          </a:blip>
          <a:stretch>
            <a:fillRect/>
          </a:stretch>
        </p:blipFill>
        <p:spPr>
          <a:xfrm>
            <a:off x="32900524" y="3833087"/>
            <a:ext cx="1271024" cy="1410188"/>
          </a:xfrm>
          <a:prstGeom prst="rect">
            <a:avLst/>
          </a:prstGeom>
          <a:noFill/>
          <a:ln>
            <a:noFill/>
          </a:ln>
        </p:spPr>
      </p:pic>
      <p:graphicFrame>
        <p:nvGraphicFramePr>
          <p:cNvPr id="72" name="Google Shape;72;p13"/>
          <p:cNvGraphicFramePr/>
          <p:nvPr/>
        </p:nvGraphicFramePr>
        <p:xfrm>
          <a:off x="1533588" y="9340688"/>
          <a:ext cx="3000000" cy="3000000"/>
        </p:xfrm>
        <a:graphic>
          <a:graphicData uri="http://schemas.openxmlformats.org/drawingml/2006/table">
            <a:tbl>
              <a:tblPr>
                <a:noFill/>
                <a:tableStyleId>{D0B88737-95ED-4FFA-969E-428D33301F46}</a:tableStyleId>
              </a:tblPr>
              <a:tblGrid>
                <a:gridCol w="5021275"/>
                <a:gridCol w="1998650"/>
                <a:gridCol w="194465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Clarendon Detail Contacts</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Assaults/Disputes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451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570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Drunk in Public (DIP) / Sent on Way (SOW)</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1,308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1,400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100000">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DIP Pedestrians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5,375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Uber/Taxi Obstructions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4,080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8,465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Bannings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25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Reports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190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Field Observation Report (FOR)</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Contacts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8,922</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15,898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Arrests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gn="l">
                        <a:lnSpc>
                          <a:spcPct val="100000"/>
                        </a:lnSpc>
                        <a:spcBef>
                          <a:spcPts val="0"/>
                        </a:spcBef>
                        <a:spcAft>
                          <a:spcPts val="0"/>
                        </a:spcAft>
                        <a:buNone/>
                      </a:pPr>
                      <a:r>
                        <a:rPr lang="en" sz="2500">
                          <a:latin typeface="Barlow Condensed"/>
                          <a:ea typeface="Barlow Condensed"/>
                          <a:cs typeface="Barlow Condensed"/>
                          <a:sym typeface="Barlow Condensed"/>
                        </a:rPr>
                        <a:t>Virginia Uniform Summons (VUS)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3" name="Google Shape;73;p13"/>
          <p:cNvSpPr txBox="1"/>
          <p:nvPr/>
        </p:nvSpPr>
        <p:spPr>
          <a:xfrm>
            <a:off x="22095800" y="28946675"/>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22001975" y="29577875"/>
            <a:ext cx="12794100" cy="2819100"/>
          </a:xfrm>
          <a:prstGeom prst="rect">
            <a:avLst/>
          </a:prstGeom>
          <a:noFill/>
          <a:ln>
            <a:noFill/>
          </a:ln>
        </p:spPr>
        <p:txBody>
          <a:bodyPr anchorCtr="0" anchor="t" bIns="156150" lIns="312475" spcFirstLastPara="1" rIns="312475" wrap="square" tIns="156150">
            <a:noAutofit/>
          </a:bodyPr>
          <a:lstStyle/>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This study illustrates an exploratory analysis of the effect of ARI on alcohol-related crimes before and after it was implemented in 2016.</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next step is to develop methods to estimate the reduction in crime that is solely due to the ARI since other factors also have a role in the reduction of crimes.</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crime cost estimates will then be used to calculate the cost savings as a result of the ARI program. </a:t>
            </a:r>
            <a:endParaRPr sz="3000">
              <a:solidFill>
                <a:srgbClr val="141F22"/>
              </a:solidFill>
              <a:latin typeface="Barlow Condensed"/>
              <a:ea typeface="Barlow Condensed"/>
              <a:cs typeface="Barlow Condensed"/>
              <a:sym typeface="Barlow Condensed"/>
            </a:endParaRPr>
          </a:p>
          <a:p>
            <a:pPr indent="-419100" lvl="0" marL="457200" rtl="0" algn="l">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interactive version of the plots and the model results will be illustrated on our dashboard during the DSPG 2018 symposium.</a:t>
            </a:r>
            <a:endParaRPr sz="3000">
              <a:solidFill>
                <a:srgbClr val="141F22"/>
              </a:solidFill>
              <a:latin typeface="Barlow Condensed"/>
              <a:ea typeface="Barlow Condensed"/>
              <a:cs typeface="Barlow Condensed"/>
              <a:sym typeface="Barlow Condensed"/>
            </a:endParaRPr>
          </a:p>
        </p:txBody>
      </p:sp>
      <p:graphicFrame>
        <p:nvGraphicFramePr>
          <p:cNvPr id="75" name="Google Shape;75;p13"/>
          <p:cNvGraphicFramePr/>
          <p:nvPr/>
        </p:nvGraphicFramePr>
        <p:xfrm>
          <a:off x="1254650" y="30027125"/>
          <a:ext cx="3000000" cy="3000000"/>
        </p:xfrm>
        <a:graphic>
          <a:graphicData uri="http://schemas.openxmlformats.org/drawingml/2006/table">
            <a:tbl>
              <a:tblPr>
                <a:noFill/>
                <a:tableStyleId>{31952D97-DA03-4C8B-82B8-30B7393C3881}</a:tableStyleId>
              </a:tblPr>
              <a:tblGrid>
                <a:gridCol w="2569625"/>
                <a:gridCol w="1803600"/>
                <a:gridCol w="1632575"/>
                <a:gridCol w="1225450"/>
                <a:gridCol w="1554900"/>
                <a:gridCol w="1465650"/>
                <a:gridCol w="1666225"/>
              </a:tblGrid>
              <a:tr h="1220200">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Miller, Chonen, Wiersema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Miller et al.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Aos et al. (2001)</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Cohen et al. (2004)</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McCollister (2010)</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Other Ticket Fees (before other legal fees)</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r>
              <a:tr h="6868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Aggravated assault</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$14,673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$24,493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$120,514</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$96,547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$122,198</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20200">
                <a:tc>
                  <a:txBody>
                    <a:bodyPr>
                      <a:noAutofit/>
                    </a:bodyPr>
                    <a:lstStyle/>
                    <a:p>
                      <a:pPr indent="0" lvl="0" marL="0" rtl="0" algn="l">
                        <a:spcBef>
                          <a:spcPts val="0"/>
                        </a:spcBef>
                        <a:spcAft>
                          <a:spcPts val="0"/>
                        </a:spcAft>
                        <a:buNone/>
                      </a:pPr>
                      <a:r>
                        <a:rPr lang="en" sz="2600">
                          <a:solidFill>
                            <a:schemeClr val="dk1"/>
                          </a:solidFill>
                          <a:latin typeface="Barlow Condensed"/>
                          <a:ea typeface="Barlow Condensed"/>
                          <a:cs typeface="Barlow Condensed"/>
                          <a:sym typeface="Barlow Condensed"/>
                        </a:rPr>
                        <a:t>Drunk in Public, </a:t>
                      </a:r>
                      <a:r>
                        <a:rPr lang="en" sz="2600">
                          <a:latin typeface="Barlow Condensed"/>
                          <a:ea typeface="Barlow Condensed"/>
                          <a:cs typeface="Barlow Condensed"/>
                          <a:sym typeface="Barlow Condensed"/>
                        </a:rPr>
                        <a:t>Disorderly Conduct &amp; Public Urination</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$250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84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DUI</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$28,097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$300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249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Rape/sexual assault</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$135,806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$142,065</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$422,180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$326,880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$274,925</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53500">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Underage Drinking / </a:t>
                      </a:r>
                      <a:br>
                        <a:rPr lang="en" sz="2600">
                          <a:latin typeface="Barlow Condensed"/>
                          <a:ea typeface="Barlow Condensed"/>
                          <a:cs typeface="Barlow Condensed"/>
                          <a:sym typeface="Barlow Condensed"/>
                        </a:rPr>
                      </a:br>
                      <a:r>
                        <a:rPr lang="en" sz="2600">
                          <a:latin typeface="Barlow Condensed"/>
                          <a:ea typeface="Barlow Condensed"/>
                          <a:cs typeface="Barlow Condensed"/>
                          <a:sym typeface="Barlow Condensed"/>
                        </a:rPr>
                        <a:t>Fake ID</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lgn="l">
                        <a:spcBef>
                          <a:spcPts val="0"/>
                        </a:spcBef>
                        <a:spcAft>
                          <a:spcPts val="0"/>
                        </a:spcAft>
                        <a:buNone/>
                      </a:pPr>
                      <a:r>
                        <a:rPr lang="en" sz="2600">
                          <a:latin typeface="Barlow Condensed"/>
                          <a:ea typeface="Barlow Condensed"/>
                          <a:cs typeface="Barlow Condensed"/>
                          <a:sym typeface="Barlow Condensed"/>
                        </a:rPr>
                        <a:t>$500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76" name="Google Shape;76;p13"/>
          <p:cNvSpPr txBox="1"/>
          <p:nvPr/>
        </p:nvSpPr>
        <p:spPr>
          <a:xfrm>
            <a:off x="1205200" y="36165350"/>
            <a:ext cx="11918100" cy="8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000">
                <a:solidFill>
                  <a:srgbClr val="333333"/>
                </a:solidFill>
                <a:highlight>
                  <a:srgbClr val="FFFFFF"/>
                </a:highlight>
                <a:latin typeface="Barlow Condensed"/>
                <a:ea typeface="Barlow Condensed"/>
                <a:cs typeface="Barlow Condensed"/>
                <a:sym typeface="Barlow Condensed"/>
              </a:rPr>
              <a:t>Note</a:t>
            </a:r>
            <a:r>
              <a:rPr lang="en" sz="2000">
                <a:solidFill>
                  <a:srgbClr val="333333"/>
                </a:solidFill>
                <a:highlight>
                  <a:srgbClr val="FFFFFF"/>
                </a:highlight>
                <a:latin typeface="Barlow Condensed"/>
                <a:ea typeface="Barlow Condensed"/>
                <a:cs typeface="Barlow Condensed"/>
                <a:sym typeface="Barlow Condensed"/>
              </a:rPr>
              <a:t>: all unit costs expressed in 2016 dollars. Unit cost values were inflated using the Bureau of Labor Statistics inflation calculator based on the consumer price index (CPI). U.S. Department of Labor (2018), </a:t>
            </a:r>
            <a:r>
              <a:rPr lang="en" sz="2000" u="sng">
                <a:solidFill>
                  <a:srgbClr val="336699"/>
                </a:solidFill>
                <a:highlight>
                  <a:srgbClr val="FFFFFF"/>
                </a:highlight>
                <a:latin typeface="Barlow Condensed"/>
                <a:ea typeface="Barlow Condensed"/>
                <a:cs typeface="Barlow Condensed"/>
                <a:sym typeface="Barlow Condensed"/>
                <a:hlinkClick r:id="rId8"/>
              </a:rPr>
              <a:t>http://www.bls.gov/data/inflation_calculator.htm</a:t>
            </a:r>
            <a:r>
              <a:rPr lang="en" sz="2000">
                <a:solidFill>
                  <a:srgbClr val="333333"/>
                </a:solidFill>
                <a:highlight>
                  <a:srgbClr val="FFFFFF"/>
                </a:highlight>
                <a:latin typeface="Barlow Condensed"/>
                <a:ea typeface="Barlow Condensed"/>
                <a:cs typeface="Barlow Condensed"/>
                <a:sym typeface="Barlow Condensed"/>
              </a:rPr>
              <a:t>.</a:t>
            </a:r>
            <a:endParaRPr sz="2000">
              <a:highlight>
                <a:srgbClr val="FFFFFF"/>
              </a:highlight>
              <a:latin typeface="Barlow Condensed"/>
              <a:ea typeface="Barlow Condensed"/>
              <a:cs typeface="Barlow Condensed"/>
              <a:sym typeface="Barlow Condensed"/>
            </a:endParaRPr>
          </a:p>
        </p:txBody>
      </p:sp>
      <p:sp>
        <p:nvSpPr>
          <p:cNvPr id="77" name="Google Shape;77;p13"/>
          <p:cNvSpPr txBox="1"/>
          <p:nvPr/>
        </p:nvSpPr>
        <p:spPr>
          <a:xfrm>
            <a:off x="20546225" y="15055050"/>
            <a:ext cx="14455800" cy="18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41F22"/>
                </a:solidFill>
                <a:latin typeface="Barlow Condensed"/>
                <a:ea typeface="Barlow Condensed"/>
                <a:cs typeface="Barlow Condensed"/>
                <a:sym typeface="Barlow Condensed"/>
              </a:rPr>
              <a:t>Clarendon has over 40 restaurants (pinned </a:t>
            </a:r>
            <a:r>
              <a:rPr lang="en" sz="2800">
                <a:latin typeface="Barlow Condensed"/>
                <a:ea typeface="Barlow Condensed"/>
                <a:cs typeface="Barlow Condensed"/>
                <a:sym typeface="Barlow Condensed"/>
              </a:rPr>
              <a:t>in </a:t>
            </a:r>
            <a:r>
              <a:rPr lang="en" sz="2800">
                <a:highlight>
                  <a:srgbClr val="00FFFF"/>
                </a:highlight>
                <a:latin typeface="Barlow Condensed"/>
                <a:ea typeface="Barlow Condensed"/>
                <a:cs typeface="Barlow Condensed"/>
                <a:sym typeface="Barlow Condensed"/>
              </a:rPr>
              <a:t>blue</a:t>
            </a:r>
            <a:r>
              <a:rPr lang="en" sz="2800">
                <a:latin typeface="Barlow Condensed"/>
                <a:ea typeface="Barlow Condensed"/>
                <a:cs typeface="Barlow Condensed"/>
                <a:sym typeface="Barlow Condensed"/>
              </a:rPr>
              <a:t> circles</a:t>
            </a:r>
            <a:r>
              <a:rPr lang="en" sz="2800">
                <a:solidFill>
                  <a:srgbClr val="141F22"/>
                </a:solidFill>
                <a:latin typeface="Barlow Condensed"/>
                <a:ea typeface="Barlow Condensed"/>
                <a:cs typeface="Barlow Condensed"/>
                <a:sym typeface="Barlow Condensed"/>
              </a:rPr>
              <a:t>) with ABC (Alcohol and Beverage Control) licenses and an average of 5,500 patrons per weekend night. Each year, approximately 580,00 patrons visit Clarendon between 21:00 and 03:00, especially during holidays and special ”drinking” events. Alcohol-related crime counts in Clarendon on Friday, Saturday, and Sunday between 21:00 and 03:00 for 2015-2017 are given in </a:t>
            </a:r>
            <a:r>
              <a:rPr lang="en" sz="2800">
                <a:solidFill>
                  <a:srgbClr val="141F22"/>
                </a:solidFill>
                <a:highlight>
                  <a:srgbClr val="FFE599"/>
                </a:highlight>
                <a:latin typeface="Barlow Condensed"/>
                <a:ea typeface="Barlow Condensed"/>
                <a:cs typeface="Barlow Condensed"/>
                <a:sym typeface="Barlow Condensed"/>
              </a:rPr>
              <a:t>yellow</a:t>
            </a:r>
            <a:r>
              <a:rPr lang="en" sz="2800">
                <a:solidFill>
                  <a:srgbClr val="141F22"/>
                </a:solidFill>
                <a:latin typeface="Barlow Condensed"/>
                <a:ea typeface="Barlow Condensed"/>
                <a:cs typeface="Barlow Condensed"/>
                <a:sym typeface="Barlow Condensed"/>
              </a:rPr>
              <a:t> and </a:t>
            </a:r>
            <a:r>
              <a:rPr lang="en" sz="2800">
                <a:solidFill>
                  <a:srgbClr val="141F22"/>
                </a:solidFill>
                <a:highlight>
                  <a:srgbClr val="D9EAD3"/>
                </a:highlight>
                <a:latin typeface="Barlow Condensed"/>
                <a:ea typeface="Barlow Condensed"/>
                <a:cs typeface="Barlow Condensed"/>
                <a:sym typeface="Barlow Condensed"/>
              </a:rPr>
              <a:t>green</a:t>
            </a:r>
            <a:r>
              <a:rPr lang="en" sz="2800">
                <a:solidFill>
                  <a:srgbClr val="141F22"/>
                </a:solidFill>
                <a:latin typeface="Barlow Condensed"/>
                <a:ea typeface="Barlow Condensed"/>
                <a:cs typeface="Barlow Condensed"/>
                <a:sym typeface="Barlow Condensed"/>
              </a:rPr>
              <a:t> circles.</a:t>
            </a:r>
            <a:endParaRPr i="1" sz="2800">
              <a:solidFill>
                <a:srgbClr val="333333"/>
              </a:solidFill>
              <a:highlight>
                <a:srgbClr val="FFFFFF"/>
              </a:highlight>
              <a:latin typeface="Barlow Condensed"/>
              <a:ea typeface="Barlow Condensed"/>
              <a:cs typeface="Barlow Condensed"/>
              <a:sym typeface="Barlow Condensed"/>
            </a:endParaRPr>
          </a:p>
        </p:txBody>
      </p:sp>
      <p:sp>
        <p:nvSpPr>
          <p:cNvPr id="78" name="Google Shape;78;p13"/>
          <p:cNvSpPr/>
          <p:nvPr/>
        </p:nvSpPr>
        <p:spPr>
          <a:xfrm>
            <a:off x="1220425" y="21414550"/>
            <a:ext cx="9743325" cy="7025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18084050" y="21261075"/>
            <a:ext cx="10535100" cy="72270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1197575" y="30027125"/>
            <a:ext cx="11975100" cy="61436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txBox="1"/>
          <p:nvPr/>
        </p:nvSpPr>
        <p:spPr>
          <a:xfrm>
            <a:off x="10644750" y="9082900"/>
            <a:ext cx="9805500" cy="3719100"/>
          </a:xfrm>
          <a:prstGeom prst="rect">
            <a:avLst/>
          </a:prstGeom>
          <a:noFill/>
          <a:ln>
            <a:noFill/>
          </a:ln>
        </p:spPr>
        <p:txBody>
          <a:bodyPr anchorCtr="0" anchor="ctr" bIns="91425" lIns="91425" spcFirstLastPara="1" rIns="91425" wrap="square" tIns="91425">
            <a:noAutofit/>
          </a:bodyPr>
          <a:lstStyle/>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Officers working the Clarendon Detail collect activity logs (summarized on the left)  to capture information about all contacts between police and citizens on the busiest nights regardless of whether or not a formal incident report was written.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logs revealed that, despite the impact of excessive alcohol consumption on the crimes listed above, only about 10% of police contacts with the public result in an arrest.</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769150" y="16291448"/>
            <a:ext cx="19679100" cy="8919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Objective: </a:t>
            </a:r>
            <a:r>
              <a:rPr lang="en" sz="3000">
                <a:solidFill>
                  <a:srgbClr val="141F22"/>
                </a:solidFill>
                <a:latin typeface="Barlow Condensed"/>
                <a:ea typeface="Barlow Condensed"/>
                <a:cs typeface="Barlow Condensed"/>
                <a:sym typeface="Barlow Condensed"/>
              </a:rPr>
              <a:t>Evaluate effectiveness (social and economic impact) of ARI in Clarendon to help ACPD sustain and support the  program.</a:t>
            </a:r>
            <a:endParaRPr sz="3000">
              <a:solidFill>
                <a:srgbClr val="141F22"/>
              </a:solidFill>
              <a:latin typeface="Barlow Condensed"/>
              <a:ea typeface="Barlow Condensed"/>
              <a:cs typeface="Barlow Condensed"/>
              <a:sym typeface="Barlow Condensed"/>
            </a:endParaRPr>
          </a:p>
        </p:txBody>
      </p:sp>
      <p:pic>
        <p:nvPicPr>
          <p:cNvPr id="83" name="Google Shape;83;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7A28AF25-4419-468D-AF06-3EBC270FF887}"/>
</file>

<file path=customXml/itemProps2.xml><?xml version="1.0" encoding="utf-8"?>
<ds:datastoreItem xmlns:ds="http://schemas.openxmlformats.org/officeDocument/2006/customXml" ds:itemID="{CF01D0F4-D974-4DA4-A4F9-B31CF9F5FFFE}"/>
</file>

<file path=customXml/itemProps3.xml><?xml version="1.0" encoding="utf-8"?>
<ds:datastoreItem xmlns:ds="http://schemas.openxmlformats.org/officeDocument/2006/customXml" ds:itemID="{BFC9172D-BF9F-43D4-A606-82EA9282CF36}"/>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