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gif" ContentType="image/gif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6576000" cy="41549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9B4"/>
    <a:srgbClr val="5D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717"/>
  </p:normalViewPr>
  <p:slideViewPr>
    <p:cSldViewPr snapToGrid="0">
      <p:cViewPr>
        <p:scale>
          <a:sx n="55" d="100"/>
          <a:sy n="55" d="100"/>
        </p:scale>
        <p:origin x="228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015900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1919288" y="685800"/>
            <a:ext cx="30194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587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743200" y="6799909"/>
            <a:ext cx="31089600" cy="1446542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ctr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2495551" y="10358567"/>
            <a:ext cx="31546800" cy="172834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2495551" y="27805568"/>
            <a:ext cx="31546800" cy="90889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8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7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2514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18516600" y="11060667"/>
            <a:ext cx="15544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519364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2519367" y="10185435"/>
            <a:ext cx="15473360" cy="4991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2519367" y="15177159"/>
            <a:ext cx="15473360" cy="2232331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18516601" y="10185435"/>
            <a:ext cx="15549563" cy="4991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4"/>
          </p:nvPr>
        </p:nvSpPr>
        <p:spPr>
          <a:xfrm>
            <a:off x="18516601" y="15177159"/>
            <a:ext cx="15549563" cy="2232331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2519364" y="2769975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15549564" y="5982387"/>
            <a:ext cx="18516600" cy="295271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1016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203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2519364" y="2769975"/>
            <a:ext cx="11796712" cy="96949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15549564" y="5982387"/>
            <a:ext cx="18516600" cy="295271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519364" y="12464892"/>
            <a:ext cx="11796712" cy="2309275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 rot="5400000">
            <a:off x="5106567" y="8468699"/>
            <a:ext cx="26362864" cy="3154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 rot="5400000">
            <a:off x="12512353" y="15874482"/>
            <a:ext cx="35211399" cy="788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 rot="5400000">
            <a:off x="-3489648" y="8216382"/>
            <a:ext cx="35211399" cy="232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514600" y="2212142"/>
            <a:ext cx="31546800" cy="80310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-203200" algn="l" rtl="0">
              <a:lnSpc>
                <a:spcPct val="90000"/>
              </a:lnSpc>
              <a:spcBef>
                <a:spcPts val="4000"/>
              </a:spcBef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-3048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-4064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-457200" algn="l" rtl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12115800" y="38510368"/>
            <a:ext cx="12344399" cy="221213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74977" marR="0" lvl="1" indent="-807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49954" marR="0" lvl="2" indent="-3454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24932" marR="0" lvl="3" indent="-11531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499909" marR="0" lvl="4" indent="-6908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74886" marR="0" lvl="5" indent="-2285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249863" marR="0" lvl="6" indent="-10362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124841" marR="0" lvl="7" indent="-5740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999818" marR="0" lvl="8" indent="-1117" algn="l" rtl="0">
              <a:spcBef>
                <a:spcPts val="0"/>
              </a:spcBef>
              <a:buNone/>
              <a:defRPr sz="73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gif"/><Relationship Id="rId12" Type="http://schemas.openxmlformats.org/officeDocument/2006/relationships/image" Target="../media/image11.emf"/><Relationship Id="rId13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gif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Shape 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6607" y="19089439"/>
            <a:ext cx="16209265" cy="5403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8223" y="39039800"/>
            <a:ext cx="5714999" cy="18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/>
          <p:nvPr/>
        </p:nvSpPr>
        <p:spPr>
          <a:xfrm>
            <a:off x="11134165" y="555509"/>
            <a:ext cx="24747529" cy="30469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buSzPct val="25000"/>
              <a:buNone/>
            </a:pPr>
            <a:r>
              <a:rPr lang="en-US" sz="16000" u="none" strike="noStrike" cap="none" dirty="0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Characterizing Administrative Data </a:t>
            </a:r>
            <a:r>
              <a:rPr lang="en-US" sz="16000" u="none" strike="noStrike" cap="none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Quality</a:t>
            </a:r>
            <a:r>
              <a:rPr lang="en-US" sz="16000" u="none" strike="noStrike" cap="none" smtClean="0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:</a:t>
            </a:r>
            <a:endParaRPr lang="en-US" sz="16000" u="none" strike="noStrike" cap="none" dirty="0">
              <a:solidFill>
                <a:schemeClr val="dk1"/>
              </a:solidFill>
              <a:latin typeface="Blanch Caps" charset="0"/>
              <a:ea typeface="Blanch Caps" charset="0"/>
              <a:cs typeface="Blanch Caps" charset="0"/>
              <a:sym typeface="Arial"/>
            </a:endParaRPr>
          </a:p>
        </p:txBody>
      </p:sp>
      <p:sp>
        <p:nvSpPr>
          <p:cNvPr id="91" name="Shape 91"/>
          <p:cNvSpPr txBox="1"/>
          <p:nvPr/>
        </p:nvSpPr>
        <p:spPr>
          <a:xfrm>
            <a:off x="1781964" y="12406542"/>
            <a:ext cx="16098896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Creating the Template</a:t>
            </a:r>
          </a:p>
        </p:txBody>
      </p:sp>
      <p:sp>
        <p:nvSpPr>
          <p:cNvPr id="92" name="Shape 92"/>
          <p:cNvSpPr txBox="1"/>
          <p:nvPr/>
        </p:nvSpPr>
        <p:spPr>
          <a:xfrm>
            <a:off x="27749100" y="39409415"/>
            <a:ext cx="7455298" cy="46166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sz="2400">
                <a:solidFill>
                  <a:srgbClr val="757070"/>
                </a:solidFill>
                <a:latin typeface="Raleway"/>
                <a:ea typeface="Raleway"/>
                <a:cs typeface="Raleway"/>
                <a:sym typeface="Raleway"/>
              </a:rPr>
              <a:t>bi.vt.edu/sdal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11134165" y="4395637"/>
            <a:ext cx="24070233" cy="1446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buSzPct val="25000"/>
              <a:buNone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Adrienne Rogers (Virginia </a:t>
            </a:r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Tech)</a:t>
            </a:r>
          </a:p>
          <a:p>
            <a:pPr marL="0" marR="0" lvl="0" indent="0" rtl="0">
              <a:spcBef>
                <a:spcPts val="0"/>
              </a:spcBef>
              <a:buSzPct val="25000"/>
              <a:buNone/>
            </a:pPr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Project Team : Aaron Schroeder (SDAL), Lin Tan, Isabel </a:t>
            </a:r>
            <a:r>
              <a:rPr lang="en-US" sz="3600" dirty="0" err="1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Bradburn</a:t>
            </a:r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 (Human Development, VT)</a:t>
            </a:r>
            <a:endParaRPr lang="en-US" sz="3600" dirty="0">
              <a:solidFill>
                <a:schemeClr val="tx2">
                  <a:lumMod val="50000"/>
                </a:schemeClr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4" name="Shape 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92455" y="26561525"/>
            <a:ext cx="7783379" cy="5110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Shape 9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2715" y="32081507"/>
            <a:ext cx="10448688" cy="649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Shape 97"/>
          <p:cNvPicPr preferRelativeResize="0"/>
          <p:nvPr/>
        </p:nvPicPr>
        <p:blipFill rotWithShape="1">
          <a:blip r:embed="rId7">
            <a:alphaModFix/>
          </a:blip>
          <a:srcRect r="5329" b="1438"/>
          <a:stretch/>
        </p:blipFill>
        <p:spPr>
          <a:xfrm>
            <a:off x="2430812" y="32297853"/>
            <a:ext cx="4823958" cy="60152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hape 98"/>
          <p:cNvSpPr/>
          <p:nvPr/>
        </p:nvSpPr>
        <p:spPr>
          <a:xfrm>
            <a:off x="2105290" y="26156745"/>
            <a:ext cx="15636828" cy="609397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Definition: </a:t>
            </a:r>
            <a:r>
              <a:rPr lang="en-US" sz="3000" b="1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code for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one or more races a student identifies with (often prone to changes over time)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Dates Collected: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2005-2015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During the collection period, starting with the 2010-2011 school year, the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“Race Type”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expanded to allow students to choose multiple races and separately specify Hispanic ethnicity.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this process categories were eliminated. Eliminated categories included the ‘Unspecified or Unknown’ category and the ‘Hispanic’ category. A student with Hispanic ethnicity is now captured under the ethnic flag variable.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Due to this change,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“Race Type”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is one of the few variables which undergoes all data element checks, including both record and longitudinal consistencies.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“Race Type”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is expected to have longitudinal inconsistencies due to both the change and the nature of personal reporting.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20767312" y="8477995"/>
            <a:ext cx="13017359" cy="19389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Record Collection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VLDS Data Collection reporting requirements of the No Child Left Behind (NCLB)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Act. Includes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demographics, special needs information, classroom environment, etc. 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19391609" y="12155902"/>
            <a:ext cx="15299460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Defining and Testing Record Consistency Rules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19458351" y="25217483"/>
            <a:ext cx="30224561" cy="78483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Testing Longitudinal Consistency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19391609" y="13550682"/>
            <a:ext cx="7393444" cy="51706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Variables are often interrelated. In the case of the variable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“Race Type”,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certain codes cannot be used for certain school years, due to changes in the recording process. To ensure data quality, the dataset must be checked against these rules.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“Race Type”,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record consistency shows how quickly the reporting changes are catching on and being properly recorded. 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2488222" y="13695737"/>
            <a:ext cx="15472568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buNone/>
            </a:pP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Shape 104"/>
          <p:cNvSpPr txBox="1"/>
          <p:nvPr/>
        </p:nvSpPr>
        <p:spPr>
          <a:xfrm>
            <a:off x="2105291" y="7257610"/>
            <a:ext cx="17472398" cy="470898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Nationally, states collect student records from all public schools for reporting and accountability purposes. 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These data are available </a:t>
            </a: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through statewide longitudinal data systems (SLDS)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States use SLDS data to conduct research to inform policy.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en-US" sz="15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endParaRPr sz="15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Virginia Tech (VT) developed a template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help researchers better understand the administrative data elements they are interested in and better select the data for use. 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with the Virginia Department of Education (VDOE), VT iteratively tested and refined the template.  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Shape 105"/>
          <p:cNvSpPr txBox="1"/>
          <p:nvPr/>
        </p:nvSpPr>
        <p:spPr>
          <a:xfrm>
            <a:off x="19501987" y="26275125"/>
            <a:ext cx="7547975" cy="563231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longitudinal studies, it is possible to see if demographic records are the same every year, e.g. age, gender, grade.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“Race Type”, </a:t>
            </a: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longitudinal consistency is assessed to see whether records reacted to the changes in reporting policy. 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Around 2010 (the year the Decennial Census is collected), the data show the greatest number of inconsistencies and then decline steadily over time. 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20767312" y="10487440"/>
            <a:ext cx="13017359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b="1" dirty="0">
                <a:solidFill>
                  <a:schemeClr val="dk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Data set Summary</a:t>
            </a:r>
            <a:r>
              <a:rPr lang="en-US" sz="3000" dirty="0">
                <a:solidFill>
                  <a:schemeClr val="dk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 dirty="0">
                <a:solidFill>
                  <a:schemeClr val="dk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Variable Count: 95    Total Record Count: 42,134,526</a:t>
            </a:r>
          </a:p>
        </p:txBody>
      </p:sp>
      <p:pic>
        <p:nvPicPr>
          <p:cNvPr id="107" name="Shape 107" descr="http://vlds.virginia.gov/media/1006/logo-lar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72148" y="6385046"/>
            <a:ext cx="5237619" cy="1864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Shape 10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697043" y="13581382"/>
            <a:ext cx="6412884" cy="50547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Shape 110"/>
          <p:cNvSpPr txBox="1"/>
          <p:nvPr/>
        </p:nvSpPr>
        <p:spPr>
          <a:xfrm>
            <a:off x="5775158" y="19988720"/>
            <a:ext cx="12089378" cy="553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number of missing values and the percent not null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3885258" y="20634718"/>
            <a:ext cx="13793140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874977" marR="0" lvl="1" indent="-8077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number of values not defined by the data dictionary and the percent of those which are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3885258" y="21758487"/>
            <a:ext cx="13793140" cy="553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874977" marR="0" lvl="1" indent="-8077" algn="just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frequency of </a:t>
            </a:r>
            <a:r>
              <a:rPr lang="en-US" sz="30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unique values </a:t>
            </a:r>
            <a:endParaRPr lang="en-US" sz="30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Shape 113"/>
          <p:cNvSpPr/>
          <p:nvPr/>
        </p:nvSpPr>
        <p:spPr>
          <a:xfrm>
            <a:off x="3866208" y="22420590"/>
            <a:ext cx="13297841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874977" marR="0" lvl="1" indent="-8077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number of records not behaving by the rules defined in the data dictionary and the percent which are behaving</a:t>
            </a:r>
          </a:p>
        </p:txBody>
      </p:sp>
      <p:sp>
        <p:nvSpPr>
          <p:cNvPr id="114" name="Shape 114"/>
          <p:cNvSpPr/>
          <p:nvPr/>
        </p:nvSpPr>
        <p:spPr>
          <a:xfrm>
            <a:off x="3885258" y="23446131"/>
            <a:ext cx="13050191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874977" marR="0" lvl="1" indent="-8077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percent of variables which remain appropriately consistent across record collection periods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2054398" y="13776660"/>
            <a:ext cx="4801045" cy="553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buSzPct val="25000"/>
              <a:buNone/>
            </a:pPr>
            <a:r>
              <a:rPr lang="en-US" sz="30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Rules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7461613" y="13786540"/>
            <a:ext cx="4801045" cy="553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buSzPct val="25000"/>
              <a:buNone/>
            </a:pPr>
            <a:r>
              <a:rPr lang="en-US" sz="30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Automating Publication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12830509" y="13795166"/>
            <a:ext cx="4801045" cy="553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buSzPct val="25000"/>
              <a:buNone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Formatting Design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2054398" y="14509573"/>
            <a:ext cx="4801045" cy="240065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a set of rules for each variable in the dataset by using the data dictionary. These rules were coded using SQL. </a:t>
            </a:r>
          </a:p>
        </p:txBody>
      </p:sp>
      <p:sp>
        <p:nvSpPr>
          <p:cNvPr id="121" name="Shape 121"/>
          <p:cNvSpPr txBox="1"/>
          <p:nvPr/>
        </p:nvSpPr>
        <p:spPr>
          <a:xfrm>
            <a:off x="7461613" y="14555415"/>
            <a:ext cx="4912592" cy="37856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order to apply the code for these rules to a variety of variables, the template was created in R Markdown to allow the user to rerun the document for different variables by only changing the ‘column name’ section. 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12823153" y="14568912"/>
            <a:ext cx="5041383" cy="286232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Using HTML code for layout and R for </a:t>
            </a:r>
            <a:r>
              <a:rPr lang="en-US" sz="3000" b="0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plots enabled a systematic, easy-to-use format</a:t>
            </a:r>
            <a:endParaRPr lang="en-US" sz="30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Shape 123"/>
          <p:cNvSpPr txBox="1"/>
          <p:nvPr/>
        </p:nvSpPr>
        <p:spPr>
          <a:xfrm>
            <a:off x="2105291" y="16979176"/>
            <a:ext cx="4750151" cy="147732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buSzPct val="25000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Ex. “SELECT variable FROM data set WHERE variable IS NULL’”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9172481" y="39363250"/>
            <a:ext cx="16862518" cy="10156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000">
                <a:solidFill>
                  <a:srgbClr val="C1CDC1"/>
                </a:solidFill>
                <a:latin typeface="Trebuchet MS"/>
                <a:ea typeface="Trebuchet MS"/>
                <a:cs typeface="Trebuchet MS"/>
                <a:sym typeface="Trebuchet MS"/>
              </a:rPr>
              <a:t>Acknowledgment: NSF REU, supplement to </a:t>
            </a:r>
            <a:r>
              <a:rPr lang="en-US" sz="3000" i="1">
                <a:solidFill>
                  <a:srgbClr val="C1CDC1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Research Infrastructure and Community to Advance Social Scientific and Educational Use of Administrative Data</a:t>
            </a:r>
            <a:r>
              <a:rPr lang="en-US" sz="3000">
                <a:solidFill>
                  <a:srgbClr val="C1CDC1"/>
                </a:solidFill>
                <a:latin typeface="Trebuchet MS"/>
                <a:ea typeface="Trebuchet MS"/>
                <a:cs typeface="Trebuchet MS"/>
                <a:sym typeface="Trebuchet MS"/>
              </a:rPr>
              <a:t> (#1338491)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1823" y="31475888"/>
            <a:ext cx="14799578" cy="73997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1987" y="18055059"/>
            <a:ext cx="14797392" cy="739869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23" y="957385"/>
            <a:ext cx="8712200" cy="3530600"/>
          </a:xfrm>
          <a:prstGeom prst="rect">
            <a:avLst/>
          </a:prstGeom>
        </p:spPr>
      </p:pic>
      <p:sp>
        <p:nvSpPr>
          <p:cNvPr id="45" name="Shape 89"/>
          <p:cNvSpPr txBox="1"/>
          <p:nvPr/>
        </p:nvSpPr>
        <p:spPr>
          <a:xfrm>
            <a:off x="11134165" y="1905338"/>
            <a:ext cx="24747529" cy="30469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n-US" sz="16000">
                <a:solidFill>
                  <a:schemeClr val="dk1"/>
                </a:solidFill>
                <a:latin typeface="Blanch Caps" charset="0"/>
                <a:ea typeface="Blanch Caps" charset="0"/>
                <a:cs typeface="Blanch Caps" charset="0"/>
              </a:rPr>
              <a:t>A New Tool</a:t>
            </a:r>
            <a:endParaRPr lang="en-US" sz="16000" u="none" strike="noStrike" cap="none" dirty="0">
              <a:solidFill>
                <a:schemeClr val="dk1"/>
              </a:solidFill>
              <a:latin typeface="Blanch Caps" charset="0"/>
              <a:ea typeface="Blanch Caps" charset="0"/>
              <a:cs typeface="Blanch Caps" charset="0"/>
              <a:sym typeface="Arial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8906"/>
            <a:ext cx="15495932" cy="1866671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6639"/>
            <a:ext cx="15495932" cy="1866671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60506"/>
            <a:ext cx="15495932" cy="1866671"/>
          </a:xfrm>
          <a:prstGeom prst="rect">
            <a:avLst/>
          </a:prstGeom>
        </p:spPr>
      </p:pic>
      <p:sp>
        <p:nvSpPr>
          <p:cNvPr id="95" name="Shape 95"/>
          <p:cNvSpPr txBox="1"/>
          <p:nvPr/>
        </p:nvSpPr>
        <p:spPr>
          <a:xfrm>
            <a:off x="1781964" y="24893785"/>
            <a:ext cx="15699669" cy="103891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000" dirty="0" smtClean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“Race Type” </a:t>
            </a:r>
            <a:r>
              <a:rPr lang="en-US" sz="6000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Variable </a:t>
            </a:r>
            <a:r>
              <a:rPr lang="en-US" sz="6000" dirty="0" smtClean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Summary Example</a:t>
            </a:r>
            <a:endParaRPr lang="en-US" sz="6000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Shape 90"/>
          <p:cNvSpPr txBox="1"/>
          <p:nvPr/>
        </p:nvSpPr>
        <p:spPr>
          <a:xfrm>
            <a:off x="1781964" y="5878492"/>
            <a:ext cx="13035793" cy="10926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Overview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67" y="12253739"/>
            <a:ext cx="15495932" cy="1866671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367" y="25198464"/>
            <a:ext cx="15495932" cy="186667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594339" y="4449557"/>
            <a:ext cx="731383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5D89B4"/>
                </a:solidFill>
                <a:latin typeface="Raleway" charset="0"/>
                <a:ea typeface="Raleway" charset="0"/>
                <a:cs typeface="Raleway" charset="0"/>
              </a:rPr>
              <a:t>Data Science for the Public Good</a:t>
            </a:r>
            <a:endParaRPr lang="en-US" sz="3500" b="1" dirty="0" smtClean="0">
              <a:solidFill>
                <a:srgbClr val="5D89B4"/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670</Words>
  <Application>Microsoft Macintosh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Blanch Caps</vt:lpstr>
      <vt:lpstr>Calibri</vt:lpstr>
      <vt:lpstr>Raleway</vt:lpstr>
      <vt:lpstr>Trebuchet MS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Adrienne Rogers</dc:creator>
  <cp:lastModifiedBy>Alex Crookshanks</cp:lastModifiedBy>
  <cp:revision>8</cp:revision>
  <dcterms:modified xsi:type="dcterms:W3CDTF">2016-08-23T15:24:10Z</dcterms:modified>
</cp:coreProperties>
</file>