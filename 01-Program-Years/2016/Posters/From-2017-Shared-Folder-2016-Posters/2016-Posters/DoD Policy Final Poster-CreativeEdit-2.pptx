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36576000" cy="41549638"/>
  <p:notesSz cx="6858000" cy="9144000"/>
  <p:defaultTextStyle>
    <a:defPPr>
      <a:defRPr lang="en-US"/>
    </a:defPPr>
    <a:lvl1pPr marL="0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1pPr>
    <a:lvl2pPr marL="1874977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2pPr>
    <a:lvl3pPr marL="3749954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3pPr>
    <a:lvl4pPr marL="5624932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4pPr>
    <a:lvl5pPr marL="7499909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5pPr>
    <a:lvl6pPr marL="9374886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6pPr>
    <a:lvl7pPr marL="11249863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7pPr>
    <a:lvl8pPr marL="13124840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8pPr>
    <a:lvl9pPr marL="14999818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293">
          <p15:clr>
            <a:srgbClr val="A4A3A4"/>
          </p15:clr>
        </p15:guide>
        <p15:guide id="2" pos="1118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4C75A4"/>
    <a:srgbClr val="E9F5FF"/>
    <a:srgbClr val="DDEA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33315"/>
    <p:restoredTop sz="95930"/>
  </p:normalViewPr>
  <p:slideViewPr>
    <p:cSldViewPr snapToGrid="0" snapToObjects="1">
      <p:cViewPr>
        <p:scale>
          <a:sx n="35" d="100"/>
          <a:sy n="35" d="100"/>
        </p:scale>
        <p:origin x="6216" y="144"/>
      </p:cViewPr>
      <p:guideLst>
        <p:guide orient="horz" pos="13293"/>
        <p:guide pos="111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D952C8-58A8-6845-938E-77BE031C6269}" type="datetimeFigureOut">
              <a:rPr lang="en-US" smtClean="0"/>
              <a:t>8/23/16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70100" y="1143000"/>
            <a:ext cx="2717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176B4C-A4A1-7D40-A959-CDB1EEF17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289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176B4C-A4A1-7D40-A959-CDB1EEF1781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728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0" y="6799909"/>
            <a:ext cx="31089600" cy="14465430"/>
          </a:xfrm>
        </p:spPr>
        <p:txBody>
          <a:bodyPr anchor="b"/>
          <a:lstStyle>
            <a:lvl1pPr algn="ctr">
              <a:defRPr sz="2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21823181"/>
            <a:ext cx="27432000" cy="10031542"/>
          </a:xfrm>
        </p:spPr>
        <p:txBody>
          <a:bodyPr/>
          <a:lstStyle>
            <a:lvl1pPr marL="0" indent="0" algn="ctr">
              <a:buNone/>
              <a:defRPr sz="9600"/>
            </a:lvl1pPr>
            <a:lvl2pPr marL="1828800" indent="0" algn="ctr">
              <a:buNone/>
              <a:defRPr sz="8000"/>
            </a:lvl2pPr>
            <a:lvl3pPr marL="3657600" indent="0" algn="ctr">
              <a:buNone/>
              <a:defRPr sz="7200"/>
            </a:lvl3pPr>
            <a:lvl4pPr marL="5486400" indent="0" algn="ctr">
              <a:buNone/>
              <a:defRPr sz="6400"/>
            </a:lvl4pPr>
            <a:lvl5pPr marL="7315200" indent="0" algn="ctr">
              <a:buNone/>
              <a:defRPr sz="6400"/>
            </a:lvl5pPr>
            <a:lvl6pPr marL="9144000" indent="0" algn="ctr">
              <a:buNone/>
              <a:defRPr sz="6400"/>
            </a:lvl6pPr>
            <a:lvl7pPr marL="10972800" indent="0" algn="ctr">
              <a:buNone/>
              <a:defRPr sz="6400"/>
            </a:lvl7pPr>
            <a:lvl8pPr marL="12801600" indent="0" algn="ctr">
              <a:buNone/>
              <a:defRPr sz="6400"/>
            </a:lvl8pPr>
            <a:lvl9pPr marL="14630400" indent="0" algn="ctr">
              <a:buNone/>
              <a:defRPr sz="64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8/23/16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273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8/23/16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938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2" y="10358568"/>
            <a:ext cx="31546800" cy="17283492"/>
          </a:xfrm>
        </p:spPr>
        <p:txBody>
          <a:bodyPr anchor="b"/>
          <a:lstStyle>
            <a:lvl1pPr>
              <a:defRPr sz="2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2" y="27805569"/>
            <a:ext cx="31546800" cy="9088980"/>
          </a:xfrm>
        </p:spPr>
        <p:txBody>
          <a:bodyPr/>
          <a:lstStyle>
            <a:lvl1pPr marL="0" indent="0">
              <a:buNone/>
              <a:defRPr sz="9600">
                <a:solidFill>
                  <a:schemeClr val="tx1"/>
                </a:solidFill>
              </a:defRPr>
            </a:lvl1pPr>
            <a:lvl2pPr marL="1828800" indent="0">
              <a:buNone/>
              <a:defRPr sz="8000">
                <a:solidFill>
                  <a:schemeClr val="tx1">
                    <a:tint val="75000"/>
                  </a:schemeClr>
                </a:solidFill>
              </a:defRPr>
            </a:lvl2pPr>
            <a:lvl3pPr marL="365760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3pPr>
            <a:lvl4pPr marL="54864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4pPr>
            <a:lvl5pPr marL="73152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5pPr>
            <a:lvl6pPr marL="91440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6pPr>
            <a:lvl7pPr marL="109728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7pPr>
            <a:lvl8pPr marL="128016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8pPr>
            <a:lvl9pPr marL="146304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8/23/16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320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0" y="11060667"/>
            <a:ext cx="15544800" cy="2636286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0" y="11060667"/>
            <a:ext cx="15544800" cy="2636286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8/23/16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579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212143"/>
            <a:ext cx="31546800" cy="803100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68" y="10185435"/>
            <a:ext cx="15473360" cy="4991724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68" y="15177160"/>
            <a:ext cx="15473360" cy="2232331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2" y="10185435"/>
            <a:ext cx="15549564" cy="4991724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2" y="15177160"/>
            <a:ext cx="15549564" cy="2232331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8/23/16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215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8/23/16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996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8/23/16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144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769976"/>
            <a:ext cx="11796712" cy="9694916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4" y="5982388"/>
            <a:ext cx="18516600" cy="29527173"/>
          </a:xfrm>
        </p:spPr>
        <p:txBody>
          <a:bodyPr/>
          <a:lstStyle>
            <a:lvl1pPr>
              <a:defRPr sz="12800"/>
            </a:lvl1pPr>
            <a:lvl2pPr>
              <a:defRPr sz="11200"/>
            </a:lvl2pPr>
            <a:lvl3pPr>
              <a:defRPr sz="9600"/>
            </a:lvl3pPr>
            <a:lvl4pPr>
              <a:defRPr sz="8000"/>
            </a:lvl4pPr>
            <a:lvl5pPr>
              <a:defRPr sz="8000"/>
            </a:lvl5pPr>
            <a:lvl6pPr>
              <a:defRPr sz="8000"/>
            </a:lvl6pPr>
            <a:lvl7pPr>
              <a:defRPr sz="8000"/>
            </a:lvl7pPr>
            <a:lvl8pPr>
              <a:defRPr sz="8000"/>
            </a:lvl8pPr>
            <a:lvl9pPr>
              <a:defRPr sz="8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4" y="12464892"/>
            <a:ext cx="11796712" cy="23092753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8/23/16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60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769976"/>
            <a:ext cx="11796712" cy="9694916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4" y="5982388"/>
            <a:ext cx="18516600" cy="29527173"/>
          </a:xfrm>
        </p:spPr>
        <p:txBody>
          <a:bodyPr anchor="t"/>
          <a:lstStyle>
            <a:lvl1pPr marL="0" indent="0">
              <a:buNone/>
              <a:defRPr sz="12800"/>
            </a:lvl1pPr>
            <a:lvl2pPr marL="1828800" indent="0">
              <a:buNone/>
              <a:defRPr sz="11200"/>
            </a:lvl2pPr>
            <a:lvl3pPr marL="3657600" indent="0">
              <a:buNone/>
              <a:defRPr sz="9600"/>
            </a:lvl3pPr>
            <a:lvl4pPr marL="5486400" indent="0">
              <a:buNone/>
              <a:defRPr sz="8000"/>
            </a:lvl4pPr>
            <a:lvl5pPr marL="7315200" indent="0">
              <a:buNone/>
              <a:defRPr sz="8000"/>
            </a:lvl5pPr>
            <a:lvl6pPr marL="9144000" indent="0">
              <a:buNone/>
              <a:defRPr sz="8000"/>
            </a:lvl6pPr>
            <a:lvl7pPr marL="10972800" indent="0">
              <a:buNone/>
              <a:defRPr sz="8000"/>
            </a:lvl7pPr>
            <a:lvl8pPr marL="12801600" indent="0">
              <a:buNone/>
              <a:defRPr sz="8000"/>
            </a:lvl8pPr>
            <a:lvl9pPr marL="14630400" indent="0">
              <a:buNone/>
              <a:defRPr sz="8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4" y="12464892"/>
            <a:ext cx="11796712" cy="23092753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8/23/16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80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8/23/16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270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2" y="2212133"/>
            <a:ext cx="7886700" cy="352113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2" y="2212133"/>
            <a:ext cx="23202900" cy="3521139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8/23/16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148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2212143"/>
            <a:ext cx="31546800" cy="8031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11060667"/>
            <a:ext cx="31546800" cy="26362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0" y="38510368"/>
            <a:ext cx="8229600" cy="2212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D1B2C-7FEC-A643-940A-7934DC981F4F}" type="datetimeFigureOut">
              <a:rPr lang="en-US" smtClean="0"/>
              <a:t>8/23/16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0" y="38510368"/>
            <a:ext cx="12344400" cy="2212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0" y="38510368"/>
            <a:ext cx="8229600" cy="2212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32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57600" rtl="0" eaLnBrk="1" latinLnBrk="0" hangingPunct="1">
        <a:lnSpc>
          <a:spcPct val="90000"/>
        </a:lnSpc>
        <a:spcBef>
          <a:spcPct val="0"/>
        </a:spcBef>
        <a:buNone/>
        <a:defRPr sz="17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0" indent="-914400" algn="l" defTabSz="3657600" rtl="0" eaLnBrk="1" latinLnBrk="0" hangingPunct="1">
        <a:lnSpc>
          <a:spcPct val="90000"/>
        </a:lnSpc>
        <a:spcBef>
          <a:spcPts val="4000"/>
        </a:spcBef>
        <a:buFont typeface="Arial" panose="020B0604020202020204" pitchFamily="34" charset="0"/>
        <a:buChar char="•"/>
        <a:defRPr sz="112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8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2.emf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emf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415543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576" y="959347"/>
            <a:ext cx="8712200" cy="3530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788" y="11548036"/>
            <a:ext cx="15495932" cy="18666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311375" y="705683"/>
            <a:ext cx="2247622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0" dirty="0">
                <a:latin typeface="Blanch Caps" charset="0"/>
                <a:ea typeface="Blanch Caps" charset="0"/>
                <a:cs typeface="Blanch Caps" charset="0"/>
              </a:rPr>
              <a:t>Characterizing Factors that Might </a:t>
            </a:r>
            <a:r>
              <a:rPr lang="en-US" sz="15000" dirty="0" smtClean="0">
                <a:latin typeface="Blanch Caps" charset="0"/>
                <a:ea typeface="Blanch Caps" charset="0"/>
                <a:cs typeface="Blanch Caps" charset="0"/>
              </a:rPr>
              <a:t>Affect</a:t>
            </a:r>
            <a:endParaRPr lang="en-US" sz="15000" dirty="0">
              <a:latin typeface="Blanch Caps" charset="0"/>
              <a:ea typeface="Blanch Caps" charset="0"/>
              <a:cs typeface="Blanch Caps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51485" y="5514660"/>
            <a:ext cx="14305863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00" dirty="0" smtClean="0">
                <a:latin typeface="Raleway Medium" charset="0"/>
                <a:ea typeface="Raleway Medium" charset="0"/>
                <a:cs typeface="Raleway Medium" charset="0"/>
              </a:rPr>
              <a:t>Policy Analysis </a:t>
            </a:r>
            <a:endParaRPr lang="en-US" sz="6500" dirty="0">
              <a:latin typeface="Raleway Medium" charset="0"/>
              <a:ea typeface="Raleway Medium" charset="0"/>
              <a:cs typeface="Raleway Medium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388794" y="11583657"/>
            <a:ext cx="130357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>
                <a:latin typeface="Raleway Medium" charset="0"/>
                <a:ea typeface="Raleway Medium" charset="0"/>
                <a:cs typeface="Raleway Medium" charset="0"/>
              </a:rPr>
              <a:t>Directive Selection Criteria </a:t>
            </a:r>
            <a:endParaRPr lang="en-US" sz="5400" dirty="0">
              <a:latin typeface="Raleway Medium" charset="0"/>
              <a:ea typeface="Raleway Medium" charset="0"/>
              <a:cs typeface="Raleway Medium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155447" y="4446230"/>
            <a:ext cx="242515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2">
                    <a:lumMod val="50000"/>
                  </a:schemeClr>
                </a:solidFill>
                <a:latin typeface="Raleway Medium"/>
                <a:ea typeface="Raleway" charset="0"/>
                <a:cs typeface="Raleway Medium"/>
              </a:rPr>
              <a:t>Madison </a:t>
            </a:r>
            <a:r>
              <a:rPr lang="en-US" sz="3200" dirty="0" err="1" smtClean="0">
                <a:solidFill>
                  <a:schemeClr val="bg2">
                    <a:lumMod val="50000"/>
                  </a:schemeClr>
                </a:solidFill>
                <a:latin typeface="Raleway Medium"/>
                <a:ea typeface="Raleway" charset="0"/>
                <a:cs typeface="Raleway Medium"/>
              </a:rPr>
              <a:t>Arnsbargar</a:t>
            </a:r>
            <a:r>
              <a:rPr lang="en-US" sz="3200" dirty="0" smtClean="0">
                <a:solidFill>
                  <a:schemeClr val="bg2">
                    <a:lumMod val="50000"/>
                  </a:schemeClr>
                </a:solidFill>
                <a:latin typeface="Raleway Medium"/>
                <a:ea typeface="Raleway" charset="0"/>
                <a:cs typeface="Raleway Medium"/>
              </a:rPr>
              <a:t> (Virginia Tech), Jessica Flynn (Cornell University), Emily Stark (Austin </a:t>
            </a:r>
            <a:r>
              <a:rPr lang="en-US" sz="3200" dirty="0" err="1" smtClean="0">
                <a:solidFill>
                  <a:schemeClr val="bg2">
                    <a:lumMod val="50000"/>
                  </a:schemeClr>
                </a:solidFill>
                <a:latin typeface="Raleway Medium"/>
                <a:ea typeface="Raleway" charset="0"/>
                <a:cs typeface="Raleway Medium"/>
              </a:rPr>
              <a:t>Peay</a:t>
            </a:r>
            <a:r>
              <a:rPr lang="en-US" sz="3200" dirty="0" smtClean="0">
                <a:solidFill>
                  <a:schemeClr val="bg2">
                    <a:lumMod val="50000"/>
                  </a:schemeClr>
                </a:solidFill>
                <a:latin typeface="Raleway Medium"/>
                <a:ea typeface="Raleway" charset="0"/>
                <a:cs typeface="Raleway Medium"/>
              </a:rPr>
              <a:t>), with Kathryn Ziemer (SDAL)</a:t>
            </a:r>
          </a:p>
          <a:p>
            <a:r>
              <a:rPr lang="en-US" sz="3200" dirty="0" smtClean="0">
                <a:solidFill>
                  <a:schemeClr val="bg2">
                    <a:lumMod val="50000"/>
                  </a:schemeClr>
                </a:solidFill>
                <a:latin typeface="Raleway Medium"/>
                <a:ea typeface="Raleway" charset="0"/>
                <a:cs typeface="Raleway Medium"/>
              </a:rPr>
              <a:t>Sponsor: Gregory A. </a:t>
            </a:r>
            <a:r>
              <a:rPr lang="en-US" sz="3200" dirty="0" err="1" smtClean="0">
                <a:solidFill>
                  <a:schemeClr val="bg2">
                    <a:lumMod val="50000"/>
                  </a:schemeClr>
                </a:solidFill>
                <a:latin typeface="Raleway Medium"/>
                <a:ea typeface="Raleway" charset="0"/>
                <a:cs typeface="Raleway Medium"/>
              </a:rPr>
              <a:t>Ruark</a:t>
            </a:r>
            <a:r>
              <a:rPr lang="en-US" sz="3200" dirty="0" smtClean="0">
                <a:solidFill>
                  <a:schemeClr val="bg2">
                    <a:lumMod val="50000"/>
                  </a:schemeClr>
                </a:solidFill>
                <a:latin typeface="Raleway Medium"/>
                <a:ea typeface="Raleway" charset="0"/>
                <a:cs typeface="Raleway Medium"/>
              </a:rPr>
              <a:t>, U.S. Army Research Institute for the Behavioral and Social Sciences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495002" y="12890426"/>
            <a:ext cx="357993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dirty="0" smtClean="0">
                <a:latin typeface="Trebuchet MS" charset="0"/>
                <a:ea typeface="Trebuchet MS" charset="0"/>
                <a:cs typeface="Trebuchet MS" charset="0"/>
              </a:rPr>
              <a:t>DoD Directive </a:t>
            </a:r>
            <a:endParaRPr lang="en-US" sz="3400" b="1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77428" y="12875420"/>
            <a:ext cx="8118817" cy="17173932"/>
          </a:xfrm>
          <a:prstGeom prst="rect">
            <a:avLst/>
          </a:prstGeom>
          <a:solidFill>
            <a:srgbClr val="E9F5FF"/>
          </a:solidFill>
        </p:spPr>
        <p:txBody>
          <a:bodyPr wrap="square" rtlCol="0">
            <a:spAutoFit/>
          </a:bodyPr>
          <a:lstStyle/>
          <a:p>
            <a:r>
              <a:rPr lang="en-US" sz="3000" b="1" dirty="0" smtClean="0">
                <a:latin typeface="Trebuchet MS" charset="0"/>
                <a:ea typeface="Trebuchet MS" charset="0"/>
                <a:cs typeface="Trebuchet MS" charset="0"/>
              </a:rPr>
              <a:t>Retirement</a:t>
            </a:r>
            <a:endParaRPr lang="en-US" sz="3000" b="1" dirty="0">
              <a:latin typeface="Trebuchet MS" charset="0"/>
              <a:ea typeface="Trebuchet MS" charset="0"/>
              <a:cs typeface="Trebuchet MS" charset="0"/>
            </a:endParaRPr>
          </a:p>
          <a:p>
            <a:pPr marL="457200" indent="-457200">
              <a:buFont typeface="Arial" charset="0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Benefits</a:t>
            </a:r>
            <a:endParaRPr lang="en-US" sz="3000" dirty="0">
              <a:latin typeface="Trebuchet MS" charset="0"/>
              <a:ea typeface="Trebuchet MS" charset="0"/>
              <a:cs typeface="Trebuchet MS" charset="0"/>
            </a:endParaRP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Veteran status </a:t>
            </a:r>
            <a:endParaRPr lang="en-US" sz="3000" dirty="0" smtClean="0">
              <a:latin typeface="Trebuchet MS" charset="0"/>
              <a:ea typeface="Trebuchet MS" charset="0"/>
              <a:cs typeface="Trebuchet MS" charset="0"/>
            </a:endParaRPr>
          </a:p>
          <a:p>
            <a:pPr marL="457200" indent="-457200">
              <a:buFont typeface="Arial" charset="0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Training </a:t>
            </a: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for civilian jobs</a:t>
            </a:r>
          </a:p>
          <a:p>
            <a:r>
              <a:rPr lang="en-US" sz="3000" b="1" dirty="0">
                <a:latin typeface="Trebuchet MS" charset="0"/>
                <a:ea typeface="Trebuchet MS" charset="0"/>
                <a:cs typeface="Trebuchet MS" charset="0"/>
              </a:rPr>
              <a:t>Safety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Laws regarding who can use which </a:t>
            </a: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weapons</a:t>
            </a:r>
            <a:endParaRPr lang="en-US" sz="3000" dirty="0">
              <a:latin typeface="Trebuchet MS" charset="0"/>
              <a:ea typeface="Trebuchet MS" charset="0"/>
              <a:cs typeface="Trebuchet MS" charset="0"/>
            </a:endParaRP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Dealing with internal/foreign threats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Sexual harassment</a:t>
            </a:r>
          </a:p>
          <a:p>
            <a:r>
              <a:rPr lang="en-US" sz="3000" b="1" dirty="0">
                <a:latin typeface="Trebuchet MS" charset="0"/>
                <a:ea typeface="Trebuchet MS" charset="0"/>
                <a:cs typeface="Trebuchet MS" charset="0"/>
              </a:rPr>
              <a:t>Health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Changes to healthcare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Suicide Prevention Program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Treatment of </a:t>
            </a: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deceased </a:t>
            </a:r>
            <a:endParaRPr lang="en-US" sz="3000" dirty="0">
              <a:latin typeface="Trebuchet MS" charset="0"/>
              <a:ea typeface="Trebuchet MS" charset="0"/>
              <a:cs typeface="Trebuchet MS" charset="0"/>
            </a:endParaRP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Food service programs</a:t>
            </a:r>
          </a:p>
          <a:p>
            <a:r>
              <a:rPr lang="en-US" sz="3000" b="1" dirty="0">
                <a:latin typeface="Trebuchet MS" charset="0"/>
                <a:ea typeface="Trebuchet MS" charset="0"/>
                <a:cs typeface="Trebuchet MS" charset="0"/>
              </a:rPr>
              <a:t>Education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GI Bill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Free </a:t>
            </a: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law school</a:t>
            </a:r>
          </a:p>
          <a:p>
            <a:r>
              <a:rPr lang="en-US" sz="3000" b="1" dirty="0">
                <a:latin typeface="Trebuchet MS" charset="0"/>
                <a:ea typeface="Trebuchet MS" charset="0"/>
                <a:cs typeface="Trebuchet MS" charset="0"/>
              </a:rPr>
              <a:t>Privacy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Changes in reporting to higher </a:t>
            </a: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authorities</a:t>
            </a:r>
            <a:endParaRPr lang="en-US" sz="3000" dirty="0">
              <a:latin typeface="Trebuchet MS" charset="0"/>
              <a:ea typeface="Trebuchet MS" charset="0"/>
              <a:cs typeface="Trebuchet MS" charset="0"/>
            </a:endParaRP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Interrogations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S</a:t>
            </a: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ocial </a:t>
            </a: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media/internet use</a:t>
            </a:r>
          </a:p>
          <a:p>
            <a:r>
              <a:rPr lang="en-US" sz="3000" b="1" dirty="0">
                <a:latin typeface="Trebuchet MS" charset="0"/>
                <a:ea typeface="Trebuchet MS" charset="0"/>
                <a:cs typeface="Trebuchet MS" charset="0"/>
              </a:rPr>
              <a:t>Grants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Additional monetary compensation</a:t>
            </a:r>
          </a:p>
          <a:p>
            <a:r>
              <a:rPr lang="en-US" sz="3000" b="1" dirty="0" smtClean="0">
                <a:latin typeface="Trebuchet MS" charset="0"/>
                <a:ea typeface="Trebuchet MS" charset="0"/>
                <a:cs typeface="Trebuchet MS" charset="0"/>
              </a:rPr>
              <a:t>Incentive </a:t>
            </a:r>
            <a:r>
              <a:rPr lang="en-US" sz="3000" b="1" dirty="0">
                <a:latin typeface="Trebuchet MS" charset="0"/>
                <a:ea typeface="Trebuchet MS" charset="0"/>
                <a:cs typeface="Trebuchet MS" charset="0"/>
              </a:rPr>
              <a:t>programs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Awards for service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Promoting diversity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Rules about receiving </a:t>
            </a: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gifts</a:t>
            </a:r>
            <a:endParaRPr lang="en-US" sz="3000" dirty="0">
              <a:latin typeface="Trebuchet MS" charset="0"/>
              <a:ea typeface="Trebuchet MS" charset="0"/>
              <a:cs typeface="Trebuchet MS" charset="0"/>
            </a:endParaRPr>
          </a:p>
          <a:p>
            <a:r>
              <a:rPr lang="en-US" sz="3000" b="1" dirty="0">
                <a:latin typeface="Trebuchet MS" charset="0"/>
                <a:ea typeface="Trebuchet MS" charset="0"/>
                <a:cs typeface="Trebuchet MS" charset="0"/>
              </a:rPr>
              <a:t>Requirements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Foreign language proficiency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Physical fitness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Standards/codes/rules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Dress code</a:t>
            </a:r>
          </a:p>
          <a:p>
            <a:r>
              <a:rPr lang="en-US" sz="3000" b="1" dirty="0">
                <a:latin typeface="Trebuchet MS" charset="0"/>
                <a:ea typeface="Trebuchet MS" charset="0"/>
                <a:cs typeface="Trebuchet MS" charset="0"/>
              </a:rPr>
              <a:t>Quality of Life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Receiving packages/mail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Positive work atmosphere/military culture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Non-army activities 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Paying for equipment/uniforms out of pocket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397589">
            <a:off x="6952043" y="18337652"/>
            <a:ext cx="4330855" cy="5217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55447" y="17309213"/>
            <a:ext cx="5856457" cy="34778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3000" b="1" dirty="0" smtClean="0">
                <a:latin typeface="Trebuchet MS" charset="0"/>
                <a:ea typeface="Trebuchet MS" charset="0"/>
                <a:cs typeface="Trebuchet MS" charset="0"/>
              </a:rPr>
              <a:t>January 6, 2011</a:t>
            </a:r>
          </a:p>
          <a:p>
            <a:r>
              <a:rPr lang="en-US" sz="3000" b="1" u="sng" dirty="0">
                <a:latin typeface="Trebuchet MS" charset="0"/>
                <a:ea typeface="Trebuchet MS" charset="0"/>
                <a:cs typeface="Trebuchet MS" charset="0"/>
              </a:rPr>
              <a:t>Health Service </a:t>
            </a:r>
            <a:r>
              <a:rPr lang="en-US" sz="3000" b="1" u="sng" dirty="0" smtClean="0">
                <a:latin typeface="Trebuchet MS" charset="0"/>
                <a:ea typeface="Trebuchet MS" charset="0"/>
                <a:cs typeface="Trebuchet MS" charset="0"/>
              </a:rPr>
              <a:t>Support</a:t>
            </a:r>
          </a:p>
          <a:p>
            <a:r>
              <a:rPr lang="en-US" sz="3200" dirty="0" smtClean="0"/>
              <a:t>Sufficient </a:t>
            </a:r>
            <a:r>
              <a:rPr lang="en-US" sz="3200" dirty="0"/>
              <a:t>medical personnel to meet </a:t>
            </a:r>
            <a:r>
              <a:rPr lang="en-US" sz="3200" dirty="0" smtClean="0"/>
              <a:t>mission </a:t>
            </a:r>
            <a:r>
              <a:rPr lang="en-US" sz="3200" dirty="0"/>
              <a:t>requirements and training of all medical personnel will be monitored in a comprehensive </a:t>
            </a:r>
            <a:r>
              <a:rPr lang="en-US" sz="3200" dirty="0" smtClean="0"/>
              <a:t>manner. </a:t>
            </a:r>
            <a:endParaRPr lang="en-US" sz="3200" dirty="0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883255">
            <a:off x="7196869" y="26530337"/>
            <a:ext cx="4330855" cy="521705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981494" y="23588399"/>
            <a:ext cx="4330855" cy="521705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1155447" y="22280841"/>
            <a:ext cx="5856457" cy="295465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3000" b="1" dirty="0" smtClean="0">
                <a:solidFill>
                  <a:prstClr val="black"/>
                </a:solidFill>
                <a:latin typeface="Trebuchet MS" charset="0"/>
                <a:ea typeface="Trebuchet MS" charset="0"/>
                <a:cs typeface="Trebuchet MS" charset="0"/>
              </a:rPr>
              <a:t>June 8, 2015</a:t>
            </a:r>
          </a:p>
          <a:p>
            <a:r>
              <a:rPr lang="en-US" sz="3000" b="1" u="sng" dirty="0" smtClean="0">
                <a:solidFill>
                  <a:prstClr val="black"/>
                </a:solidFill>
                <a:latin typeface="Trebuchet MS" charset="0"/>
                <a:ea typeface="Trebuchet MS" charset="0"/>
                <a:cs typeface="Trebuchet MS" charset="0"/>
              </a:rPr>
              <a:t>Diversity </a:t>
            </a:r>
            <a:r>
              <a:rPr lang="en-US" sz="3000" b="1" u="sng" dirty="0">
                <a:solidFill>
                  <a:prstClr val="black"/>
                </a:solidFill>
                <a:latin typeface="Trebuchet MS" charset="0"/>
                <a:ea typeface="Trebuchet MS" charset="0"/>
                <a:cs typeface="Trebuchet MS" charset="0"/>
              </a:rPr>
              <a:t>Management and Equal Opportunity in the </a:t>
            </a:r>
            <a:r>
              <a:rPr lang="en-US" sz="3000" b="1" u="sng" dirty="0" smtClean="0">
                <a:solidFill>
                  <a:prstClr val="black"/>
                </a:solidFill>
                <a:latin typeface="Trebuchet MS" charset="0"/>
                <a:ea typeface="Trebuchet MS" charset="0"/>
                <a:cs typeface="Trebuchet MS" charset="0"/>
              </a:rPr>
              <a:t>DoD</a:t>
            </a:r>
          </a:p>
          <a:p>
            <a:r>
              <a:rPr lang="en-US" sz="3200" dirty="0"/>
              <a:t>Gives DoD personnel the opportunity to rise in ranks with equal </a:t>
            </a:r>
            <a:r>
              <a:rPr lang="en-US" sz="3200" dirty="0" smtClean="0"/>
              <a:t>opportunity.</a:t>
            </a:r>
            <a:endParaRPr lang="en-US" sz="3000" dirty="0" smtClean="0">
              <a:solidFill>
                <a:prstClr val="black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1295380" y="26299837"/>
            <a:ext cx="5856457" cy="30162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3000" b="1" dirty="0" smtClean="0">
                <a:latin typeface="Trebuchet MS" charset="0"/>
                <a:ea typeface="Trebuchet MS" charset="0"/>
                <a:cs typeface="Trebuchet MS" charset="0"/>
              </a:rPr>
              <a:t>August 21, 2015</a:t>
            </a:r>
          </a:p>
          <a:p>
            <a:r>
              <a:rPr lang="en-US" sz="3200" b="1" u="sng" dirty="0"/>
              <a:t>Defense Language, Regional Expertise, and Culture (LREC) Program (DLRECP</a:t>
            </a:r>
            <a:r>
              <a:rPr lang="en-US" sz="3200" b="1" u="sng" dirty="0" smtClean="0"/>
              <a:t>)</a:t>
            </a:r>
          </a:p>
          <a:p>
            <a:r>
              <a:rPr lang="en-US" sz="3200" dirty="0"/>
              <a:t>DoD members </a:t>
            </a:r>
            <a:r>
              <a:rPr lang="en-US" sz="3200" dirty="0" smtClean="0"/>
              <a:t>will be screened </a:t>
            </a:r>
            <a:r>
              <a:rPr lang="en-US" sz="3200" dirty="0"/>
              <a:t>for foreign language </a:t>
            </a:r>
            <a:r>
              <a:rPr lang="en-US" sz="3200" dirty="0" smtClean="0"/>
              <a:t>skills.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447" y="13738404"/>
            <a:ext cx="5856457" cy="252376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3000" b="1" dirty="0" smtClean="0">
                <a:latin typeface="Trebuchet MS" charset="0"/>
                <a:ea typeface="Trebuchet MS" charset="0"/>
                <a:cs typeface="Trebuchet MS" charset="0"/>
              </a:rPr>
              <a:t>January 23, 2012</a:t>
            </a:r>
          </a:p>
          <a:p>
            <a:r>
              <a:rPr lang="en-US" sz="3200" b="1" u="sng" dirty="0"/>
              <a:t>Sexual Assault Prevention and Response (SAPR) </a:t>
            </a:r>
            <a:r>
              <a:rPr lang="en-US" sz="3200" b="1" u="sng" dirty="0" smtClean="0"/>
              <a:t>Program</a:t>
            </a:r>
          </a:p>
          <a:p>
            <a:r>
              <a:rPr lang="en-US" sz="3200" dirty="0" smtClean="0"/>
              <a:t>Creates </a:t>
            </a:r>
            <a:r>
              <a:rPr lang="en-US" sz="3200" dirty="0"/>
              <a:t>a culture free of sexual </a:t>
            </a:r>
            <a:r>
              <a:rPr lang="en-US" sz="3200" dirty="0" smtClean="0"/>
              <a:t>harassment on military grounds. </a:t>
            </a: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330993">
            <a:off x="6926255" y="16044165"/>
            <a:ext cx="4330855" cy="52170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0416013" y="20387604"/>
            <a:ext cx="122742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solidFill>
                  <a:schemeClr val="bg1"/>
                </a:solidFill>
                <a:latin typeface="Trebuchet MS" charset="0"/>
                <a:ea typeface="Trebuchet MS" charset="0"/>
                <a:cs typeface="Trebuchet MS" charset="0"/>
              </a:rPr>
              <a:t>Transgender </a:t>
            </a:r>
            <a:endParaRPr lang="en-US" sz="3000" dirty="0">
              <a:solidFill>
                <a:schemeClr val="bg1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2388794" y="6701048"/>
            <a:ext cx="14799569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 smtClean="0">
                <a:solidFill>
                  <a:srgbClr val="262626"/>
                </a:solidFill>
                <a:latin typeface="Trebuchet MS" charset="0"/>
                <a:ea typeface="Trebuchet MS" charset="0"/>
                <a:cs typeface="Trebuchet MS" charset="0"/>
              </a:rPr>
              <a:t>Research Question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 smtClean="0">
                <a:solidFill>
                  <a:srgbClr val="262626"/>
                </a:solidFill>
                <a:latin typeface="Trebuchet MS" charset="0"/>
                <a:ea typeface="Trebuchet MS" charset="0"/>
                <a:cs typeface="Trebuchet MS" charset="0"/>
              </a:rPr>
              <a:t>Are people </a:t>
            </a:r>
            <a:r>
              <a:rPr lang="en-US" sz="3000" dirty="0">
                <a:solidFill>
                  <a:srgbClr val="262626"/>
                </a:solidFill>
                <a:latin typeface="Trebuchet MS" charset="0"/>
                <a:ea typeface="Trebuchet MS" charset="0"/>
                <a:cs typeface="Trebuchet MS" charset="0"/>
              </a:rPr>
              <a:t>influenced to join or leave the Army if new policies are implemented</a:t>
            </a:r>
            <a:r>
              <a:rPr lang="en-US" sz="3000" dirty="0" smtClean="0">
                <a:solidFill>
                  <a:srgbClr val="262626"/>
                </a:solidFill>
                <a:latin typeface="Trebuchet MS" charset="0"/>
                <a:ea typeface="Trebuchet MS" charset="0"/>
                <a:cs typeface="Trebuchet MS" charset="0"/>
              </a:rPr>
              <a:t>?</a:t>
            </a:r>
          </a:p>
          <a:p>
            <a:pPr marL="960438" lvl="1" indent="-446088">
              <a:buFont typeface="Arial" charset="0"/>
              <a:buChar char="•"/>
            </a:pPr>
            <a:r>
              <a:rPr lang="en-US" sz="3000" dirty="0" smtClean="0">
                <a:solidFill>
                  <a:srgbClr val="262626"/>
                </a:solidFill>
                <a:latin typeface="Trebuchet MS" charset="0"/>
                <a:ea typeface="Trebuchet MS" charset="0"/>
                <a:cs typeface="Trebuchet MS" charset="0"/>
              </a:rPr>
              <a:t>Do certain policy types have a greater impact than others?</a:t>
            </a:r>
          </a:p>
          <a:p>
            <a:r>
              <a:rPr lang="en-US" sz="3000" b="1" dirty="0" smtClean="0">
                <a:solidFill>
                  <a:srgbClr val="262626"/>
                </a:solidFill>
                <a:latin typeface="Trebuchet MS" charset="0"/>
                <a:ea typeface="Trebuchet MS" charset="0"/>
                <a:cs typeface="Trebuchet MS" charset="0"/>
              </a:rPr>
              <a:t>Method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 smtClean="0">
                <a:solidFill>
                  <a:srgbClr val="262626"/>
                </a:solidFill>
                <a:latin typeface="Trebuchet MS" charset="0"/>
                <a:ea typeface="Trebuchet MS" charset="0"/>
                <a:cs typeface="Trebuchet MS" charset="0"/>
              </a:rPr>
              <a:t>Started with the Department </a:t>
            </a:r>
            <a:r>
              <a:rPr lang="en-US" sz="3000" dirty="0">
                <a:solidFill>
                  <a:srgbClr val="262626"/>
                </a:solidFill>
                <a:latin typeface="Trebuchet MS" charset="0"/>
                <a:ea typeface="Trebuchet MS" charset="0"/>
                <a:cs typeface="Trebuchet MS" charset="0"/>
              </a:rPr>
              <a:t>of </a:t>
            </a:r>
            <a:r>
              <a:rPr lang="en-US" sz="3000" dirty="0" smtClean="0">
                <a:solidFill>
                  <a:srgbClr val="262626"/>
                </a:solidFill>
                <a:latin typeface="Trebuchet MS" charset="0"/>
                <a:ea typeface="Trebuchet MS" charset="0"/>
                <a:cs typeface="Trebuchet MS" charset="0"/>
              </a:rPr>
              <a:t>Defense (</a:t>
            </a:r>
            <a:r>
              <a:rPr lang="en-US" sz="3000" dirty="0">
                <a:solidFill>
                  <a:srgbClr val="262626"/>
                </a:solidFill>
                <a:latin typeface="Trebuchet MS" charset="0"/>
                <a:ea typeface="Trebuchet MS" charset="0"/>
                <a:cs typeface="Trebuchet MS" charset="0"/>
              </a:rPr>
              <a:t>DoD) Directives and </a:t>
            </a:r>
            <a:r>
              <a:rPr lang="en-US" sz="3000" dirty="0" smtClean="0">
                <a:solidFill>
                  <a:srgbClr val="262626"/>
                </a:solidFill>
                <a:latin typeface="Trebuchet MS" charset="0"/>
                <a:ea typeface="Trebuchet MS" charset="0"/>
                <a:cs typeface="Trebuchet MS" charset="0"/>
              </a:rPr>
              <a:t>created selection criteria (see below) for deciding if a policy might affect military retention or attrition. 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 smtClean="0">
                <a:solidFill>
                  <a:srgbClr val="262626"/>
                </a:solidFill>
                <a:latin typeface="Trebuchet MS" charset="0"/>
                <a:ea typeface="Trebuchet MS" charset="0"/>
                <a:cs typeface="Trebuchet MS" charset="0"/>
              </a:rPr>
              <a:t>Coded the directives according to the criteria.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solidFill>
                  <a:srgbClr val="262626"/>
                </a:solidFill>
                <a:latin typeface="Trebuchet MS" charset="0"/>
                <a:ea typeface="Trebuchet MS" charset="0"/>
                <a:cs typeface="Trebuchet MS" charset="0"/>
              </a:rPr>
              <a:t>P</a:t>
            </a:r>
            <a:r>
              <a:rPr lang="en-US" sz="3000" dirty="0" smtClean="0">
                <a:solidFill>
                  <a:srgbClr val="262626"/>
                </a:solidFill>
                <a:latin typeface="Trebuchet MS" charset="0"/>
                <a:ea typeface="Trebuchet MS" charset="0"/>
                <a:cs typeface="Trebuchet MS" charset="0"/>
              </a:rPr>
              <a:t>erformed </a:t>
            </a:r>
            <a:r>
              <a:rPr lang="en-US" sz="3000" dirty="0">
                <a:solidFill>
                  <a:srgbClr val="262626"/>
                </a:solidFill>
                <a:latin typeface="Trebuchet MS" charset="0"/>
                <a:ea typeface="Trebuchet MS" charset="0"/>
                <a:cs typeface="Trebuchet MS" charset="0"/>
              </a:rPr>
              <a:t>a </a:t>
            </a:r>
            <a:r>
              <a:rPr lang="en-US" sz="3000" dirty="0" smtClean="0">
                <a:solidFill>
                  <a:srgbClr val="262626"/>
                </a:solidFill>
                <a:latin typeface="Trebuchet MS" charset="0"/>
                <a:ea typeface="Trebuchet MS" charset="0"/>
                <a:cs typeface="Trebuchet MS" charset="0"/>
              </a:rPr>
              <a:t>backward search for policy documents </a:t>
            </a:r>
            <a:r>
              <a:rPr lang="en-US" sz="3000" dirty="0">
                <a:solidFill>
                  <a:srgbClr val="262626"/>
                </a:solidFill>
                <a:latin typeface="Trebuchet MS" charset="0"/>
                <a:ea typeface="Trebuchet MS" charset="0"/>
                <a:cs typeface="Trebuchet MS" charset="0"/>
              </a:rPr>
              <a:t>starting with widely publicized policies </a:t>
            </a:r>
            <a:r>
              <a:rPr lang="en-US" sz="3000" dirty="0" smtClean="0">
                <a:solidFill>
                  <a:srgbClr val="262626"/>
                </a:solidFill>
                <a:latin typeface="Trebuchet MS" charset="0"/>
                <a:ea typeface="Trebuchet MS" charset="0"/>
                <a:cs typeface="Trebuchet MS" charset="0"/>
              </a:rPr>
              <a:t>(see Case Study below). </a:t>
            </a:r>
            <a:endParaRPr lang="en-US" sz="3000" dirty="0">
              <a:solidFill>
                <a:srgbClr val="262626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pic>
        <p:nvPicPr>
          <p:cNvPr id="56" name="Picture 5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376" y="5682649"/>
            <a:ext cx="15495932" cy="1866671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7382" y="5682649"/>
            <a:ext cx="15495932" cy="186667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9317045" y="5514659"/>
            <a:ext cx="13035794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00" dirty="0" smtClean="0">
                <a:latin typeface="Raleway Medium" charset="0"/>
                <a:ea typeface="Raleway Medium" charset="0"/>
                <a:cs typeface="Raleway Medium" charset="0"/>
              </a:rPr>
              <a:t>Geographic Location</a:t>
            </a:r>
            <a:endParaRPr lang="en-US" sz="6500" dirty="0">
              <a:latin typeface="Raleway Medium" charset="0"/>
              <a:ea typeface="Raleway Medium" charset="0"/>
              <a:cs typeface="Raleway Medium" charset="0"/>
            </a:endParaRPr>
          </a:p>
        </p:txBody>
      </p:sp>
      <p:pic>
        <p:nvPicPr>
          <p:cNvPr id="61" name="Picture 6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550" y="30123990"/>
            <a:ext cx="15495932" cy="1866671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3116353" y="30133996"/>
            <a:ext cx="130357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>
                <a:latin typeface="Raleway Medium" charset="0"/>
                <a:ea typeface="Raleway Medium" charset="0"/>
                <a:cs typeface="Raleway Medium" charset="0"/>
              </a:rPr>
              <a:t>Case Study</a:t>
            </a:r>
            <a:endParaRPr lang="en-US" sz="5400" dirty="0">
              <a:latin typeface="Raleway Medium" charset="0"/>
              <a:ea typeface="Raleway Medium" charset="0"/>
              <a:cs typeface="Raleway Medium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9317045" y="6885878"/>
            <a:ext cx="1416283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 smtClean="0">
                <a:solidFill>
                  <a:srgbClr val="000000"/>
                </a:solidFill>
                <a:latin typeface="Trebuchet MS" charset="0"/>
                <a:ea typeface="Trebuchet MS" charset="0"/>
                <a:cs typeface="Trebuchet MS" charset="0"/>
              </a:rPr>
              <a:t>Research Question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 smtClean="0">
                <a:solidFill>
                  <a:srgbClr val="000000"/>
                </a:solidFill>
                <a:latin typeface="Trebuchet MS" charset="0"/>
                <a:ea typeface="Trebuchet MS" charset="0"/>
                <a:cs typeface="Trebuchet MS" charset="0"/>
              </a:rPr>
              <a:t>Are </a:t>
            </a:r>
            <a:r>
              <a:rPr lang="en-US" sz="3000" dirty="0">
                <a:solidFill>
                  <a:srgbClr val="000000"/>
                </a:solidFill>
                <a:latin typeface="Trebuchet MS" charset="0"/>
                <a:ea typeface="Trebuchet MS" charset="0"/>
                <a:cs typeface="Trebuchet MS" charset="0"/>
              </a:rPr>
              <a:t>people influenced to join the Army if they live near military installations, monuments, or </a:t>
            </a:r>
            <a:r>
              <a:rPr lang="en-US" sz="3000" dirty="0" smtClean="0">
                <a:solidFill>
                  <a:srgbClr val="000000"/>
                </a:solidFill>
                <a:latin typeface="Trebuchet MS" charset="0"/>
                <a:ea typeface="Trebuchet MS" charset="0"/>
                <a:cs typeface="Trebuchet MS" charset="0"/>
              </a:rPr>
              <a:t>national cemeteries?</a:t>
            </a:r>
          </a:p>
          <a:p>
            <a:pPr marL="2332177" lvl="1" indent="-457200">
              <a:buFont typeface="Arial" charset="0"/>
              <a:buChar char="•"/>
            </a:pPr>
            <a:endParaRPr lang="en-US" sz="3000" b="1" dirty="0" smtClean="0">
              <a:solidFill>
                <a:srgbClr val="000000"/>
              </a:solidFill>
              <a:latin typeface="Trebuchet MS" charset="0"/>
              <a:ea typeface="Trebuchet MS" charset="0"/>
              <a:cs typeface="Trebuchet MS" charset="0"/>
            </a:endParaRPr>
          </a:p>
          <a:p>
            <a:r>
              <a:rPr lang="en-US" sz="3000" b="1" dirty="0" smtClean="0">
                <a:solidFill>
                  <a:srgbClr val="000000"/>
                </a:solidFill>
                <a:latin typeface="Trebuchet MS" charset="0"/>
                <a:ea typeface="Trebuchet MS" charset="0"/>
                <a:cs typeface="Trebuchet MS" charset="0"/>
              </a:rPr>
              <a:t>Method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 smtClean="0">
                <a:solidFill>
                  <a:srgbClr val="000000"/>
                </a:solidFill>
                <a:latin typeface="Trebuchet MS" charset="0"/>
                <a:ea typeface="Trebuchet MS" charset="0"/>
                <a:cs typeface="Trebuchet MS" charset="0"/>
              </a:rPr>
              <a:t>We created maps displaying military base locations, recruitment centers, memorials and national cemeteries for three states with a high frequency of installations as a preliminary analysis. </a:t>
            </a:r>
            <a:endParaRPr lang="en-US" sz="3000" dirty="0">
              <a:solidFill>
                <a:srgbClr val="000000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pic>
        <p:nvPicPr>
          <p:cNvPr id="69" name="Picture 6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7382" y="30123990"/>
            <a:ext cx="15495932" cy="1866671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9317045" y="30123990"/>
            <a:ext cx="130357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>
                <a:latin typeface="Raleway Medium" charset="0"/>
                <a:ea typeface="Raleway Medium" charset="0"/>
                <a:cs typeface="Raleway Medium" charset="0"/>
              </a:rPr>
              <a:t>Next Steps </a:t>
            </a:r>
            <a:endParaRPr lang="en-US" sz="5400" dirty="0">
              <a:latin typeface="Raleway Medium" charset="0"/>
              <a:ea typeface="Raleway Medium" charset="0"/>
              <a:cs typeface="Raleway Medium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096282" y="31464941"/>
            <a:ext cx="12978655" cy="6605545"/>
            <a:chOff x="3096282" y="30252690"/>
            <a:chExt cx="12978655" cy="6912993"/>
          </a:xfrm>
        </p:grpSpPr>
        <p:sp>
          <p:nvSpPr>
            <p:cNvPr id="75" name="Rectangle 74"/>
            <p:cNvSpPr/>
            <p:nvPr/>
          </p:nvSpPr>
          <p:spPr>
            <a:xfrm>
              <a:off x="3096282" y="30252690"/>
              <a:ext cx="12978655" cy="691299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000" dirty="0">
                <a:latin typeface="Trebuchet MS" charset="0"/>
                <a:ea typeface="Trebuchet MS" charset="0"/>
                <a:cs typeface="Trebuchet MS" charset="0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3602325" y="30419599"/>
              <a:ext cx="12063849" cy="60939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000" b="1" dirty="0" smtClean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Women in Combat</a:t>
              </a:r>
              <a:r>
                <a:rPr lang="en-US" sz="3000" b="1" baseline="30000" dirty="0" smtClean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1-3</a:t>
              </a:r>
              <a:endParaRPr lang="en-US" sz="3000" b="1" dirty="0" smtClean="0">
                <a:solidFill>
                  <a:schemeClr val="bg1"/>
                </a:solidFill>
                <a:latin typeface="Trebuchet MS" charset="0"/>
                <a:ea typeface="Trebuchet MS" charset="0"/>
                <a:cs typeface="Trebuchet MS" charset="0"/>
              </a:endParaRPr>
            </a:p>
            <a:p>
              <a:pPr marL="457200" indent="-457200">
                <a:buFont typeface="Arial" charset="0"/>
                <a:buChar char="•"/>
              </a:pPr>
              <a:r>
                <a:rPr lang="en-US" sz="3000" b="1" dirty="0" smtClean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Started with the known policy of allowing women to serve in combat positions and performed a search for policy documents.</a:t>
              </a:r>
              <a:endParaRPr lang="en-US" sz="3000" b="1" dirty="0">
                <a:solidFill>
                  <a:schemeClr val="bg1"/>
                </a:solidFill>
                <a:latin typeface="Trebuchet MS" charset="0"/>
                <a:ea typeface="Trebuchet MS" charset="0"/>
                <a:cs typeface="Trebuchet MS" charset="0"/>
              </a:endParaRPr>
            </a:p>
            <a:p>
              <a:pPr marL="457200" indent="-457200">
                <a:buFont typeface="Arial" charset="0"/>
                <a:buChar char="•"/>
              </a:pPr>
              <a:r>
                <a:rPr lang="en-US" sz="3000" b="1" dirty="0" smtClean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The </a:t>
              </a:r>
              <a:r>
                <a:rPr lang="en-US" sz="3000" b="1" dirty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Ike Skelton National Defense Authorization Act for Fiscal Year 2011 </a:t>
              </a:r>
              <a:r>
                <a:rPr lang="en-US" sz="3000" b="1" dirty="0" smtClean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ordered an </a:t>
              </a:r>
              <a:r>
                <a:rPr lang="en-US" sz="3000" b="1" dirty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investigation </a:t>
              </a:r>
              <a:r>
                <a:rPr lang="en-US" sz="3000" b="1" dirty="0" smtClean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into </a:t>
              </a:r>
              <a:r>
                <a:rPr lang="en-US" sz="3000" b="1" dirty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whether or not women have equal opportunities. </a:t>
              </a:r>
            </a:p>
            <a:p>
              <a:pPr marL="457200" indent="-457200">
                <a:buFont typeface="Arial" charset="0"/>
                <a:buChar char="•"/>
              </a:pPr>
              <a:r>
                <a:rPr lang="en-US" sz="3000" b="1" dirty="0" smtClean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Extensive </a:t>
              </a:r>
              <a:r>
                <a:rPr lang="en-US" sz="3000" b="1" dirty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research was done on the issue by the Congressional Research Service, United States General Accounting Office, and the Office of the Under Secretary of Defense.</a:t>
              </a:r>
            </a:p>
            <a:p>
              <a:pPr marL="457200" indent="-457200">
                <a:buFont typeface="Arial" charset="0"/>
                <a:buChar char="•"/>
              </a:pPr>
              <a:r>
                <a:rPr lang="en-US" sz="3000" b="1" dirty="0" smtClean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January </a:t>
              </a:r>
              <a:r>
                <a:rPr lang="en-US" sz="3000" b="1" dirty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24th, </a:t>
              </a:r>
              <a:r>
                <a:rPr lang="en-US" sz="3000" b="1" dirty="0" smtClean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2013</a:t>
              </a:r>
              <a:r>
                <a:rPr lang="en-US" sz="3000" b="1" dirty="0" smtClean="0">
                  <a:solidFill>
                    <a:srgbClr val="FFFFFF"/>
                  </a:solidFill>
                  <a:latin typeface="Trebuchet MS" charset="0"/>
                  <a:ea typeface="Trebuchet MS" charset="0"/>
                  <a:cs typeface="Trebuchet MS" charset="0"/>
                </a:rPr>
                <a:t>,</a:t>
              </a:r>
              <a:r>
                <a:rPr lang="en-US" sz="3000" b="1" dirty="0" smtClean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 </a:t>
              </a:r>
              <a:r>
                <a:rPr lang="en-US" sz="3000" b="1" dirty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the USA officially lifted the ban on Women in Combat, which was quickly picked up by the news cycle</a:t>
              </a:r>
              <a:r>
                <a:rPr lang="en-US" sz="3000" b="1" dirty="0" smtClean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. </a:t>
              </a:r>
            </a:p>
            <a:p>
              <a:pPr marL="457200" indent="-457200">
                <a:buFont typeface="Arial" charset="0"/>
                <a:buChar char="•"/>
              </a:pPr>
              <a:r>
                <a:rPr lang="en-US" sz="3000" b="1" dirty="0" smtClean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Overall</a:t>
              </a:r>
              <a:r>
                <a:rPr lang="en-US" sz="3000" b="1" dirty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, Congressional Research </a:t>
              </a:r>
              <a:r>
                <a:rPr lang="en-US" sz="3000" b="1" dirty="0" smtClean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Service sources as </a:t>
              </a:r>
              <a:r>
                <a:rPr lang="en-US" sz="3000" b="1" dirty="0">
                  <a:solidFill>
                    <a:schemeClr val="bg1"/>
                  </a:solidFill>
                  <a:latin typeface="Trebuchet MS" charset="0"/>
                  <a:ea typeface="Trebuchet MS" charset="0"/>
                  <a:cs typeface="Trebuchet MS" charset="0"/>
                </a:rPr>
                <a:t>well as news outlets should be considered in policy research.</a:t>
              </a:r>
            </a:p>
          </p:txBody>
        </p:sp>
      </p:grpSp>
      <p:sp>
        <p:nvSpPr>
          <p:cNvPr id="79" name="TextBox 78"/>
          <p:cNvSpPr txBox="1"/>
          <p:nvPr/>
        </p:nvSpPr>
        <p:spPr>
          <a:xfrm>
            <a:off x="19038844" y="31464940"/>
            <a:ext cx="1417447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charset="0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Research conducted thus far has been descriptive analyses regarding policies and military geographic locations.</a:t>
            </a:r>
          </a:p>
          <a:p>
            <a:pPr marL="457200" indent="-457200">
              <a:buFont typeface="Arial" charset="0"/>
              <a:buChar char="•"/>
            </a:pP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A</a:t>
            </a: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dditional data (e.g., </a:t>
            </a:r>
            <a:r>
              <a:rPr lang="en-US" sz="3000" dirty="0" err="1" smtClean="0">
                <a:latin typeface="Trebuchet MS" charset="0"/>
                <a:ea typeface="Trebuchet MS" charset="0"/>
                <a:cs typeface="Trebuchet MS" charset="0"/>
              </a:rPr>
              <a:t>DoD</a:t>
            </a: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, Census</a:t>
            </a:r>
            <a:r>
              <a:rPr lang="en-US" sz="3000" dirty="0">
                <a:latin typeface="Trebuchet MS" charset="0"/>
                <a:ea typeface="Trebuchet MS" charset="0"/>
                <a:cs typeface="Trebuchet MS" charset="0"/>
              </a:rPr>
              <a:t>, </a:t>
            </a: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social media) will be combined with the policy and geographic information to explore the effect on retention and attrition.</a:t>
            </a:r>
          </a:p>
          <a:p>
            <a:pPr marL="904875" lvl="1" indent="-457200">
              <a:buFont typeface="Arial" charset="0"/>
              <a:buChar char="•"/>
            </a:pPr>
            <a:r>
              <a:rPr lang="en-US" sz="3000" b="1" dirty="0" smtClean="0">
                <a:latin typeface="Trebuchet MS" charset="0"/>
                <a:ea typeface="Trebuchet MS" charset="0"/>
                <a:cs typeface="Trebuchet MS" charset="0"/>
              </a:rPr>
              <a:t>Policy: </a:t>
            </a:r>
          </a:p>
          <a:p>
            <a:pPr marL="1819275" lvl="2" indent="-457200">
              <a:buFont typeface="Arial" charset="0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We will investigate the patterns of policy implementation on military enrollment and attrition.</a:t>
            </a:r>
          </a:p>
          <a:p>
            <a:pPr marL="1819275" lvl="2" indent="-457200">
              <a:buFont typeface="Arial" charset="0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Reactions to policies will be assessed via social media data.</a:t>
            </a:r>
          </a:p>
          <a:p>
            <a:pPr marL="904875" lvl="1" indent="-457200">
              <a:buFont typeface="Arial" charset="0"/>
              <a:buChar char="•"/>
            </a:pPr>
            <a:r>
              <a:rPr lang="en-US" sz="3000" b="1" dirty="0" smtClean="0">
                <a:latin typeface="Trebuchet MS" charset="0"/>
                <a:ea typeface="Trebuchet MS" charset="0"/>
                <a:cs typeface="Trebuchet MS" charset="0"/>
              </a:rPr>
              <a:t>Geography:</a:t>
            </a:r>
          </a:p>
          <a:p>
            <a:pPr marL="1819275" lvl="2" indent="-457200">
              <a:buFont typeface="Arial" charset="0"/>
              <a:buChar char="•"/>
            </a:pPr>
            <a:r>
              <a:rPr lang="en-US" sz="3000" dirty="0" smtClean="0">
                <a:latin typeface="Trebuchet MS" charset="0"/>
                <a:ea typeface="Trebuchet MS" charset="0"/>
                <a:cs typeface="Trebuchet MS" charset="0"/>
              </a:rPr>
              <a:t>The location of enrollees will be mapped alongside the geographic location of military installments.</a:t>
            </a:r>
          </a:p>
          <a:p>
            <a:pPr marL="4207154" lvl="2" indent="-457200">
              <a:buFont typeface="Arial" charset="0"/>
              <a:buChar char="•"/>
            </a:pPr>
            <a:endParaRPr lang="en-US" sz="30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pic>
        <p:nvPicPr>
          <p:cNvPr id="81" name="Picture 8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0263" y="10821687"/>
            <a:ext cx="15495932" cy="1866671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9470989" y="10821687"/>
            <a:ext cx="130357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>
                <a:latin typeface="Raleway Medium" charset="0"/>
                <a:ea typeface="Raleway Medium" charset="0"/>
                <a:cs typeface="Raleway Medium" charset="0"/>
              </a:rPr>
              <a:t>Military Locations by State</a:t>
            </a:r>
            <a:endParaRPr lang="en-US" sz="5400" dirty="0">
              <a:latin typeface="Raleway Medium" charset="0"/>
              <a:ea typeface="Raleway Medium" charset="0"/>
              <a:cs typeface="Raleway Medium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9951820" y="39202830"/>
            <a:ext cx="21173158" cy="14465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rebuchet MS"/>
                <a:ea typeface="Raleway Medium" charset="0"/>
                <a:cs typeface="Trebuchet MS"/>
              </a:rPr>
              <a:t>References</a:t>
            </a:r>
          </a:p>
          <a:p>
            <a:r>
              <a:rPr lang="en-US" sz="2000" dirty="0" smtClean="0">
                <a:latin typeface="Trebuchet MS"/>
                <a:ea typeface="Trebuchet MS" charset="0"/>
                <a:cs typeface="Trebuchet MS"/>
              </a:rPr>
              <a:t>1. United </a:t>
            </a:r>
            <a:r>
              <a:rPr lang="en-US" sz="2000" dirty="0">
                <a:latin typeface="Trebuchet MS"/>
                <a:ea typeface="Trebuchet MS" charset="0"/>
                <a:cs typeface="Trebuchet MS"/>
              </a:rPr>
              <a:t>States of America, General Accounting Office. (1998). Gender Issues: Information on </a:t>
            </a:r>
            <a:r>
              <a:rPr lang="en-US" sz="2000" dirty="0" err="1">
                <a:latin typeface="Trebuchet MS"/>
                <a:ea typeface="Trebuchet MS" charset="0"/>
                <a:cs typeface="Trebuchet MS"/>
              </a:rPr>
              <a:t>DoD's</a:t>
            </a:r>
            <a:r>
              <a:rPr lang="en-US" sz="2000" dirty="0">
                <a:latin typeface="Trebuchet MS"/>
                <a:ea typeface="Trebuchet MS" charset="0"/>
                <a:cs typeface="Trebuchet MS"/>
              </a:rPr>
              <a:t> Assignment Policy and Direct Ground Combat Definition</a:t>
            </a:r>
            <a:r>
              <a:rPr lang="en-US" sz="2000" dirty="0" smtClean="0">
                <a:latin typeface="Trebuchet MS"/>
                <a:ea typeface="Trebuchet MS" charset="0"/>
                <a:cs typeface="Trebuchet MS"/>
              </a:rPr>
              <a:t>.</a:t>
            </a:r>
          </a:p>
          <a:p>
            <a:r>
              <a:rPr lang="en-US" sz="2000" dirty="0" smtClean="0">
                <a:latin typeface="Trebuchet MS"/>
                <a:cs typeface="Trebuchet MS"/>
              </a:rPr>
              <a:t>2. </a:t>
            </a:r>
            <a:r>
              <a:rPr lang="en-US" sz="2000" dirty="0" err="1" smtClean="0">
                <a:latin typeface="Trebuchet MS"/>
                <a:cs typeface="Trebuchet MS"/>
              </a:rPr>
              <a:t>U.S.Cong</a:t>
            </a:r>
            <a:r>
              <a:rPr lang="en-US" sz="2000" dirty="0">
                <a:latin typeface="Trebuchet MS"/>
                <a:cs typeface="Trebuchet MS"/>
              </a:rPr>
              <a:t>. (2013). Women in combat issues for Congress (D. F. </a:t>
            </a:r>
            <a:r>
              <a:rPr lang="en-US" sz="2000" dirty="0" err="1">
                <a:latin typeface="Trebuchet MS"/>
                <a:cs typeface="Trebuchet MS"/>
              </a:rPr>
              <a:t>Burrelli</a:t>
            </a:r>
            <a:r>
              <a:rPr lang="en-US" sz="2000" dirty="0">
                <a:latin typeface="Trebuchet MS"/>
                <a:cs typeface="Trebuchet MS"/>
              </a:rPr>
              <a:t>, Author) [Cong.]. Washington, D.C</a:t>
            </a:r>
            <a:r>
              <a:rPr lang="en-US" sz="2000" dirty="0" smtClean="0">
                <a:latin typeface="Trebuchet MS"/>
                <a:cs typeface="Trebuchet MS"/>
              </a:rPr>
              <a:t>.: </a:t>
            </a:r>
            <a:r>
              <a:rPr lang="en-US" sz="2000" dirty="0">
                <a:latin typeface="Trebuchet MS"/>
                <a:cs typeface="Trebuchet MS"/>
              </a:rPr>
              <a:t>Congressional Research Service.</a:t>
            </a:r>
            <a:endParaRPr lang="en-US" sz="2000" dirty="0" smtClean="0">
              <a:latin typeface="Trebuchet MS"/>
              <a:ea typeface="Trebuchet MS" charset="0"/>
              <a:cs typeface="Trebuchet MS"/>
            </a:endParaRPr>
          </a:p>
          <a:p>
            <a:r>
              <a:rPr lang="en-US" sz="2000" dirty="0" smtClean="0">
                <a:latin typeface="Trebuchet MS"/>
                <a:cs typeface="Trebuchet MS"/>
              </a:rPr>
              <a:t>3. Women </a:t>
            </a:r>
            <a:r>
              <a:rPr lang="en-US" sz="2000" dirty="0">
                <a:latin typeface="Trebuchet MS"/>
                <a:cs typeface="Trebuchet MS"/>
              </a:rPr>
              <a:t>in combat: US military officially lifts ban on female soldiers. (2013, January 25). The Guardian.</a:t>
            </a:r>
            <a:r>
              <a:rPr lang="en-US" sz="2000" dirty="0" smtClean="0">
                <a:latin typeface="Trebuchet MS"/>
                <a:ea typeface="Trebuchet MS" charset="0"/>
                <a:cs typeface="Trebuchet MS"/>
              </a:rPr>
              <a:t> </a:t>
            </a:r>
            <a:endParaRPr lang="en-US" sz="2000" dirty="0">
              <a:latin typeface="Trebuchet MS"/>
              <a:ea typeface="Trebuchet MS" charset="0"/>
              <a:cs typeface="Trebuchet MS"/>
            </a:endParaRPr>
          </a:p>
        </p:txBody>
      </p:sp>
      <p:pic>
        <p:nvPicPr>
          <p:cNvPr id="16" name="Picture 15" descr="Virginia.png"/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2" t="20470" b="20057"/>
          <a:stretch/>
        </p:blipFill>
        <p:spPr>
          <a:xfrm>
            <a:off x="23428245" y="24450668"/>
            <a:ext cx="9785069" cy="4965919"/>
          </a:xfrm>
          <a:prstGeom prst="snip2Same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25092781" y="25235496"/>
            <a:ext cx="615774" cy="6365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california.png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7133" y="16262172"/>
            <a:ext cx="9999296" cy="8319019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19470989" y="13106930"/>
            <a:ext cx="504643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 smtClean="0">
                <a:latin typeface="Trebuchet MS" charset="0"/>
                <a:ea typeface="Trebuchet MS" charset="0"/>
                <a:cs typeface="Trebuchet MS" charset="0"/>
              </a:rPr>
              <a:t>Hawaii</a:t>
            </a:r>
            <a:endParaRPr lang="en-US" sz="34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9470989" y="18794596"/>
            <a:ext cx="282094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 smtClean="0">
                <a:latin typeface="Trebuchet MS" charset="0"/>
                <a:ea typeface="Trebuchet MS" charset="0"/>
                <a:cs typeface="Trebuchet MS" charset="0"/>
              </a:rPr>
              <a:t>California</a:t>
            </a:r>
            <a:endParaRPr lang="en-US" sz="34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9522422" y="25284693"/>
            <a:ext cx="258661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 smtClean="0">
                <a:latin typeface="Trebuchet MS" charset="0"/>
                <a:ea typeface="Trebuchet MS" charset="0"/>
                <a:cs typeface="Trebuchet MS" charset="0"/>
              </a:rPr>
              <a:t>Virginia</a:t>
            </a:r>
            <a:endParaRPr lang="en-US" sz="34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pic>
        <p:nvPicPr>
          <p:cNvPr id="19" name="Picture 18" descr="hawaii.png"/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28245" y="12576444"/>
            <a:ext cx="8804963" cy="7325381"/>
          </a:xfrm>
          <a:prstGeom prst="rect">
            <a:avLst/>
          </a:prstGeom>
        </p:spPr>
      </p:pic>
      <p:pic>
        <p:nvPicPr>
          <p:cNvPr id="21" name="Picture 20" descr="Screen Shot 2016-07-22 at 3.51.18 PM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4335" y="12487699"/>
            <a:ext cx="3454400" cy="29083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29653356" y="12890426"/>
            <a:ext cx="2579852" cy="2041851"/>
          </a:xfrm>
          <a:prstGeom prst="rect">
            <a:avLst/>
          </a:prstGeom>
          <a:noFill/>
          <a:ln>
            <a:solidFill>
              <a:srgbClr val="4C7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 flipV="1">
            <a:off x="27998464" y="13970146"/>
            <a:ext cx="1654892" cy="384852"/>
          </a:xfrm>
          <a:prstGeom prst="line">
            <a:avLst/>
          </a:prstGeom>
          <a:ln>
            <a:solidFill>
              <a:srgbClr val="4C7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6689944" y="14354998"/>
            <a:ext cx="1308520" cy="1173800"/>
          </a:xfrm>
          <a:prstGeom prst="rect">
            <a:avLst/>
          </a:prstGeom>
          <a:noFill/>
          <a:ln>
            <a:solidFill>
              <a:srgbClr val="4C7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42" descr="with_legend.png"/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21" t="21745" b="28132"/>
          <a:stretch/>
        </p:blipFill>
        <p:spPr>
          <a:xfrm>
            <a:off x="31124977" y="19410149"/>
            <a:ext cx="2354899" cy="3765507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25708555" y="25235496"/>
            <a:ext cx="981389" cy="10643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11295380" y="2006785"/>
            <a:ext cx="2285394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0" dirty="0">
                <a:latin typeface="Blanch Caps" charset="0"/>
                <a:ea typeface="Blanch Caps" charset="0"/>
                <a:cs typeface="Blanch Caps" charset="0"/>
              </a:rPr>
              <a:t>Military Enlistment, Retention, and Attrition</a:t>
            </a:r>
          </a:p>
        </p:txBody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6830" y="38991532"/>
            <a:ext cx="5715000" cy="18542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27749101" y="39409416"/>
            <a:ext cx="7455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 err="1" smtClean="0">
                <a:solidFill>
                  <a:schemeClr val="bg2">
                    <a:lumMod val="50000"/>
                  </a:schemeClr>
                </a:solidFill>
                <a:latin typeface="Raleway Medium" charset="0"/>
                <a:ea typeface="Raleway Medium" charset="0"/>
                <a:cs typeface="Raleway Medium" charset="0"/>
              </a:rPr>
              <a:t>bi.vt.edu</a:t>
            </a:r>
            <a:r>
              <a:rPr lang="en-US" sz="2400" b="1" dirty="0" smtClean="0">
                <a:solidFill>
                  <a:schemeClr val="bg2">
                    <a:lumMod val="50000"/>
                  </a:schemeClr>
                </a:solidFill>
                <a:latin typeface="Raleway Medium" charset="0"/>
                <a:ea typeface="Raleway Medium" charset="0"/>
                <a:cs typeface="Raleway Medium" charset="0"/>
              </a:rPr>
              <a:t>/</a:t>
            </a:r>
            <a:r>
              <a:rPr lang="en-US" sz="2400" b="1" dirty="0" err="1" smtClean="0">
                <a:solidFill>
                  <a:schemeClr val="bg2">
                    <a:lumMod val="50000"/>
                  </a:schemeClr>
                </a:solidFill>
                <a:latin typeface="Raleway Medium" charset="0"/>
                <a:ea typeface="Raleway Medium" charset="0"/>
                <a:cs typeface="Raleway Medium" charset="0"/>
              </a:rPr>
              <a:t>sdal</a:t>
            </a:r>
            <a:endParaRPr lang="en-US" sz="2400" b="1" dirty="0">
              <a:solidFill>
                <a:schemeClr val="bg2">
                  <a:lumMod val="50000"/>
                </a:schemeClr>
              </a:solidFill>
              <a:latin typeface="Raleway Medium" charset="0"/>
              <a:ea typeface="Raleway Medium" charset="0"/>
              <a:cs typeface="Raleway Medium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669773" y="4449557"/>
            <a:ext cx="719151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b="1" dirty="0" smtClean="0">
                <a:solidFill>
                  <a:srgbClr val="5D89B4"/>
                </a:solidFill>
                <a:latin typeface="Raleway" charset="0"/>
                <a:ea typeface="Raleway" charset="0"/>
                <a:cs typeface="Raleway" charset="0"/>
              </a:rPr>
              <a:t>Data Science for the Public Good</a:t>
            </a:r>
            <a:endParaRPr lang="en-US" sz="3500" b="1" dirty="0" smtClean="0">
              <a:solidFill>
                <a:srgbClr val="5D89B4"/>
              </a:solidFill>
              <a:latin typeface="Raleway" charset="0"/>
              <a:ea typeface="Raleway" charset="0"/>
              <a:cs typeface="Ralewa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009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408</TotalTime>
  <Words>714</Words>
  <Application>Microsoft Macintosh PowerPoint</Application>
  <PresentationFormat>Custom</PresentationFormat>
  <Paragraphs>95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Blanch Caps</vt:lpstr>
      <vt:lpstr>Calibri</vt:lpstr>
      <vt:lpstr>Calibri Light</vt:lpstr>
      <vt:lpstr>Raleway</vt:lpstr>
      <vt:lpstr>Raleway Medium</vt:lpstr>
      <vt:lpstr>Trebuchet MS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Alex Crookshanks</cp:lastModifiedBy>
  <cp:revision>96</cp:revision>
  <cp:lastPrinted>2016-07-22T19:26:20Z</cp:lastPrinted>
  <dcterms:created xsi:type="dcterms:W3CDTF">2016-07-05T19:56:53Z</dcterms:created>
  <dcterms:modified xsi:type="dcterms:W3CDTF">2016-08-23T15:14:37Z</dcterms:modified>
</cp:coreProperties>
</file>