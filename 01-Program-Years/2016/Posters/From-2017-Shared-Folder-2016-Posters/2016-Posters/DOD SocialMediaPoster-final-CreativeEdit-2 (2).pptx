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3"/>
  </p:sldMasterIdLst>
  <p:notesMasterIdLst>
    <p:notesMasterId r:id="rId4"/>
  </p:notesMasterIdLst>
  <p:sldIdLst>
    <p:sldId id="256" r:id="rId5"/>
  </p:sldIdLst>
  <p:sldSz cy="41549625" cx="36576000"/>
  <p:notesSz cx="6858000" cy="9144000"/>
  <p:embeddedFontLst>
    <p:embeddedFont>
      <p:font typeface="Raleway"/>
      <p:regular r:id="rId6"/>
      <p:bold r:id="rId7"/>
      <p:italic r:id="rId8"/>
      <p:boldItalic r:id="rId9"/>
    </p:embeddedFont>
    <p:embeddedFont>
      <p:font typeface="Raleway Medium"/>
      <p:regular r:id="rId10"/>
      <p:bold r:id="rId11"/>
      <p:italic r:id="rId12"/>
      <p:boldItalic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Raleway-boldItalic.fntdata"/><Relationship Id="rId5" Type="http://schemas.openxmlformats.org/officeDocument/2006/relationships/slide" Target="slides/slide1.xml"/><Relationship Id="rId6" Type="http://schemas.openxmlformats.org/officeDocument/2006/relationships/font" Target="fonts/Raleway-regular.fntdata"/><Relationship Id="rId7" Type="http://schemas.openxmlformats.org/officeDocument/2006/relationships/font" Target="fonts/Raleway-bold.fntdata"/><Relationship Id="rId8" Type="http://schemas.openxmlformats.org/officeDocument/2006/relationships/font" Target="fonts/Raleway-italic.fntdata"/><Relationship Id="rId11" Type="http://schemas.openxmlformats.org/officeDocument/2006/relationships/font" Target="fonts/RalewayMedium-bold.fntdata"/><Relationship Id="rId10" Type="http://schemas.openxmlformats.org/officeDocument/2006/relationships/font" Target="fonts/RalewayMedium-regular.fntdata"/><Relationship Id="rId13" Type="http://schemas.openxmlformats.org/officeDocument/2006/relationships/font" Target="fonts/RalewayMedium-boldItalic.fntdata"/><Relationship Id="rId12" Type="http://schemas.openxmlformats.org/officeDocument/2006/relationships/font" Target="fonts/RalewayMedium-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91425" lIns="91425" spcFirstLastPara="1" rIns="91425" wrap="square" tIns="91425"/>
          <a:lstStyle>
            <a:lvl1pPr indent="0" lvl="0" mar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91425" lIns="91425" spcFirstLastPara="1" rIns="91425" wrap="square" tIns="91425"/>
          <a:lstStyle>
            <a:lvl1pPr indent="0" lvl="0" mar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919288" y="685800"/>
            <a:ext cx="30194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91425" lIns="91425" spcFirstLastPara="1" rIns="91425" wrap="square" tIns="91425"/>
          <a:lstStyle>
            <a:lvl1pPr indent="0" lvl="0" mar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4" name="Shape 84"/>
        <p:cNvGrpSpPr/>
        <p:nvPr/>
      </p:nvGrpSpPr>
      <p:grpSpPr>
        <a:xfrm>
          <a:off x="0" y="0"/>
          <a:ext cx="0" cy="0"/>
          <a:chOff x="0" y="0"/>
          <a:chExt cx="0" cy="0"/>
        </a:xfrm>
      </p:grpSpPr>
      <p:sp>
        <p:nvSpPr>
          <p:cNvPr id="85" name="Google Shape;85;p4:notes"/>
          <p:cNvSpPr/>
          <p:nvPr>
            <p:ph idx="2" type="sldImg"/>
          </p:nvPr>
        </p:nvSpPr>
        <p:spPr>
          <a:xfrm>
            <a:off x="1919288" y="685800"/>
            <a:ext cx="30194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87" name="Google Shape;87;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2743200" y="6799909"/>
            <a:ext cx="31089601" cy="14465429"/>
          </a:xfrm>
          <a:prstGeom prst="rect">
            <a:avLst/>
          </a:prstGeom>
          <a:noFill/>
          <a:ln>
            <a:noFill/>
          </a:ln>
        </p:spPr>
        <p:txBody>
          <a:bodyPr anchorCtr="0" anchor="b" bIns="91425" lIns="91425" spcFirstLastPara="1" rIns="91425" wrap="square" tIns="91425"/>
          <a:lstStyle>
            <a:lvl1pPr indent="0" lvl="0" marL="0" marR="0" rtl="0" algn="ctr">
              <a:lnSpc>
                <a:spcPct val="90000"/>
              </a:lnSpc>
              <a:spcBef>
                <a:spcPts val="0"/>
              </a:spcBef>
              <a:spcAft>
                <a:spcPts val="0"/>
              </a:spcAft>
              <a:buClr>
                <a:schemeClr val="dk1"/>
              </a:buClr>
              <a:buSzPts val="1400"/>
              <a:buFont typeface="Calibri"/>
              <a:buNone/>
              <a:defRPr b="0" i="0" sz="240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7" name="Google Shape;17;p2"/>
          <p:cNvSpPr txBox="1"/>
          <p:nvPr>
            <p:ph idx="1" type="subTitle"/>
          </p:nvPr>
        </p:nvSpPr>
        <p:spPr>
          <a:xfrm>
            <a:off x="4572000" y="21823181"/>
            <a:ext cx="27432000" cy="10031542"/>
          </a:xfrm>
          <a:prstGeom prst="rect">
            <a:avLst/>
          </a:prstGeom>
          <a:noFill/>
          <a:ln>
            <a:noFill/>
          </a:ln>
        </p:spPr>
        <p:txBody>
          <a:bodyPr anchorCtr="0" anchor="t" bIns="91425" lIns="91425" spcFirstLastPara="1" rIns="91425" wrap="square" tIns="91425"/>
          <a:lstStyle>
            <a:lvl1pPr indent="0" lvl="0" marL="0" marR="0" rtl="0" algn="ctr">
              <a:lnSpc>
                <a:spcPct val="90000"/>
              </a:lnSpc>
              <a:spcBef>
                <a:spcPts val="4000"/>
              </a:spcBef>
              <a:spcAft>
                <a:spcPts val="0"/>
              </a:spcAft>
              <a:buClr>
                <a:schemeClr val="dk1"/>
              </a:buClr>
              <a:buSzPts val="11200"/>
              <a:buFont typeface="Arial"/>
              <a:buNone/>
              <a:defRPr b="0" i="0" sz="9600" u="none" cap="none" strike="noStrike">
                <a:solidFill>
                  <a:schemeClr val="dk1"/>
                </a:solidFill>
                <a:latin typeface="Calibri"/>
                <a:ea typeface="Calibri"/>
                <a:cs typeface="Calibri"/>
                <a:sym typeface="Calibri"/>
              </a:defRPr>
            </a:lvl1pPr>
            <a:lvl2pPr indent="0" lvl="1" marL="1828800" marR="0" rtl="0" algn="ctr">
              <a:lnSpc>
                <a:spcPct val="90000"/>
              </a:lnSpc>
              <a:spcBef>
                <a:spcPts val="2000"/>
              </a:spcBef>
              <a:spcAft>
                <a:spcPts val="0"/>
              </a:spcAft>
              <a:buClr>
                <a:schemeClr val="dk1"/>
              </a:buClr>
              <a:buSzPts val="9600"/>
              <a:buFont typeface="Arial"/>
              <a:buNone/>
              <a:defRPr b="0" i="0" sz="8000" u="none" cap="none" strike="noStrike">
                <a:solidFill>
                  <a:schemeClr val="dk1"/>
                </a:solidFill>
                <a:latin typeface="Calibri"/>
                <a:ea typeface="Calibri"/>
                <a:cs typeface="Calibri"/>
                <a:sym typeface="Calibri"/>
              </a:defRPr>
            </a:lvl2pPr>
            <a:lvl3pPr indent="0" lvl="2" marL="3657600" marR="0" rtl="0" algn="ctr">
              <a:lnSpc>
                <a:spcPct val="90000"/>
              </a:lnSpc>
              <a:spcBef>
                <a:spcPts val="2000"/>
              </a:spcBef>
              <a:spcAft>
                <a:spcPts val="0"/>
              </a:spcAft>
              <a:buClr>
                <a:schemeClr val="dk1"/>
              </a:buClr>
              <a:buSzPts val="8000"/>
              <a:buFont typeface="Arial"/>
              <a:buNone/>
              <a:defRPr b="0" i="0" sz="7200" u="none" cap="none" strike="noStrike">
                <a:solidFill>
                  <a:schemeClr val="dk1"/>
                </a:solidFill>
                <a:latin typeface="Calibri"/>
                <a:ea typeface="Calibri"/>
                <a:cs typeface="Calibri"/>
                <a:sym typeface="Calibri"/>
              </a:defRPr>
            </a:lvl3pPr>
            <a:lvl4pPr indent="0" lvl="3" marL="54864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4pPr>
            <a:lvl5pPr indent="0" lvl="4" marL="73152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5pPr>
            <a:lvl6pPr indent="0" lvl="5" marL="91440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6pPr>
            <a:lvl7pPr indent="0" lvl="6" marL="109728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7pPr>
            <a:lvl8pPr indent="0" lvl="7" marL="128016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8pPr>
            <a:lvl9pPr indent="0" lvl="8" marL="146304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9pPr>
          </a:lstStyle>
          <a:p/>
        </p:txBody>
      </p:sp>
      <p:sp>
        <p:nvSpPr>
          <p:cNvPr id="18" name="Google Shape;18;p2"/>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b="0" i="0" sz="4800" u="none" cap="none" strike="noStrike">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19" name="Google Shape;19;p2"/>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b="0" i="0" sz="4800" u="none" cap="none" strike="noStrike">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20" name="Google Shape;20;p2"/>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4800" u="none" cap="none" strike="noStrike">
                <a:solidFill>
                  <a:srgbClr val="888888"/>
                </a:solidFill>
                <a:latin typeface="Calibri"/>
                <a:ea typeface="Calibri"/>
                <a:cs typeface="Calibri"/>
                <a:sym typeface="Calibri"/>
              </a:defRPr>
            </a:lvl1pPr>
            <a:lvl2pPr indent="0" lvl="1" marL="0" marR="0" rtl="0" algn="r">
              <a:spcBef>
                <a:spcPts val="0"/>
              </a:spcBef>
              <a:buNone/>
              <a:defRPr b="0" i="0" sz="4800" u="none" cap="none" strike="noStrike">
                <a:solidFill>
                  <a:srgbClr val="888888"/>
                </a:solidFill>
                <a:latin typeface="Calibri"/>
                <a:ea typeface="Calibri"/>
                <a:cs typeface="Calibri"/>
                <a:sym typeface="Calibri"/>
              </a:defRPr>
            </a:lvl2pPr>
            <a:lvl3pPr indent="0" lvl="2" marL="0" marR="0" rtl="0" algn="r">
              <a:spcBef>
                <a:spcPts val="0"/>
              </a:spcBef>
              <a:buNone/>
              <a:defRPr b="0" i="0" sz="4800" u="none" cap="none" strike="noStrike">
                <a:solidFill>
                  <a:srgbClr val="888888"/>
                </a:solidFill>
                <a:latin typeface="Calibri"/>
                <a:ea typeface="Calibri"/>
                <a:cs typeface="Calibri"/>
                <a:sym typeface="Calibri"/>
              </a:defRPr>
            </a:lvl3pPr>
            <a:lvl4pPr indent="0" lvl="3" marL="0" marR="0" rtl="0" algn="r">
              <a:spcBef>
                <a:spcPts val="0"/>
              </a:spcBef>
              <a:buNone/>
              <a:defRPr b="0" i="0" sz="4800" u="none" cap="none" strike="noStrike">
                <a:solidFill>
                  <a:srgbClr val="888888"/>
                </a:solidFill>
                <a:latin typeface="Calibri"/>
                <a:ea typeface="Calibri"/>
                <a:cs typeface="Calibri"/>
                <a:sym typeface="Calibri"/>
              </a:defRPr>
            </a:lvl4pPr>
            <a:lvl5pPr indent="0" lvl="4" marL="0" marR="0" rtl="0" algn="r">
              <a:spcBef>
                <a:spcPts val="0"/>
              </a:spcBef>
              <a:buNone/>
              <a:defRPr b="0" i="0" sz="4800" u="none" cap="none" strike="noStrike">
                <a:solidFill>
                  <a:srgbClr val="888888"/>
                </a:solidFill>
                <a:latin typeface="Calibri"/>
                <a:ea typeface="Calibri"/>
                <a:cs typeface="Calibri"/>
                <a:sym typeface="Calibri"/>
              </a:defRPr>
            </a:lvl5pPr>
            <a:lvl6pPr indent="0" lvl="5" marL="0" marR="0" rtl="0" algn="r">
              <a:spcBef>
                <a:spcPts val="0"/>
              </a:spcBef>
              <a:buNone/>
              <a:defRPr b="0" i="0" sz="4800" u="none" cap="none" strike="noStrike">
                <a:solidFill>
                  <a:srgbClr val="888888"/>
                </a:solidFill>
                <a:latin typeface="Calibri"/>
                <a:ea typeface="Calibri"/>
                <a:cs typeface="Calibri"/>
                <a:sym typeface="Calibri"/>
              </a:defRPr>
            </a:lvl6pPr>
            <a:lvl7pPr indent="0" lvl="6" marL="0" marR="0" rtl="0" algn="r">
              <a:spcBef>
                <a:spcPts val="0"/>
              </a:spcBef>
              <a:buNone/>
              <a:defRPr b="0" i="0" sz="4800" u="none" cap="none" strike="noStrike">
                <a:solidFill>
                  <a:srgbClr val="888888"/>
                </a:solidFill>
                <a:latin typeface="Calibri"/>
                <a:ea typeface="Calibri"/>
                <a:cs typeface="Calibri"/>
                <a:sym typeface="Calibri"/>
              </a:defRPr>
            </a:lvl7pPr>
            <a:lvl8pPr indent="0" lvl="7" marL="0" marR="0" rtl="0" algn="r">
              <a:spcBef>
                <a:spcPts val="0"/>
              </a:spcBef>
              <a:buNone/>
              <a:defRPr b="0" i="0" sz="4800" u="none" cap="none" strike="noStrike">
                <a:solidFill>
                  <a:srgbClr val="888888"/>
                </a:solidFill>
                <a:latin typeface="Calibri"/>
                <a:ea typeface="Calibri"/>
                <a:cs typeface="Calibri"/>
                <a:sym typeface="Calibri"/>
              </a:defRPr>
            </a:lvl8pPr>
            <a:lvl9pPr indent="0" lvl="8" marL="0" marR="0" rtl="0" algn="r">
              <a:spcBef>
                <a:spcPts val="0"/>
              </a:spcBef>
              <a:buNone/>
              <a:defRPr b="0" i="0" sz="4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2514600"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23" name="Google Shape;23;p3"/>
          <p:cNvSpPr txBox="1"/>
          <p:nvPr>
            <p:ph idx="1" type="body"/>
          </p:nvPr>
        </p:nvSpPr>
        <p:spPr>
          <a:xfrm>
            <a:off x="2514600" y="11060667"/>
            <a:ext cx="31546801" cy="26362864"/>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24" name="Google Shape;24;p3"/>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25" name="Google Shape;25;p3"/>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26" name="Google Shape;26;p3"/>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2495552" y="10358568"/>
            <a:ext cx="31546801" cy="17283493"/>
          </a:xfrm>
          <a:prstGeom prst="rect">
            <a:avLst/>
          </a:prstGeom>
          <a:noFill/>
          <a:ln>
            <a:noFill/>
          </a:ln>
        </p:spPr>
        <p:txBody>
          <a:bodyPr anchorCtr="0" anchor="b"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240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29" name="Google Shape;29;p4"/>
          <p:cNvSpPr txBox="1"/>
          <p:nvPr>
            <p:ph idx="1" type="body"/>
          </p:nvPr>
        </p:nvSpPr>
        <p:spPr>
          <a:xfrm>
            <a:off x="2495552" y="27805569"/>
            <a:ext cx="31546801" cy="9088980"/>
          </a:xfrm>
          <a:prstGeom prst="rect">
            <a:avLst/>
          </a:prstGeom>
          <a:noFill/>
          <a:ln>
            <a:noFill/>
          </a:ln>
        </p:spPr>
        <p:txBody>
          <a:bodyPr anchorCtr="0" anchor="t" bIns="91425" lIns="91425" spcFirstLastPara="1" rIns="91425" wrap="square" tIns="91425"/>
          <a:lstStyle>
            <a:lvl1pPr indent="-228600" lvl="0" marL="457200" marR="0" rtl="0" algn="l">
              <a:lnSpc>
                <a:spcPct val="90000"/>
              </a:lnSpc>
              <a:spcBef>
                <a:spcPts val="4000"/>
              </a:spcBef>
              <a:spcAft>
                <a:spcPts val="0"/>
              </a:spcAft>
              <a:buClr>
                <a:schemeClr val="dk1"/>
              </a:buClr>
              <a:buSzPts val="11200"/>
              <a:buFont typeface="Arial"/>
              <a:buNone/>
              <a:defRPr b="0" i="0" sz="9600" u="none" cap="none" strike="noStrike">
                <a:solidFill>
                  <a:schemeClr val="dk1"/>
                </a:solidFill>
                <a:latin typeface="Calibri"/>
                <a:ea typeface="Calibri"/>
                <a:cs typeface="Calibri"/>
                <a:sym typeface="Calibri"/>
              </a:defRPr>
            </a:lvl1pPr>
            <a:lvl2pPr indent="-228600" lvl="1" marL="914400" marR="0" rtl="0" algn="l">
              <a:lnSpc>
                <a:spcPct val="90000"/>
              </a:lnSpc>
              <a:spcBef>
                <a:spcPts val="2000"/>
              </a:spcBef>
              <a:spcAft>
                <a:spcPts val="0"/>
              </a:spcAft>
              <a:buClr>
                <a:srgbClr val="888888"/>
              </a:buClr>
              <a:buSzPts val="9600"/>
              <a:buFont typeface="Arial"/>
              <a:buNone/>
              <a:defRPr b="0" i="0" sz="8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2000"/>
              </a:spcBef>
              <a:spcAft>
                <a:spcPts val="0"/>
              </a:spcAft>
              <a:buClr>
                <a:srgbClr val="888888"/>
              </a:buClr>
              <a:buSzPts val="8000"/>
              <a:buFont typeface="Arial"/>
              <a:buNone/>
              <a:defRPr b="0" i="0" sz="72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9pPr>
          </a:lstStyle>
          <a:p/>
        </p:txBody>
      </p:sp>
      <p:sp>
        <p:nvSpPr>
          <p:cNvPr id="30" name="Google Shape;30;p4"/>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31" name="Google Shape;31;p4"/>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32" name="Google Shape;32;p4"/>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2514600"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35" name="Google Shape;35;p5"/>
          <p:cNvSpPr txBox="1"/>
          <p:nvPr>
            <p:ph idx="1" type="body"/>
          </p:nvPr>
        </p:nvSpPr>
        <p:spPr>
          <a:xfrm>
            <a:off x="2514600" y="11060667"/>
            <a:ext cx="15544800" cy="26362864"/>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36" name="Google Shape;36;p5"/>
          <p:cNvSpPr txBox="1"/>
          <p:nvPr>
            <p:ph idx="2" type="body"/>
          </p:nvPr>
        </p:nvSpPr>
        <p:spPr>
          <a:xfrm>
            <a:off x="18516600" y="11060667"/>
            <a:ext cx="15544800" cy="26362864"/>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37" name="Google Shape;37;p5"/>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38" name="Google Shape;38;p5"/>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39" name="Google Shape;39;p5"/>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2519364"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42" name="Google Shape;42;p6"/>
          <p:cNvSpPr txBox="1"/>
          <p:nvPr>
            <p:ph idx="1" type="body"/>
          </p:nvPr>
        </p:nvSpPr>
        <p:spPr>
          <a:xfrm>
            <a:off x="2519368" y="10185435"/>
            <a:ext cx="15473361" cy="4991724"/>
          </a:xfrm>
          <a:prstGeom prst="rect">
            <a:avLst/>
          </a:prstGeom>
          <a:noFill/>
          <a:ln>
            <a:noFill/>
          </a:ln>
        </p:spPr>
        <p:txBody>
          <a:bodyPr anchorCtr="0" anchor="b" bIns="91425" lIns="91425" spcFirstLastPara="1" rIns="91425" wrap="square" tIns="91425"/>
          <a:lstStyle>
            <a:lvl1pPr indent="-228600" lvl="0" marL="457200" marR="0" rtl="0" algn="l">
              <a:lnSpc>
                <a:spcPct val="90000"/>
              </a:lnSpc>
              <a:spcBef>
                <a:spcPts val="4000"/>
              </a:spcBef>
              <a:spcAft>
                <a:spcPts val="0"/>
              </a:spcAft>
              <a:buClr>
                <a:schemeClr val="dk1"/>
              </a:buClr>
              <a:buSzPts val="11200"/>
              <a:buFont typeface="Arial"/>
              <a:buNone/>
              <a:defRPr b="1" i="0" sz="9600" u="none" cap="none" strike="noStrike">
                <a:solidFill>
                  <a:schemeClr val="dk1"/>
                </a:solidFill>
                <a:latin typeface="Calibri"/>
                <a:ea typeface="Calibri"/>
                <a:cs typeface="Calibri"/>
                <a:sym typeface="Calibri"/>
              </a:defRPr>
            </a:lvl1pPr>
            <a:lvl2pPr indent="-228600" lvl="1" marL="914400" marR="0" rtl="0" algn="l">
              <a:lnSpc>
                <a:spcPct val="90000"/>
              </a:lnSpc>
              <a:spcBef>
                <a:spcPts val="2000"/>
              </a:spcBef>
              <a:spcAft>
                <a:spcPts val="0"/>
              </a:spcAft>
              <a:buClr>
                <a:schemeClr val="dk1"/>
              </a:buClr>
              <a:buSzPts val="9600"/>
              <a:buFont typeface="Arial"/>
              <a:buNone/>
              <a:defRPr b="1" i="0" sz="8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2000"/>
              </a:spcBef>
              <a:spcAft>
                <a:spcPts val="0"/>
              </a:spcAft>
              <a:buClr>
                <a:schemeClr val="dk1"/>
              </a:buClr>
              <a:buSzPts val="8000"/>
              <a:buFont typeface="Arial"/>
              <a:buNone/>
              <a:defRPr b="1" i="0" sz="7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4pPr>
            <a:lvl5pPr indent="-228600" lvl="4" marL="22860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5pPr>
            <a:lvl6pPr indent="-228600" lvl="5" marL="27432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6pPr>
            <a:lvl7pPr indent="-228600" lvl="6" marL="32004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7pPr>
            <a:lvl8pPr indent="-228600" lvl="7" marL="36576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8pPr>
            <a:lvl9pPr indent="-228600" lvl="8" marL="41148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9pPr>
          </a:lstStyle>
          <a:p/>
        </p:txBody>
      </p:sp>
      <p:sp>
        <p:nvSpPr>
          <p:cNvPr id="43" name="Google Shape;43;p6"/>
          <p:cNvSpPr txBox="1"/>
          <p:nvPr>
            <p:ph idx="2" type="body"/>
          </p:nvPr>
        </p:nvSpPr>
        <p:spPr>
          <a:xfrm>
            <a:off x="2519368" y="15177159"/>
            <a:ext cx="15473361" cy="22323315"/>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44" name="Google Shape;44;p6"/>
          <p:cNvSpPr txBox="1"/>
          <p:nvPr>
            <p:ph idx="3" type="body"/>
          </p:nvPr>
        </p:nvSpPr>
        <p:spPr>
          <a:xfrm>
            <a:off x="18516602" y="10185435"/>
            <a:ext cx="15549564" cy="4991724"/>
          </a:xfrm>
          <a:prstGeom prst="rect">
            <a:avLst/>
          </a:prstGeom>
          <a:noFill/>
          <a:ln>
            <a:noFill/>
          </a:ln>
        </p:spPr>
        <p:txBody>
          <a:bodyPr anchorCtr="0" anchor="b" bIns="91425" lIns="91425" spcFirstLastPara="1" rIns="91425" wrap="square" tIns="91425"/>
          <a:lstStyle>
            <a:lvl1pPr indent="-228600" lvl="0" marL="457200" marR="0" rtl="0" algn="l">
              <a:lnSpc>
                <a:spcPct val="90000"/>
              </a:lnSpc>
              <a:spcBef>
                <a:spcPts val="4000"/>
              </a:spcBef>
              <a:spcAft>
                <a:spcPts val="0"/>
              </a:spcAft>
              <a:buClr>
                <a:schemeClr val="dk1"/>
              </a:buClr>
              <a:buSzPts val="11200"/>
              <a:buFont typeface="Arial"/>
              <a:buNone/>
              <a:defRPr b="1" i="0" sz="9600" u="none" cap="none" strike="noStrike">
                <a:solidFill>
                  <a:schemeClr val="dk1"/>
                </a:solidFill>
                <a:latin typeface="Calibri"/>
                <a:ea typeface="Calibri"/>
                <a:cs typeface="Calibri"/>
                <a:sym typeface="Calibri"/>
              </a:defRPr>
            </a:lvl1pPr>
            <a:lvl2pPr indent="-228600" lvl="1" marL="914400" marR="0" rtl="0" algn="l">
              <a:lnSpc>
                <a:spcPct val="90000"/>
              </a:lnSpc>
              <a:spcBef>
                <a:spcPts val="2000"/>
              </a:spcBef>
              <a:spcAft>
                <a:spcPts val="0"/>
              </a:spcAft>
              <a:buClr>
                <a:schemeClr val="dk1"/>
              </a:buClr>
              <a:buSzPts val="9600"/>
              <a:buFont typeface="Arial"/>
              <a:buNone/>
              <a:defRPr b="1" i="0" sz="8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2000"/>
              </a:spcBef>
              <a:spcAft>
                <a:spcPts val="0"/>
              </a:spcAft>
              <a:buClr>
                <a:schemeClr val="dk1"/>
              </a:buClr>
              <a:buSzPts val="8000"/>
              <a:buFont typeface="Arial"/>
              <a:buNone/>
              <a:defRPr b="1" i="0" sz="7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4pPr>
            <a:lvl5pPr indent="-228600" lvl="4" marL="22860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5pPr>
            <a:lvl6pPr indent="-228600" lvl="5" marL="27432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6pPr>
            <a:lvl7pPr indent="-228600" lvl="6" marL="32004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7pPr>
            <a:lvl8pPr indent="-228600" lvl="7" marL="36576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8pPr>
            <a:lvl9pPr indent="-228600" lvl="8" marL="41148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9pPr>
          </a:lstStyle>
          <a:p/>
        </p:txBody>
      </p:sp>
      <p:sp>
        <p:nvSpPr>
          <p:cNvPr id="45" name="Google Shape;45;p6"/>
          <p:cNvSpPr txBox="1"/>
          <p:nvPr>
            <p:ph idx="4" type="body"/>
          </p:nvPr>
        </p:nvSpPr>
        <p:spPr>
          <a:xfrm>
            <a:off x="18516602" y="15177159"/>
            <a:ext cx="15549564" cy="22323315"/>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46" name="Google Shape;46;p6"/>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47" name="Google Shape;47;p6"/>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48" name="Google Shape;48;p6"/>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2514600"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51" name="Google Shape;51;p7"/>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52" name="Google Shape;52;p7"/>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53" name="Google Shape;53;p7"/>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56" name="Google Shape;56;p8"/>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57" name="Google Shape;57;p8"/>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2519364" y="2769976"/>
            <a:ext cx="11796712" cy="9694916"/>
          </a:xfrm>
          <a:prstGeom prst="rect">
            <a:avLst/>
          </a:prstGeom>
          <a:noFill/>
          <a:ln>
            <a:noFill/>
          </a:ln>
        </p:spPr>
        <p:txBody>
          <a:bodyPr anchorCtr="0" anchor="b"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28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60" name="Google Shape;60;p9"/>
          <p:cNvSpPr txBox="1"/>
          <p:nvPr>
            <p:ph idx="1" type="body"/>
          </p:nvPr>
        </p:nvSpPr>
        <p:spPr>
          <a:xfrm>
            <a:off x="15549564" y="5982388"/>
            <a:ext cx="18516601" cy="29527173"/>
          </a:xfrm>
          <a:prstGeom prst="rect">
            <a:avLst/>
          </a:prstGeom>
          <a:noFill/>
          <a:ln>
            <a:noFill/>
          </a:ln>
        </p:spPr>
        <p:txBody>
          <a:bodyPr anchorCtr="0" anchor="t" bIns="91425" lIns="91425" spcFirstLastPara="1" rIns="91425" wrap="square" tIns="91425"/>
          <a:lstStyle>
            <a:lvl1pPr indent="-1041400" lvl="0" marL="457200" marR="0" rtl="0" algn="l">
              <a:lnSpc>
                <a:spcPct val="90000"/>
              </a:lnSpc>
              <a:spcBef>
                <a:spcPts val="4000"/>
              </a:spcBef>
              <a:spcAft>
                <a:spcPts val="0"/>
              </a:spcAft>
              <a:buClr>
                <a:schemeClr val="dk1"/>
              </a:buClr>
              <a:buSzPts val="12800"/>
              <a:buFont typeface="Arial"/>
              <a:buChar char="•"/>
              <a:defRPr b="0" i="0" sz="12800" u="none" cap="none" strike="noStrike">
                <a:solidFill>
                  <a:schemeClr val="dk1"/>
                </a:solidFill>
                <a:latin typeface="Calibri"/>
                <a:ea typeface="Calibri"/>
                <a:cs typeface="Calibri"/>
                <a:sym typeface="Calibri"/>
              </a:defRPr>
            </a:lvl1pPr>
            <a:lvl2pPr indent="-939800" lvl="1" marL="914400" marR="0" rtl="0" algn="l">
              <a:lnSpc>
                <a:spcPct val="90000"/>
              </a:lnSpc>
              <a:spcBef>
                <a:spcPts val="2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2pPr>
            <a:lvl3pPr indent="-838200" lvl="2" marL="13716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3pPr>
            <a:lvl4pPr indent="-736600" lvl="3" marL="18288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4pPr>
            <a:lvl5pPr indent="-736600" lvl="4" marL="22860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5pPr>
            <a:lvl6pPr indent="-736600" lvl="5" marL="27432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6pPr>
            <a:lvl7pPr indent="-736600" lvl="6" marL="32004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7pPr>
            <a:lvl8pPr indent="-736600" lvl="7" marL="3657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8pPr>
            <a:lvl9pPr indent="-736600" lvl="8" marL="41148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9pPr>
          </a:lstStyle>
          <a:p/>
        </p:txBody>
      </p:sp>
      <p:sp>
        <p:nvSpPr>
          <p:cNvPr id="61" name="Google Shape;61;p9"/>
          <p:cNvSpPr txBox="1"/>
          <p:nvPr>
            <p:ph idx="2" type="body"/>
          </p:nvPr>
        </p:nvSpPr>
        <p:spPr>
          <a:xfrm>
            <a:off x="2519364" y="12464892"/>
            <a:ext cx="11796712" cy="23092752"/>
          </a:xfrm>
          <a:prstGeom prst="rect">
            <a:avLst/>
          </a:prstGeom>
          <a:noFill/>
          <a:ln>
            <a:noFill/>
          </a:ln>
        </p:spPr>
        <p:txBody>
          <a:bodyPr anchorCtr="0" anchor="t" bIns="91425" lIns="91425" spcFirstLastPara="1" rIns="91425" wrap="square" tIns="91425"/>
          <a:lstStyle>
            <a:lvl1pPr indent="-228600" lvl="0" marL="457200" marR="0" rtl="0" algn="l">
              <a:lnSpc>
                <a:spcPct val="90000"/>
              </a:lnSpc>
              <a:spcBef>
                <a:spcPts val="4000"/>
              </a:spcBef>
              <a:spcAft>
                <a:spcPts val="0"/>
              </a:spcAft>
              <a:buClr>
                <a:schemeClr val="dk1"/>
              </a:buClr>
              <a:buSzPts val="11200"/>
              <a:buFont typeface="Arial"/>
              <a:buNone/>
              <a:defRPr b="0" i="0" sz="6400" u="none" cap="none" strike="noStrike">
                <a:solidFill>
                  <a:schemeClr val="dk1"/>
                </a:solidFill>
                <a:latin typeface="Calibri"/>
                <a:ea typeface="Calibri"/>
                <a:cs typeface="Calibri"/>
                <a:sym typeface="Calibri"/>
              </a:defRPr>
            </a:lvl1pPr>
            <a:lvl2pPr indent="-228600" lvl="1" marL="914400" marR="0" rtl="0" algn="l">
              <a:lnSpc>
                <a:spcPct val="90000"/>
              </a:lnSpc>
              <a:spcBef>
                <a:spcPts val="2000"/>
              </a:spcBef>
              <a:spcAft>
                <a:spcPts val="0"/>
              </a:spcAft>
              <a:buClr>
                <a:schemeClr val="dk1"/>
              </a:buClr>
              <a:buSzPts val="9600"/>
              <a:buFont typeface="Arial"/>
              <a:buNone/>
              <a:defRPr b="0" i="0" sz="5600" u="none" cap="none" strike="noStrike">
                <a:solidFill>
                  <a:schemeClr val="dk1"/>
                </a:solidFill>
                <a:latin typeface="Calibri"/>
                <a:ea typeface="Calibri"/>
                <a:cs typeface="Calibri"/>
                <a:sym typeface="Calibri"/>
              </a:defRPr>
            </a:lvl2pPr>
            <a:lvl3pPr indent="-228600" lvl="2" marL="1371600" marR="0" rtl="0" algn="l">
              <a:lnSpc>
                <a:spcPct val="90000"/>
              </a:lnSpc>
              <a:spcBef>
                <a:spcPts val="2000"/>
              </a:spcBef>
              <a:spcAft>
                <a:spcPts val="0"/>
              </a:spcAft>
              <a:buClr>
                <a:schemeClr val="dk1"/>
              </a:buClr>
              <a:buSzPts val="8000"/>
              <a:buFont typeface="Arial"/>
              <a:buNone/>
              <a:defRPr b="0" i="0" sz="4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9pPr>
          </a:lstStyle>
          <a:p/>
        </p:txBody>
      </p:sp>
      <p:sp>
        <p:nvSpPr>
          <p:cNvPr id="62" name="Google Shape;62;p9"/>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63" name="Google Shape;63;p9"/>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64" name="Google Shape;64;p9"/>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2519364" y="2769976"/>
            <a:ext cx="11796712" cy="9694916"/>
          </a:xfrm>
          <a:prstGeom prst="rect">
            <a:avLst/>
          </a:prstGeom>
          <a:noFill/>
          <a:ln>
            <a:noFill/>
          </a:ln>
        </p:spPr>
        <p:txBody>
          <a:bodyPr anchorCtr="0" anchor="b"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28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67" name="Google Shape;67;p10"/>
          <p:cNvSpPr/>
          <p:nvPr>
            <p:ph idx="2" type="pic"/>
          </p:nvPr>
        </p:nvSpPr>
        <p:spPr>
          <a:xfrm>
            <a:off x="15549564" y="5982388"/>
            <a:ext cx="18516601" cy="29527173"/>
          </a:xfrm>
          <a:prstGeom prst="rect">
            <a:avLst/>
          </a:prstGeom>
          <a:noFill/>
          <a:ln>
            <a:noFill/>
          </a:ln>
        </p:spPr>
        <p:txBody>
          <a:bodyPr anchorCtr="0" anchor="t" bIns="91425" lIns="91425" spcFirstLastPara="1" rIns="91425" wrap="square" tIns="91425"/>
          <a:lstStyle>
            <a:lvl1pPr indent="0" lvl="0" marL="0" marR="0" rtl="0" algn="l">
              <a:lnSpc>
                <a:spcPct val="90000"/>
              </a:lnSpc>
              <a:spcBef>
                <a:spcPts val="4000"/>
              </a:spcBef>
              <a:spcAft>
                <a:spcPts val="0"/>
              </a:spcAft>
              <a:buClr>
                <a:schemeClr val="dk1"/>
              </a:buClr>
              <a:buSzPts val="1400"/>
              <a:buFont typeface="Arial"/>
              <a:buNone/>
              <a:defRPr b="0" i="0" sz="12800" u="none" cap="none" strike="noStrike">
                <a:solidFill>
                  <a:schemeClr val="dk1"/>
                </a:solidFill>
                <a:latin typeface="Calibri"/>
                <a:ea typeface="Calibri"/>
                <a:cs typeface="Calibri"/>
                <a:sym typeface="Calibri"/>
              </a:defRPr>
            </a:lvl1pPr>
            <a:lvl2pPr indent="0" lvl="1" marL="1828800" marR="0" rtl="0" algn="l">
              <a:lnSpc>
                <a:spcPct val="90000"/>
              </a:lnSpc>
              <a:spcBef>
                <a:spcPts val="2000"/>
              </a:spcBef>
              <a:spcAft>
                <a:spcPts val="0"/>
              </a:spcAft>
              <a:buClr>
                <a:schemeClr val="dk1"/>
              </a:buClr>
              <a:buSzPts val="1400"/>
              <a:buFont typeface="Arial"/>
              <a:buNone/>
              <a:defRPr b="0" i="0" sz="11200" u="none" cap="none" strike="noStrike">
                <a:solidFill>
                  <a:schemeClr val="dk1"/>
                </a:solidFill>
                <a:latin typeface="Calibri"/>
                <a:ea typeface="Calibri"/>
                <a:cs typeface="Calibri"/>
                <a:sym typeface="Calibri"/>
              </a:defRPr>
            </a:lvl2pPr>
            <a:lvl3pPr indent="0" lvl="2" marL="3657600" marR="0" rtl="0" algn="l">
              <a:lnSpc>
                <a:spcPct val="90000"/>
              </a:lnSpc>
              <a:spcBef>
                <a:spcPts val="2000"/>
              </a:spcBef>
              <a:spcAft>
                <a:spcPts val="0"/>
              </a:spcAft>
              <a:buClr>
                <a:schemeClr val="dk1"/>
              </a:buClr>
              <a:buSzPts val="1400"/>
              <a:buFont typeface="Arial"/>
              <a:buNone/>
              <a:defRPr b="0" i="0" sz="9600" u="none" cap="none" strike="noStrike">
                <a:solidFill>
                  <a:schemeClr val="dk1"/>
                </a:solidFill>
                <a:latin typeface="Calibri"/>
                <a:ea typeface="Calibri"/>
                <a:cs typeface="Calibri"/>
                <a:sym typeface="Calibri"/>
              </a:defRPr>
            </a:lvl3pPr>
            <a:lvl4pPr indent="0" lvl="3" marL="54864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4pPr>
            <a:lvl5pPr indent="0" lvl="4" marL="73152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5pPr>
            <a:lvl6pPr indent="0" lvl="5" marL="91440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6pPr>
            <a:lvl7pPr indent="0" lvl="6" marL="109728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7pPr>
            <a:lvl8pPr indent="0" lvl="7" marL="128016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8pPr>
            <a:lvl9pPr indent="0" lvl="8" marL="146304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9pPr>
          </a:lstStyle>
          <a:p/>
        </p:txBody>
      </p:sp>
      <p:sp>
        <p:nvSpPr>
          <p:cNvPr id="68" name="Google Shape;68;p10"/>
          <p:cNvSpPr txBox="1"/>
          <p:nvPr>
            <p:ph idx="1" type="body"/>
          </p:nvPr>
        </p:nvSpPr>
        <p:spPr>
          <a:xfrm>
            <a:off x="2519364" y="12464892"/>
            <a:ext cx="11796712" cy="23092752"/>
          </a:xfrm>
          <a:prstGeom prst="rect">
            <a:avLst/>
          </a:prstGeom>
          <a:noFill/>
          <a:ln>
            <a:noFill/>
          </a:ln>
        </p:spPr>
        <p:txBody>
          <a:bodyPr anchorCtr="0" anchor="t" bIns="91425" lIns="91425" spcFirstLastPara="1" rIns="91425" wrap="square" tIns="91425"/>
          <a:lstStyle>
            <a:lvl1pPr indent="-228600" lvl="0" marL="457200" marR="0" rtl="0" algn="l">
              <a:lnSpc>
                <a:spcPct val="90000"/>
              </a:lnSpc>
              <a:spcBef>
                <a:spcPts val="4000"/>
              </a:spcBef>
              <a:spcAft>
                <a:spcPts val="0"/>
              </a:spcAft>
              <a:buClr>
                <a:schemeClr val="dk1"/>
              </a:buClr>
              <a:buSzPts val="11200"/>
              <a:buFont typeface="Arial"/>
              <a:buNone/>
              <a:defRPr b="0" i="0" sz="6400" u="none" cap="none" strike="noStrike">
                <a:solidFill>
                  <a:schemeClr val="dk1"/>
                </a:solidFill>
                <a:latin typeface="Calibri"/>
                <a:ea typeface="Calibri"/>
                <a:cs typeface="Calibri"/>
                <a:sym typeface="Calibri"/>
              </a:defRPr>
            </a:lvl1pPr>
            <a:lvl2pPr indent="-228600" lvl="1" marL="914400" marR="0" rtl="0" algn="l">
              <a:lnSpc>
                <a:spcPct val="90000"/>
              </a:lnSpc>
              <a:spcBef>
                <a:spcPts val="2000"/>
              </a:spcBef>
              <a:spcAft>
                <a:spcPts val="0"/>
              </a:spcAft>
              <a:buClr>
                <a:schemeClr val="dk1"/>
              </a:buClr>
              <a:buSzPts val="9600"/>
              <a:buFont typeface="Arial"/>
              <a:buNone/>
              <a:defRPr b="0" i="0" sz="5600" u="none" cap="none" strike="noStrike">
                <a:solidFill>
                  <a:schemeClr val="dk1"/>
                </a:solidFill>
                <a:latin typeface="Calibri"/>
                <a:ea typeface="Calibri"/>
                <a:cs typeface="Calibri"/>
                <a:sym typeface="Calibri"/>
              </a:defRPr>
            </a:lvl2pPr>
            <a:lvl3pPr indent="-228600" lvl="2" marL="1371600" marR="0" rtl="0" algn="l">
              <a:lnSpc>
                <a:spcPct val="90000"/>
              </a:lnSpc>
              <a:spcBef>
                <a:spcPts val="2000"/>
              </a:spcBef>
              <a:spcAft>
                <a:spcPts val="0"/>
              </a:spcAft>
              <a:buClr>
                <a:schemeClr val="dk1"/>
              </a:buClr>
              <a:buSzPts val="8000"/>
              <a:buFont typeface="Arial"/>
              <a:buNone/>
              <a:defRPr b="0" i="0" sz="4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9pPr>
          </a:lstStyle>
          <a:p/>
        </p:txBody>
      </p:sp>
      <p:sp>
        <p:nvSpPr>
          <p:cNvPr id="69" name="Google Shape;69;p10"/>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70" name="Google Shape;70;p10"/>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71" name="Google Shape;71;p10"/>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2514600"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74" name="Google Shape;74;p11"/>
          <p:cNvSpPr txBox="1"/>
          <p:nvPr>
            <p:ph idx="1" type="body"/>
          </p:nvPr>
        </p:nvSpPr>
        <p:spPr>
          <a:xfrm rot="5400000">
            <a:off x="5106567" y="8468699"/>
            <a:ext cx="26362864" cy="31546801"/>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75" name="Google Shape;75;p11"/>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76" name="Google Shape;76;p11"/>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77" name="Google Shape;77;p11"/>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12512354" y="15874482"/>
            <a:ext cx="35211399" cy="78867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80" name="Google Shape;80;p12"/>
          <p:cNvSpPr txBox="1"/>
          <p:nvPr>
            <p:ph idx="1" type="body"/>
          </p:nvPr>
        </p:nvSpPr>
        <p:spPr>
          <a:xfrm rot="5400000">
            <a:off x="-3489648" y="8216382"/>
            <a:ext cx="35211399" cy="23202900"/>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81" name="Google Shape;81;p12"/>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82" name="Google Shape;82;p12"/>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83" name="Google Shape;83;p12"/>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2514600"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1" name="Google Shape;11;p1"/>
          <p:cNvSpPr txBox="1"/>
          <p:nvPr>
            <p:ph idx="1" type="body"/>
          </p:nvPr>
        </p:nvSpPr>
        <p:spPr>
          <a:xfrm>
            <a:off x="2514600" y="11060667"/>
            <a:ext cx="31546801" cy="26362864"/>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b="0" i="0" sz="4800" u="none" cap="none" strike="noStrike">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b="0" i="0" sz="4800" u="none" cap="none" strike="noStrike">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4800" u="none" cap="none" strike="noStrike">
                <a:solidFill>
                  <a:srgbClr val="888888"/>
                </a:solidFill>
                <a:latin typeface="Calibri"/>
                <a:ea typeface="Calibri"/>
                <a:cs typeface="Calibri"/>
                <a:sym typeface="Calibri"/>
              </a:defRPr>
            </a:lvl1pPr>
            <a:lvl2pPr indent="0" lvl="1" marL="0" marR="0" rtl="0" algn="r">
              <a:spcBef>
                <a:spcPts val="0"/>
              </a:spcBef>
              <a:buNone/>
              <a:defRPr b="0" i="0" sz="4800" u="none" cap="none" strike="noStrike">
                <a:solidFill>
                  <a:srgbClr val="888888"/>
                </a:solidFill>
                <a:latin typeface="Calibri"/>
                <a:ea typeface="Calibri"/>
                <a:cs typeface="Calibri"/>
                <a:sym typeface="Calibri"/>
              </a:defRPr>
            </a:lvl2pPr>
            <a:lvl3pPr indent="0" lvl="2" marL="0" marR="0" rtl="0" algn="r">
              <a:spcBef>
                <a:spcPts val="0"/>
              </a:spcBef>
              <a:buNone/>
              <a:defRPr b="0" i="0" sz="4800" u="none" cap="none" strike="noStrike">
                <a:solidFill>
                  <a:srgbClr val="888888"/>
                </a:solidFill>
                <a:latin typeface="Calibri"/>
                <a:ea typeface="Calibri"/>
                <a:cs typeface="Calibri"/>
                <a:sym typeface="Calibri"/>
              </a:defRPr>
            </a:lvl3pPr>
            <a:lvl4pPr indent="0" lvl="3" marL="0" marR="0" rtl="0" algn="r">
              <a:spcBef>
                <a:spcPts val="0"/>
              </a:spcBef>
              <a:buNone/>
              <a:defRPr b="0" i="0" sz="4800" u="none" cap="none" strike="noStrike">
                <a:solidFill>
                  <a:srgbClr val="888888"/>
                </a:solidFill>
                <a:latin typeface="Calibri"/>
                <a:ea typeface="Calibri"/>
                <a:cs typeface="Calibri"/>
                <a:sym typeface="Calibri"/>
              </a:defRPr>
            </a:lvl4pPr>
            <a:lvl5pPr indent="0" lvl="4" marL="0" marR="0" rtl="0" algn="r">
              <a:spcBef>
                <a:spcPts val="0"/>
              </a:spcBef>
              <a:buNone/>
              <a:defRPr b="0" i="0" sz="4800" u="none" cap="none" strike="noStrike">
                <a:solidFill>
                  <a:srgbClr val="888888"/>
                </a:solidFill>
                <a:latin typeface="Calibri"/>
                <a:ea typeface="Calibri"/>
                <a:cs typeface="Calibri"/>
                <a:sym typeface="Calibri"/>
              </a:defRPr>
            </a:lvl5pPr>
            <a:lvl6pPr indent="0" lvl="5" marL="0" marR="0" rtl="0" algn="r">
              <a:spcBef>
                <a:spcPts val="0"/>
              </a:spcBef>
              <a:buNone/>
              <a:defRPr b="0" i="0" sz="4800" u="none" cap="none" strike="noStrike">
                <a:solidFill>
                  <a:srgbClr val="888888"/>
                </a:solidFill>
                <a:latin typeface="Calibri"/>
                <a:ea typeface="Calibri"/>
                <a:cs typeface="Calibri"/>
                <a:sym typeface="Calibri"/>
              </a:defRPr>
            </a:lvl6pPr>
            <a:lvl7pPr indent="0" lvl="6" marL="0" marR="0" rtl="0" algn="r">
              <a:spcBef>
                <a:spcPts val="0"/>
              </a:spcBef>
              <a:buNone/>
              <a:defRPr b="0" i="0" sz="4800" u="none" cap="none" strike="noStrike">
                <a:solidFill>
                  <a:srgbClr val="888888"/>
                </a:solidFill>
                <a:latin typeface="Calibri"/>
                <a:ea typeface="Calibri"/>
                <a:cs typeface="Calibri"/>
                <a:sym typeface="Calibri"/>
              </a:defRPr>
            </a:lvl7pPr>
            <a:lvl8pPr indent="0" lvl="7" marL="0" marR="0" rtl="0" algn="r">
              <a:spcBef>
                <a:spcPts val="0"/>
              </a:spcBef>
              <a:buNone/>
              <a:defRPr b="0" i="0" sz="4800" u="none" cap="none" strike="noStrike">
                <a:solidFill>
                  <a:srgbClr val="888888"/>
                </a:solidFill>
                <a:latin typeface="Calibri"/>
                <a:ea typeface="Calibri"/>
                <a:cs typeface="Calibri"/>
                <a:sym typeface="Calibri"/>
              </a:defRPr>
            </a:lvl8pPr>
            <a:lvl9pPr indent="0" lvl="8" marL="0" marR="0" rtl="0" algn="r">
              <a:spcBef>
                <a:spcPts val="0"/>
              </a:spcBef>
              <a:buNone/>
              <a:defRPr b="0" i="0" sz="4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0" Type="http://schemas.openxmlformats.org/officeDocument/2006/relationships/image" Target="../media/image7.png"/><Relationship Id="rId22" Type="http://schemas.openxmlformats.org/officeDocument/2006/relationships/image" Target="../media/image11.png"/><Relationship Id="rId21" Type="http://schemas.openxmlformats.org/officeDocument/2006/relationships/image" Target="../media/image14.png"/><Relationship Id="rId24" Type="http://schemas.openxmlformats.org/officeDocument/2006/relationships/image" Target="../media/image15.png"/><Relationship Id="rId23" Type="http://schemas.openxmlformats.org/officeDocument/2006/relationships/image" Target="../media/image18.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7.png"/><Relationship Id="rId4" Type="http://schemas.openxmlformats.org/officeDocument/2006/relationships/image" Target="../media/image3.png"/><Relationship Id="rId9" Type="http://schemas.openxmlformats.org/officeDocument/2006/relationships/image" Target="../media/image1.png"/><Relationship Id="rId26" Type="http://schemas.openxmlformats.org/officeDocument/2006/relationships/image" Target="../media/image24.jpg"/><Relationship Id="rId25" Type="http://schemas.openxmlformats.org/officeDocument/2006/relationships/image" Target="../media/image22.png"/><Relationship Id="rId28" Type="http://schemas.openxmlformats.org/officeDocument/2006/relationships/image" Target="../media/image23.png"/><Relationship Id="rId27" Type="http://schemas.openxmlformats.org/officeDocument/2006/relationships/image" Target="../media/image17.jpg"/><Relationship Id="rId5" Type="http://schemas.openxmlformats.org/officeDocument/2006/relationships/image" Target="../media/image6.png"/><Relationship Id="rId6" Type="http://schemas.openxmlformats.org/officeDocument/2006/relationships/image" Target="../media/image12.png"/><Relationship Id="rId29" Type="http://schemas.openxmlformats.org/officeDocument/2006/relationships/image" Target="../media/image20.png"/><Relationship Id="rId7" Type="http://schemas.openxmlformats.org/officeDocument/2006/relationships/image" Target="../media/image2.jpg"/><Relationship Id="rId8" Type="http://schemas.openxmlformats.org/officeDocument/2006/relationships/image" Target="../media/image9.png"/><Relationship Id="rId31" Type="http://schemas.openxmlformats.org/officeDocument/2006/relationships/image" Target="../media/image25.png"/><Relationship Id="rId30" Type="http://schemas.openxmlformats.org/officeDocument/2006/relationships/image" Target="../media/image26.png"/><Relationship Id="rId11" Type="http://schemas.openxmlformats.org/officeDocument/2006/relationships/image" Target="../media/image10.png"/><Relationship Id="rId33" Type="http://schemas.openxmlformats.org/officeDocument/2006/relationships/image" Target="../media/image21.png"/><Relationship Id="rId10" Type="http://schemas.openxmlformats.org/officeDocument/2006/relationships/image" Target="../media/image16.png"/><Relationship Id="rId32" Type="http://schemas.openxmlformats.org/officeDocument/2006/relationships/image" Target="../media/image19.png"/><Relationship Id="rId13" Type="http://schemas.openxmlformats.org/officeDocument/2006/relationships/hyperlink" Target="https://cran.r-project.org/package=twitteR" TargetMode="External"/><Relationship Id="rId12" Type="http://schemas.openxmlformats.org/officeDocument/2006/relationships/hyperlink" Target="https://cran.r-project.org/package=Rfacebook" TargetMode="External"/><Relationship Id="rId15" Type="http://schemas.openxmlformats.org/officeDocument/2006/relationships/hyperlink" Target="https://github.com/mjockers/syuzhet" TargetMode="External"/><Relationship Id="rId14" Type="http://schemas.openxmlformats.org/officeDocument/2006/relationships/hyperlink" Target="https://cran.r-project.org/package=SocialMediaLab" TargetMode="External"/><Relationship Id="rId17" Type="http://schemas.openxmlformats.org/officeDocument/2006/relationships/image" Target="../media/image8.png"/><Relationship Id="rId16" Type="http://schemas.openxmlformats.org/officeDocument/2006/relationships/image" Target="../media/image4.png"/><Relationship Id="rId19" Type="http://schemas.openxmlformats.org/officeDocument/2006/relationships/image" Target="../media/image13.png"/><Relationship Id="rId1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8" name="Shape 88"/>
        <p:cNvGrpSpPr/>
        <p:nvPr/>
      </p:nvGrpSpPr>
      <p:grpSpPr>
        <a:xfrm>
          <a:off x="0" y="0"/>
          <a:ext cx="0" cy="0"/>
          <a:chOff x="0" y="0"/>
          <a:chExt cx="0" cy="0"/>
        </a:xfrm>
      </p:grpSpPr>
      <p:pic>
        <p:nvPicPr>
          <p:cNvPr id="89" name="Google Shape;89;p13"/>
          <p:cNvPicPr preferRelativeResize="0"/>
          <p:nvPr/>
        </p:nvPicPr>
        <p:blipFill rotWithShape="1">
          <a:blip r:embed="rId3">
            <a:alphaModFix/>
          </a:blip>
          <a:srcRect b="0" l="0" r="0" t="0"/>
          <a:stretch/>
        </p:blipFill>
        <p:spPr>
          <a:xfrm>
            <a:off x="-61920" y="-349"/>
            <a:ext cx="36699841" cy="41550336"/>
          </a:xfrm>
          <a:prstGeom prst="rect">
            <a:avLst/>
          </a:prstGeom>
          <a:noFill/>
          <a:ln>
            <a:noFill/>
          </a:ln>
        </p:spPr>
      </p:pic>
      <p:pic>
        <p:nvPicPr>
          <p:cNvPr id="90" name="Google Shape;90;p13"/>
          <p:cNvPicPr preferRelativeResize="0"/>
          <p:nvPr/>
        </p:nvPicPr>
        <p:blipFill rotWithShape="1">
          <a:blip r:embed="rId4">
            <a:alphaModFix/>
          </a:blip>
          <a:srcRect b="0" l="0" r="0" t="0"/>
          <a:stretch/>
        </p:blipFill>
        <p:spPr>
          <a:xfrm>
            <a:off x="1068832" y="37814134"/>
            <a:ext cx="35250775" cy="2036649"/>
          </a:xfrm>
          <a:prstGeom prst="rect">
            <a:avLst/>
          </a:prstGeom>
          <a:noFill/>
          <a:ln>
            <a:noFill/>
          </a:ln>
        </p:spPr>
      </p:pic>
      <p:pic>
        <p:nvPicPr>
          <p:cNvPr id="91" name="Google Shape;91;p13"/>
          <p:cNvPicPr preferRelativeResize="0"/>
          <p:nvPr/>
        </p:nvPicPr>
        <p:blipFill rotWithShape="1">
          <a:blip r:embed="rId5">
            <a:alphaModFix/>
          </a:blip>
          <a:srcRect b="0" l="0" r="0" t="0"/>
          <a:stretch/>
        </p:blipFill>
        <p:spPr>
          <a:xfrm>
            <a:off x="1068831" y="5699858"/>
            <a:ext cx="33943728" cy="1885638"/>
          </a:xfrm>
          <a:prstGeom prst="rect">
            <a:avLst/>
          </a:prstGeom>
          <a:noFill/>
          <a:ln>
            <a:noFill/>
          </a:ln>
        </p:spPr>
      </p:pic>
      <p:sp>
        <p:nvSpPr>
          <p:cNvPr id="92" name="Google Shape;92;p13"/>
          <p:cNvSpPr txBox="1"/>
          <p:nvPr/>
        </p:nvSpPr>
        <p:spPr>
          <a:xfrm>
            <a:off x="2767143" y="5483921"/>
            <a:ext cx="30224562" cy="109260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6500" u="none" cap="none" strike="noStrike">
                <a:solidFill>
                  <a:schemeClr val="dk1"/>
                </a:solidFill>
                <a:latin typeface="Raleway Medium"/>
                <a:ea typeface="Raleway Medium"/>
                <a:cs typeface="Raleway Medium"/>
                <a:sym typeface="Raleway Medium"/>
              </a:rPr>
              <a:t>Research Questions</a:t>
            </a:r>
            <a:endParaRPr sz="6500">
              <a:solidFill>
                <a:schemeClr val="dk1"/>
              </a:solidFill>
              <a:latin typeface="Raleway Medium"/>
              <a:ea typeface="Raleway Medium"/>
              <a:cs typeface="Raleway Medium"/>
              <a:sym typeface="Raleway Medium"/>
            </a:endParaRPr>
          </a:p>
        </p:txBody>
      </p:sp>
      <p:sp>
        <p:nvSpPr>
          <p:cNvPr id="93" name="Google Shape;93;p13"/>
          <p:cNvSpPr txBox="1"/>
          <p:nvPr/>
        </p:nvSpPr>
        <p:spPr>
          <a:xfrm>
            <a:off x="9127379" y="11593825"/>
            <a:ext cx="4357561" cy="332398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3000">
                <a:solidFill>
                  <a:schemeClr val="dk1"/>
                </a:solidFill>
                <a:latin typeface="Trebuchet MS"/>
                <a:ea typeface="Trebuchet MS"/>
                <a:cs typeface="Trebuchet MS"/>
                <a:sym typeface="Trebuchet MS"/>
              </a:rPr>
              <a:t>Twitter Data</a:t>
            </a:r>
            <a:r>
              <a:rPr b="1" baseline="30000" lang="en-US" sz="3000">
                <a:solidFill>
                  <a:schemeClr val="dk1"/>
                </a:solidFill>
                <a:latin typeface="Trebuchet MS"/>
                <a:ea typeface="Trebuchet MS"/>
                <a:cs typeface="Trebuchet MS"/>
                <a:sym typeface="Trebuchet MS"/>
              </a:rPr>
              <a:t>[2]</a:t>
            </a:r>
            <a:endParaRPr b="1" sz="3000">
              <a:solidFill>
                <a:schemeClr val="dk1"/>
              </a:solidFill>
              <a:latin typeface="Trebuchet MS"/>
              <a:ea typeface="Trebuchet MS"/>
              <a:cs typeface="Trebuchet MS"/>
              <a:sym typeface="Trebuchet MS"/>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43,409 tweets from 1,296</a:t>
            </a:r>
            <a:r>
              <a:rPr lang="en-US" sz="3000">
                <a:solidFill>
                  <a:srgbClr val="FF0000"/>
                </a:solidFill>
                <a:latin typeface="Trebuchet MS"/>
                <a:ea typeface="Trebuchet MS"/>
                <a:cs typeface="Trebuchet MS"/>
                <a:sym typeface="Trebuchet MS"/>
              </a:rPr>
              <a:t> </a:t>
            </a:r>
            <a:r>
              <a:rPr lang="en-US" sz="3000">
                <a:solidFill>
                  <a:schemeClr val="dk1"/>
                </a:solidFill>
                <a:latin typeface="Trebuchet MS"/>
                <a:ea typeface="Trebuchet MS"/>
                <a:cs typeface="Trebuchet MS"/>
                <a:sym typeface="Trebuchet MS"/>
              </a:rPr>
              <a:t>users between 2014 to 2016</a:t>
            </a:r>
            <a:endParaRPr sz="3000">
              <a:solidFill>
                <a:schemeClr val="dk1"/>
              </a:solidFill>
              <a:latin typeface="Trebuchet MS"/>
              <a:ea typeface="Trebuchet MS"/>
              <a:cs typeface="Trebuchet MS"/>
              <a:sym typeface="Trebuchet MS"/>
            </a:endParaRPr>
          </a:p>
          <a:p>
            <a:pPr indent="-457200" lvl="0" marL="457200" marR="0" rtl="0" algn="l">
              <a:spcBef>
                <a:spcPts val="0"/>
              </a:spcBef>
              <a:spcAft>
                <a:spcPts val="0"/>
              </a:spcAft>
              <a:buClr>
                <a:srgbClr val="000000"/>
              </a:buClr>
              <a:buSzPts val="3000"/>
              <a:buFont typeface="Arial"/>
              <a:buChar char="•"/>
            </a:pPr>
            <a:r>
              <a:rPr lang="en-US" sz="3000">
                <a:solidFill>
                  <a:srgbClr val="000000"/>
                </a:solidFill>
                <a:latin typeface="Trebuchet MS"/>
                <a:ea typeface="Trebuchet MS"/>
                <a:cs typeface="Trebuchet MS"/>
                <a:sym typeface="Trebuchet MS"/>
              </a:rPr>
              <a:t>8,938 </a:t>
            </a:r>
            <a:r>
              <a:rPr lang="en-US" sz="3000">
                <a:solidFill>
                  <a:schemeClr val="dk1"/>
                </a:solidFill>
                <a:latin typeface="Trebuchet MS"/>
                <a:ea typeface="Trebuchet MS"/>
                <a:cs typeface="Trebuchet MS"/>
                <a:sym typeface="Trebuchet MS"/>
              </a:rPr>
              <a:t>Army/military related hashtags</a:t>
            </a:r>
            <a:endParaRPr sz="3000">
              <a:solidFill>
                <a:schemeClr val="dk1"/>
              </a:solidFill>
              <a:latin typeface="Trebuchet MS"/>
              <a:ea typeface="Trebuchet MS"/>
              <a:cs typeface="Trebuchet MS"/>
              <a:sym typeface="Trebuchet MS"/>
            </a:endParaRPr>
          </a:p>
          <a:p>
            <a:pPr indent="-266700" lvl="0" marL="457200" marR="0" rtl="0" algn="l">
              <a:spcBef>
                <a:spcPts val="0"/>
              </a:spcBef>
              <a:spcAft>
                <a:spcPts val="0"/>
              </a:spcAft>
              <a:buClr>
                <a:schemeClr val="dk1"/>
              </a:buClr>
              <a:buSzPts val="3000"/>
              <a:buFont typeface="Arial"/>
              <a:buNone/>
            </a:pPr>
            <a:r>
              <a:t/>
            </a:r>
            <a:endParaRPr sz="3000">
              <a:solidFill>
                <a:schemeClr val="dk1"/>
              </a:solidFill>
              <a:latin typeface="Trebuchet MS"/>
              <a:ea typeface="Trebuchet MS"/>
              <a:cs typeface="Trebuchet MS"/>
              <a:sym typeface="Trebuchet MS"/>
            </a:endParaRPr>
          </a:p>
        </p:txBody>
      </p:sp>
      <p:sp>
        <p:nvSpPr>
          <p:cNvPr id="94" name="Google Shape;94;p13"/>
          <p:cNvSpPr txBox="1"/>
          <p:nvPr/>
        </p:nvSpPr>
        <p:spPr>
          <a:xfrm>
            <a:off x="2691476" y="11523267"/>
            <a:ext cx="6239990" cy="357020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3000">
                <a:solidFill>
                  <a:schemeClr val="dk1"/>
                </a:solidFill>
                <a:latin typeface="Trebuchet MS"/>
                <a:ea typeface="Trebuchet MS"/>
                <a:cs typeface="Trebuchet MS"/>
                <a:sym typeface="Trebuchet MS"/>
              </a:rPr>
              <a:t>Facebook Data</a:t>
            </a:r>
            <a:r>
              <a:rPr b="1" baseline="30000" lang="en-US" sz="3000">
                <a:solidFill>
                  <a:schemeClr val="dk1"/>
                </a:solidFill>
                <a:latin typeface="Trebuchet MS"/>
                <a:ea typeface="Trebuchet MS"/>
                <a:cs typeface="Trebuchet MS"/>
                <a:sym typeface="Trebuchet MS"/>
              </a:rPr>
              <a:t>[1]</a:t>
            </a:r>
            <a:endParaRPr b="1" sz="3000">
              <a:solidFill>
                <a:schemeClr val="dk1"/>
              </a:solidFill>
              <a:latin typeface="Trebuchet MS"/>
              <a:ea typeface="Trebuchet MS"/>
              <a:cs typeface="Trebuchet MS"/>
              <a:sym typeface="Trebuchet MS"/>
            </a:endParaRPr>
          </a:p>
          <a:p>
            <a:pPr indent="-457200" lvl="0" marL="457200" marR="0" rtl="0" algn="l">
              <a:spcBef>
                <a:spcPts val="0"/>
              </a:spcBef>
              <a:spcAft>
                <a:spcPts val="0"/>
              </a:spcAft>
              <a:buClr>
                <a:schemeClr val="dk1"/>
              </a:buClr>
              <a:buSzPts val="2800"/>
              <a:buFont typeface="Arial"/>
              <a:buChar char="•"/>
            </a:pPr>
            <a:r>
              <a:rPr lang="en-US" sz="2800">
                <a:solidFill>
                  <a:schemeClr val="dk1"/>
                </a:solidFill>
                <a:latin typeface="Trebuchet MS"/>
                <a:ea typeface="Trebuchet MS"/>
                <a:cs typeface="Trebuchet MS"/>
                <a:sym typeface="Trebuchet MS"/>
              </a:rPr>
              <a:t>34 Army/military related pages</a:t>
            </a:r>
            <a:endParaRPr/>
          </a:p>
          <a:p>
            <a:pPr indent="-457200" lvl="0" marL="457200" marR="0" rtl="0" algn="l">
              <a:spcBef>
                <a:spcPts val="0"/>
              </a:spcBef>
              <a:spcAft>
                <a:spcPts val="0"/>
              </a:spcAft>
              <a:buClr>
                <a:schemeClr val="dk1"/>
              </a:buClr>
              <a:buSzPts val="2800"/>
              <a:buFont typeface="Arial"/>
              <a:buChar char="•"/>
            </a:pPr>
            <a:r>
              <a:rPr lang="en-US" sz="2800">
                <a:solidFill>
                  <a:schemeClr val="dk1"/>
                </a:solidFill>
                <a:latin typeface="Trebuchet MS"/>
                <a:ea typeface="Trebuchet MS"/>
                <a:cs typeface="Trebuchet MS"/>
                <a:sym typeface="Trebuchet MS"/>
              </a:rPr>
              <a:t>Pages grouped in 6 categories: Army Bases, Official Army, Unofficial Army, Unofficial Military, Army Family, and Military Family </a:t>
            </a:r>
            <a:endParaRPr/>
          </a:p>
          <a:p>
            <a:pPr indent="-457200" lvl="0" marL="457200" marR="0" rtl="0" algn="l">
              <a:spcBef>
                <a:spcPts val="0"/>
              </a:spcBef>
              <a:spcAft>
                <a:spcPts val="0"/>
              </a:spcAft>
              <a:buClr>
                <a:schemeClr val="dk1"/>
              </a:buClr>
              <a:buSzPts val="2800"/>
              <a:buFont typeface="Arial"/>
              <a:buChar char="•"/>
            </a:pPr>
            <a:r>
              <a:rPr lang="en-US" sz="2800">
                <a:solidFill>
                  <a:schemeClr val="dk1"/>
                </a:solidFill>
                <a:latin typeface="Trebuchet MS"/>
                <a:ea typeface="Trebuchet MS"/>
                <a:cs typeface="Trebuchet MS"/>
                <a:sym typeface="Trebuchet MS"/>
              </a:rPr>
              <a:t>6,089,415 comments from 191,342 posts</a:t>
            </a:r>
            <a:r>
              <a:rPr lang="en-US" sz="2800">
                <a:solidFill>
                  <a:srgbClr val="FF0000"/>
                </a:solidFill>
                <a:latin typeface="Trebuchet MS"/>
                <a:ea typeface="Trebuchet MS"/>
                <a:cs typeface="Trebuchet MS"/>
                <a:sym typeface="Trebuchet MS"/>
              </a:rPr>
              <a:t> </a:t>
            </a:r>
            <a:r>
              <a:rPr lang="en-US" sz="2800">
                <a:solidFill>
                  <a:schemeClr val="dk1"/>
                </a:solidFill>
                <a:latin typeface="Trebuchet MS"/>
                <a:ea typeface="Trebuchet MS"/>
                <a:cs typeface="Trebuchet MS"/>
                <a:sym typeface="Trebuchet MS"/>
              </a:rPr>
              <a:t>until July 5, 2016</a:t>
            </a:r>
            <a:endParaRPr sz="2800">
              <a:solidFill>
                <a:schemeClr val="dk1"/>
              </a:solidFill>
              <a:latin typeface="Trebuchet MS"/>
              <a:ea typeface="Trebuchet MS"/>
              <a:cs typeface="Trebuchet MS"/>
              <a:sym typeface="Trebuchet MS"/>
            </a:endParaRPr>
          </a:p>
        </p:txBody>
      </p:sp>
      <p:sp>
        <p:nvSpPr>
          <p:cNvPr id="95" name="Google Shape;95;p13"/>
          <p:cNvSpPr txBox="1"/>
          <p:nvPr/>
        </p:nvSpPr>
        <p:spPr>
          <a:xfrm>
            <a:off x="13565606" y="11563028"/>
            <a:ext cx="7469720" cy="424731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3000">
                <a:solidFill>
                  <a:schemeClr val="dk1"/>
                </a:solidFill>
                <a:latin typeface="Trebuchet MS"/>
                <a:ea typeface="Trebuchet MS"/>
                <a:cs typeface="Trebuchet MS"/>
                <a:sym typeface="Trebuchet MS"/>
              </a:rPr>
              <a:t>   YouTube Data</a:t>
            </a:r>
            <a:r>
              <a:rPr b="1" baseline="30000" lang="en-US" sz="3000">
                <a:solidFill>
                  <a:schemeClr val="dk1"/>
                </a:solidFill>
                <a:latin typeface="Trebuchet MS"/>
                <a:ea typeface="Trebuchet MS"/>
                <a:cs typeface="Trebuchet MS"/>
                <a:sym typeface="Trebuchet MS"/>
              </a:rPr>
              <a:t>[3]</a:t>
            </a:r>
            <a:endParaRPr b="1" sz="3000">
              <a:solidFill>
                <a:schemeClr val="dk1"/>
              </a:solidFill>
              <a:latin typeface="Trebuchet MS"/>
              <a:ea typeface="Trebuchet MS"/>
              <a:cs typeface="Trebuchet MS"/>
              <a:sym typeface="Trebuchet MS"/>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68 videos on 10 different topics such as education (e.g., college, GI bill), health (e.g. suicide, PTSD), quality of life (e.g., life on base, mail, food), sexual assault of women, and transgender </a:t>
            </a:r>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9,791 comments from the videos</a:t>
            </a:r>
            <a:endParaRPr/>
          </a:p>
          <a:p>
            <a:pPr indent="-266700" lvl="0" marL="457200" marR="0" rtl="0" algn="l">
              <a:spcBef>
                <a:spcPts val="0"/>
              </a:spcBef>
              <a:spcAft>
                <a:spcPts val="0"/>
              </a:spcAft>
              <a:buClr>
                <a:schemeClr val="dk1"/>
              </a:buClr>
              <a:buSzPts val="3000"/>
              <a:buFont typeface="Arial"/>
              <a:buNone/>
            </a:pPr>
            <a:r>
              <a:t/>
            </a:r>
            <a:endParaRPr sz="3000">
              <a:solidFill>
                <a:schemeClr val="dk1"/>
              </a:solidFill>
              <a:latin typeface="Trebuchet MS"/>
              <a:ea typeface="Trebuchet MS"/>
              <a:cs typeface="Trebuchet MS"/>
              <a:sym typeface="Trebuchet MS"/>
            </a:endParaRPr>
          </a:p>
        </p:txBody>
      </p:sp>
      <p:pic>
        <p:nvPicPr>
          <p:cNvPr id="96" name="Google Shape;96;p13"/>
          <p:cNvPicPr preferRelativeResize="0"/>
          <p:nvPr/>
        </p:nvPicPr>
        <p:blipFill rotWithShape="1">
          <a:blip r:embed="rId6">
            <a:alphaModFix/>
          </a:blip>
          <a:srcRect b="0" l="0" r="39783" t="0"/>
          <a:stretch/>
        </p:blipFill>
        <p:spPr>
          <a:xfrm>
            <a:off x="1068831" y="15376602"/>
            <a:ext cx="19916124" cy="1885638"/>
          </a:xfrm>
          <a:prstGeom prst="rect">
            <a:avLst/>
          </a:prstGeom>
          <a:noFill/>
          <a:ln>
            <a:noFill/>
          </a:ln>
        </p:spPr>
      </p:pic>
      <p:sp>
        <p:nvSpPr>
          <p:cNvPr id="97" name="Google Shape;97;p13"/>
          <p:cNvSpPr txBox="1"/>
          <p:nvPr/>
        </p:nvSpPr>
        <p:spPr>
          <a:xfrm>
            <a:off x="2919933" y="15185738"/>
            <a:ext cx="30224562" cy="109260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6500">
                <a:solidFill>
                  <a:schemeClr val="dk1"/>
                </a:solidFill>
                <a:latin typeface="Raleway Medium"/>
                <a:ea typeface="Raleway Medium"/>
                <a:cs typeface="Raleway Medium"/>
                <a:sym typeface="Raleway Medium"/>
              </a:rPr>
              <a:t>Analysis</a:t>
            </a:r>
            <a:endParaRPr sz="6500">
              <a:solidFill>
                <a:schemeClr val="dk1"/>
              </a:solidFill>
              <a:latin typeface="Raleway Medium"/>
              <a:ea typeface="Raleway Medium"/>
              <a:cs typeface="Raleway Medium"/>
              <a:sym typeface="Raleway Medium"/>
            </a:endParaRPr>
          </a:p>
        </p:txBody>
      </p:sp>
      <p:pic>
        <p:nvPicPr>
          <p:cNvPr id="98" name="Google Shape;98;p13"/>
          <p:cNvPicPr preferRelativeResize="0"/>
          <p:nvPr/>
        </p:nvPicPr>
        <p:blipFill rotWithShape="1">
          <a:blip r:embed="rId7">
            <a:alphaModFix/>
          </a:blip>
          <a:srcRect b="0" l="0" r="0" t="0"/>
          <a:stretch/>
        </p:blipFill>
        <p:spPr>
          <a:xfrm>
            <a:off x="3658646" y="11563028"/>
            <a:ext cx="539496" cy="539496"/>
          </a:xfrm>
          <a:prstGeom prst="rect">
            <a:avLst/>
          </a:prstGeom>
          <a:noFill/>
          <a:ln>
            <a:noFill/>
          </a:ln>
        </p:spPr>
      </p:pic>
      <p:sp>
        <p:nvSpPr>
          <p:cNvPr id="99" name="Google Shape;99;p13"/>
          <p:cNvSpPr txBox="1"/>
          <p:nvPr/>
        </p:nvSpPr>
        <p:spPr>
          <a:xfrm>
            <a:off x="2812501" y="8693518"/>
            <a:ext cx="30224562" cy="109260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6500">
                <a:solidFill>
                  <a:schemeClr val="dk1"/>
                </a:solidFill>
                <a:latin typeface="Raleway Medium"/>
                <a:ea typeface="Raleway Medium"/>
                <a:cs typeface="Raleway Medium"/>
                <a:sym typeface="Raleway Medium"/>
              </a:rPr>
              <a:t>Data &amp; Methods</a:t>
            </a:r>
            <a:endParaRPr/>
          </a:p>
        </p:txBody>
      </p:sp>
      <p:sp>
        <p:nvSpPr>
          <p:cNvPr id="100" name="Google Shape;100;p13"/>
          <p:cNvSpPr txBox="1"/>
          <p:nvPr/>
        </p:nvSpPr>
        <p:spPr>
          <a:xfrm>
            <a:off x="2686123" y="6686207"/>
            <a:ext cx="31565726" cy="19389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Social media offers a new opportunity to capture Soldiers’ well-being and/or concerns about the Army. This exploratory study aims to understand the use of social media by the U.S. Army population. We use data from various social media platforms to address the following questions:</a:t>
            </a:r>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Are there differences in topics and sentiments across groups (e.g., Soldiers vs. family) and across social media venues? </a:t>
            </a:r>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Can we identify determinants of attrition and changes in policies through the chatter in social media?</a:t>
            </a:r>
            <a:endParaRPr/>
          </a:p>
        </p:txBody>
      </p:sp>
      <p:sp>
        <p:nvSpPr>
          <p:cNvPr id="101" name="Google Shape;101;p13"/>
          <p:cNvSpPr txBox="1"/>
          <p:nvPr/>
        </p:nvSpPr>
        <p:spPr>
          <a:xfrm>
            <a:off x="2692181" y="9848828"/>
            <a:ext cx="17680424" cy="147732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The study focuses on Facebook, Twitter, and YouTube as they are the most commonly used social media platforms. They provide users with a free application programming interface (API) that facilitates the collection of the data.</a:t>
            </a:r>
            <a:endParaRPr sz="3000">
              <a:solidFill>
                <a:schemeClr val="dk1"/>
              </a:solidFill>
              <a:latin typeface="Trebuchet MS"/>
              <a:ea typeface="Trebuchet MS"/>
              <a:cs typeface="Trebuchet MS"/>
              <a:sym typeface="Trebuchet MS"/>
            </a:endParaRPr>
          </a:p>
        </p:txBody>
      </p:sp>
      <p:sp>
        <p:nvSpPr>
          <p:cNvPr id="102" name="Google Shape;102;p13"/>
          <p:cNvSpPr/>
          <p:nvPr/>
        </p:nvSpPr>
        <p:spPr>
          <a:xfrm>
            <a:off x="2907879" y="16606759"/>
            <a:ext cx="9452893" cy="900074"/>
          </a:xfrm>
          <a:prstGeom prst="roundRect">
            <a:avLst>
              <a:gd fmla="val 16667" name="adj"/>
            </a:avLst>
          </a:prstGeom>
          <a:solidFill>
            <a:srgbClr val="76717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6500">
                <a:solidFill>
                  <a:schemeClr val="lt1"/>
                </a:solidFill>
                <a:latin typeface="Trebuchet MS"/>
                <a:ea typeface="Trebuchet MS"/>
                <a:cs typeface="Trebuchet MS"/>
                <a:sym typeface="Trebuchet MS"/>
              </a:rPr>
              <a:t>Topics by Group</a:t>
            </a:r>
            <a:endParaRPr sz="6500">
              <a:solidFill>
                <a:schemeClr val="lt1"/>
              </a:solidFill>
              <a:latin typeface="Trebuchet MS"/>
              <a:ea typeface="Trebuchet MS"/>
              <a:cs typeface="Trebuchet MS"/>
              <a:sym typeface="Trebuchet MS"/>
            </a:endParaRPr>
          </a:p>
        </p:txBody>
      </p:sp>
      <p:pic>
        <p:nvPicPr>
          <p:cNvPr id="103" name="Google Shape;103;p13"/>
          <p:cNvPicPr preferRelativeResize="0"/>
          <p:nvPr/>
        </p:nvPicPr>
        <p:blipFill rotWithShape="1">
          <a:blip r:embed="rId7">
            <a:alphaModFix/>
          </a:blip>
          <a:srcRect b="0" l="0" r="0" t="0"/>
          <a:stretch/>
        </p:blipFill>
        <p:spPr>
          <a:xfrm>
            <a:off x="3161208" y="16606759"/>
            <a:ext cx="900074" cy="900074"/>
          </a:xfrm>
          <a:prstGeom prst="rect">
            <a:avLst/>
          </a:prstGeom>
          <a:noFill/>
          <a:ln>
            <a:noFill/>
          </a:ln>
        </p:spPr>
      </p:pic>
      <p:sp>
        <p:nvSpPr>
          <p:cNvPr id="104" name="Google Shape;104;p13"/>
          <p:cNvSpPr/>
          <p:nvPr/>
        </p:nvSpPr>
        <p:spPr>
          <a:xfrm>
            <a:off x="13575323" y="16607530"/>
            <a:ext cx="10551428" cy="900074"/>
          </a:xfrm>
          <a:prstGeom prst="roundRect">
            <a:avLst>
              <a:gd fmla="val 16667" name="adj"/>
            </a:avLst>
          </a:prstGeom>
          <a:solidFill>
            <a:srgbClr val="76717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6500">
                <a:solidFill>
                  <a:schemeClr val="lt1"/>
                </a:solidFill>
                <a:latin typeface="Trebuchet MS"/>
                <a:ea typeface="Trebuchet MS"/>
                <a:cs typeface="Trebuchet MS"/>
                <a:sym typeface="Trebuchet MS"/>
              </a:rPr>
              <a:t>    #Hashtag Sentiments</a:t>
            </a:r>
            <a:endParaRPr sz="6500">
              <a:solidFill>
                <a:schemeClr val="lt1"/>
              </a:solidFill>
              <a:latin typeface="Trebuchet MS"/>
              <a:ea typeface="Trebuchet MS"/>
              <a:cs typeface="Trebuchet MS"/>
              <a:sym typeface="Trebuchet MS"/>
            </a:endParaRPr>
          </a:p>
        </p:txBody>
      </p:sp>
      <p:sp>
        <p:nvSpPr>
          <p:cNvPr id="105" name="Google Shape;105;p13"/>
          <p:cNvSpPr/>
          <p:nvPr/>
        </p:nvSpPr>
        <p:spPr>
          <a:xfrm>
            <a:off x="24852923" y="16631386"/>
            <a:ext cx="9452893" cy="900074"/>
          </a:xfrm>
          <a:prstGeom prst="roundRect">
            <a:avLst>
              <a:gd fmla="val 16667" name="adj"/>
            </a:avLst>
          </a:prstGeom>
          <a:solidFill>
            <a:srgbClr val="76717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6500">
                <a:solidFill>
                  <a:schemeClr val="lt1"/>
                </a:solidFill>
                <a:latin typeface="Trebuchet MS"/>
                <a:ea typeface="Trebuchet MS"/>
                <a:cs typeface="Trebuchet MS"/>
                <a:sym typeface="Trebuchet MS"/>
              </a:rPr>
              <a:t>    Sentiments by Topic</a:t>
            </a:r>
            <a:endParaRPr sz="6500">
              <a:solidFill>
                <a:schemeClr val="lt1"/>
              </a:solidFill>
              <a:latin typeface="Trebuchet MS"/>
              <a:ea typeface="Trebuchet MS"/>
              <a:cs typeface="Trebuchet MS"/>
              <a:sym typeface="Trebuchet MS"/>
            </a:endParaRPr>
          </a:p>
        </p:txBody>
      </p:sp>
      <p:pic>
        <p:nvPicPr>
          <p:cNvPr id="106" name="Google Shape;106;p13"/>
          <p:cNvPicPr preferRelativeResize="0"/>
          <p:nvPr/>
        </p:nvPicPr>
        <p:blipFill rotWithShape="1">
          <a:blip r:embed="rId8">
            <a:alphaModFix/>
          </a:blip>
          <a:srcRect b="0" l="0" r="0" t="0"/>
          <a:stretch/>
        </p:blipFill>
        <p:spPr>
          <a:xfrm>
            <a:off x="24926013" y="16631386"/>
            <a:ext cx="1278330" cy="900074"/>
          </a:xfrm>
          <a:prstGeom prst="rect">
            <a:avLst/>
          </a:prstGeom>
          <a:noFill/>
          <a:ln>
            <a:noFill/>
          </a:ln>
        </p:spPr>
      </p:pic>
      <p:pic>
        <p:nvPicPr>
          <p:cNvPr id="107" name="Google Shape;107;p13"/>
          <p:cNvPicPr preferRelativeResize="0"/>
          <p:nvPr/>
        </p:nvPicPr>
        <p:blipFill rotWithShape="1">
          <a:blip r:embed="rId9">
            <a:alphaModFix/>
          </a:blip>
          <a:srcRect b="0" l="0" r="0" t="0"/>
          <a:stretch/>
        </p:blipFill>
        <p:spPr>
          <a:xfrm>
            <a:off x="13754881" y="16594756"/>
            <a:ext cx="1122822" cy="912847"/>
          </a:xfrm>
          <a:prstGeom prst="rect">
            <a:avLst/>
          </a:prstGeom>
          <a:noFill/>
          <a:ln>
            <a:noFill/>
          </a:ln>
        </p:spPr>
      </p:pic>
      <p:sp>
        <p:nvSpPr>
          <p:cNvPr id="108" name="Google Shape;108;p13"/>
          <p:cNvSpPr/>
          <p:nvPr/>
        </p:nvSpPr>
        <p:spPr>
          <a:xfrm>
            <a:off x="16423609" y="27091300"/>
            <a:ext cx="18014729" cy="912168"/>
          </a:xfrm>
          <a:prstGeom prst="roundRect">
            <a:avLst>
              <a:gd fmla="val 16667" name="adj"/>
            </a:avLst>
          </a:prstGeom>
          <a:solidFill>
            <a:srgbClr val="76717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6500">
                <a:solidFill>
                  <a:schemeClr val="lt1"/>
                </a:solidFill>
                <a:latin typeface="Trebuchet MS"/>
                <a:ea typeface="Trebuchet MS"/>
                <a:cs typeface="Trebuchet MS"/>
                <a:sym typeface="Trebuchet MS"/>
              </a:rPr>
              <a:t>Identifying Policy Changes Over Time</a:t>
            </a:r>
            <a:endParaRPr sz="6500">
              <a:solidFill>
                <a:schemeClr val="lt1"/>
              </a:solidFill>
              <a:latin typeface="Trebuchet MS"/>
              <a:ea typeface="Trebuchet MS"/>
              <a:cs typeface="Trebuchet MS"/>
              <a:sym typeface="Trebuchet MS"/>
            </a:endParaRPr>
          </a:p>
        </p:txBody>
      </p:sp>
      <p:pic>
        <p:nvPicPr>
          <p:cNvPr id="109" name="Google Shape;109;p13"/>
          <p:cNvPicPr preferRelativeResize="0"/>
          <p:nvPr/>
        </p:nvPicPr>
        <p:blipFill rotWithShape="1">
          <a:blip r:embed="rId7">
            <a:alphaModFix/>
          </a:blip>
          <a:srcRect b="0" l="0" r="0" t="0"/>
          <a:stretch/>
        </p:blipFill>
        <p:spPr>
          <a:xfrm>
            <a:off x="16585506" y="27144141"/>
            <a:ext cx="859325" cy="859325"/>
          </a:xfrm>
          <a:prstGeom prst="rect">
            <a:avLst/>
          </a:prstGeom>
          <a:noFill/>
          <a:ln>
            <a:noFill/>
          </a:ln>
        </p:spPr>
      </p:pic>
      <p:pic>
        <p:nvPicPr>
          <p:cNvPr id="110" name="Google Shape;110;p13"/>
          <p:cNvPicPr preferRelativeResize="0"/>
          <p:nvPr/>
        </p:nvPicPr>
        <p:blipFill rotWithShape="1">
          <a:blip r:embed="rId9">
            <a:alphaModFix/>
          </a:blip>
          <a:srcRect b="0" l="0" r="0" t="0"/>
          <a:stretch/>
        </p:blipFill>
        <p:spPr>
          <a:xfrm>
            <a:off x="33411600" y="27155950"/>
            <a:ext cx="948737" cy="771317"/>
          </a:xfrm>
          <a:prstGeom prst="rect">
            <a:avLst/>
          </a:prstGeom>
          <a:noFill/>
          <a:ln>
            <a:noFill/>
          </a:ln>
        </p:spPr>
      </p:pic>
      <p:sp>
        <p:nvSpPr>
          <p:cNvPr id="111" name="Google Shape;111;p13"/>
          <p:cNvSpPr txBox="1"/>
          <p:nvPr/>
        </p:nvSpPr>
        <p:spPr>
          <a:xfrm>
            <a:off x="24852923" y="17562350"/>
            <a:ext cx="10121331" cy="1015663"/>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Sentiment analysis is used to compare sentiments about various topics.</a:t>
            </a:r>
            <a:r>
              <a:rPr baseline="30000" lang="en-US" sz="3000">
                <a:solidFill>
                  <a:schemeClr val="dk1"/>
                </a:solidFill>
                <a:latin typeface="Trebuchet MS"/>
                <a:ea typeface="Trebuchet MS"/>
                <a:cs typeface="Trebuchet MS"/>
                <a:sym typeface="Trebuchet MS"/>
              </a:rPr>
              <a:t>[4]</a:t>
            </a:r>
            <a:r>
              <a:rPr lang="en-US" sz="3000">
                <a:solidFill>
                  <a:schemeClr val="dk1"/>
                </a:solidFill>
                <a:latin typeface="Trebuchet MS"/>
                <a:ea typeface="Trebuchet MS"/>
                <a:cs typeface="Trebuchet MS"/>
                <a:sym typeface="Trebuchet MS"/>
              </a:rPr>
              <a:t> </a:t>
            </a:r>
            <a:endParaRPr sz="3000">
              <a:solidFill>
                <a:schemeClr val="dk1"/>
              </a:solidFill>
              <a:latin typeface="Trebuchet MS"/>
              <a:ea typeface="Trebuchet MS"/>
              <a:cs typeface="Trebuchet MS"/>
              <a:sym typeface="Trebuchet MS"/>
            </a:endParaRPr>
          </a:p>
        </p:txBody>
      </p:sp>
      <p:sp>
        <p:nvSpPr>
          <p:cNvPr id="112" name="Google Shape;112;p13"/>
          <p:cNvSpPr txBox="1"/>
          <p:nvPr/>
        </p:nvSpPr>
        <p:spPr>
          <a:xfrm>
            <a:off x="13575325" y="17576209"/>
            <a:ext cx="10551428" cy="1015663"/>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Analyzed the sentiments in the tweets that contain the 100 most frequent hashtags.</a:t>
            </a:r>
            <a:r>
              <a:rPr baseline="30000" lang="en-US" sz="3000">
                <a:solidFill>
                  <a:schemeClr val="dk1"/>
                </a:solidFill>
                <a:latin typeface="Trebuchet MS"/>
                <a:ea typeface="Trebuchet MS"/>
                <a:cs typeface="Trebuchet MS"/>
                <a:sym typeface="Trebuchet MS"/>
              </a:rPr>
              <a:t>[4]</a:t>
            </a:r>
            <a:endParaRPr sz="3000">
              <a:solidFill>
                <a:schemeClr val="dk1"/>
              </a:solidFill>
              <a:latin typeface="Trebuchet MS"/>
              <a:ea typeface="Trebuchet MS"/>
              <a:cs typeface="Trebuchet MS"/>
              <a:sym typeface="Trebuchet MS"/>
            </a:endParaRPr>
          </a:p>
        </p:txBody>
      </p:sp>
      <p:sp>
        <p:nvSpPr>
          <p:cNvPr id="113" name="Google Shape;113;p13"/>
          <p:cNvSpPr/>
          <p:nvPr/>
        </p:nvSpPr>
        <p:spPr>
          <a:xfrm>
            <a:off x="21515711" y="9051354"/>
            <a:ext cx="13088376" cy="900074"/>
          </a:xfrm>
          <a:prstGeom prst="roundRect">
            <a:avLst>
              <a:gd fmla="val 16667" name="adj"/>
            </a:avLst>
          </a:prstGeom>
          <a:solidFill>
            <a:srgbClr val="76717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6500">
                <a:solidFill>
                  <a:schemeClr val="lt1"/>
                </a:solidFill>
                <a:latin typeface="Trebuchet MS"/>
                <a:ea typeface="Trebuchet MS"/>
                <a:cs typeface="Trebuchet MS"/>
                <a:sym typeface="Trebuchet MS"/>
              </a:rPr>
              <a:t>Sentiment Comparisons</a:t>
            </a:r>
            <a:endParaRPr sz="6500">
              <a:solidFill>
                <a:schemeClr val="lt1"/>
              </a:solidFill>
              <a:latin typeface="Trebuchet MS"/>
              <a:ea typeface="Trebuchet MS"/>
              <a:cs typeface="Trebuchet MS"/>
              <a:sym typeface="Trebuchet MS"/>
            </a:endParaRPr>
          </a:p>
        </p:txBody>
      </p:sp>
      <p:pic>
        <p:nvPicPr>
          <p:cNvPr id="114" name="Google Shape;114;p13"/>
          <p:cNvPicPr preferRelativeResize="0"/>
          <p:nvPr/>
        </p:nvPicPr>
        <p:blipFill rotWithShape="1">
          <a:blip r:embed="rId8">
            <a:alphaModFix/>
          </a:blip>
          <a:srcRect b="0" l="0" r="0" t="0"/>
          <a:stretch/>
        </p:blipFill>
        <p:spPr>
          <a:xfrm>
            <a:off x="33365719" y="9029456"/>
            <a:ext cx="1278330" cy="900074"/>
          </a:xfrm>
          <a:prstGeom prst="rect">
            <a:avLst/>
          </a:prstGeom>
          <a:noFill/>
          <a:ln>
            <a:noFill/>
          </a:ln>
        </p:spPr>
      </p:pic>
      <p:pic>
        <p:nvPicPr>
          <p:cNvPr id="115" name="Google Shape;115;p13"/>
          <p:cNvPicPr preferRelativeResize="0"/>
          <p:nvPr/>
        </p:nvPicPr>
        <p:blipFill rotWithShape="1">
          <a:blip r:embed="rId7">
            <a:alphaModFix/>
          </a:blip>
          <a:srcRect b="0" l="0" r="0" t="0"/>
          <a:stretch/>
        </p:blipFill>
        <p:spPr>
          <a:xfrm>
            <a:off x="31153916" y="9077508"/>
            <a:ext cx="900074" cy="900074"/>
          </a:xfrm>
          <a:prstGeom prst="rect">
            <a:avLst/>
          </a:prstGeom>
          <a:noFill/>
          <a:ln>
            <a:noFill/>
          </a:ln>
        </p:spPr>
      </p:pic>
      <p:pic>
        <p:nvPicPr>
          <p:cNvPr id="116" name="Google Shape;116;p13"/>
          <p:cNvPicPr preferRelativeResize="0"/>
          <p:nvPr/>
        </p:nvPicPr>
        <p:blipFill rotWithShape="1">
          <a:blip r:embed="rId9">
            <a:alphaModFix/>
          </a:blip>
          <a:srcRect b="0" l="0" r="0" t="0"/>
          <a:stretch/>
        </p:blipFill>
        <p:spPr>
          <a:xfrm>
            <a:off x="32213997" y="9035868"/>
            <a:ext cx="1122822" cy="912847"/>
          </a:xfrm>
          <a:prstGeom prst="rect">
            <a:avLst/>
          </a:prstGeom>
          <a:noFill/>
          <a:ln>
            <a:noFill/>
          </a:ln>
        </p:spPr>
      </p:pic>
      <p:sp>
        <p:nvSpPr>
          <p:cNvPr id="117" name="Google Shape;117;p13"/>
          <p:cNvSpPr txBox="1"/>
          <p:nvPr/>
        </p:nvSpPr>
        <p:spPr>
          <a:xfrm>
            <a:off x="21440300" y="10110332"/>
            <a:ext cx="13694550" cy="553998"/>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For each social media platform, the overall sentiment is calculated.</a:t>
            </a:r>
            <a:r>
              <a:rPr baseline="30000" lang="en-US" sz="3000">
                <a:solidFill>
                  <a:schemeClr val="dk1"/>
                </a:solidFill>
                <a:latin typeface="Trebuchet MS"/>
                <a:ea typeface="Trebuchet MS"/>
                <a:cs typeface="Trebuchet MS"/>
                <a:sym typeface="Trebuchet MS"/>
              </a:rPr>
              <a:t>[4]</a:t>
            </a:r>
            <a:endParaRPr sz="3000">
              <a:solidFill>
                <a:schemeClr val="dk1"/>
              </a:solidFill>
              <a:latin typeface="Trebuchet MS"/>
              <a:ea typeface="Trebuchet MS"/>
              <a:cs typeface="Trebuchet MS"/>
              <a:sym typeface="Trebuchet MS"/>
            </a:endParaRPr>
          </a:p>
        </p:txBody>
      </p:sp>
      <p:sp>
        <p:nvSpPr>
          <p:cNvPr id="118" name="Google Shape;118;p13"/>
          <p:cNvSpPr txBox="1"/>
          <p:nvPr/>
        </p:nvSpPr>
        <p:spPr>
          <a:xfrm>
            <a:off x="13873291" y="24572163"/>
            <a:ext cx="10376371" cy="1477328"/>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Most hashtags are more positive than negative.</a:t>
            </a:r>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Tweets with #veteran tend to be the most positive, and tweets about the election tend to be the most negative. </a:t>
            </a:r>
            <a:endParaRPr/>
          </a:p>
        </p:txBody>
      </p:sp>
      <p:pic>
        <p:nvPicPr>
          <p:cNvPr id="119" name="Google Shape;119;p13"/>
          <p:cNvPicPr preferRelativeResize="0"/>
          <p:nvPr/>
        </p:nvPicPr>
        <p:blipFill rotWithShape="1">
          <a:blip r:embed="rId10">
            <a:alphaModFix/>
          </a:blip>
          <a:srcRect b="0" l="0" r="0" t="0"/>
          <a:stretch/>
        </p:blipFill>
        <p:spPr>
          <a:xfrm>
            <a:off x="16434134" y="29491566"/>
            <a:ext cx="8205713" cy="6051713"/>
          </a:xfrm>
          <a:prstGeom prst="rect">
            <a:avLst/>
          </a:prstGeom>
          <a:noFill/>
          <a:ln>
            <a:noFill/>
          </a:ln>
        </p:spPr>
      </p:pic>
      <p:pic>
        <p:nvPicPr>
          <p:cNvPr id="120" name="Google Shape;120;p13"/>
          <p:cNvPicPr preferRelativeResize="0"/>
          <p:nvPr/>
        </p:nvPicPr>
        <p:blipFill rotWithShape="1">
          <a:blip r:embed="rId11">
            <a:alphaModFix/>
          </a:blip>
          <a:srcRect b="0" l="11118" r="20256" t="0"/>
          <a:stretch/>
        </p:blipFill>
        <p:spPr>
          <a:xfrm>
            <a:off x="1949381" y="18656995"/>
            <a:ext cx="6792686" cy="7266857"/>
          </a:xfrm>
          <a:prstGeom prst="rect">
            <a:avLst/>
          </a:prstGeom>
          <a:noFill/>
          <a:ln>
            <a:noFill/>
          </a:ln>
        </p:spPr>
      </p:pic>
      <p:sp>
        <p:nvSpPr>
          <p:cNvPr id="121" name="Google Shape;121;p13"/>
          <p:cNvSpPr txBox="1"/>
          <p:nvPr/>
        </p:nvSpPr>
        <p:spPr>
          <a:xfrm>
            <a:off x="24780723" y="24243158"/>
            <a:ext cx="10394388" cy="2400657"/>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The sentiments vary for each topic with the total sentiment being more negative. </a:t>
            </a:r>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Barring positivity and negativity, fear is the main sentiment expressed with respect to sexual assault and health. </a:t>
            </a:r>
            <a:endParaRPr/>
          </a:p>
        </p:txBody>
      </p:sp>
      <p:sp>
        <p:nvSpPr>
          <p:cNvPr id="122" name="Google Shape;122;p13"/>
          <p:cNvSpPr txBox="1"/>
          <p:nvPr/>
        </p:nvSpPr>
        <p:spPr>
          <a:xfrm>
            <a:off x="17065041" y="37523319"/>
            <a:ext cx="14567485" cy="1200329"/>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1800"/>
              <a:buFont typeface="Arial"/>
              <a:buChar char="•"/>
            </a:pPr>
            <a:r>
              <a:rPr lang="en-US" sz="1800">
                <a:solidFill>
                  <a:schemeClr val="dk1"/>
                </a:solidFill>
                <a:latin typeface="Trebuchet MS"/>
                <a:ea typeface="Trebuchet MS"/>
                <a:cs typeface="Trebuchet MS"/>
                <a:sym typeface="Trebuchet MS"/>
              </a:rPr>
              <a:t>We thank Dr. Brian Goode (Research Scientist, Discovery Analytics Center, Virginia Tech) for guidance on access to the social media platforms.</a:t>
            </a:r>
            <a:endParaRPr/>
          </a:p>
          <a:p>
            <a:pPr indent="-457200" lvl="0" marL="457200" marR="0" rtl="0" algn="l">
              <a:spcBef>
                <a:spcPts val="0"/>
              </a:spcBef>
              <a:spcAft>
                <a:spcPts val="0"/>
              </a:spcAft>
              <a:buClr>
                <a:schemeClr val="dk1"/>
              </a:buClr>
              <a:buSzPts val="1800"/>
              <a:buFont typeface="Arial"/>
              <a:buChar char="•"/>
            </a:pPr>
            <a:r>
              <a:rPr lang="en-US" sz="1800">
                <a:solidFill>
                  <a:schemeClr val="dk1"/>
                </a:solidFill>
                <a:latin typeface="Trebuchet MS"/>
                <a:ea typeface="Trebuchet MS"/>
                <a:cs typeface="Trebuchet MS"/>
                <a:sym typeface="Trebuchet MS"/>
              </a:rPr>
              <a:t>We thank Madison Arnsbargar (Virginia Tech), Jessica Flynn (Cornell), Emily Stark (Austin Peay), and Kathryn Ziemer (SDAL)</a:t>
            </a:r>
            <a:r>
              <a:rPr lang="en-US" sz="1800">
                <a:solidFill>
                  <a:srgbClr val="FF0000"/>
                </a:solidFill>
                <a:latin typeface="Trebuchet MS"/>
                <a:ea typeface="Trebuchet MS"/>
                <a:cs typeface="Trebuchet MS"/>
                <a:sym typeface="Trebuchet MS"/>
              </a:rPr>
              <a:t> </a:t>
            </a:r>
            <a:r>
              <a:rPr lang="en-US" sz="1800">
                <a:solidFill>
                  <a:schemeClr val="dk1"/>
                </a:solidFill>
                <a:latin typeface="Trebuchet MS"/>
                <a:ea typeface="Trebuchet MS"/>
                <a:cs typeface="Trebuchet MS"/>
                <a:sym typeface="Trebuchet MS"/>
              </a:rPr>
              <a:t>for helping us with identifying the relevant policy changes for the period of the study. </a:t>
            </a:r>
            <a:endParaRPr sz="1800">
              <a:solidFill>
                <a:schemeClr val="dk1"/>
              </a:solidFill>
              <a:latin typeface="Trebuchet MS"/>
              <a:ea typeface="Trebuchet MS"/>
              <a:cs typeface="Trebuchet MS"/>
              <a:sym typeface="Trebuchet MS"/>
            </a:endParaRPr>
          </a:p>
        </p:txBody>
      </p:sp>
      <p:sp>
        <p:nvSpPr>
          <p:cNvPr id="123" name="Google Shape;123;p13"/>
          <p:cNvSpPr txBox="1"/>
          <p:nvPr/>
        </p:nvSpPr>
        <p:spPr>
          <a:xfrm>
            <a:off x="29199322" y="11434516"/>
            <a:ext cx="5971688" cy="4247317"/>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rgbClr val="3C589B"/>
              </a:buClr>
              <a:buSzPts val="3000"/>
              <a:buFont typeface="Arial"/>
              <a:buChar char="•"/>
            </a:pPr>
            <a:r>
              <a:rPr b="1" lang="en-US" sz="3000">
                <a:solidFill>
                  <a:srgbClr val="3C589B"/>
                </a:solidFill>
                <a:latin typeface="Trebuchet MS"/>
                <a:ea typeface="Trebuchet MS"/>
                <a:cs typeface="Trebuchet MS"/>
                <a:sym typeface="Trebuchet MS"/>
              </a:rPr>
              <a:t>Facebook (dark blue)</a:t>
            </a:r>
            <a:r>
              <a:rPr lang="en-US" sz="3000">
                <a:solidFill>
                  <a:schemeClr val="dk1"/>
                </a:solidFill>
                <a:latin typeface="Trebuchet MS"/>
                <a:ea typeface="Trebuchet MS"/>
                <a:cs typeface="Trebuchet MS"/>
                <a:sym typeface="Trebuchet MS"/>
              </a:rPr>
              <a:t> and </a:t>
            </a:r>
            <a:r>
              <a:rPr b="1" lang="en-US" sz="3000">
                <a:solidFill>
                  <a:srgbClr val="30ABF1"/>
                </a:solidFill>
                <a:latin typeface="Trebuchet MS"/>
                <a:ea typeface="Trebuchet MS"/>
                <a:cs typeface="Trebuchet MS"/>
                <a:sym typeface="Trebuchet MS"/>
              </a:rPr>
              <a:t>Twitter (light blue)</a:t>
            </a:r>
            <a:r>
              <a:rPr lang="en-US" sz="3000">
                <a:solidFill>
                  <a:schemeClr val="dk1"/>
                </a:solidFill>
                <a:latin typeface="Trebuchet MS"/>
                <a:ea typeface="Trebuchet MS"/>
                <a:cs typeface="Trebuchet MS"/>
                <a:sym typeface="Trebuchet MS"/>
              </a:rPr>
              <a:t> have strikingly similar sentiment.</a:t>
            </a:r>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The sentiments on </a:t>
            </a:r>
            <a:r>
              <a:rPr b="1" lang="en-US" sz="3000">
                <a:solidFill>
                  <a:srgbClr val="C41B18"/>
                </a:solidFill>
                <a:latin typeface="Trebuchet MS"/>
                <a:ea typeface="Trebuchet MS"/>
                <a:cs typeface="Trebuchet MS"/>
                <a:sym typeface="Trebuchet MS"/>
              </a:rPr>
              <a:t>YouTube (red) </a:t>
            </a:r>
            <a:r>
              <a:rPr lang="en-US" sz="3000">
                <a:solidFill>
                  <a:schemeClr val="dk1"/>
                </a:solidFill>
                <a:latin typeface="Trebuchet MS"/>
                <a:ea typeface="Trebuchet MS"/>
                <a:cs typeface="Trebuchet MS"/>
                <a:sym typeface="Trebuchet MS"/>
              </a:rPr>
              <a:t>are more negative than either </a:t>
            </a:r>
            <a:r>
              <a:rPr b="1" lang="en-US" sz="3000">
                <a:solidFill>
                  <a:srgbClr val="3C589B"/>
                </a:solidFill>
                <a:latin typeface="Trebuchet MS"/>
                <a:ea typeface="Trebuchet MS"/>
                <a:cs typeface="Trebuchet MS"/>
                <a:sym typeface="Trebuchet MS"/>
              </a:rPr>
              <a:t>Facebook</a:t>
            </a:r>
            <a:r>
              <a:rPr lang="en-US" sz="3000">
                <a:solidFill>
                  <a:schemeClr val="dk1"/>
                </a:solidFill>
                <a:latin typeface="Trebuchet MS"/>
                <a:ea typeface="Trebuchet MS"/>
                <a:cs typeface="Trebuchet MS"/>
                <a:sym typeface="Trebuchet MS"/>
              </a:rPr>
              <a:t> or </a:t>
            </a:r>
            <a:r>
              <a:rPr b="1" lang="en-US" sz="3000">
                <a:solidFill>
                  <a:srgbClr val="30ABF1"/>
                </a:solidFill>
                <a:latin typeface="Trebuchet MS"/>
                <a:ea typeface="Trebuchet MS"/>
                <a:cs typeface="Trebuchet MS"/>
                <a:sym typeface="Trebuchet MS"/>
              </a:rPr>
              <a:t>Twitter</a:t>
            </a:r>
            <a:r>
              <a:rPr lang="en-US" sz="3000">
                <a:solidFill>
                  <a:schemeClr val="dk1"/>
                </a:solidFill>
                <a:latin typeface="Trebuchet MS"/>
                <a:ea typeface="Trebuchet MS"/>
                <a:cs typeface="Trebuchet MS"/>
                <a:sym typeface="Trebuchet MS"/>
              </a:rPr>
              <a:t>.</a:t>
            </a:r>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This may be due to the increased anonymity afforded by </a:t>
            </a:r>
            <a:r>
              <a:rPr b="1" lang="en-US" sz="3000">
                <a:solidFill>
                  <a:srgbClr val="C41B18"/>
                </a:solidFill>
                <a:latin typeface="Trebuchet MS"/>
                <a:ea typeface="Trebuchet MS"/>
                <a:cs typeface="Trebuchet MS"/>
                <a:sym typeface="Trebuchet MS"/>
              </a:rPr>
              <a:t>YouTube</a:t>
            </a:r>
            <a:r>
              <a:rPr lang="en-US" sz="3000">
                <a:solidFill>
                  <a:schemeClr val="dk1"/>
                </a:solidFill>
                <a:latin typeface="Trebuchet MS"/>
                <a:ea typeface="Trebuchet MS"/>
                <a:cs typeface="Trebuchet MS"/>
                <a:sym typeface="Trebuchet MS"/>
              </a:rPr>
              <a:t>.</a:t>
            </a:r>
            <a:endParaRPr/>
          </a:p>
        </p:txBody>
      </p:sp>
      <p:sp>
        <p:nvSpPr>
          <p:cNvPr id="124" name="Google Shape;124;p13"/>
          <p:cNvSpPr txBox="1"/>
          <p:nvPr/>
        </p:nvSpPr>
        <p:spPr>
          <a:xfrm>
            <a:off x="9032582" y="20611831"/>
            <a:ext cx="2649594" cy="553998"/>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rgbClr val="FF0000"/>
              </a:buClr>
              <a:buSzPts val="3000"/>
              <a:buFont typeface="Arial"/>
              <a:buChar char="•"/>
            </a:pPr>
            <a:r>
              <a:rPr lang="en-US" sz="3000">
                <a:solidFill>
                  <a:srgbClr val="FF0000"/>
                </a:solidFill>
                <a:latin typeface="Trebuchet MS"/>
                <a:ea typeface="Trebuchet MS"/>
                <a:cs typeface="Trebuchet MS"/>
                <a:sym typeface="Trebuchet MS"/>
              </a:rPr>
              <a:t>Legend?</a:t>
            </a:r>
            <a:endParaRPr/>
          </a:p>
        </p:txBody>
      </p:sp>
      <p:sp>
        <p:nvSpPr>
          <p:cNvPr id="125" name="Google Shape;125;p13"/>
          <p:cNvSpPr txBox="1"/>
          <p:nvPr/>
        </p:nvSpPr>
        <p:spPr>
          <a:xfrm>
            <a:off x="24443764" y="30415525"/>
            <a:ext cx="3093765" cy="553998"/>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rgbClr val="FF0000"/>
              </a:buClr>
              <a:buSzPts val="3000"/>
              <a:buFont typeface="Arial"/>
              <a:buChar char="•"/>
            </a:pPr>
            <a:r>
              <a:rPr lang="en-US" sz="3000">
                <a:solidFill>
                  <a:srgbClr val="FF0000"/>
                </a:solidFill>
                <a:latin typeface="Trebuchet MS"/>
                <a:ea typeface="Trebuchet MS"/>
                <a:cs typeface="Trebuchet MS"/>
                <a:sym typeface="Trebuchet MS"/>
              </a:rPr>
              <a:t>???</a:t>
            </a:r>
            <a:endParaRPr/>
          </a:p>
        </p:txBody>
      </p:sp>
      <p:sp>
        <p:nvSpPr>
          <p:cNvPr id="126" name="Google Shape;126;p13"/>
          <p:cNvSpPr txBox="1"/>
          <p:nvPr/>
        </p:nvSpPr>
        <p:spPr>
          <a:xfrm>
            <a:off x="2601465" y="36709984"/>
            <a:ext cx="13560687" cy="1815882"/>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1600"/>
              <a:buFont typeface="Calibri"/>
              <a:buAutoNum type="arabicPeriod"/>
            </a:pPr>
            <a:r>
              <a:rPr lang="en-US" sz="1600">
                <a:solidFill>
                  <a:schemeClr val="dk1"/>
                </a:solidFill>
                <a:latin typeface="Trebuchet MS"/>
                <a:ea typeface="Trebuchet MS"/>
                <a:cs typeface="Trebuchet MS"/>
                <a:sym typeface="Trebuchet MS"/>
              </a:rPr>
              <a:t>Pablo Barbera, Michael Piccirilli and Andrew Geisler (2016). Rfacebook: Access to Facebook API via R. R package version 0.6.3. </a:t>
            </a:r>
            <a:r>
              <a:rPr lang="en-US" sz="1600" u="sng">
                <a:solidFill>
                  <a:schemeClr val="hlink"/>
                </a:solidFill>
                <a:latin typeface="Trebuchet MS"/>
                <a:ea typeface="Trebuchet MS"/>
                <a:cs typeface="Trebuchet MS"/>
                <a:sym typeface="Trebuchet MS"/>
                <a:hlinkClick r:id="rId12"/>
              </a:rPr>
              <a:t>https://CRAN.R-project.org/package=Rfacebook</a:t>
            </a:r>
            <a:r>
              <a:rPr lang="en-US" sz="1600">
                <a:solidFill>
                  <a:schemeClr val="dk1"/>
                </a:solidFill>
                <a:latin typeface="Trebuchet MS"/>
                <a:ea typeface="Trebuchet MS"/>
                <a:cs typeface="Trebuchet MS"/>
                <a:sym typeface="Trebuchet MS"/>
              </a:rPr>
              <a:t> </a:t>
            </a:r>
            <a:endParaRPr/>
          </a:p>
          <a:p>
            <a:pPr indent="-457200" lvl="0" marL="457200" marR="0" rtl="0" algn="l">
              <a:spcBef>
                <a:spcPts val="0"/>
              </a:spcBef>
              <a:spcAft>
                <a:spcPts val="0"/>
              </a:spcAft>
              <a:buClr>
                <a:schemeClr val="dk1"/>
              </a:buClr>
              <a:buSzPts val="1600"/>
              <a:buFont typeface="Calibri"/>
              <a:buAutoNum type="arabicPeriod"/>
            </a:pPr>
            <a:r>
              <a:rPr lang="en-US" sz="1600">
                <a:solidFill>
                  <a:schemeClr val="dk1"/>
                </a:solidFill>
                <a:latin typeface="Trebuchet MS"/>
                <a:ea typeface="Trebuchet MS"/>
                <a:cs typeface="Trebuchet MS"/>
                <a:sym typeface="Trebuchet MS"/>
              </a:rPr>
              <a:t>Jeff Gentry (2015). twitteR: R Based Twitter Client. R package version 1.1.9. </a:t>
            </a:r>
            <a:r>
              <a:rPr lang="en-US" sz="1600" u="sng">
                <a:solidFill>
                  <a:schemeClr val="hlink"/>
                </a:solidFill>
                <a:latin typeface="Trebuchet MS"/>
                <a:ea typeface="Trebuchet MS"/>
                <a:cs typeface="Trebuchet MS"/>
                <a:sym typeface="Trebuchet MS"/>
                <a:hlinkClick r:id="rId13"/>
              </a:rPr>
              <a:t>https://CRAN.R-project.org/package=twitteR</a:t>
            </a:r>
            <a:endParaRPr sz="1600">
              <a:solidFill>
                <a:schemeClr val="dk1"/>
              </a:solidFill>
              <a:latin typeface="Trebuchet MS"/>
              <a:ea typeface="Trebuchet MS"/>
              <a:cs typeface="Trebuchet MS"/>
              <a:sym typeface="Trebuchet MS"/>
            </a:endParaRPr>
          </a:p>
          <a:p>
            <a:pPr indent="-457200" lvl="0" marL="457200" marR="0" rtl="0" algn="l">
              <a:spcBef>
                <a:spcPts val="0"/>
              </a:spcBef>
              <a:spcAft>
                <a:spcPts val="0"/>
              </a:spcAft>
              <a:buClr>
                <a:schemeClr val="dk1"/>
              </a:buClr>
              <a:buSzPts val="1600"/>
              <a:buFont typeface="Calibri"/>
              <a:buAutoNum type="arabicPeriod"/>
            </a:pPr>
            <a:r>
              <a:rPr lang="en-US" sz="1600">
                <a:solidFill>
                  <a:schemeClr val="dk1"/>
                </a:solidFill>
                <a:latin typeface="Trebuchet MS"/>
                <a:ea typeface="Trebuchet MS"/>
                <a:cs typeface="Trebuchet MS"/>
                <a:sym typeface="Trebuchet MS"/>
              </a:rPr>
              <a:t>Timothy Graham &amp; Robert Ackland and with contribution from Chung-hong Chan (2016). SocialMediaLab: Tools for Collecting Social Media Data and Generating Networks for Analysis. R package version 0.22.0. </a:t>
            </a:r>
            <a:r>
              <a:rPr lang="en-US" sz="1600" u="sng">
                <a:solidFill>
                  <a:schemeClr val="hlink"/>
                </a:solidFill>
                <a:latin typeface="Trebuchet MS"/>
                <a:ea typeface="Trebuchet MS"/>
                <a:cs typeface="Trebuchet MS"/>
                <a:sym typeface="Trebuchet MS"/>
                <a:hlinkClick r:id="rId14"/>
              </a:rPr>
              <a:t>https://CRAN.R-project.org/package=SocialMediaLab</a:t>
            </a:r>
            <a:endParaRPr sz="1600">
              <a:solidFill>
                <a:schemeClr val="dk1"/>
              </a:solidFill>
              <a:latin typeface="Trebuchet MS"/>
              <a:ea typeface="Trebuchet MS"/>
              <a:cs typeface="Trebuchet MS"/>
              <a:sym typeface="Trebuchet MS"/>
            </a:endParaRPr>
          </a:p>
          <a:p>
            <a:pPr indent="-457200" lvl="0" marL="457200" marR="0" rtl="0" algn="l">
              <a:spcBef>
                <a:spcPts val="0"/>
              </a:spcBef>
              <a:spcAft>
                <a:spcPts val="0"/>
              </a:spcAft>
              <a:buClr>
                <a:schemeClr val="dk1"/>
              </a:buClr>
              <a:buSzPts val="1600"/>
              <a:buFont typeface="Calibri"/>
              <a:buAutoNum type="arabicPeriod"/>
            </a:pPr>
            <a:r>
              <a:rPr lang="en-US" sz="1600">
                <a:solidFill>
                  <a:schemeClr val="dk1"/>
                </a:solidFill>
                <a:latin typeface="Trebuchet MS"/>
                <a:ea typeface="Trebuchet MS"/>
                <a:cs typeface="Trebuchet MS"/>
                <a:sym typeface="Trebuchet MS"/>
              </a:rPr>
              <a:t>Jockers ML (2015). _Syuzhet: Extract Sentiment and Plot Arcs from Text_. &lt;URL: </a:t>
            </a:r>
            <a:r>
              <a:rPr lang="en-US" sz="1600" u="sng">
                <a:solidFill>
                  <a:schemeClr val="hlink"/>
                </a:solidFill>
                <a:latin typeface="Trebuchet MS"/>
                <a:ea typeface="Trebuchet MS"/>
                <a:cs typeface="Trebuchet MS"/>
                <a:sym typeface="Trebuchet MS"/>
                <a:hlinkClick r:id="rId15"/>
              </a:rPr>
              <a:t>https://github.com/mjockers/syuzhet</a:t>
            </a:r>
            <a:r>
              <a:rPr lang="en-US" sz="1600">
                <a:solidFill>
                  <a:schemeClr val="dk1"/>
                </a:solidFill>
                <a:latin typeface="Trebuchet MS"/>
                <a:ea typeface="Trebuchet MS"/>
                <a:cs typeface="Trebuchet MS"/>
                <a:sym typeface="Trebuchet MS"/>
              </a:rPr>
              <a:t>&gt;.</a:t>
            </a:r>
            <a:endParaRPr/>
          </a:p>
          <a:p>
            <a:pPr indent="-355600" lvl="0" marL="457200" marR="0" rtl="0" algn="l">
              <a:spcBef>
                <a:spcPts val="0"/>
              </a:spcBef>
              <a:spcAft>
                <a:spcPts val="0"/>
              </a:spcAft>
              <a:buClr>
                <a:schemeClr val="dk1"/>
              </a:buClr>
              <a:buSzPts val="1600"/>
              <a:buFont typeface="Arial"/>
              <a:buNone/>
            </a:pPr>
            <a:r>
              <a:t/>
            </a:r>
            <a:endParaRPr sz="1600">
              <a:solidFill>
                <a:schemeClr val="dk1"/>
              </a:solidFill>
              <a:latin typeface="Trebuchet MS"/>
              <a:ea typeface="Trebuchet MS"/>
              <a:cs typeface="Trebuchet MS"/>
              <a:sym typeface="Trebuchet MS"/>
            </a:endParaRPr>
          </a:p>
        </p:txBody>
      </p:sp>
      <p:pic>
        <p:nvPicPr>
          <p:cNvPr id="127" name="Google Shape;127;p13"/>
          <p:cNvPicPr preferRelativeResize="0"/>
          <p:nvPr/>
        </p:nvPicPr>
        <p:blipFill rotWithShape="1">
          <a:blip r:embed="rId16">
            <a:alphaModFix/>
          </a:blip>
          <a:srcRect b="40549" l="80675" r="6214" t="39308"/>
          <a:stretch/>
        </p:blipFill>
        <p:spPr>
          <a:xfrm>
            <a:off x="7919033" y="19776538"/>
            <a:ext cx="4082143" cy="4604657"/>
          </a:xfrm>
          <a:prstGeom prst="rect">
            <a:avLst/>
          </a:prstGeom>
          <a:noFill/>
          <a:ln>
            <a:noFill/>
          </a:ln>
        </p:spPr>
      </p:pic>
      <p:sp>
        <p:nvSpPr>
          <p:cNvPr id="128" name="Google Shape;128;p13"/>
          <p:cNvSpPr txBox="1"/>
          <p:nvPr/>
        </p:nvSpPr>
        <p:spPr>
          <a:xfrm>
            <a:off x="8054817" y="20017094"/>
            <a:ext cx="1467853" cy="55399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Groups</a:t>
            </a:r>
            <a:endParaRPr sz="3000">
              <a:solidFill>
                <a:schemeClr val="dk1"/>
              </a:solidFill>
              <a:latin typeface="Trebuchet MS"/>
              <a:ea typeface="Trebuchet MS"/>
              <a:cs typeface="Trebuchet MS"/>
              <a:sym typeface="Trebuchet MS"/>
            </a:endParaRPr>
          </a:p>
        </p:txBody>
      </p:sp>
      <p:grpSp>
        <p:nvGrpSpPr>
          <p:cNvPr id="129" name="Google Shape;129;p13"/>
          <p:cNvGrpSpPr/>
          <p:nvPr/>
        </p:nvGrpSpPr>
        <p:grpSpPr>
          <a:xfrm>
            <a:off x="8788743" y="20619224"/>
            <a:ext cx="3737811" cy="3474506"/>
            <a:chOff x="8788743" y="21357052"/>
            <a:chExt cx="3737811" cy="3474506"/>
          </a:xfrm>
        </p:grpSpPr>
        <p:sp>
          <p:nvSpPr>
            <p:cNvPr id="130" name="Google Shape;130;p13"/>
            <p:cNvSpPr txBox="1"/>
            <p:nvPr/>
          </p:nvSpPr>
          <p:spPr>
            <a:xfrm>
              <a:off x="8788744" y="21357052"/>
              <a:ext cx="2679032" cy="55399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Official Army</a:t>
              </a:r>
              <a:endParaRPr sz="3000">
                <a:solidFill>
                  <a:schemeClr val="dk1"/>
                </a:solidFill>
                <a:latin typeface="Trebuchet MS"/>
                <a:ea typeface="Trebuchet MS"/>
                <a:cs typeface="Trebuchet MS"/>
                <a:sym typeface="Trebuchet MS"/>
              </a:endParaRPr>
            </a:p>
          </p:txBody>
        </p:sp>
        <p:sp>
          <p:nvSpPr>
            <p:cNvPr id="131" name="Google Shape;131;p13"/>
            <p:cNvSpPr txBox="1"/>
            <p:nvPr/>
          </p:nvSpPr>
          <p:spPr>
            <a:xfrm>
              <a:off x="8788744" y="21911048"/>
              <a:ext cx="2679032" cy="55399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Army Family</a:t>
              </a:r>
              <a:endParaRPr sz="3000">
                <a:solidFill>
                  <a:schemeClr val="dk1"/>
                </a:solidFill>
                <a:latin typeface="Trebuchet MS"/>
                <a:ea typeface="Trebuchet MS"/>
                <a:cs typeface="Trebuchet MS"/>
                <a:sym typeface="Trebuchet MS"/>
              </a:endParaRPr>
            </a:p>
          </p:txBody>
        </p:sp>
        <p:sp>
          <p:nvSpPr>
            <p:cNvPr id="132" name="Google Shape;132;p13"/>
            <p:cNvSpPr txBox="1"/>
            <p:nvPr/>
          </p:nvSpPr>
          <p:spPr>
            <a:xfrm>
              <a:off x="8788744" y="22515220"/>
              <a:ext cx="2951748" cy="55399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Military Family</a:t>
              </a:r>
              <a:endParaRPr sz="3000">
                <a:solidFill>
                  <a:schemeClr val="dk1"/>
                </a:solidFill>
                <a:latin typeface="Trebuchet MS"/>
                <a:ea typeface="Trebuchet MS"/>
                <a:cs typeface="Trebuchet MS"/>
                <a:sym typeface="Trebuchet MS"/>
              </a:endParaRPr>
            </a:p>
          </p:txBody>
        </p:sp>
        <p:sp>
          <p:nvSpPr>
            <p:cNvPr id="133" name="Google Shape;133;p13"/>
            <p:cNvSpPr txBox="1"/>
            <p:nvPr/>
          </p:nvSpPr>
          <p:spPr>
            <a:xfrm>
              <a:off x="8788744" y="23069219"/>
              <a:ext cx="2951748" cy="55399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Unofficial Army </a:t>
              </a:r>
              <a:endParaRPr sz="3000">
                <a:solidFill>
                  <a:schemeClr val="dk1"/>
                </a:solidFill>
                <a:latin typeface="Trebuchet MS"/>
                <a:ea typeface="Trebuchet MS"/>
                <a:cs typeface="Trebuchet MS"/>
                <a:sym typeface="Trebuchet MS"/>
              </a:endParaRPr>
            </a:p>
          </p:txBody>
        </p:sp>
        <p:sp>
          <p:nvSpPr>
            <p:cNvPr id="134" name="Google Shape;134;p13"/>
            <p:cNvSpPr txBox="1"/>
            <p:nvPr/>
          </p:nvSpPr>
          <p:spPr>
            <a:xfrm>
              <a:off x="8788744" y="23673389"/>
              <a:ext cx="2679032" cy="55399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Army Bases</a:t>
              </a:r>
              <a:endParaRPr sz="3000">
                <a:solidFill>
                  <a:schemeClr val="dk1"/>
                </a:solidFill>
                <a:latin typeface="Trebuchet MS"/>
                <a:ea typeface="Trebuchet MS"/>
                <a:cs typeface="Trebuchet MS"/>
                <a:sym typeface="Trebuchet MS"/>
              </a:endParaRPr>
            </a:p>
          </p:txBody>
        </p:sp>
        <p:sp>
          <p:nvSpPr>
            <p:cNvPr id="135" name="Google Shape;135;p13"/>
            <p:cNvSpPr txBox="1"/>
            <p:nvPr/>
          </p:nvSpPr>
          <p:spPr>
            <a:xfrm>
              <a:off x="8788743" y="24277559"/>
              <a:ext cx="3737811" cy="55399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Unofficial Military</a:t>
              </a:r>
              <a:endParaRPr sz="3000">
                <a:solidFill>
                  <a:schemeClr val="dk1"/>
                </a:solidFill>
                <a:latin typeface="Trebuchet MS"/>
                <a:ea typeface="Trebuchet MS"/>
                <a:cs typeface="Trebuchet MS"/>
                <a:sym typeface="Trebuchet MS"/>
              </a:endParaRPr>
            </a:p>
          </p:txBody>
        </p:sp>
      </p:grpSp>
      <p:sp>
        <p:nvSpPr>
          <p:cNvPr id="136" name="Google Shape;136;p13"/>
          <p:cNvSpPr txBox="1"/>
          <p:nvPr/>
        </p:nvSpPr>
        <p:spPr>
          <a:xfrm>
            <a:off x="2314790" y="25373327"/>
            <a:ext cx="11435591" cy="1938992"/>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Certain words are used much more frequently in particular groups of pages (e.g., “troops” most used on Military Family pages, “join” most used on Official Army pages).</a:t>
            </a:r>
            <a:endParaRPr/>
          </a:p>
          <a:p>
            <a:pPr indent="-266700" lvl="0" marL="457200" marR="0" rtl="0" algn="l">
              <a:spcBef>
                <a:spcPts val="0"/>
              </a:spcBef>
              <a:spcAft>
                <a:spcPts val="0"/>
              </a:spcAft>
              <a:buClr>
                <a:schemeClr val="dk1"/>
              </a:buClr>
              <a:buSzPts val="3000"/>
              <a:buFont typeface="Arial"/>
              <a:buNone/>
            </a:pPr>
            <a:r>
              <a:t/>
            </a:r>
            <a:endParaRPr sz="3000">
              <a:solidFill>
                <a:schemeClr val="dk1"/>
              </a:solidFill>
              <a:latin typeface="Trebuchet MS"/>
              <a:ea typeface="Trebuchet MS"/>
              <a:cs typeface="Trebuchet MS"/>
              <a:sym typeface="Trebuchet MS"/>
            </a:endParaRPr>
          </a:p>
        </p:txBody>
      </p:sp>
      <p:pic>
        <p:nvPicPr>
          <p:cNvPr id="137" name="Google Shape;137;p13"/>
          <p:cNvPicPr preferRelativeResize="0"/>
          <p:nvPr/>
        </p:nvPicPr>
        <p:blipFill rotWithShape="1">
          <a:blip r:embed="rId17">
            <a:alphaModFix/>
          </a:blip>
          <a:srcRect b="0" l="0" r="0" t="0"/>
          <a:stretch/>
        </p:blipFill>
        <p:spPr>
          <a:xfrm>
            <a:off x="13752928" y="18753659"/>
            <a:ext cx="10499190" cy="5763142"/>
          </a:xfrm>
          <a:prstGeom prst="rect">
            <a:avLst/>
          </a:prstGeom>
          <a:noFill/>
          <a:ln>
            <a:noFill/>
          </a:ln>
        </p:spPr>
      </p:pic>
      <p:sp>
        <p:nvSpPr>
          <p:cNvPr id="138" name="Google Shape;138;p13"/>
          <p:cNvSpPr/>
          <p:nvPr/>
        </p:nvSpPr>
        <p:spPr>
          <a:xfrm>
            <a:off x="25349917" y="29723900"/>
            <a:ext cx="914243" cy="80601"/>
          </a:xfrm>
          <a:prstGeom prst="rect">
            <a:avLst/>
          </a:prstGeom>
          <a:solidFill>
            <a:schemeClr val="dk1"/>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sp>
        <p:nvSpPr>
          <p:cNvPr id="139" name="Google Shape;139;p13"/>
          <p:cNvSpPr/>
          <p:nvPr/>
        </p:nvSpPr>
        <p:spPr>
          <a:xfrm>
            <a:off x="25503630" y="29534497"/>
            <a:ext cx="449461" cy="101600"/>
          </a:xfrm>
          <a:prstGeom prst="rect">
            <a:avLst/>
          </a:prstGeom>
          <a:solidFill>
            <a:schemeClr val="dk1"/>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cxnSp>
        <p:nvCxnSpPr>
          <p:cNvPr id="140" name="Google Shape;140;p13"/>
          <p:cNvCxnSpPr/>
          <p:nvPr/>
        </p:nvCxnSpPr>
        <p:spPr>
          <a:xfrm flipH="1">
            <a:off x="21060659" y="30586856"/>
            <a:ext cx="3338075" cy="1963492"/>
          </a:xfrm>
          <a:prstGeom prst="straightConnector1">
            <a:avLst/>
          </a:prstGeom>
          <a:noFill/>
          <a:ln cap="flat" cmpd="sng" w="9525">
            <a:solidFill>
              <a:srgbClr val="FF0000"/>
            </a:solidFill>
            <a:prstDash val="solid"/>
            <a:miter lim="8000"/>
            <a:headEnd len="sm" w="sm" type="none"/>
            <a:tailEnd len="med" w="med" type="triangle"/>
          </a:ln>
        </p:spPr>
      </p:cxnSp>
      <p:cxnSp>
        <p:nvCxnSpPr>
          <p:cNvPr id="141" name="Google Shape;141;p13"/>
          <p:cNvCxnSpPr/>
          <p:nvPr/>
        </p:nvCxnSpPr>
        <p:spPr>
          <a:xfrm flipH="1">
            <a:off x="19677908" y="31348697"/>
            <a:ext cx="4720825" cy="1356702"/>
          </a:xfrm>
          <a:prstGeom prst="straightConnector1">
            <a:avLst/>
          </a:prstGeom>
          <a:noFill/>
          <a:ln cap="flat" cmpd="sng" w="9525">
            <a:solidFill>
              <a:srgbClr val="FF0000"/>
            </a:solidFill>
            <a:prstDash val="solid"/>
            <a:miter lim="8000"/>
            <a:headEnd len="sm" w="sm" type="none"/>
            <a:tailEnd len="med" w="med" type="triangle"/>
          </a:ln>
        </p:spPr>
      </p:cxnSp>
      <p:cxnSp>
        <p:nvCxnSpPr>
          <p:cNvPr id="142" name="Google Shape;142;p13"/>
          <p:cNvCxnSpPr/>
          <p:nvPr/>
        </p:nvCxnSpPr>
        <p:spPr>
          <a:xfrm rot="10800000">
            <a:off x="22882302" y="32138495"/>
            <a:ext cx="1267246" cy="232652"/>
          </a:xfrm>
          <a:prstGeom prst="straightConnector1">
            <a:avLst/>
          </a:prstGeom>
          <a:noFill/>
          <a:ln cap="flat" cmpd="sng" w="9525">
            <a:solidFill>
              <a:srgbClr val="FF0000"/>
            </a:solidFill>
            <a:prstDash val="solid"/>
            <a:miter lim="8000"/>
            <a:headEnd len="sm" w="sm" type="none"/>
            <a:tailEnd len="med" w="med" type="triangle"/>
          </a:ln>
        </p:spPr>
      </p:cxnSp>
      <p:sp>
        <p:nvSpPr>
          <p:cNvPr id="143" name="Google Shape;143;p13"/>
          <p:cNvSpPr txBox="1"/>
          <p:nvPr/>
        </p:nvSpPr>
        <p:spPr>
          <a:xfrm>
            <a:off x="11127449" y="483177"/>
            <a:ext cx="20291512" cy="31700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0000">
                <a:solidFill>
                  <a:schemeClr val="dk1"/>
                </a:solidFill>
                <a:latin typeface="Arial"/>
                <a:ea typeface="Arial"/>
                <a:cs typeface="Arial"/>
                <a:sym typeface="Arial"/>
              </a:rPr>
              <a:t>The Use of Social Media</a:t>
            </a:r>
            <a:endParaRPr sz="20000">
              <a:solidFill>
                <a:schemeClr val="dk1"/>
              </a:solidFill>
              <a:latin typeface="Arial"/>
              <a:ea typeface="Arial"/>
              <a:cs typeface="Arial"/>
              <a:sym typeface="Arial"/>
            </a:endParaRPr>
          </a:p>
        </p:txBody>
      </p:sp>
      <p:pic>
        <p:nvPicPr>
          <p:cNvPr id="144" name="Google Shape;144;p13"/>
          <p:cNvPicPr preferRelativeResize="0"/>
          <p:nvPr/>
        </p:nvPicPr>
        <p:blipFill rotWithShape="1">
          <a:blip r:embed="rId18">
            <a:alphaModFix/>
          </a:blip>
          <a:srcRect b="0" l="0" r="0" t="0"/>
          <a:stretch/>
        </p:blipFill>
        <p:spPr>
          <a:xfrm>
            <a:off x="989623" y="957385"/>
            <a:ext cx="8712200" cy="3530600"/>
          </a:xfrm>
          <a:prstGeom prst="rect">
            <a:avLst/>
          </a:prstGeom>
          <a:noFill/>
          <a:ln>
            <a:noFill/>
          </a:ln>
        </p:spPr>
      </p:pic>
      <p:pic>
        <p:nvPicPr>
          <p:cNvPr id="145" name="Google Shape;145;p13"/>
          <p:cNvPicPr preferRelativeResize="0"/>
          <p:nvPr/>
        </p:nvPicPr>
        <p:blipFill rotWithShape="1">
          <a:blip r:embed="rId19">
            <a:alphaModFix/>
          </a:blip>
          <a:srcRect b="0" l="0" r="0" t="0"/>
          <a:stretch/>
        </p:blipFill>
        <p:spPr>
          <a:xfrm>
            <a:off x="15657984" y="36481188"/>
            <a:ext cx="15495933" cy="1866671"/>
          </a:xfrm>
          <a:prstGeom prst="rect">
            <a:avLst/>
          </a:prstGeom>
          <a:noFill/>
          <a:ln>
            <a:noFill/>
          </a:ln>
        </p:spPr>
      </p:pic>
      <p:sp>
        <p:nvSpPr>
          <p:cNvPr id="146" name="Google Shape;146;p13"/>
          <p:cNvSpPr txBox="1"/>
          <p:nvPr/>
        </p:nvSpPr>
        <p:spPr>
          <a:xfrm>
            <a:off x="11127449" y="4824758"/>
            <a:ext cx="23517152" cy="107721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200">
                <a:solidFill>
                  <a:srgbClr val="757070"/>
                </a:solidFill>
                <a:latin typeface="Raleway Medium"/>
                <a:ea typeface="Raleway Medium"/>
                <a:cs typeface="Raleway Medium"/>
                <a:sym typeface="Raleway Medium"/>
              </a:rPr>
              <a:t>Mark Almanza (Virginia Tech), Millicent Grant (Iowa State University), Will Sandholtz (UC Berkeley) </a:t>
            </a:r>
            <a:endParaRPr/>
          </a:p>
          <a:p>
            <a:pPr indent="0" lvl="0" marL="0" marR="0" rtl="0" algn="l">
              <a:spcBef>
                <a:spcPts val="0"/>
              </a:spcBef>
              <a:spcAft>
                <a:spcPts val="0"/>
              </a:spcAft>
              <a:buNone/>
            </a:pPr>
            <a:r>
              <a:rPr lang="en-US" sz="3200">
                <a:solidFill>
                  <a:srgbClr val="757070"/>
                </a:solidFill>
                <a:latin typeface="Raleway Medium"/>
                <a:ea typeface="Raleway Medium"/>
                <a:cs typeface="Raleway Medium"/>
                <a:sym typeface="Raleway Medium"/>
              </a:rPr>
              <a:t>with Gizem Korkmaz  (SDAL) Sponsor: Gregory A. Ruark, U.S. Army Research Institute for the Behavioral and Social Sciences </a:t>
            </a:r>
            <a:endParaRPr/>
          </a:p>
        </p:txBody>
      </p:sp>
      <p:sp>
        <p:nvSpPr>
          <p:cNvPr id="147" name="Google Shape;147;p13"/>
          <p:cNvSpPr txBox="1"/>
          <p:nvPr/>
        </p:nvSpPr>
        <p:spPr>
          <a:xfrm>
            <a:off x="2907879" y="17579869"/>
            <a:ext cx="10074355" cy="1477328"/>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To compare topics discussed across different groups, the fraction of word frequencies over the total number of words in the comments is calculated.</a:t>
            </a:r>
            <a:endParaRPr/>
          </a:p>
        </p:txBody>
      </p:sp>
      <p:pic>
        <p:nvPicPr>
          <p:cNvPr id="148" name="Google Shape;148;p13"/>
          <p:cNvPicPr preferRelativeResize="0"/>
          <p:nvPr/>
        </p:nvPicPr>
        <p:blipFill rotWithShape="1">
          <a:blip r:embed="rId20">
            <a:alphaModFix/>
          </a:blip>
          <a:srcRect b="0" l="0" r="0" t="0"/>
          <a:stretch/>
        </p:blipFill>
        <p:spPr>
          <a:xfrm>
            <a:off x="21722592" y="10853559"/>
            <a:ext cx="7665208" cy="5313234"/>
          </a:xfrm>
          <a:prstGeom prst="rect">
            <a:avLst/>
          </a:prstGeom>
          <a:noFill/>
          <a:ln>
            <a:noFill/>
          </a:ln>
        </p:spPr>
      </p:pic>
      <p:pic>
        <p:nvPicPr>
          <p:cNvPr id="149" name="Google Shape;149;p13"/>
          <p:cNvPicPr preferRelativeResize="0"/>
          <p:nvPr/>
        </p:nvPicPr>
        <p:blipFill rotWithShape="1">
          <a:blip r:embed="rId21">
            <a:alphaModFix/>
          </a:blip>
          <a:srcRect b="0" l="0" r="0" t="0"/>
          <a:stretch/>
        </p:blipFill>
        <p:spPr>
          <a:xfrm>
            <a:off x="24622223" y="29674316"/>
            <a:ext cx="10461987" cy="5817733"/>
          </a:xfrm>
          <a:prstGeom prst="rect">
            <a:avLst/>
          </a:prstGeom>
          <a:noFill/>
          <a:ln>
            <a:noFill/>
          </a:ln>
        </p:spPr>
      </p:pic>
      <p:pic>
        <p:nvPicPr>
          <p:cNvPr id="150" name="Google Shape;150;p13"/>
          <p:cNvPicPr preferRelativeResize="0"/>
          <p:nvPr/>
        </p:nvPicPr>
        <p:blipFill rotWithShape="1">
          <a:blip r:embed="rId22">
            <a:alphaModFix/>
          </a:blip>
          <a:srcRect b="0" l="0" r="0" t="4704"/>
          <a:stretch/>
        </p:blipFill>
        <p:spPr>
          <a:xfrm>
            <a:off x="24718955" y="29382253"/>
            <a:ext cx="2863605" cy="1304907"/>
          </a:xfrm>
          <a:prstGeom prst="rect">
            <a:avLst/>
          </a:prstGeom>
          <a:noFill/>
          <a:ln>
            <a:noFill/>
          </a:ln>
        </p:spPr>
      </p:pic>
      <p:pic>
        <p:nvPicPr>
          <p:cNvPr id="151" name="Google Shape;151;p13"/>
          <p:cNvPicPr preferRelativeResize="0"/>
          <p:nvPr/>
        </p:nvPicPr>
        <p:blipFill rotWithShape="1">
          <a:blip r:embed="rId23">
            <a:alphaModFix/>
          </a:blip>
          <a:srcRect b="0" l="0" r="0" t="0"/>
          <a:stretch/>
        </p:blipFill>
        <p:spPr>
          <a:xfrm>
            <a:off x="24398734" y="30213069"/>
            <a:ext cx="5165561" cy="747573"/>
          </a:xfrm>
          <a:prstGeom prst="rect">
            <a:avLst/>
          </a:prstGeom>
          <a:noFill/>
          <a:ln>
            <a:noFill/>
          </a:ln>
        </p:spPr>
      </p:pic>
      <p:pic>
        <p:nvPicPr>
          <p:cNvPr id="152" name="Google Shape;152;p13"/>
          <p:cNvPicPr preferRelativeResize="0"/>
          <p:nvPr/>
        </p:nvPicPr>
        <p:blipFill rotWithShape="1">
          <a:blip r:embed="rId24">
            <a:alphaModFix/>
          </a:blip>
          <a:srcRect b="0" l="0" r="0" t="0"/>
          <a:stretch/>
        </p:blipFill>
        <p:spPr>
          <a:xfrm>
            <a:off x="24398733" y="31003941"/>
            <a:ext cx="4816099" cy="689507"/>
          </a:xfrm>
          <a:prstGeom prst="rect">
            <a:avLst/>
          </a:prstGeom>
          <a:noFill/>
          <a:ln>
            <a:noFill/>
          </a:ln>
        </p:spPr>
      </p:pic>
      <p:cxnSp>
        <p:nvCxnSpPr>
          <p:cNvPr id="153" name="Google Shape;153;p13"/>
          <p:cNvCxnSpPr>
            <a:stCxn id="150" idx="3"/>
          </p:cNvCxnSpPr>
          <p:nvPr/>
        </p:nvCxnSpPr>
        <p:spPr>
          <a:xfrm flipH="1" rot="10800000">
            <a:off x="27582560" y="30006807"/>
            <a:ext cx="6643800" cy="27900"/>
          </a:xfrm>
          <a:prstGeom prst="straightConnector1">
            <a:avLst/>
          </a:prstGeom>
          <a:noFill/>
          <a:ln cap="flat" cmpd="sng" w="9525">
            <a:solidFill>
              <a:srgbClr val="FF0000"/>
            </a:solidFill>
            <a:prstDash val="solid"/>
            <a:miter lim="8000"/>
            <a:headEnd len="sm" w="sm" type="none"/>
            <a:tailEnd len="med" w="med" type="triangle"/>
          </a:ln>
        </p:spPr>
      </p:cxnSp>
      <p:cxnSp>
        <p:nvCxnSpPr>
          <p:cNvPr id="154" name="Google Shape;154;p13"/>
          <p:cNvCxnSpPr/>
          <p:nvPr/>
        </p:nvCxnSpPr>
        <p:spPr>
          <a:xfrm>
            <a:off x="29564294" y="30586856"/>
            <a:ext cx="413623" cy="831744"/>
          </a:xfrm>
          <a:prstGeom prst="straightConnector1">
            <a:avLst/>
          </a:prstGeom>
          <a:noFill/>
          <a:ln cap="flat" cmpd="sng" w="9525">
            <a:solidFill>
              <a:srgbClr val="FF0000"/>
            </a:solidFill>
            <a:prstDash val="solid"/>
            <a:miter lim="8000"/>
            <a:headEnd len="sm" w="sm" type="none"/>
            <a:tailEnd len="med" w="med" type="triangle"/>
          </a:ln>
        </p:spPr>
      </p:cxnSp>
      <p:cxnSp>
        <p:nvCxnSpPr>
          <p:cNvPr id="155" name="Google Shape;155;p13"/>
          <p:cNvCxnSpPr/>
          <p:nvPr/>
        </p:nvCxnSpPr>
        <p:spPr>
          <a:xfrm>
            <a:off x="26806784" y="31693450"/>
            <a:ext cx="1633752" cy="414443"/>
          </a:xfrm>
          <a:prstGeom prst="straightConnector1">
            <a:avLst/>
          </a:prstGeom>
          <a:noFill/>
          <a:ln cap="flat" cmpd="sng" w="9525">
            <a:solidFill>
              <a:srgbClr val="FF0000"/>
            </a:solidFill>
            <a:prstDash val="solid"/>
            <a:miter lim="8000"/>
            <a:headEnd len="sm" w="sm" type="none"/>
            <a:tailEnd len="med" w="med" type="triangle"/>
          </a:ln>
        </p:spPr>
      </p:cxnSp>
      <p:pic>
        <p:nvPicPr>
          <p:cNvPr id="156" name="Google Shape;156;p13"/>
          <p:cNvPicPr preferRelativeResize="0"/>
          <p:nvPr/>
        </p:nvPicPr>
        <p:blipFill rotWithShape="1">
          <a:blip r:embed="rId25">
            <a:alphaModFix/>
          </a:blip>
          <a:srcRect b="0" l="0" r="0" t="0"/>
          <a:stretch/>
        </p:blipFill>
        <p:spPr>
          <a:xfrm>
            <a:off x="24160192" y="31982281"/>
            <a:ext cx="3085543" cy="482270"/>
          </a:xfrm>
          <a:prstGeom prst="rect">
            <a:avLst/>
          </a:prstGeom>
          <a:noFill/>
          <a:ln>
            <a:noFill/>
          </a:ln>
        </p:spPr>
      </p:pic>
      <p:cxnSp>
        <p:nvCxnSpPr>
          <p:cNvPr id="157" name="Google Shape;157;p13"/>
          <p:cNvCxnSpPr>
            <a:stCxn id="150" idx="1"/>
          </p:cNvCxnSpPr>
          <p:nvPr/>
        </p:nvCxnSpPr>
        <p:spPr>
          <a:xfrm rot="10800000">
            <a:off x="24149555" y="29891907"/>
            <a:ext cx="569400" cy="142800"/>
          </a:xfrm>
          <a:prstGeom prst="straightConnector1">
            <a:avLst/>
          </a:prstGeom>
          <a:noFill/>
          <a:ln cap="flat" cmpd="sng" w="9525">
            <a:solidFill>
              <a:srgbClr val="FF0000"/>
            </a:solidFill>
            <a:prstDash val="solid"/>
            <a:miter lim="8000"/>
            <a:headEnd len="sm" w="sm" type="none"/>
            <a:tailEnd len="med" w="med" type="triangle"/>
          </a:ln>
        </p:spPr>
      </p:cxnSp>
      <p:sp>
        <p:nvSpPr>
          <p:cNvPr id="158" name="Google Shape;158;p13"/>
          <p:cNvSpPr txBox="1"/>
          <p:nvPr/>
        </p:nvSpPr>
        <p:spPr>
          <a:xfrm>
            <a:off x="16445806" y="28134900"/>
            <a:ext cx="17838665" cy="1015663"/>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The daily frequency of each word from 2014 to present was counted.</a:t>
            </a:r>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The spikes relevant to specific policies introduced/changed during the same period were identified.</a:t>
            </a:r>
            <a:endParaRPr/>
          </a:p>
        </p:txBody>
      </p:sp>
      <p:sp>
        <p:nvSpPr>
          <p:cNvPr id="159" name="Google Shape;159;p13"/>
          <p:cNvSpPr/>
          <p:nvPr/>
        </p:nvSpPr>
        <p:spPr>
          <a:xfrm>
            <a:off x="24852923" y="29407653"/>
            <a:ext cx="1411236" cy="253845"/>
          </a:xfrm>
          <a:prstGeom prst="rect">
            <a:avLst/>
          </a:prstGeom>
          <a:no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pic>
        <p:nvPicPr>
          <p:cNvPr id="160" name="Google Shape;160;p13"/>
          <p:cNvPicPr preferRelativeResize="0"/>
          <p:nvPr/>
        </p:nvPicPr>
        <p:blipFill rotWithShape="1">
          <a:blip r:embed="rId26">
            <a:alphaModFix/>
          </a:blip>
          <a:srcRect b="75806" l="0" r="0" t="4704"/>
          <a:stretch/>
        </p:blipFill>
        <p:spPr>
          <a:xfrm>
            <a:off x="24718955" y="29401056"/>
            <a:ext cx="2863605" cy="266883"/>
          </a:xfrm>
          <a:prstGeom prst="rect">
            <a:avLst/>
          </a:prstGeom>
          <a:noFill/>
          <a:ln>
            <a:noFill/>
          </a:ln>
        </p:spPr>
      </p:pic>
      <p:pic>
        <p:nvPicPr>
          <p:cNvPr id="161" name="Google Shape;161;p13"/>
          <p:cNvPicPr preferRelativeResize="0"/>
          <p:nvPr/>
        </p:nvPicPr>
        <p:blipFill rotWithShape="1">
          <a:blip r:embed="rId27">
            <a:alphaModFix/>
          </a:blip>
          <a:srcRect b="65016" l="0" r="44254" t="25355"/>
          <a:stretch/>
        </p:blipFill>
        <p:spPr>
          <a:xfrm>
            <a:off x="24687823" y="29675075"/>
            <a:ext cx="1596353" cy="131851"/>
          </a:xfrm>
          <a:prstGeom prst="rect">
            <a:avLst/>
          </a:prstGeom>
          <a:noFill/>
          <a:ln>
            <a:noFill/>
          </a:ln>
        </p:spPr>
      </p:pic>
      <p:sp>
        <p:nvSpPr>
          <p:cNvPr id="162" name="Google Shape;162;p13"/>
          <p:cNvSpPr/>
          <p:nvPr/>
        </p:nvSpPr>
        <p:spPr>
          <a:xfrm>
            <a:off x="20599400" y="29516966"/>
            <a:ext cx="461259" cy="144530"/>
          </a:xfrm>
          <a:prstGeom prst="rect">
            <a:avLst/>
          </a:prstGeom>
          <a:solidFill>
            <a:schemeClr val="l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pic>
        <p:nvPicPr>
          <p:cNvPr id="163" name="Google Shape;163;p13"/>
          <p:cNvPicPr preferRelativeResize="0"/>
          <p:nvPr/>
        </p:nvPicPr>
        <p:blipFill rotWithShape="1">
          <a:blip r:embed="rId7">
            <a:alphaModFix/>
          </a:blip>
          <a:srcRect b="0" l="0" r="0" t="0"/>
          <a:stretch/>
        </p:blipFill>
        <p:spPr>
          <a:xfrm>
            <a:off x="17226014" y="30225719"/>
            <a:ext cx="218817" cy="218817"/>
          </a:xfrm>
          <a:prstGeom prst="rect">
            <a:avLst/>
          </a:prstGeom>
          <a:noFill/>
          <a:ln>
            <a:noFill/>
          </a:ln>
        </p:spPr>
      </p:pic>
      <p:pic>
        <p:nvPicPr>
          <p:cNvPr id="164" name="Google Shape;164;p13"/>
          <p:cNvPicPr preferRelativeResize="0"/>
          <p:nvPr/>
        </p:nvPicPr>
        <p:blipFill rotWithShape="1">
          <a:blip r:embed="rId9">
            <a:alphaModFix/>
          </a:blip>
          <a:srcRect b="0" l="0" r="0" t="0"/>
          <a:stretch/>
        </p:blipFill>
        <p:spPr>
          <a:xfrm>
            <a:off x="33769813" y="30222263"/>
            <a:ext cx="369715" cy="300576"/>
          </a:xfrm>
          <a:prstGeom prst="rect">
            <a:avLst/>
          </a:prstGeom>
          <a:noFill/>
          <a:ln>
            <a:noFill/>
          </a:ln>
        </p:spPr>
      </p:pic>
      <p:pic>
        <p:nvPicPr>
          <p:cNvPr id="165" name="Google Shape;165;p13"/>
          <p:cNvPicPr preferRelativeResize="0"/>
          <p:nvPr/>
        </p:nvPicPr>
        <p:blipFill rotWithShape="1">
          <a:blip r:embed="rId28">
            <a:alphaModFix/>
          </a:blip>
          <a:srcRect b="5782" l="9795" r="84804" t="89821"/>
          <a:stretch/>
        </p:blipFill>
        <p:spPr>
          <a:xfrm>
            <a:off x="25502141" y="23314420"/>
            <a:ext cx="553978" cy="228304"/>
          </a:xfrm>
          <a:prstGeom prst="rect">
            <a:avLst/>
          </a:prstGeom>
          <a:noFill/>
          <a:ln>
            <a:noFill/>
          </a:ln>
        </p:spPr>
      </p:pic>
      <p:pic>
        <p:nvPicPr>
          <p:cNvPr id="166" name="Google Shape;166;p13"/>
          <p:cNvPicPr preferRelativeResize="0"/>
          <p:nvPr/>
        </p:nvPicPr>
        <p:blipFill rotWithShape="1">
          <a:blip r:embed="rId28">
            <a:alphaModFix/>
          </a:blip>
          <a:srcRect b="5782" l="15195" r="75979" t="89821"/>
          <a:stretch/>
        </p:blipFill>
        <p:spPr>
          <a:xfrm>
            <a:off x="26118619" y="23285845"/>
            <a:ext cx="933377" cy="235390"/>
          </a:xfrm>
          <a:prstGeom prst="rect">
            <a:avLst/>
          </a:prstGeom>
          <a:noFill/>
          <a:ln>
            <a:noFill/>
          </a:ln>
        </p:spPr>
      </p:pic>
      <p:sp>
        <p:nvSpPr>
          <p:cNvPr id="167" name="Google Shape;167;p13"/>
          <p:cNvSpPr/>
          <p:nvPr/>
        </p:nvSpPr>
        <p:spPr>
          <a:xfrm>
            <a:off x="19219333" y="24217994"/>
            <a:ext cx="609600" cy="18626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pic>
        <p:nvPicPr>
          <p:cNvPr id="168" name="Google Shape;168;p13"/>
          <p:cNvPicPr preferRelativeResize="0"/>
          <p:nvPr/>
        </p:nvPicPr>
        <p:blipFill rotWithShape="1">
          <a:blip r:embed="rId19">
            <a:alphaModFix/>
          </a:blip>
          <a:srcRect b="0" l="0" r="0" t="0"/>
          <a:stretch/>
        </p:blipFill>
        <p:spPr>
          <a:xfrm>
            <a:off x="1068831" y="8796429"/>
            <a:ext cx="15495933" cy="1866671"/>
          </a:xfrm>
          <a:prstGeom prst="rect">
            <a:avLst/>
          </a:prstGeom>
          <a:noFill/>
          <a:ln>
            <a:noFill/>
          </a:ln>
        </p:spPr>
      </p:pic>
      <p:pic>
        <p:nvPicPr>
          <p:cNvPr id="169" name="Google Shape;169;p13"/>
          <p:cNvPicPr preferRelativeResize="0"/>
          <p:nvPr/>
        </p:nvPicPr>
        <p:blipFill rotWithShape="1">
          <a:blip r:embed="rId29">
            <a:alphaModFix/>
          </a:blip>
          <a:srcRect b="0" l="47285" r="7997" t="0"/>
          <a:stretch/>
        </p:blipFill>
        <p:spPr>
          <a:xfrm rot="5400000">
            <a:off x="17250363" y="11669824"/>
            <a:ext cx="7541399" cy="1866671"/>
          </a:xfrm>
          <a:prstGeom prst="rect">
            <a:avLst/>
          </a:prstGeom>
          <a:noFill/>
          <a:ln>
            <a:noFill/>
          </a:ln>
        </p:spPr>
      </p:pic>
      <p:sp>
        <p:nvSpPr>
          <p:cNvPr id="170" name="Google Shape;170;p13"/>
          <p:cNvSpPr/>
          <p:nvPr/>
        </p:nvSpPr>
        <p:spPr>
          <a:xfrm>
            <a:off x="2839914" y="27091300"/>
            <a:ext cx="12436458" cy="900074"/>
          </a:xfrm>
          <a:prstGeom prst="roundRect">
            <a:avLst>
              <a:gd fmla="val 16667" name="adj"/>
            </a:avLst>
          </a:prstGeom>
          <a:solidFill>
            <a:srgbClr val="76717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6500">
                <a:solidFill>
                  <a:schemeClr val="lt1"/>
                </a:solidFill>
                <a:latin typeface="Trebuchet MS"/>
                <a:ea typeface="Trebuchet MS"/>
                <a:cs typeface="Trebuchet MS"/>
                <a:sym typeface="Trebuchet MS"/>
              </a:rPr>
              <a:t>    “Why I Quit the Army”</a:t>
            </a:r>
            <a:endParaRPr sz="6500">
              <a:solidFill>
                <a:schemeClr val="lt1"/>
              </a:solidFill>
              <a:latin typeface="Trebuchet MS"/>
              <a:ea typeface="Trebuchet MS"/>
              <a:cs typeface="Trebuchet MS"/>
              <a:sym typeface="Trebuchet MS"/>
            </a:endParaRPr>
          </a:p>
        </p:txBody>
      </p:sp>
      <p:pic>
        <p:nvPicPr>
          <p:cNvPr id="171" name="Google Shape;171;p13"/>
          <p:cNvPicPr preferRelativeResize="0"/>
          <p:nvPr/>
        </p:nvPicPr>
        <p:blipFill rotWithShape="1">
          <a:blip r:embed="rId8">
            <a:alphaModFix/>
          </a:blip>
          <a:srcRect b="0" l="0" r="0" t="0"/>
          <a:stretch/>
        </p:blipFill>
        <p:spPr>
          <a:xfrm>
            <a:off x="2913003" y="27091300"/>
            <a:ext cx="1278330" cy="900074"/>
          </a:xfrm>
          <a:prstGeom prst="rect">
            <a:avLst/>
          </a:prstGeom>
          <a:noFill/>
          <a:ln>
            <a:noFill/>
          </a:ln>
        </p:spPr>
      </p:pic>
      <p:pic>
        <p:nvPicPr>
          <p:cNvPr id="172" name="Google Shape;172;p13"/>
          <p:cNvPicPr preferRelativeResize="0"/>
          <p:nvPr/>
        </p:nvPicPr>
        <p:blipFill rotWithShape="1">
          <a:blip r:embed="rId30">
            <a:alphaModFix/>
          </a:blip>
          <a:srcRect b="0" l="11049" r="0" t="0"/>
          <a:stretch/>
        </p:blipFill>
        <p:spPr>
          <a:xfrm>
            <a:off x="21060659" y="7908991"/>
            <a:ext cx="14538762" cy="1866671"/>
          </a:xfrm>
          <a:prstGeom prst="rect">
            <a:avLst/>
          </a:prstGeom>
          <a:noFill/>
          <a:ln>
            <a:noFill/>
          </a:ln>
        </p:spPr>
      </p:pic>
      <p:pic>
        <p:nvPicPr>
          <p:cNvPr id="173" name="Google Shape;173;p13"/>
          <p:cNvPicPr preferRelativeResize="0"/>
          <p:nvPr/>
        </p:nvPicPr>
        <p:blipFill rotWithShape="1">
          <a:blip r:embed="rId31">
            <a:alphaModFix/>
          </a:blip>
          <a:srcRect b="0" l="0" r="0" t="0"/>
          <a:stretch/>
        </p:blipFill>
        <p:spPr>
          <a:xfrm>
            <a:off x="3167439" y="29712922"/>
            <a:ext cx="4948256" cy="4914286"/>
          </a:xfrm>
          <a:prstGeom prst="rect">
            <a:avLst/>
          </a:prstGeom>
          <a:noFill/>
          <a:ln>
            <a:noFill/>
          </a:ln>
        </p:spPr>
      </p:pic>
      <p:pic>
        <p:nvPicPr>
          <p:cNvPr id="174" name="Google Shape;174;p13"/>
          <p:cNvPicPr preferRelativeResize="0"/>
          <p:nvPr/>
        </p:nvPicPr>
        <p:blipFill rotWithShape="1">
          <a:blip r:embed="rId9">
            <a:alphaModFix/>
          </a:blip>
          <a:srcRect b="0" l="0" r="0" t="0"/>
          <a:stretch/>
        </p:blipFill>
        <p:spPr>
          <a:xfrm>
            <a:off x="9263300" y="11563028"/>
            <a:ext cx="654560" cy="532153"/>
          </a:xfrm>
          <a:prstGeom prst="rect">
            <a:avLst/>
          </a:prstGeom>
          <a:noFill/>
          <a:ln>
            <a:noFill/>
          </a:ln>
        </p:spPr>
      </p:pic>
      <p:sp>
        <p:nvSpPr>
          <p:cNvPr id="175" name="Google Shape;175;p13"/>
          <p:cNvSpPr txBox="1"/>
          <p:nvPr/>
        </p:nvSpPr>
        <p:spPr>
          <a:xfrm>
            <a:off x="2601464" y="28069488"/>
            <a:ext cx="13405149" cy="1477328"/>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Identified 6 videos with titles related to Soldiers leaving the Army.</a:t>
            </a:r>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Analyzed the word frequencies and correlations between selected relevant words in the comments of these videos.</a:t>
            </a:r>
            <a:endParaRPr sz="3000">
              <a:solidFill>
                <a:schemeClr val="dk1"/>
              </a:solidFill>
              <a:latin typeface="Trebuchet MS"/>
              <a:ea typeface="Trebuchet MS"/>
              <a:cs typeface="Trebuchet MS"/>
              <a:sym typeface="Trebuchet MS"/>
            </a:endParaRPr>
          </a:p>
        </p:txBody>
      </p:sp>
      <p:pic>
        <p:nvPicPr>
          <p:cNvPr id="176" name="Google Shape;176;p13"/>
          <p:cNvPicPr preferRelativeResize="0"/>
          <p:nvPr/>
        </p:nvPicPr>
        <p:blipFill rotWithShape="1">
          <a:blip r:embed="rId19">
            <a:alphaModFix/>
          </a:blip>
          <a:srcRect b="0" l="0" r="0" t="0"/>
          <a:stretch/>
        </p:blipFill>
        <p:spPr>
          <a:xfrm>
            <a:off x="1068831" y="35727938"/>
            <a:ext cx="15495933" cy="1866671"/>
          </a:xfrm>
          <a:prstGeom prst="rect">
            <a:avLst/>
          </a:prstGeom>
          <a:noFill/>
          <a:ln>
            <a:noFill/>
          </a:ln>
        </p:spPr>
      </p:pic>
      <p:sp>
        <p:nvSpPr>
          <p:cNvPr id="177" name="Google Shape;177;p13"/>
          <p:cNvSpPr txBox="1"/>
          <p:nvPr/>
        </p:nvSpPr>
        <p:spPr>
          <a:xfrm>
            <a:off x="2575106" y="35839147"/>
            <a:ext cx="8037245" cy="70788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4000">
                <a:solidFill>
                  <a:schemeClr val="dk1"/>
                </a:solidFill>
                <a:latin typeface="Raleway Medium"/>
                <a:ea typeface="Raleway Medium"/>
                <a:cs typeface="Raleway Medium"/>
                <a:sym typeface="Raleway Medium"/>
              </a:rPr>
              <a:t>References</a:t>
            </a:r>
            <a:endParaRPr sz="4000">
              <a:solidFill>
                <a:schemeClr val="dk1"/>
              </a:solidFill>
              <a:latin typeface="Raleway Medium"/>
              <a:ea typeface="Raleway Medium"/>
              <a:cs typeface="Raleway Medium"/>
              <a:sym typeface="Raleway Medium"/>
            </a:endParaRPr>
          </a:p>
        </p:txBody>
      </p:sp>
      <p:sp>
        <p:nvSpPr>
          <p:cNvPr id="178" name="Google Shape;178;p13"/>
          <p:cNvSpPr txBox="1"/>
          <p:nvPr/>
        </p:nvSpPr>
        <p:spPr>
          <a:xfrm>
            <a:off x="4696207" y="34571088"/>
            <a:ext cx="10081178" cy="1384995"/>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2800"/>
              <a:buFont typeface="Arial"/>
              <a:buChar char="•"/>
            </a:pPr>
            <a:r>
              <a:rPr lang="en-US" sz="2800">
                <a:solidFill>
                  <a:schemeClr val="dk1"/>
                </a:solidFill>
                <a:latin typeface="Trebuchet MS"/>
                <a:ea typeface="Trebuchet MS"/>
                <a:cs typeface="Trebuchet MS"/>
                <a:sym typeface="Trebuchet MS"/>
              </a:rPr>
              <a:t>Words related to job, religion, war are used frequently.</a:t>
            </a:r>
            <a:endParaRPr/>
          </a:p>
          <a:p>
            <a:pPr indent="-457200" lvl="0" marL="457200" marR="0" rtl="0" algn="l">
              <a:spcBef>
                <a:spcPts val="0"/>
              </a:spcBef>
              <a:spcAft>
                <a:spcPts val="0"/>
              </a:spcAft>
              <a:buClr>
                <a:schemeClr val="dk1"/>
              </a:buClr>
              <a:buSzPts val="2800"/>
              <a:buFont typeface="Arial"/>
              <a:buChar char="•"/>
            </a:pPr>
            <a:r>
              <a:rPr lang="en-US" sz="2800">
                <a:solidFill>
                  <a:schemeClr val="dk1"/>
                </a:solidFill>
                <a:latin typeface="Trebuchet MS"/>
                <a:ea typeface="Trebuchet MS"/>
                <a:cs typeface="Trebuchet MS"/>
                <a:sym typeface="Trebuchet MS"/>
              </a:rPr>
              <a:t>Injury, pension, performance, stress are highly correlated with the words “reason”, “because”, “hate.”</a:t>
            </a:r>
            <a:endParaRPr sz="2800">
              <a:solidFill>
                <a:schemeClr val="dk1"/>
              </a:solidFill>
              <a:latin typeface="Trebuchet MS"/>
              <a:ea typeface="Trebuchet MS"/>
              <a:cs typeface="Trebuchet MS"/>
              <a:sym typeface="Trebuchet MS"/>
            </a:endParaRPr>
          </a:p>
        </p:txBody>
      </p:sp>
      <p:pic>
        <p:nvPicPr>
          <p:cNvPr id="179" name="Google Shape;179;p13"/>
          <p:cNvPicPr preferRelativeResize="0"/>
          <p:nvPr/>
        </p:nvPicPr>
        <p:blipFill rotWithShape="1">
          <a:blip r:embed="rId32">
            <a:alphaModFix/>
          </a:blip>
          <a:srcRect b="0" l="0" r="0" t="0"/>
          <a:stretch/>
        </p:blipFill>
        <p:spPr>
          <a:xfrm>
            <a:off x="9652816" y="29760325"/>
            <a:ext cx="3778769" cy="4147959"/>
          </a:xfrm>
          <a:prstGeom prst="rect">
            <a:avLst/>
          </a:prstGeom>
          <a:noFill/>
          <a:ln>
            <a:noFill/>
          </a:ln>
        </p:spPr>
      </p:pic>
      <p:sp>
        <p:nvSpPr>
          <p:cNvPr id="180" name="Google Shape;180;p13"/>
          <p:cNvSpPr txBox="1"/>
          <p:nvPr/>
        </p:nvSpPr>
        <p:spPr>
          <a:xfrm>
            <a:off x="9736796" y="34050984"/>
            <a:ext cx="5393137"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Trebuchet MS"/>
                <a:ea typeface="Trebuchet MS"/>
                <a:cs typeface="Trebuchet MS"/>
                <a:sym typeface="Trebuchet MS"/>
              </a:rPr>
              <a:t>*Words with correlations above/equal to 0.30 are reported.</a:t>
            </a:r>
            <a:endParaRPr sz="1400">
              <a:solidFill>
                <a:schemeClr val="dk1"/>
              </a:solidFill>
              <a:latin typeface="Trebuchet MS"/>
              <a:ea typeface="Trebuchet MS"/>
              <a:cs typeface="Trebuchet MS"/>
              <a:sym typeface="Trebuchet MS"/>
            </a:endParaRPr>
          </a:p>
        </p:txBody>
      </p:sp>
      <p:sp>
        <p:nvSpPr>
          <p:cNvPr id="181" name="Google Shape;181;p13"/>
          <p:cNvSpPr/>
          <p:nvPr/>
        </p:nvSpPr>
        <p:spPr>
          <a:xfrm>
            <a:off x="18089033" y="24094994"/>
            <a:ext cx="1130300" cy="32430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pic>
        <p:nvPicPr>
          <p:cNvPr id="182" name="Google Shape;182;p13"/>
          <p:cNvPicPr preferRelativeResize="0"/>
          <p:nvPr/>
        </p:nvPicPr>
        <p:blipFill rotWithShape="1">
          <a:blip r:embed="rId28">
            <a:alphaModFix/>
          </a:blip>
          <a:srcRect b="9553" l="0" r="0" t="0"/>
          <a:stretch/>
        </p:blipFill>
        <p:spPr>
          <a:xfrm>
            <a:off x="24573663" y="18639044"/>
            <a:ext cx="10257255" cy="4696558"/>
          </a:xfrm>
          <a:prstGeom prst="rect">
            <a:avLst/>
          </a:prstGeom>
          <a:noFill/>
          <a:ln>
            <a:noFill/>
          </a:ln>
        </p:spPr>
      </p:pic>
      <p:sp>
        <p:nvSpPr>
          <p:cNvPr id="183" name="Google Shape;183;p13"/>
          <p:cNvSpPr/>
          <p:nvPr/>
        </p:nvSpPr>
        <p:spPr>
          <a:xfrm>
            <a:off x="27061519" y="23301720"/>
            <a:ext cx="54859" cy="4571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pic>
        <p:nvPicPr>
          <p:cNvPr id="184" name="Google Shape;184;p13"/>
          <p:cNvPicPr preferRelativeResize="0"/>
          <p:nvPr/>
        </p:nvPicPr>
        <p:blipFill rotWithShape="1">
          <a:blip r:embed="rId28">
            <a:alphaModFix/>
          </a:blip>
          <a:srcRect b="6562" l="23987" r="0" t="89821"/>
          <a:stretch/>
        </p:blipFill>
        <p:spPr>
          <a:xfrm>
            <a:off x="27116378" y="23289020"/>
            <a:ext cx="7796824" cy="187839"/>
          </a:xfrm>
          <a:prstGeom prst="rect">
            <a:avLst/>
          </a:prstGeom>
          <a:noFill/>
          <a:ln>
            <a:noFill/>
          </a:ln>
        </p:spPr>
      </p:pic>
      <p:pic>
        <p:nvPicPr>
          <p:cNvPr id="185" name="Google Shape;185;p13"/>
          <p:cNvPicPr preferRelativeResize="0"/>
          <p:nvPr/>
        </p:nvPicPr>
        <p:blipFill rotWithShape="1">
          <a:blip r:embed="rId8">
            <a:alphaModFix/>
          </a:blip>
          <a:srcRect b="0" l="0" r="0" t="0"/>
          <a:stretch/>
        </p:blipFill>
        <p:spPr>
          <a:xfrm>
            <a:off x="15129933" y="11563028"/>
            <a:ext cx="755790" cy="532153"/>
          </a:xfrm>
          <a:prstGeom prst="rect">
            <a:avLst/>
          </a:prstGeom>
          <a:noFill/>
          <a:ln>
            <a:noFill/>
          </a:ln>
        </p:spPr>
      </p:pic>
      <p:sp>
        <p:nvSpPr>
          <p:cNvPr id="186" name="Google Shape;186;p13"/>
          <p:cNvSpPr txBox="1"/>
          <p:nvPr/>
        </p:nvSpPr>
        <p:spPr>
          <a:xfrm>
            <a:off x="16434134" y="35448253"/>
            <a:ext cx="18986166" cy="1015663"/>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The frequency of the word </a:t>
            </a:r>
            <a:r>
              <a:rPr b="1" lang="en-US" sz="3000">
                <a:solidFill>
                  <a:schemeClr val="dk1"/>
                </a:solidFill>
                <a:latin typeface="Trebuchet MS"/>
                <a:ea typeface="Trebuchet MS"/>
                <a:cs typeface="Trebuchet MS"/>
                <a:sym typeface="Trebuchet MS"/>
              </a:rPr>
              <a:t>“WEAR” </a:t>
            </a:r>
            <a:r>
              <a:rPr lang="en-US" sz="3000">
                <a:solidFill>
                  <a:schemeClr val="dk1"/>
                </a:solidFill>
                <a:latin typeface="Trebuchet MS"/>
                <a:ea typeface="Trebuchet MS"/>
                <a:cs typeface="Trebuchet MS"/>
                <a:sym typeface="Trebuchet MS"/>
              </a:rPr>
              <a:t>on Facebook and Twitter; the peaks correspond to the dates of uniform policies. </a:t>
            </a:r>
            <a:endParaRPr sz="3000">
              <a:solidFill>
                <a:schemeClr val="dk1"/>
              </a:solidFill>
              <a:latin typeface="Trebuchet MS"/>
              <a:ea typeface="Trebuchet MS"/>
              <a:cs typeface="Trebuchet MS"/>
              <a:sym typeface="Trebuchet MS"/>
            </a:endParaRPr>
          </a:p>
        </p:txBody>
      </p:sp>
      <p:sp>
        <p:nvSpPr>
          <p:cNvPr id="187" name="Google Shape;187;p13"/>
          <p:cNvSpPr txBox="1"/>
          <p:nvPr/>
        </p:nvSpPr>
        <p:spPr>
          <a:xfrm>
            <a:off x="11128175" y="2033686"/>
            <a:ext cx="20291512" cy="31700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0000">
                <a:solidFill>
                  <a:schemeClr val="dk1"/>
                </a:solidFill>
                <a:latin typeface="Arial"/>
                <a:ea typeface="Arial"/>
                <a:cs typeface="Arial"/>
                <a:sym typeface="Arial"/>
              </a:rPr>
              <a:t>by the Army population</a:t>
            </a:r>
            <a:endParaRPr sz="20000">
              <a:solidFill>
                <a:schemeClr val="dk1"/>
              </a:solidFill>
              <a:latin typeface="Arial"/>
              <a:ea typeface="Arial"/>
              <a:cs typeface="Arial"/>
              <a:sym typeface="Arial"/>
            </a:endParaRPr>
          </a:p>
        </p:txBody>
      </p:sp>
      <p:pic>
        <p:nvPicPr>
          <p:cNvPr id="188" name="Google Shape;188;p13"/>
          <p:cNvPicPr preferRelativeResize="0"/>
          <p:nvPr/>
        </p:nvPicPr>
        <p:blipFill rotWithShape="1">
          <a:blip r:embed="rId33">
            <a:alphaModFix/>
          </a:blip>
          <a:srcRect b="0" l="0" r="0" t="0"/>
          <a:stretch/>
        </p:blipFill>
        <p:spPr>
          <a:xfrm>
            <a:off x="2686830" y="38991531"/>
            <a:ext cx="5715000" cy="1854200"/>
          </a:xfrm>
          <a:prstGeom prst="rect">
            <a:avLst/>
          </a:prstGeom>
          <a:noFill/>
          <a:ln>
            <a:noFill/>
          </a:ln>
        </p:spPr>
      </p:pic>
      <p:sp>
        <p:nvSpPr>
          <p:cNvPr id="189" name="Google Shape;189;p13"/>
          <p:cNvSpPr txBox="1"/>
          <p:nvPr/>
        </p:nvSpPr>
        <p:spPr>
          <a:xfrm>
            <a:off x="27749100" y="39409416"/>
            <a:ext cx="7455299" cy="46166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lang="en-US" sz="2400">
                <a:solidFill>
                  <a:srgbClr val="757070"/>
                </a:solidFill>
                <a:latin typeface="Raleway Medium"/>
                <a:ea typeface="Raleway Medium"/>
                <a:cs typeface="Raleway Medium"/>
                <a:sym typeface="Raleway Medium"/>
              </a:rPr>
              <a:t>bi.vt.edu/sdal</a:t>
            </a:r>
            <a:endParaRPr b="1" sz="2400">
              <a:solidFill>
                <a:srgbClr val="757070"/>
              </a:solidFill>
              <a:latin typeface="Raleway Medium"/>
              <a:ea typeface="Raleway Medium"/>
              <a:cs typeface="Raleway Medium"/>
              <a:sym typeface="Raleway Medium"/>
            </a:endParaRPr>
          </a:p>
        </p:txBody>
      </p:sp>
      <p:sp>
        <p:nvSpPr>
          <p:cNvPr id="190" name="Google Shape;190;p13"/>
          <p:cNvSpPr txBox="1"/>
          <p:nvPr/>
        </p:nvSpPr>
        <p:spPr>
          <a:xfrm>
            <a:off x="17235236" y="36615247"/>
            <a:ext cx="16955945" cy="70788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4000">
                <a:solidFill>
                  <a:schemeClr val="dk1"/>
                </a:solidFill>
                <a:latin typeface="Raleway Medium"/>
                <a:ea typeface="Raleway Medium"/>
                <a:cs typeface="Raleway Medium"/>
                <a:sym typeface="Raleway Medium"/>
              </a:rPr>
              <a:t>Acknowledgments</a:t>
            </a:r>
            <a:endParaRPr sz="4000">
              <a:solidFill>
                <a:schemeClr val="dk1"/>
              </a:solidFill>
              <a:latin typeface="Raleway Medium"/>
              <a:ea typeface="Raleway Medium"/>
              <a:cs typeface="Raleway Medium"/>
              <a:sym typeface="Raleway Medium"/>
            </a:endParaRPr>
          </a:p>
        </p:txBody>
      </p:sp>
      <p:sp>
        <p:nvSpPr>
          <p:cNvPr id="191" name="Google Shape;191;p13"/>
          <p:cNvSpPr txBox="1"/>
          <p:nvPr/>
        </p:nvSpPr>
        <p:spPr>
          <a:xfrm>
            <a:off x="1669773" y="4449557"/>
            <a:ext cx="7191511" cy="63094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3500">
                <a:solidFill>
                  <a:srgbClr val="5D89B4"/>
                </a:solidFill>
                <a:latin typeface="Raleway"/>
                <a:ea typeface="Raleway"/>
                <a:cs typeface="Raleway"/>
                <a:sym typeface="Raleway"/>
              </a:rPr>
              <a:t>Data Science for the Public Good</a:t>
            </a:r>
            <a:endParaRPr b="1" sz="3500">
              <a:solidFill>
                <a:srgbClr val="5D89B4"/>
              </a:solidFill>
              <a:latin typeface="Raleway"/>
              <a:ea typeface="Raleway"/>
              <a:cs typeface="Raleway"/>
              <a:sym typeface="Raleway"/>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