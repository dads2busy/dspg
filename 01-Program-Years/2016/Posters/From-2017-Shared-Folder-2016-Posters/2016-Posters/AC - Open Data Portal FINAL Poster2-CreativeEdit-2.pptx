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
  </p:notesMasterIdLst>
  <p:sldIdLst>
    <p:sldId id="256" r:id="rId2"/>
  </p:sldIdLst>
  <p:sldSz cx="36576000" cy="41549638"/>
  <p:notesSz cx="6858000" cy="9144000"/>
  <p:defaultTextStyle>
    <a:defPPr>
      <a:defRPr lang="en-US"/>
    </a:defPPr>
    <a:lvl1pPr marL="0" algn="l" defTabSz="3749954" rtl="0" eaLnBrk="1" latinLnBrk="0" hangingPunct="1">
      <a:defRPr sz="7382" kern="1200">
        <a:solidFill>
          <a:schemeClr val="tx1"/>
        </a:solidFill>
        <a:latin typeface="+mn-lt"/>
        <a:ea typeface="+mn-ea"/>
        <a:cs typeface="+mn-cs"/>
      </a:defRPr>
    </a:lvl1pPr>
    <a:lvl2pPr marL="1874977" algn="l" defTabSz="3749954" rtl="0" eaLnBrk="1" latinLnBrk="0" hangingPunct="1">
      <a:defRPr sz="7382" kern="1200">
        <a:solidFill>
          <a:schemeClr val="tx1"/>
        </a:solidFill>
        <a:latin typeface="+mn-lt"/>
        <a:ea typeface="+mn-ea"/>
        <a:cs typeface="+mn-cs"/>
      </a:defRPr>
    </a:lvl2pPr>
    <a:lvl3pPr marL="3749954" algn="l" defTabSz="3749954" rtl="0" eaLnBrk="1" latinLnBrk="0" hangingPunct="1">
      <a:defRPr sz="7382" kern="1200">
        <a:solidFill>
          <a:schemeClr val="tx1"/>
        </a:solidFill>
        <a:latin typeface="+mn-lt"/>
        <a:ea typeface="+mn-ea"/>
        <a:cs typeface="+mn-cs"/>
      </a:defRPr>
    </a:lvl3pPr>
    <a:lvl4pPr marL="5624932" algn="l" defTabSz="3749954" rtl="0" eaLnBrk="1" latinLnBrk="0" hangingPunct="1">
      <a:defRPr sz="7382" kern="1200">
        <a:solidFill>
          <a:schemeClr val="tx1"/>
        </a:solidFill>
        <a:latin typeface="+mn-lt"/>
        <a:ea typeface="+mn-ea"/>
        <a:cs typeface="+mn-cs"/>
      </a:defRPr>
    </a:lvl4pPr>
    <a:lvl5pPr marL="7499909" algn="l" defTabSz="3749954" rtl="0" eaLnBrk="1" latinLnBrk="0" hangingPunct="1">
      <a:defRPr sz="7382" kern="1200">
        <a:solidFill>
          <a:schemeClr val="tx1"/>
        </a:solidFill>
        <a:latin typeface="+mn-lt"/>
        <a:ea typeface="+mn-ea"/>
        <a:cs typeface="+mn-cs"/>
      </a:defRPr>
    </a:lvl5pPr>
    <a:lvl6pPr marL="9374886" algn="l" defTabSz="3749954" rtl="0" eaLnBrk="1" latinLnBrk="0" hangingPunct="1">
      <a:defRPr sz="7382" kern="1200">
        <a:solidFill>
          <a:schemeClr val="tx1"/>
        </a:solidFill>
        <a:latin typeface="+mn-lt"/>
        <a:ea typeface="+mn-ea"/>
        <a:cs typeface="+mn-cs"/>
      </a:defRPr>
    </a:lvl6pPr>
    <a:lvl7pPr marL="11249863" algn="l" defTabSz="3749954" rtl="0" eaLnBrk="1" latinLnBrk="0" hangingPunct="1">
      <a:defRPr sz="7382" kern="1200">
        <a:solidFill>
          <a:schemeClr val="tx1"/>
        </a:solidFill>
        <a:latin typeface="+mn-lt"/>
        <a:ea typeface="+mn-ea"/>
        <a:cs typeface="+mn-cs"/>
      </a:defRPr>
    </a:lvl7pPr>
    <a:lvl8pPr marL="13124840" algn="l" defTabSz="3749954" rtl="0" eaLnBrk="1" latinLnBrk="0" hangingPunct="1">
      <a:defRPr sz="7382" kern="1200">
        <a:solidFill>
          <a:schemeClr val="tx1"/>
        </a:solidFill>
        <a:latin typeface="+mn-lt"/>
        <a:ea typeface="+mn-ea"/>
        <a:cs typeface="+mn-cs"/>
      </a:defRPr>
    </a:lvl8pPr>
    <a:lvl9pPr marL="14999818" algn="l" defTabSz="3749954" rtl="0" eaLnBrk="1" latinLnBrk="0" hangingPunct="1">
      <a:defRPr sz="7382"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086">
          <p15:clr>
            <a:srgbClr val="A4A3A4"/>
          </p15:clr>
        </p15:guide>
        <p15:guide id="2" pos="11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75A4"/>
    <a:srgbClr val="DFE7F0"/>
    <a:srgbClr val="5E89B4"/>
    <a:srgbClr val="225D75"/>
    <a:srgbClr val="8EFA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6351"/>
    <p:restoredTop sz="96525"/>
  </p:normalViewPr>
  <p:slideViewPr>
    <p:cSldViewPr snapToGrid="0" snapToObjects="1">
      <p:cViewPr>
        <p:scale>
          <a:sx n="40" d="100"/>
          <a:sy n="40" d="100"/>
        </p:scale>
        <p:origin x="5736" y="-48"/>
      </p:cViewPr>
      <p:guideLst>
        <p:guide orient="horz" pos="13086"/>
        <p:guide pos="115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4F7A84-D499-F24C-810C-E986E95941C8}" type="datetimeFigureOut">
              <a:rPr lang="en-US" smtClean="0"/>
              <a:t>8/23/16</a:t>
            </a:fld>
            <a:endParaRPr lang="en-US"/>
          </a:p>
        </p:txBody>
      </p:sp>
      <p:sp>
        <p:nvSpPr>
          <p:cNvPr id="4" name="Slide Image Placeholder 3"/>
          <p:cNvSpPr>
            <a:spLocks noGrp="1" noRot="1" noChangeAspect="1"/>
          </p:cNvSpPr>
          <p:nvPr>
            <p:ph type="sldImg" idx="2"/>
          </p:nvPr>
        </p:nvSpPr>
        <p:spPr>
          <a:xfrm>
            <a:off x="2070100" y="1143000"/>
            <a:ext cx="2717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D8A16D-09D2-164E-8E33-CB25B83E7E6D}" type="slidenum">
              <a:rPr lang="en-US" smtClean="0"/>
              <a:t>‹#›</a:t>
            </a:fld>
            <a:endParaRPr lang="en-US"/>
          </a:p>
        </p:txBody>
      </p:sp>
    </p:spTree>
    <p:extLst>
      <p:ext uri="{BB962C8B-B14F-4D97-AF65-F5344CB8AC3E}">
        <p14:creationId xmlns:p14="http://schemas.microsoft.com/office/powerpoint/2010/main" val="1271459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Proper documentation communicates the credibility of an Open Data Portal by answering questions such as where the data came from and how it was collected. Displaying a list of commissions, agencies, and other government organizations that have made their data publically available on the site may enhance both the attractiveness and the credibility of the portal. In addition, the description of each dataset should contain information about the origin of that data. </a:t>
            </a:r>
          </a:p>
          <a:p>
            <a:endParaRPr lang="en-US" sz="1200" kern="1200" dirty="0" smtClean="0">
              <a:solidFill>
                <a:schemeClr val="tx1"/>
              </a:solidFill>
              <a:effectLst/>
              <a:latin typeface="+mn-lt"/>
              <a:ea typeface="+mn-ea"/>
              <a:cs typeface="+mn-cs"/>
            </a:endParaRP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This</a:t>
            </a:r>
            <a:r>
              <a:rPr lang="en-US" sz="1200" kern="1200" baseline="0" dirty="0" smtClean="0">
                <a:solidFill>
                  <a:schemeClr val="tx1"/>
                </a:solidFill>
                <a:effectLst/>
                <a:latin typeface="+mn-lt"/>
                <a:ea typeface="+mn-ea"/>
                <a:cs typeface="+mn-cs"/>
              </a:rPr>
              <a:t> table</a:t>
            </a:r>
            <a:r>
              <a:rPr lang="en-US" sz="1200" kern="1200" dirty="0" smtClean="0">
                <a:solidFill>
                  <a:schemeClr val="tx1"/>
                </a:solidFill>
                <a:effectLst/>
                <a:latin typeface="+mn-lt"/>
                <a:ea typeface="+mn-ea"/>
                <a:cs typeface="+mn-cs"/>
              </a:rPr>
              <a:t> is in a tidy format: each row represents a different person (observation) and the columns record various characteristics (variables) about each person such as date of birth, sex, or height.</a:t>
            </a:r>
            <a:r>
              <a:rPr lang="en-US" dirty="0" smtClean="0">
                <a:effectLst/>
              </a:rPr>
              <a:t> </a:t>
            </a:r>
            <a:r>
              <a:rPr lang="en-US" sz="1200" kern="1200" dirty="0" smtClean="0">
                <a:solidFill>
                  <a:schemeClr val="tx1"/>
                </a:solidFill>
                <a:effectLst/>
                <a:latin typeface="+mn-lt"/>
                <a:ea typeface="+mn-ea"/>
                <a:cs typeface="+mn-cs"/>
              </a:rPr>
              <a:t>A tidy format should have one column for each variable, and contain the corresponding value</a:t>
            </a:r>
            <a:r>
              <a:rPr lang="en-US" sz="1200" kern="1200" baseline="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in each row.  If a column contains a range of values, the column should be split into two separate columns</a:t>
            </a:r>
            <a:r>
              <a:rPr lang="en-US" sz="1200" kern="1200" baseline="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 one for the minimum, and one for the maximum values of that range</a:t>
            </a:r>
            <a:r>
              <a:rPr lang="en-US" sz="1200" kern="1200" baseline="0" dirty="0" smtClean="0">
                <a:solidFill>
                  <a:schemeClr val="tx1"/>
                </a:solidFill>
                <a:effectLst/>
                <a:latin typeface="+mn-lt"/>
                <a:ea typeface="+mn-ea"/>
                <a:cs typeface="+mn-cs"/>
              </a:rPr>
              <a:t> – as above.</a:t>
            </a:r>
            <a:r>
              <a:rPr lang="en-US" sz="1200" kern="1200" dirty="0" smtClean="0">
                <a:solidFill>
                  <a:schemeClr val="tx1"/>
                </a:solidFill>
                <a:effectLst/>
                <a:latin typeface="+mn-lt"/>
                <a:ea typeface="+mn-ea"/>
                <a:cs typeface="+mn-cs"/>
              </a:rPr>
              <a:t> While it is open for debate whether the responsibility of tidying data is that of the Open Data Portal administrator or the user, tidy data portals may attract more users than portals that require users to tidy the data themselves.  Depending on the goal and maturity of the organization supporting the portal, making the data tidy would facilitate better and more frequent use of the content.</a:t>
            </a:r>
          </a:p>
          <a:p>
            <a:endParaRPr lang="en-US" sz="1200" kern="1200" dirty="0" smtClean="0">
              <a:solidFill>
                <a:schemeClr val="tx1"/>
              </a:solidFill>
              <a:effectLst/>
              <a:latin typeface="+mn-lt"/>
              <a:ea typeface="+mn-ea"/>
              <a:cs typeface="+mn-cs"/>
            </a:endParaRP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A simple palette of high contrast colors should make up the bulk of the site, leaving many colors available as accents. Additionally, the site’s color palette should remain consistent throughout the site to aid in navigation and to appear more unified. An Open Data Portal should be easy to read, with text in a font and color that are easy to look at for extended periods of time.</a:t>
            </a:r>
            <a:r>
              <a:rPr lang="en-US" dirty="0" smtClean="0">
                <a:effectLst/>
              </a:rPr>
              <a:t> </a:t>
            </a:r>
            <a:endParaRPr lang="en-US" sz="1200" kern="1200" dirty="0" smtClean="0">
              <a:solidFill>
                <a:schemeClr val="tx1"/>
              </a:solidFill>
              <a:effectLst/>
              <a:latin typeface="+mn-lt"/>
              <a:ea typeface="+mn-ea"/>
              <a:cs typeface="+mn-cs"/>
            </a:endParaRP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The “junk” items here are the people icons that were added to the graph. These icons represent the flow of people migrating into Arlington County from surrounding areas in 2012, but those values are also represented numerically in the same view. This reveals that, although the number of people coming from DC is more than 13 times the amount of people coming from Prince Georges County, there are only 4 person icons to represent that difference. This misleads the viewer. Better options would be to remove the people and make the numbers more prominent, or to have a legend indicating how many people each person icon represents, and have the appropriate number of icons for each region. </a:t>
            </a:r>
            <a:endParaRPr lang="en-US" dirty="0" smtClean="0"/>
          </a:p>
        </p:txBody>
      </p:sp>
      <p:sp>
        <p:nvSpPr>
          <p:cNvPr id="4" name="Slide Number Placeholder 3"/>
          <p:cNvSpPr>
            <a:spLocks noGrp="1"/>
          </p:cNvSpPr>
          <p:nvPr>
            <p:ph type="sldNum" sz="quarter" idx="10"/>
          </p:nvPr>
        </p:nvSpPr>
        <p:spPr/>
        <p:txBody>
          <a:bodyPr/>
          <a:lstStyle/>
          <a:p>
            <a:fld id="{03D8A16D-09D2-164E-8E33-CB25B83E7E6D}" type="slidenum">
              <a:rPr lang="en-US" smtClean="0"/>
              <a:t>1</a:t>
            </a:fld>
            <a:endParaRPr lang="en-US"/>
          </a:p>
        </p:txBody>
      </p:sp>
    </p:spTree>
    <p:extLst>
      <p:ext uri="{BB962C8B-B14F-4D97-AF65-F5344CB8AC3E}">
        <p14:creationId xmlns:p14="http://schemas.microsoft.com/office/powerpoint/2010/main" val="19565372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43200" y="6799909"/>
            <a:ext cx="31089600" cy="14465430"/>
          </a:xfrm>
        </p:spPr>
        <p:txBody>
          <a:bodyPr anchor="b"/>
          <a:lstStyle>
            <a:lvl1pPr algn="ctr">
              <a:defRPr sz="24000"/>
            </a:lvl1pPr>
          </a:lstStyle>
          <a:p>
            <a:r>
              <a:rPr lang="en-US" smtClean="0"/>
              <a:t>Click to edit Master title style</a:t>
            </a:r>
            <a:endParaRPr lang="en-US" dirty="0"/>
          </a:p>
        </p:txBody>
      </p:sp>
      <p:sp>
        <p:nvSpPr>
          <p:cNvPr id="3" name="Subtitle 2"/>
          <p:cNvSpPr>
            <a:spLocks noGrp="1"/>
          </p:cNvSpPr>
          <p:nvPr>
            <p:ph type="subTitle" idx="1"/>
          </p:nvPr>
        </p:nvSpPr>
        <p:spPr>
          <a:xfrm>
            <a:off x="4572000" y="21823181"/>
            <a:ext cx="27432000" cy="10031542"/>
          </a:xfrm>
        </p:spPr>
        <p:txBody>
          <a:bodyPr/>
          <a:lstStyle>
            <a:lvl1pPr marL="0" indent="0" algn="ctr">
              <a:buNone/>
              <a:defRPr sz="9600"/>
            </a:lvl1pPr>
            <a:lvl2pPr marL="1828800" indent="0" algn="ctr">
              <a:buNone/>
              <a:defRPr sz="8000"/>
            </a:lvl2pPr>
            <a:lvl3pPr marL="3657600" indent="0" algn="ctr">
              <a:buNone/>
              <a:defRPr sz="7200"/>
            </a:lvl3pPr>
            <a:lvl4pPr marL="5486400" indent="0" algn="ctr">
              <a:buNone/>
              <a:defRPr sz="6400"/>
            </a:lvl4pPr>
            <a:lvl5pPr marL="7315200" indent="0" algn="ctr">
              <a:buNone/>
              <a:defRPr sz="6400"/>
            </a:lvl5pPr>
            <a:lvl6pPr marL="9144000" indent="0" algn="ctr">
              <a:buNone/>
              <a:defRPr sz="6400"/>
            </a:lvl6pPr>
            <a:lvl7pPr marL="10972800" indent="0" algn="ctr">
              <a:buNone/>
              <a:defRPr sz="6400"/>
            </a:lvl7pPr>
            <a:lvl8pPr marL="12801600" indent="0" algn="ctr">
              <a:buNone/>
              <a:defRPr sz="6400"/>
            </a:lvl8pPr>
            <a:lvl9pPr marL="14630400" indent="0" algn="ctr">
              <a:buNone/>
              <a:defRPr sz="64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99D1B2C-7FEC-A643-940A-7934DC981F4F}" type="datetimeFigureOut">
              <a:rPr lang="en-US" smtClean="0"/>
              <a:t>8/23/16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442273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9D1B2C-7FEC-A643-940A-7934DC981F4F}" type="datetimeFigureOut">
              <a:rPr lang="en-US" smtClean="0"/>
              <a:t>8/23/16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846938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95552" y="10358568"/>
            <a:ext cx="31546800" cy="17283492"/>
          </a:xfrm>
        </p:spPr>
        <p:txBody>
          <a:bodyPr anchor="b"/>
          <a:lstStyle>
            <a:lvl1pPr>
              <a:defRPr sz="24000"/>
            </a:lvl1pPr>
          </a:lstStyle>
          <a:p>
            <a:r>
              <a:rPr lang="en-US" smtClean="0"/>
              <a:t>Click to edit Master title style</a:t>
            </a:r>
            <a:endParaRPr lang="en-US" dirty="0"/>
          </a:p>
        </p:txBody>
      </p:sp>
      <p:sp>
        <p:nvSpPr>
          <p:cNvPr id="3" name="Text Placeholder 2"/>
          <p:cNvSpPr>
            <a:spLocks noGrp="1"/>
          </p:cNvSpPr>
          <p:nvPr>
            <p:ph type="body" idx="1"/>
          </p:nvPr>
        </p:nvSpPr>
        <p:spPr>
          <a:xfrm>
            <a:off x="2495552" y="27805569"/>
            <a:ext cx="31546800" cy="9088980"/>
          </a:xfrm>
        </p:spPr>
        <p:txBody>
          <a:bodyPr/>
          <a:lstStyle>
            <a:lvl1pPr marL="0" indent="0">
              <a:buNone/>
              <a:defRPr sz="9600">
                <a:solidFill>
                  <a:schemeClr val="tx1"/>
                </a:solidFill>
              </a:defRPr>
            </a:lvl1pPr>
            <a:lvl2pPr marL="1828800" indent="0">
              <a:buNone/>
              <a:defRPr sz="8000">
                <a:solidFill>
                  <a:schemeClr val="tx1">
                    <a:tint val="75000"/>
                  </a:schemeClr>
                </a:solidFill>
              </a:defRPr>
            </a:lvl2pPr>
            <a:lvl3pPr marL="3657600" indent="0">
              <a:buNone/>
              <a:defRPr sz="7200">
                <a:solidFill>
                  <a:schemeClr val="tx1">
                    <a:tint val="75000"/>
                  </a:schemeClr>
                </a:solidFill>
              </a:defRPr>
            </a:lvl3pPr>
            <a:lvl4pPr marL="5486400" indent="0">
              <a:buNone/>
              <a:defRPr sz="6400">
                <a:solidFill>
                  <a:schemeClr val="tx1">
                    <a:tint val="75000"/>
                  </a:schemeClr>
                </a:solidFill>
              </a:defRPr>
            </a:lvl4pPr>
            <a:lvl5pPr marL="7315200" indent="0">
              <a:buNone/>
              <a:defRPr sz="6400">
                <a:solidFill>
                  <a:schemeClr val="tx1">
                    <a:tint val="75000"/>
                  </a:schemeClr>
                </a:solidFill>
              </a:defRPr>
            </a:lvl5pPr>
            <a:lvl6pPr marL="9144000" indent="0">
              <a:buNone/>
              <a:defRPr sz="6400">
                <a:solidFill>
                  <a:schemeClr val="tx1">
                    <a:tint val="75000"/>
                  </a:schemeClr>
                </a:solidFill>
              </a:defRPr>
            </a:lvl6pPr>
            <a:lvl7pPr marL="10972800" indent="0">
              <a:buNone/>
              <a:defRPr sz="6400">
                <a:solidFill>
                  <a:schemeClr val="tx1">
                    <a:tint val="75000"/>
                  </a:schemeClr>
                </a:solidFill>
              </a:defRPr>
            </a:lvl7pPr>
            <a:lvl8pPr marL="12801600" indent="0">
              <a:buNone/>
              <a:defRPr sz="6400">
                <a:solidFill>
                  <a:schemeClr val="tx1">
                    <a:tint val="75000"/>
                  </a:schemeClr>
                </a:solidFill>
              </a:defRPr>
            </a:lvl8pPr>
            <a:lvl9pPr marL="14630400" indent="0">
              <a:buNone/>
              <a:defRPr sz="6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99D1B2C-7FEC-A643-940A-7934DC981F4F}" type="datetimeFigureOut">
              <a:rPr lang="en-US" smtClean="0"/>
              <a:t>8/23/16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969320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14600" y="11060667"/>
            <a:ext cx="15544800" cy="2636286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18516600" y="11060667"/>
            <a:ext cx="15544800" cy="2636286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99D1B2C-7FEC-A643-940A-7934DC981F4F}" type="datetimeFigureOut">
              <a:rPr lang="en-US" smtClean="0"/>
              <a:t>8/23/16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552579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519364" y="2212143"/>
            <a:ext cx="31546800" cy="8031009"/>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519368" y="10185435"/>
            <a:ext cx="15473360" cy="4991724"/>
          </a:xfrm>
        </p:spPr>
        <p:txBody>
          <a:bodyPr anchor="b"/>
          <a:lstStyle>
            <a:lvl1pPr marL="0" indent="0">
              <a:buNone/>
              <a:defRPr sz="9600" b="1"/>
            </a:lvl1pPr>
            <a:lvl2pPr marL="1828800" indent="0">
              <a:buNone/>
              <a:defRPr sz="8000" b="1"/>
            </a:lvl2pPr>
            <a:lvl3pPr marL="3657600" indent="0">
              <a:buNone/>
              <a:defRPr sz="7200" b="1"/>
            </a:lvl3pPr>
            <a:lvl4pPr marL="5486400" indent="0">
              <a:buNone/>
              <a:defRPr sz="6400" b="1"/>
            </a:lvl4pPr>
            <a:lvl5pPr marL="7315200" indent="0">
              <a:buNone/>
              <a:defRPr sz="6400" b="1"/>
            </a:lvl5pPr>
            <a:lvl6pPr marL="9144000" indent="0">
              <a:buNone/>
              <a:defRPr sz="6400" b="1"/>
            </a:lvl6pPr>
            <a:lvl7pPr marL="10972800" indent="0">
              <a:buNone/>
              <a:defRPr sz="6400" b="1"/>
            </a:lvl7pPr>
            <a:lvl8pPr marL="12801600" indent="0">
              <a:buNone/>
              <a:defRPr sz="6400" b="1"/>
            </a:lvl8pPr>
            <a:lvl9pPr marL="14630400" indent="0">
              <a:buNone/>
              <a:defRPr sz="6400" b="1"/>
            </a:lvl9pPr>
          </a:lstStyle>
          <a:p>
            <a:pPr lvl="0"/>
            <a:r>
              <a:rPr lang="en-US" smtClean="0"/>
              <a:t>Click to edit Master text styles</a:t>
            </a:r>
          </a:p>
        </p:txBody>
      </p:sp>
      <p:sp>
        <p:nvSpPr>
          <p:cNvPr id="4" name="Content Placeholder 3"/>
          <p:cNvSpPr>
            <a:spLocks noGrp="1"/>
          </p:cNvSpPr>
          <p:nvPr>
            <p:ph sz="half" idx="2"/>
          </p:nvPr>
        </p:nvSpPr>
        <p:spPr>
          <a:xfrm>
            <a:off x="2519368" y="15177160"/>
            <a:ext cx="15473360" cy="2232331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18516602" y="10185435"/>
            <a:ext cx="15549564" cy="4991724"/>
          </a:xfrm>
        </p:spPr>
        <p:txBody>
          <a:bodyPr anchor="b"/>
          <a:lstStyle>
            <a:lvl1pPr marL="0" indent="0">
              <a:buNone/>
              <a:defRPr sz="9600" b="1"/>
            </a:lvl1pPr>
            <a:lvl2pPr marL="1828800" indent="0">
              <a:buNone/>
              <a:defRPr sz="8000" b="1"/>
            </a:lvl2pPr>
            <a:lvl3pPr marL="3657600" indent="0">
              <a:buNone/>
              <a:defRPr sz="7200" b="1"/>
            </a:lvl3pPr>
            <a:lvl4pPr marL="5486400" indent="0">
              <a:buNone/>
              <a:defRPr sz="6400" b="1"/>
            </a:lvl4pPr>
            <a:lvl5pPr marL="7315200" indent="0">
              <a:buNone/>
              <a:defRPr sz="6400" b="1"/>
            </a:lvl5pPr>
            <a:lvl6pPr marL="9144000" indent="0">
              <a:buNone/>
              <a:defRPr sz="6400" b="1"/>
            </a:lvl6pPr>
            <a:lvl7pPr marL="10972800" indent="0">
              <a:buNone/>
              <a:defRPr sz="6400" b="1"/>
            </a:lvl7pPr>
            <a:lvl8pPr marL="12801600" indent="0">
              <a:buNone/>
              <a:defRPr sz="6400" b="1"/>
            </a:lvl8pPr>
            <a:lvl9pPr marL="14630400" indent="0">
              <a:buNone/>
              <a:defRPr sz="6400" b="1"/>
            </a:lvl9pPr>
          </a:lstStyle>
          <a:p>
            <a:pPr lvl="0"/>
            <a:r>
              <a:rPr lang="en-US" smtClean="0"/>
              <a:t>Click to edit Master text styles</a:t>
            </a:r>
          </a:p>
        </p:txBody>
      </p:sp>
      <p:sp>
        <p:nvSpPr>
          <p:cNvPr id="6" name="Content Placeholder 5"/>
          <p:cNvSpPr>
            <a:spLocks noGrp="1"/>
          </p:cNvSpPr>
          <p:nvPr>
            <p:ph sz="quarter" idx="4"/>
          </p:nvPr>
        </p:nvSpPr>
        <p:spPr>
          <a:xfrm>
            <a:off x="18516602" y="15177160"/>
            <a:ext cx="15549564" cy="2232331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99D1B2C-7FEC-A643-940A-7934DC981F4F}" type="datetimeFigureOut">
              <a:rPr lang="en-US" smtClean="0"/>
              <a:t>8/23/16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1486215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99D1B2C-7FEC-A643-940A-7934DC981F4F}" type="datetimeFigureOut">
              <a:rPr lang="en-US" smtClean="0"/>
              <a:t>8/23/16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1443996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9D1B2C-7FEC-A643-940A-7934DC981F4F}" type="datetimeFigureOut">
              <a:rPr lang="en-US" smtClean="0"/>
              <a:t>8/23/16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542144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4" y="2769976"/>
            <a:ext cx="11796712" cy="9694916"/>
          </a:xfrm>
        </p:spPr>
        <p:txBody>
          <a:bodyPr anchor="b"/>
          <a:lstStyle>
            <a:lvl1pPr>
              <a:defRPr sz="12800"/>
            </a:lvl1pPr>
          </a:lstStyle>
          <a:p>
            <a:r>
              <a:rPr lang="en-US" smtClean="0"/>
              <a:t>Click to edit Master title style</a:t>
            </a:r>
            <a:endParaRPr lang="en-US" dirty="0"/>
          </a:p>
        </p:txBody>
      </p:sp>
      <p:sp>
        <p:nvSpPr>
          <p:cNvPr id="3" name="Content Placeholder 2"/>
          <p:cNvSpPr>
            <a:spLocks noGrp="1"/>
          </p:cNvSpPr>
          <p:nvPr>
            <p:ph idx="1"/>
          </p:nvPr>
        </p:nvSpPr>
        <p:spPr>
          <a:xfrm>
            <a:off x="15549564" y="5982388"/>
            <a:ext cx="18516600" cy="29527173"/>
          </a:xfrm>
        </p:spPr>
        <p:txBody>
          <a:bodyPr/>
          <a:lstStyle>
            <a:lvl1pPr>
              <a:defRPr sz="12800"/>
            </a:lvl1pPr>
            <a:lvl2pPr>
              <a:defRPr sz="11200"/>
            </a:lvl2pPr>
            <a:lvl3pPr>
              <a:defRPr sz="9600"/>
            </a:lvl3pPr>
            <a:lvl4pPr>
              <a:defRPr sz="8000"/>
            </a:lvl4pPr>
            <a:lvl5pPr>
              <a:defRPr sz="8000"/>
            </a:lvl5pPr>
            <a:lvl6pPr>
              <a:defRPr sz="8000"/>
            </a:lvl6pPr>
            <a:lvl7pPr>
              <a:defRPr sz="8000"/>
            </a:lvl7pPr>
            <a:lvl8pPr>
              <a:defRPr sz="8000"/>
            </a:lvl8pPr>
            <a:lvl9pPr>
              <a:defRPr sz="8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19364" y="12464892"/>
            <a:ext cx="11796712" cy="23092753"/>
          </a:xfrm>
        </p:spPr>
        <p:txBody>
          <a:bodyPr/>
          <a:lstStyle>
            <a:lvl1pPr marL="0" indent="0">
              <a:buNone/>
              <a:defRPr sz="6400"/>
            </a:lvl1pPr>
            <a:lvl2pPr marL="1828800" indent="0">
              <a:buNone/>
              <a:defRPr sz="5600"/>
            </a:lvl2pPr>
            <a:lvl3pPr marL="3657600" indent="0">
              <a:buNone/>
              <a:defRPr sz="4800"/>
            </a:lvl3pPr>
            <a:lvl4pPr marL="5486400" indent="0">
              <a:buNone/>
              <a:defRPr sz="4000"/>
            </a:lvl4pPr>
            <a:lvl5pPr marL="7315200" indent="0">
              <a:buNone/>
              <a:defRPr sz="4000"/>
            </a:lvl5pPr>
            <a:lvl6pPr marL="9144000" indent="0">
              <a:buNone/>
              <a:defRPr sz="4000"/>
            </a:lvl6pPr>
            <a:lvl7pPr marL="10972800" indent="0">
              <a:buNone/>
              <a:defRPr sz="4000"/>
            </a:lvl7pPr>
            <a:lvl8pPr marL="12801600" indent="0">
              <a:buNone/>
              <a:defRPr sz="4000"/>
            </a:lvl8pPr>
            <a:lvl9pPr marL="14630400" indent="0">
              <a:buNone/>
              <a:defRPr sz="4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99D1B2C-7FEC-A643-940A-7934DC981F4F}" type="datetimeFigureOut">
              <a:rPr lang="en-US" smtClean="0"/>
              <a:t>8/23/16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53060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4" y="2769976"/>
            <a:ext cx="11796712" cy="9694916"/>
          </a:xfrm>
        </p:spPr>
        <p:txBody>
          <a:bodyPr anchor="b"/>
          <a:lstStyle>
            <a:lvl1pPr>
              <a:defRPr sz="1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549564" y="5982388"/>
            <a:ext cx="18516600" cy="29527173"/>
          </a:xfrm>
        </p:spPr>
        <p:txBody>
          <a:bodyPr anchor="t"/>
          <a:lstStyle>
            <a:lvl1pPr marL="0" indent="0">
              <a:buNone/>
              <a:defRPr sz="12800"/>
            </a:lvl1pPr>
            <a:lvl2pPr marL="1828800" indent="0">
              <a:buNone/>
              <a:defRPr sz="11200"/>
            </a:lvl2pPr>
            <a:lvl3pPr marL="3657600" indent="0">
              <a:buNone/>
              <a:defRPr sz="9600"/>
            </a:lvl3pPr>
            <a:lvl4pPr marL="5486400" indent="0">
              <a:buNone/>
              <a:defRPr sz="8000"/>
            </a:lvl4pPr>
            <a:lvl5pPr marL="7315200" indent="0">
              <a:buNone/>
              <a:defRPr sz="8000"/>
            </a:lvl5pPr>
            <a:lvl6pPr marL="9144000" indent="0">
              <a:buNone/>
              <a:defRPr sz="8000"/>
            </a:lvl6pPr>
            <a:lvl7pPr marL="10972800" indent="0">
              <a:buNone/>
              <a:defRPr sz="8000"/>
            </a:lvl7pPr>
            <a:lvl8pPr marL="12801600" indent="0">
              <a:buNone/>
              <a:defRPr sz="8000"/>
            </a:lvl8pPr>
            <a:lvl9pPr marL="14630400" indent="0">
              <a:buNone/>
              <a:defRPr sz="80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2519364" y="12464892"/>
            <a:ext cx="11796712" cy="23092753"/>
          </a:xfrm>
        </p:spPr>
        <p:txBody>
          <a:bodyPr/>
          <a:lstStyle>
            <a:lvl1pPr marL="0" indent="0">
              <a:buNone/>
              <a:defRPr sz="6400"/>
            </a:lvl1pPr>
            <a:lvl2pPr marL="1828800" indent="0">
              <a:buNone/>
              <a:defRPr sz="5600"/>
            </a:lvl2pPr>
            <a:lvl3pPr marL="3657600" indent="0">
              <a:buNone/>
              <a:defRPr sz="4800"/>
            </a:lvl3pPr>
            <a:lvl4pPr marL="5486400" indent="0">
              <a:buNone/>
              <a:defRPr sz="4000"/>
            </a:lvl4pPr>
            <a:lvl5pPr marL="7315200" indent="0">
              <a:buNone/>
              <a:defRPr sz="4000"/>
            </a:lvl5pPr>
            <a:lvl6pPr marL="9144000" indent="0">
              <a:buNone/>
              <a:defRPr sz="4000"/>
            </a:lvl6pPr>
            <a:lvl7pPr marL="10972800" indent="0">
              <a:buNone/>
              <a:defRPr sz="4000"/>
            </a:lvl7pPr>
            <a:lvl8pPr marL="12801600" indent="0">
              <a:buNone/>
              <a:defRPr sz="4000"/>
            </a:lvl8pPr>
            <a:lvl9pPr marL="14630400" indent="0">
              <a:buNone/>
              <a:defRPr sz="4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99D1B2C-7FEC-A643-940A-7934DC981F4F}" type="datetimeFigureOut">
              <a:rPr lang="en-US" smtClean="0"/>
              <a:t>8/23/16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579807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9D1B2C-7FEC-A643-940A-7934DC981F4F}" type="datetimeFigureOut">
              <a:rPr lang="en-US" smtClean="0"/>
              <a:t>8/23/16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1690270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6174702" y="2212133"/>
            <a:ext cx="7886700" cy="352113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14602" y="2212133"/>
            <a:ext cx="23202900" cy="3521139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9D1B2C-7FEC-A643-940A-7934DC981F4F}" type="datetimeFigureOut">
              <a:rPr lang="en-US" smtClean="0"/>
              <a:t>8/23/16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1461148775"/>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2212143"/>
            <a:ext cx="31546800" cy="8031009"/>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14600" y="11060667"/>
            <a:ext cx="31546800" cy="26362864"/>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2514600" y="38510368"/>
            <a:ext cx="8229600" cy="2212134"/>
          </a:xfrm>
          <a:prstGeom prst="rect">
            <a:avLst/>
          </a:prstGeom>
        </p:spPr>
        <p:txBody>
          <a:bodyPr vert="horz" lIns="91440" tIns="45720" rIns="91440" bIns="45720" rtlCol="0" anchor="ctr"/>
          <a:lstStyle>
            <a:lvl1pPr algn="l">
              <a:defRPr sz="4800">
                <a:solidFill>
                  <a:schemeClr val="tx1">
                    <a:tint val="75000"/>
                  </a:schemeClr>
                </a:solidFill>
              </a:defRPr>
            </a:lvl1pPr>
          </a:lstStyle>
          <a:p>
            <a:fld id="{D99D1B2C-7FEC-A643-940A-7934DC981F4F}" type="datetimeFigureOut">
              <a:rPr lang="en-US" smtClean="0"/>
              <a:t>8/23/16</a:t>
            </a:fld>
            <a:endParaRPr lang="en-US"/>
          </a:p>
        </p:txBody>
      </p:sp>
      <p:sp>
        <p:nvSpPr>
          <p:cNvPr id="5" name="Footer Placeholder 4"/>
          <p:cNvSpPr>
            <a:spLocks noGrp="1"/>
          </p:cNvSpPr>
          <p:nvPr>
            <p:ph type="ftr" sz="quarter" idx="3"/>
          </p:nvPr>
        </p:nvSpPr>
        <p:spPr>
          <a:xfrm>
            <a:off x="12115800" y="38510368"/>
            <a:ext cx="12344400" cy="2212134"/>
          </a:xfrm>
          <a:prstGeom prst="rect">
            <a:avLst/>
          </a:prstGeom>
        </p:spPr>
        <p:txBody>
          <a:bodyPr vert="horz" lIns="91440" tIns="45720" rIns="91440" bIns="45720" rtlCol="0" anchor="ctr"/>
          <a:lstStyle>
            <a:lvl1pPr algn="ctr">
              <a:defRPr sz="4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5831800" y="38510368"/>
            <a:ext cx="8229600" cy="2212134"/>
          </a:xfrm>
          <a:prstGeom prst="rect">
            <a:avLst/>
          </a:prstGeom>
        </p:spPr>
        <p:txBody>
          <a:bodyPr vert="horz" lIns="91440" tIns="45720" rIns="91440" bIns="45720" rtlCol="0" anchor="ctr"/>
          <a:lstStyle>
            <a:lvl1pPr algn="r">
              <a:defRPr sz="4800">
                <a:solidFill>
                  <a:schemeClr val="tx1">
                    <a:tint val="75000"/>
                  </a:schemeClr>
                </a:solidFill>
              </a:defRPr>
            </a:lvl1pPr>
          </a:lstStyle>
          <a:p>
            <a:fld id="{692FF19A-555B-134D-AEFE-81A7C1130558}" type="slidenum">
              <a:rPr lang="en-US" smtClean="0"/>
              <a:t>‹#›</a:t>
            </a:fld>
            <a:endParaRPr lang="en-US"/>
          </a:p>
        </p:txBody>
      </p:sp>
    </p:spTree>
    <p:extLst>
      <p:ext uri="{BB962C8B-B14F-4D97-AF65-F5344CB8AC3E}">
        <p14:creationId xmlns:p14="http://schemas.microsoft.com/office/powerpoint/2010/main" val="16751325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657600" rtl="0" eaLnBrk="1" latinLnBrk="0" hangingPunct="1">
        <a:lnSpc>
          <a:spcPct val="90000"/>
        </a:lnSpc>
        <a:spcBef>
          <a:spcPct val="0"/>
        </a:spcBef>
        <a:buNone/>
        <a:defRPr sz="17600" kern="1200">
          <a:solidFill>
            <a:schemeClr val="tx1"/>
          </a:solidFill>
          <a:latin typeface="+mj-lt"/>
          <a:ea typeface="+mj-ea"/>
          <a:cs typeface="+mj-cs"/>
        </a:defRPr>
      </a:lvl1pPr>
    </p:titleStyle>
    <p:bodyStyle>
      <a:lvl1pPr marL="914400" indent="-914400" algn="l" defTabSz="3657600" rtl="0" eaLnBrk="1" latinLnBrk="0" hangingPunct="1">
        <a:lnSpc>
          <a:spcPct val="90000"/>
        </a:lnSpc>
        <a:spcBef>
          <a:spcPts val="4000"/>
        </a:spcBef>
        <a:buFont typeface="Arial" panose="020B0604020202020204" pitchFamily="34" charset="0"/>
        <a:buChar char="•"/>
        <a:defRPr sz="11200" kern="1200">
          <a:solidFill>
            <a:schemeClr val="tx1"/>
          </a:solidFill>
          <a:latin typeface="+mn-lt"/>
          <a:ea typeface="+mn-ea"/>
          <a:cs typeface="+mn-cs"/>
        </a:defRPr>
      </a:lvl1pPr>
      <a:lvl2pPr marL="2743200" indent="-914400" algn="l" defTabSz="3657600" rtl="0" eaLnBrk="1" latinLnBrk="0" hangingPunct="1">
        <a:lnSpc>
          <a:spcPct val="90000"/>
        </a:lnSpc>
        <a:spcBef>
          <a:spcPts val="2000"/>
        </a:spcBef>
        <a:buFont typeface="Arial" panose="020B0604020202020204" pitchFamily="34" charset="0"/>
        <a:buChar char="•"/>
        <a:defRPr sz="9600" kern="1200">
          <a:solidFill>
            <a:schemeClr val="tx1"/>
          </a:solidFill>
          <a:latin typeface="+mn-lt"/>
          <a:ea typeface="+mn-ea"/>
          <a:cs typeface="+mn-cs"/>
        </a:defRPr>
      </a:lvl2pPr>
      <a:lvl3pPr marL="4572000" indent="-914400" algn="l" defTabSz="3657600" rtl="0" eaLnBrk="1" latinLnBrk="0" hangingPunct="1">
        <a:lnSpc>
          <a:spcPct val="90000"/>
        </a:lnSpc>
        <a:spcBef>
          <a:spcPts val="2000"/>
        </a:spcBef>
        <a:buFont typeface="Arial" panose="020B0604020202020204" pitchFamily="34" charset="0"/>
        <a:buChar char="•"/>
        <a:defRPr sz="8000" kern="1200">
          <a:solidFill>
            <a:schemeClr val="tx1"/>
          </a:solidFill>
          <a:latin typeface="+mn-lt"/>
          <a:ea typeface="+mn-ea"/>
          <a:cs typeface="+mn-cs"/>
        </a:defRPr>
      </a:lvl3pPr>
      <a:lvl4pPr marL="6400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4pPr>
      <a:lvl5pPr marL="82296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5pPr>
      <a:lvl6pPr marL="100584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6pPr>
      <a:lvl7pPr marL="118872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7pPr>
      <a:lvl8pPr marL="137160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8pPr>
      <a:lvl9pPr marL="15544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9pPr>
    </p:bodyStyle>
    <p:otherStyle>
      <a:defPPr>
        <a:defRPr lang="en-US"/>
      </a:defPPr>
      <a:lvl1pPr marL="0" algn="l" defTabSz="3657600" rtl="0" eaLnBrk="1" latinLnBrk="0" hangingPunct="1">
        <a:defRPr sz="7200" kern="1200">
          <a:solidFill>
            <a:schemeClr val="tx1"/>
          </a:solidFill>
          <a:latin typeface="+mn-lt"/>
          <a:ea typeface="+mn-ea"/>
          <a:cs typeface="+mn-cs"/>
        </a:defRPr>
      </a:lvl1pPr>
      <a:lvl2pPr marL="1828800" algn="l" defTabSz="3657600" rtl="0" eaLnBrk="1" latinLnBrk="0" hangingPunct="1">
        <a:defRPr sz="7200" kern="1200">
          <a:solidFill>
            <a:schemeClr val="tx1"/>
          </a:solidFill>
          <a:latin typeface="+mn-lt"/>
          <a:ea typeface="+mn-ea"/>
          <a:cs typeface="+mn-cs"/>
        </a:defRPr>
      </a:lvl2pPr>
      <a:lvl3pPr marL="3657600" algn="l" defTabSz="3657600" rtl="0" eaLnBrk="1" latinLnBrk="0" hangingPunct="1">
        <a:defRPr sz="7200" kern="1200">
          <a:solidFill>
            <a:schemeClr val="tx1"/>
          </a:solidFill>
          <a:latin typeface="+mn-lt"/>
          <a:ea typeface="+mn-ea"/>
          <a:cs typeface="+mn-cs"/>
        </a:defRPr>
      </a:lvl3pPr>
      <a:lvl4pPr marL="5486400" algn="l" defTabSz="3657600" rtl="0" eaLnBrk="1" latinLnBrk="0" hangingPunct="1">
        <a:defRPr sz="7200" kern="1200">
          <a:solidFill>
            <a:schemeClr val="tx1"/>
          </a:solidFill>
          <a:latin typeface="+mn-lt"/>
          <a:ea typeface="+mn-ea"/>
          <a:cs typeface="+mn-cs"/>
        </a:defRPr>
      </a:lvl4pPr>
      <a:lvl5pPr marL="7315200" algn="l" defTabSz="3657600" rtl="0" eaLnBrk="1" latinLnBrk="0" hangingPunct="1">
        <a:defRPr sz="7200" kern="1200">
          <a:solidFill>
            <a:schemeClr val="tx1"/>
          </a:solidFill>
          <a:latin typeface="+mn-lt"/>
          <a:ea typeface="+mn-ea"/>
          <a:cs typeface="+mn-cs"/>
        </a:defRPr>
      </a:lvl5pPr>
      <a:lvl6pPr marL="9144000" algn="l" defTabSz="3657600" rtl="0" eaLnBrk="1" latinLnBrk="0" hangingPunct="1">
        <a:defRPr sz="7200" kern="1200">
          <a:solidFill>
            <a:schemeClr val="tx1"/>
          </a:solidFill>
          <a:latin typeface="+mn-lt"/>
          <a:ea typeface="+mn-ea"/>
          <a:cs typeface="+mn-cs"/>
        </a:defRPr>
      </a:lvl6pPr>
      <a:lvl7pPr marL="10972800" algn="l" defTabSz="3657600" rtl="0" eaLnBrk="1" latinLnBrk="0" hangingPunct="1">
        <a:defRPr sz="7200" kern="1200">
          <a:solidFill>
            <a:schemeClr val="tx1"/>
          </a:solidFill>
          <a:latin typeface="+mn-lt"/>
          <a:ea typeface="+mn-ea"/>
          <a:cs typeface="+mn-cs"/>
        </a:defRPr>
      </a:lvl7pPr>
      <a:lvl8pPr marL="12801600" algn="l" defTabSz="3657600" rtl="0" eaLnBrk="1" latinLnBrk="0" hangingPunct="1">
        <a:defRPr sz="7200" kern="1200">
          <a:solidFill>
            <a:schemeClr val="tx1"/>
          </a:solidFill>
          <a:latin typeface="+mn-lt"/>
          <a:ea typeface="+mn-ea"/>
          <a:cs typeface="+mn-cs"/>
        </a:defRPr>
      </a:lvl8pPr>
      <a:lvl9pPr marL="14630400" algn="l" defTabSz="3657600" rtl="0" eaLnBrk="1" latinLnBrk="0" hangingPunct="1">
        <a:defRPr sz="7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emf"/><Relationship Id="rId7" Type="http://schemas.openxmlformats.org/officeDocument/2006/relationships/hyperlink" Target="http://labs.centerforgov.org/open-data-portal-requirements/" TargetMode="External"/><Relationship Id="rId8" Type="http://schemas.openxmlformats.org/officeDocument/2006/relationships/image" Target="../media/image6.emf"/><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522" y="918209"/>
            <a:ext cx="8712200" cy="3530600"/>
          </a:xfrm>
          <a:prstGeom prst="rect">
            <a:avLst/>
          </a:prstGeom>
        </p:spPr>
      </p:pic>
      <p:sp>
        <p:nvSpPr>
          <p:cNvPr id="8" name="TextBox 7"/>
          <p:cNvSpPr txBox="1"/>
          <p:nvPr/>
        </p:nvSpPr>
        <p:spPr>
          <a:xfrm>
            <a:off x="11150072" y="792447"/>
            <a:ext cx="24179746" cy="2785378"/>
          </a:xfrm>
          <a:prstGeom prst="rect">
            <a:avLst/>
          </a:prstGeom>
          <a:noFill/>
        </p:spPr>
        <p:txBody>
          <a:bodyPr wrap="square" rtlCol="0">
            <a:spAutoFit/>
          </a:bodyPr>
          <a:lstStyle/>
          <a:p>
            <a:r>
              <a:rPr lang="en-US" sz="17000" dirty="0" smtClean="0">
                <a:solidFill>
                  <a:srgbClr val="000000"/>
                </a:solidFill>
                <a:latin typeface="Blanch Caps"/>
                <a:ea typeface="Blanch Condensed" charset="0"/>
                <a:cs typeface="Blanch Condensed" charset="0"/>
              </a:rPr>
              <a:t>Criteria </a:t>
            </a:r>
            <a:r>
              <a:rPr lang="en-US" sz="17000" dirty="0">
                <a:solidFill>
                  <a:srgbClr val="000000"/>
                </a:solidFill>
                <a:latin typeface="Blanch Caps"/>
                <a:ea typeface="Blanch Condensed" charset="0"/>
                <a:cs typeface="Blanch Condensed" charset="0"/>
              </a:rPr>
              <a:t>f</a:t>
            </a:r>
            <a:r>
              <a:rPr lang="en-US" sz="17000" dirty="0" smtClean="0">
                <a:solidFill>
                  <a:srgbClr val="000000"/>
                </a:solidFill>
                <a:latin typeface="Blanch Caps"/>
                <a:ea typeface="Blanch Condensed" charset="0"/>
                <a:cs typeface="Blanch Condensed" charset="0"/>
              </a:rPr>
              <a:t>or an Excellent Open Data Portal</a:t>
            </a:r>
            <a:endParaRPr lang="en-US" sz="17000" dirty="0">
              <a:solidFill>
                <a:srgbClr val="000000"/>
              </a:solidFill>
              <a:latin typeface="Blanch Caps"/>
              <a:ea typeface="Blanch Condensed" charset="0"/>
              <a:cs typeface="Blanch Condensed" charset="0"/>
            </a:endParaRPr>
          </a:p>
        </p:txBody>
      </p:sp>
      <p:sp>
        <p:nvSpPr>
          <p:cNvPr id="9" name="TextBox 8"/>
          <p:cNvSpPr txBox="1"/>
          <p:nvPr/>
        </p:nvSpPr>
        <p:spPr>
          <a:xfrm>
            <a:off x="11150073" y="4329126"/>
            <a:ext cx="24179746" cy="1569660"/>
          </a:xfrm>
          <a:prstGeom prst="rect">
            <a:avLst/>
          </a:prstGeom>
          <a:noFill/>
        </p:spPr>
        <p:txBody>
          <a:bodyPr wrap="square" rtlCol="0">
            <a:spAutoFit/>
          </a:bodyPr>
          <a:lstStyle/>
          <a:p>
            <a:r>
              <a:rPr lang="en-US" sz="3200" dirty="0" smtClean="0">
                <a:solidFill>
                  <a:schemeClr val="bg2">
                    <a:lumMod val="50000"/>
                  </a:schemeClr>
                </a:solidFill>
                <a:latin typeface="Raleway Medium"/>
                <a:ea typeface="Raleway" charset="0"/>
                <a:cs typeface="Raleway Medium"/>
              </a:rPr>
              <a:t>Mark Almanza (Virginia Tech), Madison </a:t>
            </a:r>
            <a:r>
              <a:rPr lang="en-US" sz="3200" dirty="0" err="1" smtClean="0">
                <a:solidFill>
                  <a:schemeClr val="bg2">
                    <a:lumMod val="50000"/>
                  </a:schemeClr>
                </a:solidFill>
                <a:latin typeface="Raleway Medium"/>
                <a:ea typeface="Raleway" charset="0"/>
                <a:cs typeface="Raleway Medium"/>
              </a:rPr>
              <a:t>Arnsbarger</a:t>
            </a:r>
            <a:r>
              <a:rPr lang="en-US" sz="3200" dirty="0">
                <a:solidFill>
                  <a:schemeClr val="bg2">
                    <a:lumMod val="50000"/>
                  </a:schemeClr>
                </a:solidFill>
                <a:latin typeface="Raleway Medium"/>
                <a:ea typeface="Raleway" charset="0"/>
                <a:cs typeface="Raleway Medium"/>
              </a:rPr>
              <a:t> (Virginia Tech), </a:t>
            </a:r>
            <a:r>
              <a:rPr lang="en-US" sz="3200" dirty="0" smtClean="0">
                <a:solidFill>
                  <a:schemeClr val="bg2">
                    <a:lumMod val="50000"/>
                  </a:schemeClr>
                </a:solidFill>
                <a:latin typeface="Raleway Medium"/>
                <a:ea typeface="Raleway" charset="0"/>
                <a:cs typeface="Raleway Medium"/>
              </a:rPr>
              <a:t>Jessica Flynn (Cornell), Millicent Grant (Iowa State University), Adrienne </a:t>
            </a:r>
            <a:r>
              <a:rPr lang="en-US" sz="3200" dirty="0">
                <a:solidFill>
                  <a:schemeClr val="bg2">
                    <a:lumMod val="50000"/>
                  </a:schemeClr>
                </a:solidFill>
                <a:latin typeface="Raleway Medium"/>
                <a:ea typeface="Raleway" charset="0"/>
                <a:cs typeface="Raleway Medium"/>
              </a:rPr>
              <a:t>Rogers (Virginia Tech), </a:t>
            </a:r>
            <a:r>
              <a:rPr lang="en-US" sz="3200" dirty="0" smtClean="0">
                <a:solidFill>
                  <a:schemeClr val="bg2">
                    <a:lumMod val="50000"/>
                  </a:schemeClr>
                </a:solidFill>
                <a:latin typeface="Raleway Medium"/>
                <a:ea typeface="Raleway" charset="0"/>
                <a:cs typeface="Raleway Medium"/>
              </a:rPr>
              <a:t>William </a:t>
            </a:r>
            <a:r>
              <a:rPr lang="en-US" sz="3200" dirty="0" err="1" smtClean="0">
                <a:solidFill>
                  <a:schemeClr val="bg2">
                    <a:lumMod val="50000"/>
                  </a:schemeClr>
                </a:solidFill>
                <a:latin typeface="Raleway Medium"/>
                <a:ea typeface="Raleway" charset="0"/>
                <a:cs typeface="Raleway Medium"/>
              </a:rPr>
              <a:t>Sandholtz</a:t>
            </a:r>
            <a:r>
              <a:rPr lang="en-US" sz="3200" dirty="0" smtClean="0">
                <a:solidFill>
                  <a:schemeClr val="bg2">
                    <a:lumMod val="50000"/>
                  </a:schemeClr>
                </a:solidFill>
                <a:latin typeface="Raleway Medium"/>
                <a:ea typeface="Raleway" charset="0"/>
                <a:cs typeface="Raleway Medium"/>
              </a:rPr>
              <a:t> (UC Berkeley), Emily Stark (Austin </a:t>
            </a:r>
            <a:r>
              <a:rPr lang="en-US" sz="3200" dirty="0" err="1" smtClean="0">
                <a:solidFill>
                  <a:schemeClr val="bg2">
                    <a:lumMod val="50000"/>
                  </a:schemeClr>
                </a:solidFill>
                <a:latin typeface="Raleway Medium"/>
                <a:ea typeface="Raleway" charset="0"/>
                <a:cs typeface="Raleway Medium"/>
              </a:rPr>
              <a:t>Peay</a:t>
            </a:r>
            <a:r>
              <a:rPr lang="en-US" sz="3200" dirty="0" smtClean="0">
                <a:solidFill>
                  <a:schemeClr val="bg2">
                    <a:lumMod val="50000"/>
                  </a:schemeClr>
                </a:solidFill>
                <a:latin typeface="Raleway Medium"/>
                <a:ea typeface="Raleway" charset="0"/>
                <a:cs typeface="Raleway Medium"/>
              </a:rPr>
              <a:t>), Samantha Tyner (Iowa State U) with </a:t>
            </a:r>
            <a:r>
              <a:rPr lang="en-US" sz="3200" dirty="0" err="1" smtClean="0">
                <a:solidFill>
                  <a:schemeClr val="bg2">
                    <a:lumMod val="50000"/>
                  </a:schemeClr>
                </a:solidFill>
                <a:latin typeface="Raleway Medium"/>
                <a:ea typeface="Raleway" charset="0"/>
                <a:cs typeface="Raleway Medium"/>
              </a:rPr>
              <a:t>Gizem</a:t>
            </a:r>
            <a:r>
              <a:rPr lang="en-US" sz="3200" dirty="0">
                <a:solidFill>
                  <a:schemeClr val="bg2">
                    <a:lumMod val="50000"/>
                  </a:schemeClr>
                </a:solidFill>
                <a:latin typeface="Raleway Medium"/>
                <a:ea typeface="Raleway" charset="0"/>
                <a:cs typeface="Raleway Medium"/>
              </a:rPr>
              <a:t> </a:t>
            </a:r>
            <a:r>
              <a:rPr lang="en-US" sz="3200" dirty="0" err="1" smtClean="0">
                <a:solidFill>
                  <a:schemeClr val="bg2">
                    <a:lumMod val="50000"/>
                  </a:schemeClr>
                </a:solidFill>
                <a:latin typeface="Raleway Medium"/>
                <a:ea typeface="Raleway" charset="0"/>
                <a:cs typeface="Raleway Medium"/>
              </a:rPr>
              <a:t>Korkmaz</a:t>
            </a:r>
            <a:r>
              <a:rPr lang="en-US" sz="3200" dirty="0" smtClean="0">
                <a:solidFill>
                  <a:schemeClr val="bg2">
                    <a:lumMod val="50000"/>
                  </a:schemeClr>
                </a:solidFill>
                <a:latin typeface="Raleway Medium"/>
                <a:ea typeface="Raleway" charset="0"/>
                <a:cs typeface="Raleway Medium"/>
              </a:rPr>
              <a:t>, Katie </a:t>
            </a:r>
            <a:r>
              <a:rPr lang="en-US" sz="3200" dirty="0" err="1" smtClean="0">
                <a:solidFill>
                  <a:schemeClr val="bg2">
                    <a:lumMod val="50000"/>
                  </a:schemeClr>
                </a:solidFill>
                <a:latin typeface="Raleway Medium"/>
                <a:ea typeface="Raleway" charset="0"/>
                <a:cs typeface="Raleway Medium"/>
              </a:rPr>
              <a:t>Ziemer</a:t>
            </a:r>
            <a:r>
              <a:rPr lang="en-US" sz="3200" dirty="0" smtClean="0">
                <a:solidFill>
                  <a:schemeClr val="bg2">
                    <a:lumMod val="50000"/>
                  </a:schemeClr>
                </a:solidFill>
                <a:latin typeface="Raleway Medium"/>
                <a:ea typeface="Raleway" charset="0"/>
                <a:cs typeface="Raleway Medium"/>
              </a:rPr>
              <a:t>, &amp; Stephanie Shipp (SDAL), and </a:t>
            </a:r>
            <a:r>
              <a:rPr lang="en-US" sz="3200" dirty="0" err="1" smtClean="0">
                <a:solidFill>
                  <a:schemeClr val="bg2">
                    <a:lumMod val="50000"/>
                  </a:schemeClr>
                </a:solidFill>
                <a:latin typeface="Raleway Medium"/>
                <a:ea typeface="Raleway" charset="0"/>
                <a:cs typeface="Raleway Medium"/>
              </a:rPr>
              <a:t>Kristanne</a:t>
            </a:r>
            <a:r>
              <a:rPr lang="en-US" sz="3200" dirty="0" smtClean="0">
                <a:solidFill>
                  <a:schemeClr val="bg2">
                    <a:lumMod val="50000"/>
                  </a:schemeClr>
                </a:solidFill>
                <a:latin typeface="Raleway Medium"/>
                <a:ea typeface="Raleway" charset="0"/>
                <a:cs typeface="Raleway Medium"/>
              </a:rPr>
              <a:t> Littlefield, Arlington Chief Digital Officer</a:t>
            </a:r>
          </a:p>
        </p:txBody>
      </p:sp>
      <p:sp>
        <p:nvSpPr>
          <p:cNvPr id="4" name="Rectangle 3"/>
          <p:cNvSpPr/>
          <p:nvPr/>
        </p:nvSpPr>
        <p:spPr>
          <a:xfrm>
            <a:off x="18088266" y="20159850"/>
            <a:ext cx="399468" cy="1228350"/>
          </a:xfrm>
          <a:prstGeom prst="rect">
            <a:avLst/>
          </a:prstGeom>
        </p:spPr>
        <p:txBody>
          <a:bodyPr wrap="none">
            <a:spAutoFit/>
          </a:bodyPr>
          <a:lstStyle/>
          <a:p>
            <a:r>
              <a:rPr lang="sk-SK" dirty="0"/>
              <a:t> </a:t>
            </a:r>
            <a:endParaRPr lang="en-US" dirty="0"/>
          </a:p>
        </p:txBody>
      </p:sp>
      <p:sp>
        <p:nvSpPr>
          <p:cNvPr id="5" name="Rectangle 4"/>
          <p:cNvSpPr/>
          <p:nvPr/>
        </p:nvSpPr>
        <p:spPr>
          <a:xfrm>
            <a:off x="18088266" y="20159850"/>
            <a:ext cx="399468" cy="1228350"/>
          </a:xfrm>
          <a:prstGeom prst="rect">
            <a:avLst/>
          </a:prstGeom>
        </p:spPr>
        <p:txBody>
          <a:bodyPr wrap="none">
            <a:spAutoFit/>
          </a:bodyPr>
          <a:lstStyle/>
          <a:p>
            <a:r>
              <a:rPr lang="sk-SK" dirty="0"/>
              <a:t> </a:t>
            </a:r>
            <a:endParaRPr lang="en-US" dirty="0"/>
          </a:p>
        </p:txBody>
      </p:sp>
      <p:sp>
        <p:nvSpPr>
          <p:cNvPr id="6" name="Rectangle 5"/>
          <p:cNvSpPr/>
          <p:nvPr/>
        </p:nvSpPr>
        <p:spPr>
          <a:xfrm>
            <a:off x="18088266" y="20159850"/>
            <a:ext cx="399468" cy="1228350"/>
          </a:xfrm>
          <a:prstGeom prst="rect">
            <a:avLst/>
          </a:prstGeom>
        </p:spPr>
        <p:txBody>
          <a:bodyPr wrap="none">
            <a:spAutoFit/>
          </a:bodyPr>
          <a:lstStyle/>
          <a:p>
            <a:r>
              <a:rPr lang="sk-SK" dirty="0"/>
              <a:t> </a:t>
            </a:r>
            <a:endParaRPr lang="en-US" dirty="0"/>
          </a:p>
        </p:txBody>
      </p:sp>
      <p:graphicFrame>
        <p:nvGraphicFramePr>
          <p:cNvPr id="10" name="Table 9"/>
          <p:cNvGraphicFramePr>
            <a:graphicFrameLocks noGrp="1"/>
          </p:cNvGraphicFramePr>
          <p:nvPr>
            <p:extLst>
              <p:ext uri="{D42A27DB-BD31-4B8C-83A1-F6EECF244321}">
                <p14:modId xmlns:p14="http://schemas.microsoft.com/office/powerpoint/2010/main" val="4134144283"/>
              </p:ext>
            </p:extLst>
          </p:nvPr>
        </p:nvGraphicFramePr>
        <p:xfrm>
          <a:off x="19114417" y="15497463"/>
          <a:ext cx="12471835" cy="3200400"/>
        </p:xfrm>
        <a:graphic>
          <a:graphicData uri="http://schemas.openxmlformats.org/drawingml/2006/table">
            <a:tbl>
              <a:tblPr/>
              <a:tblGrid>
                <a:gridCol w="2053531"/>
                <a:gridCol w="1332992"/>
                <a:gridCol w="2882148"/>
                <a:gridCol w="2161610"/>
                <a:gridCol w="2089556"/>
                <a:gridCol w="1951998"/>
              </a:tblGrid>
              <a:tr h="470927">
                <a:tc>
                  <a:txBody>
                    <a:bodyPr/>
                    <a:lstStyle/>
                    <a:p>
                      <a:pPr algn="ctr" rtl="0" fontAlgn="t">
                        <a:spcBef>
                          <a:spcPts val="0"/>
                        </a:spcBef>
                        <a:spcAft>
                          <a:spcPts val="0"/>
                        </a:spcAft>
                      </a:pPr>
                      <a:r>
                        <a:rPr lang="en-US" sz="3000" b="1" i="0" u="none" strike="noStrike" dirty="0">
                          <a:solidFill>
                            <a:srgbClr val="000000"/>
                          </a:solidFill>
                          <a:effectLst/>
                          <a:latin typeface="Trebuchet MS"/>
                          <a:cs typeface="Trebuchet MS"/>
                        </a:rPr>
                        <a:t>Name</a:t>
                      </a:r>
                      <a:endParaRPr lang="en-US" sz="3000" b="1" dirty="0">
                        <a:effectLst/>
                        <a:latin typeface="Trebuchet MS"/>
                        <a:cs typeface="Trebuchet MS"/>
                      </a:endParaRPr>
                    </a:p>
                  </a:txBody>
                  <a:tcPr marT="91440" marB="91440" anchor="ctr">
                    <a:lnL w="57150" cap="flat" cmpd="sng" algn="ctr">
                      <a:solidFill>
                        <a:srgbClr val="4C75A4"/>
                      </a:solidFill>
                      <a:prstDash val="solid"/>
                      <a:round/>
                      <a:headEnd type="none" w="med" len="med"/>
                      <a:tailEnd type="none" w="med" len="med"/>
                    </a:lnL>
                    <a:lnR w="12700" cap="flat" cmpd="sng" algn="ctr">
                      <a:solidFill>
                        <a:srgbClr val="5E89B4"/>
                      </a:solidFill>
                      <a:prstDash val="solid"/>
                      <a:round/>
                      <a:headEnd type="none" w="med" len="med"/>
                      <a:tailEnd type="none" w="med" len="med"/>
                    </a:lnR>
                    <a:lnT w="57150" cap="flat" cmpd="sng" algn="ctr">
                      <a:solidFill>
                        <a:srgbClr val="4C75A4"/>
                      </a:solidFill>
                      <a:prstDash val="solid"/>
                      <a:round/>
                      <a:headEnd type="none" w="med" len="med"/>
                      <a:tailEnd type="none" w="med" len="med"/>
                    </a:lnT>
                    <a:lnB w="12700" cap="flat" cmpd="sng" algn="ctr">
                      <a:solidFill>
                        <a:srgbClr val="5E89B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spcBef>
                          <a:spcPts val="0"/>
                        </a:spcBef>
                        <a:spcAft>
                          <a:spcPts val="0"/>
                        </a:spcAft>
                      </a:pPr>
                      <a:r>
                        <a:rPr lang="en-US" sz="3000" b="1" i="0" u="none" strike="noStrike" dirty="0">
                          <a:solidFill>
                            <a:srgbClr val="000000"/>
                          </a:solidFill>
                          <a:effectLst/>
                          <a:latin typeface="Trebuchet MS"/>
                          <a:cs typeface="Trebuchet MS"/>
                        </a:rPr>
                        <a:t>Sex</a:t>
                      </a:r>
                      <a:endParaRPr lang="en-US" sz="3000" b="1" dirty="0">
                        <a:effectLst/>
                        <a:latin typeface="Trebuchet MS"/>
                        <a:cs typeface="Trebuchet MS"/>
                      </a:endParaRPr>
                    </a:p>
                  </a:txBody>
                  <a:tcPr marT="91440" marB="91440" anchor="ctr">
                    <a:lnL w="12700" cap="flat" cmpd="sng" algn="ctr">
                      <a:solidFill>
                        <a:srgbClr val="5E89B4"/>
                      </a:solidFill>
                      <a:prstDash val="solid"/>
                      <a:round/>
                      <a:headEnd type="none" w="med" len="med"/>
                      <a:tailEnd type="none" w="med" len="med"/>
                    </a:lnL>
                    <a:lnR w="12700" cap="flat" cmpd="sng" algn="ctr">
                      <a:solidFill>
                        <a:srgbClr val="5E89B4"/>
                      </a:solidFill>
                      <a:prstDash val="solid"/>
                      <a:round/>
                      <a:headEnd type="none" w="med" len="med"/>
                      <a:tailEnd type="none" w="med" len="med"/>
                    </a:lnR>
                    <a:lnT w="57150" cap="flat" cmpd="sng" algn="ctr">
                      <a:solidFill>
                        <a:srgbClr val="4C75A4"/>
                      </a:solidFill>
                      <a:prstDash val="solid"/>
                      <a:round/>
                      <a:headEnd type="none" w="med" len="med"/>
                      <a:tailEnd type="none" w="med" len="med"/>
                    </a:lnT>
                    <a:lnB w="12700" cap="flat" cmpd="sng" algn="ctr">
                      <a:solidFill>
                        <a:srgbClr val="5E89B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spcBef>
                          <a:spcPts val="0"/>
                        </a:spcBef>
                        <a:spcAft>
                          <a:spcPts val="0"/>
                        </a:spcAft>
                      </a:pPr>
                      <a:r>
                        <a:rPr lang="en-US" sz="3000" b="1" i="0" u="none" strike="noStrike" dirty="0">
                          <a:solidFill>
                            <a:srgbClr val="000000"/>
                          </a:solidFill>
                          <a:effectLst/>
                          <a:latin typeface="Trebuchet MS"/>
                          <a:cs typeface="Trebuchet MS"/>
                        </a:rPr>
                        <a:t>Date of Birth</a:t>
                      </a:r>
                      <a:endParaRPr lang="en-US" sz="3000" b="1" dirty="0">
                        <a:effectLst/>
                        <a:latin typeface="Trebuchet MS"/>
                        <a:cs typeface="Trebuchet MS"/>
                      </a:endParaRPr>
                    </a:p>
                  </a:txBody>
                  <a:tcPr marT="91440" marB="91440" anchor="ctr">
                    <a:lnL w="12700" cap="flat" cmpd="sng" algn="ctr">
                      <a:solidFill>
                        <a:srgbClr val="5E89B4"/>
                      </a:solidFill>
                      <a:prstDash val="solid"/>
                      <a:round/>
                      <a:headEnd type="none" w="med" len="med"/>
                      <a:tailEnd type="none" w="med" len="med"/>
                    </a:lnL>
                    <a:lnR w="12700" cap="flat" cmpd="sng" algn="ctr">
                      <a:solidFill>
                        <a:srgbClr val="5E89B4"/>
                      </a:solidFill>
                      <a:prstDash val="solid"/>
                      <a:round/>
                      <a:headEnd type="none" w="med" len="med"/>
                      <a:tailEnd type="none" w="med" len="med"/>
                    </a:lnR>
                    <a:lnT w="57150" cap="flat" cmpd="sng" algn="ctr">
                      <a:solidFill>
                        <a:srgbClr val="4C75A4"/>
                      </a:solidFill>
                      <a:prstDash val="solid"/>
                      <a:round/>
                      <a:headEnd type="none" w="med" len="med"/>
                      <a:tailEnd type="none" w="med" len="med"/>
                    </a:lnT>
                    <a:lnB w="12700" cap="flat" cmpd="sng" algn="ctr">
                      <a:solidFill>
                        <a:srgbClr val="5E89B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spcBef>
                          <a:spcPts val="0"/>
                        </a:spcBef>
                        <a:spcAft>
                          <a:spcPts val="0"/>
                        </a:spcAft>
                      </a:pPr>
                      <a:r>
                        <a:rPr lang="en-US" sz="3000" b="1" i="0" u="none" strike="noStrike" dirty="0">
                          <a:solidFill>
                            <a:srgbClr val="000000"/>
                          </a:solidFill>
                          <a:effectLst/>
                          <a:latin typeface="Trebuchet MS"/>
                          <a:cs typeface="Trebuchet MS"/>
                        </a:rPr>
                        <a:t>Height (in)</a:t>
                      </a:r>
                      <a:endParaRPr lang="en-US" sz="3000" b="1" dirty="0">
                        <a:effectLst/>
                        <a:latin typeface="Trebuchet MS"/>
                        <a:cs typeface="Trebuchet MS"/>
                      </a:endParaRPr>
                    </a:p>
                  </a:txBody>
                  <a:tcPr marT="91440" marB="91440" anchor="ctr">
                    <a:lnL w="12700" cap="flat" cmpd="sng" algn="ctr">
                      <a:solidFill>
                        <a:srgbClr val="5E89B4"/>
                      </a:solidFill>
                      <a:prstDash val="solid"/>
                      <a:round/>
                      <a:headEnd type="none" w="med" len="med"/>
                      <a:tailEnd type="none" w="med" len="med"/>
                    </a:lnL>
                    <a:lnR w="12700" cap="flat" cmpd="sng" algn="ctr">
                      <a:solidFill>
                        <a:srgbClr val="5E89B4"/>
                      </a:solidFill>
                      <a:prstDash val="solid"/>
                      <a:round/>
                      <a:headEnd type="none" w="med" len="med"/>
                      <a:tailEnd type="none" w="med" len="med"/>
                    </a:lnR>
                    <a:lnT w="57150" cap="flat" cmpd="sng" algn="ctr">
                      <a:solidFill>
                        <a:srgbClr val="4C75A4"/>
                      </a:solidFill>
                      <a:prstDash val="solid"/>
                      <a:round/>
                      <a:headEnd type="none" w="med" len="med"/>
                      <a:tailEnd type="none" w="med" len="med"/>
                    </a:lnT>
                    <a:lnB w="12700" cap="flat" cmpd="sng" algn="ctr">
                      <a:solidFill>
                        <a:srgbClr val="5E89B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spcBef>
                          <a:spcPts val="0"/>
                        </a:spcBef>
                        <a:spcAft>
                          <a:spcPts val="0"/>
                        </a:spcAft>
                      </a:pPr>
                      <a:r>
                        <a:rPr lang="en-US" sz="3000" b="1" i="0" u="none" strike="noStrike" dirty="0">
                          <a:solidFill>
                            <a:srgbClr val="000000"/>
                          </a:solidFill>
                          <a:effectLst/>
                          <a:latin typeface="Trebuchet MS"/>
                          <a:cs typeface="Trebuchet MS"/>
                        </a:rPr>
                        <a:t>Start Year</a:t>
                      </a:r>
                      <a:endParaRPr lang="en-US" sz="3000" b="1" dirty="0">
                        <a:effectLst/>
                        <a:latin typeface="Trebuchet MS"/>
                        <a:cs typeface="Trebuchet MS"/>
                      </a:endParaRPr>
                    </a:p>
                  </a:txBody>
                  <a:tcPr marT="91440" marB="91440" anchor="ctr">
                    <a:lnL w="12700" cap="flat" cmpd="sng" algn="ctr">
                      <a:solidFill>
                        <a:srgbClr val="5E89B4"/>
                      </a:solidFill>
                      <a:prstDash val="solid"/>
                      <a:round/>
                      <a:headEnd type="none" w="med" len="med"/>
                      <a:tailEnd type="none" w="med" len="med"/>
                    </a:lnL>
                    <a:lnR w="12700" cap="flat" cmpd="sng" algn="ctr">
                      <a:solidFill>
                        <a:srgbClr val="5E89B4"/>
                      </a:solidFill>
                      <a:prstDash val="solid"/>
                      <a:round/>
                      <a:headEnd type="none" w="med" len="med"/>
                      <a:tailEnd type="none" w="med" len="med"/>
                    </a:lnR>
                    <a:lnT w="57150" cap="flat" cmpd="sng" algn="ctr">
                      <a:solidFill>
                        <a:srgbClr val="4C75A4"/>
                      </a:solidFill>
                      <a:prstDash val="solid"/>
                      <a:round/>
                      <a:headEnd type="none" w="med" len="med"/>
                      <a:tailEnd type="none" w="med" len="med"/>
                    </a:lnT>
                    <a:lnB w="12700" cap="flat" cmpd="sng" algn="ctr">
                      <a:solidFill>
                        <a:srgbClr val="5E89B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spcBef>
                          <a:spcPts val="0"/>
                        </a:spcBef>
                        <a:spcAft>
                          <a:spcPts val="0"/>
                        </a:spcAft>
                      </a:pPr>
                      <a:r>
                        <a:rPr lang="en-US" sz="3000" b="1" i="0" u="none" strike="noStrike" dirty="0">
                          <a:solidFill>
                            <a:srgbClr val="000000"/>
                          </a:solidFill>
                          <a:effectLst/>
                          <a:latin typeface="Trebuchet MS"/>
                          <a:cs typeface="Trebuchet MS"/>
                        </a:rPr>
                        <a:t>End Year</a:t>
                      </a:r>
                      <a:endParaRPr lang="en-US" sz="3000" b="1" dirty="0">
                        <a:effectLst/>
                        <a:latin typeface="Trebuchet MS"/>
                        <a:cs typeface="Trebuchet MS"/>
                      </a:endParaRPr>
                    </a:p>
                  </a:txBody>
                  <a:tcPr marT="91440" marB="91440" anchor="ctr">
                    <a:lnL w="12700" cap="flat" cmpd="sng" algn="ctr">
                      <a:solidFill>
                        <a:srgbClr val="5E89B4"/>
                      </a:solidFill>
                      <a:prstDash val="solid"/>
                      <a:round/>
                      <a:headEnd type="none" w="med" len="med"/>
                      <a:tailEnd type="none" w="med" len="med"/>
                    </a:lnL>
                    <a:lnR w="57150" cap="flat" cmpd="sng" algn="ctr">
                      <a:solidFill>
                        <a:srgbClr val="4C75A4"/>
                      </a:solidFill>
                      <a:prstDash val="solid"/>
                      <a:round/>
                      <a:headEnd type="none" w="med" len="med"/>
                      <a:tailEnd type="none" w="med" len="med"/>
                    </a:lnR>
                    <a:lnT w="57150" cap="flat" cmpd="sng" algn="ctr">
                      <a:solidFill>
                        <a:srgbClr val="4C75A4"/>
                      </a:solidFill>
                      <a:prstDash val="solid"/>
                      <a:round/>
                      <a:headEnd type="none" w="med" len="med"/>
                      <a:tailEnd type="none" w="med" len="med"/>
                    </a:lnT>
                    <a:lnB w="12700" cap="flat" cmpd="sng" algn="ctr">
                      <a:solidFill>
                        <a:srgbClr val="5E89B4"/>
                      </a:solidFill>
                      <a:prstDash val="solid"/>
                      <a:round/>
                      <a:headEnd type="none" w="med" len="med"/>
                      <a:tailEnd type="none" w="med" len="med"/>
                    </a:lnB>
                    <a:lnTlToBr w="12700" cmpd="sng">
                      <a:noFill/>
                      <a:prstDash val="solid"/>
                    </a:lnTlToBr>
                    <a:lnBlToTr w="12700" cmpd="sng">
                      <a:noFill/>
                      <a:prstDash val="solid"/>
                    </a:lnBlToTr>
                    <a:noFill/>
                  </a:tcPr>
                </a:tc>
              </a:tr>
              <a:tr h="470927">
                <a:tc>
                  <a:txBody>
                    <a:bodyPr/>
                    <a:lstStyle/>
                    <a:p>
                      <a:pPr algn="ctr" rtl="0" fontAlgn="t">
                        <a:spcBef>
                          <a:spcPts val="0"/>
                        </a:spcBef>
                        <a:spcAft>
                          <a:spcPts val="0"/>
                        </a:spcAft>
                      </a:pPr>
                      <a:r>
                        <a:rPr lang="en-US" sz="3000" b="0" i="0" u="none" strike="noStrike" dirty="0">
                          <a:solidFill>
                            <a:srgbClr val="000000"/>
                          </a:solidFill>
                          <a:effectLst/>
                          <a:latin typeface="Trebuchet MS"/>
                          <a:cs typeface="Trebuchet MS"/>
                        </a:rPr>
                        <a:t>Amanda</a:t>
                      </a:r>
                      <a:endParaRPr lang="en-US" sz="3000" dirty="0">
                        <a:effectLst/>
                        <a:latin typeface="Trebuchet MS"/>
                        <a:cs typeface="Trebuchet MS"/>
                      </a:endParaRPr>
                    </a:p>
                  </a:txBody>
                  <a:tcPr marT="91440" marB="91440" anchor="ctr">
                    <a:lnL w="57150" cap="flat" cmpd="sng" algn="ctr">
                      <a:solidFill>
                        <a:srgbClr val="4C75A4"/>
                      </a:solidFill>
                      <a:prstDash val="solid"/>
                      <a:round/>
                      <a:headEnd type="none" w="med" len="med"/>
                      <a:tailEnd type="none" w="med" len="med"/>
                    </a:lnL>
                    <a:lnR w="12700" cap="flat" cmpd="sng" algn="ctr">
                      <a:solidFill>
                        <a:srgbClr val="5E89B4"/>
                      </a:solidFill>
                      <a:prstDash val="solid"/>
                      <a:round/>
                      <a:headEnd type="none" w="med" len="med"/>
                      <a:tailEnd type="none" w="med" len="med"/>
                    </a:lnR>
                    <a:lnT w="12700" cap="flat" cmpd="sng" algn="ctr">
                      <a:solidFill>
                        <a:srgbClr val="5E89B4"/>
                      </a:solidFill>
                      <a:prstDash val="solid"/>
                      <a:round/>
                      <a:headEnd type="none" w="med" len="med"/>
                      <a:tailEnd type="none" w="med" len="med"/>
                    </a:lnT>
                    <a:lnB w="12700" cap="flat" cmpd="sng" algn="ctr">
                      <a:solidFill>
                        <a:srgbClr val="5E89B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spcBef>
                          <a:spcPts val="0"/>
                        </a:spcBef>
                        <a:spcAft>
                          <a:spcPts val="0"/>
                        </a:spcAft>
                      </a:pPr>
                      <a:r>
                        <a:rPr lang="en-US" sz="3000" b="0" i="0" u="none" strike="noStrike" dirty="0">
                          <a:solidFill>
                            <a:srgbClr val="000000"/>
                          </a:solidFill>
                          <a:effectLst/>
                          <a:latin typeface="Trebuchet MS"/>
                          <a:cs typeface="Trebuchet MS"/>
                        </a:rPr>
                        <a:t>F</a:t>
                      </a:r>
                      <a:endParaRPr lang="en-US" sz="3000" dirty="0">
                        <a:effectLst/>
                        <a:latin typeface="Trebuchet MS"/>
                        <a:cs typeface="Trebuchet MS"/>
                      </a:endParaRPr>
                    </a:p>
                  </a:txBody>
                  <a:tcPr marT="91440" marB="91440" anchor="ctr">
                    <a:lnL w="12700" cap="flat" cmpd="sng" algn="ctr">
                      <a:solidFill>
                        <a:srgbClr val="5E89B4"/>
                      </a:solidFill>
                      <a:prstDash val="solid"/>
                      <a:round/>
                      <a:headEnd type="none" w="med" len="med"/>
                      <a:tailEnd type="none" w="med" len="med"/>
                    </a:lnL>
                    <a:lnR w="12700" cap="flat" cmpd="sng" algn="ctr">
                      <a:solidFill>
                        <a:srgbClr val="5E89B4"/>
                      </a:solidFill>
                      <a:prstDash val="solid"/>
                      <a:round/>
                      <a:headEnd type="none" w="med" len="med"/>
                      <a:tailEnd type="none" w="med" len="med"/>
                    </a:lnR>
                    <a:lnT w="12700" cap="flat" cmpd="sng" algn="ctr">
                      <a:solidFill>
                        <a:srgbClr val="5E89B4"/>
                      </a:solidFill>
                      <a:prstDash val="solid"/>
                      <a:round/>
                      <a:headEnd type="none" w="med" len="med"/>
                      <a:tailEnd type="none" w="med" len="med"/>
                    </a:lnT>
                    <a:lnB w="12700" cap="flat" cmpd="sng" algn="ctr">
                      <a:solidFill>
                        <a:srgbClr val="5E89B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spcBef>
                          <a:spcPts val="0"/>
                        </a:spcBef>
                        <a:spcAft>
                          <a:spcPts val="0"/>
                        </a:spcAft>
                      </a:pPr>
                      <a:r>
                        <a:rPr lang="bg-BG" sz="3000" b="0" i="0" u="none" strike="noStrike" dirty="0">
                          <a:solidFill>
                            <a:srgbClr val="000000"/>
                          </a:solidFill>
                          <a:effectLst/>
                          <a:latin typeface="Trebuchet MS"/>
                          <a:cs typeface="Trebuchet MS"/>
                        </a:rPr>
                        <a:t>03/07/1968</a:t>
                      </a:r>
                      <a:endParaRPr lang="bg-BG" sz="3000" dirty="0">
                        <a:effectLst/>
                        <a:latin typeface="Trebuchet MS"/>
                        <a:cs typeface="Trebuchet MS"/>
                      </a:endParaRPr>
                    </a:p>
                  </a:txBody>
                  <a:tcPr marT="91440" marB="91440" anchor="ctr">
                    <a:lnL w="12700" cap="flat" cmpd="sng" algn="ctr">
                      <a:solidFill>
                        <a:srgbClr val="5E89B4"/>
                      </a:solidFill>
                      <a:prstDash val="solid"/>
                      <a:round/>
                      <a:headEnd type="none" w="med" len="med"/>
                      <a:tailEnd type="none" w="med" len="med"/>
                    </a:lnL>
                    <a:lnR w="12700" cap="flat" cmpd="sng" algn="ctr">
                      <a:solidFill>
                        <a:srgbClr val="5E89B4"/>
                      </a:solidFill>
                      <a:prstDash val="solid"/>
                      <a:round/>
                      <a:headEnd type="none" w="med" len="med"/>
                      <a:tailEnd type="none" w="med" len="med"/>
                    </a:lnR>
                    <a:lnT w="12700" cap="flat" cmpd="sng" algn="ctr">
                      <a:solidFill>
                        <a:srgbClr val="5E89B4"/>
                      </a:solidFill>
                      <a:prstDash val="solid"/>
                      <a:round/>
                      <a:headEnd type="none" w="med" len="med"/>
                      <a:tailEnd type="none" w="med" len="med"/>
                    </a:lnT>
                    <a:lnB w="12700" cap="flat" cmpd="sng" algn="ctr">
                      <a:solidFill>
                        <a:srgbClr val="5E89B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spcBef>
                          <a:spcPts val="0"/>
                        </a:spcBef>
                        <a:spcAft>
                          <a:spcPts val="0"/>
                        </a:spcAft>
                      </a:pPr>
                      <a:r>
                        <a:rPr lang="is-IS" sz="3000" b="0" i="0" u="none" strike="noStrike" dirty="0">
                          <a:solidFill>
                            <a:srgbClr val="000000"/>
                          </a:solidFill>
                          <a:effectLst/>
                          <a:latin typeface="Trebuchet MS"/>
                          <a:cs typeface="Trebuchet MS"/>
                        </a:rPr>
                        <a:t>66</a:t>
                      </a:r>
                      <a:endParaRPr lang="is-IS" sz="3000" dirty="0">
                        <a:effectLst/>
                        <a:latin typeface="Trebuchet MS"/>
                        <a:cs typeface="Trebuchet MS"/>
                      </a:endParaRPr>
                    </a:p>
                  </a:txBody>
                  <a:tcPr marT="91440" marB="91440" anchor="ctr">
                    <a:lnL w="12700" cap="flat" cmpd="sng" algn="ctr">
                      <a:solidFill>
                        <a:srgbClr val="5E89B4"/>
                      </a:solidFill>
                      <a:prstDash val="solid"/>
                      <a:round/>
                      <a:headEnd type="none" w="med" len="med"/>
                      <a:tailEnd type="none" w="med" len="med"/>
                    </a:lnL>
                    <a:lnR w="12700" cap="flat" cmpd="sng" algn="ctr">
                      <a:solidFill>
                        <a:srgbClr val="5E89B4"/>
                      </a:solidFill>
                      <a:prstDash val="solid"/>
                      <a:round/>
                      <a:headEnd type="none" w="med" len="med"/>
                      <a:tailEnd type="none" w="med" len="med"/>
                    </a:lnR>
                    <a:lnT w="12700" cap="flat" cmpd="sng" algn="ctr">
                      <a:solidFill>
                        <a:srgbClr val="5E89B4"/>
                      </a:solidFill>
                      <a:prstDash val="solid"/>
                      <a:round/>
                      <a:headEnd type="none" w="med" len="med"/>
                      <a:tailEnd type="none" w="med" len="med"/>
                    </a:lnT>
                    <a:lnB w="12700" cap="flat" cmpd="sng" algn="ctr">
                      <a:solidFill>
                        <a:srgbClr val="5E89B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spcBef>
                          <a:spcPts val="0"/>
                        </a:spcBef>
                        <a:spcAft>
                          <a:spcPts val="0"/>
                        </a:spcAft>
                      </a:pPr>
                      <a:r>
                        <a:rPr lang="en-US" sz="3000" b="0" i="0" u="none" strike="noStrike">
                          <a:solidFill>
                            <a:srgbClr val="000000"/>
                          </a:solidFill>
                          <a:effectLst/>
                          <a:latin typeface="Trebuchet MS"/>
                          <a:cs typeface="Trebuchet MS"/>
                        </a:rPr>
                        <a:t>1990</a:t>
                      </a:r>
                      <a:endParaRPr lang="en-US" sz="3000">
                        <a:effectLst/>
                        <a:latin typeface="Trebuchet MS"/>
                        <a:cs typeface="Trebuchet MS"/>
                      </a:endParaRPr>
                    </a:p>
                  </a:txBody>
                  <a:tcPr marT="91440" marB="91440" anchor="ctr">
                    <a:lnL w="12700" cap="flat" cmpd="sng" algn="ctr">
                      <a:solidFill>
                        <a:srgbClr val="5E89B4"/>
                      </a:solidFill>
                      <a:prstDash val="solid"/>
                      <a:round/>
                      <a:headEnd type="none" w="med" len="med"/>
                      <a:tailEnd type="none" w="med" len="med"/>
                    </a:lnL>
                    <a:lnR w="12700" cap="flat" cmpd="sng" algn="ctr">
                      <a:solidFill>
                        <a:srgbClr val="5E89B4"/>
                      </a:solidFill>
                      <a:prstDash val="solid"/>
                      <a:round/>
                      <a:headEnd type="none" w="med" len="med"/>
                      <a:tailEnd type="none" w="med" len="med"/>
                    </a:lnR>
                    <a:lnT w="12700" cap="flat" cmpd="sng" algn="ctr">
                      <a:solidFill>
                        <a:srgbClr val="5E89B4"/>
                      </a:solidFill>
                      <a:prstDash val="solid"/>
                      <a:round/>
                      <a:headEnd type="none" w="med" len="med"/>
                      <a:tailEnd type="none" w="med" len="med"/>
                    </a:lnT>
                    <a:lnB w="12700" cap="flat" cmpd="sng" algn="ctr">
                      <a:solidFill>
                        <a:srgbClr val="5E89B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spcBef>
                          <a:spcPts val="0"/>
                        </a:spcBef>
                        <a:spcAft>
                          <a:spcPts val="0"/>
                        </a:spcAft>
                      </a:pPr>
                      <a:r>
                        <a:rPr lang="en-US" sz="3000" b="0" i="0" u="none" strike="noStrike" dirty="0">
                          <a:solidFill>
                            <a:srgbClr val="000000"/>
                          </a:solidFill>
                          <a:effectLst/>
                          <a:latin typeface="Trebuchet MS"/>
                          <a:cs typeface="Trebuchet MS"/>
                        </a:rPr>
                        <a:t>1996</a:t>
                      </a:r>
                      <a:endParaRPr lang="en-US" sz="3000" dirty="0">
                        <a:effectLst/>
                        <a:latin typeface="Trebuchet MS"/>
                        <a:cs typeface="Trebuchet MS"/>
                      </a:endParaRPr>
                    </a:p>
                  </a:txBody>
                  <a:tcPr marT="91440" marB="91440" anchor="ctr">
                    <a:lnL w="12700" cap="flat" cmpd="sng" algn="ctr">
                      <a:solidFill>
                        <a:srgbClr val="5E89B4"/>
                      </a:solidFill>
                      <a:prstDash val="solid"/>
                      <a:round/>
                      <a:headEnd type="none" w="med" len="med"/>
                      <a:tailEnd type="none" w="med" len="med"/>
                    </a:lnL>
                    <a:lnR w="57150" cap="flat" cmpd="sng" algn="ctr">
                      <a:solidFill>
                        <a:srgbClr val="4C75A4"/>
                      </a:solidFill>
                      <a:prstDash val="solid"/>
                      <a:round/>
                      <a:headEnd type="none" w="med" len="med"/>
                      <a:tailEnd type="none" w="med" len="med"/>
                    </a:lnR>
                    <a:lnT w="12700" cap="flat" cmpd="sng" algn="ctr">
                      <a:solidFill>
                        <a:srgbClr val="5E89B4"/>
                      </a:solidFill>
                      <a:prstDash val="solid"/>
                      <a:round/>
                      <a:headEnd type="none" w="med" len="med"/>
                      <a:tailEnd type="none" w="med" len="med"/>
                    </a:lnT>
                    <a:lnB w="12700" cap="flat" cmpd="sng" algn="ctr">
                      <a:solidFill>
                        <a:srgbClr val="5E89B4"/>
                      </a:solidFill>
                      <a:prstDash val="solid"/>
                      <a:round/>
                      <a:headEnd type="none" w="med" len="med"/>
                      <a:tailEnd type="none" w="med" len="med"/>
                    </a:lnB>
                    <a:lnTlToBr w="12700" cmpd="sng">
                      <a:noFill/>
                      <a:prstDash val="solid"/>
                    </a:lnTlToBr>
                    <a:lnBlToTr w="12700" cmpd="sng">
                      <a:noFill/>
                      <a:prstDash val="solid"/>
                    </a:lnBlToTr>
                    <a:noFill/>
                  </a:tcPr>
                </a:tc>
              </a:tr>
              <a:tr h="470927">
                <a:tc>
                  <a:txBody>
                    <a:bodyPr/>
                    <a:lstStyle/>
                    <a:p>
                      <a:pPr algn="ctr" rtl="0" fontAlgn="t">
                        <a:spcBef>
                          <a:spcPts val="0"/>
                        </a:spcBef>
                        <a:spcAft>
                          <a:spcPts val="0"/>
                        </a:spcAft>
                      </a:pPr>
                      <a:r>
                        <a:rPr lang="en-US" sz="3000" b="0" i="0" u="none" strike="noStrike" dirty="0">
                          <a:solidFill>
                            <a:srgbClr val="000000"/>
                          </a:solidFill>
                          <a:effectLst/>
                          <a:latin typeface="Trebuchet MS"/>
                          <a:cs typeface="Trebuchet MS"/>
                        </a:rPr>
                        <a:t>Bradley</a:t>
                      </a:r>
                      <a:endParaRPr lang="en-US" sz="3000" dirty="0">
                        <a:effectLst/>
                        <a:latin typeface="Trebuchet MS"/>
                        <a:cs typeface="Trebuchet MS"/>
                      </a:endParaRPr>
                    </a:p>
                  </a:txBody>
                  <a:tcPr marT="91440" marB="91440" anchor="ctr">
                    <a:lnL w="57150" cap="flat" cmpd="sng" algn="ctr">
                      <a:solidFill>
                        <a:srgbClr val="4C75A4"/>
                      </a:solidFill>
                      <a:prstDash val="solid"/>
                      <a:round/>
                      <a:headEnd type="none" w="med" len="med"/>
                      <a:tailEnd type="none" w="med" len="med"/>
                    </a:lnL>
                    <a:lnR w="12700" cap="flat" cmpd="sng" algn="ctr">
                      <a:solidFill>
                        <a:srgbClr val="5E89B4"/>
                      </a:solidFill>
                      <a:prstDash val="solid"/>
                      <a:round/>
                      <a:headEnd type="none" w="med" len="med"/>
                      <a:tailEnd type="none" w="med" len="med"/>
                    </a:lnR>
                    <a:lnT w="12700" cap="flat" cmpd="sng" algn="ctr">
                      <a:solidFill>
                        <a:srgbClr val="5E89B4"/>
                      </a:solidFill>
                      <a:prstDash val="solid"/>
                      <a:round/>
                      <a:headEnd type="none" w="med" len="med"/>
                      <a:tailEnd type="none" w="med" len="med"/>
                    </a:lnT>
                    <a:lnB w="12700" cap="flat" cmpd="sng" algn="ctr">
                      <a:solidFill>
                        <a:srgbClr val="5E89B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spcBef>
                          <a:spcPts val="0"/>
                        </a:spcBef>
                        <a:spcAft>
                          <a:spcPts val="0"/>
                        </a:spcAft>
                      </a:pPr>
                      <a:r>
                        <a:rPr lang="en-US" sz="3000" b="0" i="0" u="none" strike="noStrike">
                          <a:solidFill>
                            <a:srgbClr val="000000"/>
                          </a:solidFill>
                          <a:effectLst/>
                          <a:latin typeface="Trebuchet MS"/>
                          <a:cs typeface="Trebuchet MS"/>
                        </a:rPr>
                        <a:t>M</a:t>
                      </a:r>
                      <a:endParaRPr lang="en-US" sz="3000">
                        <a:effectLst/>
                        <a:latin typeface="Trebuchet MS"/>
                        <a:cs typeface="Trebuchet MS"/>
                      </a:endParaRPr>
                    </a:p>
                  </a:txBody>
                  <a:tcPr marT="91440" marB="91440" anchor="ctr">
                    <a:lnL w="12700" cap="flat" cmpd="sng" algn="ctr">
                      <a:solidFill>
                        <a:srgbClr val="5E89B4"/>
                      </a:solidFill>
                      <a:prstDash val="solid"/>
                      <a:round/>
                      <a:headEnd type="none" w="med" len="med"/>
                      <a:tailEnd type="none" w="med" len="med"/>
                    </a:lnL>
                    <a:lnR w="12700" cap="flat" cmpd="sng" algn="ctr">
                      <a:solidFill>
                        <a:srgbClr val="5E89B4"/>
                      </a:solidFill>
                      <a:prstDash val="solid"/>
                      <a:round/>
                      <a:headEnd type="none" w="med" len="med"/>
                      <a:tailEnd type="none" w="med" len="med"/>
                    </a:lnR>
                    <a:lnT w="12700" cap="flat" cmpd="sng" algn="ctr">
                      <a:solidFill>
                        <a:srgbClr val="5E89B4"/>
                      </a:solidFill>
                      <a:prstDash val="solid"/>
                      <a:round/>
                      <a:headEnd type="none" w="med" len="med"/>
                      <a:tailEnd type="none" w="med" len="med"/>
                    </a:lnT>
                    <a:lnB w="12700" cap="flat" cmpd="sng" algn="ctr">
                      <a:solidFill>
                        <a:srgbClr val="5E89B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spcBef>
                          <a:spcPts val="0"/>
                        </a:spcBef>
                        <a:spcAft>
                          <a:spcPts val="0"/>
                        </a:spcAft>
                      </a:pPr>
                      <a:r>
                        <a:rPr lang="is-IS" sz="3000" b="0" i="0" u="none" strike="noStrike" dirty="0">
                          <a:solidFill>
                            <a:srgbClr val="000000"/>
                          </a:solidFill>
                          <a:effectLst/>
                          <a:latin typeface="Trebuchet MS"/>
                          <a:cs typeface="Trebuchet MS"/>
                        </a:rPr>
                        <a:t>11/05/1971</a:t>
                      </a:r>
                      <a:endParaRPr lang="is-IS" sz="3000" dirty="0">
                        <a:effectLst/>
                        <a:latin typeface="Trebuchet MS"/>
                        <a:cs typeface="Trebuchet MS"/>
                      </a:endParaRPr>
                    </a:p>
                  </a:txBody>
                  <a:tcPr marT="91440" marB="91440" anchor="ctr">
                    <a:lnL w="12700" cap="flat" cmpd="sng" algn="ctr">
                      <a:solidFill>
                        <a:srgbClr val="5E89B4"/>
                      </a:solidFill>
                      <a:prstDash val="solid"/>
                      <a:round/>
                      <a:headEnd type="none" w="med" len="med"/>
                      <a:tailEnd type="none" w="med" len="med"/>
                    </a:lnL>
                    <a:lnR w="12700" cap="flat" cmpd="sng" algn="ctr">
                      <a:solidFill>
                        <a:srgbClr val="5E89B4"/>
                      </a:solidFill>
                      <a:prstDash val="solid"/>
                      <a:round/>
                      <a:headEnd type="none" w="med" len="med"/>
                      <a:tailEnd type="none" w="med" len="med"/>
                    </a:lnR>
                    <a:lnT w="12700" cap="flat" cmpd="sng" algn="ctr">
                      <a:solidFill>
                        <a:srgbClr val="5E89B4"/>
                      </a:solidFill>
                      <a:prstDash val="solid"/>
                      <a:round/>
                      <a:headEnd type="none" w="med" len="med"/>
                      <a:tailEnd type="none" w="med" len="med"/>
                    </a:lnT>
                    <a:lnB w="12700" cap="flat" cmpd="sng" algn="ctr">
                      <a:solidFill>
                        <a:srgbClr val="5E89B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spcBef>
                          <a:spcPts val="0"/>
                        </a:spcBef>
                        <a:spcAft>
                          <a:spcPts val="0"/>
                        </a:spcAft>
                      </a:pPr>
                      <a:r>
                        <a:rPr lang="en-US" sz="3000" b="0" i="0" u="none" strike="noStrike" dirty="0">
                          <a:solidFill>
                            <a:srgbClr val="000000"/>
                          </a:solidFill>
                          <a:effectLst/>
                          <a:latin typeface="Trebuchet MS"/>
                          <a:cs typeface="Trebuchet MS"/>
                        </a:rPr>
                        <a:t>70</a:t>
                      </a:r>
                      <a:endParaRPr lang="en-US" sz="3000" dirty="0">
                        <a:effectLst/>
                        <a:latin typeface="Trebuchet MS"/>
                        <a:cs typeface="Trebuchet MS"/>
                      </a:endParaRPr>
                    </a:p>
                  </a:txBody>
                  <a:tcPr marT="91440" marB="91440" anchor="ctr">
                    <a:lnL w="12700" cap="flat" cmpd="sng" algn="ctr">
                      <a:solidFill>
                        <a:srgbClr val="5E89B4"/>
                      </a:solidFill>
                      <a:prstDash val="solid"/>
                      <a:round/>
                      <a:headEnd type="none" w="med" len="med"/>
                      <a:tailEnd type="none" w="med" len="med"/>
                    </a:lnL>
                    <a:lnR w="12700" cap="flat" cmpd="sng" algn="ctr">
                      <a:solidFill>
                        <a:srgbClr val="5E89B4"/>
                      </a:solidFill>
                      <a:prstDash val="solid"/>
                      <a:round/>
                      <a:headEnd type="none" w="med" len="med"/>
                      <a:tailEnd type="none" w="med" len="med"/>
                    </a:lnR>
                    <a:lnT w="12700" cap="flat" cmpd="sng" algn="ctr">
                      <a:solidFill>
                        <a:srgbClr val="5E89B4"/>
                      </a:solidFill>
                      <a:prstDash val="solid"/>
                      <a:round/>
                      <a:headEnd type="none" w="med" len="med"/>
                      <a:tailEnd type="none" w="med" len="med"/>
                    </a:lnT>
                    <a:lnB w="12700" cap="flat" cmpd="sng" algn="ctr">
                      <a:solidFill>
                        <a:srgbClr val="5E89B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spcBef>
                          <a:spcPts val="0"/>
                        </a:spcBef>
                        <a:spcAft>
                          <a:spcPts val="0"/>
                        </a:spcAft>
                      </a:pPr>
                      <a:r>
                        <a:rPr lang="cs-CZ" sz="3000" b="0" i="0" u="none" strike="noStrike" dirty="0">
                          <a:solidFill>
                            <a:srgbClr val="000000"/>
                          </a:solidFill>
                          <a:effectLst/>
                          <a:latin typeface="Trebuchet MS"/>
                          <a:cs typeface="Trebuchet MS"/>
                        </a:rPr>
                        <a:t>1994</a:t>
                      </a:r>
                      <a:endParaRPr lang="cs-CZ" sz="3000" dirty="0">
                        <a:effectLst/>
                        <a:latin typeface="Trebuchet MS"/>
                        <a:cs typeface="Trebuchet MS"/>
                      </a:endParaRPr>
                    </a:p>
                  </a:txBody>
                  <a:tcPr marT="91440" marB="91440" anchor="ctr">
                    <a:lnL w="12700" cap="flat" cmpd="sng" algn="ctr">
                      <a:solidFill>
                        <a:srgbClr val="5E89B4"/>
                      </a:solidFill>
                      <a:prstDash val="solid"/>
                      <a:round/>
                      <a:headEnd type="none" w="med" len="med"/>
                      <a:tailEnd type="none" w="med" len="med"/>
                    </a:lnL>
                    <a:lnR w="12700" cap="flat" cmpd="sng" algn="ctr">
                      <a:solidFill>
                        <a:srgbClr val="5E89B4"/>
                      </a:solidFill>
                      <a:prstDash val="solid"/>
                      <a:round/>
                      <a:headEnd type="none" w="med" len="med"/>
                      <a:tailEnd type="none" w="med" len="med"/>
                    </a:lnR>
                    <a:lnT w="12700" cap="flat" cmpd="sng" algn="ctr">
                      <a:solidFill>
                        <a:srgbClr val="5E89B4"/>
                      </a:solidFill>
                      <a:prstDash val="solid"/>
                      <a:round/>
                      <a:headEnd type="none" w="med" len="med"/>
                      <a:tailEnd type="none" w="med" len="med"/>
                    </a:lnT>
                    <a:lnB w="12700" cap="flat" cmpd="sng" algn="ctr">
                      <a:solidFill>
                        <a:srgbClr val="5E89B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spcBef>
                          <a:spcPts val="0"/>
                        </a:spcBef>
                        <a:spcAft>
                          <a:spcPts val="0"/>
                        </a:spcAft>
                      </a:pPr>
                      <a:r>
                        <a:rPr lang="en-US" sz="3000" b="0" i="0" u="none" strike="noStrike" dirty="0">
                          <a:solidFill>
                            <a:srgbClr val="000000"/>
                          </a:solidFill>
                          <a:effectLst/>
                          <a:latin typeface="Trebuchet MS"/>
                          <a:cs typeface="Trebuchet MS"/>
                        </a:rPr>
                        <a:t>1999</a:t>
                      </a:r>
                      <a:endParaRPr lang="en-US" sz="3000" dirty="0">
                        <a:effectLst/>
                        <a:latin typeface="Trebuchet MS"/>
                        <a:cs typeface="Trebuchet MS"/>
                      </a:endParaRPr>
                    </a:p>
                  </a:txBody>
                  <a:tcPr marT="91440" marB="91440" anchor="ctr">
                    <a:lnL w="12700" cap="flat" cmpd="sng" algn="ctr">
                      <a:solidFill>
                        <a:srgbClr val="5E89B4"/>
                      </a:solidFill>
                      <a:prstDash val="solid"/>
                      <a:round/>
                      <a:headEnd type="none" w="med" len="med"/>
                      <a:tailEnd type="none" w="med" len="med"/>
                    </a:lnL>
                    <a:lnR w="57150" cap="flat" cmpd="sng" algn="ctr">
                      <a:solidFill>
                        <a:srgbClr val="4C75A4"/>
                      </a:solidFill>
                      <a:prstDash val="solid"/>
                      <a:round/>
                      <a:headEnd type="none" w="med" len="med"/>
                      <a:tailEnd type="none" w="med" len="med"/>
                    </a:lnR>
                    <a:lnT w="12700" cap="flat" cmpd="sng" algn="ctr">
                      <a:solidFill>
                        <a:srgbClr val="5E89B4"/>
                      </a:solidFill>
                      <a:prstDash val="solid"/>
                      <a:round/>
                      <a:headEnd type="none" w="med" len="med"/>
                      <a:tailEnd type="none" w="med" len="med"/>
                    </a:lnT>
                    <a:lnB w="12700" cap="flat" cmpd="sng" algn="ctr">
                      <a:solidFill>
                        <a:srgbClr val="5E89B4"/>
                      </a:solidFill>
                      <a:prstDash val="solid"/>
                      <a:round/>
                      <a:headEnd type="none" w="med" len="med"/>
                      <a:tailEnd type="none" w="med" len="med"/>
                    </a:lnB>
                    <a:lnTlToBr w="12700" cmpd="sng">
                      <a:noFill/>
                      <a:prstDash val="solid"/>
                    </a:lnTlToBr>
                    <a:lnBlToTr w="12700" cmpd="sng">
                      <a:noFill/>
                      <a:prstDash val="solid"/>
                    </a:lnBlToTr>
                    <a:noFill/>
                  </a:tcPr>
                </a:tc>
              </a:tr>
              <a:tr h="470927">
                <a:tc>
                  <a:txBody>
                    <a:bodyPr/>
                    <a:lstStyle/>
                    <a:p>
                      <a:pPr algn="ctr" rtl="0" fontAlgn="t">
                        <a:spcBef>
                          <a:spcPts val="0"/>
                        </a:spcBef>
                        <a:spcAft>
                          <a:spcPts val="0"/>
                        </a:spcAft>
                      </a:pPr>
                      <a:r>
                        <a:rPr lang="en-US" sz="3000" b="0" i="0" u="none" strike="noStrike" dirty="0">
                          <a:solidFill>
                            <a:srgbClr val="000000"/>
                          </a:solidFill>
                          <a:effectLst/>
                          <a:latin typeface="Trebuchet MS"/>
                          <a:cs typeface="Trebuchet MS"/>
                        </a:rPr>
                        <a:t>Connor</a:t>
                      </a:r>
                      <a:endParaRPr lang="en-US" sz="3000" dirty="0">
                        <a:effectLst/>
                        <a:latin typeface="Trebuchet MS"/>
                        <a:cs typeface="Trebuchet MS"/>
                      </a:endParaRPr>
                    </a:p>
                  </a:txBody>
                  <a:tcPr marT="91440" marB="91440" anchor="ctr">
                    <a:lnL w="57150" cap="flat" cmpd="sng" algn="ctr">
                      <a:solidFill>
                        <a:srgbClr val="4C75A4"/>
                      </a:solidFill>
                      <a:prstDash val="solid"/>
                      <a:round/>
                      <a:headEnd type="none" w="med" len="med"/>
                      <a:tailEnd type="none" w="med" len="med"/>
                    </a:lnL>
                    <a:lnR w="12700" cap="flat" cmpd="sng" algn="ctr">
                      <a:solidFill>
                        <a:srgbClr val="5E89B4"/>
                      </a:solidFill>
                      <a:prstDash val="solid"/>
                      <a:round/>
                      <a:headEnd type="none" w="med" len="med"/>
                      <a:tailEnd type="none" w="med" len="med"/>
                    </a:lnR>
                    <a:lnT w="12700" cap="flat" cmpd="sng" algn="ctr">
                      <a:solidFill>
                        <a:srgbClr val="5E89B4"/>
                      </a:solidFill>
                      <a:prstDash val="solid"/>
                      <a:round/>
                      <a:headEnd type="none" w="med" len="med"/>
                      <a:tailEnd type="none" w="med" len="med"/>
                    </a:lnT>
                    <a:lnB w="12700" cap="flat" cmpd="sng" algn="ctr">
                      <a:solidFill>
                        <a:srgbClr val="5E89B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spcBef>
                          <a:spcPts val="0"/>
                        </a:spcBef>
                        <a:spcAft>
                          <a:spcPts val="0"/>
                        </a:spcAft>
                      </a:pPr>
                      <a:r>
                        <a:rPr lang="en-US" sz="3000" b="0" i="0" u="none" strike="noStrike">
                          <a:solidFill>
                            <a:srgbClr val="000000"/>
                          </a:solidFill>
                          <a:effectLst/>
                          <a:latin typeface="Trebuchet MS"/>
                          <a:cs typeface="Trebuchet MS"/>
                        </a:rPr>
                        <a:t>M</a:t>
                      </a:r>
                      <a:endParaRPr lang="en-US" sz="3000">
                        <a:effectLst/>
                        <a:latin typeface="Trebuchet MS"/>
                        <a:cs typeface="Trebuchet MS"/>
                      </a:endParaRPr>
                    </a:p>
                  </a:txBody>
                  <a:tcPr marT="91440" marB="91440" anchor="ctr">
                    <a:lnL w="12700" cap="flat" cmpd="sng" algn="ctr">
                      <a:solidFill>
                        <a:srgbClr val="5E89B4"/>
                      </a:solidFill>
                      <a:prstDash val="solid"/>
                      <a:round/>
                      <a:headEnd type="none" w="med" len="med"/>
                      <a:tailEnd type="none" w="med" len="med"/>
                    </a:lnL>
                    <a:lnR w="12700" cap="flat" cmpd="sng" algn="ctr">
                      <a:solidFill>
                        <a:srgbClr val="5E89B4"/>
                      </a:solidFill>
                      <a:prstDash val="solid"/>
                      <a:round/>
                      <a:headEnd type="none" w="med" len="med"/>
                      <a:tailEnd type="none" w="med" len="med"/>
                    </a:lnR>
                    <a:lnT w="12700" cap="flat" cmpd="sng" algn="ctr">
                      <a:solidFill>
                        <a:srgbClr val="5E89B4"/>
                      </a:solidFill>
                      <a:prstDash val="solid"/>
                      <a:round/>
                      <a:headEnd type="none" w="med" len="med"/>
                      <a:tailEnd type="none" w="med" len="med"/>
                    </a:lnT>
                    <a:lnB w="12700" cap="flat" cmpd="sng" algn="ctr">
                      <a:solidFill>
                        <a:srgbClr val="5E89B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spcBef>
                          <a:spcPts val="0"/>
                        </a:spcBef>
                        <a:spcAft>
                          <a:spcPts val="0"/>
                        </a:spcAft>
                      </a:pPr>
                      <a:r>
                        <a:rPr lang="bg-BG" sz="3000" b="0" i="0" u="none" strike="noStrike" dirty="0">
                          <a:solidFill>
                            <a:srgbClr val="000000"/>
                          </a:solidFill>
                          <a:effectLst/>
                          <a:latin typeface="Trebuchet MS"/>
                          <a:cs typeface="Trebuchet MS"/>
                        </a:rPr>
                        <a:t>07/17/1964</a:t>
                      </a:r>
                      <a:endParaRPr lang="bg-BG" sz="3000" dirty="0">
                        <a:effectLst/>
                        <a:latin typeface="Trebuchet MS"/>
                        <a:cs typeface="Trebuchet MS"/>
                      </a:endParaRPr>
                    </a:p>
                  </a:txBody>
                  <a:tcPr marT="91440" marB="91440" anchor="ctr">
                    <a:lnL w="12700" cap="flat" cmpd="sng" algn="ctr">
                      <a:solidFill>
                        <a:srgbClr val="5E89B4"/>
                      </a:solidFill>
                      <a:prstDash val="solid"/>
                      <a:round/>
                      <a:headEnd type="none" w="med" len="med"/>
                      <a:tailEnd type="none" w="med" len="med"/>
                    </a:lnL>
                    <a:lnR w="12700" cap="flat" cmpd="sng" algn="ctr">
                      <a:solidFill>
                        <a:srgbClr val="5E89B4"/>
                      </a:solidFill>
                      <a:prstDash val="solid"/>
                      <a:round/>
                      <a:headEnd type="none" w="med" len="med"/>
                      <a:tailEnd type="none" w="med" len="med"/>
                    </a:lnR>
                    <a:lnT w="12700" cap="flat" cmpd="sng" algn="ctr">
                      <a:solidFill>
                        <a:srgbClr val="5E89B4"/>
                      </a:solidFill>
                      <a:prstDash val="solid"/>
                      <a:round/>
                      <a:headEnd type="none" w="med" len="med"/>
                      <a:tailEnd type="none" w="med" len="med"/>
                    </a:lnT>
                    <a:lnB w="12700" cap="flat" cmpd="sng" algn="ctr">
                      <a:solidFill>
                        <a:srgbClr val="5E89B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spcBef>
                          <a:spcPts val="0"/>
                        </a:spcBef>
                        <a:spcAft>
                          <a:spcPts val="0"/>
                        </a:spcAft>
                      </a:pPr>
                      <a:r>
                        <a:rPr lang="is-IS" sz="3000" b="0" i="0" u="none" strike="noStrike" dirty="0">
                          <a:solidFill>
                            <a:srgbClr val="000000"/>
                          </a:solidFill>
                          <a:effectLst/>
                          <a:latin typeface="Trebuchet MS"/>
                          <a:cs typeface="Trebuchet MS"/>
                        </a:rPr>
                        <a:t>68</a:t>
                      </a:r>
                      <a:endParaRPr lang="is-IS" sz="3000" dirty="0">
                        <a:effectLst/>
                        <a:latin typeface="Trebuchet MS"/>
                        <a:cs typeface="Trebuchet MS"/>
                      </a:endParaRPr>
                    </a:p>
                  </a:txBody>
                  <a:tcPr marT="91440" marB="91440" anchor="ctr">
                    <a:lnL w="12700" cap="flat" cmpd="sng" algn="ctr">
                      <a:solidFill>
                        <a:srgbClr val="5E89B4"/>
                      </a:solidFill>
                      <a:prstDash val="solid"/>
                      <a:round/>
                      <a:headEnd type="none" w="med" len="med"/>
                      <a:tailEnd type="none" w="med" len="med"/>
                    </a:lnL>
                    <a:lnR w="12700" cap="flat" cmpd="sng" algn="ctr">
                      <a:solidFill>
                        <a:srgbClr val="5E89B4"/>
                      </a:solidFill>
                      <a:prstDash val="solid"/>
                      <a:round/>
                      <a:headEnd type="none" w="med" len="med"/>
                      <a:tailEnd type="none" w="med" len="med"/>
                    </a:lnR>
                    <a:lnT w="12700" cap="flat" cmpd="sng" algn="ctr">
                      <a:solidFill>
                        <a:srgbClr val="5E89B4"/>
                      </a:solidFill>
                      <a:prstDash val="solid"/>
                      <a:round/>
                      <a:headEnd type="none" w="med" len="med"/>
                      <a:tailEnd type="none" w="med" len="med"/>
                    </a:lnT>
                    <a:lnB w="12700" cap="flat" cmpd="sng" algn="ctr">
                      <a:solidFill>
                        <a:srgbClr val="5E89B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spcBef>
                          <a:spcPts val="0"/>
                        </a:spcBef>
                        <a:spcAft>
                          <a:spcPts val="0"/>
                        </a:spcAft>
                      </a:pPr>
                      <a:r>
                        <a:rPr lang="en-US" sz="3000" b="0" i="0" u="none" strike="noStrike" dirty="0">
                          <a:solidFill>
                            <a:srgbClr val="000000"/>
                          </a:solidFill>
                          <a:effectLst/>
                          <a:latin typeface="Trebuchet MS"/>
                          <a:cs typeface="Trebuchet MS"/>
                        </a:rPr>
                        <a:t>1988</a:t>
                      </a:r>
                      <a:endParaRPr lang="en-US" sz="3000" dirty="0">
                        <a:effectLst/>
                        <a:latin typeface="Trebuchet MS"/>
                        <a:cs typeface="Trebuchet MS"/>
                      </a:endParaRPr>
                    </a:p>
                  </a:txBody>
                  <a:tcPr marT="91440" marB="91440" anchor="ctr">
                    <a:lnL w="12700" cap="flat" cmpd="sng" algn="ctr">
                      <a:solidFill>
                        <a:srgbClr val="5E89B4"/>
                      </a:solidFill>
                      <a:prstDash val="solid"/>
                      <a:round/>
                      <a:headEnd type="none" w="med" len="med"/>
                      <a:tailEnd type="none" w="med" len="med"/>
                    </a:lnL>
                    <a:lnR w="12700" cap="flat" cmpd="sng" algn="ctr">
                      <a:solidFill>
                        <a:srgbClr val="5E89B4"/>
                      </a:solidFill>
                      <a:prstDash val="solid"/>
                      <a:round/>
                      <a:headEnd type="none" w="med" len="med"/>
                      <a:tailEnd type="none" w="med" len="med"/>
                    </a:lnR>
                    <a:lnT w="12700" cap="flat" cmpd="sng" algn="ctr">
                      <a:solidFill>
                        <a:srgbClr val="5E89B4"/>
                      </a:solidFill>
                      <a:prstDash val="solid"/>
                      <a:round/>
                      <a:headEnd type="none" w="med" len="med"/>
                      <a:tailEnd type="none" w="med" len="med"/>
                    </a:lnT>
                    <a:lnB w="12700" cap="flat" cmpd="sng" algn="ctr">
                      <a:solidFill>
                        <a:srgbClr val="5E89B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spcBef>
                          <a:spcPts val="0"/>
                        </a:spcBef>
                        <a:spcAft>
                          <a:spcPts val="0"/>
                        </a:spcAft>
                      </a:pPr>
                      <a:r>
                        <a:rPr lang="is-IS" sz="3000" b="0" i="0" u="none" strike="noStrike" dirty="0">
                          <a:solidFill>
                            <a:srgbClr val="000000"/>
                          </a:solidFill>
                          <a:effectLst/>
                          <a:latin typeface="Trebuchet MS"/>
                          <a:cs typeface="Trebuchet MS"/>
                        </a:rPr>
                        <a:t>1992</a:t>
                      </a:r>
                      <a:endParaRPr lang="is-IS" sz="3000" dirty="0">
                        <a:effectLst/>
                        <a:latin typeface="Trebuchet MS"/>
                        <a:cs typeface="Trebuchet MS"/>
                      </a:endParaRPr>
                    </a:p>
                  </a:txBody>
                  <a:tcPr marT="91440" marB="91440" anchor="ctr">
                    <a:lnL w="12700" cap="flat" cmpd="sng" algn="ctr">
                      <a:solidFill>
                        <a:srgbClr val="5E89B4"/>
                      </a:solidFill>
                      <a:prstDash val="solid"/>
                      <a:round/>
                      <a:headEnd type="none" w="med" len="med"/>
                      <a:tailEnd type="none" w="med" len="med"/>
                    </a:lnL>
                    <a:lnR w="57150" cap="flat" cmpd="sng" algn="ctr">
                      <a:solidFill>
                        <a:srgbClr val="4C75A4"/>
                      </a:solidFill>
                      <a:prstDash val="solid"/>
                      <a:round/>
                      <a:headEnd type="none" w="med" len="med"/>
                      <a:tailEnd type="none" w="med" len="med"/>
                    </a:lnR>
                    <a:lnT w="12700" cap="flat" cmpd="sng" algn="ctr">
                      <a:solidFill>
                        <a:srgbClr val="5E89B4"/>
                      </a:solidFill>
                      <a:prstDash val="solid"/>
                      <a:round/>
                      <a:headEnd type="none" w="med" len="med"/>
                      <a:tailEnd type="none" w="med" len="med"/>
                    </a:lnT>
                    <a:lnB w="12700" cap="flat" cmpd="sng" algn="ctr">
                      <a:solidFill>
                        <a:srgbClr val="5E89B4"/>
                      </a:solidFill>
                      <a:prstDash val="solid"/>
                      <a:round/>
                      <a:headEnd type="none" w="med" len="med"/>
                      <a:tailEnd type="none" w="med" len="med"/>
                    </a:lnB>
                    <a:lnTlToBr w="12700" cmpd="sng">
                      <a:noFill/>
                      <a:prstDash val="solid"/>
                    </a:lnTlToBr>
                    <a:lnBlToTr w="12700" cmpd="sng">
                      <a:noFill/>
                      <a:prstDash val="solid"/>
                    </a:lnBlToTr>
                    <a:noFill/>
                  </a:tcPr>
                </a:tc>
              </a:tr>
              <a:tr h="470927">
                <a:tc>
                  <a:txBody>
                    <a:bodyPr/>
                    <a:lstStyle/>
                    <a:p>
                      <a:pPr algn="ctr" rtl="0" fontAlgn="t">
                        <a:spcBef>
                          <a:spcPts val="0"/>
                        </a:spcBef>
                        <a:spcAft>
                          <a:spcPts val="0"/>
                        </a:spcAft>
                      </a:pPr>
                      <a:r>
                        <a:rPr lang="en-US" sz="3000" b="0" i="0" u="none" strike="noStrike">
                          <a:solidFill>
                            <a:srgbClr val="000000"/>
                          </a:solidFill>
                          <a:effectLst/>
                          <a:latin typeface="Trebuchet MS"/>
                          <a:cs typeface="Trebuchet MS"/>
                        </a:rPr>
                        <a:t>Danielle</a:t>
                      </a:r>
                      <a:endParaRPr lang="en-US" sz="3000">
                        <a:effectLst/>
                        <a:latin typeface="Trebuchet MS"/>
                        <a:cs typeface="Trebuchet MS"/>
                      </a:endParaRPr>
                    </a:p>
                  </a:txBody>
                  <a:tcPr marT="91440" marB="91440" anchor="ctr">
                    <a:lnL w="57150" cap="flat" cmpd="sng" algn="ctr">
                      <a:solidFill>
                        <a:srgbClr val="4C75A4"/>
                      </a:solidFill>
                      <a:prstDash val="solid"/>
                      <a:round/>
                      <a:headEnd type="none" w="med" len="med"/>
                      <a:tailEnd type="none" w="med" len="med"/>
                    </a:lnL>
                    <a:lnR w="12700" cap="flat" cmpd="sng" algn="ctr">
                      <a:solidFill>
                        <a:srgbClr val="5E89B4"/>
                      </a:solidFill>
                      <a:prstDash val="solid"/>
                      <a:round/>
                      <a:headEnd type="none" w="med" len="med"/>
                      <a:tailEnd type="none" w="med" len="med"/>
                    </a:lnR>
                    <a:lnT w="12700" cap="flat" cmpd="sng" algn="ctr">
                      <a:solidFill>
                        <a:srgbClr val="5E89B4"/>
                      </a:solidFill>
                      <a:prstDash val="solid"/>
                      <a:round/>
                      <a:headEnd type="none" w="med" len="med"/>
                      <a:tailEnd type="none" w="med" len="med"/>
                    </a:lnT>
                    <a:lnB w="57150" cap="flat" cmpd="sng" algn="ctr">
                      <a:solidFill>
                        <a:srgbClr val="4C75A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spcBef>
                          <a:spcPts val="0"/>
                        </a:spcBef>
                        <a:spcAft>
                          <a:spcPts val="0"/>
                        </a:spcAft>
                      </a:pPr>
                      <a:r>
                        <a:rPr lang="en-US" sz="3000" b="0" i="0" u="none" strike="noStrike">
                          <a:solidFill>
                            <a:srgbClr val="000000"/>
                          </a:solidFill>
                          <a:effectLst/>
                          <a:latin typeface="Trebuchet MS"/>
                          <a:cs typeface="Trebuchet MS"/>
                        </a:rPr>
                        <a:t>F</a:t>
                      </a:r>
                      <a:endParaRPr lang="en-US" sz="3000">
                        <a:effectLst/>
                        <a:latin typeface="Trebuchet MS"/>
                        <a:cs typeface="Trebuchet MS"/>
                      </a:endParaRPr>
                    </a:p>
                  </a:txBody>
                  <a:tcPr marT="91440" marB="91440" anchor="ctr">
                    <a:lnL w="12700" cap="flat" cmpd="sng" algn="ctr">
                      <a:solidFill>
                        <a:srgbClr val="5E89B4"/>
                      </a:solidFill>
                      <a:prstDash val="solid"/>
                      <a:round/>
                      <a:headEnd type="none" w="med" len="med"/>
                      <a:tailEnd type="none" w="med" len="med"/>
                    </a:lnL>
                    <a:lnR w="12700" cap="flat" cmpd="sng" algn="ctr">
                      <a:solidFill>
                        <a:srgbClr val="5E89B4"/>
                      </a:solidFill>
                      <a:prstDash val="solid"/>
                      <a:round/>
                      <a:headEnd type="none" w="med" len="med"/>
                      <a:tailEnd type="none" w="med" len="med"/>
                    </a:lnR>
                    <a:lnT w="12700" cap="flat" cmpd="sng" algn="ctr">
                      <a:solidFill>
                        <a:srgbClr val="5E89B4"/>
                      </a:solidFill>
                      <a:prstDash val="solid"/>
                      <a:round/>
                      <a:headEnd type="none" w="med" len="med"/>
                      <a:tailEnd type="none" w="med" len="med"/>
                    </a:lnT>
                    <a:lnB w="57150" cap="flat" cmpd="sng" algn="ctr">
                      <a:solidFill>
                        <a:srgbClr val="4C75A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spcBef>
                          <a:spcPts val="0"/>
                        </a:spcBef>
                        <a:spcAft>
                          <a:spcPts val="0"/>
                        </a:spcAft>
                      </a:pPr>
                      <a:r>
                        <a:rPr lang="bg-BG" sz="3000" b="0" i="0" u="none" strike="noStrike" dirty="0">
                          <a:solidFill>
                            <a:srgbClr val="000000"/>
                          </a:solidFill>
                          <a:effectLst/>
                          <a:latin typeface="Trebuchet MS"/>
                          <a:cs typeface="Trebuchet MS"/>
                        </a:rPr>
                        <a:t>10/22/1970</a:t>
                      </a:r>
                      <a:endParaRPr lang="bg-BG" sz="3000" dirty="0">
                        <a:effectLst/>
                        <a:latin typeface="Trebuchet MS"/>
                        <a:cs typeface="Trebuchet MS"/>
                      </a:endParaRPr>
                    </a:p>
                  </a:txBody>
                  <a:tcPr marT="91440" marB="91440" anchor="ctr">
                    <a:lnL w="12700" cap="flat" cmpd="sng" algn="ctr">
                      <a:solidFill>
                        <a:srgbClr val="5E89B4"/>
                      </a:solidFill>
                      <a:prstDash val="solid"/>
                      <a:round/>
                      <a:headEnd type="none" w="med" len="med"/>
                      <a:tailEnd type="none" w="med" len="med"/>
                    </a:lnL>
                    <a:lnR w="12700" cap="flat" cmpd="sng" algn="ctr">
                      <a:solidFill>
                        <a:srgbClr val="5E89B4"/>
                      </a:solidFill>
                      <a:prstDash val="solid"/>
                      <a:round/>
                      <a:headEnd type="none" w="med" len="med"/>
                      <a:tailEnd type="none" w="med" len="med"/>
                    </a:lnR>
                    <a:lnT w="12700" cap="flat" cmpd="sng" algn="ctr">
                      <a:solidFill>
                        <a:srgbClr val="5E89B4"/>
                      </a:solidFill>
                      <a:prstDash val="solid"/>
                      <a:round/>
                      <a:headEnd type="none" w="med" len="med"/>
                      <a:tailEnd type="none" w="med" len="med"/>
                    </a:lnT>
                    <a:lnB w="57150" cap="flat" cmpd="sng" algn="ctr">
                      <a:solidFill>
                        <a:srgbClr val="4C75A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spcBef>
                          <a:spcPts val="0"/>
                        </a:spcBef>
                        <a:spcAft>
                          <a:spcPts val="0"/>
                        </a:spcAft>
                      </a:pPr>
                      <a:r>
                        <a:rPr lang="is-IS" sz="3000" b="0" i="0" u="none" strike="noStrike" dirty="0">
                          <a:solidFill>
                            <a:srgbClr val="000000"/>
                          </a:solidFill>
                          <a:effectLst/>
                          <a:latin typeface="Trebuchet MS"/>
                          <a:cs typeface="Trebuchet MS"/>
                        </a:rPr>
                        <a:t>67</a:t>
                      </a:r>
                      <a:endParaRPr lang="is-IS" sz="3000" dirty="0">
                        <a:effectLst/>
                        <a:latin typeface="Trebuchet MS"/>
                        <a:cs typeface="Trebuchet MS"/>
                      </a:endParaRPr>
                    </a:p>
                  </a:txBody>
                  <a:tcPr marT="91440" marB="91440" anchor="ctr">
                    <a:lnL w="12700" cap="flat" cmpd="sng" algn="ctr">
                      <a:solidFill>
                        <a:srgbClr val="5E89B4"/>
                      </a:solidFill>
                      <a:prstDash val="solid"/>
                      <a:round/>
                      <a:headEnd type="none" w="med" len="med"/>
                      <a:tailEnd type="none" w="med" len="med"/>
                    </a:lnL>
                    <a:lnR w="12700" cap="flat" cmpd="sng" algn="ctr">
                      <a:solidFill>
                        <a:srgbClr val="5E89B4"/>
                      </a:solidFill>
                      <a:prstDash val="solid"/>
                      <a:round/>
                      <a:headEnd type="none" w="med" len="med"/>
                      <a:tailEnd type="none" w="med" len="med"/>
                    </a:lnR>
                    <a:lnT w="12700" cap="flat" cmpd="sng" algn="ctr">
                      <a:solidFill>
                        <a:srgbClr val="5E89B4"/>
                      </a:solidFill>
                      <a:prstDash val="solid"/>
                      <a:round/>
                      <a:headEnd type="none" w="med" len="med"/>
                      <a:tailEnd type="none" w="med" len="med"/>
                    </a:lnT>
                    <a:lnB w="57150" cap="flat" cmpd="sng" algn="ctr">
                      <a:solidFill>
                        <a:srgbClr val="4C75A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spcBef>
                          <a:spcPts val="0"/>
                        </a:spcBef>
                        <a:spcAft>
                          <a:spcPts val="0"/>
                        </a:spcAft>
                      </a:pPr>
                      <a:r>
                        <a:rPr lang="cs-CZ" sz="3000" b="0" i="0" u="none" strike="noStrike" dirty="0">
                          <a:solidFill>
                            <a:srgbClr val="000000"/>
                          </a:solidFill>
                          <a:effectLst/>
                          <a:latin typeface="Trebuchet MS"/>
                          <a:cs typeface="Trebuchet MS"/>
                        </a:rPr>
                        <a:t>1997</a:t>
                      </a:r>
                      <a:endParaRPr lang="cs-CZ" sz="3000" dirty="0">
                        <a:effectLst/>
                        <a:latin typeface="Trebuchet MS"/>
                        <a:cs typeface="Trebuchet MS"/>
                      </a:endParaRPr>
                    </a:p>
                  </a:txBody>
                  <a:tcPr marT="91440" marB="91440" anchor="ctr">
                    <a:lnL w="12700" cap="flat" cmpd="sng" algn="ctr">
                      <a:solidFill>
                        <a:srgbClr val="5E89B4"/>
                      </a:solidFill>
                      <a:prstDash val="solid"/>
                      <a:round/>
                      <a:headEnd type="none" w="med" len="med"/>
                      <a:tailEnd type="none" w="med" len="med"/>
                    </a:lnL>
                    <a:lnR w="12700" cap="flat" cmpd="sng" algn="ctr">
                      <a:solidFill>
                        <a:srgbClr val="5E89B4"/>
                      </a:solidFill>
                      <a:prstDash val="solid"/>
                      <a:round/>
                      <a:headEnd type="none" w="med" len="med"/>
                      <a:tailEnd type="none" w="med" len="med"/>
                    </a:lnR>
                    <a:lnT w="12700" cap="flat" cmpd="sng" algn="ctr">
                      <a:solidFill>
                        <a:srgbClr val="5E89B4"/>
                      </a:solidFill>
                      <a:prstDash val="solid"/>
                      <a:round/>
                      <a:headEnd type="none" w="med" len="med"/>
                      <a:tailEnd type="none" w="med" len="med"/>
                    </a:lnT>
                    <a:lnB w="57150" cap="flat" cmpd="sng" algn="ctr">
                      <a:solidFill>
                        <a:srgbClr val="4C75A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spcBef>
                          <a:spcPts val="0"/>
                        </a:spcBef>
                        <a:spcAft>
                          <a:spcPts val="0"/>
                        </a:spcAft>
                      </a:pPr>
                      <a:r>
                        <a:rPr lang="is-IS" sz="3000" b="0" i="0" u="none" strike="noStrike" dirty="0">
                          <a:solidFill>
                            <a:srgbClr val="000000"/>
                          </a:solidFill>
                          <a:effectLst/>
                          <a:latin typeface="Trebuchet MS"/>
                          <a:cs typeface="Trebuchet MS"/>
                        </a:rPr>
                        <a:t>2005</a:t>
                      </a:r>
                      <a:endParaRPr lang="is-IS" sz="3000" dirty="0">
                        <a:effectLst/>
                        <a:latin typeface="Trebuchet MS"/>
                        <a:cs typeface="Trebuchet MS"/>
                      </a:endParaRPr>
                    </a:p>
                  </a:txBody>
                  <a:tcPr marT="91440" marB="91440" anchor="ctr">
                    <a:lnL w="12700" cap="flat" cmpd="sng" algn="ctr">
                      <a:solidFill>
                        <a:srgbClr val="5E89B4"/>
                      </a:solidFill>
                      <a:prstDash val="solid"/>
                      <a:round/>
                      <a:headEnd type="none" w="med" len="med"/>
                      <a:tailEnd type="none" w="med" len="med"/>
                    </a:lnL>
                    <a:lnR w="57150" cap="flat" cmpd="sng" algn="ctr">
                      <a:solidFill>
                        <a:srgbClr val="4C75A4"/>
                      </a:solidFill>
                      <a:prstDash val="solid"/>
                      <a:round/>
                      <a:headEnd type="none" w="med" len="med"/>
                      <a:tailEnd type="none" w="med" len="med"/>
                    </a:lnR>
                    <a:lnT w="12700" cap="flat" cmpd="sng" algn="ctr">
                      <a:solidFill>
                        <a:srgbClr val="5E89B4"/>
                      </a:solidFill>
                      <a:prstDash val="solid"/>
                      <a:round/>
                      <a:headEnd type="none" w="med" len="med"/>
                      <a:tailEnd type="none" w="med" len="med"/>
                    </a:lnT>
                    <a:lnB w="57150" cap="flat" cmpd="sng" algn="ctr">
                      <a:solidFill>
                        <a:srgbClr val="4C75A4"/>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pic>
        <p:nvPicPr>
          <p:cNvPr id="18" name="Picture 17" descr="The “junk” items here are the people icons that were added to the graph. These icons represent the flow of people migrating into Arlington County from surrounding areas in 2012, but those values are also represented numerically in the same view. This reveals that, although the number of people coming from DC is more than 13 times the amount of people coming from Prince Georges County, there are only 4 person icons to represent that difference. This misleads the viewer. Better options would be to remove the people and make the numbers more prominent, or to have a legend indicating how many people each person icon represents, and have the appropriate number of icons for each region.   " title="Chart junk"/>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185710" y="30910897"/>
            <a:ext cx="6995681" cy="5398052"/>
          </a:xfrm>
          <a:prstGeom prst="rect">
            <a:avLst/>
          </a:prstGeom>
          <a:ln w="47625">
            <a:solidFill>
              <a:srgbClr val="5E89B4"/>
            </a:solidFill>
          </a:ln>
        </p:spPr>
      </p:pic>
      <p:pic>
        <p:nvPicPr>
          <p:cNvPr id="52" name="Shape 477"/>
          <p:cNvPicPr preferRelativeResize="0"/>
          <p:nvPr/>
        </p:nvPicPr>
        <p:blipFill rotWithShape="1">
          <a:blip r:embed="rId5">
            <a:alphaModFix/>
          </a:blip>
          <a:srcRect/>
          <a:stretch/>
        </p:blipFill>
        <p:spPr>
          <a:xfrm>
            <a:off x="17503231" y="24044540"/>
            <a:ext cx="7038514" cy="4876503"/>
          </a:xfrm>
          <a:prstGeom prst="rect">
            <a:avLst/>
          </a:prstGeom>
          <a:noFill/>
          <a:ln>
            <a:noFill/>
          </a:ln>
        </p:spPr>
      </p:pic>
      <p:sp>
        <p:nvSpPr>
          <p:cNvPr id="60" name="Oval 59"/>
          <p:cNvSpPr/>
          <p:nvPr/>
        </p:nvSpPr>
        <p:spPr>
          <a:xfrm>
            <a:off x="31795177" y="10563881"/>
            <a:ext cx="2743200" cy="2743200"/>
          </a:xfrm>
          <a:prstGeom prst="ellipse">
            <a:avLst/>
          </a:prstGeom>
          <a:noFill/>
          <a:ln w="114300">
            <a:solidFill>
              <a:srgbClr val="5E89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5E89B4"/>
              </a:solidFill>
            </a:endParaRPr>
          </a:p>
        </p:txBody>
      </p:sp>
      <p:sp>
        <p:nvSpPr>
          <p:cNvPr id="61" name="TextBox 60"/>
          <p:cNvSpPr txBox="1"/>
          <p:nvPr/>
        </p:nvSpPr>
        <p:spPr>
          <a:xfrm>
            <a:off x="32214181" y="10886747"/>
            <a:ext cx="2009392" cy="1862048"/>
          </a:xfrm>
          <a:prstGeom prst="rect">
            <a:avLst/>
          </a:prstGeom>
          <a:noFill/>
        </p:spPr>
        <p:txBody>
          <a:bodyPr wrap="square" rtlCol="0">
            <a:spAutoFit/>
          </a:bodyPr>
          <a:lstStyle/>
          <a:p>
            <a:pPr algn="ctr"/>
            <a:r>
              <a:rPr lang="en-US" sz="11500" b="1" spc="600" dirty="0" smtClean="0">
                <a:solidFill>
                  <a:srgbClr val="225D75"/>
                </a:solidFill>
                <a:latin typeface="Arial Narrow" charset="0"/>
                <a:ea typeface="Arial Narrow" charset="0"/>
                <a:cs typeface="Arial Narrow" charset="0"/>
              </a:rPr>
              <a:t>Aa</a:t>
            </a:r>
            <a:endParaRPr lang="en-US" sz="13800" b="1" spc="600" dirty="0">
              <a:solidFill>
                <a:srgbClr val="225D75"/>
              </a:solidFill>
              <a:latin typeface="Arial Narrow" charset="0"/>
              <a:ea typeface="Arial Narrow" charset="0"/>
              <a:cs typeface="Arial Narrow" charset="0"/>
            </a:endParaRPr>
          </a:p>
        </p:txBody>
      </p:sp>
      <p:sp>
        <p:nvSpPr>
          <p:cNvPr id="11" name="TextBox 10"/>
          <p:cNvSpPr txBox="1"/>
          <p:nvPr/>
        </p:nvSpPr>
        <p:spPr>
          <a:xfrm>
            <a:off x="17466185" y="10636422"/>
            <a:ext cx="13758908" cy="2862322"/>
          </a:xfrm>
          <a:prstGeom prst="rect">
            <a:avLst/>
          </a:prstGeom>
          <a:noFill/>
        </p:spPr>
        <p:txBody>
          <a:bodyPr wrap="square" rtlCol="0">
            <a:spAutoFit/>
          </a:bodyPr>
          <a:lstStyle/>
          <a:p>
            <a:pPr marL="457200" indent="-457200">
              <a:buFont typeface="Arial" charset="0"/>
              <a:buChar char="•"/>
            </a:pPr>
            <a:r>
              <a:rPr lang="en-US" sz="3000" dirty="0">
                <a:latin typeface="Trebuchet MS" charset="0"/>
                <a:ea typeface="Trebuchet MS" charset="0"/>
                <a:cs typeface="Trebuchet MS" charset="0"/>
              </a:rPr>
              <a:t>A simple palette of high contrast colors should make up the bulk of the site, leaving many colors available as accents. </a:t>
            </a:r>
            <a:r>
              <a:rPr lang="en-US" sz="3000" dirty="0" smtClean="0">
                <a:latin typeface="Trebuchet MS" charset="0"/>
                <a:ea typeface="Trebuchet MS" charset="0"/>
                <a:cs typeface="Trebuchet MS" charset="0"/>
              </a:rPr>
              <a:t>                                            </a:t>
            </a:r>
          </a:p>
          <a:p>
            <a:pPr marL="457200" indent="-457200">
              <a:buFont typeface="Arial" charset="0"/>
              <a:buChar char="•"/>
            </a:pPr>
            <a:r>
              <a:rPr lang="en-US" sz="3000" dirty="0" smtClean="0">
                <a:latin typeface="Trebuchet MS" charset="0"/>
                <a:ea typeface="Trebuchet MS" charset="0"/>
                <a:cs typeface="Trebuchet MS" charset="0"/>
              </a:rPr>
              <a:t>The site’s </a:t>
            </a:r>
            <a:r>
              <a:rPr lang="en-US" sz="3000" dirty="0">
                <a:latin typeface="Trebuchet MS" charset="0"/>
                <a:ea typeface="Trebuchet MS" charset="0"/>
                <a:cs typeface="Trebuchet MS" charset="0"/>
              </a:rPr>
              <a:t>color palette should remain consistent throughout the site to aid in navigation and to appear more unified. </a:t>
            </a:r>
            <a:endParaRPr lang="en-US" sz="3000" dirty="0" smtClean="0">
              <a:latin typeface="Trebuchet MS" charset="0"/>
              <a:ea typeface="Trebuchet MS" charset="0"/>
              <a:cs typeface="Trebuchet MS" charset="0"/>
            </a:endParaRPr>
          </a:p>
          <a:p>
            <a:pPr marL="457200" indent="-457200">
              <a:buFont typeface="Arial" charset="0"/>
              <a:buChar char="•"/>
            </a:pPr>
            <a:r>
              <a:rPr lang="en-US" sz="3000" dirty="0" smtClean="0">
                <a:latin typeface="Trebuchet MS" charset="0"/>
                <a:ea typeface="Trebuchet MS" charset="0"/>
                <a:cs typeface="Trebuchet MS" charset="0"/>
              </a:rPr>
              <a:t>An </a:t>
            </a:r>
            <a:r>
              <a:rPr lang="en-US" sz="3000" dirty="0">
                <a:latin typeface="Trebuchet MS" charset="0"/>
                <a:ea typeface="Trebuchet MS" charset="0"/>
                <a:cs typeface="Trebuchet MS" charset="0"/>
              </a:rPr>
              <a:t>Open Data Portal should be easy to read, with text in a font and color that are easy to look at for extended periods of time. </a:t>
            </a:r>
          </a:p>
        </p:txBody>
      </p:sp>
      <p:sp>
        <p:nvSpPr>
          <p:cNvPr id="12" name="TextBox 11"/>
          <p:cNvSpPr txBox="1"/>
          <p:nvPr/>
        </p:nvSpPr>
        <p:spPr>
          <a:xfrm>
            <a:off x="16477097" y="18972844"/>
            <a:ext cx="17746476" cy="3323987"/>
          </a:xfrm>
          <a:prstGeom prst="rect">
            <a:avLst/>
          </a:prstGeom>
          <a:noFill/>
        </p:spPr>
        <p:txBody>
          <a:bodyPr wrap="square" rtlCol="0">
            <a:spAutoFit/>
          </a:bodyPr>
          <a:lstStyle/>
          <a:p>
            <a:pPr marL="457200" indent="-457200">
              <a:buFont typeface="Arial" charset="0"/>
              <a:buChar char="•"/>
            </a:pPr>
            <a:r>
              <a:rPr lang="en-US" sz="3000" dirty="0">
                <a:latin typeface="Trebuchet MS" charset="0"/>
                <a:ea typeface="Trebuchet MS" charset="0"/>
                <a:cs typeface="Trebuchet MS" charset="0"/>
              </a:rPr>
              <a:t>This table is in a tidy format: each row represents a different </a:t>
            </a:r>
            <a:r>
              <a:rPr lang="en-US" sz="3000" dirty="0" smtClean="0">
                <a:latin typeface="Trebuchet MS" charset="0"/>
                <a:ea typeface="Trebuchet MS" charset="0"/>
                <a:cs typeface="Trebuchet MS" charset="0"/>
              </a:rPr>
              <a:t>observation, and </a:t>
            </a:r>
            <a:r>
              <a:rPr lang="en-US" sz="3000" dirty="0">
                <a:latin typeface="Trebuchet MS" charset="0"/>
                <a:ea typeface="Trebuchet MS" charset="0"/>
                <a:cs typeface="Trebuchet MS" charset="0"/>
              </a:rPr>
              <a:t>the columns record various </a:t>
            </a:r>
            <a:r>
              <a:rPr lang="en-US" sz="3000" dirty="0" smtClean="0">
                <a:latin typeface="Trebuchet MS" charset="0"/>
                <a:ea typeface="Trebuchet MS" charset="0"/>
                <a:cs typeface="Trebuchet MS" charset="0"/>
              </a:rPr>
              <a:t>characteristics </a:t>
            </a:r>
            <a:r>
              <a:rPr lang="en-US" sz="3000" dirty="0">
                <a:latin typeface="Trebuchet MS" charset="0"/>
                <a:ea typeface="Trebuchet MS" charset="0"/>
                <a:cs typeface="Trebuchet MS" charset="0"/>
              </a:rPr>
              <a:t>about each person such as date of birth, sex, or height. </a:t>
            </a:r>
            <a:endParaRPr lang="en-US" sz="3000" dirty="0" smtClean="0">
              <a:latin typeface="Trebuchet MS" charset="0"/>
              <a:ea typeface="Trebuchet MS" charset="0"/>
              <a:cs typeface="Trebuchet MS" charset="0"/>
            </a:endParaRPr>
          </a:p>
          <a:p>
            <a:pPr marL="457200" indent="-457200">
              <a:buFont typeface="Arial" charset="0"/>
              <a:buChar char="•"/>
            </a:pPr>
            <a:r>
              <a:rPr lang="en-US" sz="3000" dirty="0" smtClean="0">
                <a:latin typeface="Trebuchet MS" charset="0"/>
                <a:ea typeface="Trebuchet MS" charset="0"/>
                <a:cs typeface="Trebuchet MS" charset="0"/>
              </a:rPr>
              <a:t>If </a:t>
            </a:r>
            <a:r>
              <a:rPr lang="en-US" sz="3000" dirty="0">
                <a:latin typeface="Trebuchet MS" charset="0"/>
                <a:ea typeface="Trebuchet MS" charset="0"/>
                <a:cs typeface="Trebuchet MS" charset="0"/>
              </a:rPr>
              <a:t>a column contains a range of values, the column should be split into two separate columns - one for the minimum, and one for the maximum values of that </a:t>
            </a:r>
            <a:r>
              <a:rPr lang="en-US" sz="3000" dirty="0" smtClean="0">
                <a:latin typeface="Trebuchet MS" charset="0"/>
                <a:ea typeface="Trebuchet MS" charset="0"/>
                <a:cs typeface="Trebuchet MS" charset="0"/>
              </a:rPr>
              <a:t>range. </a:t>
            </a:r>
          </a:p>
          <a:p>
            <a:pPr marL="457200" indent="-457200">
              <a:buFont typeface="Arial" charset="0"/>
              <a:buChar char="•"/>
            </a:pPr>
            <a:r>
              <a:rPr lang="en-US" sz="3000" dirty="0" smtClean="0">
                <a:latin typeface="Trebuchet MS" charset="0"/>
                <a:ea typeface="Trebuchet MS" charset="0"/>
                <a:cs typeface="Trebuchet MS" charset="0"/>
              </a:rPr>
              <a:t>While </a:t>
            </a:r>
            <a:r>
              <a:rPr lang="en-US" sz="3000" dirty="0">
                <a:latin typeface="Trebuchet MS" charset="0"/>
                <a:ea typeface="Trebuchet MS" charset="0"/>
                <a:cs typeface="Trebuchet MS" charset="0"/>
              </a:rPr>
              <a:t>it is open for debate whether the responsibility of tidying data is that of the Open Data Portal </a:t>
            </a:r>
            <a:r>
              <a:rPr lang="en-US" sz="3000" dirty="0" smtClean="0">
                <a:latin typeface="Trebuchet MS" charset="0"/>
                <a:ea typeface="Trebuchet MS" charset="0"/>
                <a:cs typeface="Trebuchet MS" charset="0"/>
              </a:rPr>
              <a:t>administrator, depending </a:t>
            </a:r>
            <a:r>
              <a:rPr lang="en-US" sz="3000" dirty="0">
                <a:latin typeface="Trebuchet MS" charset="0"/>
                <a:ea typeface="Trebuchet MS" charset="0"/>
                <a:cs typeface="Trebuchet MS" charset="0"/>
              </a:rPr>
              <a:t>on the goal and maturity of the organization supporting the portal, making the data tidy would facilitate better and more frequent use of the content</a:t>
            </a:r>
            <a:r>
              <a:rPr lang="en-US" sz="3000" dirty="0" smtClean="0">
                <a:latin typeface="Trebuchet MS" charset="0"/>
                <a:ea typeface="Trebuchet MS" charset="0"/>
                <a:cs typeface="Trebuchet MS" charset="0"/>
              </a:rPr>
              <a:t>.</a:t>
            </a:r>
            <a:endParaRPr lang="en-US" sz="3000" dirty="0">
              <a:latin typeface="Trebuchet MS" charset="0"/>
              <a:ea typeface="Trebuchet MS" charset="0"/>
              <a:cs typeface="Trebuchet MS" charset="0"/>
            </a:endParaRPr>
          </a:p>
        </p:txBody>
      </p:sp>
      <p:sp>
        <p:nvSpPr>
          <p:cNvPr id="14" name="TextBox 13"/>
          <p:cNvSpPr txBox="1"/>
          <p:nvPr/>
        </p:nvSpPr>
        <p:spPr>
          <a:xfrm>
            <a:off x="25010964" y="23969394"/>
            <a:ext cx="9212609" cy="4247317"/>
          </a:xfrm>
          <a:prstGeom prst="rect">
            <a:avLst/>
          </a:prstGeom>
          <a:noFill/>
        </p:spPr>
        <p:txBody>
          <a:bodyPr wrap="square" rtlCol="0">
            <a:spAutoFit/>
          </a:bodyPr>
          <a:lstStyle/>
          <a:p>
            <a:pPr marL="457200" indent="-457200">
              <a:buFont typeface="Arial" charset="0"/>
              <a:buChar char="•"/>
            </a:pPr>
            <a:r>
              <a:rPr lang="en-US" sz="3000" dirty="0">
                <a:latin typeface="Trebuchet MS" charset="0"/>
                <a:ea typeface="Trebuchet MS" charset="0"/>
                <a:cs typeface="Trebuchet MS" charset="0"/>
              </a:rPr>
              <a:t>Proper documentation </a:t>
            </a:r>
            <a:r>
              <a:rPr lang="en-US" sz="3000" dirty="0" smtClean="0">
                <a:latin typeface="Trebuchet MS" charset="0"/>
                <a:ea typeface="Trebuchet MS" charset="0"/>
                <a:cs typeface="Trebuchet MS" charset="0"/>
              </a:rPr>
              <a:t>answers questions about </a:t>
            </a:r>
            <a:r>
              <a:rPr lang="en-US" sz="3000" dirty="0">
                <a:latin typeface="Trebuchet MS" charset="0"/>
                <a:ea typeface="Trebuchet MS" charset="0"/>
                <a:cs typeface="Trebuchet MS" charset="0"/>
              </a:rPr>
              <a:t>where the data came from and how it was collected. </a:t>
            </a:r>
            <a:endParaRPr lang="en-US" sz="3000" dirty="0" smtClean="0">
              <a:latin typeface="Trebuchet MS" charset="0"/>
              <a:ea typeface="Trebuchet MS" charset="0"/>
              <a:cs typeface="Trebuchet MS" charset="0"/>
            </a:endParaRPr>
          </a:p>
          <a:p>
            <a:pPr marL="457200" indent="-457200">
              <a:buFont typeface="Arial" charset="0"/>
              <a:buChar char="•"/>
            </a:pPr>
            <a:r>
              <a:rPr lang="en-US" sz="3000" dirty="0" smtClean="0">
                <a:latin typeface="Trebuchet MS" charset="0"/>
                <a:ea typeface="Trebuchet MS" charset="0"/>
                <a:cs typeface="Trebuchet MS" charset="0"/>
              </a:rPr>
              <a:t>Displaying </a:t>
            </a:r>
            <a:r>
              <a:rPr lang="en-US" sz="3000" dirty="0">
                <a:latin typeface="Trebuchet MS" charset="0"/>
                <a:ea typeface="Trebuchet MS" charset="0"/>
                <a:cs typeface="Trebuchet MS" charset="0"/>
              </a:rPr>
              <a:t>a list of commissions, agencies, and other government organizations that have </a:t>
            </a:r>
            <a:r>
              <a:rPr lang="en-US" sz="3000" dirty="0" smtClean="0">
                <a:latin typeface="Trebuchet MS" charset="0"/>
                <a:ea typeface="Trebuchet MS" charset="0"/>
                <a:cs typeface="Trebuchet MS" charset="0"/>
              </a:rPr>
              <a:t>shared their data on </a:t>
            </a:r>
            <a:r>
              <a:rPr lang="en-US" sz="3000" dirty="0">
                <a:latin typeface="Trebuchet MS" charset="0"/>
                <a:ea typeface="Trebuchet MS" charset="0"/>
                <a:cs typeface="Trebuchet MS" charset="0"/>
              </a:rPr>
              <a:t>the site may enhance </a:t>
            </a:r>
            <a:r>
              <a:rPr lang="en-US" sz="3000" dirty="0" smtClean="0">
                <a:latin typeface="Trebuchet MS" charset="0"/>
                <a:ea typeface="Trebuchet MS" charset="0"/>
                <a:cs typeface="Trebuchet MS" charset="0"/>
              </a:rPr>
              <a:t>the </a:t>
            </a:r>
            <a:r>
              <a:rPr lang="en-US" sz="3000" dirty="0">
                <a:latin typeface="Trebuchet MS" charset="0"/>
                <a:ea typeface="Trebuchet MS" charset="0"/>
                <a:cs typeface="Trebuchet MS" charset="0"/>
              </a:rPr>
              <a:t>credibility of the portal</a:t>
            </a:r>
            <a:r>
              <a:rPr lang="en-US" sz="3000" dirty="0" smtClean="0">
                <a:latin typeface="Trebuchet MS" charset="0"/>
                <a:ea typeface="Trebuchet MS" charset="0"/>
                <a:cs typeface="Trebuchet MS" charset="0"/>
              </a:rPr>
              <a:t>.</a:t>
            </a:r>
          </a:p>
          <a:p>
            <a:pPr marL="457200" indent="-457200">
              <a:buFont typeface="Arial" charset="0"/>
              <a:buChar char="•"/>
            </a:pPr>
            <a:r>
              <a:rPr lang="en-US" sz="3000" dirty="0" smtClean="0">
                <a:latin typeface="Trebuchet MS" charset="0"/>
                <a:ea typeface="Trebuchet MS" charset="0"/>
                <a:cs typeface="Trebuchet MS" charset="0"/>
              </a:rPr>
              <a:t>The description </a:t>
            </a:r>
            <a:r>
              <a:rPr lang="en-US" sz="3000" dirty="0">
                <a:latin typeface="Trebuchet MS" charset="0"/>
                <a:ea typeface="Trebuchet MS" charset="0"/>
                <a:cs typeface="Trebuchet MS" charset="0"/>
              </a:rPr>
              <a:t>of each dataset should contain information about the origin of that data</a:t>
            </a:r>
            <a:r>
              <a:rPr lang="en-US" sz="3000" dirty="0" smtClean="0">
                <a:latin typeface="Trebuchet MS" charset="0"/>
                <a:ea typeface="Trebuchet MS" charset="0"/>
                <a:cs typeface="Trebuchet MS" charset="0"/>
              </a:rPr>
              <a:t>.</a:t>
            </a:r>
            <a:endParaRPr lang="en-US" sz="3000" dirty="0">
              <a:latin typeface="Trebuchet MS" charset="0"/>
              <a:ea typeface="Trebuchet MS" charset="0"/>
              <a:cs typeface="Trebuchet MS" charset="0"/>
            </a:endParaRPr>
          </a:p>
        </p:txBody>
      </p:sp>
      <p:sp>
        <p:nvSpPr>
          <p:cNvPr id="16" name="TextBox 15"/>
          <p:cNvSpPr txBox="1"/>
          <p:nvPr/>
        </p:nvSpPr>
        <p:spPr>
          <a:xfrm>
            <a:off x="17265854" y="30629199"/>
            <a:ext cx="9919856" cy="6093976"/>
          </a:xfrm>
          <a:prstGeom prst="rect">
            <a:avLst/>
          </a:prstGeom>
          <a:noFill/>
        </p:spPr>
        <p:txBody>
          <a:bodyPr wrap="square" rtlCol="0">
            <a:spAutoFit/>
          </a:bodyPr>
          <a:lstStyle/>
          <a:p>
            <a:pPr marL="457200" indent="-457200">
              <a:buFont typeface="Arial"/>
              <a:buChar char="•"/>
            </a:pPr>
            <a:r>
              <a:rPr lang="en-US" sz="3000" dirty="0">
                <a:latin typeface="Trebuchet MS" charset="0"/>
                <a:ea typeface="Trebuchet MS" charset="0"/>
                <a:cs typeface="Trebuchet MS" charset="0"/>
              </a:rPr>
              <a:t>The “junk” items here are the people </a:t>
            </a:r>
            <a:r>
              <a:rPr lang="en-US" sz="3000" dirty="0" smtClean="0">
                <a:latin typeface="Trebuchet MS" charset="0"/>
                <a:ea typeface="Trebuchet MS" charset="0"/>
                <a:cs typeface="Trebuchet MS" charset="0"/>
              </a:rPr>
              <a:t>icons, which represent the flow of people migrating into Arlington County from surrounding areas in 2012. </a:t>
            </a:r>
          </a:p>
          <a:p>
            <a:pPr marL="457200" indent="-457200">
              <a:buFont typeface="Arial"/>
              <a:buChar char="•"/>
            </a:pPr>
            <a:r>
              <a:rPr lang="en-US" sz="3000" dirty="0" smtClean="0">
                <a:latin typeface="Trebuchet MS" charset="0"/>
                <a:ea typeface="Trebuchet MS" charset="0"/>
                <a:cs typeface="Trebuchet MS" charset="0"/>
              </a:rPr>
              <a:t>Although </a:t>
            </a:r>
            <a:r>
              <a:rPr lang="en-US" sz="3000" dirty="0">
                <a:latin typeface="Trebuchet MS" charset="0"/>
                <a:ea typeface="Trebuchet MS" charset="0"/>
                <a:cs typeface="Trebuchet MS" charset="0"/>
              </a:rPr>
              <a:t>the number of people coming from DC is more than 13 times the amount of people coming from Prince Georges County, there are only 4 person icons to represent that difference. </a:t>
            </a:r>
            <a:r>
              <a:rPr lang="en-US" sz="3000" dirty="0" smtClean="0">
                <a:latin typeface="Trebuchet MS" charset="0"/>
                <a:ea typeface="Trebuchet MS" charset="0"/>
                <a:cs typeface="Trebuchet MS" charset="0"/>
              </a:rPr>
              <a:t>This </a:t>
            </a:r>
            <a:r>
              <a:rPr lang="en-US" sz="3000" dirty="0">
                <a:latin typeface="Trebuchet MS" charset="0"/>
                <a:ea typeface="Trebuchet MS" charset="0"/>
                <a:cs typeface="Trebuchet MS" charset="0"/>
              </a:rPr>
              <a:t>misleads the </a:t>
            </a:r>
            <a:r>
              <a:rPr lang="en-US" sz="3000" dirty="0" smtClean="0">
                <a:latin typeface="Trebuchet MS" charset="0"/>
                <a:ea typeface="Trebuchet MS" charset="0"/>
                <a:cs typeface="Trebuchet MS" charset="0"/>
              </a:rPr>
              <a:t>viewer. </a:t>
            </a:r>
          </a:p>
          <a:p>
            <a:pPr marL="457200" indent="-457200">
              <a:buFont typeface="Arial"/>
              <a:buChar char="•"/>
            </a:pPr>
            <a:r>
              <a:rPr lang="en-US" sz="3000" dirty="0" smtClean="0">
                <a:latin typeface="Trebuchet MS" charset="0"/>
                <a:ea typeface="Trebuchet MS" charset="0"/>
                <a:cs typeface="Trebuchet MS" charset="0"/>
              </a:rPr>
              <a:t>Better </a:t>
            </a:r>
            <a:r>
              <a:rPr lang="en-US" sz="3000" dirty="0">
                <a:latin typeface="Trebuchet MS" charset="0"/>
                <a:ea typeface="Trebuchet MS" charset="0"/>
                <a:cs typeface="Trebuchet MS" charset="0"/>
              </a:rPr>
              <a:t>options would be to remove the people and make the numbers more prominent, or to have a legend indicating how many people each person icon </a:t>
            </a:r>
            <a:r>
              <a:rPr lang="en-US" sz="3000" dirty="0" smtClean="0">
                <a:latin typeface="Trebuchet MS" charset="0"/>
                <a:ea typeface="Trebuchet MS" charset="0"/>
                <a:cs typeface="Trebuchet MS" charset="0"/>
              </a:rPr>
              <a:t>represents. </a:t>
            </a:r>
            <a:endParaRPr lang="en-US" sz="3000" dirty="0">
              <a:latin typeface="Trebuchet MS" charset="0"/>
              <a:ea typeface="Trebuchet MS" charset="0"/>
              <a:cs typeface="Trebuchet MS" charset="0"/>
            </a:endParaRPr>
          </a:p>
          <a:p>
            <a:endParaRPr lang="en-US" sz="3000" dirty="0">
              <a:latin typeface="Trebuchet MS" charset="0"/>
              <a:ea typeface="Trebuchet MS" charset="0"/>
              <a:cs typeface="Trebuchet MS" charset="0"/>
            </a:endParaRPr>
          </a:p>
        </p:txBody>
      </p:sp>
      <p:sp>
        <p:nvSpPr>
          <p:cNvPr id="23" name="TextBox 22"/>
          <p:cNvSpPr txBox="1"/>
          <p:nvPr/>
        </p:nvSpPr>
        <p:spPr>
          <a:xfrm>
            <a:off x="2867200" y="5314162"/>
            <a:ext cx="5038550" cy="1092607"/>
          </a:xfrm>
          <a:prstGeom prst="rect">
            <a:avLst/>
          </a:prstGeom>
          <a:noFill/>
        </p:spPr>
        <p:txBody>
          <a:bodyPr wrap="square" rtlCol="0">
            <a:spAutoFit/>
          </a:bodyPr>
          <a:lstStyle/>
          <a:p>
            <a:r>
              <a:rPr lang="en-US" sz="6500" dirty="0" smtClean="0">
                <a:latin typeface="Raleway Medium" charset="0"/>
                <a:ea typeface="Raleway Medium" charset="0"/>
                <a:cs typeface="Raleway Medium" charset="0"/>
              </a:rPr>
              <a:t>Goals </a:t>
            </a:r>
            <a:endParaRPr lang="en-US" sz="6500" dirty="0">
              <a:latin typeface="Raleway Medium" charset="0"/>
              <a:ea typeface="Raleway Medium" charset="0"/>
              <a:cs typeface="Raleway Medium" charset="0"/>
            </a:endParaRPr>
          </a:p>
        </p:txBody>
      </p:sp>
      <p:sp>
        <p:nvSpPr>
          <p:cNvPr id="24" name="TextBox 23"/>
          <p:cNvSpPr txBox="1"/>
          <p:nvPr/>
        </p:nvSpPr>
        <p:spPr>
          <a:xfrm>
            <a:off x="17466185" y="22506490"/>
            <a:ext cx="8216480" cy="1092607"/>
          </a:xfrm>
          <a:prstGeom prst="rect">
            <a:avLst/>
          </a:prstGeom>
          <a:noFill/>
        </p:spPr>
        <p:txBody>
          <a:bodyPr wrap="none" rtlCol="0">
            <a:spAutoFit/>
          </a:bodyPr>
          <a:lstStyle/>
          <a:p>
            <a:r>
              <a:rPr lang="en-US" sz="6500" dirty="0" smtClean="0">
                <a:latin typeface="Raleway Medium" charset="0"/>
                <a:ea typeface="Raleway Medium" charset="0"/>
                <a:cs typeface="Raleway Medium" charset="0"/>
              </a:rPr>
              <a:t>Data Documentation</a:t>
            </a:r>
            <a:endParaRPr lang="en-US" sz="6500" dirty="0"/>
          </a:p>
        </p:txBody>
      </p:sp>
      <p:pic>
        <p:nvPicPr>
          <p:cNvPr id="25" name="Picture 2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675592" y="22761503"/>
            <a:ext cx="15495932" cy="1866671"/>
          </a:xfrm>
          <a:prstGeom prst="rect">
            <a:avLst/>
          </a:prstGeom>
        </p:spPr>
      </p:pic>
      <p:sp>
        <p:nvSpPr>
          <p:cNvPr id="26" name="TextBox 25"/>
          <p:cNvSpPr txBox="1"/>
          <p:nvPr/>
        </p:nvSpPr>
        <p:spPr>
          <a:xfrm>
            <a:off x="17273548" y="13875240"/>
            <a:ext cx="5394682" cy="1092607"/>
          </a:xfrm>
          <a:prstGeom prst="rect">
            <a:avLst/>
          </a:prstGeom>
          <a:noFill/>
        </p:spPr>
        <p:txBody>
          <a:bodyPr wrap="none" rtlCol="0">
            <a:spAutoFit/>
          </a:bodyPr>
          <a:lstStyle/>
          <a:p>
            <a:r>
              <a:rPr lang="en-US" sz="6500" dirty="0" smtClean="0">
                <a:latin typeface="Raleway Medium" charset="0"/>
                <a:ea typeface="Raleway Medium" charset="0"/>
                <a:cs typeface="Raleway Medium" charset="0"/>
              </a:rPr>
              <a:t>Data Tidiness</a:t>
            </a:r>
            <a:endParaRPr lang="en-US" sz="6500" dirty="0"/>
          </a:p>
        </p:txBody>
      </p:sp>
      <p:pic>
        <p:nvPicPr>
          <p:cNvPr id="27" name="Picture 2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675592" y="14168065"/>
            <a:ext cx="15495932" cy="1866671"/>
          </a:xfrm>
          <a:prstGeom prst="rect">
            <a:avLst/>
          </a:prstGeom>
        </p:spPr>
      </p:pic>
      <p:sp>
        <p:nvSpPr>
          <p:cNvPr id="28" name="TextBox 27"/>
          <p:cNvSpPr txBox="1"/>
          <p:nvPr/>
        </p:nvSpPr>
        <p:spPr>
          <a:xfrm>
            <a:off x="17273548" y="9316792"/>
            <a:ext cx="7360205" cy="1092607"/>
          </a:xfrm>
          <a:prstGeom prst="rect">
            <a:avLst/>
          </a:prstGeom>
          <a:noFill/>
        </p:spPr>
        <p:txBody>
          <a:bodyPr wrap="square" rtlCol="0">
            <a:spAutoFit/>
          </a:bodyPr>
          <a:lstStyle/>
          <a:p>
            <a:r>
              <a:rPr lang="en-US" sz="6500" smtClean="0">
                <a:latin typeface="Raleway Medium" charset="0"/>
                <a:ea typeface="Raleway Medium" charset="0"/>
                <a:cs typeface="Raleway Medium" charset="0"/>
              </a:rPr>
              <a:t>Website Design</a:t>
            </a:r>
            <a:endParaRPr lang="en-US" sz="6500" dirty="0"/>
          </a:p>
        </p:txBody>
      </p:sp>
      <p:pic>
        <p:nvPicPr>
          <p:cNvPr id="29" name="Picture 2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729161" y="9518905"/>
            <a:ext cx="15495932" cy="1866671"/>
          </a:xfrm>
          <a:prstGeom prst="rect">
            <a:avLst/>
          </a:prstGeom>
        </p:spPr>
      </p:pic>
      <p:sp>
        <p:nvSpPr>
          <p:cNvPr id="30" name="TextBox 29"/>
          <p:cNvSpPr txBox="1"/>
          <p:nvPr/>
        </p:nvSpPr>
        <p:spPr>
          <a:xfrm>
            <a:off x="2551997" y="9316792"/>
            <a:ext cx="2980303" cy="1092607"/>
          </a:xfrm>
          <a:prstGeom prst="rect">
            <a:avLst/>
          </a:prstGeom>
          <a:noFill/>
        </p:spPr>
        <p:txBody>
          <a:bodyPr wrap="none" rtlCol="0">
            <a:spAutoFit/>
          </a:bodyPr>
          <a:lstStyle/>
          <a:p>
            <a:r>
              <a:rPr lang="en-US" sz="6500" dirty="0" smtClean="0">
                <a:latin typeface="Raleway Medium" charset="0"/>
                <a:ea typeface="Raleway Medium" charset="0"/>
                <a:cs typeface="Raleway Medium" charset="0"/>
              </a:rPr>
              <a:t>Criteria</a:t>
            </a:r>
            <a:endParaRPr lang="en-US" sz="6500" dirty="0"/>
          </a:p>
        </p:txBody>
      </p:sp>
      <p:pic>
        <p:nvPicPr>
          <p:cNvPr id="31" name="Picture 3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81165" y="9529125"/>
            <a:ext cx="15495932" cy="1866671"/>
          </a:xfrm>
          <a:prstGeom prst="rect">
            <a:avLst/>
          </a:prstGeom>
        </p:spPr>
      </p:pic>
      <p:sp>
        <p:nvSpPr>
          <p:cNvPr id="33" name="TextBox 32"/>
          <p:cNvSpPr txBox="1"/>
          <p:nvPr/>
        </p:nvSpPr>
        <p:spPr>
          <a:xfrm>
            <a:off x="17338456" y="29157120"/>
            <a:ext cx="7053278" cy="1092607"/>
          </a:xfrm>
          <a:prstGeom prst="rect">
            <a:avLst/>
          </a:prstGeom>
          <a:noFill/>
        </p:spPr>
        <p:txBody>
          <a:bodyPr wrap="none" rtlCol="0">
            <a:spAutoFit/>
          </a:bodyPr>
          <a:lstStyle/>
          <a:p>
            <a:r>
              <a:rPr lang="en-US" sz="6500" dirty="0" smtClean="0">
                <a:latin typeface="Raleway Medium" charset="0"/>
                <a:ea typeface="Raleway Medium" charset="0"/>
                <a:cs typeface="Raleway Medium" charset="0"/>
              </a:rPr>
              <a:t>Data Visualization</a:t>
            </a:r>
            <a:endParaRPr lang="en-US" sz="6500" dirty="0"/>
          </a:p>
        </p:txBody>
      </p:sp>
      <p:pic>
        <p:nvPicPr>
          <p:cNvPr id="34" name="Picture 3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748194" y="29412133"/>
            <a:ext cx="15495932" cy="1866671"/>
          </a:xfrm>
          <a:prstGeom prst="rect">
            <a:avLst/>
          </a:prstGeom>
        </p:spPr>
      </p:pic>
      <p:sp>
        <p:nvSpPr>
          <p:cNvPr id="36" name="TextBox 35"/>
          <p:cNvSpPr txBox="1"/>
          <p:nvPr/>
        </p:nvSpPr>
        <p:spPr>
          <a:xfrm>
            <a:off x="17338456" y="36299691"/>
            <a:ext cx="4665060" cy="1092607"/>
          </a:xfrm>
          <a:prstGeom prst="rect">
            <a:avLst/>
          </a:prstGeom>
          <a:noFill/>
        </p:spPr>
        <p:txBody>
          <a:bodyPr wrap="none" rtlCol="0">
            <a:spAutoFit/>
          </a:bodyPr>
          <a:lstStyle/>
          <a:p>
            <a:r>
              <a:rPr lang="en-US" sz="6500" dirty="0" smtClean="0">
                <a:latin typeface="Raleway Medium" charset="0"/>
                <a:ea typeface="Raleway Medium" charset="0"/>
                <a:cs typeface="Raleway Medium" charset="0"/>
              </a:rPr>
              <a:t>References</a:t>
            </a:r>
            <a:endParaRPr lang="en-US" sz="6500" dirty="0"/>
          </a:p>
        </p:txBody>
      </p:sp>
      <p:pic>
        <p:nvPicPr>
          <p:cNvPr id="37" name="Picture 3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748194" y="36554704"/>
            <a:ext cx="15495932" cy="1866671"/>
          </a:xfrm>
          <a:prstGeom prst="rect">
            <a:avLst/>
          </a:prstGeom>
        </p:spPr>
      </p:pic>
      <p:sp>
        <p:nvSpPr>
          <p:cNvPr id="17" name="TextBox 16"/>
          <p:cNvSpPr txBox="1"/>
          <p:nvPr/>
        </p:nvSpPr>
        <p:spPr>
          <a:xfrm>
            <a:off x="17338456" y="37647311"/>
            <a:ext cx="17272523" cy="2677656"/>
          </a:xfrm>
          <a:prstGeom prst="rect">
            <a:avLst/>
          </a:prstGeom>
          <a:noFill/>
        </p:spPr>
        <p:txBody>
          <a:bodyPr wrap="square" rtlCol="0">
            <a:spAutoFit/>
          </a:bodyPr>
          <a:lstStyle/>
          <a:p>
            <a:r>
              <a:rPr lang="en-US" sz="2400" dirty="0">
                <a:latin typeface="Trebuchet MS" charset="0"/>
                <a:ea typeface="Trebuchet MS" charset="0"/>
                <a:cs typeface="Trebuchet MS" charset="0"/>
              </a:rPr>
              <a:t>[1] Open Data Portal Requirements. (</a:t>
            </a:r>
            <a:r>
              <a:rPr lang="en-US" sz="2400" dirty="0" err="1">
                <a:latin typeface="Trebuchet MS" charset="0"/>
                <a:ea typeface="Trebuchet MS" charset="0"/>
                <a:cs typeface="Trebuchet MS" charset="0"/>
              </a:rPr>
              <a:t>n.d.</a:t>
            </a:r>
            <a:r>
              <a:rPr lang="en-US" sz="2400" dirty="0">
                <a:latin typeface="Trebuchet MS" charset="0"/>
                <a:ea typeface="Trebuchet MS" charset="0"/>
                <a:cs typeface="Trebuchet MS" charset="0"/>
              </a:rPr>
              <a:t>). Retrieved June 03, 2016, from http://labs.centerforgov.org/open-data-portal-requirements</a:t>
            </a:r>
            <a:r>
              <a:rPr lang="en-US" sz="2400" dirty="0">
                <a:latin typeface="Trebuchet MS" charset="0"/>
                <a:ea typeface="Trebuchet MS" charset="0"/>
                <a:cs typeface="Trebuchet MS" charset="0"/>
                <a:hlinkClick r:id="rId7"/>
              </a:rPr>
              <a:t>/</a:t>
            </a:r>
            <a:r>
              <a:rPr lang="en-US" sz="2400" dirty="0">
                <a:latin typeface="Trebuchet MS" charset="0"/>
                <a:ea typeface="Trebuchet MS" charset="0"/>
                <a:cs typeface="Trebuchet MS" charset="0"/>
              </a:rPr>
              <a:t> </a:t>
            </a:r>
            <a:br>
              <a:rPr lang="en-US" sz="2400" dirty="0">
                <a:latin typeface="Trebuchet MS" charset="0"/>
                <a:ea typeface="Trebuchet MS" charset="0"/>
                <a:cs typeface="Trebuchet MS" charset="0"/>
              </a:rPr>
            </a:br>
            <a:r>
              <a:rPr lang="en-US" sz="2400" dirty="0">
                <a:latin typeface="Trebuchet MS" charset="0"/>
                <a:ea typeface="Trebuchet MS" charset="0"/>
                <a:cs typeface="Trebuchet MS" charset="0"/>
              </a:rPr>
              <a:t>[2] Open Data Policy Guidelines. (</a:t>
            </a:r>
            <a:r>
              <a:rPr lang="en-US" sz="2400" dirty="0" err="1">
                <a:latin typeface="Trebuchet MS" charset="0"/>
                <a:ea typeface="Trebuchet MS" charset="0"/>
                <a:cs typeface="Trebuchet MS" charset="0"/>
              </a:rPr>
              <a:t>n.d.</a:t>
            </a:r>
            <a:r>
              <a:rPr lang="en-US" sz="2400" dirty="0">
                <a:latin typeface="Trebuchet MS" charset="0"/>
                <a:ea typeface="Trebuchet MS" charset="0"/>
                <a:cs typeface="Trebuchet MS" charset="0"/>
              </a:rPr>
              <a:t>). Retrieved June 03, 2016, </a:t>
            </a:r>
            <a:r>
              <a:rPr lang="en-US" sz="2400" dirty="0" smtClean="0">
                <a:latin typeface="Trebuchet MS" charset="0"/>
                <a:ea typeface="Trebuchet MS" charset="0"/>
                <a:cs typeface="Trebuchet MS" charset="0"/>
              </a:rPr>
              <a:t>from http</a:t>
            </a:r>
            <a:r>
              <a:rPr lang="en-US" sz="2400" dirty="0">
                <a:latin typeface="Trebuchet MS" charset="0"/>
                <a:ea typeface="Trebuchet MS" charset="0"/>
                <a:cs typeface="Trebuchet MS" charset="0"/>
              </a:rPr>
              <a:t>://sunlightfoundation.com/opendataguidelines/</a:t>
            </a:r>
            <a:br>
              <a:rPr lang="en-US" sz="2400" dirty="0">
                <a:latin typeface="Trebuchet MS" charset="0"/>
                <a:ea typeface="Trebuchet MS" charset="0"/>
                <a:cs typeface="Trebuchet MS" charset="0"/>
              </a:rPr>
            </a:br>
            <a:r>
              <a:rPr lang="en-US" sz="2400" dirty="0">
                <a:latin typeface="Trebuchet MS" charset="0"/>
                <a:ea typeface="Trebuchet MS" charset="0"/>
                <a:cs typeface="Trebuchet MS" charset="0"/>
              </a:rPr>
              <a:t>[3] City Open Data Policies. (</a:t>
            </a:r>
            <a:r>
              <a:rPr lang="en-US" sz="2400" dirty="0" err="1">
                <a:latin typeface="Trebuchet MS" charset="0"/>
                <a:ea typeface="Trebuchet MS" charset="0"/>
                <a:cs typeface="Trebuchet MS" charset="0"/>
              </a:rPr>
              <a:t>n.d.</a:t>
            </a:r>
            <a:r>
              <a:rPr lang="en-US" sz="2400" dirty="0">
                <a:latin typeface="Trebuchet MS" charset="0"/>
                <a:ea typeface="Trebuchet MS" charset="0"/>
                <a:cs typeface="Trebuchet MS" charset="0"/>
              </a:rPr>
              <a:t>). Retrieved June 3, 2016, from http://www.nlc.org/Documents/Find City Solutions/City-Solutions-and-Applied-Research/CSAR Open Data Report </a:t>
            </a:r>
            <a:r>
              <a:rPr lang="en-US" sz="2400" dirty="0" err="1">
                <a:latin typeface="Trebuchet MS" charset="0"/>
                <a:ea typeface="Trebuchet MS" charset="0"/>
                <a:cs typeface="Trebuchet MS" charset="0"/>
              </a:rPr>
              <a:t>FINAL.pdf</a:t>
            </a:r>
            <a:r>
              <a:rPr lang="en-US" sz="2400" dirty="0">
                <a:latin typeface="Trebuchet MS" charset="0"/>
                <a:ea typeface="Trebuchet MS" charset="0"/>
                <a:cs typeface="Trebuchet MS" charset="0"/>
              </a:rPr>
              <a:t/>
            </a:r>
            <a:br>
              <a:rPr lang="en-US" sz="2400" dirty="0">
                <a:latin typeface="Trebuchet MS" charset="0"/>
                <a:ea typeface="Trebuchet MS" charset="0"/>
                <a:cs typeface="Trebuchet MS" charset="0"/>
              </a:rPr>
            </a:br>
            <a:r>
              <a:rPr lang="en-US" sz="2400" dirty="0">
                <a:latin typeface="Trebuchet MS" charset="0"/>
                <a:ea typeface="Trebuchet MS" charset="0"/>
                <a:cs typeface="Trebuchet MS" charset="0"/>
              </a:rPr>
              <a:t>[4] Lynch, P. and Horton, S. (2011) Web Style Guide Retrieved from http://webstyleguide.com/wsg3/4-interface-design/3-interface-</a:t>
            </a:r>
            <a:r>
              <a:rPr lang="en-US" sz="2400" dirty="0" smtClean="0">
                <a:latin typeface="Trebuchet MS" charset="0"/>
                <a:ea typeface="Trebuchet MS" charset="0"/>
                <a:cs typeface="Trebuchet MS" charset="0"/>
              </a:rPr>
              <a:t>design.html</a:t>
            </a:r>
            <a:endParaRPr lang="en-US" sz="2400" dirty="0">
              <a:latin typeface="Trebuchet MS" charset="0"/>
              <a:ea typeface="Trebuchet MS" charset="0"/>
              <a:cs typeface="Trebuchet MS" charset="0"/>
            </a:endParaRPr>
          </a:p>
        </p:txBody>
      </p:sp>
      <p:cxnSp>
        <p:nvCxnSpPr>
          <p:cNvPr id="20" name="Straight Arrow Connector 19"/>
          <p:cNvCxnSpPr/>
          <p:nvPr/>
        </p:nvCxnSpPr>
        <p:spPr>
          <a:xfrm>
            <a:off x="29287740" y="11401289"/>
            <a:ext cx="2298512" cy="0"/>
          </a:xfrm>
          <a:prstGeom prst="straightConnector1">
            <a:avLst/>
          </a:prstGeom>
          <a:ln w="8890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527774" y="10677479"/>
            <a:ext cx="4776539" cy="707886"/>
          </a:xfrm>
          <a:prstGeom prst="rect">
            <a:avLst/>
          </a:prstGeom>
          <a:noFill/>
        </p:spPr>
        <p:txBody>
          <a:bodyPr wrap="square" rtlCol="0">
            <a:spAutoFit/>
          </a:bodyPr>
          <a:lstStyle/>
          <a:p>
            <a:r>
              <a:rPr lang="en-US" sz="4000" b="1" dirty="0" smtClean="0">
                <a:latin typeface="Trebuchet MS" panose="020B0603020202020204" pitchFamily="34" charset="0"/>
              </a:rPr>
              <a:t>USER INTERFACE</a:t>
            </a:r>
            <a:endParaRPr lang="en-US" sz="4000" b="1" dirty="0">
              <a:latin typeface="Trebuchet MS" panose="020B0603020202020204" pitchFamily="34" charset="0"/>
            </a:endParaRPr>
          </a:p>
        </p:txBody>
      </p:sp>
      <p:sp>
        <p:nvSpPr>
          <p:cNvPr id="44" name="TextBox 43"/>
          <p:cNvSpPr txBox="1"/>
          <p:nvPr/>
        </p:nvSpPr>
        <p:spPr>
          <a:xfrm>
            <a:off x="2481786" y="22737460"/>
            <a:ext cx="4776539" cy="707886"/>
          </a:xfrm>
          <a:prstGeom prst="rect">
            <a:avLst/>
          </a:prstGeom>
          <a:noFill/>
        </p:spPr>
        <p:txBody>
          <a:bodyPr wrap="square" rtlCol="0">
            <a:spAutoFit/>
          </a:bodyPr>
          <a:lstStyle/>
          <a:p>
            <a:r>
              <a:rPr lang="en-US" sz="4000" b="1" dirty="0" smtClean="0">
                <a:latin typeface="Trebuchet MS" panose="020B0603020202020204" pitchFamily="34" charset="0"/>
              </a:rPr>
              <a:t>DATA</a:t>
            </a:r>
            <a:endParaRPr lang="en-US" sz="4000" b="1" dirty="0">
              <a:latin typeface="Trebuchet MS" panose="020B0603020202020204" pitchFamily="34" charset="0"/>
            </a:endParaRPr>
          </a:p>
        </p:txBody>
      </p:sp>
      <p:sp>
        <p:nvSpPr>
          <p:cNvPr id="32" name="TextBox 31"/>
          <p:cNvSpPr txBox="1"/>
          <p:nvPr/>
        </p:nvSpPr>
        <p:spPr>
          <a:xfrm>
            <a:off x="2527774" y="11734802"/>
            <a:ext cx="4201120" cy="707886"/>
          </a:xfrm>
          <a:prstGeom prst="rect">
            <a:avLst/>
          </a:prstGeom>
          <a:noFill/>
        </p:spPr>
        <p:txBody>
          <a:bodyPr wrap="square" rtlCol="0">
            <a:spAutoFit/>
          </a:bodyPr>
          <a:lstStyle/>
          <a:p>
            <a:r>
              <a:rPr lang="en-US" sz="4000" dirty="0" smtClean="0">
                <a:latin typeface="Trebuchet MS" panose="020B0603020202020204" pitchFamily="34" charset="0"/>
              </a:rPr>
              <a:t>Organization</a:t>
            </a:r>
          </a:p>
        </p:txBody>
      </p:sp>
      <p:sp>
        <p:nvSpPr>
          <p:cNvPr id="35" name="TextBox 34"/>
          <p:cNvSpPr txBox="1"/>
          <p:nvPr/>
        </p:nvSpPr>
        <p:spPr>
          <a:xfrm>
            <a:off x="2524247" y="12405856"/>
            <a:ext cx="4153847" cy="1569660"/>
          </a:xfrm>
          <a:prstGeom prst="rect">
            <a:avLst/>
          </a:prstGeom>
          <a:noFill/>
        </p:spPr>
        <p:txBody>
          <a:bodyPr wrap="square" rtlCol="0">
            <a:spAutoFit/>
          </a:bodyPr>
          <a:lstStyle/>
          <a:p>
            <a:r>
              <a:rPr lang="en-US" sz="3200" i="1" dirty="0" smtClean="0">
                <a:latin typeface="Trebuchet MS" panose="020B0603020202020204" pitchFamily="34" charset="0"/>
              </a:rPr>
              <a:t>The </a:t>
            </a:r>
            <a:r>
              <a:rPr lang="en-US" sz="3200" i="1" dirty="0">
                <a:latin typeface="Trebuchet MS" panose="020B0603020202020204" pitchFamily="34" charset="0"/>
              </a:rPr>
              <a:t>physical set </a:t>
            </a:r>
            <a:r>
              <a:rPr lang="en-US" sz="3200" i="1" dirty="0" smtClean="0">
                <a:latin typeface="Trebuchet MS" panose="020B0603020202020204" pitchFamily="34" charset="0"/>
              </a:rPr>
              <a:t> </a:t>
            </a:r>
            <a:r>
              <a:rPr lang="en-US" sz="3200" i="1" dirty="0">
                <a:latin typeface="Trebuchet MS" panose="020B0603020202020204" pitchFamily="34" charset="0"/>
              </a:rPr>
              <a:t>up of the structure of the </a:t>
            </a:r>
            <a:r>
              <a:rPr lang="en-US" sz="3200" i="1" dirty="0" smtClean="0">
                <a:latin typeface="Trebuchet MS" panose="020B0603020202020204" pitchFamily="34" charset="0"/>
              </a:rPr>
              <a:t>website.</a:t>
            </a:r>
            <a:endParaRPr lang="en-US" sz="3200" i="1" dirty="0">
              <a:latin typeface="Trebuchet MS" panose="020B0603020202020204" pitchFamily="34" charset="0"/>
            </a:endParaRPr>
          </a:p>
        </p:txBody>
      </p:sp>
      <p:sp>
        <p:nvSpPr>
          <p:cNvPr id="48" name="TextBox 47"/>
          <p:cNvSpPr txBox="1"/>
          <p:nvPr/>
        </p:nvSpPr>
        <p:spPr>
          <a:xfrm>
            <a:off x="2578574" y="14861129"/>
            <a:ext cx="4201120" cy="707886"/>
          </a:xfrm>
          <a:prstGeom prst="rect">
            <a:avLst/>
          </a:prstGeom>
          <a:noFill/>
        </p:spPr>
        <p:txBody>
          <a:bodyPr wrap="square" rtlCol="0">
            <a:spAutoFit/>
          </a:bodyPr>
          <a:lstStyle/>
          <a:p>
            <a:r>
              <a:rPr lang="en-US" sz="4000" dirty="0" smtClean="0">
                <a:latin typeface="Trebuchet MS" panose="020B0603020202020204" pitchFamily="34" charset="0"/>
              </a:rPr>
              <a:t>Navigation</a:t>
            </a:r>
          </a:p>
        </p:txBody>
      </p:sp>
      <p:sp>
        <p:nvSpPr>
          <p:cNvPr id="49" name="TextBox 48"/>
          <p:cNvSpPr txBox="1"/>
          <p:nvPr/>
        </p:nvSpPr>
        <p:spPr>
          <a:xfrm>
            <a:off x="2545821" y="15499323"/>
            <a:ext cx="4132273" cy="2554545"/>
          </a:xfrm>
          <a:prstGeom prst="rect">
            <a:avLst/>
          </a:prstGeom>
          <a:noFill/>
        </p:spPr>
        <p:txBody>
          <a:bodyPr wrap="square" rtlCol="0">
            <a:spAutoFit/>
          </a:bodyPr>
          <a:lstStyle/>
          <a:p>
            <a:r>
              <a:rPr lang="en-US" sz="3200" i="1" dirty="0" smtClean="0">
                <a:latin typeface="Trebuchet MS" panose="020B0603020202020204" pitchFamily="34" charset="0"/>
              </a:rPr>
              <a:t>The interactive elements of the website guiding the user through the database.</a:t>
            </a:r>
            <a:endParaRPr lang="en-US" sz="3200" i="1" dirty="0">
              <a:latin typeface="Trebuchet MS" panose="020B0603020202020204" pitchFamily="34" charset="0"/>
            </a:endParaRPr>
          </a:p>
        </p:txBody>
      </p:sp>
      <p:sp>
        <p:nvSpPr>
          <p:cNvPr id="50" name="TextBox 49"/>
          <p:cNvSpPr txBox="1"/>
          <p:nvPr/>
        </p:nvSpPr>
        <p:spPr>
          <a:xfrm>
            <a:off x="2578316" y="18380920"/>
            <a:ext cx="4201120" cy="707886"/>
          </a:xfrm>
          <a:prstGeom prst="rect">
            <a:avLst/>
          </a:prstGeom>
          <a:noFill/>
        </p:spPr>
        <p:txBody>
          <a:bodyPr wrap="square" rtlCol="0">
            <a:spAutoFit/>
          </a:bodyPr>
          <a:lstStyle/>
          <a:p>
            <a:r>
              <a:rPr lang="en-US" sz="4000" dirty="0" smtClean="0">
                <a:latin typeface="Trebuchet MS" panose="020B0603020202020204" pitchFamily="34" charset="0"/>
              </a:rPr>
              <a:t>Design </a:t>
            </a:r>
          </a:p>
        </p:txBody>
      </p:sp>
      <p:sp>
        <p:nvSpPr>
          <p:cNvPr id="51" name="TextBox 50"/>
          <p:cNvSpPr txBox="1"/>
          <p:nvPr/>
        </p:nvSpPr>
        <p:spPr>
          <a:xfrm>
            <a:off x="2481786" y="19148647"/>
            <a:ext cx="4246850" cy="1569660"/>
          </a:xfrm>
          <a:prstGeom prst="rect">
            <a:avLst/>
          </a:prstGeom>
          <a:noFill/>
        </p:spPr>
        <p:txBody>
          <a:bodyPr wrap="square" rtlCol="0">
            <a:spAutoFit/>
          </a:bodyPr>
          <a:lstStyle/>
          <a:p>
            <a:r>
              <a:rPr lang="en-US" sz="3200" i="1" dirty="0" smtClean="0">
                <a:latin typeface="Trebuchet MS" panose="020B0603020202020204" pitchFamily="34" charset="0"/>
              </a:rPr>
              <a:t>The visual elements of the website’s design and flow</a:t>
            </a:r>
            <a:endParaRPr lang="en-US" sz="3200" i="1" dirty="0">
              <a:latin typeface="Trebuchet MS" panose="020B0603020202020204" pitchFamily="34" charset="0"/>
            </a:endParaRPr>
          </a:p>
        </p:txBody>
      </p:sp>
      <p:cxnSp>
        <p:nvCxnSpPr>
          <p:cNvPr id="46" name="Straight Connector 45"/>
          <p:cNvCxnSpPr/>
          <p:nvPr/>
        </p:nvCxnSpPr>
        <p:spPr>
          <a:xfrm>
            <a:off x="2416471" y="14673642"/>
            <a:ext cx="13565133" cy="0"/>
          </a:xfrm>
          <a:prstGeom prst="line">
            <a:avLst/>
          </a:prstGeom>
          <a:ln>
            <a:solidFill>
              <a:srgbClr val="DFE7F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2476974" y="18199751"/>
            <a:ext cx="13565133" cy="0"/>
          </a:xfrm>
          <a:prstGeom prst="line">
            <a:avLst/>
          </a:prstGeom>
          <a:ln>
            <a:solidFill>
              <a:srgbClr val="DFE7F0"/>
            </a:solidFill>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7232307" y="28865957"/>
            <a:ext cx="8254749" cy="2862322"/>
          </a:xfrm>
          <a:prstGeom prst="rect">
            <a:avLst/>
          </a:prstGeom>
          <a:noFill/>
        </p:spPr>
        <p:txBody>
          <a:bodyPr wrap="square" rtlCol="0">
            <a:spAutoFit/>
          </a:bodyPr>
          <a:lstStyle/>
          <a:p>
            <a:pPr marL="457200" indent="-457200">
              <a:buFont typeface="Arial" panose="020B0604020202020204" pitchFamily="34" charset="0"/>
              <a:buChar char="•"/>
            </a:pPr>
            <a:r>
              <a:rPr lang="en-US" sz="3000" dirty="0">
                <a:latin typeface="Trebuchet MS" panose="020B0603020202020204" pitchFamily="34" charset="0"/>
              </a:rPr>
              <a:t>R</a:t>
            </a:r>
            <a:r>
              <a:rPr lang="en-US" sz="3000" dirty="0" smtClean="0">
                <a:latin typeface="Trebuchet MS" panose="020B0603020202020204" pitchFamily="34" charset="0"/>
              </a:rPr>
              <a:t>estrictions/licenses removed</a:t>
            </a:r>
          </a:p>
          <a:p>
            <a:pPr marL="457200" indent="-457200">
              <a:buFont typeface="Arial" panose="020B0604020202020204" pitchFamily="34" charset="0"/>
              <a:buChar char="•"/>
            </a:pPr>
            <a:r>
              <a:rPr lang="en-US" sz="3000" dirty="0">
                <a:latin typeface="Trebuchet MS" panose="020B0603020202020204" pitchFamily="34" charset="0"/>
              </a:rPr>
              <a:t>H</a:t>
            </a:r>
            <a:r>
              <a:rPr lang="en-US" sz="3000" dirty="0" smtClean="0">
                <a:latin typeface="Trebuchet MS" panose="020B0603020202020204" pitchFamily="34" charset="0"/>
              </a:rPr>
              <a:t>eaders give full explanation of dataset</a:t>
            </a:r>
          </a:p>
          <a:p>
            <a:pPr marL="457200" indent="-457200">
              <a:buFont typeface="Arial" panose="020B0604020202020204" pitchFamily="34" charset="0"/>
              <a:buChar char="•"/>
            </a:pPr>
            <a:r>
              <a:rPr lang="en-US" sz="3000" dirty="0" smtClean="0">
                <a:latin typeface="Trebuchet MS" panose="020B0603020202020204" pitchFamily="34" charset="0"/>
              </a:rPr>
              <a:t>Personally Identifiable Information (PIIs) are accounted for</a:t>
            </a:r>
          </a:p>
          <a:p>
            <a:pPr marL="457200" indent="-457200">
              <a:buFont typeface="Arial" panose="020B0604020202020204" pitchFamily="34" charset="0"/>
              <a:buChar char="•"/>
            </a:pPr>
            <a:r>
              <a:rPr lang="en-US" sz="3000" dirty="0" smtClean="0">
                <a:latin typeface="Trebuchet MS" panose="020B0603020202020204" pitchFamily="34" charset="0"/>
              </a:rPr>
              <a:t>Public APIs and code are available and usable</a:t>
            </a:r>
            <a:endParaRPr lang="en-US" sz="3000" dirty="0">
              <a:latin typeface="Trebuchet MS" panose="020B0603020202020204" pitchFamily="34" charset="0"/>
            </a:endParaRPr>
          </a:p>
        </p:txBody>
      </p:sp>
      <p:sp>
        <p:nvSpPr>
          <p:cNvPr id="55" name="TextBox 54"/>
          <p:cNvSpPr txBox="1"/>
          <p:nvPr/>
        </p:nvSpPr>
        <p:spPr>
          <a:xfrm>
            <a:off x="7159540" y="23784523"/>
            <a:ext cx="8447059" cy="4708981"/>
          </a:xfrm>
          <a:prstGeom prst="rect">
            <a:avLst/>
          </a:prstGeom>
          <a:noFill/>
        </p:spPr>
        <p:txBody>
          <a:bodyPr wrap="square" rtlCol="0">
            <a:spAutoFit/>
          </a:bodyPr>
          <a:lstStyle/>
          <a:p>
            <a:r>
              <a:rPr lang="en-US" sz="3000" dirty="0" smtClean="0">
                <a:latin typeface="Trebuchet MS" panose="020B0603020202020204" pitchFamily="34" charset="0"/>
              </a:rPr>
              <a:t>Each Variable forms a column</a:t>
            </a:r>
          </a:p>
          <a:p>
            <a:r>
              <a:rPr lang="en-US" sz="3000" dirty="0" smtClean="0">
                <a:latin typeface="Trebuchet MS" panose="020B0603020202020204" pitchFamily="34" charset="0"/>
              </a:rPr>
              <a:t>Each Observation forms a row</a:t>
            </a:r>
          </a:p>
          <a:p>
            <a:r>
              <a:rPr lang="en-US" sz="3000" dirty="0" smtClean="0">
                <a:latin typeface="Trebuchet MS" panose="020B0603020202020204" pitchFamily="34" charset="0"/>
              </a:rPr>
              <a:t>Common dataset tidiness tips:</a:t>
            </a:r>
          </a:p>
          <a:p>
            <a:pPr marL="457200" indent="-457200">
              <a:buFont typeface="Arial" panose="020B0604020202020204" pitchFamily="34" charset="0"/>
              <a:buChar char="•"/>
            </a:pPr>
            <a:r>
              <a:rPr lang="en-US" sz="3000" dirty="0">
                <a:latin typeface="Trebuchet MS" panose="020B0603020202020204" pitchFamily="34" charset="0"/>
              </a:rPr>
              <a:t>C</a:t>
            </a:r>
            <a:r>
              <a:rPr lang="en-US" sz="3000" dirty="0" smtClean="0">
                <a:latin typeface="Trebuchet MS" panose="020B0603020202020204" pitchFamily="34" charset="0"/>
              </a:rPr>
              <a:t>olumns represent variables not values; one column contains only one variable; variables are stored in only columns, not rows;</a:t>
            </a:r>
          </a:p>
          <a:p>
            <a:r>
              <a:rPr lang="en-US" sz="3000" dirty="0" smtClean="0">
                <a:latin typeface="Trebuchet MS" panose="020B0603020202020204" pitchFamily="34" charset="0"/>
              </a:rPr>
              <a:t>More tidy suggestions:</a:t>
            </a:r>
            <a:endParaRPr lang="en-US" sz="3000" dirty="0">
              <a:latin typeface="Trebuchet MS" panose="020B0603020202020204" pitchFamily="34" charset="0"/>
            </a:endParaRPr>
          </a:p>
          <a:p>
            <a:pPr marL="457200" indent="-457200">
              <a:buFont typeface="Arial" panose="020B0604020202020204" pitchFamily="34" charset="0"/>
              <a:buChar char="•"/>
            </a:pPr>
            <a:r>
              <a:rPr lang="en-US" sz="3000" dirty="0" smtClean="0">
                <a:latin typeface="Trebuchet MS" panose="020B0603020202020204" pitchFamily="34" charset="0"/>
              </a:rPr>
              <a:t>Keep units in column headers; make sure variables are internally consistent; format special data types in a consistent manner. </a:t>
            </a:r>
            <a:endParaRPr lang="en-US" sz="3000" dirty="0">
              <a:latin typeface="Trebuchet MS" panose="020B0603020202020204" pitchFamily="34" charset="0"/>
            </a:endParaRPr>
          </a:p>
        </p:txBody>
      </p:sp>
      <p:sp>
        <p:nvSpPr>
          <p:cNvPr id="58" name="TextBox 57"/>
          <p:cNvSpPr txBox="1"/>
          <p:nvPr/>
        </p:nvSpPr>
        <p:spPr>
          <a:xfrm>
            <a:off x="2557226" y="23664222"/>
            <a:ext cx="4201120" cy="707886"/>
          </a:xfrm>
          <a:prstGeom prst="rect">
            <a:avLst/>
          </a:prstGeom>
          <a:noFill/>
        </p:spPr>
        <p:txBody>
          <a:bodyPr wrap="square" rtlCol="0">
            <a:spAutoFit/>
          </a:bodyPr>
          <a:lstStyle/>
          <a:p>
            <a:r>
              <a:rPr lang="en-US" sz="4000" dirty="0" smtClean="0">
                <a:latin typeface="Trebuchet MS" panose="020B0603020202020204" pitchFamily="34" charset="0"/>
              </a:rPr>
              <a:t>Tidiness </a:t>
            </a:r>
          </a:p>
        </p:txBody>
      </p:sp>
      <p:sp>
        <p:nvSpPr>
          <p:cNvPr id="59" name="TextBox 58"/>
          <p:cNvSpPr txBox="1"/>
          <p:nvPr/>
        </p:nvSpPr>
        <p:spPr>
          <a:xfrm>
            <a:off x="2578574" y="24426764"/>
            <a:ext cx="4150062" cy="1569660"/>
          </a:xfrm>
          <a:prstGeom prst="rect">
            <a:avLst/>
          </a:prstGeom>
          <a:noFill/>
        </p:spPr>
        <p:txBody>
          <a:bodyPr wrap="square" rtlCol="0">
            <a:spAutoFit/>
          </a:bodyPr>
          <a:lstStyle/>
          <a:p>
            <a:r>
              <a:rPr lang="en-US" sz="3200" i="1" dirty="0" smtClean="0">
                <a:latin typeface="Trebuchet MS" panose="020B0603020202020204" pitchFamily="34" charset="0"/>
              </a:rPr>
              <a:t>The quality and usability of the datasets</a:t>
            </a:r>
            <a:endParaRPr lang="en-US" sz="3200" i="1" dirty="0">
              <a:latin typeface="Trebuchet MS" panose="020B0603020202020204" pitchFamily="34" charset="0"/>
            </a:endParaRPr>
          </a:p>
        </p:txBody>
      </p:sp>
      <p:sp>
        <p:nvSpPr>
          <p:cNvPr id="63" name="TextBox 62"/>
          <p:cNvSpPr txBox="1"/>
          <p:nvPr/>
        </p:nvSpPr>
        <p:spPr>
          <a:xfrm>
            <a:off x="2610773" y="28844706"/>
            <a:ext cx="3819200" cy="707886"/>
          </a:xfrm>
          <a:prstGeom prst="rect">
            <a:avLst/>
          </a:prstGeom>
          <a:noFill/>
        </p:spPr>
        <p:txBody>
          <a:bodyPr wrap="square" rtlCol="0">
            <a:spAutoFit/>
          </a:bodyPr>
          <a:lstStyle/>
          <a:p>
            <a:r>
              <a:rPr lang="en-US" sz="4000" dirty="0" smtClean="0">
                <a:latin typeface="Trebuchet MS" panose="020B0603020202020204" pitchFamily="34" charset="0"/>
              </a:rPr>
              <a:t>Accessibility </a:t>
            </a:r>
          </a:p>
        </p:txBody>
      </p:sp>
      <p:sp>
        <p:nvSpPr>
          <p:cNvPr id="64" name="TextBox 63"/>
          <p:cNvSpPr txBox="1"/>
          <p:nvPr/>
        </p:nvSpPr>
        <p:spPr>
          <a:xfrm>
            <a:off x="2545822" y="29561846"/>
            <a:ext cx="3780592" cy="2062103"/>
          </a:xfrm>
          <a:prstGeom prst="rect">
            <a:avLst/>
          </a:prstGeom>
          <a:noFill/>
        </p:spPr>
        <p:txBody>
          <a:bodyPr wrap="square" rtlCol="0">
            <a:spAutoFit/>
          </a:bodyPr>
          <a:lstStyle/>
          <a:p>
            <a:r>
              <a:rPr lang="en-US" sz="3200" i="1" dirty="0" smtClean="0">
                <a:latin typeface="Trebuchet MS" panose="020B0603020202020204" pitchFamily="34" charset="0"/>
              </a:rPr>
              <a:t>The ability to get to, understand what is in the and share the data</a:t>
            </a:r>
            <a:endParaRPr lang="en-US" sz="3200" i="1" dirty="0">
              <a:latin typeface="Trebuchet MS" panose="020B0603020202020204" pitchFamily="34" charset="0"/>
            </a:endParaRPr>
          </a:p>
        </p:txBody>
      </p:sp>
      <p:sp>
        <p:nvSpPr>
          <p:cNvPr id="69" name="TextBox 68"/>
          <p:cNvSpPr txBox="1"/>
          <p:nvPr/>
        </p:nvSpPr>
        <p:spPr>
          <a:xfrm>
            <a:off x="6812447" y="15306428"/>
            <a:ext cx="9129488" cy="2400657"/>
          </a:xfrm>
          <a:prstGeom prst="rect">
            <a:avLst/>
          </a:prstGeom>
          <a:noFill/>
        </p:spPr>
        <p:txBody>
          <a:bodyPr wrap="square" rtlCol="0">
            <a:spAutoFit/>
          </a:bodyPr>
          <a:lstStyle/>
          <a:p>
            <a:pPr marL="457200" indent="-457200">
              <a:buFont typeface="Arial" panose="020B0604020202020204" pitchFamily="34" charset="0"/>
              <a:buChar char="•"/>
            </a:pPr>
            <a:r>
              <a:rPr lang="en-US" sz="3000" dirty="0">
                <a:latin typeface="Trebuchet MS" panose="020B0603020202020204" pitchFamily="34" charset="0"/>
              </a:rPr>
              <a:t>Easily accessible from the main </a:t>
            </a:r>
            <a:r>
              <a:rPr lang="en-US" sz="3000" dirty="0" smtClean="0">
                <a:latin typeface="Trebuchet MS" panose="020B0603020202020204" pitchFamily="34" charset="0"/>
              </a:rPr>
              <a:t>webpage</a:t>
            </a:r>
          </a:p>
          <a:p>
            <a:pPr marL="457200" indent="-457200">
              <a:buFont typeface="Arial" panose="020B0604020202020204" pitchFamily="34" charset="0"/>
              <a:buChar char="•"/>
            </a:pPr>
            <a:r>
              <a:rPr lang="en-US" sz="3000" dirty="0" smtClean="0">
                <a:latin typeface="Trebuchet MS" panose="020B0603020202020204" pitchFamily="34" charset="0"/>
              </a:rPr>
              <a:t>Explicitly </a:t>
            </a:r>
            <a:r>
              <a:rPr lang="en-US" sz="3000" dirty="0">
                <a:latin typeface="Trebuchet MS" panose="020B0603020202020204" pitchFamily="34" charset="0"/>
              </a:rPr>
              <a:t>labelled button to return to Open Data </a:t>
            </a:r>
            <a:r>
              <a:rPr lang="en-US" sz="3000" dirty="0" smtClean="0">
                <a:latin typeface="Trebuchet MS" panose="020B0603020202020204" pitchFamily="34" charset="0"/>
              </a:rPr>
              <a:t>Homepage</a:t>
            </a:r>
          </a:p>
          <a:p>
            <a:pPr marL="457200" indent="-457200">
              <a:buFont typeface="Arial" panose="020B0604020202020204" pitchFamily="34" charset="0"/>
              <a:buChar char="•"/>
            </a:pPr>
            <a:r>
              <a:rPr lang="en-US" sz="3000" dirty="0" smtClean="0">
                <a:latin typeface="Trebuchet MS" panose="020B0603020202020204" pitchFamily="34" charset="0"/>
              </a:rPr>
              <a:t>Ability </a:t>
            </a:r>
            <a:r>
              <a:rPr lang="en-US" sz="3000" dirty="0">
                <a:latin typeface="Trebuchet MS" panose="020B0603020202020204" pitchFamily="34" charset="0"/>
              </a:rPr>
              <a:t>to search and move through files based on file type, category, or </a:t>
            </a:r>
            <a:r>
              <a:rPr lang="en-US" sz="3000" dirty="0" smtClean="0">
                <a:latin typeface="Trebuchet MS" panose="020B0603020202020204" pitchFamily="34" charset="0"/>
              </a:rPr>
              <a:t>keyword</a:t>
            </a:r>
            <a:endParaRPr lang="en-US" sz="3000" dirty="0">
              <a:latin typeface="Trebuchet MS" panose="020B0603020202020204" pitchFamily="34" charset="0"/>
            </a:endParaRPr>
          </a:p>
        </p:txBody>
      </p:sp>
      <p:sp>
        <p:nvSpPr>
          <p:cNvPr id="70" name="TextBox 69"/>
          <p:cNvSpPr txBox="1"/>
          <p:nvPr/>
        </p:nvSpPr>
        <p:spPr>
          <a:xfrm>
            <a:off x="2574882" y="31914834"/>
            <a:ext cx="3819200" cy="707886"/>
          </a:xfrm>
          <a:prstGeom prst="rect">
            <a:avLst/>
          </a:prstGeom>
          <a:noFill/>
        </p:spPr>
        <p:txBody>
          <a:bodyPr wrap="square" rtlCol="0">
            <a:spAutoFit/>
          </a:bodyPr>
          <a:lstStyle/>
          <a:p>
            <a:r>
              <a:rPr lang="en-US" sz="4000" dirty="0" smtClean="0">
                <a:latin typeface="Trebuchet MS" panose="020B0603020202020204" pitchFamily="34" charset="0"/>
              </a:rPr>
              <a:t>Documentation </a:t>
            </a:r>
          </a:p>
        </p:txBody>
      </p:sp>
      <p:sp>
        <p:nvSpPr>
          <p:cNvPr id="71" name="TextBox 70"/>
          <p:cNvSpPr txBox="1"/>
          <p:nvPr/>
        </p:nvSpPr>
        <p:spPr>
          <a:xfrm>
            <a:off x="2588839" y="32664631"/>
            <a:ext cx="4139797" cy="1569660"/>
          </a:xfrm>
          <a:prstGeom prst="rect">
            <a:avLst/>
          </a:prstGeom>
          <a:noFill/>
        </p:spPr>
        <p:txBody>
          <a:bodyPr wrap="square" rtlCol="0">
            <a:spAutoFit/>
          </a:bodyPr>
          <a:lstStyle/>
          <a:p>
            <a:r>
              <a:rPr lang="en-US" sz="3200" i="1" dirty="0" smtClean="0">
                <a:latin typeface="Trebuchet MS" panose="020B0603020202020204" pitchFamily="34" charset="0"/>
              </a:rPr>
              <a:t>The background information of the dataset</a:t>
            </a:r>
            <a:endParaRPr lang="en-US" sz="3200" i="1" dirty="0">
              <a:latin typeface="Trebuchet MS" panose="020B0603020202020204" pitchFamily="34" charset="0"/>
            </a:endParaRPr>
          </a:p>
        </p:txBody>
      </p:sp>
      <p:sp>
        <p:nvSpPr>
          <p:cNvPr id="74" name="TextBox 73"/>
          <p:cNvSpPr txBox="1"/>
          <p:nvPr/>
        </p:nvSpPr>
        <p:spPr>
          <a:xfrm>
            <a:off x="7221068" y="31887953"/>
            <a:ext cx="8254749" cy="2400657"/>
          </a:xfrm>
          <a:prstGeom prst="rect">
            <a:avLst/>
          </a:prstGeom>
          <a:noFill/>
        </p:spPr>
        <p:txBody>
          <a:bodyPr wrap="square" rtlCol="0">
            <a:spAutoFit/>
          </a:bodyPr>
          <a:lstStyle/>
          <a:p>
            <a:pPr marL="457200" indent="-457200">
              <a:buFont typeface="Arial" panose="020B0604020202020204" pitchFamily="34" charset="0"/>
              <a:buChar char="•"/>
            </a:pPr>
            <a:r>
              <a:rPr lang="en-US" sz="3000" dirty="0" smtClean="0">
                <a:latin typeface="Trebuchet MS" panose="020B0603020202020204" pitchFamily="34" charset="0"/>
              </a:rPr>
              <a:t>Dataset contents are described in clearly labeled metadata</a:t>
            </a:r>
          </a:p>
          <a:p>
            <a:pPr marL="457200" indent="-457200">
              <a:buFont typeface="Arial" panose="020B0604020202020204" pitchFamily="34" charset="0"/>
              <a:buChar char="•"/>
            </a:pPr>
            <a:r>
              <a:rPr lang="en-US" sz="3000" dirty="0" smtClean="0">
                <a:latin typeface="Trebuchet MS" panose="020B0603020202020204" pitchFamily="34" charset="0"/>
              </a:rPr>
              <a:t>All sources are clearly published </a:t>
            </a:r>
          </a:p>
          <a:p>
            <a:pPr marL="457200" indent="-457200">
              <a:buFont typeface="Arial" panose="020B0604020202020204" pitchFamily="34" charset="0"/>
              <a:buChar char="•"/>
            </a:pPr>
            <a:r>
              <a:rPr lang="en-US" sz="3000" dirty="0" smtClean="0">
                <a:latin typeface="Trebuchet MS" panose="020B0603020202020204" pitchFamily="34" charset="0"/>
              </a:rPr>
              <a:t>Dataset summaries are available</a:t>
            </a:r>
          </a:p>
          <a:p>
            <a:pPr marL="457200" indent="-457200">
              <a:buFont typeface="Arial" panose="020B0604020202020204" pitchFamily="34" charset="0"/>
              <a:buChar char="•"/>
            </a:pPr>
            <a:r>
              <a:rPr lang="en-US" sz="3000" dirty="0" smtClean="0">
                <a:latin typeface="Trebuchet MS" panose="020B0603020202020204" pitchFamily="34" charset="0"/>
              </a:rPr>
              <a:t>Download File Type is clearly labeled</a:t>
            </a:r>
            <a:endParaRPr lang="en-US" sz="3000" dirty="0">
              <a:latin typeface="Trebuchet MS" panose="020B0603020202020204" pitchFamily="34" charset="0"/>
            </a:endParaRPr>
          </a:p>
        </p:txBody>
      </p:sp>
      <p:sp>
        <p:nvSpPr>
          <p:cNvPr id="76" name="TextBox 75"/>
          <p:cNvSpPr txBox="1"/>
          <p:nvPr/>
        </p:nvSpPr>
        <p:spPr>
          <a:xfrm>
            <a:off x="2631107" y="34511638"/>
            <a:ext cx="3819200" cy="707886"/>
          </a:xfrm>
          <a:prstGeom prst="rect">
            <a:avLst/>
          </a:prstGeom>
          <a:noFill/>
        </p:spPr>
        <p:txBody>
          <a:bodyPr wrap="square" rtlCol="0">
            <a:spAutoFit/>
          </a:bodyPr>
          <a:lstStyle/>
          <a:p>
            <a:r>
              <a:rPr lang="en-US" sz="4000" dirty="0" smtClean="0">
                <a:latin typeface="Trebuchet MS" panose="020B0603020202020204" pitchFamily="34" charset="0"/>
              </a:rPr>
              <a:t>Visualization</a:t>
            </a:r>
          </a:p>
        </p:txBody>
      </p:sp>
      <p:sp>
        <p:nvSpPr>
          <p:cNvPr id="77" name="TextBox 76"/>
          <p:cNvSpPr txBox="1"/>
          <p:nvPr/>
        </p:nvSpPr>
        <p:spPr>
          <a:xfrm>
            <a:off x="2524248" y="35261435"/>
            <a:ext cx="4204388" cy="1077218"/>
          </a:xfrm>
          <a:prstGeom prst="rect">
            <a:avLst/>
          </a:prstGeom>
          <a:noFill/>
        </p:spPr>
        <p:txBody>
          <a:bodyPr wrap="square" rtlCol="0">
            <a:spAutoFit/>
          </a:bodyPr>
          <a:lstStyle/>
          <a:p>
            <a:r>
              <a:rPr lang="en-US" sz="3200" i="1" dirty="0" smtClean="0">
                <a:latin typeface="Trebuchet MS" panose="020B0603020202020204" pitchFamily="34" charset="0"/>
              </a:rPr>
              <a:t>The visual elements of the dataset</a:t>
            </a:r>
            <a:endParaRPr lang="en-US" sz="3200" i="1" dirty="0">
              <a:latin typeface="Trebuchet MS" panose="020B0603020202020204" pitchFamily="34" charset="0"/>
            </a:endParaRPr>
          </a:p>
        </p:txBody>
      </p:sp>
      <p:sp>
        <p:nvSpPr>
          <p:cNvPr id="78" name="TextBox 77"/>
          <p:cNvSpPr txBox="1"/>
          <p:nvPr/>
        </p:nvSpPr>
        <p:spPr>
          <a:xfrm>
            <a:off x="7281570" y="34690666"/>
            <a:ext cx="8254749" cy="4247317"/>
          </a:xfrm>
          <a:prstGeom prst="rect">
            <a:avLst/>
          </a:prstGeom>
          <a:noFill/>
        </p:spPr>
        <p:txBody>
          <a:bodyPr wrap="square" rtlCol="0">
            <a:spAutoFit/>
          </a:bodyPr>
          <a:lstStyle/>
          <a:p>
            <a:r>
              <a:rPr lang="en-US" sz="3000" dirty="0" smtClean="0">
                <a:latin typeface="Trebuchet MS" panose="020B0603020202020204" pitchFamily="34" charset="0"/>
              </a:rPr>
              <a:t>All Visualizations: </a:t>
            </a:r>
          </a:p>
          <a:p>
            <a:pPr marL="457200" indent="-457200">
              <a:buFont typeface="Arial" panose="020B0604020202020204" pitchFamily="34" charset="0"/>
              <a:buChar char="•"/>
            </a:pPr>
            <a:r>
              <a:rPr lang="en-US" sz="3000" dirty="0" smtClean="0">
                <a:latin typeface="Trebuchet MS" panose="020B0603020202020204" pitchFamily="34" charset="0"/>
              </a:rPr>
              <a:t>Clearly labeled</a:t>
            </a:r>
          </a:p>
          <a:p>
            <a:pPr marL="457200" indent="-457200">
              <a:buFont typeface="Arial" panose="020B0604020202020204" pitchFamily="34" charset="0"/>
              <a:buChar char="•"/>
            </a:pPr>
            <a:r>
              <a:rPr lang="en-US" sz="3000" dirty="0" smtClean="0">
                <a:latin typeface="Trebuchet MS" panose="020B0603020202020204" pitchFamily="34" charset="0"/>
              </a:rPr>
              <a:t>Remain true to the data</a:t>
            </a:r>
          </a:p>
          <a:p>
            <a:pPr marL="457200" indent="-457200">
              <a:buFont typeface="Arial" panose="020B0604020202020204" pitchFamily="34" charset="0"/>
              <a:buChar char="•"/>
            </a:pPr>
            <a:r>
              <a:rPr lang="en-US" sz="3000" dirty="0" smtClean="0">
                <a:latin typeface="Trebuchet MS" panose="020B0603020202020204" pitchFamily="34" charset="0"/>
              </a:rPr>
              <a:t>Avoid “</a:t>
            </a:r>
            <a:r>
              <a:rPr lang="en-US" sz="3000" dirty="0" err="1" smtClean="0">
                <a:latin typeface="Trebuchet MS" panose="020B0603020202020204" pitchFamily="34" charset="0"/>
              </a:rPr>
              <a:t>chartjunk</a:t>
            </a:r>
            <a:r>
              <a:rPr lang="en-US" sz="3000" dirty="0" smtClean="0">
                <a:latin typeface="Trebuchet MS" panose="020B0603020202020204" pitchFamily="34" charset="0"/>
              </a:rPr>
              <a:t>”</a:t>
            </a:r>
          </a:p>
          <a:p>
            <a:r>
              <a:rPr lang="en-US" sz="3000" dirty="0" smtClean="0">
                <a:latin typeface="Trebuchet MS" panose="020B0603020202020204" pitchFamily="34" charset="0"/>
              </a:rPr>
              <a:t>Creating Visualizations</a:t>
            </a:r>
          </a:p>
          <a:p>
            <a:pPr marL="457200" indent="-457200">
              <a:buFont typeface="Arial" panose="020B0604020202020204" pitchFamily="34" charset="0"/>
              <a:buChar char="•"/>
            </a:pPr>
            <a:r>
              <a:rPr lang="en-US" sz="3000" dirty="0" smtClean="0">
                <a:latin typeface="Trebuchet MS" panose="020B0603020202020204" pitchFamily="34" charset="0"/>
              </a:rPr>
              <a:t>Users can access the data visualization creation tools quickly and easily</a:t>
            </a:r>
          </a:p>
          <a:p>
            <a:pPr marL="457200" indent="-457200">
              <a:buFont typeface="Arial" panose="020B0604020202020204" pitchFamily="34" charset="0"/>
              <a:buChar char="•"/>
            </a:pPr>
            <a:r>
              <a:rPr lang="en-US" sz="3000" dirty="0" smtClean="0">
                <a:latin typeface="Trebuchet MS" panose="020B0603020202020204" pitchFamily="34" charset="0"/>
              </a:rPr>
              <a:t>Tools provided for visualization are clearly labeled and easy to navigate </a:t>
            </a:r>
          </a:p>
        </p:txBody>
      </p:sp>
      <p:cxnSp>
        <p:nvCxnSpPr>
          <p:cNvPr id="80" name="Straight Connector 79"/>
          <p:cNvCxnSpPr/>
          <p:nvPr/>
        </p:nvCxnSpPr>
        <p:spPr>
          <a:xfrm>
            <a:off x="2476974" y="28698759"/>
            <a:ext cx="13565133" cy="0"/>
          </a:xfrm>
          <a:prstGeom prst="line">
            <a:avLst/>
          </a:prstGeom>
          <a:ln>
            <a:solidFill>
              <a:srgbClr val="DFE7F0"/>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2457941" y="34419238"/>
            <a:ext cx="13565133" cy="0"/>
          </a:xfrm>
          <a:prstGeom prst="line">
            <a:avLst/>
          </a:prstGeom>
          <a:ln>
            <a:solidFill>
              <a:srgbClr val="DFE7F0"/>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2418343" y="31757325"/>
            <a:ext cx="13565133" cy="0"/>
          </a:xfrm>
          <a:prstGeom prst="line">
            <a:avLst/>
          </a:prstGeom>
          <a:ln>
            <a:solidFill>
              <a:srgbClr val="DFE7F0"/>
            </a:solidFill>
          </a:ln>
        </p:spPr>
        <p:style>
          <a:lnRef idx="1">
            <a:schemeClr val="accent1"/>
          </a:lnRef>
          <a:fillRef idx="0">
            <a:schemeClr val="accent1"/>
          </a:fillRef>
          <a:effectRef idx="0">
            <a:schemeClr val="accent1"/>
          </a:effectRef>
          <a:fontRef idx="minor">
            <a:schemeClr val="tx1"/>
          </a:fontRef>
        </p:style>
      </p:cxnSp>
      <p:sp>
        <p:nvSpPr>
          <p:cNvPr id="83" name="TextBox 82"/>
          <p:cNvSpPr txBox="1"/>
          <p:nvPr/>
        </p:nvSpPr>
        <p:spPr>
          <a:xfrm>
            <a:off x="6836490" y="11801078"/>
            <a:ext cx="9129488" cy="2862322"/>
          </a:xfrm>
          <a:prstGeom prst="rect">
            <a:avLst/>
          </a:prstGeom>
          <a:noFill/>
        </p:spPr>
        <p:txBody>
          <a:bodyPr wrap="square" rtlCol="0">
            <a:spAutoFit/>
          </a:bodyPr>
          <a:lstStyle/>
          <a:p>
            <a:pPr marL="457200" indent="-457200">
              <a:buFont typeface="Arial" panose="020B0604020202020204" pitchFamily="34" charset="0"/>
              <a:buChar char="•"/>
            </a:pPr>
            <a:r>
              <a:rPr lang="en-US" sz="3000" dirty="0" smtClean="0">
                <a:latin typeface="Trebuchet MS" panose="020B0603020202020204" pitchFamily="34" charset="0"/>
              </a:rPr>
              <a:t>Web pages and datasets are organized consistently and logically</a:t>
            </a:r>
          </a:p>
          <a:p>
            <a:pPr marL="1371600" lvl="1" indent="-457200">
              <a:buFont typeface="Arial" panose="020B0604020202020204" pitchFamily="34" charset="0"/>
              <a:buChar char="•"/>
            </a:pPr>
            <a:r>
              <a:rPr lang="en-US" sz="3000" dirty="0" smtClean="0">
                <a:latin typeface="Trebuchet MS" panose="020B0603020202020204" pitchFamily="34" charset="0"/>
              </a:rPr>
              <a:t>File hierarchy is clear and lists are sorted properly</a:t>
            </a:r>
          </a:p>
          <a:p>
            <a:pPr marL="457200" indent="-457200">
              <a:buFont typeface="Arial" panose="020B0604020202020204" pitchFamily="34" charset="0"/>
              <a:buChar char="•"/>
            </a:pPr>
            <a:r>
              <a:rPr lang="en-US" sz="3000" dirty="0" smtClean="0">
                <a:latin typeface="Trebuchet MS" panose="020B0603020202020204" pitchFamily="34" charset="0"/>
              </a:rPr>
              <a:t>Users are given appropriate context</a:t>
            </a:r>
            <a:endParaRPr lang="en-US" sz="3000" dirty="0">
              <a:latin typeface="Trebuchet MS" panose="020B0603020202020204" pitchFamily="34" charset="0"/>
            </a:endParaRPr>
          </a:p>
          <a:p>
            <a:pPr marL="1371600" lvl="1" indent="-457200">
              <a:buFont typeface="Arial" panose="020B0604020202020204" pitchFamily="34" charset="0"/>
              <a:buChar char="•"/>
            </a:pPr>
            <a:r>
              <a:rPr lang="en-US" sz="3000" dirty="0" smtClean="0">
                <a:latin typeface="Trebuchet MS" panose="020B0603020202020204" pitchFamily="34" charset="0"/>
              </a:rPr>
              <a:t>Descriptive information included</a:t>
            </a:r>
          </a:p>
        </p:txBody>
      </p:sp>
      <p:sp>
        <p:nvSpPr>
          <p:cNvPr id="84" name="TextBox 83"/>
          <p:cNvSpPr txBox="1"/>
          <p:nvPr/>
        </p:nvSpPr>
        <p:spPr>
          <a:xfrm>
            <a:off x="6794937" y="18289091"/>
            <a:ext cx="9129488" cy="4247317"/>
          </a:xfrm>
          <a:prstGeom prst="rect">
            <a:avLst/>
          </a:prstGeom>
          <a:noFill/>
        </p:spPr>
        <p:txBody>
          <a:bodyPr wrap="square" rtlCol="0">
            <a:spAutoFit/>
          </a:bodyPr>
          <a:lstStyle/>
          <a:p>
            <a:pPr marL="457200" indent="-457200">
              <a:buFont typeface="Arial" panose="020B0604020202020204" pitchFamily="34" charset="0"/>
              <a:buChar char="•"/>
            </a:pPr>
            <a:r>
              <a:rPr lang="en-US" sz="3000" dirty="0" smtClean="0">
                <a:latin typeface="Trebuchet MS" panose="020B0603020202020204" pitchFamily="34" charset="0"/>
              </a:rPr>
              <a:t>Easy to read</a:t>
            </a:r>
          </a:p>
          <a:p>
            <a:pPr marL="457200" indent="-457200">
              <a:buFont typeface="Arial" panose="020B0604020202020204" pitchFamily="34" charset="0"/>
              <a:buChar char="•"/>
            </a:pPr>
            <a:r>
              <a:rPr lang="en-US" sz="3000" dirty="0" smtClean="0">
                <a:latin typeface="Trebuchet MS" panose="020B0603020202020204" pitchFamily="34" charset="0"/>
              </a:rPr>
              <a:t>Consistent visual environment</a:t>
            </a:r>
          </a:p>
          <a:p>
            <a:pPr marL="457200" indent="-457200">
              <a:buFont typeface="Arial" panose="020B0604020202020204" pitchFamily="34" charset="0"/>
              <a:buChar char="•"/>
            </a:pPr>
            <a:r>
              <a:rPr lang="en-US" sz="3000" dirty="0" smtClean="0">
                <a:latin typeface="Trebuchet MS" panose="020B0603020202020204" pitchFamily="34" charset="0"/>
              </a:rPr>
              <a:t>Section headers should be easily viewable from the homepage</a:t>
            </a:r>
          </a:p>
          <a:p>
            <a:pPr marL="457200" indent="-457200">
              <a:buFont typeface="Arial" panose="020B0604020202020204" pitchFamily="34" charset="0"/>
              <a:buChar char="•"/>
            </a:pPr>
            <a:r>
              <a:rPr lang="en-US" sz="3000" dirty="0" smtClean="0">
                <a:latin typeface="Trebuchet MS" panose="020B0603020202020204" pitchFamily="34" charset="0"/>
              </a:rPr>
              <a:t>Different types of data and different types of visuals should be differentiable at a glance</a:t>
            </a:r>
          </a:p>
          <a:p>
            <a:pPr marL="457200" indent="-457200">
              <a:buFont typeface="Arial" panose="020B0604020202020204" pitchFamily="34" charset="0"/>
              <a:buChar char="•"/>
            </a:pPr>
            <a:r>
              <a:rPr lang="en-US" sz="3000" dirty="0" smtClean="0">
                <a:latin typeface="Trebuchet MS" panose="020B0603020202020204" pitchFamily="34" charset="0"/>
              </a:rPr>
              <a:t>The use of any tool presented to the user should be clear</a:t>
            </a:r>
          </a:p>
          <a:p>
            <a:pPr marL="457200" indent="-457200">
              <a:buFont typeface="Arial" panose="020B0604020202020204" pitchFamily="34" charset="0"/>
              <a:buChar char="•"/>
            </a:pPr>
            <a:r>
              <a:rPr lang="en-US" sz="3000" dirty="0" smtClean="0">
                <a:latin typeface="Trebuchet MS" panose="020B0603020202020204" pitchFamily="34" charset="0"/>
              </a:rPr>
              <a:t>Color coding tools is encouraged</a:t>
            </a:r>
            <a:endParaRPr lang="en-US" sz="3000" dirty="0">
              <a:latin typeface="Trebuchet MS" panose="020B0603020202020204" pitchFamily="34" charset="0"/>
            </a:endParaRPr>
          </a:p>
        </p:txBody>
      </p:sp>
      <p:sp>
        <p:nvSpPr>
          <p:cNvPr id="66" name="TextBox 65"/>
          <p:cNvSpPr txBox="1"/>
          <p:nvPr/>
        </p:nvSpPr>
        <p:spPr>
          <a:xfrm>
            <a:off x="2222935" y="6816570"/>
            <a:ext cx="31958455" cy="2400657"/>
          </a:xfrm>
          <a:prstGeom prst="rect">
            <a:avLst/>
          </a:prstGeom>
          <a:noFill/>
        </p:spPr>
        <p:txBody>
          <a:bodyPr wrap="square" rtlCol="0">
            <a:spAutoFit/>
          </a:bodyPr>
          <a:lstStyle/>
          <a:p>
            <a:pPr marL="457200" indent="-457200">
              <a:buFont typeface="Arial"/>
              <a:buChar char="•"/>
            </a:pPr>
            <a:r>
              <a:rPr lang="en-US" sz="3000" dirty="0">
                <a:latin typeface="Trebuchet MS" charset="0"/>
                <a:ea typeface="Trebuchet MS" charset="0"/>
                <a:cs typeface="Trebuchet MS" charset="0"/>
              </a:rPr>
              <a:t>“Open Data,” which is any publicly available information, has the potential to improve government efficiency, advance local businesses, and facilitate more frequent and deeper use of government data. </a:t>
            </a:r>
          </a:p>
          <a:p>
            <a:pPr marL="457200" indent="-457200">
              <a:buFont typeface="Arial"/>
              <a:buChar char="•"/>
            </a:pPr>
            <a:r>
              <a:rPr lang="en-US" sz="3000" dirty="0">
                <a:latin typeface="Trebuchet MS" charset="0"/>
                <a:ea typeface="Trebuchet MS" charset="0"/>
                <a:cs typeface="Trebuchet MS" charset="0"/>
              </a:rPr>
              <a:t>Arlington County asked students in the Data Science for the Public Good Program (DSPG) at SDAL for feedback regarding their newly-released Open Data Portal. </a:t>
            </a:r>
          </a:p>
          <a:p>
            <a:pPr marL="457200" indent="-457200">
              <a:buFont typeface="Arial"/>
              <a:buChar char="•"/>
            </a:pPr>
            <a:r>
              <a:rPr lang="en-US" sz="3000" dirty="0">
                <a:latin typeface="Trebuchet MS" charset="0"/>
                <a:ea typeface="Trebuchet MS" charset="0"/>
                <a:cs typeface="Trebuchet MS" charset="0"/>
              </a:rPr>
              <a:t>The students developed a set of criteria that could be used to develop and improve any open data portal to aid in the evolution and improvement of general Open Data Portal standards. </a:t>
            </a:r>
          </a:p>
        </p:txBody>
      </p:sp>
      <p:pic>
        <p:nvPicPr>
          <p:cNvPr id="67" name="Picture 6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81165" y="5578263"/>
            <a:ext cx="15495932" cy="1866671"/>
          </a:xfrm>
          <a:prstGeom prst="rect">
            <a:avLst/>
          </a:prstGeom>
        </p:spPr>
      </p:pic>
      <p:pic>
        <p:nvPicPr>
          <p:cNvPr id="73" name="Picture 7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81165" y="38004306"/>
            <a:ext cx="15495932" cy="1866671"/>
          </a:xfrm>
          <a:prstGeom prst="rect">
            <a:avLst/>
          </a:prstGeom>
        </p:spPr>
      </p:pic>
      <p:pic>
        <p:nvPicPr>
          <p:cNvPr id="75" name="Picture 7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86830" y="38991532"/>
            <a:ext cx="5715000" cy="1854200"/>
          </a:xfrm>
          <a:prstGeom prst="rect">
            <a:avLst/>
          </a:prstGeom>
        </p:spPr>
      </p:pic>
      <p:sp>
        <p:nvSpPr>
          <p:cNvPr id="79" name="TextBox 78"/>
          <p:cNvSpPr txBox="1"/>
          <p:nvPr/>
        </p:nvSpPr>
        <p:spPr>
          <a:xfrm>
            <a:off x="27749101" y="40127872"/>
            <a:ext cx="7455299" cy="461665"/>
          </a:xfrm>
          <a:prstGeom prst="rect">
            <a:avLst/>
          </a:prstGeom>
          <a:noFill/>
        </p:spPr>
        <p:txBody>
          <a:bodyPr wrap="square" rtlCol="0">
            <a:spAutoFit/>
          </a:bodyPr>
          <a:lstStyle/>
          <a:p>
            <a:pPr algn="r"/>
            <a:r>
              <a:rPr lang="en-US" sz="2400" b="1" dirty="0" err="1" smtClean="0">
                <a:solidFill>
                  <a:schemeClr val="bg2">
                    <a:lumMod val="50000"/>
                  </a:schemeClr>
                </a:solidFill>
                <a:latin typeface="Raleway Medium" charset="0"/>
                <a:ea typeface="Raleway Medium" charset="0"/>
                <a:cs typeface="Raleway Medium" charset="0"/>
              </a:rPr>
              <a:t>bi.vt.edu</a:t>
            </a:r>
            <a:r>
              <a:rPr lang="en-US" sz="2400" b="1" dirty="0" smtClean="0">
                <a:solidFill>
                  <a:schemeClr val="bg2">
                    <a:lumMod val="50000"/>
                  </a:schemeClr>
                </a:solidFill>
                <a:latin typeface="Raleway Medium" charset="0"/>
                <a:ea typeface="Raleway Medium" charset="0"/>
                <a:cs typeface="Raleway Medium" charset="0"/>
              </a:rPr>
              <a:t>/</a:t>
            </a:r>
            <a:r>
              <a:rPr lang="en-US" sz="2400" b="1" dirty="0" err="1" smtClean="0">
                <a:solidFill>
                  <a:schemeClr val="bg2">
                    <a:lumMod val="50000"/>
                  </a:schemeClr>
                </a:solidFill>
                <a:latin typeface="Raleway Medium" charset="0"/>
                <a:ea typeface="Raleway Medium" charset="0"/>
                <a:cs typeface="Raleway Medium" charset="0"/>
              </a:rPr>
              <a:t>sdal</a:t>
            </a:r>
            <a:endParaRPr lang="en-US" sz="2400" b="1" dirty="0">
              <a:solidFill>
                <a:schemeClr val="bg2">
                  <a:lumMod val="50000"/>
                </a:schemeClr>
              </a:solidFill>
              <a:latin typeface="Raleway Medium" charset="0"/>
              <a:ea typeface="Raleway Medium" charset="0"/>
              <a:cs typeface="Raleway Medium" charset="0"/>
            </a:endParaRPr>
          </a:p>
        </p:txBody>
      </p:sp>
      <p:sp>
        <p:nvSpPr>
          <p:cNvPr id="65" name="TextBox 64"/>
          <p:cNvSpPr txBox="1"/>
          <p:nvPr/>
        </p:nvSpPr>
        <p:spPr>
          <a:xfrm>
            <a:off x="1669773" y="4449557"/>
            <a:ext cx="7191511" cy="630942"/>
          </a:xfrm>
          <a:prstGeom prst="rect">
            <a:avLst/>
          </a:prstGeom>
          <a:noFill/>
        </p:spPr>
        <p:txBody>
          <a:bodyPr wrap="square" rtlCol="0">
            <a:spAutoFit/>
          </a:bodyPr>
          <a:lstStyle/>
          <a:p>
            <a:pPr algn="ctr"/>
            <a:r>
              <a:rPr lang="en-US" sz="3500" b="1" dirty="0" smtClean="0">
                <a:solidFill>
                  <a:srgbClr val="4C75A4"/>
                </a:solidFill>
                <a:latin typeface="Raleway" charset="0"/>
                <a:ea typeface="Raleway" charset="0"/>
                <a:cs typeface="Raleway" charset="0"/>
              </a:rPr>
              <a:t>Data Science for the Public Good</a:t>
            </a:r>
            <a:endParaRPr lang="en-US" sz="3500" b="1" dirty="0" smtClean="0">
              <a:solidFill>
                <a:srgbClr val="4C75A4"/>
              </a:solidFill>
              <a:latin typeface="Raleway" charset="0"/>
              <a:ea typeface="Raleway" charset="0"/>
              <a:cs typeface="Raleway" charset="0"/>
            </a:endParaRPr>
          </a:p>
        </p:txBody>
      </p:sp>
    </p:spTree>
    <p:extLst>
      <p:ext uri="{BB962C8B-B14F-4D97-AF65-F5344CB8AC3E}">
        <p14:creationId xmlns:p14="http://schemas.microsoft.com/office/powerpoint/2010/main" val="145200946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1084</TotalTime>
  <Words>1083</Words>
  <Application>Microsoft Macintosh PowerPoint</Application>
  <PresentationFormat>Custom</PresentationFormat>
  <Paragraphs>121</Paragraphs>
  <Slides>1</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vt:i4>
      </vt:variant>
    </vt:vector>
  </HeadingPairs>
  <TitlesOfParts>
    <vt:vector size="11" baseType="lpstr">
      <vt:lpstr>Arial Narrow</vt:lpstr>
      <vt:lpstr>Blanch Caps</vt:lpstr>
      <vt:lpstr>Blanch Condensed</vt:lpstr>
      <vt:lpstr>Calibri</vt:lpstr>
      <vt:lpstr>Calibri Light</vt:lpstr>
      <vt:lpstr>Raleway</vt:lpstr>
      <vt:lpstr>Raleway Medium</vt:lpstr>
      <vt:lpstr>Trebuchet MS</vt:lpstr>
      <vt:lpstr>Arial</vt:lpstr>
      <vt:lpstr>Office Theme</vt:lpstr>
      <vt:lpstr>PowerPoint Presentation</vt:lpstr>
    </vt:vector>
  </TitlesOfParts>
  <Company/>
  <LinksUpToDate>false</LinksUpToDate>
  <SharedDoc>false</SharedDoc>
  <HyperlinksChanged>false</HyperlinksChanged>
  <AppVersion>15.0024</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Alex Crookshanks</cp:lastModifiedBy>
  <cp:revision>75</cp:revision>
  <cp:lastPrinted>2016-07-21T19:19:39Z</cp:lastPrinted>
  <dcterms:created xsi:type="dcterms:W3CDTF">2016-07-05T19:56:53Z</dcterms:created>
  <dcterms:modified xsi:type="dcterms:W3CDTF">2016-08-23T15:07:52Z</dcterms:modified>
</cp:coreProperties>
</file>