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6576000" cy="41549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086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2F504-9BD3-43AD-87C5-1EB33B810BEA}">
  <a:tblStyle styleId="{69C2F504-9BD3-43AD-87C5-1EB33B810BEA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1"/>
    <p:restoredTop sz="94665"/>
  </p:normalViewPr>
  <p:slideViewPr>
    <p:cSldViewPr snapToGrid="0" snapToObjects="1">
      <p:cViewPr>
        <p:scale>
          <a:sx n="65" d="100"/>
          <a:sy n="65" d="100"/>
        </p:scale>
        <p:origin x="1048" y="144"/>
      </p:cViewPr>
      <p:guideLst>
        <p:guide orient="horz" pos="13086"/>
        <p:guide pos="115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070100" y="1143000"/>
            <a:ext cx="27177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21893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2070100" y="1143000"/>
            <a:ext cx="2717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Shape 8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92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2743200" y="6799909"/>
            <a:ext cx="31089600" cy="1446542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2495551" y="10358567"/>
            <a:ext cx="31546800" cy="172834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2495551" y="27805568"/>
            <a:ext cx="31546800" cy="90889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8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7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2514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18516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519364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2519367" y="10185435"/>
            <a:ext cx="15473360" cy="4991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2519367" y="15177159"/>
            <a:ext cx="15473360" cy="2232331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18516601" y="10185435"/>
            <a:ext cx="15549563" cy="4991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4"/>
          </p:nvPr>
        </p:nvSpPr>
        <p:spPr>
          <a:xfrm>
            <a:off x="18516601" y="15177159"/>
            <a:ext cx="15549563" cy="2232331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2519364" y="2769975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15549564" y="5982387"/>
            <a:ext cx="18516600" cy="295271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1016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203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2519364" y="2769975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15549564" y="5982387"/>
            <a:ext cx="18516600" cy="295271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5106567" y="8468699"/>
            <a:ext cx="26362864" cy="3154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12512353" y="15874482"/>
            <a:ext cx="35211399" cy="788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-3489648" y="8216382"/>
            <a:ext cx="35211399" cy="232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Shape 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6174" y="21192183"/>
            <a:ext cx="5262024" cy="486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3" y="5542874"/>
            <a:ext cx="32637046" cy="1885638"/>
          </a:xfrm>
          <a:prstGeom prst="rect">
            <a:avLst/>
          </a:prstGeom>
        </p:spPr>
      </p:pic>
      <p:pic>
        <p:nvPicPr>
          <p:cNvPr id="92" name="Shape 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8223" y="39039800"/>
            <a:ext cx="5714999" cy="18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Shape 93"/>
          <p:cNvSpPr txBox="1"/>
          <p:nvPr/>
        </p:nvSpPr>
        <p:spPr>
          <a:xfrm>
            <a:off x="11176000" y="872475"/>
            <a:ext cx="24028401" cy="25545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buSzPct val="25000"/>
              <a:buNone/>
            </a:pPr>
            <a:r>
              <a:rPr lang="en-US" sz="14000" u="none" strike="noStrike" cap="none" dirty="0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Using Synthetic Populations </a:t>
            </a:r>
            <a:r>
              <a:rPr lang="en-US" sz="14000" u="none" strike="noStrike" cap="none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to </a:t>
            </a:r>
            <a:r>
              <a:rPr lang="en-US" sz="14000" u="none" strike="noStrike" cap="none" smtClean="0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Assess</a:t>
            </a:r>
            <a:endParaRPr lang="en-US" sz="14000" u="none" strike="noStrike" cap="none" dirty="0">
              <a:solidFill>
                <a:schemeClr val="dk1"/>
              </a:solidFill>
              <a:latin typeface="Blanch Caps" charset="0"/>
              <a:ea typeface="Blanch Caps" charset="0"/>
              <a:cs typeface="Blanch Caps" charset="0"/>
              <a:sym typeface="Arial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1635093" y="32148684"/>
            <a:ext cx="30224561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Constructing the Synthetic Population 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27749100" y="39409415"/>
            <a:ext cx="7455298" cy="46166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2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bi.vt.edu/sdal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1697505" y="26321528"/>
            <a:ext cx="20617319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5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Imputing Properties for Multifamily Housing Units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1558893" y="5385151"/>
            <a:ext cx="8277437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5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Overview 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1437176" y="27663543"/>
            <a:ext cx="11783615" cy="470898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problem in estimating identifiability risk for all of Arlington County is the lack of data on multifamily units in the county.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CoreLogic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treats multifamily buildings as one entry, losing household by household information. 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Imputation of missing values can help create the data needed for the study of </a:t>
            </a: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indentifiability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risk.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 imputation, as shown here, enables the use of one or more variables to predict values for these missing data.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" name="Shape 10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191825" y="27380075"/>
            <a:ext cx="8996400" cy="49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hape 102"/>
          <p:cNvSpPr txBox="1"/>
          <p:nvPr/>
        </p:nvSpPr>
        <p:spPr>
          <a:xfrm>
            <a:off x="19114398" y="18611512"/>
            <a:ext cx="7640562" cy="19389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 such as total room count, bedroom count, bathroom count, etc. help to understand the population needed for proper simulation. </a:t>
            </a:r>
          </a:p>
        </p:txBody>
      </p:sp>
      <p:pic>
        <p:nvPicPr>
          <p:cNvPr id="103" name="Shape 10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97505" y="13151669"/>
            <a:ext cx="8626295" cy="714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Shape 10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128973" y="13373911"/>
            <a:ext cx="7371213" cy="5068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754962" y="13411806"/>
            <a:ext cx="7566968" cy="506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 txBox="1"/>
          <p:nvPr/>
        </p:nvSpPr>
        <p:spPr>
          <a:xfrm>
            <a:off x="27081859" y="18635395"/>
            <a:ext cx="8163017" cy="19389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Structural variables such as Gross Building Area (GBA), Land Area, Heat, AC, Fireplace count, Exterior Wall type etc., are used to help identify singular locations. 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10970457" y="13433878"/>
            <a:ext cx="7350198" cy="609397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DC Computer Assisted Mass Appraisal (CAMA) data contains residential, condominium, and commercial property data. For the purpose of this project, just the residential and condominium are used.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better understand the data, basic data profiling occurred. The main goal was to understand how these data match the </a:t>
            </a: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CoreLogic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Data. This same step was used for all other administrative datasets included in the project. 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1558893" y="20065384"/>
            <a:ext cx="13035793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5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Assessing </a:t>
            </a: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Identifiability</a:t>
            </a:r>
            <a:r>
              <a:rPr lang="en-US" sz="65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Risk</a:t>
            </a:r>
          </a:p>
        </p:txBody>
      </p:sp>
      <p:graphicFrame>
        <p:nvGraphicFramePr>
          <p:cNvPr id="110" name="Shape 110"/>
          <p:cNvGraphicFramePr/>
          <p:nvPr>
            <p:extLst>
              <p:ext uri="{D42A27DB-BD31-4B8C-83A1-F6EECF244321}">
                <p14:modId xmlns:p14="http://schemas.microsoft.com/office/powerpoint/2010/main" val="1688326604"/>
              </p:ext>
            </p:extLst>
          </p:nvPr>
        </p:nvGraphicFramePr>
        <p:xfrm>
          <a:off x="28743343" y="21471560"/>
          <a:ext cx="5599007" cy="5406218"/>
        </p:xfrm>
        <a:graphic>
          <a:graphicData uri="http://schemas.openxmlformats.org/drawingml/2006/table">
            <a:tbl>
              <a:tblPr>
                <a:noFill/>
                <a:tableStyleId>{69C2F504-9BD3-43AD-87C5-1EB33B810BEA}</a:tableStyleId>
              </a:tblPr>
              <a:tblGrid>
                <a:gridCol w="2495173"/>
                <a:gridCol w="1573327"/>
                <a:gridCol w="1530507"/>
              </a:tblGrid>
              <a:tr h="5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1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Variable Removed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1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# Unique Units 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1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Unique Units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None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46,702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Parking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46,702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New Construction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46,249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Garage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45,898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Heating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44,007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11%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Air Conditioning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42,759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11%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Value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40,399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Number of Stories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39,917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Fireplace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39,763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Basement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39,641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Year Built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37,461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9%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Absentee Owner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36,346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9%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Real Estate Taxes Paid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35,573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9%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Lot Size 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34,114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9%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Living Area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33,608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8%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Bathrooms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31,481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8%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Bedrooms 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28,528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1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PUMA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 28,209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7%</a:t>
                      </a:r>
                    </a:p>
                  </a:txBody>
                  <a:tcPr marL="11822" marR="11822" marT="11822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1" name="Shape 111"/>
          <p:cNvSpPr txBox="1"/>
          <p:nvPr/>
        </p:nvSpPr>
        <p:spPr>
          <a:xfrm>
            <a:off x="1319823" y="21350415"/>
            <a:ext cx="11692864" cy="470898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measure identifiability through population uniqueness; the proportion of housing units that have unique values on a set of key variables.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variables used are ones that can be found in both the </a:t>
            </a: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CoreLogic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tax records and AHS data.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3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Continuous variables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 year built) are binned into quartiles.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Count variables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 number of bedrooms) are </a:t>
            </a: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topcoded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Decreasing the bin size increases the proportion of unique values.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12377687" y="25957396"/>
            <a:ext cx="6011913" cy="1292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Proportion of unique values for single family properties by Census tract.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18227865" y="21673010"/>
            <a:ext cx="10197290" cy="51706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study area includes Arlington County, Fairfax County, Falls Church, and Fairfax City.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46,702 single family housing units (12% of the population) are uniquely identified.  81,916 units (21%) are identified to within a group of three units.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Holdout method (right) measures uniqueness when a single variable is removed.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Ex: Removing PUMA indicator reduces the proportion of uniquely identified units from 12% to 7%.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" name="Shape 115"/>
          <p:cNvSpPr txBox="1"/>
          <p:nvPr/>
        </p:nvSpPr>
        <p:spPr>
          <a:xfrm>
            <a:off x="1437176" y="33596336"/>
            <a:ext cx="9998249" cy="54120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SDAL seeks to construct a synthetic population that matches the variation of occupants/families in households for Arlington.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 methods of generating synthetic populations (e.g. Beckman et al., 1996) replicate </a:t>
            </a:r>
            <a:r>
              <a:rPr lang="en-US" sz="28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microsample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files to match marginal distributions of key variables (householder age, householder income, household size) at the block group level.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replication is not suitable for identifiability studies since variations in income, age, size, tenure, etc., are what make certain respondents identifiable.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28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Shape 116"/>
          <p:cNvSpPr txBox="1"/>
          <p:nvPr/>
        </p:nvSpPr>
        <p:spPr>
          <a:xfrm>
            <a:off x="20031868" y="33563664"/>
            <a:ext cx="9076532" cy="492242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SDAL has borrowed concepts from Bayesian multiple imputation (</a:t>
            </a:r>
            <a:r>
              <a:rPr lang="en-US" sz="28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Raghunathan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Reiter and Rubin, 2003) to construct a population with realistic individual-level variation that matches margins of variables supplied by Census summary tables.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resulting population is produced by treating the full population as unknowns, and producing posterior realizations of the population using Markov Chain Monte Carlo.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2-D studies will be adapted to produce synthetic households for Arlington and Fairfax counties.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28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Shape 117"/>
          <p:cNvSpPr txBox="1"/>
          <p:nvPr/>
        </p:nvSpPr>
        <p:spPr>
          <a:xfrm>
            <a:off x="9135507" y="39254828"/>
            <a:ext cx="23038671" cy="13849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References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Beckman, R. J., Baggerly, K. A., &amp; McKay, M. D. (1996). Creating synthetic baseline populations. </a:t>
            </a:r>
            <a:r>
              <a:rPr lang="en-US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Research Part A: Policy and Practice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30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(6), 415-429.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Raghunathan, T. E., Reiter, J. P., &amp; Rubin, D. B. (2003). Multiple imputation for statistical disclosure limitation. </a:t>
            </a:r>
            <a:r>
              <a:rPr lang="en-US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Journal of Official Statistics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19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(1), 1.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11666813" y="34022346"/>
            <a:ext cx="2419419" cy="369331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A population (N=10000) with two continuous characteristics (x1 and x2) is surveyed, producing: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 tables summarizing marginals of the full population.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Micro data for a SRS of 100 respondents.</a:t>
            </a:r>
          </a:p>
        </p:txBody>
      </p:sp>
      <p:pic>
        <p:nvPicPr>
          <p:cNvPr id="119" name="Shape 119" descr="popMar.pdf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317620" y="33799737"/>
            <a:ext cx="5443396" cy="42337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20" name="Shape 120" descr="mcmcPop.pdf"/>
          <p:cNvPicPr preferRelativeResize="0"/>
          <p:nvPr/>
        </p:nvPicPr>
        <p:blipFill rotWithShape="1">
          <a:blip r:embed="rId11">
            <a:alphaModFix/>
          </a:blip>
          <a:srcRect t="4045" r="26232" b="15218"/>
          <a:stretch/>
        </p:blipFill>
        <p:spPr>
          <a:xfrm>
            <a:off x="29292075" y="33741325"/>
            <a:ext cx="5369737" cy="44078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1" name="Shape 121"/>
          <p:cNvSpPr txBox="1"/>
          <p:nvPr/>
        </p:nvSpPr>
        <p:spPr>
          <a:xfrm>
            <a:off x="1319823" y="6861764"/>
            <a:ext cx="9884581" cy="51706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SDAL is assessing the feasibility of matching public records with the 2013 American Housing Survey (AHS) sample housing units for the purpose of disclosure avoidance research.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AHS is a biennial survey of housing units conducted by the Census Bureau on behalf of the Department of Housing and Urban Development (HUD).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Protecting confidentiality in Federal surveys is a legal requirement and necessary to ensure respondent participation.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11142661" y="6632547"/>
            <a:ext cx="9464456" cy="56323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AHS collects the following information about each occupied housing unit: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Ownership (owner’s name)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Lot characteristics (size, zoning, sewer connection)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 characteristics (type, size, stories)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Physical characteristics (rooms, bathrooms, size, year built, heating and cooling equipment)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 profile of the housing unit occupants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Financial characteristics (mortgage, owner occupied only)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Tax and other assessment information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Shape 123"/>
          <p:cNvSpPr txBox="1"/>
          <p:nvPr/>
        </p:nvSpPr>
        <p:spPr>
          <a:xfrm>
            <a:off x="20768468" y="6654296"/>
            <a:ext cx="13798311" cy="563231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standard product for the AHS is public use </a:t>
            </a: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microdata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files (PUFs). PUFs contain answers to survey questions at the individual, household, and housing unit level.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Some of the information in these PUFs is replicated in publicly available data sources – tax records, mortgage information, geographical information.  </a:t>
            </a:r>
            <a:r>
              <a:rPr lang="en-US" sz="3000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CoreLogic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claims to supply such information for 80% of homes in the US.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SDAL will evaluate the risk of disclosure when linkages between the AHS PUFs and publicly available data are made.</a:t>
            </a:r>
          </a:p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are assessing this risk by: </a:t>
            </a:r>
          </a:p>
          <a:p>
            <a:pPr marL="1042988" marR="0" lvl="1" indent="-509588" algn="l" rtl="0"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a synthetic population of households and occupants to mimic those of Arlington, Fairfax, and DC;</a:t>
            </a:r>
          </a:p>
          <a:p>
            <a:pPr marL="1042988" marR="0" lvl="1" indent="-509588" algn="l" rtl="0"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Linking these synthetic households to publically available data.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5798800" y="31577267"/>
            <a:ext cx="7365900" cy="86890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Distribution of observed values for number of bedrooms (blue) and the distribution of imputed values (red)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24661971" y="32379685"/>
            <a:ext cx="8996400" cy="8611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Scatterplots showing the probability that any given datum is missing from the observed values, along with distributions for each imputation</a:t>
            </a:r>
          </a:p>
        </p:txBody>
      </p:sp>
      <p:sp>
        <p:nvSpPr>
          <p:cNvPr id="127" name="Shape 127"/>
          <p:cNvSpPr/>
          <p:nvPr/>
        </p:nvSpPr>
        <p:spPr>
          <a:xfrm>
            <a:off x="24191825" y="29318675"/>
            <a:ext cx="256200" cy="122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8" name="Shape 128"/>
          <p:cNvSpPr/>
          <p:nvPr/>
        </p:nvSpPr>
        <p:spPr>
          <a:xfrm rot="5400000">
            <a:off x="28609975" y="30544075"/>
            <a:ext cx="256200" cy="185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9" name="Shape 129"/>
          <p:cNvSpPr txBox="1"/>
          <p:nvPr/>
        </p:nvSpPr>
        <p:spPr>
          <a:xfrm rot="-5400000">
            <a:off x="23260900" y="28674775"/>
            <a:ext cx="1990500" cy="25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/>
              <a:t>Number of Bedrooms</a:t>
            </a:r>
          </a:p>
        </p:txBody>
      </p:sp>
      <p:sp>
        <p:nvSpPr>
          <p:cNvPr id="130" name="Shape 130"/>
          <p:cNvSpPr txBox="1"/>
          <p:nvPr/>
        </p:nvSpPr>
        <p:spPr>
          <a:xfrm>
            <a:off x="24829975" y="31943425"/>
            <a:ext cx="2593200" cy="25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Chance that value is missing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7619425" y="31294575"/>
            <a:ext cx="2852400" cy="10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/>
              <a:t>Number of bedrooms</a:t>
            </a:r>
          </a:p>
        </p:txBody>
      </p:sp>
      <p:sp>
        <p:nvSpPr>
          <p:cNvPr id="132" name="Shape 132"/>
          <p:cNvSpPr txBox="1"/>
          <p:nvPr/>
        </p:nvSpPr>
        <p:spPr>
          <a:xfrm rot="-5400000">
            <a:off x="14522712" y="29416875"/>
            <a:ext cx="1581600" cy="25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/>
              <a:t>Density</a:t>
            </a:r>
          </a:p>
        </p:txBody>
      </p:sp>
      <p:pic>
        <p:nvPicPr>
          <p:cNvPr id="133" name="Shape 133" descr="Rplot04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927800" y="27783299"/>
            <a:ext cx="6235629" cy="360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1176000" y="4550532"/>
            <a:ext cx="231459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ct val="25000"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Mark Almanza (Virginia Tech), Adrienne Rogers (Virginia Tech) </a:t>
            </a: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with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Josh Goldstein &amp; Dave Higdon (SDAL),  </a:t>
            </a:r>
          </a:p>
          <a:p>
            <a:pPr lvl="0">
              <a:buSzPct val="25000"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Shawn </a:t>
            </a:r>
            <a:r>
              <a:rPr lang="en-US" sz="3200" dirty="0" err="1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Bucholtz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 (Housing and Urban </a:t>
            </a: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Development)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&amp; Tamara Cole (Census Bureau</a:t>
            </a: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Raleway"/>
              <a:ea typeface="Raleway"/>
              <a:cs typeface="Raleway"/>
              <a:sym typeface="Raleway"/>
            </a:endParaRPr>
          </a:p>
          <a:p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8" name="Shape 93"/>
          <p:cNvSpPr txBox="1"/>
          <p:nvPr/>
        </p:nvSpPr>
        <p:spPr>
          <a:xfrm>
            <a:off x="11176000" y="2215444"/>
            <a:ext cx="24485600" cy="25545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n-US" sz="14000" dirty="0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</a:rPr>
              <a:t>Identifiability Risks in the American Housing Survey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23" y="957385"/>
            <a:ext cx="8712200" cy="3530600"/>
          </a:xfrm>
          <a:prstGeom prst="rect">
            <a:avLst/>
          </a:prstGeom>
        </p:spPr>
      </p:pic>
      <p:sp>
        <p:nvSpPr>
          <p:cNvPr id="94" name="Shape 94"/>
          <p:cNvSpPr txBox="1"/>
          <p:nvPr/>
        </p:nvSpPr>
        <p:spPr>
          <a:xfrm>
            <a:off x="1558893" y="12173125"/>
            <a:ext cx="13035793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500" b="0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Overview of DC Data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3" y="12272335"/>
            <a:ext cx="32637046" cy="1885638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3" y="20272757"/>
            <a:ext cx="32637046" cy="1885638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3" y="26546638"/>
            <a:ext cx="32637046" cy="188563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3" y="32290064"/>
            <a:ext cx="32637046" cy="188563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657749" y="4449557"/>
            <a:ext cx="72675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5D89B4"/>
                </a:solidFill>
                <a:latin typeface="Raleway" charset="0"/>
                <a:ea typeface="Raleway" charset="0"/>
                <a:cs typeface="Raleway" charset="0"/>
              </a:rPr>
              <a:t>Data Science for the Public Good</a:t>
            </a:r>
            <a:endParaRPr lang="en-US" sz="3500" b="1" dirty="0" smtClean="0">
              <a:solidFill>
                <a:srgbClr val="5D89B4"/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1135</Words>
  <Application>Microsoft Macintosh PowerPoint</Application>
  <PresentationFormat>Custom</PresentationFormat>
  <Paragraphs>126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Blanch Caps</vt:lpstr>
      <vt:lpstr>Calibri</vt:lpstr>
      <vt:lpstr>Raleway</vt:lpstr>
      <vt:lpstr>Trebuchet MS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Alex Crookshanks</cp:lastModifiedBy>
  <cp:revision>9</cp:revision>
  <dcterms:modified xsi:type="dcterms:W3CDTF">2016-08-23T15:18:18Z</dcterms:modified>
</cp:coreProperties>
</file>