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6576000" cy="41549638"/>
  <p:notesSz cx="6858000" cy="9144000"/>
  <p:defaultTextStyle>
    <a:defPPr>
      <a:defRPr lang="en-US"/>
    </a:defPPr>
    <a:lvl1pPr marL="0" algn="l" defTabSz="3749954" rtl="0" eaLnBrk="1" latinLnBrk="0" hangingPunct="1">
      <a:defRPr sz="7382" kern="1200">
        <a:solidFill>
          <a:schemeClr val="tx1"/>
        </a:solidFill>
        <a:latin typeface="+mn-lt"/>
        <a:ea typeface="+mn-ea"/>
        <a:cs typeface="+mn-cs"/>
      </a:defRPr>
    </a:lvl1pPr>
    <a:lvl2pPr marL="1874977" algn="l" defTabSz="3749954" rtl="0" eaLnBrk="1" latinLnBrk="0" hangingPunct="1">
      <a:defRPr sz="7382" kern="1200">
        <a:solidFill>
          <a:schemeClr val="tx1"/>
        </a:solidFill>
        <a:latin typeface="+mn-lt"/>
        <a:ea typeface="+mn-ea"/>
        <a:cs typeface="+mn-cs"/>
      </a:defRPr>
    </a:lvl2pPr>
    <a:lvl3pPr marL="3749954" algn="l" defTabSz="3749954" rtl="0" eaLnBrk="1" latinLnBrk="0" hangingPunct="1">
      <a:defRPr sz="7382" kern="1200">
        <a:solidFill>
          <a:schemeClr val="tx1"/>
        </a:solidFill>
        <a:latin typeface="+mn-lt"/>
        <a:ea typeface="+mn-ea"/>
        <a:cs typeface="+mn-cs"/>
      </a:defRPr>
    </a:lvl3pPr>
    <a:lvl4pPr marL="5624932" algn="l" defTabSz="3749954" rtl="0" eaLnBrk="1" latinLnBrk="0" hangingPunct="1">
      <a:defRPr sz="7382" kern="1200">
        <a:solidFill>
          <a:schemeClr val="tx1"/>
        </a:solidFill>
        <a:latin typeface="+mn-lt"/>
        <a:ea typeface="+mn-ea"/>
        <a:cs typeface="+mn-cs"/>
      </a:defRPr>
    </a:lvl4pPr>
    <a:lvl5pPr marL="7499909" algn="l" defTabSz="3749954" rtl="0" eaLnBrk="1" latinLnBrk="0" hangingPunct="1">
      <a:defRPr sz="7382" kern="1200">
        <a:solidFill>
          <a:schemeClr val="tx1"/>
        </a:solidFill>
        <a:latin typeface="+mn-lt"/>
        <a:ea typeface="+mn-ea"/>
        <a:cs typeface="+mn-cs"/>
      </a:defRPr>
    </a:lvl5pPr>
    <a:lvl6pPr marL="9374886" algn="l" defTabSz="3749954" rtl="0" eaLnBrk="1" latinLnBrk="0" hangingPunct="1">
      <a:defRPr sz="7382" kern="1200">
        <a:solidFill>
          <a:schemeClr val="tx1"/>
        </a:solidFill>
        <a:latin typeface="+mn-lt"/>
        <a:ea typeface="+mn-ea"/>
        <a:cs typeface="+mn-cs"/>
      </a:defRPr>
    </a:lvl6pPr>
    <a:lvl7pPr marL="11249863" algn="l" defTabSz="3749954" rtl="0" eaLnBrk="1" latinLnBrk="0" hangingPunct="1">
      <a:defRPr sz="7382" kern="1200">
        <a:solidFill>
          <a:schemeClr val="tx1"/>
        </a:solidFill>
        <a:latin typeface="+mn-lt"/>
        <a:ea typeface="+mn-ea"/>
        <a:cs typeface="+mn-cs"/>
      </a:defRPr>
    </a:lvl7pPr>
    <a:lvl8pPr marL="13124840" algn="l" defTabSz="3749954" rtl="0" eaLnBrk="1" latinLnBrk="0" hangingPunct="1">
      <a:defRPr sz="7382" kern="1200">
        <a:solidFill>
          <a:schemeClr val="tx1"/>
        </a:solidFill>
        <a:latin typeface="+mn-lt"/>
        <a:ea typeface="+mn-ea"/>
        <a:cs typeface="+mn-cs"/>
      </a:defRPr>
    </a:lvl8pPr>
    <a:lvl9pPr marL="14999818" algn="l" defTabSz="3749954" rtl="0" eaLnBrk="1" latinLnBrk="0" hangingPunct="1">
      <a:defRPr sz="738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086">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5358"/>
    <a:srgbClr val="4F5055"/>
    <a:srgbClr val="515257"/>
    <a:srgbClr val="54555A"/>
    <a:srgbClr val="5E8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441" autoAdjust="0"/>
    <p:restoredTop sz="99823" autoAdjust="0"/>
  </p:normalViewPr>
  <p:slideViewPr>
    <p:cSldViewPr snapToGrid="0" snapToObjects="1">
      <p:cViewPr>
        <p:scale>
          <a:sx n="45" d="100"/>
          <a:sy n="45" d="100"/>
        </p:scale>
        <p:origin x="5096" y="144"/>
      </p:cViewPr>
      <p:guideLst>
        <p:guide orient="horz" pos="13086"/>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3DA53E-587D-A34F-A2B2-3DF9315F8979}" type="datetimeFigureOut">
              <a:rPr lang="en-US" smtClean="0"/>
              <a:t>8/23/16</a:t>
            </a:fld>
            <a:endParaRPr lang="en-US"/>
          </a:p>
        </p:txBody>
      </p:sp>
      <p:sp>
        <p:nvSpPr>
          <p:cNvPr id="4" name="Slide Image Placeholder 3"/>
          <p:cNvSpPr>
            <a:spLocks noGrp="1" noRot="1" noChangeAspect="1"/>
          </p:cNvSpPr>
          <p:nvPr>
            <p:ph type="sldImg" idx="2"/>
          </p:nvPr>
        </p:nvSpPr>
        <p:spPr>
          <a:xfrm>
            <a:off x="2070100" y="1143000"/>
            <a:ext cx="2717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8F1C-88FD-FC46-99BA-298603425A47}" type="slidenum">
              <a:rPr lang="en-US" smtClean="0"/>
              <a:t>‹#›</a:t>
            </a:fld>
            <a:endParaRPr lang="en-US"/>
          </a:p>
        </p:txBody>
      </p:sp>
    </p:spTree>
    <p:extLst>
      <p:ext uri="{BB962C8B-B14F-4D97-AF65-F5344CB8AC3E}">
        <p14:creationId xmlns:p14="http://schemas.microsoft.com/office/powerpoint/2010/main" val="1365180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E48F1C-88FD-FC46-99BA-298603425A47}" type="slidenum">
              <a:rPr lang="en-US" smtClean="0"/>
              <a:t>1</a:t>
            </a:fld>
            <a:endParaRPr lang="en-US"/>
          </a:p>
        </p:txBody>
      </p:sp>
    </p:spTree>
    <p:extLst>
      <p:ext uri="{BB962C8B-B14F-4D97-AF65-F5344CB8AC3E}">
        <p14:creationId xmlns:p14="http://schemas.microsoft.com/office/powerpoint/2010/main" val="1540383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6799909"/>
            <a:ext cx="31089600" cy="14465430"/>
          </a:xfrm>
        </p:spPr>
        <p:txBody>
          <a:bodyPr anchor="b"/>
          <a:lstStyle>
            <a:lvl1pPr algn="ctr">
              <a:defRPr sz="24000"/>
            </a:lvl1pPr>
          </a:lstStyle>
          <a:p>
            <a:r>
              <a:rPr lang="en-US" smtClean="0"/>
              <a:t>Click to edit Master title style</a:t>
            </a:r>
            <a:endParaRPr lang="en-US" dirty="0"/>
          </a:p>
        </p:txBody>
      </p:sp>
      <p:sp>
        <p:nvSpPr>
          <p:cNvPr id="3" name="Subtitle 2"/>
          <p:cNvSpPr>
            <a:spLocks noGrp="1"/>
          </p:cNvSpPr>
          <p:nvPr>
            <p:ph type="subTitle" idx="1"/>
          </p:nvPr>
        </p:nvSpPr>
        <p:spPr>
          <a:xfrm>
            <a:off x="4572000" y="21823181"/>
            <a:ext cx="27432000" cy="10031542"/>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44227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84693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10358568"/>
            <a:ext cx="31546800" cy="17283492"/>
          </a:xfrm>
        </p:spPr>
        <p:txBody>
          <a:bodyPr anchor="b"/>
          <a:lstStyle>
            <a:lvl1pPr>
              <a:defRPr sz="24000"/>
            </a:lvl1pPr>
          </a:lstStyle>
          <a:p>
            <a:r>
              <a:rPr lang="en-US" smtClean="0"/>
              <a:t>Click to edit Master title style</a:t>
            </a:r>
            <a:endParaRPr lang="en-US" dirty="0"/>
          </a:p>
        </p:txBody>
      </p:sp>
      <p:sp>
        <p:nvSpPr>
          <p:cNvPr id="3" name="Text Placeholder 2"/>
          <p:cNvSpPr>
            <a:spLocks noGrp="1"/>
          </p:cNvSpPr>
          <p:nvPr>
            <p:ph type="body" idx="1"/>
          </p:nvPr>
        </p:nvSpPr>
        <p:spPr>
          <a:xfrm>
            <a:off x="2495552" y="27805569"/>
            <a:ext cx="31546800" cy="9088980"/>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96932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14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18516600" y="11060667"/>
            <a:ext cx="15544800" cy="2636286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52579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212143"/>
            <a:ext cx="31546800" cy="803100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519368" y="10185435"/>
            <a:ext cx="15473360"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4" name="Content Placeholder 3"/>
          <p:cNvSpPr>
            <a:spLocks noGrp="1"/>
          </p:cNvSpPr>
          <p:nvPr>
            <p:ph sz="half" idx="2"/>
          </p:nvPr>
        </p:nvSpPr>
        <p:spPr>
          <a:xfrm>
            <a:off x="2519368" y="15177160"/>
            <a:ext cx="15473360"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18516602" y="10185435"/>
            <a:ext cx="15549564" cy="499172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6" name="Content Placeholder 5"/>
          <p:cNvSpPr>
            <a:spLocks noGrp="1"/>
          </p:cNvSpPr>
          <p:nvPr>
            <p:ph sz="quarter" idx="4"/>
          </p:nvPr>
        </p:nvSpPr>
        <p:spPr>
          <a:xfrm>
            <a:off x="18516602" y="15177160"/>
            <a:ext cx="15549564" cy="223233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9D1B2C-7FEC-A643-940A-7934DC981F4F}" type="datetimeFigureOut">
              <a:rPr lang="en-US" smtClean="0"/>
              <a:t>8/23/16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8621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9D1B2C-7FEC-A643-940A-7934DC981F4F}" type="datetimeFigureOut">
              <a:rPr lang="en-US" smtClean="0"/>
              <a:t>8/23/16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43996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D1B2C-7FEC-A643-940A-7934DC981F4F}" type="datetimeFigureOut">
              <a:rPr lang="en-US" smtClean="0"/>
              <a:t>8/23/16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4214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Content Placeholder 2"/>
          <p:cNvSpPr>
            <a:spLocks noGrp="1"/>
          </p:cNvSpPr>
          <p:nvPr>
            <p:ph idx="1"/>
          </p:nvPr>
        </p:nvSpPr>
        <p:spPr>
          <a:xfrm>
            <a:off x="15549564" y="5982388"/>
            <a:ext cx="18516600" cy="2952717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3060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69976"/>
            <a:ext cx="11796712" cy="9694916"/>
          </a:xfrm>
        </p:spPr>
        <p:txBody>
          <a:bodyPr anchor="b"/>
          <a:lstStyle>
            <a:lvl1pPr>
              <a:defRPr sz="1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549564" y="5982388"/>
            <a:ext cx="18516600" cy="2952717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2519364" y="12464892"/>
            <a:ext cx="11796712" cy="23092753"/>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D1B2C-7FEC-A643-940A-7934DC981F4F}" type="datetimeFigureOut">
              <a:rPr lang="en-US" smtClean="0"/>
              <a:t>8/23/16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57980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690270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2212133"/>
            <a:ext cx="7886700" cy="352113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14602" y="2212133"/>
            <a:ext cx="23202900" cy="3521139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9D1B2C-7FEC-A643-940A-7934DC981F4F}" type="datetimeFigureOut">
              <a:rPr lang="en-US" smtClean="0"/>
              <a:t>8/23/16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2FF19A-555B-134D-AEFE-81A7C1130558}" type="slidenum">
              <a:rPr lang="en-US" smtClean="0"/>
              <a:t>‹#›</a:t>
            </a:fld>
            <a:endParaRPr lang="en-US"/>
          </a:p>
        </p:txBody>
      </p:sp>
    </p:spTree>
    <p:extLst>
      <p:ext uri="{BB962C8B-B14F-4D97-AF65-F5344CB8AC3E}">
        <p14:creationId xmlns:p14="http://schemas.microsoft.com/office/powerpoint/2010/main" val="146114877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2212143"/>
            <a:ext cx="31546800" cy="8031009"/>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14600" y="11060667"/>
            <a:ext cx="31546800" cy="2636286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514600" y="38510368"/>
            <a:ext cx="8229600" cy="2212134"/>
          </a:xfrm>
          <a:prstGeom prst="rect">
            <a:avLst/>
          </a:prstGeom>
        </p:spPr>
        <p:txBody>
          <a:bodyPr vert="horz" lIns="91440" tIns="45720" rIns="91440" bIns="45720" rtlCol="0" anchor="ctr"/>
          <a:lstStyle>
            <a:lvl1pPr algn="l">
              <a:defRPr sz="4800">
                <a:solidFill>
                  <a:schemeClr val="tx1">
                    <a:tint val="75000"/>
                  </a:schemeClr>
                </a:solidFill>
              </a:defRPr>
            </a:lvl1pPr>
          </a:lstStyle>
          <a:p>
            <a:fld id="{D99D1B2C-7FEC-A643-940A-7934DC981F4F}" type="datetimeFigureOut">
              <a:rPr lang="en-US" smtClean="0"/>
              <a:t>8/23/16</a:t>
            </a:fld>
            <a:endParaRPr lang="en-US"/>
          </a:p>
        </p:txBody>
      </p:sp>
      <p:sp>
        <p:nvSpPr>
          <p:cNvPr id="5" name="Footer Placeholder 4"/>
          <p:cNvSpPr>
            <a:spLocks noGrp="1"/>
          </p:cNvSpPr>
          <p:nvPr>
            <p:ph type="ftr" sz="quarter" idx="3"/>
          </p:nvPr>
        </p:nvSpPr>
        <p:spPr>
          <a:xfrm>
            <a:off x="12115800" y="38510368"/>
            <a:ext cx="12344400" cy="2212134"/>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38510368"/>
            <a:ext cx="8229600" cy="2212134"/>
          </a:xfrm>
          <a:prstGeom prst="rect">
            <a:avLst/>
          </a:prstGeom>
        </p:spPr>
        <p:txBody>
          <a:bodyPr vert="horz" lIns="91440" tIns="45720" rIns="91440" bIns="45720" rtlCol="0" anchor="ctr"/>
          <a:lstStyle>
            <a:lvl1pPr algn="r">
              <a:defRPr sz="4800">
                <a:solidFill>
                  <a:schemeClr val="tx1">
                    <a:tint val="75000"/>
                  </a:schemeClr>
                </a:solidFill>
              </a:defRPr>
            </a:lvl1pPr>
          </a:lstStyle>
          <a:p>
            <a:fld id="{692FF19A-555B-134D-AEFE-81A7C1130558}" type="slidenum">
              <a:rPr lang="en-US" smtClean="0"/>
              <a:t>‹#›</a:t>
            </a:fld>
            <a:endParaRPr lang="en-US"/>
          </a:p>
        </p:txBody>
      </p:sp>
    </p:spTree>
    <p:extLst>
      <p:ext uri="{BB962C8B-B14F-4D97-AF65-F5344CB8AC3E}">
        <p14:creationId xmlns:p14="http://schemas.microsoft.com/office/powerpoint/2010/main" val="1675132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png"/><Relationship Id="rId20" Type="http://schemas.openxmlformats.org/officeDocument/2006/relationships/image" Target="../media/image18.gif"/><Relationship Id="rId21" Type="http://schemas.openxmlformats.org/officeDocument/2006/relationships/image" Target="../media/image19.emf"/><Relationship Id="rId22" Type="http://schemas.openxmlformats.org/officeDocument/2006/relationships/image" Target="../media/image20.emf"/><Relationship Id="rId23" Type="http://schemas.openxmlformats.org/officeDocument/2006/relationships/image" Target="../media/image21.emf"/><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gif"/><Relationship Id="rId16" Type="http://schemas.openxmlformats.org/officeDocument/2006/relationships/image" Target="../media/image15.gif"/><Relationship Id="rId17" Type="http://schemas.openxmlformats.org/officeDocument/2006/relationships/image" Target="../media/image16.emf"/><Relationship Id="rId18" Type="http://schemas.openxmlformats.org/officeDocument/2006/relationships/image" Target="../media/image17.emf"/><Relationship Id="rId19" Type="http://schemas.openxmlformats.org/officeDocument/2006/relationships/hyperlink" Target="http://www.atp.nist.gov/eao/gcr02-841/gcr02-841.pdf"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4069" y="26312963"/>
            <a:ext cx="33309070" cy="12036318"/>
          </a:xfrm>
          <a:prstGeom prst="rect">
            <a:avLst/>
          </a:prstGeom>
        </p:spPr>
      </p:pic>
      <p:grpSp>
        <p:nvGrpSpPr>
          <p:cNvPr id="10" name="Group 9"/>
          <p:cNvGrpSpPr/>
          <p:nvPr/>
        </p:nvGrpSpPr>
        <p:grpSpPr>
          <a:xfrm>
            <a:off x="15057825" y="10698425"/>
            <a:ext cx="19255542" cy="3528279"/>
            <a:chOff x="15279499" y="10619722"/>
            <a:chExt cx="18502501" cy="3184221"/>
          </a:xfrm>
        </p:grpSpPr>
        <p:pic>
          <p:nvPicPr>
            <p:cNvPr id="1040" name="Picture 16" descr="GNU Healt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148" y="12123600"/>
              <a:ext cx="3729990" cy="1135214"/>
            </a:xfrm>
            <a:prstGeom prst="rect">
              <a:avLst/>
            </a:prstGeom>
            <a:noFill/>
            <a:extLst>
              <a:ext uri="{909E8E84-426E-40dd-AFC4-6F175D3DCCD1}">
                <a14:hiddenFill xmlns="" xmlns:a14="http://schemas.microsoft.com/office/drawing/2010/main">
                  <a:solidFill>
                    <a:srgbClr val="FFFFFF"/>
                  </a:solidFill>
                </a14:hiddenFill>
              </a:ext>
            </a:extLst>
          </p:spPr>
        </p:pic>
        <p:pic>
          <p:nvPicPr>
            <p:cNvPr id="24" name="Picture 2" descr="Image result for HADOOP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79499" y="10619722"/>
              <a:ext cx="3184220" cy="3184221"/>
            </a:xfrm>
            <a:prstGeom prst="rect">
              <a:avLst/>
            </a:prstGeom>
            <a:noFill/>
            <a:extLst>
              <a:ext uri="{909E8E84-426E-40dd-AFC4-6F175D3DCCD1}">
                <a14:hiddenFill xmlns="" xmlns:a14="http://schemas.microsoft.com/office/drawing/2010/main">
                  <a:solidFill>
                    <a:srgbClr val="FFFFFF"/>
                  </a:solidFill>
                </a14:hiddenFill>
              </a:ext>
            </a:extLst>
          </p:spPr>
        </p:pic>
        <p:pic>
          <p:nvPicPr>
            <p:cNvPr id="26" name="Picture 4" descr="Image result for BLENDR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27981" y="10662345"/>
              <a:ext cx="1751787" cy="1751787"/>
            </a:xfrm>
            <a:prstGeom prst="rect">
              <a:avLst/>
            </a:prstGeom>
            <a:noFill/>
            <a:extLst>
              <a:ext uri="{909E8E84-426E-40dd-AFC4-6F175D3DCCD1}">
                <a14:hiddenFill xmlns="" xmlns:a14="http://schemas.microsoft.com/office/drawing/2010/main">
                  <a:solidFill>
                    <a:srgbClr val="FFFFFF"/>
                  </a:solidFill>
                </a14:hiddenFill>
              </a:ext>
            </a:extLst>
          </p:spPr>
        </p:pic>
        <p:pic>
          <p:nvPicPr>
            <p:cNvPr id="1030" name="Picture 6" descr="Image result for 7-zip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99789" y="11035242"/>
              <a:ext cx="2585399" cy="2585399"/>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Activiti Log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28561" y="11004937"/>
              <a:ext cx="3138760" cy="806129"/>
            </a:xfrm>
            <a:prstGeom prst="rect">
              <a:avLst/>
            </a:prstGeom>
            <a:noFill/>
            <a:extLst>
              <a:ext uri="{909E8E84-426E-40dd-AFC4-6F175D3DCCD1}">
                <a14:hiddenFill xmlns="" xmlns:a14="http://schemas.microsoft.com/office/drawing/2010/main">
                  <a:solidFill>
                    <a:srgbClr val="FFFFFF"/>
                  </a:solidFill>
                </a14:hiddenFill>
              </a:ext>
            </a:extLst>
          </p:spPr>
        </p:pic>
        <p:pic>
          <p:nvPicPr>
            <p:cNvPr id="1034" name="Picture 10" descr="https://s1.wp.com/i/favicons/android-chrome-192x192.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21881" y="10996616"/>
              <a:ext cx="2060119" cy="2060119"/>
            </a:xfrm>
            <a:prstGeom prst="rect">
              <a:avLst/>
            </a:prstGeom>
            <a:noFill/>
            <a:extLst>
              <a:ext uri="{909E8E84-426E-40dd-AFC4-6F175D3DCCD1}">
                <a14:hiddenFill xmlns="" xmlns:a14="http://schemas.microsoft.com/office/drawing/2010/main">
                  <a:solidFill>
                    <a:srgbClr val="FFFFFF"/>
                  </a:solidFill>
                </a14:hiddenFill>
              </a:ext>
            </a:extLst>
          </p:spPr>
        </p:pic>
        <p:pic>
          <p:nvPicPr>
            <p:cNvPr id="1036" name="Picture 12" descr="https://marble.kde.org/img/marble-logo.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492572" y="11894084"/>
              <a:ext cx="4130667" cy="1159486"/>
            </a:xfrm>
            <a:prstGeom prst="rect">
              <a:avLst/>
            </a:prstGeom>
            <a:noFill/>
            <a:extLst>
              <a:ext uri="{909E8E84-426E-40dd-AFC4-6F175D3DCCD1}">
                <a14:hiddenFill xmlns="" xmlns:a14="http://schemas.microsoft.com/office/drawing/2010/main">
                  <a:solidFill>
                    <a:srgbClr val="FFFFFF"/>
                  </a:solidFill>
                </a14:hiddenFill>
              </a:ext>
            </a:extLst>
          </p:spPr>
        </p:pic>
        <p:pic>
          <p:nvPicPr>
            <p:cNvPr id="1038" name="Picture 14" descr="The Open Education Consortium"/>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72734" y="11040639"/>
              <a:ext cx="3567816" cy="973042"/>
            </a:xfrm>
            <a:prstGeom prst="rect">
              <a:avLst/>
            </a:prstGeom>
            <a:noFill/>
            <a:extLst>
              <a:ext uri="{909E8E84-426E-40dd-AFC4-6F175D3DCCD1}">
                <a14:hiddenFill xmlns="" xmlns:a14="http://schemas.microsoft.com/office/drawing/2010/main">
                  <a:solidFill>
                    <a:srgbClr val="FFFFFF"/>
                  </a:solidFill>
                </a14:hiddenFill>
              </a:ext>
            </a:extLst>
          </p:spPr>
        </p:pic>
        <p:pic>
          <p:nvPicPr>
            <p:cNvPr id="1042" name="Picture 18" descr="https://www.mozilla.org/media/img/styleguide/identity/firefox/guidelines-logo.7ea045a4e288.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033626" y="10676160"/>
              <a:ext cx="1474295" cy="1501904"/>
            </a:xfrm>
            <a:prstGeom prst="rect">
              <a:avLst/>
            </a:prstGeom>
            <a:noFill/>
            <a:extLst>
              <a:ext uri="{909E8E84-426E-40dd-AFC4-6F175D3DCCD1}">
                <a14:hiddenFill xmlns="" xmlns:a14="http://schemas.microsoft.com/office/drawing/2010/main">
                  <a:solidFill>
                    <a:srgbClr val="FFFFFF"/>
                  </a:solidFill>
                </a14:hiddenFill>
              </a:ext>
            </a:extLst>
          </p:spPr>
        </p:pic>
        <p:pic>
          <p:nvPicPr>
            <p:cNvPr id="79" name="Picture 78"/>
            <p:cNvPicPr>
              <a:picLocks noChangeAspect="1"/>
            </p:cNvPicPr>
            <p:nvPr/>
          </p:nvPicPr>
          <p:blipFill>
            <a:blip r:embed="rId13"/>
            <a:stretch>
              <a:fillRect/>
            </a:stretch>
          </p:blipFill>
          <p:spPr>
            <a:xfrm>
              <a:off x="17746907" y="12274383"/>
              <a:ext cx="2227182" cy="864925"/>
            </a:xfrm>
            <a:prstGeom prst="rect">
              <a:avLst/>
            </a:prstGeom>
          </p:spPr>
        </p:pic>
        <p:pic>
          <p:nvPicPr>
            <p:cNvPr id="1046" name="Picture 22" descr="Joomla! Log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40373" y="10804038"/>
              <a:ext cx="1293920" cy="1293923"/>
            </a:xfrm>
            <a:prstGeom prst="rect">
              <a:avLst/>
            </a:prstGeom>
            <a:noFill/>
            <a:extLst>
              <a:ext uri="{909E8E84-426E-40dd-AFC4-6F175D3DCCD1}">
                <a14:hiddenFill xmlns="" xmlns:a14="http://schemas.microsoft.com/office/drawing/2010/main">
                  <a:solidFill>
                    <a:srgbClr val="FFFFFF"/>
                  </a:solidFill>
                </a14:hiddenFill>
              </a:ext>
            </a:extLst>
          </p:spPr>
        </p:pic>
      </p:grpSp>
      <p:pic>
        <p:nvPicPr>
          <p:cNvPr id="66" name="Picture 65"/>
          <p:cNvPicPr>
            <a:picLocks noChangeAspect="1"/>
          </p:cNvPicPr>
          <p:nvPr/>
        </p:nvPicPr>
        <p:blipFill rotWithShape="1">
          <a:blip r:embed="rId15">
            <a:extLst>
              <a:ext uri="{28A0092B-C50C-407E-A947-70E740481C1C}">
                <a14:useLocalDpi xmlns:a14="http://schemas.microsoft.com/office/drawing/2010/main" val="0"/>
              </a:ext>
            </a:extLst>
          </a:blip>
          <a:srcRect t="18693" b="28840"/>
          <a:stretch/>
        </p:blipFill>
        <p:spPr>
          <a:xfrm>
            <a:off x="27577719" y="21617108"/>
            <a:ext cx="7772400" cy="4077971"/>
          </a:xfrm>
          <a:prstGeom prst="rect">
            <a:avLst/>
          </a:prstGeom>
        </p:spPr>
      </p:pic>
      <p:pic>
        <p:nvPicPr>
          <p:cNvPr id="75" name="Picture 74"/>
          <p:cNvPicPr>
            <a:picLocks noChangeAspect="1"/>
          </p:cNvPicPr>
          <p:nvPr/>
        </p:nvPicPr>
        <p:blipFill rotWithShape="1">
          <a:blip r:embed="rId16">
            <a:extLst>
              <a:ext uri="{28A0092B-C50C-407E-A947-70E740481C1C}">
                <a14:useLocalDpi xmlns:a14="http://schemas.microsoft.com/office/drawing/2010/main" val="0"/>
              </a:ext>
            </a:extLst>
          </a:blip>
          <a:srcRect b="29860"/>
          <a:stretch/>
        </p:blipFill>
        <p:spPr>
          <a:xfrm>
            <a:off x="14547293" y="20141917"/>
            <a:ext cx="7772400" cy="5451562"/>
          </a:xfrm>
          <a:prstGeom prst="rect">
            <a:avLst/>
          </a:prstGeom>
        </p:spPr>
      </p:pic>
      <p:pic>
        <p:nvPicPr>
          <p:cNvPr id="7" name="Picture 6"/>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9623" y="957385"/>
            <a:ext cx="8712200" cy="3530600"/>
          </a:xfrm>
          <a:prstGeom prst="rect">
            <a:avLst/>
          </a:prstGeom>
        </p:spPr>
      </p:pic>
      <p:pic>
        <p:nvPicPr>
          <p:cNvPr id="8" name="Picture 7"/>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488223" y="39039800"/>
            <a:ext cx="5715000" cy="1854200"/>
          </a:xfrm>
          <a:prstGeom prst="rect">
            <a:avLst/>
          </a:prstGeom>
        </p:spPr>
      </p:pic>
      <p:sp>
        <p:nvSpPr>
          <p:cNvPr id="12" name="TextBox 11"/>
          <p:cNvSpPr txBox="1"/>
          <p:nvPr/>
        </p:nvSpPr>
        <p:spPr>
          <a:xfrm>
            <a:off x="10977228" y="693037"/>
            <a:ext cx="25323176" cy="3016210"/>
          </a:xfrm>
          <a:prstGeom prst="rect">
            <a:avLst/>
          </a:prstGeom>
          <a:noFill/>
        </p:spPr>
        <p:txBody>
          <a:bodyPr wrap="square" rtlCol="0">
            <a:spAutoFit/>
          </a:bodyPr>
          <a:lstStyle/>
          <a:p>
            <a:r>
              <a:rPr lang="en-US" sz="19000" dirty="0" smtClean="0">
                <a:latin typeface="Blanch Caps"/>
                <a:ea typeface="Blanch Caps" charset="0"/>
                <a:cs typeface="Raleway Medium"/>
              </a:rPr>
              <a:t>Open Source Software and Innovation</a:t>
            </a:r>
            <a:endParaRPr lang="en-US" sz="19000" dirty="0">
              <a:latin typeface="Blanch Caps"/>
              <a:ea typeface="Blanch Caps" charset="0"/>
              <a:cs typeface="Raleway Medium"/>
            </a:endParaRPr>
          </a:p>
        </p:txBody>
      </p:sp>
      <p:sp>
        <p:nvSpPr>
          <p:cNvPr id="27" name="TextBox 26"/>
          <p:cNvSpPr txBox="1"/>
          <p:nvPr/>
        </p:nvSpPr>
        <p:spPr>
          <a:xfrm>
            <a:off x="1615860" y="6481588"/>
            <a:ext cx="11696672" cy="2092881"/>
          </a:xfrm>
          <a:prstGeom prst="rect">
            <a:avLst/>
          </a:prstGeom>
          <a:noFill/>
        </p:spPr>
        <p:txBody>
          <a:bodyPr wrap="square" rtlCol="0">
            <a:spAutoFit/>
          </a:bodyPr>
          <a:lstStyle/>
          <a:p>
            <a:r>
              <a:rPr lang="en-US" sz="6500" dirty="0" smtClean="0">
                <a:latin typeface="Raleway Medium" charset="0"/>
                <a:ea typeface="Raleway Medium" charset="0"/>
                <a:cs typeface="Raleway Medium" charset="0"/>
              </a:rPr>
              <a:t>Measuring Innovation Using Novel Sources of Data</a:t>
            </a:r>
            <a:endParaRPr lang="en-US" sz="6500" dirty="0">
              <a:latin typeface="Raleway Medium" charset="0"/>
              <a:ea typeface="Raleway Medium" charset="0"/>
              <a:cs typeface="Raleway Medium" charset="0"/>
            </a:endParaRPr>
          </a:p>
        </p:txBody>
      </p:sp>
      <p:sp>
        <p:nvSpPr>
          <p:cNvPr id="34" name="TextBox 33"/>
          <p:cNvSpPr txBox="1"/>
          <p:nvPr/>
        </p:nvSpPr>
        <p:spPr>
          <a:xfrm>
            <a:off x="27749101" y="39409416"/>
            <a:ext cx="7455299" cy="461665"/>
          </a:xfrm>
          <a:prstGeom prst="rect">
            <a:avLst/>
          </a:prstGeom>
          <a:noFill/>
        </p:spPr>
        <p:txBody>
          <a:bodyPr wrap="square" rtlCol="0">
            <a:spAutoFit/>
          </a:bodyPr>
          <a:lstStyle/>
          <a:p>
            <a:pPr algn="r"/>
            <a:r>
              <a:rPr lang="en-US" sz="2400" dirty="0" err="1" smtClean="0">
                <a:solidFill>
                  <a:schemeClr val="bg2">
                    <a:lumMod val="50000"/>
                  </a:schemeClr>
                </a:solidFill>
                <a:latin typeface="Raleway Medium" charset="0"/>
                <a:ea typeface="Raleway Medium" charset="0"/>
                <a:cs typeface="Raleway Medium" charset="0"/>
              </a:rPr>
              <a:t>bi.vt.edu</a:t>
            </a:r>
            <a:r>
              <a:rPr lang="en-US" sz="2400" dirty="0" smtClean="0">
                <a:solidFill>
                  <a:schemeClr val="bg2">
                    <a:lumMod val="50000"/>
                  </a:schemeClr>
                </a:solidFill>
                <a:latin typeface="Raleway Medium" charset="0"/>
                <a:ea typeface="Raleway Medium" charset="0"/>
                <a:cs typeface="Raleway Medium" charset="0"/>
              </a:rPr>
              <a:t>/</a:t>
            </a:r>
            <a:r>
              <a:rPr lang="en-US" sz="2400" dirty="0" err="1" smtClean="0">
                <a:solidFill>
                  <a:schemeClr val="bg2">
                    <a:lumMod val="50000"/>
                  </a:schemeClr>
                </a:solidFill>
                <a:latin typeface="Raleway Medium" charset="0"/>
                <a:ea typeface="Raleway Medium" charset="0"/>
                <a:cs typeface="Raleway Medium" charset="0"/>
              </a:rPr>
              <a:t>sdal</a:t>
            </a:r>
            <a:endParaRPr lang="en-US" sz="2400" dirty="0">
              <a:solidFill>
                <a:schemeClr val="bg2">
                  <a:lumMod val="50000"/>
                </a:schemeClr>
              </a:solidFill>
              <a:latin typeface="Raleway Medium" charset="0"/>
              <a:ea typeface="Raleway Medium" charset="0"/>
              <a:cs typeface="Raleway Medium" charset="0"/>
            </a:endParaRPr>
          </a:p>
        </p:txBody>
      </p:sp>
      <p:sp>
        <p:nvSpPr>
          <p:cNvPr id="35" name="TextBox 34"/>
          <p:cNvSpPr txBox="1"/>
          <p:nvPr/>
        </p:nvSpPr>
        <p:spPr>
          <a:xfrm>
            <a:off x="11000383" y="4411727"/>
            <a:ext cx="22476224" cy="1200329"/>
          </a:xfrm>
          <a:prstGeom prst="rect">
            <a:avLst/>
          </a:prstGeom>
          <a:noFill/>
        </p:spPr>
        <p:txBody>
          <a:bodyPr wrap="square" rtlCol="0">
            <a:spAutoFit/>
          </a:bodyPr>
          <a:lstStyle/>
          <a:p>
            <a:r>
              <a:rPr lang="en-US" sz="3600" dirty="0" smtClean="0">
                <a:solidFill>
                  <a:schemeClr val="bg2">
                    <a:lumMod val="50000"/>
                  </a:schemeClr>
                </a:solidFill>
                <a:latin typeface="Raleway Medium"/>
                <a:ea typeface="Raleway" charset="0"/>
                <a:cs typeface="Raleway Medium"/>
              </a:rPr>
              <a:t>Adrienne Rogers (Virginia Tech);  Will </a:t>
            </a:r>
            <a:r>
              <a:rPr lang="en-US" sz="3600" dirty="0" err="1" smtClean="0">
                <a:solidFill>
                  <a:schemeClr val="bg2">
                    <a:lumMod val="50000"/>
                  </a:schemeClr>
                </a:solidFill>
                <a:latin typeface="Raleway Medium"/>
                <a:ea typeface="Raleway" charset="0"/>
                <a:cs typeface="Raleway Medium"/>
              </a:rPr>
              <a:t>Sandholtz</a:t>
            </a:r>
            <a:r>
              <a:rPr lang="en-US" sz="3600" dirty="0" smtClean="0">
                <a:solidFill>
                  <a:schemeClr val="bg2">
                    <a:lumMod val="50000"/>
                  </a:schemeClr>
                </a:solidFill>
                <a:latin typeface="Raleway Medium"/>
                <a:ea typeface="Raleway" charset="0"/>
                <a:cs typeface="Raleway Medium"/>
              </a:rPr>
              <a:t> (UC Berkeley) with </a:t>
            </a:r>
            <a:r>
              <a:rPr lang="en-US" sz="3600" dirty="0" err="1" smtClean="0">
                <a:solidFill>
                  <a:schemeClr val="bg2">
                    <a:lumMod val="50000"/>
                  </a:schemeClr>
                </a:solidFill>
                <a:latin typeface="Raleway Medium"/>
                <a:ea typeface="Raleway" charset="0"/>
                <a:cs typeface="Raleway Medium"/>
              </a:rPr>
              <a:t>Gizem</a:t>
            </a:r>
            <a:r>
              <a:rPr lang="en-US" sz="3600" dirty="0" smtClean="0">
                <a:solidFill>
                  <a:schemeClr val="bg2">
                    <a:lumMod val="50000"/>
                  </a:schemeClr>
                </a:solidFill>
                <a:latin typeface="Raleway Medium"/>
                <a:ea typeface="Raleway" charset="0"/>
                <a:cs typeface="Raleway Medium"/>
              </a:rPr>
              <a:t> </a:t>
            </a:r>
            <a:r>
              <a:rPr lang="en-US" sz="3600" dirty="0" err="1" smtClean="0">
                <a:solidFill>
                  <a:schemeClr val="bg2">
                    <a:lumMod val="50000"/>
                  </a:schemeClr>
                </a:solidFill>
                <a:latin typeface="Raleway Medium"/>
                <a:ea typeface="Raleway" charset="0"/>
                <a:cs typeface="Raleway Medium"/>
              </a:rPr>
              <a:t>Korkmaz</a:t>
            </a:r>
            <a:r>
              <a:rPr lang="en-US" sz="3600" dirty="0" smtClean="0">
                <a:solidFill>
                  <a:schemeClr val="bg2">
                    <a:lumMod val="50000"/>
                  </a:schemeClr>
                </a:solidFill>
                <a:latin typeface="Raleway Medium"/>
                <a:ea typeface="Raleway" charset="0"/>
                <a:cs typeface="Raleway Medium"/>
              </a:rPr>
              <a:t> and Stephanie Shipp, (SDAL) and National Center for Science and Engineering Statistics (NSF)</a:t>
            </a:r>
          </a:p>
        </p:txBody>
      </p:sp>
      <p:sp>
        <p:nvSpPr>
          <p:cNvPr id="41" name="TextBox 40"/>
          <p:cNvSpPr txBox="1"/>
          <p:nvPr/>
        </p:nvSpPr>
        <p:spPr>
          <a:xfrm>
            <a:off x="1615859" y="8804281"/>
            <a:ext cx="11696672" cy="2985433"/>
          </a:xfrm>
          <a:prstGeom prst="rect">
            <a:avLst/>
          </a:prstGeom>
          <a:noFill/>
        </p:spPr>
        <p:txBody>
          <a:bodyPr wrap="square" rtlCol="0">
            <a:spAutoFit/>
          </a:bodyPr>
          <a:lstStyle/>
          <a:p>
            <a:r>
              <a:rPr lang="en-US" sz="3000" b="1" dirty="0" smtClean="0">
                <a:latin typeface="Trebuchet MS" charset="0"/>
                <a:ea typeface="Trebuchet MS" charset="0"/>
                <a:cs typeface="Trebuchet MS" charset="0"/>
              </a:rPr>
              <a:t>Project Goal</a:t>
            </a:r>
          </a:p>
          <a:p>
            <a:r>
              <a:rPr lang="en-US" sz="400" b="1" dirty="0">
                <a:latin typeface="Trebuchet MS" charset="0"/>
                <a:ea typeface="Trebuchet MS" charset="0"/>
                <a:cs typeface="Trebuchet MS" charset="0"/>
              </a:rPr>
              <a:t> </a:t>
            </a:r>
            <a:endParaRPr lang="en-US" sz="400" b="1" dirty="0" smtClean="0">
              <a:latin typeface="Trebuchet MS" charset="0"/>
              <a:ea typeface="Trebuchet MS" charset="0"/>
              <a:cs typeface="Trebuchet MS" charset="0"/>
            </a:endParaRPr>
          </a:p>
          <a:p>
            <a:r>
              <a:rPr lang="en-US" sz="3000" dirty="0">
                <a:latin typeface="Trebuchet MS" panose="020B0603020202020204" pitchFamily="34" charset="0"/>
              </a:rPr>
              <a:t>To identify potential sources of </a:t>
            </a:r>
            <a:r>
              <a:rPr lang="en-US" sz="3000" dirty="0" smtClean="0">
                <a:latin typeface="Trebuchet MS" panose="020B0603020202020204" pitchFamily="34" charset="0"/>
              </a:rPr>
              <a:t>data</a:t>
            </a:r>
          </a:p>
          <a:p>
            <a:r>
              <a:rPr lang="en-US" sz="400" dirty="0">
                <a:latin typeface="Trebuchet MS" panose="020B0603020202020204" pitchFamily="34" charset="0"/>
              </a:rPr>
              <a:t> </a:t>
            </a:r>
          </a:p>
          <a:p>
            <a:pPr marL="457200" indent="-457200">
              <a:buFont typeface="Arial"/>
              <a:buChar char="•"/>
            </a:pPr>
            <a:r>
              <a:rPr lang="en-US" sz="3000" dirty="0" smtClean="0">
                <a:latin typeface="Trebuchet MS" panose="020B0603020202020204" pitchFamily="34" charset="0"/>
              </a:rPr>
              <a:t>To measure </a:t>
            </a:r>
            <a:r>
              <a:rPr lang="en-US" sz="3000" dirty="0">
                <a:latin typeface="Trebuchet MS" panose="020B0603020202020204" pitchFamily="34" charset="0"/>
              </a:rPr>
              <a:t>the production, diffusion, and impact of open-source software that is freely available on the </a:t>
            </a:r>
            <a:r>
              <a:rPr lang="en-US" sz="3000" dirty="0" smtClean="0">
                <a:latin typeface="Trebuchet MS" panose="020B0603020202020204" pitchFamily="34" charset="0"/>
              </a:rPr>
              <a:t>Internet. </a:t>
            </a:r>
          </a:p>
          <a:p>
            <a:pPr marL="457200" indent="-457200">
              <a:buFont typeface="Arial"/>
              <a:buChar char="•"/>
            </a:pPr>
            <a:r>
              <a:rPr lang="en-US" sz="3000" dirty="0" smtClean="0">
                <a:latin typeface="Trebuchet MS" panose="020B0603020202020204" pitchFamily="34" charset="0"/>
              </a:rPr>
              <a:t>To develop </a:t>
            </a:r>
            <a:r>
              <a:rPr lang="en-US" sz="3000" dirty="0">
                <a:latin typeface="Trebuchet MS" panose="020B0603020202020204" pitchFamily="34" charset="0"/>
              </a:rPr>
              <a:t>useful statistics to measure the value of open source </a:t>
            </a:r>
            <a:r>
              <a:rPr lang="en-US" sz="3000" dirty="0" smtClean="0">
                <a:latin typeface="Trebuchet MS" panose="020B0603020202020204" pitchFamily="34" charset="0"/>
              </a:rPr>
              <a:t>software</a:t>
            </a:r>
            <a:r>
              <a:rPr lang="en-US" sz="3000" dirty="0">
                <a:latin typeface="Trebuchet MS" panose="020B0603020202020204" pitchFamily="34" charset="0"/>
              </a:rPr>
              <a:t>, as well as the linkages to institutions and sectors. </a:t>
            </a:r>
            <a:endParaRPr lang="en-US" sz="3000" dirty="0">
              <a:latin typeface="Trebuchet MS" panose="020B0603020202020204" pitchFamily="34" charset="0"/>
              <a:ea typeface="Trebuchet MS" charset="0"/>
              <a:cs typeface="Trebuchet MS" charset="0"/>
            </a:endParaRPr>
          </a:p>
        </p:txBody>
      </p:sp>
      <p:sp>
        <p:nvSpPr>
          <p:cNvPr id="44" name="TextBox 43"/>
          <p:cNvSpPr txBox="1"/>
          <p:nvPr/>
        </p:nvSpPr>
        <p:spPr>
          <a:xfrm>
            <a:off x="14834741" y="6422766"/>
            <a:ext cx="13035794" cy="1092607"/>
          </a:xfrm>
          <a:prstGeom prst="rect">
            <a:avLst/>
          </a:prstGeom>
          <a:noFill/>
        </p:spPr>
        <p:txBody>
          <a:bodyPr wrap="square" rtlCol="0">
            <a:spAutoFit/>
          </a:bodyPr>
          <a:lstStyle/>
          <a:p>
            <a:r>
              <a:rPr lang="en-US" sz="6500" dirty="0" smtClean="0">
                <a:latin typeface="Raleway Medium" charset="0"/>
                <a:ea typeface="Raleway Medium" charset="0"/>
                <a:cs typeface="Raleway Medium" charset="0"/>
              </a:rPr>
              <a:t>Open Source Software</a:t>
            </a:r>
            <a:endParaRPr lang="en-US" sz="6500" dirty="0">
              <a:latin typeface="Raleway Medium" charset="0"/>
              <a:ea typeface="Raleway Medium" charset="0"/>
              <a:cs typeface="Raleway Medium" charset="0"/>
            </a:endParaRPr>
          </a:p>
        </p:txBody>
      </p:sp>
      <p:sp>
        <p:nvSpPr>
          <p:cNvPr id="72" name="TextBox 71"/>
          <p:cNvSpPr txBox="1"/>
          <p:nvPr/>
        </p:nvSpPr>
        <p:spPr>
          <a:xfrm>
            <a:off x="-13379000" y="10674396"/>
            <a:ext cx="12203805" cy="3323987"/>
          </a:xfrm>
          <a:prstGeom prst="rect">
            <a:avLst/>
          </a:prstGeom>
          <a:noFill/>
        </p:spPr>
        <p:txBody>
          <a:bodyPr wrap="square" rtlCol="0">
            <a:spAutoFit/>
          </a:bodyPr>
          <a:lstStyle/>
          <a:p>
            <a:r>
              <a:rPr lang="en-US" sz="3000" b="1" dirty="0" smtClean="0">
                <a:latin typeface="Trebuchet MS" charset="0"/>
                <a:ea typeface="Trebuchet MS" charset="0"/>
                <a:cs typeface="Trebuchet MS" charset="0"/>
              </a:rPr>
              <a:t>Invention to Innovation</a:t>
            </a:r>
            <a:r>
              <a:rPr lang="en-US" sz="3000" b="1" baseline="30000" dirty="0" smtClean="0">
                <a:latin typeface="Trebuchet MS" charset="0"/>
                <a:ea typeface="Trebuchet MS" charset="0"/>
                <a:cs typeface="Trebuchet MS" charset="0"/>
              </a:rPr>
              <a:t>1</a:t>
            </a:r>
          </a:p>
          <a:p>
            <a:pPr marL="457200" indent="-457200">
              <a:buFont typeface="Arial"/>
              <a:buChar char="•"/>
            </a:pPr>
            <a:r>
              <a:rPr lang="en-US" sz="3000" b="1" dirty="0" smtClean="0">
                <a:latin typeface="Trebuchet MS" panose="020B0603020202020204" pitchFamily="34" charset="0"/>
                <a:ea typeface="Trebuchet MS" charset="0"/>
                <a:cs typeface="Trebuchet MS" charset="0"/>
              </a:rPr>
              <a:t>Invention</a:t>
            </a:r>
            <a:r>
              <a:rPr lang="en-US" sz="3000" dirty="0" smtClean="0">
                <a:latin typeface="Trebuchet MS" panose="020B0603020202020204" pitchFamily="34" charset="0"/>
                <a:ea typeface="Trebuchet MS" charset="0"/>
                <a:cs typeface="Trebuchet MS" charset="0"/>
              </a:rPr>
              <a:t> - </a:t>
            </a:r>
            <a:r>
              <a:rPr lang="en-US" sz="3000" dirty="0" smtClean="0">
                <a:latin typeface="Trebuchet MS" panose="020B0603020202020204" pitchFamily="34" charset="0"/>
              </a:rPr>
              <a:t>a </a:t>
            </a:r>
            <a:r>
              <a:rPr lang="en-US" sz="3000" dirty="0">
                <a:latin typeface="Trebuchet MS" panose="020B0603020202020204" pitchFamily="34" charset="0"/>
              </a:rPr>
              <a:t>commercially promising product or service idea, based on new science or technology that is protectable (though not necessarily by patents or </a:t>
            </a:r>
            <a:r>
              <a:rPr lang="en-US" sz="3000" dirty="0" smtClean="0">
                <a:latin typeface="Trebuchet MS" panose="020B0603020202020204" pitchFamily="34" charset="0"/>
              </a:rPr>
              <a:t>copyrights</a:t>
            </a:r>
            <a:r>
              <a:rPr lang="en-US" sz="3000" dirty="0" smtClean="0">
                <a:latin typeface="Trebuchet MS" panose="020B0603020202020204" pitchFamily="34" charset="0"/>
                <a:ea typeface="Trebuchet MS" charset="0"/>
                <a:cs typeface="Trebuchet MS" charset="0"/>
              </a:rPr>
              <a:t> </a:t>
            </a:r>
          </a:p>
          <a:p>
            <a:pPr marL="457200" indent="-457200">
              <a:buFont typeface="Arial"/>
              <a:buChar char="•"/>
            </a:pPr>
            <a:r>
              <a:rPr lang="en-US" sz="3000" b="1" dirty="0" smtClean="0">
                <a:latin typeface="Trebuchet MS" panose="020B0603020202020204" pitchFamily="34" charset="0"/>
                <a:ea typeface="Trebuchet MS" charset="0"/>
                <a:cs typeface="Trebuchet MS" charset="0"/>
              </a:rPr>
              <a:t>Innovation</a:t>
            </a:r>
            <a:r>
              <a:rPr lang="en-US" sz="3000" dirty="0" smtClean="0">
                <a:latin typeface="Trebuchet MS" panose="020B0603020202020204" pitchFamily="34" charset="0"/>
                <a:ea typeface="Trebuchet MS" charset="0"/>
                <a:cs typeface="Trebuchet MS" charset="0"/>
              </a:rPr>
              <a:t> - </a:t>
            </a:r>
            <a:r>
              <a:rPr lang="en-US" sz="3000" dirty="0">
                <a:latin typeface="Trebuchet MS" panose="020B0603020202020204" pitchFamily="34" charset="0"/>
              </a:rPr>
              <a:t>the successful entry of a new science or technology-based product into a particular market</a:t>
            </a:r>
            <a:r>
              <a:rPr lang="en-US" sz="3000" dirty="0" smtClean="0">
                <a:latin typeface="Trebuchet MS" panose="020B0603020202020204" pitchFamily="34" charset="0"/>
              </a:rPr>
              <a:t>. </a:t>
            </a:r>
            <a:r>
              <a:rPr lang="en-US" sz="3000" dirty="0">
                <a:latin typeface="Trebuchet MS" panose="020B0603020202020204" pitchFamily="34" charset="0"/>
              </a:rPr>
              <a:t> </a:t>
            </a:r>
            <a:r>
              <a:rPr lang="en-US" sz="3000" u="sng" dirty="0">
                <a:latin typeface="Trebuchet MS" panose="020B0603020202020204" pitchFamily="34" charset="0"/>
                <a:hlinkClick r:id="rId19"/>
              </a:rPr>
              <a:t>http://www.atp.nist.gov/eao/gcr02-841/gcr02-841.pdf</a:t>
            </a:r>
            <a:endParaRPr lang="en-US" sz="3000" dirty="0">
              <a:latin typeface="Trebuchet MS" panose="020B0603020202020204" pitchFamily="34" charset="0"/>
              <a:ea typeface="Trebuchet MS" charset="0"/>
              <a:cs typeface="Trebuchet MS" charset="0"/>
            </a:endParaRPr>
          </a:p>
        </p:txBody>
      </p:sp>
      <p:sp>
        <p:nvSpPr>
          <p:cNvPr id="81" name="TextBox 80"/>
          <p:cNvSpPr txBox="1"/>
          <p:nvPr/>
        </p:nvSpPr>
        <p:spPr>
          <a:xfrm>
            <a:off x="14958614" y="9784388"/>
            <a:ext cx="19918838" cy="1015663"/>
          </a:xfrm>
          <a:prstGeom prst="rect">
            <a:avLst/>
          </a:prstGeom>
          <a:noFill/>
        </p:spPr>
        <p:txBody>
          <a:bodyPr wrap="square" rtlCol="0">
            <a:spAutoFit/>
          </a:bodyPr>
          <a:lstStyle/>
          <a:p>
            <a:pPr marL="457200" indent="-457200">
              <a:buFont typeface="Arial"/>
              <a:buChar char="•"/>
            </a:pPr>
            <a:r>
              <a:rPr lang="en-US" sz="3000" dirty="0" smtClean="0">
                <a:latin typeface="Trebuchet MS" charset="0"/>
                <a:ea typeface="Trebuchet MS" charset="0"/>
                <a:cs typeface="Trebuchet MS" charset="0"/>
              </a:rPr>
              <a:t>We explored 12 subject areas including Business, Education, Web, Data, etc.; carefully researching an example of each and evaluating documented funding, social media usage, number of contributors, etc. </a:t>
            </a:r>
            <a:endParaRPr lang="en-US" sz="3000" dirty="0">
              <a:latin typeface="Trebuchet MS" charset="0"/>
              <a:ea typeface="Trebuchet MS" charset="0"/>
              <a:cs typeface="Trebuchet MS" charset="0"/>
            </a:endParaRPr>
          </a:p>
        </p:txBody>
      </p:sp>
      <p:sp>
        <p:nvSpPr>
          <p:cNvPr id="82" name="TextBox 81"/>
          <p:cNvSpPr txBox="1"/>
          <p:nvPr/>
        </p:nvSpPr>
        <p:spPr>
          <a:xfrm>
            <a:off x="14862960" y="13883842"/>
            <a:ext cx="19546836" cy="553998"/>
          </a:xfrm>
          <a:prstGeom prst="rect">
            <a:avLst/>
          </a:prstGeom>
          <a:noFill/>
        </p:spPr>
        <p:txBody>
          <a:bodyPr wrap="square" rtlCol="0">
            <a:spAutoFit/>
          </a:bodyPr>
          <a:lstStyle/>
          <a:p>
            <a:pPr marL="457200" indent="-457200">
              <a:buFont typeface="Arial" panose="020B0604020202020204" pitchFamily="34" charset="0"/>
              <a:buChar char="•"/>
            </a:pPr>
            <a:r>
              <a:rPr lang="en-US" sz="3000" dirty="0" smtClean="0">
                <a:latin typeface="Trebuchet MS" charset="0"/>
                <a:ea typeface="Trebuchet MS" charset="0"/>
                <a:cs typeface="Trebuchet MS" charset="0"/>
              </a:rPr>
              <a:t>The next step was to go to the avid users and contributors themselves. </a:t>
            </a:r>
            <a:endParaRPr lang="en-US" sz="3000" dirty="0">
              <a:latin typeface="Trebuchet MS" charset="0"/>
              <a:ea typeface="Trebuchet MS" charset="0"/>
              <a:cs typeface="Trebuchet MS" charset="0"/>
            </a:endParaRPr>
          </a:p>
        </p:txBody>
      </p:sp>
      <p:sp>
        <p:nvSpPr>
          <p:cNvPr id="87" name="TextBox 86"/>
          <p:cNvSpPr txBox="1"/>
          <p:nvPr/>
        </p:nvSpPr>
        <p:spPr>
          <a:xfrm>
            <a:off x="1615859" y="17197807"/>
            <a:ext cx="11696674" cy="2923877"/>
          </a:xfrm>
          <a:prstGeom prst="rect">
            <a:avLst/>
          </a:prstGeom>
          <a:noFill/>
        </p:spPr>
        <p:txBody>
          <a:bodyPr wrap="square" rtlCol="0">
            <a:spAutoFit/>
          </a:bodyPr>
          <a:lstStyle/>
          <a:p>
            <a:r>
              <a:rPr lang="en-US" sz="3000" b="1" dirty="0" smtClean="0">
                <a:latin typeface="Trebuchet MS" charset="0"/>
                <a:ea typeface="Trebuchet MS" charset="0"/>
                <a:cs typeface="Trebuchet MS" charset="0"/>
              </a:rPr>
              <a:t>Current Practice</a:t>
            </a:r>
          </a:p>
          <a:p>
            <a:r>
              <a:rPr lang="en-US" sz="400" b="1" dirty="0">
                <a:latin typeface="Trebuchet MS" charset="0"/>
                <a:ea typeface="Trebuchet MS" charset="0"/>
                <a:cs typeface="Trebuchet MS" charset="0"/>
              </a:rPr>
              <a:t> </a:t>
            </a:r>
            <a:endParaRPr lang="en-US" sz="400" b="1" dirty="0" smtClean="0">
              <a:latin typeface="Trebuchet MS" charset="0"/>
              <a:ea typeface="Trebuchet MS" charset="0"/>
              <a:cs typeface="Trebuchet MS" charset="0"/>
            </a:endParaRPr>
          </a:p>
          <a:p>
            <a:pPr marL="457200" indent="-457200">
              <a:buFont typeface="Arial"/>
              <a:buChar char="•"/>
            </a:pPr>
            <a:r>
              <a:rPr lang="en-US" sz="3000" dirty="0" smtClean="0">
                <a:latin typeface="Trebuchet MS" charset="0"/>
                <a:ea typeface="Trebuchet MS" charset="0"/>
                <a:cs typeface="Trebuchet MS" charset="0"/>
              </a:rPr>
              <a:t>Measurements of innovation tend to rely on survey data, patent issues, trademarks approvals, intangible asset data, or estimates of total factor productivity growth. [2]</a:t>
            </a:r>
          </a:p>
          <a:p>
            <a:pPr marL="457200" indent="-457200">
              <a:buFont typeface="Arial"/>
              <a:buChar char="•"/>
            </a:pPr>
            <a:r>
              <a:rPr lang="en-US" sz="3000" dirty="0" smtClean="0">
                <a:latin typeface="Trebuchet MS" charset="0"/>
                <a:ea typeface="Trebuchet MS" charset="0"/>
                <a:cs typeface="Trebuchet MS" charset="0"/>
              </a:rPr>
              <a:t>Survey data are incomplete, and patent data fail to capture innovation that is freely available to the public.  </a:t>
            </a:r>
          </a:p>
        </p:txBody>
      </p:sp>
      <p:sp>
        <p:nvSpPr>
          <p:cNvPr id="88" name="TextBox 87"/>
          <p:cNvSpPr txBox="1"/>
          <p:nvPr/>
        </p:nvSpPr>
        <p:spPr>
          <a:xfrm>
            <a:off x="1615860" y="20096214"/>
            <a:ext cx="11808800" cy="3970318"/>
          </a:xfrm>
          <a:prstGeom prst="rect">
            <a:avLst/>
          </a:prstGeom>
          <a:noFill/>
        </p:spPr>
        <p:txBody>
          <a:bodyPr wrap="square" rtlCol="0">
            <a:spAutoFit/>
          </a:bodyPr>
          <a:lstStyle/>
          <a:p>
            <a:r>
              <a:rPr lang="en-US" sz="3000" b="1" dirty="0" smtClean="0">
                <a:latin typeface="Trebuchet MS" charset="0"/>
                <a:ea typeface="Trebuchet MS" charset="0"/>
                <a:cs typeface="Trebuchet MS" charset="0"/>
              </a:rPr>
              <a:t>Challenges in Measuring Open-Source Software Innovation</a:t>
            </a:r>
          </a:p>
          <a:p>
            <a:r>
              <a:rPr lang="en-US" sz="400" b="1" dirty="0">
                <a:latin typeface="Trebuchet MS" charset="0"/>
                <a:ea typeface="Trebuchet MS" charset="0"/>
                <a:cs typeface="Trebuchet MS" charset="0"/>
              </a:rPr>
              <a:t> </a:t>
            </a:r>
            <a:endParaRPr lang="en-US" sz="400" dirty="0" smtClean="0">
              <a:latin typeface="Trebuchet MS" charset="0"/>
              <a:ea typeface="Trebuchet MS" charset="0"/>
              <a:cs typeface="Trebuchet MS" charset="0"/>
            </a:endParaRPr>
          </a:p>
          <a:p>
            <a:r>
              <a:rPr lang="en-US" sz="3000" dirty="0" smtClean="0">
                <a:latin typeface="Trebuchet MS" charset="0"/>
                <a:ea typeface="Trebuchet MS" charset="0"/>
                <a:cs typeface="Trebuchet MS" charset="0"/>
              </a:rPr>
              <a:t>Open-source software is difficult to capture using conventional methods of measuring innovation.  </a:t>
            </a:r>
          </a:p>
          <a:p>
            <a:r>
              <a:rPr lang="en-US" sz="400" dirty="0">
                <a:latin typeface="Trebuchet MS" charset="0"/>
                <a:ea typeface="Trebuchet MS" charset="0"/>
                <a:cs typeface="Trebuchet MS" charset="0"/>
              </a:rPr>
              <a:t> </a:t>
            </a:r>
            <a:endParaRPr lang="en-US" sz="400" dirty="0" smtClean="0">
              <a:latin typeface="Trebuchet MS" charset="0"/>
              <a:ea typeface="Trebuchet MS" charset="0"/>
              <a:cs typeface="Trebuchet MS" charset="0"/>
            </a:endParaRPr>
          </a:p>
          <a:p>
            <a:pPr marL="457200" indent="-457200">
              <a:buFont typeface="Arial"/>
              <a:buChar char="•"/>
            </a:pPr>
            <a:r>
              <a:rPr lang="en-US" sz="3000" dirty="0" smtClean="0">
                <a:latin typeface="Trebuchet MS" charset="0"/>
                <a:ea typeface="Trebuchet MS" charset="0"/>
                <a:cs typeface="Trebuchet MS" charset="0"/>
              </a:rPr>
              <a:t>Software companies can be short-lived and volatile, hence, surveys will have coverage issues of the software industry.</a:t>
            </a:r>
          </a:p>
          <a:p>
            <a:pPr marL="457200" indent="-457200">
              <a:buFont typeface="Arial"/>
              <a:buChar char="•"/>
            </a:pPr>
            <a:r>
              <a:rPr lang="en-US" sz="3000" dirty="0" smtClean="0">
                <a:latin typeface="Trebuchet MS" charset="0"/>
                <a:ea typeface="Trebuchet MS" charset="0"/>
                <a:cs typeface="Trebuchet MS" charset="0"/>
              </a:rPr>
              <a:t>Open-source software is licensed, but not patented.</a:t>
            </a:r>
          </a:p>
          <a:p>
            <a:r>
              <a:rPr lang="en-US" sz="400" dirty="0" smtClean="0">
                <a:latin typeface="Trebuchet MS" charset="0"/>
                <a:ea typeface="Trebuchet MS" charset="0"/>
                <a:cs typeface="Trebuchet MS" charset="0"/>
              </a:rPr>
              <a:t> </a:t>
            </a:r>
            <a:endParaRPr lang="en-US" sz="400" dirty="0">
              <a:latin typeface="Trebuchet MS" charset="0"/>
              <a:ea typeface="Trebuchet MS" charset="0"/>
              <a:cs typeface="Trebuchet MS" charset="0"/>
            </a:endParaRPr>
          </a:p>
          <a:p>
            <a:r>
              <a:rPr lang="en-US" sz="3000" dirty="0" smtClean="0">
                <a:latin typeface="Trebuchet MS" charset="0"/>
                <a:ea typeface="Trebuchet MS" charset="0"/>
                <a:cs typeface="Trebuchet MS" charset="0"/>
              </a:rPr>
              <a:t>There is a need to search for novel sources of data, such as software licenses, users and contributors, or updated versions.</a:t>
            </a:r>
          </a:p>
        </p:txBody>
      </p:sp>
      <p:sp>
        <p:nvSpPr>
          <p:cNvPr id="90" name="TextBox 89"/>
          <p:cNvSpPr txBox="1"/>
          <p:nvPr/>
        </p:nvSpPr>
        <p:spPr>
          <a:xfrm>
            <a:off x="14991271" y="15177396"/>
            <a:ext cx="19392726" cy="8863965"/>
          </a:xfrm>
          <a:prstGeom prst="rect">
            <a:avLst/>
          </a:prstGeom>
          <a:noFill/>
        </p:spPr>
        <p:txBody>
          <a:bodyPr wrap="square" rtlCol="0">
            <a:spAutoFit/>
          </a:bodyPr>
          <a:lstStyle/>
          <a:p>
            <a:r>
              <a:rPr lang="en-US" sz="3000" b="1" dirty="0" smtClean="0">
                <a:latin typeface="Trebuchet MS" charset="0"/>
                <a:ea typeface="Trebuchet MS" charset="0"/>
                <a:cs typeface="Trebuchet MS" charset="0"/>
              </a:rPr>
              <a:t>What is the incentive to make or use open source software? </a:t>
            </a:r>
          </a:p>
          <a:p>
            <a:r>
              <a:rPr lang="en-US" sz="1500" b="1" dirty="0" smtClean="0">
                <a:latin typeface="Trebuchet MS" charset="0"/>
                <a:ea typeface="Trebuchet MS" charset="0"/>
                <a:cs typeface="Trebuchet MS" charset="0"/>
              </a:rPr>
              <a:t> </a:t>
            </a:r>
          </a:p>
          <a:p>
            <a:r>
              <a:rPr lang="en-US" sz="3000" b="1" dirty="0" smtClean="0">
                <a:latin typeface="Trebuchet MS" charset="0"/>
                <a:ea typeface="Trebuchet MS" charset="0"/>
                <a:cs typeface="Trebuchet MS" charset="0"/>
              </a:rPr>
              <a:t>Daniel Chen: “</a:t>
            </a:r>
            <a:r>
              <a:rPr lang="en-US" sz="3000" dirty="0" smtClean="0">
                <a:latin typeface="Trebuchet MS" panose="020B0603020202020204" pitchFamily="34" charset="0"/>
              </a:rPr>
              <a:t>Knowing your </a:t>
            </a:r>
            <a:r>
              <a:rPr lang="en-US" sz="3000" dirty="0">
                <a:latin typeface="Trebuchet MS" panose="020B0603020202020204" pitchFamily="34" charset="0"/>
              </a:rPr>
              <a:t>work is completely public for anyone to </a:t>
            </a:r>
            <a:r>
              <a:rPr lang="en-US" sz="3000" dirty="0" smtClean="0">
                <a:latin typeface="Trebuchet MS" panose="020B0603020202020204" pitchFamily="34" charset="0"/>
              </a:rPr>
              <a:t>view and audit </a:t>
            </a:r>
            <a:r>
              <a:rPr lang="en-US" sz="3000" dirty="0">
                <a:latin typeface="Trebuchet MS" panose="020B0603020202020204" pitchFamily="34" charset="0"/>
              </a:rPr>
              <a:t>is a good incentive to not write bad code.  Open source, by it’s very nature, makes cost a non-issue, making </a:t>
            </a:r>
            <a:r>
              <a:rPr lang="en-US" sz="3000" dirty="0" smtClean="0">
                <a:latin typeface="Trebuchet MS" panose="020B0603020202020204" pitchFamily="34" charset="0"/>
              </a:rPr>
              <a:t>it easier </a:t>
            </a:r>
            <a:r>
              <a:rPr lang="en-US" sz="3000" dirty="0">
                <a:latin typeface="Trebuchet MS" panose="020B0603020202020204" pitchFamily="34" charset="0"/>
              </a:rPr>
              <a:t>to adopt than proprietary software.  The more users who use a tool, the more people are potentially testing your code, thus over time making the codebase more robust</a:t>
            </a:r>
            <a:r>
              <a:rPr lang="en-US" sz="3000" dirty="0" smtClean="0">
                <a:latin typeface="Trebuchet MS" panose="020B0603020202020204" pitchFamily="34" charset="0"/>
              </a:rPr>
              <a:t>.”</a:t>
            </a:r>
          </a:p>
          <a:p>
            <a:r>
              <a:rPr lang="en-US" sz="1500" dirty="0" smtClean="0">
                <a:latin typeface="Trebuchet MS" panose="020B0603020202020204" pitchFamily="34" charset="0"/>
              </a:rPr>
              <a:t> </a:t>
            </a:r>
          </a:p>
          <a:p>
            <a:r>
              <a:rPr lang="en-US" sz="3000" b="1" dirty="0" smtClean="0">
                <a:latin typeface="Trebuchet MS" panose="020B0603020202020204" pitchFamily="34" charset="0"/>
                <a:ea typeface="Trebuchet MS" charset="0"/>
                <a:cs typeface="Trebuchet MS" charset="0"/>
              </a:rPr>
              <a:t>Brian Goode:  “</a:t>
            </a:r>
            <a:r>
              <a:rPr lang="en-US" sz="3000" dirty="0" smtClean="0">
                <a:latin typeface="Trebuchet MS" panose="020B0603020202020204" pitchFamily="34" charset="0"/>
                <a:ea typeface="Trebuchet MS" charset="0"/>
                <a:cs typeface="Trebuchet MS" charset="0"/>
              </a:rPr>
              <a:t>Now that </a:t>
            </a:r>
            <a:r>
              <a:rPr lang="en-US" sz="3000" dirty="0" smtClean="0">
                <a:latin typeface="Trebuchet MS" panose="020B0603020202020204" pitchFamily="34" charset="0"/>
              </a:rPr>
              <a:t>computing has become </a:t>
            </a:r>
            <a:r>
              <a:rPr lang="en-US" sz="3000" dirty="0">
                <a:latin typeface="Trebuchet MS" panose="020B0603020202020204" pitchFamily="34" charset="0"/>
              </a:rPr>
              <a:t>more </a:t>
            </a:r>
            <a:r>
              <a:rPr lang="en-US" sz="3000" dirty="0" smtClean="0">
                <a:latin typeface="Trebuchet MS" panose="020B0603020202020204" pitchFamily="34" charset="0"/>
              </a:rPr>
              <a:t>widespread, it is no </a:t>
            </a:r>
            <a:r>
              <a:rPr lang="en-US" sz="3000" dirty="0">
                <a:latin typeface="Trebuchet MS" panose="020B0603020202020204" pitchFamily="34" charset="0"/>
              </a:rPr>
              <a:t>longer a niche </a:t>
            </a:r>
            <a:r>
              <a:rPr lang="en-US" sz="3000" dirty="0" smtClean="0">
                <a:latin typeface="Trebuchet MS" panose="020B0603020202020204" pitchFamily="34" charset="0"/>
              </a:rPr>
              <a:t>market.</a:t>
            </a:r>
            <a:r>
              <a:rPr lang="en-US" sz="3000" dirty="0">
                <a:latin typeface="Trebuchet MS" panose="020B0603020202020204" pitchFamily="34" charset="0"/>
              </a:rPr>
              <a:t>  </a:t>
            </a:r>
            <a:r>
              <a:rPr lang="en-US" sz="3000" dirty="0" smtClean="0">
                <a:latin typeface="Trebuchet MS" panose="020B0603020202020204" pitchFamily="34" charset="0"/>
              </a:rPr>
              <a:t>This makes it impossible </a:t>
            </a:r>
            <a:r>
              <a:rPr lang="en-US" sz="3000" dirty="0">
                <a:latin typeface="Trebuchet MS" panose="020B0603020202020204" pitchFamily="34" charset="0"/>
              </a:rPr>
              <a:t>to corner </a:t>
            </a:r>
            <a:r>
              <a:rPr lang="en-US" sz="3000" dirty="0" smtClean="0">
                <a:latin typeface="Trebuchet MS" panose="020B0603020202020204" pitchFamily="34" charset="0"/>
              </a:rPr>
              <a:t>a market</a:t>
            </a:r>
            <a:r>
              <a:rPr lang="en-US" sz="3000" dirty="0">
                <a:latin typeface="Trebuchet MS" panose="020B0603020202020204" pitchFamily="34" charset="0"/>
              </a:rPr>
              <a:t>, because someone with a need will develop </a:t>
            </a:r>
            <a:r>
              <a:rPr lang="en-US" sz="3000" dirty="0" smtClean="0">
                <a:latin typeface="Trebuchet MS" panose="020B0603020202020204" pitchFamily="34" charset="0"/>
              </a:rPr>
              <a:t>software locally </a:t>
            </a:r>
            <a:r>
              <a:rPr lang="en-US" sz="3000" dirty="0">
                <a:latin typeface="Trebuchet MS" panose="020B0603020202020204" pitchFamily="34" charset="0"/>
              </a:rPr>
              <a:t>for </a:t>
            </a:r>
            <a:r>
              <a:rPr lang="en-US" sz="3000" dirty="0" smtClean="0">
                <a:latin typeface="Trebuchet MS" panose="020B0603020202020204" pitchFamily="34" charset="0"/>
              </a:rPr>
              <a:t>their own personal </a:t>
            </a:r>
            <a:r>
              <a:rPr lang="en-US" sz="3000" dirty="0">
                <a:latin typeface="Trebuchet MS" panose="020B0603020202020204" pitchFamily="34" charset="0"/>
              </a:rPr>
              <a:t>use, </a:t>
            </a:r>
            <a:r>
              <a:rPr lang="en-US" sz="3000" dirty="0" smtClean="0">
                <a:latin typeface="Trebuchet MS" panose="020B0603020202020204" pitchFamily="34" charset="0"/>
              </a:rPr>
              <a:t>and afterwards make the code public.  Coders may not expect anything in return, but the internet has made sharing code so easy that it involves little additional work for authors to share their software freely with the online community.”  </a:t>
            </a:r>
          </a:p>
          <a:p>
            <a:r>
              <a:rPr lang="en-US" sz="1500" b="1" dirty="0" smtClean="0">
                <a:latin typeface="Trebuchet MS" panose="020B0603020202020204" pitchFamily="34" charset="0"/>
                <a:ea typeface="Trebuchet MS" charset="0"/>
                <a:cs typeface="Trebuchet MS" charset="0"/>
              </a:rPr>
              <a:t> </a:t>
            </a:r>
          </a:p>
          <a:p>
            <a:r>
              <a:rPr lang="en-US" sz="3000" b="1" dirty="0" smtClean="0">
                <a:latin typeface="Trebuchet MS" panose="020B0603020202020204" pitchFamily="34" charset="0"/>
              </a:rPr>
              <a:t>What </a:t>
            </a:r>
            <a:r>
              <a:rPr lang="en-US" sz="3000" b="1" dirty="0">
                <a:latin typeface="Trebuchet MS" panose="020B0603020202020204" pitchFamily="34" charset="0"/>
              </a:rPr>
              <a:t>is the process </a:t>
            </a:r>
            <a:r>
              <a:rPr lang="en-US" sz="3000" b="1" dirty="0" smtClean="0">
                <a:latin typeface="Trebuchet MS" panose="020B0603020202020204" pitchFamily="34" charset="0"/>
              </a:rPr>
              <a:t>for </a:t>
            </a:r>
            <a:r>
              <a:rPr lang="en-US" sz="3000" b="1" dirty="0">
                <a:latin typeface="Trebuchet MS" panose="020B0603020202020204" pitchFamily="34" charset="0"/>
              </a:rPr>
              <a:t>contributing to an open source </a:t>
            </a:r>
            <a:r>
              <a:rPr lang="en-US" sz="3000" b="1" dirty="0" smtClean="0">
                <a:latin typeface="Trebuchet MS" panose="020B0603020202020204" pitchFamily="34" charset="0"/>
              </a:rPr>
              <a:t>of software?</a:t>
            </a:r>
          </a:p>
          <a:p>
            <a:r>
              <a:rPr lang="en-US" sz="1500" b="1" dirty="0" smtClean="0">
                <a:latin typeface="Trebuchet MS" panose="020B0603020202020204" pitchFamily="34" charset="0"/>
              </a:rPr>
              <a:t> </a:t>
            </a:r>
          </a:p>
          <a:p>
            <a:r>
              <a:rPr lang="en-US" sz="3000" b="1" dirty="0">
                <a:latin typeface="Trebuchet MS" panose="020B0603020202020204" pitchFamily="34" charset="0"/>
                <a:ea typeface="Trebuchet MS" charset="0"/>
                <a:cs typeface="Trebuchet MS" charset="0"/>
              </a:rPr>
              <a:t> </a:t>
            </a:r>
            <a:r>
              <a:rPr lang="en-US" sz="3000" b="1" dirty="0" smtClean="0">
                <a:latin typeface="Trebuchet MS" panose="020B0603020202020204" pitchFamily="34" charset="0"/>
                <a:ea typeface="Trebuchet MS" charset="0"/>
                <a:cs typeface="Trebuchet MS" charset="0"/>
              </a:rPr>
              <a:t>              Daniel Chen: </a:t>
            </a:r>
            <a:r>
              <a:rPr lang="en-US" sz="3000" dirty="0" smtClean="0">
                <a:latin typeface="Trebuchet MS" panose="020B0603020202020204" pitchFamily="34" charset="0"/>
              </a:rPr>
              <a:t>“Find </a:t>
            </a:r>
            <a:r>
              <a:rPr lang="en-US" sz="3000" dirty="0">
                <a:latin typeface="Trebuchet MS" panose="020B0603020202020204" pitchFamily="34" charset="0"/>
              </a:rPr>
              <a:t>where the code is hosted (a popular service is </a:t>
            </a:r>
            <a:r>
              <a:rPr lang="en-US" sz="3000" dirty="0" err="1">
                <a:latin typeface="Trebuchet MS" panose="020B0603020202020204" pitchFamily="34" charset="0"/>
              </a:rPr>
              <a:t>github</a:t>
            </a:r>
            <a:r>
              <a:rPr lang="en-US" sz="3000" dirty="0">
                <a:latin typeface="Trebuchet MS" panose="020B0603020202020204" pitchFamily="34" charset="0"/>
              </a:rPr>
              <a:t>), and begin </a:t>
            </a:r>
            <a:r>
              <a:rPr lang="en-US" sz="3000" dirty="0" smtClean="0">
                <a:latin typeface="Trebuchet MS" panose="020B0603020202020204" pitchFamily="34" charset="0"/>
              </a:rPr>
              <a:t>reading</a:t>
            </a:r>
          </a:p>
          <a:p>
            <a:r>
              <a:rPr lang="en-US" sz="3000" dirty="0">
                <a:latin typeface="Trebuchet MS" panose="020B0603020202020204" pitchFamily="34" charset="0"/>
              </a:rPr>
              <a:t> </a:t>
            </a:r>
            <a:r>
              <a:rPr lang="en-US" sz="3000" dirty="0" smtClean="0">
                <a:latin typeface="Trebuchet MS" panose="020B0603020202020204" pitchFamily="34" charset="0"/>
              </a:rPr>
              <a:t>                    the documentation</a:t>
            </a:r>
            <a:r>
              <a:rPr lang="en-US" sz="3000" dirty="0">
                <a:latin typeface="Trebuchet MS" panose="020B0603020202020204" pitchFamily="34" charset="0"/>
              </a:rPr>
              <a:t>, installation guide, and quick start </a:t>
            </a:r>
            <a:r>
              <a:rPr lang="en-US" sz="3000" dirty="0" smtClean="0">
                <a:latin typeface="Trebuchet MS" panose="020B0603020202020204" pitchFamily="34" charset="0"/>
              </a:rPr>
              <a:t>instructions. Many online</a:t>
            </a:r>
          </a:p>
          <a:p>
            <a:r>
              <a:rPr lang="en-US" sz="3000" dirty="0" smtClean="0">
                <a:latin typeface="Trebuchet MS" panose="020B0603020202020204" pitchFamily="34" charset="0"/>
              </a:rPr>
              <a:t>                       hosting services </a:t>
            </a:r>
            <a:r>
              <a:rPr lang="en-US" sz="3000" dirty="0">
                <a:latin typeface="Trebuchet MS" panose="020B0603020202020204" pitchFamily="34" charset="0"/>
              </a:rPr>
              <a:t>have a bug report/issues tab to start looking at known problems. </a:t>
            </a:r>
            <a:endParaRPr lang="en-US" sz="3000" dirty="0" smtClean="0">
              <a:latin typeface="Trebuchet MS" panose="020B0603020202020204" pitchFamily="34" charset="0"/>
            </a:endParaRPr>
          </a:p>
          <a:p>
            <a:r>
              <a:rPr lang="en-US" sz="3000" dirty="0" smtClean="0">
                <a:latin typeface="Trebuchet MS" panose="020B0603020202020204" pitchFamily="34" charset="0"/>
              </a:rPr>
              <a:t>                       They may also </a:t>
            </a:r>
            <a:r>
              <a:rPr lang="en-US" sz="3000" dirty="0">
                <a:latin typeface="Trebuchet MS" panose="020B0603020202020204" pitchFamily="34" charset="0"/>
              </a:rPr>
              <a:t>have an IRC/</a:t>
            </a:r>
            <a:r>
              <a:rPr lang="en-US" sz="3000" dirty="0" err="1">
                <a:latin typeface="Trebuchet MS" panose="020B0603020202020204" pitchFamily="34" charset="0"/>
              </a:rPr>
              <a:t>Gittr</a:t>
            </a:r>
            <a:r>
              <a:rPr lang="en-US" sz="3000" dirty="0">
                <a:latin typeface="Trebuchet MS" panose="020B0603020202020204" pitchFamily="34" charset="0"/>
              </a:rPr>
              <a:t> chatroom or even a mailing list where people </a:t>
            </a:r>
            <a:r>
              <a:rPr lang="en-US" sz="3000" dirty="0" smtClean="0">
                <a:latin typeface="Trebuchet MS" panose="020B0603020202020204" pitchFamily="34" charset="0"/>
              </a:rPr>
              <a:t>can</a:t>
            </a:r>
          </a:p>
          <a:p>
            <a:r>
              <a:rPr lang="en-US" sz="3000" dirty="0">
                <a:latin typeface="Trebuchet MS" panose="020B0603020202020204" pitchFamily="34" charset="0"/>
              </a:rPr>
              <a:t> </a:t>
            </a:r>
            <a:r>
              <a:rPr lang="en-US" sz="3000" dirty="0" smtClean="0">
                <a:latin typeface="Trebuchet MS" panose="020B0603020202020204" pitchFamily="34" charset="0"/>
              </a:rPr>
              <a:t>                     </a:t>
            </a:r>
            <a:r>
              <a:rPr lang="en-US" sz="3000" dirty="0">
                <a:latin typeface="Trebuchet MS" panose="020B0603020202020204" pitchFamily="34" charset="0"/>
              </a:rPr>
              <a:t>ask the </a:t>
            </a:r>
            <a:r>
              <a:rPr lang="en-US" sz="3000" dirty="0" smtClean="0">
                <a:latin typeface="Trebuchet MS" panose="020B0603020202020204" pitchFamily="34" charset="0"/>
              </a:rPr>
              <a:t>community where </a:t>
            </a:r>
            <a:r>
              <a:rPr lang="en-US" sz="3000" dirty="0">
                <a:latin typeface="Trebuchet MS" panose="020B0603020202020204" pitchFamily="34" charset="0"/>
              </a:rPr>
              <a:t>to </a:t>
            </a:r>
            <a:r>
              <a:rPr lang="en-US" sz="3000" dirty="0" smtClean="0">
                <a:latin typeface="Trebuchet MS" panose="020B0603020202020204" pitchFamily="34" charset="0"/>
              </a:rPr>
              <a:t>start.”</a:t>
            </a:r>
            <a:endParaRPr lang="en-US" sz="3000" dirty="0">
              <a:latin typeface="Trebuchet MS" panose="020B0603020202020204" pitchFamily="34" charset="0"/>
            </a:endParaRPr>
          </a:p>
          <a:p>
            <a:endParaRPr lang="en-US" sz="3000" b="1" dirty="0">
              <a:latin typeface="Trebuchet MS" panose="020B0603020202020204" pitchFamily="34" charset="0"/>
              <a:ea typeface="Trebuchet MS" charset="0"/>
              <a:cs typeface="Trebuchet MS" charset="0"/>
            </a:endParaRPr>
          </a:p>
        </p:txBody>
      </p:sp>
      <p:sp>
        <p:nvSpPr>
          <p:cNvPr id="5" name="TextBox 4"/>
          <p:cNvSpPr txBox="1"/>
          <p:nvPr/>
        </p:nvSpPr>
        <p:spPr>
          <a:xfrm>
            <a:off x="14924340" y="7915533"/>
            <a:ext cx="20393122" cy="1938992"/>
          </a:xfrm>
          <a:prstGeom prst="rect">
            <a:avLst/>
          </a:prstGeom>
          <a:noFill/>
        </p:spPr>
        <p:txBody>
          <a:bodyPr wrap="square" rtlCol="0">
            <a:spAutoFit/>
          </a:bodyPr>
          <a:lstStyle/>
          <a:p>
            <a:pPr marL="457200" indent="-457200">
              <a:buFont typeface="Arial"/>
              <a:buChar char="•"/>
            </a:pPr>
            <a:r>
              <a:rPr lang="en-US" sz="3000" b="1" dirty="0" smtClean="0">
                <a:latin typeface="Trebuchet MS" panose="020B0603020202020204" pitchFamily="34" charset="0"/>
              </a:rPr>
              <a:t>Definition: </a:t>
            </a:r>
            <a:r>
              <a:rPr lang="en-US" sz="3000" dirty="0" smtClean="0">
                <a:latin typeface="Trebuchet MS" panose="020B0603020202020204" pitchFamily="34" charset="0"/>
              </a:rPr>
              <a:t>software </a:t>
            </a:r>
            <a:r>
              <a:rPr lang="en-US" sz="3000" dirty="0">
                <a:latin typeface="Trebuchet MS" panose="020B0603020202020204" pitchFamily="34" charset="0"/>
              </a:rPr>
              <a:t>with a license </a:t>
            </a:r>
            <a:r>
              <a:rPr lang="en-US" sz="3000" dirty="0" smtClean="0">
                <a:latin typeface="Trebuchet MS" panose="020B0603020202020204" pitchFamily="34" charset="0"/>
              </a:rPr>
              <a:t>that the </a:t>
            </a:r>
            <a:r>
              <a:rPr lang="en-US" sz="3000" dirty="0">
                <a:latin typeface="Trebuchet MS" panose="020B0603020202020204" pitchFamily="34" charset="0"/>
              </a:rPr>
              <a:t>copyright holder makes the source-code available to users to view, </a:t>
            </a:r>
            <a:r>
              <a:rPr lang="en-US" sz="3000" dirty="0" smtClean="0">
                <a:latin typeface="Trebuchet MS" panose="020B0603020202020204" pitchFamily="34" charset="0"/>
              </a:rPr>
              <a:t>alter, &amp; share. </a:t>
            </a:r>
          </a:p>
          <a:p>
            <a:pPr marL="457200" indent="-457200">
              <a:buFont typeface="Arial"/>
              <a:buChar char="•"/>
            </a:pPr>
            <a:r>
              <a:rPr lang="en-US" sz="3000" dirty="0" smtClean="0">
                <a:latin typeface="Trebuchet MS" panose="020B0603020202020204" pitchFamily="34" charset="0"/>
              </a:rPr>
              <a:t>Some open </a:t>
            </a:r>
            <a:r>
              <a:rPr lang="en-US" sz="3000" dirty="0">
                <a:latin typeface="Trebuchet MS" panose="020B0603020202020204" pitchFamily="34" charset="0"/>
              </a:rPr>
              <a:t>source software may require </a:t>
            </a:r>
            <a:r>
              <a:rPr lang="en-US" sz="3000" dirty="0" smtClean="0">
                <a:latin typeface="Trebuchet MS" panose="020B0603020202020204" pitchFamily="34" charset="0"/>
              </a:rPr>
              <a:t>software </a:t>
            </a:r>
            <a:r>
              <a:rPr lang="en-US" sz="3000" dirty="0">
                <a:latin typeface="Trebuchet MS" panose="020B0603020202020204" pitchFamily="34" charset="0"/>
              </a:rPr>
              <a:t>that </a:t>
            </a:r>
            <a:r>
              <a:rPr lang="en-US" sz="3000" dirty="0" smtClean="0">
                <a:latin typeface="Trebuchet MS" panose="020B0603020202020204" pitchFamily="34" charset="0"/>
              </a:rPr>
              <a:t>draws </a:t>
            </a:r>
            <a:r>
              <a:rPr lang="en-US" sz="3000" dirty="0">
                <a:latin typeface="Trebuchet MS" panose="020B0603020202020204" pitchFamily="34" charset="0"/>
              </a:rPr>
              <a:t>from the source code </a:t>
            </a:r>
            <a:r>
              <a:rPr lang="en-US" sz="3000" dirty="0" smtClean="0">
                <a:latin typeface="Trebuchet MS" panose="020B0603020202020204" pitchFamily="34" charset="0"/>
              </a:rPr>
              <a:t>to be </a:t>
            </a:r>
            <a:r>
              <a:rPr lang="en-US" sz="3000" dirty="0">
                <a:latin typeface="Trebuchet MS" panose="020B0603020202020204" pitchFamily="34" charset="0"/>
              </a:rPr>
              <a:t>distributed under the same conditions as the original software </a:t>
            </a:r>
            <a:r>
              <a:rPr lang="en-US" sz="3000" dirty="0" smtClean="0">
                <a:latin typeface="Trebuchet MS" panose="020B0603020202020204" pitchFamily="34" charset="0"/>
              </a:rPr>
              <a:t>license, a practice known as “</a:t>
            </a:r>
            <a:r>
              <a:rPr lang="en-US" sz="3000" dirty="0" err="1" smtClean="0">
                <a:latin typeface="Trebuchet MS" panose="020B0603020202020204" pitchFamily="34" charset="0"/>
              </a:rPr>
              <a:t>copyleft</a:t>
            </a:r>
            <a:r>
              <a:rPr lang="en-US" sz="3000" dirty="0" smtClean="0">
                <a:latin typeface="Trebuchet MS" panose="020B0603020202020204" pitchFamily="34" charset="0"/>
              </a:rPr>
              <a:t>.”</a:t>
            </a:r>
            <a:endParaRPr lang="en-US" sz="3000" dirty="0">
              <a:latin typeface="Trebuchet MS" panose="020B0603020202020204" pitchFamily="34" charset="0"/>
            </a:endParaRPr>
          </a:p>
        </p:txBody>
      </p:sp>
      <p:pic>
        <p:nvPicPr>
          <p:cNvPr id="2" name="Picture 1"/>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527074" y="11471021"/>
            <a:ext cx="11785458" cy="5892729"/>
          </a:xfrm>
          <a:prstGeom prst="rect">
            <a:avLst/>
          </a:prstGeom>
        </p:spPr>
      </p:pic>
      <p:sp>
        <p:nvSpPr>
          <p:cNvPr id="4" name="TextBox 3"/>
          <p:cNvSpPr txBox="1"/>
          <p:nvPr/>
        </p:nvSpPr>
        <p:spPr>
          <a:xfrm>
            <a:off x="9157124" y="39042834"/>
            <a:ext cx="32974506" cy="1400383"/>
          </a:xfrm>
          <a:prstGeom prst="rect">
            <a:avLst/>
          </a:prstGeom>
          <a:noFill/>
        </p:spPr>
        <p:txBody>
          <a:bodyPr wrap="square" rtlCol="0">
            <a:spAutoFit/>
          </a:bodyPr>
          <a:lstStyle/>
          <a:p>
            <a:r>
              <a:rPr lang="en-US" sz="2500" dirty="0" smtClean="0">
                <a:latin typeface="Trebuchet MS"/>
                <a:cs typeface="Trebuchet MS"/>
              </a:rPr>
              <a:t>References</a:t>
            </a:r>
          </a:p>
          <a:p>
            <a:r>
              <a:rPr lang="en-US" sz="2000" dirty="0" smtClean="0">
                <a:latin typeface="Trebuchet MS"/>
                <a:cs typeface="Trebuchet MS"/>
              </a:rPr>
              <a:t>[1] </a:t>
            </a:r>
            <a:r>
              <a:rPr lang="en-US" sz="2000" dirty="0">
                <a:latin typeface="Trebuchet MS"/>
                <a:cs typeface="Trebuchet MS"/>
              </a:rPr>
              <a:t>Branscomb, Lewis, and Philip E. </a:t>
            </a:r>
            <a:r>
              <a:rPr lang="en-US" sz="2000" dirty="0" err="1">
                <a:latin typeface="Trebuchet MS"/>
                <a:cs typeface="Trebuchet MS"/>
              </a:rPr>
              <a:t>Auerswald</a:t>
            </a:r>
            <a:r>
              <a:rPr lang="en-US" sz="2000" dirty="0">
                <a:latin typeface="Trebuchet MS"/>
                <a:cs typeface="Trebuchet MS"/>
              </a:rPr>
              <a:t>. "Between invention and innovation an analysis of funding for early-stage technology development</a:t>
            </a:r>
            <a:r>
              <a:rPr lang="en-US" sz="2000" dirty="0" smtClean="0">
                <a:latin typeface="Trebuchet MS"/>
                <a:cs typeface="Trebuchet MS"/>
              </a:rPr>
              <a:t>." </a:t>
            </a:r>
            <a:r>
              <a:rPr lang="en-US" sz="2000" i="1" dirty="0" smtClean="0">
                <a:latin typeface="Trebuchet MS"/>
                <a:cs typeface="Trebuchet MS"/>
              </a:rPr>
              <a:t>NIST </a:t>
            </a:r>
            <a:r>
              <a:rPr lang="en-US" sz="2000" i="1" dirty="0">
                <a:latin typeface="Trebuchet MS"/>
                <a:cs typeface="Trebuchet MS"/>
              </a:rPr>
              <a:t>GCR</a:t>
            </a:r>
            <a:r>
              <a:rPr lang="en-US" sz="2000" dirty="0">
                <a:latin typeface="Trebuchet MS"/>
                <a:cs typeface="Trebuchet MS"/>
              </a:rPr>
              <a:t> (2002): 02-841</a:t>
            </a:r>
            <a:r>
              <a:rPr lang="en-US" sz="2000" dirty="0" smtClean="0">
                <a:latin typeface="Trebuchet MS"/>
                <a:cs typeface="Trebuchet MS"/>
              </a:rPr>
              <a:t>.</a:t>
            </a:r>
          </a:p>
          <a:p>
            <a:r>
              <a:rPr lang="en-US" sz="2000" dirty="0" smtClean="0">
                <a:latin typeface="Trebuchet MS"/>
                <a:cs typeface="Trebuchet MS"/>
              </a:rPr>
              <a:t>[2] </a:t>
            </a:r>
            <a:r>
              <a:rPr lang="en-US" sz="2000" dirty="0">
                <a:latin typeface="Trebuchet MS"/>
                <a:cs typeface="Trebuchet MS"/>
              </a:rPr>
              <a:t>Stone, Alexandra, et al. "Measuring innovation and intangibles: A business perspective." </a:t>
            </a:r>
            <a:r>
              <a:rPr lang="en-US" sz="2000" i="1" dirty="0">
                <a:latin typeface="Trebuchet MS"/>
                <a:cs typeface="Trebuchet MS"/>
              </a:rPr>
              <a:t>Institute for Defense Analysis, Science and Technology Policy Institute, Washington, DC</a:t>
            </a:r>
            <a:r>
              <a:rPr lang="en-US" sz="2000" dirty="0">
                <a:latin typeface="Trebuchet MS"/>
                <a:cs typeface="Trebuchet MS"/>
              </a:rPr>
              <a:t> (2008</a:t>
            </a:r>
            <a:r>
              <a:rPr lang="en-US" sz="2000" dirty="0" smtClean="0">
                <a:latin typeface="Trebuchet MS"/>
                <a:cs typeface="Trebuchet MS"/>
              </a:rPr>
              <a:t>).</a:t>
            </a:r>
          </a:p>
          <a:p>
            <a:r>
              <a:rPr lang="en-US" sz="2000" dirty="0" smtClean="0">
                <a:latin typeface="Trebuchet MS"/>
                <a:cs typeface="Trebuchet MS"/>
              </a:rPr>
              <a:t>[3] </a:t>
            </a:r>
            <a:r>
              <a:rPr lang="en-US" sz="2000" dirty="0" err="1">
                <a:latin typeface="Trebuchet MS"/>
                <a:cs typeface="Trebuchet MS"/>
              </a:rPr>
              <a:t>Zelenika</a:t>
            </a:r>
            <a:r>
              <a:rPr lang="en-US" sz="2000" dirty="0">
                <a:latin typeface="Trebuchet MS"/>
                <a:cs typeface="Trebuchet MS"/>
              </a:rPr>
              <a:t>, I., and J. M. Pearce. "Innovation through collaboration: scaling up solutions for sustainable development." </a:t>
            </a:r>
            <a:r>
              <a:rPr lang="en-US" sz="2000" i="1" dirty="0">
                <a:latin typeface="Trebuchet MS"/>
                <a:cs typeface="Trebuchet MS"/>
              </a:rPr>
              <a:t>Environment, Development and Sustainability</a:t>
            </a:r>
            <a:r>
              <a:rPr lang="en-US" sz="2000" dirty="0">
                <a:latin typeface="Trebuchet MS"/>
                <a:cs typeface="Trebuchet MS"/>
              </a:rPr>
              <a:t> 16.6 (2014): 1299-1316</a:t>
            </a:r>
            <a:r>
              <a:rPr lang="en-US" sz="2000" dirty="0" smtClean="0">
                <a:latin typeface="Trebuchet MS"/>
                <a:cs typeface="Trebuchet MS"/>
              </a:rPr>
              <a:t>.</a:t>
            </a:r>
          </a:p>
        </p:txBody>
      </p:sp>
      <p:sp>
        <p:nvSpPr>
          <p:cNvPr id="9" name="TextBox 8"/>
          <p:cNvSpPr txBox="1"/>
          <p:nvPr/>
        </p:nvSpPr>
        <p:spPr>
          <a:xfrm>
            <a:off x="17044620" y="27823527"/>
            <a:ext cx="7379108" cy="1036898"/>
          </a:xfrm>
          <a:prstGeom prst="rect">
            <a:avLst/>
          </a:prstGeom>
          <a:noFill/>
        </p:spPr>
        <p:txBody>
          <a:bodyPr wrap="square" rtlCol="0">
            <a:spAutoFit/>
          </a:bodyPr>
          <a:lstStyle/>
          <a:p>
            <a:r>
              <a:rPr lang="en-US" sz="3000" dirty="0" smtClean="0">
                <a:solidFill>
                  <a:srgbClr val="54555A"/>
                </a:solidFill>
                <a:latin typeface="Trebuchet MS" panose="020B0603020202020204" pitchFamily="34" charset="0"/>
              </a:rPr>
              <a:t>Read through article </a:t>
            </a:r>
            <a:r>
              <a:rPr lang="en-US" sz="3000" dirty="0">
                <a:solidFill>
                  <a:srgbClr val="54555A"/>
                </a:solidFill>
                <a:latin typeface="Trebuchet MS" panose="020B0603020202020204" pitchFamily="34" charset="0"/>
              </a:rPr>
              <a:t>abstracts of collected articles and </a:t>
            </a:r>
            <a:r>
              <a:rPr lang="en-US" sz="3000" dirty="0" smtClean="0">
                <a:solidFill>
                  <a:srgbClr val="54555A"/>
                </a:solidFill>
                <a:latin typeface="Trebuchet MS" panose="020B0603020202020204" pitchFamily="34" charset="0"/>
              </a:rPr>
              <a:t>sort </a:t>
            </a:r>
            <a:r>
              <a:rPr lang="en-US" sz="3000" dirty="0">
                <a:solidFill>
                  <a:srgbClr val="54555A"/>
                </a:solidFill>
                <a:latin typeface="Trebuchet MS" panose="020B0603020202020204" pitchFamily="34" charset="0"/>
              </a:rPr>
              <a:t>by most useful</a:t>
            </a:r>
          </a:p>
        </p:txBody>
      </p:sp>
      <p:sp>
        <p:nvSpPr>
          <p:cNvPr id="47" name="TextBox 46"/>
          <p:cNvSpPr txBox="1"/>
          <p:nvPr/>
        </p:nvSpPr>
        <p:spPr>
          <a:xfrm>
            <a:off x="25769122" y="27524087"/>
            <a:ext cx="8494880" cy="10710624"/>
          </a:xfrm>
          <a:prstGeom prst="rect">
            <a:avLst/>
          </a:prstGeom>
          <a:noFill/>
        </p:spPr>
        <p:txBody>
          <a:bodyPr wrap="square" rtlCol="0">
            <a:spAutoFit/>
          </a:bodyPr>
          <a:lstStyle/>
          <a:p>
            <a:r>
              <a:rPr lang="en-US" sz="3000" b="1" dirty="0" smtClean="0">
                <a:solidFill>
                  <a:srgbClr val="535358"/>
                </a:solidFill>
                <a:latin typeface="Trebuchet MS" panose="020B0603020202020204" pitchFamily="34" charset="0"/>
              </a:rPr>
              <a:t>Main Topics</a:t>
            </a:r>
          </a:p>
          <a:p>
            <a:pPr marL="571500" indent="-571500">
              <a:buFont typeface="Arial" panose="020B0604020202020204" pitchFamily="34" charset="0"/>
              <a:buChar char="•"/>
            </a:pPr>
            <a:r>
              <a:rPr lang="en-US" sz="3000" b="1" dirty="0" smtClean="0">
                <a:solidFill>
                  <a:srgbClr val="535358"/>
                </a:solidFill>
                <a:latin typeface="Trebuchet MS" panose="020B0603020202020204" pitchFamily="34" charset="0"/>
              </a:rPr>
              <a:t>Incentives</a:t>
            </a:r>
            <a:r>
              <a:rPr lang="en-US" sz="3000" dirty="0" smtClean="0">
                <a:solidFill>
                  <a:srgbClr val="535358"/>
                </a:solidFill>
                <a:latin typeface="Trebuchet MS" panose="020B0603020202020204" pitchFamily="34" charset="0"/>
              </a:rPr>
              <a:t> </a:t>
            </a:r>
            <a:r>
              <a:rPr lang="en-US" sz="3000" dirty="0">
                <a:solidFill>
                  <a:srgbClr val="535358"/>
                </a:solidFill>
                <a:latin typeface="Trebuchet MS" panose="020B0603020202020204" pitchFamily="34" charset="0"/>
              </a:rPr>
              <a:t>-</a:t>
            </a:r>
            <a:r>
              <a:rPr lang="en-US" sz="3000" dirty="0" smtClean="0">
                <a:solidFill>
                  <a:srgbClr val="535358"/>
                </a:solidFill>
                <a:latin typeface="Trebuchet MS" panose="020B0603020202020204" pitchFamily="34" charset="0"/>
              </a:rPr>
              <a:t> </a:t>
            </a:r>
            <a:r>
              <a:rPr lang="en-US" sz="3000" dirty="0">
                <a:solidFill>
                  <a:srgbClr val="535358"/>
                </a:solidFill>
                <a:latin typeface="Trebuchet MS" panose="020B0603020202020204" pitchFamily="34" charset="0"/>
              </a:rPr>
              <a:t>user need and </a:t>
            </a:r>
            <a:r>
              <a:rPr lang="en-US" sz="3000" dirty="0" smtClean="0">
                <a:solidFill>
                  <a:srgbClr val="535358"/>
                </a:solidFill>
                <a:latin typeface="Trebuchet MS" panose="020B0603020202020204" pitchFamily="34" charset="0"/>
              </a:rPr>
              <a:t>user reputation motivate programmers to make their code open-source, or contribute to open-source projects</a:t>
            </a:r>
            <a:r>
              <a:rPr lang="en-US" sz="3000" dirty="0">
                <a:solidFill>
                  <a:srgbClr val="535358"/>
                </a:solidFill>
                <a:latin typeface="Trebuchet MS" panose="020B0603020202020204" pitchFamily="34" charset="0"/>
              </a:rPr>
              <a:t>.</a:t>
            </a:r>
            <a:endParaRPr lang="en-US" sz="3000" dirty="0" smtClean="0">
              <a:solidFill>
                <a:srgbClr val="535358"/>
              </a:solidFill>
              <a:latin typeface="Trebuchet MS" panose="020B0603020202020204" pitchFamily="34" charset="0"/>
            </a:endParaRPr>
          </a:p>
          <a:p>
            <a:pPr marL="571500" indent="-571500">
              <a:buFont typeface="Arial" panose="020B0604020202020204" pitchFamily="34" charset="0"/>
              <a:buChar char="•"/>
            </a:pPr>
            <a:r>
              <a:rPr lang="en-US" sz="3000" b="1" dirty="0" smtClean="0">
                <a:solidFill>
                  <a:srgbClr val="535358"/>
                </a:solidFill>
                <a:latin typeface="Trebuchet MS" panose="020B0603020202020204" pitchFamily="34" charset="0"/>
              </a:rPr>
              <a:t>Collaboration </a:t>
            </a:r>
            <a:r>
              <a:rPr lang="en-US" sz="3000" dirty="0" smtClean="0">
                <a:solidFill>
                  <a:srgbClr val="535358"/>
                </a:solidFill>
                <a:latin typeface="Trebuchet MS" panose="020B0603020202020204" pitchFamily="34" charset="0"/>
              </a:rPr>
              <a:t>– knowledge commons, crowd-sourcing, and online platforms should be used to overcome challenges of collaboration and to encourage collaborative software design. [3]</a:t>
            </a:r>
          </a:p>
          <a:p>
            <a:pPr marL="571500" indent="-571500">
              <a:buFont typeface="Arial" panose="020B0604020202020204" pitchFamily="34" charset="0"/>
              <a:buChar char="•"/>
            </a:pPr>
            <a:r>
              <a:rPr lang="en-US" sz="3000" b="1" dirty="0" smtClean="0">
                <a:solidFill>
                  <a:srgbClr val="535358"/>
                </a:solidFill>
                <a:latin typeface="Trebuchet MS" panose="020B0603020202020204" pitchFamily="34" charset="0"/>
              </a:rPr>
              <a:t>Adoption </a:t>
            </a:r>
            <a:r>
              <a:rPr lang="en-US" sz="3000" dirty="0" smtClean="0">
                <a:solidFill>
                  <a:srgbClr val="535358"/>
                </a:solidFill>
                <a:latin typeface="Trebuchet MS" panose="020B0603020202020204" pitchFamily="34" charset="0"/>
              </a:rPr>
              <a:t>– the main industries or fields of study that have adopted open-source software are web development, data science, and academic research.</a:t>
            </a:r>
          </a:p>
          <a:p>
            <a:r>
              <a:rPr lang="en-US" sz="3000" b="1" dirty="0">
                <a:solidFill>
                  <a:srgbClr val="535358"/>
                </a:solidFill>
                <a:latin typeface="Trebuchet MS" charset="0"/>
                <a:ea typeface="Trebuchet MS" charset="0"/>
                <a:cs typeface="Trebuchet MS" charset="0"/>
              </a:rPr>
              <a:t>Potential Measures</a:t>
            </a:r>
          </a:p>
          <a:p>
            <a:r>
              <a:rPr lang="en-US" sz="3000" dirty="0">
                <a:solidFill>
                  <a:srgbClr val="535358"/>
                </a:solidFill>
                <a:latin typeface="Trebuchet MS" charset="0"/>
                <a:ea typeface="Trebuchet MS" charset="0"/>
                <a:cs typeface="Trebuchet MS" charset="0"/>
              </a:rPr>
              <a:t>Version Counts</a:t>
            </a:r>
          </a:p>
          <a:p>
            <a:pPr marL="457200" indent="-457200">
              <a:buFont typeface="Arial" panose="020B0604020202020204" pitchFamily="34" charset="0"/>
              <a:buChar char="•"/>
            </a:pPr>
            <a:r>
              <a:rPr lang="en-US" sz="3000" dirty="0">
                <a:solidFill>
                  <a:srgbClr val="535358"/>
                </a:solidFill>
                <a:latin typeface="Trebuchet MS" charset="0"/>
                <a:ea typeface="Trebuchet MS" charset="0"/>
                <a:cs typeface="Trebuchet MS" charset="0"/>
              </a:rPr>
              <a:t>Shows how software is developing</a:t>
            </a:r>
          </a:p>
          <a:p>
            <a:r>
              <a:rPr lang="en-US" sz="3000" dirty="0">
                <a:solidFill>
                  <a:srgbClr val="535358"/>
                </a:solidFill>
                <a:latin typeface="Trebuchet MS" charset="0"/>
                <a:ea typeface="Trebuchet MS" charset="0"/>
                <a:cs typeface="Trebuchet MS" charset="0"/>
              </a:rPr>
              <a:t>Contribution Counts</a:t>
            </a:r>
          </a:p>
          <a:p>
            <a:pPr marL="457200" indent="-457200">
              <a:buFont typeface="Arial" panose="020B0604020202020204" pitchFamily="34" charset="0"/>
              <a:buChar char="•"/>
            </a:pPr>
            <a:r>
              <a:rPr lang="en-US" sz="3000" dirty="0">
                <a:solidFill>
                  <a:srgbClr val="535358"/>
                </a:solidFill>
                <a:latin typeface="Trebuchet MS" charset="0"/>
                <a:ea typeface="Trebuchet MS" charset="0"/>
                <a:cs typeface="Trebuchet MS" charset="0"/>
              </a:rPr>
              <a:t>Shows how interested developers are in growing the product</a:t>
            </a:r>
          </a:p>
          <a:p>
            <a:r>
              <a:rPr lang="en-US" sz="3000" dirty="0">
                <a:solidFill>
                  <a:srgbClr val="535358"/>
                </a:solidFill>
                <a:latin typeface="Trebuchet MS" charset="0"/>
                <a:ea typeface="Trebuchet MS" charset="0"/>
                <a:cs typeface="Trebuchet MS" charset="0"/>
              </a:rPr>
              <a:t>Social Media Usage</a:t>
            </a:r>
          </a:p>
          <a:p>
            <a:pPr marL="457200" indent="-457200">
              <a:buFont typeface="Arial" panose="020B0604020202020204" pitchFamily="34" charset="0"/>
              <a:buChar char="•"/>
            </a:pPr>
            <a:r>
              <a:rPr lang="en-US" sz="3000" dirty="0">
                <a:solidFill>
                  <a:srgbClr val="535358"/>
                </a:solidFill>
                <a:latin typeface="Trebuchet MS" charset="0"/>
                <a:ea typeface="Trebuchet MS" charset="0"/>
                <a:cs typeface="Trebuchet MS" charset="0"/>
              </a:rPr>
              <a:t>Shows number of users and the response of the community to the </a:t>
            </a:r>
            <a:r>
              <a:rPr lang="en-US" sz="3000" dirty="0" smtClean="0">
                <a:solidFill>
                  <a:srgbClr val="535358"/>
                </a:solidFill>
                <a:latin typeface="Trebuchet MS" charset="0"/>
                <a:ea typeface="Trebuchet MS" charset="0"/>
                <a:cs typeface="Trebuchet MS" charset="0"/>
              </a:rPr>
              <a:t>product</a:t>
            </a:r>
            <a:endParaRPr lang="en-US" sz="3000" dirty="0">
              <a:solidFill>
                <a:srgbClr val="535358"/>
              </a:solidFill>
              <a:latin typeface="Trebuchet MS" charset="0"/>
              <a:ea typeface="Trebuchet MS" charset="0"/>
              <a:cs typeface="Trebuchet MS" charset="0"/>
            </a:endParaRPr>
          </a:p>
        </p:txBody>
      </p:sp>
      <p:sp>
        <p:nvSpPr>
          <p:cNvPr id="48" name="TextBox 47"/>
          <p:cNvSpPr txBox="1"/>
          <p:nvPr/>
        </p:nvSpPr>
        <p:spPr>
          <a:xfrm>
            <a:off x="25644377" y="32458969"/>
            <a:ext cx="8456340" cy="1077218"/>
          </a:xfrm>
          <a:prstGeom prst="rect">
            <a:avLst/>
          </a:prstGeom>
          <a:noFill/>
        </p:spPr>
        <p:txBody>
          <a:bodyPr wrap="square" rtlCol="0">
            <a:spAutoFit/>
          </a:bodyPr>
          <a:lstStyle/>
          <a:p>
            <a:endParaRPr lang="en-US" sz="3000" dirty="0" smtClean="0">
              <a:latin typeface="Trebuchet MS" charset="0"/>
              <a:ea typeface="Trebuchet MS" charset="0"/>
              <a:cs typeface="Trebuchet MS" charset="0"/>
            </a:endParaRPr>
          </a:p>
          <a:p>
            <a:pPr marL="457200" indent="-457200">
              <a:buFont typeface="Arial" panose="020B0604020202020204" pitchFamily="34" charset="0"/>
              <a:buChar char="•"/>
            </a:pPr>
            <a:endParaRPr lang="en-US" sz="3000" dirty="0" smtClean="0">
              <a:latin typeface="Trebuchet MS" charset="0"/>
              <a:ea typeface="Trebuchet MS" charset="0"/>
              <a:cs typeface="Trebuchet MS" charset="0"/>
            </a:endParaRPr>
          </a:p>
          <a:p>
            <a:r>
              <a:rPr lang="en-US" sz="400" dirty="0">
                <a:latin typeface="Trebuchet MS" charset="0"/>
                <a:ea typeface="Trebuchet MS" charset="0"/>
                <a:cs typeface="Trebuchet MS" charset="0"/>
              </a:rPr>
              <a:t> </a:t>
            </a:r>
            <a:endParaRPr lang="en-US" sz="400" dirty="0" smtClean="0">
              <a:latin typeface="Trebuchet MS" charset="0"/>
              <a:ea typeface="Trebuchet MS" charset="0"/>
              <a:cs typeface="Trebuchet MS" charset="0"/>
            </a:endParaRPr>
          </a:p>
        </p:txBody>
      </p:sp>
      <p:sp>
        <p:nvSpPr>
          <p:cNvPr id="55" name="TextBox 54"/>
          <p:cNvSpPr txBox="1"/>
          <p:nvPr/>
        </p:nvSpPr>
        <p:spPr>
          <a:xfrm>
            <a:off x="1527075" y="28427201"/>
            <a:ext cx="5737326" cy="8586966"/>
          </a:xfrm>
          <a:prstGeom prst="rect">
            <a:avLst/>
          </a:prstGeom>
          <a:noFill/>
        </p:spPr>
        <p:txBody>
          <a:bodyPr wrap="square" rtlCol="0">
            <a:spAutoFit/>
          </a:bodyPr>
          <a:lstStyle/>
          <a:p>
            <a:pPr marL="571500" indent="-571500">
              <a:buFont typeface="Arial" panose="020B0604020202020204" pitchFamily="34" charset="0"/>
              <a:buChar char="•"/>
            </a:pPr>
            <a:r>
              <a:rPr lang="en-US" sz="3000" dirty="0" smtClean="0">
                <a:solidFill>
                  <a:srgbClr val="535358"/>
                </a:solidFill>
                <a:latin typeface="Trebuchet MS" panose="020B0603020202020204" pitchFamily="34" charset="0"/>
              </a:rPr>
              <a:t>What are the incentives to make or use open-source software?</a:t>
            </a:r>
          </a:p>
          <a:p>
            <a:r>
              <a:rPr lang="en-US" sz="400" dirty="0">
                <a:solidFill>
                  <a:srgbClr val="535358"/>
                </a:solidFill>
                <a:latin typeface="Trebuchet MS" panose="020B0603020202020204" pitchFamily="34" charset="0"/>
              </a:rPr>
              <a:t> </a:t>
            </a:r>
            <a:endParaRPr lang="en-US" sz="400" dirty="0" smtClean="0">
              <a:solidFill>
                <a:srgbClr val="535358"/>
              </a:solidFill>
              <a:latin typeface="Trebuchet MS" panose="020B0603020202020204" pitchFamily="34" charset="0"/>
            </a:endParaRPr>
          </a:p>
          <a:p>
            <a:pPr marL="571500" indent="-571500">
              <a:buFont typeface="Arial" panose="020B0604020202020204" pitchFamily="34" charset="0"/>
              <a:buChar char="•"/>
            </a:pPr>
            <a:r>
              <a:rPr lang="en-US" sz="3000" dirty="0" smtClean="0">
                <a:solidFill>
                  <a:srgbClr val="535358"/>
                </a:solidFill>
                <a:latin typeface="Trebuchet MS" panose="020B0603020202020204" pitchFamily="34" charset="0"/>
              </a:rPr>
              <a:t>What areas and fields does open-source software dominate vs. the areas and fields that proprietary software dominate?</a:t>
            </a:r>
          </a:p>
          <a:p>
            <a:r>
              <a:rPr lang="en-US" sz="400" dirty="0" smtClean="0">
                <a:solidFill>
                  <a:srgbClr val="535358"/>
                </a:solidFill>
                <a:latin typeface="Trebuchet MS" panose="020B0603020202020204" pitchFamily="34" charset="0"/>
              </a:rPr>
              <a:t> </a:t>
            </a:r>
          </a:p>
          <a:p>
            <a:pPr marL="571500" indent="-571500">
              <a:buFont typeface="Arial" panose="020B0604020202020204" pitchFamily="34" charset="0"/>
              <a:buChar char="•"/>
            </a:pPr>
            <a:r>
              <a:rPr lang="en-US" sz="3000" dirty="0" smtClean="0">
                <a:solidFill>
                  <a:srgbClr val="535358"/>
                </a:solidFill>
                <a:latin typeface="Trebuchet MS" panose="020B0603020202020204" pitchFamily="34" charset="0"/>
              </a:rPr>
              <a:t>Is open source software driven more by business needs or individual needs? </a:t>
            </a:r>
          </a:p>
          <a:p>
            <a:r>
              <a:rPr lang="en-US" sz="400" dirty="0">
                <a:solidFill>
                  <a:srgbClr val="535358"/>
                </a:solidFill>
                <a:latin typeface="Trebuchet MS" panose="020B0603020202020204" pitchFamily="34" charset="0"/>
              </a:rPr>
              <a:t> </a:t>
            </a:r>
            <a:endParaRPr lang="en-US" sz="400" dirty="0" smtClean="0">
              <a:solidFill>
                <a:srgbClr val="535358"/>
              </a:solidFill>
              <a:latin typeface="Trebuchet MS" panose="020B0603020202020204" pitchFamily="34" charset="0"/>
            </a:endParaRPr>
          </a:p>
          <a:p>
            <a:pPr marL="571500" indent="-571500">
              <a:buFont typeface="Arial" panose="020B0604020202020204" pitchFamily="34" charset="0"/>
              <a:buChar char="•"/>
            </a:pPr>
            <a:r>
              <a:rPr lang="en-US" sz="3000" dirty="0" smtClean="0">
                <a:solidFill>
                  <a:srgbClr val="535358"/>
                </a:solidFill>
                <a:latin typeface="Trebuchet MS" panose="020B0603020202020204" pitchFamily="34" charset="0"/>
              </a:rPr>
              <a:t>Where does most funding come from for open source software? </a:t>
            </a:r>
          </a:p>
          <a:p>
            <a:pPr marL="571500" indent="-571500">
              <a:buFont typeface="Arial" panose="020B0604020202020204" pitchFamily="34" charset="0"/>
              <a:buChar char="•"/>
            </a:pPr>
            <a:r>
              <a:rPr lang="en-US" sz="3000" dirty="0" smtClean="0">
                <a:solidFill>
                  <a:srgbClr val="535358"/>
                </a:solidFill>
                <a:latin typeface="Trebuchet MS" panose="020B0603020202020204" pitchFamily="34" charset="0"/>
              </a:rPr>
              <a:t>How </a:t>
            </a:r>
            <a:r>
              <a:rPr lang="en-US" sz="3000" dirty="0">
                <a:solidFill>
                  <a:srgbClr val="535358"/>
                </a:solidFill>
                <a:latin typeface="Trebuchet MS" panose="020B0603020202020204" pitchFamily="34" charset="0"/>
              </a:rPr>
              <a:t>commercially viable are open-source software versus proprietary software? </a:t>
            </a:r>
          </a:p>
          <a:p>
            <a:pPr marL="571500" indent="-571500">
              <a:buFont typeface="Arial" panose="020B0604020202020204" pitchFamily="34" charset="0"/>
              <a:buChar char="•"/>
            </a:pPr>
            <a:endParaRPr lang="en-US" sz="3000" dirty="0">
              <a:solidFill>
                <a:srgbClr val="535358"/>
              </a:solidFill>
              <a:latin typeface="Trebuchet MS" panose="020B0603020202020204" pitchFamily="34" charset="0"/>
            </a:endParaRPr>
          </a:p>
        </p:txBody>
      </p:sp>
      <p:sp>
        <p:nvSpPr>
          <p:cNvPr id="56" name="TextBox 55"/>
          <p:cNvSpPr txBox="1"/>
          <p:nvPr/>
        </p:nvSpPr>
        <p:spPr>
          <a:xfrm>
            <a:off x="14991271" y="14485602"/>
            <a:ext cx="13035794" cy="784830"/>
          </a:xfrm>
          <a:prstGeom prst="rect">
            <a:avLst/>
          </a:prstGeom>
          <a:noFill/>
        </p:spPr>
        <p:txBody>
          <a:bodyPr wrap="square" rtlCol="0">
            <a:spAutoFit/>
          </a:bodyPr>
          <a:lstStyle/>
          <a:p>
            <a:r>
              <a:rPr lang="en-US" sz="4500" dirty="0" smtClean="0">
                <a:latin typeface="Raleway Medium" charset="0"/>
                <a:ea typeface="Raleway Medium" charset="0"/>
                <a:cs typeface="Raleway Medium" charset="0"/>
              </a:rPr>
              <a:t>Interview Responses</a:t>
            </a:r>
            <a:endParaRPr lang="en-US" sz="4500" dirty="0">
              <a:latin typeface="Raleway Medium" charset="0"/>
              <a:ea typeface="Raleway Medium" charset="0"/>
              <a:cs typeface="Raleway Medium" charset="0"/>
            </a:endParaRPr>
          </a:p>
        </p:txBody>
      </p:sp>
      <p:sp>
        <p:nvSpPr>
          <p:cNvPr id="3" name="TextBox 2"/>
          <p:cNvSpPr txBox="1"/>
          <p:nvPr/>
        </p:nvSpPr>
        <p:spPr>
          <a:xfrm>
            <a:off x="12721639" y="11692226"/>
            <a:ext cx="668312" cy="584775"/>
          </a:xfrm>
          <a:prstGeom prst="rect">
            <a:avLst/>
          </a:prstGeom>
          <a:noFill/>
        </p:spPr>
        <p:txBody>
          <a:bodyPr wrap="square" rtlCol="0">
            <a:spAutoFit/>
          </a:bodyPr>
          <a:lstStyle/>
          <a:p>
            <a:r>
              <a:rPr lang="en-US" sz="3200" dirty="0" smtClean="0"/>
              <a:t>[1]</a:t>
            </a:r>
            <a:endParaRPr lang="en-US" sz="3200" dirty="0"/>
          </a:p>
        </p:txBody>
      </p:sp>
      <p:pic>
        <p:nvPicPr>
          <p:cNvPr id="53" name="Picture 52"/>
          <p:cNvPicPr>
            <a:picLocks noChangeAspect="1"/>
          </p:cNvPicPr>
          <p:nvPr/>
        </p:nvPicPr>
        <p:blipFill>
          <a:blip r:embed="rId21"/>
          <a:stretch>
            <a:fillRect/>
          </a:stretch>
        </p:blipFill>
        <p:spPr>
          <a:xfrm>
            <a:off x="32079716" y="21033465"/>
            <a:ext cx="3219083" cy="2396021"/>
          </a:xfrm>
          <a:prstGeom prst="rect">
            <a:avLst/>
          </a:prstGeom>
        </p:spPr>
      </p:pic>
      <p:pic>
        <p:nvPicPr>
          <p:cNvPr id="45" name="Picture 44"/>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6782" y="25440640"/>
            <a:ext cx="32637046" cy="1885638"/>
          </a:xfrm>
          <a:prstGeom prst="rect">
            <a:avLst/>
          </a:prstGeom>
        </p:spPr>
      </p:pic>
      <p:sp>
        <p:nvSpPr>
          <p:cNvPr id="51" name="TextBox 50"/>
          <p:cNvSpPr txBox="1"/>
          <p:nvPr/>
        </p:nvSpPr>
        <p:spPr>
          <a:xfrm>
            <a:off x="1489189" y="25196643"/>
            <a:ext cx="13035794" cy="1092607"/>
          </a:xfrm>
          <a:prstGeom prst="rect">
            <a:avLst/>
          </a:prstGeom>
          <a:noFill/>
        </p:spPr>
        <p:txBody>
          <a:bodyPr wrap="square" rtlCol="0">
            <a:spAutoFit/>
          </a:bodyPr>
          <a:lstStyle/>
          <a:p>
            <a:r>
              <a:rPr lang="en-US" sz="6500" dirty="0" smtClean="0">
                <a:latin typeface="Raleway Medium" charset="0"/>
                <a:ea typeface="Raleway Medium" charset="0"/>
                <a:cs typeface="Raleway Medium" charset="0"/>
              </a:rPr>
              <a:t>Methodology</a:t>
            </a:r>
            <a:endParaRPr lang="en-US" sz="6500" dirty="0">
              <a:latin typeface="Raleway Medium" charset="0"/>
              <a:ea typeface="Raleway Medium" charset="0"/>
              <a:cs typeface="Raleway Medium" charset="0"/>
            </a:endParaRPr>
          </a:p>
        </p:txBody>
      </p:sp>
      <p:pic>
        <p:nvPicPr>
          <p:cNvPr id="46" name="Picture 45"/>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4252" y="7660472"/>
            <a:ext cx="15495932" cy="1866671"/>
          </a:xfrm>
          <a:prstGeom prst="rect">
            <a:avLst/>
          </a:prstGeom>
        </p:spPr>
      </p:pic>
      <p:pic>
        <p:nvPicPr>
          <p:cNvPr id="49" name="Picture 48"/>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3381919" y="6681143"/>
            <a:ext cx="15495932" cy="1866671"/>
          </a:xfrm>
          <a:prstGeom prst="rect">
            <a:avLst/>
          </a:prstGeom>
        </p:spPr>
      </p:pic>
      <p:sp>
        <p:nvSpPr>
          <p:cNvPr id="50" name="TextBox 49"/>
          <p:cNvSpPr txBox="1"/>
          <p:nvPr/>
        </p:nvSpPr>
        <p:spPr>
          <a:xfrm>
            <a:off x="1669773" y="4449557"/>
            <a:ext cx="7191511" cy="630942"/>
          </a:xfrm>
          <a:prstGeom prst="rect">
            <a:avLst/>
          </a:prstGeom>
          <a:noFill/>
        </p:spPr>
        <p:txBody>
          <a:bodyPr wrap="square" rtlCol="0">
            <a:spAutoFit/>
          </a:bodyPr>
          <a:lstStyle/>
          <a:p>
            <a:pPr algn="ctr"/>
            <a:r>
              <a:rPr lang="en-US" sz="3500" b="1" dirty="0" smtClean="0">
                <a:solidFill>
                  <a:srgbClr val="5D89B4"/>
                </a:solidFill>
                <a:latin typeface="Raleway" charset="0"/>
                <a:ea typeface="Raleway" charset="0"/>
                <a:cs typeface="Raleway" charset="0"/>
              </a:rPr>
              <a:t>Data Science for the Public Good</a:t>
            </a:r>
            <a:endParaRPr lang="en-US" sz="3500" b="1" dirty="0" smtClean="0">
              <a:solidFill>
                <a:srgbClr val="5D89B4"/>
              </a:solidFill>
              <a:latin typeface="Raleway" charset="0"/>
              <a:ea typeface="Raleway" charset="0"/>
              <a:cs typeface="Raleway" charset="0"/>
            </a:endParaRPr>
          </a:p>
        </p:txBody>
      </p:sp>
    </p:spTree>
    <p:extLst>
      <p:ext uri="{BB962C8B-B14F-4D97-AF65-F5344CB8AC3E}">
        <p14:creationId xmlns:p14="http://schemas.microsoft.com/office/powerpoint/2010/main" val="14520094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6785</TotalTime>
  <Words>661</Words>
  <Application>Microsoft Macintosh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Blanch Caps</vt:lpstr>
      <vt:lpstr>Calibri</vt:lpstr>
      <vt:lpstr>Calibri Light</vt:lpstr>
      <vt:lpstr>Raleway</vt:lpstr>
      <vt:lpstr>Raleway Medium</vt:lpstr>
      <vt:lpstr>Trebuchet MS</vt:lpstr>
      <vt:lpstr>Arial</vt:lpstr>
      <vt:lpstr>Office Theme</vt:lpstr>
      <vt:lpstr>PowerPoint Presentation</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Alex Crookshanks</cp:lastModifiedBy>
  <cp:revision>128</cp:revision>
  <dcterms:created xsi:type="dcterms:W3CDTF">2016-07-05T19:56:53Z</dcterms:created>
  <dcterms:modified xsi:type="dcterms:W3CDTF">2016-08-23T15:18:59Z</dcterms:modified>
</cp:coreProperties>
</file>