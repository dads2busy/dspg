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1549638"/>
  <p:notesSz cx="6858000" cy="9144000"/>
  <p:defaultTextStyle>
    <a:defPPr>
      <a:defRPr lang="en-US"/>
    </a:defPPr>
    <a:lvl1pPr marL="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1pPr>
    <a:lvl2pPr marL="1874977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2pPr>
    <a:lvl3pPr marL="3749954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3pPr>
    <a:lvl4pPr marL="5624932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4pPr>
    <a:lvl5pPr marL="7499909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5pPr>
    <a:lvl6pPr marL="9374886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6pPr>
    <a:lvl7pPr marL="11249863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7pPr>
    <a:lvl8pPr marL="1312484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8pPr>
    <a:lvl9pPr marL="14999818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86">
          <p15:clr>
            <a:srgbClr val="A4A3A4"/>
          </p15:clr>
        </p15:guide>
        <p15:guide id="2" pos="11520">
          <p15:clr>
            <a:srgbClr val="A4A3A4"/>
          </p15:clr>
        </p15:guide>
        <p15:guide id="3" pos="124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24" autoAdjust="0"/>
    <p:restoredTop sz="96461"/>
  </p:normalViewPr>
  <p:slideViewPr>
    <p:cSldViewPr snapToGrid="0" snapToObjects="1">
      <p:cViewPr varScale="1">
        <p:scale>
          <a:sx n="30" d="100"/>
          <a:sy n="30" d="100"/>
        </p:scale>
        <p:origin x="5760" y="320"/>
      </p:cViewPr>
      <p:guideLst>
        <p:guide orient="horz" pos="13086"/>
        <p:guide pos="11520"/>
        <p:guide pos="124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799909"/>
            <a:ext cx="31089600" cy="1446543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2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358568"/>
            <a:ext cx="31546800" cy="17283492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7805569"/>
            <a:ext cx="31546800" cy="9088980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12143"/>
            <a:ext cx="31546800" cy="80310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185435"/>
            <a:ext cx="15473360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177160"/>
            <a:ext cx="15473360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185435"/>
            <a:ext cx="15549564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177160"/>
            <a:ext cx="15549564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9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5982388"/>
            <a:ext cx="18516600" cy="2952717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5982388"/>
            <a:ext cx="18516600" cy="2952717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0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12133"/>
            <a:ext cx="7886700" cy="352113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12133"/>
            <a:ext cx="23202900" cy="352113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12143"/>
            <a:ext cx="31546800" cy="8031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510368"/>
            <a:ext cx="123444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hyperlink" Target="http://www.theatlantic.com/business/archive/2015/03/the-city-that-believed-in-desegregation/388532/" TargetMode="External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6.emf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23" y="957385"/>
            <a:ext cx="8712200" cy="3530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34" y="5515081"/>
            <a:ext cx="15495932" cy="18666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09092" y="754772"/>
            <a:ext cx="2396698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 smtClean="0">
                <a:latin typeface="Blanch Caps" charset="0"/>
                <a:ea typeface="Blanch Caps" charset="0"/>
                <a:cs typeface="Blanch Caps" charset="0"/>
              </a:rPr>
              <a:t>School Assignment Policies and Race</a:t>
            </a:r>
            <a:r>
              <a:rPr lang="en-US" sz="15000" smtClean="0">
                <a:latin typeface="Blanch Caps" charset="0"/>
                <a:ea typeface="Blanch Caps" charset="0"/>
                <a:cs typeface="Blanch Caps" charset="0"/>
              </a:rPr>
              <a:t>: </a:t>
            </a:r>
            <a:endParaRPr lang="en-US" sz="15000" dirty="0" smtClean="0"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5074" y="5383699"/>
            <a:ext cx="1042113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smtClean="0">
                <a:latin typeface="Raleway Medium" charset="0"/>
                <a:ea typeface="Raleway Medium" charset="0"/>
                <a:cs typeface="Raleway Medium" charset="0"/>
              </a:rPr>
              <a:t>Research Questions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55750" y="10041714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Policy Review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651928" y="15021921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15893" y="17966221"/>
            <a:ext cx="1048069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>
                <a:latin typeface="Raleway Medium" charset="0"/>
                <a:ea typeface="Raleway Medium" charset="0"/>
                <a:cs typeface="Raleway Medium" charset="0"/>
              </a:rPr>
              <a:t>Data and Method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34" y="18119443"/>
            <a:ext cx="32637046" cy="18856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687482" y="29643414"/>
            <a:ext cx="553212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Discussion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9092" y="4739769"/>
            <a:ext cx="2396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Jessica Flynn (Cornell University), Madison </a:t>
            </a:r>
            <a:r>
              <a:rPr lang="en-US" sz="36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Arnsbarger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 (Virginia Tech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), 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with 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Kathryn Schaefer 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Ziemer (SDAL)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45433" y="6607688"/>
            <a:ext cx="13256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Given that Jefferson County has a school assignment integration plan, can a difference in the racial distribution of students in schools be noted when compared to Mecklenburg County?</a:t>
            </a:r>
          </a:p>
          <a:p>
            <a:pPr marL="457200" lvl="1" indent="-457200">
              <a:buFont typeface="Arial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Is the plan working to achieve its goals of desegregation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?</a:t>
            </a:r>
          </a:p>
          <a:p>
            <a:pPr marL="908050" lvl="2" indent="-457200">
              <a:buFont typeface="Arial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Are Jefferson County schools more racially integrated?</a:t>
            </a:r>
          </a:p>
          <a:p>
            <a:pPr marL="908050" lvl="1" indent="-457200">
              <a:buFont typeface="Arial" charset="0"/>
              <a:buChar char="•"/>
              <a:tabLst>
                <a:tab pos="3502025" algn="l"/>
              </a:tabLst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Can the integration be demonstrated spatially?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5205" y="12015913"/>
            <a:ext cx="9399345" cy="58447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27855" y="11242069"/>
            <a:ext cx="5419772" cy="68028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718638" y="18001125"/>
            <a:ext cx="107342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Mecklenburg County Elementary School Assignments (4)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66630" y="11231661"/>
            <a:ext cx="134239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Jefferson County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685800" indent="-685800">
              <a:buFont typeface="Arial" charset="0"/>
              <a:buChar char="•"/>
            </a:pPr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1975: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Kentucky Board of Education mandates a race-based busing system to promote desegregation. </a:t>
            </a:r>
            <a:endParaRPr lang="en-US" sz="3000" b="1" dirty="0">
              <a:latin typeface="Trebuchet MS" charset="0"/>
              <a:ea typeface="Trebuchet MS" charset="0"/>
              <a:cs typeface="Trebuchet MS" charset="0"/>
            </a:endParaRPr>
          </a:p>
          <a:p>
            <a:pPr marL="685800" indent="-685800">
              <a:buFont typeface="Arial" charset="0"/>
              <a:buChar char="•"/>
            </a:pPr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2007:</a:t>
            </a:r>
            <a:r>
              <a:rPr lang="en-US" sz="3000" i="1" dirty="0">
                <a:latin typeface="Trebuchet MS" charset="0"/>
                <a:ea typeface="Trebuchet MS" charset="0"/>
                <a:cs typeface="Trebuchet MS" charset="0"/>
              </a:rPr>
              <a:t> Meredith vs. Jefferson County Public School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: Deemed unconstitutional to integrate schools solely on the basis of race. A new plan that aspires to create integrated clusters on the basis of income, family education level, and percent whiteness was developed and is currently in place.</a:t>
            </a:r>
          </a:p>
          <a:p>
            <a:endParaRPr lang="en-US" sz="4800" dirty="0"/>
          </a:p>
        </p:txBody>
      </p:sp>
      <p:sp>
        <p:nvSpPr>
          <p:cNvPr id="28" name="TextBox 27"/>
          <p:cNvSpPr txBox="1"/>
          <p:nvPr/>
        </p:nvSpPr>
        <p:spPr>
          <a:xfrm>
            <a:off x="2256966" y="14986987"/>
            <a:ext cx="1343358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Mecklenburg County</a:t>
            </a:r>
            <a:endParaRPr lang="en-US" sz="30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marL="685800" indent="-685800">
              <a:buFont typeface="Arial" charset="0"/>
              <a:buChar char="•"/>
            </a:pPr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1971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en-US" sz="3000" i="1" dirty="0">
                <a:latin typeface="Trebuchet MS" charset="0"/>
                <a:ea typeface="Trebuchet MS" charset="0"/>
                <a:cs typeface="Trebuchet MS" charset="0"/>
              </a:rPr>
              <a:t>Swann vs. Charlotte-Mecklenburg Board of Education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: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The Supreme Court’s 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first metropolitan wide desegregation decision. </a:t>
            </a:r>
            <a:endParaRPr lang="en-US" sz="30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marL="685800" indent="-685800">
              <a:buFont typeface="Arial" charset="0"/>
              <a:buChar char="•"/>
            </a:pPr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2002: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 Racial based integration ended. Public schools began to re-segregate and have remained so to present times. Students are assigned to schools solely based on geographic location.</a:t>
            </a:r>
          </a:p>
          <a:p>
            <a:endParaRPr lang="en-US" sz="4800" dirty="0"/>
          </a:p>
        </p:txBody>
      </p:sp>
      <p:sp>
        <p:nvSpPr>
          <p:cNvPr id="22" name="TextBox 21"/>
          <p:cNvSpPr txBox="1"/>
          <p:nvPr/>
        </p:nvSpPr>
        <p:spPr>
          <a:xfrm>
            <a:off x="2691930" y="19142947"/>
            <a:ext cx="142308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Statewide Longitudinal Data Systems (SLDS)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Kentucky and North Carolina</a:t>
            </a:r>
          </a:p>
          <a:p>
            <a:pPr marL="1828800" lvl="1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Jefferson and Mecklenburg Counties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Academic Year Fall 2013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Elementary public school grades 3-5</a:t>
            </a:r>
          </a:p>
          <a:p>
            <a:pPr marL="1828800" lvl="1" indent="-5715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88 in Jefferson County</a:t>
            </a:r>
          </a:p>
          <a:p>
            <a:pPr marL="1828800" lvl="1" indent="-5715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103 in Mecklenburg County</a:t>
            </a:r>
          </a:p>
          <a:p>
            <a:pPr marL="2446477" lvl="1" indent="-571500">
              <a:buFont typeface="Arial" charset="0"/>
              <a:buChar char="•"/>
            </a:pPr>
            <a:endParaRPr lang="en-US" sz="3000" dirty="0" smtClean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18592" y="22477258"/>
            <a:ext cx="129719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Descriptive Analysis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Polar histograms depict the racial breakdown, as a percentage, for the Jefferson County and Mecklenburg County school districts. Each bar on the charts represents an individual elementary school within the respective county.</a:t>
            </a:r>
          </a:p>
          <a:p>
            <a:pPr marL="1828800" lvl="1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In the Jefferson County chart, the schools are grouped into the 13 clusters that the school assignment plan denotes.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Spatial correlation graphs display the proportions of White and Black students. Each point represents a school in its respective county, and the size of the point aids in visualizing the proportions.</a:t>
            </a:r>
            <a:endParaRPr lang="en-US" sz="4000" dirty="0"/>
          </a:p>
        </p:txBody>
      </p:sp>
      <p:sp>
        <p:nvSpPr>
          <p:cNvPr id="47" name="TextBox 46"/>
          <p:cNvSpPr txBox="1"/>
          <p:nvPr/>
        </p:nvSpPr>
        <p:spPr>
          <a:xfrm>
            <a:off x="19676939" y="5383699"/>
            <a:ext cx="1042113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Motivation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34" y="10181984"/>
            <a:ext cx="32637046" cy="188563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737" y="29802685"/>
            <a:ext cx="16318523" cy="18666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7508" y="19502021"/>
            <a:ext cx="8782335" cy="8166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500" y="19238871"/>
            <a:ext cx="8822178" cy="86705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3435" y="21101779"/>
            <a:ext cx="1636173" cy="215208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7305389" y="27742560"/>
            <a:ext cx="43567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Mecklenburg County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368649" y="27701349"/>
            <a:ext cx="3183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Jefferson County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014840" y="11298684"/>
            <a:ext cx="107342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Jefferson County Elementary School Clusters (3)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156" y="32847319"/>
            <a:ext cx="9666983" cy="55068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829" y="27621176"/>
            <a:ext cx="10983638" cy="424059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7715" y="34982081"/>
            <a:ext cx="1370595" cy="123734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333" y="29054277"/>
            <a:ext cx="1664552" cy="15823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77664" y="27282342"/>
            <a:ext cx="3183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Jefferson County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66283" y="32293737"/>
            <a:ext cx="43567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Mecklenburg County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083435" y="20463247"/>
            <a:ext cx="2178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Race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782702" y="29128909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Latitude</a:t>
            </a:r>
            <a:endParaRPr lang="en-US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rot="16200000">
            <a:off x="1250810" y="34404309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rebuchet MS" charset="0"/>
                <a:ea typeface="Trebuchet MS" charset="0"/>
                <a:cs typeface="Trebuchet MS" charset="0"/>
              </a:rPr>
              <a:t>Latitude</a:t>
            </a:r>
            <a:endParaRPr lang="en-US" sz="28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44423" y="38252995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rebuchet MS" charset="0"/>
                <a:ea typeface="Trebuchet MS" charset="0"/>
                <a:cs typeface="Trebuchet MS" charset="0"/>
              </a:rPr>
              <a:t>Longitude</a:t>
            </a:r>
            <a:endParaRPr lang="en-US" sz="28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46918" y="31711784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rebuchet MS" charset="0"/>
                <a:ea typeface="Trebuchet MS" charset="0"/>
                <a:cs typeface="Trebuchet MS" charset="0"/>
              </a:rPr>
              <a:t>Longitude</a:t>
            </a:r>
            <a:endParaRPr lang="en-US" sz="28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1259201" y="19242318"/>
            <a:ext cx="78265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Racial Breakdowns by Elementary School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922064" y="28436530"/>
            <a:ext cx="2178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Proportion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512442" y="34283055"/>
            <a:ext cx="2178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mtClean="0">
                <a:latin typeface="Trebuchet MS" charset="0"/>
                <a:ea typeface="Trebuchet MS" charset="0"/>
                <a:cs typeface="Trebuchet MS" charset="0"/>
              </a:rPr>
              <a:t>Proportion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676939" y="30809037"/>
            <a:ext cx="1434076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 comparison of the polar histograms shows that Jefferson County schools appear to be more integrated than Mecklenburg County Schools.</a:t>
            </a:r>
          </a:p>
          <a:p>
            <a:pPr marL="1828800" lvl="1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Percentages of each racial group remain relatively consistent across schools.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J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efferson County schools are less likely to be dominated by a single racial group, whereas in Mecklenburg County, minority-majority schools are frequent.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The spatial graphs show that in both counties, where Whites are prevalent, Blacks are sparse and vice versa.  </a:t>
            </a:r>
          </a:p>
          <a:p>
            <a:pPr marL="1828800" lvl="1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In Jefferson County, the city of Louisville schools are largely populated with minorities, while the outer suburbs are populated by whites.</a:t>
            </a:r>
          </a:p>
          <a:p>
            <a:pPr marL="1828800" lvl="1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 similar effect is observed in Mecklenburg schools near the city of Charlotte.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In conclusion, the Jefferson County integration plan has not fully broken down racial segregation in schools, especially in urban areas, and a more comprehensive policy must be created to do so. 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638005" y="6607688"/>
            <a:ext cx="143796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Although segregation was deemed unconstitutional more than 50 years ago, many schools across the country remain segregated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due to policies in counties and states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(1). </a:t>
            </a:r>
          </a:p>
          <a:p>
            <a:pPr marL="457200" indent="-457200">
              <a:buFont typeface="Arial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Students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in segregated schools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are often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deprived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of the positive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outcomes associated with integrated school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settings (2): </a:t>
            </a:r>
          </a:p>
          <a:p>
            <a:pPr marL="2332177" lvl="1" indent="-457200">
              <a:buFont typeface="Arial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better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critical thinking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,</a:t>
            </a:r>
          </a:p>
          <a:p>
            <a:pPr marL="2332177" lvl="1" indent="-457200">
              <a:buFont typeface="Arial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communication, </a:t>
            </a:r>
          </a:p>
          <a:p>
            <a:pPr marL="2332177" lvl="1" indent="-457200">
              <a:buFont typeface="Arial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social skills, and</a:t>
            </a:r>
          </a:p>
          <a:p>
            <a:pPr marL="2332177" lvl="1" indent="-457200">
              <a:buFont typeface="Arial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lack of poverty.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737" y="5515081"/>
            <a:ext cx="15495932" cy="186667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209092" y="2391878"/>
            <a:ext cx="2396698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400" dirty="0">
                <a:latin typeface="Blanch Caps" charset="0"/>
                <a:ea typeface="Blanch Caps" charset="0"/>
                <a:cs typeface="Blanch Caps" charset="0"/>
              </a:rPr>
              <a:t>A Comparison of Jefferson County and Mecklenburg County School Districts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3624" y="39192479"/>
            <a:ext cx="216630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 Medium"/>
                <a:cs typeface="Raleway Medium"/>
              </a:rPr>
              <a:t>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rebuchet MS"/>
                <a:cs typeface="Trebuchet MS"/>
              </a:rPr>
              <a:t>Siegel-Hawley, G. P. (2011). City lines, county lines, color lines: An analysis of school and housing segregation patterns in four southern metropolitan areas, 1990-2010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>
                <a:latin typeface="Trebuchet MS"/>
                <a:cs typeface="Trebuchet MS"/>
              </a:rPr>
              <a:t>Orfield</a:t>
            </a:r>
            <a:r>
              <a:rPr lang="en-US" sz="1800" dirty="0">
                <a:latin typeface="Trebuchet MS"/>
                <a:cs typeface="Trebuchet MS"/>
              </a:rPr>
              <a:t>, G., Frankenberg, E., </a:t>
            </a:r>
            <a:r>
              <a:rPr lang="en-US" sz="1800" dirty="0" err="1">
                <a:latin typeface="Trebuchet MS"/>
                <a:cs typeface="Trebuchet MS"/>
              </a:rPr>
              <a:t>Ee</a:t>
            </a:r>
            <a:r>
              <a:rPr lang="en-US" sz="1800" dirty="0">
                <a:latin typeface="Trebuchet MS"/>
                <a:cs typeface="Trebuchet MS"/>
              </a:rPr>
              <a:t>, J., &amp; </a:t>
            </a:r>
            <a:r>
              <a:rPr lang="en-US" sz="1800" dirty="0" err="1">
                <a:latin typeface="Trebuchet MS"/>
                <a:cs typeface="Trebuchet MS"/>
              </a:rPr>
              <a:t>Kuscera</a:t>
            </a:r>
            <a:r>
              <a:rPr lang="en-US" sz="1800" dirty="0">
                <a:latin typeface="Trebuchet MS"/>
                <a:cs typeface="Trebuchet MS"/>
              </a:rPr>
              <a:t>, J. (2014, May 25). Brown at 60: Great Progress, a Long Retreat and an Uncertain Future. Civil Rights Project.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 err="1">
                <a:latin typeface="Trebuchet MS"/>
                <a:cs typeface="Trebuchet MS"/>
              </a:rPr>
              <a:t>Semuels</a:t>
            </a:r>
            <a:r>
              <a:rPr lang="en-US" sz="1800" dirty="0">
                <a:latin typeface="Trebuchet MS"/>
                <a:cs typeface="Trebuchet MS"/>
              </a:rPr>
              <a:t>, A. (2015, March 27). Louisville Gave Desegregation a Try. The Atlantic. Retrieved from </a:t>
            </a:r>
            <a:r>
              <a:rPr lang="en-US" sz="1800" dirty="0">
                <a:latin typeface="Trebuchet MS"/>
                <a:cs typeface="Trebuchet MS"/>
                <a:hlinkClick r:id="rId15"/>
              </a:rPr>
              <a:t>http://www.theatlantic.com/business/archive/2015/03/the-city-that-believed-in-desegregation/388532/</a:t>
            </a:r>
            <a:endParaRPr lang="en-US" sz="1800" dirty="0">
              <a:latin typeface="Trebuchet MS"/>
              <a:cs typeface="Trebuchet MS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rebuchet MS"/>
                <a:cs typeface="Trebuchet MS"/>
              </a:rPr>
              <a:t>CMS. (2016). County-wide Elementary School Map. Retrieved from http://www.cms.k12.nc.us/</a:t>
            </a:r>
            <a:r>
              <a:rPr lang="en-US" sz="1800" dirty="0" err="1">
                <a:latin typeface="Trebuchet MS"/>
                <a:cs typeface="Trebuchet MS"/>
              </a:rPr>
              <a:t>cmsdepartments</a:t>
            </a:r>
            <a:r>
              <a:rPr lang="en-US" sz="1800" dirty="0">
                <a:latin typeface="Trebuchet MS"/>
                <a:cs typeface="Trebuchet MS"/>
              </a:rPr>
              <a:t>/</a:t>
            </a:r>
            <a:r>
              <a:rPr lang="en-US" sz="1800" dirty="0" err="1">
                <a:latin typeface="Trebuchet MS"/>
                <a:cs typeface="Trebuchet MS"/>
              </a:rPr>
              <a:t>StudentPlacement</a:t>
            </a:r>
            <a:r>
              <a:rPr lang="en-US" sz="1800" dirty="0">
                <a:latin typeface="Trebuchet MS"/>
                <a:cs typeface="Trebuchet MS"/>
              </a:rPr>
              <a:t>/Documents/Elem_bdy_1516_.pdf</a:t>
            </a:r>
          </a:p>
          <a:p>
            <a:endParaRPr lang="en-US" sz="1800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830" y="38991532"/>
            <a:ext cx="5715000" cy="1854200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37826343"/>
            <a:ext cx="35039447" cy="202443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749101" y="39409416"/>
            <a:ext cx="7455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bi.vt.edu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/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sdal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69773" y="4449557"/>
            <a:ext cx="719151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5D89B4"/>
                </a:solidFill>
                <a:latin typeface="Raleway" charset="0"/>
                <a:ea typeface="Raleway" charset="0"/>
                <a:cs typeface="Raleway" charset="0"/>
              </a:rPr>
              <a:t>Data Science for the Public Good</a:t>
            </a:r>
            <a:endParaRPr lang="en-US" sz="3500" b="1" dirty="0" smtClean="0">
              <a:solidFill>
                <a:srgbClr val="5D89B4"/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0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1769</TotalTime>
  <Words>718</Words>
  <Application>Microsoft Macintosh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Blanch Caps</vt:lpstr>
      <vt:lpstr>Calibri</vt:lpstr>
      <vt:lpstr>Calibri Light</vt:lpstr>
      <vt:lpstr>Raleway</vt:lpstr>
      <vt:lpstr>Raleway Medium</vt:lpstr>
      <vt:lpstr>Trebuchet MS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Alex Crookshanks</cp:lastModifiedBy>
  <cp:revision>154</cp:revision>
  <cp:lastPrinted>2016-07-25T16:22:48Z</cp:lastPrinted>
  <dcterms:created xsi:type="dcterms:W3CDTF">2016-07-05T19:56:53Z</dcterms:created>
  <dcterms:modified xsi:type="dcterms:W3CDTF">2016-08-23T15:22:14Z</dcterms:modified>
</cp:coreProperties>
</file>