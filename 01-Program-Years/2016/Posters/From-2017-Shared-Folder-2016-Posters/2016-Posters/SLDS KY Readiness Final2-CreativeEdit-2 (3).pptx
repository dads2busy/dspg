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549625" cx="36576000"/>
  <p:notesSz cx="6858000" cy="9144000"/>
  <p:embeddedFontLst>
    <p:embeddedFont>
      <p:font typeface="Raleway"/>
      <p:regular r:id="rId8"/>
      <p:bold r:id="rId9"/>
      <p:italic r:id="rId10"/>
      <p:boldItalic r:id="rId11"/>
    </p:embeddedFont>
    <p:embeddedFont>
      <p:font typeface="Raleway Medium"/>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Author clrIdx="0" id="0" initials="" lastIdx="1"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824DCEB4-8E9C-4FED-8000-373538B8CEA8}">
  <a:tblStyle styleId="{824DCEB4-8E9C-4FED-8000-373538B8CEA8}"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font" Target="fonts/Raleway-boldItalic.fntdata"/><Relationship Id="rId10" Type="http://schemas.openxmlformats.org/officeDocument/2006/relationships/font" Target="fonts/Raleway-italic.fntdata"/><Relationship Id="rId13" Type="http://schemas.openxmlformats.org/officeDocument/2006/relationships/font" Target="fonts/RalewayMedium-bold.fntdata"/><Relationship Id="rId12" Type="http://schemas.openxmlformats.org/officeDocument/2006/relationships/font" Target="fonts/Raleway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font" Target="fonts/Raleway-bold.fntdata"/><Relationship Id="rId15" Type="http://schemas.openxmlformats.org/officeDocument/2006/relationships/font" Target="fonts/RalewayMedium-boldItalic.fntdata"/><Relationship Id="rId14" Type="http://schemas.openxmlformats.org/officeDocument/2006/relationships/font" Target="fonts/Raleway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Raleway-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1" dt="2016-07-22T06:22:57.093">
    <p:pos x="6000" y="0"/>
    <p:text>The lines need to be changed:
-VAL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91425" lIns="91425" spcFirstLastPara="1" rIns="91425" wrap="square" tIns="91425"/>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070100" y="1143000"/>
            <a:ext cx="2717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2070100" y="1143000"/>
            <a:ext cx="2717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[1] file:///C:/Users/Emily/Google%20Drive/2016%20Summer%20Projects%20for%20SDAL%20Fellows/SLDS/College%20and%20Career%20Ready/%20Literature/college_readiness_sg_unified_strategy.pdf</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[2]</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http://education.ky.gov/educational/CCR/Pages/default.aspx</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[3] ACT Profile Report-National</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[4] Are High School Graduates Prepared for College and Work?</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[5]Assessing College Readiness: Should We Be Satisfied with ACT or Other Thresholds Scores?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[6] What is College and Career Readiness?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[7] Toward College and Career Readiness: How Different Models Produce Similar Short-Term Outcomes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2743200" y="6799909"/>
            <a:ext cx="31089601" cy="14465429"/>
          </a:xfrm>
          <a:prstGeom prst="rect">
            <a:avLst/>
          </a:prstGeom>
          <a:noFill/>
          <a:ln>
            <a:noFill/>
          </a:ln>
        </p:spPr>
        <p:txBody>
          <a:bodyPr anchorCtr="0" anchor="b" bIns="91425" lIns="91425" spcFirstLastPara="1" rIns="91425" wrap="square" tIns="91425"/>
          <a:lstStyle>
            <a:lvl1pPr indent="0" lvl="0" marL="0" marR="0" rtl="0" algn="ctr">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subTitle"/>
          </p:nvPr>
        </p:nvSpPr>
        <p:spPr>
          <a:xfrm>
            <a:off x="4572000" y="21823181"/>
            <a:ext cx="27432000" cy="10031542"/>
          </a:xfrm>
          <a:prstGeom prst="rect">
            <a:avLst/>
          </a:prstGeom>
          <a:noFill/>
          <a:ln>
            <a:noFill/>
          </a:ln>
        </p:spPr>
        <p:txBody>
          <a:bodyPr anchorCtr="0" anchor="t" bIns="91425" lIns="91425" spcFirstLastPara="1" rIns="91425" wrap="square" tIns="91425"/>
          <a:lstStyle>
            <a:lvl1pPr indent="0" lvl="0" marL="0" marR="0" rtl="0" algn="ctr">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0" lvl="1" marL="1828800" marR="0" rtl="0" algn="ctr">
              <a:lnSpc>
                <a:spcPct val="90000"/>
              </a:lnSpc>
              <a:spcBef>
                <a:spcPts val="2000"/>
              </a:spcBef>
              <a:spcAft>
                <a:spcPts val="0"/>
              </a:spcAft>
              <a:buClr>
                <a:schemeClr val="dk1"/>
              </a:buClr>
              <a:buSzPts val="9600"/>
              <a:buFont typeface="Arial"/>
              <a:buNone/>
              <a:defRPr b="0" i="0" sz="8000" u="none" cap="none" strike="noStrike">
                <a:solidFill>
                  <a:schemeClr val="dk1"/>
                </a:solidFill>
                <a:latin typeface="Calibri"/>
                <a:ea typeface="Calibri"/>
                <a:cs typeface="Calibri"/>
                <a:sym typeface="Calibri"/>
              </a:defRPr>
            </a:lvl2pPr>
            <a:lvl3pPr indent="0" lvl="2" marL="3657600" marR="0" rtl="0" algn="ctr">
              <a:lnSpc>
                <a:spcPct val="90000"/>
              </a:lnSpc>
              <a:spcBef>
                <a:spcPts val="2000"/>
              </a:spcBef>
              <a:spcAft>
                <a:spcPts val="0"/>
              </a:spcAft>
              <a:buClr>
                <a:schemeClr val="dk1"/>
              </a:buClr>
              <a:buSzPts val="8000"/>
              <a:buFont typeface="Arial"/>
              <a:buNone/>
              <a:defRPr b="0" i="0" sz="7200" u="none" cap="none" strike="noStrike">
                <a:solidFill>
                  <a:schemeClr val="dk1"/>
                </a:solidFill>
                <a:latin typeface="Calibri"/>
                <a:ea typeface="Calibri"/>
                <a:cs typeface="Calibri"/>
                <a:sym typeface="Calibri"/>
              </a:defRPr>
            </a:lvl3pPr>
            <a:lvl4pPr indent="0" lvl="3" marL="5486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4pPr>
            <a:lvl5pPr indent="0" lvl="4" marL="73152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5pPr>
            <a:lvl6pPr indent="0" lvl="5" marL="91440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6pPr>
            <a:lvl7pPr indent="0" lvl="6" marL="109728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7pPr>
            <a:lvl8pPr indent="0" lvl="7" marL="128016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8pPr>
            <a:lvl9pPr indent="0" lvl="8" marL="14630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2495552" y="10358568"/>
            <a:ext cx="31546801" cy="17283493"/>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2495552" y="27805569"/>
            <a:ext cx="31546801" cy="9088980"/>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rgbClr val="888888"/>
              </a:buClr>
              <a:buSzPts val="9600"/>
              <a:buFont typeface="Arial"/>
              <a:buNone/>
              <a:defRPr b="0" i="0" sz="8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2000"/>
              </a:spcBef>
              <a:spcAft>
                <a:spcPts val="0"/>
              </a:spcAft>
              <a:buClr>
                <a:srgbClr val="888888"/>
              </a:buClr>
              <a:buSzPts val="8000"/>
              <a:buFont typeface="Arial"/>
              <a:buNone/>
              <a:defRPr b="0" i="0" sz="72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2514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18516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2519364"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2519368" y="10185435"/>
            <a:ext cx="15473361"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2519368" y="15177159"/>
            <a:ext cx="15473361"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18516602" y="10185435"/>
            <a:ext cx="15549564"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18516602" y="15177159"/>
            <a:ext cx="15549564"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15549564" y="5982388"/>
            <a:ext cx="18516601" cy="29527173"/>
          </a:xfrm>
          <a:prstGeom prst="rect">
            <a:avLst/>
          </a:prstGeom>
          <a:noFill/>
          <a:ln>
            <a:noFill/>
          </a:ln>
        </p:spPr>
        <p:txBody>
          <a:bodyPr anchorCtr="0" anchor="t" bIns="91425" lIns="91425" spcFirstLastPara="1" rIns="91425" wrap="square" tIns="91425"/>
          <a:lstStyle>
            <a:lvl1pPr indent="-1041400" lvl="0" marL="457200" marR="0" rtl="0" algn="l">
              <a:lnSpc>
                <a:spcPct val="90000"/>
              </a:lnSpc>
              <a:spcBef>
                <a:spcPts val="4000"/>
              </a:spcBef>
              <a:spcAft>
                <a:spcPts val="0"/>
              </a:spcAft>
              <a:buClr>
                <a:schemeClr val="dk1"/>
              </a:buClr>
              <a:buSzPts val="12800"/>
              <a:buFont typeface="Arial"/>
              <a:buChar char="•"/>
              <a:defRPr b="0" i="0" sz="12800" u="none" cap="none" strike="noStrike">
                <a:solidFill>
                  <a:schemeClr val="dk1"/>
                </a:solidFill>
                <a:latin typeface="Calibri"/>
                <a:ea typeface="Calibri"/>
                <a:cs typeface="Calibri"/>
                <a:sym typeface="Calibri"/>
              </a:defRPr>
            </a:lvl1pPr>
            <a:lvl2pPr indent="-939800" lvl="1" marL="914400" marR="0" rtl="0" algn="l">
              <a:lnSpc>
                <a:spcPct val="90000"/>
              </a:lnSpc>
              <a:spcBef>
                <a:spcPts val="2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38200" lvl="2" marL="13716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36600" lvl="3" marL="1828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4pPr>
            <a:lvl5pPr indent="-736600" lvl="4" marL="22860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5pPr>
            <a:lvl6pPr indent="-736600" lvl="5" marL="27432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6pPr>
            <a:lvl7pPr indent="-736600" lvl="6" marL="32004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7pPr>
            <a:lvl8pPr indent="-736600" lvl="7" marL="3657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8pPr>
            <a:lvl9pPr indent="-736600" lvl="8" marL="4114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7" name="Google Shape;67;p10"/>
          <p:cNvSpPr/>
          <p:nvPr>
            <p:ph idx="2" type="pic"/>
          </p:nvPr>
        </p:nvSpPr>
        <p:spPr>
          <a:xfrm>
            <a:off x="15549564" y="5982388"/>
            <a:ext cx="18516601" cy="29527173"/>
          </a:xfrm>
          <a:prstGeom prst="rect">
            <a:avLst/>
          </a:prstGeom>
          <a:noFill/>
          <a:ln>
            <a:noFill/>
          </a:ln>
        </p:spPr>
        <p:txBody>
          <a:bodyPr anchorCtr="0" anchor="t" bIns="91425" lIns="91425" spcFirstLastPara="1" rIns="91425" wrap="square" tIns="91425"/>
          <a:lstStyle>
            <a:lvl1pPr indent="0" lvl="0" marL="0" marR="0" rtl="0" algn="l">
              <a:lnSpc>
                <a:spcPct val="90000"/>
              </a:lnSpc>
              <a:spcBef>
                <a:spcPts val="4000"/>
              </a:spcBef>
              <a:spcAft>
                <a:spcPts val="0"/>
              </a:spcAft>
              <a:buClr>
                <a:schemeClr val="dk1"/>
              </a:buClr>
              <a:buSzPts val="1400"/>
              <a:buFont typeface="Arial"/>
              <a:buNone/>
              <a:defRPr b="0" i="0" sz="12800" u="none" cap="none" strike="noStrike">
                <a:solidFill>
                  <a:schemeClr val="dk1"/>
                </a:solidFill>
                <a:latin typeface="Calibri"/>
                <a:ea typeface="Calibri"/>
                <a:cs typeface="Calibri"/>
                <a:sym typeface="Calibri"/>
              </a:defRPr>
            </a:lvl1pPr>
            <a:lvl2pPr indent="0" lvl="1" marL="1828800" marR="0" rtl="0" algn="l">
              <a:lnSpc>
                <a:spcPct val="90000"/>
              </a:lnSpc>
              <a:spcBef>
                <a:spcPts val="200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2pPr>
            <a:lvl3pPr indent="0" lvl="2" marL="3657600" marR="0" rtl="0" algn="l">
              <a:lnSpc>
                <a:spcPct val="90000"/>
              </a:lnSpc>
              <a:spcBef>
                <a:spcPts val="2000"/>
              </a:spcBef>
              <a:spcAft>
                <a:spcPts val="0"/>
              </a:spcAft>
              <a:buClr>
                <a:schemeClr val="dk1"/>
              </a:buClr>
              <a:buSzPts val="1400"/>
              <a:buFont typeface="Arial"/>
              <a:buNone/>
              <a:defRPr b="0" i="0" sz="9600" u="none" cap="none" strike="noStrike">
                <a:solidFill>
                  <a:schemeClr val="dk1"/>
                </a:solidFill>
                <a:latin typeface="Calibri"/>
                <a:ea typeface="Calibri"/>
                <a:cs typeface="Calibri"/>
                <a:sym typeface="Calibri"/>
              </a:defRPr>
            </a:lvl3pPr>
            <a:lvl4pPr indent="0" lvl="3" marL="5486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4pPr>
            <a:lvl5pPr indent="0" lvl="4" marL="73152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5pPr>
            <a:lvl6pPr indent="0" lvl="5" marL="91440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6pPr>
            <a:lvl7pPr indent="0" lvl="6" marL="109728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7pPr>
            <a:lvl8pPr indent="0" lvl="7" marL="128016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8pPr>
            <a:lvl9pPr indent="0" lvl="8" marL="14630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4" name="Google Shape;74;p11"/>
          <p:cNvSpPr txBox="1"/>
          <p:nvPr>
            <p:ph idx="1" type="body"/>
          </p:nvPr>
        </p:nvSpPr>
        <p:spPr>
          <a:xfrm rot="5400000">
            <a:off x="5106567" y="8468699"/>
            <a:ext cx="26362864" cy="31546801"/>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2512354" y="15874482"/>
            <a:ext cx="35211399" cy="78867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0" name="Google Shape;80;p12"/>
          <p:cNvSpPr txBox="1"/>
          <p:nvPr>
            <p:ph idx="1" type="body"/>
          </p:nvPr>
        </p:nvSpPr>
        <p:spPr>
          <a:xfrm rot="5400000">
            <a:off x="-3489648" y="8216382"/>
            <a:ext cx="35211399" cy="23202900"/>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5.png"/><Relationship Id="rId13" Type="http://schemas.openxmlformats.org/officeDocument/2006/relationships/image" Target="../media/image4.png"/><Relationship Id="rId12"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3.jpg"/><Relationship Id="rId9" Type="http://schemas.openxmlformats.org/officeDocument/2006/relationships/image" Target="../media/image11.png"/><Relationship Id="rId15" Type="http://schemas.openxmlformats.org/officeDocument/2006/relationships/image" Target="../media/image1.png"/><Relationship Id="rId14" Type="http://schemas.openxmlformats.org/officeDocument/2006/relationships/image" Target="../media/image7.png"/><Relationship Id="rId17" Type="http://schemas.openxmlformats.org/officeDocument/2006/relationships/hyperlink" Target="http://education.ky.gov/educational/CCR/Pages/default.aspx" TargetMode="External"/><Relationship Id="rId16"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9.png"/><Relationship Id="rId18"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pic>
        <p:nvPicPr>
          <p:cNvPr id="89" name="Google Shape;89;p13"/>
          <p:cNvPicPr preferRelativeResize="0"/>
          <p:nvPr/>
        </p:nvPicPr>
        <p:blipFill rotWithShape="1">
          <a:blip r:embed="rId4">
            <a:alphaModFix/>
          </a:blip>
          <a:srcRect b="0" l="0" r="0" t="0"/>
          <a:stretch/>
        </p:blipFill>
        <p:spPr>
          <a:xfrm>
            <a:off x="0" y="-4757"/>
            <a:ext cx="36576001" cy="41554396"/>
          </a:xfrm>
          <a:prstGeom prst="rect">
            <a:avLst/>
          </a:prstGeom>
          <a:noFill/>
          <a:ln>
            <a:noFill/>
          </a:ln>
        </p:spPr>
      </p:pic>
      <p:pic>
        <p:nvPicPr>
          <p:cNvPr id="90" name="Google Shape;90;p13"/>
          <p:cNvPicPr preferRelativeResize="0"/>
          <p:nvPr/>
        </p:nvPicPr>
        <p:blipFill rotWithShape="1">
          <a:blip r:embed="rId5">
            <a:alphaModFix/>
          </a:blip>
          <a:srcRect b="0" l="0" r="0" t="0"/>
          <a:stretch/>
        </p:blipFill>
        <p:spPr>
          <a:xfrm>
            <a:off x="989623" y="957385"/>
            <a:ext cx="8712200" cy="3530600"/>
          </a:xfrm>
          <a:prstGeom prst="rect">
            <a:avLst/>
          </a:prstGeom>
          <a:noFill/>
          <a:ln>
            <a:noFill/>
          </a:ln>
        </p:spPr>
      </p:pic>
      <p:pic>
        <p:nvPicPr>
          <p:cNvPr id="91" name="Google Shape;91;p13"/>
          <p:cNvPicPr preferRelativeResize="0"/>
          <p:nvPr/>
        </p:nvPicPr>
        <p:blipFill rotWithShape="1">
          <a:blip r:embed="rId6">
            <a:alphaModFix/>
          </a:blip>
          <a:srcRect b="0" l="0" r="0" t="0"/>
          <a:stretch/>
        </p:blipFill>
        <p:spPr>
          <a:xfrm>
            <a:off x="2488223" y="39039800"/>
            <a:ext cx="5715000" cy="1854200"/>
          </a:xfrm>
          <a:prstGeom prst="rect">
            <a:avLst/>
          </a:prstGeom>
          <a:noFill/>
          <a:ln>
            <a:noFill/>
          </a:ln>
        </p:spPr>
      </p:pic>
      <p:pic>
        <p:nvPicPr>
          <p:cNvPr id="92" name="Google Shape;92;p13"/>
          <p:cNvPicPr preferRelativeResize="0"/>
          <p:nvPr/>
        </p:nvPicPr>
        <p:blipFill rotWithShape="1">
          <a:blip r:embed="rId7">
            <a:alphaModFix/>
          </a:blip>
          <a:srcRect b="0" l="0" r="0" t="0"/>
          <a:stretch/>
        </p:blipFill>
        <p:spPr>
          <a:xfrm>
            <a:off x="1863969" y="14167956"/>
            <a:ext cx="32637045" cy="1885638"/>
          </a:xfrm>
          <a:prstGeom prst="rect">
            <a:avLst/>
          </a:prstGeom>
          <a:noFill/>
          <a:ln>
            <a:noFill/>
          </a:ln>
        </p:spPr>
      </p:pic>
      <p:pic>
        <p:nvPicPr>
          <p:cNvPr id="93" name="Google Shape;93;p13"/>
          <p:cNvPicPr preferRelativeResize="0"/>
          <p:nvPr/>
        </p:nvPicPr>
        <p:blipFill rotWithShape="1">
          <a:blip r:embed="rId8">
            <a:alphaModFix/>
          </a:blip>
          <a:srcRect b="0" l="0" r="0" t="0"/>
          <a:stretch/>
        </p:blipFill>
        <p:spPr>
          <a:xfrm>
            <a:off x="1863969" y="6612505"/>
            <a:ext cx="15495933" cy="1866671"/>
          </a:xfrm>
          <a:prstGeom prst="rect">
            <a:avLst/>
          </a:prstGeom>
          <a:noFill/>
          <a:ln>
            <a:noFill/>
          </a:ln>
        </p:spPr>
      </p:pic>
      <p:sp>
        <p:nvSpPr>
          <p:cNvPr id="94" name="Google Shape;94;p13"/>
          <p:cNvSpPr txBox="1"/>
          <p:nvPr/>
        </p:nvSpPr>
        <p:spPr>
          <a:xfrm>
            <a:off x="11146970" y="515100"/>
            <a:ext cx="24057429"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0000" u="none" cap="none" strike="noStrike">
                <a:solidFill>
                  <a:schemeClr val="dk1"/>
                </a:solidFill>
                <a:latin typeface="Arial"/>
                <a:ea typeface="Arial"/>
                <a:cs typeface="Arial"/>
                <a:sym typeface="Arial"/>
              </a:rPr>
              <a:t>Assessing the Influence of Career</a:t>
            </a:r>
            <a:endParaRPr sz="20000">
              <a:solidFill>
                <a:schemeClr val="dk1"/>
              </a:solidFill>
              <a:latin typeface="Arial"/>
              <a:ea typeface="Arial"/>
              <a:cs typeface="Arial"/>
              <a:sym typeface="Arial"/>
            </a:endParaRPr>
          </a:p>
        </p:txBody>
      </p:sp>
      <p:sp>
        <p:nvSpPr>
          <p:cNvPr id="95" name="Google Shape;95;p13"/>
          <p:cNvSpPr txBox="1"/>
          <p:nvPr/>
        </p:nvSpPr>
        <p:spPr>
          <a:xfrm>
            <a:off x="3383648" y="14031642"/>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Direct Evaluation of the Policy</a:t>
            </a:r>
            <a:endParaRPr sz="6500">
              <a:solidFill>
                <a:schemeClr val="dk1"/>
              </a:solidFill>
              <a:latin typeface="Raleway Medium"/>
              <a:ea typeface="Raleway Medium"/>
              <a:cs typeface="Raleway Medium"/>
              <a:sym typeface="Raleway Medium"/>
            </a:endParaRPr>
          </a:p>
        </p:txBody>
      </p:sp>
      <p:sp>
        <p:nvSpPr>
          <p:cNvPr id="96" name="Google Shape;96;p13"/>
          <p:cNvSpPr txBox="1"/>
          <p:nvPr/>
        </p:nvSpPr>
        <p:spPr>
          <a:xfrm>
            <a:off x="3433164" y="7631754"/>
            <a:ext cx="13229236" cy="632480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3000">
                <a:solidFill>
                  <a:srgbClr val="881D3F"/>
                </a:solidFill>
                <a:latin typeface="Trebuchet MS"/>
                <a:ea typeface="Trebuchet MS"/>
                <a:cs typeface="Trebuchet MS"/>
                <a:sym typeface="Trebuchet MS"/>
              </a:rPr>
              <a:t>2009 Senate Bill 1 </a:t>
            </a:r>
            <a:endParaRPr/>
          </a:p>
          <a:p>
            <a:pPr indent="0" lvl="0" marL="0" marR="0" rtl="0" algn="just">
              <a:spcBef>
                <a:spcPts val="0"/>
              </a:spcBef>
              <a:spcAft>
                <a:spcPts val="0"/>
              </a:spcAft>
              <a:buNone/>
            </a:pPr>
            <a:r>
              <a:rPr lang="en-US" sz="3000">
                <a:solidFill>
                  <a:schemeClr val="dk1"/>
                </a:solidFill>
                <a:latin typeface="Trebuchet MS"/>
                <a:ea typeface="Trebuchet MS"/>
                <a:cs typeface="Trebuchet MS"/>
                <a:sym typeface="Trebuchet MS"/>
              </a:rPr>
              <a:t>The Kentucky Senate Bill 1 was passed to address the</a:t>
            </a:r>
            <a:r>
              <a:rPr lang="en-US" sz="3000">
                <a:solidFill>
                  <a:srgbClr val="5E89B4"/>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high</a:t>
            </a:r>
            <a:r>
              <a:rPr lang="en-US" sz="3000">
                <a:solidFill>
                  <a:srgbClr val="5E89B4"/>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rate of students enrolled in remedial courses during their first year of college.</a:t>
            </a:r>
            <a:r>
              <a:rPr baseline="30000" lang="en-US" sz="3000">
                <a:solidFill>
                  <a:schemeClr val="dk1"/>
                </a:solidFill>
                <a:latin typeface="Trebuchet MS"/>
                <a:ea typeface="Trebuchet MS"/>
                <a:cs typeface="Trebuchet MS"/>
                <a:sym typeface="Trebuchet MS"/>
              </a:rPr>
              <a:t>[1]</a:t>
            </a:r>
            <a:r>
              <a:rPr lang="en-US" sz="3000">
                <a:solidFill>
                  <a:schemeClr val="dk1"/>
                </a:solidFill>
                <a:latin typeface="Trebuchet MS"/>
                <a:ea typeface="Trebuchet MS"/>
                <a:cs typeface="Trebuchet MS"/>
                <a:sym typeface="Trebuchet MS"/>
              </a:rPr>
              <a:t> This bill created two benchmarks as a solution:</a:t>
            </a:r>
            <a:endParaRPr/>
          </a:p>
          <a:p>
            <a:pPr indent="-515938" lvl="1" marL="719138" marR="0" rtl="0" algn="just">
              <a:spcBef>
                <a:spcPts val="600"/>
              </a:spcBef>
              <a:spcAft>
                <a:spcPts val="0"/>
              </a:spcAft>
              <a:buClr>
                <a:schemeClr val="dk1"/>
              </a:buClr>
              <a:buSzPts val="3000"/>
              <a:buFont typeface="Arial"/>
              <a:buChar char="•"/>
            </a:pPr>
            <a:r>
              <a:rPr b="1" i="0" lang="en-US" sz="3000" u="none" cap="none" strike="noStrike">
                <a:solidFill>
                  <a:schemeClr val="dk1"/>
                </a:solidFill>
                <a:latin typeface="Trebuchet MS"/>
                <a:ea typeface="Trebuchet MS"/>
                <a:cs typeface="Trebuchet MS"/>
                <a:sym typeface="Trebuchet MS"/>
              </a:rPr>
              <a:t>College Readiness</a:t>
            </a:r>
            <a:r>
              <a:rPr b="0" i="0" lang="en-US" sz="3000" u="none" cap="none" strike="noStrike">
                <a:solidFill>
                  <a:schemeClr val="dk1"/>
                </a:solidFill>
                <a:latin typeface="Trebuchet MS"/>
                <a:ea typeface="Trebuchet MS"/>
                <a:cs typeface="Trebuchet MS"/>
                <a:sym typeface="Trebuchet MS"/>
              </a:rPr>
              <a:t>: meeting benchmarks on either the ACT, COMPASS, or KYOTE (college placement tests) indicating that they do not require placement in remedial college courses for Math, English, and Reading.</a:t>
            </a:r>
            <a:r>
              <a:rPr b="0" baseline="30000" i="0" lang="en-US" sz="3000" u="none" cap="none" strike="noStrike">
                <a:solidFill>
                  <a:schemeClr val="dk1"/>
                </a:solidFill>
                <a:latin typeface="Trebuchet MS"/>
                <a:ea typeface="Trebuchet MS"/>
                <a:cs typeface="Trebuchet MS"/>
                <a:sym typeface="Trebuchet MS"/>
              </a:rPr>
              <a:t>[2]</a:t>
            </a:r>
            <a:endParaRPr b="0" i="0" sz="3000" u="none" cap="none" strike="noStrike">
              <a:solidFill>
                <a:schemeClr val="dk1"/>
              </a:solidFill>
              <a:latin typeface="Trebuchet MS"/>
              <a:ea typeface="Trebuchet MS"/>
              <a:cs typeface="Trebuchet MS"/>
              <a:sym typeface="Trebuchet MS"/>
            </a:endParaRPr>
          </a:p>
          <a:p>
            <a:pPr indent="-515938" lvl="1" marL="719138" marR="0" rtl="0" algn="just">
              <a:spcBef>
                <a:spcPts val="600"/>
              </a:spcBef>
              <a:spcAft>
                <a:spcPts val="0"/>
              </a:spcAft>
              <a:buClr>
                <a:schemeClr val="dk1"/>
              </a:buClr>
              <a:buSzPts val="3000"/>
              <a:buFont typeface="Arial"/>
              <a:buChar char="•"/>
            </a:pPr>
            <a:r>
              <a:rPr b="1" i="0" lang="en-US" sz="3000" u="none" cap="none" strike="noStrike">
                <a:solidFill>
                  <a:schemeClr val="dk1"/>
                </a:solidFill>
                <a:latin typeface="Trebuchet MS"/>
                <a:ea typeface="Trebuchet MS"/>
                <a:cs typeface="Trebuchet MS"/>
                <a:sym typeface="Trebuchet MS"/>
              </a:rPr>
              <a:t>Career Readiness</a:t>
            </a:r>
            <a:r>
              <a:rPr b="0" i="0" lang="en-US" sz="3000" u="none" cap="none" strike="noStrike">
                <a:solidFill>
                  <a:schemeClr val="dk1"/>
                </a:solidFill>
                <a:latin typeface="Trebuchet MS"/>
                <a:ea typeface="Trebuchet MS"/>
                <a:cs typeface="Trebuchet MS"/>
                <a:sym typeface="Trebuchet MS"/>
              </a:rPr>
              <a:t>: certification in an industry or testing above certain benchmarks on WorkKeys or ASVAB and KOSSA, in addition to completing coursework in Career and Technical Education curriculum.</a:t>
            </a:r>
            <a:r>
              <a:rPr b="0" baseline="30000" i="0" lang="en-US" sz="3000" u="none" cap="none" strike="noStrike">
                <a:solidFill>
                  <a:schemeClr val="dk1"/>
                </a:solidFill>
                <a:latin typeface="Trebuchet MS"/>
                <a:ea typeface="Trebuchet MS"/>
                <a:cs typeface="Trebuchet MS"/>
                <a:sym typeface="Trebuchet MS"/>
              </a:rPr>
              <a:t>[2]</a:t>
            </a:r>
            <a:endParaRPr/>
          </a:p>
          <a:p>
            <a:pPr indent="-7938" lvl="1" marL="211138" marR="0" rtl="0" algn="just">
              <a:spcBef>
                <a:spcPts val="600"/>
              </a:spcBef>
              <a:spcAft>
                <a:spcPts val="0"/>
              </a:spcAft>
              <a:buNone/>
            </a:pPr>
            <a:r>
              <a:rPr b="0" i="0" lang="en-US" sz="3000" u="none" cap="none" strike="noStrike">
                <a:solidFill>
                  <a:schemeClr val="dk1"/>
                </a:solidFill>
                <a:latin typeface="Trebuchet MS"/>
                <a:ea typeface="Trebuchet MS"/>
                <a:cs typeface="Trebuchet MS"/>
                <a:sym typeface="Trebuchet MS"/>
              </a:rPr>
              <a:t>While these benchmarks were </a:t>
            </a:r>
            <a:r>
              <a:rPr b="0" i="0" lang="en-US" sz="3000" u="none" cap="none" strike="noStrike">
                <a:solidFill>
                  <a:srgbClr val="000000"/>
                </a:solidFill>
                <a:latin typeface="Trebuchet MS"/>
                <a:ea typeface="Trebuchet MS"/>
                <a:cs typeface="Trebuchet MS"/>
                <a:sym typeface="Trebuchet MS"/>
              </a:rPr>
              <a:t>introduced in 2009, they </a:t>
            </a:r>
            <a:r>
              <a:rPr b="0" i="0" lang="en-US" sz="3000" u="none" cap="none" strike="noStrike">
                <a:solidFill>
                  <a:schemeClr val="dk1"/>
                </a:solidFill>
                <a:latin typeface="Trebuchet MS"/>
                <a:ea typeface="Trebuchet MS"/>
                <a:cs typeface="Trebuchet MS"/>
                <a:sym typeface="Trebuchet MS"/>
              </a:rPr>
              <a:t>were not tracked until the graduating class of 2012.</a:t>
            </a:r>
            <a:endParaRPr b="0" i="0" sz="3000" u="none" cap="none" strike="noStrike">
              <a:solidFill>
                <a:schemeClr val="dk1"/>
              </a:solidFill>
              <a:latin typeface="Trebuchet MS"/>
              <a:ea typeface="Trebuchet MS"/>
              <a:cs typeface="Trebuchet MS"/>
              <a:sym typeface="Trebuchet MS"/>
            </a:endParaRPr>
          </a:p>
        </p:txBody>
      </p:sp>
      <p:sp>
        <p:nvSpPr>
          <p:cNvPr id="97" name="Google Shape;97;p13"/>
          <p:cNvSpPr txBox="1"/>
          <p:nvPr/>
        </p:nvSpPr>
        <p:spPr>
          <a:xfrm>
            <a:off x="3433164" y="6396220"/>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Introduction to Kentucky’s Policy</a:t>
            </a:r>
            <a:endParaRPr sz="6500">
              <a:solidFill>
                <a:schemeClr val="dk1"/>
              </a:solidFill>
              <a:latin typeface="Raleway Medium"/>
              <a:ea typeface="Raleway Medium"/>
              <a:cs typeface="Raleway Medium"/>
              <a:sym typeface="Raleway Medium"/>
            </a:endParaRPr>
          </a:p>
        </p:txBody>
      </p:sp>
      <p:pic>
        <p:nvPicPr>
          <p:cNvPr id="98" name="Google Shape;98;p13"/>
          <p:cNvPicPr preferRelativeResize="0"/>
          <p:nvPr/>
        </p:nvPicPr>
        <p:blipFill rotWithShape="1">
          <a:blip r:embed="rId8">
            <a:alphaModFix/>
          </a:blip>
          <a:srcRect b="0" l="0" r="0" t="0"/>
          <a:stretch/>
        </p:blipFill>
        <p:spPr>
          <a:xfrm>
            <a:off x="19132247" y="6612505"/>
            <a:ext cx="15495933" cy="1866671"/>
          </a:xfrm>
          <a:prstGeom prst="rect">
            <a:avLst/>
          </a:prstGeom>
          <a:noFill/>
          <a:ln>
            <a:noFill/>
          </a:ln>
        </p:spPr>
      </p:pic>
      <p:sp>
        <p:nvSpPr>
          <p:cNvPr id="99" name="Google Shape;99;p13"/>
          <p:cNvSpPr txBox="1"/>
          <p:nvPr/>
        </p:nvSpPr>
        <p:spPr>
          <a:xfrm>
            <a:off x="20701442" y="6417584"/>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Overview of the Literature</a:t>
            </a:r>
            <a:endParaRPr sz="6500">
              <a:solidFill>
                <a:schemeClr val="dk1"/>
              </a:solidFill>
              <a:latin typeface="Raleway Medium"/>
              <a:ea typeface="Raleway Medium"/>
              <a:cs typeface="Raleway Medium"/>
              <a:sym typeface="Raleway Medium"/>
            </a:endParaRPr>
          </a:p>
        </p:txBody>
      </p:sp>
      <p:sp>
        <p:nvSpPr>
          <p:cNvPr id="100" name="Google Shape;100;p13"/>
          <p:cNvSpPr txBox="1"/>
          <p:nvPr/>
        </p:nvSpPr>
        <p:spPr>
          <a:xfrm>
            <a:off x="27749100" y="39409416"/>
            <a:ext cx="7455299" cy="4616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2400">
                <a:solidFill>
                  <a:srgbClr val="757070"/>
                </a:solidFill>
                <a:latin typeface="Raleway Medium"/>
                <a:ea typeface="Raleway Medium"/>
                <a:cs typeface="Raleway Medium"/>
                <a:sym typeface="Raleway Medium"/>
              </a:rPr>
              <a:t>bi.vt.edu/sdal</a:t>
            </a:r>
            <a:endParaRPr sz="2400">
              <a:solidFill>
                <a:srgbClr val="757070"/>
              </a:solidFill>
              <a:latin typeface="Raleway Medium"/>
              <a:ea typeface="Raleway Medium"/>
              <a:cs typeface="Raleway Medium"/>
              <a:sym typeface="Raleway Medium"/>
            </a:endParaRPr>
          </a:p>
        </p:txBody>
      </p:sp>
      <p:sp>
        <p:nvSpPr>
          <p:cNvPr id="101" name="Google Shape;101;p13"/>
          <p:cNvSpPr txBox="1"/>
          <p:nvPr/>
        </p:nvSpPr>
        <p:spPr>
          <a:xfrm>
            <a:off x="11146970" y="5028941"/>
            <a:ext cx="21565872"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600">
                <a:solidFill>
                  <a:srgbClr val="757070"/>
                </a:solidFill>
                <a:latin typeface="Raleway"/>
                <a:ea typeface="Raleway"/>
                <a:cs typeface="Raleway"/>
                <a:sym typeface="Raleway"/>
              </a:rPr>
              <a:t>Emily Stark (Austin Peay State University) with Kathryn Ziemer (SDAL)</a:t>
            </a:r>
            <a:endParaRPr/>
          </a:p>
        </p:txBody>
      </p:sp>
      <p:pic>
        <p:nvPicPr>
          <p:cNvPr id="102" name="Google Shape;102;p13"/>
          <p:cNvPicPr preferRelativeResize="0"/>
          <p:nvPr/>
        </p:nvPicPr>
        <p:blipFill rotWithShape="1">
          <a:blip r:embed="rId8">
            <a:alphaModFix/>
          </a:blip>
          <a:srcRect b="0" l="0" r="0" t="0"/>
          <a:stretch/>
        </p:blipFill>
        <p:spPr>
          <a:xfrm>
            <a:off x="1863969" y="34570206"/>
            <a:ext cx="15495933" cy="1866671"/>
          </a:xfrm>
          <a:prstGeom prst="rect">
            <a:avLst/>
          </a:prstGeom>
          <a:noFill/>
          <a:ln>
            <a:noFill/>
          </a:ln>
        </p:spPr>
      </p:pic>
      <p:sp>
        <p:nvSpPr>
          <p:cNvPr id="103" name="Google Shape;103;p13"/>
          <p:cNvSpPr txBox="1"/>
          <p:nvPr/>
        </p:nvSpPr>
        <p:spPr>
          <a:xfrm>
            <a:off x="3433164" y="34417672"/>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References</a:t>
            </a:r>
            <a:endParaRPr sz="6500">
              <a:solidFill>
                <a:schemeClr val="dk1"/>
              </a:solidFill>
              <a:latin typeface="Raleway Medium"/>
              <a:ea typeface="Raleway Medium"/>
              <a:cs typeface="Raleway Medium"/>
              <a:sym typeface="Raleway Medium"/>
            </a:endParaRPr>
          </a:p>
        </p:txBody>
      </p:sp>
      <p:sp>
        <p:nvSpPr>
          <p:cNvPr id="104" name="Google Shape;104;p13"/>
          <p:cNvSpPr txBox="1"/>
          <p:nvPr/>
        </p:nvSpPr>
        <p:spPr>
          <a:xfrm>
            <a:off x="3187913" y="19172142"/>
            <a:ext cx="18503687" cy="4016484"/>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These maps show the change in the proportion of students in each school district that would be placed in remedial courses based on their Junior Year ACT Score from the graduating class of 2010 to 2015.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bill set the target that by 2014-15, </a:t>
            </a:r>
            <a:r>
              <a:rPr b="1" i="1" lang="en-US" sz="3000">
                <a:solidFill>
                  <a:schemeClr val="dk1"/>
                </a:solidFill>
                <a:latin typeface="Trebuchet MS"/>
                <a:ea typeface="Trebuchet MS"/>
                <a:cs typeface="Trebuchet MS"/>
                <a:sym typeface="Trebuchet MS"/>
              </a:rPr>
              <a:t>remedial course placement should be half </a:t>
            </a:r>
            <a:r>
              <a:rPr lang="en-US" sz="3000">
                <a:solidFill>
                  <a:schemeClr val="dk1"/>
                </a:solidFill>
                <a:latin typeface="Trebuchet MS"/>
                <a:ea typeface="Trebuchet MS"/>
                <a:cs typeface="Trebuchet MS"/>
                <a:sym typeface="Trebuchet MS"/>
              </a:rPr>
              <a:t>what</a:t>
            </a:r>
            <a:r>
              <a:rPr lang="en-US" sz="3000">
                <a:solidFill>
                  <a:srgbClr val="000000"/>
                </a:solidFill>
                <a:latin typeface="Trebuchet MS"/>
                <a:ea typeface="Trebuchet MS"/>
                <a:cs typeface="Trebuchet MS"/>
                <a:sym typeface="Trebuchet MS"/>
              </a:rPr>
              <a:t> it </a:t>
            </a:r>
            <a:r>
              <a:rPr lang="en-US" sz="3000">
                <a:solidFill>
                  <a:schemeClr val="dk1"/>
                </a:solidFill>
                <a:latin typeface="Trebuchet MS"/>
                <a:ea typeface="Trebuchet MS"/>
                <a:cs typeface="Trebuchet MS"/>
                <a:sym typeface="Trebuchet MS"/>
              </a:rPr>
              <a:t>was in 2009-10.</a:t>
            </a:r>
            <a:r>
              <a:rPr baseline="30000" lang="en-US" sz="3000">
                <a:solidFill>
                  <a:schemeClr val="dk1"/>
                </a:solidFill>
                <a:latin typeface="Trebuchet MS"/>
                <a:ea typeface="Trebuchet MS"/>
                <a:cs typeface="Trebuchet MS"/>
                <a:sym typeface="Trebuchet MS"/>
              </a:rPr>
              <a:t>[1]</a:t>
            </a:r>
            <a:r>
              <a:rPr lang="en-US" sz="3000">
                <a:solidFill>
                  <a:schemeClr val="dk1"/>
                </a:solidFill>
                <a:latin typeface="Trebuchet MS"/>
                <a:ea typeface="Trebuchet MS"/>
                <a:cs typeface="Trebuchet MS"/>
                <a:sym typeface="Trebuchet MS"/>
              </a:rPr>
              <a:t> </a:t>
            </a:r>
            <a:endParaRPr sz="3000">
              <a:solidFill>
                <a:schemeClr val="dk1"/>
              </a:solidFill>
              <a:latin typeface="Trebuchet MS"/>
              <a:ea typeface="Trebuchet MS"/>
              <a:cs typeface="Trebuchet MS"/>
              <a:sym typeface="Trebuchet MS"/>
            </a:endParaRPr>
          </a:p>
          <a:p>
            <a:pPr indent="-457200" lvl="0" marL="457200" marR="0" rtl="0" algn="just">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Remedial placement was cut in half in only 5 districts for Mathematics, 5 districts for English and 0 districts for Reading. However, </a:t>
            </a:r>
            <a:r>
              <a:rPr b="1" i="1" lang="en-US" sz="3000">
                <a:solidFill>
                  <a:schemeClr val="dk1"/>
                </a:solidFill>
                <a:latin typeface="Trebuchet MS"/>
                <a:ea typeface="Trebuchet MS"/>
                <a:cs typeface="Trebuchet MS"/>
                <a:sym typeface="Trebuchet MS"/>
              </a:rPr>
              <a:t>96% of the state did show some improvement in at least one area.</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Remedial course placement increased in 21 districts for Mathematics, 16 districts for English, and 17 districts for Reading.</a:t>
            </a:r>
            <a:endParaRPr sz="3000">
              <a:solidFill>
                <a:schemeClr val="dk1"/>
              </a:solidFill>
              <a:latin typeface="Trebuchet MS"/>
              <a:ea typeface="Trebuchet MS"/>
              <a:cs typeface="Trebuchet MS"/>
              <a:sym typeface="Trebuchet MS"/>
            </a:endParaRPr>
          </a:p>
        </p:txBody>
      </p:sp>
      <p:sp>
        <p:nvSpPr>
          <p:cNvPr id="105" name="Google Shape;105;p13"/>
          <p:cNvSpPr/>
          <p:nvPr/>
        </p:nvSpPr>
        <p:spPr>
          <a:xfrm>
            <a:off x="5140938" y="24483709"/>
            <a:ext cx="1017571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600">
                <a:solidFill>
                  <a:srgbClr val="881D3F"/>
                </a:solidFill>
                <a:latin typeface="Trebuchet MS"/>
                <a:ea typeface="Trebuchet MS"/>
                <a:cs typeface="Trebuchet MS"/>
                <a:sym typeface="Trebuchet MS"/>
              </a:rPr>
              <a:t>Differences in Remedial Placement by Race</a:t>
            </a:r>
            <a:endParaRPr b="1" sz="3600">
              <a:solidFill>
                <a:schemeClr val="dk1"/>
              </a:solidFill>
              <a:latin typeface="Trebuchet MS"/>
              <a:ea typeface="Trebuchet MS"/>
              <a:cs typeface="Trebuchet MS"/>
              <a:sym typeface="Trebuchet MS"/>
            </a:endParaRPr>
          </a:p>
        </p:txBody>
      </p:sp>
      <p:sp>
        <p:nvSpPr>
          <p:cNvPr id="106" name="Google Shape;106;p13"/>
          <p:cNvSpPr/>
          <p:nvPr/>
        </p:nvSpPr>
        <p:spPr>
          <a:xfrm>
            <a:off x="21199534" y="24485103"/>
            <a:ext cx="1302172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600">
                <a:solidFill>
                  <a:srgbClr val="881D3F"/>
                </a:solidFill>
                <a:latin typeface="Trebuchet MS"/>
                <a:ea typeface="Trebuchet MS"/>
                <a:cs typeface="Trebuchet MS"/>
                <a:sym typeface="Trebuchet MS"/>
              </a:rPr>
              <a:t>Differences in Remedial Placement by Career Readiness</a:t>
            </a:r>
            <a:endParaRPr b="1" sz="3600">
              <a:solidFill>
                <a:schemeClr val="dk1"/>
              </a:solidFill>
              <a:latin typeface="Trebuchet MS"/>
              <a:ea typeface="Trebuchet MS"/>
              <a:cs typeface="Trebuchet MS"/>
              <a:sym typeface="Trebuchet MS"/>
            </a:endParaRPr>
          </a:p>
        </p:txBody>
      </p:sp>
      <p:sp>
        <p:nvSpPr>
          <p:cNvPr id="107" name="Google Shape;107;p13"/>
          <p:cNvSpPr/>
          <p:nvPr/>
        </p:nvSpPr>
        <p:spPr>
          <a:xfrm>
            <a:off x="22508572" y="19263727"/>
            <a:ext cx="11474669" cy="3264266"/>
          </a:xfrm>
          <a:prstGeom prst="roundRect">
            <a:avLst>
              <a:gd fmla="val 16667" name="adj"/>
            </a:avLst>
          </a:prstGeom>
          <a:solidFill>
            <a:srgbClr val="881D3F"/>
          </a:solidFill>
          <a:ln cap="flat" cmpd="sng" w="12700">
            <a:solidFill>
              <a:srgbClr val="881D3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lt1"/>
              </a:solidFill>
              <a:latin typeface="Calibri"/>
              <a:ea typeface="Calibri"/>
              <a:cs typeface="Calibri"/>
              <a:sym typeface="Calibri"/>
            </a:endParaRPr>
          </a:p>
        </p:txBody>
      </p:sp>
      <p:graphicFrame>
        <p:nvGraphicFramePr>
          <p:cNvPr id="108" name="Google Shape;108;p13"/>
          <p:cNvGraphicFramePr/>
          <p:nvPr/>
        </p:nvGraphicFramePr>
        <p:xfrm>
          <a:off x="22508569" y="19262119"/>
          <a:ext cx="3000000" cy="3000000"/>
        </p:xfrm>
        <a:graphic>
          <a:graphicData uri="http://schemas.openxmlformats.org/drawingml/2006/table">
            <a:tbl>
              <a:tblPr bandRow="1" firstRow="1">
                <a:noFill/>
                <a:tableStyleId>{824DCEB4-8E9C-4FED-8000-373538B8CEA8}</a:tableStyleId>
              </a:tblPr>
              <a:tblGrid>
                <a:gridCol w="2868675"/>
                <a:gridCol w="2868675"/>
                <a:gridCol w="2868675"/>
                <a:gridCol w="2868675"/>
              </a:tblGrid>
              <a:tr h="652850">
                <a:tc gridSpan="4">
                  <a:txBody>
                    <a:bodyPr>
                      <a:noAutofit/>
                    </a:bodyPr>
                    <a:lstStyle/>
                    <a:p>
                      <a:pPr indent="0" lvl="0" marL="0" marR="0" rtl="0" algn="ctr">
                        <a:spcBef>
                          <a:spcPts val="0"/>
                        </a:spcBef>
                        <a:spcAft>
                          <a:spcPts val="0"/>
                        </a:spcAft>
                        <a:buNone/>
                      </a:pPr>
                      <a:r>
                        <a:rPr b="1" lang="en-US" sz="3000" u="none" cap="none" strike="noStrike">
                          <a:solidFill>
                            <a:schemeClr val="lt1"/>
                          </a:solidFill>
                          <a:latin typeface="Trebuchet MS"/>
                          <a:ea typeface="Trebuchet MS"/>
                          <a:cs typeface="Trebuchet MS"/>
                          <a:sym typeface="Trebuchet MS"/>
                        </a:rPr>
                        <a:t>Remedial Course Placement, All Districts Combined</a:t>
                      </a:r>
                      <a:endParaRPr b="1" sz="3000" u="none" cap="none" strike="noStrike">
                        <a:solidFill>
                          <a:schemeClr val="lt1"/>
                        </a:solidFill>
                        <a:latin typeface="Trebuchet MS"/>
                        <a:ea typeface="Trebuchet MS"/>
                        <a:cs typeface="Trebuchet MS"/>
                        <a:sym typeface="Trebuchet MS"/>
                      </a:endParaRPr>
                    </a:p>
                  </a:txBody>
                  <a:tcPr marT="45725" marB="45725" marR="91450" marL="91450" anchor="ctr">
                    <a:lnB cap="flat" cmpd="sng" w="28575">
                      <a:solidFill>
                        <a:schemeClr val="lt1"/>
                      </a:solidFill>
                      <a:prstDash val="solid"/>
                      <a:round/>
                      <a:headEnd len="sm" w="sm" type="none"/>
                      <a:tailEnd len="sm" w="sm" type="none"/>
                    </a:lnB>
                  </a:tcPr>
                </a:tc>
                <a:tc hMerge="1"/>
                <a:tc hMerge="1"/>
                <a:tc hMerge="1"/>
              </a:tr>
              <a:tr h="652850">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Year</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Math</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English</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Reading</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52850">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2010</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66%</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54%</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62%</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T cap="flat" cmpd="sng" w="28575">
                      <a:solidFill>
                        <a:schemeClr val="lt1"/>
                      </a:solidFill>
                      <a:prstDash val="solid"/>
                      <a:round/>
                      <a:headEnd len="sm" w="sm" type="none"/>
                      <a:tailEnd len="sm" w="sm" type="none"/>
                    </a:lnT>
                  </a:tcPr>
                </a:tc>
              </a:tr>
              <a:tr h="652850">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2015</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56%</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43%</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52%</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B cap="flat" cmpd="sng" w="28575">
                      <a:solidFill>
                        <a:schemeClr val="lt1"/>
                      </a:solidFill>
                      <a:prstDash val="solid"/>
                      <a:round/>
                      <a:headEnd len="sm" w="sm" type="none"/>
                      <a:tailEnd len="sm" w="sm" type="none"/>
                    </a:lnB>
                  </a:tcPr>
                </a:tc>
              </a:tr>
              <a:tr h="652850">
                <a:tc>
                  <a:txBody>
                    <a:bodyPr>
                      <a:noAutofit/>
                    </a:bodyPr>
                    <a:lstStyle/>
                    <a:p>
                      <a:pPr indent="0" lvl="0" marL="0" marR="0" rtl="0" algn="ctr">
                        <a:spcBef>
                          <a:spcPts val="0"/>
                        </a:spcBef>
                        <a:spcAft>
                          <a:spcPts val="0"/>
                        </a:spcAft>
                        <a:buNone/>
                      </a:pPr>
                      <a:r>
                        <a:rPr b="1" lang="en-US" sz="3000" u="none" cap="none" strike="noStrike">
                          <a:solidFill>
                            <a:schemeClr val="lt1"/>
                          </a:solidFill>
                          <a:latin typeface="Trebuchet MS"/>
                          <a:ea typeface="Trebuchet MS"/>
                          <a:cs typeface="Trebuchet MS"/>
                          <a:sym typeface="Trebuchet MS"/>
                        </a:rPr>
                        <a:t>Change</a:t>
                      </a:r>
                      <a:endParaRPr b="1"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lnSpc>
                          <a:spcPct val="100000"/>
                        </a:lnSpc>
                        <a:spcBef>
                          <a:spcPts val="0"/>
                        </a:spcBef>
                        <a:spcAft>
                          <a:spcPts val="0"/>
                        </a:spcAft>
                        <a:buClr>
                          <a:schemeClr val="lt1"/>
                        </a:buClr>
                        <a:buFont typeface="Trebuchet MS"/>
                        <a:buNone/>
                      </a:pPr>
                      <a:r>
                        <a:rPr b="1" lang="en-US" sz="3000" u="none" cap="none" strike="noStrike">
                          <a:solidFill>
                            <a:schemeClr val="lt1"/>
                          </a:solidFill>
                          <a:latin typeface="Trebuchet MS"/>
                          <a:ea typeface="Trebuchet MS"/>
                          <a:cs typeface="Trebuchet MS"/>
                          <a:sym typeface="Trebuchet MS"/>
                        </a:rPr>
                        <a:t>15% ↓   </a:t>
                      </a:r>
                      <a:endParaRPr b="1"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lnSpc>
                          <a:spcPct val="100000"/>
                        </a:lnSpc>
                        <a:spcBef>
                          <a:spcPts val="0"/>
                        </a:spcBef>
                        <a:spcAft>
                          <a:spcPts val="0"/>
                        </a:spcAft>
                        <a:buClr>
                          <a:schemeClr val="lt1"/>
                        </a:buClr>
                        <a:buFont typeface="Trebuchet MS"/>
                        <a:buNone/>
                      </a:pPr>
                      <a:r>
                        <a:rPr b="1" lang="en-US" sz="3000" u="none" cap="none" strike="noStrike">
                          <a:solidFill>
                            <a:schemeClr val="lt1"/>
                          </a:solidFill>
                          <a:latin typeface="Trebuchet MS"/>
                          <a:ea typeface="Trebuchet MS"/>
                          <a:cs typeface="Trebuchet MS"/>
                          <a:sym typeface="Trebuchet MS"/>
                        </a:rPr>
                        <a:t>20% ↓</a:t>
                      </a:r>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lnSpc>
                          <a:spcPct val="100000"/>
                        </a:lnSpc>
                        <a:spcBef>
                          <a:spcPts val="0"/>
                        </a:spcBef>
                        <a:spcAft>
                          <a:spcPts val="0"/>
                        </a:spcAft>
                        <a:buClr>
                          <a:schemeClr val="lt1"/>
                        </a:buClr>
                        <a:buFont typeface="Trebuchet MS"/>
                        <a:buNone/>
                      </a:pPr>
                      <a:r>
                        <a:rPr b="1" lang="en-US" sz="3000" u="none" cap="none" strike="noStrike">
                          <a:solidFill>
                            <a:schemeClr val="lt1"/>
                          </a:solidFill>
                          <a:latin typeface="Trebuchet MS"/>
                          <a:ea typeface="Trebuchet MS"/>
                          <a:cs typeface="Trebuchet MS"/>
                          <a:sym typeface="Trebuchet MS"/>
                        </a:rPr>
                        <a:t>16% ↓</a:t>
                      </a:r>
                      <a:endParaRPr/>
                    </a:p>
                  </a:txBody>
                  <a:tcPr marT="45725" marB="45725" marR="91450" marL="91450" anchor="ctr">
                    <a:lnL cap="flat" cmpd="sng" w="28575">
                      <a:solidFill>
                        <a:schemeClr val="lt1"/>
                      </a:solidFill>
                      <a:prstDash val="solid"/>
                      <a:round/>
                      <a:headEnd len="sm" w="sm" type="none"/>
                      <a:tailEnd len="sm" w="sm" type="none"/>
                    </a:lnL>
                    <a:lnT cap="flat" cmpd="sng" w="28575">
                      <a:solidFill>
                        <a:schemeClr val="lt1"/>
                      </a:solidFill>
                      <a:prstDash val="solid"/>
                      <a:round/>
                      <a:headEnd len="sm" w="sm" type="none"/>
                      <a:tailEnd len="sm" w="sm" type="none"/>
                    </a:lnT>
                  </a:tcPr>
                </a:tc>
              </a:tr>
            </a:tbl>
          </a:graphicData>
        </a:graphic>
      </p:graphicFrame>
      <p:pic>
        <p:nvPicPr>
          <p:cNvPr id="109" name="Google Shape;109;p13"/>
          <p:cNvPicPr preferRelativeResize="0"/>
          <p:nvPr/>
        </p:nvPicPr>
        <p:blipFill rotWithShape="1">
          <a:blip r:embed="rId9">
            <a:alphaModFix/>
          </a:blip>
          <a:srcRect b="0" l="0" r="0" t="15865"/>
          <a:stretch/>
        </p:blipFill>
        <p:spPr>
          <a:xfrm>
            <a:off x="3187913" y="15824281"/>
            <a:ext cx="28225539" cy="3468572"/>
          </a:xfrm>
          <a:prstGeom prst="rect">
            <a:avLst/>
          </a:prstGeom>
          <a:noFill/>
          <a:ln>
            <a:noFill/>
          </a:ln>
        </p:spPr>
      </p:pic>
      <p:pic>
        <p:nvPicPr>
          <p:cNvPr id="110" name="Google Shape;110;p13"/>
          <p:cNvPicPr preferRelativeResize="0"/>
          <p:nvPr/>
        </p:nvPicPr>
        <p:blipFill rotWithShape="1">
          <a:blip r:embed="rId10">
            <a:alphaModFix/>
          </a:blip>
          <a:srcRect b="21218" l="75380" r="19302" t="25716"/>
          <a:stretch/>
        </p:blipFill>
        <p:spPr>
          <a:xfrm>
            <a:off x="31312831" y="15602442"/>
            <a:ext cx="818759" cy="3499473"/>
          </a:xfrm>
          <a:prstGeom prst="rect">
            <a:avLst/>
          </a:prstGeom>
          <a:noFill/>
          <a:ln>
            <a:noFill/>
          </a:ln>
        </p:spPr>
      </p:pic>
      <p:sp>
        <p:nvSpPr>
          <p:cNvPr id="111" name="Google Shape;111;p13"/>
          <p:cNvSpPr txBox="1"/>
          <p:nvPr/>
        </p:nvSpPr>
        <p:spPr>
          <a:xfrm>
            <a:off x="3645815" y="16094770"/>
            <a:ext cx="259398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Mathematics</a:t>
            </a:r>
            <a:endParaRPr b="1" sz="3200">
              <a:solidFill>
                <a:schemeClr val="dk1"/>
              </a:solidFill>
              <a:latin typeface="Trebuchet MS"/>
              <a:ea typeface="Trebuchet MS"/>
              <a:cs typeface="Trebuchet MS"/>
              <a:sym typeface="Trebuchet MS"/>
            </a:endParaRPr>
          </a:p>
        </p:txBody>
      </p:sp>
      <p:sp>
        <p:nvSpPr>
          <p:cNvPr id="112" name="Google Shape;112;p13"/>
          <p:cNvSpPr txBox="1"/>
          <p:nvPr/>
        </p:nvSpPr>
        <p:spPr>
          <a:xfrm>
            <a:off x="13292253" y="16094770"/>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13" name="Google Shape;113;p13"/>
          <p:cNvSpPr txBox="1"/>
          <p:nvPr/>
        </p:nvSpPr>
        <p:spPr>
          <a:xfrm>
            <a:off x="22972841" y="16094770"/>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sp>
        <p:nvSpPr>
          <p:cNvPr id="114" name="Google Shape;114;p13"/>
          <p:cNvSpPr txBox="1"/>
          <p:nvPr/>
        </p:nvSpPr>
        <p:spPr>
          <a:xfrm>
            <a:off x="8937715" y="15119222"/>
            <a:ext cx="1870056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600">
                <a:solidFill>
                  <a:srgbClr val="881D3F"/>
                </a:solidFill>
                <a:latin typeface="Trebuchet MS"/>
                <a:ea typeface="Trebuchet MS"/>
                <a:cs typeface="Trebuchet MS"/>
                <a:sym typeface="Trebuchet MS"/>
              </a:rPr>
              <a:t>Percent Change in Remedial Placement from 2009 to 2014 by School District, </a:t>
            </a:r>
            <a:r>
              <a:rPr b="1" i="1" lang="en-US" sz="3600">
                <a:solidFill>
                  <a:srgbClr val="881D3F"/>
                </a:solidFill>
                <a:latin typeface="Trebuchet MS"/>
                <a:ea typeface="Trebuchet MS"/>
                <a:cs typeface="Trebuchet MS"/>
                <a:sym typeface="Trebuchet MS"/>
              </a:rPr>
              <a:t>n = 169</a:t>
            </a:r>
            <a:endParaRPr b="1" sz="3600">
              <a:solidFill>
                <a:srgbClr val="881D3F"/>
              </a:solidFill>
              <a:latin typeface="Trebuchet MS"/>
              <a:ea typeface="Trebuchet MS"/>
              <a:cs typeface="Trebuchet MS"/>
              <a:sym typeface="Trebuchet MS"/>
            </a:endParaRPr>
          </a:p>
        </p:txBody>
      </p:sp>
      <p:sp>
        <p:nvSpPr>
          <p:cNvPr id="115" name="Google Shape;115;p13"/>
          <p:cNvSpPr txBox="1"/>
          <p:nvPr/>
        </p:nvSpPr>
        <p:spPr>
          <a:xfrm>
            <a:off x="32092641" y="15650402"/>
            <a:ext cx="2369559"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50% Increase</a:t>
            </a:r>
            <a:endParaRPr sz="3000">
              <a:solidFill>
                <a:schemeClr val="dk1"/>
              </a:solidFill>
              <a:latin typeface="Trebuchet MS"/>
              <a:ea typeface="Trebuchet MS"/>
              <a:cs typeface="Trebuchet MS"/>
              <a:sym typeface="Trebuchet MS"/>
            </a:endParaRPr>
          </a:p>
        </p:txBody>
      </p:sp>
      <p:sp>
        <p:nvSpPr>
          <p:cNvPr id="116" name="Google Shape;116;p13"/>
          <p:cNvSpPr txBox="1"/>
          <p:nvPr/>
        </p:nvSpPr>
        <p:spPr>
          <a:xfrm>
            <a:off x="32092638" y="18506184"/>
            <a:ext cx="2497800"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50% Decrease</a:t>
            </a:r>
            <a:endParaRPr sz="3000">
              <a:solidFill>
                <a:schemeClr val="dk1"/>
              </a:solidFill>
              <a:latin typeface="Trebuchet MS"/>
              <a:ea typeface="Trebuchet MS"/>
              <a:cs typeface="Trebuchet MS"/>
              <a:sym typeface="Trebuchet MS"/>
            </a:endParaRPr>
          </a:p>
        </p:txBody>
      </p:sp>
      <p:sp>
        <p:nvSpPr>
          <p:cNvPr id="117" name="Google Shape;117;p13"/>
          <p:cNvSpPr txBox="1"/>
          <p:nvPr/>
        </p:nvSpPr>
        <p:spPr>
          <a:xfrm>
            <a:off x="32092638" y="17078292"/>
            <a:ext cx="2007281"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No Change</a:t>
            </a:r>
            <a:endParaRPr sz="3000">
              <a:solidFill>
                <a:schemeClr val="dk1"/>
              </a:solidFill>
              <a:latin typeface="Trebuchet MS"/>
              <a:ea typeface="Trebuchet MS"/>
              <a:cs typeface="Trebuchet MS"/>
              <a:sym typeface="Trebuchet MS"/>
            </a:endParaRPr>
          </a:p>
        </p:txBody>
      </p:sp>
      <p:sp>
        <p:nvSpPr>
          <p:cNvPr id="118" name="Google Shape;118;p13"/>
          <p:cNvSpPr txBox="1"/>
          <p:nvPr/>
        </p:nvSpPr>
        <p:spPr>
          <a:xfrm>
            <a:off x="3934310" y="28122116"/>
            <a:ext cx="158094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a:t>
            </a:r>
            <a:endParaRPr b="1" sz="3200">
              <a:solidFill>
                <a:schemeClr val="dk1"/>
              </a:solidFill>
              <a:latin typeface="Trebuchet MS"/>
              <a:ea typeface="Trebuchet MS"/>
              <a:cs typeface="Trebuchet MS"/>
              <a:sym typeface="Trebuchet MS"/>
            </a:endParaRPr>
          </a:p>
        </p:txBody>
      </p:sp>
      <p:sp>
        <p:nvSpPr>
          <p:cNvPr id="119" name="Google Shape;119;p13"/>
          <p:cNvSpPr txBox="1"/>
          <p:nvPr/>
        </p:nvSpPr>
        <p:spPr>
          <a:xfrm>
            <a:off x="8146445" y="28076606"/>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20" name="Google Shape;120;p13"/>
          <p:cNvSpPr txBox="1"/>
          <p:nvPr/>
        </p:nvSpPr>
        <p:spPr>
          <a:xfrm>
            <a:off x="12358839" y="28076606"/>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grpSp>
        <p:nvGrpSpPr>
          <p:cNvPr id="121" name="Google Shape;121;p13"/>
          <p:cNvGrpSpPr/>
          <p:nvPr/>
        </p:nvGrpSpPr>
        <p:grpSpPr>
          <a:xfrm>
            <a:off x="7688718" y="30509605"/>
            <a:ext cx="5080157" cy="553998"/>
            <a:chOff x="7620410" y="30552072"/>
            <a:chExt cx="5080157" cy="553998"/>
          </a:xfrm>
        </p:grpSpPr>
        <p:sp>
          <p:nvSpPr>
            <p:cNvPr id="122" name="Google Shape;122;p13"/>
            <p:cNvSpPr/>
            <p:nvPr/>
          </p:nvSpPr>
          <p:spPr>
            <a:xfrm>
              <a:off x="7620410" y="30552072"/>
              <a:ext cx="457200" cy="457200"/>
            </a:xfrm>
            <a:prstGeom prst="ellipse">
              <a:avLst/>
            </a:prstGeom>
            <a:solidFill>
              <a:srgbClr val="620700"/>
            </a:solidFill>
            <a:ln cap="flat" cmpd="sng" w="12700">
              <a:solidFill>
                <a:srgbClr val="6207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23" name="Google Shape;123;p13"/>
            <p:cNvSpPr/>
            <p:nvPr/>
          </p:nvSpPr>
          <p:spPr>
            <a:xfrm>
              <a:off x="8143733" y="30552072"/>
              <a:ext cx="1192955"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White</a:t>
              </a:r>
              <a:endParaRPr sz="3000">
                <a:solidFill>
                  <a:schemeClr val="dk1"/>
                </a:solidFill>
                <a:latin typeface="Calibri"/>
                <a:ea typeface="Calibri"/>
                <a:cs typeface="Calibri"/>
                <a:sym typeface="Calibri"/>
              </a:endParaRPr>
            </a:p>
          </p:txBody>
        </p:sp>
        <p:sp>
          <p:nvSpPr>
            <p:cNvPr id="124" name="Google Shape;124;p13"/>
            <p:cNvSpPr/>
            <p:nvPr/>
          </p:nvSpPr>
          <p:spPr>
            <a:xfrm>
              <a:off x="10181994" y="30552072"/>
              <a:ext cx="457200" cy="457200"/>
            </a:xfrm>
            <a:prstGeom prst="ellipse">
              <a:avLst/>
            </a:prstGeom>
            <a:solidFill>
              <a:srgbClr val="043268"/>
            </a:solidFill>
            <a:ln cap="flat" cmpd="sng" w="12700">
              <a:solidFill>
                <a:srgbClr val="04326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25" name="Google Shape;125;p13"/>
            <p:cNvSpPr/>
            <p:nvPr/>
          </p:nvSpPr>
          <p:spPr>
            <a:xfrm>
              <a:off x="10704508" y="30552072"/>
              <a:ext cx="1996059"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Non-White</a:t>
              </a:r>
              <a:endParaRPr sz="3000">
                <a:solidFill>
                  <a:schemeClr val="dk1"/>
                </a:solidFill>
                <a:latin typeface="Calibri"/>
                <a:ea typeface="Calibri"/>
                <a:cs typeface="Calibri"/>
                <a:sym typeface="Calibri"/>
              </a:endParaRPr>
            </a:p>
          </p:txBody>
        </p:sp>
      </p:grpSp>
      <p:pic>
        <p:nvPicPr>
          <p:cNvPr id="126" name="Google Shape;126;p13"/>
          <p:cNvPicPr preferRelativeResize="0"/>
          <p:nvPr/>
        </p:nvPicPr>
        <p:blipFill rotWithShape="1">
          <a:blip r:embed="rId11">
            <a:alphaModFix/>
          </a:blip>
          <a:srcRect b="0" l="0" r="0" t="3455"/>
          <a:stretch/>
        </p:blipFill>
        <p:spPr>
          <a:xfrm>
            <a:off x="3000466" y="25177031"/>
            <a:ext cx="14456665" cy="5129784"/>
          </a:xfrm>
          <a:prstGeom prst="rect">
            <a:avLst/>
          </a:prstGeom>
          <a:noFill/>
          <a:ln>
            <a:noFill/>
          </a:ln>
        </p:spPr>
      </p:pic>
      <p:grpSp>
        <p:nvGrpSpPr>
          <p:cNvPr id="127" name="Google Shape;127;p13"/>
          <p:cNvGrpSpPr/>
          <p:nvPr/>
        </p:nvGrpSpPr>
        <p:grpSpPr>
          <a:xfrm>
            <a:off x="23993851" y="30509607"/>
            <a:ext cx="7120479" cy="553998"/>
            <a:chOff x="24255109" y="30988581"/>
            <a:chExt cx="7120479" cy="553998"/>
          </a:xfrm>
        </p:grpSpPr>
        <p:sp>
          <p:nvSpPr>
            <p:cNvPr id="128" name="Google Shape;128;p13"/>
            <p:cNvSpPr/>
            <p:nvPr/>
          </p:nvSpPr>
          <p:spPr>
            <a:xfrm>
              <a:off x="24255109" y="30988581"/>
              <a:ext cx="457200" cy="457200"/>
            </a:xfrm>
            <a:prstGeom prst="ellipse">
              <a:avLst/>
            </a:prstGeom>
            <a:solidFill>
              <a:srgbClr val="F98D62"/>
            </a:solidFill>
            <a:ln cap="flat" cmpd="sng" w="12700">
              <a:solidFill>
                <a:srgbClr val="F98D6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29" name="Google Shape;129;p13"/>
            <p:cNvSpPr/>
            <p:nvPr/>
          </p:nvSpPr>
          <p:spPr>
            <a:xfrm>
              <a:off x="24777623" y="30988581"/>
              <a:ext cx="873957"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Low</a:t>
              </a:r>
              <a:endParaRPr sz="3000">
                <a:solidFill>
                  <a:schemeClr val="dk1"/>
                </a:solidFill>
                <a:latin typeface="Calibri"/>
                <a:ea typeface="Calibri"/>
                <a:cs typeface="Calibri"/>
                <a:sym typeface="Calibri"/>
              </a:endParaRPr>
            </a:p>
          </p:txBody>
        </p:sp>
        <p:sp>
          <p:nvSpPr>
            <p:cNvPr id="130" name="Google Shape;130;p13"/>
            <p:cNvSpPr/>
            <p:nvPr/>
          </p:nvSpPr>
          <p:spPr>
            <a:xfrm>
              <a:off x="27079797" y="30988581"/>
              <a:ext cx="457200" cy="457200"/>
            </a:xfrm>
            <a:prstGeom prst="ellipse">
              <a:avLst/>
            </a:prstGeom>
            <a:solidFill>
              <a:srgbClr val="8DA0CC"/>
            </a:solidFill>
            <a:ln cap="flat" cmpd="sng" w="12700">
              <a:solidFill>
                <a:srgbClr val="8DA0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1" name="Google Shape;131;p13"/>
            <p:cNvSpPr/>
            <p:nvPr/>
          </p:nvSpPr>
          <p:spPr>
            <a:xfrm>
              <a:off x="27602313" y="30988581"/>
              <a:ext cx="1519968"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Medium</a:t>
              </a:r>
              <a:endParaRPr sz="3000">
                <a:solidFill>
                  <a:schemeClr val="dk1"/>
                </a:solidFill>
                <a:latin typeface="Calibri"/>
                <a:ea typeface="Calibri"/>
                <a:cs typeface="Calibri"/>
                <a:sym typeface="Calibri"/>
              </a:endParaRPr>
            </a:p>
          </p:txBody>
        </p:sp>
        <p:sp>
          <p:nvSpPr>
            <p:cNvPr id="132" name="Google Shape;132;p13"/>
            <p:cNvSpPr/>
            <p:nvPr/>
          </p:nvSpPr>
          <p:spPr>
            <a:xfrm>
              <a:off x="29904572" y="30989034"/>
              <a:ext cx="457200" cy="457200"/>
            </a:xfrm>
            <a:prstGeom prst="ellipse">
              <a:avLst/>
            </a:prstGeom>
            <a:solidFill>
              <a:srgbClr val="64C0A2"/>
            </a:solidFill>
            <a:ln cap="flat" cmpd="sng" w="12700">
              <a:solidFill>
                <a:srgbClr val="64C0A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3" name="Google Shape;133;p13"/>
            <p:cNvSpPr/>
            <p:nvPr/>
          </p:nvSpPr>
          <p:spPr>
            <a:xfrm>
              <a:off x="30427894" y="30988581"/>
              <a:ext cx="947695"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High</a:t>
              </a:r>
              <a:endParaRPr sz="3000">
                <a:solidFill>
                  <a:schemeClr val="dk1"/>
                </a:solidFill>
                <a:latin typeface="Calibri"/>
                <a:ea typeface="Calibri"/>
                <a:cs typeface="Calibri"/>
                <a:sym typeface="Calibri"/>
              </a:endParaRPr>
            </a:p>
          </p:txBody>
        </p:sp>
      </p:grpSp>
      <p:pic>
        <p:nvPicPr>
          <p:cNvPr id="134" name="Google Shape;134;p13"/>
          <p:cNvPicPr preferRelativeResize="0"/>
          <p:nvPr/>
        </p:nvPicPr>
        <p:blipFill rotWithShape="1">
          <a:blip r:embed="rId12">
            <a:alphaModFix/>
          </a:blip>
          <a:srcRect b="0" l="0" r="0" t="3192"/>
          <a:stretch/>
        </p:blipFill>
        <p:spPr>
          <a:xfrm>
            <a:off x="3021970" y="25144834"/>
            <a:ext cx="14456665" cy="5129784"/>
          </a:xfrm>
          <a:prstGeom prst="rect">
            <a:avLst/>
          </a:prstGeom>
          <a:noFill/>
          <a:ln>
            <a:noFill/>
          </a:ln>
        </p:spPr>
      </p:pic>
      <p:pic>
        <p:nvPicPr>
          <p:cNvPr id="135" name="Google Shape;135;p13"/>
          <p:cNvPicPr preferRelativeResize="0"/>
          <p:nvPr/>
        </p:nvPicPr>
        <p:blipFill rotWithShape="1">
          <a:blip r:embed="rId13">
            <a:alphaModFix/>
          </a:blip>
          <a:srcRect b="0" l="0" r="0" t="3921"/>
          <a:stretch/>
        </p:blipFill>
        <p:spPr>
          <a:xfrm>
            <a:off x="20243834" y="25149459"/>
            <a:ext cx="14456665" cy="5129784"/>
          </a:xfrm>
          <a:prstGeom prst="rect">
            <a:avLst/>
          </a:prstGeom>
          <a:noFill/>
          <a:ln>
            <a:noFill/>
          </a:ln>
        </p:spPr>
      </p:pic>
      <p:pic>
        <p:nvPicPr>
          <p:cNvPr id="136" name="Google Shape;136;p13"/>
          <p:cNvPicPr preferRelativeResize="0"/>
          <p:nvPr/>
        </p:nvPicPr>
        <p:blipFill rotWithShape="1">
          <a:blip r:embed="rId14">
            <a:alphaModFix/>
          </a:blip>
          <a:srcRect b="0" l="0" r="0" t="3557"/>
          <a:stretch/>
        </p:blipFill>
        <p:spPr>
          <a:xfrm>
            <a:off x="2972227" y="25147391"/>
            <a:ext cx="14456665" cy="5129784"/>
          </a:xfrm>
          <a:prstGeom prst="rect">
            <a:avLst/>
          </a:prstGeom>
          <a:noFill/>
          <a:ln>
            <a:noFill/>
          </a:ln>
        </p:spPr>
      </p:pic>
      <p:pic>
        <p:nvPicPr>
          <p:cNvPr id="137" name="Google Shape;137;p13"/>
          <p:cNvPicPr preferRelativeResize="0"/>
          <p:nvPr/>
        </p:nvPicPr>
        <p:blipFill rotWithShape="1">
          <a:blip r:embed="rId15">
            <a:alphaModFix/>
          </a:blip>
          <a:srcRect b="0" l="0" r="0" t="0"/>
          <a:stretch/>
        </p:blipFill>
        <p:spPr>
          <a:xfrm>
            <a:off x="20265338" y="25154741"/>
            <a:ext cx="14456665" cy="5129784"/>
          </a:xfrm>
          <a:prstGeom prst="rect">
            <a:avLst/>
          </a:prstGeom>
          <a:noFill/>
          <a:ln>
            <a:noFill/>
          </a:ln>
        </p:spPr>
      </p:pic>
      <p:pic>
        <p:nvPicPr>
          <p:cNvPr id="138" name="Google Shape;138;p13"/>
          <p:cNvPicPr preferRelativeResize="0"/>
          <p:nvPr/>
        </p:nvPicPr>
        <p:blipFill rotWithShape="1">
          <a:blip r:embed="rId16">
            <a:alphaModFix/>
          </a:blip>
          <a:srcRect b="0" l="0" r="0" t="0"/>
          <a:stretch/>
        </p:blipFill>
        <p:spPr>
          <a:xfrm>
            <a:off x="2943988" y="25151222"/>
            <a:ext cx="14456665" cy="5129784"/>
          </a:xfrm>
          <a:prstGeom prst="rect">
            <a:avLst/>
          </a:prstGeom>
          <a:noFill/>
          <a:ln>
            <a:noFill/>
          </a:ln>
        </p:spPr>
      </p:pic>
      <p:sp>
        <p:nvSpPr>
          <p:cNvPr id="139" name="Google Shape;139;p13"/>
          <p:cNvSpPr txBox="1"/>
          <p:nvPr/>
        </p:nvSpPr>
        <p:spPr>
          <a:xfrm>
            <a:off x="3716572" y="29026722"/>
            <a:ext cx="259398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Mathematics</a:t>
            </a:r>
            <a:endParaRPr b="1" sz="3200">
              <a:solidFill>
                <a:schemeClr val="dk1"/>
              </a:solidFill>
              <a:latin typeface="Trebuchet MS"/>
              <a:ea typeface="Trebuchet MS"/>
              <a:cs typeface="Trebuchet MS"/>
              <a:sym typeface="Trebuchet MS"/>
            </a:endParaRPr>
          </a:p>
        </p:txBody>
      </p:sp>
      <p:sp>
        <p:nvSpPr>
          <p:cNvPr id="140" name="Google Shape;140;p13"/>
          <p:cNvSpPr txBox="1"/>
          <p:nvPr/>
        </p:nvSpPr>
        <p:spPr>
          <a:xfrm>
            <a:off x="8545424" y="29028163"/>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41" name="Google Shape;141;p13"/>
          <p:cNvSpPr txBox="1"/>
          <p:nvPr/>
        </p:nvSpPr>
        <p:spPr>
          <a:xfrm>
            <a:off x="13349675" y="28998544"/>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sp>
        <p:nvSpPr>
          <p:cNvPr id="142" name="Google Shape;142;p13"/>
          <p:cNvSpPr txBox="1"/>
          <p:nvPr/>
        </p:nvSpPr>
        <p:spPr>
          <a:xfrm rot="-5400000">
            <a:off x="825313" y="27172046"/>
            <a:ext cx="4272323"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chemeClr val="dk1"/>
                </a:solidFill>
                <a:latin typeface="Trebuchet MS"/>
                <a:ea typeface="Trebuchet MS"/>
                <a:cs typeface="Trebuchet MS"/>
                <a:sym typeface="Trebuchet MS"/>
              </a:rPr>
              <a:t>Proportion of Students</a:t>
            </a:r>
            <a:endParaRPr b="1" sz="3000">
              <a:solidFill>
                <a:schemeClr val="dk1"/>
              </a:solidFill>
              <a:latin typeface="Trebuchet MS"/>
              <a:ea typeface="Trebuchet MS"/>
              <a:cs typeface="Trebuchet MS"/>
              <a:sym typeface="Trebuchet MS"/>
            </a:endParaRPr>
          </a:p>
        </p:txBody>
      </p:sp>
      <p:pic>
        <p:nvPicPr>
          <p:cNvPr id="143" name="Google Shape;143;p13"/>
          <p:cNvPicPr preferRelativeResize="0"/>
          <p:nvPr/>
        </p:nvPicPr>
        <p:blipFill rotWithShape="1">
          <a:blip r:embed="rId8">
            <a:alphaModFix/>
          </a:blip>
          <a:srcRect b="0" l="0" r="0" t="0"/>
          <a:stretch/>
        </p:blipFill>
        <p:spPr>
          <a:xfrm>
            <a:off x="1865931" y="23486880"/>
            <a:ext cx="15495933" cy="1866671"/>
          </a:xfrm>
          <a:prstGeom prst="rect">
            <a:avLst/>
          </a:prstGeom>
          <a:noFill/>
          <a:ln>
            <a:noFill/>
          </a:ln>
        </p:spPr>
      </p:pic>
      <p:sp>
        <p:nvSpPr>
          <p:cNvPr id="144" name="Google Shape;144;p13"/>
          <p:cNvSpPr txBox="1"/>
          <p:nvPr/>
        </p:nvSpPr>
        <p:spPr>
          <a:xfrm>
            <a:off x="3435126" y="23295427"/>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Differences by Race</a:t>
            </a:r>
            <a:endParaRPr sz="6500">
              <a:solidFill>
                <a:schemeClr val="dk1"/>
              </a:solidFill>
              <a:latin typeface="Raleway Medium"/>
              <a:ea typeface="Raleway Medium"/>
              <a:cs typeface="Raleway Medium"/>
              <a:sym typeface="Raleway Medium"/>
            </a:endParaRPr>
          </a:p>
        </p:txBody>
      </p:sp>
      <p:pic>
        <p:nvPicPr>
          <p:cNvPr id="145" name="Google Shape;145;p13"/>
          <p:cNvPicPr preferRelativeResize="0"/>
          <p:nvPr/>
        </p:nvPicPr>
        <p:blipFill rotWithShape="1">
          <a:blip r:embed="rId8">
            <a:alphaModFix/>
          </a:blip>
          <a:srcRect b="0" l="0" r="0" t="0"/>
          <a:stretch/>
        </p:blipFill>
        <p:spPr>
          <a:xfrm>
            <a:off x="19134209" y="23486880"/>
            <a:ext cx="15495933" cy="1866671"/>
          </a:xfrm>
          <a:prstGeom prst="rect">
            <a:avLst/>
          </a:prstGeom>
          <a:noFill/>
          <a:ln>
            <a:noFill/>
          </a:ln>
        </p:spPr>
      </p:pic>
      <p:sp>
        <p:nvSpPr>
          <p:cNvPr id="146" name="Google Shape;146;p13"/>
          <p:cNvSpPr txBox="1"/>
          <p:nvPr/>
        </p:nvSpPr>
        <p:spPr>
          <a:xfrm>
            <a:off x="20703405" y="23291959"/>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Differences by Career Readiness</a:t>
            </a:r>
            <a:endParaRPr sz="6500">
              <a:solidFill>
                <a:schemeClr val="dk1"/>
              </a:solidFill>
              <a:latin typeface="Raleway Medium"/>
              <a:ea typeface="Raleway Medium"/>
              <a:cs typeface="Raleway Medium"/>
              <a:sym typeface="Raleway Medium"/>
            </a:endParaRPr>
          </a:p>
        </p:txBody>
      </p:sp>
      <p:sp>
        <p:nvSpPr>
          <p:cNvPr id="147" name="Google Shape;147;p13"/>
          <p:cNvSpPr txBox="1"/>
          <p:nvPr/>
        </p:nvSpPr>
        <p:spPr>
          <a:xfrm>
            <a:off x="3362144" y="31038394"/>
            <a:ext cx="31338355" cy="44599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81D3F"/>
                </a:solidFill>
                <a:latin typeface="Trebuchet MS"/>
                <a:ea typeface="Trebuchet MS"/>
                <a:cs typeface="Trebuchet MS"/>
                <a:sym typeface="Trebuchet MS"/>
              </a:rPr>
              <a:t>Race</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There was a general decline in remedial course placement across 2009-2014, however white students consistently performed better than non-white students.</a:t>
            </a:r>
            <a:endParaRPr/>
          </a:p>
          <a:p>
            <a:pPr indent="0" lvl="0" marL="0" marR="0" rtl="0" algn="l">
              <a:spcBef>
                <a:spcPts val="600"/>
              </a:spcBef>
              <a:spcAft>
                <a:spcPts val="0"/>
              </a:spcAft>
              <a:buNone/>
            </a:pPr>
            <a:r>
              <a:rPr b="1" lang="en-US" sz="3000">
                <a:solidFill>
                  <a:srgbClr val="881D3F"/>
                </a:solidFill>
                <a:latin typeface="Trebuchet MS"/>
                <a:ea typeface="Trebuchet MS"/>
                <a:cs typeface="Trebuchet MS"/>
                <a:sym typeface="Trebuchet MS"/>
              </a:rPr>
              <a:t>Career Readiness: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Due to the unique requirements and goals involved with the career readiness indicators, we explo</a:t>
            </a:r>
            <a:r>
              <a:rPr lang="en-US" sz="3000">
                <a:solidFill>
                  <a:srgbClr val="000000"/>
                </a:solidFill>
                <a:latin typeface="Trebuchet MS"/>
                <a:ea typeface="Trebuchet MS"/>
                <a:cs typeface="Trebuchet MS"/>
                <a:sym typeface="Trebuchet MS"/>
              </a:rPr>
              <a:t>red</a:t>
            </a:r>
            <a:r>
              <a:rPr lang="en-US" sz="3000">
                <a:solidFill>
                  <a:schemeClr val="dk1"/>
                </a:solidFill>
                <a:latin typeface="Trebuchet MS"/>
                <a:ea typeface="Trebuchet MS"/>
                <a:cs typeface="Trebuchet MS"/>
                <a:sym typeface="Trebuchet MS"/>
              </a:rPr>
              <a:t> how career readiness may impact remedial course placement.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We found that districts with a </a:t>
            </a:r>
            <a:r>
              <a:rPr b="1" i="1" lang="en-US" sz="3000">
                <a:solidFill>
                  <a:schemeClr val="dk1"/>
                </a:solidFill>
                <a:latin typeface="Trebuchet MS"/>
                <a:ea typeface="Trebuchet MS"/>
                <a:cs typeface="Trebuchet MS"/>
                <a:sym typeface="Trebuchet MS"/>
              </a:rPr>
              <a:t>higher proportion of Career Ready</a:t>
            </a:r>
            <a:r>
              <a:rPr lang="en-US" sz="3000">
                <a:solidFill>
                  <a:schemeClr val="dk1"/>
                </a:solidFill>
                <a:latin typeface="Trebuchet MS"/>
                <a:ea typeface="Trebuchet MS"/>
                <a:cs typeface="Trebuchet MS"/>
                <a:sym typeface="Trebuchet MS"/>
              </a:rPr>
              <a:t> Students have a </a:t>
            </a:r>
            <a:r>
              <a:rPr b="1" i="1" lang="en-US" sz="3000">
                <a:solidFill>
                  <a:schemeClr val="dk1"/>
                </a:solidFill>
                <a:latin typeface="Trebuchet MS"/>
                <a:ea typeface="Trebuchet MS"/>
                <a:cs typeface="Trebuchet MS"/>
                <a:sym typeface="Trebuchet MS"/>
              </a:rPr>
              <a:t>higher proportion of remedial course </a:t>
            </a:r>
            <a:r>
              <a:rPr b="1" i="1" lang="en-US" sz="3000">
                <a:solidFill>
                  <a:srgbClr val="000000"/>
                </a:solidFill>
                <a:latin typeface="Trebuchet MS"/>
                <a:ea typeface="Trebuchet MS"/>
                <a:cs typeface="Trebuchet MS"/>
                <a:sym typeface="Trebuchet MS"/>
              </a:rPr>
              <a:t>placement</a:t>
            </a:r>
            <a:r>
              <a:rPr lang="en-US" sz="3000">
                <a:solidFill>
                  <a:srgbClr val="000000"/>
                </a:solidFill>
                <a:latin typeface="Trebuchet MS"/>
                <a:ea typeface="Trebuchet MS"/>
                <a:cs typeface="Trebuchet MS"/>
                <a:sym typeface="Trebuchet MS"/>
              </a:rPr>
              <a:t>.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We do not see much difference between High and Medium Career Ready Districts.</a:t>
            </a:r>
            <a:endParaRPr sz="3000">
              <a:solidFill>
                <a:schemeClr val="dk1"/>
              </a:solidFill>
              <a:latin typeface="Trebuchet MS"/>
              <a:ea typeface="Trebuchet MS"/>
              <a:cs typeface="Trebuchet MS"/>
              <a:sym typeface="Trebuchet MS"/>
            </a:endParaRPr>
          </a:p>
          <a:p>
            <a:pPr indent="0" lvl="0" marL="0" marR="0" rtl="0" algn="l">
              <a:spcBef>
                <a:spcPts val="600"/>
              </a:spcBef>
              <a:spcAft>
                <a:spcPts val="0"/>
              </a:spcAft>
              <a:buNone/>
            </a:pPr>
            <a:r>
              <a:t/>
            </a:r>
            <a:endParaRPr sz="7382">
              <a:solidFill>
                <a:schemeClr val="dk1"/>
              </a:solidFill>
              <a:latin typeface="Calibri"/>
              <a:ea typeface="Calibri"/>
              <a:cs typeface="Calibri"/>
              <a:sym typeface="Calibri"/>
            </a:endParaRPr>
          </a:p>
        </p:txBody>
      </p:sp>
      <p:sp>
        <p:nvSpPr>
          <p:cNvPr id="148" name="Google Shape;148;p13"/>
          <p:cNvSpPr txBox="1"/>
          <p:nvPr/>
        </p:nvSpPr>
        <p:spPr>
          <a:xfrm>
            <a:off x="3429607" y="35684894"/>
            <a:ext cx="31032592" cy="273151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[1]</a:t>
            </a:r>
            <a:r>
              <a:rPr b="1" lang="en-US" sz="2450">
                <a:solidFill>
                  <a:schemeClr val="dk1"/>
                </a:solidFill>
                <a:latin typeface="Calibri"/>
                <a:ea typeface="Calibri"/>
                <a:cs typeface="Calibri"/>
                <a:sym typeface="Calibri"/>
              </a:rPr>
              <a:t> </a:t>
            </a:r>
            <a:r>
              <a:rPr lang="en-US" sz="2450">
                <a:solidFill>
                  <a:schemeClr val="dk1"/>
                </a:solidFill>
                <a:latin typeface="Trebuchet MS"/>
                <a:ea typeface="Trebuchet MS"/>
                <a:cs typeface="Trebuchet MS"/>
                <a:sym typeface="Trebuchet MS"/>
              </a:rPr>
              <a:t>Kentucky Department of Education and Kentucky Council on Postsecondary Education. (2010). </a:t>
            </a:r>
            <a:r>
              <a:rPr i="1" lang="en-US" sz="2450">
                <a:solidFill>
                  <a:schemeClr val="dk1"/>
                </a:solidFill>
                <a:latin typeface="Trebuchet MS"/>
                <a:ea typeface="Trebuchet MS"/>
                <a:cs typeface="Trebuchet MS"/>
                <a:sym typeface="Trebuchet MS"/>
              </a:rPr>
              <a:t>Unified Strategy for College and Career Readiness Senate Bill 1 2009</a:t>
            </a:r>
            <a:r>
              <a:rPr lang="en-US" sz="2450">
                <a:solidFill>
                  <a:schemeClr val="dk1"/>
                </a:solidFill>
                <a:latin typeface="Trebuchet MS"/>
                <a:ea typeface="Trebuchet MS"/>
                <a:cs typeface="Trebuchet MS"/>
                <a:sym typeface="Trebuchet MS"/>
              </a:rPr>
              <a:t>. </a:t>
            </a:r>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[2]</a:t>
            </a:r>
            <a:r>
              <a:rPr b="1" lang="en-US" sz="2450">
                <a:solidFill>
                  <a:schemeClr val="dk1"/>
                </a:solidFill>
                <a:latin typeface="Calibri"/>
                <a:ea typeface="Calibri"/>
                <a:cs typeface="Calibri"/>
                <a:sym typeface="Calibri"/>
              </a:rPr>
              <a:t> </a:t>
            </a:r>
            <a:r>
              <a:rPr lang="en-US" sz="2450">
                <a:solidFill>
                  <a:schemeClr val="dk1"/>
                </a:solidFill>
                <a:latin typeface="Trebuchet MS"/>
                <a:ea typeface="Trebuchet MS"/>
                <a:cs typeface="Trebuchet MS"/>
                <a:sym typeface="Trebuchet MS"/>
              </a:rPr>
              <a:t>Career/College Readiness for All. (2015). </a:t>
            </a:r>
            <a:r>
              <a:rPr lang="en-US" sz="2450" u="sng">
                <a:solidFill>
                  <a:schemeClr val="hlink"/>
                </a:solidFill>
                <a:latin typeface="Trebuchet MS"/>
                <a:ea typeface="Trebuchet MS"/>
                <a:cs typeface="Trebuchet MS"/>
                <a:sym typeface="Trebuchet MS"/>
                <a:hlinkClick r:id="rId17"/>
              </a:rPr>
              <a:t>http://education.ky.gov/educational/CCR/Pages/default.aspx</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[3]</a:t>
            </a:r>
            <a:r>
              <a:rPr lang="en-US" sz="2450">
                <a:solidFill>
                  <a:schemeClr val="dk1"/>
                </a:solidFill>
                <a:latin typeface="Trebuchet MS"/>
                <a:ea typeface="Trebuchet MS"/>
                <a:cs typeface="Trebuchet MS"/>
                <a:sym typeface="Trebuchet MS"/>
              </a:rPr>
              <a:t> ACT(2009). </a:t>
            </a:r>
            <a:r>
              <a:rPr i="1" lang="en-US" sz="2450">
                <a:solidFill>
                  <a:schemeClr val="dk1"/>
                </a:solidFill>
                <a:latin typeface="Trebuchet MS"/>
                <a:ea typeface="Trebuchet MS"/>
                <a:cs typeface="Trebuchet MS"/>
                <a:sym typeface="Trebuchet MS"/>
              </a:rPr>
              <a:t>ACT Profile Report - National: Graduating Class 2009</a:t>
            </a:r>
            <a:r>
              <a:rPr lang="en-US" sz="2450">
                <a:solidFill>
                  <a:schemeClr val="dk1"/>
                </a:solidFill>
                <a:latin typeface="Trebuchet MS"/>
                <a:ea typeface="Trebuchet MS"/>
                <a:cs typeface="Trebuchet MS"/>
                <a:sym typeface="Trebuchet MS"/>
              </a:rPr>
              <a:t>. Iowa City, IA.</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[4] </a:t>
            </a:r>
            <a:r>
              <a:rPr lang="en-US" sz="2450">
                <a:solidFill>
                  <a:schemeClr val="dk1"/>
                </a:solidFill>
                <a:latin typeface="Trebuchet MS"/>
                <a:ea typeface="Trebuchet MS"/>
                <a:cs typeface="Trebuchet MS"/>
                <a:sym typeface="Trebuchet MS"/>
              </a:rPr>
              <a:t>Peter D. Hart Research Associates. (2005). </a:t>
            </a:r>
            <a:r>
              <a:rPr i="1" lang="en-US" sz="2450">
                <a:solidFill>
                  <a:schemeClr val="dk1"/>
                </a:solidFill>
                <a:latin typeface="Trebuchet MS"/>
                <a:ea typeface="Trebuchet MS"/>
                <a:cs typeface="Trebuchet MS"/>
                <a:sym typeface="Trebuchet MS"/>
              </a:rPr>
              <a:t>Rising to the challenge: Are high school graduates prepared for college and work?</a:t>
            </a:r>
            <a:r>
              <a:rPr lang="en-US" sz="2450">
                <a:solidFill>
                  <a:schemeClr val="dk1"/>
                </a:solidFill>
                <a:latin typeface="Trebuchet MS"/>
                <a:ea typeface="Trebuchet MS"/>
                <a:cs typeface="Trebuchet MS"/>
                <a:sym typeface="Trebuchet MS"/>
              </a:rPr>
              <a:t> Washington, DC: Achieve.</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[5] </a:t>
            </a:r>
            <a:r>
              <a:rPr lang="en-US" sz="2450">
                <a:solidFill>
                  <a:schemeClr val="dk1"/>
                </a:solidFill>
                <a:latin typeface="Trebuchet MS"/>
                <a:ea typeface="Trebuchet MS"/>
                <a:cs typeface="Trebuchet MS"/>
                <a:sym typeface="Trebuchet MS"/>
              </a:rPr>
              <a:t>Maruyama, D. (2012). Assessing college readiness: Should we be satisfied with ACT or other threshold scores? </a:t>
            </a:r>
            <a:r>
              <a:rPr i="1" lang="en-US" sz="2450">
                <a:solidFill>
                  <a:schemeClr val="dk1"/>
                </a:solidFill>
                <a:latin typeface="Trebuchet MS"/>
                <a:ea typeface="Trebuchet MS"/>
                <a:cs typeface="Trebuchet MS"/>
                <a:sym typeface="Trebuchet MS"/>
              </a:rPr>
              <a:t>Educational Researcher, 41</a:t>
            </a:r>
            <a:r>
              <a:rPr lang="en-US" sz="2450">
                <a:solidFill>
                  <a:schemeClr val="dk1"/>
                </a:solidFill>
                <a:latin typeface="Trebuchet MS"/>
                <a:ea typeface="Trebuchet MS"/>
                <a:cs typeface="Trebuchet MS"/>
                <a:sym typeface="Trebuchet MS"/>
              </a:rPr>
              <a:t>(7), 252-261.</a:t>
            </a:r>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[6]</a:t>
            </a:r>
            <a:r>
              <a:rPr lang="en-US" sz="2450">
                <a:solidFill>
                  <a:schemeClr val="dk1"/>
                </a:solidFill>
                <a:latin typeface="Trebuchet MS"/>
                <a:ea typeface="Trebuchet MS"/>
                <a:cs typeface="Trebuchet MS"/>
                <a:sym typeface="Trebuchet MS"/>
              </a:rPr>
              <a:t> Conforti, P. A. (2013). What is College and Career Readiness? A Summary of State Definitions. </a:t>
            </a:r>
            <a:r>
              <a:rPr i="1" lang="en-US" sz="2450">
                <a:solidFill>
                  <a:schemeClr val="dk1"/>
                </a:solidFill>
                <a:latin typeface="Trebuchet MS"/>
                <a:ea typeface="Trebuchet MS"/>
                <a:cs typeface="Trebuchet MS"/>
                <a:sym typeface="Trebuchet MS"/>
              </a:rPr>
              <a:t>Pearson Bulletin, 22</a:t>
            </a:r>
            <a:r>
              <a:rPr lang="en-US" sz="2450">
                <a:solidFill>
                  <a:schemeClr val="dk1"/>
                </a:solidFill>
                <a:latin typeface="Trebuchet MS"/>
                <a:ea typeface="Trebuchet MS"/>
                <a:cs typeface="Trebuchet MS"/>
                <a:sym typeface="Trebuchet MS"/>
              </a:rPr>
              <a:t>, 1-5.</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[7] </a:t>
            </a:r>
            <a:r>
              <a:rPr lang="en-US" sz="2450">
                <a:solidFill>
                  <a:schemeClr val="dk1"/>
                </a:solidFill>
                <a:latin typeface="Trebuchet MS"/>
                <a:ea typeface="Trebuchet MS"/>
                <a:cs typeface="Trebuchet MS"/>
                <a:sym typeface="Trebuchet MS"/>
              </a:rPr>
              <a:t>Bragg, D. D., &amp; Taylor, J. L. (2014). Toward College and Career Readiness: How Different Models Produce Similar Short-Term Outcomes. </a:t>
            </a:r>
            <a:r>
              <a:rPr i="1" lang="en-US" sz="2450">
                <a:solidFill>
                  <a:schemeClr val="dk1"/>
                </a:solidFill>
                <a:latin typeface="Trebuchet MS"/>
                <a:ea typeface="Trebuchet MS"/>
                <a:cs typeface="Trebuchet MS"/>
                <a:sym typeface="Trebuchet MS"/>
              </a:rPr>
              <a:t>American Behavioral Scientist, 58</a:t>
            </a:r>
            <a:r>
              <a:rPr lang="en-US" sz="2450">
                <a:solidFill>
                  <a:schemeClr val="dk1"/>
                </a:solidFill>
                <a:latin typeface="Trebuchet MS"/>
                <a:ea typeface="Trebuchet MS"/>
                <a:cs typeface="Trebuchet MS"/>
                <a:sym typeface="Trebuchet MS"/>
              </a:rPr>
              <a:t>(8), 994-1017. doi:10.1177/0002764213515231</a:t>
            </a:r>
            <a:endParaRPr baseline="30000" sz="2450">
              <a:solidFill>
                <a:schemeClr val="dk1"/>
              </a:solidFill>
              <a:latin typeface="Trebuchet MS"/>
              <a:ea typeface="Trebuchet MS"/>
              <a:cs typeface="Trebuchet MS"/>
              <a:sym typeface="Trebuchet MS"/>
            </a:endParaRPr>
          </a:p>
        </p:txBody>
      </p:sp>
      <p:sp>
        <p:nvSpPr>
          <p:cNvPr id="149" name="Google Shape;149;p13"/>
          <p:cNvSpPr txBox="1"/>
          <p:nvPr/>
        </p:nvSpPr>
        <p:spPr>
          <a:xfrm>
            <a:off x="20626502" y="7627401"/>
            <a:ext cx="13035793" cy="70173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81D3F"/>
                </a:solidFill>
                <a:latin typeface="Trebuchet MS"/>
                <a:ea typeface="Trebuchet MS"/>
                <a:cs typeface="Trebuchet MS"/>
                <a:sym typeface="Trebuchet MS"/>
              </a:rPr>
              <a:t>Defining Career and College Readiness</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According </a:t>
            </a:r>
            <a:r>
              <a:rPr lang="en-US" sz="3000">
                <a:solidFill>
                  <a:srgbClr val="000000"/>
                </a:solidFill>
                <a:latin typeface="Trebuchet MS"/>
                <a:ea typeface="Trebuchet MS"/>
                <a:cs typeface="Trebuchet MS"/>
                <a:sym typeface="Trebuchet MS"/>
              </a:rPr>
              <a:t>to ACT, only </a:t>
            </a:r>
            <a:r>
              <a:rPr lang="en-US" sz="3000">
                <a:solidFill>
                  <a:schemeClr val="dk1"/>
                </a:solidFill>
                <a:latin typeface="Trebuchet MS"/>
                <a:ea typeface="Trebuchet MS"/>
                <a:cs typeface="Trebuchet MS"/>
                <a:sym typeface="Trebuchet MS"/>
              </a:rPr>
              <a:t>42% of the 2009 graduating class nation-wide is ready for a college Algebra course, 67% for an English course, and 53% for a Social Sciences/Reading course.</a:t>
            </a:r>
            <a:r>
              <a:rPr baseline="30000" lang="en-US" sz="3000">
                <a:solidFill>
                  <a:schemeClr val="dk1"/>
                </a:solidFill>
                <a:latin typeface="Trebuchet MS"/>
                <a:ea typeface="Trebuchet MS"/>
                <a:cs typeface="Trebuchet MS"/>
                <a:sym typeface="Trebuchet MS"/>
              </a:rPr>
              <a:t>[3]</a:t>
            </a:r>
            <a:endParaRPr sz="3000">
              <a:solidFill>
                <a:schemeClr val="dk1"/>
              </a:solidFill>
              <a:latin typeface="Trebuchet MS"/>
              <a:ea typeface="Trebuchet MS"/>
              <a:cs typeface="Trebuchet MS"/>
              <a:sym typeface="Trebuchet MS"/>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Additionally, studies have shown that high school graduates, college instructors, and employers all agree that high schools are not preparing their graduates for the next portion of their  careers.</a:t>
            </a:r>
            <a:r>
              <a:rPr baseline="30000" lang="en-US" sz="3000">
                <a:solidFill>
                  <a:schemeClr val="dk1"/>
                </a:solidFill>
                <a:latin typeface="Trebuchet MS"/>
                <a:ea typeface="Trebuchet MS"/>
                <a:cs typeface="Trebuchet MS"/>
                <a:sym typeface="Trebuchet MS"/>
              </a:rPr>
              <a:t>[4]</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However, there is no consensus among states on the</a:t>
            </a:r>
            <a:r>
              <a:rPr i="1" lang="en-US" sz="3000">
                <a:solidFill>
                  <a:schemeClr val="dk1"/>
                </a:solidFill>
                <a:latin typeface="Trebuchet MS"/>
                <a:ea typeface="Trebuchet MS"/>
                <a:cs typeface="Trebuchet MS"/>
                <a:sym typeface="Trebuchet MS"/>
              </a:rPr>
              <a:t> definitions</a:t>
            </a:r>
            <a:r>
              <a:rPr lang="en-US" sz="3000">
                <a:solidFill>
                  <a:schemeClr val="dk1"/>
                </a:solidFill>
                <a:latin typeface="Trebuchet MS"/>
                <a:ea typeface="Trebuchet MS"/>
                <a:cs typeface="Trebuchet MS"/>
                <a:sym typeface="Trebuchet MS"/>
              </a:rPr>
              <a:t> of College and Career Ready.</a:t>
            </a:r>
            <a:r>
              <a:rPr baseline="30000" lang="en-US" sz="3000">
                <a:solidFill>
                  <a:schemeClr val="dk1"/>
                </a:solidFill>
                <a:latin typeface="Trebuchet MS"/>
                <a:ea typeface="Trebuchet MS"/>
                <a:cs typeface="Trebuchet MS"/>
                <a:sym typeface="Trebuchet MS"/>
              </a:rPr>
              <a:t>[5]</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While Kentucky is one of 9 states, as of 2012, to publish state-wide criteria,</a:t>
            </a:r>
            <a:r>
              <a:rPr baseline="30000" lang="en-US" sz="3000">
                <a:solidFill>
                  <a:schemeClr val="dk1"/>
                </a:solidFill>
                <a:latin typeface="Trebuchet MS"/>
                <a:ea typeface="Trebuchet MS"/>
                <a:cs typeface="Trebuchet MS"/>
                <a:sym typeface="Trebuchet MS"/>
              </a:rPr>
              <a:t>[6]</a:t>
            </a:r>
            <a:r>
              <a:rPr lang="en-US" sz="3000">
                <a:solidFill>
                  <a:schemeClr val="dk1"/>
                </a:solidFill>
                <a:latin typeface="Trebuchet MS"/>
                <a:ea typeface="Trebuchet MS"/>
                <a:cs typeface="Trebuchet MS"/>
                <a:sym typeface="Trebuchet MS"/>
              </a:rPr>
              <a:t> very few evaluative studies are available, and those that are provide a qualitative, rather than quantitative review of the policies.</a:t>
            </a:r>
            <a:r>
              <a:rPr baseline="30000" lang="en-US" sz="3000">
                <a:solidFill>
                  <a:schemeClr val="dk1"/>
                </a:solidFill>
                <a:latin typeface="Trebuchet MS"/>
                <a:ea typeface="Trebuchet MS"/>
                <a:cs typeface="Trebuchet MS"/>
                <a:sym typeface="Trebuchet MS"/>
              </a:rPr>
              <a:t>[7]</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All students in Kentucky take the ACT in 11</a:t>
            </a:r>
            <a:r>
              <a:rPr baseline="30000" lang="en-US" sz="3000">
                <a:solidFill>
                  <a:schemeClr val="dk1"/>
                </a:solidFill>
                <a:latin typeface="Trebuchet MS"/>
                <a:ea typeface="Trebuchet MS"/>
                <a:cs typeface="Trebuchet MS"/>
                <a:sym typeface="Trebuchet MS"/>
              </a:rPr>
              <a:t>th</a:t>
            </a:r>
            <a:r>
              <a:rPr lang="en-US" sz="3000">
                <a:solidFill>
                  <a:schemeClr val="dk1"/>
                </a:solidFill>
                <a:latin typeface="Trebuchet MS"/>
                <a:ea typeface="Trebuchet MS"/>
                <a:cs typeface="Trebuchet MS"/>
                <a:sym typeface="Trebuchet MS"/>
              </a:rPr>
              <a:t> grade and their score is then used to determine if they will need to be placed in remedial courses should they choose to attend college.</a:t>
            </a:r>
            <a:endParaRPr/>
          </a:p>
        </p:txBody>
      </p:sp>
      <p:pic>
        <p:nvPicPr>
          <p:cNvPr id="150" name="Google Shape;150;p13"/>
          <p:cNvPicPr preferRelativeResize="0"/>
          <p:nvPr/>
        </p:nvPicPr>
        <p:blipFill rotWithShape="1">
          <a:blip r:embed="rId18">
            <a:alphaModFix/>
          </a:blip>
          <a:srcRect b="0" l="0" r="0" t="0"/>
          <a:stretch/>
        </p:blipFill>
        <p:spPr>
          <a:xfrm>
            <a:off x="20255266" y="25151222"/>
            <a:ext cx="14456665" cy="5129784"/>
          </a:xfrm>
          <a:prstGeom prst="rect">
            <a:avLst/>
          </a:prstGeom>
          <a:noFill/>
          <a:ln>
            <a:noFill/>
          </a:ln>
        </p:spPr>
      </p:pic>
      <p:sp>
        <p:nvSpPr>
          <p:cNvPr id="151" name="Google Shape;151;p13"/>
          <p:cNvSpPr txBox="1"/>
          <p:nvPr/>
        </p:nvSpPr>
        <p:spPr>
          <a:xfrm rot="-5400000">
            <a:off x="18044295" y="27172046"/>
            <a:ext cx="4272323"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chemeClr val="dk1"/>
                </a:solidFill>
                <a:latin typeface="Trebuchet MS"/>
                <a:ea typeface="Trebuchet MS"/>
                <a:cs typeface="Trebuchet MS"/>
                <a:sym typeface="Trebuchet MS"/>
              </a:rPr>
              <a:t>Proportion of Students</a:t>
            </a:r>
            <a:endParaRPr b="1" sz="3000">
              <a:solidFill>
                <a:schemeClr val="dk1"/>
              </a:solidFill>
              <a:latin typeface="Trebuchet MS"/>
              <a:ea typeface="Trebuchet MS"/>
              <a:cs typeface="Trebuchet MS"/>
              <a:sym typeface="Trebuchet MS"/>
            </a:endParaRPr>
          </a:p>
        </p:txBody>
      </p:sp>
      <p:sp>
        <p:nvSpPr>
          <p:cNvPr id="152" name="Google Shape;152;p13"/>
          <p:cNvSpPr txBox="1"/>
          <p:nvPr/>
        </p:nvSpPr>
        <p:spPr>
          <a:xfrm>
            <a:off x="20954923" y="29000847"/>
            <a:ext cx="259398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Mathematics</a:t>
            </a:r>
            <a:endParaRPr b="1" sz="3200">
              <a:solidFill>
                <a:schemeClr val="dk1"/>
              </a:solidFill>
              <a:latin typeface="Trebuchet MS"/>
              <a:ea typeface="Trebuchet MS"/>
              <a:cs typeface="Trebuchet MS"/>
              <a:sym typeface="Trebuchet MS"/>
            </a:endParaRPr>
          </a:p>
        </p:txBody>
      </p:sp>
      <p:sp>
        <p:nvSpPr>
          <p:cNvPr id="153" name="Google Shape;153;p13"/>
          <p:cNvSpPr txBox="1"/>
          <p:nvPr/>
        </p:nvSpPr>
        <p:spPr>
          <a:xfrm>
            <a:off x="25783775" y="29000847"/>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54" name="Google Shape;154;p13"/>
          <p:cNvSpPr txBox="1"/>
          <p:nvPr/>
        </p:nvSpPr>
        <p:spPr>
          <a:xfrm>
            <a:off x="30657266" y="29000847"/>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sp>
        <p:nvSpPr>
          <p:cNvPr id="155" name="Google Shape;155;p13"/>
          <p:cNvSpPr txBox="1"/>
          <p:nvPr/>
        </p:nvSpPr>
        <p:spPr>
          <a:xfrm>
            <a:off x="11146970" y="2111080"/>
            <a:ext cx="24057429"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and College Readiness</a:t>
            </a:r>
            <a:endParaRPr/>
          </a:p>
        </p:txBody>
      </p:sp>
      <p:sp>
        <p:nvSpPr>
          <p:cNvPr id="156" name="Google Shape;156;p13"/>
          <p:cNvSpPr txBox="1"/>
          <p:nvPr/>
        </p:nvSpPr>
        <p:spPr>
          <a:xfrm>
            <a:off x="1669773" y="4449557"/>
            <a:ext cx="7191511" cy="6309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500">
                <a:solidFill>
                  <a:srgbClr val="5D89B4"/>
                </a:solidFill>
                <a:latin typeface="Raleway"/>
                <a:ea typeface="Raleway"/>
                <a:cs typeface="Raleway"/>
                <a:sym typeface="Raleway"/>
              </a:rPr>
              <a:t>Data Science for the Public Good</a:t>
            </a:r>
            <a:endParaRPr b="1" sz="3500">
              <a:solidFill>
                <a:srgbClr val="5D89B4"/>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