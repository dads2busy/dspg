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1549638"/>
  <p:notesSz cx="6858000" cy="9144000"/>
  <p:defaultTextStyle>
    <a:defPPr>
      <a:defRPr lang="en-US"/>
    </a:defPPr>
    <a:lvl1pPr marL="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1pPr>
    <a:lvl2pPr marL="1874977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2pPr>
    <a:lvl3pPr marL="3749954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3pPr>
    <a:lvl4pPr marL="5624932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4pPr>
    <a:lvl5pPr marL="7499909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5pPr>
    <a:lvl6pPr marL="9374886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6pPr>
    <a:lvl7pPr marL="11249863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7pPr>
    <a:lvl8pPr marL="13124840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8pPr>
    <a:lvl9pPr marL="14999818" algn="l" defTabSz="3749954" rtl="0" eaLnBrk="1" latinLnBrk="0" hangingPunct="1">
      <a:defRPr sz="7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41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938"/>
    <p:restoredTop sz="94613"/>
  </p:normalViewPr>
  <p:slideViewPr>
    <p:cSldViewPr snapToGrid="0" snapToObjects="1">
      <p:cViewPr>
        <p:scale>
          <a:sx n="41" d="100"/>
          <a:sy n="41" d="100"/>
        </p:scale>
        <p:origin x="552" y="168"/>
      </p:cViewPr>
      <p:guideLst>
        <p:guide orient="horz" pos="13041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799909"/>
            <a:ext cx="31089600" cy="1446543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1823181"/>
            <a:ext cx="27432000" cy="10031542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358568"/>
            <a:ext cx="31546800" cy="17283492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7805569"/>
            <a:ext cx="31546800" cy="9088980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2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060667"/>
            <a:ext cx="15544800" cy="2636286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12143"/>
            <a:ext cx="31546800" cy="80310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185435"/>
            <a:ext cx="15473360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177160"/>
            <a:ext cx="15473360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185435"/>
            <a:ext cx="15549564" cy="4991724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177160"/>
            <a:ext cx="15549564" cy="223233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9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5982388"/>
            <a:ext cx="18516600" cy="2952717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769976"/>
            <a:ext cx="11796712" cy="9694916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5982388"/>
            <a:ext cx="18516600" cy="2952717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464892"/>
            <a:ext cx="11796712" cy="23092753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0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12133"/>
            <a:ext cx="7886700" cy="352113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12133"/>
            <a:ext cx="23202900" cy="352113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12143"/>
            <a:ext cx="31546800" cy="8031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060667"/>
            <a:ext cx="31546800" cy="26362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D1B2C-7FEC-A643-940A-7934DC981F4F}" type="datetimeFigureOut">
              <a:rPr lang="en-US" smtClean="0"/>
              <a:t>9/15/16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510368"/>
            <a:ext cx="123444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510368"/>
            <a:ext cx="8229600" cy="2212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FF19A-555B-134D-AEFE-81A7C113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499" y="-4757"/>
            <a:ext cx="36576000" cy="41554395"/>
          </a:xfrm>
          <a:prstGeom prst="rect">
            <a:avLst/>
          </a:prstGeom>
        </p:spPr>
      </p:pic>
      <p:pic>
        <p:nvPicPr>
          <p:cNvPr id="3" name="Picture 2" descr="replieswordcloud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7" t="14175" r="27470" b="16992"/>
          <a:stretch/>
        </p:blipFill>
        <p:spPr>
          <a:xfrm>
            <a:off x="3730807" y="25539393"/>
            <a:ext cx="6130666" cy="5595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23" y="957385"/>
            <a:ext cx="8712200" cy="353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223" y="39039800"/>
            <a:ext cx="5715000" cy="1854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31987" y="2156111"/>
            <a:ext cx="243040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dirty="0" smtClean="0">
                <a:latin typeface="Blanch Caps" charset="0"/>
                <a:ea typeface="Blanch Caps" charset="0"/>
                <a:cs typeface="Blanch Caps" charset="0"/>
              </a:rPr>
              <a:t>Enhancing Enrollment and Effectiveness  </a:t>
            </a:r>
            <a:endParaRPr lang="en-US" sz="18000" dirty="0"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83649" y="6374704"/>
            <a:ext cx="302245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Research Questions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41495" y="7902299"/>
            <a:ext cx="129779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0" indent="-514350"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000" dirty="0" smtClean="0">
                <a:latin typeface="Trebuchet MS"/>
                <a:cs typeface="Trebuchet MS"/>
              </a:rPr>
              <a:t>Who should be targeted for enrollment in Emergency Alerts?</a:t>
            </a:r>
            <a:endParaRPr lang="en-US" sz="3000" dirty="0" smtClean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984250" lvl="1" indent="-51435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 smtClean="0">
                <a:latin typeface="Trebuchet MS"/>
                <a:cs typeface="Trebuchet MS"/>
              </a:rPr>
              <a:t>Who shares information?</a:t>
            </a:r>
            <a:endParaRPr lang="en-US" sz="3000" dirty="0">
              <a:latin typeface="Trebuchet MS"/>
              <a:cs typeface="Trebuchet MS"/>
            </a:endParaRPr>
          </a:p>
          <a:p>
            <a:pPr marL="742950" lvl="0" indent="-514350"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000" dirty="0" smtClean="0">
                <a:latin typeface="Trebuchet MS"/>
                <a:cs typeface="Trebuchet MS"/>
              </a:rPr>
              <a:t>Where are current enrollees located?</a:t>
            </a:r>
          </a:p>
          <a:p>
            <a:pPr marL="742950" lvl="0" indent="-514350"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US" sz="3000" dirty="0" smtClean="0">
                <a:latin typeface="Trebuchet MS"/>
                <a:cs typeface="Trebuchet MS"/>
              </a:rPr>
              <a:t>How do the alerts affect enrollee behavior? </a:t>
            </a:r>
            <a:endParaRPr lang="en-US" sz="3000" dirty="0">
              <a:latin typeface="Trebuchet MS"/>
              <a:cs typeface="Trebuchet MS"/>
            </a:endParaRPr>
          </a:p>
          <a:p>
            <a:pPr marL="979488" lvl="1" indent="-55245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Is there a pattern between type or number of alerts and unsubscribing?</a:t>
            </a:r>
            <a:endParaRPr lang="en-US" sz="3000" dirty="0">
              <a:latin typeface="Trebuchet MS"/>
              <a:ea typeface="Arial Narrow"/>
              <a:cs typeface="Trebuchet MS"/>
              <a:sym typeface="Arial Narrow"/>
            </a:endParaRPr>
          </a:p>
          <a:p>
            <a:pPr marL="979488" lvl="1" indent="-55245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>
                <a:latin typeface="Trebuchet MS"/>
                <a:ea typeface="Arial Narrow"/>
                <a:cs typeface="Trebuchet MS"/>
                <a:sym typeface="Arial Narrow"/>
              </a:rPr>
              <a:t>What </a:t>
            </a: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are best practices for the alert messages?</a:t>
            </a:r>
            <a:endParaRPr lang="en-US" sz="3000" dirty="0">
              <a:latin typeface="Trebuchet MS"/>
              <a:ea typeface="Arial Narrow"/>
              <a:cs typeface="Trebuchet MS"/>
              <a:sym typeface="Arial Narrow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83650" y="12015260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Where are Enrollees Located?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69" y="24596574"/>
            <a:ext cx="32637046" cy="18856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463161" y="24446786"/>
            <a:ext cx="302245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How do Alerts Affect Behavior?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18949" y="38863112"/>
            <a:ext cx="6703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latin typeface="Raleway Medium" charset="0"/>
                <a:ea typeface="Raleway Medium" charset="0"/>
                <a:cs typeface="Raleway Medium" charset="0"/>
              </a:rPr>
              <a:t>References</a:t>
            </a:r>
            <a:endParaRPr lang="en-US" sz="48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749101" y="39409416"/>
            <a:ext cx="7455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bi.vt.edu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/</a:t>
            </a:r>
            <a:r>
              <a:rPr lang="en-US" sz="2400" dirty="0" err="1" smtClean="0">
                <a:solidFill>
                  <a:schemeClr val="bg2">
                    <a:lumMod val="50000"/>
                  </a:schemeClr>
                </a:solidFill>
                <a:latin typeface="Raleway Medium" charset="0"/>
                <a:ea typeface="Raleway Medium" charset="0"/>
                <a:cs typeface="Raleway Medium" charset="0"/>
              </a:rPr>
              <a:t>sdal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Raleway Medium" charset="0"/>
              <a:ea typeface="Raleway Medium" charset="0"/>
              <a:cs typeface="Raleway Medium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31987" y="4948497"/>
            <a:ext cx="2247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Millicent Grant (Iowa State) &amp; Samantha Tyner (Iowa State) with Kathryn Ziemer (SDAL)</a:t>
            </a:r>
          </a:p>
          <a:p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Partner: 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Arlington County - Will Flagler &amp; Lauren </a:t>
            </a:r>
            <a:r>
              <a:rPr lang="en-US" sz="3600" dirty="0" err="1" smtClean="0">
                <a:solidFill>
                  <a:schemeClr val="bg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Stienstra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69" y="6679111"/>
            <a:ext cx="15495932" cy="186667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572417" y="6374704"/>
            <a:ext cx="1303579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dirty="0" smtClean="0">
                <a:latin typeface="Raleway Medium" charset="0"/>
                <a:ea typeface="Raleway Medium" charset="0"/>
                <a:cs typeface="Raleway Medium" charset="0"/>
              </a:rPr>
              <a:t>Targeting the Right People</a:t>
            </a:r>
            <a:endParaRPr lang="en-US" sz="6500" dirty="0">
              <a:latin typeface="Raleway Medium" charset="0"/>
              <a:ea typeface="Raleway Medium" charset="0"/>
              <a:cs typeface="Raleway Medium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5083" y="6679111"/>
            <a:ext cx="15495932" cy="186667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889666" y="7902299"/>
            <a:ext cx="60070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rebuchet MS"/>
                <a:cs typeface="Trebuchet MS"/>
              </a:rPr>
              <a:t>Personality traits of people who share </a:t>
            </a:r>
            <a:r>
              <a:rPr lang="en-US" sz="3000" b="1" dirty="0" smtClean="0">
                <a:latin typeface="Trebuchet MS"/>
                <a:cs typeface="Trebuchet MS"/>
              </a:rPr>
              <a:t>information</a:t>
            </a:r>
            <a:r>
              <a:rPr lang="en-US" sz="3000" b="1" baseline="30000" dirty="0" smtClean="0">
                <a:latin typeface="Trebuchet MS"/>
                <a:cs typeface="Trebuchet MS"/>
              </a:rPr>
              <a:t>1-3</a:t>
            </a:r>
            <a:r>
              <a:rPr lang="en-US" sz="3000" b="1" dirty="0" smtClean="0">
                <a:latin typeface="Trebuchet MS"/>
                <a:cs typeface="Trebuchet MS"/>
              </a:rPr>
              <a:t>:</a:t>
            </a:r>
            <a:endParaRPr lang="en-US" sz="3000" b="1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Openness to </a:t>
            </a:r>
            <a:r>
              <a:rPr lang="en-US" sz="3000" dirty="0" smtClean="0">
                <a:latin typeface="Trebuchet MS"/>
                <a:cs typeface="Trebuchet MS"/>
              </a:rPr>
              <a:t>experience</a:t>
            </a:r>
            <a:endParaRPr lang="en-US" sz="3000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 smtClean="0">
                <a:latin typeface="Trebuchet MS"/>
                <a:cs typeface="Trebuchet MS"/>
              </a:rPr>
              <a:t>Agreeableness</a:t>
            </a:r>
            <a:endParaRPr lang="en-US" sz="3000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 smtClean="0">
                <a:latin typeface="Trebuchet MS"/>
                <a:cs typeface="Trebuchet MS"/>
              </a:rPr>
              <a:t>Conscientiousness</a:t>
            </a:r>
            <a:endParaRPr lang="en-US" sz="3000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 smtClean="0">
                <a:latin typeface="Trebuchet MS"/>
                <a:cs typeface="Trebuchet MS"/>
              </a:rPr>
              <a:t>Extraversion</a:t>
            </a:r>
            <a:endParaRPr lang="en-US" sz="3000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Trusting of </a:t>
            </a:r>
            <a:r>
              <a:rPr lang="en-US" sz="3000" dirty="0" smtClean="0">
                <a:latin typeface="Trebuchet MS"/>
                <a:cs typeface="Trebuchet MS"/>
              </a:rPr>
              <a:t>others</a:t>
            </a:r>
            <a:endParaRPr lang="en-US" sz="3000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Affiliative </a:t>
            </a:r>
            <a:r>
              <a:rPr lang="en-US" sz="3000" dirty="0" smtClean="0">
                <a:latin typeface="Trebuchet MS"/>
                <a:cs typeface="Trebuchet MS"/>
              </a:rPr>
              <a:t>tendency</a:t>
            </a:r>
            <a:endParaRPr lang="en-US" sz="3000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Public </a:t>
            </a:r>
            <a:r>
              <a:rPr lang="en-US" sz="3000" dirty="0" smtClean="0">
                <a:latin typeface="Trebuchet MS"/>
                <a:cs typeface="Trebuchet MS"/>
              </a:rPr>
              <a:t>individuation</a:t>
            </a:r>
            <a:endParaRPr lang="en-US" sz="3000" dirty="0">
              <a:latin typeface="Trebuchet MS"/>
              <a:cs typeface="Trebuchet M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01117" y="7894701"/>
            <a:ext cx="60070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rebuchet MS"/>
                <a:cs typeface="Trebuchet MS"/>
              </a:rPr>
              <a:t>Top occupations associated with these </a:t>
            </a:r>
            <a:r>
              <a:rPr lang="en-US" sz="3000" b="1" dirty="0" smtClean="0">
                <a:latin typeface="Trebuchet MS"/>
                <a:cs typeface="Trebuchet MS"/>
              </a:rPr>
              <a:t>traits:</a:t>
            </a:r>
            <a:endParaRPr lang="en-US" sz="3000" b="1" dirty="0">
              <a:latin typeface="Trebuchet MS"/>
              <a:cs typeface="Trebuchet MS"/>
            </a:endParaRP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Teachers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Instructional coordinators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Life insurance agents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Arts/Entertainment managers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Occupational therapists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School counselors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Facilities managers</a:t>
            </a:r>
          </a:p>
          <a:p>
            <a:pPr marL="457200" lvl="0" indent="-457200">
              <a:buFont typeface="Arial"/>
              <a:buChar char="•"/>
            </a:pPr>
            <a:r>
              <a:rPr lang="en-US" sz="3000" dirty="0">
                <a:latin typeface="Trebuchet MS"/>
                <a:cs typeface="Trebuchet MS"/>
              </a:rPr>
              <a:t>Physical therapists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69" y="12345903"/>
            <a:ext cx="32637046" cy="188563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536050" y="14588418"/>
            <a:ext cx="301516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 dirty="0">
              <a:latin typeface="Trebuchet MS"/>
              <a:ea typeface="Raleway Medium" charset="0"/>
              <a:cs typeface="Trebuchet MS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2" t="15805" r="26625" b="4326"/>
          <a:stretch/>
        </p:blipFill>
        <p:spPr>
          <a:xfrm>
            <a:off x="5132221" y="15702996"/>
            <a:ext cx="6871671" cy="6885917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" t="17217" r="17193" b="3894"/>
          <a:stretch/>
        </p:blipFill>
        <p:spPr>
          <a:xfrm>
            <a:off x="14728209" y="15729909"/>
            <a:ext cx="7003140" cy="6902429"/>
          </a:xfrm>
          <a:prstGeom prst="rect">
            <a:avLst/>
          </a:prstGeom>
          <a:ln w="34925">
            <a:solidFill>
              <a:schemeClr val="tx1"/>
            </a:solidFill>
          </a:ln>
        </p:spPr>
      </p:pic>
      <p:sp>
        <p:nvSpPr>
          <p:cNvPr id="45" name="Rectangle 44"/>
          <p:cNvSpPr/>
          <p:nvPr/>
        </p:nvSpPr>
        <p:spPr>
          <a:xfrm>
            <a:off x="3383649" y="13358882"/>
            <a:ext cx="3022456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There is a high number of unweighted enrollment counts in the Metro Corridor, which is unsurprising because of the large population in this location (Figure 1). </a:t>
            </a:r>
          </a:p>
          <a:p>
            <a:pPr marL="457200" indent="-457200">
              <a:buFont typeface="Arial"/>
              <a:buChar char="•"/>
            </a:pPr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When enrollment location counts are weighted by the population density of the location, North Arlington has much higher enrollment than South Arlington (Figure 2).</a:t>
            </a:r>
          </a:p>
          <a:p>
            <a:pPr marL="457200" indent="-457200">
              <a:buFont typeface="Arial"/>
              <a:buChar char="•"/>
            </a:pPr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Subscribers </a:t>
            </a:r>
            <a:r>
              <a:rPr lang="en-US" sz="3000" dirty="0">
                <a:latin typeface="Trebuchet MS"/>
                <a:ea typeface="Raleway Medium" charset="0"/>
                <a:cs typeface="Trebuchet MS"/>
              </a:rPr>
              <a:t>can sign up to receive alerts </a:t>
            </a:r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for up to 5 </a:t>
            </a:r>
            <a:r>
              <a:rPr lang="en-US" sz="3000" dirty="0">
                <a:latin typeface="Trebuchet MS"/>
                <a:ea typeface="Raleway Medium" charset="0"/>
                <a:cs typeface="Trebuchet MS"/>
              </a:rPr>
              <a:t>different locations, </a:t>
            </a:r>
            <a:r>
              <a:rPr lang="en-US" sz="3000" smtClean="0">
                <a:latin typeface="Trebuchet MS"/>
                <a:ea typeface="Raleway Medium" charset="0"/>
                <a:cs typeface="Trebuchet MS"/>
              </a:rPr>
              <a:t>such as work</a:t>
            </a:r>
            <a:r>
              <a:rPr lang="en-US" sz="3000" dirty="0">
                <a:latin typeface="Trebuchet MS"/>
                <a:ea typeface="Raleway Medium" charset="0"/>
                <a:cs typeface="Trebuchet MS"/>
              </a:rPr>
              <a:t>, home, and </a:t>
            </a:r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school. Most of the “work” enrollee locations are in the Metro Corridor (Figure 3).</a:t>
            </a:r>
            <a:endParaRPr lang="en-US" sz="3000" dirty="0">
              <a:latin typeface="Trebuchet MS"/>
              <a:ea typeface="Raleway Medium" charset="0"/>
              <a:cs typeface="Trebuchet MS"/>
            </a:endParaRPr>
          </a:p>
          <a:p>
            <a:pPr marL="457200" indent="-457200">
              <a:buFont typeface="Arial"/>
              <a:buChar char="•"/>
            </a:pPr>
            <a:endParaRPr lang="en-US" sz="3000" dirty="0">
              <a:latin typeface="Trebuchet MS"/>
              <a:ea typeface="Raleway Medium" charset="0"/>
              <a:cs typeface="Trebuchet M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132221" y="22680529"/>
            <a:ext cx="68716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Figure 1. Enrollment counts by civic associations.</a:t>
            </a:r>
            <a:endParaRPr lang="en-US" sz="3000" baseline="30000" dirty="0" smtClean="0">
              <a:latin typeface="Trebuchet MS"/>
              <a:ea typeface="Raleway Medium" charset="0"/>
              <a:cs typeface="Trebuchet M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678376" y="22741045"/>
            <a:ext cx="70140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Figure 2. Enrollment concentration by census tract, accounting for population density. Gray lines are civic associations, black are census tracts.</a:t>
            </a:r>
            <a:endParaRPr lang="en-US" sz="3000" dirty="0">
              <a:latin typeface="Trebuchet MS"/>
              <a:ea typeface="Raleway Medium" charset="0"/>
              <a:cs typeface="Trebuchet MS"/>
            </a:endParaRPr>
          </a:p>
        </p:txBody>
      </p:sp>
      <p:pic>
        <p:nvPicPr>
          <p:cNvPr id="48" name="Shape 86" descr="WorkLocationMap.jpg"/>
          <p:cNvPicPr preferRelativeResize="0">
            <a:picLocks noChangeAspect="1"/>
          </p:cNvPicPr>
          <p:nvPr/>
        </p:nvPicPr>
        <p:blipFill rotWithShape="1">
          <a:blip r:embed="rId10">
            <a:alphaModFix/>
          </a:blip>
          <a:srcRect l="3633" t="9960" r="11671" b="4903"/>
          <a:stretch/>
        </p:blipFill>
        <p:spPr>
          <a:xfrm>
            <a:off x="24634640" y="15754960"/>
            <a:ext cx="6849874" cy="6885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9" name="Rectangle 48"/>
          <p:cNvSpPr/>
          <p:nvPr/>
        </p:nvSpPr>
        <p:spPr>
          <a:xfrm>
            <a:off x="24626876" y="22701626"/>
            <a:ext cx="68498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Figure 3. Enrollment counts where locations are specified by an enrollee’s “work” address.</a:t>
            </a:r>
            <a:endParaRPr lang="en-US" sz="3000" baseline="30000" dirty="0" smtClean="0">
              <a:latin typeface="Trebuchet MS"/>
              <a:ea typeface="Raleway Medium" charset="0"/>
              <a:cs typeface="Trebuchet MS"/>
            </a:endParaRPr>
          </a:p>
        </p:txBody>
      </p:sp>
      <p:pic>
        <p:nvPicPr>
          <p:cNvPr id="50" name="Shape 87" descr="WorkLocationMap.jpg"/>
          <p:cNvPicPr preferRelativeResize="0"/>
          <p:nvPr/>
        </p:nvPicPr>
        <p:blipFill rotWithShape="1">
          <a:blip r:embed="rId10">
            <a:alphaModFix/>
          </a:blip>
          <a:srcRect l="91530" t="45475" b="39666"/>
          <a:stretch/>
        </p:blipFill>
        <p:spPr>
          <a:xfrm>
            <a:off x="24861400" y="19932350"/>
            <a:ext cx="1300601" cy="21369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TextBox 52"/>
          <p:cNvSpPr txBox="1"/>
          <p:nvPr/>
        </p:nvSpPr>
        <p:spPr>
          <a:xfrm>
            <a:off x="13804977" y="39109035"/>
            <a:ext cx="149150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Matzler</a:t>
            </a:r>
            <a:r>
              <a:rPr lang="en-US" sz="2000" dirty="0"/>
              <a:t>, K., </a:t>
            </a:r>
            <a:r>
              <a:rPr lang="en-US" sz="2000" dirty="0" err="1"/>
              <a:t>Renzl</a:t>
            </a:r>
            <a:r>
              <a:rPr lang="en-US" sz="2000" dirty="0"/>
              <a:t>, B., </a:t>
            </a:r>
            <a:r>
              <a:rPr lang="en-US" sz="2000" dirty="0" err="1"/>
              <a:t>Mooradian</a:t>
            </a:r>
            <a:r>
              <a:rPr lang="en-US" sz="2000" dirty="0"/>
              <a:t>, T., von Krogh, G., &amp; Mueller, J. (2011). Personality traits, affective commitment, documentation of knowledge, and knowledge sharing. The International Journal of Human Resource Management, 22, 296-310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Mooradian</a:t>
            </a:r>
            <a:r>
              <a:rPr lang="en-US" sz="2000" dirty="0"/>
              <a:t>, T., </a:t>
            </a:r>
            <a:r>
              <a:rPr lang="en-US" sz="2000" dirty="0" err="1"/>
              <a:t>Renzl</a:t>
            </a:r>
            <a:r>
              <a:rPr lang="en-US" sz="2000" dirty="0"/>
              <a:t>, B., &amp; </a:t>
            </a:r>
            <a:r>
              <a:rPr lang="en-US" sz="2000" dirty="0" err="1"/>
              <a:t>Matzler</a:t>
            </a:r>
            <a:r>
              <a:rPr lang="en-US" sz="2000" dirty="0"/>
              <a:t>, K. (2006). Who trusts? Personality, trust and knowledge sharing. Management Learning, 37, 523-540.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Lee, E., &amp; Jang, J. (2010). Profiling good Samaritans in online knowledge forums: Effects of </a:t>
            </a:r>
            <a:r>
              <a:rPr lang="en-US" sz="2000" dirty="0" err="1"/>
              <a:t>affiliative</a:t>
            </a:r>
            <a:r>
              <a:rPr lang="en-US" sz="2000" dirty="0"/>
              <a:t> tendency, self-esteem, and public individuation on knowledge sharing. Computers in Human Behavior, 26, 1336-1344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Chandler, R. (2010). Emergency Notification. Santa Barbara, CA: </a:t>
            </a:r>
            <a:r>
              <a:rPr lang="en-US" sz="2000" dirty="0" err="1" smtClean="0"/>
              <a:t>Praeger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4" name="Picture 3" descr="repliesradarplot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316" y="32612660"/>
            <a:ext cx="5672158" cy="450388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5505278" y="34385399"/>
            <a:ext cx="78353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>
              <a:buClr>
                <a:schemeClr val="dk1"/>
              </a:buClr>
              <a:buSzPct val="100000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Figure 6. Enrollees’ last modification of their account. Orange lines indicate major events where the system sent out many alerts. In January 2016 there was a major blizzard and in May 2016 there were several days with severe thunderstorms</a:t>
            </a: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.</a:t>
            </a:r>
            <a:endParaRPr lang="en-US" sz="3000" dirty="0">
              <a:solidFill>
                <a:srgbClr val="FF0000"/>
              </a:solidFill>
              <a:latin typeface="Trebuchet MS"/>
              <a:ea typeface="Arial Narrow"/>
              <a:cs typeface="Trebuchet MS"/>
              <a:sym typeface="Arial Narrow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334722" y="26315878"/>
            <a:ext cx="11911373" cy="1071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>
              <a:buClr>
                <a:schemeClr val="dk1"/>
              </a:buClr>
              <a:buSzPct val="100000"/>
            </a:pPr>
            <a:r>
              <a:rPr lang="en-US" sz="3000" b="1" u="sng" dirty="0" smtClean="0">
                <a:latin typeface="Trebuchet MS"/>
                <a:ea typeface="Arial Narrow"/>
                <a:cs typeface="Trebuchet MS"/>
                <a:sym typeface="Arial Narrow"/>
              </a:rPr>
              <a:t>Responses to Messages</a:t>
            </a:r>
          </a:p>
          <a:p>
            <a:pPr marL="685800" lvl="0" indent="-4572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Word cloud results (Figure 4) indicate that “Stop” is the most common word enrollees use to respond to alerts.</a:t>
            </a:r>
          </a:p>
          <a:p>
            <a:pPr marL="685800" lvl="0" indent="-4572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Sentiment analysis (Figure 5) reveals that enrollees respond to text alerts with negative feelings, particularly sadness and fear.</a:t>
            </a:r>
          </a:p>
          <a:p>
            <a:pPr marL="685800" lvl="0" indent="-457200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Users modified their accounts the most after receiving 3 or more alerts in less than 90 minutes (Figure 6).</a:t>
            </a:r>
          </a:p>
          <a:p>
            <a:pPr marL="228600" lvl="0">
              <a:buClr>
                <a:schemeClr val="dk1"/>
              </a:buClr>
              <a:buSzPct val="100000"/>
            </a:pPr>
            <a:endParaRPr lang="en-US" sz="3000" b="1" u="sng" dirty="0" smtClean="0">
              <a:latin typeface="Trebuchet MS"/>
              <a:ea typeface="Arial Narrow"/>
              <a:cs typeface="Trebuchet MS"/>
              <a:sym typeface="Arial Narrow"/>
            </a:endParaRPr>
          </a:p>
          <a:p>
            <a:pPr marL="228600" lvl="0">
              <a:buClr>
                <a:schemeClr val="dk1"/>
              </a:buClr>
              <a:buSzPct val="100000"/>
            </a:pPr>
            <a:r>
              <a:rPr lang="en-US" sz="3000" b="1" u="sng" dirty="0" smtClean="0">
                <a:latin typeface="Trebuchet MS"/>
                <a:ea typeface="Arial Narrow"/>
                <a:cs typeface="Trebuchet MS"/>
                <a:sym typeface="Arial Narrow"/>
              </a:rPr>
              <a:t>Best Practices for Alert Messaging</a:t>
            </a:r>
            <a:r>
              <a:rPr lang="en-US" sz="3000" b="1" i="1" u="sng" baseline="30000" dirty="0" smtClean="0">
                <a:latin typeface="Trebuchet MS"/>
                <a:ea typeface="Arial Narrow"/>
                <a:cs typeface="Trebuchet MS"/>
                <a:sym typeface="Arial Narrow"/>
              </a:rPr>
              <a:t>4</a:t>
            </a:r>
            <a:endParaRPr lang="en-US" sz="3000" b="1" u="sng" dirty="0" smtClean="0">
              <a:latin typeface="Trebuchet MS"/>
              <a:ea typeface="Arial Narrow"/>
              <a:cs typeface="Trebuchet MS"/>
              <a:sym typeface="Arial Narrow"/>
            </a:endParaRPr>
          </a:p>
          <a:p>
            <a:pPr marL="228600" lvl="0">
              <a:buClr>
                <a:schemeClr val="dk1"/>
              </a:buClr>
              <a:buSzPct val="100000"/>
            </a:pPr>
            <a:r>
              <a:rPr lang="en-US" sz="3000" i="1" dirty="0" smtClean="0">
                <a:latin typeface="Trebuchet MS"/>
                <a:ea typeface="Arial Narrow"/>
                <a:cs typeface="Trebuchet MS"/>
                <a:sym typeface="Arial Narrow"/>
              </a:rPr>
              <a:t>Danger-Action Structure</a:t>
            </a:r>
          </a:p>
          <a:p>
            <a:pPr marL="685800" lvl="0" indent="-457200">
              <a:buClr>
                <a:schemeClr val="dk1"/>
              </a:buClr>
              <a:buSzPct val="100000"/>
              <a:buFont typeface="Arial" charset="0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Structure messages to inform recipients of the danger and the action the recipient should take</a:t>
            </a:r>
          </a:p>
          <a:p>
            <a:pPr marL="685800" indent="-457200">
              <a:buClr>
                <a:schemeClr val="dk1"/>
              </a:buClr>
              <a:buSzPct val="100000"/>
              <a:buFont typeface="Arial" charset="0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Use simple, brief, direct language</a:t>
            </a:r>
          </a:p>
          <a:p>
            <a:pPr marL="685800" indent="-457200">
              <a:buClr>
                <a:schemeClr val="dk1"/>
              </a:buClr>
              <a:buSzPct val="100000"/>
              <a:buFont typeface="Arial" charset="0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Avoid over-dramatizing</a:t>
            </a:r>
          </a:p>
          <a:p>
            <a:pPr marL="685800" indent="-457200">
              <a:buClr>
                <a:schemeClr val="dk1"/>
              </a:buClr>
              <a:buSzPct val="100000"/>
              <a:buFont typeface="Arial" charset="0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Help recipients understand the risks and where to get more information</a:t>
            </a:r>
          </a:p>
          <a:p>
            <a:pPr marL="228600">
              <a:buClr>
                <a:schemeClr val="dk1"/>
              </a:buClr>
              <a:buSzPct val="100000"/>
            </a:pPr>
            <a:r>
              <a:rPr lang="en-US" sz="3000" i="1" dirty="0" smtClean="0">
                <a:latin typeface="Trebuchet MS"/>
                <a:ea typeface="Arial Narrow"/>
                <a:cs typeface="Trebuchet MS"/>
                <a:sym typeface="Arial Narrow"/>
              </a:rPr>
              <a:t>Key Writing Principles</a:t>
            </a:r>
          </a:p>
          <a:p>
            <a:pPr marL="685800" indent="-457200">
              <a:buClr>
                <a:schemeClr val="dk1"/>
              </a:buClr>
              <a:buSzPct val="100000"/>
              <a:buFont typeface="Arial" charset="0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3 &amp; 30 Principle: convey key information in 3 short sentences with no more than 30 words</a:t>
            </a:r>
          </a:p>
          <a:p>
            <a:pPr marL="685800" indent="-457200">
              <a:buClr>
                <a:schemeClr val="dk1"/>
              </a:buClr>
              <a:buSzPct val="100000"/>
              <a:buFont typeface="Arial" charset="0"/>
              <a:buChar char="•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6 &amp; 60 Principle: write messages at a 6</a:t>
            </a:r>
            <a:r>
              <a:rPr lang="en-US" sz="3000" baseline="30000" dirty="0" smtClean="0">
                <a:latin typeface="Trebuchet MS"/>
                <a:ea typeface="Arial Narrow"/>
                <a:cs typeface="Trebuchet MS"/>
                <a:sym typeface="Arial Narrow"/>
              </a:rPr>
              <a:t>th</a:t>
            </a: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 grade (or lower) reading level with a 60 or more score on a readability measurement scale</a:t>
            </a:r>
          </a:p>
          <a:p>
            <a:pPr marL="228600">
              <a:buClr>
                <a:schemeClr val="dk1"/>
              </a:buClr>
              <a:buSzPct val="100000"/>
            </a:pPr>
            <a:endParaRPr lang="en-US" sz="3000" dirty="0">
              <a:latin typeface="Trebuchet MS"/>
              <a:ea typeface="Arial Narrow"/>
              <a:cs typeface="Trebuchet MS"/>
              <a:sym typeface="Arial Narrow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260316" y="31135332"/>
            <a:ext cx="687167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Figure 4. Word cloud of the most frequent user responses to message alerts. </a:t>
            </a:r>
            <a:endParaRPr lang="en-US" sz="3000" dirty="0">
              <a:latin typeface="Trebuchet MS"/>
              <a:ea typeface="Raleway Medium" charset="0"/>
              <a:cs typeface="Trebuchet M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260316" y="37375982"/>
            <a:ext cx="62510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>
                <a:latin typeface="Trebuchet MS"/>
                <a:ea typeface="Raleway Medium" charset="0"/>
                <a:cs typeface="Trebuchet MS"/>
              </a:rPr>
              <a:t>Figure 5. Sentiment analysis of responses to messages.</a:t>
            </a:r>
          </a:p>
          <a:p>
            <a:endParaRPr lang="en-US" sz="3000" baseline="30000" dirty="0" smtClean="0">
              <a:latin typeface="Trebuchet MS"/>
              <a:ea typeface="Raleway Medium" charset="0"/>
              <a:cs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1400" y="26351921"/>
            <a:ext cx="8746810" cy="777253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131987" y="562126"/>
            <a:ext cx="243040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dirty="0">
                <a:latin typeface="Blanch Caps" charset="0"/>
                <a:ea typeface="Blanch Caps" charset="0"/>
                <a:cs typeface="Blanch Caps" charset="0"/>
              </a:rPr>
              <a:t>Arlington County Emergency Alerts: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69773" y="4449557"/>
            <a:ext cx="719151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 smtClean="0">
                <a:solidFill>
                  <a:srgbClr val="5D89B4"/>
                </a:solidFill>
                <a:latin typeface="Raleway" charset="0"/>
                <a:ea typeface="Raleway" charset="0"/>
                <a:cs typeface="Raleway" charset="0"/>
              </a:rPr>
              <a:t>Data Science for the Public Good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505278" y="37327491"/>
            <a:ext cx="7835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>
              <a:buClr>
                <a:schemeClr val="dk1"/>
              </a:buClr>
              <a:buSzPct val="100000"/>
            </a:pPr>
            <a:r>
              <a:rPr lang="en-US" sz="3000" dirty="0" smtClean="0">
                <a:latin typeface="Trebuchet MS"/>
                <a:ea typeface="Arial Narrow"/>
                <a:cs typeface="Trebuchet MS"/>
                <a:sym typeface="Arial Narrow"/>
              </a:rPr>
              <a:t>Note. The darker the circle, the higher the number of people who modified their account.</a:t>
            </a:r>
            <a:endParaRPr lang="en-US" sz="3000" dirty="0">
              <a:solidFill>
                <a:srgbClr val="FF0000"/>
              </a:solidFill>
              <a:latin typeface="Trebuchet MS"/>
              <a:ea typeface="Arial Narrow"/>
              <a:cs typeface="Trebuchet MS"/>
              <a:sym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52009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696</Words>
  <Application>Microsoft Macintosh PowerPoint</Application>
  <PresentationFormat>Custom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Narrow</vt:lpstr>
      <vt:lpstr>Blanch Caps</vt:lpstr>
      <vt:lpstr>Calibri</vt:lpstr>
      <vt:lpstr>Calibri Light</vt:lpstr>
      <vt:lpstr>Raleway</vt:lpstr>
      <vt:lpstr>Raleway Medium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46</cp:revision>
  <dcterms:created xsi:type="dcterms:W3CDTF">2016-07-05T19:56:53Z</dcterms:created>
  <dcterms:modified xsi:type="dcterms:W3CDTF">2016-09-15T14:42:29Z</dcterms:modified>
</cp:coreProperties>
</file>