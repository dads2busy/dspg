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2918400" cy="43891200"/>
  <p:notesSz cx="6858000" cy="9144000"/>
  <p:defaultTextStyle>
    <a:defPPr>
      <a:defRPr lang="en-US"/>
    </a:defPPr>
    <a:lvl1pPr marL="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3824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izem Korkmaz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55"/>
    <p:restoredTop sz="94606"/>
  </p:normalViewPr>
  <p:slideViewPr>
    <p:cSldViewPr snapToGrid="0" snapToObjects="1">
      <p:cViewPr>
        <p:scale>
          <a:sx n="30" d="100"/>
          <a:sy n="30" d="100"/>
        </p:scale>
        <p:origin x="-1136" y="-80"/>
      </p:cViewPr>
      <p:guideLst>
        <p:guide orient="horz" pos="13824"/>
        <p:guide pos="103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13634723"/>
            <a:ext cx="27980640" cy="94081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0" y="24871680"/>
            <a:ext cx="23042880" cy="11216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036-FF37-B04E-AFA7-FF6FFA612D94}" type="datetimeFigureOut">
              <a:rPr lang="en-US" smtClean="0"/>
              <a:t>7/13/16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15A5E-FA7B-F04C-B3BB-6A20EEEF7F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22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036-FF37-B04E-AFA7-FF6FFA612D94}" type="datetimeFigureOut">
              <a:rPr lang="en-US" smtClean="0"/>
              <a:t>7/13/16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15A5E-FA7B-F04C-B3BB-6A20EEEF7F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78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28204163"/>
            <a:ext cx="27980640" cy="871728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18602966"/>
            <a:ext cx="27980640" cy="9601197"/>
          </a:xfr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036-FF37-B04E-AFA7-FF6FFA612D94}" type="datetimeFigureOut">
              <a:rPr lang="en-US" smtClean="0"/>
              <a:t>7/13/16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15A5E-FA7B-F04C-B3BB-6A20EEEF7F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183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26457" y="65542163"/>
            <a:ext cx="53052343" cy="185389517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27442" y="65542163"/>
            <a:ext cx="53052347" cy="185389517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036-FF37-B04E-AFA7-FF6FFA612D94}" type="datetimeFigureOut">
              <a:rPr lang="en-US" smtClean="0"/>
              <a:t>7/13/16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15A5E-FA7B-F04C-B3BB-6A20EEEF7F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5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757683"/>
            <a:ext cx="29626560" cy="7315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9824723"/>
            <a:ext cx="14544677" cy="4094477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13919200"/>
            <a:ext cx="14544677" cy="25288243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2" y="9824723"/>
            <a:ext cx="14550390" cy="4094477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2" y="13919200"/>
            <a:ext cx="14550390" cy="25288243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036-FF37-B04E-AFA7-FF6FFA612D94}" type="datetimeFigureOut">
              <a:rPr lang="en-US" smtClean="0"/>
              <a:t>7/13/16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15A5E-FA7B-F04C-B3BB-6A20EEEF7F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501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036-FF37-B04E-AFA7-FF6FFA612D94}" type="datetimeFigureOut">
              <a:rPr lang="en-US" smtClean="0"/>
              <a:t>7/13/16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15A5E-FA7B-F04C-B3BB-6A20EEEF7F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1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036-FF37-B04E-AFA7-FF6FFA612D94}" type="datetimeFigureOut">
              <a:rPr lang="en-US" smtClean="0"/>
              <a:t>7/13/16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15A5E-FA7B-F04C-B3BB-6A20EEEF7F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448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2" y="1747520"/>
            <a:ext cx="10829927" cy="7437120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0" y="1747523"/>
            <a:ext cx="18402300" cy="37459923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2" y="9184643"/>
            <a:ext cx="10829927" cy="30022803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036-FF37-B04E-AFA7-FF6FFA612D94}" type="datetimeFigureOut">
              <a:rPr lang="en-US" smtClean="0"/>
              <a:t>7/13/16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15A5E-FA7B-F04C-B3BB-6A20EEEF7F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721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7" y="30723840"/>
            <a:ext cx="19751040" cy="3627123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7" y="3921760"/>
            <a:ext cx="19751040" cy="26334720"/>
          </a:xfrm>
        </p:spPr>
        <p:txBody>
          <a:bodyPr/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7" y="34350963"/>
            <a:ext cx="19751040" cy="5151117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036-FF37-B04E-AFA7-FF6FFA612D94}" type="datetimeFigureOut">
              <a:rPr lang="en-US" smtClean="0"/>
              <a:t>7/13/16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15A5E-FA7B-F04C-B3BB-6A20EEEF7F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812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036-FF37-B04E-AFA7-FF6FFA612D94}" type="datetimeFigureOut">
              <a:rPr lang="en-US" smtClean="0"/>
              <a:t>7/13/16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15A5E-FA7B-F04C-B3BB-6A20EEEF7F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270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919310" y="11247123"/>
            <a:ext cx="26660477" cy="23968455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26459" y="11247123"/>
            <a:ext cx="79444213" cy="23968455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036-FF37-B04E-AFA7-FF6FFA612D94}" type="datetimeFigureOut">
              <a:rPr lang="en-US" smtClean="0"/>
              <a:t>7/13/16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15A5E-FA7B-F04C-B3BB-6A20EEEF7F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165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1757683"/>
            <a:ext cx="29626560" cy="73152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10241283"/>
            <a:ext cx="29626560" cy="28966163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0" y="40680643"/>
            <a:ext cx="7680960" cy="23368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22036-FF37-B04E-AFA7-FF6FFA612D94}" type="datetimeFigureOut">
              <a:rPr lang="en-US" smtClean="0"/>
              <a:t>7/13/16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120" y="40680643"/>
            <a:ext cx="10424160" cy="23368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591520" y="40680643"/>
            <a:ext cx="7680960" cy="23368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15A5E-FA7B-F04C-B3BB-6A20EEEF7F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826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194560" rtl="0" eaLnBrk="1" latinLnBrk="0" hangingPunct="1">
        <a:spcBef>
          <a:spcPct val="0"/>
        </a:spcBef>
        <a:buNone/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0" indent="-1645920" algn="l" defTabSz="2194560" rtl="0" eaLnBrk="1" latinLnBrk="0" hangingPunct="1">
        <a:spcBef>
          <a:spcPct val="20000"/>
        </a:spcBef>
        <a:buFont typeface="Arial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160" indent="-1371600" algn="l" defTabSz="2194560" rtl="0" eaLnBrk="1" latinLnBrk="0" hangingPunct="1">
        <a:spcBef>
          <a:spcPct val="20000"/>
        </a:spcBef>
        <a:buFont typeface="Arial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2194560" rtl="0" eaLnBrk="1" latinLnBrk="0" hangingPunct="1">
        <a:spcBef>
          <a:spcPct val="20000"/>
        </a:spcBef>
        <a:buFont typeface="Arial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2194560" rtl="0" eaLnBrk="1" latinLnBrk="0" hangingPunct="1">
        <a:spcBef>
          <a:spcPct val="20000"/>
        </a:spcBef>
        <a:buFont typeface="Arial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2194560" rtl="0" eaLnBrk="1" latinLnBrk="0" hangingPunct="1">
        <a:spcBef>
          <a:spcPct val="20000"/>
        </a:spcBef>
        <a:buFont typeface="Arial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DAL_poster_bkg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4" y="0"/>
            <a:ext cx="32918400" cy="43891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37911" y="18337331"/>
            <a:ext cx="14430113" cy="12095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 smtClean="0"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rPr>
              <a:t>Logistics</a:t>
            </a:r>
            <a:endParaRPr lang="en-US" sz="4800" dirty="0">
              <a:solidFill>
                <a:schemeClr val="tx1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8" name="Round Single Corner Rectangle 7"/>
          <p:cNvSpPr/>
          <p:nvPr/>
        </p:nvSpPr>
        <p:spPr>
          <a:xfrm>
            <a:off x="967521" y="846678"/>
            <a:ext cx="30900211" cy="7862013"/>
          </a:xfrm>
          <a:prstGeom prst="round1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Raleway"/>
              <a:cs typeface="Raleway"/>
            </a:endParaRPr>
          </a:p>
        </p:txBody>
      </p:sp>
      <p:pic>
        <p:nvPicPr>
          <p:cNvPr id="10" name="Picture 9" descr="poster top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16" t="26066" r="9402" b="40097"/>
          <a:stretch/>
        </p:blipFill>
        <p:spPr>
          <a:xfrm>
            <a:off x="24974143" y="6362821"/>
            <a:ext cx="6893590" cy="247955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714871" y="18337885"/>
            <a:ext cx="14524185" cy="1209540"/>
          </a:xfrm>
          <a:prstGeom prst="rect">
            <a:avLst/>
          </a:prstGeom>
          <a:solidFill>
            <a:srgbClr val="BFBFB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 smtClean="0">
                <a:solidFill>
                  <a:srgbClr val="000000"/>
                </a:solidFill>
                <a:latin typeface="Georgia" charset="0"/>
                <a:ea typeface="Georgia" charset="0"/>
                <a:cs typeface="Georgia" charset="0"/>
              </a:rPr>
              <a:t>Behavior</a:t>
            </a:r>
            <a:endParaRPr lang="en-US" sz="4800" dirty="0">
              <a:solidFill>
                <a:srgbClr val="000000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37911" y="1337831"/>
            <a:ext cx="29901145" cy="91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6400" b="1" dirty="0" smtClean="0">
                <a:solidFill>
                  <a:schemeClr val="bg1"/>
                </a:solidFill>
                <a:latin typeface="Raleway"/>
                <a:cs typeface="Raleway"/>
              </a:rPr>
              <a:t>Guidelines For Conducting a Productive Meeting</a:t>
            </a:r>
            <a:endParaRPr lang="en-US" sz="6400" b="1" dirty="0">
              <a:solidFill>
                <a:schemeClr val="bg1"/>
              </a:solidFill>
              <a:latin typeface="Raleway"/>
              <a:cs typeface="Ralew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7911" y="2418373"/>
            <a:ext cx="3037010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rgbClr val="FFFFFF"/>
                </a:solidFill>
                <a:latin typeface="Georgia" charset="0"/>
                <a:ea typeface="Georgia" charset="0"/>
                <a:cs typeface="Georgia" charset="0"/>
              </a:rPr>
              <a:t>The goal is to establish meeting ground rules for positive interaction that will assist in making </a:t>
            </a:r>
            <a:r>
              <a:rPr lang="en-US" sz="5000" strike="sngStrike" dirty="0">
                <a:solidFill>
                  <a:srgbClr val="FFFFFF"/>
                </a:solidFill>
                <a:latin typeface="Georgia" charset="0"/>
                <a:ea typeface="Georgia" charset="0"/>
                <a:cs typeface="Georgia" charset="0"/>
              </a:rPr>
              <a:t>unanimous </a:t>
            </a:r>
            <a:r>
              <a:rPr lang="en-US" sz="5000" dirty="0">
                <a:solidFill>
                  <a:srgbClr val="FFFFFF"/>
                </a:solidFill>
                <a:latin typeface="Georgia" charset="0"/>
                <a:ea typeface="Georgia" charset="0"/>
                <a:cs typeface="Georgia" charset="0"/>
              </a:rPr>
              <a:t>decisions. </a:t>
            </a:r>
            <a:r>
              <a:rPr lang="en-US" sz="5000" dirty="0" smtClean="0">
                <a:solidFill>
                  <a:srgbClr val="FFFFFF"/>
                </a:solidFill>
                <a:latin typeface="Georgia" charset="0"/>
                <a:ea typeface="Georgia" charset="0"/>
                <a:cs typeface="Georgia" charset="0"/>
              </a:rPr>
              <a:t>The following are guidelines that can </a:t>
            </a:r>
            <a:r>
              <a:rPr lang="en-US" sz="5000" dirty="0">
                <a:solidFill>
                  <a:srgbClr val="FFFFFF"/>
                </a:solidFill>
                <a:latin typeface="Georgia" charset="0"/>
                <a:ea typeface="Georgia" charset="0"/>
                <a:cs typeface="Georgia" charset="0"/>
              </a:rPr>
              <a:t>help to ensure that everyone feels open to contribute during meetings, </a:t>
            </a:r>
            <a:r>
              <a:rPr lang="en-US" sz="5000" dirty="0" smtClean="0">
                <a:solidFill>
                  <a:srgbClr val="FFFFFF"/>
                </a:solidFill>
                <a:latin typeface="Georgia" charset="0"/>
                <a:ea typeface="Georgia" charset="0"/>
                <a:cs typeface="Georgia" charset="0"/>
              </a:rPr>
              <a:t>decisions </a:t>
            </a:r>
            <a:r>
              <a:rPr lang="en-US" sz="5000" dirty="0">
                <a:solidFill>
                  <a:srgbClr val="FFFFFF"/>
                </a:solidFill>
                <a:latin typeface="Georgia" charset="0"/>
                <a:ea typeface="Georgia" charset="0"/>
                <a:cs typeface="Georgia" charset="0"/>
              </a:rPr>
              <a:t>are made in the best interests of SDAL, and </a:t>
            </a:r>
            <a:r>
              <a:rPr lang="en-US" sz="5000" dirty="0" smtClean="0">
                <a:solidFill>
                  <a:srgbClr val="FFFFFF"/>
                </a:solidFill>
                <a:latin typeface="Georgia" charset="0"/>
                <a:ea typeface="Georgia" charset="0"/>
                <a:cs typeface="Georgia" charset="0"/>
              </a:rPr>
              <a:t>all </a:t>
            </a:r>
            <a:r>
              <a:rPr lang="en-US" sz="5000" dirty="0">
                <a:solidFill>
                  <a:srgbClr val="FFFFFF"/>
                </a:solidFill>
                <a:latin typeface="Georgia" charset="0"/>
                <a:ea typeface="Georgia" charset="0"/>
                <a:cs typeface="Georgia" charset="0"/>
              </a:rPr>
              <a:t>attending are treated with respect.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7521" y="9150665"/>
            <a:ext cx="30994282" cy="15075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 smtClean="0">
                <a:latin typeface="Georgia" charset="0"/>
                <a:ea typeface="Georgia" charset="0"/>
                <a:cs typeface="Georgia" charset="0"/>
              </a:rPr>
              <a:t>How </a:t>
            </a:r>
            <a:r>
              <a:rPr lang="en-US" sz="4800" smtClean="0">
                <a:latin typeface="Georgia" charset="0"/>
                <a:ea typeface="Georgia" charset="0"/>
                <a:cs typeface="Georgia" charset="0"/>
              </a:rPr>
              <a:t>To Establish Meeting Rules</a:t>
            </a:r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337910" y="5835062"/>
            <a:ext cx="2020906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 smtClean="0">
                <a:solidFill>
                  <a:srgbClr val="FFFFFF"/>
                </a:solidFill>
                <a:latin typeface="Georgia" charset="0"/>
                <a:ea typeface="Georgia" charset="0"/>
                <a:cs typeface="Georgia" charset="0"/>
              </a:rPr>
              <a:t>Mark Almanza, Maddie Arnsbarger, Jessica Flynn, Millicent Grant, Adrienne Rogers,Will Sandholtz, Emily Stark, and Samantha </a:t>
            </a:r>
            <a:r>
              <a:rPr lang="en-US" sz="5000" dirty="0" smtClean="0">
                <a:solidFill>
                  <a:srgbClr val="FFFFFF"/>
                </a:solidFill>
                <a:latin typeface="Georgia" charset="0"/>
                <a:ea typeface="Georgia" charset="0"/>
                <a:cs typeface="Georgia" charset="0"/>
              </a:rPr>
              <a:t>Tyner</a:t>
            </a:r>
            <a:r>
              <a:rPr lang="en-US" sz="5000" dirty="0" smtClean="0">
                <a:solidFill>
                  <a:srgbClr val="FF0000"/>
                </a:solidFill>
                <a:latin typeface="Georgia" charset="0"/>
                <a:ea typeface="Georgia" charset="0"/>
                <a:cs typeface="Georgia" charset="0"/>
              </a:rPr>
              <a:t>, 2016 Data Science for the Public Good Student Fellows</a:t>
            </a:r>
            <a:endParaRPr lang="en-US" sz="5000" dirty="0">
              <a:solidFill>
                <a:srgbClr val="FF0000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pic>
        <p:nvPicPr>
          <p:cNvPr id="12" name="Picture 11" descr="SDAL_LogoWhite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5486" y="6026675"/>
            <a:ext cx="9817100" cy="3136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02971" y="11404600"/>
            <a:ext cx="2923608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Ask each group member for one rule that s/he thinks is important for conducting productive meetings.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Create a list of these rules so that everyone can see the list.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Repeat step two until everyone is satisfied that the list is complete.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Review the list and make any necessary edits (note: rules can be added to the list to address any new concerns)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Finally, agree as a group to follow the rules to improve the meeting process.</a:t>
            </a:r>
          </a:p>
          <a:p>
            <a:pPr marL="742950" indent="-742950">
              <a:buFont typeface="+mj-lt"/>
              <a:buAutoNum type="arabicPeriod"/>
            </a:pPr>
            <a:endParaRPr lang="en-US" sz="4400" dirty="0">
              <a:latin typeface="Georgia" charset="0"/>
              <a:ea typeface="Georgia" charset="0"/>
              <a:cs typeface="Georgia" charset="0"/>
            </a:endParaRPr>
          </a:p>
          <a:p>
            <a:pPr marL="742950" indent="-742950">
              <a:buFont typeface="+mj-lt"/>
              <a:buAutoNum type="arabicPeriod"/>
            </a:pPr>
            <a:endParaRPr lang="en-US" sz="4400" dirty="0" smtClean="0">
              <a:latin typeface="Georgia" charset="0"/>
              <a:ea typeface="Georgia" charset="0"/>
              <a:cs typeface="Georgia" charset="0"/>
            </a:endParaRPr>
          </a:p>
          <a:p>
            <a:pPr marL="742950" indent="-742950">
              <a:buFont typeface="+mj-lt"/>
              <a:buAutoNum type="arabicPeriod"/>
            </a:pPr>
            <a:endParaRPr lang="en-US" sz="4400" dirty="0">
              <a:latin typeface="Georgia" charset="0"/>
              <a:ea typeface="Georgia" charset="0"/>
              <a:cs typeface="Georgia" charset="0"/>
            </a:endParaRPr>
          </a:p>
          <a:p>
            <a:pPr algn="ctr"/>
            <a:r>
              <a:rPr lang="en-US" sz="4400" b="1" dirty="0" smtClean="0">
                <a:latin typeface="Georgia" charset="0"/>
                <a:ea typeface="Georgia" charset="0"/>
                <a:cs typeface="Georgia" charset="0"/>
              </a:rPr>
              <a:t>The following are the meeting guidelines created by the 2016 Summer SDAL </a:t>
            </a:r>
            <a:r>
              <a:rPr lang="en-US" sz="4400" b="1" dirty="0" smtClean="0">
                <a:solidFill>
                  <a:srgbClr val="FF0000"/>
                </a:solidFill>
                <a:latin typeface="Georgia" charset="0"/>
                <a:ea typeface="Georgia" charset="0"/>
                <a:cs typeface="Georgia" charset="0"/>
              </a:rPr>
              <a:t>DSPG</a:t>
            </a:r>
            <a:r>
              <a:rPr lang="en-US" sz="4400" b="1" dirty="0" smtClean="0">
                <a:latin typeface="Georgia" charset="0"/>
                <a:ea typeface="Georgia" charset="0"/>
                <a:cs typeface="Georgia" charset="0"/>
              </a:rPr>
              <a:t> Student </a:t>
            </a:r>
            <a:r>
              <a:rPr lang="en-US" sz="4400" b="1" dirty="0" smtClean="0">
                <a:latin typeface="Georgia" charset="0"/>
                <a:ea typeface="Georgia" charset="0"/>
                <a:cs typeface="Georgia" charset="0"/>
              </a:rPr>
              <a:t>Fellows.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8830" y="20472399"/>
            <a:ext cx="14430113" cy="19728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 smtClean="0">
                <a:latin typeface="Georgia" charset="0"/>
                <a:ea typeface="Georgia" charset="0"/>
                <a:cs typeface="Georgia" charset="0"/>
              </a:rPr>
              <a:t>Meeting Preparation</a:t>
            </a:r>
          </a:p>
          <a:p>
            <a:pPr marL="571500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Be on time</a:t>
            </a:r>
          </a:p>
          <a:p>
            <a:pPr marL="571500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Come prepared</a:t>
            </a:r>
          </a:p>
          <a:p>
            <a:pPr marL="2766060" lvl="1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Bring proper </a:t>
            </a: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materials </a:t>
            </a:r>
            <a:r>
              <a:rPr lang="en-US" sz="4400" dirty="0" smtClean="0">
                <a:solidFill>
                  <a:srgbClr val="FF0000"/>
                </a:solidFill>
                <a:latin typeface="Georgia" charset="0"/>
                <a:ea typeface="Georgia" charset="0"/>
                <a:cs typeface="Georgia" charset="0"/>
              </a:rPr>
              <a:t>and work you have prepared for the meeting</a:t>
            </a:r>
            <a:endParaRPr lang="en-US" sz="4400" dirty="0" smtClean="0">
              <a:solidFill>
                <a:srgbClr val="FF0000"/>
              </a:solidFill>
              <a:latin typeface="Georgia" charset="0"/>
              <a:ea typeface="Georgia" charset="0"/>
              <a:cs typeface="Georgia" charset="0"/>
            </a:endParaRPr>
          </a:p>
          <a:p>
            <a:pPr marL="2766060" lvl="1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Keep an open mind</a:t>
            </a:r>
          </a:p>
          <a:p>
            <a:pPr marL="2766060" lvl="1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Review agenda</a:t>
            </a:r>
          </a:p>
          <a:p>
            <a:pPr marL="2766060" lvl="1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Prepare to be attentive</a:t>
            </a:r>
          </a:p>
          <a:p>
            <a:pPr marL="571500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Assign Meeting Chair and Scribe</a:t>
            </a:r>
          </a:p>
          <a:p>
            <a:pPr marL="2766060" lvl="1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Meeting Chair</a:t>
            </a:r>
          </a:p>
          <a:p>
            <a:pPr marL="4960620" lvl="2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Presents</a:t>
            </a:r>
          </a:p>
          <a:p>
            <a:pPr marL="4960620" lvl="2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Develops agenda</a:t>
            </a:r>
          </a:p>
          <a:p>
            <a:pPr marL="4960620" lvl="2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Keeps on task</a:t>
            </a:r>
          </a:p>
          <a:p>
            <a:pPr marL="4960620" lvl="2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Addresses meeting members concerns</a:t>
            </a:r>
          </a:p>
          <a:p>
            <a:pPr marL="2766060" lvl="1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Scribe</a:t>
            </a:r>
          </a:p>
          <a:p>
            <a:pPr marL="4960620" lvl="2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Takes notes</a:t>
            </a:r>
          </a:p>
          <a:p>
            <a:pPr marL="4960620" lvl="2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Sends out notes after meeting</a:t>
            </a:r>
          </a:p>
          <a:p>
            <a:r>
              <a:rPr lang="en-US" sz="4400" b="1" u="sng" dirty="0" smtClean="0">
                <a:latin typeface="Georgia" charset="0"/>
                <a:ea typeface="Georgia" charset="0"/>
                <a:cs typeface="Georgia" charset="0"/>
              </a:rPr>
              <a:t>Content of the Meeting</a:t>
            </a:r>
          </a:p>
          <a:p>
            <a:pPr marL="571500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Declare objective at start of the meeting</a:t>
            </a:r>
          </a:p>
          <a:p>
            <a:pPr marL="571500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Respect the agenda</a:t>
            </a:r>
          </a:p>
          <a:p>
            <a:pPr marL="2766060" lvl="1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Avoid arguments and fighting</a:t>
            </a:r>
          </a:p>
          <a:p>
            <a:pPr marL="571500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Reach a consensus</a:t>
            </a:r>
          </a:p>
          <a:p>
            <a:pPr marL="2766060" lvl="1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Expect a degree of compromise</a:t>
            </a:r>
          </a:p>
          <a:p>
            <a:r>
              <a:rPr lang="en-US" sz="4400" b="1" u="sng" dirty="0" smtClean="0">
                <a:latin typeface="Georgia" charset="0"/>
                <a:ea typeface="Georgia" charset="0"/>
                <a:cs typeface="Georgia" charset="0"/>
              </a:rPr>
              <a:t>Meeting Ending and Beyond</a:t>
            </a:r>
          </a:p>
          <a:p>
            <a:pPr marL="571500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Leave meeting with clear sense of next steps</a:t>
            </a:r>
          </a:p>
          <a:p>
            <a:pPr marL="2766060" lvl="1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Who is responsible to do what and by when (include this information in meeting notes)</a:t>
            </a:r>
          </a:p>
          <a:p>
            <a:pPr marL="2766060" lvl="1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Determine next meeting date</a:t>
            </a:r>
            <a:endParaRPr lang="en-US" sz="44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6808944" y="20472399"/>
            <a:ext cx="13714600" cy="95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 smtClean="0">
                <a:latin typeface="Georgia" charset="0"/>
                <a:ea typeface="Georgia" charset="0"/>
                <a:cs typeface="Georgia" charset="0"/>
              </a:rPr>
              <a:t>Actions</a:t>
            </a:r>
          </a:p>
          <a:p>
            <a:pPr marL="571500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Avoid distractions (electronic devices, etc.)</a:t>
            </a:r>
          </a:p>
          <a:p>
            <a:pPr marL="571500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Come to meeting with open mind, ready to understand and compromise</a:t>
            </a:r>
          </a:p>
          <a:p>
            <a:pPr marL="571500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Respect others and their opinions</a:t>
            </a:r>
          </a:p>
          <a:p>
            <a:pPr marL="571500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Listen actively to others</a:t>
            </a:r>
          </a:p>
          <a:p>
            <a:pPr lvl="1"/>
            <a:endParaRPr lang="en-US" sz="4400" dirty="0" smtClean="0">
              <a:latin typeface="Georgia" charset="0"/>
              <a:ea typeface="Georgia" charset="0"/>
              <a:cs typeface="Georgia" charset="0"/>
            </a:endParaRPr>
          </a:p>
          <a:p>
            <a:r>
              <a:rPr lang="en-US" sz="4400" b="1" u="sng" dirty="0" smtClean="0">
                <a:latin typeface="Georgia" charset="0"/>
                <a:ea typeface="Georgia" charset="0"/>
                <a:cs typeface="Georgia" charset="0"/>
              </a:rPr>
              <a:t>Conversation Skills</a:t>
            </a:r>
          </a:p>
          <a:p>
            <a:pPr marL="571500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Give time between thoughts to let others speak</a:t>
            </a:r>
          </a:p>
          <a:p>
            <a:pPr marL="571500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Avoid redundancy when speaking</a:t>
            </a:r>
          </a:p>
          <a:p>
            <a:pPr marL="571500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Avoid talking over people</a:t>
            </a:r>
          </a:p>
          <a:p>
            <a:pPr marL="2766060" lvl="1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Do not interrupt other participants</a:t>
            </a:r>
          </a:p>
          <a:p>
            <a:pPr marL="571500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Speak up when necessary</a:t>
            </a:r>
          </a:p>
          <a:p>
            <a:pPr marL="571500" indent="-571500">
              <a:buFont typeface="Arial" charset="0"/>
              <a:buChar char="•"/>
            </a:pPr>
            <a:r>
              <a:rPr lang="en-US" sz="4400" dirty="0" smtClean="0">
                <a:latin typeface="Georgia" charset="0"/>
                <a:ea typeface="Georgia" charset="0"/>
                <a:cs typeface="Georgia" charset="0"/>
              </a:rPr>
              <a:t>Avoid turning critiques or disagreements to attacks</a:t>
            </a:r>
            <a:endParaRPr lang="en-US" sz="44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37912" y="41220318"/>
            <a:ext cx="2918563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Georgia" charset="0"/>
                <a:ea typeface="Georgia" charset="0"/>
                <a:cs typeface="Georgia" charset="0"/>
              </a:rPr>
              <a:t>Sources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>
                <a:latin typeface="Georgia" charset="0"/>
                <a:ea typeface="Georgia" charset="0"/>
                <a:cs typeface="Georgia" charset="0"/>
              </a:rPr>
              <a:t>Chastain, Ann. “Meeting Guidelines and Ground Rules are Basic Tools for Successful Meetings.” </a:t>
            </a:r>
            <a:r>
              <a:rPr lang="en-US" sz="3600" i="1" dirty="0" smtClean="0">
                <a:latin typeface="Georgia" charset="0"/>
                <a:ea typeface="Georgia" charset="0"/>
                <a:cs typeface="Georgia" charset="0"/>
              </a:rPr>
              <a:t>MSU Extension</a:t>
            </a:r>
            <a:r>
              <a:rPr lang="en-US" sz="3600" dirty="0" smtClean="0">
                <a:latin typeface="Georgia" charset="0"/>
                <a:ea typeface="Georgia" charset="0"/>
                <a:cs typeface="Georgia" charset="0"/>
              </a:rPr>
              <a:t>. </a:t>
            </a:r>
            <a:r>
              <a:rPr lang="en-US" sz="3600" dirty="0" err="1" smtClean="0">
                <a:latin typeface="Georgia" charset="0"/>
                <a:ea typeface="Georgia" charset="0"/>
                <a:cs typeface="Georgia" charset="0"/>
              </a:rPr>
              <a:t>n.p</a:t>
            </a:r>
            <a:r>
              <a:rPr lang="en-US" sz="3600" dirty="0" smtClean="0">
                <a:latin typeface="Georgia" charset="0"/>
                <a:ea typeface="Georgia" charset="0"/>
                <a:cs typeface="Georgia" charset="0"/>
              </a:rPr>
              <a:t>., 18 Oct. 2012. Web.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>
                <a:latin typeface="Georgia" charset="0"/>
                <a:ea typeface="Georgia" charset="0"/>
                <a:cs typeface="Georgia" charset="0"/>
              </a:rPr>
              <a:t> “The Key to Efficient Change.” Leading with GRIT Inspiring Action and Accountability with Generosity, Respect, Integrity, and Truth (2015): 113-30. </a:t>
            </a:r>
            <a:r>
              <a:rPr lang="en-US" sz="3600" i="1" dirty="0" smtClean="0">
                <a:latin typeface="Georgia" charset="0"/>
                <a:ea typeface="Georgia" charset="0"/>
                <a:cs typeface="Georgia" charset="0"/>
              </a:rPr>
              <a:t>Department of Developmental Services</a:t>
            </a:r>
            <a:r>
              <a:rPr lang="en-US" sz="3600" dirty="0" smtClean="0">
                <a:latin typeface="Georgia" charset="0"/>
                <a:ea typeface="Georgia" charset="0"/>
                <a:cs typeface="Georgia" charset="0"/>
              </a:rPr>
              <a:t>. Web.</a:t>
            </a:r>
            <a:endParaRPr lang="en-US" sz="3600" dirty="0">
              <a:latin typeface="Georgia" charset="0"/>
              <a:ea typeface="Georgia" charset="0"/>
              <a:cs typeface="Georgia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1858" y="31304713"/>
            <a:ext cx="13157156" cy="872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8714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2 INSGI Fire_Draft sss" id="{5E7B81A3-2D59-F144-8597-9A9D5B5A7BBE}" vid="{D69DADC8-374C-D046-B251-39D34E732DB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Portraint Oriented Poster SDAL Template</Template>
  <TotalTime>242</TotalTime>
  <Words>453</Words>
  <Application>Microsoft Macintosh PowerPoint</Application>
  <PresentationFormat>Custom</PresentationFormat>
  <Paragraphs>57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Stephanie Shipp</cp:lastModifiedBy>
  <cp:revision>8</cp:revision>
  <dcterms:created xsi:type="dcterms:W3CDTF">2016-07-06T12:32:22Z</dcterms:created>
  <dcterms:modified xsi:type="dcterms:W3CDTF">2016-07-13T12:08:07Z</dcterms:modified>
</cp:coreProperties>
</file>