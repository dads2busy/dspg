
<file path=[Content_Types].xml><?xml version="1.0" encoding="utf-8"?>
<Types xmlns="http://schemas.openxmlformats.org/package/2006/content-types">
  <Default Extension="xml" ContentType="application/xml"/>
  <Default Extension="jpg" ContentType="image/jpeg"/>
  <Default Extension="rels" ContentType="application/vnd.openxmlformats-package.relationships+xml"/>
  <Default Extension="emf" ContentType="image/x-emf"/>
  <Default Extension="vml" ContentType="application/vnd.openxmlformats-officedocument.vmlDrawing"/>
  <Default Extension="docx" ContentType="application/vnd.openxmlformats-officedocument.wordprocessingml.document"/>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8" r:id="rId1"/>
    <p:sldMasterId id="2147483868" r:id="rId2"/>
    <p:sldMasterId id="2147483886" r:id="rId3"/>
    <p:sldMasterId id="2147483897" r:id="rId4"/>
  </p:sldMasterIdLst>
  <p:notesMasterIdLst>
    <p:notesMasterId r:id="rId23"/>
  </p:notesMasterIdLst>
  <p:handoutMasterIdLst>
    <p:handoutMasterId r:id="rId24"/>
  </p:handoutMasterIdLst>
  <p:sldIdLst>
    <p:sldId id="383" r:id="rId5"/>
    <p:sldId id="381" r:id="rId6"/>
    <p:sldId id="391" r:id="rId7"/>
    <p:sldId id="406" r:id="rId8"/>
    <p:sldId id="392" r:id="rId9"/>
    <p:sldId id="394" r:id="rId10"/>
    <p:sldId id="395" r:id="rId11"/>
    <p:sldId id="396" r:id="rId12"/>
    <p:sldId id="397" r:id="rId13"/>
    <p:sldId id="399" r:id="rId14"/>
    <p:sldId id="401" r:id="rId15"/>
    <p:sldId id="402" r:id="rId16"/>
    <p:sldId id="408" r:id="rId17"/>
    <p:sldId id="409" r:id="rId18"/>
    <p:sldId id="404" r:id="rId19"/>
    <p:sldId id="410" r:id="rId20"/>
    <p:sldId id="403" r:id="rId21"/>
    <p:sldId id="407" r:id="rId2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7E01512-87E4-864E-84E8-C98B3C34082A}">
          <p14:sldIdLst>
            <p14:sldId id="383"/>
            <p14:sldId id="381"/>
            <p14:sldId id="391"/>
            <p14:sldId id="406"/>
            <p14:sldId id="392"/>
            <p14:sldId id="394"/>
            <p14:sldId id="395"/>
            <p14:sldId id="396"/>
            <p14:sldId id="397"/>
            <p14:sldId id="399"/>
            <p14:sldId id="401"/>
            <p14:sldId id="402"/>
            <p14:sldId id="408"/>
            <p14:sldId id="409"/>
            <p14:sldId id="404"/>
            <p14:sldId id="410"/>
            <p14:sldId id="403"/>
            <p14:sldId id="407"/>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guide id="3" orient="horz" pos="3239">
          <p15:clr>
            <a:srgbClr val="A4A3A4"/>
          </p15:clr>
        </p15:guide>
        <p15:guide id="4" pos="5430">
          <p15:clr>
            <a:srgbClr val="A4A3A4"/>
          </p15:clr>
        </p15:guide>
        <p15:guide id="5" orient="horz" pos="3042">
          <p15:clr>
            <a:srgbClr val="A4A3A4"/>
          </p15:clr>
        </p15:guide>
        <p15:guide id="6" orient="horz" pos="2589">
          <p15:clr>
            <a:srgbClr val="A4A3A4"/>
          </p15:clr>
        </p15:guide>
        <p15:guide id="7" orient="horz" pos="2384">
          <p15:clr>
            <a:srgbClr val="A4A3A4"/>
          </p15:clr>
        </p15:guide>
        <p15:guide id="8" orient="horz" pos="2302">
          <p15:clr>
            <a:srgbClr val="A4A3A4"/>
          </p15:clr>
        </p15:guide>
        <p15:guide id="9" orient="horz" pos="2679">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FF9300"/>
    <a:srgbClr val="B11831"/>
    <a:srgbClr val="C0504D"/>
    <a:srgbClr val="266001"/>
    <a:srgbClr val="5EAF08"/>
    <a:srgbClr val="1143A8"/>
    <a:srgbClr val="4775A4"/>
    <a:srgbClr val="CB6E22"/>
    <a:srgbClr val="4775A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82" autoAdjust="0"/>
    <p:restoredTop sz="93388" autoAdjust="0"/>
  </p:normalViewPr>
  <p:slideViewPr>
    <p:cSldViewPr snapToObjects="1" showGuides="1">
      <p:cViewPr>
        <p:scale>
          <a:sx n="76" d="100"/>
          <a:sy n="76" d="100"/>
        </p:scale>
        <p:origin x="-96" y="-1024"/>
      </p:cViewPr>
      <p:guideLst>
        <p:guide orient="horz" pos="2160"/>
        <p:guide orient="horz" pos="3239"/>
        <p:guide orient="horz" pos="3042"/>
        <p:guide orient="horz" pos="2589"/>
        <p:guide orient="horz" pos="2384"/>
        <p:guide orient="horz" pos="2302"/>
        <p:guide orient="horz" pos="2679"/>
        <p:guide pos="2880"/>
        <p:guide pos="5430"/>
      </p:guideLst>
    </p:cSldViewPr>
  </p:slideViewPr>
  <p:outlineViewPr>
    <p:cViewPr>
      <p:scale>
        <a:sx n="33" d="100"/>
        <a:sy n="33" d="100"/>
      </p:scale>
      <p:origin x="0" y="9464"/>
    </p:cViewPr>
  </p:outlineViewPr>
  <p:notesTextViewPr>
    <p:cViewPr>
      <p:scale>
        <a:sx n="100" d="100"/>
        <a:sy n="100" d="100"/>
      </p:scale>
      <p:origin x="0" y="0"/>
    </p:cViewPr>
  </p:notesTextViewPr>
  <p:sorterViewPr>
    <p:cViewPr>
      <p:scale>
        <a:sx n="123" d="100"/>
        <a:sy n="123" d="100"/>
      </p:scale>
      <p:origin x="0" y="5168"/>
    </p:cViewPr>
  </p:sorterViewPr>
  <p:notesViewPr>
    <p:cSldViewPr snapToGrid="0" snapToObjects="1">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interSettings" Target="printerSettings/printerSettings1.bin"/><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A44A2BD-BEE2-9641-8A02-F029A714C0BB}" type="datetimeFigureOut">
              <a:rPr lang="en-US" smtClean="0"/>
              <a:t>5/31/16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FFDF689-81F5-4A43-8567-712382D3F54E}" type="slidenum">
              <a:rPr lang="en-US" smtClean="0"/>
              <a:t>‹#›</a:t>
            </a:fld>
            <a:endParaRPr lang="en-US"/>
          </a:p>
        </p:txBody>
      </p:sp>
    </p:spTree>
    <p:extLst>
      <p:ext uri="{BB962C8B-B14F-4D97-AF65-F5344CB8AC3E}">
        <p14:creationId xmlns:p14="http://schemas.microsoft.com/office/powerpoint/2010/main" val="240172085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8A483B-C179-9F4D-8C74-0D42B7E6DCE0}" type="datetimeFigureOut">
              <a:rPr lang="en-US" smtClean="0"/>
              <a:t>5/31/16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2E9DFA-E443-A146-AAB3-1F418BB1A2E6}" type="slidenum">
              <a:rPr lang="en-US" smtClean="0"/>
              <a:t>‹#›</a:t>
            </a:fld>
            <a:endParaRPr lang="en-US"/>
          </a:p>
        </p:txBody>
      </p:sp>
    </p:spTree>
    <p:extLst>
      <p:ext uri="{BB962C8B-B14F-4D97-AF65-F5344CB8AC3E}">
        <p14:creationId xmlns:p14="http://schemas.microsoft.com/office/powerpoint/2010/main" val="210087647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1" Type="http://schemas.openxmlformats.org/officeDocument/2006/relationships/hyperlink" Target="http://www.software.ac.uk/resources/get-speed" TargetMode="External"/><Relationship Id="rId12" Type="http://schemas.openxmlformats.org/officeDocument/2006/relationships/hyperlink" Target="mailto:dbostrom@aamc.org" TargetMode="External"/><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www.gecon-conference.org/gecon2015" TargetMode="External"/><Relationship Id="rId4" Type="http://schemas.openxmlformats.org/officeDocument/2006/relationships/hyperlink" Target="mailto:d.katz@ieee.org" TargetMode="External"/><Relationship Id="rId5" Type="http://schemas.openxmlformats.org/officeDocument/2006/relationships/hyperlink" Target="mailto:dsk@ci.uchicago.edu" TargetMode="External"/><Relationship Id="rId6" Type="http://schemas.openxmlformats.org/officeDocument/2006/relationships/hyperlink" Target="http://www.ci.uchicago.edu/~dsk/" TargetMode="External"/><Relationship Id="rId7" Type="http://schemas.openxmlformats.org/officeDocument/2006/relationships/hyperlink" Target="http://oss-watch.ac.uk/studies/survey2013/ict_policy_and_procurement_practice" TargetMode="External"/><Relationship Id="rId8" Type="http://schemas.openxmlformats.org/officeDocument/2006/relationships/hyperlink" Target="mailto:jhowison@ischool.utexas.edu" TargetMode="External"/><Relationship Id="rId9" Type="http://schemas.openxmlformats.org/officeDocument/2006/relationships/hyperlink" Target="http://james.howison.name/pubs/HowisonInfrastructureTransitions-in-progress.pdf" TargetMode="External"/><Relationship Id="rId10" Type="http://schemas.openxmlformats.org/officeDocument/2006/relationships/hyperlink" Target="http://oss-watch.ac.uk/"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dirty="0" smtClean="0"/>
              <a:t>In OECD’s </a:t>
            </a:r>
            <a:r>
              <a:rPr lang="en-US" sz="1200" i="1" dirty="0" smtClean="0"/>
              <a:t>Oslo Manual</a:t>
            </a:r>
            <a:r>
              <a:rPr lang="en-US" sz="1200" dirty="0" smtClean="0"/>
              <a:t>, which provides guidelines for collecting and interpreting innovation data, innovation is defined as the implementation of products or production and delivery processes with new or significantly improved characteristics. The third edition of the </a:t>
            </a:r>
            <a:r>
              <a:rPr lang="en-US" sz="1200" i="1" dirty="0" smtClean="0"/>
              <a:t>Oslo Manual </a:t>
            </a:r>
            <a:r>
              <a:rPr lang="en-US" sz="1200" dirty="0" smtClean="0"/>
              <a:t>extends the definition to include new organizational methods in business practices, workplace organization, or external relations (OECD 2005).</a:t>
            </a:r>
          </a:p>
          <a:p>
            <a:r>
              <a:rPr lang="en-US" sz="1200" dirty="0" smtClean="0"/>
              <a:t> </a:t>
            </a:r>
          </a:p>
          <a:p>
            <a:pPr lvl="0"/>
            <a:r>
              <a:rPr lang="en-US" sz="1200" dirty="0" smtClean="0"/>
              <a:t>DOC defines innovation as the design, development, and implementation of new or altered products, services, processes, organizational structures, and business models to create value for the customer and financial returns for the firm practicing innovation (DOC 2008).</a:t>
            </a:r>
            <a:endParaRPr lang="en-US" sz="1200" dirty="0"/>
          </a:p>
        </p:txBody>
      </p:sp>
      <p:sp>
        <p:nvSpPr>
          <p:cNvPr id="4" name="Slide Number Placeholder 3"/>
          <p:cNvSpPr>
            <a:spLocks noGrp="1"/>
          </p:cNvSpPr>
          <p:nvPr>
            <p:ph type="sldNum" sz="quarter" idx="10"/>
          </p:nvPr>
        </p:nvSpPr>
        <p:spPr/>
        <p:txBody>
          <a:bodyPr/>
          <a:lstStyle/>
          <a:p>
            <a:fld id="{242E9DFA-E443-A146-AAB3-1F418BB1A2E6}" type="slidenum">
              <a:rPr lang="en-US" smtClean="0"/>
              <a:t>2</a:t>
            </a:fld>
            <a:endParaRPr lang="en-US"/>
          </a:p>
        </p:txBody>
      </p:sp>
    </p:spTree>
    <p:extLst>
      <p:ext uri="{BB962C8B-B14F-4D97-AF65-F5344CB8AC3E}">
        <p14:creationId xmlns:p14="http://schemas.microsoft.com/office/powerpoint/2010/main" val="1830907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Innovation is driven by a firm’s (or any entity’s) investment in tangible capital (such as computer networks) or intangible capital (such as organizational structure or human capital/training). These innovative activities could lead to tangible outputs (e.g., new or improved products or processes) or intangible ones (e.g., more experienced employees, who are more likely to engage in future innovations).</a:t>
            </a:r>
          </a:p>
          <a:p>
            <a:endParaRPr lang="en-US" dirty="0"/>
          </a:p>
        </p:txBody>
      </p:sp>
      <p:sp>
        <p:nvSpPr>
          <p:cNvPr id="4" name="Slide Number Placeholder 3"/>
          <p:cNvSpPr>
            <a:spLocks noGrp="1"/>
          </p:cNvSpPr>
          <p:nvPr>
            <p:ph type="sldNum" sz="quarter" idx="10"/>
          </p:nvPr>
        </p:nvSpPr>
        <p:spPr/>
        <p:txBody>
          <a:bodyPr/>
          <a:lstStyle/>
          <a:p>
            <a:fld id="{242E9DFA-E443-A146-AAB3-1F418BB1A2E6}" type="slidenum">
              <a:rPr lang="en-US" smtClean="0"/>
              <a:t>4</a:t>
            </a:fld>
            <a:endParaRPr lang="en-US"/>
          </a:p>
        </p:txBody>
      </p:sp>
    </p:spTree>
    <p:extLst>
      <p:ext uri="{BB962C8B-B14F-4D97-AF65-F5344CB8AC3E}">
        <p14:creationId xmlns:p14="http://schemas.microsoft.com/office/powerpoint/2010/main" val="3107316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Data visualization/emerging trends – network theory (EM)</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Amateur innovation (crowd sourcing/</a:t>
            </a:r>
            <a:r>
              <a:rPr lang="en-US" sz="1200" kern="1200" dirty="0" err="1" smtClean="0">
                <a:solidFill>
                  <a:schemeClr val="tx1"/>
                </a:solidFill>
                <a:effectLst/>
                <a:latin typeface="+mn-lt"/>
                <a:ea typeface="+mn-ea"/>
                <a:cs typeface="+mn-cs"/>
              </a:rPr>
              <a:t>crowdfunding</a:t>
            </a:r>
            <a:r>
              <a:rPr lang="en-US" sz="1200" kern="1200" dirty="0" smtClean="0">
                <a:solidFill>
                  <a:schemeClr val="tx1"/>
                </a:solidFill>
                <a:effectLst/>
                <a:latin typeface="+mn-lt"/>
                <a:ea typeface="+mn-ea"/>
                <a:cs typeface="+mn-cs"/>
              </a:rPr>
              <a:t>) – (EM/JG)</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R&amp;D collaboration across firms – collaboration networks (private versus social welfare/benefits) (GK)</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Non-traditional S&amp;T Workforce (EM/KZ) – online courses; LinkedIn; etc. </a:t>
            </a:r>
          </a:p>
          <a:p>
            <a:pPr lvl="0"/>
            <a:r>
              <a:rPr lang="en-US" sz="1200" kern="1200" dirty="0" smtClean="0">
                <a:solidFill>
                  <a:schemeClr val="tx1"/>
                </a:solidFill>
                <a:effectLst/>
                <a:latin typeface="+mn-lt"/>
                <a:ea typeface="+mn-ea"/>
                <a:cs typeface="+mn-cs"/>
              </a:rPr>
              <a:t>Suppose you could follow data for a sample of individuals to answer these questions? (contract for a sample of data)</a:t>
            </a:r>
          </a:p>
          <a:p>
            <a:pPr lvl="0"/>
            <a:r>
              <a:rPr lang="en-US" sz="1200" kern="1200" dirty="0" smtClean="0">
                <a:solidFill>
                  <a:schemeClr val="tx1"/>
                </a:solidFill>
                <a:effectLst/>
                <a:latin typeface="+mn-lt"/>
                <a:ea typeface="+mn-ea"/>
                <a:cs typeface="+mn-cs"/>
              </a:rPr>
              <a:t>Tying innovation to education – what are educational pathways to innovation?</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What kinds of entrepreneurial businesses are created? LLC? Other? (KZ)</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How do you track innovation in elementary and high school? How is innovation taught?  (MO)</a:t>
            </a:r>
          </a:p>
          <a:p>
            <a:r>
              <a:rPr lang="en-US" sz="1200" kern="1200" dirty="0" smtClean="0">
                <a:solidFill>
                  <a:schemeClr val="tx1"/>
                </a:solidFill>
                <a:effectLst/>
                <a:latin typeface="+mn-lt"/>
                <a:ea typeface="+mn-ea"/>
                <a:cs typeface="+mn-cs"/>
              </a:rPr>
              <a:t>DEKA – Dean </a:t>
            </a:r>
            <a:r>
              <a:rPr lang="en-US" sz="1200" kern="1200" dirty="0" err="1" smtClean="0">
                <a:solidFill>
                  <a:schemeClr val="tx1"/>
                </a:solidFill>
                <a:effectLst/>
                <a:latin typeface="+mn-lt"/>
                <a:ea typeface="+mn-ea"/>
                <a:cs typeface="+mn-cs"/>
              </a:rPr>
              <a:t>Kamen</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Data on university incubators (National </a:t>
            </a:r>
            <a:r>
              <a:rPr lang="en-US" sz="1200" kern="1200" dirty="0" err="1" smtClean="0">
                <a:solidFill>
                  <a:schemeClr val="tx1"/>
                </a:solidFill>
                <a:effectLst/>
                <a:latin typeface="+mn-lt"/>
                <a:ea typeface="+mn-ea"/>
                <a:cs typeface="+mn-cs"/>
              </a:rPr>
              <a:t>Assns</a:t>
            </a:r>
            <a:r>
              <a:rPr lang="en-US" sz="1200" kern="1200" dirty="0" smtClean="0">
                <a:solidFill>
                  <a:schemeClr val="tx1"/>
                </a:solidFill>
                <a:effectLst/>
                <a:latin typeface="+mn-lt"/>
                <a:ea typeface="+mn-ea"/>
                <a:cs typeface="+mn-cs"/>
              </a:rPr>
              <a:t> to gather data; </a:t>
            </a:r>
            <a:r>
              <a:rPr lang="en-US" sz="1200" kern="1200" dirty="0" err="1" smtClean="0">
                <a:solidFill>
                  <a:schemeClr val="tx1"/>
                </a:solidFill>
                <a:effectLst/>
                <a:latin typeface="+mn-lt"/>
                <a:ea typeface="+mn-ea"/>
                <a:cs typeface="+mn-cs"/>
              </a:rPr>
              <a:t>Crunchbase</a:t>
            </a:r>
            <a:r>
              <a:rPr lang="en-US" sz="1200" kern="1200" dirty="0" smtClean="0">
                <a:solidFill>
                  <a:schemeClr val="tx1"/>
                </a:solidFill>
                <a:effectLst/>
                <a:latin typeface="+mn-lt"/>
                <a:ea typeface="+mn-ea"/>
                <a:cs typeface="+mn-cs"/>
              </a:rPr>
              <a:t>; ) (VL)</a:t>
            </a:r>
          </a:p>
          <a:p>
            <a:pPr lvl="0"/>
            <a:r>
              <a:rPr lang="en-US" sz="1200" kern="1200" dirty="0" smtClean="0">
                <a:solidFill>
                  <a:schemeClr val="tx1"/>
                </a:solidFill>
                <a:effectLst/>
                <a:latin typeface="+mn-lt"/>
                <a:ea typeface="+mn-ea"/>
                <a:cs typeface="+mn-cs"/>
              </a:rPr>
              <a:t>Peter Thiel – 2 year $100K  to drop out of school and work on S&amp;T areas</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Track S&amp;T competitions, business plan competitions, celebrity entrepreneurs (VL)</a:t>
            </a:r>
          </a:p>
          <a:p>
            <a:pPr lvl="0"/>
            <a:r>
              <a:rPr lang="en-US" sz="1200" kern="1200" dirty="0" smtClean="0">
                <a:solidFill>
                  <a:schemeClr val="tx1"/>
                </a:solidFill>
                <a:effectLst/>
                <a:latin typeface="+mn-lt"/>
                <a:ea typeface="+mn-ea"/>
                <a:cs typeface="+mn-cs"/>
              </a:rPr>
              <a:t>UK NESTA - UK documents their trends</a:t>
            </a:r>
          </a:p>
          <a:p>
            <a:pPr lvl="0"/>
            <a:r>
              <a:rPr lang="en-US" sz="1200" kern="1200" dirty="0" smtClean="0">
                <a:solidFill>
                  <a:schemeClr val="tx1"/>
                </a:solidFill>
                <a:effectLst/>
                <a:latin typeface="+mn-lt"/>
                <a:ea typeface="+mn-ea"/>
                <a:cs typeface="+mn-cs"/>
              </a:rPr>
              <a:t>Alternative finance – </a:t>
            </a:r>
            <a:r>
              <a:rPr lang="en-US" sz="1200" kern="1200" dirty="0" err="1" smtClean="0">
                <a:solidFill>
                  <a:schemeClr val="tx1"/>
                </a:solidFill>
                <a:effectLst/>
                <a:latin typeface="+mn-lt"/>
                <a:ea typeface="+mn-ea"/>
                <a:cs typeface="+mn-cs"/>
              </a:rPr>
              <a:t>crowdfunding</a:t>
            </a:r>
            <a:endParaRPr lang="en-US" sz="1200" kern="1200" dirty="0" smtClean="0">
              <a:solidFill>
                <a:schemeClr val="tx1"/>
              </a:solidFill>
              <a:effectLst/>
              <a:latin typeface="+mn-lt"/>
              <a:ea typeface="+mn-ea"/>
              <a:cs typeface="+mn-cs"/>
            </a:endParaRPr>
          </a:p>
          <a:p>
            <a:pPr lvl="0"/>
            <a:r>
              <a:rPr lang="en-US" sz="1200" kern="1200" dirty="0" smtClean="0">
                <a:solidFill>
                  <a:schemeClr val="tx1"/>
                </a:solidFill>
                <a:effectLst/>
                <a:latin typeface="+mn-lt"/>
                <a:ea typeface="+mn-ea"/>
                <a:cs typeface="+mn-cs"/>
              </a:rPr>
              <a:t>Financing for women – are they seeking funding in new ways?</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Ways people to get money to innovate –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Are there Foundations funding innovation?  There appears to be a growing amount of this funding to support R&amp;D. There is a lot of young wealth (Arnold Foundation) and old wealth (RWJF)</a:t>
            </a:r>
          </a:p>
          <a:p>
            <a:r>
              <a:rPr lang="en-US" sz="1200" kern="1200" dirty="0" smtClean="0">
                <a:solidFill>
                  <a:schemeClr val="tx1"/>
                </a:solidFill>
                <a:effectLst/>
                <a:latin typeface="+mn-lt"/>
                <a:ea typeface="+mn-ea"/>
                <a:cs typeface="+mn-cs"/>
              </a:rPr>
              <a:t>Social innovation –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Open Source Software and Data – see notes</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Scientific repositories – does this lead to more R&amp;D and innovation?</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DOD categorizes research as 6.1 to 6.9 – how to look at the data for categorizing? </a:t>
            </a:r>
          </a:p>
          <a:p>
            <a:r>
              <a:rPr lang="en-US" sz="1200" kern="1200" dirty="0" smtClean="0">
                <a:solidFill>
                  <a:schemeClr val="tx1"/>
                </a:solidFill>
                <a:effectLst/>
                <a:latin typeface="+mn-lt"/>
                <a:ea typeface="+mn-ea"/>
                <a:cs typeface="+mn-cs"/>
              </a:rPr>
              <a:t>(Also TRL1 system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How does the internet change innovation? Internet world – how to measure innovation? e.g. Measure clicks? Web metrics? Apps innovation?</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Types of government funding of innovation supporting …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MIT Top 100 and other categorizations of emerging trends ….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Public Health Innovation – trickle down exacerbates disparities – what is the outcome? e.g. does it change obesity?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Psychology – defining originality and creativity? </a:t>
            </a:r>
          </a:p>
          <a:p>
            <a:endParaRPr lang="en-US" dirty="0"/>
          </a:p>
        </p:txBody>
      </p:sp>
      <p:sp>
        <p:nvSpPr>
          <p:cNvPr id="4" name="Slide Number Placeholder 3"/>
          <p:cNvSpPr>
            <a:spLocks noGrp="1"/>
          </p:cNvSpPr>
          <p:nvPr>
            <p:ph type="sldNum" sz="quarter" idx="10"/>
          </p:nvPr>
        </p:nvSpPr>
        <p:spPr/>
        <p:txBody>
          <a:bodyPr/>
          <a:lstStyle/>
          <a:p>
            <a:fld id="{242E9DFA-E443-A146-AAB3-1F418BB1A2E6}" type="slidenum">
              <a:rPr lang="en-US" smtClean="0"/>
              <a:t>11</a:t>
            </a:fld>
            <a:endParaRPr lang="en-US"/>
          </a:p>
        </p:txBody>
      </p:sp>
    </p:spTree>
    <p:extLst>
      <p:ext uri="{BB962C8B-B14F-4D97-AF65-F5344CB8AC3E}">
        <p14:creationId xmlns:p14="http://schemas.microsoft.com/office/powerpoint/2010/main" val="2802255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Data visualization/emerging trends – network theory (EM)</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Amateur innovation (crowd sourcing/</a:t>
            </a:r>
            <a:r>
              <a:rPr lang="en-US" sz="1200" kern="1200" dirty="0" err="1" smtClean="0">
                <a:solidFill>
                  <a:schemeClr val="tx1"/>
                </a:solidFill>
                <a:effectLst/>
                <a:latin typeface="+mn-lt"/>
                <a:ea typeface="+mn-ea"/>
                <a:cs typeface="+mn-cs"/>
              </a:rPr>
              <a:t>crowdfunding</a:t>
            </a:r>
            <a:r>
              <a:rPr lang="en-US" sz="1200" kern="1200" dirty="0" smtClean="0">
                <a:solidFill>
                  <a:schemeClr val="tx1"/>
                </a:solidFill>
                <a:effectLst/>
                <a:latin typeface="+mn-lt"/>
                <a:ea typeface="+mn-ea"/>
                <a:cs typeface="+mn-cs"/>
              </a:rPr>
              <a:t>) – (EM/JG)</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R&amp;D collaboration across firms – collaboration networks (private versus social welfare/benefits) (GK)</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Non-traditional S&amp;T Workforce (EM/KZ) – online courses; LinkedIn; etc. </a:t>
            </a:r>
          </a:p>
          <a:p>
            <a:pPr lvl="0"/>
            <a:r>
              <a:rPr lang="en-US" sz="1200" kern="1200" dirty="0" smtClean="0">
                <a:solidFill>
                  <a:schemeClr val="tx1"/>
                </a:solidFill>
                <a:effectLst/>
                <a:latin typeface="+mn-lt"/>
                <a:ea typeface="+mn-ea"/>
                <a:cs typeface="+mn-cs"/>
              </a:rPr>
              <a:t>Suppose you could follow data for a sample of individuals to answer these questions? (contract for a sample of data)</a:t>
            </a:r>
          </a:p>
          <a:p>
            <a:pPr lvl="0"/>
            <a:r>
              <a:rPr lang="en-US" sz="1200" kern="1200" dirty="0" smtClean="0">
                <a:solidFill>
                  <a:schemeClr val="tx1"/>
                </a:solidFill>
                <a:effectLst/>
                <a:latin typeface="+mn-lt"/>
                <a:ea typeface="+mn-ea"/>
                <a:cs typeface="+mn-cs"/>
              </a:rPr>
              <a:t>Tying innovation to education – what are educational pathways to innovation?</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What kinds of entrepreneurial businesses are created? LLC? Other? (KZ)</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How do you track innovation in elementary and high school? How is innovation taught?  (MO)</a:t>
            </a:r>
          </a:p>
          <a:p>
            <a:r>
              <a:rPr lang="en-US" sz="1200" kern="1200" dirty="0" smtClean="0">
                <a:solidFill>
                  <a:schemeClr val="tx1"/>
                </a:solidFill>
                <a:effectLst/>
                <a:latin typeface="+mn-lt"/>
                <a:ea typeface="+mn-ea"/>
                <a:cs typeface="+mn-cs"/>
              </a:rPr>
              <a:t>DEKA – Dean </a:t>
            </a:r>
            <a:r>
              <a:rPr lang="en-US" sz="1200" kern="1200" dirty="0" err="1" smtClean="0">
                <a:solidFill>
                  <a:schemeClr val="tx1"/>
                </a:solidFill>
                <a:effectLst/>
                <a:latin typeface="+mn-lt"/>
                <a:ea typeface="+mn-ea"/>
                <a:cs typeface="+mn-cs"/>
              </a:rPr>
              <a:t>Kamen</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Data on university incubators (National </a:t>
            </a:r>
            <a:r>
              <a:rPr lang="en-US" sz="1200" kern="1200" dirty="0" err="1" smtClean="0">
                <a:solidFill>
                  <a:schemeClr val="tx1"/>
                </a:solidFill>
                <a:effectLst/>
                <a:latin typeface="+mn-lt"/>
                <a:ea typeface="+mn-ea"/>
                <a:cs typeface="+mn-cs"/>
              </a:rPr>
              <a:t>Assns</a:t>
            </a:r>
            <a:r>
              <a:rPr lang="en-US" sz="1200" kern="1200" dirty="0" smtClean="0">
                <a:solidFill>
                  <a:schemeClr val="tx1"/>
                </a:solidFill>
                <a:effectLst/>
                <a:latin typeface="+mn-lt"/>
                <a:ea typeface="+mn-ea"/>
                <a:cs typeface="+mn-cs"/>
              </a:rPr>
              <a:t> to gather data; </a:t>
            </a:r>
            <a:r>
              <a:rPr lang="en-US" sz="1200" kern="1200" dirty="0" err="1" smtClean="0">
                <a:solidFill>
                  <a:schemeClr val="tx1"/>
                </a:solidFill>
                <a:effectLst/>
                <a:latin typeface="+mn-lt"/>
                <a:ea typeface="+mn-ea"/>
                <a:cs typeface="+mn-cs"/>
              </a:rPr>
              <a:t>Crunchbase</a:t>
            </a:r>
            <a:r>
              <a:rPr lang="en-US" sz="1200" kern="1200" dirty="0" smtClean="0">
                <a:solidFill>
                  <a:schemeClr val="tx1"/>
                </a:solidFill>
                <a:effectLst/>
                <a:latin typeface="+mn-lt"/>
                <a:ea typeface="+mn-ea"/>
                <a:cs typeface="+mn-cs"/>
              </a:rPr>
              <a:t>; ) (VL)</a:t>
            </a:r>
          </a:p>
          <a:p>
            <a:pPr lvl="0"/>
            <a:r>
              <a:rPr lang="en-US" sz="1200" kern="1200" dirty="0" smtClean="0">
                <a:solidFill>
                  <a:schemeClr val="tx1"/>
                </a:solidFill>
                <a:effectLst/>
                <a:latin typeface="+mn-lt"/>
                <a:ea typeface="+mn-ea"/>
                <a:cs typeface="+mn-cs"/>
              </a:rPr>
              <a:t>Peter Thiel – 2 year $100K  to drop out of school and work on S&amp;T areas</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Track S&amp;T competitions, business plan competitions, celebrity entrepreneurs (VL)</a:t>
            </a:r>
          </a:p>
          <a:p>
            <a:pPr lvl="0"/>
            <a:r>
              <a:rPr lang="en-US" sz="1200" kern="1200" dirty="0" smtClean="0">
                <a:solidFill>
                  <a:schemeClr val="tx1"/>
                </a:solidFill>
                <a:effectLst/>
                <a:latin typeface="+mn-lt"/>
                <a:ea typeface="+mn-ea"/>
                <a:cs typeface="+mn-cs"/>
              </a:rPr>
              <a:t>UK NESTA - UK documents their trends</a:t>
            </a:r>
          </a:p>
          <a:p>
            <a:pPr lvl="0"/>
            <a:r>
              <a:rPr lang="en-US" sz="1200" kern="1200" dirty="0" smtClean="0">
                <a:solidFill>
                  <a:schemeClr val="tx1"/>
                </a:solidFill>
                <a:effectLst/>
                <a:latin typeface="+mn-lt"/>
                <a:ea typeface="+mn-ea"/>
                <a:cs typeface="+mn-cs"/>
              </a:rPr>
              <a:t>Alternative finance – </a:t>
            </a:r>
            <a:r>
              <a:rPr lang="en-US" sz="1200" kern="1200" dirty="0" err="1" smtClean="0">
                <a:solidFill>
                  <a:schemeClr val="tx1"/>
                </a:solidFill>
                <a:effectLst/>
                <a:latin typeface="+mn-lt"/>
                <a:ea typeface="+mn-ea"/>
                <a:cs typeface="+mn-cs"/>
              </a:rPr>
              <a:t>crowdfunding</a:t>
            </a:r>
            <a:endParaRPr lang="en-US" sz="1200" kern="1200" dirty="0" smtClean="0">
              <a:solidFill>
                <a:schemeClr val="tx1"/>
              </a:solidFill>
              <a:effectLst/>
              <a:latin typeface="+mn-lt"/>
              <a:ea typeface="+mn-ea"/>
              <a:cs typeface="+mn-cs"/>
            </a:endParaRPr>
          </a:p>
          <a:p>
            <a:pPr lvl="0"/>
            <a:r>
              <a:rPr lang="en-US" sz="1200" kern="1200" dirty="0" smtClean="0">
                <a:solidFill>
                  <a:schemeClr val="tx1"/>
                </a:solidFill>
                <a:effectLst/>
                <a:latin typeface="+mn-lt"/>
                <a:ea typeface="+mn-ea"/>
                <a:cs typeface="+mn-cs"/>
              </a:rPr>
              <a:t>Financing for women – are they seeking funding in new ways?</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Ways people to get money to innovate –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Are there Foundations funding innovation?  There appears to be a growing amount of this funding to support R&amp;D. There is a lot of young wealth (Arnold Foundation) and old wealth (RWJF)</a:t>
            </a:r>
          </a:p>
          <a:p>
            <a:r>
              <a:rPr lang="en-US" sz="1200" kern="1200" dirty="0" smtClean="0">
                <a:solidFill>
                  <a:schemeClr val="tx1"/>
                </a:solidFill>
                <a:effectLst/>
                <a:latin typeface="+mn-lt"/>
                <a:ea typeface="+mn-ea"/>
                <a:cs typeface="+mn-cs"/>
              </a:rPr>
              <a:t>Social innovation –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Open Source Software and Data – see notes</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Scientific repositories – does this lead to more R&amp;D and innovation?</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DOD categorizes research as 6.1 to 6.9 – how to look at the data for categorizing? </a:t>
            </a:r>
          </a:p>
          <a:p>
            <a:r>
              <a:rPr lang="en-US" sz="1200" kern="1200" dirty="0" smtClean="0">
                <a:solidFill>
                  <a:schemeClr val="tx1"/>
                </a:solidFill>
                <a:effectLst/>
                <a:latin typeface="+mn-lt"/>
                <a:ea typeface="+mn-ea"/>
                <a:cs typeface="+mn-cs"/>
              </a:rPr>
              <a:t>(Also TRL1 system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How does the internet change innovation? Internet world – how to measure innovation? e.g. Measure clicks? Web metrics? Apps innovation?</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Types of government funding of innovation supporting …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MIT Top 100 and other categorizations of emerging trends ….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Public Health Innovation – trickle down exacerbates disparities – what is the outcome? e.g. does it change obesity?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Psychology – defining originality and creativity? </a:t>
            </a:r>
          </a:p>
          <a:p>
            <a:endParaRPr lang="en-US" dirty="0"/>
          </a:p>
        </p:txBody>
      </p:sp>
      <p:sp>
        <p:nvSpPr>
          <p:cNvPr id="4" name="Slide Number Placeholder 3"/>
          <p:cNvSpPr>
            <a:spLocks noGrp="1"/>
          </p:cNvSpPr>
          <p:nvPr>
            <p:ph type="sldNum" sz="quarter" idx="10"/>
          </p:nvPr>
        </p:nvSpPr>
        <p:spPr/>
        <p:txBody>
          <a:bodyPr/>
          <a:lstStyle/>
          <a:p>
            <a:fld id="{242E9DFA-E443-A146-AAB3-1F418BB1A2E6}" type="slidenum">
              <a:rPr lang="en-US" smtClean="0"/>
              <a:t>12</a:t>
            </a:fld>
            <a:endParaRPr lang="en-US"/>
          </a:p>
        </p:txBody>
      </p:sp>
    </p:spTree>
    <p:extLst>
      <p:ext uri="{BB962C8B-B14F-4D97-AF65-F5344CB8AC3E}">
        <p14:creationId xmlns:p14="http://schemas.microsoft.com/office/powerpoint/2010/main" val="28022558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u="sng" kern="1200" dirty="0" smtClean="0">
                <a:solidFill>
                  <a:schemeClr val="tx1"/>
                </a:solidFill>
                <a:latin typeface="+mn-lt"/>
                <a:ea typeface="+mn-ea"/>
                <a:cs typeface="+mn-cs"/>
              </a:rPr>
              <a:t>http://</a:t>
            </a:r>
            <a:r>
              <a:rPr lang="en-US" sz="1200" u="sng" kern="1200" dirty="0" err="1" smtClean="0">
                <a:solidFill>
                  <a:schemeClr val="tx1"/>
                </a:solidFill>
                <a:latin typeface="+mn-lt"/>
                <a:ea typeface="+mn-ea"/>
                <a:cs typeface="+mn-cs"/>
              </a:rPr>
              <a:t>www.insidephilanthropy.com</a:t>
            </a:r>
            <a:r>
              <a:rPr lang="en-US" sz="1200" u="sng" kern="1200" dirty="0" smtClean="0">
                <a:solidFill>
                  <a:schemeClr val="tx1"/>
                </a:solidFill>
                <a:latin typeface="+mn-lt"/>
                <a:ea typeface="+mn-ea"/>
                <a:cs typeface="+mn-cs"/>
              </a:rPr>
              <a:t>/home/2016/3/10/meet-the-50-most-powerful-women-in-us-philanthropy.html</a:t>
            </a:r>
            <a:endParaRPr lang="en-US" dirty="0"/>
          </a:p>
        </p:txBody>
      </p:sp>
      <p:sp>
        <p:nvSpPr>
          <p:cNvPr id="4" name="Slide Number Placeholder 3"/>
          <p:cNvSpPr>
            <a:spLocks noGrp="1"/>
          </p:cNvSpPr>
          <p:nvPr>
            <p:ph type="sldNum" sz="quarter" idx="10"/>
          </p:nvPr>
        </p:nvSpPr>
        <p:spPr/>
        <p:txBody>
          <a:bodyPr/>
          <a:lstStyle/>
          <a:p>
            <a:fld id="{242E9DFA-E443-A146-AAB3-1F418BB1A2E6}" type="slidenum">
              <a:rPr lang="en-US" smtClean="0"/>
              <a:t>13</a:t>
            </a:fld>
            <a:endParaRPr lang="en-US"/>
          </a:p>
        </p:txBody>
      </p:sp>
    </p:spTree>
    <p:extLst>
      <p:ext uri="{BB962C8B-B14F-4D97-AF65-F5344CB8AC3E}">
        <p14:creationId xmlns:p14="http://schemas.microsoft.com/office/powerpoint/2010/main" val="960363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See </a:t>
            </a:r>
            <a:r>
              <a:rPr lang="en-US" sz="1200" kern="1200" dirty="0" err="1" smtClean="0">
                <a:solidFill>
                  <a:schemeClr val="tx1"/>
                </a:solidFill>
                <a:latin typeface="+mn-lt"/>
                <a:ea typeface="+mn-ea"/>
                <a:cs typeface="+mn-cs"/>
              </a:rPr>
              <a:t>SciSIP</a:t>
            </a:r>
            <a:r>
              <a:rPr lang="en-US" sz="1200" kern="1200" dirty="0" smtClean="0">
                <a:solidFill>
                  <a:schemeClr val="tx1"/>
                </a:solidFill>
                <a:latin typeface="+mn-lt"/>
                <a:ea typeface="+mn-ea"/>
                <a:cs typeface="+mn-cs"/>
              </a:rPr>
              <a:t> emails from April 2015</a:t>
            </a:r>
          </a:p>
          <a:p>
            <a:r>
              <a:rPr lang="en-US" sz="1200" kern="1200" dirty="0" smtClean="0">
                <a:solidFill>
                  <a:schemeClr val="tx1"/>
                </a:solidFill>
                <a:latin typeface="+mn-lt"/>
                <a:ea typeface="+mn-ea"/>
                <a:cs typeface="+mn-cs"/>
              </a:rPr>
              <a:t>Neil </a:t>
            </a:r>
            <a:r>
              <a:rPr lang="en-US" sz="1200" kern="1200" dirty="0" err="1" smtClean="0">
                <a:solidFill>
                  <a:schemeClr val="tx1"/>
                </a:solidFill>
                <a:latin typeface="+mn-lt"/>
                <a:ea typeface="+mn-ea"/>
                <a:cs typeface="+mn-cs"/>
              </a:rPr>
              <a:t>Chue</a:t>
            </a:r>
            <a:r>
              <a:rPr lang="en-US" sz="1200" kern="1200" dirty="0" smtClean="0">
                <a:solidFill>
                  <a:schemeClr val="tx1"/>
                </a:solidFill>
                <a:latin typeface="+mn-lt"/>
                <a:ea typeface="+mn-ea"/>
                <a:cs typeface="+mn-cs"/>
              </a:rPr>
              <a:t> Hong (U. Edinburgh &amp; Software Sustainability Institute) and I are the track chairs for the Economics of Software &amp; Services Track in the 12th International Conference on Economics of Grids, Clouds, Systems and Services (GECON 2015) - </a:t>
            </a:r>
            <a:r>
              <a:rPr lang="en-US" sz="1200" u="sng" kern="1200" dirty="0" smtClean="0">
                <a:solidFill>
                  <a:schemeClr val="tx1"/>
                </a:solidFill>
                <a:latin typeface="+mn-lt"/>
                <a:ea typeface="+mn-ea"/>
                <a:cs typeface="+mn-cs"/>
                <a:hlinkClick r:id="rId3"/>
              </a:rPr>
              <a:t>http://www.gecon-conference.org/gecon2015 - 15-17 September 2015, Cluj-Napoca, Romania</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The description of our track in the CFP is:</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Software has become an essential element of information technology (IT) systems, whether scientific, technical, academic, industrial, commercial, local, distributed, or social. Elements of software form an ecosystem, with new elements entering over time, and various elements being combined with each other and with computing, networking, and data elements within IT systems.  Economics and economic models can be applied at many levels, including the overall software ecosystem, and to model the relationship between software and other parts of the IT system. </a:t>
            </a:r>
          </a:p>
          <a:p>
            <a:r>
              <a:rPr lang="en-US" sz="1200" kern="1200" dirty="0" smtClean="0">
                <a:solidFill>
                  <a:schemeClr val="tx1"/>
                </a:solidFill>
                <a:latin typeface="+mn-lt"/>
                <a:ea typeface="+mn-ea"/>
                <a:cs typeface="+mn-cs"/>
              </a:rPr>
              <a:t>In this track, we are interested in new understandings of how software ecosystems and IT systems interrelate, including:</a:t>
            </a:r>
          </a:p>
          <a:p>
            <a:r>
              <a:rPr lang="en-US" sz="1200" kern="1200" dirty="0" smtClean="0">
                <a:solidFill>
                  <a:schemeClr val="tx1"/>
                </a:solidFill>
                <a:latin typeface="+mn-lt"/>
                <a:ea typeface="+mn-ea"/>
                <a:cs typeface="+mn-cs"/>
              </a:rPr>
              <a:t>·      development of novel economic models around software</a:t>
            </a:r>
          </a:p>
          <a:p>
            <a:r>
              <a:rPr lang="en-US" sz="1200" kern="1200" dirty="0" smtClean="0">
                <a:solidFill>
                  <a:schemeClr val="tx1"/>
                </a:solidFill>
                <a:latin typeface="+mn-lt"/>
                <a:ea typeface="+mn-ea"/>
                <a:cs typeface="+mn-cs"/>
              </a:rPr>
              <a:t>·      the use of existing economic models to gain new understanding</a:t>
            </a:r>
          </a:p>
          <a:p>
            <a:r>
              <a:rPr lang="en-US" sz="1200" kern="1200" dirty="0" smtClean="0">
                <a:solidFill>
                  <a:schemeClr val="tx1"/>
                </a:solidFill>
                <a:latin typeface="+mn-lt"/>
                <a:ea typeface="+mn-ea"/>
                <a:cs typeface="+mn-cs"/>
              </a:rPr>
              <a:t>·      the role of incentives, both novel and existing</a:t>
            </a:r>
          </a:p>
          <a:p>
            <a:r>
              <a:rPr lang="en-US" sz="1200" kern="1200" dirty="0" smtClean="0">
                <a:solidFill>
                  <a:schemeClr val="tx1"/>
                </a:solidFill>
                <a:latin typeface="+mn-lt"/>
                <a:ea typeface="+mn-ea"/>
                <a:cs typeface="+mn-cs"/>
              </a:rPr>
              <a:t>·      comparative understanding of software in distinct classes of IT systems </a:t>
            </a:r>
          </a:p>
          <a:p>
            <a:r>
              <a:rPr lang="en-US" sz="1200" kern="1200" dirty="0" smtClean="0">
                <a:solidFill>
                  <a:schemeClr val="tx1"/>
                </a:solidFill>
                <a:latin typeface="+mn-lt"/>
                <a:ea typeface="+mn-ea"/>
                <a:cs typeface="+mn-cs"/>
              </a:rPr>
              <a:t>·      business models, including revenue &amp; pricing</a:t>
            </a:r>
          </a:p>
          <a:p>
            <a:r>
              <a:rPr lang="en-US" sz="1200" kern="1200" dirty="0" smtClean="0">
                <a:solidFill>
                  <a:schemeClr val="tx1"/>
                </a:solidFill>
                <a:latin typeface="+mn-lt"/>
                <a:ea typeface="+mn-ea"/>
                <a:cs typeface="+mn-cs"/>
              </a:rPr>
              <a:t>·      the role of economics in software development models</a:t>
            </a:r>
          </a:p>
          <a:p>
            <a:r>
              <a:rPr lang="en-US" sz="1200" kern="1200" dirty="0" smtClean="0">
                <a:solidFill>
                  <a:schemeClr val="tx1"/>
                </a:solidFill>
                <a:latin typeface="+mn-lt"/>
                <a:ea typeface="+mn-ea"/>
                <a:cs typeface="+mn-cs"/>
              </a:rPr>
              <a:t>·      community development and interaction within software ecosystems</a:t>
            </a:r>
          </a:p>
          <a:p>
            <a:r>
              <a:rPr lang="en-US" sz="1200" kern="1200" dirty="0" smtClean="0">
                <a:solidFill>
                  <a:schemeClr val="tx1"/>
                </a:solidFill>
                <a:latin typeface="+mn-lt"/>
                <a:ea typeface="+mn-ea"/>
                <a:cs typeface="+mn-cs"/>
              </a:rPr>
              <a:t>·      economic models which </a:t>
            </a:r>
            <a:r>
              <a:rPr lang="en-US" sz="1200" kern="1200" dirty="0" err="1" smtClean="0">
                <a:solidFill>
                  <a:schemeClr val="tx1"/>
                </a:solidFill>
                <a:latin typeface="+mn-lt"/>
                <a:ea typeface="+mn-ea"/>
                <a:cs typeface="+mn-cs"/>
              </a:rPr>
              <a:t>optimise</a:t>
            </a:r>
            <a:r>
              <a:rPr lang="en-US" sz="1200" kern="1200" dirty="0" smtClean="0">
                <a:solidFill>
                  <a:schemeClr val="tx1"/>
                </a:solidFill>
                <a:latin typeface="+mn-lt"/>
                <a:ea typeface="+mn-ea"/>
                <a:cs typeface="+mn-cs"/>
              </a:rPr>
              <a:t> software quality or software adoption</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With this email, we request both those interested in volunteering as Program Committee members for our track to let us know of their interest, and that potential authors begin considering submissions to the track and to the conference.  Papers will be due May 25.</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Thanks,</a:t>
            </a:r>
          </a:p>
          <a:p>
            <a:r>
              <a:rPr lang="en-US" sz="1200" kern="1200" dirty="0" smtClean="0">
                <a:solidFill>
                  <a:schemeClr val="tx1"/>
                </a:solidFill>
                <a:latin typeface="+mn-lt"/>
                <a:ea typeface="+mn-ea"/>
                <a:cs typeface="+mn-cs"/>
              </a:rPr>
              <a:t>Dan</a:t>
            </a:r>
          </a:p>
          <a:p>
            <a:endParaRPr lang="en-US" sz="1200" kern="1200" dirty="0" smtClean="0">
              <a:solidFill>
                <a:schemeClr val="tx1"/>
              </a:solidFill>
              <a:latin typeface="+mn-lt"/>
              <a:ea typeface="+mn-ea"/>
              <a:cs typeface="+mn-cs"/>
            </a:endParaRPr>
          </a:p>
          <a:p>
            <a:r>
              <a:rPr lang="uk-UA"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Daniel S. Katz</a:t>
            </a:r>
          </a:p>
          <a:p>
            <a:r>
              <a:rPr lang="en-US" sz="1200" kern="1200" dirty="0" smtClean="0">
                <a:solidFill>
                  <a:schemeClr val="tx1"/>
                </a:solidFill>
                <a:latin typeface="+mn-lt"/>
                <a:ea typeface="+mn-ea"/>
                <a:cs typeface="+mn-cs"/>
              </a:rPr>
              <a:t>University of Chicago</a:t>
            </a:r>
          </a:p>
          <a:p>
            <a:r>
              <a:rPr lang="is-IS" sz="1200" kern="1200" dirty="0" smtClean="0">
                <a:solidFill>
                  <a:schemeClr val="tx1"/>
                </a:solidFill>
                <a:latin typeface="+mn-lt"/>
                <a:ea typeface="+mn-ea"/>
                <a:cs typeface="+mn-cs"/>
              </a:rPr>
              <a:t>(773) 834-7186 (voice)</a:t>
            </a:r>
          </a:p>
          <a:p>
            <a:r>
              <a:rPr lang="is-IS" sz="1200" kern="1200" dirty="0" smtClean="0">
                <a:solidFill>
                  <a:schemeClr val="tx1"/>
                </a:solidFill>
                <a:latin typeface="+mn-lt"/>
                <a:ea typeface="+mn-ea"/>
                <a:cs typeface="+mn-cs"/>
              </a:rPr>
              <a:t>(773) 834-6818 (fax)</a:t>
            </a:r>
          </a:p>
          <a:p>
            <a:r>
              <a:rPr lang="en-US" sz="1200" u="sng" kern="1200" dirty="0" smtClean="0">
                <a:solidFill>
                  <a:schemeClr val="tx1"/>
                </a:solidFill>
                <a:latin typeface="+mn-lt"/>
                <a:ea typeface="+mn-ea"/>
                <a:cs typeface="+mn-cs"/>
                <a:hlinkClick r:id="rId4"/>
              </a:rPr>
              <a:t>d.katz@ieee.org or </a:t>
            </a:r>
            <a:r>
              <a:rPr lang="en-US" sz="1200" u="sng" kern="1200" dirty="0" smtClean="0">
                <a:solidFill>
                  <a:schemeClr val="tx1"/>
                </a:solidFill>
                <a:latin typeface="+mn-lt"/>
                <a:ea typeface="+mn-ea"/>
                <a:cs typeface="+mn-cs"/>
                <a:hlinkClick r:id="rId5"/>
              </a:rPr>
              <a:t>dsk@uchicago.edu</a:t>
            </a:r>
          </a:p>
          <a:p>
            <a:r>
              <a:rPr lang="en-US" sz="1200" u="sng" kern="1200" dirty="0" smtClean="0">
                <a:solidFill>
                  <a:schemeClr val="tx1"/>
                </a:solidFill>
                <a:latin typeface="+mn-lt"/>
                <a:ea typeface="+mn-ea"/>
                <a:cs typeface="+mn-cs"/>
                <a:hlinkClick r:id="rId6"/>
              </a:rPr>
              <a:t>http://www.ci.uchicago.edu/~dsk/</a:t>
            </a:r>
          </a:p>
          <a:p>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OSS reports that they survey UK institutions on this.  See: </a:t>
            </a:r>
            <a:r>
              <a:rPr lang="en-US" sz="1200" u="sng" kern="1200" dirty="0" smtClean="0">
                <a:solidFill>
                  <a:schemeClr val="tx1"/>
                </a:solidFill>
                <a:latin typeface="+mn-lt"/>
                <a:ea typeface="+mn-ea"/>
                <a:cs typeface="+mn-cs"/>
                <a:hlinkClick r:id="rId7"/>
              </a:rPr>
              <a:t>http://oss-watch.ac.uk/studies/survey2013/ict_policy_and_procurement_practice</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Dan</a:t>
            </a:r>
          </a:p>
          <a:p>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On Feb 27, 2015, at 1:36 PM, James </a:t>
            </a:r>
            <a:r>
              <a:rPr lang="en-US" sz="1200" kern="1200" dirty="0" err="1" smtClean="0">
                <a:solidFill>
                  <a:schemeClr val="tx1"/>
                </a:solidFill>
                <a:latin typeface="+mn-lt"/>
                <a:ea typeface="+mn-ea"/>
                <a:cs typeface="+mn-cs"/>
              </a:rPr>
              <a:t>Howison</a:t>
            </a:r>
            <a:r>
              <a:rPr lang="en-US" sz="1200" kern="1200" dirty="0" smtClean="0">
                <a:solidFill>
                  <a:schemeClr val="tx1"/>
                </a:solidFill>
                <a:latin typeface="+mn-lt"/>
                <a:ea typeface="+mn-ea"/>
                <a:cs typeface="+mn-cs"/>
              </a:rPr>
              <a:t> &lt;</a:t>
            </a:r>
            <a:r>
              <a:rPr lang="en-US" sz="1200" u="sng" kern="1200" dirty="0" smtClean="0">
                <a:solidFill>
                  <a:schemeClr val="tx1"/>
                </a:solidFill>
                <a:latin typeface="+mn-lt"/>
                <a:ea typeface="+mn-ea"/>
                <a:cs typeface="+mn-cs"/>
                <a:hlinkClick r:id="rId8"/>
              </a:rPr>
              <a:t>jhowison@ischool.utexas.edu&gt; wrote:</a:t>
            </a:r>
          </a:p>
          <a:p>
            <a:r>
              <a:rPr lang="en-US" sz="1200" kern="1200" dirty="0" smtClean="0">
                <a:solidFill>
                  <a:schemeClr val="tx1"/>
                </a:solidFill>
                <a:latin typeface="+mn-lt"/>
                <a:ea typeface="+mn-ea"/>
                <a:cs typeface="+mn-cs"/>
              </a:rPr>
              <a:t>Great question.  I'm working on a research agenda on the "other direction" of technology transfer; rather than commercialization, I'm focusing on transfer of originally grant funded work to community support models, including open source software development. There are a ton of differences between successfully running a grant-funded project and successfully running a community-supported open project (software or otherwise); the transition is as complicated and interesting as commercialization.  Happily we know a decent amount about the end point (open source organization and online communities), so the research is on the transitions.  I describe this in a work in progress paper I'm presenting at the Information School's conference: </a:t>
            </a:r>
            <a:r>
              <a:rPr lang="en-US" sz="1200" u="sng" kern="1200" dirty="0" smtClean="0">
                <a:solidFill>
                  <a:schemeClr val="tx1"/>
                </a:solidFill>
                <a:latin typeface="+mn-lt"/>
                <a:ea typeface="+mn-ea"/>
                <a:cs typeface="+mn-cs"/>
                <a:hlinkClick r:id="rId9"/>
              </a:rPr>
              <a:t>http://james.howison.name/pubs/HowisonInfrastructureTransitions-in-progress.pdf </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I've chatted with a few people in technology transfer offices and it's like talking to corporate people about open source in the late 1990s.  There is sometimes real opposition to it and, at best, a shrug that it's probably fine for things with no value.  The idea that open code can be the basis of an ecosystem that brings reputation, funding and, indeed, profit, to the University seems a fair distance away.  But I'd love to chat with tech transfer (or VP research types) who see succeeding at open source as a strategic goal worthy of university support.</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In answer to the specific question, these resources might be useful. The UK has some of the best resources in these areas: </a:t>
            </a:r>
            <a:r>
              <a:rPr lang="en-US" sz="1200" u="sng" kern="1200" dirty="0" smtClean="0">
                <a:solidFill>
                  <a:schemeClr val="tx1"/>
                </a:solidFill>
                <a:latin typeface="+mn-lt"/>
                <a:ea typeface="+mn-ea"/>
                <a:cs typeface="+mn-cs"/>
                <a:hlinkClick r:id="rId10"/>
              </a:rPr>
              <a:t>http://oss-watch.ac.uk/  There's also the UK Scientific Software Sustainability Institute </a:t>
            </a:r>
            <a:r>
              <a:rPr lang="en-US" sz="1200" u="sng" kern="1200" dirty="0" smtClean="0">
                <a:solidFill>
                  <a:schemeClr val="tx1"/>
                </a:solidFill>
                <a:latin typeface="+mn-lt"/>
                <a:ea typeface="+mn-ea"/>
                <a:cs typeface="+mn-cs"/>
                <a:hlinkClick r:id="rId11"/>
              </a:rPr>
              <a:t>http://www.software.ac.uk/resources/get-speed Looking through things there, I'm not seeing anything specifically about University IP policies, but I'll ping them on Twitter and see if anything comes up.</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--James</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On Fri, Feb 27, 2015 at 11:43 AM, Dana </a:t>
            </a:r>
            <a:r>
              <a:rPr lang="en-US" sz="1200" kern="1200" dirty="0" err="1" smtClean="0">
                <a:solidFill>
                  <a:schemeClr val="tx1"/>
                </a:solidFill>
                <a:latin typeface="+mn-lt"/>
                <a:ea typeface="+mn-ea"/>
                <a:cs typeface="+mn-cs"/>
              </a:rPr>
              <a:t>Bostrom</a:t>
            </a:r>
            <a:r>
              <a:rPr lang="en-US" sz="1200" kern="1200" dirty="0" smtClean="0">
                <a:solidFill>
                  <a:schemeClr val="tx1"/>
                </a:solidFill>
                <a:latin typeface="+mn-lt"/>
                <a:ea typeface="+mn-ea"/>
                <a:cs typeface="+mn-cs"/>
              </a:rPr>
              <a:t> ‪&lt;</a:t>
            </a:r>
            <a:r>
              <a:rPr lang="en-US" sz="1200" u="sng" kern="1200" dirty="0" smtClean="0">
                <a:solidFill>
                  <a:schemeClr val="tx1"/>
                </a:solidFill>
                <a:latin typeface="+mn-lt"/>
                <a:ea typeface="+mn-ea"/>
                <a:cs typeface="+mn-cs"/>
                <a:hlinkClick r:id="rId12"/>
              </a:rPr>
              <a:t>dbostrom@aamc.org&gt;‬ wrote:</a:t>
            </a:r>
          </a:p>
          <a:p>
            <a:r>
              <a:rPr lang="en-US" sz="1200" kern="1200" dirty="0" smtClean="0">
                <a:solidFill>
                  <a:schemeClr val="tx1"/>
                </a:solidFill>
                <a:latin typeface="+mn-lt"/>
                <a:ea typeface="+mn-ea"/>
                <a:cs typeface="+mn-cs"/>
              </a:rPr>
              <a:t>I’m not aware of any “studies” but I can tell you as someone who did tech transfer at universities for 12 years that open source is supported by most (if not all) universities.  I’ve never seen it referenced in an IP policy, but that may be because some software is considered a personal work in the same way that journal articles are.  Some software is written by a huge team and becomes an institutionally owned work, but other times it is personal and can be distributed according to the individual author’s wishes.</a:t>
            </a:r>
          </a:p>
          <a:p>
            <a:r>
              <a:rPr lang="sk-SK" sz="1200" kern="1200" dirty="0" smtClean="0">
                <a:solidFill>
                  <a:schemeClr val="tx1"/>
                </a:solidFill>
                <a:latin typeface="+mn-lt"/>
                <a:ea typeface="+mn-ea"/>
                <a:cs typeface="+mn-cs"/>
              </a:rPr>
              <a:t> </a:t>
            </a:r>
          </a:p>
          <a:p>
            <a:r>
              <a:rPr lang="sk-SK" sz="1200" kern="1200" dirty="0" smtClean="0">
                <a:solidFill>
                  <a:schemeClr val="tx1"/>
                </a:solidFill>
                <a:latin typeface="+mn-lt"/>
                <a:ea typeface="+mn-ea"/>
                <a:cs typeface="+mn-cs"/>
              </a:rPr>
              <a:t>Over a decade ago, the University of Washington distributed bioinformatics software Phred / Phrap and associated software open source for a decade and sold “services” associated with it.  I managed the IP for the Pine email client software which was distributed open source.  Universities still support open source.</a:t>
            </a:r>
          </a:p>
          <a:p>
            <a:r>
              <a:rPr lang="sk-SK" sz="1200" kern="1200" dirty="0" smtClean="0">
                <a:solidFill>
                  <a:schemeClr val="tx1"/>
                </a:solidFill>
                <a:latin typeface="+mn-lt"/>
                <a:ea typeface="+mn-ea"/>
                <a:cs typeface="+mn-cs"/>
              </a:rPr>
              <a:t> </a:t>
            </a:r>
          </a:p>
          <a:p>
            <a:r>
              <a:rPr lang="sk-SK" sz="1200" kern="1200" dirty="0" smtClean="0">
                <a:solidFill>
                  <a:schemeClr val="tx1"/>
                </a:solidFill>
                <a:latin typeface="+mn-lt"/>
                <a:ea typeface="+mn-ea"/>
                <a:cs typeface="+mn-cs"/>
              </a:rPr>
              <a:t>Dana</a:t>
            </a:r>
          </a:p>
          <a:p>
            <a:r>
              <a:rPr lang="sk-SK" sz="1200" kern="1200" dirty="0" smtClean="0">
                <a:solidFill>
                  <a:schemeClr val="tx1"/>
                </a:solidFill>
                <a:latin typeface="+mn-lt"/>
                <a:ea typeface="+mn-ea"/>
                <a:cs typeface="+mn-cs"/>
              </a:rPr>
              <a:t> </a:t>
            </a:r>
          </a:p>
          <a:p>
            <a:r>
              <a:rPr lang="sk-SK" sz="1200" kern="1200" dirty="0" smtClean="0">
                <a:solidFill>
                  <a:schemeClr val="tx1"/>
                </a:solidFill>
                <a:latin typeface="+mn-lt"/>
                <a:ea typeface="+mn-ea"/>
                <a:cs typeface="+mn-cs"/>
              </a:rPr>
              <a:t>Dana Bostrom</a:t>
            </a:r>
          </a:p>
          <a:p>
            <a:r>
              <a:rPr lang="sk-SK" sz="1200" kern="1200" dirty="0" smtClean="0">
                <a:solidFill>
                  <a:schemeClr val="tx1"/>
                </a:solidFill>
                <a:latin typeface="+mn-lt"/>
                <a:ea typeface="+mn-ea"/>
                <a:cs typeface="+mn-cs"/>
              </a:rPr>
              <a:t>Executive Director</a:t>
            </a:r>
          </a:p>
          <a:p>
            <a:r>
              <a:rPr lang="sk-SK" sz="1200" kern="1200" smtClean="0">
                <a:solidFill>
                  <a:schemeClr val="tx1"/>
                </a:solidFill>
                <a:latin typeface="+mn-lt"/>
                <a:ea typeface="+mn-ea"/>
                <a:cs typeface="+mn-cs"/>
              </a:rPr>
              <a:t>Data Commons, LLC</a:t>
            </a:r>
          </a:p>
          <a:p>
            <a:endParaRPr lang="en-US" dirty="0"/>
          </a:p>
        </p:txBody>
      </p:sp>
      <p:sp>
        <p:nvSpPr>
          <p:cNvPr id="4" name="Slide Number Placeholder 3"/>
          <p:cNvSpPr>
            <a:spLocks noGrp="1"/>
          </p:cNvSpPr>
          <p:nvPr>
            <p:ph type="sldNum" sz="quarter" idx="10"/>
          </p:nvPr>
        </p:nvSpPr>
        <p:spPr/>
        <p:txBody>
          <a:bodyPr/>
          <a:lstStyle/>
          <a:p>
            <a:fld id="{242E9DFA-E443-A146-AAB3-1F418BB1A2E6}" type="slidenum">
              <a:rPr lang="en-US" smtClean="0"/>
              <a:t>14</a:t>
            </a:fld>
            <a:endParaRPr lang="en-US"/>
          </a:p>
        </p:txBody>
      </p:sp>
    </p:spTree>
    <p:extLst>
      <p:ext uri="{BB962C8B-B14F-4D97-AF65-F5344CB8AC3E}">
        <p14:creationId xmlns:p14="http://schemas.microsoft.com/office/powerpoint/2010/main" val="2518699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04800" y="1582017"/>
            <a:ext cx="6477000" cy="1102519"/>
          </a:xfrm>
        </p:spPr>
        <p:txBody>
          <a:bodyPr/>
          <a:lstStyle>
            <a:lvl1pPr algn="r">
              <a:defRPr b="0" i="0">
                <a:latin typeface="Gill Sans"/>
                <a:cs typeface="Gill Sans"/>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b="0" i="0">
                <a:solidFill>
                  <a:schemeClr val="tx1">
                    <a:tint val="75000"/>
                  </a:schemeClr>
                </a:solidFill>
                <a:latin typeface="Gill Sans Light"/>
                <a:cs typeface="Gill Sans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1087058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6" name="Picture 5" descr="Screen Shot 2015-12-08 at 7.04.00 PM.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2990" y="4763718"/>
            <a:ext cx="3708983" cy="356896"/>
          </a:xfrm>
          <a:prstGeom prst="rect">
            <a:avLst/>
          </a:prstGeom>
        </p:spPr>
      </p:pic>
    </p:spTree>
    <p:extLst>
      <p:ext uri="{BB962C8B-B14F-4D97-AF65-F5344CB8AC3E}">
        <p14:creationId xmlns:p14="http://schemas.microsoft.com/office/powerpoint/2010/main" val="4050911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normAutofit/>
          </a:bodyPr>
          <a:lstStyle>
            <a:lvl1pPr algn="l">
              <a:defRPr sz="32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3785388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Gill Sans  "/>
                <a:cs typeface="Gill Sans  "/>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006078"/>
            <a:ext cx="4038600" cy="3394472"/>
          </a:xfrm>
        </p:spPr>
        <p:txBody>
          <a:bodyPr/>
          <a:lstStyle>
            <a:lvl1pPr>
              <a:defRPr sz="2800">
                <a:latin typeface="Gill Sans Light"/>
                <a:cs typeface="Gill Sans Light"/>
              </a:defRPr>
            </a:lvl1pPr>
            <a:lvl2pPr>
              <a:defRPr sz="2400">
                <a:latin typeface="Gill Sans Light"/>
                <a:cs typeface="Gill Sans Light"/>
              </a:defRPr>
            </a:lvl2pPr>
            <a:lvl3pPr>
              <a:defRPr sz="2000">
                <a:latin typeface="Gill Sans Light"/>
                <a:cs typeface="Gill Sans Light"/>
              </a:defRPr>
            </a:lvl3pPr>
            <a:lvl4pPr>
              <a:defRPr sz="1800">
                <a:latin typeface="Gill Sans Light"/>
                <a:cs typeface="Gill Sans Light"/>
              </a:defRPr>
            </a:lvl4pPr>
            <a:lvl5pPr>
              <a:defRPr sz="1800">
                <a:latin typeface="Gill Sans Light"/>
                <a:cs typeface="Gill Sans Light"/>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006078"/>
            <a:ext cx="4038600" cy="3394472"/>
          </a:xfrm>
        </p:spPr>
        <p:txBody>
          <a:bodyPr/>
          <a:lstStyle>
            <a:lvl1pPr>
              <a:defRPr sz="2800">
                <a:latin typeface="Gill Sans Light"/>
                <a:cs typeface="Gill Sans Light"/>
              </a:defRPr>
            </a:lvl1pPr>
            <a:lvl2pPr>
              <a:defRPr sz="2400">
                <a:latin typeface="Gill Sans Light"/>
                <a:cs typeface="Gill Sans Light"/>
              </a:defRPr>
            </a:lvl2pPr>
            <a:lvl3pPr>
              <a:defRPr sz="2000">
                <a:latin typeface="Gill Sans Light"/>
                <a:cs typeface="Gill Sans Light"/>
              </a:defRPr>
            </a:lvl3pPr>
            <a:lvl4pPr>
              <a:defRPr sz="1800">
                <a:latin typeface="Gill Sans Light"/>
                <a:cs typeface="Gill Sans Light"/>
              </a:defRPr>
            </a:lvl4pPr>
            <a:lvl5pPr>
              <a:defRPr sz="1800">
                <a:latin typeface="Gill Sans Light"/>
                <a:cs typeface="Gill Sans Light"/>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72722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3621832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pic>
        <p:nvPicPr>
          <p:cNvPr id="3" name="Picture 2" descr="Screen Shot 2015-12-08 at 7.04.00 PM.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2990" y="4763926"/>
            <a:ext cx="3708983" cy="356896"/>
          </a:xfrm>
          <a:prstGeom prst="rect">
            <a:avLst/>
          </a:prstGeom>
        </p:spPr>
      </p:pic>
    </p:spTree>
    <p:extLst>
      <p:ext uri="{BB962C8B-B14F-4D97-AF65-F5344CB8AC3E}">
        <p14:creationId xmlns:p14="http://schemas.microsoft.com/office/powerpoint/2010/main" val="394992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7264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b="0" i="0">
                <a:latin typeface="Gill Sans"/>
                <a:cs typeface="Gill Sans"/>
              </a:defRPr>
            </a:lvl1pPr>
          </a:lstStyle>
          <a:p>
            <a:r>
              <a:rPr lang="en-US" dirty="0" smtClean="0"/>
              <a:t>Click to edit Master title style</a:t>
            </a:r>
            <a:endParaRPr lang="en-US" dirty="0"/>
          </a:p>
        </p:txBody>
      </p:sp>
    </p:spTree>
    <p:extLst>
      <p:ext uri="{BB962C8B-B14F-4D97-AF65-F5344CB8AC3E}">
        <p14:creationId xmlns:p14="http://schemas.microsoft.com/office/powerpoint/2010/main" val="4169056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b="0" i="0">
                <a:latin typeface="Helvetica"/>
                <a:cs typeface="Helvetica"/>
              </a:defRPr>
            </a:lvl1pPr>
          </a:lstStyle>
          <a:p>
            <a:r>
              <a:rPr lang="en-US" dirty="0" smtClean="0"/>
              <a:t>Click to edit Master title style</a:t>
            </a:r>
            <a:endParaRPr lang="en-US" dirty="0"/>
          </a:p>
        </p:txBody>
      </p:sp>
    </p:spTree>
    <p:extLst>
      <p:ext uri="{BB962C8B-B14F-4D97-AF65-F5344CB8AC3E}">
        <p14:creationId xmlns:p14="http://schemas.microsoft.com/office/powerpoint/2010/main" val="1769505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2" name="Picture 1" descr="Biocomplexity-PP-SectionTitle10-SDAL-BKGD-Light_2015-1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19681" cy="5143500"/>
          </a:xfrm>
          <a:prstGeom prst="rect">
            <a:avLst/>
          </a:prstGeom>
        </p:spPr>
      </p:pic>
      <p:sp>
        <p:nvSpPr>
          <p:cNvPr id="3" name="Title 1"/>
          <p:cNvSpPr>
            <a:spLocks noGrp="1"/>
          </p:cNvSpPr>
          <p:nvPr>
            <p:ph type="title"/>
          </p:nvPr>
        </p:nvSpPr>
        <p:spPr>
          <a:xfrm>
            <a:off x="457200" y="205979"/>
            <a:ext cx="8229600" cy="857250"/>
          </a:xfrm>
        </p:spPr>
        <p:txBody>
          <a:bodyPr/>
          <a:lstStyle>
            <a:lvl1pPr>
              <a:defRPr b="0" i="0">
                <a:latin typeface="Helvetica"/>
                <a:cs typeface="Helvetica"/>
              </a:defRPr>
            </a:lvl1pPr>
          </a:lstStyle>
          <a:p>
            <a:r>
              <a:rPr lang="en-US" dirty="0" smtClean="0"/>
              <a:t>Click to edit Master title style</a:t>
            </a:r>
            <a:endParaRPr lang="en-US" dirty="0"/>
          </a:p>
        </p:txBody>
      </p:sp>
    </p:spTree>
    <p:extLst>
      <p:ext uri="{BB962C8B-B14F-4D97-AF65-F5344CB8AC3E}">
        <p14:creationId xmlns:p14="http://schemas.microsoft.com/office/powerpoint/2010/main" val="2523194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2" name="Picture 1" descr="Biocomplexity-PP-SectionTitle10-SDAL-BKGD-Light_2015-1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19681" cy="5143500"/>
          </a:xfrm>
          <a:prstGeom prst="rect">
            <a:avLst/>
          </a:prstGeom>
        </p:spPr>
      </p:pic>
    </p:spTree>
    <p:extLst>
      <p:ext uri="{BB962C8B-B14F-4D97-AF65-F5344CB8AC3E}">
        <p14:creationId xmlns:p14="http://schemas.microsoft.com/office/powerpoint/2010/main" val="35442066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pic>
        <p:nvPicPr>
          <p:cNvPr id="4" name="Picture 3" descr="Biocomplexity-PP-SectionTitle5-SDAL-BKGD-Light_2015-1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19681" cy="5143500"/>
          </a:xfrm>
          <a:prstGeom prst="rect">
            <a:avLst/>
          </a:prstGeom>
        </p:spPr>
      </p:pic>
      <p:sp>
        <p:nvSpPr>
          <p:cNvPr id="5" name="Title 1"/>
          <p:cNvSpPr>
            <a:spLocks noGrp="1"/>
          </p:cNvSpPr>
          <p:nvPr>
            <p:ph type="ctrTitle"/>
          </p:nvPr>
        </p:nvSpPr>
        <p:spPr>
          <a:xfrm>
            <a:off x="304800" y="1597832"/>
            <a:ext cx="7772400" cy="1102519"/>
          </a:xfrm>
        </p:spPr>
        <p:txBody>
          <a:bodyPr/>
          <a:lstStyle>
            <a:lvl1pPr algn="ctr">
              <a:defRPr b="0" i="0">
                <a:latin typeface="Gill Sans"/>
                <a:cs typeface="Gill Sans"/>
              </a:defRPr>
            </a:lvl1pPr>
          </a:lstStyle>
          <a:p>
            <a:r>
              <a:rPr lang="en-US" dirty="0" smtClean="0"/>
              <a:t>Click to edit Master title style</a:t>
            </a:r>
            <a:endParaRPr lang="en-US" dirty="0"/>
          </a:p>
        </p:txBody>
      </p:sp>
    </p:spTree>
    <p:extLst>
      <p:ext uri="{BB962C8B-B14F-4D97-AF65-F5344CB8AC3E}">
        <p14:creationId xmlns:p14="http://schemas.microsoft.com/office/powerpoint/2010/main" val="35442066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pic>
        <p:nvPicPr>
          <p:cNvPr id="3" name="Picture 2" descr="Biocomplexity-PP-SectionTitle2-SDAL-BKGD-Light_2015-1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19681" cy="5143500"/>
          </a:xfrm>
          <a:prstGeom prst="rect">
            <a:avLst/>
          </a:prstGeom>
        </p:spPr>
      </p:pic>
    </p:spTree>
    <p:extLst>
      <p:ext uri="{BB962C8B-B14F-4D97-AF65-F5344CB8AC3E}">
        <p14:creationId xmlns:p14="http://schemas.microsoft.com/office/powerpoint/2010/main" val="41501955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2"/>
            <a:ext cx="7772400" cy="1102519"/>
          </a:xfrm>
        </p:spPr>
        <p:txBody>
          <a:bodyPr/>
          <a:lstStyle>
            <a:lvl1pPr algn="ctr">
              <a:defRPr>
                <a:latin typeface="Gill Sans"/>
                <a:cs typeface="Gill Sans"/>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latin typeface="Gill Sans Light"/>
                <a:cs typeface="Gill Sans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10870581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2_Picture with Caption">
    <p:spTree>
      <p:nvGrpSpPr>
        <p:cNvPr id="1" name=""/>
        <p:cNvGrpSpPr/>
        <p:nvPr/>
      </p:nvGrpSpPr>
      <p:grpSpPr>
        <a:xfrm>
          <a:off x="0" y="0"/>
          <a:ext cx="0" cy="0"/>
          <a:chOff x="0" y="0"/>
          <a:chExt cx="0" cy="0"/>
        </a:xfrm>
      </p:grpSpPr>
      <p:pic>
        <p:nvPicPr>
          <p:cNvPr id="2" name="Picture 1" descr="Screen Shot 2015-12-08 at 7.04.00 PM.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2990" y="4773777"/>
            <a:ext cx="3708983" cy="356896"/>
          </a:xfrm>
          <a:prstGeom prst="rect">
            <a:avLst/>
          </a:prstGeom>
        </p:spPr>
      </p:pic>
      <p:sp>
        <p:nvSpPr>
          <p:cNvPr id="3" name="Title 1"/>
          <p:cNvSpPr>
            <a:spLocks noGrp="1"/>
          </p:cNvSpPr>
          <p:nvPr>
            <p:ph type="title"/>
          </p:nvPr>
        </p:nvSpPr>
        <p:spPr>
          <a:xfrm>
            <a:off x="457200" y="205979"/>
            <a:ext cx="8229600" cy="857250"/>
          </a:xfrm>
        </p:spPr>
        <p:txBody>
          <a:bodyPr/>
          <a:lstStyle/>
          <a:p>
            <a:r>
              <a:rPr lang="en-US" smtClean="0"/>
              <a:t>Click to edit Master title style</a:t>
            </a:r>
            <a:endParaRPr lang="en-US"/>
          </a:p>
        </p:txBody>
      </p:sp>
    </p:spTree>
    <p:extLst>
      <p:ext uri="{BB962C8B-B14F-4D97-AF65-F5344CB8AC3E}">
        <p14:creationId xmlns:p14="http://schemas.microsoft.com/office/powerpoint/2010/main" val="30357834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3_Picture with Caption">
    <p:spTree>
      <p:nvGrpSpPr>
        <p:cNvPr id="1" name=""/>
        <p:cNvGrpSpPr/>
        <p:nvPr/>
      </p:nvGrpSpPr>
      <p:grpSpPr>
        <a:xfrm>
          <a:off x="0" y="0"/>
          <a:ext cx="0" cy="0"/>
          <a:chOff x="0" y="0"/>
          <a:chExt cx="0" cy="0"/>
        </a:xfrm>
      </p:grpSpPr>
      <p:pic>
        <p:nvPicPr>
          <p:cNvPr id="2" name="Picture 1" descr="Screen Shot 2015-12-08 at 7.04.00 PM.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2990" y="4773777"/>
            <a:ext cx="3708983" cy="356896"/>
          </a:xfrm>
          <a:prstGeom prst="rect">
            <a:avLst/>
          </a:prstGeom>
        </p:spPr>
      </p:pic>
      <p:sp>
        <p:nvSpPr>
          <p:cNvPr id="3" name="Title 1"/>
          <p:cNvSpPr>
            <a:spLocks noGrp="1"/>
          </p:cNvSpPr>
          <p:nvPr>
            <p:ph type="title"/>
          </p:nvPr>
        </p:nvSpPr>
        <p:spPr>
          <a:xfrm>
            <a:off x="457200" y="205979"/>
            <a:ext cx="8229600" cy="857250"/>
          </a:xfrm>
        </p:spPr>
        <p:txBody>
          <a:bodyPr/>
          <a:lstStyle/>
          <a:p>
            <a:r>
              <a:rPr lang="en-US" smtClean="0"/>
              <a:t>Click to edit Master title style</a:t>
            </a:r>
            <a:endParaRPr lang="en-US"/>
          </a:p>
        </p:txBody>
      </p:sp>
    </p:spTree>
    <p:extLst>
      <p:ext uri="{BB962C8B-B14F-4D97-AF65-F5344CB8AC3E}">
        <p14:creationId xmlns:p14="http://schemas.microsoft.com/office/powerpoint/2010/main" val="30357834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2"/>
            <a:ext cx="7772400" cy="1102519"/>
          </a:xfrm>
        </p:spPr>
        <p:txBody>
          <a:bodyPr/>
          <a:lstStyle>
            <a:lvl1pPr algn="ctr">
              <a:defRPr>
                <a:latin typeface="Gill Sans"/>
                <a:cs typeface="Gill Sans"/>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latin typeface="Gill Sans Light"/>
                <a:cs typeface="Gill Sans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1087058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6" name="Picture 5" descr="Screen Shot 2015-12-08 at 7.04.00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990" y="4763718"/>
            <a:ext cx="3708983" cy="356896"/>
          </a:xfrm>
          <a:prstGeom prst="rect">
            <a:avLst/>
          </a:prstGeom>
        </p:spPr>
      </p:pic>
      <p:pic>
        <p:nvPicPr>
          <p:cNvPr id="5" name="Picture 4" descr="Screen Shot 2015-12-08 at 7.04.00 PM.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2990" y="4763718"/>
            <a:ext cx="3708983" cy="356896"/>
          </a:xfrm>
          <a:prstGeom prst="rect">
            <a:avLst/>
          </a:prstGeom>
        </p:spPr>
      </p:pic>
    </p:spTree>
    <p:extLst>
      <p:ext uri="{BB962C8B-B14F-4D97-AF65-F5344CB8AC3E}">
        <p14:creationId xmlns:p14="http://schemas.microsoft.com/office/powerpoint/2010/main" val="40509110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normAutofit/>
          </a:bodyPr>
          <a:lstStyle>
            <a:lvl1pPr algn="l">
              <a:defRPr sz="32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37853889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Gill Sans  "/>
                <a:cs typeface="Gill Sans  "/>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006078"/>
            <a:ext cx="4038600" cy="3394472"/>
          </a:xfrm>
        </p:spPr>
        <p:txBody>
          <a:bodyPr/>
          <a:lstStyle>
            <a:lvl1pPr>
              <a:defRPr sz="2800">
                <a:latin typeface="Gill Sans Light"/>
                <a:cs typeface="Gill Sans Light"/>
              </a:defRPr>
            </a:lvl1pPr>
            <a:lvl2pPr>
              <a:defRPr sz="2400">
                <a:latin typeface="Gill Sans Light"/>
                <a:cs typeface="Gill Sans Light"/>
              </a:defRPr>
            </a:lvl2pPr>
            <a:lvl3pPr>
              <a:defRPr sz="2000">
                <a:latin typeface="Gill Sans Light"/>
                <a:cs typeface="Gill Sans Light"/>
              </a:defRPr>
            </a:lvl3pPr>
            <a:lvl4pPr>
              <a:defRPr sz="1800">
                <a:latin typeface="Gill Sans Light"/>
                <a:cs typeface="Gill Sans Light"/>
              </a:defRPr>
            </a:lvl4pPr>
            <a:lvl5pPr>
              <a:defRPr sz="1800">
                <a:latin typeface="Gill Sans Light"/>
                <a:cs typeface="Gill Sans Light"/>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006078"/>
            <a:ext cx="4038600" cy="3394472"/>
          </a:xfrm>
        </p:spPr>
        <p:txBody>
          <a:bodyPr/>
          <a:lstStyle>
            <a:lvl1pPr>
              <a:defRPr sz="2800">
                <a:latin typeface="Gill Sans Light"/>
                <a:cs typeface="Gill Sans Light"/>
              </a:defRPr>
            </a:lvl1pPr>
            <a:lvl2pPr>
              <a:defRPr sz="2400">
                <a:latin typeface="Gill Sans Light"/>
                <a:cs typeface="Gill Sans Light"/>
              </a:defRPr>
            </a:lvl2pPr>
            <a:lvl3pPr>
              <a:defRPr sz="2000">
                <a:latin typeface="Gill Sans Light"/>
                <a:cs typeface="Gill Sans Light"/>
              </a:defRPr>
            </a:lvl3pPr>
            <a:lvl4pPr>
              <a:defRPr sz="1800">
                <a:latin typeface="Gill Sans Light"/>
                <a:cs typeface="Gill Sans Light"/>
              </a:defRPr>
            </a:lvl4pPr>
            <a:lvl5pPr>
              <a:defRPr sz="1800">
                <a:latin typeface="Gill Sans Light"/>
                <a:cs typeface="Gill Sans Light"/>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727220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Gill Sans  "/>
                <a:cs typeface="Gill Sans  "/>
              </a:defRPr>
            </a:lvl1pPr>
          </a:lstStyle>
          <a:p>
            <a:r>
              <a:rPr lang="en-US" smtClean="0"/>
              <a:t>Click to edit Master title style</a:t>
            </a:r>
            <a:endParaRPr lang="en-US"/>
          </a:p>
        </p:txBody>
      </p:sp>
      <p:sp>
        <p:nvSpPr>
          <p:cNvPr id="3" name="Text Placeholder 2"/>
          <p:cNvSpPr>
            <a:spLocks noGrp="1"/>
          </p:cNvSpPr>
          <p:nvPr>
            <p:ph type="body" idx="1"/>
          </p:nvPr>
        </p:nvSpPr>
        <p:spPr>
          <a:xfrm>
            <a:off x="457200" y="1033465"/>
            <a:ext cx="4040188" cy="479822"/>
          </a:xfrm>
        </p:spPr>
        <p:txBody>
          <a:bodyPr anchor="b">
            <a:noAutofit/>
          </a:bodyPr>
          <a:lstStyle>
            <a:lvl1pPr marL="0" indent="0">
              <a:buNone/>
              <a:defRPr sz="2800" b="1">
                <a:latin typeface="Gill Sans Light"/>
                <a:cs typeface="Gill Sans Ligh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513284"/>
            <a:ext cx="4040188" cy="2963466"/>
          </a:xfrm>
        </p:spPr>
        <p:txBody>
          <a:bodyPr/>
          <a:lstStyle>
            <a:lvl1pPr>
              <a:defRPr sz="2400">
                <a:latin typeface="Gill Sans Light"/>
                <a:cs typeface="Gill Sans Light"/>
              </a:defRPr>
            </a:lvl1pPr>
            <a:lvl2pPr>
              <a:defRPr sz="2000">
                <a:latin typeface="Gill Sans Light"/>
                <a:cs typeface="Gill Sans Light"/>
              </a:defRPr>
            </a:lvl2pPr>
            <a:lvl3pPr>
              <a:defRPr sz="1800">
                <a:latin typeface="Gill Sans Light"/>
                <a:cs typeface="Gill Sans Light"/>
              </a:defRPr>
            </a:lvl3pPr>
            <a:lvl4pPr>
              <a:defRPr sz="1600">
                <a:latin typeface="Gill Sans Light"/>
                <a:cs typeface="Gill Sans Light"/>
              </a:defRPr>
            </a:lvl4pPr>
            <a:lvl5pPr>
              <a:defRPr sz="1600">
                <a:latin typeface="Gill Sans Light"/>
                <a:cs typeface="Gill Sans Light"/>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33" y="1033465"/>
            <a:ext cx="4041775" cy="479822"/>
          </a:xfrm>
        </p:spPr>
        <p:txBody>
          <a:bodyPr anchor="b">
            <a:noAutofit/>
          </a:bodyPr>
          <a:lstStyle>
            <a:lvl1pPr marL="0" indent="0">
              <a:buNone/>
              <a:defRPr sz="2800" b="1">
                <a:latin typeface="Gill Sans Light"/>
                <a:cs typeface="Gill Sans Ligh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3" y="1513284"/>
            <a:ext cx="4041775" cy="2963466"/>
          </a:xfrm>
        </p:spPr>
        <p:txBody>
          <a:bodyPr/>
          <a:lstStyle>
            <a:lvl1pPr>
              <a:defRPr sz="2400">
                <a:latin typeface="Gill Sans Light"/>
                <a:cs typeface="Gill Sans Light"/>
              </a:defRPr>
            </a:lvl1pPr>
            <a:lvl2pPr>
              <a:defRPr sz="2000">
                <a:latin typeface="Gill Sans Light"/>
                <a:cs typeface="Gill Sans Light"/>
              </a:defRPr>
            </a:lvl2pPr>
            <a:lvl3pPr>
              <a:defRPr sz="1800">
                <a:latin typeface="Gill Sans Light"/>
                <a:cs typeface="Gill Sans Light"/>
              </a:defRPr>
            </a:lvl3pPr>
            <a:lvl4pPr>
              <a:defRPr sz="1600">
                <a:latin typeface="Gill Sans Light"/>
                <a:cs typeface="Gill Sans Light"/>
              </a:defRPr>
            </a:lvl4pPr>
            <a:lvl5pPr>
              <a:defRPr sz="1600">
                <a:latin typeface="Gill Sans Light"/>
                <a:cs typeface="Gill Sans Light"/>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45743876"/>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36218326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pic>
        <p:nvPicPr>
          <p:cNvPr id="3" name="Picture 2" descr="Screen Shot 2015-12-08 at 7.04.00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990" y="4763926"/>
            <a:ext cx="3708983" cy="356896"/>
          </a:xfrm>
          <a:prstGeom prst="rect">
            <a:avLst/>
          </a:prstGeom>
        </p:spPr>
      </p:pic>
      <p:pic>
        <p:nvPicPr>
          <p:cNvPr id="4" name="Picture 3" descr="Screen Shot 2015-12-08 at 7.04.00 PM.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2990" y="4763926"/>
            <a:ext cx="3708983" cy="356896"/>
          </a:xfrm>
          <a:prstGeom prst="rect">
            <a:avLst/>
          </a:prstGeom>
        </p:spPr>
      </p:pic>
    </p:spTree>
    <p:extLst>
      <p:ext uri="{BB962C8B-B14F-4D97-AF65-F5344CB8AC3E}">
        <p14:creationId xmlns:p14="http://schemas.microsoft.com/office/powerpoint/2010/main" val="3949926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4" name="Picture 3" descr="Screen Shot 2015-12-08 at 7.04.00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990" y="4705350"/>
            <a:ext cx="3708983" cy="356896"/>
          </a:xfrm>
          <a:prstGeom prst="rect">
            <a:avLst/>
          </a:prstGeom>
        </p:spPr>
      </p:pic>
    </p:spTree>
    <p:extLst>
      <p:ext uri="{BB962C8B-B14F-4D97-AF65-F5344CB8AC3E}">
        <p14:creationId xmlns:p14="http://schemas.microsoft.com/office/powerpoint/2010/main" val="2228783433"/>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72644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Picture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9786958"/>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b="0" i="0">
                <a:latin typeface="Helvetica"/>
                <a:cs typeface="Helvetica"/>
              </a:defRPr>
            </a:lvl1pPr>
          </a:lstStyle>
          <a:p>
            <a:r>
              <a:rPr lang="en-US" smtClean="0"/>
              <a:t>Click to edit Master title style</a:t>
            </a:r>
            <a:endParaRPr lang="en-US" dirty="0"/>
          </a:p>
        </p:txBody>
      </p:sp>
    </p:spTree>
    <p:extLst>
      <p:ext uri="{BB962C8B-B14F-4D97-AF65-F5344CB8AC3E}">
        <p14:creationId xmlns:p14="http://schemas.microsoft.com/office/powerpoint/2010/main" val="41690565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b="0" i="0">
                <a:latin typeface="Helvetica"/>
                <a:cs typeface="Helvetica"/>
              </a:defRPr>
            </a:lvl1pPr>
          </a:lstStyle>
          <a:p>
            <a:r>
              <a:rPr lang="en-US" smtClean="0"/>
              <a:t>Click to edit Master title style</a:t>
            </a:r>
            <a:endParaRPr lang="en-US" dirty="0"/>
          </a:p>
        </p:txBody>
      </p:sp>
    </p:spTree>
    <p:extLst>
      <p:ext uri="{BB962C8B-B14F-4D97-AF65-F5344CB8AC3E}">
        <p14:creationId xmlns:p14="http://schemas.microsoft.com/office/powerpoint/2010/main" val="17695056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2" name="Picture 1" descr="Biocomplexity-PP-SectionTitle10-SDAL-BKGD-Light_2015-1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19681" cy="5143500"/>
          </a:xfrm>
          <a:prstGeom prst="rect">
            <a:avLst/>
          </a:prstGeom>
        </p:spPr>
      </p:pic>
      <p:sp>
        <p:nvSpPr>
          <p:cNvPr id="3" name="Title 1"/>
          <p:cNvSpPr>
            <a:spLocks noGrp="1"/>
          </p:cNvSpPr>
          <p:nvPr>
            <p:ph type="title"/>
          </p:nvPr>
        </p:nvSpPr>
        <p:spPr>
          <a:xfrm>
            <a:off x="457200" y="205979"/>
            <a:ext cx="8229600" cy="857250"/>
          </a:xfrm>
        </p:spPr>
        <p:txBody>
          <a:bodyPr/>
          <a:lstStyle>
            <a:lvl1pPr>
              <a:defRPr b="0" i="0">
                <a:latin typeface="Helvetica"/>
                <a:cs typeface="Helvetica"/>
              </a:defRPr>
            </a:lvl1pPr>
          </a:lstStyle>
          <a:p>
            <a:r>
              <a:rPr lang="en-US" smtClean="0"/>
              <a:t>Click to edit Master title style</a:t>
            </a:r>
            <a:endParaRPr lang="en-US" dirty="0"/>
          </a:p>
        </p:txBody>
      </p:sp>
    </p:spTree>
    <p:extLst>
      <p:ext uri="{BB962C8B-B14F-4D97-AF65-F5344CB8AC3E}">
        <p14:creationId xmlns:p14="http://schemas.microsoft.com/office/powerpoint/2010/main" val="25231943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2" name="Picture 1" descr="Biocomplexity-PP-SectionTitle10-SDAL-BKGD-Light_2015-1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19681" cy="5143500"/>
          </a:xfrm>
          <a:prstGeom prst="rect">
            <a:avLst/>
          </a:prstGeom>
        </p:spPr>
      </p:pic>
    </p:spTree>
    <p:extLst>
      <p:ext uri="{BB962C8B-B14F-4D97-AF65-F5344CB8AC3E}">
        <p14:creationId xmlns:p14="http://schemas.microsoft.com/office/powerpoint/2010/main" val="35442066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pic>
        <p:nvPicPr>
          <p:cNvPr id="4" name="Picture 3" descr="Biocomplexity-PP-SectionTitle5-SDAL-BKGD-Light_2015-1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19681" cy="5143500"/>
          </a:xfrm>
          <a:prstGeom prst="rect">
            <a:avLst/>
          </a:prstGeom>
        </p:spPr>
      </p:pic>
      <p:sp>
        <p:nvSpPr>
          <p:cNvPr id="5" name="Title 1"/>
          <p:cNvSpPr>
            <a:spLocks noGrp="1"/>
          </p:cNvSpPr>
          <p:nvPr>
            <p:ph type="ctrTitle"/>
          </p:nvPr>
        </p:nvSpPr>
        <p:spPr>
          <a:xfrm>
            <a:off x="304800" y="1597832"/>
            <a:ext cx="7772400" cy="1102519"/>
          </a:xfrm>
        </p:spPr>
        <p:txBody>
          <a:bodyPr/>
          <a:lstStyle>
            <a:lvl1pPr algn="ctr">
              <a:defRPr b="0" i="0">
                <a:latin typeface="Helvetica"/>
                <a:cs typeface="Helvetica"/>
              </a:defRPr>
            </a:lvl1pPr>
          </a:lstStyle>
          <a:p>
            <a:r>
              <a:rPr lang="en-US" smtClean="0"/>
              <a:t>Click to edit Master title style</a:t>
            </a:r>
            <a:endParaRPr lang="en-US" dirty="0"/>
          </a:p>
        </p:txBody>
      </p:sp>
    </p:spTree>
    <p:extLst>
      <p:ext uri="{BB962C8B-B14F-4D97-AF65-F5344CB8AC3E}">
        <p14:creationId xmlns:p14="http://schemas.microsoft.com/office/powerpoint/2010/main" val="35442066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jpg"/><Relationship Id="rId10"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slideLayout" Target="../slideLayouts/slideLayout16.xml"/><Relationship Id="rId10" Type="http://schemas.openxmlformats.org/officeDocument/2006/relationships/theme" Target="../theme/theme2.xml"/><Relationship Id="rId1" Type="http://schemas.openxmlformats.org/officeDocument/2006/relationships/slideLayout" Target="../slideLayouts/slideLayout8.xml"/><Relationship Id="rId2"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11" Type="http://schemas.openxmlformats.org/officeDocument/2006/relationships/theme" Target="../theme/theme3.xml"/><Relationship Id="rId12" Type="http://schemas.openxmlformats.org/officeDocument/2006/relationships/image" Target="../media/image1.jpg"/><Relationship Id="rId13" Type="http://schemas.openxmlformats.org/officeDocument/2006/relationships/image" Target="../media/image2.png"/><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 Id="rId9" Type="http://schemas.openxmlformats.org/officeDocument/2006/relationships/slideLayout" Target="../slideLayouts/slideLayout25.xml"/><Relationship Id="rId10"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theme" Target="../theme/theme4.xml"/><Relationship Id="rId1" Type="http://schemas.openxmlformats.org/officeDocument/2006/relationships/slideLayout" Target="../slideLayouts/slideLayout27.xml"/><Relationship Id="rId2"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9"/>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006078"/>
            <a:ext cx="8229600" cy="3394472"/>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4" name="Picture 3" descr="Screen Shot 2015-12-08 at 7.04.00 PM.png"/>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782990" y="4763718"/>
            <a:ext cx="3708983" cy="356896"/>
          </a:xfrm>
          <a:prstGeom prst="rect">
            <a:avLst/>
          </a:prstGeom>
        </p:spPr>
      </p:pic>
    </p:spTree>
    <p:extLst>
      <p:ext uri="{BB962C8B-B14F-4D97-AF65-F5344CB8AC3E}">
        <p14:creationId xmlns:p14="http://schemas.microsoft.com/office/powerpoint/2010/main" val="4279784838"/>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4" r:id="rId5"/>
    <p:sldLayoutId id="2147483881" r:id="rId6"/>
    <p:sldLayoutId id="2147483880" r:id="rId7"/>
  </p:sldLayoutIdLst>
  <p:hf hdr="0" ftr="0" dt="0"/>
  <p:txStyles>
    <p:titleStyle>
      <a:lvl1pPr algn="r" defTabSz="457200" rtl="0" eaLnBrk="1" latinLnBrk="0" hangingPunct="1">
        <a:spcBef>
          <a:spcPct val="0"/>
        </a:spcBef>
        <a:buNone/>
        <a:defRPr sz="3200" b="0" i="0" kern="1200">
          <a:solidFill>
            <a:schemeClr val="tx1"/>
          </a:solidFill>
          <a:latin typeface="Gill Sans  "/>
          <a:ea typeface="+mj-ea"/>
          <a:cs typeface="Gill Sans  "/>
        </a:defRPr>
      </a:lvl1pPr>
    </p:titleStyle>
    <p:bodyStyle>
      <a:lvl1pPr marL="681038" indent="-342900" algn="l" defTabSz="457200" rtl="0" eaLnBrk="1" latinLnBrk="0" hangingPunct="1">
        <a:spcBef>
          <a:spcPct val="20000"/>
        </a:spcBef>
        <a:buFont typeface="Arial"/>
        <a:buChar char="•"/>
        <a:defRPr sz="2800" b="0" i="0" kern="1200">
          <a:solidFill>
            <a:schemeClr val="tx1"/>
          </a:solidFill>
          <a:latin typeface="Gill Sans Light"/>
          <a:ea typeface="+mn-ea"/>
          <a:cs typeface="Gill Sans Light"/>
        </a:defRPr>
      </a:lvl1pPr>
      <a:lvl2pPr marL="1028700" indent="-285750" algn="l" defTabSz="457200" rtl="0" eaLnBrk="1" latinLnBrk="0" hangingPunct="1">
        <a:spcBef>
          <a:spcPct val="20000"/>
        </a:spcBef>
        <a:buFont typeface="Arial"/>
        <a:buChar char="–"/>
        <a:defRPr sz="2400" b="0" i="0" kern="1200">
          <a:solidFill>
            <a:schemeClr val="tx1"/>
          </a:solidFill>
          <a:latin typeface="Gill Sans Light"/>
          <a:ea typeface="+mn-ea"/>
          <a:cs typeface="Gill Sans Light"/>
        </a:defRPr>
      </a:lvl2pPr>
      <a:lvl3pPr marL="1373188" indent="-225425" algn="l" defTabSz="457200" rtl="0" eaLnBrk="1" latinLnBrk="0" hangingPunct="1">
        <a:spcBef>
          <a:spcPct val="20000"/>
        </a:spcBef>
        <a:buFont typeface="Arial"/>
        <a:buChar char="•"/>
        <a:defRPr sz="2000" b="0" i="0" kern="1200">
          <a:solidFill>
            <a:schemeClr val="tx1"/>
          </a:solidFill>
          <a:latin typeface="Gill Sans Light"/>
          <a:ea typeface="+mn-ea"/>
          <a:cs typeface="Gill Sans Light"/>
        </a:defRPr>
      </a:lvl3pPr>
      <a:lvl4pPr marL="1833563" indent="-228600" algn="l" defTabSz="457200" rtl="0" eaLnBrk="1" latinLnBrk="0" hangingPunct="1">
        <a:spcBef>
          <a:spcPct val="20000"/>
        </a:spcBef>
        <a:buFont typeface="Arial"/>
        <a:buChar char="–"/>
        <a:defRPr sz="2000" b="0" i="0" kern="1200">
          <a:solidFill>
            <a:schemeClr val="tx1"/>
          </a:solidFill>
          <a:latin typeface="Gill Sans Light"/>
          <a:ea typeface="+mn-ea"/>
          <a:cs typeface="Gill Sans Light"/>
        </a:defRPr>
      </a:lvl4pPr>
      <a:lvl5pPr marL="2278063" indent="-228600" algn="l" defTabSz="457200" rtl="0" eaLnBrk="1" latinLnBrk="0" hangingPunct="1">
        <a:spcBef>
          <a:spcPct val="20000"/>
        </a:spcBef>
        <a:buFont typeface="Arial"/>
        <a:buChar char="»"/>
        <a:defRPr sz="2000" b="0" i="0" kern="1200">
          <a:solidFill>
            <a:schemeClr val="tx1"/>
          </a:solidFill>
          <a:latin typeface="Gill Sans Light"/>
          <a:ea typeface="+mn-ea"/>
          <a:cs typeface="Gill Sans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uk-UA" smtClean="0"/>
              <a:t>‹#›</a:t>
            </a:r>
            <a:endParaRPr lang="en-US" dirty="0"/>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C2A5DF18-8519-FC43-AA94-CBF4177941FF}" type="slidenum">
              <a:rPr lang="en-US" smtClean="0"/>
              <a:t>‹#›</a:t>
            </a:fld>
            <a:endParaRPr lang="en-US"/>
          </a:p>
        </p:txBody>
      </p:sp>
    </p:spTree>
    <p:extLst>
      <p:ext uri="{BB962C8B-B14F-4D97-AF65-F5344CB8AC3E}">
        <p14:creationId xmlns:p14="http://schemas.microsoft.com/office/powerpoint/2010/main" val="2833570243"/>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82" r:id="rId3"/>
    <p:sldLayoutId id="2147483883" r:id="rId4"/>
    <p:sldLayoutId id="2147483884" r:id="rId5"/>
    <p:sldLayoutId id="2147483885" r:id="rId6"/>
    <p:sldLayoutId id="2147483904" r:id="rId7"/>
    <p:sldLayoutId id="2147483905" r:id="rId8"/>
    <p:sldLayoutId id="2147483906" r:id="rId9"/>
  </p:sldLayoutIdLst>
  <p:hf hdr="0" ftr="0" dt="0"/>
  <p:txStyles>
    <p:titleStyle>
      <a:lvl1pPr algn="ctr" defTabSz="457200" rtl="0" eaLnBrk="1" latinLnBrk="0" hangingPunct="1">
        <a:spcBef>
          <a:spcPct val="0"/>
        </a:spcBef>
        <a:buNone/>
        <a:defRPr sz="3200" b="0" i="0" kern="1200">
          <a:solidFill>
            <a:schemeClr val="tx1"/>
          </a:solidFill>
          <a:latin typeface="Gill Sans"/>
          <a:ea typeface="+mj-ea"/>
          <a:cs typeface="Gill Sans"/>
        </a:defRPr>
      </a:lvl1pPr>
    </p:titleStyle>
    <p:bodyStyle>
      <a:lvl1pPr marL="342900" indent="-342900" algn="l" defTabSz="457200" rtl="0" eaLnBrk="1" latinLnBrk="0" hangingPunct="1">
        <a:spcBef>
          <a:spcPct val="20000"/>
        </a:spcBef>
        <a:buFont typeface="Arial"/>
        <a:buChar char="•"/>
        <a:defRPr sz="2800" b="0" i="0" kern="1200">
          <a:solidFill>
            <a:schemeClr val="tx1"/>
          </a:solidFill>
          <a:latin typeface="Gill Sans Light"/>
          <a:ea typeface="+mn-ea"/>
          <a:cs typeface="Gill Sans Light"/>
        </a:defRPr>
      </a:lvl1pPr>
      <a:lvl2pPr marL="742950" indent="-285750" algn="l" defTabSz="457200" rtl="0" eaLnBrk="1" latinLnBrk="0" hangingPunct="1">
        <a:spcBef>
          <a:spcPct val="20000"/>
        </a:spcBef>
        <a:buFont typeface="Arial"/>
        <a:buChar char="–"/>
        <a:defRPr sz="2400" b="0" i="0" kern="1200">
          <a:solidFill>
            <a:schemeClr val="tx1"/>
          </a:solidFill>
          <a:latin typeface="Gill Sans Light"/>
          <a:ea typeface="+mn-ea"/>
          <a:cs typeface="Gill Sans Light"/>
        </a:defRPr>
      </a:lvl2pPr>
      <a:lvl3pPr marL="1143000" indent="-228600" algn="l" defTabSz="457200" rtl="0" eaLnBrk="1" latinLnBrk="0" hangingPunct="1">
        <a:spcBef>
          <a:spcPct val="20000"/>
        </a:spcBef>
        <a:buFont typeface="Arial"/>
        <a:buChar char="•"/>
        <a:defRPr sz="2400" b="0" i="0" kern="1200">
          <a:solidFill>
            <a:schemeClr val="tx1"/>
          </a:solidFill>
          <a:latin typeface="Gill Sans Light"/>
          <a:ea typeface="+mn-ea"/>
          <a:cs typeface="Gill Sans Light"/>
        </a:defRPr>
      </a:lvl3pPr>
      <a:lvl4pPr marL="1600200" indent="-228600" algn="l" defTabSz="457200" rtl="0" eaLnBrk="1" latinLnBrk="0" hangingPunct="1">
        <a:spcBef>
          <a:spcPct val="20000"/>
        </a:spcBef>
        <a:buFont typeface="Arial"/>
        <a:buChar char="–"/>
        <a:defRPr sz="2000" b="0" i="0" kern="1200">
          <a:solidFill>
            <a:schemeClr val="tx1"/>
          </a:solidFill>
          <a:latin typeface="Gill Sans Light"/>
          <a:ea typeface="+mn-ea"/>
          <a:cs typeface="Gill Sans Light"/>
        </a:defRPr>
      </a:lvl4pPr>
      <a:lvl5pPr marL="2057400" indent="-228600" algn="l" defTabSz="457200" rtl="0" eaLnBrk="1" latinLnBrk="0" hangingPunct="1">
        <a:spcBef>
          <a:spcPct val="20000"/>
        </a:spcBef>
        <a:buFont typeface="Arial"/>
        <a:buChar char="»"/>
        <a:defRPr sz="2000" b="0" i="0" kern="1200">
          <a:solidFill>
            <a:schemeClr val="tx1"/>
          </a:solidFill>
          <a:latin typeface="Gill Sans Light"/>
          <a:ea typeface="+mn-ea"/>
          <a:cs typeface="Gill Sans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006078"/>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4" name="Picture 3" descr="Screen Shot 2015-12-08 at 7.04.00 PM.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82990" y="4763718"/>
            <a:ext cx="3708983" cy="356896"/>
          </a:xfrm>
          <a:prstGeom prst="rect">
            <a:avLst/>
          </a:prstGeom>
        </p:spPr>
      </p:pic>
    </p:spTree>
    <p:extLst>
      <p:ext uri="{BB962C8B-B14F-4D97-AF65-F5344CB8AC3E}">
        <p14:creationId xmlns:p14="http://schemas.microsoft.com/office/powerpoint/2010/main" val="4279784838"/>
      </p:ext>
    </p:extLst>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r" defTabSz="457200" rtl="0" eaLnBrk="1" latinLnBrk="0" hangingPunct="1">
        <a:spcBef>
          <a:spcPct val="0"/>
        </a:spcBef>
        <a:buNone/>
        <a:defRPr sz="3200" b="0" kern="1200">
          <a:solidFill>
            <a:schemeClr val="tx1"/>
          </a:solidFill>
          <a:latin typeface="Gill Sans"/>
          <a:ea typeface="+mj-ea"/>
          <a:cs typeface="Gill Sans"/>
        </a:defRPr>
      </a:lvl1pPr>
    </p:titleStyle>
    <p:bodyStyle>
      <a:lvl1pPr marL="681038" indent="-342900" algn="l" defTabSz="457200" rtl="0" eaLnBrk="1" latinLnBrk="0" hangingPunct="1">
        <a:spcBef>
          <a:spcPct val="20000"/>
        </a:spcBef>
        <a:buFont typeface="Arial"/>
        <a:buChar char="•"/>
        <a:defRPr sz="2800" kern="1200">
          <a:solidFill>
            <a:schemeClr val="tx1"/>
          </a:solidFill>
          <a:latin typeface="Gill Sans Light"/>
          <a:ea typeface="+mn-ea"/>
          <a:cs typeface="Gill Sans Light"/>
        </a:defRPr>
      </a:lvl1pPr>
      <a:lvl2pPr marL="1028700" indent="-285750" algn="l" defTabSz="457200" rtl="0" eaLnBrk="1" latinLnBrk="0" hangingPunct="1">
        <a:spcBef>
          <a:spcPct val="20000"/>
        </a:spcBef>
        <a:buFont typeface="Arial"/>
        <a:buChar char="–"/>
        <a:defRPr sz="2400" kern="1200">
          <a:solidFill>
            <a:schemeClr val="tx1"/>
          </a:solidFill>
          <a:latin typeface="Gill Sans Light"/>
          <a:ea typeface="+mn-ea"/>
          <a:cs typeface="Gill Sans Light"/>
        </a:defRPr>
      </a:lvl2pPr>
      <a:lvl3pPr marL="1373188" indent="-225425" algn="l" defTabSz="457200" rtl="0" eaLnBrk="1" latinLnBrk="0" hangingPunct="1">
        <a:spcBef>
          <a:spcPct val="20000"/>
        </a:spcBef>
        <a:buFont typeface="Arial"/>
        <a:buChar char="•"/>
        <a:defRPr sz="2000" kern="1200">
          <a:solidFill>
            <a:schemeClr val="tx1"/>
          </a:solidFill>
          <a:latin typeface="Gill Sans Light"/>
          <a:ea typeface="+mn-ea"/>
          <a:cs typeface="Gill Sans Light"/>
        </a:defRPr>
      </a:lvl3pPr>
      <a:lvl4pPr marL="1833563" indent="-228600" algn="l" defTabSz="457200" rtl="0" eaLnBrk="1" latinLnBrk="0" hangingPunct="1">
        <a:spcBef>
          <a:spcPct val="20000"/>
        </a:spcBef>
        <a:buFont typeface="Arial"/>
        <a:buChar char="–"/>
        <a:defRPr sz="2000" kern="1200">
          <a:solidFill>
            <a:schemeClr val="tx1"/>
          </a:solidFill>
          <a:latin typeface="Gill Sans Light"/>
          <a:ea typeface="+mn-ea"/>
          <a:cs typeface="Gill Sans Light"/>
        </a:defRPr>
      </a:lvl4pPr>
      <a:lvl5pPr marL="2278063" indent="-228600" algn="l" defTabSz="457200" rtl="0" eaLnBrk="1" latinLnBrk="0" hangingPunct="1">
        <a:spcBef>
          <a:spcPct val="20000"/>
        </a:spcBef>
        <a:buFont typeface="Arial"/>
        <a:buChar char="»"/>
        <a:defRPr sz="2000" kern="1200">
          <a:solidFill>
            <a:schemeClr val="tx1"/>
          </a:solidFill>
          <a:latin typeface="Gill Sans Light"/>
          <a:ea typeface="+mn-ea"/>
          <a:cs typeface="Gill Sans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uk-UA" smtClean="0"/>
              <a:t>‹#›</a:t>
            </a:r>
            <a:endParaRPr lang="en-US" dirty="0"/>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C2A5DF18-8519-FC43-AA94-CBF4177941FF}" type="slidenum">
              <a:rPr lang="en-US" smtClean="0"/>
              <a:t>‹#›</a:t>
            </a:fld>
            <a:endParaRPr lang="en-US"/>
          </a:p>
        </p:txBody>
      </p:sp>
    </p:spTree>
    <p:extLst>
      <p:ext uri="{BB962C8B-B14F-4D97-AF65-F5344CB8AC3E}">
        <p14:creationId xmlns:p14="http://schemas.microsoft.com/office/powerpoint/2010/main" val="2833570243"/>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Lst>
  <p:hf hdr="0" ftr="0" dt="0"/>
  <p:txStyles>
    <p:titleStyle>
      <a:lvl1pPr algn="ctr" defTabSz="457200" rtl="0" eaLnBrk="1" latinLnBrk="0" hangingPunct="1">
        <a:spcBef>
          <a:spcPct val="0"/>
        </a:spcBef>
        <a:buNone/>
        <a:defRPr sz="3200" b="0" i="0" kern="1200">
          <a:solidFill>
            <a:schemeClr val="tx1"/>
          </a:solidFill>
          <a:latin typeface="Helvetica"/>
          <a:ea typeface="+mj-ea"/>
          <a:cs typeface="Helvetica"/>
        </a:defRPr>
      </a:lvl1pPr>
    </p:titleStyle>
    <p:bodyStyle>
      <a:lvl1pPr marL="342900" indent="-342900" algn="l" defTabSz="457200" rtl="0" eaLnBrk="1" latinLnBrk="0" hangingPunct="1">
        <a:spcBef>
          <a:spcPct val="20000"/>
        </a:spcBef>
        <a:buFont typeface="Arial"/>
        <a:buChar char="•"/>
        <a:defRPr sz="2800" b="0" i="0" kern="1200">
          <a:solidFill>
            <a:schemeClr val="tx1"/>
          </a:solidFill>
          <a:latin typeface="Helvetica Light"/>
          <a:ea typeface="+mn-ea"/>
          <a:cs typeface="Helvetica Light"/>
        </a:defRPr>
      </a:lvl1pPr>
      <a:lvl2pPr marL="742950" indent="-285750" algn="l" defTabSz="457200" rtl="0" eaLnBrk="1" latinLnBrk="0" hangingPunct="1">
        <a:spcBef>
          <a:spcPct val="20000"/>
        </a:spcBef>
        <a:buFont typeface="Arial"/>
        <a:buChar char="–"/>
        <a:defRPr sz="2400" b="0" i="0" kern="1200">
          <a:solidFill>
            <a:schemeClr val="tx1"/>
          </a:solidFill>
          <a:latin typeface="Helvetica Light"/>
          <a:ea typeface="+mn-ea"/>
          <a:cs typeface="Helvetica Light"/>
        </a:defRPr>
      </a:lvl2pPr>
      <a:lvl3pPr marL="1143000" indent="-228600" algn="l" defTabSz="457200" rtl="0" eaLnBrk="1" latinLnBrk="0" hangingPunct="1">
        <a:spcBef>
          <a:spcPct val="20000"/>
        </a:spcBef>
        <a:buFont typeface="Arial"/>
        <a:buChar char="•"/>
        <a:defRPr sz="2400" b="0" i="0" kern="1200">
          <a:solidFill>
            <a:schemeClr val="tx1"/>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b="0" i="0" kern="1200">
          <a:solidFill>
            <a:schemeClr val="tx1"/>
          </a:solidFill>
          <a:latin typeface="Helvetica Light"/>
          <a:ea typeface="+mn-ea"/>
          <a:cs typeface="Helvetica Light"/>
        </a:defRPr>
      </a:lvl4pPr>
      <a:lvl5pPr marL="2057400" indent="-228600" algn="l" defTabSz="457200" rtl="0" eaLnBrk="1" latinLnBrk="0" hangingPunct="1">
        <a:spcBef>
          <a:spcPct val="20000"/>
        </a:spcBef>
        <a:buFont typeface="Arial"/>
        <a:buChar char="»"/>
        <a:defRPr sz="2000" b="0" i="0" kern="1200">
          <a:solidFill>
            <a:schemeClr val="tx1"/>
          </a:solidFill>
          <a:latin typeface="Helvetica Light"/>
          <a:ea typeface="+mn-ea"/>
          <a:cs typeface="Helvetica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Word_Document1.docx"/><Relationship Id="rId4" Type="http://schemas.openxmlformats.org/officeDocument/2006/relationships/image" Target="../media/image8.emf"/><Relationship Id="rId1" Type="http://schemas.openxmlformats.org/officeDocument/2006/relationships/vmlDrawing" Target="../drawings/vmlDrawing1.vml"/><Relationship Id="rId2"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Innovation Overview</a:t>
            </a:r>
            <a:endParaRPr lang="en-US" dirty="0"/>
          </a:p>
        </p:txBody>
      </p:sp>
      <p:sp>
        <p:nvSpPr>
          <p:cNvPr id="5" name="Subtitle 4"/>
          <p:cNvSpPr>
            <a:spLocks noGrp="1"/>
          </p:cNvSpPr>
          <p:nvPr>
            <p:ph type="subTitle" idx="1"/>
          </p:nvPr>
        </p:nvSpPr>
        <p:spPr/>
        <p:txBody>
          <a:bodyPr/>
          <a:lstStyle/>
          <a:p>
            <a:r>
              <a:rPr lang="en-US" dirty="0" smtClean="0"/>
              <a:t>Stephanie Shipp</a:t>
            </a:r>
          </a:p>
          <a:p>
            <a:r>
              <a:rPr lang="en-US" dirty="0" err="1" smtClean="0"/>
              <a:t>Gizem</a:t>
            </a:r>
            <a:r>
              <a:rPr lang="en-US" dirty="0" smtClean="0"/>
              <a:t> </a:t>
            </a:r>
            <a:r>
              <a:rPr lang="en-US" dirty="0" err="1" smtClean="0"/>
              <a:t>Korkmaz</a:t>
            </a:r>
            <a:endParaRPr lang="en-US" dirty="0" smtClean="0"/>
          </a:p>
          <a:p>
            <a:r>
              <a:rPr lang="en-US" dirty="0" smtClean="0"/>
              <a:t>May 31, 2016</a:t>
            </a:r>
            <a:endParaRPr lang="en-US" dirty="0"/>
          </a:p>
        </p:txBody>
      </p:sp>
    </p:spTree>
    <p:extLst>
      <p:ext uri="{BB962C8B-B14F-4D97-AF65-F5344CB8AC3E}">
        <p14:creationId xmlns:p14="http://schemas.microsoft.com/office/powerpoint/2010/main" val="1011668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From Invention to Innovation</a:t>
            </a:r>
            <a:endParaRPr lang="en-US" dirty="0"/>
          </a:p>
        </p:txBody>
      </p:sp>
      <p:sp>
        <p:nvSpPr>
          <p:cNvPr id="3" name="Content Placeholder 2"/>
          <p:cNvSpPr>
            <a:spLocks noGrp="1"/>
          </p:cNvSpPr>
          <p:nvPr>
            <p:ph idx="1"/>
          </p:nvPr>
        </p:nvSpPr>
        <p:spPr>
          <a:xfrm>
            <a:off x="457200" y="1006078"/>
            <a:ext cx="8229600" cy="3623072"/>
          </a:xfrm>
        </p:spPr>
        <p:txBody>
          <a:bodyPr>
            <a:noAutofit/>
          </a:bodyPr>
          <a:lstStyle/>
          <a:p>
            <a:pPr marL="338138" indent="0">
              <a:buNone/>
            </a:pPr>
            <a:r>
              <a:rPr lang="en-US" sz="1800" dirty="0" smtClean="0"/>
              <a:t>Many definitions  - let’s pick two</a:t>
            </a:r>
          </a:p>
          <a:p>
            <a:pPr lvl="0"/>
            <a:r>
              <a:rPr lang="en-US" sz="1800" dirty="0"/>
              <a:t>In </a:t>
            </a:r>
            <a:r>
              <a:rPr lang="en-US" sz="1800" b="1" dirty="0">
                <a:solidFill>
                  <a:srgbClr val="800000"/>
                </a:solidFill>
                <a:effectLst>
                  <a:outerShdw blurRad="50800" dist="38100" dir="2700000" algn="tl" rotWithShape="0">
                    <a:srgbClr val="000000">
                      <a:alpha val="43000"/>
                    </a:srgbClr>
                  </a:outerShdw>
                </a:effectLst>
              </a:rPr>
              <a:t>OECD’s </a:t>
            </a:r>
            <a:r>
              <a:rPr lang="en-US" sz="1800" b="1" i="1" dirty="0">
                <a:solidFill>
                  <a:srgbClr val="800000"/>
                </a:solidFill>
                <a:effectLst>
                  <a:outerShdw blurRad="50800" dist="38100" dir="2700000" algn="tl" rotWithShape="0">
                    <a:srgbClr val="000000">
                      <a:alpha val="43000"/>
                    </a:srgbClr>
                  </a:outerShdw>
                </a:effectLst>
              </a:rPr>
              <a:t>Oslo Manual</a:t>
            </a:r>
            <a:r>
              <a:rPr lang="en-US" sz="1800" dirty="0"/>
              <a:t>, which provides guidelines for collecting and interpreting innovation data, </a:t>
            </a:r>
            <a:r>
              <a:rPr lang="en-US" sz="1800" b="1" dirty="0">
                <a:solidFill>
                  <a:srgbClr val="800000"/>
                </a:solidFill>
                <a:effectLst>
                  <a:outerShdw blurRad="50800" dist="38100" dir="2700000" algn="tl" rotWithShape="0">
                    <a:srgbClr val="000000">
                      <a:alpha val="43000"/>
                    </a:srgbClr>
                  </a:outerShdw>
                </a:effectLst>
              </a:rPr>
              <a:t>innovation is defined as the implementation of products or production and delivery processes with new or significantly improved characteristics</a:t>
            </a:r>
            <a:r>
              <a:rPr lang="en-US" sz="1800" dirty="0"/>
              <a:t>. </a:t>
            </a:r>
            <a:endParaRPr lang="en-US" sz="1800" dirty="0" smtClean="0"/>
          </a:p>
          <a:p>
            <a:pPr lvl="1"/>
            <a:r>
              <a:rPr lang="en-US" sz="1800" dirty="0" smtClean="0"/>
              <a:t>The </a:t>
            </a:r>
            <a:r>
              <a:rPr lang="en-US" sz="1800" dirty="0"/>
              <a:t>third edition of the </a:t>
            </a:r>
            <a:r>
              <a:rPr lang="en-US" sz="1800" i="1" dirty="0"/>
              <a:t>Oslo Manual </a:t>
            </a:r>
            <a:r>
              <a:rPr lang="en-US" sz="1800" b="1" dirty="0">
                <a:solidFill>
                  <a:srgbClr val="800000"/>
                </a:solidFill>
                <a:effectLst>
                  <a:outerShdw blurRad="50800" dist="38100" dir="2700000" algn="tl" rotWithShape="0">
                    <a:srgbClr val="000000">
                      <a:alpha val="43000"/>
                    </a:srgbClr>
                  </a:outerShdw>
                </a:effectLst>
              </a:rPr>
              <a:t>extends the definition to include new organizational methods in business practices, workplace organization, or external relations</a:t>
            </a:r>
            <a:r>
              <a:rPr lang="en-US" sz="1800" dirty="0"/>
              <a:t> (OECD 2005)</a:t>
            </a:r>
            <a:r>
              <a:rPr lang="en-US" sz="1800" dirty="0" smtClean="0"/>
              <a:t>.</a:t>
            </a:r>
            <a:endParaRPr lang="en-US" sz="1800" dirty="0"/>
          </a:p>
          <a:p>
            <a:pPr lvl="0"/>
            <a:r>
              <a:rPr lang="en-US" sz="1800" dirty="0"/>
              <a:t>DOC defines innovation as the design, development, and implementation of new or altered products, services, processes, organizational structures, and business models to create value for the customer and financial returns for the firm practicing innovation (DOC 2008).</a:t>
            </a:r>
          </a:p>
          <a:p>
            <a:pPr marL="338138" indent="0">
              <a:buNone/>
            </a:pPr>
            <a:endParaRPr lang="en-US" sz="2400" dirty="0" smtClean="0"/>
          </a:p>
          <a:p>
            <a:pPr marL="338138" indent="0">
              <a:buNone/>
            </a:pPr>
            <a:endParaRPr lang="en-US" sz="2400" dirty="0"/>
          </a:p>
          <a:p>
            <a:pPr marL="338138" indent="0">
              <a:buNone/>
            </a:pPr>
            <a:endParaRPr lang="en-US" sz="2400" dirty="0" smtClean="0"/>
          </a:p>
        </p:txBody>
      </p:sp>
    </p:spTree>
    <p:extLst>
      <p:ext uri="{BB962C8B-B14F-4D97-AF65-F5344CB8AC3E}">
        <p14:creationId xmlns:p14="http://schemas.microsoft.com/office/powerpoint/2010/main" val="3184885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8229600" cy="857250"/>
          </a:xfrm>
        </p:spPr>
        <p:txBody>
          <a:bodyPr/>
          <a:lstStyle/>
          <a:p>
            <a:pPr algn="ctr">
              <a:lnSpc>
                <a:spcPct val="90000"/>
              </a:lnSpc>
            </a:pPr>
            <a:r>
              <a:rPr lang="en-US" dirty="0" smtClean="0"/>
              <a:t>Generations of Innovation Metrics – What will be the next generation?</a:t>
            </a:r>
            <a:endParaRPr lang="en-US" dirty="0"/>
          </a:p>
        </p:txBody>
      </p:sp>
      <p:sp>
        <p:nvSpPr>
          <p:cNvPr id="3" name="Content Placeholder 2"/>
          <p:cNvSpPr>
            <a:spLocks noGrp="1"/>
          </p:cNvSpPr>
          <p:nvPr>
            <p:ph idx="1"/>
          </p:nvPr>
        </p:nvSpPr>
        <p:spPr/>
        <p:txBody>
          <a:bodyPr>
            <a:noAutofit/>
          </a:bodyPr>
          <a:lstStyle/>
          <a:p>
            <a:pPr marL="338138" lvl="0" indent="0">
              <a:buNone/>
            </a:pPr>
            <a:r>
              <a:rPr lang="en-US" sz="2000" b="1" i="1" dirty="0">
                <a:solidFill>
                  <a:srgbClr val="800000"/>
                </a:solidFill>
                <a:effectLst>
                  <a:outerShdw blurRad="50800" dist="38100" dir="2700000" algn="tl" rotWithShape="0">
                    <a:srgbClr val="000000">
                      <a:alpha val="43000"/>
                    </a:srgbClr>
                  </a:outerShdw>
                </a:effectLst>
              </a:rPr>
              <a:t>First generation</a:t>
            </a:r>
            <a:r>
              <a:rPr lang="en-US" sz="2000" b="1" dirty="0">
                <a:solidFill>
                  <a:srgbClr val="800000"/>
                </a:solidFill>
                <a:effectLst>
                  <a:outerShdw blurRad="50800" dist="38100" dir="2700000" algn="tl" rotWithShape="0">
                    <a:srgbClr val="000000">
                      <a:alpha val="43000"/>
                    </a:srgbClr>
                  </a:outerShdw>
                </a:effectLst>
              </a:rPr>
              <a:t> </a:t>
            </a:r>
            <a:r>
              <a:rPr lang="en-US" sz="2000" dirty="0"/>
              <a:t>metrics reflect a linear conception of innovation focusing on</a:t>
            </a:r>
          </a:p>
          <a:p>
            <a:pPr marL="338138" indent="0">
              <a:buNone/>
            </a:pPr>
            <a:r>
              <a:rPr lang="en-US" sz="2000" i="1" dirty="0"/>
              <a:t>inputs </a:t>
            </a:r>
            <a:r>
              <a:rPr lang="en-US" sz="2000" dirty="0"/>
              <a:t>such as R&amp;D investment.</a:t>
            </a:r>
          </a:p>
          <a:p>
            <a:pPr marL="338138" lvl="0" indent="0">
              <a:buNone/>
            </a:pPr>
            <a:r>
              <a:rPr lang="en-US" sz="2000" b="1" i="1" dirty="0">
                <a:solidFill>
                  <a:srgbClr val="800000"/>
                </a:solidFill>
                <a:effectLst>
                  <a:outerShdw blurRad="50800" dist="38100" dir="2700000" algn="tl" rotWithShape="0">
                    <a:srgbClr val="000000">
                      <a:alpha val="43000"/>
                    </a:srgbClr>
                  </a:outerShdw>
                </a:effectLst>
              </a:rPr>
              <a:t>Second generation </a:t>
            </a:r>
            <a:r>
              <a:rPr lang="en-US" sz="2000" dirty="0"/>
              <a:t>complements input indicators by accounting for the</a:t>
            </a:r>
          </a:p>
          <a:p>
            <a:pPr marL="338138" indent="0">
              <a:buNone/>
            </a:pPr>
            <a:r>
              <a:rPr lang="en-US" sz="2000" i="1" dirty="0"/>
              <a:t>intermediate outputs </a:t>
            </a:r>
            <a:r>
              <a:rPr lang="en-US" sz="2000" dirty="0"/>
              <a:t>of science and technology (S&amp;T) activities</a:t>
            </a:r>
            <a:r>
              <a:rPr lang="en-US" sz="2000" dirty="0" smtClean="0"/>
              <a:t>.</a:t>
            </a:r>
            <a:endParaRPr lang="en-US" sz="2000" i="1" dirty="0" smtClean="0"/>
          </a:p>
          <a:p>
            <a:pPr marL="338138" lvl="0" indent="0">
              <a:buNone/>
            </a:pPr>
            <a:r>
              <a:rPr lang="en-US" sz="2000" b="1" i="1" dirty="0">
                <a:solidFill>
                  <a:srgbClr val="800000"/>
                </a:solidFill>
                <a:effectLst>
                  <a:outerShdw blurRad="50800" dist="38100" dir="2700000" algn="tl" rotWithShape="0">
                    <a:srgbClr val="000000">
                      <a:alpha val="43000"/>
                    </a:srgbClr>
                  </a:outerShdw>
                </a:effectLst>
              </a:rPr>
              <a:t>Third </a:t>
            </a:r>
            <a:r>
              <a:rPr lang="en-US" sz="2000" b="1" i="1" dirty="0">
                <a:solidFill>
                  <a:srgbClr val="800000"/>
                </a:solidFill>
                <a:effectLst>
                  <a:outerShdw blurRad="50800" dist="38100" dir="2700000" algn="tl" rotWithShape="0">
                    <a:srgbClr val="000000">
                      <a:alpha val="43000"/>
                    </a:srgbClr>
                  </a:outerShdw>
                </a:effectLst>
              </a:rPr>
              <a:t>generation </a:t>
            </a:r>
            <a:r>
              <a:rPr lang="en-US" sz="2000" dirty="0"/>
              <a:t>metrics focus on a richer set of </a:t>
            </a:r>
            <a:r>
              <a:rPr lang="en-US" sz="2000" i="1" dirty="0"/>
              <a:t>innovation indicators and indexes </a:t>
            </a:r>
            <a:r>
              <a:rPr lang="en-US" sz="2000" dirty="0"/>
              <a:t>based on surveys and the integration of publicly available data.</a:t>
            </a:r>
          </a:p>
          <a:p>
            <a:pPr marL="338138" lvl="0" indent="0">
              <a:buNone/>
            </a:pPr>
            <a:r>
              <a:rPr lang="en-US" sz="2000" b="1" i="1" dirty="0">
                <a:solidFill>
                  <a:srgbClr val="800000"/>
                </a:solidFill>
                <a:effectLst>
                  <a:outerShdw blurRad="50800" dist="38100" dir="2700000" algn="tl" rotWithShape="0">
                    <a:srgbClr val="000000">
                      <a:alpha val="43000"/>
                    </a:srgbClr>
                  </a:outerShdw>
                </a:effectLst>
              </a:rPr>
              <a:t>Fourth generation </a:t>
            </a:r>
            <a:r>
              <a:rPr lang="en-US" sz="2000" dirty="0"/>
              <a:t>metrics, grounded in a knowledge-based networked economy, remain ad hoc and are the subject of measurement</a:t>
            </a:r>
            <a:r>
              <a:rPr lang="en-US" sz="2000" dirty="0" smtClean="0"/>
              <a:t>.</a:t>
            </a:r>
          </a:p>
          <a:p>
            <a:pPr marL="338138" lvl="0" indent="0" algn="ctr">
              <a:buNone/>
            </a:pPr>
            <a:r>
              <a:rPr lang="en-US" sz="2000" b="1" i="1" dirty="0">
                <a:solidFill>
                  <a:srgbClr val="800000"/>
                </a:solidFill>
                <a:effectLst>
                  <a:outerShdw blurRad="50800" dist="38100" dir="2700000" algn="tl" rotWithShape="0">
                    <a:srgbClr val="000000">
                      <a:alpha val="43000"/>
                    </a:srgbClr>
                  </a:outerShdw>
                </a:effectLst>
              </a:rPr>
              <a:t>What will be the fifth generation?</a:t>
            </a:r>
            <a:endParaRPr lang="en-US" sz="2000" b="1" i="1" dirty="0">
              <a:solidFill>
                <a:srgbClr val="800000"/>
              </a:solidFill>
              <a:effectLst>
                <a:outerShdw blurRad="50800" dist="38100" dir="2700000" algn="tl" rotWithShape="0">
                  <a:srgbClr val="000000">
                    <a:alpha val="43000"/>
                  </a:srgbClr>
                </a:outerShdw>
              </a:effectLst>
            </a:endParaRPr>
          </a:p>
          <a:p>
            <a:pPr marL="338138" indent="0">
              <a:buNone/>
            </a:pPr>
            <a:endParaRPr lang="en-US" sz="2000" dirty="0"/>
          </a:p>
        </p:txBody>
      </p:sp>
      <p:sp>
        <p:nvSpPr>
          <p:cNvPr id="4" name="TextBox 3"/>
          <p:cNvSpPr txBox="1"/>
          <p:nvPr/>
        </p:nvSpPr>
        <p:spPr>
          <a:xfrm>
            <a:off x="762000" y="4705350"/>
            <a:ext cx="4081967" cy="400110"/>
          </a:xfrm>
          <a:prstGeom prst="rect">
            <a:avLst/>
          </a:prstGeom>
          <a:noFill/>
        </p:spPr>
        <p:txBody>
          <a:bodyPr wrap="none" rtlCol="0">
            <a:spAutoFit/>
          </a:bodyPr>
          <a:lstStyle/>
          <a:p>
            <a:r>
              <a:rPr lang="en-US" sz="2000" dirty="0" smtClean="0">
                <a:latin typeface="Gill Sans Light"/>
                <a:cs typeface="Gill Sans Light"/>
              </a:rPr>
              <a:t>Source: </a:t>
            </a:r>
            <a:r>
              <a:rPr lang="en-US" sz="2000" dirty="0" err="1"/>
              <a:t>Milbergs</a:t>
            </a:r>
            <a:r>
              <a:rPr lang="en-US" sz="2000" dirty="0"/>
              <a:t> and </a:t>
            </a:r>
            <a:r>
              <a:rPr lang="en-US" sz="2000" dirty="0" err="1"/>
              <a:t>Vonortas</a:t>
            </a:r>
            <a:r>
              <a:rPr lang="en-US" sz="2000" dirty="0"/>
              <a:t> (2004) </a:t>
            </a:r>
            <a:endParaRPr lang="en-US" sz="2000" dirty="0">
              <a:latin typeface="Gill Sans Light"/>
              <a:cs typeface="Gill Sans Light"/>
            </a:endParaRPr>
          </a:p>
        </p:txBody>
      </p:sp>
    </p:spTree>
    <p:extLst>
      <p:ext uri="{BB962C8B-B14F-4D97-AF65-F5344CB8AC3E}">
        <p14:creationId xmlns:p14="http://schemas.microsoft.com/office/powerpoint/2010/main" val="338307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3350"/>
            <a:ext cx="9144000" cy="857250"/>
          </a:xfrm>
        </p:spPr>
        <p:txBody>
          <a:bodyPr/>
          <a:lstStyle/>
          <a:p>
            <a:pPr algn="ctr"/>
            <a:r>
              <a:rPr lang="en-US" dirty="0" smtClean="0"/>
              <a:t>Innovation – Tangible and Intangible Inputs &amp; Outputs</a:t>
            </a:r>
            <a:endParaRPr lang="en-US" dirty="0"/>
          </a:p>
        </p:txBody>
      </p:sp>
      <p:pic>
        <p:nvPicPr>
          <p:cNvPr id="18" name="Content Placeholder 17" descr="Screen Shot 2016-05-31 at 4.39.06 AM.png"/>
          <p:cNvPicPr>
            <a:picLocks noGrp="1" noChangeAspect="1"/>
          </p:cNvPicPr>
          <p:nvPr>
            <p:ph idx="1"/>
          </p:nvPr>
        </p:nvPicPr>
        <p:blipFill>
          <a:blip r:embed="rId3">
            <a:extLst>
              <a:ext uri="{28A0092B-C50C-407E-A947-70E740481C1C}">
                <a14:useLocalDpi xmlns:a14="http://schemas.microsoft.com/office/drawing/2010/main" val="0"/>
              </a:ext>
            </a:extLst>
          </a:blip>
          <a:srcRect t="4232" b="4232"/>
          <a:stretch>
            <a:fillRect/>
          </a:stretch>
        </p:blipFill>
        <p:spPr>
          <a:xfrm>
            <a:off x="457200" y="1158478"/>
            <a:ext cx="8229600" cy="3470672"/>
          </a:xfrm>
        </p:spPr>
      </p:pic>
    </p:spTree>
    <p:extLst>
      <p:ext uri="{BB962C8B-B14F-4D97-AF65-F5344CB8AC3E}">
        <p14:creationId xmlns:p14="http://schemas.microsoft.com/office/powerpoint/2010/main" val="3390642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Measuring Inputs to Business Innovation</a:t>
            </a:r>
            <a:endParaRPr lang="en-US" dirty="0"/>
          </a:p>
        </p:txBody>
      </p:sp>
      <p:sp>
        <p:nvSpPr>
          <p:cNvPr id="3" name="Content Placeholder 2"/>
          <p:cNvSpPr>
            <a:spLocks noGrp="1"/>
          </p:cNvSpPr>
          <p:nvPr>
            <p:ph idx="1"/>
          </p:nvPr>
        </p:nvSpPr>
        <p:spPr>
          <a:xfrm>
            <a:off x="152400" y="1006078"/>
            <a:ext cx="8534400" cy="3394472"/>
          </a:xfrm>
        </p:spPr>
        <p:txBody>
          <a:bodyPr/>
          <a:lstStyle/>
          <a:p>
            <a:pPr lvl="0"/>
            <a:r>
              <a:rPr lang="en-US" sz="2000" b="1" i="1" dirty="0">
                <a:solidFill>
                  <a:srgbClr val="800000"/>
                </a:solidFill>
                <a:effectLst>
                  <a:outerShdw blurRad="50800" dist="38100" dir="2700000" algn="tl" rotWithShape="0">
                    <a:srgbClr val="000000">
                      <a:alpha val="43000"/>
                    </a:srgbClr>
                  </a:outerShdw>
                </a:effectLst>
              </a:rPr>
              <a:t>Human capital </a:t>
            </a:r>
            <a:r>
              <a:rPr lang="en-US" sz="2000" dirty="0"/>
              <a:t>refers to the knowledge, skills, and competencies of individuals.</a:t>
            </a:r>
          </a:p>
          <a:p>
            <a:pPr lvl="0"/>
            <a:r>
              <a:rPr lang="en-US" sz="2000" b="1" i="1" dirty="0">
                <a:solidFill>
                  <a:srgbClr val="800000"/>
                </a:solidFill>
                <a:effectLst>
                  <a:outerShdw blurRad="50800" dist="38100" dir="2700000" algn="tl" rotWithShape="0">
                    <a:srgbClr val="000000">
                      <a:alpha val="43000"/>
                    </a:srgbClr>
                  </a:outerShdw>
                </a:effectLst>
              </a:rPr>
              <a:t>Intellectual capital </a:t>
            </a:r>
            <a:r>
              <a:rPr lang="en-US" sz="2000" dirty="0"/>
              <a:t>refers to the knowledge and technological capabilities of the firm, such as intellectual property (patents, copyrights, and trade secrets), databases, software, and equipment that lead to specialized technological capabilities, and including human capital, organizational knowledge, and information stored in institutional databases.</a:t>
            </a:r>
          </a:p>
          <a:p>
            <a:pPr lvl="0"/>
            <a:r>
              <a:rPr lang="en-US" sz="2000" b="1" i="1" dirty="0">
                <a:solidFill>
                  <a:srgbClr val="800000"/>
                </a:solidFill>
                <a:effectLst>
                  <a:outerShdw blurRad="50800" dist="38100" dir="2700000" algn="tl" rotWithShape="0">
                    <a:srgbClr val="000000">
                      <a:alpha val="43000"/>
                    </a:srgbClr>
                  </a:outerShdw>
                </a:effectLst>
              </a:rPr>
              <a:t>Organizational or structural capital </a:t>
            </a:r>
            <a:r>
              <a:rPr lang="en-US" sz="2000" dirty="0"/>
              <a:t>encompasses processes, databases, software, and organizational competencies.</a:t>
            </a:r>
          </a:p>
          <a:p>
            <a:pPr lvl="0"/>
            <a:r>
              <a:rPr lang="en-US" sz="2000" b="1" i="1" dirty="0">
                <a:solidFill>
                  <a:srgbClr val="800000"/>
                </a:solidFill>
                <a:effectLst>
                  <a:outerShdw blurRad="50800" dist="38100" dir="2700000" algn="tl" rotWithShape="0">
                    <a:srgbClr val="000000">
                      <a:alpha val="43000"/>
                    </a:srgbClr>
                  </a:outerShdw>
                </a:effectLst>
              </a:rPr>
              <a:t>Relational capital </a:t>
            </a:r>
            <a:r>
              <a:rPr lang="en-US" sz="2000" dirty="0"/>
              <a:t>refers to relationships with external stakeholders, including customers and suppliers.</a:t>
            </a:r>
          </a:p>
          <a:p>
            <a:endParaRPr lang="en-US" dirty="0"/>
          </a:p>
        </p:txBody>
      </p:sp>
    </p:spTree>
    <p:extLst>
      <p:ext uri="{BB962C8B-B14F-4D97-AF65-F5344CB8AC3E}">
        <p14:creationId xmlns:p14="http://schemas.microsoft.com/office/powerpoint/2010/main" val="1178481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EU Community Innovation Surveys – 4 Types</a:t>
            </a:r>
            <a:endParaRPr lang="en-US" dirty="0"/>
          </a:p>
        </p:txBody>
      </p:sp>
      <p:sp>
        <p:nvSpPr>
          <p:cNvPr id="3" name="Content Placeholder 2"/>
          <p:cNvSpPr>
            <a:spLocks noGrp="1"/>
          </p:cNvSpPr>
          <p:nvPr>
            <p:ph idx="1"/>
          </p:nvPr>
        </p:nvSpPr>
        <p:spPr>
          <a:xfrm>
            <a:off x="0" y="1018056"/>
            <a:ext cx="8704031" cy="4125443"/>
          </a:xfrm>
        </p:spPr>
        <p:txBody>
          <a:bodyPr/>
          <a:lstStyle/>
          <a:p>
            <a:pPr marL="738188"/>
            <a:r>
              <a:rPr lang="en-US" sz="2000" b="1" i="1" dirty="0">
                <a:solidFill>
                  <a:srgbClr val="800000"/>
                </a:solidFill>
                <a:effectLst>
                  <a:outerShdw blurRad="50800" dist="38100" dir="2700000" algn="tl" rotWithShape="0">
                    <a:srgbClr val="000000">
                      <a:alpha val="43000"/>
                    </a:srgbClr>
                  </a:outerShdw>
                </a:effectLst>
              </a:rPr>
              <a:t>Product and services </a:t>
            </a:r>
            <a:r>
              <a:rPr lang="en-US" sz="2000" dirty="0"/>
              <a:t>with characteristics, capabilities, and intended uses that differ significantly from existing </a:t>
            </a:r>
            <a:r>
              <a:rPr lang="en-US" sz="2000" dirty="0" smtClean="0"/>
              <a:t>products</a:t>
            </a:r>
            <a:endParaRPr lang="en-US" sz="2000" dirty="0"/>
          </a:p>
          <a:p>
            <a:pPr marL="738188"/>
            <a:r>
              <a:rPr lang="en-US" sz="2000" b="1" i="1" dirty="0">
                <a:solidFill>
                  <a:srgbClr val="800000"/>
                </a:solidFill>
                <a:effectLst>
                  <a:outerShdw blurRad="50800" dist="38100" dir="2700000" algn="tl" rotWithShape="0">
                    <a:srgbClr val="000000">
                      <a:alpha val="43000"/>
                    </a:srgbClr>
                  </a:outerShdw>
                </a:effectLst>
              </a:rPr>
              <a:t>Processes </a:t>
            </a:r>
            <a:r>
              <a:rPr lang="en-US" sz="2000" dirty="0"/>
              <a:t>involving production methods, logistics systems, and support services that are intended to improve the quality, efficiency, and flexibility of production and </a:t>
            </a:r>
            <a:r>
              <a:rPr lang="en-US" sz="2000" dirty="0" smtClean="0"/>
              <a:t>logistics</a:t>
            </a:r>
            <a:endParaRPr lang="en-US" sz="2000" dirty="0"/>
          </a:p>
          <a:p>
            <a:pPr marL="738188"/>
            <a:r>
              <a:rPr lang="en-US" sz="2000" b="1" i="1" dirty="0">
                <a:solidFill>
                  <a:srgbClr val="800000"/>
                </a:solidFill>
                <a:effectLst>
                  <a:outerShdw blurRad="50800" dist="38100" dir="2700000" algn="tl" rotWithShape="0">
                    <a:srgbClr val="000000">
                      <a:alpha val="43000"/>
                    </a:srgbClr>
                  </a:outerShdw>
                </a:effectLst>
              </a:rPr>
              <a:t>Organizational </a:t>
            </a:r>
            <a:r>
              <a:rPr lang="en-US" sz="2000" b="1" i="1" dirty="0">
                <a:solidFill>
                  <a:srgbClr val="800000"/>
                </a:solidFill>
                <a:effectLst>
                  <a:outerShdw blurRad="50800" dist="38100" dir="2700000" algn="tl" rotWithShape="0">
                    <a:srgbClr val="000000">
                      <a:alpha val="43000"/>
                    </a:srgbClr>
                  </a:outerShdw>
                </a:effectLst>
              </a:rPr>
              <a:t>changes </a:t>
            </a:r>
            <a:r>
              <a:rPr lang="en-US" sz="2000" dirty="0"/>
              <a:t>relating to firm structure, management strategies, or external relations that are intended to improve the use of knowledge, quality of production and services, or </a:t>
            </a:r>
            <a:r>
              <a:rPr lang="en-US" sz="2000" dirty="0" smtClean="0"/>
              <a:t>efficiency</a:t>
            </a:r>
          </a:p>
          <a:p>
            <a:pPr marL="738188"/>
            <a:r>
              <a:rPr lang="en-US" sz="2000" b="1" i="1" dirty="0" smtClean="0">
                <a:solidFill>
                  <a:srgbClr val="800000"/>
                </a:solidFill>
                <a:effectLst>
                  <a:outerShdw blurRad="50800" dist="38100" dir="2700000" algn="tl" rotWithShape="0">
                    <a:srgbClr val="000000">
                      <a:alpha val="43000"/>
                    </a:srgbClr>
                  </a:outerShdw>
                </a:effectLst>
              </a:rPr>
              <a:t>Marketing </a:t>
            </a:r>
            <a:r>
              <a:rPr lang="en-US" sz="2000" b="1" i="1" dirty="0">
                <a:solidFill>
                  <a:srgbClr val="800000"/>
                </a:solidFill>
                <a:effectLst>
                  <a:outerShdw blurRad="50800" dist="38100" dir="2700000" algn="tl" rotWithShape="0">
                    <a:srgbClr val="000000">
                      <a:alpha val="43000"/>
                    </a:srgbClr>
                  </a:outerShdw>
                </a:effectLst>
              </a:rPr>
              <a:t>strategies</a:t>
            </a:r>
            <a:r>
              <a:rPr lang="en-US" sz="2000" i="1" dirty="0"/>
              <a:t>, </a:t>
            </a:r>
            <a:r>
              <a:rPr lang="en-US" sz="2000" dirty="0"/>
              <a:t>including new and improved marketing and sales methods that involve changes in product design, packaging, product placement, and product promotion and pricing</a:t>
            </a:r>
            <a:r>
              <a:rPr lang="en-US" sz="2000" dirty="0" smtClean="0"/>
              <a:t>.</a:t>
            </a:r>
            <a:endParaRPr lang="en-US" dirty="0"/>
          </a:p>
        </p:txBody>
      </p:sp>
    </p:spTree>
    <p:extLst>
      <p:ext uri="{BB962C8B-B14F-4D97-AF65-F5344CB8AC3E}">
        <p14:creationId xmlns:p14="http://schemas.microsoft.com/office/powerpoint/2010/main" val="997300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150"/>
            <a:ext cx="8229600" cy="857250"/>
          </a:xfrm>
        </p:spPr>
        <p:txBody>
          <a:bodyPr/>
          <a:lstStyle/>
          <a:p>
            <a:pPr algn="ctr"/>
            <a:r>
              <a:rPr lang="en-US" dirty="0" smtClean="0"/>
              <a:t>Why is NSF Interested in Measuring Innovation?</a:t>
            </a:r>
            <a:endParaRPr lang="en-US" dirty="0"/>
          </a:p>
        </p:txBody>
      </p:sp>
      <p:sp>
        <p:nvSpPr>
          <p:cNvPr id="3" name="Content Placeholder 2"/>
          <p:cNvSpPr>
            <a:spLocks noGrp="1"/>
          </p:cNvSpPr>
          <p:nvPr>
            <p:ph idx="1"/>
          </p:nvPr>
        </p:nvSpPr>
        <p:spPr>
          <a:xfrm>
            <a:off x="228600" y="1234678"/>
            <a:ext cx="8458200" cy="3394472"/>
          </a:xfrm>
        </p:spPr>
        <p:txBody>
          <a:bodyPr>
            <a:noAutofit/>
          </a:bodyPr>
          <a:lstStyle/>
          <a:p>
            <a:r>
              <a:rPr lang="en-US" sz="2400" b="1" dirty="0" smtClean="0"/>
              <a:t>NSF’s mission is </a:t>
            </a:r>
            <a:r>
              <a:rPr lang="en-US" sz="2400" b="1" dirty="0">
                <a:solidFill>
                  <a:srgbClr val="800000"/>
                </a:solidFill>
                <a:effectLst>
                  <a:outerShdw blurRad="50800" dist="38100" dir="2700000" algn="tl" rotWithShape="0">
                    <a:srgbClr val="000000">
                      <a:alpha val="43000"/>
                    </a:srgbClr>
                  </a:outerShdw>
                </a:effectLst>
              </a:rPr>
              <a:t>"to promote the progress of science </a:t>
            </a:r>
            <a:r>
              <a:rPr lang="is-IS" sz="2400" b="1" dirty="0">
                <a:solidFill>
                  <a:srgbClr val="800000"/>
                </a:solidFill>
                <a:effectLst>
                  <a:outerShdw blurRad="50800" dist="38100" dir="2700000" algn="tl" rotWithShape="0">
                    <a:srgbClr val="000000">
                      <a:alpha val="43000"/>
                    </a:srgbClr>
                  </a:outerShdw>
                </a:effectLst>
              </a:rPr>
              <a:t>…..</a:t>
            </a:r>
            <a:endParaRPr lang="en-US" sz="2400" b="1" dirty="0">
              <a:solidFill>
                <a:srgbClr val="800000"/>
              </a:solidFill>
              <a:effectLst>
                <a:outerShdw blurRad="50800" dist="38100" dir="2700000" algn="tl" rotWithShape="0">
                  <a:srgbClr val="000000">
                    <a:alpha val="43000"/>
                  </a:srgbClr>
                </a:outerShdw>
              </a:effectLst>
            </a:endParaRPr>
          </a:p>
          <a:p>
            <a:r>
              <a:rPr lang="en-US" sz="2400" dirty="0" smtClean="0"/>
              <a:t>National Center for Science and Engineering Statistics (NCSES) – NSF’s statistical agency</a:t>
            </a:r>
            <a:endParaRPr lang="en-US" sz="2400" dirty="0" smtClean="0"/>
          </a:p>
          <a:p>
            <a:pPr marL="1025526" lvl="2" indent="-342900"/>
            <a:r>
              <a:rPr lang="en-US" dirty="0" smtClean="0"/>
              <a:t>NCSES role </a:t>
            </a:r>
            <a:r>
              <a:rPr lang="en-US" b="1" dirty="0">
                <a:solidFill>
                  <a:srgbClr val="800000"/>
                </a:solidFill>
                <a:effectLst>
                  <a:outerShdw blurRad="50800" dist="38100" dir="2700000" algn="tl" rotWithShape="0">
                    <a:srgbClr val="000000">
                      <a:alpha val="43000"/>
                    </a:srgbClr>
                  </a:outerShdw>
                </a:effectLst>
              </a:rPr>
              <a:t>- collect, interpret, analyze, and disseminate objective data on the science and engineering enterprise:</a:t>
            </a:r>
          </a:p>
          <a:p>
            <a:pPr lvl="2"/>
            <a:r>
              <a:rPr lang="en-US" dirty="0"/>
              <a:t>Research and Development </a:t>
            </a:r>
            <a:r>
              <a:rPr lang="en-US" dirty="0"/>
              <a:t>and Innovation</a:t>
            </a:r>
          </a:p>
          <a:p>
            <a:pPr lvl="2"/>
            <a:r>
              <a:rPr lang="en-US" dirty="0"/>
              <a:t>The science and engineering </a:t>
            </a:r>
            <a:r>
              <a:rPr lang="en-US" dirty="0"/>
              <a:t>workforce</a:t>
            </a:r>
          </a:p>
          <a:p>
            <a:pPr lvl="2"/>
            <a:r>
              <a:rPr lang="en-US" dirty="0" smtClean="0"/>
              <a:t>U.S. competitiveness in science, engineering, technology, and R&amp;D</a:t>
            </a:r>
          </a:p>
          <a:p>
            <a:pPr lvl="2"/>
            <a:r>
              <a:rPr lang="en-US" dirty="0" smtClean="0"/>
              <a:t>The condition and progress of STEM education in the United States </a:t>
            </a:r>
            <a:endParaRPr lang="en-US" dirty="0"/>
          </a:p>
        </p:txBody>
      </p:sp>
    </p:spTree>
    <p:extLst>
      <p:ext uri="{BB962C8B-B14F-4D97-AF65-F5344CB8AC3E}">
        <p14:creationId xmlns:p14="http://schemas.microsoft.com/office/powerpoint/2010/main" val="2187367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150"/>
            <a:ext cx="8229600" cy="857250"/>
          </a:xfrm>
        </p:spPr>
        <p:txBody>
          <a:bodyPr/>
          <a:lstStyle/>
          <a:p>
            <a:pPr algn="ctr"/>
            <a:r>
              <a:rPr lang="en-US" dirty="0" smtClean="0"/>
              <a:t>Research </a:t>
            </a:r>
            <a:r>
              <a:rPr lang="en-US" dirty="0" smtClean="0"/>
              <a:t>Questions – </a:t>
            </a:r>
            <a:br>
              <a:rPr lang="en-US" dirty="0" smtClean="0"/>
            </a:br>
            <a:r>
              <a:rPr lang="en-US" dirty="0" smtClean="0"/>
              <a:t>Capturing and Measuring Innovation</a:t>
            </a:r>
            <a:endParaRPr lang="en-US" dirty="0"/>
          </a:p>
        </p:txBody>
      </p:sp>
      <p:sp>
        <p:nvSpPr>
          <p:cNvPr id="3" name="Content Placeholder 2"/>
          <p:cNvSpPr>
            <a:spLocks noGrp="1"/>
          </p:cNvSpPr>
          <p:nvPr>
            <p:ph idx="1"/>
          </p:nvPr>
        </p:nvSpPr>
        <p:spPr>
          <a:xfrm>
            <a:off x="229508" y="1006078"/>
            <a:ext cx="8457292" cy="3394472"/>
          </a:xfrm>
        </p:spPr>
        <p:txBody>
          <a:bodyPr>
            <a:normAutofit/>
          </a:bodyPr>
          <a:lstStyle/>
          <a:p>
            <a:pPr lvl="0"/>
            <a:r>
              <a:rPr lang="en-US" sz="2400" dirty="0"/>
              <a:t>What are </a:t>
            </a:r>
            <a:r>
              <a:rPr lang="en-US" sz="2400" b="1" dirty="0">
                <a:solidFill>
                  <a:srgbClr val="800000"/>
                </a:solidFill>
                <a:effectLst>
                  <a:outerShdw blurRad="50800" dist="38100" dir="2700000" algn="tl" rotWithShape="0">
                    <a:srgbClr val="000000">
                      <a:alpha val="43000"/>
                    </a:srgbClr>
                  </a:outerShdw>
                </a:effectLst>
              </a:rPr>
              <a:t>persistent and emerging trends </a:t>
            </a:r>
            <a:r>
              <a:rPr lang="en-US" sz="2400" dirty="0"/>
              <a:t>that affect innovation? </a:t>
            </a:r>
            <a:endParaRPr lang="en-US" sz="2400" b="1" dirty="0"/>
          </a:p>
          <a:p>
            <a:pPr lvl="0"/>
            <a:r>
              <a:rPr lang="en-US" sz="2400" dirty="0"/>
              <a:t>How do </a:t>
            </a:r>
            <a:r>
              <a:rPr lang="en-US" sz="2400" b="1" dirty="0">
                <a:solidFill>
                  <a:srgbClr val="800000"/>
                </a:solidFill>
                <a:effectLst>
                  <a:outerShdw blurRad="50800" dist="38100" dir="2700000" algn="tl" rotWithShape="0">
                    <a:srgbClr val="000000">
                      <a:alpha val="43000"/>
                    </a:srgbClr>
                  </a:outerShdw>
                </a:effectLst>
              </a:rPr>
              <a:t>other countries and organizations measure innovative activity and innovation investments</a:t>
            </a:r>
            <a:r>
              <a:rPr lang="en-US" sz="2400" dirty="0"/>
              <a:t>? Are they using or beginning to use non-traditional sources of data</a:t>
            </a:r>
            <a:r>
              <a:rPr lang="en-US" sz="2400" dirty="0" smtClean="0"/>
              <a:t>?</a:t>
            </a:r>
          </a:p>
          <a:p>
            <a:r>
              <a:rPr lang="en-US" sz="2400" dirty="0"/>
              <a:t>How do </a:t>
            </a:r>
            <a:r>
              <a:rPr lang="en-US" sz="2400" b="1" dirty="0">
                <a:solidFill>
                  <a:srgbClr val="800000"/>
                </a:solidFill>
                <a:effectLst>
                  <a:outerShdw blurRad="50800" dist="38100" dir="2700000" algn="tl" rotWithShape="0">
                    <a:srgbClr val="000000">
                      <a:alpha val="43000"/>
                    </a:srgbClr>
                  </a:outerShdw>
                </a:effectLst>
              </a:rPr>
              <a:t>companies measure innovative activities, investments, outputs, and outcomes</a:t>
            </a:r>
            <a:r>
              <a:rPr lang="en-US" sz="2400" dirty="0"/>
              <a:t>? How can administrative data be leveraged? What new survey questions could be developed to help companies better respond to the NSF surveys?</a:t>
            </a:r>
          </a:p>
          <a:p>
            <a:pPr marL="338138" lvl="0" indent="0">
              <a:buNone/>
            </a:pPr>
            <a:endParaRPr lang="en-US" sz="2400" b="1" dirty="0"/>
          </a:p>
        </p:txBody>
      </p:sp>
    </p:spTree>
    <p:extLst>
      <p:ext uri="{BB962C8B-B14F-4D97-AF65-F5344CB8AC3E}">
        <p14:creationId xmlns:p14="http://schemas.microsoft.com/office/powerpoint/2010/main" val="1544245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8229600" cy="857250"/>
          </a:xfrm>
        </p:spPr>
        <p:txBody>
          <a:bodyPr/>
          <a:lstStyle/>
          <a:p>
            <a:pPr algn="ctr"/>
            <a:r>
              <a:rPr lang="en-US" dirty="0" smtClean="0"/>
              <a:t>Research </a:t>
            </a:r>
            <a:r>
              <a:rPr lang="en-US" dirty="0" smtClean="0"/>
              <a:t>Questions – </a:t>
            </a:r>
            <a:br>
              <a:rPr lang="en-US" dirty="0" smtClean="0"/>
            </a:br>
            <a:r>
              <a:rPr lang="en-US" dirty="0" smtClean="0"/>
              <a:t>Administrative and Opportunity Date</a:t>
            </a:r>
            <a:endParaRPr lang="en-US" dirty="0"/>
          </a:p>
        </p:txBody>
      </p:sp>
      <p:sp>
        <p:nvSpPr>
          <p:cNvPr id="3" name="Content Placeholder 2"/>
          <p:cNvSpPr>
            <a:spLocks noGrp="1"/>
          </p:cNvSpPr>
          <p:nvPr>
            <p:ph idx="1"/>
          </p:nvPr>
        </p:nvSpPr>
        <p:spPr/>
        <p:txBody>
          <a:bodyPr>
            <a:normAutofit/>
          </a:bodyPr>
          <a:lstStyle/>
          <a:p>
            <a:pPr lvl="0"/>
            <a:r>
              <a:rPr lang="en-US" sz="2400" dirty="0"/>
              <a:t>What can be learned from </a:t>
            </a:r>
            <a:r>
              <a:rPr lang="en-US" sz="2400" b="1" dirty="0">
                <a:solidFill>
                  <a:srgbClr val="800000"/>
                </a:solidFill>
                <a:effectLst>
                  <a:outerShdw blurRad="50800" dist="38100" dir="2700000" algn="tl" rotWithShape="0">
                    <a:srgbClr val="000000">
                      <a:alpha val="43000"/>
                    </a:srgbClr>
                  </a:outerShdw>
                </a:effectLst>
              </a:rPr>
              <a:t>opportunity data </a:t>
            </a:r>
            <a:r>
              <a:rPr lang="en-US" sz="2400" dirty="0"/>
              <a:t>about innovation capacity and innovation outcomes? How does innovation capacity present itself through company websites, portal, and blogs? </a:t>
            </a:r>
          </a:p>
          <a:p>
            <a:pPr lvl="0"/>
            <a:r>
              <a:rPr lang="en-US" sz="2400" dirty="0"/>
              <a:t>What </a:t>
            </a:r>
            <a:r>
              <a:rPr lang="en-US" sz="2400" b="1" dirty="0">
                <a:solidFill>
                  <a:srgbClr val="800000"/>
                </a:solidFill>
                <a:effectLst>
                  <a:outerShdw blurRad="50800" dist="38100" dir="2700000" algn="tl" rotWithShape="0">
                    <a:srgbClr val="000000">
                      <a:alpha val="43000"/>
                    </a:srgbClr>
                  </a:outerShdw>
                </a:effectLst>
              </a:rPr>
              <a:t>methods and modeling</a:t>
            </a:r>
            <a:r>
              <a:rPr lang="en-US" sz="2400" dirty="0"/>
              <a:t> are needed to adapt and use administrative and opportunity data where there is insufficient information about the relationship of the data sources to the statistical events to be described</a:t>
            </a:r>
            <a:r>
              <a:rPr lang="en-US" sz="2400" dirty="0" smtClean="0"/>
              <a:t>?</a:t>
            </a:r>
            <a:endParaRPr lang="en-US" sz="2400" dirty="0"/>
          </a:p>
        </p:txBody>
      </p:sp>
    </p:spTree>
    <p:extLst>
      <p:ext uri="{BB962C8B-B14F-4D97-AF65-F5344CB8AC3E}">
        <p14:creationId xmlns:p14="http://schemas.microsoft.com/office/powerpoint/2010/main" val="3756667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050"/>
            <a:ext cx="8229600" cy="857250"/>
          </a:xfrm>
        </p:spPr>
        <p:txBody>
          <a:bodyPr/>
          <a:lstStyle/>
          <a:p>
            <a:pPr algn="ctr"/>
            <a:r>
              <a:rPr lang="en-US" dirty="0" smtClean="0"/>
              <a:t>Examples of Research </a:t>
            </a:r>
            <a:r>
              <a:rPr lang="en-US" dirty="0" smtClean="0"/>
              <a:t>Questions – </a:t>
            </a:r>
            <a:br>
              <a:rPr lang="en-US" dirty="0" smtClean="0"/>
            </a:br>
            <a:r>
              <a:rPr lang="en-US" dirty="0" smtClean="0"/>
              <a:t>What do Companies Tell Us Publically?</a:t>
            </a:r>
            <a:endParaRPr lang="en-US" dirty="0"/>
          </a:p>
        </p:txBody>
      </p:sp>
      <p:sp>
        <p:nvSpPr>
          <p:cNvPr id="3" name="Content Placeholder 2"/>
          <p:cNvSpPr>
            <a:spLocks noGrp="1"/>
          </p:cNvSpPr>
          <p:nvPr>
            <p:ph idx="1"/>
          </p:nvPr>
        </p:nvSpPr>
        <p:spPr/>
        <p:txBody>
          <a:bodyPr/>
          <a:lstStyle/>
          <a:p>
            <a:r>
              <a:rPr lang="en-US" dirty="0"/>
              <a:t>D</a:t>
            </a:r>
            <a:r>
              <a:rPr lang="en-US" dirty="0" smtClean="0"/>
              <a:t>oes </a:t>
            </a:r>
            <a:r>
              <a:rPr lang="en-US" dirty="0"/>
              <a:t>the public trail of a company’s news releases, social media, blog discussions, press coverage and interviews, conference activities, collaborative activities, funding inquiries, and other business action provide insight into the company’s </a:t>
            </a:r>
            <a:r>
              <a:rPr lang="en-US" dirty="0" smtClean="0"/>
              <a:t>innovativeness</a:t>
            </a:r>
            <a:endParaRPr lang="en-US" dirty="0"/>
          </a:p>
          <a:p>
            <a:r>
              <a:rPr lang="en-US" dirty="0" smtClean="0"/>
              <a:t>What </a:t>
            </a:r>
            <a:r>
              <a:rPr lang="en-US" dirty="0"/>
              <a:t>activities and structures are most indicative of the beginning of business startup, the development of innovative capacity, and innovative performance?</a:t>
            </a:r>
          </a:p>
        </p:txBody>
      </p:sp>
    </p:spTree>
    <p:extLst>
      <p:ext uri="{BB962C8B-B14F-4D97-AF65-F5344CB8AC3E}">
        <p14:creationId xmlns:p14="http://schemas.microsoft.com/office/powerpoint/2010/main" val="114180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Examples of Innovation Research Topics</a:t>
            </a:r>
            <a:endParaRPr lang="en-US" dirty="0"/>
          </a:p>
        </p:txBody>
      </p:sp>
      <p:sp>
        <p:nvSpPr>
          <p:cNvPr id="3" name="Content Placeholder 2"/>
          <p:cNvSpPr>
            <a:spLocks noGrp="1"/>
          </p:cNvSpPr>
          <p:nvPr>
            <p:ph idx="1"/>
          </p:nvPr>
        </p:nvSpPr>
        <p:spPr>
          <a:xfrm>
            <a:off x="457200" y="1006078"/>
            <a:ext cx="8229600" cy="3394472"/>
          </a:xfrm>
        </p:spPr>
        <p:txBody>
          <a:bodyPr/>
          <a:lstStyle/>
          <a:p>
            <a:r>
              <a:rPr lang="en-US" sz="2000" dirty="0"/>
              <a:t>Amateur innovation (crowd sourcing/</a:t>
            </a:r>
            <a:r>
              <a:rPr lang="en-US" sz="2000" dirty="0" err="1"/>
              <a:t>crowdfunding</a:t>
            </a:r>
            <a:r>
              <a:rPr lang="en-US" sz="2000" dirty="0" smtClean="0"/>
              <a:t>)</a:t>
            </a:r>
          </a:p>
          <a:p>
            <a:r>
              <a:rPr lang="en-US" sz="2000" dirty="0"/>
              <a:t>Non-traditional S&amp;T Workforce </a:t>
            </a:r>
            <a:endParaRPr lang="en-US" sz="2000" dirty="0" smtClean="0"/>
          </a:p>
          <a:p>
            <a:r>
              <a:rPr lang="en-US" sz="2000" dirty="0" smtClean="0"/>
              <a:t>Tracking innovation </a:t>
            </a:r>
            <a:r>
              <a:rPr lang="en-US" sz="2000" dirty="0"/>
              <a:t>in elementary and high </a:t>
            </a:r>
            <a:r>
              <a:rPr lang="en-US" sz="2000" dirty="0" smtClean="0"/>
              <a:t>school - </a:t>
            </a:r>
            <a:r>
              <a:rPr lang="en-US" sz="2000" dirty="0"/>
              <a:t>How is innovation taught</a:t>
            </a:r>
            <a:r>
              <a:rPr lang="en-US" sz="2000" dirty="0" smtClean="0"/>
              <a:t>?</a:t>
            </a:r>
          </a:p>
          <a:p>
            <a:r>
              <a:rPr lang="en-US" sz="2000" dirty="0"/>
              <a:t>Track S&amp;T competitions, business plan competitions, celebrity entrepreneurs </a:t>
            </a:r>
            <a:endParaRPr lang="en-US" sz="2000" dirty="0" smtClean="0"/>
          </a:p>
          <a:p>
            <a:r>
              <a:rPr lang="en-US" sz="2000" dirty="0" smtClean="0"/>
              <a:t>Foundations funding </a:t>
            </a:r>
            <a:r>
              <a:rPr lang="en-US" sz="2000" dirty="0" smtClean="0"/>
              <a:t>innovation</a:t>
            </a:r>
          </a:p>
          <a:p>
            <a:r>
              <a:rPr lang="en-US" sz="2000" dirty="0"/>
              <a:t>Scientific repositories </a:t>
            </a:r>
          </a:p>
          <a:p>
            <a:r>
              <a:rPr lang="en-US" sz="2000" dirty="0"/>
              <a:t>Public health innovation</a:t>
            </a:r>
          </a:p>
          <a:p>
            <a:pPr marL="338138" indent="0">
              <a:buNone/>
            </a:pPr>
            <a:endParaRPr lang="en-US" dirty="0"/>
          </a:p>
        </p:txBody>
      </p:sp>
    </p:spTree>
    <p:extLst>
      <p:ext uri="{BB962C8B-B14F-4D97-AF65-F5344CB8AC3E}">
        <p14:creationId xmlns:p14="http://schemas.microsoft.com/office/powerpoint/2010/main" val="312950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Examples of Innovation Research Topics</a:t>
            </a:r>
            <a:endParaRPr lang="en-US" dirty="0"/>
          </a:p>
        </p:txBody>
      </p:sp>
      <p:sp>
        <p:nvSpPr>
          <p:cNvPr id="3" name="Content Placeholder 2"/>
          <p:cNvSpPr>
            <a:spLocks noGrp="1"/>
          </p:cNvSpPr>
          <p:nvPr>
            <p:ph idx="1"/>
          </p:nvPr>
        </p:nvSpPr>
        <p:spPr>
          <a:xfrm>
            <a:off x="457200" y="1006078"/>
            <a:ext cx="8229600" cy="3699272"/>
          </a:xfrm>
        </p:spPr>
        <p:txBody>
          <a:bodyPr>
            <a:normAutofit/>
          </a:bodyPr>
          <a:lstStyle/>
          <a:p>
            <a:pPr marL="338138" indent="0">
              <a:buNone/>
            </a:pPr>
            <a:r>
              <a:rPr lang="en-US" sz="2000" dirty="0" smtClean="0"/>
              <a:t>What role do these play in innovation?</a:t>
            </a:r>
          </a:p>
          <a:p>
            <a:r>
              <a:rPr lang="en-US" sz="2000" dirty="0" smtClean="0"/>
              <a:t>Open </a:t>
            </a:r>
            <a:r>
              <a:rPr lang="en-US" sz="2000" dirty="0"/>
              <a:t>Source Software and </a:t>
            </a:r>
            <a:r>
              <a:rPr lang="en-US" sz="2000" dirty="0" smtClean="0"/>
              <a:t>Data</a:t>
            </a:r>
          </a:p>
          <a:p>
            <a:r>
              <a:rPr lang="en-US" sz="2000" dirty="0" smtClean="0"/>
              <a:t>How </a:t>
            </a:r>
            <a:r>
              <a:rPr lang="en-US" sz="2000" dirty="0"/>
              <a:t>does innovation capacity present itself through company websites, portal, </a:t>
            </a:r>
            <a:r>
              <a:rPr lang="en-US" sz="2000" dirty="0" smtClean="0"/>
              <a:t>blogs, company websites and other public materials; e.g. news stories, SEC filings, company reports, other?</a:t>
            </a:r>
          </a:p>
          <a:p>
            <a:r>
              <a:rPr lang="en-US" sz="2000" dirty="0" smtClean="0"/>
              <a:t>What are sources of funding that lead to </a:t>
            </a:r>
            <a:r>
              <a:rPr lang="en-US" sz="2000" dirty="0" err="1" smtClean="0"/>
              <a:t>innvoation</a:t>
            </a:r>
            <a:r>
              <a:rPr lang="en-US" sz="2000" dirty="0" smtClean="0"/>
              <a:t>, e.g. Foundations?</a:t>
            </a:r>
          </a:p>
          <a:p>
            <a:r>
              <a:rPr lang="en-US" sz="2000" dirty="0"/>
              <a:t>STEM Workforce – professional Masters; MOOC certification; other ways to capture</a:t>
            </a:r>
          </a:p>
          <a:p>
            <a:pPr marL="338138" indent="0">
              <a:buNone/>
            </a:pPr>
            <a:endParaRPr lang="en-US" sz="2000" dirty="0" smtClean="0"/>
          </a:p>
        </p:txBody>
      </p:sp>
    </p:spTree>
    <p:extLst>
      <p:ext uri="{BB962C8B-B14F-4D97-AF65-F5344CB8AC3E}">
        <p14:creationId xmlns:p14="http://schemas.microsoft.com/office/powerpoint/2010/main" val="455643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smtClean="0"/>
              <a:t>Measuring Funding of Innovation</a:t>
            </a:r>
            <a:endParaRPr lang="en-US" dirty="0"/>
          </a:p>
        </p:txBody>
      </p:sp>
      <p:sp>
        <p:nvSpPr>
          <p:cNvPr id="3" name="Content Placeholder 2"/>
          <p:cNvSpPr>
            <a:spLocks noGrp="1"/>
          </p:cNvSpPr>
          <p:nvPr>
            <p:ph idx="1"/>
          </p:nvPr>
        </p:nvSpPr>
        <p:spPr>
          <a:xfrm>
            <a:off x="457200" y="872728"/>
            <a:ext cx="8153400" cy="3756422"/>
          </a:xfrm>
          <a:noFill/>
        </p:spPr>
        <p:txBody>
          <a:bodyPr>
            <a:noAutofit/>
          </a:bodyPr>
          <a:lstStyle/>
          <a:p>
            <a:pPr marL="338138" indent="0">
              <a:buNone/>
            </a:pPr>
            <a:r>
              <a:rPr lang="en-US" sz="2000" dirty="0" smtClean="0"/>
              <a:t>What are private sources of funding?  What is distribution of funding across these sources</a:t>
            </a:r>
            <a:r>
              <a:rPr lang="en-US" sz="2000" dirty="0" smtClean="0"/>
              <a:t>? (or could just focus on one sources)</a:t>
            </a:r>
            <a:endParaRPr lang="en-US" sz="2000" dirty="0" smtClean="0"/>
          </a:p>
          <a:p>
            <a:r>
              <a:rPr lang="en-US" sz="2000" dirty="0" smtClean="0"/>
              <a:t>Angel Investors</a:t>
            </a:r>
          </a:p>
          <a:p>
            <a:r>
              <a:rPr lang="en-US" sz="2000" dirty="0" smtClean="0"/>
              <a:t>Venture Capitalists</a:t>
            </a:r>
          </a:p>
          <a:p>
            <a:r>
              <a:rPr lang="en-US" sz="2000" dirty="0" smtClean="0"/>
              <a:t>Corporate </a:t>
            </a:r>
            <a:r>
              <a:rPr lang="en-US" sz="2000" dirty="0" smtClean="0"/>
              <a:t>Venture </a:t>
            </a:r>
            <a:r>
              <a:rPr lang="en-US" sz="2000" dirty="0" smtClean="0"/>
              <a:t>Capitalists</a:t>
            </a:r>
          </a:p>
          <a:p>
            <a:r>
              <a:rPr lang="en-US" sz="2000" dirty="0" smtClean="0"/>
              <a:t>Incubators, e.g. 1776 in Arlington, university incubators, other </a:t>
            </a:r>
          </a:p>
          <a:p>
            <a:r>
              <a:rPr lang="en-US" sz="2000" dirty="0" smtClean="0"/>
              <a:t>Business competitions at universities</a:t>
            </a:r>
          </a:p>
          <a:p>
            <a:r>
              <a:rPr lang="en-US" sz="2000" dirty="0" smtClean="0"/>
              <a:t>Foundations</a:t>
            </a:r>
          </a:p>
          <a:p>
            <a:r>
              <a:rPr lang="en-US" sz="2000" dirty="0" smtClean="0"/>
              <a:t>Other?</a:t>
            </a:r>
          </a:p>
          <a:p>
            <a:endParaRPr lang="en-US" sz="2000" dirty="0" smtClean="0"/>
          </a:p>
          <a:p>
            <a:pPr marL="338138" indent="0">
              <a:buNone/>
            </a:pPr>
            <a:endParaRPr lang="en-US" sz="2400" dirty="0" smtClean="0"/>
          </a:p>
          <a:p>
            <a:pPr marL="338138" indent="0">
              <a:buNone/>
            </a:pPr>
            <a:endParaRPr lang="en-US" sz="2400" dirty="0" smtClean="0"/>
          </a:p>
          <a:p>
            <a:pPr marL="338138" indent="0">
              <a:buNone/>
            </a:pPr>
            <a:endParaRPr lang="en-US" sz="2400" dirty="0" smtClean="0"/>
          </a:p>
          <a:p>
            <a:pPr marL="338138" indent="0">
              <a:buNone/>
            </a:pPr>
            <a:endParaRPr lang="en-US" sz="2400" dirty="0"/>
          </a:p>
        </p:txBody>
      </p:sp>
      <p:sp>
        <p:nvSpPr>
          <p:cNvPr id="2" name="TextBox 1"/>
          <p:cNvSpPr txBox="1"/>
          <p:nvPr/>
        </p:nvSpPr>
        <p:spPr>
          <a:xfrm>
            <a:off x="321733" y="4842933"/>
            <a:ext cx="184666" cy="400110"/>
          </a:xfrm>
          <a:prstGeom prst="rect">
            <a:avLst/>
          </a:prstGeom>
          <a:noFill/>
        </p:spPr>
        <p:txBody>
          <a:bodyPr wrap="none" rtlCol="0">
            <a:spAutoFit/>
          </a:bodyPr>
          <a:lstStyle/>
          <a:p>
            <a:pPr marL="0"/>
            <a:endParaRPr lang="en-US" sz="2000" dirty="0">
              <a:latin typeface="Gill Sans Light"/>
              <a:cs typeface="Gill Sans Light"/>
            </a:endParaRPr>
          </a:p>
        </p:txBody>
      </p:sp>
      <p:sp>
        <p:nvSpPr>
          <p:cNvPr id="5" name="TextBox 4"/>
          <p:cNvSpPr txBox="1"/>
          <p:nvPr/>
        </p:nvSpPr>
        <p:spPr>
          <a:xfrm>
            <a:off x="685800" y="4639330"/>
            <a:ext cx="7766673" cy="523220"/>
          </a:xfrm>
          <a:prstGeom prst="rect">
            <a:avLst/>
          </a:prstGeom>
          <a:noFill/>
        </p:spPr>
        <p:txBody>
          <a:bodyPr wrap="square" rtlCol="0">
            <a:spAutoFit/>
          </a:bodyPr>
          <a:lstStyle/>
          <a:p>
            <a:r>
              <a:rPr lang="en-US" sz="1400" dirty="0">
                <a:latin typeface="Gill Sans Light"/>
                <a:cs typeface="Gill Sans Light"/>
              </a:rPr>
              <a:t>Reference: </a:t>
            </a:r>
            <a:r>
              <a:rPr lang="en-US" sz="1400" dirty="0" err="1">
                <a:latin typeface="Gill Sans Light"/>
                <a:cs typeface="Gill Sans Light"/>
              </a:rPr>
              <a:t>Branscomb</a:t>
            </a:r>
            <a:r>
              <a:rPr lang="en-US" sz="1400" dirty="0">
                <a:latin typeface="Gill Sans Light"/>
                <a:cs typeface="Gill Sans Light"/>
              </a:rPr>
              <a:t>, Lewis M</a:t>
            </a:r>
            <a:r>
              <a:rPr lang="en-US" sz="1400" dirty="0" smtClean="0">
                <a:latin typeface="Gill Sans Light"/>
                <a:cs typeface="Gill Sans Light"/>
              </a:rPr>
              <a:t>.  and </a:t>
            </a:r>
            <a:r>
              <a:rPr lang="en-US" sz="1400" dirty="0">
                <a:latin typeface="Gill Sans Light"/>
                <a:cs typeface="Gill Sans Light"/>
              </a:rPr>
              <a:t>Philip E. </a:t>
            </a:r>
            <a:r>
              <a:rPr lang="en-US" sz="1400" dirty="0" err="1">
                <a:latin typeface="Gill Sans Light"/>
                <a:cs typeface="Gill Sans Light"/>
              </a:rPr>
              <a:t>Auerswald</a:t>
            </a:r>
            <a:r>
              <a:rPr lang="en-US" sz="1400" dirty="0">
                <a:latin typeface="Gill Sans Light"/>
                <a:cs typeface="Gill Sans Light"/>
              </a:rPr>
              <a:t>, Between Invention and Innovation: An Analysis of Funding for Early-Stage Technology Development, NIST GCR 02-841, Gaithersburg, MD, November 2002.</a:t>
            </a:r>
          </a:p>
        </p:txBody>
      </p:sp>
    </p:spTree>
    <p:extLst>
      <p:ext uri="{BB962C8B-B14F-4D97-AF65-F5344CB8AC3E}">
        <p14:creationId xmlns:p14="http://schemas.microsoft.com/office/powerpoint/2010/main" val="1194850494"/>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205979"/>
            <a:ext cx="9144000" cy="857250"/>
          </a:xfrm>
        </p:spPr>
        <p:txBody>
          <a:bodyPr>
            <a:normAutofit/>
          </a:bodyPr>
          <a:lstStyle/>
          <a:p>
            <a:pPr algn="ctr"/>
            <a:r>
              <a:rPr lang="en-US" sz="2800" dirty="0" smtClean="0"/>
              <a:t>Measuring Value of Open Source Software and Data</a:t>
            </a:r>
            <a:endParaRPr lang="en-US" sz="2800" dirty="0"/>
          </a:p>
        </p:txBody>
      </p:sp>
      <p:sp>
        <p:nvSpPr>
          <p:cNvPr id="5" name="Content Placeholder 4"/>
          <p:cNvSpPr>
            <a:spLocks noGrp="1"/>
          </p:cNvSpPr>
          <p:nvPr>
            <p:ph idx="1"/>
          </p:nvPr>
        </p:nvSpPr>
        <p:spPr/>
        <p:txBody>
          <a:bodyPr/>
          <a:lstStyle/>
          <a:p>
            <a:r>
              <a:rPr lang="en-US" dirty="0" smtClean="0"/>
              <a:t>Open account software is counted in the national accounts based on the labor inputs attributed to each industry, best measured in the business sector. What useful statistics can be measured?</a:t>
            </a:r>
          </a:p>
          <a:p>
            <a:r>
              <a:rPr lang="en-US" dirty="0" smtClean="0"/>
              <a:t> How do open source software and databases link to institutions? To </a:t>
            </a:r>
            <a:r>
              <a:rPr lang="en-US" smtClean="0"/>
              <a:t>different sectors?</a:t>
            </a:r>
            <a:endParaRPr lang="en-US" dirty="0" smtClean="0"/>
          </a:p>
          <a:p>
            <a:r>
              <a:rPr lang="en-US" dirty="0" smtClean="0"/>
              <a:t>References: Daniel Katz, U of Chicago</a:t>
            </a:r>
            <a:endParaRPr lang="en-US" dirty="0"/>
          </a:p>
        </p:txBody>
      </p:sp>
      <p:sp>
        <p:nvSpPr>
          <p:cNvPr id="2" name="TextBox 1"/>
          <p:cNvSpPr txBox="1"/>
          <p:nvPr/>
        </p:nvSpPr>
        <p:spPr>
          <a:xfrm>
            <a:off x="729814" y="1298313"/>
            <a:ext cx="184666" cy="400110"/>
          </a:xfrm>
          <a:prstGeom prst="rect">
            <a:avLst/>
          </a:prstGeom>
          <a:noFill/>
        </p:spPr>
        <p:txBody>
          <a:bodyPr wrap="none" rtlCol="0">
            <a:spAutoFit/>
          </a:bodyPr>
          <a:lstStyle/>
          <a:p>
            <a:pPr marL="0"/>
            <a:endParaRPr lang="en-US" sz="2000" dirty="0">
              <a:latin typeface="Gill Sans Light"/>
              <a:cs typeface="Gill Sans Light"/>
            </a:endParaRPr>
          </a:p>
        </p:txBody>
      </p:sp>
    </p:spTree>
    <p:extLst>
      <p:ext uri="{BB962C8B-B14F-4D97-AF65-F5344CB8AC3E}">
        <p14:creationId xmlns:p14="http://schemas.microsoft.com/office/powerpoint/2010/main" val="2687551139"/>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3419"/>
            <a:ext cx="8229600" cy="857250"/>
          </a:xfrm>
        </p:spPr>
        <p:txBody>
          <a:bodyPr>
            <a:normAutofit/>
          </a:bodyPr>
          <a:lstStyle/>
          <a:p>
            <a:pPr algn="ctr">
              <a:lnSpc>
                <a:spcPct val="80000"/>
              </a:lnSpc>
            </a:pPr>
            <a:r>
              <a:rPr lang="en-US" dirty="0" smtClean="0"/>
              <a:t>A disciplined approach is needed to develop the theory and methods for using </a:t>
            </a:r>
            <a:r>
              <a:rPr lang="en-US" i="1" dirty="0" smtClean="0">
                <a:effectLst>
                  <a:outerShdw blurRad="50800" dist="38100" dir="2700000" algn="tl" rotWithShape="0">
                    <a:srgbClr val="000000">
                      <a:alpha val="43000"/>
                    </a:srgbClr>
                  </a:outerShdw>
                </a:effectLst>
              </a:rPr>
              <a:t>All</a:t>
            </a:r>
            <a:r>
              <a:rPr lang="en-US" dirty="0" smtClean="0"/>
              <a:t> </a:t>
            </a:r>
            <a:r>
              <a:rPr lang="en-US" dirty="0" smtClean="0"/>
              <a:t>data</a:t>
            </a:r>
            <a:endParaRPr lang="en-US" sz="3200" dirty="0"/>
          </a:p>
        </p:txBody>
      </p:sp>
      <p:grpSp>
        <p:nvGrpSpPr>
          <p:cNvPr id="31" name="Group 30"/>
          <p:cNvGrpSpPr/>
          <p:nvPr/>
        </p:nvGrpSpPr>
        <p:grpSpPr>
          <a:xfrm>
            <a:off x="1527471" y="985469"/>
            <a:ext cx="6249422" cy="4094851"/>
            <a:chOff x="1527471" y="972509"/>
            <a:chExt cx="6249422" cy="4094851"/>
          </a:xfrm>
        </p:grpSpPr>
        <p:sp>
          <p:nvSpPr>
            <p:cNvPr id="30" name="Rectangle 29"/>
            <p:cNvSpPr/>
            <p:nvPr/>
          </p:nvSpPr>
          <p:spPr>
            <a:xfrm>
              <a:off x="1527471" y="972509"/>
              <a:ext cx="6249422" cy="4094851"/>
            </a:xfrm>
            <a:prstGeom prst="rect">
              <a:avLst/>
            </a:prstGeom>
            <a:solidFill>
              <a:srgbClr val="FFFFFF"/>
            </a:solidFill>
            <a:ln w="38100" cmpd="sng">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9" name="Group 28"/>
            <p:cNvGrpSpPr/>
            <p:nvPr/>
          </p:nvGrpSpPr>
          <p:grpSpPr>
            <a:xfrm>
              <a:off x="1527471" y="972509"/>
              <a:ext cx="6236463" cy="4094851"/>
              <a:chOff x="1527471" y="894749"/>
              <a:chExt cx="6236463" cy="4094851"/>
            </a:xfrm>
          </p:grpSpPr>
          <p:grpSp>
            <p:nvGrpSpPr>
              <p:cNvPr id="28" name="Group 27"/>
              <p:cNvGrpSpPr/>
              <p:nvPr/>
            </p:nvGrpSpPr>
            <p:grpSpPr>
              <a:xfrm>
                <a:off x="1527471" y="920669"/>
                <a:ext cx="6236463" cy="4068931"/>
                <a:chOff x="1527471" y="920669"/>
                <a:chExt cx="6236463" cy="4068931"/>
              </a:xfrm>
            </p:grpSpPr>
            <p:sp>
              <p:nvSpPr>
                <p:cNvPr id="27" name="Rectangle 26"/>
                <p:cNvSpPr/>
                <p:nvPr/>
              </p:nvSpPr>
              <p:spPr>
                <a:xfrm>
                  <a:off x="4639223" y="920669"/>
                  <a:ext cx="3124711" cy="4068931"/>
                </a:xfrm>
                <a:prstGeom prst="rect">
                  <a:avLst/>
                </a:prstGeom>
                <a:solidFill>
                  <a:srgbClr val="FEEC8E">
                    <a:alpha val="41000"/>
                  </a:srgbClr>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p:nvSpPr>
              <p:spPr>
                <a:xfrm>
                  <a:off x="1527471" y="920669"/>
                  <a:ext cx="3124711" cy="4068931"/>
                </a:xfrm>
                <a:prstGeom prst="rect">
                  <a:avLst/>
                </a:prstGeom>
                <a:solidFill>
                  <a:srgbClr val="800000">
                    <a:alpha val="41000"/>
                  </a:srgbClr>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 name="TextBox 2"/>
              <p:cNvSpPr txBox="1"/>
              <p:nvPr/>
            </p:nvSpPr>
            <p:spPr>
              <a:xfrm>
                <a:off x="2999840" y="894749"/>
                <a:ext cx="3385111" cy="523220"/>
              </a:xfrm>
              <a:prstGeom prst="rect">
                <a:avLst/>
              </a:prstGeom>
              <a:noFill/>
              <a:ln>
                <a:noFill/>
              </a:ln>
            </p:spPr>
            <p:txBody>
              <a:bodyPr wrap="none" rtlCol="0">
                <a:spAutoFit/>
              </a:bodyPr>
              <a:lstStyle/>
              <a:p>
                <a:pPr marL="0"/>
                <a:r>
                  <a:rPr lang="en-US" sz="2800" b="1" dirty="0" smtClean="0">
                    <a:effectLst>
                      <a:outerShdw blurRad="50800" dist="38100" dir="2700000" algn="tl" rotWithShape="0">
                        <a:srgbClr val="000000">
                          <a:alpha val="43000"/>
                        </a:srgbClr>
                      </a:outerShdw>
                    </a:effectLst>
                    <a:latin typeface="Gill Sans Light"/>
                    <a:cs typeface="Gill Sans Light"/>
                  </a:rPr>
                  <a:t>SDAL Research Model</a:t>
                </a:r>
                <a:endParaRPr lang="en-US" sz="2800" b="1" dirty="0">
                  <a:effectLst>
                    <a:outerShdw blurRad="50800" dist="38100" dir="2700000" algn="tl" rotWithShape="0">
                      <a:srgbClr val="000000">
                        <a:alpha val="43000"/>
                      </a:srgbClr>
                    </a:outerShdw>
                  </a:effectLst>
                  <a:latin typeface="Gill Sans Light"/>
                  <a:cs typeface="Gill Sans Light"/>
                </a:endParaRPr>
              </a:p>
            </p:txBody>
          </p:sp>
          <p:grpSp>
            <p:nvGrpSpPr>
              <p:cNvPr id="25" name="Group 24"/>
              <p:cNvGrpSpPr/>
              <p:nvPr/>
            </p:nvGrpSpPr>
            <p:grpSpPr>
              <a:xfrm>
                <a:off x="1639145" y="1434744"/>
                <a:ext cx="5967620" cy="3473350"/>
                <a:chOff x="1950161" y="1434744"/>
                <a:chExt cx="5967620" cy="3473350"/>
              </a:xfrm>
            </p:grpSpPr>
            <p:sp>
              <p:nvSpPr>
                <p:cNvPr id="7" name="TextBox 6"/>
                <p:cNvSpPr txBox="1"/>
                <p:nvPr/>
              </p:nvSpPr>
              <p:spPr>
                <a:xfrm>
                  <a:off x="5355288" y="1827360"/>
                  <a:ext cx="2562493" cy="646331"/>
                </a:xfrm>
                <a:prstGeom prst="rect">
                  <a:avLst/>
                </a:prstGeom>
                <a:solidFill>
                  <a:srgbClr val="95B3D7"/>
                </a:solidFill>
                <a:ln>
                  <a:noFill/>
                </a:ln>
                <a:scene3d>
                  <a:camera prst="orthographicFront"/>
                  <a:lightRig rig="threePt" dir="t"/>
                </a:scene3d>
                <a:sp3d>
                  <a:bevelT/>
                  <a:bevelB/>
                </a:sp3d>
              </p:spPr>
              <p:txBody>
                <a:bodyPr wrap="square" rtlCol="0">
                  <a:spAutoFit/>
                </a:bodyPr>
                <a:lstStyle/>
                <a:p>
                  <a:pPr marL="0" algn="ctr"/>
                  <a:r>
                    <a:rPr lang="en-US" dirty="0" smtClean="0">
                      <a:latin typeface="Gill Sans Light"/>
                      <a:cs typeface="Gill Sans Light"/>
                    </a:rPr>
                    <a:t>Research Questions and Literature Review</a:t>
                  </a:r>
                  <a:endParaRPr lang="en-US" dirty="0">
                    <a:latin typeface="Gill Sans Light"/>
                    <a:cs typeface="Gill Sans Light"/>
                  </a:endParaRPr>
                </a:p>
              </p:txBody>
            </p:sp>
            <p:sp>
              <p:nvSpPr>
                <p:cNvPr id="8" name="TextBox 7"/>
                <p:cNvSpPr txBox="1"/>
                <p:nvPr/>
              </p:nvSpPr>
              <p:spPr>
                <a:xfrm>
                  <a:off x="5355288" y="2943116"/>
                  <a:ext cx="2562492" cy="646331"/>
                </a:xfrm>
                <a:prstGeom prst="rect">
                  <a:avLst/>
                </a:prstGeom>
                <a:solidFill>
                  <a:srgbClr val="95B3D7"/>
                </a:solidFill>
                <a:ln>
                  <a:noFill/>
                </a:ln>
                <a:scene3d>
                  <a:camera prst="orthographicFront"/>
                  <a:lightRig rig="threePt" dir="t"/>
                </a:scene3d>
                <a:sp3d>
                  <a:bevelT/>
                  <a:bevelB/>
                </a:sp3d>
              </p:spPr>
              <p:txBody>
                <a:bodyPr wrap="square" rtlCol="0">
                  <a:spAutoFit/>
                </a:bodyPr>
                <a:lstStyle/>
                <a:p>
                  <a:pPr marL="0" algn="ctr"/>
                  <a:r>
                    <a:rPr lang="en-US" dirty="0" smtClean="0">
                      <a:latin typeface="Gill Sans Light"/>
                      <a:cs typeface="Gill Sans Light"/>
                    </a:rPr>
                    <a:t>Statistical Modeling and Data Analyses</a:t>
                  </a:r>
                  <a:endParaRPr lang="en-US" dirty="0">
                    <a:latin typeface="Gill Sans Light"/>
                    <a:cs typeface="Gill Sans Light"/>
                  </a:endParaRPr>
                </a:p>
              </p:txBody>
            </p:sp>
            <p:sp>
              <p:nvSpPr>
                <p:cNvPr id="9" name="TextBox 8"/>
                <p:cNvSpPr txBox="1"/>
                <p:nvPr/>
              </p:nvSpPr>
              <p:spPr>
                <a:xfrm>
                  <a:off x="5355288" y="4015542"/>
                  <a:ext cx="2562492" cy="892552"/>
                </a:xfrm>
                <a:prstGeom prst="rect">
                  <a:avLst/>
                </a:prstGeom>
                <a:solidFill>
                  <a:srgbClr val="95B3D7"/>
                </a:solidFill>
                <a:ln>
                  <a:noFill/>
                </a:ln>
                <a:scene3d>
                  <a:camera prst="orthographicFront"/>
                  <a:lightRig rig="threePt" dir="t"/>
                </a:scene3d>
                <a:sp3d>
                  <a:bevelT/>
                  <a:bevelB/>
                </a:sp3d>
              </p:spPr>
              <p:txBody>
                <a:bodyPr wrap="square" rtlCol="0">
                  <a:spAutoFit/>
                </a:bodyPr>
                <a:lstStyle/>
                <a:p>
                  <a:pPr marL="0" algn="ctr"/>
                  <a:endParaRPr lang="en-US" sz="800" dirty="0" smtClean="0">
                    <a:latin typeface="Gill Sans Light"/>
                    <a:cs typeface="Gill Sans Light"/>
                  </a:endParaRPr>
                </a:p>
                <a:p>
                  <a:pPr marL="0" algn="ctr"/>
                  <a:r>
                    <a:rPr lang="en-US" dirty="0" smtClean="0">
                      <a:latin typeface="Gill Sans Light"/>
                      <a:cs typeface="Gill Sans Light"/>
                    </a:rPr>
                    <a:t>Analysis of Research Questions</a:t>
                  </a:r>
                </a:p>
                <a:p>
                  <a:pPr marL="0" algn="ctr"/>
                  <a:endParaRPr lang="en-US" sz="800" dirty="0">
                    <a:latin typeface="Gill Sans Light"/>
                    <a:cs typeface="Gill Sans Light"/>
                  </a:endParaRPr>
                </a:p>
              </p:txBody>
            </p:sp>
            <p:sp>
              <p:nvSpPr>
                <p:cNvPr id="10" name="TextBox 9"/>
                <p:cNvSpPr txBox="1"/>
                <p:nvPr/>
              </p:nvSpPr>
              <p:spPr>
                <a:xfrm>
                  <a:off x="1950161" y="1827360"/>
                  <a:ext cx="2562493" cy="646331"/>
                </a:xfrm>
                <a:prstGeom prst="rect">
                  <a:avLst/>
                </a:prstGeom>
                <a:solidFill>
                  <a:schemeClr val="accent1">
                    <a:lumMod val="60000"/>
                    <a:lumOff val="40000"/>
                  </a:schemeClr>
                </a:solidFill>
                <a:ln>
                  <a:noFill/>
                </a:ln>
                <a:effectLst/>
                <a:scene3d>
                  <a:camera prst="orthographicFront"/>
                  <a:lightRig rig="threePt" dir="t"/>
                </a:scene3d>
                <a:sp3d>
                  <a:bevelT/>
                  <a:bevelB/>
                </a:sp3d>
              </p:spPr>
              <p:txBody>
                <a:bodyPr wrap="square" rtlCol="0">
                  <a:spAutoFit/>
                </a:bodyPr>
                <a:lstStyle/>
                <a:p>
                  <a:pPr marL="0" algn="ctr"/>
                  <a:r>
                    <a:rPr lang="en-US" dirty="0" smtClean="0">
                      <a:latin typeface="Gill Sans Light"/>
                      <a:cs typeface="Gill Sans Light"/>
                    </a:rPr>
                    <a:t>Data Source Discovery, Inventory, and Access</a:t>
                  </a:r>
                  <a:endParaRPr lang="en-US" dirty="0">
                    <a:latin typeface="Gill Sans Light"/>
                    <a:cs typeface="Gill Sans Light"/>
                  </a:endParaRPr>
                </a:p>
              </p:txBody>
            </p:sp>
            <p:sp>
              <p:nvSpPr>
                <p:cNvPr id="11" name="TextBox 10"/>
                <p:cNvSpPr txBox="1"/>
                <p:nvPr/>
              </p:nvSpPr>
              <p:spPr>
                <a:xfrm>
                  <a:off x="1950161" y="2943116"/>
                  <a:ext cx="2562492" cy="646331"/>
                </a:xfrm>
                <a:prstGeom prst="rect">
                  <a:avLst/>
                </a:prstGeom>
                <a:solidFill>
                  <a:schemeClr val="accent1">
                    <a:lumMod val="60000"/>
                    <a:lumOff val="40000"/>
                  </a:schemeClr>
                </a:solidFill>
                <a:ln>
                  <a:noFill/>
                </a:ln>
                <a:effectLst/>
                <a:scene3d>
                  <a:camera prst="orthographicFront"/>
                  <a:lightRig rig="threePt" dir="t"/>
                </a:scene3d>
                <a:sp3d>
                  <a:bevelT/>
                  <a:bevelB/>
                </a:sp3d>
              </p:spPr>
              <p:txBody>
                <a:bodyPr wrap="square" rtlCol="0">
                  <a:spAutoFit/>
                </a:bodyPr>
                <a:lstStyle/>
                <a:p>
                  <a:pPr marL="0" algn="ctr"/>
                  <a:r>
                    <a:rPr lang="en-US" dirty="0" smtClean="0">
                      <a:latin typeface="Gill Sans Light"/>
                      <a:cs typeface="Gill Sans Light"/>
                    </a:rPr>
                    <a:t>Data Quality, preparation, and integration </a:t>
                  </a:r>
                  <a:endParaRPr lang="en-US" dirty="0">
                    <a:latin typeface="Gill Sans Light"/>
                    <a:cs typeface="Gill Sans Light"/>
                  </a:endParaRPr>
                </a:p>
              </p:txBody>
            </p:sp>
            <p:sp>
              <p:nvSpPr>
                <p:cNvPr id="12" name="TextBox 11"/>
                <p:cNvSpPr txBox="1"/>
                <p:nvPr/>
              </p:nvSpPr>
              <p:spPr>
                <a:xfrm>
                  <a:off x="1950161" y="3974233"/>
                  <a:ext cx="2562492" cy="923330"/>
                </a:xfrm>
                <a:prstGeom prst="rect">
                  <a:avLst/>
                </a:prstGeom>
                <a:solidFill>
                  <a:schemeClr val="accent1">
                    <a:lumMod val="60000"/>
                    <a:lumOff val="40000"/>
                  </a:schemeClr>
                </a:solidFill>
                <a:ln>
                  <a:noFill/>
                </a:ln>
                <a:effectLst/>
                <a:scene3d>
                  <a:camera prst="orthographicFront"/>
                  <a:lightRig rig="threePt" dir="t"/>
                </a:scene3d>
                <a:sp3d>
                  <a:bevelT/>
                  <a:bevelB/>
                </a:sp3d>
              </p:spPr>
              <p:txBody>
                <a:bodyPr wrap="square" rtlCol="0">
                  <a:spAutoFit/>
                </a:bodyPr>
                <a:lstStyle/>
                <a:p>
                  <a:pPr marL="0" algn="ctr"/>
                  <a:r>
                    <a:rPr lang="en-US" dirty="0" smtClean="0">
                      <a:latin typeface="Gill Sans Light"/>
                      <a:cs typeface="Gill Sans Light"/>
                    </a:rPr>
                    <a:t>Lessons Learned Using Multiple data sources   and types</a:t>
                  </a:r>
                  <a:endParaRPr lang="en-US" dirty="0">
                    <a:latin typeface="Gill Sans Light"/>
                    <a:cs typeface="Gill Sans Light"/>
                  </a:endParaRPr>
                </a:p>
              </p:txBody>
            </p:sp>
            <p:sp>
              <p:nvSpPr>
                <p:cNvPr id="13" name="TextBox 12"/>
                <p:cNvSpPr txBox="1"/>
                <p:nvPr/>
              </p:nvSpPr>
              <p:spPr>
                <a:xfrm>
                  <a:off x="2092027" y="1434744"/>
                  <a:ext cx="2262158" cy="461665"/>
                </a:xfrm>
                <a:prstGeom prst="rect">
                  <a:avLst/>
                </a:prstGeom>
                <a:noFill/>
                <a:ln>
                  <a:noFill/>
                </a:ln>
              </p:spPr>
              <p:txBody>
                <a:bodyPr wrap="none" rtlCol="0">
                  <a:spAutoFit/>
                </a:bodyPr>
                <a:lstStyle/>
                <a:p>
                  <a:pPr marL="0"/>
                  <a:r>
                    <a:rPr lang="en-US" sz="2400" b="1" dirty="0" smtClean="0">
                      <a:latin typeface="Gill Sans Light"/>
                      <a:cs typeface="Gill Sans Light"/>
                    </a:rPr>
                    <a:t>Data Framework</a:t>
                  </a:r>
                  <a:endParaRPr lang="en-US" sz="2400" b="1" dirty="0">
                    <a:latin typeface="Gill Sans Light"/>
                    <a:cs typeface="Gill Sans Light"/>
                  </a:endParaRPr>
                </a:p>
              </p:txBody>
            </p:sp>
            <p:sp>
              <p:nvSpPr>
                <p:cNvPr id="14" name="TextBox 13"/>
                <p:cNvSpPr txBox="1"/>
                <p:nvPr/>
              </p:nvSpPr>
              <p:spPr>
                <a:xfrm>
                  <a:off x="5720760" y="1434744"/>
                  <a:ext cx="1736373" cy="461665"/>
                </a:xfrm>
                <a:prstGeom prst="rect">
                  <a:avLst/>
                </a:prstGeom>
                <a:noFill/>
                <a:ln>
                  <a:noFill/>
                </a:ln>
              </p:spPr>
              <p:txBody>
                <a:bodyPr wrap="none" rtlCol="0">
                  <a:spAutoFit/>
                </a:bodyPr>
                <a:lstStyle/>
                <a:p>
                  <a:pPr marL="0"/>
                  <a:r>
                    <a:rPr lang="en-US" sz="2400" b="1" dirty="0" smtClean="0">
                      <a:latin typeface="Gill Sans Light"/>
                      <a:cs typeface="Gill Sans Light"/>
                    </a:rPr>
                    <a:t>Case Studies</a:t>
                  </a:r>
                  <a:endParaRPr lang="en-US" sz="2400" b="1" dirty="0">
                    <a:latin typeface="Gill Sans Light"/>
                    <a:cs typeface="Gill Sans Light"/>
                  </a:endParaRPr>
                </a:p>
              </p:txBody>
            </p:sp>
            <p:cxnSp>
              <p:nvCxnSpPr>
                <p:cNvPr id="19" name="Straight Arrow Connector 18"/>
                <p:cNvCxnSpPr/>
                <p:nvPr/>
              </p:nvCxnSpPr>
              <p:spPr>
                <a:xfrm flipH="1">
                  <a:off x="4522505" y="3249840"/>
                  <a:ext cx="842634" cy="0"/>
                </a:xfrm>
                <a:prstGeom prst="straightConnector1">
                  <a:avLst/>
                </a:prstGeom>
                <a:ln w="38100" cmpd="sng">
                  <a:solidFill>
                    <a:srgbClr val="800000"/>
                  </a:solidFill>
                  <a:prstDash val="sysDash"/>
                  <a:headEnd type="arrow"/>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flipH="1">
                  <a:off x="3231407" y="2473691"/>
                  <a:ext cx="1" cy="469425"/>
                </a:xfrm>
                <a:prstGeom prst="straightConnector1">
                  <a:avLst/>
                </a:prstGeom>
                <a:ln w="28575" cmpd="sng">
                  <a:solidFill>
                    <a:srgbClr val="800000"/>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H="1">
                  <a:off x="6636534" y="2473691"/>
                  <a:ext cx="1" cy="469425"/>
                </a:xfrm>
                <a:prstGeom prst="straightConnector1">
                  <a:avLst/>
                </a:prstGeom>
                <a:ln w="28575" cmpd="sng">
                  <a:solidFill>
                    <a:srgbClr val="800000"/>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6636534" y="3546117"/>
                  <a:ext cx="1" cy="469425"/>
                </a:xfrm>
                <a:prstGeom prst="straightConnector1">
                  <a:avLst/>
                </a:prstGeom>
                <a:ln w="28575" cmpd="sng">
                  <a:solidFill>
                    <a:srgbClr val="800000"/>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H="1">
                  <a:off x="3231407" y="3570804"/>
                  <a:ext cx="1" cy="469425"/>
                </a:xfrm>
                <a:prstGeom prst="straightConnector1">
                  <a:avLst/>
                </a:prstGeom>
                <a:ln w="28575" cmpd="sng">
                  <a:solidFill>
                    <a:srgbClr val="800000"/>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H="1">
                  <a:off x="4512654" y="2164320"/>
                  <a:ext cx="842634" cy="0"/>
                </a:xfrm>
                <a:prstGeom prst="straightConnector1">
                  <a:avLst/>
                </a:prstGeom>
                <a:ln w="38100" cmpd="sng">
                  <a:solidFill>
                    <a:srgbClr val="800000"/>
                  </a:solidFill>
                  <a:prstDash val="sysDash"/>
                  <a:headEnd type="arrow"/>
                  <a:tailEnd type="arrow"/>
                </a:ln>
              </p:spPr>
              <p:style>
                <a:lnRef idx="2">
                  <a:schemeClr val="accent1"/>
                </a:lnRef>
                <a:fillRef idx="0">
                  <a:schemeClr val="accent1"/>
                </a:fillRef>
                <a:effectRef idx="1">
                  <a:schemeClr val="accent1"/>
                </a:effectRef>
                <a:fontRef idx="minor">
                  <a:schemeClr val="tx1"/>
                </a:fontRef>
              </p:style>
            </p:cxnSp>
          </p:grpSp>
        </p:grpSp>
      </p:grpSp>
    </p:spTree>
    <p:extLst>
      <p:ext uri="{BB962C8B-B14F-4D97-AF65-F5344CB8AC3E}">
        <p14:creationId xmlns:p14="http://schemas.microsoft.com/office/powerpoint/2010/main" val="793153331"/>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247741" y="1795279"/>
            <a:ext cx="1362785" cy="353561"/>
            <a:chOff x="7247741" y="2393706"/>
            <a:chExt cx="1362785" cy="471414"/>
          </a:xfrm>
        </p:grpSpPr>
        <p:sp>
          <p:nvSpPr>
            <p:cNvPr id="12" name="Oval 11"/>
            <p:cNvSpPr/>
            <p:nvPr/>
          </p:nvSpPr>
          <p:spPr>
            <a:xfrm>
              <a:off x="7294513" y="2393706"/>
              <a:ext cx="1256582" cy="471414"/>
            </a:xfrm>
            <a:prstGeom prst="ellipse">
              <a:avLst/>
            </a:prstGeom>
            <a:solidFill>
              <a:srgbClr val="BDEEBE"/>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p:cNvSpPr txBox="1"/>
            <p:nvPr/>
          </p:nvSpPr>
          <p:spPr>
            <a:xfrm>
              <a:off x="7247741" y="2451429"/>
              <a:ext cx="1362785" cy="410369"/>
            </a:xfrm>
            <a:prstGeom prst="rect">
              <a:avLst/>
            </a:prstGeom>
            <a:noFill/>
          </p:spPr>
          <p:txBody>
            <a:bodyPr wrap="none" rtlCol="0">
              <a:spAutoFit/>
            </a:bodyPr>
            <a:lstStyle/>
            <a:p>
              <a:r>
                <a:rPr lang="en-US" sz="1400" b="1" dirty="0" smtClean="0">
                  <a:latin typeface="Garamond"/>
                  <a:cs typeface="Garamond"/>
                </a:rPr>
                <a:t>ASSESSMENT</a:t>
              </a:r>
              <a:endParaRPr lang="en-US" sz="1400" b="1" dirty="0">
                <a:latin typeface="Garamond"/>
                <a:cs typeface="Garamond"/>
              </a:endParaRPr>
            </a:p>
          </p:txBody>
        </p:sp>
      </p:grpSp>
      <p:grpSp>
        <p:nvGrpSpPr>
          <p:cNvPr id="3" name="Group 2"/>
          <p:cNvGrpSpPr/>
          <p:nvPr/>
        </p:nvGrpSpPr>
        <p:grpSpPr>
          <a:xfrm>
            <a:off x="114650" y="688398"/>
            <a:ext cx="8557861" cy="3190788"/>
            <a:chOff x="114649" y="917864"/>
            <a:chExt cx="8557861" cy="4254384"/>
          </a:xfrm>
        </p:grpSpPr>
        <p:sp>
          <p:nvSpPr>
            <p:cNvPr id="9" name="TextBox 8"/>
            <p:cNvSpPr txBox="1"/>
            <p:nvPr/>
          </p:nvSpPr>
          <p:spPr>
            <a:xfrm>
              <a:off x="6265566" y="1986500"/>
              <a:ext cx="1071127" cy="697627"/>
            </a:xfrm>
            <a:prstGeom prst="rect">
              <a:avLst/>
            </a:prstGeom>
            <a:noFill/>
          </p:spPr>
          <p:txBody>
            <a:bodyPr wrap="none" rtlCol="0">
              <a:spAutoFit/>
            </a:bodyPr>
            <a:lstStyle/>
            <a:p>
              <a:pPr algn="ctr"/>
              <a:r>
                <a:rPr lang="en-US" sz="1400" b="1" dirty="0" smtClean="0">
                  <a:latin typeface="Garamond"/>
                  <a:cs typeface="Garamond"/>
                </a:rPr>
                <a:t>GAIN</a:t>
              </a:r>
            </a:p>
            <a:p>
              <a:pPr algn="ctr"/>
              <a:r>
                <a:rPr lang="en-US" sz="1400" b="1" dirty="0" smtClean="0">
                  <a:latin typeface="Garamond"/>
                  <a:cs typeface="Garamond"/>
                </a:rPr>
                <a:t>INSIGHTS</a:t>
              </a:r>
              <a:endParaRPr lang="en-US" sz="1400" b="1" dirty="0">
                <a:latin typeface="Garamond"/>
                <a:cs typeface="Garamond"/>
              </a:endParaRPr>
            </a:p>
          </p:txBody>
        </p:sp>
        <p:sp>
          <p:nvSpPr>
            <p:cNvPr id="10" name="TextBox 9"/>
            <p:cNvSpPr txBox="1"/>
            <p:nvPr/>
          </p:nvSpPr>
          <p:spPr>
            <a:xfrm>
              <a:off x="6064168" y="2887492"/>
              <a:ext cx="1754557" cy="697627"/>
            </a:xfrm>
            <a:prstGeom prst="rect">
              <a:avLst/>
            </a:prstGeom>
            <a:noFill/>
          </p:spPr>
          <p:txBody>
            <a:bodyPr wrap="none" rtlCol="0">
              <a:spAutoFit/>
            </a:bodyPr>
            <a:lstStyle/>
            <a:p>
              <a:pPr algn="ctr"/>
              <a:r>
                <a:rPr lang="en-US" sz="1400" b="1" dirty="0" smtClean="0">
                  <a:latin typeface="Garamond"/>
                  <a:cs typeface="Garamond"/>
                </a:rPr>
                <a:t>DEVELOP</a:t>
              </a:r>
            </a:p>
            <a:p>
              <a:pPr algn="ctr"/>
              <a:r>
                <a:rPr lang="en-US" sz="1400" b="1" dirty="0" smtClean="0">
                  <a:latin typeface="Garamond"/>
                  <a:cs typeface="Garamond"/>
                </a:rPr>
                <a:t>INTERVENTIONS</a:t>
              </a:r>
              <a:endParaRPr lang="en-US" sz="1400" b="1" dirty="0">
                <a:latin typeface="Garamond"/>
                <a:cs typeface="Garamond"/>
              </a:endParaRPr>
            </a:p>
          </p:txBody>
        </p:sp>
        <p:cxnSp>
          <p:nvCxnSpPr>
            <p:cNvPr id="15" name="Straight Arrow Connector 14"/>
            <p:cNvCxnSpPr/>
            <p:nvPr/>
          </p:nvCxnSpPr>
          <p:spPr>
            <a:xfrm>
              <a:off x="6218804" y="2674007"/>
              <a:ext cx="1030105"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7" name="Elbow Connector 16"/>
            <p:cNvCxnSpPr/>
            <p:nvPr/>
          </p:nvCxnSpPr>
          <p:spPr>
            <a:xfrm rot="16200000" flipV="1">
              <a:off x="6415971" y="952345"/>
              <a:ext cx="1244194" cy="1638527"/>
            </a:xfrm>
            <a:prstGeom prst="bentConnector2">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28070" y="1062841"/>
              <a:ext cx="5841062" cy="3771393"/>
            </a:xfrm>
            <a:prstGeom prst="rect">
              <a:avLst/>
            </a:prstGeom>
            <a:noFill/>
            <a:ln w="12700" cmpd="sng">
              <a:solidFill>
                <a:schemeClr val="accent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14649" y="917864"/>
              <a:ext cx="8557861" cy="4125383"/>
            </a:xfrm>
            <a:prstGeom prst="rect">
              <a:avLst/>
            </a:prstGeom>
            <a:noFill/>
            <a:ln w="12700" cmpd="sng">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14" name="Object 13"/>
            <p:cNvGraphicFramePr>
              <a:graphicFrameLocks noChangeAspect="1"/>
            </p:cNvGraphicFramePr>
            <p:nvPr>
              <p:extLst>
                <p:ext uri="{D42A27DB-BD31-4B8C-83A1-F6EECF244321}">
                  <p14:modId xmlns:p14="http://schemas.microsoft.com/office/powerpoint/2010/main" val="2973887600"/>
                </p:ext>
              </p:extLst>
            </p:nvPr>
          </p:nvGraphicFramePr>
          <p:xfrm>
            <a:off x="114649" y="1068560"/>
            <a:ext cx="6150917" cy="4103688"/>
          </p:xfrm>
          <a:graphic>
            <a:graphicData uri="http://schemas.openxmlformats.org/presentationml/2006/ole">
              <mc:AlternateContent xmlns:mc="http://schemas.openxmlformats.org/markup-compatibility/2006">
                <mc:Choice xmlns:v="urn:schemas-microsoft-com:vml" Requires="v">
                  <p:oleObj spid="_x0000_s3076" name="Document" r:id="rId3" imgW="6299200" imgH="3924300" progId="Word.Document.12">
                    <p:embed/>
                  </p:oleObj>
                </mc:Choice>
                <mc:Fallback>
                  <p:oleObj name="Document" r:id="rId3" imgW="6299200" imgH="3924300" progId="Word.Document.12">
                    <p:embed/>
                    <p:pic>
                      <p:nvPicPr>
                        <p:cNvPr id="0" name=""/>
                        <p:cNvPicPr/>
                        <p:nvPr/>
                      </p:nvPicPr>
                      <p:blipFill>
                        <a:blip r:embed="rId4"/>
                        <a:stretch>
                          <a:fillRect/>
                        </a:stretch>
                      </p:blipFill>
                      <p:spPr>
                        <a:xfrm>
                          <a:off x="114649" y="1068560"/>
                          <a:ext cx="6150917" cy="4103688"/>
                        </a:xfrm>
                        <a:prstGeom prst="rect">
                          <a:avLst/>
                        </a:prstGeom>
                      </p:spPr>
                    </p:pic>
                  </p:oleObj>
                </mc:Fallback>
              </mc:AlternateContent>
            </a:graphicData>
          </a:graphic>
        </p:graphicFrame>
      </p:grpSp>
    </p:spTree>
    <p:extLst>
      <p:ext uri="{BB962C8B-B14F-4D97-AF65-F5344CB8AC3E}">
        <p14:creationId xmlns:p14="http://schemas.microsoft.com/office/powerpoint/2010/main" val="1461503103"/>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Application to Measuring Innovation</a:t>
            </a:r>
            <a:endParaRPr lang="en-US" dirty="0"/>
          </a:p>
        </p:txBody>
      </p:sp>
      <p:sp>
        <p:nvSpPr>
          <p:cNvPr id="3" name="Content Placeholder 2"/>
          <p:cNvSpPr>
            <a:spLocks noGrp="1"/>
          </p:cNvSpPr>
          <p:nvPr>
            <p:ph idx="1"/>
          </p:nvPr>
        </p:nvSpPr>
        <p:spPr/>
        <p:txBody>
          <a:bodyPr/>
          <a:lstStyle/>
          <a:p>
            <a:r>
              <a:rPr lang="en-US" dirty="0" smtClean="0"/>
              <a:t>Start with research questions</a:t>
            </a:r>
          </a:p>
          <a:p>
            <a:r>
              <a:rPr lang="en-US" dirty="0" smtClean="0"/>
              <a:t>Data </a:t>
            </a:r>
            <a:r>
              <a:rPr lang="en-US" dirty="0"/>
              <a:t>source discovery, data inventory, and data acquisition</a:t>
            </a:r>
          </a:p>
          <a:p>
            <a:r>
              <a:rPr lang="en-US" dirty="0" smtClean="0"/>
              <a:t>Data </a:t>
            </a:r>
            <a:r>
              <a:rPr lang="en-US" dirty="0"/>
              <a:t>profiling, data preparation, and data </a:t>
            </a:r>
            <a:r>
              <a:rPr lang="en-US" dirty="0" smtClean="0"/>
              <a:t>linkage</a:t>
            </a:r>
          </a:p>
          <a:p>
            <a:r>
              <a:rPr lang="en-US" dirty="0" smtClean="0"/>
              <a:t>Data </a:t>
            </a:r>
            <a:r>
              <a:rPr lang="en-US" dirty="0"/>
              <a:t>exploration and modeling and analysis to </a:t>
            </a:r>
            <a:r>
              <a:rPr lang="en-US" dirty="0" smtClean="0"/>
              <a:t>benchmark new sources of data and use in analysis </a:t>
            </a:r>
            <a:endParaRPr lang="en-US" dirty="0"/>
          </a:p>
        </p:txBody>
      </p:sp>
    </p:spTree>
    <p:extLst>
      <p:ext uri="{BB962C8B-B14F-4D97-AF65-F5344CB8AC3E}">
        <p14:creationId xmlns:p14="http://schemas.microsoft.com/office/powerpoint/2010/main" val="3211764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050"/>
            <a:ext cx="8229600" cy="857250"/>
          </a:xfrm>
        </p:spPr>
        <p:txBody>
          <a:bodyPr/>
          <a:lstStyle/>
          <a:p>
            <a:pPr algn="ctr"/>
            <a:r>
              <a:rPr lang="en-US" dirty="0" smtClean="0"/>
              <a:t>Documents to Read</a:t>
            </a:r>
            <a:endParaRPr lang="en-US" dirty="0"/>
          </a:p>
        </p:txBody>
      </p:sp>
      <p:sp>
        <p:nvSpPr>
          <p:cNvPr id="3" name="Content Placeholder 2"/>
          <p:cNvSpPr>
            <a:spLocks noGrp="1"/>
          </p:cNvSpPr>
          <p:nvPr>
            <p:ph idx="1"/>
          </p:nvPr>
        </p:nvSpPr>
        <p:spPr>
          <a:xfrm>
            <a:off x="228600" y="895350"/>
            <a:ext cx="8458200" cy="3623072"/>
          </a:xfrm>
        </p:spPr>
        <p:txBody>
          <a:bodyPr>
            <a:noAutofit/>
          </a:bodyPr>
          <a:lstStyle/>
          <a:p>
            <a:pPr marL="338138" indent="0">
              <a:buNone/>
            </a:pPr>
            <a:r>
              <a:rPr lang="en-US" sz="2400" b="1" dirty="0">
                <a:solidFill>
                  <a:srgbClr val="800000"/>
                </a:solidFill>
                <a:effectLst>
                  <a:outerShdw blurRad="50800" dist="38100" dir="2700000" algn="tl" rotWithShape="0">
                    <a:srgbClr val="000000">
                      <a:alpha val="43000"/>
                    </a:srgbClr>
                  </a:outerShdw>
                </a:effectLst>
              </a:rPr>
              <a:t>NSF NCSES White Paper </a:t>
            </a:r>
            <a:r>
              <a:rPr lang="en-US" sz="2400" dirty="0" smtClean="0"/>
              <a:t>- </a:t>
            </a:r>
            <a:r>
              <a:rPr lang="en-US" sz="2400" dirty="0"/>
              <a:t>Improving our Understanding of Catalysts for Innovation – Measuring Innovation in New </a:t>
            </a:r>
            <a:r>
              <a:rPr lang="en-US" sz="2400" dirty="0" smtClean="0"/>
              <a:t>Ways</a:t>
            </a:r>
          </a:p>
          <a:p>
            <a:pPr marL="338138" indent="0">
              <a:buNone/>
            </a:pPr>
            <a:r>
              <a:rPr lang="en-US" sz="2400" dirty="0" smtClean="0"/>
              <a:t>Literature </a:t>
            </a:r>
          </a:p>
          <a:p>
            <a:pPr marL="338138" indent="0">
              <a:buNone/>
            </a:pPr>
            <a:r>
              <a:rPr lang="en-US" sz="2400" b="1" dirty="0">
                <a:solidFill>
                  <a:srgbClr val="800000"/>
                </a:solidFill>
                <a:effectLst>
                  <a:outerShdw blurRad="50800" dist="38100" dir="2700000" algn="tl" rotWithShape="0">
                    <a:srgbClr val="000000">
                      <a:alpha val="43000"/>
                    </a:srgbClr>
                  </a:outerShdw>
                </a:effectLst>
              </a:rPr>
              <a:t>CNSTAT folder</a:t>
            </a:r>
            <a:r>
              <a:rPr lang="en-US" sz="2400" dirty="0" smtClean="0"/>
              <a:t>: </a:t>
            </a:r>
            <a:r>
              <a:rPr lang="en-US" sz="2400" dirty="0" err="1" smtClean="0"/>
              <a:t>Gault</a:t>
            </a:r>
            <a:r>
              <a:rPr lang="en-US" sz="2400" dirty="0" smtClean="0"/>
              <a:t>, von </a:t>
            </a:r>
            <a:r>
              <a:rPr lang="en-US" sz="2400" dirty="0" err="1" smtClean="0"/>
              <a:t>Hippel</a:t>
            </a:r>
            <a:r>
              <a:rPr lang="en-US" sz="2400" dirty="0" smtClean="0"/>
              <a:t>, others</a:t>
            </a:r>
          </a:p>
          <a:p>
            <a:pPr marL="338138" indent="0">
              <a:buNone/>
            </a:pPr>
            <a:r>
              <a:rPr lang="en-US" sz="2400" b="1" dirty="0">
                <a:solidFill>
                  <a:srgbClr val="800000"/>
                </a:solidFill>
                <a:effectLst>
                  <a:outerShdw blurRad="50800" dist="38100" dir="2700000" algn="tl" rotWithShape="0">
                    <a:srgbClr val="000000">
                      <a:alpha val="43000"/>
                    </a:srgbClr>
                  </a:outerShdw>
                </a:effectLst>
              </a:rPr>
              <a:t>Literature folder</a:t>
            </a:r>
            <a:r>
              <a:rPr lang="en-US" sz="2400" dirty="0" smtClean="0"/>
              <a:t>: </a:t>
            </a:r>
          </a:p>
          <a:p>
            <a:r>
              <a:rPr lang="en-US" sz="2400" dirty="0" smtClean="0"/>
              <a:t>Must reads folder (which also includes the white paper)</a:t>
            </a:r>
          </a:p>
          <a:p>
            <a:r>
              <a:rPr lang="en-US" sz="2400" dirty="0" smtClean="0"/>
              <a:t>Measuring Innovation – A Business Perspective</a:t>
            </a:r>
          </a:p>
          <a:p>
            <a:endParaRPr lang="en-US" sz="2400" dirty="0" smtClean="0"/>
          </a:p>
          <a:p>
            <a:pPr marL="338138" indent="0">
              <a:buNone/>
            </a:pPr>
            <a:endParaRPr lang="en-US" sz="2400" dirty="0"/>
          </a:p>
          <a:p>
            <a:pPr marL="338138" indent="0">
              <a:buNone/>
            </a:pPr>
            <a:endParaRPr lang="en-US" sz="2400" dirty="0"/>
          </a:p>
        </p:txBody>
      </p:sp>
    </p:spTree>
    <p:extLst>
      <p:ext uri="{BB962C8B-B14F-4D97-AF65-F5344CB8AC3E}">
        <p14:creationId xmlns:p14="http://schemas.microsoft.com/office/powerpoint/2010/main" val="350858336"/>
      </p:ext>
    </p:extLst>
  </p:cSld>
  <p:clrMapOvr>
    <a:masterClrMapping/>
  </p:clrMapOvr>
</p:sld>
</file>

<file path=ppt/theme/theme1.xml><?xml version="1.0" encoding="utf-8"?>
<a:theme xmlns:a="http://schemas.openxmlformats.org/drawingml/2006/main" name="2_SDAL_Biocomplex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marL="0">
          <a:defRPr sz="2000" dirty="0">
            <a:latin typeface="Gill Sans Light"/>
            <a:cs typeface="Gill Sans Light"/>
          </a:defRPr>
        </a:defPPr>
      </a:lstStyle>
    </a:txDef>
  </a:objectDefaults>
  <a:extraClrSchemeLst/>
</a:theme>
</file>

<file path=ppt/theme/theme2.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mpd="sng">
          <a:solidFill>
            <a:schemeClr val="tx1"/>
          </a:solidFill>
        </a:ln>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SDAL SLIDES Feb 2016">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marL="0">
          <a:defRPr sz="2000" dirty="0">
            <a:latin typeface="Gill Sans Light"/>
            <a:cs typeface="Gill Sans Light"/>
          </a:defRPr>
        </a:defPPr>
      </a:lstStyle>
    </a:txDef>
  </a:objectDefaults>
  <a:extraClrSchemeLst/>
</a:theme>
</file>

<file path=ppt/theme/theme4.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mpd="sng">
          <a:solidFill>
            <a:schemeClr val="tx1"/>
          </a:solidFill>
        </a:ln>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SDAL Oct 2015.thmx</Template>
  <TotalTime>23185</TotalTime>
  <Words>1450</Words>
  <Application>Microsoft Macintosh PowerPoint</Application>
  <PresentationFormat>On-screen Show (16:9)</PresentationFormat>
  <Paragraphs>261</Paragraphs>
  <Slides>18</Slides>
  <Notes>6</Notes>
  <HiddenSlides>0</HiddenSlides>
  <MMClips>0</MMClips>
  <ScaleCrop>false</ScaleCrop>
  <HeadingPairs>
    <vt:vector size="6" baseType="variant">
      <vt:variant>
        <vt:lpstr>Theme</vt:lpstr>
      </vt:variant>
      <vt:variant>
        <vt:i4>4</vt:i4>
      </vt:variant>
      <vt:variant>
        <vt:lpstr>Embedded OLE Servers</vt:lpstr>
      </vt:variant>
      <vt:variant>
        <vt:i4>1</vt:i4>
      </vt:variant>
      <vt:variant>
        <vt:lpstr>Slide Titles</vt:lpstr>
      </vt:variant>
      <vt:variant>
        <vt:i4>18</vt:i4>
      </vt:variant>
    </vt:vector>
  </HeadingPairs>
  <TitlesOfParts>
    <vt:vector size="23" baseType="lpstr">
      <vt:lpstr>2_SDAL_Biocomplexity</vt:lpstr>
      <vt:lpstr>7_Office Theme</vt:lpstr>
      <vt:lpstr>SDAL SLIDES Feb 2016</vt:lpstr>
      <vt:lpstr>8_Office Theme</vt:lpstr>
      <vt:lpstr>Microsoft Word Document</vt:lpstr>
      <vt:lpstr>Innovation Overview</vt:lpstr>
      <vt:lpstr>From Invention to Innovation</vt:lpstr>
      <vt:lpstr>Generations of Innovation Metrics – What will be the next generation?</vt:lpstr>
      <vt:lpstr>Innovation – Tangible and Intangible Inputs &amp; Outputs</vt:lpstr>
      <vt:lpstr>Measuring Inputs to Business Innovation</vt:lpstr>
      <vt:lpstr>EU Community Innovation Surveys – 4 Types</vt:lpstr>
      <vt:lpstr>Why is NSF Interested in Measuring Innovation?</vt:lpstr>
      <vt:lpstr>Research Questions –  Capturing and Measuring Innovation</vt:lpstr>
      <vt:lpstr>Research Questions –  Administrative and Opportunity Date</vt:lpstr>
      <vt:lpstr>Examples of Research Questions –  What do Companies Tell Us Publically?</vt:lpstr>
      <vt:lpstr>Examples of Innovation Research Topics</vt:lpstr>
      <vt:lpstr>Examples of Innovation Research Topics</vt:lpstr>
      <vt:lpstr>Measuring Funding of Innovation</vt:lpstr>
      <vt:lpstr>Measuring Value of Open Source Software and Data</vt:lpstr>
      <vt:lpstr>A disciplined approach is needed to develop the theory and methods for using All data</vt:lpstr>
      <vt:lpstr>PowerPoint Presentation</vt:lpstr>
      <vt:lpstr>Application to Measuring Innovation</vt:lpstr>
      <vt:lpstr>Documents to Read</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Katie Ziemer</dc:creator>
  <cp:lastModifiedBy>Stephanie Shipp</cp:lastModifiedBy>
  <cp:revision>850</cp:revision>
  <cp:lastPrinted>2016-04-22T13:36:52Z</cp:lastPrinted>
  <dcterms:created xsi:type="dcterms:W3CDTF">2015-10-22T12:46:50Z</dcterms:created>
  <dcterms:modified xsi:type="dcterms:W3CDTF">2016-05-31T18:40:28Z</dcterms:modified>
</cp:coreProperties>
</file>