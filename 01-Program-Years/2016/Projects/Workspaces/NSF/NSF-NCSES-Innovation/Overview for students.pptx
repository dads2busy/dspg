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79" r:id="rId3"/>
    <p:sldMasterId id="2147483680" r:id="rId4"/>
    <p:sldMasterId id="2147483681" r:id="rId5"/>
    <p:sldMasterId id="214748368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9144000"/>
  <p:embeddedFontLst>
    <p:embeddedFont>
      <p:font typeface="Garamond"/>
      <p:regular r:id="rId26"/>
      <p:bold r:id="rId27"/>
      <p:italic r:id="rId28"/>
      <p:boldItalic r:id="rId29"/>
    </p:embeddedFont>
    <p:embeddedFont>
      <p:font typeface="Cabin"/>
      <p:regular r:id="rId30"/>
      <p:bold r:id="rId31"/>
      <p:italic r:id="rId32"/>
      <p:boldItalic r:id="rId33"/>
    </p:embeddedFont>
    <p:embeddedFont>
      <p:font typeface="Helvetica Neue"/>
      <p:regular r:id="rId34"/>
      <p:bold r:id="rId35"/>
      <p:italic r:id="rId36"/>
      <p:boldItalic r:id="rId37"/>
    </p:embeddedFont>
    <p:embeddedFont>
      <p:font typeface="Gill Sans"/>
      <p:regular r:id="rId38"/>
      <p:bold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2.xml"/><Relationship Id="rId26" Type="http://schemas.openxmlformats.org/officeDocument/2006/relationships/font" Target="fonts/Garamond-regular.fntdata"/><Relationship Id="rId25" Type="http://schemas.openxmlformats.org/officeDocument/2006/relationships/slide" Target="slides/slide18.xml"/><Relationship Id="rId28" Type="http://schemas.openxmlformats.org/officeDocument/2006/relationships/font" Target="fonts/Garamond-italic.fntdata"/><Relationship Id="rId27" Type="http://schemas.openxmlformats.org/officeDocument/2006/relationships/font" Target="fonts/Garamond-bold.fntdata"/><Relationship Id="rId5" Type="http://schemas.openxmlformats.org/officeDocument/2006/relationships/slideMaster" Target="slideMasters/slideMaster3.xml"/><Relationship Id="rId6" Type="http://schemas.openxmlformats.org/officeDocument/2006/relationships/slideMaster" Target="slideMasters/slideMaster4.xml"/><Relationship Id="rId29" Type="http://schemas.openxmlformats.org/officeDocument/2006/relationships/font" Target="fonts/Garamond-bold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Cabin-bold.fntdata"/><Relationship Id="rId30" Type="http://schemas.openxmlformats.org/officeDocument/2006/relationships/font" Target="fonts/Cabin-regular.fntdata"/><Relationship Id="rId11" Type="http://schemas.openxmlformats.org/officeDocument/2006/relationships/slide" Target="slides/slide4.xml"/><Relationship Id="rId33" Type="http://schemas.openxmlformats.org/officeDocument/2006/relationships/font" Target="fonts/Cabin-boldItalic.fntdata"/><Relationship Id="rId10" Type="http://schemas.openxmlformats.org/officeDocument/2006/relationships/slide" Target="slides/slide3.xml"/><Relationship Id="rId32" Type="http://schemas.openxmlformats.org/officeDocument/2006/relationships/font" Target="fonts/Cabin-italic.fntdata"/><Relationship Id="rId13" Type="http://schemas.openxmlformats.org/officeDocument/2006/relationships/slide" Target="slides/slide6.xml"/><Relationship Id="rId35" Type="http://schemas.openxmlformats.org/officeDocument/2006/relationships/font" Target="fonts/HelveticaNeue-bold.fntdata"/><Relationship Id="rId12" Type="http://schemas.openxmlformats.org/officeDocument/2006/relationships/slide" Target="slides/slide5.xml"/><Relationship Id="rId34" Type="http://schemas.openxmlformats.org/officeDocument/2006/relationships/font" Target="fonts/HelveticaNeue-regular.fntdata"/><Relationship Id="rId15" Type="http://schemas.openxmlformats.org/officeDocument/2006/relationships/slide" Target="slides/slide8.xml"/><Relationship Id="rId37" Type="http://schemas.openxmlformats.org/officeDocument/2006/relationships/font" Target="fonts/HelveticaNeue-boldItalic.fntdata"/><Relationship Id="rId14" Type="http://schemas.openxmlformats.org/officeDocument/2006/relationships/slide" Target="slides/slide7.xml"/><Relationship Id="rId36" Type="http://schemas.openxmlformats.org/officeDocument/2006/relationships/font" Target="fonts/HelveticaNeue-italic.fntdata"/><Relationship Id="rId17" Type="http://schemas.openxmlformats.org/officeDocument/2006/relationships/slide" Target="slides/slide10.xml"/><Relationship Id="rId39" Type="http://schemas.openxmlformats.org/officeDocument/2006/relationships/font" Target="fonts/GillSans-bold.fntdata"/><Relationship Id="rId16" Type="http://schemas.openxmlformats.org/officeDocument/2006/relationships/slide" Target="slides/slide9.xml"/><Relationship Id="rId38" Type="http://schemas.openxmlformats.org/officeDocument/2006/relationships/font" Target="fonts/GillSans-regular.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91425" lIns="91425" spcFirstLastPara="1" rIns="91425" wrap="square" tIns="91425"/>
          <a:lstStyle>
            <a:lvl1pPr indent="0" lvl="0" mar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91425" lIns="91425" spcFirstLastPara="1" rIns="91425" wrap="square" tIns="91425"/>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gecon-conference.org/gecon2015" TargetMode="External"/><Relationship Id="rId3" Type="http://schemas.openxmlformats.org/officeDocument/2006/relationships/hyperlink" Target="mailto:d.katz@ieee.org" TargetMode="External"/><Relationship Id="rId4" Type="http://schemas.openxmlformats.org/officeDocument/2006/relationships/hyperlink" Target="mailto:dsk@ci.uchicago.edu" TargetMode="External"/><Relationship Id="rId11" Type="http://schemas.openxmlformats.org/officeDocument/2006/relationships/hyperlink" Target="mailto:dbostrom@aamc.org" TargetMode="External"/><Relationship Id="rId10" Type="http://schemas.openxmlformats.org/officeDocument/2006/relationships/hyperlink" Target="http://www.software.ac.uk/resources/get-speed" TargetMode="External"/><Relationship Id="rId9" Type="http://schemas.openxmlformats.org/officeDocument/2006/relationships/hyperlink" Target="http://oss-watch.ac.uk/" TargetMode="External"/><Relationship Id="rId5" Type="http://schemas.openxmlformats.org/officeDocument/2006/relationships/hyperlink" Target="http://www.ci.uchicago.edu/~dsk/" TargetMode="External"/><Relationship Id="rId6" Type="http://schemas.openxmlformats.org/officeDocument/2006/relationships/hyperlink" Target="http://oss-watch.ac.uk/studies/survey2013/ict_policy_and_procurement_practice" TargetMode="External"/><Relationship Id="rId7" Type="http://schemas.openxmlformats.org/officeDocument/2006/relationships/hyperlink" Target="mailto:jhowison@ischool.utexas.edu" TargetMode="External"/><Relationship Id="rId8" Type="http://schemas.openxmlformats.org/officeDocument/2006/relationships/hyperlink" Target="http://james.howison.name/pubs/HowisonInfrastructureTransitions-in-progress.pdf"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1" name="Shape 121"/>
        <p:cNvGrpSpPr/>
        <p:nvPr/>
      </p:nvGrpSpPr>
      <p:grpSpPr>
        <a:xfrm>
          <a:off x="0" y="0"/>
          <a:ext cx="0" cy="0"/>
          <a:chOff x="0" y="0"/>
          <a:chExt cx="0" cy="0"/>
        </a:xfrm>
      </p:grpSpPr>
      <p:sp>
        <p:nvSpPr>
          <p:cNvPr id="122" name="Google Shape;12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In OECD’s </a:t>
            </a:r>
            <a:r>
              <a:rPr b="0" i="1" lang="en-US" sz="1200" u="none" cap="none" strike="noStrike">
                <a:solidFill>
                  <a:schemeClr val="dk1"/>
                </a:solidFill>
                <a:latin typeface="Calibri"/>
                <a:ea typeface="Calibri"/>
                <a:cs typeface="Calibri"/>
                <a:sym typeface="Calibri"/>
              </a:rPr>
              <a:t>Oslo Manual</a:t>
            </a:r>
            <a:r>
              <a:rPr b="0" i="0" lang="en-US" sz="1200" u="none" cap="none" strike="noStrike">
                <a:solidFill>
                  <a:schemeClr val="dk1"/>
                </a:solidFill>
                <a:latin typeface="Calibri"/>
                <a:ea typeface="Calibri"/>
                <a:cs typeface="Calibri"/>
                <a:sym typeface="Calibri"/>
              </a:rPr>
              <a:t>, which provides guidelines for collecting and interpreting innovation data, innovation is defined as the implementation of products or production and delivery processes with new or significantly improved characteristics. The third edition of the </a:t>
            </a:r>
            <a:r>
              <a:rPr b="0" i="1" lang="en-US" sz="1200" u="none" cap="none" strike="noStrike">
                <a:solidFill>
                  <a:schemeClr val="dk1"/>
                </a:solidFill>
                <a:latin typeface="Calibri"/>
                <a:ea typeface="Calibri"/>
                <a:cs typeface="Calibri"/>
                <a:sym typeface="Calibri"/>
              </a:rPr>
              <a:t>Oslo Manual </a:t>
            </a:r>
            <a:r>
              <a:rPr b="0" i="0" lang="en-US" sz="1200" u="none" cap="none" strike="noStrike">
                <a:solidFill>
                  <a:schemeClr val="dk1"/>
                </a:solidFill>
                <a:latin typeface="Calibri"/>
                <a:ea typeface="Calibri"/>
                <a:cs typeface="Calibri"/>
                <a:sym typeface="Calibri"/>
              </a:rPr>
              <a:t>extends the definition to include new organizational methods in business practices, workplace organization, or external relations (OECD 2005).</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DOC defines innovation as the design, development, and implementation of new or altered products, services, processes, organizational structures, and business models to create value for the customer and financial returns for the firm practicing innovation (DOC 2008).</a:t>
            </a:r>
            <a:endParaRPr b="0" i="0" sz="1200" u="none" cap="none" strike="noStrike">
              <a:solidFill>
                <a:schemeClr val="dk1"/>
              </a:solidFill>
              <a:latin typeface="Calibri"/>
              <a:ea typeface="Calibri"/>
              <a:cs typeface="Calibri"/>
              <a:sym typeface="Calibri"/>
            </a:endParaRPr>
          </a:p>
        </p:txBody>
      </p:sp>
      <p:sp>
        <p:nvSpPr>
          <p:cNvPr id="124" name="Google Shape;124;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8" name="Shape 128"/>
        <p:cNvGrpSpPr/>
        <p:nvPr/>
      </p:nvGrpSpPr>
      <p:grpSpPr>
        <a:xfrm>
          <a:off x="0" y="0"/>
          <a:ext cx="0" cy="0"/>
          <a:chOff x="0" y="0"/>
          <a:chExt cx="0" cy="0"/>
        </a:xfrm>
      </p:grpSpPr>
      <p:sp>
        <p:nvSpPr>
          <p:cNvPr id="129" name="Google Shape;12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5" name="Shape 135"/>
        <p:cNvGrpSpPr/>
        <p:nvPr/>
      </p:nvGrpSpPr>
      <p:grpSpPr>
        <a:xfrm>
          <a:off x="0" y="0"/>
          <a:ext cx="0" cy="0"/>
          <a:chOff x="0" y="0"/>
          <a:chExt cx="0" cy="0"/>
        </a:xfrm>
      </p:grpSpPr>
      <p:sp>
        <p:nvSpPr>
          <p:cNvPr id="136" name="Google Shape;13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Calibri"/>
              <a:buNone/>
            </a:pPr>
            <a:r>
              <a:rPr b="0" i="0" lang="en-US" sz="1200" u="none" cap="none" strike="noStrike">
                <a:solidFill>
                  <a:schemeClr val="dk1"/>
                </a:solidFill>
                <a:latin typeface="Calibri"/>
                <a:ea typeface="Calibri"/>
                <a:cs typeface="Calibri"/>
                <a:sym typeface="Calibri"/>
              </a:rPr>
              <a:t>Innovation is driven by a firm’s (or any entity’s) investment in tangible capital (such as computer networks) or intangible capital (such as organizational structure or human capital/training). These innovative activities could lead to tangible outputs (e.g., new or improved products or processes) or intangible ones (e.g., more experienced employees, who are more likely to engage in future innovations).</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38" name="Google Shape;138;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2" name="Shape 142"/>
        <p:cNvGrpSpPr/>
        <p:nvPr/>
      </p:nvGrpSpPr>
      <p:grpSpPr>
        <a:xfrm>
          <a:off x="0" y="0"/>
          <a:ext cx="0" cy="0"/>
          <a:chOff x="0" y="0"/>
          <a:chExt cx="0" cy="0"/>
        </a:xfrm>
      </p:grpSpPr>
      <p:sp>
        <p:nvSpPr>
          <p:cNvPr id="143" name="Google Shape;14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8" name="Shape 148"/>
        <p:cNvGrpSpPr/>
        <p:nvPr/>
      </p:nvGrpSpPr>
      <p:grpSpPr>
        <a:xfrm>
          <a:off x="0" y="0"/>
          <a:ext cx="0" cy="0"/>
          <a:chOff x="0" y="0"/>
          <a:chExt cx="0" cy="0"/>
        </a:xfrm>
      </p:grpSpPr>
      <p:sp>
        <p:nvSpPr>
          <p:cNvPr id="149" name="Google Shape;14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4" name="Shape 154"/>
        <p:cNvGrpSpPr/>
        <p:nvPr/>
      </p:nvGrpSpPr>
      <p:grpSpPr>
        <a:xfrm>
          <a:off x="0" y="0"/>
          <a:ext cx="0" cy="0"/>
          <a:chOff x="0" y="0"/>
          <a:chExt cx="0" cy="0"/>
        </a:xfrm>
      </p:grpSpPr>
      <p:sp>
        <p:nvSpPr>
          <p:cNvPr id="155" name="Google Shape;15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0" name="Shape 160"/>
        <p:cNvGrpSpPr/>
        <p:nvPr/>
      </p:nvGrpSpPr>
      <p:grpSpPr>
        <a:xfrm>
          <a:off x="0" y="0"/>
          <a:ext cx="0" cy="0"/>
          <a:chOff x="0" y="0"/>
          <a:chExt cx="0" cy="0"/>
        </a:xfrm>
      </p:grpSpPr>
      <p:sp>
        <p:nvSpPr>
          <p:cNvPr id="161" name="Google Shape;16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6" name="Shape 166"/>
        <p:cNvGrpSpPr/>
        <p:nvPr/>
      </p:nvGrpSpPr>
      <p:grpSpPr>
        <a:xfrm>
          <a:off x="0" y="0"/>
          <a:ext cx="0" cy="0"/>
          <a:chOff x="0" y="0"/>
          <a:chExt cx="0" cy="0"/>
        </a:xfrm>
      </p:grpSpPr>
      <p:sp>
        <p:nvSpPr>
          <p:cNvPr id="167" name="Google Shape;16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2" name="Shape 172"/>
        <p:cNvGrpSpPr/>
        <p:nvPr/>
      </p:nvGrpSpPr>
      <p:grpSpPr>
        <a:xfrm>
          <a:off x="0" y="0"/>
          <a:ext cx="0" cy="0"/>
          <a:chOff x="0" y="0"/>
          <a:chExt cx="0" cy="0"/>
        </a:xfrm>
      </p:grpSpPr>
      <p:sp>
        <p:nvSpPr>
          <p:cNvPr id="173" name="Google Shape;17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8" name="Shape 178"/>
        <p:cNvGrpSpPr/>
        <p:nvPr/>
      </p:nvGrpSpPr>
      <p:grpSpPr>
        <a:xfrm>
          <a:off x="0" y="0"/>
          <a:ext cx="0" cy="0"/>
          <a:chOff x="0" y="0"/>
          <a:chExt cx="0" cy="0"/>
        </a:xfrm>
      </p:grpSpPr>
      <p:sp>
        <p:nvSpPr>
          <p:cNvPr id="179" name="Google Shape;179;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Data visualization/emerging trends – network theory (EM)</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Amateur innovation (crowd sourcing/crowdfunding) – (EM/JG)</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R&amp;D collaboration across firms – collaboration networks (private versus social welfare/benefits) (GK)</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Non-traditional S&amp;T Workforce (EM/KZ) – online courses; LinkedIn; etc.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Suppose you could follow data for a sample of individuals to answer these questions? (contract for a sample of data)</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Tying innovation to education – what are educational pathways to innovation?</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What kinds of entrepreneurial businesses are created? LLC? Other? (KZ)</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How do you track innovation in elementary and high school? How is innovation taught?  (MO)</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DEKA – Dean Kamen</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Data on university incubators (National Assns to gather data; Crunchbase; ) (VL)</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Peter Thiel – 2 year $100K  to drop out of school and work on S&amp;T areas</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Track S&amp;T competitions, business plan competitions, celebrity entrepreneurs (VL)</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UK NESTA - UK documents their trends</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Alternative finance – crowdfunding</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Financing for women – are they seeking funding in new ways?</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Ways people to get money to innovate –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Are there Foundations funding innovation?  There appears to be a growing amount of this funding to support R&amp;D. There is a lot of young wealth (Arnold Foundation) and old wealth (RWJF)</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Social innovation –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Open Source Software and Data – see notes</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Scientific repositories – does this lead to more R&amp;D and innovation?</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DOD categorizes research as 6.1 to 6.9 – how to look at the data for categorizing?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(Also TRL1 system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How does the internet change innovation? Internet world – how to measure innovation? e.g. Measure clicks? Web metrics? Apps innovation?</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Types of government funding of innovation supporting …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MIT Top 100 and other categorizations of emerging trends ….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Public Health Innovation – trickle down exacerbates disparities – what is the outcome? e.g. does it change obesity?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Psychology – defining originality and creativity? </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81" name="Google Shape;181;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5" name="Shape 185"/>
        <p:cNvGrpSpPr/>
        <p:nvPr/>
      </p:nvGrpSpPr>
      <p:grpSpPr>
        <a:xfrm>
          <a:off x="0" y="0"/>
          <a:ext cx="0" cy="0"/>
          <a:chOff x="0" y="0"/>
          <a:chExt cx="0" cy="0"/>
        </a:xfrm>
      </p:grpSpPr>
      <p:sp>
        <p:nvSpPr>
          <p:cNvPr id="186" name="Google Shape;186;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Data visualization/emerging trends – network theory (EM)</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Amateur innovation (crowd sourcing/crowdfunding) – (EM/JG)</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R&amp;D collaboration across firms – collaboration networks (private versus social welfare/benefits) (GK)</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Non-traditional S&amp;T Workforce (EM/KZ) – online courses; LinkedIn; etc.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Suppose you could follow data for a sample of individuals to answer these questions? (contract for a sample of data)</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Tying innovation to education – what are educational pathways to innovation?</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What kinds of entrepreneurial businesses are created? LLC? Other? (KZ)</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How do you track innovation in elementary and high school? How is innovation taught?  (MO)</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DEKA – Dean Kamen</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Data on university incubators (National Assns to gather data; Crunchbase; ) (VL)</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Peter Thiel – 2 year $100K  to drop out of school and work on S&amp;T areas</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Track S&amp;T competitions, business plan competitions, celebrity entrepreneurs (VL)</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UK NESTA - UK documents their trends</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Alternative finance – crowdfunding</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Financing for women – are they seeking funding in new ways?</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Ways people to get money to innovate –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Are there Foundations funding innovation?  There appears to be a growing amount of this funding to support R&amp;D. There is a lot of young wealth (Arnold Foundation) and old wealth (RWJF)</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Social innovation –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Open Source Software and Data – see notes</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Scientific repositories – does this lead to more R&amp;D and innovation?</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DOD categorizes research as 6.1 to 6.9 – how to look at the data for categorizing?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(Also TRL1 system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How does the internet change innovation? Internet world – how to measure innovation? e.g. Measure clicks? Web metrics? Apps innovation?</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Types of government funding of innovation supporting …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MIT Top 100 and other categorizations of emerging trends ….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Public Health Innovation – trickle down exacerbates disparities – what is the outcome? e.g. does it change obesity?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Psychology – defining originality and creativity? </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88" name="Google Shape;188;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2" name="Shape 192"/>
        <p:cNvGrpSpPr/>
        <p:nvPr/>
      </p:nvGrpSpPr>
      <p:grpSpPr>
        <a:xfrm>
          <a:off x="0" y="0"/>
          <a:ext cx="0" cy="0"/>
          <a:chOff x="0" y="0"/>
          <a:chExt cx="0" cy="0"/>
        </a:xfrm>
      </p:grpSpPr>
      <p:sp>
        <p:nvSpPr>
          <p:cNvPr id="193" name="Google Shape;193;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sng" cap="none" strike="noStrike">
                <a:solidFill>
                  <a:schemeClr val="dk1"/>
                </a:solidFill>
                <a:latin typeface="Calibri"/>
                <a:ea typeface="Calibri"/>
                <a:cs typeface="Calibri"/>
                <a:sym typeface="Calibri"/>
              </a:rPr>
              <a:t>http://www.insidephilanthropy.com/home/2016/3/10/meet-the-50-most-powerful-women-in-us-philanthropy.html</a:t>
            </a:r>
            <a:endParaRPr b="0" i="0" sz="1200" u="none" cap="none" strike="noStrike">
              <a:solidFill>
                <a:schemeClr val="dk1"/>
              </a:solidFill>
              <a:latin typeface="Calibri"/>
              <a:ea typeface="Calibri"/>
              <a:cs typeface="Calibri"/>
              <a:sym typeface="Calibri"/>
            </a:endParaRPr>
          </a:p>
        </p:txBody>
      </p:sp>
      <p:sp>
        <p:nvSpPr>
          <p:cNvPr id="195" name="Google Shape;195;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1" name="Shape 201"/>
        <p:cNvGrpSpPr/>
        <p:nvPr/>
      </p:nvGrpSpPr>
      <p:grpSpPr>
        <a:xfrm>
          <a:off x="0" y="0"/>
          <a:ext cx="0" cy="0"/>
          <a:chOff x="0" y="0"/>
          <a:chExt cx="0" cy="0"/>
        </a:xfrm>
      </p:grpSpPr>
      <p:sp>
        <p:nvSpPr>
          <p:cNvPr id="202" name="Google Shape;202;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See SciSIP emails from April 2015</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Neil Chue Hong (U. Edinburgh &amp; Software Sustainability Institute) and I are the track chairs for the Economics of Software &amp; Services Track in the 12th International Conference on Economics of Grids, Clouds, Systems and Services (GECON 2015) - </a:t>
            </a:r>
            <a:r>
              <a:rPr b="0" i="0" lang="en-US" sz="1200" u="sng" cap="none" strike="noStrike">
                <a:solidFill>
                  <a:schemeClr val="hlink"/>
                </a:solidFill>
                <a:latin typeface="Calibri"/>
                <a:ea typeface="Calibri"/>
                <a:cs typeface="Calibri"/>
                <a:sym typeface="Calibri"/>
                <a:hlinkClick r:id="rId2"/>
              </a:rPr>
              <a:t>http://www.gecon-conference.org/gecon2015 - 15-17 September 2015, Cluj-Napoca, Romania</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The description of our track in the CFP is:</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Software has become an essential element of information technology (IT) systems, whether scientific, technical, academic, industrial, commercial, local, distributed, or social. Elements of software form an ecosystem, with new elements entering over time, and various elements being combined with each other and with computing, networking, and data elements within IT systems.  Economics and economic models can be applied at many levels, including the overall software ecosystem, and to model the relationship between software and other parts of the IT system.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In this track, we are interested in new understandings of how software ecosystems and IT systems interrelate, including:</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development of novel economic models around software</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the use of existing economic models to gain new understanding</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the role of incentives, both novel and existing</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comparative understanding of software in distinct classes of IT systems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business models, including revenue &amp; pricing</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the role of economics in software development models</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community development and interaction within software ecosystems</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economic models which optimise software quality or software adoption</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With this email, we request both those interested in volunteering as Program Committee members for our track to let us know of their interest, and that potential authors begin considering submissions to the track and to the conference.  Papers will be due May 25.</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Thanks,</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Dan</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Daniel S. Katz</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University of Chicago</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(773) 834-7186 (voice)</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(773) 834-6818 (fax)</a:t>
            </a:r>
            <a:endParaRPr/>
          </a:p>
          <a:p>
            <a:pPr indent="0" lvl="0" marL="0" marR="0" rtl="0" algn="l">
              <a:spcBef>
                <a:spcPts val="0"/>
              </a:spcBef>
              <a:spcAft>
                <a:spcPts val="0"/>
              </a:spcAft>
              <a:buNone/>
            </a:pPr>
            <a:r>
              <a:rPr b="0" i="0" lang="en-US" sz="1200" u="sng" cap="none" strike="noStrike">
                <a:solidFill>
                  <a:schemeClr val="hlink"/>
                </a:solidFill>
                <a:latin typeface="Calibri"/>
                <a:ea typeface="Calibri"/>
                <a:cs typeface="Calibri"/>
                <a:sym typeface="Calibri"/>
                <a:hlinkClick r:id="rId3"/>
              </a:rPr>
              <a:t>d.katz@ieee.org or </a:t>
            </a:r>
            <a:r>
              <a:rPr b="0" i="0" lang="en-US" sz="1200" u="sng" cap="none" strike="noStrike">
                <a:solidFill>
                  <a:schemeClr val="hlink"/>
                </a:solidFill>
                <a:latin typeface="Calibri"/>
                <a:ea typeface="Calibri"/>
                <a:cs typeface="Calibri"/>
                <a:sym typeface="Calibri"/>
                <a:hlinkClick r:id="rId4"/>
              </a:rPr>
              <a:t>dsk@uchicago.edu</a:t>
            </a:r>
            <a:endParaRPr/>
          </a:p>
          <a:p>
            <a:pPr indent="0" lvl="0" marL="0" marR="0" rtl="0" algn="l">
              <a:spcBef>
                <a:spcPts val="0"/>
              </a:spcBef>
              <a:spcAft>
                <a:spcPts val="0"/>
              </a:spcAft>
              <a:buNone/>
            </a:pPr>
            <a:r>
              <a:rPr b="0" i="0" lang="en-US" sz="1200" u="sng" cap="none" strike="noStrike">
                <a:solidFill>
                  <a:schemeClr val="hlink"/>
                </a:solidFill>
                <a:latin typeface="Calibri"/>
                <a:ea typeface="Calibri"/>
                <a:cs typeface="Calibri"/>
                <a:sym typeface="Calibri"/>
                <a:hlinkClick r:id="rId5"/>
              </a:rPr>
              <a:t>http://www.ci.uchicago.edu/~dsk/</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OSS reports that they survey UK institutions on this.  See: </a:t>
            </a:r>
            <a:r>
              <a:rPr b="0" i="0" lang="en-US" sz="1200" u="sng" cap="none" strike="noStrike">
                <a:solidFill>
                  <a:schemeClr val="hlink"/>
                </a:solidFill>
                <a:latin typeface="Calibri"/>
                <a:ea typeface="Calibri"/>
                <a:cs typeface="Calibri"/>
                <a:sym typeface="Calibri"/>
                <a:hlinkClick r:id="rId6"/>
              </a:rPr>
              <a:t>http://oss-watch.ac.uk/studies/survey2013/ict_policy_and_procurement_practice</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Dan</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On Feb 27, 2015, at 1:36 PM, James Howison &lt;</a:t>
            </a:r>
            <a:r>
              <a:rPr b="0" i="0" lang="en-US" sz="1200" u="sng" cap="none" strike="noStrike">
                <a:solidFill>
                  <a:schemeClr val="hlink"/>
                </a:solidFill>
                <a:latin typeface="Calibri"/>
                <a:ea typeface="Calibri"/>
                <a:cs typeface="Calibri"/>
                <a:sym typeface="Calibri"/>
                <a:hlinkClick r:id="rId7"/>
              </a:rPr>
              <a:t>jhowison@ischool.utexas.edu&gt; wrote:</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Great question.  I'm working on a research agenda on the "other direction" of technology transfer; rather than commercialization, I'm focusing on transfer of originally grant funded work to community support models, including open source software development. There are a ton of differences between successfully running a grant-funded project and successfully running a community-supported open project (software or otherwise); the transition is as complicated and interesting as commercialization.  Happily we know a decent amount about the end point (open source organization and online communities), so the research is on the transitions.  I describe this in a work in progress paper I'm presenting at the Information School's conference: </a:t>
            </a:r>
            <a:r>
              <a:rPr b="0" i="0" lang="en-US" sz="1200" u="sng" cap="none" strike="noStrike">
                <a:solidFill>
                  <a:schemeClr val="hlink"/>
                </a:solidFill>
                <a:latin typeface="Calibri"/>
                <a:ea typeface="Calibri"/>
                <a:cs typeface="Calibri"/>
                <a:sym typeface="Calibri"/>
                <a:hlinkClick r:id="rId8"/>
              </a:rPr>
              <a:t>http://james.howison.name/pubs/HowisonInfrastructureTransitions-in-progress.pdf </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I've chatted with a few people in technology transfer offices and it's like talking to corporate people about open source in the late 1990s.  There is sometimes real opposition to it and, at best, a shrug that it's probably fine for things with no value.  The idea that open code can be the basis of an ecosystem that brings reputation, funding and, indeed, profit, to the University seems a fair distance away.  But I'd love to chat with tech transfer (or VP research types) who see succeeding at open source as a strategic goal worthy of university support.</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In answer to the specific question, these resources might be useful. The UK has some of the best resources in these areas: </a:t>
            </a:r>
            <a:r>
              <a:rPr b="0" i="0" lang="en-US" sz="1200" u="sng" cap="none" strike="noStrike">
                <a:solidFill>
                  <a:schemeClr val="hlink"/>
                </a:solidFill>
                <a:latin typeface="Calibri"/>
                <a:ea typeface="Calibri"/>
                <a:cs typeface="Calibri"/>
                <a:sym typeface="Calibri"/>
                <a:hlinkClick r:id="rId9"/>
              </a:rPr>
              <a:t>http://oss-watch.ac.uk/  There's also the UK Scientific Software Sustainability Institute </a:t>
            </a:r>
            <a:r>
              <a:rPr b="0" i="0" lang="en-US" sz="1200" u="sng" cap="none" strike="noStrike">
                <a:solidFill>
                  <a:schemeClr val="hlink"/>
                </a:solidFill>
                <a:latin typeface="Calibri"/>
                <a:ea typeface="Calibri"/>
                <a:cs typeface="Calibri"/>
                <a:sym typeface="Calibri"/>
                <a:hlinkClick r:id="rId10"/>
              </a:rPr>
              <a:t>http://www.software.ac.uk/resources/get-speed Looking through things there, I'm not seeing anything specifically about University IP policies, but I'll ping them on Twitter and see if anything comes up.</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--James</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On Fri, Feb 27, 2015 at 11:43 AM, Dana Bostrom ‪&lt;</a:t>
            </a:r>
            <a:r>
              <a:rPr b="0" i="0" lang="en-US" sz="1200" u="sng" cap="none" strike="noStrike">
                <a:solidFill>
                  <a:schemeClr val="hlink"/>
                </a:solidFill>
                <a:latin typeface="Calibri"/>
                <a:ea typeface="Calibri"/>
                <a:cs typeface="Calibri"/>
                <a:sym typeface="Calibri"/>
                <a:hlinkClick r:id="rId11"/>
              </a:rPr>
              <a:t>dbostrom@aamc.org&gt;‬ wrote:</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I’m not aware of any “studies” but I can tell you as someone who did tech transfer at universities for 12 years that open source is supported by most (if not all) universities.  I’ve never seen it referenced in an IP policy, but that may be because some software is considered a personal work in the same way that journal articles are.  Some software is written by a huge team and becomes an institutionally owned work, but other times it is personal and can be distributed according to the individual author’s wishes.</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Over a decade ago, the University of Washington distributed bioinformatics software Phred / Phrap and associated software open source for a decade and sold “services” associated with it.  I managed the IP for the Pine email client software which was distributed open source.  Universities still support open source.</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Dana</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Dana Bostrom</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Executive Director</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Data Commons, LLC</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04" name="Google Shape;204;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6" name="Shape 236"/>
        <p:cNvGrpSpPr/>
        <p:nvPr/>
      </p:nvGrpSpPr>
      <p:grpSpPr>
        <a:xfrm>
          <a:off x="0" y="0"/>
          <a:ext cx="0" cy="0"/>
          <a:chOff x="0" y="0"/>
          <a:chExt cx="0" cy="0"/>
        </a:xfrm>
      </p:grpSpPr>
      <p:sp>
        <p:nvSpPr>
          <p:cNvPr id="237" name="Google Shape;237;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1" name="Shape 251"/>
        <p:cNvGrpSpPr/>
        <p:nvPr/>
      </p:nvGrpSpPr>
      <p:grpSpPr>
        <a:xfrm>
          <a:off x="0" y="0"/>
          <a:ext cx="0" cy="0"/>
          <a:chOff x="0" y="0"/>
          <a:chExt cx="0" cy="0"/>
        </a:xfrm>
      </p:grpSpPr>
      <p:sp>
        <p:nvSpPr>
          <p:cNvPr id="252" name="Google Shape;252;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7" name="Shape 257"/>
        <p:cNvGrpSpPr/>
        <p:nvPr/>
      </p:nvGrpSpPr>
      <p:grpSpPr>
        <a:xfrm>
          <a:off x="0" y="0"/>
          <a:ext cx="0" cy="0"/>
          <a:chOff x="0" y="0"/>
          <a:chExt cx="0" cy="0"/>
        </a:xfrm>
      </p:grpSpPr>
      <p:sp>
        <p:nvSpPr>
          <p:cNvPr id="258" name="Google Shape;258;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bg>
      <p:bgPr>
        <a:blipFill rotWithShape="1">
          <a:blip r:embed="rId2">
            <a:alphaModFix/>
          </a:blip>
          <a:stretch>
            <a:fillRect b="0" l="0" r="0" t="0"/>
          </a:stretch>
        </a:blipFill>
      </p:bgPr>
    </p:bg>
    <p:spTree>
      <p:nvGrpSpPr>
        <p:cNvPr id="13" name="Shape 13"/>
        <p:cNvGrpSpPr/>
        <p:nvPr/>
      </p:nvGrpSpPr>
      <p:grpSpPr>
        <a:xfrm>
          <a:off x="0" y="0"/>
          <a:ext cx="0" cy="0"/>
          <a:chOff x="0" y="0"/>
          <a:chExt cx="0" cy="0"/>
        </a:xfrm>
      </p:grpSpPr>
      <p:sp>
        <p:nvSpPr>
          <p:cNvPr id="14" name="Google Shape;14;p2"/>
          <p:cNvSpPr txBox="1"/>
          <p:nvPr>
            <p:ph type="ctrTitle"/>
          </p:nvPr>
        </p:nvSpPr>
        <p:spPr>
          <a:xfrm>
            <a:off x="685800" y="1597832"/>
            <a:ext cx="7772400" cy="1102519"/>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Clr>
                <a:schemeClr val="dk1"/>
              </a:buClr>
              <a:buSzPts val="1400"/>
              <a:buFont typeface="Cabin"/>
              <a:buNone/>
              <a:defRPr b="0" i="0" sz="3200" u="none" cap="none" strike="noStrike">
                <a:solidFill>
                  <a:schemeClr val="dk1"/>
                </a:solidFill>
                <a:latin typeface="Cabin"/>
                <a:ea typeface="Cabin"/>
                <a:cs typeface="Cabin"/>
                <a:sym typeface="Cabin"/>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5" name="Google Shape;15;p2"/>
          <p:cNvSpPr txBox="1"/>
          <p:nvPr>
            <p:ph idx="1" type="subTitle"/>
          </p:nvPr>
        </p:nvSpPr>
        <p:spPr>
          <a:xfrm>
            <a:off x="1371600" y="2914650"/>
            <a:ext cx="6400800" cy="1314450"/>
          </a:xfrm>
          <a:prstGeom prst="rect">
            <a:avLst/>
          </a:prstGeom>
          <a:noFill/>
          <a:ln>
            <a:noFill/>
          </a:ln>
        </p:spPr>
        <p:txBody>
          <a:bodyPr anchorCtr="0" anchor="t" bIns="91425" lIns="91425" spcFirstLastPara="1" rIns="91425" wrap="square" tIns="91425"/>
          <a:lstStyle>
            <a:lvl1pPr indent="0" lvl="0" marL="0" marR="0" rtl="0" algn="ctr">
              <a:spcBef>
                <a:spcPts val="560"/>
              </a:spcBef>
              <a:spcAft>
                <a:spcPts val="0"/>
              </a:spcAft>
              <a:buClr>
                <a:srgbClr val="888888"/>
              </a:buClr>
              <a:buSzPts val="2800"/>
              <a:buFont typeface="Arial"/>
              <a:buNone/>
              <a:defRPr b="0" i="0" sz="2800" u="none" cap="none" strike="noStrike">
                <a:solidFill>
                  <a:srgbClr val="888888"/>
                </a:solidFill>
                <a:latin typeface="Gill Sans"/>
                <a:ea typeface="Gill Sans"/>
                <a:cs typeface="Gill Sans"/>
                <a:sym typeface="Gill Sans"/>
              </a:defRPr>
            </a:lvl1pPr>
            <a:lvl2pPr indent="0" lvl="1" marL="457200" marR="0" rtl="0" algn="ctr">
              <a:spcBef>
                <a:spcPts val="480"/>
              </a:spcBef>
              <a:spcAft>
                <a:spcPts val="0"/>
              </a:spcAft>
              <a:buClr>
                <a:srgbClr val="888888"/>
              </a:buClr>
              <a:buSzPts val="2400"/>
              <a:buFont typeface="Arial"/>
              <a:buNone/>
              <a:defRPr b="0" i="0" sz="2400" u="none" cap="none" strike="noStrike">
                <a:solidFill>
                  <a:srgbClr val="888888"/>
                </a:solidFill>
                <a:latin typeface="Gill Sans"/>
                <a:ea typeface="Gill Sans"/>
                <a:cs typeface="Gill Sans"/>
                <a:sym typeface="Gill Sans"/>
              </a:defRPr>
            </a:lvl2pPr>
            <a:lvl3pPr indent="0" lvl="2" marL="914400" marR="0" rtl="0" algn="ctr">
              <a:spcBef>
                <a:spcPts val="400"/>
              </a:spcBef>
              <a:spcAft>
                <a:spcPts val="0"/>
              </a:spcAft>
              <a:buClr>
                <a:srgbClr val="888888"/>
              </a:buClr>
              <a:buSzPts val="2000"/>
              <a:buFont typeface="Arial"/>
              <a:buNone/>
              <a:defRPr b="0" i="0" sz="2000" u="none" cap="none" strike="noStrike">
                <a:solidFill>
                  <a:srgbClr val="888888"/>
                </a:solidFill>
                <a:latin typeface="Gill Sans"/>
                <a:ea typeface="Gill Sans"/>
                <a:cs typeface="Gill Sans"/>
                <a:sym typeface="Gill Sans"/>
              </a:defRPr>
            </a:lvl3pPr>
            <a:lvl4pPr indent="0" lvl="3" marL="1371600" marR="0" rtl="0" algn="ctr">
              <a:spcBef>
                <a:spcPts val="400"/>
              </a:spcBef>
              <a:spcAft>
                <a:spcPts val="0"/>
              </a:spcAft>
              <a:buClr>
                <a:srgbClr val="888888"/>
              </a:buClr>
              <a:buSzPts val="2000"/>
              <a:buFont typeface="Arial"/>
              <a:buNone/>
              <a:defRPr b="0" i="0" sz="2000" u="none" cap="none" strike="noStrike">
                <a:solidFill>
                  <a:srgbClr val="888888"/>
                </a:solidFill>
                <a:latin typeface="Gill Sans"/>
                <a:ea typeface="Gill Sans"/>
                <a:cs typeface="Gill Sans"/>
                <a:sym typeface="Gill Sans"/>
              </a:defRPr>
            </a:lvl4pPr>
            <a:lvl5pPr indent="0" lvl="4" marL="1828800" marR="0" rtl="0" algn="ctr">
              <a:spcBef>
                <a:spcPts val="400"/>
              </a:spcBef>
              <a:spcAft>
                <a:spcPts val="0"/>
              </a:spcAft>
              <a:buClr>
                <a:srgbClr val="888888"/>
              </a:buClr>
              <a:buSzPts val="2000"/>
              <a:buFont typeface="Arial"/>
              <a:buNone/>
              <a:defRPr b="0" i="0" sz="2000" u="none" cap="none" strike="noStrike">
                <a:solidFill>
                  <a:srgbClr val="888888"/>
                </a:solidFill>
                <a:latin typeface="Gill Sans"/>
                <a:ea typeface="Gill Sans"/>
                <a:cs typeface="Gill Sans"/>
                <a:sym typeface="Gill Sans"/>
              </a:defRPr>
            </a:lvl5pPr>
            <a:lvl6pPr indent="0" lvl="5" marL="2286000"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indent="0" lvl="6" marL="2743200"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indent="0" lvl="7" marL="3200400"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indent="0" lvl="8" marL="3657600"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type="obj">
  <p:cSld name="OBJECT">
    <p:spTree>
      <p:nvGrpSpPr>
        <p:cNvPr id="16" name="Shape 16"/>
        <p:cNvGrpSpPr/>
        <p:nvPr/>
      </p:nvGrpSpPr>
      <p:grpSpPr>
        <a:xfrm>
          <a:off x="0" y="0"/>
          <a:ext cx="0" cy="0"/>
          <a:chOff x="0" y="0"/>
          <a:chExt cx="0" cy="0"/>
        </a:xfrm>
      </p:grpSpPr>
      <p:sp>
        <p:nvSpPr>
          <p:cNvPr id="17" name="Google Shape;17;p3"/>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lstStyle>
            <a:lvl1pPr indent="0" lvl="0" marL="0" marR="0" rtl="0" algn="r">
              <a:spcBef>
                <a:spcPts val="0"/>
              </a:spcBef>
              <a:spcAft>
                <a:spcPts val="0"/>
              </a:spcAft>
              <a:buClr>
                <a:schemeClr val="dk1"/>
              </a:buClr>
              <a:buSzPts val="1400"/>
              <a:buFont typeface="Cabin"/>
              <a:buNone/>
              <a:defRPr b="0" i="0" sz="3200" u="none" cap="none" strike="noStrike">
                <a:solidFill>
                  <a:schemeClr val="dk1"/>
                </a:solidFill>
                <a:latin typeface="Cabin"/>
                <a:ea typeface="Cabin"/>
                <a:cs typeface="Cabin"/>
                <a:sym typeface="Cabin"/>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8" name="Google Shape;18;p3"/>
          <p:cNvSpPr txBox="1"/>
          <p:nvPr>
            <p:ph idx="1" type="body"/>
          </p:nvPr>
        </p:nvSpPr>
        <p:spPr>
          <a:xfrm>
            <a:off x="457200" y="1006078"/>
            <a:ext cx="8229600" cy="3394472"/>
          </a:xfrm>
          <a:prstGeom prst="rect">
            <a:avLst/>
          </a:prstGeom>
          <a:noFill/>
          <a:ln>
            <a:noFill/>
          </a:ln>
        </p:spPr>
        <p:txBody>
          <a:bodyPr anchorCtr="0" anchor="t" bIns="91425" lIns="91425" spcFirstLastPara="1" rIns="91425" wrap="square" tIns="91425"/>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Gill Sans"/>
                <a:ea typeface="Gill Sans"/>
                <a:cs typeface="Gill Sans"/>
                <a:sym typeface="Gill Sans"/>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Gill Sans"/>
                <a:ea typeface="Gill Sans"/>
                <a:cs typeface="Gill Sans"/>
                <a:sym typeface="Gill Sans"/>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pic>
        <p:nvPicPr>
          <p:cNvPr descr="Screen Shot 2015-12-08 at 7.04.00 PM.png" id="19" name="Google Shape;19;p3"/>
          <p:cNvPicPr preferRelativeResize="0"/>
          <p:nvPr/>
        </p:nvPicPr>
        <p:blipFill rotWithShape="1">
          <a:blip r:embed="rId2">
            <a:alphaModFix/>
          </a:blip>
          <a:srcRect b="0" l="0" r="0" t="0"/>
          <a:stretch/>
        </p:blipFill>
        <p:spPr>
          <a:xfrm>
            <a:off x="782990" y="4763718"/>
            <a:ext cx="3708983" cy="356896"/>
          </a:xfrm>
          <a:prstGeom prst="rect">
            <a:avLst/>
          </a:prstGeom>
          <a:noFill/>
          <a:ln>
            <a:noFill/>
          </a:ln>
        </p:spPr>
      </p:pic>
      <p:pic>
        <p:nvPicPr>
          <p:cNvPr descr="Screen Shot 2015-12-08 at 7.04.00 PM.png" id="20" name="Google Shape;20;p3"/>
          <p:cNvPicPr preferRelativeResize="0"/>
          <p:nvPr/>
        </p:nvPicPr>
        <p:blipFill rotWithShape="1">
          <a:blip r:embed="rId2">
            <a:alphaModFix/>
          </a:blip>
          <a:srcRect b="0" l="0" r="0" t="0"/>
          <a:stretch/>
        </p:blipFill>
        <p:spPr>
          <a:xfrm>
            <a:off x="782990" y="4763718"/>
            <a:ext cx="3708983" cy="35689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1" name="Shape 21"/>
        <p:cNvGrpSpPr/>
        <p:nvPr/>
      </p:nvGrpSpPr>
      <p:grpSpPr>
        <a:xfrm>
          <a:off x="0" y="0"/>
          <a:ext cx="0" cy="0"/>
          <a:chOff x="0" y="0"/>
          <a:chExt cx="0" cy="0"/>
        </a:xfrm>
      </p:grpSpPr>
      <p:sp>
        <p:nvSpPr>
          <p:cNvPr id="22" name="Google Shape;22;p4"/>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lstStyle>
            <a:lvl1pPr indent="0" lvl="0" marL="0" marR="0" rtl="0" algn="r">
              <a:spcBef>
                <a:spcPts val="0"/>
              </a:spcBef>
              <a:spcAft>
                <a:spcPts val="0"/>
              </a:spcAft>
              <a:buClr>
                <a:schemeClr val="dk1"/>
              </a:buClr>
              <a:buSzPts val="1400"/>
              <a:buFont typeface="Cabin"/>
              <a:buNone/>
              <a:defRPr b="0" i="0" sz="3200" u="none" cap="none" strike="noStrike">
                <a:solidFill>
                  <a:schemeClr val="dk1"/>
                </a:solidFill>
                <a:latin typeface="Cabin"/>
                <a:ea typeface="Cabin"/>
                <a:cs typeface="Cabin"/>
                <a:sym typeface="Cabin"/>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23" name="Shape 23"/>
        <p:cNvGrpSpPr/>
        <p:nvPr/>
      </p:nvGrpSpPr>
      <p:grpSpPr>
        <a:xfrm>
          <a:off x="0" y="0"/>
          <a:ext cx="0" cy="0"/>
          <a:chOff x="0" y="0"/>
          <a:chExt cx="0" cy="0"/>
        </a:xfrm>
      </p:grpSpPr>
      <p:pic>
        <p:nvPicPr>
          <p:cNvPr descr="Screen Shot 2015-12-08 at 7.04.00 PM.png" id="24" name="Google Shape;24;p5"/>
          <p:cNvPicPr preferRelativeResize="0"/>
          <p:nvPr/>
        </p:nvPicPr>
        <p:blipFill rotWithShape="1">
          <a:blip r:embed="rId2">
            <a:alphaModFix/>
          </a:blip>
          <a:srcRect b="0" l="0" r="0" t="0"/>
          <a:stretch/>
        </p:blipFill>
        <p:spPr>
          <a:xfrm>
            <a:off x="782990" y="4705350"/>
            <a:ext cx="3708983" cy="35689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25" name="Shape 25"/>
        <p:cNvGrpSpPr/>
        <p:nvPr/>
      </p:nvGrpSpPr>
      <p:grpSpPr>
        <a:xfrm>
          <a:off x="0" y="0"/>
          <a:ext cx="0" cy="0"/>
          <a:chOff x="0" y="0"/>
          <a:chExt cx="0" cy="0"/>
        </a:xfrm>
      </p:grpSpPr>
      <p:sp>
        <p:nvSpPr>
          <p:cNvPr id="26" name="Google Shape;26;p6"/>
          <p:cNvSpPr txBox="1"/>
          <p:nvPr>
            <p:ph type="title"/>
          </p:nvPr>
        </p:nvSpPr>
        <p:spPr>
          <a:xfrm>
            <a:off x="722313" y="3305176"/>
            <a:ext cx="7772400" cy="1021556"/>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Clr>
                <a:schemeClr val="dk1"/>
              </a:buClr>
              <a:buSzPts val="1400"/>
              <a:buFont typeface="Cabin"/>
              <a:buNone/>
              <a:defRPr b="1" i="0" sz="3200" u="none" cap="none" strike="noStrike">
                <a:solidFill>
                  <a:schemeClr val="dk1"/>
                </a:solidFill>
                <a:latin typeface="Cabin"/>
                <a:ea typeface="Cabin"/>
                <a:cs typeface="Cabin"/>
                <a:sym typeface="Cabin"/>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7" name="Google Shape;27;p6"/>
          <p:cNvSpPr txBox="1"/>
          <p:nvPr>
            <p:ph idx="1" type="body"/>
          </p:nvPr>
        </p:nvSpPr>
        <p:spPr>
          <a:xfrm>
            <a:off x="722313" y="2180035"/>
            <a:ext cx="7772400" cy="1125140"/>
          </a:xfrm>
          <a:prstGeom prst="rect">
            <a:avLst/>
          </a:prstGeom>
          <a:noFill/>
          <a:ln>
            <a:noFill/>
          </a:ln>
        </p:spPr>
        <p:txBody>
          <a:bodyPr anchorCtr="0" anchor="b" bIns="91425" lIns="91425" spcFirstLastPara="1" rIns="91425" wrap="square" tIns="91425"/>
          <a:lstStyle>
            <a:lvl1pPr indent="-228600" lvl="0" marL="457200" marR="0" rtl="0" algn="l">
              <a:spcBef>
                <a:spcPts val="400"/>
              </a:spcBef>
              <a:spcAft>
                <a:spcPts val="0"/>
              </a:spcAft>
              <a:buClr>
                <a:srgbClr val="888888"/>
              </a:buClr>
              <a:buSzPts val="2800"/>
              <a:buFont typeface="Arial"/>
              <a:buNone/>
              <a:defRPr b="0" i="0" sz="2000" u="none" cap="none" strike="noStrike">
                <a:solidFill>
                  <a:srgbClr val="888888"/>
                </a:solidFill>
                <a:latin typeface="Gill Sans"/>
                <a:ea typeface="Gill Sans"/>
                <a:cs typeface="Gill Sans"/>
                <a:sym typeface="Gill Sans"/>
              </a:defRPr>
            </a:lvl1pPr>
            <a:lvl2pPr indent="-228600" lvl="1" marL="914400" marR="0" rtl="0" algn="l">
              <a:spcBef>
                <a:spcPts val="360"/>
              </a:spcBef>
              <a:spcAft>
                <a:spcPts val="0"/>
              </a:spcAft>
              <a:buClr>
                <a:srgbClr val="888888"/>
              </a:buClr>
              <a:buSzPts val="2400"/>
              <a:buFont typeface="Arial"/>
              <a:buNone/>
              <a:defRPr b="0" i="0" sz="1800" u="none" cap="none" strike="noStrike">
                <a:solidFill>
                  <a:srgbClr val="888888"/>
                </a:solidFill>
                <a:latin typeface="Gill Sans"/>
                <a:ea typeface="Gill Sans"/>
                <a:cs typeface="Gill Sans"/>
                <a:sym typeface="Gill Sans"/>
              </a:defRPr>
            </a:lvl2pPr>
            <a:lvl3pPr indent="-228600" lvl="2" marL="1371600" marR="0" rtl="0" algn="l">
              <a:spcBef>
                <a:spcPts val="320"/>
              </a:spcBef>
              <a:spcAft>
                <a:spcPts val="0"/>
              </a:spcAft>
              <a:buClr>
                <a:srgbClr val="888888"/>
              </a:buClr>
              <a:buSzPts val="2000"/>
              <a:buFont typeface="Arial"/>
              <a:buNone/>
              <a:defRPr b="0" i="0" sz="1600" u="none" cap="none" strike="noStrike">
                <a:solidFill>
                  <a:srgbClr val="888888"/>
                </a:solidFill>
                <a:latin typeface="Gill Sans"/>
                <a:ea typeface="Gill Sans"/>
                <a:cs typeface="Gill Sans"/>
                <a:sym typeface="Gill Sans"/>
              </a:defRPr>
            </a:lvl3pPr>
            <a:lvl4pPr indent="-228600" lvl="3" marL="1828800" marR="0" rtl="0" algn="l">
              <a:spcBef>
                <a:spcPts val="280"/>
              </a:spcBef>
              <a:spcAft>
                <a:spcPts val="0"/>
              </a:spcAft>
              <a:buClr>
                <a:srgbClr val="888888"/>
              </a:buClr>
              <a:buSzPts val="2000"/>
              <a:buFont typeface="Arial"/>
              <a:buNone/>
              <a:defRPr b="0" i="0" sz="1400" u="none" cap="none" strike="noStrike">
                <a:solidFill>
                  <a:srgbClr val="888888"/>
                </a:solidFill>
                <a:latin typeface="Gill Sans"/>
                <a:ea typeface="Gill Sans"/>
                <a:cs typeface="Gill Sans"/>
                <a:sym typeface="Gill Sans"/>
              </a:defRPr>
            </a:lvl4pPr>
            <a:lvl5pPr indent="-228600" lvl="4" marL="2286000" marR="0" rtl="0" algn="l">
              <a:spcBef>
                <a:spcPts val="280"/>
              </a:spcBef>
              <a:spcAft>
                <a:spcPts val="0"/>
              </a:spcAft>
              <a:buClr>
                <a:srgbClr val="888888"/>
              </a:buClr>
              <a:buSzPts val="2000"/>
              <a:buFont typeface="Arial"/>
              <a:buNone/>
              <a:defRPr b="0" i="0" sz="1400" u="none" cap="none" strike="noStrike">
                <a:solidFill>
                  <a:srgbClr val="888888"/>
                </a:solidFill>
                <a:latin typeface="Gill Sans"/>
                <a:ea typeface="Gill Sans"/>
                <a:cs typeface="Gill Sans"/>
                <a:sym typeface="Gill Sans"/>
              </a:defRPr>
            </a:lvl5pPr>
            <a:lvl6pPr indent="-228600" lvl="5" marL="2743200" marR="0" rtl="0" algn="l">
              <a:spcBef>
                <a:spcPts val="280"/>
              </a:spcBef>
              <a:spcAft>
                <a:spcPts val="0"/>
              </a:spcAft>
              <a:buClr>
                <a:srgbClr val="888888"/>
              </a:buClr>
              <a:buSzPts val="2000"/>
              <a:buFont typeface="Arial"/>
              <a:buNone/>
              <a:defRPr b="0" i="0" sz="1400" u="none" cap="none" strike="noStrike">
                <a:solidFill>
                  <a:srgbClr val="888888"/>
                </a:solidFill>
                <a:latin typeface="Calibri"/>
                <a:ea typeface="Calibri"/>
                <a:cs typeface="Calibri"/>
                <a:sym typeface="Calibri"/>
              </a:defRPr>
            </a:lvl6pPr>
            <a:lvl7pPr indent="-228600" lvl="6" marL="3200400" marR="0" rtl="0" algn="l">
              <a:spcBef>
                <a:spcPts val="280"/>
              </a:spcBef>
              <a:spcAft>
                <a:spcPts val="0"/>
              </a:spcAft>
              <a:buClr>
                <a:srgbClr val="888888"/>
              </a:buClr>
              <a:buSzPts val="2000"/>
              <a:buFont typeface="Arial"/>
              <a:buNone/>
              <a:defRPr b="0" i="0" sz="1400" u="none" cap="none" strike="noStrike">
                <a:solidFill>
                  <a:srgbClr val="888888"/>
                </a:solidFill>
                <a:latin typeface="Calibri"/>
                <a:ea typeface="Calibri"/>
                <a:cs typeface="Calibri"/>
                <a:sym typeface="Calibri"/>
              </a:defRPr>
            </a:lvl7pPr>
            <a:lvl8pPr indent="-228600" lvl="7" marL="3657600" marR="0" rtl="0" algn="l">
              <a:spcBef>
                <a:spcPts val="280"/>
              </a:spcBef>
              <a:spcAft>
                <a:spcPts val="0"/>
              </a:spcAft>
              <a:buClr>
                <a:srgbClr val="888888"/>
              </a:buClr>
              <a:buSzPts val="2000"/>
              <a:buFont typeface="Arial"/>
              <a:buNone/>
              <a:defRPr b="0" i="0" sz="1400" u="none" cap="none" strike="noStrike">
                <a:solidFill>
                  <a:srgbClr val="888888"/>
                </a:solidFill>
                <a:latin typeface="Calibri"/>
                <a:ea typeface="Calibri"/>
                <a:cs typeface="Calibri"/>
                <a:sym typeface="Calibri"/>
              </a:defRPr>
            </a:lvl8pPr>
            <a:lvl9pPr indent="-228600" lvl="8" marL="4114800" marR="0" rtl="0" algn="l">
              <a:spcBef>
                <a:spcPts val="280"/>
              </a:spcBef>
              <a:spcAft>
                <a:spcPts val="0"/>
              </a:spcAft>
              <a:buClr>
                <a:srgbClr val="888888"/>
              </a:buClr>
              <a:buSzPts val="2000"/>
              <a:buFont typeface="Arial"/>
              <a:buNone/>
              <a:defRPr b="0" i="0" sz="1400" u="none" cap="none" strike="noStrike">
                <a:solidFill>
                  <a:srgbClr val="888888"/>
                </a:solidFill>
                <a:latin typeface="Calibri"/>
                <a:ea typeface="Calibri"/>
                <a:cs typeface="Calibri"/>
                <a:sym typeface="Calibri"/>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wo Content" type="twoObj">
  <p:cSld name="TWO_OBJECTS">
    <p:spTree>
      <p:nvGrpSpPr>
        <p:cNvPr id="28" name="Shape 28"/>
        <p:cNvGrpSpPr/>
        <p:nvPr/>
      </p:nvGrpSpPr>
      <p:grpSpPr>
        <a:xfrm>
          <a:off x="0" y="0"/>
          <a:ext cx="0" cy="0"/>
          <a:chOff x="0" y="0"/>
          <a:chExt cx="0" cy="0"/>
        </a:xfrm>
      </p:grpSpPr>
      <p:sp>
        <p:nvSpPr>
          <p:cNvPr id="29" name="Google Shape;29;p7"/>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lstStyle>
            <a:lvl1pPr indent="0" lvl="0" marL="0" marR="0" rtl="0" algn="r">
              <a:spcBef>
                <a:spcPts val="0"/>
              </a:spcBef>
              <a:spcAft>
                <a:spcPts val="0"/>
              </a:spcAft>
              <a:buClr>
                <a:schemeClr val="dk1"/>
              </a:buClr>
              <a:buSzPts val="1400"/>
              <a:buFont typeface="Cabin"/>
              <a:buNone/>
              <a:defRPr b="0" i="0" sz="3200" u="none" cap="none" strike="noStrike">
                <a:solidFill>
                  <a:schemeClr val="dk1"/>
                </a:solidFill>
                <a:latin typeface="Cabin"/>
                <a:ea typeface="Cabin"/>
                <a:cs typeface="Cabin"/>
                <a:sym typeface="Cabin"/>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30" name="Google Shape;30;p7"/>
          <p:cNvSpPr txBox="1"/>
          <p:nvPr>
            <p:ph idx="1" type="body"/>
          </p:nvPr>
        </p:nvSpPr>
        <p:spPr>
          <a:xfrm>
            <a:off x="457200" y="1006078"/>
            <a:ext cx="4038600" cy="3394472"/>
          </a:xfrm>
          <a:prstGeom prst="rect">
            <a:avLst/>
          </a:prstGeom>
          <a:noFill/>
          <a:ln>
            <a:noFill/>
          </a:ln>
        </p:spPr>
        <p:txBody>
          <a:bodyPr anchorCtr="0" anchor="t" bIns="91425" lIns="91425" spcFirstLastPara="1" rIns="91425" wrap="square" tIns="91425"/>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Gill Sans"/>
                <a:ea typeface="Gill Sans"/>
                <a:cs typeface="Gill Sans"/>
                <a:sym typeface="Gill Sans"/>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Gill Sans"/>
                <a:ea typeface="Gill Sans"/>
                <a:cs typeface="Gill Sans"/>
                <a:sym typeface="Gill Sans"/>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1" name="Google Shape;31;p7"/>
          <p:cNvSpPr txBox="1"/>
          <p:nvPr>
            <p:ph idx="2" type="body"/>
          </p:nvPr>
        </p:nvSpPr>
        <p:spPr>
          <a:xfrm>
            <a:off x="4648200" y="1006078"/>
            <a:ext cx="4038600" cy="3394472"/>
          </a:xfrm>
          <a:prstGeom prst="rect">
            <a:avLst/>
          </a:prstGeom>
          <a:noFill/>
          <a:ln>
            <a:noFill/>
          </a:ln>
        </p:spPr>
        <p:txBody>
          <a:bodyPr anchorCtr="0" anchor="t" bIns="91425" lIns="91425" spcFirstLastPara="1" rIns="91425" wrap="square" tIns="91425"/>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Gill Sans"/>
                <a:ea typeface="Gill Sans"/>
                <a:cs typeface="Gill Sans"/>
                <a:sym typeface="Gill Sans"/>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Gill Sans"/>
                <a:ea typeface="Gill Sans"/>
                <a:cs typeface="Gill Sans"/>
                <a:sym typeface="Gill Sans"/>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ison" type="twoTxTwoObj">
  <p:cSld name="TWO_OBJECTS_WITH_TEXT">
    <p:spTree>
      <p:nvGrpSpPr>
        <p:cNvPr id="32" name="Shape 32"/>
        <p:cNvGrpSpPr/>
        <p:nvPr/>
      </p:nvGrpSpPr>
      <p:grpSpPr>
        <a:xfrm>
          <a:off x="0" y="0"/>
          <a:ext cx="0" cy="0"/>
          <a:chOff x="0" y="0"/>
          <a:chExt cx="0" cy="0"/>
        </a:xfrm>
      </p:grpSpPr>
      <p:sp>
        <p:nvSpPr>
          <p:cNvPr id="33" name="Google Shape;33;p8"/>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lstStyle>
            <a:lvl1pPr indent="0" lvl="0" marL="0" marR="0" rtl="0" algn="r">
              <a:spcBef>
                <a:spcPts val="0"/>
              </a:spcBef>
              <a:spcAft>
                <a:spcPts val="0"/>
              </a:spcAft>
              <a:buClr>
                <a:schemeClr val="dk1"/>
              </a:buClr>
              <a:buSzPts val="1400"/>
              <a:buFont typeface="Cabin"/>
              <a:buNone/>
              <a:defRPr b="0" i="0" sz="3200" u="none" cap="none" strike="noStrike">
                <a:solidFill>
                  <a:schemeClr val="dk1"/>
                </a:solidFill>
                <a:latin typeface="Cabin"/>
                <a:ea typeface="Cabin"/>
                <a:cs typeface="Cabin"/>
                <a:sym typeface="Cabin"/>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34" name="Google Shape;34;p8"/>
          <p:cNvSpPr txBox="1"/>
          <p:nvPr>
            <p:ph idx="1" type="body"/>
          </p:nvPr>
        </p:nvSpPr>
        <p:spPr>
          <a:xfrm>
            <a:off x="457200" y="1033465"/>
            <a:ext cx="4040188" cy="479822"/>
          </a:xfrm>
          <a:prstGeom prst="rect">
            <a:avLst/>
          </a:prstGeom>
          <a:noFill/>
          <a:ln>
            <a:noFill/>
          </a:ln>
        </p:spPr>
        <p:txBody>
          <a:bodyPr anchorCtr="0" anchor="b" bIns="91425" lIns="91425" spcFirstLastPara="1" rIns="91425" wrap="square" tIns="91425"/>
          <a:lstStyle>
            <a:lvl1pPr indent="-228600" lvl="0" marL="457200" marR="0" rtl="0" algn="l">
              <a:spcBef>
                <a:spcPts val="560"/>
              </a:spcBef>
              <a:spcAft>
                <a:spcPts val="0"/>
              </a:spcAft>
              <a:buClr>
                <a:schemeClr val="dk1"/>
              </a:buClr>
              <a:buSzPts val="2800"/>
              <a:buFont typeface="Arial"/>
              <a:buNone/>
              <a:defRPr b="1" i="0" sz="2800" u="none" cap="none" strike="noStrike">
                <a:solidFill>
                  <a:schemeClr val="dk1"/>
                </a:solidFill>
                <a:latin typeface="Gill Sans"/>
                <a:ea typeface="Gill Sans"/>
                <a:cs typeface="Gill Sans"/>
                <a:sym typeface="Gill Sans"/>
              </a:defRPr>
            </a:lvl1pPr>
            <a:lvl2pPr indent="-228600" lvl="1" marL="914400" marR="0" rtl="0" algn="l">
              <a:spcBef>
                <a:spcPts val="400"/>
              </a:spcBef>
              <a:spcAft>
                <a:spcPts val="0"/>
              </a:spcAft>
              <a:buClr>
                <a:schemeClr val="dk1"/>
              </a:buClr>
              <a:buSzPts val="2400"/>
              <a:buFont typeface="Arial"/>
              <a:buNone/>
              <a:defRPr b="1" i="0" sz="2000" u="none" cap="none" strike="noStrike">
                <a:solidFill>
                  <a:schemeClr val="dk1"/>
                </a:solidFill>
                <a:latin typeface="Gill Sans"/>
                <a:ea typeface="Gill Sans"/>
                <a:cs typeface="Gill Sans"/>
                <a:sym typeface="Gill Sans"/>
              </a:defRPr>
            </a:lvl2pPr>
            <a:lvl3pPr indent="-228600" lvl="2" marL="1371600" marR="0" rtl="0" algn="l">
              <a:spcBef>
                <a:spcPts val="360"/>
              </a:spcBef>
              <a:spcAft>
                <a:spcPts val="0"/>
              </a:spcAft>
              <a:buClr>
                <a:schemeClr val="dk1"/>
              </a:buClr>
              <a:buSzPts val="2000"/>
              <a:buFont typeface="Arial"/>
              <a:buNone/>
              <a:defRPr b="1" i="0" sz="1800" u="none" cap="none" strike="noStrike">
                <a:solidFill>
                  <a:schemeClr val="dk1"/>
                </a:solidFill>
                <a:latin typeface="Gill Sans"/>
                <a:ea typeface="Gill Sans"/>
                <a:cs typeface="Gill Sans"/>
                <a:sym typeface="Gill Sans"/>
              </a:defRPr>
            </a:lvl3pPr>
            <a:lvl4pPr indent="-228600" lvl="3" marL="1828800" marR="0" rtl="0" algn="l">
              <a:spcBef>
                <a:spcPts val="320"/>
              </a:spcBef>
              <a:spcAft>
                <a:spcPts val="0"/>
              </a:spcAft>
              <a:buClr>
                <a:schemeClr val="dk1"/>
              </a:buClr>
              <a:buSzPts val="2000"/>
              <a:buFont typeface="Arial"/>
              <a:buNone/>
              <a:defRPr b="1" i="0" sz="1600" u="none" cap="none" strike="noStrike">
                <a:solidFill>
                  <a:schemeClr val="dk1"/>
                </a:solidFill>
                <a:latin typeface="Gill Sans"/>
                <a:ea typeface="Gill Sans"/>
                <a:cs typeface="Gill Sans"/>
                <a:sym typeface="Gill Sans"/>
              </a:defRPr>
            </a:lvl4pPr>
            <a:lvl5pPr indent="-228600" lvl="4" marL="2286000" marR="0" rtl="0" algn="l">
              <a:spcBef>
                <a:spcPts val="320"/>
              </a:spcBef>
              <a:spcAft>
                <a:spcPts val="0"/>
              </a:spcAft>
              <a:buClr>
                <a:schemeClr val="dk1"/>
              </a:buClr>
              <a:buSzPts val="2000"/>
              <a:buFont typeface="Arial"/>
              <a:buNone/>
              <a:defRPr b="1" i="0" sz="1600" u="none" cap="none" strike="noStrike">
                <a:solidFill>
                  <a:schemeClr val="dk1"/>
                </a:solidFill>
                <a:latin typeface="Gill Sans"/>
                <a:ea typeface="Gill Sans"/>
                <a:cs typeface="Gill Sans"/>
                <a:sym typeface="Gill Sans"/>
              </a:defRPr>
            </a:lvl5pPr>
            <a:lvl6pPr indent="-228600" lvl="5" marL="2743200" marR="0" rtl="0" algn="l">
              <a:spcBef>
                <a:spcPts val="320"/>
              </a:spcBef>
              <a:spcAft>
                <a:spcPts val="0"/>
              </a:spcAft>
              <a:buClr>
                <a:schemeClr val="dk1"/>
              </a:buClr>
              <a:buSzPts val="20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20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20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2000"/>
              <a:buFont typeface="Arial"/>
              <a:buNone/>
              <a:defRPr b="1" i="0" sz="1600" u="none" cap="none" strike="noStrike">
                <a:solidFill>
                  <a:schemeClr val="dk1"/>
                </a:solidFill>
                <a:latin typeface="Calibri"/>
                <a:ea typeface="Calibri"/>
                <a:cs typeface="Calibri"/>
                <a:sym typeface="Calibri"/>
              </a:defRPr>
            </a:lvl9pPr>
          </a:lstStyle>
          <a:p/>
        </p:txBody>
      </p:sp>
      <p:sp>
        <p:nvSpPr>
          <p:cNvPr id="35" name="Google Shape;35;p8"/>
          <p:cNvSpPr txBox="1"/>
          <p:nvPr>
            <p:ph idx="2" type="body"/>
          </p:nvPr>
        </p:nvSpPr>
        <p:spPr>
          <a:xfrm>
            <a:off x="457200" y="1513284"/>
            <a:ext cx="4040188" cy="2963466"/>
          </a:xfrm>
          <a:prstGeom prst="rect">
            <a:avLst/>
          </a:prstGeom>
          <a:noFill/>
          <a:ln>
            <a:noFill/>
          </a:ln>
        </p:spPr>
        <p:txBody>
          <a:bodyPr anchorCtr="0" anchor="t" bIns="91425" lIns="91425" spcFirstLastPara="1" rIns="91425" wrap="square" tIns="91425"/>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Gill Sans"/>
                <a:ea typeface="Gill Sans"/>
                <a:cs typeface="Gill Sans"/>
                <a:sym typeface="Gill Sans"/>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36" name="Google Shape;36;p8"/>
          <p:cNvSpPr txBox="1"/>
          <p:nvPr>
            <p:ph idx="3" type="body"/>
          </p:nvPr>
        </p:nvSpPr>
        <p:spPr>
          <a:xfrm>
            <a:off x="4645033" y="1033465"/>
            <a:ext cx="4041775" cy="479822"/>
          </a:xfrm>
          <a:prstGeom prst="rect">
            <a:avLst/>
          </a:prstGeom>
          <a:noFill/>
          <a:ln>
            <a:noFill/>
          </a:ln>
        </p:spPr>
        <p:txBody>
          <a:bodyPr anchorCtr="0" anchor="b" bIns="91425" lIns="91425" spcFirstLastPara="1" rIns="91425" wrap="square" tIns="91425"/>
          <a:lstStyle>
            <a:lvl1pPr indent="-228600" lvl="0" marL="457200" marR="0" rtl="0" algn="l">
              <a:spcBef>
                <a:spcPts val="560"/>
              </a:spcBef>
              <a:spcAft>
                <a:spcPts val="0"/>
              </a:spcAft>
              <a:buClr>
                <a:schemeClr val="dk1"/>
              </a:buClr>
              <a:buSzPts val="2800"/>
              <a:buFont typeface="Arial"/>
              <a:buNone/>
              <a:defRPr b="1" i="0" sz="2800" u="none" cap="none" strike="noStrike">
                <a:solidFill>
                  <a:schemeClr val="dk1"/>
                </a:solidFill>
                <a:latin typeface="Gill Sans"/>
                <a:ea typeface="Gill Sans"/>
                <a:cs typeface="Gill Sans"/>
                <a:sym typeface="Gill Sans"/>
              </a:defRPr>
            </a:lvl1pPr>
            <a:lvl2pPr indent="-228600" lvl="1" marL="914400" marR="0" rtl="0" algn="l">
              <a:spcBef>
                <a:spcPts val="400"/>
              </a:spcBef>
              <a:spcAft>
                <a:spcPts val="0"/>
              </a:spcAft>
              <a:buClr>
                <a:schemeClr val="dk1"/>
              </a:buClr>
              <a:buSzPts val="2400"/>
              <a:buFont typeface="Arial"/>
              <a:buNone/>
              <a:defRPr b="1" i="0" sz="2000" u="none" cap="none" strike="noStrike">
                <a:solidFill>
                  <a:schemeClr val="dk1"/>
                </a:solidFill>
                <a:latin typeface="Gill Sans"/>
                <a:ea typeface="Gill Sans"/>
                <a:cs typeface="Gill Sans"/>
                <a:sym typeface="Gill Sans"/>
              </a:defRPr>
            </a:lvl2pPr>
            <a:lvl3pPr indent="-228600" lvl="2" marL="1371600" marR="0" rtl="0" algn="l">
              <a:spcBef>
                <a:spcPts val="360"/>
              </a:spcBef>
              <a:spcAft>
                <a:spcPts val="0"/>
              </a:spcAft>
              <a:buClr>
                <a:schemeClr val="dk1"/>
              </a:buClr>
              <a:buSzPts val="2000"/>
              <a:buFont typeface="Arial"/>
              <a:buNone/>
              <a:defRPr b="1" i="0" sz="1800" u="none" cap="none" strike="noStrike">
                <a:solidFill>
                  <a:schemeClr val="dk1"/>
                </a:solidFill>
                <a:latin typeface="Gill Sans"/>
                <a:ea typeface="Gill Sans"/>
                <a:cs typeface="Gill Sans"/>
                <a:sym typeface="Gill Sans"/>
              </a:defRPr>
            </a:lvl3pPr>
            <a:lvl4pPr indent="-228600" lvl="3" marL="1828800" marR="0" rtl="0" algn="l">
              <a:spcBef>
                <a:spcPts val="320"/>
              </a:spcBef>
              <a:spcAft>
                <a:spcPts val="0"/>
              </a:spcAft>
              <a:buClr>
                <a:schemeClr val="dk1"/>
              </a:buClr>
              <a:buSzPts val="2000"/>
              <a:buFont typeface="Arial"/>
              <a:buNone/>
              <a:defRPr b="1" i="0" sz="1600" u="none" cap="none" strike="noStrike">
                <a:solidFill>
                  <a:schemeClr val="dk1"/>
                </a:solidFill>
                <a:latin typeface="Gill Sans"/>
                <a:ea typeface="Gill Sans"/>
                <a:cs typeface="Gill Sans"/>
                <a:sym typeface="Gill Sans"/>
              </a:defRPr>
            </a:lvl4pPr>
            <a:lvl5pPr indent="-228600" lvl="4" marL="2286000" marR="0" rtl="0" algn="l">
              <a:spcBef>
                <a:spcPts val="320"/>
              </a:spcBef>
              <a:spcAft>
                <a:spcPts val="0"/>
              </a:spcAft>
              <a:buClr>
                <a:schemeClr val="dk1"/>
              </a:buClr>
              <a:buSzPts val="2000"/>
              <a:buFont typeface="Arial"/>
              <a:buNone/>
              <a:defRPr b="1" i="0" sz="1600" u="none" cap="none" strike="noStrike">
                <a:solidFill>
                  <a:schemeClr val="dk1"/>
                </a:solidFill>
                <a:latin typeface="Gill Sans"/>
                <a:ea typeface="Gill Sans"/>
                <a:cs typeface="Gill Sans"/>
                <a:sym typeface="Gill Sans"/>
              </a:defRPr>
            </a:lvl5pPr>
            <a:lvl6pPr indent="-228600" lvl="5" marL="2743200" marR="0" rtl="0" algn="l">
              <a:spcBef>
                <a:spcPts val="320"/>
              </a:spcBef>
              <a:spcAft>
                <a:spcPts val="0"/>
              </a:spcAft>
              <a:buClr>
                <a:schemeClr val="dk1"/>
              </a:buClr>
              <a:buSzPts val="20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20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20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2000"/>
              <a:buFont typeface="Arial"/>
              <a:buNone/>
              <a:defRPr b="1" i="0" sz="1600" u="none" cap="none" strike="noStrike">
                <a:solidFill>
                  <a:schemeClr val="dk1"/>
                </a:solidFill>
                <a:latin typeface="Calibri"/>
                <a:ea typeface="Calibri"/>
                <a:cs typeface="Calibri"/>
                <a:sym typeface="Calibri"/>
              </a:defRPr>
            </a:lvl9pPr>
          </a:lstStyle>
          <a:p/>
        </p:txBody>
      </p:sp>
      <p:sp>
        <p:nvSpPr>
          <p:cNvPr id="37" name="Google Shape;37;p8"/>
          <p:cNvSpPr txBox="1"/>
          <p:nvPr>
            <p:ph idx="4" type="body"/>
          </p:nvPr>
        </p:nvSpPr>
        <p:spPr>
          <a:xfrm>
            <a:off x="4645033" y="1513284"/>
            <a:ext cx="4041775" cy="2963466"/>
          </a:xfrm>
          <a:prstGeom prst="rect">
            <a:avLst/>
          </a:prstGeom>
          <a:noFill/>
          <a:ln>
            <a:noFill/>
          </a:ln>
        </p:spPr>
        <p:txBody>
          <a:bodyPr anchorCtr="0" anchor="t" bIns="91425" lIns="91425" spcFirstLastPara="1" rIns="91425" wrap="square" tIns="91425"/>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Gill Sans"/>
                <a:ea typeface="Gill Sans"/>
                <a:cs typeface="Gill Sans"/>
                <a:sym typeface="Gill Sans"/>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1_Title Only">
  <p:cSld name="1_Title Only">
    <p:spTree>
      <p:nvGrpSpPr>
        <p:cNvPr id="38" name="Shape 38"/>
        <p:cNvGrpSpPr/>
        <p:nvPr/>
      </p:nvGrpSpPr>
      <p:grpSpPr>
        <a:xfrm>
          <a:off x="0" y="0"/>
          <a:ext cx="0" cy="0"/>
          <a:chOff x="0" y="0"/>
          <a:chExt cx="0" cy="0"/>
        </a:xfrm>
      </p:grpSpPr>
      <p:sp>
        <p:nvSpPr>
          <p:cNvPr id="39" name="Google Shape;39;p9"/>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lstStyle>
            <a:lvl1pPr indent="0" lvl="0" marL="0" marR="0" rtl="0" algn="r">
              <a:spcBef>
                <a:spcPts val="0"/>
              </a:spcBef>
              <a:spcAft>
                <a:spcPts val="0"/>
              </a:spcAft>
              <a:buClr>
                <a:schemeClr val="dk1"/>
              </a:buClr>
              <a:buSzPts val="1400"/>
              <a:buFont typeface="Cabin"/>
              <a:buNone/>
              <a:defRPr b="0" i="0" sz="3200" u="none" cap="none" strike="noStrike">
                <a:solidFill>
                  <a:schemeClr val="dk1"/>
                </a:solidFill>
                <a:latin typeface="Cabin"/>
                <a:ea typeface="Cabin"/>
                <a:cs typeface="Cabin"/>
                <a:sym typeface="Cabin"/>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pic>
        <p:nvPicPr>
          <p:cNvPr descr="Screen Shot 2015-12-08 at 7.04.00 PM.png" id="40" name="Google Shape;40;p9"/>
          <p:cNvPicPr preferRelativeResize="0"/>
          <p:nvPr/>
        </p:nvPicPr>
        <p:blipFill rotWithShape="1">
          <a:blip r:embed="rId2">
            <a:alphaModFix/>
          </a:blip>
          <a:srcRect b="0" l="0" r="0" t="0"/>
          <a:stretch/>
        </p:blipFill>
        <p:spPr>
          <a:xfrm>
            <a:off x="782990" y="4763926"/>
            <a:ext cx="3708983" cy="356896"/>
          </a:xfrm>
          <a:prstGeom prst="rect">
            <a:avLst/>
          </a:prstGeom>
          <a:noFill/>
          <a:ln>
            <a:noFill/>
          </a:ln>
        </p:spPr>
      </p:pic>
      <p:pic>
        <p:nvPicPr>
          <p:cNvPr descr="Screen Shot 2015-12-08 at 7.04.00 PM.png" id="41" name="Google Shape;41;p9"/>
          <p:cNvPicPr preferRelativeResize="0"/>
          <p:nvPr/>
        </p:nvPicPr>
        <p:blipFill rotWithShape="1">
          <a:blip r:embed="rId2">
            <a:alphaModFix/>
          </a:blip>
          <a:srcRect b="0" l="0" r="0" t="0"/>
          <a:stretch/>
        </p:blipFill>
        <p:spPr>
          <a:xfrm>
            <a:off x="782990" y="4763926"/>
            <a:ext cx="3708983" cy="35689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1_Blank">
  <p:cSld name="1_Blank">
    <p:spTree>
      <p:nvGrpSpPr>
        <p:cNvPr id="42" name="Shape 42"/>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Picture with Caption" showMasterSp="0">
  <p:cSld name="Picture with Caption">
    <p:spTree>
      <p:nvGrpSpPr>
        <p:cNvPr id="43" name="Shape 43"/>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bg>
      <p:bgPr>
        <a:blipFill rotWithShape="1">
          <a:blip r:embed="rId2">
            <a:alphaModFix/>
          </a:blip>
          <a:stretch>
            <a:fillRect b="0" l="0" r="0" t="0"/>
          </a:stretch>
        </a:blipFill>
      </p:bgPr>
    </p:bg>
    <p:spTree>
      <p:nvGrpSpPr>
        <p:cNvPr id="48" name="Shape 48"/>
        <p:cNvGrpSpPr/>
        <p:nvPr/>
      </p:nvGrpSpPr>
      <p:grpSpPr>
        <a:xfrm>
          <a:off x="0" y="0"/>
          <a:ext cx="0" cy="0"/>
          <a:chOff x="0" y="0"/>
          <a:chExt cx="0" cy="0"/>
        </a:xfrm>
      </p:grpSpPr>
      <p:sp>
        <p:nvSpPr>
          <p:cNvPr id="49" name="Google Shape;49;p13"/>
          <p:cNvSpPr txBox="1"/>
          <p:nvPr>
            <p:ph type="ctrTitle"/>
          </p:nvPr>
        </p:nvSpPr>
        <p:spPr>
          <a:xfrm>
            <a:off x="304800" y="1582017"/>
            <a:ext cx="6477000" cy="1102519"/>
          </a:xfrm>
          <a:prstGeom prst="rect">
            <a:avLst/>
          </a:prstGeom>
          <a:noFill/>
          <a:ln>
            <a:noFill/>
          </a:ln>
        </p:spPr>
        <p:txBody>
          <a:bodyPr anchorCtr="0" anchor="ctr" bIns="91425" lIns="91425" spcFirstLastPara="1" rIns="91425" wrap="square" tIns="91425"/>
          <a:lstStyle>
            <a:lvl1pPr indent="0" lvl="0" marL="0" marR="0" rtl="0" algn="r">
              <a:spcBef>
                <a:spcPts val="0"/>
              </a:spcBef>
              <a:spcAft>
                <a:spcPts val="0"/>
              </a:spcAft>
              <a:buClr>
                <a:schemeClr val="dk1"/>
              </a:buClr>
              <a:buSzPts val="1400"/>
              <a:buFont typeface="Cabin"/>
              <a:buNone/>
              <a:defRPr b="0" i="0" sz="3200" u="none" cap="none" strike="noStrike">
                <a:solidFill>
                  <a:schemeClr val="dk1"/>
                </a:solidFill>
                <a:latin typeface="Cabin"/>
                <a:ea typeface="Cabin"/>
                <a:cs typeface="Cabin"/>
                <a:sym typeface="Cabin"/>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50" name="Google Shape;50;p13"/>
          <p:cNvSpPr txBox="1"/>
          <p:nvPr>
            <p:ph idx="1" type="subTitle"/>
          </p:nvPr>
        </p:nvSpPr>
        <p:spPr>
          <a:xfrm>
            <a:off x="1371600" y="2914650"/>
            <a:ext cx="6400800" cy="1314450"/>
          </a:xfrm>
          <a:prstGeom prst="rect">
            <a:avLst/>
          </a:prstGeom>
          <a:noFill/>
          <a:ln>
            <a:noFill/>
          </a:ln>
        </p:spPr>
        <p:txBody>
          <a:bodyPr anchorCtr="0" anchor="t" bIns="91425" lIns="91425" spcFirstLastPara="1" rIns="91425" wrap="square" tIns="91425"/>
          <a:lstStyle>
            <a:lvl1pPr indent="0" lvl="0" marL="0" marR="0" rtl="0" algn="ctr">
              <a:spcBef>
                <a:spcPts val="560"/>
              </a:spcBef>
              <a:spcAft>
                <a:spcPts val="0"/>
              </a:spcAft>
              <a:buClr>
                <a:srgbClr val="888888"/>
              </a:buClr>
              <a:buSzPts val="2800"/>
              <a:buFont typeface="Arial"/>
              <a:buNone/>
              <a:defRPr b="0" i="0" sz="2800" u="none" cap="none" strike="noStrike">
                <a:solidFill>
                  <a:srgbClr val="888888"/>
                </a:solidFill>
                <a:latin typeface="Gill Sans"/>
                <a:ea typeface="Gill Sans"/>
                <a:cs typeface="Gill Sans"/>
                <a:sym typeface="Gill Sans"/>
              </a:defRPr>
            </a:lvl1pPr>
            <a:lvl2pPr indent="0" lvl="1" marL="457200" marR="0" rtl="0" algn="ctr">
              <a:spcBef>
                <a:spcPts val="480"/>
              </a:spcBef>
              <a:spcAft>
                <a:spcPts val="0"/>
              </a:spcAft>
              <a:buClr>
                <a:srgbClr val="888888"/>
              </a:buClr>
              <a:buSzPts val="2400"/>
              <a:buFont typeface="Arial"/>
              <a:buNone/>
              <a:defRPr b="0" i="0" sz="2400" u="none" cap="none" strike="noStrike">
                <a:solidFill>
                  <a:srgbClr val="888888"/>
                </a:solidFill>
                <a:latin typeface="Gill Sans"/>
                <a:ea typeface="Gill Sans"/>
                <a:cs typeface="Gill Sans"/>
                <a:sym typeface="Gill Sans"/>
              </a:defRPr>
            </a:lvl2pPr>
            <a:lvl3pPr indent="0" lvl="2" marL="914400" marR="0" rtl="0" algn="ctr">
              <a:spcBef>
                <a:spcPts val="400"/>
              </a:spcBef>
              <a:spcAft>
                <a:spcPts val="0"/>
              </a:spcAft>
              <a:buClr>
                <a:srgbClr val="888888"/>
              </a:buClr>
              <a:buSzPts val="2000"/>
              <a:buFont typeface="Arial"/>
              <a:buNone/>
              <a:defRPr b="0" i="0" sz="2000" u="none" cap="none" strike="noStrike">
                <a:solidFill>
                  <a:srgbClr val="888888"/>
                </a:solidFill>
                <a:latin typeface="Gill Sans"/>
                <a:ea typeface="Gill Sans"/>
                <a:cs typeface="Gill Sans"/>
                <a:sym typeface="Gill Sans"/>
              </a:defRPr>
            </a:lvl3pPr>
            <a:lvl4pPr indent="0" lvl="3" marL="1371600" marR="0" rtl="0" algn="ctr">
              <a:spcBef>
                <a:spcPts val="400"/>
              </a:spcBef>
              <a:spcAft>
                <a:spcPts val="0"/>
              </a:spcAft>
              <a:buClr>
                <a:srgbClr val="888888"/>
              </a:buClr>
              <a:buSzPts val="2000"/>
              <a:buFont typeface="Arial"/>
              <a:buNone/>
              <a:defRPr b="0" i="0" sz="2000" u="none" cap="none" strike="noStrike">
                <a:solidFill>
                  <a:srgbClr val="888888"/>
                </a:solidFill>
                <a:latin typeface="Gill Sans"/>
                <a:ea typeface="Gill Sans"/>
                <a:cs typeface="Gill Sans"/>
                <a:sym typeface="Gill Sans"/>
              </a:defRPr>
            </a:lvl4pPr>
            <a:lvl5pPr indent="0" lvl="4" marL="1828800" marR="0" rtl="0" algn="ctr">
              <a:spcBef>
                <a:spcPts val="400"/>
              </a:spcBef>
              <a:spcAft>
                <a:spcPts val="0"/>
              </a:spcAft>
              <a:buClr>
                <a:srgbClr val="888888"/>
              </a:buClr>
              <a:buSzPts val="2000"/>
              <a:buFont typeface="Arial"/>
              <a:buNone/>
              <a:defRPr b="0" i="0" sz="2000" u="none" cap="none" strike="noStrike">
                <a:solidFill>
                  <a:srgbClr val="888888"/>
                </a:solidFill>
                <a:latin typeface="Gill Sans"/>
                <a:ea typeface="Gill Sans"/>
                <a:cs typeface="Gill Sans"/>
                <a:sym typeface="Gill Sans"/>
              </a:defRPr>
            </a:lvl5pPr>
            <a:lvl6pPr indent="0" lvl="5" marL="2286000"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indent="0" lvl="6" marL="2743200"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indent="0" lvl="7" marL="3200400"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indent="0" lvl="8" marL="3657600"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type="obj">
  <p:cSld name="OBJECT">
    <p:spTree>
      <p:nvGrpSpPr>
        <p:cNvPr id="51" name="Shape 51"/>
        <p:cNvGrpSpPr/>
        <p:nvPr/>
      </p:nvGrpSpPr>
      <p:grpSpPr>
        <a:xfrm>
          <a:off x="0" y="0"/>
          <a:ext cx="0" cy="0"/>
          <a:chOff x="0" y="0"/>
          <a:chExt cx="0" cy="0"/>
        </a:xfrm>
      </p:grpSpPr>
      <p:sp>
        <p:nvSpPr>
          <p:cNvPr id="52" name="Google Shape;52;p14"/>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lstStyle>
            <a:lvl1pPr indent="0" lvl="0" marL="0" marR="0" rtl="0" algn="r">
              <a:spcBef>
                <a:spcPts val="0"/>
              </a:spcBef>
              <a:spcAft>
                <a:spcPts val="0"/>
              </a:spcAft>
              <a:buClr>
                <a:schemeClr val="dk1"/>
              </a:buClr>
              <a:buSzPts val="1400"/>
              <a:buFont typeface="Cabin"/>
              <a:buNone/>
              <a:defRPr b="0" i="0" sz="3200" u="none" cap="none" strike="noStrike">
                <a:solidFill>
                  <a:schemeClr val="dk1"/>
                </a:solidFill>
                <a:latin typeface="Cabin"/>
                <a:ea typeface="Cabin"/>
                <a:cs typeface="Cabin"/>
                <a:sym typeface="Cabin"/>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53" name="Google Shape;53;p14"/>
          <p:cNvSpPr txBox="1"/>
          <p:nvPr>
            <p:ph idx="1" type="body"/>
          </p:nvPr>
        </p:nvSpPr>
        <p:spPr>
          <a:xfrm>
            <a:off x="457200" y="1006078"/>
            <a:ext cx="8229600" cy="3394472"/>
          </a:xfrm>
          <a:prstGeom prst="rect">
            <a:avLst/>
          </a:prstGeom>
          <a:noFill/>
          <a:ln>
            <a:noFill/>
          </a:ln>
        </p:spPr>
        <p:txBody>
          <a:bodyPr anchorCtr="0" anchor="t" bIns="91425" lIns="91425" spcFirstLastPara="1" rIns="91425" wrap="square" tIns="91425"/>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Gill Sans"/>
                <a:ea typeface="Gill Sans"/>
                <a:cs typeface="Gill Sans"/>
                <a:sym typeface="Gill Sans"/>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Gill Sans"/>
                <a:ea typeface="Gill Sans"/>
                <a:cs typeface="Gill Sans"/>
                <a:sym typeface="Gill Sans"/>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pic>
        <p:nvPicPr>
          <p:cNvPr descr="Screen Shot 2015-12-08 at 7.04.00 PM.png" id="54" name="Google Shape;54;p14"/>
          <p:cNvPicPr preferRelativeResize="0"/>
          <p:nvPr/>
        </p:nvPicPr>
        <p:blipFill rotWithShape="1">
          <a:blip r:embed="rId2">
            <a:alphaModFix/>
          </a:blip>
          <a:srcRect b="0" l="0" r="0" t="0"/>
          <a:stretch/>
        </p:blipFill>
        <p:spPr>
          <a:xfrm>
            <a:off x="782990" y="4763718"/>
            <a:ext cx="3708983" cy="356896"/>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55" name="Shape 55"/>
        <p:cNvGrpSpPr/>
        <p:nvPr/>
      </p:nvGrpSpPr>
      <p:grpSpPr>
        <a:xfrm>
          <a:off x="0" y="0"/>
          <a:ext cx="0" cy="0"/>
          <a:chOff x="0" y="0"/>
          <a:chExt cx="0" cy="0"/>
        </a:xfrm>
      </p:grpSpPr>
      <p:sp>
        <p:nvSpPr>
          <p:cNvPr id="56" name="Google Shape;56;p15"/>
          <p:cNvSpPr txBox="1"/>
          <p:nvPr>
            <p:ph type="title"/>
          </p:nvPr>
        </p:nvSpPr>
        <p:spPr>
          <a:xfrm>
            <a:off x="722313" y="3305176"/>
            <a:ext cx="7772400" cy="1021556"/>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Clr>
                <a:schemeClr val="dk1"/>
              </a:buClr>
              <a:buSzPts val="1400"/>
              <a:buFont typeface="Cabin"/>
              <a:buNone/>
              <a:defRPr b="1" i="0" sz="3200" u="none" cap="none" strike="noStrike">
                <a:solidFill>
                  <a:schemeClr val="dk1"/>
                </a:solidFill>
                <a:latin typeface="Cabin"/>
                <a:ea typeface="Cabin"/>
                <a:cs typeface="Cabin"/>
                <a:sym typeface="Cabin"/>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57" name="Google Shape;57;p15"/>
          <p:cNvSpPr txBox="1"/>
          <p:nvPr>
            <p:ph idx="1" type="body"/>
          </p:nvPr>
        </p:nvSpPr>
        <p:spPr>
          <a:xfrm>
            <a:off x="722313" y="2180035"/>
            <a:ext cx="7772400" cy="1125140"/>
          </a:xfrm>
          <a:prstGeom prst="rect">
            <a:avLst/>
          </a:prstGeom>
          <a:noFill/>
          <a:ln>
            <a:noFill/>
          </a:ln>
        </p:spPr>
        <p:txBody>
          <a:bodyPr anchorCtr="0" anchor="b" bIns="91425" lIns="91425" spcFirstLastPara="1" rIns="91425" wrap="square" tIns="91425"/>
          <a:lstStyle>
            <a:lvl1pPr indent="-228600" lvl="0" marL="457200" marR="0" rtl="0" algn="l">
              <a:spcBef>
                <a:spcPts val="400"/>
              </a:spcBef>
              <a:spcAft>
                <a:spcPts val="0"/>
              </a:spcAft>
              <a:buClr>
                <a:srgbClr val="888888"/>
              </a:buClr>
              <a:buSzPts val="2800"/>
              <a:buFont typeface="Arial"/>
              <a:buNone/>
              <a:defRPr b="0" i="0" sz="2000" u="none" cap="none" strike="noStrike">
                <a:solidFill>
                  <a:srgbClr val="888888"/>
                </a:solidFill>
                <a:latin typeface="Gill Sans"/>
                <a:ea typeface="Gill Sans"/>
                <a:cs typeface="Gill Sans"/>
                <a:sym typeface="Gill Sans"/>
              </a:defRPr>
            </a:lvl1pPr>
            <a:lvl2pPr indent="-228600" lvl="1" marL="914400" marR="0" rtl="0" algn="l">
              <a:spcBef>
                <a:spcPts val="360"/>
              </a:spcBef>
              <a:spcAft>
                <a:spcPts val="0"/>
              </a:spcAft>
              <a:buClr>
                <a:srgbClr val="888888"/>
              </a:buClr>
              <a:buSzPts val="2400"/>
              <a:buFont typeface="Arial"/>
              <a:buNone/>
              <a:defRPr b="0" i="0" sz="1800" u="none" cap="none" strike="noStrike">
                <a:solidFill>
                  <a:srgbClr val="888888"/>
                </a:solidFill>
                <a:latin typeface="Gill Sans"/>
                <a:ea typeface="Gill Sans"/>
                <a:cs typeface="Gill Sans"/>
                <a:sym typeface="Gill Sans"/>
              </a:defRPr>
            </a:lvl2pPr>
            <a:lvl3pPr indent="-228600" lvl="2" marL="1371600" marR="0" rtl="0" algn="l">
              <a:spcBef>
                <a:spcPts val="320"/>
              </a:spcBef>
              <a:spcAft>
                <a:spcPts val="0"/>
              </a:spcAft>
              <a:buClr>
                <a:srgbClr val="888888"/>
              </a:buClr>
              <a:buSzPts val="2000"/>
              <a:buFont typeface="Arial"/>
              <a:buNone/>
              <a:defRPr b="0" i="0" sz="1600" u="none" cap="none" strike="noStrike">
                <a:solidFill>
                  <a:srgbClr val="888888"/>
                </a:solidFill>
                <a:latin typeface="Gill Sans"/>
                <a:ea typeface="Gill Sans"/>
                <a:cs typeface="Gill Sans"/>
                <a:sym typeface="Gill Sans"/>
              </a:defRPr>
            </a:lvl3pPr>
            <a:lvl4pPr indent="-228600" lvl="3" marL="1828800" marR="0" rtl="0" algn="l">
              <a:spcBef>
                <a:spcPts val="280"/>
              </a:spcBef>
              <a:spcAft>
                <a:spcPts val="0"/>
              </a:spcAft>
              <a:buClr>
                <a:srgbClr val="888888"/>
              </a:buClr>
              <a:buSzPts val="2000"/>
              <a:buFont typeface="Arial"/>
              <a:buNone/>
              <a:defRPr b="0" i="0" sz="1400" u="none" cap="none" strike="noStrike">
                <a:solidFill>
                  <a:srgbClr val="888888"/>
                </a:solidFill>
                <a:latin typeface="Gill Sans"/>
                <a:ea typeface="Gill Sans"/>
                <a:cs typeface="Gill Sans"/>
                <a:sym typeface="Gill Sans"/>
              </a:defRPr>
            </a:lvl4pPr>
            <a:lvl5pPr indent="-228600" lvl="4" marL="2286000" marR="0" rtl="0" algn="l">
              <a:spcBef>
                <a:spcPts val="280"/>
              </a:spcBef>
              <a:spcAft>
                <a:spcPts val="0"/>
              </a:spcAft>
              <a:buClr>
                <a:srgbClr val="888888"/>
              </a:buClr>
              <a:buSzPts val="2000"/>
              <a:buFont typeface="Arial"/>
              <a:buNone/>
              <a:defRPr b="0" i="0" sz="1400" u="none" cap="none" strike="noStrike">
                <a:solidFill>
                  <a:srgbClr val="888888"/>
                </a:solidFill>
                <a:latin typeface="Gill Sans"/>
                <a:ea typeface="Gill Sans"/>
                <a:cs typeface="Gill Sans"/>
                <a:sym typeface="Gill Sans"/>
              </a:defRPr>
            </a:lvl5pPr>
            <a:lvl6pPr indent="-228600" lvl="5" marL="2743200" marR="0" rtl="0" algn="l">
              <a:spcBef>
                <a:spcPts val="280"/>
              </a:spcBef>
              <a:spcAft>
                <a:spcPts val="0"/>
              </a:spcAft>
              <a:buClr>
                <a:srgbClr val="888888"/>
              </a:buClr>
              <a:buSzPts val="2000"/>
              <a:buFont typeface="Arial"/>
              <a:buNone/>
              <a:defRPr b="0" i="0" sz="1400" u="none" cap="none" strike="noStrike">
                <a:solidFill>
                  <a:srgbClr val="888888"/>
                </a:solidFill>
                <a:latin typeface="Calibri"/>
                <a:ea typeface="Calibri"/>
                <a:cs typeface="Calibri"/>
                <a:sym typeface="Calibri"/>
              </a:defRPr>
            </a:lvl6pPr>
            <a:lvl7pPr indent="-228600" lvl="6" marL="3200400" marR="0" rtl="0" algn="l">
              <a:spcBef>
                <a:spcPts val="280"/>
              </a:spcBef>
              <a:spcAft>
                <a:spcPts val="0"/>
              </a:spcAft>
              <a:buClr>
                <a:srgbClr val="888888"/>
              </a:buClr>
              <a:buSzPts val="2000"/>
              <a:buFont typeface="Arial"/>
              <a:buNone/>
              <a:defRPr b="0" i="0" sz="1400" u="none" cap="none" strike="noStrike">
                <a:solidFill>
                  <a:srgbClr val="888888"/>
                </a:solidFill>
                <a:latin typeface="Calibri"/>
                <a:ea typeface="Calibri"/>
                <a:cs typeface="Calibri"/>
                <a:sym typeface="Calibri"/>
              </a:defRPr>
            </a:lvl7pPr>
            <a:lvl8pPr indent="-228600" lvl="7" marL="3657600" marR="0" rtl="0" algn="l">
              <a:spcBef>
                <a:spcPts val="280"/>
              </a:spcBef>
              <a:spcAft>
                <a:spcPts val="0"/>
              </a:spcAft>
              <a:buClr>
                <a:srgbClr val="888888"/>
              </a:buClr>
              <a:buSzPts val="2000"/>
              <a:buFont typeface="Arial"/>
              <a:buNone/>
              <a:defRPr b="0" i="0" sz="1400" u="none" cap="none" strike="noStrike">
                <a:solidFill>
                  <a:srgbClr val="888888"/>
                </a:solidFill>
                <a:latin typeface="Calibri"/>
                <a:ea typeface="Calibri"/>
                <a:cs typeface="Calibri"/>
                <a:sym typeface="Calibri"/>
              </a:defRPr>
            </a:lvl8pPr>
            <a:lvl9pPr indent="-228600" lvl="8" marL="4114800" marR="0" rtl="0" algn="l">
              <a:spcBef>
                <a:spcPts val="280"/>
              </a:spcBef>
              <a:spcAft>
                <a:spcPts val="0"/>
              </a:spcAft>
              <a:buClr>
                <a:srgbClr val="888888"/>
              </a:buClr>
              <a:buSzPts val="2000"/>
              <a:buFont typeface="Arial"/>
              <a:buNone/>
              <a:defRPr b="0" i="0" sz="1400" u="none" cap="none" strike="noStrike">
                <a:solidFill>
                  <a:srgbClr val="888888"/>
                </a:solidFill>
                <a:latin typeface="Calibri"/>
                <a:ea typeface="Calibri"/>
                <a:cs typeface="Calibri"/>
                <a:sym typeface="Calibri"/>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wo Content" type="twoObj">
  <p:cSld name="TWO_OBJECTS">
    <p:spTree>
      <p:nvGrpSpPr>
        <p:cNvPr id="58" name="Shape 58"/>
        <p:cNvGrpSpPr/>
        <p:nvPr/>
      </p:nvGrpSpPr>
      <p:grpSpPr>
        <a:xfrm>
          <a:off x="0" y="0"/>
          <a:ext cx="0" cy="0"/>
          <a:chOff x="0" y="0"/>
          <a:chExt cx="0" cy="0"/>
        </a:xfrm>
      </p:grpSpPr>
      <p:sp>
        <p:nvSpPr>
          <p:cNvPr id="59" name="Google Shape;59;p16"/>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lstStyle>
            <a:lvl1pPr indent="0" lvl="0" marL="0" marR="0" rtl="0" algn="r">
              <a:spcBef>
                <a:spcPts val="0"/>
              </a:spcBef>
              <a:spcAft>
                <a:spcPts val="0"/>
              </a:spcAft>
              <a:buClr>
                <a:schemeClr val="dk1"/>
              </a:buClr>
              <a:buSzPts val="1400"/>
              <a:buFont typeface="Cabin"/>
              <a:buNone/>
              <a:defRPr b="0" i="0" sz="3200" u="none" cap="none" strike="noStrike">
                <a:solidFill>
                  <a:schemeClr val="dk1"/>
                </a:solidFill>
                <a:latin typeface="Cabin"/>
                <a:ea typeface="Cabin"/>
                <a:cs typeface="Cabin"/>
                <a:sym typeface="Cabin"/>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60" name="Google Shape;60;p16"/>
          <p:cNvSpPr txBox="1"/>
          <p:nvPr>
            <p:ph idx="1" type="body"/>
          </p:nvPr>
        </p:nvSpPr>
        <p:spPr>
          <a:xfrm>
            <a:off x="457200" y="1006078"/>
            <a:ext cx="4038600" cy="3394472"/>
          </a:xfrm>
          <a:prstGeom prst="rect">
            <a:avLst/>
          </a:prstGeom>
          <a:noFill/>
          <a:ln>
            <a:noFill/>
          </a:ln>
        </p:spPr>
        <p:txBody>
          <a:bodyPr anchorCtr="0" anchor="t" bIns="91425" lIns="91425" spcFirstLastPara="1" rIns="91425" wrap="square" tIns="91425"/>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Gill Sans"/>
                <a:ea typeface="Gill Sans"/>
                <a:cs typeface="Gill Sans"/>
                <a:sym typeface="Gill Sans"/>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Gill Sans"/>
                <a:ea typeface="Gill Sans"/>
                <a:cs typeface="Gill Sans"/>
                <a:sym typeface="Gill Sans"/>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1" name="Google Shape;61;p16"/>
          <p:cNvSpPr txBox="1"/>
          <p:nvPr>
            <p:ph idx="2" type="body"/>
          </p:nvPr>
        </p:nvSpPr>
        <p:spPr>
          <a:xfrm>
            <a:off x="4648200" y="1006078"/>
            <a:ext cx="4038600" cy="3394472"/>
          </a:xfrm>
          <a:prstGeom prst="rect">
            <a:avLst/>
          </a:prstGeom>
          <a:noFill/>
          <a:ln>
            <a:noFill/>
          </a:ln>
        </p:spPr>
        <p:txBody>
          <a:bodyPr anchorCtr="0" anchor="t" bIns="91425" lIns="91425" spcFirstLastPara="1" rIns="91425" wrap="square" tIns="91425"/>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Gill Sans"/>
                <a:ea typeface="Gill Sans"/>
                <a:cs typeface="Gill Sans"/>
                <a:sym typeface="Gill Sans"/>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Gill Sans"/>
                <a:ea typeface="Gill Sans"/>
                <a:cs typeface="Gill Sans"/>
                <a:sym typeface="Gill Sans"/>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62" name="Shape 62"/>
        <p:cNvGrpSpPr/>
        <p:nvPr/>
      </p:nvGrpSpPr>
      <p:grpSpPr>
        <a:xfrm>
          <a:off x="0" y="0"/>
          <a:ext cx="0" cy="0"/>
          <a:chOff x="0" y="0"/>
          <a:chExt cx="0" cy="0"/>
        </a:xfrm>
      </p:grpSpPr>
      <p:sp>
        <p:nvSpPr>
          <p:cNvPr id="63" name="Google Shape;63;p17"/>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lstStyle>
            <a:lvl1pPr indent="0" lvl="0" marL="0" marR="0" rtl="0" algn="r">
              <a:spcBef>
                <a:spcPts val="0"/>
              </a:spcBef>
              <a:spcAft>
                <a:spcPts val="0"/>
              </a:spcAft>
              <a:buClr>
                <a:schemeClr val="dk1"/>
              </a:buClr>
              <a:buSzPts val="1400"/>
              <a:buFont typeface="Cabin"/>
              <a:buNone/>
              <a:defRPr b="0" i="0" sz="3200" u="none" cap="none" strike="noStrike">
                <a:solidFill>
                  <a:schemeClr val="dk1"/>
                </a:solidFill>
                <a:latin typeface="Cabin"/>
                <a:ea typeface="Cabin"/>
                <a:cs typeface="Cabin"/>
                <a:sym typeface="Cabin"/>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1_Title Only">
  <p:cSld name="1_Title Only">
    <p:spTree>
      <p:nvGrpSpPr>
        <p:cNvPr id="64" name="Shape 64"/>
        <p:cNvGrpSpPr/>
        <p:nvPr/>
      </p:nvGrpSpPr>
      <p:grpSpPr>
        <a:xfrm>
          <a:off x="0" y="0"/>
          <a:ext cx="0" cy="0"/>
          <a:chOff x="0" y="0"/>
          <a:chExt cx="0" cy="0"/>
        </a:xfrm>
      </p:grpSpPr>
      <p:sp>
        <p:nvSpPr>
          <p:cNvPr id="65" name="Google Shape;65;p18"/>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lstStyle>
            <a:lvl1pPr indent="0" lvl="0" marL="0" marR="0" rtl="0" algn="r">
              <a:spcBef>
                <a:spcPts val="0"/>
              </a:spcBef>
              <a:spcAft>
                <a:spcPts val="0"/>
              </a:spcAft>
              <a:buClr>
                <a:schemeClr val="dk1"/>
              </a:buClr>
              <a:buSzPts val="1400"/>
              <a:buFont typeface="Cabin"/>
              <a:buNone/>
              <a:defRPr b="0" i="0" sz="3200" u="none" cap="none" strike="noStrike">
                <a:solidFill>
                  <a:schemeClr val="dk1"/>
                </a:solidFill>
                <a:latin typeface="Cabin"/>
                <a:ea typeface="Cabin"/>
                <a:cs typeface="Cabin"/>
                <a:sym typeface="Cabin"/>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pic>
        <p:nvPicPr>
          <p:cNvPr descr="Screen Shot 2015-12-08 at 7.04.00 PM.png" id="66" name="Google Shape;66;p18"/>
          <p:cNvPicPr preferRelativeResize="0"/>
          <p:nvPr/>
        </p:nvPicPr>
        <p:blipFill rotWithShape="1">
          <a:blip r:embed="rId2">
            <a:alphaModFix/>
          </a:blip>
          <a:srcRect b="0" l="0" r="0" t="0"/>
          <a:stretch/>
        </p:blipFill>
        <p:spPr>
          <a:xfrm>
            <a:off x="782990" y="4763926"/>
            <a:ext cx="3708983" cy="356896"/>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1_Blank" type="blank">
  <p:cSld name="BLANK">
    <p:spTree>
      <p:nvGrpSpPr>
        <p:cNvPr id="67" name="Shape 67"/>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74" name="Shape 74"/>
        <p:cNvGrpSpPr/>
        <p:nvPr/>
      </p:nvGrpSpPr>
      <p:grpSpPr>
        <a:xfrm>
          <a:off x="0" y="0"/>
          <a:ext cx="0" cy="0"/>
          <a:chOff x="0" y="0"/>
          <a:chExt cx="0" cy="0"/>
        </a:xfrm>
      </p:grpSpPr>
      <p:sp>
        <p:nvSpPr>
          <p:cNvPr id="75" name="Google Shape;75;p21"/>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Clr>
                <a:schemeClr val="dk1"/>
              </a:buClr>
              <a:buSzPts val="1400"/>
              <a:buFont typeface="Cabin"/>
              <a:buNone/>
              <a:defRPr b="0" i="0" sz="3200" u="none" cap="none" strike="noStrike">
                <a:solidFill>
                  <a:schemeClr val="dk1"/>
                </a:solidFill>
                <a:latin typeface="Cabin"/>
                <a:ea typeface="Cabin"/>
                <a:cs typeface="Cabin"/>
                <a:sym typeface="Cabin"/>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p:cSld name="Blank">
    <p:spTree>
      <p:nvGrpSpPr>
        <p:cNvPr id="76" name="Shape 76"/>
        <p:cNvGrpSpPr/>
        <p:nvPr/>
      </p:nvGrpSpPr>
      <p:grpSpPr>
        <a:xfrm>
          <a:off x="0" y="0"/>
          <a:ext cx="0" cy="0"/>
          <a:chOff x="0" y="0"/>
          <a:chExt cx="0" cy="0"/>
        </a:xfrm>
      </p:grpSpPr>
      <p:sp>
        <p:nvSpPr>
          <p:cNvPr id="77" name="Google Shape;77;p22"/>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Clr>
                <a:schemeClr val="dk1"/>
              </a:buClr>
              <a:buSzPts val="1400"/>
              <a:buFont typeface="Helvetica Neue"/>
              <a:buNone/>
              <a:defRPr b="0" i="0" sz="3200" u="none" cap="none" strike="noStrike">
                <a:solidFill>
                  <a:schemeClr val="dk1"/>
                </a:solidFill>
                <a:latin typeface="Helvetica Neue"/>
                <a:ea typeface="Helvetica Neue"/>
                <a:cs typeface="Helvetica Neue"/>
                <a:sym typeface="Helvetica Neue"/>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1_Blank">
  <p:cSld name="1_Blank">
    <p:spTree>
      <p:nvGrpSpPr>
        <p:cNvPr id="78" name="Shape 78"/>
        <p:cNvGrpSpPr/>
        <p:nvPr/>
      </p:nvGrpSpPr>
      <p:grpSpPr>
        <a:xfrm>
          <a:off x="0" y="0"/>
          <a:ext cx="0" cy="0"/>
          <a:chOff x="0" y="0"/>
          <a:chExt cx="0" cy="0"/>
        </a:xfrm>
      </p:grpSpPr>
      <p:pic>
        <p:nvPicPr>
          <p:cNvPr descr="Biocomplexity-PP-SectionTitle10-SDAL-BKGD-Light_2015-11.jpg" id="79" name="Google Shape;79;p23"/>
          <p:cNvPicPr preferRelativeResize="0"/>
          <p:nvPr/>
        </p:nvPicPr>
        <p:blipFill rotWithShape="1">
          <a:blip r:embed="rId2">
            <a:alphaModFix/>
          </a:blip>
          <a:srcRect b="0" l="0" r="0" t="0"/>
          <a:stretch/>
        </p:blipFill>
        <p:spPr>
          <a:xfrm>
            <a:off x="0" y="0"/>
            <a:ext cx="9119681" cy="5143500"/>
          </a:xfrm>
          <a:prstGeom prst="rect">
            <a:avLst/>
          </a:prstGeom>
          <a:noFill/>
          <a:ln>
            <a:noFill/>
          </a:ln>
        </p:spPr>
      </p:pic>
      <p:sp>
        <p:nvSpPr>
          <p:cNvPr id="80" name="Google Shape;80;p23"/>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Clr>
                <a:schemeClr val="dk1"/>
              </a:buClr>
              <a:buSzPts val="1400"/>
              <a:buFont typeface="Helvetica Neue"/>
              <a:buNone/>
              <a:defRPr b="0" i="0" sz="3200" u="none" cap="none" strike="noStrike">
                <a:solidFill>
                  <a:schemeClr val="dk1"/>
                </a:solidFill>
                <a:latin typeface="Helvetica Neue"/>
                <a:ea typeface="Helvetica Neue"/>
                <a:cs typeface="Helvetica Neue"/>
                <a:sym typeface="Helvetica Neue"/>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2_Blank">
  <p:cSld name="2_Blank">
    <p:spTree>
      <p:nvGrpSpPr>
        <p:cNvPr id="81" name="Shape 81"/>
        <p:cNvGrpSpPr/>
        <p:nvPr/>
      </p:nvGrpSpPr>
      <p:grpSpPr>
        <a:xfrm>
          <a:off x="0" y="0"/>
          <a:ext cx="0" cy="0"/>
          <a:chOff x="0" y="0"/>
          <a:chExt cx="0" cy="0"/>
        </a:xfrm>
      </p:grpSpPr>
      <p:pic>
        <p:nvPicPr>
          <p:cNvPr descr="Biocomplexity-PP-SectionTitle10-SDAL-BKGD-Light_2015-11.jpg" id="82" name="Google Shape;82;p24"/>
          <p:cNvPicPr preferRelativeResize="0"/>
          <p:nvPr/>
        </p:nvPicPr>
        <p:blipFill rotWithShape="1">
          <a:blip r:embed="rId2">
            <a:alphaModFix/>
          </a:blip>
          <a:srcRect b="0" l="0" r="0" t="0"/>
          <a:stretch/>
        </p:blipFill>
        <p:spPr>
          <a:xfrm>
            <a:off x="0" y="0"/>
            <a:ext cx="9119681" cy="51435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3_Blank">
  <p:cSld name="3_Blank">
    <p:spTree>
      <p:nvGrpSpPr>
        <p:cNvPr id="83" name="Shape 83"/>
        <p:cNvGrpSpPr/>
        <p:nvPr/>
      </p:nvGrpSpPr>
      <p:grpSpPr>
        <a:xfrm>
          <a:off x="0" y="0"/>
          <a:ext cx="0" cy="0"/>
          <a:chOff x="0" y="0"/>
          <a:chExt cx="0" cy="0"/>
        </a:xfrm>
      </p:grpSpPr>
      <p:pic>
        <p:nvPicPr>
          <p:cNvPr descr="Biocomplexity-PP-SectionTitle5-SDAL-BKGD-Light_2015-11.jpg" id="84" name="Google Shape;84;p25"/>
          <p:cNvPicPr preferRelativeResize="0"/>
          <p:nvPr/>
        </p:nvPicPr>
        <p:blipFill rotWithShape="1">
          <a:blip r:embed="rId2">
            <a:alphaModFix/>
          </a:blip>
          <a:srcRect b="0" l="0" r="0" t="0"/>
          <a:stretch/>
        </p:blipFill>
        <p:spPr>
          <a:xfrm>
            <a:off x="0" y="0"/>
            <a:ext cx="9119681" cy="5143500"/>
          </a:xfrm>
          <a:prstGeom prst="rect">
            <a:avLst/>
          </a:prstGeom>
          <a:noFill/>
          <a:ln>
            <a:noFill/>
          </a:ln>
        </p:spPr>
      </p:pic>
      <p:sp>
        <p:nvSpPr>
          <p:cNvPr id="85" name="Google Shape;85;p25"/>
          <p:cNvSpPr txBox="1"/>
          <p:nvPr>
            <p:ph type="ctrTitle"/>
          </p:nvPr>
        </p:nvSpPr>
        <p:spPr>
          <a:xfrm>
            <a:off x="304800" y="1597832"/>
            <a:ext cx="7772400" cy="1102519"/>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Clr>
                <a:schemeClr val="dk1"/>
              </a:buClr>
              <a:buSzPts val="1400"/>
              <a:buFont typeface="Cabin"/>
              <a:buNone/>
              <a:defRPr b="0" i="0" sz="3200" u="none" cap="none" strike="noStrike">
                <a:solidFill>
                  <a:schemeClr val="dk1"/>
                </a:solidFill>
                <a:latin typeface="Cabin"/>
                <a:ea typeface="Cabin"/>
                <a:cs typeface="Cabin"/>
                <a:sym typeface="Cabin"/>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4_Blank">
  <p:cSld name="4_Blank">
    <p:spTree>
      <p:nvGrpSpPr>
        <p:cNvPr id="86" name="Shape 86"/>
        <p:cNvGrpSpPr/>
        <p:nvPr/>
      </p:nvGrpSpPr>
      <p:grpSpPr>
        <a:xfrm>
          <a:off x="0" y="0"/>
          <a:ext cx="0" cy="0"/>
          <a:chOff x="0" y="0"/>
          <a:chExt cx="0" cy="0"/>
        </a:xfrm>
      </p:grpSpPr>
      <p:pic>
        <p:nvPicPr>
          <p:cNvPr descr="Biocomplexity-PP-SectionTitle2-SDAL-BKGD-Light_2015-11.jpg" id="87" name="Google Shape;87;p26"/>
          <p:cNvPicPr preferRelativeResize="0"/>
          <p:nvPr/>
        </p:nvPicPr>
        <p:blipFill rotWithShape="1">
          <a:blip r:embed="rId2">
            <a:alphaModFix/>
          </a:blip>
          <a:srcRect b="0" l="0" r="0" t="0"/>
          <a:stretch/>
        </p:blipFill>
        <p:spPr>
          <a:xfrm>
            <a:off x="0" y="0"/>
            <a:ext cx="9119681" cy="51435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bg>
      <p:bgPr>
        <a:blipFill rotWithShape="1">
          <a:blip r:embed="rId2">
            <a:alphaModFix/>
          </a:blip>
          <a:stretch>
            <a:fillRect b="0" l="0" r="0" t="0"/>
          </a:stretch>
        </a:blipFill>
      </p:bgPr>
    </p:bg>
    <p:spTree>
      <p:nvGrpSpPr>
        <p:cNvPr id="88" name="Shape 88"/>
        <p:cNvGrpSpPr/>
        <p:nvPr/>
      </p:nvGrpSpPr>
      <p:grpSpPr>
        <a:xfrm>
          <a:off x="0" y="0"/>
          <a:ext cx="0" cy="0"/>
          <a:chOff x="0" y="0"/>
          <a:chExt cx="0" cy="0"/>
        </a:xfrm>
      </p:grpSpPr>
      <p:sp>
        <p:nvSpPr>
          <p:cNvPr id="89" name="Google Shape;89;p27"/>
          <p:cNvSpPr txBox="1"/>
          <p:nvPr>
            <p:ph type="ctrTitle"/>
          </p:nvPr>
        </p:nvSpPr>
        <p:spPr>
          <a:xfrm>
            <a:off x="685800" y="1597832"/>
            <a:ext cx="7772400" cy="1102519"/>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Clr>
                <a:schemeClr val="dk1"/>
              </a:buClr>
              <a:buSzPts val="1400"/>
              <a:buFont typeface="Cabin"/>
              <a:buNone/>
              <a:defRPr b="0" i="0" sz="3200" u="none" cap="none" strike="noStrike">
                <a:solidFill>
                  <a:schemeClr val="dk1"/>
                </a:solidFill>
                <a:latin typeface="Cabin"/>
                <a:ea typeface="Cabin"/>
                <a:cs typeface="Cabin"/>
                <a:sym typeface="Cabin"/>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90" name="Google Shape;90;p27"/>
          <p:cNvSpPr txBox="1"/>
          <p:nvPr>
            <p:ph idx="1" type="subTitle"/>
          </p:nvPr>
        </p:nvSpPr>
        <p:spPr>
          <a:xfrm>
            <a:off x="1371600" y="2914650"/>
            <a:ext cx="6400800" cy="1314450"/>
          </a:xfrm>
          <a:prstGeom prst="rect">
            <a:avLst/>
          </a:prstGeom>
          <a:noFill/>
          <a:ln>
            <a:noFill/>
          </a:ln>
        </p:spPr>
        <p:txBody>
          <a:bodyPr anchorCtr="0" anchor="t" bIns="91425" lIns="91425" spcFirstLastPara="1" rIns="91425" wrap="square" tIns="91425"/>
          <a:lstStyle>
            <a:lvl1pPr indent="0" lvl="0" marL="0" marR="0" rtl="0" algn="ctr">
              <a:spcBef>
                <a:spcPts val="560"/>
              </a:spcBef>
              <a:spcAft>
                <a:spcPts val="0"/>
              </a:spcAft>
              <a:buClr>
                <a:srgbClr val="888888"/>
              </a:buClr>
              <a:buSzPts val="2800"/>
              <a:buFont typeface="Arial"/>
              <a:buNone/>
              <a:defRPr b="0" i="0" sz="2800" u="none" cap="none" strike="noStrike">
                <a:solidFill>
                  <a:srgbClr val="888888"/>
                </a:solidFill>
                <a:latin typeface="Gill Sans"/>
                <a:ea typeface="Gill Sans"/>
                <a:cs typeface="Gill Sans"/>
                <a:sym typeface="Gill Sans"/>
              </a:defRPr>
            </a:lvl1pPr>
            <a:lvl2pPr indent="0" lvl="1" marL="457200" marR="0" rtl="0" algn="ctr">
              <a:spcBef>
                <a:spcPts val="480"/>
              </a:spcBef>
              <a:spcAft>
                <a:spcPts val="0"/>
              </a:spcAft>
              <a:buClr>
                <a:srgbClr val="888888"/>
              </a:buClr>
              <a:buSzPts val="2400"/>
              <a:buFont typeface="Arial"/>
              <a:buNone/>
              <a:defRPr b="0" i="0" sz="2400" u="none" cap="none" strike="noStrike">
                <a:solidFill>
                  <a:srgbClr val="888888"/>
                </a:solidFill>
                <a:latin typeface="Gill Sans"/>
                <a:ea typeface="Gill Sans"/>
                <a:cs typeface="Gill Sans"/>
                <a:sym typeface="Gill Sans"/>
              </a:defRPr>
            </a:lvl2pPr>
            <a:lvl3pPr indent="0" lvl="2" marL="914400" marR="0" rtl="0" algn="ctr">
              <a:spcBef>
                <a:spcPts val="480"/>
              </a:spcBef>
              <a:spcAft>
                <a:spcPts val="0"/>
              </a:spcAft>
              <a:buClr>
                <a:srgbClr val="888888"/>
              </a:buClr>
              <a:buSzPts val="2400"/>
              <a:buFont typeface="Arial"/>
              <a:buNone/>
              <a:defRPr b="0" i="0" sz="2400" u="none" cap="none" strike="noStrike">
                <a:solidFill>
                  <a:srgbClr val="888888"/>
                </a:solidFill>
                <a:latin typeface="Gill Sans"/>
                <a:ea typeface="Gill Sans"/>
                <a:cs typeface="Gill Sans"/>
                <a:sym typeface="Gill Sans"/>
              </a:defRPr>
            </a:lvl3pPr>
            <a:lvl4pPr indent="0" lvl="3" marL="1371600" marR="0" rtl="0" algn="ctr">
              <a:spcBef>
                <a:spcPts val="400"/>
              </a:spcBef>
              <a:spcAft>
                <a:spcPts val="0"/>
              </a:spcAft>
              <a:buClr>
                <a:srgbClr val="888888"/>
              </a:buClr>
              <a:buSzPts val="2000"/>
              <a:buFont typeface="Arial"/>
              <a:buNone/>
              <a:defRPr b="0" i="0" sz="2000" u="none" cap="none" strike="noStrike">
                <a:solidFill>
                  <a:srgbClr val="888888"/>
                </a:solidFill>
                <a:latin typeface="Gill Sans"/>
                <a:ea typeface="Gill Sans"/>
                <a:cs typeface="Gill Sans"/>
                <a:sym typeface="Gill Sans"/>
              </a:defRPr>
            </a:lvl4pPr>
            <a:lvl5pPr indent="0" lvl="4" marL="1828800" marR="0" rtl="0" algn="ctr">
              <a:spcBef>
                <a:spcPts val="400"/>
              </a:spcBef>
              <a:spcAft>
                <a:spcPts val="0"/>
              </a:spcAft>
              <a:buClr>
                <a:srgbClr val="888888"/>
              </a:buClr>
              <a:buSzPts val="2000"/>
              <a:buFont typeface="Arial"/>
              <a:buNone/>
              <a:defRPr b="0" i="0" sz="2000" u="none" cap="none" strike="noStrike">
                <a:solidFill>
                  <a:srgbClr val="888888"/>
                </a:solidFill>
                <a:latin typeface="Gill Sans"/>
                <a:ea typeface="Gill Sans"/>
                <a:cs typeface="Gill Sans"/>
                <a:sym typeface="Gill Sans"/>
              </a:defRPr>
            </a:lvl5pPr>
            <a:lvl6pPr indent="0" lvl="5" marL="2286000"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indent="0" lvl="6" marL="2743200"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indent="0" lvl="7" marL="3200400"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indent="0" lvl="8" marL="3657600"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2_Picture with Caption" showMasterSp="0">
  <p:cSld name="2_Picture with Caption">
    <p:spTree>
      <p:nvGrpSpPr>
        <p:cNvPr id="91" name="Shape 91"/>
        <p:cNvGrpSpPr/>
        <p:nvPr/>
      </p:nvGrpSpPr>
      <p:grpSpPr>
        <a:xfrm>
          <a:off x="0" y="0"/>
          <a:ext cx="0" cy="0"/>
          <a:chOff x="0" y="0"/>
          <a:chExt cx="0" cy="0"/>
        </a:xfrm>
      </p:grpSpPr>
      <p:pic>
        <p:nvPicPr>
          <p:cNvPr descr="Screen Shot 2015-12-08 at 7.04.00 PM.png" id="92" name="Google Shape;92;p28"/>
          <p:cNvPicPr preferRelativeResize="0"/>
          <p:nvPr/>
        </p:nvPicPr>
        <p:blipFill rotWithShape="1">
          <a:blip r:embed="rId2">
            <a:alphaModFix/>
          </a:blip>
          <a:srcRect b="0" l="0" r="0" t="0"/>
          <a:stretch/>
        </p:blipFill>
        <p:spPr>
          <a:xfrm>
            <a:off x="782990" y="4773777"/>
            <a:ext cx="3708983" cy="356896"/>
          </a:xfrm>
          <a:prstGeom prst="rect">
            <a:avLst/>
          </a:prstGeom>
          <a:noFill/>
          <a:ln>
            <a:noFill/>
          </a:ln>
        </p:spPr>
      </p:pic>
      <p:sp>
        <p:nvSpPr>
          <p:cNvPr id="93" name="Google Shape;93;p28"/>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Clr>
                <a:schemeClr val="dk1"/>
              </a:buClr>
              <a:buSzPts val="1400"/>
              <a:buFont typeface="Cabin"/>
              <a:buNone/>
              <a:defRPr b="0" i="0" sz="3200" u="none" cap="none" strike="noStrike">
                <a:solidFill>
                  <a:schemeClr val="dk1"/>
                </a:solidFill>
                <a:latin typeface="Cabin"/>
                <a:ea typeface="Cabin"/>
                <a:cs typeface="Cabin"/>
                <a:sym typeface="Cabin"/>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3_Picture with Caption" showMasterSp="0">
  <p:cSld name="3_Picture with Caption">
    <p:spTree>
      <p:nvGrpSpPr>
        <p:cNvPr id="94" name="Shape 94"/>
        <p:cNvGrpSpPr/>
        <p:nvPr/>
      </p:nvGrpSpPr>
      <p:grpSpPr>
        <a:xfrm>
          <a:off x="0" y="0"/>
          <a:ext cx="0" cy="0"/>
          <a:chOff x="0" y="0"/>
          <a:chExt cx="0" cy="0"/>
        </a:xfrm>
      </p:grpSpPr>
      <p:pic>
        <p:nvPicPr>
          <p:cNvPr descr="Screen Shot 2015-12-08 at 7.04.00 PM.png" id="95" name="Google Shape;95;p29"/>
          <p:cNvPicPr preferRelativeResize="0"/>
          <p:nvPr/>
        </p:nvPicPr>
        <p:blipFill rotWithShape="1">
          <a:blip r:embed="rId2">
            <a:alphaModFix/>
          </a:blip>
          <a:srcRect b="0" l="0" r="0" t="0"/>
          <a:stretch/>
        </p:blipFill>
        <p:spPr>
          <a:xfrm>
            <a:off x="782990" y="4773777"/>
            <a:ext cx="3708983" cy="356896"/>
          </a:xfrm>
          <a:prstGeom prst="rect">
            <a:avLst/>
          </a:prstGeom>
          <a:noFill/>
          <a:ln>
            <a:noFill/>
          </a:ln>
        </p:spPr>
      </p:pic>
      <p:sp>
        <p:nvSpPr>
          <p:cNvPr id="96" name="Google Shape;96;p29"/>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Clr>
                <a:schemeClr val="dk1"/>
              </a:buClr>
              <a:buSzPts val="1400"/>
              <a:buFont typeface="Cabin"/>
              <a:buNone/>
              <a:defRPr b="0" i="0" sz="3200" u="none" cap="none" strike="noStrike">
                <a:solidFill>
                  <a:schemeClr val="dk1"/>
                </a:solidFill>
                <a:latin typeface="Cabin"/>
                <a:ea typeface="Cabin"/>
                <a:cs typeface="Cabin"/>
                <a:sym typeface="Cabin"/>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103" name="Shape 103"/>
        <p:cNvGrpSpPr/>
        <p:nvPr/>
      </p:nvGrpSpPr>
      <p:grpSpPr>
        <a:xfrm>
          <a:off x="0" y="0"/>
          <a:ext cx="0" cy="0"/>
          <a:chOff x="0" y="0"/>
          <a:chExt cx="0" cy="0"/>
        </a:xfrm>
      </p:grpSpPr>
      <p:sp>
        <p:nvSpPr>
          <p:cNvPr id="104" name="Google Shape;104;p31"/>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Clr>
                <a:schemeClr val="dk1"/>
              </a:buClr>
              <a:buSzPts val="1400"/>
              <a:buFont typeface="Helvetica Neue"/>
              <a:buNone/>
              <a:defRPr b="0" i="0" sz="3200" u="none" cap="none" strike="noStrike">
                <a:solidFill>
                  <a:schemeClr val="dk1"/>
                </a:solidFill>
                <a:latin typeface="Helvetica Neue"/>
                <a:ea typeface="Helvetica Neue"/>
                <a:cs typeface="Helvetica Neue"/>
                <a:sym typeface="Helvetica Neue"/>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p:cSld name="Blank">
    <p:spTree>
      <p:nvGrpSpPr>
        <p:cNvPr id="105" name="Shape 105"/>
        <p:cNvGrpSpPr/>
        <p:nvPr/>
      </p:nvGrpSpPr>
      <p:grpSpPr>
        <a:xfrm>
          <a:off x="0" y="0"/>
          <a:ext cx="0" cy="0"/>
          <a:chOff x="0" y="0"/>
          <a:chExt cx="0" cy="0"/>
        </a:xfrm>
      </p:grpSpPr>
      <p:sp>
        <p:nvSpPr>
          <p:cNvPr id="106" name="Google Shape;106;p32"/>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Clr>
                <a:schemeClr val="dk1"/>
              </a:buClr>
              <a:buSzPts val="1400"/>
              <a:buFont typeface="Helvetica Neue"/>
              <a:buNone/>
              <a:defRPr b="0" i="0" sz="3200" u="none" cap="none" strike="noStrike">
                <a:solidFill>
                  <a:schemeClr val="dk1"/>
                </a:solidFill>
                <a:latin typeface="Helvetica Neue"/>
                <a:ea typeface="Helvetica Neue"/>
                <a:cs typeface="Helvetica Neue"/>
                <a:sym typeface="Helvetica Neue"/>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1_Blank">
  <p:cSld name="1_Blank">
    <p:spTree>
      <p:nvGrpSpPr>
        <p:cNvPr id="107" name="Shape 107"/>
        <p:cNvGrpSpPr/>
        <p:nvPr/>
      </p:nvGrpSpPr>
      <p:grpSpPr>
        <a:xfrm>
          <a:off x="0" y="0"/>
          <a:ext cx="0" cy="0"/>
          <a:chOff x="0" y="0"/>
          <a:chExt cx="0" cy="0"/>
        </a:xfrm>
      </p:grpSpPr>
      <p:pic>
        <p:nvPicPr>
          <p:cNvPr descr="Biocomplexity-PP-SectionTitle10-SDAL-BKGD-Light_2015-11.jpg" id="108" name="Google Shape;108;p33"/>
          <p:cNvPicPr preferRelativeResize="0"/>
          <p:nvPr/>
        </p:nvPicPr>
        <p:blipFill rotWithShape="1">
          <a:blip r:embed="rId2">
            <a:alphaModFix/>
          </a:blip>
          <a:srcRect b="0" l="0" r="0" t="0"/>
          <a:stretch/>
        </p:blipFill>
        <p:spPr>
          <a:xfrm>
            <a:off x="0" y="0"/>
            <a:ext cx="9119681" cy="5143500"/>
          </a:xfrm>
          <a:prstGeom prst="rect">
            <a:avLst/>
          </a:prstGeom>
          <a:noFill/>
          <a:ln>
            <a:noFill/>
          </a:ln>
        </p:spPr>
      </p:pic>
      <p:sp>
        <p:nvSpPr>
          <p:cNvPr id="109" name="Google Shape;109;p33"/>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Clr>
                <a:schemeClr val="dk1"/>
              </a:buClr>
              <a:buSzPts val="1400"/>
              <a:buFont typeface="Helvetica Neue"/>
              <a:buNone/>
              <a:defRPr b="0" i="0" sz="3200" u="none" cap="none" strike="noStrike">
                <a:solidFill>
                  <a:schemeClr val="dk1"/>
                </a:solidFill>
                <a:latin typeface="Helvetica Neue"/>
                <a:ea typeface="Helvetica Neue"/>
                <a:cs typeface="Helvetica Neue"/>
                <a:sym typeface="Helvetica Neue"/>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2_Blank">
  <p:cSld name="2_Blank">
    <p:spTree>
      <p:nvGrpSpPr>
        <p:cNvPr id="110" name="Shape 110"/>
        <p:cNvGrpSpPr/>
        <p:nvPr/>
      </p:nvGrpSpPr>
      <p:grpSpPr>
        <a:xfrm>
          <a:off x="0" y="0"/>
          <a:ext cx="0" cy="0"/>
          <a:chOff x="0" y="0"/>
          <a:chExt cx="0" cy="0"/>
        </a:xfrm>
      </p:grpSpPr>
      <p:pic>
        <p:nvPicPr>
          <p:cNvPr descr="Biocomplexity-PP-SectionTitle10-SDAL-BKGD-Light_2015-11.jpg" id="111" name="Google Shape;111;p34"/>
          <p:cNvPicPr preferRelativeResize="0"/>
          <p:nvPr/>
        </p:nvPicPr>
        <p:blipFill rotWithShape="1">
          <a:blip r:embed="rId2">
            <a:alphaModFix/>
          </a:blip>
          <a:srcRect b="0" l="0" r="0" t="0"/>
          <a:stretch/>
        </p:blipFill>
        <p:spPr>
          <a:xfrm>
            <a:off x="0" y="0"/>
            <a:ext cx="9119681" cy="514350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3_Blank">
  <p:cSld name="3_Blank">
    <p:spTree>
      <p:nvGrpSpPr>
        <p:cNvPr id="112" name="Shape 112"/>
        <p:cNvGrpSpPr/>
        <p:nvPr/>
      </p:nvGrpSpPr>
      <p:grpSpPr>
        <a:xfrm>
          <a:off x="0" y="0"/>
          <a:ext cx="0" cy="0"/>
          <a:chOff x="0" y="0"/>
          <a:chExt cx="0" cy="0"/>
        </a:xfrm>
      </p:grpSpPr>
      <p:pic>
        <p:nvPicPr>
          <p:cNvPr descr="Biocomplexity-PP-SectionTitle5-SDAL-BKGD-Light_2015-11.jpg" id="113" name="Google Shape;113;p35"/>
          <p:cNvPicPr preferRelativeResize="0"/>
          <p:nvPr/>
        </p:nvPicPr>
        <p:blipFill rotWithShape="1">
          <a:blip r:embed="rId2">
            <a:alphaModFix/>
          </a:blip>
          <a:srcRect b="0" l="0" r="0" t="0"/>
          <a:stretch/>
        </p:blipFill>
        <p:spPr>
          <a:xfrm>
            <a:off x="0" y="0"/>
            <a:ext cx="9119681" cy="5143500"/>
          </a:xfrm>
          <a:prstGeom prst="rect">
            <a:avLst/>
          </a:prstGeom>
          <a:noFill/>
          <a:ln>
            <a:noFill/>
          </a:ln>
        </p:spPr>
      </p:pic>
      <p:sp>
        <p:nvSpPr>
          <p:cNvPr id="114" name="Google Shape;114;p35"/>
          <p:cNvSpPr txBox="1"/>
          <p:nvPr>
            <p:ph type="ctrTitle"/>
          </p:nvPr>
        </p:nvSpPr>
        <p:spPr>
          <a:xfrm>
            <a:off x="304800" y="1597832"/>
            <a:ext cx="7772400" cy="1102519"/>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Clr>
                <a:schemeClr val="dk1"/>
              </a:buClr>
              <a:buSzPts val="1400"/>
              <a:buFont typeface="Helvetica Neue"/>
              <a:buNone/>
              <a:defRPr b="0" i="0" sz="3200" u="none" cap="none" strike="noStrike">
                <a:solidFill>
                  <a:schemeClr val="dk1"/>
                </a:solidFill>
                <a:latin typeface="Helvetica Neue"/>
                <a:ea typeface="Helvetica Neue"/>
                <a:cs typeface="Helvetica Neue"/>
                <a:sym typeface="Helvetica Neue"/>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theme" Target="../theme/theme2.xml"/><Relationship Id="rId12" Type="http://schemas.openxmlformats.org/officeDocument/2006/relationships/slideLayout" Target="../slideLayouts/slideLayout10.xml"/><Relationship Id="rId1" Type="http://schemas.openxmlformats.org/officeDocument/2006/relationships/image" Target="../media/image3.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0" Type="http://schemas.openxmlformats.org/officeDocument/2006/relationships/theme" Target="../theme/theme1.xml"/><Relationship Id="rId1" Type="http://schemas.openxmlformats.org/officeDocument/2006/relationships/image" Target="../media/image3.jpg"/><Relationship Id="rId2" Type="http://schemas.openxmlformats.org/officeDocument/2006/relationships/image" Target="../media/image1.png"/><Relationship Id="rId3" Type="http://schemas.openxmlformats.org/officeDocument/2006/relationships/slideLayout" Target="../slideLayouts/slideLayout11.xml"/><Relationship Id="rId4" Type="http://schemas.openxmlformats.org/officeDocument/2006/relationships/slideLayout" Target="../slideLayouts/slideLayout12.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10" Type="http://schemas.openxmlformats.org/officeDocument/2006/relationships/theme" Target="../theme/theme4.xml"/><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9" Type="http://schemas.openxmlformats.org/officeDocument/2006/relationships/slideLayout" Target="../slideLayouts/slideLayout26.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blipFill rotWithShape="1">
          <a:blip r:embed="rId1">
            <a:alphaModFix/>
          </a:blip>
          <a:stretch>
            <a:fillRect b="0" l="0" r="0" t="0"/>
          </a:stretch>
        </a:blip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lstStyle>
            <a:lvl1pPr indent="0" lvl="0" marL="0" marR="0" rtl="0" algn="r">
              <a:spcBef>
                <a:spcPts val="0"/>
              </a:spcBef>
              <a:spcAft>
                <a:spcPts val="0"/>
              </a:spcAft>
              <a:buClr>
                <a:schemeClr val="dk1"/>
              </a:buClr>
              <a:buSzPts val="1400"/>
              <a:buFont typeface="Cabin"/>
              <a:buNone/>
              <a:defRPr b="0" i="0" sz="3200" u="none" cap="none" strike="noStrike">
                <a:solidFill>
                  <a:schemeClr val="dk1"/>
                </a:solidFill>
                <a:latin typeface="Cabin"/>
                <a:ea typeface="Cabin"/>
                <a:cs typeface="Cabin"/>
                <a:sym typeface="Cabin"/>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1" name="Google Shape;11;p1"/>
          <p:cNvSpPr txBox="1"/>
          <p:nvPr>
            <p:ph idx="1" type="body"/>
          </p:nvPr>
        </p:nvSpPr>
        <p:spPr>
          <a:xfrm>
            <a:off x="457200" y="1006078"/>
            <a:ext cx="8229600" cy="3394472"/>
          </a:xfrm>
          <a:prstGeom prst="rect">
            <a:avLst/>
          </a:prstGeom>
          <a:noFill/>
          <a:ln>
            <a:noFill/>
          </a:ln>
        </p:spPr>
        <p:txBody>
          <a:bodyPr anchorCtr="0" anchor="t" bIns="91425" lIns="91425" spcFirstLastPara="1" rIns="91425" wrap="square" tIns="91425"/>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Gill Sans"/>
                <a:ea typeface="Gill Sans"/>
                <a:cs typeface="Gill Sans"/>
                <a:sym typeface="Gill Sans"/>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Gill Sans"/>
                <a:ea typeface="Gill Sans"/>
                <a:cs typeface="Gill Sans"/>
                <a:sym typeface="Gill Sans"/>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pic>
        <p:nvPicPr>
          <p:cNvPr descr="Screen Shot 2015-12-08 at 7.04.00 PM.png" id="12" name="Google Shape;12;p1"/>
          <p:cNvPicPr preferRelativeResize="0"/>
          <p:nvPr/>
        </p:nvPicPr>
        <p:blipFill rotWithShape="1">
          <a:blip r:embed="rId2">
            <a:alphaModFix/>
          </a:blip>
          <a:srcRect b="0" l="0" r="0" t="0"/>
          <a:stretch/>
        </p:blipFill>
        <p:spPr>
          <a:xfrm>
            <a:off x="782990" y="4763718"/>
            <a:ext cx="3708983" cy="35689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blipFill rotWithShape="1">
          <a:blip r:embed="rId1">
            <a:alphaModFix/>
          </a:blip>
          <a:stretch>
            <a:fillRect b="0" l="0" r="0" t="0"/>
          </a:stretch>
        </a:blipFill>
      </p:bgPr>
    </p:bg>
    <p:spTree>
      <p:nvGrpSpPr>
        <p:cNvPr id="44" name="Shape 44"/>
        <p:cNvGrpSpPr/>
        <p:nvPr/>
      </p:nvGrpSpPr>
      <p:grpSpPr>
        <a:xfrm>
          <a:off x="0" y="0"/>
          <a:ext cx="0" cy="0"/>
          <a:chOff x="0" y="0"/>
          <a:chExt cx="0" cy="0"/>
        </a:xfrm>
      </p:grpSpPr>
      <p:sp>
        <p:nvSpPr>
          <p:cNvPr id="45" name="Google Shape;45;p12"/>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lstStyle>
            <a:lvl1pPr indent="0" lvl="0" marL="0" marR="0" rtl="0" algn="r">
              <a:spcBef>
                <a:spcPts val="0"/>
              </a:spcBef>
              <a:spcAft>
                <a:spcPts val="0"/>
              </a:spcAft>
              <a:buClr>
                <a:schemeClr val="dk1"/>
              </a:buClr>
              <a:buSzPts val="1400"/>
              <a:buFont typeface="Cabin"/>
              <a:buNone/>
              <a:defRPr b="0" i="0" sz="3200" u="none" cap="none" strike="noStrike">
                <a:solidFill>
                  <a:schemeClr val="dk1"/>
                </a:solidFill>
                <a:latin typeface="Cabin"/>
                <a:ea typeface="Cabin"/>
                <a:cs typeface="Cabin"/>
                <a:sym typeface="Cabin"/>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46" name="Google Shape;46;p12"/>
          <p:cNvSpPr txBox="1"/>
          <p:nvPr>
            <p:ph idx="1" type="body"/>
          </p:nvPr>
        </p:nvSpPr>
        <p:spPr>
          <a:xfrm>
            <a:off x="457200" y="1006078"/>
            <a:ext cx="8229600" cy="3394472"/>
          </a:xfrm>
          <a:prstGeom prst="rect">
            <a:avLst/>
          </a:prstGeom>
          <a:noFill/>
          <a:ln>
            <a:noFill/>
          </a:ln>
        </p:spPr>
        <p:txBody>
          <a:bodyPr anchorCtr="0" anchor="t" bIns="91425" lIns="91425" spcFirstLastPara="1" rIns="91425" wrap="square" tIns="91425"/>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Gill Sans"/>
                <a:ea typeface="Gill Sans"/>
                <a:cs typeface="Gill Sans"/>
                <a:sym typeface="Gill Sans"/>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Gill Sans"/>
                <a:ea typeface="Gill Sans"/>
                <a:cs typeface="Gill Sans"/>
                <a:sym typeface="Gill Sans"/>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pic>
        <p:nvPicPr>
          <p:cNvPr descr="Screen Shot 2015-12-08 at 7.04.00 PM.png" id="47" name="Google Shape;47;p12"/>
          <p:cNvPicPr preferRelativeResize="0"/>
          <p:nvPr/>
        </p:nvPicPr>
        <p:blipFill rotWithShape="1">
          <a:blip r:embed="rId2">
            <a:alphaModFix/>
          </a:blip>
          <a:srcRect b="0" l="0" r="0" t="0"/>
          <a:stretch/>
        </p:blipFill>
        <p:spPr>
          <a:xfrm>
            <a:off x="782990" y="4763718"/>
            <a:ext cx="3708983" cy="35689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8" r:id="rId3"/>
    <p:sldLayoutId id="2147483659" r:id="rId4"/>
    <p:sldLayoutId id="2147483660" r:id="rId5"/>
    <p:sldLayoutId id="2147483661" r:id="rId6"/>
    <p:sldLayoutId id="2147483662" r:id="rId7"/>
    <p:sldLayoutId id="2147483663" r:id="rId8"/>
    <p:sldLayoutId id="2147483664"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68" name="Shape 68"/>
        <p:cNvGrpSpPr/>
        <p:nvPr/>
      </p:nvGrpSpPr>
      <p:grpSpPr>
        <a:xfrm>
          <a:off x="0" y="0"/>
          <a:ext cx="0" cy="0"/>
          <a:chOff x="0" y="0"/>
          <a:chExt cx="0" cy="0"/>
        </a:xfrm>
      </p:grpSpPr>
      <p:sp>
        <p:nvSpPr>
          <p:cNvPr id="69" name="Google Shape;69;p20"/>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Clr>
                <a:schemeClr val="dk1"/>
              </a:buClr>
              <a:buSzPts val="1400"/>
              <a:buFont typeface="Cabin"/>
              <a:buNone/>
              <a:defRPr b="0" i="0" sz="3200" u="none" cap="none" strike="noStrike">
                <a:solidFill>
                  <a:schemeClr val="dk1"/>
                </a:solidFill>
                <a:latin typeface="Cabin"/>
                <a:ea typeface="Cabin"/>
                <a:cs typeface="Cabin"/>
                <a:sym typeface="Cabin"/>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70" name="Google Shape;70;p20"/>
          <p:cNvSpPr txBox="1"/>
          <p:nvPr>
            <p:ph idx="1" type="body"/>
          </p:nvPr>
        </p:nvSpPr>
        <p:spPr>
          <a:xfrm>
            <a:off x="457200" y="1200151"/>
            <a:ext cx="8229600" cy="3394472"/>
          </a:xfrm>
          <a:prstGeom prst="rect">
            <a:avLst/>
          </a:prstGeom>
          <a:noFill/>
          <a:ln>
            <a:noFill/>
          </a:ln>
        </p:spPr>
        <p:txBody>
          <a:bodyPr anchorCtr="0" anchor="t" bIns="91425" lIns="91425" spcFirstLastPara="1" rIns="91425" wrap="square" tIns="91425"/>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Gill Sans"/>
                <a:ea typeface="Gill Sans"/>
                <a:cs typeface="Gill Sans"/>
                <a:sym typeface="Gill Sans"/>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Gill Sans"/>
                <a:ea typeface="Gill Sans"/>
                <a:cs typeface="Gill Sans"/>
                <a:sym typeface="Gill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Gill Sans"/>
                <a:ea typeface="Gill Sans"/>
                <a:cs typeface="Gill Sans"/>
                <a:sym typeface="Gill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1" name="Google Shape;71;p20"/>
          <p:cNvSpPr txBox="1"/>
          <p:nvPr>
            <p:ph idx="10" type="dt"/>
          </p:nvPr>
        </p:nvSpPr>
        <p:spPr>
          <a:xfrm>
            <a:off x="457200" y="4767264"/>
            <a:ext cx="2133600" cy="27384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2" name="Google Shape;72;p20"/>
          <p:cNvSpPr txBox="1"/>
          <p:nvPr>
            <p:ph idx="11" type="ftr"/>
          </p:nvPr>
        </p:nvSpPr>
        <p:spPr>
          <a:xfrm>
            <a:off x="3124200" y="4767264"/>
            <a:ext cx="2895600" cy="27384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3" name="Google Shape;73;p2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97" name="Shape 97"/>
        <p:cNvGrpSpPr/>
        <p:nvPr/>
      </p:nvGrpSpPr>
      <p:grpSpPr>
        <a:xfrm>
          <a:off x="0" y="0"/>
          <a:ext cx="0" cy="0"/>
          <a:chOff x="0" y="0"/>
          <a:chExt cx="0" cy="0"/>
        </a:xfrm>
      </p:grpSpPr>
      <p:sp>
        <p:nvSpPr>
          <p:cNvPr id="98" name="Google Shape;98;p30"/>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Clr>
                <a:schemeClr val="dk1"/>
              </a:buClr>
              <a:buSzPts val="1400"/>
              <a:buFont typeface="Helvetica Neue"/>
              <a:buNone/>
              <a:defRPr b="0" i="0" sz="3200" u="none" cap="none" strike="noStrike">
                <a:solidFill>
                  <a:schemeClr val="dk1"/>
                </a:solidFill>
                <a:latin typeface="Helvetica Neue"/>
                <a:ea typeface="Helvetica Neue"/>
                <a:cs typeface="Helvetica Neue"/>
                <a:sym typeface="Helvetica Neue"/>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99" name="Google Shape;99;p30"/>
          <p:cNvSpPr txBox="1"/>
          <p:nvPr>
            <p:ph idx="1" type="body"/>
          </p:nvPr>
        </p:nvSpPr>
        <p:spPr>
          <a:xfrm>
            <a:off x="457200" y="1200151"/>
            <a:ext cx="8229600" cy="3394472"/>
          </a:xfrm>
          <a:prstGeom prst="rect">
            <a:avLst/>
          </a:prstGeom>
          <a:noFill/>
          <a:ln>
            <a:noFill/>
          </a:ln>
        </p:spPr>
        <p:txBody>
          <a:bodyPr anchorCtr="0" anchor="t" bIns="91425" lIns="91425" spcFirstLastPara="1" rIns="91425" wrap="square" tIns="91425"/>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Helvetica Neue"/>
                <a:ea typeface="Helvetica Neue"/>
                <a:cs typeface="Helvetica Neue"/>
                <a:sym typeface="Helvetica Neue"/>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Helvetica Neue"/>
                <a:ea typeface="Helvetica Neue"/>
                <a:cs typeface="Helvetica Neue"/>
                <a:sym typeface="Helvetica Neue"/>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Helvetica Neue"/>
                <a:ea typeface="Helvetica Neue"/>
                <a:cs typeface="Helvetica Neue"/>
                <a:sym typeface="Helvetica Neue"/>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Helvetica Neue"/>
                <a:ea typeface="Helvetica Neue"/>
                <a:cs typeface="Helvetica Neue"/>
                <a:sym typeface="Helvetica Neue"/>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Helvetica Neue"/>
                <a:ea typeface="Helvetica Neue"/>
                <a:cs typeface="Helvetica Neue"/>
                <a:sym typeface="Helvetica Neue"/>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00" name="Google Shape;100;p30"/>
          <p:cNvSpPr txBox="1"/>
          <p:nvPr>
            <p:ph idx="10" type="dt"/>
          </p:nvPr>
        </p:nvSpPr>
        <p:spPr>
          <a:xfrm>
            <a:off x="457200" y="4767264"/>
            <a:ext cx="2133600" cy="27384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1" name="Google Shape;101;p30"/>
          <p:cNvSpPr txBox="1"/>
          <p:nvPr>
            <p:ph idx="11" type="ftr"/>
          </p:nvPr>
        </p:nvSpPr>
        <p:spPr>
          <a:xfrm>
            <a:off x="3124200" y="4767264"/>
            <a:ext cx="2895600" cy="27384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 name="Google Shape;102;p3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8" name="Shape 118"/>
        <p:cNvGrpSpPr/>
        <p:nvPr/>
      </p:nvGrpSpPr>
      <p:grpSpPr>
        <a:xfrm>
          <a:off x="0" y="0"/>
          <a:ext cx="0" cy="0"/>
          <a:chOff x="0" y="0"/>
          <a:chExt cx="0" cy="0"/>
        </a:xfrm>
      </p:grpSpPr>
      <p:sp>
        <p:nvSpPr>
          <p:cNvPr id="119" name="Google Shape;119;p36"/>
          <p:cNvSpPr txBox="1"/>
          <p:nvPr>
            <p:ph type="ctrTitle"/>
          </p:nvPr>
        </p:nvSpPr>
        <p:spPr>
          <a:xfrm>
            <a:off x="685800" y="1597832"/>
            <a:ext cx="7772400" cy="1102519"/>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Font typeface="Cabin"/>
              <a:buNone/>
            </a:pPr>
            <a:r>
              <a:rPr b="0" i="0" lang="en-US" sz="3200" u="none" cap="none" strike="noStrike">
                <a:solidFill>
                  <a:schemeClr val="dk1"/>
                </a:solidFill>
                <a:latin typeface="Cabin"/>
                <a:ea typeface="Cabin"/>
                <a:cs typeface="Cabin"/>
                <a:sym typeface="Cabin"/>
              </a:rPr>
              <a:t>Innovation Overview</a:t>
            </a:r>
            <a:endParaRPr b="0" i="0" sz="3200" u="none" cap="none" strike="noStrike">
              <a:solidFill>
                <a:schemeClr val="dk1"/>
              </a:solidFill>
              <a:latin typeface="Cabin"/>
              <a:ea typeface="Cabin"/>
              <a:cs typeface="Cabin"/>
              <a:sym typeface="Cabin"/>
            </a:endParaRPr>
          </a:p>
        </p:txBody>
      </p:sp>
      <p:sp>
        <p:nvSpPr>
          <p:cNvPr id="120" name="Google Shape;120;p36"/>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888888"/>
              </a:buClr>
              <a:buFont typeface="Arial"/>
              <a:buNone/>
            </a:pPr>
            <a:r>
              <a:rPr b="0" i="0" lang="en-US" sz="2800" u="none" cap="none" strike="noStrike">
                <a:solidFill>
                  <a:srgbClr val="888888"/>
                </a:solidFill>
                <a:latin typeface="Gill Sans"/>
                <a:ea typeface="Gill Sans"/>
                <a:cs typeface="Gill Sans"/>
                <a:sym typeface="Gill Sans"/>
              </a:rPr>
              <a:t>Stephanie Shipp</a:t>
            </a:r>
            <a:endParaRPr/>
          </a:p>
          <a:p>
            <a:pPr indent="0" lvl="0" marL="0" marR="0" rtl="0" algn="ctr">
              <a:spcBef>
                <a:spcPts val="560"/>
              </a:spcBef>
              <a:spcAft>
                <a:spcPts val="0"/>
              </a:spcAft>
              <a:buClr>
                <a:srgbClr val="888888"/>
              </a:buClr>
              <a:buFont typeface="Arial"/>
              <a:buNone/>
            </a:pPr>
            <a:r>
              <a:rPr b="0" i="0" lang="en-US" sz="2800" u="none" cap="none" strike="noStrike">
                <a:solidFill>
                  <a:srgbClr val="888888"/>
                </a:solidFill>
                <a:latin typeface="Gill Sans"/>
                <a:ea typeface="Gill Sans"/>
                <a:cs typeface="Gill Sans"/>
                <a:sym typeface="Gill Sans"/>
              </a:rPr>
              <a:t>Gizem Korkmaz</a:t>
            </a:r>
            <a:endParaRPr b="0" i="0" sz="2800" u="none" cap="none" strike="noStrike">
              <a:solidFill>
                <a:srgbClr val="888888"/>
              </a:solidFill>
              <a:latin typeface="Gill Sans"/>
              <a:ea typeface="Gill Sans"/>
              <a:cs typeface="Gill Sans"/>
              <a:sym typeface="Gill Sans"/>
            </a:endParaRPr>
          </a:p>
          <a:p>
            <a:pPr indent="0" lvl="0" marL="0" marR="0" rtl="0" algn="ctr">
              <a:spcBef>
                <a:spcPts val="560"/>
              </a:spcBef>
              <a:spcAft>
                <a:spcPts val="0"/>
              </a:spcAft>
              <a:buClr>
                <a:srgbClr val="888888"/>
              </a:buClr>
              <a:buFont typeface="Arial"/>
              <a:buNone/>
            </a:pPr>
            <a:r>
              <a:rPr b="0" i="0" lang="en-US" sz="2800" u="none" cap="none" strike="noStrike">
                <a:solidFill>
                  <a:srgbClr val="888888"/>
                </a:solidFill>
                <a:latin typeface="Gill Sans"/>
                <a:ea typeface="Gill Sans"/>
                <a:cs typeface="Gill Sans"/>
                <a:sym typeface="Gill Sans"/>
              </a:rPr>
              <a:t>May 31, 2016</a:t>
            </a:r>
            <a:endParaRPr b="0" i="0" sz="2800" u="none" cap="none" strike="noStrike">
              <a:solidFill>
                <a:srgbClr val="888888"/>
              </a:solidFill>
              <a:latin typeface="Gill Sans"/>
              <a:ea typeface="Gill Sans"/>
              <a:cs typeface="Gill Sans"/>
              <a:sym typeface="Gill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5" name="Shape 125"/>
        <p:cNvGrpSpPr/>
        <p:nvPr/>
      </p:nvGrpSpPr>
      <p:grpSpPr>
        <a:xfrm>
          <a:off x="0" y="0"/>
          <a:ext cx="0" cy="0"/>
          <a:chOff x="0" y="0"/>
          <a:chExt cx="0" cy="0"/>
        </a:xfrm>
      </p:grpSpPr>
      <p:sp>
        <p:nvSpPr>
          <p:cNvPr id="126" name="Google Shape;126;p3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Font typeface="Cabin"/>
              <a:buNone/>
            </a:pPr>
            <a:r>
              <a:rPr b="0" i="0" lang="en-US" sz="3200" u="none" cap="none" strike="noStrike">
                <a:solidFill>
                  <a:schemeClr val="dk1"/>
                </a:solidFill>
                <a:latin typeface="Cabin"/>
                <a:ea typeface="Cabin"/>
                <a:cs typeface="Cabin"/>
                <a:sym typeface="Cabin"/>
              </a:rPr>
              <a:t>From Invention to Innovation</a:t>
            </a:r>
            <a:endParaRPr b="0" i="0" sz="3200" u="none" cap="none" strike="noStrike">
              <a:solidFill>
                <a:schemeClr val="dk1"/>
              </a:solidFill>
              <a:latin typeface="Cabin"/>
              <a:ea typeface="Cabin"/>
              <a:cs typeface="Cabin"/>
              <a:sym typeface="Cabin"/>
            </a:endParaRPr>
          </a:p>
        </p:txBody>
      </p:sp>
      <p:sp>
        <p:nvSpPr>
          <p:cNvPr id="127" name="Google Shape;127;p37"/>
          <p:cNvSpPr txBox="1"/>
          <p:nvPr>
            <p:ph idx="1" type="body"/>
          </p:nvPr>
        </p:nvSpPr>
        <p:spPr>
          <a:xfrm>
            <a:off x="457200" y="1006078"/>
            <a:ext cx="8229600" cy="3623072"/>
          </a:xfrm>
          <a:prstGeom prst="rect">
            <a:avLst/>
          </a:prstGeom>
          <a:noFill/>
          <a:ln>
            <a:noFill/>
          </a:ln>
        </p:spPr>
        <p:txBody>
          <a:bodyPr anchorCtr="0" anchor="t" bIns="45700" lIns="91425" spcFirstLastPara="1" rIns="91425" wrap="square" tIns="45700">
            <a:noAutofit/>
          </a:bodyPr>
          <a:lstStyle/>
          <a:p>
            <a:pPr indent="-7938" lvl="0" marL="338138" marR="0" rtl="0" algn="l">
              <a:spcBef>
                <a:spcPts val="0"/>
              </a:spcBef>
              <a:spcAft>
                <a:spcPts val="0"/>
              </a:spcAft>
              <a:buClr>
                <a:schemeClr val="dk1"/>
              </a:buClr>
              <a:buFont typeface="Arial"/>
              <a:buNone/>
            </a:pPr>
            <a:r>
              <a:rPr b="0" i="0" lang="en-US" sz="1800" u="none" cap="none" strike="noStrike">
                <a:solidFill>
                  <a:schemeClr val="dk1"/>
                </a:solidFill>
                <a:latin typeface="Gill Sans"/>
                <a:ea typeface="Gill Sans"/>
                <a:cs typeface="Gill Sans"/>
                <a:sym typeface="Gill Sans"/>
              </a:rPr>
              <a:t>Many definitions  - let’s pick two</a:t>
            </a:r>
            <a:endParaRPr/>
          </a:p>
          <a:p>
            <a:pPr indent="-350838" lvl="0" marL="681038" marR="0" rtl="0" algn="l">
              <a:spcBef>
                <a:spcPts val="360"/>
              </a:spcBef>
              <a:spcAft>
                <a:spcPts val="0"/>
              </a:spcAft>
              <a:buClr>
                <a:schemeClr val="dk1"/>
              </a:buClr>
              <a:buSzPts val="1800"/>
              <a:buFont typeface="Arial"/>
              <a:buChar char="•"/>
            </a:pPr>
            <a:r>
              <a:rPr b="0" i="0" lang="en-US" sz="1800" u="none" cap="none" strike="noStrike">
                <a:solidFill>
                  <a:schemeClr val="dk1"/>
                </a:solidFill>
                <a:latin typeface="Gill Sans"/>
                <a:ea typeface="Gill Sans"/>
                <a:cs typeface="Gill Sans"/>
                <a:sym typeface="Gill Sans"/>
              </a:rPr>
              <a:t>In </a:t>
            </a:r>
            <a:r>
              <a:rPr b="1" i="0" lang="en-US" sz="1800" u="none" cap="none" strike="noStrike">
                <a:solidFill>
                  <a:srgbClr val="800000"/>
                </a:solidFill>
                <a:latin typeface="Gill Sans"/>
                <a:ea typeface="Gill Sans"/>
                <a:cs typeface="Gill Sans"/>
                <a:sym typeface="Gill Sans"/>
              </a:rPr>
              <a:t>OECD’s </a:t>
            </a:r>
            <a:r>
              <a:rPr b="1" i="1" lang="en-US" sz="1800" u="none" cap="none" strike="noStrike">
                <a:solidFill>
                  <a:srgbClr val="800000"/>
                </a:solidFill>
                <a:latin typeface="Gill Sans"/>
                <a:ea typeface="Gill Sans"/>
                <a:cs typeface="Gill Sans"/>
                <a:sym typeface="Gill Sans"/>
              </a:rPr>
              <a:t>Oslo Manual</a:t>
            </a:r>
            <a:r>
              <a:rPr b="0" i="0" lang="en-US" sz="1800" u="none" cap="none" strike="noStrike">
                <a:solidFill>
                  <a:schemeClr val="dk1"/>
                </a:solidFill>
                <a:latin typeface="Gill Sans"/>
                <a:ea typeface="Gill Sans"/>
                <a:cs typeface="Gill Sans"/>
                <a:sym typeface="Gill Sans"/>
              </a:rPr>
              <a:t>, which provides guidelines for collecting and interpreting innovation data, </a:t>
            </a:r>
            <a:r>
              <a:rPr b="1" i="0" lang="en-US" sz="1800" u="none" cap="none" strike="noStrike">
                <a:solidFill>
                  <a:srgbClr val="800000"/>
                </a:solidFill>
                <a:latin typeface="Gill Sans"/>
                <a:ea typeface="Gill Sans"/>
                <a:cs typeface="Gill Sans"/>
                <a:sym typeface="Gill Sans"/>
              </a:rPr>
              <a:t>innovation is defined as the implementation of products or production and delivery processes with new or significantly improved characteristics</a:t>
            </a:r>
            <a:r>
              <a:rPr b="0" i="0" lang="en-US" sz="1800" u="none" cap="none" strike="noStrike">
                <a:solidFill>
                  <a:schemeClr val="dk1"/>
                </a:solidFill>
                <a:latin typeface="Gill Sans"/>
                <a:ea typeface="Gill Sans"/>
                <a:cs typeface="Gill Sans"/>
                <a:sym typeface="Gill Sans"/>
              </a:rPr>
              <a:t>. </a:t>
            </a:r>
            <a:endParaRPr b="0" i="0" sz="1800" u="none" cap="none" strike="noStrike">
              <a:solidFill>
                <a:schemeClr val="dk1"/>
              </a:solidFill>
              <a:latin typeface="Gill Sans"/>
              <a:ea typeface="Gill Sans"/>
              <a:cs typeface="Gill Sans"/>
              <a:sym typeface="Gill Sans"/>
            </a:endParaRPr>
          </a:p>
          <a:p>
            <a:pPr indent="-292100" lvl="1" marL="1028700" marR="0" rtl="0" algn="l">
              <a:spcBef>
                <a:spcPts val="360"/>
              </a:spcBef>
              <a:spcAft>
                <a:spcPts val="0"/>
              </a:spcAft>
              <a:buClr>
                <a:schemeClr val="dk1"/>
              </a:buClr>
              <a:buSzPts val="1800"/>
              <a:buFont typeface="Arial"/>
              <a:buChar char="–"/>
            </a:pPr>
            <a:r>
              <a:rPr b="0" i="0" lang="en-US" sz="1800" u="none" cap="none" strike="noStrike">
                <a:solidFill>
                  <a:schemeClr val="dk1"/>
                </a:solidFill>
                <a:latin typeface="Gill Sans"/>
                <a:ea typeface="Gill Sans"/>
                <a:cs typeface="Gill Sans"/>
                <a:sym typeface="Gill Sans"/>
              </a:rPr>
              <a:t>The third edition of the </a:t>
            </a:r>
            <a:r>
              <a:rPr b="0" i="1" lang="en-US" sz="1800" u="none" cap="none" strike="noStrike">
                <a:solidFill>
                  <a:schemeClr val="dk1"/>
                </a:solidFill>
                <a:latin typeface="Gill Sans"/>
                <a:ea typeface="Gill Sans"/>
                <a:cs typeface="Gill Sans"/>
                <a:sym typeface="Gill Sans"/>
              </a:rPr>
              <a:t>Oslo Manual </a:t>
            </a:r>
            <a:r>
              <a:rPr b="1" i="0" lang="en-US" sz="1800" u="none" cap="none" strike="noStrike">
                <a:solidFill>
                  <a:srgbClr val="800000"/>
                </a:solidFill>
                <a:latin typeface="Gill Sans"/>
                <a:ea typeface="Gill Sans"/>
                <a:cs typeface="Gill Sans"/>
                <a:sym typeface="Gill Sans"/>
              </a:rPr>
              <a:t>extends the definition to include new organizational methods in business practices, workplace organization, or external relations</a:t>
            </a:r>
            <a:r>
              <a:rPr b="0" i="0" lang="en-US" sz="1800" u="none" cap="none" strike="noStrike">
                <a:solidFill>
                  <a:schemeClr val="dk1"/>
                </a:solidFill>
                <a:latin typeface="Gill Sans"/>
                <a:ea typeface="Gill Sans"/>
                <a:cs typeface="Gill Sans"/>
                <a:sym typeface="Gill Sans"/>
              </a:rPr>
              <a:t> (OECD 2005).</a:t>
            </a:r>
            <a:endParaRPr b="0" i="0" sz="1800" u="none" cap="none" strike="noStrike">
              <a:solidFill>
                <a:schemeClr val="dk1"/>
              </a:solidFill>
              <a:latin typeface="Gill Sans"/>
              <a:ea typeface="Gill Sans"/>
              <a:cs typeface="Gill Sans"/>
              <a:sym typeface="Gill Sans"/>
            </a:endParaRPr>
          </a:p>
          <a:p>
            <a:pPr indent="-350838" lvl="0" marL="681038" marR="0" rtl="0" algn="l">
              <a:spcBef>
                <a:spcPts val="360"/>
              </a:spcBef>
              <a:spcAft>
                <a:spcPts val="0"/>
              </a:spcAft>
              <a:buClr>
                <a:schemeClr val="dk1"/>
              </a:buClr>
              <a:buSzPts val="1800"/>
              <a:buFont typeface="Arial"/>
              <a:buChar char="•"/>
            </a:pPr>
            <a:r>
              <a:rPr b="0" i="0" lang="en-US" sz="1800" u="none" cap="none" strike="noStrike">
                <a:solidFill>
                  <a:schemeClr val="dk1"/>
                </a:solidFill>
                <a:latin typeface="Gill Sans"/>
                <a:ea typeface="Gill Sans"/>
                <a:cs typeface="Gill Sans"/>
                <a:sym typeface="Gill Sans"/>
              </a:rPr>
              <a:t>DOC defines innovation as the design, development, and implementation of new or altered products, services, processes, organizational structures, and business models to create value for the customer and financial returns for the firm practicing innovation (DOC 2008).</a:t>
            </a:r>
            <a:endParaRPr/>
          </a:p>
          <a:p>
            <a:pPr indent="-7938" lvl="0" marL="338138" marR="0" rtl="0" algn="l">
              <a:spcBef>
                <a:spcPts val="480"/>
              </a:spcBef>
              <a:spcAft>
                <a:spcPts val="0"/>
              </a:spcAft>
              <a:buClr>
                <a:schemeClr val="dk1"/>
              </a:buClr>
              <a:buFont typeface="Arial"/>
              <a:buNone/>
            </a:pPr>
            <a:r>
              <a:t/>
            </a:r>
            <a:endParaRPr b="0" i="0" sz="2400" u="none" cap="none" strike="noStrike">
              <a:solidFill>
                <a:schemeClr val="dk1"/>
              </a:solidFill>
              <a:latin typeface="Gill Sans"/>
              <a:ea typeface="Gill Sans"/>
              <a:cs typeface="Gill Sans"/>
              <a:sym typeface="Gill Sans"/>
            </a:endParaRPr>
          </a:p>
          <a:p>
            <a:pPr indent="-7938" lvl="0" marL="338138" marR="0" rtl="0" algn="l">
              <a:spcBef>
                <a:spcPts val="480"/>
              </a:spcBef>
              <a:spcAft>
                <a:spcPts val="0"/>
              </a:spcAft>
              <a:buClr>
                <a:schemeClr val="dk1"/>
              </a:buClr>
              <a:buFont typeface="Arial"/>
              <a:buNone/>
            </a:pPr>
            <a:r>
              <a:t/>
            </a:r>
            <a:endParaRPr b="0" i="0" sz="2400" u="none" cap="none" strike="noStrike">
              <a:solidFill>
                <a:schemeClr val="dk1"/>
              </a:solidFill>
              <a:latin typeface="Gill Sans"/>
              <a:ea typeface="Gill Sans"/>
              <a:cs typeface="Gill Sans"/>
              <a:sym typeface="Gill Sans"/>
            </a:endParaRPr>
          </a:p>
          <a:p>
            <a:pPr indent="-7938" lvl="0" marL="338138" marR="0" rtl="0" algn="l">
              <a:spcBef>
                <a:spcPts val="480"/>
              </a:spcBef>
              <a:spcAft>
                <a:spcPts val="0"/>
              </a:spcAft>
              <a:buClr>
                <a:schemeClr val="dk1"/>
              </a:buClr>
              <a:buFont typeface="Arial"/>
              <a:buNone/>
            </a:pPr>
            <a:r>
              <a:t/>
            </a:r>
            <a:endParaRPr b="0" i="0" sz="2400" u="none" cap="none" strike="noStrike">
              <a:solidFill>
                <a:schemeClr val="dk1"/>
              </a:solidFill>
              <a:latin typeface="Gill Sans"/>
              <a:ea typeface="Gill Sans"/>
              <a:cs typeface="Gill Sans"/>
              <a:sym typeface="Gill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1" name="Shape 131"/>
        <p:cNvGrpSpPr/>
        <p:nvPr/>
      </p:nvGrpSpPr>
      <p:grpSpPr>
        <a:xfrm>
          <a:off x="0" y="0"/>
          <a:ext cx="0" cy="0"/>
          <a:chOff x="0" y="0"/>
          <a:chExt cx="0" cy="0"/>
        </a:xfrm>
      </p:grpSpPr>
      <p:sp>
        <p:nvSpPr>
          <p:cNvPr id="132" name="Google Shape;132;p38"/>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Font typeface="Cabin"/>
              <a:buNone/>
            </a:pPr>
            <a:r>
              <a:rPr b="0" i="0" lang="en-US" sz="3200" u="none" cap="none" strike="noStrike">
                <a:solidFill>
                  <a:schemeClr val="dk1"/>
                </a:solidFill>
                <a:latin typeface="Cabin"/>
                <a:ea typeface="Cabin"/>
                <a:cs typeface="Cabin"/>
                <a:sym typeface="Cabin"/>
              </a:rPr>
              <a:t>Generations of Innovation Metrics – What will be the next generation?</a:t>
            </a:r>
            <a:endParaRPr b="0" i="0" sz="3200" u="none" cap="none" strike="noStrike">
              <a:solidFill>
                <a:schemeClr val="dk1"/>
              </a:solidFill>
              <a:latin typeface="Cabin"/>
              <a:ea typeface="Cabin"/>
              <a:cs typeface="Cabin"/>
              <a:sym typeface="Cabin"/>
            </a:endParaRPr>
          </a:p>
        </p:txBody>
      </p:sp>
      <p:sp>
        <p:nvSpPr>
          <p:cNvPr id="133" name="Google Shape;133;p38"/>
          <p:cNvSpPr txBox="1"/>
          <p:nvPr>
            <p:ph idx="1" type="body"/>
          </p:nvPr>
        </p:nvSpPr>
        <p:spPr>
          <a:xfrm>
            <a:off x="457200" y="1006078"/>
            <a:ext cx="8229600" cy="3394472"/>
          </a:xfrm>
          <a:prstGeom prst="rect">
            <a:avLst/>
          </a:prstGeom>
          <a:noFill/>
          <a:ln>
            <a:noFill/>
          </a:ln>
        </p:spPr>
        <p:txBody>
          <a:bodyPr anchorCtr="0" anchor="t" bIns="45700" lIns="91425" spcFirstLastPara="1" rIns="91425" wrap="square" tIns="45700">
            <a:noAutofit/>
          </a:bodyPr>
          <a:lstStyle/>
          <a:p>
            <a:pPr indent="-7938" lvl="0" marL="338138" marR="0" rtl="0" algn="l">
              <a:spcBef>
                <a:spcPts val="0"/>
              </a:spcBef>
              <a:spcAft>
                <a:spcPts val="0"/>
              </a:spcAft>
              <a:buClr>
                <a:srgbClr val="800000"/>
              </a:buClr>
              <a:buFont typeface="Arial"/>
              <a:buNone/>
            </a:pPr>
            <a:r>
              <a:rPr b="1" i="1" lang="en-US" sz="2000" u="none" cap="none" strike="noStrike">
                <a:solidFill>
                  <a:srgbClr val="800000"/>
                </a:solidFill>
                <a:latin typeface="Gill Sans"/>
                <a:ea typeface="Gill Sans"/>
                <a:cs typeface="Gill Sans"/>
                <a:sym typeface="Gill Sans"/>
              </a:rPr>
              <a:t>First generation</a:t>
            </a:r>
            <a:r>
              <a:rPr b="1" i="0" lang="en-US" sz="2000" u="none" cap="none" strike="noStrike">
                <a:solidFill>
                  <a:srgbClr val="800000"/>
                </a:solidFill>
                <a:latin typeface="Gill Sans"/>
                <a:ea typeface="Gill Sans"/>
                <a:cs typeface="Gill Sans"/>
                <a:sym typeface="Gill Sans"/>
              </a:rPr>
              <a:t> </a:t>
            </a:r>
            <a:r>
              <a:rPr b="0" i="0" lang="en-US" sz="2000" u="none" cap="none" strike="noStrike">
                <a:solidFill>
                  <a:schemeClr val="dk1"/>
                </a:solidFill>
                <a:latin typeface="Gill Sans"/>
                <a:ea typeface="Gill Sans"/>
                <a:cs typeface="Gill Sans"/>
                <a:sym typeface="Gill Sans"/>
              </a:rPr>
              <a:t>metrics reflect a linear conception of innovation focusing on</a:t>
            </a:r>
            <a:endParaRPr/>
          </a:p>
          <a:p>
            <a:pPr indent="-7938" lvl="0" marL="338138" marR="0" rtl="0" algn="l">
              <a:spcBef>
                <a:spcPts val="400"/>
              </a:spcBef>
              <a:spcAft>
                <a:spcPts val="0"/>
              </a:spcAft>
              <a:buClr>
                <a:schemeClr val="dk1"/>
              </a:buClr>
              <a:buFont typeface="Arial"/>
              <a:buNone/>
            </a:pPr>
            <a:r>
              <a:rPr b="0" i="1" lang="en-US" sz="2000" u="none" cap="none" strike="noStrike">
                <a:solidFill>
                  <a:schemeClr val="dk1"/>
                </a:solidFill>
                <a:latin typeface="Gill Sans"/>
                <a:ea typeface="Gill Sans"/>
                <a:cs typeface="Gill Sans"/>
                <a:sym typeface="Gill Sans"/>
              </a:rPr>
              <a:t>inputs </a:t>
            </a:r>
            <a:r>
              <a:rPr b="0" i="0" lang="en-US" sz="2000" u="none" cap="none" strike="noStrike">
                <a:solidFill>
                  <a:schemeClr val="dk1"/>
                </a:solidFill>
                <a:latin typeface="Gill Sans"/>
                <a:ea typeface="Gill Sans"/>
                <a:cs typeface="Gill Sans"/>
                <a:sym typeface="Gill Sans"/>
              </a:rPr>
              <a:t>such as R&amp;D investment.</a:t>
            </a:r>
            <a:endParaRPr/>
          </a:p>
          <a:p>
            <a:pPr indent="-7938" lvl="0" marL="338138" marR="0" rtl="0" algn="l">
              <a:spcBef>
                <a:spcPts val="400"/>
              </a:spcBef>
              <a:spcAft>
                <a:spcPts val="0"/>
              </a:spcAft>
              <a:buClr>
                <a:srgbClr val="800000"/>
              </a:buClr>
              <a:buFont typeface="Arial"/>
              <a:buNone/>
            </a:pPr>
            <a:r>
              <a:rPr b="1" i="1" lang="en-US" sz="2000" u="none" cap="none" strike="noStrike">
                <a:solidFill>
                  <a:srgbClr val="800000"/>
                </a:solidFill>
                <a:latin typeface="Gill Sans"/>
                <a:ea typeface="Gill Sans"/>
                <a:cs typeface="Gill Sans"/>
                <a:sym typeface="Gill Sans"/>
              </a:rPr>
              <a:t>Second generation </a:t>
            </a:r>
            <a:r>
              <a:rPr b="0" i="0" lang="en-US" sz="2000" u="none" cap="none" strike="noStrike">
                <a:solidFill>
                  <a:schemeClr val="dk1"/>
                </a:solidFill>
                <a:latin typeface="Gill Sans"/>
                <a:ea typeface="Gill Sans"/>
                <a:cs typeface="Gill Sans"/>
                <a:sym typeface="Gill Sans"/>
              </a:rPr>
              <a:t>complements input indicators by accounting for the</a:t>
            </a:r>
            <a:endParaRPr/>
          </a:p>
          <a:p>
            <a:pPr indent="-7938" lvl="0" marL="338138" marR="0" rtl="0" algn="l">
              <a:spcBef>
                <a:spcPts val="400"/>
              </a:spcBef>
              <a:spcAft>
                <a:spcPts val="0"/>
              </a:spcAft>
              <a:buClr>
                <a:schemeClr val="dk1"/>
              </a:buClr>
              <a:buFont typeface="Arial"/>
              <a:buNone/>
            </a:pPr>
            <a:r>
              <a:rPr b="0" i="1" lang="en-US" sz="2000" u="none" cap="none" strike="noStrike">
                <a:solidFill>
                  <a:schemeClr val="dk1"/>
                </a:solidFill>
                <a:latin typeface="Gill Sans"/>
                <a:ea typeface="Gill Sans"/>
                <a:cs typeface="Gill Sans"/>
                <a:sym typeface="Gill Sans"/>
              </a:rPr>
              <a:t>intermediate outputs </a:t>
            </a:r>
            <a:r>
              <a:rPr b="0" i="0" lang="en-US" sz="2000" u="none" cap="none" strike="noStrike">
                <a:solidFill>
                  <a:schemeClr val="dk1"/>
                </a:solidFill>
                <a:latin typeface="Gill Sans"/>
                <a:ea typeface="Gill Sans"/>
                <a:cs typeface="Gill Sans"/>
                <a:sym typeface="Gill Sans"/>
              </a:rPr>
              <a:t>of science and technology (S&amp;T) activities.</a:t>
            </a:r>
            <a:endParaRPr b="0" i="1" sz="2000" u="none" cap="none" strike="noStrike">
              <a:solidFill>
                <a:schemeClr val="dk1"/>
              </a:solidFill>
              <a:latin typeface="Gill Sans"/>
              <a:ea typeface="Gill Sans"/>
              <a:cs typeface="Gill Sans"/>
              <a:sym typeface="Gill Sans"/>
            </a:endParaRPr>
          </a:p>
          <a:p>
            <a:pPr indent="-7938" lvl="0" marL="338138" marR="0" rtl="0" algn="l">
              <a:spcBef>
                <a:spcPts val="400"/>
              </a:spcBef>
              <a:spcAft>
                <a:spcPts val="0"/>
              </a:spcAft>
              <a:buClr>
                <a:srgbClr val="800000"/>
              </a:buClr>
              <a:buFont typeface="Arial"/>
              <a:buNone/>
            </a:pPr>
            <a:r>
              <a:rPr b="1" i="1" lang="en-US" sz="2000" u="none" cap="none" strike="noStrike">
                <a:solidFill>
                  <a:srgbClr val="800000"/>
                </a:solidFill>
                <a:latin typeface="Gill Sans"/>
                <a:ea typeface="Gill Sans"/>
                <a:cs typeface="Gill Sans"/>
                <a:sym typeface="Gill Sans"/>
              </a:rPr>
              <a:t>Third generation </a:t>
            </a:r>
            <a:r>
              <a:rPr b="0" i="0" lang="en-US" sz="2000" u="none" cap="none" strike="noStrike">
                <a:solidFill>
                  <a:schemeClr val="dk1"/>
                </a:solidFill>
                <a:latin typeface="Gill Sans"/>
                <a:ea typeface="Gill Sans"/>
                <a:cs typeface="Gill Sans"/>
                <a:sym typeface="Gill Sans"/>
              </a:rPr>
              <a:t>metrics focus on a richer set of </a:t>
            </a:r>
            <a:r>
              <a:rPr b="0" i="1" lang="en-US" sz="2000" u="none" cap="none" strike="noStrike">
                <a:solidFill>
                  <a:schemeClr val="dk1"/>
                </a:solidFill>
                <a:latin typeface="Gill Sans"/>
                <a:ea typeface="Gill Sans"/>
                <a:cs typeface="Gill Sans"/>
                <a:sym typeface="Gill Sans"/>
              </a:rPr>
              <a:t>innovation indicators and indexes </a:t>
            </a:r>
            <a:r>
              <a:rPr b="0" i="0" lang="en-US" sz="2000" u="none" cap="none" strike="noStrike">
                <a:solidFill>
                  <a:schemeClr val="dk1"/>
                </a:solidFill>
                <a:latin typeface="Gill Sans"/>
                <a:ea typeface="Gill Sans"/>
                <a:cs typeface="Gill Sans"/>
                <a:sym typeface="Gill Sans"/>
              </a:rPr>
              <a:t>based on surveys and the integration of publicly available data.</a:t>
            </a:r>
            <a:endParaRPr/>
          </a:p>
          <a:p>
            <a:pPr indent="-7938" lvl="0" marL="338138" marR="0" rtl="0" algn="l">
              <a:spcBef>
                <a:spcPts val="400"/>
              </a:spcBef>
              <a:spcAft>
                <a:spcPts val="0"/>
              </a:spcAft>
              <a:buClr>
                <a:srgbClr val="800000"/>
              </a:buClr>
              <a:buFont typeface="Arial"/>
              <a:buNone/>
            </a:pPr>
            <a:r>
              <a:rPr b="1" i="1" lang="en-US" sz="2000" u="none" cap="none" strike="noStrike">
                <a:solidFill>
                  <a:srgbClr val="800000"/>
                </a:solidFill>
                <a:latin typeface="Gill Sans"/>
                <a:ea typeface="Gill Sans"/>
                <a:cs typeface="Gill Sans"/>
                <a:sym typeface="Gill Sans"/>
              </a:rPr>
              <a:t>Fourth generation </a:t>
            </a:r>
            <a:r>
              <a:rPr b="0" i="0" lang="en-US" sz="2000" u="none" cap="none" strike="noStrike">
                <a:solidFill>
                  <a:schemeClr val="dk1"/>
                </a:solidFill>
                <a:latin typeface="Gill Sans"/>
                <a:ea typeface="Gill Sans"/>
                <a:cs typeface="Gill Sans"/>
                <a:sym typeface="Gill Sans"/>
              </a:rPr>
              <a:t>metrics, grounded in a knowledge-based networked economy, remain ad hoc and are the subject of measurement.</a:t>
            </a:r>
            <a:endParaRPr/>
          </a:p>
          <a:p>
            <a:pPr indent="-7938" lvl="0" marL="338138" marR="0" rtl="0" algn="ctr">
              <a:spcBef>
                <a:spcPts val="400"/>
              </a:spcBef>
              <a:spcAft>
                <a:spcPts val="0"/>
              </a:spcAft>
              <a:buClr>
                <a:srgbClr val="800000"/>
              </a:buClr>
              <a:buFont typeface="Arial"/>
              <a:buNone/>
            </a:pPr>
            <a:r>
              <a:rPr b="1" i="1" lang="en-US" sz="2000" u="none" cap="none" strike="noStrike">
                <a:solidFill>
                  <a:srgbClr val="800000"/>
                </a:solidFill>
                <a:latin typeface="Gill Sans"/>
                <a:ea typeface="Gill Sans"/>
                <a:cs typeface="Gill Sans"/>
                <a:sym typeface="Gill Sans"/>
              </a:rPr>
              <a:t>What will be the fifth generation?</a:t>
            </a:r>
            <a:endParaRPr b="1" i="1" sz="2000" u="none" cap="none" strike="noStrike">
              <a:solidFill>
                <a:srgbClr val="800000"/>
              </a:solidFill>
              <a:latin typeface="Gill Sans"/>
              <a:ea typeface="Gill Sans"/>
              <a:cs typeface="Gill Sans"/>
              <a:sym typeface="Gill Sans"/>
            </a:endParaRPr>
          </a:p>
          <a:p>
            <a:pPr indent="-7938" lvl="0" marL="338138" marR="0" rtl="0" algn="l">
              <a:spcBef>
                <a:spcPts val="400"/>
              </a:spcBef>
              <a:spcAft>
                <a:spcPts val="0"/>
              </a:spcAft>
              <a:buClr>
                <a:schemeClr val="dk1"/>
              </a:buClr>
              <a:buFont typeface="Arial"/>
              <a:buNone/>
            </a:pPr>
            <a:r>
              <a:t/>
            </a:r>
            <a:endParaRPr b="0" i="0" sz="2000" u="none" cap="none" strike="noStrike">
              <a:solidFill>
                <a:schemeClr val="dk1"/>
              </a:solidFill>
              <a:latin typeface="Gill Sans"/>
              <a:ea typeface="Gill Sans"/>
              <a:cs typeface="Gill Sans"/>
              <a:sym typeface="Gill Sans"/>
            </a:endParaRPr>
          </a:p>
        </p:txBody>
      </p:sp>
      <p:sp>
        <p:nvSpPr>
          <p:cNvPr id="134" name="Google Shape;134;p38"/>
          <p:cNvSpPr txBox="1"/>
          <p:nvPr/>
        </p:nvSpPr>
        <p:spPr>
          <a:xfrm>
            <a:off x="762000" y="4705350"/>
            <a:ext cx="4081967" cy="4001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2000" u="none" cap="none" strike="noStrike">
                <a:solidFill>
                  <a:schemeClr val="dk1"/>
                </a:solidFill>
                <a:latin typeface="Gill Sans"/>
                <a:ea typeface="Gill Sans"/>
                <a:cs typeface="Gill Sans"/>
                <a:sym typeface="Gill Sans"/>
              </a:rPr>
              <a:t>Source: </a:t>
            </a:r>
            <a:r>
              <a:rPr b="0" i="0" lang="en-US" sz="2000" u="none" cap="none" strike="noStrike">
                <a:solidFill>
                  <a:schemeClr val="dk1"/>
                </a:solidFill>
                <a:latin typeface="Calibri"/>
                <a:ea typeface="Calibri"/>
                <a:cs typeface="Calibri"/>
                <a:sym typeface="Calibri"/>
              </a:rPr>
              <a:t>Milbergs and Vonortas (2004) </a:t>
            </a:r>
            <a:endParaRPr sz="2000">
              <a:solidFill>
                <a:schemeClr val="dk1"/>
              </a:solidFill>
              <a:latin typeface="Gill Sans"/>
              <a:ea typeface="Gill Sans"/>
              <a:cs typeface="Gill Sans"/>
              <a:sym typeface="Gill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9" name="Shape 139"/>
        <p:cNvGrpSpPr/>
        <p:nvPr/>
      </p:nvGrpSpPr>
      <p:grpSpPr>
        <a:xfrm>
          <a:off x="0" y="0"/>
          <a:ext cx="0" cy="0"/>
          <a:chOff x="0" y="0"/>
          <a:chExt cx="0" cy="0"/>
        </a:xfrm>
      </p:grpSpPr>
      <p:sp>
        <p:nvSpPr>
          <p:cNvPr id="140" name="Google Shape;140;p39"/>
          <p:cNvSpPr txBox="1"/>
          <p:nvPr>
            <p:ph type="title"/>
          </p:nvPr>
        </p:nvSpPr>
        <p:spPr>
          <a:xfrm>
            <a:off x="0" y="133350"/>
            <a:ext cx="9144000" cy="85725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Font typeface="Cabin"/>
              <a:buNone/>
            </a:pPr>
            <a:r>
              <a:rPr b="0" i="0" lang="en-US" sz="3200" u="none" cap="none" strike="noStrike">
                <a:solidFill>
                  <a:schemeClr val="dk1"/>
                </a:solidFill>
                <a:latin typeface="Cabin"/>
                <a:ea typeface="Cabin"/>
                <a:cs typeface="Cabin"/>
                <a:sym typeface="Cabin"/>
              </a:rPr>
              <a:t>Innovation – Tangible and Intangible Inputs &amp; Outputs</a:t>
            </a:r>
            <a:endParaRPr b="0" i="0" sz="3200" u="none" cap="none" strike="noStrike">
              <a:solidFill>
                <a:schemeClr val="dk1"/>
              </a:solidFill>
              <a:latin typeface="Cabin"/>
              <a:ea typeface="Cabin"/>
              <a:cs typeface="Cabin"/>
              <a:sym typeface="Cabin"/>
            </a:endParaRPr>
          </a:p>
        </p:txBody>
      </p:sp>
      <p:pic>
        <p:nvPicPr>
          <p:cNvPr descr="Screen Shot 2016-05-31 at 4.39.06 AM.png" id="141" name="Google Shape;141;p39"/>
          <p:cNvPicPr preferRelativeResize="0"/>
          <p:nvPr>
            <p:ph idx="1" type="body"/>
          </p:nvPr>
        </p:nvPicPr>
        <p:blipFill rotWithShape="1">
          <a:blip r:embed="rId3">
            <a:alphaModFix/>
          </a:blip>
          <a:srcRect b="4232" l="0" r="0" t="4232"/>
          <a:stretch/>
        </p:blipFill>
        <p:spPr>
          <a:xfrm>
            <a:off x="457200" y="1158478"/>
            <a:ext cx="8229600" cy="347067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5" name="Shape 145"/>
        <p:cNvGrpSpPr/>
        <p:nvPr/>
      </p:nvGrpSpPr>
      <p:grpSpPr>
        <a:xfrm>
          <a:off x="0" y="0"/>
          <a:ext cx="0" cy="0"/>
          <a:chOff x="0" y="0"/>
          <a:chExt cx="0" cy="0"/>
        </a:xfrm>
      </p:grpSpPr>
      <p:sp>
        <p:nvSpPr>
          <p:cNvPr id="146" name="Google Shape;146;p4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Font typeface="Cabin"/>
              <a:buNone/>
            </a:pPr>
            <a:r>
              <a:rPr b="0" i="0" lang="en-US" sz="3200" u="none" cap="none" strike="noStrike">
                <a:solidFill>
                  <a:schemeClr val="dk1"/>
                </a:solidFill>
                <a:latin typeface="Cabin"/>
                <a:ea typeface="Cabin"/>
                <a:cs typeface="Cabin"/>
                <a:sym typeface="Cabin"/>
              </a:rPr>
              <a:t>Measuring Inputs to Business Innovation</a:t>
            </a:r>
            <a:endParaRPr b="0" i="0" sz="3200" u="none" cap="none" strike="noStrike">
              <a:solidFill>
                <a:schemeClr val="dk1"/>
              </a:solidFill>
              <a:latin typeface="Cabin"/>
              <a:ea typeface="Cabin"/>
              <a:cs typeface="Cabin"/>
              <a:sym typeface="Cabin"/>
            </a:endParaRPr>
          </a:p>
        </p:txBody>
      </p:sp>
      <p:sp>
        <p:nvSpPr>
          <p:cNvPr id="147" name="Google Shape;147;p40"/>
          <p:cNvSpPr txBox="1"/>
          <p:nvPr>
            <p:ph idx="1" type="body"/>
          </p:nvPr>
        </p:nvSpPr>
        <p:spPr>
          <a:xfrm>
            <a:off x="152400" y="1006078"/>
            <a:ext cx="8534400" cy="3394472"/>
          </a:xfrm>
          <a:prstGeom prst="rect">
            <a:avLst/>
          </a:prstGeom>
          <a:noFill/>
          <a:ln>
            <a:noFill/>
          </a:ln>
        </p:spPr>
        <p:txBody>
          <a:bodyPr anchorCtr="0" anchor="t" bIns="45700" lIns="91425" spcFirstLastPara="1" rIns="91425" wrap="square" tIns="45700">
            <a:noAutofit/>
          </a:bodyPr>
          <a:lstStyle/>
          <a:p>
            <a:pPr indent="-350838" lvl="0" marL="681038" marR="0" rtl="0" algn="l">
              <a:spcBef>
                <a:spcPts val="0"/>
              </a:spcBef>
              <a:spcAft>
                <a:spcPts val="0"/>
              </a:spcAft>
              <a:buClr>
                <a:srgbClr val="800000"/>
              </a:buClr>
              <a:buSzPts val="2000"/>
              <a:buFont typeface="Arial"/>
              <a:buChar char="•"/>
            </a:pPr>
            <a:r>
              <a:rPr b="1" i="1" lang="en-US" sz="2000" u="none" cap="none" strike="noStrike">
                <a:solidFill>
                  <a:srgbClr val="800000"/>
                </a:solidFill>
                <a:latin typeface="Gill Sans"/>
                <a:ea typeface="Gill Sans"/>
                <a:cs typeface="Gill Sans"/>
                <a:sym typeface="Gill Sans"/>
              </a:rPr>
              <a:t>Human capital </a:t>
            </a:r>
            <a:r>
              <a:rPr b="0" i="0" lang="en-US" sz="2000" u="none" cap="none" strike="noStrike">
                <a:solidFill>
                  <a:schemeClr val="dk1"/>
                </a:solidFill>
                <a:latin typeface="Gill Sans"/>
                <a:ea typeface="Gill Sans"/>
                <a:cs typeface="Gill Sans"/>
                <a:sym typeface="Gill Sans"/>
              </a:rPr>
              <a:t>refers to the knowledge, skills, and competencies of individuals.</a:t>
            </a:r>
            <a:endParaRPr/>
          </a:p>
          <a:p>
            <a:pPr indent="-350838" lvl="0" marL="681038" marR="0" rtl="0" algn="l">
              <a:spcBef>
                <a:spcPts val="400"/>
              </a:spcBef>
              <a:spcAft>
                <a:spcPts val="0"/>
              </a:spcAft>
              <a:buClr>
                <a:srgbClr val="800000"/>
              </a:buClr>
              <a:buSzPts val="2000"/>
              <a:buFont typeface="Arial"/>
              <a:buChar char="•"/>
            </a:pPr>
            <a:r>
              <a:rPr b="1" i="1" lang="en-US" sz="2000" u="none" cap="none" strike="noStrike">
                <a:solidFill>
                  <a:srgbClr val="800000"/>
                </a:solidFill>
                <a:latin typeface="Gill Sans"/>
                <a:ea typeface="Gill Sans"/>
                <a:cs typeface="Gill Sans"/>
                <a:sym typeface="Gill Sans"/>
              </a:rPr>
              <a:t>Intellectual capital </a:t>
            </a:r>
            <a:r>
              <a:rPr b="0" i="0" lang="en-US" sz="2000" u="none" cap="none" strike="noStrike">
                <a:solidFill>
                  <a:schemeClr val="dk1"/>
                </a:solidFill>
                <a:latin typeface="Gill Sans"/>
                <a:ea typeface="Gill Sans"/>
                <a:cs typeface="Gill Sans"/>
                <a:sym typeface="Gill Sans"/>
              </a:rPr>
              <a:t>refers to the knowledge and technological capabilities of the firm, such as intellectual property (patents, copyrights, and trade secrets), databases, software, and equipment that lead to specialized technological capabilities, and including human capital, organizational knowledge, and information stored in institutional databases.</a:t>
            </a:r>
            <a:endParaRPr/>
          </a:p>
          <a:p>
            <a:pPr indent="-350838" lvl="0" marL="681038" marR="0" rtl="0" algn="l">
              <a:spcBef>
                <a:spcPts val="400"/>
              </a:spcBef>
              <a:spcAft>
                <a:spcPts val="0"/>
              </a:spcAft>
              <a:buClr>
                <a:srgbClr val="800000"/>
              </a:buClr>
              <a:buSzPts val="2000"/>
              <a:buFont typeface="Arial"/>
              <a:buChar char="•"/>
            </a:pPr>
            <a:r>
              <a:rPr b="1" i="1" lang="en-US" sz="2000" u="none" cap="none" strike="noStrike">
                <a:solidFill>
                  <a:srgbClr val="800000"/>
                </a:solidFill>
                <a:latin typeface="Gill Sans"/>
                <a:ea typeface="Gill Sans"/>
                <a:cs typeface="Gill Sans"/>
                <a:sym typeface="Gill Sans"/>
              </a:rPr>
              <a:t>Organizational or structural capital </a:t>
            </a:r>
            <a:r>
              <a:rPr b="0" i="0" lang="en-US" sz="2000" u="none" cap="none" strike="noStrike">
                <a:solidFill>
                  <a:schemeClr val="dk1"/>
                </a:solidFill>
                <a:latin typeface="Gill Sans"/>
                <a:ea typeface="Gill Sans"/>
                <a:cs typeface="Gill Sans"/>
                <a:sym typeface="Gill Sans"/>
              </a:rPr>
              <a:t>encompasses processes, databases, software, and organizational competencies.</a:t>
            </a:r>
            <a:endParaRPr/>
          </a:p>
          <a:p>
            <a:pPr indent="-350838" lvl="0" marL="681038" marR="0" rtl="0" algn="l">
              <a:spcBef>
                <a:spcPts val="400"/>
              </a:spcBef>
              <a:spcAft>
                <a:spcPts val="0"/>
              </a:spcAft>
              <a:buClr>
                <a:srgbClr val="800000"/>
              </a:buClr>
              <a:buSzPts val="2000"/>
              <a:buFont typeface="Arial"/>
              <a:buChar char="•"/>
            </a:pPr>
            <a:r>
              <a:rPr b="1" i="1" lang="en-US" sz="2000" u="none" cap="none" strike="noStrike">
                <a:solidFill>
                  <a:srgbClr val="800000"/>
                </a:solidFill>
                <a:latin typeface="Gill Sans"/>
                <a:ea typeface="Gill Sans"/>
                <a:cs typeface="Gill Sans"/>
                <a:sym typeface="Gill Sans"/>
              </a:rPr>
              <a:t>Relational capital </a:t>
            </a:r>
            <a:r>
              <a:rPr b="0" i="0" lang="en-US" sz="2000" u="none" cap="none" strike="noStrike">
                <a:solidFill>
                  <a:schemeClr val="dk1"/>
                </a:solidFill>
                <a:latin typeface="Gill Sans"/>
                <a:ea typeface="Gill Sans"/>
                <a:cs typeface="Gill Sans"/>
                <a:sym typeface="Gill Sans"/>
              </a:rPr>
              <a:t>refers to relationships with external stakeholders, including customers and suppliers.</a:t>
            </a:r>
            <a:endParaRPr/>
          </a:p>
          <a:p>
            <a:pPr indent="-173037" lvl="0" marL="681038" marR="0" rtl="0" algn="l">
              <a:spcBef>
                <a:spcPts val="560"/>
              </a:spcBef>
              <a:spcAft>
                <a:spcPts val="0"/>
              </a:spcAft>
              <a:buClr>
                <a:schemeClr val="dk1"/>
              </a:buClr>
              <a:buSzPts val="2800"/>
              <a:buFont typeface="Arial"/>
              <a:buNone/>
            </a:pPr>
            <a:r>
              <a:t/>
            </a:r>
            <a:endParaRPr b="0" i="0" sz="2800" u="none" cap="none" strike="noStrike">
              <a:solidFill>
                <a:schemeClr val="dk1"/>
              </a:solidFill>
              <a:latin typeface="Gill Sans"/>
              <a:ea typeface="Gill Sans"/>
              <a:cs typeface="Gill Sans"/>
              <a:sym typeface="Gill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1" name="Shape 151"/>
        <p:cNvGrpSpPr/>
        <p:nvPr/>
      </p:nvGrpSpPr>
      <p:grpSpPr>
        <a:xfrm>
          <a:off x="0" y="0"/>
          <a:ext cx="0" cy="0"/>
          <a:chOff x="0" y="0"/>
          <a:chExt cx="0" cy="0"/>
        </a:xfrm>
      </p:grpSpPr>
      <p:sp>
        <p:nvSpPr>
          <p:cNvPr id="152" name="Google Shape;152;p4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Font typeface="Cabin"/>
              <a:buNone/>
            </a:pPr>
            <a:r>
              <a:rPr b="0" i="0" lang="en-US" sz="3200" u="none" cap="none" strike="noStrike">
                <a:solidFill>
                  <a:schemeClr val="dk1"/>
                </a:solidFill>
                <a:latin typeface="Cabin"/>
                <a:ea typeface="Cabin"/>
                <a:cs typeface="Cabin"/>
                <a:sym typeface="Cabin"/>
              </a:rPr>
              <a:t>EU Community Innovation Surveys – 4 Types</a:t>
            </a:r>
            <a:endParaRPr b="0" i="0" sz="3200" u="none" cap="none" strike="noStrike">
              <a:solidFill>
                <a:schemeClr val="dk1"/>
              </a:solidFill>
              <a:latin typeface="Cabin"/>
              <a:ea typeface="Cabin"/>
              <a:cs typeface="Cabin"/>
              <a:sym typeface="Cabin"/>
            </a:endParaRPr>
          </a:p>
        </p:txBody>
      </p:sp>
      <p:sp>
        <p:nvSpPr>
          <p:cNvPr id="153" name="Google Shape;153;p41"/>
          <p:cNvSpPr txBox="1"/>
          <p:nvPr>
            <p:ph idx="1" type="body"/>
          </p:nvPr>
        </p:nvSpPr>
        <p:spPr>
          <a:xfrm>
            <a:off x="0" y="1018056"/>
            <a:ext cx="8704031" cy="4125443"/>
          </a:xfrm>
          <a:prstGeom prst="rect">
            <a:avLst/>
          </a:prstGeom>
          <a:noFill/>
          <a:ln>
            <a:noFill/>
          </a:ln>
        </p:spPr>
        <p:txBody>
          <a:bodyPr anchorCtr="0" anchor="t" bIns="45700" lIns="91425" spcFirstLastPara="1" rIns="91425" wrap="square" tIns="45700">
            <a:noAutofit/>
          </a:bodyPr>
          <a:lstStyle/>
          <a:p>
            <a:pPr indent="-344488" lvl="0" marL="738188" marR="0" rtl="0" algn="l">
              <a:spcBef>
                <a:spcPts val="0"/>
              </a:spcBef>
              <a:spcAft>
                <a:spcPts val="0"/>
              </a:spcAft>
              <a:buClr>
                <a:srgbClr val="800000"/>
              </a:buClr>
              <a:buSzPts val="2000"/>
              <a:buFont typeface="Arial"/>
              <a:buChar char="•"/>
            </a:pPr>
            <a:r>
              <a:rPr b="1" i="1" lang="en-US" sz="2000" u="none" cap="none" strike="noStrike">
                <a:solidFill>
                  <a:srgbClr val="800000"/>
                </a:solidFill>
                <a:latin typeface="Gill Sans"/>
                <a:ea typeface="Gill Sans"/>
                <a:cs typeface="Gill Sans"/>
                <a:sym typeface="Gill Sans"/>
              </a:rPr>
              <a:t>Product and services </a:t>
            </a:r>
            <a:r>
              <a:rPr b="0" i="0" lang="en-US" sz="2000" u="none" cap="none" strike="noStrike">
                <a:solidFill>
                  <a:schemeClr val="dk1"/>
                </a:solidFill>
                <a:latin typeface="Gill Sans"/>
                <a:ea typeface="Gill Sans"/>
                <a:cs typeface="Gill Sans"/>
                <a:sym typeface="Gill Sans"/>
              </a:rPr>
              <a:t>with characteristics, capabilities, and intended uses that differ significantly from existing products</a:t>
            </a:r>
            <a:endParaRPr b="0" i="0" sz="2000" u="none" cap="none" strike="noStrike">
              <a:solidFill>
                <a:schemeClr val="dk1"/>
              </a:solidFill>
              <a:latin typeface="Gill Sans"/>
              <a:ea typeface="Gill Sans"/>
              <a:cs typeface="Gill Sans"/>
              <a:sym typeface="Gill Sans"/>
            </a:endParaRPr>
          </a:p>
          <a:p>
            <a:pPr indent="-344488" lvl="0" marL="738188" marR="0" rtl="0" algn="l">
              <a:spcBef>
                <a:spcPts val="400"/>
              </a:spcBef>
              <a:spcAft>
                <a:spcPts val="0"/>
              </a:spcAft>
              <a:buClr>
                <a:srgbClr val="800000"/>
              </a:buClr>
              <a:buSzPts val="2000"/>
              <a:buFont typeface="Arial"/>
              <a:buChar char="•"/>
            </a:pPr>
            <a:r>
              <a:rPr b="1" i="1" lang="en-US" sz="2000" u="none" cap="none" strike="noStrike">
                <a:solidFill>
                  <a:srgbClr val="800000"/>
                </a:solidFill>
                <a:latin typeface="Gill Sans"/>
                <a:ea typeface="Gill Sans"/>
                <a:cs typeface="Gill Sans"/>
                <a:sym typeface="Gill Sans"/>
              </a:rPr>
              <a:t>Processes </a:t>
            </a:r>
            <a:r>
              <a:rPr b="0" i="0" lang="en-US" sz="2000" u="none" cap="none" strike="noStrike">
                <a:solidFill>
                  <a:schemeClr val="dk1"/>
                </a:solidFill>
                <a:latin typeface="Gill Sans"/>
                <a:ea typeface="Gill Sans"/>
                <a:cs typeface="Gill Sans"/>
                <a:sym typeface="Gill Sans"/>
              </a:rPr>
              <a:t>involving production methods, logistics systems, and support services that are intended to improve the quality, efficiency, and flexibility of production and logistics</a:t>
            </a:r>
            <a:endParaRPr b="0" i="0" sz="2000" u="none" cap="none" strike="noStrike">
              <a:solidFill>
                <a:schemeClr val="dk1"/>
              </a:solidFill>
              <a:latin typeface="Gill Sans"/>
              <a:ea typeface="Gill Sans"/>
              <a:cs typeface="Gill Sans"/>
              <a:sym typeface="Gill Sans"/>
            </a:endParaRPr>
          </a:p>
          <a:p>
            <a:pPr indent="-344488" lvl="0" marL="738188" marR="0" rtl="0" algn="l">
              <a:spcBef>
                <a:spcPts val="400"/>
              </a:spcBef>
              <a:spcAft>
                <a:spcPts val="0"/>
              </a:spcAft>
              <a:buClr>
                <a:srgbClr val="800000"/>
              </a:buClr>
              <a:buSzPts val="2000"/>
              <a:buFont typeface="Arial"/>
              <a:buChar char="•"/>
            </a:pPr>
            <a:r>
              <a:rPr b="1" i="1" lang="en-US" sz="2000" u="none" cap="none" strike="noStrike">
                <a:solidFill>
                  <a:srgbClr val="800000"/>
                </a:solidFill>
                <a:latin typeface="Gill Sans"/>
                <a:ea typeface="Gill Sans"/>
                <a:cs typeface="Gill Sans"/>
                <a:sym typeface="Gill Sans"/>
              </a:rPr>
              <a:t>Organizational changes </a:t>
            </a:r>
            <a:r>
              <a:rPr b="0" i="0" lang="en-US" sz="2000" u="none" cap="none" strike="noStrike">
                <a:solidFill>
                  <a:schemeClr val="dk1"/>
                </a:solidFill>
                <a:latin typeface="Gill Sans"/>
                <a:ea typeface="Gill Sans"/>
                <a:cs typeface="Gill Sans"/>
                <a:sym typeface="Gill Sans"/>
              </a:rPr>
              <a:t>relating to firm structure, management strategies, or external relations that are intended to improve the use of knowledge, quality of production and services, or efficiency</a:t>
            </a:r>
            <a:endParaRPr/>
          </a:p>
          <a:p>
            <a:pPr indent="-344488" lvl="0" marL="738188" marR="0" rtl="0" algn="l">
              <a:spcBef>
                <a:spcPts val="400"/>
              </a:spcBef>
              <a:spcAft>
                <a:spcPts val="0"/>
              </a:spcAft>
              <a:buClr>
                <a:srgbClr val="800000"/>
              </a:buClr>
              <a:buSzPts val="2000"/>
              <a:buFont typeface="Arial"/>
              <a:buChar char="•"/>
            </a:pPr>
            <a:r>
              <a:rPr b="1" i="1" lang="en-US" sz="2000" u="none" cap="none" strike="noStrike">
                <a:solidFill>
                  <a:srgbClr val="800000"/>
                </a:solidFill>
                <a:latin typeface="Gill Sans"/>
                <a:ea typeface="Gill Sans"/>
                <a:cs typeface="Gill Sans"/>
                <a:sym typeface="Gill Sans"/>
              </a:rPr>
              <a:t>Marketing strategies</a:t>
            </a:r>
            <a:r>
              <a:rPr b="0" i="1" lang="en-US" sz="2000" u="none" cap="none" strike="noStrike">
                <a:solidFill>
                  <a:schemeClr val="dk1"/>
                </a:solidFill>
                <a:latin typeface="Gill Sans"/>
                <a:ea typeface="Gill Sans"/>
                <a:cs typeface="Gill Sans"/>
                <a:sym typeface="Gill Sans"/>
              </a:rPr>
              <a:t>, </a:t>
            </a:r>
            <a:r>
              <a:rPr b="0" i="0" lang="en-US" sz="2000" u="none" cap="none" strike="noStrike">
                <a:solidFill>
                  <a:schemeClr val="dk1"/>
                </a:solidFill>
                <a:latin typeface="Gill Sans"/>
                <a:ea typeface="Gill Sans"/>
                <a:cs typeface="Gill Sans"/>
                <a:sym typeface="Gill Sans"/>
              </a:rPr>
              <a:t>including new and improved marketing and sales methods that involve changes in product design, packaging, product placement, and product promotion and pricing.</a:t>
            </a:r>
            <a:endParaRPr b="0" i="0" sz="2800" u="none" cap="none" strike="noStrike">
              <a:solidFill>
                <a:schemeClr val="dk1"/>
              </a:solidFill>
              <a:latin typeface="Gill Sans"/>
              <a:ea typeface="Gill Sans"/>
              <a:cs typeface="Gill Sans"/>
              <a:sym typeface="Gill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7" name="Shape 157"/>
        <p:cNvGrpSpPr/>
        <p:nvPr/>
      </p:nvGrpSpPr>
      <p:grpSpPr>
        <a:xfrm>
          <a:off x="0" y="0"/>
          <a:ext cx="0" cy="0"/>
          <a:chOff x="0" y="0"/>
          <a:chExt cx="0" cy="0"/>
        </a:xfrm>
      </p:grpSpPr>
      <p:sp>
        <p:nvSpPr>
          <p:cNvPr id="158" name="Google Shape;158;p42"/>
          <p:cNvSpPr txBox="1"/>
          <p:nvPr>
            <p:ph type="title"/>
          </p:nvPr>
        </p:nvSpPr>
        <p:spPr>
          <a:xfrm>
            <a:off x="457200" y="57150"/>
            <a:ext cx="8229600" cy="85725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Font typeface="Cabin"/>
              <a:buNone/>
            </a:pPr>
            <a:r>
              <a:rPr b="0" i="0" lang="en-US" sz="3200" u="none" cap="none" strike="noStrike">
                <a:solidFill>
                  <a:schemeClr val="dk1"/>
                </a:solidFill>
                <a:latin typeface="Cabin"/>
                <a:ea typeface="Cabin"/>
                <a:cs typeface="Cabin"/>
                <a:sym typeface="Cabin"/>
              </a:rPr>
              <a:t>Why is NSF Interested in Measuring Innovation?</a:t>
            </a:r>
            <a:endParaRPr b="0" i="0" sz="3200" u="none" cap="none" strike="noStrike">
              <a:solidFill>
                <a:schemeClr val="dk1"/>
              </a:solidFill>
              <a:latin typeface="Cabin"/>
              <a:ea typeface="Cabin"/>
              <a:cs typeface="Cabin"/>
              <a:sym typeface="Cabin"/>
            </a:endParaRPr>
          </a:p>
        </p:txBody>
      </p:sp>
      <p:sp>
        <p:nvSpPr>
          <p:cNvPr id="159" name="Google Shape;159;p42"/>
          <p:cNvSpPr txBox="1"/>
          <p:nvPr>
            <p:ph idx="1" type="body"/>
          </p:nvPr>
        </p:nvSpPr>
        <p:spPr>
          <a:xfrm>
            <a:off x="228600" y="1234678"/>
            <a:ext cx="8458200" cy="3394472"/>
          </a:xfrm>
          <a:prstGeom prst="rect">
            <a:avLst/>
          </a:prstGeom>
          <a:noFill/>
          <a:ln>
            <a:noFill/>
          </a:ln>
        </p:spPr>
        <p:txBody>
          <a:bodyPr anchorCtr="0" anchor="t" bIns="45700" lIns="91425" spcFirstLastPara="1" rIns="91425" wrap="square" tIns="45700">
            <a:noAutofit/>
          </a:bodyPr>
          <a:lstStyle/>
          <a:p>
            <a:pPr indent="-350838" lvl="0" marL="681038" marR="0" rtl="0" algn="l">
              <a:spcBef>
                <a:spcPts val="0"/>
              </a:spcBef>
              <a:spcAft>
                <a:spcPts val="0"/>
              </a:spcAft>
              <a:buClr>
                <a:schemeClr val="dk1"/>
              </a:buClr>
              <a:buSzPts val="2400"/>
              <a:buFont typeface="Arial"/>
              <a:buChar char="•"/>
            </a:pPr>
            <a:r>
              <a:rPr b="1" i="0" lang="en-US" sz="2400" u="none" cap="none" strike="noStrike">
                <a:solidFill>
                  <a:schemeClr val="dk1"/>
                </a:solidFill>
                <a:latin typeface="Gill Sans"/>
                <a:ea typeface="Gill Sans"/>
                <a:cs typeface="Gill Sans"/>
                <a:sym typeface="Gill Sans"/>
              </a:rPr>
              <a:t>NSF’s mission is </a:t>
            </a:r>
            <a:r>
              <a:rPr b="1" i="0" lang="en-US" sz="2400" u="none" cap="none" strike="noStrike">
                <a:solidFill>
                  <a:srgbClr val="800000"/>
                </a:solidFill>
                <a:latin typeface="Gill Sans"/>
                <a:ea typeface="Gill Sans"/>
                <a:cs typeface="Gill Sans"/>
                <a:sym typeface="Gill Sans"/>
              </a:rPr>
              <a:t>"to promote the progress of science …..</a:t>
            </a:r>
            <a:endParaRPr b="1" i="0" sz="2400" u="none" cap="none" strike="noStrike">
              <a:solidFill>
                <a:srgbClr val="800000"/>
              </a:solidFill>
              <a:latin typeface="Gill Sans"/>
              <a:ea typeface="Gill Sans"/>
              <a:cs typeface="Gill Sans"/>
              <a:sym typeface="Gill Sans"/>
            </a:endParaRPr>
          </a:p>
          <a:p>
            <a:pPr indent="-350838" lvl="0" marL="681038"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Gill Sans"/>
                <a:ea typeface="Gill Sans"/>
                <a:cs typeface="Gill Sans"/>
                <a:sym typeface="Gill Sans"/>
              </a:rPr>
              <a:t>National Center for Science and Engineering Statistics (NCSES) – NSF’s statistical agency</a:t>
            </a:r>
            <a:endParaRPr b="0" i="0" sz="2400" u="none" cap="none" strike="noStrike">
              <a:solidFill>
                <a:schemeClr val="dk1"/>
              </a:solidFill>
              <a:latin typeface="Gill Sans"/>
              <a:ea typeface="Gill Sans"/>
              <a:cs typeface="Gill Sans"/>
              <a:sym typeface="Gill Sans"/>
            </a:endParaRPr>
          </a:p>
          <a:p>
            <a:pPr indent="-352425" lvl="2" marL="1025526"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Gill Sans"/>
                <a:ea typeface="Gill Sans"/>
                <a:cs typeface="Gill Sans"/>
                <a:sym typeface="Gill Sans"/>
              </a:rPr>
              <a:t>NCSES role </a:t>
            </a:r>
            <a:r>
              <a:rPr b="1" i="0" lang="en-US" sz="2000" u="none" cap="none" strike="noStrike">
                <a:solidFill>
                  <a:srgbClr val="800000"/>
                </a:solidFill>
                <a:latin typeface="Gill Sans"/>
                <a:ea typeface="Gill Sans"/>
                <a:cs typeface="Gill Sans"/>
                <a:sym typeface="Gill Sans"/>
              </a:rPr>
              <a:t>- collect, interpret, analyze, and disseminate objective data on the science and engineering enterprise:</a:t>
            </a:r>
            <a:endParaRPr/>
          </a:p>
          <a:p>
            <a:pPr indent="-230187" lvl="2" marL="1373188"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Gill Sans"/>
                <a:ea typeface="Gill Sans"/>
                <a:cs typeface="Gill Sans"/>
                <a:sym typeface="Gill Sans"/>
              </a:rPr>
              <a:t>Research and Development and Innovation</a:t>
            </a:r>
            <a:endParaRPr/>
          </a:p>
          <a:p>
            <a:pPr indent="-230187" lvl="2" marL="1373188"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Gill Sans"/>
                <a:ea typeface="Gill Sans"/>
                <a:cs typeface="Gill Sans"/>
                <a:sym typeface="Gill Sans"/>
              </a:rPr>
              <a:t>The science and engineering workforce</a:t>
            </a:r>
            <a:endParaRPr/>
          </a:p>
          <a:p>
            <a:pPr indent="-230187" lvl="2" marL="1373188"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Gill Sans"/>
                <a:ea typeface="Gill Sans"/>
                <a:cs typeface="Gill Sans"/>
                <a:sym typeface="Gill Sans"/>
              </a:rPr>
              <a:t>U.S. competitiveness in science, engineering, technology, and R&amp;D</a:t>
            </a:r>
            <a:endParaRPr/>
          </a:p>
          <a:p>
            <a:pPr indent="-230187" lvl="2" marL="1373188"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Gill Sans"/>
                <a:ea typeface="Gill Sans"/>
                <a:cs typeface="Gill Sans"/>
                <a:sym typeface="Gill Sans"/>
              </a:rPr>
              <a:t>The condition and progress of STEM education in the United States </a:t>
            </a:r>
            <a:endParaRPr b="0" i="0" sz="2000" u="none" cap="none" strike="noStrike">
              <a:solidFill>
                <a:schemeClr val="dk1"/>
              </a:solidFill>
              <a:latin typeface="Gill Sans"/>
              <a:ea typeface="Gill Sans"/>
              <a:cs typeface="Gill Sans"/>
              <a:sym typeface="Gill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3" name="Shape 163"/>
        <p:cNvGrpSpPr/>
        <p:nvPr/>
      </p:nvGrpSpPr>
      <p:grpSpPr>
        <a:xfrm>
          <a:off x="0" y="0"/>
          <a:ext cx="0" cy="0"/>
          <a:chOff x="0" y="0"/>
          <a:chExt cx="0" cy="0"/>
        </a:xfrm>
      </p:grpSpPr>
      <p:sp>
        <p:nvSpPr>
          <p:cNvPr id="164" name="Google Shape;164;p43"/>
          <p:cNvSpPr txBox="1"/>
          <p:nvPr>
            <p:ph type="title"/>
          </p:nvPr>
        </p:nvSpPr>
        <p:spPr>
          <a:xfrm>
            <a:off x="457200" y="57150"/>
            <a:ext cx="8229600" cy="85725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Font typeface="Cabin"/>
              <a:buNone/>
            </a:pPr>
            <a:r>
              <a:rPr b="0" i="0" lang="en-US" sz="3200" u="none" cap="none" strike="noStrike">
                <a:solidFill>
                  <a:schemeClr val="dk1"/>
                </a:solidFill>
                <a:latin typeface="Cabin"/>
                <a:ea typeface="Cabin"/>
                <a:cs typeface="Cabin"/>
                <a:sym typeface="Cabin"/>
              </a:rPr>
              <a:t>Research Questions – </a:t>
            </a:r>
            <a:br>
              <a:rPr b="0" i="0" lang="en-US" sz="3200" u="none" cap="none" strike="noStrike">
                <a:solidFill>
                  <a:schemeClr val="dk1"/>
                </a:solidFill>
                <a:latin typeface="Cabin"/>
                <a:ea typeface="Cabin"/>
                <a:cs typeface="Cabin"/>
                <a:sym typeface="Cabin"/>
              </a:rPr>
            </a:br>
            <a:r>
              <a:rPr b="0" i="0" lang="en-US" sz="3200" u="none" cap="none" strike="noStrike">
                <a:solidFill>
                  <a:schemeClr val="dk1"/>
                </a:solidFill>
                <a:latin typeface="Cabin"/>
                <a:ea typeface="Cabin"/>
                <a:cs typeface="Cabin"/>
                <a:sym typeface="Cabin"/>
              </a:rPr>
              <a:t>Capturing and Measuring Innovation</a:t>
            </a:r>
            <a:endParaRPr b="0" i="0" sz="3200" u="none" cap="none" strike="noStrike">
              <a:solidFill>
                <a:schemeClr val="dk1"/>
              </a:solidFill>
              <a:latin typeface="Cabin"/>
              <a:ea typeface="Cabin"/>
              <a:cs typeface="Cabin"/>
              <a:sym typeface="Cabin"/>
            </a:endParaRPr>
          </a:p>
        </p:txBody>
      </p:sp>
      <p:sp>
        <p:nvSpPr>
          <p:cNvPr id="165" name="Google Shape;165;p43"/>
          <p:cNvSpPr txBox="1"/>
          <p:nvPr>
            <p:ph idx="1" type="body"/>
          </p:nvPr>
        </p:nvSpPr>
        <p:spPr>
          <a:xfrm>
            <a:off x="229508" y="1006078"/>
            <a:ext cx="8457292" cy="3394472"/>
          </a:xfrm>
          <a:prstGeom prst="rect">
            <a:avLst/>
          </a:prstGeom>
          <a:noFill/>
          <a:ln>
            <a:noFill/>
          </a:ln>
        </p:spPr>
        <p:txBody>
          <a:bodyPr anchorCtr="0" anchor="t" bIns="45700" lIns="91425" spcFirstLastPara="1" rIns="91425" wrap="square" tIns="45700">
            <a:noAutofit/>
          </a:bodyPr>
          <a:lstStyle/>
          <a:p>
            <a:pPr indent="-350838" lvl="0" marL="681038" marR="0" rtl="0" algn="l">
              <a:spcBef>
                <a:spcPts val="0"/>
              </a:spcBef>
              <a:spcAft>
                <a:spcPts val="0"/>
              </a:spcAft>
              <a:buClr>
                <a:schemeClr val="dk1"/>
              </a:buClr>
              <a:buSzPts val="2400"/>
              <a:buFont typeface="Arial"/>
              <a:buChar char="•"/>
            </a:pPr>
            <a:r>
              <a:rPr b="0" i="0" lang="en-US" sz="2400" u="none" cap="none" strike="noStrike">
                <a:solidFill>
                  <a:schemeClr val="dk1"/>
                </a:solidFill>
                <a:latin typeface="Gill Sans"/>
                <a:ea typeface="Gill Sans"/>
                <a:cs typeface="Gill Sans"/>
                <a:sym typeface="Gill Sans"/>
              </a:rPr>
              <a:t>What are </a:t>
            </a:r>
            <a:r>
              <a:rPr b="1" i="0" lang="en-US" sz="2400" u="none" cap="none" strike="noStrike">
                <a:solidFill>
                  <a:srgbClr val="800000"/>
                </a:solidFill>
                <a:latin typeface="Gill Sans"/>
                <a:ea typeface="Gill Sans"/>
                <a:cs typeface="Gill Sans"/>
                <a:sym typeface="Gill Sans"/>
              </a:rPr>
              <a:t>persistent and emerging trends </a:t>
            </a:r>
            <a:r>
              <a:rPr b="0" i="0" lang="en-US" sz="2400" u="none" cap="none" strike="noStrike">
                <a:solidFill>
                  <a:schemeClr val="dk1"/>
                </a:solidFill>
                <a:latin typeface="Gill Sans"/>
                <a:ea typeface="Gill Sans"/>
                <a:cs typeface="Gill Sans"/>
                <a:sym typeface="Gill Sans"/>
              </a:rPr>
              <a:t>that affect innovation? </a:t>
            </a:r>
            <a:endParaRPr b="1" i="0" sz="2400" u="none" cap="none" strike="noStrike">
              <a:solidFill>
                <a:schemeClr val="dk1"/>
              </a:solidFill>
              <a:latin typeface="Gill Sans"/>
              <a:ea typeface="Gill Sans"/>
              <a:cs typeface="Gill Sans"/>
              <a:sym typeface="Gill Sans"/>
            </a:endParaRPr>
          </a:p>
          <a:p>
            <a:pPr indent="-350838" lvl="0" marL="681038"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Gill Sans"/>
                <a:ea typeface="Gill Sans"/>
                <a:cs typeface="Gill Sans"/>
                <a:sym typeface="Gill Sans"/>
              </a:rPr>
              <a:t>How do </a:t>
            </a:r>
            <a:r>
              <a:rPr b="1" i="0" lang="en-US" sz="2400" u="none" cap="none" strike="noStrike">
                <a:solidFill>
                  <a:srgbClr val="800000"/>
                </a:solidFill>
                <a:latin typeface="Gill Sans"/>
                <a:ea typeface="Gill Sans"/>
                <a:cs typeface="Gill Sans"/>
                <a:sym typeface="Gill Sans"/>
              </a:rPr>
              <a:t>other countries and organizations measure innovative activity and innovation investments</a:t>
            </a:r>
            <a:r>
              <a:rPr b="0" i="0" lang="en-US" sz="2400" u="none" cap="none" strike="noStrike">
                <a:solidFill>
                  <a:schemeClr val="dk1"/>
                </a:solidFill>
                <a:latin typeface="Gill Sans"/>
                <a:ea typeface="Gill Sans"/>
                <a:cs typeface="Gill Sans"/>
                <a:sym typeface="Gill Sans"/>
              </a:rPr>
              <a:t>? Are they using or beginning to use non-traditional sources of data?</a:t>
            </a:r>
            <a:endParaRPr/>
          </a:p>
          <a:p>
            <a:pPr indent="-350838" lvl="0" marL="681038"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Gill Sans"/>
                <a:ea typeface="Gill Sans"/>
                <a:cs typeface="Gill Sans"/>
                <a:sym typeface="Gill Sans"/>
              </a:rPr>
              <a:t>How do </a:t>
            </a:r>
            <a:r>
              <a:rPr b="1" i="0" lang="en-US" sz="2400" u="none" cap="none" strike="noStrike">
                <a:solidFill>
                  <a:srgbClr val="800000"/>
                </a:solidFill>
                <a:latin typeface="Gill Sans"/>
                <a:ea typeface="Gill Sans"/>
                <a:cs typeface="Gill Sans"/>
                <a:sym typeface="Gill Sans"/>
              </a:rPr>
              <a:t>companies measure innovative activities, investments, outputs, and outcomes</a:t>
            </a:r>
            <a:r>
              <a:rPr b="0" i="0" lang="en-US" sz="2400" u="none" cap="none" strike="noStrike">
                <a:solidFill>
                  <a:schemeClr val="dk1"/>
                </a:solidFill>
                <a:latin typeface="Gill Sans"/>
                <a:ea typeface="Gill Sans"/>
                <a:cs typeface="Gill Sans"/>
                <a:sym typeface="Gill Sans"/>
              </a:rPr>
              <a:t>? How can administrative data be leveraged? What new survey questions could be developed to help companies better respond to the NSF surveys?</a:t>
            </a:r>
            <a:endParaRPr/>
          </a:p>
          <a:p>
            <a:pPr indent="-7938" lvl="0" marL="338138" marR="0" rtl="0" algn="l">
              <a:spcBef>
                <a:spcPts val="480"/>
              </a:spcBef>
              <a:spcAft>
                <a:spcPts val="0"/>
              </a:spcAft>
              <a:buClr>
                <a:schemeClr val="dk1"/>
              </a:buClr>
              <a:buFont typeface="Arial"/>
              <a:buNone/>
            </a:pPr>
            <a:r>
              <a:t/>
            </a:r>
            <a:endParaRPr b="1" i="0" sz="2400" u="none" cap="none" strike="noStrike">
              <a:solidFill>
                <a:schemeClr val="dk1"/>
              </a:solidFill>
              <a:latin typeface="Gill Sans"/>
              <a:ea typeface="Gill Sans"/>
              <a:cs typeface="Gill Sans"/>
              <a:sym typeface="Gill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9" name="Shape 169"/>
        <p:cNvGrpSpPr/>
        <p:nvPr/>
      </p:nvGrpSpPr>
      <p:grpSpPr>
        <a:xfrm>
          <a:off x="0" y="0"/>
          <a:ext cx="0" cy="0"/>
          <a:chOff x="0" y="0"/>
          <a:chExt cx="0" cy="0"/>
        </a:xfrm>
      </p:grpSpPr>
      <p:sp>
        <p:nvSpPr>
          <p:cNvPr id="170" name="Google Shape;170;p44"/>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Font typeface="Cabin"/>
              <a:buNone/>
            </a:pPr>
            <a:r>
              <a:rPr b="0" i="0" lang="en-US" sz="3200" u="none" cap="none" strike="noStrike">
                <a:solidFill>
                  <a:schemeClr val="dk1"/>
                </a:solidFill>
                <a:latin typeface="Cabin"/>
                <a:ea typeface="Cabin"/>
                <a:cs typeface="Cabin"/>
                <a:sym typeface="Cabin"/>
              </a:rPr>
              <a:t>Research Questions – </a:t>
            </a:r>
            <a:br>
              <a:rPr b="0" i="0" lang="en-US" sz="3200" u="none" cap="none" strike="noStrike">
                <a:solidFill>
                  <a:schemeClr val="dk1"/>
                </a:solidFill>
                <a:latin typeface="Cabin"/>
                <a:ea typeface="Cabin"/>
                <a:cs typeface="Cabin"/>
                <a:sym typeface="Cabin"/>
              </a:rPr>
            </a:br>
            <a:r>
              <a:rPr b="0" i="0" lang="en-US" sz="3200" u="none" cap="none" strike="noStrike">
                <a:solidFill>
                  <a:schemeClr val="dk1"/>
                </a:solidFill>
                <a:latin typeface="Cabin"/>
                <a:ea typeface="Cabin"/>
                <a:cs typeface="Cabin"/>
                <a:sym typeface="Cabin"/>
              </a:rPr>
              <a:t>Administrative and Opportunity Date</a:t>
            </a:r>
            <a:endParaRPr b="0" i="0" sz="3200" u="none" cap="none" strike="noStrike">
              <a:solidFill>
                <a:schemeClr val="dk1"/>
              </a:solidFill>
              <a:latin typeface="Cabin"/>
              <a:ea typeface="Cabin"/>
              <a:cs typeface="Cabin"/>
              <a:sym typeface="Cabin"/>
            </a:endParaRPr>
          </a:p>
        </p:txBody>
      </p:sp>
      <p:sp>
        <p:nvSpPr>
          <p:cNvPr id="171" name="Google Shape;171;p44"/>
          <p:cNvSpPr txBox="1"/>
          <p:nvPr>
            <p:ph idx="1" type="body"/>
          </p:nvPr>
        </p:nvSpPr>
        <p:spPr>
          <a:xfrm>
            <a:off x="457200" y="1006078"/>
            <a:ext cx="8229600" cy="3394472"/>
          </a:xfrm>
          <a:prstGeom prst="rect">
            <a:avLst/>
          </a:prstGeom>
          <a:noFill/>
          <a:ln>
            <a:noFill/>
          </a:ln>
        </p:spPr>
        <p:txBody>
          <a:bodyPr anchorCtr="0" anchor="t" bIns="45700" lIns="91425" spcFirstLastPara="1" rIns="91425" wrap="square" tIns="45700">
            <a:noAutofit/>
          </a:bodyPr>
          <a:lstStyle/>
          <a:p>
            <a:pPr indent="-350838" lvl="0" marL="681038" marR="0" rtl="0" algn="l">
              <a:spcBef>
                <a:spcPts val="0"/>
              </a:spcBef>
              <a:spcAft>
                <a:spcPts val="0"/>
              </a:spcAft>
              <a:buClr>
                <a:schemeClr val="dk1"/>
              </a:buClr>
              <a:buSzPts val="2400"/>
              <a:buFont typeface="Arial"/>
              <a:buChar char="•"/>
            </a:pPr>
            <a:r>
              <a:rPr b="0" i="0" lang="en-US" sz="2400" u="none" cap="none" strike="noStrike">
                <a:solidFill>
                  <a:schemeClr val="dk1"/>
                </a:solidFill>
                <a:latin typeface="Gill Sans"/>
                <a:ea typeface="Gill Sans"/>
                <a:cs typeface="Gill Sans"/>
                <a:sym typeface="Gill Sans"/>
              </a:rPr>
              <a:t>What can be learned from </a:t>
            </a:r>
            <a:r>
              <a:rPr b="1" i="0" lang="en-US" sz="2400" u="none" cap="none" strike="noStrike">
                <a:solidFill>
                  <a:srgbClr val="800000"/>
                </a:solidFill>
                <a:latin typeface="Gill Sans"/>
                <a:ea typeface="Gill Sans"/>
                <a:cs typeface="Gill Sans"/>
                <a:sym typeface="Gill Sans"/>
              </a:rPr>
              <a:t>opportunity data </a:t>
            </a:r>
            <a:r>
              <a:rPr b="0" i="0" lang="en-US" sz="2400" u="none" cap="none" strike="noStrike">
                <a:solidFill>
                  <a:schemeClr val="dk1"/>
                </a:solidFill>
                <a:latin typeface="Gill Sans"/>
                <a:ea typeface="Gill Sans"/>
                <a:cs typeface="Gill Sans"/>
                <a:sym typeface="Gill Sans"/>
              </a:rPr>
              <a:t>about innovation capacity and innovation outcomes? How does innovation capacity present itself through company websites, portal, and blogs? </a:t>
            </a:r>
            <a:endParaRPr/>
          </a:p>
          <a:p>
            <a:pPr indent="-350838" lvl="0" marL="681038"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Gill Sans"/>
                <a:ea typeface="Gill Sans"/>
                <a:cs typeface="Gill Sans"/>
                <a:sym typeface="Gill Sans"/>
              </a:rPr>
              <a:t>What </a:t>
            </a:r>
            <a:r>
              <a:rPr b="1" i="0" lang="en-US" sz="2400" u="none" cap="none" strike="noStrike">
                <a:solidFill>
                  <a:srgbClr val="800000"/>
                </a:solidFill>
                <a:latin typeface="Gill Sans"/>
                <a:ea typeface="Gill Sans"/>
                <a:cs typeface="Gill Sans"/>
                <a:sym typeface="Gill Sans"/>
              </a:rPr>
              <a:t>methods and modeling</a:t>
            </a:r>
            <a:r>
              <a:rPr b="0" i="0" lang="en-US" sz="2400" u="none" cap="none" strike="noStrike">
                <a:solidFill>
                  <a:schemeClr val="dk1"/>
                </a:solidFill>
                <a:latin typeface="Gill Sans"/>
                <a:ea typeface="Gill Sans"/>
                <a:cs typeface="Gill Sans"/>
                <a:sym typeface="Gill Sans"/>
              </a:rPr>
              <a:t> are needed to adapt and use administrative and opportunity data where there is insufficient information about the relationship of the data sources to the statistical events to be described?</a:t>
            </a:r>
            <a:endParaRPr b="0" i="0" sz="2400" u="none" cap="none" strike="noStrike">
              <a:solidFill>
                <a:schemeClr val="dk1"/>
              </a:solidFill>
              <a:latin typeface="Gill Sans"/>
              <a:ea typeface="Gill Sans"/>
              <a:cs typeface="Gill Sans"/>
              <a:sym typeface="Gill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5" name="Shape 175"/>
        <p:cNvGrpSpPr/>
        <p:nvPr/>
      </p:nvGrpSpPr>
      <p:grpSpPr>
        <a:xfrm>
          <a:off x="0" y="0"/>
          <a:ext cx="0" cy="0"/>
          <a:chOff x="0" y="0"/>
          <a:chExt cx="0" cy="0"/>
        </a:xfrm>
      </p:grpSpPr>
      <p:sp>
        <p:nvSpPr>
          <p:cNvPr id="176" name="Google Shape;176;p45"/>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Font typeface="Cabin"/>
              <a:buNone/>
            </a:pPr>
            <a:r>
              <a:rPr b="0" i="0" lang="en-US" sz="3200" u="none" cap="none" strike="noStrike">
                <a:solidFill>
                  <a:schemeClr val="dk1"/>
                </a:solidFill>
                <a:latin typeface="Cabin"/>
                <a:ea typeface="Cabin"/>
                <a:cs typeface="Cabin"/>
                <a:sym typeface="Cabin"/>
              </a:rPr>
              <a:t>Examples of Research Questions – </a:t>
            </a:r>
            <a:br>
              <a:rPr b="0" i="0" lang="en-US" sz="3200" u="none" cap="none" strike="noStrike">
                <a:solidFill>
                  <a:schemeClr val="dk1"/>
                </a:solidFill>
                <a:latin typeface="Cabin"/>
                <a:ea typeface="Cabin"/>
                <a:cs typeface="Cabin"/>
                <a:sym typeface="Cabin"/>
              </a:rPr>
            </a:br>
            <a:r>
              <a:rPr b="0" i="0" lang="en-US" sz="3200" u="none" cap="none" strike="noStrike">
                <a:solidFill>
                  <a:schemeClr val="dk1"/>
                </a:solidFill>
                <a:latin typeface="Cabin"/>
                <a:ea typeface="Cabin"/>
                <a:cs typeface="Cabin"/>
                <a:sym typeface="Cabin"/>
              </a:rPr>
              <a:t>What do Companies Tell Us Publically?</a:t>
            </a:r>
            <a:endParaRPr b="0" i="0" sz="3200" u="none" cap="none" strike="noStrike">
              <a:solidFill>
                <a:schemeClr val="dk1"/>
              </a:solidFill>
              <a:latin typeface="Cabin"/>
              <a:ea typeface="Cabin"/>
              <a:cs typeface="Cabin"/>
              <a:sym typeface="Cabin"/>
            </a:endParaRPr>
          </a:p>
        </p:txBody>
      </p:sp>
      <p:sp>
        <p:nvSpPr>
          <p:cNvPr id="177" name="Google Shape;177;p45"/>
          <p:cNvSpPr txBox="1"/>
          <p:nvPr>
            <p:ph idx="1" type="body"/>
          </p:nvPr>
        </p:nvSpPr>
        <p:spPr>
          <a:xfrm>
            <a:off x="457200" y="1006078"/>
            <a:ext cx="8229600" cy="3394472"/>
          </a:xfrm>
          <a:prstGeom prst="rect">
            <a:avLst/>
          </a:prstGeom>
          <a:noFill/>
          <a:ln>
            <a:noFill/>
          </a:ln>
        </p:spPr>
        <p:txBody>
          <a:bodyPr anchorCtr="0" anchor="t" bIns="45700" lIns="91425" spcFirstLastPara="1" rIns="91425" wrap="square" tIns="45700">
            <a:noAutofit/>
          </a:bodyPr>
          <a:lstStyle/>
          <a:p>
            <a:pPr indent="-350838" lvl="0" marL="681038" marR="0" rtl="0" algn="l">
              <a:spcBef>
                <a:spcPts val="0"/>
              </a:spcBef>
              <a:spcAft>
                <a:spcPts val="0"/>
              </a:spcAft>
              <a:buClr>
                <a:schemeClr val="dk1"/>
              </a:buClr>
              <a:buSzPts val="2800"/>
              <a:buFont typeface="Arial"/>
              <a:buChar char="•"/>
            </a:pPr>
            <a:r>
              <a:rPr b="0" i="0" lang="en-US" sz="2800" u="none" cap="none" strike="noStrike">
                <a:solidFill>
                  <a:schemeClr val="dk1"/>
                </a:solidFill>
                <a:latin typeface="Gill Sans"/>
                <a:ea typeface="Gill Sans"/>
                <a:cs typeface="Gill Sans"/>
                <a:sym typeface="Gill Sans"/>
              </a:rPr>
              <a:t>Does the public trail of a company’s news releases, social media, blog discussions, press coverage and interviews, conference activities, collaborative activities, funding inquiries, and other business action provide insight into the company’s innovativeness</a:t>
            </a:r>
            <a:endParaRPr b="0" i="0" sz="2800" u="none" cap="none" strike="noStrike">
              <a:solidFill>
                <a:schemeClr val="dk1"/>
              </a:solidFill>
              <a:latin typeface="Gill Sans"/>
              <a:ea typeface="Gill Sans"/>
              <a:cs typeface="Gill Sans"/>
              <a:sym typeface="Gill Sans"/>
            </a:endParaRPr>
          </a:p>
          <a:p>
            <a:pPr indent="-350838" lvl="0" marL="681038" marR="0" rtl="0" algn="l">
              <a:spcBef>
                <a:spcPts val="560"/>
              </a:spcBef>
              <a:spcAft>
                <a:spcPts val="0"/>
              </a:spcAft>
              <a:buClr>
                <a:schemeClr val="dk1"/>
              </a:buClr>
              <a:buSzPts val="2800"/>
              <a:buFont typeface="Arial"/>
              <a:buChar char="•"/>
            </a:pPr>
            <a:r>
              <a:rPr b="0" i="0" lang="en-US" sz="2800" u="none" cap="none" strike="noStrike">
                <a:solidFill>
                  <a:schemeClr val="dk1"/>
                </a:solidFill>
                <a:latin typeface="Gill Sans"/>
                <a:ea typeface="Gill Sans"/>
                <a:cs typeface="Gill Sans"/>
                <a:sym typeface="Gill Sans"/>
              </a:rPr>
              <a:t>What activities and structures are most indicative of the beginning of business startup, the development of innovative capacity, and innovative performance?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2" name="Shape 182"/>
        <p:cNvGrpSpPr/>
        <p:nvPr/>
      </p:nvGrpSpPr>
      <p:grpSpPr>
        <a:xfrm>
          <a:off x="0" y="0"/>
          <a:ext cx="0" cy="0"/>
          <a:chOff x="0" y="0"/>
          <a:chExt cx="0" cy="0"/>
        </a:xfrm>
      </p:grpSpPr>
      <p:sp>
        <p:nvSpPr>
          <p:cNvPr id="183" name="Google Shape;183;p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Font typeface="Cabin"/>
              <a:buNone/>
            </a:pPr>
            <a:r>
              <a:rPr b="0" i="0" lang="en-US" sz="3200" u="none" cap="none" strike="noStrike">
                <a:solidFill>
                  <a:schemeClr val="dk1"/>
                </a:solidFill>
                <a:latin typeface="Cabin"/>
                <a:ea typeface="Cabin"/>
                <a:cs typeface="Cabin"/>
                <a:sym typeface="Cabin"/>
              </a:rPr>
              <a:t>Examples of Innovation Research Topics</a:t>
            </a:r>
            <a:endParaRPr b="0" i="0" sz="3200" u="none" cap="none" strike="noStrike">
              <a:solidFill>
                <a:schemeClr val="dk1"/>
              </a:solidFill>
              <a:latin typeface="Cabin"/>
              <a:ea typeface="Cabin"/>
              <a:cs typeface="Cabin"/>
              <a:sym typeface="Cabin"/>
            </a:endParaRPr>
          </a:p>
        </p:txBody>
      </p:sp>
      <p:sp>
        <p:nvSpPr>
          <p:cNvPr id="184" name="Google Shape;184;p46"/>
          <p:cNvSpPr txBox="1"/>
          <p:nvPr>
            <p:ph idx="1" type="body"/>
          </p:nvPr>
        </p:nvSpPr>
        <p:spPr>
          <a:xfrm>
            <a:off x="457200" y="1006078"/>
            <a:ext cx="8229600" cy="3394472"/>
          </a:xfrm>
          <a:prstGeom prst="rect">
            <a:avLst/>
          </a:prstGeom>
          <a:noFill/>
          <a:ln>
            <a:noFill/>
          </a:ln>
        </p:spPr>
        <p:txBody>
          <a:bodyPr anchorCtr="0" anchor="t" bIns="45700" lIns="91425" spcFirstLastPara="1" rIns="91425" wrap="square" tIns="45700">
            <a:noAutofit/>
          </a:bodyPr>
          <a:lstStyle/>
          <a:p>
            <a:pPr indent="-350838" lvl="0" marL="681038" marR="0" rtl="0" algn="l">
              <a:spcBef>
                <a:spcPts val="0"/>
              </a:spcBef>
              <a:spcAft>
                <a:spcPts val="0"/>
              </a:spcAft>
              <a:buClr>
                <a:schemeClr val="dk1"/>
              </a:buClr>
              <a:buSzPts val="2000"/>
              <a:buFont typeface="Arial"/>
              <a:buChar char="•"/>
            </a:pPr>
            <a:r>
              <a:rPr b="0" i="0" lang="en-US" sz="2000" u="none" cap="none" strike="noStrike">
                <a:solidFill>
                  <a:schemeClr val="dk1"/>
                </a:solidFill>
                <a:latin typeface="Gill Sans"/>
                <a:ea typeface="Gill Sans"/>
                <a:cs typeface="Gill Sans"/>
                <a:sym typeface="Gill Sans"/>
              </a:rPr>
              <a:t>Amateur innovation (crowd sourcing/crowdfunding)</a:t>
            </a:r>
            <a:endParaRPr/>
          </a:p>
          <a:p>
            <a:pPr indent="-350838" lvl="0" marL="681038"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Gill Sans"/>
                <a:ea typeface="Gill Sans"/>
                <a:cs typeface="Gill Sans"/>
                <a:sym typeface="Gill Sans"/>
              </a:rPr>
              <a:t>Non-traditional S&amp;T Workforce </a:t>
            </a:r>
            <a:endParaRPr b="0" i="0" sz="2000" u="none" cap="none" strike="noStrike">
              <a:solidFill>
                <a:schemeClr val="dk1"/>
              </a:solidFill>
              <a:latin typeface="Gill Sans"/>
              <a:ea typeface="Gill Sans"/>
              <a:cs typeface="Gill Sans"/>
              <a:sym typeface="Gill Sans"/>
            </a:endParaRPr>
          </a:p>
          <a:p>
            <a:pPr indent="-350838" lvl="0" marL="681038"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Gill Sans"/>
                <a:ea typeface="Gill Sans"/>
                <a:cs typeface="Gill Sans"/>
                <a:sym typeface="Gill Sans"/>
              </a:rPr>
              <a:t>Tracking innovation in elementary and high school - How is innovation taught?</a:t>
            </a:r>
            <a:endParaRPr/>
          </a:p>
          <a:p>
            <a:pPr indent="-350838" lvl="0" marL="681038"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Gill Sans"/>
                <a:ea typeface="Gill Sans"/>
                <a:cs typeface="Gill Sans"/>
                <a:sym typeface="Gill Sans"/>
              </a:rPr>
              <a:t>Track S&amp;T competitions, business plan competitions, celebrity entrepreneurs </a:t>
            </a:r>
            <a:endParaRPr b="0" i="0" sz="2000" u="none" cap="none" strike="noStrike">
              <a:solidFill>
                <a:schemeClr val="dk1"/>
              </a:solidFill>
              <a:latin typeface="Gill Sans"/>
              <a:ea typeface="Gill Sans"/>
              <a:cs typeface="Gill Sans"/>
              <a:sym typeface="Gill Sans"/>
            </a:endParaRPr>
          </a:p>
          <a:p>
            <a:pPr indent="-350838" lvl="0" marL="681038"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Gill Sans"/>
                <a:ea typeface="Gill Sans"/>
                <a:cs typeface="Gill Sans"/>
                <a:sym typeface="Gill Sans"/>
              </a:rPr>
              <a:t>Foundations funding innovation</a:t>
            </a:r>
            <a:endParaRPr/>
          </a:p>
          <a:p>
            <a:pPr indent="-350838" lvl="0" marL="681038"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Gill Sans"/>
                <a:ea typeface="Gill Sans"/>
                <a:cs typeface="Gill Sans"/>
                <a:sym typeface="Gill Sans"/>
              </a:rPr>
              <a:t>Scientific repositories </a:t>
            </a:r>
            <a:endParaRPr/>
          </a:p>
          <a:p>
            <a:pPr indent="-350838" lvl="0" marL="681038"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Gill Sans"/>
                <a:ea typeface="Gill Sans"/>
                <a:cs typeface="Gill Sans"/>
                <a:sym typeface="Gill Sans"/>
              </a:rPr>
              <a:t>Public health innovation</a:t>
            </a:r>
            <a:endParaRPr/>
          </a:p>
          <a:p>
            <a:pPr indent="-7938" lvl="0" marL="338138" marR="0" rtl="0" algn="l">
              <a:spcBef>
                <a:spcPts val="560"/>
              </a:spcBef>
              <a:spcAft>
                <a:spcPts val="0"/>
              </a:spcAft>
              <a:buClr>
                <a:schemeClr val="dk1"/>
              </a:buClr>
              <a:buFont typeface="Arial"/>
              <a:buNone/>
            </a:pPr>
            <a:r>
              <a:t/>
            </a:r>
            <a:endParaRPr b="0" i="0" sz="2800" u="none" cap="none" strike="noStrike">
              <a:solidFill>
                <a:schemeClr val="dk1"/>
              </a:solidFill>
              <a:latin typeface="Gill Sans"/>
              <a:ea typeface="Gill Sans"/>
              <a:cs typeface="Gill Sans"/>
              <a:sym typeface="Gill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9" name="Shape 189"/>
        <p:cNvGrpSpPr/>
        <p:nvPr/>
      </p:nvGrpSpPr>
      <p:grpSpPr>
        <a:xfrm>
          <a:off x="0" y="0"/>
          <a:ext cx="0" cy="0"/>
          <a:chOff x="0" y="0"/>
          <a:chExt cx="0" cy="0"/>
        </a:xfrm>
      </p:grpSpPr>
      <p:sp>
        <p:nvSpPr>
          <p:cNvPr id="190" name="Google Shape;190;p4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Font typeface="Cabin"/>
              <a:buNone/>
            </a:pPr>
            <a:r>
              <a:rPr b="0" i="0" lang="en-US" sz="3200" u="none" cap="none" strike="noStrike">
                <a:solidFill>
                  <a:schemeClr val="dk1"/>
                </a:solidFill>
                <a:latin typeface="Cabin"/>
                <a:ea typeface="Cabin"/>
                <a:cs typeface="Cabin"/>
                <a:sym typeface="Cabin"/>
              </a:rPr>
              <a:t>Examples of Innovation Research Topics</a:t>
            </a:r>
            <a:endParaRPr b="0" i="0" sz="3200" u="none" cap="none" strike="noStrike">
              <a:solidFill>
                <a:schemeClr val="dk1"/>
              </a:solidFill>
              <a:latin typeface="Cabin"/>
              <a:ea typeface="Cabin"/>
              <a:cs typeface="Cabin"/>
              <a:sym typeface="Cabin"/>
            </a:endParaRPr>
          </a:p>
        </p:txBody>
      </p:sp>
      <p:sp>
        <p:nvSpPr>
          <p:cNvPr id="191" name="Google Shape;191;p47"/>
          <p:cNvSpPr txBox="1"/>
          <p:nvPr>
            <p:ph idx="1" type="body"/>
          </p:nvPr>
        </p:nvSpPr>
        <p:spPr>
          <a:xfrm>
            <a:off x="457200" y="1006078"/>
            <a:ext cx="8229600" cy="3699272"/>
          </a:xfrm>
          <a:prstGeom prst="rect">
            <a:avLst/>
          </a:prstGeom>
          <a:noFill/>
          <a:ln>
            <a:noFill/>
          </a:ln>
        </p:spPr>
        <p:txBody>
          <a:bodyPr anchorCtr="0" anchor="t" bIns="45700" lIns="91425" spcFirstLastPara="1" rIns="91425" wrap="square" tIns="45700">
            <a:noAutofit/>
          </a:bodyPr>
          <a:lstStyle/>
          <a:p>
            <a:pPr indent="-7938" lvl="0" marL="338138" marR="0" rtl="0" algn="l">
              <a:spcBef>
                <a:spcPts val="0"/>
              </a:spcBef>
              <a:spcAft>
                <a:spcPts val="0"/>
              </a:spcAft>
              <a:buClr>
                <a:schemeClr val="dk1"/>
              </a:buClr>
              <a:buFont typeface="Arial"/>
              <a:buNone/>
            </a:pPr>
            <a:r>
              <a:rPr b="0" i="0" lang="en-US" sz="2000" u="none" cap="none" strike="noStrike">
                <a:solidFill>
                  <a:schemeClr val="dk1"/>
                </a:solidFill>
                <a:latin typeface="Gill Sans"/>
                <a:ea typeface="Gill Sans"/>
                <a:cs typeface="Gill Sans"/>
                <a:sym typeface="Gill Sans"/>
              </a:rPr>
              <a:t>What role do these play in innovation?</a:t>
            </a:r>
            <a:endParaRPr/>
          </a:p>
          <a:p>
            <a:pPr indent="-350838" lvl="0" marL="681038"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Gill Sans"/>
                <a:ea typeface="Gill Sans"/>
                <a:cs typeface="Gill Sans"/>
                <a:sym typeface="Gill Sans"/>
              </a:rPr>
              <a:t>Open Source Software and Data</a:t>
            </a:r>
            <a:endParaRPr/>
          </a:p>
          <a:p>
            <a:pPr indent="-350838" lvl="0" marL="681038"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Gill Sans"/>
                <a:ea typeface="Gill Sans"/>
                <a:cs typeface="Gill Sans"/>
                <a:sym typeface="Gill Sans"/>
              </a:rPr>
              <a:t>How does innovation capacity present itself through company websites, portal, blogs, company websites and other public materials; e.g. news stories, SEC filings, company reports, other?</a:t>
            </a:r>
            <a:endParaRPr/>
          </a:p>
          <a:p>
            <a:pPr indent="-350838" lvl="0" marL="681038"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Gill Sans"/>
                <a:ea typeface="Gill Sans"/>
                <a:cs typeface="Gill Sans"/>
                <a:sym typeface="Gill Sans"/>
              </a:rPr>
              <a:t>What are sources of funding that lead to innvoation, e.g. Foundations?</a:t>
            </a:r>
            <a:endParaRPr/>
          </a:p>
          <a:p>
            <a:pPr indent="-350838" lvl="0" marL="681038"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Gill Sans"/>
                <a:ea typeface="Gill Sans"/>
                <a:cs typeface="Gill Sans"/>
                <a:sym typeface="Gill Sans"/>
              </a:rPr>
              <a:t>STEM Workforce – professional Masters; MOOC certification; other ways to capture</a:t>
            </a:r>
            <a:endParaRPr/>
          </a:p>
          <a:p>
            <a:pPr indent="-7938" lvl="0" marL="338138" marR="0" rtl="0" algn="l">
              <a:spcBef>
                <a:spcPts val="400"/>
              </a:spcBef>
              <a:spcAft>
                <a:spcPts val="0"/>
              </a:spcAft>
              <a:buClr>
                <a:schemeClr val="dk1"/>
              </a:buClr>
              <a:buFont typeface="Arial"/>
              <a:buNone/>
            </a:pPr>
            <a:r>
              <a:t/>
            </a:r>
            <a:endParaRPr b="0" i="0" sz="2000" u="none" cap="none" strike="noStrike">
              <a:solidFill>
                <a:schemeClr val="dk1"/>
              </a:solidFill>
              <a:latin typeface="Gill Sans"/>
              <a:ea typeface="Gill Sans"/>
              <a:cs typeface="Gill Sans"/>
              <a:sym typeface="Gill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6" name="Shape 196"/>
        <p:cNvGrpSpPr/>
        <p:nvPr/>
      </p:nvGrpSpPr>
      <p:grpSpPr>
        <a:xfrm>
          <a:off x="0" y="0"/>
          <a:ext cx="0" cy="0"/>
          <a:chOff x="0" y="0"/>
          <a:chExt cx="0" cy="0"/>
        </a:xfrm>
      </p:grpSpPr>
      <p:sp>
        <p:nvSpPr>
          <p:cNvPr id="197" name="Google Shape;197;p4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Font typeface="Cabin"/>
              <a:buNone/>
            </a:pPr>
            <a:r>
              <a:rPr b="0" i="0" lang="en-US" sz="3200" u="none" cap="none" strike="noStrike">
                <a:solidFill>
                  <a:schemeClr val="dk1"/>
                </a:solidFill>
                <a:latin typeface="Cabin"/>
                <a:ea typeface="Cabin"/>
                <a:cs typeface="Cabin"/>
                <a:sym typeface="Cabin"/>
              </a:rPr>
              <a:t>Measuring Funding of Innovation</a:t>
            </a:r>
            <a:endParaRPr b="0" i="0" sz="3200" u="none" cap="none" strike="noStrike">
              <a:solidFill>
                <a:schemeClr val="dk1"/>
              </a:solidFill>
              <a:latin typeface="Cabin"/>
              <a:ea typeface="Cabin"/>
              <a:cs typeface="Cabin"/>
              <a:sym typeface="Cabin"/>
            </a:endParaRPr>
          </a:p>
        </p:txBody>
      </p:sp>
      <p:sp>
        <p:nvSpPr>
          <p:cNvPr id="198" name="Google Shape;198;p48"/>
          <p:cNvSpPr txBox="1"/>
          <p:nvPr>
            <p:ph idx="1" type="body"/>
          </p:nvPr>
        </p:nvSpPr>
        <p:spPr>
          <a:xfrm>
            <a:off x="457200" y="872728"/>
            <a:ext cx="8153400" cy="3756422"/>
          </a:xfrm>
          <a:prstGeom prst="rect">
            <a:avLst/>
          </a:prstGeom>
          <a:noFill/>
          <a:ln>
            <a:noFill/>
          </a:ln>
        </p:spPr>
        <p:txBody>
          <a:bodyPr anchorCtr="0" anchor="t" bIns="45700" lIns="91425" spcFirstLastPara="1" rIns="91425" wrap="square" tIns="45700">
            <a:noAutofit/>
          </a:bodyPr>
          <a:lstStyle/>
          <a:p>
            <a:pPr indent="-7938" lvl="0" marL="338138" marR="0" rtl="0" algn="l">
              <a:spcBef>
                <a:spcPts val="0"/>
              </a:spcBef>
              <a:spcAft>
                <a:spcPts val="0"/>
              </a:spcAft>
              <a:buClr>
                <a:schemeClr val="dk1"/>
              </a:buClr>
              <a:buFont typeface="Arial"/>
              <a:buNone/>
            </a:pPr>
            <a:r>
              <a:rPr b="0" i="0" lang="en-US" sz="2000" u="none" cap="none" strike="noStrike">
                <a:solidFill>
                  <a:schemeClr val="dk1"/>
                </a:solidFill>
                <a:latin typeface="Gill Sans"/>
                <a:ea typeface="Gill Sans"/>
                <a:cs typeface="Gill Sans"/>
                <a:sym typeface="Gill Sans"/>
              </a:rPr>
              <a:t>What are private sources of funding?  What is distribution of funding across these sources? (or could just focus on one sources)</a:t>
            </a:r>
            <a:endParaRPr b="0" i="0" sz="2000" u="none" cap="none" strike="noStrike">
              <a:solidFill>
                <a:schemeClr val="dk1"/>
              </a:solidFill>
              <a:latin typeface="Gill Sans"/>
              <a:ea typeface="Gill Sans"/>
              <a:cs typeface="Gill Sans"/>
              <a:sym typeface="Gill Sans"/>
            </a:endParaRPr>
          </a:p>
          <a:p>
            <a:pPr indent="-350838" lvl="0" marL="681038"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Gill Sans"/>
                <a:ea typeface="Gill Sans"/>
                <a:cs typeface="Gill Sans"/>
                <a:sym typeface="Gill Sans"/>
              </a:rPr>
              <a:t>Angel Investors</a:t>
            </a:r>
            <a:endParaRPr/>
          </a:p>
          <a:p>
            <a:pPr indent="-350838" lvl="0" marL="681038"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Gill Sans"/>
                <a:ea typeface="Gill Sans"/>
                <a:cs typeface="Gill Sans"/>
                <a:sym typeface="Gill Sans"/>
              </a:rPr>
              <a:t>Venture Capitalists</a:t>
            </a:r>
            <a:endParaRPr/>
          </a:p>
          <a:p>
            <a:pPr indent="-350838" lvl="0" marL="681038"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Gill Sans"/>
                <a:ea typeface="Gill Sans"/>
                <a:cs typeface="Gill Sans"/>
                <a:sym typeface="Gill Sans"/>
              </a:rPr>
              <a:t>Corporate Venture Capitalists</a:t>
            </a:r>
            <a:endParaRPr/>
          </a:p>
          <a:p>
            <a:pPr indent="-350838" lvl="0" marL="681038"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Gill Sans"/>
                <a:ea typeface="Gill Sans"/>
                <a:cs typeface="Gill Sans"/>
                <a:sym typeface="Gill Sans"/>
              </a:rPr>
              <a:t>Incubators, e.g. 1776 in Arlington, university incubators, other </a:t>
            </a:r>
            <a:endParaRPr/>
          </a:p>
          <a:p>
            <a:pPr indent="-350838" lvl="0" marL="681038"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Gill Sans"/>
                <a:ea typeface="Gill Sans"/>
                <a:cs typeface="Gill Sans"/>
                <a:sym typeface="Gill Sans"/>
              </a:rPr>
              <a:t>Business competitions at universities</a:t>
            </a:r>
            <a:endParaRPr/>
          </a:p>
          <a:p>
            <a:pPr indent="-350838" lvl="0" marL="681038"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Gill Sans"/>
                <a:ea typeface="Gill Sans"/>
                <a:cs typeface="Gill Sans"/>
                <a:sym typeface="Gill Sans"/>
              </a:rPr>
              <a:t>Foundations</a:t>
            </a:r>
            <a:endParaRPr/>
          </a:p>
          <a:p>
            <a:pPr indent="-350838" lvl="0" marL="681038"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Gill Sans"/>
                <a:ea typeface="Gill Sans"/>
                <a:cs typeface="Gill Sans"/>
                <a:sym typeface="Gill Sans"/>
              </a:rPr>
              <a:t>Other?</a:t>
            </a:r>
            <a:endParaRPr/>
          </a:p>
          <a:p>
            <a:pPr indent="-223837" lvl="0" marL="681038" marR="0" rtl="0" algn="l">
              <a:spcBef>
                <a:spcPts val="400"/>
              </a:spcBef>
              <a:spcAft>
                <a:spcPts val="0"/>
              </a:spcAft>
              <a:buClr>
                <a:schemeClr val="dk1"/>
              </a:buClr>
              <a:buSzPts val="2000"/>
              <a:buFont typeface="Arial"/>
              <a:buNone/>
            </a:pPr>
            <a:r>
              <a:t/>
            </a:r>
            <a:endParaRPr b="0" i="0" sz="2000" u="none" cap="none" strike="noStrike">
              <a:solidFill>
                <a:schemeClr val="dk1"/>
              </a:solidFill>
              <a:latin typeface="Gill Sans"/>
              <a:ea typeface="Gill Sans"/>
              <a:cs typeface="Gill Sans"/>
              <a:sym typeface="Gill Sans"/>
            </a:endParaRPr>
          </a:p>
          <a:p>
            <a:pPr indent="-7938" lvl="0" marL="338138" marR="0" rtl="0" algn="l">
              <a:spcBef>
                <a:spcPts val="480"/>
              </a:spcBef>
              <a:spcAft>
                <a:spcPts val="0"/>
              </a:spcAft>
              <a:buClr>
                <a:schemeClr val="dk1"/>
              </a:buClr>
              <a:buFont typeface="Arial"/>
              <a:buNone/>
            </a:pPr>
            <a:r>
              <a:t/>
            </a:r>
            <a:endParaRPr b="0" i="0" sz="2400" u="none" cap="none" strike="noStrike">
              <a:solidFill>
                <a:schemeClr val="dk1"/>
              </a:solidFill>
              <a:latin typeface="Gill Sans"/>
              <a:ea typeface="Gill Sans"/>
              <a:cs typeface="Gill Sans"/>
              <a:sym typeface="Gill Sans"/>
            </a:endParaRPr>
          </a:p>
          <a:p>
            <a:pPr indent="-7938" lvl="0" marL="338138" marR="0" rtl="0" algn="l">
              <a:spcBef>
                <a:spcPts val="480"/>
              </a:spcBef>
              <a:spcAft>
                <a:spcPts val="0"/>
              </a:spcAft>
              <a:buClr>
                <a:schemeClr val="dk1"/>
              </a:buClr>
              <a:buFont typeface="Arial"/>
              <a:buNone/>
            </a:pPr>
            <a:r>
              <a:t/>
            </a:r>
            <a:endParaRPr b="0" i="0" sz="2400" u="none" cap="none" strike="noStrike">
              <a:solidFill>
                <a:schemeClr val="dk1"/>
              </a:solidFill>
              <a:latin typeface="Gill Sans"/>
              <a:ea typeface="Gill Sans"/>
              <a:cs typeface="Gill Sans"/>
              <a:sym typeface="Gill Sans"/>
            </a:endParaRPr>
          </a:p>
          <a:p>
            <a:pPr indent="-7938" lvl="0" marL="338138" marR="0" rtl="0" algn="l">
              <a:spcBef>
                <a:spcPts val="480"/>
              </a:spcBef>
              <a:spcAft>
                <a:spcPts val="0"/>
              </a:spcAft>
              <a:buClr>
                <a:schemeClr val="dk1"/>
              </a:buClr>
              <a:buFont typeface="Arial"/>
              <a:buNone/>
            </a:pPr>
            <a:r>
              <a:t/>
            </a:r>
            <a:endParaRPr b="0" i="0" sz="2400" u="none" cap="none" strike="noStrike">
              <a:solidFill>
                <a:schemeClr val="dk1"/>
              </a:solidFill>
              <a:latin typeface="Gill Sans"/>
              <a:ea typeface="Gill Sans"/>
              <a:cs typeface="Gill Sans"/>
              <a:sym typeface="Gill Sans"/>
            </a:endParaRPr>
          </a:p>
          <a:p>
            <a:pPr indent="-7938" lvl="0" marL="338138" marR="0" rtl="0" algn="l">
              <a:spcBef>
                <a:spcPts val="480"/>
              </a:spcBef>
              <a:spcAft>
                <a:spcPts val="0"/>
              </a:spcAft>
              <a:buClr>
                <a:schemeClr val="dk1"/>
              </a:buClr>
              <a:buFont typeface="Arial"/>
              <a:buNone/>
            </a:pPr>
            <a:r>
              <a:t/>
            </a:r>
            <a:endParaRPr b="0" i="0" sz="2400" u="none" cap="none" strike="noStrike">
              <a:solidFill>
                <a:schemeClr val="dk1"/>
              </a:solidFill>
              <a:latin typeface="Gill Sans"/>
              <a:ea typeface="Gill Sans"/>
              <a:cs typeface="Gill Sans"/>
              <a:sym typeface="Gill Sans"/>
            </a:endParaRPr>
          </a:p>
        </p:txBody>
      </p:sp>
      <p:sp>
        <p:nvSpPr>
          <p:cNvPr id="199" name="Google Shape;199;p48"/>
          <p:cNvSpPr txBox="1"/>
          <p:nvPr/>
        </p:nvSpPr>
        <p:spPr>
          <a:xfrm>
            <a:off x="321733" y="4842933"/>
            <a:ext cx="184666" cy="4001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Gill Sans"/>
              <a:ea typeface="Gill Sans"/>
              <a:cs typeface="Gill Sans"/>
              <a:sym typeface="Gill Sans"/>
            </a:endParaRPr>
          </a:p>
        </p:txBody>
      </p:sp>
      <p:sp>
        <p:nvSpPr>
          <p:cNvPr id="200" name="Google Shape;200;p48"/>
          <p:cNvSpPr txBox="1"/>
          <p:nvPr/>
        </p:nvSpPr>
        <p:spPr>
          <a:xfrm>
            <a:off x="685800" y="4639330"/>
            <a:ext cx="7766673"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Gill Sans"/>
                <a:ea typeface="Gill Sans"/>
                <a:cs typeface="Gill Sans"/>
                <a:sym typeface="Gill Sans"/>
              </a:rPr>
              <a:t>Reference: Branscomb, Lewis M.  and Philip E. Auerswald, Between Invention and Innovation: An Analysis of Funding for Early-Stage Technology Development, NIST GCR 02-841, Gaithersburg, MD, November 2002.</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5" name="Shape 205"/>
        <p:cNvGrpSpPr/>
        <p:nvPr/>
      </p:nvGrpSpPr>
      <p:grpSpPr>
        <a:xfrm>
          <a:off x="0" y="0"/>
          <a:ext cx="0" cy="0"/>
          <a:chOff x="0" y="0"/>
          <a:chExt cx="0" cy="0"/>
        </a:xfrm>
      </p:grpSpPr>
      <p:sp>
        <p:nvSpPr>
          <p:cNvPr id="206" name="Google Shape;206;p49"/>
          <p:cNvSpPr txBox="1"/>
          <p:nvPr>
            <p:ph type="title"/>
          </p:nvPr>
        </p:nvSpPr>
        <p:spPr>
          <a:xfrm>
            <a:off x="0" y="205979"/>
            <a:ext cx="9144000" cy="85725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Font typeface="Cabin"/>
              <a:buNone/>
            </a:pPr>
            <a:r>
              <a:rPr b="0" i="0" lang="en-US" sz="2800" u="none" cap="none" strike="noStrike">
                <a:solidFill>
                  <a:schemeClr val="dk1"/>
                </a:solidFill>
                <a:latin typeface="Cabin"/>
                <a:ea typeface="Cabin"/>
                <a:cs typeface="Cabin"/>
                <a:sym typeface="Cabin"/>
              </a:rPr>
              <a:t>Measuring Value of Open Source Software and Data</a:t>
            </a:r>
            <a:endParaRPr b="0" i="0" sz="2800" u="none" cap="none" strike="noStrike">
              <a:solidFill>
                <a:schemeClr val="dk1"/>
              </a:solidFill>
              <a:latin typeface="Cabin"/>
              <a:ea typeface="Cabin"/>
              <a:cs typeface="Cabin"/>
              <a:sym typeface="Cabin"/>
            </a:endParaRPr>
          </a:p>
        </p:txBody>
      </p:sp>
      <p:sp>
        <p:nvSpPr>
          <p:cNvPr id="207" name="Google Shape;207;p49"/>
          <p:cNvSpPr txBox="1"/>
          <p:nvPr>
            <p:ph idx="1" type="body"/>
          </p:nvPr>
        </p:nvSpPr>
        <p:spPr>
          <a:xfrm>
            <a:off x="457200" y="1006078"/>
            <a:ext cx="8229600" cy="3394472"/>
          </a:xfrm>
          <a:prstGeom prst="rect">
            <a:avLst/>
          </a:prstGeom>
          <a:noFill/>
          <a:ln>
            <a:noFill/>
          </a:ln>
        </p:spPr>
        <p:txBody>
          <a:bodyPr anchorCtr="0" anchor="t" bIns="45700" lIns="91425" spcFirstLastPara="1" rIns="91425" wrap="square" tIns="45700">
            <a:noAutofit/>
          </a:bodyPr>
          <a:lstStyle/>
          <a:p>
            <a:pPr indent="-350838" lvl="0" marL="681038" marR="0" rtl="0" algn="l">
              <a:spcBef>
                <a:spcPts val="0"/>
              </a:spcBef>
              <a:spcAft>
                <a:spcPts val="0"/>
              </a:spcAft>
              <a:buClr>
                <a:schemeClr val="dk1"/>
              </a:buClr>
              <a:buSzPts val="2800"/>
              <a:buFont typeface="Arial"/>
              <a:buChar char="•"/>
            </a:pPr>
            <a:r>
              <a:rPr b="0" i="0" lang="en-US" sz="2800" u="none" cap="none" strike="noStrike">
                <a:solidFill>
                  <a:schemeClr val="dk1"/>
                </a:solidFill>
                <a:latin typeface="Gill Sans"/>
                <a:ea typeface="Gill Sans"/>
                <a:cs typeface="Gill Sans"/>
                <a:sym typeface="Gill Sans"/>
              </a:rPr>
              <a:t>Open account software is counted in the national accounts based on the labor inputs attributed to each industry, best measured in the business sector. What useful statistics can be measured?</a:t>
            </a:r>
            <a:endParaRPr/>
          </a:p>
          <a:p>
            <a:pPr indent="-350838" lvl="0" marL="681038" marR="0" rtl="0" algn="l">
              <a:spcBef>
                <a:spcPts val="560"/>
              </a:spcBef>
              <a:spcAft>
                <a:spcPts val="0"/>
              </a:spcAft>
              <a:buClr>
                <a:schemeClr val="dk1"/>
              </a:buClr>
              <a:buSzPts val="2800"/>
              <a:buFont typeface="Arial"/>
              <a:buChar char="•"/>
            </a:pPr>
            <a:r>
              <a:rPr b="0" i="0" lang="en-US" sz="2800" u="none" cap="none" strike="noStrike">
                <a:solidFill>
                  <a:schemeClr val="dk1"/>
                </a:solidFill>
                <a:latin typeface="Gill Sans"/>
                <a:ea typeface="Gill Sans"/>
                <a:cs typeface="Gill Sans"/>
                <a:sym typeface="Gill Sans"/>
              </a:rPr>
              <a:t> How do open source software and databases link to institutions? To different sectors?</a:t>
            </a:r>
            <a:endParaRPr b="0" i="0" sz="2800" u="none" cap="none" strike="noStrike">
              <a:solidFill>
                <a:schemeClr val="dk1"/>
              </a:solidFill>
              <a:latin typeface="Gill Sans"/>
              <a:ea typeface="Gill Sans"/>
              <a:cs typeface="Gill Sans"/>
              <a:sym typeface="Gill Sans"/>
            </a:endParaRPr>
          </a:p>
          <a:p>
            <a:pPr indent="-350838" lvl="0" marL="681038" marR="0" rtl="0" algn="l">
              <a:spcBef>
                <a:spcPts val="560"/>
              </a:spcBef>
              <a:spcAft>
                <a:spcPts val="0"/>
              </a:spcAft>
              <a:buClr>
                <a:schemeClr val="dk1"/>
              </a:buClr>
              <a:buSzPts val="2800"/>
              <a:buFont typeface="Arial"/>
              <a:buChar char="•"/>
            </a:pPr>
            <a:r>
              <a:rPr b="0" i="0" lang="en-US" sz="2800" u="none" cap="none" strike="noStrike">
                <a:solidFill>
                  <a:schemeClr val="dk1"/>
                </a:solidFill>
                <a:latin typeface="Gill Sans"/>
                <a:ea typeface="Gill Sans"/>
                <a:cs typeface="Gill Sans"/>
                <a:sym typeface="Gill Sans"/>
              </a:rPr>
              <a:t>References: Daniel Katz, U of Chicago</a:t>
            </a:r>
            <a:endParaRPr b="0" i="0" sz="2800" u="none" cap="none" strike="noStrike">
              <a:solidFill>
                <a:schemeClr val="dk1"/>
              </a:solidFill>
              <a:latin typeface="Gill Sans"/>
              <a:ea typeface="Gill Sans"/>
              <a:cs typeface="Gill Sans"/>
              <a:sym typeface="Gill Sans"/>
            </a:endParaRPr>
          </a:p>
        </p:txBody>
      </p:sp>
      <p:sp>
        <p:nvSpPr>
          <p:cNvPr id="208" name="Google Shape;208;p49"/>
          <p:cNvSpPr txBox="1"/>
          <p:nvPr/>
        </p:nvSpPr>
        <p:spPr>
          <a:xfrm>
            <a:off x="729814" y="1298313"/>
            <a:ext cx="184666" cy="4001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Gill Sans"/>
              <a:ea typeface="Gill Sans"/>
              <a:cs typeface="Gill Sans"/>
              <a:sym typeface="Gill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2" name="Shape 212"/>
        <p:cNvGrpSpPr/>
        <p:nvPr/>
      </p:nvGrpSpPr>
      <p:grpSpPr>
        <a:xfrm>
          <a:off x="0" y="0"/>
          <a:ext cx="0" cy="0"/>
          <a:chOff x="0" y="0"/>
          <a:chExt cx="0" cy="0"/>
        </a:xfrm>
      </p:grpSpPr>
      <p:sp>
        <p:nvSpPr>
          <p:cNvPr id="213" name="Google Shape;213;p50"/>
          <p:cNvSpPr txBox="1"/>
          <p:nvPr>
            <p:ph type="title"/>
          </p:nvPr>
        </p:nvSpPr>
        <p:spPr>
          <a:xfrm>
            <a:off x="457200" y="63419"/>
            <a:ext cx="8229600" cy="857250"/>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chemeClr val="dk1"/>
              </a:buClr>
              <a:buFont typeface="Cabin"/>
              <a:buNone/>
            </a:pPr>
            <a:r>
              <a:rPr b="0" i="0" lang="en-US" sz="3200" u="none" cap="none" strike="noStrike">
                <a:solidFill>
                  <a:schemeClr val="dk1"/>
                </a:solidFill>
                <a:latin typeface="Cabin"/>
                <a:ea typeface="Cabin"/>
                <a:cs typeface="Cabin"/>
                <a:sym typeface="Cabin"/>
              </a:rPr>
              <a:t>A disciplined approach is needed to develop the theory and methods for using </a:t>
            </a:r>
            <a:r>
              <a:rPr b="0" i="1" lang="en-US" sz="3200" u="none" cap="none" strike="noStrike">
                <a:solidFill>
                  <a:schemeClr val="dk1"/>
                </a:solidFill>
                <a:latin typeface="Cabin"/>
                <a:ea typeface="Cabin"/>
                <a:cs typeface="Cabin"/>
                <a:sym typeface="Cabin"/>
              </a:rPr>
              <a:t>All</a:t>
            </a:r>
            <a:r>
              <a:rPr b="0" i="0" lang="en-US" sz="3200" u="none" cap="none" strike="noStrike">
                <a:solidFill>
                  <a:schemeClr val="dk1"/>
                </a:solidFill>
                <a:latin typeface="Cabin"/>
                <a:ea typeface="Cabin"/>
                <a:cs typeface="Cabin"/>
                <a:sym typeface="Cabin"/>
              </a:rPr>
              <a:t> data</a:t>
            </a:r>
            <a:endParaRPr b="0" i="0" sz="3200" u="none" cap="none" strike="noStrike">
              <a:solidFill>
                <a:schemeClr val="dk1"/>
              </a:solidFill>
              <a:latin typeface="Cabin"/>
              <a:ea typeface="Cabin"/>
              <a:cs typeface="Cabin"/>
              <a:sym typeface="Cabin"/>
            </a:endParaRPr>
          </a:p>
        </p:txBody>
      </p:sp>
      <p:grpSp>
        <p:nvGrpSpPr>
          <p:cNvPr id="214" name="Google Shape;214;p50"/>
          <p:cNvGrpSpPr/>
          <p:nvPr/>
        </p:nvGrpSpPr>
        <p:grpSpPr>
          <a:xfrm>
            <a:off x="1527471" y="985469"/>
            <a:ext cx="6249422" cy="4094851"/>
            <a:chOff x="1527471" y="972509"/>
            <a:chExt cx="6249422" cy="4094851"/>
          </a:xfrm>
        </p:grpSpPr>
        <p:sp>
          <p:nvSpPr>
            <p:cNvPr id="215" name="Google Shape;215;p50"/>
            <p:cNvSpPr/>
            <p:nvPr/>
          </p:nvSpPr>
          <p:spPr>
            <a:xfrm>
              <a:off x="1527471" y="972509"/>
              <a:ext cx="6249422" cy="4094851"/>
            </a:xfrm>
            <a:prstGeom prst="rect">
              <a:avLst/>
            </a:prstGeom>
            <a:solidFill>
              <a:srgbClr val="FFFFFF"/>
            </a:solidFill>
            <a:ln cap="flat" cmpd="sng" w="38100">
              <a:solidFill>
                <a:srgbClr val="80000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16" name="Google Shape;216;p50"/>
            <p:cNvGrpSpPr/>
            <p:nvPr/>
          </p:nvGrpSpPr>
          <p:grpSpPr>
            <a:xfrm>
              <a:off x="1527471" y="972509"/>
              <a:ext cx="6236463" cy="4094851"/>
              <a:chOff x="1527471" y="894749"/>
              <a:chExt cx="6236463" cy="4094851"/>
            </a:xfrm>
          </p:grpSpPr>
          <p:grpSp>
            <p:nvGrpSpPr>
              <p:cNvPr id="217" name="Google Shape;217;p50"/>
              <p:cNvGrpSpPr/>
              <p:nvPr/>
            </p:nvGrpSpPr>
            <p:grpSpPr>
              <a:xfrm>
                <a:off x="1527471" y="920669"/>
                <a:ext cx="6236463" cy="4068931"/>
                <a:chOff x="1527471" y="920669"/>
                <a:chExt cx="6236463" cy="4068931"/>
              </a:xfrm>
            </p:grpSpPr>
            <p:sp>
              <p:nvSpPr>
                <p:cNvPr id="218" name="Google Shape;218;p50"/>
                <p:cNvSpPr/>
                <p:nvPr/>
              </p:nvSpPr>
              <p:spPr>
                <a:xfrm>
                  <a:off x="4639223" y="920669"/>
                  <a:ext cx="3124711" cy="4068931"/>
                </a:xfrm>
                <a:prstGeom prst="rect">
                  <a:avLst/>
                </a:prstGeom>
                <a:solidFill>
                  <a:srgbClr val="FEEC8E">
                    <a:alpha val="40784"/>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9" name="Google Shape;219;p50"/>
                <p:cNvSpPr/>
                <p:nvPr/>
              </p:nvSpPr>
              <p:spPr>
                <a:xfrm>
                  <a:off x="1527471" y="920669"/>
                  <a:ext cx="3124711" cy="4068931"/>
                </a:xfrm>
                <a:prstGeom prst="rect">
                  <a:avLst/>
                </a:prstGeom>
                <a:solidFill>
                  <a:srgbClr val="800000">
                    <a:alpha val="40784"/>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20" name="Google Shape;220;p50"/>
              <p:cNvSpPr txBox="1"/>
              <p:nvPr/>
            </p:nvSpPr>
            <p:spPr>
              <a:xfrm>
                <a:off x="2999840" y="894749"/>
                <a:ext cx="3385111"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chemeClr val="dk1"/>
                    </a:solidFill>
                    <a:latin typeface="Gill Sans"/>
                    <a:ea typeface="Gill Sans"/>
                    <a:cs typeface="Gill Sans"/>
                    <a:sym typeface="Gill Sans"/>
                  </a:rPr>
                  <a:t>SDAL Research Model</a:t>
                </a:r>
                <a:endParaRPr b="1" sz="2800">
                  <a:solidFill>
                    <a:schemeClr val="dk1"/>
                  </a:solidFill>
                  <a:latin typeface="Gill Sans"/>
                  <a:ea typeface="Gill Sans"/>
                  <a:cs typeface="Gill Sans"/>
                  <a:sym typeface="Gill Sans"/>
                </a:endParaRPr>
              </a:p>
            </p:txBody>
          </p:sp>
          <p:grpSp>
            <p:nvGrpSpPr>
              <p:cNvPr id="221" name="Google Shape;221;p50"/>
              <p:cNvGrpSpPr/>
              <p:nvPr/>
            </p:nvGrpSpPr>
            <p:grpSpPr>
              <a:xfrm>
                <a:off x="1639145" y="1434744"/>
                <a:ext cx="5967620" cy="3473350"/>
                <a:chOff x="1950161" y="1434744"/>
                <a:chExt cx="5967620" cy="3473350"/>
              </a:xfrm>
            </p:grpSpPr>
            <p:sp>
              <p:nvSpPr>
                <p:cNvPr id="222" name="Google Shape;222;p50"/>
                <p:cNvSpPr txBox="1"/>
                <p:nvPr/>
              </p:nvSpPr>
              <p:spPr>
                <a:xfrm>
                  <a:off x="5355288" y="1827360"/>
                  <a:ext cx="2562493" cy="646331"/>
                </a:xfrm>
                <a:prstGeom prst="rect">
                  <a:avLst/>
                </a:prstGeom>
                <a:solidFill>
                  <a:srgbClr val="95B3D7"/>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Research Questions and Literature Review</a:t>
                  </a:r>
                  <a:endParaRPr sz="1800">
                    <a:solidFill>
                      <a:schemeClr val="dk1"/>
                    </a:solidFill>
                    <a:latin typeface="Gill Sans"/>
                    <a:ea typeface="Gill Sans"/>
                    <a:cs typeface="Gill Sans"/>
                    <a:sym typeface="Gill Sans"/>
                  </a:endParaRPr>
                </a:p>
              </p:txBody>
            </p:sp>
            <p:sp>
              <p:nvSpPr>
                <p:cNvPr id="223" name="Google Shape;223;p50"/>
                <p:cNvSpPr txBox="1"/>
                <p:nvPr/>
              </p:nvSpPr>
              <p:spPr>
                <a:xfrm>
                  <a:off x="5355288" y="2943116"/>
                  <a:ext cx="2562492" cy="646331"/>
                </a:xfrm>
                <a:prstGeom prst="rect">
                  <a:avLst/>
                </a:prstGeom>
                <a:solidFill>
                  <a:srgbClr val="95B3D7"/>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Statistical Modeling and Data Analyses</a:t>
                  </a:r>
                  <a:endParaRPr sz="1800">
                    <a:solidFill>
                      <a:schemeClr val="dk1"/>
                    </a:solidFill>
                    <a:latin typeface="Gill Sans"/>
                    <a:ea typeface="Gill Sans"/>
                    <a:cs typeface="Gill Sans"/>
                    <a:sym typeface="Gill Sans"/>
                  </a:endParaRPr>
                </a:p>
              </p:txBody>
            </p:sp>
            <p:sp>
              <p:nvSpPr>
                <p:cNvPr id="224" name="Google Shape;224;p50"/>
                <p:cNvSpPr txBox="1"/>
                <p:nvPr/>
              </p:nvSpPr>
              <p:spPr>
                <a:xfrm>
                  <a:off x="5355288" y="4015542"/>
                  <a:ext cx="2562492" cy="892552"/>
                </a:xfrm>
                <a:prstGeom prst="rect">
                  <a:avLst/>
                </a:prstGeom>
                <a:solidFill>
                  <a:srgbClr val="95B3D7"/>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800">
                    <a:solidFill>
                      <a:schemeClr val="dk1"/>
                    </a:solidFill>
                    <a:latin typeface="Gill Sans"/>
                    <a:ea typeface="Gill Sans"/>
                    <a:cs typeface="Gill Sans"/>
                    <a:sym typeface="Gill Sans"/>
                  </a:endParaRPr>
                </a:p>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Analysis of Research Questions</a:t>
                  </a:r>
                  <a:endParaRPr/>
                </a:p>
                <a:p>
                  <a:pPr indent="0" lvl="0" marL="0" marR="0" rtl="0" algn="ctr">
                    <a:spcBef>
                      <a:spcPts val="0"/>
                    </a:spcBef>
                    <a:spcAft>
                      <a:spcPts val="0"/>
                    </a:spcAft>
                    <a:buNone/>
                  </a:pPr>
                  <a:r>
                    <a:t/>
                  </a:r>
                  <a:endParaRPr sz="800">
                    <a:solidFill>
                      <a:schemeClr val="dk1"/>
                    </a:solidFill>
                    <a:latin typeface="Gill Sans"/>
                    <a:ea typeface="Gill Sans"/>
                    <a:cs typeface="Gill Sans"/>
                    <a:sym typeface="Gill Sans"/>
                  </a:endParaRPr>
                </a:p>
              </p:txBody>
            </p:sp>
            <p:sp>
              <p:nvSpPr>
                <p:cNvPr id="225" name="Google Shape;225;p50"/>
                <p:cNvSpPr txBox="1"/>
                <p:nvPr/>
              </p:nvSpPr>
              <p:spPr>
                <a:xfrm>
                  <a:off x="1950161" y="1827360"/>
                  <a:ext cx="2562493" cy="646331"/>
                </a:xfrm>
                <a:prstGeom prst="rect">
                  <a:avLst/>
                </a:prstGeom>
                <a:solidFill>
                  <a:srgbClr val="93B3D7"/>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Data Source Discovery, Inventory, and Access</a:t>
                  </a:r>
                  <a:endParaRPr sz="1800">
                    <a:solidFill>
                      <a:schemeClr val="dk1"/>
                    </a:solidFill>
                    <a:latin typeface="Gill Sans"/>
                    <a:ea typeface="Gill Sans"/>
                    <a:cs typeface="Gill Sans"/>
                    <a:sym typeface="Gill Sans"/>
                  </a:endParaRPr>
                </a:p>
              </p:txBody>
            </p:sp>
            <p:sp>
              <p:nvSpPr>
                <p:cNvPr id="226" name="Google Shape;226;p50"/>
                <p:cNvSpPr txBox="1"/>
                <p:nvPr/>
              </p:nvSpPr>
              <p:spPr>
                <a:xfrm>
                  <a:off x="1950161" y="2943116"/>
                  <a:ext cx="2562600" cy="646200"/>
                </a:xfrm>
                <a:prstGeom prst="rect">
                  <a:avLst/>
                </a:prstGeom>
                <a:solidFill>
                  <a:srgbClr val="93B3D7"/>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Data Quality, preparation, and integration </a:t>
                  </a:r>
                  <a:endParaRPr sz="1800">
                    <a:solidFill>
                      <a:schemeClr val="dk1"/>
                    </a:solidFill>
                    <a:latin typeface="Gill Sans"/>
                    <a:ea typeface="Gill Sans"/>
                    <a:cs typeface="Gill Sans"/>
                    <a:sym typeface="Gill Sans"/>
                  </a:endParaRPr>
                </a:p>
              </p:txBody>
            </p:sp>
            <p:sp>
              <p:nvSpPr>
                <p:cNvPr id="227" name="Google Shape;227;p50"/>
                <p:cNvSpPr txBox="1"/>
                <p:nvPr/>
              </p:nvSpPr>
              <p:spPr>
                <a:xfrm>
                  <a:off x="1950161" y="3974233"/>
                  <a:ext cx="2562492" cy="923330"/>
                </a:xfrm>
                <a:prstGeom prst="rect">
                  <a:avLst/>
                </a:prstGeom>
                <a:solidFill>
                  <a:srgbClr val="93B3D7"/>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Gill Sans"/>
                      <a:ea typeface="Gill Sans"/>
                      <a:cs typeface="Gill Sans"/>
                      <a:sym typeface="Gill Sans"/>
                    </a:rPr>
                    <a:t>Lessons Learned Using Multiple data sources   and types</a:t>
                  </a:r>
                  <a:endParaRPr sz="1800">
                    <a:solidFill>
                      <a:schemeClr val="dk1"/>
                    </a:solidFill>
                    <a:latin typeface="Gill Sans"/>
                    <a:ea typeface="Gill Sans"/>
                    <a:cs typeface="Gill Sans"/>
                    <a:sym typeface="Gill Sans"/>
                  </a:endParaRPr>
                </a:p>
              </p:txBody>
            </p:sp>
            <p:sp>
              <p:nvSpPr>
                <p:cNvPr id="228" name="Google Shape;228;p50"/>
                <p:cNvSpPr txBox="1"/>
                <p:nvPr/>
              </p:nvSpPr>
              <p:spPr>
                <a:xfrm>
                  <a:off x="2092027" y="1434744"/>
                  <a:ext cx="2262158"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Gill Sans"/>
                      <a:ea typeface="Gill Sans"/>
                      <a:cs typeface="Gill Sans"/>
                      <a:sym typeface="Gill Sans"/>
                    </a:rPr>
                    <a:t>Data Framework</a:t>
                  </a:r>
                  <a:endParaRPr b="1" sz="2400">
                    <a:solidFill>
                      <a:schemeClr val="dk1"/>
                    </a:solidFill>
                    <a:latin typeface="Gill Sans"/>
                    <a:ea typeface="Gill Sans"/>
                    <a:cs typeface="Gill Sans"/>
                    <a:sym typeface="Gill Sans"/>
                  </a:endParaRPr>
                </a:p>
              </p:txBody>
            </p:sp>
            <p:sp>
              <p:nvSpPr>
                <p:cNvPr id="229" name="Google Shape;229;p50"/>
                <p:cNvSpPr txBox="1"/>
                <p:nvPr/>
              </p:nvSpPr>
              <p:spPr>
                <a:xfrm>
                  <a:off x="5720760" y="1434744"/>
                  <a:ext cx="1736373"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Gill Sans"/>
                      <a:ea typeface="Gill Sans"/>
                      <a:cs typeface="Gill Sans"/>
                      <a:sym typeface="Gill Sans"/>
                    </a:rPr>
                    <a:t>Case Studies</a:t>
                  </a:r>
                  <a:endParaRPr b="1" sz="2400">
                    <a:solidFill>
                      <a:schemeClr val="dk1"/>
                    </a:solidFill>
                    <a:latin typeface="Gill Sans"/>
                    <a:ea typeface="Gill Sans"/>
                    <a:cs typeface="Gill Sans"/>
                    <a:sym typeface="Gill Sans"/>
                  </a:endParaRPr>
                </a:p>
              </p:txBody>
            </p:sp>
            <p:cxnSp>
              <p:nvCxnSpPr>
                <p:cNvPr id="230" name="Google Shape;230;p50"/>
                <p:cNvCxnSpPr/>
                <p:nvPr/>
              </p:nvCxnSpPr>
              <p:spPr>
                <a:xfrm rot="10800000">
                  <a:off x="4522505" y="3249840"/>
                  <a:ext cx="842634" cy="0"/>
                </a:xfrm>
                <a:prstGeom prst="straightConnector1">
                  <a:avLst/>
                </a:prstGeom>
                <a:noFill/>
                <a:ln cap="flat" cmpd="sng" w="38100">
                  <a:solidFill>
                    <a:srgbClr val="800000"/>
                  </a:solidFill>
                  <a:prstDash val="dash"/>
                  <a:round/>
                  <a:headEnd len="med" w="med" type="stealth"/>
                  <a:tailEnd len="med" w="med" type="stealth"/>
                </a:ln>
                <a:effectLst>
                  <a:outerShdw blurRad="40000" rotWithShape="0" dir="5400000" dist="20000">
                    <a:srgbClr val="000000">
                      <a:alpha val="37647"/>
                    </a:srgbClr>
                  </a:outerShdw>
                </a:effectLst>
              </p:spPr>
            </p:cxnSp>
            <p:cxnSp>
              <p:nvCxnSpPr>
                <p:cNvPr id="231" name="Google Shape;231;p50"/>
                <p:cNvCxnSpPr/>
                <p:nvPr/>
              </p:nvCxnSpPr>
              <p:spPr>
                <a:xfrm flipH="1">
                  <a:off x="3231407" y="2473691"/>
                  <a:ext cx="1" cy="469425"/>
                </a:xfrm>
                <a:prstGeom prst="straightConnector1">
                  <a:avLst/>
                </a:prstGeom>
                <a:noFill/>
                <a:ln cap="flat" cmpd="sng" w="28575">
                  <a:solidFill>
                    <a:srgbClr val="800000"/>
                  </a:solidFill>
                  <a:prstDash val="solid"/>
                  <a:round/>
                  <a:headEnd len="med" w="med" type="stealth"/>
                  <a:tailEnd len="med" w="med" type="stealth"/>
                </a:ln>
                <a:effectLst>
                  <a:outerShdw blurRad="40000" rotWithShape="0" dir="5400000" dist="20000">
                    <a:srgbClr val="000000">
                      <a:alpha val="37647"/>
                    </a:srgbClr>
                  </a:outerShdw>
                </a:effectLst>
              </p:spPr>
            </p:cxnSp>
            <p:cxnSp>
              <p:nvCxnSpPr>
                <p:cNvPr id="232" name="Google Shape;232;p50"/>
                <p:cNvCxnSpPr/>
                <p:nvPr/>
              </p:nvCxnSpPr>
              <p:spPr>
                <a:xfrm flipH="1">
                  <a:off x="6636534" y="2473691"/>
                  <a:ext cx="1" cy="469425"/>
                </a:xfrm>
                <a:prstGeom prst="straightConnector1">
                  <a:avLst/>
                </a:prstGeom>
                <a:noFill/>
                <a:ln cap="flat" cmpd="sng" w="28575">
                  <a:solidFill>
                    <a:srgbClr val="800000"/>
                  </a:solidFill>
                  <a:prstDash val="solid"/>
                  <a:round/>
                  <a:headEnd len="med" w="med" type="stealth"/>
                  <a:tailEnd len="med" w="med" type="stealth"/>
                </a:ln>
                <a:effectLst>
                  <a:outerShdw blurRad="40000" rotWithShape="0" dir="5400000" dist="20000">
                    <a:srgbClr val="000000">
                      <a:alpha val="37647"/>
                    </a:srgbClr>
                  </a:outerShdw>
                </a:effectLst>
              </p:spPr>
            </p:cxnSp>
            <p:cxnSp>
              <p:nvCxnSpPr>
                <p:cNvPr id="233" name="Google Shape;233;p50"/>
                <p:cNvCxnSpPr/>
                <p:nvPr/>
              </p:nvCxnSpPr>
              <p:spPr>
                <a:xfrm flipH="1">
                  <a:off x="6636534" y="3546117"/>
                  <a:ext cx="1" cy="469425"/>
                </a:xfrm>
                <a:prstGeom prst="straightConnector1">
                  <a:avLst/>
                </a:prstGeom>
                <a:noFill/>
                <a:ln cap="flat" cmpd="sng" w="28575">
                  <a:solidFill>
                    <a:srgbClr val="800000"/>
                  </a:solidFill>
                  <a:prstDash val="solid"/>
                  <a:round/>
                  <a:headEnd len="med" w="med" type="stealth"/>
                  <a:tailEnd len="med" w="med" type="stealth"/>
                </a:ln>
                <a:effectLst>
                  <a:outerShdw blurRad="40000" rotWithShape="0" dir="5400000" dist="20000">
                    <a:srgbClr val="000000">
                      <a:alpha val="37647"/>
                    </a:srgbClr>
                  </a:outerShdw>
                </a:effectLst>
              </p:spPr>
            </p:cxnSp>
            <p:cxnSp>
              <p:nvCxnSpPr>
                <p:cNvPr id="234" name="Google Shape;234;p50"/>
                <p:cNvCxnSpPr/>
                <p:nvPr/>
              </p:nvCxnSpPr>
              <p:spPr>
                <a:xfrm flipH="1">
                  <a:off x="3231407" y="3570804"/>
                  <a:ext cx="1" cy="469425"/>
                </a:xfrm>
                <a:prstGeom prst="straightConnector1">
                  <a:avLst/>
                </a:prstGeom>
                <a:noFill/>
                <a:ln cap="flat" cmpd="sng" w="28575">
                  <a:solidFill>
                    <a:srgbClr val="800000"/>
                  </a:solidFill>
                  <a:prstDash val="solid"/>
                  <a:round/>
                  <a:headEnd len="med" w="med" type="stealth"/>
                  <a:tailEnd len="med" w="med" type="stealth"/>
                </a:ln>
                <a:effectLst>
                  <a:outerShdw blurRad="40000" rotWithShape="0" dir="5400000" dist="20000">
                    <a:srgbClr val="000000">
                      <a:alpha val="37647"/>
                    </a:srgbClr>
                  </a:outerShdw>
                </a:effectLst>
              </p:spPr>
            </p:cxnSp>
            <p:cxnSp>
              <p:nvCxnSpPr>
                <p:cNvPr id="235" name="Google Shape;235;p50"/>
                <p:cNvCxnSpPr/>
                <p:nvPr/>
              </p:nvCxnSpPr>
              <p:spPr>
                <a:xfrm rot="10800000">
                  <a:off x="4512654" y="2164320"/>
                  <a:ext cx="842634" cy="0"/>
                </a:xfrm>
                <a:prstGeom prst="straightConnector1">
                  <a:avLst/>
                </a:prstGeom>
                <a:noFill/>
                <a:ln cap="flat" cmpd="sng" w="38100">
                  <a:solidFill>
                    <a:srgbClr val="800000"/>
                  </a:solidFill>
                  <a:prstDash val="dash"/>
                  <a:round/>
                  <a:headEnd len="med" w="med" type="stealth"/>
                  <a:tailEnd len="med" w="med" type="stealth"/>
                </a:ln>
                <a:effectLst>
                  <a:outerShdw blurRad="40000" rotWithShape="0" dir="5400000" dist="20000">
                    <a:srgbClr val="000000">
                      <a:alpha val="37647"/>
                    </a:srgbClr>
                  </a:outerShdw>
                </a:effectLst>
              </p:spPr>
            </p:cxnSp>
          </p:grpSp>
        </p:grpSp>
      </p:grpSp>
    </p:spTree>
  </p:cSld>
  <p:clrMapOvr>
    <a:masterClrMapping/>
  </p:clrMapOvr>
  <p:transition spd="slow">
    <p:fade thruBlk="1"/>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9" name="Shape 239"/>
        <p:cNvGrpSpPr/>
        <p:nvPr/>
      </p:nvGrpSpPr>
      <p:grpSpPr>
        <a:xfrm>
          <a:off x="0" y="0"/>
          <a:ext cx="0" cy="0"/>
          <a:chOff x="0" y="0"/>
          <a:chExt cx="0" cy="0"/>
        </a:xfrm>
      </p:grpSpPr>
      <p:grpSp>
        <p:nvGrpSpPr>
          <p:cNvPr id="240" name="Google Shape;240;p51"/>
          <p:cNvGrpSpPr/>
          <p:nvPr/>
        </p:nvGrpSpPr>
        <p:grpSpPr>
          <a:xfrm>
            <a:off x="7247741" y="1795279"/>
            <a:ext cx="1362785" cy="353561"/>
            <a:chOff x="7247741" y="2393706"/>
            <a:chExt cx="1362785" cy="471414"/>
          </a:xfrm>
        </p:grpSpPr>
        <p:sp>
          <p:nvSpPr>
            <p:cNvPr id="241" name="Google Shape;241;p51"/>
            <p:cNvSpPr/>
            <p:nvPr/>
          </p:nvSpPr>
          <p:spPr>
            <a:xfrm>
              <a:off x="7294513" y="2393706"/>
              <a:ext cx="1256582" cy="471414"/>
            </a:xfrm>
            <a:prstGeom prst="ellipse">
              <a:avLst/>
            </a:prstGeom>
            <a:solidFill>
              <a:srgbClr val="BDEEBE"/>
            </a:solidFill>
            <a:ln cap="flat" cmpd="sng" w="9525">
              <a:solidFill>
                <a:srgbClr val="00000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2" name="Google Shape;242;p51"/>
            <p:cNvSpPr txBox="1"/>
            <p:nvPr/>
          </p:nvSpPr>
          <p:spPr>
            <a:xfrm>
              <a:off x="7247741" y="2451429"/>
              <a:ext cx="1362785" cy="41036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Garamond"/>
                  <a:ea typeface="Garamond"/>
                  <a:cs typeface="Garamond"/>
                  <a:sym typeface="Garamond"/>
                </a:rPr>
                <a:t>ASSESSMENT</a:t>
              </a:r>
              <a:endParaRPr b="1" sz="1400">
                <a:solidFill>
                  <a:schemeClr val="dk1"/>
                </a:solidFill>
                <a:latin typeface="Garamond"/>
                <a:ea typeface="Garamond"/>
                <a:cs typeface="Garamond"/>
                <a:sym typeface="Garamond"/>
              </a:endParaRPr>
            </a:p>
          </p:txBody>
        </p:sp>
      </p:grpSp>
      <p:grpSp>
        <p:nvGrpSpPr>
          <p:cNvPr id="243" name="Google Shape;243;p51"/>
          <p:cNvGrpSpPr/>
          <p:nvPr/>
        </p:nvGrpSpPr>
        <p:grpSpPr>
          <a:xfrm>
            <a:off x="114650" y="688398"/>
            <a:ext cx="8557861" cy="3190788"/>
            <a:chOff x="114649" y="917864"/>
            <a:chExt cx="8557861" cy="4254384"/>
          </a:xfrm>
        </p:grpSpPr>
        <p:sp>
          <p:nvSpPr>
            <p:cNvPr id="244" name="Google Shape;244;p51"/>
            <p:cNvSpPr txBox="1"/>
            <p:nvPr/>
          </p:nvSpPr>
          <p:spPr>
            <a:xfrm>
              <a:off x="6265566" y="1986500"/>
              <a:ext cx="1071127" cy="69762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Garamond"/>
                  <a:ea typeface="Garamond"/>
                  <a:cs typeface="Garamond"/>
                  <a:sym typeface="Garamond"/>
                </a:rPr>
                <a:t>GAIN</a:t>
              </a:r>
              <a:endParaRPr/>
            </a:p>
            <a:p>
              <a:pPr indent="0" lvl="0" marL="0" marR="0" rtl="0" algn="ctr">
                <a:spcBef>
                  <a:spcPts val="0"/>
                </a:spcBef>
                <a:spcAft>
                  <a:spcPts val="0"/>
                </a:spcAft>
                <a:buNone/>
              </a:pPr>
              <a:r>
                <a:rPr b="1" lang="en-US" sz="1400">
                  <a:solidFill>
                    <a:schemeClr val="dk1"/>
                  </a:solidFill>
                  <a:latin typeface="Garamond"/>
                  <a:ea typeface="Garamond"/>
                  <a:cs typeface="Garamond"/>
                  <a:sym typeface="Garamond"/>
                </a:rPr>
                <a:t>INSIGHTS</a:t>
              </a:r>
              <a:endParaRPr b="1" sz="1400">
                <a:solidFill>
                  <a:schemeClr val="dk1"/>
                </a:solidFill>
                <a:latin typeface="Garamond"/>
                <a:ea typeface="Garamond"/>
                <a:cs typeface="Garamond"/>
                <a:sym typeface="Garamond"/>
              </a:endParaRPr>
            </a:p>
          </p:txBody>
        </p:sp>
        <p:sp>
          <p:nvSpPr>
            <p:cNvPr id="245" name="Google Shape;245;p51"/>
            <p:cNvSpPr txBox="1"/>
            <p:nvPr/>
          </p:nvSpPr>
          <p:spPr>
            <a:xfrm>
              <a:off x="6064168" y="2887492"/>
              <a:ext cx="1754557" cy="69762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Garamond"/>
                  <a:ea typeface="Garamond"/>
                  <a:cs typeface="Garamond"/>
                  <a:sym typeface="Garamond"/>
                </a:rPr>
                <a:t>DEVELOP</a:t>
              </a:r>
              <a:endParaRPr/>
            </a:p>
            <a:p>
              <a:pPr indent="0" lvl="0" marL="0" marR="0" rtl="0" algn="ctr">
                <a:spcBef>
                  <a:spcPts val="0"/>
                </a:spcBef>
                <a:spcAft>
                  <a:spcPts val="0"/>
                </a:spcAft>
                <a:buNone/>
              </a:pPr>
              <a:r>
                <a:rPr b="1" lang="en-US" sz="1400">
                  <a:solidFill>
                    <a:schemeClr val="dk1"/>
                  </a:solidFill>
                  <a:latin typeface="Garamond"/>
                  <a:ea typeface="Garamond"/>
                  <a:cs typeface="Garamond"/>
                  <a:sym typeface="Garamond"/>
                </a:rPr>
                <a:t>INTERVENTIONS</a:t>
              </a:r>
              <a:endParaRPr b="1" sz="1400">
                <a:solidFill>
                  <a:schemeClr val="dk1"/>
                </a:solidFill>
                <a:latin typeface="Garamond"/>
                <a:ea typeface="Garamond"/>
                <a:cs typeface="Garamond"/>
                <a:sym typeface="Garamond"/>
              </a:endParaRPr>
            </a:p>
          </p:txBody>
        </p:sp>
        <p:cxnSp>
          <p:nvCxnSpPr>
            <p:cNvPr id="246" name="Google Shape;246;p51"/>
            <p:cNvCxnSpPr/>
            <p:nvPr/>
          </p:nvCxnSpPr>
          <p:spPr>
            <a:xfrm>
              <a:off x="6218804" y="2674007"/>
              <a:ext cx="1030105" cy="0"/>
            </a:xfrm>
            <a:prstGeom prst="straightConnector1">
              <a:avLst/>
            </a:prstGeom>
            <a:noFill/>
            <a:ln cap="flat" cmpd="sng" w="25400">
              <a:solidFill>
                <a:srgbClr val="000000"/>
              </a:solidFill>
              <a:prstDash val="solid"/>
              <a:round/>
              <a:headEnd len="sm" w="sm" type="none"/>
              <a:tailEnd len="med" w="med" type="stealth"/>
            </a:ln>
            <a:effectLst>
              <a:outerShdw blurRad="40000" rotWithShape="0" dir="5400000" dist="20000">
                <a:srgbClr val="000000">
                  <a:alpha val="37647"/>
                </a:srgbClr>
              </a:outerShdw>
            </a:effectLst>
          </p:spPr>
        </p:cxnSp>
        <p:cxnSp>
          <p:nvCxnSpPr>
            <p:cNvPr id="247" name="Google Shape;247;p51"/>
            <p:cNvCxnSpPr/>
            <p:nvPr/>
          </p:nvCxnSpPr>
          <p:spPr>
            <a:xfrm flipH="1" rot="5400000">
              <a:off x="6415971" y="952345"/>
              <a:ext cx="1244194" cy="1638527"/>
            </a:xfrm>
            <a:prstGeom prst="bentConnector2">
              <a:avLst/>
            </a:prstGeom>
            <a:noFill/>
            <a:ln cap="flat" cmpd="sng" w="25400">
              <a:solidFill>
                <a:srgbClr val="000000"/>
              </a:solidFill>
              <a:prstDash val="solid"/>
              <a:round/>
              <a:headEnd len="sm" w="sm" type="none"/>
              <a:tailEnd len="med" w="med" type="stealth"/>
            </a:ln>
            <a:effectLst>
              <a:outerShdw blurRad="40000" rotWithShape="0" dir="5400000" dist="20000">
                <a:srgbClr val="000000">
                  <a:alpha val="37647"/>
                </a:srgbClr>
              </a:outerShdw>
            </a:effectLst>
          </p:spPr>
        </p:cxnSp>
        <p:sp>
          <p:nvSpPr>
            <p:cNvPr id="248" name="Google Shape;248;p51"/>
            <p:cNvSpPr/>
            <p:nvPr/>
          </p:nvSpPr>
          <p:spPr>
            <a:xfrm>
              <a:off x="228070" y="1062841"/>
              <a:ext cx="5841062" cy="3771393"/>
            </a:xfrm>
            <a:prstGeom prst="rect">
              <a:avLst/>
            </a:prstGeom>
            <a:noFill/>
            <a:ln cap="flat" cmpd="sng" w="12700">
              <a:solidFill>
                <a:srgbClr val="95373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9" name="Google Shape;249;p51"/>
            <p:cNvSpPr/>
            <p:nvPr/>
          </p:nvSpPr>
          <p:spPr>
            <a:xfrm>
              <a:off x="114649" y="917864"/>
              <a:ext cx="8557861" cy="4125383"/>
            </a:xfrm>
            <a:prstGeom prst="rect">
              <a:avLst/>
            </a:prstGeom>
            <a:noFill/>
            <a:ln cap="flat" cmpd="sng" w="12700">
              <a:solidFill>
                <a:srgbClr val="00000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50" name="Google Shape;250;p51"/>
            <p:cNvPicPr preferRelativeResize="0"/>
            <p:nvPr/>
          </p:nvPicPr>
          <p:blipFill rotWithShape="1">
            <a:blip r:embed="rId3">
              <a:alphaModFix/>
            </a:blip>
            <a:srcRect b="0" l="0" r="0" t="0"/>
            <a:stretch/>
          </p:blipFill>
          <p:spPr>
            <a:xfrm>
              <a:off x="114649" y="1068560"/>
              <a:ext cx="6150917" cy="4103688"/>
            </a:xfrm>
            <a:prstGeom prst="rect">
              <a:avLst/>
            </a:prstGeom>
            <a:noFill/>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4" name="Shape 254"/>
        <p:cNvGrpSpPr/>
        <p:nvPr/>
      </p:nvGrpSpPr>
      <p:grpSpPr>
        <a:xfrm>
          <a:off x="0" y="0"/>
          <a:ext cx="0" cy="0"/>
          <a:chOff x="0" y="0"/>
          <a:chExt cx="0" cy="0"/>
        </a:xfrm>
      </p:grpSpPr>
      <p:sp>
        <p:nvSpPr>
          <p:cNvPr id="255" name="Google Shape;255;p5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Font typeface="Cabin"/>
              <a:buNone/>
            </a:pPr>
            <a:r>
              <a:rPr b="0" i="0" lang="en-US" sz="3200" u="none" cap="none" strike="noStrike">
                <a:solidFill>
                  <a:schemeClr val="dk1"/>
                </a:solidFill>
                <a:latin typeface="Cabin"/>
                <a:ea typeface="Cabin"/>
                <a:cs typeface="Cabin"/>
                <a:sym typeface="Cabin"/>
              </a:rPr>
              <a:t>Application to Measuring Innovation</a:t>
            </a:r>
            <a:endParaRPr b="0" i="0" sz="3200" u="none" cap="none" strike="noStrike">
              <a:solidFill>
                <a:schemeClr val="dk1"/>
              </a:solidFill>
              <a:latin typeface="Cabin"/>
              <a:ea typeface="Cabin"/>
              <a:cs typeface="Cabin"/>
              <a:sym typeface="Cabin"/>
            </a:endParaRPr>
          </a:p>
        </p:txBody>
      </p:sp>
      <p:sp>
        <p:nvSpPr>
          <p:cNvPr id="256" name="Google Shape;256;p52"/>
          <p:cNvSpPr txBox="1"/>
          <p:nvPr>
            <p:ph idx="1" type="body"/>
          </p:nvPr>
        </p:nvSpPr>
        <p:spPr>
          <a:xfrm>
            <a:off x="457200" y="1006078"/>
            <a:ext cx="8229600" cy="3394472"/>
          </a:xfrm>
          <a:prstGeom prst="rect">
            <a:avLst/>
          </a:prstGeom>
          <a:noFill/>
          <a:ln>
            <a:noFill/>
          </a:ln>
        </p:spPr>
        <p:txBody>
          <a:bodyPr anchorCtr="0" anchor="t" bIns="45700" lIns="91425" spcFirstLastPara="1" rIns="91425" wrap="square" tIns="45700">
            <a:noAutofit/>
          </a:bodyPr>
          <a:lstStyle/>
          <a:p>
            <a:pPr indent="-350838" lvl="0" marL="681038" marR="0" rtl="0" algn="l">
              <a:spcBef>
                <a:spcPts val="0"/>
              </a:spcBef>
              <a:spcAft>
                <a:spcPts val="0"/>
              </a:spcAft>
              <a:buClr>
                <a:schemeClr val="dk1"/>
              </a:buClr>
              <a:buSzPts val="2800"/>
              <a:buFont typeface="Arial"/>
              <a:buChar char="•"/>
            </a:pPr>
            <a:r>
              <a:rPr b="0" i="0" lang="en-US" sz="2800" u="none" cap="none" strike="noStrike">
                <a:solidFill>
                  <a:schemeClr val="dk1"/>
                </a:solidFill>
                <a:latin typeface="Gill Sans"/>
                <a:ea typeface="Gill Sans"/>
                <a:cs typeface="Gill Sans"/>
                <a:sym typeface="Gill Sans"/>
              </a:rPr>
              <a:t>Start with research questions</a:t>
            </a:r>
            <a:endParaRPr/>
          </a:p>
          <a:p>
            <a:pPr indent="-350838" lvl="0" marL="681038" marR="0" rtl="0" algn="l">
              <a:spcBef>
                <a:spcPts val="560"/>
              </a:spcBef>
              <a:spcAft>
                <a:spcPts val="0"/>
              </a:spcAft>
              <a:buClr>
                <a:schemeClr val="dk1"/>
              </a:buClr>
              <a:buSzPts val="2800"/>
              <a:buFont typeface="Arial"/>
              <a:buChar char="•"/>
            </a:pPr>
            <a:r>
              <a:rPr b="0" i="0" lang="en-US" sz="2800" u="none" cap="none" strike="noStrike">
                <a:solidFill>
                  <a:schemeClr val="dk1"/>
                </a:solidFill>
                <a:latin typeface="Gill Sans"/>
                <a:ea typeface="Gill Sans"/>
                <a:cs typeface="Gill Sans"/>
                <a:sym typeface="Gill Sans"/>
              </a:rPr>
              <a:t>Data source discovery, data inventory, and data acquisition</a:t>
            </a:r>
            <a:endParaRPr/>
          </a:p>
          <a:p>
            <a:pPr indent="-350838" lvl="0" marL="681038" marR="0" rtl="0" algn="l">
              <a:spcBef>
                <a:spcPts val="560"/>
              </a:spcBef>
              <a:spcAft>
                <a:spcPts val="0"/>
              </a:spcAft>
              <a:buClr>
                <a:schemeClr val="dk1"/>
              </a:buClr>
              <a:buSzPts val="2800"/>
              <a:buFont typeface="Arial"/>
              <a:buChar char="•"/>
            </a:pPr>
            <a:r>
              <a:rPr b="0" i="0" lang="en-US" sz="2800" u="none" cap="none" strike="noStrike">
                <a:solidFill>
                  <a:schemeClr val="dk1"/>
                </a:solidFill>
                <a:latin typeface="Gill Sans"/>
                <a:ea typeface="Gill Sans"/>
                <a:cs typeface="Gill Sans"/>
                <a:sym typeface="Gill Sans"/>
              </a:rPr>
              <a:t>Data profiling, data preparation, and data linkage</a:t>
            </a:r>
            <a:endParaRPr/>
          </a:p>
          <a:p>
            <a:pPr indent="-350838" lvl="0" marL="681038" marR="0" rtl="0" algn="l">
              <a:spcBef>
                <a:spcPts val="560"/>
              </a:spcBef>
              <a:spcAft>
                <a:spcPts val="0"/>
              </a:spcAft>
              <a:buClr>
                <a:schemeClr val="dk1"/>
              </a:buClr>
              <a:buSzPts val="2800"/>
              <a:buFont typeface="Arial"/>
              <a:buChar char="•"/>
            </a:pPr>
            <a:r>
              <a:rPr b="0" i="0" lang="en-US" sz="2800" u="none" cap="none" strike="noStrike">
                <a:solidFill>
                  <a:schemeClr val="dk1"/>
                </a:solidFill>
                <a:latin typeface="Gill Sans"/>
                <a:ea typeface="Gill Sans"/>
                <a:cs typeface="Gill Sans"/>
                <a:sym typeface="Gill Sans"/>
              </a:rPr>
              <a:t>Data exploration and modeling and analysis to benchmark new sources of data and use in analysis </a:t>
            </a:r>
            <a:endParaRPr b="0" i="0" sz="2800" u="none" cap="none" strike="noStrike">
              <a:solidFill>
                <a:schemeClr val="dk1"/>
              </a:solidFill>
              <a:latin typeface="Gill Sans"/>
              <a:ea typeface="Gill Sans"/>
              <a:cs typeface="Gill Sans"/>
              <a:sym typeface="Gill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0" name="Shape 260"/>
        <p:cNvGrpSpPr/>
        <p:nvPr/>
      </p:nvGrpSpPr>
      <p:grpSpPr>
        <a:xfrm>
          <a:off x="0" y="0"/>
          <a:ext cx="0" cy="0"/>
          <a:chOff x="0" y="0"/>
          <a:chExt cx="0" cy="0"/>
        </a:xfrm>
      </p:grpSpPr>
      <p:sp>
        <p:nvSpPr>
          <p:cNvPr id="261" name="Google Shape;261;p53"/>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Font typeface="Cabin"/>
              <a:buNone/>
            </a:pPr>
            <a:r>
              <a:rPr b="0" i="0" lang="en-US" sz="3200" u="none" cap="none" strike="noStrike">
                <a:solidFill>
                  <a:schemeClr val="dk1"/>
                </a:solidFill>
                <a:latin typeface="Cabin"/>
                <a:ea typeface="Cabin"/>
                <a:cs typeface="Cabin"/>
                <a:sym typeface="Cabin"/>
              </a:rPr>
              <a:t>Documents to Read</a:t>
            </a:r>
            <a:endParaRPr b="0" i="0" sz="3200" u="none" cap="none" strike="noStrike">
              <a:solidFill>
                <a:schemeClr val="dk1"/>
              </a:solidFill>
              <a:latin typeface="Cabin"/>
              <a:ea typeface="Cabin"/>
              <a:cs typeface="Cabin"/>
              <a:sym typeface="Cabin"/>
            </a:endParaRPr>
          </a:p>
        </p:txBody>
      </p:sp>
      <p:sp>
        <p:nvSpPr>
          <p:cNvPr id="262" name="Google Shape;262;p53"/>
          <p:cNvSpPr txBox="1"/>
          <p:nvPr>
            <p:ph idx="1" type="body"/>
          </p:nvPr>
        </p:nvSpPr>
        <p:spPr>
          <a:xfrm>
            <a:off x="228600" y="895350"/>
            <a:ext cx="8458200" cy="3623072"/>
          </a:xfrm>
          <a:prstGeom prst="rect">
            <a:avLst/>
          </a:prstGeom>
          <a:noFill/>
          <a:ln>
            <a:noFill/>
          </a:ln>
        </p:spPr>
        <p:txBody>
          <a:bodyPr anchorCtr="0" anchor="t" bIns="45700" lIns="91425" spcFirstLastPara="1" rIns="91425" wrap="square" tIns="45700">
            <a:noAutofit/>
          </a:bodyPr>
          <a:lstStyle/>
          <a:p>
            <a:pPr indent="-7938" lvl="0" marL="338138" marR="0" rtl="0" algn="l">
              <a:spcBef>
                <a:spcPts val="0"/>
              </a:spcBef>
              <a:spcAft>
                <a:spcPts val="0"/>
              </a:spcAft>
              <a:buClr>
                <a:srgbClr val="800000"/>
              </a:buClr>
              <a:buFont typeface="Arial"/>
              <a:buNone/>
            </a:pPr>
            <a:r>
              <a:rPr b="1" i="0" lang="en-US" sz="2400" u="none" cap="none" strike="noStrike">
                <a:solidFill>
                  <a:srgbClr val="800000"/>
                </a:solidFill>
                <a:latin typeface="Gill Sans"/>
                <a:ea typeface="Gill Sans"/>
                <a:cs typeface="Gill Sans"/>
                <a:sym typeface="Gill Sans"/>
              </a:rPr>
              <a:t>NSF NCSES White Paper </a:t>
            </a:r>
            <a:r>
              <a:rPr b="0" i="0" lang="en-US" sz="2400" u="none" cap="none" strike="noStrike">
                <a:solidFill>
                  <a:schemeClr val="dk1"/>
                </a:solidFill>
                <a:latin typeface="Gill Sans"/>
                <a:ea typeface="Gill Sans"/>
                <a:cs typeface="Gill Sans"/>
                <a:sym typeface="Gill Sans"/>
              </a:rPr>
              <a:t>- Improving our Understanding of Catalysts for Innovation – Measuring Innovation in New Ways</a:t>
            </a:r>
            <a:endParaRPr/>
          </a:p>
          <a:p>
            <a:pPr indent="-7938" lvl="0" marL="338138" marR="0" rtl="0" algn="l">
              <a:spcBef>
                <a:spcPts val="480"/>
              </a:spcBef>
              <a:spcAft>
                <a:spcPts val="0"/>
              </a:spcAft>
              <a:buClr>
                <a:schemeClr val="dk1"/>
              </a:buClr>
              <a:buFont typeface="Arial"/>
              <a:buNone/>
            </a:pPr>
            <a:r>
              <a:rPr b="0" i="0" lang="en-US" sz="2400" u="none" cap="none" strike="noStrike">
                <a:solidFill>
                  <a:schemeClr val="dk1"/>
                </a:solidFill>
                <a:latin typeface="Gill Sans"/>
                <a:ea typeface="Gill Sans"/>
                <a:cs typeface="Gill Sans"/>
                <a:sym typeface="Gill Sans"/>
              </a:rPr>
              <a:t>Literature </a:t>
            </a:r>
            <a:endParaRPr/>
          </a:p>
          <a:p>
            <a:pPr indent="-7938" lvl="0" marL="338138" marR="0" rtl="0" algn="l">
              <a:spcBef>
                <a:spcPts val="480"/>
              </a:spcBef>
              <a:spcAft>
                <a:spcPts val="0"/>
              </a:spcAft>
              <a:buClr>
                <a:srgbClr val="800000"/>
              </a:buClr>
              <a:buFont typeface="Arial"/>
              <a:buNone/>
            </a:pPr>
            <a:r>
              <a:rPr b="1" i="0" lang="en-US" sz="2400" u="none" cap="none" strike="noStrike">
                <a:solidFill>
                  <a:srgbClr val="800000"/>
                </a:solidFill>
                <a:latin typeface="Gill Sans"/>
                <a:ea typeface="Gill Sans"/>
                <a:cs typeface="Gill Sans"/>
                <a:sym typeface="Gill Sans"/>
              </a:rPr>
              <a:t>CNSTAT folder</a:t>
            </a:r>
            <a:r>
              <a:rPr b="0" i="0" lang="en-US" sz="2400" u="none" cap="none" strike="noStrike">
                <a:solidFill>
                  <a:schemeClr val="dk1"/>
                </a:solidFill>
                <a:latin typeface="Gill Sans"/>
                <a:ea typeface="Gill Sans"/>
                <a:cs typeface="Gill Sans"/>
                <a:sym typeface="Gill Sans"/>
              </a:rPr>
              <a:t>: Gault, von Hippel, others</a:t>
            </a:r>
            <a:endParaRPr/>
          </a:p>
          <a:p>
            <a:pPr indent="-7938" lvl="0" marL="338138" marR="0" rtl="0" algn="l">
              <a:spcBef>
                <a:spcPts val="480"/>
              </a:spcBef>
              <a:spcAft>
                <a:spcPts val="0"/>
              </a:spcAft>
              <a:buClr>
                <a:srgbClr val="800000"/>
              </a:buClr>
              <a:buFont typeface="Arial"/>
              <a:buNone/>
            </a:pPr>
            <a:r>
              <a:rPr b="1" i="0" lang="en-US" sz="2400" u="none" cap="none" strike="noStrike">
                <a:solidFill>
                  <a:srgbClr val="800000"/>
                </a:solidFill>
                <a:latin typeface="Gill Sans"/>
                <a:ea typeface="Gill Sans"/>
                <a:cs typeface="Gill Sans"/>
                <a:sym typeface="Gill Sans"/>
              </a:rPr>
              <a:t>Literature folder</a:t>
            </a:r>
            <a:r>
              <a:rPr b="0" i="0" lang="en-US" sz="2400" u="none" cap="none" strike="noStrike">
                <a:solidFill>
                  <a:schemeClr val="dk1"/>
                </a:solidFill>
                <a:latin typeface="Gill Sans"/>
                <a:ea typeface="Gill Sans"/>
                <a:cs typeface="Gill Sans"/>
                <a:sym typeface="Gill Sans"/>
              </a:rPr>
              <a:t>: </a:t>
            </a:r>
            <a:endParaRPr/>
          </a:p>
          <a:p>
            <a:pPr indent="-350838" lvl="0" marL="681038"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Gill Sans"/>
                <a:ea typeface="Gill Sans"/>
                <a:cs typeface="Gill Sans"/>
                <a:sym typeface="Gill Sans"/>
              </a:rPr>
              <a:t>Must reads folder (which also includes the white paper)</a:t>
            </a:r>
            <a:endParaRPr/>
          </a:p>
          <a:p>
            <a:pPr indent="-350838" lvl="0" marL="681038"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Gill Sans"/>
                <a:ea typeface="Gill Sans"/>
                <a:cs typeface="Gill Sans"/>
                <a:sym typeface="Gill Sans"/>
              </a:rPr>
              <a:t>Measuring Innovation – A Business Perspective</a:t>
            </a:r>
            <a:endParaRPr/>
          </a:p>
          <a:p>
            <a:pPr indent="-198437" lvl="0" marL="681038"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Gill Sans"/>
              <a:ea typeface="Gill Sans"/>
              <a:cs typeface="Gill Sans"/>
              <a:sym typeface="Gill Sans"/>
            </a:endParaRPr>
          </a:p>
          <a:p>
            <a:pPr indent="-7938" lvl="0" marL="338138" marR="0" rtl="0" algn="l">
              <a:spcBef>
                <a:spcPts val="480"/>
              </a:spcBef>
              <a:spcAft>
                <a:spcPts val="0"/>
              </a:spcAft>
              <a:buClr>
                <a:schemeClr val="dk1"/>
              </a:buClr>
              <a:buFont typeface="Arial"/>
              <a:buNone/>
            </a:pPr>
            <a:r>
              <a:t/>
            </a:r>
            <a:endParaRPr b="0" i="0" sz="2400" u="none" cap="none" strike="noStrike">
              <a:solidFill>
                <a:schemeClr val="dk1"/>
              </a:solidFill>
              <a:latin typeface="Gill Sans"/>
              <a:ea typeface="Gill Sans"/>
              <a:cs typeface="Gill Sans"/>
              <a:sym typeface="Gill Sans"/>
            </a:endParaRPr>
          </a:p>
          <a:p>
            <a:pPr indent="-7938" lvl="0" marL="338138" marR="0" rtl="0" algn="l">
              <a:spcBef>
                <a:spcPts val="480"/>
              </a:spcBef>
              <a:spcAft>
                <a:spcPts val="0"/>
              </a:spcAft>
              <a:buClr>
                <a:schemeClr val="dk1"/>
              </a:buClr>
              <a:buFont typeface="Arial"/>
              <a:buNone/>
            </a:pPr>
            <a:r>
              <a:t/>
            </a:r>
            <a:endParaRPr b="0" i="0" sz="2400" u="none" cap="none" strike="noStrike">
              <a:solidFill>
                <a:schemeClr val="dk1"/>
              </a:solidFill>
              <a:latin typeface="Gill Sans"/>
              <a:ea typeface="Gill Sans"/>
              <a:cs typeface="Gill Sans"/>
              <a:sym typeface="Gill Sans"/>
            </a:endParaRPr>
          </a:p>
        </p:txBody>
      </p:sp>
    </p:spTree>
  </p:cSld>
  <p:clrMapOvr>
    <a:masterClrMapping/>
  </p:clrMapOvr>
</p:sld>
</file>

<file path=ppt/theme/theme1.xml><?xml version="1.0" encoding="utf-8"?>
<a:theme xmlns:a="http://schemas.openxmlformats.org/drawingml/2006/main" xmlns:r="http://schemas.openxmlformats.org/officeDocument/2006/relationships" name="2_SDAL_Biocomplexity">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DAL SLIDES Feb 2016">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7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8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