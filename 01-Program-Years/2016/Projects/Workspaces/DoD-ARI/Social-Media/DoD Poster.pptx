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emf" ContentType="image/x-em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36576000" cy="41549638"/>
  <p:notesSz cx="6858000" cy="9144000"/>
  <p:defaultTextStyle>
    <a:defPPr>
      <a:defRPr lang="en-US"/>
    </a:defPPr>
    <a:lvl1pPr marL="0" algn="l" defTabSz="3749954" rtl="0" eaLnBrk="1" latinLnBrk="0" hangingPunct="1">
      <a:defRPr sz="7382" kern="1200">
        <a:solidFill>
          <a:schemeClr val="tx1"/>
        </a:solidFill>
        <a:latin typeface="+mn-lt"/>
        <a:ea typeface="+mn-ea"/>
        <a:cs typeface="+mn-cs"/>
      </a:defRPr>
    </a:lvl1pPr>
    <a:lvl2pPr marL="1874977" algn="l" defTabSz="3749954" rtl="0" eaLnBrk="1" latinLnBrk="0" hangingPunct="1">
      <a:defRPr sz="7382" kern="1200">
        <a:solidFill>
          <a:schemeClr val="tx1"/>
        </a:solidFill>
        <a:latin typeface="+mn-lt"/>
        <a:ea typeface="+mn-ea"/>
        <a:cs typeface="+mn-cs"/>
      </a:defRPr>
    </a:lvl2pPr>
    <a:lvl3pPr marL="3749954" algn="l" defTabSz="3749954" rtl="0" eaLnBrk="1" latinLnBrk="0" hangingPunct="1">
      <a:defRPr sz="7382" kern="1200">
        <a:solidFill>
          <a:schemeClr val="tx1"/>
        </a:solidFill>
        <a:latin typeface="+mn-lt"/>
        <a:ea typeface="+mn-ea"/>
        <a:cs typeface="+mn-cs"/>
      </a:defRPr>
    </a:lvl3pPr>
    <a:lvl4pPr marL="5624932" algn="l" defTabSz="3749954" rtl="0" eaLnBrk="1" latinLnBrk="0" hangingPunct="1">
      <a:defRPr sz="7382" kern="1200">
        <a:solidFill>
          <a:schemeClr val="tx1"/>
        </a:solidFill>
        <a:latin typeface="+mn-lt"/>
        <a:ea typeface="+mn-ea"/>
        <a:cs typeface="+mn-cs"/>
      </a:defRPr>
    </a:lvl4pPr>
    <a:lvl5pPr marL="7499909" algn="l" defTabSz="3749954" rtl="0" eaLnBrk="1" latinLnBrk="0" hangingPunct="1">
      <a:defRPr sz="7382" kern="1200">
        <a:solidFill>
          <a:schemeClr val="tx1"/>
        </a:solidFill>
        <a:latin typeface="+mn-lt"/>
        <a:ea typeface="+mn-ea"/>
        <a:cs typeface="+mn-cs"/>
      </a:defRPr>
    </a:lvl5pPr>
    <a:lvl6pPr marL="9374886" algn="l" defTabSz="3749954" rtl="0" eaLnBrk="1" latinLnBrk="0" hangingPunct="1">
      <a:defRPr sz="7382" kern="1200">
        <a:solidFill>
          <a:schemeClr val="tx1"/>
        </a:solidFill>
        <a:latin typeface="+mn-lt"/>
        <a:ea typeface="+mn-ea"/>
        <a:cs typeface="+mn-cs"/>
      </a:defRPr>
    </a:lvl6pPr>
    <a:lvl7pPr marL="11249863" algn="l" defTabSz="3749954" rtl="0" eaLnBrk="1" latinLnBrk="0" hangingPunct="1">
      <a:defRPr sz="7382" kern="1200">
        <a:solidFill>
          <a:schemeClr val="tx1"/>
        </a:solidFill>
        <a:latin typeface="+mn-lt"/>
        <a:ea typeface="+mn-ea"/>
        <a:cs typeface="+mn-cs"/>
      </a:defRPr>
    </a:lvl7pPr>
    <a:lvl8pPr marL="13124840" algn="l" defTabSz="3749954" rtl="0" eaLnBrk="1" latinLnBrk="0" hangingPunct="1">
      <a:defRPr sz="7382" kern="1200">
        <a:solidFill>
          <a:schemeClr val="tx1"/>
        </a:solidFill>
        <a:latin typeface="+mn-lt"/>
        <a:ea typeface="+mn-ea"/>
        <a:cs typeface="+mn-cs"/>
      </a:defRPr>
    </a:lvl8pPr>
    <a:lvl9pPr marL="14999818" algn="l" defTabSz="3749954" rtl="0" eaLnBrk="1" latinLnBrk="0" hangingPunct="1">
      <a:defRPr sz="738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086">
          <p15:clr>
            <a:srgbClr val="A4A3A4"/>
          </p15:clr>
        </p15:guide>
        <p15:guide id="2" pos="115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extLst/>
  </p:cmAuthor>
  <p:cmAuthor id="2" name="Microsoft Office User" initials="Office [2]"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FE7F1"/>
    <a:srgbClr val="7778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44"/>
    <p:restoredTop sz="94613"/>
  </p:normalViewPr>
  <p:slideViewPr>
    <p:cSldViewPr snapToGrid="0" snapToObjects="1">
      <p:cViewPr>
        <p:scale>
          <a:sx n="40" d="100"/>
          <a:sy n="40" d="100"/>
        </p:scale>
        <p:origin x="1560" y="144"/>
      </p:cViewPr>
      <p:guideLst>
        <p:guide orient="horz" pos="13086"/>
        <p:guide pos="115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commentAuthors" Target="commentAuthors.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7-15T14:20:19.945" idx="1">
    <p:pos x="10" y="10"/>
    <p:text>The first box will contain information about the project and the research questions.</p:text>
    <p:extLst>
      <p:ext uri="{C676402C-5697-4E1C-873F-D02D1690AC5C}">
        <p15:threadingInfo xmlns:p15="http://schemas.microsoft.com/office/powerpoint/2012/main" timeZoneBias="240"/>
      </p:ext>
    </p:extLst>
  </p:cm>
  <p:cm authorId="2" dt="2016-07-15T14:20:53.543" idx="1">
    <p:pos x="106" y="106"/>
    <p:text>The gray box will contain the steps/criteria of how we choose these social media outlets and the advantages/disadvantages of each.</p:text>
    <p:extLst>
      <p:ext uri="{C676402C-5697-4E1C-873F-D02D1690AC5C}">
        <p15:threadingInfo xmlns:p15="http://schemas.microsoft.com/office/powerpoint/2012/main" timeZoneBias="24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6799909"/>
            <a:ext cx="31089600" cy="14465430"/>
          </a:xfrm>
        </p:spPr>
        <p:txBody>
          <a:bodyPr anchor="b"/>
          <a:lstStyle>
            <a:lvl1pPr algn="ctr">
              <a:defRPr sz="24000"/>
            </a:lvl1pPr>
          </a:lstStyle>
          <a:p>
            <a:r>
              <a:rPr lang="en-US" smtClean="0"/>
              <a:t>Click to edit Master title style</a:t>
            </a:r>
            <a:endParaRPr lang="en-US" dirty="0"/>
          </a:p>
        </p:txBody>
      </p:sp>
      <p:sp>
        <p:nvSpPr>
          <p:cNvPr id="3" name="Subtitle 2"/>
          <p:cNvSpPr>
            <a:spLocks noGrp="1"/>
          </p:cNvSpPr>
          <p:nvPr>
            <p:ph type="subTitle" idx="1"/>
          </p:nvPr>
        </p:nvSpPr>
        <p:spPr>
          <a:xfrm>
            <a:off x="4572000" y="21823181"/>
            <a:ext cx="27432000" cy="10031542"/>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7/18/16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44227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7/18/16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846938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10358568"/>
            <a:ext cx="31546800" cy="17283492"/>
          </a:xfrm>
        </p:spPr>
        <p:txBody>
          <a:bodyPr anchor="b"/>
          <a:lstStyle>
            <a:lvl1pPr>
              <a:defRPr sz="24000"/>
            </a:lvl1pPr>
          </a:lstStyle>
          <a:p>
            <a:r>
              <a:rPr lang="en-US" smtClean="0"/>
              <a:t>Click to edit Master title style</a:t>
            </a:r>
            <a:endParaRPr lang="en-US" dirty="0"/>
          </a:p>
        </p:txBody>
      </p:sp>
      <p:sp>
        <p:nvSpPr>
          <p:cNvPr id="3" name="Text Placeholder 2"/>
          <p:cNvSpPr>
            <a:spLocks noGrp="1"/>
          </p:cNvSpPr>
          <p:nvPr>
            <p:ph type="body" idx="1"/>
          </p:nvPr>
        </p:nvSpPr>
        <p:spPr>
          <a:xfrm>
            <a:off x="2495552" y="27805569"/>
            <a:ext cx="31546800" cy="9088980"/>
          </a:xfrm>
        </p:spPr>
        <p:txBody>
          <a:bodyPr/>
          <a:lstStyle>
            <a:lvl1pPr marL="0" indent="0">
              <a:buNone/>
              <a:defRPr sz="9600">
                <a:solidFill>
                  <a:schemeClr val="tx1"/>
                </a:solidFill>
              </a:defRPr>
            </a:lvl1pPr>
            <a:lvl2pPr marL="1828800" indent="0">
              <a:buNone/>
              <a:defRPr sz="8000">
                <a:solidFill>
                  <a:schemeClr val="tx1">
                    <a:tint val="75000"/>
                  </a:schemeClr>
                </a:solidFill>
              </a:defRPr>
            </a:lvl2pPr>
            <a:lvl3pPr marL="3657600" indent="0">
              <a:buNone/>
              <a:defRPr sz="7200">
                <a:solidFill>
                  <a:schemeClr val="tx1">
                    <a:tint val="75000"/>
                  </a:schemeClr>
                </a:solidFill>
              </a:defRPr>
            </a:lvl3pPr>
            <a:lvl4pPr marL="5486400" indent="0">
              <a:buNone/>
              <a:defRPr sz="6400">
                <a:solidFill>
                  <a:schemeClr val="tx1">
                    <a:tint val="75000"/>
                  </a:schemeClr>
                </a:solidFill>
              </a:defRPr>
            </a:lvl4pPr>
            <a:lvl5pPr marL="7315200" indent="0">
              <a:buNone/>
              <a:defRPr sz="6400">
                <a:solidFill>
                  <a:schemeClr val="tx1">
                    <a:tint val="75000"/>
                  </a:schemeClr>
                </a:solidFill>
              </a:defRPr>
            </a:lvl5pPr>
            <a:lvl6pPr marL="9144000" indent="0">
              <a:buNone/>
              <a:defRPr sz="6400">
                <a:solidFill>
                  <a:schemeClr val="tx1">
                    <a:tint val="75000"/>
                  </a:schemeClr>
                </a:solidFill>
              </a:defRPr>
            </a:lvl6pPr>
            <a:lvl7pPr marL="10972800" indent="0">
              <a:buNone/>
              <a:defRPr sz="6400">
                <a:solidFill>
                  <a:schemeClr val="tx1">
                    <a:tint val="75000"/>
                  </a:schemeClr>
                </a:solidFill>
              </a:defRPr>
            </a:lvl7pPr>
            <a:lvl8pPr marL="12801600" indent="0">
              <a:buNone/>
              <a:defRPr sz="6400">
                <a:solidFill>
                  <a:schemeClr val="tx1">
                    <a:tint val="75000"/>
                  </a:schemeClr>
                </a:solidFill>
              </a:defRPr>
            </a:lvl8pPr>
            <a:lvl9pPr marL="14630400" indent="0">
              <a:buNone/>
              <a:defRPr sz="6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9D1B2C-7FEC-A643-940A-7934DC981F4F}" type="datetimeFigureOut">
              <a:rPr lang="en-US" smtClean="0"/>
              <a:t>7/18/16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969320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14600" y="11060667"/>
            <a:ext cx="15544800" cy="2636286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8516600" y="11060667"/>
            <a:ext cx="15544800" cy="2636286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99D1B2C-7FEC-A643-940A-7934DC981F4F}" type="datetimeFigureOut">
              <a:rPr lang="en-US" smtClean="0"/>
              <a:t>7/18/16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52579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212143"/>
            <a:ext cx="31546800" cy="803100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519368" y="10185435"/>
            <a:ext cx="15473360" cy="4991724"/>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4" name="Content Placeholder 3"/>
          <p:cNvSpPr>
            <a:spLocks noGrp="1"/>
          </p:cNvSpPr>
          <p:nvPr>
            <p:ph sz="half" idx="2"/>
          </p:nvPr>
        </p:nvSpPr>
        <p:spPr>
          <a:xfrm>
            <a:off x="2519368" y="15177160"/>
            <a:ext cx="15473360" cy="223233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8516602" y="10185435"/>
            <a:ext cx="15549564" cy="4991724"/>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6" name="Content Placeholder 5"/>
          <p:cNvSpPr>
            <a:spLocks noGrp="1"/>
          </p:cNvSpPr>
          <p:nvPr>
            <p:ph sz="quarter" idx="4"/>
          </p:nvPr>
        </p:nvSpPr>
        <p:spPr>
          <a:xfrm>
            <a:off x="18516602" y="15177160"/>
            <a:ext cx="15549564" cy="223233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99D1B2C-7FEC-A643-940A-7934DC981F4F}" type="datetimeFigureOut">
              <a:rPr lang="en-US" smtClean="0"/>
              <a:t>7/18/16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486215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99D1B2C-7FEC-A643-940A-7934DC981F4F}" type="datetimeFigureOut">
              <a:rPr lang="en-US" smtClean="0"/>
              <a:t>7/18/16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443996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D1B2C-7FEC-A643-940A-7934DC981F4F}" type="datetimeFigureOut">
              <a:rPr lang="en-US" smtClean="0"/>
              <a:t>7/18/16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42144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769976"/>
            <a:ext cx="11796712" cy="9694916"/>
          </a:xfrm>
        </p:spPr>
        <p:txBody>
          <a:bodyPr anchor="b"/>
          <a:lstStyle>
            <a:lvl1pPr>
              <a:defRPr sz="12800"/>
            </a:lvl1pPr>
          </a:lstStyle>
          <a:p>
            <a:r>
              <a:rPr lang="en-US" smtClean="0"/>
              <a:t>Click to edit Master title style</a:t>
            </a:r>
            <a:endParaRPr lang="en-US" dirty="0"/>
          </a:p>
        </p:txBody>
      </p:sp>
      <p:sp>
        <p:nvSpPr>
          <p:cNvPr id="3" name="Content Placeholder 2"/>
          <p:cNvSpPr>
            <a:spLocks noGrp="1"/>
          </p:cNvSpPr>
          <p:nvPr>
            <p:ph idx="1"/>
          </p:nvPr>
        </p:nvSpPr>
        <p:spPr>
          <a:xfrm>
            <a:off x="15549564" y="5982388"/>
            <a:ext cx="18516600" cy="29527173"/>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19364" y="12464892"/>
            <a:ext cx="11796712" cy="23092753"/>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D1B2C-7FEC-A643-940A-7934DC981F4F}" type="datetimeFigureOut">
              <a:rPr lang="en-US" smtClean="0"/>
              <a:t>7/18/16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3060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769976"/>
            <a:ext cx="11796712" cy="9694916"/>
          </a:xfrm>
        </p:spPr>
        <p:txBody>
          <a:bodyPr anchor="b"/>
          <a:lstStyle>
            <a:lvl1pPr>
              <a:defRPr sz="1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549564" y="5982388"/>
            <a:ext cx="18516600" cy="29527173"/>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2519364" y="12464892"/>
            <a:ext cx="11796712" cy="23092753"/>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D1B2C-7FEC-A643-940A-7934DC981F4F}" type="datetimeFigureOut">
              <a:rPr lang="en-US" smtClean="0"/>
              <a:t>7/18/16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79807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7/18/16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690270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2212133"/>
            <a:ext cx="7886700" cy="352113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14602" y="2212133"/>
            <a:ext cx="23202900" cy="3521139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7/18/16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46114877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2212143"/>
            <a:ext cx="31546800" cy="8031009"/>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14600" y="11060667"/>
            <a:ext cx="31546800" cy="2636286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514600" y="38510368"/>
            <a:ext cx="8229600" cy="2212134"/>
          </a:xfrm>
          <a:prstGeom prst="rect">
            <a:avLst/>
          </a:prstGeom>
        </p:spPr>
        <p:txBody>
          <a:bodyPr vert="horz" lIns="91440" tIns="45720" rIns="91440" bIns="45720" rtlCol="0" anchor="ctr"/>
          <a:lstStyle>
            <a:lvl1pPr algn="l">
              <a:defRPr sz="4800">
                <a:solidFill>
                  <a:schemeClr val="tx1">
                    <a:tint val="75000"/>
                  </a:schemeClr>
                </a:solidFill>
              </a:defRPr>
            </a:lvl1pPr>
          </a:lstStyle>
          <a:p>
            <a:fld id="{D99D1B2C-7FEC-A643-940A-7934DC981F4F}" type="datetimeFigureOut">
              <a:rPr lang="en-US" smtClean="0"/>
              <a:t>7/18/16</a:t>
            </a:fld>
            <a:endParaRPr lang="en-US"/>
          </a:p>
        </p:txBody>
      </p:sp>
      <p:sp>
        <p:nvSpPr>
          <p:cNvPr id="5" name="Footer Placeholder 4"/>
          <p:cNvSpPr>
            <a:spLocks noGrp="1"/>
          </p:cNvSpPr>
          <p:nvPr>
            <p:ph type="ftr" sz="quarter" idx="3"/>
          </p:nvPr>
        </p:nvSpPr>
        <p:spPr>
          <a:xfrm>
            <a:off x="12115800" y="38510368"/>
            <a:ext cx="12344400" cy="2212134"/>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8510368"/>
            <a:ext cx="8229600" cy="2212134"/>
          </a:xfrm>
          <a:prstGeom prst="rect">
            <a:avLst/>
          </a:prstGeom>
        </p:spPr>
        <p:txBody>
          <a:bodyPr vert="horz" lIns="91440" tIns="45720" rIns="91440" bIns="45720" rtlCol="0" anchor="ctr"/>
          <a:lstStyle>
            <a:lvl1pPr algn="r">
              <a:defRPr sz="4800">
                <a:solidFill>
                  <a:schemeClr val="tx1">
                    <a:tint val="75000"/>
                  </a:schemeClr>
                </a:solidFill>
              </a:defRPr>
            </a:lvl1pPr>
          </a:lstStyle>
          <a:p>
            <a:fld id="{692FF19A-555B-134D-AEFE-81A7C1130558}" type="slidenum">
              <a:rPr lang="en-US" smtClean="0"/>
              <a:t>‹#›</a:t>
            </a:fld>
            <a:endParaRPr lang="en-US"/>
          </a:p>
        </p:txBody>
      </p:sp>
    </p:spTree>
    <p:extLst>
      <p:ext uri="{BB962C8B-B14F-4D97-AF65-F5344CB8AC3E}">
        <p14:creationId xmlns:p14="http://schemas.microsoft.com/office/powerpoint/2010/main" val="1675132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comments" Target="../comments/comment1.xml"/><Relationship Id="rId1" Type="http://schemas.openxmlformats.org/officeDocument/2006/relationships/slideLayout" Target="../slideLayouts/slideLayout1.xml"/><Relationship Id="rId2"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p:cNvSpPr txBox="1"/>
          <p:nvPr/>
        </p:nvSpPr>
        <p:spPr>
          <a:xfrm>
            <a:off x="10496636" y="1700835"/>
            <a:ext cx="25323176" cy="1631216"/>
          </a:xfrm>
          <a:prstGeom prst="rect">
            <a:avLst/>
          </a:prstGeom>
          <a:noFill/>
        </p:spPr>
        <p:txBody>
          <a:bodyPr wrap="square" rtlCol="0">
            <a:spAutoFit/>
          </a:bodyPr>
          <a:lstStyle/>
          <a:p>
            <a:pPr algn="ctr"/>
            <a:r>
              <a:rPr lang="en-US" sz="9600" dirty="0" smtClean="0">
                <a:latin typeface="Raleway Medium"/>
                <a:ea typeface="Blanch Caps" charset="0"/>
                <a:cs typeface="Raleway Medium"/>
              </a:rPr>
              <a:t>Department of Defense: Social Media and Policy</a:t>
            </a:r>
            <a:endParaRPr lang="en-US" sz="9600" dirty="0">
              <a:latin typeface="Raleway Medium"/>
              <a:ea typeface="Blanch Caps" charset="0"/>
              <a:cs typeface="Raleway Medium"/>
            </a:endParaRPr>
          </a:p>
        </p:txBody>
      </p:sp>
      <p:sp>
        <p:nvSpPr>
          <p:cNvPr id="35" name="TextBox 34"/>
          <p:cNvSpPr txBox="1"/>
          <p:nvPr/>
        </p:nvSpPr>
        <p:spPr>
          <a:xfrm>
            <a:off x="11568382" y="3332051"/>
            <a:ext cx="15717314" cy="2123658"/>
          </a:xfrm>
          <a:prstGeom prst="rect">
            <a:avLst/>
          </a:prstGeom>
          <a:noFill/>
        </p:spPr>
        <p:txBody>
          <a:bodyPr wrap="square" rtlCol="0">
            <a:spAutoFit/>
          </a:bodyPr>
          <a:lstStyle/>
          <a:p>
            <a:pPr algn="ctr"/>
            <a:r>
              <a:rPr lang="en-US" sz="4400" dirty="0" smtClean="0">
                <a:solidFill>
                  <a:schemeClr val="bg2">
                    <a:lumMod val="50000"/>
                  </a:schemeClr>
                </a:solidFill>
                <a:latin typeface="Raleway" charset="0"/>
                <a:ea typeface="Raleway" charset="0"/>
                <a:cs typeface="Raleway" charset="0"/>
              </a:rPr>
              <a:t>Mark Almanza, Maddie </a:t>
            </a:r>
            <a:r>
              <a:rPr lang="en-US" sz="4400" dirty="0" err="1" smtClean="0">
                <a:solidFill>
                  <a:schemeClr val="bg2">
                    <a:lumMod val="50000"/>
                  </a:schemeClr>
                </a:solidFill>
                <a:latin typeface="Raleway" charset="0"/>
                <a:ea typeface="Raleway" charset="0"/>
                <a:cs typeface="Raleway" charset="0"/>
              </a:rPr>
              <a:t>Arnsbarger</a:t>
            </a:r>
            <a:r>
              <a:rPr lang="en-US" sz="4400" dirty="0" smtClean="0">
                <a:solidFill>
                  <a:schemeClr val="bg2">
                    <a:lumMod val="50000"/>
                  </a:schemeClr>
                </a:solidFill>
                <a:latin typeface="Raleway" charset="0"/>
                <a:ea typeface="Raleway" charset="0"/>
                <a:cs typeface="Raleway" charset="0"/>
              </a:rPr>
              <a:t>, Jessica Flynn, Millicent Grant, </a:t>
            </a:r>
            <a:r>
              <a:rPr lang="en-US" sz="4400" dirty="0" err="1" smtClean="0">
                <a:solidFill>
                  <a:schemeClr val="bg2">
                    <a:lumMod val="50000"/>
                  </a:schemeClr>
                </a:solidFill>
                <a:latin typeface="Raleway" charset="0"/>
                <a:ea typeface="Raleway" charset="0"/>
                <a:cs typeface="Raleway" charset="0"/>
              </a:rPr>
              <a:t>Gizem</a:t>
            </a:r>
            <a:r>
              <a:rPr lang="en-US" sz="4400" dirty="0" smtClean="0">
                <a:solidFill>
                  <a:schemeClr val="bg2">
                    <a:lumMod val="50000"/>
                  </a:schemeClr>
                </a:solidFill>
                <a:latin typeface="Raleway" charset="0"/>
                <a:ea typeface="Raleway" charset="0"/>
                <a:cs typeface="Raleway" charset="0"/>
              </a:rPr>
              <a:t> </a:t>
            </a:r>
            <a:r>
              <a:rPr lang="en-US" sz="4400" dirty="0" err="1" smtClean="0">
                <a:solidFill>
                  <a:schemeClr val="bg2">
                    <a:lumMod val="50000"/>
                  </a:schemeClr>
                </a:solidFill>
                <a:latin typeface="Raleway" charset="0"/>
                <a:ea typeface="Raleway" charset="0"/>
                <a:cs typeface="Raleway" charset="0"/>
              </a:rPr>
              <a:t>Korkmaz</a:t>
            </a:r>
            <a:r>
              <a:rPr lang="en-US" sz="4400" dirty="0" smtClean="0">
                <a:solidFill>
                  <a:schemeClr val="bg2">
                    <a:lumMod val="50000"/>
                  </a:schemeClr>
                </a:solidFill>
                <a:latin typeface="Raleway" charset="0"/>
                <a:ea typeface="Raleway" charset="0"/>
                <a:cs typeface="Raleway" charset="0"/>
              </a:rPr>
              <a:t>, Will </a:t>
            </a:r>
            <a:r>
              <a:rPr lang="en-US" sz="4400" dirty="0" err="1" smtClean="0">
                <a:solidFill>
                  <a:schemeClr val="bg2">
                    <a:lumMod val="50000"/>
                  </a:schemeClr>
                </a:solidFill>
                <a:latin typeface="Raleway" charset="0"/>
                <a:ea typeface="Raleway" charset="0"/>
                <a:cs typeface="Raleway" charset="0"/>
              </a:rPr>
              <a:t>Sandholtz</a:t>
            </a:r>
            <a:r>
              <a:rPr lang="en-US" sz="4400" dirty="0" smtClean="0">
                <a:solidFill>
                  <a:schemeClr val="bg2">
                    <a:lumMod val="50000"/>
                  </a:schemeClr>
                </a:solidFill>
                <a:latin typeface="Raleway" charset="0"/>
                <a:ea typeface="Raleway" charset="0"/>
                <a:cs typeface="Raleway" charset="0"/>
              </a:rPr>
              <a:t>, Emily Stark, Katie </a:t>
            </a:r>
            <a:r>
              <a:rPr lang="en-US" sz="4400" dirty="0" err="1" smtClean="0">
                <a:solidFill>
                  <a:schemeClr val="bg2">
                    <a:lumMod val="50000"/>
                  </a:schemeClr>
                </a:solidFill>
                <a:latin typeface="Raleway" charset="0"/>
                <a:ea typeface="Raleway" charset="0"/>
                <a:cs typeface="Raleway" charset="0"/>
              </a:rPr>
              <a:t>Ziemer</a:t>
            </a:r>
            <a:endParaRPr lang="en-US" sz="4400" dirty="0" smtClean="0">
              <a:solidFill>
                <a:schemeClr val="bg2">
                  <a:lumMod val="50000"/>
                </a:schemeClr>
              </a:solidFill>
              <a:latin typeface="Raleway" charset="0"/>
              <a:ea typeface="Raleway" charset="0"/>
              <a:cs typeface="Raleway" charset="0"/>
            </a:endParaRPr>
          </a:p>
          <a:p>
            <a:pPr algn="ctr"/>
            <a:r>
              <a:rPr lang="en-US" sz="4400" i="1" dirty="0" smtClean="0">
                <a:solidFill>
                  <a:schemeClr val="bg2">
                    <a:lumMod val="50000"/>
                  </a:schemeClr>
                </a:solidFill>
                <a:latin typeface="Raleway" charset="0"/>
                <a:ea typeface="Raleway" charset="0"/>
                <a:cs typeface="Raleway" charset="0"/>
              </a:rPr>
              <a:t>Data Science for Public Good</a:t>
            </a:r>
          </a:p>
        </p:txBody>
      </p:sp>
      <p:sp>
        <p:nvSpPr>
          <p:cNvPr id="16" name="TextBox 15"/>
          <p:cNvSpPr txBox="1"/>
          <p:nvPr/>
        </p:nvSpPr>
        <p:spPr>
          <a:xfrm>
            <a:off x="1060704" y="5942783"/>
            <a:ext cx="21572190" cy="5216813"/>
          </a:xfrm>
          <a:prstGeom prst="rect">
            <a:avLst/>
          </a:prstGeom>
          <a:solidFill>
            <a:srgbClr val="5E89B4">
              <a:alpha val="20000"/>
            </a:srgbClr>
          </a:solidFill>
        </p:spPr>
        <p:txBody>
          <a:bodyPr wrap="square" lIns="182880" tIns="182880" rIns="182880" bIns="182880" rtlCol="0">
            <a:spAutoFit/>
          </a:bodyPr>
          <a:lstStyle/>
          <a:p>
            <a:r>
              <a:rPr lang="en-US" sz="3500" dirty="0" smtClean="0">
                <a:latin typeface="Raleway Medium" charset="0"/>
              </a:rPr>
              <a:t>Individuals at Fort </a:t>
            </a:r>
            <a:r>
              <a:rPr lang="is-IS" sz="3500" dirty="0" smtClean="0">
                <a:latin typeface="Raleway Medium" charset="0"/>
              </a:rPr>
              <a:t>… of the Department of Defense are interested in retention and attrition rates of army soldiers, and they wonder if information pertaining to these ideas could be discovered by analyzing data from social media outlets. Specifically, they asked </a:t>
            </a:r>
          </a:p>
          <a:p>
            <a:pPr marL="457200" indent="-457200">
              <a:buFont typeface="Arial" charset="0"/>
              <a:buChar char="•"/>
            </a:pPr>
            <a:r>
              <a:rPr lang="is-IS" sz="3500" dirty="0">
                <a:latin typeface="Raleway Medium" charset="0"/>
              </a:rPr>
              <a:t>h</a:t>
            </a:r>
            <a:r>
              <a:rPr lang="en-US" sz="3500" dirty="0" smtClean="0">
                <a:latin typeface="Raleway Medium" charset="0"/>
              </a:rPr>
              <a:t>ow </a:t>
            </a:r>
            <a:r>
              <a:rPr lang="en-US" sz="3500" dirty="0">
                <a:latin typeface="Raleway Medium" charset="0"/>
              </a:rPr>
              <a:t>does the </a:t>
            </a:r>
            <a:r>
              <a:rPr lang="en-US" sz="3500" dirty="0" smtClean="0">
                <a:latin typeface="Raleway Medium" charset="0"/>
              </a:rPr>
              <a:t>US Army </a:t>
            </a:r>
            <a:r>
              <a:rPr lang="en-US" sz="3500" dirty="0">
                <a:latin typeface="Raleway Medium" charset="0"/>
              </a:rPr>
              <a:t>population use social </a:t>
            </a:r>
            <a:r>
              <a:rPr lang="en-US" sz="3500" dirty="0" smtClean="0">
                <a:latin typeface="Raleway Medium" charset="0"/>
              </a:rPr>
              <a:t>media</a:t>
            </a:r>
            <a:r>
              <a:rPr lang="en-US" sz="3500" dirty="0">
                <a:latin typeface="Raleway Medium" charset="0"/>
              </a:rPr>
              <a:t>?</a:t>
            </a:r>
            <a:endParaRPr lang="en-US" sz="3500" dirty="0" smtClean="0">
              <a:latin typeface="Raleway Medium" charset="0"/>
            </a:endParaRPr>
          </a:p>
          <a:p>
            <a:pPr marL="457200" indent="-457200">
              <a:buFont typeface="Arial" charset="0"/>
              <a:buChar char="•"/>
            </a:pPr>
            <a:r>
              <a:rPr lang="en-US" sz="3500" dirty="0" smtClean="0">
                <a:latin typeface="Raleway Medium" charset="0"/>
              </a:rPr>
              <a:t>are </a:t>
            </a:r>
            <a:r>
              <a:rPr lang="en-US" sz="3500" dirty="0">
                <a:latin typeface="Raleway Medium" charset="0"/>
              </a:rPr>
              <a:t>there differences across </a:t>
            </a:r>
            <a:r>
              <a:rPr lang="en-US" sz="3500" dirty="0" smtClean="0">
                <a:latin typeface="Raleway Medium" charset="0"/>
              </a:rPr>
              <a:t>groups?</a:t>
            </a:r>
          </a:p>
          <a:p>
            <a:pPr marL="457200" indent="-457200">
              <a:buFont typeface="Arial" charset="0"/>
              <a:buChar char="•"/>
            </a:pPr>
            <a:r>
              <a:rPr lang="en-US" sz="3500" dirty="0" smtClean="0">
                <a:latin typeface="Raleway Medium" charset="0"/>
              </a:rPr>
              <a:t>are </a:t>
            </a:r>
            <a:r>
              <a:rPr lang="en-US" sz="3500" dirty="0">
                <a:latin typeface="Raleway Medium" charset="0"/>
              </a:rPr>
              <a:t>there differences across social media </a:t>
            </a:r>
            <a:r>
              <a:rPr lang="en-US" sz="3500" dirty="0" smtClean="0">
                <a:latin typeface="Raleway Medium" charset="0"/>
              </a:rPr>
              <a:t>venues?</a:t>
            </a:r>
          </a:p>
          <a:p>
            <a:pPr marL="457200" indent="-457200">
              <a:buFont typeface="Arial" charset="0"/>
              <a:buChar char="•"/>
            </a:pPr>
            <a:r>
              <a:rPr lang="en-US" sz="3500" dirty="0" smtClean="0">
                <a:latin typeface="Raleway Medium" charset="0"/>
              </a:rPr>
              <a:t>can </a:t>
            </a:r>
            <a:r>
              <a:rPr lang="en-US" sz="3500" dirty="0">
                <a:latin typeface="Raleway Medium" charset="0"/>
              </a:rPr>
              <a:t>we identify determinants of attrition from social </a:t>
            </a:r>
            <a:r>
              <a:rPr lang="en-US" sz="3500" dirty="0" smtClean="0">
                <a:latin typeface="Raleway Medium" charset="0"/>
              </a:rPr>
              <a:t>media?</a:t>
            </a:r>
          </a:p>
          <a:p>
            <a:pPr marL="457200" indent="-457200">
              <a:buFont typeface="Arial" charset="0"/>
              <a:buChar char="•"/>
            </a:pPr>
            <a:r>
              <a:rPr lang="en-US" sz="3500" dirty="0" smtClean="0">
                <a:latin typeface="Raleway Medium" charset="0"/>
              </a:rPr>
              <a:t>can </a:t>
            </a:r>
            <a:r>
              <a:rPr lang="en-US" sz="3500" dirty="0">
                <a:latin typeface="Raleway Medium" charset="0"/>
              </a:rPr>
              <a:t>we detect policy changes through the chatter on </a:t>
            </a:r>
            <a:r>
              <a:rPr lang="en-US" sz="3500" dirty="0" smtClean="0">
                <a:latin typeface="Raleway Medium" charset="0"/>
              </a:rPr>
              <a:t>social media?</a:t>
            </a:r>
          </a:p>
          <a:p>
            <a:pPr marL="457200" indent="-457200">
              <a:buFont typeface="Arial" charset="0"/>
              <a:buChar char="•"/>
            </a:pPr>
            <a:r>
              <a:rPr lang="en-US" sz="3500" dirty="0" smtClean="0">
                <a:latin typeface="Raleway Medium" charset="0"/>
              </a:rPr>
              <a:t>can </a:t>
            </a:r>
            <a:r>
              <a:rPr lang="en-US" sz="3500" dirty="0">
                <a:latin typeface="Raleway Medium" charset="0"/>
              </a:rPr>
              <a:t>we identify the sentiments for the policies</a:t>
            </a:r>
            <a:r>
              <a:rPr lang="en-US" sz="3500" dirty="0" smtClean="0">
                <a:latin typeface="Raleway Medium" charset="0"/>
              </a:rPr>
              <a:t>?</a:t>
            </a:r>
          </a:p>
        </p:txBody>
      </p:sp>
      <p:sp>
        <p:nvSpPr>
          <p:cNvPr id="19" name="TextBox 18"/>
          <p:cNvSpPr txBox="1"/>
          <p:nvPr/>
        </p:nvSpPr>
        <p:spPr>
          <a:xfrm>
            <a:off x="23291799" y="5944934"/>
            <a:ext cx="10915097" cy="5216813"/>
          </a:xfrm>
          <a:prstGeom prst="rect">
            <a:avLst/>
          </a:prstGeom>
          <a:solidFill>
            <a:srgbClr val="77787B">
              <a:alpha val="20000"/>
            </a:srgbClr>
          </a:solidFill>
        </p:spPr>
        <p:txBody>
          <a:bodyPr wrap="square" lIns="182880" tIns="182880" rIns="182880" bIns="182880" rtlCol="0">
            <a:spAutoFit/>
          </a:bodyPr>
          <a:lstStyle/>
          <a:p>
            <a:r>
              <a:rPr lang="en-US" sz="3500" dirty="0" smtClean="0">
                <a:latin typeface="Raleway Medium" charset="0"/>
              </a:rPr>
              <a:t>Processing Steps: </a:t>
            </a:r>
            <a:endParaRPr lang="en-US" sz="3500" dirty="0" smtClean="0">
              <a:latin typeface="Raleway Medium" charset="0"/>
            </a:endParaRPr>
          </a:p>
          <a:p>
            <a:pPr marL="514350" indent="-514350">
              <a:buFont typeface="+mj-lt"/>
              <a:buAutoNum type="arabicPeriod"/>
            </a:pPr>
            <a:r>
              <a:rPr lang="en-US" sz="3500" dirty="0" smtClean="0">
                <a:latin typeface="Raleway Medium" charset="0"/>
              </a:rPr>
              <a:t>Identify </a:t>
            </a:r>
            <a:r>
              <a:rPr lang="en-US" sz="3500" dirty="0" smtClean="0">
                <a:latin typeface="Raleway Medium" charset="0"/>
              </a:rPr>
              <a:t>search terms</a:t>
            </a:r>
          </a:p>
          <a:p>
            <a:pPr marL="514350" indent="-514350">
              <a:buFont typeface="+mj-lt"/>
              <a:buAutoNum type="arabicPeriod"/>
            </a:pPr>
            <a:r>
              <a:rPr lang="en-US" sz="3500" dirty="0" smtClean="0">
                <a:latin typeface="Raleway Medium" charset="0"/>
              </a:rPr>
              <a:t>Determine what is possible and the limitations of each social media platform</a:t>
            </a:r>
          </a:p>
          <a:p>
            <a:pPr marL="514350" indent="-514350">
              <a:buFont typeface="+mj-lt"/>
              <a:buAutoNum type="arabicPeriod"/>
            </a:pPr>
            <a:r>
              <a:rPr lang="en-US" sz="3500" dirty="0" smtClean="0">
                <a:latin typeface="Raleway Medium" charset="0"/>
              </a:rPr>
              <a:t>Obtain data based on search criteria</a:t>
            </a:r>
          </a:p>
          <a:p>
            <a:pPr marL="2389327" lvl="1" indent="-514350">
              <a:buFont typeface="Arial" charset="0"/>
              <a:buChar char="•"/>
            </a:pPr>
            <a:r>
              <a:rPr lang="en-US" sz="3500" dirty="0" smtClean="0">
                <a:latin typeface="Raleway Medium" charset="0"/>
              </a:rPr>
              <a:t>Twitter: tweets of users</a:t>
            </a:r>
          </a:p>
          <a:p>
            <a:pPr marL="2389327" lvl="1" indent="-514350">
              <a:buFont typeface="Arial" charset="0"/>
              <a:buChar char="•"/>
            </a:pPr>
            <a:r>
              <a:rPr lang="en-US" sz="3500" dirty="0" smtClean="0">
                <a:latin typeface="Raleway Medium" charset="0"/>
              </a:rPr>
              <a:t>Facebook: posts of specific pages</a:t>
            </a:r>
          </a:p>
          <a:p>
            <a:pPr marL="2389327" lvl="1" indent="-514350">
              <a:buFont typeface="Arial" charset="0"/>
              <a:buChar char="•"/>
            </a:pPr>
            <a:r>
              <a:rPr lang="en-US" sz="3500" dirty="0" smtClean="0">
                <a:latin typeface="Raleway Medium" charset="0"/>
              </a:rPr>
              <a:t>YouTube: comments on </a:t>
            </a:r>
            <a:r>
              <a:rPr lang="en-US" sz="3500" dirty="0" smtClean="0">
                <a:latin typeface="Raleway Medium" charset="0"/>
              </a:rPr>
              <a:t>videos</a:t>
            </a:r>
          </a:p>
          <a:p>
            <a:pPr marL="514350" indent="-514350">
              <a:buFont typeface="+mj-lt"/>
              <a:buAutoNum type="arabicPeriod"/>
            </a:pPr>
            <a:r>
              <a:rPr lang="en-US" sz="3500" dirty="0" smtClean="0">
                <a:latin typeface="Raleway Medium" charset="0"/>
              </a:rPr>
              <a:t>Use text mining and other methods to analyze the data</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57442" y="3028176"/>
            <a:ext cx="4937328" cy="2508805"/>
          </a:xfrm>
          <a:prstGeom prst="rect">
            <a:avLst/>
          </a:prstGeom>
        </p:spPr>
      </p:pic>
      <p:sp>
        <p:nvSpPr>
          <p:cNvPr id="53" name="Rectangle 52"/>
          <p:cNvSpPr/>
          <p:nvPr/>
        </p:nvSpPr>
        <p:spPr>
          <a:xfrm>
            <a:off x="23454091" y="11940361"/>
            <a:ext cx="10752806" cy="9876955"/>
          </a:xfrm>
          <a:prstGeom prst="rect">
            <a:avLst/>
          </a:prstGeom>
          <a:solidFill>
            <a:srgbClr val="DFE7F1">
              <a:alpha val="4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12472416" y="12218349"/>
            <a:ext cx="10160478" cy="9876955"/>
          </a:xfrm>
          <a:prstGeom prst="rect">
            <a:avLst/>
          </a:prstGeom>
          <a:solidFill>
            <a:srgbClr val="DFE7F1">
              <a:alpha val="4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1060704" y="12218349"/>
            <a:ext cx="10801096" cy="9876955"/>
          </a:xfrm>
          <a:prstGeom prst="rect">
            <a:avLst/>
          </a:prstGeom>
          <a:solidFill>
            <a:srgbClr val="DFE7F1">
              <a:alpha val="4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1060704" y="22912615"/>
            <a:ext cx="32983902" cy="5109091"/>
          </a:xfrm>
          <a:prstGeom prst="rect">
            <a:avLst/>
          </a:prstGeom>
          <a:solidFill>
            <a:srgbClr val="77787B">
              <a:alpha val="20000"/>
            </a:srgbClr>
          </a:solidFill>
        </p:spPr>
        <p:txBody>
          <a:bodyPr wrap="square" lIns="182880" tIns="182880" rIns="182880" bIns="182880" rtlCol="0">
            <a:spAutoFit/>
          </a:bodyPr>
          <a:lstStyle/>
          <a:p>
            <a:endParaRPr lang="en-US" sz="4400" dirty="0">
              <a:latin typeface="Raleway Medium" charset="0"/>
            </a:endParaRPr>
          </a:p>
          <a:p>
            <a:endParaRPr lang="en-US" sz="4400" dirty="0">
              <a:latin typeface="Raleway Medium" charset="0"/>
            </a:endParaRPr>
          </a:p>
          <a:p>
            <a:endParaRPr lang="en-US" sz="4400" dirty="0" smtClean="0">
              <a:latin typeface="Raleway Medium" charset="0"/>
            </a:endParaRPr>
          </a:p>
          <a:p>
            <a:endParaRPr lang="en-US" sz="4400" dirty="0">
              <a:latin typeface="Raleway Medium" charset="0"/>
            </a:endParaRPr>
          </a:p>
          <a:p>
            <a:endParaRPr lang="en-US" sz="4400" dirty="0" smtClean="0">
              <a:latin typeface="Raleway Medium" charset="0"/>
            </a:endParaRPr>
          </a:p>
          <a:p>
            <a:endParaRPr lang="en-US" sz="4400" dirty="0">
              <a:latin typeface="Raleway Medium" charset="0"/>
            </a:endParaRPr>
          </a:p>
          <a:p>
            <a:endParaRPr lang="en-US" sz="4400" dirty="0" smtClean="0">
              <a:latin typeface="Raleway Medium" charset="0"/>
            </a:endParaRPr>
          </a:p>
        </p:txBody>
      </p:sp>
      <p:sp>
        <p:nvSpPr>
          <p:cNvPr id="58" name="TextBox 57"/>
          <p:cNvSpPr txBox="1"/>
          <p:nvPr/>
        </p:nvSpPr>
        <p:spPr>
          <a:xfrm>
            <a:off x="1060704" y="28839017"/>
            <a:ext cx="32983902" cy="5109091"/>
          </a:xfrm>
          <a:prstGeom prst="rect">
            <a:avLst/>
          </a:prstGeom>
          <a:solidFill>
            <a:srgbClr val="77787B">
              <a:alpha val="20000"/>
            </a:srgbClr>
          </a:solidFill>
        </p:spPr>
        <p:txBody>
          <a:bodyPr wrap="square" lIns="182880" tIns="182880" rIns="182880" bIns="182880" rtlCol="0">
            <a:spAutoFit/>
          </a:bodyPr>
          <a:lstStyle/>
          <a:p>
            <a:endParaRPr lang="en-US" sz="4400" dirty="0">
              <a:latin typeface="Raleway Medium" charset="0"/>
            </a:endParaRPr>
          </a:p>
          <a:p>
            <a:endParaRPr lang="en-US" sz="4400" dirty="0">
              <a:latin typeface="Raleway Medium" charset="0"/>
            </a:endParaRPr>
          </a:p>
          <a:p>
            <a:endParaRPr lang="en-US" sz="4400" dirty="0" smtClean="0">
              <a:latin typeface="Raleway Medium" charset="0"/>
            </a:endParaRPr>
          </a:p>
          <a:p>
            <a:endParaRPr lang="en-US" sz="4400" dirty="0">
              <a:latin typeface="Raleway Medium" charset="0"/>
            </a:endParaRPr>
          </a:p>
          <a:p>
            <a:endParaRPr lang="en-US" sz="4400" dirty="0" smtClean="0">
              <a:latin typeface="Raleway Medium" charset="0"/>
            </a:endParaRPr>
          </a:p>
          <a:p>
            <a:endParaRPr lang="en-US" sz="4400" dirty="0">
              <a:latin typeface="Raleway Medium" charset="0"/>
            </a:endParaRPr>
          </a:p>
          <a:p>
            <a:endParaRPr lang="en-US" sz="4400" dirty="0" smtClean="0">
              <a:latin typeface="Raleway Medium" charset="0"/>
            </a:endParaRPr>
          </a:p>
        </p:txBody>
      </p:sp>
      <p:sp>
        <p:nvSpPr>
          <p:cNvPr id="59" name="TextBox 58"/>
          <p:cNvSpPr txBox="1"/>
          <p:nvPr/>
        </p:nvSpPr>
        <p:spPr>
          <a:xfrm>
            <a:off x="1060704" y="34765419"/>
            <a:ext cx="32983902" cy="3323987"/>
          </a:xfrm>
          <a:prstGeom prst="rect">
            <a:avLst/>
          </a:prstGeom>
          <a:solidFill>
            <a:srgbClr val="5E89B4">
              <a:alpha val="20000"/>
            </a:srgbClr>
          </a:solidFill>
        </p:spPr>
        <p:txBody>
          <a:bodyPr wrap="square" lIns="182880" tIns="182880" rIns="182880" bIns="182880" rtlCol="0">
            <a:spAutoFit/>
          </a:bodyPr>
          <a:lstStyle/>
          <a:p>
            <a:r>
              <a:rPr lang="en-US" sz="4800" dirty="0" smtClean="0">
                <a:latin typeface="Raleway Medium" charset="0"/>
              </a:rPr>
              <a:t>References</a:t>
            </a:r>
          </a:p>
          <a:p>
            <a:endParaRPr lang="en-US" sz="4800" b="1" u="sng" dirty="0">
              <a:latin typeface="Raleway Medium" charset="0"/>
            </a:endParaRPr>
          </a:p>
          <a:p>
            <a:endParaRPr lang="en-US" sz="4800" b="1" u="sng" dirty="0" smtClean="0">
              <a:latin typeface="Raleway Medium" charset="0"/>
            </a:endParaRPr>
          </a:p>
          <a:p>
            <a:endParaRPr lang="en-US" sz="4800" b="1" u="sng" dirty="0">
              <a:latin typeface="Raleway Medium" charset="0"/>
            </a:endParaRPr>
          </a:p>
        </p:txBody>
      </p:sp>
      <p:sp>
        <p:nvSpPr>
          <p:cNvPr id="3" name="TextBox 2"/>
          <p:cNvSpPr txBox="1"/>
          <p:nvPr/>
        </p:nvSpPr>
        <p:spPr>
          <a:xfrm>
            <a:off x="29912433" y="17428399"/>
            <a:ext cx="4008053" cy="2400657"/>
          </a:xfrm>
          <a:prstGeom prst="rect">
            <a:avLst/>
          </a:prstGeom>
          <a:noFill/>
        </p:spPr>
        <p:txBody>
          <a:bodyPr wrap="square" rtlCol="0">
            <a:spAutoFit/>
          </a:bodyPr>
          <a:lstStyle/>
          <a:p>
            <a:r>
              <a:rPr lang="en-US" sz="3000" dirty="0" smtClean="0">
                <a:latin typeface="Raleway Medium" charset="0"/>
              </a:rPr>
              <a:t>Word cloud of YouTube comments from ten videos related to sexual abuse and women in the Army.  </a:t>
            </a:r>
            <a:endParaRPr lang="en-US" sz="3000" dirty="0">
              <a:latin typeface="Raleway Medium" charset="0"/>
            </a:endParaRPr>
          </a:p>
        </p:txBody>
      </p:sp>
      <p:sp>
        <p:nvSpPr>
          <p:cNvPr id="18" name="TextBox 17"/>
          <p:cNvSpPr txBox="1"/>
          <p:nvPr/>
        </p:nvSpPr>
        <p:spPr>
          <a:xfrm>
            <a:off x="24763567" y="17428398"/>
            <a:ext cx="3839390" cy="2400657"/>
          </a:xfrm>
          <a:prstGeom prst="rect">
            <a:avLst/>
          </a:prstGeom>
          <a:noFill/>
        </p:spPr>
        <p:txBody>
          <a:bodyPr wrap="square" rtlCol="0">
            <a:spAutoFit/>
          </a:bodyPr>
          <a:lstStyle/>
          <a:p>
            <a:r>
              <a:rPr lang="en-US" sz="3000" dirty="0" smtClean="0">
                <a:latin typeface="Raleway Medium" charset="0"/>
              </a:rPr>
              <a:t>Sentiment analysis shows that across the ten videos comments users express negativity and fear.</a:t>
            </a:r>
            <a:endParaRPr lang="en-US" sz="3000" dirty="0">
              <a:latin typeface="Raleway Medium" charset="0"/>
            </a:endParaRPr>
          </a:p>
        </p:txBody>
      </p:sp>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16821" t="8588" r="16271"/>
          <a:stretch/>
        </p:blipFill>
        <p:spPr>
          <a:xfrm>
            <a:off x="23454091" y="11940359"/>
            <a:ext cx="6112574" cy="4697481"/>
          </a:xfrm>
          <a:prstGeom prst="rect">
            <a:avLst/>
          </a:prstGeom>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11332" r="10562"/>
          <a:stretch/>
        </p:blipFill>
        <p:spPr>
          <a:xfrm>
            <a:off x="29566665" y="11940360"/>
            <a:ext cx="4699591" cy="4725751"/>
          </a:xfrm>
          <a:prstGeom prst="rect">
            <a:avLst/>
          </a:prstGeom>
        </p:spPr>
      </p:pic>
      <p:pic>
        <p:nvPicPr>
          <p:cNvPr id="9" name="Picture 8"/>
          <p:cNvPicPr>
            <a:picLocks noChangeAspect="1"/>
          </p:cNvPicPr>
          <p:nvPr/>
        </p:nvPicPr>
        <p:blipFill rotWithShape="1">
          <a:blip r:embed="rId6">
            <a:extLst>
              <a:ext uri="{28A0092B-C50C-407E-A947-70E740481C1C}">
                <a14:useLocalDpi xmlns:a14="http://schemas.microsoft.com/office/drawing/2010/main" val="0"/>
              </a:ext>
            </a:extLst>
          </a:blip>
          <a:srcRect l="12783" t="7343" r="22697"/>
          <a:stretch/>
        </p:blipFill>
        <p:spPr>
          <a:xfrm>
            <a:off x="1060704" y="12218349"/>
            <a:ext cx="5856259" cy="4730708"/>
          </a:xfrm>
          <a:prstGeom prst="rect">
            <a:avLst/>
          </a:prstGeom>
        </p:spPr>
      </p:pic>
    </p:spTree>
    <p:extLst>
      <p:ext uri="{BB962C8B-B14F-4D97-AF65-F5344CB8AC3E}">
        <p14:creationId xmlns:p14="http://schemas.microsoft.com/office/powerpoint/2010/main" val="14520094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833</TotalTime>
  <Words>220</Words>
  <Application>Microsoft Macintosh PowerPoint</Application>
  <PresentationFormat>Custom</PresentationFormat>
  <Paragraphs>32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Blanch Caps</vt:lpstr>
      <vt:lpstr>Calibri</vt:lpstr>
      <vt:lpstr>Calibri Light</vt:lpstr>
      <vt:lpstr>Raleway</vt:lpstr>
      <vt:lpstr>Raleway Medium</vt:lpstr>
      <vt:lpstr>Arial</vt:lpstr>
      <vt:lpstr>Office Theme</vt:lpstr>
      <vt:lpstr>PowerPoint Presentation</vt:lpstr>
    </vt:vector>
  </TitlesOfParts>
  <Company/>
  <LinksUpToDate>false</LinksUpToDate>
  <SharedDoc>false</SharedDoc>
  <HyperlinksChanged>false</HyperlinksChanged>
  <AppVersion>15.0024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26</cp:revision>
  <dcterms:created xsi:type="dcterms:W3CDTF">2016-07-05T19:56:53Z</dcterms:created>
  <dcterms:modified xsi:type="dcterms:W3CDTF">2016-07-18T18:27:48Z</dcterms:modified>
</cp:coreProperties>
</file>