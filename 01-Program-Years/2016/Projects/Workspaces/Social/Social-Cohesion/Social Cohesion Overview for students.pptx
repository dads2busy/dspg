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8" r:id="rId1"/>
    <p:sldMasterId id="2147483868" r:id="rId2"/>
    <p:sldMasterId id="2147483886" r:id="rId3"/>
    <p:sldMasterId id="2147483897" r:id="rId4"/>
  </p:sldMasterIdLst>
  <p:notesMasterIdLst>
    <p:notesMasterId r:id="rId21"/>
  </p:notesMasterIdLst>
  <p:handoutMasterIdLst>
    <p:handoutMasterId r:id="rId22"/>
  </p:handoutMasterIdLst>
  <p:sldIdLst>
    <p:sldId id="383" r:id="rId5"/>
    <p:sldId id="388" r:id="rId6"/>
    <p:sldId id="381" r:id="rId7"/>
    <p:sldId id="389" r:id="rId8"/>
    <p:sldId id="385" r:id="rId9"/>
    <p:sldId id="386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87" r:id="rId18"/>
    <p:sldId id="397" r:id="rId19"/>
    <p:sldId id="398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7E01512-87E4-864E-84E8-C98B3C34082A}">
          <p14:sldIdLst>
            <p14:sldId id="383"/>
            <p14:sldId id="388"/>
            <p14:sldId id="381"/>
            <p14:sldId id="389"/>
            <p14:sldId id="385"/>
            <p14:sldId id="386"/>
            <p14:sldId id="390"/>
            <p14:sldId id="391"/>
            <p14:sldId id="392"/>
            <p14:sldId id="393"/>
            <p14:sldId id="394"/>
            <p14:sldId id="395"/>
            <p14:sldId id="396"/>
            <p14:sldId id="387"/>
            <p14:sldId id="397"/>
            <p14:sldId id="39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239">
          <p15:clr>
            <a:srgbClr val="A4A3A4"/>
          </p15:clr>
        </p15:guide>
        <p15:guide id="4" pos="5430">
          <p15:clr>
            <a:srgbClr val="A4A3A4"/>
          </p15:clr>
        </p15:guide>
        <p15:guide id="5" orient="horz" pos="3042">
          <p15:clr>
            <a:srgbClr val="A4A3A4"/>
          </p15:clr>
        </p15:guide>
        <p15:guide id="6" orient="horz" pos="2589">
          <p15:clr>
            <a:srgbClr val="A4A3A4"/>
          </p15:clr>
        </p15:guide>
        <p15:guide id="7" orient="horz" pos="2384">
          <p15:clr>
            <a:srgbClr val="A4A3A4"/>
          </p15:clr>
        </p15:guide>
        <p15:guide id="8" orient="horz" pos="2302">
          <p15:clr>
            <a:srgbClr val="A4A3A4"/>
          </p15:clr>
        </p15:guide>
        <p15:guide id="9" orient="horz" pos="2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9300"/>
    <a:srgbClr val="B11831"/>
    <a:srgbClr val="C0504D"/>
    <a:srgbClr val="266001"/>
    <a:srgbClr val="5EAF08"/>
    <a:srgbClr val="1143A8"/>
    <a:srgbClr val="4775A4"/>
    <a:srgbClr val="CB6E22"/>
    <a:srgbClr val="477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82" autoAdjust="0"/>
    <p:restoredTop sz="92683" autoAdjust="0"/>
  </p:normalViewPr>
  <p:slideViewPr>
    <p:cSldViewPr snapToObjects="1" showGuides="1">
      <p:cViewPr>
        <p:scale>
          <a:sx n="174" d="100"/>
          <a:sy n="174" d="100"/>
        </p:scale>
        <p:origin x="-1624" y="-456"/>
      </p:cViewPr>
      <p:guideLst>
        <p:guide orient="horz" pos="2160"/>
        <p:guide orient="horz" pos="3239"/>
        <p:guide orient="horz" pos="3042"/>
        <p:guide orient="horz" pos="2589"/>
        <p:guide orient="horz" pos="2384"/>
        <p:guide orient="horz" pos="2302"/>
        <p:guide orient="horz" pos="2679"/>
        <p:guide pos="2880"/>
        <p:guide pos="5430"/>
      </p:guideLst>
    </p:cSldViewPr>
  </p:slideViewPr>
  <p:outlineViewPr>
    <p:cViewPr>
      <p:scale>
        <a:sx n="33" d="100"/>
        <a:sy n="33" d="100"/>
      </p:scale>
      <p:origin x="0" y="9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3" d="100"/>
        <a:sy n="123" d="100"/>
      </p:scale>
      <p:origin x="0" y="5168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2B70B5-C25B-9146-9B44-1F60BE465858}" type="doc">
      <dgm:prSet loTypeId="urn:microsoft.com/office/officeart/2008/layout/RadialCluster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E70F67-87A7-324E-B28A-607987492395}">
      <dgm:prSet phldrT="[Text]"/>
      <dgm:spPr/>
      <dgm:t>
        <a:bodyPr/>
        <a:lstStyle/>
        <a:p>
          <a:r>
            <a:rPr lang="en-US" dirty="0" smtClean="0"/>
            <a:t>Social Cohesion</a:t>
          </a:r>
          <a:endParaRPr lang="en-US" dirty="0"/>
        </a:p>
      </dgm:t>
    </dgm:pt>
    <dgm:pt modelId="{7D056C5B-8936-CC46-853C-2101AC691B65}" type="parTrans" cxnId="{A527AED8-287D-7E43-844C-FC87DB56C9B6}">
      <dgm:prSet/>
      <dgm:spPr/>
      <dgm:t>
        <a:bodyPr/>
        <a:lstStyle/>
        <a:p>
          <a:endParaRPr lang="en-US"/>
        </a:p>
      </dgm:t>
    </dgm:pt>
    <dgm:pt modelId="{5C984B59-D899-444E-AE71-5149CD901251}" type="sibTrans" cxnId="{A527AED8-287D-7E43-844C-FC87DB56C9B6}">
      <dgm:prSet/>
      <dgm:spPr/>
      <dgm:t>
        <a:bodyPr/>
        <a:lstStyle/>
        <a:p>
          <a:endParaRPr lang="en-US"/>
        </a:p>
      </dgm:t>
    </dgm:pt>
    <dgm:pt modelId="{13D5027F-3A85-4148-B2C7-55DD46906DB7}">
      <dgm:prSet phldrT="[Text]"/>
      <dgm:spPr/>
      <dgm:t>
        <a:bodyPr/>
        <a:lstStyle/>
        <a:p>
          <a:r>
            <a:rPr lang="en-US" dirty="0" smtClean="0"/>
            <a:t>Social Inclusion</a:t>
          </a:r>
          <a:endParaRPr lang="en-US" dirty="0"/>
        </a:p>
      </dgm:t>
    </dgm:pt>
    <dgm:pt modelId="{30B85D17-1BDC-3F45-B21F-3E5015E640FD}" type="parTrans" cxnId="{8D7C088D-51BE-E047-B0E0-7F31908E6F75}">
      <dgm:prSet/>
      <dgm:spPr/>
      <dgm:t>
        <a:bodyPr/>
        <a:lstStyle/>
        <a:p>
          <a:endParaRPr lang="en-US"/>
        </a:p>
      </dgm:t>
    </dgm:pt>
    <dgm:pt modelId="{5CE0ECA2-583D-564D-A0A9-20F667A14146}" type="sibTrans" cxnId="{8D7C088D-51BE-E047-B0E0-7F31908E6F75}">
      <dgm:prSet/>
      <dgm:spPr/>
      <dgm:t>
        <a:bodyPr/>
        <a:lstStyle/>
        <a:p>
          <a:endParaRPr lang="en-US"/>
        </a:p>
      </dgm:t>
    </dgm:pt>
    <dgm:pt modelId="{542F7CDF-8002-E947-BA0E-6B7DC4180450}">
      <dgm:prSet phldrT="[Text]"/>
      <dgm:spPr/>
      <dgm:t>
        <a:bodyPr/>
        <a:lstStyle/>
        <a:p>
          <a:r>
            <a:rPr lang="en-US" dirty="0" smtClean="0"/>
            <a:t>Social Capital</a:t>
          </a:r>
          <a:endParaRPr lang="en-US" dirty="0"/>
        </a:p>
      </dgm:t>
    </dgm:pt>
    <dgm:pt modelId="{73C4E6FE-5506-534E-9167-78F618316F38}" type="parTrans" cxnId="{4D2B247C-7385-FF47-A45A-CBED39078D44}">
      <dgm:prSet/>
      <dgm:spPr/>
      <dgm:t>
        <a:bodyPr/>
        <a:lstStyle/>
        <a:p>
          <a:endParaRPr lang="en-US"/>
        </a:p>
      </dgm:t>
    </dgm:pt>
    <dgm:pt modelId="{4FB58383-7D4D-3A43-9E0F-7957C6DEAB51}" type="sibTrans" cxnId="{4D2B247C-7385-FF47-A45A-CBED39078D44}">
      <dgm:prSet/>
      <dgm:spPr/>
      <dgm:t>
        <a:bodyPr/>
        <a:lstStyle/>
        <a:p>
          <a:endParaRPr lang="en-US"/>
        </a:p>
      </dgm:t>
    </dgm:pt>
    <dgm:pt modelId="{D2A14C27-184D-F94C-AFDA-37384E147DC4}">
      <dgm:prSet phldrT="[Text]"/>
      <dgm:spPr/>
      <dgm:t>
        <a:bodyPr/>
        <a:lstStyle/>
        <a:p>
          <a:r>
            <a:rPr lang="en-US" dirty="0" smtClean="0"/>
            <a:t>Social mobility</a:t>
          </a:r>
          <a:endParaRPr lang="en-US" dirty="0"/>
        </a:p>
      </dgm:t>
    </dgm:pt>
    <dgm:pt modelId="{7F232641-3C43-9640-A8FB-4EF28A227A8D}" type="parTrans" cxnId="{C853D213-94F7-D74F-8DC7-5B30687E3C3D}">
      <dgm:prSet/>
      <dgm:spPr/>
      <dgm:t>
        <a:bodyPr/>
        <a:lstStyle/>
        <a:p>
          <a:endParaRPr lang="en-US"/>
        </a:p>
      </dgm:t>
    </dgm:pt>
    <dgm:pt modelId="{14024079-FEB6-AC48-B294-FED3F3FDA49F}" type="sibTrans" cxnId="{C853D213-94F7-D74F-8DC7-5B30687E3C3D}">
      <dgm:prSet/>
      <dgm:spPr/>
      <dgm:t>
        <a:bodyPr/>
        <a:lstStyle/>
        <a:p>
          <a:endParaRPr lang="en-US"/>
        </a:p>
      </dgm:t>
    </dgm:pt>
    <dgm:pt modelId="{089E9DCB-2A5D-DD47-AB2C-2300C84C3583}" type="pres">
      <dgm:prSet presAssocID="{052B70B5-C25B-9146-9B44-1F60BE46585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0CB5983-33EE-3F43-9D08-0E7DD308CA72}" type="pres">
      <dgm:prSet presAssocID="{7EE70F67-87A7-324E-B28A-607987492395}" presName="singleCycle" presStyleCnt="0"/>
      <dgm:spPr/>
    </dgm:pt>
    <dgm:pt modelId="{862F32FE-1629-264F-ADC3-EE0FBCDB456A}" type="pres">
      <dgm:prSet presAssocID="{7EE70F67-87A7-324E-B28A-607987492395}" presName="singleCenter" presStyleLbl="node1" presStyleIdx="0" presStyleCnt="4">
        <dgm:presLayoutVars>
          <dgm:chMax val="7"/>
          <dgm:chPref val="7"/>
        </dgm:presLayoutVars>
      </dgm:prSet>
      <dgm:spPr/>
      <dgm:t>
        <a:bodyPr/>
        <a:lstStyle/>
        <a:p>
          <a:endParaRPr lang="en-US"/>
        </a:p>
      </dgm:t>
    </dgm:pt>
    <dgm:pt modelId="{0CEC1C90-BF85-404B-B3C7-77E7A599EFCB}" type="pres">
      <dgm:prSet presAssocID="{30B85D17-1BDC-3F45-B21F-3E5015E640FD}" presName="Name56" presStyleLbl="parChTrans1D2" presStyleIdx="0" presStyleCnt="3"/>
      <dgm:spPr/>
      <dgm:t>
        <a:bodyPr/>
        <a:lstStyle/>
        <a:p>
          <a:endParaRPr lang="en-US"/>
        </a:p>
      </dgm:t>
    </dgm:pt>
    <dgm:pt modelId="{DAC4DE6B-ED88-3F4E-BDD1-7989BB17AA05}" type="pres">
      <dgm:prSet presAssocID="{13D5027F-3A85-4148-B2C7-55DD46906DB7}" presName="text0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E0DB04-C7DF-D546-80ED-A9E308FF4F62}" type="pres">
      <dgm:prSet presAssocID="{73C4E6FE-5506-534E-9167-78F618316F38}" presName="Name56" presStyleLbl="parChTrans1D2" presStyleIdx="1" presStyleCnt="3"/>
      <dgm:spPr/>
      <dgm:t>
        <a:bodyPr/>
        <a:lstStyle/>
        <a:p>
          <a:endParaRPr lang="en-US"/>
        </a:p>
      </dgm:t>
    </dgm:pt>
    <dgm:pt modelId="{658C9770-3D12-F446-9058-E331FE43DAA1}" type="pres">
      <dgm:prSet presAssocID="{542F7CDF-8002-E947-BA0E-6B7DC4180450}" presName="text0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8EB5A7-8162-684D-843C-24774F8D8824}" type="pres">
      <dgm:prSet presAssocID="{7F232641-3C43-9640-A8FB-4EF28A227A8D}" presName="Name56" presStyleLbl="parChTrans1D2" presStyleIdx="2" presStyleCnt="3"/>
      <dgm:spPr/>
      <dgm:t>
        <a:bodyPr/>
        <a:lstStyle/>
        <a:p>
          <a:endParaRPr lang="en-US"/>
        </a:p>
      </dgm:t>
    </dgm:pt>
    <dgm:pt modelId="{F6C54E84-34AB-6646-BE82-DF55E3A1B60D}" type="pres">
      <dgm:prSet presAssocID="{D2A14C27-184D-F94C-AFDA-37384E147DC4}" presName="text0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31EF92E-0E2D-0B44-8FD0-0942B86725D2}" type="presOf" srcId="{D2A14C27-184D-F94C-AFDA-37384E147DC4}" destId="{F6C54E84-34AB-6646-BE82-DF55E3A1B60D}" srcOrd="0" destOrd="0" presId="urn:microsoft.com/office/officeart/2008/layout/RadialCluster"/>
    <dgm:cxn modelId="{C853D213-94F7-D74F-8DC7-5B30687E3C3D}" srcId="{7EE70F67-87A7-324E-B28A-607987492395}" destId="{D2A14C27-184D-F94C-AFDA-37384E147DC4}" srcOrd="2" destOrd="0" parTransId="{7F232641-3C43-9640-A8FB-4EF28A227A8D}" sibTransId="{14024079-FEB6-AC48-B294-FED3F3FDA49F}"/>
    <dgm:cxn modelId="{8D7C088D-51BE-E047-B0E0-7F31908E6F75}" srcId="{7EE70F67-87A7-324E-B28A-607987492395}" destId="{13D5027F-3A85-4148-B2C7-55DD46906DB7}" srcOrd="0" destOrd="0" parTransId="{30B85D17-1BDC-3F45-B21F-3E5015E640FD}" sibTransId="{5CE0ECA2-583D-564D-A0A9-20F667A14146}"/>
    <dgm:cxn modelId="{A8753384-1571-CA48-A3AF-555587757C7B}" type="presOf" srcId="{73C4E6FE-5506-534E-9167-78F618316F38}" destId="{98E0DB04-C7DF-D546-80ED-A9E308FF4F62}" srcOrd="0" destOrd="0" presId="urn:microsoft.com/office/officeart/2008/layout/RadialCluster"/>
    <dgm:cxn modelId="{A9D99F5B-D60B-0540-98CD-C3D4E25D7A5C}" type="presOf" srcId="{7F232641-3C43-9640-A8FB-4EF28A227A8D}" destId="{398EB5A7-8162-684D-843C-24774F8D8824}" srcOrd="0" destOrd="0" presId="urn:microsoft.com/office/officeart/2008/layout/RadialCluster"/>
    <dgm:cxn modelId="{71D9F9AB-A6F8-3F49-A708-FC66DAE8E276}" type="presOf" srcId="{052B70B5-C25B-9146-9B44-1F60BE465858}" destId="{089E9DCB-2A5D-DD47-AB2C-2300C84C3583}" srcOrd="0" destOrd="0" presId="urn:microsoft.com/office/officeart/2008/layout/RadialCluster"/>
    <dgm:cxn modelId="{8E11E8E1-CF50-6846-A903-B7642E10579D}" type="presOf" srcId="{13D5027F-3A85-4148-B2C7-55DD46906DB7}" destId="{DAC4DE6B-ED88-3F4E-BDD1-7989BB17AA05}" srcOrd="0" destOrd="0" presId="urn:microsoft.com/office/officeart/2008/layout/RadialCluster"/>
    <dgm:cxn modelId="{CB5DCF3E-C74E-9A48-800A-76D42F9F1A48}" type="presOf" srcId="{542F7CDF-8002-E947-BA0E-6B7DC4180450}" destId="{658C9770-3D12-F446-9058-E331FE43DAA1}" srcOrd="0" destOrd="0" presId="urn:microsoft.com/office/officeart/2008/layout/RadialCluster"/>
    <dgm:cxn modelId="{7CF9057B-900E-EB40-80F8-B63DFD58E026}" type="presOf" srcId="{7EE70F67-87A7-324E-B28A-607987492395}" destId="{862F32FE-1629-264F-ADC3-EE0FBCDB456A}" srcOrd="0" destOrd="0" presId="urn:microsoft.com/office/officeart/2008/layout/RadialCluster"/>
    <dgm:cxn modelId="{A527AED8-287D-7E43-844C-FC87DB56C9B6}" srcId="{052B70B5-C25B-9146-9B44-1F60BE465858}" destId="{7EE70F67-87A7-324E-B28A-607987492395}" srcOrd="0" destOrd="0" parTransId="{7D056C5B-8936-CC46-853C-2101AC691B65}" sibTransId="{5C984B59-D899-444E-AE71-5149CD901251}"/>
    <dgm:cxn modelId="{4D2B247C-7385-FF47-A45A-CBED39078D44}" srcId="{7EE70F67-87A7-324E-B28A-607987492395}" destId="{542F7CDF-8002-E947-BA0E-6B7DC4180450}" srcOrd="1" destOrd="0" parTransId="{73C4E6FE-5506-534E-9167-78F618316F38}" sibTransId="{4FB58383-7D4D-3A43-9E0F-7957C6DEAB51}"/>
    <dgm:cxn modelId="{DEFC0B36-ABE8-0A4E-B67C-10A096C47433}" type="presOf" srcId="{30B85D17-1BDC-3F45-B21F-3E5015E640FD}" destId="{0CEC1C90-BF85-404B-B3C7-77E7A599EFCB}" srcOrd="0" destOrd="0" presId="urn:microsoft.com/office/officeart/2008/layout/RadialCluster"/>
    <dgm:cxn modelId="{FD62A563-D54D-0449-9514-F3619E58254F}" type="presParOf" srcId="{089E9DCB-2A5D-DD47-AB2C-2300C84C3583}" destId="{E0CB5983-33EE-3F43-9D08-0E7DD308CA72}" srcOrd="0" destOrd="0" presId="urn:microsoft.com/office/officeart/2008/layout/RadialCluster"/>
    <dgm:cxn modelId="{3B00FE28-C40B-F842-8680-58F3EA012419}" type="presParOf" srcId="{E0CB5983-33EE-3F43-9D08-0E7DD308CA72}" destId="{862F32FE-1629-264F-ADC3-EE0FBCDB456A}" srcOrd="0" destOrd="0" presId="urn:microsoft.com/office/officeart/2008/layout/RadialCluster"/>
    <dgm:cxn modelId="{762B7959-C59B-EF45-9747-A50E4BA87D9E}" type="presParOf" srcId="{E0CB5983-33EE-3F43-9D08-0E7DD308CA72}" destId="{0CEC1C90-BF85-404B-B3C7-77E7A599EFCB}" srcOrd="1" destOrd="0" presId="urn:microsoft.com/office/officeart/2008/layout/RadialCluster"/>
    <dgm:cxn modelId="{AB5FFD5E-D48D-E641-951F-E4C9A0925C05}" type="presParOf" srcId="{E0CB5983-33EE-3F43-9D08-0E7DD308CA72}" destId="{DAC4DE6B-ED88-3F4E-BDD1-7989BB17AA05}" srcOrd="2" destOrd="0" presId="urn:microsoft.com/office/officeart/2008/layout/RadialCluster"/>
    <dgm:cxn modelId="{0CFC8F06-4383-6446-9B38-51FB345444AF}" type="presParOf" srcId="{E0CB5983-33EE-3F43-9D08-0E7DD308CA72}" destId="{98E0DB04-C7DF-D546-80ED-A9E308FF4F62}" srcOrd="3" destOrd="0" presId="urn:microsoft.com/office/officeart/2008/layout/RadialCluster"/>
    <dgm:cxn modelId="{4FF81D9C-1252-884C-A368-E0AAAC110D8E}" type="presParOf" srcId="{E0CB5983-33EE-3F43-9D08-0E7DD308CA72}" destId="{658C9770-3D12-F446-9058-E331FE43DAA1}" srcOrd="4" destOrd="0" presId="urn:microsoft.com/office/officeart/2008/layout/RadialCluster"/>
    <dgm:cxn modelId="{02A4A19F-0D54-FD41-AC7D-40C4583F2329}" type="presParOf" srcId="{E0CB5983-33EE-3F43-9D08-0E7DD308CA72}" destId="{398EB5A7-8162-684D-843C-24774F8D8824}" srcOrd="5" destOrd="0" presId="urn:microsoft.com/office/officeart/2008/layout/RadialCluster"/>
    <dgm:cxn modelId="{E86FE805-B2E6-6B42-9BB0-69D164A077C4}" type="presParOf" srcId="{E0CB5983-33EE-3F43-9D08-0E7DD308CA72}" destId="{F6C54E84-34AB-6646-BE82-DF55E3A1B60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F32FE-1629-264F-ADC3-EE0FBCDB456A}">
      <dsp:nvSpPr>
        <dsp:cNvPr id="0" name=""/>
        <dsp:cNvSpPr/>
      </dsp:nvSpPr>
      <dsp:spPr>
        <a:xfrm>
          <a:off x="3605629" y="1579225"/>
          <a:ext cx="1018341" cy="10183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Social Cohesion</a:t>
          </a:r>
          <a:endParaRPr lang="en-US" sz="1700" kern="1200" dirty="0"/>
        </a:p>
      </dsp:txBody>
      <dsp:txXfrm>
        <a:off x="3655340" y="1628936"/>
        <a:ext cx="918919" cy="918919"/>
      </dsp:txXfrm>
    </dsp:sp>
    <dsp:sp modelId="{0CEC1C90-BF85-404B-B3C7-77E7A599EFCB}">
      <dsp:nvSpPr>
        <dsp:cNvPr id="0" name=""/>
        <dsp:cNvSpPr/>
      </dsp:nvSpPr>
      <dsp:spPr>
        <a:xfrm rot="16200000">
          <a:off x="3757637" y="1222062"/>
          <a:ext cx="71432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14324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C4DE6B-ED88-3F4E-BDD1-7989BB17AA05}">
      <dsp:nvSpPr>
        <dsp:cNvPr id="0" name=""/>
        <dsp:cNvSpPr/>
      </dsp:nvSpPr>
      <dsp:spPr>
        <a:xfrm>
          <a:off x="3773655" y="182611"/>
          <a:ext cx="682288" cy="68228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Social Inclusion</a:t>
          </a:r>
          <a:endParaRPr lang="en-US" sz="1200" kern="1200" dirty="0"/>
        </a:p>
      </dsp:txBody>
      <dsp:txXfrm>
        <a:off x="3806962" y="215918"/>
        <a:ext cx="615674" cy="615674"/>
      </dsp:txXfrm>
    </dsp:sp>
    <dsp:sp modelId="{98E0DB04-C7DF-D546-80ED-A9E308FF4F62}">
      <dsp:nvSpPr>
        <dsp:cNvPr id="0" name=""/>
        <dsp:cNvSpPr/>
      </dsp:nvSpPr>
      <dsp:spPr>
        <a:xfrm rot="1800000">
          <a:off x="4584931" y="2528060"/>
          <a:ext cx="5827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2779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C9770-3D12-F446-9058-E331FE43DAA1}">
      <dsp:nvSpPr>
        <dsp:cNvPr id="0" name=""/>
        <dsp:cNvSpPr/>
      </dsp:nvSpPr>
      <dsp:spPr>
        <a:xfrm>
          <a:off x="5128673" y="2529571"/>
          <a:ext cx="682288" cy="68228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Social Capital</a:t>
          </a:r>
          <a:endParaRPr lang="en-US" sz="1500" kern="1200" dirty="0"/>
        </a:p>
      </dsp:txBody>
      <dsp:txXfrm>
        <a:off x="5161980" y="2562878"/>
        <a:ext cx="615674" cy="615674"/>
      </dsp:txXfrm>
    </dsp:sp>
    <dsp:sp modelId="{398EB5A7-8162-684D-843C-24774F8D8824}">
      <dsp:nvSpPr>
        <dsp:cNvPr id="0" name=""/>
        <dsp:cNvSpPr/>
      </dsp:nvSpPr>
      <dsp:spPr>
        <a:xfrm rot="9000000">
          <a:off x="3061888" y="2528060"/>
          <a:ext cx="5827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2779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54E84-34AB-6646-BE82-DF55E3A1B60D}">
      <dsp:nvSpPr>
        <dsp:cNvPr id="0" name=""/>
        <dsp:cNvSpPr/>
      </dsp:nvSpPr>
      <dsp:spPr>
        <a:xfrm>
          <a:off x="2418638" y="2529571"/>
          <a:ext cx="682288" cy="68228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Social mobility</a:t>
          </a:r>
          <a:endParaRPr lang="en-US" sz="1300" kern="1200" dirty="0"/>
        </a:p>
      </dsp:txBody>
      <dsp:txXfrm>
        <a:off x="2451945" y="2562878"/>
        <a:ext cx="615674" cy="615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4A2BD-BEE2-9641-8A02-F029A714C0BB}" type="datetimeFigureOut">
              <a:rPr lang="en-US" smtClean="0"/>
              <a:t>6/6/16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DF689-81F5-4A43-8567-712382D3F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208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A483B-C179-9F4D-8C74-0D42B7E6DCE0}" type="datetimeFigureOut">
              <a:rPr lang="en-US" smtClean="0"/>
              <a:t>6/6/16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E9DFA-E443-A146-AAB3-1F418BB1A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76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2E9DFA-E443-A146-AAB3-1F418BB1A2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0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While the notion of ‘social cohesion’ is often used with different meanings, its constituent elements include concerns about social inclusion, social capital and social mobility.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2E9DFA-E443-A146-AAB3-1F418BB1A2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0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Listed Greg and Andy since</a:t>
            </a:r>
            <a:r>
              <a:rPr lang="en-US" baseline="0" dirty="0" smtClean="0"/>
              <a:t> this is a cooperative agreement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2E9DFA-E443-A146-AAB3-1F418BB1A2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31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Notice, the contextual</a:t>
            </a:r>
            <a:r>
              <a:rPr lang="en-US" baseline="0" dirty="0" smtClean="0"/>
              <a:t> approach was not prominent, but we wanted to explore each of these…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0F0D3-1EDD-1642-AC02-35F6376241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82017"/>
            <a:ext cx="6477000" cy="1102519"/>
          </a:xfrm>
        </p:spPr>
        <p:txBody>
          <a:bodyPr/>
          <a:lstStyle>
            <a:lvl1pPr algn="r">
              <a:defRPr b="0" i="0">
                <a:latin typeface="Gill Sans"/>
                <a:cs typeface="Gill San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5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icture 5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718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38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926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26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i="0">
                <a:latin typeface="Gill Sans"/>
                <a:cs typeface="Gill San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5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 b="0" i="0">
                <a:latin typeface="Helvetica"/>
                <a:cs typeface="Helvetic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0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iocomplexity-PP-SectionTitle10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 b="0" i="0">
                <a:latin typeface="Helvetica"/>
                <a:cs typeface="Helvetic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9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iocomplexity-PP-SectionTitle10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06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ocomplexity-PP-SectionTitle5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04800" y="1597832"/>
            <a:ext cx="7772400" cy="1102519"/>
          </a:xfrm>
        </p:spPr>
        <p:txBody>
          <a:bodyPr/>
          <a:lstStyle>
            <a:lvl1pPr algn="ctr">
              <a:defRPr b="0" i="0">
                <a:latin typeface="Gill Sans"/>
                <a:cs typeface="Gill San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06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iocomplexity-PP-SectionTitle2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9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2"/>
            <a:ext cx="7772400" cy="1102519"/>
          </a:xfrm>
        </p:spPr>
        <p:txBody>
          <a:bodyPr/>
          <a:lstStyle>
            <a:lvl1pPr algn="ctr">
              <a:defRPr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58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73777"/>
            <a:ext cx="3708983" cy="356896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83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73777"/>
            <a:ext cx="3708983" cy="356896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83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2"/>
            <a:ext cx="7772400" cy="1102519"/>
          </a:xfrm>
        </p:spPr>
        <p:txBody>
          <a:bodyPr/>
          <a:lstStyle>
            <a:lvl1pPr algn="ctr">
              <a:defRPr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58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6" name="Picture 5" descr="Screen Shot 2015-12-08 at 7.04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718"/>
            <a:ext cx="3708983" cy="356896"/>
          </a:xfrm>
          <a:prstGeom prst="rect">
            <a:avLst/>
          </a:prstGeom>
        </p:spPr>
      </p:pic>
      <p:pic>
        <p:nvPicPr>
          <p:cNvPr id="5" name="Picture 4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718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10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388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2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46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13284"/>
            <a:ext cx="4040188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03346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513284"/>
            <a:ext cx="4041775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43876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32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Screen Shot 2015-12-08 at 7.04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926"/>
            <a:ext cx="3708983" cy="356896"/>
          </a:xfrm>
          <a:prstGeom prst="rect">
            <a:avLst/>
          </a:prstGeom>
        </p:spPr>
      </p:pic>
      <p:pic>
        <p:nvPicPr>
          <p:cNvPr id="4" name="Picture 3" descr="Screen Shot 2015-12-08 at 7.04.00 P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926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26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12-08 at 7.04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05350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8343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2644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786958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iocomplexity-PP-SectionTitle10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 b="0" i="0">
                <a:latin typeface="Helvetica"/>
                <a:cs typeface="Helvetic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4837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i="0"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56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 b="0" i="0"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056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iocomplexity-PP-SectionTitle10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 b="0" i="0"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943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iocomplexity-PP-SectionTitle10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066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ocomplexity-PP-SectionTitle5-SDAL-BKGD-Light_2015-1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968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04800" y="1597832"/>
            <a:ext cx="7772400" cy="1102519"/>
          </a:xfrm>
        </p:spPr>
        <p:txBody>
          <a:bodyPr/>
          <a:lstStyle>
            <a:lvl1pPr algn="ctr">
              <a:defRPr b="0" i="0"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0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theme" Target="../theme/theme4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607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4" name="Picture 3" descr="Screen Shot 2015-12-08 at 7.04.00 PM.png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718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8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4" r:id="rId5"/>
    <p:sldLayoutId id="2147483881" r:id="rId6"/>
    <p:sldLayoutId id="2147483880" r:id="rId7"/>
  </p:sldLayoutIdLst>
  <p:hf hdr="0" ftr="0" dt="0"/>
  <p:txStyles>
    <p:titleStyle>
      <a:lvl1pPr algn="r" defTabSz="457200" rtl="0" eaLnBrk="1" latinLnBrk="0" hangingPunct="1">
        <a:spcBef>
          <a:spcPct val="0"/>
        </a:spcBef>
        <a:buNone/>
        <a:defRPr sz="3200" b="0" i="0" kern="1200">
          <a:solidFill>
            <a:schemeClr val="tx1"/>
          </a:solidFill>
          <a:latin typeface="Gill Sans  "/>
          <a:ea typeface="+mj-ea"/>
          <a:cs typeface="Gill Sans  "/>
        </a:defRPr>
      </a:lvl1pPr>
    </p:titleStyle>
    <p:bodyStyle>
      <a:lvl1pPr marL="681038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chemeClr val="tx1"/>
          </a:solidFill>
          <a:latin typeface="Gill Sans Light"/>
          <a:ea typeface="+mn-ea"/>
          <a:cs typeface="Gill Sans Light"/>
        </a:defRPr>
      </a:lvl1pPr>
      <a:lvl2pPr marL="102870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1373188" indent="-225425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833563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2278063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uk-UA" smtClean="0"/>
              <a:t>‹#›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82" r:id="rId3"/>
    <p:sldLayoutId id="2147483883" r:id="rId4"/>
    <p:sldLayoutId id="2147483884" r:id="rId5"/>
    <p:sldLayoutId id="2147483885" r:id="rId6"/>
    <p:sldLayoutId id="2147483904" r:id="rId7"/>
    <p:sldLayoutId id="2147483905" r:id="rId8"/>
    <p:sldLayoutId id="2147483906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200" b="0" i="0" kern="1200">
          <a:solidFill>
            <a:schemeClr val="tx1"/>
          </a:solidFill>
          <a:latin typeface="Gill Sans"/>
          <a:ea typeface="+mj-ea"/>
          <a:cs typeface="Gill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chemeClr val="tx1"/>
          </a:solidFill>
          <a:latin typeface="Gill Sans Light"/>
          <a:ea typeface="+mn-ea"/>
          <a:cs typeface="Gill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607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4" name="Picture 3" descr="Screen Shot 2015-12-08 at 7.04.00 PM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90" y="4763718"/>
            <a:ext cx="3708983" cy="3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8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907" r:id="rId11"/>
  </p:sldLayoutIdLst>
  <p:hf hdr="0" ftr="0" dt="0"/>
  <p:txStyles>
    <p:titleStyle>
      <a:lvl1pPr algn="r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Gill Sans"/>
          <a:ea typeface="+mj-ea"/>
          <a:cs typeface="Gill Sans"/>
        </a:defRPr>
      </a:lvl1pPr>
    </p:titleStyle>
    <p:bodyStyle>
      <a:lvl1pPr marL="681038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Gill Sans Light"/>
          <a:ea typeface="+mn-ea"/>
          <a:cs typeface="Gill Sans Light"/>
        </a:defRPr>
      </a:lvl1pPr>
      <a:lvl2pPr marL="102870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1373188" indent="-225425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833563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2278063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uk-UA" smtClean="0"/>
              <a:t>‹#›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200" b="0" i="0" kern="1200">
          <a:solidFill>
            <a:schemeClr val="tx1"/>
          </a:solidFill>
          <a:latin typeface="Helvetica"/>
          <a:ea typeface="+mj-ea"/>
          <a:cs typeface="Helvetic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chemeClr val="tx1"/>
          </a:solidFill>
          <a:latin typeface="Helvetica Light"/>
          <a:ea typeface="+mn-ea"/>
          <a:cs typeface="Helvetica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Helvetica Light"/>
          <a:ea typeface="+mn-ea"/>
          <a:cs typeface="Helvetica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Helvetica Light"/>
          <a:ea typeface="+mn-ea"/>
          <a:cs typeface="Helvetica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Social Cohesion Overview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2800350"/>
            <a:ext cx="6400800" cy="131445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Stephanie Shipp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Gizem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Korkmaz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Katie </a:t>
            </a:r>
            <a:r>
              <a:rPr lang="en-US" dirty="0" err="1" smtClean="0">
                <a:solidFill>
                  <a:schemeClr val="tx1"/>
                </a:solidFill>
              </a:rPr>
              <a:t>Ziemer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June 6, 2016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66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205979"/>
            <a:ext cx="8229600" cy="857250"/>
          </a:xfrm>
        </p:spPr>
        <p:txBody>
          <a:bodyPr/>
          <a:lstStyle/>
          <a:p>
            <a:pPr algn="ctr"/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What is social cohesion?</a:t>
            </a:r>
          </a:p>
          <a:p>
            <a:r>
              <a:rPr lang="en-US" sz="3200" dirty="0" smtClean="0"/>
              <a:t>What are components of social cohesion?</a:t>
            </a:r>
          </a:p>
          <a:p>
            <a:r>
              <a:rPr lang="en-US" sz="3200" dirty="0" smtClean="0"/>
              <a:t>Why study social cohesion?</a:t>
            </a:r>
          </a:p>
          <a:p>
            <a:r>
              <a:rPr lang="en-US" sz="3200" dirty="0" smtClean="0"/>
              <a:t>How to conduct literature review?</a:t>
            </a:r>
          </a:p>
          <a:p>
            <a:r>
              <a:rPr lang="en-US" sz="3200" dirty="0" smtClean="0"/>
              <a:t>Timeline and 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9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Defining Social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38138" indent="0">
              <a:buNone/>
            </a:pPr>
            <a:endParaRPr lang="en-US" sz="2400" dirty="0" smtClean="0"/>
          </a:p>
          <a:p>
            <a:pPr marL="338138" indent="0">
              <a:buNone/>
            </a:pPr>
            <a:endParaRPr lang="en-US" sz="2400" dirty="0"/>
          </a:p>
          <a:p>
            <a:pPr marL="338138" indent="0">
              <a:buNone/>
            </a:pPr>
            <a:endParaRPr lang="en-US" sz="24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57200" y="1063229"/>
            <a:ext cx="8229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combination of the quality and quantity of relationships within a </a:t>
            </a:r>
            <a:r>
              <a:rPr lang="en-US" sz="2400" dirty="0" smtClean="0"/>
              <a:t>community; densely </a:t>
            </a:r>
            <a:r>
              <a:rPr lang="en-US" sz="2400" dirty="0"/>
              <a:t>connected social networks combined with norms of trust within those </a:t>
            </a:r>
            <a:r>
              <a:rPr lang="en-US" sz="2400" dirty="0" smtClean="0"/>
              <a:t>networks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 smtClean="0"/>
              <a:t>Willingness of members of a society to cooperate with each other  in order to survive and prosper (Stanley 2003)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A cohesive society works towards the well-being of all its members, fights exclusion and </a:t>
            </a:r>
            <a:r>
              <a:rPr lang="en-US" sz="2400" dirty="0" err="1"/>
              <a:t>marginalisation</a:t>
            </a:r>
            <a:r>
              <a:rPr lang="en-US" sz="2400" dirty="0"/>
              <a:t>, creates a sense of belonging, promotes trust, and offers its members the opportunity of upward </a:t>
            </a:r>
            <a:r>
              <a:rPr lang="en-US" sz="2400" dirty="0" smtClean="0"/>
              <a:t>mobility</a:t>
            </a:r>
            <a:r>
              <a:rPr lang="en-US" sz="2400" dirty="0"/>
              <a:t> </a:t>
            </a:r>
            <a:r>
              <a:rPr lang="en-US" sz="2400" dirty="0" smtClean="0"/>
              <a:t>(OECD 2011)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488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Components of Social Cohesion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354619"/>
              </p:ext>
            </p:extLst>
          </p:nvPr>
        </p:nvGraphicFramePr>
        <p:xfrm>
          <a:off x="457200" y="1006078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3274" y="4705350"/>
            <a:ext cx="5981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/>
            <a:r>
              <a:rPr lang="en-US" sz="1200" dirty="0" smtClean="0">
                <a:latin typeface="Gill Sans Light"/>
                <a:cs typeface="Gill Sans Light"/>
              </a:rPr>
              <a:t>Source: OECD, 2011, Perspectives on Global Development, Social Cohesion in a Shifting World .  </a:t>
            </a:r>
            <a:endParaRPr lang="en-US" sz="1200" dirty="0">
              <a:latin typeface="Gill Sans Light"/>
              <a:cs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584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Study Social Cohesion?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Study Social Cohesion?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8138" indent="0">
              <a:buNone/>
            </a:pPr>
            <a:r>
              <a:rPr lang="en-US" dirty="0" smtClean="0"/>
              <a:t>How communities work together especially in light of:</a:t>
            </a:r>
          </a:p>
          <a:p>
            <a:r>
              <a:rPr lang="en-US" dirty="0" smtClean="0"/>
              <a:t>Catastrophic shocks, e.g. recovery after hurricanes (e.g., Sandy, Katrina)</a:t>
            </a:r>
          </a:p>
          <a:p>
            <a:r>
              <a:rPr lang="en-US" dirty="0" smtClean="0"/>
              <a:t>Active shock, e.g. BRAC in Arlington, the changing auto industry in Detroit</a:t>
            </a:r>
          </a:p>
          <a:p>
            <a:r>
              <a:rPr lang="en-US" dirty="0" smtClean="0"/>
              <a:t>Subtle shocks, e.g. aging of the population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785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1000" y="461949"/>
            <a:ext cx="8610600" cy="2033601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Helvetica"/>
                <a:cs typeface="Helvetica"/>
              </a:rPr>
              <a:t/>
            </a:r>
            <a:br>
              <a:rPr lang="en-US" sz="2800" dirty="0" smtClean="0">
                <a:latin typeface="Helvetica"/>
                <a:cs typeface="Helvetica"/>
              </a:rPr>
            </a:br>
            <a:r>
              <a:rPr lang="en-US" sz="2800" dirty="0" smtClean="0">
                <a:latin typeface="Helvetica"/>
                <a:cs typeface="Helvetica"/>
              </a:rPr>
              <a:t/>
            </a:r>
            <a:br>
              <a:rPr lang="en-US" sz="2800" dirty="0" smtClean="0">
                <a:latin typeface="Helvetica"/>
                <a:cs typeface="Helvetica"/>
              </a:rPr>
            </a:br>
            <a:r>
              <a:rPr lang="en-US" sz="2800" dirty="0">
                <a:latin typeface="Helvetica"/>
                <a:cs typeface="Helvetica"/>
              </a:rPr>
              <a:t/>
            </a:r>
            <a:br>
              <a:rPr lang="en-US" sz="2800" dirty="0">
                <a:latin typeface="Helvetica"/>
                <a:cs typeface="Helvetica"/>
              </a:rPr>
            </a:br>
            <a:r>
              <a:rPr lang="en-US" sz="2800" dirty="0" smtClean="0"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"/>
                <a:ea typeface="+mn-ea"/>
                <a:cs typeface="Helvetica"/>
              </a:rPr>
              <a:t>Literature </a:t>
            </a:r>
            <a:r>
              <a:rPr lang="en-US" sz="2800" dirty="0"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"/>
                <a:ea typeface="+mn-ea"/>
                <a:cs typeface="Helvetica"/>
              </a:rPr>
              <a:t>Review </a:t>
            </a:r>
            <a:r>
              <a:rPr lang="en-US" sz="2800" dirty="0" smtClean="0"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Helvetica"/>
                <a:ea typeface="+mn-ea"/>
                <a:cs typeface="Helvetica"/>
              </a:rPr>
              <a:t>Process</a:t>
            </a:r>
            <a:r>
              <a:rPr lang="en-US" sz="2800" dirty="0">
                <a:latin typeface="Helvetica"/>
                <a:cs typeface="Helvetica"/>
              </a:rPr>
              <a:t/>
            </a:r>
            <a:br>
              <a:rPr lang="en-US" sz="2800" dirty="0">
                <a:latin typeface="Helvetica"/>
                <a:cs typeface="Helvetica"/>
              </a:rPr>
            </a:br>
            <a:endParaRPr lang="en-US" sz="2800" dirty="0">
              <a:latin typeface="Helvetica"/>
              <a:cs typeface="Helvetica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2647950"/>
            <a:ext cx="6553200" cy="152874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sz="1050" dirty="0" smtClean="0">
              <a:solidFill>
                <a:schemeClr val="tx1"/>
              </a:solidFill>
              <a:latin typeface="Helvetica"/>
              <a:cs typeface="Helvetica"/>
            </a:endParaRPr>
          </a:p>
          <a:p>
            <a:endParaRPr lang="en-US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28511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Questions to be Answered by the Lit Review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078"/>
            <a:ext cx="8229600" cy="3775472"/>
          </a:xfrm>
        </p:spPr>
        <p:txBody>
          <a:bodyPr/>
          <a:lstStyle/>
          <a:p>
            <a:r>
              <a:rPr lang="en-US" sz="2600" dirty="0" smtClean="0"/>
              <a:t>How is social cohesion defined?</a:t>
            </a:r>
            <a:endParaRPr lang="en-US" sz="2600" dirty="0"/>
          </a:p>
          <a:p>
            <a:r>
              <a:rPr lang="en-US" sz="2600" dirty="0" smtClean="0"/>
              <a:t>What are the disciplines that study social cohesion?</a:t>
            </a:r>
            <a:endParaRPr lang="en-US" sz="2600" dirty="0"/>
          </a:p>
          <a:p>
            <a:r>
              <a:rPr lang="en-US" sz="2600" dirty="0" smtClean="0"/>
              <a:t>How is social cohesion measured?</a:t>
            </a:r>
          </a:p>
          <a:p>
            <a:r>
              <a:rPr lang="en-US" sz="2600" dirty="0" smtClean="0"/>
              <a:t>What theories are used?</a:t>
            </a:r>
          </a:p>
          <a:p>
            <a:r>
              <a:rPr lang="en-US" sz="2600" dirty="0" smtClean="0"/>
              <a:t>Who are the key researchers/what are the key journals?</a:t>
            </a:r>
          </a:p>
          <a:p>
            <a:r>
              <a:rPr lang="en-US" sz="2600" dirty="0" smtClean="0"/>
              <a:t>What are the key findings?</a:t>
            </a:r>
          </a:p>
          <a:p>
            <a:r>
              <a:rPr lang="en-US" sz="2600" dirty="0" smtClean="0"/>
              <a:t>Other?</a:t>
            </a:r>
          </a:p>
          <a:p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6196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07873" y="742950"/>
            <a:ext cx="1994256" cy="2349709"/>
            <a:chOff x="255473" y="298241"/>
            <a:chExt cx="1994256" cy="2349709"/>
          </a:xfrm>
        </p:grpSpPr>
        <p:sp>
          <p:nvSpPr>
            <p:cNvPr id="13" name="Oval 12"/>
            <p:cNvSpPr/>
            <p:nvPr/>
          </p:nvSpPr>
          <p:spPr>
            <a:xfrm>
              <a:off x="255473" y="298241"/>
              <a:ext cx="1727426" cy="64459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Gill Sans"/>
                  <a:cs typeface="Gill Sans"/>
                </a:rPr>
                <a:t>Discipline</a:t>
              </a:r>
              <a:endParaRPr lang="en-US" dirty="0">
                <a:solidFill>
                  <a:schemeClr val="tx1"/>
                </a:solidFill>
                <a:latin typeface="Gill Sans"/>
                <a:cs typeface="Gill Sans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55473" y="1078290"/>
              <a:ext cx="199425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Gill Sans"/>
                  <a:cs typeface="Gill Sans"/>
                </a:rPr>
                <a:t>Sociology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Education/Inst. </a:t>
              </a:r>
              <a:r>
                <a:rPr lang="en-US" sz="1600" dirty="0" err="1" smtClean="0">
                  <a:latin typeface="Gill Sans"/>
                  <a:cs typeface="Gill Sans"/>
                </a:rPr>
                <a:t>Resh</a:t>
              </a:r>
              <a:r>
                <a:rPr lang="en-US" sz="1600" dirty="0" smtClean="0">
                  <a:latin typeface="Gill Sans"/>
                  <a:cs typeface="Gill Sans"/>
                </a:rPr>
                <a:t>.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I/O Psychology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Anthropology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Business/Management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Medicine/Psychiatry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837301" y="742950"/>
            <a:ext cx="3257122" cy="2578309"/>
            <a:chOff x="2552028" y="298241"/>
            <a:chExt cx="3257122" cy="2578309"/>
          </a:xfrm>
        </p:grpSpPr>
        <p:sp>
          <p:nvSpPr>
            <p:cNvPr id="12" name="Oval 11"/>
            <p:cNvSpPr/>
            <p:nvPr/>
          </p:nvSpPr>
          <p:spPr>
            <a:xfrm>
              <a:off x="2622863" y="298241"/>
              <a:ext cx="1229698" cy="64459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Gill Sans"/>
                  <a:cs typeface="Gill Sans"/>
                </a:rPr>
                <a:t>Theory</a:t>
              </a:r>
              <a:endParaRPr lang="en-US" dirty="0">
                <a:solidFill>
                  <a:schemeClr val="tx1"/>
                </a:solidFill>
                <a:latin typeface="Gill Sans"/>
                <a:cs typeface="Gill Sans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552028" y="1060668"/>
              <a:ext cx="3257122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Gill Sans"/>
                  <a:cs typeface="Gill Sans"/>
                </a:rPr>
                <a:t>Organizational Commitment</a:t>
              </a:r>
            </a:p>
            <a:p>
              <a:r>
                <a:rPr lang="en-US" sz="1600" dirty="0" err="1" smtClean="0">
                  <a:latin typeface="Gill Sans"/>
                  <a:cs typeface="Gill Sans"/>
                </a:rPr>
                <a:t>Bluedorn’s</a:t>
              </a:r>
              <a:r>
                <a:rPr lang="en-US" sz="1600" dirty="0" smtClean="0">
                  <a:latin typeface="Gill Sans"/>
                  <a:cs typeface="Gill Sans"/>
                </a:rPr>
                <a:t> Econ. Model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Institutional/Occupational Transitions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Student Engagement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Super’s Career Theory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Holland’s Theory of Career Choice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Social Cognitive Career Theory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529596" y="742950"/>
            <a:ext cx="2233404" cy="2811612"/>
            <a:chOff x="5749635" y="298241"/>
            <a:chExt cx="2233404" cy="2811612"/>
          </a:xfrm>
        </p:grpSpPr>
        <p:sp>
          <p:nvSpPr>
            <p:cNvPr id="16" name="Oval 15"/>
            <p:cNvSpPr/>
            <p:nvPr/>
          </p:nvSpPr>
          <p:spPr>
            <a:xfrm>
              <a:off x="5791200" y="298241"/>
              <a:ext cx="1529283" cy="64459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Gill Sans"/>
                  <a:cs typeface="Gill Sans"/>
                </a:rPr>
                <a:t>Measures</a:t>
              </a:r>
              <a:endParaRPr lang="en-US" dirty="0">
                <a:solidFill>
                  <a:schemeClr val="tx1"/>
                </a:solidFill>
                <a:latin typeface="Gill Sans"/>
                <a:cs typeface="Gill San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9635" y="1047750"/>
              <a:ext cx="2233404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Gill Sans"/>
                  <a:cs typeface="Gill Sans"/>
                </a:rPr>
                <a:t>Personality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Physical &amp; Mental Health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Organizational Factors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Demographics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Social Support/Context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Military Environment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Cognitive Factors</a:t>
              </a:r>
            </a:p>
            <a:p>
              <a:endParaRPr lang="en-US" sz="1600" dirty="0" smtClean="0">
                <a:latin typeface="Gill Sans"/>
                <a:cs typeface="Gill San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752600" y="3160183"/>
            <a:ext cx="1270089" cy="2002367"/>
            <a:chOff x="330111" y="3007783"/>
            <a:chExt cx="1270089" cy="2002367"/>
          </a:xfrm>
        </p:grpSpPr>
        <p:sp>
          <p:nvSpPr>
            <p:cNvPr id="15" name="Oval 14"/>
            <p:cNvSpPr/>
            <p:nvPr/>
          </p:nvSpPr>
          <p:spPr>
            <a:xfrm>
              <a:off x="330111" y="3007783"/>
              <a:ext cx="1270089" cy="64459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Gill Sans"/>
                  <a:cs typeface="Gill Sans"/>
                </a:rPr>
                <a:t>People/Labs</a:t>
              </a:r>
              <a:endParaRPr lang="en-US" dirty="0">
                <a:solidFill>
                  <a:schemeClr val="tx1"/>
                </a:solidFill>
                <a:latin typeface="Gill Sans"/>
                <a:cs typeface="Gill San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1000" y="3686711"/>
              <a:ext cx="1106894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Gill Sans"/>
                  <a:cs typeface="Gill Sans"/>
                </a:rPr>
                <a:t>ARI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RAND</a:t>
              </a:r>
            </a:p>
            <a:p>
              <a:r>
                <a:rPr lang="en-US" sz="1600" dirty="0" err="1" smtClean="0">
                  <a:latin typeface="Gill Sans"/>
                  <a:cs typeface="Gill Sans"/>
                </a:rPr>
                <a:t>Gao</a:t>
              </a:r>
              <a:r>
                <a:rPr lang="en-US" sz="1600" dirty="0" smtClean="0">
                  <a:latin typeface="Gill Sans"/>
                  <a:cs typeface="Gill Sans"/>
                </a:rPr>
                <a:t>, White</a:t>
              </a:r>
            </a:p>
            <a:p>
              <a:r>
                <a:rPr lang="en-US" sz="1600" dirty="0" err="1" smtClean="0">
                  <a:latin typeface="Gill Sans"/>
                  <a:cs typeface="Gill Sans"/>
                </a:rPr>
                <a:t>Hoge</a:t>
              </a:r>
              <a:endParaRPr lang="en-US" sz="1600" dirty="0" smtClean="0">
                <a:latin typeface="Gill Sans"/>
                <a:cs typeface="Gill Sans"/>
              </a:endParaRPr>
            </a:p>
            <a:p>
              <a:r>
                <a:rPr lang="en-US" sz="1600" dirty="0" smtClean="0">
                  <a:latin typeface="Gill Sans"/>
                  <a:cs typeface="Gill Sans"/>
                </a:rPr>
                <a:t>Bean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300407" y="3160183"/>
            <a:ext cx="2243393" cy="2002367"/>
            <a:chOff x="2603556" y="3007783"/>
            <a:chExt cx="2243393" cy="2002367"/>
          </a:xfrm>
        </p:grpSpPr>
        <p:sp>
          <p:nvSpPr>
            <p:cNvPr id="14" name="Oval 13"/>
            <p:cNvSpPr/>
            <p:nvPr/>
          </p:nvSpPr>
          <p:spPr>
            <a:xfrm>
              <a:off x="2603556" y="3007783"/>
              <a:ext cx="1556845" cy="64459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Gill Sans"/>
                  <a:cs typeface="Gill Sans"/>
                </a:rPr>
                <a:t>Journals</a:t>
              </a:r>
              <a:endParaRPr lang="en-US" dirty="0">
                <a:solidFill>
                  <a:schemeClr val="tx1"/>
                </a:solidFill>
                <a:latin typeface="Gill Sans"/>
                <a:cs typeface="Gill San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22863" y="3686711"/>
              <a:ext cx="222408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Gill Sans"/>
                  <a:cs typeface="Gill Sans"/>
                </a:rPr>
                <a:t>J. Pol. &amp; Mil. Sociology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Military Med.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Military </a:t>
              </a:r>
              <a:r>
                <a:rPr lang="en-US" sz="1600" dirty="0" err="1" smtClean="0">
                  <a:latin typeface="Gill Sans"/>
                  <a:cs typeface="Gill Sans"/>
                </a:rPr>
                <a:t>Psyc</a:t>
              </a:r>
              <a:r>
                <a:rPr lang="en-US" sz="1600" dirty="0" smtClean="0">
                  <a:latin typeface="Gill Sans"/>
                  <a:cs typeface="Gill Sans"/>
                </a:rPr>
                <a:t>.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Am. J. Sociology</a:t>
              </a:r>
            </a:p>
            <a:p>
              <a:r>
                <a:rPr lang="en-US" sz="1600" dirty="0" smtClean="0">
                  <a:latin typeface="Gill Sans"/>
                  <a:cs typeface="Gill Sans"/>
                </a:rPr>
                <a:t>Armed Forces &amp; Society</a:t>
              </a:r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200" y="-95250"/>
            <a:ext cx="8229600" cy="857250"/>
          </a:xfrm>
        </p:spPr>
        <p:txBody>
          <a:bodyPr/>
          <a:lstStyle/>
          <a:p>
            <a:pPr algn="ctr"/>
            <a:r>
              <a:rPr lang="en-US" dirty="0" smtClean="0"/>
              <a:t>Attrition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311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Literature Review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5350"/>
            <a:ext cx="8458200" cy="3810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Determine the disciplines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Assign each person a discipline (and potentially a seed article) – provide keywords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Find a review article (if one exists)or general text books (broad)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Start </a:t>
            </a:r>
            <a:r>
              <a:rPr lang="en-US" sz="2000" dirty="0" smtClean="0">
                <a:latin typeface="Gill Sans Light"/>
                <a:cs typeface="Gill Sans Light"/>
              </a:rPr>
              <a:t>with seed </a:t>
            </a:r>
            <a:r>
              <a:rPr lang="en-US" sz="2000" dirty="0" smtClean="0">
                <a:latin typeface="Gill Sans Light"/>
                <a:cs typeface="Gill Sans Light"/>
              </a:rPr>
              <a:t>article – highly cited (~5-10 years)</a:t>
            </a:r>
            <a:endParaRPr lang="en-US" sz="2000" dirty="0" smtClean="0">
              <a:latin typeface="Gill Sans Light"/>
              <a:cs typeface="Gill Sans Light"/>
            </a:endParaRPr>
          </a:p>
          <a:p>
            <a:pPr lvl="1">
              <a:spcBef>
                <a:spcPts val="0"/>
              </a:spcBef>
            </a:pPr>
            <a:r>
              <a:rPr lang="en-US" sz="1800" dirty="0" smtClean="0"/>
              <a:t>Find </a:t>
            </a:r>
            <a:r>
              <a:rPr lang="en-US" sz="1800" dirty="0" smtClean="0"/>
              <a:t>a</a:t>
            </a:r>
            <a:r>
              <a:rPr lang="en-US" sz="1800" dirty="0" smtClean="0"/>
              <a:t>rticles (sorted by highly cited until you reach most frequent articles)</a:t>
            </a:r>
          </a:p>
          <a:p>
            <a:pPr lvl="2">
              <a:spcBef>
                <a:spcPts val="0"/>
              </a:spcBef>
            </a:pPr>
            <a:r>
              <a:rPr lang="en-US" sz="1600" dirty="0" smtClean="0">
                <a:latin typeface="Gill Sans Light"/>
                <a:cs typeface="Gill Sans Light"/>
              </a:rPr>
              <a:t>Go back in time </a:t>
            </a:r>
            <a:r>
              <a:rPr lang="en-US" sz="1600" dirty="0" smtClean="0">
                <a:latin typeface="Gill Sans Light"/>
                <a:cs typeface="Gill Sans Light"/>
              </a:rPr>
              <a:t>(references)</a:t>
            </a:r>
          </a:p>
          <a:p>
            <a:pPr lvl="2">
              <a:spcBef>
                <a:spcPts val="0"/>
              </a:spcBef>
            </a:pPr>
            <a:r>
              <a:rPr lang="en-US" sz="1600" dirty="0" smtClean="0">
                <a:latin typeface="Gill Sans Light"/>
                <a:cs typeface="Gill Sans Light"/>
              </a:rPr>
              <a:t>Go forward </a:t>
            </a:r>
            <a:r>
              <a:rPr lang="en-US" sz="1600" dirty="0" smtClean="0">
                <a:latin typeface="Gill Sans Light"/>
                <a:cs typeface="Gill Sans Light"/>
              </a:rPr>
              <a:t> in time(</a:t>
            </a:r>
            <a:r>
              <a:rPr lang="en-US" sz="1600" dirty="0" smtClean="0">
                <a:latin typeface="Gill Sans Light"/>
                <a:cs typeface="Gill Sans Light"/>
              </a:rPr>
              <a:t>articles that have cited it)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Record relevant info from each relevant article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Gill Sans Light"/>
                <a:cs typeface="Gill Sans Light"/>
              </a:rPr>
              <a:t>Snowball</a:t>
            </a:r>
            <a:endParaRPr lang="en-US" sz="2000" dirty="0">
              <a:latin typeface="Gill Sans Light"/>
              <a:cs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94895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Determining Disciplines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078"/>
            <a:ext cx="8229600" cy="3623072"/>
          </a:xfrm>
        </p:spPr>
        <p:txBody>
          <a:bodyPr>
            <a:noAutofit/>
          </a:bodyPr>
          <a:lstStyle/>
          <a:p>
            <a:r>
              <a:rPr lang="en-US" sz="2400" dirty="0" smtClean="0"/>
              <a:t>Use broad databases (e.g., Google scholar, web of science)</a:t>
            </a:r>
          </a:p>
          <a:p>
            <a:r>
              <a:rPr lang="en-US" sz="2400" dirty="0" smtClean="0"/>
              <a:t>Determine keywords - what other words do studies use to describe this phenomenon?</a:t>
            </a:r>
          </a:p>
          <a:p>
            <a:r>
              <a:rPr lang="en-US" sz="2400" dirty="0" smtClean="0"/>
              <a:t>Identify disciplines based on journal and department of the author</a:t>
            </a:r>
          </a:p>
          <a:p>
            <a:r>
              <a:rPr lang="en-US" sz="2400" dirty="0" smtClean="0"/>
              <a:t>Search within discipline-specific journals or using discipline as a keyword to see if any research has been done in that area</a:t>
            </a:r>
          </a:p>
          <a:p>
            <a:r>
              <a:rPr lang="en-US" sz="2400" dirty="0" smtClean="0"/>
              <a:t>Identify seed articles within that discipline (5-10 years old and highly cited)</a:t>
            </a:r>
          </a:p>
        </p:txBody>
      </p:sp>
    </p:spTree>
    <p:extLst>
      <p:ext uri="{BB962C8B-B14F-4D97-AF65-F5344CB8AC3E}">
        <p14:creationId xmlns:p14="http://schemas.microsoft.com/office/powerpoint/2010/main" val="4199940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Deeper Dive by Discipline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38138" indent="0">
              <a:buNone/>
            </a:pPr>
            <a:r>
              <a:rPr lang="en-US" sz="2400" dirty="0" smtClean="0"/>
              <a:t>Spreadsheet</a:t>
            </a:r>
          </a:p>
          <a:p>
            <a:r>
              <a:rPr lang="en-US" sz="2400" dirty="0" smtClean="0"/>
              <a:t>Date, author, title</a:t>
            </a:r>
          </a:p>
          <a:p>
            <a:r>
              <a:rPr lang="en-US" sz="2400" dirty="0" smtClean="0"/>
              <a:t>Research question, definition of social cohesion</a:t>
            </a:r>
          </a:p>
          <a:p>
            <a:r>
              <a:rPr lang="en-US" sz="2400" dirty="0" smtClean="0"/>
              <a:t>Population, sample size, data source, </a:t>
            </a:r>
            <a:r>
              <a:rPr lang="en-US" sz="2400" dirty="0" smtClean="0"/>
              <a:t>theory (questions or hypotheses or assumptions)</a:t>
            </a:r>
            <a:endParaRPr lang="en-US" sz="2400" dirty="0" smtClean="0"/>
          </a:p>
          <a:p>
            <a:r>
              <a:rPr lang="en-US" sz="2400" dirty="0" smtClean="0"/>
              <a:t>Statistical method, outcome, predictors</a:t>
            </a:r>
          </a:p>
          <a:p>
            <a:r>
              <a:rPr lang="en-US" sz="2400" dirty="0" smtClean="0"/>
              <a:t>Origin-how did you find the article? (e.g. article was cited by another)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4746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Additional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Share must-read articles with each other</a:t>
            </a:r>
          </a:p>
          <a:p>
            <a:r>
              <a:rPr lang="en-US" sz="2600" dirty="0" smtClean="0"/>
              <a:t>There will be overlap, but send articles that are related only to another person’s discipline to that person</a:t>
            </a:r>
          </a:p>
          <a:p>
            <a:r>
              <a:rPr lang="en-US" sz="2600" dirty="0" smtClean="0"/>
              <a:t>Summarize your </a:t>
            </a:r>
            <a:r>
              <a:rPr lang="en-US" sz="2600" dirty="0" smtClean="0"/>
              <a:t>findings across literature that you reviewed</a:t>
            </a:r>
            <a:endParaRPr lang="en-US" sz="2600" dirty="0" smtClean="0"/>
          </a:p>
          <a:p>
            <a:pPr lvl="1"/>
            <a:r>
              <a:rPr lang="en-US" sz="2000" dirty="0" smtClean="0"/>
              <a:t>Definition</a:t>
            </a:r>
          </a:p>
          <a:p>
            <a:pPr lvl="1"/>
            <a:r>
              <a:rPr lang="en-US" sz="2000" dirty="0" smtClean="0"/>
              <a:t>Theories</a:t>
            </a:r>
          </a:p>
          <a:p>
            <a:pPr lvl="1"/>
            <a:r>
              <a:rPr lang="en-US" sz="2000" dirty="0" smtClean="0"/>
              <a:t>Key outcomes</a:t>
            </a:r>
          </a:p>
          <a:p>
            <a:pPr lvl="1"/>
            <a:r>
              <a:rPr lang="en-US" sz="2000" dirty="0" smtClean="0"/>
              <a:t>Gaps</a:t>
            </a:r>
          </a:p>
          <a:p>
            <a:pPr lvl="1"/>
            <a:r>
              <a:rPr lang="en-US" sz="2000" dirty="0" smtClean="0"/>
              <a:t>Etc.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91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Social Cohesion Timeline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Examine current literature review – feel free to use as much or as little as fits your approach</a:t>
            </a:r>
          </a:p>
          <a:p>
            <a:r>
              <a:rPr lang="en-US" sz="2000" dirty="0" smtClean="0"/>
              <a:t>Identify topics to study and initial research questions ~ June 21</a:t>
            </a:r>
            <a:endParaRPr lang="en-US" sz="2000" dirty="0"/>
          </a:p>
          <a:p>
            <a:r>
              <a:rPr lang="en-US" sz="2000" dirty="0" smtClean="0"/>
              <a:t>Assign topics to examine and prepare schedule (team)</a:t>
            </a:r>
          </a:p>
          <a:p>
            <a:r>
              <a:rPr lang="en-US" sz="2000" dirty="0" smtClean="0"/>
              <a:t>Summarize identified literature and extended literature</a:t>
            </a:r>
          </a:p>
          <a:p>
            <a:r>
              <a:rPr lang="en-US" sz="2000" dirty="0" smtClean="0"/>
              <a:t>Revise research questions</a:t>
            </a:r>
          </a:p>
          <a:p>
            <a:r>
              <a:rPr lang="en-US" sz="2000" dirty="0" smtClean="0"/>
              <a:t>Interim </a:t>
            </a:r>
            <a:r>
              <a:rPr lang="en-US" sz="2000" dirty="0" smtClean="0"/>
              <a:t>review – 4 weeks out</a:t>
            </a:r>
            <a:endParaRPr lang="en-US" sz="2000" dirty="0" smtClean="0"/>
          </a:p>
          <a:p>
            <a:r>
              <a:rPr lang="en-US" sz="2000" dirty="0" smtClean="0"/>
              <a:t>Write up literature review – July 22</a:t>
            </a:r>
          </a:p>
          <a:p>
            <a:r>
              <a:rPr lang="en-US" sz="2000" dirty="0" smtClean="0"/>
              <a:t>Prepare poster for July 28 presentation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8400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Start of the Must Reads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National Academies Panel </a:t>
            </a:r>
            <a:r>
              <a:rPr lang="en-US" dirty="0"/>
              <a:t>on Measuring Social and Civic Engagement and Social Cohesion in </a:t>
            </a:r>
            <a:r>
              <a:rPr lang="en-US" dirty="0" smtClean="0"/>
              <a:t>Surveys (Ken Prewitt)</a:t>
            </a:r>
          </a:p>
          <a:p>
            <a:pPr lvl="1"/>
            <a:r>
              <a:rPr lang="en-US" dirty="0" smtClean="0"/>
              <a:t>Identifies surveys and sources of data to measure social cohesion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7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Getting Started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disciplines and seed articles – Millie and Sam</a:t>
            </a:r>
          </a:p>
          <a:p>
            <a:pPr lvl="1"/>
            <a:r>
              <a:rPr lang="en-US" dirty="0" smtClean="0"/>
              <a:t>Seed article – may be a useful place to start</a:t>
            </a:r>
          </a:p>
          <a:p>
            <a:r>
              <a:rPr lang="en-US" dirty="0" smtClean="0"/>
              <a:t>Divide and conquer!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4888"/>
      </p:ext>
    </p:extLst>
  </p:cSld>
  <p:clrMapOvr>
    <a:masterClrMapping/>
  </p:clrMapOvr>
</p:sld>
</file>

<file path=ppt/theme/theme1.xml><?xml version="1.0" encoding="utf-8"?>
<a:theme xmlns:a="http://schemas.openxmlformats.org/drawingml/2006/main" name="2_SDAL_Biocomplex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>
          <a:defRPr sz="2000" dirty="0">
            <a:latin typeface="Gill Sans Light"/>
            <a:cs typeface="Gill Sans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mpd="sng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SDAL SLIDES Feb 201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>
          <a:defRPr sz="2000" dirty="0">
            <a:latin typeface="Gill Sans Light"/>
            <a:cs typeface="Gill Sans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mpd="sng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SDAL Oct 2015.thmx</Template>
  <TotalTime>23401</TotalTime>
  <Words>834</Words>
  <Application>Microsoft Macintosh PowerPoint</Application>
  <PresentationFormat>On-screen Show (16:9)</PresentationFormat>
  <Paragraphs>129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2_SDAL_Biocomplexity</vt:lpstr>
      <vt:lpstr>7_Office Theme</vt:lpstr>
      <vt:lpstr>SDAL SLIDES Feb 2016</vt:lpstr>
      <vt:lpstr>8_Office Theme</vt:lpstr>
      <vt:lpstr>Social Cohesion Overview</vt:lpstr>
      <vt:lpstr>Agenda</vt:lpstr>
      <vt:lpstr>Defining Social Cohesion</vt:lpstr>
      <vt:lpstr>Components of Social Cohesion</vt:lpstr>
      <vt:lpstr>Why Study Social Cohesion?</vt:lpstr>
      <vt:lpstr>Why Study Social Cohesion?</vt:lpstr>
      <vt:lpstr>   Literature Review Process </vt:lpstr>
      <vt:lpstr>Questions to be Answered by the Lit Review</vt:lpstr>
      <vt:lpstr>Attrition Example</vt:lpstr>
      <vt:lpstr>Literature Review Steps</vt:lpstr>
      <vt:lpstr>Determining Disciplines</vt:lpstr>
      <vt:lpstr>Deeper Dive by Discipline</vt:lpstr>
      <vt:lpstr>Additional Guidelines</vt:lpstr>
      <vt:lpstr>Social Cohesion Timeline</vt:lpstr>
      <vt:lpstr>Start of the Must Reads List</vt:lpstr>
      <vt:lpstr>Getting Started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Ziemer</dc:creator>
  <cp:lastModifiedBy>Stephanie Shipp</cp:lastModifiedBy>
  <cp:revision>864</cp:revision>
  <cp:lastPrinted>2016-04-22T13:36:52Z</cp:lastPrinted>
  <dcterms:created xsi:type="dcterms:W3CDTF">2015-10-22T12:46:50Z</dcterms:created>
  <dcterms:modified xsi:type="dcterms:W3CDTF">2016-06-06T18:07:29Z</dcterms:modified>
</cp:coreProperties>
</file>