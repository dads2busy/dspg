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41549625" cx="36576000"/>
  <p:notesSz cx="6858000" cy="9144000"/>
  <p:embeddedFontLst>
    <p:embeddedFont>
      <p:font typeface="Raleway"/>
      <p:regular r:id="rId6"/>
      <p:bold r:id="rId7"/>
      <p:italic r:id="rId8"/>
      <p:boldItalic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Raleway-boldItalic.fntdata"/><Relationship Id="rId5" Type="http://schemas.openxmlformats.org/officeDocument/2006/relationships/slide" Target="slides/slide1.xml"/><Relationship Id="rId6" Type="http://schemas.openxmlformats.org/officeDocument/2006/relationships/font" Target="fonts/Raleway-regular.fntdata"/><Relationship Id="rId7" Type="http://schemas.openxmlformats.org/officeDocument/2006/relationships/font" Target="fonts/Raleway-bold.fntdata"/><Relationship Id="rId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2743200" y="6799909"/>
            <a:ext cx="31089601" cy="1446542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572000" y="21823181"/>
            <a:ext cx="27432000" cy="100315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None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8288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6576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54864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73152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91440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09728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28016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46304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25146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12115800" y="38510369"/>
            <a:ext cx="123444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258318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2514600" y="2212143"/>
            <a:ext cx="31546801" cy="8031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2514600" y="11060667"/>
            <a:ext cx="31546801" cy="263628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25146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12115800" y="38510369"/>
            <a:ext cx="123444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258318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2495552" y="10358568"/>
            <a:ext cx="31546801" cy="17283493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2495552" y="27805569"/>
            <a:ext cx="31546801" cy="90889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None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Arial"/>
              <a:buNone/>
              <a:defRPr b="0" i="0" sz="8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8000"/>
              <a:buFont typeface="Arial"/>
              <a:buNone/>
              <a:defRPr b="0" i="0" sz="7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7200"/>
              <a:buFont typeface="Arial"/>
              <a:buNone/>
              <a:defRPr b="0" i="0" sz="6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7200"/>
              <a:buFont typeface="Arial"/>
              <a:buNone/>
              <a:defRPr b="0" i="0" sz="6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7200"/>
              <a:buFont typeface="Arial"/>
              <a:buNone/>
              <a:defRPr b="0" i="0" sz="6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7200"/>
              <a:buFont typeface="Arial"/>
              <a:buNone/>
              <a:defRPr b="0" i="0" sz="6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7200"/>
              <a:buFont typeface="Arial"/>
              <a:buNone/>
              <a:defRPr b="0" i="0" sz="6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7200"/>
              <a:buFont typeface="Arial"/>
              <a:buNone/>
              <a:defRPr b="0" i="0" sz="6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25146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12115800" y="38510369"/>
            <a:ext cx="123444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258318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514600" y="2212143"/>
            <a:ext cx="31546801" cy="8031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2514600" y="11060667"/>
            <a:ext cx="15544800" cy="263628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18516600" y="11060667"/>
            <a:ext cx="15544800" cy="263628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25146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12115800" y="38510369"/>
            <a:ext cx="123444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258318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2519364" y="2212143"/>
            <a:ext cx="31546801" cy="8031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2519368" y="10185435"/>
            <a:ext cx="15473361" cy="499172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None/>
              <a:defRPr b="1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1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b="1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2519368" y="15177159"/>
            <a:ext cx="15473361" cy="2232331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18516602" y="10185435"/>
            <a:ext cx="15549564" cy="499172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None/>
              <a:defRPr b="1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1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b="1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18516602" y="15177159"/>
            <a:ext cx="15549564" cy="2232331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25146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12115800" y="38510369"/>
            <a:ext cx="123444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258318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2514600" y="2212143"/>
            <a:ext cx="31546801" cy="8031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25146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12115800" y="38510369"/>
            <a:ext cx="123444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258318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25146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12115800" y="38510369"/>
            <a:ext cx="123444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258318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2519364" y="2769976"/>
            <a:ext cx="11796712" cy="969491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15549564" y="5982388"/>
            <a:ext cx="18516601" cy="2952717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10414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Arial"/>
              <a:buChar char="•"/>
              <a:defRPr b="0" i="0" sz="1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9398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382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7366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7366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7366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7366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366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7366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2519364" y="12464892"/>
            <a:ext cx="11796712" cy="2309275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25146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12115800" y="38510369"/>
            <a:ext cx="123444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258318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2519364" y="2769976"/>
            <a:ext cx="11796712" cy="969491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5549564" y="5982388"/>
            <a:ext cx="18516601" cy="2952717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5486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7315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9144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0972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280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463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2519364" y="12464892"/>
            <a:ext cx="11796712" cy="2309275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25146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12115800" y="38510369"/>
            <a:ext cx="123444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258318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2514600" y="2212143"/>
            <a:ext cx="31546801" cy="8031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5106567" y="8468699"/>
            <a:ext cx="26362864" cy="315468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25146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12115800" y="38510369"/>
            <a:ext cx="123444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258318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12512354" y="15874482"/>
            <a:ext cx="35211399" cy="78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-3489648" y="8216382"/>
            <a:ext cx="35211399" cy="232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25146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12115800" y="38510369"/>
            <a:ext cx="123444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258318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14600" y="2212143"/>
            <a:ext cx="31546801" cy="8031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14600" y="11060667"/>
            <a:ext cx="31546801" cy="263628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25146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12115800" y="38510369"/>
            <a:ext cx="123444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258318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17704"/>
            <a:ext cx="36576001" cy="41554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623" y="957385"/>
            <a:ext cx="8712200" cy="353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8223" y="39039800"/>
            <a:ext cx="5715000" cy="185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63969" y="8020538"/>
            <a:ext cx="32637045" cy="1885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14455" y="15720748"/>
            <a:ext cx="15495933" cy="186667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10679516" y="1516368"/>
            <a:ext cx="25323177" cy="20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DATA:THE NEW ASSET CLASS</a:t>
            </a:r>
            <a:endParaRPr b="0" i="0" sz="130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3383649" y="7717212"/>
            <a:ext cx="30224562" cy="109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Data Types</a:t>
            </a:r>
            <a:endParaRPr sz="6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383650" y="11966101"/>
            <a:ext cx="740123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Designed Data Collections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Statistically designed and intentional observational data collections</a:t>
            </a:r>
            <a:endParaRPr sz="3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0974389" y="11966101"/>
            <a:ext cx="740123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Administrative Data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Data collected for the administration of an organization or program</a:t>
            </a:r>
            <a:endParaRPr sz="3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9261230" y="11966101"/>
            <a:ext cx="661728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Opportunity Data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Data generated as we move through our daily paces</a:t>
            </a:r>
            <a:endParaRPr sz="3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26988272" y="12005858"/>
            <a:ext cx="679932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Procedural Data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Data derived from policies and procedures </a:t>
            </a:r>
            <a:endParaRPr sz="3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3383650" y="15425956"/>
            <a:ext cx="13035793" cy="109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Veracity and Value </a:t>
            </a:r>
            <a:endParaRPr sz="6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6" name="Google Shape;96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082733" y="15720748"/>
            <a:ext cx="15495933" cy="186667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20651928" y="15425956"/>
            <a:ext cx="13035793" cy="109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Social and Behavioral Data Flows </a:t>
            </a:r>
            <a:endParaRPr sz="6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8" name="Google Shape;9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63969" y="24961122"/>
            <a:ext cx="32637045" cy="188563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3383649" y="24657795"/>
            <a:ext cx="30224562" cy="109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Governance, Structure, and Quality </a:t>
            </a:r>
            <a:endParaRPr sz="6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0" name="Google Shape;10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63969" y="32252816"/>
            <a:ext cx="32637045" cy="188563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 txBox="1"/>
          <p:nvPr/>
        </p:nvSpPr>
        <p:spPr>
          <a:xfrm>
            <a:off x="3383649" y="31949491"/>
            <a:ext cx="30224562" cy="109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Challenge and Opportunities </a:t>
            </a:r>
            <a:endParaRPr sz="6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27749100" y="39409416"/>
            <a:ext cx="74552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57070"/>
                </a:solidFill>
                <a:latin typeface="Raleway"/>
                <a:ea typeface="Raleway"/>
                <a:cs typeface="Raleway"/>
                <a:sym typeface="Raleway"/>
              </a:rPr>
              <a:t>bi.vt.edu/sdal</a:t>
            </a:r>
            <a:endParaRPr sz="2400">
              <a:solidFill>
                <a:srgbClr val="75707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1751262" y="3764710"/>
            <a:ext cx="22476223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757070"/>
                </a:solidFill>
                <a:latin typeface="Raleway"/>
                <a:ea typeface="Raleway"/>
                <a:cs typeface="Raleway"/>
                <a:sym typeface="Raleway"/>
              </a:rPr>
              <a:t>Sallie Keller, Aaron Schroeder, Stephanie Shipp, David Higdon, </a:t>
            </a:r>
            <a:br>
              <a:rPr lang="en-US" sz="4400">
                <a:solidFill>
                  <a:srgbClr val="75707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US" sz="4400">
                <a:solidFill>
                  <a:srgbClr val="757070"/>
                </a:solidFill>
                <a:latin typeface="Raleway"/>
                <a:ea typeface="Raleway"/>
                <a:cs typeface="Raleway"/>
                <a:sym typeface="Raleway"/>
              </a:rPr>
              <a:t>Gizem Korkmaz,Emily Molfino, Mark Orr, Bianica Pires, Katie Ziemer</a:t>
            </a:r>
            <a:endParaRPr sz="4400">
              <a:solidFill>
                <a:srgbClr val="75707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