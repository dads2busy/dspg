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7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26" r:id="rId2"/>
  </p:sldMasterIdLst>
  <p:notesMasterIdLst>
    <p:notesMasterId r:id="rId17"/>
  </p:notesMasterIdLst>
  <p:sldIdLst>
    <p:sldId id="339" r:id="rId3"/>
    <p:sldId id="302" r:id="rId4"/>
    <p:sldId id="301" r:id="rId5"/>
    <p:sldId id="303" r:id="rId6"/>
    <p:sldId id="325" r:id="rId7"/>
    <p:sldId id="307" r:id="rId8"/>
    <p:sldId id="304" r:id="rId9"/>
    <p:sldId id="305" r:id="rId10"/>
    <p:sldId id="306" r:id="rId11"/>
    <p:sldId id="353" r:id="rId12"/>
    <p:sldId id="354" r:id="rId13"/>
    <p:sldId id="357" r:id="rId14"/>
    <p:sldId id="358" r:id="rId15"/>
    <p:sldId id="359" r:id="rId1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66CC"/>
    <a:srgbClr val="89CC40"/>
    <a:srgbClr val="1976FF"/>
    <a:srgbClr val="0099FF"/>
    <a:srgbClr val="3281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66" autoAdjust="0"/>
    <p:restoredTop sz="94660"/>
  </p:normalViewPr>
  <p:slideViewPr>
    <p:cSldViewPr snapToGrid="0">
      <p:cViewPr varScale="1">
        <p:scale>
          <a:sx n="62" d="100"/>
          <a:sy n="62" d="100"/>
        </p:scale>
        <p:origin x="65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ustomXml" Target="../customXml/item2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6DC860-60F4-43D7-97F4-629C7A85B8E5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FAF3BD-64CD-4FF2-AA16-708FCC3C3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60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out where true conflict exists across different GLs</a:t>
            </a:r>
          </a:p>
          <a:p>
            <a:r>
              <a:rPr lang="en-US" dirty="0"/>
              <a:t>Or Perceived conflicts versus actual conflicts – esp true for E1</a:t>
            </a:r>
          </a:p>
          <a:p>
            <a:endParaRPr lang="en-US" dirty="0"/>
          </a:p>
          <a:p>
            <a:r>
              <a:rPr lang="en-US" dirty="0"/>
              <a:t>GLs are useful when these contexts are applicable – helps to gain buy-in. </a:t>
            </a:r>
          </a:p>
          <a:p>
            <a:r>
              <a:rPr lang="en-US" dirty="0"/>
              <a:t>GLs are for the statistical practitioner </a:t>
            </a:r>
          </a:p>
          <a:p>
            <a:r>
              <a:rPr lang="en-US" dirty="0"/>
              <a:t>Require a process so that at end of the day, no one should be surprised.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AF3BD-64CD-4FF2-AA16-708FCC3C3A6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550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AF3BD-64CD-4FF2-AA16-708FCC3C3A6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482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GLs are useful when these contexts are applicable – helps to gain buy-in.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AF3BD-64CD-4FF2-AA16-708FCC3C3A6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275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AF3BD-64CD-4FF2-AA16-708FCC3C3A6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600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AF3BD-64CD-4FF2-AA16-708FCC3C3A6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80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90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4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36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88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15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1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0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0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51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99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13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51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6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06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548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838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56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993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04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71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92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F4863-33BA-444C-B8D3-95E7BDECAAEE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09BC2-8554-489C-88F4-286BB91D3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3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hape 2098">
            <a:extLst>
              <a:ext uri="{FF2B5EF4-FFF2-40B4-BE49-F238E27FC236}">
                <a16:creationId xmlns:a16="http://schemas.microsoft.com/office/drawing/2014/main" id="{6BB51367-2C89-4A21-87BF-0E9B274D4D09}"/>
              </a:ext>
            </a:extLst>
          </p:cNvPr>
          <p:cNvSpPr/>
          <p:nvPr/>
        </p:nvSpPr>
        <p:spPr>
          <a:xfrm>
            <a:off x="738189" y="1538287"/>
            <a:ext cx="10597062" cy="239675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lIns="91440" tIns="45720" rIns="91440" bIns="45720" numCol="1" rtlCol="0" anchor="b">
            <a:normAutofit/>
          </a:bodyPr>
          <a:lstStyle>
            <a:lvl1pPr algn="l" defTabSz="590133">
              <a:lnSpc>
                <a:spcPct val="93000"/>
              </a:lnSpc>
              <a:tabLst>
                <a:tab pos="584200" algn="l"/>
                <a:tab pos="1168400" algn="l"/>
                <a:tab pos="1765300" algn="l"/>
                <a:tab pos="2349500" algn="l"/>
                <a:tab pos="2946400" algn="l"/>
                <a:tab pos="3530600" algn="l"/>
                <a:tab pos="4127500" algn="l"/>
                <a:tab pos="4711700" algn="l"/>
                <a:tab pos="5308600" algn="l"/>
                <a:tab pos="5892800" algn="l"/>
                <a:tab pos="6489700" algn="l"/>
                <a:tab pos="7073900" algn="l"/>
                <a:tab pos="7670800" algn="l"/>
                <a:tab pos="8255000" algn="l"/>
                <a:tab pos="8851900" algn="l"/>
                <a:tab pos="9436100" algn="l"/>
                <a:tab pos="10020300" algn="l"/>
                <a:tab pos="10617200" algn="l"/>
                <a:tab pos="11201400" algn="l"/>
                <a:tab pos="11798300" algn="l"/>
              </a:tabLst>
              <a:defRPr sz="2200" b="1">
                <a:solidFill>
                  <a:srgbClr val="726658"/>
                </a:solidFill>
                <a:latin typeface="'Roboto-Bold'"/>
                <a:ea typeface="'Roboto-Bold'"/>
                <a:cs typeface="'Roboto-Bold'"/>
                <a:sym typeface="'Roboto-Bold'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584200" algn="l"/>
                <a:tab pos="1168400" algn="l"/>
                <a:tab pos="1765300" algn="l"/>
                <a:tab pos="2349500" algn="l"/>
                <a:tab pos="2946400" algn="l"/>
                <a:tab pos="3530600" algn="l"/>
                <a:tab pos="4127500" algn="l"/>
                <a:tab pos="4711700" algn="l"/>
                <a:tab pos="5308600" algn="l"/>
                <a:tab pos="5892800" algn="l"/>
                <a:tab pos="6489700" algn="l"/>
                <a:tab pos="7073900" algn="l"/>
                <a:tab pos="7670800" algn="l"/>
                <a:tab pos="8255000" algn="l"/>
                <a:tab pos="8851900" algn="l"/>
                <a:tab pos="9436100" algn="l"/>
                <a:tab pos="10020300" algn="l"/>
                <a:tab pos="10617200" algn="l"/>
                <a:tab pos="11201400" algn="l"/>
                <a:tab pos="11798300" algn="l"/>
              </a:tabLst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'Roboto-Bold'"/>
              </a:rPr>
              <a:t>Overview of the ASA Ethical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584200" algn="l"/>
                <a:tab pos="1168400" algn="l"/>
                <a:tab pos="1765300" algn="l"/>
                <a:tab pos="2349500" algn="l"/>
                <a:tab pos="2946400" algn="l"/>
                <a:tab pos="3530600" algn="l"/>
                <a:tab pos="4127500" algn="l"/>
                <a:tab pos="4711700" algn="l"/>
                <a:tab pos="5308600" algn="l"/>
                <a:tab pos="5892800" algn="l"/>
                <a:tab pos="6489700" algn="l"/>
                <a:tab pos="7073900" algn="l"/>
                <a:tab pos="7670800" algn="l"/>
                <a:tab pos="8255000" algn="l"/>
                <a:tab pos="8851900" algn="l"/>
                <a:tab pos="9436100" algn="l"/>
                <a:tab pos="10020300" algn="l"/>
                <a:tab pos="10617200" algn="l"/>
                <a:tab pos="11201400" algn="l"/>
                <a:tab pos="11798300" algn="l"/>
              </a:tabLst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'Roboto-Bold'"/>
              </a:rPr>
              <a:t>Guidelines and Revision Effort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A1C9990-C3B6-8B1F-9CC3-74F0567BF630}"/>
              </a:ext>
            </a:extLst>
          </p:cNvPr>
          <p:cNvSpPr txBox="1">
            <a:spLocks/>
          </p:cNvSpPr>
          <p:nvPr/>
        </p:nvSpPr>
        <p:spPr>
          <a:xfrm>
            <a:off x="1779721" y="4899370"/>
            <a:ext cx="8513997" cy="4548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UVA DSPG 7/25/2023</a:t>
            </a:r>
          </a:p>
        </p:txBody>
      </p:sp>
    </p:spTree>
    <p:extLst>
      <p:ext uri="{BB962C8B-B14F-4D97-AF65-F5344CB8AC3E}">
        <p14:creationId xmlns:p14="http://schemas.microsoft.com/office/powerpoint/2010/main" val="1116039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Shape 2108"/>
          <p:cNvSpPr/>
          <p:nvPr/>
        </p:nvSpPr>
        <p:spPr>
          <a:xfrm>
            <a:off x="1088569" y="1395413"/>
            <a:ext cx="9874706" cy="4419600"/>
          </a:xfrm>
          <a:prstGeom prst="rect">
            <a:avLst/>
          </a:prstGeom>
          <a:noFill/>
          <a:ln w="38100" cap="flat">
            <a:solidFill>
              <a:srgbClr val="89CC40"/>
            </a:solidFill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40" tIns="91440" rIns="91440" bIns="0" numCol="1" anchor="t">
            <a:noAutofit/>
          </a:bodyPr>
          <a:lstStyle>
            <a:lvl1pPr algn="l" defTabSz="590133">
              <a:lnSpc>
                <a:spcPct val="93000"/>
              </a:lnSpc>
              <a:tabLst>
                <a:tab pos="584200" algn="l"/>
                <a:tab pos="1168400" algn="l"/>
                <a:tab pos="1765300" algn="l"/>
                <a:tab pos="2349500" algn="l"/>
                <a:tab pos="2946400" algn="l"/>
                <a:tab pos="3530600" algn="l"/>
                <a:tab pos="4127500" algn="l"/>
                <a:tab pos="4711700" algn="l"/>
                <a:tab pos="5308600" algn="l"/>
                <a:tab pos="5892800" algn="l"/>
                <a:tab pos="6489700" algn="l"/>
                <a:tab pos="7073900" algn="l"/>
                <a:tab pos="7670800" algn="l"/>
                <a:tab pos="8255000" algn="l"/>
                <a:tab pos="8851900" algn="l"/>
                <a:tab pos="9436100" algn="l"/>
                <a:tab pos="10020300" algn="l"/>
                <a:tab pos="10617200" algn="l"/>
                <a:tab pos="11201400" algn="l"/>
                <a:tab pos="11798300" algn="l"/>
              </a:tabLst>
              <a:defRPr sz="2200" b="1">
                <a:solidFill>
                  <a:srgbClr val="726658"/>
                </a:solidFill>
                <a:latin typeface="'Roboto-Bold'"/>
                <a:ea typeface="'Roboto-Bold'"/>
                <a:cs typeface="'Roboto-Bold'"/>
                <a:sym typeface="'Roboto-Bold'"/>
              </a:defRPr>
            </a:lvl1pPr>
          </a:lstStyle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976FF"/>
                </a:solidFill>
                <a:latin typeface="+mn-lt"/>
              </a:rPr>
              <a:t>The Guidelines are based on transparency, fairness, accountability, and respect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976FF"/>
                </a:solidFill>
                <a:latin typeface="+mn-lt"/>
              </a:rPr>
              <a:t>Applicable to anyone practicing statistics including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Statisticians, Data Scientists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Government, academia (students too), industry, consultants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976FF"/>
                </a:solidFill>
                <a:latin typeface="+mn-lt"/>
              </a:rPr>
              <a:t>“Statistical practice” includes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designing the collection of, summarizing, processing, analyzing, interpreting, or presenting data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model or algorithm development and deployment</a:t>
            </a:r>
          </a:p>
        </p:txBody>
      </p:sp>
      <p:sp>
        <p:nvSpPr>
          <p:cNvPr id="50" name="Shape 1016"/>
          <p:cNvSpPr/>
          <p:nvPr/>
        </p:nvSpPr>
        <p:spPr>
          <a:xfrm>
            <a:off x="704850" y="393612"/>
            <a:ext cx="10668001" cy="5578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defRPr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</a:lstStyle>
          <a:p>
            <a:pPr algn="ctr"/>
            <a:r>
              <a:rPr lang="en-US" sz="3375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ASA Guidelines for Statistical Practice</a:t>
            </a:r>
          </a:p>
        </p:txBody>
      </p:sp>
    </p:spTree>
    <p:extLst>
      <p:ext uri="{BB962C8B-B14F-4D97-AF65-F5344CB8AC3E}">
        <p14:creationId xmlns:p14="http://schemas.microsoft.com/office/powerpoint/2010/main" val="331539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Shape 2108"/>
          <p:cNvSpPr/>
          <p:nvPr/>
        </p:nvSpPr>
        <p:spPr>
          <a:xfrm>
            <a:off x="1012369" y="1357313"/>
            <a:ext cx="10304950" cy="4067175"/>
          </a:xfrm>
          <a:prstGeom prst="rect">
            <a:avLst/>
          </a:prstGeom>
          <a:noFill/>
          <a:ln w="38100" cap="flat">
            <a:solidFill>
              <a:srgbClr val="89CC40"/>
            </a:solidFill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40" tIns="91440" rIns="91440" bIns="0" numCol="1" anchor="t">
            <a:noAutofit/>
          </a:bodyPr>
          <a:lstStyle>
            <a:lvl1pPr algn="l" defTabSz="590133">
              <a:lnSpc>
                <a:spcPct val="93000"/>
              </a:lnSpc>
              <a:tabLst>
                <a:tab pos="584200" algn="l"/>
                <a:tab pos="1168400" algn="l"/>
                <a:tab pos="1765300" algn="l"/>
                <a:tab pos="2349500" algn="l"/>
                <a:tab pos="2946400" algn="l"/>
                <a:tab pos="3530600" algn="l"/>
                <a:tab pos="4127500" algn="l"/>
                <a:tab pos="4711700" algn="l"/>
                <a:tab pos="5308600" algn="l"/>
                <a:tab pos="5892800" algn="l"/>
                <a:tab pos="6489700" algn="l"/>
                <a:tab pos="7073900" algn="l"/>
                <a:tab pos="7670800" algn="l"/>
                <a:tab pos="8255000" algn="l"/>
                <a:tab pos="8851900" algn="l"/>
                <a:tab pos="9436100" algn="l"/>
                <a:tab pos="10020300" algn="l"/>
                <a:tab pos="10617200" algn="l"/>
                <a:tab pos="11201400" algn="l"/>
                <a:tab pos="11798300" algn="l"/>
              </a:tabLst>
              <a:defRPr sz="2200" b="1">
                <a:solidFill>
                  <a:srgbClr val="726658"/>
                </a:solidFill>
                <a:latin typeface="'Roboto-Bold'"/>
                <a:ea typeface="'Roboto-Bold'"/>
                <a:cs typeface="'Roboto-Bold'"/>
                <a:sym typeface="'Roboto-Bold'"/>
              </a:defRPr>
            </a:lvl1pPr>
          </a:lstStyle>
          <a:p>
            <a:pPr marL="34290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66FF"/>
                </a:solidFill>
                <a:latin typeface="Helvetica Neue"/>
                <a:cs typeface="Times New Roman" panose="02020603050405020304" pitchFamily="18" charset="0"/>
              </a:rPr>
              <a:t>COPE had three goals: </a:t>
            </a:r>
            <a:r>
              <a:rPr lang="en-US" sz="2400" dirty="0">
                <a:solidFill>
                  <a:srgbClr val="FF0000"/>
                </a:solidFill>
                <a:latin typeface="Helvetica Neue"/>
                <a:cs typeface="Times New Roman" panose="02020603050405020304" pitchFamily="18" charset="0"/>
              </a:rPr>
              <a:t>to update, to clarify, and to make as inclusive as possible</a:t>
            </a:r>
            <a:r>
              <a:rPr lang="en-US" sz="2400" dirty="0">
                <a:solidFill>
                  <a:srgbClr val="C00000"/>
                </a:solidFill>
                <a:latin typeface="Helvetica Neue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66FF"/>
                </a:solidFill>
                <a:latin typeface="Helvetica Neue"/>
                <a:cs typeface="Times New Roman" panose="02020603050405020304" pitchFamily="18" charset="0"/>
              </a:rPr>
              <a:t>the Ethical Guidelines for Statistical Practice.</a:t>
            </a:r>
          </a:p>
          <a:p>
            <a:pPr marL="342900" indent="-342900">
              <a:lnSpc>
                <a:spcPct val="114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66FF"/>
                </a:solidFill>
                <a:latin typeface="Helvetica Neue"/>
                <a:cs typeface="Times New Roman" panose="02020603050405020304" pitchFamily="18" charset="0"/>
              </a:rPr>
              <a:t>Given the core role of statistics in the definitions, and evolution, of data science, COPE agreed that the Guidelines should be recognizable, and applicable, to statisticians </a:t>
            </a:r>
            <a:r>
              <a:rPr lang="en-US" sz="2400" i="1" dirty="0">
                <a:solidFill>
                  <a:srgbClr val="0066FF"/>
                </a:solidFill>
                <a:latin typeface="Helvetica Neue"/>
                <a:cs typeface="Times New Roman" panose="02020603050405020304" pitchFamily="18" charset="0"/>
              </a:rPr>
              <a:t>and data scientists</a:t>
            </a:r>
            <a:r>
              <a:rPr lang="en-US" sz="2400" dirty="0">
                <a:solidFill>
                  <a:srgbClr val="0066FF"/>
                </a:solidFill>
                <a:latin typeface="Helvetica Neue"/>
                <a:cs typeface="Times New Roman" panose="02020603050405020304" pitchFamily="18" charset="0"/>
              </a:rPr>
              <a:t>. </a:t>
            </a:r>
            <a:r>
              <a:rPr lang="en-US" sz="2400" dirty="0">
                <a:solidFill>
                  <a:srgbClr val="FF0000"/>
                </a:solidFill>
                <a:latin typeface="Helvetica Neue"/>
                <a:cs typeface="Times New Roman" panose="02020603050405020304" pitchFamily="18" charset="0"/>
              </a:rPr>
              <a:t>(statistician</a:t>
            </a:r>
            <a:r>
              <a:rPr lang="en-US" sz="2400" dirty="0">
                <a:solidFill>
                  <a:srgbClr val="C00000"/>
                </a:solidFill>
                <a:latin typeface="Helvetica Neue"/>
                <a:cs typeface="Times New Roman" panose="02020603050405020304" pitchFamily="18" charset="0"/>
              </a:rPr>
              <a:t>      </a:t>
            </a:r>
            <a:r>
              <a:rPr lang="en-US" sz="2400" dirty="0">
                <a:solidFill>
                  <a:srgbClr val="FF0000"/>
                </a:solidFill>
                <a:latin typeface="Helvetica Neue"/>
                <a:cs typeface="Times New Roman" panose="02020603050405020304" pitchFamily="18" charset="0"/>
              </a:rPr>
              <a:t>statistical practitioner)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66FF"/>
                </a:solidFill>
                <a:latin typeface="Helvetica Neue"/>
                <a:ea typeface="DengXian" panose="02010600030101010101" pitchFamily="2" charset="-122"/>
                <a:cs typeface="Times New Roman" panose="02020603050405020304" pitchFamily="18" charset="0"/>
              </a:rPr>
              <a:t>Part of the inclusivity aims to ensure that practitioners outside of academia recognize the utility and importance of the Guidelines.</a:t>
            </a:r>
          </a:p>
        </p:txBody>
      </p:sp>
      <p:sp>
        <p:nvSpPr>
          <p:cNvPr id="50" name="Shape 1016"/>
          <p:cNvSpPr/>
          <p:nvPr/>
        </p:nvSpPr>
        <p:spPr>
          <a:xfrm>
            <a:off x="1012370" y="398600"/>
            <a:ext cx="10304950" cy="5578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defRPr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</a:lstStyle>
          <a:p>
            <a:pPr algn="ctr"/>
            <a:r>
              <a:rPr lang="en-US" sz="3375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 of Revision Effort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935C8F2-2F19-BB01-86ED-E1D897E04C8A}"/>
              </a:ext>
            </a:extLst>
          </p:cNvPr>
          <p:cNvSpPr/>
          <p:nvPr/>
        </p:nvSpPr>
        <p:spPr>
          <a:xfrm>
            <a:off x="3256908" y="3760341"/>
            <a:ext cx="279498" cy="2364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3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mage result for american statistical association logo">
            <a:extLst>
              <a:ext uri="{FF2B5EF4-FFF2-40B4-BE49-F238E27FC236}">
                <a16:creationId xmlns:a16="http://schemas.microsoft.com/office/drawing/2014/main" id="{EAA24193-F41D-5081-72A9-BC4B85FA3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492" y="2304238"/>
            <a:ext cx="1520949" cy="7151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855">
            <a:extLst>
              <a:ext uri="{FF2B5EF4-FFF2-40B4-BE49-F238E27FC236}">
                <a16:creationId xmlns:a16="http://schemas.microsoft.com/office/drawing/2014/main" id="{7ACD4769-B659-4B19-5270-58C574C131AD}"/>
              </a:ext>
            </a:extLst>
          </p:cNvPr>
          <p:cNvSpPr/>
          <p:nvPr/>
        </p:nvSpPr>
        <p:spPr>
          <a:xfrm>
            <a:off x="6402463" y="2002276"/>
            <a:ext cx="2140404" cy="3584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108" y="21106"/>
                </a:moveTo>
                <a:cubicBezTo>
                  <a:pt x="5850" y="10121"/>
                  <a:pt x="3055" y="2864"/>
                  <a:pt x="0" y="1061"/>
                </a:cubicBezTo>
                <a:lnTo>
                  <a:pt x="0" y="0"/>
                </a:lnTo>
                <a:cubicBezTo>
                  <a:pt x="2997" y="1679"/>
                  <a:pt x="5805" y="8566"/>
                  <a:pt x="8145" y="19921"/>
                </a:cubicBezTo>
                <a:lnTo>
                  <a:pt x="11374" y="642"/>
                </a:lnTo>
                <a:lnTo>
                  <a:pt x="11374" y="420"/>
                </a:lnTo>
                <a:lnTo>
                  <a:pt x="21600" y="420"/>
                </a:lnTo>
                <a:lnTo>
                  <a:pt x="21600" y="1827"/>
                </a:lnTo>
                <a:lnTo>
                  <a:pt x="11502" y="1827"/>
                </a:lnTo>
                <a:lnTo>
                  <a:pt x="8191" y="21600"/>
                </a:lnTo>
                <a:lnTo>
                  <a:pt x="8108" y="21106"/>
                </a:lnTo>
              </a:path>
            </a:pathLst>
          </a:custGeom>
          <a:solidFill>
            <a:srgbClr val="0066FF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4" name="Shape 856">
            <a:extLst>
              <a:ext uri="{FF2B5EF4-FFF2-40B4-BE49-F238E27FC236}">
                <a16:creationId xmlns:a16="http://schemas.microsoft.com/office/drawing/2014/main" id="{CA07FBDD-05ED-A178-F52C-6D3B56EEE062}"/>
              </a:ext>
            </a:extLst>
          </p:cNvPr>
          <p:cNvSpPr/>
          <p:nvPr/>
        </p:nvSpPr>
        <p:spPr>
          <a:xfrm>
            <a:off x="3964065" y="4671527"/>
            <a:ext cx="2140404" cy="3584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92" y="494"/>
                </a:moveTo>
                <a:cubicBezTo>
                  <a:pt x="15754" y="11479"/>
                  <a:pt x="18549" y="18736"/>
                  <a:pt x="21600" y="20539"/>
                </a:cubicBezTo>
                <a:lnTo>
                  <a:pt x="21600" y="21600"/>
                </a:lnTo>
                <a:cubicBezTo>
                  <a:pt x="18607" y="19921"/>
                  <a:pt x="15800" y="13034"/>
                  <a:pt x="13459" y="1679"/>
                </a:cubicBezTo>
                <a:lnTo>
                  <a:pt x="10230" y="20958"/>
                </a:lnTo>
                <a:lnTo>
                  <a:pt x="10230" y="21180"/>
                </a:lnTo>
                <a:lnTo>
                  <a:pt x="0" y="21180"/>
                </a:lnTo>
                <a:lnTo>
                  <a:pt x="0" y="19773"/>
                </a:lnTo>
                <a:lnTo>
                  <a:pt x="10102" y="19773"/>
                </a:lnTo>
                <a:lnTo>
                  <a:pt x="13409" y="0"/>
                </a:lnTo>
                <a:lnTo>
                  <a:pt x="13492" y="494"/>
                </a:lnTo>
              </a:path>
            </a:pathLst>
          </a:custGeom>
          <a:solidFill>
            <a:srgbClr val="0066FF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5" name="Shape 857">
            <a:extLst>
              <a:ext uri="{FF2B5EF4-FFF2-40B4-BE49-F238E27FC236}">
                <a16:creationId xmlns:a16="http://schemas.microsoft.com/office/drawing/2014/main" id="{14AFAA43-2721-45D1-46F4-871AF120B230}"/>
              </a:ext>
            </a:extLst>
          </p:cNvPr>
          <p:cNvSpPr/>
          <p:nvPr/>
        </p:nvSpPr>
        <p:spPr>
          <a:xfrm>
            <a:off x="7416058" y="2552358"/>
            <a:ext cx="2163850" cy="8274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3333" y="21600"/>
                </a:lnTo>
                <a:lnTo>
                  <a:pt x="3333" y="21301"/>
                </a:lnTo>
                <a:cubicBezTo>
                  <a:pt x="3030" y="13379"/>
                  <a:pt x="1834" y="6139"/>
                  <a:pt x="0" y="331"/>
                </a:cubicBezTo>
                <a:lnTo>
                  <a:pt x="127" y="0"/>
                </a:lnTo>
                <a:cubicBezTo>
                  <a:pt x="2030" y="6022"/>
                  <a:pt x="3181" y="13250"/>
                  <a:pt x="3492" y="21002"/>
                </a:cubicBezTo>
                <a:lnTo>
                  <a:pt x="21600" y="21002"/>
                </a:lnTo>
                <a:lnTo>
                  <a:pt x="21600" y="21600"/>
                </a:lnTo>
              </a:path>
            </a:pathLst>
          </a:custGeom>
          <a:solidFill>
            <a:srgbClr val="0066FF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6" name="Shape 858">
            <a:extLst>
              <a:ext uri="{FF2B5EF4-FFF2-40B4-BE49-F238E27FC236}">
                <a16:creationId xmlns:a16="http://schemas.microsoft.com/office/drawing/2014/main" id="{42F3BAA8-4415-472E-43E3-4D8A53E33EF5}"/>
              </a:ext>
            </a:extLst>
          </p:cNvPr>
          <p:cNvSpPr/>
          <p:nvPr/>
        </p:nvSpPr>
        <p:spPr>
          <a:xfrm>
            <a:off x="5289674" y="1553191"/>
            <a:ext cx="827421" cy="800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92" y="12168"/>
                </a:moveTo>
                <a:lnTo>
                  <a:pt x="20992" y="0"/>
                </a:lnTo>
                <a:lnTo>
                  <a:pt x="21600" y="0"/>
                </a:lnTo>
                <a:lnTo>
                  <a:pt x="21600" y="12609"/>
                </a:lnTo>
                <a:lnTo>
                  <a:pt x="21291" y="12609"/>
                </a:lnTo>
                <a:cubicBezTo>
                  <a:pt x="13372" y="13415"/>
                  <a:pt x="6147" y="16658"/>
                  <a:pt x="331" y="21600"/>
                </a:cubicBezTo>
                <a:lnTo>
                  <a:pt x="0" y="21258"/>
                </a:lnTo>
                <a:cubicBezTo>
                  <a:pt x="6030" y="16128"/>
                  <a:pt x="13255" y="13006"/>
                  <a:pt x="20992" y="12168"/>
                </a:cubicBezTo>
              </a:path>
            </a:pathLst>
          </a:custGeom>
          <a:solidFill>
            <a:srgbClr val="0066FF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7" name="Shape 859">
            <a:extLst>
              <a:ext uri="{FF2B5EF4-FFF2-40B4-BE49-F238E27FC236}">
                <a16:creationId xmlns:a16="http://schemas.microsoft.com/office/drawing/2014/main" id="{A88E28AC-EAB6-8918-6426-8E28D202D214}"/>
              </a:ext>
            </a:extLst>
          </p:cNvPr>
          <p:cNvSpPr/>
          <p:nvPr/>
        </p:nvSpPr>
        <p:spPr>
          <a:xfrm>
            <a:off x="3749444" y="2220505"/>
            <a:ext cx="1348646" cy="114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61" y="6407"/>
                </a:moveTo>
                <a:lnTo>
                  <a:pt x="16100" y="431"/>
                </a:lnTo>
                <a:lnTo>
                  <a:pt x="0" y="431"/>
                </a:lnTo>
                <a:lnTo>
                  <a:pt x="0" y="0"/>
                </a:lnTo>
                <a:lnTo>
                  <a:pt x="16225" y="0"/>
                </a:lnTo>
                <a:lnTo>
                  <a:pt x="16225" y="154"/>
                </a:lnTo>
                <a:lnTo>
                  <a:pt x="16303" y="62"/>
                </a:lnTo>
                <a:lnTo>
                  <a:pt x="21600" y="6299"/>
                </a:lnTo>
                <a:lnTo>
                  <a:pt x="21476" y="6453"/>
                </a:lnTo>
                <a:lnTo>
                  <a:pt x="21495" y="6476"/>
                </a:lnTo>
                <a:cubicBezTo>
                  <a:pt x="18555" y="10688"/>
                  <a:pt x="16630" y="15909"/>
                  <a:pt x="16153" y="21600"/>
                </a:cubicBezTo>
                <a:lnTo>
                  <a:pt x="15878" y="21600"/>
                </a:lnTo>
                <a:cubicBezTo>
                  <a:pt x="16316" y="16017"/>
                  <a:pt x="18149" y="10781"/>
                  <a:pt x="21161" y="6407"/>
                </a:cubicBezTo>
              </a:path>
            </a:pathLst>
          </a:custGeom>
          <a:solidFill>
            <a:srgbClr val="0066FF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8" name="Shape 860">
            <a:extLst>
              <a:ext uri="{FF2B5EF4-FFF2-40B4-BE49-F238E27FC236}">
                <a16:creationId xmlns:a16="http://schemas.microsoft.com/office/drawing/2014/main" id="{666E857D-2091-F7AC-788F-5C2C880A719C}"/>
              </a:ext>
            </a:extLst>
          </p:cNvPr>
          <p:cNvSpPr/>
          <p:nvPr/>
        </p:nvSpPr>
        <p:spPr>
          <a:xfrm>
            <a:off x="3538428" y="3652522"/>
            <a:ext cx="1550644" cy="8274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6953" y="0"/>
                </a:lnTo>
                <a:lnTo>
                  <a:pt x="16953" y="299"/>
                </a:lnTo>
                <a:cubicBezTo>
                  <a:pt x="17375" y="8221"/>
                  <a:pt x="19043" y="15461"/>
                  <a:pt x="21600" y="21269"/>
                </a:cubicBezTo>
                <a:lnTo>
                  <a:pt x="21423" y="21600"/>
                </a:lnTo>
                <a:cubicBezTo>
                  <a:pt x="18770" y="15578"/>
                  <a:pt x="17164" y="8350"/>
                  <a:pt x="16731" y="598"/>
                </a:cubicBezTo>
                <a:lnTo>
                  <a:pt x="0" y="598"/>
                </a:lnTo>
                <a:lnTo>
                  <a:pt x="0" y="0"/>
                </a:lnTo>
              </a:path>
            </a:pathLst>
          </a:custGeom>
          <a:solidFill>
            <a:srgbClr val="0066FF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9" name="Shape 861">
            <a:extLst>
              <a:ext uri="{FF2B5EF4-FFF2-40B4-BE49-F238E27FC236}">
                <a16:creationId xmlns:a16="http://schemas.microsoft.com/office/drawing/2014/main" id="{185C0627-0C5A-B986-A767-5E2BFF2B96EF}"/>
              </a:ext>
            </a:extLst>
          </p:cNvPr>
          <p:cNvSpPr/>
          <p:nvPr/>
        </p:nvSpPr>
        <p:spPr>
          <a:xfrm>
            <a:off x="7408844" y="3665147"/>
            <a:ext cx="1736409" cy="114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77" y="21146"/>
                </a:moveTo>
                <a:lnTo>
                  <a:pt x="4277" y="21169"/>
                </a:lnTo>
                <a:lnTo>
                  <a:pt x="21600" y="21169"/>
                </a:lnTo>
                <a:lnTo>
                  <a:pt x="21600" y="21600"/>
                </a:lnTo>
                <a:lnTo>
                  <a:pt x="4120" y="21600"/>
                </a:lnTo>
                <a:lnTo>
                  <a:pt x="4120" y="21538"/>
                </a:lnTo>
                <a:lnTo>
                  <a:pt x="0" y="15301"/>
                </a:lnTo>
                <a:lnTo>
                  <a:pt x="102" y="15147"/>
                </a:lnTo>
                <a:lnTo>
                  <a:pt x="86" y="15124"/>
                </a:lnTo>
                <a:cubicBezTo>
                  <a:pt x="2370" y="10912"/>
                  <a:pt x="3860" y="5691"/>
                  <a:pt x="4237" y="0"/>
                </a:cubicBezTo>
                <a:lnTo>
                  <a:pt x="4450" y="0"/>
                </a:lnTo>
                <a:cubicBezTo>
                  <a:pt x="4104" y="5583"/>
                  <a:pt x="2685" y="10819"/>
                  <a:pt x="346" y="15193"/>
                </a:cubicBezTo>
                <a:lnTo>
                  <a:pt x="4277" y="21146"/>
                </a:lnTo>
              </a:path>
            </a:pathLst>
          </a:custGeom>
          <a:solidFill>
            <a:srgbClr val="0066FF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10" name="Shape 862">
            <a:extLst>
              <a:ext uri="{FF2B5EF4-FFF2-40B4-BE49-F238E27FC236}">
                <a16:creationId xmlns:a16="http://schemas.microsoft.com/office/drawing/2014/main" id="{16C3C5B2-A185-A745-22C7-A0C8168AAED9}"/>
              </a:ext>
            </a:extLst>
          </p:cNvPr>
          <p:cNvSpPr/>
          <p:nvPr/>
        </p:nvSpPr>
        <p:spPr>
          <a:xfrm>
            <a:off x="6380821" y="4671527"/>
            <a:ext cx="827421" cy="800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98" y="9432"/>
                </a:moveTo>
                <a:lnTo>
                  <a:pt x="598" y="21600"/>
                </a:lnTo>
                <a:lnTo>
                  <a:pt x="0" y="21600"/>
                </a:lnTo>
                <a:lnTo>
                  <a:pt x="0" y="8991"/>
                </a:lnTo>
                <a:lnTo>
                  <a:pt x="299" y="8991"/>
                </a:lnTo>
                <a:cubicBezTo>
                  <a:pt x="8221" y="8185"/>
                  <a:pt x="15450" y="4953"/>
                  <a:pt x="21269" y="0"/>
                </a:cubicBezTo>
                <a:lnTo>
                  <a:pt x="21600" y="342"/>
                </a:lnTo>
                <a:cubicBezTo>
                  <a:pt x="15578" y="5483"/>
                  <a:pt x="8339" y="8594"/>
                  <a:pt x="598" y="9432"/>
                </a:cubicBezTo>
              </a:path>
            </a:pathLst>
          </a:custGeom>
          <a:solidFill>
            <a:srgbClr val="0066FF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11" name="Shape 863">
            <a:extLst>
              <a:ext uri="{FF2B5EF4-FFF2-40B4-BE49-F238E27FC236}">
                <a16:creationId xmlns:a16="http://schemas.microsoft.com/office/drawing/2014/main" id="{8D47B901-14B0-E7EF-F34F-07D30A5CF3A7}"/>
              </a:ext>
            </a:extLst>
          </p:cNvPr>
          <p:cNvSpPr/>
          <p:nvPr/>
        </p:nvSpPr>
        <p:spPr>
          <a:xfrm>
            <a:off x="4757627" y="2555965"/>
            <a:ext cx="495568" cy="8328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3354"/>
                </a:moveTo>
                <a:cubicBezTo>
                  <a:pt x="14566" y="8385"/>
                  <a:pt x="10008" y="14680"/>
                  <a:pt x="8886" y="21600"/>
                </a:cubicBezTo>
                <a:lnTo>
                  <a:pt x="0" y="21091"/>
                </a:lnTo>
                <a:cubicBezTo>
                  <a:pt x="0" y="21091"/>
                  <a:pt x="659" y="8184"/>
                  <a:pt x="14815" y="0"/>
                </a:cubicBezTo>
                <a:lnTo>
                  <a:pt x="21600" y="3354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12" name="Shape 864">
            <a:extLst>
              <a:ext uri="{FF2B5EF4-FFF2-40B4-BE49-F238E27FC236}">
                <a16:creationId xmlns:a16="http://schemas.microsoft.com/office/drawing/2014/main" id="{B9E00F3D-5281-757C-F60A-36C9F48AFEEE}"/>
              </a:ext>
            </a:extLst>
          </p:cNvPr>
          <p:cNvSpPr/>
          <p:nvPr/>
        </p:nvSpPr>
        <p:spPr>
          <a:xfrm>
            <a:off x="4757627" y="3643505"/>
            <a:ext cx="493765" cy="8238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923" y="0"/>
                </a:moveTo>
                <a:cubicBezTo>
                  <a:pt x="10085" y="6871"/>
                  <a:pt x="14626" y="13099"/>
                  <a:pt x="21600" y="18127"/>
                </a:cubicBezTo>
                <a:lnTo>
                  <a:pt x="14591" y="21600"/>
                </a:lnTo>
                <a:cubicBezTo>
                  <a:pt x="14591" y="21600"/>
                  <a:pt x="1359" y="13528"/>
                  <a:pt x="0" y="547"/>
                </a:cubicBezTo>
                <a:lnTo>
                  <a:pt x="8923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13" name="Shape 865">
            <a:extLst>
              <a:ext uri="{FF2B5EF4-FFF2-40B4-BE49-F238E27FC236}">
                <a16:creationId xmlns:a16="http://schemas.microsoft.com/office/drawing/2014/main" id="{0EDC961E-70AE-2041-3503-525B84365AD5}"/>
              </a:ext>
            </a:extLst>
          </p:cNvPr>
          <p:cNvSpPr/>
          <p:nvPr/>
        </p:nvSpPr>
        <p:spPr>
          <a:xfrm>
            <a:off x="5293281" y="4511011"/>
            <a:ext cx="832831" cy="501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20" extrusionOk="0">
                <a:moveTo>
                  <a:pt x="3445" y="0"/>
                </a:moveTo>
                <a:cubicBezTo>
                  <a:pt x="8468" y="6790"/>
                  <a:pt x="14721" y="11242"/>
                  <a:pt x="21600" y="12264"/>
                </a:cubicBezTo>
                <a:lnTo>
                  <a:pt x="21059" y="21219"/>
                </a:lnTo>
                <a:cubicBezTo>
                  <a:pt x="21059" y="21219"/>
                  <a:pt x="10652" y="21600"/>
                  <a:pt x="0" y="6790"/>
                </a:cubicBezTo>
                <a:lnTo>
                  <a:pt x="3445" y="0"/>
                </a:ln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14" name="Shape 866">
            <a:extLst>
              <a:ext uri="{FF2B5EF4-FFF2-40B4-BE49-F238E27FC236}">
                <a16:creationId xmlns:a16="http://schemas.microsoft.com/office/drawing/2014/main" id="{103C2336-5060-6C7F-B695-E724A1A4670F}"/>
              </a:ext>
            </a:extLst>
          </p:cNvPr>
          <p:cNvSpPr/>
          <p:nvPr/>
        </p:nvSpPr>
        <p:spPr>
          <a:xfrm>
            <a:off x="6362786" y="4516423"/>
            <a:ext cx="832831" cy="4883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663"/>
                </a:moveTo>
                <a:cubicBezTo>
                  <a:pt x="6920" y="11632"/>
                  <a:pt x="13247" y="7037"/>
                  <a:pt x="18310" y="0"/>
                </a:cubicBezTo>
                <a:lnTo>
                  <a:pt x="21600" y="6838"/>
                </a:lnTo>
                <a:cubicBezTo>
                  <a:pt x="13692" y="20623"/>
                  <a:pt x="456" y="21600"/>
                  <a:pt x="456" y="21600"/>
                </a:cubicBezTo>
                <a:lnTo>
                  <a:pt x="0" y="12663"/>
                </a:lnTo>
              </a:path>
            </a:pathLst>
          </a:custGeom>
          <a:solidFill>
            <a:schemeClr val="accent1">
              <a:lumMod val="75000"/>
            </a:schemeClr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15" name="Shape 867">
            <a:extLst>
              <a:ext uri="{FF2B5EF4-FFF2-40B4-BE49-F238E27FC236}">
                <a16:creationId xmlns:a16="http://schemas.microsoft.com/office/drawing/2014/main" id="{4AC2FB75-2874-2F64-3FE0-8C2636B5C53A}"/>
              </a:ext>
            </a:extLst>
          </p:cNvPr>
          <p:cNvSpPr/>
          <p:nvPr/>
        </p:nvSpPr>
        <p:spPr>
          <a:xfrm>
            <a:off x="7244721" y="3643505"/>
            <a:ext cx="502782" cy="8328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26" y="0"/>
                </a:moveTo>
                <a:lnTo>
                  <a:pt x="21600" y="541"/>
                </a:lnTo>
                <a:cubicBezTo>
                  <a:pt x="21196" y="12655"/>
                  <a:pt x="6972" y="21600"/>
                  <a:pt x="6972" y="21600"/>
                </a:cubicBezTo>
                <a:lnTo>
                  <a:pt x="0" y="18071"/>
                </a:lnTo>
                <a:cubicBezTo>
                  <a:pt x="6937" y="13079"/>
                  <a:pt x="11485" y="6857"/>
                  <a:pt x="12626" y="0"/>
                </a:cubicBez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16" name="Shape 868">
            <a:extLst>
              <a:ext uri="{FF2B5EF4-FFF2-40B4-BE49-F238E27FC236}">
                <a16:creationId xmlns:a16="http://schemas.microsoft.com/office/drawing/2014/main" id="{34759AB6-CCDE-5141-8DEE-BE6ECECD5A92}"/>
              </a:ext>
            </a:extLst>
          </p:cNvPr>
          <p:cNvSpPr/>
          <p:nvPr/>
        </p:nvSpPr>
        <p:spPr>
          <a:xfrm>
            <a:off x="7257345" y="2564983"/>
            <a:ext cx="493764" cy="8328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463" y="21600"/>
                </a:moveTo>
                <a:cubicBezTo>
                  <a:pt x="11444" y="14718"/>
                  <a:pt x="6902" y="8441"/>
                  <a:pt x="0" y="3383"/>
                </a:cubicBezTo>
                <a:lnTo>
                  <a:pt x="7009" y="0"/>
                </a:lnTo>
                <a:cubicBezTo>
                  <a:pt x="21493" y="9363"/>
                  <a:pt x="21600" y="21123"/>
                  <a:pt x="21600" y="21123"/>
                </a:cubicBezTo>
                <a:lnTo>
                  <a:pt x="12463" y="2160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17" name="Shape 869">
            <a:extLst>
              <a:ext uri="{FF2B5EF4-FFF2-40B4-BE49-F238E27FC236}">
                <a16:creationId xmlns:a16="http://schemas.microsoft.com/office/drawing/2014/main" id="{5991660D-794C-9ED1-F608-A236E958674D}"/>
              </a:ext>
            </a:extLst>
          </p:cNvPr>
          <p:cNvSpPr/>
          <p:nvPr/>
        </p:nvSpPr>
        <p:spPr>
          <a:xfrm>
            <a:off x="6382624" y="2020311"/>
            <a:ext cx="831028" cy="499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88" y="21600"/>
                </a:moveTo>
                <a:cubicBezTo>
                  <a:pt x="13170" y="14601"/>
                  <a:pt x="6878" y="9941"/>
                  <a:pt x="0" y="8789"/>
                </a:cubicBezTo>
                <a:lnTo>
                  <a:pt x="489" y="0"/>
                </a:lnTo>
                <a:cubicBezTo>
                  <a:pt x="14648" y="1949"/>
                  <a:pt x="21600" y="14743"/>
                  <a:pt x="21600" y="14743"/>
                </a:cubicBezTo>
                <a:lnTo>
                  <a:pt x="18188" y="21600"/>
                </a:ln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18" name="Shape 870">
            <a:extLst>
              <a:ext uri="{FF2B5EF4-FFF2-40B4-BE49-F238E27FC236}">
                <a16:creationId xmlns:a16="http://schemas.microsoft.com/office/drawing/2014/main" id="{D5FE0CDD-523E-1240-05C8-0F89FF86A76A}"/>
              </a:ext>
            </a:extLst>
          </p:cNvPr>
          <p:cNvSpPr/>
          <p:nvPr/>
        </p:nvSpPr>
        <p:spPr>
          <a:xfrm>
            <a:off x="5302299" y="2019735"/>
            <a:ext cx="832832" cy="4907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46" extrusionOk="0">
                <a:moveTo>
                  <a:pt x="21600" y="8877"/>
                </a:moveTo>
                <a:cubicBezTo>
                  <a:pt x="14690" y="9883"/>
                  <a:pt x="8405" y="14502"/>
                  <a:pt x="3317" y="21546"/>
                </a:cubicBezTo>
                <a:lnTo>
                  <a:pt x="0" y="14646"/>
                </a:lnTo>
                <a:cubicBezTo>
                  <a:pt x="9422" y="-54"/>
                  <a:pt x="21123" y="0"/>
                  <a:pt x="21123" y="0"/>
                </a:cubicBezTo>
                <a:lnTo>
                  <a:pt x="21600" y="8877"/>
                </a:lnTo>
              </a:path>
            </a:pathLst>
          </a:custGeom>
          <a:solidFill>
            <a:schemeClr val="accent1">
              <a:lumMod val="75000"/>
            </a:schemeClr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19" name="Shape 872">
            <a:extLst>
              <a:ext uri="{FF2B5EF4-FFF2-40B4-BE49-F238E27FC236}">
                <a16:creationId xmlns:a16="http://schemas.microsoft.com/office/drawing/2014/main" id="{F249D434-5BD4-E6C3-A1A8-D8EA74E41D30}"/>
              </a:ext>
            </a:extLst>
          </p:cNvPr>
          <p:cNvSpPr/>
          <p:nvPr/>
        </p:nvSpPr>
        <p:spPr>
          <a:xfrm>
            <a:off x="6170895" y="613133"/>
            <a:ext cx="351283" cy="418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92" y="5876"/>
                </a:moveTo>
                <a:cubicBezTo>
                  <a:pt x="3323" y="2790"/>
                  <a:pt x="7401" y="0"/>
                  <a:pt x="11832" y="0"/>
                </a:cubicBezTo>
                <a:cubicBezTo>
                  <a:pt x="17220" y="0"/>
                  <a:pt x="21600" y="3656"/>
                  <a:pt x="21600" y="8200"/>
                </a:cubicBezTo>
                <a:cubicBezTo>
                  <a:pt x="21600" y="10821"/>
                  <a:pt x="20140" y="13146"/>
                  <a:pt x="17849" y="14647"/>
                </a:cubicBezTo>
                <a:lnTo>
                  <a:pt x="17849" y="21600"/>
                </a:lnTo>
                <a:lnTo>
                  <a:pt x="15432" y="21600"/>
                </a:lnTo>
                <a:lnTo>
                  <a:pt x="15432" y="20480"/>
                </a:lnTo>
                <a:lnTo>
                  <a:pt x="13141" y="20480"/>
                </a:lnTo>
                <a:lnTo>
                  <a:pt x="13141" y="21600"/>
                </a:lnTo>
                <a:lnTo>
                  <a:pt x="7477" y="21600"/>
                </a:lnTo>
                <a:lnTo>
                  <a:pt x="7477" y="19085"/>
                </a:lnTo>
                <a:lnTo>
                  <a:pt x="5941" y="19085"/>
                </a:lnTo>
                <a:cubicBezTo>
                  <a:pt x="3827" y="19085"/>
                  <a:pt x="2090" y="17627"/>
                  <a:pt x="2090" y="15851"/>
                </a:cubicBezTo>
                <a:lnTo>
                  <a:pt x="2090" y="13569"/>
                </a:lnTo>
                <a:lnTo>
                  <a:pt x="780" y="13569"/>
                </a:lnTo>
                <a:cubicBezTo>
                  <a:pt x="327" y="13569"/>
                  <a:pt x="0" y="13252"/>
                  <a:pt x="0" y="12914"/>
                </a:cubicBezTo>
                <a:cubicBezTo>
                  <a:pt x="0" y="12808"/>
                  <a:pt x="0" y="12744"/>
                  <a:pt x="50" y="12639"/>
                </a:cubicBezTo>
                <a:lnTo>
                  <a:pt x="2090" y="8348"/>
                </a:lnTo>
                <a:cubicBezTo>
                  <a:pt x="2090" y="8348"/>
                  <a:pt x="2291" y="6552"/>
                  <a:pt x="2492" y="5876"/>
                </a:cubicBezTo>
                <a:close/>
                <a:moveTo>
                  <a:pt x="13141" y="15978"/>
                </a:moveTo>
                <a:lnTo>
                  <a:pt x="13141" y="17035"/>
                </a:lnTo>
                <a:lnTo>
                  <a:pt x="15432" y="17035"/>
                </a:lnTo>
                <a:lnTo>
                  <a:pt x="15432" y="15978"/>
                </a:lnTo>
                <a:lnTo>
                  <a:pt x="13141" y="15978"/>
                </a:lnTo>
                <a:close/>
                <a:moveTo>
                  <a:pt x="13141" y="14499"/>
                </a:moveTo>
                <a:lnTo>
                  <a:pt x="13141" y="15555"/>
                </a:lnTo>
                <a:lnTo>
                  <a:pt x="15432" y="15555"/>
                </a:lnTo>
                <a:lnTo>
                  <a:pt x="15432" y="14499"/>
                </a:lnTo>
                <a:lnTo>
                  <a:pt x="13141" y="14499"/>
                </a:lnTo>
                <a:close/>
                <a:moveTo>
                  <a:pt x="13141" y="17479"/>
                </a:moveTo>
                <a:lnTo>
                  <a:pt x="13141" y="18535"/>
                </a:lnTo>
                <a:lnTo>
                  <a:pt x="15432" y="18535"/>
                </a:lnTo>
                <a:lnTo>
                  <a:pt x="15432" y="17479"/>
                </a:lnTo>
                <a:lnTo>
                  <a:pt x="13141" y="17479"/>
                </a:lnTo>
                <a:close/>
                <a:moveTo>
                  <a:pt x="13141" y="18979"/>
                </a:moveTo>
                <a:lnTo>
                  <a:pt x="13141" y="20036"/>
                </a:lnTo>
                <a:lnTo>
                  <a:pt x="15432" y="20036"/>
                </a:lnTo>
                <a:lnTo>
                  <a:pt x="15432" y="18979"/>
                </a:lnTo>
                <a:lnTo>
                  <a:pt x="13141" y="18979"/>
                </a:lnTo>
                <a:close/>
                <a:moveTo>
                  <a:pt x="13141" y="12998"/>
                </a:moveTo>
                <a:lnTo>
                  <a:pt x="13141" y="14055"/>
                </a:lnTo>
                <a:lnTo>
                  <a:pt x="15457" y="14055"/>
                </a:lnTo>
                <a:lnTo>
                  <a:pt x="15457" y="12998"/>
                </a:lnTo>
                <a:lnTo>
                  <a:pt x="13141" y="12998"/>
                </a:lnTo>
                <a:close/>
                <a:moveTo>
                  <a:pt x="18881" y="8412"/>
                </a:moveTo>
                <a:cubicBezTo>
                  <a:pt x="19284" y="8010"/>
                  <a:pt x="19561" y="7503"/>
                  <a:pt x="19561" y="6953"/>
                </a:cubicBezTo>
                <a:cubicBezTo>
                  <a:pt x="19561" y="6446"/>
                  <a:pt x="19334" y="6002"/>
                  <a:pt x="18982" y="5685"/>
                </a:cubicBezTo>
                <a:cubicBezTo>
                  <a:pt x="19032" y="5495"/>
                  <a:pt x="19057" y="5326"/>
                  <a:pt x="19057" y="5136"/>
                </a:cubicBezTo>
                <a:cubicBezTo>
                  <a:pt x="19057" y="4164"/>
                  <a:pt x="18302" y="3382"/>
                  <a:pt x="17270" y="3107"/>
                </a:cubicBezTo>
                <a:cubicBezTo>
                  <a:pt x="16892" y="2367"/>
                  <a:pt x="16011" y="1860"/>
                  <a:pt x="15004" y="1860"/>
                </a:cubicBezTo>
                <a:cubicBezTo>
                  <a:pt x="14778" y="1860"/>
                  <a:pt x="14601" y="1881"/>
                  <a:pt x="14425" y="1923"/>
                </a:cubicBezTo>
                <a:cubicBezTo>
                  <a:pt x="13972" y="1564"/>
                  <a:pt x="13368" y="1353"/>
                  <a:pt x="12713" y="1353"/>
                </a:cubicBezTo>
                <a:cubicBezTo>
                  <a:pt x="12210" y="1353"/>
                  <a:pt x="11731" y="1479"/>
                  <a:pt x="11329" y="1691"/>
                </a:cubicBezTo>
                <a:cubicBezTo>
                  <a:pt x="11001" y="1543"/>
                  <a:pt x="10573" y="1458"/>
                  <a:pt x="10145" y="1458"/>
                </a:cubicBezTo>
                <a:cubicBezTo>
                  <a:pt x="9264" y="1458"/>
                  <a:pt x="8509" y="1839"/>
                  <a:pt x="8056" y="2388"/>
                </a:cubicBezTo>
                <a:lnTo>
                  <a:pt x="7880" y="2388"/>
                </a:lnTo>
                <a:cubicBezTo>
                  <a:pt x="6671" y="2388"/>
                  <a:pt x="5639" y="3086"/>
                  <a:pt x="5413" y="4037"/>
                </a:cubicBezTo>
                <a:cubicBezTo>
                  <a:pt x="4531" y="4354"/>
                  <a:pt x="3877" y="5115"/>
                  <a:pt x="3877" y="6002"/>
                </a:cubicBezTo>
                <a:cubicBezTo>
                  <a:pt x="3877" y="7186"/>
                  <a:pt x="5010" y="8158"/>
                  <a:pt x="6445" y="8158"/>
                </a:cubicBezTo>
                <a:cubicBezTo>
                  <a:pt x="6948" y="8158"/>
                  <a:pt x="7452" y="8031"/>
                  <a:pt x="7855" y="7820"/>
                </a:cubicBezTo>
                <a:cubicBezTo>
                  <a:pt x="8232" y="8031"/>
                  <a:pt x="8736" y="8158"/>
                  <a:pt x="9264" y="8158"/>
                </a:cubicBezTo>
                <a:cubicBezTo>
                  <a:pt x="9793" y="8158"/>
                  <a:pt x="10271" y="8031"/>
                  <a:pt x="10674" y="7820"/>
                </a:cubicBezTo>
                <a:cubicBezTo>
                  <a:pt x="10976" y="8074"/>
                  <a:pt x="11354" y="8285"/>
                  <a:pt x="11731" y="8412"/>
                </a:cubicBezTo>
                <a:cubicBezTo>
                  <a:pt x="12512" y="8665"/>
                  <a:pt x="13141" y="9468"/>
                  <a:pt x="13141" y="10293"/>
                </a:cubicBezTo>
                <a:lnTo>
                  <a:pt x="13141" y="12554"/>
                </a:lnTo>
                <a:lnTo>
                  <a:pt x="14022" y="12554"/>
                </a:lnTo>
                <a:lnTo>
                  <a:pt x="14022" y="10187"/>
                </a:lnTo>
                <a:cubicBezTo>
                  <a:pt x="14022" y="9342"/>
                  <a:pt x="14400" y="8665"/>
                  <a:pt x="15155" y="8285"/>
                </a:cubicBezTo>
                <a:cubicBezTo>
                  <a:pt x="15357" y="8179"/>
                  <a:pt x="15558" y="8074"/>
                  <a:pt x="15709" y="7947"/>
                </a:cubicBezTo>
                <a:lnTo>
                  <a:pt x="15759" y="7905"/>
                </a:lnTo>
                <a:cubicBezTo>
                  <a:pt x="15961" y="7693"/>
                  <a:pt x="16087" y="7503"/>
                  <a:pt x="16137" y="7270"/>
                </a:cubicBezTo>
                <a:cubicBezTo>
                  <a:pt x="15961" y="7186"/>
                  <a:pt x="15785" y="7165"/>
                  <a:pt x="15583" y="7165"/>
                </a:cubicBezTo>
                <a:cubicBezTo>
                  <a:pt x="15306" y="7165"/>
                  <a:pt x="15055" y="7186"/>
                  <a:pt x="14803" y="7292"/>
                </a:cubicBezTo>
                <a:cubicBezTo>
                  <a:pt x="14677" y="7355"/>
                  <a:pt x="14526" y="7292"/>
                  <a:pt x="14476" y="7165"/>
                </a:cubicBezTo>
                <a:cubicBezTo>
                  <a:pt x="14400" y="7059"/>
                  <a:pt x="14476" y="6932"/>
                  <a:pt x="14601" y="6890"/>
                </a:cubicBezTo>
                <a:cubicBezTo>
                  <a:pt x="14929" y="6784"/>
                  <a:pt x="15231" y="6742"/>
                  <a:pt x="15558" y="6742"/>
                </a:cubicBezTo>
                <a:cubicBezTo>
                  <a:pt x="15785" y="6742"/>
                  <a:pt x="15986" y="6763"/>
                  <a:pt x="16213" y="6805"/>
                </a:cubicBezTo>
                <a:cubicBezTo>
                  <a:pt x="16213" y="5876"/>
                  <a:pt x="15306" y="5136"/>
                  <a:pt x="14199" y="5136"/>
                </a:cubicBezTo>
                <a:cubicBezTo>
                  <a:pt x="13796" y="5136"/>
                  <a:pt x="13418" y="5051"/>
                  <a:pt x="13091" y="4903"/>
                </a:cubicBezTo>
                <a:cubicBezTo>
                  <a:pt x="12764" y="5220"/>
                  <a:pt x="12613" y="5622"/>
                  <a:pt x="12613" y="6002"/>
                </a:cubicBezTo>
                <a:lnTo>
                  <a:pt x="12613" y="6087"/>
                </a:lnTo>
                <a:cubicBezTo>
                  <a:pt x="12613" y="6488"/>
                  <a:pt x="12789" y="6890"/>
                  <a:pt x="13192" y="7186"/>
                </a:cubicBezTo>
                <a:cubicBezTo>
                  <a:pt x="13292" y="7292"/>
                  <a:pt x="13292" y="7418"/>
                  <a:pt x="13192" y="7503"/>
                </a:cubicBezTo>
                <a:cubicBezTo>
                  <a:pt x="13141" y="7545"/>
                  <a:pt x="13066" y="7566"/>
                  <a:pt x="13015" y="7566"/>
                </a:cubicBezTo>
                <a:cubicBezTo>
                  <a:pt x="12965" y="7566"/>
                  <a:pt x="12864" y="7545"/>
                  <a:pt x="12814" y="7503"/>
                </a:cubicBezTo>
                <a:cubicBezTo>
                  <a:pt x="12436" y="7144"/>
                  <a:pt x="12185" y="6700"/>
                  <a:pt x="12134" y="6256"/>
                </a:cubicBezTo>
                <a:cubicBezTo>
                  <a:pt x="12008" y="6214"/>
                  <a:pt x="11857" y="6214"/>
                  <a:pt x="11731" y="6214"/>
                </a:cubicBezTo>
                <a:cubicBezTo>
                  <a:pt x="11404" y="6214"/>
                  <a:pt x="11102" y="6277"/>
                  <a:pt x="10775" y="6404"/>
                </a:cubicBezTo>
                <a:cubicBezTo>
                  <a:pt x="10724" y="6425"/>
                  <a:pt x="10699" y="6425"/>
                  <a:pt x="10649" y="6425"/>
                </a:cubicBezTo>
                <a:cubicBezTo>
                  <a:pt x="10548" y="6425"/>
                  <a:pt x="10473" y="6404"/>
                  <a:pt x="10422" y="6319"/>
                </a:cubicBezTo>
                <a:cubicBezTo>
                  <a:pt x="10347" y="6214"/>
                  <a:pt x="10397" y="6066"/>
                  <a:pt x="10523" y="6002"/>
                </a:cubicBezTo>
                <a:cubicBezTo>
                  <a:pt x="10876" y="5854"/>
                  <a:pt x="11303" y="5770"/>
                  <a:pt x="11706" y="5770"/>
                </a:cubicBezTo>
                <a:cubicBezTo>
                  <a:pt x="11832" y="5770"/>
                  <a:pt x="11983" y="5770"/>
                  <a:pt x="12109" y="5791"/>
                </a:cubicBezTo>
                <a:cubicBezTo>
                  <a:pt x="12159" y="5389"/>
                  <a:pt x="12361" y="5030"/>
                  <a:pt x="12663" y="4692"/>
                </a:cubicBezTo>
                <a:cubicBezTo>
                  <a:pt x="12361" y="4481"/>
                  <a:pt x="12084" y="4206"/>
                  <a:pt x="11933" y="3889"/>
                </a:cubicBezTo>
                <a:cubicBezTo>
                  <a:pt x="11480" y="4164"/>
                  <a:pt x="10976" y="4290"/>
                  <a:pt x="10448" y="4290"/>
                </a:cubicBezTo>
                <a:cubicBezTo>
                  <a:pt x="10246" y="4290"/>
                  <a:pt x="10070" y="4290"/>
                  <a:pt x="9894" y="4248"/>
                </a:cubicBezTo>
                <a:cubicBezTo>
                  <a:pt x="9717" y="5284"/>
                  <a:pt x="8660" y="6066"/>
                  <a:pt x="7376" y="6066"/>
                </a:cubicBezTo>
                <a:lnTo>
                  <a:pt x="7351" y="6066"/>
                </a:lnTo>
                <a:cubicBezTo>
                  <a:pt x="6797" y="6066"/>
                  <a:pt x="6319" y="6256"/>
                  <a:pt x="5966" y="6531"/>
                </a:cubicBezTo>
                <a:cubicBezTo>
                  <a:pt x="5916" y="6573"/>
                  <a:pt x="5841" y="6594"/>
                  <a:pt x="5790" y="6594"/>
                </a:cubicBezTo>
                <a:cubicBezTo>
                  <a:pt x="5740" y="6594"/>
                  <a:pt x="5639" y="6573"/>
                  <a:pt x="5589" y="6531"/>
                </a:cubicBezTo>
                <a:cubicBezTo>
                  <a:pt x="5488" y="6446"/>
                  <a:pt x="5488" y="6319"/>
                  <a:pt x="5589" y="6235"/>
                </a:cubicBezTo>
                <a:cubicBezTo>
                  <a:pt x="6042" y="5854"/>
                  <a:pt x="6671" y="5643"/>
                  <a:pt x="7351" y="5643"/>
                </a:cubicBezTo>
                <a:lnTo>
                  <a:pt x="7376" y="5643"/>
                </a:lnTo>
                <a:cubicBezTo>
                  <a:pt x="7552" y="5643"/>
                  <a:pt x="7754" y="5622"/>
                  <a:pt x="7905" y="5580"/>
                </a:cubicBezTo>
                <a:cubicBezTo>
                  <a:pt x="7628" y="5305"/>
                  <a:pt x="7301" y="5094"/>
                  <a:pt x="6923" y="4924"/>
                </a:cubicBezTo>
                <a:cubicBezTo>
                  <a:pt x="6772" y="4903"/>
                  <a:pt x="6697" y="4777"/>
                  <a:pt x="6747" y="4671"/>
                </a:cubicBezTo>
                <a:cubicBezTo>
                  <a:pt x="6797" y="4544"/>
                  <a:pt x="6948" y="4481"/>
                  <a:pt x="7099" y="4523"/>
                </a:cubicBezTo>
                <a:cubicBezTo>
                  <a:pt x="7653" y="4671"/>
                  <a:pt x="8131" y="4967"/>
                  <a:pt x="8459" y="5368"/>
                </a:cubicBezTo>
                <a:cubicBezTo>
                  <a:pt x="8962" y="5115"/>
                  <a:pt x="9365" y="4629"/>
                  <a:pt x="9415" y="4079"/>
                </a:cubicBezTo>
                <a:cubicBezTo>
                  <a:pt x="9164" y="3973"/>
                  <a:pt x="8887" y="3804"/>
                  <a:pt x="8685" y="3635"/>
                </a:cubicBezTo>
                <a:cubicBezTo>
                  <a:pt x="8585" y="3551"/>
                  <a:pt x="8585" y="3403"/>
                  <a:pt x="8685" y="3318"/>
                </a:cubicBezTo>
                <a:cubicBezTo>
                  <a:pt x="8786" y="3213"/>
                  <a:pt x="8962" y="3213"/>
                  <a:pt x="9063" y="3318"/>
                </a:cubicBezTo>
                <a:cubicBezTo>
                  <a:pt x="9290" y="3487"/>
                  <a:pt x="9516" y="3635"/>
                  <a:pt x="9793" y="3720"/>
                </a:cubicBezTo>
                <a:cubicBezTo>
                  <a:pt x="9994" y="3783"/>
                  <a:pt x="10221" y="3825"/>
                  <a:pt x="10473" y="3825"/>
                </a:cubicBezTo>
                <a:cubicBezTo>
                  <a:pt x="10926" y="3825"/>
                  <a:pt x="11404" y="3677"/>
                  <a:pt x="11782" y="3424"/>
                </a:cubicBezTo>
                <a:cubicBezTo>
                  <a:pt x="11757" y="3276"/>
                  <a:pt x="11731" y="3149"/>
                  <a:pt x="11731" y="3001"/>
                </a:cubicBezTo>
                <a:cubicBezTo>
                  <a:pt x="11731" y="2895"/>
                  <a:pt x="11832" y="2769"/>
                  <a:pt x="11983" y="2769"/>
                </a:cubicBezTo>
                <a:cubicBezTo>
                  <a:pt x="12109" y="2769"/>
                  <a:pt x="12235" y="2895"/>
                  <a:pt x="12235" y="3001"/>
                </a:cubicBezTo>
                <a:cubicBezTo>
                  <a:pt x="12235" y="3847"/>
                  <a:pt x="13015" y="4565"/>
                  <a:pt x="13997" y="4671"/>
                </a:cubicBezTo>
                <a:cubicBezTo>
                  <a:pt x="14073" y="4185"/>
                  <a:pt x="14350" y="3741"/>
                  <a:pt x="14727" y="3424"/>
                </a:cubicBezTo>
                <a:cubicBezTo>
                  <a:pt x="14803" y="3318"/>
                  <a:pt x="15004" y="3318"/>
                  <a:pt x="15105" y="3424"/>
                </a:cubicBezTo>
                <a:cubicBezTo>
                  <a:pt x="15206" y="3508"/>
                  <a:pt x="15206" y="3635"/>
                  <a:pt x="15105" y="3720"/>
                </a:cubicBezTo>
                <a:cubicBezTo>
                  <a:pt x="14778" y="3995"/>
                  <a:pt x="14576" y="4333"/>
                  <a:pt x="14526" y="4713"/>
                </a:cubicBezTo>
                <a:cubicBezTo>
                  <a:pt x="15357" y="4798"/>
                  <a:pt x="16062" y="5220"/>
                  <a:pt x="16464" y="5812"/>
                </a:cubicBezTo>
                <a:cubicBezTo>
                  <a:pt x="16943" y="5770"/>
                  <a:pt x="17345" y="5580"/>
                  <a:pt x="17673" y="5284"/>
                </a:cubicBezTo>
                <a:cubicBezTo>
                  <a:pt x="17748" y="5178"/>
                  <a:pt x="17924" y="5178"/>
                  <a:pt x="18025" y="5263"/>
                </a:cubicBezTo>
                <a:cubicBezTo>
                  <a:pt x="18176" y="5326"/>
                  <a:pt x="18176" y="5474"/>
                  <a:pt x="18050" y="5580"/>
                </a:cubicBezTo>
                <a:cubicBezTo>
                  <a:pt x="17698" y="5897"/>
                  <a:pt x="17194" y="6150"/>
                  <a:pt x="16641" y="6235"/>
                </a:cubicBezTo>
                <a:cubicBezTo>
                  <a:pt x="16716" y="6425"/>
                  <a:pt x="16741" y="6615"/>
                  <a:pt x="16741" y="6827"/>
                </a:cubicBezTo>
                <a:cubicBezTo>
                  <a:pt x="16741" y="7292"/>
                  <a:pt x="16615" y="7651"/>
                  <a:pt x="16389" y="7968"/>
                </a:cubicBezTo>
                <a:cubicBezTo>
                  <a:pt x="16867" y="8137"/>
                  <a:pt x="17245" y="8454"/>
                  <a:pt x="17547" y="8834"/>
                </a:cubicBezTo>
                <a:cubicBezTo>
                  <a:pt x="17622" y="8961"/>
                  <a:pt x="17572" y="9088"/>
                  <a:pt x="17421" y="9151"/>
                </a:cubicBezTo>
                <a:cubicBezTo>
                  <a:pt x="17396" y="9173"/>
                  <a:pt x="17345" y="9173"/>
                  <a:pt x="17295" y="9173"/>
                </a:cubicBezTo>
                <a:cubicBezTo>
                  <a:pt x="17194" y="9173"/>
                  <a:pt x="17119" y="9130"/>
                  <a:pt x="17069" y="9067"/>
                </a:cubicBezTo>
                <a:cubicBezTo>
                  <a:pt x="16792" y="8708"/>
                  <a:pt x="16414" y="8454"/>
                  <a:pt x="15986" y="8327"/>
                </a:cubicBezTo>
                <a:cubicBezTo>
                  <a:pt x="15835" y="8454"/>
                  <a:pt x="15634" y="8560"/>
                  <a:pt x="15407" y="8665"/>
                </a:cubicBezTo>
                <a:cubicBezTo>
                  <a:pt x="14828" y="8982"/>
                  <a:pt x="14551" y="9447"/>
                  <a:pt x="14551" y="10187"/>
                </a:cubicBezTo>
                <a:lnTo>
                  <a:pt x="14551" y="12575"/>
                </a:lnTo>
                <a:lnTo>
                  <a:pt x="15508" y="12575"/>
                </a:lnTo>
                <a:cubicBezTo>
                  <a:pt x="15734" y="11540"/>
                  <a:pt x="16338" y="10694"/>
                  <a:pt x="17345" y="10187"/>
                </a:cubicBezTo>
                <a:cubicBezTo>
                  <a:pt x="18201" y="9870"/>
                  <a:pt x="18780" y="9194"/>
                  <a:pt x="18881" y="8412"/>
                </a:cubicBezTo>
                <a:close/>
              </a:path>
            </a:pathLst>
          </a:custGeom>
          <a:solidFill>
            <a:srgbClr val="89CC40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>
              <a:solidFill>
                <a:srgbClr val="0066FF"/>
              </a:solidFill>
            </a:endParaRPr>
          </a:p>
        </p:txBody>
      </p:sp>
      <p:sp>
        <p:nvSpPr>
          <p:cNvPr id="20" name="Shape 873">
            <a:extLst>
              <a:ext uri="{FF2B5EF4-FFF2-40B4-BE49-F238E27FC236}">
                <a16:creationId xmlns:a16="http://schemas.microsoft.com/office/drawing/2014/main" id="{EAFAED8E-B7B5-0F87-D8CA-2B2F0746D449}"/>
              </a:ext>
            </a:extLst>
          </p:cNvPr>
          <p:cNvSpPr/>
          <p:nvPr/>
        </p:nvSpPr>
        <p:spPr>
          <a:xfrm>
            <a:off x="5647901" y="620470"/>
            <a:ext cx="374730" cy="418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693" y="8327"/>
                </a:moveTo>
                <a:lnTo>
                  <a:pt x="4693" y="3382"/>
                </a:lnTo>
                <a:lnTo>
                  <a:pt x="12238" y="3382"/>
                </a:lnTo>
                <a:lnTo>
                  <a:pt x="12238" y="8327"/>
                </a:lnTo>
                <a:lnTo>
                  <a:pt x="4693" y="8327"/>
                </a:lnTo>
                <a:close/>
                <a:moveTo>
                  <a:pt x="5353" y="3931"/>
                </a:moveTo>
                <a:lnTo>
                  <a:pt x="5353" y="7038"/>
                </a:lnTo>
                <a:lnTo>
                  <a:pt x="7121" y="4777"/>
                </a:lnTo>
                <a:lnTo>
                  <a:pt x="8442" y="6869"/>
                </a:lnTo>
                <a:lnTo>
                  <a:pt x="9574" y="6045"/>
                </a:lnTo>
                <a:lnTo>
                  <a:pt x="11555" y="7609"/>
                </a:lnTo>
                <a:lnTo>
                  <a:pt x="11555" y="3931"/>
                </a:lnTo>
                <a:lnTo>
                  <a:pt x="5353" y="3931"/>
                </a:lnTo>
                <a:close/>
                <a:moveTo>
                  <a:pt x="9880" y="4988"/>
                </a:moveTo>
                <a:cubicBezTo>
                  <a:pt x="9880" y="4671"/>
                  <a:pt x="10140" y="4417"/>
                  <a:pt x="10493" y="4417"/>
                </a:cubicBezTo>
                <a:cubicBezTo>
                  <a:pt x="10824" y="4417"/>
                  <a:pt x="11130" y="4671"/>
                  <a:pt x="11130" y="4988"/>
                </a:cubicBezTo>
                <a:cubicBezTo>
                  <a:pt x="11130" y="5284"/>
                  <a:pt x="10824" y="5537"/>
                  <a:pt x="10493" y="5537"/>
                </a:cubicBezTo>
                <a:cubicBezTo>
                  <a:pt x="10140" y="5537"/>
                  <a:pt x="9880" y="5284"/>
                  <a:pt x="9880" y="4988"/>
                </a:cubicBezTo>
                <a:close/>
                <a:moveTo>
                  <a:pt x="21506" y="13505"/>
                </a:moveTo>
                <a:cubicBezTo>
                  <a:pt x="21553" y="13569"/>
                  <a:pt x="21576" y="13653"/>
                  <a:pt x="21600" y="13759"/>
                </a:cubicBezTo>
                <a:cubicBezTo>
                  <a:pt x="21600" y="14139"/>
                  <a:pt x="21246" y="14456"/>
                  <a:pt x="20798" y="14456"/>
                </a:cubicBezTo>
                <a:lnTo>
                  <a:pt x="19501" y="14456"/>
                </a:lnTo>
                <a:lnTo>
                  <a:pt x="19501" y="16633"/>
                </a:lnTo>
                <a:cubicBezTo>
                  <a:pt x="19501" y="18514"/>
                  <a:pt x="17780" y="20078"/>
                  <a:pt x="15658" y="20078"/>
                </a:cubicBezTo>
                <a:lnTo>
                  <a:pt x="14125" y="20078"/>
                </a:lnTo>
                <a:lnTo>
                  <a:pt x="14125" y="21600"/>
                </a:lnTo>
                <a:lnTo>
                  <a:pt x="3726" y="21600"/>
                </a:lnTo>
                <a:lnTo>
                  <a:pt x="3726" y="15619"/>
                </a:lnTo>
                <a:cubicBezTo>
                  <a:pt x="1462" y="14034"/>
                  <a:pt x="0" y="11540"/>
                  <a:pt x="0" y="8750"/>
                </a:cubicBezTo>
                <a:cubicBezTo>
                  <a:pt x="0" y="3910"/>
                  <a:pt x="4362" y="0"/>
                  <a:pt x="9739" y="0"/>
                </a:cubicBezTo>
                <a:cubicBezTo>
                  <a:pt x="14148" y="0"/>
                  <a:pt x="18228" y="2980"/>
                  <a:pt x="19077" y="6256"/>
                </a:cubicBezTo>
                <a:cubicBezTo>
                  <a:pt x="19242" y="6975"/>
                  <a:pt x="19478" y="8898"/>
                  <a:pt x="19478" y="8898"/>
                </a:cubicBezTo>
                <a:lnTo>
                  <a:pt x="21506" y="13505"/>
                </a:lnTo>
                <a:close/>
                <a:moveTo>
                  <a:pt x="8277" y="9638"/>
                </a:moveTo>
                <a:cubicBezTo>
                  <a:pt x="15870" y="9490"/>
                  <a:pt x="15776" y="3466"/>
                  <a:pt x="15776" y="3445"/>
                </a:cubicBezTo>
                <a:cubicBezTo>
                  <a:pt x="14243" y="1987"/>
                  <a:pt x="12073" y="1078"/>
                  <a:pt x="9645" y="1078"/>
                </a:cubicBezTo>
                <a:cubicBezTo>
                  <a:pt x="4976" y="1078"/>
                  <a:pt x="1226" y="4438"/>
                  <a:pt x="1226" y="8623"/>
                </a:cubicBezTo>
                <a:cubicBezTo>
                  <a:pt x="1226" y="10568"/>
                  <a:pt x="2028" y="12301"/>
                  <a:pt x="3372" y="13653"/>
                </a:cubicBezTo>
                <a:cubicBezTo>
                  <a:pt x="3372" y="13653"/>
                  <a:pt x="2971" y="9638"/>
                  <a:pt x="8277" y="9638"/>
                </a:cubicBezTo>
                <a:close/>
                <a:moveTo>
                  <a:pt x="17072" y="10652"/>
                </a:moveTo>
                <a:cubicBezTo>
                  <a:pt x="17686" y="10652"/>
                  <a:pt x="18157" y="10187"/>
                  <a:pt x="18157" y="9659"/>
                </a:cubicBezTo>
                <a:cubicBezTo>
                  <a:pt x="18157" y="9130"/>
                  <a:pt x="17662" y="8686"/>
                  <a:pt x="17072" y="8686"/>
                </a:cubicBezTo>
                <a:cubicBezTo>
                  <a:pt x="16483" y="8686"/>
                  <a:pt x="15988" y="9130"/>
                  <a:pt x="15988" y="9659"/>
                </a:cubicBezTo>
                <a:cubicBezTo>
                  <a:pt x="15988" y="10187"/>
                  <a:pt x="16459" y="10652"/>
                  <a:pt x="17072" y="10652"/>
                </a:cubicBezTo>
                <a:close/>
              </a:path>
            </a:pathLst>
          </a:custGeom>
          <a:solidFill>
            <a:srgbClr val="89CC40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>
              <a:solidFill>
                <a:srgbClr val="0066FF"/>
              </a:solidFill>
            </a:endParaRPr>
          </a:p>
        </p:txBody>
      </p:sp>
      <p:sp>
        <p:nvSpPr>
          <p:cNvPr id="21" name="Shape 874">
            <a:extLst>
              <a:ext uri="{FF2B5EF4-FFF2-40B4-BE49-F238E27FC236}">
                <a16:creationId xmlns:a16="http://schemas.microsoft.com/office/drawing/2014/main" id="{F64F1792-113D-7A85-3203-D503DAD48595}"/>
              </a:ext>
            </a:extLst>
          </p:cNvPr>
          <p:cNvSpPr/>
          <p:nvPr/>
        </p:nvSpPr>
        <p:spPr>
          <a:xfrm>
            <a:off x="8158911" y="1504562"/>
            <a:ext cx="436050" cy="4180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331" y="11275"/>
                </a:moveTo>
                <a:lnTo>
                  <a:pt x="12331" y="10135"/>
                </a:lnTo>
                <a:lnTo>
                  <a:pt x="14542" y="9544"/>
                </a:lnTo>
                <a:lnTo>
                  <a:pt x="14542" y="10663"/>
                </a:lnTo>
                <a:lnTo>
                  <a:pt x="12331" y="11275"/>
                </a:lnTo>
                <a:close/>
                <a:moveTo>
                  <a:pt x="12331" y="12120"/>
                </a:moveTo>
                <a:lnTo>
                  <a:pt x="14542" y="11507"/>
                </a:lnTo>
                <a:lnTo>
                  <a:pt x="14542" y="12648"/>
                </a:lnTo>
                <a:lnTo>
                  <a:pt x="12331" y="13239"/>
                </a:lnTo>
                <a:lnTo>
                  <a:pt x="12331" y="12120"/>
                </a:lnTo>
                <a:close/>
                <a:moveTo>
                  <a:pt x="15353" y="9269"/>
                </a:moveTo>
                <a:lnTo>
                  <a:pt x="17686" y="8615"/>
                </a:lnTo>
                <a:lnTo>
                  <a:pt x="17686" y="11761"/>
                </a:lnTo>
                <a:lnTo>
                  <a:pt x="15353" y="12415"/>
                </a:lnTo>
                <a:lnTo>
                  <a:pt x="15353" y="9269"/>
                </a:lnTo>
                <a:close/>
                <a:moveTo>
                  <a:pt x="17686" y="12690"/>
                </a:moveTo>
                <a:lnTo>
                  <a:pt x="17686" y="13788"/>
                </a:lnTo>
                <a:lnTo>
                  <a:pt x="12331" y="15266"/>
                </a:lnTo>
                <a:lnTo>
                  <a:pt x="12331" y="14147"/>
                </a:lnTo>
                <a:lnTo>
                  <a:pt x="17686" y="12690"/>
                </a:lnTo>
                <a:close/>
                <a:moveTo>
                  <a:pt x="17686" y="15794"/>
                </a:moveTo>
                <a:lnTo>
                  <a:pt x="12331" y="17272"/>
                </a:lnTo>
                <a:lnTo>
                  <a:pt x="12331" y="16152"/>
                </a:lnTo>
                <a:lnTo>
                  <a:pt x="17686" y="14674"/>
                </a:lnTo>
                <a:lnTo>
                  <a:pt x="17686" y="15794"/>
                </a:lnTo>
                <a:close/>
                <a:moveTo>
                  <a:pt x="3874" y="8615"/>
                </a:moveTo>
                <a:lnTo>
                  <a:pt x="9248" y="10050"/>
                </a:lnTo>
                <a:lnTo>
                  <a:pt x="9248" y="11170"/>
                </a:lnTo>
                <a:lnTo>
                  <a:pt x="3874" y="9734"/>
                </a:lnTo>
                <a:lnTo>
                  <a:pt x="3874" y="8615"/>
                </a:lnTo>
                <a:close/>
                <a:moveTo>
                  <a:pt x="3874" y="11740"/>
                </a:moveTo>
                <a:lnTo>
                  <a:pt x="3874" y="10621"/>
                </a:lnTo>
                <a:lnTo>
                  <a:pt x="9248" y="12056"/>
                </a:lnTo>
                <a:lnTo>
                  <a:pt x="9248" y="13175"/>
                </a:lnTo>
                <a:lnTo>
                  <a:pt x="3874" y="11740"/>
                </a:lnTo>
                <a:close/>
                <a:moveTo>
                  <a:pt x="3874" y="13724"/>
                </a:moveTo>
                <a:lnTo>
                  <a:pt x="3874" y="12605"/>
                </a:lnTo>
                <a:lnTo>
                  <a:pt x="9248" y="14083"/>
                </a:lnTo>
                <a:lnTo>
                  <a:pt x="9248" y="15202"/>
                </a:lnTo>
                <a:lnTo>
                  <a:pt x="3874" y="13724"/>
                </a:lnTo>
                <a:close/>
                <a:moveTo>
                  <a:pt x="3874" y="15730"/>
                </a:moveTo>
                <a:lnTo>
                  <a:pt x="3874" y="14590"/>
                </a:lnTo>
                <a:lnTo>
                  <a:pt x="9248" y="16068"/>
                </a:lnTo>
                <a:lnTo>
                  <a:pt x="9248" y="17187"/>
                </a:lnTo>
                <a:lnTo>
                  <a:pt x="3874" y="15730"/>
                </a:lnTo>
                <a:close/>
                <a:moveTo>
                  <a:pt x="21600" y="11444"/>
                </a:moveTo>
                <a:cubicBezTo>
                  <a:pt x="21600" y="12331"/>
                  <a:pt x="20910" y="13028"/>
                  <a:pt x="20079" y="13028"/>
                </a:cubicBezTo>
                <a:lnTo>
                  <a:pt x="19917" y="13028"/>
                </a:lnTo>
                <a:lnTo>
                  <a:pt x="19917" y="17609"/>
                </a:lnTo>
                <a:cubicBezTo>
                  <a:pt x="19917" y="17715"/>
                  <a:pt x="19835" y="17842"/>
                  <a:pt x="19714" y="17863"/>
                </a:cubicBezTo>
                <a:lnTo>
                  <a:pt x="16083" y="18876"/>
                </a:lnTo>
                <a:lnTo>
                  <a:pt x="16083" y="21600"/>
                </a:lnTo>
                <a:lnTo>
                  <a:pt x="5496" y="21600"/>
                </a:lnTo>
                <a:lnTo>
                  <a:pt x="5496" y="18876"/>
                </a:lnTo>
                <a:lnTo>
                  <a:pt x="1866" y="17863"/>
                </a:lnTo>
                <a:cubicBezTo>
                  <a:pt x="1765" y="17842"/>
                  <a:pt x="1683" y="17715"/>
                  <a:pt x="1683" y="17609"/>
                </a:cubicBezTo>
                <a:lnTo>
                  <a:pt x="1683" y="13028"/>
                </a:lnTo>
                <a:lnTo>
                  <a:pt x="1501" y="13028"/>
                </a:lnTo>
                <a:cubicBezTo>
                  <a:pt x="669" y="13028"/>
                  <a:pt x="0" y="12289"/>
                  <a:pt x="0" y="11444"/>
                </a:cubicBezTo>
                <a:cubicBezTo>
                  <a:pt x="0" y="10578"/>
                  <a:pt x="690" y="9882"/>
                  <a:pt x="1501" y="9882"/>
                </a:cubicBezTo>
                <a:lnTo>
                  <a:pt x="1683" y="9882"/>
                </a:lnTo>
                <a:lnTo>
                  <a:pt x="1683" y="5490"/>
                </a:lnTo>
                <a:cubicBezTo>
                  <a:pt x="1683" y="5405"/>
                  <a:pt x="1724" y="5321"/>
                  <a:pt x="1785" y="5279"/>
                </a:cubicBezTo>
                <a:cubicBezTo>
                  <a:pt x="1846" y="5236"/>
                  <a:pt x="1927" y="5215"/>
                  <a:pt x="2008" y="5236"/>
                </a:cubicBezTo>
                <a:lnTo>
                  <a:pt x="10810" y="7643"/>
                </a:lnTo>
                <a:lnTo>
                  <a:pt x="19612" y="5215"/>
                </a:lnTo>
                <a:cubicBezTo>
                  <a:pt x="19694" y="5194"/>
                  <a:pt x="19775" y="5215"/>
                  <a:pt x="19835" y="5257"/>
                </a:cubicBezTo>
                <a:cubicBezTo>
                  <a:pt x="19917" y="5300"/>
                  <a:pt x="19937" y="5384"/>
                  <a:pt x="19937" y="5469"/>
                </a:cubicBezTo>
                <a:lnTo>
                  <a:pt x="19937" y="9860"/>
                </a:lnTo>
                <a:lnTo>
                  <a:pt x="20079" y="9860"/>
                </a:lnTo>
                <a:cubicBezTo>
                  <a:pt x="20910" y="9860"/>
                  <a:pt x="21600" y="10557"/>
                  <a:pt x="21600" y="11444"/>
                </a:cubicBezTo>
                <a:close/>
                <a:moveTo>
                  <a:pt x="3022" y="6926"/>
                </a:moveTo>
                <a:lnTo>
                  <a:pt x="3022" y="16765"/>
                </a:lnTo>
                <a:lnTo>
                  <a:pt x="10323" y="18750"/>
                </a:lnTo>
                <a:lnTo>
                  <a:pt x="10323" y="8931"/>
                </a:lnTo>
                <a:lnTo>
                  <a:pt x="3022" y="6926"/>
                </a:lnTo>
                <a:close/>
                <a:moveTo>
                  <a:pt x="11297" y="8931"/>
                </a:moveTo>
                <a:lnTo>
                  <a:pt x="11297" y="18750"/>
                </a:lnTo>
                <a:lnTo>
                  <a:pt x="18578" y="16765"/>
                </a:lnTo>
                <a:lnTo>
                  <a:pt x="18578" y="6926"/>
                </a:lnTo>
                <a:lnTo>
                  <a:pt x="11297" y="8931"/>
                </a:lnTo>
                <a:close/>
                <a:moveTo>
                  <a:pt x="10790" y="6820"/>
                </a:moveTo>
                <a:cubicBezTo>
                  <a:pt x="8985" y="6820"/>
                  <a:pt x="7525" y="5257"/>
                  <a:pt x="7525" y="3399"/>
                </a:cubicBezTo>
                <a:cubicBezTo>
                  <a:pt x="7525" y="1520"/>
                  <a:pt x="9005" y="0"/>
                  <a:pt x="10790" y="0"/>
                </a:cubicBezTo>
                <a:cubicBezTo>
                  <a:pt x="12595" y="0"/>
                  <a:pt x="14055" y="1541"/>
                  <a:pt x="14055" y="3421"/>
                </a:cubicBezTo>
                <a:cubicBezTo>
                  <a:pt x="14055" y="5279"/>
                  <a:pt x="12615" y="6820"/>
                  <a:pt x="10790" y="6820"/>
                </a:cubicBezTo>
                <a:close/>
              </a:path>
            </a:pathLst>
          </a:custGeom>
          <a:solidFill>
            <a:srgbClr val="89CC40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22" name="Shape 875">
            <a:extLst>
              <a:ext uri="{FF2B5EF4-FFF2-40B4-BE49-F238E27FC236}">
                <a16:creationId xmlns:a16="http://schemas.microsoft.com/office/drawing/2014/main" id="{FB0D3457-4AFC-E410-9555-07D275524F94}"/>
              </a:ext>
            </a:extLst>
          </p:cNvPr>
          <p:cNvSpPr/>
          <p:nvPr/>
        </p:nvSpPr>
        <p:spPr>
          <a:xfrm>
            <a:off x="8700083" y="4362400"/>
            <a:ext cx="421622" cy="3945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230" y="3836"/>
                </a:moveTo>
                <a:cubicBezTo>
                  <a:pt x="4026" y="3836"/>
                  <a:pt x="4677" y="4508"/>
                  <a:pt x="4677" y="5361"/>
                </a:cubicBezTo>
                <a:cubicBezTo>
                  <a:pt x="4677" y="5854"/>
                  <a:pt x="4467" y="6280"/>
                  <a:pt x="4131" y="6550"/>
                </a:cubicBezTo>
                <a:cubicBezTo>
                  <a:pt x="3901" y="6774"/>
                  <a:pt x="3565" y="6908"/>
                  <a:pt x="3230" y="6908"/>
                </a:cubicBezTo>
                <a:cubicBezTo>
                  <a:pt x="2768" y="6908"/>
                  <a:pt x="2349" y="6662"/>
                  <a:pt x="2097" y="6303"/>
                </a:cubicBezTo>
                <a:cubicBezTo>
                  <a:pt x="1908" y="6034"/>
                  <a:pt x="1783" y="5697"/>
                  <a:pt x="1783" y="5338"/>
                </a:cubicBezTo>
                <a:cubicBezTo>
                  <a:pt x="1783" y="4486"/>
                  <a:pt x="2433" y="3836"/>
                  <a:pt x="3230" y="3836"/>
                </a:cubicBezTo>
                <a:close/>
                <a:moveTo>
                  <a:pt x="7004" y="3836"/>
                </a:moveTo>
                <a:cubicBezTo>
                  <a:pt x="7801" y="3836"/>
                  <a:pt x="8451" y="4508"/>
                  <a:pt x="8451" y="5361"/>
                </a:cubicBezTo>
                <a:cubicBezTo>
                  <a:pt x="8451" y="6213"/>
                  <a:pt x="7801" y="6908"/>
                  <a:pt x="7004" y="6908"/>
                </a:cubicBezTo>
                <a:cubicBezTo>
                  <a:pt x="6207" y="6908"/>
                  <a:pt x="5557" y="6213"/>
                  <a:pt x="5557" y="5361"/>
                </a:cubicBezTo>
                <a:cubicBezTo>
                  <a:pt x="5557" y="4508"/>
                  <a:pt x="6228" y="3836"/>
                  <a:pt x="7004" y="3836"/>
                </a:cubicBezTo>
                <a:close/>
                <a:moveTo>
                  <a:pt x="5075" y="0"/>
                </a:moveTo>
                <a:cubicBezTo>
                  <a:pt x="5872" y="0"/>
                  <a:pt x="6522" y="695"/>
                  <a:pt x="6522" y="1548"/>
                </a:cubicBezTo>
                <a:cubicBezTo>
                  <a:pt x="6522" y="2400"/>
                  <a:pt x="5872" y="3073"/>
                  <a:pt x="5075" y="3073"/>
                </a:cubicBezTo>
                <a:cubicBezTo>
                  <a:pt x="4278" y="3073"/>
                  <a:pt x="3628" y="2378"/>
                  <a:pt x="3628" y="1525"/>
                </a:cubicBezTo>
                <a:cubicBezTo>
                  <a:pt x="3628" y="673"/>
                  <a:pt x="4278" y="0"/>
                  <a:pt x="5075" y="0"/>
                </a:cubicBezTo>
                <a:close/>
                <a:moveTo>
                  <a:pt x="8934" y="0"/>
                </a:moveTo>
                <a:cubicBezTo>
                  <a:pt x="9730" y="0"/>
                  <a:pt x="10381" y="695"/>
                  <a:pt x="10381" y="1548"/>
                </a:cubicBezTo>
                <a:cubicBezTo>
                  <a:pt x="10381" y="2400"/>
                  <a:pt x="9730" y="3073"/>
                  <a:pt x="8934" y="3073"/>
                </a:cubicBezTo>
                <a:cubicBezTo>
                  <a:pt x="8137" y="3073"/>
                  <a:pt x="7487" y="2378"/>
                  <a:pt x="7487" y="1525"/>
                </a:cubicBezTo>
                <a:cubicBezTo>
                  <a:pt x="7487" y="673"/>
                  <a:pt x="8158" y="0"/>
                  <a:pt x="8934" y="0"/>
                </a:cubicBezTo>
                <a:close/>
                <a:moveTo>
                  <a:pt x="12603" y="0"/>
                </a:moveTo>
                <a:cubicBezTo>
                  <a:pt x="13400" y="0"/>
                  <a:pt x="14050" y="695"/>
                  <a:pt x="14050" y="1548"/>
                </a:cubicBezTo>
                <a:cubicBezTo>
                  <a:pt x="14050" y="2400"/>
                  <a:pt x="13400" y="3073"/>
                  <a:pt x="12603" y="3073"/>
                </a:cubicBezTo>
                <a:cubicBezTo>
                  <a:pt x="11807" y="3073"/>
                  <a:pt x="11177" y="2400"/>
                  <a:pt x="11177" y="1548"/>
                </a:cubicBezTo>
                <a:cubicBezTo>
                  <a:pt x="11177" y="695"/>
                  <a:pt x="11807" y="0"/>
                  <a:pt x="12603" y="0"/>
                </a:cubicBezTo>
                <a:close/>
                <a:moveTo>
                  <a:pt x="16273" y="0"/>
                </a:moveTo>
                <a:cubicBezTo>
                  <a:pt x="17070" y="0"/>
                  <a:pt x="17720" y="695"/>
                  <a:pt x="17720" y="1548"/>
                </a:cubicBezTo>
                <a:cubicBezTo>
                  <a:pt x="17720" y="2400"/>
                  <a:pt x="17070" y="3073"/>
                  <a:pt x="16273" y="3073"/>
                </a:cubicBezTo>
                <a:cubicBezTo>
                  <a:pt x="15477" y="3073"/>
                  <a:pt x="14847" y="2378"/>
                  <a:pt x="14847" y="1548"/>
                </a:cubicBezTo>
                <a:cubicBezTo>
                  <a:pt x="14847" y="718"/>
                  <a:pt x="15477" y="0"/>
                  <a:pt x="16273" y="0"/>
                </a:cubicBezTo>
                <a:close/>
                <a:moveTo>
                  <a:pt x="14491" y="3836"/>
                </a:moveTo>
                <a:cubicBezTo>
                  <a:pt x="15288" y="3836"/>
                  <a:pt x="15938" y="4508"/>
                  <a:pt x="15938" y="5361"/>
                </a:cubicBezTo>
                <a:cubicBezTo>
                  <a:pt x="15938" y="6213"/>
                  <a:pt x="15288" y="6908"/>
                  <a:pt x="14491" y="6908"/>
                </a:cubicBezTo>
                <a:cubicBezTo>
                  <a:pt x="13694" y="6908"/>
                  <a:pt x="13065" y="6213"/>
                  <a:pt x="13065" y="5361"/>
                </a:cubicBezTo>
                <a:cubicBezTo>
                  <a:pt x="13065" y="4508"/>
                  <a:pt x="13694" y="3836"/>
                  <a:pt x="14491" y="3836"/>
                </a:cubicBezTo>
                <a:close/>
                <a:moveTo>
                  <a:pt x="10590" y="3836"/>
                </a:moveTo>
                <a:cubicBezTo>
                  <a:pt x="11387" y="3836"/>
                  <a:pt x="12037" y="4508"/>
                  <a:pt x="12037" y="5361"/>
                </a:cubicBezTo>
                <a:cubicBezTo>
                  <a:pt x="12037" y="6213"/>
                  <a:pt x="11387" y="6908"/>
                  <a:pt x="10590" y="6908"/>
                </a:cubicBezTo>
                <a:cubicBezTo>
                  <a:pt x="9793" y="6908"/>
                  <a:pt x="9143" y="6213"/>
                  <a:pt x="9143" y="5361"/>
                </a:cubicBezTo>
                <a:cubicBezTo>
                  <a:pt x="9143" y="4508"/>
                  <a:pt x="9793" y="3836"/>
                  <a:pt x="10590" y="3836"/>
                </a:cubicBezTo>
                <a:close/>
                <a:moveTo>
                  <a:pt x="18266" y="3836"/>
                </a:moveTo>
                <a:cubicBezTo>
                  <a:pt x="19063" y="3836"/>
                  <a:pt x="19713" y="4508"/>
                  <a:pt x="19713" y="5361"/>
                </a:cubicBezTo>
                <a:cubicBezTo>
                  <a:pt x="19713" y="6213"/>
                  <a:pt x="19063" y="6908"/>
                  <a:pt x="18266" y="6908"/>
                </a:cubicBezTo>
                <a:cubicBezTo>
                  <a:pt x="17469" y="6908"/>
                  <a:pt x="16819" y="6213"/>
                  <a:pt x="16819" y="5361"/>
                </a:cubicBezTo>
                <a:cubicBezTo>
                  <a:pt x="16819" y="4508"/>
                  <a:pt x="17469" y="3836"/>
                  <a:pt x="18266" y="3836"/>
                </a:cubicBezTo>
                <a:close/>
                <a:moveTo>
                  <a:pt x="4823" y="7200"/>
                </a:moveTo>
                <a:cubicBezTo>
                  <a:pt x="5830" y="7200"/>
                  <a:pt x="6438" y="8052"/>
                  <a:pt x="6522" y="9151"/>
                </a:cubicBezTo>
                <a:lnTo>
                  <a:pt x="6522" y="14131"/>
                </a:lnTo>
                <a:cubicBezTo>
                  <a:pt x="6522" y="15028"/>
                  <a:pt x="5410" y="15028"/>
                  <a:pt x="5410" y="14131"/>
                </a:cubicBezTo>
                <a:lnTo>
                  <a:pt x="5410" y="9443"/>
                </a:lnTo>
                <a:cubicBezTo>
                  <a:pt x="5410" y="9353"/>
                  <a:pt x="5348" y="9264"/>
                  <a:pt x="5222" y="9264"/>
                </a:cubicBezTo>
                <a:cubicBezTo>
                  <a:pt x="5138" y="9264"/>
                  <a:pt x="5054" y="9331"/>
                  <a:pt x="5054" y="9443"/>
                </a:cubicBezTo>
                <a:lnTo>
                  <a:pt x="5054" y="20748"/>
                </a:lnTo>
                <a:cubicBezTo>
                  <a:pt x="5054" y="21219"/>
                  <a:pt x="4697" y="21600"/>
                  <a:pt x="4257" y="21600"/>
                </a:cubicBezTo>
                <a:cubicBezTo>
                  <a:pt x="3817" y="21600"/>
                  <a:pt x="3460" y="21219"/>
                  <a:pt x="3460" y="20748"/>
                </a:cubicBezTo>
                <a:lnTo>
                  <a:pt x="3460" y="15118"/>
                </a:lnTo>
                <a:cubicBezTo>
                  <a:pt x="3460" y="15028"/>
                  <a:pt x="3397" y="14938"/>
                  <a:pt x="3271" y="14938"/>
                </a:cubicBezTo>
                <a:lnTo>
                  <a:pt x="3230" y="14938"/>
                </a:lnTo>
                <a:cubicBezTo>
                  <a:pt x="3146" y="14938"/>
                  <a:pt x="3062" y="15006"/>
                  <a:pt x="3062" y="15118"/>
                </a:cubicBezTo>
                <a:lnTo>
                  <a:pt x="3062" y="20748"/>
                </a:lnTo>
                <a:cubicBezTo>
                  <a:pt x="3062" y="21219"/>
                  <a:pt x="2726" y="21600"/>
                  <a:pt x="2265" y="21600"/>
                </a:cubicBezTo>
                <a:cubicBezTo>
                  <a:pt x="1824" y="21600"/>
                  <a:pt x="1468" y="21219"/>
                  <a:pt x="1468" y="20748"/>
                </a:cubicBezTo>
                <a:lnTo>
                  <a:pt x="1468" y="9443"/>
                </a:lnTo>
                <a:cubicBezTo>
                  <a:pt x="1468" y="9331"/>
                  <a:pt x="1384" y="9264"/>
                  <a:pt x="1279" y="9264"/>
                </a:cubicBezTo>
                <a:cubicBezTo>
                  <a:pt x="1195" y="9264"/>
                  <a:pt x="1111" y="9331"/>
                  <a:pt x="1111" y="9443"/>
                </a:cubicBezTo>
                <a:lnTo>
                  <a:pt x="1111" y="14108"/>
                </a:lnTo>
                <a:cubicBezTo>
                  <a:pt x="1111" y="15006"/>
                  <a:pt x="0" y="15006"/>
                  <a:pt x="0" y="14108"/>
                </a:cubicBezTo>
                <a:lnTo>
                  <a:pt x="0" y="9151"/>
                </a:lnTo>
                <a:cubicBezTo>
                  <a:pt x="0" y="8052"/>
                  <a:pt x="608" y="7200"/>
                  <a:pt x="1594" y="7200"/>
                </a:cubicBezTo>
                <a:lnTo>
                  <a:pt x="4823" y="7200"/>
                </a:lnTo>
                <a:close/>
                <a:moveTo>
                  <a:pt x="12205" y="7200"/>
                </a:moveTo>
                <a:cubicBezTo>
                  <a:pt x="13212" y="7200"/>
                  <a:pt x="13841" y="8052"/>
                  <a:pt x="13904" y="9151"/>
                </a:cubicBezTo>
                <a:lnTo>
                  <a:pt x="13904" y="14131"/>
                </a:lnTo>
                <a:cubicBezTo>
                  <a:pt x="13904" y="15028"/>
                  <a:pt x="12792" y="15028"/>
                  <a:pt x="12792" y="14131"/>
                </a:cubicBezTo>
                <a:lnTo>
                  <a:pt x="12792" y="9443"/>
                </a:lnTo>
                <a:cubicBezTo>
                  <a:pt x="12792" y="9353"/>
                  <a:pt x="12729" y="9264"/>
                  <a:pt x="12603" y="9264"/>
                </a:cubicBezTo>
                <a:cubicBezTo>
                  <a:pt x="12520" y="9264"/>
                  <a:pt x="12436" y="9331"/>
                  <a:pt x="12436" y="9443"/>
                </a:cubicBezTo>
                <a:lnTo>
                  <a:pt x="12436" y="20748"/>
                </a:lnTo>
                <a:cubicBezTo>
                  <a:pt x="12436" y="21219"/>
                  <a:pt x="12079" y="21600"/>
                  <a:pt x="11639" y="21600"/>
                </a:cubicBezTo>
                <a:cubicBezTo>
                  <a:pt x="11198" y="21600"/>
                  <a:pt x="10842" y="21219"/>
                  <a:pt x="10842" y="20748"/>
                </a:cubicBezTo>
                <a:lnTo>
                  <a:pt x="10842" y="15118"/>
                </a:lnTo>
                <a:cubicBezTo>
                  <a:pt x="10842" y="15028"/>
                  <a:pt x="10779" y="14938"/>
                  <a:pt x="10653" y="14938"/>
                </a:cubicBezTo>
                <a:lnTo>
                  <a:pt x="10611" y="14938"/>
                </a:lnTo>
                <a:cubicBezTo>
                  <a:pt x="10527" y="14938"/>
                  <a:pt x="10443" y="15006"/>
                  <a:pt x="10443" y="15118"/>
                </a:cubicBezTo>
                <a:lnTo>
                  <a:pt x="10443" y="20748"/>
                </a:lnTo>
                <a:cubicBezTo>
                  <a:pt x="10443" y="21219"/>
                  <a:pt x="10087" y="21600"/>
                  <a:pt x="9647" y="21600"/>
                </a:cubicBezTo>
                <a:cubicBezTo>
                  <a:pt x="9206" y="21600"/>
                  <a:pt x="8850" y="21219"/>
                  <a:pt x="8850" y="20748"/>
                </a:cubicBezTo>
                <a:lnTo>
                  <a:pt x="8850" y="9443"/>
                </a:lnTo>
                <a:cubicBezTo>
                  <a:pt x="8850" y="9331"/>
                  <a:pt x="8766" y="9264"/>
                  <a:pt x="8661" y="9264"/>
                </a:cubicBezTo>
                <a:cubicBezTo>
                  <a:pt x="8577" y="9264"/>
                  <a:pt x="8493" y="9331"/>
                  <a:pt x="8493" y="9443"/>
                </a:cubicBezTo>
                <a:lnTo>
                  <a:pt x="8493" y="14108"/>
                </a:lnTo>
                <a:cubicBezTo>
                  <a:pt x="8493" y="15006"/>
                  <a:pt x="7382" y="15006"/>
                  <a:pt x="7382" y="14108"/>
                </a:cubicBezTo>
                <a:lnTo>
                  <a:pt x="7382" y="9151"/>
                </a:lnTo>
                <a:cubicBezTo>
                  <a:pt x="7382" y="8052"/>
                  <a:pt x="7990" y="7200"/>
                  <a:pt x="8976" y="7200"/>
                </a:cubicBezTo>
                <a:lnTo>
                  <a:pt x="12205" y="7200"/>
                </a:lnTo>
                <a:close/>
                <a:moveTo>
                  <a:pt x="19901" y="7200"/>
                </a:moveTo>
                <a:cubicBezTo>
                  <a:pt x="20929" y="7200"/>
                  <a:pt x="21516" y="8052"/>
                  <a:pt x="21600" y="9151"/>
                </a:cubicBezTo>
                <a:lnTo>
                  <a:pt x="21600" y="14131"/>
                </a:lnTo>
                <a:cubicBezTo>
                  <a:pt x="21600" y="15028"/>
                  <a:pt x="20489" y="15028"/>
                  <a:pt x="20489" y="14131"/>
                </a:cubicBezTo>
                <a:lnTo>
                  <a:pt x="20489" y="9443"/>
                </a:lnTo>
                <a:cubicBezTo>
                  <a:pt x="20489" y="9353"/>
                  <a:pt x="20426" y="9264"/>
                  <a:pt x="20300" y="9264"/>
                </a:cubicBezTo>
                <a:cubicBezTo>
                  <a:pt x="20216" y="9264"/>
                  <a:pt x="20132" y="9331"/>
                  <a:pt x="20132" y="9443"/>
                </a:cubicBezTo>
                <a:lnTo>
                  <a:pt x="20132" y="20748"/>
                </a:lnTo>
                <a:cubicBezTo>
                  <a:pt x="20132" y="21219"/>
                  <a:pt x="19776" y="21600"/>
                  <a:pt x="19335" y="21600"/>
                </a:cubicBezTo>
                <a:cubicBezTo>
                  <a:pt x="18895" y="21600"/>
                  <a:pt x="18538" y="21219"/>
                  <a:pt x="18538" y="20748"/>
                </a:cubicBezTo>
                <a:lnTo>
                  <a:pt x="18538" y="15118"/>
                </a:lnTo>
                <a:cubicBezTo>
                  <a:pt x="18538" y="15028"/>
                  <a:pt x="18475" y="14938"/>
                  <a:pt x="18350" y="14938"/>
                </a:cubicBezTo>
                <a:lnTo>
                  <a:pt x="18308" y="14938"/>
                </a:lnTo>
                <a:cubicBezTo>
                  <a:pt x="18224" y="14938"/>
                  <a:pt x="18140" y="15006"/>
                  <a:pt x="18140" y="15118"/>
                </a:cubicBezTo>
                <a:lnTo>
                  <a:pt x="18140" y="20748"/>
                </a:lnTo>
                <a:cubicBezTo>
                  <a:pt x="18140" y="21219"/>
                  <a:pt x="17804" y="21600"/>
                  <a:pt x="17343" y="21600"/>
                </a:cubicBezTo>
                <a:cubicBezTo>
                  <a:pt x="16903" y="21600"/>
                  <a:pt x="16546" y="21219"/>
                  <a:pt x="16546" y="20748"/>
                </a:cubicBezTo>
                <a:lnTo>
                  <a:pt x="16546" y="9443"/>
                </a:lnTo>
                <a:cubicBezTo>
                  <a:pt x="16546" y="9331"/>
                  <a:pt x="16462" y="9264"/>
                  <a:pt x="16357" y="9264"/>
                </a:cubicBezTo>
                <a:cubicBezTo>
                  <a:pt x="16273" y="9264"/>
                  <a:pt x="16190" y="9331"/>
                  <a:pt x="16190" y="9443"/>
                </a:cubicBezTo>
                <a:lnTo>
                  <a:pt x="16190" y="14108"/>
                </a:lnTo>
                <a:cubicBezTo>
                  <a:pt x="16190" y="15006"/>
                  <a:pt x="15078" y="15006"/>
                  <a:pt x="15078" y="14108"/>
                </a:cubicBezTo>
                <a:lnTo>
                  <a:pt x="15078" y="9151"/>
                </a:lnTo>
                <a:cubicBezTo>
                  <a:pt x="15078" y="8052"/>
                  <a:pt x="15686" y="7200"/>
                  <a:pt x="16672" y="7200"/>
                </a:cubicBezTo>
                <a:lnTo>
                  <a:pt x="19901" y="7200"/>
                </a:lnTo>
                <a:close/>
              </a:path>
            </a:pathLst>
          </a:custGeom>
          <a:solidFill>
            <a:srgbClr val="89CC40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23" name="Shape 876">
            <a:extLst>
              <a:ext uri="{FF2B5EF4-FFF2-40B4-BE49-F238E27FC236}">
                <a16:creationId xmlns:a16="http://schemas.microsoft.com/office/drawing/2014/main" id="{D6B7E00F-589F-0BD0-A636-87561F6FF092}"/>
              </a:ext>
            </a:extLst>
          </p:cNvPr>
          <p:cNvSpPr/>
          <p:nvPr/>
        </p:nvSpPr>
        <p:spPr>
          <a:xfrm>
            <a:off x="9042309" y="2947332"/>
            <a:ext cx="381945" cy="3927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22" y="0"/>
                </a:moveTo>
                <a:lnTo>
                  <a:pt x="21600" y="0"/>
                </a:lnTo>
                <a:lnTo>
                  <a:pt x="21600" y="1123"/>
                </a:lnTo>
                <a:lnTo>
                  <a:pt x="20629" y="1123"/>
                </a:lnTo>
                <a:lnTo>
                  <a:pt x="20629" y="11249"/>
                </a:lnTo>
                <a:lnTo>
                  <a:pt x="8002" y="11249"/>
                </a:lnTo>
                <a:lnTo>
                  <a:pt x="8002" y="7522"/>
                </a:lnTo>
                <a:lnTo>
                  <a:pt x="7192" y="6714"/>
                </a:lnTo>
                <a:cubicBezTo>
                  <a:pt x="7169" y="6691"/>
                  <a:pt x="7100" y="6669"/>
                  <a:pt x="7054" y="6669"/>
                </a:cubicBezTo>
                <a:cubicBezTo>
                  <a:pt x="6938" y="6669"/>
                  <a:pt x="6845" y="6758"/>
                  <a:pt x="6845" y="6871"/>
                </a:cubicBezTo>
                <a:lnTo>
                  <a:pt x="6845" y="19063"/>
                </a:lnTo>
                <a:cubicBezTo>
                  <a:pt x="6845" y="19624"/>
                  <a:pt x="6383" y="20051"/>
                  <a:pt x="5828" y="20051"/>
                </a:cubicBezTo>
                <a:cubicBezTo>
                  <a:pt x="5250" y="20051"/>
                  <a:pt x="4810" y="19624"/>
                  <a:pt x="4810" y="19063"/>
                </a:cubicBezTo>
                <a:lnTo>
                  <a:pt x="4810" y="12192"/>
                </a:lnTo>
                <a:cubicBezTo>
                  <a:pt x="4810" y="12080"/>
                  <a:pt x="4718" y="11990"/>
                  <a:pt x="4602" y="11990"/>
                </a:cubicBezTo>
                <a:cubicBezTo>
                  <a:pt x="4487" y="11990"/>
                  <a:pt x="4417" y="12080"/>
                  <a:pt x="4417" y="12192"/>
                </a:cubicBezTo>
                <a:lnTo>
                  <a:pt x="4417" y="19085"/>
                </a:lnTo>
                <a:cubicBezTo>
                  <a:pt x="4417" y="19647"/>
                  <a:pt x="3955" y="20073"/>
                  <a:pt x="3400" y="20073"/>
                </a:cubicBezTo>
                <a:cubicBezTo>
                  <a:pt x="2821" y="20073"/>
                  <a:pt x="2382" y="19647"/>
                  <a:pt x="2382" y="19085"/>
                </a:cubicBezTo>
                <a:lnTo>
                  <a:pt x="2382" y="7073"/>
                </a:lnTo>
                <a:cubicBezTo>
                  <a:pt x="2382" y="6960"/>
                  <a:pt x="2290" y="6871"/>
                  <a:pt x="2174" y="6871"/>
                </a:cubicBezTo>
                <a:cubicBezTo>
                  <a:pt x="2058" y="6871"/>
                  <a:pt x="1966" y="6960"/>
                  <a:pt x="1966" y="7073"/>
                </a:cubicBezTo>
                <a:lnTo>
                  <a:pt x="1966" y="11474"/>
                </a:lnTo>
                <a:cubicBezTo>
                  <a:pt x="1966" y="11855"/>
                  <a:pt x="1642" y="12170"/>
                  <a:pt x="1272" y="12170"/>
                </a:cubicBezTo>
                <a:cubicBezTo>
                  <a:pt x="879" y="12170"/>
                  <a:pt x="555" y="11878"/>
                  <a:pt x="555" y="11474"/>
                </a:cubicBezTo>
                <a:lnTo>
                  <a:pt x="555" y="6646"/>
                </a:lnTo>
                <a:cubicBezTo>
                  <a:pt x="555" y="5591"/>
                  <a:pt x="1457" y="4693"/>
                  <a:pt x="2567" y="4693"/>
                </a:cubicBezTo>
                <a:lnTo>
                  <a:pt x="6244" y="4693"/>
                </a:lnTo>
                <a:cubicBezTo>
                  <a:pt x="6753" y="4693"/>
                  <a:pt x="7285" y="4895"/>
                  <a:pt x="7678" y="5299"/>
                </a:cubicBezTo>
                <a:cubicBezTo>
                  <a:pt x="7678" y="5299"/>
                  <a:pt x="7817" y="5434"/>
                  <a:pt x="7979" y="5591"/>
                </a:cubicBezTo>
                <a:lnTo>
                  <a:pt x="7979" y="1123"/>
                </a:lnTo>
                <a:lnTo>
                  <a:pt x="6822" y="1123"/>
                </a:lnTo>
                <a:lnTo>
                  <a:pt x="6822" y="0"/>
                </a:lnTo>
                <a:close/>
                <a:moveTo>
                  <a:pt x="20004" y="10665"/>
                </a:moveTo>
                <a:lnTo>
                  <a:pt x="20004" y="1437"/>
                </a:lnTo>
                <a:lnTo>
                  <a:pt x="8557" y="1437"/>
                </a:lnTo>
                <a:lnTo>
                  <a:pt x="8557" y="6152"/>
                </a:lnTo>
                <a:cubicBezTo>
                  <a:pt x="8649" y="6242"/>
                  <a:pt x="8696" y="6309"/>
                  <a:pt x="8811" y="6399"/>
                </a:cubicBezTo>
                <a:cubicBezTo>
                  <a:pt x="9112" y="6691"/>
                  <a:pt x="9366" y="6938"/>
                  <a:pt x="9366" y="6938"/>
                </a:cubicBezTo>
                <a:lnTo>
                  <a:pt x="12326" y="6938"/>
                </a:lnTo>
                <a:cubicBezTo>
                  <a:pt x="12442" y="6938"/>
                  <a:pt x="12581" y="6983"/>
                  <a:pt x="12696" y="7050"/>
                </a:cubicBezTo>
                <a:lnTo>
                  <a:pt x="14523" y="4625"/>
                </a:lnTo>
                <a:cubicBezTo>
                  <a:pt x="14570" y="4536"/>
                  <a:pt x="14685" y="4536"/>
                  <a:pt x="14755" y="4580"/>
                </a:cubicBezTo>
                <a:cubicBezTo>
                  <a:pt x="14847" y="4625"/>
                  <a:pt x="14847" y="4693"/>
                  <a:pt x="14801" y="4783"/>
                </a:cubicBezTo>
                <a:lnTo>
                  <a:pt x="12928" y="7275"/>
                </a:lnTo>
                <a:cubicBezTo>
                  <a:pt x="12974" y="7387"/>
                  <a:pt x="13020" y="7499"/>
                  <a:pt x="13020" y="7612"/>
                </a:cubicBezTo>
                <a:cubicBezTo>
                  <a:pt x="13020" y="7993"/>
                  <a:pt x="12719" y="8308"/>
                  <a:pt x="12326" y="8308"/>
                </a:cubicBezTo>
                <a:lnTo>
                  <a:pt x="9089" y="8308"/>
                </a:lnTo>
                <a:cubicBezTo>
                  <a:pt x="8973" y="8308"/>
                  <a:pt x="8904" y="8308"/>
                  <a:pt x="8811" y="8263"/>
                </a:cubicBezTo>
                <a:cubicBezTo>
                  <a:pt x="8719" y="8218"/>
                  <a:pt x="8626" y="8173"/>
                  <a:pt x="8580" y="8128"/>
                </a:cubicBezTo>
                <a:lnTo>
                  <a:pt x="8557" y="8106"/>
                </a:lnTo>
                <a:lnTo>
                  <a:pt x="8557" y="10665"/>
                </a:lnTo>
                <a:lnTo>
                  <a:pt x="20004" y="10665"/>
                </a:lnTo>
                <a:close/>
                <a:moveTo>
                  <a:pt x="4579" y="1168"/>
                </a:moveTo>
                <a:cubicBezTo>
                  <a:pt x="5481" y="1168"/>
                  <a:pt x="6221" y="1864"/>
                  <a:pt x="6221" y="2739"/>
                </a:cubicBezTo>
                <a:cubicBezTo>
                  <a:pt x="6221" y="3637"/>
                  <a:pt x="5481" y="4333"/>
                  <a:pt x="4579" y="4333"/>
                </a:cubicBezTo>
                <a:cubicBezTo>
                  <a:pt x="3677" y="4333"/>
                  <a:pt x="2960" y="3637"/>
                  <a:pt x="2960" y="2739"/>
                </a:cubicBezTo>
                <a:cubicBezTo>
                  <a:pt x="2960" y="1864"/>
                  <a:pt x="3677" y="1168"/>
                  <a:pt x="4579" y="1168"/>
                </a:cubicBezTo>
                <a:close/>
                <a:moveTo>
                  <a:pt x="0" y="20432"/>
                </a:moveTo>
                <a:lnTo>
                  <a:pt x="21531" y="20432"/>
                </a:lnTo>
                <a:lnTo>
                  <a:pt x="21531" y="21600"/>
                </a:lnTo>
                <a:lnTo>
                  <a:pt x="0" y="21600"/>
                </a:lnTo>
                <a:lnTo>
                  <a:pt x="0" y="20432"/>
                </a:lnTo>
                <a:close/>
              </a:path>
            </a:pathLst>
          </a:custGeom>
          <a:solidFill>
            <a:srgbClr val="89CC40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24" name="Shape 882">
            <a:extLst>
              <a:ext uri="{FF2B5EF4-FFF2-40B4-BE49-F238E27FC236}">
                <a16:creationId xmlns:a16="http://schemas.microsoft.com/office/drawing/2014/main" id="{947CF8BB-D78C-E93D-A7C1-61E9A45AF9CB}"/>
              </a:ext>
            </a:extLst>
          </p:cNvPr>
          <p:cNvSpPr/>
          <p:nvPr/>
        </p:nvSpPr>
        <p:spPr>
          <a:xfrm>
            <a:off x="3844660" y="1731355"/>
            <a:ext cx="503243" cy="43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3" h="20999" extrusionOk="0">
                <a:moveTo>
                  <a:pt x="10213" y="7833"/>
                </a:moveTo>
                <a:cubicBezTo>
                  <a:pt x="8444" y="6606"/>
                  <a:pt x="7866" y="4052"/>
                  <a:pt x="8899" y="2072"/>
                </a:cubicBezTo>
                <a:cubicBezTo>
                  <a:pt x="9915" y="72"/>
                  <a:pt x="12245" y="-601"/>
                  <a:pt x="14032" y="587"/>
                </a:cubicBezTo>
                <a:cubicBezTo>
                  <a:pt x="15784" y="1755"/>
                  <a:pt x="16380" y="4349"/>
                  <a:pt x="15328" y="6348"/>
                </a:cubicBezTo>
                <a:cubicBezTo>
                  <a:pt x="14295" y="8348"/>
                  <a:pt x="12000" y="9021"/>
                  <a:pt x="10213" y="7833"/>
                </a:cubicBezTo>
                <a:close/>
                <a:moveTo>
                  <a:pt x="21477" y="19118"/>
                </a:moveTo>
                <a:cubicBezTo>
                  <a:pt x="21600" y="19395"/>
                  <a:pt x="21547" y="19732"/>
                  <a:pt x="21337" y="19870"/>
                </a:cubicBezTo>
                <a:lnTo>
                  <a:pt x="21197" y="19930"/>
                </a:lnTo>
                <a:cubicBezTo>
                  <a:pt x="20987" y="20088"/>
                  <a:pt x="20707" y="20009"/>
                  <a:pt x="20566" y="19752"/>
                </a:cubicBezTo>
                <a:lnTo>
                  <a:pt x="19253" y="17178"/>
                </a:lnTo>
                <a:cubicBezTo>
                  <a:pt x="19218" y="17218"/>
                  <a:pt x="19165" y="17257"/>
                  <a:pt x="19130" y="17277"/>
                </a:cubicBezTo>
                <a:lnTo>
                  <a:pt x="14610" y="20662"/>
                </a:lnTo>
                <a:cubicBezTo>
                  <a:pt x="14330" y="20900"/>
                  <a:pt x="13980" y="20999"/>
                  <a:pt x="13647" y="20999"/>
                </a:cubicBezTo>
                <a:cubicBezTo>
                  <a:pt x="13104" y="20999"/>
                  <a:pt x="12578" y="20742"/>
                  <a:pt x="12245" y="20227"/>
                </a:cubicBezTo>
                <a:lnTo>
                  <a:pt x="7375" y="11912"/>
                </a:lnTo>
                <a:cubicBezTo>
                  <a:pt x="7288" y="11753"/>
                  <a:pt x="7077" y="11674"/>
                  <a:pt x="6937" y="11793"/>
                </a:cubicBezTo>
                <a:cubicBezTo>
                  <a:pt x="6797" y="11912"/>
                  <a:pt x="6745" y="12129"/>
                  <a:pt x="6850" y="12288"/>
                </a:cubicBezTo>
                <a:lnTo>
                  <a:pt x="10091" y="17871"/>
                </a:lnTo>
                <a:lnTo>
                  <a:pt x="9898" y="20959"/>
                </a:lnTo>
                <a:lnTo>
                  <a:pt x="0" y="20959"/>
                </a:lnTo>
                <a:cubicBezTo>
                  <a:pt x="403" y="16346"/>
                  <a:pt x="2295" y="8526"/>
                  <a:pt x="6009" y="7219"/>
                </a:cubicBezTo>
                <a:cubicBezTo>
                  <a:pt x="7603" y="6724"/>
                  <a:pt x="9232" y="7754"/>
                  <a:pt x="9740" y="8803"/>
                </a:cubicBezTo>
                <a:lnTo>
                  <a:pt x="14102" y="16228"/>
                </a:lnTo>
                <a:lnTo>
                  <a:pt x="17150" y="13951"/>
                </a:lnTo>
                <a:cubicBezTo>
                  <a:pt x="17255" y="13872"/>
                  <a:pt x="17378" y="13812"/>
                  <a:pt x="17501" y="13773"/>
                </a:cubicBezTo>
                <a:lnTo>
                  <a:pt x="16677" y="12209"/>
                </a:lnTo>
                <a:cubicBezTo>
                  <a:pt x="16537" y="11971"/>
                  <a:pt x="16607" y="11654"/>
                  <a:pt x="16835" y="11496"/>
                </a:cubicBezTo>
                <a:lnTo>
                  <a:pt x="16975" y="11436"/>
                </a:lnTo>
                <a:cubicBezTo>
                  <a:pt x="17203" y="11278"/>
                  <a:pt x="17483" y="11337"/>
                  <a:pt x="17606" y="11615"/>
                </a:cubicBezTo>
                <a:lnTo>
                  <a:pt x="18727" y="13773"/>
                </a:lnTo>
                <a:cubicBezTo>
                  <a:pt x="19077" y="13891"/>
                  <a:pt x="19375" y="14169"/>
                  <a:pt x="19585" y="14525"/>
                </a:cubicBezTo>
                <a:cubicBezTo>
                  <a:pt x="19848" y="14980"/>
                  <a:pt x="19918" y="15495"/>
                  <a:pt x="19848" y="15970"/>
                </a:cubicBezTo>
                <a:lnTo>
                  <a:pt x="21477" y="19118"/>
                </a:lnTo>
                <a:close/>
              </a:path>
            </a:pathLst>
          </a:custGeom>
          <a:solidFill>
            <a:srgbClr val="89CC40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25" name="Shape 883">
            <a:extLst>
              <a:ext uri="{FF2B5EF4-FFF2-40B4-BE49-F238E27FC236}">
                <a16:creationId xmlns:a16="http://schemas.microsoft.com/office/drawing/2014/main" id="{9677E074-8C24-BBF3-F911-32006B24026D}"/>
              </a:ext>
            </a:extLst>
          </p:cNvPr>
          <p:cNvSpPr/>
          <p:nvPr/>
        </p:nvSpPr>
        <p:spPr>
          <a:xfrm>
            <a:off x="7914202" y="2072394"/>
            <a:ext cx="2322964" cy="541850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defTabSz="590133">
              <a:lnSpc>
                <a:spcPct val="112000"/>
              </a:lnSpc>
              <a:tabLst>
                <a:tab pos="927100" algn="l"/>
              </a:tabLst>
              <a:defRPr sz="1800">
                <a:solidFill>
                  <a:srgbClr val="040404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r>
              <a:rPr lang="en-US" sz="1500" b="1" dirty="0">
                <a:solidFill>
                  <a:srgbClr val="FF0000"/>
                </a:solidFill>
              </a:rPr>
              <a:t>B. </a:t>
            </a:r>
            <a:r>
              <a:rPr lang="en-US" sz="1500" b="1" dirty="0">
                <a:solidFill>
                  <a:srgbClr val="1976FF"/>
                </a:solidFill>
              </a:rPr>
              <a:t>Integrity of Data and Methods (11)</a:t>
            </a:r>
          </a:p>
        </p:txBody>
      </p:sp>
      <p:sp>
        <p:nvSpPr>
          <p:cNvPr id="26" name="Shape 886">
            <a:extLst>
              <a:ext uri="{FF2B5EF4-FFF2-40B4-BE49-F238E27FC236}">
                <a16:creationId xmlns:a16="http://schemas.microsoft.com/office/drawing/2014/main" id="{9ED73A9C-9B5C-C424-D4A2-2F447EE19D4A}"/>
              </a:ext>
            </a:extLst>
          </p:cNvPr>
          <p:cNvSpPr/>
          <p:nvPr/>
        </p:nvSpPr>
        <p:spPr>
          <a:xfrm>
            <a:off x="8611164" y="3411676"/>
            <a:ext cx="2839678" cy="66535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defTabSz="590133">
              <a:lnSpc>
                <a:spcPct val="112000"/>
              </a:lnSpc>
              <a:tabLst>
                <a:tab pos="927100" algn="l"/>
              </a:tabLst>
              <a:defRPr sz="1800">
                <a:solidFill>
                  <a:srgbClr val="040404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r>
              <a:rPr lang="en-US" sz="1500" b="1" dirty="0">
                <a:solidFill>
                  <a:srgbClr val="FF0000"/>
                </a:solidFill>
              </a:rPr>
              <a:t>C. </a:t>
            </a:r>
            <a:r>
              <a:rPr lang="en-US" sz="1500" b="1" dirty="0">
                <a:solidFill>
                  <a:srgbClr val="1976FF"/>
                </a:solidFill>
              </a:rPr>
              <a:t>Responsibilities to Science / Public / Funder/Client (5)</a:t>
            </a:r>
          </a:p>
        </p:txBody>
      </p:sp>
      <p:sp>
        <p:nvSpPr>
          <p:cNvPr id="27" name="Shape 889">
            <a:extLst>
              <a:ext uri="{FF2B5EF4-FFF2-40B4-BE49-F238E27FC236}">
                <a16:creationId xmlns:a16="http://schemas.microsoft.com/office/drawing/2014/main" id="{E9A7BFC4-6553-5D8C-7E31-365957285960}"/>
              </a:ext>
            </a:extLst>
          </p:cNvPr>
          <p:cNvSpPr/>
          <p:nvPr/>
        </p:nvSpPr>
        <p:spPr>
          <a:xfrm>
            <a:off x="8152720" y="4879752"/>
            <a:ext cx="2454060" cy="685779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defTabSz="590133">
              <a:lnSpc>
                <a:spcPct val="112000"/>
              </a:lnSpc>
              <a:tabLst>
                <a:tab pos="927100" algn="l"/>
              </a:tabLst>
              <a:defRPr sz="1800">
                <a:solidFill>
                  <a:srgbClr val="040404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r>
              <a:rPr lang="en-US" sz="1500" b="1" dirty="0">
                <a:solidFill>
                  <a:srgbClr val="FF0000"/>
                </a:solidFill>
              </a:rPr>
              <a:t>D. </a:t>
            </a:r>
            <a:r>
              <a:rPr lang="en-US" sz="1500" b="1" dirty="0">
                <a:solidFill>
                  <a:srgbClr val="1976FF"/>
                </a:solidFill>
              </a:rPr>
              <a:t>Responsibilities to Research Subjects (7) </a:t>
            </a:r>
          </a:p>
        </p:txBody>
      </p:sp>
      <p:sp>
        <p:nvSpPr>
          <p:cNvPr id="28" name="Shape 892">
            <a:extLst>
              <a:ext uri="{FF2B5EF4-FFF2-40B4-BE49-F238E27FC236}">
                <a16:creationId xmlns:a16="http://schemas.microsoft.com/office/drawing/2014/main" id="{CF52D311-AD1B-9848-8787-1778B7D5B497}"/>
              </a:ext>
            </a:extLst>
          </p:cNvPr>
          <p:cNvSpPr/>
          <p:nvPr/>
        </p:nvSpPr>
        <p:spPr>
          <a:xfrm>
            <a:off x="5377115" y="5644175"/>
            <a:ext cx="2828248" cy="614627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defTabSz="590133">
              <a:lnSpc>
                <a:spcPct val="112000"/>
              </a:lnSpc>
              <a:tabLst>
                <a:tab pos="927100" algn="l"/>
              </a:tabLst>
              <a:defRPr sz="1800">
                <a:solidFill>
                  <a:srgbClr val="040404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r>
              <a:rPr lang="en-US" sz="1500" b="1" dirty="0">
                <a:solidFill>
                  <a:srgbClr val="FF0000"/>
                </a:solidFill>
              </a:rPr>
              <a:t>E. </a:t>
            </a:r>
            <a:r>
              <a:rPr lang="en-US" sz="1500" b="1" dirty="0">
                <a:solidFill>
                  <a:srgbClr val="1976FF"/>
                </a:solidFill>
              </a:rPr>
              <a:t>Responsibilities to Research Team Colleagues (4) </a:t>
            </a:r>
          </a:p>
        </p:txBody>
      </p:sp>
      <p:sp>
        <p:nvSpPr>
          <p:cNvPr id="29" name="Shape 895">
            <a:extLst>
              <a:ext uri="{FF2B5EF4-FFF2-40B4-BE49-F238E27FC236}">
                <a16:creationId xmlns:a16="http://schemas.microsoft.com/office/drawing/2014/main" id="{9D44353E-8FD7-8A44-7910-C082DAFD8602}"/>
              </a:ext>
            </a:extLst>
          </p:cNvPr>
          <p:cNvSpPr/>
          <p:nvPr/>
        </p:nvSpPr>
        <p:spPr>
          <a:xfrm>
            <a:off x="1155049" y="5140006"/>
            <a:ext cx="3711641" cy="622670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defTabSz="590133">
              <a:lnSpc>
                <a:spcPct val="112000"/>
              </a:lnSpc>
              <a:tabLst>
                <a:tab pos="927100" algn="l"/>
              </a:tabLst>
              <a:defRPr sz="1800">
                <a:solidFill>
                  <a:srgbClr val="040404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r>
              <a:rPr lang="en-US" sz="1500" b="1" dirty="0">
                <a:solidFill>
                  <a:srgbClr val="FF0000"/>
                </a:solidFill>
              </a:rPr>
              <a:t>F. </a:t>
            </a:r>
            <a:r>
              <a:rPr lang="en-US" sz="1500" b="1" dirty="0">
                <a:solidFill>
                  <a:srgbClr val="1976FF"/>
                </a:solidFill>
              </a:rPr>
              <a:t>Responsibilities to Other Statisticians or Statistics Practitioners (4)</a:t>
            </a:r>
            <a:endParaRPr sz="1500" b="1" dirty="0">
              <a:solidFill>
                <a:srgbClr val="1976FF"/>
              </a:solidFill>
            </a:endParaRPr>
          </a:p>
        </p:txBody>
      </p:sp>
      <p:sp>
        <p:nvSpPr>
          <p:cNvPr id="30" name="Shape 898">
            <a:extLst>
              <a:ext uri="{FF2B5EF4-FFF2-40B4-BE49-F238E27FC236}">
                <a16:creationId xmlns:a16="http://schemas.microsoft.com/office/drawing/2014/main" id="{13F2CBDB-392F-18A8-0AED-C6615DD16110}"/>
              </a:ext>
            </a:extLst>
          </p:cNvPr>
          <p:cNvSpPr/>
          <p:nvPr/>
        </p:nvSpPr>
        <p:spPr>
          <a:xfrm>
            <a:off x="1155049" y="3747572"/>
            <a:ext cx="3372426" cy="67664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defTabSz="590133">
              <a:lnSpc>
                <a:spcPct val="112000"/>
              </a:lnSpc>
              <a:tabLst>
                <a:tab pos="927100" algn="l"/>
              </a:tabLst>
              <a:defRPr sz="1800">
                <a:solidFill>
                  <a:srgbClr val="040404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r>
              <a:rPr lang="en-US" sz="1500" b="1" dirty="0">
                <a:solidFill>
                  <a:srgbClr val="FF0000"/>
                </a:solidFill>
              </a:rPr>
              <a:t>G. </a:t>
            </a:r>
            <a:r>
              <a:rPr lang="en-US" sz="1500" b="1" dirty="0">
                <a:solidFill>
                  <a:srgbClr val="1976FF"/>
                </a:solidFill>
              </a:rPr>
              <a:t>Responsibilities Regarding Allegations of Misconduct (6)</a:t>
            </a:r>
            <a:endParaRPr sz="1500" b="1" dirty="0">
              <a:solidFill>
                <a:srgbClr val="1976FF"/>
              </a:solidFill>
            </a:endParaRPr>
          </a:p>
        </p:txBody>
      </p:sp>
      <p:sp>
        <p:nvSpPr>
          <p:cNvPr id="31" name="Shape 901">
            <a:extLst>
              <a:ext uri="{FF2B5EF4-FFF2-40B4-BE49-F238E27FC236}">
                <a16:creationId xmlns:a16="http://schemas.microsoft.com/office/drawing/2014/main" id="{7EBF4ECB-F546-46B2-598B-D63045246E4F}"/>
              </a:ext>
            </a:extLst>
          </p:cNvPr>
          <p:cNvSpPr/>
          <p:nvPr/>
        </p:nvSpPr>
        <p:spPr>
          <a:xfrm>
            <a:off x="609926" y="2275512"/>
            <a:ext cx="4304253" cy="812473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defTabSz="590133">
              <a:lnSpc>
                <a:spcPct val="112000"/>
              </a:lnSpc>
              <a:tabLst>
                <a:tab pos="927100" algn="l"/>
              </a:tabLst>
              <a:defRPr sz="1800">
                <a:solidFill>
                  <a:srgbClr val="040404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r>
              <a:rPr lang="en-US" sz="1500" b="1" dirty="0">
                <a:solidFill>
                  <a:srgbClr val="FF0000"/>
                </a:solidFill>
              </a:rPr>
              <a:t>H. </a:t>
            </a:r>
            <a:r>
              <a:rPr lang="en-US" sz="1500" b="1" dirty="0">
                <a:solidFill>
                  <a:srgbClr val="1976FF"/>
                </a:solidFill>
              </a:rPr>
              <a:t>Responsibilities of Employers, Including Organizations, Individuals, Attorneys, or Other Clients Employing Statistical Practitioners (8)</a:t>
            </a:r>
            <a:endParaRPr sz="1500" b="1" dirty="0">
              <a:solidFill>
                <a:srgbClr val="1976FF"/>
              </a:solidFill>
            </a:endParaRPr>
          </a:p>
        </p:txBody>
      </p:sp>
      <p:sp>
        <p:nvSpPr>
          <p:cNvPr id="32" name="Shape 904">
            <a:extLst>
              <a:ext uri="{FF2B5EF4-FFF2-40B4-BE49-F238E27FC236}">
                <a16:creationId xmlns:a16="http://schemas.microsoft.com/office/drawing/2014/main" id="{0249C29B-E074-3321-B4E2-689FD742606C}"/>
              </a:ext>
            </a:extLst>
          </p:cNvPr>
          <p:cNvSpPr/>
          <p:nvPr/>
        </p:nvSpPr>
        <p:spPr>
          <a:xfrm>
            <a:off x="5054883" y="1061318"/>
            <a:ext cx="2773528" cy="473670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defTabSz="590133">
              <a:lnSpc>
                <a:spcPct val="112000"/>
              </a:lnSpc>
              <a:tabLst>
                <a:tab pos="927100" algn="l"/>
              </a:tabLst>
              <a:defRPr sz="1800">
                <a:solidFill>
                  <a:srgbClr val="040404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r>
              <a:rPr lang="en-US" sz="1500" b="1" dirty="0">
                <a:solidFill>
                  <a:srgbClr val="FF0000"/>
                </a:solidFill>
              </a:rPr>
              <a:t>A. </a:t>
            </a:r>
            <a:r>
              <a:rPr lang="en-US" sz="1500" b="1" dirty="0">
                <a:solidFill>
                  <a:srgbClr val="1976FF"/>
                </a:solidFill>
              </a:rPr>
              <a:t>Professional Integrity and</a:t>
            </a:r>
          </a:p>
          <a:p>
            <a:r>
              <a:rPr lang="en-US" sz="1500" b="1" dirty="0">
                <a:solidFill>
                  <a:srgbClr val="1976FF"/>
                </a:solidFill>
              </a:rPr>
              <a:t>Accountability (7) </a:t>
            </a:r>
          </a:p>
        </p:txBody>
      </p:sp>
      <p:sp>
        <p:nvSpPr>
          <p:cNvPr id="33" name="Shape 930">
            <a:extLst>
              <a:ext uri="{FF2B5EF4-FFF2-40B4-BE49-F238E27FC236}">
                <a16:creationId xmlns:a16="http://schemas.microsoft.com/office/drawing/2014/main" id="{A5356BB3-85C6-F834-68F1-52B5348144D0}"/>
              </a:ext>
            </a:extLst>
          </p:cNvPr>
          <p:cNvSpPr/>
          <p:nvPr/>
        </p:nvSpPr>
        <p:spPr>
          <a:xfrm>
            <a:off x="9593550" y="2952047"/>
            <a:ext cx="290141" cy="3619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888" y="14621"/>
                </a:moveTo>
                <a:cubicBezTo>
                  <a:pt x="13894" y="14312"/>
                  <a:pt x="13424" y="14113"/>
                  <a:pt x="13424" y="13760"/>
                </a:cubicBezTo>
                <a:cubicBezTo>
                  <a:pt x="13424" y="13428"/>
                  <a:pt x="13811" y="13119"/>
                  <a:pt x="14584" y="13119"/>
                </a:cubicBezTo>
                <a:cubicBezTo>
                  <a:pt x="15358" y="13119"/>
                  <a:pt x="15993" y="13318"/>
                  <a:pt x="16297" y="13428"/>
                </a:cubicBezTo>
                <a:lnTo>
                  <a:pt x="16683" y="12258"/>
                </a:lnTo>
                <a:cubicBezTo>
                  <a:pt x="16297" y="12125"/>
                  <a:pt x="15827" y="12015"/>
                  <a:pt x="15219" y="11948"/>
                </a:cubicBezTo>
                <a:lnTo>
                  <a:pt x="15219" y="10999"/>
                </a:lnTo>
                <a:lnTo>
                  <a:pt x="13093" y="10999"/>
                </a:lnTo>
                <a:lnTo>
                  <a:pt x="13093" y="12125"/>
                </a:lnTo>
                <a:cubicBezTo>
                  <a:pt x="12098" y="12434"/>
                  <a:pt x="11463" y="13075"/>
                  <a:pt x="11463" y="13870"/>
                </a:cubicBezTo>
                <a:cubicBezTo>
                  <a:pt x="11463" y="14820"/>
                  <a:pt x="12319" y="15438"/>
                  <a:pt x="13728" y="15813"/>
                </a:cubicBezTo>
                <a:cubicBezTo>
                  <a:pt x="14750" y="16056"/>
                  <a:pt x="15054" y="16299"/>
                  <a:pt x="15054" y="16675"/>
                </a:cubicBezTo>
                <a:cubicBezTo>
                  <a:pt x="15054" y="17117"/>
                  <a:pt x="14584" y="17360"/>
                  <a:pt x="13811" y="17360"/>
                </a:cubicBezTo>
                <a:cubicBezTo>
                  <a:pt x="13037" y="17360"/>
                  <a:pt x="12236" y="17117"/>
                  <a:pt x="11794" y="16984"/>
                </a:cubicBezTo>
                <a:lnTo>
                  <a:pt x="11380" y="18177"/>
                </a:lnTo>
                <a:cubicBezTo>
                  <a:pt x="11794" y="18353"/>
                  <a:pt x="12402" y="18486"/>
                  <a:pt x="13093" y="18552"/>
                </a:cubicBezTo>
                <a:lnTo>
                  <a:pt x="13093" y="19480"/>
                </a:lnTo>
                <a:lnTo>
                  <a:pt x="15219" y="19480"/>
                </a:lnTo>
                <a:lnTo>
                  <a:pt x="15219" y="18420"/>
                </a:lnTo>
                <a:cubicBezTo>
                  <a:pt x="16380" y="18110"/>
                  <a:pt x="16932" y="17426"/>
                  <a:pt x="16932" y="16564"/>
                </a:cubicBezTo>
                <a:cubicBezTo>
                  <a:pt x="16932" y="15615"/>
                  <a:pt x="16297" y="15063"/>
                  <a:pt x="14888" y="14621"/>
                </a:cubicBezTo>
                <a:close/>
                <a:moveTo>
                  <a:pt x="9585" y="5919"/>
                </a:moveTo>
                <a:lnTo>
                  <a:pt x="18644" y="5919"/>
                </a:lnTo>
                <a:lnTo>
                  <a:pt x="18644" y="7112"/>
                </a:lnTo>
                <a:lnTo>
                  <a:pt x="9585" y="7112"/>
                </a:lnTo>
                <a:lnTo>
                  <a:pt x="9585" y="5919"/>
                </a:lnTo>
                <a:close/>
                <a:moveTo>
                  <a:pt x="9585" y="3490"/>
                </a:moveTo>
                <a:lnTo>
                  <a:pt x="18644" y="3490"/>
                </a:lnTo>
                <a:lnTo>
                  <a:pt x="18644" y="4682"/>
                </a:lnTo>
                <a:lnTo>
                  <a:pt x="9585" y="4682"/>
                </a:lnTo>
                <a:lnTo>
                  <a:pt x="9585" y="3490"/>
                </a:lnTo>
                <a:close/>
                <a:moveTo>
                  <a:pt x="21600" y="3180"/>
                </a:moveTo>
                <a:cubicBezTo>
                  <a:pt x="21517" y="1436"/>
                  <a:pt x="19887" y="133"/>
                  <a:pt x="17788" y="0"/>
                </a:cubicBezTo>
                <a:cubicBezTo>
                  <a:pt x="17705" y="0"/>
                  <a:pt x="17623" y="0"/>
                  <a:pt x="17540" y="0"/>
                </a:cubicBezTo>
                <a:cubicBezTo>
                  <a:pt x="17540" y="0"/>
                  <a:pt x="4226" y="0"/>
                  <a:pt x="4143" y="0"/>
                </a:cubicBezTo>
                <a:cubicBezTo>
                  <a:pt x="3287" y="0"/>
                  <a:pt x="2514" y="177"/>
                  <a:pt x="1795" y="552"/>
                </a:cubicBezTo>
                <a:cubicBezTo>
                  <a:pt x="1271" y="861"/>
                  <a:pt x="801" y="1237"/>
                  <a:pt x="470" y="1745"/>
                </a:cubicBezTo>
                <a:cubicBezTo>
                  <a:pt x="166" y="2187"/>
                  <a:pt x="0" y="2672"/>
                  <a:pt x="0" y="3247"/>
                </a:cubicBezTo>
                <a:lnTo>
                  <a:pt x="0" y="3291"/>
                </a:lnTo>
                <a:cubicBezTo>
                  <a:pt x="0" y="3291"/>
                  <a:pt x="0" y="3291"/>
                  <a:pt x="0" y="3357"/>
                </a:cubicBezTo>
                <a:cubicBezTo>
                  <a:pt x="0" y="5168"/>
                  <a:pt x="1795" y="6604"/>
                  <a:pt x="4060" y="6604"/>
                </a:cubicBezTo>
                <a:cubicBezTo>
                  <a:pt x="5082" y="6604"/>
                  <a:pt x="5939" y="6294"/>
                  <a:pt x="6629" y="5853"/>
                </a:cubicBezTo>
                <a:lnTo>
                  <a:pt x="6629" y="21600"/>
                </a:lnTo>
                <a:lnTo>
                  <a:pt x="21517" y="21600"/>
                </a:lnTo>
                <a:lnTo>
                  <a:pt x="21517" y="3622"/>
                </a:lnTo>
                <a:cubicBezTo>
                  <a:pt x="21600" y="3357"/>
                  <a:pt x="21600" y="3247"/>
                  <a:pt x="21600" y="3180"/>
                </a:cubicBezTo>
                <a:close/>
                <a:moveTo>
                  <a:pt x="20108" y="3490"/>
                </a:moveTo>
                <a:lnTo>
                  <a:pt x="20108" y="20297"/>
                </a:lnTo>
                <a:lnTo>
                  <a:pt x="8204" y="20297"/>
                </a:lnTo>
                <a:cubicBezTo>
                  <a:pt x="8204" y="20297"/>
                  <a:pt x="8204" y="3291"/>
                  <a:pt x="8204" y="3180"/>
                </a:cubicBezTo>
                <a:cubicBezTo>
                  <a:pt x="8204" y="2429"/>
                  <a:pt x="7817" y="1679"/>
                  <a:pt x="7264" y="1126"/>
                </a:cubicBezTo>
                <a:lnTo>
                  <a:pt x="17540" y="1126"/>
                </a:lnTo>
                <a:cubicBezTo>
                  <a:pt x="19031" y="1369"/>
                  <a:pt x="20053" y="2363"/>
                  <a:pt x="20108" y="3490"/>
                </a:cubicBezTo>
                <a:close/>
                <a:moveTo>
                  <a:pt x="9585" y="8260"/>
                </a:moveTo>
                <a:lnTo>
                  <a:pt x="18644" y="8260"/>
                </a:lnTo>
                <a:lnTo>
                  <a:pt x="18644" y="9453"/>
                </a:lnTo>
                <a:lnTo>
                  <a:pt x="9585" y="9453"/>
                </a:lnTo>
                <a:lnTo>
                  <a:pt x="9585" y="8260"/>
                </a:lnTo>
                <a:close/>
              </a:path>
            </a:pathLst>
          </a:custGeom>
          <a:solidFill>
            <a:srgbClr val="89CC40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34" name="Shape 875">
            <a:extLst>
              <a:ext uri="{FF2B5EF4-FFF2-40B4-BE49-F238E27FC236}">
                <a16:creationId xmlns:a16="http://schemas.microsoft.com/office/drawing/2014/main" id="{1CE56719-A29F-CF32-2C2F-918E0211D8C7}"/>
              </a:ext>
            </a:extLst>
          </p:cNvPr>
          <p:cNvSpPr/>
          <p:nvPr/>
        </p:nvSpPr>
        <p:spPr>
          <a:xfrm>
            <a:off x="3992269" y="4706651"/>
            <a:ext cx="349587" cy="280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230" y="3836"/>
                </a:moveTo>
                <a:cubicBezTo>
                  <a:pt x="4026" y="3836"/>
                  <a:pt x="4677" y="4508"/>
                  <a:pt x="4677" y="5361"/>
                </a:cubicBezTo>
                <a:cubicBezTo>
                  <a:pt x="4677" y="5854"/>
                  <a:pt x="4467" y="6280"/>
                  <a:pt x="4131" y="6550"/>
                </a:cubicBezTo>
                <a:cubicBezTo>
                  <a:pt x="3901" y="6774"/>
                  <a:pt x="3565" y="6908"/>
                  <a:pt x="3230" y="6908"/>
                </a:cubicBezTo>
                <a:cubicBezTo>
                  <a:pt x="2768" y="6908"/>
                  <a:pt x="2349" y="6662"/>
                  <a:pt x="2097" y="6303"/>
                </a:cubicBezTo>
                <a:cubicBezTo>
                  <a:pt x="1908" y="6034"/>
                  <a:pt x="1783" y="5697"/>
                  <a:pt x="1783" y="5338"/>
                </a:cubicBezTo>
                <a:cubicBezTo>
                  <a:pt x="1783" y="4486"/>
                  <a:pt x="2433" y="3836"/>
                  <a:pt x="3230" y="3836"/>
                </a:cubicBezTo>
                <a:close/>
                <a:moveTo>
                  <a:pt x="7004" y="3836"/>
                </a:moveTo>
                <a:cubicBezTo>
                  <a:pt x="7801" y="3836"/>
                  <a:pt x="8451" y="4508"/>
                  <a:pt x="8451" y="5361"/>
                </a:cubicBezTo>
                <a:cubicBezTo>
                  <a:pt x="8451" y="6213"/>
                  <a:pt x="7801" y="6908"/>
                  <a:pt x="7004" y="6908"/>
                </a:cubicBezTo>
                <a:cubicBezTo>
                  <a:pt x="6207" y="6908"/>
                  <a:pt x="5557" y="6213"/>
                  <a:pt x="5557" y="5361"/>
                </a:cubicBezTo>
                <a:cubicBezTo>
                  <a:pt x="5557" y="4508"/>
                  <a:pt x="6228" y="3836"/>
                  <a:pt x="7004" y="3836"/>
                </a:cubicBezTo>
                <a:close/>
                <a:moveTo>
                  <a:pt x="5075" y="0"/>
                </a:moveTo>
                <a:cubicBezTo>
                  <a:pt x="5872" y="0"/>
                  <a:pt x="6522" y="695"/>
                  <a:pt x="6522" y="1548"/>
                </a:cubicBezTo>
                <a:cubicBezTo>
                  <a:pt x="6522" y="2400"/>
                  <a:pt x="5872" y="3073"/>
                  <a:pt x="5075" y="3073"/>
                </a:cubicBezTo>
                <a:cubicBezTo>
                  <a:pt x="4278" y="3073"/>
                  <a:pt x="3628" y="2378"/>
                  <a:pt x="3628" y="1525"/>
                </a:cubicBezTo>
                <a:cubicBezTo>
                  <a:pt x="3628" y="673"/>
                  <a:pt x="4278" y="0"/>
                  <a:pt x="5075" y="0"/>
                </a:cubicBezTo>
                <a:close/>
                <a:moveTo>
                  <a:pt x="8934" y="0"/>
                </a:moveTo>
                <a:cubicBezTo>
                  <a:pt x="9730" y="0"/>
                  <a:pt x="10381" y="695"/>
                  <a:pt x="10381" y="1548"/>
                </a:cubicBezTo>
                <a:cubicBezTo>
                  <a:pt x="10381" y="2400"/>
                  <a:pt x="9730" y="3073"/>
                  <a:pt x="8934" y="3073"/>
                </a:cubicBezTo>
                <a:cubicBezTo>
                  <a:pt x="8137" y="3073"/>
                  <a:pt x="7487" y="2378"/>
                  <a:pt x="7487" y="1525"/>
                </a:cubicBezTo>
                <a:cubicBezTo>
                  <a:pt x="7487" y="673"/>
                  <a:pt x="8158" y="0"/>
                  <a:pt x="8934" y="0"/>
                </a:cubicBezTo>
                <a:close/>
                <a:moveTo>
                  <a:pt x="12603" y="0"/>
                </a:moveTo>
                <a:cubicBezTo>
                  <a:pt x="13400" y="0"/>
                  <a:pt x="14050" y="695"/>
                  <a:pt x="14050" y="1548"/>
                </a:cubicBezTo>
                <a:cubicBezTo>
                  <a:pt x="14050" y="2400"/>
                  <a:pt x="13400" y="3073"/>
                  <a:pt x="12603" y="3073"/>
                </a:cubicBezTo>
                <a:cubicBezTo>
                  <a:pt x="11807" y="3073"/>
                  <a:pt x="11177" y="2400"/>
                  <a:pt x="11177" y="1548"/>
                </a:cubicBezTo>
                <a:cubicBezTo>
                  <a:pt x="11177" y="695"/>
                  <a:pt x="11807" y="0"/>
                  <a:pt x="12603" y="0"/>
                </a:cubicBezTo>
                <a:close/>
                <a:moveTo>
                  <a:pt x="16273" y="0"/>
                </a:moveTo>
                <a:cubicBezTo>
                  <a:pt x="17070" y="0"/>
                  <a:pt x="17720" y="695"/>
                  <a:pt x="17720" y="1548"/>
                </a:cubicBezTo>
                <a:cubicBezTo>
                  <a:pt x="17720" y="2400"/>
                  <a:pt x="17070" y="3073"/>
                  <a:pt x="16273" y="3073"/>
                </a:cubicBezTo>
                <a:cubicBezTo>
                  <a:pt x="15477" y="3073"/>
                  <a:pt x="14847" y="2378"/>
                  <a:pt x="14847" y="1548"/>
                </a:cubicBezTo>
                <a:cubicBezTo>
                  <a:pt x="14847" y="718"/>
                  <a:pt x="15477" y="0"/>
                  <a:pt x="16273" y="0"/>
                </a:cubicBezTo>
                <a:close/>
                <a:moveTo>
                  <a:pt x="14491" y="3836"/>
                </a:moveTo>
                <a:cubicBezTo>
                  <a:pt x="15288" y="3836"/>
                  <a:pt x="15938" y="4508"/>
                  <a:pt x="15938" y="5361"/>
                </a:cubicBezTo>
                <a:cubicBezTo>
                  <a:pt x="15938" y="6213"/>
                  <a:pt x="15288" y="6908"/>
                  <a:pt x="14491" y="6908"/>
                </a:cubicBezTo>
                <a:cubicBezTo>
                  <a:pt x="13694" y="6908"/>
                  <a:pt x="13065" y="6213"/>
                  <a:pt x="13065" y="5361"/>
                </a:cubicBezTo>
                <a:cubicBezTo>
                  <a:pt x="13065" y="4508"/>
                  <a:pt x="13694" y="3836"/>
                  <a:pt x="14491" y="3836"/>
                </a:cubicBezTo>
                <a:close/>
                <a:moveTo>
                  <a:pt x="10590" y="3836"/>
                </a:moveTo>
                <a:cubicBezTo>
                  <a:pt x="11387" y="3836"/>
                  <a:pt x="12037" y="4508"/>
                  <a:pt x="12037" y="5361"/>
                </a:cubicBezTo>
                <a:cubicBezTo>
                  <a:pt x="12037" y="6213"/>
                  <a:pt x="11387" y="6908"/>
                  <a:pt x="10590" y="6908"/>
                </a:cubicBezTo>
                <a:cubicBezTo>
                  <a:pt x="9793" y="6908"/>
                  <a:pt x="9143" y="6213"/>
                  <a:pt x="9143" y="5361"/>
                </a:cubicBezTo>
                <a:cubicBezTo>
                  <a:pt x="9143" y="4508"/>
                  <a:pt x="9793" y="3836"/>
                  <a:pt x="10590" y="3836"/>
                </a:cubicBezTo>
                <a:close/>
                <a:moveTo>
                  <a:pt x="18266" y="3836"/>
                </a:moveTo>
                <a:cubicBezTo>
                  <a:pt x="19063" y="3836"/>
                  <a:pt x="19713" y="4508"/>
                  <a:pt x="19713" y="5361"/>
                </a:cubicBezTo>
                <a:cubicBezTo>
                  <a:pt x="19713" y="6213"/>
                  <a:pt x="19063" y="6908"/>
                  <a:pt x="18266" y="6908"/>
                </a:cubicBezTo>
                <a:cubicBezTo>
                  <a:pt x="17469" y="6908"/>
                  <a:pt x="16819" y="6213"/>
                  <a:pt x="16819" y="5361"/>
                </a:cubicBezTo>
                <a:cubicBezTo>
                  <a:pt x="16819" y="4508"/>
                  <a:pt x="17469" y="3836"/>
                  <a:pt x="18266" y="3836"/>
                </a:cubicBezTo>
                <a:close/>
                <a:moveTo>
                  <a:pt x="4823" y="7200"/>
                </a:moveTo>
                <a:cubicBezTo>
                  <a:pt x="5830" y="7200"/>
                  <a:pt x="6438" y="8052"/>
                  <a:pt x="6522" y="9151"/>
                </a:cubicBezTo>
                <a:lnTo>
                  <a:pt x="6522" y="14131"/>
                </a:lnTo>
                <a:cubicBezTo>
                  <a:pt x="6522" y="15028"/>
                  <a:pt x="5410" y="15028"/>
                  <a:pt x="5410" y="14131"/>
                </a:cubicBezTo>
                <a:lnTo>
                  <a:pt x="5410" y="9443"/>
                </a:lnTo>
                <a:cubicBezTo>
                  <a:pt x="5410" y="9353"/>
                  <a:pt x="5348" y="9264"/>
                  <a:pt x="5222" y="9264"/>
                </a:cubicBezTo>
                <a:cubicBezTo>
                  <a:pt x="5138" y="9264"/>
                  <a:pt x="5054" y="9331"/>
                  <a:pt x="5054" y="9443"/>
                </a:cubicBezTo>
                <a:lnTo>
                  <a:pt x="5054" y="20748"/>
                </a:lnTo>
                <a:cubicBezTo>
                  <a:pt x="5054" y="21219"/>
                  <a:pt x="4697" y="21600"/>
                  <a:pt x="4257" y="21600"/>
                </a:cubicBezTo>
                <a:cubicBezTo>
                  <a:pt x="3817" y="21600"/>
                  <a:pt x="3460" y="21219"/>
                  <a:pt x="3460" y="20748"/>
                </a:cubicBezTo>
                <a:lnTo>
                  <a:pt x="3460" y="15118"/>
                </a:lnTo>
                <a:cubicBezTo>
                  <a:pt x="3460" y="15028"/>
                  <a:pt x="3397" y="14938"/>
                  <a:pt x="3271" y="14938"/>
                </a:cubicBezTo>
                <a:lnTo>
                  <a:pt x="3230" y="14938"/>
                </a:lnTo>
                <a:cubicBezTo>
                  <a:pt x="3146" y="14938"/>
                  <a:pt x="3062" y="15006"/>
                  <a:pt x="3062" y="15118"/>
                </a:cubicBezTo>
                <a:lnTo>
                  <a:pt x="3062" y="20748"/>
                </a:lnTo>
                <a:cubicBezTo>
                  <a:pt x="3062" y="21219"/>
                  <a:pt x="2726" y="21600"/>
                  <a:pt x="2265" y="21600"/>
                </a:cubicBezTo>
                <a:cubicBezTo>
                  <a:pt x="1824" y="21600"/>
                  <a:pt x="1468" y="21219"/>
                  <a:pt x="1468" y="20748"/>
                </a:cubicBezTo>
                <a:lnTo>
                  <a:pt x="1468" y="9443"/>
                </a:lnTo>
                <a:cubicBezTo>
                  <a:pt x="1468" y="9331"/>
                  <a:pt x="1384" y="9264"/>
                  <a:pt x="1279" y="9264"/>
                </a:cubicBezTo>
                <a:cubicBezTo>
                  <a:pt x="1195" y="9264"/>
                  <a:pt x="1111" y="9331"/>
                  <a:pt x="1111" y="9443"/>
                </a:cubicBezTo>
                <a:lnTo>
                  <a:pt x="1111" y="14108"/>
                </a:lnTo>
                <a:cubicBezTo>
                  <a:pt x="1111" y="15006"/>
                  <a:pt x="0" y="15006"/>
                  <a:pt x="0" y="14108"/>
                </a:cubicBezTo>
                <a:lnTo>
                  <a:pt x="0" y="9151"/>
                </a:lnTo>
                <a:cubicBezTo>
                  <a:pt x="0" y="8052"/>
                  <a:pt x="608" y="7200"/>
                  <a:pt x="1594" y="7200"/>
                </a:cubicBezTo>
                <a:lnTo>
                  <a:pt x="4823" y="7200"/>
                </a:lnTo>
                <a:close/>
                <a:moveTo>
                  <a:pt x="12205" y="7200"/>
                </a:moveTo>
                <a:cubicBezTo>
                  <a:pt x="13212" y="7200"/>
                  <a:pt x="13841" y="8052"/>
                  <a:pt x="13904" y="9151"/>
                </a:cubicBezTo>
                <a:lnTo>
                  <a:pt x="13904" y="14131"/>
                </a:lnTo>
                <a:cubicBezTo>
                  <a:pt x="13904" y="15028"/>
                  <a:pt x="12792" y="15028"/>
                  <a:pt x="12792" y="14131"/>
                </a:cubicBezTo>
                <a:lnTo>
                  <a:pt x="12792" y="9443"/>
                </a:lnTo>
                <a:cubicBezTo>
                  <a:pt x="12792" y="9353"/>
                  <a:pt x="12729" y="9264"/>
                  <a:pt x="12603" y="9264"/>
                </a:cubicBezTo>
                <a:cubicBezTo>
                  <a:pt x="12520" y="9264"/>
                  <a:pt x="12436" y="9331"/>
                  <a:pt x="12436" y="9443"/>
                </a:cubicBezTo>
                <a:lnTo>
                  <a:pt x="12436" y="20748"/>
                </a:lnTo>
                <a:cubicBezTo>
                  <a:pt x="12436" y="21219"/>
                  <a:pt x="12079" y="21600"/>
                  <a:pt x="11639" y="21600"/>
                </a:cubicBezTo>
                <a:cubicBezTo>
                  <a:pt x="11198" y="21600"/>
                  <a:pt x="10842" y="21219"/>
                  <a:pt x="10842" y="20748"/>
                </a:cubicBezTo>
                <a:lnTo>
                  <a:pt x="10842" y="15118"/>
                </a:lnTo>
                <a:cubicBezTo>
                  <a:pt x="10842" y="15028"/>
                  <a:pt x="10779" y="14938"/>
                  <a:pt x="10653" y="14938"/>
                </a:cubicBezTo>
                <a:lnTo>
                  <a:pt x="10611" y="14938"/>
                </a:lnTo>
                <a:cubicBezTo>
                  <a:pt x="10527" y="14938"/>
                  <a:pt x="10443" y="15006"/>
                  <a:pt x="10443" y="15118"/>
                </a:cubicBezTo>
                <a:lnTo>
                  <a:pt x="10443" y="20748"/>
                </a:lnTo>
                <a:cubicBezTo>
                  <a:pt x="10443" y="21219"/>
                  <a:pt x="10087" y="21600"/>
                  <a:pt x="9647" y="21600"/>
                </a:cubicBezTo>
                <a:cubicBezTo>
                  <a:pt x="9206" y="21600"/>
                  <a:pt x="8850" y="21219"/>
                  <a:pt x="8850" y="20748"/>
                </a:cubicBezTo>
                <a:lnTo>
                  <a:pt x="8850" y="9443"/>
                </a:lnTo>
                <a:cubicBezTo>
                  <a:pt x="8850" y="9331"/>
                  <a:pt x="8766" y="9264"/>
                  <a:pt x="8661" y="9264"/>
                </a:cubicBezTo>
                <a:cubicBezTo>
                  <a:pt x="8577" y="9264"/>
                  <a:pt x="8493" y="9331"/>
                  <a:pt x="8493" y="9443"/>
                </a:cubicBezTo>
                <a:lnTo>
                  <a:pt x="8493" y="14108"/>
                </a:lnTo>
                <a:cubicBezTo>
                  <a:pt x="8493" y="15006"/>
                  <a:pt x="7382" y="15006"/>
                  <a:pt x="7382" y="14108"/>
                </a:cubicBezTo>
                <a:lnTo>
                  <a:pt x="7382" y="9151"/>
                </a:lnTo>
                <a:cubicBezTo>
                  <a:pt x="7382" y="8052"/>
                  <a:pt x="7990" y="7200"/>
                  <a:pt x="8976" y="7200"/>
                </a:cubicBezTo>
                <a:lnTo>
                  <a:pt x="12205" y="7200"/>
                </a:lnTo>
                <a:close/>
                <a:moveTo>
                  <a:pt x="19901" y="7200"/>
                </a:moveTo>
                <a:cubicBezTo>
                  <a:pt x="20929" y="7200"/>
                  <a:pt x="21516" y="8052"/>
                  <a:pt x="21600" y="9151"/>
                </a:cubicBezTo>
                <a:lnTo>
                  <a:pt x="21600" y="14131"/>
                </a:lnTo>
                <a:cubicBezTo>
                  <a:pt x="21600" y="15028"/>
                  <a:pt x="20489" y="15028"/>
                  <a:pt x="20489" y="14131"/>
                </a:cubicBezTo>
                <a:lnTo>
                  <a:pt x="20489" y="9443"/>
                </a:lnTo>
                <a:cubicBezTo>
                  <a:pt x="20489" y="9353"/>
                  <a:pt x="20426" y="9264"/>
                  <a:pt x="20300" y="9264"/>
                </a:cubicBezTo>
                <a:cubicBezTo>
                  <a:pt x="20216" y="9264"/>
                  <a:pt x="20132" y="9331"/>
                  <a:pt x="20132" y="9443"/>
                </a:cubicBezTo>
                <a:lnTo>
                  <a:pt x="20132" y="20748"/>
                </a:lnTo>
                <a:cubicBezTo>
                  <a:pt x="20132" y="21219"/>
                  <a:pt x="19776" y="21600"/>
                  <a:pt x="19335" y="21600"/>
                </a:cubicBezTo>
                <a:cubicBezTo>
                  <a:pt x="18895" y="21600"/>
                  <a:pt x="18538" y="21219"/>
                  <a:pt x="18538" y="20748"/>
                </a:cubicBezTo>
                <a:lnTo>
                  <a:pt x="18538" y="15118"/>
                </a:lnTo>
                <a:cubicBezTo>
                  <a:pt x="18538" y="15028"/>
                  <a:pt x="18475" y="14938"/>
                  <a:pt x="18350" y="14938"/>
                </a:cubicBezTo>
                <a:lnTo>
                  <a:pt x="18308" y="14938"/>
                </a:lnTo>
                <a:cubicBezTo>
                  <a:pt x="18224" y="14938"/>
                  <a:pt x="18140" y="15006"/>
                  <a:pt x="18140" y="15118"/>
                </a:cubicBezTo>
                <a:lnTo>
                  <a:pt x="18140" y="20748"/>
                </a:lnTo>
                <a:cubicBezTo>
                  <a:pt x="18140" y="21219"/>
                  <a:pt x="17804" y="21600"/>
                  <a:pt x="17343" y="21600"/>
                </a:cubicBezTo>
                <a:cubicBezTo>
                  <a:pt x="16903" y="21600"/>
                  <a:pt x="16546" y="21219"/>
                  <a:pt x="16546" y="20748"/>
                </a:cubicBezTo>
                <a:lnTo>
                  <a:pt x="16546" y="9443"/>
                </a:lnTo>
                <a:cubicBezTo>
                  <a:pt x="16546" y="9331"/>
                  <a:pt x="16462" y="9264"/>
                  <a:pt x="16357" y="9264"/>
                </a:cubicBezTo>
                <a:cubicBezTo>
                  <a:pt x="16273" y="9264"/>
                  <a:pt x="16190" y="9331"/>
                  <a:pt x="16190" y="9443"/>
                </a:cubicBezTo>
                <a:lnTo>
                  <a:pt x="16190" y="14108"/>
                </a:lnTo>
                <a:cubicBezTo>
                  <a:pt x="16190" y="15006"/>
                  <a:pt x="15078" y="15006"/>
                  <a:pt x="15078" y="14108"/>
                </a:cubicBezTo>
                <a:lnTo>
                  <a:pt x="15078" y="9151"/>
                </a:lnTo>
                <a:cubicBezTo>
                  <a:pt x="15078" y="8052"/>
                  <a:pt x="15686" y="7200"/>
                  <a:pt x="16672" y="7200"/>
                </a:cubicBezTo>
                <a:lnTo>
                  <a:pt x="19901" y="7200"/>
                </a:lnTo>
                <a:close/>
              </a:path>
            </a:pathLst>
          </a:custGeom>
          <a:solidFill>
            <a:srgbClr val="89CC40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35" name="Shape 1507">
            <a:extLst>
              <a:ext uri="{FF2B5EF4-FFF2-40B4-BE49-F238E27FC236}">
                <a16:creationId xmlns:a16="http://schemas.microsoft.com/office/drawing/2014/main" id="{4485C793-AEAD-4C63-8D50-02A52457B7E1}"/>
              </a:ext>
            </a:extLst>
          </p:cNvPr>
          <p:cNvSpPr/>
          <p:nvPr/>
        </p:nvSpPr>
        <p:spPr>
          <a:xfrm>
            <a:off x="2899430" y="3331466"/>
            <a:ext cx="554373" cy="364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64" y="4195"/>
                </a:moveTo>
                <a:lnTo>
                  <a:pt x="11540" y="4238"/>
                </a:lnTo>
                <a:lnTo>
                  <a:pt x="11540" y="19035"/>
                </a:lnTo>
                <a:lnTo>
                  <a:pt x="17538" y="19035"/>
                </a:lnTo>
                <a:lnTo>
                  <a:pt x="17538" y="21600"/>
                </a:lnTo>
                <a:lnTo>
                  <a:pt x="4102" y="21600"/>
                </a:lnTo>
                <a:lnTo>
                  <a:pt x="4102" y="19035"/>
                </a:lnTo>
                <a:lnTo>
                  <a:pt x="10101" y="19035"/>
                </a:lnTo>
                <a:lnTo>
                  <a:pt x="10101" y="18992"/>
                </a:lnTo>
                <a:lnTo>
                  <a:pt x="10101" y="19035"/>
                </a:lnTo>
                <a:lnTo>
                  <a:pt x="10101" y="4238"/>
                </a:lnTo>
                <a:lnTo>
                  <a:pt x="4976" y="4195"/>
                </a:lnTo>
                <a:lnTo>
                  <a:pt x="7666" y="13677"/>
                </a:lnTo>
                <a:lnTo>
                  <a:pt x="8124" y="13677"/>
                </a:lnTo>
                <a:cubicBezTo>
                  <a:pt x="8124" y="16044"/>
                  <a:pt x="6294" y="17957"/>
                  <a:pt x="4062" y="17957"/>
                </a:cubicBezTo>
                <a:cubicBezTo>
                  <a:pt x="1816" y="17957"/>
                  <a:pt x="0" y="16044"/>
                  <a:pt x="0" y="13677"/>
                </a:cubicBezTo>
                <a:lnTo>
                  <a:pt x="377" y="13677"/>
                </a:lnTo>
                <a:lnTo>
                  <a:pt x="3080" y="4195"/>
                </a:lnTo>
                <a:lnTo>
                  <a:pt x="2999" y="4195"/>
                </a:lnTo>
                <a:lnTo>
                  <a:pt x="2999" y="2962"/>
                </a:lnTo>
                <a:lnTo>
                  <a:pt x="10060" y="2962"/>
                </a:lnTo>
                <a:lnTo>
                  <a:pt x="10060" y="0"/>
                </a:lnTo>
                <a:lnTo>
                  <a:pt x="11459" y="0"/>
                </a:lnTo>
                <a:lnTo>
                  <a:pt x="11459" y="2962"/>
                </a:lnTo>
                <a:lnTo>
                  <a:pt x="18560" y="2962"/>
                </a:lnTo>
                <a:lnTo>
                  <a:pt x="18560" y="4195"/>
                </a:lnTo>
                <a:lnTo>
                  <a:pt x="18480" y="4195"/>
                </a:lnTo>
                <a:lnTo>
                  <a:pt x="21223" y="13677"/>
                </a:lnTo>
                <a:lnTo>
                  <a:pt x="21600" y="13677"/>
                </a:lnTo>
                <a:cubicBezTo>
                  <a:pt x="21600" y="16044"/>
                  <a:pt x="19784" y="17957"/>
                  <a:pt x="17538" y="17957"/>
                </a:cubicBezTo>
                <a:cubicBezTo>
                  <a:pt x="15306" y="17957"/>
                  <a:pt x="13476" y="16072"/>
                  <a:pt x="13476" y="13677"/>
                </a:cubicBezTo>
                <a:lnTo>
                  <a:pt x="13934" y="13677"/>
                </a:lnTo>
                <a:lnTo>
                  <a:pt x="16664" y="4195"/>
                </a:lnTo>
                <a:close/>
                <a:moveTo>
                  <a:pt x="4102" y="4280"/>
                </a:moveTo>
                <a:lnTo>
                  <a:pt x="1439" y="13677"/>
                </a:lnTo>
                <a:lnTo>
                  <a:pt x="6792" y="13677"/>
                </a:lnTo>
                <a:lnTo>
                  <a:pt x="4102" y="4280"/>
                </a:lnTo>
                <a:close/>
                <a:moveTo>
                  <a:pt x="14835" y="13677"/>
                </a:moveTo>
                <a:lnTo>
                  <a:pt x="20228" y="13677"/>
                </a:lnTo>
                <a:lnTo>
                  <a:pt x="17579" y="4280"/>
                </a:lnTo>
                <a:lnTo>
                  <a:pt x="17538" y="4280"/>
                </a:lnTo>
                <a:lnTo>
                  <a:pt x="14835" y="13677"/>
                </a:lnTo>
                <a:close/>
              </a:path>
            </a:pathLst>
          </a:custGeom>
          <a:solidFill>
            <a:srgbClr val="89CC40"/>
          </a:solidFill>
          <a:ln w="3175">
            <a:miter lim="400000"/>
          </a:ln>
        </p:spPr>
        <p:txBody>
          <a:bodyPr lIns="41494" tIns="41494" rIns="41494" bIns="41494" anchor="ctr"/>
          <a:lstStyle/>
          <a:p>
            <a:pPr defTabSz="41492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547"/>
          </a:p>
        </p:txBody>
      </p:sp>
      <p:sp>
        <p:nvSpPr>
          <p:cNvPr id="36" name="Shape 2982">
            <a:extLst>
              <a:ext uri="{FF2B5EF4-FFF2-40B4-BE49-F238E27FC236}">
                <a16:creationId xmlns:a16="http://schemas.microsoft.com/office/drawing/2014/main" id="{95099EAA-3CAA-0103-F10A-330142222360}"/>
              </a:ext>
            </a:extLst>
          </p:cNvPr>
          <p:cNvSpPr/>
          <p:nvPr/>
        </p:nvSpPr>
        <p:spPr>
          <a:xfrm>
            <a:off x="8702451" y="1507011"/>
            <a:ext cx="467432" cy="4102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582"/>
                </a:moveTo>
                <a:lnTo>
                  <a:pt x="851" y="21582"/>
                </a:lnTo>
                <a:lnTo>
                  <a:pt x="851" y="21600"/>
                </a:lnTo>
                <a:lnTo>
                  <a:pt x="0" y="21600"/>
                </a:lnTo>
                <a:lnTo>
                  <a:pt x="0" y="0"/>
                </a:lnTo>
                <a:lnTo>
                  <a:pt x="851" y="0"/>
                </a:lnTo>
                <a:lnTo>
                  <a:pt x="851" y="20612"/>
                </a:lnTo>
                <a:lnTo>
                  <a:pt x="1514" y="20612"/>
                </a:lnTo>
                <a:lnTo>
                  <a:pt x="1514" y="16752"/>
                </a:lnTo>
                <a:lnTo>
                  <a:pt x="4872" y="16752"/>
                </a:lnTo>
                <a:lnTo>
                  <a:pt x="4872" y="20612"/>
                </a:lnTo>
                <a:lnTo>
                  <a:pt x="6007" y="20612"/>
                </a:lnTo>
                <a:lnTo>
                  <a:pt x="6007" y="13053"/>
                </a:lnTo>
                <a:lnTo>
                  <a:pt x="9365" y="13053"/>
                </a:lnTo>
                <a:lnTo>
                  <a:pt x="9365" y="20612"/>
                </a:lnTo>
                <a:lnTo>
                  <a:pt x="10500" y="20612"/>
                </a:lnTo>
                <a:lnTo>
                  <a:pt x="10500" y="5817"/>
                </a:lnTo>
                <a:lnTo>
                  <a:pt x="13859" y="5817"/>
                </a:lnTo>
                <a:lnTo>
                  <a:pt x="13859" y="20612"/>
                </a:lnTo>
                <a:lnTo>
                  <a:pt x="14978" y="20612"/>
                </a:lnTo>
                <a:lnTo>
                  <a:pt x="14978" y="1616"/>
                </a:lnTo>
                <a:lnTo>
                  <a:pt x="18336" y="1616"/>
                </a:lnTo>
                <a:lnTo>
                  <a:pt x="18336" y="20612"/>
                </a:lnTo>
                <a:lnTo>
                  <a:pt x="21600" y="20612"/>
                </a:lnTo>
                <a:lnTo>
                  <a:pt x="21600" y="21582"/>
                </a:lnTo>
              </a:path>
            </a:pathLst>
          </a:custGeom>
          <a:solidFill>
            <a:srgbClr val="89CC40"/>
          </a:solidFill>
          <a:ln w="3175">
            <a:miter lim="400000"/>
          </a:ln>
        </p:spPr>
        <p:txBody>
          <a:bodyPr lIns="32146" rIns="32146" anchor="ctr"/>
          <a:lstStyle/>
          <a:p>
            <a:pPr defTabSz="321457">
              <a:lnSpc>
                <a:spcPct val="93000"/>
              </a:lnSpc>
              <a:defRPr sz="1800">
                <a:latin typeface="Arial"/>
                <a:ea typeface="Arial"/>
                <a:cs typeface="Arial"/>
                <a:sym typeface="Arial"/>
              </a:defRPr>
            </a:pPr>
            <a:endParaRPr sz="1266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339C5D0-8A3D-2D93-2E05-824A29406476}"/>
              </a:ext>
            </a:extLst>
          </p:cNvPr>
          <p:cNvGrpSpPr/>
          <p:nvPr/>
        </p:nvGrpSpPr>
        <p:grpSpPr>
          <a:xfrm>
            <a:off x="3648323" y="4671527"/>
            <a:ext cx="212088" cy="416628"/>
            <a:chOff x="1460004" y="6870974"/>
            <a:chExt cx="301636" cy="592538"/>
          </a:xfrm>
          <a:solidFill>
            <a:srgbClr val="89CC40"/>
          </a:solidFill>
        </p:grpSpPr>
        <p:sp>
          <p:nvSpPr>
            <p:cNvPr id="38" name="Shape 2863">
              <a:extLst>
                <a:ext uri="{FF2B5EF4-FFF2-40B4-BE49-F238E27FC236}">
                  <a16:creationId xmlns:a16="http://schemas.microsoft.com/office/drawing/2014/main" id="{89945A4F-D4B8-BAAB-98C7-4B090B5BAE46}"/>
                </a:ext>
              </a:extLst>
            </p:cNvPr>
            <p:cNvSpPr/>
            <p:nvPr/>
          </p:nvSpPr>
          <p:spPr>
            <a:xfrm>
              <a:off x="1460004" y="6979350"/>
              <a:ext cx="301636" cy="4841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20" h="21276" extrusionOk="0">
                  <a:moveTo>
                    <a:pt x="7219" y="0"/>
                  </a:moveTo>
                  <a:cubicBezTo>
                    <a:pt x="4928" y="0"/>
                    <a:pt x="3243" y="1210"/>
                    <a:pt x="2939" y="1901"/>
                  </a:cubicBezTo>
                  <a:lnTo>
                    <a:pt x="75" y="7862"/>
                  </a:lnTo>
                  <a:cubicBezTo>
                    <a:pt x="-464" y="9137"/>
                    <a:pt x="2063" y="9677"/>
                    <a:pt x="2670" y="8402"/>
                  </a:cubicBezTo>
                  <a:lnTo>
                    <a:pt x="5231" y="2938"/>
                  </a:lnTo>
                  <a:lnTo>
                    <a:pt x="6646" y="2938"/>
                  </a:lnTo>
                  <a:lnTo>
                    <a:pt x="2400" y="12701"/>
                  </a:lnTo>
                  <a:lnTo>
                    <a:pt x="6511" y="12701"/>
                  </a:lnTo>
                  <a:lnTo>
                    <a:pt x="6511" y="20304"/>
                  </a:lnTo>
                  <a:cubicBezTo>
                    <a:pt x="6511" y="21600"/>
                    <a:pt x="9544" y="21600"/>
                    <a:pt x="9544" y="20304"/>
                  </a:cubicBezTo>
                  <a:lnTo>
                    <a:pt x="9544" y="12636"/>
                  </a:lnTo>
                  <a:lnTo>
                    <a:pt x="11060" y="12636"/>
                  </a:lnTo>
                  <a:lnTo>
                    <a:pt x="11060" y="20282"/>
                  </a:lnTo>
                  <a:cubicBezTo>
                    <a:pt x="11060" y="21600"/>
                    <a:pt x="14127" y="21600"/>
                    <a:pt x="14127" y="20282"/>
                  </a:cubicBezTo>
                  <a:lnTo>
                    <a:pt x="14127" y="12701"/>
                  </a:lnTo>
                  <a:lnTo>
                    <a:pt x="18204" y="12701"/>
                  </a:lnTo>
                  <a:lnTo>
                    <a:pt x="13958" y="2959"/>
                  </a:lnTo>
                  <a:lnTo>
                    <a:pt x="15374" y="2959"/>
                  </a:lnTo>
                  <a:lnTo>
                    <a:pt x="17935" y="8467"/>
                  </a:lnTo>
                  <a:cubicBezTo>
                    <a:pt x="18541" y="9655"/>
                    <a:pt x="21136" y="9158"/>
                    <a:pt x="20529" y="7884"/>
                  </a:cubicBezTo>
                  <a:lnTo>
                    <a:pt x="17665" y="1922"/>
                  </a:lnTo>
                  <a:cubicBezTo>
                    <a:pt x="17396" y="1253"/>
                    <a:pt x="16048" y="22"/>
                    <a:pt x="13723" y="22"/>
                  </a:cubicBezTo>
                  <a:cubicBezTo>
                    <a:pt x="13756" y="0"/>
                    <a:pt x="7219" y="0"/>
                    <a:pt x="7219" y="0"/>
                  </a:cubicBezTo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  <p:sp>
          <p:nvSpPr>
            <p:cNvPr id="39" name="Shape 2864">
              <a:extLst>
                <a:ext uri="{FF2B5EF4-FFF2-40B4-BE49-F238E27FC236}">
                  <a16:creationId xmlns:a16="http://schemas.microsoft.com/office/drawing/2014/main" id="{BAEDB234-B814-2BA0-5329-B44DC8BA8C1C}"/>
                </a:ext>
              </a:extLst>
            </p:cNvPr>
            <p:cNvSpPr/>
            <p:nvPr/>
          </p:nvSpPr>
          <p:spPr>
            <a:xfrm>
              <a:off x="1561589" y="6870974"/>
              <a:ext cx="97044" cy="970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55"/>
                  </a:moveTo>
                  <a:cubicBezTo>
                    <a:pt x="0" y="4824"/>
                    <a:pt x="4959" y="0"/>
                    <a:pt x="10910" y="0"/>
                  </a:cubicBezTo>
                  <a:cubicBezTo>
                    <a:pt x="16861" y="0"/>
                    <a:pt x="21600" y="4824"/>
                    <a:pt x="21600" y="10855"/>
                  </a:cubicBezTo>
                  <a:cubicBezTo>
                    <a:pt x="21600" y="16776"/>
                    <a:pt x="16861" y="21600"/>
                    <a:pt x="10910" y="21600"/>
                  </a:cubicBezTo>
                  <a:cubicBezTo>
                    <a:pt x="4959" y="21600"/>
                    <a:pt x="0" y="16776"/>
                    <a:pt x="0" y="10855"/>
                  </a:cubicBezTo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C3FE8C3-B0A4-E098-8915-10EB2B3D8C8E}"/>
              </a:ext>
            </a:extLst>
          </p:cNvPr>
          <p:cNvGrpSpPr/>
          <p:nvPr/>
        </p:nvGrpSpPr>
        <p:grpSpPr>
          <a:xfrm>
            <a:off x="3169914" y="4667698"/>
            <a:ext cx="315496" cy="415715"/>
            <a:chOff x="923439" y="6872273"/>
            <a:chExt cx="448705" cy="591239"/>
          </a:xfrm>
          <a:solidFill>
            <a:srgbClr val="89CC40"/>
          </a:solidFill>
        </p:grpSpPr>
        <p:sp>
          <p:nvSpPr>
            <p:cNvPr id="41" name="Shape 2888">
              <a:extLst>
                <a:ext uri="{FF2B5EF4-FFF2-40B4-BE49-F238E27FC236}">
                  <a16:creationId xmlns:a16="http://schemas.microsoft.com/office/drawing/2014/main" id="{C8F20A0A-794C-A879-3020-F2F4CAE9A752}"/>
                </a:ext>
              </a:extLst>
            </p:cNvPr>
            <p:cNvSpPr/>
            <p:nvPr/>
          </p:nvSpPr>
          <p:spPr>
            <a:xfrm>
              <a:off x="1155249" y="7255557"/>
              <a:ext cx="52581" cy="52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867" h="18850" extrusionOk="0">
                  <a:moveTo>
                    <a:pt x="17932" y="13503"/>
                  </a:moveTo>
                  <a:cubicBezTo>
                    <a:pt x="20234" y="8761"/>
                    <a:pt x="18109" y="3142"/>
                    <a:pt x="13506" y="1035"/>
                  </a:cubicBezTo>
                  <a:cubicBezTo>
                    <a:pt x="8726" y="-1424"/>
                    <a:pt x="3060" y="683"/>
                    <a:pt x="936" y="5425"/>
                  </a:cubicBezTo>
                  <a:cubicBezTo>
                    <a:pt x="-1366" y="9991"/>
                    <a:pt x="759" y="15786"/>
                    <a:pt x="5362" y="17893"/>
                  </a:cubicBezTo>
                  <a:cubicBezTo>
                    <a:pt x="10142" y="20176"/>
                    <a:pt x="15631" y="18244"/>
                    <a:pt x="17932" y="13503"/>
                  </a:cubicBezTo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  <p:sp>
          <p:nvSpPr>
            <p:cNvPr id="42" name="Shape 2886">
              <a:extLst>
                <a:ext uri="{FF2B5EF4-FFF2-40B4-BE49-F238E27FC236}">
                  <a16:creationId xmlns:a16="http://schemas.microsoft.com/office/drawing/2014/main" id="{2546CCF8-11AF-1E88-C8E6-28110F95FDD7}"/>
                </a:ext>
              </a:extLst>
            </p:cNvPr>
            <p:cNvSpPr/>
            <p:nvPr/>
          </p:nvSpPr>
          <p:spPr>
            <a:xfrm>
              <a:off x="1071242" y="6872273"/>
              <a:ext cx="149068" cy="146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4824"/>
                    <a:pt x="16824" y="0"/>
                    <a:pt x="10836" y="0"/>
                  </a:cubicBezTo>
                  <a:cubicBezTo>
                    <a:pt x="4848" y="0"/>
                    <a:pt x="0" y="4824"/>
                    <a:pt x="0" y="10800"/>
                  </a:cubicBezTo>
                  <a:cubicBezTo>
                    <a:pt x="0" y="16776"/>
                    <a:pt x="4919" y="21600"/>
                    <a:pt x="10836" y="21600"/>
                  </a:cubicBezTo>
                  <a:cubicBezTo>
                    <a:pt x="16824" y="21600"/>
                    <a:pt x="21600" y="16776"/>
                    <a:pt x="21600" y="10800"/>
                  </a:cubicBezTo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  <p:sp>
          <p:nvSpPr>
            <p:cNvPr id="43" name="Shape 2887">
              <a:extLst>
                <a:ext uri="{FF2B5EF4-FFF2-40B4-BE49-F238E27FC236}">
                  <a16:creationId xmlns:a16="http://schemas.microsoft.com/office/drawing/2014/main" id="{1B86E9EA-8B3C-F365-3956-4E54F1283166}"/>
                </a:ext>
              </a:extLst>
            </p:cNvPr>
            <p:cNvSpPr/>
            <p:nvPr/>
          </p:nvSpPr>
          <p:spPr>
            <a:xfrm>
              <a:off x="923439" y="7041624"/>
              <a:ext cx="448705" cy="421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5" h="21475" extrusionOk="0">
                  <a:moveTo>
                    <a:pt x="20136" y="16388"/>
                  </a:moveTo>
                  <a:cubicBezTo>
                    <a:pt x="19346" y="16639"/>
                    <a:pt x="18532" y="16213"/>
                    <a:pt x="18346" y="15436"/>
                  </a:cubicBezTo>
                  <a:lnTo>
                    <a:pt x="15672" y="5288"/>
                  </a:lnTo>
                  <a:lnTo>
                    <a:pt x="14324" y="5288"/>
                  </a:lnTo>
                  <a:lnTo>
                    <a:pt x="18625" y="21475"/>
                  </a:lnTo>
                  <a:lnTo>
                    <a:pt x="2582" y="21475"/>
                  </a:lnTo>
                  <a:lnTo>
                    <a:pt x="6883" y="5288"/>
                  </a:lnTo>
                  <a:lnTo>
                    <a:pt x="5558" y="5288"/>
                  </a:lnTo>
                  <a:lnTo>
                    <a:pt x="2884" y="15436"/>
                  </a:lnTo>
                  <a:cubicBezTo>
                    <a:pt x="2698" y="16213"/>
                    <a:pt x="1884" y="16639"/>
                    <a:pt x="1094" y="16388"/>
                  </a:cubicBezTo>
                  <a:cubicBezTo>
                    <a:pt x="280" y="16138"/>
                    <a:pt x="-185" y="15386"/>
                    <a:pt x="71" y="14434"/>
                  </a:cubicBezTo>
                  <a:lnTo>
                    <a:pt x="2838" y="4035"/>
                  </a:lnTo>
                  <a:cubicBezTo>
                    <a:pt x="3954" y="-125"/>
                    <a:pt x="7162" y="0"/>
                    <a:pt x="7162" y="0"/>
                  </a:cubicBezTo>
                  <a:lnTo>
                    <a:pt x="14044" y="0"/>
                  </a:lnTo>
                  <a:cubicBezTo>
                    <a:pt x="14044" y="0"/>
                    <a:pt x="17276" y="-125"/>
                    <a:pt x="18369" y="4035"/>
                  </a:cubicBezTo>
                  <a:lnTo>
                    <a:pt x="21136" y="14434"/>
                  </a:lnTo>
                  <a:cubicBezTo>
                    <a:pt x="21415" y="15436"/>
                    <a:pt x="20927" y="16138"/>
                    <a:pt x="20136" y="16388"/>
                  </a:cubicBezTo>
                  <a:close/>
                  <a:moveTo>
                    <a:pt x="10627" y="9297"/>
                  </a:moveTo>
                  <a:cubicBezTo>
                    <a:pt x="7744" y="9297"/>
                    <a:pt x="5418" y="11803"/>
                    <a:pt x="5418" y="14910"/>
                  </a:cubicBezTo>
                  <a:cubicBezTo>
                    <a:pt x="5418" y="18017"/>
                    <a:pt x="7744" y="20523"/>
                    <a:pt x="10627" y="20523"/>
                  </a:cubicBezTo>
                  <a:cubicBezTo>
                    <a:pt x="13510" y="20523"/>
                    <a:pt x="15835" y="18017"/>
                    <a:pt x="15835" y="14910"/>
                  </a:cubicBezTo>
                  <a:cubicBezTo>
                    <a:pt x="15835" y="11803"/>
                    <a:pt x="13486" y="9297"/>
                    <a:pt x="10627" y="9297"/>
                  </a:cubicBezTo>
                  <a:close/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  <p:sp>
          <p:nvSpPr>
            <p:cNvPr id="44" name="Shape 2889">
              <a:extLst>
                <a:ext uri="{FF2B5EF4-FFF2-40B4-BE49-F238E27FC236}">
                  <a16:creationId xmlns:a16="http://schemas.microsoft.com/office/drawing/2014/main" id="{419F28BF-416A-EE89-D76D-C78218779D86}"/>
                </a:ext>
              </a:extLst>
            </p:cNvPr>
            <p:cNvSpPr/>
            <p:nvPr/>
          </p:nvSpPr>
          <p:spPr>
            <a:xfrm>
              <a:off x="1066175" y="7281428"/>
              <a:ext cx="130913" cy="12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9" h="20528" extrusionOk="0">
                  <a:moveTo>
                    <a:pt x="19700" y="6752"/>
                  </a:moveTo>
                  <a:cubicBezTo>
                    <a:pt x="19542" y="6587"/>
                    <a:pt x="19303" y="6421"/>
                    <a:pt x="19065" y="6339"/>
                  </a:cubicBezTo>
                  <a:cubicBezTo>
                    <a:pt x="19065" y="6339"/>
                    <a:pt x="14300" y="4849"/>
                    <a:pt x="13030" y="4601"/>
                  </a:cubicBezTo>
                  <a:cubicBezTo>
                    <a:pt x="12553" y="3608"/>
                    <a:pt x="11203" y="959"/>
                    <a:pt x="11203" y="959"/>
                  </a:cubicBezTo>
                  <a:cubicBezTo>
                    <a:pt x="10727" y="132"/>
                    <a:pt x="9615" y="-282"/>
                    <a:pt x="8742" y="215"/>
                  </a:cubicBezTo>
                  <a:cubicBezTo>
                    <a:pt x="7868" y="711"/>
                    <a:pt x="7471" y="1870"/>
                    <a:pt x="7947" y="2780"/>
                  </a:cubicBezTo>
                  <a:lnTo>
                    <a:pt x="10171" y="7166"/>
                  </a:lnTo>
                  <a:cubicBezTo>
                    <a:pt x="10330" y="7663"/>
                    <a:pt x="10806" y="7994"/>
                    <a:pt x="11283" y="8159"/>
                  </a:cubicBezTo>
                  <a:lnTo>
                    <a:pt x="13506" y="8821"/>
                  </a:lnTo>
                  <a:lnTo>
                    <a:pt x="11044" y="14118"/>
                  </a:lnTo>
                  <a:lnTo>
                    <a:pt x="9377" y="10725"/>
                  </a:lnTo>
                  <a:cubicBezTo>
                    <a:pt x="8662" y="9566"/>
                    <a:pt x="6994" y="9235"/>
                    <a:pt x="5883" y="10063"/>
                  </a:cubicBezTo>
                  <a:cubicBezTo>
                    <a:pt x="5883" y="10063"/>
                    <a:pt x="2150" y="12711"/>
                    <a:pt x="800" y="13704"/>
                  </a:cubicBezTo>
                  <a:cubicBezTo>
                    <a:pt x="-73" y="14449"/>
                    <a:pt x="-232" y="15608"/>
                    <a:pt x="324" y="16518"/>
                  </a:cubicBezTo>
                  <a:cubicBezTo>
                    <a:pt x="1039" y="17428"/>
                    <a:pt x="2150" y="17594"/>
                    <a:pt x="3024" y="17015"/>
                  </a:cubicBezTo>
                  <a:cubicBezTo>
                    <a:pt x="3977" y="16352"/>
                    <a:pt x="6200" y="14863"/>
                    <a:pt x="7153" y="14118"/>
                  </a:cubicBezTo>
                  <a:cubicBezTo>
                    <a:pt x="7153" y="14118"/>
                    <a:pt x="7709" y="17097"/>
                    <a:pt x="8583" y="18173"/>
                  </a:cubicBezTo>
                  <a:cubicBezTo>
                    <a:pt x="9139" y="18918"/>
                    <a:pt x="9774" y="19580"/>
                    <a:pt x="10647" y="19994"/>
                  </a:cubicBezTo>
                  <a:cubicBezTo>
                    <a:pt x="13347" y="21318"/>
                    <a:pt x="16444" y="20077"/>
                    <a:pt x="17794" y="17428"/>
                  </a:cubicBezTo>
                  <a:cubicBezTo>
                    <a:pt x="18192" y="16435"/>
                    <a:pt x="20494" y="11552"/>
                    <a:pt x="20971" y="10559"/>
                  </a:cubicBezTo>
                  <a:cubicBezTo>
                    <a:pt x="21368" y="9152"/>
                    <a:pt x="20971" y="7580"/>
                    <a:pt x="19700" y="6752"/>
                  </a:cubicBezTo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</p:grpSp>
      <p:sp>
        <p:nvSpPr>
          <p:cNvPr id="45" name="Shape 2951">
            <a:extLst>
              <a:ext uri="{FF2B5EF4-FFF2-40B4-BE49-F238E27FC236}">
                <a16:creationId xmlns:a16="http://schemas.microsoft.com/office/drawing/2014/main" id="{28829028-BA34-09CD-9346-97896ED61490}"/>
              </a:ext>
            </a:extLst>
          </p:cNvPr>
          <p:cNvSpPr/>
          <p:nvPr/>
        </p:nvSpPr>
        <p:spPr>
          <a:xfrm>
            <a:off x="2694713" y="1772118"/>
            <a:ext cx="297469" cy="4102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12712" y="21600"/>
                </a:lnTo>
                <a:lnTo>
                  <a:pt x="12712" y="17381"/>
                </a:lnTo>
                <a:lnTo>
                  <a:pt x="8913" y="17381"/>
                </a:lnTo>
                <a:lnTo>
                  <a:pt x="8913" y="21600"/>
                </a:lnTo>
                <a:lnTo>
                  <a:pt x="0" y="21600"/>
                </a:lnTo>
                <a:lnTo>
                  <a:pt x="0" y="1454"/>
                </a:lnTo>
                <a:lnTo>
                  <a:pt x="5363" y="1454"/>
                </a:lnTo>
                <a:lnTo>
                  <a:pt x="5363" y="0"/>
                </a:lnTo>
                <a:lnTo>
                  <a:pt x="16262" y="0"/>
                </a:lnTo>
                <a:lnTo>
                  <a:pt x="16262" y="1454"/>
                </a:lnTo>
                <a:lnTo>
                  <a:pt x="21600" y="1454"/>
                </a:lnTo>
                <a:lnTo>
                  <a:pt x="21600" y="21600"/>
                </a:lnTo>
                <a:close/>
                <a:moveTo>
                  <a:pt x="7126" y="11725"/>
                </a:moveTo>
                <a:lnTo>
                  <a:pt x="3575" y="11725"/>
                </a:lnTo>
                <a:lnTo>
                  <a:pt x="3575" y="14292"/>
                </a:lnTo>
                <a:lnTo>
                  <a:pt x="7126" y="14292"/>
                </a:lnTo>
                <a:lnTo>
                  <a:pt x="7126" y="11725"/>
                </a:lnTo>
                <a:close/>
                <a:moveTo>
                  <a:pt x="7126" y="7882"/>
                </a:moveTo>
                <a:lnTo>
                  <a:pt x="3575" y="7882"/>
                </a:lnTo>
                <a:lnTo>
                  <a:pt x="3575" y="10450"/>
                </a:lnTo>
                <a:lnTo>
                  <a:pt x="7126" y="10450"/>
                </a:lnTo>
                <a:lnTo>
                  <a:pt x="7126" y="7882"/>
                </a:lnTo>
                <a:close/>
                <a:moveTo>
                  <a:pt x="7126" y="4040"/>
                </a:moveTo>
                <a:lnTo>
                  <a:pt x="3575" y="4040"/>
                </a:lnTo>
                <a:lnTo>
                  <a:pt x="3575" y="6607"/>
                </a:lnTo>
                <a:lnTo>
                  <a:pt x="7126" y="6607"/>
                </a:lnTo>
                <a:lnTo>
                  <a:pt x="7126" y="4040"/>
                </a:lnTo>
                <a:close/>
                <a:moveTo>
                  <a:pt x="12712" y="11725"/>
                </a:moveTo>
                <a:lnTo>
                  <a:pt x="8913" y="11725"/>
                </a:lnTo>
                <a:lnTo>
                  <a:pt x="8913" y="14292"/>
                </a:lnTo>
                <a:lnTo>
                  <a:pt x="12712" y="14292"/>
                </a:lnTo>
                <a:lnTo>
                  <a:pt x="12712" y="11725"/>
                </a:lnTo>
                <a:close/>
                <a:moveTo>
                  <a:pt x="12662" y="10450"/>
                </a:moveTo>
                <a:lnTo>
                  <a:pt x="12662" y="7882"/>
                </a:lnTo>
                <a:lnTo>
                  <a:pt x="8888" y="7882"/>
                </a:lnTo>
                <a:lnTo>
                  <a:pt x="8888" y="10450"/>
                </a:lnTo>
                <a:lnTo>
                  <a:pt x="12662" y="10450"/>
                </a:lnTo>
                <a:close/>
                <a:moveTo>
                  <a:pt x="12712" y="4040"/>
                </a:moveTo>
                <a:lnTo>
                  <a:pt x="8938" y="4040"/>
                </a:lnTo>
                <a:lnTo>
                  <a:pt x="8938" y="6607"/>
                </a:lnTo>
                <a:lnTo>
                  <a:pt x="12737" y="6607"/>
                </a:lnTo>
                <a:lnTo>
                  <a:pt x="12737" y="4040"/>
                </a:lnTo>
                <a:lnTo>
                  <a:pt x="12712" y="4040"/>
                </a:lnTo>
                <a:close/>
                <a:moveTo>
                  <a:pt x="18050" y="11725"/>
                </a:moveTo>
                <a:lnTo>
                  <a:pt x="14499" y="11725"/>
                </a:lnTo>
                <a:lnTo>
                  <a:pt x="14499" y="14292"/>
                </a:lnTo>
                <a:lnTo>
                  <a:pt x="18050" y="14292"/>
                </a:lnTo>
                <a:lnTo>
                  <a:pt x="18050" y="11725"/>
                </a:lnTo>
                <a:close/>
                <a:moveTo>
                  <a:pt x="18050" y="7882"/>
                </a:moveTo>
                <a:lnTo>
                  <a:pt x="14499" y="7882"/>
                </a:lnTo>
                <a:lnTo>
                  <a:pt x="14499" y="10450"/>
                </a:lnTo>
                <a:lnTo>
                  <a:pt x="18050" y="10450"/>
                </a:lnTo>
                <a:lnTo>
                  <a:pt x="18050" y="7882"/>
                </a:lnTo>
                <a:close/>
                <a:moveTo>
                  <a:pt x="18050" y="4040"/>
                </a:moveTo>
                <a:lnTo>
                  <a:pt x="14499" y="4040"/>
                </a:lnTo>
                <a:lnTo>
                  <a:pt x="14499" y="6607"/>
                </a:lnTo>
                <a:lnTo>
                  <a:pt x="18050" y="6607"/>
                </a:lnTo>
                <a:lnTo>
                  <a:pt x="18050" y="4040"/>
                </a:lnTo>
                <a:close/>
              </a:path>
            </a:pathLst>
          </a:custGeom>
          <a:solidFill>
            <a:srgbClr val="89CC40"/>
          </a:solidFill>
          <a:ln w="3175">
            <a:miter lim="400000"/>
          </a:ln>
        </p:spPr>
        <p:txBody>
          <a:bodyPr lIns="32146" rIns="32146" anchor="ctr"/>
          <a:lstStyle/>
          <a:p>
            <a:pPr defTabSz="321457">
              <a:lnSpc>
                <a:spcPct val="93000"/>
              </a:lnSpc>
              <a:defRPr sz="1800">
                <a:latin typeface="Arial"/>
                <a:ea typeface="Arial"/>
                <a:cs typeface="Arial"/>
                <a:sym typeface="Arial"/>
              </a:defRPr>
            </a:pPr>
            <a:endParaRPr sz="1266"/>
          </a:p>
        </p:txBody>
      </p:sp>
      <p:sp>
        <p:nvSpPr>
          <p:cNvPr id="46" name="Shape 2955">
            <a:extLst>
              <a:ext uri="{FF2B5EF4-FFF2-40B4-BE49-F238E27FC236}">
                <a16:creationId xmlns:a16="http://schemas.microsoft.com/office/drawing/2014/main" id="{63B9C7BB-8919-655E-6448-5E6D78B405B1}"/>
              </a:ext>
            </a:extLst>
          </p:cNvPr>
          <p:cNvSpPr/>
          <p:nvPr/>
        </p:nvSpPr>
        <p:spPr>
          <a:xfrm>
            <a:off x="3215892" y="1772118"/>
            <a:ext cx="426821" cy="4102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64" y="3304"/>
                </a:moveTo>
                <a:lnTo>
                  <a:pt x="10964" y="2119"/>
                </a:lnTo>
                <a:lnTo>
                  <a:pt x="12812" y="2119"/>
                </a:lnTo>
                <a:lnTo>
                  <a:pt x="12812" y="377"/>
                </a:lnTo>
                <a:lnTo>
                  <a:pt x="10947" y="377"/>
                </a:lnTo>
                <a:lnTo>
                  <a:pt x="10947" y="0"/>
                </a:lnTo>
                <a:lnTo>
                  <a:pt x="10619" y="0"/>
                </a:lnTo>
                <a:lnTo>
                  <a:pt x="10619" y="3304"/>
                </a:lnTo>
                <a:lnTo>
                  <a:pt x="6647" y="6679"/>
                </a:lnTo>
                <a:lnTo>
                  <a:pt x="14918" y="6679"/>
                </a:lnTo>
                <a:lnTo>
                  <a:pt x="10964" y="3304"/>
                </a:lnTo>
                <a:close/>
                <a:moveTo>
                  <a:pt x="21013" y="17560"/>
                </a:moveTo>
                <a:lnTo>
                  <a:pt x="21013" y="9139"/>
                </a:lnTo>
                <a:lnTo>
                  <a:pt x="14935" y="9139"/>
                </a:lnTo>
                <a:lnTo>
                  <a:pt x="14935" y="7038"/>
                </a:lnTo>
                <a:lnTo>
                  <a:pt x="6665" y="7038"/>
                </a:lnTo>
                <a:lnTo>
                  <a:pt x="6665" y="9139"/>
                </a:lnTo>
                <a:lnTo>
                  <a:pt x="587" y="9139"/>
                </a:lnTo>
                <a:lnTo>
                  <a:pt x="587" y="17560"/>
                </a:lnTo>
                <a:lnTo>
                  <a:pt x="0" y="17560"/>
                </a:lnTo>
                <a:lnTo>
                  <a:pt x="0" y="20361"/>
                </a:lnTo>
                <a:lnTo>
                  <a:pt x="6665" y="20361"/>
                </a:lnTo>
                <a:lnTo>
                  <a:pt x="6665" y="21600"/>
                </a:lnTo>
                <a:lnTo>
                  <a:pt x="14935" y="21600"/>
                </a:lnTo>
                <a:lnTo>
                  <a:pt x="14935" y="20361"/>
                </a:lnTo>
                <a:lnTo>
                  <a:pt x="21600" y="20361"/>
                </a:lnTo>
                <a:lnTo>
                  <a:pt x="21600" y="17560"/>
                </a:lnTo>
                <a:lnTo>
                  <a:pt x="21013" y="17560"/>
                </a:lnTo>
                <a:close/>
                <a:moveTo>
                  <a:pt x="2106" y="16842"/>
                </a:moveTo>
                <a:lnTo>
                  <a:pt x="1260" y="16842"/>
                </a:lnTo>
                <a:lnTo>
                  <a:pt x="1260" y="12802"/>
                </a:lnTo>
                <a:lnTo>
                  <a:pt x="2106" y="12802"/>
                </a:lnTo>
                <a:lnTo>
                  <a:pt x="2106" y="16842"/>
                </a:lnTo>
                <a:close/>
                <a:moveTo>
                  <a:pt x="2106" y="12120"/>
                </a:moveTo>
                <a:lnTo>
                  <a:pt x="1260" y="12120"/>
                </a:lnTo>
                <a:lnTo>
                  <a:pt x="1260" y="11258"/>
                </a:lnTo>
                <a:lnTo>
                  <a:pt x="2106" y="11258"/>
                </a:lnTo>
                <a:lnTo>
                  <a:pt x="2106" y="12120"/>
                </a:lnTo>
                <a:close/>
                <a:moveTo>
                  <a:pt x="3609" y="16842"/>
                </a:moveTo>
                <a:lnTo>
                  <a:pt x="2780" y="16842"/>
                </a:lnTo>
                <a:lnTo>
                  <a:pt x="2780" y="12802"/>
                </a:lnTo>
                <a:lnTo>
                  <a:pt x="3609" y="12802"/>
                </a:lnTo>
                <a:lnTo>
                  <a:pt x="3609" y="16842"/>
                </a:lnTo>
                <a:close/>
                <a:moveTo>
                  <a:pt x="3609" y="12120"/>
                </a:moveTo>
                <a:lnTo>
                  <a:pt x="2780" y="12120"/>
                </a:lnTo>
                <a:lnTo>
                  <a:pt x="2780" y="11258"/>
                </a:lnTo>
                <a:lnTo>
                  <a:pt x="3609" y="11258"/>
                </a:lnTo>
                <a:lnTo>
                  <a:pt x="3609" y="12120"/>
                </a:lnTo>
                <a:close/>
                <a:moveTo>
                  <a:pt x="5128" y="16842"/>
                </a:moveTo>
                <a:lnTo>
                  <a:pt x="4299" y="16842"/>
                </a:lnTo>
                <a:lnTo>
                  <a:pt x="4299" y="12802"/>
                </a:lnTo>
                <a:lnTo>
                  <a:pt x="5128" y="12802"/>
                </a:lnTo>
                <a:lnTo>
                  <a:pt x="5128" y="16842"/>
                </a:lnTo>
                <a:close/>
                <a:moveTo>
                  <a:pt x="5128" y="12120"/>
                </a:moveTo>
                <a:lnTo>
                  <a:pt x="4299" y="12120"/>
                </a:lnTo>
                <a:lnTo>
                  <a:pt x="4299" y="11258"/>
                </a:lnTo>
                <a:lnTo>
                  <a:pt x="5128" y="11258"/>
                </a:lnTo>
                <a:lnTo>
                  <a:pt x="5128" y="12120"/>
                </a:lnTo>
                <a:close/>
                <a:moveTo>
                  <a:pt x="6647" y="16842"/>
                </a:moveTo>
                <a:lnTo>
                  <a:pt x="5819" y="16842"/>
                </a:lnTo>
                <a:lnTo>
                  <a:pt x="5819" y="12802"/>
                </a:lnTo>
                <a:lnTo>
                  <a:pt x="6647" y="12802"/>
                </a:lnTo>
                <a:lnTo>
                  <a:pt x="6647" y="16842"/>
                </a:lnTo>
                <a:close/>
                <a:moveTo>
                  <a:pt x="6647" y="12120"/>
                </a:moveTo>
                <a:lnTo>
                  <a:pt x="5819" y="12120"/>
                </a:lnTo>
                <a:lnTo>
                  <a:pt x="5819" y="11258"/>
                </a:lnTo>
                <a:lnTo>
                  <a:pt x="6647" y="11258"/>
                </a:lnTo>
                <a:lnTo>
                  <a:pt x="6647" y="12120"/>
                </a:lnTo>
                <a:close/>
                <a:moveTo>
                  <a:pt x="12570" y="9139"/>
                </a:moveTo>
                <a:lnTo>
                  <a:pt x="13744" y="9139"/>
                </a:lnTo>
                <a:lnTo>
                  <a:pt x="13744" y="18278"/>
                </a:lnTo>
                <a:lnTo>
                  <a:pt x="12570" y="18278"/>
                </a:lnTo>
                <a:lnTo>
                  <a:pt x="12570" y="9139"/>
                </a:lnTo>
                <a:close/>
                <a:moveTo>
                  <a:pt x="10204" y="9139"/>
                </a:moveTo>
                <a:lnTo>
                  <a:pt x="11378" y="9139"/>
                </a:lnTo>
                <a:lnTo>
                  <a:pt x="11378" y="18278"/>
                </a:lnTo>
                <a:lnTo>
                  <a:pt x="10204" y="18278"/>
                </a:lnTo>
                <a:lnTo>
                  <a:pt x="10204" y="9139"/>
                </a:lnTo>
                <a:close/>
                <a:moveTo>
                  <a:pt x="7822" y="9139"/>
                </a:moveTo>
                <a:lnTo>
                  <a:pt x="9013" y="9139"/>
                </a:lnTo>
                <a:lnTo>
                  <a:pt x="9013" y="18278"/>
                </a:lnTo>
                <a:lnTo>
                  <a:pt x="7822" y="18278"/>
                </a:lnTo>
                <a:lnTo>
                  <a:pt x="7822" y="9139"/>
                </a:lnTo>
                <a:close/>
                <a:moveTo>
                  <a:pt x="14365" y="21079"/>
                </a:moveTo>
                <a:lnTo>
                  <a:pt x="7200" y="21079"/>
                </a:lnTo>
                <a:lnTo>
                  <a:pt x="7200" y="20792"/>
                </a:lnTo>
                <a:lnTo>
                  <a:pt x="14348" y="20792"/>
                </a:lnTo>
                <a:cubicBezTo>
                  <a:pt x="14365" y="20774"/>
                  <a:pt x="14365" y="21079"/>
                  <a:pt x="14365" y="21079"/>
                </a:cubicBezTo>
                <a:close/>
                <a:moveTo>
                  <a:pt x="14365" y="20325"/>
                </a:moveTo>
                <a:lnTo>
                  <a:pt x="7200" y="20325"/>
                </a:lnTo>
                <a:lnTo>
                  <a:pt x="7200" y="20038"/>
                </a:lnTo>
                <a:lnTo>
                  <a:pt x="14348" y="20038"/>
                </a:lnTo>
                <a:cubicBezTo>
                  <a:pt x="14365" y="20038"/>
                  <a:pt x="14365" y="20325"/>
                  <a:pt x="14365" y="20325"/>
                </a:cubicBezTo>
                <a:close/>
                <a:moveTo>
                  <a:pt x="15764" y="16842"/>
                </a:moveTo>
                <a:lnTo>
                  <a:pt x="14935" y="16842"/>
                </a:lnTo>
                <a:lnTo>
                  <a:pt x="14935" y="12802"/>
                </a:lnTo>
                <a:lnTo>
                  <a:pt x="15764" y="12802"/>
                </a:lnTo>
                <a:lnTo>
                  <a:pt x="15764" y="16842"/>
                </a:lnTo>
                <a:close/>
                <a:moveTo>
                  <a:pt x="15764" y="12120"/>
                </a:moveTo>
                <a:lnTo>
                  <a:pt x="14935" y="12120"/>
                </a:lnTo>
                <a:lnTo>
                  <a:pt x="14935" y="11258"/>
                </a:lnTo>
                <a:lnTo>
                  <a:pt x="15764" y="11258"/>
                </a:lnTo>
                <a:lnTo>
                  <a:pt x="15764" y="12120"/>
                </a:lnTo>
                <a:close/>
                <a:moveTo>
                  <a:pt x="17283" y="16842"/>
                </a:moveTo>
                <a:lnTo>
                  <a:pt x="16455" y="16842"/>
                </a:lnTo>
                <a:lnTo>
                  <a:pt x="16455" y="12802"/>
                </a:lnTo>
                <a:lnTo>
                  <a:pt x="17283" y="12802"/>
                </a:lnTo>
                <a:lnTo>
                  <a:pt x="17283" y="16842"/>
                </a:lnTo>
                <a:close/>
                <a:moveTo>
                  <a:pt x="17283" y="12120"/>
                </a:moveTo>
                <a:lnTo>
                  <a:pt x="16455" y="12120"/>
                </a:lnTo>
                <a:lnTo>
                  <a:pt x="16455" y="11258"/>
                </a:lnTo>
                <a:lnTo>
                  <a:pt x="17283" y="11258"/>
                </a:lnTo>
                <a:lnTo>
                  <a:pt x="17283" y="12120"/>
                </a:lnTo>
                <a:close/>
                <a:moveTo>
                  <a:pt x="18820" y="16842"/>
                </a:moveTo>
                <a:lnTo>
                  <a:pt x="17991" y="16842"/>
                </a:lnTo>
                <a:lnTo>
                  <a:pt x="17991" y="12802"/>
                </a:lnTo>
                <a:lnTo>
                  <a:pt x="18820" y="12802"/>
                </a:lnTo>
                <a:lnTo>
                  <a:pt x="18820" y="16842"/>
                </a:lnTo>
                <a:close/>
                <a:moveTo>
                  <a:pt x="18820" y="12120"/>
                </a:moveTo>
                <a:lnTo>
                  <a:pt x="17991" y="12120"/>
                </a:lnTo>
                <a:lnTo>
                  <a:pt x="17991" y="11258"/>
                </a:lnTo>
                <a:lnTo>
                  <a:pt x="18820" y="11258"/>
                </a:lnTo>
                <a:lnTo>
                  <a:pt x="18820" y="12120"/>
                </a:lnTo>
                <a:close/>
                <a:moveTo>
                  <a:pt x="20322" y="16842"/>
                </a:moveTo>
                <a:lnTo>
                  <a:pt x="19494" y="16842"/>
                </a:lnTo>
                <a:lnTo>
                  <a:pt x="19494" y="12802"/>
                </a:lnTo>
                <a:lnTo>
                  <a:pt x="20322" y="12802"/>
                </a:lnTo>
                <a:lnTo>
                  <a:pt x="20322" y="16842"/>
                </a:lnTo>
                <a:close/>
                <a:moveTo>
                  <a:pt x="20322" y="12120"/>
                </a:moveTo>
                <a:lnTo>
                  <a:pt x="19494" y="12120"/>
                </a:lnTo>
                <a:lnTo>
                  <a:pt x="19494" y="11258"/>
                </a:lnTo>
                <a:lnTo>
                  <a:pt x="20322" y="11258"/>
                </a:lnTo>
                <a:lnTo>
                  <a:pt x="20322" y="12120"/>
                </a:lnTo>
                <a:close/>
              </a:path>
            </a:pathLst>
          </a:custGeom>
          <a:solidFill>
            <a:srgbClr val="89CC40"/>
          </a:solidFill>
          <a:ln w="3175">
            <a:miter lim="400000"/>
          </a:ln>
        </p:spPr>
        <p:txBody>
          <a:bodyPr lIns="32146" rIns="32146" anchor="ctr"/>
          <a:lstStyle/>
          <a:p>
            <a:pPr defTabSz="321457">
              <a:lnSpc>
                <a:spcPct val="93000"/>
              </a:lnSpc>
              <a:defRPr sz="1800">
                <a:latin typeface="Arial"/>
                <a:ea typeface="Arial"/>
                <a:cs typeface="Arial"/>
                <a:sym typeface="Arial"/>
              </a:defRPr>
            </a:pPr>
            <a:endParaRPr sz="1266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7618498-1E62-17C5-21EF-7C239C5C3B80}"/>
              </a:ext>
            </a:extLst>
          </p:cNvPr>
          <p:cNvGrpSpPr/>
          <p:nvPr/>
        </p:nvGrpSpPr>
        <p:grpSpPr>
          <a:xfrm>
            <a:off x="5811168" y="5213301"/>
            <a:ext cx="502586" cy="416590"/>
            <a:chOff x="7024869" y="3693226"/>
            <a:chExt cx="714789" cy="592484"/>
          </a:xfrm>
          <a:solidFill>
            <a:srgbClr val="89CC40"/>
          </a:solidFill>
        </p:grpSpPr>
        <p:sp>
          <p:nvSpPr>
            <p:cNvPr id="48" name="Shape 2901">
              <a:extLst>
                <a:ext uri="{FF2B5EF4-FFF2-40B4-BE49-F238E27FC236}">
                  <a16:creationId xmlns:a16="http://schemas.microsoft.com/office/drawing/2014/main" id="{05125B84-7BE3-087E-1772-4DACCAC4ED25}"/>
                </a:ext>
              </a:extLst>
            </p:cNvPr>
            <p:cNvSpPr/>
            <p:nvPr/>
          </p:nvSpPr>
          <p:spPr>
            <a:xfrm>
              <a:off x="7415631" y="3693226"/>
              <a:ext cx="115218" cy="117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1" h="21297" extrusionOk="0">
                  <a:moveTo>
                    <a:pt x="18143" y="3162"/>
                  </a:moveTo>
                  <a:cubicBezTo>
                    <a:pt x="19589" y="4512"/>
                    <a:pt x="20402" y="6042"/>
                    <a:pt x="20945" y="7932"/>
                  </a:cubicBezTo>
                  <a:cubicBezTo>
                    <a:pt x="21487" y="9822"/>
                    <a:pt x="21487" y="11532"/>
                    <a:pt x="20945" y="13422"/>
                  </a:cubicBezTo>
                  <a:cubicBezTo>
                    <a:pt x="20402" y="15312"/>
                    <a:pt x="19589" y="16752"/>
                    <a:pt x="18143" y="18192"/>
                  </a:cubicBezTo>
                  <a:cubicBezTo>
                    <a:pt x="16787" y="19542"/>
                    <a:pt x="15341" y="20352"/>
                    <a:pt x="13443" y="20892"/>
                  </a:cubicBezTo>
                  <a:cubicBezTo>
                    <a:pt x="11546" y="21432"/>
                    <a:pt x="9828" y="21432"/>
                    <a:pt x="7931" y="20892"/>
                  </a:cubicBezTo>
                  <a:cubicBezTo>
                    <a:pt x="6033" y="20352"/>
                    <a:pt x="4587" y="19542"/>
                    <a:pt x="3141" y="18192"/>
                  </a:cubicBezTo>
                  <a:cubicBezTo>
                    <a:pt x="1785" y="16752"/>
                    <a:pt x="881" y="15312"/>
                    <a:pt x="339" y="13422"/>
                  </a:cubicBezTo>
                  <a:cubicBezTo>
                    <a:pt x="-113" y="11532"/>
                    <a:pt x="-113" y="9822"/>
                    <a:pt x="339" y="7932"/>
                  </a:cubicBezTo>
                  <a:cubicBezTo>
                    <a:pt x="881" y="6042"/>
                    <a:pt x="1785" y="4512"/>
                    <a:pt x="3141" y="3162"/>
                  </a:cubicBezTo>
                  <a:cubicBezTo>
                    <a:pt x="4587" y="1812"/>
                    <a:pt x="6033" y="822"/>
                    <a:pt x="7931" y="372"/>
                  </a:cubicBezTo>
                  <a:cubicBezTo>
                    <a:pt x="9828" y="-168"/>
                    <a:pt x="11546" y="-78"/>
                    <a:pt x="13443" y="372"/>
                  </a:cubicBezTo>
                  <a:cubicBezTo>
                    <a:pt x="15341" y="912"/>
                    <a:pt x="16787" y="1812"/>
                    <a:pt x="18143" y="3162"/>
                  </a:cubicBezTo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  <p:sp>
          <p:nvSpPr>
            <p:cNvPr id="49" name="Shape 2902">
              <a:extLst>
                <a:ext uri="{FF2B5EF4-FFF2-40B4-BE49-F238E27FC236}">
                  <a16:creationId xmlns:a16="http://schemas.microsoft.com/office/drawing/2014/main" id="{FAD42406-3617-AB2D-4795-EF0A017BB062}"/>
                </a:ext>
              </a:extLst>
            </p:cNvPr>
            <p:cNvSpPr/>
            <p:nvPr/>
          </p:nvSpPr>
          <p:spPr>
            <a:xfrm>
              <a:off x="7231693" y="3693226"/>
              <a:ext cx="114917" cy="117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6" h="21297" extrusionOk="0">
                  <a:moveTo>
                    <a:pt x="18177" y="3162"/>
                  </a:moveTo>
                  <a:cubicBezTo>
                    <a:pt x="19533" y="4512"/>
                    <a:pt x="20437" y="6042"/>
                    <a:pt x="20889" y="7932"/>
                  </a:cubicBezTo>
                  <a:cubicBezTo>
                    <a:pt x="21431" y="9822"/>
                    <a:pt x="21431" y="11532"/>
                    <a:pt x="20889" y="13422"/>
                  </a:cubicBezTo>
                  <a:cubicBezTo>
                    <a:pt x="20437" y="15312"/>
                    <a:pt x="19533" y="16752"/>
                    <a:pt x="18177" y="18192"/>
                  </a:cubicBezTo>
                  <a:cubicBezTo>
                    <a:pt x="16822" y="19542"/>
                    <a:pt x="15285" y="20352"/>
                    <a:pt x="13387" y="20892"/>
                  </a:cubicBezTo>
                  <a:cubicBezTo>
                    <a:pt x="11490" y="21432"/>
                    <a:pt x="9772" y="21432"/>
                    <a:pt x="7875" y="20892"/>
                  </a:cubicBezTo>
                  <a:cubicBezTo>
                    <a:pt x="5977" y="20352"/>
                    <a:pt x="4531" y="19542"/>
                    <a:pt x="3085" y="18192"/>
                  </a:cubicBezTo>
                  <a:cubicBezTo>
                    <a:pt x="1729" y="16752"/>
                    <a:pt x="916" y="15312"/>
                    <a:pt x="373" y="13422"/>
                  </a:cubicBezTo>
                  <a:cubicBezTo>
                    <a:pt x="-79" y="11532"/>
                    <a:pt x="-169" y="9822"/>
                    <a:pt x="373" y="7932"/>
                  </a:cubicBezTo>
                  <a:cubicBezTo>
                    <a:pt x="825" y="6042"/>
                    <a:pt x="1729" y="4512"/>
                    <a:pt x="3085" y="3162"/>
                  </a:cubicBezTo>
                  <a:cubicBezTo>
                    <a:pt x="4531" y="1812"/>
                    <a:pt x="5977" y="822"/>
                    <a:pt x="7875" y="372"/>
                  </a:cubicBezTo>
                  <a:cubicBezTo>
                    <a:pt x="9772" y="-168"/>
                    <a:pt x="11490" y="-78"/>
                    <a:pt x="13387" y="372"/>
                  </a:cubicBezTo>
                  <a:cubicBezTo>
                    <a:pt x="15285" y="912"/>
                    <a:pt x="16822" y="1812"/>
                    <a:pt x="18177" y="3162"/>
                  </a:cubicBezTo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  <p:sp>
          <p:nvSpPr>
            <p:cNvPr id="50" name="Shape 2903">
              <a:extLst>
                <a:ext uri="{FF2B5EF4-FFF2-40B4-BE49-F238E27FC236}">
                  <a16:creationId xmlns:a16="http://schemas.microsoft.com/office/drawing/2014/main" id="{830CF348-208F-8A11-EB70-967A299DDA12}"/>
                </a:ext>
              </a:extLst>
            </p:cNvPr>
            <p:cNvSpPr/>
            <p:nvPr/>
          </p:nvSpPr>
          <p:spPr>
            <a:xfrm>
              <a:off x="7024869" y="3778849"/>
              <a:ext cx="714789" cy="5068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3" extrusionOk="0">
                  <a:moveTo>
                    <a:pt x="401" y="5893"/>
                  </a:moveTo>
                  <a:lnTo>
                    <a:pt x="4237" y="530"/>
                  </a:lnTo>
                  <a:cubicBezTo>
                    <a:pt x="4757" y="-177"/>
                    <a:pt x="5604" y="-177"/>
                    <a:pt x="6095" y="530"/>
                  </a:cubicBezTo>
                  <a:cubicBezTo>
                    <a:pt x="6214" y="675"/>
                    <a:pt x="6600" y="1237"/>
                    <a:pt x="6704" y="1382"/>
                  </a:cubicBezTo>
                  <a:cubicBezTo>
                    <a:pt x="6838" y="1549"/>
                    <a:pt x="6927" y="1777"/>
                    <a:pt x="7002" y="1985"/>
                  </a:cubicBezTo>
                  <a:lnTo>
                    <a:pt x="8087" y="6143"/>
                  </a:lnTo>
                  <a:lnTo>
                    <a:pt x="10807" y="7910"/>
                  </a:lnTo>
                  <a:lnTo>
                    <a:pt x="13528" y="6143"/>
                  </a:lnTo>
                  <a:lnTo>
                    <a:pt x="14613" y="1985"/>
                  </a:lnTo>
                  <a:cubicBezTo>
                    <a:pt x="14687" y="1756"/>
                    <a:pt x="14777" y="1549"/>
                    <a:pt x="14896" y="1382"/>
                  </a:cubicBezTo>
                  <a:cubicBezTo>
                    <a:pt x="15000" y="1237"/>
                    <a:pt x="15401" y="675"/>
                    <a:pt x="15505" y="530"/>
                  </a:cubicBezTo>
                  <a:cubicBezTo>
                    <a:pt x="16010" y="-177"/>
                    <a:pt x="16828" y="-177"/>
                    <a:pt x="17363" y="530"/>
                  </a:cubicBezTo>
                  <a:lnTo>
                    <a:pt x="21213" y="5893"/>
                  </a:lnTo>
                  <a:cubicBezTo>
                    <a:pt x="21481" y="6288"/>
                    <a:pt x="21600" y="6725"/>
                    <a:pt x="21600" y="7224"/>
                  </a:cubicBezTo>
                  <a:lnTo>
                    <a:pt x="21600" y="19905"/>
                  </a:lnTo>
                  <a:cubicBezTo>
                    <a:pt x="21600" y="20758"/>
                    <a:pt x="21124" y="21423"/>
                    <a:pt x="20515" y="21423"/>
                  </a:cubicBezTo>
                  <a:cubicBezTo>
                    <a:pt x="19905" y="21423"/>
                    <a:pt x="19415" y="20758"/>
                    <a:pt x="19415" y="19905"/>
                  </a:cubicBezTo>
                  <a:lnTo>
                    <a:pt x="19415" y="9843"/>
                  </a:lnTo>
                  <a:cubicBezTo>
                    <a:pt x="19192" y="9802"/>
                    <a:pt x="18939" y="9594"/>
                    <a:pt x="18746" y="9344"/>
                  </a:cubicBezTo>
                  <a:lnTo>
                    <a:pt x="15490" y="4812"/>
                  </a:lnTo>
                  <a:lnTo>
                    <a:pt x="14821" y="7307"/>
                  </a:lnTo>
                  <a:cubicBezTo>
                    <a:pt x="14762" y="7577"/>
                    <a:pt x="14613" y="7806"/>
                    <a:pt x="14435" y="7910"/>
                  </a:cubicBezTo>
                  <a:lnTo>
                    <a:pt x="11268" y="9989"/>
                  </a:lnTo>
                  <a:cubicBezTo>
                    <a:pt x="11105" y="10072"/>
                    <a:pt x="10941" y="10114"/>
                    <a:pt x="10807" y="10051"/>
                  </a:cubicBezTo>
                  <a:cubicBezTo>
                    <a:pt x="10644" y="10114"/>
                    <a:pt x="10480" y="10072"/>
                    <a:pt x="10332" y="9989"/>
                  </a:cubicBezTo>
                  <a:lnTo>
                    <a:pt x="7180" y="7910"/>
                  </a:lnTo>
                  <a:cubicBezTo>
                    <a:pt x="7002" y="7785"/>
                    <a:pt x="6853" y="7577"/>
                    <a:pt x="6779" y="7307"/>
                  </a:cubicBezTo>
                  <a:lnTo>
                    <a:pt x="6125" y="4812"/>
                  </a:lnTo>
                  <a:lnTo>
                    <a:pt x="2869" y="9344"/>
                  </a:lnTo>
                  <a:cubicBezTo>
                    <a:pt x="2676" y="9594"/>
                    <a:pt x="2438" y="9781"/>
                    <a:pt x="2185" y="9843"/>
                  </a:cubicBezTo>
                  <a:lnTo>
                    <a:pt x="2185" y="19885"/>
                  </a:lnTo>
                  <a:cubicBezTo>
                    <a:pt x="2185" y="20737"/>
                    <a:pt x="1710" y="21402"/>
                    <a:pt x="1100" y="21402"/>
                  </a:cubicBezTo>
                  <a:cubicBezTo>
                    <a:pt x="491" y="21402"/>
                    <a:pt x="0" y="20737"/>
                    <a:pt x="0" y="19885"/>
                  </a:cubicBezTo>
                  <a:lnTo>
                    <a:pt x="0" y="7203"/>
                  </a:lnTo>
                  <a:cubicBezTo>
                    <a:pt x="0" y="6725"/>
                    <a:pt x="134" y="6247"/>
                    <a:pt x="401" y="5893"/>
                  </a:cubicBezTo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</p:grpSp>
      <p:sp>
        <p:nvSpPr>
          <p:cNvPr id="51" name="Shape 871">
            <a:extLst>
              <a:ext uri="{FF2B5EF4-FFF2-40B4-BE49-F238E27FC236}">
                <a16:creationId xmlns:a16="http://schemas.microsoft.com/office/drawing/2014/main" id="{69B93C05-AE7B-49BA-C9E2-E9BAC7883850}"/>
              </a:ext>
            </a:extLst>
          </p:cNvPr>
          <p:cNvSpPr/>
          <p:nvPr/>
        </p:nvSpPr>
        <p:spPr>
          <a:xfrm>
            <a:off x="5178638" y="2876390"/>
            <a:ext cx="2158063" cy="96879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algn="ctr" defTabSz="414923">
              <a:tabLst>
                <a:tab pos="651844" algn="l"/>
              </a:tabLst>
              <a:defRPr sz="5000"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n-US" sz="3164" b="1" dirty="0">
                <a:solidFill>
                  <a:srgbClr val="0066CC"/>
                </a:solidFill>
              </a:rPr>
              <a:t>Ethical Guidelines</a:t>
            </a:r>
          </a:p>
          <a:p>
            <a:pPr algn="ctr" defTabSz="414923">
              <a:lnSpc>
                <a:spcPct val="112000"/>
              </a:lnSpc>
              <a:tabLst>
                <a:tab pos="651844" algn="l"/>
              </a:tabLst>
              <a:defRPr sz="5000"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sz="3516" b="1" dirty="0">
              <a:solidFill>
                <a:srgbClr val="0066CC"/>
              </a:solidFill>
            </a:endParaRPr>
          </a:p>
        </p:txBody>
      </p:sp>
      <p:sp>
        <p:nvSpPr>
          <p:cNvPr id="52" name="Shape 871">
            <a:extLst>
              <a:ext uri="{FF2B5EF4-FFF2-40B4-BE49-F238E27FC236}">
                <a16:creationId xmlns:a16="http://schemas.microsoft.com/office/drawing/2014/main" id="{99618D2F-8D02-B576-75F6-EC15D37B3C49}"/>
              </a:ext>
            </a:extLst>
          </p:cNvPr>
          <p:cNvSpPr/>
          <p:nvPr/>
        </p:nvSpPr>
        <p:spPr>
          <a:xfrm>
            <a:off x="5597908" y="3892433"/>
            <a:ext cx="1691311" cy="69207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defTabSz="414923">
              <a:lnSpc>
                <a:spcPct val="112000"/>
              </a:lnSpc>
              <a:tabLst>
                <a:tab pos="651844" algn="l"/>
              </a:tabLst>
              <a:defRPr sz="5000"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n-US" sz="1758" b="1" dirty="0">
                <a:solidFill>
                  <a:srgbClr val="0066CC"/>
                </a:solidFill>
                <a:sym typeface="Roboto Black"/>
              </a:rPr>
              <a:t>8 principles </a:t>
            </a:r>
          </a:p>
          <a:p>
            <a:pPr defTabSz="414923">
              <a:lnSpc>
                <a:spcPct val="112000"/>
              </a:lnSpc>
              <a:tabLst>
                <a:tab pos="651844" algn="l"/>
              </a:tabLst>
              <a:defRPr sz="5000"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rPr lang="en-US" sz="1758" b="1" dirty="0">
                <a:solidFill>
                  <a:srgbClr val="0066CC"/>
                </a:solidFill>
                <a:sym typeface="Roboto Black"/>
              </a:rPr>
              <a:t>52 elements</a:t>
            </a:r>
            <a:endParaRPr lang="en-US" sz="1758" b="1" dirty="0">
              <a:solidFill>
                <a:srgbClr val="0066CC"/>
              </a:solidFill>
            </a:endParaRPr>
          </a:p>
          <a:p>
            <a:pPr defTabSz="414923">
              <a:lnSpc>
                <a:spcPct val="112000"/>
              </a:lnSpc>
              <a:tabLst>
                <a:tab pos="651844" algn="l"/>
              </a:tabLst>
              <a:defRPr sz="5000"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Roboto Black"/>
                <a:ea typeface="Roboto Black"/>
                <a:cs typeface="Roboto Black"/>
                <a:sym typeface="Roboto Black"/>
              </a:defRPr>
            </a:pPr>
            <a:endParaRPr sz="3516" b="1" dirty="0">
              <a:solidFill>
                <a:srgbClr val="0066CC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526BF4-E5D1-C2A9-7DC7-0896B4B4BDC2}"/>
              </a:ext>
            </a:extLst>
          </p:cNvPr>
          <p:cNvSpPr txBox="1"/>
          <p:nvPr/>
        </p:nvSpPr>
        <p:spPr>
          <a:xfrm>
            <a:off x="440623" y="287369"/>
            <a:ext cx="369575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0066CC"/>
                </a:solidFill>
                <a:latin typeface="Roboto Black"/>
                <a:ea typeface="Roboto Black"/>
              </a:rPr>
              <a:t>2016 / 2018 Guidelines</a:t>
            </a:r>
          </a:p>
        </p:txBody>
      </p:sp>
    </p:spTree>
    <p:extLst>
      <p:ext uri="{BB962C8B-B14F-4D97-AF65-F5344CB8AC3E}">
        <p14:creationId xmlns:p14="http://schemas.microsoft.com/office/powerpoint/2010/main" val="4022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53B0C0D-46AF-2DB7-60E0-8FD81CD9B440}"/>
              </a:ext>
            </a:extLst>
          </p:cNvPr>
          <p:cNvGrpSpPr/>
          <p:nvPr/>
        </p:nvGrpSpPr>
        <p:grpSpPr>
          <a:xfrm>
            <a:off x="1756948" y="237379"/>
            <a:ext cx="9855761" cy="5640594"/>
            <a:chOff x="1949460" y="613133"/>
            <a:chExt cx="9855761" cy="5833587"/>
          </a:xfrm>
        </p:grpSpPr>
        <p:pic>
          <p:nvPicPr>
            <p:cNvPr id="12" name="Picture 2" descr="Image result for american statistical association logo">
              <a:extLst>
                <a:ext uri="{FF2B5EF4-FFF2-40B4-BE49-F238E27FC236}">
                  <a16:creationId xmlns:a16="http://schemas.microsoft.com/office/drawing/2014/main" id="{FF81BE60-948C-F2D1-A062-61A575C62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8871" y="2304238"/>
              <a:ext cx="1520949" cy="71514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Shape 855">
              <a:extLst>
                <a:ext uri="{FF2B5EF4-FFF2-40B4-BE49-F238E27FC236}">
                  <a16:creationId xmlns:a16="http://schemas.microsoft.com/office/drawing/2014/main" id="{6EFF9608-F157-DF79-D625-A33FB4CD46C5}"/>
                </a:ext>
              </a:extLst>
            </p:cNvPr>
            <p:cNvSpPr/>
            <p:nvPr/>
          </p:nvSpPr>
          <p:spPr>
            <a:xfrm>
              <a:off x="6756842" y="2002276"/>
              <a:ext cx="2140404" cy="358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08" y="21106"/>
                  </a:moveTo>
                  <a:cubicBezTo>
                    <a:pt x="5850" y="10121"/>
                    <a:pt x="3055" y="2864"/>
                    <a:pt x="0" y="1061"/>
                  </a:cubicBezTo>
                  <a:lnTo>
                    <a:pt x="0" y="0"/>
                  </a:lnTo>
                  <a:cubicBezTo>
                    <a:pt x="2997" y="1679"/>
                    <a:pt x="5805" y="8566"/>
                    <a:pt x="8145" y="19921"/>
                  </a:cubicBezTo>
                  <a:lnTo>
                    <a:pt x="11374" y="642"/>
                  </a:lnTo>
                  <a:lnTo>
                    <a:pt x="11374" y="420"/>
                  </a:lnTo>
                  <a:lnTo>
                    <a:pt x="21600" y="420"/>
                  </a:lnTo>
                  <a:lnTo>
                    <a:pt x="21600" y="1827"/>
                  </a:lnTo>
                  <a:lnTo>
                    <a:pt x="11502" y="1827"/>
                  </a:lnTo>
                  <a:lnTo>
                    <a:pt x="8191" y="21600"/>
                  </a:lnTo>
                  <a:lnTo>
                    <a:pt x="8108" y="21106"/>
                  </a:lnTo>
                </a:path>
              </a:pathLst>
            </a:custGeom>
            <a:solidFill>
              <a:srgbClr val="0066FF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14" name="Shape 856">
              <a:extLst>
                <a:ext uri="{FF2B5EF4-FFF2-40B4-BE49-F238E27FC236}">
                  <a16:creationId xmlns:a16="http://schemas.microsoft.com/office/drawing/2014/main" id="{A33DEA6D-062F-BE05-7F85-FE7401C00B7A}"/>
                </a:ext>
              </a:extLst>
            </p:cNvPr>
            <p:cNvSpPr/>
            <p:nvPr/>
          </p:nvSpPr>
          <p:spPr>
            <a:xfrm>
              <a:off x="4318444" y="4679529"/>
              <a:ext cx="2140404" cy="358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492" y="494"/>
                  </a:moveTo>
                  <a:cubicBezTo>
                    <a:pt x="15754" y="11479"/>
                    <a:pt x="18549" y="18736"/>
                    <a:pt x="21600" y="20539"/>
                  </a:cubicBezTo>
                  <a:lnTo>
                    <a:pt x="21600" y="21600"/>
                  </a:lnTo>
                  <a:cubicBezTo>
                    <a:pt x="18607" y="19921"/>
                    <a:pt x="15800" y="13034"/>
                    <a:pt x="13459" y="1679"/>
                  </a:cubicBezTo>
                  <a:lnTo>
                    <a:pt x="10230" y="20958"/>
                  </a:lnTo>
                  <a:lnTo>
                    <a:pt x="10230" y="21180"/>
                  </a:lnTo>
                  <a:lnTo>
                    <a:pt x="0" y="21180"/>
                  </a:lnTo>
                  <a:lnTo>
                    <a:pt x="0" y="19773"/>
                  </a:lnTo>
                  <a:lnTo>
                    <a:pt x="10102" y="19773"/>
                  </a:lnTo>
                  <a:lnTo>
                    <a:pt x="13409" y="0"/>
                  </a:lnTo>
                  <a:lnTo>
                    <a:pt x="13492" y="494"/>
                  </a:lnTo>
                </a:path>
              </a:pathLst>
            </a:custGeom>
            <a:solidFill>
              <a:srgbClr val="0066FF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15" name="Shape 857">
              <a:extLst>
                <a:ext uri="{FF2B5EF4-FFF2-40B4-BE49-F238E27FC236}">
                  <a16:creationId xmlns:a16="http://schemas.microsoft.com/office/drawing/2014/main" id="{3DF6CC85-F8B9-6CA9-305A-26F73363B608}"/>
                </a:ext>
              </a:extLst>
            </p:cNvPr>
            <p:cNvSpPr/>
            <p:nvPr/>
          </p:nvSpPr>
          <p:spPr>
            <a:xfrm>
              <a:off x="7770437" y="2552358"/>
              <a:ext cx="2163850" cy="8274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3333" y="21600"/>
                  </a:lnTo>
                  <a:lnTo>
                    <a:pt x="3333" y="21301"/>
                  </a:lnTo>
                  <a:cubicBezTo>
                    <a:pt x="3030" y="13379"/>
                    <a:pt x="1834" y="6139"/>
                    <a:pt x="0" y="331"/>
                  </a:cubicBezTo>
                  <a:lnTo>
                    <a:pt x="127" y="0"/>
                  </a:lnTo>
                  <a:cubicBezTo>
                    <a:pt x="2030" y="6022"/>
                    <a:pt x="3181" y="13250"/>
                    <a:pt x="3492" y="21002"/>
                  </a:cubicBezTo>
                  <a:lnTo>
                    <a:pt x="21600" y="21002"/>
                  </a:lnTo>
                  <a:lnTo>
                    <a:pt x="21600" y="21600"/>
                  </a:lnTo>
                </a:path>
              </a:pathLst>
            </a:custGeom>
            <a:solidFill>
              <a:srgbClr val="0066FF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16" name="Shape 858">
              <a:extLst>
                <a:ext uri="{FF2B5EF4-FFF2-40B4-BE49-F238E27FC236}">
                  <a16:creationId xmlns:a16="http://schemas.microsoft.com/office/drawing/2014/main" id="{683DE123-540E-0E73-61FC-A8F2A7E7CB41}"/>
                </a:ext>
              </a:extLst>
            </p:cNvPr>
            <p:cNvSpPr/>
            <p:nvPr/>
          </p:nvSpPr>
          <p:spPr>
            <a:xfrm>
              <a:off x="5644053" y="1553191"/>
              <a:ext cx="827421" cy="800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992" y="12168"/>
                  </a:moveTo>
                  <a:lnTo>
                    <a:pt x="20992" y="0"/>
                  </a:lnTo>
                  <a:lnTo>
                    <a:pt x="21600" y="0"/>
                  </a:lnTo>
                  <a:lnTo>
                    <a:pt x="21600" y="12609"/>
                  </a:lnTo>
                  <a:lnTo>
                    <a:pt x="21291" y="12609"/>
                  </a:lnTo>
                  <a:cubicBezTo>
                    <a:pt x="13372" y="13415"/>
                    <a:pt x="6147" y="16658"/>
                    <a:pt x="331" y="21600"/>
                  </a:cubicBezTo>
                  <a:lnTo>
                    <a:pt x="0" y="21258"/>
                  </a:lnTo>
                  <a:cubicBezTo>
                    <a:pt x="6030" y="16128"/>
                    <a:pt x="13255" y="13006"/>
                    <a:pt x="20992" y="12168"/>
                  </a:cubicBezTo>
                </a:path>
              </a:pathLst>
            </a:custGeom>
            <a:solidFill>
              <a:srgbClr val="0066FF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17" name="Shape 859">
              <a:extLst>
                <a:ext uri="{FF2B5EF4-FFF2-40B4-BE49-F238E27FC236}">
                  <a16:creationId xmlns:a16="http://schemas.microsoft.com/office/drawing/2014/main" id="{4D346BC5-3369-4089-7C48-7BC70CD053AC}"/>
                </a:ext>
              </a:extLst>
            </p:cNvPr>
            <p:cNvSpPr/>
            <p:nvPr/>
          </p:nvSpPr>
          <p:spPr>
            <a:xfrm>
              <a:off x="4103823" y="2220505"/>
              <a:ext cx="1348646" cy="11466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161" y="6407"/>
                  </a:moveTo>
                  <a:lnTo>
                    <a:pt x="16100" y="431"/>
                  </a:lnTo>
                  <a:lnTo>
                    <a:pt x="0" y="431"/>
                  </a:lnTo>
                  <a:lnTo>
                    <a:pt x="0" y="0"/>
                  </a:lnTo>
                  <a:lnTo>
                    <a:pt x="16225" y="0"/>
                  </a:lnTo>
                  <a:lnTo>
                    <a:pt x="16225" y="154"/>
                  </a:lnTo>
                  <a:lnTo>
                    <a:pt x="16303" y="62"/>
                  </a:lnTo>
                  <a:lnTo>
                    <a:pt x="21600" y="6299"/>
                  </a:lnTo>
                  <a:lnTo>
                    <a:pt x="21476" y="6453"/>
                  </a:lnTo>
                  <a:lnTo>
                    <a:pt x="21495" y="6476"/>
                  </a:lnTo>
                  <a:cubicBezTo>
                    <a:pt x="18555" y="10688"/>
                    <a:pt x="16630" y="15909"/>
                    <a:pt x="16153" y="21600"/>
                  </a:cubicBezTo>
                  <a:lnTo>
                    <a:pt x="15878" y="21600"/>
                  </a:lnTo>
                  <a:cubicBezTo>
                    <a:pt x="16316" y="16017"/>
                    <a:pt x="18149" y="10781"/>
                    <a:pt x="21161" y="6407"/>
                  </a:cubicBezTo>
                </a:path>
              </a:pathLst>
            </a:custGeom>
            <a:solidFill>
              <a:srgbClr val="0066FF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18" name="Shape 860">
              <a:extLst>
                <a:ext uri="{FF2B5EF4-FFF2-40B4-BE49-F238E27FC236}">
                  <a16:creationId xmlns:a16="http://schemas.microsoft.com/office/drawing/2014/main" id="{FEFB2C93-7AC0-DEA4-1864-34CC6A3EEBDF}"/>
                </a:ext>
              </a:extLst>
            </p:cNvPr>
            <p:cNvSpPr/>
            <p:nvPr/>
          </p:nvSpPr>
          <p:spPr>
            <a:xfrm>
              <a:off x="3892807" y="3652522"/>
              <a:ext cx="1550644" cy="8274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6953" y="0"/>
                  </a:lnTo>
                  <a:lnTo>
                    <a:pt x="16953" y="299"/>
                  </a:lnTo>
                  <a:cubicBezTo>
                    <a:pt x="17375" y="8221"/>
                    <a:pt x="19043" y="15461"/>
                    <a:pt x="21600" y="21269"/>
                  </a:cubicBezTo>
                  <a:lnTo>
                    <a:pt x="21423" y="21600"/>
                  </a:lnTo>
                  <a:cubicBezTo>
                    <a:pt x="18770" y="15578"/>
                    <a:pt x="17164" y="8350"/>
                    <a:pt x="16731" y="598"/>
                  </a:cubicBezTo>
                  <a:lnTo>
                    <a:pt x="0" y="598"/>
                  </a:lnTo>
                  <a:lnTo>
                    <a:pt x="0" y="0"/>
                  </a:lnTo>
                </a:path>
              </a:pathLst>
            </a:custGeom>
            <a:solidFill>
              <a:srgbClr val="0066FF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19" name="Shape 861">
              <a:extLst>
                <a:ext uri="{FF2B5EF4-FFF2-40B4-BE49-F238E27FC236}">
                  <a16:creationId xmlns:a16="http://schemas.microsoft.com/office/drawing/2014/main" id="{F1AF7047-D0CC-408C-EF57-63C7C15B7DC7}"/>
                </a:ext>
              </a:extLst>
            </p:cNvPr>
            <p:cNvSpPr/>
            <p:nvPr/>
          </p:nvSpPr>
          <p:spPr>
            <a:xfrm>
              <a:off x="7763223" y="3665147"/>
              <a:ext cx="1736409" cy="11466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77" y="21146"/>
                  </a:moveTo>
                  <a:lnTo>
                    <a:pt x="4277" y="21169"/>
                  </a:lnTo>
                  <a:lnTo>
                    <a:pt x="21600" y="21169"/>
                  </a:lnTo>
                  <a:lnTo>
                    <a:pt x="21600" y="21600"/>
                  </a:lnTo>
                  <a:lnTo>
                    <a:pt x="4120" y="21600"/>
                  </a:lnTo>
                  <a:lnTo>
                    <a:pt x="4120" y="21538"/>
                  </a:lnTo>
                  <a:lnTo>
                    <a:pt x="0" y="15301"/>
                  </a:lnTo>
                  <a:lnTo>
                    <a:pt x="102" y="15147"/>
                  </a:lnTo>
                  <a:lnTo>
                    <a:pt x="86" y="15124"/>
                  </a:lnTo>
                  <a:cubicBezTo>
                    <a:pt x="2370" y="10912"/>
                    <a:pt x="3860" y="5691"/>
                    <a:pt x="4237" y="0"/>
                  </a:cubicBezTo>
                  <a:lnTo>
                    <a:pt x="4450" y="0"/>
                  </a:lnTo>
                  <a:cubicBezTo>
                    <a:pt x="4104" y="5583"/>
                    <a:pt x="2685" y="10819"/>
                    <a:pt x="346" y="15193"/>
                  </a:cubicBezTo>
                  <a:lnTo>
                    <a:pt x="4277" y="21146"/>
                  </a:lnTo>
                </a:path>
              </a:pathLst>
            </a:custGeom>
            <a:solidFill>
              <a:srgbClr val="0066FF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20" name="Shape 862">
              <a:extLst>
                <a:ext uri="{FF2B5EF4-FFF2-40B4-BE49-F238E27FC236}">
                  <a16:creationId xmlns:a16="http://schemas.microsoft.com/office/drawing/2014/main" id="{13ACAB4B-3529-B2FA-2B90-D2FF462D2D8A}"/>
                </a:ext>
              </a:extLst>
            </p:cNvPr>
            <p:cNvSpPr/>
            <p:nvPr/>
          </p:nvSpPr>
          <p:spPr>
            <a:xfrm>
              <a:off x="6735200" y="4671527"/>
              <a:ext cx="827421" cy="800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8" y="9432"/>
                  </a:moveTo>
                  <a:lnTo>
                    <a:pt x="598" y="21600"/>
                  </a:lnTo>
                  <a:lnTo>
                    <a:pt x="0" y="21600"/>
                  </a:lnTo>
                  <a:lnTo>
                    <a:pt x="0" y="8991"/>
                  </a:lnTo>
                  <a:lnTo>
                    <a:pt x="299" y="8991"/>
                  </a:lnTo>
                  <a:cubicBezTo>
                    <a:pt x="8221" y="8185"/>
                    <a:pt x="15450" y="4953"/>
                    <a:pt x="21269" y="0"/>
                  </a:cubicBezTo>
                  <a:lnTo>
                    <a:pt x="21600" y="342"/>
                  </a:lnTo>
                  <a:cubicBezTo>
                    <a:pt x="15578" y="5483"/>
                    <a:pt x="8339" y="8594"/>
                    <a:pt x="598" y="9432"/>
                  </a:cubicBezTo>
                </a:path>
              </a:pathLst>
            </a:custGeom>
            <a:solidFill>
              <a:srgbClr val="0066FF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21" name="Shape 863">
              <a:extLst>
                <a:ext uri="{FF2B5EF4-FFF2-40B4-BE49-F238E27FC236}">
                  <a16:creationId xmlns:a16="http://schemas.microsoft.com/office/drawing/2014/main" id="{CBD70629-510D-EBB7-BE0C-CEE0085A68F7}"/>
                </a:ext>
              </a:extLst>
            </p:cNvPr>
            <p:cNvSpPr/>
            <p:nvPr/>
          </p:nvSpPr>
          <p:spPr>
            <a:xfrm>
              <a:off x="5112006" y="2555965"/>
              <a:ext cx="495568" cy="8328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354"/>
                  </a:moveTo>
                  <a:cubicBezTo>
                    <a:pt x="14566" y="8385"/>
                    <a:pt x="10008" y="14680"/>
                    <a:pt x="8886" y="21600"/>
                  </a:cubicBezTo>
                  <a:lnTo>
                    <a:pt x="0" y="21091"/>
                  </a:lnTo>
                  <a:cubicBezTo>
                    <a:pt x="0" y="21091"/>
                    <a:pt x="659" y="8184"/>
                    <a:pt x="14815" y="0"/>
                  </a:cubicBezTo>
                  <a:lnTo>
                    <a:pt x="21600" y="3354"/>
                  </a:lnTo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22" name="Shape 864">
              <a:extLst>
                <a:ext uri="{FF2B5EF4-FFF2-40B4-BE49-F238E27FC236}">
                  <a16:creationId xmlns:a16="http://schemas.microsoft.com/office/drawing/2014/main" id="{C8AC1BF5-AA9D-3F2B-E47F-4430E9F5EEF3}"/>
                </a:ext>
              </a:extLst>
            </p:cNvPr>
            <p:cNvSpPr/>
            <p:nvPr/>
          </p:nvSpPr>
          <p:spPr>
            <a:xfrm>
              <a:off x="5112006" y="3643505"/>
              <a:ext cx="493765" cy="8238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923" y="0"/>
                  </a:moveTo>
                  <a:cubicBezTo>
                    <a:pt x="10085" y="6871"/>
                    <a:pt x="14626" y="13099"/>
                    <a:pt x="21600" y="18127"/>
                  </a:cubicBezTo>
                  <a:lnTo>
                    <a:pt x="14591" y="21600"/>
                  </a:lnTo>
                  <a:cubicBezTo>
                    <a:pt x="14591" y="21600"/>
                    <a:pt x="1359" y="13528"/>
                    <a:pt x="0" y="547"/>
                  </a:cubicBezTo>
                  <a:lnTo>
                    <a:pt x="8923" y="0"/>
                  </a:lnTo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23" name="Shape 865">
              <a:extLst>
                <a:ext uri="{FF2B5EF4-FFF2-40B4-BE49-F238E27FC236}">
                  <a16:creationId xmlns:a16="http://schemas.microsoft.com/office/drawing/2014/main" id="{12862217-CBDC-0EE0-E643-8FE66FBA7B54}"/>
                </a:ext>
              </a:extLst>
            </p:cNvPr>
            <p:cNvSpPr/>
            <p:nvPr/>
          </p:nvSpPr>
          <p:spPr>
            <a:xfrm>
              <a:off x="5647660" y="4511011"/>
              <a:ext cx="832831" cy="5010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20" extrusionOk="0">
                  <a:moveTo>
                    <a:pt x="3445" y="0"/>
                  </a:moveTo>
                  <a:cubicBezTo>
                    <a:pt x="8468" y="6790"/>
                    <a:pt x="14721" y="11242"/>
                    <a:pt x="21600" y="12264"/>
                  </a:cubicBezTo>
                  <a:lnTo>
                    <a:pt x="21059" y="21219"/>
                  </a:lnTo>
                  <a:cubicBezTo>
                    <a:pt x="21059" y="21219"/>
                    <a:pt x="10652" y="21600"/>
                    <a:pt x="0" y="6790"/>
                  </a:cubicBezTo>
                  <a:lnTo>
                    <a:pt x="3445" y="0"/>
                  </a:lnTo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24" name="Shape 866">
              <a:extLst>
                <a:ext uri="{FF2B5EF4-FFF2-40B4-BE49-F238E27FC236}">
                  <a16:creationId xmlns:a16="http://schemas.microsoft.com/office/drawing/2014/main" id="{A76951F8-56DF-ADD1-C654-05A7B6DD4AB0}"/>
                </a:ext>
              </a:extLst>
            </p:cNvPr>
            <p:cNvSpPr/>
            <p:nvPr/>
          </p:nvSpPr>
          <p:spPr>
            <a:xfrm>
              <a:off x="6717165" y="4516423"/>
              <a:ext cx="832831" cy="4883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663"/>
                  </a:moveTo>
                  <a:cubicBezTo>
                    <a:pt x="6920" y="11632"/>
                    <a:pt x="13247" y="7037"/>
                    <a:pt x="18310" y="0"/>
                  </a:cubicBezTo>
                  <a:lnTo>
                    <a:pt x="21600" y="6838"/>
                  </a:lnTo>
                  <a:cubicBezTo>
                    <a:pt x="13692" y="20623"/>
                    <a:pt x="456" y="21600"/>
                    <a:pt x="456" y="21600"/>
                  </a:cubicBezTo>
                  <a:lnTo>
                    <a:pt x="0" y="12663"/>
                  </a:lnTo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25" name="Shape 867">
              <a:extLst>
                <a:ext uri="{FF2B5EF4-FFF2-40B4-BE49-F238E27FC236}">
                  <a16:creationId xmlns:a16="http://schemas.microsoft.com/office/drawing/2014/main" id="{105CAF2F-EC4E-499A-EAFB-5DE76260D3CA}"/>
                </a:ext>
              </a:extLst>
            </p:cNvPr>
            <p:cNvSpPr/>
            <p:nvPr/>
          </p:nvSpPr>
          <p:spPr>
            <a:xfrm>
              <a:off x="7599100" y="3643505"/>
              <a:ext cx="502782" cy="8328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626" y="0"/>
                  </a:moveTo>
                  <a:lnTo>
                    <a:pt x="21600" y="541"/>
                  </a:lnTo>
                  <a:cubicBezTo>
                    <a:pt x="21196" y="12655"/>
                    <a:pt x="6972" y="21600"/>
                    <a:pt x="6972" y="21600"/>
                  </a:cubicBezTo>
                  <a:lnTo>
                    <a:pt x="0" y="18071"/>
                  </a:lnTo>
                  <a:cubicBezTo>
                    <a:pt x="6937" y="13079"/>
                    <a:pt x="11485" y="6857"/>
                    <a:pt x="12626" y="0"/>
                  </a:cubicBezTo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26" name="Shape 868">
              <a:extLst>
                <a:ext uri="{FF2B5EF4-FFF2-40B4-BE49-F238E27FC236}">
                  <a16:creationId xmlns:a16="http://schemas.microsoft.com/office/drawing/2014/main" id="{409B2199-F064-8AC4-3508-E6355C841643}"/>
                </a:ext>
              </a:extLst>
            </p:cNvPr>
            <p:cNvSpPr/>
            <p:nvPr/>
          </p:nvSpPr>
          <p:spPr>
            <a:xfrm>
              <a:off x="7611724" y="2564983"/>
              <a:ext cx="493764" cy="8328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463" y="21600"/>
                  </a:moveTo>
                  <a:cubicBezTo>
                    <a:pt x="11444" y="14718"/>
                    <a:pt x="6902" y="8441"/>
                    <a:pt x="0" y="3383"/>
                  </a:cubicBezTo>
                  <a:lnTo>
                    <a:pt x="7009" y="0"/>
                  </a:lnTo>
                  <a:cubicBezTo>
                    <a:pt x="21493" y="9363"/>
                    <a:pt x="21600" y="21123"/>
                    <a:pt x="21600" y="21123"/>
                  </a:cubicBezTo>
                  <a:lnTo>
                    <a:pt x="12463" y="21600"/>
                  </a:lnTo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27" name="Shape 869">
              <a:extLst>
                <a:ext uri="{FF2B5EF4-FFF2-40B4-BE49-F238E27FC236}">
                  <a16:creationId xmlns:a16="http://schemas.microsoft.com/office/drawing/2014/main" id="{F386639B-DD85-47EA-C0A4-0016F5D0F96F}"/>
                </a:ext>
              </a:extLst>
            </p:cNvPr>
            <p:cNvSpPr/>
            <p:nvPr/>
          </p:nvSpPr>
          <p:spPr>
            <a:xfrm>
              <a:off x="6737003" y="2020311"/>
              <a:ext cx="831028" cy="499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88" y="21600"/>
                  </a:moveTo>
                  <a:cubicBezTo>
                    <a:pt x="13170" y="14601"/>
                    <a:pt x="6878" y="9941"/>
                    <a:pt x="0" y="8789"/>
                  </a:cubicBezTo>
                  <a:lnTo>
                    <a:pt x="489" y="0"/>
                  </a:lnTo>
                  <a:cubicBezTo>
                    <a:pt x="14648" y="1949"/>
                    <a:pt x="21600" y="14743"/>
                    <a:pt x="21600" y="14743"/>
                  </a:cubicBezTo>
                  <a:lnTo>
                    <a:pt x="18188" y="21600"/>
                  </a:lnTo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28" name="Shape 870">
              <a:extLst>
                <a:ext uri="{FF2B5EF4-FFF2-40B4-BE49-F238E27FC236}">
                  <a16:creationId xmlns:a16="http://schemas.microsoft.com/office/drawing/2014/main" id="{A3488F16-1AC9-3F93-696E-70A038C84CF5}"/>
                </a:ext>
              </a:extLst>
            </p:cNvPr>
            <p:cNvSpPr/>
            <p:nvPr/>
          </p:nvSpPr>
          <p:spPr>
            <a:xfrm>
              <a:off x="5656678" y="2019735"/>
              <a:ext cx="832832" cy="4907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6" extrusionOk="0">
                  <a:moveTo>
                    <a:pt x="21600" y="8877"/>
                  </a:moveTo>
                  <a:cubicBezTo>
                    <a:pt x="14690" y="9883"/>
                    <a:pt x="8405" y="14502"/>
                    <a:pt x="3317" y="21546"/>
                  </a:cubicBezTo>
                  <a:lnTo>
                    <a:pt x="0" y="14646"/>
                  </a:lnTo>
                  <a:cubicBezTo>
                    <a:pt x="9422" y="-54"/>
                    <a:pt x="21123" y="0"/>
                    <a:pt x="21123" y="0"/>
                  </a:cubicBezTo>
                  <a:lnTo>
                    <a:pt x="21600" y="8877"/>
                  </a:lnTo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29" name="Shape 872">
              <a:extLst>
                <a:ext uri="{FF2B5EF4-FFF2-40B4-BE49-F238E27FC236}">
                  <a16:creationId xmlns:a16="http://schemas.microsoft.com/office/drawing/2014/main" id="{702A6E9E-4444-F7F8-F767-F71145D03E66}"/>
                </a:ext>
              </a:extLst>
            </p:cNvPr>
            <p:cNvSpPr/>
            <p:nvPr/>
          </p:nvSpPr>
          <p:spPr>
            <a:xfrm>
              <a:off x="5965415" y="613133"/>
              <a:ext cx="351283" cy="4180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92" y="5876"/>
                  </a:moveTo>
                  <a:cubicBezTo>
                    <a:pt x="3323" y="2790"/>
                    <a:pt x="7401" y="0"/>
                    <a:pt x="11832" y="0"/>
                  </a:cubicBezTo>
                  <a:cubicBezTo>
                    <a:pt x="17220" y="0"/>
                    <a:pt x="21600" y="3656"/>
                    <a:pt x="21600" y="8200"/>
                  </a:cubicBezTo>
                  <a:cubicBezTo>
                    <a:pt x="21600" y="10821"/>
                    <a:pt x="20140" y="13146"/>
                    <a:pt x="17849" y="14647"/>
                  </a:cubicBezTo>
                  <a:lnTo>
                    <a:pt x="17849" y="21600"/>
                  </a:lnTo>
                  <a:lnTo>
                    <a:pt x="15432" y="21600"/>
                  </a:lnTo>
                  <a:lnTo>
                    <a:pt x="15432" y="20480"/>
                  </a:lnTo>
                  <a:lnTo>
                    <a:pt x="13141" y="20480"/>
                  </a:lnTo>
                  <a:lnTo>
                    <a:pt x="13141" y="21600"/>
                  </a:lnTo>
                  <a:lnTo>
                    <a:pt x="7477" y="21600"/>
                  </a:lnTo>
                  <a:lnTo>
                    <a:pt x="7477" y="19085"/>
                  </a:lnTo>
                  <a:lnTo>
                    <a:pt x="5941" y="19085"/>
                  </a:lnTo>
                  <a:cubicBezTo>
                    <a:pt x="3827" y="19085"/>
                    <a:pt x="2090" y="17627"/>
                    <a:pt x="2090" y="15851"/>
                  </a:cubicBezTo>
                  <a:lnTo>
                    <a:pt x="2090" y="13569"/>
                  </a:lnTo>
                  <a:lnTo>
                    <a:pt x="780" y="13569"/>
                  </a:lnTo>
                  <a:cubicBezTo>
                    <a:pt x="327" y="13569"/>
                    <a:pt x="0" y="13252"/>
                    <a:pt x="0" y="12914"/>
                  </a:cubicBezTo>
                  <a:cubicBezTo>
                    <a:pt x="0" y="12808"/>
                    <a:pt x="0" y="12744"/>
                    <a:pt x="50" y="12639"/>
                  </a:cubicBezTo>
                  <a:lnTo>
                    <a:pt x="2090" y="8348"/>
                  </a:lnTo>
                  <a:cubicBezTo>
                    <a:pt x="2090" y="8348"/>
                    <a:pt x="2291" y="6552"/>
                    <a:pt x="2492" y="5876"/>
                  </a:cubicBezTo>
                  <a:close/>
                  <a:moveTo>
                    <a:pt x="13141" y="15978"/>
                  </a:moveTo>
                  <a:lnTo>
                    <a:pt x="13141" y="17035"/>
                  </a:lnTo>
                  <a:lnTo>
                    <a:pt x="15432" y="17035"/>
                  </a:lnTo>
                  <a:lnTo>
                    <a:pt x="15432" y="15978"/>
                  </a:lnTo>
                  <a:lnTo>
                    <a:pt x="13141" y="15978"/>
                  </a:lnTo>
                  <a:close/>
                  <a:moveTo>
                    <a:pt x="13141" y="14499"/>
                  </a:moveTo>
                  <a:lnTo>
                    <a:pt x="13141" y="15555"/>
                  </a:lnTo>
                  <a:lnTo>
                    <a:pt x="15432" y="15555"/>
                  </a:lnTo>
                  <a:lnTo>
                    <a:pt x="15432" y="14499"/>
                  </a:lnTo>
                  <a:lnTo>
                    <a:pt x="13141" y="14499"/>
                  </a:lnTo>
                  <a:close/>
                  <a:moveTo>
                    <a:pt x="13141" y="17479"/>
                  </a:moveTo>
                  <a:lnTo>
                    <a:pt x="13141" y="18535"/>
                  </a:lnTo>
                  <a:lnTo>
                    <a:pt x="15432" y="18535"/>
                  </a:lnTo>
                  <a:lnTo>
                    <a:pt x="15432" y="17479"/>
                  </a:lnTo>
                  <a:lnTo>
                    <a:pt x="13141" y="17479"/>
                  </a:lnTo>
                  <a:close/>
                  <a:moveTo>
                    <a:pt x="13141" y="18979"/>
                  </a:moveTo>
                  <a:lnTo>
                    <a:pt x="13141" y="20036"/>
                  </a:lnTo>
                  <a:lnTo>
                    <a:pt x="15432" y="20036"/>
                  </a:lnTo>
                  <a:lnTo>
                    <a:pt x="15432" y="18979"/>
                  </a:lnTo>
                  <a:lnTo>
                    <a:pt x="13141" y="18979"/>
                  </a:lnTo>
                  <a:close/>
                  <a:moveTo>
                    <a:pt x="13141" y="12998"/>
                  </a:moveTo>
                  <a:lnTo>
                    <a:pt x="13141" y="14055"/>
                  </a:lnTo>
                  <a:lnTo>
                    <a:pt x="15457" y="14055"/>
                  </a:lnTo>
                  <a:lnTo>
                    <a:pt x="15457" y="12998"/>
                  </a:lnTo>
                  <a:lnTo>
                    <a:pt x="13141" y="12998"/>
                  </a:lnTo>
                  <a:close/>
                  <a:moveTo>
                    <a:pt x="18881" y="8412"/>
                  </a:moveTo>
                  <a:cubicBezTo>
                    <a:pt x="19284" y="8010"/>
                    <a:pt x="19561" y="7503"/>
                    <a:pt x="19561" y="6953"/>
                  </a:cubicBezTo>
                  <a:cubicBezTo>
                    <a:pt x="19561" y="6446"/>
                    <a:pt x="19334" y="6002"/>
                    <a:pt x="18982" y="5685"/>
                  </a:cubicBezTo>
                  <a:cubicBezTo>
                    <a:pt x="19032" y="5495"/>
                    <a:pt x="19057" y="5326"/>
                    <a:pt x="19057" y="5136"/>
                  </a:cubicBezTo>
                  <a:cubicBezTo>
                    <a:pt x="19057" y="4164"/>
                    <a:pt x="18302" y="3382"/>
                    <a:pt x="17270" y="3107"/>
                  </a:cubicBezTo>
                  <a:cubicBezTo>
                    <a:pt x="16892" y="2367"/>
                    <a:pt x="16011" y="1860"/>
                    <a:pt x="15004" y="1860"/>
                  </a:cubicBezTo>
                  <a:cubicBezTo>
                    <a:pt x="14778" y="1860"/>
                    <a:pt x="14601" y="1881"/>
                    <a:pt x="14425" y="1923"/>
                  </a:cubicBezTo>
                  <a:cubicBezTo>
                    <a:pt x="13972" y="1564"/>
                    <a:pt x="13368" y="1353"/>
                    <a:pt x="12713" y="1353"/>
                  </a:cubicBezTo>
                  <a:cubicBezTo>
                    <a:pt x="12210" y="1353"/>
                    <a:pt x="11731" y="1479"/>
                    <a:pt x="11329" y="1691"/>
                  </a:cubicBezTo>
                  <a:cubicBezTo>
                    <a:pt x="11001" y="1543"/>
                    <a:pt x="10573" y="1458"/>
                    <a:pt x="10145" y="1458"/>
                  </a:cubicBezTo>
                  <a:cubicBezTo>
                    <a:pt x="9264" y="1458"/>
                    <a:pt x="8509" y="1839"/>
                    <a:pt x="8056" y="2388"/>
                  </a:cubicBezTo>
                  <a:lnTo>
                    <a:pt x="7880" y="2388"/>
                  </a:lnTo>
                  <a:cubicBezTo>
                    <a:pt x="6671" y="2388"/>
                    <a:pt x="5639" y="3086"/>
                    <a:pt x="5413" y="4037"/>
                  </a:cubicBezTo>
                  <a:cubicBezTo>
                    <a:pt x="4531" y="4354"/>
                    <a:pt x="3877" y="5115"/>
                    <a:pt x="3877" y="6002"/>
                  </a:cubicBezTo>
                  <a:cubicBezTo>
                    <a:pt x="3877" y="7186"/>
                    <a:pt x="5010" y="8158"/>
                    <a:pt x="6445" y="8158"/>
                  </a:cubicBezTo>
                  <a:cubicBezTo>
                    <a:pt x="6948" y="8158"/>
                    <a:pt x="7452" y="8031"/>
                    <a:pt x="7855" y="7820"/>
                  </a:cubicBezTo>
                  <a:cubicBezTo>
                    <a:pt x="8232" y="8031"/>
                    <a:pt x="8736" y="8158"/>
                    <a:pt x="9264" y="8158"/>
                  </a:cubicBezTo>
                  <a:cubicBezTo>
                    <a:pt x="9793" y="8158"/>
                    <a:pt x="10271" y="8031"/>
                    <a:pt x="10674" y="7820"/>
                  </a:cubicBezTo>
                  <a:cubicBezTo>
                    <a:pt x="10976" y="8074"/>
                    <a:pt x="11354" y="8285"/>
                    <a:pt x="11731" y="8412"/>
                  </a:cubicBezTo>
                  <a:cubicBezTo>
                    <a:pt x="12512" y="8665"/>
                    <a:pt x="13141" y="9468"/>
                    <a:pt x="13141" y="10293"/>
                  </a:cubicBezTo>
                  <a:lnTo>
                    <a:pt x="13141" y="12554"/>
                  </a:lnTo>
                  <a:lnTo>
                    <a:pt x="14022" y="12554"/>
                  </a:lnTo>
                  <a:lnTo>
                    <a:pt x="14022" y="10187"/>
                  </a:lnTo>
                  <a:cubicBezTo>
                    <a:pt x="14022" y="9342"/>
                    <a:pt x="14400" y="8665"/>
                    <a:pt x="15155" y="8285"/>
                  </a:cubicBezTo>
                  <a:cubicBezTo>
                    <a:pt x="15357" y="8179"/>
                    <a:pt x="15558" y="8074"/>
                    <a:pt x="15709" y="7947"/>
                  </a:cubicBezTo>
                  <a:lnTo>
                    <a:pt x="15759" y="7905"/>
                  </a:lnTo>
                  <a:cubicBezTo>
                    <a:pt x="15961" y="7693"/>
                    <a:pt x="16087" y="7503"/>
                    <a:pt x="16137" y="7270"/>
                  </a:cubicBezTo>
                  <a:cubicBezTo>
                    <a:pt x="15961" y="7186"/>
                    <a:pt x="15785" y="7165"/>
                    <a:pt x="15583" y="7165"/>
                  </a:cubicBezTo>
                  <a:cubicBezTo>
                    <a:pt x="15306" y="7165"/>
                    <a:pt x="15055" y="7186"/>
                    <a:pt x="14803" y="7292"/>
                  </a:cubicBezTo>
                  <a:cubicBezTo>
                    <a:pt x="14677" y="7355"/>
                    <a:pt x="14526" y="7292"/>
                    <a:pt x="14476" y="7165"/>
                  </a:cubicBezTo>
                  <a:cubicBezTo>
                    <a:pt x="14400" y="7059"/>
                    <a:pt x="14476" y="6932"/>
                    <a:pt x="14601" y="6890"/>
                  </a:cubicBezTo>
                  <a:cubicBezTo>
                    <a:pt x="14929" y="6784"/>
                    <a:pt x="15231" y="6742"/>
                    <a:pt x="15558" y="6742"/>
                  </a:cubicBezTo>
                  <a:cubicBezTo>
                    <a:pt x="15785" y="6742"/>
                    <a:pt x="15986" y="6763"/>
                    <a:pt x="16213" y="6805"/>
                  </a:cubicBezTo>
                  <a:cubicBezTo>
                    <a:pt x="16213" y="5876"/>
                    <a:pt x="15306" y="5136"/>
                    <a:pt x="14199" y="5136"/>
                  </a:cubicBezTo>
                  <a:cubicBezTo>
                    <a:pt x="13796" y="5136"/>
                    <a:pt x="13418" y="5051"/>
                    <a:pt x="13091" y="4903"/>
                  </a:cubicBezTo>
                  <a:cubicBezTo>
                    <a:pt x="12764" y="5220"/>
                    <a:pt x="12613" y="5622"/>
                    <a:pt x="12613" y="6002"/>
                  </a:cubicBezTo>
                  <a:lnTo>
                    <a:pt x="12613" y="6087"/>
                  </a:lnTo>
                  <a:cubicBezTo>
                    <a:pt x="12613" y="6488"/>
                    <a:pt x="12789" y="6890"/>
                    <a:pt x="13192" y="7186"/>
                  </a:cubicBezTo>
                  <a:cubicBezTo>
                    <a:pt x="13292" y="7292"/>
                    <a:pt x="13292" y="7418"/>
                    <a:pt x="13192" y="7503"/>
                  </a:cubicBezTo>
                  <a:cubicBezTo>
                    <a:pt x="13141" y="7545"/>
                    <a:pt x="13066" y="7566"/>
                    <a:pt x="13015" y="7566"/>
                  </a:cubicBezTo>
                  <a:cubicBezTo>
                    <a:pt x="12965" y="7566"/>
                    <a:pt x="12864" y="7545"/>
                    <a:pt x="12814" y="7503"/>
                  </a:cubicBezTo>
                  <a:cubicBezTo>
                    <a:pt x="12436" y="7144"/>
                    <a:pt x="12185" y="6700"/>
                    <a:pt x="12134" y="6256"/>
                  </a:cubicBezTo>
                  <a:cubicBezTo>
                    <a:pt x="12008" y="6214"/>
                    <a:pt x="11857" y="6214"/>
                    <a:pt x="11731" y="6214"/>
                  </a:cubicBezTo>
                  <a:cubicBezTo>
                    <a:pt x="11404" y="6214"/>
                    <a:pt x="11102" y="6277"/>
                    <a:pt x="10775" y="6404"/>
                  </a:cubicBezTo>
                  <a:cubicBezTo>
                    <a:pt x="10724" y="6425"/>
                    <a:pt x="10699" y="6425"/>
                    <a:pt x="10649" y="6425"/>
                  </a:cubicBezTo>
                  <a:cubicBezTo>
                    <a:pt x="10548" y="6425"/>
                    <a:pt x="10473" y="6404"/>
                    <a:pt x="10422" y="6319"/>
                  </a:cubicBezTo>
                  <a:cubicBezTo>
                    <a:pt x="10347" y="6214"/>
                    <a:pt x="10397" y="6066"/>
                    <a:pt x="10523" y="6002"/>
                  </a:cubicBezTo>
                  <a:cubicBezTo>
                    <a:pt x="10876" y="5854"/>
                    <a:pt x="11303" y="5770"/>
                    <a:pt x="11706" y="5770"/>
                  </a:cubicBezTo>
                  <a:cubicBezTo>
                    <a:pt x="11832" y="5770"/>
                    <a:pt x="11983" y="5770"/>
                    <a:pt x="12109" y="5791"/>
                  </a:cubicBezTo>
                  <a:cubicBezTo>
                    <a:pt x="12159" y="5389"/>
                    <a:pt x="12361" y="5030"/>
                    <a:pt x="12663" y="4692"/>
                  </a:cubicBezTo>
                  <a:cubicBezTo>
                    <a:pt x="12361" y="4481"/>
                    <a:pt x="12084" y="4206"/>
                    <a:pt x="11933" y="3889"/>
                  </a:cubicBezTo>
                  <a:cubicBezTo>
                    <a:pt x="11480" y="4164"/>
                    <a:pt x="10976" y="4290"/>
                    <a:pt x="10448" y="4290"/>
                  </a:cubicBezTo>
                  <a:cubicBezTo>
                    <a:pt x="10246" y="4290"/>
                    <a:pt x="10070" y="4290"/>
                    <a:pt x="9894" y="4248"/>
                  </a:cubicBezTo>
                  <a:cubicBezTo>
                    <a:pt x="9717" y="5284"/>
                    <a:pt x="8660" y="6066"/>
                    <a:pt x="7376" y="6066"/>
                  </a:cubicBezTo>
                  <a:lnTo>
                    <a:pt x="7351" y="6066"/>
                  </a:lnTo>
                  <a:cubicBezTo>
                    <a:pt x="6797" y="6066"/>
                    <a:pt x="6319" y="6256"/>
                    <a:pt x="5966" y="6531"/>
                  </a:cubicBezTo>
                  <a:cubicBezTo>
                    <a:pt x="5916" y="6573"/>
                    <a:pt x="5841" y="6594"/>
                    <a:pt x="5790" y="6594"/>
                  </a:cubicBezTo>
                  <a:cubicBezTo>
                    <a:pt x="5740" y="6594"/>
                    <a:pt x="5639" y="6573"/>
                    <a:pt x="5589" y="6531"/>
                  </a:cubicBezTo>
                  <a:cubicBezTo>
                    <a:pt x="5488" y="6446"/>
                    <a:pt x="5488" y="6319"/>
                    <a:pt x="5589" y="6235"/>
                  </a:cubicBezTo>
                  <a:cubicBezTo>
                    <a:pt x="6042" y="5854"/>
                    <a:pt x="6671" y="5643"/>
                    <a:pt x="7351" y="5643"/>
                  </a:cubicBezTo>
                  <a:lnTo>
                    <a:pt x="7376" y="5643"/>
                  </a:lnTo>
                  <a:cubicBezTo>
                    <a:pt x="7552" y="5643"/>
                    <a:pt x="7754" y="5622"/>
                    <a:pt x="7905" y="5580"/>
                  </a:cubicBezTo>
                  <a:cubicBezTo>
                    <a:pt x="7628" y="5305"/>
                    <a:pt x="7301" y="5094"/>
                    <a:pt x="6923" y="4924"/>
                  </a:cubicBezTo>
                  <a:cubicBezTo>
                    <a:pt x="6772" y="4903"/>
                    <a:pt x="6697" y="4777"/>
                    <a:pt x="6747" y="4671"/>
                  </a:cubicBezTo>
                  <a:cubicBezTo>
                    <a:pt x="6797" y="4544"/>
                    <a:pt x="6948" y="4481"/>
                    <a:pt x="7099" y="4523"/>
                  </a:cubicBezTo>
                  <a:cubicBezTo>
                    <a:pt x="7653" y="4671"/>
                    <a:pt x="8131" y="4967"/>
                    <a:pt x="8459" y="5368"/>
                  </a:cubicBezTo>
                  <a:cubicBezTo>
                    <a:pt x="8962" y="5115"/>
                    <a:pt x="9365" y="4629"/>
                    <a:pt x="9415" y="4079"/>
                  </a:cubicBezTo>
                  <a:cubicBezTo>
                    <a:pt x="9164" y="3973"/>
                    <a:pt x="8887" y="3804"/>
                    <a:pt x="8685" y="3635"/>
                  </a:cubicBezTo>
                  <a:cubicBezTo>
                    <a:pt x="8585" y="3551"/>
                    <a:pt x="8585" y="3403"/>
                    <a:pt x="8685" y="3318"/>
                  </a:cubicBezTo>
                  <a:cubicBezTo>
                    <a:pt x="8786" y="3213"/>
                    <a:pt x="8962" y="3213"/>
                    <a:pt x="9063" y="3318"/>
                  </a:cubicBezTo>
                  <a:cubicBezTo>
                    <a:pt x="9290" y="3487"/>
                    <a:pt x="9516" y="3635"/>
                    <a:pt x="9793" y="3720"/>
                  </a:cubicBezTo>
                  <a:cubicBezTo>
                    <a:pt x="9994" y="3783"/>
                    <a:pt x="10221" y="3825"/>
                    <a:pt x="10473" y="3825"/>
                  </a:cubicBezTo>
                  <a:cubicBezTo>
                    <a:pt x="10926" y="3825"/>
                    <a:pt x="11404" y="3677"/>
                    <a:pt x="11782" y="3424"/>
                  </a:cubicBezTo>
                  <a:cubicBezTo>
                    <a:pt x="11757" y="3276"/>
                    <a:pt x="11731" y="3149"/>
                    <a:pt x="11731" y="3001"/>
                  </a:cubicBezTo>
                  <a:cubicBezTo>
                    <a:pt x="11731" y="2895"/>
                    <a:pt x="11832" y="2769"/>
                    <a:pt x="11983" y="2769"/>
                  </a:cubicBezTo>
                  <a:cubicBezTo>
                    <a:pt x="12109" y="2769"/>
                    <a:pt x="12235" y="2895"/>
                    <a:pt x="12235" y="3001"/>
                  </a:cubicBezTo>
                  <a:cubicBezTo>
                    <a:pt x="12235" y="3847"/>
                    <a:pt x="13015" y="4565"/>
                    <a:pt x="13997" y="4671"/>
                  </a:cubicBezTo>
                  <a:cubicBezTo>
                    <a:pt x="14073" y="4185"/>
                    <a:pt x="14350" y="3741"/>
                    <a:pt x="14727" y="3424"/>
                  </a:cubicBezTo>
                  <a:cubicBezTo>
                    <a:pt x="14803" y="3318"/>
                    <a:pt x="15004" y="3318"/>
                    <a:pt x="15105" y="3424"/>
                  </a:cubicBezTo>
                  <a:cubicBezTo>
                    <a:pt x="15206" y="3508"/>
                    <a:pt x="15206" y="3635"/>
                    <a:pt x="15105" y="3720"/>
                  </a:cubicBezTo>
                  <a:cubicBezTo>
                    <a:pt x="14778" y="3995"/>
                    <a:pt x="14576" y="4333"/>
                    <a:pt x="14526" y="4713"/>
                  </a:cubicBezTo>
                  <a:cubicBezTo>
                    <a:pt x="15357" y="4798"/>
                    <a:pt x="16062" y="5220"/>
                    <a:pt x="16464" y="5812"/>
                  </a:cubicBezTo>
                  <a:cubicBezTo>
                    <a:pt x="16943" y="5770"/>
                    <a:pt x="17345" y="5580"/>
                    <a:pt x="17673" y="5284"/>
                  </a:cubicBezTo>
                  <a:cubicBezTo>
                    <a:pt x="17748" y="5178"/>
                    <a:pt x="17924" y="5178"/>
                    <a:pt x="18025" y="5263"/>
                  </a:cubicBezTo>
                  <a:cubicBezTo>
                    <a:pt x="18176" y="5326"/>
                    <a:pt x="18176" y="5474"/>
                    <a:pt x="18050" y="5580"/>
                  </a:cubicBezTo>
                  <a:cubicBezTo>
                    <a:pt x="17698" y="5897"/>
                    <a:pt x="17194" y="6150"/>
                    <a:pt x="16641" y="6235"/>
                  </a:cubicBezTo>
                  <a:cubicBezTo>
                    <a:pt x="16716" y="6425"/>
                    <a:pt x="16741" y="6615"/>
                    <a:pt x="16741" y="6827"/>
                  </a:cubicBezTo>
                  <a:cubicBezTo>
                    <a:pt x="16741" y="7292"/>
                    <a:pt x="16615" y="7651"/>
                    <a:pt x="16389" y="7968"/>
                  </a:cubicBezTo>
                  <a:cubicBezTo>
                    <a:pt x="16867" y="8137"/>
                    <a:pt x="17245" y="8454"/>
                    <a:pt x="17547" y="8834"/>
                  </a:cubicBezTo>
                  <a:cubicBezTo>
                    <a:pt x="17622" y="8961"/>
                    <a:pt x="17572" y="9088"/>
                    <a:pt x="17421" y="9151"/>
                  </a:cubicBezTo>
                  <a:cubicBezTo>
                    <a:pt x="17396" y="9173"/>
                    <a:pt x="17345" y="9173"/>
                    <a:pt x="17295" y="9173"/>
                  </a:cubicBezTo>
                  <a:cubicBezTo>
                    <a:pt x="17194" y="9173"/>
                    <a:pt x="17119" y="9130"/>
                    <a:pt x="17069" y="9067"/>
                  </a:cubicBezTo>
                  <a:cubicBezTo>
                    <a:pt x="16792" y="8708"/>
                    <a:pt x="16414" y="8454"/>
                    <a:pt x="15986" y="8327"/>
                  </a:cubicBezTo>
                  <a:cubicBezTo>
                    <a:pt x="15835" y="8454"/>
                    <a:pt x="15634" y="8560"/>
                    <a:pt x="15407" y="8665"/>
                  </a:cubicBezTo>
                  <a:cubicBezTo>
                    <a:pt x="14828" y="8982"/>
                    <a:pt x="14551" y="9447"/>
                    <a:pt x="14551" y="10187"/>
                  </a:cubicBezTo>
                  <a:lnTo>
                    <a:pt x="14551" y="12575"/>
                  </a:lnTo>
                  <a:lnTo>
                    <a:pt x="15508" y="12575"/>
                  </a:lnTo>
                  <a:cubicBezTo>
                    <a:pt x="15734" y="11540"/>
                    <a:pt x="16338" y="10694"/>
                    <a:pt x="17345" y="10187"/>
                  </a:cubicBezTo>
                  <a:cubicBezTo>
                    <a:pt x="18201" y="9870"/>
                    <a:pt x="18780" y="9194"/>
                    <a:pt x="18881" y="8412"/>
                  </a:cubicBezTo>
                  <a:close/>
                </a:path>
              </a:pathLst>
            </a:custGeom>
            <a:solidFill>
              <a:srgbClr val="89CC40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>
                <a:solidFill>
                  <a:srgbClr val="0066FF"/>
                </a:solidFill>
              </a:endParaRPr>
            </a:p>
          </p:txBody>
        </p:sp>
        <p:sp>
          <p:nvSpPr>
            <p:cNvPr id="30" name="Shape 873">
              <a:extLst>
                <a:ext uri="{FF2B5EF4-FFF2-40B4-BE49-F238E27FC236}">
                  <a16:creationId xmlns:a16="http://schemas.microsoft.com/office/drawing/2014/main" id="{AFEBCB1D-EC12-C6FB-588A-7B3405D13CE4}"/>
                </a:ext>
              </a:extLst>
            </p:cNvPr>
            <p:cNvSpPr/>
            <p:nvPr/>
          </p:nvSpPr>
          <p:spPr>
            <a:xfrm>
              <a:off x="5442421" y="620470"/>
              <a:ext cx="374730" cy="4180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93" y="8327"/>
                  </a:moveTo>
                  <a:lnTo>
                    <a:pt x="4693" y="3382"/>
                  </a:lnTo>
                  <a:lnTo>
                    <a:pt x="12238" y="3382"/>
                  </a:lnTo>
                  <a:lnTo>
                    <a:pt x="12238" y="8327"/>
                  </a:lnTo>
                  <a:lnTo>
                    <a:pt x="4693" y="8327"/>
                  </a:lnTo>
                  <a:close/>
                  <a:moveTo>
                    <a:pt x="5353" y="3931"/>
                  </a:moveTo>
                  <a:lnTo>
                    <a:pt x="5353" y="7038"/>
                  </a:lnTo>
                  <a:lnTo>
                    <a:pt x="7121" y="4777"/>
                  </a:lnTo>
                  <a:lnTo>
                    <a:pt x="8442" y="6869"/>
                  </a:lnTo>
                  <a:lnTo>
                    <a:pt x="9574" y="6045"/>
                  </a:lnTo>
                  <a:lnTo>
                    <a:pt x="11555" y="7609"/>
                  </a:lnTo>
                  <a:lnTo>
                    <a:pt x="11555" y="3931"/>
                  </a:lnTo>
                  <a:lnTo>
                    <a:pt x="5353" y="3931"/>
                  </a:lnTo>
                  <a:close/>
                  <a:moveTo>
                    <a:pt x="9880" y="4988"/>
                  </a:moveTo>
                  <a:cubicBezTo>
                    <a:pt x="9880" y="4671"/>
                    <a:pt x="10140" y="4417"/>
                    <a:pt x="10493" y="4417"/>
                  </a:cubicBezTo>
                  <a:cubicBezTo>
                    <a:pt x="10824" y="4417"/>
                    <a:pt x="11130" y="4671"/>
                    <a:pt x="11130" y="4988"/>
                  </a:cubicBezTo>
                  <a:cubicBezTo>
                    <a:pt x="11130" y="5284"/>
                    <a:pt x="10824" y="5537"/>
                    <a:pt x="10493" y="5537"/>
                  </a:cubicBezTo>
                  <a:cubicBezTo>
                    <a:pt x="10140" y="5537"/>
                    <a:pt x="9880" y="5284"/>
                    <a:pt x="9880" y="4988"/>
                  </a:cubicBezTo>
                  <a:close/>
                  <a:moveTo>
                    <a:pt x="21506" y="13505"/>
                  </a:moveTo>
                  <a:cubicBezTo>
                    <a:pt x="21553" y="13569"/>
                    <a:pt x="21576" y="13653"/>
                    <a:pt x="21600" y="13759"/>
                  </a:cubicBezTo>
                  <a:cubicBezTo>
                    <a:pt x="21600" y="14139"/>
                    <a:pt x="21246" y="14456"/>
                    <a:pt x="20798" y="14456"/>
                  </a:cubicBezTo>
                  <a:lnTo>
                    <a:pt x="19501" y="14456"/>
                  </a:lnTo>
                  <a:lnTo>
                    <a:pt x="19501" y="16633"/>
                  </a:lnTo>
                  <a:cubicBezTo>
                    <a:pt x="19501" y="18514"/>
                    <a:pt x="17780" y="20078"/>
                    <a:pt x="15658" y="20078"/>
                  </a:cubicBezTo>
                  <a:lnTo>
                    <a:pt x="14125" y="20078"/>
                  </a:lnTo>
                  <a:lnTo>
                    <a:pt x="14125" y="21600"/>
                  </a:lnTo>
                  <a:lnTo>
                    <a:pt x="3726" y="21600"/>
                  </a:lnTo>
                  <a:lnTo>
                    <a:pt x="3726" y="15619"/>
                  </a:lnTo>
                  <a:cubicBezTo>
                    <a:pt x="1462" y="14034"/>
                    <a:pt x="0" y="11540"/>
                    <a:pt x="0" y="8750"/>
                  </a:cubicBezTo>
                  <a:cubicBezTo>
                    <a:pt x="0" y="3910"/>
                    <a:pt x="4362" y="0"/>
                    <a:pt x="9739" y="0"/>
                  </a:cubicBezTo>
                  <a:cubicBezTo>
                    <a:pt x="14148" y="0"/>
                    <a:pt x="18228" y="2980"/>
                    <a:pt x="19077" y="6256"/>
                  </a:cubicBezTo>
                  <a:cubicBezTo>
                    <a:pt x="19242" y="6975"/>
                    <a:pt x="19478" y="8898"/>
                    <a:pt x="19478" y="8898"/>
                  </a:cubicBezTo>
                  <a:lnTo>
                    <a:pt x="21506" y="13505"/>
                  </a:lnTo>
                  <a:close/>
                  <a:moveTo>
                    <a:pt x="8277" y="9638"/>
                  </a:moveTo>
                  <a:cubicBezTo>
                    <a:pt x="15870" y="9490"/>
                    <a:pt x="15776" y="3466"/>
                    <a:pt x="15776" y="3445"/>
                  </a:cubicBezTo>
                  <a:cubicBezTo>
                    <a:pt x="14243" y="1987"/>
                    <a:pt x="12073" y="1078"/>
                    <a:pt x="9645" y="1078"/>
                  </a:cubicBezTo>
                  <a:cubicBezTo>
                    <a:pt x="4976" y="1078"/>
                    <a:pt x="1226" y="4438"/>
                    <a:pt x="1226" y="8623"/>
                  </a:cubicBezTo>
                  <a:cubicBezTo>
                    <a:pt x="1226" y="10568"/>
                    <a:pt x="2028" y="12301"/>
                    <a:pt x="3372" y="13653"/>
                  </a:cubicBezTo>
                  <a:cubicBezTo>
                    <a:pt x="3372" y="13653"/>
                    <a:pt x="2971" y="9638"/>
                    <a:pt x="8277" y="9638"/>
                  </a:cubicBezTo>
                  <a:close/>
                  <a:moveTo>
                    <a:pt x="17072" y="10652"/>
                  </a:moveTo>
                  <a:cubicBezTo>
                    <a:pt x="17686" y="10652"/>
                    <a:pt x="18157" y="10187"/>
                    <a:pt x="18157" y="9659"/>
                  </a:cubicBezTo>
                  <a:cubicBezTo>
                    <a:pt x="18157" y="9130"/>
                    <a:pt x="17662" y="8686"/>
                    <a:pt x="17072" y="8686"/>
                  </a:cubicBezTo>
                  <a:cubicBezTo>
                    <a:pt x="16483" y="8686"/>
                    <a:pt x="15988" y="9130"/>
                    <a:pt x="15988" y="9659"/>
                  </a:cubicBezTo>
                  <a:cubicBezTo>
                    <a:pt x="15988" y="10187"/>
                    <a:pt x="16459" y="10652"/>
                    <a:pt x="17072" y="10652"/>
                  </a:cubicBezTo>
                  <a:close/>
                </a:path>
              </a:pathLst>
            </a:custGeom>
            <a:solidFill>
              <a:srgbClr val="89CC40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>
                <a:solidFill>
                  <a:srgbClr val="0066FF"/>
                </a:solidFill>
              </a:endParaRPr>
            </a:p>
          </p:txBody>
        </p:sp>
        <p:sp>
          <p:nvSpPr>
            <p:cNvPr id="31" name="Shape 874">
              <a:extLst>
                <a:ext uri="{FF2B5EF4-FFF2-40B4-BE49-F238E27FC236}">
                  <a16:creationId xmlns:a16="http://schemas.microsoft.com/office/drawing/2014/main" id="{B09BA311-BA0B-C9F2-FBF3-89651BAD183E}"/>
                </a:ext>
              </a:extLst>
            </p:cNvPr>
            <p:cNvSpPr/>
            <p:nvPr/>
          </p:nvSpPr>
          <p:spPr>
            <a:xfrm>
              <a:off x="8747518" y="2875352"/>
              <a:ext cx="436050" cy="418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331" y="11275"/>
                  </a:moveTo>
                  <a:lnTo>
                    <a:pt x="12331" y="10135"/>
                  </a:lnTo>
                  <a:lnTo>
                    <a:pt x="14542" y="9544"/>
                  </a:lnTo>
                  <a:lnTo>
                    <a:pt x="14542" y="10663"/>
                  </a:lnTo>
                  <a:lnTo>
                    <a:pt x="12331" y="11275"/>
                  </a:lnTo>
                  <a:close/>
                  <a:moveTo>
                    <a:pt x="12331" y="12120"/>
                  </a:moveTo>
                  <a:lnTo>
                    <a:pt x="14542" y="11507"/>
                  </a:lnTo>
                  <a:lnTo>
                    <a:pt x="14542" y="12648"/>
                  </a:lnTo>
                  <a:lnTo>
                    <a:pt x="12331" y="13239"/>
                  </a:lnTo>
                  <a:lnTo>
                    <a:pt x="12331" y="12120"/>
                  </a:lnTo>
                  <a:close/>
                  <a:moveTo>
                    <a:pt x="15353" y="9269"/>
                  </a:moveTo>
                  <a:lnTo>
                    <a:pt x="17686" y="8615"/>
                  </a:lnTo>
                  <a:lnTo>
                    <a:pt x="17686" y="11761"/>
                  </a:lnTo>
                  <a:lnTo>
                    <a:pt x="15353" y="12415"/>
                  </a:lnTo>
                  <a:lnTo>
                    <a:pt x="15353" y="9269"/>
                  </a:lnTo>
                  <a:close/>
                  <a:moveTo>
                    <a:pt x="17686" y="12690"/>
                  </a:moveTo>
                  <a:lnTo>
                    <a:pt x="17686" y="13788"/>
                  </a:lnTo>
                  <a:lnTo>
                    <a:pt x="12331" y="15266"/>
                  </a:lnTo>
                  <a:lnTo>
                    <a:pt x="12331" y="14147"/>
                  </a:lnTo>
                  <a:lnTo>
                    <a:pt x="17686" y="12690"/>
                  </a:lnTo>
                  <a:close/>
                  <a:moveTo>
                    <a:pt x="17686" y="15794"/>
                  </a:moveTo>
                  <a:lnTo>
                    <a:pt x="12331" y="17272"/>
                  </a:lnTo>
                  <a:lnTo>
                    <a:pt x="12331" y="16152"/>
                  </a:lnTo>
                  <a:lnTo>
                    <a:pt x="17686" y="14674"/>
                  </a:lnTo>
                  <a:lnTo>
                    <a:pt x="17686" y="15794"/>
                  </a:lnTo>
                  <a:close/>
                  <a:moveTo>
                    <a:pt x="3874" y="8615"/>
                  </a:moveTo>
                  <a:lnTo>
                    <a:pt x="9248" y="10050"/>
                  </a:lnTo>
                  <a:lnTo>
                    <a:pt x="9248" y="11170"/>
                  </a:lnTo>
                  <a:lnTo>
                    <a:pt x="3874" y="9734"/>
                  </a:lnTo>
                  <a:lnTo>
                    <a:pt x="3874" y="8615"/>
                  </a:lnTo>
                  <a:close/>
                  <a:moveTo>
                    <a:pt x="3874" y="11740"/>
                  </a:moveTo>
                  <a:lnTo>
                    <a:pt x="3874" y="10621"/>
                  </a:lnTo>
                  <a:lnTo>
                    <a:pt x="9248" y="12056"/>
                  </a:lnTo>
                  <a:lnTo>
                    <a:pt x="9248" y="13175"/>
                  </a:lnTo>
                  <a:lnTo>
                    <a:pt x="3874" y="11740"/>
                  </a:lnTo>
                  <a:close/>
                  <a:moveTo>
                    <a:pt x="3874" y="13724"/>
                  </a:moveTo>
                  <a:lnTo>
                    <a:pt x="3874" y="12605"/>
                  </a:lnTo>
                  <a:lnTo>
                    <a:pt x="9248" y="14083"/>
                  </a:lnTo>
                  <a:lnTo>
                    <a:pt x="9248" y="15202"/>
                  </a:lnTo>
                  <a:lnTo>
                    <a:pt x="3874" y="13724"/>
                  </a:lnTo>
                  <a:close/>
                  <a:moveTo>
                    <a:pt x="3874" y="15730"/>
                  </a:moveTo>
                  <a:lnTo>
                    <a:pt x="3874" y="14590"/>
                  </a:lnTo>
                  <a:lnTo>
                    <a:pt x="9248" y="16068"/>
                  </a:lnTo>
                  <a:lnTo>
                    <a:pt x="9248" y="17187"/>
                  </a:lnTo>
                  <a:lnTo>
                    <a:pt x="3874" y="15730"/>
                  </a:lnTo>
                  <a:close/>
                  <a:moveTo>
                    <a:pt x="21600" y="11444"/>
                  </a:moveTo>
                  <a:cubicBezTo>
                    <a:pt x="21600" y="12331"/>
                    <a:pt x="20910" y="13028"/>
                    <a:pt x="20079" y="13028"/>
                  </a:cubicBezTo>
                  <a:lnTo>
                    <a:pt x="19917" y="13028"/>
                  </a:lnTo>
                  <a:lnTo>
                    <a:pt x="19917" y="17609"/>
                  </a:lnTo>
                  <a:cubicBezTo>
                    <a:pt x="19917" y="17715"/>
                    <a:pt x="19835" y="17842"/>
                    <a:pt x="19714" y="17863"/>
                  </a:cubicBezTo>
                  <a:lnTo>
                    <a:pt x="16083" y="18876"/>
                  </a:lnTo>
                  <a:lnTo>
                    <a:pt x="16083" y="21600"/>
                  </a:lnTo>
                  <a:lnTo>
                    <a:pt x="5496" y="21600"/>
                  </a:lnTo>
                  <a:lnTo>
                    <a:pt x="5496" y="18876"/>
                  </a:lnTo>
                  <a:lnTo>
                    <a:pt x="1866" y="17863"/>
                  </a:lnTo>
                  <a:cubicBezTo>
                    <a:pt x="1765" y="17842"/>
                    <a:pt x="1683" y="17715"/>
                    <a:pt x="1683" y="17609"/>
                  </a:cubicBezTo>
                  <a:lnTo>
                    <a:pt x="1683" y="13028"/>
                  </a:lnTo>
                  <a:lnTo>
                    <a:pt x="1501" y="13028"/>
                  </a:lnTo>
                  <a:cubicBezTo>
                    <a:pt x="669" y="13028"/>
                    <a:pt x="0" y="12289"/>
                    <a:pt x="0" y="11444"/>
                  </a:cubicBezTo>
                  <a:cubicBezTo>
                    <a:pt x="0" y="10578"/>
                    <a:pt x="690" y="9882"/>
                    <a:pt x="1501" y="9882"/>
                  </a:cubicBezTo>
                  <a:lnTo>
                    <a:pt x="1683" y="9882"/>
                  </a:lnTo>
                  <a:lnTo>
                    <a:pt x="1683" y="5490"/>
                  </a:lnTo>
                  <a:cubicBezTo>
                    <a:pt x="1683" y="5405"/>
                    <a:pt x="1724" y="5321"/>
                    <a:pt x="1785" y="5279"/>
                  </a:cubicBezTo>
                  <a:cubicBezTo>
                    <a:pt x="1846" y="5236"/>
                    <a:pt x="1927" y="5215"/>
                    <a:pt x="2008" y="5236"/>
                  </a:cubicBezTo>
                  <a:lnTo>
                    <a:pt x="10810" y="7643"/>
                  </a:lnTo>
                  <a:lnTo>
                    <a:pt x="19612" y="5215"/>
                  </a:lnTo>
                  <a:cubicBezTo>
                    <a:pt x="19694" y="5194"/>
                    <a:pt x="19775" y="5215"/>
                    <a:pt x="19835" y="5257"/>
                  </a:cubicBezTo>
                  <a:cubicBezTo>
                    <a:pt x="19917" y="5300"/>
                    <a:pt x="19937" y="5384"/>
                    <a:pt x="19937" y="5469"/>
                  </a:cubicBezTo>
                  <a:lnTo>
                    <a:pt x="19937" y="9860"/>
                  </a:lnTo>
                  <a:lnTo>
                    <a:pt x="20079" y="9860"/>
                  </a:lnTo>
                  <a:cubicBezTo>
                    <a:pt x="20910" y="9860"/>
                    <a:pt x="21600" y="10557"/>
                    <a:pt x="21600" y="11444"/>
                  </a:cubicBezTo>
                  <a:close/>
                  <a:moveTo>
                    <a:pt x="3022" y="6926"/>
                  </a:moveTo>
                  <a:lnTo>
                    <a:pt x="3022" y="16765"/>
                  </a:lnTo>
                  <a:lnTo>
                    <a:pt x="10323" y="18750"/>
                  </a:lnTo>
                  <a:lnTo>
                    <a:pt x="10323" y="8931"/>
                  </a:lnTo>
                  <a:lnTo>
                    <a:pt x="3022" y="6926"/>
                  </a:lnTo>
                  <a:close/>
                  <a:moveTo>
                    <a:pt x="11297" y="8931"/>
                  </a:moveTo>
                  <a:lnTo>
                    <a:pt x="11297" y="18750"/>
                  </a:lnTo>
                  <a:lnTo>
                    <a:pt x="18578" y="16765"/>
                  </a:lnTo>
                  <a:lnTo>
                    <a:pt x="18578" y="6926"/>
                  </a:lnTo>
                  <a:lnTo>
                    <a:pt x="11297" y="8931"/>
                  </a:lnTo>
                  <a:close/>
                  <a:moveTo>
                    <a:pt x="10790" y="6820"/>
                  </a:moveTo>
                  <a:cubicBezTo>
                    <a:pt x="8985" y="6820"/>
                    <a:pt x="7525" y="5257"/>
                    <a:pt x="7525" y="3399"/>
                  </a:cubicBezTo>
                  <a:cubicBezTo>
                    <a:pt x="7525" y="1520"/>
                    <a:pt x="9005" y="0"/>
                    <a:pt x="10790" y="0"/>
                  </a:cubicBezTo>
                  <a:cubicBezTo>
                    <a:pt x="12595" y="0"/>
                    <a:pt x="14055" y="1541"/>
                    <a:pt x="14055" y="3421"/>
                  </a:cubicBezTo>
                  <a:cubicBezTo>
                    <a:pt x="14055" y="5279"/>
                    <a:pt x="12615" y="6820"/>
                    <a:pt x="10790" y="6820"/>
                  </a:cubicBezTo>
                  <a:close/>
                </a:path>
              </a:pathLst>
            </a:custGeom>
            <a:solidFill>
              <a:srgbClr val="89CC40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32" name="Shape 875">
              <a:extLst>
                <a:ext uri="{FF2B5EF4-FFF2-40B4-BE49-F238E27FC236}">
                  <a16:creationId xmlns:a16="http://schemas.microsoft.com/office/drawing/2014/main" id="{BFB8DF7B-0A92-4873-B301-5BFBF49AE766}"/>
                </a:ext>
              </a:extLst>
            </p:cNvPr>
            <p:cNvSpPr/>
            <p:nvPr/>
          </p:nvSpPr>
          <p:spPr>
            <a:xfrm>
              <a:off x="9723476" y="2874533"/>
              <a:ext cx="421622" cy="3945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30" y="3836"/>
                  </a:moveTo>
                  <a:cubicBezTo>
                    <a:pt x="4026" y="3836"/>
                    <a:pt x="4677" y="4508"/>
                    <a:pt x="4677" y="5361"/>
                  </a:cubicBezTo>
                  <a:cubicBezTo>
                    <a:pt x="4677" y="5854"/>
                    <a:pt x="4467" y="6280"/>
                    <a:pt x="4131" y="6550"/>
                  </a:cubicBezTo>
                  <a:cubicBezTo>
                    <a:pt x="3901" y="6774"/>
                    <a:pt x="3565" y="6908"/>
                    <a:pt x="3230" y="6908"/>
                  </a:cubicBezTo>
                  <a:cubicBezTo>
                    <a:pt x="2768" y="6908"/>
                    <a:pt x="2349" y="6662"/>
                    <a:pt x="2097" y="6303"/>
                  </a:cubicBezTo>
                  <a:cubicBezTo>
                    <a:pt x="1908" y="6034"/>
                    <a:pt x="1783" y="5697"/>
                    <a:pt x="1783" y="5338"/>
                  </a:cubicBezTo>
                  <a:cubicBezTo>
                    <a:pt x="1783" y="4486"/>
                    <a:pt x="2433" y="3836"/>
                    <a:pt x="3230" y="3836"/>
                  </a:cubicBezTo>
                  <a:close/>
                  <a:moveTo>
                    <a:pt x="7004" y="3836"/>
                  </a:moveTo>
                  <a:cubicBezTo>
                    <a:pt x="7801" y="3836"/>
                    <a:pt x="8451" y="4508"/>
                    <a:pt x="8451" y="5361"/>
                  </a:cubicBezTo>
                  <a:cubicBezTo>
                    <a:pt x="8451" y="6213"/>
                    <a:pt x="7801" y="6908"/>
                    <a:pt x="7004" y="6908"/>
                  </a:cubicBezTo>
                  <a:cubicBezTo>
                    <a:pt x="6207" y="6908"/>
                    <a:pt x="5557" y="6213"/>
                    <a:pt x="5557" y="5361"/>
                  </a:cubicBezTo>
                  <a:cubicBezTo>
                    <a:pt x="5557" y="4508"/>
                    <a:pt x="6228" y="3836"/>
                    <a:pt x="7004" y="3836"/>
                  </a:cubicBezTo>
                  <a:close/>
                  <a:moveTo>
                    <a:pt x="5075" y="0"/>
                  </a:moveTo>
                  <a:cubicBezTo>
                    <a:pt x="5872" y="0"/>
                    <a:pt x="6522" y="695"/>
                    <a:pt x="6522" y="1548"/>
                  </a:cubicBezTo>
                  <a:cubicBezTo>
                    <a:pt x="6522" y="2400"/>
                    <a:pt x="5872" y="3073"/>
                    <a:pt x="5075" y="3073"/>
                  </a:cubicBezTo>
                  <a:cubicBezTo>
                    <a:pt x="4278" y="3073"/>
                    <a:pt x="3628" y="2378"/>
                    <a:pt x="3628" y="1525"/>
                  </a:cubicBezTo>
                  <a:cubicBezTo>
                    <a:pt x="3628" y="673"/>
                    <a:pt x="4278" y="0"/>
                    <a:pt x="5075" y="0"/>
                  </a:cubicBezTo>
                  <a:close/>
                  <a:moveTo>
                    <a:pt x="8934" y="0"/>
                  </a:moveTo>
                  <a:cubicBezTo>
                    <a:pt x="9730" y="0"/>
                    <a:pt x="10381" y="695"/>
                    <a:pt x="10381" y="1548"/>
                  </a:cubicBezTo>
                  <a:cubicBezTo>
                    <a:pt x="10381" y="2400"/>
                    <a:pt x="9730" y="3073"/>
                    <a:pt x="8934" y="3073"/>
                  </a:cubicBezTo>
                  <a:cubicBezTo>
                    <a:pt x="8137" y="3073"/>
                    <a:pt x="7487" y="2378"/>
                    <a:pt x="7487" y="1525"/>
                  </a:cubicBezTo>
                  <a:cubicBezTo>
                    <a:pt x="7487" y="673"/>
                    <a:pt x="8158" y="0"/>
                    <a:pt x="8934" y="0"/>
                  </a:cubicBezTo>
                  <a:close/>
                  <a:moveTo>
                    <a:pt x="12603" y="0"/>
                  </a:moveTo>
                  <a:cubicBezTo>
                    <a:pt x="13400" y="0"/>
                    <a:pt x="14050" y="695"/>
                    <a:pt x="14050" y="1548"/>
                  </a:cubicBezTo>
                  <a:cubicBezTo>
                    <a:pt x="14050" y="2400"/>
                    <a:pt x="13400" y="3073"/>
                    <a:pt x="12603" y="3073"/>
                  </a:cubicBezTo>
                  <a:cubicBezTo>
                    <a:pt x="11807" y="3073"/>
                    <a:pt x="11177" y="2400"/>
                    <a:pt x="11177" y="1548"/>
                  </a:cubicBezTo>
                  <a:cubicBezTo>
                    <a:pt x="11177" y="695"/>
                    <a:pt x="11807" y="0"/>
                    <a:pt x="12603" y="0"/>
                  </a:cubicBezTo>
                  <a:close/>
                  <a:moveTo>
                    <a:pt x="16273" y="0"/>
                  </a:moveTo>
                  <a:cubicBezTo>
                    <a:pt x="17070" y="0"/>
                    <a:pt x="17720" y="695"/>
                    <a:pt x="17720" y="1548"/>
                  </a:cubicBezTo>
                  <a:cubicBezTo>
                    <a:pt x="17720" y="2400"/>
                    <a:pt x="17070" y="3073"/>
                    <a:pt x="16273" y="3073"/>
                  </a:cubicBezTo>
                  <a:cubicBezTo>
                    <a:pt x="15477" y="3073"/>
                    <a:pt x="14847" y="2378"/>
                    <a:pt x="14847" y="1548"/>
                  </a:cubicBezTo>
                  <a:cubicBezTo>
                    <a:pt x="14847" y="718"/>
                    <a:pt x="15477" y="0"/>
                    <a:pt x="16273" y="0"/>
                  </a:cubicBezTo>
                  <a:close/>
                  <a:moveTo>
                    <a:pt x="14491" y="3836"/>
                  </a:moveTo>
                  <a:cubicBezTo>
                    <a:pt x="15288" y="3836"/>
                    <a:pt x="15938" y="4508"/>
                    <a:pt x="15938" y="5361"/>
                  </a:cubicBezTo>
                  <a:cubicBezTo>
                    <a:pt x="15938" y="6213"/>
                    <a:pt x="15288" y="6908"/>
                    <a:pt x="14491" y="6908"/>
                  </a:cubicBezTo>
                  <a:cubicBezTo>
                    <a:pt x="13694" y="6908"/>
                    <a:pt x="13065" y="6213"/>
                    <a:pt x="13065" y="5361"/>
                  </a:cubicBezTo>
                  <a:cubicBezTo>
                    <a:pt x="13065" y="4508"/>
                    <a:pt x="13694" y="3836"/>
                    <a:pt x="14491" y="3836"/>
                  </a:cubicBezTo>
                  <a:close/>
                  <a:moveTo>
                    <a:pt x="10590" y="3836"/>
                  </a:moveTo>
                  <a:cubicBezTo>
                    <a:pt x="11387" y="3836"/>
                    <a:pt x="12037" y="4508"/>
                    <a:pt x="12037" y="5361"/>
                  </a:cubicBezTo>
                  <a:cubicBezTo>
                    <a:pt x="12037" y="6213"/>
                    <a:pt x="11387" y="6908"/>
                    <a:pt x="10590" y="6908"/>
                  </a:cubicBezTo>
                  <a:cubicBezTo>
                    <a:pt x="9793" y="6908"/>
                    <a:pt x="9143" y="6213"/>
                    <a:pt x="9143" y="5361"/>
                  </a:cubicBezTo>
                  <a:cubicBezTo>
                    <a:pt x="9143" y="4508"/>
                    <a:pt x="9793" y="3836"/>
                    <a:pt x="10590" y="3836"/>
                  </a:cubicBezTo>
                  <a:close/>
                  <a:moveTo>
                    <a:pt x="18266" y="3836"/>
                  </a:moveTo>
                  <a:cubicBezTo>
                    <a:pt x="19063" y="3836"/>
                    <a:pt x="19713" y="4508"/>
                    <a:pt x="19713" y="5361"/>
                  </a:cubicBezTo>
                  <a:cubicBezTo>
                    <a:pt x="19713" y="6213"/>
                    <a:pt x="19063" y="6908"/>
                    <a:pt x="18266" y="6908"/>
                  </a:cubicBezTo>
                  <a:cubicBezTo>
                    <a:pt x="17469" y="6908"/>
                    <a:pt x="16819" y="6213"/>
                    <a:pt x="16819" y="5361"/>
                  </a:cubicBezTo>
                  <a:cubicBezTo>
                    <a:pt x="16819" y="4508"/>
                    <a:pt x="17469" y="3836"/>
                    <a:pt x="18266" y="3836"/>
                  </a:cubicBezTo>
                  <a:close/>
                  <a:moveTo>
                    <a:pt x="4823" y="7200"/>
                  </a:moveTo>
                  <a:cubicBezTo>
                    <a:pt x="5830" y="7200"/>
                    <a:pt x="6438" y="8052"/>
                    <a:pt x="6522" y="9151"/>
                  </a:cubicBezTo>
                  <a:lnTo>
                    <a:pt x="6522" y="14131"/>
                  </a:lnTo>
                  <a:cubicBezTo>
                    <a:pt x="6522" y="15028"/>
                    <a:pt x="5410" y="15028"/>
                    <a:pt x="5410" y="14131"/>
                  </a:cubicBezTo>
                  <a:lnTo>
                    <a:pt x="5410" y="9443"/>
                  </a:lnTo>
                  <a:cubicBezTo>
                    <a:pt x="5410" y="9353"/>
                    <a:pt x="5348" y="9264"/>
                    <a:pt x="5222" y="9264"/>
                  </a:cubicBezTo>
                  <a:cubicBezTo>
                    <a:pt x="5138" y="9264"/>
                    <a:pt x="5054" y="9331"/>
                    <a:pt x="5054" y="9443"/>
                  </a:cubicBezTo>
                  <a:lnTo>
                    <a:pt x="5054" y="20748"/>
                  </a:lnTo>
                  <a:cubicBezTo>
                    <a:pt x="5054" y="21219"/>
                    <a:pt x="4697" y="21600"/>
                    <a:pt x="4257" y="21600"/>
                  </a:cubicBezTo>
                  <a:cubicBezTo>
                    <a:pt x="3817" y="21600"/>
                    <a:pt x="3460" y="21219"/>
                    <a:pt x="3460" y="20748"/>
                  </a:cubicBezTo>
                  <a:lnTo>
                    <a:pt x="3460" y="15118"/>
                  </a:lnTo>
                  <a:cubicBezTo>
                    <a:pt x="3460" y="15028"/>
                    <a:pt x="3397" y="14938"/>
                    <a:pt x="3271" y="14938"/>
                  </a:cubicBezTo>
                  <a:lnTo>
                    <a:pt x="3230" y="14938"/>
                  </a:lnTo>
                  <a:cubicBezTo>
                    <a:pt x="3146" y="14938"/>
                    <a:pt x="3062" y="15006"/>
                    <a:pt x="3062" y="15118"/>
                  </a:cubicBezTo>
                  <a:lnTo>
                    <a:pt x="3062" y="20748"/>
                  </a:lnTo>
                  <a:cubicBezTo>
                    <a:pt x="3062" y="21219"/>
                    <a:pt x="2726" y="21600"/>
                    <a:pt x="2265" y="21600"/>
                  </a:cubicBezTo>
                  <a:cubicBezTo>
                    <a:pt x="1824" y="21600"/>
                    <a:pt x="1468" y="21219"/>
                    <a:pt x="1468" y="20748"/>
                  </a:cubicBezTo>
                  <a:lnTo>
                    <a:pt x="1468" y="9443"/>
                  </a:lnTo>
                  <a:cubicBezTo>
                    <a:pt x="1468" y="9331"/>
                    <a:pt x="1384" y="9264"/>
                    <a:pt x="1279" y="9264"/>
                  </a:cubicBezTo>
                  <a:cubicBezTo>
                    <a:pt x="1195" y="9264"/>
                    <a:pt x="1111" y="9331"/>
                    <a:pt x="1111" y="9443"/>
                  </a:cubicBezTo>
                  <a:lnTo>
                    <a:pt x="1111" y="14108"/>
                  </a:lnTo>
                  <a:cubicBezTo>
                    <a:pt x="1111" y="15006"/>
                    <a:pt x="0" y="15006"/>
                    <a:pt x="0" y="14108"/>
                  </a:cubicBezTo>
                  <a:lnTo>
                    <a:pt x="0" y="9151"/>
                  </a:lnTo>
                  <a:cubicBezTo>
                    <a:pt x="0" y="8052"/>
                    <a:pt x="608" y="7200"/>
                    <a:pt x="1594" y="7200"/>
                  </a:cubicBezTo>
                  <a:lnTo>
                    <a:pt x="4823" y="7200"/>
                  </a:lnTo>
                  <a:close/>
                  <a:moveTo>
                    <a:pt x="12205" y="7200"/>
                  </a:moveTo>
                  <a:cubicBezTo>
                    <a:pt x="13212" y="7200"/>
                    <a:pt x="13841" y="8052"/>
                    <a:pt x="13904" y="9151"/>
                  </a:cubicBezTo>
                  <a:lnTo>
                    <a:pt x="13904" y="14131"/>
                  </a:lnTo>
                  <a:cubicBezTo>
                    <a:pt x="13904" y="15028"/>
                    <a:pt x="12792" y="15028"/>
                    <a:pt x="12792" y="14131"/>
                  </a:cubicBezTo>
                  <a:lnTo>
                    <a:pt x="12792" y="9443"/>
                  </a:lnTo>
                  <a:cubicBezTo>
                    <a:pt x="12792" y="9353"/>
                    <a:pt x="12729" y="9264"/>
                    <a:pt x="12603" y="9264"/>
                  </a:cubicBezTo>
                  <a:cubicBezTo>
                    <a:pt x="12520" y="9264"/>
                    <a:pt x="12436" y="9331"/>
                    <a:pt x="12436" y="9443"/>
                  </a:cubicBezTo>
                  <a:lnTo>
                    <a:pt x="12436" y="20748"/>
                  </a:lnTo>
                  <a:cubicBezTo>
                    <a:pt x="12436" y="21219"/>
                    <a:pt x="12079" y="21600"/>
                    <a:pt x="11639" y="21600"/>
                  </a:cubicBezTo>
                  <a:cubicBezTo>
                    <a:pt x="11198" y="21600"/>
                    <a:pt x="10842" y="21219"/>
                    <a:pt x="10842" y="20748"/>
                  </a:cubicBezTo>
                  <a:lnTo>
                    <a:pt x="10842" y="15118"/>
                  </a:lnTo>
                  <a:cubicBezTo>
                    <a:pt x="10842" y="15028"/>
                    <a:pt x="10779" y="14938"/>
                    <a:pt x="10653" y="14938"/>
                  </a:cubicBezTo>
                  <a:lnTo>
                    <a:pt x="10611" y="14938"/>
                  </a:lnTo>
                  <a:cubicBezTo>
                    <a:pt x="10527" y="14938"/>
                    <a:pt x="10443" y="15006"/>
                    <a:pt x="10443" y="15118"/>
                  </a:cubicBezTo>
                  <a:lnTo>
                    <a:pt x="10443" y="20748"/>
                  </a:lnTo>
                  <a:cubicBezTo>
                    <a:pt x="10443" y="21219"/>
                    <a:pt x="10087" y="21600"/>
                    <a:pt x="9647" y="21600"/>
                  </a:cubicBezTo>
                  <a:cubicBezTo>
                    <a:pt x="9206" y="21600"/>
                    <a:pt x="8850" y="21219"/>
                    <a:pt x="8850" y="20748"/>
                  </a:cubicBezTo>
                  <a:lnTo>
                    <a:pt x="8850" y="9443"/>
                  </a:lnTo>
                  <a:cubicBezTo>
                    <a:pt x="8850" y="9331"/>
                    <a:pt x="8766" y="9264"/>
                    <a:pt x="8661" y="9264"/>
                  </a:cubicBezTo>
                  <a:cubicBezTo>
                    <a:pt x="8577" y="9264"/>
                    <a:pt x="8493" y="9331"/>
                    <a:pt x="8493" y="9443"/>
                  </a:cubicBezTo>
                  <a:lnTo>
                    <a:pt x="8493" y="14108"/>
                  </a:lnTo>
                  <a:cubicBezTo>
                    <a:pt x="8493" y="15006"/>
                    <a:pt x="7382" y="15006"/>
                    <a:pt x="7382" y="14108"/>
                  </a:cubicBezTo>
                  <a:lnTo>
                    <a:pt x="7382" y="9151"/>
                  </a:lnTo>
                  <a:cubicBezTo>
                    <a:pt x="7382" y="8052"/>
                    <a:pt x="7990" y="7200"/>
                    <a:pt x="8976" y="7200"/>
                  </a:cubicBezTo>
                  <a:lnTo>
                    <a:pt x="12205" y="7200"/>
                  </a:lnTo>
                  <a:close/>
                  <a:moveTo>
                    <a:pt x="19901" y="7200"/>
                  </a:moveTo>
                  <a:cubicBezTo>
                    <a:pt x="20929" y="7200"/>
                    <a:pt x="21516" y="8052"/>
                    <a:pt x="21600" y="9151"/>
                  </a:cubicBezTo>
                  <a:lnTo>
                    <a:pt x="21600" y="14131"/>
                  </a:lnTo>
                  <a:cubicBezTo>
                    <a:pt x="21600" y="15028"/>
                    <a:pt x="20489" y="15028"/>
                    <a:pt x="20489" y="14131"/>
                  </a:cubicBezTo>
                  <a:lnTo>
                    <a:pt x="20489" y="9443"/>
                  </a:lnTo>
                  <a:cubicBezTo>
                    <a:pt x="20489" y="9353"/>
                    <a:pt x="20426" y="9264"/>
                    <a:pt x="20300" y="9264"/>
                  </a:cubicBezTo>
                  <a:cubicBezTo>
                    <a:pt x="20216" y="9264"/>
                    <a:pt x="20132" y="9331"/>
                    <a:pt x="20132" y="9443"/>
                  </a:cubicBezTo>
                  <a:lnTo>
                    <a:pt x="20132" y="20748"/>
                  </a:lnTo>
                  <a:cubicBezTo>
                    <a:pt x="20132" y="21219"/>
                    <a:pt x="19776" y="21600"/>
                    <a:pt x="19335" y="21600"/>
                  </a:cubicBezTo>
                  <a:cubicBezTo>
                    <a:pt x="18895" y="21600"/>
                    <a:pt x="18538" y="21219"/>
                    <a:pt x="18538" y="20748"/>
                  </a:cubicBezTo>
                  <a:lnTo>
                    <a:pt x="18538" y="15118"/>
                  </a:lnTo>
                  <a:cubicBezTo>
                    <a:pt x="18538" y="15028"/>
                    <a:pt x="18475" y="14938"/>
                    <a:pt x="18350" y="14938"/>
                  </a:cubicBezTo>
                  <a:lnTo>
                    <a:pt x="18308" y="14938"/>
                  </a:lnTo>
                  <a:cubicBezTo>
                    <a:pt x="18224" y="14938"/>
                    <a:pt x="18140" y="15006"/>
                    <a:pt x="18140" y="15118"/>
                  </a:cubicBezTo>
                  <a:lnTo>
                    <a:pt x="18140" y="20748"/>
                  </a:lnTo>
                  <a:cubicBezTo>
                    <a:pt x="18140" y="21219"/>
                    <a:pt x="17804" y="21600"/>
                    <a:pt x="17343" y="21600"/>
                  </a:cubicBezTo>
                  <a:cubicBezTo>
                    <a:pt x="16903" y="21600"/>
                    <a:pt x="16546" y="21219"/>
                    <a:pt x="16546" y="20748"/>
                  </a:cubicBezTo>
                  <a:lnTo>
                    <a:pt x="16546" y="9443"/>
                  </a:lnTo>
                  <a:cubicBezTo>
                    <a:pt x="16546" y="9331"/>
                    <a:pt x="16462" y="9264"/>
                    <a:pt x="16357" y="9264"/>
                  </a:cubicBezTo>
                  <a:cubicBezTo>
                    <a:pt x="16273" y="9264"/>
                    <a:pt x="16190" y="9331"/>
                    <a:pt x="16190" y="9443"/>
                  </a:cubicBezTo>
                  <a:lnTo>
                    <a:pt x="16190" y="14108"/>
                  </a:lnTo>
                  <a:cubicBezTo>
                    <a:pt x="16190" y="15006"/>
                    <a:pt x="15078" y="15006"/>
                    <a:pt x="15078" y="14108"/>
                  </a:cubicBezTo>
                  <a:lnTo>
                    <a:pt x="15078" y="9151"/>
                  </a:lnTo>
                  <a:cubicBezTo>
                    <a:pt x="15078" y="8052"/>
                    <a:pt x="15686" y="7200"/>
                    <a:pt x="16672" y="7200"/>
                  </a:cubicBezTo>
                  <a:lnTo>
                    <a:pt x="19901" y="7200"/>
                  </a:lnTo>
                  <a:close/>
                </a:path>
              </a:pathLst>
            </a:custGeom>
            <a:solidFill>
              <a:srgbClr val="89CC40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33" name="Shape 876">
              <a:extLst>
                <a:ext uri="{FF2B5EF4-FFF2-40B4-BE49-F238E27FC236}">
                  <a16:creationId xmlns:a16="http://schemas.microsoft.com/office/drawing/2014/main" id="{6357C8C6-7EA6-41D1-1D14-FC137385FC63}"/>
                </a:ext>
              </a:extLst>
            </p:cNvPr>
            <p:cNvSpPr/>
            <p:nvPr/>
          </p:nvSpPr>
          <p:spPr>
            <a:xfrm>
              <a:off x="8515301" y="1583836"/>
              <a:ext cx="381945" cy="392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822" y="0"/>
                  </a:moveTo>
                  <a:lnTo>
                    <a:pt x="21600" y="0"/>
                  </a:lnTo>
                  <a:lnTo>
                    <a:pt x="21600" y="1123"/>
                  </a:lnTo>
                  <a:lnTo>
                    <a:pt x="20629" y="1123"/>
                  </a:lnTo>
                  <a:lnTo>
                    <a:pt x="20629" y="11249"/>
                  </a:lnTo>
                  <a:lnTo>
                    <a:pt x="8002" y="11249"/>
                  </a:lnTo>
                  <a:lnTo>
                    <a:pt x="8002" y="7522"/>
                  </a:lnTo>
                  <a:lnTo>
                    <a:pt x="7192" y="6714"/>
                  </a:lnTo>
                  <a:cubicBezTo>
                    <a:pt x="7169" y="6691"/>
                    <a:pt x="7100" y="6669"/>
                    <a:pt x="7054" y="6669"/>
                  </a:cubicBezTo>
                  <a:cubicBezTo>
                    <a:pt x="6938" y="6669"/>
                    <a:pt x="6845" y="6758"/>
                    <a:pt x="6845" y="6871"/>
                  </a:cubicBezTo>
                  <a:lnTo>
                    <a:pt x="6845" y="19063"/>
                  </a:lnTo>
                  <a:cubicBezTo>
                    <a:pt x="6845" y="19624"/>
                    <a:pt x="6383" y="20051"/>
                    <a:pt x="5828" y="20051"/>
                  </a:cubicBezTo>
                  <a:cubicBezTo>
                    <a:pt x="5250" y="20051"/>
                    <a:pt x="4810" y="19624"/>
                    <a:pt x="4810" y="19063"/>
                  </a:cubicBezTo>
                  <a:lnTo>
                    <a:pt x="4810" y="12192"/>
                  </a:lnTo>
                  <a:cubicBezTo>
                    <a:pt x="4810" y="12080"/>
                    <a:pt x="4718" y="11990"/>
                    <a:pt x="4602" y="11990"/>
                  </a:cubicBezTo>
                  <a:cubicBezTo>
                    <a:pt x="4487" y="11990"/>
                    <a:pt x="4417" y="12080"/>
                    <a:pt x="4417" y="12192"/>
                  </a:cubicBezTo>
                  <a:lnTo>
                    <a:pt x="4417" y="19085"/>
                  </a:lnTo>
                  <a:cubicBezTo>
                    <a:pt x="4417" y="19647"/>
                    <a:pt x="3955" y="20073"/>
                    <a:pt x="3400" y="20073"/>
                  </a:cubicBezTo>
                  <a:cubicBezTo>
                    <a:pt x="2821" y="20073"/>
                    <a:pt x="2382" y="19647"/>
                    <a:pt x="2382" y="19085"/>
                  </a:cubicBezTo>
                  <a:lnTo>
                    <a:pt x="2382" y="7073"/>
                  </a:lnTo>
                  <a:cubicBezTo>
                    <a:pt x="2382" y="6960"/>
                    <a:pt x="2290" y="6871"/>
                    <a:pt x="2174" y="6871"/>
                  </a:cubicBezTo>
                  <a:cubicBezTo>
                    <a:pt x="2058" y="6871"/>
                    <a:pt x="1966" y="6960"/>
                    <a:pt x="1966" y="7073"/>
                  </a:cubicBezTo>
                  <a:lnTo>
                    <a:pt x="1966" y="11474"/>
                  </a:lnTo>
                  <a:cubicBezTo>
                    <a:pt x="1966" y="11855"/>
                    <a:pt x="1642" y="12170"/>
                    <a:pt x="1272" y="12170"/>
                  </a:cubicBezTo>
                  <a:cubicBezTo>
                    <a:pt x="879" y="12170"/>
                    <a:pt x="555" y="11878"/>
                    <a:pt x="555" y="11474"/>
                  </a:cubicBezTo>
                  <a:lnTo>
                    <a:pt x="555" y="6646"/>
                  </a:lnTo>
                  <a:cubicBezTo>
                    <a:pt x="555" y="5591"/>
                    <a:pt x="1457" y="4693"/>
                    <a:pt x="2567" y="4693"/>
                  </a:cubicBezTo>
                  <a:lnTo>
                    <a:pt x="6244" y="4693"/>
                  </a:lnTo>
                  <a:cubicBezTo>
                    <a:pt x="6753" y="4693"/>
                    <a:pt x="7285" y="4895"/>
                    <a:pt x="7678" y="5299"/>
                  </a:cubicBezTo>
                  <a:cubicBezTo>
                    <a:pt x="7678" y="5299"/>
                    <a:pt x="7817" y="5434"/>
                    <a:pt x="7979" y="5591"/>
                  </a:cubicBezTo>
                  <a:lnTo>
                    <a:pt x="7979" y="1123"/>
                  </a:lnTo>
                  <a:lnTo>
                    <a:pt x="6822" y="1123"/>
                  </a:lnTo>
                  <a:lnTo>
                    <a:pt x="6822" y="0"/>
                  </a:lnTo>
                  <a:close/>
                  <a:moveTo>
                    <a:pt x="20004" y="10665"/>
                  </a:moveTo>
                  <a:lnTo>
                    <a:pt x="20004" y="1437"/>
                  </a:lnTo>
                  <a:lnTo>
                    <a:pt x="8557" y="1437"/>
                  </a:lnTo>
                  <a:lnTo>
                    <a:pt x="8557" y="6152"/>
                  </a:lnTo>
                  <a:cubicBezTo>
                    <a:pt x="8649" y="6242"/>
                    <a:pt x="8696" y="6309"/>
                    <a:pt x="8811" y="6399"/>
                  </a:cubicBezTo>
                  <a:cubicBezTo>
                    <a:pt x="9112" y="6691"/>
                    <a:pt x="9366" y="6938"/>
                    <a:pt x="9366" y="6938"/>
                  </a:cubicBezTo>
                  <a:lnTo>
                    <a:pt x="12326" y="6938"/>
                  </a:lnTo>
                  <a:cubicBezTo>
                    <a:pt x="12442" y="6938"/>
                    <a:pt x="12581" y="6983"/>
                    <a:pt x="12696" y="7050"/>
                  </a:cubicBezTo>
                  <a:lnTo>
                    <a:pt x="14523" y="4625"/>
                  </a:lnTo>
                  <a:cubicBezTo>
                    <a:pt x="14570" y="4536"/>
                    <a:pt x="14685" y="4536"/>
                    <a:pt x="14755" y="4580"/>
                  </a:cubicBezTo>
                  <a:cubicBezTo>
                    <a:pt x="14847" y="4625"/>
                    <a:pt x="14847" y="4693"/>
                    <a:pt x="14801" y="4783"/>
                  </a:cubicBezTo>
                  <a:lnTo>
                    <a:pt x="12928" y="7275"/>
                  </a:lnTo>
                  <a:cubicBezTo>
                    <a:pt x="12974" y="7387"/>
                    <a:pt x="13020" y="7499"/>
                    <a:pt x="13020" y="7612"/>
                  </a:cubicBezTo>
                  <a:cubicBezTo>
                    <a:pt x="13020" y="7993"/>
                    <a:pt x="12719" y="8308"/>
                    <a:pt x="12326" y="8308"/>
                  </a:cubicBezTo>
                  <a:lnTo>
                    <a:pt x="9089" y="8308"/>
                  </a:lnTo>
                  <a:cubicBezTo>
                    <a:pt x="8973" y="8308"/>
                    <a:pt x="8904" y="8308"/>
                    <a:pt x="8811" y="8263"/>
                  </a:cubicBezTo>
                  <a:cubicBezTo>
                    <a:pt x="8719" y="8218"/>
                    <a:pt x="8626" y="8173"/>
                    <a:pt x="8580" y="8128"/>
                  </a:cubicBezTo>
                  <a:lnTo>
                    <a:pt x="8557" y="8106"/>
                  </a:lnTo>
                  <a:lnTo>
                    <a:pt x="8557" y="10665"/>
                  </a:lnTo>
                  <a:lnTo>
                    <a:pt x="20004" y="10665"/>
                  </a:lnTo>
                  <a:close/>
                  <a:moveTo>
                    <a:pt x="4579" y="1168"/>
                  </a:moveTo>
                  <a:cubicBezTo>
                    <a:pt x="5481" y="1168"/>
                    <a:pt x="6221" y="1864"/>
                    <a:pt x="6221" y="2739"/>
                  </a:cubicBezTo>
                  <a:cubicBezTo>
                    <a:pt x="6221" y="3637"/>
                    <a:pt x="5481" y="4333"/>
                    <a:pt x="4579" y="4333"/>
                  </a:cubicBezTo>
                  <a:cubicBezTo>
                    <a:pt x="3677" y="4333"/>
                    <a:pt x="2960" y="3637"/>
                    <a:pt x="2960" y="2739"/>
                  </a:cubicBezTo>
                  <a:cubicBezTo>
                    <a:pt x="2960" y="1864"/>
                    <a:pt x="3677" y="1168"/>
                    <a:pt x="4579" y="1168"/>
                  </a:cubicBezTo>
                  <a:close/>
                  <a:moveTo>
                    <a:pt x="0" y="20432"/>
                  </a:moveTo>
                  <a:lnTo>
                    <a:pt x="21531" y="20432"/>
                  </a:lnTo>
                  <a:lnTo>
                    <a:pt x="21531" y="21600"/>
                  </a:lnTo>
                  <a:lnTo>
                    <a:pt x="0" y="21600"/>
                  </a:lnTo>
                  <a:lnTo>
                    <a:pt x="0" y="20432"/>
                  </a:lnTo>
                  <a:close/>
                </a:path>
              </a:pathLst>
            </a:custGeom>
            <a:solidFill>
              <a:srgbClr val="89CC40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35" name="Shape 882">
              <a:extLst>
                <a:ext uri="{FF2B5EF4-FFF2-40B4-BE49-F238E27FC236}">
                  <a16:creationId xmlns:a16="http://schemas.microsoft.com/office/drawing/2014/main" id="{B4371F20-93DB-C97B-FF92-BD9C96CA9E85}"/>
                </a:ext>
              </a:extLst>
            </p:cNvPr>
            <p:cNvSpPr/>
            <p:nvPr/>
          </p:nvSpPr>
          <p:spPr>
            <a:xfrm>
              <a:off x="6796026" y="5172248"/>
              <a:ext cx="503243" cy="434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3" h="20999" extrusionOk="0">
                  <a:moveTo>
                    <a:pt x="10213" y="7833"/>
                  </a:moveTo>
                  <a:cubicBezTo>
                    <a:pt x="8444" y="6606"/>
                    <a:pt x="7866" y="4052"/>
                    <a:pt x="8899" y="2072"/>
                  </a:cubicBezTo>
                  <a:cubicBezTo>
                    <a:pt x="9915" y="72"/>
                    <a:pt x="12245" y="-601"/>
                    <a:pt x="14032" y="587"/>
                  </a:cubicBezTo>
                  <a:cubicBezTo>
                    <a:pt x="15784" y="1755"/>
                    <a:pt x="16380" y="4349"/>
                    <a:pt x="15328" y="6348"/>
                  </a:cubicBezTo>
                  <a:cubicBezTo>
                    <a:pt x="14295" y="8348"/>
                    <a:pt x="12000" y="9021"/>
                    <a:pt x="10213" y="7833"/>
                  </a:cubicBezTo>
                  <a:close/>
                  <a:moveTo>
                    <a:pt x="21477" y="19118"/>
                  </a:moveTo>
                  <a:cubicBezTo>
                    <a:pt x="21600" y="19395"/>
                    <a:pt x="21547" y="19732"/>
                    <a:pt x="21337" y="19870"/>
                  </a:cubicBezTo>
                  <a:lnTo>
                    <a:pt x="21197" y="19930"/>
                  </a:lnTo>
                  <a:cubicBezTo>
                    <a:pt x="20987" y="20088"/>
                    <a:pt x="20707" y="20009"/>
                    <a:pt x="20566" y="19752"/>
                  </a:cubicBezTo>
                  <a:lnTo>
                    <a:pt x="19253" y="17178"/>
                  </a:lnTo>
                  <a:cubicBezTo>
                    <a:pt x="19218" y="17218"/>
                    <a:pt x="19165" y="17257"/>
                    <a:pt x="19130" y="17277"/>
                  </a:cubicBezTo>
                  <a:lnTo>
                    <a:pt x="14610" y="20662"/>
                  </a:lnTo>
                  <a:cubicBezTo>
                    <a:pt x="14330" y="20900"/>
                    <a:pt x="13980" y="20999"/>
                    <a:pt x="13647" y="20999"/>
                  </a:cubicBezTo>
                  <a:cubicBezTo>
                    <a:pt x="13104" y="20999"/>
                    <a:pt x="12578" y="20742"/>
                    <a:pt x="12245" y="20227"/>
                  </a:cubicBezTo>
                  <a:lnTo>
                    <a:pt x="7375" y="11912"/>
                  </a:lnTo>
                  <a:cubicBezTo>
                    <a:pt x="7288" y="11753"/>
                    <a:pt x="7077" y="11674"/>
                    <a:pt x="6937" y="11793"/>
                  </a:cubicBezTo>
                  <a:cubicBezTo>
                    <a:pt x="6797" y="11912"/>
                    <a:pt x="6745" y="12129"/>
                    <a:pt x="6850" y="12288"/>
                  </a:cubicBezTo>
                  <a:lnTo>
                    <a:pt x="10091" y="17871"/>
                  </a:lnTo>
                  <a:lnTo>
                    <a:pt x="9898" y="20959"/>
                  </a:lnTo>
                  <a:lnTo>
                    <a:pt x="0" y="20959"/>
                  </a:lnTo>
                  <a:cubicBezTo>
                    <a:pt x="403" y="16346"/>
                    <a:pt x="2295" y="8526"/>
                    <a:pt x="6009" y="7219"/>
                  </a:cubicBezTo>
                  <a:cubicBezTo>
                    <a:pt x="7603" y="6724"/>
                    <a:pt x="9232" y="7754"/>
                    <a:pt x="9740" y="8803"/>
                  </a:cubicBezTo>
                  <a:lnTo>
                    <a:pt x="14102" y="16228"/>
                  </a:lnTo>
                  <a:lnTo>
                    <a:pt x="17150" y="13951"/>
                  </a:lnTo>
                  <a:cubicBezTo>
                    <a:pt x="17255" y="13872"/>
                    <a:pt x="17378" y="13812"/>
                    <a:pt x="17501" y="13773"/>
                  </a:cubicBezTo>
                  <a:lnTo>
                    <a:pt x="16677" y="12209"/>
                  </a:lnTo>
                  <a:cubicBezTo>
                    <a:pt x="16537" y="11971"/>
                    <a:pt x="16607" y="11654"/>
                    <a:pt x="16835" y="11496"/>
                  </a:cubicBezTo>
                  <a:lnTo>
                    <a:pt x="16975" y="11436"/>
                  </a:lnTo>
                  <a:cubicBezTo>
                    <a:pt x="17203" y="11278"/>
                    <a:pt x="17483" y="11337"/>
                    <a:pt x="17606" y="11615"/>
                  </a:cubicBezTo>
                  <a:lnTo>
                    <a:pt x="18727" y="13773"/>
                  </a:lnTo>
                  <a:cubicBezTo>
                    <a:pt x="19077" y="13891"/>
                    <a:pt x="19375" y="14169"/>
                    <a:pt x="19585" y="14525"/>
                  </a:cubicBezTo>
                  <a:cubicBezTo>
                    <a:pt x="19848" y="14980"/>
                    <a:pt x="19918" y="15495"/>
                    <a:pt x="19848" y="15970"/>
                  </a:cubicBezTo>
                  <a:lnTo>
                    <a:pt x="21477" y="19118"/>
                  </a:lnTo>
                  <a:close/>
                </a:path>
              </a:pathLst>
            </a:custGeom>
            <a:solidFill>
              <a:srgbClr val="89CC40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36" name="Shape 883">
              <a:extLst>
                <a:ext uri="{FF2B5EF4-FFF2-40B4-BE49-F238E27FC236}">
                  <a16:creationId xmlns:a16="http://schemas.microsoft.com/office/drawing/2014/main" id="{52FB62EC-B6B0-715B-0C3C-C488C13709C0}"/>
                </a:ext>
              </a:extLst>
            </p:cNvPr>
            <p:cNvSpPr/>
            <p:nvPr/>
          </p:nvSpPr>
          <p:spPr>
            <a:xfrm>
              <a:off x="8268581" y="2072394"/>
              <a:ext cx="2322964" cy="541850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590133">
                <a:lnSpc>
                  <a:spcPct val="112000"/>
                </a:lnSpc>
                <a:tabLst>
                  <a:tab pos="927100" algn="l"/>
                </a:tabLst>
                <a:defRPr sz="1800">
                  <a:solidFill>
                    <a:srgbClr val="040404"/>
                  </a:solidFill>
                  <a:latin typeface="Roboto Bold"/>
                  <a:ea typeface="Roboto Bold"/>
                  <a:cs typeface="Roboto Bold"/>
                  <a:sym typeface="Roboto Bold"/>
                </a:defRPr>
              </a:lvl1pPr>
            </a:lstStyle>
            <a:p>
              <a:r>
                <a:rPr lang="en-US" sz="1500" b="1" dirty="0">
                  <a:solidFill>
                    <a:srgbClr val="FF0000"/>
                  </a:solidFill>
                </a:rPr>
                <a:t>B. </a:t>
              </a:r>
              <a:r>
                <a:rPr lang="en-US" sz="1500" b="1" dirty="0">
                  <a:solidFill>
                    <a:srgbClr val="0066FF"/>
                  </a:solidFill>
                </a:rPr>
                <a:t>Integrity of Data and Methods (11 </a:t>
              </a:r>
              <a:r>
                <a:rPr lang="en-US" sz="1500" b="1" dirty="0">
                  <a:solidFill>
                    <a:srgbClr val="0066FF"/>
                  </a:solidFill>
                  <a:sym typeface="Wingdings" panose="05000000000000000000" pitchFamily="2" charset="2"/>
                </a:rPr>
                <a:t> </a:t>
              </a:r>
              <a:r>
                <a:rPr lang="en-US" sz="1500" b="1" dirty="0">
                  <a:solidFill>
                    <a:srgbClr val="FF0000"/>
                  </a:solidFill>
                </a:rPr>
                <a:t>7</a:t>
              </a:r>
              <a:r>
                <a:rPr lang="en-US" sz="1500" b="1" dirty="0">
                  <a:solidFill>
                    <a:srgbClr val="0066FF"/>
                  </a:solidFill>
                </a:rPr>
                <a:t>)</a:t>
              </a:r>
            </a:p>
          </p:txBody>
        </p:sp>
        <p:sp>
          <p:nvSpPr>
            <p:cNvPr id="37" name="Shape 886">
              <a:extLst>
                <a:ext uri="{FF2B5EF4-FFF2-40B4-BE49-F238E27FC236}">
                  <a16:creationId xmlns:a16="http://schemas.microsoft.com/office/drawing/2014/main" id="{E59D5E8B-2E2F-E952-3617-00E461B495E6}"/>
                </a:ext>
              </a:extLst>
            </p:cNvPr>
            <p:cNvSpPr/>
            <p:nvPr/>
          </p:nvSpPr>
          <p:spPr>
            <a:xfrm>
              <a:off x="8965543" y="3411676"/>
              <a:ext cx="2839678" cy="66535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590133">
                <a:lnSpc>
                  <a:spcPct val="112000"/>
                </a:lnSpc>
                <a:tabLst>
                  <a:tab pos="927100" algn="l"/>
                </a:tabLst>
                <a:defRPr sz="1800">
                  <a:solidFill>
                    <a:srgbClr val="040404"/>
                  </a:solidFill>
                  <a:latin typeface="Roboto Bold"/>
                  <a:ea typeface="Roboto Bold"/>
                  <a:cs typeface="Roboto Bold"/>
                  <a:sym typeface="Roboto Bold"/>
                </a:defRPr>
              </a:lvl1pPr>
            </a:lstStyle>
            <a:p>
              <a:r>
                <a:rPr lang="en-US" sz="1500" b="1" dirty="0">
                  <a:solidFill>
                    <a:srgbClr val="FF0000"/>
                  </a:solidFill>
                </a:rPr>
                <a:t>C. </a:t>
              </a:r>
              <a:r>
                <a:rPr lang="en-US" sz="1500" b="1" dirty="0">
                  <a:solidFill>
                    <a:srgbClr val="0066FF"/>
                  </a:solidFill>
                </a:rPr>
                <a:t>Responsibilities to Stakeholders (5 </a:t>
              </a:r>
              <a:r>
                <a:rPr lang="en-US" sz="1500" b="1" dirty="0">
                  <a:solidFill>
                    <a:srgbClr val="0066FF"/>
                  </a:solidFill>
                  <a:sym typeface="Wingdings" panose="05000000000000000000" pitchFamily="2" charset="2"/>
                </a:rPr>
                <a:t> </a:t>
              </a:r>
              <a:r>
                <a:rPr lang="en-US" sz="1500" b="1" dirty="0">
                  <a:solidFill>
                    <a:srgbClr val="FF0000"/>
                  </a:solidFill>
                </a:rPr>
                <a:t>8</a:t>
              </a:r>
              <a:r>
                <a:rPr lang="en-US" sz="1500" b="1" dirty="0">
                  <a:solidFill>
                    <a:srgbClr val="0066FF"/>
                  </a:solidFill>
                </a:rPr>
                <a:t>)</a:t>
              </a:r>
            </a:p>
          </p:txBody>
        </p:sp>
        <p:sp>
          <p:nvSpPr>
            <p:cNvPr id="38" name="Shape 889">
              <a:extLst>
                <a:ext uri="{FF2B5EF4-FFF2-40B4-BE49-F238E27FC236}">
                  <a16:creationId xmlns:a16="http://schemas.microsoft.com/office/drawing/2014/main" id="{6D629E62-BCC8-B8CC-12CF-FB889A077EA6}"/>
                </a:ext>
              </a:extLst>
            </p:cNvPr>
            <p:cNvSpPr/>
            <p:nvPr/>
          </p:nvSpPr>
          <p:spPr>
            <a:xfrm>
              <a:off x="8249054" y="4869367"/>
              <a:ext cx="2454060" cy="1521048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590133">
                <a:lnSpc>
                  <a:spcPct val="112000"/>
                </a:lnSpc>
                <a:tabLst>
                  <a:tab pos="927100" algn="l"/>
                </a:tabLst>
                <a:defRPr sz="1800">
                  <a:solidFill>
                    <a:srgbClr val="040404"/>
                  </a:solidFill>
                  <a:latin typeface="Roboto Bold"/>
                  <a:ea typeface="Roboto Bold"/>
                  <a:cs typeface="Roboto Bold"/>
                  <a:sym typeface="Roboto Bold"/>
                </a:defRPr>
              </a:lvl1pPr>
            </a:lstStyle>
            <a:p>
              <a:r>
                <a:rPr lang="en-US" sz="1500" b="1" dirty="0">
                  <a:solidFill>
                    <a:srgbClr val="FF0000"/>
                  </a:solidFill>
                </a:rPr>
                <a:t>D. </a:t>
              </a:r>
              <a:r>
                <a:rPr lang="en-US" sz="1500" b="1" dirty="0">
                  <a:solidFill>
                    <a:srgbClr val="0066FF"/>
                  </a:solidFill>
                </a:rPr>
                <a:t>Responsibilities to Research Subjects,</a:t>
              </a:r>
              <a:r>
                <a:rPr lang="en-US" sz="1500" b="1" dirty="0">
                  <a:solidFill>
                    <a:srgbClr val="FF0000"/>
                  </a:solidFill>
                </a:rPr>
                <a:t> Data Subjects, and those directly affected by statistical practices </a:t>
              </a:r>
              <a:r>
                <a:rPr lang="en-US" sz="1500" b="1" dirty="0">
                  <a:solidFill>
                    <a:srgbClr val="0066FF"/>
                  </a:solidFill>
                </a:rPr>
                <a:t>(7 </a:t>
              </a:r>
              <a:r>
                <a:rPr lang="en-US" sz="1500" b="1" dirty="0">
                  <a:solidFill>
                    <a:srgbClr val="0066FF"/>
                  </a:solidFill>
                  <a:sym typeface="Wingdings" panose="05000000000000000000" pitchFamily="2" charset="2"/>
                </a:rPr>
                <a:t> </a:t>
              </a:r>
              <a:r>
                <a:rPr lang="en-US" sz="1500" b="1" dirty="0">
                  <a:solidFill>
                    <a:srgbClr val="FF0000"/>
                  </a:solidFill>
                </a:rPr>
                <a:t>11</a:t>
              </a:r>
              <a:r>
                <a:rPr lang="en-US" sz="1500" b="1" dirty="0">
                  <a:solidFill>
                    <a:srgbClr val="0066FF"/>
                  </a:solidFill>
                </a:rPr>
                <a:t>) </a:t>
              </a:r>
            </a:p>
          </p:txBody>
        </p:sp>
        <p:sp>
          <p:nvSpPr>
            <p:cNvPr id="39" name="Shape 892">
              <a:extLst>
                <a:ext uri="{FF2B5EF4-FFF2-40B4-BE49-F238E27FC236}">
                  <a16:creationId xmlns:a16="http://schemas.microsoft.com/office/drawing/2014/main" id="{F3DBD908-5EA9-E08C-A503-B771F544D042}"/>
                </a:ext>
              </a:extLst>
            </p:cNvPr>
            <p:cNvSpPr/>
            <p:nvPr/>
          </p:nvSpPr>
          <p:spPr>
            <a:xfrm>
              <a:off x="5836776" y="5690095"/>
              <a:ext cx="2265106" cy="756625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590133">
                <a:lnSpc>
                  <a:spcPct val="112000"/>
                </a:lnSpc>
                <a:tabLst>
                  <a:tab pos="927100" algn="l"/>
                </a:tabLst>
                <a:defRPr sz="1800">
                  <a:solidFill>
                    <a:srgbClr val="040404"/>
                  </a:solidFill>
                  <a:latin typeface="Roboto Bold"/>
                  <a:ea typeface="Roboto Bold"/>
                  <a:cs typeface="Roboto Bold"/>
                  <a:sym typeface="Roboto Bold"/>
                </a:defRPr>
              </a:lvl1pPr>
            </a:lstStyle>
            <a:p>
              <a:r>
                <a:rPr lang="en-US" sz="1500" b="1" dirty="0">
                  <a:solidFill>
                    <a:srgbClr val="FF0000"/>
                  </a:solidFill>
                </a:rPr>
                <a:t>E. </a:t>
              </a:r>
              <a:r>
                <a:rPr lang="en-US" sz="1500" b="1" dirty="0">
                  <a:solidFill>
                    <a:srgbClr val="0066FF"/>
                  </a:solidFill>
                </a:rPr>
                <a:t>Responsibilities to </a:t>
              </a:r>
              <a:r>
                <a:rPr lang="en-US" sz="1500" b="1" dirty="0">
                  <a:solidFill>
                    <a:srgbClr val="FF0000"/>
                  </a:solidFill>
                </a:rPr>
                <a:t>Multidisciplinary</a:t>
              </a:r>
              <a:r>
                <a:rPr lang="en-US" sz="1500" b="1" dirty="0">
                  <a:solidFill>
                    <a:srgbClr val="0066FF"/>
                  </a:solidFill>
                </a:rPr>
                <a:t> Team Colleagues (4 </a:t>
              </a:r>
              <a:r>
                <a:rPr lang="en-US" sz="1500" b="1" dirty="0">
                  <a:solidFill>
                    <a:srgbClr val="0066FF"/>
                  </a:solidFill>
                  <a:sym typeface="Wingdings" panose="05000000000000000000" pitchFamily="2" charset="2"/>
                </a:rPr>
                <a:t> </a:t>
              </a:r>
              <a:r>
                <a:rPr lang="en-US" sz="1500" b="1" dirty="0">
                  <a:solidFill>
                    <a:srgbClr val="FF0000"/>
                  </a:solidFill>
                </a:rPr>
                <a:t>4</a:t>
              </a:r>
              <a:r>
                <a:rPr lang="en-US" sz="1500" b="1" dirty="0">
                  <a:solidFill>
                    <a:srgbClr val="0066FF"/>
                  </a:solidFill>
                </a:rPr>
                <a:t>) </a:t>
              </a:r>
            </a:p>
          </p:txBody>
        </p:sp>
        <p:sp>
          <p:nvSpPr>
            <p:cNvPr id="40" name="Shape 895">
              <a:extLst>
                <a:ext uri="{FF2B5EF4-FFF2-40B4-BE49-F238E27FC236}">
                  <a16:creationId xmlns:a16="http://schemas.microsoft.com/office/drawing/2014/main" id="{A2E5F214-92AE-FF00-C47D-DFFD95ADDEC2}"/>
                </a:ext>
              </a:extLst>
            </p:cNvPr>
            <p:cNvSpPr/>
            <p:nvPr/>
          </p:nvSpPr>
          <p:spPr>
            <a:xfrm>
              <a:off x="1985416" y="5162784"/>
              <a:ext cx="3711641" cy="622670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590133">
                <a:lnSpc>
                  <a:spcPct val="112000"/>
                </a:lnSpc>
                <a:tabLst>
                  <a:tab pos="927100" algn="l"/>
                </a:tabLst>
                <a:defRPr sz="1800">
                  <a:solidFill>
                    <a:srgbClr val="040404"/>
                  </a:solidFill>
                  <a:latin typeface="Roboto Bold"/>
                  <a:ea typeface="Roboto Bold"/>
                  <a:cs typeface="Roboto Bold"/>
                  <a:sym typeface="Roboto Bold"/>
                </a:defRPr>
              </a:lvl1pPr>
            </a:lstStyle>
            <a:p>
              <a:r>
                <a:rPr lang="en-US" sz="1500" b="1" dirty="0">
                  <a:solidFill>
                    <a:srgbClr val="FF0000"/>
                  </a:solidFill>
                </a:rPr>
                <a:t>F. </a:t>
              </a:r>
              <a:r>
                <a:rPr lang="en-US" sz="1500" b="1" dirty="0">
                  <a:solidFill>
                    <a:srgbClr val="0066FF"/>
                  </a:solidFill>
                </a:rPr>
                <a:t>Responsibilities to Fellow Statistical Practitioners</a:t>
              </a:r>
              <a:r>
                <a:rPr lang="en-US" sz="1500" b="1" dirty="0">
                  <a:solidFill>
                    <a:srgbClr val="FF0000"/>
                  </a:solidFill>
                </a:rPr>
                <a:t> and the Profession </a:t>
              </a:r>
              <a:r>
                <a:rPr lang="en-US" sz="1500" b="1" dirty="0">
                  <a:solidFill>
                    <a:srgbClr val="0066FF"/>
                  </a:solidFill>
                </a:rPr>
                <a:t>(4 </a:t>
              </a:r>
              <a:r>
                <a:rPr lang="en-US" sz="1500" b="1" dirty="0">
                  <a:solidFill>
                    <a:srgbClr val="0066FF"/>
                  </a:solidFill>
                  <a:sym typeface="Wingdings" panose="05000000000000000000" pitchFamily="2" charset="2"/>
                </a:rPr>
                <a:t> </a:t>
              </a:r>
              <a:r>
                <a:rPr lang="en-US" sz="1500" b="1" dirty="0">
                  <a:solidFill>
                    <a:srgbClr val="FF0000"/>
                  </a:solidFill>
                </a:rPr>
                <a:t>5</a:t>
              </a:r>
              <a:r>
                <a:rPr lang="en-US" sz="1500" b="1" dirty="0">
                  <a:solidFill>
                    <a:srgbClr val="0066FF"/>
                  </a:solidFill>
                </a:rPr>
                <a:t>)</a:t>
              </a:r>
              <a:endParaRPr sz="1500" b="1" dirty="0">
                <a:solidFill>
                  <a:srgbClr val="0066FF"/>
                </a:solidFill>
              </a:endParaRPr>
            </a:p>
          </p:txBody>
        </p:sp>
        <p:sp>
          <p:nvSpPr>
            <p:cNvPr id="41" name="Shape 898">
              <a:extLst>
                <a:ext uri="{FF2B5EF4-FFF2-40B4-BE49-F238E27FC236}">
                  <a16:creationId xmlns:a16="http://schemas.microsoft.com/office/drawing/2014/main" id="{33D0736C-CFE2-4030-96FE-C9DC6706F298}"/>
                </a:ext>
              </a:extLst>
            </p:cNvPr>
            <p:cNvSpPr/>
            <p:nvPr/>
          </p:nvSpPr>
          <p:spPr>
            <a:xfrm>
              <a:off x="1949460" y="2373606"/>
              <a:ext cx="2915053" cy="676646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590133">
                <a:lnSpc>
                  <a:spcPct val="112000"/>
                </a:lnSpc>
                <a:tabLst>
                  <a:tab pos="927100" algn="l"/>
                </a:tabLst>
                <a:defRPr sz="1800">
                  <a:solidFill>
                    <a:srgbClr val="040404"/>
                  </a:solidFill>
                  <a:latin typeface="Roboto Bold"/>
                  <a:ea typeface="Roboto Bold"/>
                  <a:cs typeface="Roboto Bold"/>
                  <a:sym typeface="Roboto Bold"/>
                </a:defRPr>
              </a:lvl1pPr>
            </a:lstStyle>
            <a:p>
              <a:r>
                <a:rPr lang="en-US" sz="1500" b="1" dirty="0">
                  <a:solidFill>
                    <a:srgbClr val="FF0000"/>
                  </a:solidFill>
                </a:rPr>
                <a:t>H. </a:t>
              </a:r>
              <a:r>
                <a:rPr lang="en-US" sz="1500" b="1" dirty="0">
                  <a:solidFill>
                    <a:srgbClr val="0066FF"/>
                  </a:solidFill>
                </a:rPr>
                <a:t>Responsibilities Regarding  Potential Misconduct (6 </a:t>
              </a:r>
              <a:r>
                <a:rPr lang="en-US" sz="1500" b="1" dirty="0">
                  <a:solidFill>
                    <a:srgbClr val="0066FF"/>
                  </a:solidFill>
                  <a:sym typeface="Wingdings" panose="05000000000000000000" pitchFamily="2" charset="2"/>
                </a:rPr>
                <a:t> </a:t>
              </a:r>
              <a:r>
                <a:rPr lang="en-US" sz="1500" b="1" dirty="0">
                  <a:solidFill>
                    <a:srgbClr val="FF0000"/>
                  </a:solidFill>
                </a:rPr>
                <a:t>8</a:t>
              </a:r>
              <a:r>
                <a:rPr lang="en-US" sz="1500" b="1" dirty="0">
                  <a:solidFill>
                    <a:srgbClr val="0066FF"/>
                  </a:solidFill>
                </a:rPr>
                <a:t>)</a:t>
              </a:r>
              <a:endParaRPr sz="1500" b="1" dirty="0">
                <a:solidFill>
                  <a:srgbClr val="0066FF"/>
                </a:solidFill>
              </a:endParaRPr>
            </a:p>
          </p:txBody>
        </p:sp>
        <p:sp>
          <p:nvSpPr>
            <p:cNvPr id="42" name="Shape 904">
              <a:extLst>
                <a:ext uri="{FF2B5EF4-FFF2-40B4-BE49-F238E27FC236}">
                  <a16:creationId xmlns:a16="http://schemas.microsoft.com/office/drawing/2014/main" id="{13FDC15B-D2D5-3ED2-89CA-BA2D18E90DB7}"/>
                </a:ext>
              </a:extLst>
            </p:cNvPr>
            <p:cNvSpPr/>
            <p:nvPr/>
          </p:nvSpPr>
          <p:spPr>
            <a:xfrm>
              <a:off x="5409262" y="1061318"/>
              <a:ext cx="2773528" cy="473670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590133">
                <a:lnSpc>
                  <a:spcPct val="112000"/>
                </a:lnSpc>
                <a:tabLst>
                  <a:tab pos="927100" algn="l"/>
                </a:tabLst>
                <a:defRPr sz="1800">
                  <a:solidFill>
                    <a:srgbClr val="040404"/>
                  </a:solidFill>
                  <a:latin typeface="Roboto Bold"/>
                  <a:ea typeface="Roboto Bold"/>
                  <a:cs typeface="Roboto Bold"/>
                  <a:sym typeface="Roboto Bold"/>
                </a:defRPr>
              </a:lvl1pPr>
            </a:lstStyle>
            <a:p>
              <a:r>
                <a:rPr lang="en-US" sz="1500" b="1" dirty="0">
                  <a:solidFill>
                    <a:srgbClr val="FF0000"/>
                  </a:solidFill>
                </a:rPr>
                <a:t>A. </a:t>
              </a:r>
              <a:r>
                <a:rPr lang="en-US" sz="1500" b="1" dirty="0">
                  <a:solidFill>
                    <a:srgbClr val="0066FF"/>
                  </a:solidFill>
                </a:rPr>
                <a:t>Professional Integrity and</a:t>
              </a:r>
            </a:p>
            <a:p>
              <a:r>
                <a:rPr lang="en-US" sz="1500" b="1" dirty="0">
                  <a:solidFill>
                    <a:srgbClr val="0066FF"/>
                  </a:solidFill>
                </a:rPr>
                <a:t>Accountability (7 </a:t>
              </a:r>
              <a:r>
                <a:rPr lang="en-US" sz="1500" b="1" dirty="0">
                  <a:solidFill>
                    <a:srgbClr val="0066FF"/>
                  </a:solidFill>
                  <a:sym typeface="Wingdings" panose="05000000000000000000" pitchFamily="2" charset="2"/>
                </a:rPr>
                <a:t> </a:t>
              </a:r>
              <a:r>
                <a:rPr lang="en-US" sz="1500" b="1" dirty="0">
                  <a:solidFill>
                    <a:srgbClr val="FF0000"/>
                  </a:solidFill>
                </a:rPr>
                <a:t>12</a:t>
              </a:r>
              <a:r>
                <a:rPr lang="en-US" sz="1500" b="1" dirty="0">
                  <a:solidFill>
                    <a:srgbClr val="0066FF"/>
                  </a:solidFill>
                </a:rPr>
                <a:t>) </a:t>
              </a:r>
            </a:p>
          </p:txBody>
        </p:sp>
        <p:sp>
          <p:nvSpPr>
            <p:cNvPr id="43" name="Shape 930">
              <a:extLst>
                <a:ext uri="{FF2B5EF4-FFF2-40B4-BE49-F238E27FC236}">
                  <a16:creationId xmlns:a16="http://schemas.microsoft.com/office/drawing/2014/main" id="{073CC7E7-D82D-5AD0-E70A-E0CE226BC41A}"/>
                </a:ext>
              </a:extLst>
            </p:cNvPr>
            <p:cNvSpPr/>
            <p:nvPr/>
          </p:nvSpPr>
          <p:spPr>
            <a:xfrm>
              <a:off x="9268786" y="2920473"/>
              <a:ext cx="290141" cy="361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88" y="14621"/>
                  </a:moveTo>
                  <a:cubicBezTo>
                    <a:pt x="13894" y="14312"/>
                    <a:pt x="13424" y="14113"/>
                    <a:pt x="13424" y="13760"/>
                  </a:cubicBezTo>
                  <a:cubicBezTo>
                    <a:pt x="13424" y="13428"/>
                    <a:pt x="13811" y="13119"/>
                    <a:pt x="14584" y="13119"/>
                  </a:cubicBezTo>
                  <a:cubicBezTo>
                    <a:pt x="15358" y="13119"/>
                    <a:pt x="15993" y="13318"/>
                    <a:pt x="16297" y="13428"/>
                  </a:cubicBezTo>
                  <a:lnTo>
                    <a:pt x="16683" y="12258"/>
                  </a:lnTo>
                  <a:cubicBezTo>
                    <a:pt x="16297" y="12125"/>
                    <a:pt x="15827" y="12015"/>
                    <a:pt x="15219" y="11948"/>
                  </a:cubicBezTo>
                  <a:lnTo>
                    <a:pt x="15219" y="10999"/>
                  </a:lnTo>
                  <a:lnTo>
                    <a:pt x="13093" y="10999"/>
                  </a:lnTo>
                  <a:lnTo>
                    <a:pt x="13093" y="12125"/>
                  </a:lnTo>
                  <a:cubicBezTo>
                    <a:pt x="12098" y="12434"/>
                    <a:pt x="11463" y="13075"/>
                    <a:pt x="11463" y="13870"/>
                  </a:cubicBezTo>
                  <a:cubicBezTo>
                    <a:pt x="11463" y="14820"/>
                    <a:pt x="12319" y="15438"/>
                    <a:pt x="13728" y="15813"/>
                  </a:cubicBezTo>
                  <a:cubicBezTo>
                    <a:pt x="14750" y="16056"/>
                    <a:pt x="15054" y="16299"/>
                    <a:pt x="15054" y="16675"/>
                  </a:cubicBezTo>
                  <a:cubicBezTo>
                    <a:pt x="15054" y="17117"/>
                    <a:pt x="14584" y="17360"/>
                    <a:pt x="13811" y="17360"/>
                  </a:cubicBezTo>
                  <a:cubicBezTo>
                    <a:pt x="13037" y="17360"/>
                    <a:pt x="12236" y="17117"/>
                    <a:pt x="11794" y="16984"/>
                  </a:cubicBezTo>
                  <a:lnTo>
                    <a:pt x="11380" y="18177"/>
                  </a:lnTo>
                  <a:cubicBezTo>
                    <a:pt x="11794" y="18353"/>
                    <a:pt x="12402" y="18486"/>
                    <a:pt x="13093" y="18552"/>
                  </a:cubicBezTo>
                  <a:lnTo>
                    <a:pt x="13093" y="19480"/>
                  </a:lnTo>
                  <a:lnTo>
                    <a:pt x="15219" y="19480"/>
                  </a:lnTo>
                  <a:lnTo>
                    <a:pt x="15219" y="18420"/>
                  </a:lnTo>
                  <a:cubicBezTo>
                    <a:pt x="16380" y="18110"/>
                    <a:pt x="16932" y="17426"/>
                    <a:pt x="16932" y="16564"/>
                  </a:cubicBezTo>
                  <a:cubicBezTo>
                    <a:pt x="16932" y="15615"/>
                    <a:pt x="16297" y="15063"/>
                    <a:pt x="14888" y="14621"/>
                  </a:cubicBezTo>
                  <a:close/>
                  <a:moveTo>
                    <a:pt x="9585" y="5919"/>
                  </a:moveTo>
                  <a:lnTo>
                    <a:pt x="18644" y="5919"/>
                  </a:lnTo>
                  <a:lnTo>
                    <a:pt x="18644" y="7112"/>
                  </a:lnTo>
                  <a:lnTo>
                    <a:pt x="9585" y="7112"/>
                  </a:lnTo>
                  <a:lnTo>
                    <a:pt x="9585" y="5919"/>
                  </a:lnTo>
                  <a:close/>
                  <a:moveTo>
                    <a:pt x="9585" y="3490"/>
                  </a:moveTo>
                  <a:lnTo>
                    <a:pt x="18644" y="3490"/>
                  </a:lnTo>
                  <a:lnTo>
                    <a:pt x="18644" y="4682"/>
                  </a:lnTo>
                  <a:lnTo>
                    <a:pt x="9585" y="4682"/>
                  </a:lnTo>
                  <a:lnTo>
                    <a:pt x="9585" y="3490"/>
                  </a:lnTo>
                  <a:close/>
                  <a:moveTo>
                    <a:pt x="21600" y="3180"/>
                  </a:moveTo>
                  <a:cubicBezTo>
                    <a:pt x="21517" y="1436"/>
                    <a:pt x="19887" y="133"/>
                    <a:pt x="17788" y="0"/>
                  </a:cubicBezTo>
                  <a:cubicBezTo>
                    <a:pt x="17705" y="0"/>
                    <a:pt x="17623" y="0"/>
                    <a:pt x="17540" y="0"/>
                  </a:cubicBezTo>
                  <a:cubicBezTo>
                    <a:pt x="17540" y="0"/>
                    <a:pt x="4226" y="0"/>
                    <a:pt x="4143" y="0"/>
                  </a:cubicBezTo>
                  <a:cubicBezTo>
                    <a:pt x="3287" y="0"/>
                    <a:pt x="2514" y="177"/>
                    <a:pt x="1795" y="552"/>
                  </a:cubicBezTo>
                  <a:cubicBezTo>
                    <a:pt x="1271" y="861"/>
                    <a:pt x="801" y="1237"/>
                    <a:pt x="470" y="1745"/>
                  </a:cubicBezTo>
                  <a:cubicBezTo>
                    <a:pt x="166" y="2187"/>
                    <a:pt x="0" y="2672"/>
                    <a:pt x="0" y="3247"/>
                  </a:cubicBezTo>
                  <a:lnTo>
                    <a:pt x="0" y="3291"/>
                  </a:lnTo>
                  <a:cubicBezTo>
                    <a:pt x="0" y="3291"/>
                    <a:pt x="0" y="3291"/>
                    <a:pt x="0" y="3357"/>
                  </a:cubicBezTo>
                  <a:cubicBezTo>
                    <a:pt x="0" y="5168"/>
                    <a:pt x="1795" y="6604"/>
                    <a:pt x="4060" y="6604"/>
                  </a:cubicBezTo>
                  <a:cubicBezTo>
                    <a:pt x="5082" y="6604"/>
                    <a:pt x="5939" y="6294"/>
                    <a:pt x="6629" y="5853"/>
                  </a:cubicBezTo>
                  <a:lnTo>
                    <a:pt x="6629" y="21600"/>
                  </a:lnTo>
                  <a:lnTo>
                    <a:pt x="21517" y="21600"/>
                  </a:lnTo>
                  <a:lnTo>
                    <a:pt x="21517" y="3622"/>
                  </a:lnTo>
                  <a:cubicBezTo>
                    <a:pt x="21600" y="3357"/>
                    <a:pt x="21600" y="3247"/>
                    <a:pt x="21600" y="3180"/>
                  </a:cubicBezTo>
                  <a:close/>
                  <a:moveTo>
                    <a:pt x="20108" y="3490"/>
                  </a:moveTo>
                  <a:lnTo>
                    <a:pt x="20108" y="20297"/>
                  </a:lnTo>
                  <a:lnTo>
                    <a:pt x="8204" y="20297"/>
                  </a:lnTo>
                  <a:cubicBezTo>
                    <a:pt x="8204" y="20297"/>
                    <a:pt x="8204" y="3291"/>
                    <a:pt x="8204" y="3180"/>
                  </a:cubicBezTo>
                  <a:cubicBezTo>
                    <a:pt x="8204" y="2429"/>
                    <a:pt x="7817" y="1679"/>
                    <a:pt x="7264" y="1126"/>
                  </a:cubicBezTo>
                  <a:lnTo>
                    <a:pt x="17540" y="1126"/>
                  </a:lnTo>
                  <a:cubicBezTo>
                    <a:pt x="19031" y="1369"/>
                    <a:pt x="20053" y="2363"/>
                    <a:pt x="20108" y="3490"/>
                  </a:cubicBezTo>
                  <a:close/>
                  <a:moveTo>
                    <a:pt x="9585" y="8260"/>
                  </a:moveTo>
                  <a:lnTo>
                    <a:pt x="18644" y="8260"/>
                  </a:lnTo>
                  <a:lnTo>
                    <a:pt x="18644" y="9453"/>
                  </a:lnTo>
                  <a:lnTo>
                    <a:pt x="9585" y="9453"/>
                  </a:lnTo>
                  <a:lnTo>
                    <a:pt x="9585" y="8260"/>
                  </a:lnTo>
                  <a:close/>
                </a:path>
              </a:pathLst>
            </a:custGeom>
            <a:solidFill>
              <a:srgbClr val="89CC40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45" name="Shape 875">
              <a:extLst>
                <a:ext uri="{FF2B5EF4-FFF2-40B4-BE49-F238E27FC236}">
                  <a16:creationId xmlns:a16="http://schemas.microsoft.com/office/drawing/2014/main" id="{3F9BFCAF-CF12-1480-D1DE-D939B17B80D0}"/>
                </a:ext>
              </a:extLst>
            </p:cNvPr>
            <p:cNvSpPr/>
            <p:nvPr/>
          </p:nvSpPr>
          <p:spPr>
            <a:xfrm>
              <a:off x="4346648" y="4706651"/>
              <a:ext cx="349587" cy="280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30" y="3836"/>
                  </a:moveTo>
                  <a:cubicBezTo>
                    <a:pt x="4026" y="3836"/>
                    <a:pt x="4677" y="4508"/>
                    <a:pt x="4677" y="5361"/>
                  </a:cubicBezTo>
                  <a:cubicBezTo>
                    <a:pt x="4677" y="5854"/>
                    <a:pt x="4467" y="6280"/>
                    <a:pt x="4131" y="6550"/>
                  </a:cubicBezTo>
                  <a:cubicBezTo>
                    <a:pt x="3901" y="6774"/>
                    <a:pt x="3565" y="6908"/>
                    <a:pt x="3230" y="6908"/>
                  </a:cubicBezTo>
                  <a:cubicBezTo>
                    <a:pt x="2768" y="6908"/>
                    <a:pt x="2349" y="6662"/>
                    <a:pt x="2097" y="6303"/>
                  </a:cubicBezTo>
                  <a:cubicBezTo>
                    <a:pt x="1908" y="6034"/>
                    <a:pt x="1783" y="5697"/>
                    <a:pt x="1783" y="5338"/>
                  </a:cubicBezTo>
                  <a:cubicBezTo>
                    <a:pt x="1783" y="4486"/>
                    <a:pt x="2433" y="3836"/>
                    <a:pt x="3230" y="3836"/>
                  </a:cubicBezTo>
                  <a:close/>
                  <a:moveTo>
                    <a:pt x="7004" y="3836"/>
                  </a:moveTo>
                  <a:cubicBezTo>
                    <a:pt x="7801" y="3836"/>
                    <a:pt x="8451" y="4508"/>
                    <a:pt x="8451" y="5361"/>
                  </a:cubicBezTo>
                  <a:cubicBezTo>
                    <a:pt x="8451" y="6213"/>
                    <a:pt x="7801" y="6908"/>
                    <a:pt x="7004" y="6908"/>
                  </a:cubicBezTo>
                  <a:cubicBezTo>
                    <a:pt x="6207" y="6908"/>
                    <a:pt x="5557" y="6213"/>
                    <a:pt x="5557" y="5361"/>
                  </a:cubicBezTo>
                  <a:cubicBezTo>
                    <a:pt x="5557" y="4508"/>
                    <a:pt x="6228" y="3836"/>
                    <a:pt x="7004" y="3836"/>
                  </a:cubicBezTo>
                  <a:close/>
                  <a:moveTo>
                    <a:pt x="5075" y="0"/>
                  </a:moveTo>
                  <a:cubicBezTo>
                    <a:pt x="5872" y="0"/>
                    <a:pt x="6522" y="695"/>
                    <a:pt x="6522" y="1548"/>
                  </a:cubicBezTo>
                  <a:cubicBezTo>
                    <a:pt x="6522" y="2400"/>
                    <a:pt x="5872" y="3073"/>
                    <a:pt x="5075" y="3073"/>
                  </a:cubicBezTo>
                  <a:cubicBezTo>
                    <a:pt x="4278" y="3073"/>
                    <a:pt x="3628" y="2378"/>
                    <a:pt x="3628" y="1525"/>
                  </a:cubicBezTo>
                  <a:cubicBezTo>
                    <a:pt x="3628" y="673"/>
                    <a:pt x="4278" y="0"/>
                    <a:pt x="5075" y="0"/>
                  </a:cubicBezTo>
                  <a:close/>
                  <a:moveTo>
                    <a:pt x="8934" y="0"/>
                  </a:moveTo>
                  <a:cubicBezTo>
                    <a:pt x="9730" y="0"/>
                    <a:pt x="10381" y="695"/>
                    <a:pt x="10381" y="1548"/>
                  </a:cubicBezTo>
                  <a:cubicBezTo>
                    <a:pt x="10381" y="2400"/>
                    <a:pt x="9730" y="3073"/>
                    <a:pt x="8934" y="3073"/>
                  </a:cubicBezTo>
                  <a:cubicBezTo>
                    <a:pt x="8137" y="3073"/>
                    <a:pt x="7487" y="2378"/>
                    <a:pt x="7487" y="1525"/>
                  </a:cubicBezTo>
                  <a:cubicBezTo>
                    <a:pt x="7487" y="673"/>
                    <a:pt x="8158" y="0"/>
                    <a:pt x="8934" y="0"/>
                  </a:cubicBezTo>
                  <a:close/>
                  <a:moveTo>
                    <a:pt x="12603" y="0"/>
                  </a:moveTo>
                  <a:cubicBezTo>
                    <a:pt x="13400" y="0"/>
                    <a:pt x="14050" y="695"/>
                    <a:pt x="14050" y="1548"/>
                  </a:cubicBezTo>
                  <a:cubicBezTo>
                    <a:pt x="14050" y="2400"/>
                    <a:pt x="13400" y="3073"/>
                    <a:pt x="12603" y="3073"/>
                  </a:cubicBezTo>
                  <a:cubicBezTo>
                    <a:pt x="11807" y="3073"/>
                    <a:pt x="11177" y="2400"/>
                    <a:pt x="11177" y="1548"/>
                  </a:cubicBezTo>
                  <a:cubicBezTo>
                    <a:pt x="11177" y="695"/>
                    <a:pt x="11807" y="0"/>
                    <a:pt x="12603" y="0"/>
                  </a:cubicBezTo>
                  <a:close/>
                  <a:moveTo>
                    <a:pt x="16273" y="0"/>
                  </a:moveTo>
                  <a:cubicBezTo>
                    <a:pt x="17070" y="0"/>
                    <a:pt x="17720" y="695"/>
                    <a:pt x="17720" y="1548"/>
                  </a:cubicBezTo>
                  <a:cubicBezTo>
                    <a:pt x="17720" y="2400"/>
                    <a:pt x="17070" y="3073"/>
                    <a:pt x="16273" y="3073"/>
                  </a:cubicBezTo>
                  <a:cubicBezTo>
                    <a:pt x="15477" y="3073"/>
                    <a:pt x="14847" y="2378"/>
                    <a:pt x="14847" y="1548"/>
                  </a:cubicBezTo>
                  <a:cubicBezTo>
                    <a:pt x="14847" y="718"/>
                    <a:pt x="15477" y="0"/>
                    <a:pt x="16273" y="0"/>
                  </a:cubicBezTo>
                  <a:close/>
                  <a:moveTo>
                    <a:pt x="14491" y="3836"/>
                  </a:moveTo>
                  <a:cubicBezTo>
                    <a:pt x="15288" y="3836"/>
                    <a:pt x="15938" y="4508"/>
                    <a:pt x="15938" y="5361"/>
                  </a:cubicBezTo>
                  <a:cubicBezTo>
                    <a:pt x="15938" y="6213"/>
                    <a:pt x="15288" y="6908"/>
                    <a:pt x="14491" y="6908"/>
                  </a:cubicBezTo>
                  <a:cubicBezTo>
                    <a:pt x="13694" y="6908"/>
                    <a:pt x="13065" y="6213"/>
                    <a:pt x="13065" y="5361"/>
                  </a:cubicBezTo>
                  <a:cubicBezTo>
                    <a:pt x="13065" y="4508"/>
                    <a:pt x="13694" y="3836"/>
                    <a:pt x="14491" y="3836"/>
                  </a:cubicBezTo>
                  <a:close/>
                  <a:moveTo>
                    <a:pt x="10590" y="3836"/>
                  </a:moveTo>
                  <a:cubicBezTo>
                    <a:pt x="11387" y="3836"/>
                    <a:pt x="12037" y="4508"/>
                    <a:pt x="12037" y="5361"/>
                  </a:cubicBezTo>
                  <a:cubicBezTo>
                    <a:pt x="12037" y="6213"/>
                    <a:pt x="11387" y="6908"/>
                    <a:pt x="10590" y="6908"/>
                  </a:cubicBezTo>
                  <a:cubicBezTo>
                    <a:pt x="9793" y="6908"/>
                    <a:pt x="9143" y="6213"/>
                    <a:pt x="9143" y="5361"/>
                  </a:cubicBezTo>
                  <a:cubicBezTo>
                    <a:pt x="9143" y="4508"/>
                    <a:pt x="9793" y="3836"/>
                    <a:pt x="10590" y="3836"/>
                  </a:cubicBezTo>
                  <a:close/>
                  <a:moveTo>
                    <a:pt x="18266" y="3836"/>
                  </a:moveTo>
                  <a:cubicBezTo>
                    <a:pt x="19063" y="3836"/>
                    <a:pt x="19713" y="4508"/>
                    <a:pt x="19713" y="5361"/>
                  </a:cubicBezTo>
                  <a:cubicBezTo>
                    <a:pt x="19713" y="6213"/>
                    <a:pt x="19063" y="6908"/>
                    <a:pt x="18266" y="6908"/>
                  </a:cubicBezTo>
                  <a:cubicBezTo>
                    <a:pt x="17469" y="6908"/>
                    <a:pt x="16819" y="6213"/>
                    <a:pt x="16819" y="5361"/>
                  </a:cubicBezTo>
                  <a:cubicBezTo>
                    <a:pt x="16819" y="4508"/>
                    <a:pt x="17469" y="3836"/>
                    <a:pt x="18266" y="3836"/>
                  </a:cubicBezTo>
                  <a:close/>
                  <a:moveTo>
                    <a:pt x="4823" y="7200"/>
                  </a:moveTo>
                  <a:cubicBezTo>
                    <a:pt x="5830" y="7200"/>
                    <a:pt x="6438" y="8052"/>
                    <a:pt x="6522" y="9151"/>
                  </a:cubicBezTo>
                  <a:lnTo>
                    <a:pt x="6522" y="14131"/>
                  </a:lnTo>
                  <a:cubicBezTo>
                    <a:pt x="6522" y="15028"/>
                    <a:pt x="5410" y="15028"/>
                    <a:pt x="5410" y="14131"/>
                  </a:cubicBezTo>
                  <a:lnTo>
                    <a:pt x="5410" y="9443"/>
                  </a:lnTo>
                  <a:cubicBezTo>
                    <a:pt x="5410" y="9353"/>
                    <a:pt x="5348" y="9264"/>
                    <a:pt x="5222" y="9264"/>
                  </a:cubicBezTo>
                  <a:cubicBezTo>
                    <a:pt x="5138" y="9264"/>
                    <a:pt x="5054" y="9331"/>
                    <a:pt x="5054" y="9443"/>
                  </a:cubicBezTo>
                  <a:lnTo>
                    <a:pt x="5054" y="20748"/>
                  </a:lnTo>
                  <a:cubicBezTo>
                    <a:pt x="5054" y="21219"/>
                    <a:pt x="4697" y="21600"/>
                    <a:pt x="4257" y="21600"/>
                  </a:cubicBezTo>
                  <a:cubicBezTo>
                    <a:pt x="3817" y="21600"/>
                    <a:pt x="3460" y="21219"/>
                    <a:pt x="3460" y="20748"/>
                  </a:cubicBezTo>
                  <a:lnTo>
                    <a:pt x="3460" y="15118"/>
                  </a:lnTo>
                  <a:cubicBezTo>
                    <a:pt x="3460" y="15028"/>
                    <a:pt x="3397" y="14938"/>
                    <a:pt x="3271" y="14938"/>
                  </a:cubicBezTo>
                  <a:lnTo>
                    <a:pt x="3230" y="14938"/>
                  </a:lnTo>
                  <a:cubicBezTo>
                    <a:pt x="3146" y="14938"/>
                    <a:pt x="3062" y="15006"/>
                    <a:pt x="3062" y="15118"/>
                  </a:cubicBezTo>
                  <a:lnTo>
                    <a:pt x="3062" y="20748"/>
                  </a:lnTo>
                  <a:cubicBezTo>
                    <a:pt x="3062" y="21219"/>
                    <a:pt x="2726" y="21600"/>
                    <a:pt x="2265" y="21600"/>
                  </a:cubicBezTo>
                  <a:cubicBezTo>
                    <a:pt x="1824" y="21600"/>
                    <a:pt x="1468" y="21219"/>
                    <a:pt x="1468" y="20748"/>
                  </a:cubicBezTo>
                  <a:lnTo>
                    <a:pt x="1468" y="9443"/>
                  </a:lnTo>
                  <a:cubicBezTo>
                    <a:pt x="1468" y="9331"/>
                    <a:pt x="1384" y="9264"/>
                    <a:pt x="1279" y="9264"/>
                  </a:cubicBezTo>
                  <a:cubicBezTo>
                    <a:pt x="1195" y="9264"/>
                    <a:pt x="1111" y="9331"/>
                    <a:pt x="1111" y="9443"/>
                  </a:cubicBezTo>
                  <a:lnTo>
                    <a:pt x="1111" y="14108"/>
                  </a:lnTo>
                  <a:cubicBezTo>
                    <a:pt x="1111" y="15006"/>
                    <a:pt x="0" y="15006"/>
                    <a:pt x="0" y="14108"/>
                  </a:cubicBezTo>
                  <a:lnTo>
                    <a:pt x="0" y="9151"/>
                  </a:lnTo>
                  <a:cubicBezTo>
                    <a:pt x="0" y="8052"/>
                    <a:pt x="608" y="7200"/>
                    <a:pt x="1594" y="7200"/>
                  </a:cubicBezTo>
                  <a:lnTo>
                    <a:pt x="4823" y="7200"/>
                  </a:lnTo>
                  <a:close/>
                  <a:moveTo>
                    <a:pt x="12205" y="7200"/>
                  </a:moveTo>
                  <a:cubicBezTo>
                    <a:pt x="13212" y="7200"/>
                    <a:pt x="13841" y="8052"/>
                    <a:pt x="13904" y="9151"/>
                  </a:cubicBezTo>
                  <a:lnTo>
                    <a:pt x="13904" y="14131"/>
                  </a:lnTo>
                  <a:cubicBezTo>
                    <a:pt x="13904" y="15028"/>
                    <a:pt x="12792" y="15028"/>
                    <a:pt x="12792" y="14131"/>
                  </a:cubicBezTo>
                  <a:lnTo>
                    <a:pt x="12792" y="9443"/>
                  </a:lnTo>
                  <a:cubicBezTo>
                    <a:pt x="12792" y="9353"/>
                    <a:pt x="12729" y="9264"/>
                    <a:pt x="12603" y="9264"/>
                  </a:cubicBezTo>
                  <a:cubicBezTo>
                    <a:pt x="12520" y="9264"/>
                    <a:pt x="12436" y="9331"/>
                    <a:pt x="12436" y="9443"/>
                  </a:cubicBezTo>
                  <a:lnTo>
                    <a:pt x="12436" y="20748"/>
                  </a:lnTo>
                  <a:cubicBezTo>
                    <a:pt x="12436" y="21219"/>
                    <a:pt x="12079" y="21600"/>
                    <a:pt x="11639" y="21600"/>
                  </a:cubicBezTo>
                  <a:cubicBezTo>
                    <a:pt x="11198" y="21600"/>
                    <a:pt x="10842" y="21219"/>
                    <a:pt x="10842" y="20748"/>
                  </a:cubicBezTo>
                  <a:lnTo>
                    <a:pt x="10842" y="15118"/>
                  </a:lnTo>
                  <a:cubicBezTo>
                    <a:pt x="10842" y="15028"/>
                    <a:pt x="10779" y="14938"/>
                    <a:pt x="10653" y="14938"/>
                  </a:cubicBezTo>
                  <a:lnTo>
                    <a:pt x="10611" y="14938"/>
                  </a:lnTo>
                  <a:cubicBezTo>
                    <a:pt x="10527" y="14938"/>
                    <a:pt x="10443" y="15006"/>
                    <a:pt x="10443" y="15118"/>
                  </a:cubicBezTo>
                  <a:lnTo>
                    <a:pt x="10443" y="20748"/>
                  </a:lnTo>
                  <a:cubicBezTo>
                    <a:pt x="10443" y="21219"/>
                    <a:pt x="10087" y="21600"/>
                    <a:pt x="9647" y="21600"/>
                  </a:cubicBezTo>
                  <a:cubicBezTo>
                    <a:pt x="9206" y="21600"/>
                    <a:pt x="8850" y="21219"/>
                    <a:pt x="8850" y="20748"/>
                  </a:cubicBezTo>
                  <a:lnTo>
                    <a:pt x="8850" y="9443"/>
                  </a:lnTo>
                  <a:cubicBezTo>
                    <a:pt x="8850" y="9331"/>
                    <a:pt x="8766" y="9264"/>
                    <a:pt x="8661" y="9264"/>
                  </a:cubicBezTo>
                  <a:cubicBezTo>
                    <a:pt x="8577" y="9264"/>
                    <a:pt x="8493" y="9331"/>
                    <a:pt x="8493" y="9443"/>
                  </a:cubicBezTo>
                  <a:lnTo>
                    <a:pt x="8493" y="14108"/>
                  </a:lnTo>
                  <a:cubicBezTo>
                    <a:pt x="8493" y="15006"/>
                    <a:pt x="7382" y="15006"/>
                    <a:pt x="7382" y="14108"/>
                  </a:cubicBezTo>
                  <a:lnTo>
                    <a:pt x="7382" y="9151"/>
                  </a:lnTo>
                  <a:cubicBezTo>
                    <a:pt x="7382" y="8052"/>
                    <a:pt x="7990" y="7200"/>
                    <a:pt x="8976" y="7200"/>
                  </a:cubicBezTo>
                  <a:lnTo>
                    <a:pt x="12205" y="7200"/>
                  </a:lnTo>
                  <a:close/>
                  <a:moveTo>
                    <a:pt x="19901" y="7200"/>
                  </a:moveTo>
                  <a:cubicBezTo>
                    <a:pt x="20929" y="7200"/>
                    <a:pt x="21516" y="8052"/>
                    <a:pt x="21600" y="9151"/>
                  </a:cubicBezTo>
                  <a:lnTo>
                    <a:pt x="21600" y="14131"/>
                  </a:lnTo>
                  <a:cubicBezTo>
                    <a:pt x="21600" y="15028"/>
                    <a:pt x="20489" y="15028"/>
                    <a:pt x="20489" y="14131"/>
                  </a:cubicBezTo>
                  <a:lnTo>
                    <a:pt x="20489" y="9443"/>
                  </a:lnTo>
                  <a:cubicBezTo>
                    <a:pt x="20489" y="9353"/>
                    <a:pt x="20426" y="9264"/>
                    <a:pt x="20300" y="9264"/>
                  </a:cubicBezTo>
                  <a:cubicBezTo>
                    <a:pt x="20216" y="9264"/>
                    <a:pt x="20132" y="9331"/>
                    <a:pt x="20132" y="9443"/>
                  </a:cubicBezTo>
                  <a:lnTo>
                    <a:pt x="20132" y="20748"/>
                  </a:lnTo>
                  <a:cubicBezTo>
                    <a:pt x="20132" y="21219"/>
                    <a:pt x="19776" y="21600"/>
                    <a:pt x="19335" y="21600"/>
                  </a:cubicBezTo>
                  <a:cubicBezTo>
                    <a:pt x="18895" y="21600"/>
                    <a:pt x="18538" y="21219"/>
                    <a:pt x="18538" y="20748"/>
                  </a:cubicBezTo>
                  <a:lnTo>
                    <a:pt x="18538" y="15118"/>
                  </a:lnTo>
                  <a:cubicBezTo>
                    <a:pt x="18538" y="15028"/>
                    <a:pt x="18475" y="14938"/>
                    <a:pt x="18350" y="14938"/>
                  </a:cubicBezTo>
                  <a:lnTo>
                    <a:pt x="18308" y="14938"/>
                  </a:lnTo>
                  <a:cubicBezTo>
                    <a:pt x="18224" y="14938"/>
                    <a:pt x="18140" y="15006"/>
                    <a:pt x="18140" y="15118"/>
                  </a:cubicBezTo>
                  <a:lnTo>
                    <a:pt x="18140" y="20748"/>
                  </a:lnTo>
                  <a:cubicBezTo>
                    <a:pt x="18140" y="21219"/>
                    <a:pt x="17804" y="21600"/>
                    <a:pt x="17343" y="21600"/>
                  </a:cubicBezTo>
                  <a:cubicBezTo>
                    <a:pt x="16903" y="21600"/>
                    <a:pt x="16546" y="21219"/>
                    <a:pt x="16546" y="20748"/>
                  </a:cubicBezTo>
                  <a:lnTo>
                    <a:pt x="16546" y="9443"/>
                  </a:lnTo>
                  <a:cubicBezTo>
                    <a:pt x="16546" y="9331"/>
                    <a:pt x="16462" y="9264"/>
                    <a:pt x="16357" y="9264"/>
                  </a:cubicBezTo>
                  <a:cubicBezTo>
                    <a:pt x="16273" y="9264"/>
                    <a:pt x="16190" y="9331"/>
                    <a:pt x="16190" y="9443"/>
                  </a:cubicBezTo>
                  <a:lnTo>
                    <a:pt x="16190" y="14108"/>
                  </a:lnTo>
                  <a:cubicBezTo>
                    <a:pt x="16190" y="15006"/>
                    <a:pt x="15078" y="15006"/>
                    <a:pt x="15078" y="14108"/>
                  </a:cubicBezTo>
                  <a:lnTo>
                    <a:pt x="15078" y="9151"/>
                  </a:lnTo>
                  <a:cubicBezTo>
                    <a:pt x="15078" y="8052"/>
                    <a:pt x="15686" y="7200"/>
                    <a:pt x="16672" y="7200"/>
                  </a:cubicBezTo>
                  <a:lnTo>
                    <a:pt x="19901" y="7200"/>
                  </a:lnTo>
                  <a:close/>
                </a:path>
              </a:pathLst>
            </a:custGeom>
            <a:solidFill>
              <a:srgbClr val="89CC40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46" name="Shape 1507">
              <a:extLst>
                <a:ext uri="{FF2B5EF4-FFF2-40B4-BE49-F238E27FC236}">
                  <a16:creationId xmlns:a16="http://schemas.microsoft.com/office/drawing/2014/main" id="{E7BF6CDF-4598-8000-CB3E-2DC3C0DCD0F6}"/>
                </a:ext>
              </a:extLst>
            </p:cNvPr>
            <p:cNvSpPr/>
            <p:nvPr/>
          </p:nvSpPr>
          <p:spPr>
            <a:xfrm>
              <a:off x="4005100" y="1736436"/>
              <a:ext cx="554373" cy="364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664" y="4195"/>
                  </a:moveTo>
                  <a:lnTo>
                    <a:pt x="11540" y="4238"/>
                  </a:lnTo>
                  <a:lnTo>
                    <a:pt x="11540" y="19035"/>
                  </a:lnTo>
                  <a:lnTo>
                    <a:pt x="17538" y="19035"/>
                  </a:lnTo>
                  <a:lnTo>
                    <a:pt x="17538" y="21600"/>
                  </a:lnTo>
                  <a:lnTo>
                    <a:pt x="4102" y="21600"/>
                  </a:lnTo>
                  <a:lnTo>
                    <a:pt x="4102" y="19035"/>
                  </a:lnTo>
                  <a:lnTo>
                    <a:pt x="10101" y="19035"/>
                  </a:lnTo>
                  <a:lnTo>
                    <a:pt x="10101" y="18992"/>
                  </a:lnTo>
                  <a:lnTo>
                    <a:pt x="10101" y="19035"/>
                  </a:lnTo>
                  <a:lnTo>
                    <a:pt x="10101" y="4238"/>
                  </a:lnTo>
                  <a:lnTo>
                    <a:pt x="4976" y="4195"/>
                  </a:lnTo>
                  <a:lnTo>
                    <a:pt x="7666" y="13677"/>
                  </a:lnTo>
                  <a:lnTo>
                    <a:pt x="8124" y="13677"/>
                  </a:lnTo>
                  <a:cubicBezTo>
                    <a:pt x="8124" y="16044"/>
                    <a:pt x="6294" y="17957"/>
                    <a:pt x="4062" y="17957"/>
                  </a:cubicBezTo>
                  <a:cubicBezTo>
                    <a:pt x="1816" y="17957"/>
                    <a:pt x="0" y="16044"/>
                    <a:pt x="0" y="13677"/>
                  </a:cubicBezTo>
                  <a:lnTo>
                    <a:pt x="377" y="13677"/>
                  </a:lnTo>
                  <a:lnTo>
                    <a:pt x="3080" y="4195"/>
                  </a:lnTo>
                  <a:lnTo>
                    <a:pt x="2999" y="4195"/>
                  </a:lnTo>
                  <a:lnTo>
                    <a:pt x="2999" y="2962"/>
                  </a:lnTo>
                  <a:lnTo>
                    <a:pt x="10060" y="2962"/>
                  </a:lnTo>
                  <a:lnTo>
                    <a:pt x="10060" y="0"/>
                  </a:lnTo>
                  <a:lnTo>
                    <a:pt x="11459" y="0"/>
                  </a:lnTo>
                  <a:lnTo>
                    <a:pt x="11459" y="2962"/>
                  </a:lnTo>
                  <a:lnTo>
                    <a:pt x="18560" y="2962"/>
                  </a:lnTo>
                  <a:lnTo>
                    <a:pt x="18560" y="4195"/>
                  </a:lnTo>
                  <a:lnTo>
                    <a:pt x="18480" y="4195"/>
                  </a:lnTo>
                  <a:lnTo>
                    <a:pt x="21223" y="13677"/>
                  </a:lnTo>
                  <a:lnTo>
                    <a:pt x="21600" y="13677"/>
                  </a:lnTo>
                  <a:cubicBezTo>
                    <a:pt x="21600" y="16044"/>
                    <a:pt x="19784" y="17957"/>
                    <a:pt x="17538" y="17957"/>
                  </a:cubicBezTo>
                  <a:cubicBezTo>
                    <a:pt x="15306" y="17957"/>
                    <a:pt x="13476" y="16072"/>
                    <a:pt x="13476" y="13677"/>
                  </a:cubicBezTo>
                  <a:lnTo>
                    <a:pt x="13934" y="13677"/>
                  </a:lnTo>
                  <a:lnTo>
                    <a:pt x="16664" y="4195"/>
                  </a:lnTo>
                  <a:close/>
                  <a:moveTo>
                    <a:pt x="4102" y="4280"/>
                  </a:moveTo>
                  <a:lnTo>
                    <a:pt x="1439" y="13677"/>
                  </a:lnTo>
                  <a:lnTo>
                    <a:pt x="6792" y="13677"/>
                  </a:lnTo>
                  <a:lnTo>
                    <a:pt x="4102" y="4280"/>
                  </a:lnTo>
                  <a:close/>
                  <a:moveTo>
                    <a:pt x="14835" y="13677"/>
                  </a:moveTo>
                  <a:lnTo>
                    <a:pt x="20228" y="13677"/>
                  </a:lnTo>
                  <a:lnTo>
                    <a:pt x="17579" y="4280"/>
                  </a:lnTo>
                  <a:lnTo>
                    <a:pt x="17538" y="4280"/>
                  </a:lnTo>
                  <a:lnTo>
                    <a:pt x="14835" y="13677"/>
                  </a:lnTo>
                  <a:close/>
                </a:path>
              </a:pathLst>
            </a:custGeom>
            <a:solidFill>
              <a:srgbClr val="89CC40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  <p:sp>
          <p:nvSpPr>
            <p:cNvPr id="47" name="Shape 2982">
              <a:extLst>
                <a:ext uri="{FF2B5EF4-FFF2-40B4-BE49-F238E27FC236}">
                  <a16:creationId xmlns:a16="http://schemas.microsoft.com/office/drawing/2014/main" id="{77B0E654-3865-8EE0-0798-4555DEE8CC71}"/>
                </a:ext>
              </a:extLst>
            </p:cNvPr>
            <p:cNvSpPr/>
            <p:nvPr/>
          </p:nvSpPr>
          <p:spPr>
            <a:xfrm>
              <a:off x="9056830" y="1507011"/>
              <a:ext cx="467432" cy="410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582"/>
                  </a:moveTo>
                  <a:lnTo>
                    <a:pt x="851" y="21582"/>
                  </a:lnTo>
                  <a:lnTo>
                    <a:pt x="851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851" y="0"/>
                  </a:lnTo>
                  <a:lnTo>
                    <a:pt x="851" y="20612"/>
                  </a:lnTo>
                  <a:lnTo>
                    <a:pt x="1514" y="20612"/>
                  </a:lnTo>
                  <a:lnTo>
                    <a:pt x="1514" y="16752"/>
                  </a:lnTo>
                  <a:lnTo>
                    <a:pt x="4872" y="16752"/>
                  </a:lnTo>
                  <a:lnTo>
                    <a:pt x="4872" y="20612"/>
                  </a:lnTo>
                  <a:lnTo>
                    <a:pt x="6007" y="20612"/>
                  </a:lnTo>
                  <a:lnTo>
                    <a:pt x="6007" y="13053"/>
                  </a:lnTo>
                  <a:lnTo>
                    <a:pt x="9365" y="13053"/>
                  </a:lnTo>
                  <a:lnTo>
                    <a:pt x="9365" y="20612"/>
                  </a:lnTo>
                  <a:lnTo>
                    <a:pt x="10500" y="20612"/>
                  </a:lnTo>
                  <a:lnTo>
                    <a:pt x="10500" y="5817"/>
                  </a:lnTo>
                  <a:lnTo>
                    <a:pt x="13859" y="5817"/>
                  </a:lnTo>
                  <a:lnTo>
                    <a:pt x="13859" y="20612"/>
                  </a:lnTo>
                  <a:lnTo>
                    <a:pt x="14978" y="20612"/>
                  </a:lnTo>
                  <a:lnTo>
                    <a:pt x="14978" y="1616"/>
                  </a:lnTo>
                  <a:lnTo>
                    <a:pt x="18336" y="1616"/>
                  </a:lnTo>
                  <a:lnTo>
                    <a:pt x="18336" y="20612"/>
                  </a:lnTo>
                  <a:lnTo>
                    <a:pt x="21600" y="20612"/>
                  </a:lnTo>
                  <a:lnTo>
                    <a:pt x="21600" y="21582"/>
                  </a:lnTo>
                </a:path>
              </a:pathLst>
            </a:custGeom>
            <a:solidFill>
              <a:srgbClr val="89CC40"/>
            </a:solidFill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0592F8-B7C5-A8E9-AE79-488A10140E4A}"/>
                </a:ext>
              </a:extLst>
            </p:cNvPr>
            <p:cNvGrpSpPr/>
            <p:nvPr/>
          </p:nvGrpSpPr>
          <p:grpSpPr>
            <a:xfrm>
              <a:off x="4002702" y="4671527"/>
              <a:ext cx="212088" cy="416628"/>
              <a:chOff x="1460004" y="6870974"/>
              <a:chExt cx="301636" cy="592538"/>
            </a:xfrm>
            <a:solidFill>
              <a:srgbClr val="89CC40"/>
            </a:solidFill>
          </p:grpSpPr>
          <p:sp>
            <p:nvSpPr>
              <p:cNvPr id="58" name="Shape 2863">
                <a:extLst>
                  <a:ext uri="{FF2B5EF4-FFF2-40B4-BE49-F238E27FC236}">
                    <a16:creationId xmlns:a16="http://schemas.microsoft.com/office/drawing/2014/main" id="{A625CF21-050F-BD9F-C6D4-12936379A565}"/>
                  </a:ext>
                </a:extLst>
              </p:cNvPr>
              <p:cNvSpPr/>
              <p:nvPr/>
            </p:nvSpPr>
            <p:spPr>
              <a:xfrm>
                <a:off x="1460004" y="6979350"/>
                <a:ext cx="301636" cy="4841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20" h="21276" extrusionOk="0">
                    <a:moveTo>
                      <a:pt x="7219" y="0"/>
                    </a:moveTo>
                    <a:cubicBezTo>
                      <a:pt x="4928" y="0"/>
                      <a:pt x="3243" y="1210"/>
                      <a:pt x="2939" y="1901"/>
                    </a:cubicBezTo>
                    <a:lnTo>
                      <a:pt x="75" y="7862"/>
                    </a:lnTo>
                    <a:cubicBezTo>
                      <a:pt x="-464" y="9137"/>
                      <a:pt x="2063" y="9677"/>
                      <a:pt x="2670" y="8402"/>
                    </a:cubicBezTo>
                    <a:lnTo>
                      <a:pt x="5231" y="2938"/>
                    </a:lnTo>
                    <a:lnTo>
                      <a:pt x="6646" y="2938"/>
                    </a:lnTo>
                    <a:lnTo>
                      <a:pt x="2400" y="12701"/>
                    </a:lnTo>
                    <a:lnTo>
                      <a:pt x="6511" y="12701"/>
                    </a:lnTo>
                    <a:lnTo>
                      <a:pt x="6511" y="20304"/>
                    </a:lnTo>
                    <a:cubicBezTo>
                      <a:pt x="6511" y="21600"/>
                      <a:pt x="9544" y="21600"/>
                      <a:pt x="9544" y="20304"/>
                    </a:cubicBezTo>
                    <a:lnTo>
                      <a:pt x="9544" y="12636"/>
                    </a:lnTo>
                    <a:lnTo>
                      <a:pt x="11060" y="12636"/>
                    </a:lnTo>
                    <a:lnTo>
                      <a:pt x="11060" y="20282"/>
                    </a:lnTo>
                    <a:cubicBezTo>
                      <a:pt x="11060" y="21600"/>
                      <a:pt x="14127" y="21600"/>
                      <a:pt x="14127" y="20282"/>
                    </a:cubicBezTo>
                    <a:lnTo>
                      <a:pt x="14127" y="12701"/>
                    </a:lnTo>
                    <a:lnTo>
                      <a:pt x="18204" y="12701"/>
                    </a:lnTo>
                    <a:lnTo>
                      <a:pt x="13958" y="2959"/>
                    </a:lnTo>
                    <a:lnTo>
                      <a:pt x="15374" y="2959"/>
                    </a:lnTo>
                    <a:lnTo>
                      <a:pt x="17935" y="8467"/>
                    </a:lnTo>
                    <a:cubicBezTo>
                      <a:pt x="18541" y="9655"/>
                      <a:pt x="21136" y="9158"/>
                      <a:pt x="20529" y="7884"/>
                    </a:cubicBezTo>
                    <a:lnTo>
                      <a:pt x="17665" y="1922"/>
                    </a:lnTo>
                    <a:cubicBezTo>
                      <a:pt x="17396" y="1253"/>
                      <a:pt x="16048" y="22"/>
                      <a:pt x="13723" y="22"/>
                    </a:cubicBezTo>
                    <a:cubicBezTo>
                      <a:pt x="13756" y="0"/>
                      <a:pt x="7219" y="0"/>
                      <a:pt x="7219" y="0"/>
                    </a:cubicBezTo>
                  </a:path>
                </a:pathLst>
              </a:custGeom>
              <a:grpFill/>
              <a:ln w="3175">
                <a:miter lim="400000"/>
              </a:ln>
            </p:spPr>
            <p:txBody>
              <a:bodyPr lIns="32146" rIns="32146" anchor="ctr"/>
              <a:lstStyle/>
              <a:p>
                <a:pPr defTabSz="321457">
                  <a:lnSpc>
                    <a:spcPct val="93000"/>
                  </a:lnSpc>
                  <a:defRPr sz="1800">
                    <a:latin typeface="Arial"/>
                    <a:ea typeface="Arial"/>
                    <a:cs typeface="Arial"/>
                    <a:sym typeface="Arial"/>
                  </a:defRPr>
                </a:pPr>
                <a:endParaRPr sz="1266"/>
              </a:p>
            </p:txBody>
          </p:sp>
          <p:sp>
            <p:nvSpPr>
              <p:cNvPr id="59" name="Shape 2864">
                <a:extLst>
                  <a:ext uri="{FF2B5EF4-FFF2-40B4-BE49-F238E27FC236}">
                    <a16:creationId xmlns:a16="http://schemas.microsoft.com/office/drawing/2014/main" id="{5B8C8C8B-2F26-A066-EE02-66F835918E5E}"/>
                  </a:ext>
                </a:extLst>
              </p:cNvPr>
              <p:cNvSpPr/>
              <p:nvPr/>
            </p:nvSpPr>
            <p:spPr>
              <a:xfrm>
                <a:off x="1561589" y="6870974"/>
                <a:ext cx="97044" cy="970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55"/>
                    </a:moveTo>
                    <a:cubicBezTo>
                      <a:pt x="0" y="4824"/>
                      <a:pt x="4959" y="0"/>
                      <a:pt x="10910" y="0"/>
                    </a:cubicBezTo>
                    <a:cubicBezTo>
                      <a:pt x="16861" y="0"/>
                      <a:pt x="21600" y="4824"/>
                      <a:pt x="21600" y="10855"/>
                    </a:cubicBezTo>
                    <a:cubicBezTo>
                      <a:pt x="21600" y="16776"/>
                      <a:pt x="16861" y="21600"/>
                      <a:pt x="10910" y="21600"/>
                    </a:cubicBezTo>
                    <a:cubicBezTo>
                      <a:pt x="4959" y="21600"/>
                      <a:pt x="0" y="16776"/>
                      <a:pt x="0" y="10855"/>
                    </a:cubicBezTo>
                  </a:path>
                </a:pathLst>
              </a:custGeom>
              <a:grpFill/>
              <a:ln w="3175">
                <a:miter lim="400000"/>
              </a:ln>
            </p:spPr>
            <p:txBody>
              <a:bodyPr lIns="32146" rIns="32146" anchor="ctr"/>
              <a:lstStyle/>
              <a:p>
                <a:pPr defTabSz="321457">
                  <a:lnSpc>
                    <a:spcPct val="93000"/>
                  </a:lnSpc>
                  <a:defRPr sz="1800">
                    <a:latin typeface="Arial"/>
                    <a:ea typeface="Arial"/>
                    <a:cs typeface="Arial"/>
                    <a:sym typeface="Arial"/>
                  </a:defRPr>
                </a:pPr>
                <a:endParaRPr sz="1266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2DFB21A-BFAA-34E3-CE3B-63DC0E252645}"/>
                </a:ext>
              </a:extLst>
            </p:cNvPr>
            <p:cNvGrpSpPr/>
            <p:nvPr/>
          </p:nvGrpSpPr>
          <p:grpSpPr>
            <a:xfrm>
              <a:off x="6165547" y="5213301"/>
              <a:ext cx="502586" cy="416590"/>
              <a:chOff x="7024869" y="3693226"/>
              <a:chExt cx="714789" cy="592484"/>
            </a:xfrm>
            <a:solidFill>
              <a:srgbClr val="89CC40"/>
            </a:solidFill>
          </p:grpSpPr>
          <p:sp>
            <p:nvSpPr>
              <p:cNvPr id="55" name="Shape 2901">
                <a:extLst>
                  <a:ext uri="{FF2B5EF4-FFF2-40B4-BE49-F238E27FC236}">
                    <a16:creationId xmlns:a16="http://schemas.microsoft.com/office/drawing/2014/main" id="{EBA5C02E-454B-4F6E-A222-0599707C5288}"/>
                  </a:ext>
                </a:extLst>
              </p:cNvPr>
              <p:cNvSpPr/>
              <p:nvPr/>
            </p:nvSpPr>
            <p:spPr>
              <a:xfrm>
                <a:off x="7415631" y="3693226"/>
                <a:ext cx="115218" cy="1170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51" h="21297" extrusionOk="0">
                    <a:moveTo>
                      <a:pt x="18143" y="3162"/>
                    </a:moveTo>
                    <a:cubicBezTo>
                      <a:pt x="19589" y="4512"/>
                      <a:pt x="20402" y="6042"/>
                      <a:pt x="20945" y="7932"/>
                    </a:cubicBezTo>
                    <a:cubicBezTo>
                      <a:pt x="21487" y="9822"/>
                      <a:pt x="21487" y="11532"/>
                      <a:pt x="20945" y="13422"/>
                    </a:cubicBezTo>
                    <a:cubicBezTo>
                      <a:pt x="20402" y="15312"/>
                      <a:pt x="19589" y="16752"/>
                      <a:pt x="18143" y="18192"/>
                    </a:cubicBezTo>
                    <a:cubicBezTo>
                      <a:pt x="16787" y="19542"/>
                      <a:pt x="15341" y="20352"/>
                      <a:pt x="13443" y="20892"/>
                    </a:cubicBezTo>
                    <a:cubicBezTo>
                      <a:pt x="11546" y="21432"/>
                      <a:pt x="9828" y="21432"/>
                      <a:pt x="7931" y="20892"/>
                    </a:cubicBezTo>
                    <a:cubicBezTo>
                      <a:pt x="6033" y="20352"/>
                      <a:pt x="4587" y="19542"/>
                      <a:pt x="3141" y="18192"/>
                    </a:cubicBezTo>
                    <a:cubicBezTo>
                      <a:pt x="1785" y="16752"/>
                      <a:pt x="881" y="15312"/>
                      <a:pt x="339" y="13422"/>
                    </a:cubicBezTo>
                    <a:cubicBezTo>
                      <a:pt x="-113" y="11532"/>
                      <a:pt x="-113" y="9822"/>
                      <a:pt x="339" y="7932"/>
                    </a:cubicBezTo>
                    <a:cubicBezTo>
                      <a:pt x="881" y="6042"/>
                      <a:pt x="1785" y="4512"/>
                      <a:pt x="3141" y="3162"/>
                    </a:cubicBezTo>
                    <a:cubicBezTo>
                      <a:pt x="4587" y="1812"/>
                      <a:pt x="6033" y="822"/>
                      <a:pt x="7931" y="372"/>
                    </a:cubicBezTo>
                    <a:cubicBezTo>
                      <a:pt x="9828" y="-168"/>
                      <a:pt x="11546" y="-78"/>
                      <a:pt x="13443" y="372"/>
                    </a:cubicBezTo>
                    <a:cubicBezTo>
                      <a:pt x="15341" y="912"/>
                      <a:pt x="16787" y="1812"/>
                      <a:pt x="18143" y="3162"/>
                    </a:cubicBezTo>
                  </a:path>
                </a:pathLst>
              </a:custGeom>
              <a:grpFill/>
              <a:ln w="3175">
                <a:miter lim="400000"/>
              </a:ln>
            </p:spPr>
            <p:txBody>
              <a:bodyPr lIns="32146" rIns="32146" anchor="ctr"/>
              <a:lstStyle/>
              <a:p>
                <a:pPr defTabSz="321457">
                  <a:lnSpc>
                    <a:spcPct val="93000"/>
                  </a:lnSpc>
                  <a:defRPr sz="1800">
                    <a:latin typeface="Arial"/>
                    <a:ea typeface="Arial"/>
                    <a:cs typeface="Arial"/>
                    <a:sym typeface="Arial"/>
                  </a:defRPr>
                </a:pPr>
                <a:endParaRPr sz="1266"/>
              </a:p>
            </p:txBody>
          </p:sp>
          <p:sp>
            <p:nvSpPr>
              <p:cNvPr id="56" name="Shape 2902">
                <a:extLst>
                  <a:ext uri="{FF2B5EF4-FFF2-40B4-BE49-F238E27FC236}">
                    <a16:creationId xmlns:a16="http://schemas.microsoft.com/office/drawing/2014/main" id="{9BB99DA7-AF6C-262E-7C64-EC177439BC0C}"/>
                  </a:ext>
                </a:extLst>
              </p:cNvPr>
              <p:cNvSpPr/>
              <p:nvPr/>
            </p:nvSpPr>
            <p:spPr>
              <a:xfrm>
                <a:off x="7231693" y="3693226"/>
                <a:ext cx="114917" cy="1170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96" h="21297" extrusionOk="0">
                    <a:moveTo>
                      <a:pt x="18177" y="3162"/>
                    </a:moveTo>
                    <a:cubicBezTo>
                      <a:pt x="19533" y="4512"/>
                      <a:pt x="20437" y="6042"/>
                      <a:pt x="20889" y="7932"/>
                    </a:cubicBezTo>
                    <a:cubicBezTo>
                      <a:pt x="21431" y="9822"/>
                      <a:pt x="21431" y="11532"/>
                      <a:pt x="20889" y="13422"/>
                    </a:cubicBezTo>
                    <a:cubicBezTo>
                      <a:pt x="20437" y="15312"/>
                      <a:pt x="19533" y="16752"/>
                      <a:pt x="18177" y="18192"/>
                    </a:cubicBezTo>
                    <a:cubicBezTo>
                      <a:pt x="16822" y="19542"/>
                      <a:pt x="15285" y="20352"/>
                      <a:pt x="13387" y="20892"/>
                    </a:cubicBezTo>
                    <a:cubicBezTo>
                      <a:pt x="11490" y="21432"/>
                      <a:pt x="9772" y="21432"/>
                      <a:pt x="7875" y="20892"/>
                    </a:cubicBezTo>
                    <a:cubicBezTo>
                      <a:pt x="5977" y="20352"/>
                      <a:pt x="4531" y="19542"/>
                      <a:pt x="3085" y="18192"/>
                    </a:cubicBezTo>
                    <a:cubicBezTo>
                      <a:pt x="1729" y="16752"/>
                      <a:pt x="916" y="15312"/>
                      <a:pt x="373" y="13422"/>
                    </a:cubicBezTo>
                    <a:cubicBezTo>
                      <a:pt x="-79" y="11532"/>
                      <a:pt x="-169" y="9822"/>
                      <a:pt x="373" y="7932"/>
                    </a:cubicBezTo>
                    <a:cubicBezTo>
                      <a:pt x="825" y="6042"/>
                      <a:pt x="1729" y="4512"/>
                      <a:pt x="3085" y="3162"/>
                    </a:cubicBezTo>
                    <a:cubicBezTo>
                      <a:pt x="4531" y="1812"/>
                      <a:pt x="5977" y="822"/>
                      <a:pt x="7875" y="372"/>
                    </a:cubicBezTo>
                    <a:cubicBezTo>
                      <a:pt x="9772" y="-168"/>
                      <a:pt x="11490" y="-78"/>
                      <a:pt x="13387" y="372"/>
                    </a:cubicBezTo>
                    <a:cubicBezTo>
                      <a:pt x="15285" y="912"/>
                      <a:pt x="16822" y="1812"/>
                      <a:pt x="18177" y="3162"/>
                    </a:cubicBezTo>
                  </a:path>
                </a:pathLst>
              </a:custGeom>
              <a:grpFill/>
              <a:ln w="3175">
                <a:miter lim="400000"/>
              </a:ln>
            </p:spPr>
            <p:txBody>
              <a:bodyPr lIns="32146" rIns="32146" anchor="ctr"/>
              <a:lstStyle/>
              <a:p>
                <a:pPr defTabSz="321457">
                  <a:lnSpc>
                    <a:spcPct val="93000"/>
                  </a:lnSpc>
                  <a:defRPr sz="1800">
                    <a:latin typeface="Arial"/>
                    <a:ea typeface="Arial"/>
                    <a:cs typeface="Arial"/>
                    <a:sym typeface="Arial"/>
                  </a:defRPr>
                </a:pPr>
                <a:endParaRPr sz="1266"/>
              </a:p>
            </p:txBody>
          </p:sp>
          <p:sp>
            <p:nvSpPr>
              <p:cNvPr id="57" name="Shape 2903">
                <a:extLst>
                  <a:ext uri="{FF2B5EF4-FFF2-40B4-BE49-F238E27FC236}">
                    <a16:creationId xmlns:a16="http://schemas.microsoft.com/office/drawing/2014/main" id="{C3647238-C748-9C04-CE99-4257E3661AEB}"/>
                  </a:ext>
                </a:extLst>
              </p:cNvPr>
              <p:cNvSpPr/>
              <p:nvPr/>
            </p:nvSpPr>
            <p:spPr>
              <a:xfrm>
                <a:off x="7024869" y="3778849"/>
                <a:ext cx="714789" cy="5068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23" extrusionOk="0">
                    <a:moveTo>
                      <a:pt x="401" y="5893"/>
                    </a:moveTo>
                    <a:lnTo>
                      <a:pt x="4237" y="530"/>
                    </a:lnTo>
                    <a:cubicBezTo>
                      <a:pt x="4757" y="-177"/>
                      <a:pt x="5604" y="-177"/>
                      <a:pt x="6095" y="530"/>
                    </a:cubicBezTo>
                    <a:cubicBezTo>
                      <a:pt x="6214" y="675"/>
                      <a:pt x="6600" y="1237"/>
                      <a:pt x="6704" y="1382"/>
                    </a:cubicBezTo>
                    <a:cubicBezTo>
                      <a:pt x="6838" y="1549"/>
                      <a:pt x="6927" y="1777"/>
                      <a:pt x="7002" y="1985"/>
                    </a:cubicBezTo>
                    <a:lnTo>
                      <a:pt x="8087" y="6143"/>
                    </a:lnTo>
                    <a:lnTo>
                      <a:pt x="10807" y="7910"/>
                    </a:lnTo>
                    <a:lnTo>
                      <a:pt x="13528" y="6143"/>
                    </a:lnTo>
                    <a:lnTo>
                      <a:pt x="14613" y="1985"/>
                    </a:lnTo>
                    <a:cubicBezTo>
                      <a:pt x="14687" y="1756"/>
                      <a:pt x="14777" y="1549"/>
                      <a:pt x="14896" y="1382"/>
                    </a:cubicBezTo>
                    <a:cubicBezTo>
                      <a:pt x="15000" y="1237"/>
                      <a:pt x="15401" y="675"/>
                      <a:pt x="15505" y="530"/>
                    </a:cubicBezTo>
                    <a:cubicBezTo>
                      <a:pt x="16010" y="-177"/>
                      <a:pt x="16828" y="-177"/>
                      <a:pt x="17363" y="530"/>
                    </a:cubicBezTo>
                    <a:lnTo>
                      <a:pt x="21213" y="5893"/>
                    </a:lnTo>
                    <a:cubicBezTo>
                      <a:pt x="21481" y="6288"/>
                      <a:pt x="21600" y="6725"/>
                      <a:pt x="21600" y="7224"/>
                    </a:cubicBezTo>
                    <a:lnTo>
                      <a:pt x="21600" y="19905"/>
                    </a:lnTo>
                    <a:cubicBezTo>
                      <a:pt x="21600" y="20758"/>
                      <a:pt x="21124" y="21423"/>
                      <a:pt x="20515" y="21423"/>
                    </a:cubicBezTo>
                    <a:cubicBezTo>
                      <a:pt x="19905" y="21423"/>
                      <a:pt x="19415" y="20758"/>
                      <a:pt x="19415" y="19905"/>
                    </a:cubicBezTo>
                    <a:lnTo>
                      <a:pt x="19415" y="9843"/>
                    </a:lnTo>
                    <a:cubicBezTo>
                      <a:pt x="19192" y="9802"/>
                      <a:pt x="18939" y="9594"/>
                      <a:pt x="18746" y="9344"/>
                    </a:cubicBezTo>
                    <a:lnTo>
                      <a:pt x="15490" y="4812"/>
                    </a:lnTo>
                    <a:lnTo>
                      <a:pt x="14821" y="7307"/>
                    </a:lnTo>
                    <a:cubicBezTo>
                      <a:pt x="14762" y="7577"/>
                      <a:pt x="14613" y="7806"/>
                      <a:pt x="14435" y="7910"/>
                    </a:cubicBezTo>
                    <a:lnTo>
                      <a:pt x="11268" y="9989"/>
                    </a:lnTo>
                    <a:cubicBezTo>
                      <a:pt x="11105" y="10072"/>
                      <a:pt x="10941" y="10114"/>
                      <a:pt x="10807" y="10051"/>
                    </a:cubicBezTo>
                    <a:cubicBezTo>
                      <a:pt x="10644" y="10114"/>
                      <a:pt x="10480" y="10072"/>
                      <a:pt x="10332" y="9989"/>
                    </a:cubicBezTo>
                    <a:lnTo>
                      <a:pt x="7180" y="7910"/>
                    </a:lnTo>
                    <a:cubicBezTo>
                      <a:pt x="7002" y="7785"/>
                      <a:pt x="6853" y="7577"/>
                      <a:pt x="6779" y="7307"/>
                    </a:cubicBezTo>
                    <a:lnTo>
                      <a:pt x="6125" y="4812"/>
                    </a:lnTo>
                    <a:lnTo>
                      <a:pt x="2869" y="9344"/>
                    </a:lnTo>
                    <a:cubicBezTo>
                      <a:pt x="2676" y="9594"/>
                      <a:pt x="2438" y="9781"/>
                      <a:pt x="2185" y="9843"/>
                    </a:cubicBezTo>
                    <a:lnTo>
                      <a:pt x="2185" y="19885"/>
                    </a:lnTo>
                    <a:cubicBezTo>
                      <a:pt x="2185" y="20737"/>
                      <a:pt x="1710" y="21402"/>
                      <a:pt x="1100" y="21402"/>
                    </a:cubicBezTo>
                    <a:cubicBezTo>
                      <a:pt x="491" y="21402"/>
                      <a:pt x="0" y="20737"/>
                      <a:pt x="0" y="19885"/>
                    </a:cubicBezTo>
                    <a:lnTo>
                      <a:pt x="0" y="7203"/>
                    </a:lnTo>
                    <a:cubicBezTo>
                      <a:pt x="0" y="6725"/>
                      <a:pt x="134" y="6247"/>
                      <a:pt x="401" y="5893"/>
                    </a:cubicBezTo>
                  </a:path>
                </a:pathLst>
              </a:custGeom>
              <a:grpFill/>
              <a:ln w="3175">
                <a:miter lim="400000"/>
              </a:ln>
            </p:spPr>
            <p:txBody>
              <a:bodyPr lIns="32146" rIns="32146" anchor="ctr"/>
              <a:lstStyle/>
              <a:p>
                <a:pPr defTabSz="321457">
                  <a:lnSpc>
                    <a:spcPct val="93000"/>
                  </a:lnSpc>
                  <a:defRPr sz="1800">
                    <a:latin typeface="Arial"/>
                    <a:ea typeface="Arial"/>
                    <a:cs typeface="Arial"/>
                    <a:sym typeface="Arial"/>
                  </a:defRPr>
                </a:pPr>
                <a:endParaRPr sz="1266"/>
              </a:p>
            </p:txBody>
          </p:sp>
        </p:grpSp>
        <p:sp>
          <p:nvSpPr>
            <p:cNvPr id="50" name="Shape 871">
              <a:extLst>
                <a:ext uri="{FF2B5EF4-FFF2-40B4-BE49-F238E27FC236}">
                  <a16:creationId xmlns:a16="http://schemas.microsoft.com/office/drawing/2014/main" id="{33CC471B-2DBE-C706-7EF4-478A95D1559E}"/>
                </a:ext>
              </a:extLst>
            </p:cNvPr>
            <p:cNvSpPr/>
            <p:nvPr/>
          </p:nvSpPr>
          <p:spPr>
            <a:xfrm>
              <a:off x="5533017" y="2876390"/>
              <a:ext cx="2158063" cy="968794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 algn="ctr" defTabSz="414923">
                <a:tabLst>
                  <a:tab pos="651844" algn="l"/>
                </a:tabLst>
                <a:defRPr sz="5000">
                  <a:solidFill>
                    <a:schemeClr val="accent1">
                      <a:hueOff val="273562"/>
                      <a:satOff val="2937"/>
                      <a:lumOff val="-22233"/>
                    </a:schemeClr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r>
                <a:rPr lang="en-US" sz="3164" b="1" dirty="0">
                  <a:solidFill>
                    <a:srgbClr val="0066CC"/>
                  </a:solidFill>
                </a:rPr>
                <a:t>Ethical Guidelines</a:t>
              </a:r>
            </a:p>
            <a:p>
              <a:pPr algn="ctr" defTabSz="414923">
                <a:lnSpc>
                  <a:spcPct val="112000"/>
                </a:lnSpc>
                <a:tabLst>
                  <a:tab pos="651844" algn="l"/>
                </a:tabLst>
                <a:defRPr sz="5000">
                  <a:solidFill>
                    <a:schemeClr val="accent1">
                      <a:hueOff val="273562"/>
                      <a:satOff val="2937"/>
                      <a:lumOff val="-22233"/>
                    </a:schemeClr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endParaRPr sz="3516" b="1" dirty="0">
                <a:solidFill>
                  <a:srgbClr val="0066CC"/>
                </a:solidFill>
              </a:endParaRPr>
            </a:p>
          </p:txBody>
        </p:sp>
        <p:sp>
          <p:nvSpPr>
            <p:cNvPr id="51" name="Shape 871">
              <a:extLst>
                <a:ext uri="{FF2B5EF4-FFF2-40B4-BE49-F238E27FC236}">
                  <a16:creationId xmlns:a16="http://schemas.microsoft.com/office/drawing/2014/main" id="{23F1466C-D2EE-A288-6680-15C4AF77E8F6}"/>
                </a:ext>
              </a:extLst>
            </p:cNvPr>
            <p:cNvSpPr/>
            <p:nvPr/>
          </p:nvSpPr>
          <p:spPr>
            <a:xfrm>
              <a:off x="5988345" y="3808269"/>
              <a:ext cx="1448436" cy="783287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 defTabSz="414923">
                <a:lnSpc>
                  <a:spcPct val="112000"/>
                </a:lnSpc>
                <a:tabLst>
                  <a:tab pos="651844" algn="l"/>
                </a:tabLst>
                <a:defRPr sz="5000">
                  <a:solidFill>
                    <a:schemeClr val="accent1">
                      <a:hueOff val="273562"/>
                      <a:satOff val="2937"/>
                      <a:lumOff val="-22233"/>
                    </a:schemeClr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r>
                <a:rPr lang="en-US" sz="1758" b="1" dirty="0">
                  <a:solidFill>
                    <a:srgbClr val="0066CC"/>
                  </a:solidFill>
                  <a:sym typeface="Roboto Black"/>
                </a:rPr>
                <a:t>8 principles </a:t>
              </a:r>
            </a:p>
            <a:p>
              <a:pPr defTabSz="414923">
                <a:lnSpc>
                  <a:spcPct val="112000"/>
                </a:lnSpc>
                <a:tabLst>
                  <a:tab pos="651844" algn="l"/>
                </a:tabLst>
                <a:defRPr sz="5000">
                  <a:solidFill>
                    <a:schemeClr val="accent1">
                      <a:hueOff val="273562"/>
                      <a:satOff val="2937"/>
                      <a:lumOff val="-22233"/>
                    </a:schemeClr>
                  </a:solidFill>
                  <a:latin typeface="Roboto Black"/>
                  <a:ea typeface="Roboto Black"/>
                  <a:cs typeface="Roboto Black"/>
                  <a:sym typeface="Roboto Black"/>
                </a:defRPr>
              </a:pPr>
              <a:r>
                <a:rPr lang="en-US" sz="1758" b="1" dirty="0">
                  <a:solidFill>
                    <a:srgbClr val="0066CC"/>
                  </a:solidFill>
                  <a:sym typeface="Roboto Black"/>
                </a:rPr>
                <a:t>61 elements</a:t>
              </a:r>
              <a:endParaRPr lang="en-US" sz="1758" b="1" dirty="0">
                <a:solidFill>
                  <a:srgbClr val="0066CC"/>
                </a:solidFill>
              </a:endParaRPr>
            </a:p>
          </p:txBody>
        </p:sp>
        <p:sp>
          <p:nvSpPr>
            <p:cNvPr id="52" name="Shape 898">
              <a:extLst>
                <a:ext uri="{FF2B5EF4-FFF2-40B4-BE49-F238E27FC236}">
                  <a16:creationId xmlns:a16="http://schemas.microsoft.com/office/drawing/2014/main" id="{CB571D3F-15FE-D448-F26B-1407100E215D}"/>
                </a:ext>
              </a:extLst>
            </p:cNvPr>
            <p:cNvSpPr/>
            <p:nvPr/>
          </p:nvSpPr>
          <p:spPr>
            <a:xfrm>
              <a:off x="2011352" y="3705970"/>
              <a:ext cx="2652461" cy="829453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590133">
                <a:lnSpc>
                  <a:spcPct val="112000"/>
                </a:lnSpc>
                <a:tabLst>
                  <a:tab pos="927100" algn="l"/>
                </a:tabLst>
                <a:defRPr sz="1800">
                  <a:solidFill>
                    <a:srgbClr val="040404"/>
                  </a:solidFill>
                  <a:latin typeface="Roboto Bold"/>
                  <a:ea typeface="Roboto Bold"/>
                  <a:cs typeface="Roboto Bold"/>
                  <a:sym typeface="Roboto Bold"/>
                </a:defRPr>
              </a:lvl1pPr>
            </a:lstStyle>
            <a:p>
              <a:r>
                <a:rPr lang="en-US" sz="1500" b="1" dirty="0">
                  <a:solidFill>
                    <a:srgbClr val="FF0000"/>
                  </a:solidFill>
                </a:rPr>
                <a:t>G. Responsibilities of  Leaders, Supervisors, Mentors in Statistical Practice </a:t>
              </a:r>
              <a:r>
                <a:rPr lang="en-US" sz="1500" b="1" dirty="0">
                  <a:solidFill>
                    <a:srgbClr val="0066FF"/>
                  </a:solidFill>
                </a:rPr>
                <a:t>(</a:t>
              </a:r>
              <a:r>
                <a:rPr lang="en-US" sz="1500" b="1" dirty="0">
                  <a:solidFill>
                    <a:srgbClr val="FF0000"/>
                  </a:solidFill>
                </a:rPr>
                <a:t>5</a:t>
              </a:r>
              <a:r>
                <a:rPr lang="en-US" sz="1500" b="1" dirty="0">
                  <a:solidFill>
                    <a:srgbClr val="0066FF"/>
                  </a:solidFill>
                </a:rPr>
                <a:t>)</a:t>
              </a:r>
              <a:endParaRPr sz="1500" b="1" dirty="0">
                <a:solidFill>
                  <a:srgbClr val="0066FF"/>
                </a:solidFill>
              </a:endParaRPr>
            </a:p>
          </p:txBody>
        </p: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FC723BDB-EF21-72A4-0A67-7931AA43AAAB}"/>
              </a:ext>
            </a:extLst>
          </p:cNvPr>
          <p:cNvSpPr/>
          <p:nvPr/>
        </p:nvSpPr>
        <p:spPr>
          <a:xfrm>
            <a:off x="1292063" y="3060727"/>
            <a:ext cx="3523831" cy="1086996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393CB1F-E917-79E2-BF6A-1135D2565A14}"/>
              </a:ext>
            </a:extLst>
          </p:cNvPr>
          <p:cNvCxnSpPr>
            <a:cxnSpLocks/>
          </p:cNvCxnSpPr>
          <p:nvPr/>
        </p:nvCxnSpPr>
        <p:spPr>
          <a:xfrm flipH="1" flipV="1">
            <a:off x="7200062" y="1243284"/>
            <a:ext cx="790216" cy="537646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4B017EF-52D4-6FCF-D747-2A8D2FAF17CA}"/>
              </a:ext>
            </a:extLst>
          </p:cNvPr>
          <p:cNvSpPr txBox="1"/>
          <p:nvPr/>
        </p:nvSpPr>
        <p:spPr>
          <a:xfrm>
            <a:off x="1735788" y="2777027"/>
            <a:ext cx="698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New!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11BC64-FB14-1578-8498-8EAAF4E0FC63}"/>
              </a:ext>
            </a:extLst>
          </p:cNvPr>
          <p:cNvSpPr txBox="1"/>
          <p:nvPr/>
        </p:nvSpPr>
        <p:spPr>
          <a:xfrm>
            <a:off x="1635683" y="1553221"/>
            <a:ext cx="1255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New Place!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37AA7E-6E2A-4431-9CF6-F7ACE78376F6}"/>
              </a:ext>
            </a:extLst>
          </p:cNvPr>
          <p:cNvSpPr txBox="1"/>
          <p:nvPr/>
        </p:nvSpPr>
        <p:spPr>
          <a:xfrm>
            <a:off x="440623" y="287369"/>
            <a:ext cx="32081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0066CC"/>
                </a:solidFill>
                <a:latin typeface="Roboto Black"/>
                <a:ea typeface="Roboto Black"/>
              </a:rPr>
              <a:t>2022 Guidelines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6752BDB-828A-46C2-8C0B-2D83D693B05D}"/>
              </a:ext>
            </a:extLst>
          </p:cNvPr>
          <p:cNvGrpSpPr/>
          <p:nvPr/>
        </p:nvGrpSpPr>
        <p:grpSpPr>
          <a:xfrm flipH="1">
            <a:off x="8236614" y="3835423"/>
            <a:ext cx="692280" cy="412211"/>
            <a:chOff x="2563568" y="2596151"/>
            <a:chExt cx="519145" cy="415716"/>
          </a:xfrm>
          <a:solidFill>
            <a:srgbClr val="89CC40"/>
          </a:solidFill>
        </p:grpSpPr>
        <p:sp>
          <p:nvSpPr>
            <p:cNvPr id="72" name="Shape 2881">
              <a:extLst>
                <a:ext uri="{FF2B5EF4-FFF2-40B4-BE49-F238E27FC236}">
                  <a16:creationId xmlns:a16="http://schemas.microsoft.com/office/drawing/2014/main" id="{78B7FE6F-8615-4E2F-A5D0-8CA8ECE28386}"/>
                </a:ext>
              </a:extLst>
            </p:cNvPr>
            <p:cNvSpPr/>
            <p:nvPr/>
          </p:nvSpPr>
          <p:spPr>
            <a:xfrm>
              <a:off x="2994664" y="2747030"/>
              <a:ext cx="46903" cy="46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79"/>
                  </a:moveTo>
                  <a:cubicBezTo>
                    <a:pt x="0" y="4888"/>
                    <a:pt x="4888" y="0"/>
                    <a:pt x="10879" y="0"/>
                  </a:cubicBezTo>
                  <a:cubicBezTo>
                    <a:pt x="16712" y="0"/>
                    <a:pt x="21600" y="4888"/>
                    <a:pt x="21600" y="10879"/>
                  </a:cubicBezTo>
                  <a:cubicBezTo>
                    <a:pt x="21600" y="16712"/>
                    <a:pt x="16712" y="21600"/>
                    <a:pt x="10879" y="21600"/>
                  </a:cubicBezTo>
                  <a:cubicBezTo>
                    <a:pt x="4888" y="21600"/>
                    <a:pt x="0" y="16712"/>
                    <a:pt x="0" y="10879"/>
                  </a:cubicBezTo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  <p:sp>
          <p:nvSpPr>
            <p:cNvPr id="73" name="Shape 2882">
              <a:extLst>
                <a:ext uri="{FF2B5EF4-FFF2-40B4-BE49-F238E27FC236}">
                  <a16:creationId xmlns:a16="http://schemas.microsoft.com/office/drawing/2014/main" id="{FD362669-758F-475E-8BD5-1424C5308FDD}"/>
                </a:ext>
              </a:extLst>
            </p:cNvPr>
            <p:cNvSpPr/>
            <p:nvPr/>
          </p:nvSpPr>
          <p:spPr>
            <a:xfrm>
              <a:off x="2822448" y="2597675"/>
              <a:ext cx="66716" cy="667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745"/>
                  </a:moveTo>
                  <a:cubicBezTo>
                    <a:pt x="0" y="4763"/>
                    <a:pt x="4763" y="0"/>
                    <a:pt x="10855" y="0"/>
                  </a:cubicBezTo>
                  <a:cubicBezTo>
                    <a:pt x="16837" y="0"/>
                    <a:pt x="21600" y="4763"/>
                    <a:pt x="21600" y="10745"/>
                  </a:cubicBezTo>
                  <a:cubicBezTo>
                    <a:pt x="21600" y="16726"/>
                    <a:pt x="16726" y="21600"/>
                    <a:pt x="10855" y="21600"/>
                  </a:cubicBezTo>
                  <a:cubicBezTo>
                    <a:pt x="4763" y="21600"/>
                    <a:pt x="0" y="16726"/>
                    <a:pt x="0" y="10745"/>
                  </a:cubicBezTo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  <p:sp>
          <p:nvSpPr>
            <p:cNvPr id="74" name="Shape 2883">
              <a:extLst>
                <a:ext uri="{FF2B5EF4-FFF2-40B4-BE49-F238E27FC236}">
                  <a16:creationId xmlns:a16="http://schemas.microsoft.com/office/drawing/2014/main" id="{A03C029D-A533-416C-8BBB-35F27878FB83}"/>
                </a:ext>
              </a:extLst>
            </p:cNvPr>
            <p:cNvSpPr/>
            <p:nvPr/>
          </p:nvSpPr>
          <p:spPr>
            <a:xfrm>
              <a:off x="2632608" y="2596151"/>
              <a:ext cx="67575" cy="682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0" h="21600" extrusionOk="0">
                  <a:moveTo>
                    <a:pt x="7" y="10800"/>
                  </a:moveTo>
                  <a:cubicBezTo>
                    <a:pt x="7" y="4909"/>
                    <a:pt x="4783" y="0"/>
                    <a:pt x="10644" y="0"/>
                  </a:cubicBezTo>
                  <a:cubicBezTo>
                    <a:pt x="16506" y="0"/>
                    <a:pt x="21390" y="4800"/>
                    <a:pt x="21390" y="10800"/>
                  </a:cubicBezTo>
                  <a:cubicBezTo>
                    <a:pt x="21390" y="16800"/>
                    <a:pt x="16614" y="21600"/>
                    <a:pt x="10644" y="21600"/>
                  </a:cubicBezTo>
                  <a:cubicBezTo>
                    <a:pt x="4674" y="21600"/>
                    <a:pt x="-210" y="16800"/>
                    <a:pt x="7" y="10800"/>
                  </a:cubicBezTo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  <p:sp>
          <p:nvSpPr>
            <p:cNvPr id="75" name="Shape 2884">
              <a:extLst>
                <a:ext uri="{FF2B5EF4-FFF2-40B4-BE49-F238E27FC236}">
                  <a16:creationId xmlns:a16="http://schemas.microsoft.com/office/drawing/2014/main" id="{4DDF70AE-61EF-4942-BA22-92769C51F4F9}"/>
                </a:ext>
              </a:extLst>
            </p:cNvPr>
            <p:cNvSpPr/>
            <p:nvPr/>
          </p:nvSpPr>
          <p:spPr>
            <a:xfrm>
              <a:off x="2563568" y="2674909"/>
              <a:ext cx="519145" cy="336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8" h="21534" extrusionOk="0">
                  <a:moveTo>
                    <a:pt x="17520" y="10061"/>
                  </a:moveTo>
                  <a:lnTo>
                    <a:pt x="16103" y="9443"/>
                  </a:lnTo>
                  <a:cubicBezTo>
                    <a:pt x="15874" y="9333"/>
                    <a:pt x="15631" y="8980"/>
                    <a:pt x="15573" y="8671"/>
                  </a:cubicBezTo>
                  <a:lnTo>
                    <a:pt x="14557" y="3045"/>
                  </a:lnTo>
                  <a:lnTo>
                    <a:pt x="14027" y="3045"/>
                  </a:lnTo>
                  <a:lnTo>
                    <a:pt x="14027" y="20100"/>
                  </a:lnTo>
                  <a:cubicBezTo>
                    <a:pt x="14027" y="20806"/>
                    <a:pt x="13641" y="21357"/>
                    <a:pt x="13197" y="21357"/>
                  </a:cubicBezTo>
                  <a:cubicBezTo>
                    <a:pt x="12739" y="21357"/>
                    <a:pt x="12367" y="20806"/>
                    <a:pt x="12367" y="20100"/>
                  </a:cubicBezTo>
                  <a:lnTo>
                    <a:pt x="12367" y="10392"/>
                  </a:lnTo>
                  <a:lnTo>
                    <a:pt x="11766" y="10392"/>
                  </a:lnTo>
                  <a:lnTo>
                    <a:pt x="11766" y="20100"/>
                  </a:lnTo>
                  <a:cubicBezTo>
                    <a:pt x="11766" y="20806"/>
                    <a:pt x="11394" y="21357"/>
                    <a:pt x="10950" y="21357"/>
                  </a:cubicBezTo>
                  <a:cubicBezTo>
                    <a:pt x="10492" y="21357"/>
                    <a:pt x="10120" y="20806"/>
                    <a:pt x="10120" y="20100"/>
                  </a:cubicBezTo>
                  <a:lnTo>
                    <a:pt x="10120" y="3045"/>
                  </a:lnTo>
                  <a:lnTo>
                    <a:pt x="9619" y="3045"/>
                  </a:lnTo>
                  <a:lnTo>
                    <a:pt x="8531" y="8892"/>
                  </a:lnTo>
                  <a:cubicBezTo>
                    <a:pt x="8459" y="9289"/>
                    <a:pt x="8187" y="9598"/>
                    <a:pt x="7915" y="9554"/>
                  </a:cubicBezTo>
                  <a:cubicBezTo>
                    <a:pt x="7643" y="9576"/>
                    <a:pt x="7414" y="9289"/>
                    <a:pt x="7343" y="8892"/>
                  </a:cubicBezTo>
                  <a:lnTo>
                    <a:pt x="6255" y="3045"/>
                  </a:lnTo>
                  <a:lnTo>
                    <a:pt x="5740" y="3045"/>
                  </a:lnTo>
                  <a:lnTo>
                    <a:pt x="7314" y="13150"/>
                  </a:lnTo>
                  <a:lnTo>
                    <a:pt x="5940" y="13150"/>
                  </a:lnTo>
                  <a:lnTo>
                    <a:pt x="5940" y="20321"/>
                  </a:lnTo>
                  <a:cubicBezTo>
                    <a:pt x="5940" y="20894"/>
                    <a:pt x="5625" y="21380"/>
                    <a:pt x="5253" y="21380"/>
                  </a:cubicBezTo>
                  <a:cubicBezTo>
                    <a:pt x="4866" y="21380"/>
                    <a:pt x="4551" y="20894"/>
                    <a:pt x="4551" y="20321"/>
                  </a:cubicBezTo>
                  <a:lnTo>
                    <a:pt x="4551" y="13150"/>
                  </a:lnTo>
                  <a:lnTo>
                    <a:pt x="3979" y="13150"/>
                  </a:lnTo>
                  <a:lnTo>
                    <a:pt x="3979" y="20321"/>
                  </a:lnTo>
                  <a:cubicBezTo>
                    <a:pt x="3979" y="20894"/>
                    <a:pt x="3664" y="21380"/>
                    <a:pt x="3278" y="21380"/>
                  </a:cubicBezTo>
                  <a:cubicBezTo>
                    <a:pt x="2891" y="21380"/>
                    <a:pt x="2590" y="20894"/>
                    <a:pt x="2590" y="20321"/>
                  </a:cubicBezTo>
                  <a:lnTo>
                    <a:pt x="2590" y="13150"/>
                  </a:lnTo>
                  <a:lnTo>
                    <a:pt x="1202" y="13150"/>
                  </a:lnTo>
                  <a:lnTo>
                    <a:pt x="2791" y="3045"/>
                  </a:lnTo>
                  <a:lnTo>
                    <a:pt x="2247" y="3045"/>
                  </a:lnTo>
                  <a:lnTo>
                    <a:pt x="1159" y="8892"/>
                  </a:lnTo>
                  <a:cubicBezTo>
                    <a:pt x="1073" y="9333"/>
                    <a:pt x="730" y="9686"/>
                    <a:pt x="429" y="9554"/>
                  </a:cubicBezTo>
                  <a:cubicBezTo>
                    <a:pt x="100" y="9421"/>
                    <a:pt x="-72" y="8892"/>
                    <a:pt x="28" y="8318"/>
                  </a:cubicBezTo>
                  <a:lnTo>
                    <a:pt x="1145" y="2361"/>
                  </a:lnTo>
                  <a:cubicBezTo>
                    <a:pt x="1603" y="-22"/>
                    <a:pt x="2891" y="22"/>
                    <a:pt x="2891" y="22"/>
                  </a:cubicBezTo>
                  <a:lnTo>
                    <a:pt x="5654" y="22"/>
                  </a:lnTo>
                  <a:cubicBezTo>
                    <a:pt x="5654" y="22"/>
                    <a:pt x="6956" y="-66"/>
                    <a:pt x="7400" y="2339"/>
                  </a:cubicBezTo>
                  <a:lnTo>
                    <a:pt x="7973" y="5428"/>
                  </a:lnTo>
                  <a:lnTo>
                    <a:pt x="8531" y="2339"/>
                  </a:lnTo>
                  <a:cubicBezTo>
                    <a:pt x="8975" y="-66"/>
                    <a:pt x="10277" y="0"/>
                    <a:pt x="10277" y="0"/>
                  </a:cubicBezTo>
                  <a:lnTo>
                    <a:pt x="13856" y="0"/>
                  </a:lnTo>
                  <a:cubicBezTo>
                    <a:pt x="13856" y="0"/>
                    <a:pt x="15144" y="-66"/>
                    <a:pt x="15588" y="2339"/>
                  </a:cubicBezTo>
                  <a:lnTo>
                    <a:pt x="16690" y="8274"/>
                  </a:lnTo>
                  <a:lnTo>
                    <a:pt x="17549" y="8406"/>
                  </a:lnTo>
                  <a:lnTo>
                    <a:pt x="20225" y="8406"/>
                  </a:lnTo>
                  <a:cubicBezTo>
                    <a:pt x="20912" y="8406"/>
                    <a:pt x="21528" y="9245"/>
                    <a:pt x="21528" y="10348"/>
                  </a:cubicBezTo>
                  <a:lnTo>
                    <a:pt x="21528" y="14121"/>
                  </a:lnTo>
                  <a:cubicBezTo>
                    <a:pt x="21528" y="14474"/>
                    <a:pt x="21342" y="14783"/>
                    <a:pt x="21099" y="14783"/>
                  </a:cubicBezTo>
                  <a:cubicBezTo>
                    <a:pt x="20884" y="14783"/>
                    <a:pt x="20669" y="14474"/>
                    <a:pt x="20669" y="14121"/>
                  </a:cubicBezTo>
                  <a:lnTo>
                    <a:pt x="20669" y="10767"/>
                  </a:lnTo>
                  <a:lnTo>
                    <a:pt x="20225" y="10767"/>
                  </a:lnTo>
                  <a:lnTo>
                    <a:pt x="20225" y="20674"/>
                  </a:lnTo>
                  <a:cubicBezTo>
                    <a:pt x="20225" y="21159"/>
                    <a:pt x="19968" y="21534"/>
                    <a:pt x="19653" y="21534"/>
                  </a:cubicBezTo>
                  <a:cubicBezTo>
                    <a:pt x="19324" y="21534"/>
                    <a:pt x="19080" y="21137"/>
                    <a:pt x="19080" y="20674"/>
                  </a:cubicBezTo>
                  <a:lnTo>
                    <a:pt x="19080" y="15378"/>
                  </a:lnTo>
                  <a:lnTo>
                    <a:pt x="18637" y="15378"/>
                  </a:lnTo>
                  <a:lnTo>
                    <a:pt x="18637" y="20674"/>
                  </a:lnTo>
                  <a:cubicBezTo>
                    <a:pt x="18637" y="21159"/>
                    <a:pt x="18379" y="21534"/>
                    <a:pt x="18078" y="21534"/>
                  </a:cubicBezTo>
                  <a:cubicBezTo>
                    <a:pt x="17763" y="21534"/>
                    <a:pt x="17506" y="21137"/>
                    <a:pt x="17506" y="20674"/>
                  </a:cubicBezTo>
                  <a:cubicBezTo>
                    <a:pt x="17520" y="20674"/>
                    <a:pt x="17520" y="10061"/>
                    <a:pt x="17520" y="10061"/>
                  </a:cubicBezTo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89E4613-23EF-4F90-B18A-DF72D47CE39B}"/>
              </a:ext>
            </a:extLst>
          </p:cNvPr>
          <p:cNvGrpSpPr/>
          <p:nvPr/>
        </p:nvGrpSpPr>
        <p:grpSpPr>
          <a:xfrm>
            <a:off x="987411" y="5640618"/>
            <a:ext cx="9034268" cy="1060240"/>
            <a:chOff x="1342307" y="5680551"/>
            <a:chExt cx="9034268" cy="1060240"/>
          </a:xfrm>
        </p:grpSpPr>
        <p:sp>
          <p:nvSpPr>
            <p:cNvPr id="9" name="Shape 901">
              <a:extLst>
                <a:ext uri="{FF2B5EF4-FFF2-40B4-BE49-F238E27FC236}">
                  <a16:creationId xmlns:a16="http://schemas.microsoft.com/office/drawing/2014/main" id="{4E15FB19-B493-CB2C-4252-5B5E54585CE5}"/>
                </a:ext>
              </a:extLst>
            </p:cNvPr>
            <p:cNvSpPr/>
            <p:nvPr/>
          </p:nvSpPr>
          <p:spPr>
            <a:xfrm>
              <a:off x="1646959" y="6278040"/>
              <a:ext cx="8729616" cy="382356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590133">
                <a:lnSpc>
                  <a:spcPct val="112000"/>
                </a:lnSpc>
                <a:tabLst>
                  <a:tab pos="927100" algn="l"/>
                </a:tabLst>
                <a:defRPr sz="1800">
                  <a:solidFill>
                    <a:srgbClr val="040404"/>
                  </a:solidFill>
                  <a:latin typeface="Roboto Bold"/>
                  <a:ea typeface="Roboto Bold"/>
                  <a:cs typeface="Roboto Bold"/>
                  <a:sym typeface="Roboto Bold"/>
                </a:defRPr>
              </a:lvl1pPr>
            </a:lstStyle>
            <a:p>
              <a:r>
                <a:rPr lang="en-US" sz="1500" b="1" dirty="0">
                  <a:solidFill>
                    <a:srgbClr val="FF0000"/>
                  </a:solidFill>
                </a:rPr>
                <a:t>+APPENDIX. Responsibilities of Organizations/Institutions (7 + 5)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302284B-D72E-7C14-EE24-D88B4C3F6DD6}"/>
                </a:ext>
              </a:extLst>
            </p:cNvPr>
            <p:cNvSpPr/>
            <p:nvPr/>
          </p:nvSpPr>
          <p:spPr>
            <a:xfrm>
              <a:off x="1342307" y="6117601"/>
              <a:ext cx="6647971" cy="623190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BC52EE1-7328-397F-A33E-FF82BEF7DE39}"/>
                </a:ext>
              </a:extLst>
            </p:cNvPr>
            <p:cNvSpPr txBox="1"/>
            <p:nvPr/>
          </p:nvSpPr>
          <p:spPr>
            <a:xfrm>
              <a:off x="1605758" y="5873104"/>
              <a:ext cx="6980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New!</a:t>
              </a:r>
            </a:p>
          </p:txBody>
        </p:sp>
        <p:sp>
          <p:nvSpPr>
            <p:cNvPr id="63" name="Shape 2955">
              <a:extLst>
                <a:ext uri="{FF2B5EF4-FFF2-40B4-BE49-F238E27FC236}">
                  <a16:creationId xmlns:a16="http://schemas.microsoft.com/office/drawing/2014/main" id="{20065214-3E57-4710-B518-A12D000A6A74}"/>
                </a:ext>
              </a:extLst>
            </p:cNvPr>
            <p:cNvSpPr/>
            <p:nvPr/>
          </p:nvSpPr>
          <p:spPr>
            <a:xfrm>
              <a:off x="3499966" y="5680551"/>
              <a:ext cx="426821" cy="396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964" y="3304"/>
                  </a:moveTo>
                  <a:lnTo>
                    <a:pt x="10964" y="2119"/>
                  </a:lnTo>
                  <a:lnTo>
                    <a:pt x="12812" y="2119"/>
                  </a:lnTo>
                  <a:lnTo>
                    <a:pt x="12812" y="377"/>
                  </a:lnTo>
                  <a:lnTo>
                    <a:pt x="10947" y="377"/>
                  </a:lnTo>
                  <a:lnTo>
                    <a:pt x="10947" y="0"/>
                  </a:lnTo>
                  <a:lnTo>
                    <a:pt x="10619" y="0"/>
                  </a:lnTo>
                  <a:lnTo>
                    <a:pt x="10619" y="3304"/>
                  </a:lnTo>
                  <a:lnTo>
                    <a:pt x="6647" y="6679"/>
                  </a:lnTo>
                  <a:lnTo>
                    <a:pt x="14918" y="6679"/>
                  </a:lnTo>
                  <a:lnTo>
                    <a:pt x="10964" y="3304"/>
                  </a:lnTo>
                  <a:close/>
                  <a:moveTo>
                    <a:pt x="21013" y="17560"/>
                  </a:moveTo>
                  <a:lnTo>
                    <a:pt x="21013" y="9139"/>
                  </a:lnTo>
                  <a:lnTo>
                    <a:pt x="14935" y="9139"/>
                  </a:lnTo>
                  <a:lnTo>
                    <a:pt x="14935" y="7038"/>
                  </a:lnTo>
                  <a:lnTo>
                    <a:pt x="6665" y="7038"/>
                  </a:lnTo>
                  <a:lnTo>
                    <a:pt x="6665" y="9139"/>
                  </a:lnTo>
                  <a:lnTo>
                    <a:pt x="587" y="9139"/>
                  </a:lnTo>
                  <a:lnTo>
                    <a:pt x="587" y="17560"/>
                  </a:lnTo>
                  <a:lnTo>
                    <a:pt x="0" y="17560"/>
                  </a:lnTo>
                  <a:lnTo>
                    <a:pt x="0" y="20361"/>
                  </a:lnTo>
                  <a:lnTo>
                    <a:pt x="6665" y="20361"/>
                  </a:lnTo>
                  <a:lnTo>
                    <a:pt x="6665" y="21600"/>
                  </a:lnTo>
                  <a:lnTo>
                    <a:pt x="14935" y="21600"/>
                  </a:lnTo>
                  <a:lnTo>
                    <a:pt x="14935" y="20361"/>
                  </a:lnTo>
                  <a:lnTo>
                    <a:pt x="21600" y="20361"/>
                  </a:lnTo>
                  <a:lnTo>
                    <a:pt x="21600" y="17560"/>
                  </a:lnTo>
                  <a:lnTo>
                    <a:pt x="21013" y="17560"/>
                  </a:lnTo>
                  <a:close/>
                  <a:moveTo>
                    <a:pt x="2106" y="16842"/>
                  </a:moveTo>
                  <a:lnTo>
                    <a:pt x="1260" y="16842"/>
                  </a:lnTo>
                  <a:lnTo>
                    <a:pt x="1260" y="12802"/>
                  </a:lnTo>
                  <a:lnTo>
                    <a:pt x="2106" y="12802"/>
                  </a:lnTo>
                  <a:lnTo>
                    <a:pt x="2106" y="16842"/>
                  </a:lnTo>
                  <a:close/>
                  <a:moveTo>
                    <a:pt x="2106" y="12120"/>
                  </a:moveTo>
                  <a:lnTo>
                    <a:pt x="1260" y="12120"/>
                  </a:lnTo>
                  <a:lnTo>
                    <a:pt x="1260" y="11258"/>
                  </a:lnTo>
                  <a:lnTo>
                    <a:pt x="2106" y="11258"/>
                  </a:lnTo>
                  <a:lnTo>
                    <a:pt x="2106" y="12120"/>
                  </a:lnTo>
                  <a:close/>
                  <a:moveTo>
                    <a:pt x="3609" y="16842"/>
                  </a:moveTo>
                  <a:lnTo>
                    <a:pt x="2780" y="16842"/>
                  </a:lnTo>
                  <a:lnTo>
                    <a:pt x="2780" y="12802"/>
                  </a:lnTo>
                  <a:lnTo>
                    <a:pt x="3609" y="12802"/>
                  </a:lnTo>
                  <a:lnTo>
                    <a:pt x="3609" y="16842"/>
                  </a:lnTo>
                  <a:close/>
                  <a:moveTo>
                    <a:pt x="3609" y="12120"/>
                  </a:moveTo>
                  <a:lnTo>
                    <a:pt x="2780" y="12120"/>
                  </a:lnTo>
                  <a:lnTo>
                    <a:pt x="2780" y="11258"/>
                  </a:lnTo>
                  <a:lnTo>
                    <a:pt x="3609" y="11258"/>
                  </a:lnTo>
                  <a:lnTo>
                    <a:pt x="3609" y="12120"/>
                  </a:lnTo>
                  <a:close/>
                  <a:moveTo>
                    <a:pt x="5128" y="16842"/>
                  </a:moveTo>
                  <a:lnTo>
                    <a:pt x="4299" y="16842"/>
                  </a:lnTo>
                  <a:lnTo>
                    <a:pt x="4299" y="12802"/>
                  </a:lnTo>
                  <a:lnTo>
                    <a:pt x="5128" y="12802"/>
                  </a:lnTo>
                  <a:lnTo>
                    <a:pt x="5128" y="16842"/>
                  </a:lnTo>
                  <a:close/>
                  <a:moveTo>
                    <a:pt x="5128" y="12120"/>
                  </a:moveTo>
                  <a:lnTo>
                    <a:pt x="4299" y="12120"/>
                  </a:lnTo>
                  <a:lnTo>
                    <a:pt x="4299" y="11258"/>
                  </a:lnTo>
                  <a:lnTo>
                    <a:pt x="5128" y="11258"/>
                  </a:lnTo>
                  <a:lnTo>
                    <a:pt x="5128" y="12120"/>
                  </a:lnTo>
                  <a:close/>
                  <a:moveTo>
                    <a:pt x="6647" y="16842"/>
                  </a:moveTo>
                  <a:lnTo>
                    <a:pt x="5819" y="16842"/>
                  </a:lnTo>
                  <a:lnTo>
                    <a:pt x="5819" y="12802"/>
                  </a:lnTo>
                  <a:lnTo>
                    <a:pt x="6647" y="12802"/>
                  </a:lnTo>
                  <a:lnTo>
                    <a:pt x="6647" y="16842"/>
                  </a:lnTo>
                  <a:close/>
                  <a:moveTo>
                    <a:pt x="6647" y="12120"/>
                  </a:moveTo>
                  <a:lnTo>
                    <a:pt x="5819" y="12120"/>
                  </a:lnTo>
                  <a:lnTo>
                    <a:pt x="5819" y="11258"/>
                  </a:lnTo>
                  <a:lnTo>
                    <a:pt x="6647" y="11258"/>
                  </a:lnTo>
                  <a:lnTo>
                    <a:pt x="6647" y="12120"/>
                  </a:lnTo>
                  <a:close/>
                  <a:moveTo>
                    <a:pt x="12570" y="9139"/>
                  </a:moveTo>
                  <a:lnTo>
                    <a:pt x="13744" y="9139"/>
                  </a:lnTo>
                  <a:lnTo>
                    <a:pt x="13744" y="18278"/>
                  </a:lnTo>
                  <a:lnTo>
                    <a:pt x="12570" y="18278"/>
                  </a:lnTo>
                  <a:lnTo>
                    <a:pt x="12570" y="9139"/>
                  </a:lnTo>
                  <a:close/>
                  <a:moveTo>
                    <a:pt x="10204" y="9139"/>
                  </a:moveTo>
                  <a:lnTo>
                    <a:pt x="11378" y="9139"/>
                  </a:lnTo>
                  <a:lnTo>
                    <a:pt x="11378" y="18278"/>
                  </a:lnTo>
                  <a:lnTo>
                    <a:pt x="10204" y="18278"/>
                  </a:lnTo>
                  <a:lnTo>
                    <a:pt x="10204" y="9139"/>
                  </a:lnTo>
                  <a:close/>
                  <a:moveTo>
                    <a:pt x="7822" y="9139"/>
                  </a:moveTo>
                  <a:lnTo>
                    <a:pt x="9013" y="9139"/>
                  </a:lnTo>
                  <a:lnTo>
                    <a:pt x="9013" y="18278"/>
                  </a:lnTo>
                  <a:lnTo>
                    <a:pt x="7822" y="18278"/>
                  </a:lnTo>
                  <a:lnTo>
                    <a:pt x="7822" y="9139"/>
                  </a:lnTo>
                  <a:close/>
                  <a:moveTo>
                    <a:pt x="14365" y="21079"/>
                  </a:moveTo>
                  <a:lnTo>
                    <a:pt x="7200" y="21079"/>
                  </a:lnTo>
                  <a:lnTo>
                    <a:pt x="7200" y="20792"/>
                  </a:lnTo>
                  <a:lnTo>
                    <a:pt x="14348" y="20792"/>
                  </a:lnTo>
                  <a:cubicBezTo>
                    <a:pt x="14365" y="20774"/>
                    <a:pt x="14365" y="21079"/>
                    <a:pt x="14365" y="21079"/>
                  </a:cubicBezTo>
                  <a:close/>
                  <a:moveTo>
                    <a:pt x="14365" y="20325"/>
                  </a:moveTo>
                  <a:lnTo>
                    <a:pt x="7200" y="20325"/>
                  </a:lnTo>
                  <a:lnTo>
                    <a:pt x="7200" y="20038"/>
                  </a:lnTo>
                  <a:lnTo>
                    <a:pt x="14348" y="20038"/>
                  </a:lnTo>
                  <a:cubicBezTo>
                    <a:pt x="14365" y="20038"/>
                    <a:pt x="14365" y="20325"/>
                    <a:pt x="14365" y="20325"/>
                  </a:cubicBezTo>
                  <a:close/>
                  <a:moveTo>
                    <a:pt x="15764" y="16842"/>
                  </a:moveTo>
                  <a:lnTo>
                    <a:pt x="14935" y="16842"/>
                  </a:lnTo>
                  <a:lnTo>
                    <a:pt x="14935" y="12802"/>
                  </a:lnTo>
                  <a:lnTo>
                    <a:pt x="15764" y="12802"/>
                  </a:lnTo>
                  <a:lnTo>
                    <a:pt x="15764" y="16842"/>
                  </a:lnTo>
                  <a:close/>
                  <a:moveTo>
                    <a:pt x="15764" y="12120"/>
                  </a:moveTo>
                  <a:lnTo>
                    <a:pt x="14935" y="12120"/>
                  </a:lnTo>
                  <a:lnTo>
                    <a:pt x="14935" y="11258"/>
                  </a:lnTo>
                  <a:lnTo>
                    <a:pt x="15764" y="11258"/>
                  </a:lnTo>
                  <a:lnTo>
                    <a:pt x="15764" y="12120"/>
                  </a:lnTo>
                  <a:close/>
                  <a:moveTo>
                    <a:pt x="17283" y="16842"/>
                  </a:moveTo>
                  <a:lnTo>
                    <a:pt x="16455" y="16842"/>
                  </a:lnTo>
                  <a:lnTo>
                    <a:pt x="16455" y="12802"/>
                  </a:lnTo>
                  <a:lnTo>
                    <a:pt x="17283" y="12802"/>
                  </a:lnTo>
                  <a:lnTo>
                    <a:pt x="17283" y="16842"/>
                  </a:lnTo>
                  <a:close/>
                  <a:moveTo>
                    <a:pt x="17283" y="12120"/>
                  </a:moveTo>
                  <a:lnTo>
                    <a:pt x="16455" y="12120"/>
                  </a:lnTo>
                  <a:lnTo>
                    <a:pt x="16455" y="11258"/>
                  </a:lnTo>
                  <a:lnTo>
                    <a:pt x="17283" y="11258"/>
                  </a:lnTo>
                  <a:lnTo>
                    <a:pt x="17283" y="12120"/>
                  </a:lnTo>
                  <a:close/>
                  <a:moveTo>
                    <a:pt x="18820" y="16842"/>
                  </a:moveTo>
                  <a:lnTo>
                    <a:pt x="17991" y="16842"/>
                  </a:lnTo>
                  <a:lnTo>
                    <a:pt x="17991" y="12802"/>
                  </a:lnTo>
                  <a:lnTo>
                    <a:pt x="18820" y="12802"/>
                  </a:lnTo>
                  <a:lnTo>
                    <a:pt x="18820" y="16842"/>
                  </a:lnTo>
                  <a:close/>
                  <a:moveTo>
                    <a:pt x="18820" y="12120"/>
                  </a:moveTo>
                  <a:lnTo>
                    <a:pt x="17991" y="12120"/>
                  </a:lnTo>
                  <a:lnTo>
                    <a:pt x="17991" y="11258"/>
                  </a:lnTo>
                  <a:lnTo>
                    <a:pt x="18820" y="11258"/>
                  </a:lnTo>
                  <a:lnTo>
                    <a:pt x="18820" y="12120"/>
                  </a:lnTo>
                  <a:close/>
                  <a:moveTo>
                    <a:pt x="20322" y="16842"/>
                  </a:moveTo>
                  <a:lnTo>
                    <a:pt x="19494" y="16842"/>
                  </a:lnTo>
                  <a:lnTo>
                    <a:pt x="19494" y="12802"/>
                  </a:lnTo>
                  <a:lnTo>
                    <a:pt x="20322" y="12802"/>
                  </a:lnTo>
                  <a:lnTo>
                    <a:pt x="20322" y="16842"/>
                  </a:lnTo>
                  <a:close/>
                  <a:moveTo>
                    <a:pt x="20322" y="12120"/>
                  </a:moveTo>
                  <a:lnTo>
                    <a:pt x="19494" y="12120"/>
                  </a:lnTo>
                  <a:lnTo>
                    <a:pt x="19494" y="11258"/>
                  </a:lnTo>
                  <a:lnTo>
                    <a:pt x="20322" y="11258"/>
                  </a:lnTo>
                  <a:lnTo>
                    <a:pt x="20322" y="12120"/>
                  </a:lnTo>
                  <a:close/>
                </a:path>
              </a:pathLst>
            </a:custGeom>
            <a:solidFill>
              <a:srgbClr val="89CC40"/>
            </a:solidFill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  <p:sp>
          <p:nvSpPr>
            <p:cNvPr id="76" name="Shape 2951">
              <a:extLst>
                <a:ext uri="{FF2B5EF4-FFF2-40B4-BE49-F238E27FC236}">
                  <a16:creationId xmlns:a16="http://schemas.microsoft.com/office/drawing/2014/main" id="{339DE063-298C-4B5C-9E4C-ABC1E790F676}"/>
                </a:ext>
              </a:extLst>
            </p:cNvPr>
            <p:cNvSpPr/>
            <p:nvPr/>
          </p:nvSpPr>
          <p:spPr>
            <a:xfrm>
              <a:off x="2567285" y="5736395"/>
              <a:ext cx="297469" cy="396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2712" y="21600"/>
                  </a:lnTo>
                  <a:lnTo>
                    <a:pt x="12712" y="17381"/>
                  </a:lnTo>
                  <a:lnTo>
                    <a:pt x="8913" y="17381"/>
                  </a:lnTo>
                  <a:lnTo>
                    <a:pt x="8913" y="21600"/>
                  </a:lnTo>
                  <a:lnTo>
                    <a:pt x="0" y="21600"/>
                  </a:lnTo>
                  <a:lnTo>
                    <a:pt x="0" y="1454"/>
                  </a:lnTo>
                  <a:lnTo>
                    <a:pt x="5363" y="1454"/>
                  </a:lnTo>
                  <a:lnTo>
                    <a:pt x="5363" y="0"/>
                  </a:lnTo>
                  <a:lnTo>
                    <a:pt x="16262" y="0"/>
                  </a:lnTo>
                  <a:lnTo>
                    <a:pt x="16262" y="1454"/>
                  </a:lnTo>
                  <a:lnTo>
                    <a:pt x="21600" y="1454"/>
                  </a:lnTo>
                  <a:lnTo>
                    <a:pt x="21600" y="21600"/>
                  </a:lnTo>
                  <a:close/>
                  <a:moveTo>
                    <a:pt x="7126" y="11725"/>
                  </a:moveTo>
                  <a:lnTo>
                    <a:pt x="3575" y="11725"/>
                  </a:lnTo>
                  <a:lnTo>
                    <a:pt x="3575" y="14292"/>
                  </a:lnTo>
                  <a:lnTo>
                    <a:pt x="7126" y="14292"/>
                  </a:lnTo>
                  <a:lnTo>
                    <a:pt x="7126" y="11725"/>
                  </a:lnTo>
                  <a:close/>
                  <a:moveTo>
                    <a:pt x="7126" y="7882"/>
                  </a:moveTo>
                  <a:lnTo>
                    <a:pt x="3575" y="7882"/>
                  </a:lnTo>
                  <a:lnTo>
                    <a:pt x="3575" y="10450"/>
                  </a:lnTo>
                  <a:lnTo>
                    <a:pt x="7126" y="10450"/>
                  </a:lnTo>
                  <a:lnTo>
                    <a:pt x="7126" y="7882"/>
                  </a:lnTo>
                  <a:close/>
                  <a:moveTo>
                    <a:pt x="7126" y="4040"/>
                  </a:moveTo>
                  <a:lnTo>
                    <a:pt x="3575" y="4040"/>
                  </a:lnTo>
                  <a:lnTo>
                    <a:pt x="3575" y="6607"/>
                  </a:lnTo>
                  <a:lnTo>
                    <a:pt x="7126" y="6607"/>
                  </a:lnTo>
                  <a:lnTo>
                    <a:pt x="7126" y="4040"/>
                  </a:lnTo>
                  <a:close/>
                  <a:moveTo>
                    <a:pt x="12712" y="11725"/>
                  </a:moveTo>
                  <a:lnTo>
                    <a:pt x="8913" y="11725"/>
                  </a:lnTo>
                  <a:lnTo>
                    <a:pt x="8913" y="14292"/>
                  </a:lnTo>
                  <a:lnTo>
                    <a:pt x="12712" y="14292"/>
                  </a:lnTo>
                  <a:lnTo>
                    <a:pt x="12712" y="11725"/>
                  </a:lnTo>
                  <a:close/>
                  <a:moveTo>
                    <a:pt x="12662" y="10450"/>
                  </a:moveTo>
                  <a:lnTo>
                    <a:pt x="12662" y="7882"/>
                  </a:lnTo>
                  <a:lnTo>
                    <a:pt x="8888" y="7882"/>
                  </a:lnTo>
                  <a:lnTo>
                    <a:pt x="8888" y="10450"/>
                  </a:lnTo>
                  <a:lnTo>
                    <a:pt x="12662" y="10450"/>
                  </a:lnTo>
                  <a:close/>
                  <a:moveTo>
                    <a:pt x="12712" y="4040"/>
                  </a:moveTo>
                  <a:lnTo>
                    <a:pt x="8938" y="4040"/>
                  </a:lnTo>
                  <a:lnTo>
                    <a:pt x="8938" y="6607"/>
                  </a:lnTo>
                  <a:lnTo>
                    <a:pt x="12737" y="6607"/>
                  </a:lnTo>
                  <a:lnTo>
                    <a:pt x="12737" y="4040"/>
                  </a:lnTo>
                  <a:lnTo>
                    <a:pt x="12712" y="4040"/>
                  </a:lnTo>
                  <a:close/>
                  <a:moveTo>
                    <a:pt x="18050" y="11725"/>
                  </a:moveTo>
                  <a:lnTo>
                    <a:pt x="14499" y="11725"/>
                  </a:lnTo>
                  <a:lnTo>
                    <a:pt x="14499" y="14292"/>
                  </a:lnTo>
                  <a:lnTo>
                    <a:pt x="18050" y="14292"/>
                  </a:lnTo>
                  <a:lnTo>
                    <a:pt x="18050" y="11725"/>
                  </a:lnTo>
                  <a:close/>
                  <a:moveTo>
                    <a:pt x="18050" y="7882"/>
                  </a:moveTo>
                  <a:lnTo>
                    <a:pt x="14499" y="7882"/>
                  </a:lnTo>
                  <a:lnTo>
                    <a:pt x="14499" y="10450"/>
                  </a:lnTo>
                  <a:lnTo>
                    <a:pt x="18050" y="10450"/>
                  </a:lnTo>
                  <a:lnTo>
                    <a:pt x="18050" y="7882"/>
                  </a:lnTo>
                  <a:close/>
                  <a:moveTo>
                    <a:pt x="18050" y="4040"/>
                  </a:moveTo>
                  <a:lnTo>
                    <a:pt x="14499" y="4040"/>
                  </a:lnTo>
                  <a:lnTo>
                    <a:pt x="14499" y="6607"/>
                  </a:lnTo>
                  <a:lnTo>
                    <a:pt x="18050" y="6607"/>
                  </a:lnTo>
                  <a:lnTo>
                    <a:pt x="18050" y="4040"/>
                  </a:lnTo>
                  <a:close/>
                </a:path>
              </a:pathLst>
            </a:custGeom>
            <a:solidFill>
              <a:srgbClr val="89CC40"/>
            </a:solidFill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  <p:sp>
          <p:nvSpPr>
            <p:cNvPr id="79" name="Shape 2969">
              <a:extLst>
                <a:ext uri="{FF2B5EF4-FFF2-40B4-BE49-F238E27FC236}">
                  <a16:creationId xmlns:a16="http://schemas.microsoft.com/office/drawing/2014/main" id="{235AE12B-C749-4430-AA72-2F3C5B3D670B}"/>
                </a:ext>
              </a:extLst>
            </p:cNvPr>
            <p:cNvSpPr/>
            <p:nvPr/>
          </p:nvSpPr>
          <p:spPr>
            <a:xfrm>
              <a:off x="2993468" y="5707325"/>
              <a:ext cx="414789" cy="410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50" y="4654"/>
                  </a:moveTo>
                  <a:lnTo>
                    <a:pt x="19951" y="4654"/>
                  </a:lnTo>
                  <a:lnTo>
                    <a:pt x="19951" y="3594"/>
                  </a:lnTo>
                  <a:lnTo>
                    <a:pt x="11350" y="3594"/>
                  </a:lnTo>
                  <a:lnTo>
                    <a:pt x="11350" y="4654"/>
                  </a:lnTo>
                  <a:close/>
                  <a:moveTo>
                    <a:pt x="11350" y="9291"/>
                  </a:moveTo>
                  <a:lnTo>
                    <a:pt x="19951" y="9291"/>
                  </a:lnTo>
                  <a:lnTo>
                    <a:pt x="19951" y="8230"/>
                  </a:lnTo>
                  <a:lnTo>
                    <a:pt x="11350" y="8230"/>
                  </a:lnTo>
                  <a:lnTo>
                    <a:pt x="11350" y="9291"/>
                  </a:lnTo>
                  <a:close/>
                  <a:moveTo>
                    <a:pt x="15482" y="2085"/>
                  </a:moveTo>
                  <a:cubicBezTo>
                    <a:pt x="15482" y="1402"/>
                    <a:pt x="16014" y="845"/>
                    <a:pt x="16705" y="845"/>
                  </a:cubicBezTo>
                  <a:cubicBezTo>
                    <a:pt x="17362" y="845"/>
                    <a:pt x="17911" y="1384"/>
                    <a:pt x="17911" y="2085"/>
                  </a:cubicBezTo>
                  <a:cubicBezTo>
                    <a:pt x="17911" y="2767"/>
                    <a:pt x="17379" y="3342"/>
                    <a:pt x="16705" y="3342"/>
                  </a:cubicBezTo>
                  <a:cubicBezTo>
                    <a:pt x="16032" y="3342"/>
                    <a:pt x="15482" y="2785"/>
                    <a:pt x="15482" y="2085"/>
                  </a:cubicBezTo>
                  <a:close/>
                  <a:moveTo>
                    <a:pt x="13815" y="2498"/>
                  </a:moveTo>
                  <a:cubicBezTo>
                    <a:pt x="13815" y="2085"/>
                    <a:pt x="14134" y="1743"/>
                    <a:pt x="14542" y="1743"/>
                  </a:cubicBezTo>
                  <a:cubicBezTo>
                    <a:pt x="14950" y="1743"/>
                    <a:pt x="15287" y="2085"/>
                    <a:pt x="15287" y="2498"/>
                  </a:cubicBezTo>
                  <a:cubicBezTo>
                    <a:pt x="15287" y="2911"/>
                    <a:pt x="14950" y="3253"/>
                    <a:pt x="14542" y="3253"/>
                  </a:cubicBezTo>
                  <a:cubicBezTo>
                    <a:pt x="14134" y="3253"/>
                    <a:pt x="13815" y="2929"/>
                    <a:pt x="13815" y="2498"/>
                  </a:cubicBezTo>
                  <a:close/>
                  <a:moveTo>
                    <a:pt x="12556" y="2821"/>
                  </a:moveTo>
                  <a:cubicBezTo>
                    <a:pt x="12556" y="2552"/>
                    <a:pt x="12768" y="2336"/>
                    <a:pt x="13052" y="2336"/>
                  </a:cubicBezTo>
                  <a:cubicBezTo>
                    <a:pt x="13336" y="2336"/>
                    <a:pt x="13549" y="2534"/>
                    <a:pt x="13549" y="2821"/>
                  </a:cubicBezTo>
                  <a:cubicBezTo>
                    <a:pt x="13549" y="3091"/>
                    <a:pt x="13336" y="3324"/>
                    <a:pt x="13052" y="3324"/>
                  </a:cubicBezTo>
                  <a:cubicBezTo>
                    <a:pt x="12768" y="3324"/>
                    <a:pt x="12556" y="3109"/>
                    <a:pt x="12556" y="2821"/>
                  </a:cubicBezTo>
                  <a:close/>
                  <a:moveTo>
                    <a:pt x="14861" y="7817"/>
                  </a:moveTo>
                  <a:lnTo>
                    <a:pt x="17894" y="7817"/>
                  </a:lnTo>
                  <a:lnTo>
                    <a:pt x="17894" y="6218"/>
                  </a:lnTo>
                  <a:lnTo>
                    <a:pt x="14861" y="6218"/>
                  </a:lnTo>
                  <a:lnTo>
                    <a:pt x="14861" y="7817"/>
                  </a:lnTo>
                  <a:close/>
                  <a:moveTo>
                    <a:pt x="13052" y="7817"/>
                  </a:moveTo>
                  <a:lnTo>
                    <a:pt x="13992" y="7817"/>
                  </a:lnTo>
                  <a:lnTo>
                    <a:pt x="13992" y="6218"/>
                  </a:lnTo>
                  <a:lnTo>
                    <a:pt x="13052" y="6218"/>
                  </a:lnTo>
                  <a:lnTo>
                    <a:pt x="13052" y="7817"/>
                  </a:lnTo>
                  <a:close/>
                  <a:moveTo>
                    <a:pt x="2160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1454" y="0"/>
                  </a:lnTo>
                  <a:lnTo>
                    <a:pt x="1454" y="12040"/>
                  </a:lnTo>
                  <a:lnTo>
                    <a:pt x="20128" y="12040"/>
                  </a:lnTo>
                  <a:lnTo>
                    <a:pt x="20128" y="0"/>
                  </a:lnTo>
                  <a:lnTo>
                    <a:pt x="21600" y="0"/>
                  </a:lnTo>
                  <a:close/>
                  <a:moveTo>
                    <a:pt x="4487" y="3846"/>
                  </a:moveTo>
                  <a:cubicBezTo>
                    <a:pt x="4487" y="4870"/>
                    <a:pt x="5302" y="5714"/>
                    <a:pt x="6331" y="5714"/>
                  </a:cubicBezTo>
                  <a:cubicBezTo>
                    <a:pt x="7360" y="5714"/>
                    <a:pt x="8193" y="4870"/>
                    <a:pt x="8193" y="3846"/>
                  </a:cubicBezTo>
                  <a:cubicBezTo>
                    <a:pt x="8193" y="2803"/>
                    <a:pt x="7360" y="1959"/>
                    <a:pt x="6331" y="1959"/>
                  </a:cubicBezTo>
                  <a:cubicBezTo>
                    <a:pt x="5302" y="1959"/>
                    <a:pt x="4487" y="2803"/>
                    <a:pt x="4487" y="3846"/>
                  </a:cubicBezTo>
                  <a:close/>
                  <a:moveTo>
                    <a:pt x="3547" y="11627"/>
                  </a:moveTo>
                  <a:lnTo>
                    <a:pt x="2093" y="11627"/>
                  </a:lnTo>
                  <a:lnTo>
                    <a:pt x="2093" y="8518"/>
                  </a:lnTo>
                  <a:cubicBezTo>
                    <a:pt x="2093" y="7152"/>
                    <a:pt x="2908" y="6074"/>
                    <a:pt x="4203" y="6074"/>
                  </a:cubicBezTo>
                  <a:lnTo>
                    <a:pt x="8441" y="6074"/>
                  </a:lnTo>
                  <a:cubicBezTo>
                    <a:pt x="9771" y="6074"/>
                    <a:pt x="10587" y="7152"/>
                    <a:pt x="10552" y="8536"/>
                  </a:cubicBezTo>
                  <a:lnTo>
                    <a:pt x="10552" y="11627"/>
                  </a:lnTo>
                  <a:lnTo>
                    <a:pt x="9115" y="11627"/>
                  </a:lnTo>
                  <a:lnTo>
                    <a:pt x="9115" y="8895"/>
                  </a:lnTo>
                  <a:cubicBezTo>
                    <a:pt x="9115" y="8787"/>
                    <a:pt x="9027" y="8680"/>
                    <a:pt x="8902" y="8680"/>
                  </a:cubicBezTo>
                  <a:cubicBezTo>
                    <a:pt x="8796" y="8680"/>
                    <a:pt x="8672" y="8769"/>
                    <a:pt x="8672" y="8895"/>
                  </a:cubicBezTo>
                  <a:lnTo>
                    <a:pt x="8672" y="11627"/>
                  </a:lnTo>
                  <a:lnTo>
                    <a:pt x="4008" y="11627"/>
                  </a:lnTo>
                  <a:lnTo>
                    <a:pt x="4008" y="8895"/>
                  </a:lnTo>
                  <a:cubicBezTo>
                    <a:pt x="4008" y="8769"/>
                    <a:pt x="3919" y="8680"/>
                    <a:pt x="3795" y="8680"/>
                  </a:cubicBezTo>
                  <a:cubicBezTo>
                    <a:pt x="3689" y="8680"/>
                    <a:pt x="3582" y="8769"/>
                    <a:pt x="3582" y="8895"/>
                  </a:cubicBezTo>
                  <a:cubicBezTo>
                    <a:pt x="3547" y="8913"/>
                    <a:pt x="3547" y="11627"/>
                    <a:pt x="3547" y="11627"/>
                  </a:cubicBezTo>
                  <a:close/>
                </a:path>
              </a:pathLst>
            </a:custGeom>
            <a:solidFill>
              <a:srgbClr val="89CC40"/>
            </a:solidFill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6B3F195-4425-4DBE-9341-FF5AF0F586A6}"/>
              </a:ext>
            </a:extLst>
          </p:cNvPr>
          <p:cNvGrpSpPr/>
          <p:nvPr/>
        </p:nvGrpSpPr>
        <p:grpSpPr>
          <a:xfrm>
            <a:off x="3826470" y="2740807"/>
            <a:ext cx="384153" cy="745750"/>
            <a:chOff x="3934153" y="2765579"/>
            <a:chExt cx="384153" cy="745750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284C800-FFD4-47A0-84C4-6C3B6DB35A0C}"/>
                </a:ext>
              </a:extLst>
            </p:cNvPr>
            <p:cNvGrpSpPr/>
            <p:nvPr/>
          </p:nvGrpSpPr>
          <p:grpSpPr>
            <a:xfrm>
              <a:off x="3936361" y="3058111"/>
              <a:ext cx="381945" cy="453218"/>
              <a:chOff x="5336294" y="5790679"/>
              <a:chExt cx="411630" cy="591017"/>
            </a:xfrm>
            <a:solidFill>
              <a:srgbClr val="89CC40"/>
            </a:solidFill>
          </p:grpSpPr>
          <p:sp>
            <p:nvSpPr>
              <p:cNvPr id="92" name="Shape 2914">
                <a:extLst>
                  <a:ext uri="{FF2B5EF4-FFF2-40B4-BE49-F238E27FC236}">
                    <a16:creationId xmlns:a16="http://schemas.microsoft.com/office/drawing/2014/main" id="{95ABCCED-B278-4898-B7F6-0D2D2B42B58E}"/>
                  </a:ext>
                </a:extLst>
              </p:cNvPr>
              <p:cNvSpPr/>
              <p:nvPr/>
            </p:nvSpPr>
            <p:spPr>
              <a:xfrm>
                <a:off x="5492438" y="5792623"/>
                <a:ext cx="99210" cy="992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2852"/>
                      <a:pt x="21168" y="14472"/>
                      <a:pt x="20196" y="16200"/>
                    </a:cubicBezTo>
                    <a:cubicBezTo>
                      <a:pt x="19116" y="17928"/>
                      <a:pt x="17928" y="19224"/>
                      <a:pt x="16200" y="20196"/>
                    </a:cubicBezTo>
                    <a:cubicBezTo>
                      <a:pt x="14472" y="21276"/>
                      <a:pt x="12744" y="21600"/>
                      <a:pt x="10800" y="21600"/>
                    </a:cubicBezTo>
                    <a:cubicBezTo>
                      <a:pt x="8748" y="21600"/>
                      <a:pt x="7128" y="21276"/>
                      <a:pt x="5400" y="20196"/>
                    </a:cubicBezTo>
                    <a:cubicBezTo>
                      <a:pt x="3672" y="19224"/>
                      <a:pt x="2484" y="17928"/>
                      <a:pt x="1512" y="16200"/>
                    </a:cubicBezTo>
                    <a:cubicBezTo>
                      <a:pt x="540" y="14472"/>
                      <a:pt x="0" y="12852"/>
                      <a:pt x="0" y="10800"/>
                    </a:cubicBezTo>
                    <a:cubicBezTo>
                      <a:pt x="0" y="8856"/>
                      <a:pt x="540" y="7128"/>
                      <a:pt x="1512" y="5400"/>
                    </a:cubicBezTo>
                    <a:cubicBezTo>
                      <a:pt x="2484" y="3672"/>
                      <a:pt x="3672" y="2484"/>
                      <a:pt x="5400" y="1512"/>
                    </a:cubicBezTo>
                    <a:cubicBezTo>
                      <a:pt x="7128" y="540"/>
                      <a:pt x="8856" y="0"/>
                      <a:pt x="10800" y="0"/>
                    </a:cubicBezTo>
                    <a:cubicBezTo>
                      <a:pt x="12852" y="0"/>
                      <a:pt x="14472" y="540"/>
                      <a:pt x="16200" y="1512"/>
                    </a:cubicBezTo>
                    <a:cubicBezTo>
                      <a:pt x="17928" y="2484"/>
                      <a:pt x="19116" y="3672"/>
                      <a:pt x="20196" y="5400"/>
                    </a:cubicBezTo>
                    <a:cubicBezTo>
                      <a:pt x="21168" y="7128"/>
                      <a:pt x="21600" y="8856"/>
                      <a:pt x="21600" y="10800"/>
                    </a:cubicBezTo>
                  </a:path>
                </a:pathLst>
              </a:custGeom>
              <a:grpFill/>
              <a:ln w="3175">
                <a:miter lim="400000"/>
              </a:ln>
            </p:spPr>
            <p:txBody>
              <a:bodyPr lIns="45719" rIns="45719" anchor="ctr"/>
              <a:lstStyle/>
              <a:p>
                <a:pPr algn="l" defTabSz="457200">
                  <a:lnSpc>
                    <a:spcPct val="93000"/>
                  </a:lnSpc>
                  <a:defRPr sz="1800"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93" name="Shape 2915">
                <a:extLst>
                  <a:ext uri="{FF2B5EF4-FFF2-40B4-BE49-F238E27FC236}">
                    <a16:creationId xmlns:a16="http://schemas.microsoft.com/office/drawing/2014/main" id="{FFAAB6D6-509F-4B29-B51D-3F5897312CFD}"/>
                  </a:ext>
                </a:extLst>
              </p:cNvPr>
              <p:cNvSpPr/>
              <p:nvPr/>
            </p:nvSpPr>
            <p:spPr>
              <a:xfrm>
                <a:off x="5336294" y="5790679"/>
                <a:ext cx="411630" cy="5910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0" h="21513" extrusionOk="0">
                    <a:moveTo>
                      <a:pt x="21058" y="1360"/>
                    </a:moveTo>
                    <a:lnTo>
                      <a:pt x="14198" y="6166"/>
                    </a:lnTo>
                    <a:lnTo>
                      <a:pt x="14198" y="20387"/>
                    </a:lnTo>
                    <a:cubicBezTo>
                      <a:pt x="14198" y="20584"/>
                      <a:pt x="14122" y="20763"/>
                      <a:pt x="13994" y="20923"/>
                    </a:cubicBezTo>
                    <a:cubicBezTo>
                      <a:pt x="13918" y="21013"/>
                      <a:pt x="13816" y="21102"/>
                      <a:pt x="13739" y="21191"/>
                    </a:cubicBezTo>
                    <a:cubicBezTo>
                      <a:pt x="13688" y="21209"/>
                      <a:pt x="13663" y="21227"/>
                      <a:pt x="13612" y="21245"/>
                    </a:cubicBezTo>
                    <a:cubicBezTo>
                      <a:pt x="13357" y="21388"/>
                      <a:pt x="13051" y="21459"/>
                      <a:pt x="12745" y="21513"/>
                    </a:cubicBezTo>
                    <a:cubicBezTo>
                      <a:pt x="12694" y="21513"/>
                      <a:pt x="12643" y="21513"/>
                      <a:pt x="12592" y="21513"/>
                    </a:cubicBezTo>
                    <a:cubicBezTo>
                      <a:pt x="11699" y="21513"/>
                      <a:pt x="10985" y="21013"/>
                      <a:pt x="10985" y="20387"/>
                    </a:cubicBezTo>
                    <a:lnTo>
                      <a:pt x="10985" y="12544"/>
                    </a:lnTo>
                    <a:cubicBezTo>
                      <a:pt x="10985" y="12419"/>
                      <a:pt x="10832" y="12330"/>
                      <a:pt x="10679" y="12330"/>
                    </a:cubicBezTo>
                    <a:cubicBezTo>
                      <a:pt x="10526" y="12330"/>
                      <a:pt x="10373" y="12437"/>
                      <a:pt x="10373" y="12544"/>
                    </a:cubicBezTo>
                    <a:lnTo>
                      <a:pt x="10373" y="20387"/>
                    </a:lnTo>
                    <a:cubicBezTo>
                      <a:pt x="10373" y="21013"/>
                      <a:pt x="9685" y="21513"/>
                      <a:pt x="8792" y="21513"/>
                    </a:cubicBezTo>
                    <a:cubicBezTo>
                      <a:pt x="8716" y="21513"/>
                      <a:pt x="8665" y="21513"/>
                      <a:pt x="8639" y="21513"/>
                    </a:cubicBezTo>
                    <a:cubicBezTo>
                      <a:pt x="8308" y="21495"/>
                      <a:pt x="8027" y="21406"/>
                      <a:pt x="7772" y="21245"/>
                    </a:cubicBezTo>
                    <a:cubicBezTo>
                      <a:pt x="7747" y="21227"/>
                      <a:pt x="7721" y="21209"/>
                      <a:pt x="7645" y="21191"/>
                    </a:cubicBezTo>
                    <a:cubicBezTo>
                      <a:pt x="7543" y="21102"/>
                      <a:pt x="7441" y="21013"/>
                      <a:pt x="7390" y="20923"/>
                    </a:cubicBezTo>
                    <a:cubicBezTo>
                      <a:pt x="7262" y="20780"/>
                      <a:pt x="7186" y="20584"/>
                      <a:pt x="7186" y="20387"/>
                    </a:cubicBezTo>
                    <a:lnTo>
                      <a:pt x="7186" y="6166"/>
                    </a:lnTo>
                    <a:lnTo>
                      <a:pt x="326" y="1360"/>
                    </a:lnTo>
                    <a:cubicBezTo>
                      <a:pt x="-108" y="1056"/>
                      <a:pt x="-108" y="556"/>
                      <a:pt x="326" y="235"/>
                    </a:cubicBezTo>
                    <a:cubicBezTo>
                      <a:pt x="759" y="-87"/>
                      <a:pt x="1448" y="-69"/>
                      <a:pt x="1907" y="235"/>
                    </a:cubicBezTo>
                    <a:lnTo>
                      <a:pt x="5528" y="2772"/>
                    </a:lnTo>
                    <a:lnTo>
                      <a:pt x="6803" y="3647"/>
                    </a:lnTo>
                    <a:cubicBezTo>
                      <a:pt x="7160" y="3915"/>
                      <a:pt x="7645" y="4040"/>
                      <a:pt x="8155" y="4040"/>
                    </a:cubicBezTo>
                    <a:lnTo>
                      <a:pt x="13306" y="4040"/>
                    </a:lnTo>
                    <a:cubicBezTo>
                      <a:pt x="13790" y="4040"/>
                      <a:pt x="14275" y="3915"/>
                      <a:pt x="14658" y="3647"/>
                    </a:cubicBezTo>
                    <a:lnTo>
                      <a:pt x="19528" y="235"/>
                    </a:lnTo>
                    <a:cubicBezTo>
                      <a:pt x="19962" y="-69"/>
                      <a:pt x="20650" y="-69"/>
                      <a:pt x="21109" y="235"/>
                    </a:cubicBezTo>
                    <a:cubicBezTo>
                      <a:pt x="21492" y="556"/>
                      <a:pt x="21492" y="1056"/>
                      <a:pt x="21058" y="1360"/>
                    </a:cubicBezTo>
                  </a:path>
                </a:pathLst>
              </a:custGeom>
              <a:grpFill/>
              <a:ln w="3175">
                <a:miter lim="400000"/>
              </a:ln>
            </p:spPr>
            <p:txBody>
              <a:bodyPr lIns="45719" rIns="45719" anchor="ctr"/>
              <a:lstStyle/>
              <a:p>
                <a:pPr algn="l" defTabSz="457200">
                  <a:lnSpc>
                    <a:spcPct val="93000"/>
                  </a:lnSpc>
                  <a:defRPr sz="1800"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  <p:sp>
          <p:nvSpPr>
            <p:cNvPr id="94" name="Shape 875">
              <a:extLst>
                <a:ext uri="{FF2B5EF4-FFF2-40B4-BE49-F238E27FC236}">
                  <a16:creationId xmlns:a16="http://schemas.microsoft.com/office/drawing/2014/main" id="{C9186C5C-F5DF-4DAF-9793-46163FA40E7F}"/>
                </a:ext>
              </a:extLst>
            </p:cNvPr>
            <p:cNvSpPr/>
            <p:nvPr/>
          </p:nvSpPr>
          <p:spPr>
            <a:xfrm>
              <a:off x="3934153" y="2765579"/>
              <a:ext cx="349587" cy="2715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30" y="3836"/>
                  </a:moveTo>
                  <a:cubicBezTo>
                    <a:pt x="4026" y="3836"/>
                    <a:pt x="4677" y="4508"/>
                    <a:pt x="4677" y="5361"/>
                  </a:cubicBezTo>
                  <a:cubicBezTo>
                    <a:pt x="4677" y="5854"/>
                    <a:pt x="4467" y="6280"/>
                    <a:pt x="4131" y="6550"/>
                  </a:cubicBezTo>
                  <a:cubicBezTo>
                    <a:pt x="3901" y="6774"/>
                    <a:pt x="3565" y="6908"/>
                    <a:pt x="3230" y="6908"/>
                  </a:cubicBezTo>
                  <a:cubicBezTo>
                    <a:pt x="2768" y="6908"/>
                    <a:pt x="2349" y="6662"/>
                    <a:pt x="2097" y="6303"/>
                  </a:cubicBezTo>
                  <a:cubicBezTo>
                    <a:pt x="1908" y="6034"/>
                    <a:pt x="1783" y="5697"/>
                    <a:pt x="1783" y="5338"/>
                  </a:cubicBezTo>
                  <a:cubicBezTo>
                    <a:pt x="1783" y="4486"/>
                    <a:pt x="2433" y="3836"/>
                    <a:pt x="3230" y="3836"/>
                  </a:cubicBezTo>
                  <a:close/>
                  <a:moveTo>
                    <a:pt x="7004" y="3836"/>
                  </a:moveTo>
                  <a:cubicBezTo>
                    <a:pt x="7801" y="3836"/>
                    <a:pt x="8451" y="4508"/>
                    <a:pt x="8451" y="5361"/>
                  </a:cubicBezTo>
                  <a:cubicBezTo>
                    <a:pt x="8451" y="6213"/>
                    <a:pt x="7801" y="6908"/>
                    <a:pt x="7004" y="6908"/>
                  </a:cubicBezTo>
                  <a:cubicBezTo>
                    <a:pt x="6207" y="6908"/>
                    <a:pt x="5557" y="6213"/>
                    <a:pt x="5557" y="5361"/>
                  </a:cubicBezTo>
                  <a:cubicBezTo>
                    <a:pt x="5557" y="4508"/>
                    <a:pt x="6228" y="3836"/>
                    <a:pt x="7004" y="3836"/>
                  </a:cubicBezTo>
                  <a:close/>
                  <a:moveTo>
                    <a:pt x="5075" y="0"/>
                  </a:moveTo>
                  <a:cubicBezTo>
                    <a:pt x="5872" y="0"/>
                    <a:pt x="6522" y="695"/>
                    <a:pt x="6522" y="1548"/>
                  </a:cubicBezTo>
                  <a:cubicBezTo>
                    <a:pt x="6522" y="2400"/>
                    <a:pt x="5872" y="3073"/>
                    <a:pt x="5075" y="3073"/>
                  </a:cubicBezTo>
                  <a:cubicBezTo>
                    <a:pt x="4278" y="3073"/>
                    <a:pt x="3628" y="2378"/>
                    <a:pt x="3628" y="1525"/>
                  </a:cubicBezTo>
                  <a:cubicBezTo>
                    <a:pt x="3628" y="673"/>
                    <a:pt x="4278" y="0"/>
                    <a:pt x="5075" y="0"/>
                  </a:cubicBezTo>
                  <a:close/>
                  <a:moveTo>
                    <a:pt x="8934" y="0"/>
                  </a:moveTo>
                  <a:cubicBezTo>
                    <a:pt x="9730" y="0"/>
                    <a:pt x="10381" y="695"/>
                    <a:pt x="10381" y="1548"/>
                  </a:cubicBezTo>
                  <a:cubicBezTo>
                    <a:pt x="10381" y="2400"/>
                    <a:pt x="9730" y="3073"/>
                    <a:pt x="8934" y="3073"/>
                  </a:cubicBezTo>
                  <a:cubicBezTo>
                    <a:pt x="8137" y="3073"/>
                    <a:pt x="7487" y="2378"/>
                    <a:pt x="7487" y="1525"/>
                  </a:cubicBezTo>
                  <a:cubicBezTo>
                    <a:pt x="7487" y="673"/>
                    <a:pt x="8158" y="0"/>
                    <a:pt x="8934" y="0"/>
                  </a:cubicBezTo>
                  <a:close/>
                  <a:moveTo>
                    <a:pt x="12603" y="0"/>
                  </a:moveTo>
                  <a:cubicBezTo>
                    <a:pt x="13400" y="0"/>
                    <a:pt x="14050" y="695"/>
                    <a:pt x="14050" y="1548"/>
                  </a:cubicBezTo>
                  <a:cubicBezTo>
                    <a:pt x="14050" y="2400"/>
                    <a:pt x="13400" y="3073"/>
                    <a:pt x="12603" y="3073"/>
                  </a:cubicBezTo>
                  <a:cubicBezTo>
                    <a:pt x="11807" y="3073"/>
                    <a:pt x="11177" y="2400"/>
                    <a:pt x="11177" y="1548"/>
                  </a:cubicBezTo>
                  <a:cubicBezTo>
                    <a:pt x="11177" y="695"/>
                    <a:pt x="11807" y="0"/>
                    <a:pt x="12603" y="0"/>
                  </a:cubicBezTo>
                  <a:close/>
                  <a:moveTo>
                    <a:pt x="16273" y="0"/>
                  </a:moveTo>
                  <a:cubicBezTo>
                    <a:pt x="17070" y="0"/>
                    <a:pt x="17720" y="695"/>
                    <a:pt x="17720" y="1548"/>
                  </a:cubicBezTo>
                  <a:cubicBezTo>
                    <a:pt x="17720" y="2400"/>
                    <a:pt x="17070" y="3073"/>
                    <a:pt x="16273" y="3073"/>
                  </a:cubicBezTo>
                  <a:cubicBezTo>
                    <a:pt x="15477" y="3073"/>
                    <a:pt x="14847" y="2378"/>
                    <a:pt x="14847" y="1548"/>
                  </a:cubicBezTo>
                  <a:cubicBezTo>
                    <a:pt x="14847" y="718"/>
                    <a:pt x="15477" y="0"/>
                    <a:pt x="16273" y="0"/>
                  </a:cubicBezTo>
                  <a:close/>
                  <a:moveTo>
                    <a:pt x="14491" y="3836"/>
                  </a:moveTo>
                  <a:cubicBezTo>
                    <a:pt x="15288" y="3836"/>
                    <a:pt x="15938" y="4508"/>
                    <a:pt x="15938" y="5361"/>
                  </a:cubicBezTo>
                  <a:cubicBezTo>
                    <a:pt x="15938" y="6213"/>
                    <a:pt x="15288" y="6908"/>
                    <a:pt x="14491" y="6908"/>
                  </a:cubicBezTo>
                  <a:cubicBezTo>
                    <a:pt x="13694" y="6908"/>
                    <a:pt x="13065" y="6213"/>
                    <a:pt x="13065" y="5361"/>
                  </a:cubicBezTo>
                  <a:cubicBezTo>
                    <a:pt x="13065" y="4508"/>
                    <a:pt x="13694" y="3836"/>
                    <a:pt x="14491" y="3836"/>
                  </a:cubicBezTo>
                  <a:close/>
                  <a:moveTo>
                    <a:pt x="10590" y="3836"/>
                  </a:moveTo>
                  <a:cubicBezTo>
                    <a:pt x="11387" y="3836"/>
                    <a:pt x="12037" y="4508"/>
                    <a:pt x="12037" y="5361"/>
                  </a:cubicBezTo>
                  <a:cubicBezTo>
                    <a:pt x="12037" y="6213"/>
                    <a:pt x="11387" y="6908"/>
                    <a:pt x="10590" y="6908"/>
                  </a:cubicBezTo>
                  <a:cubicBezTo>
                    <a:pt x="9793" y="6908"/>
                    <a:pt x="9143" y="6213"/>
                    <a:pt x="9143" y="5361"/>
                  </a:cubicBezTo>
                  <a:cubicBezTo>
                    <a:pt x="9143" y="4508"/>
                    <a:pt x="9793" y="3836"/>
                    <a:pt x="10590" y="3836"/>
                  </a:cubicBezTo>
                  <a:close/>
                  <a:moveTo>
                    <a:pt x="18266" y="3836"/>
                  </a:moveTo>
                  <a:cubicBezTo>
                    <a:pt x="19063" y="3836"/>
                    <a:pt x="19713" y="4508"/>
                    <a:pt x="19713" y="5361"/>
                  </a:cubicBezTo>
                  <a:cubicBezTo>
                    <a:pt x="19713" y="6213"/>
                    <a:pt x="19063" y="6908"/>
                    <a:pt x="18266" y="6908"/>
                  </a:cubicBezTo>
                  <a:cubicBezTo>
                    <a:pt x="17469" y="6908"/>
                    <a:pt x="16819" y="6213"/>
                    <a:pt x="16819" y="5361"/>
                  </a:cubicBezTo>
                  <a:cubicBezTo>
                    <a:pt x="16819" y="4508"/>
                    <a:pt x="17469" y="3836"/>
                    <a:pt x="18266" y="3836"/>
                  </a:cubicBezTo>
                  <a:close/>
                  <a:moveTo>
                    <a:pt x="4823" y="7200"/>
                  </a:moveTo>
                  <a:cubicBezTo>
                    <a:pt x="5830" y="7200"/>
                    <a:pt x="6438" y="8052"/>
                    <a:pt x="6522" y="9151"/>
                  </a:cubicBezTo>
                  <a:lnTo>
                    <a:pt x="6522" y="14131"/>
                  </a:lnTo>
                  <a:cubicBezTo>
                    <a:pt x="6522" y="15028"/>
                    <a:pt x="5410" y="15028"/>
                    <a:pt x="5410" y="14131"/>
                  </a:cubicBezTo>
                  <a:lnTo>
                    <a:pt x="5410" y="9443"/>
                  </a:lnTo>
                  <a:cubicBezTo>
                    <a:pt x="5410" y="9353"/>
                    <a:pt x="5348" y="9264"/>
                    <a:pt x="5222" y="9264"/>
                  </a:cubicBezTo>
                  <a:cubicBezTo>
                    <a:pt x="5138" y="9264"/>
                    <a:pt x="5054" y="9331"/>
                    <a:pt x="5054" y="9443"/>
                  </a:cubicBezTo>
                  <a:lnTo>
                    <a:pt x="5054" y="20748"/>
                  </a:lnTo>
                  <a:cubicBezTo>
                    <a:pt x="5054" y="21219"/>
                    <a:pt x="4697" y="21600"/>
                    <a:pt x="4257" y="21600"/>
                  </a:cubicBezTo>
                  <a:cubicBezTo>
                    <a:pt x="3817" y="21600"/>
                    <a:pt x="3460" y="21219"/>
                    <a:pt x="3460" y="20748"/>
                  </a:cubicBezTo>
                  <a:lnTo>
                    <a:pt x="3460" y="15118"/>
                  </a:lnTo>
                  <a:cubicBezTo>
                    <a:pt x="3460" y="15028"/>
                    <a:pt x="3397" y="14938"/>
                    <a:pt x="3271" y="14938"/>
                  </a:cubicBezTo>
                  <a:lnTo>
                    <a:pt x="3230" y="14938"/>
                  </a:lnTo>
                  <a:cubicBezTo>
                    <a:pt x="3146" y="14938"/>
                    <a:pt x="3062" y="15006"/>
                    <a:pt x="3062" y="15118"/>
                  </a:cubicBezTo>
                  <a:lnTo>
                    <a:pt x="3062" y="20748"/>
                  </a:lnTo>
                  <a:cubicBezTo>
                    <a:pt x="3062" y="21219"/>
                    <a:pt x="2726" y="21600"/>
                    <a:pt x="2265" y="21600"/>
                  </a:cubicBezTo>
                  <a:cubicBezTo>
                    <a:pt x="1824" y="21600"/>
                    <a:pt x="1468" y="21219"/>
                    <a:pt x="1468" y="20748"/>
                  </a:cubicBezTo>
                  <a:lnTo>
                    <a:pt x="1468" y="9443"/>
                  </a:lnTo>
                  <a:cubicBezTo>
                    <a:pt x="1468" y="9331"/>
                    <a:pt x="1384" y="9264"/>
                    <a:pt x="1279" y="9264"/>
                  </a:cubicBezTo>
                  <a:cubicBezTo>
                    <a:pt x="1195" y="9264"/>
                    <a:pt x="1111" y="9331"/>
                    <a:pt x="1111" y="9443"/>
                  </a:cubicBezTo>
                  <a:lnTo>
                    <a:pt x="1111" y="14108"/>
                  </a:lnTo>
                  <a:cubicBezTo>
                    <a:pt x="1111" y="15006"/>
                    <a:pt x="0" y="15006"/>
                    <a:pt x="0" y="14108"/>
                  </a:cubicBezTo>
                  <a:lnTo>
                    <a:pt x="0" y="9151"/>
                  </a:lnTo>
                  <a:cubicBezTo>
                    <a:pt x="0" y="8052"/>
                    <a:pt x="608" y="7200"/>
                    <a:pt x="1594" y="7200"/>
                  </a:cubicBezTo>
                  <a:lnTo>
                    <a:pt x="4823" y="7200"/>
                  </a:lnTo>
                  <a:close/>
                  <a:moveTo>
                    <a:pt x="12205" y="7200"/>
                  </a:moveTo>
                  <a:cubicBezTo>
                    <a:pt x="13212" y="7200"/>
                    <a:pt x="13841" y="8052"/>
                    <a:pt x="13904" y="9151"/>
                  </a:cubicBezTo>
                  <a:lnTo>
                    <a:pt x="13904" y="14131"/>
                  </a:lnTo>
                  <a:cubicBezTo>
                    <a:pt x="13904" y="15028"/>
                    <a:pt x="12792" y="15028"/>
                    <a:pt x="12792" y="14131"/>
                  </a:cubicBezTo>
                  <a:lnTo>
                    <a:pt x="12792" y="9443"/>
                  </a:lnTo>
                  <a:cubicBezTo>
                    <a:pt x="12792" y="9353"/>
                    <a:pt x="12729" y="9264"/>
                    <a:pt x="12603" y="9264"/>
                  </a:cubicBezTo>
                  <a:cubicBezTo>
                    <a:pt x="12520" y="9264"/>
                    <a:pt x="12436" y="9331"/>
                    <a:pt x="12436" y="9443"/>
                  </a:cubicBezTo>
                  <a:lnTo>
                    <a:pt x="12436" y="20748"/>
                  </a:lnTo>
                  <a:cubicBezTo>
                    <a:pt x="12436" y="21219"/>
                    <a:pt x="12079" y="21600"/>
                    <a:pt x="11639" y="21600"/>
                  </a:cubicBezTo>
                  <a:cubicBezTo>
                    <a:pt x="11198" y="21600"/>
                    <a:pt x="10842" y="21219"/>
                    <a:pt x="10842" y="20748"/>
                  </a:cubicBezTo>
                  <a:lnTo>
                    <a:pt x="10842" y="15118"/>
                  </a:lnTo>
                  <a:cubicBezTo>
                    <a:pt x="10842" y="15028"/>
                    <a:pt x="10779" y="14938"/>
                    <a:pt x="10653" y="14938"/>
                  </a:cubicBezTo>
                  <a:lnTo>
                    <a:pt x="10611" y="14938"/>
                  </a:lnTo>
                  <a:cubicBezTo>
                    <a:pt x="10527" y="14938"/>
                    <a:pt x="10443" y="15006"/>
                    <a:pt x="10443" y="15118"/>
                  </a:cubicBezTo>
                  <a:lnTo>
                    <a:pt x="10443" y="20748"/>
                  </a:lnTo>
                  <a:cubicBezTo>
                    <a:pt x="10443" y="21219"/>
                    <a:pt x="10087" y="21600"/>
                    <a:pt x="9647" y="21600"/>
                  </a:cubicBezTo>
                  <a:cubicBezTo>
                    <a:pt x="9206" y="21600"/>
                    <a:pt x="8850" y="21219"/>
                    <a:pt x="8850" y="20748"/>
                  </a:cubicBezTo>
                  <a:lnTo>
                    <a:pt x="8850" y="9443"/>
                  </a:lnTo>
                  <a:cubicBezTo>
                    <a:pt x="8850" y="9331"/>
                    <a:pt x="8766" y="9264"/>
                    <a:pt x="8661" y="9264"/>
                  </a:cubicBezTo>
                  <a:cubicBezTo>
                    <a:pt x="8577" y="9264"/>
                    <a:pt x="8493" y="9331"/>
                    <a:pt x="8493" y="9443"/>
                  </a:cubicBezTo>
                  <a:lnTo>
                    <a:pt x="8493" y="14108"/>
                  </a:lnTo>
                  <a:cubicBezTo>
                    <a:pt x="8493" y="15006"/>
                    <a:pt x="7382" y="15006"/>
                    <a:pt x="7382" y="14108"/>
                  </a:cubicBezTo>
                  <a:lnTo>
                    <a:pt x="7382" y="9151"/>
                  </a:lnTo>
                  <a:cubicBezTo>
                    <a:pt x="7382" y="8052"/>
                    <a:pt x="7990" y="7200"/>
                    <a:pt x="8976" y="7200"/>
                  </a:cubicBezTo>
                  <a:lnTo>
                    <a:pt x="12205" y="7200"/>
                  </a:lnTo>
                  <a:close/>
                  <a:moveTo>
                    <a:pt x="19901" y="7200"/>
                  </a:moveTo>
                  <a:cubicBezTo>
                    <a:pt x="20929" y="7200"/>
                    <a:pt x="21516" y="8052"/>
                    <a:pt x="21600" y="9151"/>
                  </a:cubicBezTo>
                  <a:lnTo>
                    <a:pt x="21600" y="14131"/>
                  </a:lnTo>
                  <a:cubicBezTo>
                    <a:pt x="21600" y="15028"/>
                    <a:pt x="20489" y="15028"/>
                    <a:pt x="20489" y="14131"/>
                  </a:cubicBezTo>
                  <a:lnTo>
                    <a:pt x="20489" y="9443"/>
                  </a:lnTo>
                  <a:cubicBezTo>
                    <a:pt x="20489" y="9353"/>
                    <a:pt x="20426" y="9264"/>
                    <a:pt x="20300" y="9264"/>
                  </a:cubicBezTo>
                  <a:cubicBezTo>
                    <a:pt x="20216" y="9264"/>
                    <a:pt x="20132" y="9331"/>
                    <a:pt x="20132" y="9443"/>
                  </a:cubicBezTo>
                  <a:lnTo>
                    <a:pt x="20132" y="20748"/>
                  </a:lnTo>
                  <a:cubicBezTo>
                    <a:pt x="20132" y="21219"/>
                    <a:pt x="19776" y="21600"/>
                    <a:pt x="19335" y="21600"/>
                  </a:cubicBezTo>
                  <a:cubicBezTo>
                    <a:pt x="18895" y="21600"/>
                    <a:pt x="18538" y="21219"/>
                    <a:pt x="18538" y="20748"/>
                  </a:cubicBezTo>
                  <a:lnTo>
                    <a:pt x="18538" y="15118"/>
                  </a:lnTo>
                  <a:cubicBezTo>
                    <a:pt x="18538" y="15028"/>
                    <a:pt x="18475" y="14938"/>
                    <a:pt x="18350" y="14938"/>
                  </a:cubicBezTo>
                  <a:lnTo>
                    <a:pt x="18308" y="14938"/>
                  </a:lnTo>
                  <a:cubicBezTo>
                    <a:pt x="18224" y="14938"/>
                    <a:pt x="18140" y="15006"/>
                    <a:pt x="18140" y="15118"/>
                  </a:cubicBezTo>
                  <a:lnTo>
                    <a:pt x="18140" y="20748"/>
                  </a:lnTo>
                  <a:cubicBezTo>
                    <a:pt x="18140" y="21219"/>
                    <a:pt x="17804" y="21600"/>
                    <a:pt x="17343" y="21600"/>
                  </a:cubicBezTo>
                  <a:cubicBezTo>
                    <a:pt x="16903" y="21600"/>
                    <a:pt x="16546" y="21219"/>
                    <a:pt x="16546" y="20748"/>
                  </a:cubicBezTo>
                  <a:lnTo>
                    <a:pt x="16546" y="9443"/>
                  </a:lnTo>
                  <a:cubicBezTo>
                    <a:pt x="16546" y="9331"/>
                    <a:pt x="16462" y="9264"/>
                    <a:pt x="16357" y="9264"/>
                  </a:cubicBezTo>
                  <a:cubicBezTo>
                    <a:pt x="16273" y="9264"/>
                    <a:pt x="16190" y="9331"/>
                    <a:pt x="16190" y="9443"/>
                  </a:cubicBezTo>
                  <a:lnTo>
                    <a:pt x="16190" y="14108"/>
                  </a:lnTo>
                  <a:cubicBezTo>
                    <a:pt x="16190" y="15006"/>
                    <a:pt x="15078" y="15006"/>
                    <a:pt x="15078" y="14108"/>
                  </a:cubicBezTo>
                  <a:lnTo>
                    <a:pt x="15078" y="9151"/>
                  </a:lnTo>
                  <a:cubicBezTo>
                    <a:pt x="15078" y="8052"/>
                    <a:pt x="15686" y="7200"/>
                    <a:pt x="16672" y="7200"/>
                  </a:cubicBezTo>
                  <a:lnTo>
                    <a:pt x="19901" y="7200"/>
                  </a:lnTo>
                  <a:close/>
                </a:path>
              </a:pathLst>
            </a:custGeom>
            <a:solidFill>
              <a:srgbClr val="89CC40"/>
            </a:solidFill>
            <a:ln w="3175">
              <a:miter lim="400000"/>
            </a:ln>
          </p:spPr>
          <p:txBody>
            <a:bodyPr lIns="41494" tIns="41494" rIns="41494" bIns="41494" anchor="ctr"/>
            <a:lstStyle/>
            <a:p>
              <a:pPr defTabSz="414923">
                <a:lnSpc>
                  <a:spcPct val="93000"/>
                </a:lnSpc>
                <a:defRPr sz="2200">
                  <a:latin typeface="Arial"/>
                  <a:ea typeface="Arial"/>
                  <a:cs typeface="Arial"/>
                  <a:sym typeface="Arial"/>
                </a:defRPr>
              </a:pPr>
              <a:endParaRPr sz="1547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23F9659-6F35-4419-8399-3CD62077267C}"/>
              </a:ext>
            </a:extLst>
          </p:cNvPr>
          <p:cNvGrpSpPr/>
          <p:nvPr/>
        </p:nvGrpSpPr>
        <p:grpSpPr>
          <a:xfrm>
            <a:off x="9091934" y="3804023"/>
            <a:ext cx="315496" cy="415715"/>
            <a:chOff x="923439" y="6872273"/>
            <a:chExt cx="448705" cy="591239"/>
          </a:xfrm>
          <a:solidFill>
            <a:srgbClr val="89CC40"/>
          </a:solidFill>
        </p:grpSpPr>
        <p:sp>
          <p:nvSpPr>
            <p:cNvPr id="71" name="Shape 2888">
              <a:extLst>
                <a:ext uri="{FF2B5EF4-FFF2-40B4-BE49-F238E27FC236}">
                  <a16:creationId xmlns:a16="http://schemas.microsoft.com/office/drawing/2014/main" id="{329AB960-0BFD-401C-B32F-C2DDE418B55D}"/>
                </a:ext>
              </a:extLst>
            </p:cNvPr>
            <p:cNvSpPr/>
            <p:nvPr/>
          </p:nvSpPr>
          <p:spPr>
            <a:xfrm>
              <a:off x="1155249" y="7255557"/>
              <a:ext cx="52581" cy="52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867" h="18850" extrusionOk="0">
                  <a:moveTo>
                    <a:pt x="17932" y="13503"/>
                  </a:moveTo>
                  <a:cubicBezTo>
                    <a:pt x="20234" y="8761"/>
                    <a:pt x="18109" y="3142"/>
                    <a:pt x="13506" y="1035"/>
                  </a:cubicBezTo>
                  <a:cubicBezTo>
                    <a:pt x="8726" y="-1424"/>
                    <a:pt x="3060" y="683"/>
                    <a:pt x="936" y="5425"/>
                  </a:cubicBezTo>
                  <a:cubicBezTo>
                    <a:pt x="-1366" y="9991"/>
                    <a:pt x="759" y="15786"/>
                    <a:pt x="5362" y="17893"/>
                  </a:cubicBezTo>
                  <a:cubicBezTo>
                    <a:pt x="10142" y="20176"/>
                    <a:pt x="15631" y="18244"/>
                    <a:pt x="17932" y="13503"/>
                  </a:cubicBezTo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  <p:sp>
          <p:nvSpPr>
            <p:cNvPr id="77" name="Shape 2886">
              <a:extLst>
                <a:ext uri="{FF2B5EF4-FFF2-40B4-BE49-F238E27FC236}">
                  <a16:creationId xmlns:a16="http://schemas.microsoft.com/office/drawing/2014/main" id="{86F092B2-96C9-4EAF-B41B-9DD78DA072D5}"/>
                </a:ext>
              </a:extLst>
            </p:cNvPr>
            <p:cNvSpPr/>
            <p:nvPr/>
          </p:nvSpPr>
          <p:spPr>
            <a:xfrm>
              <a:off x="1071242" y="6872273"/>
              <a:ext cx="149068" cy="146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4824"/>
                    <a:pt x="16824" y="0"/>
                    <a:pt x="10836" y="0"/>
                  </a:cubicBezTo>
                  <a:cubicBezTo>
                    <a:pt x="4848" y="0"/>
                    <a:pt x="0" y="4824"/>
                    <a:pt x="0" y="10800"/>
                  </a:cubicBezTo>
                  <a:cubicBezTo>
                    <a:pt x="0" y="16776"/>
                    <a:pt x="4919" y="21600"/>
                    <a:pt x="10836" y="21600"/>
                  </a:cubicBezTo>
                  <a:cubicBezTo>
                    <a:pt x="16824" y="21600"/>
                    <a:pt x="21600" y="16776"/>
                    <a:pt x="21600" y="10800"/>
                  </a:cubicBezTo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  <p:sp>
          <p:nvSpPr>
            <p:cNvPr id="78" name="Shape 2887">
              <a:extLst>
                <a:ext uri="{FF2B5EF4-FFF2-40B4-BE49-F238E27FC236}">
                  <a16:creationId xmlns:a16="http://schemas.microsoft.com/office/drawing/2014/main" id="{DA89B292-F49C-4702-A143-600889238646}"/>
                </a:ext>
              </a:extLst>
            </p:cNvPr>
            <p:cNvSpPr/>
            <p:nvPr/>
          </p:nvSpPr>
          <p:spPr>
            <a:xfrm>
              <a:off x="923439" y="7041624"/>
              <a:ext cx="448705" cy="421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5" h="21475" extrusionOk="0">
                  <a:moveTo>
                    <a:pt x="20136" y="16388"/>
                  </a:moveTo>
                  <a:cubicBezTo>
                    <a:pt x="19346" y="16639"/>
                    <a:pt x="18532" y="16213"/>
                    <a:pt x="18346" y="15436"/>
                  </a:cubicBezTo>
                  <a:lnTo>
                    <a:pt x="15672" y="5288"/>
                  </a:lnTo>
                  <a:lnTo>
                    <a:pt x="14324" y="5288"/>
                  </a:lnTo>
                  <a:lnTo>
                    <a:pt x="18625" y="21475"/>
                  </a:lnTo>
                  <a:lnTo>
                    <a:pt x="2582" y="21475"/>
                  </a:lnTo>
                  <a:lnTo>
                    <a:pt x="6883" y="5288"/>
                  </a:lnTo>
                  <a:lnTo>
                    <a:pt x="5558" y="5288"/>
                  </a:lnTo>
                  <a:lnTo>
                    <a:pt x="2884" y="15436"/>
                  </a:lnTo>
                  <a:cubicBezTo>
                    <a:pt x="2698" y="16213"/>
                    <a:pt x="1884" y="16639"/>
                    <a:pt x="1094" y="16388"/>
                  </a:cubicBezTo>
                  <a:cubicBezTo>
                    <a:pt x="280" y="16138"/>
                    <a:pt x="-185" y="15386"/>
                    <a:pt x="71" y="14434"/>
                  </a:cubicBezTo>
                  <a:lnTo>
                    <a:pt x="2838" y="4035"/>
                  </a:lnTo>
                  <a:cubicBezTo>
                    <a:pt x="3954" y="-125"/>
                    <a:pt x="7162" y="0"/>
                    <a:pt x="7162" y="0"/>
                  </a:cubicBezTo>
                  <a:lnTo>
                    <a:pt x="14044" y="0"/>
                  </a:lnTo>
                  <a:cubicBezTo>
                    <a:pt x="14044" y="0"/>
                    <a:pt x="17276" y="-125"/>
                    <a:pt x="18369" y="4035"/>
                  </a:cubicBezTo>
                  <a:lnTo>
                    <a:pt x="21136" y="14434"/>
                  </a:lnTo>
                  <a:cubicBezTo>
                    <a:pt x="21415" y="15436"/>
                    <a:pt x="20927" y="16138"/>
                    <a:pt x="20136" y="16388"/>
                  </a:cubicBezTo>
                  <a:close/>
                  <a:moveTo>
                    <a:pt x="10627" y="9297"/>
                  </a:moveTo>
                  <a:cubicBezTo>
                    <a:pt x="7744" y="9297"/>
                    <a:pt x="5418" y="11803"/>
                    <a:pt x="5418" y="14910"/>
                  </a:cubicBezTo>
                  <a:cubicBezTo>
                    <a:pt x="5418" y="18017"/>
                    <a:pt x="7744" y="20523"/>
                    <a:pt x="10627" y="20523"/>
                  </a:cubicBezTo>
                  <a:cubicBezTo>
                    <a:pt x="13510" y="20523"/>
                    <a:pt x="15835" y="18017"/>
                    <a:pt x="15835" y="14910"/>
                  </a:cubicBezTo>
                  <a:cubicBezTo>
                    <a:pt x="15835" y="11803"/>
                    <a:pt x="13486" y="9297"/>
                    <a:pt x="10627" y="9297"/>
                  </a:cubicBezTo>
                  <a:close/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  <p:sp>
          <p:nvSpPr>
            <p:cNvPr id="80" name="Shape 2889">
              <a:extLst>
                <a:ext uri="{FF2B5EF4-FFF2-40B4-BE49-F238E27FC236}">
                  <a16:creationId xmlns:a16="http://schemas.microsoft.com/office/drawing/2014/main" id="{15E478A4-BA50-460B-9024-846597C94830}"/>
                </a:ext>
              </a:extLst>
            </p:cNvPr>
            <p:cNvSpPr/>
            <p:nvPr/>
          </p:nvSpPr>
          <p:spPr>
            <a:xfrm>
              <a:off x="1066175" y="7281428"/>
              <a:ext cx="130913" cy="12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9" h="20528" extrusionOk="0">
                  <a:moveTo>
                    <a:pt x="19700" y="6752"/>
                  </a:moveTo>
                  <a:cubicBezTo>
                    <a:pt x="19542" y="6587"/>
                    <a:pt x="19303" y="6421"/>
                    <a:pt x="19065" y="6339"/>
                  </a:cubicBezTo>
                  <a:cubicBezTo>
                    <a:pt x="19065" y="6339"/>
                    <a:pt x="14300" y="4849"/>
                    <a:pt x="13030" y="4601"/>
                  </a:cubicBezTo>
                  <a:cubicBezTo>
                    <a:pt x="12553" y="3608"/>
                    <a:pt x="11203" y="959"/>
                    <a:pt x="11203" y="959"/>
                  </a:cubicBezTo>
                  <a:cubicBezTo>
                    <a:pt x="10727" y="132"/>
                    <a:pt x="9615" y="-282"/>
                    <a:pt x="8742" y="215"/>
                  </a:cubicBezTo>
                  <a:cubicBezTo>
                    <a:pt x="7868" y="711"/>
                    <a:pt x="7471" y="1870"/>
                    <a:pt x="7947" y="2780"/>
                  </a:cubicBezTo>
                  <a:lnTo>
                    <a:pt x="10171" y="7166"/>
                  </a:lnTo>
                  <a:cubicBezTo>
                    <a:pt x="10330" y="7663"/>
                    <a:pt x="10806" y="7994"/>
                    <a:pt x="11283" y="8159"/>
                  </a:cubicBezTo>
                  <a:lnTo>
                    <a:pt x="13506" y="8821"/>
                  </a:lnTo>
                  <a:lnTo>
                    <a:pt x="11044" y="14118"/>
                  </a:lnTo>
                  <a:lnTo>
                    <a:pt x="9377" y="10725"/>
                  </a:lnTo>
                  <a:cubicBezTo>
                    <a:pt x="8662" y="9566"/>
                    <a:pt x="6994" y="9235"/>
                    <a:pt x="5883" y="10063"/>
                  </a:cubicBezTo>
                  <a:cubicBezTo>
                    <a:pt x="5883" y="10063"/>
                    <a:pt x="2150" y="12711"/>
                    <a:pt x="800" y="13704"/>
                  </a:cubicBezTo>
                  <a:cubicBezTo>
                    <a:pt x="-73" y="14449"/>
                    <a:pt x="-232" y="15608"/>
                    <a:pt x="324" y="16518"/>
                  </a:cubicBezTo>
                  <a:cubicBezTo>
                    <a:pt x="1039" y="17428"/>
                    <a:pt x="2150" y="17594"/>
                    <a:pt x="3024" y="17015"/>
                  </a:cubicBezTo>
                  <a:cubicBezTo>
                    <a:pt x="3977" y="16352"/>
                    <a:pt x="6200" y="14863"/>
                    <a:pt x="7153" y="14118"/>
                  </a:cubicBezTo>
                  <a:cubicBezTo>
                    <a:pt x="7153" y="14118"/>
                    <a:pt x="7709" y="17097"/>
                    <a:pt x="8583" y="18173"/>
                  </a:cubicBezTo>
                  <a:cubicBezTo>
                    <a:pt x="9139" y="18918"/>
                    <a:pt x="9774" y="19580"/>
                    <a:pt x="10647" y="19994"/>
                  </a:cubicBezTo>
                  <a:cubicBezTo>
                    <a:pt x="13347" y="21318"/>
                    <a:pt x="16444" y="20077"/>
                    <a:pt x="17794" y="17428"/>
                  </a:cubicBezTo>
                  <a:cubicBezTo>
                    <a:pt x="18192" y="16435"/>
                    <a:pt x="20494" y="11552"/>
                    <a:pt x="20971" y="10559"/>
                  </a:cubicBezTo>
                  <a:cubicBezTo>
                    <a:pt x="21368" y="9152"/>
                    <a:pt x="20971" y="7580"/>
                    <a:pt x="19700" y="6752"/>
                  </a:cubicBezTo>
                </a:path>
              </a:pathLst>
            </a:custGeom>
            <a:grpFill/>
            <a:ln w="3175">
              <a:miter lim="400000"/>
            </a:ln>
          </p:spPr>
          <p:txBody>
            <a:bodyPr lIns="32146" rIns="32146" anchor="ctr"/>
            <a:lstStyle/>
            <a:p>
              <a:pPr defTabSz="321457">
                <a:lnSpc>
                  <a:spcPct val="93000"/>
                </a:lnSpc>
                <a:defRPr sz="1800">
                  <a:latin typeface="Arial"/>
                  <a:ea typeface="Arial"/>
                  <a:cs typeface="Arial"/>
                  <a:sym typeface="Arial"/>
                </a:defRPr>
              </a:pPr>
              <a:endParaRPr sz="1266"/>
            </a:p>
          </p:txBody>
        </p:sp>
      </p:grpSp>
      <p:sp>
        <p:nvSpPr>
          <p:cNvPr id="82" name="Shape 1379">
            <a:extLst>
              <a:ext uri="{FF2B5EF4-FFF2-40B4-BE49-F238E27FC236}">
                <a16:creationId xmlns:a16="http://schemas.microsoft.com/office/drawing/2014/main" id="{602B6E1C-616B-46B2-B944-5A58ADC8E1F6}"/>
              </a:ext>
            </a:extLst>
          </p:cNvPr>
          <p:cNvSpPr/>
          <p:nvPr/>
        </p:nvSpPr>
        <p:spPr>
          <a:xfrm>
            <a:off x="1250862" y="1570850"/>
            <a:ext cx="405934" cy="349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8371"/>
                </a:moveTo>
                <a:cubicBezTo>
                  <a:pt x="21600" y="9254"/>
                  <a:pt x="20911" y="9969"/>
                  <a:pt x="20080" y="9969"/>
                </a:cubicBezTo>
                <a:lnTo>
                  <a:pt x="20080" y="15606"/>
                </a:lnTo>
                <a:cubicBezTo>
                  <a:pt x="20020" y="16132"/>
                  <a:pt x="19574" y="16489"/>
                  <a:pt x="19047" y="16489"/>
                </a:cubicBezTo>
                <a:cubicBezTo>
                  <a:pt x="18885" y="16489"/>
                  <a:pt x="18702" y="16426"/>
                  <a:pt x="18540" y="16384"/>
                </a:cubicBezTo>
                <a:cubicBezTo>
                  <a:pt x="18540" y="16384"/>
                  <a:pt x="18480" y="16384"/>
                  <a:pt x="18480" y="16321"/>
                </a:cubicBezTo>
                <a:cubicBezTo>
                  <a:pt x="18419" y="16321"/>
                  <a:pt x="18419" y="16258"/>
                  <a:pt x="18358" y="16195"/>
                </a:cubicBezTo>
                <a:cubicBezTo>
                  <a:pt x="16190" y="14365"/>
                  <a:pt x="13556" y="11925"/>
                  <a:pt x="9442" y="11568"/>
                </a:cubicBezTo>
                <a:cubicBezTo>
                  <a:pt x="9220" y="11568"/>
                  <a:pt x="8814" y="11505"/>
                  <a:pt x="8348" y="11505"/>
                </a:cubicBezTo>
                <a:lnTo>
                  <a:pt x="9321" y="17394"/>
                </a:lnTo>
                <a:lnTo>
                  <a:pt x="10192" y="17267"/>
                </a:lnTo>
                <a:lnTo>
                  <a:pt x="10476" y="19055"/>
                </a:lnTo>
                <a:lnTo>
                  <a:pt x="9564" y="19160"/>
                </a:lnTo>
                <a:lnTo>
                  <a:pt x="9787" y="21011"/>
                </a:lnTo>
                <a:lnTo>
                  <a:pt x="5390" y="21600"/>
                </a:lnTo>
                <a:lnTo>
                  <a:pt x="3890" y="11441"/>
                </a:lnTo>
                <a:lnTo>
                  <a:pt x="3262" y="11441"/>
                </a:lnTo>
                <a:cubicBezTo>
                  <a:pt x="3202" y="11441"/>
                  <a:pt x="3161" y="11441"/>
                  <a:pt x="3100" y="11441"/>
                </a:cubicBezTo>
                <a:cubicBezTo>
                  <a:pt x="1378" y="11441"/>
                  <a:pt x="0" y="10032"/>
                  <a:pt x="0" y="8245"/>
                </a:cubicBezTo>
                <a:cubicBezTo>
                  <a:pt x="0" y="6457"/>
                  <a:pt x="1378" y="5048"/>
                  <a:pt x="3100" y="5048"/>
                </a:cubicBezTo>
                <a:cubicBezTo>
                  <a:pt x="3161" y="5048"/>
                  <a:pt x="3202" y="5048"/>
                  <a:pt x="3262" y="5048"/>
                </a:cubicBezTo>
                <a:lnTo>
                  <a:pt x="8470" y="5048"/>
                </a:lnTo>
                <a:cubicBezTo>
                  <a:pt x="12867" y="5048"/>
                  <a:pt x="15845" y="2482"/>
                  <a:pt x="18196" y="526"/>
                </a:cubicBezTo>
                <a:cubicBezTo>
                  <a:pt x="18358" y="231"/>
                  <a:pt x="18702" y="0"/>
                  <a:pt x="19047" y="0"/>
                </a:cubicBezTo>
                <a:cubicBezTo>
                  <a:pt x="19614" y="0"/>
                  <a:pt x="20020" y="400"/>
                  <a:pt x="20080" y="1010"/>
                </a:cubicBezTo>
                <a:lnTo>
                  <a:pt x="20080" y="6709"/>
                </a:lnTo>
                <a:cubicBezTo>
                  <a:pt x="20911" y="6751"/>
                  <a:pt x="21600" y="7466"/>
                  <a:pt x="21600" y="8371"/>
                </a:cubicBezTo>
                <a:close/>
                <a:moveTo>
                  <a:pt x="18540" y="2377"/>
                </a:moveTo>
                <a:cubicBezTo>
                  <a:pt x="15400" y="4922"/>
                  <a:pt x="13049" y="6352"/>
                  <a:pt x="10010" y="6709"/>
                </a:cubicBezTo>
                <a:lnTo>
                  <a:pt x="10010" y="10074"/>
                </a:lnTo>
                <a:cubicBezTo>
                  <a:pt x="13110" y="10432"/>
                  <a:pt x="15400" y="11862"/>
                  <a:pt x="18540" y="14365"/>
                </a:cubicBezTo>
                <a:lnTo>
                  <a:pt x="18540" y="2377"/>
                </a:lnTo>
                <a:close/>
              </a:path>
            </a:pathLst>
          </a:custGeom>
          <a:solidFill>
            <a:srgbClr val="89CC40"/>
          </a:solidFill>
          <a:ln w="3175">
            <a:solidFill>
              <a:srgbClr val="89CC40"/>
            </a:solidFill>
            <a:miter lim="400000"/>
          </a:ln>
        </p:spPr>
        <p:txBody>
          <a:bodyPr lIns="59013" tIns="59013" rIns="59013" bIns="59013" anchor="ctr"/>
          <a:lstStyle/>
          <a:p>
            <a:pPr algn="l" defTabSz="59013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3" name="Shape 1379">
            <a:extLst>
              <a:ext uri="{FF2B5EF4-FFF2-40B4-BE49-F238E27FC236}">
                <a16:creationId xmlns:a16="http://schemas.microsoft.com/office/drawing/2014/main" id="{EE668ED2-E1DE-409F-BBBA-0DD6AEC5E7CD}"/>
              </a:ext>
            </a:extLst>
          </p:cNvPr>
          <p:cNvSpPr/>
          <p:nvPr/>
        </p:nvSpPr>
        <p:spPr>
          <a:xfrm>
            <a:off x="1310959" y="2824006"/>
            <a:ext cx="405934" cy="349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8371"/>
                </a:moveTo>
                <a:cubicBezTo>
                  <a:pt x="21600" y="9254"/>
                  <a:pt x="20911" y="9969"/>
                  <a:pt x="20080" y="9969"/>
                </a:cubicBezTo>
                <a:lnTo>
                  <a:pt x="20080" y="15606"/>
                </a:lnTo>
                <a:cubicBezTo>
                  <a:pt x="20020" y="16132"/>
                  <a:pt x="19574" y="16489"/>
                  <a:pt x="19047" y="16489"/>
                </a:cubicBezTo>
                <a:cubicBezTo>
                  <a:pt x="18885" y="16489"/>
                  <a:pt x="18702" y="16426"/>
                  <a:pt x="18540" y="16384"/>
                </a:cubicBezTo>
                <a:cubicBezTo>
                  <a:pt x="18540" y="16384"/>
                  <a:pt x="18480" y="16384"/>
                  <a:pt x="18480" y="16321"/>
                </a:cubicBezTo>
                <a:cubicBezTo>
                  <a:pt x="18419" y="16321"/>
                  <a:pt x="18419" y="16258"/>
                  <a:pt x="18358" y="16195"/>
                </a:cubicBezTo>
                <a:cubicBezTo>
                  <a:pt x="16190" y="14365"/>
                  <a:pt x="13556" y="11925"/>
                  <a:pt x="9442" y="11568"/>
                </a:cubicBezTo>
                <a:cubicBezTo>
                  <a:pt x="9220" y="11568"/>
                  <a:pt x="8814" y="11505"/>
                  <a:pt x="8348" y="11505"/>
                </a:cubicBezTo>
                <a:lnTo>
                  <a:pt x="9321" y="17394"/>
                </a:lnTo>
                <a:lnTo>
                  <a:pt x="10192" y="17267"/>
                </a:lnTo>
                <a:lnTo>
                  <a:pt x="10476" y="19055"/>
                </a:lnTo>
                <a:lnTo>
                  <a:pt x="9564" y="19160"/>
                </a:lnTo>
                <a:lnTo>
                  <a:pt x="9787" y="21011"/>
                </a:lnTo>
                <a:lnTo>
                  <a:pt x="5390" y="21600"/>
                </a:lnTo>
                <a:lnTo>
                  <a:pt x="3890" y="11441"/>
                </a:lnTo>
                <a:lnTo>
                  <a:pt x="3262" y="11441"/>
                </a:lnTo>
                <a:cubicBezTo>
                  <a:pt x="3202" y="11441"/>
                  <a:pt x="3161" y="11441"/>
                  <a:pt x="3100" y="11441"/>
                </a:cubicBezTo>
                <a:cubicBezTo>
                  <a:pt x="1378" y="11441"/>
                  <a:pt x="0" y="10032"/>
                  <a:pt x="0" y="8245"/>
                </a:cubicBezTo>
                <a:cubicBezTo>
                  <a:pt x="0" y="6457"/>
                  <a:pt x="1378" y="5048"/>
                  <a:pt x="3100" y="5048"/>
                </a:cubicBezTo>
                <a:cubicBezTo>
                  <a:pt x="3161" y="5048"/>
                  <a:pt x="3202" y="5048"/>
                  <a:pt x="3262" y="5048"/>
                </a:cubicBezTo>
                <a:lnTo>
                  <a:pt x="8470" y="5048"/>
                </a:lnTo>
                <a:cubicBezTo>
                  <a:pt x="12867" y="5048"/>
                  <a:pt x="15845" y="2482"/>
                  <a:pt x="18196" y="526"/>
                </a:cubicBezTo>
                <a:cubicBezTo>
                  <a:pt x="18358" y="231"/>
                  <a:pt x="18702" y="0"/>
                  <a:pt x="19047" y="0"/>
                </a:cubicBezTo>
                <a:cubicBezTo>
                  <a:pt x="19614" y="0"/>
                  <a:pt x="20020" y="400"/>
                  <a:pt x="20080" y="1010"/>
                </a:cubicBezTo>
                <a:lnTo>
                  <a:pt x="20080" y="6709"/>
                </a:lnTo>
                <a:cubicBezTo>
                  <a:pt x="20911" y="6751"/>
                  <a:pt x="21600" y="7466"/>
                  <a:pt x="21600" y="8371"/>
                </a:cubicBezTo>
                <a:close/>
                <a:moveTo>
                  <a:pt x="18540" y="2377"/>
                </a:moveTo>
                <a:cubicBezTo>
                  <a:pt x="15400" y="4922"/>
                  <a:pt x="13049" y="6352"/>
                  <a:pt x="10010" y="6709"/>
                </a:cubicBezTo>
                <a:lnTo>
                  <a:pt x="10010" y="10074"/>
                </a:lnTo>
                <a:cubicBezTo>
                  <a:pt x="13110" y="10432"/>
                  <a:pt x="15400" y="11862"/>
                  <a:pt x="18540" y="14365"/>
                </a:cubicBezTo>
                <a:lnTo>
                  <a:pt x="18540" y="2377"/>
                </a:lnTo>
                <a:close/>
              </a:path>
            </a:pathLst>
          </a:custGeom>
          <a:solidFill>
            <a:srgbClr val="89CC40"/>
          </a:solidFill>
          <a:ln w="3175">
            <a:solidFill>
              <a:srgbClr val="89CC40"/>
            </a:solidFill>
            <a:miter lim="400000"/>
          </a:ln>
        </p:spPr>
        <p:txBody>
          <a:bodyPr lIns="59013" tIns="59013" rIns="59013" bIns="59013" anchor="ctr"/>
          <a:lstStyle/>
          <a:p>
            <a:pPr algn="l" defTabSz="59013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4" name="Shape 1379">
            <a:extLst>
              <a:ext uri="{FF2B5EF4-FFF2-40B4-BE49-F238E27FC236}">
                <a16:creationId xmlns:a16="http://schemas.microsoft.com/office/drawing/2014/main" id="{D8A44DA4-48BB-488C-A6A6-37B6A00F41D9}"/>
              </a:ext>
            </a:extLst>
          </p:cNvPr>
          <p:cNvSpPr/>
          <p:nvPr/>
        </p:nvSpPr>
        <p:spPr>
          <a:xfrm>
            <a:off x="886129" y="5882807"/>
            <a:ext cx="405934" cy="3493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8371"/>
                </a:moveTo>
                <a:cubicBezTo>
                  <a:pt x="21600" y="9254"/>
                  <a:pt x="20911" y="9969"/>
                  <a:pt x="20080" y="9969"/>
                </a:cubicBezTo>
                <a:lnTo>
                  <a:pt x="20080" y="15606"/>
                </a:lnTo>
                <a:cubicBezTo>
                  <a:pt x="20020" y="16132"/>
                  <a:pt x="19574" y="16489"/>
                  <a:pt x="19047" y="16489"/>
                </a:cubicBezTo>
                <a:cubicBezTo>
                  <a:pt x="18885" y="16489"/>
                  <a:pt x="18702" y="16426"/>
                  <a:pt x="18540" y="16384"/>
                </a:cubicBezTo>
                <a:cubicBezTo>
                  <a:pt x="18540" y="16384"/>
                  <a:pt x="18480" y="16384"/>
                  <a:pt x="18480" y="16321"/>
                </a:cubicBezTo>
                <a:cubicBezTo>
                  <a:pt x="18419" y="16321"/>
                  <a:pt x="18419" y="16258"/>
                  <a:pt x="18358" y="16195"/>
                </a:cubicBezTo>
                <a:cubicBezTo>
                  <a:pt x="16190" y="14365"/>
                  <a:pt x="13556" y="11925"/>
                  <a:pt x="9442" y="11568"/>
                </a:cubicBezTo>
                <a:cubicBezTo>
                  <a:pt x="9220" y="11568"/>
                  <a:pt x="8814" y="11505"/>
                  <a:pt x="8348" y="11505"/>
                </a:cubicBezTo>
                <a:lnTo>
                  <a:pt x="9321" y="17394"/>
                </a:lnTo>
                <a:lnTo>
                  <a:pt x="10192" y="17267"/>
                </a:lnTo>
                <a:lnTo>
                  <a:pt x="10476" y="19055"/>
                </a:lnTo>
                <a:lnTo>
                  <a:pt x="9564" y="19160"/>
                </a:lnTo>
                <a:lnTo>
                  <a:pt x="9787" y="21011"/>
                </a:lnTo>
                <a:lnTo>
                  <a:pt x="5390" y="21600"/>
                </a:lnTo>
                <a:lnTo>
                  <a:pt x="3890" y="11441"/>
                </a:lnTo>
                <a:lnTo>
                  <a:pt x="3262" y="11441"/>
                </a:lnTo>
                <a:cubicBezTo>
                  <a:pt x="3202" y="11441"/>
                  <a:pt x="3161" y="11441"/>
                  <a:pt x="3100" y="11441"/>
                </a:cubicBezTo>
                <a:cubicBezTo>
                  <a:pt x="1378" y="11441"/>
                  <a:pt x="0" y="10032"/>
                  <a:pt x="0" y="8245"/>
                </a:cubicBezTo>
                <a:cubicBezTo>
                  <a:pt x="0" y="6457"/>
                  <a:pt x="1378" y="5048"/>
                  <a:pt x="3100" y="5048"/>
                </a:cubicBezTo>
                <a:cubicBezTo>
                  <a:pt x="3161" y="5048"/>
                  <a:pt x="3202" y="5048"/>
                  <a:pt x="3262" y="5048"/>
                </a:cubicBezTo>
                <a:lnTo>
                  <a:pt x="8470" y="5048"/>
                </a:lnTo>
                <a:cubicBezTo>
                  <a:pt x="12867" y="5048"/>
                  <a:pt x="15845" y="2482"/>
                  <a:pt x="18196" y="526"/>
                </a:cubicBezTo>
                <a:cubicBezTo>
                  <a:pt x="18358" y="231"/>
                  <a:pt x="18702" y="0"/>
                  <a:pt x="19047" y="0"/>
                </a:cubicBezTo>
                <a:cubicBezTo>
                  <a:pt x="19614" y="0"/>
                  <a:pt x="20020" y="400"/>
                  <a:pt x="20080" y="1010"/>
                </a:cubicBezTo>
                <a:lnTo>
                  <a:pt x="20080" y="6709"/>
                </a:lnTo>
                <a:cubicBezTo>
                  <a:pt x="20911" y="6751"/>
                  <a:pt x="21600" y="7466"/>
                  <a:pt x="21600" y="8371"/>
                </a:cubicBezTo>
                <a:close/>
                <a:moveTo>
                  <a:pt x="18540" y="2377"/>
                </a:moveTo>
                <a:cubicBezTo>
                  <a:pt x="15400" y="4922"/>
                  <a:pt x="13049" y="6352"/>
                  <a:pt x="10010" y="6709"/>
                </a:cubicBezTo>
                <a:lnTo>
                  <a:pt x="10010" y="10074"/>
                </a:lnTo>
                <a:cubicBezTo>
                  <a:pt x="13110" y="10432"/>
                  <a:pt x="15400" y="11862"/>
                  <a:pt x="18540" y="14365"/>
                </a:cubicBezTo>
                <a:lnTo>
                  <a:pt x="18540" y="2377"/>
                </a:lnTo>
                <a:close/>
              </a:path>
            </a:pathLst>
          </a:custGeom>
          <a:solidFill>
            <a:srgbClr val="89CC40"/>
          </a:solidFill>
          <a:ln w="3175">
            <a:solidFill>
              <a:srgbClr val="89CC40"/>
            </a:solidFill>
            <a:miter lim="400000"/>
          </a:ln>
        </p:spPr>
        <p:txBody>
          <a:bodyPr lIns="59013" tIns="59013" rIns="59013" bIns="59013" anchor="ctr"/>
          <a:lstStyle/>
          <a:p>
            <a:pPr algn="l" defTabSz="590133">
              <a:lnSpc>
                <a:spcPct val="93000"/>
              </a:lnSpc>
              <a:defRPr sz="22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2957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08">
            <a:extLst>
              <a:ext uri="{FF2B5EF4-FFF2-40B4-BE49-F238E27FC236}">
                <a16:creationId xmlns:a16="http://schemas.microsoft.com/office/drawing/2014/main" id="{91D87E37-AF59-6BE2-E4A9-1DEF7E4AB02F}"/>
              </a:ext>
            </a:extLst>
          </p:cNvPr>
          <p:cNvSpPr/>
          <p:nvPr/>
        </p:nvSpPr>
        <p:spPr>
          <a:xfrm>
            <a:off x="1965890" y="1738312"/>
            <a:ext cx="8555494" cy="3903056"/>
          </a:xfrm>
          <a:prstGeom prst="rect">
            <a:avLst/>
          </a:prstGeom>
          <a:noFill/>
          <a:ln w="38100" cap="flat">
            <a:solidFill>
              <a:srgbClr val="89CC40"/>
            </a:solidFill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40" tIns="91440" rIns="91440" bIns="0" numCol="1" anchor="t">
            <a:noAutofit/>
          </a:bodyPr>
          <a:lstStyle>
            <a:lvl1pPr algn="l" defTabSz="590133">
              <a:lnSpc>
                <a:spcPct val="93000"/>
              </a:lnSpc>
              <a:tabLst>
                <a:tab pos="584200" algn="l"/>
                <a:tab pos="1168400" algn="l"/>
                <a:tab pos="1765300" algn="l"/>
                <a:tab pos="2349500" algn="l"/>
                <a:tab pos="2946400" algn="l"/>
                <a:tab pos="3530600" algn="l"/>
                <a:tab pos="4127500" algn="l"/>
                <a:tab pos="4711700" algn="l"/>
                <a:tab pos="5308600" algn="l"/>
                <a:tab pos="5892800" algn="l"/>
                <a:tab pos="6489700" algn="l"/>
                <a:tab pos="7073900" algn="l"/>
                <a:tab pos="7670800" algn="l"/>
                <a:tab pos="8255000" algn="l"/>
                <a:tab pos="8851900" algn="l"/>
                <a:tab pos="9436100" algn="l"/>
                <a:tab pos="10020300" algn="l"/>
                <a:tab pos="10617200" algn="l"/>
                <a:tab pos="11201400" algn="l"/>
                <a:tab pos="11798300" algn="l"/>
              </a:tabLst>
              <a:defRPr sz="2200" b="1">
                <a:solidFill>
                  <a:srgbClr val="726658"/>
                </a:solidFill>
                <a:latin typeface="'Roboto-Bold'"/>
                <a:ea typeface="'Roboto-Bold'"/>
                <a:cs typeface="'Roboto-Bold'"/>
                <a:sym typeface="'Roboto-Bold'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3000" dirty="0">
                <a:solidFill>
                  <a:srgbClr val="0066FF"/>
                </a:solidFill>
                <a:latin typeface="+mn-lt"/>
              </a:rPr>
              <a:t>Topics covered: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Qualifications and professional development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Objectivity and fairness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Credit for work/Authorship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Conflicts of interest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Conduct, anti-harassment, anti-discrimination</a:t>
            </a:r>
          </a:p>
        </p:txBody>
      </p:sp>
      <p:sp>
        <p:nvSpPr>
          <p:cNvPr id="3" name="Shape 1016">
            <a:extLst>
              <a:ext uri="{FF2B5EF4-FFF2-40B4-BE49-F238E27FC236}">
                <a16:creationId xmlns:a16="http://schemas.microsoft.com/office/drawing/2014/main" id="{E2D34421-EA11-6107-48C5-CDB2B7B61750}"/>
              </a:ext>
            </a:extLst>
          </p:cNvPr>
          <p:cNvSpPr/>
          <p:nvPr/>
        </p:nvSpPr>
        <p:spPr>
          <a:xfrm>
            <a:off x="788533" y="733675"/>
            <a:ext cx="10304950" cy="5578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defRPr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</a:lstStyle>
          <a:p>
            <a:pPr algn="ctr"/>
            <a:r>
              <a:rPr lang="en-US" sz="3375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A: Professional Integrity and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396122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08">
            <a:extLst>
              <a:ext uri="{FF2B5EF4-FFF2-40B4-BE49-F238E27FC236}">
                <a16:creationId xmlns:a16="http://schemas.microsoft.com/office/drawing/2014/main" id="{91D87E37-AF59-6BE2-E4A9-1DEF7E4AB02F}"/>
              </a:ext>
            </a:extLst>
          </p:cNvPr>
          <p:cNvSpPr/>
          <p:nvPr/>
        </p:nvSpPr>
        <p:spPr>
          <a:xfrm>
            <a:off x="1725597" y="1357313"/>
            <a:ext cx="8740806" cy="4629150"/>
          </a:xfrm>
          <a:prstGeom prst="rect">
            <a:avLst/>
          </a:prstGeom>
          <a:noFill/>
          <a:ln w="38100" cap="flat">
            <a:solidFill>
              <a:srgbClr val="89CC40"/>
            </a:solidFill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40" tIns="91440" rIns="91440" bIns="0" numCol="1" anchor="t">
            <a:noAutofit/>
          </a:bodyPr>
          <a:lstStyle>
            <a:lvl1pPr algn="l" defTabSz="590133">
              <a:lnSpc>
                <a:spcPct val="93000"/>
              </a:lnSpc>
              <a:tabLst>
                <a:tab pos="584200" algn="l"/>
                <a:tab pos="1168400" algn="l"/>
                <a:tab pos="1765300" algn="l"/>
                <a:tab pos="2349500" algn="l"/>
                <a:tab pos="2946400" algn="l"/>
                <a:tab pos="3530600" algn="l"/>
                <a:tab pos="4127500" algn="l"/>
                <a:tab pos="4711700" algn="l"/>
                <a:tab pos="5308600" algn="l"/>
                <a:tab pos="5892800" algn="l"/>
                <a:tab pos="6489700" algn="l"/>
                <a:tab pos="7073900" algn="l"/>
                <a:tab pos="7670800" algn="l"/>
                <a:tab pos="8255000" algn="l"/>
                <a:tab pos="8851900" algn="l"/>
                <a:tab pos="9436100" algn="l"/>
                <a:tab pos="10020300" algn="l"/>
                <a:tab pos="10617200" algn="l"/>
                <a:tab pos="11201400" algn="l"/>
                <a:tab pos="11798300" algn="l"/>
              </a:tabLst>
              <a:defRPr sz="2200" b="1">
                <a:solidFill>
                  <a:srgbClr val="726658"/>
                </a:solidFill>
                <a:latin typeface="'Roboto-Bold'"/>
                <a:ea typeface="'Roboto-Bold'"/>
                <a:cs typeface="'Roboto-Bold'"/>
                <a:sym typeface="'Roboto-Bold'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3000" dirty="0">
                <a:solidFill>
                  <a:srgbClr val="0066FF"/>
                </a:solidFill>
              </a:rPr>
              <a:t>Topics covered: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Data sources, fitness for use, permissions/consent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Transparency in assumptions and intentions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Unplanned/post-hoc analyses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Known biases and limitations</a:t>
            </a:r>
          </a:p>
          <a:p>
            <a:pPr marL="1371600" lvl="2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Data sharing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Model deployment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Error correction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Sub-group analyses</a:t>
            </a:r>
          </a:p>
        </p:txBody>
      </p:sp>
      <p:sp>
        <p:nvSpPr>
          <p:cNvPr id="3" name="Shape 1016">
            <a:extLst>
              <a:ext uri="{FF2B5EF4-FFF2-40B4-BE49-F238E27FC236}">
                <a16:creationId xmlns:a16="http://schemas.microsoft.com/office/drawing/2014/main" id="{E2D34421-EA11-6107-48C5-CDB2B7B61750}"/>
              </a:ext>
            </a:extLst>
          </p:cNvPr>
          <p:cNvSpPr/>
          <p:nvPr/>
        </p:nvSpPr>
        <p:spPr>
          <a:xfrm>
            <a:off x="1012369" y="533685"/>
            <a:ext cx="9993769" cy="5578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defRPr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</a:lstStyle>
          <a:p>
            <a:pPr algn="ctr"/>
            <a:r>
              <a:rPr lang="en-US" sz="3375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B: Integrity of Data and Methods</a:t>
            </a:r>
          </a:p>
        </p:txBody>
      </p:sp>
    </p:spTree>
    <p:extLst>
      <p:ext uri="{BB962C8B-B14F-4D97-AF65-F5344CB8AC3E}">
        <p14:creationId xmlns:p14="http://schemas.microsoft.com/office/powerpoint/2010/main" val="1030735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08">
            <a:extLst>
              <a:ext uri="{FF2B5EF4-FFF2-40B4-BE49-F238E27FC236}">
                <a16:creationId xmlns:a16="http://schemas.microsoft.com/office/drawing/2014/main" id="{91D87E37-AF59-6BE2-E4A9-1DEF7E4AB02F}"/>
              </a:ext>
            </a:extLst>
          </p:cNvPr>
          <p:cNvSpPr/>
          <p:nvPr/>
        </p:nvSpPr>
        <p:spPr>
          <a:xfrm>
            <a:off x="1524338" y="1130747"/>
            <a:ext cx="9260344" cy="5217666"/>
          </a:xfrm>
          <a:prstGeom prst="rect">
            <a:avLst/>
          </a:prstGeom>
          <a:noFill/>
          <a:ln w="38100" cap="flat">
            <a:solidFill>
              <a:srgbClr val="89CC40"/>
            </a:solidFill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40" tIns="91440" rIns="91440" bIns="0" numCol="1" anchor="t">
            <a:noAutofit/>
          </a:bodyPr>
          <a:lstStyle>
            <a:lvl1pPr algn="l" defTabSz="590133">
              <a:lnSpc>
                <a:spcPct val="93000"/>
              </a:lnSpc>
              <a:tabLst>
                <a:tab pos="584200" algn="l"/>
                <a:tab pos="1168400" algn="l"/>
                <a:tab pos="1765300" algn="l"/>
                <a:tab pos="2349500" algn="l"/>
                <a:tab pos="2946400" algn="l"/>
                <a:tab pos="3530600" algn="l"/>
                <a:tab pos="4127500" algn="l"/>
                <a:tab pos="4711700" algn="l"/>
                <a:tab pos="5308600" algn="l"/>
                <a:tab pos="5892800" algn="l"/>
                <a:tab pos="6489700" algn="l"/>
                <a:tab pos="7073900" algn="l"/>
                <a:tab pos="7670800" algn="l"/>
                <a:tab pos="8255000" algn="l"/>
                <a:tab pos="8851900" algn="l"/>
                <a:tab pos="9436100" algn="l"/>
                <a:tab pos="10020300" algn="l"/>
                <a:tab pos="10617200" algn="l"/>
                <a:tab pos="11201400" algn="l"/>
                <a:tab pos="11798300" algn="l"/>
              </a:tabLst>
              <a:defRPr sz="2200" b="1">
                <a:solidFill>
                  <a:srgbClr val="726658"/>
                </a:solidFill>
                <a:latin typeface="'Roboto-Bold'"/>
                <a:ea typeface="'Roboto-Bold'"/>
                <a:cs typeface="'Roboto-Bold'"/>
                <a:sym typeface="'Roboto-Bold'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3000" dirty="0">
                <a:solidFill>
                  <a:srgbClr val="0066FF"/>
                </a:solidFill>
              </a:rPr>
              <a:t>Topics covered: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Understanding of subject matter and aims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Personal or institutional interests and external pressures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Transparency in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Reliability (exploratory finding or confirmation)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Limitations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Cost</a:t>
            </a:r>
          </a:p>
          <a:p>
            <a:pPr marL="1371600" lvl="2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Impact of deviations from plans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Privacy and confidentiality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Advancing public knowledge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Conflicts among stakeholders</a:t>
            </a:r>
          </a:p>
        </p:txBody>
      </p:sp>
      <p:sp>
        <p:nvSpPr>
          <p:cNvPr id="3" name="Shape 1016">
            <a:extLst>
              <a:ext uri="{FF2B5EF4-FFF2-40B4-BE49-F238E27FC236}">
                <a16:creationId xmlns:a16="http://schemas.microsoft.com/office/drawing/2014/main" id="{E2D34421-EA11-6107-48C5-CDB2B7B61750}"/>
              </a:ext>
            </a:extLst>
          </p:cNvPr>
          <p:cNvSpPr/>
          <p:nvPr/>
        </p:nvSpPr>
        <p:spPr>
          <a:xfrm>
            <a:off x="1012370" y="424434"/>
            <a:ext cx="10074730" cy="5578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defRPr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</a:lstStyle>
          <a:p>
            <a:pPr algn="ctr"/>
            <a:r>
              <a:rPr lang="en-US" sz="3375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C: Responsibilities to Stakeholders</a:t>
            </a:r>
          </a:p>
        </p:txBody>
      </p:sp>
    </p:spTree>
    <p:extLst>
      <p:ext uri="{BB962C8B-B14F-4D97-AF65-F5344CB8AC3E}">
        <p14:creationId xmlns:p14="http://schemas.microsoft.com/office/powerpoint/2010/main" val="2616898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08">
            <a:extLst>
              <a:ext uri="{FF2B5EF4-FFF2-40B4-BE49-F238E27FC236}">
                <a16:creationId xmlns:a16="http://schemas.microsoft.com/office/drawing/2014/main" id="{91D87E37-AF59-6BE2-E4A9-1DEF7E4AB02F}"/>
              </a:ext>
            </a:extLst>
          </p:cNvPr>
          <p:cNvSpPr/>
          <p:nvPr/>
        </p:nvSpPr>
        <p:spPr>
          <a:xfrm>
            <a:off x="1713482" y="2035656"/>
            <a:ext cx="9095825" cy="4121187"/>
          </a:xfrm>
          <a:prstGeom prst="rect">
            <a:avLst/>
          </a:prstGeom>
          <a:noFill/>
          <a:ln w="38100" cap="flat">
            <a:solidFill>
              <a:srgbClr val="89CC40"/>
            </a:solidFill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40" tIns="91440" rIns="91440" bIns="0" numCol="1" anchor="t">
            <a:noAutofit/>
          </a:bodyPr>
          <a:lstStyle>
            <a:lvl1pPr algn="l" defTabSz="590133">
              <a:lnSpc>
                <a:spcPct val="93000"/>
              </a:lnSpc>
              <a:tabLst>
                <a:tab pos="584200" algn="l"/>
                <a:tab pos="1168400" algn="l"/>
                <a:tab pos="1765300" algn="l"/>
                <a:tab pos="2349500" algn="l"/>
                <a:tab pos="2946400" algn="l"/>
                <a:tab pos="3530600" algn="l"/>
                <a:tab pos="4127500" algn="l"/>
                <a:tab pos="4711700" algn="l"/>
                <a:tab pos="5308600" algn="l"/>
                <a:tab pos="5892800" algn="l"/>
                <a:tab pos="6489700" algn="l"/>
                <a:tab pos="7073900" algn="l"/>
                <a:tab pos="7670800" algn="l"/>
                <a:tab pos="8255000" algn="l"/>
                <a:tab pos="8851900" algn="l"/>
                <a:tab pos="9436100" algn="l"/>
                <a:tab pos="10020300" algn="l"/>
                <a:tab pos="10617200" algn="l"/>
                <a:tab pos="11201400" algn="l"/>
                <a:tab pos="11798300" algn="l"/>
              </a:tabLst>
              <a:defRPr sz="2200" b="1">
                <a:solidFill>
                  <a:srgbClr val="726658"/>
                </a:solidFill>
                <a:latin typeface="'Roboto-Bold'"/>
                <a:ea typeface="'Roboto-Bold'"/>
                <a:cs typeface="'Roboto-Bold'"/>
                <a:sym typeface="'Roboto-Bold'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>
                <a:solidFill>
                  <a:srgbClr val="0066FF"/>
                </a:solidFill>
              </a:rPr>
              <a:t>Topics covered: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Protection and welfare of human and animal subjects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Avoiding excessive risk to subjects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For animal research: Reduce, Refine, Replace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Privacy, confidentiality, and consent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Collection and use of data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Effects on individuals or groups</a:t>
            </a:r>
          </a:p>
        </p:txBody>
      </p:sp>
      <p:sp>
        <p:nvSpPr>
          <p:cNvPr id="3" name="Shape 1016">
            <a:extLst>
              <a:ext uri="{FF2B5EF4-FFF2-40B4-BE49-F238E27FC236}">
                <a16:creationId xmlns:a16="http://schemas.microsoft.com/office/drawing/2014/main" id="{E2D34421-EA11-6107-48C5-CDB2B7B61750}"/>
              </a:ext>
            </a:extLst>
          </p:cNvPr>
          <p:cNvSpPr/>
          <p:nvPr/>
        </p:nvSpPr>
        <p:spPr>
          <a:xfrm>
            <a:off x="903163" y="552334"/>
            <a:ext cx="10141076" cy="108491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>
              <a:defRPr>
                <a:solidFill>
                  <a:schemeClr val="accent1">
                    <a:hueOff val="273562"/>
                    <a:satOff val="2937"/>
                    <a:lumOff val="-22233"/>
                  </a:schemeClr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</a:lstStyle>
          <a:p>
            <a:pPr algn="ctr"/>
            <a:r>
              <a:rPr lang="en-US" sz="3375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D: Responsibilities to Research Subjects, Data Subjects, or Those Directly Affected by Statistical Practices</a:t>
            </a:r>
          </a:p>
        </p:txBody>
      </p:sp>
    </p:spTree>
    <p:extLst>
      <p:ext uri="{BB962C8B-B14F-4D97-AF65-F5344CB8AC3E}">
        <p14:creationId xmlns:p14="http://schemas.microsoft.com/office/powerpoint/2010/main" val="4153414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108">
            <a:extLst>
              <a:ext uri="{FF2B5EF4-FFF2-40B4-BE49-F238E27FC236}">
                <a16:creationId xmlns:a16="http://schemas.microsoft.com/office/drawing/2014/main" id="{C4D8B255-0029-E28E-9CA3-DB2BA1E29C3E}"/>
              </a:ext>
            </a:extLst>
          </p:cNvPr>
          <p:cNvSpPr/>
          <p:nvPr/>
        </p:nvSpPr>
        <p:spPr>
          <a:xfrm>
            <a:off x="1367652" y="1444399"/>
            <a:ext cx="9874706" cy="4576257"/>
          </a:xfrm>
          <a:prstGeom prst="rect">
            <a:avLst/>
          </a:prstGeom>
          <a:noFill/>
          <a:ln w="38100" cap="flat">
            <a:solidFill>
              <a:srgbClr val="8AC53C"/>
            </a:solidFill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91440" tIns="91440" rIns="91440" bIns="0" numCol="1" anchor="t">
            <a:noAutofit/>
          </a:bodyPr>
          <a:lstStyle>
            <a:lvl1pPr algn="l" defTabSz="590133">
              <a:lnSpc>
                <a:spcPct val="93000"/>
              </a:lnSpc>
              <a:tabLst>
                <a:tab pos="584200" algn="l"/>
                <a:tab pos="1168400" algn="l"/>
                <a:tab pos="1765300" algn="l"/>
                <a:tab pos="2349500" algn="l"/>
                <a:tab pos="2946400" algn="l"/>
                <a:tab pos="3530600" algn="l"/>
                <a:tab pos="4127500" algn="l"/>
                <a:tab pos="4711700" algn="l"/>
                <a:tab pos="5308600" algn="l"/>
                <a:tab pos="5892800" algn="l"/>
                <a:tab pos="6489700" algn="l"/>
                <a:tab pos="7073900" algn="l"/>
                <a:tab pos="7670800" algn="l"/>
                <a:tab pos="8255000" algn="l"/>
                <a:tab pos="8851900" algn="l"/>
                <a:tab pos="9436100" algn="l"/>
                <a:tab pos="10020300" algn="l"/>
                <a:tab pos="10617200" algn="l"/>
                <a:tab pos="11201400" algn="l"/>
                <a:tab pos="11798300" algn="l"/>
              </a:tabLst>
              <a:defRPr sz="2200" b="1">
                <a:solidFill>
                  <a:srgbClr val="726658"/>
                </a:solidFill>
                <a:latin typeface="'Roboto-Bold'"/>
                <a:ea typeface="'Roboto-Bold'"/>
                <a:cs typeface="'Roboto-Bold'"/>
                <a:sym typeface="'Roboto-Bold'"/>
              </a:defRPr>
            </a:lvl1pPr>
          </a:lstStyle>
          <a:p>
            <a:pPr marL="68580" lvl="1">
              <a:spcAft>
                <a:spcPts val="1200"/>
              </a:spcAft>
            </a:pPr>
            <a:r>
              <a:rPr lang="en-US" sz="2800" b="1" dirty="0">
                <a:solidFill>
                  <a:srgbClr val="0066FF"/>
                </a:solidFill>
                <a:ea typeface="+mn-ea"/>
                <a:cs typeface="Arial" panose="020B0604020202020204" pitchFamily="34" charset="0"/>
              </a:rPr>
              <a:t>Topics covered:</a:t>
            </a:r>
          </a:p>
          <a:p>
            <a:pPr marL="52578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Recognize and respect that other professions may have different ethical standards and obligations.</a:t>
            </a:r>
          </a:p>
          <a:p>
            <a:pPr marL="52578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Prioritize these guidelines for the conduct of statistical practice in cases where ethical guidelines conflict. </a:t>
            </a:r>
          </a:p>
          <a:p>
            <a:pPr marL="52578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Ensure all communications regarding statistical practices are consistent with these guidelines. </a:t>
            </a:r>
          </a:p>
          <a:p>
            <a:pPr marL="52578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Avoid compromising validity for expediency.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163042-9875-D85C-D7D1-D8FC10DEB00D}"/>
              </a:ext>
            </a:extLst>
          </p:cNvPr>
          <p:cNvSpPr txBox="1"/>
          <p:nvPr/>
        </p:nvSpPr>
        <p:spPr>
          <a:xfrm>
            <a:off x="698643" y="538913"/>
            <a:ext cx="103871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E: Responsibilities to Members of Multidisciplinary Teams</a:t>
            </a:r>
          </a:p>
        </p:txBody>
      </p:sp>
    </p:spTree>
    <p:extLst>
      <p:ext uri="{BB962C8B-B14F-4D97-AF65-F5344CB8AC3E}">
        <p14:creationId xmlns:p14="http://schemas.microsoft.com/office/powerpoint/2010/main" val="4169854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108">
            <a:extLst>
              <a:ext uri="{FF2B5EF4-FFF2-40B4-BE49-F238E27FC236}">
                <a16:creationId xmlns:a16="http://schemas.microsoft.com/office/drawing/2014/main" id="{C4D8B255-0029-E28E-9CA3-DB2BA1E29C3E}"/>
              </a:ext>
            </a:extLst>
          </p:cNvPr>
          <p:cNvSpPr/>
          <p:nvPr/>
        </p:nvSpPr>
        <p:spPr>
          <a:xfrm>
            <a:off x="1374405" y="1584358"/>
            <a:ext cx="9874706" cy="4913834"/>
          </a:xfrm>
          <a:prstGeom prst="rect">
            <a:avLst/>
          </a:prstGeom>
          <a:noFill/>
          <a:ln w="38100" cap="flat">
            <a:solidFill>
              <a:srgbClr val="8AC53C"/>
            </a:solidFill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40" tIns="91440" rIns="91440" bIns="0" numCol="1" anchor="t">
            <a:noAutofit/>
          </a:bodyPr>
          <a:lstStyle>
            <a:lvl1pPr algn="l" defTabSz="590133">
              <a:lnSpc>
                <a:spcPct val="93000"/>
              </a:lnSpc>
              <a:tabLst>
                <a:tab pos="584200" algn="l"/>
                <a:tab pos="1168400" algn="l"/>
                <a:tab pos="1765300" algn="l"/>
                <a:tab pos="2349500" algn="l"/>
                <a:tab pos="2946400" algn="l"/>
                <a:tab pos="3530600" algn="l"/>
                <a:tab pos="4127500" algn="l"/>
                <a:tab pos="4711700" algn="l"/>
                <a:tab pos="5308600" algn="l"/>
                <a:tab pos="5892800" algn="l"/>
                <a:tab pos="6489700" algn="l"/>
                <a:tab pos="7073900" algn="l"/>
                <a:tab pos="7670800" algn="l"/>
                <a:tab pos="8255000" algn="l"/>
                <a:tab pos="8851900" algn="l"/>
                <a:tab pos="9436100" algn="l"/>
                <a:tab pos="10020300" algn="l"/>
                <a:tab pos="10617200" algn="l"/>
                <a:tab pos="11201400" algn="l"/>
                <a:tab pos="11798300" algn="l"/>
              </a:tabLst>
              <a:defRPr sz="2200" b="1">
                <a:solidFill>
                  <a:srgbClr val="726658"/>
                </a:solidFill>
                <a:latin typeface="'Roboto-Bold'"/>
                <a:ea typeface="'Roboto-Bold'"/>
                <a:cs typeface="'Roboto-Bold'"/>
                <a:sym typeface="'Roboto-Bold'"/>
              </a:defRPr>
            </a:lvl1pPr>
          </a:lstStyle>
          <a:p>
            <a:pPr marL="68580" lvl="1">
              <a:spcAft>
                <a:spcPts val="1200"/>
              </a:spcAft>
            </a:pPr>
            <a:r>
              <a:rPr lang="en-US" sz="2600" b="1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Topics covered:</a:t>
            </a:r>
          </a:p>
          <a:p>
            <a:pPr marL="52578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Use constructive discourse to focus on scientific principles and methodology and not personal attributes.</a:t>
            </a:r>
          </a:p>
          <a:p>
            <a:pPr marL="52578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Help strengthen the work of others through appropriate peer review or consultation. </a:t>
            </a:r>
          </a:p>
          <a:p>
            <a:pPr marL="52578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Take full responsibility for their contributions as instructors, mentors, and supervisors of statistical practice.</a:t>
            </a:r>
          </a:p>
          <a:p>
            <a:pPr marL="52578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Promote reproducibility and replication, whether results are “significant” or not, by sharing data, methods, and documentation to the extent possible. </a:t>
            </a:r>
          </a:p>
          <a:p>
            <a:pPr marL="52578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Serve as an ambassador for statistical practice.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29BDB7-A9AD-8708-6623-9A30B36B3C10}"/>
              </a:ext>
            </a:extLst>
          </p:cNvPr>
          <p:cNvSpPr txBox="1"/>
          <p:nvPr/>
        </p:nvSpPr>
        <p:spPr>
          <a:xfrm>
            <a:off x="131231" y="359808"/>
            <a:ext cx="115813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F: Responsibilities to Fellow Statistical Practitioners </a:t>
            </a:r>
          </a:p>
          <a:p>
            <a:pPr algn="ctr"/>
            <a:r>
              <a:rPr lang="en-US" sz="3200" b="1" dirty="0">
                <a:solidFill>
                  <a:srgbClr val="00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the Profession</a:t>
            </a:r>
          </a:p>
        </p:txBody>
      </p:sp>
    </p:spTree>
    <p:extLst>
      <p:ext uri="{BB962C8B-B14F-4D97-AF65-F5344CB8AC3E}">
        <p14:creationId xmlns:p14="http://schemas.microsoft.com/office/powerpoint/2010/main" val="614335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108">
            <a:extLst>
              <a:ext uri="{FF2B5EF4-FFF2-40B4-BE49-F238E27FC236}">
                <a16:creationId xmlns:a16="http://schemas.microsoft.com/office/drawing/2014/main" id="{C4D8B255-0029-E28E-9CA3-DB2BA1E29C3E}"/>
              </a:ext>
            </a:extLst>
          </p:cNvPr>
          <p:cNvSpPr/>
          <p:nvPr/>
        </p:nvSpPr>
        <p:spPr>
          <a:xfrm>
            <a:off x="1158646" y="1814354"/>
            <a:ext cx="10557103" cy="4616799"/>
          </a:xfrm>
          <a:prstGeom prst="rect">
            <a:avLst/>
          </a:prstGeom>
          <a:noFill/>
          <a:ln w="38100" cap="flat">
            <a:solidFill>
              <a:srgbClr val="8AC53C"/>
            </a:solidFill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40" tIns="91440" rIns="91440" bIns="0" numCol="1" anchor="t">
            <a:noAutofit/>
          </a:bodyPr>
          <a:lstStyle>
            <a:lvl1pPr algn="l" defTabSz="590133">
              <a:lnSpc>
                <a:spcPct val="93000"/>
              </a:lnSpc>
              <a:tabLst>
                <a:tab pos="584200" algn="l"/>
                <a:tab pos="1168400" algn="l"/>
                <a:tab pos="1765300" algn="l"/>
                <a:tab pos="2349500" algn="l"/>
                <a:tab pos="2946400" algn="l"/>
                <a:tab pos="3530600" algn="l"/>
                <a:tab pos="4127500" algn="l"/>
                <a:tab pos="4711700" algn="l"/>
                <a:tab pos="5308600" algn="l"/>
                <a:tab pos="5892800" algn="l"/>
                <a:tab pos="6489700" algn="l"/>
                <a:tab pos="7073900" algn="l"/>
                <a:tab pos="7670800" algn="l"/>
                <a:tab pos="8255000" algn="l"/>
                <a:tab pos="8851900" algn="l"/>
                <a:tab pos="9436100" algn="l"/>
                <a:tab pos="10020300" algn="l"/>
                <a:tab pos="10617200" algn="l"/>
                <a:tab pos="11201400" algn="l"/>
                <a:tab pos="11798300" algn="l"/>
              </a:tabLst>
              <a:defRPr sz="2200" b="1">
                <a:solidFill>
                  <a:srgbClr val="726658"/>
                </a:solidFill>
                <a:latin typeface="'Roboto-Bold'"/>
                <a:ea typeface="'Roboto-Bold'"/>
                <a:cs typeface="'Roboto-Bold'"/>
                <a:sym typeface="'Roboto-Bold'"/>
              </a:defRPr>
            </a:lvl1pPr>
          </a:lstStyle>
          <a:p>
            <a:pPr marL="68580" lvl="1">
              <a:spcAft>
                <a:spcPts val="1200"/>
              </a:spcAft>
            </a:pPr>
            <a:r>
              <a:rPr lang="en-US" sz="2400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Topics covered:</a:t>
            </a:r>
          </a:p>
          <a:p>
            <a:pPr marL="41148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Protect the statistical practitioners who comply with these guidelines and advocate for a culture that supports ethical statistical practice. </a:t>
            </a:r>
          </a:p>
          <a:p>
            <a:pPr marL="41148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Promote a respectful, safe, and productive work environment. </a:t>
            </a:r>
          </a:p>
          <a:p>
            <a:pPr marL="41148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Identify and/or create opportunities for team members/mentees to develop professionally and maintain their proficiency.</a:t>
            </a:r>
          </a:p>
          <a:p>
            <a:pPr marL="41148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Promote appropriate recognition of statistical practitioners’ contributions, e.g., authorship.</a:t>
            </a:r>
          </a:p>
          <a:p>
            <a:pPr marL="41148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Establish a culture that values validation of assumptions and assessment of model/algorithm performance over time and across relevant subgroup.</a:t>
            </a:r>
            <a:br>
              <a:rPr lang="en-US" dirty="0"/>
            </a:br>
            <a:endParaRPr lang="en-US" dirty="0"/>
          </a:p>
          <a:p>
            <a:pPr marL="68580" lvl="1">
              <a:spcAft>
                <a:spcPts val="1200"/>
              </a:spcAft>
            </a:pPr>
            <a:endParaRPr lang="en-US" dirty="0"/>
          </a:p>
          <a:p>
            <a:pPr marL="68580" lvl="1">
              <a:spcAft>
                <a:spcPts val="1200"/>
              </a:spcAft>
            </a:pPr>
            <a:endParaRPr lang="en-US" sz="2600" b="1" dirty="0">
              <a:solidFill>
                <a:srgbClr val="1174B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B26E9-793F-BCB8-62F4-16D36E5703BF}"/>
              </a:ext>
            </a:extLst>
          </p:cNvPr>
          <p:cNvSpPr txBox="1"/>
          <p:nvPr/>
        </p:nvSpPr>
        <p:spPr>
          <a:xfrm>
            <a:off x="1025082" y="426847"/>
            <a:ext cx="104614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G: Responsibilities of Leaders, Supervisors, and Mentors</a:t>
            </a:r>
            <a:br>
              <a:rPr lang="en-US" sz="3200" b="1" dirty="0">
                <a:solidFill>
                  <a:srgbClr val="00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b="1" dirty="0">
                <a:solidFill>
                  <a:srgbClr val="00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Statistical Practice</a:t>
            </a:r>
          </a:p>
        </p:txBody>
      </p:sp>
    </p:spTree>
    <p:extLst>
      <p:ext uri="{BB962C8B-B14F-4D97-AF65-F5344CB8AC3E}">
        <p14:creationId xmlns:p14="http://schemas.microsoft.com/office/powerpoint/2010/main" val="1908666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108">
            <a:extLst>
              <a:ext uri="{FF2B5EF4-FFF2-40B4-BE49-F238E27FC236}">
                <a16:creationId xmlns:a16="http://schemas.microsoft.com/office/drawing/2014/main" id="{C4D8B255-0029-E28E-9CA3-DB2BA1E29C3E}"/>
              </a:ext>
            </a:extLst>
          </p:cNvPr>
          <p:cNvSpPr/>
          <p:nvPr/>
        </p:nvSpPr>
        <p:spPr>
          <a:xfrm>
            <a:off x="1158646" y="1451942"/>
            <a:ext cx="10314216" cy="4913834"/>
          </a:xfrm>
          <a:prstGeom prst="rect">
            <a:avLst/>
          </a:prstGeom>
          <a:noFill/>
          <a:ln w="38100" cap="flat">
            <a:solidFill>
              <a:srgbClr val="8AC53C"/>
            </a:solidFill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91440" tIns="91440" rIns="91440" bIns="0" numCol="1" anchor="t">
            <a:noAutofit/>
          </a:bodyPr>
          <a:lstStyle>
            <a:lvl1pPr algn="l" defTabSz="590133">
              <a:lnSpc>
                <a:spcPct val="93000"/>
              </a:lnSpc>
              <a:tabLst>
                <a:tab pos="584200" algn="l"/>
                <a:tab pos="1168400" algn="l"/>
                <a:tab pos="1765300" algn="l"/>
                <a:tab pos="2349500" algn="l"/>
                <a:tab pos="2946400" algn="l"/>
                <a:tab pos="3530600" algn="l"/>
                <a:tab pos="4127500" algn="l"/>
                <a:tab pos="4711700" algn="l"/>
                <a:tab pos="5308600" algn="l"/>
                <a:tab pos="5892800" algn="l"/>
                <a:tab pos="6489700" algn="l"/>
                <a:tab pos="7073900" algn="l"/>
                <a:tab pos="7670800" algn="l"/>
                <a:tab pos="8255000" algn="l"/>
                <a:tab pos="8851900" algn="l"/>
                <a:tab pos="9436100" algn="l"/>
                <a:tab pos="10020300" algn="l"/>
                <a:tab pos="10617200" algn="l"/>
                <a:tab pos="11201400" algn="l"/>
                <a:tab pos="11798300" algn="l"/>
              </a:tabLst>
              <a:defRPr sz="2200" b="1">
                <a:solidFill>
                  <a:srgbClr val="726658"/>
                </a:solidFill>
                <a:latin typeface="'Roboto-Bold'"/>
                <a:ea typeface="'Roboto-Bold'"/>
                <a:cs typeface="'Roboto-Bold'"/>
                <a:sym typeface="'Roboto-Bold'"/>
              </a:defRPr>
            </a:lvl1pPr>
          </a:lstStyle>
          <a:p>
            <a:pPr marL="68580" lvl="1">
              <a:spcAft>
                <a:spcPts val="1200"/>
              </a:spcAft>
            </a:pPr>
            <a:r>
              <a:rPr lang="en-US" sz="2800" b="1" dirty="0">
                <a:solidFill>
                  <a:srgbClr val="00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Topics covered:</a:t>
            </a:r>
          </a:p>
          <a:p>
            <a:pPr marL="52578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Aware of misconduct definition and institutional procedures.</a:t>
            </a:r>
          </a:p>
          <a:p>
            <a:pPr marL="52578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Avoid condoning or appearing to condone statistical, scientific, or professional misconduct.</a:t>
            </a:r>
          </a:p>
          <a:p>
            <a:pPr marL="52578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Discreetly make complaints about misconduct and to the relevant institutional body.</a:t>
            </a:r>
          </a:p>
          <a:p>
            <a:pPr marL="52578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Ensure transparency, fairness, and confidentiality.</a:t>
            </a:r>
          </a:p>
          <a:p>
            <a:pPr marL="52578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Support investigation outcomes.</a:t>
            </a:r>
          </a:p>
          <a:p>
            <a:pPr marL="52578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Avoid and discourage retaliation.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538800-26BA-4B55-5403-36F53D5EE02E}"/>
              </a:ext>
            </a:extLst>
          </p:cNvPr>
          <p:cNvSpPr txBox="1"/>
          <p:nvPr/>
        </p:nvSpPr>
        <p:spPr>
          <a:xfrm>
            <a:off x="1301966" y="539338"/>
            <a:ext cx="100275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H: Responsibilities Regarding Potential Misconduct</a:t>
            </a:r>
          </a:p>
        </p:txBody>
      </p:sp>
    </p:spTree>
    <p:extLst>
      <p:ext uri="{BB962C8B-B14F-4D97-AF65-F5344CB8AC3E}">
        <p14:creationId xmlns:p14="http://schemas.microsoft.com/office/powerpoint/2010/main" val="2271511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108">
            <a:extLst>
              <a:ext uri="{FF2B5EF4-FFF2-40B4-BE49-F238E27FC236}">
                <a16:creationId xmlns:a16="http://schemas.microsoft.com/office/drawing/2014/main" id="{C4D8B255-0029-E28E-9CA3-DB2BA1E29C3E}"/>
              </a:ext>
            </a:extLst>
          </p:cNvPr>
          <p:cNvSpPr/>
          <p:nvPr/>
        </p:nvSpPr>
        <p:spPr>
          <a:xfrm>
            <a:off x="1158647" y="1444399"/>
            <a:ext cx="9874706" cy="4648176"/>
          </a:xfrm>
          <a:prstGeom prst="rect">
            <a:avLst/>
          </a:prstGeom>
          <a:noFill/>
          <a:ln w="38100" cap="flat">
            <a:solidFill>
              <a:srgbClr val="8AC53C"/>
            </a:solidFill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40" tIns="91440" rIns="91440" bIns="0" numCol="1" anchor="t">
            <a:noAutofit/>
          </a:bodyPr>
          <a:lstStyle>
            <a:lvl1pPr algn="l" defTabSz="590133">
              <a:lnSpc>
                <a:spcPct val="93000"/>
              </a:lnSpc>
              <a:tabLst>
                <a:tab pos="584200" algn="l"/>
                <a:tab pos="1168400" algn="l"/>
                <a:tab pos="1765300" algn="l"/>
                <a:tab pos="2349500" algn="l"/>
                <a:tab pos="2946400" algn="l"/>
                <a:tab pos="3530600" algn="l"/>
                <a:tab pos="4127500" algn="l"/>
                <a:tab pos="4711700" algn="l"/>
                <a:tab pos="5308600" algn="l"/>
                <a:tab pos="5892800" algn="l"/>
                <a:tab pos="6489700" algn="l"/>
                <a:tab pos="7073900" algn="l"/>
                <a:tab pos="7670800" algn="l"/>
                <a:tab pos="8255000" algn="l"/>
                <a:tab pos="8851900" algn="l"/>
                <a:tab pos="9436100" algn="l"/>
                <a:tab pos="10020300" algn="l"/>
                <a:tab pos="10617200" algn="l"/>
                <a:tab pos="11201400" algn="l"/>
                <a:tab pos="11798300" algn="l"/>
              </a:tabLst>
              <a:defRPr sz="2200" b="1">
                <a:solidFill>
                  <a:srgbClr val="726658"/>
                </a:solidFill>
                <a:latin typeface="'Roboto-Bold'"/>
                <a:ea typeface="'Roboto-Bold'"/>
                <a:cs typeface="'Roboto-Bold'"/>
                <a:sym typeface="'Roboto-Bold'"/>
              </a:defRPr>
            </a:lvl1pPr>
          </a:lstStyle>
          <a:p>
            <a:pPr marL="68580" lvl="1">
              <a:spcAft>
                <a:spcPts val="1200"/>
              </a:spcAft>
            </a:pPr>
            <a:r>
              <a:rPr lang="en-US" sz="2800" b="1" u="sng" dirty="0">
                <a:solidFill>
                  <a:srgbClr val="0066FF"/>
                </a:solidFill>
                <a:cs typeface="Arial" panose="020B0604020202020204" pitchFamily="34" charset="0"/>
              </a:rPr>
              <a:t>Proposal:</a:t>
            </a:r>
            <a:r>
              <a:rPr lang="en-US" sz="2800" b="1" dirty="0">
                <a:solidFill>
                  <a:srgbClr val="0066FF"/>
                </a:solidFill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66FF"/>
                </a:solidFill>
                <a:cs typeface="Arial" panose="020B0604020202020204" pitchFamily="34" charset="0"/>
              </a:rPr>
              <a:t>The ASA Ethical Guidelines for Statistical Practice are unlikely to be adhered to by Institutions/Employers, however, articulating the characteristics of an ethical workplace supporting ethical statistical practice is important.</a:t>
            </a:r>
            <a:endParaRPr lang="en-US" sz="2800" dirty="0">
              <a:solidFill>
                <a:srgbClr val="0066FF"/>
              </a:solidFill>
              <a:cs typeface="Times New Roman" panose="02020603050405020304" pitchFamily="18" charset="0"/>
            </a:endParaRPr>
          </a:p>
          <a:p>
            <a:pPr lvl="1"/>
            <a:r>
              <a:rPr lang="en-US" sz="2800" u="sng" dirty="0">
                <a:latin typeface="+mn-lt"/>
                <a:cs typeface="Arial" panose="020B0604020202020204" pitchFamily="34" charset="0"/>
              </a:rPr>
              <a:t>Part 1</a:t>
            </a:r>
            <a:r>
              <a:rPr lang="en-US" sz="2800" dirty="0">
                <a:latin typeface="+mn-lt"/>
                <a:cs typeface="Arial" panose="020B0604020202020204" pitchFamily="34" charset="0"/>
              </a:rPr>
              <a:t>: </a:t>
            </a:r>
            <a:r>
              <a:rPr lang="en-US" sz="2800" b="0" dirty="0">
                <a:latin typeface="+mn-lt"/>
                <a:cs typeface="Arial" panose="020B0604020202020204" pitchFamily="34" charset="0"/>
              </a:rPr>
              <a:t>Responsibilities of organizations/institutions employing statistical practice (7 elements)</a:t>
            </a:r>
          </a:p>
          <a:p>
            <a:pPr lvl="1"/>
            <a:endParaRPr lang="en-US" sz="2800" dirty="0">
              <a:latin typeface="+mn-lt"/>
              <a:cs typeface="Arial" panose="020B0604020202020204" pitchFamily="34" charset="0"/>
            </a:endParaRPr>
          </a:p>
          <a:p>
            <a:pPr lvl="1"/>
            <a:r>
              <a:rPr lang="en-US" sz="2800" u="sng" dirty="0">
                <a:latin typeface="+mn-lt"/>
                <a:cs typeface="Arial" panose="020B0604020202020204" pitchFamily="34" charset="0"/>
              </a:rPr>
              <a:t>Part 2:</a:t>
            </a:r>
            <a:r>
              <a:rPr lang="en-US" sz="2800" dirty="0">
                <a:latin typeface="+mn-lt"/>
                <a:cs typeface="Arial" panose="020B0604020202020204" pitchFamily="34" charset="0"/>
              </a:rPr>
              <a:t> </a:t>
            </a:r>
            <a:r>
              <a:rPr lang="en-US" sz="2800" b="0" dirty="0">
                <a:latin typeface="+mn-lt"/>
                <a:cs typeface="Arial" panose="020B0604020202020204" pitchFamily="34" charset="0"/>
              </a:rPr>
              <a:t>Responsibilities of </a:t>
            </a:r>
            <a:r>
              <a:rPr lang="en-US" sz="2800" b="0" dirty="0">
                <a:latin typeface="+mn-lt"/>
                <a:ea typeface="Times New Roman" panose="02020603050405020304" pitchFamily="18" charset="0"/>
                <a:cs typeface="Arial" panose="020B0604020202020204" pitchFamily="34" charset="0"/>
              </a:rPr>
              <a:t>those in leadership, supervisory, or managerial positions who oversee statistical practitioners </a:t>
            </a:r>
            <a:r>
              <a:rPr lang="en-US" sz="2800" b="0" dirty="0">
                <a:latin typeface="+mn-lt"/>
                <a:cs typeface="Arial" panose="020B0604020202020204" pitchFamily="34" charset="0"/>
              </a:rPr>
              <a:t>(5 elements</a:t>
            </a:r>
            <a:r>
              <a:rPr lang="en-US" sz="2400" b="0" dirty="0">
                <a:latin typeface="+mn-lt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7B808F-247B-8262-F248-04C27E09F6AF}"/>
              </a:ext>
            </a:extLst>
          </p:cNvPr>
          <p:cNvSpPr txBox="1"/>
          <p:nvPr/>
        </p:nvSpPr>
        <p:spPr>
          <a:xfrm>
            <a:off x="2790290" y="499767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Appendix ~ NEW!</a:t>
            </a:r>
          </a:p>
        </p:txBody>
      </p:sp>
    </p:spTree>
    <p:extLst>
      <p:ext uri="{BB962C8B-B14F-4D97-AF65-F5344CB8AC3E}">
        <p14:creationId xmlns:p14="http://schemas.microsoft.com/office/powerpoint/2010/main" val="930060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CF4CDE7E-512E-4F60-9315-B8F99622A56D}"/>
</file>

<file path=customXml/itemProps2.xml><?xml version="1.0" encoding="utf-8"?>
<ds:datastoreItem xmlns:ds="http://schemas.openxmlformats.org/officeDocument/2006/customXml" ds:itemID="{78B7951D-80B5-4B43-9C40-24CBA77B8DB1}"/>
</file>

<file path=customXml/itemProps3.xml><?xml version="1.0" encoding="utf-8"?>
<ds:datastoreItem xmlns:ds="http://schemas.openxmlformats.org/officeDocument/2006/customXml" ds:itemID="{CCCC506B-C43A-48C1-8F18-8FDA64D1563D}"/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2061</TotalTime>
  <Words>1054</Words>
  <Application>Microsoft Office PowerPoint</Application>
  <PresentationFormat>Widescreen</PresentationFormat>
  <Paragraphs>130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Helvetica Neue</vt:lpstr>
      <vt:lpstr>'Roboto-Bold'</vt:lpstr>
      <vt:lpstr>Arial</vt:lpstr>
      <vt:lpstr>Calibri</vt:lpstr>
      <vt:lpstr>Calibri Light</vt:lpstr>
      <vt:lpstr>Roboto Black</vt:lpstr>
      <vt:lpstr>Roboto Bold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Gomes, Harold - BLS</dc:creator>
  <cp:lastModifiedBy>Cao, Jing</cp:lastModifiedBy>
  <cp:revision>333</cp:revision>
  <cp:lastPrinted>2018-03-14T21:40:23Z</cp:lastPrinted>
  <dcterms:created xsi:type="dcterms:W3CDTF">2018-03-08T03:10:20Z</dcterms:created>
  <dcterms:modified xsi:type="dcterms:W3CDTF">2023-07-25T18:02:27Z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b94a7b8-f06c-4dfe-bdcc-9b548fd58c31_Enabled">
    <vt:lpwstr>true</vt:lpwstr>
  </property>
  <property fmtid="{D5CDD505-2E9C-101B-9397-08002B2CF9AE}" pid="3" name="MSIP_Label_7b94a7b8-f06c-4dfe-bdcc-9b548fd58c31_SetDate">
    <vt:lpwstr>2022-05-19T20:05:46Z</vt:lpwstr>
  </property>
  <property fmtid="{D5CDD505-2E9C-101B-9397-08002B2CF9AE}" pid="4" name="MSIP_Label_7b94a7b8-f06c-4dfe-bdcc-9b548fd58c31_Method">
    <vt:lpwstr>Privileged</vt:lpwstr>
  </property>
  <property fmtid="{D5CDD505-2E9C-101B-9397-08002B2CF9AE}" pid="5" name="MSIP_Label_7b94a7b8-f06c-4dfe-bdcc-9b548fd58c31_Name">
    <vt:lpwstr>7b94a7b8-f06c-4dfe-bdcc-9b548fd58c31</vt:lpwstr>
  </property>
  <property fmtid="{D5CDD505-2E9C-101B-9397-08002B2CF9AE}" pid="6" name="MSIP_Label_7b94a7b8-f06c-4dfe-bdcc-9b548fd58c31_SiteId">
    <vt:lpwstr>9ce70869-60db-44fd-abe8-d2767077fc8f</vt:lpwstr>
  </property>
  <property fmtid="{D5CDD505-2E9C-101B-9397-08002B2CF9AE}" pid="7" name="MSIP_Label_7b94a7b8-f06c-4dfe-bdcc-9b548fd58c31_ActionId">
    <vt:lpwstr>a7e397ed-7776-4f05-a731-4de9ccb93632</vt:lpwstr>
  </property>
  <property fmtid="{D5CDD505-2E9C-101B-9397-08002B2CF9AE}" pid="8" name="MSIP_Label_7b94a7b8-f06c-4dfe-bdcc-9b548fd58c31_ContentBits">
    <vt:lpwstr>0</vt:lpwstr>
  </property>
  <property fmtid="{D5CDD505-2E9C-101B-9397-08002B2CF9AE}" pid="9" name="ContentTypeId">
    <vt:lpwstr>0x010100D45AE3D1135F4E41AB498540A40487BD</vt:lpwstr>
  </property>
</Properties>
</file>