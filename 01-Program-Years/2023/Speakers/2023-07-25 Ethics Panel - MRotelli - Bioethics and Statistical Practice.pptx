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9" r:id="rId5"/>
    <p:sldId id="257" r:id="rId6"/>
    <p:sldId id="260" r:id="rId7"/>
    <p:sldId id="261" r:id="rId8"/>
    <p:sldId id="262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4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4"/>
  </p:normalViewPr>
  <p:slideViewPr>
    <p:cSldViewPr snapToGrid="0" snapToObjects="1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D Rotelli" userId="4b0c7a11-6894-44c8-879a-0ae90e4f6606" providerId="ADAL" clId="{D111E058-B989-4D94-A774-6C364AD02BAE}"/>
    <pc:docChg chg="modSld">
      <pc:chgData name="Matthew D Rotelli" userId="4b0c7a11-6894-44c8-879a-0ae90e4f6606" providerId="ADAL" clId="{D111E058-B989-4D94-A774-6C364AD02BAE}" dt="2023-07-11T13:49:25.518" v="17" actId="20577"/>
      <pc:docMkLst>
        <pc:docMk/>
      </pc:docMkLst>
      <pc:sldChg chg="modSp mod">
        <pc:chgData name="Matthew D Rotelli" userId="4b0c7a11-6894-44c8-879a-0ae90e4f6606" providerId="ADAL" clId="{D111E058-B989-4D94-A774-6C364AD02BAE}" dt="2023-07-11T13:49:25.518" v="17" actId="20577"/>
        <pc:sldMkLst>
          <pc:docMk/>
          <pc:sldMk cId="1014417929" sldId="259"/>
        </pc:sldMkLst>
        <pc:spChg chg="mod">
          <ac:chgData name="Matthew D Rotelli" userId="4b0c7a11-6894-44c8-879a-0ae90e4f6606" providerId="ADAL" clId="{D111E058-B989-4D94-A774-6C364AD02BAE}" dt="2023-07-11T13:49:25.518" v="17" actId="20577"/>
          <ac:spMkLst>
            <pc:docMk/>
            <pc:sldMk cId="1014417929" sldId="259"/>
            <ac:spMk id="3" creationId="{4078C5CD-B184-0C4F-99AE-BB9A5B5BDCF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1C87B7-2D4A-7D47-A231-C27D1F816C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2A6E04-426E-9A48-82AA-A895BE2533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BF59F-BCAE-2A44-91B6-95BCF2F570B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6EBC4-433F-F545-8A1C-AFC7352432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0670D-88C7-6C4A-A002-83C1C9CA65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D88B1-6782-3E49-B9F7-015F19FE1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31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50F8D-EAE9-E648-8774-23A255AD87EC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61EAB-5B60-E942-BBC7-930479D4A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6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id="{A2680C16-3914-D840-BAEB-556A2E527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picture containing light, drawing&#10;&#10;Description automatically generated">
            <a:extLst>
              <a:ext uri="{FF2B5EF4-FFF2-40B4-BE49-F238E27FC236}">
                <a16:creationId xmlns:a16="http://schemas.microsoft.com/office/drawing/2014/main" id="{7AE9E7DB-9E6D-8C4F-8F46-8D179A2FA2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9674" y="5568286"/>
            <a:ext cx="1353993" cy="73341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D22F9B6-9A0F-7449-8C1A-A0C0194397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002" y="2306680"/>
            <a:ext cx="8513997" cy="131281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ts val="5150"/>
              </a:lnSpc>
              <a:defRPr sz="5000" b="1" i="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COVER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C7CEB8D-0CD9-AF4F-9A1B-47651567FE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39002" y="4034662"/>
            <a:ext cx="8513997" cy="454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3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544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subhead</a:t>
            </a:r>
          </a:p>
        </p:txBody>
      </p:sp>
      <p:pic>
        <p:nvPicPr>
          <p:cNvPr id="13" name="Picture 12" descr="A picture containing light, drawing&#10;&#10;Description automatically generated">
            <a:extLst>
              <a:ext uri="{FF2B5EF4-FFF2-40B4-BE49-F238E27FC236}">
                <a16:creationId xmlns:a16="http://schemas.microsoft.com/office/drawing/2014/main" id="{67D83E94-2C35-EF4B-80D7-DB2BD8AF13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9674" y="5568286"/>
            <a:ext cx="1353993" cy="73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73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C70BAD-7983-7C44-ACBE-E887444D4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34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C5DF09-E611-0543-95DA-4BE07DBDD5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914257"/>
            <a:ext cx="10972800" cy="10294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ts val="4083"/>
              </a:lnSpc>
              <a:defRPr sz="4167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TITLE</a:t>
            </a:r>
          </a:p>
        </p:txBody>
      </p:sp>
      <p:pic>
        <p:nvPicPr>
          <p:cNvPr id="5" name="Picture 4" descr="A picture containing light, drawing&#10;&#10;Description automatically generated">
            <a:extLst>
              <a:ext uri="{FF2B5EF4-FFF2-40B4-BE49-F238E27FC236}">
                <a16:creationId xmlns:a16="http://schemas.microsoft.com/office/drawing/2014/main" id="{B051A464-2209-764D-9B26-ADACACF4CD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19004" y="5568286"/>
            <a:ext cx="1353993" cy="73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24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B7DE56-25C2-BF4E-AB25-7289BA954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342A"/>
          </a:solidFill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3417F20-A1F7-4F42-9A43-226DEB4A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0794" y="3777050"/>
            <a:ext cx="6912379" cy="1006861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4083"/>
              </a:lnSpc>
              <a:defRPr sz="4167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SECTION 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8A3442-4528-3B4A-AB06-242C196E8D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267" y="2102653"/>
            <a:ext cx="1450731" cy="79145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CE2A6B-E88B-A84C-9615-5ACFD7FCCF84}"/>
              </a:ext>
            </a:extLst>
          </p:cNvPr>
          <p:cNvCxnSpPr>
            <a:cxnSpLocks/>
          </p:cNvCxnSpPr>
          <p:nvPr userDrawn="1"/>
        </p:nvCxnSpPr>
        <p:spPr>
          <a:xfrm>
            <a:off x="2033637" y="1060939"/>
            <a:ext cx="0" cy="4736123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033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A23EAC-D21D-7342-8802-301CE4F78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603C365-C8AE-8545-88F8-AE2D5AB51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105669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5D654AB-BF52-8246-A4ED-C628D6CD2F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613325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" indent="0">
              <a:buFontTx/>
              <a:buNone/>
              <a:defRPr sz="2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F72417E2-157B-5141-BAF2-5B51D619FD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22F276D-2F55-4342-BA4C-590689A0D9DF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B645FE2A-3239-054E-B5F6-3DA50695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612DD083-FDC4-B240-821E-3F6D1426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8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BADB49E-9296-CD41-A650-A6A11D750C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6F7E6C-73FD-3D42-A964-C2F8DD4B9D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effectLst/>
        </p:spPr>
      </p:pic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E0E10A95-A747-9746-B03A-D2895044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0E1415A-2990-C246-A2C1-0E6D67509A28}" type="datetime1">
              <a:rPr lang="en-US" smtClean="0"/>
              <a:pPr>
                <a:defRPr/>
              </a:pPr>
              <a:t>7/11/2023</a:t>
            </a:fld>
            <a:endParaRPr lang="en-US" dirty="0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37737973-9F2A-5E4C-BEF9-5D87297E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55E5A89F-0AE3-DD44-87A5-9B7FBBB6E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AD58BB3-0D2A-484E-9819-DC12377C7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105669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DD983E0-BD4C-8748-A97D-7D1EBFBF84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613325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" indent="0">
              <a:buFontTx/>
              <a:buNone/>
              <a:defRPr sz="2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456447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1F416D2E-B9F1-1E46-830F-0E19DC16A1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9E58510-1396-7346-9A8B-345C2E5E62B8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9EAA5B29-5A4C-2D43-A107-15CFBD23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4C56E3B4-71E0-1346-9081-989B30C30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99EF326-E490-104F-A2EF-A3EAF517E2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369485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" indent="0">
              <a:buFontTx/>
              <a:buNone/>
              <a:defRPr sz="2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058BD6D-B6CF-E14C-B2CB-FBBEB54054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168313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4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1329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6A34AC-E596-8542-8625-94C42A7577B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C1748890-608F-1B44-A502-FD3103D6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1D8C26D-FC7E-044B-B3E6-41DB606CED61}" type="datetime1">
              <a:rPr lang="en-US" smtClean="0"/>
              <a:pPr>
                <a:defRPr/>
              </a:pPr>
              <a:t>7/11/2023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78559A8-614E-FD46-B7CE-BD6938B0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5D7A72B-2F9A-EC40-845B-94760315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02FCFC5-85D6-E94A-B4EE-0AF9DAF11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168313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4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CC90D33-EAFF-F64D-BCA1-511CC95A99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369485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" indent="0">
              <a:buFontTx/>
              <a:buNone/>
              <a:defRPr sz="2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57576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34FF4A-97FB-394A-894F-58FA400E35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bg1"/>
              </a:solidFill>
            </a:endParaRP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DFFDBA8E-6F4A-BD49-9600-255FFA0D77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531589FC-831B-5942-9A1C-C0C793484D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40972"/>
            <a:ext cx="10972800" cy="1156709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5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9EFBCC83-25E6-D64E-A98A-BF1B7E11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EBE0B6E-7754-EF48-A3B5-6DE3AD11367D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770525A7-114B-9A47-B48A-FF49D4F1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DF1CE71-EE5C-0E42-ACAC-4982EDF4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DED08AF-619E-7341-BE49-27F1A87894E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41761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" indent="0">
              <a:buFontTx/>
              <a:buNone/>
              <a:defRPr sz="2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089055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734DFD7-6654-FF45-BE87-9233C84093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1B91CB3B-F2B1-D540-8506-6A7AF2B099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E11E042-BDE0-4141-8171-B7CFBCB1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4747908-2CC5-5E4E-9E06-DA3130643A84}" type="datetime1">
              <a:rPr lang="en-US" smtClean="0"/>
              <a:pPr>
                <a:defRPr/>
              </a:pPr>
              <a:t>7/11/2023</a:t>
            </a:fld>
            <a:endParaRPr lang="en-US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2705CADA-A330-5F40-AF6C-18AAFB8D8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A76D87E4-91F6-7742-936D-F2CCE9F2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2BBD011-72E2-D14D-9FCC-C7914164A3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41761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" indent="0">
              <a:buFontTx/>
              <a:buNone/>
              <a:defRPr sz="2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E4A25E50-C29D-F345-8B26-4D1E212E4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40972"/>
            <a:ext cx="10972800" cy="1156709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5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0622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931807CD-358D-BE40-BC20-7847E7DD7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438" y="0"/>
            <a:ext cx="12204418" cy="6864985"/>
          </a:xfrm>
          <a:prstGeom prst="rect">
            <a:avLst/>
          </a:prstGeom>
          <a:effectLst/>
        </p:spPr>
      </p:pic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34D6BD60-1C62-954B-BE64-36D4FDA7A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54109E1-79A7-E542-B03B-FA3888C7BF97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A8DE9C32-C520-6243-824B-D6D421159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631E9C8C-B41A-A042-A66B-681D47E0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210E979-5B58-A444-9AA5-920BB6F9DF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67047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4864" indent="0">
              <a:buFontTx/>
              <a:buNone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9A8099B4-ABB8-954D-BFE9-A5221803B0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183858"/>
            <a:ext cx="10972800" cy="69654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C719A1E3-0AC6-BB41-B133-50FF75FD06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825680"/>
            <a:ext cx="6828896" cy="412794"/>
          </a:xfrm>
          <a:prstGeom prst="rect">
            <a:avLst/>
          </a:prstGeom>
        </p:spPr>
        <p:txBody>
          <a:bodyPr>
            <a:noAutofit/>
          </a:bodyPr>
          <a:lstStyle>
            <a:lvl1pPr marL="54864" indent="0">
              <a:buFontTx/>
              <a:buNone/>
              <a:defRPr sz="2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</p:spTree>
    <p:extLst>
      <p:ext uri="{BB962C8B-B14F-4D97-AF65-F5344CB8AC3E}">
        <p14:creationId xmlns:p14="http://schemas.microsoft.com/office/powerpoint/2010/main" val="316956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4BDCAA-CD19-094E-B72E-54913601D6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20" name="Picture 19" descr="A picture containing food&#10;&#10;Description automatically generated">
            <a:extLst>
              <a:ext uri="{FF2B5EF4-FFF2-40B4-BE49-F238E27FC236}">
                <a16:creationId xmlns:a16="http://schemas.microsoft.com/office/drawing/2014/main" id="{73F96ACF-C26C-884B-B657-96A3FCF6FA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438" y="0"/>
            <a:ext cx="12204418" cy="6864985"/>
          </a:xfrm>
          <a:prstGeom prst="rect">
            <a:avLst/>
          </a:prstGeom>
          <a:effectLst/>
        </p:spPr>
      </p:pic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2788C9A6-F772-3542-871B-02BEC2530E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2BE134D-6A08-6E43-933D-D0E864A3C1EF}" type="datetime1">
              <a:rPr lang="en-US" smtClean="0"/>
              <a:pPr>
                <a:defRPr/>
              </a:pPr>
              <a:t>7/11/2023</a:t>
            </a:fld>
            <a:endParaRPr lang="en-US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D67C421-B1C3-B44F-9097-25A75B94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BFF714AF-DA73-E441-9B80-62C1BD483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7670777-1073-2C46-BEB8-6B4A036FB2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67047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4864" indent="0">
              <a:buFontTx/>
              <a:buNone/>
              <a:defRPr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B3A117E-AE36-5C4D-9B8B-541E399ED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183858"/>
            <a:ext cx="10972800" cy="69654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C8E78B30-7693-9849-9B94-F888E310E3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825680"/>
            <a:ext cx="6828896" cy="412794"/>
          </a:xfrm>
          <a:prstGeom prst="rect">
            <a:avLst/>
          </a:prstGeom>
        </p:spPr>
        <p:txBody>
          <a:bodyPr>
            <a:noAutofit/>
          </a:bodyPr>
          <a:lstStyle>
            <a:lvl1pPr marL="54864" indent="0">
              <a:buFontTx/>
              <a:buNone/>
              <a:defRPr sz="2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</p:spTree>
    <p:extLst>
      <p:ext uri="{BB962C8B-B14F-4D97-AF65-F5344CB8AC3E}">
        <p14:creationId xmlns:p14="http://schemas.microsoft.com/office/powerpoint/2010/main" val="1260247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2">
            <a:extLst>
              <a:ext uri="{FF2B5EF4-FFF2-40B4-BE49-F238E27FC236}">
                <a16:creationId xmlns:a16="http://schemas.microsoft.com/office/drawing/2014/main" id="{3EC433C6-9D7B-FF45-B246-C3869E50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3C2AFE6-652D-1442-9BE4-5BCA8EEA2464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3208E5B2-158C-A24E-8A33-5A677CD4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A84A80D4-0BD2-0940-8B0B-40CBF21FE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AB8C6BA-A47A-1F42-85E4-2BC14A8AEF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316342"/>
            <a:ext cx="10972800" cy="69654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4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EB7DEF1-8601-2143-8E4A-3107A4858E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974634"/>
            <a:ext cx="6828896" cy="412794"/>
          </a:xfrm>
          <a:prstGeom prst="rect">
            <a:avLst/>
          </a:prstGeom>
        </p:spPr>
        <p:txBody>
          <a:bodyPr>
            <a:noAutofit/>
          </a:bodyPr>
          <a:lstStyle>
            <a:lvl1pPr marL="54864" indent="0">
              <a:buFontTx/>
              <a:buNone/>
              <a:defRPr sz="2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D04B1B7-3831-A043-BA46-DF26C629EEF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67047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4864" indent="0">
              <a:buFontTx/>
              <a:buNone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16113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BCCB720-7A03-6448-917D-F5D5DFDC10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9458D9DB-FCF5-7244-8D3C-D2C927A67B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D7514BC-090C-0F46-935B-9C1626A5EF2E}" type="datetime1">
              <a:rPr lang="en-US" smtClean="0"/>
              <a:pPr>
                <a:defRPr/>
              </a:pPr>
              <a:t>7/11/2023</a:t>
            </a:fld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F9E8474-437B-E443-89FC-1F3FF5189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4392C053-6382-0046-9D50-D4EDA744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AE6C1DC-3AB8-004D-9A5E-6F912C9856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67047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4864" indent="0">
              <a:buFontTx/>
              <a:buNone/>
              <a:defRPr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003EA75A-4906-3342-BB06-09BB84985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316342"/>
            <a:ext cx="10972800" cy="69654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4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CAD24733-5389-FC41-A982-E9BAB33736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974634"/>
            <a:ext cx="6828896" cy="412794"/>
          </a:xfrm>
          <a:prstGeom prst="rect">
            <a:avLst/>
          </a:prstGeom>
        </p:spPr>
        <p:txBody>
          <a:bodyPr>
            <a:noAutofit/>
          </a:bodyPr>
          <a:lstStyle>
            <a:lvl1pPr marL="54864" indent="0">
              <a:buFontTx/>
              <a:buNone/>
              <a:defRPr sz="2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</p:spTree>
    <p:extLst>
      <p:ext uri="{BB962C8B-B14F-4D97-AF65-F5344CB8AC3E}">
        <p14:creationId xmlns:p14="http://schemas.microsoft.com/office/powerpoint/2010/main" val="3452811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429E3E-C905-4446-AD2D-0E4AD7B047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bg1"/>
              </a:solidFill>
            </a:endParaRP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8906BE42-A10A-D346-A882-660CB15D91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35533C9E-9B0C-F440-8956-354410CC6E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C38003B-12C7-C14F-900C-0E40B23D9D61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29D029BA-AAC7-4345-BA84-35DD9038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4A1D4B3-BC86-304D-A42E-562F8365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FC7DD6E2-17A1-8146-AFB7-EE5E088EA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143664"/>
            <a:ext cx="10972800" cy="69654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4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8F55013-4189-E74B-92DF-D30B53CA3C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801956"/>
            <a:ext cx="6828896" cy="412794"/>
          </a:xfrm>
          <a:prstGeom prst="rect">
            <a:avLst/>
          </a:prstGeom>
        </p:spPr>
        <p:txBody>
          <a:bodyPr>
            <a:noAutofit/>
          </a:bodyPr>
          <a:lstStyle>
            <a:lvl1pPr marL="54864" indent="0">
              <a:buFontTx/>
              <a:buNone/>
              <a:defRPr sz="2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2415261C-EC57-E54C-BA33-04E647BE9F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67047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4864" indent="0">
              <a:buFontTx/>
              <a:buNone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935602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BAA9D36-0636-874D-9AD5-46DA87D0369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D66B4B43-4F10-7F4D-9F51-12050D10B2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8A6FB09F-72B1-1444-A0E7-1C86B5C7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DDDE247-546E-534F-8988-31DDCF679E67}" type="datetime1">
              <a:rPr lang="en-US" smtClean="0"/>
              <a:pPr>
                <a:defRPr/>
              </a:pPr>
              <a:t>7/11/2023</a:t>
            </a:fld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12262A33-D82D-524A-93BC-8E5CEBE50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42721B2C-1142-EE4F-859C-59B80305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7E4255E4-8E6B-4B44-A73A-4F52C5019C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143664"/>
            <a:ext cx="10972800" cy="69654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4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F5A9C3E-CB92-1C48-8E91-7F93D64A1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801956"/>
            <a:ext cx="6828896" cy="412794"/>
          </a:xfrm>
          <a:prstGeom prst="rect">
            <a:avLst/>
          </a:prstGeom>
        </p:spPr>
        <p:txBody>
          <a:bodyPr>
            <a:noAutofit/>
          </a:bodyPr>
          <a:lstStyle>
            <a:lvl1pPr marL="54864" indent="0">
              <a:buFontTx/>
              <a:buNone/>
              <a:defRPr sz="2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D753E0D-28FD-6841-BF75-A32487385C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67047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4864" indent="0">
              <a:buFontTx/>
              <a:buNone/>
              <a:defRPr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56383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42D37D-F79D-2B42-A718-CEF6B23F7E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C50444D-9E93-D04A-BC65-AA646155AB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809" y="6062990"/>
            <a:ext cx="3375328" cy="998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100" b="1" i="0" spc="25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EVENT NAME GOES HERE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203B806D-2D30-614A-AB54-37592D794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78373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4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8307C05-4407-2D4F-9D27-0FADD1AF79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369485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" indent="0">
              <a:buFontTx/>
              <a:buNone/>
              <a:defRPr sz="2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pic>
        <p:nvPicPr>
          <p:cNvPr id="13" name="Picture 12" descr="A picture containing drawing&#10;&#10;Description automatically generated">
            <a:extLst>
              <a:ext uri="{FF2B5EF4-FFF2-40B4-BE49-F238E27FC236}">
                <a16:creationId xmlns:a16="http://schemas.microsoft.com/office/drawing/2014/main" id="{835F48AB-973A-7547-BE15-DFF0E15BC1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4339" y="5841358"/>
            <a:ext cx="994172" cy="54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22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42D37D-F79D-2B42-A718-CEF6B23F7E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BA8349-BC2C-AC42-BEE6-344AC13323F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933691-782F-8541-AB6A-C42F85351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78373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4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2B93C99-4FB5-2249-B994-B7754E57A4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369485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" indent="0">
              <a:buFontTx/>
              <a:buNone/>
              <a:defRPr sz="2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5782C81-708C-3B46-B0F6-CEF9D23267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809" y="6062990"/>
            <a:ext cx="3375328" cy="998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100" b="1" i="0" spc="2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EVENT NAME GOES HERE</a:t>
            </a:r>
          </a:p>
        </p:txBody>
      </p:sp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52410D44-8CA4-3E4F-B0C0-90E67CD25A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4339" y="5841358"/>
            <a:ext cx="994172" cy="54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57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4EE120-5FEF-6647-A48F-3298B8281C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0171104-AF34-D949-B380-6092DF19C8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8336" y="6036971"/>
            <a:ext cx="3375328" cy="2828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100" b="1" i="0" spc="25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EVENT NAME GOES HERE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0250F1-FFCB-D142-86A5-7BD7CD045098}"/>
              </a:ext>
            </a:extLst>
          </p:cNvPr>
          <p:cNvSpPr/>
          <p:nvPr userDrawn="1"/>
        </p:nvSpPr>
        <p:spPr>
          <a:xfrm>
            <a:off x="522159" y="5561066"/>
            <a:ext cx="961688" cy="96168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CA29E0D-F1D1-A442-B226-B0AE51CEB5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2344" y="5902959"/>
            <a:ext cx="961688" cy="347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ts val="950"/>
              </a:lnSpc>
              <a:buFontTx/>
              <a:buNone/>
              <a:defRPr sz="917" b="1" i="0" spc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SPONSOR </a:t>
            </a:r>
          </a:p>
          <a:p>
            <a:pPr lvl="0"/>
            <a:r>
              <a:rPr lang="en-US" dirty="0"/>
              <a:t>LOGO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817DCAD-54E4-3140-AF54-C01409544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78373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4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9002F8-9D9A-3E40-A57C-699FA97E312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369485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" indent="0">
              <a:buFontTx/>
              <a:buNone/>
              <a:defRPr sz="2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pic>
        <p:nvPicPr>
          <p:cNvPr id="15" name="Picture 14" descr="A picture containing drawing&#10;&#10;Description automatically generated">
            <a:extLst>
              <a:ext uri="{FF2B5EF4-FFF2-40B4-BE49-F238E27FC236}">
                <a16:creationId xmlns:a16="http://schemas.microsoft.com/office/drawing/2014/main" id="{28724BB9-2599-6C4C-9027-E5EC67B8C0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53710" y="5929356"/>
            <a:ext cx="994172" cy="54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268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80914E-70B2-E64E-B4DC-9718C91F0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BBEE7F8-FB00-0F4F-81D3-AC62CA7CF4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8336" y="6036971"/>
            <a:ext cx="3375328" cy="2828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100" b="1" i="0" spc="2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EVENT NAME GOES HERE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F54011-C441-D245-ABBF-BD8066617F30}"/>
              </a:ext>
            </a:extLst>
          </p:cNvPr>
          <p:cNvSpPr/>
          <p:nvPr userDrawn="1"/>
        </p:nvSpPr>
        <p:spPr>
          <a:xfrm>
            <a:off x="522159" y="5561066"/>
            <a:ext cx="961688" cy="96168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EFC1E31-ED4E-D44D-AA84-D0E1F24FDF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2344" y="5902959"/>
            <a:ext cx="961688" cy="347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ts val="950"/>
              </a:lnSpc>
              <a:buFontTx/>
              <a:buNone/>
              <a:defRPr sz="917" b="1" i="0" spc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4237" indent="0">
              <a:buFontTx/>
              <a:buNone/>
              <a:defRPr/>
            </a:lvl2pPr>
            <a:lvl3pPr marL="1088474" indent="0">
              <a:buFontTx/>
              <a:buNone/>
              <a:defRPr/>
            </a:lvl3pPr>
            <a:lvl4pPr marL="1632711" indent="0">
              <a:buFontTx/>
              <a:buNone/>
              <a:defRPr/>
            </a:lvl4pPr>
            <a:lvl5pPr marL="2176947" indent="0">
              <a:buFontTx/>
              <a:buNone/>
              <a:defRPr/>
            </a:lvl5pPr>
          </a:lstStyle>
          <a:p>
            <a:pPr lvl="0"/>
            <a:r>
              <a:rPr lang="en-US" dirty="0"/>
              <a:t>SPONSOR </a:t>
            </a:r>
          </a:p>
          <a:p>
            <a:pPr lvl="0"/>
            <a:r>
              <a:rPr lang="en-US" dirty="0"/>
              <a:t>LOGO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FB50C20-3454-0C4A-8C09-E6B0B495E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78373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4000" b="1" i="0">
                <a:solidFill>
                  <a:srgbClr val="EE34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63B0E76-159A-B341-A5A5-4CEB63338E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369485"/>
            <a:ext cx="10514542" cy="4351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" indent="0">
              <a:buFontTx/>
              <a:buNone/>
              <a:defRPr sz="2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pic>
        <p:nvPicPr>
          <p:cNvPr id="15" name="Picture 14" descr="A picture containing drawing&#10;&#10;Description automatically generated">
            <a:extLst>
              <a:ext uri="{FF2B5EF4-FFF2-40B4-BE49-F238E27FC236}">
                <a16:creationId xmlns:a16="http://schemas.microsoft.com/office/drawing/2014/main" id="{F2396E25-9513-F846-9BC2-86509F24AA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53710" y="5929356"/>
            <a:ext cx="994172" cy="54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9122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15831D0-EC1D-584D-8330-4EDA4A8E808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34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1DDF1D-C0C7-A142-AEB0-477BA3980D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056" y="2366834"/>
            <a:ext cx="3893889" cy="212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1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43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BDF9-9122-3B4D-9CAD-7B459C6A3F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Bioethics and Statistical Practice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8C5CD-B184-0C4F-99AE-BB9A5B5BDC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UVA DSPG 7/25/2023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41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0629-BA0F-2E41-B2CB-44F62D5C6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69A13-427A-8341-B444-80B50F3B6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dirty="0"/>
              <a:t>Lives at the intersection of science and society</a:t>
            </a:r>
          </a:p>
          <a:p>
            <a:pPr marL="38862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dirty="0"/>
              <a:t>Applies a moral lens to research and its applications</a:t>
            </a:r>
          </a:p>
          <a:p>
            <a:pPr marL="38862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dirty="0"/>
              <a:t>Based on 4 fundamental principles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Justice – fair distribution of burdens and benefits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Respect – be transparent and let people decide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Beneficence – do good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Non-maleficence – do no harm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00F68-8750-3D41-B6FD-577AFD01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2F276D-2F55-4342-BA4C-590689A0D9DF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9AFC9-A98E-7445-BC89-2C344869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A8AC-8F6C-BC41-A2FC-55E866E3D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69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8E395-D251-C27B-3017-F1EC6CD89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bioethics and statistical practice intersect?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E7F5D-3CC8-780D-00E0-390812C58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dirty="0"/>
              <a:t>When data are gathered about people</a:t>
            </a:r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dirty="0"/>
              <a:t>When statistical practices are used to make decisions that impact people</a:t>
            </a:r>
          </a:p>
          <a:p>
            <a:endParaRPr lang="en-US" dirty="0"/>
          </a:p>
          <a:p>
            <a:r>
              <a:rPr lang="en-US" dirty="0"/>
              <a:t>Apply a bioethics lens: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Are we doing good for those people?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Are there potential harms we need to mitigate?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How are we demonstrating respect?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Are we being fair? Could some groups feel exploited or be made worse off than others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B19F1-90AD-3041-B212-DEDD1B30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2F276D-2F55-4342-BA4C-590689A0D9DF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D7DA5-B464-40A3-5EA5-16ECD266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739AB-4CCA-FFD8-AB5E-D8D09A18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534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0F868-9B7A-2AB2-79EE-61C641203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7F0C-9F0F-D018-BEDB-DCD7F2FD9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dirty="0"/>
              <a:t>We need to balance our bioethical responsibilities with other ethical responsibilities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To our organizations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To our stakeholders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To our fellow team members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dirty="0"/>
              <a:t>To other statistical practitioners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dirty="0"/>
              <a:t>Organizations have ethical responsibilities regarding statistical practices too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8AD9-99B0-33F0-30D8-9994055E0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2F276D-2F55-4342-BA4C-590689A0D9DF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940F2-5FFF-4302-C08A-AB09ADD5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6F52B-D25E-2CE3-5064-9EA6CF21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292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4DF89-9225-E769-20AE-ADA835791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help us choose wisely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9D14C-F66E-9BAA-7CBB-9CA417A7A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2F276D-2F55-4342-BA4C-590689A0D9DF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7EBD8-4EC4-4161-3A98-91E17A49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©2020 Eli Lilly and Company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A030A-5831-D3E1-402B-BE496B8F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FE2AD377-3C06-3ABE-369E-73E2C0AF936C}"/>
              </a:ext>
            </a:extLst>
          </p:cNvPr>
          <p:cNvSpPr/>
          <p:nvPr/>
        </p:nvSpPr>
        <p:spPr>
          <a:xfrm rot="7977010">
            <a:off x="286537" y="1207808"/>
            <a:ext cx="4484700" cy="4600500"/>
          </a:xfrm>
          <a:prstGeom prst="arc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DD17C65-7FC2-CCE0-F64D-43F65834759D}"/>
              </a:ext>
            </a:extLst>
          </p:cNvPr>
          <p:cNvSpPr/>
          <p:nvPr/>
        </p:nvSpPr>
        <p:spPr>
          <a:xfrm rot="7977010">
            <a:off x="6738138" y="1207808"/>
            <a:ext cx="4484700" cy="4600500"/>
          </a:xfrm>
          <a:prstGeom prst="arc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A6208B5-4C5B-587F-BDF4-AF8310AAEA87}"/>
              </a:ext>
            </a:extLst>
          </p:cNvPr>
          <p:cNvCxnSpPr/>
          <p:nvPr/>
        </p:nvCxnSpPr>
        <p:spPr>
          <a:xfrm flipH="1">
            <a:off x="5019040" y="5791200"/>
            <a:ext cx="833120" cy="7721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C323EFA-5154-5E41-C20B-3CFD68FB5EA8}"/>
              </a:ext>
            </a:extLst>
          </p:cNvPr>
          <p:cNvCxnSpPr>
            <a:cxnSpLocks/>
          </p:cNvCxnSpPr>
          <p:nvPr/>
        </p:nvCxnSpPr>
        <p:spPr>
          <a:xfrm flipH="1" flipV="1">
            <a:off x="5880734" y="5791200"/>
            <a:ext cx="832104" cy="7721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56D863-F5CB-CFF6-F478-F6C640A7C017}"/>
              </a:ext>
            </a:extLst>
          </p:cNvPr>
          <p:cNvCxnSpPr/>
          <p:nvPr/>
        </p:nvCxnSpPr>
        <p:spPr>
          <a:xfrm>
            <a:off x="944880" y="5801360"/>
            <a:ext cx="982472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3E34FA0-06F7-5ACB-24B3-8E32285CB7E3}"/>
              </a:ext>
            </a:extLst>
          </p:cNvPr>
          <p:cNvSpPr/>
          <p:nvPr/>
        </p:nvSpPr>
        <p:spPr>
          <a:xfrm>
            <a:off x="1106487" y="1935616"/>
            <a:ext cx="2844800" cy="1142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Timelines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C30009C-21AC-A86A-A7C1-CBB36689B4D8}"/>
              </a:ext>
            </a:extLst>
          </p:cNvPr>
          <p:cNvSpPr/>
          <p:nvPr/>
        </p:nvSpPr>
        <p:spPr>
          <a:xfrm>
            <a:off x="1106487" y="2768788"/>
            <a:ext cx="2844800" cy="1142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Enthusiasm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8C40A85-691B-E162-E1B5-582A937CF1D7}"/>
              </a:ext>
            </a:extLst>
          </p:cNvPr>
          <p:cNvSpPr/>
          <p:nvPr/>
        </p:nvSpPr>
        <p:spPr>
          <a:xfrm>
            <a:off x="1106487" y="3536055"/>
            <a:ext cx="2844800" cy="1142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Pressures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DB43F5F-AD5F-38D1-8D21-B84D22246867}"/>
              </a:ext>
            </a:extLst>
          </p:cNvPr>
          <p:cNvSpPr/>
          <p:nvPr/>
        </p:nvSpPr>
        <p:spPr>
          <a:xfrm>
            <a:off x="1106487" y="4369227"/>
            <a:ext cx="2844800" cy="1142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Expectations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246D18-91E3-FAA2-53C4-615B36DA11BE}"/>
              </a:ext>
            </a:extLst>
          </p:cNvPr>
          <p:cNvSpPr txBox="1"/>
          <p:nvPr/>
        </p:nvSpPr>
        <p:spPr>
          <a:xfrm>
            <a:off x="4813458" y="2458719"/>
            <a:ext cx="2134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ASA</a:t>
            </a:r>
          </a:p>
          <a:p>
            <a:pPr algn="ctr"/>
            <a:r>
              <a:rPr lang="en-US" dirty="0"/>
              <a:t>Ethical Guidelines for Statistical Practice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471503-C6DA-C314-2612-C7C52BFBDEF6}"/>
              </a:ext>
            </a:extLst>
          </p:cNvPr>
          <p:cNvSpPr txBox="1"/>
          <p:nvPr/>
        </p:nvSpPr>
        <p:spPr>
          <a:xfrm rot="19005122">
            <a:off x="4196080" y="5831840"/>
            <a:ext cx="2168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Conscious Thought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CC5430-51DB-7F8F-270D-6A42CA19CBA0}"/>
              </a:ext>
            </a:extLst>
          </p:cNvPr>
          <p:cNvSpPr txBox="1"/>
          <p:nvPr/>
        </p:nvSpPr>
        <p:spPr>
          <a:xfrm rot="2690331">
            <a:off x="5779610" y="582168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Judgement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0E1904ED-5D96-7CDF-A6BA-6C74B42B119D}"/>
              </a:ext>
            </a:extLst>
          </p:cNvPr>
          <p:cNvSpPr/>
          <p:nvPr/>
        </p:nvSpPr>
        <p:spPr>
          <a:xfrm>
            <a:off x="5645801" y="3718386"/>
            <a:ext cx="412717" cy="10382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D29484-C0BE-7224-C5C6-3E0648DD0B64}"/>
              </a:ext>
            </a:extLst>
          </p:cNvPr>
          <p:cNvSpPr txBox="1"/>
          <p:nvPr/>
        </p:nvSpPr>
        <p:spPr>
          <a:xfrm>
            <a:off x="7567280" y="1472154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Ethical Statistical Practice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0604515-D701-1412-ADCA-7AA64D23B3E6}"/>
              </a:ext>
            </a:extLst>
          </p:cNvPr>
          <p:cNvSpPr/>
          <p:nvPr/>
        </p:nvSpPr>
        <p:spPr>
          <a:xfrm>
            <a:off x="7575517" y="1935616"/>
            <a:ext cx="2844800" cy="1142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Fairness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AF998D7-E5CE-C762-F0A2-6249BC313B50}"/>
              </a:ext>
            </a:extLst>
          </p:cNvPr>
          <p:cNvSpPr/>
          <p:nvPr/>
        </p:nvSpPr>
        <p:spPr>
          <a:xfrm>
            <a:off x="7575517" y="2768788"/>
            <a:ext cx="2844800" cy="1142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Respect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5A61A25-E516-8D38-90FF-7E2AD3A4A56E}"/>
              </a:ext>
            </a:extLst>
          </p:cNvPr>
          <p:cNvSpPr/>
          <p:nvPr/>
        </p:nvSpPr>
        <p:spPr>
          <a:xfrm>
            <a:off x="7575517" y="3536055"/>
            <a:ext cx="2844800" cy="1142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Transparency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B4E2E94-7CCA-7561-8348-DA1D7D6665A7}"/>
              </a:ext>
            </a:extLst>
          </p:cNvPr>
          <p:cNvSpPr/>
          <p:nvPr/>
        </p:nvSpPr>
        <p:spPr>
          <a:xfrm>
            <a:off x="7575517" y="4369227"/>
            <a:ext cx="2844800" cy="1142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Accountability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6D276C-F7AA-05F4-0683-B3A0F55246CC}"/>
              </a:ext>
            </a:extLst>
          </p:cNvPr>
          <p:cNvSpPr txBox="1"/>
          <p:nvPr/>
        </p:nvSpPr>
        <p:spPr>
          <a:xfrm>
            <a:off x="1853061" y="1472154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Motivations</a:t>
            </a:r>
          </a:p>
        </p:txBody>
      </p:sp>
    </p:spTree>
    <p:extLst>
      <p:ext uri="{BB962C8B-B14F-4D97-AF65-F5344CB8AC3E}">
        <p14:creationId xmlns:p14="http://schemas.microsoft.com/office/powerpoint/2010/main" val="214729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02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ur People - Red Image 2" id="{A52C8BB7-D663-DE4E-B8AA-6A70175CCCC4}" vid="{2E67EF9B-6564-4E4B-A6A6-7E0AB2FBF6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9D7B3F-02A8-4A97-B84F-84BD35B17B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FEF16A-996A-489C-9E04-E7B40AD78332}">
  <ds:schemaRefs>
    <ds:schemaRef ds:uri="http://schemas.microsoft.com/office/2006/metadata/properties"/>
    <ds:schemaRef ds:uri="http://schemas.microsoft.com/office/infopath/2007/PartnerControls"/>
    <ds:schemaRef ds:uri="16e6069a-04c5-46f1-8e4a-493411be9f6d"/>
    <ds:schemaRef ds:uri="bfac00ad-cf50-4b2f-bc6d-6973bf4a0f43"/>
  </ds:schemaRefs>
</ds:datastoreItem>
</file>

<file path=customXml/itemProps3.xml><?xml version="1.0" encoding="utf-8"?>
<ds:datastoreItem xmlns:ds="http://schemas.openxmlformats.org/officeDocument/2006/customXml" ds:itemID="{429DBF7B-414B-4277-8843-92D5FA64ECF9}"/>
</file>

<file path=docProps/app.xml><?xml version="1.0" encoding="utf-8"?>
<Properties xmlns="http://schemas.openxmlformats.org/officeDocument/2006/extended-properties" xmlns:vt="http://schemas.openxmlformats.org/officeDocument/2006/docPropsVTypes">
  <Template>Our People - Red Image 2</Template>
  <TotalTime>142</TotalTime>
  <Words>219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Bioethics and Statistical Practice</vt:lpstr>
      <vt:lpstr>Bioethics</vt:lpstr>
      <vt:lpstr>Where do bioethics and statistical practice intersect?</vt:lpstr>
      <vt:lpstr>Balancing Act</vt:lpstr>
      <vt:lpstr>Guidelines help us choose wisely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Bioethics and Statistical Practice</dc:title>
  <dc:creator>Matthew D Rotelli</dc:creator>
  <cp:lastModifiedBy>Matthew D Rotelli</cp:lastModifiedBy>
  <cp:revision>3</cp:revision>
  <dcterms:created xsi:type="dcterms:W3CDTF">2022-08-01T14:58:33Z</dcterms:created>
  <dcterms:modified xsi:type="dcterms:W3CDTF">2023-07-11T13:49:26Z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  <property fmtid="{D5CDD505-2E9C-101B-9397-08002B2CF9AE}" pid="3" name="Order">
    <vt:r8>38900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SIP_Label_d7cde649-2d29-4798-867f-cc7911dc741d_Enabled">
    <vt:lpwstr>true</vt:lpwstr>
  </property>
  <property fmtid="{D5CDD505-2E9C-101B-9397-08002B2CF9AE}" pid="11" name="MSIP_Label_d7cde649-2d29-4798-867f-cc7911dc741d_SetDate">
    <vt:lpwstr>2023-07-11T13:48:15Z</vt:lpwstr>
  </property>
  <property fmtid="{D5CDD505-2E9C-101B-9397-08002B2CF9AE}" pid="12" name="MSIP_Label_d7cde649-2d29-4798-867f-cc7911dc741d_Method">
    <vt:lpwstr>Privileged</vt:lpwstr>
  </property>
  <property fmtid="{D5CDD505-2E9C-101B-9397-08002B2CF9AE}" pid="13" name="MSIP_Label_d7cde649-2d29-4798-867f-cc7911dc741d_Name">
    <vt:lpwstr>d7cde649-2d29-4798-867f-cc7911dc741d</vt:lpwstr>
  </property>
  <property fmtid="{D5CDD505-2E9C-101B-9397-08002B2CF9AE}" pid="14" name="MSIP_Label_d7cde649-2d29-4798-867f-cc7911dc741d_SiteId">
    <vt:lpwstr>18a59a81-eea8-4c30-948a-d8824cdc2580</vt:lpwstr>
  </property>
  <property fmtid="{D5CDD505-2E9C-101B-9397-08002B2CF9AE}" pid="15" name="MSIP_Label_d7cde649-2d29-4798-867f-cc7911dc741d_ActionId">
    <vt:lpwstr>fa4628f3-5d81-42fa-906d-38e9877c5d6c</vt:lpwstr>
  </property>
  <property fmtid="{D5CDD505-2E9C-101B-9397-08002B2CF9AE}" pid="16" name="MSIP_Label_d7cde649-2d29-4798-867f-cc7911dc741d_ContentBits">
    <vt:lpwstr>0</vt:lpwstr>
  </property>
  <property fmtid="{D5CDD505-2E9C-101B-9397-08002B2CF9AE}" pid="17" name="MediaServiceImageTags">
    <vt:lpwstr/>
  </property>
</Properties>
</file>