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presentation.xml" ContentType="application/vnd.openxmlformats-officedocument.presentationml.presentation.main+xml"/>
  <Override PartName="/ppt/slides/slide20.xml" ContentType="application/vnd.openxmlformats-officedocument.presentationml.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authors.xml" ContentType="application/vnd.ms-powerpoint.authors+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1"/>
  </p:sldMasterIdLst>
  <p:notesMasterIdLst>
    <p:notesMasterId r:id="rId22"/>
  </p:notesMasterIdLst>
  <p:handoutMasterIdLst>
    <p:handoutMasterId r:id="rId23"/>
  </p:handoutMasterIdLst>
  <p:sldIdLst>
    <p:sldId id="327" r:id="rId2"/>
    <p:sldId id="345" r:id="rId3"/>
    <p:sldId id="334" r:id="rId4"/>
    <p:sldId id="320" r:id="rId5"/>
    <p:sldId id="341" r:id="rId6"/>
    <p:sldId id="342" r:id="rId7"/>
    <p:sldId id="343" r:id="rId8"/>
    <p:sldId id="344" r:id="rId9"/>
    <p:sldId id="346" r:id="rId10"/>
    <p:sldId id="347" r:id="rId11"/>
    <p:sldId id="352" r:id="rId12"/>
    <p:sldId id="348" r:id="rId13"/>
    <p:sldId id="349" r:id="rId14"/>
    <p:sldId id="350" r:id="rId15"/>
    <p:sldId id="351" r:id="rId16"/>
    <p:sldId id="354" r:id="rId17"/>
    <p:sldId id="353" r:id="rId18"/>
    <p:sldId id="325" r:id="rId19"/>
    <p:sldId id="318" r:id="rId20"/>
    <p:sldId id="322" r:id="rId21"/>
  </p:sldIdLst>
  <p:sldSz cx="9144000" cy="5143500" type="screen16x9"/>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04" userDrawn="1">
          <p15:clr>
            <a:srgbClr val="A4A3A4"/>
          </p15:clr>
        </p15:guide>
        <p15:guide id="2" pos="3360" userDrawn="1">
          <p15:clr>
            <a:srgbClr val="A4A3A4"/>
          </p15:clr>
        </p15:guide>
        <p15:guide id="3" pos="936" userDrawn="1">
          <p15:clr>
            <a:srgbClr val="A4A3A4"/>
          </p15:clr>
        </p15:guide>
        <p15:guide id="4" pos="1608" userDrawn="1">
          <p15:clr>
            <a:srgbClr val="A4A3A4"/>
          </p15:clr>
        </p15:guide>
        <p15:guide id="5" pos="316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985630-5E4A-96A2-F6EF-AB78E70C3D91}" name="Jeri Mulrow" initials="JM" userId="S::JeriMulrow@westat.com::bee5b762-9a9b-4954-afd5-36e77716c024" providerId="AD"/>
  <p188:author id="{F6055B4D-317F-63C8-4734-20610CE29487}" name="Andrew Crisp" initials="AC" userId="S::AndrewCrisp@westat.com::edcedde5-4403-4f0f-9b57-e52076b9545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81B4"/>
    <a:srgbClr val="00ADE5"/>
    <a:srgbClr val="6BCED6"/>
    <a:srgbClr val="D4F0F3"/>
    <a:srgbClr val="10457A"/>
    <a:srgbClr val="00467F"/>
    <a:srgbClr val="007E9D"/>
    <a:srgbClr val="FF00FF"/>
    <a:srgbClr val="A61C20"/>
    <a:srgbClr val="FAA6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autoAdjust="0"/>
    <p:restoredTop sz="94090" autoAdjust="0"/>
  </p:normalViewPr>
  <p:slideViewPr>
    <p:cSldViewPr snapToGrid="0" showGuides="1">
      <p:cViewPr varScale="1">
        <p:scale>
          <a:sx n="83" d="100"/>
          <a:sy n="83" d="100"/>
        </p:scale>
        <p:origin x="936" y="40"/>
      </p:cViewPr>
      <p:guideLst>
        <p:guide orient="horz" pos="2004"/>
        <p:guide pos="3360"/>
        <p:guide pos="936"/>
        <p:guide pos="1608"/>
        <p:guide pos="31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openxmlformats.org/officeDocument/2006/relationships/customXml" Target="../customXml/item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16CC0F-3E16-0C48-83CA-42351AB27312}"/>
              </a:ext>
            </a:extLst>
          </p:cNvPr>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a:extLst>
              <a:ext uri="{FF2B5EF4-FFF2-40B4-BE49-F238E27FC236}">
                <a16:creationId xmlns:a16="http://schemas.microsoft.com/office/drawing/2014/main" id="{71966B4D-25CD-B84F-B100-CC511C7837BB}"/>
              </a:ext>
            </a:extLst>
          </p:cNvPr>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01EB6791-5CE1-A144-85FF-3A54CAE88D2C}" type="datetimeFigureOut">
              <a:rPr lang="en-US" smtClean="0"/>
              <a:t>7/17/2023</a:t>
            </a:fld>
            <a:endParaRPr lang="en-US"/>
          </a:p>
        </p:txBody>
      </p:sp>
      <p:sp>
        <p:nvSpPr>
          <p:cNvPr id="4" name="Footer Placeholder 3">
            <a:extLst>
              <a:ext uri="{FF2B5EF4-FFF2-40B4-BE49-F238E27FC236}">
                <a16:creationId xmlns:a16="http://schemas.microsoft.com/office/drawing/2014/main" id="{6B148D97-C13F-9A44-B1BB-58F9D4ACE302}"/>
              </a:ext>
            </a:extLst>
          </p:cNvPr>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C50AA9A-5A4B-F74E-961A-420255C92E6F}"/>
              </a:ext>
            </a:extLst>
          </p:cNvPr>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42C8CFC7-FC2D-434B-8AF3-3B8FD6DDBC6E}" type="slidenum">
              <a:rPr lang="en-US" smtClean="0"/>
              <a:t>‹#›</a:t>
            </a:fld>
            <a:endParaRPr lang="en-US"/>
          </a:p>
        </p:txBody>
      </p:sp>
    </p:spTree>
    <p:extLst>
      <p:ext uri="{BB962C8B-B14F-4D97-AF65-F5344CB8AC3E}">
        <p14:creationId xmlns:p14="http://schemas.microsoft.com/office/powerpoint/2010/main" val="9289790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88DB285-EC0E-42D8-88C4-3625BAF16DBA}" type="datetimeFigureOut">
              <a:rPr lang="en-US" smtClean="0"/>
              <a:t>7/17/2023</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5E540036-C79D-4A47-ABEA-AB9642CF78AD}" type="slidenum">
              <a:rPr lang="en-US" smtClean="0"/>
              <a:t>‹#›</a:t>
            </a:fld>
            <a:endParaRPr lang="en-US"/>
          </a:p>
        </p:txBody>
      </p:sp>
    </p:spTree>
    <p:extLst>
      <p:ext uri="{BB962C8B-B14F-4D97-AF65-F5344CB8AC3E}">
        <p14:creationId xmlns:p14="http://schemas.microsoft.com/office/powerpoint/2010/main" val="207775518"/>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1</a:t>
            </a:fld>
            <a:endParaRPr lang="en-US"/>
          </a:p>
        </p:txBody>
      </p:sp>
    </p:spTree>
    <p:extLst>
      <p:ext uri="{BB962C8B-B14F-4D97-AF65-F5344CB8AC3E}">
        <p14:creationId xmlns:p14="http://schemas.microsoft.com/office/powerpoint/2010/main" val="2848337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3</a:t>
            </a:fld>
            <a:endParaRPr lang="en-US"/>
          </a:p>
        </p:txBody>
      </p:sp>
    </p:spTree>
    <p:extLst>
      <p:ext uri="{BB962C8B-B14F-4D97-AF65-F5344CB8AC3E}">
        <p14:creationId xmlns:p14="http://schemas.microsoft.com/office/powerpoint/2010/main" val="2003228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4</a:t>
            </a:fld>
            <a:endParaRPr lang="en-US"/>
          </a:p>
        </p:txBody>
      </p:sp>
    </p:spTree>
    <p:extLst>
      <p:ext uri="{BB962C8B-B14F-4D97-AF65-F5344CB8AC3E}">
        <p14:creationId xmlns:p14="http://schemas.microsoft.com/office/powerpoint/2010/main" val="3196486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5</a:t>
            </a:fld>
            <a:endParaRPr lang="en-US"/>
          </a:p>
        </p:txBody>
      </p:sp>
    </p:spTree>
    <p:extLst>
      <p:ext uri="{BB962C8B-B14F-4D97-AF65-F5344CB8AC3E}">
        <p14:creationId xmlns:p14="http://schemas.microsoft.com/office/powerpoint/2010/main" val="2653446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6</a:t>
            </a:fld>
            <a:endParaRPr lang="en-US"/>
          </a:p>
        </p:txBody>
      </p:sp>
    </p:spTree>
    <p:extLst>
      <p:ext uri="{BB962C8B-B14F-4D97-AF65-F5344CB8AC3E}">
        <p14:creationId xmlns:p14="http://schemas.microsoft.com/office/powerpoint/2010/main" val="3339633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7</a:t>
            </a:fld>
            <a:endParaRPr lang="en-US"/>
          </a:p>
        </p:txBody>
      </p:sp>
    </p:spTree>
    <p:extLst>
      <p:ext uri="{BB962C8B-B14F-4D97-AF65-F5344CB8AC3E}">
        <p14:creationId xmlns:p14="http://schemas.microsoft.com/office/powerpoint/2010/main" val="1335832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8</a:t>
            </a:fld>
            <a:endParaRPr lang="en-US"/>
          </a:p>
        </p:txBody>
      </p:sp>
    </p:spTree>
    <p:extLst>
      <p:ext uri="{BB962C8B-B14F-4D97-AF65-F5344CB8AC3E}">
        <p14:creationId xmlns:p14="http://schemas.microsoft.com/office/powerpoint/2010/main" val="1620958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9</a:t>
            </a:fld>
            <a:endParaRPr lang="en-US"/>
          </a:p>
        </p:txBody>
      </p:sp>
    </p:spTree>
    <p:extLst>
      <p:ext uri="{BB962C8B-B14F-4D97-AF65-F5344CB8AC3E}">
        <p14:creationId xmlns:p14="http://schemas.microsoft.com/office/powerpoint/2010/main" val="1330662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11</a:t>
            </a:fld>
            <a:endParaRPr lang="en-US"/>
          </a:p>
        </p:txBody>
      </p:sp>
    </p:spTree>
    <p:extLst>
      <p:ext uri="{BB962C8B-B14F-4D97-AF65-F5344CB8AC3E}">
        <p14:creationId xmlns:p14="http://schemas.microsoft.com/office/powerpoint/2010/main" val="3908542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12</a:t>
            </a:fld>
            <a:endParaRPr lang="en-US"/>
          </a:p>
        </p:txBody>
      </p:sp>
    </p:spTree>
    <p:extLst>
      <p:ext uri="{BB962C8B-B14F-4D97-AF65-F5344CB8AC3E}">
        <p14:creationId xmlns:p14="http://schemas.microsoft.com/office/powerpoint/2010/main" val="1502442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13</a:t>
            </a:fld>
            <a:endParaRPr lang="en-US"/>
          </a:p>
        </p:txBody>
      </p:sp>
    </p:spTree>
    <p:extLst>
      <p:ext uri="{BB962C8B-B14F-4D97-AF65-F5344CB8AC3E}">
        <p14:creationId xmlns:p14="http://schemas.microsoft.com/office/powerpoint/2010/main" val="1153915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14</a:t>
            </a:fld>
            <a:endParaRPr lang="en-US"/>
          </a:p>
        </p:txBody>
      </p:sp>
    </p:spTree>
    <p:extLst>
      <p:ext uri="{BB962C8B-B14F-4D97-AF65-F5344CB8AC3E}">
        <p14:creationId xmlns:p14="http://schemas.microsoft.com/office/powerpoint/2010/main" val="24841755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16</a:t>
            </a:fld>
            <a:endParaRPr lang="en-US"/>
          </a:p>
        </p:txBody>
      </p:sp>
    </p:spTree>
    <p:extLst>
      <p:ext uri="{BB962C8B-B14F-4D97-AF65-F5344CB8AC3E}">
        <p14:creationId xmlns:p14="http://schemas.microsoft.com/office/powerpoint/2010/main" val="33858871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17</a:t>
            </a:fld>
            <a:endParaRPr lang="en-US"/>
          </a:p>
        </p:txBody>
      </p:sp>
    </p:spTree>
    <p:extLst>
      <p:ext uri="{BB962C8B-B14F-4D97-AF65-F5344CB8AC3E}">
        <p14:creationId xmlns:p14="http://schemas.microsoft.com/office/powerpoint/2010/main" val="1746398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540036-C79D-4A47-ABEA-AB9642CF78AD}" type="slidenum">
              <a:rPr lang="en-US" smtClean="0"/>
              <a:t>18</a:t>
            </a:fld>
            <a:endParaRPr lang="en-US"/>
          </a:p>
        </p:txBody>
      </p:sp>
    </p:spTree>
    <p:extLst>
      <p:ext uri="{BB962C8B-B14F-4D97-AF65-F5344CB8AC3E}">
        <p14:creationId xmlns:p14="http://schemas.microsoft.com/office/powerpoint/2010/main" val="2469940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40036-C79D-4A47-ABEA-AB9642CF78AD}" type="slidenum">
              <a:rPr lang="en-US" smtClean="0"/>
              <a:t>19</a:t>
            </a:fld>
            <a:endParaRPr lang="en-US"/>
          </a:p>
        </p:txBody>
      </p:sp>
    </p:spTree>
    <p:extLst>
      <p:ext uri="{BB962C8B-B14F-4D97-AF65-F5344CB8AC3E}">
        <p14:creationId xmlns:p14="http://schemas.microsoft.com/office/powerpoint/2010/main" val="19041651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westat.com/"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1" name="Picture 10" descr="Graphical user interface, website&#10;&#10;Description automatically generated">
            <a:extLst>
              <a:ext uri="{FF2B5EF4-FFF2-40B4-BE49-F238E27FC236}">
                <a16:creationId xmlns:a16="http://schemas.microsoft.com/office/drawing/2014/main" id="{EA06B371-FC6D-B244-B9A4-E56FC158F6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Rectangle 3" descr="Westat (logo) Improving Lives Through Research">
            <a:extLst>
              <a:ext uri="{FF2B5EF4-FFF2-40B4-BE49-F238E27FC236}">
                <a16:creationId xmlns:a16="http://schemas.microsoft.com/office/drawing/2014/main" id="{20CDA0E8-FCBE-6F37-125D-0AFD7AA80264}"/>
              </a:ext>
            </a:extLst>
          </p:cNvPr>
          <p:cNvSpPr/>
          <p:nvPr userDrawn="1"/>
        </p:nvSpPr>
        <p:spPr>
          <a:xfrm>
            <a:off x="0" y="0"/>
            <a:ext cx="9144000" cy="510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userDrawn="1">
            <p:ph type="ctrTitle" hasCustomPrompt="1"/>
          </p:nvPr>
        </p:nvSpPr>
        <p:spPr>
          <a:xfrm>
            <a:off x="622002" y="841771"/>
            <a:ext cx="5190969" cy="1692567"/>
          </a:xfrm>
        </p:spPr>
        <p:txBody>
          <a:bodyPr anchor="b">
            <a:normAutofit/>
          </a:bodyPr>
          <a:lstStyle>
            <a:lvl1pPr algn="l">
              <a:lnSpc>
                <a:spcPct val="100000"/>
              </a:lnSpc>
              <a:defRPr sz="2800">
                <a:solidFill>
                  <a:schemeClr val="bg1"/>
                </a:solidFill>
              </a:defRPr>
            </a:lvl1pPr>
          </a:lstStyle>
          <a:p>
            <a:r>
              <a:rPr lang="en-US" dirty="0"/>
              <a:t>Click to edit Master </a:t>
            </a:r>
            <a:br>
              <a:rPr lang="en-US" dirty="0"/>
            </a:br>
            <a:r>
              <a:rPr lang="en-US" dirty="0"/>
              <a:t>title style</a:t>
            </a:r>
          </a:p>
        </p:txBody>
      </p:sp>
      <p:sp>
        <p:nvSpPr>
          <p:cNvPr id="3" name="Subtitle 2"/>
          <p:cNvSpPr>
            <a:spLocks noGrp="1"/>
          </p:cNvSpPr>
          <p:nvPr userDrawn="1">
            <p:ph type="subTitle" idx="1"/>
          </p:nvPr>
        </p:nvSpPr>
        <p:spPr>
          <a:xfrm>
            <a:off x="622002" y="2869176"/>
            <a:ext cx="5113480" cy="437616"/>
          </a:xfrm>
        </p:spPr>
        <p:txBody>
          <a:bodyPr>
            <a:normAutofit/>
          </a:bodyPr>
          <a:lstStyle>
            <a:lvl1pPr marL="0" indent="0" algn="l">
              <a:lnSpc>
                <a:spcPct val="130000"/>
              </a:lnSpc>
              <a:buNone/>
              <a:defRPr sz="16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7" name="TextBox 4a">
            <a:extLst>
              <a:ext uri="{FF2B5EF4-FFF2-40B4-BE49-F238E27FC236}">
                <a16:creationId xmlns:a16="http://schemas.microsoft.com/office/drawing/2014/main" id="{90E0B728-0D5B-4041-9900-6602FAF4C7B7}"/>
              </a:ext>
            </a:extLst>
          </p:cNvPr>
          <p:cNvSpPr txBox="1"/>
          <p:nvPr userDrawn="1"/>
        </p:nvSpPr>
        <p:spPr>
          <a:xfrm>
            <a:off x="629686" y="4449667"/>
            <a:ext cx="6988588" cy="18466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600" kern="1200" dirty="0">
                <a:solidFill>
                  <a:schemeClr val="bg1"/>
                </a:solidFill>
                <a:effectLst/>
                <a:latin typeface="+mn-lt"/>
                <a:ea typeface="+mn-ea"/>
                <a:cs typeface="+mn-cs"/>
              </a:rPr>
              <a:t>The views presented are those of the author(s) and do not represent the views of any Government Agency/Department or </a:t>
            </a:r>
            <a:r>
              <a:rPr lang="en-US" sz="600" kern="1200" dirty="0" err="1">
                <a:solidFill>
                  <a:schemeClr val="bg1"/>
                </a:solidFill>
                <a:effectLst/>
                <a:latin typeface="+mn-lt"/>
                <a:ea typeface="+mn-ea"/>
                <a:cs typeface="+mn-cs"/>
              </a:rPr>
              <a:t>Westat</a:t>
            </a:r>
            <a:r>
              <a:rPr lang="en-US" sz="600" kern="1200" dirty="0">
                <a:solidFill>
                  <a:schemeClr val="bg1"/>
                </a:solidFill>
                <a:effectLst/>
                <a:latin typeface="+mn-lt"/>
                <a:ea typeface="+mn-ea"/>
                <a:cs typeface="+mn-cs"/>
              </a:rPr>
              <a:t>.</a:t>
            </a:r>
          </a:p>
        </p:txBody>
      </p:sp>
    </p:spTree>
    <p:extLst>
      <p:ext uri="{BB962C8B-B14F-4D97-AF65-F5344CB8AC3E}">
        <p14:creationId xmlns:p14="http://schemas.microsoft.com/office/powerpoint/2010/main" val="2214961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10457A"/>
                </a:solidFill>
              </a:defRPr>
            </a:lvl1pPr>
            <a:lvl2pPr>
              <a:defRPr>
                <a:solidFill>
                  <a:srgbClr val="11457A"/>
                </a:solidFill>
              </a:defRPr>
            </a:lvl2pPr>
            <a:lvl3pPr>
              <a:defRPr>
                <a:solidFill>
                  <a:srgbClr val="11457A"/>
                </a:solidFill>
              </a:defRPr>
            </a:lvl3pPr>
            <a:lvl4pPr>
              <a:defRPr>
                <a:solidFill>
                  <a:srgbClr val="11457A"/>
                </a:solidFill>
              </a:defRPr>
            </a:lvl4pPr>
            <a:lvl5pPr>
              <a:defRPr>
                <a:solidFill>
                  <a:srgbClr val="11457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rgbClr val="11457A"/>
                </a:solidFill>
              </a:defRPr>
            </a:lvl1pPr>
          </a:lstStyle>
          <a:p>
            <a:fld id="{CC942E1D-94D0-4C55-B1DD-A28B122FA8E2}" type="slidenum">
              <a:rPr lang="en-US" smtClean="0"/>
              <a:pPr/>
              <a:t>‹#›</a:t>
            </a:fld>
            <a:endParaRPr lang="en-US" dirty="0"/>
          </a:p>
        </p:txBody>
      </p:sp>
    </p:spTree>
    <p:extLst>
      <p:ext uri="{BB962C8B-B14F-4D97-AF65-F5344CB8AC3E}">
        <p14:creationId xmlns:p14="http://schemas.microsoft.com/office/powerpoint/2010/main" val="564155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73FCD8B-1156-5B4A-8937-B90A240AC54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Placeholder 1"/>
          <p:cNvSpPr>
            <a:spLocks noGrp="1"/>
          </p:cNvSpPr>
          <p:nvPr>
            <p:ph type="title"/>
          </p:nvPr>
        </p:nvSpPr>
        <p:spPr>
          <a:xfrm>
            <a:off x="623889" y="1287559"/>
            <a:ext cx="4787010" cy="1859795"/>
          </a:xfrm>
        </p:spPr>
        <p:txBody>
          <a:bodyPr anchor="b">
            <a:normAutofit/>
          </a:bodyPr>
          <a:lstStyle>
            <a:lvl1pPr>
              <a:defRPr sz="2800">
                <a:solidFill>
                  <a:schemeClr val="accent1"/>
                </a:solidFill>
              </a:defRPr>
            </a:lvl1pPr>
          </a:lstStyle>
          <a:p>
            <a:r>
              <a:rPr lang="en-US" dirty="0"/>
              <a:t>Click to edit Master title style</a:t>
            </a:r>
          </a:p>
        </p:txBody>
      </p:sp>
      <p:sp>
        <p:nvSpPr>
          <p:cNvPr id="3" name="Text Placeholder 2"/>
          <p:cNvSpPr>
            <a:spLocks noGrp="1"/>
          </p:cNvSpPr>
          <p:nvPr userDrawn="1">
            <p:ph type="body" idx="1"/>
          </p:nvPr>
        </p:nvSpPr>
        <p:spPr>
          <a:xfrm>
            <a:off x="623888" y="3442098"/>
            <a:ext cx="5841712" cy="1125140"/>
          </a:xfrm>
        </p:spPr>
        <p:txBody>
          <a:bodyPr>
            <a:normAutofit/>
          </a:bodyPr>
          <a:lstStyle>
            <a:lvl1pPr marL="0" indent="0">
              <a:buNone/>
              <a:defRPr sz="1800">
                <a:solidFill>
                  <a:schemeClr val="accent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Edit Master text styles</a:t>
            </a:r>
          </a:p>
        </p:txBody>
      </p:sp>
      <p:sp>
        <p:nvSpPr>
          <p:cNvPr id="4" name="Rectangle 3">
            <a:extLst>
              <a:ext uri="{FF2B5EF4-FFF2-40B4-BE49-F238E27FC236}">
                <a16:creationId xmlns:a16="http://schemas.microsoft.com/office/drawing/2014/main" id="{262629A3-6C72-8241-BE19-096174D20CA0}"/>
              </a:ext>
              <a:ext uri="{C183D7F6-B498-43B3-948B-1728B52AA6E4}">
                <adec:decorative xmlns:adec="http://schemas.microsoft.com/office/drawing/2017/decorative" val="1"/>
              </a:ext>
            </a:extLst>
          </p:cNvPr>
          <p:cNvSpPr/>
          <p:nvPr userDrawn="1"/>
        </p:nvSpPr>
        <p:spPr>
          <a:xfrm>
            <a:off x="6987828" y="4413956"/>
            <a:ext cx="2156172" cy="736599"/>
          </a:xfrm>
          <a:custGeom>
            <a:avLst/>
            <a:gdLst>
              <a:gd name="connsiteX0" fmla="*/ 0 w 2156172"/>
              <a:gd name="connsiteY0" fmla="*/ 0 h 729544"/>
              <a:gd name="connsiteX1" fmla="*/ 2156172 w 2156172"/>
              <a:gd name="connsiteY1" fmla="*/ 0 h 729544"/>
              <a:gd name="connsiteX2" fmla="*/ 2156172 w 2156172"/>
              <a:gd name="connsiteY2" fmla="*/ 729544 h 729544"/>
              <a:gd name="connsiteX3" fmla="*/ 0 w 2156172"/>
              <a:gd name="connsiteY3" fmla="*/ 729544 h 729544"/>
              <a:gd name="connsiteX4" fmla="*/ 0 w 2156172"/>
              <a:gd name="connsiteY4" fmla="*/ 0 h 729544"/>
              <a:gd name="connsiteX0" fmla="*/ 0 w 2156172"/>
              <a:gd name="connsiteY0" fmla="*/ 0 h 729544"/>
              <a:gd name="connsiteX1" fmla="*/ 2156172 w 2156172"/>
              <a:gd name="connsiteY1" fmla="*/ 0 h 729544"/>
              <a:gd name="connsiteX2" fmla="*/ 2156172 w 2156172"/>
              <a:gd name="connsiteY2" fmla="*/ 729544 h 729544"/>
              <a:gd name="connsiteX3" fmla="*/ 417689 w 2156172"/>
              <a:gd name="connsiteY3" fmla="*/ 723899 h 729544"/>
              <a:gd name="connsiteX4" fmla="*/ 0 w 2156172"/>
              <a:gd name="connsiteY4" fmla="*/ 0 h 729544"/>
              <a:gd name="connsiteX0" fmla="*/ 0 w 2156172"/>
              <a:gd name="connsiteY0" fmla="*/ 0 h 777874"/>
              <a:gd name="connsiteX1" fmla="*/ 2156172 w 2156172"/>
              <a:gd name="connsiteY1" fmla="*/ 0 h 777874"/>
              <a:gd name="connsiteX2" fmla="*/ 2156172 w 2156172"/>
              <a:gd name="connsiteY2" fmla="*/ 729544 h 777874"/>
              <a:gd name="connsiteX3" fmla="*/ 449439 w 2156172"/>
              <a:gd name="connsiteY3" fmla="*/ 777874 h 777874"/>
              <a:gd name="connsiteX4" fmla="*/ 0 w 2156172"/>
              <a:gd name="connsiteY4" fmla="*/ 0 h 777874"/>
              <a:gd name="connsiteX0" fmla="*/ 0 w 2156172"/>
              <a:gd name="connsiteY0" fmla="*/ 0 h 736599"/>
              <a:gd name="connsiteX1" fmla="*/ 2156172 w 2156172"/>
              <a:gd name="connsiteY1" fmla="*/ 0 h 736599"/>
              <a:gd name="connsiteX2" fmla="*/ 2156172 w 2156172"/>
              <a:gd name="connsiteY2" fmla="*/ 729544 h 736599"/>
              <a:gd name="connsiteX3" fmla="*/ 427214 w 2156172"/>
              <a:gd name="connsiteY3" fmla="*/ 736599 h 736599"/>
              <a:gd name="connsiteX4" fmla="*/ 0 w 2156172"/>
              <a:gd name="connsiteY4" fmla="*/ 0 h 736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172" h="736599">
                <a:moveTo>
                  <a:pt x="0" y="0"/>
                </a:moveTo>
                <a:lnTo>
                  <a:pt x="2156172" y="0"/>
                </a:lnTo>
                <a:lnTo>
                  <a:pt x="2156172" y="729544"/>
                </a:lnTo>
                <a:lnTo>
                  <a:pt x="427214" y="736599"/>
                </a:lnTo>
                <a:lnTo>
                  <a:pt x="0" y="0"/>
                </a:lnTo>
                <a:close/>
              </a:path>
            </a:pathLst>
          </a:custGeom>
          <a:gradFill>
            <a:gsLst>
              <a:gs pos="0">
                <a:schemeClr val="bg1">
                  <a:alpha val="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6">
            <a:extLst>
              <a:ext uri="{FF2B5EF4-FFF2-40B4-BE49-F238E27FC236}">
                <a16:creationId xmlns:a16="http://schemas.microsoft.com/office/drawing/2014/main" id="{2FE75402-900B-1D4C-83E1-8508D788999D}"/>
              </a:ext>
              <a:ext uri="{C183D7F6-B498-43B3-948B-1728B52AA6E4}">
                <adec:decorative xmlns:adec="http://schemas.microsoft.com/office/drawing/2017/decorative" val="1"/>
              </a:ext>
            </a:extLst>
          </p:cNvPr>
          <p:cNvCxnSpPr/>
          <p:nvPr userDrawn="1"/>
        </p:nvCxnSpPr>
        <p:spPr>
          <a:xfrm>
            <a:off x="8488236" y="4848251"/>
            <a:ext cx="0" cy="339025"/>
          </a:xfrm>
          <a:prstGeom prst="line">
            <a:avLst/>
          </a:prstGeom>
          <a:ln w="9525">
            <a:solidFill>
              <a:srgbClr val="00ADE4"/>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4E8163E9-331A-8740-9F60-48920F09BE34}"/>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64290" y="4906080"/>
            <a:ext cx="939800" cy="88900"/>
          </a:xfrm>
          <a:prstGeom prst="rect">
            <a:avLst/>
          </a:prstGeom>
        </p:spPr>
      </p:pic>
      <p:sp>
        <p:nvSpPr>
          <p:cNvPr id="16" name="Slide Number Placeholder 5">
            <a:extLst>
              <a:ext uri="{FF2B5EF4-FFF2-40B4-BE49-F238E27FC236}">
                <a16:creationId xmlns:a16="http://schemas.microsoft.com/office/drawing/2014/main" id="{0271E872-D058-364E-B6EA-D1CAFAD8A0F3}"/>
              </a:ext>
            </a:extLst>
          </p:cNvPr>
          <p:cNvSpPr>
            <a:spLocks noGrp="1"/>
          </p:cNvSpPr>
          <p:nvPr>
            <p:ph type="sldNum" sz="quarter" idx="12"/>
          </p:nvPr>
        </p:nvSpPr>
        <p:spPr>
          <a:xfrm>
            <a:off x="8515350" y="4804475"/>
            <a:ext cx="628649" cy="273844"/>
          </a:xfrm>
        </p:spPr>
        <p:txBody>
          <a:bodyPr/>
          <a:lstStyle>
            <a:lvl1pPr>
              <a:defRPr>
                <a:solidFill>
                  <a:srgbClr val="11457A"/>
                </a:solidFill>
              </a:defRPr>
            </a:lvl1pPr>
          </a:lstStyle>
          <a:p>
            <a:fld id="{CC942E1D-94D0-4C55-B1DD-A28B122FA8E2}" type="slidenum">
              <a:rPr lang="en-US" smtClean="0"/>
              <a:pPr/>
              <a:t>‹#›</a:t>
            </a:fld>
            <a:endParaRPr lang="en-US" dirty="0"/>
          </a:p>
        </p:txBody>
      </p:sp>
      <p:sp>
        <p:nvSpPr>
          <p:cNvPr id="5" name="Footer Placeholder 4">
            <a:extLst>
              <a:ext uri="{FF2B5EF4-FFF2-40B4-BE49-F238E27FC236}">
                <a16:creationId xmlns:a16="http://schemas.microsoft.com/office/drawing/2014/main" id="{C9DF2816-ADB7-9109-745E-C6BD204BB0CF}"/>
              </a:ext>
              <a:ext uri="{C183D7F6-B498-43B3-948B-1728B52AA6E4}">
                <adec:decorative xmlns:adec="http://schemas.microsoft.com/office/drawing/2017/decorative" val="1"/>
              </a:ext>
            </a:extLst>
          </p:cNvPr>
          <p:cNvSpPr txBox="1">
            <a:spLocks/>
          </p:cNvSpPr>
          <p:nvPr userDrawn="1"/>
        </p:nvSpPr>
        <p:spPr>
          <a:xfrm>
            <a:off x="622002" y="4818763"/>
            <a:ext cx="5503970" cy="273844"/>
          </a:xfrm>
          <a:prstGeom prst="rect">
            <a:avLst/>
          </a:prstGeom>
        </p:spPr>
        <p:txBody>
          <a:bodyPr/>
          <a:lstStyle>
            <a:defPPr>
              <a:defRPr lang="en-US"/>
            </a:defPPr>
            <a:lvl1pPr marL="0" algn="l" defTabSz="457200" rtl="0" eaLnBrk="1" latinLnBrk="0" hangingPunct="1">
              <a:defRPr lang="en-US" sz="900" kern="1200" dirty="0">
                <a:solidFill>
                  <a:srgbClr val="003C68"/>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Westat @ </a:t>
            </a:r>
            <a:r>
              <a:rPr lang="en-US" b="1" dirty="0"/>
              <a:t>CSP 2023</a:t>
            </a:r>
          </a:p>
        </p:txBody>
      </p:sp>
    </p:spTree>
    <p:extLst>
      <p:ext uri="{BB962C8B-B14F-4D97-AF65-F5344CB8AC3E}">
        <p14:creationId xmlns:p14="http://schemas.microsoft.com/office/powerpoint/2010/main" val="1023452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052698"/>
            <a:ext cx="3886200" cy="3263504"/>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9150" y="1052698"/>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2"/>
          </p:nvPr>
        </p:nvSpPr>
        <p:spPr/>
        <p:txBody>
          <a:bodyPr/>
          <a:lstStyle/>
          <a:p>
            <a:fld id="{CC942E1D-94D0-4C55-B1DD-A28B122FA8E2}" type="slidenum">
              <a:rPr lang="en-US" smtClean="0"/>
              <a:t>‹#›</a:t>
            </a:fld>
            <a:endParaRPr lang="en-US"/>
          </a:p>
        </p:txBody>
      </p:sp>
    </p:spTree>
    <p:extLst>
      <p:ext uri="{BB962C8B-B14F-4D97-AF65-F5344CB8AC3E}">
        <p14:creationId xmlns:p14="http://schemas.microsoft.com/office/powerpoint/2010/main" val="78034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Content Placeholder 3"/>
          <p:cNvSpPr>
            <a:spLocks noGrp="1"/>
          </p:cNvSpPr>
          <p:nvPr>
            <p:ph sz="half" idx="2"/>
          </p:nvPr>
        </p:nvSpPr>
        <p:spPr>
          <a:xfrm>
            <a:off x="2552700" y="1052698"/>
            <a:ext cx="5962650" cy="3263504"/>
          </a:xfrm>
        </p:spPr>
        <p:txBody>
          <a:bodyPr/>
          <a:lstStyle>
            <a:lvl1pPr>
              <a:defRPr sz="1400"/>
            </a:lvl1pPr>
            <a:lvl2pPr>
              <a:defRPr sz="1400"/>
            </a:lvl2pPr>
            <a:lvl3pPr>
              <a:defRPr sz="14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half" idx="1"/>
          </p:nvPr>
        </p:nvSpPr>
        <p:spPr>
          <a:xfrm>
            <a:off x="628650" y="1052698"/>
            <a:ext cx="1747785" cy="2645095"/>
          </a:xfrm>
        </p:spPr>
        <p:txBody>
          <a:bodyPr/>
          <a:lstStyle>
            <a:lvl1pPr>
              <a:defRPr sz="1400"/>
            </a:lvl1pPr>
            <a:lvl2pPr>
              <a:defRPr sz="1400"/>
            </a:lvl2pPr>
            <a:lvl3pPr>
              <a:defRPr sz="14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a:extLst>
              <a:ext uri="{FF2B5EF4-FFF2-40B4-BE49-F238E27FC236}">
                <a16:creationId xmlns:a16="http://schemas.microsoft.com/office/drawing/2014/main" id="{7B43C8E0-1118-23FB-EB10-53D5DC697DB5}"/>
              </a:ext>
            </a:extLst>
          </p:cNvPr>
          <p:cNvSpPr>
            <a:spLocks noGrp="1"/>
          </p:cNvSpPr>
          <p:nvPr>
            <p:ph type="body" sz="quarter" idx="13"/>
          </p:nvPr>
        </p:nvSpPr>
        <p:spPr>
          <a:xfrm>
            <a:off x="723900" y="3760788"/>
            <a:ext cx="1828800" cy="936625"/>
          </a:xfrm>
        </p:spPr>
        <p:txBody>
          <a:bodyPr lIns="0"/>
          <a:lstStyle>
            <a:lvl1pPr marL="4763" indent="0">
              <a:lnSpc>
                <a:spcPts val="1400"/>
              </a:lnSpc>
              <a:buNone/>
              <a:tabLst/>
              <a:defRPr sz="1100"/>
            </a:lvl1pPr>
            <a:lvl2pPr marL="4763" indent="0">
              <a:buNone/>
              <a:tabLst/>
              <a:defRPr sz="1100"/>
            </a:lvl2pPr>
            <a:lvl3pPr marL="4763" indent="0">
              <a:buNone/>
              <a:tabLst/>
              <a:defRPr sz="1100"/>
            </a:lvl3pPr>
            <a:lvl4pPr marL="4763" indent="0">
              <a:buNone/>
              <a:tabLst/>
              <a:defRPr sz="1100"/>
            </a:lvl4pPr>
            <a:lvl5pPr marL="4763" indent="0">
              <a:buNone/>
              <a:tabLst/>
              <a:defRPr sz="1100"/>
            </a:lvl5pPr>
          </a:lstStyle>
          <a:p>
            <a:pPr lvl="0"/>
            <a:r>
              <a:rPr lang="en-US" dirty="0"/>
              <a:t>Click to edit Master text styles</a:t>
            </a:r>
          </a:p>
        </p:txBody>
      </p:sp>
      <p:sp>
        <p:nvSpPr>
          <p:cNvPr id="7" name="Slide Number Placeholder 5"/>
          <p:cNvSpPr>
            <a:spLocks noGrp="1"/>
          </p:cNvSpPr>
          <p:nvPr>
            <p:ph type="sldNum" sz="quarter" idx="12"/>
          </p:nvPr>
        </p:nvSpPr>
        <p:spPr/>
        <p:txBody>
          <a:bodyPr/>
          <a:lstStyle/>
          <a:p>
            <a:fld id="{CC942E1D-94D0-4C55-B1DD-A28B122FA8E2}" type="slidenum">
              <a:rPr lang="en-US" smtClean="0"/>
              <a:t>‹#›</a:t>
            </a:fld>
            <a:endParaRPr lang="en-US"/>
          </a:p>
        </p:txBody>
      </p:sp>
    </p:spTree>
    <p:extLst>
      <p:ext uri="{BB962C8B-B14F-4D97-AF65-F5344CB8AC3E}">
        <p14:creationId xmlns:p14="http://schemas.microsoft.com/office/powerpoint/2010/main" val="207676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60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hree Content Are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052698"/>
            <a:ext cx="3886200" cy="20187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052698"/>
            <a:ext cx="3886200" cy="20187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4"/>
          <p:cNvSpPr>
            <a:spLocks noGrp="1"/>
          </p:cNvSpPr>
          <p:nvPr>
            <p:ph sz="half" idx="13"/>
          </p:nvPr>
        </p:nvSpPr>
        <p:spPr>
          <a:xfrm>
            <a:off x="628650" y="3124752"/>
            <a:ext cx="7886700" cy="138863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CC942E1D-94D0-4C55-B1DD-A28B122FA8E2}" type="slidenum">
              <a:rPr lang="en-US" smtClean="0"/>
              <a:t>‹#›</a:t>
            </a:fld>
            <a:endParaRPr lang="en-US"/>
          </a:p>
        </p:txBody>
      </p:sp>
    </p:spTree>
    <p:extLst>
      <p:ext uri="{BB962C8B-B14F-4D97-AF65-F5344CB8AC3E}">
        <p14:creationId xmlns:p14="http://schemas.microsoft.com/office/powerpoint/2010/main" val="2702451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E307748-7CC5-A748-ABF3-E1A255A6C115}"/>
              </a:ext>
            </a:extLst>
          </p:cNvPr>
          <p:cNvSpPr>
            <a:spLocks noGrp="1"/>
          </p:cNvSpPr>
          <p:nvPr>
            <p:ph type="title"/>
          </p:nvPr>
        </p:nvSpPr>
        <p:spPr>
          <a:xfrm>
            <a:off x="628650" y="0"/>
            <a:ext cx="7450342" cy="6932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75678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4" name="Content Placeholder 3"/>
          <p:cNvSpPr>
            <a:spLocks noGrp="1"/>
          </p:cNvSpPr>
          <p:nvPr>
            <p:ph sz="half" idx="2"/>
          </p:nvPr>
        </p:nvSpPr>
        <p:spPr>
          <a:xfrm>
            <a:off x="629842" y="1374716"/>
            <a:ext cx="3868340" cy="312694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75678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374716"/>
            <a:ext cx="3887391" cy="31269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7">
            <a:extLst>
              <a:ext uri="{C183D7F6-B498-43B3-948B-1728B52AA6E4}">
                <adec:decorative xmlns:adec="http://schemas.microsoft.com/office/drawing/2017/decorative" val="1"/>
              </a:ext>
            </a:extLst>
          </p:cNvPr>
          <p:cNvSpPr>
            <a:spLocks noGrp="1"/>
          </p:cNvSpPr>
          <p:nvPr>
            <p:ph type="sldNum" sz="quarter" idx="12"/>
          </p:nvPr>
        </p:nvSpPr>
        <p:spPr/>
        <p:txBody>
          <a:bodyPr/>
          <a:lstStyle/>
          <a:p>
            <a:fld id="{CC942E1D-94D0-4C55-B1DD-A28B122FA8E2}" type="slidenum">
              <a:rPr lang="en-US" smtClean="0"/>
              <a:t>‹#›</a:t>
            </a:fld>
            <a:endParaRPr lang="en-US"/>
          </a:p>
        </p:txBody>
      </p:sp>
    </p:spTree>
    <p:extLst>
      <p:ext uri="{BB962C8B-B14F-4D97-AF65-F5344CB8AC3E}">
        <p14:creationId xmlns:p14="http://schemas.microsoft.com/office/powerpoint/2010/main" val="2686045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Column with Image">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D07E84F-2C87-5644-8489-15D4017B33D1}"/>
              </a:ext>
            </a:extLst>
          </p:cNvPr>
          <p:cNvSpPr>
            <a:spLocks noGrp="1"/>
          </p:cNvSpPr>
          <p:nvPr>
            <p:ph type="title"/>
          </p:nvPr>
        </p:nvSpPr>
        <p:spPr>
          <a:xfrm>
            <a:off x="628650" y="0"/>
            <a:ext cx="7450342" cy="693279"/>
          </a:xfrm>
        </p:spPr>
        <p:txBody>
          <a:bodyPr/>
          <a:lstStyle/>
          <a:p>
            <a:r>
              <a:rPr lang="en-US"/>
              <a:t>Click to edit Master title style</a:t>
            </a:r>
            <a:endParaRPr lang="en-US" dirty="0"/>
          </a:p>
        </p:txBody>
      </p:sp>
      <p:sp>
        <p:nvSpPr>
          <p:cNvPr id="11" name="Picture Placeholder 2">
            <a:extLst>
              <a:ext uri="{FF2B5EF4-FFF2-40B4-BE49-F238E27FC236}">
                <a16:creationId xmlns:a16="http://schemas.microsoft.com/office/drawing/2014/main" id="{CE072930-C0FF-A444-A224-42097B63AF9E}"/>
              </a:ext>
            </a:extLst>
          </p:cNvPr>
          <p:cNvSpPr>
            <a:spLocks noGrp="1"/>
          </p:cNvSpPr>
          <p:nvPr>
            <p:ph type="pic" sz="quarter" idx="13"/>
          </p:nvPr>
        </p:nvSpPr>
        <p:spPr>
          <a:xfrm>
            <a:off x="1034283" y="832162"/>
            <a:ext cx="1620837" cy="1620838"/>
          </a:xfrm>
        </p:spPr>
        <p:txBody>
          <a:bodyPr lIns="0" tIns="0" rIns="0" bIns="0"/>
          <a:lstStyle/>
          <a:p>
            <a:endParaRPr lang="en-US"/>
          </a:p>
        </p:txBody>
      </p:sp>
      <p:sp>
        <p:nvSpPr>
          <p:cNvPr id="3" name="Text Placeholder 3"/>
          <p:cNvSpPr>
            <a:spLocks noGrp="1"/>
          </p:cNvSpPr>
          <p:nvPr>
            <p:ph type="body" idx="1"/>
          </p:nvPr>
        </p:nvSpPr>
        <p:spPr>
          <a:xfrm>
            <a:off x="830729" y="2514150"/>
            <a:ext cx="2027947" cy="628649"/>
          </a:xfrm>
        </p:spPr>
        <p:txBody>
          <a:bodyPr anchor="b"/>
          <a:lstStyle>
            <a:lvl1pPr marL="0" indent="0">
              <a:buNone/>
              <a:defRPr sz="1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4" name="Content Placeholder 4"/>
          <p:cNvSpPr>
            <a:spLocks noGrp="1"/>
          </p:cNvSpPr>
          <p:nvPr>
            <p:ph sz="half" idx="2"/>
          </p:nvPr>
        </p:nvSpPr>
        <p:spPr>
          <a:xfrm>
            <a:off x="763557" y="3197438"/>
            <a:ext cx="2095119" cy="1549437"/>
          </a:xfrm>
        </p:spPr>
        <p:txBody>
          <a:bodyPr/>
          <a:lstStyle>
            <a:lvl1pPr marL="57150" indent="0">
              <a:buNone/>
              <a:defRPr sz="1400"/>
            </a:lvl1pPr>
            <a:lvl2pPr marL="288925" indent="0">
              <a:buNone/>
              <a:defRPr sz="1400"/>
            </a:lvl2pPr>
            <a:lvl3pPr marL="457200" indent="0">
              <a:buNone/>
              <a:defRPr sz="1400"/>
            </a:lvl3pPr>
          </a:lstStyle>
          <a:p>
            <a:pPr lvl="0"/>
            <a:r>
              <a:rPr lang="en-US" dirty="0"/>
              <a:t>Edit Master text styles</a:t>
            </a:r>
          </a:p>
        </p:txBody>
      </p:sp>
      <p:sp>
        <p:nvSpPr>
          <p:cNvPr id="14" name="Picture Placeholder 5">
            <a:extLst>
              <a:ext uri="{FF2B5EF4-FFF2-40B4-BE49-F238E27FC236}">
                <a16:creationId xmlns:a16="http://schemas.microsoft.com/office/drawing/2014/main" id="{B4F36C03-CC92-844C-9E52-E82651892B46}"/>
              </a:ext>
            </a:extLst>
          </p:cNvPr>
          <p:cNvSpPr>
            <a:spLocks noGrp="1"/>
          </p:cNvSpPr>
          <p:nvPr>
            <p:ph type="pic" sz="quarter" idx="16"/>
          </p:nvPr>
        </p:nvSpPr>
        <p:spPr>
          <a:xfrm>
            <a:off x="3767041" y="832162"/>
            <a:ext cx="1620837" cy="1620838"/>
          </a:xfrm>
        </p:spPr>
        <p:txBody>
          <a:bodyPr lIns="0" tIns="0" rIns="0" bIns="0"/>
          <a:lstStyle/>
          <a:p>
            <a:endParaRPr lang="en-US"/>
          </a:p>
        </p:txBody>
      </p:sp>
      <p:sp>
        <p:nvSpPr>
          <p:cNvPr id="12" name="Text Placeholder 6">
            <a:extLst>
              <a:ext uri="{FF2B5EF4-FFF2-40B4-BE49-F238E27FC236}">
                <a16:creationId xmlns:a16="http://schemas.microsoft.com/office/drawing/2014/main" id="{2CF5D8F9-9EA2-7943-BCBB-6D0A04FF4EFC}"/>
              </a:ext>
            </a:extLst>
          </p:cNvPr>
          <p:cNvSpPr>
            <a:spLocks noGrp="1"/>
          </p:cNvSpPr>
          <p:nvPr>
            <p:ph type="body" idx="14"/>
          </p:nvPr>
        </p:nvSpPr>
        <p:spPr>
          <a:xfrm>
            <a:off x="3563487" y="2514150"/>
            <a:ext cx="2027947" cy="628649"/>
          </a:xfrm>
        </p:spPr>
        <p:txBody>
          <a:bodyPr anchor="b"/>
          <a:lstStyle>
            <a:lvl1pPr marL="0" indent="0">
              <a:buNone/>
              <a:defRPr sz="1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13" name="Content Placeholder 7">
            <a:extLst>
              <a:ext uri="{FF2B5EF4-FFF2-40B4-BE49-F238E27FC236}">
                <a16:creationId xmlns:a16="http://schemas.microsoft.com/office/drawing/2014/main" id="{53419348-800F-9D45-BE3E-4292835E094E}"/>
              </a:ext>
            </a:extLst>
          </p:cNvPr>
          <p:cNvSpPr>
            <a:spLocks noGrp="1"/>
          </p:cNvSpPr>
          <p:nvPr>
            <p:ph sz="half" idx="15"/>
          </p:nvPr>
        </p:nvSpPr>
        <p:spPr>
          <a:xfrm>
            <a:off x="3496315" y="3197438"/>
            <a:ext cx="2095119" cy="1549437"/>
          </a:xfrm>
        </p:spPr>
        <p:txBody>
          <a:bodyPr/>
          <a:lstStyle>
            <a:lvl1pPr marL="57150" indent="0">
              <a:buNone/>
              <a:defRPr sz="1400"/>
            </a:lvl1pPr>
            <a:lvl2pPr marL="288925" indent="0">
              <a:buNone/>
              <a:defRPr sz="1400"/>
            </a:lvl2pPr>
            <a:lvl3pPr marL="457200" indent="0">
              <a:buNone/>
              <a:defRPr sz="1400"/>
            </a:lvl3pPr>
          </a:lstStyle>
          <a:p>
            <a:pPr lvl="0"/>
            <a:r>
              <a:rPr lang="en-US" dirty="0"/>
              <a:t>Edit Master text styles</a:t>
            </a:r>
          </a:p>
        </p:txBody>
      </p:sp>
      <p:sp>
        <p:nvSpPr>
          <p:cNvPr id="17" name="Picture Placeholder 8">
            <a:extLst>
              <a:ext uri="{FF2B5EF4-FFF2-40B4-BE49-F238E27FC236}">
                <a16:creationId xmlns:a16="http://schemas.microsoft.com/office/drawing/2014/main" id="{1938FDE5-CD69-DE4A-8653-EEFC3668C816}"/>
              </a:ext>
            </a:extLst>
          </p:cNvPr>
          <p:cNvSpPr>
            <a:spLocks noGrp="1"/>
          </p:cNvSpPr>
          <p:nvPr>
            <p:ph type="pic" sz="quarter" idx="19"/>
          </p:nvPr>
        </p:nvSpPr>
        <p:spPr>
          <a:xfrm>
            <a:off x="6562233" y="832162"/>
            <a:ext cx="1620837" cy="1620838"/>
          </a:xfrm>
        </p:spPr>
        <p:txBody>
          <a:bodyPr lIns="0" tIns="0" rIns="0" bIns="0"/>
          <a:lstStyle/>
          <a:p>
            <a:endParaRPr lang="en-US"/>
          </a:p>
        </p:txBody>
      </p:sp>
      <p:sp>
        <p:nvSpPr>
          <p:cNvPr id="15" name="Text Placeholder 9">
            <a:extLst>
              <a:ext uri="{FF2B5EF4-FFF2-40B4-BE49-F238E27FC236}">
                <a16:creationId xmlns:a16="http://schemas.microsoft.com/office/drawing/2014/main" id="{A0C02D4F-4FE3-EA42-BAF5-939FA276E787}"/>
              </a:ext>
            </a:extLst>
          </p:cNvPr>
          <p:cNvSpPr>
            <a:spLocks noGrp="1"/>
          </p:cNvSpPr>
          <p:nvPr>
            <p:ph type="body" idx="17"/>
          </p:nvPr>
        </p:nvSpPr>
        <p:spPr>
          <a:xfrm>
            <a:off x="6358679" y="2514150"/>
            <a:ext cx="2027947" cy="628649"/>
          </a:xfrm>
        </p:spPr>
        <p:txBody>
          <a:bodyPr anchor="b"/>
          <a:lstStyle>
            <a:lvl1pPr marL="0" indent="0">
              <a:buNone/>
              <a:defRPr sz="1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16" name="Content Placeholder 10">
            <a:extLst>
              <a:ext uri="{FF2B5EF4-FFF2-40B4-BE49-F238E27FC236}">
                <a16:creationId xmlns:a16="http://schemas.microsoft.com/office/drawing/2014/main" id="{8C07A148-2BF5-544F-B02F-5628EF90E8E8}"/>
              </a:ext>
            </a:extLst>
          </p:cNvPr>
          <p:cNvSpPr>
            <a:spLocks noGrp="1"/>
          </p:cNvSpPr>
          <p:nvPr>
            <p:ph sz="half" idx="18"/>
          </p:nvPr>
        </p:nvSpPr>
        <p:spPr>
          <a:xfrm>
            <a:off x="6291507" y="3197438"/>
            <a:ext cx="2095119" cy="1549437"/>
          </a:xfrm>
        </p:spPr>
        <p:txBody>
          <a:bodyPr/>
          <a:lstStyle>
            <a:lvl1pPr marL="57150" indent="0">
              <a:buNone/>
              <a:defRPr sz="1400"/>
            </a:lvl1pPr>
            <a:lvl2pPr marL="288925" indent="0">
              <a:buNone/>
              <a:defRPr sz="1400"/>
            </a:lvl2pPr>
            <a:lvl3pPr marL="457200" indent="0">
              <a:buNone/>
              <a:defRPr sz="1400"/>
            </a:lvl3pPr>
          </a:lstStyle>
          <a:p>
            <a:pPr lvl="0"/>
            <a:r>
              <a:rPr lang="en-US" dirty="0"/>
              <a:t>Edit Master text styles</a:t>
            </a:r>
          </a:p>
        </p:txBody>
      </p:sp>
      <p:sp>
        <p:nvSpPr>
          <p:cNvPr id="9" name="Slide Number Placeholder 12"/>
          <p:cNvSpPr>
            <a:spLocks noGrp="1"/>
          </p:cNvSpPr>
          <p:nvPr>
            <p:ph type="sldNum" sz="quarter" idx="12"/>
          </p:nvPr>
        </p:nvSpPr>
        <p:spPr/>
        <p:txBody>
          <a:bodyPr/>
          <a:lstStyle/>
          <a:p>
            <a:fld id="{CC942E1D-94D0-4C55-B1DD-A28B122FA8E2}" type="slidenum">
              <a:rPr lang="en-US" smtClean="0"/>
              <a:t>‹#›</a:t>
            </a:fld>
            <a:endParaRPr lang="en-US"/>
          </a:p>
        </p:txBody>
      </p:sp>
    </p:spTree>
    <p:extLst>
      <p:ext uri="{BB962C8B-B14F-4D97-AF65-F5344CB8AC3E}">
        <p14:creationId xmlns:p14="http://schemas.microsoft.com/office/powerpoint/2010/main" val="79845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de Column with Highlights 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0255A25B-9018-7244-A684-74118ADCC473}"/>
              </a:ext>
            </a:extLst>
          </p:cNvPr>
          <p:cNvSpPr>
            <a:spLocks noGrp="1"/>
          </p:cNvSpPr>
          <p:nvPr>
            <p:ph type="body" sz="quarter" idx="15"/>
          </p:nvPr>
        </p:nvSpPr>
        <p:spPr>
          <a:xfrm>
            <a:off x="580845" y="810584"/>
            <a:ext cx="8144055" cy="420688"/>
          </a:xfrm>
        </p:spPr>
        <p:txBody>
          <a:bodyPr/>
          <a:lstStyle>
            <a:lvl1pPr marL="57150" indent="0">
              <a:buFont typeface="Arial" panose="020B0604020202020204" pitchFamily="34" charset="0"/>
              <a:buNone/>
              <a:defRPr sz="1500">
                <a:solidFill>
                  <a:srgbClr val="11457A"/>
                </a:solidFill>
              </a:defRPr>
            </a:lvl1pPr>
            <a:lvl2pPr marL="288925" indent="0">
              <a:buFont typeface="Arial" panose="020B0604020202020204" pitchFamily="34" charset="0"/>
              <a:buNone/>
              <a:defRPr sz="1400"/>
            </a:lvl2pPr>
            <a:lvl3pPr marL="457200" indent="0">
              <a:buFont typeface="Arial" panose="020B0604020202020204" pitchFamily="34" charset="0"/>
              <a:buNone/>
              <a:defRPr sz="1400"/>
            </a:lvl3pPr>
            <a:lvl4pPr marL="1028700" indent="0">
              <a:buFont typeface="Arial" panose="020B0604020202020204" pitchFamily="34" charset="0"/>
              <a:buNone/>
              <a:defRPr sz="1400"/>
            </a:lvl4pPr>
            <a:lvl5pPr marL="1371600" indent="0">
              <a:buFont typeface="Arial" panose="020B0604020202020204" pitchFamily="34" charset="0"/>
              <a:buNone/>
              <a:defRPr sz="1400"/>
            </a:lvl5pPr>
          </a:lstStyle>
          <a:p>
            <a:pPr lvl="0"/>
            <a:r>
              <a:rPr lang="en-US" dirty="0"/>
              <a:t>Edit Master text styles</a:t>
            </a:r>
          </a:p>
        </p:txBody>
      </p:sp>
      <p:sp>
        <p:nvSpPr>
          <p:cNvPr id="10" name="Chart Placeholder 3">
            <a:extLst>
              <a:ext uri="{FF2B5EF4-FFF2-40B4-BE49-F238E27FC236}">
                <a16:creationId xmlns:a16="http://schemas.microsoft.com/office/drawing/2014/main" id="{7B277E59-379D-E04B-814E-390776885C38}"/>
              </a:ext>
            </a:extLst>
          </p:cNvPr>
          <p:cNvSpPr>
            <a:spLocks noGrp="1"/>
          </p:cNvSpPr>
          <p:nvPr>
            <p:ph type="chart" sz="quarter" idx="14"/>
          </p:nvPr>
        </p:nvSpPr>
        <p:spPr>
          <a:xfrm>
            <a:off x="622299" y="1431985"/>
            <a:ext cx="6416855" cy="3175575"/>
          </a:xfrm>
        </p:spPr>
        <p:txBody>
          <a:bodyPr/>
          <a:lstStyle>
            <a:lvl1pPr>
              <a:defRPr>
                <a:solidFill>
                  <a:srgbClr val="11457A"/>
                </a:solidFill>
              </a:defRPr>
            </a:lvl1pPr>
          </a:lstStyle>
          <a:p>
            <a:endParaRPr lang="en-US" dirty="0"/>
          </a:p>
        </p:txBody>
      </p:sp>
      <p:sp>
        <p:nvSpPr>
          <p:cNvPr id="7" name="Content Placeholder 4">
            <a:extLst>
              <a:ext uri="{FF2B5EF4-FFF2-40B4-BE49-F238E27FC236}">
                <a16:creationId xmlns:a16="http://schemas.microsoft.com/office/drawing/2014/main" id="{D54466CF-5788-1F46-9E6F-D7EBC715AF31}"/>
              </a:ext>
            </a:extLst>
          </p:cNvPr>
          <p:cNvSpPr>
            <a:spLocks noGrp="1"/>
          </p:cNvSpPr>
          <p:nvPr>
            <p:ph idx="13"/>
          </p:nvPr>
        </p:nvSpPr>
        <p:spPr>
          <a:xfrm>
            <a:off x="6958584" y="1591056"/>
            <a:ext cx="1920873" cy="2181564"/>
          </a:xfrm>
          <a:solidFill>
            <a:srgbClr val="DDF1F7"/>
          </a:solidFill>
          <a:ln>
            <a:solidFill>
              <a:srgbClr val="009FAE"/>
            </a:solidFill>
          </a:ln>
        </p:spPr>
        <p:txBody>
          <a:bodyPr tIns="91440" bIns="182880" anchor="ctr" anchorCtr="0"/>
          <a:lstStyle>
            <a:lvl1pPr marL="57150" indent="0">
              <a:lnSpc>
                <a:spcPct val="110000"/>
              </a:lnSpc>
              <a:buNone/>
              <a:defRPr sz="1300"/>
            </a:lvl1pPr>
            <a:lvl2pPr marL="288925" indent="0">
              <a:buNone/>
              <a:defRPr/>
            </a:lvl2pPr>
            <a:lvl3pPr marL="457200" indent="0">
              <a:buNone/>
              <a:defRPr/>
            </a:lvl3pPr>
            <a:lvl4pPr marL="1028700" indent="0">
              <a:buNone/>
              <a:defRPr/>
            </a:lvl4pPr>
            <a:lvl5pPr marL="1371600" indent="0">
              <a:buNone/>
              <a:defRPr/>
            </a:lvl5pPr>
          </a:lstStyle>
          <a:p>
            <a:pPr lvl="0"/>
            <a:r>
              <a:rPr lang="en-US" dirty="0"/>
              <a:t>Edit Master text styles</a:t>
            </a:r>
          </a:p>
        </p:txBody>
      </p:sp>
      <p:sp>
        <p:nvSpPr>
          <p:cNvPr id="6" name="Slide Number Placeholder 6"/>
          <p:cNvSpPr>
            <a:spLocks noGrp="1"/>
          </p:cNvSpPr>
          <p:nvPr>
            <p:ph type="sldNum" sz="quarter" idx="12"/>
          </p:nvPr>
        </p:nvSpPr>
        <p:spPr/>
        <p:txBody>
          <a:bodyPr/>
          <a:lstStyle>
            <a:lvl1pPr>
              <a:defRPr>
                <a:solidFill>
                  <a:srgbClr val="11457A"/>
                </a:solidFill>
              </a:defRPr>
            </a:lvl1pPr>
          </a:lstStyle>
          <a:p>
            <a:fld id="{CC942E1D-94D0-4C55-B1DD-A28B122FA8E2}" type="slidenum">
              <a:rPr lang="en-US" smtClean="0"/>
              <a:pPr/>
              <a:t>‹#›</a:t>
            </a:fld>
            <a:endParaRPr lang="en-US" dirty="0"/>
          </a:p>
        </p:txBody>
      </p:sp>
    </p:spTree>
    <p:extLst>
      <p:ext uri="{BB962C8B-B14F-4D97-AF65-F5344CB8AC3E}">
        <p14:creationId xmlns:p14="http://schemas.microsoft.com/office/powerpoint/2010/main" val="2606502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CC942E1D-94D0-4C55-B1DD-A28B122FA8E2}" type="slidenum">
              <a:rPr lang="en-US" smtClean="0"/>
              <a:t>‹#›</a:t>
            </a:fld>
            <a:endParaRPr lang="en-US"/>
          </a:p>
        </p:txBody>
      </p:sp>
    </p:spTree>
    <p:extLst>
      <p:ext uri="{BB962C8B-B14F-4D97-AF65-F5344CB8AC3E}">
        <p14:creationId xmlns:p14="http://schemas.microsoft.com/office/powerpoint/2010/main" val="2347321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7" name="Picture 6">
            <a:hlinkClick r:id="rId2" tooltip="Westat Home Page"/>
            <a:extLst>
              <a:ext uri="{FF2B5EF4-FFF2-40B4-BE49-F238E27FC236}">
                <a16:creationId xmlns:a16="http://schemas.microsoft.com/office/drawing/2014/main" id="{1D4C46CA-1395-5142-B862-A4678872AB7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7464290" y="4883474"/>
            <a:ext cx="933196" cy="134112"/>
          </a:xfrm>
          <a:prstGeom prst="rect">
            <a:avLst/>
          </a:prstGeom>
        </p:spPr>
      </p:pic>
      <p:cxnSp>
        <p:nvCxnSpPr>
          <p:cNvPr id="6" name="Straight Connector 5">
            <a:extLst>
              <a:ext uri="{FF2B5EF4-FFF2-40B4-BE49-F238E27FC236}">
                <a16:creationId xmlns:a16="http://schemas.microsoft.com/office/drawing/2014/main" id="{C9460DD9-53F6-F84C-BB9A-6020BC05B803}"/>
              </a:ext>
              <a:ext uri="{C183D7F6-B498-43B3-948B-1728B52AA6E4}">
                <adec:decorative xmlns:adec="http://schemas.microsoft.com/office/drawing/2017/decorative" val="1"/>
              </a:ext>
            </a:extLst>
          </p:cNvPr>
          <p:cNvCxnSpPr/>
          <p:nvPr userDrawn="1"/>
        </p:nvCxnSpPr>
        <p:spPr>
          <a:xfrm>
            <a:off x="8488236" y="4848251"/>
            <a:ext cx="0" cy="339025"/>
          </a:xfrm>
          <a:prstGeom prst="line">
            <a:avLst/>
          </a:prstGeom>
          <a:ln w="9525">
            <a:solidFill>
              <a:srgbClr val="008799"/>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CC942E1D-94D0-4C55-B1DD-A28B122FA8E2}" type="slidenum">
              <a:rPr lang="en-US" smtClean="0"/>
              <a:t>‹#›</a:t>
            </a:fld>
            <a:endParaRPr lang="en-US"/>
          </a:p>
        </p:txBody>
      </p:sp>
      <p:sp>
        <p:nvSpPr>
          <p:cNvPr id="2" name="Footer Placeholder 4">
            <a:extLst>
              <a:ext uri="{FF2B5EF4-FFF2-40B4-BE49-F238E27FC236}">
                <a16:creationId xmlns:a16="http://schemas.microsoft.com/office/drawing/2014/main" id="{E9D70C39-4F92-1E66-7D13-5D6B6EDEFBC1}"/>
              </a:ext>
              <a:ext uri="{C183D7F6-B498-43B3-948B-1728B52AA6E4}">
                <adec:decorative xmlns:adec="http://schemas.microsoft.com/office/drawing/2017/decorative" val="1"/>
              </a:ext>
            </a:extLst>
          </p:cNvPr>
          <p:cNvSpPr txBox="1">
            <a:spLocks/>
          </p:cNvSpPr>
          <p:nvPr userDrawn="1"/>
        </p:nvSpPr>
        <p:spPr>
          <a:xfrm>
            <a:off x="622002" y="4818763"/>
            <a:ext cx="5503970" cy="273844"/>
          </a:xfrm>
          <a:prstGeom prst="rect">
            <a:avLst/>
          </a:prstGeom>
        </p:spPr>
        <p:txBody>
          <a:bodyPr/>
          <a:lstStyle>
            <a:defPPr>
              <a:defRPr lang="en-US"/>
            </a:defPPr>
            <a:lvl1pPr marL="0" algn="l" defTabSz="457200" rtl="0" eaLnBrk="1" latinLnBrk="0" hangingPunct="1">
              <a:defRPr lang="en-US" sz="900" kern="1200" dirty="0">
                <a:solidFill>
                  <a:srgbClr val="003C68"/>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Westat @ </a:t>
            </a:r>
            <a:r>
              <a:rPr lang="en-US" b="1" dirty="0"/>
              <a:t>JSM 2022</a:t>
            </a:r>
          </a:p>
        </p:txBody>
      </p:sp>
    </p:spTree>
    <p:extLst>
      <p:ext uri="{BB962C8B-B14F-4D97-AF65-F5344CB8AC3E}">
        <p14:creationId xmlns:p14="http://schemas.microsoft.com/office/powerpoint/2010/main" val="2154375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Title on Left">
    <p:spTree>
      <p:nvGrpSpPr>
        <p:cNvPr id="1" name=""/>
        <p:cNvGrpSpPr/>
        <p:nvPr/>
      </p:nvGrpSpPr>
      <p:grpSpPr>
        <a:xfrm>
          <a:off x="0" y="0"/>
          <a:ext cx="0" cy="0"/>
          <a:chOff x="0" y="0"/>
          <a:chExt cx="0" cy="0"/>
        </a:xfrm>
      </p:grpSpPr>
      <p:sp>
        <p:nvSpPr>
          <p:cNvPr id="2" name="Title 1"/>
          <p:cNvSpPr>
            <a:spLocks noGrp="1"/>
          </p:cNvSpPr>
          <p:nvPr>
            <p:ph type="title"/>
          </p:nvPr>
        </p:nvSpPr>
        <p:spPr>
          <a:xfrm>
            <a:off x="629841" y="783108"/>
            <a:ext cx="1905103" cy="1101970"/>
          </a:xfrm>
        </p:spPr>
        <p:txBody>
          <a:bodyPr anchor="t" anchorCtr="0"/>
          <a:lstStyle>
            <a:lvl1pPr>
              <a:defRPr sz="2400">
                <a:solidFill>
                  <a:srgbClr val="003C68"/>
                </a:solidFill>
              </a:defRPr>
            </a:lvl1pPr>
          </a:lstStyle>
          <a:p>
            <a:r>
              <a:rPr lang="en-US" dirty="0"/>
              <a:t>Click to edit Master title style</a:t>
            </a:r>
          </a:p>
        </p:txBody>
      </p:sp>
      <p:sp>
        <p:nvSpPr>
          <p:cNvPr id="4" name="Text Placeholder 3"/>
          <p:cNvSpPr>
            <a:spLocks noGrp="1"/>
          </p:cNvSpPr>
          <p:nvPr>
            <p:ph type="body" sz="half" idx="2"/>
          </p:nvPr>
        </p:nvSpPr>
        <p:spPr>
          <a:xfrm>
            <a:off x="629841" y="2235079"/>
            <a:ext cx="2089913" cy="2166662"/>
          </a:xfrm>
        </p:spPr>
        <p:txBody>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
        <p:nvSpPr>
          <p:cNvPr id="3" name="Content Placeholder 2"/>
          <p:cNvSpPr>
            <a:spLocks noGrp="1"/>
          </p:cNvSpPr>
          <p:nvPr>
            <p:ph idx="1"/>
          </p:nvPr>
        </p:nvSpPr>
        <p:spPr>
          <a:xfrm>
            <a:off x="3024565" y="854791"/>
            <a:ext cx="5491976" cy="3422773"/>
          </a:xfrm>
        </p:spPr>
        <p:txBody>
          <a:bodyPr/>
          <a:lstStyle>
            <a:lvl1pPr marL="0" indent="0">
              <a:buNone/>
              <a:defRPr sz="1800"/>
            </a:lvl1pPr>
            <a:lvl2pPr>
              <a:defRPr sz="18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C183D7F6-B498-43B3-948B-1728B52AA6E4}">
                <adec:decorative xmlns:adec="http://schemas.microsoft.com/office/drawing/2017/decorative" val="1"/>
              </a:ext>
            </a:extLst>
          </p:cNvPr>
          <p:cNvSpPr/>
          <p:nvPr userDrawn="1"/>
        </p:nvSpPr>
        <p:spPr>
          <a:xfrm>
            <a:off x="0" y="179882"/>
            <a:ext cx="9144000" cy="603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C183D7F6-B498-43B3-948B-1728B52AA6E4}">
                <adec:decorative xmlns:adec="http://schemas.microsoft.com/office/drawing/2017/decorative" val="1"/>
              </a:ext>
            </a:extLst>
          </p:cNvPr>
          <p:cNvCxnSpPr/>
          <p:nvPr userDrawn="1"/>
        </p:nvCxnSpPr>
        <p:spPr>
          <a:xfrm>
            <a:off x="2872159" y="900031"/>
            <a:ext cx="0" cy="3892367"/>
          </a:xfrm>
          <a:prstGeom prst="line">
            <a:avLst/>
          </a:prstGeom>
          <a:ln w="12700">
            <a:solidFill>
              <a:srgbClr val="00ADE4"/>
            </a:solidFill>
          </a:ln>
        </p:spPr>
        <p:style>
          <a:lnRef idx="1">
            <a:schemeClr val="accent1"/>
          </a:lnRef>
          <a:fillRef idx="0">
            <a:schemeClr val="accent1"/>
          </a:fillRef>
          <a:effectRef idx="0">
            <a:schemeClr val="accent1"/>
          </a:effectRef>
          <a:fontRef idx="minor">
            <a:schemeClr val="tx1"/>
          </a:fontRef>
        </p:style>
      </p:cxnSp>
      <p:sp>
        <p:nvSpPr>
          <p:cNvPr id="7" name="Slide Number Placeholder 6"/>
          <p:cNvSpPr>
            <a:spLocks noGrp="1"/>
          </p:cNvSpPr>
          <p:nvPr>
            <p:ph type="sldNum" sz="quarter" idx="12"/>
          </p:nvPr>
        </p:nvSpPr>
        <p:spPr/>
        <p:txBody>
          <a:bodyPr/>
          <a:lstStyle/>
          <a:p>
            <a:fld id="{CC942E1D-94D0-4C55-B1DD-A28B122FA8E2}" type="slidenum">
              <a:rPr lang="en-US" smtClean="0"/>
              <a:t>‹#›</a:t>
            </a:fld>
            <a:endParaRPr lang="en-US"/>
          </a:p>
        </p:txBody>
      </p:sp>
    </p:spTree>
    <p:extLst>
      <p:ext uri="{BB962C8B-B14F-4D97-AF65-F5344CB8AC3E}">
        <p14:creationId xmlns:p14="http://schemas.microsoft.com/office/powerpoint/2010/main" val="80792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Logo/Conclusion">
    <p:spTree>
      <p:nvGrpSpPr>
        <p:cNvPr id="1" name=""/>
        <p:cNvGrpSpPr/>
        <p:nvPr/>
      </p:nvGrpSpPr>
      <p:grpSpPr>
        <a:xfrm>
          <a:off x="0" y="0"/>
          <a:ext cx="0" cy="0"/>
          <a:chOff x="0" y="0"/>
          <a:chExt cx="0" cy="0"/>
        </a:xfrm>
      </p:grpSpPr>
      <p:sp>
        <p:nvSpPr>
          <p:cNvPr id="2" name="Title 1"/>
          <p:cNvSpPr>
            <a:spLocks noGrp="1"/>
          </p:cNvSpPr>
          <p:nvPr userDrawn="1">
            <p:ph type="title"/>
          </p:nvPr>
        </p:nvSpPr>
        <p:spPr>
          <a:xfrm>
            <a:off x="628649" y="1755647"/>
            <a:ext cx="2091105" cy="1655065"/>
          </a:xfrm>
        </p:spPr>
        <p:txBody>
          <a:bodyPr anchor="t" anchorCtr="0"/>
          <a:lstStyle>
            <a:lvl1pPr>
              <a:defRPr sz="2400">
                <a:solidFill>
                  <a:srgbClr val="073C72"/>
                </a:solidFill>
              </a:defRPr>
            </a:lvl1pPr>
          </a:lstStyle>
          <a:p>
            <a:r>
              <a:rPr lang="en-US" dirty="0"/>
              <a:t>Click to edit Master title style</a:t>
            </a:r>
          </a:p>
        </p:txBody>
      </p:sp>
      <p:sp>
        <p:nvSpPr>
          <p:cNvPr id="17" name="Rectangle 16" descr="Westat (logo) Improving Lives Through Research">
            <a:extLst>
              <a:ext uri="{FF2B5EF4-FFF2-40B4-BE49-F238E27FC236}">
                <a16:creationId xmlns:a16="http://schemas.microsoft.com/office/drawing/2014/main" id="{53F52C81-6527-44D8-16A1-051C4556F1E0}"/>
              </a:ext>
            </a:extLst>
          </p:cNvPr>
          <p:cNvSpPr/>
          <p:nvPr userDrawn="1"/>
        </p:nvSpPr>
        <p:spPr>
          <a:xfrm>
            <a:off x="0" y="0"/>
            <a:ext cx="9144000" cy="510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2"/>
          <p:cNvSpPr>
            <a:spLocks noGrp="1"/>
          </p:cNvSpPr>
          <p:nvPr>
            <p:ph type="body" sz="half" idx="2"/>
          </p:nvPr>
        </p:nvSpPr>
        <p:spPr>
          <a:xfrm>
            <a:off x="629841" y="3441322"/>
            <a:ext cx="2089913" cy="561261"/>
          </a:xfrm>
        </p:spPr>
        <p:txBody>
          <a:bodyPr anchor="b" anchorCtr="0"/>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pic>
        <p:nvPicPr>
          <p:cNvPr id="14" name="Picture 3a" descr="A picture containing text, clipart, vector graphics&#10;&#10;Description automatically generated">
            <a:extLst>
              <a:ext uri="{FF2B5EF4-FFF2-40B4-BE49-F238E27FC236}">
                <a16:creationId xmlns:a16="http://schemas.microsoft.com/office/drawing/2014/main" id="{7C3579C6-8F21-3C4A-8A73-02850E76899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3900" y="4095610"/>
            <a:ext cx="1442453" cy="264754"/>
          </a:xfrm>
          <a:prstGeom prst="rect">
            <a:avLst/>
          </a:prstGeom>
        </p:spPr>
      </p:pic>
      <p:sp>
        <p:nvSpPr>
          <p:cNvPr id="11" name="Picture Placeholder 3b"/>
          <p:cNvSpPr>
            <a:spLocks noGrp="1"/>
          </p:cNvSpPr>
          <p:nvPr userDrawn="1">
            <p:ph type="pic" sz="quarter" idx="13"/>
          </p:nvPr>
        </p:nvSpPr>
        <p:spPr>
          <a:xfrm>
            <a:off x="717551" y="4095610"/>
            <a:ext cx="260349" cy="264754"/>
          </a:xfrm>
        </p:spPr>
        <p:txBody>
          <a:bodyPr/>
          <a:lstStyle>
            <a:lvl1pPr marL="57150" indent="0">
              <a:buFontTx/>
              <a:buNone/>
              <a:defRPr sz="1100"/>
            </a:lvl1pPr>
          </a:lstStyle>
          <a:p>
            <a:endParaRPr lang="en-US" dirty="0"/>
          </a:p>
        </p:txBody>
      </p:sp>
      <p:sp>
        <p:nvSpPr>
          <p:cNvPr id="20" name="Picture Placeholder 3b"/>
          <p:cNvSpPr>
            <a:spLocks noGrp="1"/>
          </p:cNvSpPr>
          <p:nvPr>
            <p:ph type="pic" sz="quarter" idx="14"/>
          </p:nvPr>
        </p:nvSpPr>
        <p:spPr>
          <a:xfrm>
            <a:off x="1111255" y="4095610"/>
            <a:ext cx="260350" cy="264754"/>
          </a:xfrm>
        </p:spPr>
        <p:txBody>
          <a:bodyPr/>
          <a:lstStyle>
            <a:lvl1pPr marL="57150" indent="0">
              <a:buFontTx/>
              <a:buNone/>
              <a:defRPr sz="1100"/>
            </a:lvl1pPr>
          </a:lstStyle>
          <a:p>
            <a:endParaRPr lang="en-US" dirty="0"/>
          </a:p>
        </p:txBody>
      </p:sp>
      <p:sp>
        <p:nvSpPr>
          <p:cNvPr id="21" name="Picture Placeholder 3b"/>
          <p:cNvSpPr>
            <a:spLocks noGrp="1"/>
          </p:cNvSpPr>
          <p:nvPr>
            <p:ph type="pic" sz="quarter" idx="15"/>
          </p:nvPr>
        </p:nvSpPr>
        <p:spPr>
          <a:xfrm>
            <a:off x="1498610" y="4096489"/>
            <a:ext cx="260350" cy="264754"/>
          </a:xfrm>
        </p:spPr>
        <p:txBody>
          <a:bodyPr/>
          <a:lstStyle>
            <a:lvl1pPr marL="57150" indent="0">
              <a:buFontTx/>
              <a:buNone/>
              <a:defRPr sz="1100"/>
            </a:lvl1pPr>
          </a:lstStyle>
          <a:p>
            <a:endParaRPr lang="en-US" dirty="0"/>
          </a:p>
        </p:txBody>
      </p:sp>
      <p:sp>
        <p:nvSpPr>
          <p:cNvPr id="22" name="Picture Placeholder 3b"/>
          <p:cNvSpPr>
            <a:spLocks noGrp="1"/>
          </p:cNvSpPr>
          <p:nvPr>
            <p:ph type="pic" sz="quarter" idx="16"/>
          </p:nvPr>
        </p:nvSpPr>
        <p:spPr>
          <a:xfrm>
            <a:off x="1892315" y="4096489"/>
            <a:ext cx="260350" cy="264754"/>
          </a:xfrm>
        </p:spPr>
        <p:txBody>
          <a:bodyPr/>
          <a:lstStyle>
            <a:lvl1pPr marL="57150" indent="0">
              <a:buFontTx/>
              <a:buNone/>
              <a:defRPr sz="1100"/>
            </a:lvl1pPr>
          </a:lstStyle>
          <a:p>
            <a:endParaRPr lang="en-US" dirty="0"/>
          </a:p>
        </p:txBody>
      </p:sp>
      <p:cxnSp>
        <p:nvCxnSpPr>
          <p:cNvPr id="9" name="Straight Connector 4" descr="&quot; &quot;"/>
          <p:cNvCxnSpPr/>
          <p:nvPr userDrawn="1"/>
        </p:nvCxnSpPr>
        <p:spPr>
          <a:xfrm>
            <a:off x="2872159" y="900031"/>
            <a:ext cx="0" cy="3501710"/>
          </a:xfrm>
          <a:prstGeom prst="line">
            <a:avLst/>
          </a:prstGeom>
          <a:ln w="12700">
            <a:solidFill>
              <a:srgbClr val="00ADE4"/>
            </a:solidFill>
          </a:ln>
        </p:spPr>
        <p:style>
          <a:lnRef idx="1">
            <a:schemeClr val="accent1"/>
          </a:lnRef>
          <a:fillRef idx="0">
            <a:schemeClr val="accent1"/>
          </a:fillRef>
          <a:effectRef idx="0">
            <a:schemeClr val="accent1"/>
          </a:effectRef>
          <a:fontRef idx="minor">
            <a:schemeClr val="tx1"/>
          </a:fontRef>
        </p:style>
      </p:cxnSp>
      <p:sp>
        <p:nvSpPr>
          <p:cNvPr id="16" name="Content Placeholder 5"/>
          <p:cNvSpPr>
            <a:spLocks noGrp="1"/>
          </p:cNvSpPr>
          <p:nvPr userDrawn="1">
            <p:ph idx="1"/>
          </p:nvPr>
        </p:nvSpPr>
        <p:spPr>
          <a:xfrm>
            <a:off x="3024565" y="1839913"/>
            <a:ext cx="5491976" cy="2561828"/>
          </a:xfrm>
        </p:spPr>
        <p:txBody>
          <a:bodyPr/>
          <a:lstStyle>
            <a:lvl1pPr marL="0" indent="0">
              <a:buFontTx/>
              <a:buNone/>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4" name="Picture 23">
            <a:extLst>
              <a:ext uri="{FF2B5EF4-FFF2-40B4-BE49-F238E27FC236}">
                <a16:creationId xmlns:a16="http://schemas.microsoft.com/office/drawing/2014/main" id="{8C44F2AE-2141-054E-B53E-0FB1289DEBB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9144000" cy="504825"/>
          </a:xfrm>
          <a:prstGeom prst="rect">
            <a:avLst/>
          </a:prstGeom>
        </p:spPr>
      </p:pic>
      <p:cxnSp>
        <p:nvCxnSpPr>
          <p:cNvPr id="18" name="Straight Connector 6" descr="&quot; &quot;">
            <a:extLst>
              <a:ext uri="{FF2B5EF4-FFF2-40B4-BE49-F238E27FC236}">
                <a16:creationId xmlns:a16="http://schemas.microsoft.com/office/drawing/2014/main" id="{8319A205-C10F-9448-B305-0C42BB371163}"/>
              </a:ext>
            </a:extLst>
          </p:cNvPr>
          <p:cNvCxnSpPr/>
          <p:nvPr userDrawn="1"/>
        </p:nvCxnSpPr>
        <p:spPr>
          <a:xfrm>
            <a:off x="8488236" y="4848251"/>
            <a:ext cx="0" cy="339025"/>
          </a:xfrm>
          <a:prstGeom prst="line">
            <a:avLst/>
          </a:prstGeom>
          <a:ln w="9525">
            <a:solidFill>
              <a:srgbClr val="00ADE4"/>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B2C61DB7-5D93-9447-AC2A-1A567B1A8EF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464290" y="4906080"/>
            <a:ext cx="939800" cy="88900"/>
          </a:xfrm>
          <a:prstGeom prst="rect">
            <a:avLst/>
          </a:prstGeom>
        </p:spPr>
      </p:pic>
      <p:sp>
        <p:nvSpPr>
          <p:cNvPr id="7" name="Slide Number Placeholder 7"/>
          <p:cNvSpPr>
            <a:spLocks noGrp="1"/>
          </p:cNvSpPr>
          <p:nvPr userDrawn="1">
            <p:ph type="sldNum" sz="quarter" idx="12"/>
          </p:nvPr>
        </p:nvSpPr>
        <p:spPr/>
        <p:txBody>
          <a:bodyPr/>
          <a:lstStyle/>
          <a:p>
            <a:fld id="{CC942E1D-94D0-4C55-B1DD-A28B122FA8E2}" type="slidenum">
              <a:rPr lang="en-US" smtClean="0"/>
              <a:t>‹#›</a:t>
            </a:fld>
            <a:endParaRPr lang="en-US"/>
          </a:p>
        </p:txBody>
      </p:sp>
    </p:spTree>
    <p:extLst>
      <p:ext uri="{BB962C8B-B14F-4D97-AF65-F5344CB8AC3E}">
        <p14:creationId xmlns:p14="http://schemas.microsoft.com/office/powerpoint/2010/main" val="938208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HOTO-DISCLAIMER-Conclusion">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30A9B3C1-E84B-EF41-AAFA-7ACEF710B6AF}"/>
              </a:ext>
            </a:extLst>
          </p:cNvPr>
          <p:cNvSpPr>
            <a:spLocks noGrp="1"/>
          </p:cNvSpPr>
          <p:nvPr>
            <p:ph type="title"/>
          </p:nvPr>
        </p:nvSpPr>
        <p:spPr>
          <a:xfrm>
            <a:off x="628649" y="1755647"/>
            <a:ext cx="2091105" cy="1655065"/>
          </a:xfrm>
        </p:spPr>
        <p:txBody>
          <a:bodyPr anchor="t" anchorCtr="0"/>
          <a:lstStyle>
            <a:lvl1pPr>
              <a:defRPr sz="2400">
                <a:solidFill>
                  <a:srgbClr val="073C72"/>
                </a:solidFill>
              </a:defRPr>
            </a:lvl1pPr>
          </a:lstStyle>
          <a:p>
            <a:r>
              <a:rPr lang="en-US" dirty="0"/>
              <a:t>Click to edit Master title style</a:t>
            </a:r>
          </a:p>
        </p:txBody>
      </p:sp>
      <p:sp>
        <p:nvSpPr>
          <p:cNvPr id="26" name="Text Placeholder 2">
            <a:extLst>
              <a:ext uri="{FF2B5EF4-FFF2-40B4-BE49-F238E27FC236}">
                <a16:creationId xmlns:a16="http://schemas.microsoft.com/office/drawing/2014/main" id="{736A3933-5419-C549-828B-83E9D5584439}"/>
              </a:ext>
            </a:extLst>
          </p:cNvPr>
          <p:cNvSpPr>
            <a:spLocks noGrp="1"/>
          </p:cNvSpPr>
          <p:nvPr>
            <p:ph type="body" sz="half" idx="2"/>
          </p:nvPr>
        </p:nvSpPr>
        <p:spPr>
          <a:xfrm>
            <a:off x="629841" y="3441322"/>
            <a:ext cx="2089913" cy="561261"/>
          </a:xfrm>
        </p:spPr>
        <p:txBody>
          <a:bodyPr anchor="b" anchorCtr="0"/>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
        <p:nvSpPr>
          <p:cNvPr id="32" name="Content Placeholder 5">
            <a:extLst>
              <a:ext uri="{FF2B5EF4-FFF2-40B4-BE49-F238E27FC236}">
                <a16:creationId xmlns:a16="http://schemas.microsoft.com/office/drawing/2014/main" id="{54EF4998-8318-1348-B560-DCF365DE93E7}"/>
              </a:ext>
            </a:extLst>
          </p:cNvPr>
          <p:cNvSpPr>
            <a:spLocks noGrp="1"/>
          </p:cNvSpPr>
          <p:nvPr>
            <p:ph idx="1"/>
          </p:nvPr>
        </p:nvSpPr>
        <p:spPr>
          <a:xfrm>
            <a:off x="3024565" y="1839913"/>
            <a:ext cx="5491976" cy="2551341"/>
          </a:xfrm>
        </p:spPr>
        <p:txBody>
          <a:bodyPr/>
          <a:lstStyle>
            <a:lvl1pPr marL="0" indent="0">
              <a:buFontTx/>
              <a:buNone/>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9" name="Picture 18">
            <a:extLst>
              <a:ext uri="{FF2B5EF4-FFF2-40B4-BE49-F238E27FC236}">
                <a16:creationId xmlns:a16="http://schemas.microsoft.com/office/drawing/2014/main" id="{95FF59DE-0D69-284D-8B63-15A4DE9851E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04825"/>
          </a:xfrm>
          <a:prstGeom prst="rect">
            <a:avLst/>
          </a:prstGeom>
        </p:spPr>
      </p:pic>
      <p:pic>
        <p:nvPicPr>
          <p:cNvPr id="11" name="Picture 3a" descr="A picture containing text, clipart, vector graphics&#10;&#10;Description automatically generated">
            <a:extLst>
              <a:ext uri="{FF2B5EF4-FFF2-40B4-BE49-F238E27FC236}">
                <a16:creationId xmlns:a16="http://schemas.microsoft.com/office/drawing/2014/main" id="{89CE7A0A-971F-8A4D-BCFE-E15608C8926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23900" y="4095610"/>
            <a:ext cx="1442453" cy="264754"/>
          </a:xfrm>
          <a:prstGeom prst="rect">
            <a:avLst/>
          </a:prstGeom>
        </p:spPr>
      </p:pic>
      <p:sp>
        <p:nvSpPr>
          <p:cNvPr id="27" name="Picture Placeholder 3b" descr="Facebook&#10;https://www.facebook.com/westat.hq/">
            <a:extLst>
              <a:ext uri="{FF2B5EF4-FFF2-40B4-BE49-F238E27FC236}">
                <a16:creationId xmlns:a16="http://schemas.microsoft.com/office/drawing/2014/main" id="{769B4498-021E-7546-9B65-9901AA2B3EF8}"/>
              </a:ext>
            </a:extLst>
          </p:cNvPr>
          <p:cNvSpPr>
            <a:spLocks noGrp="1"/>
          </p:cNvSpPr>
          <p:nvPr>
            <p:ph type="pic" sz="quarter" idx="14"/>
          </p:nvPr>
        </p:nvSpPr>
        <p:spPr>
          <a:xfrm>
            <a:off x="717551" y="4095610"/>
            <a:ext cx="260349" cy="264754"/>
          </a:xfrm>
        </p:spPr>
        <p:txBody>
          <a:bodyPr/>
          <a:lstStyle>
            <a:lvl1pPr marL="57150" indent="0">
              <a:buFontTx/>
              <a:buNone/>
              <a:defRPr sz="800"/>
            </a:lvl1pPr>
          </a:lstStyle>
          <a:p>
            <a:endParaRPr lang="en-US" dirty="0"/>
          </a:p>
        </p:txBody>
      </p:sp>
      <p:sp>
        <p:nvSpPr>
          <p:cNvPr id="28" name="Picture Placeholder 3b" descr="Twitter&#10;https://twitter.com/westat">
            <a:extLst>
              <a:ext uri="{FF2B5EF4-FFF2-40B4-BE49-F238E27FC236}">
                <a16:creationId xmlns:a16="http://schemas.microsoft.com/office/drawing/2014/main" id="{11CC9474-5F07-B348-AF14-CC5CE875CB04}"/>
              </a:ext>
            </a:extLst>
          </p:cNvPr>
          <p:cNvSpPr>
            <a:spLocks noGrp="1"/>
          </p:cNvSpPr>
          <p:nvPr>
            <p:ph type="pic" sz="quarter" idx="15"/>
          </p:nvPr>
        </p:nvSpPr>
        <p:spPr>
          <a:xfrm>
            <a:off x="1111255" y="4095610"/>
            <a:ext cx="260350" cy="264754"/>
          </a:xfrm>
        </p:spPr>
        <p:txBody>
          <a:bodyPr/>
          <a:lstStyle>
            <a:lvl1pPr marL="57150" indent="0">
              <a:buFontTx/>
              <a:buNone/>
              <a:defRPr sz="800"/>
            </a:lvl1pPr>
          </a:lstStyle>
          <a:p>
            <a:endParaRPr lang="en-US" dirty="0"/>
          </a:p>
        </p:txBody>
      </p:sp>
      <p:sp>
        <p:nvSpPr>
          <p:cNvPr id="29" name="Picture Placeholder 3b" descr="Linkedin&#10;https://www.linkedin.com/company/westat">
            <a:extLst>
              <a:ext uri="{FF2B5EF4-FFF2-40B4-BE49-F238E27FC236}">
                <a16:creationId xmlns:a16="http://schemas.microsoft.com/office/drawing/2014/main" id="{A71FAE97-4FA3-C645-9520-D1ABD97E1546}"/>
              </a:ext>
            </a:extLst>
          </p:cNvPr>
          <p:cNvSpPr>
            <a:spLocks noGrp="1"/>
          </p:cNvSpPr>
          <p:nvPr>
            <p:ph type="pic" sz="quarter" idx="16"/>
          </p:nvPr>
        </p:nvSpPr>
        <p:spPr>
          <a:xfrm>
            <a:off x="1498610" y="4096489"/>
            <a:ext cx="260350" cy="264754"/>
          </a:xfrm>
        </p:spPr>
        <p:txBody>
          <a:bodyPr/>
          <a:lstStyle>
            <a:lvl1pPr marL="57150" indent="0">
              <a:buFontTx/>
              <a:buNone/>
              <a:defRPr sz="800"/>
            </a:lvl1pPr>
          </a:lstStyle>
          <a:p>
            <a:endParaRPr lang="en-US" dirty="0"/>
          </a:p>
        </p:txBody>
      </p:sp>
      <p:sp>
        <p:nvSpPr>
          <p:cNvPr id="30" name="Picture Placeholder 3b" descr="Youtube&#10;https://www.youtube.com/channel/UCs_SVwS0C3u61YfElsR-XRw">
            <a:extLst>
              <a:ext uri="{FF2B5EF4-FFF2-40B4-BE49-F238E27FC236}">
                <a16:creationId xmlns:a16="http://schemas.microsoft.com/office/drawing/2014/main" id="{C4143D8D-246D-F247-BE40-60374ED65383}"/>
              </a:ext>
            </a:extLst>
          </p:cNvPr>
          <p:cNvSpPr>
            <a:spLocks noGrp="1"/>
          </p:cNvSpPr>
          <p:nvPr>
            <p:ph type="pic" sz="quarter" idx="17"/>
          </p:nvPr>
        </p:nvSpPr>
        <p:spPr>
          <a:xfrm>
            <a:off x="1892315" y="4096489"/>
            <a:ext cx="260350" cy="264754"/>
          </a:xfrm>
        </p:spPr>
        <p:txBody>
          <a:bodyPr/>
          <a:lstStyle>
            <a:lvl1pPr marL="57150" indent="0">
              <a:buFontTx/>
              <a:buNone/>
              <a:defRPr sz="800"/>
            </a:lvl1pPr>
          </a:lstStyle>
          <a:p>
            <a:endParaRPr lang="en-US" dirty="0"/>
          </a:p>
        </p:txBody>
      </p:sp>
      <p:cxnSp>
        <p:nvCxnSpPr>
          <p:cNvPr id="31" name="Straight Connector 4">
            <a:extLst>
              <a:ext uri="{FF2B5EF4-FFF2-40B4-BE49-F238E27FC236}">
                <a16:creationId xmlns:a16="http://schemas.microsoft.com/office/drawing/2014/main" id="{46385B31-2980-EA42-9FEA-AAD09CDB8908}"/>
              </a:ext>
              <a:ext uri="{C183D7F6-B498-43B3-948B-1728B52AA6E4}">
                <adec:decorative xmlns:adec="http://schemas.microsoft.com/office/drawing/2017/decorative" val="1"/>
              </a:ext>
            </a:extLst>
          </p:cNvPr>
          <p:cNvCxnSpPr>
            <a:cxnSpLocks/>
          </p:cNvCxnSpPr>
          <p:nvPr userDrawn="1"/>
        </p:nvCxnSpPr>
        <p:spPr>
          <a:xfrm>
            <a:off x="2872159" y="900031"/>
            <a:ext cx="0" cy="3501710"/>
          </a:xfrm>
          <a:prstGeom prst="line">
            <a:avLst/>
          </a:prstGeom>
          <a:ln w="12700">
            <a:solidFill>
              <a:srgbClr val="00ADE4"/>
            </a:solidFill>
          </a:ln>
        </p:spPr>
        <p:style>
          <a:lnRef idx="1">
            <a:schemeClr val="accent1"/>
          </a:lnRef>
          <a:fillRef idx="0">
            <a:schemeClr val="accent1"/>
          </a:fillRef>
          <a:effectRef idx="0">
            <a:schemeClr val="accent1"/>
          </a:effectRef>
          <a:fontRef idx="minor">
            <a:schemeClr val="tx1"/>
          </a:fontRef>
        </p:style>
      </p:cxnSp>
      <p:sp>
        <p:nvSpPr>
          <p:cNvPr id="25" name="Text Placeholder 6">
            <a:extLst>
              <a:ext uri="{FF2B5EF4-FFF2-40B4-BE49-F238E27FC236}">
                <a16:creationId xmlns:a16="http://schemas.microsoft.com/office/drawing/2014/main" id="{80CE938E-C919-EC4A-B459-B0BC99DC3B9D}"/>
              </a:ext>
            </a:extLst>
          </p:cNvPr>
          <p:cNvSpPr>
            <a:spLocks noGrp="1"/>
          </p:cNvSpPr>
          <p:nvPr>
            <p:ph type="body" sz="half" idx="13" hasCustomPrompt="1"/>
          </p:nvPr>
        </p:nvSpPr>
        <p:spPr>
          <a:xfrm>
            <a:off x="622002" y="4786112"/>
            <a:ext cx="5564789" cy="246812"/>
          </a:xfrm>
        </p:spPr>
        <p:txBody>
          <a:bodyPr anchor="b" anchorCtr="0"/>
          <a:lstStyle>
            <a:lvl1pPr marL="0" indent="0">
              <a:lnSpc>
                <a:spcPct val="100000"/>
              </a:lnSpc>
              <a:spcBef>
                <a:spcPts val="0"/>
              </a:spcBef>
              <a:spcAft>
                <a:spcPts val="0"/>
              </a:spcAft>
              <a:buNone/>
              <a:defRPr sz="7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lang="en-US" noProof="0" dirty="0"/>
              <a:t>Photos are for illustrative purposes only. All persons depicted, unless otherwise stated, are models.</a:t>
            </a:r>
          </a:p>
        </p:txBody>
      </p:sp>
      <p:cxnSp>
        <p:nvCxnSpPr>
          <p:cNvPr id="34" name="Straight Connector 6">
            <a:extLst>
              <a:ext uri="{FF2B5EF4-FFF2-40B4-BE49-F238E27FC236}">
                <a16:creationId xmlns:a16="http://schemas.microsoft.com/office/drawing/2014/main" id="{726FB388-F6D3-C74B-8364-C6654D8145DF}"/>
              </a:ext>
              <a:ext uri="{C183D7F6-B498-43B3-948B-1728B52AA6E4}">
                <adec:decorative xmlns:adec="http://schemas.microsoft.com/office/drawing/2017/decorative" val="1"/>
              </a:ext>
            </a:extLst>
          </p:cNvPr>
          <p:cNvCxnSpPr/>
          <p:nvPr userDrawn="1"/>
        </p:nvCxnSpPr>
        <p:spPr>
          <a:xfrm>
            <a:off x="8488236" y="4848251"/>
            <a:ext cx="0" cy="339025"/>
          </a:xfrm>
          <a:prstGeom prst="line">
            <a:avLst/>
          </a:prstGeom>
          <a:ln w="9525">
            <a:solidFill>
              <a:srgbClr val="00ADE4"/>
            </a:solidFill>
          </a:ln>
        </p:spPr>
        <p:style>
          <a:lnRef idx="1">
            <a:schemeClr val="accent1"/>
          </a:lnRef>
          <a:fillRef idx="0">
            <a:schemeClr val="accent1"/>
          </a:fillRef>
          <a:effectRef idx="0">
            <a:schemeClr val="accent1"/>
          </a:effectRef>
          <a:fontRef idx="minor">
            <a:schemeClr val="tx1"/>
          </a:fontRef>
        </p:style>
      </p:cxnSp>
      <p:pic>
        <p:nvPicPr>
          <p:cNvPr id="35" name="Picture 34" descr="Westat.com">
            <a:extLst>
              <a:ext uri="{FF2B5EF4-FFF2-40B4-BE49-F238E27FC236}">
                <a16:creationId xmlns:a16="http://schemas.microsoft.com/office/drawing/2014/main" id="{6CEB5474-CEF3-DE40-BD30-A8C55ADB5ED5}"/>
              </a:ext>
              <a:ext uri="{C183D7F6-B498-43B3-948B-1728B52AA6E4}">
                <adec:decorative xmlns:adec="http://schemas.microsoft.com/office/drawing/2017/decorative" val="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464290" y="4906080"/>
            <a:ext cx="939800" cy="88900"/>
          </a:xfrm>
          <a:prstGeom prst="rect">
            <a:avLst/>
          </a:prstGeom>
        </p:spPr>
      </p:pic>
      <p:sp>
        <p:nvSpPr>
          <p:cNvPr id="7" name="Slide Number Placeholder 7"/>
          <p:cNvSpPr>
            <a:spLocks noGrp="1"/>
          </p:cNvSpPr>
          <p:nvPr>
            <p:ph type="sldNum" sz="quarter" idx="12"/>
          </p:nvPr>
        </p:nvSpPr>
        <p:spPr/>
        <p:txBody>
          <a:bodyPr/>
          <a:lstStyle/>
          <a:p>
            <a:fld id="{CC942E1D-94D0-4C55-B1DD-A28B122FA8E2}" type="slidenum">
              <a:rPr lang="en-US" smtClean="0"/>
              <a:t>‹#›</a:t>
            </a:fld>
            <a:endParaRPr lang="en-US"/>
          </a:p>
        </p:txBody>
      </p:sp>
    </p:spTree>
    <p:extLst>
      <p:ext uri="{BB962C8B-B14F-4D97-AF65-F5344CB8AC3E}">
        <p14:creationId xmlns:p14="http://schemas.microsoft.com/office/powerpoint/2010/main" val="3362861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F379A51-BB37-3D4F-A6AD-66B3920040E6}"/>
              </a:ext>
              <a:ext uri="{C183D7F6-B498-43B3-948B-1728B52AA6E4}">
                <adec:decorative xmlns:adec="http://schemas.microsoft.com/office/drawing/2017/decorative" val="1"/>
              </a:ext>
            </a:extLst>
          </p:cNvPr>
          <p:cNvSpPr/>
          <p:nvPr userDrawn="1"/>
        </p:nvSpPr>
        <p:spPr>
          <a:xfrm>
            <a:off x="0" y="179883"/>
            <a:ext cx="9144000" cy="6325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9841" y="527985"/>
            <a:ext cx="2949178" cy="1166649"/>
          </a:xfrm>
        </p:spPr>
        <p:txBody>
          <a:bodyPr anchor="b"/>
          <a:lstStyle>
            <a:lvl1pPr>
              <a:defRPr sz="2400">
                <a:solidFill>
                  <a:srgbClr val="073C72"/>
                </a:solidFill>
              </a:defRPr>
            </a:lvl1pPr>
          </a:lstStyle>
          <a:p>
            <a:r>
              <a:rPr lang="en-US" dirty="0"/>
              <a:t>Click to edit Master title style</a:t>
            </a:r>
          </a:p>
        </p:txBody>
      </p:sp>
      <p:sp>
        <p:nvSpPr>
          <p:cNvPr id="4" name="Text Placeholder 2"/>
          <p:cNvSpPr>
            <a:spLocks noGrp="1"/>
          </p:cNvSpPr>
          <p:nvPr>
            <p:ph type="body" sz="half" idx="2"/>
          </p:nvPr>
        </p:nvSpPr>
        <p:spPr>
          <a:xfrm>
            <a:off x="629841" y="1717298"/>
            <a:ext cx="2949178" cy="2334816"/>
          </a:xfrm>
        </p:spPr>
        <p:txBody>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
        <p:nvSpPr>
          <p:cNvPr id="3" name="Picture Placeholder 3"/>
          <p:cNvSpPr>
            <a:spLocks noGrp="1" noChangeAspect="1"/>
          </p:cNvSpPr>
          <p:nvPr>
            <p:ph type="pic" idx="1"/>
          </p:nvPr>
        </p:nvSpPr>
        <p:spPr>
          <a:xfrm>
            <a:off x="3887390" y="179884"/>
            <a:ext cx="5256609" cy="461399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9" name="Footer Placeholder 3">
            <a:extLst>
              <a:ext uri="{FF2B5EF4-FFF2-40B4-BE49-F238E27FC236}">
                <a16:creationId xmlns:a16="http://schemas.microsoft.com/office/drawing/2014/main" id="{407B63C4-3ED4-8D4A-AE01-158A20F05714}"/>
              </a:ext>
            </a:extLst>
          </p:cNvPr>
          <p:cNvSpPr>
            <a:spLocks noGrp="1"/>
          </p:cNvSpPr>
          <p:nvPr>
            <p:ph type="ftr" sz="quarter" idx="3"/>
          </p:nvPr>
        </p:nvSpPr>
        <p:spPr>
          <a:xfrm>
            <a:off x="622002" y="4804475"/>
            <a:ext cx="5503970" cy="273844"/>
          </a:xfrm>
          <a:prstGeom prst="rect">
            <a:avLst/>
          </a:prstGeom>
        </p:spPr>
        <p:txBody>
          <a:bodyPr vert="horz" lIns="91440" tIns="45720" rIns="91440" bIns="45720" rtlCol="0" anchor="ctr"/>
          <a:lstStyle>
            <a:lvl1pPr algn="l">
              <a:defRPr sz="900">
                <a:solidFill>
                  <a:srgbClr val="003C68"/>
                </a:solidFill>
                <a:latin typeface="Verdana" panose="020B0604030504040204" pitchFamily="34" charset="0"/>
                <a:ea typeface="Verdana" panose="020B0604030504040204" pitchFamily="34" charset="0"/>
                <a:cs typeface="Verdana" panose="020B0604030504040204" pitchFamily="34" charset="0"/>
              </a:defRPr>
            </a:lvl1pPr>
          </a:lstStyle>
          <a:p>
            <a:endParaRPr lang="en-US" b="1" dirty="0"/>
          </a:p>
        </p:txBody>
      </p:sp>
      <p:sp>
        <p:nvSpPr>
          <p:cNvPr id="7" name="Slide Number Placeholder 5"/>
          <p:cNvSpPr>
            <a:spLocks noGrp="1"/>
          </p:cNvSpPr>
          <p:nvPr>
            <p:ph type="sldNum" sz="quarter" idx="12"/>
          </p:nvPr>
        </p:nvSpPr>
        <p:spPr/>
        <p:txBody>
          <a:bodyPr/>
          <a:lstStyle/>
          <a:p>
            <a:fld id="{CC942E1D-94D0-4C55-B1DD-A28B122FA8E2}" type="slidenum">
              <a:rPr lang="en-US" smtClean="0"/>
              <a:t>‹#›</a:t>
            </a:fld>
            <a:endParaRPr lang="en-US"/>
          </a:p>
        </p:txBody>
      </p:sp>
    </p:spTree>
    <p:extLst>
      <p:ext uri="{BB962C8B-B14F-4D97-AF65-F5344CB8AC3E}">
        <p14:creationId xmlns:p14="http://schemas.microsoft.com/office/powerpoint/2010/main" val="1500271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A855D6B-4490-E242-B2A1-4CFBFB60136E}"/>
              </a:ext>
              <a:ext uri="{C183D7F6-B498-43B3-948B-1728B52AA6E4}">
                <adec:decorative xmlns:adec="http://schemas.microsoft.com/office/drawing/2017/decorative" val="1"/>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0" y="-5786"/>
            <a:ext cx="9144000" cy="704850"/>
          </a:xfrm>
          <a:prstGeom prst="rect">
            <a:avLst/>
          </a:prstGeom>
        </p:spPr>
      </p:pic>
      <p:sp>
        <p:nvSpPr>
          <p:cNvPr id="10" name="Rectangle 1">
            <a:extLst>
              <a:ext uri="{FF2B5EF4-FFF2-40B4-BE49-F238E27FC236}">
                <a16:creationId xmlns:a16="http://schemas.microsoft.com/office/drawing/2014/main" id="{69FDF00E-2D06-099F-7055-DCC5D58E3018}"/>
              </a:ext>
              <a:ext uri="{C183D7F6-B498-43B3-948B-1728B52AA6E4}">
                <adec:decorative xmlns:adec="http://schemas.microsoft.com/office/drawing/2017/decorative" val="1"/>
              </a:ext>
            </a:extLst>
          </p:cNvPr>
          <p:cNvSpPr/>
          <p:nvPr userDrawn="1"/>
        </p:nvSpPr>
        <p:spPr>
          <a:xfrm>
            <a:off x="0" y="0"/>
            <a:ext cx="9143999" cy="705891"/>
          </a:xfrm>
          <a:prstGeom prst="rect">
            <a:avLst/>
          </a:prstGeom>
          <a:gradFill flip="none" rotWithShape="1">
            <a:gsLst>
              <a:gs pos="79000">
                <a:srgbClr val="073C72"/>
              </a:gs>
              <a:gs pos="90000">
                <a:srgbClr val="0473AA"/>
              </a:gs>
              <a:gs pos="0">
                <a:srgbClr val="073C72"/>
              </a:gs>
              <a:gs pos="100000">
                <a:srgbClr val="00ADE4">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28650" y="0"/>
            <a:ext cx="8334480" cy="69327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055077"/>
            <a:ext cx="7886700" cy="3577646"/>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6">
            <a:extLst>
              <a:ext uri="{FF2B5EF4-FFF2-40B4-BE49-F238E27FC236}">
                <a16:creationId xmlns:a16="http://schemas.microsoft.com/office/drawing/2014/main" id="{70064890-3E76-1843-BBB2-112D3E03584E}"/>
              </a:ext>
              <a:ext uri="{C183D7F6-B498-43B3-948B-1728B52AA6E4}">
                <adec:decorative xmlns:adec="http://schemas.microsoft.com/office/drawing/2017/decorative" val="1"/>
              </a:ext>
            </a:extLst>
          </p:cNvPr>
          <p:cNvCxnSpPr/>
          <p:nvPr userDrawn="1"/>
        </p:nvCxnSpPr>
        <p:spPr>
          <a:xfrm>
            <a:off x="8488236" y="4848251"/>
            <a:ext cx="0" cy="339025"/>
          </a:xfrm>
          <a:prstGeom prst="line">
            <a:avLst/>
          </a:prstGeom>
          <a:ln w="9525">
            <a:solidFill>
              <a:srgbClr val="00ADE4"/>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D77FC6B7-DCC4-3445-B262-E514AC260306}"/>
              </a:ext>
              <a:ext uri="{C183D7F6-B498-43B3-948B-1728B52AA6E4}">
                <adec:decorative xmlns:adec="http://schemas.microsoft.com/office/drawing/2017/decorative" val="1"/>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7464290" y="4906080"/>
            <a:ext cx="939800" cy="88900"/>
          </a:xfrm>
          <a:prstGeom prst="rect">
            <a:avLst/>
          </a:prstGeom>
        </p:spPr>
      </p:pic>
      <p:sp>
        <p:nvSpPr>
          <p:cNvPr id="6" name="Slide Number Placeholder 7"/>
          <p:cNvSpPr>
            <a:spLocks noGrp="1"/>
          </p:cNvSpPr>
          <p:nvPr>
            <p:ph type="sldNum" sz="quarter" idx="4"/>
          </p:nvPr>
        </p:nvSpPr>
        <p:spPr>
          <a:xfrm>
            <a:off x="8515350" y="4804475"/>
            <a:ext cx="628649" cy="273844"/>
          </a:xfrm>
          <a:prstGeom prst="rect">
            <a:avLst/>
          </a:prstGeom>
        </p:spPr>
        <p:txBody>
          <a:bodyPr vert="horz" lIns="91440" tIns="45720" rIns="91440" bIns="45720" rtlCol="0" anchor="ctr"/>
          <a:lstStyle>
            <a:lvl1pPr algn="ctr">
              <a:defRPr sz="900" b="1">
                <a:solidFill>
                  <a:srgbClr val="003C68"/>
                </a:solidFill>
                <a:latin typeface="Verdana" panose="020B0604030504040204" pitchFamily="34" charset="0"/>
                <a:ea typeface="Verdana" panose="020B0604030504040204" pitchFamily="34" charset="0"/>
                <a:cs typeface="Verdana" panose="020B0604030504040204" pitchFamily="34" charset="0"/>
              </a:defRPr>
            </a:lvl1pPr>
          </a:lstStyle>
          <a:p>
            <a:fld id="{CC942E1D-94D0-4C55-B1DD-A28B122FA8E2}" type="slidenum">
              <a:rPr lang="en-US" smtClean="0"/>
              <a:pPr/>
              <a:t>‹#›</a:t>
            </a:fld>
            <a:endParaRPr lang="en-US" dirty="0"/>
          </a:p>
        </p:txBody>
      </p:sp>
    </p:spTree>
    <p:extLst>
      <p:ext uri="{BB962C8B-B14F-4D97-AF65-F5344CB8AC3E}">
        <p14:creationId xmlns:p14="http://schemas.microsoft.com/office/powerpoint/2010/main" val="1774840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0" r:id="rId3"/>
    <p:sldLayoutId id="2147483664" r:id="rId4"/>
    <p:sldLayoutId id="2147483691" r:id="rId5"/>
    <p:sldLayoutId id="2147483673" r:id="rId6"/>
    <p:sldLayoutId id="2147483665" r:id="rId7"/>
    <p:sldLayoutId id="2147483686" r:id="rId8"/>
    <p:sldLayoutId id="2147483687" r:id="rId9"/>
    <p:sldLayoutId id="2147483666" r:id="rId10"/>
    <p:sldLayoutId id="2147483685" r:id="rId11"/>
    <p:sldLayoutId id="2147483668" r:id="rId12"/>
    <p:sldLayoutId id="2147483675" r:id="rId13"/>
    <p:sldLayoutId id="2147483689" r:id="rId14"/>
    <p:sldLayoutId id="2147483669"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sz="1600" b="1" kern="1200">
          <a:solidFill>
            <a:schemeClr val="bg1"/>
          </a:solidFill>
          <a:latin typeface="Verdana" panose="020B0604030504040204" pitchFamily="34" charset="0"/>
          <a:ea typeface="Verdana" panose="020B0604030504040204" pitchFamily="34" charset="0"/>
          <a:cs typeface="Verdana" panose="020B0604030504040204" pitchFamily="34" charset="0"/>
        </a:defRPr>
      </a:lvl1pPr>
    </p:titleStyle>
    <p:bodyStyle>
      <a:lvl1pPr marL="234950" indent="-177800" algn="l" defTabSz="685800" rtl="0" eaLnBrk="1" latinLnBrk="0" hangingPunct="1">
        <a:lnSpc>
          <a:spcPts val="2000"/>
        </a:lnSpc>
        <a:spcBef>
          <a:spcPts val="750"/>
        </a:spcBef>
        <a:spcAft>
          <a:spcPts val="600"/>
        </a:spcAft>
        <a:buClr>
          <a:srgbClr val="00ADE4"/>
        </a:buClr>
        <a:buSzPct val="100000"/>
        <a:buFont typeface="Zapf Dingbats"/>
        <a:buChar char="❯"/>
        <a:tabLst/>
        <a:defRPr sz="1600" kern="1200">
          <a:solidFill>
            <a:srgbClr val="003C68"/>
          </a:solidFill>
          <a:latin typeface="Verdana" panose="020B0604030504040204" pitchFamily="34" charset="0"/>
          <a:ea typeface="Verdana" panose="020B0604030504040204" pitchFamily="34" charset="0"/>
          <a:cs typeface="Verdana" panose="020B0604030504040204" pitchFamily="34" charset="0"/>
        </a:defRPr>
      </a:lvl1pPr>
      <a:lvl2pPr marL="457200" indent="-168275" algn="l" defTabSz="685800" rtl="0" eaLnBrk="1" latinLnBrk="0" hangingPunct="1">
        <a:lnSpc>
          <a:spcPts val="1920"/>
        </a:lnSpc>
        <a:spcBef>
          <a:spcPts val="375"/>
        </a:spcBef>
        <a:spcAft>
          <a:spcPts val="600"/>
        </a:spcAft>
        <a:buClr>
          <a:srgbClr val="00ADE4"/>
        </a:buClr>
        <a:buSzPct val="100000"/>
        <a:buFont typeface="Arial" panose="020B0604020202020204" pitchFamily="34" charset="0"/>
        <a:buChar char="•"/>
        <a:tabLst/>
        <a:defRPr sz="1600" kern="1200">
          <a:solidFill>
            <a:srgbClr val="003C68"/>
          </a:solidFill>
          <a:latin typeface="Verdana" panose="020B0604030504040204" pitchFamily="34" charset="0"/>
          <a:ea typeface="Verdana" panose="020B0604030504040204" pitchFamily="34" charset="0"/>
          <a:cs typeface="Verdana" panose="020B0604030504040204" pitchFamily="34" charset="0"/>
        </a:defRPr>
      </a:lvl2pPr>
      <a:lvl3pPr marL="687388" indent="-230188" algn="l" defTabSz="685800" rtl="0" eaLnBrk="1" latinLnBrk="0" hangingPunct="1">
        <a:lnSpc>
          <a:spcPts val="1920"/>
        </a:lnSpc>
        <a:spcBef>
          <a:spcPts val="375"/>
        </a:spcBef>
        <a:spcAft>
          <a:spcPts val="600"/>
        </a:spcAft>
        <a:buClr>
          <a:srgbClr val="073C72"/>
        </a:buClr>
        <a:buFont typeface=".PingFang SC Regular"/>
        <a:buChar char="－"/>
        <a:tabLst/>
        <a:defRPr sz="1600" kern="1200">
          <a:solidFill>
            <a:srgbClr val="003C68"/>
          </a:solidFill>
          <a:latin typeface="Verdana" panose="020B0604030504040204" pitchFamily="34" charset="0"/>
          <a:ea typeface="Verdana" panose="020B0604030504040204" pitchFamily="34" charset="0"/>
          <a:cs typeface="Verdana" panose="020B0604030504040204" pitchFamily="34" charset="0"/>
        </a:defRPr>
      </a:lvl3pPr>
      <a:lvl4pPr marL="1200150" indent="-171450" algn="l" defTabSz="685800" rtl="0" eaLnBrk="1" latinLnBrk="0" hangingPunct="1">
        <a:lnSpc>
          <a:spcPts val="1920"/>
        </a:lnSpc>
        <a:spcBef>
          <a:spcPts val="375"/>
        </a:spcBef>
        <a:spcAft>
          <a:spcPts val="600"/>
        </a:spcAft>
        <a:buFont typeface="Arial" panose="020B0604020202020204" pitchFamily="34" charset="0"/>
        <a:buChar char="•"/>
        <a:defRPr sz="1600" kern="1200">
          <a:solidFill>
            <a:srgbClr val="003C68"/>
          </a:solidFill>
          <a:latin typeface="Verdana" panose="020B0604030504040204" pitchFamily="34" charset="0"/>
          <a:ea typeface="Verdana" panose="020B0604030504040204" pitchFamily="34" charset="0"/>
          <a:cs typeface="Verdana" panose="020B0604030504040204" pitchFamily="34" charset="0"/>
        </a:defRPr>
      </a:lvl4pPr>
      <a:lvl5pPr marL="1543050" indent="-171450" algn="l" defTabSz="685800" rtl="0" eaLnBrk="1" latinLnBrk="0" hangingPunct="1">
        <a:lnSpc>
          <a:spcPts val="1920"/>
        </a:lnSpc>
        <a:spcBef>
          <a:spcPts val="375"/>
        </a:spcBef>
        <a:buFont typeface="Arial" panose="020B0604020202020204" pitchFamily="34" charset="0"/>
        <a:buChar char="•"/>
        <a:defRPr sz="1600" kern="1200">
          <a:solidFill>
            <a:srgbClr val="003C68"/>
          </a:solidFill>
          <a:latin typeface="Verdana" panose="020B0604030504040204" pitchFamily="34" charset="0"/>
          <a:ea typeface="Verdana" panose="020B0604030504040204" pitchFamily="34" charset="0"/>
          <a:cs typeface="Verdana" panose="020B060403050404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4" orient="horz" pos="660" userDrawn="1">
          <p15:clr>
            <a:srgbClr val="F26B43"/>
          </p15:clr>
        </p15:guide>
        <p15:guide id="6" orient="horz" pos="1620" userDrawn="1">
          <p15:clr>
            <a:srgbClr val="F26B43"/>
          </p15:clr>
        </p15:guide>
        <p15:guide id="8" orient="horz" pos="3132" userDrawn="1">
          <p15:clr>
            <a:srgbClr val="F26B43"/>
          </p15:clr>
        </p15:guide>
        <p15:guide id="9" pos="456" userDrawn="1">
          <p15:clr>
            <a:srgbClr val="F26B43"/>
          </p15:clr>
        </p15:guide>
        <p15:guide id="10" pos="3288" userDrawn="1">
          <p15:clr>
            <a:srgbClr val="F26B43"/>
          </p15:clr>
        </p15:guide>
        <p15:guide id="11" orient="horz" pos="27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mailto:jerimulrow@westat.com"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hyperlink" Target="https://www.nationalacademies.org/our-work/7th-edition-of-principles-and-practices-for-a-federal-statistical-agenc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C0CD0-68C2-5ED1-978B-4D81B01781B8}"/>
              </a:ext>
            </a:extLst>
          </p:cNvPr>
          <p:cNvSpPr>
            <a:spLocks noGrp="1"/>
          </p:cNvSpPr>
          <p:nvPr>
            <p:ph type="ctrTitle"/>
          </p:nvPr>
        </p:nvSpPr>
        <p:spPr>
          <a:xfrm>
            <a:off x="622002" y="1114987"/>
            <a:ext cx="5190969" cy="1692567"/>
          </a:xfrm>
        </p:spPr>
        <p:txBody>
          <a:bodyPr>
            <a:normAutofit/>
          </a:bodyPr>
          <a:lstStyle/>
          <a:p>
            <a:r>
              <a:rPr lang="en-US" dirty="0"/>
              <a:t>A Comparison of Frameworks for Ethics in Statistical Practice</a:t>
            </a:r>
          </a:p>
        </p:txBody>
      </p:sp>
      <p:sp>
        <p:nvSpPr>
          <p:cNvPr id="3" name="Text Placeholder 2">
            <a:extLst>
              <a:ext uri="{FF2B5EF4-FFF2-40B4-BE49-F238E27FC236}">
                <a16:creationId xmlns:a16="http://schemas.microsoft.com/office/drawing/2014/main" id="{333E3300-7BCA-08A9-661C-61D3272EA770}"/>
              </a:ext>
            </a:extLst>
          </p:cNvPr>
          <p:cNvSpPr>
            <a:spLocks noGrp="1"/>
          </p:cNvSpPr>
          <p:nvPr>
            <p:ph type="subTitle" idx="1"/>
          </p:nvPr>
        </p:nvSpPr>
        <p:spPr>
          <a:xfrm>
            <a:off x="644976" y="3182229"/>
            <a:ext cx="6582759" cy="674264"/>
          </a:xfrm>
        </p:spPr>
        <p:txBody>
          <a:bodyPr>
            <a:normAutofit fontScale="92500" lnSpcReduction="20000"/>
          </a:bodyPr>
          <a:lstStyle/>
          <a:p>
            <a:pPr>
              <a:spcBef>
                <a:spcPts val="0"/>
              </a:spcBef>
            </a:pPr>
            <a:r>
              <a:rPr lang="en-US" dirty="0"/>
              <a:t>Jeri Mulrow </a:t>
            </a:r>
            <a:r>
              <a:rPr lang="en-US" dirty="0">
                <a:solidFill>
                  <a:srgbClr val="00AFEF"/>
                </a:solidFill>
                <a:latin typeface="Calibri Light" panose="020F0302020204030204" pitchFamily="34" charset="0"/>
                <a:cs typeface="Calibri Light" panose="020F0302020204030204" pitchFamily="34" charset="0"/>
              </a:rPr>
              <a:t>| </a:t>
            </a:r>
            <a:r>
              <a:rPr lang="en-US" dirty="0"/>
              <a:t>Vice President &amp; Director </a:t>
            </a:r>
          </a:p>
          <a:p>
            <a:pPr>
              <a:spcBef>
                <a:spcPts val="0"/>
              </a:spcBef>
            </a:pPr>
            <a:r>
              <a:rPr lang="en-US" dirty="0"/>
              <a:t>Statistics &amp; Data Science </a:t>
            </a:r>
            <a:r>
              <a:rPr lang="en-US" dirty="0">
                <a:solidFill>
                  <a:srgbClr val="00AFEF"/>
                </a:solidFill>
                <a:latin typeface="Calibri Light" panose="020F0302020204030204" pitchFamily="34" charset="0"/>
                <a:cs typeface="Calibri Light" panose="020F0302020204030204" pitchFamily="34" charset="0"/>
              </a:rPr>
              <a:t>| </a:t>
            </a:r>
            <a:r>
              <a:rPr lang="en-US" dirty="0"/>
              <a:t>Westat</a:t>
            </a:r>
          </a:p>
        </p:txBody>
      </p:sp>
      <p:sp>
        <p:nvSpPr>
          <p:cNvPr id="4" name="Slide Number Placeholder 2">
            <a:extLst>
              <a:ext uri="{FF2B5EF4-FFF2-40B4-BE49-F238E27FC236}">
                <a16:creationId xmlns:a16="http://schemas.microsoft.com/office/drawing/2014/main" id="{36E58C79-BA31-BD33-4004-5580F24CC495}"/>
              </a:ext>
            </a:extLst>
          </p:cNvPr>
          <p:cNvSpPr txBox="1">
            <a:spLocks/>
          </p:cNvSpPr>
          <p:nvPr/>
        </p:nvSpPr>
        <p:spPr>
          <a:xfrm>
            <a:off x="8515350" y="4804475"/>
            <a:ext cx="628649"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C942E1D-94D0-4C55-B1DD-A28B122FA8E2}" type="slidenum">
              <a:rPr lang="en-US" smtClean="0">
                <a:solidFill>
                  <a:srgbClr val="6BCED6"/>
                </a:solidFill>
              </a:rPr>
              <a:pPr/>
              <a:t>0</a:t>
            </a:fld>
            <a:endParaRPr lang="en-US" dirty="0">
              <a:solidFill>
                <a:srgbClr val="6BCED6"/>
              </a:solidFill>
            </a:endParaRPr>
          </a:p>
        </p:txBody>
      </p:sp>
    </p:spTree>
    <p:extLst>
      <p:ext uri="{BB962C8B-B14F-4D97-AF65-F5344CB8AC3E}">
        <p14:creationId xmlns:p14="http://schemas.microsoft.com/office/powerpoint/2010/main" val="37407511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Acknowledgements</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1</a:t>
            </a:fld>
            <a:endParaRPr lang="en-US"/>
          </a:p>
        </p:txBody>
      </p:sp>
      <p:sp>
        <p:nvSpPr>
          <p:cNvPr id="5" name="Content Placeholder 4"/>
          <p:cNvSpPr>
            <a:spLocks noGrp="1"/>
          </p:cNvSpPr>
          <p:nvPr>
            <p:ph sz="half" idx="2"/>
          </p:nvPr>
        </p:nvSpPr>
        <p:spPr>
          <a:xfrm>
            <a:off x="629842" y="852928"/>
            <a:ext cx="8168376" cy="3648734"/>
          </a:xfrm>
        </p:spPr>
        <p:txBody>
          <a:bodyPr/>
          <a:lstStyle/>
          <a:p>
            <a:pPr lvl="1">
              <a:spcBef>
                <a:spcPts val="600"/>
              </a:spcBef>
            </a:pPr>
            <a:r>
              <a:rPr lang="en-US" dirty="0"/>
              <a:t>Follows on to two prior presentations at JSM and CSP on ethical frameworks for statistical practice.   </a:t>
            </a:r>
          </a:p>
          <a:p>
            <a:pPr lvl="1">
              <a:spcBef>
                <a:spcPts val="600"/>
              </a:spcBef>
            </a:pPr>
            <a:r>
              <a:rPr lang="en-US" dirty="0"/>
              <a:t>Built on work by Rochelle E. Tractenberg in 2020, “Concordance of professional ethical practice standards for the domain of data science: A white paper.  Published in the </a:t>
            </a:r>
            <a:r>
              <a:rPr lang="en-US" i="1" dirty="0"/>
              <a:t>Open Archive of the Social Sciences (</a:t>
            </a:r>
            <a:r>
              <a:rPr lang="en-US" i="1" dirty="0" err="1"/>
              <a:t>SocArXiv</a:t>
            </a:r>
            <a:r>
              <a:rPr lang="en-US" i="1" dirty="0"/>
              <a:t>), DOI 10.31235/osf.io/p7rj2.</a:t>
            </a:r>
          </a:p>
          <a:p>
            <a:pPr marL="288925" lvl="1" indent="0">
              <a:spcBef>
                <a:spcPts val="600"/>
              </a:spcBef>
              <a:buNone/>
            </a:pPr>
            <a:endParaRPr lang="en-US" sz="1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0260382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9F64A3-C1FD-5155-3440-D72DC6828513}"/>
              </a:ext>
            </a:extLst>
          </p:cNvPr>
          <p:cNvSpPr>
            <a:spLocks noGrp="1"/>
          </p:cNvSpPr>
          <p:nvPr>
            <p:ph type="title"/>
          </p:nvPr>
        </p:nvSpPr>
        <p:spPr>
          <a:xfrm>
            <a:off x="148683" y="1052713"/>
            <a:ext cx="5404625" cy="3334870"/>
          </a:xfrm>
        </p:spPr>
        <p:txBody>
          <a:bodyPr>
            <a:normAutofit/>
          </a:bodyPr>
          <a:lstStyle/>
          <a:p>
            <a:pPr>
              <a:lnSpc>
                <a:spcPts val="3200"/>
              </a:lnSpc>
            </a:pPr>
            <a:r>
              <a:rPr lang="en-US" dirty="0"/>
              <a:t>Overview of frameworks</a:t>
            </a:r>
            <a:br>
              <a:rPr lang="en-US" dirty="0"/>
            </a:br>
            <a:br>
              <a:rPr lang="en-US" dirty="0"/>
            </a:br>
            <a:r>
              <a:rPr lang="en-US" dirty="0"/>
              <a:t>Comparison of frameworks</a:t>
            </a:r>
            <a:br>
              <a:rPr lang="en-US" dirty="0"/>
            </a:br>
            <a:br>
              <a:rPr lang="en-US" dirty="0"/>
            </a:br>
            <a:r>
              <a:rPr lang="en-US" dirty="0"/>
              <a:t>Role of organizations</a:t>
            </a:r>
            <a:br>
              <a:rPr lang="en-US" dirty="0"/>
            </a:br>
            <a:endParaRPr lang="en-US" dirty="0"/>
          </a:p>
        </p:txBody>
      </p:sp>
      <p:sp>
        <p:nvSpPr>
          <p:cNvPr id="3" name="Slide Number Placeholder 2">
            <a:extLst>
              <a:ext uri="{FF2B5EF4-FFF2-40B4-BE49-F238E27FC236}">
                <a16:creationId xmlns:a16="http://schemas.microsoft.com/office/drawing/2014/main" id="{624C63A2-23CE-5297-870F-921E83FE73B4}"/>
              </a:ext>
            </a:extLst>
          </p:cNvPr>
          <p:cNvSpPr>
            <a:spLocks noGrp="1"/>
          </p:cNvSpPr>
          <p:nvPr>
            <p:ph type="sldNum" sz="quarter" idx="12"/>
          </p:nvPr>
        </p:nvSpPr>
        <p:spPr/>
        <p:txBody>
          <a:bodyPr/>
          <a:lstStyle/>
          <a:p>
            <a:fld id="{CC942E1D-94D0-4C55-B1DD-A28B122FA8E2}" type="slidenum">
              <a:rPr lang="en-US" smtClean="0"/>
              <a:pPr/>
              <a:t>2</a:t>
            </a:fld>
            <a:endParaRPr lang="en-US" dirty="0"/>
          </a:p>
        </p:txBody>
      </p:sp>
    </p:spTree>
    <p:extLst>
      <p:ext uri="{BB962C8B-B14F-4D97-AF65-F5344CB8AC3E}">
        <p14:creationId xmlns:p14="http://schemas.microsoft.com/office/powerpoint/2010/main" val="4290848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Ethical Framework</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3</a:t>
            </a:fld>
            <a:endParaRPr lang="en-US"/>
          </a:p>
        </p:txBody>
      </p:sp>
      <p:sp>
        <p:nvSpPr>
          <p:cNvPr id="5" name="Content Placeholder 4"/>
          <p:cNvSpPr>
            <a:spLocks noGrp="1"/>
          </p:cNvSpPr>
          <p:nvPr>
            <p:ph sz="half" idx="2"/>
          </p:nvPr>
        </p:nvSpPr>
        <p:spPr>
          <a:xfrm>
            <a:off x="629842" y="852928"/>
            <a:ext cx="8168376" cy="3648734"/>
          </a:xfrm>
        </p:spPr>
        <p:txBody>
          <a:bodyPr/>
          <a:lstStyle/>
          <a:p>
            <a:pPr marL="400050" indent="-342900">
              <a:buAutoNum type="arabicPeriod"/>
            </a:pPr>
            <a:r>
              <a:rPr lang="en-US" sz="1800" b="1" dirty="0"/>
              <a:t>American Statistical Association (ASA) – Ethical Guidelines for Statistical Practice 2022</a:t>
            </a:r>
          </a:p>
          <a:p>
            <a:pPr marL="57150" indent="0">
              <a:buNone/>
            </a:pPr>
            <a:endParaRPr lang="en-US" sz="1800" b="1" dirty="0"/>
          </a:p>
          <a:p>
            <a:pPr lvl="1">
              <a:spcBef>
                <a:spcPts val="600"/>
              </a:spcBef>
            </a:pPr>
            <a:r>
              <a:rPr lang="en-US" dirty="0"/>
              <a:t>Statistical practitioner includes </a:t>
            </a:r>
            <a:r>
              <a:rPr lang="en-US" b="1" dirty="0"/>
              <a:t>all who engage in statistical practice,</a:t>
            </a:r>
            <a:r>
              <a:rPr lang="en-US" dirty="0"/>
              <a:t> regardless of job title, profession, level or field of degree.</a:t>
            </a:r>
          </a:p>
          <a:p>
            <a:pPr lvl="1">
              <a:spcBef>
                <a:spcPts val="600"/>
              </a:spcBef>
            </a:pPr>
            <a:r>
              <a:rPr lang="en-US" dirty="0"/>
              <a:t>Guidelines are intended for </a:t>
            </a:r>
            <a:r>
              <a:rPr lang="en-US" b="1" dirty="0"/>
              <a:t>individuals</a:t>
            </a:r>
            <a:r>
              <a:rPr lang="en-US" dirty="0"/>
              <a:t> but principles are relevant to organizations that engage in statistical practice.</a:t>
            </a:r>
          </a:p>
          <a:p>
            <a:pPr lvl="1">
              <a:spcBef>
                <a:spcPts val="600"/>
              </a:spcBef>
            </a:pPr>
            <a:r>
              <a:rPr lang="en-US" b="1" dirty="0"/>
              <a:t>“Society benefits from informed judgments supported by ethical statistical practice.”</a:t>
            </a:r>
          </a:p>
          <a:p>
            <a:pPr lvl="1">
              <a:spcBef>
                <a:spcPts val="600"/>
              </a:spcBef>
            </a:pPr>
            <a:r>
              <a:rPr lang="en-US" dirty="0"/>
              <a:t>Outlines eight (</a:t>
            </a:r>
            <a:r>
              <a:rPr lang="en-US" b="1" dirty="0"/>
              <a:t>8) areas of responsibility </a:t>
            </a:r>
            <a:r>
              <a:rPr lang="en-US" dirty="0"/>
              <a:t>for individuals plus an appendix outline responsibilities of organizations.</a:t>
            </a:r>
          </a:p>
        </p:txBody>
      </p:sp>
    </p:spTree>
    <p:extLst>
      <p:ext uri="{BB962C8B-B14F-4D97-AF65-F5344CB8AC3E}">
        <p14:creationId xmlns:p14="http://schemas.microsoft.com/office/powerpoint/2010/main" val="13837094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Ethical Framework</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4</a:t>
            </a:fld>
            <a:endParaRPr lang="en-US"/>
          </a:p>
        </p:txBody>
      </p:sp>
      <p:sp>
        <p:nvSpPr>
          <p:cNvPr id="5" name="Content Placeholder 4"/>
          <p:cNvSpPr>
            <a:spLocks noGrp="1"/>
          </p:cNvSpPr>
          <p:nvPr>
            <p:ph sz="half" idx="2"/>
          </p:nvPr>
        </p:nvSpPr>
        <p:spPr>
          <a:xfrm>
            <a:off x="629842" y="852928"/>
            <a:ext cx="8168376" cy="3648734"/>
          </a:xfrm>
        </p:spPr>
        <p:txBody>
          <a:bodyPr/>
          <a:lstStyle/>
          <a:p>
            <a:pPr marL="57150" indent="0">
              <a:buNone/>
            </a:pPr>
            <a:r>
              <a:rPr lang="en-US" sz="1800" b="1" dirty="0"/>
              <a:t>2. International Statistical Institute (ISI) – Declaration on Professional Ethics 2010, reaffirmed 2017</a:t>
            </a:r>
          </a:p>
          <a:p>
            <a:pPr marL="57150" indent="0">
              <a:buNone/>
            </a:pPr>
            <a:endParaRPr lang="en-US" sz="1800" b="1" dirty="0"/>
          </a:p>
          <a:p>
            <a:pPr lvl="1">
              <a:spcBef>
                <a:spcPts val="600"/>
              </a:spcBef>
            </a:pPr>
            <a:r>
              <a:rPr lang="en-US" dirty="0"/>
              <a:t>The definition of statistician goes well beyond those with formal degrees in the field to include a </a:t>
            </a:r>
            <a:r>
              <a:rPr lang="en-US" b="1" dirty="0"/>
              <a:t>wide array of creators and users of statistical data and tools.</a:t>
            </a:r>
          </a:p>
          <a:p>
            <a:pPr lvl="1">
              <a:spcBef>
                <a:spcPts val="600"/>
              </a:spcBef>
            </a:pPr>
            <a:r>
              <a:rPr lang="en-US" dirty="0"/>
              <a:t>Seeks to document widely held </a:t>
            </a:r>
            <a:r>
              <a:rPr lang="en-US" b="1" dirty="0"/>
              <a:t>principles of the statistics profession</a:t>
            </a:r>
            <a:r>
              <a:rPr lang="en-US" dirty="0"/>
              <a:t>.</a:t>
            </a:r>
          </a:p>
          <a:p>
            <a:pPr lvl="1">
              <a:spcBef>
                <a:spcPts val="600"/>
              </a:spcBef>
            </a:pPr>
            <a:r>
              <a:rPr lang="en-US" dirty="0"/>
              <a:t>Recognizes that one principle may impede the operation of another and that statisticians may have to make choices between principles.</a:t>
            </a:r>
          </a:p>
          <a:p>
            <a:pPr lvl="1">
              <a:spcBef>
                <a:spcPts val="600"/>
              </a:spcBef>
            </a:pPr>
            <a:r>
              <a:rPr lang="en-US" dirty="0"/>
              <a:t>Outlines three </a:t>
            </a:r>
            <a:r>
              <a:rPr lang="en-US" b="1" dirty="0"/>
              <a:t>(3) shared professional values and 12 ethical principles</a:t>
            </a:r>
            <a:r>
              <a:rPr lang="en-US" dirty="0"/>
              <a:t>.</a:t>
            </a:r>
          </a:p>
          <a:p>
            <a:pPr lvl="1"/>
            <a:endParaRPr lang="en-US" dirty="0"/>
          </a:p>
        </p:txBody>
      </p:sp>
    </p:spTree>
    <p:extLst>
      <p:ext uri="{BB962C8B-B14F-4D97-AF65-F5344CB8AC3E}">
        <p14:creationId xmlns:p14="http://schemas.microsoft.com/office/powerpoint/2010/main" val="29826479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Ethical Framework</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5</a:t>
            </a:fld>
            <a:endParaRPr lang="en-US"/>
          </a:p>
        </p:txBody>
      </p:sp>
      <p:sp>
        <p:nvSpPr>
          <p:cNvPr id="5" name="Content Placeholder 4"/>
          <p:cNvSpPr>
            <a:spLocks noGrp="1"/>
          </p:cNvSpPr>
          <p:nvPr>
            <p:ph sz="half" idx="2"/>
          </p:nvPr>
        </p:nvSpPr>
        <p:spPr>
          <a:xfrm>
            <a:off x="629842" y="852928"/>
            <a:ext cx="8168376" cy="3648734"/>
          </a:xfrm>
        </p:spPr>
        <p:txBody>
          <a:bodyPr/>
          <a:lstStyle/>
          <a:p>
            <a:pPr marL="57150" indent="0">
              <a:buNone/>
            </a:pPr>
            <a:r>
              <a:rPr lang="en-US" sz="1800" b="1" dirty="0"/>
              <a:t>3. Royal Statistical Society (RSS) – Code of Conduct 2014</a:t>
            </a:r>
          </a:p>
          <a:p>
            <a:pPr marL="57150" indent="0">
              <a:buNone/>
            </a:pPr>
            <a:endParaRPr lang="en-US" sz="1800" b="1" dirty="0"/>
          </a:p>
          <a:p>
            <a:pPr lvl="1">
              <a:spcBef>
                <a:spcPts val="600"/>
              </a:spcBef>
            </a:pPr>
            <a:r>
              <a:rPr lang="en-US" dirty="0"/>
              <a:t>Code is intended to define the actions and behaviors expected of </a:t>
            </a:r>
            <a:r>
              <a:rPr lang="en-US" b="1" dirty="0"/>
              <a:t>RSS Statistical Fellows.</a:t>
            </a:r>
          </a:p>
          <a:p>
            <a:pPr lvl="1">
              <a:spcBef>
                <a:spcPts val="600"/>
              </a:spcBef>
            </a:pPr>
            <a:r>
              <a:rPr lang="en-US" dirty="0"/>
              <a:t>RSS is a professional society.  Through its members, it has an obligation to provide the best possible statistical service and advice.  Fellows are expected to maintain the highest standards. </a:t>
            </a:r>
          </a:p>
          <a:p>
            <a:pPr lvl="1">
              <a:spcBef>
                <a:spcPts val="600"/>
              </a:spcBef>
            </a:pPr>
            <a:r>
              <a:rPr lang="en-US" dirty="0"/>
              <a:t>Professional membership of the Society is an assurance of ability and integrity.</a:t>
            </a:r>
          </a:p>
          <a:p>
            <a:pPr lvl="1">
              <a:spcBef>
                <a:spcPts val="600"/>
              </a:spcBef>
            </a:pPr>
            <a:r>
              <a:rPr lang="en-US" b="1" dirty="0"/>
              <a:t>13 Rules of Professional Conduct </a:t>
            </a:r>
            <a:r>
              <a:rPr lang="en-US" dirty="0"/>
              <a:t>plus dispensary procedures.</a:t>
            </a:r>
          </a:p>
          <a:p>
            <a:pPr lvl="1"/>
            <a:endParaRPr lang="en-US" dirty="0"/>
          </a:p>
        </p:txBody>
      </p:sp>
    </p:spTree>
    <p:extLst>
      <p:ext uri="{BB962C8B-B14F-4D97-AF65-F5344CB8AC3E}">
        <p14:creationId xmlns:p14="http://schemas.microsoft.com/office/powerpoint/2010/main" val="557196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Ethical Framework</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6</a:t>
            </a:fld>
            <a:endParaRPr lang="en-US"/>
          </a:p>
        </p:txBody>
      </p:sp>
      <p:sp>
        <p:nvSpPr>
          <p:cNvPr id="5" name="Content Placeholder 4"/>
          <p:cNvSpPr>
            <a:spLocks noGrp="1"/>
          </p:cNvSpPr>
          <p:nvPr>
            <p:ph sz="half" idx="2"/>
          </p:nvPr>
        </p:nvSpPr>
        <p:spPr>
          <a:xfrm>
            <a:off x="629842" y="852928"/>
            <a:ext cx="8168376" cy="3648734"/>
          </a:xfrm>
        </p:spPr>
        <p:txBody>
          <a:bodyPr/>
          <a:lstStyle/>
          <a:p>
            <a:pPr marL="57150" indent="0">
              <a:buNone/>
            </a:pPr>
            <a:r>
              <a:rPr lang="en-US" sz="1800" b="1" dirty="0"/>
              <a:t>4. Institute of Electrical and Electronics Engineers (IEEE) – Code of Ethics 2010</a:t>
            </a:r>
          </a:p>
          <a:p>
            <a:pPr marL="57150" indent="0">
              <a:buNone/>
            </a:pPr>
            <a:endParaRPr lang="en-US" sz="1800" b="1" dirty="0"/>
          </a:p>
          <a:p>
            <a:pPr lvl="1">
              <a:spcBef>
                <a:spcPts val="600"/>
              </a:spcBef>
            </a:pPr>
            <a:r>
              <a:rPr lang="en-US" dirty="0"/>
              <a:t>“We, the members of IEEE, in recognition of the importance of our technologies in affecting the quality of life throughout the world, and in accepting a </a:t>
            </a:r>
            <a:r>
              <a:rPr lang="en-US" b="1" dirty="0"/>
              <a:t>personal obligation </a:t>
            </a:r>
            <a:r>
              <a:rPr lang="en-US" dirty="0"/>
              <a:t>to our profession, its members, and the communities we serve, do hereby commit ourselves </a:t>
            </a:r>
            <a:r>
              <a:rPr lang="en-US" b="1" dirty="0"/>
              <a:t>to the highest ethical and professional conduct</a:t>
            </a:r>
            <a:r>
              <a:rPr lang="en-US" dirty="0"/>
              <a:t>…”</a:t>
            </a:r>
          </a:p>
          <a:p>
            <a:pPr lvl="1">
              <a:spcBef>
                <a:spcPts val="600"/>
              </a:spcBef>
            </a:pPr>
            <a:r>
              <a:rPr lang="en-US" b="1" dirty="0"/>
              <a:t>10 rules of conduct</a:t>
            </a:r>
            <a:r>
              <a:rPr lang="en-US" dirty="0"/>
              <a:t>.</a:t>
            </a:r>
          </a:p>
          <a:p>
            <a:pPr lvl="1">
              <a:spcBef>
                <a:spcPts val="600"/>
              </a:spcBef>
            </a:pPr>
            <a:r>
              <a:rPr lang="en-US" dirty="0"/>
              <a:t>IEEE Ethics – 2023 conference held May 18-20, 2023 at Purdue University.</a:t>
            </a:r>
          </a:p>
          <a:p>
            <a:pPr lvl="1"/>
            <a:endParaRPr lang="en-US" dirty="0"/>
          </a:p>
        </p:txBody>
      </p:sp>
    </p:spTree>
    <p:extLst>
      <p:ext uri="{BB962C8B-B14F-4D97-AF65-F5344CB8AC3E}">
        <p14:creationId xmlns:p14="http://schemas.microsoft.com/office/powerpoint/2010/main" val="17488534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Ethical Framework</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7</a:t>
            </a:fld>
            <a:endParaRPr lang="en-US"/>
          </a:p>
        </p:txBody>
      </p:sp>
      <p:sp>
        <p:nvSpPr>
          <p:cNvPr id="5" name="Content Placeholder 4"/>
          <p:cNvSpPr>
            <a:spLocks noGrp="1"/>
          </p:cNvSpPr>
          <p:nvPr>
            <p:ph sz="half" idx="2"/>
          </p:nvPr>
        </p:nvSpPr>
        <p:spPr>
          <a:xfrm>
            <a:off x="629842" y="852928"/>
            <a:ext cx="8168376" cy="3648734"/>
          </a:xfrm>
        </p:spPr>
        <p:txBody>
          <a:bodyPr/>
          <a:lstStyle/>
          <a:p>
            <a:pPr marL="57150" indent="0">
              <a:buNone/>
            </a:pPr>
            <a:r>
              <a:rPr lang="en-US" sz="1800" b="1" dirty="0"/>
              <a:t>5. Federal Data Strategy – Data Ethics Framework 2021</a:t>
            </a:r>
          </a:p>
          <a:p>
            <a:pPr marL="57150" indent="0">
              <a:buNone/>
            </a:pPr>
            <a:endParaRPr lang="en-US" sz="1800" b="1" dirty="0"/>
          </a:p>
          <a:p>
            <a:pPr lvl="1">
              <a:spcBef>
                <a:spcPts val="600"/>
              </a:spcBef>
            </a:pPr>
            <a:r>
              <a:rPr lang="en-US" dirty="0"/>
              <a:t>“Decisions made with data touch every aspect of American life….The </a:t>
            </a:r>
            <a:r>
              <a:rPr lang="en-US" b="1" dirty="0"/>
              <a:t>Federal Government </a:t>
            </a:r>
            <a:r>
              <a:rPr lang="en-US" dirty="0"/>
              <a:t>plays a critical role in setting the examples of ethical oversight by making responsible data decisions and supporting proven values that promote the public good…The ethical use of data is both an individual and organizational responsibility.”</a:t>
            </a:r>
          </a:p>
          <a:p>
            <a:pPr lvl="1">
              <a:spcBef>
                <a:spcPts val="600"/>
              </a:spcBef>
            </a:pPr>
            <a:r>
              <a:rPr lang="en-US" dirty="0"/>
              <a:t>Applies to </a:t>
            </a:r>
            <a:r>
              <a:rPr lang="en-US" b="1" dirty="0"/>
              <a:t>all data types and data users </a:t>
            </a:r>
            <a:r>
              <a:rPr lang="en-US" dirty="0"/>
              <a:t>who work in the Federal Government or as agents of the government (researchers, contractors, etc.).</a:t>
            </a:r>
          </a:p>
          <a:p>
            <a:pPr lvl="1">
              <a:spcBef>
                <a:spcPts val="600"/>
              </a:spcBef>
            </a:pPr>
            <a:r>
              <a:rPr lang="en-US" dirty="0"/>
              <a:t>7 data ethics tenets that include guidance for both </a:t>
            </a:r>
            <a:r>
              <a:rPr lang="en-US" b="1" dirty="0"/>
              <a:t>federal leaders and data users</a:t>
            </a:r>
            <a:r>
              <a:rPr lang="en-US" dirty="0"/>
              <a:t> plus references to additional resources.</a:t>
            </a:r>
          </a:p>
          <a:p>
            <a:pPr lvl="1"/>
            <a:endParaRPr lang="en-US" dirty="0"/>
          </a:p>
        </p:txBody>
      </p:sp>
    </p:spTree>
    <p:extLst>
      <p:ext uri="{BB962C8B-B14F-4D97-AF65-F5344CB8AC3E}">
        <p14:creationId xmlns:p14="http://schemas.microsoft.com/office/powerpoint/2010/main" val="21962574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Ethical Framework</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8</a:t>
            </a:fld>
            <a:endParaRPr lang="en-US"/>
          </a:p>
        </p:txBody>
      </p:sp>
      <p:sp>
        <p:nvSpPr>
          <p:cNvPr id="5" name="Content Placeholder 4"/>
          <p:cNvSpPr>
            <a:spLocks noGrp="1"/>
          </p:cNvSpPr>
          <p:nvPr>
            <p:ph sz="half" idx="2"/>
          </p:nvPr>
        </p:nvSpPr>
        <p:spPr>
          <a:xfrm>
            <a:off x="629842" y="852928"/>
            <a:ext cx="8168376" cy="3648734"/>
          </a:xfrm>
        </p:spPr>
        <p:txBody>
          <a:bodyPr/>
          <a:lstStyle/>
          <a:p>
            <a:pPr marL="57150" indent="0">
              <a:buNone/>
            </a:pPr>
            <a:r>
              <a:rPr lang="en-US" sz="1800" b="1" dirty="0"/>
              <a:t>6. Artificial Intelligence Ethics Framework for the Intelligence Community 2020</a:t>
            </a:r>
          </a:p>
          <a:p>
            <a:pPr marL="57150" indent="0">
              <a:buNone/>
            </a:pPr>
            <a:endParaRPr lang="en-US" sz="1800" b="1" dirty="0"/>
          </a:p>
          <a:p>
            <a:pPr lvl="1">
              <a:spcBef>
                <a:spcPts val="600"/>
              </a:spcBef>
            </a:pPr>
            <a:r>
              <a:rPr lang="en-US" dirty="0"/>
              <a:t>Intended to guide </a:t>
            </a:r>
            <a:r>
              <a:rPr lang="en-US" b="1" dirty="0"/>
              <a:t>personnel </a:t>
            </a:r>
            <a:r>
              <a:rPr lang="en-US" dirty="0"/>
              <a:t>on whether and how to procure, design, build, use, protect, consume and manage AI and other advanced analytics.</a:t>
            </a:r>
          </a:p>
          <a:p>
            <a:pPr lvl="1">
              <a:spcBef>
                <a:spcPts val="600"/>
              </a:spcBef>
            </a:pPr>
            <a:r>
              <a:rPr lang="en-US" dirty="0"/>
              <a:t>Intended to provide a </a:t>
            </a:r>
            <a:r>
              <a:rPr lang="en-US" b="1" dirty="0"/>
              <a:t>reasoned approach </a:t>
            </a:r>
            <a:r>
              <a:rPr lang="en-US" dirty="0"/>
              <a:t>to judgement to Artificial Intelligence.</a:t>
            </a:r>
          </a:p>
          <a:p>
            <a:pPr lvl="1">
              <a:spcBef>
                <a:spcPts val="600"/>
              </a:spcBef>
            </a:pPr>
            <a:r>
              <a:rPr lang="en-US" dirty="0"/>
              <a:t>6 principles plus 10 areas of specific consideration when embarking on AI projects.</a:t>
            </a:r>
          </a:p>
          <a:p>
            <a:pPr lvl="1"/>
            <a:endParaRPr lang="en-US" dirty="0"/>
          </a:p>
        </p:txBody>
      </p:sp>
    </p:spTree>
    <p:extLst>
      <p:ext uri="{BB962C8B-B14F-4D97-AF65-F5344CB8AC3E}">
        <p14:creationId xmlns:p14="http://schemas.microsoft.com/office/powerpoint/2010/main" val="7170902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Ethical Framework</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9</a:t>
            </a:fld>
            <a:endParaRPr lang="en-US"/>
          </a:p>
        </p:txBody>
      </p:sp>
      <p:sp>
        <p:nvSpPr>
          <p:cNvPr id="5" name="Content Placeholder 4"/>
          <p:cNvSpPr>
            <a:spLocks noGrp="1"/>
          </p:cNvSpPr>
          <p:nvPr>
            <p:ph sz="half" idx="2"/>
          </p:nvPr>
        </p:nvSpPr>
        <p:spPr>
          <a:xfrm>
            <a:off x="629842" y="852928"/>
            <a:ext cx="8168376" cy="3648734"/>
          </a:xfrm>
        </p:spPr>
        <p:txBody>
          <a:bodyPr/>
          <a:lstStyle/>
          <a:p>
            <a:pPr marL="57150" indent="0">
              <a:buNone/>
            </a:pPr>
            <a:r>
              <a:rPr lang="en-US" sz="1800" b="1" dirty="0"/>
              <a:t>7. Association for Computing Machinery (ACM) – Code of Ethics and Professional Conduct 2018</a:t>
            </a:r>
          </a:p>
          <a:p>
            <a:pPr marL="57150" indent="0">
              <a:buNone/>
            </a:pPr>
            <a:endParaRPr lang="en-US" sz="1800" b="1" dirty="0"/>
          </a:p>
          <a:p>
            <a:pPr lvl="1">
              <a:spcBef>
                <a:spcPts val="600"/>
              </a:spcBef>
            </a:pPr>
            <a:r>
              <a:rPr lang="en-US" dirty="0"/>
              <a:t>“</a:t>
            </a:r>
            <a:r>
              <a:rPr lang="en-US" b="1" dirty="0"/>
              <a:t>Computing professionals</a:t>
            </a:r>
            <a:r>
              <a:rPr lang="en-US" dirty="0"/>
              <a:t>’ actions change the world.  To act responsibly, they should reflect upon the wider impacts of their work, consistently supporting the public good.  The ACM Code…expresses the conscience of the profession.”</a:t>
            </a:r>
          </a:p>
          <a:p>
            <a:pPr lvl="1">
              <a:spcBef>
                <a:spcPts val="600"/>
              </a:spcBef>
            </a:pPr>
            <a:r>
              <a:rPr lang="en-US" dirty="0"/>
              <a:t>Intended to guide anyone who uses computing technology (practioners, instructors, students, influencers, etc.) and to serve as a </a:t>
            </a:r>
            <a:r>
              <a:rPr lang="en-US" b="1" dirty="0"/>
              <a:t>basis for ethical decision-making</a:t>
            </a:r>
            <a:r>
              <a:rPr lang="en-US" dirty="0"/>
              <a:t>.</a:t>
            </a:r>
          </a:p>
          <a:p>
            <a:pPr lvl="1"/>
            <a:r>
              <a:rPr lang="en-US" dirty="0"/>
              <a:t>7 general ethical principles, 9 professional responsibilities, 7 </a:t>
            </a:r>
            <a:r>
              <a:rPr lang="en-US" b="1" dirty="0"/>
              <a:t>professional leadership</a:t>
            </a:r>
            <a:r>
              <a:rPr lang="en-US" dirty="0"/>
              <a:t> principles, and compliance with the Code. </a:t>
            </a:r>
          </a:p>
        </p:txBody>
      </p:sp>
    </p:spTree>
    <p:extLst>
      <p:ext uri="{BB962C8B-B14F-4D97-AF65-F5344CB8AC3E}">
        <p14:creationId xmlns:p14="http://schemas.microsoft.com/office/powerpoint/2010/main" val="38138024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9F64A3-C1FD-5155-3440-D72DC6828513}"/>
              </a:ext>
            </a:extLst>
          </p:cNvPr>
          <p:cNvSpPr>
            <a:spLocks noGrp="1"/>
          </p:cNvSpPr>
          <p:nvPr>
            <p:ph type="title"/>
          </p:nvPr>
        </p:nvSpPr>
        <p:spPr>
          <a:xfrm>
            <a:off x="148683" y="1052713"/>
            <a:ext cx="5404625" cy="3334870"/>
          </a:xfrm>
        </p:spPr>
        <p:txBody>
          <a:bodyPr>
            <a:normAutofit/>
          </a:bodyPr>
          <a:lstStyle/>
          <a:p>
            <a:pPr>
              <a:lnSpc>
                <a:spcPts val="3200"/>
              </a:lnSpc>
            </a:pPr>
            <a:r>
              <a:rPr lang="en-US" dirty="0"/>
              <a:t>Overview of frameworks</a:t>
            </a:r>
            <a:br>
              <a:rPr lang="en-US" dirty="0"/>
            </a:br>
            <a:br>
              <a:rPr lang="en-US" dirty="0"/>
            </a:br>
            <a:r>
              <a:rPr lang="en-US" dirty="0"/>
              <a:t>Comparison of frameworks</a:t>
            </a:r>
            <a:br>
              <a:rPr lang="en-US" dirty="0"/>
            </a:br>
            <a:br>
              <a:rPr lang="en-US" dirty="0"/>
            </a:br>
            <a:r>
              <a:rPr lang="en-US" dirty="0"/>
              <a:t>Role of organizations</a:t>
            </a:r>
            <a:br>
              <a:rPr lang="en-US" dirty="0"/>
            </a:br>
            <a:endParaRPr lang="en-US" dirty="0"/>
          </a:p>
        </p:txBody>
      </p:sp>
      <p:sp>
        <p:nvSpPr>
          <p:cNvPr id="3" name="Slide Number Placeholder 2">
            <a:extLst>
              <a:ext uri="{FF2B5EF4-FFF2-40B4-BE49-F238E27FC236}">
                <a16:creationId xmlns:a16="http://schemas.microsoft.com/office/drawing/2014/main" id="{624C63A2-23CE-5297-870F-921E83FE73B4}"/>
              </a:ext>
            </a:extLst>
          </p:cNvPr>
          <p:cNvSpPr>
            <a:spLocks noGrp="1"/>
          </p:cNvSpPr>
          <p:nvPr>
            <p:ph type="sldNum" sz="quarter" idx="12"/>
          </p:nvPr>
        </p:nvSpPr>
        <p:spPr/>
        <p:txBody>
          <a:bodyPr/>
          <a:lstStyle/>
          <a:p>
            <a:fld id="{CC942E1D-94D0-4C55-B1DD-A28B122FA8E2}" type="slidenum">
              <a:rPr lang="en-US" smtClean="0"/>
              <a:pPr/>
              <a:t>10</a:t>
            </a:fld>
            <a:endParaRPr lang="en-US" dirty="0"/>
          </a:p>
        </p:txBody>
      </p:sp>
    </p:spTree>
    <p:extLst>
      <p:ext uri="{BB962C8B-B14F-4D97-AF65-F5344CB8AC3E}">
        <p14:creationId xmlns:p14="http://schemas.microsoft.com/office/powerpoint/2010/main" val="282714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Concordance (Alignment ) </a:t>
            </a:r>
            <a:r>
              <a:rPr lang="en-US" dirty="0"/>
              <a:t>in</a:t>
            </a:r>
            <a:r>
              <a:rPr lang="en-US" noProof="0" dirty="0"/>
              <a:t> Ethical Frameworks</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11</a:t>
            </a:fld>
            <a:endParaRPr lang="en-US"/>
          </a:p>
        </p:txBody>
      </p:sp>
      <p:sp>
        <p:nvSpPr>
          <p:cNvPr id="5" name="Content Placeholder 4"/>
          <p:cNvSpPr>
            <a:spLocks noGrp="1"/>
          </p:cNvSpPr>
          <p:nvPr>
            <p:ph sz="half" idx="2"/>
          </p:nvPr>
        </p:nvSpPr>
        <p:spPr>
          <a:xfrm>
            <a:off x="629842" y="852927"/>
            <a:ext cx="8168376" cy="4061043"/>
          </a:xfrm>
        </p:spPr>
        <p:txBody>
          <a:bodyPr/>
          <a:lstStyle/>
          <a:p>
            <a:pPr marL="57150" indent="0">
              <a:buNone/>
            </a:pPr>
            <a:r>
              <a:rPr lang="en-US" sz="1800" b="1" dirty="0"/>
              <a:t>High degree of concordance on many basic tenets/principles</a:t>
            </a:r>
          </a:p>
          <a:p>
            <a:pPr lvl="1">
              <a:spcBef>
                <a:spcPts val="1200"/>
              </a:spcBef>
              <a:spcAft>
                <a:spcPts val="1200"/>
              </a:spcAft>
              <a:buFont typeface="Wingdings" panose="05000000000000000000" pitchFamily="2" charset="2"/>
              <a:buChar char="ü"/>
            </a:pPr>
            <a:r>
              <a:rPr lang="en-US" u="sng" dirty="0"/>
              <a:t>Individual practioners</a:t>
            </a:r>
          </a:p>
          <a:p>
            <a:pPr lvl="2">
              <a:spcBef>
                <a:spcPts val="0"/>
              </a:spcBef>
              <a:spcAft>
                <a:spcPts val="0"/>
              </a:spcAft>
              <a:buFont typeface="Wingdings" panose="05000000000000000000" pitchFamily="2" charset="2"/>
              <a:buChar char="§"/>
            </a:pPr>
            <a:r>
              <a:rPr lang="en-US" sz="1400" dirty="0"/>
              <a:t>Professionalism</a:t>
            </a:r>
          </a:p>
          <a:p>
            <a:pPr lvl="3">
              <a:spcBef>
                <a:spcPts val="0"/>
              </a:spcBef>
              <a:spcAft>
                <a:spcPts val="0"/>
              </a:spcAft>
            </a:pPr>
            <a:r>
              <a:rPr lang="en-US" sz="1200" b="1" dirty="0"/>
              <a:t>Integrity,</a:t>
            </a:r>
            <a:r>
              <a:rPr lang="en-US" sz="1200" dirty="0"/>
              <a:t> accountability, competency, continual upgrading of skills &amp; knowledge</a:t>
            </a:r>
          </a:p>
          <a:p>
            <a:pPr lvl="3">
              <a:spcBef>
                <a:spcPts val="0"/>
              </a:spcBef>
              <a:spcAft>
                <a:spcPts val="0"/>
              </a:spcAft>
            </a:pPr>
            <a:r>
              <a:rPr lang="en-US" sz="1200" dirty="0"/>
              <a:t>Recognition of authorship &amp; IP</a:t>
            </a:r>
          </a:p>
          <a:p>
            <a:pPr lvl="3">
              <a:spcBef>
                <a:spcPts val="0"/>
              </a:spcBef>
              <a:spcAft>
                <a:spcPts val="0"/>
              </a:spcAft>
            </a:pPr>
            <a:r>
              <a:rPr lang="en-US" sz="1200" b="1" dirty="0"/>
              <a:t>Disclosure of conflicts of interest</a:t>
            </a:r>
          </a:p>
          <a:p>
            <a:pPr lvl="3">
              <a:spcBef>
                <a:spcPts val="0"/>
              </a:spcBef>
              <a:spcAft>
                <a:spcPts val="0"/>
              </a:spcAft>
            </a:pPr>
            <a:r>
              <a:rPr lang="en-US" sz="1200" dirty="0"/>
              <a:t>Avoidance of harassment &amp; discrimination in work</a:t>
            </a:r>
          </a:p>
          <a:p>
            <a:pPr lvl="3">
              <a:spcBef>
                <a:spcPts val="0"/>
              </a:spcBef>
              <a:spcAft>
                <a:spcPts val="0"/>
              </a:spcAft>
            </a:pPr>
            <a:r>
              <a:rPr lang="en-US" sz="1200" dirty="0"/>
              <a:t>Work for the “greater good” &amp; advance public knowledge</a:t>
            </a:r>
          </a:p>
          <a:p>
            <a:pPr marL="1028700" lvl="3" indent="0">
              <a:spcBef>
                <a:spcPts val="0"/>
              </a:spcBef>
              <a:spcAft>
                <a:spcPts val="0"/>
              </a:spcAft>
              <a:buNone/>
            </a:pPr>
            <a:endParaRPr lang="en-US" sz="1200" dirty="0"/>
          </a:p>
          <a:p>
            <a:pPr lvl="2">
              <a:spcBef>
                <a:spcPts val="0"/>
              </a:spcBef>
              <a:spcAft>
                <a:spcPts val="0"/>
              </a:spcAft>
              <a:buFont typeface="Wingdings" panose="05000000000000000000" pitchFamily="2" charset="2"/>
              <a:buChar char="§"/>
            </a:pPr>
            <a:r>
              <a:rPr lang="en-US" sz="1400" dirty="0"/>
              <a:t>Transparency of work</a:t>
            </a:r>
          </a:p>
          <a:p>
            <a:pPr lvl="3">
              <a:spcBef>
                <a:spcPts val="0"/>
              </a:spcBef>
              <a:spcAft>
                <a:spcPts val="0"/>
              </a:spcAft>
            </a:pPr>
            <a:r>
              <a:rPr lang="en-US" sz="1200" b="1" dirty="0"/>
              <a:t>Document &amp; communicate </a:t>
            </a:r>
            <a:r>
              <a:rPr lang="en-US" sz="1200" dirty="0"/>
              <a:t>methods, share data to extent possible</a:t>
            </a:r>
          </a:p>
          <a:p>
            <a:pPr lvl="3">
              <a:spcBef>
                <a:spcPts val="0"/>
              </a:spcBef>
              <a:spcAft>
                <a:spcPts val="0"/>
              </a:spcAft>
            </a:pPr>
            <a:r>
              <a:rPr lang="en-US" sz="1200" b="1" dirty="0"/>
              <a:t>Disclose limitations </a:t>
            </a:r>
            <a:r>
              <a:rPr lang="en-US" sz="1200" dirty="0"/>
              <a:t>to data &amp; methods</a:t>
            </a:r>
          </a:p>
          <a:p>
            <a:pPr lvl="3">
              <a:spcBef>
                <a:spcPts val="0"/>
              </a:spcBef>
              <a:spcAft>
                <a:spcPts val="0"/>
              </a:spcAft>
            </a:pPr>
            <a:r>
              <a:rPr lang="en-US" sz="1200" dirty="0"/>
              <a:t>Provide mechanisms/procedures to correct errors in work</a:t>
            </a:r>
          </a:p>
          <a:p>
            <a:pPr lvl="3">
              <a:spcBef>
                <a:spcPts val="0"/>
              </a:spcBef>
              <a:spcAft>
                <a:spcPts val="0"/>
              </a:spcAft>
            </a:pPr>
            <a:r>
              <a:rPr lang="en-US" sz="1200" dirty="0"/>
              <a:t>Advance public knowledge</a:t>
            </a:r>
          </a:p>
          <a:p>
            <a:pPr lvl="2">
              <a:spcBef>
                <a:spcPts val="0"/>
              </a:spcBef>
              <a:spcAft>
                <a:spcPts val="0"/>
              </a:spcAft>
              <a:buFont typeface="Wingdings" panose="05000000000000000000" pitchFamily="2" charset="2"/>
              <a:buChar char="§"/>
            </a:pPr>
            <a:endParaRPr lang="en-US" sz="1400" dirty="0"/>
          </a:p>
          <a:p>
            <a:pPr lvl="3">
              <a:spcBef>
                <a:spcPts val="0"/>
              </a:spcBef>
              <a:spcAft>
                <a:spcPts val="0"/>
              </a:spcAft>
              <a:buFont typeface="Wingdings" panose="05000000000000000000" pitchFamily="2" charset="2"/>
              <a:buChar char="§"/>
            </a:pPr>
            <a:endParaRPr lang="en-US" sz="1400" dirty="0"/>
          </a:p>
          <a:p>
            <a:pPr lvl="1">
              <a:spcBef>
                <a:spcPts val="600"/>
              </a:spcBef>
            </a:pPr>
            <a:endParaRPr lang="en-US" dirty="0"/>
          </a:p>
        </p:txBody>
      </p:sp>
    </p:spTree>
    <p:extLst>
      <p:ext uri="{BB962C8B-B14F-4D97-AF65-F5344CB8AC3E}">
        <p14:creationId xmlns:p14="http://schemas.microsoft.com/office/powerpoint/2010/main" val="42040735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Concordance (Alignment ) </a:t>
            </a:r>
            <a:r>
              <a:rPr lang="en-US" dirty="0"/>
              <a:t>in</a:t>
            </a:r>
            <a:r>
              <a:rPr lang="en-US" noProof="0" dirty="0"/>
              <a:t> Ethical Frameworks</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12</a:t>
            </a:fld>
            <a:endParaRPr lang="en-US"/>
          </a:p>
        </p:txBody>
      </p:sp>
      <p:sp>
        <p:nvSpPr>
          <p:cNvPr id="5" name="Content Placeholder 4"/>
          <p:cNvSpPr>
            <a:spLocks noGrp="1"/>
          </p:cNvSpPr>
          <p:nvPr>
            <p:ph sz="half" idx="2"/>
          </p:nvPr>
        </p:nvSpPr>
        <p:spPr>
          <a:xfrm>
            <a:off x="629842" y="852928"/>
            <a:ext cx="8168376" cy="3648734"/>
          </a:xfrm>
        </p:spPr>
        <p:txBody>
          <a:bodyPr/>
          <a:lstStyle/>
          <a:p>
            <a:pPr marL="57150" indent="0">
              <a:buNone/>
            </a:pPr>
            <a:r>
              <a:rPr lang="en-US" sz="1800" b="1" dirty="0"/>
              <a:t>High degree of concordance on many basic tenets/principles</a:t>
            </a:r>
          </a:p>
          <a:p>
            <a:pPr lvl="1">
              <a:spcBef>
                <a:spcPts val="1200"/>
              </a:spcBef>
              <a:spcAft>
                <a:spcPts val="1200"/>
              </a:spcAft>
              <a:buFont typeface="Wingdings" panose="05000000000000000000" pitchFamily="2" charset="2"/>
              <a:buChar char="ü"/>
            </a:pPr>
            <a:r>
              <a:rPr lang="en-US" u="sng" dirty="0"/>
              <a:t>Individual practioners</a:t>
            </a:r>
          </a:p>
          <a:p>
            <a:pPr lvl="2">
              <a:spcBef>
                <a:spcPts val="0"/>
              </a:spcBef>
              <a:spcAft>
                <a:spcPts val="0"/>
              </a:spcAft>
              <a:buFont typeface="Wingdings" panose="05000000000000000000" pitchFamily="2" charset="2"/>
              <a:buChar char="§"/>
            </a:pPr>
            <a:r>
              <a:rPr lang="en-US" sz="1400" dirty="0"/>
              <a:t>Integrity of data &amp; methods</a:t>
            </a:r>
          </a:p>
          <a:p>
            <a:pPr lvl="3">
              <a:spcBef>
                <a:spcPts val="0"/>
              </a:spcBef>
              <a:spcAft>
                <a:spcPts val="0"/>
              </a:spcAft>
            </a:pPr>
            <a:r>
              <a:rPr lang="en-US" sz="1200" dirty="0"/>
              <a:t>Understand &amp; communicate limitations of data &amp; methods</a:t>
            </a:r>
          </a:p>
          <a:p>
            <a:pPr lvl="3">
              <a:spcBef>
                <a:spcPts val="0"/>
              </a:spcBef>
              <a:spcAft>
                <a:spcPts val="0"/>
              </a:spcAft>
            </a:pPr>
            <a:r>
              <a:rPr lang="en-US" sz="1200" b="1" dirty="0"/>
              <a:t>Ensure appropriate uses </a:t>
            </a:r>
            <a:r>
              <a:rPr lang="en-US" sz="1200" dirty="0"/>
              <a:t>of data &amp; methods</a:t>
            </a:r>
          </a:p>
          <a:p>
            <a:pPr lvl="3">
              <a:spcBef>
                <a:spcPts val="0"/>
              </a:spcBef>
              <a:spcAft>
                <a:spcPts val="0"/>
              </a:spcAft>
            </a:pPr>
            <a:r>
              <a:rPr lang="en-US" sz="1200" dirty="0"/>
              <a:t>Understand &amp; communicate impact of results</a:t>
            </a:r>
          </a:p>
          <a:p>
            <a:pPr lvl="3">
              <a:spcBef>
                <a:spcPts val="0"/>
              </a:spcBef>
              <a:spcAft>
                <a:spcPts val="0"/>
              </a:spcAft>
            </a:pPr>
            <a:r>
              <a:rPr lang="en-US" sz="1200" dirty="0"/>
              <a:t>Create processes to </a:t>
            </a:r>
            <a:r>
              <a:rPr lang="en-US" sz="1200" b="1" dirty="0"/>
              <a:t>reassess and re-validate methods </a:t>
            </a:r>
            <a:r>
              <a:rPr lang="en-US" sz="1200" dirty="0"/>
              <a:t>over time</a:t>
            </a:r>
          </a:p>
          <a:p>
            <a:pPr marL="1028700" lvl="3" indent="0">
              <a:spcBef>
                <a:spcPts val="0"/>
              </a:spcBef>
              <a:spcAft>
                <a:spcPts val="0"/>
              </a:spcAft>
              <a:buNone/>
            </a:pPr>
            <a:endParaRPr lang="en-US" sz="1200" dirty="0"/>
          </a:p>
          <a:p>
            <a:pPr lvl="2">
              <a:spcBef>
                <a:spcPts val="0"/>
              </a:spcBef>
              <a:spcAft>
                <a:spcPts val="0"/>
              </a:spcAft>
              <a:buFont typeface="Wingdings" panose="05000000000000000000" pitchFamily="2" charset="2"/>
              <a:buChar char="§"/>
            </a:pPr>
            <a:r>
              <a:rPr lang="en-US" sz="1400" b="1" dirty="0"/>
              <a:t>Respect privacy </a:t>
            </a:r>
            <a:r>
              <a:rPr lang="en-US" sz="1400" dirty="0"/>
              <a:t>&amp; confidentiality</a:t>
            </a:r>
          </a:p>
          <a:p>
            <a:pPr marL="457200" lvl="2" indent="0">
              <a:spcBef>
                <a:spcPts val="0"/>
              </a:spcBef>
              <a:spcAft>
                <a:spcPts val="0"/>
              </a:spcAft>
              <a:buNone/>
            </a:pPr>
            <a:endParaRPr lang="en-US" sz="1400" dirty="0"/>
          </a:p>
          <a:p>
            <a:pPr lvl="3">
              <a:spcBef>
                <a:spcPts val="0"/>
              </a:spcBef>
              <a:spcAft>
                <a:spcPts val="0"/>
              </a:spcAft>
              <a:buFont typeface="Wingdings" panose="05000000000000000000" pitchFamily="2" charset="2"/>
              <a:buChar char="§"/>
            </a:pPr>
            <a:endParaRPr lang="en-US" sz="1400" dirty="0"/>
          </a:p>
          <a:p>
            <a:pPr lvl="1">
              <a:spcBef>
                <a:spcPts val="600"/>
              </a:spcBef>
            </a:pPr>
            <a:endParaRPr lang="en-US" dirty="0"/>
          </a:p>
        </p:txBody>
      </p:sp>
    </p:spTree>
    <p:extLst>
      <p:ext uri="{BB962C8B-B14F-4D97-AF65-F5344CB8AC3E}">
        <p14:creationId xmlns:p14="http://schemas.microsoft.com/office/powerpoint/2010/main" val="3642298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Concordance (Alignment ) in Ethical Frameworks</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13</a:t>
            </a:fld>
            <a:endParaRPr lang="en-US"/>
          </a:p>
        </p:txBody>
      </p:sp>
      <p:sp>
        <p:nvSpPr>
          <p:cNvPr id="5" name="Content Placeholder 4"/>
          <p:cNvSpPr>
            <a:spLocks noGrp="1"/>
          </p:cNvSpPr>
          <p:nvPr>
            <p:ph sz="half" idx="2"/>
          </p:nvPr>
        </p:nvSpPr>
        <p:spPr>
          <a:xfrm>
            <a:off x="629842" y="852927"/>
            <a:ext cx="8168376" cy="3951547"/>
          </a:xfrm>
        </p:spPr>
        <p:txBody>
          <a:bodyPr/>
          <a:lstStyle/>
          <a:p>
            <a:pPr marL="57150" indent="0">
              <a:buNone/>
            </a:pPr>
            <a:r>
              <a:rPr lang="en-US" sz="1800" b="1" dirty="0"/>
              <a:t>Not as high, but still good, of a degree of concordance</a:t>
            </a:r>
          </a:p>
          <a:p>
            <a:pPr lvl="1">
              <a:spcBef>
                <a:spcPts val="600"/>
              </a:spcBef>
              <a:spcAft>
                <a:spcPts val="0"/>
              </a:spcAft>
              <a:buFont typeface="Wingdings" panose="05000000000000000000" pitchFamily="2" charset="2"/>
              <a:buChar char="ü"/>
            </a:pPr>
            <a:r>
              <a:rPr lang="en-US" u="sng" dirty="0"/>
              <a:t>Individuals</a:t>
            </a:r>
          </a:p>
          <a:p>
            <a:pPr lvl="2">
              <a:spcBef>
                <a:spcPts val="0"/>
              </a:spcBef>
              <a:spcAft>
                <a:spcPts val="0"/>
              </a:spcAft>
              <a:buFont typeface="Wingdings" panose="05000000000000000000" pitchFamily="2" charset="2"/>
              <a:buChar char="§"/>
            </a:pPr>
            <a:r>
              <a:rPr lang="en-US" sz="1400" b="1" dirty="0"/>
              <a:t>Promote public good</a:t>
            </a:r>
            <a:r>
              <a:rPr lang="en-US" sz="1400" dirty="0"/>
              <a:t>, protect human &amp; animal welfare</a:t>
            </a:r>
          </a:p>
          <a:p>
            <a:pPr lvl="2">
              <a:spcBef>
                <a:spcPts val="0"/>
              </a:spcBef>
              <a:spcAft>
                <a:spcPts val="0"/>
              </a:spcAft>
              <a:buFont typeface="Wingdings" panose="05000000000000000000" pitchFamily="2" charset="2"/>
              <a:buChar char="§"/>
            </a:pPr>
            <a:r>
              <a:rPr lang="en-US" sz="1400" b="1" dirty="0"/>
              <a:t>Respect</a:t>
            </a:r>
            <a:r>
              <a:rPr lang="en-US" sz="1400" dirty="0"/>
              <a:t> for public, individuals &amp; communities</a:t>
            </a:r>
          </a:p>
          <a:p>
            <a:pPr lvl="2">
              <a:spcBef>
                <a:spcPts val="0"/>
              </a:spcBef>
              <a:spcAft>
                <a:spcPts val="0"/>
              </a:spcAft>
              <a:buFont typeface="Wingdings" panose="05000000000000000000" pitchFamily="2" charset="2"/>
              <a:buChar char="§"/>
            </a:pPr>
            <a:r>
              <a:rPr lang="en-US" sz="1400" b="1" dirty="0"/>
              <a:t>Balance competing judgements</a:t>
            </a:r>
          </a:p>
          <a:p>
            <a:pPr lvl="2">
              <a:spcBef>
                <a:spcPts val="0"/>
              </a:spcBef>
              <a:spcAft>
                <a:spcPts val="0"/>
              </a:spcAft>
              <a:buFont typeface="Wingdings" panose="05000000000000000000" pitchFamily="2" charset="2"/>
              <a:buChar char="§"/>
            </a:pPr>
            <a:r>
              <a:rPr lang="en-US" sz="1400" dirty="0"/>
              <a:t>Avoid harm, engage in pro bono activities, foster public awareness</a:t>
            </a:r>
          </a:p>
          <a:p>
            <a:pPr lvl="1">
              <a:spcBef>
                <a:spcPts val="0"/>
              </a:spcBef>
              <a:spcAft>
                <a:spcPts val="0"/>
              </a:spcAft>
              <a:buFont typeface="Wingdings" panose="05000000000000000000" pitchFamily="2" charset="2"/>
              <a:buChar char="ü"/>
            </a:pPr>
            <a:endParaRPr lang="en-US" u="sng" dirty="0"/>
          </a:p>
          <a:p>
            <a:pPr lvl="1">
              <a:spcBef>
                <a:spcPts val="600"/>
              </a:spcBef>
              <a:spcAft>
                <a:spcPts val="0"/>
              </a:spcAft>
              <a:buFont typeface="Wingdings" panose="05000000000000000000" pitchFamily="2" charset="2"/>
              <a:buChar char="ü"/>
            </a:pPr>
            <a:r>
              <a:rPr lang="en-US" b="1" u="sng" dirty="0"/>
              <a:t>Role of Leaders </a:t>
            </a:r>
          </a:p>
          <a:p>
            <a:pPr lvl="2">
              <a:spcBef>
                <a:spcPts val="0"/>
              </a:spcBef>
              <a:spcAft>
                <a:spcPts val="0"/>
              </a:spcAft>
              <a:buFont typeface="Wingdings" panose="05000000000000000000" pitchFamily="2" charset="2"/>
              <a:buChar char="§"/>
            </a:pPr>
            <a:r>
              <a:rPr lang="en-US" sz="1400" dirty="0"/>
              <a:t>Advocate for ethical behaviors</a:t>
            </a:r>
          </a:p>
          <a:p>
            <a:pPr lvl="3">
              <a:spcBef>
                <a:spcPts val="0"/>
              </a:spcBef>
              <a:spcAft>
                <a:spcPts val="0"/>
              </a:spcAft>
              <a:buFont typeface="Wingdings" panose="05000000000000000000" pitchFamily="2" charset="2"/>
              <a:buChar char="§"/>
            </a:pPr>
            <a:r>
              <a:rPr lang="en-US" sz="1200" dirty="0"/>
              <a:t>Professionalism, transparency, </a:t>
            </a:r>
            <a:r>
              <a:rPr lang="en-US" sz="1200" dirty="0" err="1"/>
              <a:t>etc</a:t>
            </a:r>
            <a:r>
              <a:rPr lang="en-US" sz="1200" dirty="0"/>
              <a:t>,</a:t>
            </a:r>
          </a:p>
          <a:p>
            <a:pPr lvl="3">
              <a:spcBef>
                <a:spcPts val="0"/>
              </a:spcBef>
              <a:spcAft>
                <a:spcPts val="0"/>
              </a:spcAft>
              <a:buFont typeface="Wingdings" panose="05000000000000000000" pitchFamily="2" charset="2"/>
              <a:buChar char="§"/>
            </a:pPr>
            <a:r>
              <a:rPr lang="en-US" sz="1200" dirty="0"/>
              <a:t>Uphold laws, regulations, statutes</a:t>
            </a:r>
          </a:p>
          <a:p>
            <a:pPr lvl="2">
              <a:spcBef>
                <a:spcPts val="0"/>
              </a:spcBef>
              <a:spcAft>
                <a:spcPts val="0"/>
              </a:spcAft>
              <a:buFont typeface="Wingdings" panose="05000000000000000000" pitchFamily="2" charset="2"/>
              <a:buChar char="§"/>
            </a:pPr>
            <a:r>
              <a:rPr lang="en-US" sz="1400" dirty="0"/>
              <a:t>Promote professionalism</a:t>
            </a:r>
          </a:p>
          <a:p>
            <a:pPr lvl="2">
              <a:spcBef>
                <a:spcPts val="0"/>
              </a:spcBef>
              <a:spcAft>
                <a:spcPts val="0"/>
              </a:spcAft>
              <a:buFont typeface="Wingdings" panose="05000000000000000000" pitchFamily="2" charset="2"/>
              <a:buChar char="§"/>
            </a:pPr>
            <a:r>
              <a:rPr lang="en-US" sz="1400" dirty="0"/>
              <a:t>Promote respect for others</a:t>
            </a:r>
          </a:p>
          <a:p>
            <a:pPr lvl="2">
              <a:spcBef>
                <a:spcPts val="0"/>
              </a:spcBef>
              <a:spcAft>
                <a:spcPts val="0"/>
              </a:spcAft>
              <a:buFont typeface="Wingdings" panose="05000000000000000000" pitchFamily="2" charset="2"/>
              <a:buChar char="§"/>
            </a:pPr>
            <a:r>
              <a:rPr lang="en-US" sz="1400" dirty="0"/>
              <a:t>Uphold ethical standards</a:t>
            </a:r>
          </a:p>
          <a:p>
            <a:pPr lvl="2">
              <a:spcBef>
                <a:spcPts val="0"/>
              </a:spcBef>
              <a:spcAft>
                <a:spcPts val="0"/>
              </a:spcAft>
              <a:buFont typeface="Wingdings" panose="05000000000000000000" pitchFamily="2" charset="2"/>
              <a:buChar char="§"/>
            </a:pPr>
            <a:r>
              <a:rPr lang="en-US" sz="1400" dirty="0"/>
              <a:t>Support transparency</a:t>
            </a:r>
          </a:p>
          <a:p>
            <a:pPr marL="457200" lvl="2" indent="0">
              <a:spcBef>
                <a:spcPts val="0"/>
              </a:spcBef>
              <a:spcAft>
                <a:spcPts val="0"/>
              </a:spcAft>
              <a:buNone/>
            </a:pPr>
            <a:endParaRPr lang="en-US" sz="1400" dirty="0"/>
          </a:p>
          <a:p>
            <a:pPr lvl="3">
              <a:spcBef>
                <a:spcPts val="0"/>
              </a:spcBef>
              <a:spcAft>
                <a:spcPts val="0"/>
              </a:spcAft>
              <a:buFont typeface="Wingdings" panose="05000000000000000000" pitchFamily="2" charset="2"/>
              <a:buChar char="§"/>
            </a:pPr>
            <a:endParaRPr lang="en-US" sz="1400" dirty="0"/>
          </a:p>
          <a:p>
            <a:pPr lvl="1">
              <a:spcBef>
                <a:spcPts val="600"/>
              </a:spcBef>
            </a:pPr>
            <a:endParaRPr lang="en-US" dirty="0"/>
          </a:p>
        </p:txBody>
      </p:sp>
    </p:spTree>
    <p:extLst>
      <p:ext uri="{BB962C8B-B14F-4D97-AF65-F5344CB8AC3E}">
        <p14:creationId xmlns:p14="http://schemas.microsoft.com/office/powerpoint/2010/main" val="19580250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Concordance (Alignment ) in Ethical Frameworks</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14</a:t>
            </a:fld>
            <a:endParaRPr lang="en-US"/>
          </a:p>
        </p:txBody>
      </p:sp>
      <p:sp>
        <p:nvSpPr>
          <p:cNvPr id="5" name="Content Placeholder 4"/>
          <p:cNvSpPr>
            <a:spLocks noGrp="1"/>
          </p:cNvSpPr>
          <p:nvPr>
            <p:ph sz="half" idx="2"/>
          </p:nvPr>
        </p:nvSpPr>
        <p:spPr>
          <a:xfrm>
            <a:off x="629842" y="852928"/>
            <a:ext cx="8168376" cy="3648734"/>
          </a:xfrm>
        </p:spPr>
        <p:txBody>
          <a:bodyPr/>
          <a:lstStyle/>
          <a:p>
            <a:pPr marL="57150" indent="0">
              <a:buNone/>
            </a:pPr>
            <a:r>
              <a:rPr lang="en-US" sz="1800" b="1" dirty="0"/>
              <a:t>Lower degree of concordance</a:t>
            </a:r>
          </a:p>
          <a:p>
            <a:pPr lvl="1">
              <a:spcBef>
                <a:spcPts val="600"/>
              </a:spcBef>
              <a:spcAft>
                <a:spcPts val="0"/>
              </a:spcAft>
              <a:buFont typeface="Wingdings" panose="05000000000000000000" pitchFamily="2" charset="2"/>
              <a:buChar char="ü"/>
            </a:pPr>
            <a:r>
              <a:rPr lang="en-US" u="sng" dirty="0"/>
              <a:t>Sanctions for misconduct</a:t>
            </a:r>
          </a:p>
          <a:p>
            <a:pPr marL="288925" lvl="1" indent="0">
              <a:spcBef>
                <a:spcPts val="600"/>
              </a:spcBef>
              <a:spcAft>
                <a:spcPts val="0"/>
              </a:spcAft>
              <a:buNone/>
            </a:pPr>
            <a:endParaRPr lang="en-US" u="sng" dirty="0"/>
          </a:p>
          <a:p>
            <a:pPr lvl="1">
              <a:spcBef>
                <a:spcPts val="0"/>
              </a:spcBef>
              <a:spcAft>
                <a:spcPts val="0"/>
              </a:spcAft>
              <a:buFont typeface="Wingdings" panose="05000000000000000000" pitchFamily="2" charset="2"/>
              <a:buChar char="ü"/>
            </a:pPr>
            <a:endParaRPr lang="en-US" u="sng" dirty="0"/>
          </a:p>
          <a:p>
            <a:pPr marL="457200" lvl="2" indent="0">
              <a:spcBef>
                <a:spcPts val="0"/>
              </a:spcBef>
              <a:spcAft>
                <a:spcPts val="0"/>
              </a:spcAft>
              <a:buNone/>
            </a:pPr>
            <a:endParaRPr lang="en-US" sz="1400" dirty="0"/>
          </a:p>
          <a:p>
            <a:pPr lvl="3">
              <a:spcBef>
                <a:spcPts val="0"/>
              </a:spcBef>
              <a:spcAft>
                <a:spcPts val="0"/>
              </a:spcAft>
              <a:buFont typeface="Wingdings" panose="05000000000000000000" pitchFamily="2" charset="2"/>
              <a:buChar char="§"/>
            </a:pPr>
            <a:endParaRPr lang="en-US" sz="1400" dirty="0"/>
          </a:p>
          <a:p>
            <a:pPr lvl="1">
              <a:spcBef>
                <a:spcPts val="600"/>
              </a:spcBef>
            </a:pPr>
            <a:endParaRPr lang="en-US" dirty="0"/>
          </a:p>
        </p:txBody>
      </p:sp>
    </p:spTree>
    <p:extLst>
      <p:ext uri="{BB962C8B-B14F-4D97-AF65-F5344CB8AC3E}">
        <p14:creationId xmlns:p14="http://schemas.microsoft.com/office/powerpoint/2010/main" val="40782303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9F64A3-C1FD-5155-3440-D72DC6828513}"/>
              </a:ext>
            </a:extLst>
          </p:cNvPr>
          <p:cNvSpPr>
            <a:spLocks noGrp="1"/>
          </p:cNvSpPr>
          <p:nvPr>
            <p:ph type="title"/>
          </p:nvPr>
        </p:nvSpPr>
        <p:spPr>
          <a:xfrm>
            <a:off x="148683" y="1052713"/>
            <a:ext cx="5404625" cy="3334870"/>
          </a:xfrm>
        </p:spPr>
        <p:txBody>
          <a:bodyPr>
            <a:normAutofit/>
          </a:bodyPr>
          <a:lstStyle/>
          <a:p>
            <a:pPr>
              <a:lnSpc>
                <a:spcPts val="3200"/>
              </a:lnSpc>
            </a:pPr>
            <a:r>
              <a:rPr lang="en-US" dirty="0"/>
              <a:t>Overview of frameworks</a:t>
            </a:r>
            <a:br>
              <a:rPr lang="en-US" dirty="0"/>
            </a:br>
            <a:br>
              <a:rPr lang="en-US" dirty="0"/>
            </a:br>
            <a:r>
              <a:rPr lang="en-US" dirty="0"/>
              <a:t>Comparison of frameworks</a:t>
            </a:r>
            <a:br>
              <a:rPr lang="en-US" dirty="0"/>
            </a:br>
            <a:br>
              <a:rPr lang="en-US" dirty="0"/>
            </a:br>
            <a:r>
              <a:rPr lang="en-US" dirty="0"/>
              <a:t>Role of organizations</a:t>
            </a:r>
            <a:br>
              <a:rPr lang="en-US" dirty="0"/>
            </a:br>
            <a:endParaRPr lang="en-US" dirty="0"/>
          </a:p>
        </p:txBody>
      </p:sp>
      <p:sp>
        <p:nvSpPr>
          <p:cNvPr id="3" name="Slide Number Placeholder 2">
            <a:extLst>
              <a:ext uri="{FF2B5EF4-FFF2-40B4-BE49-F238E27FC236}">
                <a16:creationId xmlns:a16="http://schemas.microsoft.com/office/drawing/2014/main" id="{624C63A2-23CE-5297-870F-921E83FE73B4}"/>
              </a:ext>
            </a:extLst>
          </p:cNvPr>
          <p:cNvSpPr>
            <a:spLocks noGrp="1"/>
          </p:cNvSpPr>
          <p:nvPr>
            <p:ph type="sldNum" sz="quarter" idx="12"/>
          </p:nvPr>
        </p:nvSpPr>
        <p:spPr/>
        <p:txBody>
          <a:bodyPr/>
          <a:lstStyle/>
          <a:p>
            <a:fld id="{CC942E1D-94D0-4C55-B1DD-A28B122FA8E2}" type="slidenum">
              <a:rPr lang="en-US" smtClean="0"/>
              <a:pPr/>
              <a:t>15</a:t>
            </a:fld>
            <a:endParaRPr lang="en-US" dirty="0"/>
          </a:p>
        </p:txBody>
      </p:sp>
    </p:spTree>
    <p:extLst>
      <p:ext uri="{BB962C8B-B14F-4D97-AF65-F5344CB8AC3E}">
        <p14:creationId xmlns:p14="http://schemas.microsoft.com/office/powerpoint/2010/main" val="4174515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Concordance (Alignment ) in Ethical Frameworks</a:t>
            </a:r>
          </a:p>
        </p:txBody>
      </p:sp>
      <p:sp>
        <p:nvSpPr>
          <p:cNvPr id="11" name="Slide Number Placeholder 10">
            <a:extLst>
              <a:ext uri="{FF2B5EF4-FFF2-40B4-BE49-F238E27FC236}">
                <a16:creationId xmlns:a16="http://schemas.microsoft.com/office/drawing/2014/main" id="{1112010E-9D6D-8C85-86AD-F7F39B3A6BC3}"/>
              </a:ext>
            </a:extLst>
          </p:cNvPr>
          <p:cNvSpPr>
            <a:spLocks noGrp="1"/>
          </p:cNvSpPr>
          <p:nvPr>
            <p:ph type="sldNum" sz="quarter" idx="12"/>
          </p:nvPr>
        </p:nvSpPr>
        <p:spPr/>
        <p:txBody>
          <a:bodyPr/>
          <a:lstStyle/>
          <a:p>
            <a:fld id="{CC942E1D-94D0-4C55-B1DD-A28B122FA8E2}" type="slidenum">
              <a:rPr lang="en-US" smtClean="0"/>
              <a:t>16</a:t>
            </a:fld>
            <a:endParaRPr lang="en-US"/>
          </a:p>
        </p:txBody>
      </p:sp>
      <p:sp>
        <p:nvSpPr>
          <p:cNvPr id="5" name="Content Placeholder 4"/>
          <p:cNvSpPr>
            <a:spLocks noGrp="1"/>
          </p:cNvSpPr>
          <p:nvPr>
            <p:ph sz="half" idx="2"/>
          </p:nvPr>
        </p:nvSpPr>
        <p:spPr>
          <a:xfrm>
            <a:off x="629842" y="852928"/>
            <a:ext cx="8168376" cy="3648734"/>
          </a:xfrm>
        </p:spPr>
        <p:txBody>
          <a:bodyPr/>
          <a:lstStyle/>
          <a:p>
            <a:pPr marL="66675" indent="0">
              <a:spcBef>
                <a:spcPts val="600"/>
              </a:spcBef>
              <a:spcAft>
                <a:spcPts val="0"/>
              </a:spcAft>
              <a:buNone/>
            </a:pPr>
            <a:r>
              <a:rPr lang="en-US" sz="1800" b="1" u="sng" dirty="0"/>
              <a:t>Role of organizations</a:t>
            </a:r>
            <a:r>
              <a:rPr lang="en-US" sz="1800" u="sng" dirty="0"/>
              <a:t> </a:t>
            </a:r>
            <a:r>
              <a:rPr lang="en-US" sz="1800" dirty="0"/>
              <a:t>(ACM &amp; ASA)</a:t>
            </a:r>
          </a:p>
          <a:p>
            <a:pPr marL="66675" indent="0">
              <a:spcBef>
                <a:spcPts val="600"/>
              </a:spcBef>
              <a:spcAft>
                <a:spcPts val="0"/>
              </a:spcAft>
              <a:buNone/>
            </a:pPr>
            <a:endParaRPr lang="en-US" sz="1800" b="1" dirty="0"/>
          </a:p>
          <a:p>
            <a:pPr lvl="2">
              <a:spcBef>
                <a:spcPts val="0"/>
              </a:spcBef>
              <a:spcAft>
                <a:spcPts val="0"/>
              </a:spcAft>
              <a:buFont typeface="Wingdings" panose="05000000000000000000" pitchFamily="2" charset="2"/>
              <a:buChar char="§"/>
            </a:pPr>
            <a:r>
              <a:rPr lang="en-US" sz="1400" dirty="0"/>
              <a:t>Expect adherence to ethical standards</a:t>
            </a:r>
          </a:p>
          <a:p>
            <a:pPr lvl="2">
              <a:spcBef>
                <a:spcPts val="0"/>
              </a:spcBef>
              <a:spcAft>
                <a:spcPts val="0"/>
              </a:spcAft>
              <a:buFont typeface="Wingdings" panose="05000000000000000000" pitchFamily="2" charset="2"/>
              <a:buChar char="§"/>
            </a:pPr>
            <a:r>
              <a:rPr lang="en-US" sz="1400" dirty="0"/>
              <a:t>Protect those that adhere</a:t>
            </a:r>
          </a:p>
          <a:p>
            <a:pPr lvl="2">
              <a:spcBef>
                <a:spcPts val="0"/>
              </a:spcBef>
              <a:spcAft>
                <a:spcPts val="0"/>
              </a:spcAft>
              <a:buFont typeface="Wingdings" panose="05000000000000000000" pitchFamily="2" charset="2"/>
              <a:buChar char="§"/>
            </a:pPr>
            <a:r>
              <a:rPr lang="en-US" sz="1400" dirty="0"/>
              <a:t>Use competent personnel</a:t>
            </a:r>
          </a:p>
          <a:p>
            <a:pPr lvl="2">
              <a:spcBef>
                <a:spcPts val="0"/>
              </a:spcBef>
              <a:spcAft>
                <a:spcPts val="0"/>
              </a:spcAft>
              <a:buFont typeface="Wingdings" panose="05000000000000000000" pitchFamily="2" charset="2"/>
              <a:buChar char="§"/>
            </a:pPr>
            <a:r>
              <a:rPr lang="en-US" sz="1400" dirty="0"/>
              <a:t>Promote professional development</a:t>
            </a:r>
          </a:p>
          <a:p>
            <a:pPr lvl="2">
              <a:spcBef>
                <a:spcPts val="0"/>
              </a:spcBef>
              <a:spcAft>
                <a:spcPts val="0"/>
              </a:spcAft>
              <a:buFont typeface="Wingdings" panose="05000000000000000000" pitchFamily="2" charset="2"/>
              <a:buChar char="§"/>
            </a:pPr>
            <a:r>
              <a:rPr lang="en-US" sz="1400" dirty="0"/>
              <a:t>Support transparency &amp; objective statistical practices</a:t>
            </a:r>
          </a:p>
          <a:p>
            <a:pPr lvl="2">
              <a:spcBef>
                <a:spcPts val="0"/>
              </a:spcBef>
              <a:spcAft>
                <a:spcPts val="0"/>
              </a:spcAft>
              <a:buFont typeface="Wingdings" panose="05000000000000000000" pitchFamily="2" charset="2"/>
              <a:buChar char="§"/>
            </a:pPr>
            <a:r>
              <a:rPr lang="en-US" sz="1400" dirty="0"/>
              <a:t>Consider impact on society of methods &amp; results</a:t>
            </a:r>
          </a:p>
          <a:p>
            <a:pPr lvl="2">
              <a:spcBef>
                <a:spcPts val="0"/>
              </a:spcBef>
              <a:spcAft>
                <a:spcPts val="0"/>
              </a:spcAft>
              <a:buFont typeface="Wingdings" panose="05000000000000000000" pitchFamily="2" charset="2"/>
              <a:buChar char="§"/>
            </a:pPr>
            <a:r>
              <a:rPr lang="en-US" sz="1400" dirty="0"/>
              <a:t>Manage resources to maintain ethical standards</a:t>
            </a:r>
          </a:p>
          <a:p>
            <a:pPr lvl="1">
              <a:spcBef>
                <a:spcPts val="0"/>
              </a:spcBef>
              <a:spcAft>
                <a:spcPts val="0"/>
              </a:spcAft>
              <a:buFont typeface="Wingdings" panose="05000000000000000000" pitchFamily="2" charset="2"/>
              <a:buChar char="ü"/>
            </a:pPr>
            <a:endParaRPr lang="en-US" u="sng" dirty="0"/>
          </a:p>
          <a:p>
            <a:pPr marL="457200" lvl="2" indent="0">
              <a:spcBef>
                <a:spcPts val="0"/>
              </a:spcBef>
              <a:spcAft>
                <a:spcPts val="0"/>
              </a:spcAft>
              <a:buNone/>
            </a:pPr>
            <a:endParaRPr lang="en-US" sz="1400" dirty="0"/>
          </a:p>
          <a:p>
            <a:pPr lvl="3">
              <a:spcBef>
                <a:spcPts val="0"/>
              </a:spcBef>
              <a:spcAft>
                <a:spcPts val="0"/>
              </a:spcAft>
              <a:buFont typeface="Wingdings" panose="05000000000000000000" pitchFamily="2" charset="2"/>
              <a:buChar char="§"/>
            </a:pPr>
            <a:endParaRPr lang="en-US" sz="1400" dirty="0"/>
          </a:p>
          <a:p>
            <a:pPr lvl="1">
              <a:spcBef>
                <a:spcPts val="600"/>
              </a:spcBef>
            </a:pPr>
            <a:endParaRPr lang="en-US" dirty="0"/>
          </a:p>
        </p:txBody>
      </p:sp>
    </p:spTree>
    <p:extLst>
      <p:ext uri="{BB962C8B-B14F-4D97-AF65-F5344CB8AC3E}">
        <p14:creationId xmlns:p14="http://schemas.microsoft.com/office/powerpoint/2010/main" val="480576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noProof="0" dirty="0"/>
              <a:t>Keeping a Culture of Ethics</a:t>
            </a:r>
          </a:p>
        </p:txBody>
      </p:sp>
      <p:pic>
        <p:nvPicPr>
          <p:cNvPr id="9" name="Picture 2" descr="A photo of a compass pointing to &quot;Ethics.&quot;">
            <a:extLst>
              <a:ext uri="{FF2B5EF4-FFF2-40B4-BE49-F238E27FC236}">
                <a16:creationId xmlns:a16="http://schemas.microsoft.com/office/drawing/2014/main" id="{BD86B76E-70E3-8C1F-108A-2960F148ABA8}"/>
              </a:ext>
            </a:extLst>
          </p:cNvPr>
          <p:cNvPicPr>
            <a:picLocks noGrp="1" noChangeAspect="1" noChangeArrowheads="1"/>
          </p:cNvPicPr>
          <p:nvPr>
            <p:ph sz="half" idx="2"/>
          </p:nvPr>
        </p:nvPicPr>
        <p:blipFill rotWithShape="1">
          <a:blip r:embed="rId3">
            <a:duotone>
              <a:schemeClr val="accent5">
                <a:shade val="45000"/>
                <a:satMod val="135000"/>
              </a:schemeClr>
              <a:prstClr val="white"/>
            </a:duotone>
            <a:extLst>
              <a:ext uri="{28A0092B-C50C-407E-A947-70E740481C1C}">
                <a14:useLocalDpi xmlns:a14="http://schemas.microsoft.com/office/drawing/2010/main" val="0"/>
              </a:ext>
            </a:extLst>
          </a:blip>
          <a:srcRect l="687" r="19145"/>
          <a:stretch/>
        </p:blipFill>
        <p:spPr bwMode="auto">
          <a:xfrm>
            <a:off x="3778892" y="707568"/>
            <a:ext cx="5369871" cy="445022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2F5EEAF-1B49-8ACF-E27B-E17485E12811}"/>
              </a:ext>
              <a:ext uri="{C183D7F6-B498-43B3-948B-1728B52AA6E4}">
                <adec:decorative xmlns:adec="http://schemas.microsoft.com/office/drawing/2017/decorative" val="1"/>
              </a:ext>
            </a:extLst>
          </p:cNvPr>
          <p:cNvSpPr/>
          <p:nvPr/>
        </p:nvSpPr>
        <p:spPr>
          <a:xfrm>
            <a:off x="3667125" y="712331"/>
            <a:ext cx="2700338" cy="4450221"/>
          </a:xfrm>
          <a:prstGeom prst="rect">
            <a:avLst/>
          </a:prstGeom>
          <a:gradFill>
            <a:gsLst>
              <a:gs pos="5100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19">
            <a:extLst>
              <a:ext uri="{FF2B5EF4-FFF2-40B4-BE49-F238E27FC236}">
                <a16:creationId xmlns:a16="http://schemas.microsoft.com/office/drawing/2014/main" id="{C0A2ADE7-8EE6-1115-6BE7-DC127CE6C1E4}"/>
              </a:ext>
            </a:extLst>
          </p:cNvPr>
          <p:cNvSpPr>
            <a:spLocks noGrp="1"/>
          </p:cNvSpPr>
          <p:nvPr>
            <p:ph sz="half" idx="1"/>
          </p:nvPr>
        </p:nvSpPr>
        <p:spPr>
          <a:xfrm>
            <a:off x="628649" y="1052697"/>
            <a:ext cx="4938713" cy="3751777"/>
          </a:xfrm>
        </p:spPr>
        <p:txBody>
          <a:bodyPr/>
          <a:lstStyle/>
          <a:p>
            <a:pPr marL="57150" indent="0">
              <a:spcAft>
                <a:spcPts val="0"/>
              </a:spcAft>
              <a:buNone/>
            </a:pPr>
            <a:r>
              <a:rPr lang="en-US" sz="1800" b="1" dirty="0">
                <a:solidFill>
                  <a:schemeClr val="accent1"/>
                </a:solidFill>
              </a:rPr>
              <a:t>A culture is not infallible. </a:t>
            </a:r>
            <a:br>
              <a:rPr lang="en-US" sz="1800" b="1" dirty="0">
                <a:solidFill>
                  <a:schemeClr val="accent1"/>
                </a:solidFill>
              </a:rPr>
            </a:br>
            <a:r>
              <a:rPr lang="en-US" sz="1800" b="1" dirty="0">
                <a:solidFill>
                  <a:schemeClr val="accent1"/>
                </a:solidFill>
              </a:rPr>
              <a:t>Must have vigilance and diligence!</a:t>
            </a:r>
          </a:p>
          <a:p>
            <a:pPr marL="57150" indent="0">
              <a:spcAft>
                <a:spcPts val="0"/>
              </a:spcAft>
              <a:buNone/>
            </a:pPr>
            <a:endParaRPr lang="en-US" sz="1800" b="1" dirty="0">
              <a:solidFill>
                <a:schemeClr val="accent1"/>
              </a:solidFill>
            </a:endParaRPr>
          </a:p>
          <a:p>
            <a:pPr>
              <a:spcAft>
                <a:spcPts val="0"/>
              </a:spcAft>
              <a:buClr>
                <a:schemeClr val="accent3"/>
              </a:buClr>
            </a:pPr>
            <a:r>
              <a:rPr lang="en-US" dirty="0"/>
              <a:t>Proactively engage individual practioners, leaders, officials or other decisionmakers</a:t>
            </a:r>
          </a:p>
          <a:p>
            <a:pPr>
              <a:spcAft>
                <a:spcPts val="0"/>
              </a:spcAft>
              <a:buClr>
                <a:schemeClr val="accent3"/>
              </a:buClr>
            </a:pPr>
            <a:r>
              <a:rPr lang="en-US" dirty="0"/>
              <a:t>Regularly evaluate and update policies </a:t>
            </a:r>
            <a:br>
              <a:rPr lang="en-US" dirty="0"/>
            </a:br>
            <a:r>
              <a:rPr lang="en-US" dirty="0"/>
              <a:t>and practices to maintain a focus on ethics</a:t>
            </a:r>
          </a:p>
          <a:p>
            <a:pPr>
              <a:spcAft>
                <a:spcPts val="0"/>
              </a:spcAft>
              <a:buClr>
                <a:schemeClr val="accent3"/>
              </a:buClr>
            </a:pPr>
            <a:r>
              <a:rPr lang="en-US" dirty="0"/>
              <a:t>Actively work to maintain credibility </a:t>
            </a:r>
            <a:br>
              <a:rPr lang="en-US" dirty="0"/>
            </a:br>
            <a:r>
              <a:rPr lang="en-US" dirty="0"/>
              <a:t>and reputation</a:t>
            </a:r>
          </a:p>
          <a:p>
            <a:pPr>
              <a:spcAft>
                <a:spcPts val="0"/>
              </a:spcAft>
              <a:buClr>
                <a:schemeClr val="accent3"/>
              </a:buClr>
            </a:pPr>
            <a:r>
              <a:rPr lang="en-US" dirty="0"/>
              <a:t>Stay abreast of relevant communities, including professional organizations </a:t>
            </a:r>
            <a:br>
              <a:rPr lang="en-US" dirty="0"/>
            </a:br>
            <a:r>
              <a:rPr lang="en-US" dirty="0"/>
              <a:t>and stakeholders</a:t>
            </a:r>
          </a:p>
        </p:txBody>
      </p:sp>
      <p:sp>
        <p:nvSpPr>
          <p:cNvPr id="5" name="Slide Number Placeholder 4">
            <a:extLst>
              <a:ext uri="{FF2B5EF4-FFF2-40B4-BE49-F238E27FC236}">
                <a16:creationId xmlns:a16="http://schemas.microsoft.com/office/drawing/2014/main" id="{0A28F3D1-75B5-D44B-405D-8257B83E1CA1}"/>
              </a:ext>
            </a:extLst>
          </p:cNvPr>
          <p:cNvSpPr>
            <a:spLocks noGrp="1"/>
          </p:cNvSpPr>
          <p:nvPr>
            <p:ph type="sldNum" sz="quarter" idx="12"/>
          </p:nvPr>
        </p:nvSpPr>
        <p:spPr/>
        <p:txBody>
          <a:bodyPr/>
          <a:lstStyle/>
          <a:p>
            <a:fld id="{CC942E1D-94D0-4C55-B1DD-A28B122FA8E2}" type="slidenum">
              <a:rPr lang="en-US" smtClean="0"/>
              <a:pPr/>
              <a:t>17</a:t>
            </a:fld>
            <a:endParaRPr lang="en-US" dirty="0"/>
          </a:p>
        </p:txBody>
      </p:sp>
    </p:spTree>
    <p:extLst>
      <p:ext uri="{BB962C8B-B14F-4D97-AF65-F5344CB8AC3E}">
        <p14:creationId xmlns:p14="http://schemas.microsoft.com/office/powerpoint/2010/main" val="38065211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p:cNvSpPr>
            <a:spLocks noGrp="1"/>
          </p:cNvSpPr>
          <p:nvPr>
            <p:ph type="title"/>
          </p:nvPr>
        </p:nvSpPr>
        <p:spPr/>
        <p:txBody>
          <a:bodyPr/>
          <a:lstStyle/>
          <a:p>
            <a:r>
              <a:rPr lang="en-US" noProof="0" dirty="0"/>
              <a:t>Thank You</a:t>
            </a:r>
          </a:p>
        </p:txBody>
      </p:sp>
      <p:sp>
        <p:nvSpPr>
          <p:cNvPr id="19" name="Content Placeholder 7"/>
          <p:cNvSpPr>
            <a:spLocks noGrp="1"/>
          </p:cNvSpPr>
          <p:nvPr>
            <p:ph type="body" idx="1"/>
          </p:nvPr>
        </p:nvSpPr>
        <p:spPr/>
        <p:txBody>
          <a:bodyPr/>
          <a:lstStyle/>
          <a:p>
            <a:r>
              <a:rPr lang="en-US" b="1" dirty="0"/>
              <a:t>Jeri Mulrow </a:t>
            </a:r>
            <a:r>
              <a:rPr lang="en-US" dirty="0">
                <a:solidFill>
                  <a:srgbClr val="00B0F0"/>
                </a:solidFill>
                <a:latin typeface="Calibri Light" panose="020F0302020204030204" pitchFamily="34" charset="0"/>
                <a:cs typeface="Calibri Light" panose="020F0302020204030204" pitchFamily="34" charset="0"/>
              </a:rPr>
              <a:t>|</a:t>
            </a:r>
            <a:r>
              <a:rPr lang="en-US" b="1" dirty="0"/>
              <a:t> </a:t>
            </a:r>
            <a:r>
              <a:rPr lang="en-US" dirty="0">
                <a:hlinkClick r:id="rId3"/>
              </a:rPr>
              <a:t>jerimulrow@westat.com</a:t>
            </a:r>
            <a:endParaRPr lang="en-US" dirty="0"/>
          </a:p>
          <a:p>
            <a:pPr marL="1714500"/>
            <a:r>
              <a:rPr lang="en-US" dirty="0"/>
              <a:t>240-429-9181</a:t>
            </a:r>
          </a:p>
          <a:p>
            <a:endParaRPr lang="en-US" dirty="0"/>
          </a:p>
          <a:p>
            <a:endParaRPr lang="en-US" dirty="0"/>
          </a:p>
        </p:txBody>
      </p:sp>
      <p:sp>
        <p:nvSpPr>
          <p:cNvPr id="7" name="Slide Number Placeholder 6">
            <a:extLst>
              <a:ext uri="{FF2B5EF4-FFF2-40B4-BE49-F238E27FC236}">
                <a16:creationId xmlns:a16="http://schemas.microsoft.com/office/drawing/2014/main" id="{06368E2D-F86D-719C-F7FD-F37476119B21}"/>
              </a:ext>
            </a:extLst>
          </p:cNvPr>
          <p:cNvSpPr>
            <a:spLocks noGrp="1"/>
          </p:cNvSpPr>
          <p:nvPr>
            <p:ph type="sldNum" sz="quarter" idx="12"/>
          </p:nvPr>
        </p:nvSpPr>
        <p:spPr/>
        <p:txBody>
          <a:bodyPr/>
          <a:lstStyle/>
          <a:p>
            <a:fld id="{CC942E1D-94D0-4C55-B1DD-A28B122FA8E2}" type="slidenum">
              <a:rPr lang="en-US" smtClean="0"/>
              <a:pPr/>
              <a:t>18</a:t>
            </a:fld>
            <a:endParaRPr lang="en-US" dirty="0"/>
          </a:p>
        </p:txBody>
      </p:sp>
    </p:spTree>
    <p:extLst>
      <p:ext uri="{BB962C8B-B14F-4D97-AF65-F5344CB8AC3E}">
        <p14:creationId xmlns:p14="http://schemas.microsoft.com/office/powerpoint/2010/main" val="4095866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CA59-5FF1-4F4C-8B45-2C31D3FEEC32}"/>
              </a:ext>
            </a:extLst>
          </p:cNvPr>
          <p:cNvSpPr>
            <a:spLocks noGrp="1"/>
          </p:cNvSpPr>
          <p:nvPr>
            <p:ph type="title"/>
          </p:nvPr>
        </p:nvSpPr>
        <p:spPr/>
        <p:txBody>
          <a:bodyPr/>
          <a:lstStyle/>
          <a:p>
            <a:r>
              <a:rPr lang="en-US" dirty="0"/>
              <a:t>Five</a:t>
            </a:r>
            <a:r>
              <a:rPr lang="en-US" noProof="0" dirty="0"/>
              <a:t> Principles &amp; 10 practices for a Federal Statistical Agency</a:t>
            </a:r>
          </a:p>
        </p:txBody>
      </p:sp>
      <p:pic>
        <p:nvPicPr>
          <p:cNvPr id="8" name="Picture 2" descr="Front Matter | Principles and Practices for a Federal Statistical Agency:  Seventh Edition |The National Academies Press.">
            <a:extLst>
              <a:ext uri="{FF2B5EF4-FFF2-40B4-BE49-F238E27FC236}">
                <a16:creationId xmlns:a16="http://schemas.microsoft.com/office/drawing/2014/main" id="{6824A9BD-36FC-D7B5-D35A-C490909076AA}"/>
              </a:ext>
            </a:extLst>
          </p:cNvPr>
          <p:cNvPicPr>
            <a:picLocks noGrp="1" noChangeAspect="1" noChangeArrowheads="1"/>
          </p:cNvPicPr>
          <p:nvPr>
            <p:ph sz="half" idx="1"/>
          </p:nvPr>
        </p:nvPicPr>
        <p:blipFill>
          <a:blip r:embed="rId3" cstate="print">
            <a:extLst>
              <a:ext uri="{28A0092B-C50C-407E-A947-70E740481C1C}">
                <a14:useLocalDpi xmlns:a14="http://schemas.microsoft.com/office/drawing/2010/main" val="0"/>
              </a:ext>
            </a:extLst>
          </a:blip>
          <a:stretch>
            <a:fillRect/>
          </a:stretch>
        </p:blipFill>
        <p:spPr bwMode="auto">
          <a:xfrm>
            <a:off x="723900" y="1047750"/>
            <a:ext cx="1747838" cy="2621757"/>
          </a:xfrm>
          <a:prstGeom prst="rect">
            <a:avLst/>
          </a:prstGeom>
          <a:noFill/>
          <a:extLst>
            <a:ext uri="{909E8E84-426E-40DD-AFC4-6F175D3DCCD1}">
              <a14:hiddenFill xmlns:a14="http://schemas.microsoft.com/office/drawing/2010/main">
                <a:solidFill>
                  <a:srgbClr val="FFFFFF"/>
                </a:solidFill>
              </a14:hiddenFill>
            </a:ext>
          </a:extLst>
        </p:spPr>
      </p:pic>
      <p:sp>
        <p:nvSpPr>
          <p:cNvPr id="13" name="Text Placeholder 12">
            <a:extLst>
              <a:ext uri="{FF2B5EF4-FFF2-40B4-BE49-F238E27FC236}">
                <a16:creationId xmlns:a16="http://schemas.microsoft.com/office/drawing/2014/main" id="{0F706C2F-9707-2196-906D-8DAB7AB5BE7A}"/>
              </a:ext>
            </a:extLst>
          </p:cNvPr>
          <p:cNvSpPr>
            <a:spLocks noGrp="1"/>
          </p:cNvSpPr>
          <p:nvPr>
            <p:ph type="body" sz="quarter" idx="13"/>
          </p:nvPr>
        </p:nvSpPr>
        <p:spPr>
          <a:xfrm>
            <a:off x="723900" y="3760788"/>
            <a:ext cx="1788188" cy="936625"/>
          </a:xfrm>
        </p:spPr>
        <p:txBody>
          <a:bodyPr/>
          <a:lstStyle/>
          <a:p>
            <a:r>
              <a:rPr lang="en-US" sz="900" dirty="0">
                <a:hlinkClick r:id="rId4"/>
              </a:rPr>
              <a:t>7th Edition of Principles and Practices for a Federal Statistical Agency | National Academies</a:t>
            </a:r>
            <a:endParaRPr lang="en-US" sz="900" dirty="0"/>
          </a:p>
        </p:txBody>
      </p:sp>
      <p:sp>
        <p:nvSpPr>
          <p:cNvPr id="3" name="Content Placeholder 2">
            <a:extLst>
              <a:ext uri="{FF2B5EF4-FFF2-40B4-BE49-F238E27FC236}">
                <a16:creationId xmlns:a16="http://schemas.microsoft.com/office/drawing/2014/main" id="{291D525D-7F69-F945-8A31-5FF42073AF45}"/>
              </a:ext>
            </a:extLst>
          </p:cNvPr>
          <p:cNvSpPr>
            <a:spLocks noGrp="1"/>
          </p:cNvSpPr>
          <p:nvPr>
            <p:ph sz="half" idx="2"/>
          </p:nvPr>
        </p:nvSpPr>
        <p:spPr>
          <a:xfrm>
            <a:off x="2552700" y="939997"/>
            <a:ext cx="5962650" cy="3962415"/>
          </a:xfrm>
          <a:noFill/>
        </p:spPr>
        <p:txBody>
          <a:bodyPr/>
          <a:lstStyle/>
          <a:p>
            <a:pPr>
              <a:spcBef>
                <a:spcPts val="600"/>
              </a:spcBef>
              <a:spcAft>
                <a:spcPts val="150"/>
              </a:spcAft>
              <a:buClr>
                <a:schemeClr val="accent3"/>
              </a:buClr>
              <a:buFont typeface="Wingdings" panose="05000000000000000000" pitchFamily="2" charset="2"/>
              <a:buChar char="ü"/>
            </a:pPr>
            <a:r>
              <a:rPr lang="en-US" sz="1600" b="1" u="sng" dirty="0">
                <a:solidFill>
                  <a:schemeClr val="accent1"/>
                </a:solidFill>
              </a:rPr>
              <a:t>Five principles</a:t>
            </a:r>
          </a:p>
          <a:p>
            <a:pPr marL="400050" indent="-342900">
              <a:spcBef>
                <a:spcPts val="0"/>
              </a:spcBef>
              <a:spcAft>
                <a:spcPts val="150"/>
              </a:spcAft>
              <a:buClr>
                <a:schemeClr val="accent3"/>
              </a:buClr>
              <a:buFont typeface="+mj-lt"/>
              <a:buAutoNum type="arabicParenR"/>
            </a:pPr>
            <a:r>
              <a:rPr lang="en-US" sz="1400" b="1" dirty="0">
                <a:solidFill>
                  <a:schemeClr val="accent1"/>
                </a:solidFill>
              </a:rPr>
              <a:t>Relevance</a:t>
            </a:r>
            <a:r>
              <a:rPr lang="en-US" sz="1400" dirty="0">
                <a:solidFill>
                  <a:schemeClr val="accent1"/>
                </a:solidFill>
              </a:rPr>
              <a:t> to policy issues and society</a:t>
            </a:r>
          </a:p>
          <a:p>
            <a:pPr marL="400050" indent="-342900">
              <a:spcBef>
                <a:spcPts val="0"/>
              </a:spcBef>
              <a:buClr>
                <a:schemeClr val="accent3"/>
              </a:buClr>
              <a:buFont typeface="+mj-lt"/>
              <a:buAutoNum type="arabicParenR"/>
            </a:pPr>
            <a:r>
              <a:rPr lang="en-US" sz="1400" b="1" dirty="0">
                <a:solidFill>
                  <a:schemeClr val="accent1"/>
                </a:solidFill>
              </a:rPr>
              <a:t>Credibility</a:t>
            </a:r>
            <a:r>
              <a:rPr lang="en-US" sz="1400" dirty="0">
                <a:solidFill>
                  <a:schemeClr val="accent1"/>
                </a:solidFill>
              </a:rPr>
              <a:t> among data users and stakeholders</a:t>
            </a:r>
          </a:p>
          <a:p>
            <a:pPr marL="400050" indent="-342900">
              <a:spcBef>
                <a:spcPts val="0"/>
              </a:spcBef>
              <a:buClr>
                <a:schemeClr val="accent3"/>
              </a:buClr>
              <a:buFont typeface="+mj-lt"/>
              <a:buAutoNum type="arabicParenR"/>
            </a:pPr>
            <a:r>
              <a:rPr lang="en-US" sz="1400" b="1" dirty="0">
                <a:solidFill>
                  <a:schemeClr val="accent1"/>
                </a:solidFill>
              </a:rPr>
              <a:t>Trust</a:t>
            </a:r>
            <a:r>
              <a:rPr lang="en-US" sz="1400" dirty="0">
                <a:solidFill>
                  <a:schemeClr val="accent1"/>
                </a:solidFill>
              </a:rPr>
              <a:t> among the public and data providers</a:t>
            </a:r>
            <a:endParaRPr lang="en-US" sz="1200" dirty="0">
              <a:solidFill>
                <a:schemeClr val="accent1"/>
              </a:solidFill>
            </a:endParaRPr>
          </a:p>
          <a:p>
            <a:pPr marL="400050" indent="-342900">
              <a:spcBef>
                <a:spcPts val="0"/>
              </a:spcBef>
              <a:buClr>
                <a:schemeClr val="accent3"/>
              </a:buClr>
              <a:buFont typeface="+mj-lt"/>
              <a:buAutoNum type="arabicParenR"/>
            </a:pPr>
            <a:r>
              <a:rPr lang="en-US" sz="1400" b="1" dirty="0">
                <a:solidFill>
                  <a:schemeClr val="accent1"/>
                </a:solidFill>
              </a:rPr>
              <a:t>Independence</a:t>
            </a:r>
            <a:r>
              <a:rPr lang="en-US" sz="1400" dirty="0">
                <a:solidFill>
                  <a:schemeClr val="accent1"/>
                </a:solidFill>
              </a:rPr>
              <a:t> from political and other undue influence</a:t>
            </a:r>
            <a:endParaRPr lang="en-US" sz="1200" dirty="0">
              <a:solidFill>
                <a:schemeClr val="accent1"/>
              </a:solidFill>
            </a:endParaRPr>
          </a:p>
          <a:p>
            <a:pPr marL="400050" indent="-342900">
              <a:spcBef>
                <a:spcPts val="0"/>
              </a:spcBef>
              <a:buClr>
                <a:schemeClr val="accent3"/>
              </a:buClr>
              <a:buFont typeface="+mj-lt"/>
              <a:buAutoNum type="arabicParenR"/>
            </a:pPr>
            <a:r>
              <a:rPr lang="en-US" sz="1400" b="1" dirty="0">
                <a:solidFill>
                  <a:schemeClr val="accent1"/>
                </a:solidFill>
              </a:rPr>
              <a:t>Continual improvement </a:t>
            </a:r>
            <a:r>
              <a:rPr lang="en-US" sz="1400" dirty="0">
                <a:solidFill>
                  <a:schemeClr val="accent1"/>
                </a:solidFill>
              </a:rPr>
              <a:t>and innovation</a:t>
            </a:r>
          </a:p>
          <a:p>
            <a:pPr marL="57150" indent="0">
              <a:spcBef>
                <a:spcPts val="0"/>
              </a:spcBef>
              <a:buClr>
                <a:schemeClr val="accent3"/>
              </a:buClr>
              <a:buNone/>
            </a:pPr>
            <a:endParaRPr lang="en-US" sz="1400" dirty="0">
              <a:solidFill>
                <a:schemeClr val="accent1"/>
              </a:solidFill>
            </a:endParaRPr>
          </a:p>
          <a:p>
            <a:pPr>
              <a:spcBef>
                <a:spcPts val="600"/>
              </a:spcBef>
              <a:buClr>
                <a:schemeClr val="accent3"/>
              </a:buClr>
              <a:buFont typeface="Wingdings" panose="05000000000000000000" pitchFamily="2" charset="2"/>
              <a:buChar char="ü"/>
            </a:pPr>
            <a:r>
              <a:rPr lang="en-US" sz="1600" b="1" u="sng" dirty="0">
                <a:solidFill>
                  <a:schemeClr val="accent1"/>
                </a:solidFill>
              </a:rPr>
              <a:t>4 of 10 practices focused on ethical behaviors</a:t>
            </a:r>
          </a:p>
          <a:p>
            <a:pPr>
              <a:spcBef>
                <a:spcPts val="0"/>
              </a:spcBef>
              <a:spcAft>
                <a:spcPts val="150"/>
              </a:spcAft>
              <a:buClr>
                <a:schemeClr val="accent3"/>
              </a:buClr>
              <a:buFont typeface="Wingdings" panose="05000000000000000000" pitchFamily="2" charset="2"/>
              <a:buChar char="§"/>
            </a:pPr>
            <a:r>
              <a:rPr lang="en-US" b="1" dirty="0">
                <a:solidFill>
                  <a:schemeClr val="accent1"/>
                </a:solidFill>
              </a:rPr>
              <a:t>Commitment </a:t>
            </a:r>
            <a:r>
              <a:rPr lang="en-US" dirty="0">
                <a:solidFill>
                  <a:schemeClr val="accent1"/>
                </a:solidFill>
              </a:rPr>
              <a:t>to quality &amp; professional standards</a:t>
            </a:r>
          </a:p>
          <a:p>
            <a:pPr>
              <a:spcBef>
                <a:spcPts val="0"/>
              </a:spcBef>
              <a:spcAft>
                <a:spcPts val="150"/>
              </a:spcAft>
              <a:buClr>
                <a:schemeClr val="accent3"/>
              </a:buClr>
              <a:buFont typeface="Wingdings" panose="05000000000000000000" pitchFamily="2" charset="2"/>
              <a:buChar char="§"/>
            </a:pPr>
            <a:r>
              <a:rPr lang="en-US" b="1" dirty="0">
                <a:solidFill>
                  <a:schemeClr val="accent1"/>
                </a:solidFill>
              </a:rPr>
              <a:t>Respect </a:t>
            </a:r>
            <a:r>
              <a:rPr lang="en-US" dirty="0">
                <a:solidFill>
                  <a:schemeClr val="accent1"/>
                </a:solidFill>
              </a:rPr>
              <a:t>for data providers &amp; protection of their privacy</a:t>
            </a:r>
          </a:p>
          <a:p>
            <a:pPr>
              <a:spcBef>
                <a:spcPts val="0"/>
              </a:spcBef>
              <a:spcAft>
                <a:spcPts val="150"/>
              </a:spcAft>
              <a:buClr>
                <a:schemeClr val="accent3"/>
              </a:buClr>
              <a:buFont typeface="Wingdings" panose="05000000000000000000" pitchFamily="2" charset="2"/>
              <a:buChar char="§"/>
            </a:pPr>
            <a:r>
              <a:rPr lang="en-US" b="1" dirty="0">
                <a:solidFill>
                  <a:schemeClr val="accent1"/>
                </a:solidFill>
              </a:rPr>
              <a:t>Dissemination </a:t>
            </a:r>
            <a:r>
              <a:rPr lang="en-US" dirty="0">
                <a:solidFill>
                  <a:schemeClr val="accent1"/>
                </a:solidFill>
              </a:rPr>
              <a:t>(wide) of statistical products &amp; information</a:t>
            </a:r>
          </a:p>
          <a:p>
            <a:pPr>
              <a:spcBef>
                <a:spcPts val="0"/>
              </a:spcBef>
              <a:spcAft>
                <a:spcPts val="150"/>
              </a:spcAft>
              <a:buClr>
                <a:schemeClr val="accent3"/>
              </a:buClr>
              <a:buFont typeface="Wingdings" panose="05000000000000000000" pitchFamily="2" charset="2"/>
              <a:buChar char="§"/>
            </a:pPr>
            <a:r>
              <a:rPr lang="en-US" b="1" dirty="0">
                <a:solidFill>
                  <a:schemeClr val="accent1"/>
                </a:solidFill>
              </a:rPr>
              <a:t>Openness</a:t>
            </a:r>
            <a:r>
              <a:rPr lang="en-US" dirty="0">
                <a:solidFill>
                  <a:schemeClr val="accent1"/>
                </a:solidFill>
              </a:rPr>
              <a:t> of sources of data and limitations</a:t>
            </a:r>
            <a:endParaRPr lang="en-US" dirty="0">
              <a:solidFill>
                <a:schemeClr val="tx1"/>
              </a:solidFill>
            </a:endParaRPr>
          </a:p>
          <a:p>
            <a:pPr marL="400050" indent="-342900">
              <a:spcBef>
                <a:spcPts val="0"/>
              </a:spcBef>
              <a:spcAft>
                <a:spcPts val="150"/>
              </a:spcAft>
              <a:buClr>
                <a:schemeClr val="accent3"/>
              </a:buClr>
              <a:buFont typeface="+mj-lt"/>
              <a:buAutoNum type="arabicParenR"/>
            </a:pPr>
            <a:endParaRPr lang="en-US" dirty="0">
              <a:solidFill>
                <a:schemeClr val="tx1"/>
              </a:solidFill>
            </a:endParaRPr>
          </a:p>
        </p:txBody>
      </p:sp>
      <p:pic>
        <p:nvPicPr>
          <p:cNvPr id="12" name="Graphic 11">
            <a:extLst>
              <a:ext uri="{FF2B5EF4-FFF2-40B4-BE49-F238E27FC236}">
                <a16:creationId xmlns:a16="http://schemas.microsoft.com/office/drawing/2014/main" id="{6491E3D5-DE08-5B27-AD37-A054D4FF075D}"/>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86087" y="2495549"/>
            <a:ext cx="379220" cy="379220"/>
          </a:xfrm>
          <a:prstGeom prst="rect">
            <a:avLst/>
          </a:prstGeom>
        </p:spPr>
      </p:pic>
      <p:sp>
        <p:nvSpPr>
          <p:cNvPr id="11" name="Slide Number Placeholder 10">
            <a:extLst>
              <a:ext uri="{FF2B5EF4-FFF2-40B4-BE49-F238E27FC236}">
                <a16:creationId xmlns:a16="http://schemas.microsoft.com/office/drawing/2014/main" id="{2CDABCB3-FC2A-BB77-D5BB-1D9989F14013}"/>
              </a:ext>
            </a:extLst>
          </p:cNvPr>
          <p:cNvSpPr>
            <a:spLocks noGrp="1"/>
          </p:cNvSpPr>
          <p:nvPr>
            <p:ph type="sldNum" sz="quarter" idx="12"/>
          </p:nvPr>
        </p:nvSpPr>
        <p:spPr/>
        <p:txBody>
          <a:bodyPr/>
          <a:lstStyle/>
          <a:p>
            <a:fld id="{CC942E1D-94D0-4C55-B1DD-A28B122FA8E2}" type="slidenum">
              <a:rPr lang="en-US" smtClean="0"/>
              <a:t>19</a:t>
            </a:fld>
            <a:endParaRPr lang="en-US"/>
          </a:p>
        </p:txBody>
      </p:sp>
    </p:spTree>
    <p:extLst>
      <p:ext uri="{BB962C8B-B14F-4D97-AF65-F5344CB8AC3E}">
        <p14:creationId xmlns:p14="http://schemas.microsoft.com/office/powerpoint/2010/main" val="2980066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Westat2018">
  <a:themeElements>
    <a:clrScheme name="Custom 7">
      <a:dk1>
        <a:srgbClr val="000000"/>
      </a:dk1>
      <a:lt1>
        <a:srgbClr val="FFFFFF"/>
      </a:lt1>
      <a:dk2>
        <a:srgbClr val="1A2A57"/>
      </a:dk2>
      <a:lt2>
        <a:srgbClr val="E7E6E6"/>
      </a:lt2>
      <a:accent1>
        <a:srgbClr val="00467F"/>
      </a:accent1>
      <a:accent2>
        <a:srgbClr val="A71C20"/>
      </a:accent2>
      <a:accent3>
        <a:srgbClr val="007E9D"/>
      </a:accent3>
      <a:accent4>
        <a:srgbClr val="FAA61A"/>
      </a:accent4>
      <a:accent5>
        <a:srgbClr val="542785"/>
      </a:accent5>
      <a:accent6>
        <a:srgbClr val="3A7B3C"/>
      </a:accent6>
      <a:hlink>
        <a:srgbClr val="0563C1"/>
      </a:hlink>
      <a:folHlink>
        <a:srgbClr val="0263C1"/>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6FAC0177-1C8E-4AC5-8CE7-8320B626690A}"/>
</file>

<file path=customXml/itemProps2.xml><?xml version="1.0" encoding="utf-8"?>
<ds:datastoreItem xmlns:ds="http://schemas.openxmlformats.org/officeDocument/2006/customXml" ds:itemID="{FDE5D76C-EA79-4EB9-BA64-2EF78C32B0D3}"/>
</file>

<file path=customXml/itemProps3.xml><?xml version="1.0" encoding="utf-8"?>
<ds:datastoreItem xmlns:ds="http://schemas.openxmlformats.org/officeDocument/2006/customXml" ds:itemID="{0B423A71-4790-4EB9-8496-85F318806E6D}"/>
</file>

<file path=docProps/app.xml><?xml version="1.0" encoding="utf-8"?>
<Properties xmlns="http://schemas.openxmlformats.org/officeDocument/2006/extended-properties" xmlns:vt="http://schemas.openxmlformats.org/officeDocument/2006/docPropsVTypes">
  <Template>Office Theme</Template>
  <TotalTime>20657</TotalTime>
  <Words>1278</Words>
  <Application>Microsoft Office PowerPoint</Application>
  <PresentationFormat>On-screen Show (16:9)</PresentationFormat>
  <Paragraphs>176</Paragraphs>
  <Slides>20</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.PingFang SC Regular</vt:lpstr>
      <vt:lpstr>Arial</vt:lpstr>
      <vt:lpstr>Calibri</vt:lpstr>
      <vt:lpstr>Calibri Light</vt:lpstr>
      <vt:lpstr>Verdana</vt:lpstr>
      <vt:lpstr>Wingdings</vt:lpstr>
      <vt:lpstr>Zapf Dingbats</vt:lpstr>
      <vt:lpstr>Westat2018</vt:lpstr>
      <vt:lpstr>A Comparison of Frameworks for Ethics in Statistical Practice</vt:lpstr>
      <vt:lpstr>Acknowledgements</vt:lpstr>
      <vt:lpstr>Overview of frameworks  Comparison of frameworks  Role of organizations </vt:lpstr>
      <vt:lpstr>Ethical Framework</vt:lpstr>
      <vt:lpstr>Ethical Framework</vt:lpstr>
      <vt:lpstr>Ethical Framework</vt:lpstr>
      <vt:lpstr>Ethical Framework</vt:lpstr>
      <vt:lpstr>Ethical Framework</vt:lpstr>
      <vt:lpstr>Ethical Framework</vt:lpstr>
      <vt:lpstr>Ethical Framework</vt:lpstr>
      <vt:lpstr>Overview of frameworks  Comparison of frameworks  Role of organizations </vt:lpstr>
      <vt:lpstr>Concordance (Alignment ) in Ethical Frameworks</vt:lpstr>
      <vt:lpstr>Concordance (Alignment ) in Ethical Frameworks</vt:lpstr>
      <vt:lpstr>Concordance (Alignment ) in Ethical Frameworks</vt:lpstr>
      <vt:lpstr>Concordance (Alignment ) in Ethical Frameworks</vt:lpstr>
      <vt:lpstr>Overview of frameworks  Comparison of frameworks  Role of organizations </vt:lpstr>
      <vt:lpstr>Concordance (Alignment ) in Ethical Frameworks</vt:lpstr>
      <vt:lpstr>Keeping a Culture of Ethics</vt:lpstr>
      <vt:lpstr>Thank You</vt:lpstr>
      <vt:lpstr>Five Principles &amp; 10 practices for a Federal Statistical Agency</vt:lpstr>
    </vt:vector>
  </TitlesOfParts>
  <Manager/>
  <Company>Westat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Use  of Design Weights  in Classification Trees  for Modeling Survey Nonresponse</dc:title>
  <dc:subject/>
  <dc:creator>Jeri Mulrow</dc:creator>
  <cp:keywords>Westat, AAPOR 2022, marketing, presentation</cp:keywords>
  <dc:description/>
  <cp:lastModifiedBy>Jeri Mulrow</cp:lastModifiedBy>
  <cp:revision>937</cp:revision>
  <cp:lastPrinted>2022-06-28T14:19:49Z</cp:lastPrinted>
  <dcterms:created xsi:type="dcterms:W3CDTF">2018-06-28T00:10:08Z</dcterms:created>
  <dcterms:modified xsi:type="dcterms:W3CDTF">2023-07-17T15:26:54Z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0x010100D45AE3D1135F4E41AB498540A40487BD</vt:lpwstr>
  </property>
</Properties>
</file>