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wdp" ContentType="image/vnd.ms-photo"/>
  <Default Extension="xlsx" ContentType="application/vnd.openxmlformats-officedocument.spreadsheetml.sheet"/>
  <Default Extension="jpg" ContentType="image/jpeg"/>
  <Override PartName="/ppt/diagrams/data1.xml" ContentType="application/vnd.openxmlformats-officedocument.drawingml.diagramData+xml"/>
  <Override PartName="/ppt/drawings/drawing1.xml" ContentType="application/vnd.openxmlformats-officedocument.drawingml.chartshap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diagrams/data2.xml" ContentType="application/vnd.openxmlformats-officedocument.drawingml.diagramData+xml"/>
  <Override PartName="/ppt/diagrams/data5.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6.xml" ContentType="application/vnd.openxmlformats-officedocument.drawingml.diagramData+xml"/>
  <Override PartName="/ppt/presentation.xml" ContentType="application/vnd.openxmlformats-officedocument.presentationml.presentation.main+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3.xml" ContentType="application/vnd.openxmlformats-officedocument.presentationml.notesSlide+xml"/>
  <Override PartName="/ppt/slideLayouts/slideLayout28.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notesSlides/notesSlide12.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slideLayouts/slideLayout29.xml" ContentType="application/vnd.openxmlformats-officedocument.presentationml.slideLayou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notesSlides/notesSlide14.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7.xml" ContentType="application/vnd.openxmlformats-officedocument.presentationml.notesSlid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notesSlides/notesSlide4.xml" ContentType="application/vnd.openxmlformats-officedocument.presentationml.notesSlide+xml"/>
  <Override PartName="/ppt/notesSlides/notesSlide1.xml" ContentType="application/vnd.openxmlformats-officedocument.presentationml.notesSlide+xml"/>
  <Override PartName="/ppt/notesSlides/notesSlide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layout3.xml" ContentType="application/vnd.openxmlformats-officedocument.drawingml.diagramLayout+xml"/>
  <Override PartName="/ppt/theme/theme1.xml" ContentType="application/vnd.openxmlformats-officedocument.theme+xml"/>
  <Override PartName="/ppt/diagrams/colors3.xml" ContentType="application/vnd.openxmlformats-officedocument.drawingml.diagramColors+xml"/>
  <Override PartName="/ppt/diagrams/drawing3.xml" ContentType="application/vnd.ms-office.drawingml.diagramDrawing+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Masters/notesMaster1.xml" ContentType="application/vnd.openxmlformats-officedocument.presentationml.notesMaster+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quickStyle3.xml" ContentType="application/vnd.openxmlformats-officedocument.drawingml.diagramStyle+xml"/>
  <Override PartName="/ppt/theme/theme2.xml" ContentType="application/vnd.openxmlformats-officedocument.them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theme/theme3.xml" ContentType="application/vnd.openxmlformats-officedocument.theme+xml"/>
  <Override PartName="/ppt/theme/theme4.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7" r:id="rId2"/>
    <p:sldMasterId id="2147483689" r:id="rId3"/>
  </p:sldMasterIdLst>
  <p:notesMasterIdLst>
    <p:notesMasterId r:id="rId31"/>
  </p:notesMasterIdLst>
  <p:sldIdLst>
    <p:sldId id="257" r:id="rId4"/>
    <p:sldId id="380" r:id="rId5"/>
    <p:sldId id="381" r:id="rId6"/>
    <p:sldId id="346" r:id="rId7"/>
    <p:sldId id="382" r:id="rId8"/>
    <p:sldId id="347" r:id="rId9"/>
    <p:sldId id="379" r:id="rId10"/>
    <p:sldId id="344" r:id="rId11"/>
    <p:sldId id="377" r:id="rId12"/>
    <p:sldId id="378" r:id="rId13"/>
    <p:sldId id="343" r:id="rId14"/>
    <p:sldId id="334" r:id="rId15"/>
    <p:sldId id="335" r:id="rId16"/>
    <p:sldId id="336" r:id="rId17"/>
    <p:sldId id="339" r:id="rId18"/>
    <p:sldId id="1881" r:id="rId19"/>
    <p:sldId id="383" r:id="rId20"/>
    <p:sldId id="384" r:id="rId21"/>
    <p:sldId id="385" r:id="rId22"/>
    <p:sldId id="386" r:id="rId23"/>
    <p:sldId id="1878" r:id="rId24"/>
    <p:sldId id="1879" r:id="rId25"/>
    <p:sldId id="299" r:id="rId26"/>
    <p:sldId id="308" r:id="rId27"/>
    <p:sldId id="332" r:id="rId28"/>
    <p:sldId id="333" r:id="rId29"/>
    <p:sldId id="370"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9" autoAdjust="0"/>
    <p:restoredTop sz="86067" autoAdjust="0"/>
  </p:normalViewPr>
  <p:slideViewPr>
    <p:cSldViewPr snapToGrid="0">
      <p:cViewPr>
        <p:scale>
          <a:sx n="64" d="100"/>
          <a:sy n="64" d="100"/>
        </p:scale>
        <p:origin x="180" y="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viewProps" Target="viewProps.xml"/><Relationship Id="rId38" Type="http://schemas.openxmlformats.org/officeDocument/2006/relationships/customXml" Target="../customXml/item3.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presProps" Target="presProps.xml"/><Relationship Id="rId37" Type="http://schemas.openxmlformats.org/officeDocument/2006/relationships/customXml" Target="../customXml/item2.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customXml" Target="../customXml/item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tableStyles" Target="tableStyles.xml"/><Relationship Id="rId8" Type="http://schemas.openxmlformats.org/officeDocument/2006/relationships/slide" Target="slides/slide5.xml"/><Relationship Id="rId3" Type="http://schemas.openxmlformats.org/officeDocument/2006/relationships/slideMaster" Target="slideMasters/slideMaster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there\Box\Theresa%20Anderson%20Documents\Student-Parents%20and%20Two-Gen\Hrabowski\Figures%20for%20Hrabowski%20Brief.xlsx" TargetMode="Externa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chartUserShapes" Target="../drawings/drawing1.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spc="0" baseline="0">
                <a:solidFill>
                  <a:schemeClr val="tx1"/>
                </a:solidFill>
                <a:latin typeface="Lato" panose="020F0502020204030203" pitchFamily="34" charset="0"/>
                <a:ea typeface="+mn-ea"/>
                <a:cs typeface="+mn-cs"/>
              </a:defRPr>
            </a:pPr>
            <a:r>
              <a:rPr lang="en-US" sz="1800" b="1" dirty="0">
                <a:solidFill>
                  <a:schemeClr val="tx1"/>
                </a:solidFill>
              </a:rPr>
              <a:t>Female undergrads, 2016</a:t>
            </a:r>
          </a:p>
        </c:rich>
      </c:tx>
      <c:overlay val="0"/>
      <c:spPr>
        <a:noFill/>
        <a:ln>
          <a:noFill/>
        </a:ln>
        <a:effectLst/>
      </c:spPr>
      <c:txPr>
        <a:bodyPr rot="0" spcFirstLastPara="1" vertOverflow="ellipsis" vert="horz" wrap="square" anchor="ctr" anchorCtr="1"/>
        <a:lstStyle/>
        <a:p>
          <a:pPr>
            <a:defRPr sz="1800" b="0" i="0" u="none" strike="noStrike" kern="1200" spc="0" baseline="0">
              <a:solidFill>
                <a:schemeClr val="tx1"/>
              </a:solidFill>
              <a:latin typeface="Lato" panose="020F0502020204030203" pitchFamily="34" charset="0"/>
              <a:ea typeface="+mn-ea"/>
              <a:cs typeface="+mn-cs"/>
            </a:defRPr>
          </a:pPr>
          <a:endParaRPr lang="en-US"/>
        </a:p>
      </c:txPr>
    </c:title>
    <c:autoTitleDeleted val="0"/>
    <c:plotArea>
      <c:layout/>
      <c:pieChart>
        <c:varyColors val="1"/>
        <c:ser>
          <c:idx val="0"/>
          <c:order val="0"/>
          <c:tx>
            <c:strRef>
              <c:f>Sheet1!$B$1</c:f>
              <c:strCache>
                <c:ptCount val="1"/>
                <c:pt idx="0">
                  <c:v>Portion</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2-9E42-4F82-83E4-A04836E0A13F}"/>
              </c:ext>
            </c:extLst>
          </c:dPt>
          <c:dPt>
            <c:idx val="1"/>
            <c:bubble3D val="0"/>
            <c:spPr>
              <a:solidFill>
                <a:schemeClr val="accent3"/>
              </a:solidFill>
              <a:ln w="19050">
                <a:solidFill>
                  <a:schemeClr val="lt1"/>
                </a:solidFill>
              </a:ln>
              <a:effectLst/>
            </c:spPr>
            <c:extLst>
              <c:ext xmlns:c16="http://schemas.microsoft.com/office/drawing/2014/chart" uri="{C3380CC4-5D6E-409C-BE32-E72D297353CC}">
                <c16:uniqueId val="{00000001-9E42-4F82-83E4-A04836E0A13F}"/>
              </c:ext>
            </c:extLst>
          </c:dPt>
          <c:dLbls>
            <c:dLbl>
              <c:idx val="0"/>
              <c:tx>
                <c:rich>
                  <a:bodyPr/>
                  <a:lstStyle/>
                  <a:p>
                    <a:r>
                      <a:rPr lang="en-US" dirty="0"/>
                      <a:t>Student-mothers</a:t>
                    </a:r>
                  </a:p>
                  <a:p>
                    <a:r>
                      <a:rPr lang="en-US" dirty="0"/>
                      <a:t>28%</a:t>
                    </a:r>
                  </a:p>
                </c:rich>
              </c:tx>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9E42-4F82-83E4-A04836E0A13F}"/>
                </c:ext>
              </c:extLst>
            </c:dLbl>
            <c:spPr>
              <a:noFill/>
              <a:ln>
                <a:noFill/>
              </a:ln>
              <a:effectLst/>
            </c:spPr>
            <c:txPr>
              <a:bodyPr rot="0" spcFirstLastPara="1" vertOverflow="ellipsis" vert="horz" wrap="square" anchor="ctr" anchorCtr="1"/>
              <a:lstStyle/>
              <a:p>
                <a:pPr>
                  <a:defRPr sz="1600" b="0" i="0" u="none" strike="noStrike" kern="1200" baseline="0">
                    <a:solidFill>
                      <a:schemeClr val="bg1"/>
                    </a:solidFill>
                    <a:latin typeface="Lato" panose="020F0502020204030203" pitchFamily="34" charset="0"/>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s>
          <c:cat>
            <c:strRef>
              <c:f>Sheet1!$A$2:$A$3</c:f>
              <c:strCache>
                <c:ptCount val="2"/>
                <c:pt idx="0">
                  <c:v>Student-Mothers</c:v>
                </c:pt>
                <c:pt idx="1">
                  <c:v>Not SM</c:v>
                </c:pt>
              </c:strCache>
            </c:strRef>
          </c:cat>
          <c:val>
            <c:numRef>
              <c:f>Sheet1!$B$2:$B$3</c:f>
              <c:numCache>
                <c:formatCode>General</c:formatCode>
                <c:ptCount val="2"/>
                <c:pt idx="0">
                  <c:v>0.28000000000000003</c:v>
                </c:pt>
                <c:pt idx="1">
                  <c:v>0.72</c:v>
                </c:pt>
              </c:numCache>
            </c:numRef>
          </c:val>
          <c:extLst>
            <c:ext xmlns:c16="http://schemas.microsoft.com/office/drawing/2014/chart" uri="{C3380CC4-5D6E-409C-BE32-E72D297353CC}">
              <c16:uniqueId val="{00000000-9E42-4F82-83E4-A04836E0A13F}"/>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400">
          <a:latin typeface="Lato" panose="020F0502020204030203" pitchFamily="34" charset="0"/>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spc="0" baseline="0">
                <a:solidFill>
                  <a:schemeClr val="tx1"/>
                </a:solidFill>
                <a:latin typeface="Lato" panose="020F0502020204030203" pitchFamily="34" charset="0"/>
                <a:ea typeface="+mn-ea"/>
                <a:cs typeface="+mn-cs"/>
              </a:defRPr>
            </a:pPr>
            <a:r>
              <a:rPr lang="en-US" sz="1800" b="1" dirty="0">
                <a:solidFill>
                  <a:schemeClr val="tx1"/>
                </a:solidFill>
              </a:rPr>
              <a:t>Black female undergrads, 2016</a:t>
            </a:r>
          </a:p>
        </c:rich>
      </c:tx>
      <c:overlay val="0"/>
      <c:spPr>
        <a:noFill/>
        <a:ln>
          <a:noFill/>
        </a:ln>
        <a:effectLst/>
      </c:spPr>
      <c:txPr>
        <a:bodyPr rot="0" spcFirstLastPara="1" vertOverflow="ellipsis" vert="horz" wrap="square" anchor="ctr" anchorCtr="1"/>
        <a:lstStyle/>
        <a:p>
          <a:pPr>
            <a:defRPr sz="1800" b="0" i="0" u="none" strike="noStrike" kern="1200" spc="0" baseline="0">
              <a:solidFill>
                <a:schemeClr val="tx1"/>
              </a:solidFill>
              <a:latin typeface="Lato" panose="020F0502020204030203" pitchFamily="34" charset="0"/>
              <a:ea typeface="+mn-ea"/>
              <a:cs typeface="+mn-cs"/>
            </a:defRPr>
          </a:pPr>
          <a:endParaRPr lang="en-US"/>
        </a:p>
      </c:txPr>
    </c:title>
    <c:autoTitleDeleted val="0"/>
    <c:plotArea>
      <c:layout/>
      <c:pieChart>
        <c:varyColors val="1"/>
        <c:ser>
          <c:idx val="0"/>
          <c:order val="0"/>
          <c:tx>
            <c:strRef>
              <c:f>Sheet1!$B$1</c:f>
              <c:strCache>
                <c:ptCount val="1"/>
                <c:pt idx="0">
                  <c:v>Portion</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904E-496C-A04C-E63AA0CB3EDC}"/>
              </c:ext>
            </c:extLst>
          </c:dPt>
          <c:dPt>
            <c:idx val="1"/>
            <c:bubble3D val="0"/>
            <c:spPr>
              <a:solidFill>
                <a:schemeClr val="accent3"/>
              </a:solidFill>
              <a:ln w="19050">
                <a:solidFill>
                  <a:schemeClr val="lt1"/>
                </a:solidFill>
              </a:ln>
              <a:effectLst/>
            </c:spPr>
            <c:extLst>
              <c:ext xmlns:c16="http://schemas.microsoft.com/office/drawing/2014/chart" uri="{C3380CC4-5D6E-409C-BE32-E72D297353CC}">
                <c16:uniqueId val="{00000003-904E-496C-A04C-E63AA0CB3EDC}"/>
              </c:ext>
            </c:extLst>
          </c:dPt>
          <c:dLbls>
            <c:dLbl>
              <c:idx val="0"/>
              <c:tx>
                <c:rich>
                  <a:bodyPr/>
                  <a:lstStyle/>
                  <a:p>
                    <a:r>
                      <a:rPr lang="en-US" baseline="0" dirty="0"/>
                      <a:t>Student- mothers</a:t>
                    </a:r>
                  </a:p>
                  <a:p>
                    <a:r>
                      <a:rPr lang="en-US" baseline="0" dirty="0"/>
                      <a:t>40%</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904E-496C-A04C-E63AA0CB3EDC}"/>
                </c:ext>
              </c:extLst>
            </c:dLbl>
            <c:dLbl>
              <c:idx val="1"/>
              <c:delete val="1"/>
              <c:extLst>
                <c:ext xmlns:c15="http://schemas.microsoft.com/office/drawing/2012/chart" uri="{CE6537A1-D6FC-4f65-9D91-7224C49458BB}"/>
                <c:ext xmlns:c16="http://schemas.microsoft.com/office/drawing/2014/chart" uri="{C3380CC4-5D6E-409C-BE32-E72D297353CC}">
                  <c16:uniqueId val="{00000003-904E-496C-A04C-E63AA0CB3EDC}"/>
                </c:ext>
              </c:extLst>
            </c:dLbl>
            <c:spPr>
              <a:noFill/>
              <a:ln>
                <a:noFill/>
              </a:ln>
              <a:effectLst/>
            </c:spPr>
            <c:txPr>
              <a:bodyPr rot="0" spcFirstLastPara="1" vertOverflow="ellipsis" vert="horz" wrap="square" anchor="ctr" anchorCtr="1"/>
              <a:lstStyle/>
              <a:p>
                <a:pPr>
                  <a:defRPr sz="1600" b="0" i="0" u="none" strike="noStrike" kern="1200" baseline="0">
                    <a:solidFill>
                      <a:schemeClr val="bg1"/>
                    </a:solidFill>
                    <a:latin typeface="Lato" panose="020F0502020204030203" pitchFamily="34" charset="0"/>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Student-Mothers</c:v>
                </c:pt>
                <c:pt idx="1">
                  <c:v>Not SM</c:v>
                </c:pt>
              </c:strCache>
            </c:strRef>
          </c:cat>
          <c:val>
            <c:numRef>
              <c:f>Sheet1!$B$2:$B$3</c:f>
              <c:numCache>
                <c:formatCode>General</c:formatCode>
                <c:ptCount val="2"/>
                <c:pt idx="0">
                  <c:v>0.4</c:v>
                </c:pt>
                <c:pt idx="1">
                  <c:v>0.6</c:v>
                </c:pt>
              </c:numCache>
            </c:numRef>
          </c:val>
          <c:extLst>
            <c:ext xmlns:c16="http://schemas.microsoft.com/office/drawing/2014/chart" uri="{C3380CC4-5D6E-409C-BE32-E72D297353CC}">
              <c16:uniqueId val="{00000008-904E-496C-A04C-E63AA0CB3EDC}"/>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400">
          <a:latin typeface="Lato" panose="020F0502020204030203" pitchFamily="34" charset="0"/>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spc="0" baseline="0">
                <a:solidFill>
                  <a:schemeClr val="tx1"/>
                </a:solidFill>
                <a:latin typeface="Lato" panose="020F0502020204030203" pitchFamily="34" charset="0"/>
                <a:ea typeface="+mn-ea"/>
                <a:cs typeface="+mn-cs"/>
              </a:defRPr>
            </a:pPr>
            <a:r>
              <a:rPr lang="en-US" sz="1800" b="1" dirty="0">
                <a:solidFill>
                  <a:schemeClr val="tx1"/>
                </a:solidFill>
              </a:rPr>
              <a:t>Undergrad student-mothers, 2016</a:t>
            </a:r>
          </a:p>
        </c:rich>
      </c:tx>
      <c:overlay val="0"/>
      <c:spPr>
        <a:noFill/>
        <a:ln>
          <a:noFill/>
        </a:ln>
        <a:effectLst/>
      </c:spPr>
      <c:txPr>
        <a:bodyPr rot="0" spcFirstLastPara="1" vertOverflow="ellipsis" vert="horz" wrap="square" anchor="ctr" anchorCtr="1"/>
        <a:lstStyle/>
        <a:p>
          <a:pPr>
            <a:defRPr sz="1800" b="0" i="0" u="none" strike="noStrike" kern="1200" spc="0" baseline="0">
              <a:solidFill>
                <a:schemeClr val="tx1"/>
              </a:solidFill>
              <a:latin typeface="Lato" panose="020F0502020204030203" pitchFamily="34" charset="0"/>
              <a:ea typeface="+mn-ea"/>
              <a:cs typeface="+mn-cs"/>
            </a:defRPr>
          </a:pPr>
          <a:endParaRPr lang="en-US"/>
        </a:p>
      </c:txPr>
    </c:title>
    <c:autoTitleDeleted val="0"/>
    <c:plotArea>
      <c:layout/>
      <c:pieChart>
        <c:varyColors val="1"/>
        <c:ser>
          <c:idx val="0"/>
          <c:order val="0"/>
          <c:tx>
            <c:strRef>
              <c:f>Sheet1!$B$1</c:f>
              <c:strCache>
                <c:ptCount val="1"/>
                <c:pt idx="0">
                  <c:v>Portion</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0ECD-457F-A1C4-A045C30025EF}"/>
              </c:ext>
            </c:extLst>
          </c:dPt>
          <c:dPt>
            <c:idx val="1"/>
            <c:bubble3D val="0"/>
            <c:spPr>
              <a:solidFill>
                <a:schemeClr val="accent3"/>
              </a:solidFill>
              <a:ln w="19050">
                <a:solidFill>
                  <a:schemeClr val="lt1"/>
                </a:solidFill>
              </a:ln>
              <a:effectLst/>
            </c:spPr>
            <c:extLst>
              <c:ext xmlns:c16="http://schemas.microsoft.com/office/drawing/2014/chart" uri="{C3380CC4-5D6E-409C-BE32-E72D297353CC}">
                <c16:uniqueId val="{00000003-0ECD-457F-A1C4-A045C30025EF}"/>
              </c:ext>
            </c:extLst>
          </c:dPt>
          <c:dLbls>
            <c:dLbl>
              <c:idx val="0"/>
              <c:tx>
                <c:rich>
                  <a:bodyPr/>
                  <a:lstStyle/>
                  <a:p>
                    <a:r>
                      <a:rPr lang="en-US" dirty="0"/>
                      <a:t>Married</a:t>
                    </a:r>
                  </a:p>
                  <a:p>
                    <a:r>
                      <a:rPr lang="en-US" dirty="0"/>
                      <a:t>38%</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0ECD-457F-A1C4-A045C30025EF}"/>
                </c:ext>
              </c:extLst>
            </c:dLbl>
            <c:spPr>
              <a:noFill/>
              <a:ln>
                <a:noFill/>
              </a:ln>
              <a:effectLst/>
            </c:spPr>
            <c:txPr>
              <a:bodyPr rot="0" spcFirstLastPara="1" vertOverflow="ellipsis" vert="horz" wrap="square" anchor="ctr" anchorCtr="1"/>
              <a:lstStyle/>
              <a:p>
                <a:pPr>
                  <a:defRPr sz="1600" b="0" i="0" u="none" strike="noStrike" kern="1200" baseline="0">
                    <a:solidFill>
                      <a:schemeClr val="bg1"/>
                    </a:solidFill>
                    <a:latin typeface="Lato" panose="020F0502020204030203" pitchFamily="34" charset="0"/>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s>
          <c:cat>
            <c:strRef>
              <c:f>Sheet1!$A$2:$A$3</c:f>
              <c:strCache>
                <c:ptCount val="2"/>
                <c:pt idx="0">
                  <c:v>Student-Mothers</c:v>
                </c:pt>
                <c:pt idx="1">
                  <c:v>Not SM</c:v>
                </c:pt>
              </c:strCache>
            </c:strRef>
          </c:cat>
          <c:val>
            <c:numRef>
              <c:f>Sheet1!$B$2:$B$3</c:f>
              <c:numCache>
                <c:formatCode>General</c:formatCode>
                <c:ptCount val="2"/>
                <c:pt idx="0">
                  <c:v>0.38</c:v>
                </c:pt>
                <c:pt idx="1">
                  <c:v>0.62</c:v>
                </c:pt>
              </c:numCache>
            </c:numRef>
          </c:val>
          <c:extLst>
            <c:ext xmlns:c16="http://schemas.microsoft.com/office/drawing/2014/chart" uri="{C3380CC4-5D6E-409C-BE32-E72D297353CC}">
              <c16:uniqueId val="{00000004-0ECD-457F-A1C4-A045C30025EF}"/>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400">
          <a:latin typeface="Lato" panose="020F0502020204030203" pitchFamily="34" charset="0"/>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3214873140857376E-2"/>
          <c:y val="0.17468316460442446"/>
          <c:w val="0.90567401574803152"/>
          <c:h val="0.6993982002249719"/>
        </c:manualLayout>
      </c:layout>
      <c:lineChart>
        <c:grouping val="standard"/>
        <c:varyColors val="0"/>
        <c:ser>
          <c:idx val="0"/>
          <c:order val="0"/>
          <c:tx>
            <c:v>HS Diploma</c:v>
          </c:tx>
          <c:spPr>
            <a:ln w="28575" cap="rnd">
              <a:solidFill>
                <a:schemeClr val="accent5"/>
              </a:solidFill>
              <a:round/>
            </a:ln>
            <a:effectLst/>
          </c:spPr>
          <c:marker>
            <c:symbol val="none"/>
          </c:marker>
          <c:dLbls>
            <c:delete val="1"/>
          </c:dLbls>
          <c:cat>
            <c:numRef>
              <c:f>'\Users\there\Box\Theresa Anderson Documents\PhD\Dissertation\Data\NLSY\Results\[SAVE MothMothTrendCompare.xlsx]SUMMARY - Impacts'!$A$8:$A$28</c:f>
              <c:numCache>
                <c:formatCode>General</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numRef>
          </c:cat>
          <c:val>
            <c:numRef>
              <c:f>'\Users\there\Box\Theresa Anderson Documents\PhD\Dissertation\Data\NLSY\Results\[SAVE MothMothTrendCompare.xlsx]SUMMARY - Impacts'!$DU$8:$DU$28</c:f>
              <c:numCache>
                <c:formatCode>0.000</c:formatCode>
                <c:ptCount val="21"/>
                <c:pt idx="0">
                  <c:v>2.6199999999999999E-3</c:v>
                </c:pt>
                <c:pt idx="1">
                  <c:v>1.8599999999999998E-2</c:v>
                </c:pt>
                <c:pt idx="2">
                  <c:v>2.8899999999999999E-2</c:v>
                </c:pt>
                <c:pt idx="3">
                  <c:v>2.8400000000000002E-2</c:v>
                </c:pt>
                <c:pt idx="4">
                  <c:v>2.9399999999999999E-2</c:v>
                </c:pt>
                <c:pt idx="5">
                  <c:v>2.86E-2</c:v>
                </c:pt>
                <c:pt idx="6">
                  <c:v>3.1E-2</c:v>
                </c:pt>
                <c:pt idx="7">
                  <c:v>3.1399999999999997E-2</c:v>
                </c:pt>
                <c:pt idx="8">
                  <c:v>2.64E-2</c:v>
                </c:pt>
                <c:pt idx="9">
                  <c:v>2.4400000000000002E-2</c:v>
                </c:pt>
                <c:pt idx="10">
                  <c:v>2.3300000000000001E-2</c:v>
                </c:pt>
                <c:pt idx="11">
                  <c:v>2.7900000000000001E-2</c:v>
                </c:pt>
                <c:pt idx="12">
                  <c:v>3.0300000000000001E-2</c:v>
                </c:pt>
                <c:pt idx="13">
                  <c:v>3.0499999999999999E-2</c:v>
                </c:pt>
                <c:pt idx="14">
                  <c:v>3.2500000000000001E-2</c:v>
                </c:pt>
                <c:pt idx="15">
                  <c:v>3.2199999999999999E-2</c:v>
                </c:pt>
                <c:pt idx="16">
                  <c:v>3.3700000000000001E-2</c:v>
                </c:pt>
                <c:pt idx="17">
                  <c:v>3.5499999999999997E-2</c:v>
                </c:pt>
                <c:pt idx="18">
                  <c:v>3.6900000000000002E-2</c:v>
                </c:pt>
                <c:pt idx="19">
                  <c:v>3.8800000000000001E-2</c:v>
                </c:pt>
                <c:pt idx="20">
                  <c:v>4.2099999999999999E-2</c:v>
                </c:pt>
              </c:numCache>
            </c:numRef>
          </c:val>
          <c:smooth val="0"/>
          <c:extLst>
            <c:ext xmlns:c16="http://schemas.microsoft.com/office/drawing/2014/chart" uri="{C3380CC4-5D6E-409C-BE32-E72D297353CC}">
              <c16:uniqueId val="{00000000-EE8F-4B21-BC74-F15A06B2C3AA}"/>
            </c:ext>
          </c:extLst>
        </c:ser>
        <c:ser>
          <c:idx val="1"/>
          <c:order val="1"/>
          <c:tx>
            <c:v>College Degree</c:v>
          </c:tx>
          <c:spPr>
            <a:ln w="28575" cap="rnd">
              <a:solidFill>
                <a:schemeClr val="accent1"/>
              </a:solidFill>
              <a:round/>
            </a:ln>
            <a:effectLst/>
          </c:spPr>
          <c:marker>
            <c:symbol val="none"/>
          </c:marker>
          <c:dLbls>
            <c:delete val="1"/>
          </c:dLbls>
          <c:val>
            <c:numRef>
              <c:f>'\Users\there\Box\Theresa Anderson Documents\PhD\Dissertation\Data\NLSY\Results\[SAVE MothMothTrendCompare.xlsx]SUMMARY - Impacts'!$ED$8:$ED$28</c:f>
              <c:numCache>
                <c:formatCode>0.000</c:formatCode>
                <c:ptCount val="21"/>
                <c:pt idx="0">
                  <c:v>-4.4299999999999999E-3</c:v>
                </c:pt>
                <c:pt idx="1">
                  <c:v>5.79E-3</c:v>
                </c:pt>
                <c:pt idx="2">
                  <c:v>2.3300000000000001E-2</c:v>
                </c:pt>
                <c:pt idx="3">
                  <c:v>4.4600000000000001E-2</c:v>
                </c:pt>
                <c:pt idx="4">
                  <c:v>7.1400000000000005E-2</c:v>
                </c:pt>
                <c:pt idx="5">
                  <c:v>8.5400000000000004E-2</c:v>
                </c:pt>
                <c:pt idx="6">
                  <c:v>9.8000000000000004E-2</c:v>
                </c:pt>
                <c:pt idx="7">
                  <c:v>0.108</c:v>
                </c:pt>
                <c:pt idx="8">
                  <c:v>0.11799999999999999</c:v>
                </c:pt>
                <c:pt idx="9">
                  <c:v>0.121</c:v>
                </c:pt>
                <c:pt idx="10">
                  <c:v>0.13400000000000001</c:v>
                </c:pt>
                <c:pt idx="11">
                  <c:v>0.13500000000000001</c:v>
                </c:pt>
                <c:pt idx="12">
                  <c:v>0.13900000000000001</c:v>
                </c:pt>
                <c:pt idx="13">
                  <c:v>0.14699999999999999</c:v>
                </c:pt>
                <c:pt idx="14">
                  <c:v>0.14899999999999999</c:v>
                </c:pt>
                <c:pt idx="15">
                  <c:v>0.153</c:v>
                </c:pt>
                <c:pt idx="16">
                  <c:v>0.159</c:v>
                </c:pt>
                <c:pt idx="17">
                  <c:v>0.161</c:v>
                </c:pt>
                <c:pt idx="18">
                  <c:v>0.16900000000000001</c:v>
                </c:pt>
                <c:pt idx="19">
                  <c:v>0.17</c:v>
                </c:pt>
                <c:pt idx="20">
                  <c:v>0.17199999999999999</c:v>
                </c:pt>
              </c:numCache>
            </c:numRef>
          </c:val>
          <c:smooth val="0"/>
          <c:extLst>
            <c:ext xmlns:c16="http://schemas.microsoft.com/office/drawing/2014/chart" uri="{C3380CC4-5D6E-409C-BE32-E72D297353CC}">
              <c16:uniqueId val="{00000001-EE8F-4B21-BC74-F15A06B2C3AA}"/>
            </c:ext>
          </c:extLst>
        </c:ser>
        <c:ser>
          <c:idx val="2"/>
          <c:order val="2"/>
          <c:tx>
            <c:v>4-Year College Degree</c:v>
          </c:tx>
          <c:spPr>
            <a:ln w="28575" cap="rnd">
              <a:solidFill>
                <a:schemeClr val="accent6"/>
              </a:solidFill>
              <a:round/>
            </a:ln>
            <a:effectLst/>
          </c:spPr>
          <c:marker>
            <c:symbol val="none"/>
          </c:marker>
          <c:dLbls>
            <c:delete val="1"/>
          </c:dLbls>
          <c:val>
            <c:numRef>
              <c:f>'\Users\there\Box\Theresa Anderson Documents\PhD\Dissertation\Data\NLSY\Results\[SAVE MothMothTrendCompare.xlsx]SUMMARY - Impacts'!$EM$8:$EM$28</c:f>
              <c:numCache>
                <c:formatCode>0.000</c:formatCode>
                <c:ptCount val="21"/>
                <c:pt idx="0">
                  <c:v>-3.5200000000000001E-3</c:v>
                </c:pt>
                <c:pt idx="1">
                  <c:v>4.08E-4</c:v>
                </c:pt>
                <c:pt idx="2">
                  <c:v>2.5799999999999998E-3</c:v>
                </c:pt>
                <c:pt idx="3">
                  <c:v>1.01E-2</c:v>
                </c:pt>
                <c:pt idx="4">
                  <c:v>1.6799999999999999E-2</c:v>
                </c:pt>
                <c:pt idx="5">
                  <c:v>2.58E-2</c:v>
                </c:pt>
                <c:pt idx="6">
                  <c:v>3.04E-2</c:v>
                </c:pt>
                <c:pt idx="7">
                  <c:v>3.6400000000000002E-2</c:v>
                </c:pt>
                <c:pt idx="8">
                  <c:v>4.2200000000000001E-2</c:v>
                </c:pt>
                <c:pt idx="9">
                  <c:v>4.7300000000000002E-2</c:v>
                </c:pt>
                <c:pt idx="10">
                  <c:v>5.16E-2</c:v>
                </c:pt>
                <c:pt idx="11">
                  <c:v>5.0799999999999998E-2</c:v>
                </c:pt>
                <c:pt idx="12">
                  <c:v>5.8299999999999998E-2</c:v>
                </c:pt>
                <c:pt idx="13">
                  <c:v>6.4199999999999993E-2</c:v>
                </c:pt>
                <c:pt idx="14">
                  <c:v>6.6900000000000001E-2</c:v>
                </c:pt>
                <c:pt idx="15">
                  <c:v>6.7199999999999996E-2</c:v>
                </c:pt>
                <c:pt idx="16">
                  <c:v>7.0900000000000005E-2</c:v>
                </c:pt>
                <c:pt idx="17">
                  <c:v>7.1599999999999997E-2</c:v>
                </c:pt>
                <c:pt idx="18">
                  <c:v>7.3300000000000004E-2</c:v>
                </c:pt>
                <c:pt idx="19">
                  <c:v>7.7200000000000005E-2</c:v>
                </c:pt>
                <c:pt idx="20">
                  <c:v>8.14E-2</c:v>
                </c:pt>
              </c:numCache>
            </c:numRef>
          </c:val>
          <c:smooth val="0"/>
          <c:extLst>
            <c:ext xmlns:c16="http://schemas.microsoft.com/office/drawing/2014/chart" uri="{C3380CC4-5D6E-409C-BE32-E72D297353CC}">
              <c16:uniqueId val="{00000002-EE8F-4B21-BC74-F15A06B2C3AA}"/>
            </c:ext>
          </c:extLst>
        </c:ser>
        <c:ser>
          <c:idx val="3"/>
          <c:order val="3"/>
          <c:tx>
            <c:v>Graduate Degree</c:v>
          </c:tx>
          <c:spPr>
            <a:ln w="28575" cap="rnd">
              <a:solidFill>
                <a:schemeClr val="accent3"/>
              </a:solidFill>
              <a:round/>
            </a:ln>
            <a:effectLst/>
          </c:spPr>
          <c:marker>
            <c:symbol val="none"/>
          </c:marker>
          <c:dLbls>
            <c:delete val="1"/>
          </c:dLbls>
          <c:val>
            <c:numRef>
              <c:f>'\Users\there\Box\Theresa Anderson Documents\PhD\Dissertation\Data\NLSY\Results\[SAVE MothMothTrendCompare.xlsx]SUMMARY - Impacts'!$EV$8:$EV$28</c:f>
              <c:numCache>
                <c:formatCode>0.000</c:formatCode>
                <c:ptCount val="21"/>
                <c:pt idx="0">
                  <c:v>-9.3200000000000002E-5</c:v>
                </c:pt>
                <c:pt idx="1">
                  <c:v>3.0300000000000001E-3</c:v>
                </c:pt>
                <c:pt idx="2">
                  <c:v>6.8399999999999997E-3</c:v>
                </c:pt>
                <c:pt idx="3">
                  <c:v>1.0200000000000001E-2</c:v>
                </c:pt>
                <c:pt idx="4">
                  <c:v>1.6500000000000001E-2</c:v>
                </c:pt>
                <c:pt idx="5">
                  <c:v>1.84E-2</c:v>
                </c:pt>
                <c:pt idx="6">
                  <c:v>2.1299999999999999E-2</c:v>
                </c:pt>
                <c:pt idx="7">
                  <c:v>2.2100000000000002E-2</c:v>
                </c:pt>
                <c:pt idx="8">
                  <c:v>2.2800000000000001E-2</c:v>
                </c:pt>
                <c:pt idx="9">
                  <c:v>2.7E-2</c:v>
                </c:pt>
                <c:pt idx="10">
                  <c:v>3.0099999999999998E-2</c:v>
                </c:pt>
                <c:pt idx="11">
                  <c:v>3.1199999999999999E-2</c:v>
                </c:pt>
                <c:pt idx="12">
                  <c:v>3.5099999999999999E-2</c:v>
                </c:pt>
                <c:pt idx="13">
                  <c:v>3.6600000000000001E-2</c:v>
                </c:pt>
                <c:pt idx="14">
                  <c:v>3.8899999999999997E-2</c:v>
                </c:pt>
                <c:pt idx="15">
                  <c:v>4.1000000000000002E-2</c:v>
                </c:pt>
                <c:pt idx="16">
                  <c:v>3.9600000000000003E-2</c:v>
                </c:pt>
                <c:pt idx="17">
                  <c:v>3.9399999999999998E-2</c:v>
                </c:pt>
                <c:pt idx="18">
                  <c:v>3.8899999999999997E-2</c:v>
                </c:pt>
                <c:pt idx="19">
                  <c:v>3.9699999999999999E-2</c:v>
                </c:pt>
                <c:pt idx="20">
                  <c:v>4.3799999999999999E-2</c:v>
                </c:pt>
              </c:numCache>
            </c:numRef>
          </c:val>
          <c:smooth val="0"/>
          <c:extLst>
            <c:ext xmlns:c16="http://schemas.microsoft.com/office/drawing/2014/chart" uri="{C3380CC4-5D6E-409C-BE32-E72D297353CC}">
              <c16:uniqueId val="{00000003-EE8F-4B21-BC74-F15A06B2C3AA}"/>
            </c:ext>
          </c:extLst>
        </c:ser>
        <c:dLbls>
          <c:dLblPos val="t"/>
          <c:showLegendKey val="0"/>
          <c:showVal val="1"/>
          <c:showCatName val="0"/>
          <c:showSerName val="0"/>
          <c:showPercent val="0"/>
          <c:showBubbleSize val="0"/>
        </c:dLbls>
        <c:smooth val="0"/>
        <c:axId val="2143344136"/>
        <c:axId val="-2087114712"/>
      </c:lineChart>
      <c:catAx>
        <c:axId val="2143344136"/>
        <c:scaling>
          <c:orientation val="minMax"/>
        </c:scaling>
        <c:delete val="0"/>
        <c:axPos val="b"/>
        <c:title>
          <c:tx>
            <c:rich>
              <a:bodyPr rot="0" spcFirstLastPara="1" vertOverflow="ellipsis" vert="horz" wrap="square" anchor="ctr" anchorCtr="1"/>
              <a:lstStyle/>
              <a:p>
                <a:pPr>
                  <a:defRPr sz="1600" b="0" i="0" u="none" strike="noStrike" kern="1200" baseline="0">
                    <a:solidFill>
                      <a:sysClr val="windowText" lastClr="000000"/>
                    </a:solidFill>
                    <a:latin typeface="Lato" panose="020F0502020204030203" pitchFamily="34" charset="0"/>
                    <a:ea typeface="Lato" panose="020F0502020204030203" pitchFamily="34" charset="0"/>
                    <a:cs typeface="Lato" panose="020F0502020204030203" pitchFamily="34" charset="0"/>
                  </a:defRPr>
                </a:pPr>
                <a:r>
                  <a:rPr lang="en-US"/>
                  <a:t>Years since return to school</a:t>
                </a:r>
              </a:p>
            </c:rich>
          </c:tx>
          <c:layout>
            <c:manualLayout>
              <c:xMode val="edge"/>
              <c:yMode val="edge"/>
              <c:x val="0.41033525809273802"/>
              <c:y val="0.95770763101440404"/>
            </c:manualLayout>
          </c:layout>
          <c:overlay val="0"/>
          <c:spPr>
            <a:noFill/>
            <a:ln>
              <a:noFill/>
            </a:ln>
            <a:effectLst/>
          </c:spPr>
          <c:txPr>
            <a:bodyPr rot="0" spcFirstLastPara="1" vertOverflow="ellipsis" vert="horz" wrap="square" anchor="ctr" anchorCtr="1"/>
            <a:lstStyle/>
            <a:p>
              <a:pPr>
                <a:defRPr sz="1600" b="0" i="0" u="none" strike="noStrike" kern="1200" baseline="0">
                  <a:solidFill>
                    <a:sysClr val="windowText" lastClr="000000"/>
                  </a:solidFill>
                  <a:latin typeface="Lato" panose="020F0502020204030203" pitchFamily="34" charset="0"/>
                  <a:ea typeface="Lato" panose="020F0502020204030203" pitchFamily="34" charset="0"/>
                  <a:cs typeface="Lato" panose="020F0502020204030203" pitchFamily="34" charset="0"/>
                </a:defRPr>
              </a:pPr>
              <a:endParaRPr lang="en-US"/>
            </a:p>
          </c:txPr>
        </c:title>
        <c:numFmt formatCode="General" sourceLinked="1"/>
        <c:majorTickMark val="none"/>
        <c:minorTickMark val="none"/>
        <c:tickLblPos val="nextTo"/>
        <c:spPr>
          <a:noFill/>
          <a:ln w="9525" cap="flat" cmpd="sng" algn="ctr">
            <a:solidFill>
              <a:sysClr val="windowText" lastClr="000000"/>
            </a:solidFill>
            <a:round/>
          </a:ln>
          <a:effectLst/>
        </c:spPr>
        <c:txPr>
          <a:bodyPr rot="-60000000" spcFirstLastPara="1" vertOverflow="ellipsis" vert="horz" wrap="square" anchor="ctr" anchorCtr="1"/>
          <a:lstStyle/>
          <a:p>
            <a:pPr>
              <a:defRPr sz="1600" b="0" i="0" u="none" strike="noStrike" kern="1200" baseline="0">
                <a:solidFill>
                  <a:sysClr val="windowText" lastClr="000000"/>
                </a:solidFill>
                <a:latin typeface="Lato" panose="020F0502020204030203" pitchFamily="34" charset="0"/>
                <a:ea typeface="Lato" panose="020F0502020204030203" pitchFamily="34" charset="0"/>
                <a:cs typeface="Lato" panose="020F0502020204030203" pitchFamily="34" charset="0"/>
              </a:defRPr>
            </a:pPr>
            <a:endParaRPr lang="en-US"/>
          </a:p>
        </c:txPr>
        <c:crossAx val="-2087114712"/>
        <c:crosses val="autoZero"/>
        <c:auto val="1"/>
        <c:lblAlgn val="ctr"/>
        <c:lblOffset val="100"/>
        <c:noMultiLvlLbl val="0"/>
      </c:catAx>
      <c:valAx>
        <c:axId val="-2087114712"/>
        <c:scaling>
          <c:orientation val="minMax"/>
          <c:max val="0.2"/>
          <c:min val="0"/>
        </c:scaling>
        <c:delete val="0"/>
        <c:axPos val="l"/>
        <c:numFmt formatCode="0.00" sourceLinked="0"/>
        <c:majorTickMark val="none"/>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ysClr val="windowText" lastClr="000000"/>
                </a:solidFill>
                <a:latin typeface="Lato" panose="020F0502020204030203" pitchFamily="34" charset="0"/>
                <a:ea typeface="Lato" panose="020F0502020204030203" pitchFamily="34" charset="0"/>
                <a:cs typeface="Lato" panose="020F0502020204030203" pitchFamily="34" charset="0"/>
              </a:defRPr>
            </a:pPr>
            <a:endParaRPr lang="en-US"/>
          </a:p>
        </c:txPr>
        <c:crossAx val="2143344136"/>
        <c:crosses val="autoZero"/>
        <c:crossBetween val="between"/>
      </c:valAx>
      <c:spPr>
        <a:noFill/>
        <a:ln>
          <a:noFill/>
        </a:ln>
        <a:effectLst/>
      </c:spPr>
    </c:plotArea>
    <c:legend>
      <c:legendPos val="t"/>
      <c:legendEntry>
        <c:idx val="0"/>
        <c:txPr>
          <a:bodyPr rot="0" spcFirstLastPara="1" vertOverflow="ellipsis" vert="horz" wrap="square" anchor="ctr" anchorCtr="1"/>
          <a:lstStyle/>
          <a:p>
            <a:pPr>
              <a:defRPr sz="1600" b="0" i="0" u="none" strike="noStrike" kern="1200" baseline="0">
                <a:solidFill>
                  <a:sysClr val="windowText" lastClr="000000"/>
                </a:solidFill>
                <a:latin typeface="Lato" panose="020F0502020204030203" pitchFamily="34" charset="0"/>
                <a:ea typeface="Lato" panose="020F0502020204030203" pitchFamily="34" charset="0"/>
                <a:cs typeface="Lato" panose="020F0502020204030203" pitchFamily="34" charset="0"/>
              </a:defRPr>
            </a:pPr>
            <a:endParaRPr lang="en-US"/>
          </a:p>
        </c:txPr>
      </c:legendEntry>
      <c:legendEntry>
        <c:idx val="1"/>
        <c:txPr>
          <a:bodyPr rot="0" spcFirstLastPara="1" vertOverflow="ellipsis" vert="horz" wrap="square" anchor="ctr" anchorCtr="1"/>
          <a:lstStyle/>
          <a:p>
            <a:pPr>
              <a:defRPr sz="1600" b="0" i="0" u="none" strike="noStrike" kern="1200" baseline="0">
                <a:solidFill>
                  <a:sysClr val="windowText" lastClr="000000"/>
                </a:solidFill>
                <a:latin typeface="Lato" panose="020F0502020204030203" pitchFamily="34" charset="0"/>
                <a:ea typeface="Lato" panose="020F0502020204030203" pitchFamily="34" charset="0"/>
                <a:cs typeface="Lato" panose="020F0502020204030203" pitchFamily="34" charset="0"/>
              </a:defRPr>
            </a:pPr>
            <a:endParaRPr lang="en-US"/>
          </a:p>
        </c:txPr>
      </c:legendEntry>
      <c:legendEntry>
        <c:idx val="2"/>
        <c:txPr>
          <a:bodyPr rot="0" spcFirstLastPara="1" vertOverflow="ellipsis" vert="horz" wrap="square" anchor="ctr" anchorCtr="1"/>
          <a:lstStyle/>
          <a:p>
            <a:pPr>
              <a:defRPr sz="1600" b="0" i="0" u="none" strike="noStrike" kern="1200" baseline="0">
                <a:solidFill>
                  <a:sysClr val="windowText" lastClr="000000"/>
                </a:solidFill>
                <a:latin typeface="Lato" panose="020F0502020204030203" pitchFamily="34" charset="0"/>
                <a:ea typeface="Lato" panose="020F0502020204030203" pitchFamily="34" charset="0"/>
                <a:cs typeface="Lato" panose="020F0502020204030203" pitchFamily="34" charset="0"/>
              </a:defRPr>
            </a:pPr>
            <a:endParaRPr lang="en-US"/>
          </a:p>
        </c:txPr>
      </c:legendEntry>
      <c:legendEntry>
        <c:idx val="3"/>
        <c:txPr>
          <a:bodyPr rot="0" spcFirstLastPara="1" vertOverflow="ellipsis" vert="horz" wrap="square" anchor="ctr" anchorCtr="1"/>
          <a:lstStyle/>
          <a:p>
            <a:pPr>
              <a:defRPr sz="1600" b="0" i="0" u="none" strike="noStrike" kern="1200" baseline="0">
                <a:solidFill>
                  <a:sysClr val="windowText" lastClr="000000"/>
                </a:solidFill>
                <a:latin typeface="Lato" panose="020F0502020204030203" pitchFamily="34" charset="0"/>
                <a:ea typeface="Lato" panose="020F0502020204030203" pitchFamily="34" charset="0"/>
                <a:cs typeface="Lato" panose="020F0502020204030203" pitchFamily="34" charset="0"/>
              </a:defRPr>
            </a:pPr>
            <a:endParaRPr lang="en-US"/>
          </a:p>
        </c:txPr>
      </c:legendEntry>
      <c:layout>
        <c:manualLayout>
          <c:xMode val="edge"/>
          <c:yMode val="edge"/>
          <c:x val="0"/>
          <c:y val="0"/>
          <c:w val="0.99151426071741033"/>
          <c:h val="9.723784526934133E-2"/>
        </c:manualLayout>
      </c:layout>
      <c:overlay val="0"/>
      <c:spPr>
        <a:noFill/>
        <a:ln>
          <a:noFill/>
        </a:ln>
        <a:effectLst/>
      </c:spPr>
      <c:txPr>
        <a:bodyPr rot="0" spcFirstLastPara="1" vertOverflow="ellipsis" vert="horz" wrap="square" anchor="ctr" anchorCtr="1"/>
        <a:lstStyle/>
        <a:p>
          <a:pPr>
            <a:defRPr sz="1600" b="0" i="0" u="none" strike="noStrike" kern="1200" baseline="0">
              <a:solidFill>
                <a:sysClr val="windowText" lastClr="000000"/>
              </a:solidFill>
              <a:latin typeface="Lato" panose="020F0502020204030203" pitchFamily="34" charset="0"/>
              <a:ea typeface="Lato" panose="020F0502020204030203" pitchFamily="34" charset="0"/>
              <a:cs typeface="Lato" panose="020F0502020204030203" pitchFamily="34"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sz="1600">
          <a:solidFill>
            <a:sysClr val="windowText" lastClr="000000"/>
          </a:solidFill>
          <a:latin typeface="Lato" panose="020F0502020204030203" pitchFamily="34" charset="0"/>
          <a:ea typeface="Lato" panose="020F0502020204030203" pitchFamily="34" charset="0"/>
          <a:cs typeface="Lato" panose="020F0502020204030203" pitchFamily="34" charset="0"/>
        </a:defRPr>
      </a:pPr>
      <a:endParaRPr lang="en-US"/>
    </a:p>
  </c:txPr>
  <c:externalData r:id="rId3">
    <c:autoUpdate val="0"/>
  </c:externalData>
  <c:userShapes r:id="rId4"/>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2387387387387387E-2"/>
          <c:y val="0.11312475337900479"/>
          <c:w val="0.97522522522522526"/>
          <c:h val="0.79514494855090712"/>
        </c:manualLayout>
      </c:layout>
      <c:barChart>
        <c:barDir val="col"/>
        <c:grouping val="clustered"/>
        <c:varyColors val="0"/>
        <c:ser>
          <c:idx val="0"/>
          <c:order val="0"/>
          <c:tx>
            <c:strRef>
              <c:f>Sheet1!$B$1</c:f>
              <c:strCache>
                <c:ptCount val="1"/>
                <c:pt idx="0">
                  <c:v>Student-Parents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50000"/>
                      </a:schemeClr>
                    </a:solidFill>
                    <a:latin typeface="+mj-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Food insecurity</c:v>
                </c:pt>
                <c:pt idx="1">
                  <c:v>Housing insecurity</c:v>
                </c:pt>
                <c:pt idx="2">
                  <c:v>Homelessnes</c:v>
                </c:pt>
              </c:strCache>
            </c:strRef>
          </c:cat>
          <c:val>
            <c:numRef>
              <c:f>Sheet1!$B$2:$B$4</c:f>
              <c:numCache>
                <c:formatCode>0%</c:formatCode>
                <c:ptCount val="3"/>
                <c:pt idx="0">
                  <c:v>0.53</c:v>
                </c:pt>
                <c:pt idx="1">
                  <c:v>0.68</c:v>
                </c:pt>
                <c:pt idx="2">
                  <c:v>0.17</c:v>
                </c:pt>
              </c:numCache>
            </c:numRef>
          </c:val>
          <c:extLst>
            <c:ext xmlns:c16="http://schemas.microsoft.com/office/drawing/2014/chart" uri="{C3380CC4-5D6E-409C-BE32-E72D297353CC}">
              <c16:uniqueId val="{00000000-895E-4DDF-85E1-8B627D47711A}"/>
            </c:ext>
          </c:extLst>
        </c:ser>
        <c:ser>
          <c:idx val="1"/>
          <c:order val="1"/>
          <c:tx>
            <c:strRef>
              <c:f>Sheet1!$C$1</c:f>
              <c:strCache>
                <c:ptCount val="1"/>
                <c:pt idx="0">
                  <c:v>Non-Parenting Students</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50000"/>
                      </a:schemeClr>
                    </a:solidFill>
                    <a:latin typeface="+mj-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Food insecurity</c:v>
                </c:pt>
                <c:pt idx="1">
                  <c:v>Housing insecurity</c:v>
                </c:pt>
                <c:pt idx="2">
                  <c:v>Homelessnes</c:v>
                </c:pt>
              </c:strCache>
            </c:strRef>
          </c:cat>
          <c:val>
            <c:numRef>
              <c:f>Sheet1!$C$2:$C$4</c:f>
              <c:numCache>
                <c:formatCode>0%</c:formatCode>
                <c:ptCount val="3"/>
                <c:pt idx="0">
                  <c:v>0.37</c:v>
                </c:pt>
                <c:pt idx="1">
                  <c:v>0.42</c:v>
                </c:pt>
                <c:pt idx="2">
                  <c:v>0.17</c:v>
                </c:pt>
              </c:numCache>
            </c:numRef>
          </c:val>
          <c:extLst>
            <c:ext xmlns:c16="http://schemas.microsoft.com/office/drawing/2014/chart" uri="{C3380CC4-5D6E-409C-BE32-E72D297353CC}">
              <c16:uniqueId val="{00000001-895E-4DDF-85E1-8B627D47711A}"/>
            </c:ext>
          </c:extLst>
        </c:ser>
        <c:dLbls>
          <c:showLegendKey val="0"/>
          <c:showVal val="0"/>
          <c:showCatName val="0"/>
          <c:showSerName val="0"/>
          <c:showPercent val="0"/>
          <c:showBubbleSize val="0"/>
        </c:dLbls>
        <c:gapWidth val="219"/>
        <c:overlap val="-27"/>
        <c:axId val="1132334672"/>
        <c:axId val="1131045136"/>
      </c:barChart>
      <c:catAx>
        <c:axId val="1132334672"/>
        <c:scaling>
          <c:orientation val="minMax"/>
        </c:scaling>
        <c:delete val="0"/>
        <c:axPos val="b"/>
        <c:numFmt formatCode="General" sourceLinked="1"/>
        <c:majorTickMark val="none"/>
        <c:minorTickMark val="none"/>
        <c:tickLblPos val="nextTo"/>
        <c:spPr>
          <a:noFill/>
          <a:ln w="9525" cap="flat" cmpd="sng" algn="ctr">
            <a:solidFill>
              <a:schemeClr val="tx1">
                <a:lumMod val="50000"/>
              </a:schemeClr>
            </a:solidFill>
            <a:round/>
          </a:ln>
          <a:effectLst/>
        </c:spPr>
        <c:txPr>
          <a:bodyPr rot="-60000000" spcFirstLastPara="1" vertOverflow="ellipsis" vert="horz" wrap="square" anchor="ctr" anchorCtr="1"/>
          <a:lstStyle/>
          <a:p>
            <a:pPr>
              <a:defRPr sz="1800" b="0" i="0" u="none" strike="noStrike" kern="1200" baseline="0">
                <a:solidFill>
                  <a:schemeClr val="tx1">
                    <a:lumMod val="50000"/>
                  </a:schemeClr>
                </a:solidFill>
                <a:latin typeface="+mj-lt"/>
                <a:ea typeface="+mn-ea"/>
                <a:cs typeface="+mn-cs"/>
              </a:defRPr>
            </a:pPr>
            <a:endParaRPr lang="en-US"/>
          </a:p>
        </c:txPr>
        <c:crossAx val="1131045136"/>
        <c:crosses val="autoZero"/>
        <c:auto val="1"/>
        <c:lblAlgn val="ctr"/>
        <c:lblOffset val="100"/>
        <c:noMultiLvlLbl val="0"/>
      </c:catAx>
      <c:valAx>
        <c:axId val="1131045136"/>
        <c:scaling>
          <c:orientation val="minMax"/>
        </c:scaling>
        <c:delete val="1"/>
        <c:axPos val="l"/>
        <c:numFmt formatCode="0%" sourceLinked="1"/>
        <c:majorTickMark val="none"/>
        <c:minorTickMark val="none"/>
        <c:tickLblPos val="nextTo"/>
        <c:crossAx val="113233467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800" b="0" i="0" u="none" strike="noStrike" kern="1200" baseline="0">
              <a:solidFill>
                <a:schemeClr val="tx1">
                  <a:lumMod val="50000"/>
                </a:schemeClr>
              </a:solidFill>
              <a:latin typeface="+mj-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800">
          <a:solidFill>
            <a:schemeClr val="tx1">
              <a:lumMod val="50000"/>
            </a:schemeClr>
          </a:solidFill>
          <a:latin typeface="+mj-lt"/>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37A9D88-E325-4F3E-BD42-3EFD1AF59B6F}" type="doc">
      <dgm:prSet loTypeId="urn:microsoft.com/office/officeart/2005/8/layout/radial6" loCatId="relationship" qsTypeId="urn:microsoft.com/office/officeart/2005/8/quickstyle/simple1" qsCatId="simple" csTypeId="urn:microsoft.com/office/officeart/2005/8/colors/accent1_2" csCatId="accent1" phldr="1"/>
      <dgm:spPr/>
      <dgm:t>
        <a:bodyPr/>
        <a:lstStyle/>
        <a:p>
          <a:endParaRPr lang="en-US"/>
        </a:p>
      </dgm:t>
    </dgm:pt>
    <dgm:pt modelId="{7D74CA68-7E3D-4612-B5B2-FB8B074A5DDC}">
      <dgm:prSet phldrT="[Text]" custT="1"/>
      <dgm:spPr>
        <a:xfrm>
          <a:off x="2147589" y="1682748"/>
          <a:ext cx="1800820" cy="1800820"/>
        </a:xfrm>
        <a:solidFill>
          <a:schemeClr val="bg2">
            <a:lumMod val="90000"/>
          </a:schemeClr>
        </a:solidFill>
        <a:ln w="19050" cap="flat" cmpd="sng" algn="ctr">
          <a:solidFill>
            <a:sysClr val="window" lastClr="FFFFFF">
              <a:hueOff val="0"/>
              <a:satOff val="0"/>
              <a:lumOff val="0"/>
              <a:alphaOff val="0"/>
            </a:sysClr>
          </a:solidFill>
          <a:prstDash val="solid"/>
        </a:ln>
        <a:effectLst/>
      </dgm:spPr>
      <dgm:t>
        <a:bodyPr/>
        <a:lstStyle/>
        <a:p>
          <a:pPr>
            <a:buNone/>
          </a:pPr>
          <a:r>
            <a:rPr lang="en-US" sz="1500" b="1" dirty="0">
              <a:solidFill>
                <a:sysClr val="windowText" lastClr="000000"/>
              </a:solidFill>
              <a:latin typeface="Lato" panose="020F0502020204030203" pitchFamily="34" charset="0"/>
              <a:ea typeface="Lato" panose="020F0502020204030203" pitchFamily="34" charset="0"/>
              <a:cs typeface="Lato" panose="020F0502020204030203" pitchFamily="34" charset="0"/>
            </a:rPr>
            <a:t>Advising support</a:t>
          </a:r>
        </a:p>
      </dgm:t>
    </dgm:pt>
    <dgm:pt modelId="{9563477C-675A-45AA-A0EC-A7DF5E3680BA}" type="parTrans" cxnId="{D4BADB92-5697-441F-A767-02C6F1D9A232}">
      <dgm:prSet/>
      <dgm:spPr/>
      <dgm:t>
        <a:bodyPr/>
        <a:lstStyle/>
        <a:p>
          <a:endParaRPr lang="en-US" sz="1500">
            <a:latin typeface="Lato" panose="020F0502020204030203" pitchFamily="34" charset="0"/>
            <a:ea typeface="Lato" panose="020F0502020204030203" pitchFamily="34" charset="0"/>
            <a:cs typeface="Lato" panose="020F0502020204030203" pitchFamily="34" charset="0"/>
          </a:endParaRPr>
        </a:p>
      </dgm:t>
    </dgm:pt>
    <dgm:pt modelId="{E28304B3-46D0-448E-BEAD-70CB9145CA7C}" type="sibTrans" cxnId="{D4BADB92-5697-441F-A767-02C6F1D9A232}">
      <dgm:prSet/>
      <dgm:spPr/>
      <dgm:t>
        <a:bodyPr/>
        <a:lstStyle/>
        <a:p>
          <a:endParaRPr lang="en-US" sz="1500">
            <a:latin typeface="Lato" panose="020F0502020204030203" pitchFamily="34" charset="0"/>
            <a:ea typeface="Lato" panose="020F0502020204030203" pitchFamily="34" charset="0"/>
            <a:cs typeface="Lato" panose="020F0502020204030203" pitchFamily="34" charset="0"/>
          </a:endParaRPr>
        </a:p>
      </dgm:t>
    </dgm:pt>
    <dgm:pt modelId="{A26E9DD9-CA85-4A88-918C-50B3BE6E2DE1}">
      <dgm:prSet phldrT="[Text]" custT="1"/>
      <dgm:spPr>
        <a:xfrm>
          <a:off x="2339342" y="-37258"/>
          <a:ext cx="1417314" cy="1417314"/>
        </a:xfrm>
        <a:solidFill>
          <a:schemeClr val="bg2">
            <a:lumMod val="50000"/>
          </a:schemeClr>
        </a:solidFill>
        <a:ln w="19050" cap="flat" cmpd="sng" algn="ctr">
          <a:solidFill>
            <a:sysClr val="window" lastClr="FFFFFF">
              <a:hueOff val="0"/>
              <a:satOff val="0"/>
              <a:lumOff val="0"/>
              <a:alphaOff val="0"/>
            </a:sysClr>
          </a:solidFill>
          <a:prstDash val="solid"/>
        </a:ln>
        <a:effectLst/>
      </dgm:spPr>
      <dgm:t>
        <a:bodyPr/>
        <a:lstStyle/>
        <a:p>
          <a:pPr>
            <a:buNone/>
          </a:pPr>
          <a:r>
            <a:rPr lang="en-US" sz="1500" dirty="0">
              <a:solidFill>
                <a:sysClr val="window" lastClr="FFFFFF"/>
              </a:solidFill>
              <a:latin typeface="Lato" panose="020F0502020204030203" pitchFamily="34" charset="0"/>
              <a:ea typeface="Lato" panose="020F0502020204030203" pitchFamily="34" charset="0"/>
              <a:cs typeface="Lato" panose="020F0502020204030203" pitchFamily="34" charset="0"/>
            </a:rPr>
            <a:t>Holistic advising</a:t>
          </a:r>
        </a:p>
      </dgm:t>
    </dgm:pt>
    <dgm:pt modelId="{D65523C3-EC0D-4611-8454-F0FBE22CBADF}" type="parTrans" cxnId="{A88E1B92-8BAA-4F65-9101-1620E06F8642}">
      <dgm:prSet/>
      <dgm:spPr/>
      <dgm:t>
        <a:bodyPr/>
        <a:lstStyle/>
        <a:p>
          <a:endParaRPr lang="en-US" sz="1500">
            <a:latin typeface="Lato" panose="020F0502020204030203" pitchFamily="34" charset="0"/>
            <a:ea typeface="Lato" panose="020F0502020204030203" pitchFamily="34" charset="0"/>
            <a:cs typeface="Lato" panose="020F0502020204030203" pitchFamily="34" charset="0"/>
          </a:endParaRPr>
        </a:p>
      </dgm:t>
    </dgm:pt>
    <dgm:pt modelId="{2A810D21-D3F2-41B6-A241-52A127C01A0A}" type="sibTrans" cxnId="{A88E1B92-8BAA-4F65-9101-1620E06F8642}">
      <dgm:prSet/>
      <dgm:spPr>
        <a:xfrm>
          <a:off x="1090859" y="626018"/>
          <a:ext cx="3914280" cy="3914280"/>
        </a:xfrm>
        <a:solidFill>
          <a:schemeClr val="bg1">
            <a:lumMod val="85000"/>
          </a:schemeClr>
        </a:solidFill>
        <a:ln>
          <a:noFill/>
        </a:ln>
        <a:effectLst/>
      </dgm:spPr>
      <dgm:t>
        <a:bodyPr/>
        <a:lstStyle/>
        <a:p>
          <a:endParaRPr lang="en-US" sz="1500">
            <a:latin typeface="Lato" panose="020F0502020204030203" pitchFamily="34" charset="0"/>
            <a:ea typeface="Lato" panose="020F0502020204030203" pitchFamily="34" charset="0"/>
            <a:cs typeface="Lato" panose="020F0502020204030203" pitchFamily="34" charset="0"/>
          </a:endParaRPr>
        </a:p>
      </dgm:t>
    </dgm:pt>
    <dgm:pt modelId="{20D13228-4ED9-4C59-87B1-AB040A4DB9A5}">
      <dgm:prSet custT="1"/>
      <dgm:spPr>
        <a:xfrm>
          <a:off x="3994975" y="2830380"/>
          <a:ext cx="1417314" cy="1417314"/>
        </a:xfrm>
        <a:solidFill>
          <a:schemeClr val="bg2">
            <a:lumMod val="50000"/>
          </a:schemeClr>
        </a:solidFill>
        <a:ln w="19050" cap="flat" cmpd="sng" algn="ctr">
          <a:solidFill>
            <a:sysClr val="window" lastClr="FFFFFF">
              <a:hueOff val="0"/>
              <a:satOff val="0"/>
              <a:lumOff val="0"/>
              <a:alphaOff val="0"/>
            </a:sysClr>
          </a:solidFill>
          <a:prstDash val="solid"/>
        </a:ln>
        <a:effectLst/>
      </dgm:spPr>
      <dgm:t>
        <a:bodyPr/>
        <a:lstStyle/>
        <a:p>
          <a:pPr>
            <a:buNone/>
          </a:pPr>
          <a:r>
            <a:rPr lang="en-US" sz="1500" dirty="0">
              <a:solidFill>
                <a:sysClr val="window" lastClr="FFFFFF"/>
              </a:solidFill>
              <a:latin typeface="Lato" panose="020F0502020204030203" pitchFamily="34" charset="0"/>
              <a:ea typeface="Lato" panose="020F0502020204030203" pitchFamily="34" charset="0"/>
              <a:cs typeface="Lato" panose="020F0502020204030203" pitchFamily="34" charset="0"/>
            </a:rPr>
            <a:t>Student-parent-specific advising</a:t>
          </a:r>
        </a:p>
      </dgm:t>
    </dgm:pt>
    <dgm:pt modelId="{DFED0461-BAA2-43A0-AA7F-90DECA28DF3D}" type="parTrans" cxnId="{17D128C0-EB02-4B87-B8D7-924221D11F14}">
      <dgm:prSet/>
      <dgm:spPr/>
      <dgm:t>
        <a:bodyPr/>
        <a:lstStyle/>
        <a:p>
          <a:endParaRPr lang="en-US" sz="1500">
            <a:latin typeface="Lato" panose="020F0502020204030203" pitchFamily="34" charset="0"/>
            <a:ea typeface="Lato" panose="020F0502020204030203" pitchFamily="34" charset="0"/>
            <a:cs typeface="Lato" panose="020F0502020204030203" pitchFamily="34" charset="0"/>
          </a:endParaRPr>
        </a:p>
      </dgm:t>
    </dgm:pt>
    <dgm:pt modelId="{291D18FF-23FC-4592-9B52-57D0A5697561}" type="sibTrans" cxnId="{17D128C0-EB02-4B87-B8D7-924221D11F14}">
      <dgm:prSet/>
      <dgm:spPr>
        <a:xfrm>
          <a:off x="1090859" y="626018"/>
          <a:ext cx="3914280" cy="3914280"/>
        </a:xfrm>
        <a:solidFill>
          <a:schemeClr val="bg1">
            <a:lumMod val="85000"/>
          </a:schemeClr>
        </a:solidFill>
        <a:ln>
          <a:noFill/>
        </a:ln>
        <a:effectLst/>
      </dgm:spPr>
      <dgm:t>
        <a:bodyPr/>
        <a:lstStyle/>
        <a:p>
          <a:endParaRPr lang="en-US" sz="1500">
            <a:latin typeface="Lato" panose="020F0502020204030203" pitchFamily="34" charset="0"/>
            <a:ea typeface="Lato" panose="020F0502020204030203" pitchFamily="34" charset="0"/>
            <a:cs typeface="Lato" panose="020F0502020204030203" pitchFamily="34" charset="0"/>
          </a:endParaRPr>
        </a:p>
      </dgm:t>
    </dgm:pt>
    <dgm:pt modelId="{B550CB93-69A0-48D3-9BF8-AD26F86D3E33}" type="pres">
      <dgm:prSet presAssocID="{B37A9D88-E325-4F3E-BD42-3EFD1AF59B6F}" presName="Name0" presStyleCnt="0">
        <dgm:presLayoutVars>
          <dgm:chMax val="1"/>
          <dgm:dir/>
          <dgm:animLvl val="ctr"/>
          <dgm:resizeHandles val="exact"/>
        </dgm:presLayoutVars>
      </dgm:prSet>
      <dgm:spPr/>
    </dgm:pt>
    <dgm:pt modelId="{C5416163-F3CD-430C-BBCB-FACE4C9B5A80}" type="pres">
      <dgm:prSet presAssocID="{7D74CA68-7E3D-4612-B5B2-FB8B074A5DDC}" presName="centerShape" presStyleLbl="node0" presStyleIdx="0" presStyleCnt="1"/>
      <dgm:spPr>
        <a:prstGeom prst="ellipse">
          <a:avLst/>
        </a:prstGeom>
      </dgm:spPr>
    </dgm:pt>
    <dgm:pt modelId="{01C18C70-635E-421F-8B41-0CE9D1788E51}" type="pres">
      <dgm:prSet presAssocID="{A26E9DD9-CA85-4A88-918C-50B3BE6E2DE1}" presName="node" presStyleLbl="node1" presStyleIdx="0" presStyleCnt="2" custScaleX="121005" custScaleY="121005">
        <dgm:presLayoutVars>
          <dgm:bulletEnabled val="1"/>
        </dgm:presLayoutVars>
      </dgm:prSet>
      <dgm:spPr/>
    </dgm:pt>
    <dgm:pt modelId="{5F02714A-119E-453D-9C77-1EE9F449B60B}" type="pres">
      <dgm:prSet presAssocID="{A26E9DD9-CA85-4A88-918C-50B3BE6E2DE1}" presName="dummy" presStyleCnt="0"/>
      <dgm:spPr/>
    </dgm:pt>
    <dgm:pt modelId="{FCDBE41E-5D0B-4031-A19F-0DE40A5E905F}" type="pres">
      <dgm:prSet presAssocID="{2A810D21-D3F2-41B6-A241-52A127C01A0A}" presName="sibTrans" presStyleLbl="sibTrans2D1" presStyleIdx="0" presStyleCnt="2"/>
      <dgm:spPr/>
    </dgm:pt>
    <dgm:pt modelId="{5923DA9D-0069-477B-A3EE-F7E9CFE552DE}" type="pres">
      <dgm:prSet presAssocID="{20D13228-4ED9-4C59-87B1-AB040A4DB9A5}" presName="node" presStyleLbl="node1" presStyleIdx="1" presStyleCnt="2" custScaleX="121005" custScaleY="121005">
        <dgm:presLayoutVars>
          <dgm:bulletEnabled val="1"/>
        </dgm:presLayoutVars>
      </dgm:prSet>
      <dgm:spPr/>
    </dgm:pt>
    <dgm:pt modelId="{9A160FD9-1FC9-4234-9477-6D6982D13A21}" type="pres">
      <dgm:prSet presAssocID="{20D13228-4ED9-4C59-87B1-AB040A4DB9A5}" presName="dummy" presStyleCnt="0"/>
      <dgm:spPr/>
    </dgm:pt>
    <dgm:pt modelId="{1BAE455B-7124-4AB4-BF31-94DCAC09DE94}" type="pres">
      <dgm:prSet presAssocID="{291D18FF-23FC-4592-9B52-57D0A5697561}" presName="sibTrans" presStyleLbl="sibTrans2D1" presStyleIdx="1" presStyleCnt="2"/>
      <dgm:spPr/>
    </dgm:pt>
  </dgm:ptLst>
  <dgm:cxnLst>
    <dgm:cxn modelId="{1DFB9A10-6041-4DB0-B137-4EB1B45103FE}" type="presOf" srcId="{7D74CA68-7E3D-4612-B5B2-FB8B074A5DDC}" destId="{C5416163-F3CD-430C-BBCB-FACE4C9B5A80}" srcOrd="0" destOrd="0" presId="urn:microsoft.com/office/officeart/2005/8/layout/radial6"/>
    <dgm:cxn modelId="{8A38871D-4152-4F28-BAB2-E3CE07E9CDFB}" type="presOf" srcId="{B37A9D88-E325-4F3E-BD42-3EFD1AF59B6F}" destId="{B550CB93-69A0-48D3-9BF8-AD26F86D3E33}" srcOrd="0" destOrd="0" presId="urn:microsoft.com/office/officeart/2005/8/layout/radial6"/>
    <dgm:cxn modelId="{9E88A21E-A9DE-4C92-9407-AA913C0DFC62}" type="presOf" srcId="{A26E9DD9-CA85-4A88-918C-50B3BE6E2DE1}" destId="{01C18C70-635E-421F-8B41-0CE9D1788E51}" srcOrd="0" destOrd="0" presId="urn:microsoft.com/office/officeart/2005/8/layout/radial6"/>
    <dgm:cxn modelId="{A88E1B92-8BAA-4F65-9101-1620E06F8642}" srcId="{7D74CA68-7E3D-4612-B5B2-FB8B074A5DDC}" destId="{A26E9DD9-CA85-4A88-918C-50B3BE6E2DE1}" srcOrd="0" destOrd="0" parTransId="{D65523C3-EC0D-4611-8454-F0FBE22CBADF}" sibTransId="{2A810D21-D3F2-41B6-A241-52A127C01A0A}"/>
    <dgm:cxn modelId="{D4BADB92-5697-441F-A767-02C6F1D9A232}" srcId="{B37A9D88-E325-4F3E-BD42-3EFD1AF59B6F}" destId="{7D74CA68-7E3D-4612-B5B2-FB8B074A5DDC}" srcOrd="0" destOrd="0" parTransId="{9563477C-675A-45AA-A0EC-A7DF5E3680BA}" sibTransId="{E28304B3-46D0-448E-BEAD-70CB9145CA7C}"/>
    <dgm:cxn modelId="{17D128C0-EB02-4B87-B8D7-924221D11F14}" srcId="{7D74CA68-7E3D-4612-B5B2-FB8B074A5DDC}" destId="{20D13228-4ED9-4C59-87B1-AB040A4DB9A5}" srcOrd="1" destOrd="0" parTransId="{DFED0461-BAA2-43A0-AA7F-90DECA28DF3D}" sibTransId="{291D18FF-23FC-4592-9B52-57D0A5697561}"/>
    <dgm:cxn modelId="{83291DE1-DE7B-4DCB-A340-4316A6B0A759}" type="presOf" srcId="{291D18FF-23FC-4592-9B52-57D0A5697561}" destId="{1BAE455B-7124-4AB4-BF31-94DCAC09DE94}" srcOrd="0" destOrd="0" presId="urn:microsoft.com/office/officeart/2005/8/layout/radial6"/>
    <dgm:cxn modelId="{00BB44EA-59CF-47D4-8B9E-BAFDBE7DCCC5}" type="presOf" srcId="{2A810D21-D3F2-41B6-A241-52A127C01A0A}" destId="{FCDBE41E-5D0B-4031-A19F-0DE40A5E905F}" srcOrd="0" destOrd="0" presId="urn:microsoft.com/office/officeart/2005/8/layout/radial6"/>
    <dgm:cxn modelId="{82DFB3F1-36D6-4F7B-8ACD-A9F81D21C0F2}" type="presOf" srcId="{20D13228-4ED9-4C59-87B1-AB040A4DB9A5}" destId="{5923DA9D-0069-477B-A3EE-F7E9CFE552DE}" srcOrd="0" destOrd="0" presId="urn:microsoft.com/office/officeart/2005/8/layout/radial6"/>
    <dgm:cxn modelId="{707571F3-6D57-47E6-AE31-00DEE5A43CA0}" type="presParOf" srcId="{B550CB93-69A0-48D3-9BF8-AD26F86D3E33}" destId="{C5416163-F3CD-430C-BBCB-FACE4C9B5A80}" srcOrd="0" destOrd="0" presId="urn:microsoft.com/office/officeart/2005/8/layout/radial6"/>
    <dgm:cxn modelId="{97652C49-BC3C-4439-A931-74E4E7393834}" type="presParOf" srcId="{B550CB93-69A0-48D3-9BF8-AD26F86D3E33}" destId="{01C18C70-635E-421F-8B41-0CE9D1788E51}" srcOrd="1" destOrd="0" presId="urn:microsoft.com/office/officeart/2005/8/layout/radial6"/>
    <dgm:cxn modelId="{9F00B880-BF32-4462-B343-D85DBD633CB9}" type="presParOf" srcId="{B550CB93-69A0-48D3-9BF8-AD26F86D3E33}" destId="{5F02714A-119E-453D-9C77-1EE9F449B60B}" srcOrd="2" destOrd="0" presId="urn:microsoft.com/office/officeart/2005/8/layout/radial6"/>
    <dgm:cxn modelId="{607EE985-0F19-4CE2-9FA9-B3A14A08AF2C}" type="presParOf" srcId="{B550CB93-69A0-48D3-9BF8-AD26F86D3E33}" destId="{FCDBE41E-5D0B-4031-A19F-0DE40A5E905F}" srcOrd="3" destOrd="0" presId="urn:microsoft.com/office/officeart/2005/8/layout/radial6"/>
    <dgm:cxn modelId="{CAADA6F3-C38D-447C-974C-2F9E939861F3}" type="presParOf" srcId="{B550CB93-69A0-48D3-9BF8-AD26F86D3E33}" destId="{5923DA9D-0069-477B-A3EE-F7E9CFE552DE}" srcOrd="4" destOrd="0" presId="urn:microsoft.com/office/officeart/2005/8/layout/radial6"/>
    <dgm:cxn modelId="{8D8E9704-7CF6-42F8-9DB9-D44C195E5169}" type="presParOf" srcId="{B550CB93-69A0-48D3-9BF8-AD26F86D3E33}" destId="{9A160FD9-1FC9-4234-9477-6D6982D13A21}" srcOrd="5" destOrd="0" presId="urn:microsoft.com/office/officeart/2005/8/layout/radial6"/>
    <dgm:cxn modelId="{EA90AA8E-FB57-4B3F-97FC-A6153A150BD9}" type="presParOf" srcId="{B550CB93-69A0-48D3-9BF8-AD26F86D3E33}" destId="{1BAE455B-7124-4AB4-BF31-94DCAC09DE94}" srcOrd="6" destOrd="0" presId="urn:microsoft.com/office/officeart/2005/8/layout/radial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37A9D88-E325-4F3E-BD42-3EFD1AF59B6F}" type="doc">
      <dgm:prSet loTypeId="urn:microsoft.com/office/officeart/2005/8/layout/radial6" loCatId="relationship" qsTypeId="urn:microsoft.com/office/officeart/2005/8/quickstyle/simple1" qsCatId="simple" csTypeId="urn:microsoft.com/office/officeart/2005/8/colors/accent1_2" csCatId="accent1" phldr="1"/>
      <dgm:spPr/>
      <dgm:t>
        <a:bodyPr/>
        <a:lstStyle/>
        <a:p>
          <a:endParaRPr lang="en-US"/>
        </a:p>
      </dgm:t>
    </dgm:pt>
    <dgm:pt modelId="{7D74CA68-7E3D-4612-B5B2-FB8B074A5DDC}">
      <dgm:prSet phldrT="[Text]" custT="1"/>
      <dgm:spPr>
        <a:xfrm>
          <a:off x="2205632" y="1535072"/>
          <a:ext cx="1684734" cy="1684734"/>
        </a:xfrm>
        <a:prstGeom prst="ellipse">
          <a:avLst/>
        </a:prstGeom>
        <a:solidFill>
          <a:schemeClr val="accent1">
            <a:lumMod val="40000"/>
            <a:lumOff val="60000"/>
          </a:schemeClr>
        </a:solidFill>
        <a:ln w="19050" cap="flat" cmpd="sng" algn="ctr">
          <a:solidFill>
            <a:sysClr val="window" lastClr="FFFFFF">
              <a:hueOff val="0"/>
              <a:satOff val="0"/>
              <a:lumOff val="0"/>
              <a:alphaOff val="0"/>
            </a:sysClr>
          </a:solidFill>
          <a:prstDash val="solid"/>
        </a:ln>
        <a:effectLst/>
      </dgm:spPr>
      <dgm:t>
        <a:bodyPr/>
        <a:lstStyle/>
        <a:p>
          <a:pPr>
            <a:buNone/>
          </a:pPr>
          <a:r>
            <a:rPr lang="en-US" sz="1500" b="1" dirty="0">
              <a:solidFill>
                <a:sysClr val="windowText" lastClr="000000"/>
              </a:solidFill>
              <a:latin typeface="Lato" panose="020F0502020204030203" pitchFamily="34" charset="0"/>
              <a:ea typeface="Lato" panose="020F0502020204030203" pitchFamily="34" charset="0"/>
              <a:cs typeface="Lato" panose="020F0502020204030203" pitchFamily="34" charset="0"/>
            </a:rPr>
            <a:t>Safe &amp; welcoming campus culture</a:t>
          </a:r>
        </a:p>
      </dgm:t>
    </dgm:pt>
    <dgm:pt modelId="{9563477C-675A-45AA-A0EC-A7DF5E3680BA}" type="parTrans" cxnId="{D4BADB92-5697-441F-A767-02C6F1D9A232}">
      <dgm:prSet/>
      <dgm:spPr/>
      <dgm:t>
        <a:bodyPr/>
        <a:lstStyle/>
        <a:p>
          <a:endParaRPr lang="en-US" sz="1500">
            <a:latin typeface="Lato" panose="020F0502020204030203" pitchFamily="34" charset="0"/>
            <a:ea typeface="Lato" panose="020F0502020204030203" pitchFamily="34" charset="0"/>
            <a:cs typeface="Lato" panose="020F0502020204030203" pitchFamily="34" charset="0"/>
          </a:endParaRPr>
        </a:p>
      </dgm:t>
    </dgm:pt>
    <dgm:pt modelId="{E28304B3-46D0-448E-BEAD-70CB9145CA7C}" type="sibTrans" cxnId="{D4BADB92-5697-441F-A767-02C6F1D9A232}">
      <dgm:prSet/>
      <dgm:spPr/>
      <dgm:t>
        <a:bodyPr/>
        <a:lstStyle/>
        <a:p>
          <a:endParaRPr lang="en-US" sz="1500">
            <a:latin typeface="Lato" panose="020F0502020204030203" pitchFamily="34" charset="0"/>
            <a:ea typeface="Lato" panose="020F0502020204030203" pitchFamily="34" charset="0"/>
            <a:cs typeface="Lato" panose="020F0502020204030203" pitchFamily="34" charset="0"/>
          </a:endParaRPr>
        </a:p>
      </dgm:t>
    </dgm:pt>
    <dgm:pt modelId="{A26E9DD9-CA85-4A88-918C-50B3BE6E2DE1}">
      <dgm:prSet phldrT="[Text]" custT="1"/>
      <dgm:spPr>
        <a:xfrm>
          <a:off x="2339338" y="-117561"/>
          <a:ext cx="1417323" cy="1417323"/>
        </a:xfrm>
        <a:prstGeom prst="ellipse">
          <a:avLst/>
        </a:prstGeom>
        <a:solidFill>
          <a:schemeClr val="accent1"/>
        </a:solidFill>
        <a:ln w="19050" cap="flat" cmpd="sng" algn="ctr">
          <a:solidFill>
            <a:sysClr val="window" lastClr="FFFFFF">
              <a:hueOff val="0"/>
              <a:satOff val="0"/>
              <a:lumOff val="0"/>
              <a:alphaOff val="0"/>
            </a:sysClr>
          </a:solidFill>
          <a:prstDash val="solid"/>
        </a:ln>
        <a:effectLst/>
      </dgm:spPr>
      <dgm:t>
        <a:bodyPr/>
        <a:lstStyle/>
        <a:p>
          <a:pPr>
            <a:buNone/>
          </a:pPr>
          <a:r>
            <a:rPr lang="en-US" sz="1500" dirty="0">
              <a:solidFill>
                <a:sysClr val="window" lastClr="FFFFFF"/>
              </a:solidFill>
              <a:latin typeface="Lato" panose="020F0502020204030203" pitchFamily="34" charset="0"/>
              <a:ea typeface="Lato" panose="020F0502020204030203" pitchFamily="34" charset="0"/>
              <a:cs typeface="Lato" panose="020F0502020204030203" pitchFamily="34" charset="0"/>
            </a:rPr>
            <a:t>Family-Friendly Campus Toolkit </a:t>
          </a:r>
        </a:p>
      </dgm:t>
    </dgm:pt>
    <dgm:pt modelId="{D65523C3-EC0D-4611-8454-F0FBE22CBADF}" type="parTrans" cxnId="{A88E1B92-8BAA-4F65-9101-1620E06F8642}">
      <dgm:prSet/>
      <dgm:spPr/>
      <dgm:t>
        <a:bodyPr/>
        <a:lstStyle/>
        <a:p>
          <a:endParaRPr lang="en-US" sz="1500">
            <a:latin typeface="Lato" panose="020F0502020204030203" pitchFamily="34" charset="0"/>
            <a:ea typeface="Lato" panose="020F0502020204030203" pitchFamily="34" charset="0"/>
            <a:cs typeface="Lato" panose="020F0502020204030203" pitchFamily="34" charset="0"/>
          </a:endParaRPr>
        </a:p>
      </dgm:t>
    </dgm:pt>
    <dgm:pt modelId="{2A810D21-D3F2-41B6-A241-52A127C01A0A}" type="sibTrans" cxnId="{A88E1B92-8BAA-4F65-9101-1620E06F8642}">
      <dgm:prSet/>
      <dgm:spPr>
        <a:xfrm>
          <a:off x="1219204" y="548644"/>
          <a:ext cx="3657590" cy="3657590"/>
        </a:xfrm>
        <a:prstGeom prst="blockArc">
          <a:avLst>
            <a:gd name="adj1" fmla="val 16200000"/>
            <a:gd name="adj2" fmla="val 0"/>
            <a:gd name="adj3" fmla="val 4643"/>
          </a:avLst>
        </a:prstGeom>
        <a:solidFill>
          <a:schemeClr val="bg1">
            <a:lumMod val="85000"/>
          </a:schemeClr>
        </a:solidFill>
        <a:ln>
          <a:noFill/>
        </a:ln>
        <a:effectLst/>
      </dgm:spPr>
      <dgm:t>
        <a:bodyPr/>
        <a:lstStyle/>
        <a:p>
          <a:endParaRPr lang="en-US" sz="1500">
            <a:latin typeface="Lato" panose="020F0502020204030203" pitchFamily="34" charset="0"/>
            <a:ea typeface="Lato" panose="020F0502020204030203" pitchFamily="34" charset="0"/>
            <a:cs typeface="Lato" panose="020F0502020204030203" pitchFamily="34" charset="0"/>
          </a:endParaRPr>
        </a:p>
      </dgm:t>
    </dgm:pt>
    <dgm:pt modelId="{F107A9D9-8448-4A55-B1D1-AB7F1E9B4C2B}">
      <dgm:prSet phldrT="[Text]" custT="1"/>
      <dgm:spPr>
        <a:xfrm>
          <a:off x="4125678" y="1668777"/>
          <a:ext cx="1417323" cy="1417323"/>
        </a:xfrm>
        <a:prstGeom prst="ellipse">
          <a:avLst/>
        </a:prstGeom>
        <a:solidFill>
          <a:schemeClr val="accent1"/>
        </a:solidFill>
        <a:ln w="19050" cap="flat" cmpd="sng" algn="ctr">
          <a:solidFill>
            <a:sysClr val="window" lastClr="FFFFFF">
              <a:hueOff val="0"/>
              <a:satOff val="0"/>
              <a:lumOff val="0"/>
              <a:alphaOff val="0"/>
            </a:sysClr>
          </a:solidFill>
          <a:prstDash val="solid"/>
        </a:ln>
        <a:effectLst/>
      </dgm:spPr>
      <dgm:t>
        <a:bodyPr/>
        <a:lstStyle/>
        <a:p>
          <a:pPr>
            <a:buNone/>
          </a:pPr>
          <a:r>
            <a:rPr lang="en-US" sz="1500" i="0" dirty="0">
              <a:solidFill>
                <a:sysClr val="window" lastClr="FFFFFF"/>
              </a:solidFill>
              <a:latin typeface="Lato" panose="020F0502020204030203" pitchFamily="34" charset="0"/>
              <a:ea typeface="Lato" panose="020F0502020204030203" pitchFamily="34" charset="0"/>
              <a:cs typeface="Lato" panose="020F0502020204030203" pitchFamily="34" charset="0"/>
            </a:rPr>
            <a:t>Adapt "8 Keys to Veterans’ Success"</a:t>
          </a:r>
        </a:p>
      </dgm:t>
    </dgm:pt>
    <dgm:pt modelId="{098784FA-FD9D-4D7A-8FB6-57E8688301CF}" type="parTrans" cxnId="{30A4A675-2843-4D43-B23F-83ED8B69DC80}">
      <dgm:prSet/>
      <dgm:spPr/>
      <dgm:t>
        <a:bodyPr/>
        <a:lstStyle/>
        <a:p>
          <a:endParaRPr lang="en-US" sz="1500">
            <a:latin typeface="Lato" panose="020F0502020204030203" pitchFamily="34" charset="0"/>
            <a:ea typeface="Lato" panose="020F0502020204030203" pitchFamily="34" charset="0"/>
            <a:cs typeface="Lato" panose="020F0502020204030203" pitchFamily="34" charset="0"/>
          </a:endParaRPr>
        </a:p>
      </dgm:t>
    </dgm:pt>
    <dgm:pt modelId="{CAEB7C71-A837-45B4-BA2B-BC0A063A7C2E}" type="sibTrans" cxnId="{30A4A675-2843-4D43-B23F-83ED8B69DC80}">
      <dgm:prSet/>
      <dgm:spPr>
        <a:xfrm>
          <a:off x="1219204" y="548644"/>
          <a:ext cx="3657590" cy="3657590"/>
        </a:xfrm>
        <a:prstGeom prst="blockArc">
          <a:avLst>
            <a:gd name="adj1" fmla="val 0"/>
            <a:gd name="adj2" fmla="val 5400000"/>
            <a:gd name="adj3" fmla="val 4643"/>
          </a:avLst>
        </a:prstGeom>
        <a:solidFill>
          <a:schemeClr val="bg1">
            <a:lumMod val="85000"/>
          </a:schemeClr>
        </a:solidFill>
        <a:ln>
          <a:noFill/>
        </a:ln>
        <a:effectLst/>
      </dgm:spPr>
      <dgm:t>
        <a:bodyPr/>
        <a:lstStyle/>
        <a:p>
          <a:endParaRPr lang="en-US" sz="1500">
            <a:latin typeface="Lato" panose="020F0502020204030203" pitchFamily="34" charset="0"/>
            <a:ea typeface="Lato" panose="020F0502020204030203" pitchFamily="34" charset="0"/>
            <a:cs typeface="Lato" panose="020F0502020204030203" pitchFamily="34" charset="0"/>
          </a:endParaRPr>
        </a:p>
      </dgm:t>
    </dgm:pt>
    <dgm:pt modelId="{E07F29A5-D975-4E21-BD5C-ACC052490FF6}">
      <dgm:prSet phldrT="[Text]" custT="1"/>
      <dgm:spPr>
        <a:xfrm>
          <a:off x="2339338" y="3455117"/>
          <a:ext cx="1417323" cy="1417323"/>
        </a:xfrm>
        <a:prstGeom prst="ellipse">
          <a:avLst/>
        </a:prstGeom>
        <a:solidFill>
          <a:schemeClr val="accent1"/>
        </a:solidFill>
        <a:ln w="19050" cap="flat" cmpd="sng" algn="ctr">
          <a:solidFill>
            <a:sysClr val="window" lastClr="FFFFFF">
              <a:hueOff val="0"/>
              <a:satOff val="0"/>
              <a:lumOff val="0"/>
              <a:alphaOff val="0"/>
            </a:sysClr>
          </a:solidFill>
          <a:prstDash val="solid"/>
        </a:ln>
        <a:effectLst/>
      </dgm:spPr>
      <dgm:t>
        <a:bodyPr/>
        <a:lstStyle/>
        <a:p>
          <a:pPr>
            <a:buNone/>
          </a:pPr>
          <a:r>
            <a:rPr lang="en-US" sz="1500" dirty="0">
              <a:solidFill>
                <a:sysClr val="window" lastClr="FFFFFF"/>
              </a:solidFill>
              <a:latin typeface="Lato" panose="020F0502020204030203" pitchFamily="34" charset="0"/>
              <a:ea typeface="Lato" panose="020F0502020204030203" pitchFamily="34" charset="0"/>
              <a:cs typeface="Lato" panose="020F0502020204030203" pitchFamily="34" charset="0"/>
            </a:rPr>
            <a:t>Reasonable </a:t>
          </a:r>
          <a:r>
            <a:rPr lang="en-US" sz="1500" dirty="0" err="1">
              <a:solidFill>
                <a:sysClr val="window" lastClr="FFFFFF"/>
              </a:solidFill>
              <a:latin typeface="Lato" panose="020F0502020204030203" pitchFamily="34" charset="0"/>
              <a:ea typeface="Lato" panose="020F0502020204030203" pitchFamily="34" charset="0"/>
              <a:cs typeface="Lato" panose="020F0502020204030203" pitchFamily="34" charset="0"/>
            </a:rPr>
            <a:t>accom-modations point person</a:t>
          </a:r>
          <a:endParaRPr lang="en-US" sz="1500" dirty="0">
            <a:solidFill>
              <a:sysClr val="window" lastClr="FFFFFF"/>
            </a:solidFill>
            <a:latin typeface="Lato" panose="020F0502020204030203" pitchFamily="34" charset="0"/>
            <a:ea typeface="Lato" panose="020F0502020204030203" pitchFamily="34" charset="0"/>
            <a:cs typeface="Lato" panose="020F0502020204030203" pitchFamily="34" charset="0"/>
          </a:endParaRPr>
        </a:p>
      </dgm:t>
    </dgm:pt>
    <dgm:pt modelId="{3C3B90AD-2CC7-4836-A79A-323106656F04}" type="parTrans" cxnId="{D877AF6A-2037-4CED-9FB9-311011F24F88}">
      <dgm:prSet/>
      <dgm:spPr/>
      <dgm:t>
        <a:bodyPr/>
        <a:lstStyle/>
        <a:p>
          <a:endParaRPr lang="en-US" sz="1500">
            <a:latin typeface="Lato" panose="020F0502020204030203" pitchFamily="34" charset="0"/>
            <a:ea typeface="Lato" panose="020F0502020204030203" pitchFamily="34" charset="0"/>
            <a:cs typeface="Lato" panose="020F0502020204030203" pitchFamily="34" charset="0"/>
          </a:endParaRPr>
        </a:p>
      </dgm:t>
    </dgm:pt>
    <dgm:pt modelId="{A48DA3A6-1D11-4ED3-805A-69B019AB8E68}" type="sibTrans" cxnId="{D877AF6A-2037-4CED-9FB9-311011F24F88}">
      <dgm:prSet/>
      <dgm:spPr>
        <a:xfrm>
          <a:off x="1219204" y="548644"/>
          <a:ext cx="3657590" cy="3657590"/>
        </a:xfrm>
        <a:prstGeom prst="blockArc">
          <a:avLst>
            <a:gd name="adj1" fmla="val 5400000"/>
            <a:gd name="adj2" fmla="val 10800000"/>
            <a:gd name="adj3" fmla="val 4643"/>
          </a:avLst>
        </a:prstGeom>
        <a:solidFill>
          <a:schemeClr val="bg1">
            <a:lumMod val="85000"/>
          </a:schemeClr>
        </a:solidFill>
        <a:ln>
          <a:noFill/>
        </a:ln>
        <a:effectLst/>
      </dgm:spPr>
      <dgm:t>
        <a:bodyPr/>
        <a:lstStyle/>
        <a:p>
          <a:endParaRPr lang="en-US" sz="1500">
            <a:latin typeface="Lato" panose="020F0502020204030203" pitchFamily="34" charset="0"/>
            <a:ea typeface="Lato" panose="020F0502020204030203" pitchFamily="34" charset="0"/>
            <a:cs typeface="Lato" panose="020F0502020204030203" pitchFamily="34" charset="0"/>
          </a:endParaRPr>
        </a:p>
      </dgm:t>
    </dgm:pt>
    <dgm:pt modelId="{61B7951C-11A4-46B1-80AA-5B4324944A25}">
      <dgm:prSet phldrT="[Text]" custT="1"/>
      <dgm:spPr>
        <a:xfrm>
          <a:off x="552998" y="1668777"/>
          <a:ext cx="1417323" cy="1417323"/>
        </a:xfrm>
        <a:prstGeom prst="ellipse">
          <a:avLst/>
        </a:prstGeom>
        <a:solidFill>
          <a:schemeClr val="accent1"/>
        </a:solidFill>
        <a:ln w="19050" cap="flat" cmpd="sng" algn="ctr">
          <a:solidFill>
            <a:sysClr val="window" lastClr="FFFFFF">
              <a:hueOff val="0"/>
              <a:satOff val="0"/>
              <a:lumOff val="0"/>
              <a:alphaOff val="0"/>
            </a:sysClr>
          </a:solidFill>
          <a:prstDash val="solid"/>
        </a:ln>
        <a:effectLst/>
      </dgm:spPr>
      <dgm:t>
        <a:bodyPr/>
        <a:lstStyle/>
        <a:p>
          <a:pPr>
            <a:buNone/>
          </a:pPr>
          <a:r>
            <a:rPr lang="en-US" sz="1500" dirty="0">
              <a:solidFill>
                <a:sysClr val="window" lastClr="FFFFFF"/>
              </a:solidFill>
              <a:latin typeface="Lato" panose="020F0502020204030203" pitchFamily="34" charset="0"/>
              <a:ea typeface="Lato" panose="020F0502020204030203" pitchFamily="34" charset="0"/>
              <a:cs typeface="Lato" panose="020F0502020204030203" pitchFamily="34" charset="0"/>
            </a:rPr>
            <a:t>Colleges study student-parent population</a:t>
          </a:r>
        </a:p>
      </dgm:t>
    </dgm:pt>
    <dgm:pt modelId="{CC8CDC59-0118-4E38-A4FC-6349CD06C971}" type="parTrans" cxnId="{F0CD37C6-B59F-4D0B-AD0F-FCB06AAB9ED4}">
      <dgm:prSet/>
      <dgm:spPr/>
      <dgm:t>
        <a:bodyPr/>
        <a:lstStyle/>
        <a:p>
          <a:endParaRPr lang="en-US" sz="1500">
            <a:latin typeface="Lato" panose="020F0502020204030203" pitchFamily="34" charset="0"/>
            <a:ea typeface="Lato" panose="020F0502020204030203" pitchFamily="34" charset="0"/>
            <a:cs typeface="Lato" panose="020F0502020204030203" pitchFamily="34" charset="0"/>
          </a:endParaRPr>
        </a:p>
      </dgm:t>
    </dgm:pt>
    <dgm:pt modelId="{5B6AF2D7-EB7F-4162-BEC0-14B79E131B0A}" type="sibTrans" cxnId="{F0CD37C6-B59F-4D0B-AD0F-FCB06AAB9ED4}">
      <dgm:prSet/>
      <dgm:spPr>
        <a:xfrm>
          <a:off x="1219204" y="548644"/>
          <a:ext cx="3657590" cy="3657590"/>
        </a:xfrm>
        <a:prstGeom prst="blockArc">
          <a:avLst>
            <a:gd name="adj1" fmla="val 10800000"/>
            <a:gd name="adj2" fmla="val 16200000"/>
            <a:gd name="adj3" fmla="val 4643"/>
          </a:avLst>
        </a:prstGeom>
        <a:solidFill>
          <a:schemeClr val="bg1">
            <a:lumMod val="85000"/>
          </a:schemeClr>
        </a:solidFill>
        <a:ln>
          <a:noFill/>
        </a:ln>
        <a:effectLst/>
      </dgm:spPr>
      <dgm:t>
        <a:bodyPr/>
        <a:lstStyle/>
        <a:p>
          <a:endParaRPr lang="en-US" sz="1500">
            <a:latin typeface="Lato" panose="020F0502020204030203" pitchFamily="34" charset="0"/>
            <a:ea typeface="Lato" panose="020F0502020204030203" pitchFamily="34" charset="0"/>
            <a:cs typeface="Lato" panose="020F0502020204030203" pitchFamily="34" charset="0"/>
          </a:endParaRPr>
        </a:p>
      </dgm:t>
    </dgm:pt>
    <dgm:pt modelId="{B550CB93-69A0-48D3-9BF8-AD26F86D3E33}" type="pres">
      <dgm:prSet presAssocID="{B37A9D88-E325-4F3E-BD42-3EFD1AF59B6F}" presName="Name0" presStyleCnt="0">
        <dgm:presLayoutVars>
          <dgm:chMax val="1"/>
          <dgm:dir/>
          <dgm:animLvl val="ctr"/>
          <dgm:resizeHandles val="exact"/>
        </dgm:presLayoutVars>
      </dgm:prSet>
      <dgm:spPr/>
    </dgm:pt>
    <dgm:pt modelId="{C5416163-F3CD-430C-BBCB-FACE4C9B5A80}" type="pres">
      <dgm:prSet presAssocID="{7D74CA68-7E3D-4612-B5B2-FB8B074A5DDC}" presName="centerShape" presStyleLbl="node0" presStyleIdx="0" presStyleCnt="1"/>
      <dgm:spPr/>
    </dgm:pt>
    <dgm:pt modelId="{3FAC53DB-55E3-4175-925E-160697F46275}" type="pres">
      <dgm:prSet presAssocID="{A26E9DD9-CA85-4A88-918C-50B3BE6E2DE1}" presName="node" presStyleLbl="node1" presStyleIdx="0" presStyleCnt="4" custScaleX="121004" custScaleY="121004">
        <dgm:presLayoutVars>
          <dgm:bulletEnabled val="1"/>
        </dgm:presLayoutVars>
      </dgm:prSet>
      <dgm:spPr/>
    </dgm:pt>
    <dgm:pt modelId="{475333C2-A03E-422E-9992-518CA7290D0B}" type="pres">
      <dgm:prSet presAssocID="{A26E9DD9-CA85-4A88-918C-50B3BE6E2DE1}" presName="dummy" presStyleCnt="0"/>
      <dgm:spPr/>
    </dgm:pt>
    <dgm:pt modelId="{9B3DA2CE-DFA5-43DA-AC78-EABB1E93AFB8}" type="pres">
      <dgm:prSet presAssocID="{2A810D21-D3F2-41B6-A241-52A127C01A0A}" presName="sibTrans" presStyleLbl="sibTrans2D1" presStyleIdx="0" presStyleCnt="4"/>
      <dgm:spPr/>
    </dgm:pt>
    <dgm:pt modelId="{06C6020A-63E3-4B8A-84DA-72D4B33358F0}" type="pres">
      <dgm:prSet presAssocID="{F107A9D9-8448-4A55-B1D1-AB7F1E9B4C2B}" presName="node" presStyleLbl="node1" presStyleIdx="1" presStyleCnt="4" custScaleX="121004" custScaleY="121004">
        <dgm:presLayoutVars>
          <dgm:bulletEnabled val="1"/>
        </dgm:presLayoutVars>
      </dgm:prSet>
      <dgm:spPr/>
    </dgm:pt>
    <dgm:pt modelId="{A8E21F40-204D-4A3C-BE64-7F023135C116}" type="pres">
      <dgm:prSet presAssocID="{F107A9D9-8448-4A55-B1D1-AB7F1E9B4C2B}" presName="dummy" presStyleCnt="0"/>
      <dgm:spPr/>
    </dgm:pt>
    <dgm:pt modelId="{7B7AF002-7E5D-4F29-8338-1207216AB737}" type="pres">
      <dgm:prSet presAssocID="{CAEB7C71-A837-45B4-BA2B-BC0A063A7C2E}" presName="sibTrans" presStyleLbl="sibTrans2D1" presStyleIdx="1" presStyleCnt="4"/>
      <dgm:spPr/>
    </dgm:pt>
    <dgm:pt modelId="{F6E296C3-BEC6-4F9D-88F8-6343FDEB59F1}" type="pres">
      <dgm:prSet presAssocID="{E07F29A5-D975-4E21-BD5C-ACC052490FF6}" presName="node" presStyleLbl="node1" presStyleIdx="2" presStyleCnt="4" custScaleX="131628" custScaleY="128957">
        <dgm:presLayoutVars>
          <dgm:bulletEnabled val="1"/>
        </dgm:presLayoutVars>
      </dgm:prSet>
      <dgm:spPr/>
    </dgm:pt>
    <dgm:pt modelId="{E6E41C8F-11D8-4A21-B51E-19A8D5D0F04B}" type="pres">
      <dgm:prSet presAssocID="{E07F29A5-D975-4E21-BD5C-ACC052490FF6}" presName="dummy" presStyleCnt="0"/>
      <dgm:spPr/>
    </dgm:pt>
    <dgm:pt modelId="{4D69149D-0782-44FB-A725-24A23D693254}" type="pres">
      <dgm:prSet presAssocID="{A48DA3A6-1D11-4ED3-805A-69B019AB8E68}" presName="sibTrans" presStyleLbl="sibTrans2D1" presStyleIdx="2" presStyleCnt="4"/>
      <dgm:spPr/>
    </dgm:pt>
    <dgm:pt modelId="{D400E8E3-E9E0-4FF5-A9B8-C7E91BF99621}" type="pres">
      <dgm:prSet presAssocID="{61B7951C-11A4-46B1-80AA-5B4324944A25}" presName="node" presStyleLbl="node1" presStyleIdx="3" presStyleCnt="4" custScaleX="121004" custScaleY="121004">
        <dgm:presLayoutVars>
          <dgm:bulletEnabled val="1"/>
        </dgm:presLayoutVars>
      </dgm:prSet>
      <dgm:spPr/>
    </dgm:pt>
    <dgm:pt modelId="{D8A53F69-62B6-4D97-AD91-1B5ECCBFB71F}" type="pres">
      <dgm:prSet presAssocID="{61B7951C-11A4-46B1-80AA-5B4324944A25}" presName="dummy" presStyleCnt="0"/>
      <dgm:spPr/>
    </dgm:pt>
    <dgm:pt modelId="{70410869-809B-40D6-BD0D-3289B120DF48}" type="pres">
      <dgm:prSet presAssocID="{5B6AF2D7-EB7F-4162-BEC0-14B79E131B0A}" presName="sibTrans" presStyleLbl="sibTrans2D1" presStyleIdx="3" presStyleCnt="4"/>
      <dgm:spPr/>
    </dgm:pt>
  </dgm:ptLst>
  <dgm:cxnLst>
    <dgm:cxn modelId="{8A38871D-4152-4F28-BAB2-E3CE07E9CDFB}" type="presOf" srcId="{B37A9D88-E325-4F3E-BD42-3EFD1AF59B6F}" destId="{B550CB93-69A0-48D3-9BF8-AD26F86D3E33}" srcOrd="0" destOrd="0" presId="urn:microsoft.com/office/officeart/2005/8/layout/radial6"/>
    <dgm:cxn modelId="{5EEB5824-29D9-4B4C-92A4-A49DCA4A2027}" type="presOf" srcId="{2A810D21-D3F2-41B6-A241-52A127C01A0A}" destId="{9B3DA2CE-DFA5-43DA-AC78-EABB1E93AFB8}" srcOrd="0" destOrd="0" presId="urn:microsoft.com/office/officeart/2005/8/layout/radial6"/>
    <dgm:cxn modelId="{AC2D4F26-EEF6-448B-A281-7BA03D4F8A33}" type="presOf" srcId="{A48DA3A6-1D11-4ED3-805A-69B019AB8E68}" destId="{4D69149D-0782-44FB-A725-24A23D693254}" srcOrd="0" destOrd="0" presId="urn:microsoft.com/office/officeart/2005/8/layout/radial6"/>
    <dgm:cxn modelId="{A45AE341-96A7-4821-99C0-EEBB96C4C43B}" type="presOf" srcId="{CAEB7C71-A837-45B4-BA2B-BC0A063A7C2E}" destId="{7B7AF002-7E5D-4F29-8338-1207216AB737}" srcOrd="0" destOrd="0" presId="urn:microsoft.com/office/officeart/2005/8/layout/radial6"/>
    <dgm:cxn modelId="{D877AF6A-2037-4CED-9FB9-311011F24F88}" srcId="{7D74CA68-7E3D-4612-B5B2-FB8B074A5DDC}" destId="{E07F29A5-D975-4E21-BD5C-ACC052490FF6}" srcOrd="2" destOrd="0" parTransId="{3C3B90AD-2CC7-4836-A79A-323106656F04}" sibTransId="{A48DA3A6-1D11-4ED3-805A-69B019AB8E68}"/>
    <dgm:cxn modelId="{CDF6374F-D003-4FEC-89AD-42FED4753E66}" type="presOf" srcId="{61B7951C-11A4-46B1-80AA-5B4324944A25}" destId="{D400E8E3-E9E0-4FF5-A9B8-C7E91BF99621}" srcOrd="0" destOrd="0" presId="urn:microsoft.com/office/officeart/2005/8/layout/radial6"/>
    <dgm:cxn modelId="{30A4A675-2843-4D43-B23F-83ED8B69DC80}" srcId="{7D74CA68-7E3D-4612-B5B2-FB8B074A5DDC}" destId="{F107A9D9-8448-4A55-B1D1-AB7F1E9B4C2B}" srcOrd="1" destOrd="0" parTransId="{098784FA-FD9D-4D7A-8FB6-57E8688301CF}" sibTransId="{CAEB7C71-A837-45B4-BA2B-BC0A063A7C2E}"/>
    <dgm:cxn modelId="{6AB54E80-DDC6-4AC9-BD7F-0E47D559BAD0}" type="presOf" srcId="{7D74CA68-7E3D-4612-B5B2-FB8B074A5DDC}" destId="{C5416163-F3CD-430C-BBCB-FACE4C9B5A80}" srcOrd="0" destOrd="0" presId="urn:microsoft.com/office/officeart/2005/8/layout/radial6"/>
    <dgm:cxn modelId="{127B8082-79D1-4BC2-9748-A6CA34A5C439}" type="presOf" srcId="{A26E9DD9-CA85-4A88-918C-50B3BE6E2DE1}" destId="{3FAC53DB-55E3-4175-925E-160697F46275}" srcOrd="0" destOrd="0" presId="urn:microsoft.com/office/officeart/2005/8/layout/radial6"/>
    <dgm:cxn modelId="{A88E1B92-8BAA-4F65-9101-1620E06F8642}" srcId="{7D74CA68-7E3D-4612-B5B2-FB8B074A5DDC}" destId="{A26E9DD9-CA85-4A88-918C-50B3BE6E2DE1}" srcOrd="0" destOrd="0" parTransId="{D65523C3-EC0D-4611-8454-F0FBE22CBADF}" sibTransId="{2A810D21-D3F2-41B6-A241-52A127C01A0A}"/>
    <dgm:cxn modelId="{D4BADB92-5697-441F-A767-02C6F1D9A232}" srcId="{B37A9D88-E325-4F3E-BD42-3EFD1AF59B6F}" destId="{7D74CA68-7E3D-4612-B5B2-FB8B074A5DDC}" srcOrd="0" destOrd="0" parTransId="{9563477C-675A-45AA-A0EC-A7DF5E3680BA}" sibTransId="{E28304B3-46D0-448E-BEAD-70CB9145CA7C}"/>
    <dgm:cxn modelId="{A7A69BA0-0D7D-477A-8756-B2343F943C1B}" type="presOf" srcId="{E07F29A5-D975-4E21-BD5C-ACC052490FF6}" destId="{F6E296C3-BEC6-4F9D-88F8-6343FDEB59F1}" srcOrd="0" destOrd="0" presId="urn:microsoft.com/office/officeart/2005/8/layout/radial6"/>
    <dgm:cxn modelId="{F0CD37C6-B59F-4D0B-AD0F-FCB06AAB9ED4}" srcId="{7D74CA68-7E3D-4612-B5B2-FB8B074A5DDC}" destId="{61B7951C-11A4-46B1-80AA-5B4324944A25}" srcOrd="3" destOrd="0" parTransId="{CC8CDC59-0118-4E38-A4FC-6349CD06C971}" sibTransId="{5B6AF2D7-EB7F-4162-BEC0-14B79E131B0A}"/>
    <dgm:cxn modelId="{589D5CCA-89B8-4126-AB4E-767ECCE31562}" type="presOf" srcId="{F107A9D9-8448-4A55-B1D1-AB7F1E9B4C2B}" destId="{06C6020A-63E3-4B8A-84DA-72D4B33358F0}" srcOrd="0" destOrd="0" presId="urn:microsoft.com/office/officeart/2005/8/layout/radial6"/>
    <dgm:cxn modelId="{AF0756CF-8E36-415D-80C0-06BDB4400018}" type="presOf" srcId="{5B6AF2D7-EB7F-4162-BEC0-14B79E131B0A}" destId="{70410869-809B-40D6-BD0D-3289B120DF48}" srcOrd="0" destOrd="0" presId="urn:microsoft.com/office/officeart/2005/8/layout/radial6"/>
    <dgm:cxn modelId="{93408D1A-4319-4A69-8FA2-BB90474471E0}" type="presParOf" srcId="{B550CB93-69A0-48D3-9BF8-AD26F86D3E33}" destId="{C5416163-F3CD-430C-BBCB-FACE4C9B5A80}" srcOrd="0" destOrd="0" presId="urn:microsoft.com/office/officeart/2005/8/layout/radial6"/>
    <dgm:cxn modelId="{739E8853-7135-4B12-9C2C-63C74C54E713}" type="presParOf" srcId="{B550CB93-69A0-48D3-9BF8-AD26F86D3E33}" destId="{3FAC53DB-55E3-4175-925E-160697F46275}" srcOrd="1" destOrd="0" presId="urn:microsoft.com/office/officeart/2005/8/layout/radial6"/>
    <dgm:cxn modelId="{A2ACA1DD-D9F9-46C3-A23A-5BCF30D2C991}" type="presParOf" srcId="{B550CB93-69A0-48D3-9BF8-AD26F86D3E33}" destId="{475333C2-A03E-422E-9992-518CA7290D0B}" srcOrd="2" destOrd="0" presId="urn:microsoft.com/office/officeart/2005/8/layout/radial6"/>
    <dgm:cxn modelId="{ED63E74B-15C5-4A19-8DF4-7474428DDA4D}" type="presParOf" srcId="{B550CB93-69A0-48D3-9BF8-AD26F86D3E33}" destId="{9B3DA2CE-DFA5-43DA-AC78-EABB1E93AFB8}" srcOrd="3" destOrd="0" presId="urn:microsoft.com/office/officeart/2005/8/layout/radial6"/>
    <dgm:cxn modelId="{54070307-C62D-4F79-9D8E-CCBB75B2D221}" type="presParOf" srcId="{B550CB93-69A0-48D3-9BF8-AD26F86D3E33}" destId="{06C6020A-63E3-4B8A-84DA-72D4B33358F0}" srcOrd="4" destOrd="0" presId="urn:microsoft.com/office/officeart/2005/8/layout/radial6"/>
    <dgm:cxn modelId="{84539DAA-6F93-487C-AF4D-1BD576EDDD23}" type="presParOf" srcId="{B550CB93-69A0-48D3-9BF8-AD26F86D3E33}" destId="{A8E21F40-204D-4A3C-BE64-7F023135C116}" srcOrd="5" destOrd="0" presId="urn:microsoft.com/office/officeart/2005/8/layout/radial6"/>
    <dgm:cxn modelId="{57104F38-8690-4999-BEB8-DB9832709ED8}" type="presParOf" srcId="{B550CB93-69A0-48D3-9BF8-AD26F86D3E33}" destId="{7B7AF002-7E5D-4F29-8338-1207216AB737}" srcOrd="6" destOrd="0" presId="urn:microsoft.com/office/officeart/2005/8/layout/radial6"/>
    <dgm:cxn modelId="{90788684-76F3-4134-8707-C5FC2A05C453}" type="presParOf" srcId="{B550CB93-69A0-48D3-9BF8-AD26F86D3E33}" destId="{F6E296C3-BEC6-4F9D-88F8-6343FDEB59F1}" srcOrd="7" destOrd="0" presId="urn:microsoft.com/office/officeart/2005/8/layout/radial6"/>
    <dgm:cxn modelId="{6BCCEF51-81F3-4496-A62D-86311EE8B373}" type="presParOf" srcId="{B550CB93-69A0-48D3-9BF8-AD26F86D3E33}" destId="{E6E41C8F-11D8-4A21-B51E-19A8D5D0F04B}" srcOrd="8" destOrd="0" presId="urn:microsoft.com/office/officeart/2005/8/layout/radial6"/>
    <dgm:cxn modelId="{3B9BC262-F7D7-4D93-AB37-872C845DFB8C}" type="presParOf" srcId="{B550CB93-69A0-48D3-9BF8-AD26F86D3E33}" destId="{4D69149D-0782-44FB-A725-24A23D693254}" srcOrd="9" destOrd="0" presId="urn:microsoft.com/office/officeart/2005/8/layout/radial6"/>
    <dgm:cxn modelId="{2D0CACF5-9D64-403A-844D-B1722FB6707A}" type="presParOf" srcId="{B550CB93-69A0-48D3-9BF8-AD26F86D3E33}" destId="{D400E8E3-E9E0-4FF5-A9B8-C7E91BF99621}" srcOrd="10" destOrd="0" presId="urn:microsoft.com/office/officeart/2005/8/layout/radial6"/>
    <dgm:cxn modelId="{AA818B0A-79AC-4BA2-971C-9F57AC387296}" type="presParOf" srcId="{B550CB93-69A0-48D3-9BF8-AD26F86D3E33}" destId="{D8A53F69-62B6-4D97-AD91-1B5ECCBFB71F}" srcOrd="11" destOrd="0" presId="urn:microsoft.com/office/officeart/2005/8/layout/radial6"/>
    <dgm:cxn modelId="{52A43847-3EED-403A-A48B-87779E97BF00}" type="presParOf" srcId="{B550CB93-69A0-48D3-9BF8-AD26F86D3E33}" destId="{70410869-809B-40D6-BD0D-3289B120DF48}" srcOrd="12" destOrd="0" presId="urn:microsoft.com/office/officeart/2005/8/layout/radial6"/>
  </dgm:cxnLst>
  <dgm:bg>
    <a:noFill/>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37A9D88-E325-4F3E-BD42-3EFD1AF59B6F}" type="doc">
      <dgm:prSet loTypeId="urn:microsoft.com/office/officeart/2005/8/layout/radial6" loCatId="relationship" qsTypeId="urn:microsoft.com/office/officeart/2005/8/quickstyle/simple1" qsCatId="simple" csTypeId="urn:microsoft.com/office/officeart/2005/8/colors/accent1_2" csCatId="accent1" phldr="1"/>
      <dgm:spPr/>
      <dgm:t>
        <a:bodyPr/>
        <a:lstStyle/>
        <a:p>
          <a:endParaRPr lang="en-US"/>
        </a:p>
      </dgm:t>
    </dgm:pt>
    <dgm:pt modelId="{7D74CA68-7E3D-4612-B5B2-FB8B074A5DDC}">
      <dgm:prSet phldrT="[Text]" custT="1"/>
      <dgm:spPr>
        <a:xfrm>
          <a:off x="2147589" y="1681957"/>
          <a:ext cx="1800820" cy="1800820"/>
        </a:xfrm>
        <a:solidFill>
          <a:schemeClr val="accent4">
            <a:lumMod val="40000"/>
            <a:lumOff val="60000"/>
          </a:schemeClr>
        </a:solidFill>
        <a:ln w="19050" cap="flat" cmpd="sng" algn="ctr">
          <a:solidFill>
            <a:sysClr val="window" lastClr="FFFFFF">
              <a:hueOff val="0"/>
              <a:satOff val="0"/>
              <a:lumOff val="0"/>
              <a:alphaOff val="0"/>
            </a:sysClr>
          </a:solidFill>
          <a:prstDash val="solid"/>
        </a:ln>
        <a:effectLst/>
      </dgm:spPr>
      <dgm:t>
        <a:bodyPr/>
        <a:lstStyle/>
        <a:p>
          <a:pPr algn="ctr">
            <a:buNone/>
          </a:pPr>
          <a:r>
            <a:rPr lang="en-US" sz="1500" b="1" dirty="0">
              <a:solidFill>
                <a:schemeClr val="bg1"/>
              </a:solidFill>
              <a:latin typeface="Lato" panose="020F0502020204030203" pitchFamily="34" charset="0"/>
              <a:ea typeface="Lato" panose="020F0502020204030203" pitchFamily="34" charset="0"/>
              <a:cs typeface="Lato" panose="020F0502020204030203" pitchFamily="34" charset="0"/>
            </a:rPr>
            <a:t>Child care</a:t>
          </a:r>
        </a:p>
      </dgm:t>
    </dgm:pt>
    <dgm:pt modelId="{9563477C-675A-45AA-A0EC-A7DF5E3680BA}" type="parTrans" cxnId="{D4BADB92-5697-441F-A767-02C6F1D9A232}">
      <dgm:prSet/>
      <dgm:spPr/>
      <dgm:t>
        <a:bodyPr/>
        <a:lstStyle/>
        <a:p>
          <a:pPr algn="ctr"/>
          <a:endParaRPr lang="en-US" sz="1500">
            <a:latin typeface="Lato" panose="020F0502020204030203" pitchFamily="34" charset="0"/>
            <a:ea typeface="Lato" panose="020F0502020204030203" pitchFamily="34" charset="0"/>
            <a:cs typeface="Lato" panose="020F0502020204030203" pitchFamily="34" charset="0"/>
          </a:endParaRPr>
        </a:p>
      </dgm:t>
    </dgm:pt>
    <dgm:pt modelId="{E28304B3-46D0-448E-BEAD-70CB9145CA7C}" type="sibTrans" cxnId="{D4BADB92-5697-441F-A767-02C6F1D9A232}">
      <dgm:prSet/>
      <dgm:spPr/>
      <dgm:t>
        <a:bodyPr/>
        <a:lstStyle/>
        <a:p>
          <a:pPr algn="ctr"/>
          <a:endParaRPr lang="en-US" sz="1500">
            <a:latin typeface="Lato" panose="020F0502020204030203" pitchFamily="34" charset="0"/>
            <a:ea typeface="Lato" panose="020F0502020204030203" pitchFamily="34" charset="0"/>
            <a:cs typeface="Lato" panose="020F0502020204030203" pitchFamily="34" charset="0"/>
          </a:endParaRPr>
        </a:p>
      </dgm:t>
    </dgm:pt>
    <dgm:pt modelId="{A26E9DD9-CA85-4A88-918C-50B3BE6E2DE1}">
      <dgm:prSet phldrT="[Text]" custT="1"/>
      <dgm:spPr>
        <a:xfrm>
          <a:off x="2340925" y="-36467"/>
          <a:ext cx="1414149" cy="1414149"/>
        </a:xfrm>
        <a:solidFill>
          <a:schemeClr val="accent4"/>
        </a:solidFill>
        <a:ln w="19050" cap="flat" cmpd="sng" algn="ctr">
          <a:solidFill>
            <a:sysClr val="window" lastClr="FFFFFF">
              <a:hueOff val="0"/>
              <a:satOff val="0"/>
              <a:lumOff val="0"/>
              <a:alphaOff val="0"/>
            </a:sysClr>
          </a:solidFill>
          <a:prstDash val="solid"/>
        </a:ln>
        <a:effectLst/>
      </dgm:spPr>
      <dgm:t>
        <a:bodyPr/>
        <a:lstStyle/>
        <a:p>
          <a:pPr algn="ctr">
            <a:buNone/>
          </a:pPr>
          <a:r>
            <a:rPr lang="en-US" sz="1500" dirty="0">
              <a:solidFill>
                <a:schemeClr val="bg1"/>
              </a:solidFill>
              <a:latin typeface="Lato" panose="020F0502020204030203" pitchFamily="34" charset="0"/>
              <a:ea typeface="Lato" panose="020F0502020204030203" pitchFamily="34" charset="0"/>
              <a:cs typeface="Lato" panose="020F0502020204030203" pitchFamily="34" charset="0"/>
            </a:rPr>
            <a:t>Extended,  weekend,  non-traditional</a:t>
          </a:r>
        </a:p>
      </dgm:t>
    </dgm:pt>
    <dgm:pt modelId="{D65523C3-EC0D-4611-8454-F0FBE22CBADF}" type="parTrans" cxnId="{A88E1B92-8BAA-4F65-9101-1620E06F8642}">
      <dgm:prSet/>
      <dgm:spPr/>
      <dgm:t>
        <a:bodyPr/>
        <a:lstStyle/>
        <a:p>
          <a:pPr algn="ctr"/>
          <a:endParaRPr lang="en-US" sz="1500">
            <a:latin typeface="Lato" panose="020F0502020204030203" pitchFamily="34" charset="0"/>
            <a:ea typeface="Lato" panose="020F0502020204030203" pitchFamily="34" charset="0"/>
            <a:cs typeface="Lato" panose="020F0502020204030203" pitchFamily="34" charset="0"/>
          </a:endParaRPr>
        </a:p>
      </dgm:t>
    </dgm:pt>
    <dgm:pt modelId="{2A810D21-D3F2-41B6-A241-52A127C01A0A}" type="sibTrans" cxnId="{A88E1B92-8BAA-4F65-9101-1620E06F8642}">
      <dgm:prSet/>
      <dgm:spPr>
        <a:xfrm>
          <a:off x="1090859" y="625227"/>
          <a:ext cx="3914280" cy="3914280"/>
        </a:xfrm>
        <a:solidFill>
          <a:schemeClr val="bg1">
            <a:lumMod val="85000"/>
          </a:schemeClr>
        </a:solidFill>
        <a:ln>
          <a:noFill/>
        </a:ln>
        <a:effectLst/>
      </dgm:spPr>
      <dgm:t>
        <a:bodyPr/>
        <a:lstStyle/>
        <a:p>
          <a:pPr algn="ctr"/>
          <a:endParaRPr lang="en-US" sz="1500">
            <a:latin typeface="Lato" panose="020F0502020204030203" pitchFamily="34" charset="0"/>
            <a:ea typeface="Lato" panose="020F0502020204030203" pitchFamily="34" charset="0"/>
            <a:cs typeface="Lato" panose="020F0502020204030203" pitchFamily="34" charset="0"/>
          </a:endParaRPr>
        </a:p>
      </dgm:t>
    </dgm:pt>
    <dgm:pt modelId="{F107A9D9-8448-4A55-B1D1-AB7F1E9B4C2B}">
      <dgm:prSet phldrT="[Text]" custT="1"/>
      <dgm:spPr>
        <a:xfrm>
          <a:off x="685292" y="2831171"/>
          <a:ext cx="1414149" cy="1414149"/>
        </a:xfrm>
        <a:solidFill>
          <a:schemeClr val="accent4"/>
        </a:solidFill>
        <a:ln w="19050" cap="flat" cmpd="sng" algn="ctr">
          <a:solidFill>
            <a:sysClr val="window" lastClr="FFFFFF">
              <a:hueOff val="0"/>
              <a:satOff val="0"/>
              <a:lumOff val="0"/>
              <a:alphaOff val="0"/>
            </a:sysClr>
          </a:solidFill>
          <a:prstDash val="solid"/>
        </a:ln>
        <a:effectLst/>
      </dgm:spPr>
      <dgm:t>
        <a:bodyPr/>
        <a:lstStyle/>
        <a:p>
          <a:pPr algn="ctr">
            <a:buNone/>
          </a:pPr>
          <a:r>
            <a:rPr lang="en-US" sz="1500" dirty="0" err="1">
              <a:solidFill>
                <a:schemeClr val="bg1"/>
              </a:solidFill>
              <a:latin typeface="Lato" panose="020F0502020204030203" pitchFamily="34" charset="0"/>
              <a:ea typeface="Lato" panose="020F0502020204030203" pitchFamily="34" charset="0"/>
              <a:cs typeface="Lato" panose="020F0502020204030203" pitchFamily="34" charset="0"/>
            </a:rPr>
            <a:t>CCDF</a:t>
          </a:r>
          <a:r>
            <a:rPr lang="en-US" sz="1500" dirty="0">
              <a:solidFill>
                <a:schemeClr val="bg1"/>
              </a:solidFill>
              <a:latin typeface="Lato" panose="020F0502020204030203" pitchFamily="34" charset="0"/>
              <a:ea typeface="Lato" panose="020F0502020204030203" pitchFamily="34" charset="0"/>
              <a:cs typeface="Lato" panose="020F0502020204030203" pitchFamily="34" charset="0"/>
            </a:rPr>
            <a:t> covers education support activities</a:t>
          </a:r>
        </a:p>
      </dgm:t>
    </dgm:pt>
    <dgm:pt modelId="{098784FA-FD9D-4D7A-8FB6-57E8688301CF}" type="parTrans" cxnId="{30A4A675-2843-4D43-B23F-83ED8B69DC80}">
      <dgm:prSet/>
      <dgm:spPr/>
      <dgm:t>
        <a:bodyPr/>
        <a:lstStyle/>
        <a:p>
          <a:pPr algn="ctr"/>
          <a:endParaRPr lang="en-US" sz="1500">
            <a:latin typeface="Lato" panose="020F0502020204030203" pitchFamily="34" charset="0"/>
            <a:ea typeface="Lato" panose="020F0502020204030203" pitchFamily="34" charset="0"/>
            <a:cs typeface="Lato" panose="020F0502020204030203" pitchFamily="34" charset="0"/>
          </a:endParaRPr>
        </a:p>
      </dgm:t>
    </dgm:pt>
    <dgm:pt modelId="{CAEB7C71-A837-45B4-BA2B-BC0A063A7C2E}" type="sibTrans" cxnId="{30A4A675-2843-4D43-B23F-83ED8B69DC80}">
      <dgm:prSet/>
      <dgm:spPr>
        <a:xfrm>
          <a:off x="1090859" y="625227"/>
          <a:ext cx="3914280" cy="3914280"/>
        </a:xfrm>
        <a:solidFill>
          <a:schemeClr val="bg1">
            <a:lumMod val="85000"/>
          </a:schemeClr>
        </a:solidFill>
        <a:ln>
          <a:noFill/>
        </a:ln>
        <a:effectLst/>
      </dgm:spPr>
      <dgm:t>
        <a:bodyPr/>
        <a:lstStyle/>
        <a:p>
          <a:pPr algn="ctr"/>
          <a:endParaRPr lang="en-US" sz="1500">
            <a:latin typeface="Lato" panose="020F0502020204030203" pitchFamily="34" charset="0"/>
            <a:ea typeface="Lato" panose="020F0502020204030203" pitchFamily="34" charset="0"/>
            <a:cs typeface="Lato" panose="020F0502020204030203" pitchFamily="34" charset="0"/>
          </a:endParaRPr>
        </a:p>
      </dgm:t>
    </dgm:pt>
    <dgm:pt modelId="{20D13228-4ED9-4C59-87B1-AB040A4DB9A5}">
      <dgm:prSet custT="1"/>
      <dgm:spPr>
        <a:xfrm>
          <a:off x="3996557" y="2831171"/>
          <a:ext cx="1414149" cy="1414149"/>
        </a:xfrm>
        <a:solidFill>
          <a:schemeClr val="accent4"/>
        </a:solidFill>
        <a:ln w="19050" cap="flat" cmpd="sng" algn="ctr">
          <a:solidFill>
            <a:sysClr val="window" lastClr="FFFFFF">
              <a:hueOff val="0"/>
              <a:satOff val="0"/>
              <a:lumOff val="0"/>
              <a:alphaOff val="0"/>
            </a:sysClr>
          </a:solidFill>
          <a:prstDash val="solid"/>
        </a:ln>
        <a:effectLst/>
      </dgm:spPr>
      <dgm:t>
        <a:bodyPr/>
        <a:lstStyle/>
        <a:p>
          <a:pPr algn="ctr">
            <a:buNone/>
          </a:pPr>
          <a:r>
            <a:rPr lang="en-US" sz="1500" dirty="0">
              <a:solidFill>
                <a:schemeClr val="bg1"/>
              </a:solidFill>
              <a:latin typeface="Lato" panose="020F0502020204030203" pitchFamily="34" charset="0"/>
              <a:ea typeface="Lato" panose="020F0502020204030203" pitchFamily="34" charset="0"/>
              <a:cs typeface="Lato" panose="020F0502020204030203" pitchFamily="34" charset="0"/>
            </a:rPr>
            <a:t>Expand on-campus child care</a:t>
          </a:r>
        </a:p>
      </dgm:t>
    </dgm:pt>
    <dgm:pt modelId="{DFED0461-BAA2-43A0-AA7F-90DECA28DF3D}" type="parTrans" cxnId="{17D128C0-EB02-4B87-B8D7-924221D11F14}">
      <dgm:prSet/>
      <dgm:spPr/>
      <dgm:t>
        <a:bodyPr/>
        <a:lstStyle/>
        <a:p>
          <a:pPr algn="ctr"/>
          <a:endParaRPr lang="en-US" sz="1500">
            <a:latin typeface="Lato" panose="020F0502020204030203" pitchFamily="34" charset="0"/>
            <a:ea typeface="Lato" panose="020F0502020204030203" pitchFamily="34" charset="0"/>
            <a:cs typeface="Lato" panose="020F0502020204030203" pitchFamily="34" charset="0"/>
          </a:endParaRPr>
        </a:p>
      </dgm:t>
    </dgm:pt>
    <dgm:pt modelId="{291D18FF-23FC-4592-9B52-57D0A5697561}" type="sibTrans" cxnId="{17D128C0-EB02-4B87-B8D7-924221D11F14}">
      <dgm:prSet/>
      <dgm:spPr>
        <a:xfrm>
          <a:off x="1090859" y="625227"/>
          <a:ext cx="3914280" cy="3914280"/>
        </a:xfrm>
        <a:solidFill>
          <a:schemeClr val="bg1">
            <a:lumMod val="85000"/>
          </a:schemeClr>
        </a:solidFill>
        <a:ln>
          <a:noFill/>
        </a:ln>
        <a:effectLst/>
      </dgm:spPr>
      <dgm:t>
        <a:bodyPr/>
        <a:lstStyle/>
        <a:p>
          <a:pPr algn="ctr"/>
          <a:endParaRPr lang="en-US" sz="1500">
            <a:latin typeface="Lato" panose="020F0502020204030203" pitchFamily="34" charset="0"/>
            <a:ea typeface="Lato" panose="020F0502020204030203" pitchFamily="34" charset="0"/>
            <a:cs typeface="Lato" panose="020F0502020204030203" pitchFamily="34" charset="0"/>
          </a:endParaRPr>
        </a:p>
      </dgm:t>
    </dgm:pt>
    <dgm:pt modelId="{FA80B791-AF16-4C85-8247-92AA11C68082}">
      <dgm:prSet custT="1"/>
      <dgm:spPr>
        <a:solidFill>
          <a:schemeClr val="accent4"/>
        </a:solidFill>
      </dgm:spPr>
      <dgm:t>
        <a:bodyPr/>
        <a:lstStyle/>
        <a:p>
          <a:r>
            <a:rPr lang="en-US" sz="1500">
              <a:solidFill>
                <a:schemeClr val="bg1"/>
              </a:solidFill>
              <a:latin typeface="Lato" panose="020F0502020204030203" pitchFamily="34" charset="0"/>
              <a:ea typeface="Lato" panose="020F0502020204030203" pitchFamily="34" charset="0"/>
              <a:cs typeface="Lato" panose="020F0502020204030203" pitchFamily="34" charset="0"/>
            </a:rPr>
            <a:t>More subsidies &amp; providers</a:t>
          </a:r>
        </a:p>
      </dgm:t>
    </dgm:pt>
    <dgm:pt modelId="{EADB3128-970A-460A-AF9C-05A9D75032C1}" type="parTrans" cxnId="{B7D8DC93-20A1-4714-87F4-203D10E28298}">
      <dgm:prSet/>
      <dgm:spPr/>
      <dgm:t>
        <a:bodyPr/>
        <a:lstStyle/>
        <a:p>
          <a:endParaRPr lang="en-US" sz="1500"/>
        </a:p>
      </dgm:t>
    </dgm:pt>
    <dgm:pt modelId="{921EDAFC-C747-438F-B13D-ED317C0D09F8}" type="sibTrans" cxnId="{B7D8DC93-20A1-4714-87F4-203D10E28298}">
      <dgm:prSet/>
      <dgm:spPr>
        <a:solidFill>
          <a:schemeClr val="bg1">
            <a:lumMod val="85000"/>
          </a:schemeClr>
        </a:solidFill>
      </dgm:spPr>
      <dgm:t>
        <a:bodyPr/>
        <a:lstStyle/>
        <a:p>
          <a:endParaRPr lang="en-US" sz="1500"/>
        </a:p>
      </dgm:t>
    </dgm:pt>
    <dgm:pt modelId="{4A798E45-1F17-4EF3-BEF8-A3BF2064AAAC}">
      <dgm:prSet custT="1"/>
      <dgm:spPr>
        <a:solidFill>
          <a:schemeClr val="accent4"/>
        </a:solidFill>
      </dgm:spPr>
      <dgm:t>
        <a:bodyPr/>
        <a:lstStyle/>
        <a:p>
          <a:r>
            <a:rPr lang="en-US" sz="1500">
              <a:solidFill>
                <a:schemeClr val="bg1"/>
              </a:solidFill>
              <a:latin typeface="Lato" panose="020F0502020204030203" pitchFamily="34" charset="0"/>
              <a:ea typeface="Lato" panose="020F0502020204030203" pitchFamily="34" charset="0"/>
              <a:cs typeface="Lato" panose="020F0502020204030203" pitchFamily="34" charset="0"/>
            </a:rPr>
            <a:t>Include cost of care in financial aid</a:t>
          </a:r>
        </a:p>
      </dgm:t>
    </dgm:pt>
    <dgm:pt modelId="{E30C0244-6572-439E-B99A-9076DC066B34}" type="parTrans" cxnId="{7214AED4-D039-4B5D-A1BC-2B285C44ED95}">
      <dgm:prSet/>
      <dgm:spPr/>
      <dgm:t>
        <a:bodyPr/>
        <a:lstStyle/>
        <a:p>
          <a:endParaRPr lang="en-US" sz="1500"/>
        </a:p>
      </dgm:t>
    </dgm:pt>
    <dgm:pt modelId="{CB6A416E-4EFC-43A7-8622-25B175B7C30E}" type="sibTrans" cxnId="{7214AED4-D039-4B5D-A1BC-2B285C44ED95}">
      <dgm:prSet/>
      <dgm:spPr/>
      <dgm:t>
        <a:bodyPr/>
        <a:lstStyle/>
        <a:p>
          <a:endParaRPr lang="en-US" sz="1500"/>
        </a:p>
      </dgm:t>
    </dgm:pt>
    <dgm:pt modelId="{B550CB93-69A0-48D3-9BF8-AD26F86D3E33}" type="pres">
      <dgm:prSet presAssocID="{B37A9D88-E325-4F3E-BD42-3EFD1AF59B6F}" presName="Name0" presStyleCnt="0">
        <dgm:presLayoutVars>
          <dgm:chMax val="1"/>
          <dgm:dir/>
          <dgm:animLvl val="ctr"/>
          <dgm:resizeHandles val="exact"/>
        </dgm:presLayoutVars>
      </dgm:prSet>
      <dgm:spPr/>
    </dgm:pt>
    <dgm:pt modelId="{C5416163-F3CD-430C-BBCB-FACE4C9B5A80}" type="pres">
      <dgm:prSet presAssocID="{7D74CA68-7E3D-4612-B5B2-FB8B074A5DDC}" presName="centerShape" presStyleLbl="node0" presStyleIdx="0" presStyleCnt="1"/>
      <dgm:spPr>
        <a:prstGeom prst="ellipse">
          <a:avLst/>
        </a:prstGeom>
      </dgm:spPr>
    </dgm:pt>
    <dgm:pt modelId="{13B484CE-D57B-474C-A8C9-0F9B585CA903}" type="pres">
      <dgm:prSet presAssocID="{FA80B791-AF16-4C85-8247-92AA11C68082}" presName="node" presStyleLbl="node1" presStyleIdx="0" presStyleCnt="5" custScaleX="112837" custScaleY="112837">
        <dgm:presLayoutVars>
          <dgm:bulletEnabled val="1"/>
        </dgm:presLayoutVars>
      </dgm:prSet>
      <dgm:spPr/>
    </dgm:pt>
    <dgm:pt modelId="{A0323273-3031-48C8-9328-074583E3C587}" type="pres">
      <dgm:prSet presAssocID="{FA80B791-AF16-4C85-8247-92AA11C68082}" presName="dummy" presStyleCnt="0"/>
      <dgm:spPr/>
    </dgm:pt>
    <dgm:pt modelId="{B5967ED8-EBE0-4EA8-80B7-1F038C46EE48}" type="pres">
      <dgm:prSet presAssocID="{921EDAFC-C747-438F-B13D-ED317C0D09F8}" presName="sibTrans" presStyleLbl="sibTrans2D1" presStyleIdx="0" presStyleCnt="5"/>
      <dgm:spPr/>
    </dgm:pt>
    <dgm:pt modelId="{3FAC53DB-55E3-4175-925E-160697F46275}" type="pres">
      <dgm:prSet presAssocID="{A26E9DD9-CA85-4A88-918C-50B3BE6E2DE1}" presName="node" presStyleLbl="node1" presStyleIdx="1" presStyleCnt="5" custScaleX="112183" custScaleY="112183">
        <dgm:presLayoutVars>
          <dgm:bulletEnabled val="1"/>
        </dgm:presLayoutVars>
      </dgm:prSet>
      <dgm:spPr>
        <a:prstGeom prst="ellipse">
          <a:avLst/>
        </a:prstGeom>
      </dgm:spPr>
    </dgm:pt>
    <dgm:pt modelId="{475333C2-A03E-422E-9992-518CA7290D0B}" type="pres">
      <dgm:prSet presAssocID="{A26E9DD9-CA85-4A88-918C-50B3BE6E2DE1}" presName="dummy" presStyleCnt="0"/>
      <dgm:spPr/>
    </dgm:pt>
    <dgm:pt modelId="{9B3DA2CE-DFA5-43DA-AC78-EABB1E93AFB8}" type="pres">
      <dgm:prSet presAssocID="{2A810D21-D3F2-41B6-A241-52A127C01A0A}" presName="sibTrans" presStyleLbl="sibTrans2D1" presStyleIdx="1" presStyleCnt="5"/>
      <dgm:spPr>
        <a:prstGeom prst="blockArc">
          <a:avLst>
            <a:gd name="adj1" fmla="val 16200000"/>
            <a:gd name="adj2" fmla="val 1800000"/>
            <a:gd name="adj3" fmla="val 4637"/>
          </a:avLst>
        </a:prstGeom>
      </dgm:spPr>
    </dgm:pt>
    <dgm:pt modelId="{9B2720D3-AA12-4792-B6D3-74CBB39C61FE}" type="pres">
      <dgm:prSet presAssocID="{20D13228-4ED9-4C59-87B1-AB040A4DB9A5}" presName="node" presStyleLbl="node1" presStyleIdx="2" presStyleCnt="5" custScaleX="112183" custScaleY="112183">
        <dgm:presLayoutVars>
          <dgm:bulletEnabled val="1"/>
        </dgm:presLayoutVars>
      </dgm:prSet>
      <dgm:spPr>
        <a:prstGeom prst="ellipse">
          <a:avLst/>
        </a:prstGeom>
      </dgm:spPr>
    </dgm:pt>
    <dgm:pt modelId="{B4698219-E8E5-4265-8011-3CB0D74249AA}" type="pres">
      <dgm:prSet presAssocID="{20D13228-4ED9-4C59-87B1-AB040A4DB9A5}" presName="dummy" presStyleCnt="0"/>
      <dgm:spPr/>
    </dgm:pt>
    <dgm:pt modelId="{E418E2D4-5A74-44D5-ADD1-C9BECB51FC31}" type="pres">
      <dgm:prSet presAssocID="{291D18FF-23FC-4592-9B52-57D0A5697561}" presName="sibTrans" presStyleLbl="sibTrans2D1" presStyleIdx="2" presStyleCnt="5"/>
      <dgm:spPr>
        <a:prstGeom prst="blockArc">
          <a:avLst>
            <a:gd name="adj1" fmla="val 1800000"/>
            <a:gd name="adj2" fmla="val 9000000"/>
            <a:gd name="adj3" fmla="val 4637"/>
          </a:avLst>
        </a:prstGeom>
      </dgm:spPr>
    </dgm:pt>
    <dgm:pt modelId="{06C6020A-63E3-4B8A-84DA-72D4B33358F0}" type="pres">
      <dgm:prSet presAssocID="{F107A9D9-8448-4A55-B1D1-AB7F1E9B4C2B}" presName="node" presStyleLbl="node1" presStyleIdx="3" presStyleCnt="5" custScaleX="112183" custScaleY="112183">
        <dgm:presLayoutVars>
          <dgm:bulletEnabled val="1"/>
        </dgm:presLayoutVars>
      </dgm:prSet>
      <dgm:spPr>
        <a:prstGeom prst="ellipse">
          <a:avLst/>
        </a:prstGeom>
      </dgm:spPr>
    </dgm:pt>
    <dgm:pt modelId="{A8E21F40-204D-4A3C-BE64-7F023135C116}" type="pres">
      <dgm:prSet presAssocID="{F107A9D9-8448-4A55-B1D1-AB7F1E9B4C2B}" presName="dummy" presStyleCnt="0"/>
      <dgm:spPr/>
    </dgm:pt>
    <dgm:pt modelId="{7B7AF002-7E5D-4F29-8338-1207216AB737}" type="pres">
      <dgm:prSet presAssocID="{CAEB7C71-A837-45B4-BA2B-BC0A063A7C2E}" presName="sibTrans" presStyleLbl="sibTrans2D1" presStyleIdx="3" presStyleCnt="5"/>
      <dgm:spPr>
        <a:prstGeom prst="blockArc">
          <a:avLst>
            <a:gd name="adj1" fmla="val 9000000"/>
            <a:gd name="adj2" fmla="val 16200000"/>
            <a:gd name="adj3" fmla="val 4637"/>
          </a:avLst>
        </a:prstGeom>
      </dgm:spPr>
    </dgm:pt>
    <dgm:pt modelId="{E043BB89-BB66-4E3C-B7A7-7880B14FD817}" type="pres">
      <dgm:prSet presAssocID="{4A798E45-1F17-4EF3-BEF8-A3BF2064AAAC}" presName="node" presStyleLbl="node1" presStyleIdx="4" presStyleCnt="5" custScaleX="112837" custScaleY="112837">
        <dgm:presLayoutVars>
          <dgm:bulletEnabled val="1"/>
        </dgm:presLayoutVars>
      </dgm:prSet>
      <dgm:spPr/>
    </dgm:pt>
    <dgm:pt modelId="{6D1F899A-2BD4-4FED-87BA-181DA3E001EF}" type="pres">
      <dgm:prSet presAssocID="{4A798E45-1F17-4EF3-BEF8-A3BF2064AAAC}" presName="dummy" presStyleCnt="0"/>
      <dgm:spPr/>
    </dgm:pt>
    <dgm:pt modelId="{DDBA8A65-99C8-4433-98AA-E94BCFA03F48}" type="pres">
      <dgm:prSet presAssocID="{CB6A416E-4EFC-43A7-8622-25B175B7C30E}" presName="sibTrans" presStyleLbl="sibTrans2D1" presStyleIdx="4" presStyleCnt="5"/>
      <dgm:spPr/>
    </dgm:pt>
  </dgm:ptLst>
  <dgm:cxnLst>
    <dgm:cxn modelId="{B14FBD05-503F-47F2-BFC1-7F4DBF309D26}" type="presOf" srcId="{921EDAFC-C747-438F-B13D-ED317C0D09F8}" destId="{B5967ED8-EBE0-4EA8-80B7-1F038C46EE48}" srcOrd="0" destOrd="0" presId="urn:microsoft.com/office/officeart/2005/8/layout/radial6"/>
    <dgm:cxn modelId="{2EF4191C-9E28-464A-A3E2-76209D9F82E6}" type="presOf" srcId="{7D74CA68-7E3D-4612-B5B2-FB8B074A5DDC}" destId="{C5416163-F3CD-430C-BBCB-FACE4C9B5A80}" srcOrd="0" destOrd="0" presId="urn:microsoft.com/office/officeart/2005/8/layout/radial6"/>
    <dgm:cxn modelId="{8A38871D-4152-4F28-BAB2-E3CE07E9CDFB}" type="presOf" srcId="{B37A9D88-E325-4F3E-BD42-3EFD1AF59B6F}" destId="{B550CB93-69A0-48D3-9BF8-AD26F86D3E33}" srcOrd="0" destOrd="0" presId="urn:microsoft.com/office/officeart/2005/8/layout/radial6"/>
    <dgm:cxn modelId="{7EBA782E-97B6-4502-B986-49F7577E0B1B}" type="presOf" srcId="{CAEB7C71-A837-45B4-BA2B-BC0A063A7C2E}" destId="{7B7AF002-7E5D-4F29-8338-1207216AB737}" srcOrd="0" destOrd="0" presId="urn:microsoft.com/office/officeart/2005/8/layout/radial6"/>
    <dgm:cxn modelId="{B212F761-4737-481A-8755-9711E889ADE2}" type="presOf" srcId="{4A798E45-1F17-4EF3-BEF8-A3BF2064AAAC}" destId="{E043BB89-BB66-4E3C-B7A7-7880B14FD817}" srcOrd="0" destOrd="0" presId="urn:microsoft.com/office/officeart/2005/8/layout/radial6"/>
    <dgm:cxn modelId="{30A4A675-2843-4D43-B23F-83ED8B69DC80}" srcId="{7D74CA68-7E3D-4612-B5B2-FB8B074A5DDC}" destId="{F107A9D9-8448-4A55-B1D1-AB7F1E9B4C2B}" srcOrd="3" destOrd="0" parTransId="{098784FA-FD9D-4D7A-8FB6-57E8688301CF}" sibTransId="{CAEB7C71-A837-45B4-BA2B-BC0A063A7C2E}"/>
    <dgm:cxn modelId="{1275B982-F840-4C7D-98B8-6417FB3C44BB}" type="presOf" srcId="{FA80B791-AF16-4C85-8247-92AA11C68082}" destId="{13B484CE-D57B-474C-A8C9-0F9B585CA903}" srcOrd="0" destOrd="0" presId="urn:microsoft.com/office/officeart/2005/8/layout/radial6"/>
    <dgm:cxn modelId="{A88E1B92-8BAA-4F65-9101-1620E06F8642}" srcId="{7D74CA68-7E3D-4612-B5B2-FB8B074A5DDC}" destId="{A26E9DD9-CA85-4A88-918C-50B3BE6E2DE1}" srcOrd="1" destOrd="0" parTransId="{D65523C3-EC0D-4611-8454-F0FBE22CBADF}" sibTransId="{2A810D21-D3F2-41B6-A241-52A127C01A0A}"/>
    <dgm:cxn modelId="{D4BADB92-5697-441F-A767-02C6F1D9A232}" srcId="{B37A9D88-E325-4F3E-BD42-3EFD1AF59B6F}" destId="{7D74CA68-7E3D-4612-B5B2-FB8B074A5DDC}" srcOrd="0" destOrd="0" parTransId="{9563477C-675A-45AA-A0EC-A7DF5E3680BA}" sibTransId="{E28304B3-46D0-448E-BEAD-70CB9145CA7C}"/>
    <dgm:cxn modelId="{B7D8DC93-20A1-4714-87F4-203D10E28298}" srcId="{7D74CA68-7E3D-4612-B5B2-FB8B074A5DDC}" destId="{FA80B791-AF16-4C85-8247-92AA11C68082}" srcOrd="0" destOrd="0" parTransId="{EADB3128-970A-460A-AF9C-05A9D75032C1}" sibTransId="{921EDAFC-C747-438F-B13D-ED317C0D09F8}"/>
    <dgm:cxn modelId="{79ACBAA7-19AD-49BA-B738-BE88FAF94D54}" type="presOf" srcId="{2A810D21-D3F2-41B6-A241-52A127C01A0A}" destId="{9B3DA2CE-DFA5-43DA-AC78-EABB1E93AFB8}" srcOrd="0" destOrd="0" presId="urn:microsoft.com/office/officeart/2005/8/layout/radial6"/>
    <dgm:cxn modelId="{48AEB1AE-D087-4194-A9F7-6740C8DCE2CD}" type="presOf" srcId="{291D18FF-23FC-4592-9B52-57D0A5697561}" destId="{E418E2D4-5A74-44D5-ADD1-C9BECB51FC31}" srcOrd="0" destOrd="0" presId="urn:microsoft.com/office/officeart/2005/8/layout/radial6"/>
    <dgm:cxn modelId="{59B0A8B0-839A-4A27-A717-F6D6EAD2C62A}" type="presOf" srcId="{A26E9DD9-CA85-4A88-918C-50B3BE6E2DE1}" destId="{3FAC53DB-55E3-4175-925E-160697F46275}" srcOrd="0" destOrd="0" presId="urn:microsoft.com/office/officeart/2005/8/layout/radial6"/>
    <dgm:cxn modelId="{17D128C0-EB02-4B87-B8D7-924221D11F14}" srcId="{7D74CA68-7E3D-4612-B5B2-FB8B074A5DDC}" destId="{20D13228-4ED9-4C59-87B1-AB040A4DB9A5}" srcOrd="2" destOrd="0" parTransId="{DFED0461-BAA2-43A0-AA7F-90DECA28DF3D}" sibTransId="{291D18FF-23FC-4592-9B52-57D0A5697561}"/>
    <dgm:cxn modelId="{4ECA86C7-0749-4C42-A38B-10991C49BDEE}" type="presOf" srcId="{CB6A416E-4EFC-43A7-8622-25B175B7C30E}" destId="{DDBA8A65-99C8-4433-98AA-E94BCFA03F48}" srcOrd="0" destOrd="0" presId="urn:microsoft.com/office/officeart/2005/8/layout/radial6"/>
    <dgm:cxn modelId="{6E0B88CE-49FA-4ACA-B306-E18B03BBBF36}" type="presOf" srcId="{20D13228-4ED9-4C59-87B1-AB040A4DB9A5}" destId="{9B2720D3-AA12-4792-B6D3-74CBB39C61FE}" srcOrd="0" destOrd="0" presId="urn:microsoft.com/office/officeart/2005/8/layout/radial6"/>
    <dgm:cxn modelId="{7214AED4-D039-4B5D-A1BC-2B285C44ED95}" srcId="{7D74CA68-7E3D-4612-B5B2-FB8B074A5DDC}" destId="{4A798E45-1F17-4EF3-BEF8-A3BF2064AAAC}" srcOrd="4" destOrd="0" parTransId="{E30C0244-6572-439E-B99A-9076DC066B34}" sibTransId="{CB6A416E-4EFC-43A7-8622-25B175B7C30E}"/>
    <dgm:cxn modelId="{4F8029F1-0D84-48A2-848A-47BFEC501A42}" type="presOf" srcId="{F107A9D9-8448-4A55-B1D1-AB7F1E9B4C2B}" destId="{06C6020A-63E3-4B8A-84DA-72D4B33358F0}" srcOrd="0" destOrd="0" presId="urn:microsoft.com/office/officeart/2005/8/layout/radial6"/>
    <dgm:cxn modelId="{AC7278DE-836C-4891-9778-5AE57797CA3C}" type="presParOf" srcId="{B550CB93-69A0-48D3-9BF8-AD26F86D3E33}" destId="{C5416163-F3CD-430C-BBCB-FACE4C9B5A80}" srcOrd="0" destOrd="0" presId="urn:microsoft.com/office/officeart/2005/8/layout/radial6"/>
    <dgm:cxn modelId="{65B5EDF9-2640-4D2F-A5B5-B5750FCC3242}" type="presParOf" srcId="{B550CB93-69A0-48D3-9BF8-AD26F86D3E33}" destId="{13B484CE-D57B-474C-A8C9-0F9B585CA903}" srcOrd="1" destOrd="0" presId="urn:microsoft.com/office/officeart/2005/8/layout/radial6"/>
    <dgm:cxn modelId="{1396FCB0-5382-4925-9364-EA9E5AE33973}" type="presParOf" srcId="{B550CB93-69A0-48D3-9BF8-AD26F86D3E33}" destId="{A0323273-3031-48C8-9328-074583E3C587}" srcOrd="2" destOrd="0" presId="urn:microsoft.com/office/officeart/2005/8/layout/radial6"/>
    <dgm:cxn modelId="{201DA261-7769-4B6D-81FA-A62BCA070C0F}" type="presParOf" srcId="{B550CB93-69A0-48D3-9BF8-AD26F86D3E33}" destId="{B5967ED8-EBE0-4EA8-80B7-1F038C46EE48}" srcOrd="3" destOrd="0" presId="urn:microsoft.com/office/officeart/2005/8/layout/radial6"/>
    <dgm:cxn modelId="{2745E789-A7BF-40D4-8F35-257E4EA8D4E8}" type="presParOf" srcId="{B550CB93-69A0-48D3-9BF8-AD26F86D3E33}" destId="{3FAC53DB-55E3-4175-925E-160697F46275}" srcOrd="4" destOrd="0" presId="urn:microsoft.com/office/officeart/2005/8/layout/radial6"/>
    <dgm:cxn modelId="{7FFE8727-1029-4360-A652-A5D123871B30}" type="presParOf" srcId="{B550CB93-69A0-48D3-9BF8-AD26F86D3E33}" destId="{475333C2-A03E-422E-9992-518CA7290D0B}" srcOrd="5" destOrd="0" presId="urn:microsoft.com/office/officeart/2005/8/layout/radial6"/>
    <dgm:cxn modelId="{631A7F35-A005-4F49-8C0D-EAB6663087EB}" type="presParOf" srcId="{B550CB93-69A0-48D3-9BF8-AD26F86D3E33}" destId="{9B3DA2CE-DFA5-43DA-AC78-EABB1E93AFB8}" srcOrd="6" destOrd="0" presId="urn:microsoft.com/office/officeart/2005/8/layout/radial6"/>
    <dgm:cxn modelId="{9A80E701-6B6F-4F7E-8B42-974A13AA1280}" type="presParOf" srcId="{B550CB93-69A0-48D3-9BF8-AD26F86D3E33}" destId="{9B2720D3-AA12-4792-B6D3-74CBB39C61FE}" srcOrd="7" destOrd="0" presId="urn:microsoft.com/office/officeart/2005/8/layout/radial6"/>
    <dgm:cxn modelId="{D2273D3A-916E-4713-978B-0A6310759EDB}" type="presParOf" srcId="{B550CB93-69A0-48D3-9BF8-AD26F86D3E33}" destId="{B4698219-E8E5-4265-8011-3CB0D74249AA}" srcOrd="8" destOrd="0" presId="urn:microsoft.com/office/officeart/2005/8/layout/radial6"/>
    <dgm:cxn modelId="{55665A76-5357-477A-84FB-DC21DC5439A6}" type="presParOf" srcId="{B550CB93-69A0-48D3-9BF8-AD26F86D3E33}" destId="{E418E2D4-5A74-44D5-ADD1-C9BECB51FC31}" srcOrd="9" destOrd="0" presId="urn:microsoft.com/office/officeart/2005/8/layout/radial6"/>
    <dgm:cxn modelId="{6B5DFE37-7F44-4DF5-8A56-9BF64780A29A}" type="presParOf" srcId="{B550CB93-69A0-48D3-9BF8-AD26F86D3E33}" destId="{06C6020A-63E3-4B8A-84DA-72D4B33358F0}" srcOrd="10" destOrd="0" presId="urn:microsoft.com/office/officeart/2005/8/layout/radial6"/>
    <dgm:cxn modelId="{F82E9D1C-DED3-4C11-9885-EEF78870D4D5}" type="presParOf" srcId="{B550CB93-69A0-48D3-9BF8-AD26F86D3E33}" destId="{A8E21F40-204D-4A3C-BE64-7F023135C116}" srcOrd="11" destOrd="0" presId="urn:microsoft.com/office/officeart/2005/8/layout/radial6"/>
    <dgm:cxn modelId="{0FE018DC-0EB3-439D-BC83-86A1188AAD42}" type="presParOf" srcId="{B550CB93-69A0-48D3-9BF8-AD26F86D3E33}" destId="{7B7AF002-7E5D-4F29-8338-1207216AB737}" srcOrd="12" destOrd="0" presId="urn:microsoft.com/office/officeart/2005/8/layout/radial6"/>
    <dgm:cxn modelId="{3CA7812C-3B34-4D0B-A1A6-7C36D51E8F13}" type="presParOf" srcId="{B550CB93-69A0-48D3-9BF8-AD26F86D3E33}" destId="{E043BB89-BB66-4E3C-B7A7-7880B14FD817}" srcOrd="13" destOrd="0" presId="urn:microsoft.com/office/officeart/2005/8/layout/radial6"/>
    <dgm:cxn modelId="{29842F6F-0F33-4DA7-82DA-2EF2620051B6}" type="presParOf" srcId="{B550CB93-69A0-48D3-9BF8-AD26F86D3E33}" destId="{6D1F899A-2BD4-4FED-87BA-181DA3E001EF}" srcOrd="14" destOrd="0" presId="urn:microsoft.com/office/officeart/2005/8/layout/radial6"/>
    <dgm:cxn modelId="{34C8604D-FE14-4E52-9A59-1E1B44434294}" type="presParOf" srcId="{B550CB93-69A0-48D3-9BF8-AD26F86D3E33}" destId="{DDBA8A65-99C8-4433-98AA-E94BCFA03F48}" srcOrd="15" destOrd="0" presId="urn:microsoft.com/office/officeart/2005/8/layout/radial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37A9D88-E325-4F3E-BD42-3EFD1AF59B6F}" type="doc">
      <dgm:prSet loTypeId="urn:microsoft.com/office/officeart/2005/8/layout/radial6" loCatId="relationship" qsTypeId="urn:microsoft.com/office/officeart/2005/8/quickstyle/simple1" qsCatId="simple" csTypeId="urn:microsoft.com/office/officeart/2005/8/colors/accent1_2" csCatId="accent1" phldr="1"/>
      <dgm:spPr/>
      <dgm:t>
        <a:bodyPr/>
        <a:lstStyle/>
        <a:p>
          <a:endParaRPr lang="en-US"/>
        </a:p>
      </dgm:t>
    </dgm:pt>
    <dgm:pt modelId="{7D74CA68-7E3D-4612-B5B2-FB8B074A5DDC}">
      <dgm:prSet phldrT="[Text]" custT="1"/>
      <dgm:spPr>
        <a:xfrm>
          <a:off x="2205632" y="1535072"/>
          <a:ext cx="1684734" cy="1684734"/>
        </a:xfrm>
        <a:prstGeom prst="ellipse">
          <a:avLst/>
        </a:prstGeom>
        <a:solidFill>
          <a:schemeClr val="tx1">
            <a:lumMod val="50000"/>
            <a:lumOff val="50000"/>
          </a:schemeClr>
        </a:solidFill>
        <a:ln w="19050" cap="flat" cmpd="sng" algn="ctr">
          <a:solidFill>
            <a:sysClr val="window" lastClr="FFFFFF">
              <a:hueOff val="0"/>
              <a:satOff val="0"/>
              <a:lumOff val="0"/>
              <a:alphaOff val="0"/>
            </a:sysClr>
          </a:solidFill>
          <a:prstDash val="solid"/>
        </a:ln>
        <a:effectLst/>
      </dgm:spPr>
      <dgm:t>
        <a:bodyPr/>
        <a:lstStyle/>
        <a:p>
          <a:pPr>
            <a:buNone/>
          </a:pPr>
          <a:r>
            <a:rPr lang="en-US" sz="1500" b="1" dirty="0">
              <a:solidFill>
                <a:schemeClr val="bg1"/>
              </a:solidFill>
              <a:latin typeface="Lato" panose="020F0502020204030203" pitchFamily="34" charset="0"/>
              <a:ea typeface="Lato" panose="020F0502020204030203" pitchFamily="34" charset="0"/>
              <a:cs typeface="Lato" panose="020F0502020204030203" pitchFamily="34" charset="0"/>
            </a:rPr>
            <a:t>Financial support</a:t>
          </a:r>
        </a:p>
      </dgm:t>
    </dgm:pt>
    <dgm:pt modelId="{9563477C-675A-45AA-A0EC-A7DF5E3680BA}" type="parTrans" cxnId="{D4BADB92-5697-441F-A767-02C6F1D9A232}">
      <dgm:prSet/>
      <dgm:spPr/>
      <dgm:t>
        <a:bodyPr/>
        <a:lstStyle/>
        <a:p>
          <a:endParaRPr lang="en-US" sz="1500">
            <a:latin typeface="Lato" panose="020F0502020204030203" pitchFamily="34" charset="0"/>
            <a:ea typeface="Lato" panose="020F0502020204030203" pitchFamily="34" charset="0"/>
            <a:cs typeface="Lato" panose="020F0502020204030203" pitchFamily="34" charset="0"/>
          </a:endParaRPr>
        </a:p>
      </dgm:t>
    </dgm:pt>
    <dgm:pt modelId="{E28304B3-46D0-448E-BEAD-70CB9145CA7C}" type="sibTrans" cxnId="{D4BADB92-5697-441F-A767-02C6F1D9A232}">
      <dgm:prSet/>
      <dgm:spPr/>
      <dgm:t>
        <a:bodyPr/>
        <a:lstStyle/>
        <a:p>
          <a:endParaRPr lang="en-US" sz="1500">
            <a:latin typeface="Lato" panose="020F0502020204030203" pitchFamily="34" charset="0"/>
            <a:ea typeface="Lato" panose="020F0502020204030203" pitchFamily="34" charset="0"/>
            <a:cs typeface="Lato" panose="020F0502020204030203" pitchFamily="34" charset="0"/>
          </a:endParaRPr>
        </a:p>
      </dgm:t>
    </dgm:pt>
    <dgm:pt modelId="{A26E9DD9-CA85-4A88-918C-50B3BE6E2DE1}">
      <dgm:prSet phldrT="[Text]" custT="1"/>
      <dgm:spPr>
        <a:xfrm>
          <a:off x="2339338" y="-117561"/>
          <a:ext cx="1417323" cy="1417323"/>
        </a:xfrm>
        <a:prstGeom prst="ellipse">
          <a:avLst/>
        </a:prstGeom>
        <a:solidFill>
          <a:schemeClr val="tx1"/>
        </a:solidFill>
        <a:ln w="19050" cap="flat" cmpd="sng" algn="ctr">
          <a:solidFill>
            <a:sysClr val="window" lastClr="FFFFFF">
              <a:hueOff val="0"/>
              <a:satOff val="0"/>
              <a:lumOff val="0"/>
              <a:alphaOff val="0"/>
            </a:sysClr>
          </a:solidFill>
          <a:prstDash val="solid"/>
        </a:ln>
        <a:effectLst/>
      </dgm:spPr>
      <dgm:t>
        <a:bodyPr/>
        <a:lstStyle/>
        <a:p>
          <a:pPr>
            <a:buNone/>
          </a:pPr>
          <a:r>
            <a:rPr lang="en-US" sz="1500" dirty="0">
              <a:solidFill>
                <a:sysClr val="window" lastClr="FFFFFF"/>
              </a:solidFill>
              <a:latin typeface="Lato" panose="020F0502020204030203" pitchFamily="34" charset="0"/>
              <a:ea typeface="Lato" panose="020F0502020204030203" pitchFamily="34" charset="0"/>
              <a:cs typeface="Lato" panose="020F0502020204030203" pitchFamily="34" charset="0"/>
            </a:rPr>
            <a:t>Financial aid &amp; Pell changes</a:t>
          </a:r>
        </a:p>
      </dgm:t>
    </dgm:pt>
    <dgm:pt modelId="{D65523C3-EC0D-4611-8454-F0FBE22CBADF}" type="parTrans" cxnId="{A88E1B92-8BAA-4F65-9101-1620E06F8642}">
      <dgm:prSet/>
      <dgm:spPr/>
      <dgm:t>
        <a:bodyPr/>
        <a:lstStyle/>
        <a:p>
          <a:endParaRPr lang="en-US" sz="1500">
            <a:latin typeface="Lato" panose="020F0502020204030203" pitchFamily="34" charset="0"/>
            <a:ea typeface="Lato" panose="020F0502020204030203" pitchFamily="34" charset="0"/>
            <a:cs typeface="Lato" panose="020F0502020204030203" pitchFamily="34" charset="0"/>
          </a:endParaRPr>
        </a:p>
      </dgm:t>
    </dgm:pt>
    <dgm:pt modelId="{2A810D21-D3F2-41B6-A241-52A127C01A0A}" type="sibTrans" cxnId="{A88E1B92-8BAA-4F65-9101-1620E06F8642}">
      <dgm:prSet/>
      <dgm:spPr>
        <a:xfrm>
          <a:off x="1219204" y="548644"/>
          <a:ext cx="3657590" cy="3657590"/>
        </a:xfrm>
        <a:prstGeom prst="blockArc">
          <a:avLst>
            <a:gd name="adj1" fmla="val 16200000"/>
            <a:gd name="adj2" fmla="val 0"/>
            <a:gd name="adj3" fmla="val 4643"/>
          </a:avLst>
        </a:prstGeom>
        <a:solidFill>
          <a:schemeClr val="bg1">
            <a:lumMod val="85000"/>
          </a:schemeClr>
        </a:solidFill>
        <a:ln>
          <a:noFill/>
        </a:ln>
        <a:effectLst/>
      </dgm:spPr>
      <dgm:t>
        <a:bodyPr/>
        <a:lstStyle/>
        <a:p>
          <a:endParaRPr lang="en-US" sz="1500">
            <a:latin typeface="Lato" panose="020F0502020204030203" pitchFamily="34" charset="0"/>
            <a:ea typeface="Lato" panose="020F0502020204030203" pitchFamily="34" charset="0"/>
            <a:cs typeface="Lato" panose="020F0502020204030203" pitchFamily="34" charset="0"/>
          </a:endParaRPr>
        </a:p>
      </dgm:t>
    </dgm:pt>
    <dgm:pt modelId="{F107A9D9-8448-4A55-B1D1-AB7F1E9B4C2B}">
      <dgm:prSet phldrT="[Text]" custT="1"/>
      <dgm:spPr>
        <a:xfrm>
          <a:off x="4125678" y="1668777"/>
          <a:ext cx="1417323" cy="1417323"/>
        </a:xfrm>
        <a:prstGeom prst="ellipse">
          <a:avLst/>
        </a:prstGeom>
        <a:solidFill>
          <a:schemeClr val="tx1"/>
        </a:solidFill>
        <a:ln w="19050" cap="flat" cmpd="sng" algn="ctr">
          <a:solidFill>
            <a:sysClr val="window" lastClr="FFFFFF">
              <a:hueOff val="0"/>
              <a:satOff val="0"/>
              <a:lumOff val="0"/>
              <a:alphaOff val="0"/>
            </a:sysClr>
          </a:solidFill>
          <a:prstDash val="solid"/>
        </a:ln>
        <a:effectLst/>
      </dgm:spPr>
      <dgm:t>
        <a:bodyPr/>
        <a:lstStyle/>
        <a:p>
          <a:pPr>
            <a:buNone/>
          </a:pPr>
          <a:r>
            <a:rPr lang="en-US" sz="1500" i="0" dirty="0">
              <a:solidFill>
                <a:sysClr val="window" lastClr="FFFFFF"/>
              </a:solidFill>
              <a:latin typeface="Lato" panose="020F0502020204030203" pitchFamily="34" charset="0"/>
              <a:ea typeface="Lato" panose="020F0502020204030203" pitchFamily="34" charset="0"/>
              <a:cs typeface="Lato" panose="020F0502020204030203" pitchFamily="34" charset="0"/>
            </a:rPr>
            <a:t>WIOA consis-tency</a:t>
          </a:r>
        </a:p>
      </dgm:t>
    </dgm:pt>
    <dgm:pt modelId="{098784FA-FD9D-4D7A-8FB6-57E8688301CF}" type="parTrans" cxnId="{30A4A675-2843-4D43-B23F-83ED8B69DC80}">
      <dgm:prSet/>
      <dgm:spPr/>
      <dgm:t>
        <a:bodyPr/>
        <a:lstStyle/>
        <a:p>
          <a:endParaRPr lang="en-US" sz="1500">
            <a:latin typeface="Lato" panose="020F0502020204030203" pitchFamily="34" charset="0"/>
            <a:ea typeface="Lato" panose="020F0502020204030203" pitchFamily="34" charset="0"/>
            <a:cs typeface="Lato" panose="020F0502020204030203" pitchFamily="34" charset="0"/>
          </a:endParaRPr>
        </a:p>
      </dgm:t>
    </dgm:pt>
    <dgm:pt modelId="{CAEB7C71-A837-45B4-BA2B-BC0A063A7C2E}" type="sibTrans" cxnId="{30A4A675-2843-4D43-B23F-83ED8B69DC80}">
      <dgm:prSet/>
      <dgm:spPr>
        <a:xfrm>
          <a:off x="1219204" y="548644"/>
          <a:ext cx="3657590" cy="3657590"/>
        </a:xfrm>
        <a:prstGeom prst="blockArc">
          <a:avLst>
            <a:gd name="adj1" fmla="val 0"/>
            <a:gd name="adj2" fmla="val 5400000"/>
            <a:gd name="adj3" fmla="val 4643"/>
          </a:avLst>
        </a:prstGeom>
        <a:solidFill>
          <a:schemeClr val="bg1">
            <a:lumMod val="85000"/>
          </a:schemeClr>
        </a:solidFill>
        <a:ln>
          <a:noFill/>
        </a:ln>
        <a:effectLst/>
      </dgm:spPr>
      <dgm:t>
        <a:bodyPr/>
        <a:lstStyle/>
        <a:p>
          <a:endParaRPr lang="en-US" sz="1500">
            <a:latin typeface="Lato" panose="020F0502020204030203" pitchFamily="34" charset="0"/>
            <a:ea typeface="Lato" panose="020F0502020204030203" pitchFamily="34" charset="0"/>
            <a:cs typeface="Lato" panose="020F0502020204030203" pitchFamily="34" charset="0"/>
          </a:endParaRPr>
        </a:p>
      </dgm:t>
    </dgm:pt>
    <dgm:pt modelId="{E07F29A5-D975-4E21-BD5C-ACC052490FF6}">
      <dgm:prSet phldrT="[Text]" custT="1"/>
      <dgm:spPr>
        <a:xfrm>
          <a:off x="2339338" y="3455117"/>
          <a:ext cx="1417323" cy="1417323"/>
        </a:xfrm>
        <a:prstGeom prst="ellipse">
          <a:avLst/>
        </a:prstGeom>
        <a:solidFill>
          <a:schemeClr val="tx1"/>
        </a:solidFill>
        <a:ln w="19050" cap="flat" cmpd="sng" algn="ctr">
          <a:solidFill>
            <a:sysClr val="window" lastClr="FFFFFF">
              <a:hueOff val="0"/>
              <a:satOff val="0"/>
              <a:lumOff val="0"/>
              <a:alphaOff val="0"/>
            </a:sysClr>
          </a:solidFill>
          <a:prstDash val="solid"/>
        </a:ln>
        <a:effectLst/>
      </dgm:spPr>
      <dgm:t>
        <a:bodyPr/>
        <a:lstStyle/>
        <a:p>
          <a:pPr>
            <a:buNone/>
          </a:pPr>
          <a:r>
            <a:rPr lang="en-US" sz="1500" dirty="0">
              <a:solidFill>
                <a:sysClr val="window" lastClr="FFFFFF"/>
              </a:solidFill>
              <a:latin typeface="Lato" panose="020F0502020204030203" pitchFamily="34" charset="0"/>
              <a:ea typeface="Lato" panose="020F0502020204030203" pitchFamily="34" charset="0"/>
              <a:cs typeface="Lato" panose="020F0502020204030203" pitchFamily="34" charset="0"/>
            </a:rPr>
            <a:t>More refundable tax benefits for low-wage workers</a:t>
          </a:r>
        </a:p>
      </dgm:t>
    </dgm:pt>
    <dgm:pt modelId="{3C3B90AD-2CC7-4836-A79A-323106656F04}" type="parTrans" cxnId="{D877AF6A-2037-4CED-9FB9-311011F24F88}">
      <dgm:prSet/>
      <dgm:spPr/>
      <dgm:t>
        <a:bodyPr/>
        <a:lstStyle/>
        <a:p>
          <a:endParaRPr lang="en-US" sz="1500">
            <a:latin typeface="Lato" panose="020F0502020204030203" pitchFamily="34" charset="0"/>
            <a:ea typeface="Lato" panose="020F0502020204030203" pitchFamily="34" charset="0"/>
            <a:cs typeface="Lato" panose="020F0502020204030203" pitchFamily="34" charset="0"/>
          </a:endParaRPr>
        </a:p>
      </dgm:t>
    </dgm:pt>
    <dgm:pt modelId="{A48DA3A6-1D11-4ED3-805A-69B019AB8E68}" type="sibTrans" cxnId="{D877AF6A-2037-4CED-9FB9-311011F24F88}">
      <dgm:prSet/>
      <dgm:spPr>
        <a:xfrm>
          <a:off x="1219204" y="548644"/>
          <a:ext cx="3657590" cy="3657590"/>
        </a:xfrm>
        <a:prstGeom prst="blockArc">
          <a:avLst>
            <a:gd name="adj1" fmla="val 5400000"/>
            <a:gd name="adj2" fmla="val 10800000"/>
            <a:gd name="adj3" fmla="val 4643"/>
          </a:avLst>
        </a:prstGeom>
        <a:solidFill>
          <a:schemeClr val="bg1">
            <a:lumMod val="85000"/>
          </a:schemeClr>
        </a:solidFill>
        <a:ln>
          <a:noFill/>
        </a:ln>
        <a:effectLst/>
      </dgm:spPr>
      <dgm:t>
        <a:bodyPr/>
        <a:lstStyle/>
        <a:p>
          <a:endParaRPr lang="en-US" sz="1500">
            <a:latin typeface="Lato" panose="020F0502020204030203" pitchFamily="34" charset="0"/>
            <a:ea typeface="Lato" panose="020F0502020204030203" pitchFamily="34" charset="0"/>
            <a:cs typeface="Lato" panose="020F0502020204030203" pitchFamily="34" charset="0"/>
          </a:endParaRPr>
        </a:p>
      </dgm:t>
    </dgm:pt>
    <dgm:pt modelId="{61B7951C-11A4-46B1-80AA-5B4324944A25}">
      <dgm:prSet phldrT="[Text]" custT="1"/>
      <dgm:spPr>
        <a:xfrm>
          <a:off x="552998" y="1668777"/>
          <a:ext cx="1417323" cy="1417323"/>
        </a:xfrm>
        <a:prstGeom prst="ellipse">
          <a:avLst/>
        </a:prstGeom>
        <a:solidFill>
          <a:schemeClr val="tx1"/>
        </a:solidFill>
        <a:ln w="19050" cap="flat" cmpd="sng" algn="ctr">
          <a:solidFill>
            <a:sysClr val="window" lastClr="FFFFFF">
              <a:hueOff val="0"/>
              <a:satOff val="0"/>
              <a:lumOff val="0"/>
              <a:alphaOff val="0"/>
            </a:sysClr>
          </a:solidFill>
          <a:prstDash val="solid"/>
        </a:ln>
        <a:effectLst/>
      </dgm:spPr>
      <dgm:t>
        <a:bodyPr/>
        <a:lstStyle/>
        <a:p>
          <a:pPr>
            <a:buNone/>
          </a:pPr>
          <a:r>
            <a:rPr lang="en-US" sz="1500" dirty="0">
              <a:solidFill>
                <a:sysClr val="window" lastClr="FFFFFF"/>
              </a:solidFill>
              <a:latin typeface="Lato" panose="020F0502020204030203" pitchFamily="34" charset="0"/>
              <a:ea typeface="Lato" panose="020F0502020204030203" pitchFamily="34" charset="0"/>
              <a:cs typeface="Lato" panose="020F0502020204030203" pitchFamily="34" charset="0"/>
            </a:rPr>
            <a:t>Access to SNAP, TANF, Medicaid, &amp; housing</a:t>
          </a:r>
        </a:p>
      </dgm:t>
    </dgm:pt>
    <dgm:pt modelId="{CC8CDC59-0118-4E38-A4FC-6349CD06C971}" type="parTrans" cxnId="{F0CD37C6-B59F-4D0B-AD0F-FCB06AAB9ED4}">
      <dgm:prSet/>
      <dgm:spPr/>
      <dgm:t>
        <a:bodyPr/>
        <a:lstStyle/>
        <a:p>
          <a:endParaRPr lang="en-US" sz="1500">
            <a:latin typeface="Lato" panose="020F0502020204030203" pitchFamily="34" charset="0"/>
            <a:ea typeface="Lato" panose="020F0502020204030203" pitchFamily="34" charset="0"/>
            <a:cs typeface="Lato" panose="020F0502020204030203" pitchFamily="34" charset="0"/>
          </a:endParaRPr>
        </a:p>
      </dgm:t>
    </dgm:pt>
    <dgm:pt modelId="{5B6AF2D7-EB7F-4162-BEC0-14B79E131B0A}" type="sibTrans" cxnId="{F0CD37C6-B59F-4D0B-AD0F-FCB06AAB9ED4}">
      <dgm:prSet/>
      <dgm:spPr>
        <a:xfrm>
          <a:off x="1219204" y="548644"/>
          <a:ext cx="3657590" cy="3657590"/>
        </a:xfrm>
        <a:prstGeom prst="blockArc">
          <a:avLst>
            <a:gd name="adj1" fmla="val 10800000"/>
            <a:gd name="adj2" fmla="val 16200000"/>
            <a:gd name="adj3" fmla="val 4643"/>
          </a:avLst>
        </a:prstGeom>
        <a:solidFill>
          <a:schemeClr val="bg1">
            <a:lumMod val="85000"/>
          </a:schemeClr>
        </a:solidFill>
        <a:ln>
          <a:noFill/>
        </a:ln>
        <a:effectLst/>
      </dgm:spPr>
      <dgm:t>
        <a:bodyPr/>
        <a:lstStyle/>
        <a:p>
          <a:endParaRPr lang="en-US" sz="1500">
            <a:latin typeface="Lato" panose="020F0502020204030203" pitchFamily="34" charset="0"/>
            <a:ea typeface="Lato" panose="020F0502020204030203" pitchFamily="34" charset="0"/>
            <a:cs typeface="Lato" panose="020F0502020204030203" pitchFamily="34" charset="0"/>
          </a:endParaRPr>
        </a:p>
      </dgm:t>
    </dgm:pt>
    <dgm:pt modelId="{B550CB93-69A0-48D3-9BF8-AD26F86D3E33}" type="pres">
      <dgm:prSet presAssocID="{B37A9D88-E325-4F3E-BD42-3EFD1AF59B6F}" presName="Name0" presStyleCnt="0">
        <dgm:presLayoutVars>
          <dgm:chMax val="1"/>
          <dgm:dir/>
          <dgm:animLvl val="ctr"/>
          <dgm:resizeHandles val="exact"/>
        </dgm:presLayoutVars>
      </dgm:prSet>
      <dgm:spPr/>
    </dgm:pt>
    <dgm:pt modelId="{C5416163-F3CD-430C-BBCB-FACE4C9B5A80}" type="pres">
      <dgm:prSet presAssocID="{7D74CA68-7E3D-4612-B5B2-FB8B074A5DDC}" presName="centerShape" presStyleLbl="node0" presStyleIdx="0" presStyleCnt="1"/>
      <dgm:spPr/>
    </dgm:pt>
    <dgm:pt modelId="{3FAC53DB-55E3-4175-925E-160697F46275}" type="pres">
      <dgm:prSet presAssocID="{A26E9DD9-CA85-4A88-918C-50B3BE6E2DE1}" presName="node" presStyleLbl="node1" presStyleIdx="0" presStyleCnt="4" custScaleX="121004" custScaleY="121004">
        <dgm:presLayoutVars>
          <dgm:bulletEnabled val="1"/>
        </dgm:presLayoutVars>
      </dgm:prSet>
      <dgm:spPr/>
    </dgm:pt>
    <dgm:pt modelId="{475333C2-A03E-422E-9992-518CA7290D0B}" type="pres">
      <dgm:prSet presAssocID="{A26E9DD9-CA85-4A88-918C-50B3BE6E2DE1}" presName="dummy" presStyleCnt="0"/>
      <dgm:spPr/>
    </dgm:pt>
    <dgm:pt modelId="{9B3DA2CE-DFA5-43DA-AC78-EABB1E93AFB8}" type="pres">
      <dgm:prSet presAssocID="{2A810D21-D3F2-41B6-A241-52A127C01A0A}" presName="sibTrans" presStyleLbl="sibTrans2D1" presStyleIdx="0" presStyleCnt="4"/>
      <dgm:spPr/>
    </dgm:pt>
    <dgm:pt modelId="{06C6020A-63E3-4B8A-84DA-72D4B33358F0}" type="pres">
      <dgm:prSet presAssocID="{F107A9D9-8448-4A55-B1D1-AB7F1E9B4C2B}" presName="node" presStyleLbl="node1" presStyleIdx="1" presStyleCnt="4" custScaleX="121004" custScaleY="121004">
        <dgm:presLayoutVars>
          <dgm:bulletEnabled val="1"/>
        </dgm:presLayoutVars>
      </dgm:prSet>
      <dgm:spPr/>
    </dgm:pt>
    <dgm:pt modelId="{A8E21F40-204D-4A3C-BE64-7F023135C116}" type="pres">
      <dgm:prSet presAssocID="{F107A9D9-8448-4A55-B1D1-AB7F1E9B4C2B}" presName="dummy" presStyleCnt="0"/>
      <dgm:spPr/>
    </dgm:pt>
    <dgm:pt modelId="{7B7AF002-7E5D-4F29-8338-1207216AB737}" type="pres">
      <dgm:prSet presAssocID="{CAEB7C71-A837-45B4-BA2B-BC0A063A7C2E}" presName="sibTrans" presStyleLbl="sibTrans2D1" presStyleIdx="1" presStyleCnt="4"/>
      <dgm:spPr/>
    </dgm:pt>
    <dgm:pt modelId="{F6E296C3-BEC6-4F9D-88F8-6343FDEB59F1}" type="pres">
      <dgm:prSet presAssocID="{E07F29A5-D975-4E21-BD5C-ACC052490FF6}" presName="node" presStyleLbl="node1" presStyleIdx="2" presStyleCnt="4" custScaleX="133512" custScaleY="134627">
        <dgm:presLayoutVars>
          <dgm:bulletEnabled val="1"/>
        </dgm:presLayoutVars>
      </dgm:prSet>
      <dgm:spPr/>
    </dgm:pt>
    <dgm:pt modelId="{E6E41C8F-11D8-4A21-B51E-19A8D5D0F04B}" type="pres">
      <dgm:prSet presAssocID="{E07F29A5-D975-4E21-BD5C-ACC052490FF6}" presName="dummy" presStyleCnt="0"/>
      <dgm:spPr/>
    </dgm:pt>
    <dgm:pt modelId="{4D69149D-0782-44FB-A725-24A23D693254}" type="pres">
      <dgm:prSet presAssocID="{A48DA3A6-1D11-4ED3-805A-69B019AB8E68}" presName="sibTrans" presStyleLbl="sibTrans2D1" presStyleIdx="2" presStyleCnt="4"/>
      <dgm:spPr/>
    </dgm:pt>
    <dgm:pt modelId="{D400E8E3-E9E0-4FF5-A9B8-C7E91BF99621}" type="pres">
      <dgm:prSet presAssocID="{61B7951C-11A4-46B1-80AA-5B4324944A25}" presName="node" presStyleLbl="node1" presStyleIdx="3" presStyleCnt="4" custScaleX="121004" custScaleY="121004">
        <dgm:presLayoutVars>
          <dgm:bulletEnabled val="1"/>
        </dgm:presLayoutVars>
      </dgm:prSet>
      <dgm:spPr/>
    </dgm:pt>
    <dgm:pt modelId="{D8A53F69-62B6-4D97-AD91-1B5ECCBFB71F}" type="pres">
      <dgm:prSet presAssocID="{61B7951C-11A4-46B1-80AA-5B4324944A25}" presName="dummy" presStyleCnt="0"/>
      <dgm:spPr/>
    </dgm:pt>
    <dgm:pt modelId="{70410869-809B-40D6-BD0D-3289B120DF48}" type="pres">
      <dgm:prSet presAssocID="{5B6AF2D7-EB7F-4162-BEC0-14B79E131B0A}" presName="sibTrans" presStyleLbl="sibTrans2D1" presStyleIdx="3" presStyleCnt="4"/>
      <dgm:spPr/>
    </dgm:pt>
  </dgm:ptLst>
  <dgm:cxnLst>
    <dgm:cxn modelId="{8A38871D-4152-4F28-BAB2-E3CE07E9CDFB}" type="presOf" srcId="{B37A9D88-E325-4F3E-BD42-3EFD1AF59B6F}" destId="{B550CB93-69A0-48D3-9BF8-AD26F86D3E33}" srcOrd="0" destOrd="0" presId="urn:microsoft.com/office/officeart/2005/8/layout/radial6"/>
    <dgm:cxn modelId="{5EEB5824-29D9-4B4C-92A4-A49DCA4A2027}" type="presOf" srcId="{2A810D21-D3F2-41B6-A241-52A127C01A0A}" destId="{9B3DA2CE-DFA5-43DA-AC78-EABB1E93AFB8}" srcOrd="0" destOrd="0" presId="urn:microsoft.com/office/officeart/2005/8/layout/radial6"/>
    <dgm:cxn modelId="{AC2D4F26-EEF6-448B-A281-7BA03D4F8A33}" type="presOf" srcId="{A48DA3A6-1D11-4ED3-805A-69B019AB8E68}" destId="{4D69149D-0782-44FB-A725-24A23D693254}" srcOrd="0" destOrd="0" presId="urn:microsoft.com/office/officeart/2005/8/layout/radial6"/>
    <dgm:cxn modelId="{A45AE341-96A7-4821-99C0-EEBB96C4C43B}" type="presOf" srcId="{CAEB7C71-A837-45B4-BA2B-BC0A063A7C2E}" destId="{7B7AF002-7E5D-4F29-8338-1207216AB737}" srcOrd="0" destOrd="0" presId="urn:microsoft.com/office/officeart/2005/8/layout/radial6"/>
    <dgm:cxn modelId="{D877AF6A-2037-4CED-9FB9-311011F24F88}" srcId="{7D74CA68-7E3D-4612-B5B2-FB8B074A5DDC}" destId="{E07F29A5-D975-4E21-BD5C-ACC052490FF6}" srcOrd="2" destOrd="0" parTransId="{3C3B90AD-2CC7-4836-A79A-323106656F04}" sibTransId="{A48DA3A6-1D11-4ED3-805A-69B019AB8E68}"/>
    <dgm:cxn modelId="{CDF6374F-D003-4FEC-89AD-42FED4753E66}" type="presOf" srcId="{61B7951C-11A4-46B1-80AA-5B4324944A25}" destId="{D400E8E3-E9E0-4FF5-A9B8-C7E91BF99621}" srcOrd="0" destOrd="0" presId="urn:microsoft.com/office/officeart/2005/8/layout/radial6"/>
    <dgm:cxn modelId="{30A4A675-2843-4D43-B23F-83ED8B69DC80}" srcId="{7D74CA68-7E3D-4612-B5B2-FB8B074A5DDC}" destId="{F107A9D9-8448-4A55-B1D1-AB7F1E9B4C2B}" srcOrd="1" destOrd="0" parTransId="{098784FA-FD9D-4D7A-8FB6-57E8688301CF}" sibTransId="{CAEB7C71-A837-45B4-BA2B-BC0A063A7C2E}"/>
    <dgm:cxn modelId="{6AB54E80-DDC6-4AC9-BD7F-0E47D559BAD0}" type="presOf" srcId="{7D74CA68-7E3D-4612-B5B2-FB8B074A5DDC}" destId="{C5416163-F3CD-430C-BBCB-FACE4C9B5A80}" srcOrd="0" destOrd="0" presId="urn:microsoft.com/office/officeart/2005/8/layout/radial6"/>
    <dgm:cxn modelId="{127B8082-79D1-4BC2-9748-A6CA34A5C439}" type="presOf" srcId="{A26E9DD9-CA85-4A88-918C-50B3BE6E2DE1}" destId="{3FAC53DB-55E3-4175-925E-160697F46275}" srcOrd="0" destOrd="0" presId="urn:microsoft.com/office/officeart/2005/8/layout/radial6"/>
    <dgm:cxn modelId="{A88E1B92-8BAA-4F65-9101-1620E06F8642}" srcId="{7D74CA68-7E3D-4612-B5B2-FB8B074A5DDC}" destId="{A26E9DD9-CA85-4A88-918C-50B3BE6E2DE1}" srcOrd="0" destOrd="0" parTransId="{D65523C3-EC0D-4611-8454-F0FBE22CBADF}" sibTransId="{2A810D21-D3F2-41B6-A241-52A127C01A0A}"/>
    <dgm:cxn modelId="{D4BADB92-5697-441F-A767-02C6F1D9A232}" srcId="{B37A9D88-E325-4F3E-BD42-3EFD1AF59B6F}" destId="{7D74CA68-7E3D-4612-B5B2-FB8B074A5DDC}" srcOrd="0" destOrd="0" parTransId="{9563477C-675A-45AA-A0EC-A7DF5E3680BA}" sibTransId="{E28304B3-46D0-448E-BEAD-70CB9145CA7C}"/>
    <dgm:cxn modelId="{A7A69BA0-0D7D-477A-8756-B2343F943C1B}" type="presOf" srcId="{E07F29A5-D975-4E21-BD5C-ACC052490FF6}" destId="{F6E296C3-BEC6-4F9D-88F8-6343FDEB59F1}" srcOrd="0" destOrd="0" presId="urn:microsoft.com/office/officeart/2005/8/layout/radial6"/>
    <dgm:cxn modelId="{F0CD37C6-B59F-4D0B-AD0F-FCB06AAB9ED4}" srcId="{7D74CA68-7E3D-4612-B5B2-FB8B074A5DDC}" destId="{61B7951C-11A4-46B1-80AA-5B4324944A25}" srcOrd="3" destOrd="0" parTransId="{CC8CDC59-0118-4E38-A4FC-6349CD06C971}" sibTransId="{5B6AF2D7-EB7F-4162-BEC0-14B79E131B0A}"/>
    <dgm:cxn modelId="{589D5CCA-89B8-4126-AB4E-767ECCE31562}" type="presOf" srcId="{F107A9D9-8448-4A55-B1D1-AB7F1E9B4C2B}" destId="{06C6020A-63E3-4B8A-84DA-72D4B33358F0}" srcOrd="0" destOrd="0" presId="urn:microsoft.com/office/officeart/2005/8/layout/radial6"/>
    <dgm:cxn modelId="{AF0756CF-8E36-415D-80C0-06BDB4400018}" type="presOf" srcId="{5B6AF2D7-EB7F-4162-BEC0-14B79E131B0A}" destId="{70410869-809B-40D6-BD0D-3289B120DF48}" srcOrd="0" destOrd="0" presId="urn:microsoft.com/office/officeart/2005/8/layout/radial6"/>
    <dgm:cxn modelId="{93408D1A-4319-4A69-8FA2-BB90474471E0}" type="presParOf" srcId="{B550CB93-69A0-48D3-9BF8-AD26F86D3E33}" destId="{C5416163-F3CD-430C-BBCB-FACE4C9B5A80}" srcOrd="0" destOrd="0" presId="urn:microsoft.com/office/officeart/2005/8/layout/radial6"/>
    <dgm:cxn modelId="{739E8853-7135-4B12-9C2C-63C74C54E713}" type="presParOf" srcId="{B550CB93-69A0-48D3-9BF8-AD26F86D3E33}" destId="{3FAC53DB-55E3-4175-925E-160697F46275}" srcOrd="1" destOrd="0" presId="urn:microsoft.com/office/officeart/2005/8/layout/radial6"/>
    <dgm:cxn modelId="{A2ACA1DD-D9F9-46C3-A23A-5BCF30D2C991}" type="presParOf" srcId="{B550CB93-69A0-48D3-9BF8-AD26F86D3E33}" destId="{475333C2-A03E-422E-9992-518CA7290D0B}" srcOrd="2" destOrd="0" presId="urn:microsoft.com/office/officeart/2005/8/layout/radial6"/>
    <dgm:cxn modelId="{ED63E74B-15C5-4A19-8DF4-7474428DDA4D}" type="presParOf" srcId="{B550CB93-69A0-48D3-9BF8-AD26F86D3E33}" destId="{9B3DA2CE-DFA5-43DA-AC78-EABB1E93AFB8}" srcOrd="3" destOrd="0" presId="urn:microsoft.com/office/officeart/2005/8/layout/radial6"/>
    <dgm:cxn modelId="{54070307-C62D-4F79-9D8E-CCBB75B2D221}" type="presParOf" srcId="{B550CB93-69A0-48D3-9BF8-AD26F86D3E33}" destId="{06C6020A-63E3-4B8A-84DA-72D4B33358F0}" srcOrd="4" destOrd="0" presId="urn:microsoft.com/office/officeart/2005/8/layout/radial6"/>
    <dgm:cxn modelId="{84539DAA-6F93-487C-AF4D-1BD576EDDD23}" type="presParOf" srcId="{B550CB93-69A0-48D3-9BF8-AD26F86D3E33}" destId="{A8E21F40-204D-4A3C-BE64-7F023135C116}" srcOrd="5" destOrd="0" presId="urn:microsoft.com/office/officeart/2005/8/layout/radial6"/>
    <dgm:cxn modelId="{57104F38-8690-4999-BEB8-DB9832709ED8}" type="presParOf" srcId="{B550CB93-69A0-48D3-9BF8-AD26F86D3E33}" destId="{7B7AF002-7E5D-4F29-8338-1207216AB737}" srcOrd="6" destOrd="0" presId="urn:microsoft.com/office/officeart/2005/8/layout/radial6"/>
    <dgm:cxn modelId="{90788684-76F3-4134-8707-C5FC2A05C453}" type="presParOf" srcId="{B550CB93-69A0-48D3-9BF8-AD26F86D3E33}" destId="{F6E296C3-BEC6-4F9D-88F8-6343FDEB59F1}" srcOrd="7" destOrd="0" presId="urn:microsoft.com/office/officeart/2005/8/layout/radial6"/>
    <dgm:cxn modelId="{6BCCEF51-81F3-4496-A62D-86311EE8B373}" type="presParOf" srcId="{B550CB93-69A0-48D3-9BF8-AD26F86D3E33}" destId="{E6E41C8F-11D8-4A21-B51E-19A8D5D0F04B}" srcOrd="8" destOrd="0" presId="urn:microsoft.com/office/officeart/2005/8/layout/radial6"/>
    <dgm:cxn modelId="{3B9BC262-F7D7-4D93-AB37-872C845DFB8C}" type="presParOf" srcId="{B550CB93-69A0-48D3-9BF8-AD26F86D3E33}" destId="{4D69149D-0782-44FB-A725-24A23D693254}" srcOrd="9" destOrd="0" presId="urn:microsoft.com/office/officeart/2005/8/layout/radial6"/>
    <dgm:cxn modelId="{2D0CACF5-9D64-403A-844D-B1722FB6707A}" type="presParOf" srcId="{B550CB93-69A0-48D3-9BF8-AD26F86D3E33}" destId="{D400E8E3-E9E0-4FF5-A9B8-C7E91BF99621}" srcOrd="10" destOrd="0" presId="urn:microsoft.com/office/officeart/2005/8/layout/radial6"/>
    <dgm:cxn modelId="{AA818B0A-79AC-4BA2-971C-9F57AC387296}" type="presParOf" srcId="{B550CB93-69A0-48D3-9BF8-AD26F86D3E33}" destId="{D8A53F69-62B6-4D97-AD91-1B5ECCBFB71F}" srcOrd="11" destOrd="0" presId="urn:microsoft.com/office/officeart/2005/8/layout/radial6"/>
    <dgm:cxn modelId="{52A43847-3EED-403A-A48B-87779E97BF00}" type="presParOf" srcId="{B550CB93-69A0-48D3-9BF8-AD26F86D3E33}" destId="{70410869-809B-40D6-BD0D-3289B120DF48}" srcOrd="12" destOrd="0" presId="urn:microsoft.com/office/officeart/2005/8/layout/radial6"/>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37A9D88-E325-4F3E-BD42-3EFD1AF59B6F}" type="doc">
      <dgm:prSet loTypeId="urn:microsoft.com/office/officeart/2005/8/layout/radial6" loCatId="relationship" qsTypeId="urn:microsoft.com/office/officeart/2005/8/quickstyle/simple1" qsCatId="simple" csTypeId="urn:microsoft.com/office/officeart/2005/8/colors/accent1_2" csCatId="accent1" phldr="1"/>
      <dgm:spPr/>
      <dgm:t>
        <a:bodyPr/>
        <a:lstStyle/>
        <a:p>
          <a:endParaRPr lang="en-US"/>
        </a:p>
      </dgm:t>
    </dgm:pt>
    <dgm:pt modelId="{7D74CA68-7E3D-4612-B5B2-FB8B074A5DDC}">
      <dgm:prSet phldrT="[Text]" custT="1"/>
      <dgm:spPr>
        <a:solidFill>
          <a:schemeClr val="accent5">
            <a:lumMod val="40000"/>
            <a:lumOff val="60000"/>
          </a:schemeClr>
        </a:solidFill>
      </dgm:spPr>
      <dgm:t>
        <a:bodyPr/>
        <a:lstStyle/>
        <a:p>
          <a:r>
            <a:rPr lang="en-US" sz="1500" dirty="0">
              <a:solidFill>
                <a:schemeClr val="bg1"/>
              </a:solidFill>
              <a:latin typeface="Lato" panose="020F0502020204030203" pitchFamily="34" charset="0"/>
              <a:ea typeface="Lato" panose="020F0502020204030203" pitchFamily="34" charset="0"/>
              <a:cs typeface="Lato" panose="020F0502020204030203" pitchFamily="34" charset="0"/>
            </a:rPr>
            <a:t>Social support</a:t>
          </a:r>
        </a:p>
      </dgm:t>
    </dgm:pt>
    <dgm:pt modelId="{9563477C-675A-45AA-A0EC-A7DF5E3680BA}" type="parTrans" cxnId="{D4BADB92-5697-441F-A767-02C6F1D9A232}">
      <dgm:prSet/>
      <dgm:spPr/>
      <dgm:t>
        <a:bodyPr/>
        <a:lstStyle/>
        <a:p>
          <a:endParaRPr lang="en-US" sz="1500">
            <a:latin typeface="Lato" panose="020F0502020204030203" pitchFamily="34" charset="0"/>
            <a:ea typeface="Lato" panose="020F0502020204030203" pitchFamily="34" charset="0"/>
            <a:cs typeface="Lato" panose="020F0502020204030203" pitchFamily="34" charset="0"/>
          </a:endParaRPr>
        </a:p>
      </dgm:t>
    </dgm:pt>
    <dgm:pt modelId="{E28304B3-46D0-448E-BEAD-70CB9145CA7C}" type="sibTrans" cxnId="{D4BADB92-5697-441F-A767-02C6F1D9A232}">
      <dgm:prSet/>
      <dgm:spPr/>
      <dgm:t>
        <a:bodyPr/>
        <a:lstStyle/>
        <a:p>
          <a:endParaRPr lang="en-US" sz="1500">
            <a:latin typeface="Lato" panose="020F0502020204030203" pitchFamily="34" charset="0"/>
            <a:ea typeface="Lato" panose="020F0502020204030203" pitchFamily="34" charset="0"/>
            <a:cs typeface="Lato" panose="020F0502020204030203" pitchFamily="34" charset="0"/>
          </a:endParaRPr>
        </a:p>
      </dgm:t>
    </dgm:pt>
    <dgm:pt modelId="{A26E9DD9-CA85-4A88-918C-50B3BE6E2DE1}">
      <dgm:prSet phldrT="[Text]" custT="1"/>
      <dgm:spPr>
        <a:solidFill>
          <a:schemeClr val="accent5"/>
        </a:solidFill>
      </dgm:spPr>
      <dgm:t>
        <a:bodyPr/>
        <a:lstStyle/>
        <a:p>
          <a:r>
            <a:rPr lang="en-US" sz="1500" dirty="0">
              <a:latin typeface="Lato" panose="020F0502020204030203" pitchFamily="34" charset="0"/>
              <a:ea typeface="Lato" panose="020F0502020204030203" pitchFamily="34" charset="0"/>
              <a:cs typeface="Lato" panose="020F0502020204030203" pitchFamily="34" charset="0"/>
            </a:rPr>
            <a:t>Paid leave, including for students</a:t>
          </a:r>
        </a:p>
      </dgm:t>
    </dgm:pt>
    <dgm:pt modelId="{D65523C3-EC0D-4611-8454-F0FBE22CBADF}" type="parTrans" cxnId="{A88E1B92-8BAA-4F65-9101-1620E06F8642}">
      <dgm:prSet/>
      <dgm:spPr/>
      <dgm:t>
        <a:bodyPr/>
        <a:lstStyle/>
        <a:p>
          <a:endParaRPr lang="en-US" sz="1500">
            <a:latin typeface="Lato" panose="020F0502020204030203" pitchFamily="34" charset="0"/>
            <a:ea typeface="Lato" panose="020F0502020204030203" pitchFamily="34" charset="0"/>
            <a:cs typeface="Lato" panose="020F0502020204030203" pitchFamily="34" charset="0"/>
          </a:endParaRPr>
        </a:p>
      </dgm:t>
    </dgm:pt>
    <dgm:pt modelId="{2A810D21-D3F2-41B6-A241-52A127C01A0A}" type="sibTrans" cxnId="{A88E1B92-8BAA-4F65-9101-1620E06F8642}">
      <dgm:prSet/>
      <dgm:spPr>
        <a:solidFill>
          <a:schemeClr val="bg1">
            <a:lumMod val="85000"/>
          </a:schemeClr>
        </a:solidFill>
      </dgm:spPr>
      <dgm:t>
        <a:bodyPr/>
        <a:lstStyle/>
        <a:p>
          <a:endParaRPr lang="en-US" sz="1500">
            <a:latin typeface="Lato" panose="020F0502020204030203" pitchFamily="34" charset="0"/>
            <a:ea typeface="Lato" panose="020F0502020204030203" pitchFamily="34" charset="0"/>
            <a:cs typeface="Lato" panose="020F0502020204030203" pitchFamily="34" charset="0"/>
          </a:endParaRPr>
        </a:p>
      </dgm:t>
    </dgm:pt>
    <dgm:pt modelId="{F107A9D9-8448-4A55-B1D1-AB7F1E9B4C2B}">
      <dgm:prSet phldrT="[Text]" custT="1"/>
      <dgm:spPr>
        <a:solidFill>
          <a:schemeClr val="accent5"/>
        </a:solidFill>
      </dgm:spPr>
      <dgm:t>
        <a:bodyPr/>
        <a:lstStyle/>
        <a:p>
          <a:r>
            <a:rPr lang="en-US" sz="1500" i="0" dirty="0">
              <a:latin typeface="Lato" panose="020F0502020204030203" pitchFamily="34" charset="0"/>
              <a:ea typeface="Lato" panose="020F0502020204030203" pitchFamily="34" charset="0"/>
              <a:cs typeface="Lato" panose="020F0502020204030203" pitchFamily="34" charset="0"/>
            </a:rPr>
            <a:t>Better </a:t>
          </a:r>
          <a:br>
            <a:rPr lang="en-US" sz="1500" i="0" dirty="0">
              <a:latin typeface="Lato" panose="020F0502020204030203" pitchFamily="34" charset="0"/>
              <a:ea typeface="Lato" panose="020F0502020204030203" pitchFamily="34" charset="0"/>
              <a:cs typeface="Lato" panose="020F0502020204030203" pitchFamily="34" charset="0"/>
            </a:rPr>
          </a:br>
          <a:r>
            <a:rPr lang="en-US" sz="1500" i="0" dirty="0">
              <a:latin typeface="Lato" panose="020F0502020204030203" pitchFamily="34" charset="0"/>
              <a:ea typeface="Lato" panose="020F0502020204030203" pitchFamily="34" charset="0"/>
              <a:cs typeface="Lato" panose="020F0502020204030203" pitchFamily="34" charset="0"/>
            </a:rPr>
            <a:t>Title IX guidance on parenting students</a:t>
          </a:r>
        </a:p>
      </dgm:t>
    </dgm:pt>
    <dgm:pt modelId="{098784FA-FD9D-4D7A-8FB6-57E8688301CF}" type="parTrans" cxnId="{30A4A675-2843-4D43-B23F-83ED8B69DC80}">
      <dgm:prSet/>
      <dgm:spPr/>
      <dgm:t>
        <a:bodyPr/>
        <a:lstStyle/>
        <a:p>
          <a:endParaRPr lang="en-US" sz="1500">
            <a:latin typeface="Lato" panose="020F0502020204030203" pitchFamily="34" charset="0"/>
            <a:ea typeface="Lato" panose="020F0502020204030203" pitchFamily="34" charset="0"/>
            <a:cs typeface="Lato" panose="020F0502020204030203" pitchFamily="34" charset="0"/>
          </a:endParaRPr>
        </a:p>
      </dgm:t>
    </dgm:pt>
    <dgm:pt modelId="{CAEB7C71-A837-45B4-BA2B-BC0A063A7C2E}" type="sibTrans" cxnId="{30A4A675-2843-4D43-B23F-83ED8B69DC80}">
      <dgm:prSet/>
      <dgm:spPr>
        <a:solidFill>
          <a:schemeClr val="bg1">
            <a:lumMod val="85000"/>
          </a:schemeClr>
        </a:solidFill>
      </dgm:spPr>
      <dgm:t>
        <a:bodyPr/>
        <a:lstStyle/>
        <a:p>
          <a:endParaRPr lang="en-US" sz="1500">
            <a:latin typeface="Lato" panose="020F0502020204030203" pitchFamily="34" charset="0"/>
            <a:ea typeface="Lato" panose="020F0502020204030203" pitchFamily="34" charset="0"/>
            <a:cs typeface="Lato" panose="020F0502020204030203" pitchFamily="34" charset="0"/>
          </a:endParaRPr>
        </a:p>
      </dgm:t>
    </dgm:pt>
    <dgm:pt modelId="{E07F29A5-D975-4E21-BD5C-ACC052490FF6}">
      <dgm:prSet phldrT="[Text]" custT="1"/>
      <dgm:spPr>
        <a:solidFill>
          <a:schemeClr val="accent5"/>
        </a:solidFill>
      </dgm:spPr>
      <dgm:t>
        <a:bodyPr/>
        <a:lstStyle/>
        <a:p>
          <a:r>
            <a:rPr lang="en-US" sz="1500" dirty="0">
              <a:latin typeface="Lato" panose="020F0502020204030203" pitchFamily="34" charset="0"/>
              <a:ea typeface="Lato" panose="020F0502020204030203" pitchFamily="34" charset="0"/>
              <a:cs typeface="Lato" panose="020F0502020204030203" pitchFamily="34" charset="0"/>
            </a:rPr>
            <a:t>Marriage &amp; parenting support for students</a:t>
          </a:r>
        </a:p>
      </dgm:t>
    </dgm:pt>
    <dgm:pt modelId="{3C3B90AD-2CC7-4836-A79A-323106656F04}" type="parTrans" cxnId="{D877AF6A-2037-4CED-9FB9-311011F24F88}">
      <dgm:prSet/>
      <dgm:spPr/>
      <dgm:t>
        <a:bodyPr/>
        <a:lstStyle/>
        <a:p>
          <a:endParaRPr lang="en-US" sz="1500">
            <a:latin typeface="Lato" panose="020F0502020204030203" pitchFamily="34" charset="0"/>
            <a:ea typeface="Lato" panose="020F0502020204030203" pitchFamily="34" charset="0"/>
            <a:cs typeface="Lato" panose="020F0502020204030203" pitchFamily="34" charset="0"/>
          </a:endParaRPr>
        </a:p>
      </dgm:t>
    </dgm:pt>
    <dgm:pt modelId="{A48DA3A6-1D11-4ED3-805A-69B019AB8E68}" type="sibTrans" cxnId="{D877AF6A-2037-4CED-9FB9-311011F24F88}">
      <dgm:prSet/>
      <dgm:spPr>
        <a:solidFill>
          <a:schemeClr val="bg1">
            <a:lumMod val="85000"/>
          </a:schemeClr>
        </a:solidFill>
      </dgm:spPr>
      <dgm:t>
        <a:bodyPr/>
        <a:lstStyle/>
        <a:p>
          <a:endParaRPr lang="en-US" sz="1500">
            <a:latin typeface="Lato" panose="020F0502020204030203" pitchFamily="34" charset="0"/>
            <a:ea typeface="Lato" panose="020F0502020204030203" pitchFamily="34" charset="0"/>
            <a:cs typeface="Lato" panose="020F0502020204030203" pitchFamily="34" charset="0"/>
          </a:endParaRPr>
        </a:p>
      </dgm:t>
    </dgm:pt>
    <dgm:pt modelId="{61B7951C-11A4-46B1-80AA-5B4324944A25}">
      <dgm:prSet phldrT="[Text]" custT="1"/>
      <dgm:spPr>
        <a:solidFill>
          <a:schemeClr val="accent5"/>
        </a:solidFill>
      </dgm:spPr>
      <dgm:t>
        <a:bodyPr/>
        <a:lstStyle/>
        <a:p>
          <a:r>
            <a:rPr lang="en-US" sz="1500" dirty="0">
              <a:latin typeface="Lato" panose="020F0502020204030203" pitchFamily="34" charset="0"/>
              <a:ea typeface="Lato" panose="020F0502020204030203" pitchFamily="34" charset="0"/>
              <a:cs typeface="Lato" panose="020F0502020204030203" pitchFamily="34" charset="0"/>
            </a:rPr>
            <a:t>Involve child care centers (e.g., Head Start) &amp; schools</a:t>
          </a:r>
        </a:p>
      </dgm:t>
    </dgm:pt>
    <dgm:pt modelId="{CC8CDC59-0118-4E38-A4FC-6349CD06C971}" type="parTrans" cxnId="{F0CD37C6-B59F-4D0B-AD0F-FCB06AAB9ED4}">
      <dgm:prSet/>
      <dgm:spPr/>
      <dgm:t>
        <a:bodyPr/>
        <a:lstStyle/>
        <a:p>
          <a:endParaRPr lang="en-US" sz="1500">
            <a:latin typeface="Lato" panose="020F0502020204030203" pitchFamily="34" charset="0"/>
            <a:ea typeface="Lato" panose="020F0502020204030203" pitchFamily="34" charset="0"/>
            <a:cs typeface="Lato" panose="020F0502020204030203" pitchFamily="34" charset="0"/>
          </a:endParaRPr>
        </a:p>
      </dgm:t>
    </dgm:pt>
    <dgm:pt modelId="{5B6AF2D7-EB7F-4162-BEC0-14B79E131B0A}" type="sibTrans" cxnId="{F0CD37C6-B59F-4D0B-AD0F-FCB06AAB9ED4}">
      <dgm:prSet/>
      <dgm:spPr>
        <a:solidFill>
          <a:schemeClr val="bg1">
            <a:lumMod val="85000"/>
          </a:schemeClr>
        </a:solidFill>
      </dgm:spPr>
      <dgm:t>
        <a:bodyPr/>
        <a:lstStyle/>
        <a:p>
          <a:endParaRPr lang="en-US" sz="1500">
            <a:latin typeface="Lato" panose="020F0502020204030203" pitchFamily="34" charset="0"/>
            <a:ea typeface="Lato" panose="020F0502020204030203" pitchFamily="34" charset="0"/>
            <a:cs typeface="Lato" panose="020F0502020204030203" pitchFamily="34" charset="0"/>
          </a:endParaRPr>
        </a:p>
      </dgm:t>
    </dgm:pt>
    <dgm:pt modelId="{B550CB93-69A0-48D3-9BF8-AD26F86D3E33}" type="pres">
      <dgm:prSet presAssocID="{B37A9D88-E325-4F3E-BD42-3EFD1AF59B6F}" presName="Name0" presStyleCnt="0">
        <dgm:presLayoutVars>
          <dgm:chMax val="1"/>
          <dgm:dir/>
          <dgm:animLvl val="ctr"/>
          <dgm:resizeHandles val="exact"/>
        </dgm:presLayoutVars>
      </dgm:prSet>
      <dgm:spPr/>
    </dgm:pt>
    <dgm:pt modelId="{C5416163-F3CD-430C-BBCB-FACE4C9B5A80}" type="pres">
      <dgm:prSet presAssocID="{7D74CA68-7E3D-4612-B5B2-FB8B074A5DDC}" presName="centerShape" presStyleLbl="node0" presStyleIdx="0" presStyleCnt="1"/>
      <dgm:spPr/>
    </dgm:pt>
    <dgm:pt modelId="{3FAC53DB-55E3-4175-925E-160697F46275}" type="pres">
      <dgm:prSet presAssocID="{A26E9DD9-CA85-4A88-918C-50B3BE6E2DE1}" presName="node" presStyleLbl="node1" presStyleIdx="0" presStyleCnt="4" custScaleX="129035" custScaleY="121004">
        <dgm:presLayoutVars>
          <dgm:bulletEnabled val="1"/>
        </dgm:presLayoutVars>
      </dgm:prSet>
      <dgm:spPr/>
    </dgm:pt>
    <dgm:pt modelId="{475333C2-A03E-422E-9992-518CA7290D0B}" type="pres">
      <dgm:prSet presAssocID="{A26E9DD9-CA85-4A88-918C-50B3BE6E2DE1}" presName="dummy" presStyleCnt="0"/>
      <dgm:spPr/>
    </dgm:pt>
    <dgm:pt modelId="{9B3DA2CE-DFA5-43DA-AC78-EABB1E93AFB8}" type="pres">
      <dgm:prSet presAssocID="{2A810D21-D3F2-41B6-A241-52A127C01A0A}" presName="sibTrans" presStyleLbl="sibTrans2D1" presStyleIdx="0" presStyleCnt="4"/>
      <dgm:spPr/>
    </dgm:pt>
    <dgm:pt modelId="{06C6020A-63E3-4B8A-84DA-72D4B33358F0}" type="pres">
      <dgm:prSet presAssocID="{F107A9D9-8448-4A55-B1D1-AB7F1E9B4C2B}" presName="node" presStyleLbl="node1" presStyleIdx="1" presStyleCnt="4" custScaleX="124601" custScaleY="127291">
        <dgm:presLayoutVars>
          <dgm:bulletEnabled val="1"/>
        </dgm:presLayoutVars>
      </dgm:prSet>
      <dgm:spPr/>
    </dgm:pt>
    <dgm:pt modelId="{A8E21F40-204D-4A3C-BE64-7F023135C116}" type="pres">
      <dgm:prSet presAssocID="{F107A9D9-8448-4A55-B1D1-AB7F1E9B4C2B}" presName="dummy" presStyleCnt="0"/>
      <dgm:spPr/>
    </dgm:pt>
    <dgm:pt modelId="{7B7AF002-7E5D-4F29-8338-1207216AB737}" type="pres">
      <dgm:prSet presAssocID="{CAEB7C71-A837-45B4-BA2B-BC0A063A7C2E}" presName="sibTrans" presStyleLbl="sibTrans2D1" presStyleIdx="1" presStyleCnt="4"/>
      <dgm:spPr/>
    </dgm:pt>
    <dgm:pt modelId="{F6E296C3-BEC6-4F9D-88F8-6343FDEB59F1}" type="pres">
      <dgm:prSet presAssocID="{E07F29A5-D975-4E21-BD5C-ACC052490FF6}" presName="node" presStyleLbl="node1" presStyleIdx="2" presStyleCnt="4" custScaleX="132688" custScaleY="130973">
        <dgm:presLayoutVars>
          <dgm:bulletEnabled val="1"/>
        </dgm:presLayoutVars>
      </dgm:prSet>
      <dgm:spPr/>
    </dgm:pt>
    <dgm:pt modelId="{E6E41C8F-11D8-4A21-B51E-19A8D5D0F04B}" type="pres">
      <dgm:prSet presAssocID="{E07F29A5-D975-4E21-BD5C-ACC052490FF6}" presName="dummy" presStyleCnt="0"/>
      <dgm:spPr/>
    </dgm:pt>
    <dgm:pt modelId="{4D69149D-0782-44FB-A725-24A23D693254}" type="pres">
      <dgm:prSet presAssocID="{A48DA3A6-1D11-4ED3-805A-69B019AB8E68}" presName="sibTrans" presStyleLbl="sibTrans2D1" presStyleIdx="2" presStyleCnt="4"/>
      <dgm:spPr/>
    </dgm:pt>
    <dgm:pt modelId="{D400E8E3-E9E0-4FF5-A9B8-C7E91BF99621}" type="pres">
      <dgm:prSet presAssocID="{61B7951C-11A4-46B1-80AA-5B4324944A25}" presName="node" presStyleLbl="node1" presStyleIdx="3" presStyleCnt="4" custScaleX="130505" custScaleY="133377">
        <dgm:presLayoutVars>
          <dgm:bulletEnabled val="1"/>
        </dgm:presLayoutVars>
      </dgm:prSet>
      <dgm:spPr/>
    </dgm:pt>
    <dgm:pt modelId="{D8A53F69-62B6-4D97-AD91-1B5ECCBFB71F}" type="pres">
      <dgm:prSet presAssocID="{61B7951C-11A4-46B1-80AA-5B4324944A25}" presName="dummy" presStyleCnt="0"/>
      <dgm:spPr/>
    </dgm:pt>
    <dgm:pt modelId="{70410869-809B-40D6-BD0D-3289B120DF48}" type="pres">
      <dgm:prSet presAssocID="{5B6AF2D7-EB7F-4162-BEC0-14B79E131B0A}" presName="sibTrans" presStyleLbl="sibTrans2D1" presStyleIdx="3" presStyleCnt="4"/>
      <dgm:spPr/>
    </dgm:pt>
  </dgm:ptLst>
  <dgm:cxnLst>
    <dgm:cxn modelId="{8A38871D-4152-4F28-BAB2-E3CE07E9CDFB}" type="presOf" srcId="{B37A9D88-E325-4F3E-BD42-3EFD1AF59B6F}" destId="{B550CB93-69A0-48D3-9BF8-AD26F86D3E33}" srcOrd="0" destOrd="0" presId="urn:microsoft.com/office/officeart/2005/8/layout/radial6"/>
    <dgm:cxn modelId="{5EEB5824-29D9-4B4C-92A4-A49DCA4A2027}" type="presOf" srcId="{2A810D21-D3F2-41B6-A241-52A127C01A0A}" destId="{9B3DA2CE-DFA5-43DA-AC78-EABB1E93AFB8}" srcOrd="0" destOrd="0" presId="urn:microsoft.com/office/officeart/2005/8/layout/radial6"/>
    <dgm:cxn modelId="{AC2D4F26-EEF6-448B-A281-7BA03D4F8A33}" type="presOf" srcId="{A48DA3A6-1D11-4ED3-805A-69B019AB8E68}" destId="{4D69149D-0782-44FB-A725-24A23D693254}" srcOrd="0" destOrd="0" presId="urn:microsoft.com/office/officeart/2005/8/layout/radial6"/>
    <dgm:cxn modelId="{A45AE341-96A7-4821-99C0-EEBB96C4C43B}" type="presOf" srcId="{CAEB7C71-A837-45B4-BA2B-BC0A063A7C2E}" destId="{7B7AF002-7E5D-4F29-8338-1207216AB737}" srcOrd="0" destOrd="0" presId="urn:microsoft.com/office/officeart/2005/8/layout/radial6"/>
    <dgm:cxn modelId="{D877AF6A-2037-4CED-9FB9-311011F24F88}" srcId="{7D74CA68-7E3D-4612-B5B2-FB8B074A5DDC}" destId="{E07F29A5-D975-4E21-BD5C-ACC052490FF6}" srcOrd="2" destOrd="0" parTransId="{3C3B90AD-2CC7-4836-A79A-323106656F04}" sibTransId="{A48DA3A6-1D11-4ED3-805A-69B019AB8E68}"/>
    <dgm:cxn modelId="{CDF6374F-D003-4FEC-89AD-42FED4753E66}" type="presOf" srcId="{61B7951C-11A4-46B1-80AA-5B4324944A25}" destId="{D400E8E3-E9E0-4FF5-A9B8-C7E91BF99621}" srcOrd="0" destOrd="0" presId="urn:microsoft.com/office/officeart/2005/8/layout/radial6"/>
    <dgm:cxn modelId="{30A4A675-2843-4D43-B23F-83ED8B69DC80}" srcId="{7D74CA68-7E3D-4612-B5B2-FB8B074A5DDC}" destId="{F107A9D9-8448-4A55-B1D1-AB7F1E9B4C2B}" srcOrd="1" destOrd="0" parTransId="{098784FA-FD9D-4D7A-8FB6-57E8688301CF}" sibTransId="{CAEB7C71-A837-45B4-BA2B-BC0A063A7C2E}"/>
    <dgm:cxn modelId="{6AB54E80-DDC6-4AC9-BD7F-0E47D559BAD0}" type="presOf" srcId="{7D74CA68-7E3D-4612-B5B2-FB8B074A5DDC}" destId="{C5416163-F3CD-430C-BBCB-FACE4C9B5A80}" srcOrd="0" destOrd="0" presId="urn:microsoft.com/office/officeart/2005/8/layout/radial6"/>
    <dgm:cxn modelId="{127B8082-79D1-4BC2-9748-A6CA34A5C439}" type="presOf" srcId="{A26E9DD9-CA85-4A88-918C-50B3BE6E2DE1}" destId="{3FAC53DB-55E3-4175-925E-160697F46275}" srcOrd="0" destOrd="0" presId="urn:microsoft.com/office/officeart/2005/8/layout/radial6"/>
    <dgm:cxn modelId="{A88E1B92-8BAA-4F65-9101-1620E06F8642}" srcId="{7D74CA68-7E3D-4612-B5B2-FB8B074A5DDC}" destId="{A26E9DD9-CA85-4A88-918C-50B3BE6E2DE1}" srcOrd="0" destOrd="0" parTransId="{D65523C3-EC0D-4611-8454-F0FBE22CBADF}" sibTransId="{2A810D21-D3F2-41B6-A241-52A127C01A0A}"/>
    <dgm:cxn modelId="{D4BADB92-5697-441F-A767-02C6F1D9A232}" srcId="{B37A9D88-E325-4F3E-BD42-3EFD1AF59B6F}" destId="{7D74CA68-7E3D-4612-B5B2-FB8B074A5DDC}" srcOrd="0" destOrd="0" parTransId="{9563477C-675A-45AA-A0EC-A7DF5E3680BA}" sibTransId="{E28304B3-46D0-448E-BEAD-70CB9145CA7C}"/>
    <dgm:cxn modelId="{A7A69BA0-0D7D-477A-8756-B2343F943C1B}" type="presOf" srcId="{E07F29A5-D975-4E21-BD5C-ACC052490FF6}" destId="{F6E296C3-BEC6-4F9D-88F8-6343FDEB59F1}" srcOrd="0" destOrd="0" presId="urn:microsoft.com/office/officeart/2005/8/layout/radial6"/>
    <dgm:cxn modelId="{F0CD37C6-B59F-4D0B-AD0F-FCB06AAB9ED4}" srcId="{7D74CA68-7E3D-4612-B5B2-FB8B074A5DDC}" destId="{61B7951C-11A4-46B1-80AA-5B4324944A25}" srcOrd="3" destOrd="0" parTransId="{CC8CDC59-0118-4E38-A4FC-6349CD06C971}" sibTransId="{5B6AF2D7-EB7F-4162-BEC0-14B79E131B0A}"/>
    <dgm:cxn modelId="{589D5CCA-89B8-4126-AB4E-767ECCE31562}" type="presOf" srcId="{F107A9D9-8448-4A55-B1D1-AB7F1E9B4C2B}" destId="{06C6020A-63E3-4B8A-84DA-72D4B33358F0}" srcOrd="0" destOrd="0" presId="urn:microsoft.com/office/officeart/2005/8/layout/radial6"/>
    <dgm:cxn modelId="{AF0756CF-8E36-415D-80C0-06BDB4400018}" type="presOf" srcId="{5B6AF2D7-EB7F-4162-BEC0-14B79E131B0A}" destId="{70410869-809B-40D6-BD0D-3289B120DF48}" srcOrd="0" destOrd="0" presId="urn:microsoft.com/office/officeart/2005/8/layout/radial6"/>
    <dgm:cxn modelId="{93408D1A-4319-4A69-8FA2-BB90474471E0}" type="presParOf" srcId="{B550CB93-69A0-48D3-9BF8-AD26F86D3E33}" destId="{C5416163-F3CD-430C-BBCB-FACE4C9B5A80}" srcOrd="0" destOrd="0" presId="urn:microsoft.com/office/officeart/2005/8/layout/radial6"/>
    <dgm:cxn modelId="{739E8853-7135-4B12-9C2C-63C74C54E713}" type="presParOf" srcId="{B550CB93-69A0-48D3-9BF8-AD26F86D3E33}" destId="{3FAC53DB-55E3-4175-925E-160697F46275}" srcOrd="1" destOrd="0" presId="urn:microsoft.com/office/officeart/2005/8/layout/radial6"/>
    <dgm:cxn modelId="{A2ACA1DD-D9F9-46C3-A23A-5BCF30D2C991}" type="presParOf" srcId="{B550CB93-69A0-48D3-9BF8-AD26F86D3E33}" destId="{475333C2-A03E-422E-9992-518CA7290D0B}" srcOrd="2" destOrd="0" presId="urn:microsoft.com/office/officeart/2005/8/layout/radial6"/>
    <dgm:cxn modelId="{ED63E74B-15C5-4A19-8DF4-7474428DDA4D}" type="presParOf" srcId="{B550CB93-69A0-48D3-9BF8-AD26F86D3E33}" destId="{9B3DA2CE-DFA5-43DA-AC78-EABB1E93AFB8}" srcOrd="3" destOrd="0" presId="urn:microsoft.com/office/officeart/2005/8/layout/radial6"/>
    <dgm:cxn modelId="{54070307-C62D-4F79-9D8E-CCBB75B2D221}" type="presParOf" srcId="{B550CB93-69A0-48D3-9BF8-AD26F86D3E33}" destId="{06C6020A-63E3-4B8A-84DA-72D4B33358F0}" srcOrd="4" destOrd="0" presId="urn:microsoft.com/office/officeart/2005/8/layout/radial6"/>
    <dgm:cxn modelId="{84539DAA-6F93-487C-AF4D-1BD576EDDD23}" type="presParOf" srcId="{B550CB93-69A0-48D3-9BF8-AD26F86D3E33}" destId="{A8E21F40-204D-4A3C-BE64-7F023135C116}" srcOrd="5" destOrd="0" presId="urn:microsoft.com/office/officeart/2005/8/layout/radial6"/>
    <dgm:cxn modelId="{57104F38-8690-4999-BEB8-DB9832709ED8}" type="presParOf" srcId="{B550CB93-69A0-48D3-9BF8-AD26F86D3E33}" destId="{7B7AF002-7E5D-4F29-8338-1207216AB737}" srcOrd="6" destOrd="0" presId="urn:microsoft.com/office/officeart/2005/8/layout/radial6"/>
    <dgm:cxn modelId="{90788684-76F3-4134-8707-C5FC2A05C453}" type="presParOf" srcId="{B550CB93-69A0-48D3-9BF8-AD26F86D3E33}" destId="{F6E296C3-BEC6-4F9D-88F8-6343FDEB59F1}" srcOrd="7" destOrd="0" presId="urn:microsoft.com/office/officeart/2005/8/layout/radial6"/>
    <dgm:cxn modelId="{6BCCEF51-81F3-4496-A62D-86311EE8B373}" type="presParOf" srcId="{B550CB93-69A0-48D3-9BF8-AD26F86D3E33}" destId="{E6E41C8F-11D8-4A21-B51E-19A8D5D0F04B}" srcOrd="8" destOrd="0" presId="urn:microsoft.com/office/officeart/2005/8/layout/radial6"/>
    <dgm:cxn modelId="{3B9BC262-F7D7-4D93-AB37-872C845DFB8C}" type="presParOf" srcId="{B550CB93-69A0-48D3-9BF8-AD26F86D3E33}" destId="{4D69149D-0782-44FB-A725-24A23D693254}" srcOrd="9" destOrd="0" presId="urn:microsoft.com/office/officeart/2005/8/layout/radial6"/>
    <dgm:cxn modelId="{2D0CACF5-9D64-403A-844D-B1722FB6707A}" type="presParOf" srcId="{B550CB93-69A0-48D3-9BF8-AD26F86D3E33}" destId="{D400E8E3-E9E0-4FF5-A9B8-C7E91BF99621}" srcOrd="10" destOrd="0" presId="urn:microsoft.com/office/officeart/2005/8/layout/radial6"/>
    <dgm:cxn modelId="{AA818B0A-79AC-4BA2-971C-9F57AC387296}" type="presParOf" srcId="{B550CB93-69A0-48D3-9BF8-AD26F86D3E33}" destId="{D8A53F69-62B6-4D97-AD91-1B5ECCBFB71F}" srcOrd="11" destOrd="0" presId="urn:microsoft.com/office/officeart/2005/8/layout/radial6"/>
    <dgm:cxn modelId="{52A43847-3EED-403A-A48B-87779E97BF00}" type="presParOf" srcId="{B550CB93-69A0-48D3-9BF8-AD26F86D3E33}" destId="{70410869-809B-40D6-BD0D-3289B120DF48}" srcOrd="12" destOrd="0" presId="urn:microsoft.com/office/officeart/2005/8/layout/radial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C15A59E-C0AE-4EE4-BA5A-0247BC326682}" type="doc">
      <dgm:prSet loTypeId="urn:microsoft.com/office/officeart/2005/8/layout/pyramid2" loCatId="pyramid" qsTypeId="urn:microsoft.com/office/officeart/2005/8/quickstyle/simple1" qsCatId="simple" csTypeId="urn:microsoft.com/office/officeart/2005/8/colors/accent1_2" csCatId="accent1" phldr="1"/>
      <dgm:spPr/>
    </dgm:pt>
    <dgm:pt modelId="{D6552CFB-87DA-4117-AA1D-76864AF1B528}">
      <dgm:prSet phldrT="[Text]"/>
      <dgm:spPr/>
      <dgm:t>
        <a:bodyPr/>
        <a:lstStyle/>
        <a:p>
          <a:r>
            <a:rPr lang="en-US" dirty="0"/>
            <a:t>Pregnant &amp; Parenting Students</a:t>
          </a:r>
        </a:p>
      </dgm:t>
    </dgm:pt>
    <dgm:pt modelId="{77762588-A72F-4505-B565-5792B81C4ADE}" type="parTrans" cxnId="{E8B2001A-58BE-458F-AE55-B14971626684}">
      <dgm:prSet/>
      <dgm:spPr/>
      <dgm:t>
        <a:bodyPr/>
        <a:lstStyle/>
        <a:p>
          <a:endParaRPr lang="en-US"/>
        </a:p>
      </dgm:t>
    </dgm:pt>
    <dgm:pt modelId="{D496FECC-3BED-49DA-8DFA-A0EFB28364C7}" type="sibTrans" cxnId="{E8B2001A-58BE-458F-AE55-B14971626684}">
      <dgm:prSet/>
      <dgm:spPr/>
      <dgm:t>
        <a:bodyPr/>
        <a:lstStyle/>
        <a:p>
          <a:endParaRPr lang="en-US"/>
        </a:p>
      </dgm:t>
    </dgm:pt>
    <dgm:pt modelId="{5C59A7D9-C331-410A-AF95-EC30823E729F}">
      <dgm:prSet phldrT="[Text]"/>
      <dgm:spPr/>
      <dgm:t>
        <a:bodyPr/>
        <a:lstStyle/>
        <a:p>
          <a:r>
            <a:rPr lang="en-US" dirty="0"/>
            <a:t>Opportunity, Especially through Education</a:t>
          </a:r>
        </a:p>
      </dgm:t>
    </dgm:pt>
    <dgm:pt modelId="{B949A69C-45C0-41D8-BCBC-3B00942A73C5}" type="parTrans" cxnId="{25E3C108-2CD8-4E62-9B6B-D9B600DED11E}">
      <dgm:prSet/>
      <dgm:spPr/>
      <dgm:t>
        <a:bodyPr/>
        <a:lstStyle/>
        <a:p>
          <a:endParaRPr lang="en-US"/>
        </a:p>
      </dgm:t>
    </dgm:pt>
    <dgm:pt modelId="{B0528904-6C60-46A0-AD5E-DE95F74C8A06}" type="sibTrans" cxnId="{25E3C108-2CD8-4E62-9B6B-D9B600DED11E}">
      <dgm:prSet/>
      <dgm:spPr/>
      <dgm:t>
        <a:bodyPr/>
        <a:lstStyle/>
        <a:p>
          <a:endParaRPr lang="en-US"/>
        </a:p>
      </dgm:t>
    </dgm:pt>
    <dgm:pt modelId="{FFB3926E-71B3-485B-9299-516F0A3C80D9}">
      <dgm:prSet phldrT="[Text]"/>
      <dgm:spPr/>
      <dgm:t>
        <a:bodyPr/>
        <a:lstStyle/>
        <a:p>
          <a:r>
            <a:rPr lang="en-US" dirty="0"/>
            <a:t>Social Justice</a:t>
          </a:r>
        </a:p>
      </dgm:t>
    </dgm:pt>
    <dgm:pt modelId="{172544AC-A323-4F77-B26A-97B7DC5B7E66}" type="parTrans" cxnId="{B9738E73-0916-48A0-9711-AC5D6FDB2B6D}">
      <dgm:prSet/>
      <dgm:spPr/>
      <dgm:t>
        <a:bodyPr/>
        <a:lstStyle/>
        <a:p>
          <a:endParaRPr lang="en-US"/>
        </a:p>
      </dgm:t>
    </dgm:pt>
    <dgm:pt modelId="{5239DDC6-1B98-441D-BD31-90062DD5B5E9}" type="sibTrans" cxnId="{B9738E73-0916-48A0-9711-AC5D6FDB2B6D}">
      <dgm:prSet/>
      <dgm:spPr/>
      <dgm:t>
        <a:bodyPr/>
        <a:lstStyle/>
        <a:p>
          <a:endParaRPr lang="en-US"/>
        </a:p>
      </dgm:t>
    </dgm:pt>
    <dgm:pt modelId="{153A7AF6-F79B-4FF6-A399-F0DCCA9EFE8E}">
      <dgm:prSet/>
      <dgm:spPr/>
      <dgm:t>
        <a:bodyPr/>
        <a:lstStyle/>
        <a:p>
          <a:r>
            <a:rPr lang="en-US" dirty="0"/>
            <a:t>Considering Families (“Two Generation”)</a:t>
          </a:r>
        </a:p>
      </dgm:t>
    </dgm:pt>
    <dgm:pt modelId="{D2C86F5E-DBA9-4BEC-B44B-7C9468F963EF}" type="parTrans" cxnId="{A91EB8CA-3C6E-427A-84AF-2FD291072F77}">
      <dgm:prSet/>
      <dgm:spPr/>
      <dgm:t>
        <a:bodyPr/>
        <a:lstStyle/>
        <a:p>
          <a:endParaRPr lang="en-US"/>
        </a:p>
      </dgm:t>
    </dgm:pt>
    <dgm:pt modelId="{145C6409-A78F-480F-8EAC-40BB8E8CB607}" type="sibTrans" cxnId="{A91EB8CA-3C6E-427A-84AF-2FD291072F77}">
      <dgm:prSet/>
      <dgm:spPr/>
      <dgm:t>
        <a:bodyPr/>
        <a:lstStyle/>
        <a:p>
          <a:endParaRPr lang="en-US"/>
        </a:p>
      </dgm:t>
    </dgm:pt>
    <dgm:pt modelId="{445722A2-696C-470F-8D29-2BD1FD8B2EE2}" type="pres">
      <dgm:prSet presAssocID="{2C15A59E-C0AE-4EE4-BA5A-0247BC326682}" presName="compositeShape" presStyleCnt="0">
        <dgm:presLayoutVars>
          <dgm:dir/>
          <dgm:resizeHandles/>
        </dgm:presLayoutVars>
      </dgm:prSet>
      <dgm:spPr/>
    </dgm:pt>
    <dgm:pt modelId="{D28F458D-9302-46EF-8275-B1B7DDBD3E70}" type="pres">
      <dgm:prSet presAssocID="{2C15A59E-C0AE-4EE4-BA5A-0247BC326682}" presName="pyramid" presStyleLbl="node1" presStyleIdx="0" presStyleCnt="1"/>
      <dgm:spPr/>
    </dgm:pt>
    <dgm:pt modelId="{483B1DD1-243C-4962-B0BD-98ABD7401674}" type="pres">
      <dgm:prSet presAssocID="{2C15A59E-C0AE-4EE4-BA5A-0247BC326682}" presName="theList" presStyleCnt="0"/>
      <dgm:spPr/>
    </dgm:pt>
    <dgm:pt modelId="{74FDBCE5-E0D0-4602-AE1E-34F69F34AA22}" type="pres">
      <dgm:prSet presAssocID="{D6552CFB-87DA-4117-AA1D-76864AF1B528}" presName="aNode" presStyleLbl="fgAcc1" presStyleIdx="0" presStyleCnt="4">
        <dgm:presLayoutVars>
          <dgm:bulletEnabled val="1"/>
        </dgm:presLayoutVars>
      </dgm:prSet>
      <dgm:spPr/>
    </dgm:pt>
    <dgm:pt modelId="{3C423C15-DF6E-4918-B128-EA27F7D7870C}" type="pres">
      <dgm:prSet presAssocID="{D6552CFB-87DA-4117-AA1D-76864AF1B528}" presName="aSpace" presStyleCnt="0"/>
      <dgm:spPr/>
    </dgm:pt>
    <dgm:pt modelId="{A4204B12-D87C-45C3-AF89-C3A555DAAE26}" type="pres">
      <dgm:prSet presAssocID="{153A7AF6-F79B-4FF6-A399-F0DCCA9EFE8E}" presName="aNode" presStyleLbl="fgAcc1" presStyleIdx="1" presStyleCnt="4">
        <dgm:presLayoutVars>
          <dgm:bulletEnabled val="1"/>
        </dgm:presLayoutVars>
      </dgm:prSet>
      <dgm:spPr/>
    </dgm:pt>
    <dgm:pt modelId="{1CE344DB-FB77-4128-BBA0-0275A5B443BB}" type="pres">
      <dgm:prSet presAssocID="{153A7AF6-F79B-4FF6-A399-F0DCCA9EFE8E}" presName="aSpace" presStyleCnt="0"/>
      <dgm:spPr/>
    </dgm:pt>
    <dgm:pt modelId="{FA29D1C4-31CF-416C-A59A-3123F6F26083}" type="pres">
      <dgm:prSet presAssocID="{5C59A7D9-C331-410A-AF95-EC30823E729F}" presName="aNode" presStyleLbl="fgAcc1" presStyleIdx="2" presStyleCnt="4">
        <dgm:presLayoutVars>
          <dgm:bulletEnabled val="1"/>
        </dgm:presLayoutVars>
      </dgm:prSet>
      <dgm:spPr/>
    </dgm:pt>
    <dgm:pt modelId="{367C36B3-A0CB-40DF-9E79-65A40B4AA1D9}" type="pres">
      <dgm:prSet presAssocID="{5C59A7D9-C331-410A-AF95-EC30823E729F}" presName="aSpace" presStyleCnt="0"/>
      <dgm:spPr/>
    </dgm:pt>
    <dgm:pt modelId="{01CB4E90-6C63-47CE-B9AE-5F7D43FFBAEB}" type="pres">
      <dgm:prSet presAssocID="{FFB3926E-71B3-485B-9299-516F0A3C80D9}" presName="aNode" presStyleLbl="fgAcc1" presStyleIdx="3" presStyleCnt="4">
        <dgm:presLayoutVars>
          <dgm:bulletEnabled val="1"/>
        </dgm:presLayoutVars>
      </dgm:prSet>
      <dgm:spPr/>
    </dgm:pt>
    <dgm:pt modelId="{8A82A4C0-98AC-411A-815E-863E9F2C2A14}" type="pres">
      <dgm:prSet presAssocID="{FFB3926E-71B3-485B-9299-516F0A3C80D9}" presName="aSpace" presStyleCnt="0"/>
      <dgm:spPr/>
    </dgm:pt>
  </dgm:ptLst>
  <dgm:cxnLst>
    <dgm:cxn modelId="{25E3C108-2CD8-4E62-9B6B-D9B600DED11E}" srcId="{2C15A59E-C0AE-4EE4-BA5A-0247BC326682}" destId="{5C59A7D9-C331-410A-AF95-EC30823E729F}" srcOrd="2" destOrd="0" parTransId="{B949A69C-45C0-41D8-BCBC-3B00942A73C5}" sibTransId="{B0528904-6C60-46A0-AD5E-DE95F74C8A06}"/>
    <dgm:cxn modelId="{79F66111-DDC1-44DC-B487-1D7929275C6E}" type="presOf" srcId="{FFB3926E-71B3-485B-9299-516F0A3C80D9}" destId="{01CB4E90-6C63-47CE-B9AE-5F7D43FFBAEB}" srcOrd="0" destOrd="0" presId="urn:microsoft.com/office/officeart/2005/8/layout/pyramid2"/>
    <dgm:cxn modelId="{E8B2001A-58BE-458F-AE55-B14971626684}" srcId="{2C15A59E-C0AE-4EE4-BA5A-0247BC326682}" destId="{D6552CFB-87DA-4117-AA1D-76864AF1B528}" srcOrd="0" destOrd="0" parTransId="{77762588-A72F-4505-B565-5792B81C4ADE}" sibTransId="{D496FECC-3BED-49DA-8DFA-A0EFB28364C7}"/>
    <dgm:cxn modelId="{A519715B-FE3B-4648-A3CC-6843AECBDED5}" type="presOf" srcId="{153A7AF6-F79B-4FF6-A399-F0DCCA9EFE8E}" destId="{A4204B12-D87C-45C3-AF89-C3A555DAAE26}" srcOrd="0" destOrd="0" presId="urn:microsoft.com/office/officeart/2005/8/layout/pyramid2"/>
    <dgm:cxn modelId="{B9738E73-0916-48A0-9711-AC5D6FDB2B6D}" srcId="{2C15A59E-C0AE-4EE4-BA5A-0247BC326682}" destId="{FFB3926E-71B3-485B-9299-516F0A3C80D9}" srcOrd="3" destOrd="0" parTransId="{172544AC-A323-4F77-B26A-97B7DC5B7E66}" sibTransId="{5239DDC6-1B98-441D-BD31-90062DD5B5E9}"/>
    <dgm:cxn modelId="{24B6D394-C558-4DCF-AC7A-4083E42B7192}" type="presOf" srcId="{2C15A59E-C0AE-4EE4-BA5A-0247BC326682}" destId="{445722A2-696C-470F-8D29-2BD1FD8B2EE2}" srcOrd="0" destOrd="0" presId="urn:microsoft.com/office/officeart/2005/8/layout/pyramid2"/>
    <dgm:cxn modelId="{AE4F649A-0B7A-4693-A8C5-5C6B96F31BFB}" type="presOf" srcId="{5C59A7D9-C331-410A-AF95-EC30823E729F}" destId="{FA29D1C4-31CF-416C-A59A-3123F6F26083}" srcOrd="0" destOrd="0" presId="urn:microsoft.com/office/officeart/2005/8/layout/pyramid2"/>
    <dgm:cxn modelId="{A91EB8CA-3C6E-427A-84AF-2FD291072F77}" srcId="{2C15A59E-C0AE-4EE4-BA5A-0247BC326682}" destId="{153A7AF6-F79B-4FF6-A399-F0DCCA9EFE8E}" srcOrd="1" destOrd="0" parTransId="{D2C86F5E-DBA9-4BEC-B44B-7C9468F963EF}" sibTransId="{145C6409-A78F-480F-8EAC-40BB8E8CB607}"/>
    <dgm:cxn modelId="{554FE6CE-755E-48F4-A0A5-5479B4410AD3}" type="presOf" srcId="{D6552CFB-87DA-4117-AA1D-76864AF1B528}" destId="{74FDBCE5-E0D0-4602-AE1E-34F69F34AA22}" srcOrd="0" destOrd="0" presId="urn:microsoft.com/office/officeart/2005/8/layout/pyramid2"/>
    <dgm:cxn modelId="{3C070412-9937-41FE-B880-F384F2C05DEB}" type="presParOf" srcId="{445722A2-696C-470F-8D29-2BD1FD8B2EE2}" destId="{D28F458D-9302-46EF-8275-B1B7DDBD3E70}" srcOrd="0" destOrd="0" presId="urn:microsoft.com/office/officeart/2005/8/layout/pyramid2"/>
    <dgm:cxn modelId="{17D3F625-639C-43CE-84E8-EFC4C33FBED9}" type="presParOf" srcId="{445722A2-696C-470F-8D29-2BD1FD8B2EE2}" destId="{483B1DD1-243C-4962-B0BD-98ABD7401674}" srcOrd="1" destOrd="0" presId="urn:microsoft.com/office/officeart/2005/8/layout/pyramid2"/>
    <dgm:cxn modelId="{0F81AB9B-939D-464B-8E65-C376284A0A33}" type="presParOf" srcId="{483B1DD1-243C-4962-B0BD-98ABD7401674}" destId="{74FDBCE5-E0D0-4602-AE1E-34F69F34AA22}" srcOrd="0" destOrd="0" presId="urn:microsoft.com/office/officeart/2005/8/layout/pyramid2"/>
    <dgm:cxn modelId="{EA0DE25D-D109-4F65-B3D1-C400575E71D6}" type="presParOf" srcId="{483B1DD1-243C-4962-B0BD-98ABD7401674}" destId="{3C423C15-DF6E-4918-B128-EA27F7D7870C}" srcOrd="1" destOrd="0" presId="urn:microsoft.com/office/officeart/2005/8/layout/pyramid2"/>
    <dgm:cxn modelId="{33E2A3E2-3F47-4D93-8825-334D1D75CED2}" type="presParOf" srcId="{483B1DD1-243C-4962-B0BD-98ABD7401674}" destId="{A4204B12-D87C-45C3-AF89-C3A555DAAE26}" srcOrd="2" destOrd="0" presId="urn:microsoft.com/office/officeart/2005/8/layout/pyramid2"/>
    <dgm:cxn modelId="{368B1339-5CFB-4AB2-8B81-43B97CD41219}" type="presParOf" srcId="{483B1DD1-243C-4962-B0BD-98ABD7401674}" destId="{1CE344DB-FB77-4128-BBA0-0275A5B443BB}" srcOrd="3" destOrd="0" presId="urn:microsoft.com/office/officeart/2005/8/layout/pyramid2"/>
    <dgm:cxn modelId="{D16B5478-3E97-4E68-93B3-44823995D583}" type="presParOf" srcId="{483B1DD1-243C-4962-B0BD-98ABD7401674}" destId="{FA29D1C4-31CF-416C-A59A-3123F6F26083}" srcOrd="4" destOrd="0" presId="urn:microsoft.com/office/officeart/2005/8/layout/pyramid2"/>
    <dgm:cxn modelId="{CDF9AB84-1AC5-4DCF-8FCB-3E86B9D3D9D7}" type="presParOf" srcId="{483B1DD1-243C-4962-B0BD-98ABD7401674}" destId="{367C36B3-A0CB-40DF-9E79-65A40B4AA1D9}" srcOrd="5" destOrd="0" presId="urn:microsoft.com/office/officeart/2005/8/layout/pyramid2"/>
    <dgm:cxn modelId="{93D9A6FC-4463-4B69-9814-53885FC43C09}" type="presParOf" srcId="{483B1DD1-243C-4962-B0BD-98ABD7401674}" destId="{01CB4E90-6C63-47CE-B9AE-5F7D43FFBAEB}" srcOrd="6" destOrd="0" presId="urn:microsoft.com/office/officeart/2005/8/layout/pyramid2"/>
    <dgm:cxn modelId="{79E0D22B-1032-4EB9-830B-020F0F86DED6}" type="presParOf" srcId="{483B1DD1-243C-4962-B0BD-98ABD7401674}" destId="{8A82A4C0-98AC-411A-815E-863E9F2C2A14}" srcOrd="7" destOrd="0" presId="urn:microsoft.com/office/officeart/2005/8/layout/pyramid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AE455B-7124-4AB4-BF31-94DCAC09DE94}">
      <dsp:nvSpPr>
        <dsp:cNvPr id="0" name=""/>
        <dsp:cNvSpPr/>
      </dsp:nvSpPr>
      <dsp:spPr>
        <a:xfrm>
          <a:off x="1220783" y="548699"/>
          <a:ext cx="3657480" cy="3657480"/>
        </a:xfrm>
        <a:prstGeom prst="blockArc">
          <a:avLst>
            <a:gd name="adj1" fmla="val 5400000"/>
            <a:gd name="adj2" fmla="val 16200000"/>
            <a:gd name="adj3" fmla="val 4637"/>
          </a:avLst>
        </a:prstGeom>
        <a:solidFill>
          <a:schemeClr val="bg1">
            <a:lumMod val="85000"/>
          </a:schemeClr>
        </a:solidFill>
        <a:ln>
          <a:noFill/>
        </a:ln>
        <a:effectLst/>
      </dsp:spPr>
      <dsp:style>
        <a:lnRef idx="0">
          <a:scrgbClr r="0" g="0" b="0"/>
        </a:lnRef>
        <a:fillRef idx="1">
          <a:scrgbClr r="0" g="0" b="0"/>
        </a:fillRef>
        <a:effectRef idx="0">
          <a:scrgbClr r="0" g="0" b="0"/>
        </a:effectRef>
        <a:fontRef idx="minor">
          <a:schemeClr val="lt1"/>
        </a:fontRef>
      </dsp:style>
    </dsp:sp>
    <dsp:sp modelId="{FCDBE41E-5D0B-4031-A19F-0DE40A5E905F}">
      <dsp:nvSpPr>
        <dsp:cNvPr id="0" name=""/>
        <dsp:cNvSpPr/>
      </dsp:nvSpPr>
      <dsp:spPr>
        <a:xfrm>
          <a:off x="1220783" y="548699"/>
          <a:ext cx="3657480" cy="3657480"/>
        </a:xfrm>
        <a:prstGeom prst="blockArc">
          <a:avLst>
            <a:gd name="adj1" fmla="val 16200000"/>
            <a:gd name="adj2" fmla="val 5400000"/>
            <a:gd name="adj3" fmla="val 4637"/>
          </a:avLst>
        </a:prstGeom>
        <a:solidFill>
          <a:schemeClr val="bg1">
            <a:lumMod val="85000"/>
          </a:schemeClr>
        </a:solidFill>
        <a:ln>
          <a:noFill/>
        </a:ln>
        <a:effectLst/>
      </dsp:spPr>
      <dsp:style>
        <a:lnRef idx="0">
          <a:scrgbClr r="0" g="0" b="0"/>
        </a:lnRef>
        <a:fillRef idx="1">
          <a:scrgbClr r="0" g="0" b="0"/>
        </a:fillRef>
        <a:effectRef idx="0">
          <a:scrgbClr r="0" g="0" b="0"/>
        </a:effectRef>
        <a:fontRef idx="minor">
          <a:schemeClr val="lt1"/>
        </a:fontRef>
      </dsp:style>
    </dsp:sp>
    <dsp:sp modelId="{C5416163-F3CD-430C-BBCB-FACE4C9B5A80}">
      <dsp:nvSpPr>
        <dsp:cNvPr id="0" name=""/>
        <dsp:cNvSpPr/>
      </dsp:nvSpPr>
      <dsp:spPr>
        <a:xfrm>
          <a:off x="2208224" y="1536140"/>
          <a:ext cx="1682598" cy="1682598"/>
        </a:xfrm>
        <a:prstGeom prst="ellipse">
          <a:avLst/>
        </a:prstGeom>
        <a:solidFill>
          <a:schemeClr val="bg2">
            <a:lumMod val="90000"/>
          </a:schemeClr>
        </a:solidFill>
        <a:ln w="1905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b="1" kern="1200" dirty="0">
              <a:solidFill>
                <a:sysClr val="windowText" lastClr="000000"/>
              </a:solidFill>
              <a:latin typeface="Lato" panose="020F0502020204030203" pitchFamily="34" charset="0"/>
              <a:ea typeface="Lato" panose="020F0502020204030203" pitchFamily="34" charset="0"/>
              <a:cs typeface="Lato" panose="020F0502020204030203" pitchFamily="34" charset="0"/>
            </a:rPr>
            <a:t>Advising support</a:t>
          </a:r>
        </a:p>
      </dsp:txBody>
      <dsp:txXfrm>
        <a:off x="2454635" y="1782551"/>
        <a:ext cx="1189776" cy="1189776"/>
      </dsp:txXfrm>
    </dsp:sp>
    <dsp:sp modelId="{01C18C70-635E-421F-8B41-0CE9D1788E51}">
      <dsp:nvSpPr>
        <dsp:cNvPr id="0" name=""/>
        <dsp:cNvSpPr/>
      </dsp:nvSpPr>
      <dsp:spPr>
        <a:xfrm>
          <a:off x="2336914" y="-121508"/>
          <a:ext cx="1425219" cy="1425219"/>
        </a:xfrm>
        <a:prstGeom prst="ellipse">
          <a:avLst/>
        </a:prstGeom>
        <a:solidFill>
          <a:schemeClr val="bg2">
            <a:lumMod val="50000"/>
          </a:schemeClr>
        </a:solidFill>
        <a:ln w="1905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solidFill>
                <a:sysClr val="window" lastClr="FFFFFF"/>
              </a:solidFill>
              <a:latin typeface="Lato" panose="020F0502020204030203" pitchFamily="34" charset="0"/>
              <a:ea typeface="Lato" panose="020F0502020204030203" pitchFamily="34" charset="0"/>
              <a:cs typeface="Lato" panose="020F0502020204030203" pitchFamily="34" charset="0"/>
            </a:rPr>
            <a:t>Holistic advising</a:t>
          </a:r>
        </a:p>
      </dsp:txBody>
      <dsp:txXfrm>
        <a:off x="2545632" y="87210"/>
        <a:ext cx="1007783" cy="1007783"/>
      </dsp:txXfrm>
    </dsp:sp>
    <dsp:sp modelId="{5923DA9D-0069-477B-A3EE-F7E9CFE552DE}">
      <dsp:nvSpPr>
        <dsp:cNvPr id="0" name=""/>
        <dsp:cNvSpPr/>
      </dsp:nvSpPr>
      <dsp:spPr>
        <a:xfrm>
          <a:off x="2336914" y="3451168"/>
          <a:ext cx="1425219" cy="1425219"/>
        </a:xfrm>
        <a:prstGeom prst="ellipse">
          <a:avLst/>
        </a:prstGeom>
        <a:solidFill>
          <a:schemeClr val="bg2">
            <a:lumMod val="50000"/>
          </a:schemeClr>
        </a:solidFill>
        <a:ln w="1905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solidFill>
                <a:sysClr val="window" lastClr="FFFFFF"/>
              </a:solidFill>
              <a:latin typeface="Lato" panose="020F0502020204030203" pitchFamily="34" charset="0"/>
              <a:ea typeface="Lato" panose="020F0502020204030203" pitchFamily="34" charset="0"/>
              <a:cs typeface="Lato" panose="020F0502020204030203" pitchFamily="34" charset="0"/>
            </a:rPr>
            <a:t>Student-parent-specific advising</a:t>
          </a:r>
        </a:p>
      </dsp:txBody>
      <dsp:txXfrm>
        <a:off x="2545632" y="3659886"/>
        <a:ext cx="1007783" cy="100778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410869-809B-40D6-BD0D-3289B120DF48}">
      <dsp:nvSpPr>
        <dsp:cNvPr id="0" name=""/>
        <dsp:cNvSpPr/>
      </dsp:nvSpPr>
      <dsp:spPr>
        <a:xfrm>
          <a:off x="717949" y="524967"/>
          <a:ext cx="3658072" cy="3658072"/>
        </a:xfrm>
        <a:prstGeom prst="blockArc">
          <a:avLst>
            <a:gd name="adj1" fmla="val 10800000"/>
            <a:gd name="adj2" fmla="val 16200000"/>
            <a:gd name="adj3" fmla="val 4643"/>
          </a:avLst>
        </a:prstGeom>
        <a:solidFill>
          <a:schemeClr val="bg1">
            <a:lumMod val="85000"/>
          </a:schemeClr>
        </a:solidFill>
        <a:ln>
          <a:noFill/>
        </a:ln>
        <a:effectLst/>
      </dsp:spPr>
      <dsp:style>
        <a:lnRef idx="0">
          <a:scrgbClr r="0" g="0" b="0"/>
        </a:lnRef>
        <a:fillRef idx="1">
          <a:scrgbClr r="0" g="0" b="0"/>
        </a:fillRef>
        <a:effectRef idx="0">
          <a:scrgbClr r="0" g="0" b="0"/>
        </a:effectRef>
        <a:fontRef idx="minor">
          <a:schemeClr val="lt1"/>
        </a:fontRef>
      </dsp:style>
    </dsp:sp>
    <dsp:sp modelId="{4D69149D-0782-44FB-A725-24A23D693254}">
      <dsp:nvSpPr>
        <dsp:cNvPr id="0" name=""/>
        <dsp:cNvSpPr/>
      </dsp:nvSpPr>
      <dsp:spPr>
        <a:xfrm>
          <a:off x="717949" y="524967"/>
          <a:ext cx="3658072" cy="3658072"/>
        </a:xfrm>
        <a:prstGeom prst="blockArc">
          <a:avLst>
            <a:gd name="adj1" fmla="val 5400000"/>
            <a:gd name="adj2" fmla="val 10800000"/>
            <a:gd name="adj3" fmla="val 4643"/>
          </a:avLst>
        </a:prstGeom>
        <a:solidFill>
          <a:schemeClr val="bg1">
            <a:lumMod val="85000"/>
          </a:schemeClr>
        </a:solidFill>
        <a:ln>
          <a:noFill/>
        </a:ln>
        <a:effectLst/>
      </dsp:spPr>
      <dsp:style>
        <a:lnRef idx="0">
          <a:scrgbClr r="0" g="0" b="0"/>
        </a:lnRef>
        <a:fillRef idx="1">
          <a:scrgbClr r="0" g="0" b="0"/>
        </a:fillRef>
        <a:effectRef idx="0">
          <a:scrgbClr r="0" g="0" b="0"/>
        </a:effectRef>
        <a:fontRef idx="minor">
          <a:schemeClr val="lt1"/>
        </a:fontRef>
      </dsp:style>
    </dsp:sp>
    <dsp:sp modelId="{7B7AF002-7E5D-4F29-8338-1207216AB737}">
      <dsp:nvSpPr>
        <dsp:cNvPr id="0" name=""/>
        <dsp:cNvSpPr/>
      </dsp:nvSpPr>
      <dsp:spPr>
        <a:xfrm>
          <a:off x="717949" y="524967"/>
          <a:ext cx="3658072" cy="3658072"/>
        </a:xfrm>
        <a:prstGeom prst="blockArc">
          <a:avLst>
            <a:gd name="adj1" fmla="val 0"/>
            <a:gd name="adj2" fmla="val 5400000"/>
            <a:gd name="adj3" fmla="val 4643"/>
          </a:avLst>
        </a:prstGeom>
        <a:solidFill>
          <a:schemeClr val="bg1">
            <a:lumMod val="85000"/>
          </a:schemeClr>
        </a:solidFill>
        <a:ln>
          <a:noFill/>
        </a:ln>
        <a:effectLst/>
      </dsp:spPr>
      <dsp:style>
        <a:lnRef idx="0">
          <a:scrgbClr r="0" g="0" b="0"/>
        </a:lnRef>
        <a:fillRef idx="1">
          <a:scrgbClr r="0" g="0" b="0"/>
        </a:fillRef>
        <a:effectRef idx="0">
          <a:scrgbClr r="0" g="0" b="0"/>
        </a:effectRef>
        <a:fontRef idx="minor">
          <a:schemeClr val="lt1"/>
        </a:fontRef>
      </dsp:style>
    </dsp:sp>
    <dsp:sp modelId="{9B3DA2CE-DFA5-43DA-AC78-EABB1E93AFB8}">
      <dsp:nvSpPr>
        <dsp:cNvPr id="0" name=""/>
        <dsp:cNvSpPr/>
      </dsp:nvSpPr>
      <dsp:spPr>
        <a:xfrm>
          <a:off x="717949" y="524967"/>
          <a:ext cx="3658072" cy="3658072"/>
        </a:xfrm>
        <a:prstGeom prst="blockArc">
          <a:avLst>
            <a:gd name="adj1" fmla="val 16200000"/>
            <a:gd name="adj2" fmla="val 0"/>
            <a:gd name="adj3" fmla="val 4643"/>
          </a:avLst>
        </a:prstGeom>
        <a:solidFill>
          <a:schemeClr val="bg1">
            <a:lumMod val="85000"/>
          </a:schemeClr>
        </a:solidFill>
        <a:ln>
          <a:noFill/>
        </a:ln>
        <a:effectLst/>
      </dsp:spPr>
      <dsp:style>
        <a:lnRef idx="0">
          <a:scrgbClr r="0" g="0" b="0"/>
        </a:lnRef>
        <a:fillRef idx="1">
          <a:scrgbClr r="0" g="0" b="0"/>
        </a:fillRef>
        <a:effectRef idx="0">
          <a:scrgbClr r="0" g="0" b="0"/>
        </a:effectRef>
        <a:fontRef idx="minor">
          <a:schemeClr val="lt1"/>
        </a:fontRef>
      </dsp:style>
    </dsp:sp>
    <dsp:sp modelId="{C5416163-F3CD-430C-BBCB-FACE4C9B5A80}">
      <dsp:nvSpPr>
        <dsp:cNvPr id="0" name=""/>
        <dsp:cNvSpPr/>
      </dsp:nvSpPr>
      <dsp:spPr>
        <a:xfrm>
          <a:off x="1705037" y="1512055"/>
          <a:ext cx="1683896" cy="1683896"/>
        </a:xfrm>
        <a:prstGeom prst="ellipse">
          <a:avLst/>
        </a:prstGeom>
        <a:solidFill>
          <a:schemeClr val="accent1">
            <a:lumMod val="40000"/>
            <a:lumOff val="60000"/>
          </a:schemeClr>
        </a:solidFill>
        <a:ln w="1905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b="1" kern="1200" dirty="0">
              <a:solidFill>
                <a:sysClr val="windowText" lastClr="000000"/>
              </a:solidFill>
              <a:latin typeface="Lato" panose="020F0502020204030203" pitchFamily="34" charset="0"/>
              <a:ea typeface="Lato" panose="020F0502020204030203" pitchFamily="34" charset="0"/>
              <a:cs typeface="Lato" panose="020F0502020204030203" pitchFamily="34" charset="0"/>
            </a:rPr>
            <a:t>Safe &amp; welcoming campus culture</a:t>
          </a:r>
        </a:p>
      </dsp:txBody>
      <dsp:txXfrm>
        <a:off x="1951638" y="1758656"/>
        <a:ext cx="1190694" cy="1190694"/>
      </dsp:txXfrm>
    </dsp:sp>
    <dsp:sp modelId="{3FAC53DB-55E3-4175-925E-160697F46275}">
      <dsp:nvSpPr>
        <dsp:cNvPr id="0" name=""/>
        <dsp:cNvSpPr/>
      </dsp:nvSpPr>
      <dsp:spPr>
        <a:xfrm>
          <a:off x="1833832" y="-145751"/>
          <a:ext cx="1426307" cy="1426307"/>
        </a:xfrm>
        <a:prstGeom prst="ellipse">
          <a:avLst/>
        </a:prstGeom>
        <a:solidFill>
          <a:schemeClr val="accent1"/>
        </a:solidFill>
        <a:ln w="1905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solidFill>
                <a:sysClr val="window" lastClr="FFFFFF"/>
              </a:solidFill>
              <a:latin typeface="Lato" panose="020F0502020204030203" pitchFamily="34" charset="0"/>
              <a:ea typeface="Lato" panose="020F0502020204030203" pitchFamily="34" charset="0"/>
              <a:cs typeface="Lato" panose="020F0502020204030203" pitchFamily="34" charset="0"/>
            </a:rPr>
            <a:t>Family-Friendly Campus Toolkit </a:t>
          </a:r>
        </a:p>
      </dsp:txBody>
      <dsp:txXfrm>
        <a:off x="2042710" y="63127"/>
        <a:ext cx="1008551" cy="1008551"/>
      </dsp:txXfrm>
    </dsp:sp>
    <dsp:sp modelId="{06C6020A-63E3-4B8A-84DA-72D4B33358F0}">
      <dsp:nvSpPr>
        <dsp:cNvPr id="0" name=""/>
        <dsp:cNvSpPr/>
      </dsp:nvSpPr>
      <dsp:spPr>
        <a:xfrm>
          <a:off x="3620434" y="1640850"/>
          <a:ext cx="1426307" cy="1426307"/>
        </a:xfrm>
        <a:prstGeom prst="ellipse">
          <a:avLst/>
        </a:prstGeom>
        <a:solidFill>
          <a:schemeClr val="accent1"/>
        </a:solidFill>
        <a:ln w="1905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i="0" kern="1200" dirty="0">
              <a:solidFill>
                <a:sysClr val="window" lastClr="FFFFFF"/>
              </a:solidFill>
              <a:latin typeface="Lato" panose="020F0502020204030203" pitchFamily="34" charset="0"/>
              <a:ea typeface="Lato" panose="020F0502020204030203" pitchFamily="34" charset="0"/>
              <a:cs typeface="Lato" panose="020F0502020204030203" pitchFamily="34" charset="0"/>
            </a:rPr>
            <a:t>Adapt "8 Keys to Veterans’ Success"</a:t>
          </a:r>
        </a:p>
      </dsp:txBody>
      <dsp:txXfrm>
        <a:off x="3829312" y="1849728"/>
        <a:ext cx="1008551" cy="1008551"/>
      </dsp:txXfrm>
    </dsp:sp>
    <dsp:sp modelId="{F6E296C3-BEC6-4F9D-88F8-6343FDEB59F1}">
      <dsp:nvSpPr>
        <dsp:cNvPr id="0" name=""/>
        <dsp:cNvSpPr/>
      </dsp:nvSpPr>
      <dsp:spPr>
        <a:xfrm>
          <a:off x="1771218" y="3380580"/>
          <a:ext cx="1551535" cy="1520051"/>
        </a:xfrm>
        <a:prstGeom prst="ellipse">
          <a:avLst/>
        </a:prstGeom>
        <a:solidFill>
          <a:schemeClr val="accent1"/>
        </a:solidFill>
        <a:ln w="1905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solidFill>
                <a:sysClr val="window" lastClr="FFFFFF"/>
              </a:solidFill>
              <a:latin typeface="Lato" panose="020F0502020204030203" pitchFamily="34" charset="0"/>
              <a:ea typeface="Lato" panose="020F0502020204030203" pitchFamily="34" charset="0"/>
              <a:cs typeface="Lato" panose="020F0502020204030203" pitchFamily="34" charset="0"/>
            </a:rPr>
            <a:t>Reasonable </a:t>
          </a:r>
          <a:r>
            <a:rPr lang="en-US" sz="1500" kern="1200" dirty="0" err="1">
              <a:solidFill>
                <a:sysClr val="window" lastClr="FFFFFF"/>
              </a:solidFill>
              <a:latin typeface="Lato" panose="020F0502020204030203" pitchFamily="34" charset="0"/>
              <a:ea typeface="Lato" panose="020F0502020204030203" pitchFamily="34" charset="0"/>
              <a:cs typeface="Lato" panose="020F0502020204030203" pitchFamily="34" charset="0"/>
            </a:rPr>
            <a:t>accom-modations point person</a:t>
          </a:r>
          <a:endParaRPr lang="en-US" sz="1500" kern="1200" dirty="0">
            <a:solidFill>
              <a:sysClr val="window" lastClr="FFFFFF"/>
            </a:solidFill>
            <a:latin typeface="Lato" panose="020F0502020204030203" pitchFamily="34" charset="0"/>
            <a:ea typeface="Lato" panose="020F0502020204030203" pitchFamily="34" charset="0"/>
            <a:cs typeface="Lato" panose="020F0502020204030203" pitchFamily="34" charset="0"/>
          </a:endParaRPr>
        </a:p>
      </dsp:txBody>
      <dsp:txXfrm>
        <a:off x="1998435" y="3603186"/>
        <a:ext cx="1097101" cy="1074839"/>
      </dsp:txXfrm>
    </dsp:sp>
    <dsp:sp modelId="{D400E8E3-E9E0-4FF5-A9B8-C7E91BF99621}">
      <dsp:nvSpPr>
        <dsp:cNvPr id="0" name=""/>
        <dsp:cNvSpPr/>
      </dsp:nvSpPr>
      <dsp:spPr>
        <a:xfrm>
          <a:off x="47230" y="1640850"/>
          <a:ext cx="1426307" cy="1426307"/>
        </a:xfrm>
        <a:prstGeom prst="ellipse">
          <a:avLst/>
        </a:prstGeom>
        <a:solidFill>
          <a:schemeClr val="accent1"/>
        </a:solidFill>
        <a:ln w="1905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solidFill>
                <a:sysClr val="window" lastClr="FFFFFF"/>
              </a:solidFill>
              <a:latin typeface="Lato" panose="020F0502020204030203" pitchFamily="34" charset="0"/>
              <a:ea typeface="Lato" panose="020F0502020204030203" pitchFamily="34" charset="0"/>
              <a:cs typeface="Lato" panose="020F0502020204030203" pitchFamily="34" charset="0"/>
            </a:rPr>
            <a:t>Colleges study student-parent population</a:t>
          </a:r>
        </a:p>
      </dsp:txBody>
      <dsp:txXfrm>
        <a:off x="256108" y="1849728"/>
        <a:ext cx="1008551" cy="100855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BA8A65-99C8-4433-98AA-E94BCFA03F48}">
      <dsp:nvSpPr>
        <dsp:cNvPr id="0" name=""/>
        <dsp:cNvSpPr/>
      </dsp:nvSpPr>
      <dsp:spPr>
        <a:xfrm>
          <a:off x="590884" y="604333"/>
          <a:ext cx="3915565" cy="3915565"/>
        </a:xfrm>
        <a:prstGeom prst="blockArc">
          <a:avLst>
            <a:gd name="adj1" fmla="val 11880000"/>
            <a:gd name="adj2" fmla="val 16200000"/>
            <a:gd name="adj3" fmla="val 464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B7AF002-7E5D-4F29-8338-1207216AB737}">
      <dsp:nvSpPr>
        <dsp:cNvPr id="0" name=""/>
        <dsp:cNvSpPr/>
      </dsp:nvSpPr>
      <dsp:spPr>
        <a:xfrm>
          <a:off x="590884" y="604333"/>
          <a:ext cx="3915565" cy="3915565"/>
        </a:xfrm>
        <a:prstGeom prst="blockArc">
          <a:avLst>
            <a:gd name="adj1" fmla="val 9000000"/>
            <a:gd name="adj2" fmla="val 16200000"/>
            <a:gd name="adj3" fmla="val 4637"/>
          </a:avLst>
        </a:prstGeom>
        <a:solidFill>
          <a:schemeClr val="bg1">
            <a:lumMod val="85000"/>
          </a:schemeClr>
        </a:solidFill>
        <a:ln>
          <a:noFill/>
        </a:ln>
        <a:effectLst/>
      </dsp:spPr>
      <dsp:style>
        <a:lnRef idx="0">
          <a:scrgbClr r="0" g="0" b="0"/>
        </a:lnRef>
        <a:fillRef idx="1">
          <a:scrgbClr r="0" g="0" b="0"/>
        </a:fillRef>
        <a:effectRef idx="0">
          <a:scrgbClr r="0" g="0" b="0"/>
        </a:effectRef>
        <a:fontRef idx="minor">
          <a:schemeClr val="lt1"/>
        </a:fontRef>
      </dsp:style>
    </dsp:sp>
    <dsp:sp modelId="{E418E2D4-5A74-44D5-ADD1-C9BECB51FC31}">
      <dsp:nvSpPr>
        <dsp:cNvPr id="0" name=""/>
        <dsp:cNvSpPr/>
      </dsp:nvSpPr>
      <dsp:spPr>
        <a:xfrm>
          <a:off x="590884" y="604333"/>
          <a:ext cx="3915565" cy="3915565"/>
        </a:xfrm>
        <a:prstGeom prst="blockArc">
          <a:avLst>
            <a:gd name="adj1" fmla="val 1800000"/>
            <a:gd name="adj2" fmla="val 9000000"/>
            <a:gd name="adj3" fmla="val 4637"/>
          </a:avLst>
        </a:prstGeom>
        <a:solidFill>
          <a:schemeClr val="bg1">
            <a:lumMod val="85000"/>
          </a:schemeClr>
        </a:solidFill>
        <a:ln>
          <a:noFill/>
        </a:ln>
        <a:effectLst/>
      </dsp:spPr>
      <dsp:style>
        <a:lnRef idx="0">
          <a:scrgbClr r="0" g="0" b="0"/>
        </a:lnRef>
        <a:fillRef idx="1">
          <a:scrgbClr r="0" g="0" b="0"/>
        </a:fillRef>
        <a:effectRef idx="0">
          <a:scrgbClr r="0" g="0" b="0"/>
        </a:effectRef>
        <a:fontRef idx="minor">
          <a:schemeClr val="lt1"/>
        </a:fontRef>
      </dsp:style>
    </dsp:sp>
    <dsp:sp modelId="{9B3DA2CE-DFA5-43DA-AC78-EABB1E93AFB8}">
      <dsp:nvSpPr>
        <dsp:cNvPr id="0" name=""/>
        <dsp:cNvSpPr/>
      </dsp:nvSpPr>
      <dsp:spPr>
        <a:xfrm>
          <a:off x="590884" y="604333"/>
          <a:ext cx="3915565" cy="3915565"/>
        </a:xfrm>
        <a:prstGeom prst="blockArc">
          <a:avLst>
            <a:gd name="adj1" fmla="val 16200000"/>
            <a:gd name="adj2" fmla="val 1800000"/>
            <a:gd name="adj3" fmla="val 4637"/>
          </a:avLst>
        </a:prstGeom>
        <a:solidFill>
          <a:schemeClr val="bg1">
            <a:lumMod val="85000"/>
          </a:schemeClr>
        </a:solidFill>
        <a:ln>
          <a:noFill/>
        </a:ln>
        <a:effectLst/>
      </dsp:spPr>
      <dsp:style>
        <a:lnRef idx="0">
          <a:scrgbClr r="0" g="0" b="0"/>
        </a:lnRef>
        <a:fillRef idx="1">
          <a:scrgbClr r="0" g="0" b="0"/>
        </a:fillRef>
        <a:effectRef idx="0">
          <a:scrgbClr r="0" g="0" b="0"/>
        </a:effectRef>
        <a:fontRef idx="minor">
          <a:schemeClr val="lt1"/>
        </a:fontRef>
      </dsp:style>
    </dsp:sp>
    <dsp:sp modelId="{B5967ED8-EBE0-4EA8-80B7-1F038C46EE48}">
      <dsp:nvSpPr>
        <dsp:cNvPr id="0" name=""/>
        <dsp:cNvSpPr/>
      </dsp:nvSpPr>
      <dsp:spPr>
        <a:xfrm>
          <a:off x="590884" y="604333"/>
          <a:ext cx="3915565" cy="3915565"/>
        </a:xfrm>
        <a:prstGeom prst="blockArc">
          <a:avLst>
            <a:gd name="adj1" fmla="val 16200000"/>
            <a:gd name="adj2" fmla="val 20520000"/>
            <a:gd name="adj3" fmla="val 4642"/>
          </a:avLst>
        </a:prstGeom>
        <a:solidFill>
          <a:schemeClr val="bg1">
            <a:lumMod val="85000"/>
          </a:schemeClr>
        </a:solidFill>
        <a:ln>
          <a:noFill/>
        </a:ln>
        <a:effectLst/>
      </dsp:spPr>
      <dsp:style>
        <a:lnRef idx="0">
          <a:scrgbClr r="0" g="0" b="0"/>
        </a:lnRef>
        <a:fillRef idx="1">
          <a:scrgbClr r="0" g="0" b="0"/>
        </a:fillRef>
        <a:effectRef idx="0">
          <a:scrgbClr r="0" g="0" b="0"/>
        </a:effectRef>
        <a:fontRef idx="minor">
          <a:schemeClr val="lt1"/>
        </a:fontRef>
      </dsp:style>
    </dsp:sp>
    <dsp:sp modelId="{C5416163-F3CD-430C-BBCB-FACE4C9B5A80}">
      <dsp:nvSpPr>
        <dsp:cNvPr id="0" name=""/>
        <dsp:cNvSpPr/>
      </dsp:nvSpPr>
      <dsp:spPr>
        <a:xfrm>
          <a:off x="1647159" y="1660608"/>
          <a:ext cx="1803015" cy="1803015"/>
        </a:xfrm>
        <a:prstGeom prst="ellipse">
          <a:avLst/>
        </a:prstGeom>
        <a:solidFill>
          <a:schemeClr val="accent4">
            <a:lumMod val="40000"/>
            <a:lumOff val="60000"/>
          </a:schemeClr>
        </a:solidFill>
        <a:ln w="1905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b="1" kern="1200" dirty="0">
              <a:solidFill>
                <a:schemeClr val="bg1"/>
              </a:solidFill>
              <a:latin typeface="Lato" panose="020F0502020204030203" pitchFamily="34" charset="0"/>
              <a:ea typeface="Lato" panose="020F0502020204030203" pitchFamily="34" charset="0"/>
              <a:cs typeface="Lato" panose="020F0502020204030203" pitchFamily="34" charset="0"/>
            </a:rPr>
            <a:t>Child care</a:t>
          </a:r>
        </a:p>
      </dsp:txBody>
      <dsp:txXfrm>
        <a:off x="1911204" y="1924653"/>
        <a:ext cx="1274925" cy="1274925"/>
      </dsp:txXfrm>
    </dsp:sp>
    <dsp:sp modelId="{13B484CE-D57B-474C-A8C9-0F9B585CA903}">
      <dsp:nvSpPr>
        <dsp:cNvPr id="0" name=""/>
        <dsp:cNvSpPr/>
      </dsp:nvSpPr>
      <dsp:spPr>
        <a:xfrm>
          <a:off x="1836603" y="-62294"/>
          <a:ext cx="1424128" cy="1424128"/>
        </a:xfrm>
        <a:prstGeom prst="ellipse">
          <a:avLst/>
        </a:prstGeom>
        <a:solidFill>
          <a:schemeClr val="accent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a:solidFill>
                <a:schemeClr val="bg1"/>
              </a:solidFill>
              <a:latin typeface="Lato" panose="020F0502020204030203" pitchFamily="34" charset="0"/>
              <a:ea typeface="Lato" panose="020F0502020204030203" pitchFamily="34" charset="0"/>
              <a:cs typeface="Lato" panose="020F0502020204030203" pitchFamily="34" charset="0"/>
            </a:rPr>
            <a:t>More subsidies &amp; providers</a:t>
          </a:r>
        </a:p>
      </dsp:txBody>
      <dsp:txXfrm>
        <a:off x="2045162" y="146265"/>
        <a:ext cx="1007010" cy="1007010"/>
      </dsp:txXfrm>
    </dsp:sp>
    <dsp:sp modelId="{3FAC53DB-55E3-4175-925E-160697F46275}">
      <dsp:nvSpPr>
        <dsp:cNvPr id="0" name=""/>
        <dsp:cNvSpPr/>
      </dsp:nvSpPr>
      <dsp:spPr>
        <a:xfrm>
          <a:off x="3659480" y="1263231"/>
          <a:ext cx="1415873" cy="1415873"/>
        </a:xfrm>
        <a:prstGeom prst="ellipse">
          <a:avLst/>
        </a:prstGeom>
        <a:solidFill>
          <a:schemeClr val="accent4"/>
        </a:solidFill>
        <a:ln w="1905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bg1"/>
              </a:solidFill>
              <a:latin typeface="Lato" panose="020F0502020204030203" pitchFamily="34" charset="0"/>
              <a:ea typeface="Lato" panose="020F0502020204030203" pitchFamily="34" charset="0"/>
              <a:cs typeface="Lato" panose="020F0502020204030203" pitchFamily="34" charset="0"/>
            </a:rPr>
            <a:t>Extended,  weekend,  non-traditional</a:t>
          </a:r>
        </a:p>
      </dsp:txBody>
      <dsp:txXfrm>
        <a:off x="3866830" y="1470581"/>
        <a:ext cx="1001173" cy="1001173"/>
      </dsp:txXfrm>
    </dsp:sp>
    <dsp:sp modelId="{9B2720D3-AA12-4792-B6D3-74CBB39C61FE}">
      <dsp:nvSpPr>
        <dsp:cNvPr id="0" name=""/>
        <dsp:cNvSpPr/>
      </dsp:nvSpPr>
      <dsp:spPr>
        <a:xfrm>
          <a:off x="2964779" y="3401300"/>
          <a:ext cx="1415873" cy="1415873"/>
        </a:xfrm>
        <a:prstGeom prst="ellipse">
          <a:avLst/>
        </a:prstGeom>
        <a:solidFill>
          <a:schemeClr val="accent4"/>
        </a:solidFill>
        <a:ln w="1905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bg1"/>
              </a:solidFill>
              <a:latin typeface="Lato" panose="020F0502020204030203" pitchFamily="34" charset="0"/>
              <a:ea typeface="Lato" panose="020F0502020204030203" pitchFamily="34" charset="0"/>
              <a:cs typeface="Lato" panose="020F0502020204030203" pitchFamily="34" charset="0"/>
            </a:rPr>
            <a:t>Expand on-campus child care</a:t>
          </a:r>
        </a:p>
      </dsp:txBody>
      <dsp:txXfrm>
        <a:off x="3172129" y="3608650"/>
        <a:ext cx="1001173" cy="1001173"/>
      </dsp:txXfrm>
    </dsp:sp>
    <dsp:sp modelId="{06C6020A-63E3-4B8A-84DA-72D4B33358F0}">
      <dsp:nvSpPr>
        <dsp:cNvPr id="0" name=""/>
        <dsp:cNvSpPr/>
      </dsp:nvSpPr>
      <dsp:spPr>
        <a:xfrm>
          <a:off x="716681" y="3401300"/>
          <a:ext cx="1415873" cy="1415873"/>
        </a:xfrm>
        <a:prstGeom prst="ellipse">
          <a:avLst/>
        </a:prstGeom>
        <a:solidFill>
          <a:schemeClr val="accent4"/>
        </a:solidFill>
        <a:ln w="1905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err="1">
              <a:solidFill>
                <a:schemeClr val="bg1"/>
              </a:solidFill>
              <a:latin typeface="Lato" panose="020F0502020204030203" pitchFamily="34" charset="0"/>
              <a:ea typeface="Lato" panose="020F0502020204030203" pitchFamily="34" charset="0"/>
              <a:cs typeface="Lato" panose="020F0502020204030203" pitchFamily="34" charset="0"/>
            </a:rPr>
            <a:t>CCDF</a:t>
          </a:r>
          <a:r>
            <a:rPr lang="en-US" sz="1500" kern="1200" dirty="0">
              <a:solidFill>
                <a:schemeClr val="bg1"/>
              </a:solidFill>
              <a:latin typeface="Lato" panose="020F0502020204030203" pitchFamily="34" charset="0"/>
              <a:ea typeface="Lato" panose="020F0502020204030203" pitchFamily="34" charset="0"/>
              <a:cs typeface="Lato" panose="020F0502020204030203" pitchFamily="34" charset="0"/>
            </a:rPr>
            <a:t> covers education support activities</a:t>
          </a:r>
        </a:p>
      </dsp:txBody>
      <dsp:txXfrm>
        <a:off x="924031" y="3608650"/>
        <a:ext cx="1001173" cy="1001173"/>
      </dsp:txXfrm>
    </dsp:sp>
    <dsp:sp modelId="{E043BB89-BB66-4E3C-B7A7-7880B14FD817}">
      <dsp:nvSpPr>
        <dsp:cNvPr id="0" name=""/>
        <dsp:cNvSpPr/>
      </dsp:nvSpPr>
      <dsp:spPr>
        <a:xfrm>
          <a:off x="17853" y="1259104"/>
          <a:ext cx="1424128" cy="1424128"/>
        </a:xfrm>
        <a:prstGeom prst="ellipse">
          <a:avLst/>
        </a:prstGeom>
        <a:solidFill>
          <a:schemeClr val="accent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a:solidFill>
                <a:schemeClr val="bg1"/>
              </a:solidFill>
              <a:latin typeface="Lato" panose="020F0502020204030203" pitchFamily="34" charset="0"/>
              <a:ea typeface="Lato" panose="020F0502020204030203" pitchFamily="34" charset="0"/>
              <a:cs typeface="Lato" panose="020F0502020204030203" pitchFamily="34" charset="0"/>
            </a:rPr>
            <a:t>Include cost of care in financial aid</a:t>
          </a:r>
        </a:p>
      </dsp:txBody>
      <dsp:txXfrm>
        <a:off x="226412" y="1467663"/>
        <a:ext cx="1007010" cy="100701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410869-809B-40D6-BD0D-3289B120DF48}">
      <dsp:nvSpPr>
        <dsp:cNvPr id="0" name=""/>
        <dsp:cNvSpPr/>
      </dsp:nvSpPr>
      <dsp:spPr>
        <a:xfrm>
          <a:off x="720295" y="506808"/>
          <a:ext cx="3660973" cy="3660973"/>
        </a:xfrm>
        <a:prstGeom prst="blockArc">
          <a:avLst>
            <a:gd name="adj1" fmla="val 10800000"/>
            <a:gd name="adj2" fmla="val 16200000"/>
            <a:gd name="adj3" fmla="val 4643"/>
          </a:avLst>
        </a:prstGeom>
        <a:solidFill>
          <a:schemeClr val="bg1">
            <a:lumMod val="85000"/>
          </a:schemeClr>
        </a:solidFill>
        <a:ln>
          <a:noFill/>
        </a:ln>
        <a:effectLst/>
      </dsp:spPr>
      <dsp:style>
        <a:lnRef idx="0">
          <a:scrgbClr r="0" g="0" b="0"/>
        </a:lnRef>
        <a:fillRef idx="1">
          <a:scrgbClr r="0" g="0" b="0"/>
        </a:fillRef>
        <a:effectRef idx="0">
          <a:scrgbClr r="0" g="0" b="0"/>
        </a:effectRef>
        <a:fontRef idx="minor">
          <a:schemeClr val="lt1"/>
        </a:fontRef>
      </dsp:style>
    </dsp:sp>
    <dsp:sp modelId="{4D69149D-0782-44FB-A725-24A23D693254}">
      <dsp:nvSpPr>
        <dsp:cNvPr id="0" name=""/>
        <dsp:cNvSpPr/>
      </dsp:nvSpPr>
      <dsp:spPr>
        <a:xfrm>
          <a:off x="720295" y="506808"/>
          <a:ext cx="3660973" cy="3660973"/>
        </a:xfrm>
        <a:prstGeom prst="blockArc">
          <a:avLst>
            <a:gd name="adj1" fmla="val 5400000"/>
            <a:gd name="adj2" fmla="val 10800000"/>
            <a:gd name="adj3" fmla="val 4643"/>
          </a:avLst>
        </a:prstGeom>
        <a:solidFill>
          <a:schemeClr val="bg1">
            <a:lumMod val="85000"/>
          </a:schemeClr>
        </a:solidFill>
        <a:ln>
          <a:noFill/>
        </a:ln>
        <a:effectLst/>
      </dsp:spPr>
      <dsp:style>
        <a:lnRef idx="0">
          <a:scrgbClr r="0" g="0" b="0"/>
        </a:lnRef>
        <a:fillRef idx="1">
          <a:scrgbClr r="0" g="0" b="0"/>
        </a:fillRef>
        <a:effectRef idx="0">
          <a:scrgbClr r="0" g="0" b="0"/>
        </a:effectRef>
        <a:fontRef idx="minor">
          <a:schemeClr val="lt1"/>
        </a:fontRef>
      </dsp:style>
    </dsp:sp>
    <dsp:sp modelId="{7B7AF002-7E5D-4F29-8338-1207216AB737}">
      <dsp:nvSpPr>
        <dsp:cNvPr id="0" name=""/>
        <dsp:cNvSpPr/>
      </dsp:nvSpPr>
      <dsp:spPr>
        <a:xfrm>
          <a:off x="720295" y="506808"/>
          <a:ext cx="3660973" cy="3660973"/>
        </a:xfrm>
        <a:prstGeom prst="blockArc">
          <a:avLst>
            <a:gd name="adj1" fmla="val 0"/>
            <a:gd name="adj2" fmla="val 5400000"/>
            <a:gd name="adj3" fmla="val 4643"/>
          </a:avLst>
        </a:prstGeom>
        <a:solidFill>
          <a:schemeClr val="bg1">
            <a:lumMod val="85000"/>
          </a:schemeClr>
        </a:solidFill>
        <a:ln>
          <a:noFill/>
        </a:ln>
        <a:effectLst/>
      </dsp:spPr>
      <dsp:style>
        <a:lnRef idx="0">
          <a:scrgbClr r="0" g="0" b="0"/>
        </a:lnRef>
        <a:fillRef idx="1">
          <a:scrgbClr r="0" g="0" b="0"/>
        </a:fillRef>
        <a:effectRef idx="0">
          <a:scrgbClr r="0" g="0" b="0"/>
        </a:effectRef>
        <a:fontRef idx="minor">
          <a:schemeClr val="lt1"/>
        </a:fontRef>
      </dsp:style>
    </dsp:sp>
    <dsp:sp modelId="{9B3DA2CE-DFA5-43DA-AC78-EABB1E93AFB8}">
      <dsp:nvSpPr>
        <dsp:cNvPr id="0" name=""/>
        <dsp:cNvSpPr/>
      </dsp:nvSpPr>
      <dsp:spPr>
        <a:xfrm>
          <a:off x="720295" y="506808"/>
          <a:ext cx="3660973" cy="3660973"/>
        </a:xfrm>
        <a:prstGeom prst="blockArc">
          <a:avLst>
            <a:gd name="adj1" fmla="val 16200000"/>
            <a:gd name="adj2" fmla="val 0"/>
            <a:gd name="adj3" fmla="val 4643"/>
          </a:avLst>
        </a:prstGeom>
        <a:solidFill>
          <a:schemeClr val="bg1">
            <a:lumMod val="85000"/>
          </a:schemeClr>
        </a:solidFill>
        <a:ln>
          <a:noFill/>
        </a:ln>
        <a:effectLst/>
      </dsp:spPr>
      <dsp:style>
        <a:lnRef idx="0">
          <a:scrgbClr r="0" g="0" b="0"/>
        </a:lnRef>
        <a:fillRef idx="1">
          <a:scrgbClr r="0" g="0" b="0"/>
        </a:fillRef>
        <a:effectRef idx="0">
          <a:scrgbClr r="0" g="0" b="0"/>
        </a:effectRef>
        <a:fontRef idx="minor">
          <a:schemeClr val="lt1"/>
        </a:fontRef>
      </dsp:style>
    </dsp:sp>
    <dsp:sp modelId="{C5416163-F3CD-430C-BBCB-FACE4C9B5A80}">
      <dsp:nvSpPr>
        <dsp:cNvPr id="0" name=""/>
        <dsp:cNvSpPr/>
      </dsp:nvSpPr>
      <dsp:spPr>
        <a:xfrm>
          <a:off x="1708824" y="1495337"/>
          <a:ext cx="1683914" cy="1683914"/>
        </a:xfrm>
        <a:prstGeom prst="ellipse">
          <a:avLst/>
        </a:prstGeom>
        <a:solidFill>
          <a:schemeClr val="tx1">
            <a:lumMod val="50000"/>
            <a:lumOff val="50000"/>
          </a:schemeClr>
        </a:solidFill>
        <a:ln w="1905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b="1" kern="1200" dirty="0">
              <a:solidFill>
                <a:schemeClr val="bg1"/>
              </a:solidFill>
              <a:latin typeface="Lato" panose="020F0502020204030203" pitchFamily="34" charset="0"/>
              <a:ea typeface="Lato" panose="020F0502020204030203" pitchFamily="34" charset="0"/>
              <a:cs typeface="Lato" panose="020F0502020204030203" pitchFamily="34" charset="0"/>
            </a:rPr>
            <a:t>Financial support</a:t>
          </a:r>
        </a:p>
      </dsp:txBody>
      <dsp:txXfrm>
        <a:off x="1955427" y="1741940"/>
        <a:ext cx="1190708" cy="1190708"/>
      </dsp:txXfrm>
    </dsp:sp>
    <dsp:sp modelId="{3FAC53DB-55E3-4175-925E-160697F46275}">
      <dsp:nvSpPr>
        <dsp:cNvPr id="0" name=""/>
        <dsp:cNvSpPr/>
      </dsp:nvSpPr>
      <dsp:spPr>
        <a:xfrm>
          <a:off x="1837620" y="-163918"/>
          <a:ext cx="1426322" cy="1426322"/>
        </a:xfrm>
        <a:prstGeom prst="ellipse">
          <a:avLst/>
        </a:prstGeom>
        <a:solidFill>
          <a:schemeClr val="tx1"/>
        </a:solidFill>
        <a:ln w="1905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solidFill>
                <a:sysClr val="window" lastClr="FFFFFF"/>
              </a:solidFill>
              <a:latin typeface="Lato" panose="020F0502020204030203" pitchFamily="34" charset="0"/>
              <a:ea typeface="Lato" panose="020F0502020204030203" pitchFamily="34" charset="0"/>
              <a:cs typeface="Lato" panose="020F0502020204030203" pitchFamily="34" charset="0"/>
            </a:rPr>
            <a:t>Financial aid &amp; Pell changes</a:t>
          </a:r>
        </a:p>
      </dsp:txBody>
      <dsp:txXfrm>
        <a:off x="2046500" y="44962"/>
        <a:ext cx="1008562" cy="1008562"/>
      </dsp:txXfrm>
    </dsp:sp>
    <dsp:sp modelId="{06C6020A-63E3-4B8A-84DA-72D4B33358F0}">
      <dsp:nvSpPr>
        <dsp:cNvPr id="0" name=""/>
        <dsp:cNvSpPr/>
      </dsp:nvSpPr>
      <dsp:spPr>
        <a:xfrm>
          <a:off x="3625672" y="1624133"/>
          <a:ext cx="1426322" cy="1426322"/>
        </a:xfrm>
        <a:prstGeom prst="ellipse">
          <a:avLst/>
        </a:prstGeom>
        <a:solidFill>
          <a:schemeClr val="tx1"/>
        </a:solidFill>
        <a:ln w="1905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i="0" kern="1200" dirty="0">
              <a:solidFill>
                <a:sysClr val="window" lastClr="FFFFFF"/>
              </a:solidFill>
              <a:latin typeface="Lato" panose="020F0502020204030203" pitchFamily="34" charset="0"/>
              <a:ea typeface="Lato" panose="020F0502020204030203" pitchFamily="34" charset="0"/>
              <a:cs typeface="Lato" panose="020F0502020204030203" pitchFamily="34" charset="0"/>
            </a:rPr>
            <a:t>WIOA consis-tency</a:t>
          </a:r>
        </a:p>
      </dsp:txBody>
      <dsp:txXfrm>
        <a:off x="3834552" y="1833013"/>
        <a:ext cx="1008562" cy="1008562"/>
      </dsp:txXfrm>
    </dsp:sp>
    <dsp:sp modelId="{F6E296C3-BEC6-4F9D-88F8-6343FDEB59F1}">
      <dsp:nvSpPr>
        <dsp:cNvPr id="0" name=""/>
        <dsp:cNvSpPr/>
      </dsp:nvSpPr>
      <dsp:spPr>
        <a:xfrm>
          <a:off x="1763902" y="3331895"/>
          <a:ext cx="1573759" cy="1586902"/>
        </a:xfrm>
        <a:prstGeom prst="ellipse">
          <a:avLst/>
        </a:prstGeom>
        <a:solidFill>
          <a:schemeClr val="tx1"/>
        </a:solidFill>
        <a:ln w="1905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solidFill>
                <a:sysClr val="window" lastClr="FFFFFF"/>
              </a:solidFill>
              <a:latin typeface="Lato" panose="020F0502020204030203" pitchFamily="34" charset="0"/>
              <a:ea typeface="Lato" panose="020F0502020204030203" pitchFamily="34" charset="0"/>
              <a:cs typeface="Lato" panose="020F0502020204030203" pitchFamily="34" charset="0"/>
            </a:rPr>
            <a:t>More refundable tax benefits for low-wage workers</a:t>
          </a:r>
        </a:p>
      </dsp:txBody>
      <dsp:txXfrm>
        <a:off x="1994374" y="3564291"/>
        <a:ext cx="1112815" cy="1122110"/>
      </dsp:txXfrm>
    </dsp:sp>
    <dsp:sp modelId="{D400E8E3-E9E0-4FF5-A9B8-C7E91BF99621}">
      <dsp:nvSpPr>
        <dsp:cNvPr id="0" name=""/>
        <dsp:cNvSpPr/>
      </dsp:nvSpPr>
      <dsp:spPr>
        <a:xfrm>
          <a:off x="49568" y="1624133"/>
          <a:ext cx="1426322" cy="1426322"/>
        </a:xfrm>
        <a:prstGeom prst="ellipse">
          <a:avLst/>
        </a:prstGeom>
        <a:solidFill>
          <a:schemeClr val="tx1"/>
        </a:solidFill>
        <a:ln w="1905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solidFill>
                <a:sysClr val="window" lastClr="FFFFFF"/>
              </a:solidFill>
              <a:latin typeface="Lato" panose="020F0502020204030203" pitchFamily="34" charset="0"/>
              <a:ea typeface="Lato" panose="020F0502020204030203" pitchFamily="34" charset="0"/>
              <a:cs typeface="Lato" panose="020F0502020204030203" pitchFamily="34" charset="0"/>
            </a:rPr>
            <a:t>Access to SNAP, TANF, Medicaid, &amp; housing</a:t>
          </a:r>
        </a:p>
      </dsp:txBody>
      <dsp:txXfrm>
        <a:off x="258448" y="1833013"/>
        <a:ext cx="1008562" cy="100856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410869-809B-40D6-BD0D-3289B120DF48}">
      <dsp:nvSpPr>
        <dsp:cNvPr id="0" name=""/>
        <dsp:cNvSpPr/>
      </dsp:nvSpPr>
      <dsp:spPr>
        <a:xfrm>
          <a:off x="737693" y="517576"/>
          <a:ext cx="3660973" cy="3660973"/>
        </a:xfrm>
        <a:prstGeom prst="blockArc">
          <a:avLst>
            <a:gd name="adj1" fmla="val 10800000"/>
            <a:gd name="adj2" fmla="val 16200000"/>
            <a:gd name="adj3" fmla="val 4636"/>
          </a:avLst>
        </a:prstGeom>
        <a:solidFill>
          <a:schemeClr val="bg1">
            <a:lumMod val="85000"/>
          </a:schemeClr>
        </a:solidFill>
        <a:ln>
          <a:noFill/>
        </a:ln>
        <a:effectLst/>
      </dsp:spPr>
      <dsp:style>
        <a:lnRef idx="0">
          <a:scrgbClr r="0" g="0" b="0"/>
        </a:lnRef>
        <a:fillRef idx="1">
          <a:scrgbClr r="0" g="0" b="0"/>
        </a:fillRef>
        <a:effectRef idx="0">
          <a:scrgbClr r="0" g="0" b="0"/>
        </a:effectRef>
        <a:fontRef idx="minor">
          <a:schemeClr val="lt1"/>
        </a:fontRef>
      </dsp:style>
    </dsp:sp>
    <dsp:sp modelId="{4D69149D-0782-44FB-A725-24A23D693254}">
      <dsp:nvSpPr>
        <dsp:cNvPr id="0" name=""/>
        <dsp:cNvSpPr/>
      </dsp:nvSpPr>
      <dsp:spPr>
        <a:xfrm>
          <a:off x="737693" y="517576"/>
          <a:ext cx="3660973" cy="3660973"/>
        </a:xfrm>
        <a:prstGeom prst="blockArc">
          <a:avLst>
            <a:gd name="adj1" fmla="val 5400000"/>
            <a:gd name="adj2" fmla="val 10800000"/>
            <a:gd name="adj3" fmla="val 4636"/>
          </a:avLst>
        </a:prstGeom>
        <a:solidFill>
          <a:schemeClr val="bg1">
            <a:lumMod val="85000"/>
          </a:schemeClr>
        </a:solidFill>
        <a:ln>
          <a:noFill/>
        </a:ln>
        <a:effectLst/>
      </dsp:spPr>
      <dsp:style>
        <a:lnRef idx="0">
          <a:scrgbClr r="0" g="0" b="0"/>
        </a:lnRef>
        <a:fillRef idx="1">
          <a:scrgbClr r="0" g="0" b="0"/>
        </a:fillRef>
        <a:effectRef idx="0">
          <a:scrgbClr r="0" g="0" b="0"/>
        </a:effectRef>
        <a:fontRef idx="minor">
          <a:schemeClr val="lt1"/>
        </a:fontRef>
      </dsp:style>
    </dsp:sp>
    <dsp:sp modelId="{7B7AF002-7E5D-4F29-8338-1207216AB737}">
      <dsp:nvSpPr>
        <dsp:cNvPr id="0" name=""/>
        <dsp:cNvSpPr/>
      </dsp:nvSpPr>
      <dsp:spPr>
        <a:xfrm>
          <a:off x="737693" y="517576"/>
          <a:ext cx="3660973" cy="3660973"/>
        </a:xfrm>
        <a:prstGeom prst="blockArc">
          <a:avLst>
            <a:gd name="adj1" fmla="val 0"/>
            <a:gd name="adj2" fmla="val 5400000"/>
            <a:gd name="adj3" fmla="val 4636"/>
          </a:avLst>
        </a:prstGeom>
        <a:solidFill>
          <a:schemeClr val="bg1">
            <a:lumMod val="85000"/>
          </a:schemeClr>
        </a:solidFill>
        <a:ln>
          <a:noFill/>
        </a:ln>
        <a:effectLst/>
      </dsp:spPr>
      <dsp:style>
        <a:lnRef idx="0">
          <a:scrgbClr r="0" g="0" b="0"/>
        </a:lnRef>
        <a:fillRef idx="1">
          <a:scrgbClr r="0" g="0" b="0"/>
        </a:fillRef>
        <a:effectRef idx="0">
          <a:scrgbClr r="0" g="0" b="0"/>
        </a:effectRef>
        <a:fontRef idx="minor">
          <a:schemeClr val="lt1"/>
        </a:fontRef>
      </dsp:style>
    </dsp:sp>
    <dsp:sp modelId="{9B3DA2CE-DFA5-43DA-AC78-EABB1E93AFB8}">
      <dsp:nvSpPr>
        <dsp:cNvPr id="0" name=""/>
        <dsp:cNvSpPr/>
      </dsp:nvSpPr>
      <dsp:spPr>
        <a:xfrm>
          <a:off x="737693" y="517576"/>
          <a:ext cx="3660973" cy="3660973"/>
        </a:xfrm>
        <a:prstGeom prst="blockArc">
          <a:avLst>
            <a:gd name="adj1" fmla="val 16200000"/>
            <a:gd name="adj2" fmla="val 0"/>
            <a:gd name="adj3" fmla="val 4636"/>
          </a:avLst>
        </a:prstGeom>
        <a:solidFill>
          <a:schemeClr val="bg1">
            <a:lumMod val="85000"/>
          </a:schemeClr>
        </a:solidFill>
        <a:ln>
          <a:noFill/>
        </a:ln>
        <a:effectLst/>
      </dsp:spPr>
      <dsp:style>
        <a:lnRef idx="0">
          <a:scrgbClr r="0" g="0" b="0"/>
        </a:lnRef>
        <a:fillRef idx="1">
          <a:scrgbClr r="0" g="0" b="0"/>
        </a:fillRef>
        <a:effectRef idx="0">
          <a:scrgbClr r="0" g="0" b="0"/>
        </a:effectRef>
        <a:fontRef idx="minor">
          <a:schemeClr val="lt1"/>
        </a:fontRef>
      </dsp:style>
    </dsp:sp>
    <dsp:sp modelId="{C5416163-F3CD-430C-BBCB-FACE4C9B5A80}">
      <dsp:nvSpPr>
        <dsp:cNvPr id="0" name=""/>
        <dsp:cNvSpPr/>
      </dsp:nvSpPr>
      <dsp:spPr>
        <a:xfrm>
          <a:off x="1726222" y="1506105"/>
          <a:ext cx="1683914" cy="1683914"/>
        </a:xfrm>
        <a:prstGeom prst="ellipse">
          <a:avLst/>
        </a:prstGeom>
        <a:solidFill>
          <a:schemeClr val="accent5">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bg1"/>
              </a:solidFill>
              <a:latin typeface="Lato" panose="020F0502020204030203" pitchFamily="34" charset="0"/>
              <a:ea typeface="Lato" panose="020F0502020204030203" pitchFamily="34" charset="0"/>
              <a:cs typeface="Lato" panose="020F0502020204030203" pitchFamily="34" charset="0"/>
            </a:rPr>
            <a:t>Social support</a:t>
          </a:r>
        </a:p>
      </dsp:txBody>
      <dsp:txXfrm>
        <a:off x="1972825" y="1752708"/>
        <a:ext cx="1190708" cy="1190708"/>
      </dsp:txXfrm>
    </dsp:sp>
    <dsp:sp modelId="{3FAC53DB-55E3-4175-925E-160697F46275}">
      <dsp:nvSpPr>
        <dsp:cNvPr id="0" name=""/>
        <dsp:cNvSpPr/>
      </dsp:nvSpPr>
      <dsp:spPr>
        <a:xfrm>
          <a:off x="1807686" y="-153150"/>
          <a:ext cx="1520987" cy="1426322"/>
        </a:xfrm>
        <a:prstGeom prst="ellipse">
          <a:avLst/>
        </a:prstGeom>
        <a:solidFill>
          <a:schemeClr val="accent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latin typeface="Lato" panose="020F0502020204030203" pitchFamily="34" charset="0"/>
              <a:ea typeface="Lato" panose="020F0502020204030203" pitchFamily="34" charset="0"/>
              <a:cs typeface="Lato" panose="020F0502020204030203" pitchFamily="34" charset="0"/>
            </a:rPr>
            <a:t>Paid leave, including for students</a:t>
          </a:r>
        </a:p>
      </dsp:txBody>
      <dsp:txXfrm>
        <a:off x="2030429" y="55730"/>
        <a:ext cx="1075501" cy="1008562"/>
      </dsp:txXfrm>
    </dsp:sp>
    <dsp:sp modelId="{06C6020A-63E3-4B8A-84DA-72D4B33358F0}">
      <dsp:nvSpPr>
        <dsp:cNvPr id="0" name=""/>
        <dsp:cNvSpPr/>
      </dsp:nvSpPr>
      <dsp:spPr>
        <a:xfrm>
          <a:off x="3621871" y="1597847"/>
          <a:ext cx="1468722" cy="1500430"/>
        </a:xfrm>
        <a:prstGeom prst="ellipse">
          <a:avLst/>
        </a:prstGeom>
        <a:solidFill>
          <a:schemeClr val="accent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i="0" kern="1200" dirty="0">
              <a:latin typeface="Lato" panose="020F0502020204030203" pitchFamily="34" charset="0"/>
              <a:ea typeface="Lato" panose="020F0502020204030203" pitchFamily="34" charset="0"/>
              <a:cs typeface="Lato" panose="020F0502020204030203" pitchFamily="34" charset="0"/>
            </a:rPr>
            <a:t>Better </a:t>
          </a:r>
          <a:br>
            <a:rPr lang="en-US" sz="1500" i="0" kern="1200" dirty="0">
              <a:latin typeface="Lato" panose="020F0502020204030203" pitchFamily="34" charset="0"/>
              <a:ea typeface="Lato" panose="020F0502020204030203" pitchFamily="34" charset="0"/>
              <a:cs typeface="Lato" panose="020F0502020204030203" pitchFamily="34" charset="0"/>
            </a:rPr>
          </a:br>
          <a:r>
            <a:rPr lang="en-US" sz="1500" i="0" kern="1200" dirty="0">
              <a:latin typeface="Lato" panose="020F0502020204030203" pitchFamily="34" charset="0"/>
              <a:ea typeface="Lato" panose="020F0502020204030203" pitchFamily="34" charset="0"/>
              <a:cs typeface="Lato" panose="020F0502020204030203" pitchFamily="34" charset="0"/>
            </a:rPr>
            <a:t>Title IX guidance on parenting students</a:t>
          </a:r>
        </a:p>
      </dsp:txBody>
      <dsp:txXfrm>
        <a:off x="3836960" y="1817580"/>
        <a:ext cx="1038544" cy="1060964"/>
      </dsp:txXfrm>
    </dsp:sp>
    <dsp:sp modelId="{F6E296C3-BEC6-4F9D-88F8-6343FDEB59F1}">
      <dsp:nvSpPr>
        <dsp:cNvPr id="0" name=""/>
        <dsp:cNvSpPr/>
      </dsp:nvSpPr>
      <dsp:spPr>
        <a:xfrm>
          <a:off x="1786156" y="3364199"/>
          <a:ext cx="1564046" cy="1543831"/>
        </a:xfrm>
        <a:prstGeom prst="ellipse">
          <a:avLst/>
        </a:prstGeom>
        <a:solidFill>
          <a:schemeClr val="accent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latin typeface="Lato" panose="020F0502020204030203" pitchFamily="34" charset="0"/>
              <a:ea typeface="Lato" panose="020F0502020204030203" pitchFamily="34" charset="0"/>
              <a:cs typeface="Lato" panose="020F0502020204030203" pitchFamily="34" charset="0"/>
            </a:rPr>
            <a:t>Marriage &amp; parenting support for students</a:t>
          </a:r>
        </a:p>
      </dsp:txBody>
      <dsp:txXfrm>
        <a:off x="2015205" y="3590288"/>
        <a:ext cx="1105948" cy="1091653"/>
      </dsp:txXfrm>
    </dsp:sp>
    <dsp:sp modelId="{D400E8E3-E9E0-4FF5-A9B8-C7E91BF99621}">
      <dsp:nvSpPr>
        <dsp:cNvPr id="0" name=""/>
        <dsp:cNvSpPr/>
      </dsp:nvSpPr>
      <dsp:spPr>
        <a:xfrm>
          <a:off x="10970" y="1561978"/>
          <a:ext cx="1538314" cy="1572168"/>
        </a:xfrm>
        <a:prstGeom prst="ellipse">
          <a:avLst/>
        </a:prstGeom>
        <a:solidFill>
          <a:schemeClr val="accent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latin typeface="Lato" panose="020F0502020204030203" pitchFamily="34" charset="0"/>
              <a:ea typeface="Lato" panose="020F0502020204030203" pitchFamily="34" charset="0"/>
              <a:cs typeface="Lato" panose="020F0502020204030203" pitchFamily="34" charset="0"/>
            </a:rPr>
            <a:t>Involve child care centers (e.g., Head Start) &amp; schools</a:t>
          </a:r>
        </a:p>
      </dsp:txBody>
      <dsp:txXfrm>
        <a:off x="236251" y="1792217"/>
        <a:ext cx="1087752" cy="111169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8F458D-9302-46EF-8275-B1B7DDBD3E70}">
      <dsp:nvSpPr>
        <dsp:cNvPr id="0" name=""/>
        <dsp:cNvSpPr/>
      </dsp:nvSpPr>
      <dsp:spPr>
        <a:xfrm>
          <a:off x="1303125" y="0"/>
          <a:ext cx="4801521" cy="4801521"/>
        </a:xfrm>
        <a:prstGeom prst="triangl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4FDBCE5-E0D0-4602-AE1E-34F69F34AA22}">
      <dsp:nvSpPr>
        <dsp:cNvPr id="0" name=""/>
        <dsp:cNvSpPr/>
      </dsp:nvSpPr>
      <dsp:spPr>
        <a:xfrm>
          <a:off x="3703885" y="480620"/>
          <a:ext cx="3120988" cy="853395"/>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Pregnant &amp; Parenting Students</a:t>
          </a:r>
        </a:p>
      </dsp:txBody>
      <dsp:txXfrm>
        <a:off x="3745544" y="522279"/>
        <a:ext cx="3037670" cy="770077"/>
      </dsp:txXfrm>
    </dsp:sp>
    <dsp:sp modelId="{A4204B12-D87C-45C3-AF89-C3A555DAAE26}">
      <dsp:nvSpPr>
        <dsp:cNvPr id="0" name=""/>
        <dsp:cNvSpPr/>
      </dsp:nvSpPr>
      <dsp:spPr>
        <a:xfrm>
          <a:off x="3703885" y="1440690"/>
          <a:ext cx="3120988" cy="853395"/>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Considering Families (“Two Generation”)</a:t>
          </a:r>
        </a:p>
      </dsp:txBody>
      <dsp:txXfrm>
        <a:off x="3745544" y="1482349"/>
        <a:ext cx="3037670" cy="770077"/>
      </dsp:txXfrm>
    </dsp:sp>
    <dsp:sp modelId="{FA29D1C4-31CF-416C-A59A-3123F6F26083}">
      <dsp:nvSpPr>
        <dsp:cNvPr id="0" name=""/>
        <dsp:cNvSpPr/>
      </dsp:nvSpPr>
      <dsp:spPr>
        <a:xfrm>
          <a:off x="3703885" y="2400760"/>
          <a:ext cx="3120988" cy="853395"/>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Opportunity, Especially through Education</a:t>
          </a:r>
        </a:p>
      </dsp:txBody>
      <dsp:txXfrm>
        <a:off x="3745544" y="2442419"/>
        <a:ext cx="3037670" cy="770077"/>
      </dsp:txXfrm>
    </dsp:sp>
    <dsp:sp modelId="{01CB4E90-6C63-47CE-B9AE-5F7D43FFBAEB}">
      <dsp:nvSpPr>
        <dsp:cNvPr id="0" name=""/>
        <dsp:cNvSpPr/>
      </dsp:nvSpPr>
      <dsp:spPr>
        <a:xfrm>
          <a:off x="3703885" y="3360830"/>
          <a:ext cx="3120988" cy="853395"/>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Social Justice</a:t>
          </a:r>
        </a:p>
      </dsp:txBody>
      <dsp:txXfrm>
        <a:off x="3745544" y="3402489"/>
        <a:ext cx="3037670" cy="770077"/>
      </dsp:txXfrm>
    </dsp:sp>
  </dsp:spTree>
</dsp:drawing>
</file>

<file path=ppt/diagrams/layout1.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0.01523</cdr:x>
      <cdr:y>0.07816</cdr:y>
    </cdr:from>
    <cdr:to>
      <cdr:x>0.60306</cdr:x>
      <cdr:y>0.14027</cdr:y>
    </cdr:to>
    <cdr:sp macro="" textlink="">
      <cdr:nvSpPr>
        <cdr:cNvPr id="2" name="Text Box 1"/>
        <cdr:cNvSpPr txBox="1"/>
      </cdr:nvSpPr>
      <cdr:spPr>
        <a:xfrm xmlns:a="http://schemas.openxmlformats.org/drawingml/2006/main">
          <a:off x="87042" y="224279"/>
          <a:ext cx="3359448" cy="178229"/>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1200" i="1" dirty="0">
              <a:latin typeface="Lato" panose="020F0502020204030203" pitchFamily="34" charset="0"/>
              <a:ea typeface="Lato" panose="020F0502020204030203" pitchFamily="34" charset="0"/>
              <a:cs typeface="Lato" panose="020F0502020204030203" pitchFamily="34" charset="0"/>
            </a:rPr>
            <a:t>Impact on probability of having an academic credential</a:t>
          </a: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7F15FC-4E12-481C-8767-D20CB26A1AD9}" type="datetimeFigureOut">
              <a:rPr lang="en-US" smtClean="0"/>
              <a:t>7/18/2023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8FF090-4EED-4C98-9325-E24A9A623F60}" type="slidenum">
              <a:rPr lang="en-US" smtClean="0"/>
              <a:t>‹#›</a:t>
            </a:fld>
            <a:endParaRPr lang="en-US"/>
          </a:p>
        </p:txBody>
      </p:sp>
    </p:spTree>
    <p:extLst>
      <p:ext uri="{BB962C8B-B14F-4D97-AF65-F5344CB8AC3E}">
        <p14:creationId xmlns:p14="http://schemas.microsoft.com/office/powerpoint/2010/main" val="36221596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7764AD8-5229-44E4-9BAC-D1182B1E95E5}" type="slidenum">
              <a:rPr kumimoji="0" lang="en-US" sz="12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02972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is the middle of this story</a:t>
            </a:r>
          </a:p>
        </p:txBody>
      </p:sp>
      <p:sp>
        <p:nvSpPr>
          <p:cNvPr id="4" name="Slide Number Placeholder 3"/>
          <p:cNvSpPr>
            <a:spLocks noGrp="1"/>
          </p:cNvSpPr>
          <p:nvPr>
            <p:ph type="sldNum" sz="quarter" idx="5"/>
          </p:nvPr>
        </p:nvSpPr>
        <p:spPr/>
        <p:txBody>
          <a:bodyPr/>
          <a:lstStyle/>
          <a:p>
            <a:fld id="{4A8FF090-4EED-4C98-9325-E24A9A623F60}" type="slidenum">
              <a:rPr lang="en-US" smtClean="0"/>
              <a:t>3</a:t>
            </a:fld>
            <a:endParaRPr lang="en-US"/>
          </a:p>
        </p:txBody>
      </p:sp>
    </p:spTree>
    <p:extLst>
      <p:ext uri="{BB962C8B-B14F-4D97-AF65-F5344CB8AC3E}">
        <p14:creationId xmlns:p14="http://schemas.microsoft.com/office/powerpoint/2010/main" val="29733435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20000"/>
              </a:lnSpc>
            </a:pPr>
            <a:r>
              <a:rPr lang="en-US" dirty="0"/>
              <a:t>I’m going to take 10 minutes to get into this research before I continue my story. I hope you fin it as interesting as I do.</a:t>
            </a:r>
          </a:p>
          <a:p>
            <a:pPr>
              <a:lnSpc>
                <a:spcPct val="120000"/>
              </a:lnSpc>
            </a:pPr>
            <a:endParaRPr lang="en-US" dirty="0"/>
          </a:p>
          <a:p>
            <a:pPr>
              <a:lnSpc>
                <a:spcPct val="120000"/>
              </a:lnSpc>
            </a:pPr>
            <a:r>
              <a:rPr lang="en-US" dirty="0"/>
              <a:t>First, a bit of background:</a:t>
            </a:r>
          </a:p>
          <a:p>
            <a:pPr>
              <a:lnSpc>
                <a:spcPct val="120000"/>
              </a:lnSpc>
            </a:pPr>
            <a:endParaRPr lang="en-US" dirty="0"/>
          </a:p>
          <a:p>
            <a:pPr>
              <a:lnSpc>
                <a:spcPct val="120000"/>
              </a:lnSpc>
            </a:pPr>
            <a:r>
              <a:rPr lang="en-US" dirty="0"/>
              <a:t>You might be surprised to learn that more than one in five (22%) undergraduate college students are parents, &amp; </a:t>
            </a:r>
            <a:r>
              <a:rPr lang="en-US" b="1" dirty="0"/>
              <a:t>**CLICK** </a:t>
            </a:r>
            <a:r>
              <a:rPr lang="en-US" dirty="0"/>
              <a:t>more than one in four (28%) female undergraduate college students are parents.</a:t>
            </a:r>
          </a:p>
          <a:p>
            <a:pPr>
              <a:lnSpc>
                <a:spcPct val="120000"/>
              </a:lnSpc>
            </a:pPr>
            <a:r>
              <a:rPr lang="en-US" b="1" dirty="0"/>
              <a:t>**CLICK** </a:t>
            </a:r>
            <a:r>
              <a:rPr lang="en-US" dirty="0"/>
              <a:t>This adds up to 2.6 million undergraduate student-mothers in 2016 </a:t>
            </a:r>
          </a:p>
          <a:p>
            <a:pPr>
              <a:lnSpc>
                <a:spcPct val="120000"/>
              </a:lnSpc>
            </a:pPr>
            <a:r>
              <a:rPr lang="en-US" dirty="0"/>
              <a:t>Also, more than one-third (34%) of </a:t>
            </a:r>
            <a:r>
              <a:rPr lang="en-US" b="1" dirty="0"/>
              <a:t>all</a:t>
            </a:r>
            <a:r>
              <a:rPr lang="en-US" dirty="0"/>
              <a:t> women with children enroll in school at some point with minor kids</a:t>
            </a:r>
          </a:p>
          <a:p>
            <a:pPr>
              <a:lnSpc>
                <a:spcPct val="120000"/>
              </a:lnSpc>
            </a:pPr>
            <a:r>
              <a:rPr lang="en-US" b="1" dirty="0"/>
              <a:t>**CLICK** </a:t>
            </a:r>
            <a:r>
              <a:rPr lang="en-US" dirty="0"/>
              <a:t>40% of all Black female undergrads were mothers in 2016, &amp; more than half (51%) of Black mothers enroll in school at some point</a:t>
            </a:r>
          </a:p>
          <a:p>
            <a:pPr lvl="1">
              <a:lnSpc>
                <a:spcPct val="120000"/>
              </a:lnSpc>
            </a:pPr>
            <a:r>
              <a:rPr lang="en-US" dirty="0"/>
              <a:t>43% of </a:t>
            </a:r>
            <a:r>
              <a:rPr lang="en-US" b="1" dirty="0"/>
              <a:t>all</a:t>
            </a:r>
            <a:r>
              <a:rPr lang="en-US" dirty="0"/>
              <a:t> Black children saw their mother in school when they were minors</a:t>
            </a:r>
          </a:p>
          <a:p>
            <a:pPr lvl="1">
              <a:lnSpc>
                <a:spcPct val="120000"/>
              </a:lnSpc>
            </a:pPr>
            <a:r>
              <a:rPr lang="en-US" dirty="0"/>
              <a:t>Promoting student-parent success is promoting the success of students of color</a:t>
            </a:r>
            <a:endParaRPr lang="en-US" b="1" dirty="0"/>
          </a:p>
          <a:p>
            <a:pPr>
              <a:lnSpc>
                <a:spcPct val="120000"/>
              </a:lnSpc>
            </a:pPr>
            <a:r>
              <a:rPr lang="en-US" b="1" dirty="0"/>
              <a:t>Not all are single moms</a:t>
            </a:r>
            <a:r>
              <a:rPr lang="en-US" dirty="0"/>
              <a:t>: </a:t>
            </a:r>
            <a:r>
              <a:rPr lang="en-US" b="1" dirty="0"/>
              <a:t>**CLICK** </a:t>
            </a:r>
            <a:r>
              <a:rPr lang="en-US" dirty="0"/>
              <a:t>More than one third (38%) of undergrad student-mothers were married in 2016</a:t>
            </a:r>
          </a:p>
          <a:p>
            <a:endParaRPr lang="en-US" dirty="0"/>
          </a:p>
          <a:p>
            <a:r>
              <a:rPr lang="en-US" sz="1200" dirty="0"/>
              <a:t>We know from other work &amp; from talking with many parenting students that student-parents are motivated to succeed so they can set a good example for their children &amp; better support their families. They also earn equal or higher grades than other students. </a:t>
            </a:r>
          </a:p>
          <a:p>
            <a:endParaRPr lang="en-US" sz="1200" dirty="0"/>
          </a:p>
          <a:p>
            <a:r>
              <a:rPr lang="en-US" sz="1200" dirty="0"/>
              <a:t>But that said, they are more likely to have low incomes &amp; work while in school, be enrolled part time, &amp; not complete a degree (especially if they are unmarried). Student-parents have to navigate systems &amp; balance school, children, (often) employment, &amp; other life responsibilities. While doing all of that, student-parents rarely receive appropriate advising, struggle to afford tuition &amp; costs considering their other financial obligations, &amp; often lack social supports while in school.</a:t>
            </a:r>
            <a:endParaRPr lang="en-US" dirty="0"/>
          </a:p>
          <a:p>
            <a:endParaRPr lang="en-US" dirty="0"/>
          </a:p>
          <a:p>
            <a:endParaRPr lang="en-US" dirty="0"/>
          </a:p>
          <a:p>
            <a:r>
              <a:rPr lang="en-US" b="1" i="1" dirty="0"/>
              <a:t>Also, if needed: </a:t>
            </a:r>
          </a:p>
          <a:p>
            <a:r>
              <a:rPr lang="en-US" dirty="0"/>
              <a:t>26% of white &amp; Latina female students were mothers in 2016</a:t>
            </a:r>
          </a:p>
          <a:p>
            <a:r>
              <a:rPr lang="en-US" dirty="0"/>
              <a:t>30% of white mothers enroll in school, &amp; 41% of Latina mothers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72C822-0E82-45FD-BBCA-E8BA1922783D}" type="slidenum">
              <a:rPr kumimoji="0" lang="en-US" sz="12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905669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8FF090-4EED-4C98-9325-E24A9A623F60}" type="slidenum">
              <a:rPr lang="en-US" smtClean="0"/>
              <a:t>5</a:t>
            </a:fld>
            <a:endParaRPr lang="en-US"/>
          </a:p>
        </p:txBody>
      </p:sp>
    </p:spTree>
    <p:extLst>
      <p:ext uri="{BB962C8B-B14F-4D97-AF65-F5344CB8AC3E}">
        <p14:creationId xmlns:p14="http://schemas.microsoft.com/office/powerpoint/2010/main" val="24500628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briefly mention a few considerations before I get into the results &amp; findings. </a:t>
            </a:r>
          </a:p>
          <a:p>
            <a:endParaRPr lang="en-US" dirty="0"/>
          </a:p>
          <a:p>
            <a:r>
              <a:rPr lang="en-US" dirty="0"/>
              <a:t>The survey I used covered a specific group – women who were in the US in 1979 &amp; were born  </a:t>
            </a:r>
            <a:r>
              <a:rPr lang="en-US" dirty="0" err="1"/>
              <a:t>from1957</a:t>
            </a:r>
            <a:r>
              <a:rPr lang="en-US" dirty="0"/>
              <a:t>-1964, &amp; their biological children. These women largely went back to school in the late </a:t>
            </a:r>
            <a:r>
              <a:rPr lang="en-US" dirty="0" err="1"/>
              <a:t>1980s</a:t>
            </a:r>
            <a:r>
              <a:rPr lang="en-US" dirty="0"/>
              <a:t> &amp; early </a:t>
            </a:r>
            <a:r>
              <a:rPr lang="en-US" dirty="0" err="1"/>
              <a:t>1990s</a:t>
            </a:r>
            <a:r>
              <a:rPr lang="en-US" dirty="0"/>
              <a:t>, so these findings don’t reflect some recent changes, including more recent immigrant groups &amp; changes in college costs &amp; the labor market in the last few decades.</a:t>
            </a:r>
          </a:p>
          <a:p>
            <a:endParaRPr lang="en-US" dirty="0"/>
          </a:p>
          <a:p>
            <a:r>
              <a:rPr lang="en-US" dirty="0"/>
              <a:t>The interviews were conducted in a specific time &amp; place—fall 2018 in the national capital area. It’s not a random sample meant to be representative of any larger group. So I don’t want to generalize too broadly, though there were a lot of consistent themes &amp; recommendations in these women’s experiences which are important, &amp; others have echoed in research in other places &amp; populations. </a:t>
            </a:r>
          </a:p>
        </p:txBody>
      </p:sp>
      <p:sp>
        <p:nvSpPr>
          <p:cNvPr id="4" name="Slide Number Placeholder 3"/>
          <p:cNvSpPr>
            <a:spLocks noGrp="1"/>
          </p:cNvSpPr>
          <p:nvPr>
            <p:ph type="sldNum" sz="quarter" idx="5"/>
          </p:nvPr>
        </p:nvSpPr>
        <p:spPr/>
        <p:txBody>
          <a:bodyPr/>
          <a:lstStyle/>
          <a:p>
            <a:fld id="{D7C04991-11DB-4B4D-85F1-7BDCB130EDD6}" type="slidenum">
              <a:rPr lang="en-US" smtClean="0"/>
              <a:t>6</a:t>
            </a:fld>
            <a:endParaRPr lang="en-US"/>
          </a:p>
        </p:txBody>
      </p:sp>
    </p:spTree>
    <p:extLst>
      <p:ext uri="{BB962C8B-B14F-4D97-AF65-F5344CB8AC3E}">
        <p14:creationId xmlns:p14="http://schemas.microsoft.com/office/powerpoint/2010/main" val="40860548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that said, here is what I found.</a:t>
            </a:r>
          </a:p>
        </p:txBody>
      </p:sp>
      <p:sp>
        <p:nvSpPr>
          <p:cNvPr id="4" name="Slide Number Placeholder 3"/>
          <p:cNvSpPr>
            <a:spLocks noGrp="1"/>
          </p:cNvSpPr>
          <p:nvPr>
            <p:ph type="sldNum" sz="quarter" idx="5"/>
          </p:nvPr>
        </p:nvSpPr>
        <p:spPr/>
        <p:txBody>
          <a:bodyPr/>
          <a:lstStyle/>
          <a:p>
            <a:fld id="{D7C04991-11DB-4B4D-85F1-7BDCB130EDD6}" type="slidenum">
              <a:rPr lang="en-US" smtClean="0"/>
              <a:t>7</a:t>
            </a:fld>
            <a:endParaRPr lang="en-US"/>
          </a:p>
        </p:txBody>
      </p:sp>
    </p:spTree>
    <p:extLst>
      <p:ext uri="{BB962C8B-B14F-4D97-AF65-F5344CB8AC3E}">
        <p14:creationId xmlns:p14="http://schemas.microsoft.com/office/powerpoint/2010/main" val="14371688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graph shows the growth in educational attainment for the mothers who reenrolled in school relative to very similar mothers who did not reenroll for the 20 years after mothers first returned to school. The numbers on the bottom show the number of years since the mothers first reenrolled in school. The green line shows high school diplomas, the blue line shows college degrees, the red line shows four-year degrees, which is a subset of college degrees. &amp; the pink line shows graduate degrees. The main takeaway is that mothers who went back to school didn’t get their credentials &amp; degrees right away. In fact, some women were still getting their degrees 10, 15, 20 years after they first went back. This is not a one-and-done experience, which shouldn’t be a surprise to those on this webinar. </a:t>
            </a:r>
          </a:p>
          <a:p>
            <a:endParaRPr lang="en-US" dirty="0"/>
          </a:p>
          <a:p>
            <a:r>
              <a:rPr lang="en-US" b="1" dirty="0"/>
              <a:t>**CLICK** </a:t>
            </a:r>
            <a:r>
              <a:rPr lang="en-US" dirty="0"/>
              <a:t>That said, only one-third of mothers who went back got the next-highest-level credential eventually. &amp; only one-quarter who did not have a college degree completed one – either a two-year or four-year degree. I’m going to show findings for mothers &amp; their children overall – meaning if they enrolled at all, regardless of completion – &amp; also for mothers &amp; their children where mothers completed a college degree &amp; didn’t have one before. </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72C822-0E82-45FD-BBCA-E8BA1922783D}" type="slidenum">
              <a:rPr kumimoji="0" lang="en-US" sz="12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932877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Lato" panose="020F0502020204030203" pitchFamily="34" charset="0"/>
                <a:ea typeface="Calibri" panose="020F0502020204030204" pitchFamily="34" charset="0"/>
                <a:cs typeface="Times New Roman" panose="02020603050405020304" pitchFamily="18" charset="0"/>
              </a:rPr>
              <a:t>Let’s talk about the mothers first.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effectLst/>
              <a:latin typeface="Lato" panose="020F0502020204030203"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effectLst/>
                <a:latin typeface="Lato" panose="020F0502020204030203" pitchFamily="34" charset="0"/>
                <a:ea typeface="Calibri" panose="020F0502020204030204" pitchFamily="34" charset="0"/>
                <a:cs typeface="Times New Roman" panose="02020603050405020304" pitchFamily="18" charset="0"/>
              </a:rPr>
              <a:t>**CLICK** </a:t>
            </a:r>
            <a:r>
              <a:rPr lang="en-US" sz="1200" dirty="0">
                <a:effectLst/>
                <a:latin typeface="Lato" panose="020F0502020204030203" pitchFamily="34" charset="0"/>
                <a:ea typeface="Calibri" panose="020F0502020204030204" pitchFamily="34" charset="0"/>
                <a:cs typeface="Times New Roman" panose="02020603050405020304" pitchFamily="18" charset="0"/>
              </a:rPr>
              <a:t>Going back to school resulted in earnings gains for women overall of about $2000 per year, &amp; the gains were over three times higher on average if they completed a college degree.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effectLst/>
              <a:latin typeface="Lato" panose="020F0502020204030203"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effectLst/>
                <a:latin typeface="Lato" panose="020F0502020204030203" pitchFamily="34" charset="0"/>
                <a:ea typeface="Calibri" panose="020F0502020204030204" pitchFamily="34" charset="0"/>
                <a:cs typeface="Times New Roman" panose="02020603050405020304" pitchFamily="18" charset="0"/>
              </a:rPr>
              <a:t>**CLICK** </a:t>
            </a:r>
            <a:r>
              <a:rPr lang="en-US" sz="1200" dirty="0">
                <a:effectLst/>
                <a:latin typeface="Lato" panose="020F0502020204030203" pitchFamily="34" charset="0"/>
                <a:ea typeface="Calibri" panose="020F0502020204030204" pitchFamily="34" charset="0"/>
                <a:cs typeface="Times New Roman" panose="02020603050405020304" pitchFamily="18" charset="0"/>
              </a:rPr>
              <a:t>But there were what we call “opportunity costs” – that is, earnings were lower for a while when they were pursuing their education. They had lower earnings for about 5 years, &amp; the gains were not consistent &amp; statistically significant until 9 years after they went back to school. The opportunity costs of education were not accidental; many women shared in interviews that they made explicit decisions to decrease their work effort &amp; earnings to accommodate their schooling &amp; try to retain some time with their children. They recognized these income losses as part of the cost of education, but they anticipated the tradeoff would pay off financially in the long run.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effectLst/>
              <a:latin typeface="Lato" panose="020F0502020204030203"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effectLst/>
                <a:latin typeface="Lato" panose="020F0502020204030203" pitchFamily="34" charset="0"/>
                <a:ea typeface="Calibri" panose="020F0502020204030204" pitchFamily="34" charset="0"/>
                <a:cs typeface="Times New Roman" panose="02020603050405020304" pitchFamily="18" charset="0"/>
              </a:rPr>
              <a:t>**CLICK** </a:t>
            </a:r>
            <a:r>
              <a:rPr lang="en-US" sz="1200" dirty="0">
                <a:effectLst/>
                <a:latin typeface="Lato" panose="020F0502020204030203" pitchFamily="34" charset="0"/>
                <a:ea typeface="Calibri" panose="020F0502020204030204" pitchFamily="34" charset="0"/>
                <a:cs typeface="Times New Roman" panose="02020603050405020304" pitchFamily="18" charset="0"/>
              </a:rPr>
              <a:t>Even though earnings were higher, household income actually declined for the overall group, though not for those who completed college.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effectLst/>
              <a:latin typeface="Lato" panose="020F0502020204030203"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effectLst/>
                <a:latin typeface="Lato" panose="020F0502020204030203" pitchFamily="34" charset="0"/>
                <a:ea typeface="Calibri" panose="020F0502020204030204" pitchFamily="34" charset="0"/>
                <a:cs typeface="Times New Roman" panose="02020603050405020304" pitchFamily="18" charset="0"/>
              </a:rPr>
              <a:t>**CLICK** </a:t>
            </a:r>
            <a:r>
              <a:rPr lang="en-US" sz="1200" dirty="0">
                <a:effectLst/>
                <a:latin typeface="Lato" panose="020F0502020204030203" pitchFamily="34" charset="0"/>
                <a:ea typeface="Calibri" panose="020F0502020204030204" pitchFamily="34" charset="0"/>
                <a:cs typeface="Times New Roman" panose="02020603050405020304" pitchFamily="18" charset="0"/>
              </a:rPr>
              <a:t>This is related to an interesting pattern around marriage. Across both groups, mothers who went back to school were less likely to be married – this was a very consistent finding over time. This means there were less likely to be two earners in the household. There are three possible explanations for this marriage pattern, each of which found some support in the qualitative research: (1) some women returned to school during or following a separation or divorce, (2) school reentry put pressure on some relationships, &amp; (3) women who were not married at reentry were less likely to subsequently marry. In the qualitative interviews, some mothers explained that they decided to return to school shortly after the failure of a marriage or relationship; others said the stress &amp; pressure of their schooling put new demands on continued partnerships. In addition, some women said they found they developed new self-identities through their education that clashed with their husbands’ ideas about family roles. These various dynamics show that causality is muddled. Therefore, it would </a:t>
            </a:r>
            <a:r>
              <a:rPr lang="en-US" sz="1200" i="1" dirty="0">
                <a:effectLst/>
                <a:latin typeface="Lato" panose="020F0502020204030203" pitchFamily="34" charset="0"/>
                <a:ea typeface="Calibri" panose="020F0502020204030204" pitchFamily="34" charset="0"/>
                <a:cs typeface="Times New Roman" panose="02020603050405020304" pitchFamily="18" charset="0"/>
              </a:rPr>
              <a:t>not</a:t>
            </a:r>
            <a:r>
              <a:rPr lang="en-US" sz="1200" dirty="0">
                <a:effectLst/>
                <a:latin typeface="Lato" panose="020F0502020204030203" pitchFamily="34" charset="0"/>
                <a:ea typeface="Calibri" panose="020F0502020204030204" pitchFamily="34" charset="0"/>
                <a:cs typeface="Times New Roman" panose="02020603050405020304" pitchFamily="18" charset="0"/>
              </a:rPr>
              <a:t> be accurate to say that school reenrollment </a:t>
            </a:r>
            <a:r>
              <a:rPr lang="en-US" sz="1200" i="1" dirty="0">
                <a:effectLst/>
                <a:latin typeface="Lato" panose="020F0502020204030203" pitchFamily="34" charset="0"/>
                <a:ea typeface="Calibri" panose="020F0502020204030204" pitchFamily="34" charset="0"/>
                <a:cs typeface="Times New Roman" panose="02020603050405020304" pitchFamily="18" charset="0"/>
              </a:rPr>
              <a:t>causes</a:t>
            </a:r>
            <a:r>
              <a:rPr lang="en-US" sz="1200" dirty="0">
                <a:effectLst/>
                <a:latin typeface="Lato" panose="020F0502020204030203" pitchFamily="34" charset="0"/>
                <a:ea typeface="Calibri" panose="020F0502020204030204" pitchFamily="34" charset="0"/>
                <a:cs typeface="Times New Roman" panose="02020603050405020304" pitchFamily="18" charset="0"/>
              </a:rPr>
              <a:t> marriage rates to decline, but there is an understandable association. The qualitative research gave less perspective on whether unpartnered mothers who increased their education were less likely to find a marriageable partner in the longer term, but the quantitative results show negative marriage effects even for mothers who were not living with spouses or partners in the year of reenrollment. But women who increase their educational attainment while they are unmarried after having children may have more difficulty finding well-matched partners, or they may be less likely to marry as they gain more financial &amp; personal independence.</a:t>
            </a:r>
            <a:endParaRPr lang="en-US" dirty="0"/>
          </a:p>
          <a:p>
            <a:endParaRPr lang="en-US" dirty="0"/>
          </a:p>
          <a:p>
            <a:r>
              <a:rPr lang="en-US" sz="1200" b="1" dirty="0">
                <a:effectLst/>
                <a:latin typeface="Lato" panose="020F0502020204030203" pitchFamily="34" charset="0"/>
                <a:ea typeface="Calibri" panose="020F0502020204030204" pitchFamily="34" charset="0"/>
                <a:cs typeface="Times New Roman" panose="02020603050405020304" pitchFamily="18" charset="0"/>
              </a:rPr>
              <a:t>**CLICK** </a:t>
            </a:r>
            <a:r>
              <a:rPr lang="en-US" dirty="0"/>
              <a:t>Finally, mothers overall had higher depression scores at age 50, though we didn’t see that among mothers who completed a college degree. </a:t>
            </a:r>
            <a:r>
              <a:rPr lang="en-US" sz="1200" b="1" dirty="0">
                <a:effectLst/>
                <a:latin typeface="Lato" panose="020F0502020204030203" pitchFamily="34" charset="0"/>
                <a:ea typeface="Calibri" panose="020F0502020204030204" pitchFamily="34" charset="0"/>
                <a:cs typeface="Times New Roman" panose="02020603050405020304" pitchFamily="18" charset="0"/>
              </a:rPr>
              <a:t>**CLICK** </a:t>
            </a:r>
            <a:endParaRPr lang="en-US" dirty="0"/>
          </a:p>
        </p:txBody>
      </p:sp>
      <p:sp>
        <p:nvSpPr>
          <p:cNvPr id="4" name="Slide Number Placeholder 3"/>
          <p:cNvSpPr>
            <a:spLocks noGrp="1"/>
          </p:cNvSpPr>
          <p:nvPr>
            <p:ph type="sldNum" sz="quarter" idx="5"/>
          </p:nvPr>
        </p:nvSpPr>
        <p:spPr/>
        <p:txBody>
          <a:bodyPr/>
          <a:lstStyle/>
          <a:p>
            <a:fld id="{4A8FF090-4EED-4C98-9325-E24A9A623F60}" type="slidenum">
              <a:rPr lang="en-US" smtClean="0"/>
              <a:t>9</a:t>
            </a:fld>
            <a:endParaRPr lang="en-US"/>
          </a:p>
        </p:txBody>
      </p:sp>
    </p:spTree>
    <p:extLst>
      <p:ext uri="{BB962C8B-B14F-4D97-AF65-F5344CB8AC3E}">
        <p14:creationId xmlns:p14="http://schemas.microsoft.com/office/powerpoint/2010/main" val="40378049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a:lnSpc>
                <a:spcPts val="1500"/>
              </a:lnSpc>
              <a:spcBef>
                <a:spcPts val="900"/>
              </a:spcBef>
              <a:spcAft>
                <a:spcPts val="900"/>
              </a:spcAft>
            </a:pPr>
            <a:r>
              <a:rPr lang="en-US" sz="1200" dirty="0">
                <a:effectLst/>
                <a:latin typeface="Lato" panose="020F0502020204030203" pitchFamily="34" charset="0"/>
                <a:ea typeface="Calibri" panose="020F0502020204030204" pitchFamily="34" charset="0"/>
                <a:cs typeface="Times New Roman" panose="02020603050405020304" pitchFamily="18" charset="0"/>
              </a:rPr>
              <a:t>Looking at the children…</a:t>
            </a:r>
          </a:p>
          <a:p>
            <a:pPr marL="0" marR="0" indent="0" algn="l">
              <a:lnSpc>
                <a:spcPts val="1500"/>
              </a:lnSpc>
              <a:spcBef>
                <a:spcPts val="900"/>
              </a:spcBef>
              <a:spcAft>
                <a:spcPts val="900"/>
              </a:spcAft>
            </a:pPr>
            <a:endParaRPr lang="en-US" sz="1200" dirty="0">
              <a:effectLst/>
              <a:latin typeface="Lato" panose="020F0502020204030203" pitchFamily="34" charset="0"/>
              <a:ea typeface="Calibri" panose="020F0502020204030204" pitchFamily="34" charset="0"/>
              <a:cs typeface="Times New Roman" panose="02020603050405020304" pitchFamily="18" charset="0"/>
            </a:endParaRPr>
          </a:p>
          <a:p>
            <a:pPr marL="0" marR="0" indent="0" algn="l">
              <a:lnSpc>
                <a:spcPts val="1500"/>
              </a:lnSpc>
              <a:spcBef>
                <a:spcPts val="900"/>
              </a:spcBef>
              <a:spcAft>
                <a:spcPts val="900"/>
              </a:spcAft>
            </a:pPr>
            <a:r>
              <a:rPr lang="en-US" sz="1200" b="1" dirty="0">
                <a:effectLst/>
                <a:latin typeface="Lato" panose="020F0502020204030203" pitchFamily="34" charset="0"/>
                <a:ea typeface="Calibri" panose="020F0502020204030204" pitchFamily="34" charset="0"/>
                <a:cs typeface="Times New Roman" panose="02020603050405020304" pitchFamily="18" charset="0"/>
              </a:rPr>
              <a:t>**CLICK** </a:t>
            </a:r>
            <a:r>
              <a:rPr lang="en-US" sz="1200" dirty="0">
                <a:effectLst/>
                <a:latin typeface="Lato" panose="020F0502020204030203" pitchFamily="34" charset="0"/>
                <a:ea typeface="Calibri" panose="020F0502020204030204" pitchFamily="34" charset="0"/>
                <a:cs typeface="Times New Roman" panose="02020603050405020304" pitchFamily="18" charset="0"/>
              </a:rPr>
              <a:t> the short term, children gained on their verbal &amp; reading test scores when their mothers reenrolled in school. These gains were larger &amp; lasted longer for children whose mothers completed a college degree.</a:t>
            </a:r>
          </a:p>
          <a:p>
            <a:pPr marL="0" marR="0" indent="0" algn="l">
              <a:lnSpc>
                <a:spcPts val="1500"/>
              </a:lnSpc>
              <a:spcBef>
                <a:spcPts val="900"/>
              </a:spcBef>
              <a:spcAft>
                <a:spcPts val="900"/>
              </a:spcAft>
            </a:pPr>
            <a:endParaRPr lang="en-US" sz="1200" dirty="0">
              <a:effectLst/>
              <a:latin typeface="Lato" panose="020F0502020204030203" pitchFamily="34" charset="0"/>
              <a:ea typeface="Calibri" panose="020F0502020204030204" pitchFamily="34" charset="0"/>
              <a:cs typeface="Times New Roman" panose="02020603050405020304" pitchFamily="18" charset="0"/>
            </a:endParaRPr>
          </a:p>
          <a:p>
            <a:pPr marL="0" marR="0" indent="0" algn="l">
              <a:lnSpc>
                <a:spcPts val="1500"/>
              </a:lnSpc>
              <a:spcBef>
                <a:spcPts val="900"/>
              </a:spcBef>
              <a:spcAft>
                <a:spcPts val="900"/>
              </a:spcAft>
            </a:pPr>
            <a:r>
              <a:rPr lang="en-US" sz="1200" b="1" dirty="0">
                <a:effectLst/>
                <a:latin typeface="Lato" panose="020F0502020204030203" pitchFamily="34" charset="0"/>
                <a:ea typeface="Calibri" panose="020F0502020204030204" pitchFamily="34" charset="0"/>
                <a:cs typeface="Times New Roman" panose="02020603050405020304" pitchFamily="18" charset="0"/>
              </a:rPr>
              <a:t>**CLICK** </a:t>
            </a:r>
            <a:r>
              <a:rPr lang="en-US" sz="1200" dirty="0">
                <a:effectLst/>
                <a:latin typeface="Lato" panose="020F0502020204030203" pitchFamily="34" charset="0"/>
                <a:ea typeface="Calibri" panose="020F0502020204030204" pitchFamily="34" charset="0"/>
                <a:cs typeface="Times New Roman" panose="02020603050405020304" pitchFamily="18" charset="0"/>
              </a:rPr>
              <a:t>But they also had worst behavior indicators. In the overall group, this was measured as a standardized behavior problem index, which was worst for children whose mothers went abck to school for five years. Among children whose mothers completed a degree, their behavior scores were actually not worse, but they were more likely to be suspended at some point in school. These findings suggest transition costs of mothers’ educational enrollment for children may exist, though some benefits appear as well. The persistence of negative behavioral effects suggests there may be a slippery slope: once children begin to have behavioral problems, they persist. However, it is important to note that the behavioral scores were based on mothers’ reports of their children’s behavior on various scales. It is also possible that mothers’ </a:t>
            </a:r>
            <a:r>
              <a:rPr lang="en-US" sz="1200" i="1" dirty="0">
                <a:effectLst/>
                <a:latin typeface="Lato" panose="020F0502020204030203" pitchFamily="34" charset="0"/>
                <a:ea typeface="Calibri" panose="020F0502020204030204" pitchFamily="34" charset="0"/>
                <a:cs typeface="Times New Roman" panose="02020603050405020304" pitchFamily="18" charset="0"/>
              </a:rPr>
              <a:t>expectations</a:t>
            </a:r>
            <a:r>
              <a:rPr lang="en-US" sz="1200" dirty="0">
                <a:effectLst/>
                <a:latin typeface="Lato" panose="020F0502020204030203" pitchFamily="34" charset="0"/>
                <a:ea typeface="Calibri" panose="020F0502020204030204" pitchFamily="34" charset="0"/>
                <a:cs typeface="Times New Roman" panose="02020603050405020304" pitchFamily="18" charset="0"/>
              </a:rPr>
              <a:t> for children increased as the mothers gained more education, resulting in worse behavioral assessment scores. </a:t>
            </a:r>
          </a:p>
          <a:p>
            <a:pPr marL="0" marR="0" indent="0" algn="l">
              <a:lnSpc>
                <a:spcPts val="1500"/>
              </a:lnSpc>
              <a:spcBef>
                <a:spcPts val="900"/>
              </a:spcBef>
              <a:spcAft>
                <a:spcPts val="900"/>
              </a:spcAft>
            </a:pPr>
            <a:endParaRPr lang="en-US" sz="1200" dirty="0">
              <a:effectLst/>
              <a:latin typeface="Lato" panose="020F0502020204030203" pitchFamily="34" charset="0"/>
              <a:ea typeface="Calibri" panose="020F0502020204030204" pitchFamily="34" charset="0"/>
              <a:cs typeface="Times New Roman" panose="02020603050405020304" pitchFamily="18" charset="0"/>
            </a:endParaRPr>
          </a:p>
          <a:p>
            <a:pPr marL="0" marR="0" indent="0" algn="l">
              <a:lnSpc>
                <a:spcPts val="1500"/>
              </a:lnSpc>
              <a:spcBef>
                <a:spcPts val="900"/>
              </a:spcBef>
              <a:spcAft>
                <a:spcPts val="900"/>
              </a:spcAft>
            </a:pPr>
            <a:r>
              <a:rPr lang="en-US" sz="1200" dirty="0">
                <a:effectLst/>
                <a:latin typeface="Lato" panose="020F0502020204030203" pitchFamily="34" charset="0"/>
                <a:ea typeface="Calibri" panose="020F0502020204030204" pitchFamily="34" charset="0"/>
                <a:cs typeface="Times New Roman" panose="02020603050405020304" pitchFamily="18" charset="0"/>
              </a:rPr>
              <a:t>Interviewees from my qualitative research expressed concerns about the quality &amp; quantity of time they could spend with children while they were in school. The qualitative interviews provided some suggestive support for two explanations. First, children may have had more unsupervised time or have been in lower-quality care environments while their mothers were in school. Second, children may have perceived they were not their mothers’ top priority as the mothers struggled to make multiple ends meet.</a:t>
            </a:r>
          </a:p>
          <a:p>
            <a:pPr marL="0" marR="0" indent="0" algn="l">
              <a:lnSpc>
                <a:spcPts val="1500"/>
              </a:lnSpc>
              <a:spcBef>
                <a:spcPts val="900"/>
              </a:spcBef>
              <a:spcAft>
                <a:spcPts val="900"/>
              </a:spcAft>
            </a:pPr>
            <a:endParaRPr lang="en-US" sz="1200" dirty="0">
              <a:effectLst/>
              <a:latin typeface="Lato" panose="020F0502020204030203" pitchFamily="34" charset="0"/>
              <a:ea typeface="Calibri" panose="020F0502020204030204" pitchFamily="34" charset="0"/>
              <a:cs typeface="Times New Roman" panose="02020603050405020304" pitchFamily="18" charset="0"/>
            </a:endParaRPr>
          </a:p>
          <a:p>
            <a:pPr marL="0" marR="0" indent="0" algn="l">
              <a:lnSpc>
                <a:spcPts val="1500"/>
              </a:lnSpc>
              <a:spcBef>
                <a:spcPts val="900"/>
              </a:spcBef>
              <a:spcAft>
                <a:spcPts val="900"/>
              </a:spcAft>
            </a:pPr>
            <a:r>
              <a:rPr lang="en-US" sz="1200" b="1" dirty="0">
                <a:effectLst/>
                <a:latin typeface="Lato" panose="020F0502020204030203" pitchFamily="34" charset="0"/>
                <a:ea typeface="Calibri" panose="020F0502020204030204" pitchFamily="34" charset="0"/>
                <a:cs typeface="Times New Roman" panose="02020603050405020304" pitchFamily="18" charset="0"/>
              </a:rPr>
              <a:t>**CLICK** </a:t>
            </a:r>
            <a:r>
              <a:rPr lang="en-US" sz="1200" dirty="0">
                <a:effectLst/>
                <a:latin typeface="Lato" panose="020F0502020204030203" pitchFamily="34" charset="0"/>
                <a:ea typeface="Calibri" panose="020F0502020204030204" pitchFamily="34" charset="0"/>
                <a:cs typeface="Times New Roman" panose="02020603050405020304" pitchFamily="18" charset="0"/>
              </a:rPr>
              <a:t>Children of mothers who reenrolled in school saw higher educational attainment themselves. They were 2% more likely to complete high school, 10% more likely to enroll in college, &amp; 16% more likely to get a college degree. Among children whose mothers completed college degrees, these rates were even higher – for example, they were almost 40% more likely to get a college degree themselves.</a:t>
            </a:r>
          </a:p>
          <a:p>
            <a:pPr marL="0" marR="0" indent="0" algn="l">
              <a:lnSpc>
                <a:spcPts val="1500"/>
              </a:lnSpc>
              <a:spcBef>
                <a:spcPts val="900"/>
              </a:spcBef>
              <a:spcAft>
                <a:spcPts val="900"/>
              </a:spcAft>
            </a:pPr>
            <a:endParaRPr lang="en-US" sz="1200" dirty="0">
              <a:effectLst/>
              <a:latin typeface="Lato" panose="020F0502020204030203"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ts val="1500"/>
              </a:lnSpc>
              <a:spcBef>
                <a:spcPts val="900"/>
              </a:spcBef>
              <a:spcAft>
                <a:spcPts val="900"/>
              </a:spcAft>
              <a:buClrTx/>
              <a:buSzTx/>
              <a:buFontTx/>
              <a:buNone/>
              <a:tabLst/>
              <a:defRPr/>
            </a:pPr>
            <a:r>
              <a:rPr lang="en-US" sz="1200" b="1" dirty="0">
                <a:effectLst/>
                <a:latin typeface="Lato" panose="020F0502020204030203" pitchFamily="34" charset="0"/>
                <a:ea typeface="Calibri" panose="020F0502020204030204" pitchFamily="34" charset="0"/>
                <a:cs typeface="Times New Roman" panose="02020603050405020304" pitchFamily="18" charset="0"/>
              </a:rPr>
              <a:t>**CLICK** </a:t>
            </a:r>
            <a:r>
              <a:rPr lang="en-US" sz="1200" dirty="0">
                <a:effectLst/>
                <a:latin typeface="Lato" panose="020F0502020204030203" pitchFamily="34" charset="0"/>
                <a:ea typeface="Calibri" panose="020F0502020204030204" pitchFamily="34" charset="0"/>
                <a:cs typeface="Times New Roman" panose="02020603050405020304" pitchFamily="18" charset="0"/>
              </a:rPr>
              <a:t>Children in the overall group did not see gains in their earnings in early adulthood, but those whose mothers competed degrees did see increases in earnings of about $4000 per year after age 25. The children were </a:t>
            </a:r>
            <a:r>
              <a:rPr lang="en-US" sz="1800" dirty="0">
                <a:effectLst/>
                <a:latin typeface="Lato" panose="020F0502020204030203" pitchFamily="34" charset="0"/>
                <a:ea typeface="Calibri" panose="020F0502020204030204" pitchFamily="34" charset="0"/>
                <a:cs typeface="Times New Roman" panose="02020603050405020304" pitchFamily="18" charset="0"/>
              </a:rPr>
              <a:t>age 28 on average in the last year of analysis, though the oldest children were in their early forties.</a:t>
            </a:r>
            <a:endParaRPr lang="en-US" dirty="0"/>
          </a:p>
          <a:p>
            <a:pPr marL="0" marR="0" indent="0" algn="l">
              <a:lnSpc>
                <a:spcPts val="1500"/>
              </a:lnSpc>
              <a:spcBef>
                <a:spcPts val="900"/>
              </a:spcBef>
              <a:spcAft>
                <a:spcPts val="900"/>
              </a:spcAft>
            </a:pPr>
            <a:endParaRPr lang="en-US" sz="1200" dirty="0">
              <a:effectLst/>
              <a:latin typeface="Lato" panose="020F0502020204030203"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effectLst/>
                <a:latin typeface="Lato" panose="020F0502020204030203" pitchFamily="34" charset="0"/>
                <a:ea typeface="Calibri" panose="020F0502020204030204" pitchFamily="34" charset="0"/>
                <a:cs typeface="Times New Roman" panose="02020603050405020304" pitchFamily="18" charset="0"/>
              </a:rPr>
              <a:t>**CLICK** </a:t>
            </a:r>
            <a:r>
              <a:rPr lang="en-US" sz="1200" dirty="0">
                <a:effectLst/>
                <a:latin typeface="Lato" panose="020F0502020204030203" pitchFamily="34" charset="0"/>
                <a:ea typeface="Calibri" panose="020F0502020204030204" pitchFamily="34" charset="0"/>
                <a:cs typeface="Times New Roman" panose="02020603050405020304" pitchFamily="18" charset="0"/>
              </a:rPr>
              <a:t>Despite the negative effects on mothers’ marriages, there were no significant effects on children’s probability of getting married or number of years married overall. </a:t>
            </a:r>
            <a:endParaRPr lang="en-US" dirty="0"/>
          </a:p>
          <a:p>
            <a:pPr indent="0" algn="l"/>
            <a:endParaRPr lang="en-US" dirty="0"/>
          </a:p>
          <a:p>
            <a:pPr indent="0" algn="l"/>
            <a:r>
              <a:rPr lang="en-US" sz="1200" b="1" dirty="0">
                <a:effectLst/>
                <a:latin typeface="Lato" panose="020F0502020204030203" pitchFamily="34" charset="0"/>
                <a:ea typeface="Calibri" panose="020F0502020204030204" pitchFamily="34" charset="0"/>
                <a:cs typeface="Times New Roman" panose="02020603050405020304" pitchFamily="18" charset="0"/>
              </a:rPr>
              <a:t>**CLICK** &amp; </a:t>
            </a:r>
            <a:r>
              <a:rPr lang="en-US" dirty="0"/>
              <a:t>finally, we saw some negative effects on children’s physical health in the overall group, but no effects for the children of college completers &amp; no differences in depression for either group. </a:t>
            </a:r>
            <a:r>
              <a:rPr lang="en-US" sz="1200" b="1" dirty="0">
                <a:effectLst/>
                <a:latin typeface="Lato" panose="020F0502020204030203" pitchFamily="34" charset="0"/>
                <a:ea typeface="Calibri" panose="020F0502020204030204" pitchFamily="34" charset="0"/>
                <a:cs typeface="Times New Roman" panose="02020603050405020304" pitchFamily="18" charset="0"/>
              </a:rPr>
              <a:t>**CLICK** </a:t>
            </a:r>
            <a:endParaRPr lang="en-US" dirty="0"/>
          </a:p>
          <a:p>
            <a:pPr indent="0" algn="l"/>
            <a:endParaRPr lang="en-US" dirty="0"/>
          </a:p>
        </p:txBody>
      </p:sp>
      <p:sp>
        <p:nvSpPr>
          <p:cNvPr id="4" name="Slide Number Placeholder 3"/>
          <p:cNvSpPr>
            <a:spLocks noGrp="1"/>
          </p:cNvSpPr>
          <p:nvPr>
            <p:ph type="sldNum" sz="quarter" idx="5"/>
          </p:nvPr>
        </p:nvSpPr>
        <p:spPr/>
        <p:txBody>
          <a:bodyPr/>
          <a:lstStyle/>
          <a:p>
            <a:fld id="{4A8FF090-4EED-4C98-9325-E24A9A623F60}" type="slidenum">
              <a:rPr lang="en-US" smtClean="0"/>
              <a:t>10</a:t>
            </a:fld>
            <a:endParaRPr lang="en-US"/>
          </a:p>
        </p:txBody>
      </p:sp>
    </p:spTree>
    <p:extLst>
      <p:ext uri="{BB962C8B-B14F-4D97-AF65-F5344CB8AC3E}">
        <p14:creationId xmlns:p14="http://schemas.microsoft.com/office/powerpoint/2010/main" val="23910419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Overall – (summarize slide)</a:t>
            </a:r>
          </a:p>
        </p:txBody>
      </p:sp>
      <p:sp>
        <p:nvSpPr>
          <p:cNvPr id="4" name="Slide Number Placeholder 3"/>
          <p:cNvSpPr>
            <a:spLocks noGrp="1"/>
          </p:cNvSpPr>
          <p:nvPr>
            <p:ph type="sldNum" sz="quarter" idx="5"/>
          </p:nvPr>
        </p:nvSpPr>
        <p:spPr/>
        <p:txBody>
          <a:bodyPr/>
          <a:lstStyle/>
          <a:p>
            <a:fld id="{D7C04991-11DB-4B4D-85F1-7BDCB130EDD6}" type="slidenum">
              <a:rPr lang="en-US" smtClean="0"/>
              <a:t>11</a:t>
            </a:fld>
            <a:endParaRPr lang="en-US"/>
          </a:p>
        </p:txBody>
      </p:sp>
    </p:spTree>
    <p:extLst>
      <p:ext uri="{BB962C8B-B14F-4D97-AF65-F5344CB8AC3E}">
        <p14:creationId xmlns:p14="http://schemas.microsoft.com/office/powerpoint/2010/main" val="4097322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Qualitative data provide rich detail about the perspectives &amp; experiences of mothers pursuing education. I have a lot of findings from this portion of the research, but I summarize here the ones most closely related to the quantitative findings.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Many women made explicit decisions to decrease their work effort &amp; earnings to accommodate schooling &amp; retain some time with children. They considered this part of the cost of education &amp; anticipated it would pay off financially in the long run.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a:lnSpc>
                <a:spcPct val="120000"/>
              </a:lnSpc>
              <a:spcAft>
                <a:spcPts val="600"/>
              </a:spcAft>
            </a:pPr>
            <a:r>
              <a:rPr lang="en-US" dirty="0"/>
              <a:t>Sometimes women decided to return to school shortly after marriage or relationship failure, but sometimes stress &amp; pressure of schooling and/or new self identities challenged continued partnerships. It would </a:t>
            </a:r>
            <a:r>
              <a:rPr lang="en-US" i="1" dirty="0"/>
              <a:t>not</a:t>
            </a:r>
            <a:r>
              <a:rPr lang="en-US" dirty="0"/>
              <a:t> be accurate to say that school reenrollment </a:t>
            </a:r>
            <a:r>
              <a:rPr lang="en-US" i="1" dirty="0"/>
              <a:t>causes</a:t>
            </a:r>
            <a:r>
              <a:rPr lang="en-US" dirty="0"/>
              <a:t> marriage rates to decline, but there is an understandable association.</a:t>
            </a:r>
          </a:p>
          <a:p>
            <a:pPr>
              <a:lnSpc>
                <a:spcPct val="120000"/>
              </a:lnSpc>
              <a:spcAft>
                <a:spcPts val="600"/>
              </a:spcAft>
            </a:pPr>
            <a:endParaRPr lang="en-US" dirty="0"/>
          </a:p>
          <a:p>
            <a:pPr>
              <a:lnSpc>
                <a:spcPct val="120000"/>
              </a:lnSpc>
              <a:spcAft>
                <a:spcPts val="600"/>
              </a:spcAft>
            </a:pPr>
            <a:r>
              <a:rPr lang="en-US" dirty="0"/>
              <a:t>Women experienced mental health challenges &amp; immense stress while in school, &amp; support was often informal through family, partners, &amp; friends. </a:t>
            </a:r>
          </a:p>
          <a:p>
            <a:pPr>
              <a:lnSpc>
                <a:spcPct val="120000"/>
              </a:lnSpc>
              <a:spcAft>
                <a:spcPts val="600"/>
              </a:spcAft>
            </a:pPr>
            <a:endParaRPr lang="en-US" dirty="0"/>
          </a:p>
          <a:p>
            <a:pPr>
              <a:lnSpc>
                <a:spcPct val="120000"/>
              </a:lnSpc>
              <a:spcAft>
                <a:spcPts val="600"/>
              </a:spcAft>
            </a:pPr>
            <a:r>
              <a:rPr lang="en-US" dirty="0"/>
              <a:t>Some women discussed positive role-modeling &amp; “concerted cultivation” of children, which might point toward better child outcomes. But the qualitative findings do not explain well children’s negative behavioral issues. Unfortunately, because I talked with mothers but not with children themselves, it was more difficult to figure out what might be driving this result. </a:t>
            </a:r>
          </a:p>
          <a:p>
            <a:pPr>
              <a:lnSpc>
                <a:spcPct val="120000"/>
              </a:lnSpc>
              <a:spcAft>
                <a:spcPts val="600"/>
              </a:spcAft>
            </a:pPr>
            <a:endParaRPr lang="en-US" dirty="0"/>
          </a:p>
          <a:p>
            <a:pPr>
              <a:lnSpc>
                <a:spcPct val="120000"/>
              </a:lnSpc>
              <a:spcAft>
                <a:spcPts val="600"/>
              </a:spcAft>
            </a:pPr>
            <a:r>
              <a:rPr lang="en-US" dirty="0"/>
              <a:t>From anecdotal feedback from others whom I’ve talked with about this finding, it is possible that reduced attention from mothers, lower-quality care situations, and/or being considered a lower priority during children’s important formative years leads to behavioral instability. But I believe further investigation would be necessary to fully disentangle this issue.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Given the positive themes around child development in the qualitative work &amp; the positive effects on education outcomes discovered in the quantitative analysis, it is surprising that I do not observe positive impacts on children’s longer-term employment &amp; earnings. That said, it is possible that positive effects had yet to manifest. It is also possible that “stickiness” in intergenerational mobility takes more to overcome than parents’ delayed additional educational attainment. This is another area that would benefit from further investigation, perhaps through interviews with people who had parents who returned to school &amp; could reflect on how it affected their trajectories.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72C822-0E82-45FD-BBCA-E8BA1922783D}" type="slidenum">
              <a:rPr kumimoji="0" lang="en-US" sz="12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839611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 indent="0">
              <a:lnSpc>
                <a:spcPct val="120000"/>
              </a:lnSpc>
              <a:spcAft>
                <a:spcPts val="600"/>
              </a:spcAft>
              <a:buNone/>
            </a:pPr>
            <a:r>
              <a:rPr lang="en-US" dirty="0"/>
              <a:t>Based on the recommendations and insights from this work, as well as a general review of policy issues, I look at ways to improve experiences for student-mothers while enrolled. Of course, this was developed before COVID, but I think the themes persist, even if the execution may have to be modified.</a:t>
            </a:r>
          </a:p>
          <a:p>
            <a:pPr marL="45720" indent="0">
              <a:lnSpc>
                <a:spcPct val="120000"/>
              </a:lnSpc>
              <a:spcAft>
                <a:spcPts val="600"/>
              </a:spcAft>
              <a:buNone/>
            </a:pPr>
            <a:endParaRPr lang="en-US" dirty="0"/>
          </a:p>
          <a:p>
            <a:pPr marL="45720" indent="0">
              <a:lnSpc>
                <a:spcPct val="120000"/>
              </a:lnSpc>
              <a:spcAft>
                <a:spcPts val="600"/>
              </a:spcAft>
              <a:buNone/>
            </a:pPr>
            <a:r>
              <a:rPr lang="en-US" dirty="0"/>
              <a:t>I identify five areas that would make a big difference for parents, summarized on this &amp; the next slides. </a:t>
            </a:r>
          </a:p>
          <a:p>
            <a:pPr marL="45720" indent="0">
              <a:lnSpc>
                <a:spcPct val="120000"/>
              </a:lnSpc>
              <a:spcAft>
                <a:spcPts val="600"/>
              </a:spcAft>
              <a:buNone/>
            </a:pPr>
            <a:endParaRPr lang="en-US" dirty="0"/>
          </a:p>
          <a:p>
            <a:pPr marL="45720" indent="0">
              <a:lnSpc>
                <a:spcPct val="120000"/>
              </a:lnSpc>
              <a:spcAft>
                <a:spcPts val="600"/>
              </a:spcAft>
              <a:buNone/>
            </a:pPr>
            <a:r>
              <a:rPr lang="en-US" sz="1200" b="1" dirty="0">
                <a:effectLst/>
                <a:latin typeface="Lato" panose="020F0502020204030203" pitchFamily="34" charset="0"/>
                <a:ea typeface="Calibri" panose="020F0502020204030204" pitchFamily="34" charset="0"/>
                <a:cs typeface="Times New Roman" panose="02020603050405020304" pitchFamily="18" charset="0"/>
              </a:rPr>
              <a:t>**CLICK** </a:t>
            </a:r>
            <a:r>
              <a:rPr lang="en-US" dirty="0"/>
              <a:t>The first is a safe &amp; welcoming campus culture. In my research write-up, I share recommendations from the interviewees about how to achieve this, many of which are low- or no cost. Some tangible suggestions I can offer is that institutions look into using the Family-friendly Campus Toolkit from </a:t>
            </a:r>
            <a:r>
              <a:rPr lang="en-US" dirty="0" err="1"/>
              <a:t>PERG</a:t>
            </a:r>
            <a:r>
              <a:rPr lang="en-US" dirty="0"/>
              <a:t> Learning, which focuses on helping institutions assess how they can help students meet basic needs, build community, &amp; obtain funding. </a:t>
            </a:r>
          </a:p>
          <a:p>
            <a:pPr marL="45720" indent="0">
              <a:lnSpc>
                <a:spcPct val="120000"/>
              </a:lnSpc>
              <a:spcAft>
                <a:spcPts val="600"/>
              </a:spcAft>
              <a:buNone/>
            </a:pPr>
            <a:endParaRPr lang="en-US" dirty="0"/>
          </a:p>
          <a:p>
            <a:pPr marL="45720" indent="0">
              <a:lnSpc>
                <a:spcPct val="120000"/>
              </a:lnSpc>
              <a:spcAft>
                <a:spcPts val="600"/>
              </a:spcAft>
              <a:buNone/>
            </a:pPr>
            <a:r>
              <a:rPr lang="en-US" dirty="0"/>
              <a:t>They might also look at the </a:t>
            </a:r>
            <a:r>
              <a:rPr lang="en-US" i="1" dirty="0"/>
              <a:t>8 Keys to Veterans’ Success</a:t>
            </a:r>
            <a:r>
              <a:rPr lang="en-US" i="0" dirty="0"/>
              <a:t>, identified by the Obama Administration, but which can easily be adapted to parenting students. </a:t>
            </a:r>
          </a:p>
          <a:p>
            <a:pPr marL="45720" indent="0">
              <a:lnSpc>
                <a:spcPct val="120000"/>
              </a:lnSpc>
              <a:spcAft>
                <a:spcPts val="600"/>
              </a:spcAft>
              <a:buNone/>
            </a:pPr>
            <a:endParaRPr lang="en-US" i="0" dirty="0"/>
          </a:p>
          <a:p>
            <a:pPr marL="45720" indent="0">
              <a:lnSpc>
                <a:spcPct val="120000"/>
              </a:lnSpc>
              <a:spcAft>
                <a:spcPts val="600"/>
              </a:spcAft>
              <a:buNone/>
            </a:pPr>
            <a:r>
              <a:rPr lang="en-US" i="0" dirty="0"/>
              <a:t>One interesting suggestion from the interviews is that colleges identify a p</a:t>
            </a:r>
            <a:r>
              <a:rPr lang="en-US" dirty="0"/>
              <a:t>oint person student-parents can use to request reasonable accommodations, similar to structures that already exist for students with disabilities &amp; veterans—and athletes at some schools. </a:t>
            </a:r>
          </a:p>
          <a:p>
            <a:pPr marL="45720" indent="0">
              <a:lnSpc>
                <a:spcPct val="120000"/>
              </a:lnSpc>
              <a:spcAft>
                <a:spcPts val="600"/>
              </a:spcAft>
              <a:buNone/>
            </a:pPr>
            <a:endParaRPr lang="en-US" dirty="0"/>
          </a:p>
          <a:p>
            <a:pPr marL="45720" indent="0">
              <a:lnSpc>
                <a:spcPct val="120000"/>
              </a:lnSpc>
              <a:spcAft>
                <a:spcPts val="600"/>
              </a:spcAft>
              <a:buNone/>
            </a:pPr>
            <a:r>
              <a:rPr lang="en-US" dirty="0"/>
              <a:t>Finally, colleges would be able to address issues on campus better if they understood the size &amp; characteristics of their student-parent populations. </a:t>
            </a:r>
            <a:r>
              <a:rPr lang="en-US" sz="1800" dirty="0">
                <a:effectLst/>
                <a:latin typeface="Lato" panose="020F0502020204030203" pitchFamily="34" charset="0"/>
                <a:ea typeface="Calibri" panose="020F0502020204030204" pitchFamily="34" charset="0"/>
                <a:cs typeface="Times New Roman" panose="02020603050405020304" pitchFamily="18" charset="0"/>
              </a:rPr>
              <a:t>Data and measurement challenges and limitations on disaggregating student data by parenting status are issues at the college level</a:t>
            </a:r>
            <a:r>
              <a:rPr lang="en-US" dirty="0"/>
              <a:t>. (We’re actually working on a project about this right now.) </a:t>
            </a:r>
          </a:p>
          <a:p>
            <a:pPr lvl="1">
              <a:lnSpc>
                <a:spcPct val="120000"/>
              </a:lnSpc>
              <a:spcAft>
                <a:spcPts val="600"/>
              </a:spcAft>
            </a:pPr>
            <a:endParaRPr lang="en-US" dirty="0"/>
          </a:p>
          <a:p>
            <a:pPr marL="0" marR="0" lvl="0" indent="0" algn="l" defTabSz="914400" rtl="0" eaLnBrk="1" fontAlgn="auto" latinLnBrk="0" hangingPunct="1">
              <a:lnSpc>
                <a:spcPct val="120000"/>
              </a:lnSpc>
              <a:spcBef>
                <a:spcPts val="0"/>
              </a:spcBef>
              <a:spcAft>
                <a:spcPts val="600"/>
              </a:spcAft>
              <a:buClrTx/>
              <a:buSzTx/>
              <a:buFontTx/>
              <a:buNone/>
              <a:tabLst/>
              <a:defRPr/>
            </a:pPr>
            <a:r>
              <a:rPr lang="en-US" b="1" dirty="0"/>
              <a:t>**CLICK** </a:t>
            </a:r>
            <a:r>
              <a:rPr lang="en-US" dirty="0"/>
              <a:t>Another area that would help students is strengthening advising supports. This may involve enhancing college advising to look beyond academic issues &amp; support holistic needs and/or instituting student-parent specific advising. </a:t>
            </a:r>
            <a:r>
              <a:rPr lang="en-US" sz="1800" dirty="0">
                <a:effectLst/>
                <a:latin typeface="Lato" panose="020F0502020204030203" pitchFamily="34" charset="0"/>
                <a:ea typeface="Calibri" panose="020F0502020204030204" pitchFamily="34" charset="0"/>
                <a:cs typeface="Times New Roman" panose="02020603050405020304" pitchFamily="18" charset="0"/>
              </a:rPr>
              <a:t>Schools can implement advising specific to parenting students, or at least explicitly train all advisors on common issues student-parents face, such as child care, which is an advising oversight highlighted by the US Government Accountability Office. This may also include helping direct parenting students to programs they are likely to complete because the programs are suited to their schedule and interests. They can also emphasize programs that might lead to high labor market payoffs by preparing students for high-demand and high-wage jobs or having good connections with quality employment opportunities. Directing students to programs in which they are likely to succeed academically and economically can improve family outcomes in the long term.</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72C822-0E82-45FD-BBCA-E8BA1922783D}" type="slidenum">
              <a:rPr kumimoji="0" lang="en-US" sz="12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275497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20000"/>
              </a:lnSpc>
              <a:spcBef>
                <a:spcPts val="0"/>
              </a:spcBef>
              <a:spcAft>
                <a:spcPts val="600"/>
              </a:spcAft>
              <a:buClrTx/>
              <a:buSzTx/>
              <a:buFontTx/>
              <a:buNone/>
              <a:tabLst/>
              <a:defRPr/>
            </a:pPr>
            <a:r>
              <a:rPr lang="en-US" sz="1800" b="1" dirty="0">
                <a:effectLst/>
                <a:latin typeface="Lato" panose="020F0502020204030203" pitchFamily="34" charset="0"/>
                <a:ea typeface="Calibri" panose="020F0502020204030204" pitchFamily="34" charset="0"/>
                <a:cs typeface="Times New Roman" panose="02020603050405020304" pitchFamily="18" charset="0"/>
              </a:rPr>
              <a:t>**CLICK** </a:t>
            </a:r>
            <a:r>
              <a:rPr lang="en-US" sz="1800" dirty="0"/>
              <a:t>Child care is a major area of focus for this population, but interventions are often costly. Several child care support options exist for student-parents, though none fully addresses the need. The first is increasing the number of subsidies and providers overall. In addition, more support to cover the cost of care during extended, nontraditional, &amp; weekend hours would help student-parents, who are often also working. An expansion of on-campus child care options would be obviously beneficial. Recently, </a:t>
            </a:r>
            <a:r>
              <a:rPr lang="en-US" sz="1800" dirty="0" err="1"/>
              <a:t>CCAMPIS</a:t>
            </a:r>
            <a:r>
              <a:rPr lang="en-US" sz="1800" dirty="0"/>
              <a:t> received an infusion of funding to do just that, though the results are not yet known. If states took advantage of flexibilities allowed by the Child Care Development Fund to provide care during education support activities—like homework &amp; education-related activities—instead of only counting hours in class or work as eligible, that would allow student-parents to be more successful. Finally, </a:t>
            </a:r>
            <a:r>
              <a:rPr lang="en-US" sz="1800" dirty="0">
                <a:effectLst/>
                <a:latin typeface="Lato" panose="020F0502020204030203" pitchFamily="34" charset="0"/>
                <a:cs typeface="Times New Roman" panose="02020603050405020304" pitchFamily="18" charset="0"/>
              </a:rPr>
              <a:t>f</a:t>
            </a:r>
            <a:r>
              <a:rPr lang="en-US" sz="1800" dirty="0">
                <a:effectLst/>
                <a:latin typeface="Lato" panose="020F0502020204030203" pitchFamily="34" charset="0"/>
                <a:ea typeface="Calibri" panose="020F0502020204030204" pitchFamily="34" charset="0"/>
                <a:cs typeface="Times New Roman" panose="02020603050405020304" pitchFamily="18" charset="0"/>
              </a:rPr>
              <a:t>ederal policy can address how to increase dependent care allowances as part of financial aid to fully account for the cost of child care, as well as other family-related costs necessary for educational progress.</a:t>
            </a:r>
          </a:p>
          <a:p>
            <a:pPr marL="0" marR="0" lvl="0" indent="0" algn="l" defTabSz="914400" rtl="0" eaLnBrk="1" fontAlgn="auto" latinLnBrk="0" hangingPunct="1">
              <a:lnSpc>
                <a:spcPct val="120000"/>
              </a:lnSpc>
              <a:spcBef>
                <a:spcPts val="0"/>
              </a:spcBef>
              <a:spcAft>
                <a:spcPts val="600"/>
              </a:spcAft>
              <a:buClrTx/>
              <a:buSzTx/>
              <a:buFontTx/>
              <a:buNone/>
              <a:tabLst/>
              <a:defRPr/>
            </a:pPr>
            <a:endParaRPr lang="en-US" sz="1800" dirty="0">
              <a:effectLst/>
              <a:latin typeface="Lato" panose="020F0502020204030203" pitchFamily="34" charset="0"/>
              <a:cs typeface="Times New Roman" panose="02020603050405020304" pitchFamily="18" charset="0"/>
            </a:endParaRPr>
          </a:p>
          <a:p>
            <a:pPr marL="0" marR="0" lvl="0" indent="0" algn="l" defTabSz="914400" rtl="0" eaLnBrk="1" fontAlgn="auto" latinLnBrk="0" hangingPunct="1">
              <a:lnSpc>
                <a:spcPct val="120000"/>
              </a:lnSpc>
              <a:spcBef>
                <a:spcPts val="0"/>
              </a:spcBef>
              <a:spcAft>
                <a:spcPts val="600"/>
              </a:spcAft>
              <a:buClrTx/>
              <a:buSzTx/>
              <a:buFontTx/>
              <a:buNone/>
              <a:tabLst/>
              <a:defRPr/>
            </a:pPr>
            <a:r>
              <a:rPr lang="en-US" sz="1800" b="1" dirty="0">
                <a:effectLst/>
                <a:latin typeface="Lato" panose="020F0502020204030203" pitchFamily="34" charset="0"/>
                <a:cs typeface="Times New Roman" panose="02020603050405020304" pitchFamily="18" charset="0"/>
              </a:rPr>
              <a:t>**CLICK** </a:t>
            </a:r>
            <a:r>
              <a:rPr lang="en-US" dirty="0"/>
              <a:t>Another big area is financial support. An issue commonly raised in the interviews &amp; the literature is financial aid &amp; the Pell grant program. This is the primary tuition support for student-parents, but the way income protection is calculated, certain Pell Grant restrictions, &amp; the calculations of allowances penalize working student-parents. In addition, this population, like many others, would benefit from simplification of the FAFSA/aid application process &amp; the increased availability of grants over loans.</a:t>
            </a:r>
          </a:p>
          <a:p>
            <a:pPr marL="45720" indent="0">
              <a:lnSpc>
                <a:spcPct val="120000"/>
              </a:lnSpc>
              <a:spcAft>
                <a:spcPts val="600"/>
              </a:spcAft>
              <a:buNone/>
            </a:pPr>
            <a:endParaRPr lang="en-US" dirty="0"/>
          </a:p>
          <a:p>
            <a:pPr marL="45720" indent="0">
              <a:lnSpc>
                <a:spcPct val="120000"/>
              </a:lnSpc>
              <a:spcAft>
                <a:spcPts val="600"/>
              </a:spcAft>
              <a:buNone/>
            </a:pPr>
            <a:r>
              <a:rPr lang="en-US" dirty="0"/>
              <a:t>The Workforce Innovation &amp; Opportunity Act (WIOA) lists </a:t>
            </a:r>
            <a:r>
              <a:rPr lang="en-US" sz="1300" kern="1200" dirty="0">
                <a:solidFill>
                  <a:schemeClr val="tx1"/>
                </a:solidFill>
                <a:effectLst/>
                <a:latin typeface="+mn-lt"/>
                <a:ea typeface="+mn-ea"/>
                <a:cs typeface="+mn-cs"/>
              </a:rPr>
              <a:t>single parents and young parents</a:t>
            </a:r>
            <a:r>
              <a:rPr lang="en-US" dirty="0"/>
              <a:t> as a priority service populations, but there is inconsistent application of tuition support policies across states &amp; local areas. </a:t>
            </a:r>
          </a:p>
          <a:p>
            <a:pPr marL="45720" indent="0">
              <a:lnSpc>
                <a:spcPct val="120000"/>
              </a:lnSpc>
              <a:spcAft>
                <a:spcPts val="600"/>
              </a:spcAft>
              <a:buNone/>
            </a:pPr>
            <a:endParaRPr lang="en-US" dirty="0"/>
          </a:p>
          <a:p>
            <a:pPr lvl="0">
              <a:lnSpc>
                <a:spcPct val="120000"/>
              </a:lnSpc>
              <a:spcAft>
                <a:spcPts val="600"/>
              </a:spcAft>
            </a:pPr>
            <a:r>
              <a:rPr lang="en-US" dirty="0"/>
              <a:t>Student-parents get some benefits through tax system, but it would be even better if they could increase benefits (especially for very low wage earners), spread out the administration of the benefit over the year to create more reliable income support, make the child tax credit larger &amp; fully refundable, &amp; make the Lifelong Learning Tax Credit refundable or merge with the American Opportunity Tax Credit. </a:t>
            </a:r>
          </a:p>
          <a:p>
            <a:pPr lvl="0">
              <a:lnSpc>
                <a:spcPct val="120000"/>
              </a:lnSpc>
              <a:spcAft>
                <a:spcPts val="600"/>
              </a:spcAft>
            </a:pPr>
            <a:endParaRPr lang="en-US" dirty="0"/>
          </a:p>
          <a:p>
            <a:pPr marL="0" marR="0" lvl="0" indent="0" algn="l" defTabSz="914400" rtl="0" eaLnBrk="1" fontAlgn="auto" latinLnBrk="0" hangingPunct="1">
              <a:lnSpc>
                <a:spcPct val="120000"/>
              </a:lnSpc>
              <a:spcBef>
                <a:spcPts val="0"/>
              </a:spcBef>
              <a:spcAft>
                <a:spcPts val="600"/>
              </a:spcAft>
              <a:buClrTx/>
              <a:buSzTx/>
              <a:buFontTx/>
              <a:buNone/>
              <a:tabLst/>
              <a:defRPr/>
            </a:pPr>
            <a:r>
              <a:rPr lang="en-US" dirty="0"/>
              <a:t>Finally, increasing availability &amp; lifting work requirement restrictions on supports for basic needs like SNAP, TANF, Medicaid, &amp; housing, would benefit student-parents. </a:t>
            </a:r>
            <a:r>
              <a:rPr lang="en-US" sz="1800" dirty="0">
                <a:effectLst/>
                <a:latin typeface="Lato" panose="020F0502020204030203" pitchFamily="34" charset="0"/>
                <a:cs typeface="Times New Roman" panose="02020603050405020304" pitchFamily="18" charset="0"/>
              </a:rPr>
              <a:t>S</a:t>
            </a:r>
            <a:r>
              <a:rPr lang="en-US" sz="1800" dirty="0">
                <a:effectLst/>
                <a:latin typeface="Lato" panose="020F0502020204030203" pitchFamily="34" charset="0"/>
                <a:ea typeface="Calibri" panose="020F0502020204030204" pitchFamily="34" charset="0"/>
                <a:cs typeface="Times New Roman" panose="02020603050405020304" pitchFamily="18" charset="0"/>
              </a:rPr>
              <a:t>tudent-parents with low incomes are exactly the population that many policymakers likely want to help because they are seeking to become more self-reliant. More supports or parents pursuing educational credentials would likely allow those parents to concentrate on succeeding in their studies instead of facing a heavy pressure to concurrently work. </a:t>
            </a:r>
            <a:endParaRPr lang="en-US" dirty="0"/>
          </a:p>
          <a:p>
            <a:pPr lvl="0">
              <a:lnSpc>
                <a:spcPct val="120000"/>
              </a:lnSpc>
              <a:spcAft>
                <a:spcPts val="600"/>
              </a:spcAft>
            </a:pPr>
            <a:endParaRPr lang="en-US" dirty="0"/>
          </a:p>
          <a:p>
            <a:pPr lvl="0">
              <a:lnSpc>
                <a:spcPct val="120000"/>
              </a:lnSpc>
              <a:spcAft>
                <a:spcPts val="600"/>
              </a:spcAft>
            </a:pPr>
            <a:r>
              <a:rPr lang="en-US" b="1" dirty="0"/>
              <a:t>More Pell Detail:</a:t>
            </a:r>
          </a:p>
          <a:p>
            <a:pPr marL="285750" lvl="0" indent="-285750">
              <a:lnSpc>
                <a:spcPct val="120000"/>
              </a:lnSpc>
              <a:spcAft>
                <a:spcPts val="600"/>
              </a:spcAft>
              <a:buFont typeface="Arial" panose="020B0604020202020204" pitchFamily="34" charset="0"/>
              <a:buChar char="•"/>
            </a:pPr>
            <a:r>
              <a:rPr lang="en-US" dirty="0"/>
              <a:t>changes to the calculation of the income protection allowance, which currently penalizes working student-parents</a:t>
            </a:r>
          </a:p>
          <a:p>
            <a:pPr marL="285750" lvl="0" indent="-285750">
              <a:lnSpc>
                <a:spcPct val="120000"/>
              </a:lnSpc>
              <a:spcAft>
                <a:spcPts val="600"/>
              </a:spcAft>
              <a:buFont typeface="Arial" panose="020B0604020202020204" pitchFamily="34" charset="0"/>
              <a:buChar char="•"/>
            </a:pPr>
            <a:r>
              <a:rPr lang="en-US" dirty="0"/>
              <a:t>removal of Pell Grant restrictions that penalize students for earlier education absences or poor grades in the past, require students to be on a degree track, penalize part-time enrollment, &amp; count non-credit developmental education courses against allowances</a:t>
            </a:r>
          </a:p>
          <a:p>
            <a:pPr marL="285750" lvl="0" indent="-285750">
              <a:lnSpc>
                <a:spcPct val="120000"/>
              </a:lnSpc>
              <a:spcAft>
                <a:spcPts val="600"/>
              </a:spcAft>
              <a:buFont typeface="Arial" panose="020B0604020202020204" pitchFamily="34" charset="0"/>
              <a:buChar char="•"/>
            </a:pPr>
            <a:r>
              <a:rPr lang="en-US" dirty="0"/>
              <a:t>simplification of the FAFSA/aid application process</a:t>
            </a:r>
          </a:p>
          <a:p>
            <a:pPr marL="285750" lvl="0" indent="-285750">
              <a:lnSpc>
                <a:spcPct val="120000"/>
              </a:lnSpc>
              <a:spcAft>
                <a:spcPts val="600"/>
              </a:spcAft>
              <a:buFont typeface="Arial" panose="020B0604020202020204" pitchFamily="34" charset="0"/>
              <a:buChar char="•"/>
            </a:pPr>
            <a:r>
              <a:rPr lang="en-US" dirty="0"/>
              <a:t>increased availability of grants over loans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72C822-0E82-45FD-BBCA-E8BA1922783D}" type="slidenum">
              <a:rPr kumimoji="0" lang="en-US" sz="12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938463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20000"/>
              </a:lnSpc>
              <a:spcAft>
                <a:spcPts val="600"/>
              </a:spcAft>
            </a:pPr>
            <a:r>
              <a:rPr lang="en-US" dirty="0"/>
              <a:t>Finally, student-parents need social support. This is hard to provide through policy, but paid family leave, better Title IX guidance, &amp;  marriage &amp; parenting support for student-parents would be a good start. In addition, child-serving education centers &amp; schools could provide supports for families with a parent in school. Head Start programs have an explicit two-generation mission, &amp; they have often been the jumping-off-point for targeted two-generation interventions. But a broader recognition of the large number of student-parents might help these programs even better create social supports for families with a parent in school.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72C822-0E82-45FD-BBCA-E8BA1922783D}" type="slidenum">
              <a:rPr kumimoji="0" lang="en-US" sz="12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754998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that said, here is what I found.</a:t>
            </a:r>
          </a:p>
        </p:txBody>
      </p:sp>
      <p:sp>
        <p:nvSpPr>
          <p:cNvPr id="4" name="Slide Number Placeholder 3"/>
          <p:cNvSpPr>
            <a:spLocks noGrp="1"/>
          </p:cNvSpPr>
          <p:nvPr>
            <p:ph type="sldNum" sz="quarter" idx="5"/>
          </p:nvPr>
        </p:nvSpPr>
        <p:spPr/>
        <p:txBody>
          <a:bodyPr/>
          <a:lstStyle/>
          <a:p>
            <a:fld id="{D7C04991-11DB-4B4D-85F1-7BDCB130EDD6}" type="slidenum">
              <a:rPr lang="en-US" smtClean="0"/>
              <a:t>16</a:t>
            </a:fld>
            <a:endParaRPr lang="en-US"/>
          </a:p>
        </p:txBody>
      </p:sp>
    </p:spTree>
    <p:extLst>
      <p:ext uri="{BB962C8B-B14F-4D97-AF65-F5344CB8AC3E}">
        <p14:creationId xmlns:p14="http://schemas.microsoft.com/office/powerpoint/2010/main" val="21513966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did I get to this place? This topic? It’s not so straightforward</a:t>
            </a:r>
          </a:p>
        </p:txBody>
      </p:sp>
      <p:sp>
        <p:nvSpPr>
          <p:cNvPr id="4" name="Slide Number Placeholder 3"/>
          <p:cNvSpPr>
            <a:spLocks noGrp="1"/>
          </p:cNvSpPr>
          <p:nvPr>
            <p:ph type="sldNum" sz="quarter" idx="5"/>
          </p:nvPr>
        </p:nvSpPr>
        <p:spPr/>
        <p:txBody>
          <a:bodyPr/>
          <a:lstStyle/>
          <a:p>
            <a:fld id="{4A8FF090-4EED-4C98-9325-E24A9A623F60}" type="slidenum">
              <a:rPr lang="en-US" smtClean="0"/>
              <a:t>17</a:t>
            </a:fld>
            <a:endParaRPr lang="en-US"/>
          </a:p>
        </p:txBody>
      </p:sp>
    </p:spTree>
    <p:extLst>
      <p:ext uri="{BB962C8B-B14F-4D97-AF65-F5344CB8AC3E}">
        <p14:creationId xmlns:p14="http://schemas.microsoft.com/office/powerpoint/2010/main" val="21116481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8FF090-4EED-4C98-9325-E24A9A623F60}" type="slidenum">
              <a:rPr lang="en-US" smtClean="0"/>
              <a:t>20</a:t>
            </a:fld>
            <a:endParaRPr lang="en-US"/>
          </a:p>
        </p:txBody>
      </p:sp>
    </p:spTree>
    <p:extLst>
      <p:ext uri="{BB962C8B-B14F-4D97-AF65-F5344CB8AC3E}">
        <p14:creationId xmlns:p14="http://schemas.microsoft.com/office/powerpoint/2010/main" val="208036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DEB7EE2-04A2-4FB2-9625-C9C73AC4D32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en-US" sz="12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8547807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kern="1200" dirty="0">
                <a:solidFill>
                  <a:schemeClr val="tx1"/>
                </a:solidFill>
                <a:effectLst/>
                <a:latin typeface="+mn-lt"/>
                <a:ea typeface="+mn-ea"/>
                <a:cs typeface="+mn-cs"/>
              </a:rPr>
              <a:t>Thank you so much! I’m glad to take questions or discuss these issues further, either now or in a follow-up email or conversation.</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72C822-0E82-45FD-BBCA-E8BA1922783D}" type="slidenum">
              <a:rPr kumimoji="0" lang="en-US" sz="12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234298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Student-parents struggle with basic need insecurity. These data points are from the 2019 Hope Center Survey. (explain rates) These rates were even higher during the pandemic. &amp; they are generally higher for students at two-year colleges than four-year colleges.</a:t>
            </a:r>
          </a:p>
          <a:p>
            <a:endParaRPr lang="en-US" dirty="0"/>
          </a:p>
          <a:p>
            <a:r>
              <a:rPr lang="en-US" dirty="0"/>
              <a:t>Something I am going to keep coming back to is that whenever we’re talking about student-parents, we are talking about families with children. My work has tried to dig into the whole-family experiences &amp; effects of parents being in school.</a:t>
            </a:r>
          </a:p>
        </p:txBody>
      </p:sp>
      <p:sp>
        <p:nvSpPr>
          <p:cNvPr id="4" name="Slide Number Placeholder 3"/>
          <p:cNvSpPr>
            <a:spLocks noGrp="1"/>
          </p:cNvSpPr>
          <p:nvPr>
            <p:ph type="sldNum" sz="quarter" idx="5"/>
          </p:nvPr>
        </p:nvSpPr>
        <p:spPr/>
        <p:txBody>
          <a:bodyPr/>
          <a:lstStyle/>
          <a:p>
            <a:fld id="{4A8FF090-4EED-4C98-9325-E24A9A623F60}" type="slidenum">
              <a:rPr lang="en-US" smtClean="0"/>
              <a:t>27</a:t>
            </a:fld>
            <a:endParaRPr lang="en-US"/>
          </a:p>
        </p:txBody>
      </p:sp>
    </p:spTree>
    <p:extLst>
      <p:ext uri="{BB962C8B-B14F-4D97-AF65-F5344CB8AC3E}">
        <p14:creationId xmlns:p14="http://schemas.microsoft.com/office/powerpoint/2010/main" val="19890150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ver A">
    <p:spTree>
      <p:nvGrpSpPr>
        <p:cNvPr id="1" name=""/>
        <p:cNvGrpSpPr/>
        <p:nvPr/>
      </p:nvGrpSpPr>
      <p:grpSpPr>
        <a:xfrm>
          <a:off x="0" y="0"/>
          <a:ext cx="0" cy="0"/>
          <a:chOff x="0" y="0"/>
          <a:chExt cx="0" cy="0"/>
        </a:xfrm>
      </p:grpSpPr>
      <p:sp>
        <p:nvSpPr>
          <p:cNvPr id="2" name="Rectangle 1"/>
          <p:cNvSpPr/>
          <p:nvPr/>
        </p:nvSpPr>
        <p:spPr>
          <a:xfrm>
            <a:off x="1" y="6347637"/>
            <a:ext cx="3274828" cy="51036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457200" y="457200"/>
            <a:ext cx="3721608" cy="1007936"/>
          </a:xfrm>
          <a:prstGeom prst="rect">
            <a:avLst/>
          </a:prstGeom>
        </p:spPr>
      </p:pic>
      <p:sp>
        <p:nvSpPr>
          <p:cNvPr id="4" name="TextBox 3"/>
          <p:cNvSpPr txBox="1"/>
          <p:nvPr/>
        </p:nvSpPr>
        <p:spPr>
          <a:xfrm>
            <a:off x="265815" y="-496181"/>
            <a:ext cx="1584917" cy="483989"/>
          </a:xfrm>
          <a:prstGeom prst="round2SameRect">
            <a:avLst/>
          </a:prstGeom>
          <a:solidFill>
            <a:srgbClr val="F9FAF9"/>
          </a:solidFill>
          <a:ln w="6350">
            <a:solidFill>
              <a:schemeClr val="accent2"/>
            </a:solidFill>
          </a:ln>
        </p:spPr>
        <p:txBody>
          <a:bodyPr wrap="none" lIns="182880" tIns="91440" rIns="182880" bIns="182880" rtlCol="0">
            <a:spAutoFit/>
          </a:bodyPr>
          <a:lstStyle/>
          <a:p>
            <a:r>
              <a:rPr lang="en-US" sz="1200" b="1" dirty="0">
                <a:solidFill>
                  <a:schemeClr val="accent2"/>
                </a:solidFill>
              </a:rPr>
              <a:t>Master:</a:t>
            </a:r>
            <a:r>
              <a:rPr lang="en-US" sz="1200" b="1" baseline="0" dirty="0">
                <a:solidFill>
                  <a:schemeClr val="accent2"/>
                </a:solidFill>
              </a:rPr>
              <a:t> </a:t>
            </a:r>
            <a:r>
              <a:rPr lang="en-US" sz="1200" b="1" dirty="0">
                <a:solidFill>
                  <a:schemeClr val="accent2"/>
                </a:solidFill>
              </a:rPr>
              <a:t>Cover A</a:t>
            </a:r>
          </a:p>
        </p:txBody>
      </p:sp>
    </p:spTree>
    <p:extLst>
      <p:ext uri="{BB962C8B-B14F-4D97-AF65-F5344CB8AC3E}">
        <p14:creationId xmlns:p14="http://schemas.microsoft.com/office/powerpoint/2010/main" val="1832167216"/>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B with image">
    <p:spTree>
      <p:nvGrpSpPr>
        <p:cNvPr id="1" name=""/>
        <p:cNvGrpSpPr/>
        <p:nvPr/>
      </p:nvGrpSpPr>
      <p:grpSpPr>
        <a:xfrm>
          <a:off x="0" y="0"/>
          <a:ext cx="0" cy="0"/>
          <a:chOff x="0" y="0"/>
          <a:chExt cx="0" cy="0"/>
        </a:xfrm>
      </p:grpSpPr>
      <p:sp>
        <p:nvSpPr>
          <p:cNvPr id="2" name="Rectangle 1"/>
          <p:cNvSpPr/>
          <p:nvPr/>
        </p:nvSpPr>
        <p:spPr>
          <a:xfrm>
            <a:off x="1" y="6347637"/>
            <a:ext cx="3274828" cy="5103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Picture Placeholder 3"/>
          <p:cNvSpPr>
            <a:spLocks noGrp="1"/>
          </p:cNvSpPr>
          <p:nvPr>
            <p:ph type="pic" sz="quarter" idx="10" hasCustomPrompt="1"/>
          </p:nvPr>
        </p:nvSpPr>
        <p:spPr>
          <a:xfrm>
            <a:off x="1" y="0"/>
            <a:ext cx="12192000" cy="3300984"/>
          </a:xfrm>
          <a:solidFill>
            <a:schemeClr val="bg2">
              <a:lumMod val="85000"/>
            </a:schemeClr>
          </a:solidFill>
        </p:spPr>
        <p:txBody>
          <a:bodyPr lIns="182880" rIns="182880" anchor="t"/>
          <a:lstStyle>
            <a:lvl1pPr marL="0" indent="0" algn="ctr">
              <a:spcAft>
                <a:spcPts val="0"/>
              </a:spcAft>
              <a:buNone/>
              <a:defRPr baseline="0">
                <a:solidFill>
                  <a:schemeClr val="bg1"/>
                </a:solidFill>
              </a:defRPr>
            </a:lvl1pPr>
          </a:lstStyle>
          <a:p>
            <a:br>
              <a:rPr lang="en-US" dirty="0"/>
            </a:br>
            <a:r>
              <a:rPr lang="en-US" dirty="0"/>
              <a:t>Drag picture to placeholder or click icon to add from a file.</a:t>
            </a:r>
            <a:br>
              <a:rPr lang="en-US" dirty="0"/>
            </a:br>
            <a:r>
              <a:rPr lang="en-US" dirty="0"/>
              <a:t>Photo will be cropped to 960x260 pixels.</a:t>
            </a:r>
          </a:p>
        </p:txBody>
      </p:sp>
      <p:pic>
        <p:nvPicPr>
          <p:cNvPr id="12" name="Picture 11"/>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457200" y="5488944"/>
            <a:ext cx="3721608" cy="1007936"/>
          </a:xfrm>
          <a:prstGeom prst="rect">
            <a:avLst/>
          </a:prstGeom>
        </p:spPr>
      </p:pic>
      <p:sp>
        <p:nvSpPr>
          <p:cNvPr id="6" name="TextBox 5"/>
          <p:cNvSpPr txBox="1"/>
          <p:nvPr/>
        </p:nvSpPr>
        <p:spPr>
          <a:xfrm>
            <a:off x="265815" y="-496181"/>
            <a:ext cx="2432059" cy="483989"/>
          </a:xfrm>
          <a:prstGeom prst="round2SameRect">
            <a:avLst/>
          </a:prstGeom>
          <a:solidFill>
            <a:srgbClr val="F9FAF9"/>
          </a:solidFill>
          <a:ln w="6350">
            <a:solidFill>
              <a:schemeClr val="accent2"/>
            </a:solidFill>
            <a:prstDash val="solid"/>
          </a:ln>
        </p:spPr>
        <p:txBody>
          <a:bodyPr wrap="none" lIns="182880" tIns="91440" rIns="182880" bIns="182880" rtlCol="0">
            <a:spAutoFit/>
          </a:bodyPr>
          <a:lstStyle>
            <a:defPPr>
              <a:defRPr lang="en-US"/>
            </a:defPPr>
            <a:lvl1pPr>
              <a:defRPr sz="1200" b="1">
                <a:solidFill>
                  <a:schemeClr val="accent2"/>
                </a:solidFill>
              </a:defRPr>
            </a:lvl1pPr>
          </a:lstStyle>
          <a:p>
            <a:pPr lvl="0"/>
            <a:r>
              <a:rPr lang="en-US" dirty="0"/>
              <a:t>Master: Cover B with image</a:t>
            </a:r>
          </a:p>
        </p:txBody>
      </p:sp>
      <p:sp>
        <p:nvSpPr>
          <p:cNvPr id="7" name="Text Placeholder 4">
            <a:extLst>
              <a:ext uri="{FF2B5EF4-FFF2-40B4-BE49-F238E27FC236}">
                <a16:creationId xmlns:a16="http://schemas.microsoft.com/office/drawing/2014/main" id="{59602185-155F-114D-ABC9-23953F6B44C7}"/>
              </a:ext>
            </a:extLst>
          </p:cNvPr>
          <p:cNvSpPr>
            <a:spLocks noGrp="1"/>
          </p:cNvSpPr>
          <p:nvPr>
            <p:ph type="body" sz="quarter" idx="11" hasCustomPrompt="1"/>
          </p:nvPr>
        </p:nvSpPr>
        <p:spPr>
          <a:xfrm>
            <a:off x="6096000" y="5725684"/>
            <a:ext cx="5638800" cy="417677"/>
          </a:xfrm>
        </p:spPr>
        <p:txBody>
          <a:bodyPr anchor="b">
            <a:normAutofit/>
          </a:bodyPr>
          <a:lstStyle>
            <a:lvl1pPr marL="0" indent="0" algn="r">
              <a:buNone/>
              <a:defRPr sz="1200">
                <a:solidFill>
                  <a:schemeClr val="accent2">
                    <a:lumMod val="7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optional author</a:t>
            </a:r>
          </a:p>
        </p:txBody>
      </p:sp>
    </p:spTree>
    <p:extLst>
      <p:ext uri="{BB962C8B-B14F-4D97-AF65-F5344CB8AC3E}">
        <p14:creationId xmlns:p14="http://schemas.microsoft.com/office/powerpoint/2010/main" val="160822553"/>
      </p:ext>
    </p:extLst>
  </p:cSld>
  <p:clrMapOvr>
    <a:masterClrMapping/>
  </p:clrMapOvr>
  <p:transition>
    <p:fade/>
  </p:transition>
  <p:extLst>
    <p:ext uri="{DCECCB84-F9BA-43D5-87BE-67443E8EF086}">
      <p15:sldGuideLst xmlns:p15="http://schemas.microsoft.com/office/powerpoint/2012/main">
        <p15:guide id="2" orient="horz" pos="2088">
          <p15:clr>
            <a:srgbClr val="FBAE40"/>
          </p15:clr>
        </p15:guide>
        <p15:guide id="3" orient="horz" pos="3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nchorCtr="0">
            <a:noAutofit/>
          </a:bodyPr>
          <a:lstStyle/>
          <a:p>
            <a:r>
              <a:rPr lang="en-US"/>
              <a:t>Click to edit Master title style</a:t>
            </a:r>
            <a:endParaRPr lang="en-US" dirty="0"/>
          </a:p>
        </p:txBody>
      </p:sp>
      <p:sp>
        <p:nvSpPr>
          <p:cNvPr id="5" name="Slide Number Placeholder 4"/>
          <p:cNvSpPr>
            <a:spLocks noGrp="1"/>
          </p:cNvSpPr>
          <p:nvPr>
            <p:ph type="sldNum" sz="quarter" idx="12"/>
          </p:nvPr>
        </p:nvSpPr>
        <p:spPr/>
        <p:txBody>
          <a:bodyPr/>
          <a:lstStyle/>
          <a:p>
            <a:fld id="{22BC1EAB-2205-4A66-85F8-1AF2F6EE9A7E}" type="slidenum">
              <a:rPr lang="en-US" smtClean="0"/>
              <a:t>‹#›</a:t>
            </a:fld>
            <a:endParaRPr lang="en-US"/>
          </a:p>
        </p:txBody>
      </p:sp>
      <p:sp>
        <p:nvSpPr>
          <p:cNvPr id="6" name="TextBox 5"/>
          <p:cNvSpPr txBox="1"/>
          <p:nvPr/>
        </p:nvSpPr>
        <p:spPr>
          <a:xfrm>
            <a:off x="265815" y="-496181"/>
            <a:ext cx="1690677" cy="483989"/>
          </a:xfrm>
          <a:prstGeom prst="round2SameRect">
            <a:avLst/>
          </a:prstGeom>
          <a:solidFill>
            <a:srgbClr val="F9FAF9"/>
          </a:solidFill>
          <a:ln w="6350">
            <a:solidFill>
              <a:schemeClr val="accent2"/>
            </a:solidFill>
          </a:ln>
        </p:spPr>
        <p:txBody>
          <a:bodyPr wrap="none" lIns="182880" tIns="91440" rIns="182880" bIns="182880" rtlCol="0">
            <a:spAutoFit/>
          </a:bodyPr>
          <a:lstStyle/>
          <a:p>
            <a:r>
              <a:rPr lang="en-US" sz="1200" b="1" dirty="0">
                <a:solidFill>
                  <a:schemeClr val="accent2"/>
                </a:solidFill>
              </a:rPr>
              <a:t>Master:</a:t>
            </a:r>
            <a:r>
              <a:rPr lang="en-US" sz="1200" b="1" baseline="0" dirty="0">
                <a:solidFill>
                  <a:schemeClr val="accent2"/>
                </a:solidFill>
              </a:rPr>
              <a:t> Title Only</a:t>
            </a:r>
            <a:endParaRPr lang="en-US" sz="1200" b="1" dirty="0">
              <a:solidFill>
                <a:schemeClr val="accent2"/>
              </a:solidFill>
            </a:endParaRPr>
          </a:p>
        </p:txBody>
      </p:sp>
      <p:sp>
        <p:nvSpPr>
          <p:cNvPr id="7" name="Text Placeholder 2">
            <a:extLst>
              <a:ext uri="{FF2B5EF4-FFF2-40B4-BE49-F238E27FC236}">
                <a16:creationId xmlns:a16="http://schemas.microsoft.com/office/drawing/2014/main" id="{273CC05F-D06D-3140-B072-F1CAE0BC36A3}"/>
              </a:ext>
            </a:extLst>
          </p:cNvPr>
          <p:cNvSpPr>
            <a:spLocks noGrp="1"/>
          </p:cNvSpPr>
          <p:nvPr>
            <p:ph type="body" sz="quarter" idx="11" hasCustomPrompt="1"/>
          </p:nvPr>
        </p:nvSpPr>
        <p:spPr>
          <a:xfrm>
            <a:off x="457200" y="10511"/>
            <a:ext cx="2787943" cy="307777"/>
          </a:xfrm>
          <a:solidFill>
            <a:schemeClr val="accent1">
              <a:alpha val="5000"/>
            </a:schemeClr>
          </a:solidFill>
          <a:ln>
            <a:noFill/>
          </a:ln>
        </p:spPr>
        <p:txBody>
          <a:bodyPr wrap="none" lIns="91440" tIns="91440" rIns="91440" bIns="91440" anchor="ctr">
            <a:spAutoFit/>
          </a:bodyPr>
          <a:lstStyle>
            <a:lvl1pPr marL="0" indent="0" algn="l">
              <a:buFontTx/>
              <a:buNone/>
              <a:defRPr sz="800" b="0" cap="all" spc="100" baseline="0">
                <a:solidFill>
                  <a:schemeClr val="accent1"/>
                </a:solidFill>
                <a:latin typeface="+mj-lt"/>
              </a:defRPr>
            </a:lvl1pPr>
          </a:lstStyle>
          <a:p>
            <a:pPr lvl="0"/>
            <a:r>
              <a:rPr lang="en-US" dirty="0"/>
              <a:t>CLICK TO ADD optional SECTION HEADER</a:t>
            </a:r>
          </a:p>
        </p:txBody>
      </p:sp>
    </p:spTree>
    <p:extLst>
      <p:ext uri="{BB962C8B-B14F-4D97-AF65-F5344CB8AC3E}">
        <p14:creationId xmlns:p14="http://schemas.microsoft.com/office/powerpoint/2010/main" val="2032356140"/>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ullets">
    <p:spTree>
      <p:nvGrpSpPr>
        <p:cNvPr id="1" name=""/>
        <p:cNvGrpSpPr/>
        <p:nvPr/>
      </p:nvGrpSpPr>
      <p:grpSpPr>
        <a:xfrm>
          <a:off x="0" y="0"/>
          <a:ext cx="0" cy="0"/>
          <a:chOff x="0" y="0"/>
          <a:chExt cx="0" cy="0"/>
        </a:xfrm>
      </p:grpSpPr>
      <p:sp>
        <p:nvSpPr>
          <p:cNvPr id="5" name="Slide Number Placeholder 5"/>
          <p:cNvSpPr>
            <a:spLocks noGrp="1"/>
          </p:cNvSpPr>
          <p:nvPr>
            <p:ph type="sldNum" sz="quarter" idx="4"/>
          </p:nvPr>
        </p:nvSpPr>
        <p:spPr>
          <a:xfrm>
            <a:off x="8991600" y="6467708"/>
            <a:ext cx="2743200" cy="209316"/>
          </a:xfrm>
          <a:prstGeom prst="rect">
            <a:avLst/>
          </a:prstGeom>
        </p:spPr>
        <p:txBody>
          <a:bodyPr vert="horz" lIns="0" tIns="0" rIns="0" bIns="0" rtlCol="0" anchor="ctr"/>
          <a:lstStyle>
            <a:lvl1pPr algn="r">
              <a:defRPr sz="1000">
                <a:solidFill>
                  <a:schemeClr val="tx1">
                    <a:tint val="75000"/>
                  </a:schemeClr>
                </a:solidFill>
                <a:latin typeface="Lato" charset="0"/>
                <a:ea typeface="Lato" charset="0"/>
                <a:cs typeface="Lato" charset="0"/>
              </a:defRPr>
            </a:lvl1pPr>
          </a:lstStyle>
          <a:p>
            <a:fld id="{22BC1EAB-2205-4A66-85F8-1AF2F6EE9A7E}" type="slidenum">
              <a:rPr lang="en-US" smtClean="0"/>
              <a:t>‹#›</a:t>
            </a:fld>
            <a:endParaRPr lang="en-US"/>
          </a:p>
        </p:txBody>
      </p:sp>
      <p:sp>
        <p:nvSpPr>
          <p:cNvPr id="7" name="Title 6"/>
          <p:cNvSpPr>
            <a:spLocks noGrp="1"/>
          </p:cNvSpPr>
          <p:nvPr>
            <p:ph type="title"/>
          </p:nvPr>
        </p:nvSpPr>
        <p:spPr/>
        <p:txBody>
          <a:bodyPr lIns="0" rIns="0" anchor="t" anchorCtr="0">
            <a:noAutofit/>
          </a:bodyPr>
          <a:lstStyle>
            <a:lvl1pPr>
              <a:defRPr b="1" baseline="0">
                <a:latin typeface="+mj-lt"/>
              </a:defRPr>
            </a:lvl1pPr>
          </a:lstStyle>
          <a:p>
            <a:r>
              <a:rPr lang="en-US"/>
              <a:t>Click to edit Master title style</a:t>
            </a:r>
            <a:endParaRPr lang="en-US" dirty="0"/>
          </a:p>
        </p:txBody>
      </p:sp>
      <p:sp>
        <p:nvSpPr>
          <p:cNvPr id="12" name="Text Placeholder 11"/>
          <p:cNvSpPr>
            <a:spLocks noGrp="1"/>
          </p:cNvSpPr>
          <p:nvPr>
            <p:ph type="body" sz="quarter" idx="10"/>
          </p:nvPr>
        </p:nvSpPr>
        <p:spPr>
          <a:xfrm>
            <a:off x="457200" y="1690688"/>
            <a:ext cx="10214658" cy="4367212"/>
          </a:xfrm>
        </p:spPr>
        <p:txBody>
          <a:bodyPr tIns="0" bIns="91440">
            <a:noAutofit/>
          </a:bodyPr>
          <a:lstStyle>
            <a:lvl1pPr>
              <a:lnSpc>
                <a:spcPct val="108000"/>
              </a:lnSpc>
              <a:spcBef>
                <a:spcPts val="0"/>
              </a:spcBef>
              <a:spcAft>
                <a:spcPts val="1600"/>
              </a:spcAft>
              <a:defRPr baseline="0">
                <a:latin typeface="+mn-lt"/>
              </a:defRPr>
            </a:lvl1pPr>
            <a:lvl2pPr>
              <a:lnSpc>
                <a:spcPct val="108000"/>
              </a:lnSpc>
              <a:spcBef>
                <a:spcPts val="0"/>
              </a:spcBef>
              <a:spcAft>
                <a:spcPts val="1600"/>
              </a:spcAft>
              <a:defRPr>
                <a:latin typeface="+mn-lt"/>
              </a:defRPr>
            </a:lvl2pPr>
            <a:lvl3pPr>
              <a:lnSpc>
                <a:spcPct val="108000"/>
              </a:lnSpc>
              <a:spcBef>
                <a:spcPts val="0"/>
              </a:spcBef>
              <a:spcAft>
                <a:spcPts val="1600"/>
              </a:spcAft>
              <a:defRPr>
                <a:latin typeface="+mn-lt"/>
              </a:defRPr>
            </a:lvl3pPr>
            <a:lvl4pPr>
              <a:lnSpc>
                <a:spcPct val="108000"/>
              </a:lnSpc>
              <a:spcBef>
                <a:spcPts val="0"/>
              </a:spcBef>
              <a:spcAft>
                <a:spcPts val="1600"/>
              </a:spcAft>
              <a:defRPr>
                <a:latin typeface="+mn-lt"/>
              </a:defRPr>
            </a:lvl4pPr>
            <a:lvl5pPr>
              <a:lnSpc>
                <a:spcPct val="108000"/>
              </a:lnSpc>
              <a:spcBef>
                <a:spcPts val="0"/>
              </a:spcBef>
              <a:spcAft>
                <a:spcPts val="1600"/>
              </a:spcAft>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p:cNvSpPr txBox="1"/>
          <p:nvPr/>
        </p:nvSpPr>
        <p:spPr>
          <a:xfrm>
            <a:off x="265815" y="-496181"/>
            <a:ext cx="1999504" cy="483989"/>
          </a:xfrm>
          <a:prstGeom prst="round2SameRect">
            <a:avLst/>
          </a:prstGeom>
          <a:solidFill>
            <a:srgbClr val="F9FAF9"/>
          </a:solidFill>
          <a:ln w="6350">
            <a:solidFill>
              <a:schemeClr val="accent2"/>
            </a:solidFill>
          </a:ln>
        </p:spPr>
        <p:txBody>
          <a:bodyPr wrap="none" lIns="182880" tIns="91440" rIns="182880" bIns="182880" rtlCol="0">
            <a:spAutoFit/>
          </a:bodyPr>
          <a:lstStyle/>
          <a:p>
            <a:r>
              <a:rPr lang="en-US" sz="1200" b="1" dirty="0">
                <a:solidFill>
                  <a:schemeClr val="accent2"/>
                </a:solidFill>
              </a:rPr>
              <a:t>Master:</a:t>
            </a:r>
            <a:r>
              <a:rPr lang="en-US" sz="1200" b="1" baseline="0" dirty="0">
                <a:solidFill>
                  <a:schemeClr val="accent2"/>
                </a:solidFill>
              </a:rPr>
              <a:t> Title + Bullets</a:t>
            </a:r>
            <a:endParaRPr lang="en-US" sz="1200" b="1" dirty="0">
              <a:solidFill>
                <a:schemeClr val="accent2"/>
              </a:solidFill>
            </a:endParaRPr>
          </a:p>
        </p:txBody>
      </p:sp>
      <p:sp>
        <p:nvSpPr>
          <p:cNvPr id="8" name="Text Placeholder 2"/>
          <p:cNvSpPr>
            <a:spLocks noGrp="1"/>
          </p:cNvSpPr>
          <p:nvPr>
            <p:ph type="body" sz="quarter" idx="11" hasCustomPrompt="1"/>
          </p:nvPr>
        </p:nvSpPr>
        <p:spPr>
          <a:xfrm>
            <a:off x="457200" y="10511"/>
            <a:ext cx="2787943" cy="307777"/>
          </a:xfrm>
          <a:solidFill>
            <a:schemeClr val="accent1">
              <a:alpha val="5000"/>
            </a:schemeClr>
          </a:solidFill>
          <a:ln>
            <a:noFill/>
          </a:ln>
        </p:spPr>
        <p:txBody>
          <a:bodyPr wrap="none" lIns="91440" tIns="91440" rIns="91440" bIns="91440" anchor="ctr">
            <a:spAutoFit/>
          </a:bodyPr>
          <a:lstStyle>
            <a:lvl1pPr marL="0" indent="0" algn="l">
              <a:buFontTx/>
              <a:buNone/>
              <a:defRPr sz="800" b="0" cap="all" spc="100" baseline="0">
                <a:solidFill>
                  <a:schemeClr val="accent1"/>
                </a:solidFill>
                <a:latin typeface="+mj-lt"/>
              </a:defRPr>
            </a:lvl1pPr>
          </a:lstStyle>
          <a:p>
            <a:pPr lvl="0"/>
            <a:r>
              <a:rPr lang="en-US" dirty="0"/>
              <a:t>CLICK TO ADD optional SECTION HEADER</a:t>
            </a:r>
          </a:p>
        </p:txBody>
      </p:sp>
    </p:spTree>
    <p:extLst>
      <p:ext uri="{BB962C8B-B14F-4D97-AF65-F5344CB8AC3E}">
        <p14:creationId xmlns:p14="http://schemas.microsoft.com/office/powerpoint/2010/main" val="1696197429"/>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ullets Large">
    <p:spTree>
      <p:nvGrpSpPr>
        <p:cNvPr id="1" name=""/>
        <p:cNvGrpSpPr/>
        <p:nvPr/>
      </p:nvGrpSpPr>
      <p:grpSpPr>
        <a:xfrm>
          <a:off x="0" y="0"/>
          <a:ext cx="0" cy="0"/>
          <a:chOff x="0" y="0"/>
          <a:chExt cx="0" cy="0"/>
        </a:xfrm>
      </p:grpSpPr>
      <p:sp>
        <p:nvSpPr>
          <p:cNvPr id="5" name="Slide Number Placeholder 5"/>
          <p:cNvSpPr>
            <a:spLocks noGrp="1"/>
          </p:cNvSpPr>
          <p:nvPr>
            <p:ph type="sldNum" sz="quarter" idx="4"/>
          </p:nvPr>
        </p:nvSpPr>
        <p:spPr>
          <a:xfrm>
            <a:off x="8991600" y="6467708"/>
            <a:ext cx="2743200" cy="209316"/>
          </a:xfrm>
          <a:prstGeom prst="rect">
            <a:avLst/>
          </a:prstGeom>
        </p:spPr>
        <p:txBody>
          <a:bodyPr vert="horz" lIns="0" tIns="0" rIns="0" bIns="0" rtlCol="0" anchor="ctr"/>
          <a:lstStyle>
            <a:lvl1pPr algn="r">
              <a:defRPr sz="1000">
                <a:solidFill>
                  <a:schemeClr val="tx1">
                    <a:tint val="75000"/>
                  </a:schemeClr>
                </a:solidFill>
                <a:latin typeface="Lato" charset="0"/>
                <a:ea typeface="Lato" charset="0"/>
                <a:cs typeface="Lato" charset="0"/>
              </a:defRPr>
            </a:lvl1pPr>
          </a:lstStyle>
          <a:p>
            <a:fld id="{22BC1EAB-2205-4A66-85F8-1AF2F6EE9A7E}" type="slidenum">
              <a:rPr lang="en-US" smtClean="0"/>
              <a:t>‹#›</a:t>
            </a:fld>
            <a:endParaRPr lang="en-US"/>
          </a:p>
        </p:txBody>
      </p:sp>
      <p:sp>
        <p:nvSpPr>
          <p:cNvPr id="9" name="Rectangle 8"/>
          <p:cNvSpPr/>
          <p:nvPr/>
        </p:nvSpPr>
        <p:spPr>
          <a:xfrm>
            <a:off x="5265861" y="812181"/>
            <a:ext cx="5908591" cy="49870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p:cNvSpPr>
            <a:spLocks noGrp="1"/>
          </p:cNvSpPr>
          <p:nvPr>
            <p:ph type="title"/>
          </p:nvPr>
        </p:nvSpPr>
        <p:spPr/>
        <p:txBody>
          <a:bodyPr lIns="0" rIns="0" anchor="t" anchorCtr="0">
            <a:noAutofit/>
          </a:bodyPr>
          <a:lstStyle>
            <a:lvl1pPr>
              <a:defRPr sz="3400" baseline="0">
                <a:latin typeface="+mj-lt"/>
              </a:defRPr>
            </a:lvl1pPr>
          </a:lstStyle>
          <a:p>
            <a:r>
              <a:rPr lang="en-US"/>
              <a:t>Click to edit Master title style</a:t>
            </a:r>
            <a:endParaRPr lang="en-US" dirty="0"/>
          </a:p>
        </p:txBody>
      </p:sp>
      <p:sp>
        <p:nvSpPr>
          <p:cNvPr id="12" name="Text Placeholder 11"/>
          <p:cNvSpPr>
            <a:spLocks noGrp="1"/>
          </p:cNvSpPr>
          <p:nvPr>
            <p:ph type="body" sz="quarter" idx="10"/>
          </p:nvPr>
        </p:nvSpPr>
        <p:spPr>
          <a:xfrm>
            <a:off x="457200" y="1690688"/>
            <a:ext cx="10214658" cy="4367212"/>
          </a:xfrm>
        </p:spPr>
        <p:txBody>
          <a:bodyPr tIns="0" bIns="91440">
            <a:noAutofit/>
          </a:bodyPr>
          <a:lstStyle>
            <a:lvl1pPr marL="457200" indent="-457200">
              <a:lnSpc>
                <a:spcPct val="108000"/>
              </a:lnSpc>
              <a:spcAft>
                <a:spcPts val="1200"/>
              </a:spcAft>
              <a:defRPr sz="3200" baseline="0">
                <a:latin typeface="+mn-lt"/>
              </a:defRPr>
            </a:lvl1pPr>
            <a:lvl2pPr marL="914400" indent="-457200">
              <a:lnSpc>
                <a:spcPct val="108000"/>
              </a:lnSpc>
              <a:spcAft>
                <a:spcPts val="1200"/>
              </a:spcAft>
              <a:defRPr sz="2800" baseline="0">
                <a:latin typeface="+mn-lt"/>
              </a:defRPr>
            </a:lvl2pPr>
            <a:lvl3pPr marL="1371600" indent="-457200">
              <a:lnSpc>
                <a:spcPct val="108000"/>
              </a:lnSpc>
              <a:spcAft>
                <a:spcPts val="1200"/>
              </a:spcAft>
              <a:defRPr sz="2800" baseline="0">
                <a:latin typeface="+mn-lt"/>
              </a:defRPr>
            </a:lvl3pPr>
            <a:lvl4pPr marL="1828800" indent="-457200">
              <a:lnSpc>
                <a:spcPct val="108000"/>
              </a:lnSpc>
              <a:spcAft>
                <a:spcPts val="1200"/>
              </a:spcAft>
              <a:defRPr sz="2800" baseline="0">
                <a:latin typeface="+mn-lt"/>
              </a:defRPr>
            </a:lvl4pPr>
            <a:lvl5pPr marL="2286000" indent="-457200">
              <a:lnSpc>
                <a:spcPct val="108000"/>
              </a:lnSpc>
              <a:spcAft>
                <a:spcPts val="1200"/>
              </a:spcAft>
              <a:defRPr sz="2800" baseline="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p:cNvSpPr txBox="1"/>
          <p:nvPr/>
        </p:nvSpPr>
        <p:spPr>
          <a:xfrm>
            <a:off x="265815" y="-496181"/>
            <a:ext cx="2470098" cy="483989"/>
          </a:xfrm>
          <a:prstGeom prst="round2SameRect">
            <a:avLst/>
          </a:prstGeom>
          <a:solidFill>
            <a:srgbClr val="F9FAF9"/>
          </a:solidFill>
          <a:ln w="6350">
            <a:solidFill>
              <a:schemeClr val="accent2"/>
            </a:solidFill>
          </a:ln>
        </p:spPr>
        <p:txBody>
          <a:bodyPr wrap="none" lIns="182880" tIns="91440" rIns="182880" bIns="182880" rtlCol="0">
            <a:spAutoFit/>
          </a:bodyPr>
          <a:lstStyle/>
          <a:p>
            <a:r>
              <a:rPr lang="en-US" sz="1200" b="1" dirty="0">
                <a:solidFill>
                  <a:schemeClr val="accent2"/>
                </a:solidFill>
              </a:rPr>
              <a:t>Master:</a:t>
            </a:r>
            <a:r>
              <a:rPr lang="en-US" sz="1200" b="1" baseline="0" dirty="0">
                <a:solidFill>
                  <a:schemeClr val="accent2"/>
                </a:solidFill>
              </a:rPr>
              <a:t> Title + Large Bullets</a:t>
            </a:r>
            <a:endParaRPr lang="en-US" sz="1200" b="1" dirty="0">
              <a:solidFill>
                <a:schemeClr val="accent2"/>
              </a:solidFill>
            </a:endParaRPr>
          </a:p>
        </p:txBody>
      </p:sp>
      <p:sp>
        <p:nvSpPr>
          <p:cNvPr id="10" name="Text Placeholder 2">
            <a:extLst>
              <a:ext uri="{FF2B5EF4-FFF2-40B4-BE49-F238E27FC236}">
                <a16:creationId xmlns:a16="http://schemas.microsoft.com/office/drawing/2014/main" id="{49344CE9-DF0E-244E-9177-5BB7481879A3}"/>
              </a:ext>
            </a:extLst>
          </p:cNvPr>
          <p:cNvSpPr>
            <a:spLocks noGrp="1"/>
          </p:cNvSpPr>
          <p:nvPr>
            <p:ph type="body" sz="quarter" idx="11" hasCustomPrompt="1"/>
          </p:nvPr>
        </p:nvSpPr>
        <p:spPr>
          <a:xfrm>
            <a:off x="457200" y="10511"/>
            <a:ext cx="2787943" cy="307777"/>
          </a:xfrm>
          <a:solidFill>
            <a:schemeClr val="accent1">
              <a:alpha val="5000"/>
            </a:schemeClr>
          </a:solidFill>
          <a:ln>
            <a:noFill/>
          </a:ln>
        </p:spPr>
        <p:txBody>
          <a:bodyPr wrap="none" lIns="91440" tIns="91440" rIns="91440" bIns="91440" anchor="ctr">
            <a:spAutoFit/>
          </a:bodyPr>
          <a:lstStyle>
            <a:lvl1pPr marL="0" indent="0" algn="l">
              <a:buFontTx/>
              <a:buNone/>
              <a:defRPr sz="800" b="0" cap="all" spc="100" baseline="0">
                <a:solidFill>
                  <a:schemeClr val="accent1"/>
                </a:solidFill>
                <a:latin typeface="+mj-lt"/>
              </a:defRPr>
            </a:lvl1pPr>
          </a:lstStyle>
          <a:p>
            <a:pPr lvl="0"/>
            <a:r>
              <a:rPr lang="en-US" dirty="0"/>
              <a:t>CLICK TO ADD optional SECTION HEADER</a:t>
            </a:r>
          </a:p>
        </p:txBody>
      </p:sp>
    </p:spTree>
    <p:extLst>
      <p:ext uri="{BB962C8B-B14F-4D97-AF65-F5344CB8AC3E}">
        <p14:creationId xmlns:p14="http://schemas.microsoft.com/office/powerpoint/2010/main" val="110172376"/>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Figure with annotation">
    <p:spTree>
      <p:nvGrpSpPr>
        <p:cNvPr id="1" name=""/>
        <p:cNvGrpSpPr/>
        <p:nvPr/>
      </p:nvGrpSpPr>
      <p:grpSpPr>
        <a:xfrm>
          <a:off x="0" y="0"/>
          <a:ext cx="0" cy="0"/>
          <a:chOff x="0" y="0"/>
          <a:chExt cx="0" cy="0"/>
        </a:xfrm>
      </p:grpSpPr>
      <p:sp>
        <p:nvSpPr>
          <p:cNvPr id="7" name="Slide Number Placeholder 5"/>
          <p:cNvSpPr>
            <a:spLocks noGrp="1"/>
          </p:cNvSpPr>
          <p:nvPr>
            <p:ph type="sldNum" sz="quarter" idx="4"/>
          </p:nvPr>
        </p:nvSpPr>
        <p:spPr>
          <a:xfrm>
            <a:off x="8991600" y="6467708"/>
            <a:ext cx="2743200" cy="209316"/>
          </a:xfrm>
          <a:prstGeom prst="rect">
            <a:avLst/>
          </a:prstGeom>
        </p:spPr>
        <p:txBody>
          <a:bodyPr vert="horz" lIns="0" tIns="0" rIns="0" bIns="0" rtlCol="0" anchor="ctr"/>
          <a:lstStyle>
            <a:lvl1pPr algn="r">
              <a:defRPr sz="1000">
                <a:solidFill>
                  <a:schemeClr val="tx1">
                    <a:tint val="75000"/>
                  </a:schemeClr>
                </a:solidFill>
                <a:latin typeface="Lato" charset="0"/>
                <a:ea typeface="Lato" charset="0"/>
                <a:cs typeface="Lato" charset="0"/>
              </a:defRPr>
            </a:lvl1pPr>
          </a:lstStyle>
          <a:p>
            <a:fld id="{22BC1EAB-2205-4A66-85F8-1AF2F6EE9A7E}" type="slidenum">
              <a:rPr lang="en-US" smtClean="0"/>
              <a:t>‹#›</a:t>
            </a:fld>
            <a:endParaRPr lang="en-US"/>
          </a:p>
        </p:txBody>
      </p:sp>
      <p:sp>
        <p:nvSpPr>
          <p:cNvPr id="9" name="Rectangle 8"/>
          <p:cNvSpPr/>
          <p:nvPr/>
        </p:nvSpPr>
        <p:spPr>
          <a:xfrm>
            <a:off x="5257800" y="533400"/>
            <a:ext cx="6477000" cy="5524500"/>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457200" y="533400"/>
            <a:ext cx="3829050" cy="5524500"/>
          </a:xfrm>
        </p:spPr>
        <p:txBody>
          <a:bodyPr anchor="ctr">
            <a:normAutofit/>
          </a:bodyPr>
          <a:lstStyle>
            <a:lvl1pPr>
              <a:lnSpc>
                <a:spcPct val="100000"/>
              </a:lnSpc>
              <a:spcAft>
                <a:spcPts val="1200"/>
              </a:spcAft>
              <a:defRPr sz="2200" b="1" i="0" baseline="0">
                <a:latin typeface="+mj-lt"/>
              </a:defRPr>
            </a:lvl1pPr>
          </a:lstStyle>
          <a:p>
            <a:r>
              <a:rPr lang="en-US"/>
              <a:t>Click to edit Master title style</a:t>
            </a:r>
            <a:endParaRPr lang="en-US" dirty="0"/>
          </a:p>
        </p:txBody>
      </p:sp>
      <p:sp>
        <p:nvSpPr>
          <p:cNvPr id="10" name="TextBox 9"/>
          <p:cNvSpPr txBox="1"/>
          <p:nvPr/>
        </p:nvSpPr>
        <p:spPr>
          <a:xfrm>
            <a:off x="265815" y="-496181"/>
            <a:ext cx="2638812" cy="483989"/>
          </a:xfrm>
          <a:prstGeom prst="round2SameRect">
            <a:avLst/>
          </a:prstGeom>
          <a:solidFill>
            <a:srgbClr val="F9FAF9"/>
          </a:solidFill>
          <a:ln w="6350">
            <a:solidFill>
              <a:schemeClr val="accent2"/>
            </a:solidFill>
          </a:ln>
        </p:spPr>
        <p:txBody>
          <a:bodyPr wrap="none" lIns="182880" tIns="91440" rIns="182880" bIns="182880" rtlCol="0">
            <a:spAutoFit/>
          </a:bodyPr>
          <a:lstStyle/>
          <a:p>
            <a:r>
              <a:rPr lang="en-US" sz="1200" b="1" dirty="0">
                <a:solidFill>
                  <a:schemeClr val="accent2"/>
                </a:solidFill>
              </a:rPr>
              <a:t>Master:</a:t>
            </a:r>
            <a:r>
              <a:rPr lang="en-US" sz="1200" b="1" baseline="0" dirty="0">
                <a:solidFill>
                  <a:schemeClr val="accent2"/>
                </a:solidFill>
              </a:rPr>
              <a:t> Figure with annotation</a:t>
            </a:r>
            <a:endParaRPr lang="en-US" sz="1200" b="1" dirty="0">
              <a:solidFill>
                <a:schemeClr val="accent2"/>
              </a:solidFill>
            </a:endParaRPr>
          </a:p>
        </p:txBody>
      </p:sp>
      <p:sp>
        <p:nvSpPr>
          <p:cNvPr id="3" name="Content Placeholder 2"/>
          <p:cNvSpPr>
            <a:spLocks noGrp="1"/>
          </p:cNvSpPr>
          <p:nvPr>
            <p:ph sz="quarter" idx="10"/>
          </p:nvPr>
        </p:nvSpPr>
        <p:spPr>
          <a:xfrm>
            <a:off x="5257800" y="533400"/>
            <a:ext cx="6477000" cy="5524500"/>
          </a:xfrm>
          <a:noFill/>
        </p:spPr>
        <p:txBody>
          <a:bodyPr vert="horz" lIns="0" tIns="45720" rIns="0" bIns="45720" rtlCol="0">
            <a:normAutofit/>
          </a:bodyPr>
          <a:lstStyle>
            <a:lvl1pPr marL="228600" indent="-228600">
              <a:buNone/>
              <a:defRPr lang="en-US" smtClean="0">
                <a:solidFill>
                  <a:schemeClr val="bg2">
                    <a:lumMod val="75000"/>
                  </a:schemeClr>
                </a:solidFill>
              </a:defRPr>
            </a:lvl1pPr>
            <a:lvl2pPr>
              <a:defRPr lang="en-US" smtClean="0"/>
            </a:lvl2pPr>
            <a:lvl3pPr>
              <a:defRPr lang="en-US" smtClean="0"/>
            </a:lvl3pPr>
            <a:lvl4pPr>
              <a:defRPr lang="en-US" smtClean="0"/>
            </a:lvl4pPr>
            <a:lvl5pPr>
              <a:defRPr lang="en-US"/>
            </a:lvl5pPr>
          </a:lstStyle>
          <a:p>
            <a:pPr marL="0" lvl="0" indent="0" algn="ctr"/>
            <a:r>
              <a:rPr lang="en-US"/>
              <a:t>Click to edit Master text styles</a:t>
            </a:r>
          </a:p>
          <a:p>
            <a:pPr marL="0" lvl="1" indent="0" algn="ctr"/>
            <a:r>
              <a:rPr lang="en-US"/>
              <a:t>Second level</a:t>
            </a:r>
          </a:p>
        </p:txBody>
      </p:sp>
      <p:sp>
        <p:nvSpPr>
          <p:cNvPr id="8" name="Text Placeholder 2">
            <a:extLst>
              <a:ext uri="{FF2B5EF4-FFF2-40B4-BE49-F238E27FC236}">
                <a16:creationId xmlns:a16="http://schemas.microsoft.com/office/drawing/2014/main" id="{65C98F9E-B192-D84C-A126-928C54F5048C}"/>
              </a:ext>
            </a:extLst>
          </p:cNvPr>
          <p:cNvSpPr>
            <a:spLocks noGrp="1"/>
          </p:cNvSpPr>
          <p:nvPr>
            <p:ph type="body" sz="quarter" idx="11" hasCustomPrompt="1"/>
          </p:nvPr>
        </p:nvSpPr>
        <p:spPr>
          <a:xfrm>
            <a:off x="457200" y="10511"/>
            <a:ext cx="2787943" cy="307777"/>
          </a:xfrm>
          <a:solidFill>
            <a:schemeClr val="accent1">
              <a:alpha val="5000"/>
            </a:schemeClr>
          </a:solidFill>
          <a:ln>
            <a:noFill/>
          </a:ln>
        </p:spPr>
        <p:txBody>
          <a:bodyPr wrap="none" lIns="91440" tIns="91440" rIns="91440" bIns="91440" anchor="ctr">
            <a:spAutoFit/>
          </a:bodyPr>
          <a:lstStyle>
            <a:lvl1pPr marL="0" indent="0" algn="l">
              <a:buFontTx/>
              <a:buNone/>
              <a:defRPr sz="800" b="0" cap="all" spc="100" baseline="0">
                <a:solidFill>
                  <a:schemeClr val="accent1"/>
                </a:solidFill>
                <a:latin typeface="+mj-lt"/>
              </a:defRPr>
            </a:lvl1pPr>
          </a:lstStyle>
          <a:p>
            <a:pPr lvl="0"/>
            <a:r>
              <a:rPr lang="en-US" dirty="0"/>
              <a:t>CLICK TO ADD optional SECTION HEADER</a:t>
            </a:r>
          </a:p>
        </p:txBody>
      </p:sp>
    </p:spTree>
    <p:extLst>
      <p:ext uri="{BB962C8B-B14F-4D97-AF65-F5344CB8AC3E}">
        <p14:creationId xmlns:p14="http://schemas.microsoft.com/office/powerpoint/2010/main" val="3193837784"/>
      </p:ext>
    </p:extLst>
  </p:cSld>
  <p:clrMapOvr>
    <a:masterClrMapping/>
  </p:clrMapOvr>
  <p:transition>
    <p:fade/>
  </p:transition>
  <p:extLst>
    <p:ext uri="{DCECCB84-F9BA-43D5-87BE-67443E8EF086}">
      <p15:sldGuideLst xmlns:p15="http://schemas.microsoft.com/office/powerpoint/2012/main">
        <p15:guide id="1" pos="331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Figure with bullets">
    <p:spTree>
      <p:nvGrpSpPr>
        <p:cNvPr id="1" name=""/>
        <p:cNvGrpSpPr/>
        <p:nvPr/>
      </p:nvGrpSpPr>
      <p:grpSpPr>
        <a:xfrm>
          <a:off x="0" y="0"/>
          <a:ext cx="0" cy="0"/>
          <a:chOff x="0" y="0"/>
          <a:chExt cx="0" cy="0"/>
        </a:xfrm>
      </p:grpSpPr>
      <p:sp>
        <p:nvSpPr>
          <p:cNvPr id="7" name="Slide Number Placeholder 5"/>
          <p:cNvSpPr>
            <a:spLocks noGrp="1"/>
          </p:cNvSpPr>
          <p:nvPr>
            <p:ph type="sldNum" sz="quarter" idx="4"/>
          </p:nvPr>
        </p:nvSpPr>
        <p:spPr>
          <a:xfrm>
            <a:off x="8991600" y="6467708"/>
            <a:ext cx="2743200" cy="209316"/>
          </a:xfrm>
          <a:prstGeom prst="rect">
            <a:avLst/>
          </a:prstGeom>
        </p:spPr>
        <p:txBody>
          <a:bodyPr vert="horz" lIns="0" tIns="0" rIns="0" bIns="0" rtlCol="0" anchor="ctr"/>
          <a:lstStyle>
            <a:lvl1pPr algn="r">
              <a:defRPr sz="1000">
                <a:solidFill>
                  <a:schemeClr val="tx1">
                    <a:tint val="75000"/>
                  </a:schemeClr>
                </a:solidFill>
                <a:latin typeface="Lato" charset="0"/>
                <a:ea typeface="Lato" charset="0"/>
                <a:cs typeface="Lato" charset="0"/>
              </a:defRPr>
            </a:lvl1pPr>
          </a:lstStyle>
          <a:p>
            <a:fld id="{22BC1EAB-2205-4A66-85F8-1AF2F6EE9A7E}" type="slidenum">
              <a:rPr lang="en-US" smtClean="0"/>
              <a:t>‹#›</a:t>
            </a:fld>
            <a:endParaRPr lang="en-US"/>
          </a:p>
        </p:txBody>
      </p:sp>
      <p:sp>
        <p:nvSpPr>
          <p:cNvPr id="6" name="Title 5"/>
          <p:cNvSpPr>
            <a:spLocks noGrp="1"/>
          </p:cNvSpPr>
          <p:nvPr>
            <p:ph type="title"/>
          </p:nvPr>
        </p:nvSpPr>
        <p:spPr>
          <a:xfrm>
            <a:off x="457200" y="533400"/>
            <a:ext cx="3657600" cy="1711036"/>
          </a:xfrm>
        </p:spPr>
        <p:txBody>
          <a:bodyPr anchor="b">
            <a:noAutofit/>
          </a:bodyPr>
          <a:lstStyle>
            <a:lvl1pPr>
              <a:lnSpc>
                <a:spcPct val="100000"/>
              </a:lnSpc>
              <a:spcAft>
                <a:spcPts val="1200"/>
              </a:spcAft>
              <a:defRPr sz="2200" b="1" i="0" baseline="0">
                <a:latin typeface="+mj-lt"/>
              </a:defRPr>
            </a:lvl1pPr>
          </a:lstStyle>
          <a:p>
            <a:r>
              <a:rPr lang="en-US"/>
              <a:t>Click to edit Master title style</a:t>
            </a:r>
            <a:endParaRPr lang="en-US" dirty="0"/>
          </a:p>
        </p:txBody>
      </p:sp>
      <p:sp>
        <p:nvSpPr>
          <p:cNvPr id="3" name="Text Placeholder 2"/>
          <p:cNvSpPr>
            <a:spLocks noGrp="1"/>
          </p:cNvSpPr>
          <p:nvPr>
            <p:ph type="body" sz="quarter" idx="11"/>
          </p:nvPr>
        </p:nvSpPr>
        <p:spPr>
          <a:xfrm>
            <a:off x="457200" y="2481263"/>
            <a:ext cx="3657600" cy="3254375"/>
          </a:xfrm>
        </p:spPr>
        <p:txBody>
          <a:bodyPr>
            <a:noAutofit/>
          </a:bodyPr>
          <a:lstStyle>
            <a:lvl1pPr>
              <a:defRPr sz="2200" baseline="0">
                <a:solidFill>
                  <a:schemeClr val="tx1"/>
                </a:solidFill>
              </a:defRPr>
            </a:lvl1pPr>
            <a:lvl2pPr>
              <a:defRPr sz="2200" baseline="0">
                <a:solidFill>
                  <a:schemeClr val="tx1"/>
                </a:solidFill>
              </a:defRPr>
            </a:lvl2pPr>
            <a:lvl3pPr>
              <a:defRPr sz="2200" baseline="0">
                <a:solidFill>
                  <a:schemeClr val="tx1"/>
                </a:solidFill>
              </a:defRPr>
            </a:lvl3pPr>
            <a:lvl4pPr>
              <a:defRPr sz="2200" baseline="0">
                <a:solidFill>
                  <a:schemeClr val="tx1"/>
                </a:solidFill>
              </a:defRPr>
            </a:lvl4pPr>
            <a:lvl5pPr>
              <a:defRPr sz="2200" baseline="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Box 9"/>
          <p:cNvSpPr txBox="1"/>
          <p:nvPr/>
        </p:nvSpPr>
        <p:spPr>
          <a:xfrm>
            <a:off x="265815" y="-496181"/>
            <a:ext cx="3318584" cy="483989"/>
          </a:xfrm>
          <a:prstGeom prst="round2SameRect">
            <a:avLst/>
          </a:prstGeom>
          <a:solidFill>
            <a:srgbClr val="F9FAF9"/>
          </a:solidFill>
          <a:ln w="6350">
            <a:solidFill>
              <a:schemeClr val="accent2"/>
            </a:solidFill>
          </a:ln>
        </p:spPr>
        <p:txBody>
          <a:bodyPr wrap="none" lIns="182880" tIns="91440" rIns="182880" bIns="182880" rtlCol="0">
            <a:spAutoFit/>
          </a:bodyPr>
          <a:lstStyle/>
          <a:p>
            <a:r>
              <a:rPr lang="en-US" sz="1200" b="1" dirty="0">
                <a:solidFill>
                  <a:schemeClr val="accent2"/>
                </a:solidFill>
              </a:rPr>
              <a:t>Master:</a:t>
            </a:r>
            <a:r>
              <a:rPr lang="en-US" sz="1200" b="1" baseline="0" dirty="0">
                <a:solidFill>
                  <a:schemeClr val="accent2"/>
                </a:solidFill>
              </a:rPr>
              <a:t> Figure with annotation + bullets</a:t>
            </a:r>
            <a:endParaRPr lang="en-US" sz="1200" b="1" dirty="0">
              <a:solidFill>
                <a:schemeClr val="accent2"/>
              </a:solidFill>
            </a:endParaRPr>
          </a:p>
        </p:txBody>
      </p:sp>
      <p:sp>
        <p:nvSpPr>
          <p:cNvPr id="11" name="Content Placeholder 2"/>
          <p:cNvSpPr>
            <a:spLocks noGrp="1"/>
          </p:cNvSpPr>
          <p:nvPr>
            <p:ph sz="quarter" idx="10"/>
          </p:nvPr>
        </p:nvSpPr>
        <p:spPr>
          <a:xfrm>
            <a:off x="5257800" y="533400"/>
            <a:ext cx="6477000" cy="5524500"/>
          </a:xfrm>
          <a:noFill/>
        </p:spPr>
        <p:txBody>
          <a:bodyPr vert="horz" lIns="0" tIns="45720" rIns="0" bIns="45720" rtlCol="0">
            <a:normAutofit/>
          </a:bodyPr>
          <a:lstStyle>
            <a:lvl1pPr marL="228600" indent="-228600">
              <a:buNone/>
              <a:defRPr lang="en-US" smtClean="0">
                <a:solidFill>
                  <a:schemeClr val="accent2">
                    <a:lumMod val="60000"/>
                    <a:lumOff val="40000"/>
                  </a:schemeClr>
                </a:solidFill>
              </a:defRPr>
            </a:lvl1pPr>
            <a:lvl2pPr>
              <a:defRPr lang="en-US" smtClean="0"/>
            </a:lvl2pPr>
            <a:lvl3pPr>
              <a:defRPr lang="en-US" smtClean="0"/>
            </a:lvl3pPr>
            <a:lvl4pPr>
              <a:defRPr lang="en-US" smtClean="0"/>
            </a:lvl4pPr>
            <a:lvl5pPr>
              <a:defRPr lang="en-US"/>
            </a:lvl5pPr>
          </a:lstStyle>
          <a:p>
            <a:pPr marL="0" lvl="0" indent="0" algn="ctr"/>
            <a:r>
              <a:rPr lang="en-US"/>
              <a:t>Click to edit Master text styles</a:t>
            </a:r>
          </a:p>
          <a:p>
            <a:pPr marL="0" lvl="1" indent="0" algn="ctr"/>
            <a:r>
              <a:rPr lang="en-US"/>
              <a:t>Second level</a:t>
            </a:r>
          </a:p>
        </p:txBody>
      </p:sp>
      <p:sp>
        <p:nvSpPr>
          <p:cNvPr id="8" name="Text Placeholder 2">
            <a:extLst>
              <a:ext uri="{FF2B5EF4-FFF2-40B4-BE49-F238E27FC236}">
                <a16:creationId xmlns:a16="http://schemas.microsoft.com/office/drawing/2014/main" id="{D7D7F6C5-3DA8-6043-843B-8F5B92A0628A}"/>
              </a:ext>
            </a:extLst>
          </p:cNvPr>
          <p:cNvSpPr>
            <a:spLocks noGrp="1"/>
          </p:cNvSpPr>
          <p:nvPr>
            <p:ph type="body" sz="quarter" idx="12" hasCustomPrompt="1"/>
          </p:nvPr>
        </p:nvSpPr>
        <p:spPr>
          <a:xfrm>
            <a:off x="457200" y="10511"/>
            <a:ext cx="2787943" cy="307777"/>
          </a:xfrm>
          <a:solidFill>
            <a:schemeClr val="accent1">
              <a:alpha val="5000"/>
            </a:schemeClr>
          </a:solidFill>
          <a:ln>
            <a:noFill/>
          </a:ln>
        </p:spPr>
        <p:txBody>
          <a:bodyPr wrap="none" lIns="91440" tIns="91440" rIns="91440" bIns="91440" anchor="ctr">
            <a:spAutoFit/>
          </a:bodyPr>
          <a:lstStyle>
            <a:lvl1pPr marL="0" indent="0" algn="l">
              <a:buFontTx/>
              <a:buNone/>
              <a:defRPr sz="800" b="0" cap="all" spc="100" baseline="0">
                <a:solidFill>
                  <a:schemeClr val="accent1"/>
                </a:solidFill>
                <a:latin typeface="+mj-lt"/>
              </a:defRPr>
            </a:lvl1pPr>
          </a:lstStyle>
          <a:p>
            <a:pPr lvl="0"/>
            <a:r>
              <a:rPr lang="en-US" dirty="0"/>
              <a:t>CLICK TO ADD optional SECTION HEADER</a:t>
            </a:r>
          </a:p>
        </p:txBody>
      </p:sp>
    </p:spTree>
    <p:extLst>
      <p:ext uri="{BB962C8B-B14F-4D97-AF65-F5344CB8AC3E}">
        <p14:creationId xmlns:p14="http://schemas.microsoft.com/office/powerpoint/2010/main" val="2091984908"/>
      </p:ext>
    </p:extLst>
  </p:cSld>
  <p:clrMapOvr>
    <a:masterClrMapping/>
  </p:clrMapOvr>
  <p:transition>
    <p:fade/>
  </p:transition>
  <p:extLst>
    <p:ext uri="{DCECCB84-F9BA-43D5-87BE-67443E8EF086}">
      <p15:sldGuideLst xmlns:p15="http://schemas.microsoft.com/office/powerpoint/2012/main">
        <p15:guide id="1" pos="331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Divider Blue">
    <p:bg>
      <p:bgPr>
        <a:gradFill>
          <a:gsLst>
            <a:gs pos="0">
              <a:schemeClr val="accent1"/>
            </a:gs>
            <a:gs pos="97000">
              <a:schemeClr val="tx2"/>
            </a:gs>
          </a:gsLst>
          <a:path path="circle">
            <a:fillToRect l="50000" t="50000" r="50000" b="50000"/>
          </a:path>
        </a:gra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ln>
                  <a:solidFill>
                    <a:schemeClr val="bg1"/>
                  </a:solidFill>
                </a:ln>
              </a:defRPr>
            </a:lvl1pPr>
          </a:lstStyle>
          <a:p>
            <a:fld id="{22BC1EAB-2205-4A66-85F8-1AF2F6EE9A7E}" type="slidenum">
              <a:rPr lang="en-US" smtClean="0"/>
              <a:t>‹#›</a:t>
            </a:fld>
            <a:endParaRPr lang="en-US"/>
          </a:p>
        </p:txBody>
      </p:sp>
      <p:sp>
        <p:nvSpPr>
          <p:cNvPr id="5" name="Title 4"/>
          <p:cNvSpPr>
            <a:spLocks noGrp="1"/>
          </p:cNvSpPr>
          <p:nvPr>
            <p:ph type="title" hasCustomPrompt="1"/>
          </p:nvPr>
        </p:nvSpPr>
        <p:spPr>
          <a:xfrm>
            <a:off x="457200" y="1981200"/>
            <a:ext cx="11277600" cy="2895600"/>
          </a:xfrm>
        </p:spPr>
        <p:txBody>
          <a:bodyPr anchor="ctr">
            <a:noAutofit/>
          </a:bodyPr>
          <a:lstStyle>
            <a:lvl1pPr algn="ctr">
              <a:defRPr sz="3600" baseline="0">
                <a:solidFill>
                  <a:schemeClr val="bg1"/>
                </a:solidFill>
                <a:latin typeface="+mj-lt"/>
              </a:defRPr>
            </a:lvl1pPr>
          </a:lstStyle>
          <a:p>
            <a:r>
              <a:rPr lang="en-US" dirty="0"/>
              <a:t>Click to add a divider title</a:t>
            </a:r>
          </a:p>
        </p:txBody>
      </p:sp>
      <p:pic>
        <p:nvPicPr>
          <p:cNvPr id="6" name="Picture 5"/>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rcRect t="-24944"/>
          <a:stretch/>
        </p:blipFill>
        <p:spPr>
          <a:xfrm>
            <a:off x="320675" y="6521450"/>
            <a:ext cx="2391113" cy="102824"/>
          </a:xfrm>
          <a:prstGeom prst="rect">
            <a:avLst/>
          </a:prstGeom>
        </p:spPr>
      </p:pic>
      <p:sp>
        <p:nvSpPr>
          <p:cNvPr id="7" name="TextBox 6"/>
          <p:cNvSpPr txBox="1"/>
          <p:nvPr/>
        </p:nvSpPr>
        <p:spPr>
          <a:xfrm>
            <a:off x="265815" y="-496181"/>
            <a:ext cx="1891202" cy="483989"/>
          </a:xfrm>
          <a:prstGeom prst="round2SameRect">
            <a:avLst/>
          </a:prstGeom>
          <a:solidFill>
            <a:srgbClr val="F9FAF9"/>
          </a:solidFill>
          <a:ln w="6350">
            <a:solidFill>
              <a:schemeClr val="accent2"/>
            </a:solidFill>
          </a:ln>
        </p:spPr>
        <p:txBody>
          <a:bodyPr wrap="none" lIns="182880" tIns="91440" rIns="182880" bIns="182880" rtlCol="0">
            <a:spAutoFit/>
          </a:bodyPr>
          <a:lstStyle/>
          <a:p>
            <a:r>
              <a:rPr lang="en-US" sz="1200" b="1" dirty="0">
                <a:solidFill>
                  <a:schemeClr val="accent2"/>
                </a:solidFill>
              </a:rPr>
              <a:t>Master</a:t>
            </a:r>
            <a:r>
              <a:rPr lang="en-US" sz="1200" b="1">
                <a:solidFill>
                  <a:schemeClr val="accent2"/>
                </a:solidFill>
              </a:rPr>
              <a:t>:</a:t>
            </a:r>
            <a:r>
              <a:rPr lang="en-US" sz="1200" b="1" baseline="0">
                <a:solidFill>
                  <a:schemeClr val="accent2"/>
                </a:solidFill>
              </a:rPr>
              <a:t> Divider Blue</a:t>
            </a:r>
            <a:endParaRPr lang="en-US" sz="1200" b="1" dirty="0">
              <a:solidFill>
                <a:schemeClr val="accent2"/>
              </a:solidFill>
            </a:endParaRPr>
          </a:p>
        </p:txBody>
      </p:sp>
    </p:spTree>
    <p:extLst>
      <p:ext uri="{BB962C8B-B14F-4D97-AF65-F5344CB8AC3E}">
        <p14:creationId xmlns:p14="http://schemas.microsoft.com/office/powerpoint/2010/main" val="3837805658"/>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Divider Dark">
    <p:bg>
      <p:bgPr>
        <a:gradFill>
          <a:gsLst>
            <a:gs pos="0">
              <a:srgbClr val="474345"/>
            </a:gs>
            <a:gs pos="100000">
              <a:schemeClr val="tx1">
                <a:lumMod val="7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ln>
                  <a:solidFill>
                    <a:schemeClr val="bg1"/>
                  </a:solidFill>
                </a:ln>
              </a:defRPr>
            </a:lvl1pPr>
          </a:lstStyle>
          <a:p>
            <a:fld id="{22BC1EAB-2205-4A66-85F8-1AF2F6EE9A7E}" type="slidenum">
              <a:rPr lang="en-US" smtClean="0"/>
              <a:t>‹#›</a:t>
            </a:fld>
            <a:endParaRPr lang="en-US"/>
          </a:p>
        </p:txBody>
      </p:sp>
      <p:sp>
        <p:nvSpPr>
          <p:cNvPr id="5" name="Title 4"/>
          <p:cNvSpPr>
            <a:spLocks noGrp="1"/>
          </p:cNvSpPr>
          <p:nvPr>
            <p:ph type="title"/>
          </p:nvPr>
        </p:nvSpPr>
        <p:spPr>
          <a:xfrm>
            <a:off x="457200" y="1981200"/>
            <a:ext cx="11277600" cy="2895600"/>
          </a:xfrm>
        </p:spPr>
        <p:txBody>
          <a:bodyPr anchor="ctr">
            <a:noAutofit/>
          </a:bodyPr>
          <a:lstStyle>
            <a:lvl1pPr algn="ctr">
              <a:defRPr sz="3600" baseline="0">
                <a:solidFill>
                  <a:schemeClr val="bg1"/>
                </a:solidFill>
                <a:latin typeface="+mj-lt"/>
              </a:defRPr>
            </a:lvl1pPr>
          </a:lstStyle>
          <a:p>
            <a:r>
              <a:rPr lang="en-US"/>
              <a:t>Click to edit Master title style</a:t>
            </a:r>
            <a:endParaRPr lang="en-US" dirty="0"/>
          </a:p>
        </p:txBody>
      </p:sp>
      <p:pic>
        <p:nvPicPr>
          <p:cNvPr id="6" name="Picture 5"/>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rcRect t="-24944"/>
          <a:stretch/>
        </p:blipFill>
        <p:spPr>
          <a:xfrm>
            <a:off x="320675" y="6521450"/>
            <a:ext cx="2391113" cy="102824"/>
          </a:xfrm>
          <a:prstGeom prst="rect">
            <a:avLst/>
          </a:prstGeom>
        </p:spPr>
      </p:pic>
      <p:sp>
        <p:nvSpPr>
          <p:cNvPr id="7" name="TextBox 6"/>
          <p:cNvSpPr txBox="1"/>
          <p:nvPr/>
        </p:nvSpPr>
        <p:spPr>
          <a:xfrm>
            <a:off x="265815" y="-496181"/>
            <a:ext cx="1897738" cy="483989"/>
          </a:xfrm>
          <a:prstGeom prst="round2SameRect">
            <a:avLst/>
          </a:prstGeom>
          <a:solidFill>
            <a:srgbClr val="F9FAF9"/>
          </a:solidFill>
          <a:ln w="6350">
            <a:solidFill>
              <a:schemeClr val="accent2"/>
            </a:solidFill>
          </a:ln>
        </p:spPr>
        <p:txBody>
          <a:bodyPr wrap="none" lIns="182880" tIns="91440" rIns="182880" bIns="182880" rtlCol="0">
            <a:spAutoFit/>
          </a:bodyPr>
          <a:lstStyle/>
          <a:p>
            <a:r>
              <a:rPr lang="en-US" sz="1200" b="1" dirty="0">
                <a:solidFill>
                  <a:schemeClr val="accent2"/>
                </a:solidFill>
              </a:rPr>
              <a:t>Master:</a:t>
            </a:r>
            <a:r>
              <a:rPr lang="en-US" sz="1200" b="1" baseline="0" dirty="0">
                <a:solidFill>
                  <a:schemeClr val="accent2"/>
                </a:solidFill>
              </a:rPr>
              <a:t> Divider Dark</a:t>
            </a:r>
            <a:endParaRPr lang="en-US" sz="1200" b="1" dirty="0">
              <a:solidFill>
                <a:schemeClr val="accent2"/>
              </a:solidFill>
            </a:endParaRPr>
          </a:p>
        </p:txBody>
      </p:sp>
      <p:sp>
        <p:nvSpPr>
          <p:cNvPr id="8" name="Oval 7"/>
          <p:cNvSpPr/>
          <p:nvPr/>
        </p:nvSpPr>
        <p:spPr>
          <a:xfrm>
            <a:off x="-550072" y="117081"/>
            <a:ext cx="231648" cy="23164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noFill/>
              </a:ln>
            </a:endParaRPr>
          </a:p>
        </p:txBody>
      </p:sp>
      <p:sp>
        <p:nvSpPr>
          <p:cNvPr id="9" name="Oval 8"/>
          <p:cNvSpPr/>
          <p:nvPr/>
        </p:nvSpPr>
        <p:spPr>
          <a:xfrm>
            <a:off x="-550072" y="452571"/>
            <a:ext cx="231648" cy="2316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noFill/>
              </a:ln>
            </a:endParaRPr>
          </a:p>
        </p:txBody>
      </p:sp>
      <p:sp>
        <p:nvSpPr>
          <p:cNvPr id="10" name="Oval 9"/>
          <p:cNvSpPr/>
          <p:nvPr/>
        </p:nvSpPr>
        <p:spPr>
          <a:xfrm>
            <a:off x="-550072" y="788061"/>
            <a:ext cx="231648" cy="23164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noFill/>
              </a:ln>
            </a:endParaRPr>
          </a:p>
        </p:txBody>
      </p:sp>
      <p:sp>
        <p:nvSpPr>
          <p:cNvPr id="11" name="Oval 10"/>
          <p:cNvSpPr/>
          <p:nvPr/>
        </p:nvSpPr>
        <p:spPr>
          <a:xfrm>
            <a:off x="-550072" y="1123551"/>
            <a:ext cx="231648" cy="23164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noFill/>
              </a:ln>
            </a:endParaRPr>
          </a:p>
        </p:txBody>
      </p:sp>
      <p:sp>
        <p:nvSpPr>
          <p:cNvPr id="12" name="Oval 11"/>
          <p:cNvSpPr/>
          <p:nvPr/>
        </p:nvSpPr>
        <p:spPr>
          <a:xfrm>
            <a:off x="-550072" y="1459040"/>
            <a:ext cx="231648" cy="23164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noFill/>
              </a:ln>
            </a:endParaRPr>
          </a:p>
        </p:txBody>
      </p:sp>
      <p:sp>
        <p:nvSpPr>
          <p:cNvPr id="13" name="TextBox 12"/>
          <p:cNvSpPr txBox="1"/>
          <p:nvPr/>
        </p:nvSpPr>
        <p:spPr>
          <a:xfrm>
            <a:off x="-888626" y="31354"/>
            <a:ext cx="338554" cy="1674497"/>
          </a:xfrm>
          <a:prstGeom prst="rect">
            <a:avLst/>
          </a:prstGeom>
          <a:noFill/>
        </p:spPr>
        <p:txBody>
          <a:bodyPr vert="vert270" wrap="none" rtlCol="0">
            <a:spAutoFit/>
          </a:bodyPr>
          <a:lstStyle/>
          <a:p>
            <a:r>
              <a:rPr lang="en-US" sz="1000" b="1" spc="0" dirty="0">
                <a:solidFill>
                  <a:schemeClr val="tx1">
                    <a:lumMod val="60000"/>
                    <a:lumOff val="40000"/>
                  </a:schemeClr>
                </a:solidFill>
              </a:rPr>
              <a:t>URBAN</a:t>
            </a:r>
            <a:r>
              <a:rPr lang="en-US" sz="1000" b="1" spc="0" baseline="0" dirty="0">
                <a:solidFill>
                  <a:schemeClr val="tx1">
                    <a:lumMod val="60000"/>
                    <a:lumOff val="40000"/>
                  </a:schemeClr>
                </a:solidFill>
              </a:rPr>
              <a:t> COLOR PALETTE</a:t>
            </a:r>
            <a:endParaRPr lang="en-US" sz="1000" b="1" spc="0" dirty="0">
              <a:solidFill>
                <a:schemeClr val="tx1">
                  <a:lumMod val="60000"/>
                  <a:lumOff val="40000"/>
                </a:schemeClr>
              </a:solidFill>
            </a:endParaRPr>
          </a:p>
        </p:txBody>
      </p:sp>
    </p:spTree>
    <p:extLst>
      <p:ext uri="{BB962C8B-B14F-4D97-AF65-F5344CB8AC3E}">
        <p14:creationId xmlns:p14="http://schemas.microsoft.com/office/powerpoint/2010/main" val="2416522149"/>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ivider Light">
    <p:bg>
      <p:bgPr>
        <a:solidFill>
          <a:schemeClr val="bg2">
            <a:lumMod val="95000"/>
          </a:schemeClr>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ln>
                  <a:solidFill>
                    <a:schemeClr val="bg1"/>
                  </a:solidFill>
                </a:ln>
              </a:defRPr>
            </a:lvl1pPr>
          </a:lstStyle>
          <a:p>
            <a:fld id="{22BC1EAB-2205-4A66-85F8-1AF2F6EE9A7E}" type="slidenum">
              <a:rPr lang="en-US" smtClean="0"/>
              <a:t>‹#›</a:t>
            </a:fld>
            <a:endParaRPr lang="en-US"/>
          </a:p>
        </p:txBody>
      </p:sp>
      <p:sp>
        <p:nvSpPr>
          <p:cNvPr id="5" name="Title 4"/>
          <p:cNvSpPr>
            <a:spLocks noGrp="1"/>
          </p:cNvSpPr>
          <p:nvPr>
            <p:ph type="title"/>
          </p:nvPr>
        </p:nvSpPr>
        <p:spPr>
          <a:xfrm>
            <a:off x="457200" y="1981200"/>
            <a:ext cx="11277600" cy="2895600"/>
          </a:xfrm>
        </p:spPr>
        <p:txBody>
          <a:bodyPr anchor="ctr">
            <a:noAutofit/>
          </a:bodyPr>
          <a:lstStyle>
            <a:lvl1pPr algn="ctr">
              <a:defRPr sz="3600" baseline="0">
                <a:solidFill>
                  <a:schemeClr val="tx1"/>
                </a:solidFill>
                <a:latin typeface="+mj-lt"/>
              </a:defRPr>
            </a:lvl1pPr>
          </a:lstStyle>
          <a:p>
            <a:r>
              <a:rPr lang="en-US"/>
              <a:t>Click to edit Master title style</a:t>
            </a:r>
            <a:endParaRPr lang="en-US" dirty="0"/>
          </a:p>
        </p:txBody>
      </p:sp>
      <p:sp>
        <p:nvSpPr>
          <p:cNvPr id="6" name="TextBox 5"/>
          <p:cNvSpPr txBox="1"/>
          <p:nvPr/>
        </p:nvSpPr>
        <p:spPr>
          <a:xfrm>
            <a:off x="265815" y="-496181"/>
            <a:ext cx="1936955" cy="483989"/>
          </a:xfrm>
          <a:prstGeom prst="round2SameRect">
            <a:avLst/>
          </a:prstGeom>
          <a:solidFill>
            <a:srgbClr val="F9FAF9"/>
          </a:solidFill>
          <a:ln w="6350">
            <a:solidFill>
              <a:schemeClr val="accent2"/>
            </a:solidFill>
          </a:ln>
        </p:spPr>
        <p:txBody>
          <a:bodyPr wrap="none" lIns="182880" tIns="91440" rIns="182880" bIns="182880" rtlCol="0">
            <a:spAutoFit/>
          </a:bodyPr>
          <a:lstStyle/>
          <a:p>
            <a:r>
              <a:rPr lang="en-US" sz="1200" b="1" dirty="0">
                <a:solidFill>
                  <a:schemeClr val="accent2"/>
                </a:solidFill>
              </a:rPr>
              <a:t>Master:</a:t>
            </a:r>
            <a:r>
              <a:rPr lang="en-US" sz="1200" b="1" baseline="0" dirty="0">
                <a:solidFill>
                  <a:schemeClr val="accent2"/>
                </a:solidFill>
              </a:rPr>
              <a:t> Divider Light</a:t>
            </a:r>
            <a:endParaRPr lang="en-US" sz="1200" b="1" dirty="0">
              <a:solidFill>
                <a:schemeClr val="accent2"/>
              </a:solidFill>
            </a:endParaRPr>
          </a:p>
        </p:txBody>
      </p:sp>
    </p:spTree>
    <p:extLst>
      <p:ext uri="{BB962C8B-B14F-4D97-AF65-F5344CB8AC3E}">
        <p14:creationId xmlns:p14="http://schemas.microsoft.com/office/powerpoint/2010/main" val="3690218286"/>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Light">
    <p:bg>
      <p:bgPr>
        <a:solidFill>
          <a:schemeClr val="bg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ln>
                  <a:solidFill>
                    <a:schemeClr val="bg1"/>
                  </a:solidFill>
                </a:ln>
                <a:solidFill>
                  <a:schemeClr val="tx1"/>
                </a:solidFill>
              </a:defRPr>
            </a:lvl1pPr>
          </a:lstStyle>
          <a:p>
            <a:fld id="{22BC1EAB-2205-4A66-85F8-1AF2F6EE9A7E}" type="slidenum">
              <a:rPr lang="en-US" smtClean="0"/>
              <a:t>‹#›</a:t>
            </a:fld>
            <a:endParaRPr lang="en-US"/>
          </a:p>
        </p:txBody>
      </p:sp>
      <p:sp>
        <p:nvSpPr>
          <p:cNvPr id="10" name="Title 1"/>
          <p:cNvSpPr>
            <a:spLocks noGrp="1"/>
          </p:cNvSpPr>
          <p:nvPr>
            <p:ph type="title"/>
          </p:nvPr>
        </p:nvSpPr>
        <p:spPr>
          <a:xfrm>
            <a:off x="457200" y="533400"/>
            <a:ext cx="11277600" cy="1157288"/>
          </a:xfrm>
        </p:spPr>
        <p:txBody>
          <a:bodyPr anchor="t" anchorCtr="0">
            <a:noAutofit/>
          </a:bodyPr>
          <a:lstStyle/>
          <a:p>
            <a:r>
              <a:rPr lang="en-US"/>
              <a:t>Click to edit Master title style</a:t>
            </a:r>
            <a:endParaRPr lang="en-US" dirty="0"/>
          </a:p>
        </p:txBody>
      </p:sp>
      <p:sp>
        <p:nvSpPr>
          <p:cNvPr id="12" name="Content Placeholder 11"/>
          <p:cNvSpPr>
            <a:spLocks noGrp="1"/>
          </p:cNvSpPr>
          <p:nvPr>
            <p:ph sz="quarter" idx="13" hasCustomPrompt="1"/>
          </p:nvPr>
        </p:nvSpPr>
        <p:spPr>
          <a:xfrm>
            <a:off x="768096" y="1889125"/>
            <a:ext cx="10966704" cy="4035425"/>
          </a:xfrm>
        </p:spPr>
        <p:txBody>
          <a:bodyPr/>
          <a:lstStyle>
            <a:lvl1pPr marL="0" indent="0">
              <a:buNone/>
              <a:defRPr i="1" baseline="0">
                <a:solidFill>
                  <a:schemeClr val="accent2"/>
                </a:solidFill>
              </a:defRPr>
            </a:lvl1pPr>
          </a:lstStyle>
          <a:p>
            <a:pPr lvl="0"/>
            <a:r>
              <a:rPr lang="en-US" dirty="0"/>
              <a:t>Add Quote</a:t>
            </a:r>
          </a:p>
        </p:txBody>
      </p:sp>
      <p:sp>
        <p:nvSpPr>
          <p:cNvPr id="5" name="TextBox 4"/>
          <p:cNvSpPr txBox="1"/>
          <p:nvPr/>
        </p:nvSpPr>
        <p:spPr>
          <a:xfrm>
            <a:off x="265815" y="-496181"/>
            <a:ext cx="1860156" cy="483989"/>
          </a:xfrm>
          <a:prstGeom prst="round2SameRect">
            <a:avLst/>
          </a:prstGeom>
          <a:solidFill>
            <a:srgbClr val="F9FAF9"/>
          </a:solidFill>
          <a:ln w="6350">
            <a:solidFill>
              <a:schemeClr val="accent2"/>
            </a:solidFill>
          </a:ln>
        </p:spPr>
        <p:txBody>
          <a:bodyPr wrap="none" lIns="182880" tIns="91440" rIns="182880" bIns="182880" rtlCol="0">
            <a:spAutoFit/>
          </a:bodyPr>
          <a:lstStyle/>
          <a:p>
            <a:r>
              <a:rPr lang="en-US" sz="1200" b="1" dirty="0">
                <a:solidFill>
                  <a:schemeClr val="accent2"/>
                </a:solidFill>
              </a:rPr>
              <a:t>Master:</a:t>
            </a:r>
            <a:r>
              <a:rPr lang="en-US" sz="1200" b="1" baseline="0" dirty="0">
                <a:solidFill>
                  <a:schemeClr val="accent2"/>
                </a:solidFill>
              </a:rPr>
              <a:t> Quote Light</a:t>
            </a:r>
          </a:p>
        </p:txBody>
      </p:sp>
    </p:spTree>
    <p:extLst>
      <p:ext uri="{BB962C8B-B14F-4D97-AF65-F5344CB8AC3E}">
        <p14:creationId xmlns:p14="http://schemas.microsoft.com/office/powerpoint/2010/main" val="3007069670"/>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Dark">
    <p:bg>
      <p:bgPr>
        <a:gradFill>
          <a:gsLst>
            <a:gs pos="0">
              <a:srgbClr val="474345"/>
            </a:gs>
            <a:gs pos="100000">
              <a:schemeClr val="tx1">
                <a:lumMod val="7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ln>
                  <a:solidFill>
                    <a:schemeClr val="bg1"/>
                  </a:solidFill>
                </a:ln>
              </a:defRPr>
            </a:lvl1pPr>
          </a:lstStyle>
          <a:p>
            <a:fld id="{22BC1EAB-2205-4A66-85F8-1AF2F6EE9A7E}" type="slidenum">
              <a:rPr lang="en-US" smtClean="0"/>
              <a:t>‹#›</a:t>
            </a:fld>
            <a:endParaRPr lang="en-US"/>
          </a:p>
        </p:txBody>
      </p:sp>
      <p:sp>
        <p:nvSpPr>
          <p:cNvPr id="6" name="Title 1"/>
          <p:cNvSpPr>
            <a:spLocks noGrp="1"/>
          </p:cNvSpPr>
          <p:nvPr>
            <p:ph type="title"/>
          </p:nvPr>
        </p:nvSpPr>
        <p:spPr>
          <a:xfrm>
            <a:off x="457200" y="533400"/>
            <a:ext cx="11277600" cy="1157288"/>
          </a:xfrm>
        </p:spPr>
        <p:txBody>
          <a:bodyPr anchor="t" anchorCtr="0">
            <a:noAutofit/>
          </a:bodyPr>
          <a:lstStyle>
            <a:lvl1pPr>
              <a:defRPr>
                <a:solidFill>
                  <a:schemeClr val="bg1"/>
                </a:solidFill>
              </a:defRPr>
            </a:lvl1pPr>
          </a:lstStyle>
          <a:p>
            <a:r>
              <a:rPr lang="en-US"/>
              <a:t>Click to edit Master title style</a:t>
            </a:r>
            <a:endParaRPr lang="en-US" dirty="0"/>
          </a:p>
        </p:txBody>
      </p:sp>
      <p:pic>
        <p:nvPicPr>
          <p:cNvPr id="7" name="Picture 6"/>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rcRect t="-24944"/>
          <a:stretch/>
        </p:blipFill>
        <p:spPr>
          <a:xfrm>
            <a:off x="320675" y="6521450"/>
            <a:ext cx="2391113" cy="102824"/>
          </a:xfrm>
          <a:prstGeom prst="rect">
            <a:avLst/>
          </a:prstGeom>
        </p:spPr>
      </p:pic>
      <p:sp>
        <p:nvSpPr>
          <p:cNvPr id="5" name="Content Placeholder 11"/>
          <p:cNvSpPr>
            <a:spLocks noGrp="1"/>
          </p:cNvSpPr>
          <p:nvPr>
            <p:ph sz="quarter" idx="13" hasCustomPrompt="1"/>
          </p:nvPr>
        </p:nvSpPr>
        <p:spPr>
          <a:xfrm>
            <a:off x="768096" y="1889125"/>
            <a:ext cx="10966704" cy="4035425"/>
          </a:xfrm>
        </p:spPr>
        <p:txBody>
          <a:bodyPr/>
          <a:lstStyle>
            <a:lvl1pPr marL="0" indent="0">
              <a:buNone/>
              <a:defRPr i="1" baseline="0">
                <a:solidFill>
                  <a:schemeClr val="accent2"/>
                </a:solidFill>
              </a:defRPr>
            </a:lvl1pPr>
          </a:lstStyle>
          <a:p>
            <a:pPr lvl="0"/>
            <a:r>
              <a:rPr lang="en-US" dirty="0"/>
              <a:t>Add Quote</a:t>
            </a:r>
          </a:p>
        </p:txBody>
      </p:sp>
      <p:sp>
        <p:nvSpPr>
          <p:cNvPr id="8" name="TextBox 7"/>
          <p:cNvSpPr txBox="1"/>
          <p:nvPr/>
        </p:nvSpPr>
        <p:spPr>
          <a:xfrm>
            <a:off x="265815" y="-496181"/>
            <a:ext cx="1820939" cy="483989"/>
          </a:xfrm>
          <a:prstGeom prst="round2SameRect">
            <a:avLst/>
          </a:prstGeom>
          <a:solidFill>
            <a:srgbClr val="F9FAF9"/>
          </a:solidFill>
          <a:ln w="6350">
            <a:solidFill>
              <a:schemeClr val="accent2"/>
            </a:solidFill>
          </a:ln>
        </p:spPr>
        <p:txBody>
          <a:bodyPr wrap="none" lIns="182880" tIns="91440" rIns="182880" bIns="182880" rtlCol="0">
            <a:spAutoFit/>
          </a:bodyPr>
          <a:lstStyle/>
          <a:p>
            <a:r>
              <a:rPr lang="en-US" sz="1200" b="1" dirty="0">
                <a:solidFill>
                  <a:schemeClr val="accent2"/>
                </a:solidFill>
              </a:rPr>
              <a:t>Master:</a:t>
            </a:r>
            <a:r>
              <a:rPr lang="en-US" sz="1200" b="1" baseline="0" dirty="0">
                <a:solidFill>
                  <a:schemeClr val="accent2"/>
                </a:solidFill>
              </a:rPr>
              <a:t> Quote Dark</a:t>
            </a:r>
            <a:endParaRPr lang="en-US" sz="1200" b="1" dirty="0">
              <a:solidFill>
                <a:schemeClr val="accent2"/>
              </a:solidFill>
            </a:endParaRPr>
          </a:p>
        </p:txBody>
      </p:sp>
      <p:sp>
        <p:nvSpPr>
          <p:cNvPr id="9" name="Oval 8"/>
          <p:cNvSpPr/>
          <p:nvPr/>
        </p:nvSpPr>
        <p:spPr>
          <a:xfrm>
            <a:off x="-550072" y="117081"/>
            <a:ext cx="231648" cy="23164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noFill/>
              </a:ln>
            </a:endParaRPr>
          </a:p>
        </p:txBody>
      </p:sp>
      <p:sp>
        <p:nvSpPr>
          <p:cNvPr id="10" name="Oval 9"/>
          <p:cNvSpPr/>
          <p:nvPr/>
        </p:nvSpPr>
        <p:spPr>
          <a:xfrm>
            <a:off x="-550072" y="452571"/>
            <a:ext cx="231648" cy="2316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noFill/>
              </a:ln>
            </a:endParaRPr>
          </a:p>
        </p:txBody>
      </p:sp>
      <p:sp>
        <p:nvSpPr>
          <p:cNvPr id="11" name="Oval 10"/>
          <p:cNvSpPr/>
          <p:nvPr/>
        </p:nvSpPr>
        <p:spPr>
          <a:xfrm>
            <a:off x="-550072" y="788061"/>
            <a:ext cx="231648" cy="23164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noFill/>
              </a:ln>
            </a:endParaRPr>
          </a:p>
        </p:txBody>
      </p:sp>
      <p:sp>
        <p:nvSpPr>
          <p:cNvPr id="12" name="Oval 11"/>
          <p:cNvSpPr/>
          <p:nvPr/>
        </p:nvSpPr>
        <p:spPr>
          <a:xfrm>
            <a:off x="-550072" y="1123551"/>
            <a:ext cx="231648" cy="23164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noFill/>
              </a:ln>
            </a:endParaRPr>
          </a:p>
        </p:txBody>
      </p:sp>
      <p:sp>
        <p:nvSpPr>
          <p:cNvPr id="13" name="Oval 12"/>
          <p:cNvSpPr/>
          <p:nvPr/>
        </p:nvSpPr>
        <p:spPr>
          <a:xfrm>
            <a:off x="-550072" y="1459040"/>
            <a:ext cx="231648" cy="23164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noFill/>
              </a:ln>
            </a:endParaRPr>
          </a:p>
        </p:txBody>
      </p:sp>
      <p:sp>
        <p:nvSpPr>
          <p:cNvPr id="14" name="TextBox 13"/>
          <p:cNvSpPr txBox="1"/>
          <p:nvPr/>
        </p:nvSpPr>
        <p:spPr>
          <a:xfrm>
            <a:off x="-888626" y="31354"/>
            <a:ext cx="338554" cy="1674497"/>
          </a:xfrm>
          <a:prstGeom prst="rect">
            <a:avLst/>
          </a:prstGeom>
          <a:noFill/>
        </p:spPr>
        <p:txBody>
          <a:bodyPr vert="vert270" wrap="none" rtlCol="0">
            <a:spAutoFit/>
          </a:bodyPr>
          <a:lstStyle/>
          <a:p>
            <a:r>
              <a:rPr lang="en-US" sz="1000" b="1" spc="0" dirty="0">
                <a:solidFill>
                  <a:schemeClr val="tx1">
                    <a:lumMod val="60000"/>
                    <a:lumOff val="40000"/>
                  </a:schemeClr>
                </a:solidFill>
              </a:rPr>
              <a:t>URBAN</a:t>
            </a:r>
            <a:r>
              <a:rPr lang="en-US" sz="1000" b="1" spc="0" baseline="0" dirty="0">
                <a:solidFill>
                  <a:schemeClr val="tx1">
                    <a:lumMod val="60000"/>
                    <a:lumOff val="40000"/>
                  </a:schemeClr>
                </a:solidFill>
              </a:rPr>
              <a:t> COLOR PALETTE</a:t>
            </a:r>
            <a:endParaRPr lang="en-US" sz="1000" b="1" spc="0" dirty="0">
              <a:solidFill>
                <a:schemeClr val="tx1">
                  <a:lumMod val="60000"/>
                  <a:lumOff val="40000"/>
                </a:schemeClr>
              </a:solidFill>
            </a:endParaRPr>
          </a:p>
        </p:txBody>
      </p:sp>
    </p:spTree>
    <p:extLst>
      <p:ext uri="{BB962C8B-B14F-4D97-AF65-F5344CB8AC3E}">
        <p14:creationId xmlns:p14="http://schemas.microsoft.com/office/powerpoint/2010/main" val="2200092611"/>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2BC1EAB-2205-4A66-85F8-1AF2F6EE9A7E}" type="slidenum">
              <a:rPr lang="en-US" smtClean="0"/>
              <a:t>‹#›</a:t>
            </a:fld>
            <a:endParaRPr lang="en-US"/>
          </a:p>
        </p:txBody>
      </p:sp>
      <p:sp>
        <p:nvSpPr>
          <p:cNvPr id="3" name="TextBox 2"/>
          <p:cNvSpPr txBox="1"/>
          <p:nvPr/>
        </p:nvSpPr>
        <p:spPr>
          <a:xfrm>
            <a:off x="265815" y="-496181"/>
            <a:ext cx="1415941" cy="483989"/>
          </a:xfrm>
          <a:prstGeom prst="round2SameRect">
            <a:avLst/>
          </a:prstGeom>
          <a:solidFill>
            <a:srgbClr val="F9FAF9"/>
          </a:solidFill>
          <a:ln w="6350">
            <a:solidFill>
              <a:schemeClr val="accent2"/>
            </a:solidFill>
          </a:ln>
        </p:spPr>
        <p:txBody>
          <a:bodyPr wrap="none" lIns="182880" tIns="91440" rIns="182880" bIns="182880" rtlCol="0">
            <a:spAutoFit/>
          </a:bodyPr>
          <a:lstStyle/>
          <a:p>
            <a:r>
              <a:rPr lang="en-US" sz="1200" b="1" dirty="0">
                <a:solidFill>
                  <a:schemeClr val="accent2"/>
                </a:solidFill>
              </a:rPr>
              <a:t>Master:</a:t>
            </a:r>
            <a:r>
              <a:rPr lang="en-US" sz="1200" b="1" baseline="0" dirty="0">
                <a:solidFill>
                  <a:schemeClr val="accent2"/>
                </a:solidFill>
              </a:rPr>
              <a:t> Blank</a:t>
            </a:r>
            <a:endParaRPr lang="en-US" sz="1200" b="1" dirty="0">
              <a:solidFill>
                <a:schemeClr val="accent2"/>
              </a:solidFill>
            </a:endParaRPr>
          </a:p>
        </p:txBody>
      </p:sp>
    </p:spTree>
    <p:extLst>
      <p:ext uri="{BB962C8B-B14F-4D97-AF65-F5344CB8AC3E}">
        <p14:creationId xmlns:p14="http://schemas.microsoft.com/office/powerpoint/2010/main" val="1564689460"/>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4ED15-8FA5-CD2B-E9A5-9028CC6F47C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4C68DDE-3E94-C003-E766-851294CB1D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F1EB791-7857-9222-80CF-2D7F0FBDF14D}"/>
              </a:ext>
            </a:extLst>
          </p:cNvPr>
          <p:cNvSpPr>
            <a:spLocks noGrp="1"/>
          </p:cNvSpPr>
          <p:nvPr>
            <p:ph type="dt" sz="half" idx="10"/>
          </p:nvPr>
        </p:nvSpPr>
        <p:spPr/>
        <p:txBody>
          <a:bodyPr/>
          <a:lstStyle/>
          <a:p>
            <a:fld id="{980E61F3-1AE9-4519-B7A2-BF2B53E70298}" type="datetimeFigureOut">
              <a:rPr lang="en-US" smtClean="0"/>
              <a:t>7/18/2023</a:t>
            </a:fld>
            <a:endParaRPr lang="en-US"/>
          </a:p>
        </p:txBody>
      </p:sp>
      <p:sp>
        <p:nvSpPr>
          <p:cNvPr id="5" name="Footer Placeholder 4">
            <a:extLst>
              <a:ext uri="{FF2B5EF4-FFF2-40B4-BE49-F238E27FC236}">
                <a16:creationId xmlns:a16="http://schemas.microsoft.com/office/drawing/2014/main" id="{245113EC-B0EB-EE32-274B-6E46E36C01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8C5EBE-36E0-50E9-37D3-CEB6CF427D67}"/>
              </a:ext>
            </a:extLst>
          </p:cNvPr>
          <p:cNvSpPr>
            <a:spLocks noGrp="1"/>
          </p:cNvSpPr>
          <p:nvPr>
            <p:ph type="sldNum" sz="quarter" idx="12"/>
          </p:nvPr>
        </p:nvSpPr>
        <p:spPr/>
        <p:txBody>
          <a:bodyPr/>
          <a:lstStyle/>
          <a:p>
            <a:fld id="{22BC1EAB-2205-4A66-85F8-1AF2F6EE9A7E}" type="slidenum">
              <a:rPr lang="en-US" smtClean="0"/>
              <a:t>‹#›</a:t>
            </a:fld>
            <a:endParaRPr lang="en-US"/>
          </a:p>
        </p:txBody>
      </p:sp>
    </p:spTree>
    <p:extLst>
      <p:ext uri="{BB962C8B-B14F-4D97-AF65-F5344CB8AC3E}">
        <p14:creationId xmlns:p14="http://schemas.microsoft.com/office/powerpoint/2010/main" val="22637894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740E5-0AC3-E66C-08D9-24DFAAD5CDC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1D31F72-2A68-4E17-C4FF-A426891C5D3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C694AC-3AA7-C562-5C55-5A415428FA1E}"/>
              </a:ext>
            </a:extLst>
          </p:cNvPr>
          <p:cNvSpPr>
            <a:spLocks noGrp="1"/>
          </p:cNvSpPr>
          <p:nvPr>
            <p:ph type="dt" sz="half" idx="10"/>
          </p:nvPr>
        </p:nvSpPr>
        <p:spPr/>
        <p:txBody>
          <a:bodyPr/>
          <a:lstStyle/>
          <a:p>
            <a:fld id="{980E61F3-1AE9-4519-B7A2-BF2B53E70298}" type="datetimeFigureOut">
              <a:rPr lang="en-US" smtClean="0"/>
              <a:t>7/18/2023</a:t>
            </a:fld>
            <a:endParaRPr lang="en-US"/>
          </a:p>
        </p:txBody>
      </p:sp>
      <p:sp>
        <p:nvSpPr>
          <p:cNvPr id="5" name="Footer Placeholder 4">
            <a:extLst>
              <a:ext uri="{FF2B5EF4-FFF2-40B4-BE49-F238E27FC236}">
                <a16:creationId xmlns:a16="http://schemas.microsoft.com/office/drawing/2014/main" id="{822469BF-4AC3-1EFC-73A9-87F26437F4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537963-D20F-D00D-00EA-BF43ED5E0633}"/>
              </a:ext>
            </a:extLst>
          </p:cNvPr>
          <p:cNvSpPr>
            <a:spLocks noGrp="1"/>
          </p:cNvSpPr>
          <p:nvPr>
            <p:ph type="sldNum" sz="quarter" idx="12"/>
          </p:nvPr>
        </p:nvSpPr>
        <p:spPr/>
        <p:txBody>
          <a:bodyPr/>
          <a:lstStyle/>
          <a:p>
            <a:fld id="{22BC1EAB-2205-4A66-85F8-1AF2F6EE9A7E}" type="slidenum">
              <a:rPr lang="en-US" smtClean="0"/>
              <a:t>‹#›</a:t>
            </a:fld>
            <a:endParaRPr lang="en-US"/>
          </a:p>
        </p:txBody>
      </p:sp>
    </p:spTree>
    <p:extLst>
      <p:ext uri="{BB962C8B-B14F-4D97-AF65-F5344CB8AC3E}">
        <p14:creationId xmlns:p14="http://schemas.microsoft.com/office/powerpoint/2010/main" val="26987358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3B077-F1CE-0A1E-ED70-D0463A10890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2BDFDFD-4B17-98C1-28CC-4ED86649AB8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F11131E-3460-8BD0-50D9-151AB388CA51}"/>
              </a:ext>
            </a:extLst>
          </p:cNvPr>
          <p:cNvSpPr>
            <a:spLocks noGrp="1"/>
          </p:cNvSpPr>
          <p:nvPr>
            <p:ph type="dt" sz="half" idx="10"/>
          </p:nvPr>
        </p:nvSpPr>
        <p:spPr/>
        <p:txBody>
          <a:bodyPr/>
          <a:lstStyle/>
          <a:p>
            <a:fld id="{980E61F3-1AE9-4519-B7A2-BF2B53E70298}" type="datetimeFigureOut">
              <a:rPr lang="en-US" smtClean="0"/>
              <a:t>7/18/2023</a:t>
            </a:fld>
            <a:endParaRPr lang="en-US"/>
          </a:p>
        </p:txBody>
      </p:sp>
      <p:sp>
        <p:nvSpPr>
          <p:cNvPr id="5" name="Footer Placeholder 4">
            <a:extLst>
              <a:ext uri="{FF2B5EF4-FFF2-40B4-BE49-F238E27FC236}">
                <a16:creationId xmlns:a16="http://schemas.microsoft.com/office/drawing/2014/main" id="{E36D03F1-6D7D-D551-C24D-19E358BAC3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029F63-9027-671D-7ABA-962D1C78D6CC}"/>
              </a:ext>
            </a:extLst>
          </p:cNvPr>
          <p:cNvSpPr>
            <a:spLocks noGrp="1"/>
          </p:cNvSpPr>
          <p:nvPr>
            <p:ph type="sldNum" sz="quarter" idx="12"/>
          </p:nvPr>
        </p:nvSpPr>
        <p:spPr/>
        <p:txBody>
          <a:bodyPr/>
          <a:lstStyle/>
          <a:p>
            <a:fld id="{22BC1EAB-2205-4A66-85F8-1AF2F6EE9A7E}" type="slidenum">
              <a:rPr lang="en-US" smtClean="0"/>
              <a:t>‹#›</a:t>
            </a:fld>
            <a:endParaRPr lang="en-US"/>
          </a:p>
        </p:txBody>
      </p:sp>
    </p:spTree>
    <p:extLst>
      <p:ext uri="{BB962C8B-B14F-4D97-AF65-F5344CB8AC3E}">
        <p14:creationId xmlns:p14="http://schemas.microsoft.com/office/powerpoint/2010/main" val="18675203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11" name="Rectangle 10"/>
          <p:cNvSpPr/>
          <p:nvPr userDrawn="1"/>
        </p:nvSpPr>
        <p:spPr>
          <a:xfrm>
            <a:off x="3048"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11" descr="Left side has a closeup of hands on a keyboard and right side has a closeup of three people's faces"/>
          <p:cNvPicPr>
            <a:picLocks noChangeAspect="1"/>
          </p:cNvPicPr>
          <p:nvPr userDrawn="1"/>
        </p:nvPicPr>
        <p:blipFill rotWithShape="1">
          <a:blip r:embed="rId2"/>
          <a:srcRect t="5040" b="1624"/>
          <a:stretch/>
        </p:blipFill>
        <p:spPr>
          <a:xfrm>
            <a:off x="3048" y="1"/>
            <a:ext cx="12188952" cy="6400800"/>
          </a:xfrm>
          <a:prstGeom prst="rect">
            <a:avLst/>
          </a:prstGeom>
          <a:effectLst>
            <a:innerShdw blurRad="63500" dist="50800" dir="5400000">
              <a:prstClr val="black">
                <a:alpha val="50000"/>
              </a:prstClr>
            </a:innerShdw>
          </a:effectLst>
        </p:spPr>
      </p:pic>
      <p:sp>
        <p:nvSpPr>
          <p:cNvPr id="2" name="Title 1"/>
          <p:cNvSpPr>
            <a:spLocks noGrp="1"/>
          </p:cNvSpPr>
          <p:nvPr userDrawn="1">
            <p:ph type="ctrTitle"/>
          </p:nvPr>
        </p:nvSpPr>
        <p:spPr>
          <a:xfrm>
            <a:off x="76200" y="2295843"/>
            <a:ext cx="5970037" cy="2387600"/>
          </a:xfrm>
        </p:spPr>
        <p:txBody>
          <a:bodyPr anchor="b"/>
          <a:lstStyle>
            <a:lvl1pPr algn="l">
              <a:defRPr sz="4000">
                <a:solidFill>
                  <a:schemeClr val="bg1"/>
                </a:solidFill>
              </a:defRPr>
            </a:lvl1pPr>
          </a:lstStyle>
          <a:p>
            <a:r>
              <a:rPr lang="en-US"/>
              <a:t>Click to edit Master title style</a:t>
            </a:r>
            <a:endParaRPr lang="en-US" dirty="0"/>
          </a:p>
        </p:txBody>
      </p:sp>
      <p:sp>
        <p:nvSpPr>
          <p:cNvPr id="3" name="Subtitle 2"/>
          <p:cNvSpPr>
            <a:spLocks noGrp="1"/>
          </p:cNvSpPr>
          <p:nvPr userDrawn="1">
            <p:ph type="subTitle" idx="1"/>
          </p:nvPr>
        </p:nvSpPr>
        <p:spPr>
          <a:xfrm>
            <a:off x="76200" y="4856481"/>
            <a:ext cx="5970037" cy="1655762"/>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Date Placeholder 3"/>
          <p:cNvSpPr>
            <a:spLocks noGrp="1"/>
          </p:cNvSpPr>
          <p:nvPr userDrawn="1">
            <p:ph type="dt" sz="half" idx="2"/>
          </p:nvPr>
        </p:nvSpPr>
        <p:spPr>
          <a:xfrm>
            <a:off x="838200" y="6356350"/>
            <a:ext cx="3276600" cy="365125"/>
          </a:xfrm>
          <a:prstGeom prst="rect">
            <a:avLst/>
          </a:prstGeom>
        </p:spPr>
        <p:txBody>
          <a:bodyPr vert="horz" lIns="91440" tIns="45720" rIns="91440" bIns="45720" rtlCol="0" anchor="ctr"/>
          <a:lstStyle>
            <a:lvl1pPr algn="l">
              <a:defRPr sz="1200">
                <a:solidFill>
                  <a:schemeClr val="accent3">
                    <a:lumMod val="50000"/>
                  </a:schemeClr>
                </a:solidFill>
              </a:defRPr>
            </a:lvl1pPr>
          </a:lstStyle>
          <a:p>
            <a:fld id="{A4E1B6FF-B178-4277-BA22-CF2CCBFE83CC}" type="datetime1">
              <a:rPr lang="en-US" smtClean="0"/>
              <a:t>7/18/2023</a:t>
            </a:fld>
            <a:endParaRPr lang="en-US" dirty="0"/>
          </a:p>
        </p:txBody>
      </p:sp>
      <p:sp>
        <p:nvSpPr>
          <p:cNvPr id="14" name="Footer Placeholder 4"/>
          <p:cNvSpPr>
            <a:spLocks noGrp="1"/>
          </p:cNvSpPr>
          <p:nvPr userDrawn="1">
            <p:ph type="ftr" sz="quarter" idx="3"/>
          </p:nvPr>
        </p:nvSpPr>
        <p:spPr>
          <a:xfrm>
            <a:off x="4648200" y="6356350"/>
            <a:ext cx="2895600" cy="365125"/>
          </a:xfrm>
          <a:prstGeom prst="rect">
            <a:avLst/>
          </a:prstGeom>
        </p:spPr>
        <p:txBody>
          <a:bodyPr vert="horz" lIns="91440" tIns="45720" rIns="91440" bIns="45720" rtlCol="0" anchor="ctr"/>
          <a:lstStyle>
            <a:lvl1pPr algn="ctr">
              <a:defRPr sz="1200">
                <a:solidFill>
                  <a:schemeClr val="accent3">
                    <a:lumMod val="50000"/>
                  </a:schemeClr>
                </a:solidFill>
              </a:defRPr>
            </a:lvl1pPr>
          </a:lstStyle>
          <a:p>
            <a:r>
              <a:rPr lang="en-US"/>
              <a:t>Add a footer</a:t>
            </a:r>
            <a:endParaRPr lang="en-US" dirty="0"/>
          </a:p>
        </p:txBody>
      </p:sp>
      <p:sp>
        <p:nvSpPr>
          <p:cNvPr id="15" name="Slide Number Placeholder 5"/>
          <p:cNvSpPr>
            <a:spLocks noGrp="1"/>
          </p:cNvSpPr>
          <p:nvPr userDrawn="1">
            <p:ph type="sldNum" sz="quarter" idx="4"/>
          </p:nvPr>
        </p:nvSpPr>
        <p:spPr>
          <a:xfrm>
            <a:off x="8077200" y="6356350"/>
            <a:ext cx="3276600" cy="365125"/>
          </a:xfrm>
          <a:prstGeom prst="rect">
            <a:avLst/>
          </a:prstGeom>
        </p:spPr>
        <p:txBody>
          <a:bodyPr vert="horz" lIns="91440" tIns="45720" rIns="91440" bIns="45720" rtlCol="0" anchor="ctr"/>
          <a:lstStyle>
            <a:lvl1pPr algn="r">
              <a:defRPr sz="1200">
                <a:solidFill>
                  <a:schemeClr val="accent3">
                    <a:lumMod val="50000"/>
                  </a:schemeClr>
                </a:solidFill>
              </a:defRPr>
            </a:lvl1pPr>
          </a:lstStyle>
          <a:p>
            <a:fld id="{0C8C4CCD-1362-4CC7-BA2D-0BEF6B3ABFE9}" type="slidenum">
              <a:rPr lang="en-US" smtClean="0"/>
              <a:pPr/>
              <a:t>‹#›</a:t>
            </a:fld>
            <a:endParaRPr lang="en-US" dirty="0"/>
          </a:p>
        </p:txBody>
      </p:sp>
    </p:spTree>
    <p:extLst>
      <p:ext uri="{BB962C8B-B14F-4D97-AF65-F5344CB8AC3E}">
        <p14:creationId xmlns:p14="http://schemas.microsoft.com/office/powerpoint/2010/main" val="9451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14892" y="136525"/>
            <a:ext cx="10324344" cy="1325563"/>
          </a:xfrm>
        </p:spPr>
        <p:txBody>
          <a:bodyPr/>
          <a:lstStyle/>
          <a:p>
            <a:r>
              <a:rPr lang="en-US" dirty="0"/>
              <a:t>Click to edit Master title style</a:t>
            </a:r>
          </a:p>
        </p:txBody>
      </p:sp>
      <p:sp>
        <p:nvSpPr>
          <p:cNvPr id="3" name="Content Placeholder 2"/>
          <p:cNvSpPr>
            <a:spLocks noGrp="1"/>
          </p:cNvSpPr>
          <p:nvPr>
            <p:ph idx="1"/>
          </p:nvPr>
        </p:nvSpPr>
        <p:spPr>
          <a:xfrm>
            <a:off x="314892" y="1635020"/>
            <a:ext cx="11414862" cy="454194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314892" y="6356350"/>
            <a:ext cx="3799908" cy="365125"/>
          </a:xfrm>
        </p:spPr>
        <p:txBody>
          <a:bodyPr/>
          <a:lstStyle/>
          <a:p>
            <a:fld id="{20323612-3362-4672-967D-D96E36CB113A}" type="datetime1">
              <a:rPr lang="en-US" smtClean="0"/>
              <a:t>7/18/2023</a:t>
            </a:fld>
            <a:endParaRPr lang="en-US" dirty="0"/>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a:xfrm>
            <a:off x="8077200" y="6356350"/>
            <a:ext cx="3652554" cy="365125"/>
          </a:xfrm>
        </p:spPr>
        <p:txBody>
          <a:bodyPr/>
          <a:lstStyle/>
          <a:p>
            <a:fld id="{0C8C4CCD-1362-4CC7-BA2D-0BEF6B3ABFE9}" type="slidenum">
              <a:rPr lang="en-US" smtClean="0"/>
              <a:t>‹#›</a:t>
            </a:fld>
            <a:endParaRPr lang="en-US" dirty="0"/>
          </a:p>
        </p:txBody>
      </p:sp>
    </p:spTree>
    <p:extLst>
      <p:ext uri="{BB962C8B-B14F-4D97-AF65-F5344CB8AC3E}">
        <p14:creationId xmlns:p14="http://schemas.microsoft.com/office/powerpoint/2010/main" val="7019010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62262"/>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baseline="0">
                <a:solidFill>
                  <a:schemeClr val="accent1">
                    <a:lumMod val="50000"/>
                  </a:schemeClr>
                </a:solidFill>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p>
            <a:fld id="{825524D7-6DA8-4FD6-B5BD-CC8425B33743}" type="datetime1">
              <a:rPr lang="en-US" smtClean="0"/>
              <a:t>7/18/2023</a:t>
            </a:fld>
            <a:endParaRPr lang="en-US" dirty="0"/>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0C8C4CCD-1362-4CC7-BA2D-0BEF6B3ABFE9}" type="slidenum">
              <a:rPr lang="en-US" smtClean="0"/>
              <a:t>‹#›</a:t>
            </a:fld>
            <a:endParaRPr lang="en-US" dirty="0"/>
          </a:p>
        </p:txBody>
      </p:sp>
    </p:spTree>
    <p:extLst>
      <p:ext uri="{BB962C8B-B14F-4D97-AF65-F5344CB8AC3E}">
        <p14:creationId xmlns:p14="http://schemas.microsoft.com/office/powerpoint/2010/main" val="3360770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10896" y="137160"/>
            <a:ext cx="10515600" cy="1325563"/>
          </a:xfrm>
        </p:spPr>
        <p:txBody>
          <a:bodyPr/>
          <a:lstStyle/>
          <a:p>
            <a:r>
              <a:rPr lang="en-US" dirty="0"/>
              <a:t>Click to edit Master title style</a:t>
            </a:r>
          </a:p>
        </p:txBody>
      </p:sp>
      <p:sp>
        <p:nvSpPr>
          <p:cNvPr id="3" name="Content Placeholder 2"/>
          <p:cNvSpPr>
            <a:spLocks noGrp="1"/>
          </p:cNvSpPr>
          <p:nvPr>
            <p:ph sz="half" idx="1"/>
          </p:nvPr>
        </p:nvSpPr>
        <p:spPr>
          <a:xfrm>
            <a:off x="310896" y="1642111"/>
            <a:ext cx="5708904" cy="45348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642111"/>
            <a:ext cx="5545442" cy="45348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310896" y="6356350"/>
            <a:ext cx="3803904" cy="365125"/>
          </a:xfrm>
        </p:spPr>
        <p:txBody>
          <a:bodyPr/>
          <a:lstStyle/>
          <a:p>
            <a:fld id="{23AB9E3C-9C83-4081-B120-265747E6B25F}" type="datetime1">
              <a:rPr lang="en-US" smtClean="0"/>
              <a:t>7/18/2023</a:t>
            </a:fld>
            <a:endParaRPr lang="en-US" dirty="0"/>
          </a:p>
        </p:txBody>
      </p:sp>
      <p:sp>
        <p:nvSpPr>
          <p:cNvPr id="6" name="Footer Placeholder 5"/>
          <p:cNvSpPr>
            <a:spLocks noGrp="1"/>
          </p:cNvSpPr>
          <p:nvPr>
            <p:ph type="ftr" sz="quarter" idx="11"/>
          </p:nvPr>
        </p:nvSpPr>
        <p:spPr/>
        <p:txBody>
          <a:bodyPr/>
          <a:lstStyle/>
          <a:p>
            <a:r>
              <a:rPr lang="en-US" dirty="0"/>
              <a:t>Add a footer</a:t>
            </a:r>
          </a:p>
        </p:txBody>
      </p:sp>
      <p:sp>
        <p:nvSpPr>
          <p:cNvPr id="7" name="Slide Number Placeholder 6"/>
          <p:cNvSpPr>
            <a:spLocks noGrp="1"/>
          </p:cNvSpPr>
          <p:nvPr>
            <p:ph type="sldNum" sz="quarter" idx="12"/>
          </p:nvPr>
        </p:nvSpPr>
        <p:spPr>
          <a:xfrm>
            <a:off x="8077200" y="6356350"/>
            <a:ext cx="3640442" cy="365125"/>
          </a:xfrm>
        </p:spPr>
        <p:txBody>
          <a:bodyPr/>
          <a:lstStyle/>
          <a:p>
            <a:fld id="{0C8C4CCD-1362-4CC7-BA2D-0BEF6B3ABFE9}" type="slidenum">
              <a:rPr lang="en-US" smtClean="0"/>
              <a:t>‹#›</a:t>
            </a:fld>
            <a:endParaRPr lang="en-US" dirty="0"/>
          </a:p>
        </p:txBody>
      </p:sp>
    </p:spTree>
    <p:extLst>
      <p:ext uri="{BB962C8B-B14F-4D97-AF65-F5344CB8AC3E}">
        <p14:creationId xmlns:p14="http://schemas.microsoft.com/office/powerpoint/2010/main" val="3346285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1850" y="1447800"/>
            <a:ext cx="10515600" cy="1143000"/>
          </a:xfrm>
        </p:spPr>
        <p:txBody>
          <a:bodyPr/>
          <a:lstStyle/>
          <a:p>
            <a:r>
              <a:rPr lang="en-US"/>
              <a:t>Click to edit Master title style</a:t>
            </a:r>
          </a:p>
        </p:txBody>
      </p:sp>
      <p:sp>
        <p:nvSpPr>
          <p:cNvPr id="3" name="Text Placeholder 2"/>
          <p:cNvSpPr>
            <a:spLocks noGrp="1"/>
          </p:cNvSpPr>
          <p:nvPr>
            <p:ph type="body" idx="1"/>
          </p:nvPr>
        </p:nvSpPr>
        <p:spPr>
          <a:xfrm>
            <a:off x="831850" y="2788737"/>
            <a:ext cx="5156200" cy="6413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1850" y="3493588"/>
            <a:ext cx="5156200" cy="26786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9663" y="2788737"/>
            <a:ext cx="5157787" cy="6413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9663" y="3493588"/>
            <a:ext cx="5157787" cy="26786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AC7E0FF-F228-4D36-86FF-77898C9EADFE}" type="datetime1">
              <a:rPr lang="en-US" smtClean="0"/>
              <a:t>7/18/2023</a:t>
            </a:fld>
            <a:endParaRPr lang="en-US" dirty="0"/>
          </a:p>
        </p:txBody>
      </p:sp>
      <p:sp>
        <p:nvSpPr>
          <p:cNvPr id="8" name="Footer Placeholder 7"/>
          <p:cNvSpPr>
            <a:spLocks noGrp="1"/>
          </p:cNvSpPr>
          <p:nvPr>
            <p:ph type="ftr" sz="quarter" idx="11"/>
          </p:nvPr>
        </p:nvSpPr>
        <p:spPr/>
        <p:txBody>
          <a:bodyPr/>
          <a:lstStyle/>
          <a:p>
            <a:r>
              <a:rPr lang="en-US" dirty="0"/>
              <a:t>Add a footer</a:t>
            </a:r>
          </a:p>
        </p:txBody>
      </p:sp>
      <p:sp>
        <p:nvSpPr>
          <p:cNvPr id="9" name="Slide Number Placeholder 8"/>
          <p:cNvSpPr>
            <a:spLocks noGrp="1"/>
          </p:cNvSpPr>
          <p:nvPr>
            <p:ph type="sldNum" sz="quarter" idx="12"/>
          </p:nvPr>
        </p:nvSpPr>
        <p:spPr/>
        <p:txBody>
          <a:bodyPr/>
          <a:lstStyle/>
          <a:p>
            <a:fld id="{0C8C4CCD-1362-4CC7-BA2D-0BEF6B3ABFE9}" type="slidenum">
              <a:rPr lang="en-US" smtClean="0"/>
              <a:t>‹#›</a:t>
            </a:fld>
            <a:endParaRPr lang="en-US" dirty="0"/>
          </a:p>
        </p:txBody>
      </p:sp>
    </p:spTree>
    <p:extLst>
      <p:ext uri="{BB962C8B-B14F-4D97-AF65-F5344CB8AC3E}">
        <p14:creationId xmlns:p14="http://schemas.microsoft.com/office/powerpoint/2010/main" val="19745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3DE2629-2643-4282-B551-C313A1A5CB47}" type="datetime1">
              <a:rPr lang="en-US" smtClean="0"/>
              <a:t>7/18/2023</a:t>
            </a:fld>
            <a:endParaRPr lang="en-US" dirty="0"/>
          </a:p>
        </p:txBody>
      </p:sp>
      <p:sp>
        <p:nvSpPr>
          <p:cNvPr id="4" name="Footer Placeholder 3"/>
          <p:cNvSpPr>
            <a:spLocks noGrp="1"/>
          </p:cNvSpPr>
          <p:nvPr>
            <p:ph type="ftr" sz="quarter" idx="11"/>
          </p:nvPr>
        </p:nvSpPr>
        <p:spPr/>
        <p:txBody>
          <a:bodyPr/>
          <a:lstStyle/>
          <a:p>
            <a:r>
              <a:rPr lang="en-US" dirty="0"/>
              <a:t>Add a footer</a:t>
            </a:r>
          </a:p>
        </p:txBody>
      </p:sp>
      <p:sp>
        <p:nvSpPr>
          <p:cNvPr id="5" name="Slide Number Placeholder 4"/>
          <p:cNvSpPr>
            <a:spLocks noGrp="1"/>
          </p:cNvSpPr>
          <p:nvPr>
            <p:ph type="sldNum" sz="quarter" idx="12"/>
          </p:nvPr>
        </p:nvSpPr>
        <p:spPr/>
        <p:txBody>
          <a:bodyPr/>
          <a:lstStyle/>
          <a:p>
            <a:fld id="{0C8C4CCD-1362-4CC7-BA2D-0BEF6B3ABFE9}" type="slidenum">
              <a:rPr lang="en-US" smtClean="0"/>
              <a:t>‹#›</a:t>
            </a:fld>
            <a:endParaRPr lang="en-US" dirty="0"/>
          </a:p>
        </p:txBody>
      </p:sp>
    </p:spTree>
    <p:extLst>
      <p:ext uri="{BB962C8B-B14F-4D97-AF65-F5344CB8AC3E}">
        <p14:creationId xmlns:p14="http://schemas.microsoft.com/office/powerpoint/2010/main" val="2558561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14F3166-4D45-4B53-A73F-65975D16FA63}" type="datetime1">
              <a:rPr lang="en-US" smtClean="0"/>
              <a:t>7/18/2023</a:t>
            </a:fld>
            <a:endParaRPr lang="en-US" dirty="0"/>
          </a:p>
        </p:txBody>
      </p:sp>
      <p:sp>
        <p:nvSpPr>
          <p:cNvPr id="3" name="Footer Placeholder 2"/>
          <p:cNvSpPr>
            <a:spLocks noGrp="1"/>
          </p:cNvSpPr>
          <p:nvPr>
            <p:ph type="ftr" sz="quarter" idx="11"/>
          </p:nvPr>
        </p:nvSpPr>
        <p:spPr/>
        <p:txBody>
          <a:bodyPr/>
          <a:lstStyle/>
          <a:p>
            <a:r>
              <a:rPr lang="en-US" dirty="0"/>
              <a:t>Add a footer</a:t>
            </a:r>
          </a:p>
        </p:txBody>
      </p:sp>
      <p:sp>
        <p:nvSpPr>
          <p:cNvPr id="4" name="Slide Number Placeholder 3"/>
          <p:cNvSpPr>
            <a:spLocks noGrp="1"/>
          </p:cNvSpPr>
          <p:nvPr>
            <p:ph type="sldNum" sz="quarter" idx="12"/>
          </p:nvPr>
        </p:nvSpPr>
        <p:spPr/>
        <p:txBody>
          <a:bodyPr/>
          <a:lstStyle/>
          <a:p>
            <a:fld id="{0C8C4CCD-1362-4CC7-BA2D-0BEF6B3ABFE9}" type="slidenum">
              <a:rPr lang="en-US" smtClean="0"/>
              <a:t>‹#›</a:t>
            </a:fld>
            <a:endParaRPr lang="en-US" dirty="0"/>
          </a:p>
        </p:txBody>
      </p:sp>
    </p:spTree>
    <p:extLst>
      <p:ext uri="{BB962C8B-B14F-4D97-AF65-F5344CB8AC3E}">
        <p14:creationId xmlns:p14="http://schemas.microsoft.com/office/powerpoint/2010/main" val="19062525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14478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1817649"/>
            <a:ext cx="6172200" cy="435562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8200" y="3133494"/>
            <a:ext cx="3932237" cy="3062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6352D02-A38F-4FD8-B546-865D9A4C524E}" type="datetime1">
              <a:rPr lang="en-US" smtClean="0"/>
              <a:t>7/18/2023</a:t>
            </a:fld>
            <a:endParaRPr lang="en-US" dirty="0"/>
          </a:p>
        </p:txBody>
      </p:sp>
      <p:sp>
        <p:nvSpPr>
          <p:cNvPr id="6" name="Footer Placeholder 5"/>
          <p:cNvSpPr>
            <a:spLocks noGrp="1"/>
          </p:cNvSpPr>
          <p:nvPr>
            <p:ph type="ftr" sz="quarter" idx="11"/>
          </p:nvPr>
        </p:nvSpPr>
        <p:spPr/>
        <p:txBody>
          <a:bodyPr/>
          <a:lstStyle/>
          <a:p>
            <a:r>
              <a:rPr lang="en-US" dirty="0"/>
              <a:t>Add a footer</a:t>
            </a:r>
          </a:p>
        </p:txBody>
      </p:sp>
      <p:sp>
        <p:nvSpPr>
          <p:cNvPr id="7" name="Slide Number Placeholder 6"/>
          <p:cNvSpPr>
            <a:spLocks noGrp="1"/>
          </p:cNvSpPr>
          <p:nvPr>
            <p:ph type="sldNum" sz="quarter" idx="12"/>
          </p:nvPr>
        </p:nvSpPr>
        <p:spPr/>
        <p:txBody>
          <a:bodyPr/>
          <a:lstStyle/>
          <a:p>
            <a:fld id="{0C8C4CCD-1362-4CC7-BA2D-0BEF6B3ABFE9}" type="slidenum">
              <a:rPr lang="en-US" smtClean="0"/>
              <a:t>‹#›</a:t>
            </a:fld>
            <a:endParaRPr lang="en-US" dirty="0"/>
          </a:p>
        </p:txBody>
      </p:sp>
    </p:spTree>
    <p:extLst>
      <p:ext uri="{BB962C8B-B14F-4D97-AF65-F5344CB8AC3E}">
        <p14:creationId xmlns:p14="http://schemas.microsoft.com/office/powerpoint/2010/main" val="175684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1447800"/>
            <a:ext cx="3932237" cy="1600200"/>
          </a:xfrm>
        </p:spPr>
        <p:txBody>
          <a:bodyPr anchor="b"/>
          <a:lstStyle>
            <a:lvl1pPr>
              <a:defRPr sz="3200"/>
            </a:lvl1pPr>
          </a:lstStyle>
          <a:p>
            <a:r>
              <a:rPr lang="en-US"/>
              <a:t>Click to edit Master title style</a:t>
            </a:r>
          </a:p>
        </p:txBody>
      </p:sp>
      <p:sp>
        <p:nvSpPr>
          <p:cNvPr id="3" name="Picture Placeholder 2" descr="An empty placeholder to add an image. Click on the placeholder and select the image that you wish to add"/>
          <p:cNvSpPr>
            <a:spLocks noGrp="1"/>
          </p:cNvSpPr>
          <p:nvPr>
            <p:ph type="pic" idx="1"/>
          </p:nvPr>
        </p:nvSpPr>
        <p:spPr>
          <a:xfrm>
            <a:off x="5183188" y="1447800"/>
            <a:ext cx="6172200" cy="4724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3133494"/>
            <a:ext cx="3932237" cy="303870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C9F6ACB-4D2C-42EB-A854-5E50BA0C8D66}" type="datetime1">
              <a:rPr lang="en-US" smtClean="0"/>
              <a:t>7/18/2023</a:t>
            </a:fld>
            <a:endParaRPr lang="en-US" dirty="0"/>
          </a:p>
        </p:txBody>
      </p:sp>
      <p:sp>
        <p:nvSpPr>
          <p:cNvPr id="6" name="Footer Placeholder 5"/>
          <p:cNvSpPr>
            <a:spLocks noGrp="1"/>
          </p:cNvSpPr>
          <p:nvPr>
            <p:ph type="ftr" sz="quarter" idx="11"/>
          </p:nvPr>
        </p:nvSpPr>
        <p:spPr/>
        <p:txBody>
          <a:bodyPr/>
          <a:lstStyle/>
          <a:p>
            <a:r>
              <a:rPr lang="en-US" dirty="0"/>
              <a:t>Add a footer</a:t>
            </a:r>
          </a:p>
        </p:txBody>
      </p:sp>
      <p:sp>
        <p:nvSpPr>
          <p:cNvPr id="7" name="Slide Number Placeholder 6"/>
          <p:cNvSpPr>
            <a:spLocks noGrp="1"/>
          </p:cNvSpPr>
          <p:nvPr>
            <p:ph type="sldNum" sz="quarter" idx="12"/>
          </p:nvPr>
        </p:nvSpPr>
        <p:spPr/>
        <p:txBody>
          <a:bodyPr/>
          <a:lstStyle/>
          <a:p>
            <a:fld id="{0C8C4CCD-1362-4CC7-BA2D-0BEF6B3ABFE9}" type="slidenum">
              <a:rPr lang="en-US" smtClean="0"/>
              <a:t>‹#›</a:t>
            </a:fld>
            <a:endParaRPr lang="en-US" dirty="0"/>
          </a:p>
        </p:txBody>
      </p:sp>
    </p:spTree>
    <p:extLst>
      <p:ext uri="{BB962C8B-B14F-4D97-AF65-F5344CB8AC3E}">
        <p14:creationId xmlns:p14="http://schemas.microsoft.com/office/powerpoint/2010/main" val="4106337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838200" y="2933700"/>
            <a:ext cx="10515600" cy="32218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02B7ED9-13D6-4B6F-AC9B-7B16F2041300}" type="datetime1">
              <a:rPr lang="en-US" smtClean="0"/>
              <a:t>7/18/2023</a:t>
            </a:fld>
            <a:endParaRPr lang="en-US" dirty="0"/>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0C8C4CCD-1362-4CC7-BA2D-0BEF6B3ABFE9}" type="slidenum">
              <a:rPr lang="en-US" smtClean="0"/>
              <a:t>‹#›</a:t>
            </a:fld>
            <a:endParaRPr lang="en-US" dirty="0"/>
          </a:p>
        </p:txBody>
      </p:sp>
    </p:spTree>
    <p:extLst>
      <p:ext uri="{BB962C8B-B14F-4D97-AF65-F5344CB8AC3E}">
        <p14:creationId xmlns:p14="http://schemas.microsoft.com/office/powerpoint/2010/main" val="1650951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1447799"/>
            <a:ext cx="2628900" cy="47291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1447799"/>
            <a:ext cx="7734300" cy="47291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3F3FFDD-E5CB-4FDE-AFF7-B386C5FC3AA5}" type="datetime1">
              <a:rPr lang="en-US" smtClean="0"/>
              <a:t>7/18/2023</a:t>
            </a:fld>
            <a:endParaRPr lang="en-US" dirty="0"/>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0C8C4CCD-1362-4CC7-BA2D-0BEF6B3ABFE9}" type="slidenum">
              <a:rPr lang="en-US" smtClean="0"/>
              <a:t>‹#›</a:t>
            </a:fld>
            <a:endParaRPr lang="en-US" dirty="0"/>
          </a:p>
        </p:txBody>
      </p:sp>
    </p:spTree>
    <p:extLst>
      <p:ext uri="{BB962C8B-B14F-4D97-AF65-F5344CB8AC3E}">
        <p14:creationId xmlns:p14="http://schemas.microsoft.com/office/powerpoint/2010/main" val="259332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7964CB-E75A-4A03-88D3-6A48EF650A09}"/>
              </a:ext>
            </a:extLst>
          </p:cNvPr>
          <p:cNvSpPr>
            <a:spLocks noGrp="1"/>
          </p:cNvSpPr>
          <p:nvPr>
            <p:ph type="title" hasCustomPrompt="1"/>
          </p:nvPr>
        </p:nvSpPr>
        <p:spPr>
          <a:xfrm>
            <a:off x="5442012" y="2766219"/>
            <a:ext cx="6220101" cy="1325563"/>
          </a:xfrm>
          <a:prstGeom prst="rect">
            <a:avLst/>
          </a:prstGeom>
        </p:spPr>
        <p:txBody>
          <a:bodyPr/>
          <a:lstStyle>
            <a:lvl1pPr>
              <a:defRPr b="1"/>
            </a:lvl1pPr>
          </a:lstStyle>
          <a:p>
            <a:r>
              <a:rPr lang="en-US" dirty="0"/>
              <a:t>Insert title here</a:t>
            </a:r>
          </a:p>
        </p:txBody>
      </p:sp>
      <p:pic>
        <p:nvPicPr>
          <p:cNvPr id="6" name="Picture Placeholder 9" descr="Bright, colorful geometric pattern ">
            <a:extLst>
              <a:ext uri="{FF2B5EF4-FFF2-40B4-BE49-F238E27FC236}">
                <a16:creationId xmlns:a16="http://schemas.microsoft.com/office/drawing/2014/main" id="{47BA4775-9232-44C1-8851-04B6753110FE}"/>
              </a:ext>
            </a:extLst>
          </p:cNvPr>
          <p:cNvPicPr>
            <a:picLocks noChangeAspect="1"/>
          </p:cNvPicPr>
          <p:nvPr userDrawn="1"/>
        </p:nvPicPr>
        <p:blipFill rotWithShape="1">
          <a:blip r:embed="rId2"/>
          <a:srcRect l="24" r="24"/>
          <a:stretch/>
        </p:blipFill>
        <p:spPr>
          <a:xfrm>
            <a:off x="-9236" y="0"/>
            <a:ext cx="4749282" cy="6858000"/>
          </a:xfrm>
          <a:prstGeom prst="rect">
            <a:avLst/>
          </a:prstGeom>
        </p:spPr>
      </p:pic>
      <p:sp>
        <p:nvSpPr>
          <p:cNvPr id="2" name="Footer Placeholder 1">
            <a:extLst>
              <a:ext uri="{FF2B5EF4-FFF2-40B4-BE49-F238E27FC236}">
                <a16:creationId xmlns:a16="http://schemas.microsoft.com/office/drawing/2014/main" id="{442F73D7-5F4E-98D1-9F23-91ED85978FBD}"/>
              </a:ext>
            </a:extLst>
          </p:cNvPr>
          <p:cNvSpPr>
            <a:spLocks noGrp="1"/>
          </p:cNvSpPr>
          <p:nvPr>
            <p:ph type="ftr" sz="quarter" idx="10"/>
          </p:nvPr>
        </p:nvSpPr>
        <p:spPr/>
        <p:txBody>
          <a:bodyPr/>
          <a:lstStyle/>
          <a:p>
            <a:endParaRPr lang="en-US"/>
          </a:p>
        </p:txBody>
      </p:sp>
      <p:sp>
        <p:nvSpPr>
          <p:cNvPr id="3" name="Slide Number Placeholder 2">
            <a:extLst>
              <a:ext uri="{FF2B5EF4-FFF2-40B4-BE49-F238E27FC236}">
                <a16:creationId xmlns:a16="http://schemas.microsoft.com/office/drawing/2014/main" id="{02565EF2-1781-DC42-090F-2AA1618AADFB}"/>
              </a:ext>
            </a:extLst>
          </p:cNvPr>
          <p:cNvSpPr>
            <a:spLocks noGrp="1"/>
          </p:cNvSpPr>
          <p:nvPr>
            <p:ph type="sldNum" sz="quarter" idx="11"/>
          </p:nvPr>
        </p:nvSpPr>
        <p:spPr>
          <a:xfrm>
            <a:off x="9458036" y="6480889"/>
            <a:ext cx="2743200" cy="365125"/>
          </a:xfrm>
        </p:spPr>
        <p:txBody>
          <a:bodyPr/>
          <a:lstStyle>
            <a:lvl1pPr>
              <a:defRPr>
                <a:solidFill>
                  <a:srgbClr val="959494"/>
                </a:solidFill>
              </a:defRPr>
            </a:lvl1pPr>
          </a:lstStyle>
          <a:p>
            <a:fld id="{684F1F11-30B2-407E-BCBC-892E66203F82}" type="slidenum">
              <a:rPr lang="en-US" smtClean="0"/>
              <a:pPr/>
              <a:t>‹#›</a:t>
            </a:fld>
            <a:endParaRPr lang="en-US"/>
          </a:p>
        </p:txBody>
      </p:sp>
    </p:spTree>
    <p:extLst>
      <p:ext uri="{BB962C8B-B14F-4D97-AF65-F5344CB8AC3E}">
        <p14:creationId xmlns:p14="http://schemas.microsoft.com/office/powerpoint/2010/main" val="46301090"/>
      </p:ext>
    </p:extLst>
  </p:cSld>
  <p:clrMapOvr>
    <a:masterClrMapping/>
  </p:clrMapOvr>
  <p:extLst>
    <p:ext uri="{DCECCB84-F9BA-43D5-87BE-67443E8EF086}">
      <p15:sldGuideLst xmlns:p15="http://schemas.microsoft.com/office/powerpoint/2012/main">
        <p15:guide id="1" pos="2808">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Right Patter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87E8F-5716-4A71-B64F-EC5A742B45D2}"/>
              </a:ext>
            </a:extLst>
          </p:cNvPr>
          <p:cNvSpPr>
            <a:spLocks noGrp="1"/>
          </p:cNvSpPr>
          <p:nvPr>
            <p:ph type="title" hasCustomPrompt="1"/>
          </p:nvPr>
        </p:nvSpPr>
        <p:spPr>
          <a:xfrm>
            <a:off x="762000" y="715961"/>
            <a:ext cx="6477000" cy="1189038"/>
          </a:xfrm>
          <a:prstGeom prst="rect">
            <a:avLst/>
          </a:prstGeom>
        </p:spPr>
        <p:txBody>
          <a:bodyPr anchor="t">
            <a:noAutofit/>
          </a:bodyPr>
          <a:lstStyle>
            <a:lvl1pPr>
              <a:spcBef>
                <a:spcPts val="1000"/>
              </a:spcBef>
              <a:defRPr sz="4000" b="1">
                <a:solidFill>
                  <a:schemeClr val="bg2"/>
                </a:solidFill>
              </a:defRPr>
            </a:lvl1pPr>
          </a:lstStyle>
          <a:p>
            <a:r>
              <a:rPr lang="en-US" dirty="0"/>
              <a:t>Insert title here</a:t>
            </a:r>
          </a:p>
        </p:txBody>
      </p:sp>
      <p:sp>
        <p:nvSpPr>
          <p:cNvPr id="12" name="Text Placeholder 15">
            <a:extLst>
              <a:ext uri="{FF2B5EF4-FFF2-40B4-BE49-F238E27FC236}">
                <a16:creationId xmlns:a16="http://schemas.microsoft.com/office/drawing/2014/main" id="{E8DBED36-2461-46D0-AF71-79E0064B3758}"/>
              </a:ext>
            </a:extLst>
          </p:cNvPr>
          <p:cNvSpPr>
            <a:spLocks noGrp="1"/>
          </p:cNvSpPr>
          <p:nvPr>
            <p:ph type="body" sz="quarter" idx="11" hasCustomPrompt="1"/>
          </p:nvPr>
        </p:nvSpPr>
        <p:spPr>
          <a:xfrm>
            <a:off x="762000" y="1905000"/>
            <a:ext cx="6477000" cy="3276600"/>
          </a:xfrm>
          <a:prstGeom prst="rect">
            <a:avLst/>
          </a:prstGeom>
        </p:spPr>
        <p:txBody>
          <a:bodyPr/>
          <a:lstStyle>
            <a:lvl1pPr marL="0" indent="0">
              <a:lnSpc>
                <a:spcPct val="100000"/>
              </a:lnSpc>
              <a:buNone/>
              <a:defRPr sz="1800" b="1">
                <a:solidFill>
                  <a:schemeClr val="bg1"/>
                </a:solidFill>
              </a:defRPr>
            </a:lvl1pPr>
            <a:lvl2pPr marL="228600">
              <a:lnSpc>
                <a:spcPct val="100000"/>
              </a:lnSpc>
              <a:spcBef>
                <a:spcPts val="1000"/>
              </a:spcBef>
              <a:defRPr sz="1800">
                <a:solidFill>
                  <a:schemeClr val="bg1"/>
                </a:solidFill>
              </a:defRPr>
            </a:lvl2pPr>
          </a:lstStyle>
          <a:p>
            <a:pPr lvl="0"/>
            <a:r>
              <a:rPr lang="en-US" dirty="0"/>
              <a:t>Insert subtitle here</a:t>
            </a:r>
          </a:p>
          <a:p>
            <a:pPr lvl="1"/>
            <a:r>
              <a:rPr lang="en-US" dirty="0"/>
              <a:t>Insert content here</a:t>
            </a:r>
          </a:p>
        </p:txBody>
      </p:sp>
      <p:pic>
        <p:nvPicPr>
          <p:cNvPr id="6" name="Picture Placeholder 15" descr="Bright, colorful geometric pattern ">
            <a:extLst>
              <a:ext uri="{FF2B5EF4-FFF2-40B4-BE49-F238E27FC236}">
                <a16:creationId xmlns:a16="http://schemas.microsoft.com/office/drawing/2014/main" id="{D7C393D9-3916-4D61-9B6A-E1B16C079A2A}"/>
              </a:ext>
            </a:extLst>
          </p:cNvPr>
          <p:cNvPicPr>
            <a:picLocks noChangeAspect="1"/>
          </p:cNvPicPr>
          <p:nvPr userDrawn="1"/>
        </p:nvPicPr>
        <p:blipFill rotWithShape="1">
          <a:blip r:embed="rId2"/>
          <a:srcRect l="3" r="3"/>
          <a:stretch/>
        </p:blipFill>
        <p:spPr>
          <a:xfrm>
            <a:off x="7427913" y="0"/>
            <a:ext cx="4764087" cy="6858000"/>
          </a:xfrm>
          <a:prstGeom prst="rect">
            <a:avLst/>
          </a:prstGeom>
        </p:spPr>
      </p:pic>
      <p:sp>
        <p:nvSpPr>
          <p:cNvPr id="3" name="Footer Placeholder 2">
            <a:extLst>
              <a:ext uri="{FF2B5EF4-FFF2-40B4-BE49-F238E27FC236}">
                <a16:creationId xmlns:a16="http://schemas.microsoft.com/office/drawing/2014/main" id="{944B62FA-927D-95E7-0BB1-D1809226F8F5}"/>
              </a:ext>
            </a:extLst>
          </p:cNvPr>
          <p:cNvSpPr>
            <a:spLocks noGrp="1"/>
          </p:cNvSpPr>
          <p:nvPr>
            <p:ph type="ftr" sz="quarter" idx="12"/>
          </p:nvPr>
        </p:nvSpPr>
        <p:spPr/>
        <p:txBody>
          <a:bodyPr/>
          <a:lstStyle/>
          <a:p>
            <a:endParaRPr lang="en-US"/>
          </a:p>
        </p:txBody>
      </p:sp>
      <p:sp>
        <p:nvSpPr>
          <p:cNvPr id="4" name="Slide Number Placeholder 3">
            <a:extLst>
              <a:ext uri="{FF2B5EF4-FFF2-40B4-BE49-F238E27FC236}">
                <a16:creationId xmlns:a16="http://schemas.microsoft.com/office/drawing/2014/main" id="{DE67D92F-A76B-E27B-546B-3B94F919FF95}"/>
              </a:ext>
            </a:extLst>
          </p:cNvPr>
          <p:cNvSpPr>
            <a:spLocks noGrp="1"/>
          </p:cNvSpPr>
          <p:nvPr>
            <p:ph type="sldNum" sz="quarter" idx="13"/>
          </p:nvPr>
        </p:nvSpPr>
        <p:spPr>
          <a:xfrm>
            <a:off x="9448800" y="6486300"/>
            <a:ext cx="2743200" cy="365125"/>
          </a:xfrm>
        </p:spPr>
        <p:txBody>
          <a:bodyPr/>
          <a:lstStyle/>
          <a:p>
            <a:fld id="{684F1F11-30B2-407E-BCBC-892E66203F82}" type="slidenum">
              <a:rPr lang="en-US" smtClean="0"/>
              <a:t>‹#›</a:t>
            </a:fld>
            <a:endParaRPr lang="en-US"/>
          </a:p>
        </p:txBody>
      </p:sp>
      <p:pic>
        <p:nvPicPr>
          <p:cNvPr id="8" name="Picture 7">
            <a:extLst>
              <a:ext uri="{FF2B5EF4-FFF2-40B4-BE49-F238E27FC236}">
                <a16:creationId xmlns:a16="http://schemas.microsoft.com/office/drawing/2014/main" id="{2760415C-4D0B-88F1-B9D2-7357362EE19D}"/>
              </a:ext>
            </a:extLst>
          </p:cNvPr>
          <p:cNvPicPr>
            <a:picLocks noChangeAspect="1"/>
          </p:cNvPicPr>
          <p:nvPr userDrawn="1"/>
        </p:nvPicPr>
        <p:blipFill>
          <a:blip r:embed="rId3"/>
          <a:stretch>
            <a:fillRect/>
          </a:stretch>
        </p:blipFill>
        <p:spPr>
          <a:xfrm>
            <a:off x="9436947" y="6615109"/>
            <a:ext cx="2148840" cy="91440"/>
          </a:xfrm>
          <a:prstGeom prst="rect">
            <a:avLst/>
          </a:prstGeom>
        </p:spPr>
      </p:pic>
    </p:spTree>
    <p:extLst>
      <p:ext uri="{BB962C8B-B14F-4D97-AF65-F5344CB8AC3E}">
        <p14:creationId xmlns:p14="http://schemas.microsoft.com/office/powerpoint/2010/main" val="1603246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2240">
          <p15:clr>
            <a:srgbClr val="5ACBF0"/>
          </p15:clr>
        </p15:guide>
        <p15:guide id="4" orient="horz" pos="2487">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Overview">
    <p:bg>
      <p:bgPr>
        <a:solidFill>
          <a:schemeClr val="accent5"/>
        </a:solidFill>
        <a:effectLst/>
      </p:bgPr>
    </p:bg>
    <p:spTree>
      <p:nvGrpSpPr>
        <p:cNvPr id="1" name=""/>
        <p:cNvGrpSpPr/>
        <p:nvPr/>
      </p:nvGrpSpPr>
      <p:grpSpPr>
        <a:xfrm>
          <a:off x="0" y="0"/>
          <a:ext cx="0" cy="0"/>
          <a:chOff x="0" y="0"/>
          <a:chExt cx="0" cy="0"/>
        </a:xfrm>
      </p:grpSpPr>
      <p:pic>
        <p:nvPicPr>
          <p:cNvPr id="8" name="Picture Placeholder 9" descr="Bright, colorful geometric pattern ">
            <a:extLst>
              <a:ext uri="{FF2B5EF4-FFF2-40B4-BE49-F238E27FC236}">
                <a16:creationId xmlns:a16="http://schemas.microsoft.com/office/drawing/2014/main" id="{69F80BBC-9ED9-4167-818A-EB3FAEE372FA}"/>
              </a:ext>
            </a:extLst>
          </p:cNvPr>
          <p:cNvPicPr>
            <a:picLocks noChangeAspect="1"/>
          </p:cNvPicPr>
          <p:nvPr userDrawn="1"/>
        </p:nvPicPr>
        <p:blipFill rotWithShape="1">
          <a:blip r:embed="rId2"/>
          <a:srcRect/>
          <a:stretch/>
        </p:blipFill>
        <p:spPr>
          <a:xfrm>
            <a:off x="0" y="0"/>
            <a:ext cx="12192000" cy="6858000"/>
          </a:xfrm>
          <a:prstGeom prst="rect">
            <a:avLst/>
          </a:prstGeom>
        </p:spPr>
      </p:pic>
      <p:sp>
        <p:nvSpPr>
          <p:cNvPr id="5" name="Title 1">
            <a:extLst>
              <a:ext uri="{FF2B5EF4-FFF2-40B4-BE49-F238E27FC236}">
                <a16:creationId xmlns:a16="http://schemas.microsoft.com/office/drawing/2014/main" id="{3D9303A2-B30A-054C-B809-053B909E125F}"/>
              </a:ext>
            </a:extLst>
          </p:cNvPr>
          <p:cNvSpPr>
            <a:spLocks noGrp="1"/>
          </p:cNvSpPr>
          <p:nvPr>
            <p:ph type="title" hasCustomPrompt="1"/>
          </p:nvPr>
        </p:nvSpPr>
        <p:spPr>
          <a:xfrm>
            <a:off x="1525301" y="1995467"/>
            <a:ext cx="9141397" cy="615553"/>
          </a:xfrm>
          <a:prstGeom prst="rect">
            <a:avLst/>
          </a:prstGeom>
          <a:noFill/>
        </p:spPr>
        <p:txBody>
          <a:bodyPr wrap="square" lIns="0" tIns="0" rIns="0" bIns="0" anchor="b" anchorCtr="0">
            <a:spAutoFit/>
          </a:bodyPr>
          <a:lstStyle>
            <a:lvl1pPr algn="ctr" defTabSz="932742" rtl="0" eaLnBrk="1" latinLnBrk="0" hangingPunct="1">
              <a:lnSpc>
                <a:spcPct val="100000"/>
              </a:lnSpc>
              <a:spcBef>
                <a:spcPct val="0"/>
              </a:spcBef>
              <a:buNone/>
              <a:defRPr lang="en-US" sz="4000" b="1" i="0" kern="1200" cap="none" spc="-50" baseline="0" dirty="0">
                <a:ln w="3175">
                  <a:noFill/>
                </a:ln>
                <a:solidFill>
                  <a:schemeClr val="tx1"/>
                </a:solidFill>
                <a:effectLst/>
                <a:latin typeface="+mj-lt"/>
                <a:ea typeface="+mn-ea"/>
                <a:cs typeface="Segoe UI" pitchFamily="34" charset="0"/>
              </a:defRPr>
            </a:lvl1pPr>
          </a:lstStyle>
          <a:p>
            <a:r>
              <a:rPr lang="en-US" dirty="0"/>
              <a:t>Insert title here</a:t>
            </a:r>
          </a:p>
        </p:txBody>
      </p:sp>
      <p:sp>
        <p:nvSpPr>
          <p:cNvPr id="6" name="Text Placeholder 4">
            <a:extLst>
              <a:ext uri="{FF2B5EF4-FFF2-40B4-BE49-F238E27FC236}">
                <a16:creationId xmlns:a16="http://schemas.microsoft.com/office/drawing/2014/main" id="{10F58DD1-3970-D84D-8040-EF33B0971D59}"/>
              </a:ext>
            </a:extLst>
          </p:cNvPr>
          <p:cNvSpPr>
            <a:spLocks noGrp="1"/>
          </p:cNvSpPr>
          <p:nvPr>
            <p:ph type="body" sz="quarter" idx="12" hasCustomPrompt="1"/>
          </p:nvPr>
        </p:nvSpPr>
        <p:spPr>
          <a:xfrm>
            <a:off x="2196307" y="3260705"/>
            <a:ext cx="7799387" cy="1534757"/>
          </a:xfrm>
          <a:prstGeom prst="rect">
            <a:avLst/>
          </a:prstGeom>
          <a:noFill/>
        </p:spPr>
        <p:txBody>
          <a:bodyPr wrap="square" lIns="0" tIns="0" rIns="0" bIns="0">
            <a:noAutofit/>
          </a:bodyPr>
          <a:lstStyle>
            <a:lvl1pPr marL="0" indent="0" algn="ctr">
              <a:lnSpc>
                <a:spcPct val="100000"/>
              </a:lnSpc>
              <a:spcBef>
                <a:spcPts val="0"/>
              </a:spcBef>
              <a:spcAft>
                <a:spcPts val="0"/>
              </a:spcAft>
              <a:buFont typeface="Arial" panose="020B0604020202020204" pitchFamily="34" charset="0"/>
              <a:buNone/>
              <a:defRPr lang="en-US" sz="1800" kern="1200" dirty="0">
                <a:solidFill>
                  <a:schemeClr val="tx1"/>
                </a:solidFill>
                <a:latin typeface="+mn-lt"/>
                <a:ea typeface="+mn-ea"/>
                <a:cs typeface="+mn-cs"/>
              </a:defRPr>
            </a:lvl1pPr>
          </a:lstStyle>
          <a:p>
            <a:pPr lvl="0"/>
            <a:r>
              <a:rPr lang="en-US" dirty="0"/>
              <a:t>Insert content here</a:t>
            </a:r>
          </a:p>
        </p:txBody>
      </p:sp>
      <p:sp>
        <p:nvSpPr>
          <p:cNvPr id="2" name="Footer Placeholder 1">
            <a:extLst>
              <a:ext uri="{FF2B5EF4-FFF2-40B4-BE49-F238E27FC236}">
                <a16:creationId xmlns:a16="http://schemas.microsoft.com/office/drawing/2014/main" id="{5D280230-8565-51D7-3296-D86169AFD763}"/>
              </a:ext>
            </a:extLst>
          </p:cNvPr>
          <p:cNvSpPr>
            <a:spLocks noGrp="1"/>
          </p:cNvSpPr>
          <p:nvPr>
            <p:ph type="ftr" sz="quarter" idx="13"/>
          </p:nvPr>
        </p:nvSpPr>
        <p:spPr/>
        <p:txBody>
          <a:bodyPr/>
          <a:lstStyle/>
          <a:p>
            <a:endParaRPr lang="en-US"/>
          </a:p>
        </p:txBody>
      </p:sp>
      <p:sp>
        <p:nvSpPr>
          <p:cNvPr id="3" name="Slide Number Placeholder 2">
            <a:extLst>
              <a:ext uri="{FF2B5EF4-FFF2-40B4-BE49-F238E27FC236}">
                <a16:creationId xmlns:a16="http://schemas.microsoft.com/office/drawing/2014/main" id="{BE6EE7F5-C8FA-C360-6D18-511816FA53D0}"/>
              </a:ext>
            </a:extLst>
          </p:cNvPr>
          <p:cNvSpPr>
            <a:spLocks noGrp="1"/>
          </p:cNvSpPr>
          <p:nvPr>
            <p:ph type="sldNum" sz="quarter" idx="14"/>
          </p:nvPr>
        </p:nvSpPr>
        <p:spPr>
          <a:xfrm>
            <a:off x="9448800" y="6491710"/>
            <a:ext cx="2743200" cy="365125"/>
          </a:xfrm>
        </p:spPr>
        <p:txBody>
          <a:bodyPr/>
          <a:lstStyle/>
          <a:p>
            <a:fld id="{684F1F11-30B2-407E-BCBC-892E66203F82}" type="slidenum">
              <a:rPr lang="en-US" smtClean="0"/>
              <a:t>‹#›</a:t>
            </a:fld>
            <a:endParaRPr lang="en-US"/>
          </a:p>
        </p:txBody>
      </p:sp>
    </p:spTree>
    <p:extLst>
      <p:ext uri="{BB962C8B-B14F-4D97-AF65-F5344CB8AC3E}">
        <p14:creationId xmlns:p14="http://schemas.microsoft.com/office/powerpoint/2010/main" val="1386645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2243">
          <p15:clr>
            <a:srgbClr val="5ACBF0"/>
          </p15:clr>
        </p15:guide>
        <p15:guide id="4" orient="horz" pos="2488">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13624-9AD4-4B61-B3D1-7B21213507C0}"/>
              </a:ext>
            </a:extLst>
          </p:cNvPr>
          <p:cNvSpPr>
            <a:spLocks noGrp="1"/>
          </p:cNvSpPr>
          <p:nvPr>
            <p:ph type="title" hasCustomPrompt="1"/>
          </p:nvPr>
        </p:nvSpPr>
        <p:spPr>
          <a:xfrm>
            <a:off x="762000" y="715964"/>
            <a:ext cx="10591800" cy="646332"/>
          </a:xfrm>
          <a:prstGeom prst="rect">
            <a:avLst/>
          </a:prstGeom>
        </p:spPr>
        <p:txBody>
          <a:bodyPr>
            <a:noAutofit/>
          </a:bodyPr>
          <a:lstStyle>
            <a:lvl1pPr>
              <a:spcBef>
                <a:spcPts val="1000"/>
              </a:spcBef>
              <a:defRPr sz="4000" b="1">
                <a:solidFill>
                  <a:schemeClr val="accent5"/>
                </a:solidFill>
              </a:defRPr>
            </a:lvl1pPr>
          </a:lstStyle>
          <a:p>
            <a:r>
              <a:rPr lang="en-US" dirty="0"/>
              <a:t>Insert title here</a:t>
            </a:r>
          </a:p>
        </p:txBody>
      </p:sp>
      <p:sp>
        <p:nvSpPr>
          <p:cNvPr id="10" name="Text Placeholder 15">
            <a:extLst>
              <a:ext uri="{FF2B5EF4-FFF2-40B4-BE49-F238E27FC236}">
                <a16:creationId xmlns:a16="http://schemas.microsoft.com/office/drawing/2014/main" id="{780F473D-F2DF-4163-AB6E-F7327F60EC4A}"/>
              </a:ext>
            </a:extLst>
          </p:cNvPr>
          <p:cNvSpPr>
            <a:spLocks noGrp="1"/>
          </p:cNvSpPr>
          <p:nvPr>
            <p:ph type="body" sz="quarter" idx="11" hasCustomPrompt="1"/>
          </p:nvPr>
        </p:nvSpPr>
        <p:spPr>
          <a:xfrm>
            <a:off x="762000" y="1432562"/>
            <a:ext cx="10667999" cy="1158237"/>
          </a:xfrm>
          <a:prstGeom prst="rect">
            <a:avLst/>
          </a:prstGeom>
        </p:spPr>
        <p:txBody>
          <a:bodyPr/>
          <a:lstStyle>
            <a:lvl1pPr marL="0" indent="0">
              <a:lnSpc>
                <a:spcPct val="100000"/>
              </a:lnSpc>
              <a:buNone/>
              <a:defRPr sz="1800" b="0">
                <a:solidFill>
                  <a:schemeClr val="bg1"/>
                </a:solidFill>
              </a:defRPr>
            </a:lvl1pPr>
            <a:lvl2pPr marL="228600">
              <a:lnSpc>
                <a:spcPct val="100000"/>
              </a:lnSpc>
              <a:spcBef>
                <a:spcPts val="1000"/>
              </a:spcBef>
              <a:defRPr sz="1800" b="0">
                <a:solidFill>
                  <a:schemeClr val="bg1"/>
                </a:solidFill>
              </a:defRPr>
            </a:lvl2pPr>
          </a:lstStyle>
          <a:p>
            <a:pPr lvl="0"/>
            <a:r>
              <a:rPr lang="en-US" dirty="0"/>
              <a:t>Insert subtitle here</a:t>
            </a:r>
          </a:p>
          <a:p>
            <a:pPr lvl="1"/>
            <a:r>
              <a:rPr lang="en-US" dirty="0"/>
              <a:t>Insert content here</a:t>
            </a:r>
          </a:p>
        </p:txBody>
      </p:sp>
      <p:sp>
        <p:nvSpPr>
          <p:cNvPr id="11" name="Table Placeholder 10">
            <a:extLst>
              <a:ext uri="{FF2B5EF4-FFF2-40B4-BE49-F238E27FC236}">
                <a16:creationId xmlns:a16="http://schemas.microsoft.com/office/drawing/2014/main" id="{7DC18506-6205-438F-AA5C-D337F9975FC3}"/>
              </a:ext>
            </a:extLst>
          </p:cNvPr>
          <p:cNvSpPr>
            <a:spLocks noGrp="1"/>
          </p:cNvSpPr>
          <p:nvPr>
            <p:ph type="tbl" sz="quarter" idx="12" hasCustomPrompt="1"/>
          </p:nvPr>
        </p:nvSpPr>
        <p:spPr>
          <a:xfrm>
            <a:off x="757381" y="2591662"/>
            <a:ext cx="10667999" cy="2833776"/>
          </a:xfrm>
          <a:prstGeom prst="rect">
            <a:avLst/>
          </a:prstGeom>
        </p:spPr>
        <p:txBody>
          <a:bodyPr/>
          <a:lstStyle>
            <a:lvl1pPr marL="0" indent="0">
              <a:buNone/>
              <a:defRPr sz="1800" b="0"/>
            </a:lvl1pPr>
          </a:lstStyle>
          <a:p>
            <a:r>
              <a:rPr lang="en-US" dirty="0"/>
              <a:t>Insert content here</a:t>
            </a:r>
          </a:p>
        </p:txBody>
      </p:sp>
      <p:pic>
        <p:nvPicPr>
          <p:cNvPr id="7" name="Picture Placeholder 20" descr="Bright, colorful geometric pattern ">
            <a:extLst>
              <a:ext uri="{FF2B5EF4-FFF2-40B4-BE49-F238E27FC236}">
                <a16:creationId xmlns:a16="http://schemas.microsoft.com/office/drawing/2014/main" id="{EB4660F5-5357-48E0-B5C6-3DECB6CB859E}"/>
              </a:ext>
            </a:extLst>
          </p:cNvPr>
          <p:cNvPicPr>
            <a:picLocks noChangeAspect="1"/>
          </p:cNvPicPr>
          <p:nvPr userDrawn="1"/>
        </p:nvPicPr>
        <p:blipFill rotWithShape="1">
          <a:blip r:embed="rId2"/>
          <a:srcRect t="193" b="193"/>
          <a:stretch/>
        </p:blipFill>
        <p:spPr>
          <a:xfrm>
            <a:off x="0" y="5990252"/>
            <a:ext cx="12192000" cy="867748"/>
          </a:xfrm>
          <a:prstGeom prst="rect">
            <a:avLst/>
          </a:prstGeom>
        </p:spPr>
      </p:pic>
      <p:sp>
        <p:nvSpPr>
          <p:cNvPr id="3" name="Footer Placeholder 2">
            <a:extLst>
              <a:ext uri="{FF2B5EF4-FFF2-40B4-BE49-F238E27FC236}">
                <a16:creationId xmlns:a16="http://schemas.microsoft.com/office/drawing/2014/main" id="{9E047C4B-69C5-1A1C-14E2-99054F8233AC}"/>
              </a:ext>
            </a:extLst>
          </p:cNvPr>
          <p:cNvSpPr>
            <a:spLocks noGrp="1"/>
          </p:cNvSpPr>
          <p:nvPr>
            <p:ph type="ftr" sz="quarter" idx="13"/>
          </p:nvPr>
        </p:nvSpPr>
        <p:spPr/>
        <p:txBody>
          <a:bodyPr/>
          <a:lstStyle/>
          <a:p>
            <a:endParaRPr lang="en-US"/>
          </a:p>
        </p:txBody>
      </p:sp>
      <p:sp>
        <p:nvSpPr>
          <p:cNvPr id="4" name="Slide Number Placeholder 3">
            <a:extLst>
              <a:ext uri="{FF2B5EF4-FFF2-40B4-BE49-F238E27FC236}">
                <a16:creationId xmlns:a16="http://schemas.microsoft.com/office/drawing/2014/main" id="{93B9D69C-338F-0DFB-4D62-D605B279BEF0}"/>
              </a:ext>
            </a:extLst>
          </p:cNvPr>
          <p:cNvSpPr>
            <a:spLocks noGrp="1"/>
          </p:cNvSpPr>
          <p:nvPr>
            <p:ph type="sldNum" sz="quarter" idx="14"/>
          </p:nvPr>
        </p:nvSpPr>
        <p:spPr>
          <a:xfrm>
            <a:off x="9448800" y="6492875"/>
            <a:ext cx="2743200" cy="365125"/>
          </a:xfrm>
        </p:spPr>
        <p:txBody>
          <a:bodyPr/>
          <a:lstStyle/>
          <a:p>
            <a:fld id="{684F1F11-30B2-407E-BCBC-892E66203F82}" type="slidenum">
              <a:rPr lang="en-US" smtClean="0"/>
              <a:t>‹#›</a:t>
            </a:fld>
            <a:endParaRPr lang="en-US" dirty="0"/>
          </a:p>
        </p:txBody>
      </p:sp>
      <p:pic>
        <p:nvPicPr>
          <p:cNvPr id="5" name="Picture 4">
            <a:extLst>
              <a:ext uri="{FF2B5EF4-FFF2-40B4-BE49-F238E27FC236}">
                <a16:creationId xmlns:a16="http://schemas.microsoft.com/office/drawing/2014/main" id="{CC8B54A3-411D-698A-40B9-61904F10606C}"/>
              </a:ext>
            </a:extLst>
          </p:cNvPr>
          <p:cNvPicPr>
            <a:picLocks noChangeAspect="1"/>
          </p:cNvPicPr>
          <p:nvPr userDrawn="1"/>
        </p:nvPicPr>
        <p:blipFill>
          <a:blip r:embed="rId3"/>
          <a:stretch>
            <a:fillRect/>
          </a:stretch>
        </p:blipFill>
        <p:spPr>
          <a:xfrm>
            <a:off x="9436947" y="6615109"/>
            <a:ext cx="2148840" cy="91440"/>
          </a:xfrm>
          <a:prstGeom prst="rect">
            <a:avLst/>
          </a:prstGeom>
        </p:spPr>
      </p:pic>
    </p:spTree>
    <p:extLst>
      <p:ext uri="{BB962C8B-B14F-4D97-AF65-F5344CB8AC3E}">
        <p14:creationId xmlns:p14="http://schemas.microsoft.com/office/powerpoint/2010/main" val="398031051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Left Pattern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668F4E-0433-49FD-9D92-3B60E9B0AEE6}"/>
              </a:ext>
            </a:extLst>
          </p:cNvPr>
          <p:cNvSpPr>
            <a:spLocks noGrp="1"/>
          </p:cNvSpPr>
          <p:nvPr>
            <p:ph type="title" hasCustomPrompt="1"/>
          </p:nvPr>
        </p:nvSpPr>
        <p:spPr>
          <a:xfrm>
            <a:off x="5199742" y="715961"/>
            <a:ext cx="6477000" cy="1189037"/>
          </a:xfrm>
          <a:prstGeom prst="rect">
            <a:avLst/>
          </a:prstGeom>
        </p:spPr>
        <p:txBody>
          <a:bodyPr anchor="t">
            <a:normAutofit/>
          </a:bodyPr>
          <a:lstStyle>
            <a:lvl1pPr>
              <a:spcBef>
                <a:spcPts val="1000"/>
              </a:spcBef>
              <a:defRPr sz="4000" b="1" spc="-50" baseline="0">
                <a:solidFill>
                  <a:schemeClr val="accent1"/>
                </a:solidFill>
              </a:defRPr>
            </a:lvl1pPr>
          </a:lstStyle>
          <a:p>
            <a:r>
              <a:rPr lang="en-US" dirty="0"/>
              <a:t>Insert title here</a:t>
            </a:r>
          </a:p>
        </p:txBody>
      </p:sp>
      <p:sp>
        <p:nvSpPr>
          <p:cNvPr id="12" name="Text Placeholder 15">
            <a:extLst>
              <a:ext uri="{FF2B5EF4-FFF2-40B4-BE49-F238E27FC236}">
                <a16:creationId xmlns:a16="http://schemas.microsoft.com/office/drawing/2014/main" id="{E8DBED36-2461-46D0-AF71-79E0064B3758}"/>
              </a:ext>
            </a:extLst>
          </p:cNvPr>
          <p:cNvSpPr>
            <a:spLocks noGrp="1"/>
          </p:cNvSpPr>
          <p:nvPr>
            <p:ph type="body" sz="quarter" idx="11" hasCustomPrompt="1"/>
          </p:nvPr>
        </p:nvSpPr>
        <p:spPr>
          <a:xfrm>
            <a:off x="5199743" y="1905000"/>
            <a:ext cx="6477000" cy="3276600"/>
          </a:xfrm>
          <a:prstGeom prst="rect">
            <a:avLst/>
          </a:prstGeom>
        </p:spPr>
        <p:txBody>
          <a:bodyPr/>
          <a:lstStyle>
            <a:lvl1pPr marL="0" indent="0">
              <a:lnSpc>
                <a:spcPct val="100000"/>
              </a:lnSpc>
              <a:buNone/>
              <a:defRPr sz="1800" b="1">
                <a:solidFill>
                  <a:schemeClr val="bg1"/>
                </a:solidFill>
              </a:defRPr>
            </a:lvl1pPr>
            <a:lvl2pPr marL="228600" indent="-228600">
              <a:lnSpc>
                <a:spcPct val="100000"/>
              </a:lnSpc>
              <a:spcBef>
                <a:spcPts val="1000"/>
              </a:spcBef>
              <a:defRPr sz="1800">
                <a:solidFill>
                  <a:schemeClr val="bg1"/>
                </a:solidFill>
              </a:defRPr>
            </a:lvl2pPr>
          </a:lstStyle>
          <a:p>
            <a:pPr lvl="0"/>
            <a:r>
              <a:rPr lang="en-US" dirty="0"/>
              <a:t>Insert subtitle here</a:t>
            </a:r>
          </a:p>
          <a:p>
            <a:pPr lvl="1"/>
            <a:r>
              <a:rPr lang="en-US" dirty="0"/>
              <a:t>Insert content here</a:t>
            </a:r>
          </a:p>
        </p:txBody>
      </p:sp>
      <p:pic>
        <p:nvPicPr>
          <p:cNvPr id="6" name="Picture Placeholder 13" descr="Bright, colorful geometric pattern ">
            <a:extLst>
              <a:ext uri="{FF2B5EF4-FFF2-40B4-BE49-F238E27FC236}">
                <a16:creationId xmlns:a16="http://schemas.microsoft.com/office/drawing/2014/main" id="{2DB741D5-0593-4748-A4D3-EF1E436A1111}"/>
              </a:ext>
            </a:extLst>
          </p:cNvPr>
          <p:cNvPicPr>
            <a:picLocks noChangeAspect="1"/>
          </p:cNvPicPr>
          <p:nvPr userDrawn="1"/>
        </p:nvPicPr>
        <p:blipFill rotWithShape="1">
          <a:blip r:embed="rId2"/>
          <a:srcRect l="34" r="34"/>
          <a:stretch/>
        </p:blipFill>
        <p:spPr>
          <a:xfrm>
            <a:off x="0" y="0"/>
            <a:ext cx="4767943" cy="6858000"/>
          </a:xfrm>
          <a:prstGeom prst="rect">
            <a:avLst/>
          </a:prstGeom>
        </p:spPr>
      </p:pic>
      <p:sp>
        <p:nvSpPr>
          <p:cNvPr id="2" name="Footer Placeholder 1">
            <a:extLst>
              <a:ext uri="{FF2B5EF4-FFF2-40B4-BE49-F238E27FC236}">
                <a16:creationId xmlns:a16="http://schemas.microsoft.com/office/drawing/2014/main" id="{CAC11B58-E6E9-A711-30AA-2573F8C96D8B}"/>
              </a:ext>
            </a:extLst>
          </p:cNvPr>
          <p:cNvSpPr>
            <a:spLocks noGrp="1"/>
          </p:cNvSpPr>
          <p:nvPr>
            <p:ph type="ftr" sz="quarter" idx="12"/>
          </p:nvPr>
        </p:nvSpPr>
        <p:spPr/>
        <p:txBody>
          <a:bodyPr/>
          <a:lstStyle/>
          <a:p>
            <a:endParaRPr lang="en-US"/>
          </a:p>
        </p:txBody>
      </p:sp>
      <p:sp>
        <p:nvSpPr>
          <p:cNvPr id="4" name="Slide Number Placeholder 3">
            <a:extLst>
              <a:ext uri="{FF2B5EF4-FFF2-40B4-BE49-F238E27FC236}">
                <a16:creationId xmlns:a16="http://schemas.microsoft.com/office/drawing/2014/main" id="{DBB17EE2-1A32-CEAE-5E2A-EF4C172B789B}"/>
              </a:ext>
            </a:extLst>
          </p:cNvPr>
          <p:cNvSpPr>
            <a:spLocks noGrp="1"/>
          </p:cNvSpPr>
          <p:nvPr>
            <p:ph type="sldNum" sz="quarter" idx="13"/>
          </p:nvPr>
        </p:nvSpPr>
        <p:spPr>
          <a:xfrm>
            <a:off x="9448800" y="6492875"/>
            <a:ext cx="2743200" cy="365125"/>
          </a:xfrm>
        </p:spPr>
        <p:txBody>
          <a:bodyPr/>
          <a:lstStyle>
            <a:lvl1pPr>
              <a:defRPr>
                <a:solidFill>
                  <a:srgbClr val="959494"/>
                </a:solidFill>
              </a:defRPr>
            </a:lvl1pPr>
          </a:lstStyle>
          <a:p>
            <a:fld id="{684F1F11-30B2-407E-BCBC-892E66203F82}" type="slidenum">
              <a:rPr lang="en-US" smtClean="0"/>
              <a:pPr/>
              <a:t>‹#›</a:t>
            </a:fld>
            <a:endParaRPr lang="en-US"/>
          </a:p>
        </p:txBody>
      </p:sp>
    </p:spTree>
    <p:extLst>
      <p:ext uri="{BB962C8B-B14F-4D97-AF65-F5344CB8AC3E}">
        <p14:creationId xmlns:p14="http://schemas.microsoft.com/office/powerpoint/2010/main" val="572610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2808">
          <p15:clr>
            <a:srgbClr val="5ACBF0"/>
          </p15:clr>
        </p15:guide>
        <p15:guide id="3" orient="horz" pos="2240">
          <p15:clr>
            <a:srgbClr val="5ACBF0"/>
          </p15:clr>
        </p15:guide>
        <p15:guide id="4" orient="horz" pos="2487">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mart 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13624-9AD4-4B61-B3D1-7B21213507C0}"/>
              </a:ext>
            </a:extLst>
          </p:cNvPr>
          <p:cNvSpPr>
            <a:spLocks noGrp="1"/>
          </p:cNvSpPr>
          <p:nvPr>
            <p:ph type="title" hasCustomPrompt="1"/>
          </p:nvPr>
        </p:nvSpPr>
        <p:spPr>
          <a:xfrm>
            <a:off x="762000" y="715964"/>
            <a:ext cx="10591800" cy="646332"/>
          </a:xfrm>
          <a:prstGeom prst="rect">
            <a:avLst/>
          </a:prstGeom>
        </p:spPr>
        <p:txBody>
          <a:bodyPr>
            <a:noAutofit/>
          </a:bodyPr>
          <a:lstStyle>
            <a:lvl1pPr>
              <a:spcBef>
                <a:spcPts val="1000"/>
              </a:spcBef>
              <a:defRPr sz="4000" b="1">
                <a:solidFill>
                  <a:schemeClr val="accent6">
                    <a:lumMod val="60000"/>
                    <a:lumOff val="40000"/>
                  </a:schemeClr>
                </a:solidFill>
              </a:defRPr>
            </a:lvl1pPr>
          </a:lstStyle>
          <a:p>
            <a:r>
              <a:rPr lang="en-US" dirty="0"/>
              <a:t>Insert title here</a:t>
            </a:r>
          </a:p>
        </p:txBody>
      </p:sp>
      <p:sp>
        <p:nvSpPr>
          <p:cNvPr id="7" name="Text Placeholder 15">
            <a:extLst>
              <a:ext uri="{FF2B5EF4-FFF2-40B4-BE49-F238E27FC236}">
                <a16:creationId xmlns:a16="http://schemas.microsoft.com/office/drawing/2014/main" id="{DF03C311-DDF4-44A3-9D51-D5FDC4A8E7B5}"/>
              </a:ext>
            </a:extLst>
          </p:cNvPr>
          <p:cNvSpPr>
            <a:spLocks noGrp="1"/>
          </p:cNvSpPr>
          <p:nvPr>
            <p:ph type="body" sz="quarter" idx="11" hasCustomPrompt="1"/>
          </p:nvPr>
        </p:nvSpPr>
        <p:spPr>
          <a:xfrm>
            <a:off x="762000" y="1432562"/>
            <a:ext cx="10667999" cy="927425"/>
          </a:xfrm>
          <a:prstGeom prst="rect">
            <a:avLst/>
          </a:prstGeom>
        </p:spPr>
        <p:txBody>
          <a:bodyPr/>
          <a:lstStyle>
            <a:lvl1pPr marL="0" indent="0">
              <a:lnSpc>
                <a:spcPct val="100000"/>
              </a:lnSpc>
              <a:buNone/>
              <a:defRPr sz="1800" b="0">
                <a:solidFill>
                  <a:schemeClr val="bg1"/>
                </a:solidFill>
              </a:defRPr>
            </a:lvl1pPr>
            <a:lvl2pPr marL="228600">
              <a:lnSpc>
                <a:spcPct val="100000"/>
              </a:lnSpc>
              <a:spcBef>
                <a:spcPts val="1000"/>
              </a:spcBef>
              <a:defRPr sz="1800" b="0">
                <a:solidFill>
                  <a:schemeClr val="bg1"/>
                </a:solidFill>
              </a:defRPr>
            </a:lvl2pPr>
          </a:lstStyle>
          <a:p>
            <a:pPr lvl="0"/>
            <a:r>
              <a:rPr lang="en-US" dirty="0"/>
              <a:t>Insert subtitle here</a:t>
            </a:r>
          </a:p>
          <a:p>
            <a:pPr lvl="1"/>
            <a:r>
              <a:rPr lang="en-US" dirty="0"/>
              <a:t>Insert content here</a:t>
            </a:r>
          </a:p>
        </p:txBody>
      </p:sp>
      <p:sp>
        <p:nvSpPr>
          <p:cNvPr id="8" name="SmartArt Placeholder 7">
            <a:extLst>
              <a:ext uri="{FF2B5EF4-FFF2-40B4-BE49-F238E27FC236}">
                <a16:creationId xmlns:a16="http://schemas.microsoft.com/office/drawing/2014/main" id="{9FD563C5-3DFB-47DD-8A9E-30D8084590F6}"/>
              </a:ext>
            </a:extLst>
          </p:cNvPr>
          <p:cNvSpPr>
            <a:spLocks noGrp="1"/>
          </p:cNvSpPr>
          <p:nvPr>
            <p:ph type="dgm" sz="quarter" idx="14" hasCustomPrompt="1"/>
          </p:nvPr>
        </p:nvSpPr>
        <p:spPr>
          <a:xfrm>
            <a:off x="762001" y="2369129"/>
            <a:ext cx="10667998" cy="3343657"/>
          </a:xfrm>
          <a:prstGeom prst="rect">
            <a:avLst/>
          </a:prstGeom>
        </p:spPr>
        <p:txBody>
          <a:bodyPr/>
          <a:lstStyle>
            <a:lvl1pPr marL="0" indent="0">
              <a:buNone/>
              <a:defRPr sz="1800" b="0"/>
            </a:lvl1pPr>
          </a:lstStyle>
          <a:p>
            <a:r>
              <a:rPr lang="en-US" dirty="0"/>
              <a:t>Insert Content here</a:t>
            </a:r>
          </a:p>
        </p:txBody>
      </p:sp>
      <p:pic>
        <p:nvPicPr>
          <p:cNvPr id="9" name="Picture Placeholder 11" descr="Bright, colorful geometric pattern ">
            <a:extLst>
              <a:ext uri="{FF2B5EF4-FFF2-40B4-BE49-F238E27FC236}">
                <a16:creationId xmlns:a16="http://schemas.microsoft.com/office/drawing/2014/main" id="{1DB66C56-FBAE-47D3-9818-61368D74DAE8}"/>
              </a:ext>
            </a:extLst>
          </p:cNvPr>
          <p:cNvPicPr>
            <a:picLocks noChangeAspect="1"/>
          </p:cNvPicPr>
          <p:nvPr userDrawn="1"/>
        </p:nvPicPr>
        <p:blipFill>
          <a:blip r:embed="rId2"/>
          <a:srcRect t="390" b="390"/>
          <a:stretch>
            <a:fillRect/>
          </a:stretch>
        </p:blipFill>
        <p:spPr>
          <a:xfrm>
            <a:off x="0" y="5999582"/>
            <a:ext cx="12192000" cy="858417"/>
          </a:xfrm>
          <a:prstGeom prst="rect">
            <a:avLst/>
          </a:prstGeom>
        </p:spPr>
      </p:pic>
      <p:sp>
        <p:nvSpPr>
          <p:cNvPr id="3" name="Footer Placeholder 2">
            <a:extLst>
              <a:ext uri="{FF2B5EF4-FFF2-40B4-BE49-F238E27FC236}">
                <a16:creationId xmlns:a16="http://schemas.microsoft.com/office/drawing/2014/main" id="{456121D0-F7D2-9716-FDF9-7D6D861E32CE}"/>
              </a:ext>
            </a:extLst>
          </p:cNvPr>
          <p:cNvSpPr>
            <a:spLocks noGrp="1"/>
          </p:cNvSpPr>
          <p:nvPr>
            <p:ph type="ftr" sz="quarter" idx="15"/>
          </p:nvPr>
        </p:nvSpPr>
        <p:spPr/>
        <p:txBody>
          <a:bodyPr/>
          <a:lstStyle/>
          <a:p>
            <a:endParaRPr lang="en-US"/>
          </a:p>
        </p:txBody>
      </p:sp>
      <p:sp>
        <p:nvSpPr>
          <p:cNvPr id="4" name="Slide Number Placeholder 3">
            <a:extLst>
              <a:ext uri="{FF2B5EF4-FFF2-40B4-BE49-F238E27FC236}">
                <a16:creationId xmlns:a16="http://schemas.microsoft.com/office/drawing/2014/main" id="{65CDD180-966D-428C-B5AA-A78BFBF26FC8}"/>
              </a:ext>
            </a:extLst>
          </p:cNvPr>
          <p:cNvSpPr>
            <a:spLocks noGrp="1"/>
          </p:cNvSpPr>
          <p:nvPr>
            <p:ph type="sldNum" sz="quarter" idx="16"/>
          </p:nvPr>
        </p:nvSpPr>
        <p:spPr>
          <a:xfrm>
            <a:off x="9448800" y="6492875"/>
            <a:ext cx="2743200" cy="365125"/>
          </a:xfrm>
        </p:spPr>
        <p:txBody>
          <a:bodyPr/>
          <a:lstStyle/>
          <a:p>
            <a:fld id="{684F1F11-30B2-407E-BCBC-892E66203F82}" type="slidenum">
              <a:rPr lang="en-US" smtClean="0"/>
              <a:t>‹#›</a:t>
            </a:fld>
            <a:endParaRPr lang="en-US"/>
          </a:p>
        </p:txBody>
      </p:sp>
      <p:pic>
        <p:nvPicPr>
          <p:cNvPr id="5" name="Picture 4">
            <a:extLst>
              <a:ext uri="{FF2B5EF4-FFF2-40B4-BE49-F238E27FC236}">
                <a16:creationId xmlns:a16="http://schemas.microsoft.com/office/drawing/2014/main" id="{160EFCA1-3E17-5ACA-5989-3E214FDAE0AC}"/>
              </a:ext>
            </a:extLst>
          </p:cNvPr>
          <p:cNvPicPr>
            <a:picLocks noChangeAspect="1"/>
          </p:cNvPicPr>
          <p:nvPr userDrawn="1"/>
        </p:nvPicPr>
        <p:blipFill>
          <a:blip r:embed="rId3"/>
          <a:stretch>
            <a:fillRect/>
          </a:stretch>
        </p:blipFill>
        <p:spPr>
          <a:xfrm>
            <a:off x="9436947" y="6615109"/>
            <a:ext cx="2148840" cy="91440"/>
          </a:xfrm>
          <a:prstGeom prst="rect">
            <a:avLst/>
          </a:prstGeom>
        </p:spPr>
      </p:pic>
    </p:spTree>
    <p:extLst>
      <p:ext uri="{BB962C8B-B14F-4D97-AF65-F5344CB8AC3E}">
        <p14:creationId xmlns:p14="http://schemas.microsoft.com/office/powerpoint/2010/main" val="334940166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wo Photo Content">
    <p:spTree>
      <p:nvGrpSpPr>
        <p:cNvPr id="1" name=""/>
        <p:cNvGrpSpPr/>
        <p:nvPr/>
      </p:nvGrpSpPr>
      <p:grpSpPr>
        <a:xfrm>
          <a:off x="0" y="0"/>
          <a:ext cx="0" cy="0"/>
          <a:chOff x="0" y="0"/>
          <a:chExt cx="0" cy="0"/>
        </a:xfrm>
      </p:grpSpPr>
      <p:sp>
        <p:nvSpPr>
          <p:cNvPr id="10" name="Title 2">
            <a:extLst>
              <a:ext uri="{FF2B5EF4-FFF2-40B4-BE49-F238E27FC236}">
                <a16:creationId xmlns:a16="http://schemas.microsoft.com/office/drawing/2014/main" id="{3F45076F-4240-4B40-8CE4-637DD751A68B}"/>
              </a:ext>
            </a:extLst>
          </p:cNvPr>
          <p:cNvSpPr>
            <a:spLocks noGrp="1"/>
          </p:cNvSpPr>
          <p:nvPr>
            <p:ph type="title" hasCustomPrompt="1"/>
          </p:nvPr>
        </p:nvSpPr>
        <p:spPr>
          <a:xfrm>
            <a:off x="762000" y="715963"/>
            <a:ext cx="5334000" cy="1189038"/>
          </a:xfrm>
          <a:prstGeom prst="rect">
            <a:avLst/>
          </a:prstGeom>
        </p:spPr>
        <p:txBody>
          <a:bodyPr anchor="t">
            <a:normAutofit/>
          </a:bodyPr>
          <a:lstStyle>
            <a:lvl1pPr>
              <a:spcBef>
                <a:spcPts val="1000"/>
              </a:spcBef>
              <a:defRPr sz="4000" b="1">
                <a:solidFill>
                  <a:schemeClr val="accent4"/>
                </a:solidFill>
              </a:defRPr>
            </a:lvl1pPr>
          </a:lstStyle>
          <a:p>
            <a:r>
              <a:rPr lang="en-US" dirty="0"/>
              <a:t>Insert title here</a:t>
            </a:r>
          </a:p>
        </p:txBody>
      </p:sp>
      <p:sp>
        <p:nvSpPr>
          <p:cNvPr id="16" name="Text Placeholder 15">
            <a:extLst>
              <a:ext uri="{FF2B5EF4-FFF2-40B4-BE49-F238E27FC236}">
                <a16:creationId xmlns:a16="http://schemas.microsoft.com/office/drawing/2014/main" id="{8498B63D-F60C-4A9D-8D3E-0C7CD748FEDE}"/>
              </a:ext>
            </a:extLst>
          </p:cNvPr>
          <p:cNvSpPr>
            <a:spLocks noGrp="1"/>
          </p:cNvSpPr>
          <p:nvPr>
            <p:ph type="body" sz="quarter" idx="11" hasCustomPrompt="1"/>
          </p:nvPr>
        </p:nvSpPr>
        <p:spPr>
          <a:xfrm>
            <a:off x="762000" y="1905000"/>
            <a:ext cx="5334000" cy="3276600"/>
          </a:xfrm>
          <a:prstGeom prst="rect">
            <a:avLst/>
          </a:prstGeom>
        </p:spPr>
        <p:txBody>
          <a:bodyPr/>
          <a:lstStyle>
            <a:lvl1pPr marL="0" indent="0">
              <a:lnSpc>
                <a:spcPct val="100000"/>
              </a:lnSpc>
              <a:buNone/>
              <a:defRPr sz="1800" b="1"/>
            </a:lvl1pPr>
            <a:lvl2pPr marL="228600">
              <a:lnSpc>
                <a:spcPct val="100000"/>
              </a:lnSpc>
              <a:spcBef>
                <a:spcPts val="1000"/>
              </a:spcBef>
              <a:defRPr sz="1800"/>
            </a:lvl2pPr>
          </a:lstStyle>
          <a:p>
            <a:pPr lvl="0"/>
            <a:r>
              <a:rPr lang="en-US" dirty="0"/>
              <a:t>Insert subtitle here</a:t>
            </a:r>
          </a:p>
          <a:p>
            <a:pPr lvl="1"/>
            <a:r>
              <a:rPr lang="en-US" dirty="0"/>
              <a:t>Insert content here</a:t>
            </a:r>
          </a:p>
        </p:txBody>
      </p:sp>
      <p:sp>
        <p:nvSpPr>
          <p:cNvPr id="9" name="Picture Placeholder 13">
            <a:extLst>
              <a:ext uri="{FF2B5EF4-FFF2-40B4-BE49-F238E27FC236}">
                <a16:creationId xmlns:a16="http://schemas.microsoft.com/office/drawing/2014/main" id="{827A95C0-AE8D-46E1-9EF9-64504CBEF99E}"/>
              </a:ext>
            </a:extLst>
          </p:cNvPr>
          <p:cNvSpPr>
            <a:spLocks noGrp="1"/>
          </p:cNvSpPr>
          <p:nvPr>
            <p:ph type="pic" sz="quarter" idx="14"/>
          </p:nvPr>
        </p:nvSpPr>
        <p:spPr>
          <a:xfrm>
            <a:off x="6858000" y="715963"/>
            <a:ext cx="4572000" cy="2362200"/>
          </a:xfrm>
          <a:prstGeom prst="rect">
            <a:avLst/>
          </a:prstGeom>
          <a:solidFill>
            <a:schemeClr val="tx2"/>
          </a:solidFill>
        </p:spPr>
        <p:txBody>
          <a:bodyPr>
            <a:normAutofit/>
          </a:bodyPr>
          <a:lstStyle>
            <a:lvl1pPr algn="ctr">
              <a:buNone/>
              <a:defRPr sz="1600"/>
            </a:lvl1pPr>
          </a:lstStyle>
          <a:p>
            <a:r>
              <a:rPr lang="en-US"/>
              <a:t>Click icon to add picture</a:t>
            </a:r>
            <a:endParaRPr lang="en-US" dirty="0"/>
          </a:p>
        </p:txBody>
      </p:sp>
      <p:sp>
        <p:nvSpPr>
          <p:cNvPr id="8" name="Picture Placeholder 13">
            <a:extLst>
              <a:ext uri="{FF2B5EF4-FFF2-40B4-BE49-F238E27FC236}">
                <a16:creationId xmlns:a16="http://schemas.microsoft.com/office/drawing/2014/main" id="{89E410BA-B0FE-4F0E-8BE5-D33CC016635B}"/>
              </a:ext>
            </a:extLst>
          </p:cNvPr>
          <p:cNvSpPr>
            <a:spLocks noGrp="1"/>
          </p:cNvSpPr>
          <p:nvPr>
            <p:ph type="pic" sz="quarter" idx="13"/>
          </p:nvPr>
        </p:nvSpPr>
        <p:spPr>
          <a:xfrm>
            <a:off x="6858000" y="3305541"/>
            <a:ext cx="4572000" cy="2362200"/>
          </a:xfrm>
          <a:prstGeom prst="rect">
            <a:avLst/>
          </a:prstGeom>
          <a:solidFill>
            <a:schemeClr val="tx2"/>
          </a:solidFill>
        </p:spPr>
        <p:txBody>
          <a:bodyPr>
            <a:normAutofit/>
          </a:bodyPr>
          <a:lstStyle>
            <a:lvl1pPr algn="ctr">
              <a:buNone/>
              <a:defRPr sz="1600"/>
            </a:lvl1pPr>
          </a:lstStyle>
          <a:p>
            <a:r>
              <a:rPr lang="en-US"/>
              <a:t>Click icon to add picture</a:t>
            </a:r>
            <a:endParaRPr lang="en-US" dirty="0"/>
          </a:p>
        </p:txBody>
      </p:sp>
      <p:pic>
        <p:nvPicPr>
          <p:cNvPr id="12" name="Picture Placeholder 19" descr="Bright, colorful geometric pattern ">
            <a:extLst>
              <a:ext uri="{FF2B5EF4-FFF2-40B4-BE49-F238E27FC236}">
                <a16:creationId xmlns:a16="http://schemas.microsoft.com/office/drawing/2014/main" id="{C93F15CF-2105-4C28-85E9-BBA03833263D}"/>
              </a:ext>
            </a:extLst>
          </p:cNvPr>
          <p:cNvPicPr>
            <a:picLocks noChangeAspect="1"/>
          </p:cNvPicPr>
          <p:nvPr userDrawn="1"/>
        </p:nvPicPr>
        <p:blipFill rotWithShape="1">
          <a:blip r:embed="rId2"/>
          <a:srcRect t="436" b="436"/>
          <a:stretch/>
        </p:blipFill>
        <p:spPr>
          <a:xfrm>
            <a:off x="0" y="5980922"/>
            <a:ext cx="12192000" cy="877078"/>
          </a:xfrm>
          <a:prstGeom prst="rect">
            <a:avLst/>
          </a:prstGeom>
        </p:spPr>
      </p:pic>
      <p:sp>
        <p:nvSpPr>
          <p:cNvPr id="2" name="Footer Placeholder 1">
            <a:extLst>
              <a:ext uri="{FF2B5EF4-FFF2-40B4-BE49-F238E27FC236}">
                <a16:creationId xmlns:a16="http://schemas.microsoft.com/office/drawing/2014/main" id="{A08B57CE-5BCE-FCD1-555E-F3F9B8F9687C}"/>
              </a:ext>
            </a:extLst>
          </p:cNvPr>
          <p:cNvSpPr>
            <a:spLocks noGrp="1"/>
          </p:cNvSpPr>
          <p:nvPr>
            <p:ph type="ftr" sz="quarter" idx="15"/>
          </p:nvPr>
        </p:nvSpPr>
        <p:spPr/>
        <p:txBody>
          <a:bodyPr/>
          <a:lstStyle/>
          <a:p>
            <a:endParaRPr lang="en-US"/>
          </a:p>
        </p:txBody>
      </p:sp>
      <p:sp>
        <p:nvSpPr>
          <p:cNvPr id="3" name="Slide Number Placeholder 2">
            <a:extLst>
              <a:ext uri="{FF2B5EF4-FFF2-40B4-BE49-F238E27FC236}">
                <a16:creationId xmlns:a16="http://schemas.microsoft.com/office/drawing/2014/main" id="{F86506B0-B5F4-EDD2-1BB6-4052AFED4625}"/>
              </a:ext>
            </a:extLst>
          </p:cNvPr>
          <p:cNvSpPr>
            <a:spLocks noGrp="1"/>
          </p:cNvSpPr>
          <p:nvPr>
            <p:ph type="sldNum" sz="quarter" idx="16"/>
          </p:nvPr>
        </p:nvSpPr>
        <p:spPr>
          <a:xfrm>
            <a:off x="9448800" y="6483500"/>
            <a:ext cx="2743200" cy="365125"/>
          </a:xfrm>
        </p:spPr>
        <p:txBody>
          <a:bodyPr/>
          <a:lstStyle/>
          <a:p>
            <a:fld id="{684F1F11-30B2-407E-BCBC-892E66203F82}" type="slidenum">
              <a:rPr lang="en-US" smtClean="0"/>
              <a:t>‹#›</a:t>
            </a:fld>
            <a:endParaRPr lang="en-US"/>
          </a:p>
        </p:txBody>
      </p:sp>
      <p:pic>
        <p:nvPicPr>
          <p:cNvPr id="4" name="Picture 3">
            <a:extLst>
              <a:ext uri="{FF2B5EF4-FFF2-40B4-BE49-F238E27FC236}">
                <a16:creationId xmlns:a16="http://schemas.microsoft.com/office/drawing/2014/main" id="{6119AF4A-2F1C-E9BB-CE95-E3313C82E663}"/>
              </a:ext>
            </a:extLst>
          </p:cNvPr>
          <p:cNvPicPr>
            <a:picLocks noChangeAspect="1"/>
          </p:cNvPicPr>
          <p:nvPr userDrawn="1"/>
        </p:nvPicPr>
        <p:blipFill>
          <a:blip r:embed="rId3"/>
          <a:stretch>
            <a:fillRect/>
          </a:stretch>
        </p:blipFill>
        <p:spPr>
          <a:xfrm>
            <a:off x="9436947" y="6615109"/>
            <a:ext cx="2148840" cy="91440"/>
          </a:xfrm>
          <a:prstGeom prst="rect">
            <a:avLst/>
          </a:prstGeom>
        </p:spPr>
      </p:pic>
    </p:spTree>
    <p:extLst>
      <p:ext uri="{BB962C8B-B14F-4D97-AF65-F5344CB8AC3E}">
        <p14:creationId xmlns:p14="http://schemas.microsoft.com/office/powerpoint/2010/main" val="1972182191"/>
      </p:ext>
    </p:extLst>
  </p:cSld>
  <p:clrMapOvr>
    <a:masterClrMapping/>
  </p:clrMapOvr>
  <p:extLst>
    <p:ext uri="{DCECCB84-F9BA-43D5-87BE-67443E8EF086}">
      <p15:sldGuideLst xmlns:p15="http://schemas.microsoft.com/office/powerpoint/2012/main">
        <p15:guide id="1" orient="horz" pos="3672">
          <p15:clr>
            <a:srgbClr val="FBAE40"/>
          </p15:clr>
        </p15:guide>
        <p15:guide id="2" pos="384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Right Pattern Content Blue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87E8F-5716-4A71-B64F-EC5A742B45D2}"/>
              </a:ext>
            </a:extLst>
          </p:cNvPr>
          <p:cNvSpPr>
            <a:spLocks noGrp="1"/>
          </p:cNvSpPr>
          <p:nvPr>
            <p:ph type="title" hasCustomPrompt="1"/>
          </p:nvPr>
        </p:nvSpPr>
        <p:spPr>
          <a:xfrm>
            <a:off x="762000" y="715961"/>
            <a:ext cx="6477000" cy="1189038"/>
          </a:xfrm>
          <a:prstGeom prst="rect">
            <a:avLst/>
          </a:prstGeom>
        </p:spPr>
        <p:txBody>
          <a:bodyPr anchor="t">
            <a:noAutofit/>
          </a:bodyPr>
          <a:lstStyle>
            <a:lvl1pPr>
              <a:spcBef>
                <a:spcPts val="1000"/>
              </a:spcBef>
              <a:defRPr sz="4000" b="1">
                <a:solidFill>
                  <a:schemeClr val="accent5"/>
                </a:solidFill>
              </a:defRPr>
            </a:lvl1pPr>
          </a:lstStyle>
          <a:p>
            <a:r>
              <a:rPr lang="en-US" dirty="0"/>
              <a:t>Insert title here</a:t>
            </a:r>
          </a:p>
        </p:txBody>
      </p:sp>
      <p:sp>
        <p:nvSpPr>
          <p:cNvPr id="12" name="Text Placeholder 15">
            <a:extLst>
              <a:ext uri="{FF2B5EF4-FFF2-40B4-BE49-F238E27FC236}">
                <a16:creationId xmlns:a16="http://schemas.microsoft.com/office/drawing/2014/main" id="{E8DBED36-2461-46D0-AF71-79E0064B3758}"/>
              </a:ext>
            </a:extLst>
          </p:cNvPr>
          <p:cNvSpPr>
            <a:spLocks noGrp="1"/>
          </p:cNvSpPr>
          <p:nvPr>
            <p:ph type="body" sz="quarter" idx="11" hasCustomPrompt="1"/>
          </p:nvPr>
        </p:nvSpPr>
        <p:spPr>
          <a:xfrm>
            <a:off x="762000" y="1905000"/>
            <a:ext cx="6477000" cy="3276600"/>
          </a:xfrm>
          <a:prstGeom prst="rect">
            <a:avLst/>
          </a:prstGeom>
        </p:spPr>
        <p:txBody>
          <a:bodyPr/>
          <a:lstStyle>
            <a:lvl1pPr marL="0" indent="0">
              <a:lnSpc>
                <a:spcPct val="100000"/>
              </a:lnSpc>
              <a:buNone/>
              <a:defRPr sz="1800" b="1">
                <a:solidFill>
                  <a:schemeClr val="bg1"/>
                </a:solidFill>
              </a:defRPr>
            </a:lvl1pPr>
            <a:lvl2pPr marL="228600">
              <a:lnSpc>
                <a:spcPct val="100000"/>
              </a:lnSpc>
              <a:spcBef>
                <a:spcPts val="1000"/>
              </a:spcBef>
              <a:defRPr sz="1800">
                <a:solidFill>
                  <a:schemeClr val="bg1"/>
                </a:solidFill>
              </a:defRPr>
            </a:lvl2pPr>
          </a:lstStyle>
          <a:p>
            <a:pPr lvl="0"/>
            <a:r>
              <a:rPr lang="en-US" dirty="0"/>
              <a:t>Insert subtitle here</a:t>
            </a:r>
          </a:p>
          <a:p>
            <a:pPr lvl="1"/>
            <a:r>
              <a:rPr lang="en-US" dirty="0"/>
              <a:t>Insert content here</a:t>
            </a:r>
          </a:p>
        </p:txBody>
      </p:sp>
      <p:pic>
        <p:nvPicPr>
          <p:cNvPr id="5" name="Picture Placeholder 15" descr="Bright, colorful geometric pattern ">
            <a:extLst>
              <a:ext uri="{FF2B5EF4-FFF2-40B4-BE49-F238E27FC236}">
                <a16:creationId xmlns:a16="http://schemas.microsoft.com/office/drawing/2014/main" id="{9E2B3BF6-B5D6-4D6F-84C6-0EE24AC7C14A}"/>
              </a:ext>
            </a:extLst>
          </p:cNvPr>
          <p:cNvPicPr>
            <a:picLocks noChangeAspect="1"/>
          </p:cNvPicPr>
          <p:nvPr userDrawn="1"/>
        </p:nvPicPr>
        <p:blipFill rotWithShape="1">
          <a:blip r:embed="rId2"/>
          <a:srcRect l="3" r="3"/>
          <a:stretch/>
        </p:blipFill>
        <p:spPr>
          <a:xfrm>
            <a:off x="7427166" y="0"/>
            <a:ext cx="4764834" cy="6858000"/>
          </a:xfrm>
          <a:prstGeom prst="rect">
            <a:avLst/>
          </a:prstGeom>
        </p:spPr>
      </p:pic>
      <p:sp>
        <p:nvSpPr>
          <p:cNvPr id="3" name="Footer Placeholder 2">
            <a:extLst>
              <a:ext uri="{FF2B5EF4-FFF2-40B4-BE49-F238E27FC236}">
                <a16:creationId xmlns:a16="http://schemas.microsoft.com/office/drawing/2014/main" id="{5C6371B2-1B8F-8A75-CBCF-E99D155AD961}"/>
              </a:ext>
            </a:extLst>
          </p:cNvPr>
          <p:cNvSpPr>
            <a:spLocks noGrp="1"/>
          </p:cNvSpPr>
          <p:nvPr>
            <p:ph type="ftr" sz="quarter" idx="12"/>
          </p:nvPr>
        </p:nvSpPr>
        <p:spPr/>
        <p:txBody>
          <a:bodyPr/>
          <a:lstStyle/>
          <a:p>
            <a:endParaRPr lang="en-US"/>
          </a:p>
        </p:txBody>
      </p:sp>
      <p:sp>
        <p:nvSpPr>
          <p:cNvPr id="4" name="Slide Number Placeholder 3">
            <a:extLst>
              <a:ext uri="{FF2B5EF4-FFF2-40B4-BE49-F238E27FC236}">
                <a16:creationId xmlns:a16="http://schemas.microsoft.com/office/drawing/2014/main" id="{E15D5605-F340-DCA8-9CA3-93F5683F0B91}"/>
              </a:ext>
            </a:extLst>
          </p:cNvPr>
          <p:cNvSpPr>
            <a:spLocks noGrp="1"/>
          </p:cNvSpPr>
          <p:nvPr>
            <p:ph type="sldNum" sz="quarter" idx="13"/>
          </p:nvPr>
        </p:nvSpPr>
        <p:spPr>
          <a:xfrm>
            <a:off x="9448800" y="6492875"/>
            <a:ext cx="2743200" cy="365125"/>
          </a:xfrm>
        </p:spPr>
        <p:txBody>
          <a:bodyPr/>
          <a:lstStyle/>
          <a:p>
            <a:fld id="{684F1F11-30B2-407E-BCBC-892E66203F82}" type="slidenum">
              <a:rPr lang="en-US" smtClean="0"/>
              <a:t>‹#›</a:t>
            </a:fld>
            <a:endParaRPr lang="en-US"/>
          </a:p>
        </p:txBody>
      </p:sp>
      <p:pic>
        <p:nvPicPr>
          <p:cNvPr id="6" name="Picture 5">
            <a:extLst>
              <a:ext uri="{FF2B5EF4-FFF2-40B4-BE49-F238E27FC236}">
                <a16:creationId xmlns:a16="http://schemas.microsoft.com/office/drawing/2014/main" id="{640127F5-BB60-8EEF-CB70-753DAAD25224}"/>
              </a:ext>
            </a:extLst>
          </p:cNvPr>
          <p:cNvPicPr>
            <a:picLocks noChangeAspect="1"/>
          </p:cNvPicPr>
          <p:nvPr userDrawn="1"/>
        </p:nvPicPr>
        <p:blipFill>
          <a:blip r:embed="rId3"/>
          <a:stretch>
            <a:fillRect/>
          </a:stretch>
        </p:blipFill>
        <p:spPr>
          <a:xfrm>
            <a:off x="9436947" y="6615109"/>
            <a:ext cx="2148840" cy="91440"/>
          </a:xfrm>
          <a:prstGeom prst="rect">
            <a:avLst/>
          </a:prstGeom>
        </p:spPr>
      </p:pic>
    </p:spTree>
    <p:extLst>
      <p:ext uri="{BB962C8B-B14F-4D97-AF65-F5344CB8AC3E}">
        <p14:creationId xmlns:p14="http://schemas.microsoft.com/office/powerpoint/2010/main" val="3496050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2240">
          <p15:clr>
            <a:srgbClr val="5ACBF0"/>
          </p15:clr>
        </p15:guide>
        <p15:guide id="4" orient="horz" pos="2487">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Question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07724906-4405-47F4-B533-7291B003B0A2}"/>
              </a:ext>
            </a:extLst>
          </p:cNvPr>
          <p:cNvSpPr>
            <a:spLocks noGrp="1"/>
          </p:cNvSpPr>
          <p:nvPr>
            <p:ph type="title" hasCustomPrompt="1"/>
          </p:nvPr>
        </p:nvSpPr>
        <p:spPr>
          <a:xfrm>
            <a:off x="1525301" y="1995467"/>
            <a:ext cx="9141397" cy="615553"/>
          </a:xfrm>
          <a:prstGeom prst="rect">
            <a:avLst/>
          </a:prstGeom>
          <a:noFill/>
        </p:spPr>
        <p:txBody>
          <a:bodyPr wrap="square" lIns="0" tIns="0" rIns="0" bIns="0" anchor="b" anchorCtr="0">
            <a:spAutoFit/>
          </a:bodyPr>
          <a:lstStyle>
            <a:lvl1pPr algn="ctr" defTabSz="932742" rtl="0" eaLnBrk="1" latinLnBrk="0" hangingPunct="1">
              <a:lnSpc>
                <a:spcPct val="100000"/>
              </a:lnSpc>
              <a:spcBef>
                <a:spcPct val="0"/>
              </a:spcBef>
              <a:buNone/>
              <a:defRPr lang="en-US" sz="4000" b="1" i="0" kern="1200" cap="none" spc="-50" baseline="0" dirty="0">
                <a:ln w="3175">
                  <a:noFill/>
                </a:ln>
                <a:solidFill>
                  <a:schemeClr val="bg1"/>
                </a:solidFill>
                <a:effectLst/>
                <a:latin typeface="+mj-lt"/>
                <a:ea typeface="+mn-ea"/>
                <a:cs typeface="Segoe UI" pitchFamily="34" charset="0"/>
              </a:defRPr>
            </a:lvl1pPr>
          </a:lstStyle>
          <a:p>
            <a:r>
              <a:rPr lang="en-US" dirty="0"/>
              <a:t>Insert title here</a:t>
            </a:r>
          </a:p>
        </p:txBody>
      </p:sp>
      <p:sp>
        <p:nvSpPr>
          <p:cNvPr id="14" name="Text Placeholder 4">
            <a:extLst>
              <a:ext uri="{FF2B5EF4-FFF2-40B4-BE49-F238E27FC236}">
                <a16:creationId xmlns:a16="http://schemas.microsoft.com/office/drawing/2014/main" id="{1EEF53A4-35A6-4E43-B220-67DA381C5910}"/>
              </a:ext>
            </a:extLst>
          </p:cNvPr>
          <p:cNvSpPr>
            <a:spLocks noGrp="1"/>
          </p:cNvSpPr>
          <p:nvPr>
            <p:ph type="body" sz="quarter" idx="12" hasCustomPrompt="1"/>
          </p:nvPr>
        </p:nvSpPr>
        <p:spPr>
          <a:xfrm>
            <a:off x="2196307" y="3260705"/>
            <a:ext cx="7799387" cy="1534757"/>
          </a:xfrm>
          <a:prstGeom prst="rect">
            <a:avLst/>
          </a:prstGeom>
          <a:noFill/>
        </p:spPr>
        <p:txBody>
          <a:bodyPr wrap="square" lIns="0" tIns="0" rIns="0" bIns="0">
            <a:noAutofit/>
          </a:bodyPr>
          <a:lstStyle>
            <a:lvl1pPr marL="0" indent="0" algn="ctr">
              <a:lnSpc>
                <a:spcPct val="100000"/>
              </a:lnSpc>
              <a:spcBef>
                <a:spcPts val="0"/>
              </a:spcBef>
              <a:spcAft>
                <a:spcPts val="0"/>
              </a:spcAft>
              <a:buFont typeface="Arial" panose="020B0604020202020204" pitchFamily="34" charset="0"/>
              <a:buNone/>
              <a:defRPr lang="en-US" sz="1800" kern="1200" dirty="0">
                <a:solidFill>
                  <a:schemeClr val="bg1"/>
                </a:solidFill>
                <a:latin typeface="+mn-lt"/>
                <a:ea typeface="+mn-ea"/>
                <a:cs typeface="+mn-cs"/>
              </a:defRPr>
            </a:lvl1pPr>
          </a:lstStyle>
          <a:p>
            <a:pPr lvl="0"/>
            <a:r>
              <a:rPr lang="en-US" dirty="0"/>
              <a:t>Insert content here</a:t>
            </a:r>
          </a:p>
        </p:txBody>
      </p:sp>
      <p:pic>
        <p:nvPicPr>
          <p:cNvPr id="6" name="Picture Placeholder 17" descr="Bright, colorful geometric pattern ">
            <a:extLst>
              <a:ext uri="{FF2B5EF4-FFF2-40B4-BE49-F238E27FC236}">
                <a16:creationId xmlns:a16="http://schemas.microsoft.com/office/drawing/2014/main" id="{9F278CC9-9968-40F5-B18F-B1D45BE36A49}"/>
              </a:ext>
            </a:extLst>
          </p:cNvPr>
          <p:cNvPicPr>
            <a:picLocks noChangeAspect="1"/>
          </p:cNvPicPr>
          <p:nvPr userDrawn="1"/>
        </p:nvPicPr>
        <p:blipFill rotWithShape="1">
          <a:blip r:embed="rId2"/>
          <a:srcRect t="390" b="390"/>
          <a:stretch/>
        </p:blipFill>
        <p:spPr>
          <a:xfrm>
            <a:off x="0" y="5999582"/>
            <a:ext cx="12192000" cy="858417"/>
          </a:xfrm>
          <a:prstGeom prst="rect">
            <a:avLst/>
          </a:prstGeom>
        </p:spPr>
      </p:pic>
      <p:sp>
        <p:nvSpPr>
          <p:cNvPr id="2" name="Footer Placeholder 1">
            <a:extLst>
              <a:ext uri="{FF2B5EF4-FFF2-40B4-BE49-F238E27FC236}">
                <a16:creationId xmlns:a16="http://schemas.microsoft.com/office/drawing/2014/main" id="{0A3D9FC8-EF14-945D-AE6D-E1FBEC039742}"/>
              </a:ext>
            </a:extLst>
          </p:cNvPr>
          <p:cNvSpPr>
            <a:spLocks noGrp="1"/>
          </p:cNvSpPr>
          <p:nvPr>
            <p:ph type="ftr" sz="quarter" idx="13"/>
          </p:nvPr>
        </p:nvSpPr>
        <p:spPr/>
        <p:txBody>
          <a:bodyPr/>
          <a:lstStyle/>
          <a:p>
            <a:endParaRPr lang="en-US"/>
          </a:p>
        </p:txBody>
      </p:sp>
      <p:sp>
        <p:nvSpPr>
          <p:cNvPr id="3" name="Slide Number Placeholder 2">
            <a:extLst>
              <a:ext uri="{FF2B5EF4-FFF2-40B4-BE49-F238E27FC236}">
                <a16:creationId xmlns:a16="http://schemas.microsoft.com/office/drawing/2014/main" id="{EB58422E-9028-00B5-C5FA-45B13718E97D}"/>
              </a:ext>
            </a:extLst>
          </p:cNvPr>
          <p:cNvSpPr>
            <a:spLocks noGrp="1"/>
          </p:cNvSpPr>
          <p:nvPr>
            <p:ph type="sldNum" sz="quarter" idx="14"/>
          </p:nvPr>
        </p:nvSpPr>
        <p:spPr>
          <a:xfrm>
            <a:off x="9448800" y="6497120"/>
            <a:ext cx="2743200" cy="365125"/>
          </a:xfrm>
        </p:spPr>
        <p:txBody>
          <a:bodyPr/>
          <a:lstStyle/>
          <a:p>
            <a:fld id="{684F1F11-30B2-407E-BCBC-892E66203F82}" type="slidenum">
              <a:rPr lang="en-US" smtClean="0"/>
              <a:t>‹#›</a:t>
            </a:fld>
            <a:endParaRPr lang="en-US"/>
          </a:p>
        </p:txBody>
      </p:sp>
      <p:pic>
        <p:nvPicPr>
          <p:cNvPr id="4" name="Picture 3">
            <a:extLst>
              <a:ext uri="{FF2B5EF4-FFF2-40B4-BE49-F238E27FC236}">
                <a16:creationId xmlns:a16="http://schemas.microsoft.com/office/drawing/2014/main" id="{F99CB25B-DAB6-E748-D148-43579A495593}"/>
              </a:ext>
            </a:extLst>
          </p:cNvPr>
          <p:cNvPicPr>
            <a:picLocks noChangeAspect="1"/>
          </p:cNvPicPr>
          <p:nvPr userDrawn="1"/>
        </p:nvPicPr>
        <p:blipFill>
          <a:blip r:embed="rId3"/>
          <a:stretch>
            <a:fillRect/>
          </a:stretch>
        </p:blipFill>
        <p:spPr>
          <a:xfrm>
            <a:off x="9436947" y="6615109"/>
            <a:ext cx="2148840" cy="91440"/>
          </a:xfrm>
          <a:prstGeom prst="rect">
            <a:avLst/>
          </a:prstGeom>
        </p:spPr>
      </p:pic>
    </p:spTree>
    <p:extLst>
      <p:ext uri="{BB962C8B-B14F-4D97-AF65-F5344CB8AC3E}">
        <p14:creationId xmlns:p14="http://schemas.microsoft.com/office/powerpoint/2010/main" val="4148588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Left Pattern Content Orange 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668F4E-0433-49FD-9D92-3B60E9B0AEE6}"/>
              </a:ext>
            </a:extLst>
          </p:cNvPr>
          <p:cNvSpPr>
            <a:spLocks noGrp="1"/>
          </p:cNvSpPr>
          <p:nvPr>
            <p:ph type="title" hasCustomPrompt="1"/>
          </p:nvPr>
        </p:nvSpPr>
        <p:spPr>
          <a:xfrm>
            <a:off x="5199742" y="715961"/>
            <a:ext cx="6477000" cy="1189037"/>
          </a:xfrm>
          <a:prstGeom prst="rect">
            <a:avLst/>
          </a:prstGeom>
        </p:spPr>
        <p:txBody>
          <a:bodyPr anchor="t">
            <a:normAutofit/>
          </a:bodyPr>
          <a:lstStyle>
            <a:lvl1pPr>
              <a:spcBef>
                <a:spcPts val="1000"/>
              </a:spcBef>
              <a:defRPr sz="4000" b="1" spc="-50" baseline="0">
                <a:solidFill>
                  <a:schemeClr val="bg2"/>
                </a:solidFill>
              </a:defRPr>
            </a:lvl1pPr>
          </a:lstStyle>
          <a:p>
            <a:r>
              <a:rPr lang="en-US" dirty="0"/>
              <a:t>Insert title here</a:t>
            </a:r>
          </a:p>
        </p:txBody>
      </p:sp>
      <p:sp>
        <p:nvSpPr>
          <p:cNvPr id="12" name="Text Placeholder 15">
            <a:extLst>
              <a:ext uri="{FF2B5EF4-FFF2-40B4-BE49-F238E27FC236}">
                <a16:creationId xmlns:a16="http://schemas.microsoft.com/office/drawing/2014/main" id="{E8DBED36-2461-46D0-AF71-79E0064B3758}"/>
              </a:ext>
            </a:extLst>
          </p:cNvPr>
          <p:cNvSpPr>
            <a:spLocks noGrp="1"/>
          </p:cNvSpPr>
          <p:nvPr>
            <p:ph type="body" sz="quarter" idx="11" hasCustomPrompt="1"/>
          </p:nvPr>
        </p:nvSpPr>
        <p:spPr>
          <a:xfrm>
            <a:off x="5199743" y="1905000"/>
            <a:ext cx="6477000" cy="3276600"/>
          </a:xfrm>
          <a:prstGeom prst="rect">
            <a:avLst/>
          </a:prstGeom>
        </p:spPr>
        <p:txBody>
          <a:bodyPr/>
          <a:lstStyle>
            <a:lvl1pPr marL="0" indent="0">
              <a:lnSpc>
                <a:spcPct val="100000"/>
              </a:lnSpc>
              <a:buNone/>
              <a:defRPr sz="1800" b="1">
                <a:solidFill>
                  <a:schemeClr val="bg1"/>
                </a:solidFill>
              </a:defRPr>
            </a:lvl1pPr>
            <a:lvl2pPr marL="228600" indent="-228600">
              <a:lnSpc>
                <a:spcPct val="100000"/>
              </a:lnSpc>
              <a:spcBef>
                <a:spcPts val="1000"/>
              </a:spcBef>
              <a:defRPr sz="1800">
                <a:solidFill>
                  <a:schemeClr val="bg1"/>
                </a:solidFill>
              </a:defRPr>
            </a:lvl2pPr>
          </a:lstStyle>
          <a:p>
            <a:pPr lvl="0"/>
            <a:r>
              <a:rPr lang="en-US" dirty="0"/>
              <a:t>Insert subtitle here</a:t>
            </a:r>
          </a:p>
          <a:p>
            <a:pPr lvl="1"/>
            <a:r>
              <a:rPr lang="en-US" dirty="0"/>
              <a:t>Insert content here</a:t>
            </a:r>
          </a:p>
        </p:txBody>
      </p:sp>
      <p:pic>
        <p:nvPicPr>
          <p:cNvPr id="5" name="Picture Placeholder 13" descr="Bright, colorful geometric pattern ">
            <a:extLst>
              <a:ext uri="{FF2B5EF4-FFF2-40B4-BE49-F238E27FC236}">
                <a16:creationId xmlns:a16="http://schemas.microsoft.com/office/drawing/2014/main" id="{0E92939E-CAD0-4B0D-A39F-10B9B25E144D}"/>
              </a:ext>
            </a:extLst>
          </p:cNvPr>
          <p:cNvPicPr>
            <a:picLocks noChangeAspect="1"/>
          </p:cNvPicPr>
          <p:nvPr userDrawn="1"/>
        </p:nvPicPr>
        <p:blipFill rotWithShape="1">
          <a:blip r:embed="rId2"/>
          <a:srcRect l="34" r="34"/>
          <a:stretch/>
        </p:blipFill>
        <p:spPr>
          <a:xfrm>
            <a:off x="0" y="0"/>
            <a:ext cx="4767943" cy="6858000"/>
          </a:xfrm>
          <a:prstGeom prst="rect">
            <a:avLst/>
          </a:prstGeom>
        </p:spPr>
      </p:pic>
      <p:sp>
        <p:nvSpPr>
          <p:cNvPr id="2" name="Footer Placeholder 1">
            <a:extLst>
              <a:ext uri="{FF2B5EF4-FFF2-40B4-BE49-F238E27FC236}">
                <a16:creationId xmlns:a16="http://schemas.microsoft.com/office/drawing/2014/main" id="{9F8565A7-FDE2-09EC-61BE-F0579125010B}"/>
              </a:ext>
            </a:extLst>
          </p:cNvPr>
          <p:cNvSpPr>
            <a:spLocks noGrp="1"/>
          </p:cNvSpPr>
          <p:nvPr>
            <p:ph type="ftr" sz="quarter" idx="12"/>
          </p:nvPr>
        </p:nvSpPr>
        <p:spPr/>
        <p:txBody>
          <a:bodyPr/>
          <a:lstStyle/>
          <a:p>
            <a:endParaRPr lang="en-US"/>
          </a:p>
        </p:txBody>
      </p:sp>
      <p:sp>
        <p:nvSpPr>
          <p:cNvPr id="4" name="Slide Number Placeholder 3">
            <a:extLst>
              <a:ext uri="{FF2B5EF4-FFF2-40B4-BE49-F238E27FC236}">
                <a16:creationId xmlns:a16="http://schemas.microsoft.com/office/drawing/2014/main" id="{19567897-4C69-C08C-79FE-AAB1957BB3F0}"/>
              </a:ext>
            </a:extLst>
          </p:cNvPr>
          <p:cNvSpPr>
            <a:spLocks noGrp="1"/>
          </p:cNvSpPr>
          <p:nvPr>
            <p:ph type="sldNum" sz="quarter" idx="13"/>
          </p:nvPr>
        </p:nvSpPr>
        <p:spPr>
          <a:xfrm>
            <a:off x="9448800" y="6492875"/>
            <a:ext cx="2743200" cy="365125"/>
          </a:xfrm>
        </p:spPr>
        <p:txBody>
          <a:bodyPr/>
          <a:lstStyle>
            <a:lvl1pPr>
              <a:defRPr>
                <a:solidFill>
                  <a:srgbClr val="959494"/>
                </a:solidFill>
              </a:defRPr>
            </a:lvl1pPr>
          </a:lstStyle>
          <a:p>
            <a:fld id="{684F1F11-30B2-407E-BCBC-892E66203F82}" type="slidenum">
              <a:rPr lang="en-US" smtClean="0"/>
              <a:pPr/>
              <a:t>‹#›</a:t>
            </a:fld>
            <a:endParaRPr lang="en-US"/>
          </a:p>
        </p:txBody>
      </p:sp>
    </p:spTree>
    <p:extLst>
      <p:ext uri="{BB962C8B-B14F-4D97-AF65-F5344CB8AC3E}">
        <p14:creationId xmlns:p14="http://schemas.microsoft.com/office/powerpoint/2010/main" val="166404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2808">
          <p15:clr>
            <a:srgbClr val="5ACBF0"/>
          </p15:clr>
        </p15:guide>
        <p15:guide id="3" orient="horz" pos="2240">
          <p15:clr>
            <a:srgbClr val="5ACBF0"/>
          </p15:clr>
        </p15:guide>
        <p15:guide id="4" orient="horz" pos="2487">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Bullets Large">
    <p:spTree>
      <p:nvGrpSpPr>
        <p:cNvPr id="1" name=""/>
        <p:cNvGrpSpPr/>
        <p:nvPr/>
      </p:nvGrpSpPr>
      <p:grpSpPr>
        <a:xfrm>
          <a:off x="0" y="0"/>
          <a:ext cx="0" cy="0"/>
          <a:chOff x="0" y="0"/>
          <a:chExt cx="0" cy="0"/>
        </a:xfrm>
      </p:grpSpPr>
      <p:sp>
        <p:nvSpPr>
          <p:cNvPr id="5" name="Slide Number Placeholder 5"/>
          <p:cNvSpPr>
            <a:spLocks noGrp="1"/>
          </p:cNvSpPr>
          <p:nvPr>
            <p:ph type="sldNum" sz="quarter" idx="4"/>
          </p:nvPr>
        </p:nvSpPr>
        <p:spPr>
          <a:xfrm>
            <a:off x="8991600" y="6467708"/>
            <a:ext cx="2743200" cy="209316"/>
          </a:xfrm>
          <a:prstGeom prst="rect">
            <a:avLst/>
          </a:prstGeom>
        </p:spPr>
        <p:txBody>
          <a:bodyPr vert="horz" lIns="0" tIns="0" rIns="0" bIns="0" rtlCol="0" anchor="ctr"/>
          <a:lstStyle>
            <a:lvl1pPr algn="r">
              <a:defRPr sz="1000">
                <a:solidFill>
                  <a:schemeClr val="tx1">
                    <a:tint val="75000"/>
                  </a:schemeClr>
                </a:solidFill>
                <a:latin typeface="Lato" charset="0"/>
                <a:ea typeface="Lato" charset="0"/>
                <a:cs typeface="Lato" charset="0"/>
              </a:defRPr>
            </a:lvl1pPr>
          </a:lstStyle>
          <a:p>
            <a:fld id="{B68F88C8-0A9A-DA43-95C8-7FE161A05352}" type="slidenum">
              <a:rPr lang="en-US" smtClean="0"/>
              <a:pPr/>
              <a:t>‹#›</a:t>
            </a:fld>
            <a:endParaRPr lang="en-US"/>
          </a:p>
        </p:txBody>
      </p:sp>
      <p:sp>
        <p:nvSpPr>
          <p:cNvPr id="9" name="Rectangle 8"/>
          <p:cNvSpPr/>
          <p:nvPr userDrawn="1"/>
        </p:nvSpPr>
        <p:spPr>
          <a:xfrm>
            <a:off x="5265861" y="812181"/>
            <a:ext cx="5908591" cy="49870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p:cNvSpPr>
            <a:spLocks noGrp="1"/>
          </p:cNvSpPr>
          <p:nvPr>
            <p:ph type="title"/>
          </p:nvPr>
        </p:nvSpPr>
        <p:spPr/>
        <p:txBody>
          <a:bodyPr lIns="0" rIns="0" anchor="t" anchorCtr="0">
            <a:noAutofit/>
          </a:bodyPr>
          <a:lstStyle>
            <a:lvl1pPr>
              <a:defRPr sz="3400" baseline="0">
                <a:latin typeface="+mj-lt"/>
              </a:defRPr>
            </a:lvl1pPr>
          </a:lstStyle>
          <a:p>
            <a:r>
              <a:rPr lang="en-US"/>
              <a:t>Click to edit Master title style</a:t>
            </a:r>
            <a:endParaRPr lang="en-US" dirty="0"/>
          </a:p>
        </p:txBody>
      </p:sp>
      <p:sp>
        <p:nvSpPr>
          <p:cNvPr id="12" name="Text Placeholder 11"/>
          <p:cNvSpPr>
            <a:spLocks noGrp="1"/>
          </p:cNvSpPr>
          <p:nvPr>
            <p:ph type="body" sz="quarter" idx="10"/>
          </p:nvPr>
        </p:nvSpPr>
        <p:spPr>
          <a:xfrm>
            <a:off x="457200" y="1690688"/>
            <a:ext cx="10214658" cy="4367212"/>
          </a:xfrm>
        </p:spPr>
        <p:txBody>
          <a:bodyPr tIns="0" bIns="91440">
            <a:noAutofit/>
          </a:bodyPr>
          <a:lstStyle>
            <a:lvl1pPr marL="457200" indent="-457200">
              <a:lnSpc>
                <a:spcPct val="108000"/>
              </a:lnSpc>
              <a:spcAft>
                <a:spcPts val="1200"/>
              </a:spcAft>
              <a:defRPr sz="3200" baseline="0">
                <a:latin typeface="+mn-lt"/>
              </a:defRPr>
            </a:lvl1pPr>
            <a:lvl2pPr marL="914400" indent="-457200">
              <a:lnSpc>
                <a:spcPct val="108000"/>
              </a:lnSpc>
              <a:spcAft>
                <a:spcPts val="1200"/>
              </a:spcAft>
              <a:defRPr sz="2800" baseline="0">
                <a:latin typeface="+mn-lt"/>
              </a:defRPr>
            </a:lvl2pPr>
            <a:lvl3pPr marL="1371600" indent="-457200">
              <a:lnSpc>
                <a:spcPct val="108000"/>
              </a:lnSpc>
              <a:spcAft>
                <a:spcPts val="1200"/>
              </a:spcAft>
              <a:defRPr sz="2800" baseline="0">
                <a:latin typeface="+mn-lt"/>
              </a:defRPr>
            </a:lvl3pPr>
            <a:lvl4pPr marL="1828800" indent="-457200">
              <a:lnSpc>
                <a:spcPct val="108000"/>
              </a:lnSpc>
              <a:spcAft>
                <a:spcPts val="1200"/>
              </a:spcAft>
              <a:defRPr sz="2800" baseline="0">
                <a:latin typeface="+mn-lt"/>
              </a:defRPr>
            </a:lvl4pPr>
            <a:lvl5pPr marL="2286000" indent="-457200">
              <a:lnSpc>
                <a:spcPct val="108000"/>
              </a:lnSpc>
              <a:spcAft>
                <a:spcPts val="1200"/>
              </a:spcAft>
              <a:defRPr sz="2800" baseline="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p:cNvSpPr txBox="1"/>
          <p:nvPr userDrawn="1"/>
        </p:nvSpPr>
        <p:spPr>
          <a:xfrm>
            <a:off x="265815" y="-496181"/>
            <a:ext cx="2470098" cy="483989"/>
          </a:xfrm>
          <a:prstGeom prst="round2SameRect">
            <a:avLst/>
          </a:prstGeom>
          <a:solidFill>
            <a:srgbClr val="F9FAF9"/>
          </a:solidFill>
          <a:ln w="6350">
            <a:solidFill>
              <a:schemeClr val="accent2"/>
            </a:solidFill>
          </a:ln>
        </p:spPr>
        <p:txBody>
          <a:bodyPr wrap="none" lIns="182880" tIns="91440" rIns="182880" bIns="182880" rtlCol="0">
            <a:spAutoFit/>
          </a:bodyPr>
          <a:lstStyle/>
          <a:p>
            <a:r>
              <a:rPr lang="en-US" sz="1200" b="1" dirty="0">
                <a:solidFill>
                  <a:schemeClr val="accent2"/>
                </a:solidFill>
              </a:rPr>
              <a:t>Master:</a:t>
            </a:r>
            <a:r>
              <a:rPr lang="en-US" sz="1200" b="1" baseline="0" dirty="0">
                <a:solidFill>
                  <a:schemeClr val="accent2"/>
                </a:solidFill>
              </a:rPr>
              <a:t> Title + Large Bullets</a:t>
            </a:r>
            <a:endParaRPr lang="en-US" sz="1200" b="1" dirty="0">
              <a:solidFill>
                <a:schemeClr val="accent2"/>
              </a:solidFill>
            </a:endParaRPr>
          </a:p>
        </p:txBody>
      </p:sp>
      <p:sp>
        <p:nvSpPr>
          <p:cNvPr id="10" name="Text Placeholder 2">
            <a:extLst>
              <a:ext uri="{FF2B5EF4-FFF2-40B4-BE49-F238E27FC236}">
                <a16:creationId xmlns:a16="http://schemas.microsoft.com/office/drawing/2014/main" id="{49344CE9-DF0E-244E-9177-5BB7481879A3}"/>
              </a:ext>
            </a:extLst>
          </p:cNvPr>
          <p:cNvSpPr>
            <a:spLocks noGrp="1"/>
          </p:cNvSpPr>
          <p:nvPr>
            <p:ph type="body" sz="quarter" idx="11" hasCustomPrompt="1"/>
          </p:nvPr>
        </p:nvSpPr>
        <p:spPr>
          <a:xfrm>
            <a:off x="457200" y="10511"/>
            <a:ext cx="2787943" cy="307777"/>
          </a:xfrm>
          <a:solidFill>
            <a:schemeClr val="accent1">
              <a:alpha val="5000"/>
            </a:schemeClr>
          </a:solidFill>
          <a:ln>
            <a:noFill/>
          </a:ln>
        </p:spPr>
        <p:txBody>
          <a:bodyPr wrap="none" lIns="91440" tIns="91440" rIns="91440" bIns="91440" anchor="ctr">
            <a:spAutoFit/>
          </a:bodyPr>
          <a:lstStyle>
            <a:lvl1pPr marL="0" indent="0" algn="l">
              <a:buFontTx/>
              <a:buNone/>
              <a:defRPr sz="800" b="0" cap="all" spc="100" baseline="0">
                <a:solidFill>
                  <a:schemeClr val="accent1"/>
                </a:solidFill>
                <a:latin typeface="+mj-lt"/>
              </a:defRPr>
            </a:lvl1pPr>
          </a:lstStyle>
          <a:p>
            <a:pPr lvl="0"/>
            <a:r>
              <a:rPr lang="en-US" dirty="0"/>
              <a:t>CLICK TO ADD optional SECTION HEADER</a:t>
            </a:r>
          </a:p>
        </p:txBody>
      </p:sp>
    </p:spTree>
    <p:extLst>
      <p:ext uri="{BB962C8B-B14F-4D97-AF65-F5344CB8AC3E}">
        <p14:creationId xmlns:p14="http://schemas.microsoft.com/office/powerpoint/2010/main" val="3951623190"/>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Bullets">
    <p:spTree>
      <p:nvGrpSpPr>
        <p:cNvPr id="1" name=""/>
        <p:cNvGrpSpPr/>
        <p:nvPr/>
      </p:nvGrpSpPr>
      <p:grpSpPr>
        <a:xfrm>
          <a:off x="0" y="0"/>
          <a:ext cx="0" cy="0"/>
          <a:chOff x="0" y="0"/>
          <a:chExt cx="0" cy="0"/>
        </a:xfrm>
      </p:grpSpPr>
      <p:sp>
        <p:nvSpPr>
          <p:cNvPr id="5" name="Slide Number Placeholder 5"/>
          <p:cNvSpPr>
            <a:spLocks noGrp="1"/>
          </p:cNvSpPr>
          <p:nvPr>
            <p:ph type="sldNum" sz="quarter" idx="4"/>
          </p:nvPr>
        </p:nvSpPr>
        <p:spPr>
          <a:xfrm>
            <a:off x="8991600" y="6467708"/>
            <a:ext cx="2743200" cy="209316"/>
          </a:xfrm>
          <a:prstGeom prst="rect">
            <a:avLst/>
          </a:prstGeom>
        </p:spPr>
        <p:txBody>
          <a:bodyPr vert="horz" lIns="0" tIns="0" rIns="0" bIns="0" rtlCol="0" anchor="ctr"/>
          <a:lstStyle>
            <a:lvl1pPr algn="r">
              <a:defRPr sz="1000">
                <a:solidFill>
                  <a:schemeClr val="tx1">
                    <a:tint val="75000"/>
                  </a:schemeClr>
                </a:solidFill>
                <a:latin typeface="Lato" charset="0"/>
                <a:ea typeface="Lato" charset="0"/>
                <a:cs typeface="Lato" charset="0"/>
              </a:defRPr>
            </a:lvl1pPr>
          </a:lstStyle>
          <a:p>
            <a:fld id="{B68F88C8-0A9A-DA43-95C8-7FE161A05352}" type="slidenum">
              <a:rPr lang="en-US" smtClean="0"/>
              <a:pPr/>
              <a:t>‹#›</a:t>
            </a:fld>
            <a:endParaRPr lang="en-US"/>
          </a:p>
        </p:txBody>
      </p:sp>
      <p:sp>
        <p:nvSpPr>
          <p:cNvPr id="7" name="Title 6"/>
          <p:cNvSpPr>
            <a:spLocks noGrp="1"/>
          </p:cNvSpPr>
          <p:nvPr>
            <p:ph type="title"/>
          </p:nvPr>
        </p:nvSpPr>
        <p:spPr/>
        <p:txBody>
          <a:bodyPr lIns="0" rIns="0" anchor="t" anchorCtr="0">
            <a:noAutofit/>
          </a:bodyPr>
          <a:lstStyle>
            <a:lvl1pPr>
              <a:defRPr b="1" baseline="0">
                <a:latin typeface="+mj-lt"/>
              </a:defRPr>
            </a:lvl1pPr>
          </a:lstStyle>
          <a:p>
            <a:r>
              <a:rPr lang="en-US"/>
              <a:t>Click to edit Master title style</a:t>
            </a:r>
            <a:endParaRPr lang="en-US" dirty="0"/>
          </a:p>
        </p:txBody>
      </p:sp>
      <p:sp>
        <p:nvSpPr>
          <p:cNvPr id="12" name="Text Placeholder 11"/>
          <p:cNvSpPr>
            <a:spLocks noGrp="1"/>
          </p:cNvSpPr>
          <p:nvPr>
            <p:ph type="body" sz="quarter" idx="10"/>
          </p:nvPr>
        </p:nvSpPr>
        <p:spPr>
          <a:xfrm>
            <a:off x="457200" y="1690688"/>
            <a:ext cx="10214658" cy="4367212"/>
          </a:xfrm>
        </p:spPr>
        <p:txBody>
          <a:bodyPr tIns="0" bIns="91440">
            <a:noAutofit/>
          </a:bodyPr>
          <a:lstStyle>
            <a:lvl1pPr>
              <a:lnSpc>
                <a:spcPct val="108000"/>
              </a:lnSpc>
              <a:spcBef>
                <a:spcPts val="0"/>
              </a:spcBef>
              <a:spcAft>
                <a:spcPts val="1600"/>
              </a:spcAft>
              <a:defRPr baseline="0">
                <a:latin typeface="+mn-lt"/>
              </a:defRPr>
            </a:lvl1pPr>
            <a:lvl2pPr>
              <a:lnSpc>
                <a:spcPct val="108000"/>
              </a:lnSpc>
              <a:spcBef>
                <a:spcPts val="0"/>
              </a:spcBef>
              <a:spcAft>
                <a:spcPts val="1600"/>
              </a:spcAft>
              <a:defRPr>
                <a:latin typeface="+mn-lt"/>
              </a:defRPr>
            </a:lvl2pPr>
            <a:lvl3pPr>
              <a:lnSpc>
                <a:spcPct val="108000"/>
              </a:lnSpc>
              <a:spcBef>
                <a:spcPts val="0"/>
              </a:spcBef>
              <a:spcAft>
                <a:spcPts val="1600"/>
              </a:spcAft>
              <a:defRPr>
                <a:latin typeface="+mn-lt"/>
              </a:defRPr>
            </a:lvl3pPr>
            <a:lvl4pPr>
              <a:lnSpc>
                <a:spcPct val="108000"/>
              </a:lnSpc>
              <a:spcBef>
                <a:spcPts val="0"/>
              </a:spcBef>
              <a:spcAft>
                <a:spcPts val="1600"/>
              </a:spcAft>
              <a:defRPr>
                <a:latin typeface="+mn-lt"/>
              </a:defRPr>
            </a:lvl4pPr>
            <a:lvl5pPr>
              <a:lnSpc>
                <a:spcPct val="108000"/>
              </a:lnSpc>
              <a:spcBef>
                <a:spcPts val="0"/>
              </a:spcBef>
              <a:spcAft>
                <a:spcPts val="1600"/>
              </a:spcAft>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p:cNvSpPr txBox="1"/>
          <p:nvPr userDrawn="1"/>
        </p:nvSpPr>
        <p:spPr>
          <a:xfrm>
            <a:off x="265815" y="-496181"/>
            <a:ext cx="1999504" cy="483989"/>
          </a:xfrm>
          <a:prstGeom prst="round2SameRect">
            <a:avLst/>
          </a:prstGeom>
          <a:solidFill>
            <a:srgbClr val="F9FAF9"/>
          </a:solidFill>
          <a:ln w="6350">
            <a:solidFill>
              <a:schemeClr val="accent2"/>
            </a:solidFill>
          </a:ln>
        </p:spPr>
        <p:txBody>
          <a:bodyPr wrap="none" lIns="182880" tIns="91440" rIns="182880" bIns="182880" rtlCol="0">
            <a:spAutoFit/>
          </a:bodyPr>
          <a:lstStyle/>
          <a:p>
            <a:r>
              <a:rPr lang="en-US" sz="1200" b="1" dirty="0">
                <a:solidFill>
                  <a:schemeClr val="accent2"/>
                </a:solidFill>
              </a:rPr>
              <a:t>Master:</a:t>
            </a:r>
            <a:r>
              <a:rPr lang="en-US" sz="1200" b="1" baseline="0" dirty="0">
                <a:solidFill>
                  <a:schemeClr val="accent2"/>
                </a:solidFill>
              </a:rPr>
              <a:t> Title + Bullets</a:t>
            </a:r>
            <a:endParaRPr lang="en-US" sz="1200" b="1" dirty="0">
              <a:solidFill>
                <a:schemeClr val="accent2"/>
              </a:solidFill>
            </a:endParaRPr>
          </a:p>
        </p:txBody>
      </p:sp>
      <p:sp>
        <p:nvSpPr>
          <p:cNvPr id="8" name="Text Placeholder 2"/>
          <p:cNvSpPr>
            <a:spLocks noGrp="1"/>
          </p:cNvSpPr>
          <p:nvPr>
            <p:ph type="body" sz="quarter" idx="11" hasCustomPrompt="1"/>
          </p:nvPr>
        </p:nvSpPr>
        <p:spPr>
          <a:xfrm>
            <a:off x="457200" y="10511"/>
            <a:ext cx="2787943" cy="307777"/>
          </a:xfrm>
          <a:solidFill>
            <a:schemeClr val="accent1">
              <a:alpha val="5000"/>
            </a:schemeClr>
          </a:solidFill>
          <a:ln>
            <a:noFill/>
          </a:ln>
        </p:spPr>
        <p:txBody>
          <a:bodyPr wrap="none" lIns="91440" tIns="91440" rIns="91440" bIns="91440" anchor="ctr">
            <a:spAutoFit/>
          </a:bodyPr>
          <a:lstStyle>
            <a:lvl1pPr marL="0" indent="0" algn="l">
              <a:buFontTx/>
              <a:buNone/>
              <a:defRPr sz="800" b="0" cap="all" spc="100" baseline="0">
                <a:solidFill>
                  <a:schemeClr val="accent1"/>
                </a:solidFill>
                <a:latin typeface="+mj-lt"/>
              </a:defRPr>
            </a:lvl1pPr>
          </a:lstStyle>
          <a:p>
            <a:pPr lvl="0"/>
            <a:r>
              <a:rPr lang="en-US" dirty="0"/>
              <a:t>CLICK TO ADD optional SECTION HEADER</a:t>
            </a:r>
          </a:p>
        </p:txBody>
      </p:sp>
    </p:spTree>
    <p:extLst>
      <p:ext uri="{BB962C8B-B14F-4D97-AF65-F5344CB8AC3E}">
        <p14:creationId xmlns:p14="http://schemas.microsoft.com/office/powerpoint/2010/main" val="282527529"/>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Figure with bullets">
    <p:spTree>
      <p:nvGrpSpPr>
        <p:cNvPr id="1" name=""/>
        <p:cNvGrpSpPr/>
        <p:nvPr/>
      </p:nvGrpSpPr>
      <p:grpSpPr>
        <a:xfrm>
          <a:off x="0" y="0"/>
          <a:ext cx="0" cy="0"/>
          <a:chOff x="0" y="0"/>
          <a:chExt cx="0" cy="0"/>
        </a:xfrm>
      </p:grpSpPr>
      <p:sp>
        <p:nvSpPr>
          <p:cNvPr id="7" name="Slide Number Placeholder 5"/>
          <p:cNvSpPr>
            <a:spLocks noGrp="1"/>
          </p:cNvSpPr>
          <p:nvPr>
            <p:ph type="sldNum" sz="quarter" idx="4"/>
          </p:nvPr>
        </p:nvSpPr>
        <p:spPr>
          <a:xfrm>
            <a:off x="8991600" y="6467708"/>
            <a:ext cx="2743200" cy="209316"/>
          </a:xfrm>
          <a:prstGeom prst="rect">
            <a:avLst/>
          </a:prstGeom>
        </p:spPr>
        <p:txBody>
          <a:bodyPr vert="horz" lIns="0" tIns="0" rIns="0" bIns="0" rtlCol="0" anchor="ctr"/>
          <a:lstStyle>
            <a:lvl1pPr algn="r">
              <a:defRPr sz="1000">
                <a:solidFill>
                  <a:schemeClr val="tx1">
                    <a:tint val="75000"/>
                  </a:schemeClr>
                </a:solidFill>
                <a:latin typeface="Lato" charset="0"/>
                <a:ea typeface="Lato" charset="0"/>
                <a:cs typeface="Lato" charset="0"/>
              </a:defRPr>
            </a:lvl1pPr>
          </a:lstStyle>
          <a:p>
            <a:fld id="{B68F88C8-0A9A-DA43-95C8-7FE161A05352}" type="slidenum">
              <a:rPr lang="en-US" smtClean="0"/>
              <a:pPr/>
              <a:t>‹#›</a:t>
            </a:fld>
            <a:endParaRPr lang="en-US"/>
          </a:p>
        </p:txBody>
      </p:sp>
      <p:sp>
        <p:nvSpPr>
          <p:cNvPr id="6" name="Title 5"/>
          <p:cNvSpPr>
            <a:spLocks noGrp="1"/>
          </p:cNvSpPr>
          <p:nvPr>
            <p:ph type="title"/>
          </p:nvPr>
        </p:nvSpPr>
        <p:spPr>
          <a:xfrm>
            <a:off x="457200" y="533400"/>
            <a:ext cx="3657600" cy="1711036"/>
          </a:xfrm>
        </p:spPr>
        <p:txBody>
          <a:bodyPr anchor="b">
            <a:noAutofit/>
          </a:bodyPr>
          <a:lstStyle>
            <a:lvl1pPr>
              <a:lnSpc>
                <a:spcPct val="100000"/>
              </a:lnSpc>
              <a:spcAft>
                <a:spcPts val="1200"/>
              </a:spcAft>
              <a:defRPr sz="2200" b="1" i="0" baseline="0">
                <a:latin typeface="+mj-lt"/>
              </a:defRPr>
            </a:lvl1pPr>
          </a:lstStyle>
          <a:p>
            <a:r>
              <a:rPr lang="en-US"/>
              <a:t>Click to edit Master title style</a:t>
            </a:r>
            <a:endParaRPr lang="en-US" dirty="0"/>
          </a:p>
        </p:txBody>
      </p:sp>
      <p:sp>
        <p:nvSpPr>
          <p:cNvPr id="3" name="Text Placeholder 2"/>
          <p:cNvSpPr>
            <a:spLocks noGrp="1"/>
          </p:cNvSpPr>
          <p:nvPr>
            <p:ph type="body" sz="quarter" idx="11"/>
          </p:nvPr>
        </p:nvSpPr>
        <p:spPr>
          <a:xfrm>
            <a:off x="457200" y="2481263"/>
            <a:ext cx="3657600" cy="3254375"/>
          </a:xfrm>
        </p:spPr>
        <p:txBody>
          <a:bodyPr>
            <a:noAutofit/>
          </a:bodyPr>
          <a:lstStyle>
            <a:lvl1pPr>
              <a:defRPr sz="2200" baseline="0">
                <a:solidFill>
                  <a:schemeClr val="tx1"/>
                </a:solidFill>
              </a:defRPr>
            </a:lvl1pPr>
            <a:lvl2pPr>
              <a:defRPr sz="2200" baseline="0">
                <a:solidFill>
                  <a:schemeClr val="tx1"/>
                </a:solidFill>
              </a:defRPr>
            </a:lvl2pPr>
            <a:lvl3pPr>
              <a:defRPr sz="2200" baseline="0">
                <a:solidFill>
                  <a:schemeClr val="tx1"/>
                </a:solidFill>
              </a:defRPr>
            </a:lvl3pPr>
            <a:lvl4pPr>
              <a:defRPr sz="2200" baseline="0">
                <a:solidFill>
                  <a:schemeClr val="tx1"/>
                </a:solidFill>
              </a:defRPr>
            </a:lvl4pPr>
            <a:lvl5pPr>
              <a:defRPr sz="2200" baseline="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Box 9"/>
          <p:cNvSpPr txBox="1"/>
          <p:nvPr userDrawn="1"/>
        </p:nvSpPr>
        <p:spPr>
          <a:xfrm>
            <a:off x="265815" y="-496181"/>
            <a:ext cx="3318584" cy="483989"/>
          </a:xfrm>
          <a:prstGeom prst="round2SameRect">
            <a:avLst/>
          </a:prstGeom>
          <a:solidFill>
            <a:srgbClr val="F9FAF9"/>
          </a:solidFill>
          <a:ln w="6350">
            <a:solidFill>
              <a:schemeClr val="accent2"/>
            </a:solidFill>
          </a:ln>
        </p:spPr>
        <p:txBody>
          <a:bodyPr wrap="none" lIns="182880" tIns="91440" rIns="182880" bIns="182880" rtlCol="0">
            <a:spAutoFit/>
          </a:bodyPr>
          <a:lstStyle/>
          <a:p>
            <a:r>
              <a:rPr lang="en-US" sz="1200" b="1" dirty="0">
                <a:solidFill>
                  <a:schemeClr val="accent2"/>
                </a:solidFill>
              </a:rPr>
              <a:t>Master:</a:t>
            </a:r>
            <a:r>
              <a:rPr lang="en-US" sz="1200" b="1" baseline="0" dirty="0">
                <a:solidFill>
                  <a:schemeClr val="accent2"/>
                </a:solidFill>
              </a:rPr>
              <a:t> Figure with annotation + bullets</a:t>
            </a:r>
            <a:endParaRPr lang="en-US" sz="1200" b="1" dirty="0">
              <a:solidFill>
                <a:schemeClr val="accent2"/>
              </a:solidFill>
            </a:endParaRPr>
          </a:p>
        </p:txBody>
      </p:sp>
      <p:sp>
        <p:nvSpPr>
          <p:cNvPr id="11" name="Content Placeholder 2"/>
          <p:cNvSpPr>
            <a:spLocks noGrp="1"/>
          </p:cNvSpPr>
          <p:nvPr>
            <p:ph sz="quarter" idx="10"/>
          </p:nvPr>
        </p:nvSpPr>
        <p:spPr>
          <a:xfrm>
            <a:off x="5257800" y="533400"/>
            <a:ext cx="6477000" cy="5524500"/>
          </a:xfrm>
          <a:noFill/>
        </p:spPr>
        <p:txBody>
          <a:bodyPr vert="horz" lIns="0" tIns="45720" rIns="0" bIns="45720" rtlCol="0">
            <a:normAutofit/>
          </a:bodyPr>
          <a:lstStyle>
            <a:lvl1pPr marL="228600" indent="-228600">
              <a:buNone/>
              <a:defRPr lang="en-US" smtClean="0">
                <a:solidFill>
                  <a:schemeClr val="accent2">
                    <a:lumMod val="60000"/>
                    <a:lumOff val="40000"/>
                  </a:schemeClr>
                </a:solidFill>
              </a:defRPr>
            </a:lvl1pPr>
            <a:lvl2pPr>
              <a:defRPr lang="en-US" smtClean="0"/>
            </a:lvl2pPr>
            <a:lvl3pPr>
              <a:defRPr lang="en-US" smtClean="0"/>
            </a:lvl3pPr>
            <a:lvl4pPr>
              <a:defRPr lang="en-US" smtClean="0"/>
            </a:lvl4pPr>
            <a:lvl5pPr>
              <a:defRPr lang="en-US"/>
            </a:lvl5pPr>
          </a:lstStyle>
          <a:p>
            <a:pPr marL="0" lvl="0" indent="0" algn="ctr"/>
            <a:r>
              <a:rPr lang="en-US"/>
              <a:t>Click to edit Master text styles</a:t>
            </a:r>
          </a:p>
          <a:p>
            <a:pPr marL="0" lvl="1" indent="0" algn="ctr"/>
            <a:r>
              <a:rPr lang="en-US"/>
              <a:t>Second level</a:t>
            </a:r>
          </a:p>
        </p:txBody>
      </p:sp>
      <p:sp>
        <p:nvSpPr>
          <p:cNvPr id="8" name="Text Placeholder 2">
            <a:extLst>
              <a:ext uri="{FF2B5EF4-FFF2-40B4-BE49-F238E27FC236}">
                <a16:creationId xmlns:a16="http://schemas.microsoft.com/office/drawing/2014/main" id="{D7D7F6C5-3DA8-6043-843B-8F5B92A0628A}"/>
              </a:ext>
            </a:extLst>
          </p:cNvPr>
          <p:cNvSpPr>
            <a:spLocks noGrp="1"/>
          </p:cNvSpPr>
          <p:nvPr>
            <p:ph type="body" sz="quarter" idx="12" hasCustomPrompt="1"/>
          </p:nvPr>
        </p:nvSpPr>
        <p:spPr>
          <a:xfrm>
            <a:off x="457200" y="10511"/>
            <a:ext cx="2787943" cy="307777"/>
          </a:xfrm>
          <a:solidFill>
            <a:schemeClr val="accent1">
              <a:alpha val="5000"/>
            </a:schemeClr>
          </a:solidFill>
          <a:ln>
            <a:noFill/>
          </a:ln>
        </p:spPr>
        <p:txBody>
          <a:bodyPr wrap="none" lIns="91440" tIns="91440" rIns="91440" bIns="91440" anchor="ctr">
            <a:spAutoFit/>
          </a:bodyPr>
          <a:lstStyle>
            <a:lvl1pPr marL="0" indent="0" algn="l">
              <a:buFontTx/>
              <a:buNone/>
              <a:defRPr sz="800" b="0" cap="all" spc="100" baseline="0">
                <a:solidFill>
                  <a:schemeClr val="accent1"/>
                </a:solidFill>
                <a:latin typeface="+mj-lt"/>
              </a:defRPr>
            </a:lvl1pPr>
          </a:lstStyle>
          <a:p>
            <a:pPr lvl="0"/>
            <a:r>
              <a:rPr lang="en-US" dirty="0"/>
              <a:t>CLICK TO ADD optional SECTION HEADER</a:t>
            </a:r>
          </a:p>
        </p:txBody>
      </p:sp>
    </p:spTree>
    <p:extLst>
      <p:ext uri="{BB962C8B-B14F-4D97-AF65-F5344CB8AC3E}">
        <p14:creationId xmlns:p14="http://schemas.microsoft.com/office/powerpoint/2010/main" val="2583934272"/>
      </p:ext>
    </p:extLst>
  </p:cSld>
  <p:clrMapOvr>
    <a:masterClrMapping/>
  </p:clrMapOvr>
  <p:transition>
    <p:fade/>
  </p:transition>
  <p:extLst>
    <p:ext uri="{DCECCB84-F9BA-43D5-87BE-67443E8EF086}">
      <p15:sldGuideLst xmlns:p15="http://schemas.microsoft.com/office/powerpoint/2012/main">
        <p15:guide id="1" pos="3312">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image" Target="../media/image4.png"/><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2.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5" Type="http://schemas.openxmlformats.org/officeDocument/2006/relationships/image" Target="../media/image6.png"/><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533400"/>
            <a:ext cx="11277600" cy="1157288"/>
          </a:xfrm>
          <a:prstGeom prst="rect">
            <a:avLst/>
          </a:prstGeom>
        </p:spPr>
        <p:txBody>
          <a:bodyPr vert="horz" lIns="0" tIns="45720" rIns="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825625"/>
            <a:ext cx="11277600" cy="4232275"/>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4"/>
          </p:nvPr>
        </p:nvSpPr>
        <p:spPr>
          <a:xfrm>
            <a:off x="8991600" y="6467708"/>
            <a:ext cx="2743200" cy="209316"/>
          </a:xfrm>
          <a:prstGeom prst="rect">
            <a:avLst/>
          </a:prstGeom>
        </p:spPr>
        <p:txBody>
          <a:bodyPr vert="horz" lIns="0" tIns="0" rIns="0" bIns="0" rtlCol="0" anchor="ctr"/>
          <a:lstStyle>
            <a:lvl1pPr algn="r">
              <a:defRPr sz="1000">
                <a:solidFill>
                  <a:schemeClr val="tx1">
                    <a:tint val="75000"/>
                  </a:schemeClr>
                </a:solidFill>
                <a:latin typeface="Lato" charset="0"/>
                <a:ea typeface="Lato" charset="0"/>
                <a:cs typeface="Lato" charset="0"/>
              </a:defRPr>
            </a:lvl1pPr>
          </a:lstStyle>
          <a:p>
            <a:fld id="{22BC1EAB-2205-4A66-85F8-1AF2F6EE9A7E}" type="slidenum">
              <a:rPr lang="en-US" smtClean="0"/>
              <a:t>‹#›</a:t>
            </a:fld>
            <a:endParaRPr lang="en-US"/>
          </a:p>
        </p:txBody>
      </p:sp>
      <p:pic>
        <p:nvPicPr>
          <p:cNvPr id="8" name="Picture 7"/>
          <p:cNvPicPr>
            <a:picLocks noChangeAspect="1"/>
          </p:cNvPicPr>
          <p:nvPr/>
        </p:nvPicPr>
        <p:blipFill rotWithShape="1">
          <a:blip r:embed="rId18">
            <a:extLst>
              <a:ext uri="{28A0092B-C50C-407E-A947-70E740481C1C}">
                <a14:useLocalDpi xmlns:a14="http://schemas.microsoft.com/office/drawing/2010/main"/>
              </a:ext>
            </a:extLst>
          </a:blip>
          <a:srcRect l="14990" t="-24944" r="1"/>
          <a:stretch/>
        </p:blipFill>
        <p:spPr>
          <a:xfrm>
            <a:off x="320675" y="6521450"/>
            <a:ext cx="2391113" cy="102824"/>
          </a:xfrm>
          <a:prstGeom prst="rect">
            <a:avLst/>
          </a:prstGeom>
        </p:spPr>
      </p:pic>
      <p:sp>
        <p:nvSpPr>
          <p:cNvPr id="4" name="Oval 3"/>
          <p:cNvSpPr/>
          <p:nvPr/>
        </p:nvSpPr>
        <p:spPr>
          <a:xfrm>
            <a:off x="-550072" y="117081"/>
            <a:ext cx="231648" cy="23164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noFill/>
              </a:ln>
            </a:endParaRPr>
          </a:p>
        </p:txBody>
      </p:sp>
      <p:sp>
        <p:nvSpPr>
          <p:cNvPr id="7" name="Oval 6"/>
          <p:cNvSpPr/>
          <p:nvPr/>
        </p:nvSpPr>
        <p:spPr>
          <a:xfrm>
            <a:off x="-550072" y="452571"/>
            <a:ext cx="231648" cy="2316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noFill/>
              </a:ln>
            </a:endParaRPr>
          </a:p>
        </p:txBody>
      </p:sp>
      <p:sp>
        <p:nvSpPr>
          <p:cNvPr id="9" name="Oval 8"/>
          <p:cNvSpPr/>
          <p:nvPr/>
        </p:nvSpPr>
        <p:spPr>
          <a:xfrm>
            <a:off x="-550072" y="788061"/>
            <a:ext cx="231648" cy="23164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noFill/>
              </a:ln>
            </a:endParaRPr>
          </a:p>
        </p:txBody>
      </p:sp>
      <p:sp>
        <p:nvSpPr>
          <p:cNvPr id="11" name="Oval 10"/>
          <p:cNvSpPr/>
          <p:nvPr/>
        </p:nvSpPr>
        <p:spPr>
          <a:xfrm>
            <a:off x="-550072" y="1123551"/>
            <a:ext cx="231648" cy="23164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noFill/>
              </a:ln>
            </a:endParaRPr>
          </a:p>
        </p:txBody>
      </p:sp>
      <p:sp>
        <p:nvSpPr>
          <p:cNvPr id="12" name="Oval 11"/>
          <p:cNvSpPr/>
          <p:nvPr/>
        </p:nvSpPr>
        <p:spPr>
          <a:xfrm>
            <a:off x="-550072" y="1459040"/>
            <a:ext cx="231648" cy="23164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noFill/>
              </a:ln>
            </a:endParaRPr>
          </a:p>
        </p:txBody>
      </p:sp>
      <p:sp>
        <p:nvSpPr>
          <p:cNvPr id="5" name="TextBox 4"/>
          <p:cNvSpPr txBox="1"/>
          <p:nvPr/>
        </p:nvSpPr>
        <p:spPr>
          <a:xfrm>
            <a:off x="-888626" y="31354"/>
            <a:ext cx="338554" cy="1674497"/>
          </a:xfrm>
          <a:prstGeom prst="rect">
            <a:avLst/>
          </a:prstGeom>
          <a:noFill/>
        </p:spPr>
        <p:txBody>
          <a:bodyPr vert="vert270" wrap="none" rtlCol="0">
            <a:spAutoFit/>
          </a:bodyPr>
          <a:lstStyle/>
          <a:p>
            <a:r>
              <a:rPr lang="en-US" sz="1000" b="1" spc="0" dirty="0">
                <a:solidFill>
                  <a:schemeClr val="tx1">
                    <a:lumMod val="60000"/>
                    <a:lumOff val="40000"/>
                  </a:schemeClr>
                </a:solidFill>
              </a:rPr>
              <a:t>URBAN</a:t>
            </a:r>
            <a:r>
              <a:rPr lang="en-US" sz="1000" b="1" spc="0" baseline="0" dirty="0">
                <a:solidFill>
                  <a:schemeClr val="tx1">
                    <a:lumMod val="60000"/>
                    <a:lumOff val="40000"/>
                  </a:schemeClr>
                </a:solidFill>
              </a:rPr>
              <a:t> COLOR PALETTE</a:t>
            </a:r>
            <a:endParaRPr lang="en-US" sz="1000" b="1" spc="0" dirty="0">
              <a:solidFill>
                <a:schemeClr val="tx1">
                  <a:lumMod val="60000"/>
                  <a:lumOff val="40000"/>
                </a:schemeClr>
              </a:solidFill>
            </a:endParaRPr>
          </a:p>
        </p:txBody>
      </p:sp>
      <p:sp>
        <p:nvSpPr>
          <p:cNvPr id="13" name="TextBox 12"/>
          <p:cNvSpPr txBox="1"/>
          <p:nvPr/>
        </p:nvSpPr>
        <p:spPr>
          <a:xfrm>
            <a:off x="10489920" y="7020156"/>
            <a:ext cx="1733167" cy="246221"/>
          </a:xfrm>
          <a:prstGeom prst="rect">
            <a:avLst/>
          </a:prstGeom>
          <a:noFill/>
        </p:spPr>
        <p:txBody>
          <a:bodyPr vert="horz" wrap="none" rtlCol="0">
            <a:spAutoFit/>
          </a:bodyPr>
          <a:lstStyle/>
          <a:p>
            <a:pPr algn="r"/>
            <a:r>
              <a:rPr lang="en-US" sz="1000" b="1" spc="0" dirty="0">
                <a:solidFill>
                  <a:schemeClr val="tx1">
                    <a:lumMod val="60000"/>
                    <a:lumOff val="40000"/>
                  </a:schemeClr>
                </a:solidFill>
              </a:rPr>
              <a:t>TEMPLATE VERSION 2.2</a:t>
            </a:r>
            <a:endParaRPr lang="en-US" sz="1000" b="1" spc="0" dirty="0">
              <a:solidFill>
                <a:schemeClr val="tx1"/>
              </a:solidFill>
            </a:endParaRPr>
          </a:p>
        </p:txBody>
      </p:sp>
    </p:spTree>
    <p:extLst>
      <p:ext uri="{BB962C8B-B14F-4D97-AF65-F5344CB8AC3E}">
        <p14:creationId xmlns:p14="http://schemas.microsoft.com/office/powerpoint/2010/main" val="9626013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ransition>
    <p:fade/>
  </p:transition>
  <p:txStyles>
    <p:titleStyle>
      <a:lvl1pPr algn="l" defTabSz="914400" rtl="0" eaLnBrk="1" latinLnBrk="0" hangingPunct="1">
        <a:lnSpc>
          <a:spcPct val="90000"/>
        </a:lnSpc>
        <a:spcBef>
          <a:spcPct val="0"/>
        </a:spcBef>
        <a:buNone/>
        <a:defRPr sz="3400" b="1" kern="1200" baseline="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0"/>
        </a:spcBef>
        <a:spcAft>
          <a:spcPts val="1600"/>
        </a:spcAft>
        <a:buClr>
          <a:schemeClr val="accent1"/>
        </a:buClr>
        <a:buFont typeface="Wingdings" charset="2"/>
        <a:buChar char="§"/>
        <a:defRPr sz="2200" kern="1200">
          <a:solidFill>
            <a:schemeClr val="tx1"/>
          </a:solidFill>
          <a:latin typeface="+mn-lt"/>
          <a:ea typeface="+mn-ea"/>
          <a:cs typeface="+mn-cs"/>
        </a:defRPr>
      </a:lvl1pPr>
      <a:lvl2pPr marL="685800" indent="-228600" algn="l" defTabSz="914400" rtl="0" eaLnBrk="1" latinLnBrk="0" hangingPunct="1">
        <a:lnSpc>
          <a:spcPct val="100000"/>
        </a:lnSpc>
        <a:spcBef>
          <a:spcPts val="0"/>
        </a:spcBef>
        <a:spcAft>
          <a:spcPts val="1600"/>
        </a:spcAft>
        <a:buClr>
          <a:schemeClr val="accent1"/>
        </a:buClr>
        <a:buFont typeface="Wingdings" charset="2"/>
        <a:buChar char="§"/>
        <a:defRPr sz="2000" kern="1200">
          <a:solidFill>
            <a:schemeClr val="tx1"/>
          </a:solidFill>
          <a:latin typeface="+mn-lt"/>
          <a:ea typeface="+mn-ea"/>
          <a:cs typeface="+mn-cs"/>
        </a:defRPr>
      </a:lvl2pPr>
      <a:lvl3pPr marL="1143000" indent="-228600" algn="l" defTabSz="914400" rtl="0" eaLnBrk="1" latinLnBrk="0" hangingPunct="1">
        <a:lnSpc>
          <a:spcPct val="100000"/>
        </a:lnSpc>
        <a:spcBef>
          <a:spcPts val="0"/>
        </a:spcBef>
        <a:spcAft>
          <a:spcPts val="1600"/>
        </a:spcAft>
        <a:buClr>
          <a:schemeClr val="accent1"/>
        </a:buClr>
        <a:buFont typeface="Wingdings" charset="2"/>
        <a:buChar char="§"/>
        <a:defRPr sz="1800" kern="1200">
          <a:solidFill>
            <a:schemeClr val="tx1"/>
          </a:solidFill>
          <a:latin typeface="+mn-lt"/>
          <a:ea typeface="+mn-ea"/>
          <a:cs typeface="+mn-cs"/>
        </a:defRPr>
      </a:lvl3pPr>
      <a:lvl4pPr marL="1600200" indent="-228600" algn="l" defTabSz="914400" rtl="0" eaLnBrk="1" latinLnBrk="0" hangingPunct="1">
        <a:lnSpc>
          <a:spcPct val="100000"/>
        </a:lnSpc>
        <a:spcBef>
          <a:spcPts val="0"/>
        </a:spcBef>
        <a:spcAft>
          <a:spcPts val="1600"/>
        </a:spcAft>
        <a:buClr>
          <a:schemeClr val="accent1"/>
        </a:buClr>
        <a:buFont typeface="Wingdings" charset="2"/>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0"/>
        </a:spcBef>
        <a:spcAft>
          <a:spcPts val="1600"/>
        </a:spcAft>
        <a:buClr>
          <a:schemeClr val="accent1"/>
        </a:buClr>
        <a:buFont typeface="Wingdings"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288">
          <p15:clr>
            <a:srgbClr val="F26B43"/>
          </p15:clr>
        </p15:guide>
        <p15:guide id="4" orient="horz" pos="336">
          <p15:clr>
            <a:srgbClr val="F26B43"/>
          </p15:clr>
        </p15:guide>
        <p15:guide id="5" orient="horz" pos="3816">
          <p15:clr>
            <a:srgbClr val="F26B43"/>
          </p15:clr>
        </p15:guide>
        <p15:guide id="6" pos="2592">
          <p15:clr>
            <a:srgbClr val="F26B43"/>
          </p15:clr>
        </p15:guide>
        <p15:guide id="7" pos="7392">
          <p15:clr>
            <a:srgbClr val="F26B43"/>
          </p15:clr>
        </p15:guide>
        <p15:guide id="8" orient="horz" pos="417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userDrawn="1"/>
        </p:nvGrpSpPr>
        <p:grpSpPr>
          <a:xfrm>
            <a:off x="3048" y="-5407"/>
            <a:ext cx="12188952" cy="6863407"/>
            <a:chOff x="3048" y="-5407"/>
            <a:chExt cx="12188952" cy="6863407"/>
          </a:xfrm>
        </p:grpSpPr>
        <p:sp>
          <p:nvSpPr>
            <p:cNvPr id="12" name="Rectangle 11"/>
            <p:cNvSpPr/>
            <p:nvPr userDrawn="1"/>
          </p:nvSpPr>
          <p:spPr>
            <a:xfrm>
              <a:off x="3048" y="6311900"/>
              <a:ext cx="12188952" cy="5461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userDrawn="1"/>
          </p:nvSpPr>
          <p:spPr>
            <a:xfrm>
              <a:off x="3048" y="-5407"/>
              <a:ext cx="12188952" cy="1367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14" name="Picture 13" descr="Left side has a closeup of hands on a keyboard and right side has a closeup of three people's faces"/>
          <p:cNvPicPr>
            <a:picLocks noChangeAspect="1"/>
          </p:cNvPicPr>
          <p:nvPr userDrawn="1"/>
        </p:nvPicPr>
        <p:blipFill rotWithShape="1">
          <a:blip r:embed="rId13" cstate="print">
            <a:extLst>
              <a:ext uri="{28A0092B-C50C-407E-A947-70E740481C1C}">
                <a14:useLocalDpi xmlns:a14="http://schemas.microsoft.com/office/drawing/2010/main" val="0"/>
              </a:ext>
            </a:extLst>
          </a:blip>
          <a:srcRect b="73740"/>
          <a:stretch/>
        </p:blipFill>
        <p:spPr>
          <a:xfrm>
            <a:off x="2620347" y="-7553"/>
            <a:ext cx="6964163" cy="1371600"/>
          </a:xfrm>
          <a:prstGeom prst="rect">
            <a:avLst/>
          </a:prstGeom>
          <a:effectLst>
            <a:innerShdw blurRad="114300">
              <a:prstClr val="black"/>
            </a:innerShdw>
          </a:effectLst>
        </p:spPr>
      </p:pic>
      <p:sp>
        <p:nvSpPr>
          <p:cNvPr id="2" name="Title Placeholder 1"/>
          <p:cNvSpPr>
            <a:spLocks noGrp="1"/>
          </p:cNvSpPr>
          <p:nvPr userDrawn="1">
            <p:ph type="title"/>
          </p:nvPr>
        </p:nvSpPr>
        <p:spPr>
          <a:xfrm>
            <a:off x="838200" y="1447800"/>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userDrawn="1">
            <p:ph type="body" idx="1"/>
          </p:nvPr>
        </p:nvSpPr>
        <p:spPr>
          <a:xfrm>
            <a:off x="838200" y="2955073"/>
            <a:ext cx="10515600" cy="322189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userDrawn="1">
            <p:ph type="dt" sz="half" idx="2"/>
          </p:nvPr>
        </p:nvSpPr>
        <p:spPr>
          <a:xfrm>
            <a:off x="838200" y="6356350"/>
            <a:ext cx="3276600" cy="365125"/>
          </a:xfrm>
          <a:prstGeom prst="rect">
            <a:avLst/>
          </a:prstGeom>
        </p:spPr>
        <p:txBody>
          <a:bodyPr vert="horz" lIns="91440" tIns="45720" rIns="91440" bIns="45720" rtlCol="0" anchor="ctr"/>
          <a:lstStyle>
            <a:lvl1pPr algn="l">
              <a:defRPr sz="1200">
                <a:solidFill>
                  <a:schemeClr val="accent3">
                    <a:lumMod val="50000"/>
                  </a:schemeClr>
                </a:solidFill>
              </a:defRPr>
            </a:lvl1pPr>
          </a:lstStyle>
          <a:p>
            <a:fld id="{94E89B23-35CB-4EB5-A795-1AB905C15104}" type="datetime1">
              <a:rPr lang="en-US" smtClean="0"/>
              <a:t>7/18/2023</a:t>
            </a:fld>
            <a:endParaRPr lang="en-US" dirty="0"/>
          </a:p>
        </p:txBody>
      </p:sp>
      <p:sp>
        <p:nvSpPr>
          <p:cNvPr id="5" name="Footer Placeholder 4"/>
          <p:cNvSpPr>
            <a:spLocks noGrp="1"/>
          </p:cNvSpPr>
          <p:nvPr userDrawn="1">
            <p:ph type="ftr" sz="quarter" idx="3"/>
          </p:nvPr>
        </p:nvSpPr>
        <p:spPr>
          <a:xfrm>
            <a:off x="4648200" y="6356350"/>
            <a:ext cx="2895600" cy="365125"/>
          </a:xfrm>
          <a:prstGeom prst="rect">
            <a:avLst/>
          </a:prstGeom>
        </p:spPr>
        <p:txBody>
          <a:bodyPr vert="horz" lIns="91440" tIns="45720" rIns="91440" bIns="45720" rtlCol="0" anchor="ctr"/>
          <a:lstStyle>
            <a:lvl1pPr algn="ctr">
              <a:defRPr sz="1200">
                <a:solidFill>
                  <a:schemeClr val="accent3">
                    <a:lumMod val="50000"/>
                  </a:schemeClr>
                </a:solidFill>
              </a:defRPr>
            </a:lvl1pPr>
          </a:lstStyle>
          <a:p>
            <a:r>
              <a:rPr lang="en-US" dirty="0"/>
              <a:t>Add a footer</a:t>
            </a:r>
          </a:p>
        </p:txBody>
      </p:sp>
      <p:sp>
        <p:nvSpPr>
          <p:cNvPr id="6" name="Slide Number Placeholder 5"/>
          <p:cNvSpPr>
            <a:spLocks noGrp="1"/>
          </p:cNvSpPr>
          <p:nvPr userDrawn="1">
            <p:ph type="sldNum" sz="quarter" idx="4"/>
          </p:nvPr>
        </p:nvSpPr>
        <p:spPr>
          <a:xfrm>
            <a:off x="8077200" y="6356350"/>
            <a:ext cx="3276600" cy="365125"/>
          </a:xfrm>
          <a:prstGeom prst="rect">
            <a:avLst/>
          </a:prstGeom>
        </p:spPr>
        <p:txBody>
          <a:bodyPr vert="horz" lIns="91440" tIns="45720" rIns="91440" bIns="45720" rtlCol="0" anchor="ctr"/>
          <a:lstStyle>
            <a:lvl1pPr algn="r">
              <a:defRPr sz="1200">
                <a:solidFill>
                  <a:schemeClr val="accent3">
                    <a:lumMod val="50000"/>
                  </a:schemeClr>
                </a:solidFill>
              </a:defRPr>
            </a:lvl1pPr>
          </a:lstStyle>
          <a:p>
            <a:fld id="{0C8C4CCD-1362-4CC7-BA2D-0BEF6B3ABFE9}" type="slidenum">
              <a:rPr lang="en-US" smtClean="0"/>
              <a:pPr/>
              <a:t>‹#›</a:t>
            </a:fld>
            <a:endParaRPr lang="en-US" dirty="0"/>
          </a:p>
        </p:txBody>
      </p:sp>
    </p:spTree>
    <p:extLst>
      <p:ext uri="{BB962C8B-B14F-4D97-AF65-F5344CB8AC3E}">
        <p14:creationId xmlns:p14="http://schemas.microsoft.com/office/powerpoint/2010/main" val="182015784"/>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spcBef>
          <a:spcPct val="0"/>
        </a:spcBef>
        <a:buNone/>
        <a:defRPr sz="4400" kern="1200">
          <a:solidFill>
            <a:schemeClr val="tx2"/>
          </a:solidFill>
          <a:latin typeface="+mj-lt"/>
          <a:ea typeface="+mj-ea"/>
          <a:cs typeface="+mj-cs"/>
        </a:defRPr>
      </a:lvl1pPr>
    </p:titleStyle>
    <p:bodyStyle>
      <a:lvl1pPr marL="228600" indent="-228600" algn="l" defTabSz="914400" rtl="0" eaLnBrk="1" latinLnBrk="0" hangingPunct="1">
        <a:lnSpc>
          <a:spcPct val="100000"/>
        </a:lnSpc>
        <a:spcBef>
          <a:spcPct val="30000"/>
        </a:spcBef>
        <a:buClr>
          <a:schemeClr val="accent1">
            <a:lumMod val="50000"/>
          </a:schemeClr>
        </a:buClr>
        <a:buSzPct val="80000"/>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ct val="30000"/>
        </a:spcBef>
        <a:buClr>
          <a:schemeClr val="accent1">
            <a:lumMod val="50000"/>
          </a:schemeClr>
        </a:buClr>
        <a:buSzPct val="80000"/>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ct val="30000"/>
        </a:spcBef>
        <a:buClr>
          <a:schemeClr val="accent1">
            <a:lumMod val="50000"/>
          </a:schemeClr>
        </a:buClr>
        <a:buSzPct val="80000"/>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ct val="30000"/>
        </a:spcBef>
        <a:buClr>
          <a:schemeClr val="accent1">
            <a:lumMod val="50000"/>
          </a:schemeClr>
        </a:buClr>
        <a:buSzPct val="80000"/>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ct val="30000"/>
        </a:spcBef>
        <a:buClr>
          <a:schemeClr val="accent1">
            <a:lumMod val="50000"/>
          </a:schemeClr>
        </a:buClr>
        <a:buSzPct val="80000"/>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Clr>
          <a:schemeClr val="accent1">
            <a:lumMod val="50000"/>
          </a:schemeClr>
        </a:buClr>
        <a:buSzPct val="80000"/>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Clr>
          <a:schemeClr val="accent1">
            <a:lumMod val="50000"/>
          </a:schemeClr>
        </a:buClr>
        <a:buSzPct val="80000"/>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Clr>
          <a:schemeClr val="accent1">
            <a:lumMod val="50000"/>
          </a:schemeClr>
        </a:buClr>
        <a:buSzPct val="80000"/>
        <a:buFont typeface="Arial" panose="020B0604020202020204" pitchFamily="34" charset="0"/>
        <a:buChar char="•"/>
        <a:defRPr sz="1800" kern="1200">
          <a:solidFill>
            <a:schemeClr val="tx1"/>
          </a:solidFill>
          <a:latin typeface="+mn-lt"/>
          <a:ea typeface="+mn-ea"/>
          <a:cs typeface="+mn-cs"/>
        </a:defRPr>
      </a:lvl8pPr>
      <a:lvl9pPr marL="3657600" indent="0" algn="l" defTabSz="914400" rtl="0" eaLnBrk="1" latinLnBrk="0" hangingPunct="1">
        <a:lnSpc>
          <a:spcPct val="90000"/>
        </a:lnSpc>
        <a:spcBef>
          <a:spcPct val="30000"/>
        </a:spcBef>
        <a:buClr>
          <a:schemeClr val="accent1">
            <a:lumMod val="50000"/>
          </a:schemeClr>
        </a:buClr>
        <a:buSzPct val="80000"/>
        <a:buFont typeface="Arial" panose="020B0604020202020204" pitchFamily="34" charset="0"/>
        <a:buNone/>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0" orient="horz" pos="1848">
          <p15:clr>
            <a:srgbClr val="F26B43"/>
          </p15:clr>
        </p15:guide>
        <p15:guide id="1" pos="3840">
          <p15:clr>
            <a:srgbClr val="F26B43"/>
          </p15:clr>
        </p15:guide>
        <p15:guide id="2" orient="horz" pos="912">
          <p15:clr>
            <a:srgbClr val="F26B43"/>
          </p15:clr>
        </p15:guide>
        <p15:guide id="3" orient="horz" pos="3888">
          <p15:clr>
            <a:srgbClr val="F26B43"/>
          </p15:clr>
        </p15:guide>
        <p15:guide id="4" pos="648">
          <p15:clr>
            <a:srgbClr val="F26B43"/>
          </p15:clr>
        </p15:guide>
        <p15:guide id="5" pos="7152">
          <p15:clr>
            <a:srgbClr val="F26B43"/>
          </p15:clr>
        </p15:guide>
        <p15:guide id="6" orient="horz" pos="4104">
          <p15:clr>
            <a:srgbClr val="F26B43"/>
          </p15:clr>
        </p15:guide>
        <p15:guide id="7" orient="horz" pos="422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0666E5F-C868-7953-E1F6-3A3AE997057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3" name="Slide Number Placeholder 2">
            <a:extLst>
              <a:ext uri="{FF2B5EF4-FFF2-40B4-BE49-F238E27FC236}">
                <a16:creationId xmlns:a16="http://schemas.microsoft.com/office/drawing/2014/main" id="{8ED42379-2208-BB21-FECF-360DC0BF085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4F1F11-30B2-407E-BCBC-892E66203F82}" type="slidenum">
              <a:rPr lang="en-US" smtClean="0"/>
              <a:t>‹#›</a:t>
            </a:fld>
            <a:endParaRPr lang="en-US"/>
          </a:p>
        </p:txBody>
      </p:sp>
      <p:pic>
        <p:nvPicPr>
          <p:cNvPr id="4" name="Picture 3">
            <a:extLst>
              <a:ext uri="{FF2B5EF4-FFF2-40B4-BE49-F238E27FC236}">
                <a16:creationId xmlns:a16="http://schemas.microsoft.com/office/drawing/2014/main" id="{B78BF9FE-ECD0-43CF-B5CD-EA099F5F4D1D}"/>
              </a:ext>
            </a:extLst>
          </p:cNvPr>
          <p:cNvPicPr>
            <a:picLocks noChangeAspect="1"/>
          </p:cNvPicPr>
          <p:nvPr userDrawn="1"/>
        </p:nvPicPr>
        <p:blipFill>
          <a:blip r:embed="rId15"/>
          <a:stretch>
            <a:fillRect/>
          </a:stretch>
        </p:blipFill>
        <p:spPr>
          <a:xfrm>
            <a:off x="9436947" y="6615109"/>
            <a:ext cx="2148840" cy="91440"/>
          </a:xfrm>
          <a:prstGeom prst="rect">
            <a:avLst/>
          </a:prstGeom>
        </p:spPr>
      </p:pic>
    </p:spTree>
    <p:extLst>
      <p:ext uri="{BB962C8B-B14F-4D97-AF65-F5344CB8AC3E}">
        <p14:creationId xmlns:p14="http://schemas.microsoft.com/office/powerpoint/2010/main" val="395840299"/>
      </p:ext>
    </p:extLst>
  </p:cSld>
  <p:clrMap bg1="dk1" tx1="lt1" bg2="dk2" tx2="lt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Lst>
  <p:hf hdr="0" ftr="0" dt="0"/>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5.xml"/><Relationship Id="rId5" Type="http://schemas.openxmlformats.org/officeDocument/2006/relationships/chart" Target="../charts/chart3.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8" Type="http://schemas.openxmlformats.org/officeDocument/2006/relationships/slide" Target="slide26.xml"/><Relationship Id="rId3" Type="http://schemas.openxmlformats.org/officeDocument/2006/relationships/image" Target="../media/image15.png"/><Relationship Id="rId7"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5.xml"/><Relationship Id="rId6" Type="http://schemas.openxmlformats.org/officeDocument/2006/relationships/slide" Target="slide25.xml"/><Relationship Id="rId5" Type="http://schemas.openxmlformats.org/officeDocument/2006/relationships/image" Target="../media/image16.png"/><Relationship Id="rId4" Type="http://schemas.openxmlformats.org/officeDocument/2006/relationships/slide" Target="slide24.xml"/></Relationships>
</file>

<file path=ppt/slides/_rels/slide13.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12.xml"/><Relationship Id="rId1" Type="http://schemas.openxmlformats.org/officeDocument/2006/relationships/slideLayout" Target="../slideLayouts/slideLayout15.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14.xml.rels><?xml version="1.0" encoding="UTF-8" standalone="yes"?>
<Relationships xmlns="http://schemas.openxmlformats.org/package/2006/relationships"><Relationship Id="rId8" Type="http://schemas.openxmlformats.org/officeDocument/2006/relationships/diagramData" Target="../diagrams/data4.xml"/><Relationship Id="rId3" Type="http://schemas.openxmlformats.org/officeDocument/2006/relationships/diagramData" Target="../diagrams/data3.xml"/><Relationship Id="rId7" Type="http://schemas.microsoft.com/office/2007/relationships/diagramDrawing" Target="../diagrams/drawing3.xml"/><Relationship Id="rId12" Type="http://schemas.microsoft.com/office/2007/relationships/diagramDrawing" Target="../diagrams/drawing4.xml"/><Relationship Id="rId2" Type="http://schemas.openxmlformats.org/officeDocument/2006/relationships/notesSlide" Target="../notesSlides/notesSlide13.xml"/><Relationship Id="rId1" Type="http://schemas.openxmlformats.org/officeDocument/2006/relationships/slideLayout" Target="../slideLayouts/slideLayout15.xml"/><Relationship Id="rId6" Type="http://schemas.openxmlformats.org/officeDocument/2006/relationships/diagramColors" Target="../diagrams/colors3.xml"/><Relationship Id="rId11" Type="http://schemas.openxmlformats.org/officeDocument/2006/relationships/diagramColors" Target="../diagrams/colors4.xml"/><Relationship Id="rId5" Type="http://schemas.openxmlformats.org/officeDocument/2006/relationships/diagramQuickStyle" Target="../diagrams/quickStyle3.xml"/><Relationship Id="rId10" Type="http://schemas.openxmlformats.org/officeDocument/2006/relationships/diagramQuickStyle" Target="../diagrams/quickStyle4.xml"/><Relationship Id="rId4" Type="http://schemas.openxmlformats.org/officeDocument/2006/relationships/diagramLayout" Target="../diagrams/layout3.xml"/><Relationship Id="rId9" Type="http://schemas.openxmlformats.org/officeDocument/2006/relationships/diagramLayout" Target="../diagrams/layout4.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4.xml"/><Relationship Id="rId1" Type="http://schemas.openxmlformats.org/officeDocument/2006/relationships/slideLayout" Target="../slideLayouts/slideLayout15.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14.jpg"/><Relationship Id="rId2" Type="http://schemas.openxmlformats.org/officeDocument/2006/relationships/notesSlide" Target="../notesSlides/notesSlide16.xml"/><Relationship Id="rId1" Type="http://schemas.openxmlformats.org/officeDocument/2006/relationships/slideLayout" Target="../slideLayouts/slideLayout5.xml"/><Relationship Id="rId6" Type="http://schemas.openxmlformats.org/officeDocument/2006/relationships/image" Target="../media/image21.png"/><Relationship Id="rId5" Type="http://schemas.openxmlformats.org/officeDocument/2006/relationships/image" Target="../media/image20.jpeg"/><Relationship Id="rId4" Type="http://schemas.openxmlformats.org/officeDocument/2006/relationships/image" Target="../media/image19.jpeg"/></Relationships>
</file>

<file path=ppt/slides/_rels/slide18.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5.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30.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sv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hyperlink" Target="mailto:tanderson@urban.org" TargetMode="External"/><Relationship Id="rId2" Type="http://schemas.openxmlformats.org/officeDocument/2006/relationships/notesSlide" Target="../notesSlides/notesSlide19.xml"/><Relationship Id="rId1" Type="http://schemas.openxmlformats.org/officeDocument/2006/relationships/slideLayout" Target="../slideLayouts/slideLayout15.xml"/><Relationship Id="rId6" Type="http://schemas.openxmlformats.org/officeDocument/2006/relationships/image" Target="../media/image26.jpeg"/><Relationship Id="rId5" Type="http://schemas.openxmlformats.org/officeDocument/2006/relationships/hyperlink" Target="http://collegewithkids.org/" TargetMode="External"/><Relationship Id="rId4" Type="http://schemas.openxmlformats.org/officeDocument/2006/relationships/hyperlink" Target="https://www.urban.org/research/publication/what-if-mom-went-back-schoo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bwMode="ltGray">
          <a:xfrm>
            <a:off x="663388" y="3030707"/>
            <a:ext cx="11794783" cy="2387600"/>
          </a:xfrm>
        </p:spPr>
        <p:txBody>
          <a:bodyPr>
            <a:normAutofit/>
          </a:bodyPr>
          <a:lstStyle/>
          <a:p>
            <a:pPr algn="l"/>
            <a:r>
              <a:rPr lang="en-US" sz="5800" dirty="0">
                <a:solidFill>
                  <a:schemeClr val="tx1">
                    <a:lumMod val="50000"/>
                  </a:schemeClr>
                </a:solidFill>
              </a:rPr>
              <a:t>Data, Evaluation, &amp; Policy at a Nonprofit Research Organization</a:t>
            </a:r>
          </a:p>
        </p:txBody>
      </p:sp>
      <p:sp>
        <p:nvSpPr>
          <p:cNvPr id="3" name="Subtitle 2"/>
          <p:cNvSpPr>
            <a:spLocks noGrp="1"/>
          </p:cNvSpPr>
          <p:nvPr>
            <p:ph type="subTitle" idx="1"/>
          </p:nvPr>
        </p:nvSpPr>
        <p:spPr bwMode="ltGray">
          <a:xfrm>
            <a:off x="6102695" y="4897437"/>
            <a:ext cx="5970037" cy="1960563"/>
          </a:xfrm>
        </p:spPr>
        <p:txBody>
          <a:bodyPr anchor="b" anchorCtr="0"/>
          <a:lstStyle/>
          <a:p>
            <a:pPr algn="r"/>
            <a:r>
              <a:rPr lang="en-US" dirty="0">
                <a:solidFill>
                  <a:schemeClr val="tx1">
                    <a:lumMod val="50000"/>
                  </a:schemeClr>
                </a:solidFill>
                <a:latin typeface="+mj-lt"/>
              </a:rPr>
              <a:t>Theresa Anderson</a:t>
            </a:r>
            <a:br>
              <a:rPr lang="en-US" dirty="0">
                <a:solidFill>
                  <a:schemeClr val="tx1">
                    <a:lumMod val="50000"/>
                  </a:schemeClr>
                </a:solidFill>
                <a:latin typeface="+mj-lt"/>
              </a:rPr>
            </a:br>
            <a:r>
              <a:rPr lang="en-US" dirty="0">
                <a:solidFill>
                  <a:schemeClr val="tx1">
                    <a:lumMod val="50000"/>
                  </a:schemeClr>
                </a:solidFill>
                <a:latin typeface="+mj-lt"/>
              </a:rPr>
              <a:t>July 19, 2023</a:t>
            </a:r>
          </a:p>
        </p:txBody>
      </p:sp>
      <p:pic>
        <p:nvPicPr>
          <p:cNvPr id="6" name="Picture 5" descr="A logo for a company&#10;&#10;Description automatically generated">
            <a:extLst>
              <a:ext uri="{FF2B5EF4-FFF2-40B4-BE49-F238E27FC236}">
                <a16:creationId xmlns:a16="http://schemas.microsoft.com/office/drawing/2014/main" id="{85ABD376-5572-5A55-094E-41A0243E24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5667" y="203336"/>
            <a:ext cx="5086350" cy="3054350"/>
          </a:xfrm>
          <a:prstGeom prst="rect">
            <a:avLst/>
          </a:prstGeom>
        </p:spPr>
      </p:pic>
    </p:spTree>
    <p:extLst>
      <p:ext uri="{BB962C8B-B14F-4D97-AF65-F5344CB8AC3E}">
        <p14:creationId xmlns:p14="http://schemas.microsoft.com/office/powerpoint/2010/main" val="3181594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17B3577-ADFF-2705-31FE-431FE13AAE34}"/>
              </a:ext>
            </a:extLst>
          </p:cNvPr>
          <p:cNvSpPr>
            <a:spLocks noGrp="1"/>
          </p:cNvSpPr>
          <p:nvPr>
            <p:ph type="body" sz="quarter" idx="10"/>
          </p:nvPr>
        </p:nvSpPr>
        <p:spPr>
          <a:xfrm>
            <a:off x="457200" y="1690688"/>
            <a:ext cx="11250706" cy="4367212"/>
          </a:xfrm>
        </p:spPr>
        <p:txBody>
          <a:bodyPr/>
          <a:lstStyle/>
          <a:p>
            <a:pPr marL="0" indent="0">
              <a:buNone/>
            </a:pPr>
            <a:r>
              <a:rPr lang="en-US" dirty="0"/>
              <a:t>I get 0 points for an interesting title, but this presentation is going to be a </a:t>
            </a:r>
          </a:p>
          <a:p>
            <a:pPr marL="0" indent="0">
              <a:buNone/>
            </a:pPr>
            <a:r>
              <a:rPr lang="en-US" sz="8000" dirty="0">
                <a:effectLst>
                  <a:outerShdw blurRad="50800" dist="38100" dir="10800000" algn="r" rotWithShape="0">
                    <a:prstClr val="black">
                      <a:alpha val="40000"/>
                    </a:prstClr>
                  </a:outerShdw>
                </a:effectLst>
                <a:latin typeface="Amasis MT Pro Black" panose="02040A04050005020304" pitchFamily="18" charset="0"/>
              </a:rPr>
              <a:t>STORY</a:t>
            </a:r>
          </a:p>
          <a:p>
            <a:pPr marL="0" indent="0">
              <a:buNone/>
            </a:pPr>
            <a:r>
              <a:rPr lang="en-US" dirty="0"/>
              <a:t>of data, research, policy, &amp; a career track through them</a:t>
            </a:r>
          </a:p>
        </p:txBody>
      </p:sp>
      <p:sp>
        <p:nvSpPr>
          <p:cNvPr id="4" name="Text Placeholder 3">
            <a:extLst>
              <a:ext uri="{FF2B5EF4-FFF2-40B4-BE49-F238E27FC236}">
                <a16:creationId xmlns:a16="http://schemas.microsoft.com/office/drawing/2014/main" id="{02009595-9D6B-E578-BED8-9BE52108305E}"/>
              </a:ext>
            </a:extLst>
          </p:cNvPr>
          <p:cNvSpPr>
            <a:spLocks noGrp="1"/>
          </p:cNvSpPr>
          <p:nvPr>
            <p:ph type="body" sz="quarter" idx="11"/>
          </p:nvPr>
        </p:nvSpPr>
        <p:spPr>
          <a:xfrm>
            <a:off x="457200" y="10511"/>
            <a:ext cx="572593" cy="307777"/>
          </a:xfrm>
        </p:spPr>
        <p:txBody>
          <a:bodyPr/>
          <a:lstStyle/>
          <a:p>
            <a:r>
              <a:rPr lang="en-US" dirty="0"/>
              <a:t>Hello</a:t>
            </a:r>
          </a:p>
        </p:txBody>
      </p:sp>
    </p:spTree>
    <p:extLst>
      <p:ext uri="{BB962C8B-B14F-4D97-AF65-F5344CB8AC3E}">
        <p14:creationId xmlns:p14="http://schemas.microsoft.com/office/powerpoint/2010/main" val="10471048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left)">
                                      <p:cBhvr>
                                        <p:cTn id="7" dur="750"/>
                                        <p:tgtEl>
                                          <p:spTgt spid="3">
                                            <p:txEl>
                                              <p:pRg st="1" end="1"/>
                                            </p:txEl>
                                          </p:spTgt>
                                        </p:tgtEl>
                                      </p:cBhvr>
                                    </p:animEffect>
                                  </p:childTnLst>
                                </p:cTn>
                              </p:par>
                            </p:childTnLst>
                          </p:cTn>
                        </p:par>
                        <p:par>
                          <p:cTn id="8" fill="hold">
                            <p:stCondLst>
                              <p:cond delay="750"/>
                            </p:stCondLst>
                            <p:childTnLst>
                              <p:par>
                                <p:cTn id="9" presetID="10" presetClass="entr" presetSubtype="0" fill="hold" nodeType="after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Effect transition="in" filter="fade">
                                      <p:cBhvr>
                                        <p:cTn id="11"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BD416-D3B0-0AD7-A8C9-5CD219BE2770}"/>
              </a:ext>
            </a:extLst>
          </p:cNvPr>
          <p:cNvSpPr>
            <a:spLocks noGrp="1"/>
          </p:cNvSpPr>
          <p:nvPr>
            <p:ph type="title"/>
          </p:nvPr>
        </p:nvSpPr>
        <p:spPr/>
        <p:txBody>
          <a:bodyPr/>
          <a:lstStyle/>
          <a:p>
            <a:r>
              <a:rPr lang="en-US" dirty="0"/>
              <a:t>Starting with the data &amp; research</a:t>
            </a:r>
          </a:p>
        </p:txBody>
      </p:sp>
      <p:sp>
        <p:nvSpPr>
          <p:cNvPr id="3" name="Text Placeholder 2">
            <a:extLst>
              <a:ext uri="{FF2B5EF4-FFF2-40B4-BE49-F238E27FC236}">
                <a16:creationId xmlns:a16="http://schemas.microsoft.com/office/drawing/2014/main" id="{204B6CEA-75F1-A85B-F4E9-708C5BBC19D7}"/>
              </a:ext>
            </a:extLst>
          </p:cNvPr>
          <p:cNvSpPr>
            <a:spLocks noGrp="1"/>
          </p:cNvSpPr>
          <p:nvPr>
            <p:ph type="body" sz="quarter" idx="10"/>
          </p:nvPr>
        </p:nvSpPr>
        <p:spPr/>
        <p:txBody>
          <a:bodyPr/>
          <a:lstStyle/>
          <a:p>
            <a:r>
              <a:rPr lang="en-US" dirty="0"/>
              <a:t>Setting the scene: I was in a PhD program at George Washington University (while working full time)</a:t>
            </a:r>
          </a:p>
          <a:p>
            <a:r>
              <a:rPr lang="en-US" dirty="0"/>
              <a:t>Working on my dissertation on women who go back to school after having kids: student mothers</a:t>
            </a:r>
          </a:p>
          <a:p>
            <a:pPr lvl="1"/>
            <a:r>
              <a:rPr lang="en-US" dirty="0"/>
              <a:t>How do they fare in the long run?</a:t>
            </a:r>
          </a:p>
          <a:p>
            <a:pPr lvl="1"/>
            <a:r>
              <a:rPr lang="en-US" dirty="0"/>
              <a:t>What about their kids?</a:t>
            </a:r>
          </a:p>
          <a:p>
            <a:pPr lvl="1"/>
            <a:r>
              <a:rPr lang="en-US" dirty="0"/>
              <a:t>What are their experiences?</a:t>
            </a:r>
          </a:p>
        </p:txBody>
      </p:sp>
      <p:sp>
        <p:nvSpPr>
          <p:cNvPr id="4" name="Text Placeholder 3">
            <a:extLst>
              <a:ext uri="{FF2B5EF4-FFF2-40B4-BE49-F238E27FC236}">
                <a16:creationId xmlns:a16="http://schemas.microsoft.com/office/drawing/2014/main" id="{19934306-AB18-3EBA-5447-BA01773484C5}"/>
              </a:ext>
            </a:extLst>
          </p:cNvPr>
          <p:cNvSpPr>
            <a:spLocks noGrp="1"/>
          </p:cNvSpPr>
          <p:nvPr>
            <p:ph type="body" sz="quarter" idx="11"/>
          </p:nvPr>
        </p:nvSpPr>
        <p:spPr>
          <a:xfrm>
            <a:off x="457200" y="10511"/>
            <a:ext cx="922047" cy="307777"/>
          </a:xfrm>
        </p:spPr>
        <p:txBody>
          <a:bodyPr/>
          <a:lstStyle/>
          <a:p>
            <a:r>
              <a:rPr lang="en-US" dirty="0"/>
              <a:t>The middle</a:t>
            </a:r>
          </a:p>
        </p:txBody>
      </p:sp>
    </p:spTree>
    <p:extLst>
      <p:ext uri="{BB962C8B-B14F-4D97-AF65-F5344CB8AC3E}">
        <p14:creationId xmlns:p14="http://schemas.microsoft.com/office/powerpoint/2010/main" val="5281873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Effect transition="in" filter="fade">
                                      <p:cBhvr>
                                        <p:cTn id="11" dur="500"/>
                                        <p:tgtEl>
                                          <p:spTgt spid="3">
                                            <p:txEl>
                                              <p:pRg st="3" end="3"/>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12A39AC8-CFA3-4A59-8A43-D2F76386E4F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8C4CCD-1362-4CC7-BA2D-0BEF6B3ABFE9}" type="slidenum">
              <a:rPr kumimoji="0" lang="en-US" sz="1200" b="0" i="0" u="none" strike="noStrike" kern="1200" cap="none" spc="0" normalizeH="0" baseline="0" noProof="0" smtClean="0">
                <a:ln>
                  <a:noFill/>
                </a:ln>
                <a:solidFill>
                  <a:srgbClr val="B58B80">
                    <a:lumMod val="50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srgbClr val="B58B80">
                  <a:lumMod val="50000"/>
                </a:srgbClr>
              </a:solidFill>
              <a:effectLst/>
              <a:uLnTx/>
              <a:uFillTx/>
              <a:latin typeface="Calibri" panose="020F0502020204030204"/>
              <a:ea typeface="+mn-ea"/>
              <a:cs typeface="+mn-cs"/>
            </a:endParaRPr>
          </a:p>
        </p:txBody>
      </p:sp>
      <p:sp>
        <p:nvSpPr>
          <p:cNvPr id="11" name="Title 1">
            <a:extLst>
              <a:ext uri="{FF2B5EF4-FFF2-40B4-BE49-F238E27FC236}">
                <a16:creationId xmlns:a16="http://schemas.microsoft.com/office/drawing/2014/main" id="{4FD506DE-9C2B-84AD-401A-95C598CB40DD}"/>
              </a:ext>
            </a:extLst>
          </p:cNvPr>
          <p:cNvSpPr>
            <a:spLocks noGrp="1"/>
          </p:cNvSpPr>
          <p:nvPr>
            <p:ph type="title"/>
          </p:nvPr>
        </p:nvSpPr>
        <p:spPr>
          <a:xfrm>
            <a:off x="457200" y="533400"/>
            <a:ext cx="11277600" cy="1157288"/>
          </a:xfrm>
        </p:spPr>
        <p:txBody>
          <a:bodyPr/>
          <a:lstStyle/>
          <a:p>
            <a:r>
              <a:rPr lang="en-US" dirty="0"/>
              <a:t>Because I can’t resist…Who are student-mothers?</a:t>
            </a:r>
          </a:p>
        </p:txBody>
      </p:sp>
      <p:graphicFrame>
        <p:nvGraphicFramePr>
          <p:cNvPr id="5" name="Chart 4">
            <a:extLst>
              <a:ext uri="{FF2B5EF4-FFF2-40B4-BE49-F238E27FC236}">
                <a16:creationId xmlns:a16="http://schemas.microsoft.com/office/drawing/2014/main" id="{53279A90-1F9E-4E12-BC17-782CC2B5886E}"/>
              </a:ext>
            </a:extLst>
          </p:cNvPr>
          <p:cNvGraphicFramePr/>
          <p:nvPr>
            <p:extLst>
              <p:ext uri="{D42A27DB-BD31-4B8C-83A1-F6EECF244321}">
                <p14:modId xmlns:p14="http://schemas.microsoft.com/office/powerpoint/2010/main" val="2144420808"/>
              </p:ext>
            </p:extLst>
          </p:nvPr>
        </p:nvGraphicFramePr>
        <p:xfrm>
          <a:off x="-58723" y="1291905"/>
          <a:ext cx="4572000" cy="36576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A79BFB1A-8D32-4CFB-A29A-947135B01B59}"/>
              </a:ext>
            </a:extLst>
          </p:cNvPr>
          <p:cNvGraphicFramePr/>
          <p:nvPr>
            <p:extLst>
              <p:ext uri="{D42A27DB-BD31-4B8C-83A1-F6EECF244321}">
                <p14:modId xmlns:p14="http://schemas.microsoft.com/office/powerpoint/2010/main" val="1727576795"/>
              </p:ext>
            </p:extLst>
          </p:nvPr>
        </p:nvGraphicFramePr>
        <p:xfrm>
          <a:off x="7620000" y="1334043"/>
          <a:ext cx="4572000" cy="36576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Chart 9">
            <a:extLst>
              <a:ext uri="{FF2B5EF4-FFF2-40B4-BE49-F238E27FC236}">
                <a16:creationId xmlns:a16="http://schemas.microsoft.com/office/drawing/2014/main" id="{01AE2DDD-4ABB-41D2-B07E-4BF9BBCCE0F5}"/>
              </a:ext>
            </a:extLst>
          </p:cNvPr>
          <p:cNvGraphicFramePr/>
          <p:nvPr>
            <p:extLst>
              <p:ext uri="{D42A27DB-BD31-4B8C-83A1-F6EECF244321}">
                <p14:modId xmlns:p14="http://schemas.microsoft.com/office/powerpoint/2010/main" val="3002819558"/>
              </p:ext>
            </p:extLst>
          </p:nvPr>
        </p:nvGraphicFramePr>
        <p:xfrm>
          <a:off x="3810000" y="3429000"/>
          <a:ext cx="4572000" cy="3657600"/>
        </p:xfrm>
        <a:graphic>
          <a:graphicData uri="http://schemas.openxmlformats.org/drawingml/2006/chart">
            <c:chart xmlns:c="http://schemas.openxmlformats.org/drawingml/2006/chart" xmlns:r="http://schemas.openxmlformats.org/officeDocument/2006/relationships" r:id="rId5"/>
          </a:graphicData>
        </a:graphic>
      </p:graphicFrame>
      <p:sp>
        <p:nvSpPr>
          <p:cNvPr id="3" name="TextBox 2">
            <a:extLst>
              <a:ext uri="{FF2B5EF4-FFF2-40B4-BE49-F238E27FC236}">
                <a16:creationId xmlns:a16="http://schemas.microsoft.com/office/drawing/2014/main" id="{5E9B2C33-8C64-BCC7-E908-5C8A409C1135}"/>
              </a:ext>
            </a:extLst>
          </p:cNvPr>
          <p:cNvSpPr txBox="1"/>
          <p:nvPr/>
        </p:nvSpPr>
        <p:spPr>
          <a:xfrm>
            <a:off x="656894" y="4991643"/>
            <a:ext cx="3140765" cy="707886"/>
          </a:xfrm>
          <a:prstGeom prst="rect">
            <a:avLst/>
          </a:prstGeom>
          <a:noFill/>
        </p:spPr>
        <p:txBody>
          <a:bodyPr wrap="square" rtlCol="0">
            <a:spAutoFit/>
          </a:bodyPr>
          <a:lstStyle/>
          <a:p>
            <a:pPr algn="ctr"/>
            <a:r>
              <a:rPr lang="en-US" sz="4000" dirty="0">
                <a:latin typeface="Lato" panose="020F0502020204030203" pitchFamily="34" charset="0"/>
              </a:rPr>
              <a:t>2.6 million</a:t>
            </a:r>
          </a:p>
        </p:txBody>
      </p:sp>
    </p:spTree>
    <p:extLst>
      <p:ext uri="{BB962C8B-B14F-4D97-AF65-F5344CB8AC3E}">
        <p14:creationId xmlns:p14="http://schemas.microsoft.com/office/powerpoint/2010/main" val="1030572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Graphic spid="9" grpId="0">
        <p:bldAsOne/>
      </p:bldGraphic>
      <p:bldGraphic spid="10" grpId="0">
        <p:bldAsOne/>
      </p:bldGraphic>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BD416-D3B0-0AD7-A8C9-5CD219BE2770}"/>
              </a:ext>
            </a:extLst>
          </p:cNvPr>
          <p:cNvSpPr>
            <a:spLocks noGrp="1"/>
          </p:cNvSpPr>
          <p:nvPr>
            <p:ph type="title"/>
          </p:nvPr>
        </p:nvSpPr>
        <p:spPr/>
        <p:txBody>
          <a:bodyPr/>
          <a:lstStyle/>
          <a:p>
            <a:r>
              <a:rPr lang="en-US" dirty="0"/>
              <a:t>The research</a:t>
            </a:r>
          </a:p>
        </p:txBody>
      </p:sp>
      <p:sp>
        <p:nvSpPr>
          <p:cNvPr id="3" name="Text Placeholder 2">
            <a:extLst>
              <a:ext uri="{FF2B5EF4-FFF2-40B4-BE49-F238E27FC236}">
                <a16:creationId xmlns:a16="http://schemas.microsoft.com/office/drawing/2014/main" id="{204B6CEA-75F1-A85B-F4E9-708C5BBC19D7}"/>
              </a:ext>
            </a:extLst>
          </p:cNvPr>
          <p:cNvSpPr>
            <a:spLocks noGrp="1"/>
          </p:cNvSpPr>
          <p:nvPr>
            <p:ph type="body" sz="quarter" idx="10"/>
          </p:nvPr>
        </p:nvSpPr>
        <p:spPr/>
        <p:txBody>
          <a:bodyPr/>
          <a:lstStyle/>
          <a:p>
            <a:r>
              <a:rPr lang="en-US" sz="3200" dirty="0"/>
              <a:t>Examined national survey data from 1979-2014 for women &amp; their children</a:t>
            </a:r>
          </a:p>
          <a:p>
            <a:r>
              <a:rPr lang="en-US" sz="3200" dirty="0"/>
              <a:t>Interviewed 20 women in two-year college, four-year college, &amp; graduate school programs</a:t>
            </a:r>
          </a:p>
          <a:p>
            <a:endParaRPr lang="en-US" sz="1800" dirty="0"/>
          </a:p>
          <a:p>
            <a:r>
              <a:rPr lang="en-US" sz="3200" dirty="0"/>
              <a:t>Looked at academic, economic, &amp; social wellbeing</a:t>
            </a:r>
          </a:p>
        </p:txBody>
      </p:sp>
      <p:sp>
        <p:nvSpPr>
          <p:cNvPr id="4" name="Text Placeholder 3">
            <a:extLst>
              <a:ext uri="{FF2B5EF4-FFF2-40B4-BE49-F238E27FC236}">
                <a16:creationId xmlns:a16="http://schemas.microsoft.com/office/drawing/2014/main" id="{19934306-AB18-3EBA-5447-BA01773484C5}"/>
              </a:ext>
            </a:extLst>
          </p:cNvPr>
          <p:cNvSpPr>
            <a:spLocks noGrp="1"/>
          </p:cNvSpPr>
          <p:nvPr>
            <p:ph type="body" sz="quarter" idx="11"/>
          </p:nvPr>
        </p:nvSpPr>
        <p:spPr>
          <a:xfrm>
            <a:off x="457200" y="10511"/>
            <a:ext cx="922047" cy="307777"/>
          </a:xfrm>
        </p:spPr>
        <p:txBody>
          <a:bodyPr/>
          <a:lstStyle/>
          <a:p>
            <a:r>
              <a:rPr lang="en-US" dirty="0"/>
              <a:t>The middle</a:t>
            </a:r>
          </a:p>
        </p:txBody>
      </p:sp>
    </p:spTree>
    <p:extLst>
      <p:ext uri="{BB962C8B-B14F-4D97-AF65-F5344CB8AC3E}">
        <p14:creationId xmlns:p14="http://schemas.microsoft.com/office/powerpoint/2010/main" val="592073076"/>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8C700-57D9-4F90-AB4B-DE84CBA01B23}"/>
              </a:ext>
            </a:extLst>
          </p:cNvPr>
          <p:cNvSpPr>
            <a:spLocks noGrp="1"/>
          </p:cNvSpPr>
          <p:nvPr>
            <p:ph type="title"/>
          </p:nvPr>
        </p:nvSpPr>
        <p:spPr/>
        <p:txBody>
          <a:bodyPr/>
          <a:lstStyle/>
          <a:p>
            <a:r>
              <a:rPr lang="en-US" dirty="0"/>
              <a:t>A few data considerations</a:t>
            </a:r>
          </a:p>
        </p:txBody>
      </p:sp>
      <p:sp>
        <p:nvSpPr>
          <p:cNvPr id="3" name="Content Placeholder 2">
            <a:extLst>
              <a:ext uri="{FF2B5EF4-FFF2-40B4-BE49-F238E27FC236}">
                <a16:creationId xmlns:a16="http://schemas.microsoft.com/office/drawing/2014/main" id="{CD1248AE-5300-4977-BA1B-241D316F6243}"/>
              </a:ext>
            </a:extLst>
          </p:cNvPr>
          <p:cNvSpPr>
            <a:spLocks noGrp="1"/>
          </p:cNvSpPr>
          <p:nvPr>
            <p:ph idx="1"/>
          </p:nvPr>
        </p:nvSpPr>
        <p:spPr>
          <a:xfrm>
            <a:off x="314891" y="1635020"/>
            <a:ext cx="11606175" cy="4924530"/>
          </a:xfrm>
        </p:spPr>
        <p:txBody>
          <a:bodyPr>
            <a:normAutofit/>
          </a:bodyPr>
          <a:lstStyle/>
          <a:p>
            <a:r>
              <a:rPr lang="en-US" sz="2600" dirty="0"/>
              <a:t>Survey was of women in the US in 1979 &amp; were born 1957-1964</a:t>
            </a:r>
          </a:p>
          <a:p>
            <a:pPr lvl="1"/>
            <a:r>
              <a:rPr lang="en-US" sz="2400" dirty="0"/>
              <a:t>Largely went back to school in the late </a:t>
            </a:r>
            <a:r>
              <a:rPr lang="en-US" sz="2400" dirty="0" err="1"/>
              <a:t>1980s</a:t>
            </a:r>
            <a:r>
              <a:rPr lang="en-US" sz="2400" dirty="0"/>
              <a:t> &amp; early </a:t>
            </a:r>
            <a:r>
              <a:rPr lang="en-US" sz="2400" dirty="0" err="1"/>
              <a:t>1990s</a:t>
            </a:r>
            <a:endParaRPr lang="en-US" sz="2400" dirty="0"/>
          </a:p>
          <a:p>
            <a:pPr lvl="1"/>
            <a:r>
              <a:rPr lang="en-US" sz="2400" dirty="0"/>
              <a:t>Does not reflect more recent immigrant groups or current college/labor market contexts</a:t>
            </a:r>
          </a:p>
          <a:p>
            <a:r>
              <a:rPr lang="en-US" sz="2600" dirty="0"/>
              <a:t>Children are biological children of women in the survey sample</a:t>
            </a:r>
          </a:p>
          <a:p>
            <a:r>
              <a:rPr lang="en-US" sz="2600" dirty="0"/>
              <a:t>Qualitative insights come from a 20-person sample in the national capital area interviewed in fall 2018</a:t>
            </a:r>
          </a:p>
        </p:txBody>
      </p:sp>
      <p:sp>
        <p:nvSpPr>
          <p:cNvPr id="4" name="Slide Number Placeholder 3">
            <a:extLst>
              <a:ext uri="{FF2B5EF4-FFF2-40B4-BE49-F238E27FC236}">
                <a16:creationId xmlns:a16="http://schemas.microsoft.com/office/drawing/2014/main" id="{C1DE27CA-9E17-46F0-9804-F4C0764E6ACC}"/>
              </a:ext>
            </a:extLst>
          </p:cNvPr>
          <p:cNvSpPr>
            <a:spLocks noGrp="1"/>
          </p:cNvSpPr>
          <p:nvPr>
            <p:ph type="sldNum" sz="quarter" idx="12"/>
          </p:nvPr>
        </p:nvSpPr>
        <p:spPr/>
        <p:txBody>
          <a:bodyPr/>
          <a:lstStyle/>
          <a:p>
            <a:fld id="{0C8C4CCD-1362-4CC7-BA2D-0BEF6B3ABFE9}" type="slidenum">
              <a:rPr lang="en-US" smtClean="0"/>
              <a:t>6</a:t>
            </a:fld>
            <a:endParaRPr lang="en-US" dirty="0"/>
          </a:p>
        </p:txBody>
      </p:sp>
    </p:spTree>
    <p:extLst>
      <p:ext uri="{BB962C8B-B14F-4D97-AF65-F5344CB8AC3E}">
        <p14:creationId xmlns:p14="http://schemas.microsoft.com/office/powerpoint/2010/main" val="1313266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307A8-9589-4576-B3E4-B2E6884C2013}"/>
              </a:ext>
            </a:extLst>
          </p:cNvPr>
          <p:cNvSpPr>
            <a:spLocks noGrp="1"/>
          </p:cNvSpPr>
          <p:nvPr>
            <p:ph type="title"/>
          </p:nvPr>
        </p:nvSpPr>
        <p:spPr/>
        <p:txBody>
          <a:bodyPr/>
          <a:lstStyle/>
          <a:p>
            <a:r>
              <a:rPr lang="en-US" dirty="0"/>
              <a:t>Findings</a:t>
            </a:r>
          </a:p>
        </p:txBody>
      </p:sp>
      <p:sp>
        <p:nvSpPr>
          <p:cNvPr id="4" name="Slide Number Placeholder 3">
            <a:extLst>
              <a:ext uri="{FF2B5EF4-FFF2-40B4-BE49-F238E27FC236}">
                <a16:creationId xmlns:a16="http://schemas.microsoft.com/office/drawing/2014/main" id="{17D02AB0-6038-4DF6-B897-DAEECDCC6001}"/>
              </a:ext>
            </a:extLst>
          </p:cNvPr>
          <p:cNvSpPr>
            <a:spLocks noGrp="1"/>
          </p:cNvSpPr>
          <p:nvPr>
            <p:ph type="sldNum" sz="quarter" idx="12"/>
          </p:nvPr>
        </p:nvSpPr>
        <p:spPr/>
        <p:txBody>
          <a:bodyPr/>
          <a:lstStyle/>
          <a:p>
            <a:fld id="{0C8C4CCD-1362-4CC7-BA2D-0BEF6B3ABFE9}" type="slidenum">
              <a:rPr lang="en-US" smtClean="0"/>
              <a:t>7</a:t>
            </a:fld>
            <a:endParaRPr lang="en-US" dirty="0"/>
          </a:p>
        </p:txBody>
      </p:sp>
    </p:spTree>
    <p:extLst>
      <p:ext uri="{BB962C8B-B14F-4D97-AF65-F5344CB8AC3E}">
        <p14:creationId xmlns:p14="http://schemas.microsoft.com/office/powerpoint/2010/main" val="694270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6870FE9-8A2E-42CE-8CE9-C21AF0EA650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8C4CCD-1362-4CC7-BA2D-0BEF6B3ABFE9}" type="slidenum">
              <a:rPr kumimoji="0" lang="en-US" sz="1200" b="0" i="0" u="none" strike="noStrike" kern="1200" cap="none" spc="0" normalizeH="0" baseline="0" noProof="0" smtClean="0">
                <a:ln>
                  <a:noFill/>
                </a:ln>
                <a:solidFill>
                  <a:srgbClr val="B58B80">
                    <a:lumMod val="50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srgbClr val="B58B80">
                  <a:lumMod val="50000"/>
                </a:srgbClr>
              </a:solidFill>
              <a:effectLst/>
              <a:uLnTx/>
              <a:uFillTx/>
              <a:latin typeface="Calibri" panose="020F0502020204030204"/>
              <a:ea typeface="+mn-ea"/>
              <a:cs typeface="+mn-cs"/>
            </a:endParaRPr>
          </a:p>
        </p:txBody>
      </p:sp>
      <p:graphicFrame>
        <p:nvGraphicFramePr>
          <p:cNvPr id="6" name="Chart 5">
            <a:extLst>
              <a:ext uri="{FF2B5EF4-FFF2-40B4-BE49-F238E27FC236}">
                <a16:creationId xmlns:a16="http://schemas.microsoft.com/office/drawing/2014/main" id="{A052800D-9D2B-430F-AFE5-B869FD720574}"/>
              </a:ext>
            </a:extLst>
          </p:cNvPr>
          <p:cNvGraphicFramePr/>
          <p:nvPr>
            <p:extLst>
              <p:ext uri="{D42A27DB-BD31-4B8C-83A1-F6EECF244321}">
                <p14:modId xmlns:p14="http://schemas.microsoft.com/office/powerpoint/2010/main" val="77574237"/>
              </p:ext>
            </p:extLst>
          </p:nvPr>
        </p:nvGraphicFramePr>
        <p:xfrm>
          <a:off x="314891" y="1276914"/>
          <a:ext cx="8638609" cy="4905225"/>
        </p:xfrm>
        <a:graphic>
          <a:graphicData uri="http://schemas.openxmlformats.org/drawingml/2006/chart">
            <c:chart xmlns:c="http://schemas.openxmlformats.org/drawingml/2006/chart" xmlns:r="http://schemas.openxmlformats.org/officeDocument/2006/relationships" r:id="rId3"/>
          </a:graphicData>
        </a:graphic>
      </p:graphicFrame>
      <p:sp>
        <p:nvSpPr>
          <p:cNvPr id="7" name="Title 1">
            <a:extLst>
              <a:ext uri="{FF2B5EF4-FFF2-40B4-BE49-F238E27FC236}">
                <a16:creationId xmlns:a16="http://schemas.microsoft.com/office/drawing/2014/main" id="{FF9781F4-2265-E301-F53E-BC8069DC3097}"/>
              </a:ext>
            </a:extLst>
          </p:cNvPr>
          <p:cNvSpPr txBox="1">
            <a:spLocks/>
          </p:cNvSpPr>
          <p:nvPr/>
        </p:nvSpPr>
        <p:spPr>
          <a:xfrm>
            <a:off x="457200" y="533400"/>
            <a:ext cx="11277600" cy="1157288"/>
          </a:xfrm>
          <a:prstGeom prst="rect">
            <a:avLst/>
          </a:prstGeom>
        </p:spPr>
        <p:txBody>
          <a:bodyPr vert="horz" lIns="0" tIns="45720" rIns="0" bIns="45720" rtlCol="0" anchor="t">
            <a:normAutofit/>
          </a:bodyPr>
          <a:lstStyle>
            <a:lvl1pPr algn="l" defTabSz="914400" rtl="0" eaLnBrk="1" latinLnBrk="0" hangingPunct="1">
              <a:lnSpc>
                <a:spcPct val="90000"/>
              </a:lnSpc>
              <a:spcBef>
                <a:spcPct val="0"/>
              </a:spcBef>
              <a:buNone/>
              <a:defRPr sz="3400" b="1" kern="1200" baseline="0">
                <a:solidFill>
                  <a:schemeClr val="tx1"/>
                </a:solidFill>
                <a:latin typeface="+mj-lt"/>
                <a:ea typeface="+mj-ea"/>
                <a:cs typeface="+mj-cs"/>
              </a:defRPr>
            </a:lvl1pPr>
          </a:lstStyle>
          <a:p>
            <a:r>
              <a:rPr lang="en-US" dirty="0"/>
              <a:t>Mothers’ educational growth is gradual</a:t>
            </a:r>
          </a:p>
        </p:txBody>
      </p:sp>
      <p:sp>
        <p:nvSpPr>
          <p:cNvPr id="8" name="TextBox 7">
            <a:extLst>
              <a:ext uri="{FF2B5EF4-FFF2-40B4-BE49-F238E27FC236}">
                <a16:creationId xmlns:a16="http://schemas.microsoft.com/office/drawing/2014/main" id="{44A293DF-0FAE-E80D-6493-CA616FB21629}"/>
              </a:ext>
            </a:extLst>
          </p:cNvPr>
          <p:cNvSpPr txBox="1"/>
          <p:nvPr/>
        </p:nvSpPr>
        <p:spPr>
          <a:xfrm>
            <a:off x="9085213" y="2494310"/>
            <a:ext cx="2743200" cy="2308324"/>
          </a:xfrm>
          <a:prstGeom prst="rect">
            <a:avLst/>
          </a:prstGeom>
          <a:noFill/>
        </p:spPr>
        <p:txBody>
          <a:bodyPr wrap="square" rtlCol="0">
            <a:spAutoFit/>
          </a:bodyPr>
          <a:lstStyle/>
          <a:p>
            <a:r>
              <a:rPr lang="en-US" sz="1800" b="1" dirty="0"/>
              <a:t>1/3 of student-mothers complete a higher credential eventually</a:t>
            </a:r>
          </a:p>
          <a:p>
            <a:endParaRPr lang="en-US" sz="1800" b="1" dirty="0"/>
          </a:p>
          <a:p>
            <a:r>
              <a:rPr lang="en-US" sz="1800" b="1" dirty="0"/>
              <a:t>Less than 1/4 of mothers who did not have college degrees completed one</a:t>
            </a:r>
          </a:p>
        </p:txBody>
      </p:sp>
    </p:spTree>
    <p:extLst>
      <p:ext uri="{BB962C8B-B14F-4D97-AF65-F5344CB8AC3E}">
        <p14:creationId xmlns:p14="http://schemas.microsoft.com/office/powerpoint/2010/main" val="20639860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C81A5-931D-C603-6084-5E0051C975FA}"/>
              </a:ext>
            </a:extLst>
          </p:cNvPr>
          <p:cNvSpPr>
            <a:spLocks noGrp="1"/>
          </p:cNvSpPr>
          <p:nvPr>
            <p:ph type="title"/>
          </p:nvPr>
        </p:nvSpPr>
        <p:spPr/>
        <p:txBody>
          <a:bodyPr/>
          <a:lstStyle/>
          <a:p>
            <a:r>
              <a:rPr lang="en-US" dirty="0"/>
              <a:t>Findings for mothers</a:t>
            </a:r>
          </a:p>
        </p:txBody>
      </p:sp>
      <p:graphicFrame>
        <p:nvGraphicFramePr>
          <p:cNvPr id="4" name="Table 4">
            <a:extLst>
              <a:ext uri="{FF2B5EF4-FFF2-40B4-BE49-F238E27FC236}">
                <a16:creationId xmlns:a16="http://schemas.microsoft.com/office/drawing/2014/main" id="{21777761-1438-14FD-6570-A9BB434A774B}"/>
              </a:ext>
            </a:extLst>
          </p:cNvPr>
          <p:cNvGraphicFramePr>
            <a:graphicFrameLocks noGrp="1"/>
          </p:cNvGraphicFramePr>
          <p:nvPr>
            <p:extLst>
              <p:ext uri="{D42A27DB-BD31-4B8C-83A1-F6EECF244321}">
                <p14:modId xmlns:p14="http://schemas.microsoft.com/office/powerpoint/2010/main" val="323422916"/>
              </p:ext>
            </p:extLst>
          </p:nvPr>
        </p:nvGraphicFramePr>
        <p:xfrm>
          <a:off x="457201" y="1236501"/>
          <a:ext cx="11567160" cy="4069080"/>
        </p:xfrm>
        <a:graphic>
          <a:graphicData uri="http://schemas.openxmlformats.org/drawingml/2006/table">
            <a:tbl>
              <a:tblPr firstRow="1" lastCol="1">
                <a:tableStyleId>{5C22544A-7EE6-4342-B048-85BDC9FD1C3A}</a:tableStyleId>
              </a:tblPr>
              <a:tblGrid>
                <a:gridCol w="1695854">
                  <a:extLst>
                    <a:ext uri="{9D8B030D-6E8A-4147-A177-3AD203B41FA5}">
                      <a16:colId xmlns:a16="http://schemas.microsoft.com/office/drawing/2014/main" val="2083836060"/>
                    </a:ext>
                  </a:extLst>
                </a:gridCol>
                <a:gridCol w="4935653">
                  <a:extLst>
                    <a:ext uri="{9D8B030D-6E8A-4147-A177-3AD203B41FA5}">
                      <a16:colId xmlns:a16="http://schemas.microsoft.com/office/drawing/2014/main" val="3461456392"/>
                    </a:ext>
                  </a:extLst>
                </a:gridCol>
                <a:gridCol w="4935653">
                  <a:extLst>
                    <a:ext uri="{9D8B030D-6E8A-4147-A177-3AD203B41FA5}">
                      <a16:colId xmlns:a16="http://schemas.microsoft.com/office/drawing/2014/main" val="1247666884"/>
                    </a:ext>
                  </a:extLst>
                </a:gridCol>
              </a:tblGrid>
              <a:tr h="154977">
                <a:tc>
                  <a:txBody>
                    <a:bodyPr/>
                    <a:lstStyle/>
                    <a:p>
                      <a:endParaRPr lang="en-US" sz="2100" dirty="0">
                        <a:latin typeface="+mj-lt"/>
                      </a:endParaRPr>
                    </a:p>
                  </a:txBody>
                  <a:tcPr>
                    <a:noFill/>
                  </a:tcPr>
                </a:tc>
                <a:tc>
                  <a:txBody>
                    <a:bodyPr/>
                    <a:lstStyle/>
                    <a:p>
                      <a:r>
                        <a:rPr lang="en-US" sz="2100" dirty="0">
                          <a:latin typeface="+mj-lt"/>
                        </a:rPr>
                        <a:t>Any Reenrollment</a:t>
                      </a:r>
                    </a:p>
                  </a:txBody>
                  <a:tcPr>
                    <a:solidFill>
                      <a:schemeClr val="accent1">
                        <a:lumMod val="50000"/>
                      </a:schemeClr>
                    </a:solidFill>
                  </a:tcPr>
                </a:tc>
                <a:tc>
                  <a:txBody>
                    <a:bodyPr/>
                    <a:lstStyle/>
                    <a:p>
                      <a:r>
                        <a:rPr lang="en-US" sz="2100" dirty="0">
                          <a:latin typeface="+mj-lt"/>
                        </a:rPr>
                        <a:t>Completed College Degree</a:t>
                      </a:r>
                    </a:p>
                  </a:txBody>
                  <a:tcPr>
                    <a:solidFill>
                      <a:schemeClr val="accent1">
                        <a:lumMod val="50000"/>
                      </a:schemeClr>
                    </a:solidFill>
                  </a:tcPr>
                </a:tc>
                <a:extLst>
                  <a:ext uri="{0D108BD9-81ED-4DB2-BD59-A6C34878D82A}">
                    <a16:rowId xmlns:a16="http://schemas.microsoft.com/office/drawing/2014/main" val="2661674120"/>
                  </a:ext>
                </a:extLst>
              </a:tr>
              <a:tr h="311656">
                <a:tc>
                  <a:txBody>
                    <a:bodyPr/>
                    <a:lstStyle/>
                    <a:p>
                      <a:r>
                        <a:rPr lang="en-US" sz="2100" b="1" dirty="0">
                          <a:latin typeface="+mj-lt"/>
                        </a:rPr>
                        <a:t>Earnings</a:t>
                      </a:r>
                    </a:p>
                  </a:txBody>
                  <a:tcPr anchor="ctr">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latin typeface="+mj-lt"/>
                        </a:rPr>
                        <a:t>$2,072 average earnings gain per year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b="0" dirty="0">
                          <a:solidFill>
                            <a:schemeClr val="bg1"/>
                          </a:solidFill>
                          <a:latin typeface="+mj-lt"/>
                        </a:rPr>
                        <a:t>$6,776 average earnings gain per year</a:t>
                      </a:r>
                    </a:p>
                  </a:txBody>
                  <a:tcPr/>
                </a:tc>
                <a:extLst>
                  <a:ext uri="{0D108BD9-81ED-4DB2-BD59-A6C34878D82A}">
                    <a16:rowId xmlns:a16="http://schemas.microsoft.com/office/drawing/2014/main" val="2173614273"/>
                  </a:ext>
                </a:extLst>
              </a:tr>
              <a:tr h="640080">
                <a:tc>
                  <a:txBody>
                    <a:bodyPr/>
                    <a:lstStyle/>
                    <a:p>
                      <a:r>
                        <a:rPr lang="en-US" sz="2100" b="1" dirty="0">
                          <a:latin typeface="+mj-lt"/>
                        </a:rPr>
                        <a:t>Opportunity costs</a:t>
                      </a:r>
                    </a:p>
                  </a:txBody>
                  <a:tcPr anchor="ct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latin typeface="+mj-lt"/>
                        </a:rPr>
                        <a:t>Earnings losses for 5 years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latin typeface="+mj-lt"/>
                        </a:rPr>
                        <a:t>Earnings not consistently significantly higher until 9 years after reenrollment</a:t>
                      </a:r>
                    </a:p>
                  </a:txBody>
                  <a:tcPr/>
                </a:tc>
                <a:tc>
                  <a:txBody>
                    <a:bodyPr/>
                    <a:lstStyle/>
                    <a:p>
                      <a:r>
                        <a:rPr lang="en-US" sz="2100" b="0" dirty="0">
                          <a:solidFill>
                            <a:schemeClr val="bg1"/>
                          </a:solidFill>
                          <a:latin typeface="+mj-lt"/>
                        </a:rPr>
                        <a:t>Similar timeframe, but the gains were larger once they were positive</a:t>
                      </a:r>
                    </a:p>
                  </a:txBody>
                  <a:tcPr/>
                </a:tc>
                <a:extLst>
                  <a:ext uri="{0D108BD9-81ED-4DB2-BD59-A6C34878D82A}">
                    <a16:rowId xmlns:a16="http://schemas.microsoft.com/office/drawing/2014/main" val="3143570825"/>
                  </a:ext>
                </a:extLst>
              </a:tr>
              <a:tr h="640080">
                <a:tc>
                  <a:txBody>
                    <a:bodyPr/>
                    <a:lstStyle/>
                    <a:p>
                      <a:r>
                        <a:rPr lang="en-US" sz="2100" b="1" dirty="0">
                          <a:latin typeface="+mj-lt"/>
                        </a:rPr>
                        <a:t>Household income</a:t>
                      </a:r>
                    </a:p>
                  </a:txBody>
                  <a:tcPr anchor="ct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latin typeface="+mj-lt"/>
                        </a:rPr>
                        <a:t>$5,243 </a:t>
                      </a:r>
                      <a:r>
                        <a:rPr lang="en-US" sz="2100" i="1" dirty="0">
                          <a:latin typeface="+mj-lt"/>
                        </a:rPr>
                        <a:t>decline</a:t>
                      </a:r>
                      <a:r>
                        <a:rPr lang="en-US" sz="2100" i="0" dirty="0">
                          <a:latin typeface="+mj-lt"/>
                        </a:rPr>
                        <a:t> in household income per year</a:t>
                      </a:r>
                      <a:endParaRPr lang="en-US" sz="2100" dirty="0">
                        <a:latin typeface="+mj-lt"/>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b="0" dirty="0">
                          <a:solidFill>
                            <a:schemeClr val="bg1"/>
                          </a:solidFill>
                          <a:latin typeface="+mj-lt"/>
                        </a:rPr>
                        <a:t>No decline in household income</a:t>
                      </a:r>
                    </a:p>
                  </a:txBody>
                  <a:tcPr/>
                </a:tc>
                <a:extLst>
                  <a:ext uri="{0D108BD9-81ED-4DB2-BD59-A6C34878D82A}">
                    <a16:rowId xmlns:a16="http://schemas.microsoft.com/office/drawing/2014/main" val="512265667"/>
                  </a:ext>
                </a:extLst>
              </a:tr>
              <a:tr h="180170">
                <a:tc>
                  <a:txBody>
                    <a:bodyPr/>
                    <a:lstStyle/>
                    <a:p>
                      <a:r>
                        <a:rPr lang="en-US" sz="2100" b="1" dirty="0">
                          <a:latin typeface="+mj-lt"/>
                        </a:rPr>
                        <a:t>Marriage</a:t>
                      </a:r>
                    </a:p>
                  </a:txBody>
                  <a:tcPr anchor="ct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r>
                        <a:rPr lang="en-US" sz="2100" dirty="0">
                          <a:latin typeface="+mj-lt"/>
                        </a:rPr>
                        <a:t>Married for two fewer years</a:t>
                      </a:r>
                    </a:p>
                    <a:p>
                      <a:r>
                        <a:rPr lang="en-US" sz="2100" dirty="0">
                          <a:latin typeface="+mj-lt"/>
                        </a:rPr>
                        <a:t>Less likely to be married in all 16 years after </a:t>
                      </a:r>
                      <a:r>
                        <a:rPr lang="en-US" sz="2100" kern="1200" dirty="0">
                          <a:solidFill>
                            <a:schemeClr val="dk1"/>
                          </a:solidFill>
                          <a:latin typeface="+mn-lt"/>
                          <a:ea typeface="+mn-ea"/>
                          <a:cs typeface="+mn-cs"/>
                        </a:rPr>
                        <a:t>reenrollment</a:t>
                      </a:r>
                      <a:endParaRPr lang="en-US" sz="2100" dirty="0">
                        <a:latin typeface="+mj-lt"/>
                      </a:endParaRPr>
                    </a:p>
                  </a:txBody>
                  <a:tcPr/>
                </a:tc>
                <a:tc>
                  <a:txBody>
                    <a:bodyPr/>
                    <a:lstStyle/>
                    <a:p>
                      <a:r>
                        <a:rPr lang="en-US" sz="2100" b="0" dirty="0">
                          <a:solidFill>
                            <a:schemeClr val="bg1"/>
                          </a:solidFill>
                          <a:latin typeface="+mj-lt"/>
                        </a:rPr>
                        <a:t>Similar patterns</a:t>
                      </a:r>
                    </a:p>
                  </a:txBody>
                  <a:tcPr/>
                </a:tc>
                <a:extLst>
                  <a:ext uri="{0D108BD9-81ED-4DB2-BD59-A6C34878D82A}">
                    <a16:rowId xmlns:a16="http://schemas.microsoft.com/office/drawing/2014/main" val="4092368715"/>
                  </a:ext>
                </a:extLst>
              </a:tr>
              <a:tr h="0">
                <a:tc>
                  <a:txBody>
                    <a:bodyPr/>
                    <a:lstStyle/>
                    <a:p>
                      <a:r>
                        <a:rPr lang="en-US" sz="2100" b="1" dirty="0">
                          <a:latin typeface="+mj-lt"/>
                        </a:rPr>
                        <a:t>Depression</a:t>
                      </a:r>
                    </a:p>
                  </a:txBody>
                  <a:tcPr anchor="ctr">
                    <a:lnT w="12700" cap="flat" cmpd="sng" algn="ctr">
                      <a:solidFill>
                        <a:schemeClr val="bg1">
                          <a:lumMod val="75000"/>
                        </a:schemeClr>
                      </a:solidFill>
                      <a:prstDash val="solid"/>
                      <a:round/>
                      <a:headEnd type="none" w="med" len="med"/>
                      <a:tailEnd type="none" w="med" len="med"/>
                    </a:lnT>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latin typeface="+mj-lt"/>
                        </a:rPr>
                        <a:t>Higher depression scores at age 50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b="0" dirty="0">
                          <a:solidFill>
                            <a:schemeClr val="bg1"/>
                          </a:solidFill>
                          <a:latin typeface="+mj-lt"/>
                        </a:rPr>
                        <a:t>No higher depression scores</a:t>
                      </a:r>
                    </a:p>
                  </a:txBody>
                  <a:tcPr/>
                </a:tc>
                <a:extLst>
                  <a:ext uri="{0D108BD9-81ED-4DB2-BD59-A6C34878D82A}">
                    <a16:rowId xmlns:a16="http://schemas.microsoft.com/office/drawing/2014/main" val="839293843"/>
                  </a:ext>
                </a:extLst>
              </a:tr>
            </a:tbl>
          </a:graphicData>
        </a:graphic>
      </p:graphicFrame>
      <p:sp>
        <p:nvSpPr>
          <p:cNvPr id="3" name="Arrow: Right 2">
            <a:extLst>
              <a:ext uri="{FF2B5EF4-FFF2-40B4-BE49-F238E27FC236}">
                <a16:creationId xmlns:a16="http://schemas.microsoft.com/office/drawing/2014/main" id="{37944929-C31A-8D50-7BA2-4CF699AADE9B}"/>
              </a:ext>
            </a:extLst>
          </p:cNvPr>
          <p:cNvSpPr/>
          <p:nvPr/>
        </p:nvSpPr>
        <p:spPr>
          <a:xfrm>
            <a:off x="30804" y="1610784"/>
            <a:ext cx="505838" cy="505838"/>
          </a:xfrm>
          <a:prstGeom prst="rightArrow">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Arrow: Right 4">
            <a:extLst>
              <a:ext uri="{FF2B5EF4-FFF2-40B4-BE49-F238E27FC236}">
                <a16:creationId xmlns:a16="http://schemas.microsoft.com/office/drawing/2014/main" id="{6FAE1E49-E199-4B37-5263-7D0C50C1F7C0}"/>
              </a:ext>
            </a:extLst>
          </p:cNvPr>
          <p:cNvSpPr/>
          <p:nvPr/>
        </p:nvSpPr>
        <p:spPr>
          <a:xfrm>
            <a:off x="35668" y="2335818"/>
            <a:ext cx="505838" cy="505838"/>
          </a:xfrm>
          <a:prstGeom prst="rightArrow">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rrow: Right 5">
            <a:extLst>
              <a:ext uri="{FF2B5EF4-FFF2-40B4-BE49-F238E27FC236}">
                <a16:creationId xmlns:a16="http://schemas.microsoft.com/office/drawing/2014/main" id="{0D07AD66-30CB-12E2-35AB-0A6948F23D45}"/>
              </a:ext>
            </a:extLst>
          </p:cNvPr>
          <p:cNvSpPr/>
          <p:nvPr/>
        </p:nvSpPr>
        <p:spPr>
          <a:xfrm>
            <a:off x="30804" y="3201048"/>
            <a:ext cx="505838" cy="505838"/>
          </a:xfrm>
          <a:prstGeom prst="rightArrow">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Arrow: Right 6">
            <a:extLst>
              <a:ext uri="{FF2B5EF4-FFF2-40B4-BE49-F238E27FC236}">
                <a16:creationId xmlns:a16="http://schemas.microsoft.com/office/drawing/2014/main" id="{F97B5E52-A20C-C380-C0FE-B8C06E1DE794}"/>
              </a:ext>
            </a:extLst>
          </p:cNvPr>
          <p:cNvSpPr/>
          <p:nvPr/>
        </p:nvSpPr>
        <p:spPr>
          <a:xfrm>
            <a:off x="30804" y="4113883"/>
            <a:ext cx="505838" cy="505838"/>
          </a:xfrm>
          <a:prstGeom prst="rightArrow">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rrow: Right 7">
            <a:extLst>
              <a:ext uri="{FF2B5EF4-FFF2-40B4-BE49-F238E27FC236}">
                <a16:creationId xmlns:a16="http://schemas.microsoft.com/office/drawing/2014/main" id="{62671B43-EAF6-0E87-6798-A9E62EF364C6}"/>
              </a:ext>
            </a:extLst>
          </p:cNvPr>
          <p:cNvSpPr/>
          <p:nvPr/>
        </p:nvSpPr>
        <p:spPr>
          <a:xfrm>
            <a:off x="30804" y="4868274"/>
            <a:ext cx="505838" cy="505838"/>
          </a:xfrm>
          <a:prstGeom prst="rightArrow">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03598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1" nodeType="clickEffect">
                                  <p:stCondLst>
                                    <p:cond delay="0"/>
                                  </p:stCondLst>
                                  <p:childTnLst>
                                    <p:animEffect transition="out" filter="fade">
                                      <p:cBhvr>
                                        <p:cTn id="11" dur="250"/>
                                        <p:tgtEl>
                                          <p:spTgt spid="3"/>
                                        </p:tgtEl>
                                      </p:cBhvr>
                                    </p:animEffect>
                                    <p:set>
                                      <p:cBhvr>
                                        <p:cTn id="12" dur="1" fill="hold">
                                          <p:stCondLst>
                                            <p:cond delay="249"/>
                                          </p:stCondLst>
                                        </p:cTn>
                                        <p:tgtEl>
                                          <p:spTgt spid="3"/>
                                        </p:tgtEl>
                                        <p:attrNameLst>
                                          <p:attrName>style.visibility</p:attrName>
                                        </p:attrNameLst>
                                      </p:cBhvr>
                                      <p:to>
                                        <p:strVal val="hidden"/>
                                      </p:to>
                                    </p:se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25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grpId="1" nodeType="clickEffect">
                                  <p:stCondLst>
                                    <p:cond delay="0"/>
                                  </p:stCondLst>
                                  <p:childTnLst>
                                    <p:animEffect transition="out" filter="fade">
                                      <p:cBhvr>
                                        <p:cTn id="19" dur="250"/>
                                        <p:tgtEl>
                                          <p:spTgt spid="5"/>
                                        </p:tgtEl>
                                      </p:cBhvr>
                                    </p:animEffect>
                                    <p:set>
                                      <p:cBhvr>
                                        <p:cTn id="20" dur="1" fill="hold">
                                          <p:stCondLst>
                                            <p:cond delay="249"/>
                                          </p:stCondLst>
                                        </p:cTn>
                                        <p:tgtEl>
                                          <p:spTgt spid="5"/>
                                        </p:tgtEl>
                                        <p:attrNameLst>
                                          <p:attrName>style.visibility</p:attrName>
                                        </p:attrNameLst>
                                      </p:cBhvr>
                                      <p:to>
                                        <p:strVal val="hidden"/>
                                      </p:to>
                                    </p:set>
                                  </p:childTnLst>
                                </p:cTn>
                              </p:par>
                              <p:par>
                                <p:cTn id="21" presetID="10"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25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xit" presetSubtype="0" fill="hold" grpId="1" nodeType="clickEffect">
                                  <p:stCondLst>
                                    <p:cond delay="0"/>
                                  </p:stCondLst>
                                  <p:childTnLst>
                                    <p:animEffect transition="out" filter="fade">
                                      <p:cBhvr>
                                        <p:cTn id="27" dur="250"/>
                                        <p:tgtEl>
                                          <p:spTgt spid="6"/>
                                        </p:tgtEl>
                                      </p:cBhvr>
                                    </p:animEffect>
                                    <p:set>
                                      <p:cBhvr>
                                        <p:cTn id="28" dur="1" fill="hold">
                                          <p:stCondLst>
                                            <p:cond delay="249"/>
                                          </p:stCondLst>
                                        </p:cTn>
                                        <p:tgtEl>
                                          <p:spTgt spid="6"/>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250"/>
                                        <p:tgtEl>
                                          <p:spTgt spid="7"/>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xit" presetSubtype="0" fill="hold" grpId="1" nodeType="clickEffect">
                                  <p:stCondLst>
                                    <p:cond delay="0"/>
                                  </p:stCondLst>
                                  <p:childTnLst>
                                    <p:animEffect transition="out" filter="fade">
                                      <p:cBhvr>
                                        <p:cTn id="35" dur="250"/>
                                        <p:tgtEl>
                                          <p:spTgt spid="7"/>
                                        </p:tgtEl>
                                      </p:cBhvr>
                                    </p:animEffect>
                                    <p:set>
                                      <p:cBhvr>
                                        <p:cTn id="36" dur="1" fill="hold">
                                          <p:stCondLst>
                                            <p:cond delay="249"/>
                                          </p:stCondLst>
                                        </p:cTn>
                                        <p:tgtEl>
                                          <p:spTgt spid="7"/>
                                        </p:tgtEl>
                                        <p:attrNameLst>
                                          <p:attrName>style.visibility</p:attrName>
                                        </p:attrNameLst>
                                      </p:cBhvr>
                                      <p:to>
                                        <p:strVal val="hidden"/>
                                      </p:to>
                                    </p:set>
                                  </p:childTnLst>
                                </p:cTn>
                              </p:par>
                              <p:par>
                                <p:cTn id="37" presetID="10" presetClass="entr" presetSubtype="0"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250"/>
                                        <p:tgtEl>
                                          <p:spTgt spid="8"/>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xit" presetSubtype="0" fill="hold" grpId="1" nodeType="clickEffect">
                                  <p:stCondLst>
                                    <p:cond delay="0"/>
                                  </p:stCondLst>
                                  <p:childTnLst>
                                    <p:animEffect transition="out" filter="fade">
                                      <p:cBhvr>
                                        <p:cTn id="43" dur="250"/>
                                        <p:tgtEl>
                                          <p:spTgt spid="8"/>
                                        </p:tgtEl>
                                      </p:cBhvr>
                                    </p:animEffect>
                                    <p:set>
                                      <p:cBhvr>
                                        <p:cTn id="44" dur="1" fill="hold">
                                          <p:stCondLst>
                                            <p:cond delay="24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5" grpId="0" animBg="1"/>
      <p:bldP spid="5" grpId="1" animBg="1"/>
      <p:bldP spid="6" grpId="0" animBg="1"/>
      <p:bldP spid="6" grpId="1" animBg="1"/>
      <p:bldP spid="7" grpId="0" animBg="1"/>
      <p:bldP spid="7" grpId="1" animBg="1"/>
      <p:bldP spid="8" grpId="0" animBg="1"/>
      <p:bldP spid="8" grpId="1"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C81A5-931D-C603-6084-5E0051C975FA}"/>
              </a:ext>
            </a:extLst>
          </p:cNvPr>
          <p:cNvSpPr>
            <a:spLocks noGrp="1"/>
          </p:cNvSpPr>
          <p:nvPr>
            <p:ph type="title"/>
          </p:nvPr>
        </p:nvSpPr>
        <p:spPr/>
        <p:txBody>
          <a:bodyPr/>
          <a:lstStyle/>
          <a:p>
            <a:r>
              <a:rPr lang="en-US" dirty="0"/>
              <a:t>Findings for children</a:t>
            </a:r>
          </a:p>
        </p:txBody>
      </p:sp>
      <p:graphicFrame>
        <p:nvGraphicFramePr>
          <p:cNvPr id="4" name="Table 4">
            <a:extLst>
              <a:ext uri="{FF2B5EF4-FFF2-40B4-BE49-F238E27FC236}">
                <a16:creationId xmlns:a16="http://schemas.microsoft.com/office/drawing/2014/main" id="{21777761-1438-14FD-6570-A9BB434A774B}"/>
              </a:ext>
            </a:extLst>
          </p:cNvPr>
          <p:cNvGraphicFramePr>
            <a:graphicFrameLocks noGrp="1"/>
          </p:cNvGraphicFramePr>
          <p:nvPr>
            <p:extLst>
              <p:ext uri="{D42A27DB-BD31-4B8C-83A1-F6EECF244321}">
                <p14:modId xmlns:p14="http://schemas.microsoft.com/office/powerpoint/2010/main" val="3141440237"/>
              </p:ext>
            </p:extLst>
          </p:nvPr>
        </p:nvGraphicFramePr>
        <p:xfrm>
          <a:off x="457201" y="1236501"/>
          <a:ext cx="11566187" cy="5120640"/>
        </p:xfrm>
        <a:graphic>
          <a:graphicData uri="http://schemas.openxmlformats.org/drawingml/2006/table">
            <a:tbl>
              <a:tblPr firstRow="1" lastCol="1">
                <a:tableStyleId>{5C22544A-7EE6-4342-B048-85BDC9FD1C3A}</a:tableStyleId>
              </a:tblPr>
              <a:tblGrid>
                <a:gridCol w="1702339">
                  <a:extLst>
                    <a:ext uri="{9D8B030D-6E8A-4147-A177-3AD203B41FA5}">
                      <a16:colId xmlns:a16="http://schemas.microsoft.com/office/drawing/2014/main" val="2083836060"/>
                    </a:ext>
                  </a:extLst>
                </a:gridCol>
                <a:gridCol w="4931924">
                  <a:extLst>
                    <a:ext uri="{9D8B030D-6E8A-4147-A177-3AD203B41FA5}">
                      <a16:colId xmlns:a16="http://schemas.microsoft.com/office/drawing/2014/main" val="3461456392"/>
                    </a:ext>
                  </a:extLst>
                </a:gridCol>
                <a:gridCol w="4931924">
                  <a:extLst>
                    <a:ext uri="{9D8B030D-6E8A-4147-A177-3AD203B41FA5}">
                      <a16:colId xmlns:a16="http://schemas.microsoft.com/office/drawing/2014/main" val="1247666884"/>
                    </a:ext>
                  </a:extLst>
                </a:gridCol>
              </a:tblGrid>
              <a:tr h="154977">
                <a:tc>
                  <a:txBody>
                    <a:bodyPr/>
                    <a:lstStyle/>
                    <a:p>
                      <a:endParaRPr lang="en-US" sz="2100" dirty="0">
                        <a:latin typeface="+mj-lt"/>
                      </a:endParaRPr>
                    </a:p>
                  </a:txBody>
                  <a:tcPr>
                    <a:noFill/>
                  </a:tcPr>
                </a:tc>
                <a:tc>
                  <a:txBody>
                    <a:bodyPr/>
                    <a:lstStyle/>
                    <a:p>
                      <a:r>
                        <a:rPr lang="en-US" sz="2100" dirty="0">
                          <a:latin typeface="+mj-lt"/>
                        </a:rPr>
                        <a:t>Mother Reenrolled at All</a:t>
                      </a:r>
                    </a:p>
                  </a:txBody>
                  <a:tcPr>
                    <a:solidFill>
                      <a:schemeClr val="accent1">
                        <a:lumMod val="50000"/>
                      </a:schemeClr>
                    </a:solidFill>
                  </a:tcPr>
                </a:tc>
                <a:tc>
                  <a:txBody>
                    <a:bodyPr/>
                    <a:lstStyle/>
                    <a:p>
                      <a:r>
                        <a:rPr lang="en-US" sz="2100" dirty="0">
                          <a:latin typeface="+mj-lt"/>
                        </a:rPr>
                        <a:t>Mother Completed College Degree</a:t>
                      </a:r>
                    </a:p>
                  </a:txBody>
                  <a:tcPr>
                    <a:solidFill>
                      <a:schemeClr val="accent1">
                        <a:lumMod val="50000"/>
                      </a:schemeClr>
                    </a:solidFill>
                  </a:tcPr>
                </a:tc>
                <a:extLst>
                  <a:ext uri="{0D108BD9-81ED-4DB2-BD59-A6C34878D82A}">
                    <a16:rowId xmlns:a16="http://schemas.microsoft.com/office/drawing/2014/main" val="2661674120"/>
                  </a:ext>
                </a:extLst>
              </a:tr>
              <a:tr h="640080">
                <a:tc>
                  <a:txBody>
                    <a:bodyPr/>
                    <a:lstStyle/>
                    <a:p>
                      <a:r>
                        <a:rPr lang="en-US" sz="2100" b="1" dirty="0">
                          <a:latin typeface="+mj-lt"/>
                        </a:rPr>
                        <a:t>Short-term </a:t>
                      </a:r>
                      <a:br>
                        <a:rPr lang="en-US" sz="2100" b="1" dirty="0">
                          <a:latin typeface="+mj-lt"/>
                        </a:rPr>
                      </a:br>
                      <a:r>
                        <a:rPr lang="en-US" sz="2100" b="1" dirty="0">
                          <a:latin typeface="+mj-lt"/>
                        </a:rPr>
                        <a:t>test scores</a:t>
                      </a:r>
                    </a:p>
                  </a:txBody>
                  <a:tcPr anchor="ctr">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latin typeface="+mj-lt"/>
                        </a:rPr>
                        <a:t>Gains in verbal scores for 2 year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latin typeface="+mj-lt"/>
                        </a:rPr>
                        <a:t>Gains in reading schools for a year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b="0" dirty="0">
                          <a:solidFill>
                            <a:schemeClr val="bg1"/>
                          </a:solidFill>
                          <a:latin typeface="+mj-lt"/>
                        </a:rPr>
                        <a:t>Larger gains in verbal scores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100" b="0" dirty="0">
                          <a:solidFill>
                            <a:schemeClr val="bg1"/>
                          </a:solidFill>
                          <a:latin typeface="+mj-lt"/>
                        </a:rPr>
                        <a:t>Gains in reading scores for 4 years</a:t>
                      </a:r>
                    </a:p>
                  </a:txBody>
                  <a:tcPr/>
                </a:tc>
                <a:extLst>
                  <a:ext uri="{0D108BD9-81ED-4DB2-BD59-A6C34878D82A}">
                    <a16:rowId xmlns:a16="http://schemas.microsoft.com/office/drawing/2014/main" val="2173614273"/>
                  </a:ext>
                </a:extLst>
              </a:tr>
              <a:tr h="167687">
                <a:tc>
                  <a:txBody>
                    <a:bodyPr/>
                    <a:lstStyle/>
                    <a:p>
                      <a:r>
                        <a:rPr lang="en-US" sz="2100" b="1" dirty="0">
                          <a:latin typeface="+mj-lt"/>
                        </a:rPr>
                        <a:t>Behavior</a:t>
                      </a:r>
                    </a:p>
                  </a:txBody>
                  <a:tcPr anchor="ct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latin typeface="+mj-lt"/>
                        </a:rPr>
                        <a:t>Worse behavior scores for 5 years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b="0" dirty="0">
                          <a:solidFill>
                            <a:schemeClr val="bg1"/>
                          </a:solidFill>
                          <a:latin typeface="+mj-lt"/>
                        </a:rPr>
                        <a:t>No worse behavior scores, but higher rates of suspension</a:t>
                      </a:r>
                    </a:p>
                  </a:txBody>
                  <a:tcPr/>
                </a:tc>
                <a:extLst>
                  <a:ext uri="{0D108BD9-81ED-4DB2-BD59-A6C34878D82A}">
                    <a16:rowId xmlns:a16="http://schemas.microsoft.com/office/drawing/2014/main" val="512265667"/>
                  </a:ext>
                </a:extLst>
              </a:tr>
              <a:tr h="640080">
                <a:tc>
                  <a:txBody>
                    <a:bodyPr/>
                    <a:lstStyle/>
                    <a:p>
                      <a:r>
                        <a:rPr lang="en-US" sz="2100" b="1" dirty="0">
                          <a:latin typeface="+mj-lt"/>
                        </a:rPr>
                        <a:t>Education</a:t>
                      </a:r>
                    </a:p>
                  </a:txBody>
                  <a:tcPr anchor="ct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latin typeface="+mj-lt"/>
                        </a:rPr>
                        <a:t>2% more likely to complete high school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latin typeface="+mj-lt"/>
                        </a:rPr>
                        <a:t>10% more likely to enroll in college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latin typeface="+mj-lt"/>
                        </a:rPr>
                        <a:t>16% more likely to get a college degree</a:t>
                      </a:r>
                    </a:p>
                  </a:txBody>
                  <a:tcPr/>
                </a:tc>
                <a:tc>
                  <a:txBody>
                    <a:bodyPr/>
                    <a:lstStyle/>
                    <a:p>
                      <a:r>
                        <a:rPr lang="en-US" sz="2100" b="0" dirty="0">
                          <a:solidFill>
                            <a:schemeClr val="bg1"/>
                          </a:solidFill>
                          <a:latin typeface="+mj-lt"/>
                        </a:rPr>
                        <a:t>9% more likely to complete high school</a:t>
                      </a:r>
                    </a:p>
                    <a:p>
                      <a:r>
                        <a:rPr lang="en-US" sz="2100" b="0" dirty="0">
                          <a:solidFill>
                            <a:schemeClr val="bg1"/>
                          </a:solidFill>
                          <a:latin typeface="+mj-lt"/>
                        </a:rPr>
                        <a:t>21% more likely to enroll in college</a:t>
                      </a:r>
                    </a:p>
                    <a:p>
                      <a:r>
                        <a:rPr lang="en-US" sz="2100" b="0" dirty="0">
                          <a:solidFill>
                            <a:schemeClr val="bg1"/>
                          </a:solidFill>
                          <a:latin typeface="+mj-lt"/>
                        </a:rPr>
                        <a:t>38% more likely to get a college degree</a:t>
                      </a:r>
                    </a:p>
                  </a:txBody>
                  <a:tcPr/>
                </a:tc>
                <a:extLst>
                  <a:ext uri="{0D108BD9-81ED-4DB2-BD59-A6C34878D82A}">
                    <a16:rowId xmlns:a16="http://schemas.microsoft.com/office/drawing/2014/main" val="624623077"/>
                  </a:ext>
                </a:extLst>
              </a:tr>
              <a:tr h="640080">
                <a:tc>
                  <a:txBody>
                    <a:bodyPr/>
                    <a:lstStyle/>
                    <a:p>
                      <a:r>
                        <a:rPr lang="en-US" sz="2100" b="1" dirty="0">
                          <a:latin typeface="+mj-lt"/>
                        </a:rPr>
                        <a:t>Earnings after age 25</a:t>
                      </a:r>
                    </a:p>
                  </a:txBody>
                  <a:tcPr anchor="ct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r>
                        <a:rPr lang="en-US" sz="2100" dirty="0">
                          <a:latin typeface="+mj-lt"/>
                        </a:rPr>
                        <a:t>No earnings gain</a:t>
                      </a:r>
                    </a:p>
                  </a:txBody>
                  <a:tcPr/>
                </a:tc>
                <a:tc>
                  <a:txBody>
                    <a:bodyPr/>
                    <a:lstStyle/>
                    <a:p>
                      <a:r>
                        <a:rPr lang="en-US" sz="2100" b="0" dirty="0">
                          <a:solidFill>
                            <a:schemeClr val="bg1"/>
                          </a:solidFill>
                          <a:latin typeface="+mj-lt"/>
                        </a:rPr>
                        <a:t>$4,096 average earnings gain per year</a:t>
                      </a:r>
                    </a:p>
                  </a:txBody>
                  <a:tcPr/>
                </a:tc>
                <a:extLst>
                  <a:ext uri="{0D108BD9-81ED-4DB2-BD59-A6C34878D82A}">
                    <a16:rowId xmlns:a16="http://schemas.microsoft.com/office/drawing/2014/main" val="4092368715"/>
                  </a:ext>
                </a:extLst>
              </a:tr>
              <a:tr h="0">
                <a:tc>
                  <a:txBody>
                    <a:bodyPr/>
                    <a:lstStyle/>
                    <a:p>
                      <a:r>
                        <a:rPr lang="en-US" sz="2100" b="1" dirty="0">
                          <a:latin typeface="+mj-lt"/>
                        </a:rPr>
                        <a:t>Marriage</a:t>
                      </a:r>
                    </a:p>
                  </a:txBody>
                  <a:tcPr anchor="ct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latin typeface="+mj-lt"/>
                        </a:rPr>
                        <a:t>No effects on marriage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b="0" dirty="0">
                          <a:solidFill>
                            <a:schemeClr val="bg1"/>
                          </a:solidFill>
                          <a:latin typeface="+mj-lt"/>
                        </a:rPr>
                        <a:t>No effects on marriage</a:t>
                      </a:r>
                    </a:p>
                  </a:txBody>
                  <a:tcPr/>
                </a:tc>
                <a:extLst>
                  <a:ext uri="{0D108BD9-81ED-4DB2-BD59-A6C34878D82A}">
                    <a16:rowId xmlns:a16="http://schemas.microsoft.com/office/drawing/2014/main" val="3554808145"/>
                  </a:ext>
                </a:extLst>
              </a:tr>
              <a:tr h="640080">
                <a:tc>
                  <a:txBody>
                    <a:bodyPr/>
                    <a:lstStyle/>
                    <a:p>
                      <a:r>
                        <a:rPr lang="en-US" sz="2100" b="1" dirty="0">
                          <a:latin typeface="+mj-lt"/>
                        </a:rPr>
                        <a:t>Health</a:t>
                      </a:r>
                    </a:p>
                  </a:txBody>
                  <a:tcPr anchor="ctr">
                    <a:lnT w="12700" cap="flat" cmpd="sng" algn="ctr">
                      <a:solidFill>
                        <a:schemeClr val="bg1">
                          <a:lumMod val="75000"/>
                        </a:schemeClr>
                      </a:solidFill>
                      <a:prstDash val="solid"/>
                      <a:round/>
                      <a:headEnd type="none" w="med" len="med"/>
                      <a:tailEnd type="none" w="med" len="med"/>
                    </a:lnT>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latin typeface="+mj-lt"/>
                        </a:rPr>
                        <a:t>19% more likely to have a serious physical health limitation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latin typeface="+mj-lt"/>
                        </a:rPr>
                        <a:t>No differences in depression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b="0" dirty="0">
                          <a:solidFill>
                            <a:schemeClr val="bg1"/>
                          </a:solidFill>
                          <a:latin typeface="+mj-lt"/>
                        </a:rPr>
                        <a:t>No worse health</a:t>
                      </a:r>
                      <a:br>
                        <a:rPr lang="en-US" sz="2100" b="0" dirty="0">
                          <a:solidFill>
                            <a:schemeClr val="bg1"/>
                          </a:solidFill>
                          <a:latin typeface="+mj-lt"/>
                        </a:rPr>
                      </a:br>
                      <a:r>
                        <a:rPr lang="en-US" sz="2100" b="0" dirty="0">
                          <a:solidFill>
                            <a:schemeClr val="bg1"/>
                          </a:solidFill>
                          <a:latin typeface="+mj-lt"/>
                        </a:rPr>
                        <a:t>No differences in depression</a:t>
                      </a:r>
                    </a:p>
                  </a:txBody>
                  <a:tcPr/>
                </a:tc>
                <a:extLst>
                  <a:ext uri="{0D108BD9-81ED-4DB2-BD59-A6C34878D82A}">
                    <a16:rowId xmlns:a16="http://schemas.microsoft.com/office/drawing/2014/main" val="839293843"/>
                  </a:ext>
                </a:extLst>
              </a:tr>
            </a:tbl>
          </a:graphicData>
        </a:graphic>
      </p:graphicFrame>
      <p:sp>
        <p:nvSpPr>
          <p:cNvPr id="5" name="Arrow: Right 4">
            <a:extLst>
              <a:ext uri="{FF2B5EF4-FFF2-40B4-BE49-F238E27FC236}">
                <a16:creationId xmlns:a16="http://schemas.microsoft.com/office/drawing/2014/main" id="{58757D0A-1EAD-2C7E-2419-BE35CBF74F96}"/>
              </a:ext>
            </a:extLst>
          </p:cNvPr>
          <p:cNvSpPr/>
          <p:nvPr/>
        </p:nvSpPr>
        <p:spPr>
          <a:xfrm>
            <a:off x="30804" y="1746969"/>
            <a:ext cx="505838" cy="505838"/>
          </a:xfrm>
          <a:prstGeom prst="rightArrow">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rrow: Right 5">
            <a:extLst>
              <a:ext uri="{FF2B5EF4-FFF2-40B4-BE49-F238E27FC236}">
                <a16:creationId xmlns:a16="http://schemas.microsoft.com/office/drawing/2014/main" id="{121BF00B-817C-FB90-DA77-D5B5955D2AE7}"/>
              </a:ext>
            </a:extLst>
          </p:cNvPr>
          <p:cNvSpPr/>
          <p:nvPr/>
        </p:nvSpPr>
        <p:spPr>
          <a:xfrm>
            <a:off x="35668" y="2504428"/>
            <a:ext cx="505838" cy="505838"/>
          </a:xfrm>
          <a:prstGeom prst="rightArrow">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Arrow: Right 6">
            <a:extLst>
              <a:ext uri="{FF2B5EF4-FFF2-40B4-BE49-F238E27FC236}">
                <a16:creationId xmlns:a16="http://schemas.microsoft.com/office/drawing/2014/main" id="{FF46D6D8-2D9A-C0E9-AB4A-4E6B90D3B9CF}"/>
              </a:ext>
            </a:extLst>
          </p:cNvPr>
          <p:cNvSpPr/>
          <p:nvPr/>
        </p:nvSpPr>
        <p:spPr>
          <a:xfrm>
            <a:off x="30804" y="3389113"/>
            <a:ext cx="505838" cy="505838"/>
          </a:xfrm>
          <a:prstGeom prst="rightArrow">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Arrow: Right 7">
            <a:extLst>
              <a:ext uri="{FF2B5EF4-FFF2-40B4-BE49-F238E27FC236}">
                <a16:creationId xmlns:a16="http://schemas.microsoft.com/office/drawing/2014/main" id="{D6F6FBCB-4536-2F47-39EE-3A1AF44D9D6D}"/>
              </a:ext>
            </a:extLst>
          </p:cNvPr>
          <p:cNvSpPr/>
          <p:nvPr/>
        </p:nvSpPr>
        <p:spPr>
          <a:xfrm>
            <a:off x="30804" y="4269523"/>
            <a:ext cx="505838" cy="505838"/>
          </a:xfrm>
          <a:prstGeom prst="rightArrow">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row: Right 8">
            <a:extLst>
              <a:ext uri="{FF2B5EF4-FFF2-40B4-BE49-F238E27FC236}">
                <a16:creationId xmlns:a16="http://schemas.microsoft.com/office/drawing/2014/main" id="{3A5C7734-1965-067B-4F5B-CD11131A7622}"/>
              </a:ext>
            </a:extLst>
          </p:cNvPr>
          <p:cNvSpPr/>
          <p:nvPr/>
        </p:nvSpPr>
        <p:spPr>
          <a:xfrm>
            <a:off x="30804" y="4855304"/>
            <a:ext cx="505838" cy="505838"/>
          </a:xfrm>
          <a:prstGeom prst="rightArrow">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Right 9">
            <a:extLst>
              <a:ext uri="{FF2B5EF4-FFF2-40B4-BE49-F238E27FC236}">
                <a16:creationId xmlns:a16="http://schemas.microsoft.com/office/drawing/2014/main" id="{6692688F-7D4F-3306-64A6-E47DA2D9E7F6}"/>
              </a:ext>
            </a:extLst>
          </p:cNvPr>
          <p:cNvSpPr/>
          <p:nvPr/>
        </p:nvSpPr>
        <p:spPr>
          <a:xfrm>
            <a:off x="30804" y="5582589"/>
            <a:ext cx="505838" cy="505838"/>
          </a:xfrm>
          <a:prstGeom prst="rightArrow">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20195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1" nodeType="clickEffect">
                                  <p:stCondLst>
                                    <p:cond delay="0"/>
                                  </p:stCondLst>
                                  <p:childTnLst>
                                    <p:animEffect transition="out" filter="fade">
                                      <p:cBhvr>
                                        <p:cTn id="11" dur="250"/>
                                        <p:tgtEl>
                                          <p:spTgt spid="5"/>
                                        </p:tgtEl>
                                      </p:cBhvr>
                                    </p:animEffect>
                                    <p:set>
                                      <p:cBhvr>
                                        <p:cTn id="12" dur="1" fill="hold">
                                          <p:stCondLst>
                                            <p:cond delay="249"/>
                                          </p:stCondLst>
                                        </p:cTn>
                                        <p:tgtEl>
                                          <p:spTgt spid="5"/>
                                        </p:tgtEl>
                                        <p:attrNameLst>
                                          <p:attrName>style.visibility</p:attrName>
                                        </p:attrNameLst>
                                      </p:cBhvr>
                                      <p:to>
                                        <p:strVal val="hidden"/>
                                      </p:to>
                                    </p:se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25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grpId="1" nodeType="clickEffect">
                                  <p:stCondLst>
                                    <p:cond delay="0"/>
                                  </p:stCondLst>
                                  <p:childTnLst>
                                    <p:animEffect transition="out" filter="fade">
                                      <p:cBhvr>
                                        <p:cTn id="19" dur="250"/>
                                        <p:tgtEl>
                                          <p:spTgt spid="6"/>
                                        </p:tgtEl>
                                      </p:cBhvr>
                                    </p:animEffect>
                                    <p:set>
                                      <p:cBhvr>
                                        <p:cTn id="20" dur="1" fill="hold">
                                          <p:stCondLst>
                                            <p:cond delay="249"/>
                                          </p:stCondLst>
                                        </p:cTn>
                                        <p:tgtEl>
                                          <p:spTgt spid="6"/>
                                        </p:tgtEl>
                                        <p:attrNameLst>
                                          <p:attrName>style.visibility</p:attrName>
                                        </p:attrNameLst>
                                      </p:cBhvr>
                                      <p:to>
                                        <p:strVal val="hidden"/>
                                      </p:to>
                                    </p:set>
                                  </p:childTnLst>
                                </p:cTn>
                              </p:par>
                              <p:par>
                                <p:cTn id="21" presetID="10"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25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xit" presetSubtype="0" fill="hold" grpId="1" nodeType="clickEffect">
                                  <p:stCondLst>
                                    <p:cond delay="0"/>
                                  </p:stCondLst>
                                  <p:childTnLst>
                                    <p:animEffect transition="out" filter="fade">
                                      <p:cBhvr>
                                        <p:cTn id="27" dur="250"/>
                                        <p:tgtEl>
                                          <p:spTgt spid="7"/>
                                        </p:tgtEl>
                                      </p:cBhvr>
                                    </p:animEffect>
                                    <p:set>
                                      <p:cBhvr>
                                        <p:cTn id="28" dur="1" fill="hold">
                                          <p:stCondLst>
                                            <p:cond delay="249"/>
                                          </p:stCondLst>
                                        </p:cTn>
                                        <p:tgtEl>
                                          <p:spTgt spid="7"/>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250"/>
                                        <p:tgtEl>
                                          <p:spTgt spid="8"/>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xit" presetSubtype="0" fill="hold" grpId="1" nodeType="clickEffect">
                                  <p:stCondLst>
                                    <p:cond delay="0"/>
                                  </p:stCondLst>
                                  <p:childTnLst>
                                    <p:animEffect transition="out" filter="fade">
                                      <p:cBhvr>
                                        <p:cTn id="35" dur="250"/>
                                        <p:tgtEl>
                                          <p:spTgt spid="8"/>
                                        </p:tgtEl>
                                      </p:cBhvr>
                                    </p:animEffect>
                                    <p:set>
                                      <p:cBhvr>
                                        <p:cTn id="36" dur="1" fill="hold">
                                          <p:stCondLst>
                                            <p:cond delay="249"/>
                                          </p:stCondLst>
                                        </p:cTn>
                                        <p:tgtEl>
                                          <p:spTgt spid="8"/>
                                        </p:tgtEl>
                                        <p:attrNameLst>
                                          <p:attrName>style.visibility</p:attrName>
                                        </p:attrNameLst>
                                      </p:cBhvr>
                                      <p:to>
                                        <p:strVal val="hidden"/>
                                      </p:to>
                                    </p:set>
                                  </p:childTnLst>
                                </p:cTn>
                              </p:par>
                              <p:par>
                                <p:cTn id="37" presetID="10" presetClass="entr" presetSubtype="0"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250"/>
                                        <p:tgtEl>
                                          <p:spTgt spid="9"/>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xit" presetSubtype="0" fill="hold" grpId="1" nodeType="clickEffect">
                                  <p:stCondLst>
                                    <p:cond delay="0"/>
                                  </p:stCondLst>
                                  <p:childTnLst>
                                    <p:animEffect transition="out" filter="fade">
                                      <p:cBhvr>
                                        <p:cTn id="43" dur="250"/>
                                        <p:tgtEl>
                                          <p:spTgt spid="9"/>
                                        </p:tgtEl>
                                      </p:cBhvr>
                                    </p:animEffect>
                                    <p:set>
                                      <p:cBhvr>
                                        <p:cTn id="44" dur="1" fill="hold">
                                          <p:stCondLst>
                                            <p:cond delay="249"/>
                                          </p:stCondLst>
                                        </p:cTn>
                                        <p:tgtEl>
                                          <p:spTgt spid="9"/>
                                        </p:tgtEl>
                                        <p:attrNameLst>
                                          <p:attrName>style.visibility</p:attrName>
                                        </p:attrNameLst>
                                      </p:cBhvr>
                                      <p:to>
                                        <p:strVal val="hidden"/>
                                      </p:to>
                                    </p:set>
                                  </p:childTnLst>
                                </p:cTn>
                              </p:par>
                              <p:par>
                                <p:cTn id="45" presetID="10" presetClass="entr" presetSubtype="0" fill="hold" grpId="0" nodeType="with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250"/>
                                        <p:tgtEl>
                                          <p:spTgt spid="10"/>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xit" presetSubtype="0" fill="hold" grpId="1" nodeType="clickEffect">
                                  <p:stCondLst>
                                    <p:cond delay="0"/>
                                  </p:stCondLst>
                                  <p:childTnLst>
                                    <p:animEffect transition="out" filter="fade">
                                      <p:cBhvr>
                                        <p:cTn id="51" dur="250"/>
                                        <p:tgtEl>
                                          <p:spTgt spid="10"/>
                                        </p:tgtEl>
                                      </p:cBhvr>
                                    </p:animEffect>
                                    <p:set>
                                      <p:cBhvr>
                                        <p:cTn id="52" dur="1" fill="hold">
                                          <p:stCondLst>
                                            <p:cond delay="24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P spid="7" grpId="0" animBg="1"/>
      <p:bldP spid="7" grpId="1" animBg="1"/>
      <p:bldP spid="8" grpId="0" animBg="1"/>
      <p:bldP spid="8" grpId="1" animBg="1"/>
      <p:bldP spid="9" grpId="0" animBg="1"/>
      <p:bldP spid="9" grpId="1" animBg="1"/>
      <p:bldP spid="10" grpId="0" animBg="1"/>
      <p:bldP spid="10" grpId="1"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CFA04FC-0702-4A21-AA28-3FE2896AD66F}"/>
              </a:ext>
            </a:extLst>
          </p:cNvPr>
          <p:cNvSpPr>
            <a:spLocks noGrp="1"/>
          </p:cNvSpPr>
          <p:nvPr>
            <p:ph type="title"/>
          </p:nvPr>
        </p:nvSpPr>
        <p:spPr/>
        <p:txBody>
          <a:bodyPr/>
          <a:lstStyle/>
          <a:p>
            <a:r>
              <a:rPr lang="en-US" dirty="0"/>
              <a:t>Overall summary</a:t>
            </a:r>
          </a:p>
        </p:txBody>
      </p:sp>
      <p:sp>
        <p:nvSpPr>
          <p:cNvPr id="2" name="Content Placeholder 1">
            <a:extLst>
              <a:ext uri="{FF2B5EF4-FFF2-40B4-BE49-F238E27FC236}">
                <a16:creationId xmlns:a16="http://schemas.microsoft.com/office/drawing/2014/main" id="{4E56A27B-4F0A-4EEE-AAC8-55C8BA4FB0DF}"/>
              </a:ext>
            </a:extLst>
          </p:cNvPr>
          <p:cNvSpPr>
            <a:spLocks noGrp="1"/>
          </p:cNvSpPr>
          <p:nvPr>
            <p:ph idx="1"/>
          </p:nvPr>
        </p:nvSpPr>
        <p:spPr>
          <a:xfrm>
            <a:off x="457200" y="1825625"/>
            <a:ext cx="11277600" cy="4498975"/>
          </a:xfrm>
        </p:spPr>
        <p:txBody>
          <a:bodyPr>
            <a:normAutofit/>
          </a:bodyPr>
          <a:lstStyle/>
          <a:p>
            <a:r>
              <a:rPr lang="en-US" dirty="0"/>
              <a:t>Mothers who reenroll gain more education, work more, &amp; earn more on average, but they are less likely to be married &amp; family income declines</a:t>
            </a:r>
          </a:p>
          <a:p>
            <a:pPr lvl="1"/>
            <a:r>
              <a:rPr lang="en-US" dirty="0"/>
              <a:t>Some long-term negative mental health effects</a:t>
            </a:r>
          </a:p>
          <a:p>
            <a:r>
              <a:rPr lang="en-US" dirty="0"/>
              <a:t>Children of mothers who reenroll do better academically in the short &amp; long term on average, but this only translates into earnings gains for children of mothers who completed college degrees</a:t>
            </a:r>
          </a:p>
          <a:p>
            <a:pPr lvl="1"/>
            <a:r>
              <a:rPr lang="en-US" dirty="0"/>
              <a:t>Children also experience more behavioral problems</a:t>
            </a:r>
          </a:p>
          <a:p>
            <a:r>
              <a:rPr lang="en-US" dirty="0"/>
              <a:t>Enrollment is hard on families, but mothers think it is worthwhile to meet their employment &amp; personal goals &amp; set a good example for their children</a:t>
            </a:r>
          </a:p>
          <a:p>
            <a:pPr lvl="1"/>
            <a:r>
              <a:rPr lang="en-US" dirty="0"/>
              <a:t>Express they could use more supports</a:t>
            </a:r>
          </a:p>
        </p:txBody>
      </p:sp>
      <p:sp>
        <p:nvSpPr>
          <p:cNvPr id="3" name="Slide Number Placeholder 2">
            <a:extLst>
              <a:ext uri="{FF2B5EF4-FFF2-40B4-BE49-F238E27FC236}">
                <a16:creationId xmlns:a16="http://schemas.microsoft.com/office/drawing/2014/main" id="{6BF0B76E-5563-4508-9440-96B05E078C0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C043129-1177-464E-99DF-D6D0FEF2D52C}" type="slidenum">
              <a:rPr kumimoji="0" lang="en-US" sz="1200" b="0" i="0" u="none" strike="noStrike" kern="1200" cap="none" spc="0" normalizeH="0" baseline="0" noProof="0" smtClean="0">
                <a:ln>
                  <a:noFill/>
                </a:ln>
                <a:solidFill>
                  <a:srgbClr val="B58B80">
                    <a:lumMod val="50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srgbClr val="B58B80">
                  <a:lumMod val="50000"/>
                </a:srgb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88297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Effect transition="in" filter="fade">
                                      <p:cBhvr>
                                        <p:cTn id="11" dur="500"/>
                                        <p:tgtEl>
                                          <p:spTgt spid="2">
                                            <p:txEl>
                                              <p:pRg st="1" end="1"/>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fade">
                                      <p:cBhvr>
                                        <p:cTn id="15" dur="500"/>
                                        <p:tgtEl>
                                          <p:spTgt spid="2">
                                            <p:txEl>
                                              <p:pRg st="2" end="2"/>
                                            </p:txEl>
                                          </p:spTgt>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fade">
                                      <p:cBhvr>
                                        <p:cTn id="19" dur="500"/>
                                        <p:tgtEl>
                                          <p:spTgt spid="2">
                                            <p:txEl>
                                              <p:pRg st="3" end="3"/>
                                            </p:txEl>
                                          </p:spTgt>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animEffect transition="in" filter="fade">
                                      <p:cBhvr>
                                        <p:cTn id="23" dur="500"/>
                                        <p:tgtEl>
                                          <p:spTgt spid="2">
                                            <p:txEl>
                                              <p:pRg st="4" end="4"/>
                                            </p:txEl>
                                          </p:spTgt>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fade">
                                      <p:cBhvr>
                                        <p:cTn id="27"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DDB46A2-3BBA-4CB9-A28C-232846A57142}"/>
              </a:ext>
            </a:extLst>
          </p:cNvPr>
          <p:cNvSpPr>
            <a:spLocks noGrp="1"/>
          </p:cNvSpPr>
          <p:nvPr>
            <p:ph idx="1"/>
          </p:nvPr>
        </p:nvSpPr>
        <p:spPr/>
        <p:txBody>
          <a:bodyPr>
            <a:normAutofit/>
          </a:bodyPr>
          <a:lstStyle/>
          <a:p>
            <a:pPr>
              <a:lnSpc>
                <a:spcPct val="110000"/>
              </a:lnSpc>
            </a:pPr>
            <a:r>
              <a:rPr lang="en-US" dirty="0"/>
              <a:t>Many made explicit decisions to decrease work effort/ earnings to accommodate schooling &amp; retain time with children</a:t>
            </a:r>
          </a:p>
          <a:p>
            <a:pPr>
              <a:lnSpc>
                <a:spcPct val="110000"/>
              </a:lnSpc>
            </a:pPr>
            <a:r>
              <a:rPr lang="en-US" dirty="0"/>
              <a:t>Some decided to return to school shortly after marriage/ relationship failure; for others, stress &amp; pressure of schooling and/or new self identities challenged continued partnerships</a:t>
            </a:r>
          </a:p>
          <a:p>
            <a:pPr>
              <a:lnSpc>
                <a:spcPct val="110000"/>
              </a:lnSpc>
            </a:pPr>
            <a:r>
              <a:rPr lang="en-US" dirty="0"/>
              <a:t>Mental health challenges &amp; immense stress while in school</a:t>
            </a:r>
          </a:p>
          <a:p>
            <a:pPr>
              <a:lnSpc>
                <a:spcPct val="110000"/>
              </a:lnSpc>
            </a:pPr>
            <a:r>
              <a:rPr lang="en-US" dirty="0"/>
              <a:t>Some discussion of positive role-modeling &amp; concerted cultivation of children</a:t>
            </a:r>
          </a:p>
          <a:p>
            <a:pPr>
              <a:lnSpc>
                <a:spcPct val="110000"/>
              </a:lnSpc>
            </a:pPr>
            <a:r>
              <a:rPr lang="en-US" dirty="0"/>
              <a:t>Qualitative findings do not explain well children’s negative behavioral issues</a:t>
            </a:r>
          </a:p>
        </p:txBody>
      </p:sp>
      <p:sp>
        <p:nvSpPr>
          <p:cNvPr id="4" name="Title 3">
            <a:extLst>
              <a:ext uri="{FF2B5EF4-FFF2-40B4-BE49-F238E27FC236}">
                <a16:creationId xmlns:a16="http://schemas.microsoft.com/office/drawing/2014/main" id="{DD6E0BA1-913D-4FF4-B1DC-DD7EC4C3023C}"/>
              </a:ext>
            </a:extLst>
          </p:cNvPr>
          <p:cNvSpPr>
            <a:spLocks noGrp="1"/>
          </p:cNvSpPr>
          <p:nvPr>
            <p:ph type="title"/>
          </p:nvPr>
        </p:nvSpPr>
        <p:spPr/>
        <p:txBody>
          <a:bodyPr>
            <a:normAutofit/>
          </a:bodyPr>
          <a:lstStyle/>
          <a:p>
            <a:r>
              <a:rPr lang="en-US" dirty="0"/>
              <a:t>Summary of qualitative findings</a:t>
            </a:r>
          </a:p>
        </p:txBody>
      </p:sp>
      <mc:AlternateContent xmlns:mc="http://schemas.openxmlformats.org/markup-compatibility/2006">
        <mc:Choice xmlns:pslz="http://schemas.microsoft.com/office/powerpoint/2016/slidezoom" Requires="pslz">
          <p:graphicFrame>
            <p:nvGraphicFramePr>
              <p:cNvPr id="6" name="Slide Zoom 5">
                <a:extLst>
                  <a:ext uri="{FF2B5EF4-FFF2-40B4-BE49-F238E27FC236}">
                    <a16:creationId xmlns:a16="http://schemas.microsoft.com/office/drawing/2014/main" id="{8AEB03E6-6017-4C2A-BC2B-4DC31B8F5827}"/>
                  </a:ext>
                </a:extLst>
              </p:cNvPr>
              <p:cNvGraphicFramePr>
                <a:graphicFrameLocks/>
              </p:cNvGraphicFramePr>
              <p:nvPr>
                <p:extLst>
                  <p:ext uri="{D42A27DB-BD31-4B8C-83A1-F6EECF244321}">
                    <p14:modId xmlns:p14="http://schemas.microsoft.com/office/powerpoint/2010/main" val="594940456"/>
                  </p:ext>
                </p:extLst>
              </p:nvPr>
            </p:nvGraphicFramePr>
            <p:xfrm>
              <a:off x="4871760" y="6543040"/>
              <a:ext cx="2743200" cy="1719072"/>
            </p:xfrm>
            <a:graphic>
              <a:graphicData uri="http://schemas.microsoft.com/office/powerpoint/2016/slidezoom">
                <pslz:sldZm>
                  <pslz:sldZmObj sldId="308" cId="2271134336">
                    <pslz:zmPr id="{C6DD079B-DB39-479C-A239-C597D1C3AE06}" returnToParent="0" transitionDur="1000">
                      <p166:blipFill xmlns:p166="http://schemas.microsoft.com/office/powerpoint/2016/6/main">
                        <a:blip r:embed="rId3"/>
                        <a:stretch>
                          <a:fillRect/>
                        </a:stretch>
                      </p166:blipFill>
                      <p166:spPr xmlns:p166="http://schemas.microsoft.com/office/powerpoint/2016/6/main">
                        <a:xfrm>
                          <a:off x="0" y="0"/>
                          <a:ext cx="2743200" cy="1719072"/>
                        </a:xfrm>
                        <a:prstGeom prst="rect">
                          <a:avLst/>
                        </a:prstGeom>
                        <a:ln w="3175">
                          <a:noFill/>
                        </a:ln>
                      </p166:spPr>
                    </pslz:zmPr>
                  </pslz:sldZmObj>
                </pslz:sldZm>
              </a:graphicData>
            </a:graphic>
          </p:graphicFrame>
        </mc:Choice>
        <mc:Fallback>
          <p:pic>
            <p:nvPicPr>
              <p:cNvPr id="6" name="Slide Zoom 5">
                <a:hlinkClick r:id="rId4" action="ppaction://hlinksldjump"/>
                <a:extLst>
                  <a:ext uri="{FF2B5EF4-FFF2-40B4-BE49-F238E27FC236}">
                    <a16:creationId xmlns:a16="http://schemas.microsoft.com/office/drawing/2014/main" id="{8AEB03E6-6017-4C2A-BC2B-4DC31B8F5827}"/>
                  </a:ext>
                </a:extLst>
              </p:cNvPr>
              <p:cNvPicPr>
                <a:picLocks noGrp="1" noRot="1" noChangeAspect="1" noMove="1" noResize="1" noEditPoints="1" noAdjustHandles="1" noChangeArrowheads="1" noChangeShapeType="1"/>
              </p:cNvPicPr>
              <p:nvPr/>
            </p:nvPicPr>
            <p:blipFill>
              <a:blip r:embed="rId3"/>
              <a:stretch>
                <a:fillRect/>
              </a:stretch>
            </p:blipFill>
            <p:spPr>
              <a:xfrm>
                <a:off x="4871760" y="6543040"/>
                <a:ext cx="2743200" cy="1719072"/>
              </a:xfrm>
              <a:prstGeom prst="rect">
                <a:avLst/>
              </a:prstGeom>
              <a:ln w="3175">
                <a:noFill/>
              </a:ln>
            </p:spPr>
          </p:pic>
        </mc:Fallback>
      </mc:AlternateContent>
      <mc:AlternateContent xmlns:mc="http://schemas.openxmlformats.org/markup-compatibility/2006">
        <mc:Choice xmlns:pslz="http://schemas.microsoft.com/office/powerpoint/2016/slidezoom" Requires="pslz">
          <p:graphicFrame>
            <p:nvGraphicFramePr>
              <p:cNvPr id="8" name="Slide Zoom 7">
                <a:extLst>
                  <a:ext uri="{FF2B5EF4-FFF2-40B4-BE49-F238E27FC236}">
                    <a16:creationId xmlns:a16="http://schemas.microsoft.com/office/drawing/2014/main" id="{26CBDB67-3C52-4481-A603-DC5D3FE995B1}"/>
                  </a:ext>
                </a:extLst>
              </p:cNvPr>
              <p:cNvGraphicFramePr>
                <a:graphicFrameLocks/>
              </p:cNvGraphicFramePr>
              <p:nvPr>
                <p:extLst>
                  <p:ext uri="{D42A27DB-BD31-4B8C-83A1-F6EECF244321}">
                    <p14:modId xmlns:p14="http://schemas.microsoft.com/office/powerpoint/2010/main" val="1157906402"/>
                  </p:ext>
                </p:extLst>
              </p:nvPr>
            </p:nvGraphicFramePr>
            <p:xfrm>
              <a:off x="7160388" y="6543040"/>
              <a:ext cx="2743200" cy="1719072"/>
            </p:xfrm>
            <a:graphic>
              <a:graphicData uri="http://schemas.microsoft.com/office/powerpoint/2016/slidezoom">
                <pslz:sldZm>
                  <pslz:sldZmObj sldId="332" cId="1059960130">
                    <pslz:zmPr id="{2239B66B-7581-4C5C-A1B8-E40D37CC3AE3}" returnToParent="0" transitionDur="1000">
                      <p166:blipFill xmlns:p166="http://schemas.microsoft.com/office/powerpoint/2016/6/main">
                        <a:blip r:embed="rId5"/>
                        <a:stretch>
                          <a:fillRect/>
                        </a:stretch>
                      </p166:blipFill>
                      <p166:spPr xmlns:p166="http://schemas.microsoft.com/office/powerpoint/2016/6/main">
                        <a:xfrm>
                          <a:off x="0" y="0"/>
                          <a:ext cx="2743200" cy="1719072"/>
                        </a:xfrm>
                        <a:prstGeom prst="rect">
                          <a:avLst/>
                        </a:prstGeom>
                        <a:ln w="3175">
                          <a:noFill/>
                        </a:ln>
                      </p166:spPr>
                    </pslz:zmPr>
                  </pslz:sldZmObj>
                </pslz:sldZm>
              </a:graphicData>
            </a:graphic>
          </p:graphicFrame>
        </mc:Choice>
        <mc:Fallback>
          <p:pic>
            <p:nvPicPr>
              <p:cNvPr id="8" name="Slide Zoom 7">
                <a:hlinkClick r:id="rId6" action="ppaction://hlinksldjump"/>
                <a:extLst>
                  <a:ext uri="{FF2B5EF4-FFF2-40B4-BE49-F238E27FC236}">
                    <a16:creationId xmlns:a16="http://schemas.microsoft.com/office/drawing/2014/main" id="{26CBDB67-3C52-4481-A603-DC5D3FE995B1}"/>
                  </a:ext>
                </a:extLst>
              </p:cNvPr>
              <p:cNvPicPr>
                <a:picLocks noGrp="1" noRot="1" noChangeAspect="1" noMove="1" noResize="1" noEditPoints="1" noAdjustHandles="1" noChangeArrowheads="1" noChangeShapeType="1"/>
              </p:cNvPicPr>
              <p:nvPr/>
            </p:nvPicPr>
            <p:blipFill>
              <a:blip r:embed="rId5"/>
              <a:stretch>
                <a:fillRect/>
              </a:stretch>
            </p:blipFill>
            <p:spPr>
              <a:xfrm>
                <a:off x="7160388" y="6543040"/>
                <a:ext cx="2743200" cy="1719072"/>
              </a:xfrm>
              <a:prstGeom prst="rect">
                <a:avLst/>
              </a:prstGeom>
              <a:ln w="3175">
                <a:noFill/>
              </a:ln>
            </p:spPr>
          </p:pic>
        </mc:Fallback>
      </mc:AlternateContent>
      <mc:AlternateContent xmlns:mc="http://schemas.openxmlformats.org/markup-compatibility/2006">
        <mc:Choice xmlns:pslz="http://schemas.microsoft.com/office/powerpoint/2016/slidezoom" Requires="pslz">
          <p:graphicFrame>
            <p:nvGraphicFramePr>
              <p:cNvPr id="10" name="Slide Zoom 9">
                <a:extLst>
                  <a:ext uri="{FF2B5EF4-FFF2-40B4-BE49-F238E27FC236}">
                    <a16:creationId xmlns:a16="http://schemas.microsoft.com/office/drawing/2014/main" id="{D1794F7C-072E-4A98-9045-B9E98D7ECF4C}"/>
                  </a:ext>
                </a:extLst>
              </p:cNvPr>
              <p:cNvGraphicFramePr>
                <a:graphicFrameLocks/>
              </p:cNvGraphicFramePr>
              <p:nvPr>
                <p:extLst>
                  <p:ext uri="{D42A27DB-BD31-4B8C-83A1-F6EECF244321}">
                    <p14:modId xmlns:p14="http://schemas.microsoft.com/office/powerpoint/2010/main" val="3322215808"/>
                  </p:ext>
                </p:extLst>
              </p:nvPr>
            </p:nvGraphicFramePr>
            <p:xfrm>
              <a:off x="9443760" y="6543040"/>
              <a:ext cx="2743200" cy="1719072"/>
            </p:xfrm>
            <a:graphic>
              <a:graphicData uri="http://schemas.microsoft.com/office/powerpoint/2016/slidezoom">
                <pslz:sldZm>
                  <pslz:sldZmObj sldId="333" cId="1409793129">
                    <pslz:zmPr id="{4E937201-EA57-4F0C-B4A0-DDF7D05317FD}" transitionDur="1000">
                      <p166:blipFill xmlns:p166="http://schemas.microsoft.com/office/powerpoint/2016/6/main">
                        <a:blip r:embed="rId7"/>
                        <a:stretch>
                          <a:fillRect/>
                        </a:stretch>
                      </p166:blipFill>
                      <p166:spPr xmlns:p166="http://schemas.microsoft.com/office/powerpoint/2016/6/main">
                        <a:xfrm>
                          <a:off x="0" y="0"/>
                          <a:ext cx="2743200" cy="1719072"/>
                        </a:xfrm>
                        <a:prstGeom prst="rect">
                          <a:avLst/>
                        </a:prstGeom>
                        <a:ln w="3175">
                          <a:noFill/>
                        </a:ln>
                      </p166:spPr>
                    </pslz:zmPr>
                  </pslz:sldZmObj>
                </pslz:sldZm>
              </a:graphicData>
            </a:graphic>
          </p:graphicFrame>
        </mc:Choice>
        <mc:Fallback>
          <p:pic>
            <p:nvPicPr>
              <p:cNvPr id="10" name="Slide Zoom 9">
                <a:hlinkClick r:id="rId8" action="ppaction://hlinksldjump"/>
                <a:extLst>
                  <a:ext uri="{FF2B5EF4-FFF2-40B4-BE49-F238E27FC236}">
                    <a16:creationId xmlns:a16="http://schemas.microsoft.com/office/drawing/2014/main" id="{D1794F7C-072E-4A98-9045-B9E98D7ECF4C}"/>
                  </a:ext>
                </a:extLst>
              </p:cNvPr>
              <p:cNvPicPr>
                <a:picLocks noGrp="1" noRot="1" noChangeAspect="1" noMove="1" noResize="1" noEditPoints="1" noAdjustHandles="1" noChangeArrowheads="1" noChangeShapeType="1"/>
              </p:cNvPicPr>
              <p:nvPr/>
            </p:nvPicPr>
            <p:blipFill>
              <a:blip r:embed="rId7"/>
              <a:stretch>
                <a:fillRect/>
              </a:stretch>
            </p:blipFill>
            <p:spPr>
              <a:xfrm>
                <a:off x="9443760" y="6543040"/>
                <a:ext cx="2743200" cy="1719072"/>
              </a:xfrm>
              <a:prstGeom prst="rect">
                <a:avLst/>
              </a:prstGeom>
              <a:ln w="3175">
                <a:noFill/>
              </a:ln>
            </p:spPr>
          </p:pic>
        </mc:Fallback>
      </mc:AlternateContent>
      <p:sp>
        <p:nvSpPr>
          <p:cNvPr id="3" name="Slide Number Placeholder 2">
            <a:extLst>
              <a:ext uri="{FF2B5EF4-FFF2-40B4-BE49-F238E27FC236}">
                <a16:creationId xmlns:a16="http://schemas.microsoft.com/office/drawing/2014/main" id="{D37D6394-3E0A-47E6-ACC2-E5895731330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C043129-1177-464E-99DF-D6D0FEF2D52C}" type="slidenum">
              <a:rPr kumimoji="0" lang="en-US" sz="1200" b="0" i="0" u="none" strike="noStrike" kern="1200" cap="none" spc="0" normalizeH="0" baseline="0" noProof="0" smtClean="0">
                <a:ln>
                  <a:noFill/>
                </a:ln>
                <a:solidFill>
                  <a:srgbClr val="B58B80">
                    <a:lumMod val="50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srgbClr val="B58B80">
                  <a:lumMod val="50000"/>
                </a:srgb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402799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Effect transition="in" filter="fade">
                                      <p:cBhvr>
                                        <p:cTn id="11" dur="500"/>
                                        <p:tgtEl>
                                          <p:spTgt spid="2">
                                            <p:txEl>
                                              <p:pRg st="1" end="1"/>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fade">
                                      <p:cBhvr>
                                        <p:cTn id="15" dur="500"/>
                                        <p:tgtEl>
                                          <p:spTgt spid="2">
                                            <p:txEl>
                                              <p:pRg st="2" end="2"/>
                                            </p:txEl>
                                          </p:spTgt>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fade">
                                      <p:cBhvr>
                                        <p:cTn id="19" dur="500"/>
                                        <p:tgtEl>
                                          <p:spTgt spid="2">
                                            <p:txEl>
                                              <p:pRg st="3" end="3"/>
                                            </p:txEl>
                                          </p:spTgt>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animEffect transition="in" filter="fade">
                                      <p:cBhvr>
                                        <p:cTn id="23"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FCFE9EC-8846-49F5-B2E0-666268E7EFC4}"/>
              </a:ext>
            </a:extLst>
          </p:cNvPr>
          <p:cNvSpPr>
            <a:spLocks noGrp="1"/>
          </p:cNvSpPr>
          <p:nvPr>
            <p:ph type="title"/>
          </p:nvPr>
        </p:nvSpPr>
        <p:spPr/>
        <p:txBody>
          <a:bodyPr>
            <a:normAutofit/>
          </a:bodyPr>
          <a:lstStyle/>
          <a:p>
            <a:r>
              <a:rPr lang="en-US" dirty="0"/>
              <a:t>Policy wheels while parents are enrolled: </a:t>
            </a:r>
            <a:br>
              <a:rPr lang="en-US" dirty="0"/>
            </a:br>
            <a:r>
              <a:rPr lang="en-US" dirty="0"/>
              <a:t>Campus culture &amp; advising</a:t>
            </a:r>
          </a:p>
        </p:txBody>
      </p:sp>
      <p:sp>
        <p:nvSpPr>
          <p:cNvPr id="2" name="Slide Number Placeholder 1">
            <a:extLst>
              <a:ext uri="{FF2B5EF4-FFF2-40B4-BE49-F238E27FC236}">
                <a16:creationId xmlns:a16="http://schemas.microsoft.com/office/drawing/2014/main" id="{26358FEC-4D58-4C85-ACD6-8D6385EBA31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8C4CCD-1362-4CC7-BA2D-0BEF6B3ABFE9}" type="slidenum">
              <a:rPr kumimoji="0" lang="en-US" sz="1200" b="0" i="0" u="none" strike="noStrike" kern="1200" cap="none" spc="0" normalizeH="0" baseline="0" noProof="0" smtClean="0">
                <a:ln>
                  <a:noFill/>
                </a:ln>
                <a:solidFill>
                  <a:srgbClr val="B58B80">
                    <a:lumMod val="50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srgbClr val="B58B80">
                  <a:lumMod val="50000"/>
                </a:srgbClr>
              </a:solidFill>
              <a:effectLst/>
              <a:uLnTx/>
              <a:uFillTx/>
              <a:latin typeface="Calibri" panose="020F0502020204030204"/>
              <a:ea typeface="+mn-ea"/>
              <a:cs typeface="+mn-cs"/>
            </a:endParaRPr>
          </a:p>
        </p:txBody>
      </p:sp>
      <p:graphicFrame>
        <p:nvGraphicFramePr>
          <p:cNvPr id="6" name="Diagram 5">
            <a:extLst>
              <a:ext uri="{FF2B5EF4-FFF2-40B4-BE49-F238E27FC236}">
                <a16:creationId xmlns:a16="http://schemas.microsoft.com/office/drawing/2014/main" id="{C9CBC9E4-7D60-4037-BAB3-F7238A3C1753}"/>
              </a:ext>
            </a:extLst>
          </p:cNvPr>
          <p:cNvGraphicFramePr>
            <a:graphicFrameLocks/>
          </p:cNvGraphicFramePr>
          <p:nvPr/>
        </p:nvGraphicFramePr>
        <p:xfrm>
          <a:off x="5942076" y="1699575"/>
          <a:ext cx="6099048" cy="47548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7" name="Diagram 6">
            <a:extLst>
              <a:ext uri="{FF2B5EF4-FFF2-40B4-BE49-F238E27FC236}">
                <a16:creationId xmlns:a16="http://schemas.microsoft.com/office/drawing/2014/main" id="{F672C8A3-10DB-4593-9C54-D2EB88559758}"/>
              </a:ext>
            </a:extLst>
          </p:cNvPr>
          <p:cNvGraphicFramePr>
            <a:graphicFrameLocks noChangeAspect="1"/>
          </p:cNvGraphicFramePr>
          <p:nvPr/>
        </p:nvGraphicFramePr>
        <p:xfrm>
          <a:off x="457200" y="1815133"/>
          <a:ext cx="5093972" cy="475488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3063290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2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Graphic spid="7" grpId="0">
        <p:bldAsOne/>
      </p:bldGraphic>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4285BA6-24E9-4184-9627-BEA39FD36EB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8C4CCD-1362-4CC7-BA2D-0BEF6B3ABFE9}" type="slidenum">
              <a:rPr kumimoji="0" lang="en-US" sz="1200" b="0" i="0" u="none" strike="noStrike" kern="1200" cap="none" spc="0" normalizeH="0" baseline="0" noProof="0" smtClean="0">
                <a:ln>
                  <a:noFill/>
                </a:ln>
                <a:solidFill>
                  <a:srgbClr val="B58B80">
                    <a:lumMod val="50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srgbClr val="B58B80">
                  <a:lumMod val="50000"/>
                </a:srgbClr>
              </a:solidFill>
              <a:effectLst/>
              <a:uLnTx/>
              <a:uFillTx/>
              <a:latin typeface="Calibri" panose="020F0502020204030204"/>
              <a:ea typeface="+mn-ea"/>
              <a:cs typeface="+mn-cs"/>
            </a:endParaRPr>
          </a:p>
        </p:txBody>
      </p:sp>
      <p:graphicFrame>
        <p:nvGraphicFramePr>
          <p:cNvPr id="7" name="Diagram 6">
            <a:extLst>
              <a:ext uri="{FF2B5EF4-FFF2-40B4-BE49-F238E27FC236}">
                <a16:creationId xmlns:a16="http://schemas.microsoft.com/office/drawing/2014/main" id="{41E7271D-452D-48C6-923A-3565B0C8EAD7}"/>
              </a:ext>
            </a:extLst>
          </p:cNvPr>
          <p:cNvGraphicFramePr>
            <a:graphicFrameLocks/>
          </p:cNvGraphicFramePr>
          <p:nvPr/>
        </p:nvGraphicFramePr>
        <p:xfrm>
          <a:off x="457200" y="1614821"/>
          <a:ext cx="5093208" cy="47548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itle 3">
            <a:extLst>
              <a:ext uri="{FF2B5EF4-FFF2-40B4-BE49-F238E27FC236}">
                <a16:creationId xmlns:a16="http://schemas.microsoft.com/office/drawing/2014/main" id="{34BF0721-CDD7-D1F7-A4F7-B63A9D614C22}"/>
              </a:ext>
            </a:extLst>
          </p:cNvPr>
          <p:cNvSpPr>
            <a:spLocks noGrp="1"/>
          </p:cNvSpPr>
          <p:nvPr>
            <p:ph type="title"/>
          </p:nvPr>
        </p:nvSpPr>
        <p:spPr>
          <a:xfrm>
            <a:off x="457200" y="533400"/>
            <a:ext cx="11277600" cy="1157288"/>
          </a:xfrm>
        </p:spPr>
        <p:txBody>
          <a:bodyPr>
            <a:normAutofit/>
          </a:bodyPr>
          <a:lstStyle/>
          <a:p>
            <a:r>
              <a:rPr lang="en-US" dirty="0"/>
              <a:t>Policy wheels while parents are enrolled: </a:t>
            </a:r>
            <a:br>
              <a:rPr lang="en-US" dirty="0"/>
            </a:br>
            <a:r>
              <a:rPr lang="en-US" dirty="0"/>
              <a:t>Child care &amp; financial support</a:t>
            </a:r>
          </a:p>
        </p:txBody>
      </p:sp>
      <p:graphicFrame>
        <p:nvGraphicFramePr>
          <p:cNvPr id="9" name="Diagram 8">
            <a:extLst>
              <a:ext uri="{FF2B5EF4-FFF2-40B4-BE49-F238E27FC236}">
                <a16:creationId xmlns:a16="http://schemas.microsoft.com/office/drawing/2014/main" id="{C6F4425A-2C1B-A9F6-51DC-7BDD42F0F8C3}"/>
              </a:ext>
            </a:extLst>
          </p:cNvPr>
          <p:cNvGraphicFramePr>
            <a:graphicFrameLocks noChangeAspect="1"/>
          </p:cNvGraphicFramePr>
          <p:nvPr/>
        </p:nvGraphicFramePr>
        <p:xfrm>
          <a:off x="6406702" y="1719751"/>
          <a:ext cx="5101564" cy="475488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4023604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2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Graphic spid="9" grpId="0">
        <p:bldAsOne/>
      </p:bldGraphic>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0176E99-DB8B-40C9-8D76-AA95764F1A2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8C4CCD-1362-4CC7-BA2D-0BEF6B3ABFE9}" type="slidenum">
              <a:rPr kumimoji="0" lang="en-US" sz="1200" b="0" i="0" u="none" strike="noStrike" kern="1200" cap="none" spc="0" normalizeH="0" baseline="0" noProof="0" smtClean="0">
                <a:ln>
                  <a:noFill/>
                </a:ln>
                <a:solidFill>
                  <a:srgbClr val="B58B80">
                    <a:lumMod val="50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srgbClr val="B58B80">
                  <a:lumMod val="50000"/>
                </a:srgbClr>
              </a:solidFill>
              <a:effectLst/>
              <a:uLnTx/>
              <a:uFillTx/>
              <a:latin typeface="Calibri" panose="020F0502020204030204"/>
              <a:ea typeface="+mn-ea"/>
              <a:cs typeface="+mn-cs"/>
            </a:endParaRPr>
          </a:p>
        </p:txBody>
      </p:sp>
      <p:graphicFrame>
        <p:nvGraphicFramePr>
          <p:cNvPr id="5" name="Diagram 4">
            <a:extLst>
              <a:ext uri="{FF2B5EF4-FFF2-40B4-BE49-F238E27FC236}">
                <a16:creationId xmlns:a16="http://schemas.microsoft.com/office/drawing/2014/main" id="{88E4A91C-F43D-4D18-BBE1-7A93B6E92C95}"/>
              </a:ext>
            </a:extLst>
          </p:cNvPr>
          <p:cNvGraphicFramePr>
            <a:graphicFrameLocks noChangeAspect="1"/>
          </p:cNvGraphicFramePr>
          <p:nvPr/>
        </p:nvGraphicFramePr>
        <p:xfrm>
          <a:off x="3545218" y="1587775"/>
          <a:ext cx="5101564" cy="47548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itle 3">
            <a:extLst>
              <a:ext uri="{FF2B5EF4-FFF2-40B4-BE49-F238E27FC236}">
                <a16:creationId xmlns:a16="http://schemas.microsoft.com/office/drawing/2014/main" id="{A5E1036B-1AD6-A9E3-9947-3250AC284755}"/>
              </a:ext>
            </a:extLst>
          </p:cNvPr>
          <p:cNvSpPr>
            <a:spLocks noGrp="1"/>
          </p:cNvSpPr>
          <p:nvPr>
            <p:ph type="title"/>
          </p:nvPr>
        </p:nvSpPr>
        <p:spPr>
          <a:xfrm>
            <a:off x="457200" y="533400"/>
            <a:ext cx="11277600" cy="1157288"/>
          </a:xfrm>
        </p:spPr>
        <p:txBody>
          <a:bodyPr>
            <a:normAutofit/>
          </a:bodyPr>
          <a:lstStyle/>
          <a:p>
            <a:r>
              <a:rPr lang="en-US" dirty="0"/>
              <a:t>Policy wheels while parents are enrolled: </a:t>
            </a:r>
            <a:br>
              <a:rPr lang="en-US" dirty="0"/>
            </a:br>
            <a:r>
              <a:rPr lang="en-US" dirty="0"/>
              <a:t>Social support</a:t>
            </a:r>
          </a:p>
        </p:txBody>
      </p:sp>
    </p:spTree>
    <p:extLst>
      <p:ext uri="{BB962C8B-B14F-4D97-AF65-F5344CB8AC3E}">
        <p14:creationId xmlns:p14="http://schemas.microsoft.com/office/powerpoint/2010/main" val="1932500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307A8-9589-4576-B3E4-B2E6884C2013}"/>
              </a:ext>
            </a:extLst>
          </p:cNvPr>
          <p:cNvSpPr>
            <a:spLocks noGrp="1"/>
          </p:cNvSpPr>
          <p:nvPr>
            <p:ph type="title"/>
          </p:nvPr>
        </p:nvSpPr>
        <p:spPr/>
        <p:txBody>
          <a:bodyPr/>
          <a:lstStyle/>
          <a:p>
            <a:r>
              <a:rPr lang="en-US" dirty="0"/>
              <a:t>Pausing for questions about the research…</a:t>
            </a:r>
          </a:p>
        </p:txBody>
      </p:sp>
      <p:sp>
        <p:nvSpPr>
          <p:cNvPr id="4" name="Slide Number Placeholder 3">
            <a:extLst>
              <a:ext uri="{FF2B5EF4-FFF2-40B4-BE49-F238E27FC236}">
                <a16:creationId xmlns:a16="http://schemas.microsoft.com/office/drawing/2014/main" id="{17D02AB0-6038-4DF6-B897-DAEECDCC6001}"/>
              </a:ext>
            </a:extLst>
          </p:cNvPr>
          <p:cNvSpPr>
            <a:spLocks noGrp="1"/>
          </p:cNvSpPr>
          <p:nvPr>
            <p:ph type="sldNum" sz="quarter" idx="12"/>
          </p:nvPr>
        </p:nvSpPr>
        <p:spPr/>
        <p:txBody>
          <a:bodyPr/>
          <a:lstStyle/>
          <a:p>
            <a:fld id="{0C8C4CCD-1362-4CC7-BA2D-0BEF6B3ABFE9}" type="slidenum">
              <a:rPr lang="en-US" smtClean="0"/>
              <a:t>16</a:t>
            </a:fld>
            <a:endParaRPr lang="en-US" dirty="0"/>
          </a:p>
        </p:txBody>
      </p:sp>
    </p:spTree>
    <p:extLst>
      <p:ext uri="{BB962C8B-B14F-4D97-AF65-F5344CB8AC3E}">
        <p14:creationId xmlns:p14="http://schemas.microsoft.com/office/powerpoint/2010/main" val="203987617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FC896-8329-3F73-3F9A-F3BEA171CC08}"/>
              </a:ext>
            </a:extLst>
          </p:cNvPr>
          <p:cNvSpPr>
            <a:spLocks noGrp="1"/>
          </p:cNvSpPr>
          <p:nvPr>
            <p:ph type="title"/>
          </p:nvPr>
        </p:nvSpPr>
        <p:spPr/>
        <p:txBody>
          <a:bodyPr/>
          <a:lstStyle/>
          <a:p>
            <a:r>
              <a:rPr lang="en-US" dirty="0"/>
              <a:t>Back to the story – &amp; backing up a little</a:t>
            </a:r>
          </a:p>
        </p:txBody>
      </p:sp>
      <p:sp>
        <p:nvSpPr>
          <p:cNvPr id="4" name="Text Placeholder 3">
            <a:extLst>
              <a:ext uri="{FF2B5EF4-FFF2-40B4-BE49-F238E27FC236}">
                <a16:creationId xmlns:a16="http://schemas.microsoft.com/office/drawing/2014/main" id="{04453DB0-67AB-A722-8EDC-04030DF6E860}"/>
              </a:ext>
            </a:extLst>
          </p:cNvPr>
          <p:cNvSpPr>
            <a:spLocks noGrp="1"/>
          </p:cNvSpPr>
          <p:nvPr>
            <p:ph type="body" sz="quarter" idx="11"/>
          </p:nvPr>
        </p:nvSpPr>
        <p:spPr>
          <a:xfrm>
            <a:off x="457200" y="10511"/>
            <a:ext cx="1138453" cy="307777"/>
          </a:xfrm>
        </p:spPr>
        <p:txBody>
          <a:bodyPr/>
          <a:lstStyle/>
          <a:p>
            <a:r>
              <a:rPr lang="en-US" dirty="0"/>
              <a:t>the Beginning</a:t>
            </a:r>
          </a:p>
        </p:txBody>
      </p:sp>
      <p:pic>
        <p:nvPicPr>
          <p:cNvPr id="1026" name="Picture 2" descr="Hampshire College - Wikipedia">
            <a:extLst>
              <a:ext uri="{FF2B5EF4-FFF2-40B4-BE49-F238E27FC236}">
                <a16:creationId xmlns:a16="http://schemas.microsoft.com/office/drawing/2014/main" id="{87BD4208-DAB6-934E-EEFD-9AB5E005DF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343440"/>
            <a:ext cx="1836964" cy="18288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Legal Aid DC | LinkedIn">
            <a:extLst>
              <a:ext uri="{FF2B5EF4-FFF2-40B4-BE49-F238E27FC236}">
                <a16:creationId xmlns:a16="http://schemas.microsoft.com/office/drawing/2014/main" id="{E42B9457-7BC9-D486-698F-2228412489C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4882" y="3944012"/>
            <a:ext cx="1828800" cy="18288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The George Washington Institute of Public Policy (GWIPP) | LinkedIn">
            <a:extLst>
              <a:ext uri="{FF2B5EF4-FFF2-40B4-BE49-F238E27FC236}">
                <a16:creationId xmlns:a16="http://schemas.microsoft.com/office/drawing/2014/main" id="{651F1BBA-5749-2C78-5F7B-C2A55476369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81600" y="1343440"/>
            <a:ext cx="1828800" cy="18288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Economic Research Service (@USDA_ERS) / Twitter">
            <a:extLst>
              <a:ext uri="{FF2B5EF4-FFF2-40B4-BE49-F238E27FC236}">
                <a16:creationId xmlns:a16="http://schemas.microsoft.com/office/drawing/2014/main" id="{088E6F25-5B0C-B8CF-D7C0-4568771D5178}"/>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1516" t="24124" r="21584" b="20948"/>
          <a:stretch/>
        </p:blipFill>
        <p:spPr bwMode="auto">
          <a:xfrm>
            <a:off x="7768318" y="3975692"/>
            <a:ext cx="1828800" cy="176543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logo for a company&#10;&#10;Description automatically generated">
            <a:extLst>
              <a:ext uri="{FF2B5EF4-FFF2-40B4-BE49-F238E27FC236}">
                <a16:creationId xmlns:a16="http://schemas.microsoft.com/office/drawing/2014/main" id="{2AC9F869-5DE8-4C4F-47E1-596739A01D4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326461" y="1708743"/>
            <a:ext cx="1828800" cy="1098193"/>
          </a:xfrm>
          <a:prstGeom prst="rect">
            <a:avLst/>
          </a:prstGeom>
        </p:spPr>
      </p:pic>
      <p:cxnSp>
        <p:nvCxnSpPr>
          <p:cNvPr id="7" name="Connector: Elbow 6">
            <a:extLst>
              <a:ext uri="{FF2B5EF4-FFF2-40B4-BE49-F238E27FC236}">
                <a16:creationId xmlns:a16="http://schemas.microsoft.com/office/drawing/2014/main" id="{3CC8B693-5CEE-BB1D-CADA-1C27D18007DF}"/>
              </a:ext>
            </a:extLst>
          </p:cNvPr>
          <p:cNvCxnSpPr>
            <a:cxnSpLocks/>
            <a:stCxn id="1026" idx="3"/>
            <a:endCxn id="1028" idx="1"/>
          </p:cNvCxnSpPr>
          <p:nvPr/>
        </p:nvCxnSpPr>
        <p:spPr>
          <a:xfrm>
            <a:off x="1836964" y="2257840"/>
            <a:ext cx="757918" cy="2600572"/>
          </a:xfrm>
          <a:prstGeom prst="bentConnector3">
            <a:avLst>
              <a:gd name="adj1" fmla="val 50000"/>
            </a:avLst>
          </a:prstGeom>
          <a:ln w="38100">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8" name="Connector: Elbow 7">
            <a:extLst>
              <a:ext uri="{FF2B5EF4-FFF2-40B4-BE49-F238E27FC236}">
                <a16:creationId xmlns:a16="http://schemas.microsoft.com/office/drawing/2014/main" id="{9DADE27C-77D9-2FB7-4F0D-396E1A96FD9D}"/>
              </a:ext>
            </a:extLst>
          </p:cNvPr>
          <p:cNvCxnSpPr>
            <a:cxnSpLocks/>
            <a:stCxn id="1028" idx="3"/>
            <a:endCxn id="1030" idx="1"/>
          </p:cNvCxnSpPr>
          <p:nvPr/>
        </p:nvCxnSpPr>
        <p:spPr>
          <a:xfrm flipV="1">
            <a:off x="4423682" y="2257840"/>
            <a:ext cx="757918" cy="2600572"/>
          </a:xfrm>
          <a:prstGeom prst="bentConnector3">
            <a:avLst>
              <a:gd name="adj1" fmla="val 50000"/>
            </a:avLst>
          </a:prstGeom>
          <a:ln w="38100">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11" name="Connector: Elbow 10">
            <a:extLst>
              <a:ext uri="{FF2B5EF4-FFF2-40B4-BE49-F238E27FC236}">
                <a16:creationId xmlns:a16="http://schemas.microsoft.com/office/drawing/2014/main" id="{0EA30177-1910-0374-6EBC-ADA935DDDEC3}"/>
              </a:ext>
            </a:extLst>
          </p:cNvPr>
          <p:cNvCxnSpPr>
            <a:cxnSpLocks/>
            <a:stCxn id="1030" idx="3"/>
            <a:endCxn id="1032" idx="1"/>
          </p:cNvCxnSpPr>
          <p:nvPr/>
        </p:nvCxnSpPr>
        <p:spPr>
          <a:xfrm>
            <a:off x="7010400" y="2257840"/>
            <a:ext cx="757918" cy="2600572"/>
          </a:xfrm>
          <a:prstGeom prst="bentConnector3">
            <a:avLst>
              <a:gd name="adj1" fmla="val 50000"/>
            </a:avLst>
          </a:prstGeom>
          <a:ln w="38100">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BD67F003-7D89-18CB-1F4E-F0EE909F83A0}"/>
              </a:ext>
            </a:extLst>
          </p:cNvPr>
          <p:cNvCxnSpPr>
            <a:cxnSpLocks/>
            <a:stCxn id="1032" idx="3"/>
            <a:endCxn id="5" idx="1"/>
          </p:cNvCxnSpPr>
          <p:nvPr/>
        </p:nvCxnSpPr>
        <p:spPr>
          <a:xfrm flipV="1">
            <a:off x="9597118" y="2257840"/>
            <a:ext cx="729343" cy="2600572"/>
          </a:xfrm>
          <a:prstGeom prst="bentConnector3">
            <a:avLst>
              <a:gd name="adj1" fmla="val 50000"/>
            </a:avLst>
          </a:prstGeom>
          <a:ln w="38100">
            <a:prstDash val="lg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14065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500"/>
                                        <p:tgtEl>
                                          <p:spTgt spid="1026"/>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028"/>
                                        </p:tgtEl>
                                        <p:attrNameLst>
                                          <p:attrName>style.visibility</p:attrName>
                                        </p:attrNameLst>
                                      </p:cBhvr>
                                      <p:to>
                                        <p:strVal val="visible"/>
                                      </p:to>
                                    </p:set>
                                    <p:animEffect transition="in" filter="fade">
                                      <p:cBhvr>
                                        <p:cTn id="15" dur="500"/>
                                        <p:tgtEl>
                                          <p:spTgt spid="1028"/>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1030"/>
                                        </p:tgtEl>
                                        <p:attrNameLst>
                                          <p:attrName>style.visibility</p:attrName>
                                        </p:attrNameLst>
                                      </p:cBhvr>
                                      <p:to>
                                        <p:strVal val="visible"/>
                                      </p:to>
                                    </p:set>
                                    <p:animEffect transition="in" filter="fade">
                                      <p:cBhvr>
                                        <p:cTn id="23" dur="500"/>
                                        <p:tgtEl>
                                          <p:spTgt spid="1030"/>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par>
                          <p:cTn id="28" fill="hold">
                            <p:stCondLst>
                              <p:cond delay="3000"/>
                            </p:stCondLst>
                            <p:childTnLst>
                              <p:par>
                                <p:cTn id="29" presetID="10" presetClass="entr" presetSubtype="0" fill="hold" nodeType="afterEffect">
                                  <p:stCondLst>
                                    <p:cond delay="0"/>
                                  </p:stCondLst>
                                  <p:childTnLst>
                                    <p:set>
                                      <p:cBhvr>
                                        <p:cTn id="30" dur="1" fill="hold">
                                          <p:stCondLst>
                                            <p:cond delay="0"/>
                                          </p:stCondLst>
                                        </p:cTn>
                                        <p:tgtEl>
                                          <p:spTgt spid="1032"/>
                                        </p:tgtEl>
                                        <p:attrNameLst>
                                          <p:attrName>style.visibility</p:attrName>
                                        </p:attrNameLst>
                                      </p:cBhvr>
                                      <p:to>
                                        <p:strVal val="visible"/>
                                      </p:to>
                                    </p:set>
                                    <p:animEffect transition="in" filter="fade">
                                      <p:cBhvr>
                                        <p:cTn id="31" dur="500"/>
                                        <p:tgtEl>
                                          <p:spTgt spid="1032"/>
                                        </p:tgtEl>
                                      </p:cBhvr>
                                    </p:animEffect>
                                  </p:childTnLst>
                                </p:cTn>
                              </p:par>
                            </p:childTnLst>
                          </p:cTn>
                        </p:par>
                        <p:par>
                          <p:cTn id="32" fill="hold">
                            <p:stCondLst>
                              <p:cond delay="3500"/>
                            </p:stCondLst>
                            <p:childTnLst>
                              <p:par>
                                <p:cTn id="33" presetID="10" presetClass="entr" presetSubtype="0" fill="hold" nodeType="after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childTnLst>
                          </p:cTn>
                        </p:par>
                        <p:par>
                          <p:cTn id="36" fill="hold">
                            <p:stCondLst>
                              <p:cond delay="4000"/>
                            </p:stCondLst>
                            <p:childTnLst>
                              <p:par>
                                <p:cTn id="37" presetID="10" presetClass="entr" presetSubtype="0" fill="hold" nodeType="after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fade">
                                      <p:cBhvr>
                                        <p:cTn id="3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96FD3-F59F-9C80-BD91-46D696C05140}"/>
              </a:ext>
            </a:extLst>
          </p:cNvPr>
          <p:cNvSpPr>
            <a:spLocks noGrp="1"/>
          </p:cNvSpPr>
          <p:nvPr>
            <p:ph type="title"/>
          </p:nvPr>
        </p:nvSpPr>
        <p:spPr/>
        <p:txBody>
          <a:bodyPr/>
          <a:lstStyle/>
          <a:p>
            <a:r>
              <a:rPr lang="en-US" dirty="0"/>
              <a:t>The Urban Institute</a:t>
            </a:r>
          </a:p>
        </p:txBody>
      </p:sp>
      <p:sp>
        <p:nvSpPr>
          <p:cNvPr id="3" name="Text Placeholder 2">
            <a:extLst>
              <a:ext uri="{FF2B5EF4-FFF2-40B4-BE49-F238E27FC236}">
                <a16:creationId xmlns:a16="http://schemas.microsoft.com/office/drawing/2014/main" id="{5A410ECE-6BEE-91A8-0C4D-EACB49AD9BAD}"/>
              </a:ext>
            </a:extLst>
          </p:cNvPr>
          <p:cNvSpPr>
            <a:spLocks noGrp="1"/>
          </p:cNvSpPr>
          <p:nvPr>
            <p:ph type="body" sz="quarter" idx="10"/>
          </p:nvPr>
        </p:nvSpPr>
        <p:spPr>
          <a:xfrm>
            <a:off x="457199" y="1690688"/>
            <a:ext cx="11277599" cy="4367212"/>
          </a:xfrm>
        </p:spPr>
        <p:txBody>
          <a:bodyPr>
            <a:normAutofit fontScale="85000" lnSpcReduction="20000"/>
          </a:bodyPr>
          <a:lstStyle/>
          <a:p>
            <a:pPr marL="0" indent="0" algn="l">
              <a:buNone/>
            </a:pPr>
            <a:r>
              <a:rPr lang="en-US" b="1" i="0" dirty="0">
                <a:solidFill>
                  <a:schemeClr val="tx2"/>
                </a:solidFill>
                <a:effectLst/>
                <a:latin typeface="Lato" panose="020F0502020204030203" pitchFamily="34" charset="0"/>
              </a:rPr>
              <a:t>The Urban Institute is a nonprofit research organization that provides data &amp; evidence to help advance upward mobility &amp; equity. We are a trusted source for changemakers who seek to strengthen </a:t>
            </a:r>
            <a:r>
              <a:rPr lang="en-US" b="1" i="0" dirty="0" err="1">
                <a:solidFill>
                  <a:schemeClr val="tx2"/>
                </a:solidFill>
                <a:effectLst/>
                <a:latin typeface="Lato" panose="020F0502020204030203" pitchFamily="34" charset="0"/>
              </a:rPr>
              <a:t>decisionmaking</a:t>
            </a:r>
            <a:r>
              <a:rPr lang="en-US" b="1" i="0" dirty="0">
                <a:solidFill>
                  <a:schemeClr val="tx2"/>
                </a:solidFill>
                <a:effectLst/>
                <a:latin typeface="Lato" panose="020F0502020204030203" pitchFamily="34" charset="0"/>
              </a:rPr>
              <a:t>, create inclusive economic growth, &amp; improve the well-being of families &amp; communities. For more than 50 years, Urban has delivered facts that inspire solutions—and this remains our charge today.</a:t>
            </a:r>
          </a:p>
          <a:p>
            <a:pPr marL="0" indent="0" algn="l">
              <a:buNone/>
            </a:pPr>
            <a:endParaRPr lang="en-US" b="1" i="0" dirty="0">
              <a:solidFill>
                <a:schemeClr val="tx2"/>
              </a:solidFill>
              <a:effectLst/>
              <a:latin typeface="Lato" panose="020F0502020204030203" pitchFamily="34" charset="0"/>
            </a:endParaRPr>
          </a:p>
          <a:p>
            <a:pPr marL="0" indent="0" algn="l">
              <a:buNone/>
            </a:pPr>
            <a:r>
              <a:rPr lang="en-US" b="1" i="0" dirty="0">
                <a:solidFill>
                  <a:srgbClr val="000000"/>
                </a:solidFill>
                <a:effectLst/>
                <a:latin typeface="Lato" panose="020F0502020204030203" pitchFamily="34" charset="0"/>
              </a:rPr>
              <a:t>Mission</a:t>
            </a:r>
          </a:p>
          <a:p>
            <a:pPr marL="0" indent="0" algn="l">
              <a:buNone/>
            </a:pPr>
            <a:r>
              <a:rPr lang="en-US" b="1" i="0" dirty="0">
                <a:solidFill>
                  <a:schemeClr val="tx2"/>
                </a:solidFill>
                <a:effectLst/>
                <a:latin typeface="Lato" panose="020F0502020204030203" pitchFamily="34" charset="0"/>
              </a:rPr>
              <a:t>To open minds, shape decisions, &amp; offer solutions through economic &amp; social policy research.</a:t>
            </a:r>
          </a:p>
          <a:p>
            <a:endParaRPr lang="en-US" dirty="0"/>
          </a:p>
        </p:txBody>
      </p:sp>
      <p:sp>
        <p:nvSpPr>
          <p:cNvPr id="4" name="Text Placeholder 3">
            <a:extLst>
              <a:ext uri="{FF2B5EF4-FFF2-40B4-BE49-F238E27FC236}">
                <a16:creationId xmlns:a16="http://schemas.microsoft.com/office/drawing/2014/main" id="{1A8B1856-5EA6-B366-40F7-AABFB9D13998}"/>
              </a:ext>
            </a:extLst>
          </p:cNvPr>
          <p:cNvSpPr>
            <a:spLocks noGrp="1"/>
          </p:cNvSpPr>
          <p:nvPr>
            <p:ph type="body" sz="quarter" idx="11"/>
          </p:nvPr>
        </p:nvSpPr>
        <p:spPr>
          <a:xfrm>
            <a:off x="457200" y="10511"/>
            <a:ext cx="1398140" cy="307777"/>
          </a:xfrm>
        </p:spPr>
        <p:txBody>
          <a:bodyPr/>
          <a:lstStyle/>
          <a:p>
            <a:r>
              <a:rPr lang="en-US" dirty="0"/>
              <a:t>A bit about Urban</a:t>
            </a:r>
          </a:p>
        </p:txBody>
      </p:sp>
      <p:pic>
        <p:nvPicPr>
          <p:cNvPr id="5" name="Picture 4" descr="A logo for a company&#10;&#10;Description automatically generated">
            <a:extLst>
              <a:ext uri="{FF2B5EF4-FFF2-40B4-BE49-F238E27FC236}">
                <a16:creationId xmlns:a16="http://schemas.microsoft.com/office/drawing/2014/main" id="{F7E68689-D084-53BA-526B-D0C49DAEA4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5999" y="3738769"/>
            <a:ext cx="1828800" cy="1098193"/>
          </a:xfrm>
          <a:prstGeom prst="rect">
            <a:avLst/>
          </a:prstGeom>
        </p:spPr>
      </p:pic>
    </p:spTree>
    <p:extLst>
      <p:ext uri="{BB962C8B-B14F-4D97-AF65-F5344CB8AC3E}">
        <p14:creationId xmlns:p14="http://schemas.microsoft.com/office/powerpoint/2010/main" val="39035604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15B66-7DD7-7F62-BDA4-BC4C6A53DE1E}"/>
              </a:ext>
            </a:extLst>
          </p:cNvPr>
          <p:cNvSpPr>
            <a:spLocks noGrp="1"/>
          </p:cNvSpPr>
          <p:nvPr>
            <p:ph type="title"/>
          </p:nvPr>
        </p:nvSpPr>
        <p:spPr/>
        <p:txBody>
          <a:bodyPr/>
          <a:lstStyle/>
          <a:p>
            <a:r>
              <a:rPr lang="en-US" dirty="0"/>
              <a:t>Building blocks to get here</a:t>
            </a:r>
          </a:p>
        </p:txBody>
      </p:sp>
      <p:sp>
        <p:nvSpPr>
          <p:cNvPr id="4" name="Text Placeholder 3">
            <a:extLst>
              <a:ext uri="{FF2B5EF4-FFF2-40B4-BE49-F238E27FC236}">
                <a16:creationId xmlns:a16="http://schemas.microsoft.com/office/drawing/2014/main" id="{B706AD05-39D8-5170-73AF-D250951D4088}"/>
              </a:ext>
            </a:extLst>
          </p:cNvPr>
          <p:cNvSpPr>
            <a:spLocks noGrp="1"/>
          </p:cNvSpPr>
          <p:nvPr>
            <p:ph type="body" sz="quarter" idx="11"/>
          </p:nvPr>
        </p:nvSpPr>
        <p:spPr>
          <a:xfrm>
            <a:off x="457200" y="10511"/>
            <a:ext cx="1457450" cy="307777"/>
          </a:xfrm>
        </p:spPr>
        <p:txBody>
          <a:bodyPr/>
          <a:lstStyle/>
          <a:p>
            <a:r>
              <a:rPr lang="en-US" dirty="0"/>
              <a:t>Growing interests</a:t>
            </a:r>
          </a:p>
        </p:txBody>
      </p:sp>
      <p:graphicFrame>
        <p:nvGraphicFramePr>
          <p:cNvPr id="5" name="Diagram 4">
            <a:extLst>
              <a:ext uri="{FF2B5EF4-FFF2-40B4-BE49-F238E27FC236}">
                <a16:creationId xmlns:a16="http://schemas.microsoft.com/office/drawing/2014/main" id="{98475618-FD26-3BDF-C598-A3225C83703A}"/>
              </a:ext>
            </a:extLst>
          </p:cNvPr>
          <p:cNvGraphicFramePr/>
          <p:nvPr>
            <p:extLst>
              <p:ext uri="{D42A27DB-BD31-4B8C-83A1-F6EECF244321}">
                <p14:modId xmlns:p14="http://schemas.microsoft.com/office/powerpoint/2010/main" val="1772364092"/>
              </p:ext>
            </p:extLst>
          </p:nvPr>
        </p:nvGraphicFramePr>
        <p:xfrm>
          <a:off x="2032000" y="1236505"/>
          <a:ext cx="8128000" cy="480152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56859840"/>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AFEEA-D88B-BCEE-4832-724CD5B1C89C}"/>
              </a:ext>
            </a:extLst>
          </p:cNvPr>
          <p:cNvSpPr>
            <a:spLocks noGrp="1"/>
          </p:cNvSpPr>
          <p:nvPr>
            <p:ph type="title"/>
          </p:nvPr>
        </p:nvSpPr>
        <p:spPr/>
        <p:txBody>
          <a:bodyPr/>
          <a:lstStyle/>
          <a:p>
            <a:r>
              <a:rPr lang="en-US" dirty="0"/>
              <a:t>So, going back to student parents</a:t>
            </a:r>
          </a:p>
        </p:txBody>
      </p:sp>
      <p:sp>
        <p:nvSpPr>
          <p:cNvPr id="3" name="Text Placeholder 2">
            <a:extLst>
              <a:ext uri="{FF2B5EF4-FFF2-40B4-BE49-F238E27FC236}">
                <a16:creationId xmlns:a16="http://schemas.microsoft.com/office/drawing/2014/main" id="{3CF2245F-C501-021A-E76C-AEE5D6675331}"/>
              </a:ext>
            </a:extLst>
          </p:cNvPr>
          <p:cNvSpPr>
            <a:spLocks noGrp="1"/>
          </p:cNvSpPr>
          <p:nvPr>
            <p:ph type="body" sz="quarter" idx="10"/>
          </p:nvPr>
        </p:nvSpPr>
        <p:spPr/>
        <p:txBody>
          <a:bodyPr>
            <a:normAutofit lnSpcReduction="10000"/>
          </a:bodyPr>
          <a:lstStyle/>
          <a:p>
            <a:pPr marL="0" indent="0">
              <a:buNone/>
            </a:pPr>
            <a:r>
              <a:rPr lang="en-US" dirty="0"/>
              <a:t>I linked up with others in this emerging policy space</a:t>
            </a:r>
          </a:p>
          <a:p>
            <a:pPr marL="0" indent="0">
              <a:buNone/>
            </a:pPr>
            <a:r>
              <a:rPr lang="en-US" dirty="0"/>
              <a:t>My research gave me a basis for a few things:</a:t>
            </a:r>
          </a:p>
          <a:p>
            <a:r>
              <a:rPr lang="en-US" dirty="0"/>
              <a:t>More research</a:t>
            </a:r>
          </a:p>
          <a:p>
            <a:r>
              <a:rPr lang="en-US" dirty="0"/>
              <a:t>Knowledge to inform policy</a:t>
            </a:r>
          </a:p>
          <a:p>
            <a:r>
              <a:rPr lang="en-US" dirty="0"/>
              <a:t>New affiliations &amp; connections</a:t>
            </a:r>
          </a:p>
          <a:p>
            <a:r>
              <a:rPr lang="en-US" dirty="0"/>
              <a:t>A desire to coordinate others</a:t>
            </a:r>
          </a:p>
          <a:p>
            <a:r>
              <a:rPr lang="en-US" dirty="0"/>
              <a:t>A body of work at Urban &amp; beyond</a:t>
            </a:r>
          </a:p>
        </p:txBody>
      </p:sp>
      <p:sp>
        <p:nvSpPr>
          <p:cNvPr id="4" name="Text Placeholder 3">
            <a:extLst>
              <a:ext uri="{FF2B5EF4-FFF2-40B4-BE49-F238E27FC236}">
                <a16:creationId xmlns:a16="http://schemas.microsoft.com/office/drawing/2014/main" id="{9DFF26AD-2DBD-1E67-D88E-227CF8634912}"/>
              </a:ext>
            </a:extLst>
          </p:cNvPr>
          <p:cNvSpPr>
            <a:spLocks noGrp="1"/>
          </p:cNvSpPr>
          <p:nvPr>
            <p:ph type="body" sz="quarter" idx="11"/>
          </p:nvPr>
        </p:nvSpPr>
        <p:spPr>
          <a:xfrm>
            <a:off x="457200" y="10511"/>
            <a:ext cx="1215397" cy="307777"/>
          </a:xfrm>
        </p:spPr>
        <p:txBody>
          <a:bodyPr/>
          <a:lstStyle/>
          <a:p>
            <a:r>
              <a:rPr lang="en-US" dirty="0"/>
              <a:t>And we’re back</a:t>
            </a:r>
          </a:p>
        </p:txBody>
      </p:sp>
    </p:spTree>
    <p:extLst>
      <p:ext uri="{BB962C8B-B14F-4D97-AF65-F5344CB8AC3E}">
        <p14:creationId xmlns:p14="http://schemas.microsoft.com/office/powerpoint/2010/main" val="16694587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Effect transition="in" filter="fade">
                                      <p:cBhvr>
                                        <p:cTn id="11" dur="500"/>
                                        <p:tgtEl>
                                          <p:spTgt spid="3">
                                            <p:txEl>
                                              <p:pRg st="2" end="2"/>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fade">
                                      <p:cBhvr>
                                        <p:cTn id="23" dur="500"/>
                                        <p:tgtEl>
                                          <p:spTgt spid="3">
                                            <p:txEl>
                                              <p:pRg st="5" end="5"/>
                                            </p:txEl>
                                          </p:spTgt>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D9E38B3-4686-8247-9625-49018D29F408}"/>
              </a:ext>
            </a:extLst>
          </p:cNvPr>
          <p:cNvSpPr>
            <a:spLocks noGrp="1"/>
          </p:cNvSpPr>
          <p:nvPr>
            <p:ph type="title"/>
          </p:nvPr>
        </p:nvSpPr>
        <p:spPr>
          <a:xfrm>
            <a:off x="1525302" y="2467186"/>
            <a:ext cx="9141397" cy="1231106"/>
          </a:xfrm>
        </p:spPr>
        <p:txBody>
          <a:bodyPr/>
          <a:lstStyle/>
          <a:p>
            <a:r>
              <a:rPr lang="en-US" dirty="0"/>
              <a:t>Student-Parent Action through Research Knowledge (SPARK)</a:t>
            </a:r>
          </a:p>
        </p:txBody>
      </p:sp>
      <p:sp>
        <p:nvSpPr>
          <p:cNvPr id="2" name="Slide Number Placeholder 1">
            <a:extLst>
              <a:ext uri="{FF2B5EF4-FFF2-40B4-BE49-F238E27FC236}">
                <a16:creationId xmlns:a16="http://schemas.microsoft.com/office/drawing/2014/main" id="{C2021ED7-63B2-D09B-3F7A-6A71C49541BD}"/>
              </a:ext>
            </a:extLst>
          </p:cNvPr>
          <p:cNvSpPr>
            <a:spLocks noGrp="1"/>
          </p:cNvSpPr>
          <p:nvPr>
            <p:ph type="sldNum" sz="quarter" idx="14"/>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84F1F11-30B2-407E-BCBC-892E66203F82}" type="slidenum">
              <a:rPr kumimoji="0" lang="en-US" sz="1200" b="0" i="0" u="none" strike="noStrike" kern="1200" cap="none" spc="0" normalizeH="0" baseline="0" noProof="0" smtClean="0">
                <a:ln>
                  <a:noFill/>
                </a:ln>
                <a:solidFill>
                  <a:prstClr val="white">
                    <a:tint val="75000"/>
                  </a:prstClr>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sz="1200" b="0" i="0" u="none" strike="noStrike" kern="1200" cap="none" spc="0" normalizeH="0" baseline="0" noProof="0" dirty="0">
              <a:ln>
                <a:noFill/>
              </a:ln>
              <a:solidFill>
                <a:prstClr val="white">
                  <a:tint val="75000"/>
                </a:prstClr>
              </a:solidFill>
              <a:effectLst/>
              <a:uLnTx/>
              <a:uFillTx/>
              <a:latin typeface="Arial" panose="020B0604020202020204" pitchFamily="34" charset="0"/>
              <a:ea typeface="+mn-ea"/>
              <a:cs typeface="+mn-cs"/>
            </a:endParaRPr>
          </a:p>
        </p:txBody>
      </p:sp>
      <p:pic>
        <p:nvPicPr>
          <p:cNvPr id="5" name="Graphic 4" descr="Fireworks with solid fill">
            <a:extLst>
              <a:ext uri="{FF2B5EF4-FFF2-40B4-BE49-F238E27FC236}">
                <a16:creationId xmlns:a16="http://schemas.microsoft.com/office/drawing/2014/main" id="{6BA44EA7-CEFE-3864-C774-D8C60216795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140399" y="2354559"/>
            <a:ext cx="1456360" cy="1456360"/>
          </a:xfrm>
          <a:prstGeom prst="rect">
            <a:avLst/>
          </a:prstGeom>
        </p:spPr>
      </p:pic>
      <p:pic>
        <p:nvPicPr>
          <p:cNvPr id="7" name="Graphic 6" descr="Fireworks with solid fill">
            <a:extLst>
              <a:ext uri="{FF2B5EF4-FFF2-40B4-BE49-F238E27FC236}">
                <a16:creationId xmlns:a16="http://schemas.microsoft.com/office/drawing/2014/main" id="{3AE3DD0F-6B8D-E04F-AFAB-AFCD9E159A1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5241" y="2354559"/>
            <a:ext cx="1456360" cy="1456360"/>
          </a:xfrm>
          <a:prstGeom prst="rect">
            <a:avLst/>
          </a:prstGeom>
        </p:spPr>
      </p:pic>
      <p:pic>
        <p:nvPicPr>
          <p:cNvPr id="8" name="Picture 7">
            <a:extLst>
              <a:ext uri="{FF2B5EF4-FFF2-40B4-BE49-F238E27FC236}">
                <a16:creationId xmlns:a16="http://schemas.microsoft.com/office/drawing/2014/main" id="{8D917CAC-63F9-54D9-C634-73EBA328C56E}"/>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483404" y="4391234"/>
            <a:ext cx="4278389" cy="1169999"/>
          </a:xfrm>
          <a:prstGeom prst="rect">
            <a:avLst/>
          </a:prstGeom>
          <a:solidFill>
            <a:schemeClr val="tx1"/>
          </a:solidFill>
        </p:spPr>
      </p:pic>
      <p:grpSp>
        <p:nvGrpSpPr>
          <p:cNvPr id="10" name="Group 9">
            <a:extLst>
              <a:ext uri="{FF2B5EF4-FFF2-40B4-BE49-F238E27FC236}">
                <a16:creationId xmlns:a16="http://schemas.microsoft.com/office/drawing/2014/main" id="{0282109E-D506-FA97-7FC3-178DF6B23C5D}"/>
              </a:ext>
            </a:extLst>
          </p:cNvPr>
          <p:cNvGrpSpPr/>
          <p:nvPr/>
        </p:nvGrpSpPr>
        <p:grpSpPr>
          <a:xfrm>
            <a:off x="6430209" y="4391233"/>
            <a:ext cx="3951101" cy="1170000"/>
            <a:chOff x="6757495" y="4385927"/>
            <a:chExt cx="3951101" cy="1170000"/>
          </a:xfrm>
        </p:grpSpPr>
        <p:sp>
          <p:nvSpPr>
            <p:cNvPr id="9" name="Rectangle 8">
              <a:extLst>
                <a:ext uri="{FF2B5EF4-FFF2-40B4-BE49-F238E27FC236}">
                  <a16:creationId xmlns:a16="http://schemas.microsoft.com/office/drawing/2014/main" id="{975E9327-103A-4A6F-8288-1E94A3872DB9}"/>
                </a:ext>
              </a:extLst>
            </p:cNvPr>
            <p:cNvSpPr/>
            <p:nvPr/>
          </p:nvSpPr>
          <p:spPr>
            <a:xfrm>
              <a:off x="6757495" y="4385927"/>
              <a:ext cx="3951101" cy="116999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egoe UI"/>
                <a:ea typeface="+mn-ea"/>
                <a:cs typeface="+mn-cs"/>
              </a:endParaRPr>
            </a:p>
          </p:txBody>
        </p:sp>
        <p:pic>
          <p:nvPicPr>
            <p:cNvPr id="3" name="Picture 2" descr="A picture containing text&#10;&#10;Description automatically generated">
              <a:extLst>
                <a:ext uri="{FF2B5EF4-FFF2-40B4-BE49-F238E27FC236}">
                  <a16:creationId xmlns:a16="http://schemas.microsoft.com/office/drawing/2014/main" id="{A330A0F8-6CD7-4473-9113-53482E6827C5}"/>
                </a:ext>
              </a:extLst>
            </p:cNvPr>
            <p:cNvPicPr>
              <a:picLocks noChangeAspect="1"/>
            </p:cNvPicPr>
            <p:nvPr/>
          </p:nvPicPr>
          <p:blipFill>
            <a:blip r:embed="rId6"/>
            <a:stretch>
              <a:fillRect/>
            </a:stretch>
          </p:blipFill>
          <p:spPr>
            <a:xfrm>
              <a:off x="6824408" y="4386813"/>
              <a:ext cx="3333268" cy="1169114"/>
            </a:xfrm>
            <a:prstGeom prst="rect">
              <a:avLst/>
            </a:prstGeom>
            <a:solidFill>
              <a:schemeClr val="tx1"/>
            </a:solidFill>
          </p:spPr>
        </p:pic>
      </p:grpSp>
    </p:spTree>
    <p:extLst>
      <p:ext uri="{BB962C8B-B14F-4D97-AF65-F5344CB8AC3E}">
        <p14:creationId xmlns:p14="http://schemas.microsoft.com/office/powerpoint/2010/main" val="3279225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AFEEA-D88B-BCEE-4832-724CD5B1C89C}"/>
              </a:ext>
            </a:extLst>
          </p:cNvPr>
          <p:cNvSpPr>
            <a:spLocks noGrp="1"/>
          </p:cNvSpPr>
          <p:nvPr>
            <p:ph type="title"/>
          </p:nvPr>
        </p:nvSpPr>
        <p:spPr/>
        <p:txBody>
          <a:bodyPr/>
          <a:lstStyle/>
          <a:p>
            <a:r>
              <a:rPr lang="en-US" dirty="0"/>
              <a:t>Looking forward</a:t>
            </a:r>
          </a:p>
        </p:txBody>
      </p:sp>
      <p:sp>
        <p:nvSpPr>
          <p:cNvPr id="3" name="Text Placeholder 2">
            <a:extLst>
              <a:ext uri="{FF2B5EF4-FFF2-40B4-BE49-F238E27FC236}">
                <a16:creationId xmlns:a16="http://schemas.microsoft.com/office/drawing/2014/main" id="{3CF2245F-C501-021A-E76C-AEE5D6675331}"/>
              </a:ext>
            </a:extLst>
          </p:cNvPr>
          <p:cNvSpPr>
            <a:spLocks noGrp="1"/>
          </p:cNvSpPr>
          <p:nvPr>
            <p:ph type="body" sz="quarter" idx="10"/>
          </p:nvPr>
        </p:nvSpPr>
        <p:spPr/>
        <p:txBody>
          <a:bodyPr/>
          <a:lstStyle/>
          <a:p>
            <a:pPr>
              <a:buFont typeface="Wingdings" panose="05000000000000000000" pitchFamily="2" charset="2"/>
              <a:buChar char="§"/>
            </a:pPr>
            <a:r>
              <a:rPr lang="en-US" dirty="0"/>
              <a:t>Seeing changes to policy &amp; practice </a:t>
            </a:r>
            <a:r>
              <a:rPr lang="en-US" dirty="0">
                <a:sym typeface="Wingdings" panose="05000000000000000000" pitchFamily="2" charset="2"/>
              </a:rPr>
              <a:t> improving wellbeing &amp; advancing social justice</a:t>
            </a:r>
          </a:p>
          <a:p>
            <a:pPr>
              <a:buFont typeface="Wingdings" panose="05000000000000000000" pitchFamily="2" charset="2"/>
              <a:buChar char="§"/>
            </a:pPr>
            <a:r>
              <a:rPr lang="en-US" dirty="0">
                <a:sym typeface="Wingdings" panose="05000000000000000000" pitchFamily="2" charset="2"/>
              </a:rPr>
              <a:t>Building a movement</a:t>
            </a:r>
          </a:p>
          <a:p>
            <a:pPr>
              <a:buFont typeface="Wingdings" panose="05000000000000000000" pitchFamily="2" charset="2"/>
              <a:buChar char="§"/>
            </a:pPr>
            <a:r>
              <a:rPr lang="en-US" dirty="0"/>
              <a:t>New ways of knowing (“evidence”)</a:t>
            </a:r>
          </a:p>
        </p:txBody>
      </p:sp>
      <p:sp>
        <p:nvSpPr>
          <p:cNvPr id="4" name="Text Placeholder 3">
            <a:extLst>
              <a:ext uri="{FF2B5EF4-FFF2-40B4-BE49-F238E27FC236}">
                <a16:creationId xmlns:a16="http://schemas.microsoft.com/office/drawing/2014/main" id="{9DFF26AD-2DBD-1E67-D88E-227CF8634912}"/>
              </a:ext>
            </a:extLst>
          </p:cNvPr>
          <p:cNvSpPr>
            <a:spLocks noGrp="1"/>
          </p:cNvSpPr>
          <p:nvPr>
            <p:ph type="body" sz="quarter" idx="11"/>
          </p:nvPr>
        </p:nvSpPr>
        <p:spPr>
          <a:xfrm>
            <a:off x="457200" y="10511"/>
            <a:ext cx="923651" cy="307777"/>
          </a:xfrm>
        </p:spPr>
        <p:txBody>
          <a:bodyPr/>
          <a:lstStyle/>
          <a:p>
            <a:r>
              <a:rPr lang="en-US" dirty="0"/>
              <a:t>the Future</a:t>
            </a:r>
          </a:p>
        </p:txBody>
      </p:sp>
    </p:spTree>
    <p:extLst>
      <p:ext uri="{BB962C8B-B14F-4D97-AF65-F5344CB8AC3E}">
        <p14:creationId xmlns:p14="http://schemas.microsoft.com/office/powerpoint/2010/main" val="135104408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t>Thank you!</a:t>
            </a:r>
          </a:p>
        </p:txBody>
      </p:sp>
      <p:sp>
        <p:nvSpPr>
          <p:cNvPr id="12" name="Content Placeholder 1">
            <a:extLst>
              <a:ext uri="{FF2B5EF4-FFF2-40B4-BE49-F238E27FC236}">
                <a16:creationId xmlns:a16="http://schemas.microsoft.com/office/drawing/2014/main" id="{9C2133C2-9B68-4776-8529-B751D23EE92A}"/>
              </a:ext>
            </a:extLst>
          </p:cNvPr>
          <p:cNvSpPr>
            <a:spLocks noGrp="1"/>
          </p:cNvSpPr>
          <p:nvPr>
            <p:ph idx="1"/>
          </p:nvPr>
        </p:nvSpPr>
        <p:spPr>
          <a:xfrm>
            <a:off x="314892" y="1635020"/>
            <a:ext cx="11414862" cy="4541943"/>
          </a:xfrm>
        </p:spPr>
        <p:txBody>
          <a:bodyPr>
            <a:normAutofit/>
          </a:bodyPr>
          <a:lstStyle/>
          <a:p>
            <a:pPr marL="0" indent="0">
              <a:buNone/>
            </a:pPr>
            <a:endParaRPr lang="en-US" dirty="0"/>
          </a:p>
          <a:p>
            <a:pPr marL="0" indent="0">
              <a:buNone/>
            </a:pPr>
            <a:r>
              <a:rPr lang="en-US" dirty="0"/>
              <a:t>Contact Information:</a:t>
            </a:r>
          </a:p>
          <a:p>
            <a:pPr marL="0" indent="0">
              <a:buNone/>
            </a:pPr>
            <a:r>
              <a:rPr lang="en-US" dirty="0"/>
              <a:t>Theresa Anderson</a:t>
            </a:r>
            <a:br>
              <a:rPr lang="en-US" dirty="0"/>
            </a:br>
            <a:r>
              <a:rPr lang="en-US" dirty="0"/>
              <a:t>Urban Institute</a:t>
            </a:r>
            <a:br>
              <a:rPr lang="en-US" dirty="0"/>
            </a:br>
            <a:r>
              <a:rPr lang="en-US" dirty="0">
                <a:hlinkClick r:id="rId3"/>
              </a:rPr>
              <a:t>tanderson@urban.org</a:t>
            </a:r>
            <a:endParaRPr lang="en-US" dirty="0"/>
          </a:p>
          <a:p>
            <a:pPr marL="0" indent="0">
              <a:buNone/>
            </a:pPr>
            <a:endParaRPr lang="en-US" dirty="0"/>
          </a:p>
          <a:p>
            <a:pPr marL="0" indent="0">
              <a:buNone/>
            </a:pPr>
            <a:r>
              <a:rPr lang="en-US" dirty="0"/>
              <a:t>Brief: </a:t>
            </a:r>
            <a:r>
              <a:rPr lang="en-US" dirty="0">
                <a:hlinkClick r:id="rId4"/>
              </a:rPr>
              <a:t>https://www.urban.org/research/publication/</a:t>
            </a:r>
            <a:br>
              <a:rPr lang="en-US" dirty="0">
                <a:hlinkClick r:id="rId4"/>
              </a:rPr>
            </a:br>
            <a:r>
              <a:rPr lang="en-US" dirty="0">
                <a:hlinkClick r:id="rId4"/>
              </a:rPr>
              <a:t>what-if-mom-went-back-school</a:t>
            </a:r>
            <a:r>
              <a:rPr lang="en-US" dirty="0"/>
              <a:t> </a:t>
            </a:r>
          </a:p>
          <a:p>
            <a:pPr marL="0" indent="0">
              <a:buNone/>
            </a:pPr>
            <a:r>
              <a:rPr lang="en-US" dirty="0"/>
              <a:t>SPARK Collaborative: </a:t>
            </a:r>
            <a:r>
              <a:rPr lang="en-US" dirty="0">
                <a:hlinkClick r:id="rId5"/>
              </a:rPr>
              <a:t>http://collegewithkids.org</a:t>
            </a:r>
            <a:r>
              <a:rPr lang="en-US" dirty="0"/>
              <a:t> </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C043129-1177-464E-99DF-D6D0FEF2D52C}" type="slidenum">
              <a:rPr kumimoji="0" lang="en-US" sz="1200" b="0" i="0" u="none" strike="noStrike" kern="1200" cap="none" spc="0" normalizeH="0" baseline="0" noProof="0" smtClean="0">
                <a:ln>
                  <a:noFill/>
                </a:ln>
                <a:solidFill>
                  <a:srgbClr val="B58B80">
                    <a:lumMod val="50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srgbClr val="B58B80">
                  <a:lumMod val="50000"/>
                </a:srgbClr>
              </a:solidFill>
              <a:effectLst/>
              <a:uLnTx/>
              <a:uFillTx/>
              <a:latin typeface="Calibri" panose="020F0502020204030204"/>
              <a:ea typeface="+mn-ea"/>
              <a:cs typeface="+mn-cs"/>
            </a:endParaRPr>
          </a:p>
        </p:txBody>
      </p:sp>
      <p:pic>
        <p:nvPicPr>
          <p:cNvPr id="10" name="Picture 9">
            <a:extLst>
              <a:ext uri="{FF2B5EF4-FFF2-40B4-BE49-F238E27FC236}">
                <a16:creationId xmlns:a16="http://schemas.microsoft.com/office/drawing/2014/main" id="{2ED27D77-8A0A-4A31-ADEB-B5A712AAA741}"/>
              </a:ext>
            </a:extLst>
          </p:cNvPr>
          <p:cNvPicPr>
            <a:picLocks noChangeAspect="1"/>
          </p:cNvPicPr>
          <p:nvPr/>
        </p:nvPicPr>
        <p:blipFill rotWithShape="1">
          <a:blip r:embed="rId6">
            <a:extLst>
              <a:ext uri="{28A0092B-C50C-407E-A947-70E740481C1C}">
                <a14:useLocalDpi xmlns:a14="http://schemas.microsoft.com/office/drawing/2010/main" val="0"/>
              </a:ext>
            </a:extLst>
          </a:blip>
          <a:srcRect l="-325" t="547" r="325" b="10435"/>
          <a:stretch/>
        </p:blipFill>
        <p:spPr>
          <a:xfrm>
            <a:off x="6390640" y="714379"/>
            <a:ext cx="4070989" cy="5429241"/>
          </a:xfrm>
          <a:prstGeom prst="ellipse">
            <a:avLst/>
          </a:prstGeom>
          <a:ln>
            <a:noFill/>
          </a:ln>
          <a:effectLst>
            <a:softEdge rad="112500"/>
          </a:effectLst>
        </p:spPr>
      </p:pic>
    </p:spTree>
    <p:extLst>
      <p:ext uri="{BB962C8B-B14F-4D97-AF65-F5344CB8AC3E}">
        <p14:creationId xmlns:p14="http://schemas.microsoft.com/office/powerpoint/2010/main" val="520954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E6F5393-6EB3-4EFB-97EA-10C486715C7D}"/>
              </a:ext>
            </a:extLst>
          </p:cNvPr>
          <p:cNvSpPr>
            <a:spLocks noGrp="1"/>
          </p:cNvSpPr>
          <p:nvPr>
            <p:ph idx="1"/>
          </p:nvPr>
        </p:nvSpPr>
        <p:spPr>
          <a:xfrm>
            <a:off x="314892" y="1600200"/>
            <a:ext cx="11414862" cy="5257800"/>
          </a:xfrm>
        </p:spPr>
        <p:txBody>
          <a:bodyPr>
            <a:normAutofit fontScale="55000" lnSpcReduction="20000"/>
          </a:bodyPr>
          <a:lstStyle/>
          <a:p>
            <a:pPr marL="45720" indent="0">
              <a:lnSpc>
                <a:spcPct val="120000"/>
              </a:lnSpc>
              <a:buNone/>
            </a:pPr>
            <a:r>
              <a:rPr lang="en-US" b="1" dirty="0"/>
              <a:t>School leaving &amp; school reentry: </a:t>
            </a:r>
            <a:endParaRPr lang="en-US" dirty="0"/>
          </a:p>
          <a:p>
            <a:pPr>
              <a:lnSpc>
                <a:spcPct val="120000"/>
              </a:lnSpc>
            </a:pPr>
            <a:r>
              <a:rPr lang="en-US" dirty="0"/>
              <a:t>Women left school for various reasons</a:t>
            </a:r>
          </a:p>
          <a:p>
            <a:pPr>
              <a:lnSpc>
                <a:spcPct val="120000"/>
              </a:lnSpc>
            </a:pPr>
            <a:r>
              <a:rPr lang="en-US" dirty="0"/>
              <a:t>Maternity leave, childcare, &amp; other supports influenced schooling after children</a:t>
            </a:r>
          </a:p>
          <a:p>
            <a:pPr>
              <a:lnSpc>
                <a:spcPct val="120000"/>
              </a:lnSpc>
            </a:pPr>
            <a:r>
              <a:rPr lang="en-US" dirty="0"/>
              <a:t>Employers encouraged re-enrollment in many cases</a:t>
            </a:r>
          </a:p>
          <a:p>
            <a:pPr>
              <a:lnSpc>
                <a:spcPct val="120000"/>
              </a:lnSpc>
            </a:pPr>
            <a:r>
              <a:rPr lang="en-US" dirty="0"/>
              <a:t>Women re-enrolled to fortify personal identities, increase earnings, or to set example for kids</a:t>
            </a:r>
          </a:p>
          <a:p>
            <a:pPr marL="45720" indent="0">
              <a:lnSpc>
                <a:spcPct val="120000"/>
              </a:lnSpc>
              <a:buNone/>
            </a:pPr>
            <a:r>
              <a:rPr lang="en-US" b="1" dirty="0"/>
              <a:t>Women’s aspirations:</a:t>
            </a:r>
            <a:endParaRPr lang="en-US" dirty="0"/>
          </a:p>
          <a:p>
            <a:pPr>
              <a:lnSpc>
                <a:spcPct val="120000"/>
              </a:lnSpc>
            </a:pPr>
            <a:r>
              <a:rPr lang="en-US" dirty="0"/>
              <a:t>Career goals were sometimes inspired by being young, single, and/or student-mothers</a:t>
            </a:r>
          </a:p>
          <a:p>
            <a:pPr>
              <a:lnSpc>
                <a:spcPct val="120000"/>
              </a:lnSpc>
            </a:pPr>
            <a:r>
              <a:rPr lang="en-US" dirty="0"/>
              <a:t>Several sought personal/professional identity outside of their families—could bring guilt</a:t>
            </a:r>
          </a:p>
          <a:p>
            <a:pPr marL="45720" indent="0">
              <a:lnSpc>
                <a:spcPct val="120000"/>
              </a:lnSpc>
              <a:buNone/>
            </a:pPr>
            <a:r>
              <a:rPr lang="en-US" b="1" dirty="0"/>
              <a:t>Employment &amp; earnings effects:</a:t>
            </a:r>
            <a:endParaRPr lang="en-US" dirty="0"/>
          </a:p>
          <a:p>
            <a:pPr>
              <a:lnSpc>
                <a:spcPct val="120000"/>
              </a:lnSpc>
            </a:pPr>
            <a:r>
              <a:rPr lang="en-US" dirty="0"/>
              <a:t>Most on </a:t>
            </a:r>
            <a:r>
              <a:rPr lang="en-US" i="1" dirty="0"/>
              <a:t>triple duty</a:t>
            </a:r>
            <a:r>
              <a:rPr lang="en-US" dirty="0"/>
              <a:t>: studying, parenting, working </a:t>
            </a:r>
          </a:p>
          <a:p>
            <a:pPr>
              <a:lnSpc>
                <a:spcPct val="120000"/>
              </a:lnSpc>
            </a:pPr>
            <a:r>
              <a:rPr lang="en-US" dirty="0"/>
              <a:t>Most modified work schedule or reduced work effort</a:t>
            </a:r>
          </a:p>
          <a:p>
            <a:pPr>
              <a:lnSpc>
                <a:spcPct val="120000"/>
              </a:lnSpc>
            </a:pPr>
            <a:r>
              <a:rPr lang="en-US" dirty="0"/>
              <a:t>Foregone earnings created stress &amp; trade-offs</a:t>
            </a:r>
          </a:p>
          <a:p>
            <a:pPr marL="45720" indent="0">
              <a:lnSpc>
                <a:spcPct val="120000"/>
              </a:lnSpc>
              <a:buNone/>
            </a:pPr>
            <a:r>
              <a:rPr lang="en-US" b="1" dirty="0"/>
              <a:t>Marriage:</a:t>
            </a:r>
            <a:endParaRPr lang="en-US" dirty="0"/>
          </a:p>
          <a:p>
            <a:pPr>
              <a:lnSpc>
                <a:spcPct val="120000"/>
              </a:lnSpc>
            </a:pPr>
            <a:r>
              <a:rPr lang="en-US" dirty="0"/>
              <a:t>Divorce prompted some to re-enroll </a:t>
            </a:r>
          </a:p>
          <a:p>
            <a:pPr>
              <a:lnSpc>
                <a:spcPct val="120000"/>
              </a:lnSpc>
            </a:pPr>
            <a:r>
              <a:rPr lang="en-US" dirty="0"/>
              <a:t>Women’s shifting identity/expectations &amp; role changes pressured marriages </a:t>
            </a:r>
          </a:p>
          <a:p>
            <a:pPr>
              <a:lnSpc>
                <a:spcPct val="120000"/>
              </a:lnSpc>
            </a:pPr>
            <a:r>
              <a:rPr lang="en-US" dirty="0"/>
              <a:t>Husbands sometimes were crucial supports</a:t>
            </a:r>
          </a:p>
        </p:txBody>
      </p:sp>
      <p:sp>
        <p:nvSpPr>
          <p:cNvPr id="4" name="Title 3">
            <a:extLst>
              <a:ext uri="{FF2B5EF4-FFF2-40B4-BE49-F238E27FC236}">
                <a16:creationId xmlns:a16="http://schemas.microsoft.com/office/drawing/2014/main" id="{CF122FA7-B63E-40E2-8381-96D0E0FE2109}"/>
              </a:ext>
            </a:extLst>
          </p:cNvPr>
          <p:cNvSpPr>
            <a:spLocks noGrp="1"/>
          </p:cNvSpPr>
          <p:nvPr>
            <p:ph type="title"/>
          </p:nvPr>
        </p:nvSpPr>
        <p:spPr/>
        <p:txBody>
          <a:bodyPr/>
          <a:lstStyle/>
          <a:p>
            <a:r>
              <a:rPr lang="en-US" dirty="0"/>
              <a:t>Qualitative findings 1</a:t>
            </a:r>
          </a:p>
        </p:txBody>
      </p:sp>
      <p:sp>
        <p:nvSpPr>
          <p:cNvPr id="3" name="Slide Number Placeholder 2">
            <a:extLst>
              <a:ext uri="{FF2B5EF4-FFF2-40B4-BE49-F238E27FC236}">
                <a16:creationId xmlns:a16="http://schemas.microsoft.com/office/drawing/2014/main" id="{4A78AB5A-6717-4BC4-8272-08DC7147C8B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8C4CCD-1362-4CC7-BA2D-0BEF6B3ABFE9}" type="slidenum">
              <a:rPr kumimoji="0" lang="en-US" sz="1200" b="0" i="0" u="none" strike="noStrike" kern="1200" cap="none" spc="0" normalizeH="0" baseline="0" noProof="0" smtClean="0">
                <a:ln>
                  <a:noFill/>
                </a:ln>
                <a:solidFill>
                  <a:srgbClr val="B58B80">
                    <a:lumMod val="50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dirty="0">
              <a:ln>
                <a:noFill/>
              </a:ln>
              <a:solidFill>
                <a:srgbClr val="B58B80">
                  <a:lumMod val="50000"/>
                </a:srgb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71134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E6F5393-6EB3-4EFB-97EA-10C486715C7D}"/>
              </a:ext>
            </a:extLst>
          </p:cNvPr>
          <p:cNvSpPr>
            <a:spLocks noGrp="1"/>
          </p:cNvSpPr>
          <p:nvPr>
            <p:ph idx="1"/>
          </p:nvPr>
        </p:nvSpPr>
        <p:spPr>
          <a:xfrm>
            <a:off x="314892" y="1600200"/>
            <a:ext cx="11414862" cy="5257800"/>
          </a:xfrm>
        </p:spPr>
        <p:txBody>
          <a:bodyPr>
            <a:noAutofit/>
          </a:bodyPr>
          <a:lstStyle/>
          <a:p>
            <a:pPr marL="45720" indent="0">
              <a:lnSpc>
                <a:spcPct val="100000"/>
              </a:lnSpc>
              <a:buNone/>
            </a:pPr>
            <a:r>
              <a:rPr lang="en-US" sz="1500" b="1" dirty="0"/>
              <a:t>Supports:</a:t>
            </a:r>
            <a:endParaRPr lang="en-US" sz="1500" dirty="0"/>
          </a:p>
          <a:p>
            <a:pPr>
              <a:lnSpc>
                <a:spcPct val="100000"/>
              </a:lnSpc>
            </a:pPr>
            <a:r>
              <a:rPr lang="en-US" sz="1500" dirty="0"/>
              <a:t>Cost of schooling was a major stress</a:t>
            </a:r>
          </a:p>
          <a:p>
            <a:pPr>
              <a:lnSpc>
                <a:spcPct val="100000"/>
              </a:lnSpc>
            </a:pPr>
            <a:r>
              <a:rPr lang="en-US" sz="1500" dirty="0"/>
              <a:t>About half received public assistance</a:t>
            </a:r>
          </a:p>
          <a:p>
            <a:pPr>
              <a:lnSpc>
                <a:spcPct val="100000"/>
              </a:lnSpc>
            </a:pPr>
            <a:r>
              <a:rPr lang="en-US" sz="1500" dirty="0"/>
              <a:t>Some campuses help with food/necessities, but many students unaware</a:t>
            </a:r>
          </a:p>
          <a:p>
            <a:pPr>
              <a:lnSpc>
                <a:spcPct val="100000"/>
              </a:lnSpc>
            </a:pPr>
            <a:r>
              <a:rPr lang="en-US" sz="1500" dirty="0"/>
              <a:t>Some funding from employers/non-public sources; rarely fully covered costs</a:t>
            </a:r>
          </a:p>
          <a:p>
            <a:pPr>
              <a:lnSpc>
                <a:spcPct val="100000"/>
              </a:lnSpc>
            </a:pPr>
            <a:r>
              <a:rPr lang="en-US" sz="1500" dirty="0"/>
              <a:t>Financial aid was a substantial support, but requirements were burdensome</a:t>
            </a:r>
          </a:p>
          <a:p>
            <a:pPr marL="45720" indent="0">
              <a:lnSpc>
                <a:spcPct val="100000"/>
              </a:lnSpc>
              <a:buNone/>
            </a:pPr>
            <a:r>
              <a:rPr lang="en-US" sz="1500" b="1" dirty="0"/>
              <a:t>Mental &amp; physical health:</a:t>
            </a:r>
            <a:endParaRPr lang="en-US" sz="1500" dirty="0"/>
          </a:p>
          <a:p>
            <a:pPr>
              <a:lnSpc>
                <a:spcPct val="100000"/>
              </a:lnSpc>
            </a:pPr>
            <a:r>
              <a:rPr lang="en-US" sz="1500" dirty="0"/>
              <a:t>Stress &amp; guilt endemic—esp. financial pressure &amp; uncertainty about future </a:t>
            </a:r>
          </a:p>
          <a:p>
            <a:pPr>
              <a:lnSpc>
                <a:spcPct val="100000"/>
              </a:lnSpc>
            </a:pPr>
            <a:r>
              <a:rPr lang="en-US" sz="1500" dirty="0"/>
              <a:t>Almost all women forewent sleep &amp; self-care</a:t>
            </a:r>
          </a:p>
          <a:p>
            <a:pPr>
              <a:lnSpc>
                <a:spcPct val="100000"/>
              </a:lnSpc>
            </a:pPr>
            <a:r>
              <a:rPr lang="en-US" sz="1500" dirty="0"/>
              <a:t>Many had a positive mindset &amp; confidence pursuing education was right</a:t>
            </a:r>
          </a:p>
          <a:p>
            <a:pPr>
              <a:lnSpc>
                <a:spcPct val="100000"/>
              </a:lnSpc>
            </a:pPr>
            <a:r>
              <a:rPr lang="en-US" sz="1500" dirty="0"/>
              <a:t>Religion fortified several women</a:t>
            </a:r>
          </a:p>
          <a:p>
            <a:pPr marL="45720" indent="0">
              <a:lnSpc>
                <a:spcPct val="100000"/>
              </a:lnSpc>
              <a:buNone/>
            </a:pPr>
            <a:r>
              <a:rPr lang="en-US" sz="1500" b="1" dirty="0"/>
              <a:t>Social capital:</a:t>
            </a:r>
            <a:endParaRPr lang="en-US" sz="1500" dirty="0"/>
          </a:p>
          <a:p>
            <a:pPr>
              <a:lnSpc>
                <a:spcPct val="100000"/>
              </a:lnSpc>
            </a:pPr>
            <a:r>
              <a:rPr lang="en-US" sz="1500" dirty="0"/>
              <a:t>Non-family connections could provide information &amp; childcare, but hard to maintain</a:t>
            </a:r>
          </a:p>
          <a:p>
            <a:pPr>
              <a:lnSpc>
                <a:spcPct val="100000"/>
              </a:lnSpc>
            </a:pPr>
            <a:r>
              <a:rPr lang="en-US" sz="1500" dirty="0"/>
              <a:t>Former social contacts could be negative influences</a:t>
            </a:r>
          </a:p>
          <a:p>
            <a:pPr>
              <a:lnSpc>
                <a:spcPct val="100000"/>
              </a:lnSpc>
            </a:pPr>
            <a:r>
              <a:rPr lang="en-US" sz="1500" dirty="0"/>
              <a:t>Few knew others in similar situations, but that would be helpful</a:t>
            </a:r>
          </a:p>
          <a:p>
            <a:pPr>
              <a:lnSpc>
                <a:spcPct val="100000"/>
              </a:lnSpc>
            </a:pPr>
            <a:r>
              <a:rPr lang="en-US" sz="1500" dirty="0"/>
              <a:t>Extended family was critical for childcare, financial, housing, &amp; emotional support</a:t>
            </a:r>
          </a:p>
          <a:p>
            <a:pPr>
              <a:lnSpc>
                <a:spcPct val="100000"/>
              </a:lnSpc>
            </a:pPr>
            <a:r>
              <a:rPr lang="en-US" sz="1500" dirty="0"/>
              <a:t>Family influences were not always positive</a:t>
            </a:r>
          </a:p>
        </p:txBody>
      </p:sp>
      <p:sp>
        <p:nvSpPr>
          <p:cNvPr id="4" name="Title 3">
            <a:extLst>
              <a:ext uri="{FF2B5EF4-FFF2-40B4-BE49-F238E27FC236}">
                <a16:creationId xmlns:a16="http://schemas.microsoft.com/office/drawing/2014/main" id="{CF122FA7-B63E-40E2-8381-96D0E0FE2109}"/>
              </a:ext>
            </a:extLst>
          </p:cNvPr>
          <p:cNvSpPr>
            <a:spLocks noGrp="1"/>
          </p:cNvSpPr>
          <p:nvPr>
            <p:ph type="title"/>
          </p:nvPr>
        </p:nvSpPr>
        <p:spPr/>
        <p:txBody>
          <a:bodyPr/>
          <a:lstStyle/>
          <a:p>
            <a:r>
              <a:rPr lang="en-US" dirty="0"/>
              <a:t>Qualitative findings 2</a:t>
            </a:r>
          </a:p>
        </p:txBody>
      </p:sp>
      <p:sp>
        <p:nvSpPr>
          <p:cNvPr id="3" name="Slide Number Placeholder 2">
            <a:extLst>
              <a:ext uri="{FF2B5EF4-FFF2-40B4-BE49-F238E27FC236}">
                <a16:creationId xmlns:a16="http://schemas.microsoft.com/office/drawing/2014/main" id="{310D4A2A-5DA6-4FDA-920C-34EE6CA6F08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8C4CCD-1362-4CC7-BA2D-0BEF6B3ABFE9}" type="slidenum">
              <a:rPr kumimoji="0" lang="en-US" sz="1200" b="0" i="0" u="none" strike="noStrike" kern="1200" cap="none" spc="0" normalizeH="0" baseline="0" noProof="0" smtClean="0">
                <a:ln>
                  <a:noFill/>
                </a:ln>
                <a:solidFill>
                  <a:srgbClr val="B58B80">
                    <a:lumMod val="50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dirty="0">
              <a:ln>
                <a:noFill/>
              </a:ln>
              <a:solidFill>
                <a:srgbClr val="B58B80">
                  <a:lumMod val="50000"/>
                </a:srgb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59960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E6F5393-6EB3-4EFB-97EA-10C486715C7D}"/>
              </a:ext>
            </a:extLst>
          </p:cNvPr>
          <p:cNvSpPr>
            <a:spLocks noGrp="1"/>
          </p:cNvSpPr>
          <p:nvPr>
            <p:ph idx="1"/>
          </p:nvPr>
        </p:nvSpPr>
        <p:spPr>
          <a:xfrm>
            <a:off x="314892" y="1600200"/>
            <a:ext cx="11414862" cy="5257800"/>
          </a:xfrm>
        </p:spPr>
        <p:txBody>
          <a:bodyPr>
            <a:normAutofit fontScale="55000" lnSpcReduction="20000"/>
          </a:bodyPr>
          <a:lstStyle/>
          <a:p>
            <a:pPr marL="45720" indent="0">
              <a:lnSpc>
                <a:spcPct val="120000"/>
              </a:lnSpc>
              <a:buNone/>
            </a:pPr>
            <a:r>
              <a:rPr lang="en-US" b="1" dirty="0"/>
              <a:t>Interactions with institutions:</a:t>
            </a:r>
            <a:endParaRPr lang="en-US" dirty="0"/>
          </a:p>
          <a:p>
            <a:pPr>
              <a:lnSpc>
                <a:spcPct val="120000"/>
              </a:lnSpc>
            </a:pPr>
            <a:r>
              <a:rPr lang="en-US" dirty="0"/>
              <a:t>Experience with college advisors was mixed</a:t>
            </a:r>
          </a:p>
          <a:p>
            <a:pPr>
              <a:lnSpc>
                <a:spcPct val="120000"/>
              </a:lnSpc>
            </a:pPr>
            <a:r>
              <a:rPr lang="en-US" dirty="0"/>
              <a:t>Institutions (even in same system) were not always well aligned to transfer credits</a:t>
            </a:r>
          </a:p>
          <a:p>
            <a:pPr>
              <a:lnSpc>
                <a:spcPct val="120000"/>
              </a:lnSpc>
            </a:pPr>
            <a:r>
              <a:rPr lang="en-US" dirty="0"/>
              <a:t>Some institutional structures for complaints/concerns, but many students were unaware </a:t>
            </a:r>
          </a:p>
          <a:p>
            <a:pPr>
              <a:lnSpc>
                <a:spcPct val="120000"/>
              </a:lnSpc>
            </a:pPr>
            <a:r>
              <a:rPr lang="en-US" dirty="0"/>
              <a:t>Professors varied in accommodating pregnant/parenting students</a:t>
            </a:r>
          </a:p>
          <a:p>
            <a:pPr>
              <a:lnSpc>
                <a:spcPct val="120000"/>
              </a:lnSpc>
            </a:pPr>
            <a:r>
              <a:rPr lang="en-US" dirty="0"/>
              <a:t>Online courses improved accessibility, but some had poor instruction, inaccessible testing conditions, or in-person meetings</a:t>
            </a:r>
          </a:p>
          <a:p>
            <a:pPr marL="45720" indent="0">
              <a:lnSpc>
                <a:spcPct val="120000"/>
              </a:lnSpc>
              <a:buNone/>
            </a:pPr>
            <a:r>
              <a:rPr lang="en-US" b="1" dirty="0"/>
              <a:t>Parent time with children:</a:t>
            </a:r>
            <a:endParaRPr lang="en-US" dirty="0"/>
          </a:p>
          <a:p>
            <a:pPr>
              <a:lnSpc>
                <a:spcPct val="120000"/>
              </a:lnSpc>
            </a:pPr>
            <a:r>
              <a:rPr lang="en-US" dirty="0"/>
              <a:t>All women faced trade-offs between education, employment, &amp; time with children—and they often spent less time with children than desired</a:t>
            </a:r>
          </a:p>
          <a:p>
            <a:pPr>
              <a:lnSpc>
                <a:spcPct val="120000"/>
              </a:lnSpc>
            </a:pPr>
            <a:r>
              <a:rPr lang="en-US" dirty="0"/>
              <a:t>Re-enrollment was a chance to set example for children &amp; gain knowledge/skills </a:t>
            </a:r>
          </a:p>
          <a:p>
            <a:pPr>
              <a:lnSpc>
                <a:spcPct val="120000"/>
              </a:lnSpc>
            </a:pPr>
            <a:r>
              <a:rPr lang="en-US" dirty="0"/>
              <a:t>Engaging with children’s schooling was important—some gained confidence/skills</a:t>
            </a:r>
          </a:p>
          <a:p>
            <a:pPr>
              <a:lnSpc>
                <a:spcPct val="120000"/>
              </a:lnSpc>
            </a:pPr>
            <a:r>
              <a:rPr lang="en-US" dirty="0"/>
              <a:t>Children’s fathers sometimes did more child &amp; house care</a:t>
            </a:r>
          </a:p>
          <a:p>
            <a:pPr marL="45720" indent="0">
              <a:lnSpc>
                <a:spcPct val="120000"/>
              </a:lnSpc>
              <a:buNone/>
            </a:pPr>
            <a:r>
              <a:rPr lang="en-US" b="1" dirty="0"/>
              <a:t>Child care:</a:t>
            </a:r>
            <a:endParaRPr lang="en-US" dirty="0"/>
          </a:p>
          <a:p>
            <a:pPr>
              <a:lnSpc>
                <a:spcPct val="120000"/>
              </a:lnSpc>
            </a:pPr>
            <a:r>
              <a:rPr lang="en-US" dirty="0"/>
              <a:t>Safe, reliable, affordable care was a perpetual challenge—many used family care</a:t>
            </a:r>
          </a:p>
          <a:p>
            <a:pPr>
              <a:lnSpc>
                <a:spcPct val="120000"/>
              </a:lnSpc>
            </a:pPr>
            <a:r>
              <a:rPr lang="en-US" dirty="0"/>
              <a:t>Cost &amp; scheduling limited access to higher quality care</a:t>
            </a:r>
          </a:p>
        </p:txBody>
      </p:sp>
      <p:sp>
        <p:nvSpPr>
          <p:cNvPr id="4" name="Title 3">
            <a:extLst>
              <a:ext uri="{FF2B5EF4-FFF2-40B4-BE49-F238E27FC236}">
                <a16:creationId xmlns:a16="http://schemas.microsoft.com/office/drawing/2014/main" id="{CF122FA7-B63E-40E2-8381-96D0E0FE2109}"/>
              </a:ext>
            </a:extLst>
          </p:cNvPr>
          <p:cNvSpPr>
            <a:spLocks noGrp="1"/>
          </p:cNvSpPr>
          <p:nvPr>
            <p:ph type="title"/>
          </p:nvPr>
        </p:nvSpPr>
        <p:spPr/>
        <p:txBody>
          <a:bodyPr/>
          <a:lstStyle/>
          <a:p>
            <a:r>
              <a:rPr lang="en-US" dirty="0"/>
              <a:t>Qualitative findings 3</a:t>
            </a:r>
          </a:p>
        </p:txBody>
      </p:sp>
      <p:sp>
        <p:nvSpPr>
          <p:cNvPr id="3" name="Slide Number Placeholder 2">
            <a:extLst>
              <a:ext uri="{FF2B5EF4-FFF2-40B4-BE49-F238E27FC236}">
                <a16:creationId xmlns:a16="http://schemas.microsoft.com/office/drawing/2014/main" id="{8A1CC13B-0F59-4F5D-A016-842B281EEF7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8C4CCD-1362-4CC7-BA2D-0BEF6B3ABFE9}" type="slidenum">
              <a:rPr kumimoji="0" lang="en-US" sz="1200" b="0" i="0" u="none" strike="noStrike" kern="1200" cap="none" spc="0" normalizeH="0" baseline="0" noProof="0" smtClean="0">
                <a:ln>
                  <a:noFill/>
                </a:ln>
                <a:solidFill>
                  <a:srgbClr val="B58B80">
                    <a:lumMod val="50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dirty="0">
              <a:ln>
                <a:noFill/>
              </a:ln>
              <a:solidFill>
                <a:srgbClr val="B58B80">
                  <a:lumMod val="50000"/>
                </a:srgb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09793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172ED-6022-AED2-45DD-EA3D9D612BAA}"/>
              </a:ext>
            </a:extLst>
          </p:cNvPr>
          <p:cNvSpPr>
            <a:spLocks noGrp="1"/>
          </p:cNvSpPr>
          <p:nvPr>
            <p:ph type="title"/>
          </p:nvPr>
        </p:nvSpPr>
        <p:spPr/>
        <p:txBody>
          <a:bodyPr/>
          <a:lstStyle/>
          <a:p>
            <a:r>
              <a:rPr lang="en-US" dirty="0"/>
              <a:t>Basic needs insecurity among student-parents, 2019</a:t>
            </a:r>
          </a:p>
        </p:txBody>
      </p:sp>
      <p:sp>
        <p:nvSpPr>
          <p:cNvPr id="3" name="Content Placeholder 2">
            <a:extLst>
              <a:ext uri="{FF2B5EF4-FFF2-40B4-BE49-F238E27FC236}">
                <a16:creationId xmlns:a16="http://schemas.microsoft.com/office/drawing/2014/main" id="{09F94E24-2250-98E1-183E-2AC9D5209C78}"/>
              </a:ext>
            </a:extLst>
          </p:cNvPr>
          <p:cNvSpPr>
            <a:spLocks noGrp="1"/>
          </p:cNvSpPr>
          <p:nvPr>
            <p:ph idx="1"/>
          </p:nvPr>
        </p:nvSpPr>
        <p:spPr>
          <a:xfrm>
            <a:off x="457200" y="6090731"/>
            <a:ext cx="11277600" cy="467738"/>
          </a:xfrm>
        </p:spPr>
        <p:txBody>
          <a:bodyPr>
            <a:normAutofit/>
          </a:bodyPr>
          <a:lstStyle/>
          <a:p>
            <a:pPr marL="0" indent="0">
              <a:buNone/>
            </a:pPr>
            <a:r>
              <a:rPr lang="en-US" sz="1800" dirty="0">
                <a:solidFill>
                  <a:schemeClr val="tx1">
                    <a:lumMod val="50000"/>
                  </a:schemeClr>
                </a:solidFill>
                <a:latin typeface="+mj-lt"/>
              </a:rPr>
              <a:t>From Baker-Smith et al. (2020)</a:t>
            </a:r>
          </a:p>
        </p:txBody>
      </p:sp>
      <p:graphicFrame>
        <p:nvGraphicFramePr>
          <p:cNvPr id="6" name="Chart 5">
            <a:extLst>
              <a:ext uri="{FF2B5EF4-FFF2-40B4-BE49-F238E27FC236}">
                <a16:creationId xmlns:a16="http://schemas.microsoft.com/office/drawing/2014/main" id="{53E41E83-1604-7F14-EB38-27C0590C465F}"/>
              </a:ext>
            </a:extLst>
          </p:cNvPr>
          <p:cNvGraphicFramePr/>
          <p:nvPr>
            <p:extLst>
              <p:ext uri="{D42A27DB-BD31-4B8C-83A1-F6EECF244321}">
                <p14:modId xmlns:p14="http://schemas.microsoft.com/office/powerpoint/2010/main" val="3515200342"/>
              </p:ext>
            </p:extLst>
          </p:nvPr>
        </p:nvGraphicFramePr>
        <p:xfrm>
          <a:off x="457200" y="1147864"/>
          <a:ext cx="11277600" cy="4837889"/>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668917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graphicEl>
                                              <a:chart seriesIdx="-3" categoryIdx="-3" bldStep="gridLegend"/>
                                            </p:graphicEl>
                                          </p:spTgt>
                                        </p:tgtEl>
                                        <p:attrNameLst>
                                          <p:attrName>style.visibility</p:attrName>
                                        </p:attrNameLst>
                                      </p:cBhvr>
                                      <p:to>
                                        <p:strVal val="visible"/>
                                      </p:to>
                                    </p:set>
                                    <p:animEffect transition="in" filter="fade">
                                      <p:cBhvr>
                                        <p:cTn id="7" dur="500"/>
                                        <p:tgtEl>
                                          <p:spTgt spid="6">
                                            <p:graphicEl>
                                              <a:chart seriesIdx="-3" categoryIdx="-3" bldStep="gridLegend"/>
                                            </p:graphic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graphicEl>
                                              <a:chart seriesIdx="0" categoryIdx="0" bldStep="ptInCategory"/>
                                            </p:graphicEl>
                                          </p:spTgt>
                                        </p:tgtEl>
                                        <p:attrNameLst>
                                          <p:attrName>style.visibility</p:attrName>
                                        </p:attrNameLst>
                                      </p:cBhvr>
                                      <p:to>
                                        <p:strVal val="visible"/>
                                      </p:to>
                                    </p:set>
                                    <p:animEffect transition="in" filter="fade">
                                      <p:cBhvr>
                                        <p:cTn id="11" dur="500"/>
                                        <p:tgtEl>
                                          <p:spTgt spid="6">
                                            <p:graphicEl>
                                              <a:chart seriesIdx="0" categoryIdx="0" bldStep="ptInCategory"/>
                                            </p:graphic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6">
                                            <p:graphicEl>
                                              <a:chart seriesIdx="1" categoryIdx="0" bldStep="ptInCategory"/>
                                            </p:graphicEl>
                                          </p:spTgt>
                                        </p:tgtEl>
                                        <p:attrNameLst>
                                          <p:attrName>style.visibility</p:attrName>
                                        </p:attrNameLst>
                                      </p:cBhvr>
                                      <p:to>
                                        <p:strVal val="visible"/>
                                      </p:to>
                                    </p:set>
                                    <p:animEffect transition="in" filter="fade">
                                      <p:cBhvr>
                                        <p:cTn id="15" dur="500"/>
                                        <p:tgtEl>
                                          <p:spTgt spid="6">
                                            <p:graphicEl>
                                              <a:chart seriesIdx="1" categoryIdx="0" bldStep="ptInCategory"/>
                                            </p:graphicEl>
                                          </p:spTgt>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6">
                                            <p:graphicEl>
                                              <a:chart seriesIdx="0" categoryIdx="1" bldStep="ptInCategory"/>
                                            </p:graphicEl>
                                          </p:spTgt>
                                        </p:tgtEl>
                                        <p:attrNameLst>
                                          <p:attrName>style.visibility</p:attrName>
                                        </p:attrNameLst>
                                      </p:cBhvr>
                                      <p:to>
                                        <p:strVal val="visible"/>
                                      </p:to>
                                    </p:set>
                                    <p:animEffect transition="in" filter="fade">
                                      <p:cBhvr>
                                        <p:cTn id="19" dur="500"/>
                                        <p:tgtEl>
                                          <p:spTgt spid="6">
                                            <p:graphicEl>
                                              <a:chart seriesIdx="0" categoryIdx="1" bldStep="ptInCategory"/>
                                            </p:graphicEl>
                                          </p:spTgt>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6">
                                            <p:graphicEl>
                                              <a:chart seriesIdx="1" categoryIdx="1" bldStep="ptInCategory"/>
                                            </p:graphicEl>
                                          </p:spTgt>
                                        </p:tgtEl>
                                        <p:attrNameLst>
                                          <p:attrName>style.visibility</p:attrName>
                                        </p:attrNameLst>
                                      </p:cBhvr>
                                      <p:to>
                                        <p:strVal val="visible"/>
                                      </p:to>
                                    </p:set>
                                    <p:animEffect transition="in" filter="fade">
                                      <p:cBhvr>
                                        <p:cTn id="23" dur="500"/>
                                        <p:tgtEl>
                                          <p:spTgt spid="6">
                                            <p:graphicEl>
                                              <a:chart seriesIdx="1" categoryIdx="1" bldStep="ptInCategory"/>
                                            </p:graphicEl>
                                          </p:spTgt>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6">
                                            <p:graphicEl>
                                              <a:chart seriesIdx="0" categoryIdx="2" bldStep="ptInCategory"/>
                                            </p:graphicEl>
                                          </p:spTgt>
                                        </p:tgtEl>
                                        <p:attrNameLst>
                                          <p:attrName>style.visibility</p:attrName>
                                        </p:attrNameLst>
                                      </p:cBhvr>
                                      <p:to>
                                        <p:strVal val="visible"/>
                                      </p:to>
                                    </p:set>
                                    <p:animEffect transition="in" filter="fade">
                                      <p:cBhvr>
                                        <p:cTn id="27" dur="500"/>
                                        <p:tgtEl>
                                          <p:spTgt spid="6">
                                            <p:graphicEl>
                                              <a:chart seriesIdx="0" categoryIdx="2" bldStep="ptInCategory"/>
                                            </p:graphicEl>
                                          </p:spTgt>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6">
                                            <p:graphicEl>
                                              <a:chart seriesIdx="1" categoryIdx="2" bldStep="ptInCategory"/>
                                            </p:graphicEl>
                                          </p:spTgt>
                                        </p:tgtEl>
                                        <p:attrNameLst>
                                          <p:attrName>style.visibility</p:attrName>
                                        </p:attrNameLst>
                                      </p:cBhvr>
                                      <p:to>
                                        <p:strVal val="visible"/>
                                      </p:to>
                                    </p:set>
                                    <p:animEffect transition="in" filter="fade">
                                      <p:cBhvr>
                                        <p:cTn id="31" dur="500"/>
                                        <p:tgtEl>
                                          <p:spTgt spid="6">
                                            <p:graphicEl>
                                              <a:chart seriesIdx="1" categoryIdx="2" bldStep="ptInCategory"/>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uiExpand="1">
        <p:bldSub>
          <a:bldChart bld="categoryEl"/>
        </p:bldSub>
      </p:bldGraphic>
    </p:bldLst>
  </p:timing>
</p:sld>
</file>

<file path=ppt/theme/theme1.xml><?xml version="1.0" encoding="utf-8"?>
<a:theme xmlns:a="http://schemas.openxmlformats.org/drawingml/2006/main" name="Urban">
  <a:themeElements>
    <a:clrScheme name="Custom 2">
      <a:dk1>
        <a:srgbClr val="494546"/>
      </a:dk1>
      <a:lt1>
        <a:srgbClr val="FFFFFF"/>
      </a:lt1>
      <a:dk2>
        <a:srgbClr val="1A8ECE"/>
      </a:dk2>
      <a:lt2>
        <a:srgbClr val="FFFFFF"/>
      </a:lt2>
      <a:accent1>
        <a:srgbClr val="169CEC"/>
      </a:accent1>
      <a:accent2>
        <a:srgbClr val="C8C8C8"/>
      </a:accent2>
      <a:accent3>
        <a:srgbClr val="FCB300"/>
      </a:accent3>
      <a:accent4>
        <a:srgbClr val="E50178"/>
      </a:accent4>
      <a:accent5>
        <a:srgbClr val="44AD32"/>
      </a:accent5>
      <a:accent6>
        <a:srgbClr val="D31117"/>
      </a:accent6>
      <a:hlink>
        <a:srgbClr val="169CEC"/>
      </a:hlink>
      <a:folHlink>
        <a:srgbClr val="169CEC"/>
      </a:folHlink>
    </a:clrScheme>
    <a:fontScheme name="Urban">
      <a:majorFont>
        <a:latin typeface="Lato"/>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rban" id="{B4985674-C79F-4741-A229-74964E934EE1}" vid="{EC5C319E-6C63-452E-B094-C34C0AA33194}"/>
    </a:ext>
  </a:extLst>
</a:theme>
</file>

<file path=ppt/theme/theme2.xml><?xml version="1.0" encoding="utf-8"?>
<a:theme xmlns:a="http://schemas.openxmlformats.org/drawingml/2006/main" name="Employee orientation presentation">
  <a:themeElements>
    <a:clrScheme name="Yellow Orange">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Cambria-Calibri">
      <a:majorFont>
        <a:latin typeface="Cambria" panose="02040503050406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dirty="0"/>
        </a:defPPr>
      </a:lstStyle>
      <a:style>
        <a:lnRef idx="1">
          <a:schemeClr val="accent2"/>
        </a:lnRef>
        <a:fillRef idx="2">
          <a:schemeClr val="accent2"/>
        </a:fillRef>
        <a:effectRef idx="1">
          <a:schemeClr val="accent2"/>
        </a:effectRef>
        <a:fontRef idx="minor">
          <a:schemeClr val="dk1"/>
        </a:fontRef>
      </a:style>
    </a:spDef>
    <a:lnDef>
      <a:spPr/>
      <a:bodyPr/>
      <a:lstStyle/>
      <a:style>
        <a:lnRef idx="1">
          <a:schemeClr val="accent2"/>
        </a:lnRef>
        <a:fillRef idx="0">
          <a:schemeClr val="accent2"/>
        </a:fillRef>
        <a:effectRef idx="0">
          <a:schemeClr val="accent2"/>
        </a:effectRef>
        <a:fontRef idx="minor">
          <a:schemeClr val="tx1"/>
        </a:fontRef>
      </a:style>
    </a:lnDef>
    <a:txDef>
      <a:spPr>
        <a:ln>
          <a:solidFill>
            <a:schemeClr val="accent2"/>
          </a:solidFill>
        </a:ln>
      </a:spPr>
      <a:bodyPr wrap="square" rtlCol="0" anchor="ctr" anchorCtr="1">
        <a:spAutoFit/>
      </a:bodyPr>
      <a:lstStyle>
        <a:defPPr>
          <a:defRPr dirty="0"/>
        </a:defPPr>
      </a:lstStyle>
      <a:style>
        <a:lnRef idx="2">
          <a:schemeClr val="accent2"/>
        </a:lnRef>
        <a:fillRef idx="1">
          <a:schemeClr val="lt1"/>
        </a:fillRef>
        <a:effectRef idx="0">
          <a:schemeClr val="accent2"/>
        </a:effectRef>
        <a:fontRef idx="minor">
          <a:schemeClr val="dk1"/>
        </a:fontRef>
      </a:style>
    </a:txDef>
  </a:objectDefaults>
  <a:extraClrSchemeLst/>
  <a:extLst>
    <a:ext uri="{05A4C25C-085E-4340-85A3-A5531E510DB2}">
      <thm15:themeFamily xmlns:thm15="http://schemas.microsoft.com/office/thememl/2012/main" name="Employee orientation presentation.potx" id="{491EEBB4-C6D7-44F0-B46D-F66FCB26A43F}" vid="{9EC79041-D990-4C58-BA79-875FFA2E4A37}"/>
    </a:ext>
  </a:extLst>
</a:theme>
</file>

<file path=ppt/theme/theme3.xml><?xml version="1.0" encoding="utf-8"?>
<a:theme xmlns:a="http://schemas.openxmlformats.org/drawingml/2006/main" name="Office Theme">
  <a:themeElements>
    <a:clrScheme name="Custom 115">
      <a:dk1>
        <a:sysClr val="windowText" lastClr="000000"/>
      </a:dk1>
      <a:lt1>
        <a:sysClr val="window" lastClr="FFFFFF"/>
      </a:lt1>
      <a:dk2>
        <a:srgbClr val="F36E36"/>
      </a:dk2>
      <a:lt2>
        <a:srgbClr val="E7E6E6"/>
      </a:lt2>
      <a:accent1>
        <a:srgbClr val="A31312"/>
      </a:accent1>
      <a:accent2>
        <a:srgbClr val="E7E6E6"/>
      </a:accent2>
      <a:accent3>
        <a:srgbClr val="FDB913"/>
      </a:accent3>
      <a:accent4>
        <a:srgbClr val="1E753B"/>
      </a:accent4>
      <a:accent5>
        <a:srgbClr val="067CA2"/>
      </a:accent5>
      <a:accent6>
        <a:srgbClr val="493456"/>
      </a:accent6>
      <a:hlink>
        <a:srgbClr val="067CA2"/>
      </a:hlink>
      <a:folHlink>
        <a:srgbClr val="886D93"/>
      </a:folHlink>
    </a:clrScheme>
    <a:fontScheme name="Custom 8">
      <a:majorFont>
        <a:latin typeface="Segoe UI"/>
        <a:ea typeface=""/>
        <a:cs typeface=""/>
      </a:majorFont>
      <a:minorFont>
        <a:latin typeface="Segoe UI"/>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44967531_win32_mlw v2" id="{D6E82B91-6E0A-4ADE-ABDF-7A3107FF5DC0}" vid="{FDF63795-6842-4874-86B5-D3F4150A0B07}"/>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8" ma:contentTypeDescription="Create a new document." ma:contentTypeScope="" ma:versionID="15adbd330118f8d06bc6615d15ac85a9">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f6a41e235a72bf34fead84cba91ed4b2"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a2657dd-b8a5-4c99-8d51-b0b9d254c989">
      <Terms xmlns="http://schemas.microsoft.com/office/infopath/2007/PartnerControls"/>
    </lcf76f155ced4ddcb4097134ff3c332f>
    <TaxCatchAll xmlns="5ba80a41-9917-4a22-8f13-cb051ddce64c" xsi:nil="true"/>
  </documentManagement>
</p:properties>
</file>

<file path=customXml/itemProps1.xml><?xml version="1.0" encoding="utf-8"?>
<ds:datastoreItem xmlns:ds="http://schemas.openxmlformats.org/officeDocument/2006/customXml" ds:itemID="{14F086D9-0A34-41A2-9314-71AF9C7E1F6E}"/>
</file>

<file path=customXml/itemProps2.xml><?xml version="1.0" encoding="utf-8"?>
<ds:datastoreItem xmlns:ds="http://schemas.openxmlformats.org/officeDocument/2006/customXml" ds:itemID="{0284A78A-918D-4BEF-A451-F34960E84159}"/>
</file>

<file path=customXml/itemProps3.xml><?xml version="1.0" encoding="utf-8"?>
<ds:datastoreItem xmlns:ds="http://schemas.openxmlformats.org/officeDocument/2006/customXml" ds:itemID="{0C826F88-A88A-449D-9897-F62186D124EB}"/>
</file>

<file path=docProps/app.xml><?xml version="1.0" encoding="utf-8"?>
<Properties xmlns="http://schemas.openxmlformats.org/officeDocument/2006/extended-properties" xmlns:vt="http://schemas.openxmlformats.org/officeDocument/2006/docPropsVTypes">
  <Template>Urban</Template>
  <TotalTime>2067</TotalTime>
  <Words>5089</Words>
  <Application>Microsoft Office PowerPoint</Application>
  <PresentationFormat>Widescreen</PresentationFormat>
  <Paragraphs>360</Paragraphs>
  <Slides>27</Slides>
  <Notes>20</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27</vt:i4>
      </vt:variant>
    </vt:vector>
  </HeadingPairs>
  <TitlesOfParts>
    <vt:vector size="37" baseType="lpstr">
      <vt:lpstr>Amasis MT Pro Black</vt:lpstr>
      <vt:lpstr>Arial</vt:lpstr>
      <vt:lpstr>Calibri</vt:lpstr>
      <vt:lpstr>Cambria</vt:lpstr>
      <vt:lpstr>Lato</vt:lpstr>
      <vt:lpstr>Segoe UI</vt:lpstr>
      <vt:lpstr>Wingdings</vt:lpstr>
      <vt:lpstr>Urban</vt:lpstr>
      <vt:lpstr>Employee orientation presentation</vt:lpstr>
      <vt:lpstr>Office Theme</vt:lpstr>
      <vt:lpstr>Data, Evaluation, &amp; Policy at a Nonprofit Research Organization</vt:lpstr>
      <vt:lpstr>PowerPoint Presentation</vt:lpstr>
      <vt:lpstr>Starting with the data &amp; research</vt:lpstr>
      <vt:lpstr>Because I can’t resist…Who are student-mothers?</vt:lpstr>
      <vt:lpstr>The research</vt:lpstr>
      <vt:lpstr>A few data considerations</vt:lpstr>
      <vt:lpstr>Findings</vt:lpstr>
      <vt:lpstr>PowerPoint Presentation</vt:lpstr>
      <vt:lpstr>Findings for mothers</vt:lpstr>
      <vt:lpstr>Findings for children</vt:lpstr>
      <vt:lpstr>Overall summary</vt:lpstr>
      <vt:lpstr>Summary of qualitative findings</vt:lpstr>
      <vt:lpstr>Policy wheels while parents are enrolled:  Campus culture &amp; advising</vt:lpstr>
      <vt:lpstr>Policy wheels while parents are enrolled:  Child care &amp; financial support</vt:lpstr>
      <vt:lpstr>Policy wheels while parents are enrolled:  Social support</vt:lpstr>
      <vt:lpstr>Pausing for questions about the research…</vt:lpstr>
      <vt:lpstr>Back to the story – &amp; backing up a little</vt:lpstr>
      <vt:lpstr>The Urban Institute</vt:lpstr>
      <vt:lpstr>Building blocks to get here</vt:lpstr>
      <vt:lpstr>So, going back to student parents</vt:lpstr>
      <vt:lpstr>Student-Parent Action through Research Knowledge (SPARK)</vt:lpstr>
      <vt:lpstr>Looking forward</vt:lpstr>
      <vt:lpstr>Thank you!</vt:lpstr>
      <vt:lpstr>Qualitative findings 1</vt:lpstr>
      <vt:lpstr>Qualitative findings 2</vt:lpstr>
      <vt:lpstr>Qualitative findings 3</vt:lpstr>
      <vt:lpstr>Basic needs insecurity among student-parents, 2019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 Mothers and Families</dc:title>
  <dc:creator>Theresa Anderson</dc:creator>
  <cp:lastModifiedBy>Theresa Anderson</cp:lastModifiedBy>
  <cp:revision>21</cp:revision>
  <dcterms:created xsi:type="dcterms:W3CDTF">2022-06-22T00:11:24Z</dcterms:created>
  <dcterms:modified xsi:type="dcterms:W3CDTF">2023-07-19T14:06:45Z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0x010100D45AE3D1135F4E41AB498540A40487BD</vt:lpwstr>
  </property>
  <property fmtid="{D5CDD505-2E9C-101B-9397-08002B2CF9AE}" pid="3" name="MediaServiceImageTags">
    <vt:lpwstr/>
  </property>
</Properties>
</file>