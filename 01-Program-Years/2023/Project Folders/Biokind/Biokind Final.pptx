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4"/>
    <p:sldMasterId id="2147483698" r:id="rId5"/>
  </p:sldMasterIdLst>
  <p:notesMasterIdLst>
    <p:notesMasterId r:id="rId25"/>
  </p:notesMasterIdLst>
  <p:sldIdLst>
    <p:sldId id="270" r:id="rId6"/>
    <p:sldId id="269" r:id="rId7"/>
    <p:sldId id="268" r:id="rId8"/>
    <p:sldId id="267" r:id="rId9"/>
    <p:sldId id="271" r:id="rId10"/>
    <p:sldId id="266" r:id="rId11"/>
    <p:sldId id="265" r:id="rId12"/>
    <p:sldId id="273" r:id="rId13"/>
    <p:sldId id="272" r:id="rId14"/>
    <p:sldId id="259" r:id="rId15"/>
    <p:sldId id="274" r:id="rId16"/>
    <p:sldId id="276" r:id="rId17"/>
    <p:sldId id="277" r:id="rId18"/>
    <p:sldId id="280" r:id="rId19"/>
    <p:sldId id="282" r:id="rId20"/>
    <p:sldId id="281" r:id="rId21"/>
    <p:sldId id="257" r:id="rId22"/>
    <p:sldId id="284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13D3A-4DF8-2766-6F03-B0B0B2BC8000}" v="91" dt="2023-08-01T18:35:12.270"/>
    <p1510:client id="{071A7E08-72C7-FEDE-E5F7-CA0C01EEB3A0}" v="115" dt="2023-08-03T03:12:47.678"/>
    <p1510:client id="{0CAE3A82-F5AA-CAF1-8785-16B90CEE56B3}" v="106" dt="2023-08-01T18:09:51.604"/>
    <p1510:client id="{1A983B48-9088-0A67-D55E-0E669B078E20}" v="16" dt="2023-08-01T18:14:13.452"/>
    <p1510:client id="{2506B742-E8F3-550E-0C1C-FF04CE82EACE}" v="220" dt="2023-08-03T16:03:25.744"/>
    <p1510:client id="{270A0EEF-0F0A-90D2-094E-977ED200BA8A}" v="162" dt="2023-07-31T20:23:35.808"/>
    <p1510:client id="{2BDFD835-A65D-2DC4-A41B-A88FCE63EE70}" v="212" dt="2023-08-01T15:38:49.117"/>
    <p1510:client id="{4769CC5E-8C4B-149A-B82F-C568C69D0F4E}" v="378" dt="2023-08-01T16:29:41.464"/>
    <p1510:client id="{4D22E495-9429-2AFB-B639-FBA4F7A0408A}" v="2" dt="2023-08-03T16:52:35.198"/>
    <p1510:client id="{60158215-B350-74B1-CCD6-B7282E3804B2}" v="5" dt="2023-07-31T19:42:38.372"/>
    <p1510:client id="{6AE0F07D-36D8-4BA1-B168-AB737F4AD968}" v="892" dt="2023-07-31T20:25:25.765"/>
    <p1510:client id="{7410A942-5C37-1221-03A0-0121FED1613A}" v="1" dt="2023-08-03T16:26:24.388"/>
    <p1510:client id="{85A9E3E6-985A-29DC-C6DC-DDD6B46BBF67}" v="93" dt="2023-08-01T18:14:31.702"/>
    <p1510:client id="{D998F37D-1372-4599-62E0-060D37C4E95C}" v="299" dt="2023-08-03T15:13:31.683"/>
    <p1510:client id="{DC2F88E7-A8EF-1ECC-4980-E102DBA609DA}" v="8" dt="2023-08-01T18:03:54.305"/>
    <p1510:client id="{E4591229-4491-4A7A-B09F-AA53B11119EA}" v="1" dt="2023-12-21T16:40:15.963"/>
    <p1510:client id="{F0099628-A9B7-0042-202B-58D237F6E02A}" v="8" dt="2023-08-02T21:01:29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rston, Joel (jt9sz)" userId="S::jt9sz@virginia.edu::0b817237-2e4a-4a07-ab95-9daea5bb5909" providerId="AD" clId="Web-{E4591229-4491-4A7A-B09F-AA53B11119EA}"/>
    <pc:docChg chg="modSld">
      <pc:chgData name="Thurston, Joel (jt9sz)" userId="S::jt9sz@virginia.edu::0b817237-2e4a-4a07-ab95-9daea5bb5909" providerId="AD" clId="Web-{E4591229-4491-4A7A-B09F-AA53B11119EA}" dt="2023-12-21T16:40:15.963" v="0"/>
      <pc:docMkLst>
        <pc:docMk/>
      </pc:docMkLst>
      <pc:sldChg chg="delSp">
        <pc:chgData name="Thurston, Joel (jt9sz)" userId="S::jt9sz@virginia.edu::0b817237-2e4a-4a07-ab95-9daea5bb5909" providerId="AD" clId="Web-{E4591229-4491-4A7A-B09F-AA53B11119EA}" dt="2023-12-21T16:40:15.963" v="0"/>
        <pc:sldMkLst>
          <pc:docMk/>
          <pc:sldMk cId="4239393867" sldId="267"/>
        </pc:sldMkLst>
        <pc:spChg chg="del">
          <ac:chgData name="Thurston, Joel (jt9sz)" userId="S::jt9sz@virginia.edu::0b817237-2e4a-4a07-ab95-9daea5bb5909" providerId="AD" clId="Web-{E4591229-4491-4A7A-B09F-AA53B11119EA}" dt="2023-12-21T16:40:15.963" v="0"/>
          <ac:spMkLst>
            <pc:docMk/>
            <pc:sldMk cId="4239393867" sldId="267"/>
            <ac:spMk id="3" creationId="{0C669508-B678-CC3B-C865-88261A801C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F75F5-79A1-4359-B582-994D31F34220}" type="datetimeFigureOut">
              <a:t>12/21/2023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A345A-E640-4785-8D9C-DE78845047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2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8E8C4F-731C-F24D-9A9E-B4D5C84CE4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50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55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60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just">
              <a:spcBef>
                <a:spcPts val="600"/>
              </a:spcBef>
              <a:spcAft>
                <a:spcPts val="1200"/>
              </a:spcAft>
              <a:buFont typeface="Arial,Sans-Serif"/>
              <a:buChar char="•"/>
              <a:defRPr/>
            </a:pPr>
            <a:endParaRPr lang="en-US" baseline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0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39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29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27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03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38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55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94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3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24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857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2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87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Healthcare Charitable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2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2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rgbClr val="E46C0A"/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1817688"/>
            <a:ext cx="5419628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1817688"/>
            <a:ext cx="5264149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006426" y="1689100"/>
            <a:ext cx="4240107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7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18161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148951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28631-89F8-4743-8F8D-7241C0B82BD7}"/>
              </a:ext>
            </a:extLst>
          </p:cNvPr>
          <p:cNvSpPr txBox="1"/>
          <p:nvPr userDrawn="1"/>
        </p:nvSpPr>
        <p:spPr>
          <a:xfrm>
            <a:off x="10030265" y="6175717"/>
            <a:ext cx="1871003" cy="562708"/>
          </a:xfrm>
          <a:prstGeom prst="rect">
            <a:avLst/>
          </a:prstGeom>
          <a:solidFill>
            <a:srgbClr val="0D2F68"/>
          </a:solidFill>
          <a:ln>
            <a:solidFill>
              <a:srgbClr val="0D2F68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06BE33-76FB-A049-9082-7A272C45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144401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FAAE23-B945-A44D-88D8-6AA80210B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8" y="1017824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614D3B3-BF2F-9F4F-BB1A-90A09B1CB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3037"/>
            <a:ext cx="5384800" cy="4525963"/>
          </a:xfr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3037"/>
            <a:ext cx="5384800" cy="4525963"/>
          </a:xfr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8722480-E2DF-D84C-AFD3-6FEAD59F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998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85333" y="660400"/>
            <a:ext cx="9939867" cy="4965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baseline="0"/>
            </a:lvl1pPr>
          </a:lstStyle>
          <a:p>
            <a:r>
              <a:rPr lang="en-US"/>
              <a:t>Drag/Insert Image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85334" y="5786967"/>
            <a:ext cx="6468533" cy="40216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TITLE FOR IMAGE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1185333" y="6189127"/>
            <a:ext cx="9939867" cy="355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400"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Subtitle And Description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34024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77952" y="2743518"/>
            <a:ext cx="11814048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 u="heavy" cap="all" baseline="0">
                <a:solidFill>
                  <a:schemeClr val="bg1"/>
                </a:solidFill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OPTIONAL PRESENTATION 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77825" y="3503864"/>
            <a:ext cx="11814175" cy="4540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</a:lstStyle>
          <a:p>
            <a:r>
              <a:rPr lang="en-US" b="1" i="0" cap="all"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rPr>
              <a:t> OPTIONAL AUTHOR NAME</a:t>
            </a:r>
          </a:p>
        </p:txBody>
      </p:sp>
    </p:spTree>
    <p:extLst>
      <p:ext uri="{BB962C8B-B14F-4D97-AF65-F5344CB8AC3E}">
        <p14:creationId xmlns:p14="http://schemas.microsoft.com/office/powerpoint/2010/main" val="17382667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82757"/>
            <a:ext cx="12192000" cy="732883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5400">
                <a:solidFill>
                  <a:schemeClr val="bg1"/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289" y="2415639"/>
            <a:ext cx="12192000" cy="773112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44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12095" y="3644103"/>
            <a:ext cx="12192000" cy="419581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2800" baseline="0">
                <a:solidFill>
                  <a:schemeClr val="bg1"/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OPTIONAL AUTHOR NAME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063684"/>
            <a:ext cx="12192000" cy="346075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1600" b="0" i="1" baseline="0">
                <a:solidFill>
                  <a:schemeClr val="bg1"/>
                </a:solidFill>
                <a:latin typeface="ITC Franklin Gothic Std Book"/>
              </a:defRPr>
            </a:lvl1pPr>
          </a:lstStyle>
          <a:p>
            <a:pPr lvl="0"/>
            <a:r>
              <a:rPr lang="en-US"/>
              <a:t>August 27th, 2016</a:t>
            </a:r>
          </a:p>
        </p:txBody>
      </p:sp>
    </p:spTree>
    <p:extLst>
      <p:ext uri="{BB962C8B-B14F-4D97-AF65-F5344CB8AC3E}">
        <p14:creationId xmlns:p14="http://schemas.microsoft.com/office/powerpoint/2010/main" val="61471310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ushedge_solid_blue.png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" y="5194968"/>
            <a:ext cx="12192000" cy="16764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UVA_Primary_white.eps">
            <a:extLst>
              <a:ext uri="{FF2B5EF4-FFF2-40B4-BE49-F238E27FC236}">
                <a16:creationId xmlns:a16="http://schemas.microsoft.com/office/drawing/2014/main" id="{14E66DA3-969A-1E4A-9C04-CB30DE4BFDE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4180" y="6224048"/>
            <a:ext cx="1645920" cy="40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6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55" r:id="rId2"/>
    <p:sldLayoutId id="2147483756" r:id="rId3"/>
    <p:sldLayoutId id="2147483757" r:id="rId4"/>
    <p:sldLayoutId id="2147483758" r:id="rId5"/>
    <p:sldLayoutId id="2147483693" r:id="rId6"/>
    <p:sldLayoutId id="2147483692" r:id="rId7"/>
    <p:sldLayoutId id="2147483695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E47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482669" y="5126805"/>
            <a:ext cx="1603756" cy="10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1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D3508B-D3B7-427F-A522-848654520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682757"/>
            <a:ext cx="12192000" cy="732883"/>
          </a:xfrm>
        </p:spPr>
        <p:txBody>
          <a:bodyPr vert="horz" lIns="91440" tIns="45720" rIns="91440" bIns="45720" anchor="t"/>
          <a:lstStyle/>
          <a:p>
            <a:r>
              <a:rPr lang="en-US" b="1" err="1">
                <a:latin typeface="Calibri"/>
                <a:cs typeface="Calibri"/>
              </a:rPr>
              <a:t>BioKind</a:t>
            </a:r>
            <a:r>
              <a:rPr lang="en-US">
                <a:latin typeface="ITC Franklin Gothic Std Book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Analytics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69D511-ACFD-462B-B7FD-5A27EAD69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260605"/>
            <a:ext cx="12192000" cy="346075"/>
          </a:xfrm>
        </p:spPr>
        <p:txBody>
          <a:bodyPr vert="horz" lIns="91440" tIns="45720" rIns="91440" bIns="45720" anchor="t"/>
          <a:lstStyle/>
          <a:p>
            <a:r>
              <a:rPr lang="en-US"/>
              <a:t>28 June 2023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1226B-9723-384F-909B-D7A1E0928151}"/>
              </a:ext>
            </a:extLst>
          </p:cNvPr>
          <p:cNvSpPr txBox="1"/>
          <p:nvPr/>
        </p:nvSpPr>
        <p:spPr>
          <a:xfrm>
            <a:off x="793019" y="2300827"/>
            <a:ext cx="11205798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endParaRPr lang="en-US" sz="2400" b="1">
              <a:solidFill>
                <a:schemeClr val="bg1"/>
              </a:solidFill>
              <a:latin typeface="Calibri"/>
              <a:cs typeface="Calibri"/>
            </a:endParaRPr>
          </a:p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  <a:latin typeface="Calibri"/>
                <a:cs typeface="Calibri"/>
              </a:rPr>
              <a:t>Data Science for the Public Good Internship Program </a:t>
            </a:r>
          </a:p>
          <a:p>
            <a:pPr algn="ctr">
              <a:defRPr/>
            </a:pPr>
            <a:endParaRPr lang="en-US" sz="2400" b="1">
              <a:solidFill>
                <a:schemeClr val="bg1"/>
              </a:solidFill>
              <a:latin typeface="Calibri"/>
              <a:cs typeface="Calibri"/>
            </a:endParaRPr>
          </a:p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  <a:latin typeface="Calibri"/>
                <a:cs typeface="Calibri"/>
              </a:rPr>
              <a:t>UVA Biocomplexity</a:t>
            </a:r>
          </a:p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  <a:latin typeface="Calibri"/>
                <a:cs typeface="Calibri"/>
              </a:rPr>
              <a:t>Social and Decision Analytics Division </a:t>
            </a:r>
          </a:p>
        </p:txBody>
      </p:sp>
    </p:spTree>
    <p:extLst>
      <p:ext uri="{BB962C8B-B14F-4D97-AF65-F5344CB8AC3E}">
        <p14:creationId xmlns:p14="http://schemas.microsoft.com/office/powerpoint/2010/main" val="3184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891CF4-A707-D034-BB1A-20147F3167FF}"/>
              </a:ext>
            </a:extLst>
          </p:cNvPr>
          <p:cNvSpPr txBox="1">
            <a:spLocks/>
          </p:cNvSpPr>
          <p:nvPr/>
        </p:nvSpPr>
        <p:spPr>
          <a:xfrm>
            <a:off x="79396" y="157831"/>
            <a:ext cx="12192000" cy="64466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Project Team </a:t>
            </a:r>
            <a:endParaRPr lang="en-US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EB64AE-F81C-103B-8690-DF1AC0B2D523}"/>
              </a:ext>
            </a:extLst>
          </p:cNvPr>
          <p:cNvSpPr txBox="1">
            <a:spLocks/>
          </p:cNvSpPr>
          <p:nvPr/>
        </p:nvSpPr>
        <p:spPr>
          <a:xfrm>
            <a:off x="477078" y="976199"/>
            <a:ext cx="11396636" cy="506021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/>
              <a:buNone/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University of Virginia, Biocomplexity Institute, Social and Decision Analytics</a:t>
            </a:r>
            <a:endParaRPr lang="en-US" sz="1750">
              <a:solidFill>
                <a:srgbClr val="00206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/>
              <a:buNone/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DSPG, University of Virginia, Biocomplexity Institute, Social and Decision Analytics</a:t>
            </a: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Anjali Mehta, Third Year @ UVA (CS Engineering &amp; DS)</a:t>
            </a: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Prashanth Wagle, Grad Student @ UVA (CS)</a:t>
            </a: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Trinity Chamblin, Second Year @ UVA (Stats &amp; CS)</a:t>
            </a: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Annie Xie, Grad Student @ CMU (Policy &amp; DA)</a:t>
            </a: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Steve Zhou, Fourth Year @ UVA (CS &amp; Math)</a:t>
            </a: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Sara Shallenberger, Third Year @ Carleton College (Stats)</a:t>
            </a: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Marijke van der Geer, Fourth Year @ SDSU (Stats &amp; DS)</a:t>
            </a: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Nakshatra Yalagach, Grad Student @UVA (CS) </a:t>
            </a:r>
          </a:p>
          <a:p>
            <a:pPr>
              <a:lnSpc>
                <a:spcPct val="100000"/>
              </a:lnSpc>
            </a:pPr>
            <a:r>
              <a:rPr lang="en-US" sz="1750" err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Jianing</a:t>
            </a:r>
            <a:r>
              <a:rPr lang="en-US" sz="175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 Cai, Fourth Year @ UVA (CS &amp; Math)</a:t>
            </a:r>
            <a:endParaRPr lang="en-US" sz="1750">
              <a:solidFill>
                <a:srgbClr val="00206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750">
                <a:solidFill>
                  <a:srgbClr val="002060"/>
                </a:solidFill>
                <a:latin typeface="Calibri"/>
                <a:cs typeface="Arial"/>
              </a:rPr>
              <a:t>Kate Lanman, Third Year @ Northeastern (DS &amp; Math)</a:t>
            </a:r>
            <a:endParaRPr lang="en-US" sz="1750">
              <a:solidFill>
                <a:srgbClr val="002060"/>
              </a:solidFill>
              <a:latin typeface="Calibri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1750">
              <a:solidFill>
                <a:srgbClr val="002060"/>
              </a:solidFill>
              <a:latin typeface="Calibri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1900">
              <a:solidFill>
                <a:srgbClr val="002060"/>
              </a:solidFill>
              <a:latin typeface="Calibri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1900">
              <a:solidFill>
                <a:srgbClr val="002060"/>
              </a:solidFill>
              <a:latin typeface="Calibri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900">
              <a:solidFill>
                <a:srgbClr val="002060"/>
              </a:solidFill>
              <a:latin typeface="Calibri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033527-CAB7-6EE3-773D-595A33D3BB10}"/>
              </a:ext>
            </a:extLst>
          </p:cNvPr>
          <p:cNvSpPr txBox="1"/>
          <p:nvPr/>
        </p:nvSpPr>
        <p:spPr>
          <a:xfrm>
            <a:off x="694087" y="5730652"/>
            <a:ext cx="522918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Sponsored by Alex Han, CEO of </a:t>
            </a:r>
            <a:r>
              <a:rPr lang="en-US" b="1" err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Biokind</a:t>
            </a:r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 Analytics</a:t>
            </a:r>
            <a:endParaRPr lang="en-US" b="1">
              <a:solidFill>
                <a:srgbClr val="002060"/>
              </a:solidFill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E581D-4AD6-204B-92E2-155FF16C1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7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891CF4-A707-D034-BB1A-20147F3167FF}"/>
              </a:ext>
            </a:extLst>
          </p:cNvPr>
          <p:cNvSpPr txBox="1">
            <a:spLocks/>
          </p:cNvSpPr>
          <p:nvPr/>
        </p:nvSpPr>
        <p:spPr>
          <a:xfrm>
            <a:off x="-3154" y="475331"/>
            <a:ext cx="12192000" cy="64466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err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BioKind</a:t>
            </a:r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 Analytics  </a:t>
            </a:r>
            <a:endParaRPr lang="en-US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EB64AE-F81C-103B-8690-DF1AC0B2D523}"/>
              </a:ext>
            </a:extLst>
          </p:cNvPr>
          <p:cNvSpPr txBox="1">
            <a:spLocks/>
          </p:cNvSpPr>
          <p:nvPr/>
        </p:nvSpPr>
        <p:spPr>
          <a:xfrm>
            <a:off x="477078" y="938001"/>
            <a:ext cx="11396636" cy="483917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20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E581D-4AD6-204B-92E2-155FF16C1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0778B-38EE-7764-0960-4532AA478ACF}"/>
              </a:ext>
            </a:extLst>
          </p:cNvPr>
          <p:cNvSpPr txBox="1"/>
          <p:nvPr/>
        </p:nvSpPr>
        <p:spPr>
          <a:xfrm>
            <a:off x="964505" y="1385623"/>
            <a:ext cx="9331890" cy="42165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12F6D"/>
                </a:solidFill>
                <a:latin typeface="Calibri"/>
                <a:cs typeface="Calibri"/>
              </a:rPr>
              <a:t>Who they are: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12F6D"/>
                </a:solidFill>
                <a:latin typeface="Calibri"/>
                <a:cs typeface="Calibri"/>
              </a:rPr>
              <a:t>An organization that brings together undergraduate data scientists across the nation to provide data analytics services to healthcare nonprofits</a:t>
            </a:r>
          </a:p>
          <a:p>
            <a:endParaRPr lang="en-US" sz="3200">
              <a:solidFill>
                <a:srgbClr val="012F6D"/>
              </a:solidFill>
              <a:latin typeface="Calibri"/>
              <a:cs typeface="Calibri"/>
            </a:endParaRPr>
          </a:p>
          <a:p>
            <a:r>
              <a:rPr lang="en-US" sz="3200" b="1">
                <a:solidFill>
                  <a:srgbClr val="012F6D"/>
                </a:solidFill>
                <a:latin typeface="Calibri"/>
                <a:cs typeface="Calibri"/>
              </a:rPr>
              <a:t>What they want to achieve: </a:t>
            </a:r>
            <a:endParaRPr lang="en-US" sz="3200" b="1">
              <a:solidFill>
                <a:srgbClr val="012F6D"/>
              </a:solidFill>
              <a:latin typeface="Calibri"/>
              <a:ea typeface="+mn-lt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000">
                <a:solidFill>
                  <a:srgbClr val="012F6D"/>
                </a:solidFill>
                <a:ea typeface="+mn-lt"/>
                <a:cs typeface="+mn-lt"/>
              </a:rPr>
              <a:t>Advance healthcare non-profit organizations’ missions by using data science to assess current operations in order to lower costs, improve efficiencies, and predict future needs.</a:t>
            </a:r>
            <a:r>
              <a:rPr lang="en-US" sz="2000">
                <a:solidFill>
                  <a:srgbClr val="012F6D"/>
                </a:solidFill>
                <a:latin typeface="Calibri"/>
                <a:cs typeface="Calibri"/>
              </a:rPr>
              <a:t> </a:t>
            </a:r>
          </a:p>
          <a:p>
            <a:endParaRPr lang="en-US" sz="2000" b="1">
              <a:solidFill>
                <a:srgbClr val="012F6D"/>
              </a:solidFill>
              <a:latin typeface="Calibri"/>
              <a:cs typeface="Calibri"/>
            </a:endParaRPr>
          </a:p>
          <a:p>
            <a:r>
              <a:rPr lang="en-US" sz="3200" b="1">
                <a:solidFill>
                  <a:srgbClr val="012F6D"/>
                </a:solidFill>
                <a:latin typeface="Calibri"/>
                <a:cs typeface="Calibri"/>
              </a:rPr>
              <a:t>Where we fit in:</a:t>
            </a:r>
            <a:endParaRPr lang="en-US" sz="2000" b="1">
              <a:solidFill>
                <a:srgbClr val="012F6D"/>
              </a:solidFill>
              <a:latin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12F6D"/>
                </a:solidFill>
                <a:latin typeface="Calibri"/>
                <a:cs typeface="Calibri"/>
              </a:rPr>
              <a:t>Answering </a:t>
            </a:r>
            <a:r>
              <a:rPr lang="en-US" sz="2000" err="1">
                <a:solidFill>
                  <a:srgbClr val="012F6D"/>
                </a:solidFill>
                <a:latin typeface="Calibri"/>
                <a:cs typeface="Calibri"/>
              </a:rPr>
              <a:t>BioKind’s</a:t>
            </a:r>
            <a:r>
              <a:rPr lang="en-US" sz="2000">
                <a:solidFill>
                  <a:srgbClr val="012F6D"/>
                </a:solidFill>
                <a:latin typeface="Calibri"/>
                <a:cs typeface="Calibri"/>
              </a:rPr>
              <a:t> research questions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9956D7D-34A7-4868-C476-74BBD2C97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423" y="477021"/>
            <a:ext cx="2663261" cy="76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2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A4A423-F90E-FB1A-E84D-5B5202BFB833}"/>
              </a:ext>
            </a:extLst>
          </p:cNvPr>
          <p:cNvSpPr txBox="1"/>
          <p:nvPr/>
        </p:nvSpPr>
        <p:spPr>
          <a:xfrm>
            <a:off x="621174" y="1326752"/>
            <a:ext cx="5384800" cy="4525963"/>
          </a:xfrm>
        </p:spPr>
        <p:txBody>
          <a:bodyPr lIns="91440" tIns="45720" rIns="91440" bIns="45720" rtlCol="0" anchor="t">
            <a:no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Calibri"/>
                <a:cs typeface="Calibri"/>
              </a:rPr>
              <a:t>QUESTION: </a:t>
            </a:r>
            <a:r>
              <a:rPr lang="en-US" sz="2200">
                <a:solidFill>
                  <a:srgbClr val="002060"/>
                </a:solidFill>
              </a:rPr>
              <a:t>What is the effect of the economy on donations from households to health care nonprofits, and what are the factors that influence households to donate? </a:t>
            </a:r>
            <a:endParaRPr lang="en-US" sz="2200">
              <a:solidFill>
                <a:srgbClr val="002060"/>
              </a:solidFill>
              <a:ea typeface="Calibri" panose="020F0502020204030204"/>
              <a:cs typeface="Calibri"/>
            </a:endParaRPr>
          </a:p>
          <a:p>
            <a:pPr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spcBef>
                <a:spcPct val="20000"/>
              </a:spcBef>
              <a:buFont typeface="Arial"/>
            </a:pPr>
            <a:r>
              <a:rPr lang="en-US" sz="2200" b="1">
                <a:solidFill>
                  <a:srgbClr val="002060"/>
                </a:solidFill>
                <a:latin typeface="Calibri"/>
                <a:cs typeface="Calibri"/>
              </a:rPr>
              <a:t>GOAL: </a:t>
            </a:r>
            <a:r>
              <a:rPr lang="en-US" sz="2200">
                <a:solidFill>
                  <a:srgbClr val="002060"/>
                </a:solidFill>
                <a:latin typeface="Calibri"/>
                <a:cs typeface="Calibri"/>
              </a:rPr>
              <a:t>Help healthcare nonprofits prepare for changes in the economy and guide their business decisions</a:t>
            </a:r>
          </a:p>
          <a:p>
            <a:pPr>
              <a:spcBef>
                <a:spcPct val="20000"/>
              </a:spcBef>
              <a:buFont typeface="Arial"/>
            </a:pPr>
            <a:endParaRPr lang="en-US" sz="2200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spcBef>
                <a:spcPct val="20000"/>
              </a:spcBef>
              <a:buFont typeface="Arial"/>
            </a:pPr>
            <a:r>
              <a:rPr lang="en-US" sz="2200" b="1">
                <a:solidFill>
                  <a:srgbClr val="002060"/>
                </a:solidFill>
                <a:latin typeface="Calibri"/>
                <a:cs typeface="Calibri"/>
              </a:rPr>
              <a:t>WHAT IS A NONPROFIT? </a:t>
            </a:r>
            <a:r>
              <a:rPr lang="en-US" sz="2200">
                <a:solidFill>
                  <a:srgbClr val="002060"/>
                </a:solidFill>
                <a:latin typeface="Calibri"/>
                <a:cs typeface="Calibri"/>
              </a:rPr>
              <a:t>An organization operated for a collective public benefit and not for profit. Charities are one type of nonprofit.</a:t>
            </a:r>
          </a:p>
          <a:p>
            <a:pPr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8" name="Content Placeholder 7" descr="Statistics with solid fill">
            <a:extLst>
              <a:ext uri="{FF2B5EF4-FFF2-40B4-BE49-F238E27FC236}">
                <a16:creationId xmlns:a16="http://schemas.microsoft.com/office/drawing/2014/main" id="{F3E7B456-5139-EFB9-8756-8D457266E8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2800" y="3248819"/>
            <a:ext cx="914400" cy="9144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90" y="252389"/>
            <a:ext cx="11542929" cy="114300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b="1" kern="1200">
                <a:latin typeface="Calibri"/>
              </a:rPr>
              <a:t>Project Description + Research Question</a:t>
            </a:r>
          </a:p>
        </p:txBody>
      </p:sp>
      <p:sp>
        <p:nvSpPr>
          <p:cNvPr id="162" name="Slide Number Placeholder 161" hidden="1">
            <a:extLst>
              <a:ext uri="{FF2B5EF4-FFF2-40B4-BE49-F238E27FC236}">
                <a16:creationId xmlns:a16="http://schemas.microsoft.com/office/drawing/2014/main" id="{1A215677-C37D-A141-3BCB-2FBC559D2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394085" y="6460256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F418C06-167A-E646-9EF6-18275B625F6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1" name="Graphic 10" descr="Connections outline">
            <a:extLst>
              <a:ext uri="{FF2B5EF4-FFF2-40B4-BE49-F238E27FC236}">
                <a16:creationId xmlns:a16="http://schemas.microsoft.com/office/drawing/2014/main" id="{8BBFA9A7-2448-ABCE-7093-4324B04949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7828" y="4611459"/>
            <a:ext cx="914400" cy="914400"/>
          </a:xfrm>
          <a:prstGeom prst="rect">
            <a:avLst/>
          </a:prstGeom>
        </p:spPr>
      </p:pic>
      <p:pic>
        <p:nvPicPr>
          <p:cNvPr id="13" name="Graphic 12" descr="Brainstorm with solid fill">
            <a:extLst>
              <a:ext uri="{FF2B5EF4-FFF2-40B4-BE49-F238E27FC236}">
                <a16:creationId xmlns:a16="http://schemas.microsoft.com/office/drawing/2014/main" id="{1E6A7C50-088E-D056-0B73-CFF6C77CD7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29692" y="3365500"/>
            <a:ext cx="914400" cy="914400"/>
          </a:xfrm>
          <a:prstGeom prst="rect">
            <a:avLst/>
          </a:prstGeom>
        </p:spPr>
      </p:pic>
      <p:pic>
        <p:nvPicPr>
          <p:cNvPr id="15" name="Graphic 14" descr="Statistics with solid fill">
            <a:extLst>
              <a:ext uri="{FF2B5EF4-FFF2-40B4-BE49-F238E27FC236}">
                <a16:creationId xmlns:a16="http://schemas.microsoft.com/office/drawing/2014/main" id="{29860FC0-D4D1-C656-F80E-9E41CDE20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7828" y="208779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8DC0F6-D948-1CFC-F2A2-C43BCB3DF546}"/>
              </a:ext>
            </a:extLst>
          </p:cNvPr>
          <p:cNvSpPr txBox="1"/>
          <p:nvPr/>
        </p:nvSpPr>
        <p:spPr>
          <a:xfrm>
            <a:off x="8103182" y="1997075"/>
            <a:ext cx="3556544" cy="374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r>
              <a:rPr lang="en-US" sz="2200" b="1">
                <a:solidFill>
                  <a:srgbClr val="002060"/>
                </a:solidFill>
                <a:latin typeface="Calibri"/>
                <a:cs typeface="Calibri"/>
              </a:rPr>
              <a:t>Data discovery: </a:t>
            </a:r>
            <a:r>
              <a:rPr lang="en-US" sz="2200">
                <a:solidFill>
                  <a:srgbClr val="002060"/>
                </a:solidFill>
                <a:latin typeface="Calibri"/>
                <a:cs typeface="Calibri"/>
              </a:rPr>
              <a:t>Income, family demographics, donations to healthcare nonprofits and economic indicators</a:t>
            </a:r>
            <a:endParaRPr lang="en-US">
              <a:solidFill>
                <a:srgbClr val="002060"/>
              </a:solidFill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r>
              <a:rPr lang="en-US" sz="2200" b="1">
                <a:solidFill>
                  <a:srgbClr val="002060"/>
                </a:solidFill>
                <a:latin typeface="Calibri"/>
                <a:cs typeface="Calibri"/>
              </a:rPr>
              <a:t>Analyze </a:t>
            </a:r>
            <a:r>
              <a:rPr lang="en-US" sz="2200">
                <a:solidFill>
                  <a:srgbClr val="002060"/>
                </a:solidFill>
                <a:latin typeface="Calibri"/>
                <a:cs typeface="Calibri"/>
              </a:rPr>
              <a:t>selected datasets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r>
              <a:rPr lang="en-US" sz="2200" b="1">
                <a:solidFill>
                  <a:srgbClr val="002060"/>
                </a:solidFill>
                <a:latin typeface="Calibri"/>
                <a:cs typeface="Calibri"/>
              </a:rPr>
              <a:t>Discover trends </a:t>
            </a:r>
            <a:r>
              <a:rPr lang="en-US" sz="2200">
                <a:solidFill>
                  <a:srgbClr val="002060"/>
                </a:solidFill>
                <a:latin typeface="Calibri"/>
                <a:cs typeface="Calibri"/>
              </a:rPr>
              <a:t>between donations and the economy</a:t>
            </a:r>
          </a:p>
          <a:p>
            <a:pPr algn="l"/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056D2BF-88E5-8F3A-4E37-1FC321DB5581}"/>
              </a:ext>
            </a:extLst>
          </p:cNvPr>
          <p:cNvSpPr txBox="1">
            <a:spLocks/>
          </p:cNvSpPr>
          <p:nvPr/>
        </p:nvSpPr>
        <p:spPr>
          <a:xfrm>
            <a:off x="392212" y="6458544"/>
            <a:ext cx="2844800" cy="36512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latin typeface="ITC Franklin Gothic Std Bk XCp"/>
                <a:cs typeface="Calibri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036F0-5F94-530D-C6BF-B904E93D02C7}"/>
              </a:ext>
            </a:extLst>
          </p:cNvPr>
          <p:cNvSpPr txBox="1"/>
          <p:nvPr/>
        </p:nvSpPr>
        <p:spPr>
          <a:xfrm>
            <a:off x="6926724" y="1396601"/>
            <a:ext cx="5384800" cy="334963"/>
          </a:xfrm>
        </p:spPr>
        <p:txBody>
          <a:bodyPr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r>
              <a:rPr lang="en-US" sz="2200" b="1">
                <a:solidFill>
                  <a:srgbClr val="002060"/>
                </a:solidFill>
                <a:latin typeface="Calibri"/>
                <a:cs typeface="Calibri"/>
              </a:rPr>
              <a:t>OUR PROCESS: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</a:pPr>
            <a:endParaRPr lang="en-US" sz="2200" b="1">
              <a:solidFill>
                <a:srgbClr val="00206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939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026" y="144401"/>
            <a:ext cx="10972800" cy="114300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>
                <a:latin typeface="calibri light"/>
              </a:rPr>
              <a:t>Review of Literatures</a:t>
            </a:r>
            <a:endParaRPr lang="en-US" b="1" kern="1200">
              <a:latin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1C6DE-58BD-60A9-92E6-0862BCA0C1FE}"/>
              </a:ext>
            </a:extLst>
          </p:cNvPr>
          <p:cNvSpPr txBox="1"/>
          <p:nvPr/>
        </p:nvSpPr>
        <p:spPr>
          <a:xfrm>
            <a:off x="600046" y="1206361"/>
            <a:ext cx="8580639" cy="493306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 defTabSz="457200">
              <a:spcBef>
                <a:spcPts val="1400"/>
              </a:spcBef>
              <a:spcAft>
                <a:spcPts val="100"/>
              </a:spcAft>
              <a:buFont typeface="Arial"/>
              <a:buChar char="•"/>
            </a:pPr>
            <a:r>
              <a:rPr lang="en-US" sz="2200">
                <a:solidFill>
                  <a:srgbClr val="002060"/>
                </a:solidFill>
                <a:latin typeface="Calibri"/>
                <a:cs typeface="Segoe UI"/>
              </a:rPr>
              <a:t>Individual donors, especially higher net worth individuals, contribute approximately 75% of all donations in the United States</a:t>
            </a:r>
          </a:p>
          <a:p>
            <a:pPr marL="342900" indent="-342900" defTabSz="457200">
              <a:lnSpc>
                <a:spcPct val="120000"/>
              </a:lnSpc>
              <a:spcBef>
                <a:spcPts val="1400"/>
              </a:spcBef>
              <a:spcAft>
                <a:spcPts val="100"/>
              </a:spcAft>
              <a:buFont typeface="Arial"/>
              <a:buChar char="•"/>
            </a:pPr>
            <a:r>
              <a:rPr lang="en-US" sz="2200">
                <a:solidFill>
                  <a:srgbClr val="002060"/>
                </a:solidFill>
                <a:ea typeface="+mn-lt"/>
                <a:cs typeface="+mn-lt"/>
              </a:rPr>
              <a:t>High investor sentiment leads to more donations</a:t>
            </a:r>
            <a:endParaRPr lang="en-US" sz="2200">
              <a:solidFill>
                <a:srgbClr val="002060"/>
              </a:solidFill>
              <a:cs typeface="Calibri"/>
            </a:endParaRPr>
          </a:p>
          <a:p>
            <a:pPr marL="342900" indent="-342900" defTabSz="457200">
              <a:lnSpc>
                <a:spcPct val="120000"/>
              </a:lnSpc>
              <a:spcBef>
                <a:spcPts val="1400"/>
              </a:spcBef>
              <a:spcAft>
                <a:spcPts val="100"/>
              </a:spcAft>
              <a:buFont typeface="Arial"/>
              <a:buChar char="•"/>
            </a:pPr>
            <a:r>
              <a:rPr lang="en-US" sz="2200">
                <a:solidFill>
                  <a:srgbClr val="002060"/>
                </a:solidFill>
                <a:latin typeface="Calibri"/>
                <a:cs typeface="Calibri"/>
              </a:rPr>
              <a:t>In 2018, 49.6% of the general population reported charitable giving, and households are more  likely to give as their income rises.</a:t>
            </a:r>
          </a:p>
          <a:p>
            <a:pPr marL="342900" indent="-342900" defTabSz="457200">
              <a:lnSpc>
                <a:spcPct val="120000"/>
              </a:lnSpc>
              <a:spcBef>
                <a:spcPts val="1400"/>
              </a:spcBef>
              <a:spcAft>
                <a:spcPts val="100"/>
              </a:spcAft>
              <a:buFont typeface="Arial"/>
              <a:buChar char="•"/>
            </a:pPr>
            <a:r>
              <a:rPr lang="en-US" sz="2200">
                <a:solidFill>
                  <a:srgbClr val="002060"/>
                </a:solidFill>
                <a:latin typeface="Calibri"/>
                <a:cs typeface="Calibri"/>
              </a:rPr>
              <a:t>The 2008 financial crisis resulted in decreased charitable donations due to shocks to income and wealth, as well as increased uncertainty.</a:t>
            </a:r>
          </a:p>
          <a:p>
            <a:pPr marL="342900" indent="-342900" defTabSz="457200">
              <a:lnSpc>
                <a:spcPct val="120000"/>
              </a:lnSpc>
              <a:spcBef>
                <a:spcPts val="1400"/>
              </a:spcBef>
              <a:spcAft>
                <a:spcPts val="100"/>
              </a:spcAft>
              <a:buFont typeface="Arial"/>
              <a:buChar char="•"/>
            </a:pPr>
            <a:r>
              <a:rPr lang="en-US" sz="2200">
                <a:solidFill>
                  <a:srgbClr val="002060"/>
                </a:solidFill>
                <a:latin typeface="Calibri"/>
                <a:cs typeface="Calibri"/>
              </a:rPr>
              <a:t>Despite a lack of timely research on the effect of the COVID-19 pandemic on charitable donations, it is expected that charities will receive fewer donations </a:t>
            </a:r>
          </a:p>
          <a:p>
            <a:pPr marL="342900" indent="-342900" defTabSz="457200">
              <a:lnSpc>
                <a:spcPct val="120000"/>
              </a:lnSpc>
              <a:spcBef>
                <a:spcPct val="20000"/>
              </a:spcBef>
              <a:buFont typeface="Arial"/>
              <a:buChar char="•"/>
            </a:pPr>
            <a:endParaRPr lang="en-US" sz="220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F852DB-7FF2-5D35-A4B9-6876CCCD4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418C06-167A-E646-9EF6-18275B625F6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1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960865" y="293712"/>
            <a:ext cx="8270875" cy="5127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 b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Data Sources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D908FAD-3E10-2F66-9A9B-679538B7A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580799"/>
              </p:ext>
            </p:extLst>
          </p:nvPr>
        </p:nvGraphicFramePr>
        <p:xfrm>
          <a:off x="1690182" y="1460217"/>
          <a:ext cx="9098002" cy="3883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184">
                  <a:extLst>
                    <a:ext uri="{9D8B030D-6E8A-4147-A177-3AD203B41FA5}">
                      <a16:colId xmlns:a16="http://schemas.microsoft.com/office/drawing/2014/main" val="66852314"/>
                    </a:ext>
                  </a:extLst>
                </a:gridCol>
                <a:gridCol w="6925818">
                  <a:extLst>
                    <a:ext uri="{9D8B030D-6E8A-4147-A177-3AD203B41FA5}">
                      <a16:colId xmlns:a16="http://schemas.microsoft.com/office/drawing/2014/main" val="2859124346"/>
                    </a:ext>
                  </a:extLst>
                </a:gridCol>
              </a:tblGrid>
              <a:tr h="445445">
                <a:tc>
                  <a:txBody>
                    <a:bodyPr/>
                    <a:lstStyle/>
                    <a:p>
                      <a:pPr algn="l" rtl="0" fontAlgn="auto"/>
                      <a:r>
                        <a:rPr lang="en-US" sz="1600" b="1">
                          <a:solidFill>
                            <a:srgbClr val="012F6D"/>
                          </a:solidFill>
                          <a:effectLst/>
                        </a:rPr>
                        <a:t>​Source Data</a:t>
                      </a:r>
                      <a:endParaRPr lang="en-US" sz="1600" b="1" i="0">
                        <a:solidFill>
                          <a:srgbClr val="012F6D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 i="0">
                          <a:solidFill>
                            <a:srgbClr val="012F6D"/>
                          </a:solidFill>
                          <a:effectLst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855894"/>
                  </a:ext>
                </a:extLst>
              </a:tr>
              <a:tr h="135917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1">
                          <a:solidFill>
                            <a:srgbClr val="012F6D"/>
                          </a:solidFill>
                        </a:rPr>
                        <a:t>Bureau of Labor Statistics (BLS)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12F6D"/>
                          </a:solidFill>
                          <a:effectLst/>
                        </a:rPr>
                        <a:t>Retrieved and combined Local Area Unemployment Statistics data sets  for each state and manipulated into a dataset that covers the </a:t>
                      </a:r>
                      <a:r>
                        <a:rPr lang="en-US" sz="1600" b="1" i="0" u="none" strike="noStrike" noProof="0">
                          <a:solidFill>
                            <a:srgbClr val="012F6D"/>
                          </a:solidFill>
                          <a:effectLst/>
                        </a:rPr>
                        <a:t>unemployment rates organized by </a:t>
                      </a:r>
                      <a:r>
                        <a:rPr lang="en-US" sz="1600" b="1" i="0" u="sng" strike="noStrike" noProof="0">
                          <a:solidFill>
                            <a:srgbClr val="012F6D"/>
                          </a:solidFill>
                          <a:effectLst/>
                        </a:rPr>
                        <a:t>state level </a:t>
                      </a:r>
                      <a:r>
                        <a:rPr lang="en-US" sz="1600" b="0" i="0" u="none" strike="noStrike" noProof="0">
                          <a:solidFill>
                            <a:srgbClr val="012F6D"/>
                          </a:solidFill>
                          <a:effectLst/>
                        </a:rPr>
                        <a:t>(available per month and year </a:t>
                      </a:r>
                      <a:r>
                        <a:rPr lang="en-US" sz="1600" b="1" i="0" u="none" strike="noStrike" noProof="0">
                          <a:solidFill>
                            <a:srgbClr val="012F6D"/>
                          </a:solidFill>
                          <a:effectLst/>
                        </a:rPr>
                        <a:t>2001-2019</a:t>
                      </a:r>
                      <a:r>
                        <a:rPr lang="en-US" sz="1600" b="0" i="0" u="none" strike="noStrike" noProof="0">
                          <a:solidFill>
                            <a:srgbClr val="012F6D"/>
                          </a:solidFill>
                          <a:effectLst/>
                        </a:rPr>
                        <a:t>+)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681936"/>
                  </a:ext>
                </a:extLst>
              </a:tr>
              <a:tr h="103937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1">
                          <a:solidFill>
                            <a:srgbClr val="012F6D"/>
                          </a:solidFill>
                        </a:rPr>
                        <a:t>Panel Study of Income Dynamics (PSID)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Retrieved </a:t>
                      </a:r>
                      <a:r>
                        <a:rPr lang="en-US" sz="1600" b="1" i="0" u="sng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household-level</a:t>
                      </a:r>
                      <a:r>
                        <a:rPr lang="en-US" sz="1600" b="0" i="0" u="none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 biennial survey data about family </a:t>
                      </a:r>
                      <a:r>
                        <a:rPr lang="en-US" sz="1600" b="1" i="0" u="none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demographics,</a:t>
                      </a:r>
                      <a:r>
                        <a:rPr lang="en-US" sz="1600" b="0" i="0" u="none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600" b="1" i="0" u="none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income and donations from 2001-2019</a:t>
                      </a:r>
                      <a:r>
                        <a:rPr lang="en-US" sz="1600" b="0" i="0" u="none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.</a:t>
                      </a:r>
                      <a:r>
                        <a:rPr lang="en-US" sz="1600" b="1" i="0" u="none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en-US" sz="1600" b="0" i="0" u="none" strike="noStrike" noProof="0">
                        <a:solidFill>
                          <a:srgbClr val="012F6D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544100"/>
                  </a:ext>
                </a:extLst>
              </a:tr>
              <a:tr h="103937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1" i="0" u="none" strike="noStrike" noProof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National Center for Charitable Statistics (NCCS)</a:t>
                      </a:r>
                      <a:endParaRPr lang="en-US">
                        <a:solidFill>
                          <a:srgbClr val="012F6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en-US" sz="1600" b="0" i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Retrieved dataset which consists information about </a:t>
                      </a:r>
                      <a:r>
                        <a:rPr lang="en-US" sz="1600" b="1" i="0" u="sng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public charities </a:t>
                      </a:r>
                      <a:r>
                        <a:rPr lang="en-US" sz="1600" b="0" i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across the US and their locations, industries and so on from </a:t>
                      </a:r>
                      <a:r>
                        <a:rPr lang="en-US" sz="1600" b="1" i="0">
                          <a:solidFill>
                            <a:srgbClr val="012F6D"/>
                          </a:solidFill>
                          <a:effectLst/>
                          <a:latin typeface="Calibri"/>
                        </a:rPr>
                        <a:t>1989 - 2019</a:t>
                      </a:r>
                      <a:endParaRPr lang="en-US" b="1">
                        <a:solidFill>
                          <a:srgbClr val="012F6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34881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F852DB-7FF2-5D35-A4B9-6876CCCD4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0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2641-C39B-1A5D-C03E-5F54644D273C}"/>
              </a:ext>
            </a:extLst>
          </p:cNvPr>
          <p:cNvSpPr txBox="1">
            <a:spLocks/>
          </p:cNvSpPr>
          <p:nvPr/>
        </p:nvSpPr>
        <p:spPr>
          <a:xfrm>
            <a:off x="3147632" y="331851"/>
            <a:ext cx="5896736" cy="51347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Methodology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6B02CB6-9236-E0E1-9874-AB55C78A53B4}"/>
              </a:ext>
            </a:extLst>
          </p:cNvPr>
          <p:cNvSpPr txBox="1">
            <a:spLocks/>
          </p:cNvSpPr>
          <p:nvPr/>
        </p:nvSpPr>
        <p:spPr>
          <a:xfrm>
            <a:off x="549965" y="920524"/>
            <a:ext cx="11251096" cy="577845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defTabSz="4572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endParaRPr lang="en-US" sz="18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1D96A92-419F-BE28-A0D1-FC684DE2087F}"/>
              </a:ext>
            </a:extLst>
          </p:cNvPr>
          <p:cNvSpPr txBox="1">
            <a:spLocks/>
          </p:cNvSpPr>
          <p:nvPr/>
        </p:nvSpPr>
        <p:spPr>
          <a:xfrm>
            <a:off x="272736" y="850951"/>
            <a:ext cx="11703916" cy="577845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563D0-691A-A7D3-8420-DD3F89A7F524}"/>
              </a:ext>
            </a:extLst>
          </p:cNvPr>
          <p:cNvSpPr txBox="1"/>
          <p:nvPr/>
        </p:nvSpPr>
        <p:spPr>
          <a:xfrm>
            <a:off x="1514359" y="1756277"/>
            <a:ext cx="9167090" cy="41120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solidFill>
                  <a:srgbClr val="002060"/>
                </a:solidFill>
                <a:ea typeface="Calibri"/>
                <a:cs typeface="Calibri"/>
              </a:rPr>
              <a:t>Part 1: Use macroeconomic indicators to predict healthcare donations</a:t>
            </a:r>
            <a:endParaRPr lang="en-US" sz="2000">
              <a:solidFill>
                <a:srgbClr val="002060"/>
              </a:solidFill>
              <a:ea typeface="Calibri"/>
              <a:cs typeface="Calibri"/>
            </a:endParaRPr>
          </a:p>
          <a:p>
            <a:pPr marL="285750">
              <a:lnSpc>
                <a:spcPct val="150000"/>
              </a:lnSpc>
              <a:buFont typeface="Calibri,Sans-Serif"/>
              <a:buChar char="-"/>
            </a:pPr>
            <a:r>
              <a:rPr lang="en-US" sz="2000">
                <a:solidFill>
                  <a:srgbClr val="002060"/>
                </a:solidFill>
                <a:cs typeface="Calibri"/>
              </a:rPr>
              <a:t> NCCS: how much organizations are receiving based on economic indicators like average salary, unemployment</a:t>
            </a:r>
            <a:endParaRPr lang="en-US" sz="2000">
              <a:solidFill>
                <a:srgbClr val="002060"/>
              </a:solidFill>
              <a:ea typeface="Calibri"/>
              <a:cs typeface="Calibri"/>
            </a:endParaRPr>
          </a:p>
          <a:p>
            <a:pPr marL="285750">
              <a:lnSpc>
                <a:spcPct val="150000"/>
              </a:lnSpc>
            </a:pPr>
            <a:endParaRPr lang="en-US" sz="2000">
              <a:solidFill>
                <a:srgbClr val="00206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solidFill>
                  <a:srgbClr val="002060"/>
                </a:solidFill>
                <a:ea typeface="Calibri"/>
                <a:cs typeface="Calibri"/>
              </a:rPr>
              <a:t>Part 2: Assess demographic features as predicates for potential donors</a:t>
            </a:r>
          </a:p>
          <a:p>
            <a:pPr marL="285750">
              <a:lnSpc>
                <a:spcPct val="150000"/>
              </a:lnSpc>
              <a:buFont typeface="Calibri"/>
              <a:buChar char="-"/>
            </a:pPr>
            <a:r>
              <a:rPr lang="en-US" sz="2000">
                <a:solidFill>
                  <a:srgbClr val="002060"/>
                </a:solidFill>
                <a:ea typeface="Calibri"/>
                <a:cs typeface="Calibri"/>
              </a:rPr>
              <a:t> Panel Study of Income Dynamics (PSID) data: family-level annual healthcare donations and family characteristics</a:t>
            </a:r>
          </a:p>
          <a:p>
            <a:pPr>
              <a:lnSpc>
                <a:spcPct val="150000"/>
              </a:lnSpc>
            </a:pP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BCAA0-5571-6325-D0D8-BF7F1A31E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9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3B1C-4595-71C1-5535-A5046834A0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9857" y="191181"/>
            <a:ext cx="10972800" cy="876300"/>
          </a:xfrm>
        </p:spPr>
        <p:txBody>
          <a:bodyPr lIns="91440" tIns="45720" rIns="91440" bIns="45720" anchor="t"/>
          <a:lstStyle/>
          <a:p>
            <a:r>
              <a:rPr lang="en-US" b="1">
                <a:solidFill>
                  <a:srgbClr val="002060"/>
                </a:solidFill>
                <a:cs typeface="Calibri"/>
              </a:rPr>
              <a:t>Results: Unemployment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AD5C8-32EA-06EA-82B3-24A7B4455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4877E-E336-049B-9E21-380F87DB35EE}"/>
              </a:ext>
            </a:extLst>
          </p:cNvPr>
          <p:cNvSpPr txBox="1"/>
          <p:nvPr/>
        </p:nvSpPr>
        <p:spPr>
          <a:xfrm>
            <a:off x="181984" y="5838931"/>
            <a:ext cx="9167090" cy="8278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002060"/>
                </a:solidFill>
                <a:ea typeface="Calibri"/>
                <a:cs typeface="Calibri"/>
              </a:rPr>
              <a:t>Unemployment Source: Bureau of Labor Statistics</a:t>
            </a:r>
            <a:endParaRPr lang="en-US"/>
          </a:p>
          <a:p>
            <a:pPr>
              <a:lnSpc>
                <a:spcPct val="150000"/>
              </a:lnSpc>
            </a:pPr>
            <a:endParaRPr lang="en-US" sz="1100">
              <a:solidFill>
                <a:srgbClr val="00206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100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8" name="Picture 8" descr="A graph showing the amount of unemployment and the amount of unemployment&#10;&#10;Description automatically generated">
            <a:extLst>
              <a:ext uri="{FF2B5EF4-FFF2-40B4-BE49-F238E27FC236}">
                <a16:creationId xmlns:a16="http://schemas.microsoft.com/office/drawing/2014/main" id="{F09F71C4-BB02-8943-CE50-7699E1007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59" y="1018153"/>
            <a:ext cx="10453607" cy="482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7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3B1C-4595-71C1-5535-A5046834A0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9857" y="191181"/>
            <a:ext cx="10972800" cy="876300"/>
          </a:xfrm>
        </p:spPr>
        <p:txBody>
          <a:bodyPr lIns="91440" tIns="45720" rIns="91440" bIns="45720" anchor="t"/>
          <a:lstStyle/>
          <a:p>
            <a:r>
              <a:rPr lang="en-US" b="1">
                <a:solidFill>
                  <a:srgbClr val="002060"/>
                </a:solidFill>
              </a:rPr>
              <a:t>Results: Dow Jones</a:t>
            </a:r>
            <a:endParaRPr lang="en-US" b="1">
              <a:solidFill>
                <a:srgbClr val="002060"/>
              </a:solidFill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AD5C8-32EA-06EA-82B3-24A7B4455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" name="Picture 9" descr="A graph showing the growth of the cost of health care&#10;&#10;Description automatically generated">
            <a:extLst>
              <a:ext uri="{FF2B5EF4-FFF2-40B4-BE49-F238E27FC236}">
                <a16:creationId xmlns:a16="http://schemas.microsoft.com/office/drawing/2014/main" id="{41FD07B2-78AE-B7DD-7CC5-E671A645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97" y="960033"/>
            <a:ext cx="10556926" cy="48862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ED80DC-D669-FF33-2733-936D6F3E837E}"/>
              </a:ext>
            </a:extLst>
          </p:cNvPr>
          <p:cNvSpPr txBox="1"/>
          <p:nvPr/>
        </p:nvSpPr>
        <p:spPr>
          <a:xfrm>
            <a:off x="181984" y="5838931"/>
            <a:ext cx="9167090" cy="8278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002060"/>
                </a:solidFill>
                <a:ea typeface="Calibri"/>
                <a:cs typeface="Calibri"/>
              </a:rPr>
              <a:t>Dow Jones Industrial Average Source: </a:t>
            </a:r>
            <a:r>
              <a:rPr lang="en-US" sz="1100" b="1">
                <a:solidFill>
                  <a:schemeClr val="tx2"/>
                </a:solidFill>
                <a:ea typeface="+mn-lt"/>
                <a:cs typeface="+mn-lt"/>
              </a:rPr>
              <a:t>Dow Jones </a:t>
            </a:r>
            <a:r>
              <a:rPr lang="en-US" sz="1100" b="1">
                <a:solidFill>
                  <a:srgbClr val="002060"/>
                </a:solidFill>
                <a:ea typeface="+mn-lt"/>
                <a:cs typeface="+mn-lt"/>
              </a:rPr>
              <a:t>Industrial</a:t>
            </a:r>
            <a:r>
              <a:rPr lang="en-US" sz="1100" b="1">
                <a:solidFill>
                  <a:schemeClr val="tx2"/>
                </a:solidFill>
                <a:ea typeface="+mn-lt"/>
                <a:cs typeface="+mn-lt"/>
              </a:rPr>
              <a:t> Average - Yahoo Finance</a:t>
            </a:r>
            <a:endParaRPr lang="en-US" b="1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endParaRPr lang="en-US" sz="1100">
              <a:solidFill>
                <a:srgbClr val="00206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100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890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10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489857" y="191181"/>
            <a:ext cx="10972800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Results: Consumer Sentiment Index (CSI)</a:t>
            </a:r>
            <a:endParaRPr lang="en-US"/>
          </a:p>
        </p:txBody>
      </p:sp>
      <p:pic>
        <p:nvPicPr>
          <p:cNvPr id="3" name="Picture 4" descr="A graph showing the cost of health care&#10;&#10;Description automatically generated">
            <a:extLst>
              <a:ext uri="{FF2B5EF4-FFF2-40B4-BE49-F238E27FC236}">
                <a16:creationId xmlns:a16="http://schemas.microsoft.com/office/drawing/2014/main" id="{11E21537-45AE-CDF5-1334-E48319B92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77" y="940661"/>
            <a:ext cx="10757114" cy="4976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3240E5-755A-B37E-3323-8B8FC61D0A48}"/>
              </a:ext>
            </a:extLst>
          </p:cNvPr>
          <p:cNvSpPr txBox="1"/>
          <p:nvPr/>
        </p:nvSpPr>
        <p:spPr>
          <a:xfrm>
            <a:off x="181984" y="5838931"/>
            <a:ext cx="9167090" cy="8278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002060"/>
                </a:solidFill>
                <a:ea typeface="Calibri"/>
                <a:cs typeface="Calibri"/>
              </a:rPr>
              <a:t>CSI Source: University of Michigan</a:t>
            </a:r>
            <a:endParaRPr lang="en-US"/>
          </a:p>
          <a:p>
            <a:pPr>
              <a:lnSpc>
                <a:spcPct val="150000"/>
              </a:lnSpc>
            </a:pPr>
            <a:endParaRPr lang="en-US" sz="1100">
              <a:solidFill>
                <a:srgbClr val="00206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100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903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11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1958" y="229555"/>
            <a:ext cx="12184325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Results: Panel Study of Income Dynamics (PSID)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31001-559C-7412-3AF3-4424B7DB1229}"/>
              </a:ext>
            </a:extLst>
          </p:cNvPr>
          <p:cNvSpPr txBox="1"/>
          <p:nvPr/>
        </p:nvSpPr>
        <p:spPr>
          <a:xfrm>
            <a:off x="1041501" y="1398078"/>
            <a:ext cx="9167090" cy="3234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b="1">
                <a:solidFill>
                  <a:srgbClr val="002060"/>
                </a:solidFill>
                <a:ea typeface="Calibri"/>
                <a:cs typeface="Calibri"/>
              </a:rPr>
              <a:t>PSID is a biennial survey on households across the country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000" b="1">
              <a:solidFill>
                <a:srgbClr val="002060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b="1">
                <a:solidFill>
                  <a:srgbClr val="002060"/>
                </a:solidFill>
                <a:ea typeface="+mn-lt"/>
                <a:cs typeface="+mn-lt"/>
              </a:rPr>
              <a:t>Tracking the same families (the reference person is the same from 2000 to 2020)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002060"/>
                </a:solidFill>
                <a:ea typeface="Calibri"/>
                <a:cs typeface="Calibri"/>
              </a:rPr>
              <a:t>2069 households over 20 years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b="1">
                <a:solidFill>
                  <a:srgbClr val="002060"/>
                </a:solidFill>
                <a:ea typeface="Calibri"/>
                <a:cs typeface="Calibri"/>
              </a:rPr>
              <a:t>Adjusted for inflation (in 2020 dollars)</a:t>
            </a:r>
            <a:endParaRPr lang="en-US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000" b="1">
              <a:solidFill>
                <a:srgbClr val="002060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679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12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1958" y="229555"/>
            <a:ext cx="12184325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Results: PSID Descriptive Analysis</a:t>
            </a:r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EB9A038-B74B-9172-D7C4-881B5B155A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1" t="4710" r="-46" b="72"/>
          <a:stretch/>
        </p:blipFill>
        <p:spPr>
          <a:xfrm>
            <a:off x="2484044" y="1339095"/>
            <a:ext cx="7493401" cy="47220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EEDC2D-2346-E09A-7206-AE7D0A50CACF}"/>
              </a:ext>
            </a:extLst>
          </p:cNvPr>
          <p:cNvSpPr txBox="1"/>
          <p:nvPr/>
        </p:nvSpPr>
        <p:spPr>
          <a:xfrm>
            <a:off x="4921957" y="1058909"/>
            <a:ext cx="255903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233E50"/>
                </a:solidFill>
                <a:latin typeface="ITC Franklin Gothic Std Book"/>
              </a:rPr>
              <a:t>Proportion of Donor Households</a:t>
            </a:r>
            <a:endParaRPr lang="en-US" sz="1400">
              <a:solidFill>
                <a:srgbClr val="233E50"/>
              </a:solidFill>
              <a:latin typeface="ITC Franklin Gothic Std Book" panose="020B05040305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DF4FF-2D8A-ACB7-8751-CF7A55AABCEA}"/>
              </a:ext>
            </a:extLst>
          </p:cNvPr>
          <p:cNvSpPr txBox="1"/>
          <p:nvPr/>
        </p:nvSpPr>
        <p:spPr>
          <a:xfrm rot="16200000">
            <a:off x="1821169" y="3301776"/>
            <a:ext cx="9752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233E50"/>
                </a:solidFill>
                <a:latin typeface="ITC Franklin Gothic Std Book"/>
              </a:rPr>
              <a:t>Proportion</a:t>
            </a:r>
            <a:endParaRPr lang="en-US" sz="1400">
              <a:solidFill>
                <a:srgbClr val="233E50"/>
              </a:solidFill>
              <a:latin typeface="ITC Franklin Gothic Std Book" panose="020B05040305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46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13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-237931" y="215444"/>
            <a:ext cx="12184325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Results: PSID Descriptive Analysis</a:t>
            </a:r>
            <a:endParaRPr 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E4062AD-D20D-CDCE-C4E1-40ACDB9C4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" y="1458204"/>
            <a:ext cx="6103733" cy="3210249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94B1BE9-2D0A-05BE-E2B2-42EAE9928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844" y="1456550"/>
            <a:ext cx="6118284" cy="321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7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14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1958" y="229555"/>
            <a:ext cx="12184325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Results: PSID Panel Regression</a:t>
            </a:r>
            <a:endParaRPr 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667FD2A-11E8-BAD0-9D08-9DCB8D70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38" y="1107234"/>
            <a:ext cx="5423970" cy="3642832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B910D14-4606-FA44-73F6-195348052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553" y="1105984"/>
            <a:ext cx="5483819" cy="3646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5AD40B-6695-C87E-F58F-CAF618300493}"/>
              </a:ext>
            </a:extLst>
          </p:cNvPr>
          <p:cNvSpPr txBox="1"/>
          <p:nvPr/>
        </p:nvSpPr>
        <p:spPr>
          <a:xfrm>
            <a:off x="716822" y="5005707"/>
            <a:ext cx="992585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>
                <a:solidFill>
                  <a:srgbClr val="233E50"/>
                </a:solidFill>
                <a:latin typeface="ITC Franklin Gothic Std Book"/>
              </a:rPr>
              <a:t>Compared with 2000, we experienced significant increases 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solidFill>
                  <a:srgbClr val="233E50"/>
                </a:solidFill>
                <a:latin typeface="ITC Franklin Gothic Std Book"/>
              </a:rPr>
              <a:t>The increase in total donations in 2020 is marginally significant without wealth and income control.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solidFill>
                  <a:srgbClr val="233E50"/>
                </a:solidFill>
                <a:latin typeface="ITC Franklin Gothic Std Book"/>
              </a:rPr>
              <a:t>The impact of 2008 recession on overall charitable giving is still in effect.</a:t>
            </a:r>
          </a:p>
        </p:txBody>
      </p:sp>
    </p:spTree>
    <p:extLst>
      <p:ext uri="{BB962C8B-B14F-4D97-AF65-F5344CB8AC3E}">
        <p14:creationId xmlns:p14="http://schemas.microsoft.com/office/powerpoint/2010/main" val="300019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15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1958" y="229555"/>
            <a:ext cx="12184325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Results: PSID Panel Regression</a:t>
            </a:r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D713D7F-78A4-AA35-CA50-4360D06AE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5" y="995720"/>
            <a:ext cx="6039078" cy="401613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9F97659-E9B1-F5BD-FE02-9565A02B9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026" y="935236"/>
            <a:ext cx="6020717" cy="401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7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1958" y="229555"/>
            <a:ext cx="12184325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Discussion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E45BF-174B-AEBF-FF8E-6D4C6A9DB712}"/>
              </a:ext>
            </a:extLst>
          </p:cNvPr>
          <p:cNvSpPr txBox="1"/>
          <p:nvPr/>
        </p:nvSpPr>
        <p:spPr>
          <a:xfrm>
            <a:off x="206184" y="1874385"/>
            <a:ext cx="10208310" cy="36822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14400" lvl="1" indent="-457200">
              <a:lnSpc>
                <a:spcPct val="200000"/>
              </a:lnSpc>
              <a:buFont typeface="Arial"/>
              <a:buChar char="•"/>
            </a:pPr>
            <a:r>
              <a:rPr lang="en-US" sz="2400">
                <a:solidFill>
                  <a:srgbClr val="233E50"/>
                </a:solidFill>
                <a:latin typeface="ITC Franklin Gothic Std Book"/>
              </a:rPr>
              <a:t>Healthcare charities fluctuate less with the economy than charities as a whole</a:t>
            </a:r>
            <a:endParaRPr lang="en-US">
              <a:cs typeface="Calibri"/>
            </a:endParaRPr>
          </a:p>
          <a:p>
            <a:pPr marL="914400" lvl="1" indent="-457200">
              <a:lnSpc>
                <a:spcPct val="200000"/>
              </a:lnSpc>
              <a:buFont typeface="Arial"/>
              <a:buChar char="•"/>
            </a:pPr>
            <a:r>
              <a:rPr lang="en-US" sz="2400">
                <a:solidFill>
                  <a:srgbClr val="233E50"/>
                </a:solidFill>
                <a:latin typeface="ITC Franklin Gothic Std Book"/>
              </a:rPr>
              <a:t>Limited longitudinal data makes it difficult to perform extensive analysis</a:t>
            </a:r>
          </a:p>
          <a:p>
            <a:pPr marL="914400" lvl="1" indent="-457200">
              <a:lnSpc>
                <a:spcPct val="200000"/>
              </a:lnSpc>
              <a:buFont typeface="Arial"/>
              <a:buChar char="•"/>
            </a:pPr>
            <a:r>
              <a:rPr lang="en-US" sz="2400">
                <a:solidFill>
                  <a:srgbClr val="233E50"/>
                </a:solidFill>
                <a:latin typeface="ITC Franklin Gothic Std Book"/>
              </a:rPr>
              <a:t>Our analysis is based on publicly available data</a:t>
            </a:r>
          </a:p>
          <a:p>
            <a:pPr marL="914400" lvl="1" indent="-457200">
              <a:lnSpc>
                <a:spcPct val="200000"/>
              </a:lnSpc>
              <a:buFont typeface="Arial"/>
              <a:buChar char="•"/>
            </a:pPr>
            <a:endParaRPr lang="en-US" sz="2400">
              <a:solidFill>
                <a:srgbClr val="233E50"/>
              </a:solidFill>
              <a:latin typeface="ITC Franklin Gothic Std Book"/>
            </a:endParaRPr>
          </a:p>
        </p:txBody>
      </p:sp>
    </p:spTree>
    <p:extLst>
      <p:ext uri="{BB962C8B-B14F-4D97-AF65-F5344CB8AC3E}">
        <p14:creationId xmlns:p14="http://schemas.microsoft.com/office/powerpoint/2010/main" val="302405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88278" y="2849114"/>
            <a:ext cx="8272462" cy="51435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 b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Questions?</a:t>
            </a:r>
            <a:endParaRPr lang="en-US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D9BCD8E-65D4-6EE3-E525-1A834BD11A66}"/>
              </a:ext>
            </a:extLst>
          </p:cNvPr>
          <p:cNvSpPr txBox="1">
            <a:spLocks/>
          </p:cNvSpPr>
          <p:nvPr/>
        </p:nvSpPr>
        <p:spPr>
          <a:xfrm>
            <a:off x="576469" y="1026269"/>
            <a:ext cx="10694504" cy="415201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4572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</a:pPr>
            <a:endParaRPr lang="en-US" sz="18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 defTabSz="4572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8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EC7E2-1B06-2107-985D-2D91A02B3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2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18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1958" y="229555"/>
            <a:ext cx="12184325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Results: PSID Panel Regression</a:t>
            </a:r>
            <a:endParaRPr lang="en-US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4661CC5-5079-F17F-602A-B90B9A9E4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7" y="1313618"/>
            <a:ext cx="5745297" cy="379009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DA7E146-2826-1F81-D85E-B7C068021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629" y="1317787"/>
            <a:ext cx="5837104" cy="38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0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1B25-71B6-D1E3-5A01-E2BD1C5F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dirty="0" smtClean="0"/>
              <a:pPr/>
              <a:t>19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E1DBB-CFF2-8761-1937-F0A5DEB00A14}"/>
              </a:ext>
            </a:extLst>
          </p:cNvPr>
          <p:cNvSpPr txBox="1">
            <a:spLocks/>
          </p:cNvSpPr>
          <p:nvPr/>
        </p:nvSpPr>
        <p:spPr>
          <a:xfrm>
            <a:off x="1958" y="229555"/>
            <a:ext cx="12184325" cy="876300"/>
          </a:xfr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Calibri"/>
              </a:rPr>
              <a:t>Results: PSID Panel Regression</a:t>
            </a:r>
            <a:endParaRPr 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23847F7-35AD-7FE5-260E-A66749A2A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71" y="1104003"/>
            <a:ext cx="6020717" cy="3988981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3E9AB1E5-9B6D-F232-C6DC-71CDF7C0A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894" y="1052169"/>
            <a:ext cx="6158428" cy="406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200" dirty="0">
            <a:solidFill>
              <a:srgbClr val="233E50"/>
            </a:solidFill>
            <a:latin typeface="ITC Franklin Gothic Std Book" panose="020B05040305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D0C4570A-1D77-7046-B3DE-723FE9619450}"/>
    </a:ext>
  </a:extLst>
</a:theme>
</file>

<file path=ppt/theme/theme2.xml><?xml version="1.0" encoding="utf-8"?>
<a:theme xmlns:a="http://schemas.openxmlformats.org/drawingml/2006/main" name="Title Pag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ABE16229-AED9-D140-8E6D-80BC540ABF8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7" ma:contentTypeDescription="Create a new document." ma:contentTypeScope="" ma:versionID="e87a22b1668461aaba1cb243e9c1a54a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50a2de1385131c5aef9d9d9626e0b05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3F8432-7413-4FFA-A4F5-8D07787FF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657dd-b8a5-4c99-8d51-b0b9d254c989"/>
    <ds:schemaRef ds:uri="5ba80a41-9917-4a22-8f13-cb051ddce6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E65358-2072-4945-87AE-AE20ED311531}">
  <ds:schemaRefs>
    <ds:schemaRef ds:uri="http://schemas.microsoft.com/office/2006/metadata/properties"/>
    <ds:schemaRef ds:uri="http://schemas.microsoft.com/office/infopath/2007/PartnerControls"/>
    <ds:schemaRef ds:uri="7a2657dd-b8a5-4c99-8d51-b0b9d254c989"/>
    <ds:schemaRef ds:uri="5ba80a41-9917-4a22-8f13-cb051ddce64c"/>
  </ds:schemaRefs>
</ds:datastoreItem>
</file>

<file path=customXml/itemProps3.xml><?xml version="1.0" encoding="utf-8"?>
<ds:datastoreItem xmlns:ds="http://schemas.openxmlformats.org/officeDocument/2006/customXml" ds:itemID="{CC4E73E8-A1D3-4569-8DBB-29D140090C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17</Notes>
  <HiddenSlides>2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O1</vt:lpstr>
      <vt:lpstr>Title Page 2</vt:lpstr>
      <vt:lpstr>PowerPoint Presentation</vt:lpstr>
      <vt:lpstr>PowerPoint Presentation</vt:lpstr>
      <vt:lpstr>PowerPoint Presentation</vt:lpstr>
      <vt:lpstr>Project Description + Research Question</vt:lpstr>
      <vt:lpstr>Review of Literatures</vt:lpstr>
      <vt:lpstr>Data Sources</vt:lpstr>
      <vt:lpstr>PowerPoint Presentation</vt:lpstr>
      <vt:lpstr>Results: Unemployment</vt:lpstr>
      <vt:lpstr>Results: Dow Jones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2023-07-31T19:37:32Z</dcterms:created>
  <dcterms:modified xsi:type="dcterms:W3CDTF">2023-12-21T16:40:16Z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MediaServiceImageTags">
    <vt:lpwstr/>
  </property>
</Properties>
</file>