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00" r:id="rId3"/>
    <p:sldId id="301" r:id="rId4"/>
    <p:sldId id="302" r:id="rId5"/>
    <p:sldId id="277" r:id="rId6"/>
    <p:sldId id="278" r:id="rId7"/>
    <p:sldId id="279" r:id="rId8"/>
    <p:sldId id="280" r:id="rId9"/>
    <p:sldId id="276" r:id="rId10"/>
    <p:sldId id="281" r:id="rId11"/>
    <p:sldId id="266" r:id="rId12"/>
    <p:sldId id="268" r:id="rId13"/>
    <p:sldId id="303" r:id="rId14"/>
    <p:sldId id="310" r:id="rId15"/>
    <p:sldId id="307" r:id="rId16"/>
    <p:sldId id="308" r:id="rId17"/>
    <p:sldId id="309" r:id="rId18"/>
    <p:sldId id="305" r:id="rId19"/>
    <p:sldId id="30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24CCCA-1240-ED47-A073-4012C248715A}" v="28" dt="2023-06-02T17:40:37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92"/>
  </p:normalViewPr>
  <p:slideViewPr>
    <p:cSldViewPr snapToGrid="0">
      <p:cViewPr varScale="1">
        <p:scale>
          <a:sx n="102" d="100"/>
          <a:sy n="102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roeder, Joanna (js2mr)" userId="37185e52-d383-4667-9259-a6e2f2b5aa5b" providerId="ADAL" clId="{EC24CCCA-1240-ED47-A073-4012C248715A}"/>
    <pc:docChg chg="undo custSel addSld delSld modSld">
      <pc:chgData name="Schroeder, Joanna (js2mr)" userId="37185e52-d383-4667-9259-a6e2f2b5aa5b" providerId="ADAL" clId="{EC24CCCA-1240-ED47-A073-4012C248715A}" dt="2023-06-02T17:43:14.094" v="2783" actId="5793"/>
      <pc:docMkLst>
        <pc:docMk/>
      </pc:docMkLst>
      <pc:sldChg chg="modSp mod">
        <pc:chgData name="Schroeder, Joanna (js2mr)" userId="37185e52-d383-4667-9259-a6e2f2b5aa5b" providerId="ADAL" clId="{EC24CCCA-1240-ED47-A073-4012C248715A}" dt="2023-06-02T17:33:52.481" v="2521" actId="20577"/>
        <pc:sldMkLst>
          <pc:docMk/>
          <pc:sldMk cId="873509102" sldId="256"/>
        </pc:sldMkLst>
        <pc:spChg chg="mod">
          <ac:chgData name="Schroeder, Joanna (js2mr)" userId="37185e52-d383-4667-9259-a6e2f2b5aa5b" providerId="ADAL" clId="{EC24CCCA-1240-ED47-A073-4012C248715A}" dt="2023-06-02T17:33:40.363" v="2500" actId="20577"/>
          <ac:spMkLst>
            <pc:docMk/>
            <pc:sldMk cId="873509102" sldId="256"/>
            <ac:spMk id="2" creationId="{5FCDD3AE-8625-F043-9844-7863CACE9DCE}"/>
          </ac:spMkLst>
        </pc:spChg>
        <pc:spChg chg="mod">
          <ac:chgData name="Schroeder, Joanna (js2mr)" userId="37185e52-d383-4667-9259-a6e2f2b5aa5b" providerId="ADAL" clId="{EC24CCCA-1240-ED47-A073-4012C248715A}" dt="2023-06-02T17:33:52.481" v="2521" actId="20577"/>
          <ac:spMkLst>
            <pc:docMk/>
            <pc:sldMk cId="873509102" sldId="256"/>
            <ac:spMk id="3" creationId="{4F2F5F5C-1AB3-8FBD-32BF-A1D701E0C667}"/>
          </ac:spMkLst>
        </pc:spChg>
      </pc:sldChg>
      <pc:sldChg chg="addSp modSp">
        <pc:chgData name="Schroeder, Joanna (js2mr)" userId="37185e52-d383-4667-9259-a6e2f2b5aa5b" providerId="ADAL" clId="{EC24CCCA-1240-ED47-A073-4012C248715A}" dt="2023-05-31T13:58:39.455" v="963"/>
        <pc:sldMkLst>
          <pc:docMk/>
          <pc:sldMk cId="872511650" sldId="266"/>
        </pc:sldMkLst>
        <pc:spChg chg="add mod">
          <ac:chgData name="Schroeder, Joanna (js2mr)" userId="37185e52-d383-4667-9259-a6e2f2b5aa5b" providerId="ADAL" clId="{EC24CCCA-1240-ED47-A073-4012C248715A}" dt="2023-05-31T13:58:39.455" v="963"/>
          <ac:spMkLst>
            <pc:docMk/>
            <pc:sldMk cId="872511650" sldId="266"/>
            <ac:spMk id="7" creationId="{AC00D482-EC68-F068-FE9C-E65B40B0535F}"/>
          </ac:spMkLst>
        </pc:spChg>
      </pc:sldChg>
      <pc:sldChg chg="addSp modSp">
        <pc:chgData name="Schroeder, Joanna (js2mr)" userId="37185e52-d383-4667-9259-a6e2f2b5aa5b" providerId="ADAL" clId="{EC24CCCA-1240-ED47-A073-4012C248715A}" dt="2023-05-31T13:58:42.493" v="964"/>
        <pc:sldMkLst>
          <pc:docMk/>
          <pc:sldMk cId="1766103867" sldId="268"/>
        </pc:sldMkLst>
        <pc:spChg chg="add mod">
          <ac:chgData name="Schroeder, Joanna (js2mr)" userId="37185e52-d383-4667-9259-a6e2f2b5aa5b" providerId="ADAL" clId="{EC24CCCA-1240-ED47-A073-4012C248715A}" dt="2023-05-31T13:58:42.493" v="964"/>
          <ac:spMkLst>
            <pc:docMk/>
            <pc:sldMk cId="1766103867" sldId="268"/>
            <ac:spMk id="7" creationId="{F10E6454-CBCA-9E3B-0B6B-3DF2E211100E}"/>
          </ac:spMkLst>
        </pc:spChg>
      </pc:sldChg>
      <pc:sldChg chg="addSp modSp mod">
        <pc:chgData name="Schroeder, Joanna (js2mr)" userId="37185e52-d383-4667-9259-a6e2f2b5aa5b" providerId="ADAL" clId="{EC24CCCA-1240-ED47-A073-4012C248715A}" dt="2023-05-31T13:58:24.937" v="960" actId="20577"/>
        <pc:sldMkLst>
          <pc:docMk/>
          <pc:sldMk cId="763612033" sldId="276"/>
        </pc:sldMkLst>
        <pc:spChg chg="add mod">
          <ac:chgData name="Schroeder, Joanna (js2mr)" userId="37185e52-d383-4667-9259-a6e2f2b5aa5b" providerId="ADAL" clId="{EC24CCCA-1240-ED47-A073-4012C248715A}" dt="2023-05-31T13:58:24.937" v="960" actId="20577"/>
          <ac:spMkLst>
            <pc:docMk/>
            <pc:sldMk cId="763612033" sldId="276"/>
            <ac:spMk id="3" creationId="{B534502C-8016-2E72-8704-ABCE94E502F7}"/>
          </ac:spMkLst>
        </pc:spChg>
      </pc:sldChg>
      <pc:sldChg chg="addSp modSp mod">
        <pc:chgData name="Schroeder, Joanna (js2mr)" userId="37185e52-d383-4667-9259-a6e2f2b5aa5b" providerId="ADAL" clId="{EC24CCCA-1240-ED47-A073-4012C248715A}" dt="2023-05-31T13:57:34.565" v="952" actId="20577"/>
        <pc:sldMkLst>
          <pc:docMk/>
          <pc:sldMk cId="1084855359" sldId="277"/>
        </pc:sldMkLst>
        <pc:spChg chg="add mod">
          <ac:chgData name="Schroeder, Joanna (js2mr)" userId="37185e52-d383-4667-9259-a6e2f2b5aa5b" providerId="ADAL" clId="{EC24CCCA-1240-ED47-A073-4012C248715A}" dt="2023-05-31T13:57:34.565" v="952" actId="20577"/>
          <ac:spMkLst>
            <pc:docMk/>
            <pc:sldMk cId="1084855359" sldId="277"/>
            <ac:spMk id="3" creationId="{710FC013-6FA3-FF48-8C4A-E716A2492093}"/>
          </ac:spMkLst>
        </pc:spChg>
        <pc:spChg chg="mod">
          <ac:chgData name="Schroeder, Joanna (js2mr)" userId="37185e52-d383-4667-9259-a6e2f2b5aa5b" providerId="ADAL" clId="{EC24CCCA-1240-ED47-A073-4012C248715A}" dt="2023-05-31T13:57:25.832" v="950" actId="1076"/>
          <ac:spMkLst>
            <pc:docMk/>
            <pc:sldMk cId="1084855359" sldId="277"/>
            <ac:spMk id="7" creationId="{016D688D-2345-4E67-BF60-B8B896E81886}"/>
          </ac:spMkLst>
        </pc:spChg>
      </pc:sldChg>
      <pc:sldChg chg="addSp modSp mod">
        <pc:chgData name="Schroeder, Joanna (js2mr)" userId="37185e52-d383-4667-9259-a6e2f2b5aa5b" providerId="ADAL" clId="{EC24CCCA-1240-ED47-A073-4012C248715A}" dt="2023-05-31T13:57:53.665" v="954" actId="20577"/>
        <pc:sldMkLst>
          <pc:docMk/>
          <pc:sldMk cId="1455582118" sldId="278"/>
        </pc:sldMkLst>
        <pc:spChg chg="add mod">
          <ac:chgData name="Schroeder, Joanna (js2mr)" userId="37185e52-d383-4667-9259-a6e2f2b5aa5b" providerId="ADAL" clId="{EC24CCCA-1240-ED47-A073-4012C248715A}" dt="2023-05-31T13:57:53.665" v="954" actId="20577"/>
          <ac:spMkLst>
            <pc:docMk/>
            <pc:sldMk cId="1455582118" sldId="278"/>
            <ac:spMk id="5" creationId="{2B381A11-0D3C-9297-88B2-4CF3163CC8C2}"/>
          </ac:spMkLst>
        </pc:spChg>
      </pc:sldChg>
      <pc:sldChg chg="addSp modSp mod">
        <pc:chgData name="Schroeder, Joanna (js2mr)" userId="37185e52-d383-4667-9259-a6e2f2b5aa5b" providerId="ADAL" clId="{EC24CCCA-1240-ED47-A073-4012C248715A}" dt="2023-05-31T13:58:04.187" v="956" actId="20577"/>
        <pc:sldMkLst>
          <pc:docMk/>
          <pc:sldMk cId="2096361837" sldId="279"/>
        </pc:sldMkLst>
        <pc:spChg chg="add mod">
          <ac:chgData name="Schroeder, Joanna (js2mr)" userId="37185e52-d383-4667-9259-a6e2f2b5aa5b" providerId="ADAL" clId="{EC24CCCA-1240-ED47-A073-4012C248715A}" dt="2023-05-31T13:58:04.187" v="956" actId="20577"/>
          <ac:spMkLst>
            <pc:docMk/>
            <pc:sldMk cId="2096361837" sldId="279"/>
            <ac:spMk id="4" creationId="{00391E06-C4A4-1A8B-1E23-B3B6F672D2C9}"/>
          </ac:spMkLst>
        </pc:spChg>
      </pc:sldChg>
      <pc:sldChg chg="addSp modSp mod">
        <pc:chgData name="Schroeder, Joanna (js2mr)" userId="37185e52-d383-4667-9259-a6e2f2b5aa5b" providerId="ADAL" clId="{EC24CCCA-1240-ED47-A073-4012C248715A}" dt="2023-05-31T13:58:14.821" v="958" actId="20577"/>
        <pc:sldMkLst>
          <pc:docMk/>
          <pc:sldMk cId="264590224" sldId="280"/>
        </pc:sldMkLst>
        <pc:spChg chg="add mod">
          <ac:chgData name="Schroeder, Joanna (js2mr)" userId="37185e52-d383-4667-9259-a6e2f2b5aa5b" providerId="ADAL" clId="{EC24CCCA-1240-ED47-A073-4012C248715A}" dt="2023-05-31T13:58:14.821" v="958" actId="20577"/>
          <ac:spMkLst>
            <pc:docMk/>
            <pc:sldMk cId="264590224" sldId="280"/>
            <ac:spMk id="9" creationId="{D754B2C1-EBD9-45E1-7943-1E662FF5C097}"/>
          </ac:spMkLst>
        </pc:spChg>
      </pc:sldChg>
      <pc:sldChg chg="addSp modSp mod">
        <pc:chgData name="Schroeder, Joanna (js2mr)" userId="37185e52-d383-4667-9259-a6e2f2b5aa5b" providerId="ADAL" clId="{EC24CCCA-1240-ED47-A073-4012C248715A}" dt="2023-05-31T13:58:32.091" v="962" actId="20577"/>
        <pc:sldMkLst>
          <pc:docMk/>
          <pc:sldMk cId="1788143675" sldId="281"/>
        </pc:sldMkLst>
        <pc:spChg chg="add mod">
          <ac:chgData name="Schroeder, Joanna (js2mr)" userId="37185e52-d383-4667-9259-a6e2f2b5aa5b" providerId="ADAL" clId="{EC24CCCA-1240-ED47-A073-4012C248715A}" dt="2023-05-31T13:58:32.091" v="962" actId="20577"/>
          <ac:spMkLst>
            <pc:docMk/>
            <pc:sldMk cId="1788143675" sldId="281"/>
            <ac:spMk id="3" creationId="{78ACD22B-B3E9-97F5-6671-50526B7E9E68}"/>
          </ac:spMkLst>
        </pc:spChg>
      </pc:sldChg>
      <pc:sldChg chg="modSp mod">
        <pc:chgData name="Schroeder, Joanna (js2mr)" userId="37185e52-d383-4667-9259-a6e2f2b5aa5b" providerId="ADAL" clId="{EC24CCCA-1240-ED47-A073-4012C248715A}" dt="2023-05-31T13:54:37.142" v="910" actId="404"/>
        <pc:sldMkLst>
          <pc:docMk/>
          <pc:sldMk cId="2107400398" sldId="300"/>
        </pc:sldMkLst>
        <pc:spChg chg="mod">
          <ac:chgData name="Schroeder, Joanna (js2mr)" userId="37185e52-d383-4667-9259-a6e2f2b5aa5b" providerId="ADAL" clId="{EC24CCCA-1240-ED47-A073-4012C248715A}" dt="2023-05-31T13:54:37.142" v="910" actId="404"/>
          <ac:spMkLst>
            <pc:docMk/>
            <pc:sldMk cId="2107400398" sldId="300"/>
            <ac:spMk id="2" creationId="{DCFE023E-2CD0-44B6-933D-E307AAD73DED}"/>
          </ac:spMkLst>
        </pc:spChg>
      </pc:sldChg>
      <pc:sldChg chg="addSp delSp modSp mod">
        <pc:chgData name="Schroeder, Joanna (js2mr)" userId="37185e52-d383-4667-9259-a6e2f2b5aa5b" providerId="ADAL" clId="{EC24CCCA-1240-ED47-A073-4012C248715A}" dt="2023-05-31T13:55:52.596" v="928" actId="27636"/>
        <pc:sldMkLst>
          <pc:docMk/>
          <pc:sldMk cId="2164721565" sldId="301"/>
        </pc:sldMkLst>
        <pc:spChg chg="del mod">
          <ac:chgData name="Schroeder, Joanna (js2mr)" userId="37185e52-d383-4667-9259-a6e2f2b5aa5b" providerId="ADAL" clId="{EC24CCCA-1240-ED47-A073-4012C248715A}" dt="2023-05-31T13:54:53.786" v="913" actId="478"/>
          <ac:spMkLst>
            <pc:docMk/>
            <pc:sldMk cId="2164721565" sldId="301"/>
            <ac:spMk id="2" creationId="{84B5A841-3A28-4501-9200-76680137DD96}"/>
          </ac:spMkLst>
        </pc:spChg>
        <pc:spChg chg="add mod">
          <ac:chgData name="Schroeder, Joanna (js2mr)" userId="37185e52-d383-4667-9259-a6e2f2b5aa5b" providerId="ADAL" clId="{EC24CCCA-1240-ED47-A073-4012C248715A}" dt="2023-05-31T13:55:52.596" v="928" actId="27636"/>
          <ac:spMkLst>
            <pc:docMk/>
            <pc:sldMk cId="2164721565" sldId="301"/>
            <ac:spMk id="7" creationId="{CB091E60-0706-9D8B-3411-C33E85F78CA3}"/>
          </ac:spMkLst>
        </pc:spChg>
      </pc:sldChg>
      <pc:sldChg chg="modSp mod">
        <pc:chgData name="Schroeder, Joanna (js2mr)" userId="37185e52-d383-4667-9259-a6e2f2b5aa5b" providerId="ADAL" clId="{EC24CCCA-1240-ED47-A073-4012C248715A}" dt="2023-05-31T13:56:21.646" v="948" actId="255"/>
        <pc:sldMkLst>
          <pc:docMk/>
          <pc:sldMk cId="2517516834" sldId="302"/>
        </pc:sldMkLst>
        <pc:spChg chg="mod">
          <ac:chgData name="Schroeder, Joanna (js2mr)" userId="37185e52-d383-4667-9259-a6e2f2b5aa5b" providerId="ADAL" clId="{EC24CCCA-1240-ED47-A073-4012C248715A}" dt="2023-05-31T13:56:21.646" v="948" actId="255"/>
          <ac:spMkLst>
            <pc:docMk/>
            <pc:sldMk cId="2517516834" sldId="302"/>
            <ac:spMk id="2" creationId="{31172A90-79BE-46AB-9924-592E3CBF8BC5}"/>
          </ac:spMkLst>
        </pc:spChg>
      </pc:sldChg>
      <pc:sldChg chg="addSp delSp modSp mod">
        <pc:chgData name="Schroeder, Joanna (js2mr)" userId="37185e52-d383-4667-9259-a6e2f2b5aa5b" providerId="ADAL" clId="{EC24CCCA-1240-ED47-A073-4012C248715A}" dt="2023-06-02T17:43:01.025" v="2781" actId="20577"/>
        <pc:sldMkLst>
          <pc:docMk/>
          <pc:sldMk cId="113385697" sldId="303"/>
        </pc:sldMkLst>
        <pc:spChg chg="del mod">
          <ac:chgData name="Schroeder, Joanna (js2mr)" userId="37185e52-d383-4667-9259-a6e2f2b5aa5b" providerId="ADAL" clId="{EC24CCCA-1240-ED47-A073-4012C248715A}" dt="2023-05-31T13:59:03.995" v="967" actId="478"/>
          <ac:spMkLst>
            <pc:docMk/>
            <pc:sldMk cId="113385697" sldId="303"/>
            <ac:spMk id="2" creationId="{809B7804-7D19-5018-BB86-E232A336F977}"/>
          </ac:spMkLst>
        </pc:spChg>
        <pc:spChg chg="mod">
          <ac:chgData name="Schroeder, Joanna (js2mr)" userId="37185e52-d383-4667-9259-a6e2f2b5aa5b" providerId="ADAL" clId="{EC24CCCA-1240-ED47-A073-4012C248715A}" dt="2023-06-02T17:43:01.025" v="2781" actId="20577"/>
          <ac:spMkLst>
            <pc:docMk/>
            <pc:sldMk cId="113385697" sldId="303"/>
            <ac:spMk id="3" creationId="{F1723719-BC57-9400-1754-49B23459F564}"/>
          </ac:spMkLst>
        </pc:spChg>
        <pc:spChg chg="add mod">
          <ac:chgData name="Schroeder, Joanna (js2mr)" userId="37185e52-d383-4667-9259-a6e2f2b5aa5b" providerId="ADAL" clId="{EC24CCCA-1240-ED47-A073-4012C248715A}" dt="2023-05-30T17:51:20.713" v="162" actId="20577"/>
          <ac:spMkLst>
            <pc:docMk/>
            <pc:sldMk cId="113385697" sldId="303"/>
            <ac:spMk id="4" creationId="{7BEAD175-08DE-2889-F8DF-45F27A9C14EE}"/>
          </ac:spMkLst>
        </pc:spChg>
        <pc:spChg chg="add mod">
          <ac:chgData name="Schroeder, Joanna (js2mr)" userId="37185e52-d383-4667-9259-a6e2f2b5aa5b" providerId="ADAL" clId="{EC24CCCA-1240-ED47-A073-4012C248715A}" dt="2023-05-31T14:00:07.857" v="1081" actId="27636"/>
          <ac:spMkLst>
            <pc:docMk/>
            <pc:sldMk cId="113385697" sldId="303"/>
            <ac:spMk id="5" creationId="{67FA8D8D-B189-F372-677C-2D40C31B7A9F}"/>
          </ac:spMkLst>
        </pc:spChg>
        <pc:spChg chg="add del mod">
          <ac:chgData name="Schroeder, Joanna (js2mr)" userId="37185e52-d383-4667-9259-a6e2f2b5aa5b" providerId="ADAL" clId="{EC24CCCA-1240-ED47-A073-4012C248715A}" dt="2023-05-31T13:59:06.286" v="968" actId="478"/>
          <ac:spMkLst>
            <pc:docMk/>
            <pc:sldMk cId="113385697" sldId="303"/>
            <ac:spMk id="7" creationId="{EFC4EE14-A3E0-FC0E-712B-2077952DB84B}"/>
          </ac:spMkLst>
        </pc:spChg>
        <pc:picChg chg="mod">
          <ac:chgData name="Schroeder, Joanna (js2mr)" userId="37185e52-d383-4667-9259-a6e2f2b5aa5b" providerId="ADAL" clId="{EC24CCCA-1240-ED47-A073-4012C248715A}" dt="2023-05-31T14:00:18.204" v="1082" actId="1076"/>
          <ac:picMkLst>
            <pc:docMk/>
            <pc:sldMk cId="113385697" sldId="303"/>
            <ac:picMk id="1026" creationId="{97B1E120-2ED0-4AC8-D9E2-C7AA6C25F323}"/>
          </ac:picMkLst>
        </pc:picChg>
      </pc:sldChg>
      <pc:sldChg chg="modSp new del mod">
        <pc:chgData name="Schroeder, Joanna (js2mr)" userId="37185e52-d383-4667-9259-a6e2f2b5aa5b" providerId="ADAL" clId="{EC24CCCA-1240-ED47-A073-4012C248715A}" dt="2023-05-31T13:53:04.898" v="851" actId="2696"/>
        <pc:sldMkLst>
          <pc:docMk/>
          <pc:sldMk cId="3141225212" sldId="304"/>
        </pc:sldMkLst>
        <pc:spChg chg="mod">
          <ac:chgData name="Schroeder, Joanna (js2mr)" userId="37185e52-d383-4667-9259-a6e2f2b5aa5b" providerId="ADAL" clId="{EC24CCCA-1240-ED47-A073-4012C248715A}" dt="2023-05-30T18:04:31.903" v="400" actId="20577"/>
          <ac:spMkLst>
            <pc:docMk/>
            <pc:sldMk cId="3141225212" sldId="304"/>
            <ac:spMk id="2" creationId="{07D76667-5950-6C12-2824-835F6F41E94D}"/>
          </ac:spMkLst>
        </pc:spChg>
      </pc:sldChg>
      <pc:sldChg chg="addSp delSp modSp new mod">
        <pc:chgData name="Schroeder, Joanna (js2mr)" userId="37185e52-d383-4667-9259-a6e2f2b5aa5b" providerId="ADAL" clId="{EC24CCCA-1240-ED47-A073-4012C248715A}" dt="2023-06-02T17:43:14.094" v="2783" actId="5793"/>
        <pc:sldMkLst>
          <pc:docMk/>
          <pc:sldMk cId="3667348691" sldId="305"/>
        </pc:sldMkLst>
        <pc:spChg chg="del mod">
          <ac:chgData name="Schroeder, Joanna (js2mr)" userId="37185e52-d383-4667-9259-a6e2f2b5aa5b" providerId="ADAL" clId="{EC24CCCA-1240-ED47-A073-4012C248715A}" dt="2023-05-31T14:00:44.391" v="1086" actId="478"/>
          <ac:spMkLst>
            <pc:docMk/>
            <pc:sldMk cId="3667348691" sldId="305"/>
            <ac:spMk id="2" creationId="{C6848B91-35BA-7760-2122-AE6C10D7B264}"/>
          </ac:spMkLst>
        </pc:spChg>
        <pc:spChg chg="mod">
          <ac:chgData name="Schroeder, Joanna (js2mr)" userId="37185e52-d383-4667-9259-a6e2f2b5aa5b" providerId="ADAL" clId="{EC24CCCA-1240-ED47-A073-4012C248715A}" dt="2023-06-02T17:43:14.094" v="2783" actId="5793"/>
          <ac:spMkLst>
            <pc:docMk/>
            <pc:sldMk cId="3667348691" sldId="305"/>
            <ac:spMk id="3" creationId="{195723EB-D86F-EFC2-F42C-9ED6FBFE6238}"/>
          </ac:spMkLst>
        </pc:spChg>
        <pc:spChg chg="add mod">
          <ac:chgData name="Schroeder, Joanna (js2mr)" userId="37185e52-d383-4667-9259-a6e2f2b5aa5b" providerId="ADAL" clId="{EC24CCCA-1240-ED47-A073-4012C248715A}" dt="2023-05-31T14:01:16.390" v="1141" actId="20577"/>
          <ac:spMkLst>
            <pc:docMk/>
            <pc:sldMk cId="3667348691" sldId="305"/>
            <ac:spMk id="4" creationId="{034C4ECB-B325-CAB0-0A25-3B5A2C65D96F}"/>
          </ac:spMkLst>
        </pc:spChg>
        <pc:spChg chg="add del mod">
          <ac:chgData name="Schroeder, Joanna (js2mr)" userId="37185e52-d383-4667-9259-a6e2f2b5aa5b" providerId="ADAL" clId="{EC24CCCA-1240-ED47-A073-4012C248715A}" dt="2023-05-31T14:00:50.052" v="1087" actId="478"/>
          <ac:spMkLst>
            <pc:docMk/>
            <pc:sldMk cId="3667348691" sldId="305"/>
            <ac:spMk id="6" creationId="{84759AC4-7E3D-6C25-715E-29F0CDEE4766}"/>
          </ac:spMkLst>
        </pc:spChg>
      </pc:sldChg>
      <pc:sldChg chg="addSp delSp modSp new mod">
        <pc:chgData name="Schroeder, Joanna (js2mr)" userId="37185e52-d383-4667-9259-a6e2f2b5aa5b" providerId="ADAL" clId="{EC24CCCA-1240-ED47-A073-4012C248715A}" dt="2023-05-31T14:13:03.642" v="1972" actId="255"/>
        <pc:sldMkLst>
          <pc:docMk/>
          <pc:sldMk cId="3978571863" sldId="306"/>
        </pc:sldMkLst>
        <pc:spChg chg="del mod">
          <ac:chgData name="Schroeder, Joanna (js2mr)" userId="37185e52-d383-4667-9259-a6e2f2b5aa5b" providerId="ADAL" clId="{EC24CCCA-1240-ED47-A073-4012C248715A}" dt="2023-05-31T14:01:26.278" v="1143" actId="478"/>
          <ac:spMkLst>
            <pc:docMk/>
            <pc:sldMk cId="3978571863" sldId="306"/>
            <ac:spMk id="2" creationId="{D5D35C3E-C4DE-9E6C-3399-53EED6020CBC}"/>
          </ac:spMkLst>
        </pc:spChg>
        <pc:spChg chg="mod">
          <ac:chgData name="Schroeder, Joanna (js2mr)" userId="37185e52-d383-4667-9259-a6e2f2b5aa5b" providerId="ADAL" clId="{EC24CCCA-1240-ED47-A073-4012C248715A}" dt="2023-05-31T14:13:03.642" v="1972" actId="255"/>
          <ac:spMkLst>
            <pc:docMk/>
            <pc:sldMk cId="3978571863" sldId="306"/>
            <ac:spMk id="3" creationId="{46416A9E-429C-507E-E39B-4CF3293DF558}"/>
          </ac:spMkLst>
        </pc:spChg>
        <pc:spChg chg="add mod">
          <ac:chgData name="Schroeder, Joanna (js2mr)" userId="37185e52-d383-4667-9259-a6e2f2b5aa5b" providerId="ADAL" clId="{EC24CCCA-1240-ED47-A073-4012C248715A}" dt="2023-05-31T14:01:47.780" v="1204" actId="20577"/>
          <ac:spMkLst>
            <pc:docMk/>
            <pc:sldMk cId="3978571863" sldId="306"/>
            <ac:spMk id="4" creationId="{3056C569-2C5D-4448-D6AF-161E6B5AB59A}"/>
          </ac:spMkLst>
        </pc:spChg>
        <pc:spChg chg="add del mod">
          <ac:chgData name="Schroeder, Joanna (js2mr)" userId="37185e52-d383-4667-9259-a6e2f2b5aa5b" providerId="ADAL" clId="{EC24CCCA-1240-ED47-A073-4012C248715A}" dt="2023-05-31T14:01:29.122" v="1144" actId="478"/>
          <ac:spMkLst>
            <pc:docMk/>
            <pc:sldMk cId="3978571863" sldId="306"/>
            <ac:spMk id="6" creationId="{B9DBBB5C-F093-0B3D-D130-D1AC1FE54FA8}"/>
          </ac:spMkLst>
        </pc:spChg>
      </pc:sldChg>
      <pc:sldChg chg="modSp add mod">
        <pc:chgData name="Schroeder, Joanna (js2mr)" userId="37185e52-d383-4667-9259-a6e2f2b5aa5b" providerId="ADAL" clId="{EC24CCCA-1240-ED47-A073-4012C248715A}" dt="2023-06-02T17:36:03.134" v="2675" actId="20577"/>
        <pc:sldMkLst>
          <pc:docMk/>
          <pc:sldMk cId="1082362222" sldId="307"/>
        </pc:sldMkLst>
        <pc:spChg chg="mod">
          <ac:chgData name="Schroeder, Joanna (js2mr)" userId="37185e52-d383-4667-9259-a6e2f2b5aa5b" providerId="ADAL" clId="{EC24CCCA-1240-ED47-A073-4012C248715A}" dt="2023-06-02T17:36:03.134" v="2675" actId="20577"/>
          <ac:spMkLst>
            <pc:docMk/>
            <pc:sldMk cId="1082362222" sldId="307"/>
            <ac:spMk id="3" creationId="{F1723719-BC57-9400-1754-49B23459F564}"/>
          </ac:spMkLst>
        </pc:spChg>
      </pc:sldChg>
      <pc:sldChg chg="modSp add mod">
        <pc:chgData name="Schroeder, Joanna (js2mr)" userId="37185e52-d383-4667-9259-a6e2f2b5aa5b" providerId="ADAL" clId="{EC24CCCA-1240-ED47-A073-4012C248715A}" dt="2023-06-02T17:35:06.722" v="2606" actId="20577"/>
        <pc:sldMkLst>
          <pc:docMk/>
          <pc:sldMk cId="3476799676" sldId="308"/>
        </pc:sldMkLst>
        <pc:spChg chg="mod">
          <ac:chgData name="Schroeder, Joanna (js2mr)" userId="37185e52-d383-4667-9259-a6e2f2b5aa5b" providerId="ADAL" clId="{EC24CCCA-1240-ED47-A073-4012C248715A}" dt="2023-06-02T17:35:06.722" v="2606" actId="20577"/>
          <ac:spMkLst>
            <pc:docMk/>
            <pc:sldMk cId="3476799676" sldId="308"/>
            <ac:spMk id="3" creationId="{F1723719-BC57-9400-1754-49B23459F564}"/>
          </ac:spMkLst>
        </pc:spChg>
      </pc:sldChg>
      <pc:sldChg chg="modSp add mod">
        <pc:chgData name="Schroeder, Joanna (js2mr)" userId="37185e52-d383-4667-9259-a6e2f2b5aa5b" providerId="ADAL" clId="{EC24CCCA-1240-ED47-A073-4012C248715A}" dt="2023-06-02T17:34:24.077" v="2522" actId="20577"/>
        <pc:sldMkLst>
          <pc:docMk/>
          <pc:sldMk cId="581024445" sldId="309"/>
        </pc:sldMkLst>
        <pc:spChg chg="mod">
          <ac:chgData name="Schroeder, Joanna (js2mr)" userId="37185e52-d383-4667-9259-a6e2f2b5aa5b" providerId="ADAL" clId="{EC24CCCA-1240-ED47-A073-4012C248715A}" dt="2023-06-02T17:34:24.077" v="2522" actId="20577"/>
          <ac:spMkLst>
            <pc:docMk/>
            <pc:sldMk cId="581024445" sldId="309"/>
            <ac:spMk id="3" creationId="{F1723719-BC57-9400-1754-49B23459F564}"/>
          </ac:spMkLst>
        </pc:spChg>
      </pc:sldChg>
      <pc:sldChg chg="add">
        <pc:chgData name="Schroeder, Joanna (js2mr)" userId="37185e52-d383-4667-9259-a6e2f2b5aa5b" providerId="ADAL" clId="{EC24CCCA-1240-ED47-A073-4012C248715A}" dt="2023-06-02T17:42:55.173" v="2779" actId="2890"/>
        <pc:sldMkLst>
          <pc:docMk/>
          <pc:sldMk cId="3998401518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A4717-CC0B-3E4B-AE1F-941E59C63CA4}" type="datetimeFigureOut">
              <a:rPr lang="en-US" smtClean="0"/>
              <a:t>6/2/23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11DBD-29B9-C243-94FA-C59B9A269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11DBD-29B9-C243-94FA-C59B9A2690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58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11DBD-29B9-C243-94FA-C59B9A2690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8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04EE-6B90-BC84-F5A5-B6BAC540C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32797-0BF8-4E92-90BB-0CAEBCDCB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132D-6D57-4B64-E124-DCC89464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0B641-F6DC-4665-AA6A-5D1DF7DD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34CA-177E-12C7-D3B0-DB2824E4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1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8E0F-0626-AC41-F52A-8F942B61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E6D4-43D0-9CA6-72C6-61AFCEC24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B77C-CD2C-C302-ECD5-D64E67F1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E4F0A-CC17-F255-060D-63ADE4E72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D743A-46A1-19C3-B2F7-D1D0B01E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7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E7ED-D4D4-A05C-8D35-63E6ACF6D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F9E87-7254-14FC-79FB-E1E2CE034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1A33A-8889-3A53-4C2D-23BB8D85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767E-EDC5-A029-4F57-5413F961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035FE-34A2-866D-5E69-47506EF9B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60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D021-C8E0-1FB3-8EEB-566693A20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2A7D7-6C59-B993-D174-0FD9CC474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3F2D3-EFF4-A238-EFBD-F1C69BF66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6A2F6-4DA7-EB5A-E6C0-7992E8D2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940EC-6746-302B-F491-274B6052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68B21-9F19-E474-1AF0-5997355C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6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E9F5-E42A-C6B6-D6FC-8A1B39CD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EAC62-B472-9FFD-CCDF-6C266C61A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EBCFA-4292-DAB6-40B1-843019DF6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67A5E-CB89-CDC6-A03B-681F3F229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4960E-12F9-D60A-2387-043410202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327FD2-D8CD-7BBD-B435-6AE7DF7C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0AA8E-ECEF-1693-DF87-90BCB6F0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B583-92F6-2FA6-D7BE-3EC7D4CD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8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E9AF-EBD7-6A64-7A23-9D5D707A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2121E-44A2-FB4B-CABF-53F0FAE1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8C9A4-F526-0792-5C7C-0B031B78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A703F-7132-EC1F-3084-B09DAC60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5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92BFA-3C1A-49F6-D234-D6AA2570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F7F02-8F1F-45DA-CBBD-68FF5E8B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BE511-F286-BD83-A6C3-3486192C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2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2735-E4A5-7113-AD51-7B0E0E19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881C3-1C75-3695-369F-B1842DC97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A4F08-4EE6-CD29-F557-5DBC1A4A8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DC091-DF13-5103-DF31-8638E422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F866C-3B96-B771-5341-FBA50028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E5551-6495-DA4D-93B8-828EE57F3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5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09F6-1A65-5336-D960-1FEF3D4C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B07E0-D264-6113-E5D8-F957A1F25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B6C38-A606-1325-619B-714F2CC82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055AC-AB29-2AA8-3CCF-DB4F8F6F6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837B4-5DBC-6D5A-EF7C-33710F66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C148A-EB75-C7B3-3365-020644E6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7351-B2F7-EC83-7942-C6B70648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AAF4F-CA49-6A09-B31A-3919580EF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67C32-B2C2-5DDE-0D82-607390EC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5E5E6-12F3-7646-3913-CB1EA7BA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4E087-1847-2135-2DF1-38CE909E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6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632DC-A38E-ABA3-9540-6DDA2F038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219F5-CFA9-E7F2-1E77-AE372204A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59626-DB04-056D-0910-3E181C70C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A0890-90C8-6E43-86DA-03E22CD4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86629-7268-FF44-0664-1B107034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7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5E9AA-BBC0-6623-6F3F-43AD92C0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FEF7C-1A8D-1070-F3E9-9388ECA9E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F8482-9D25-2C75-BA23-0796010A5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5B3B2-ECB7-CF42-8AAB-A4FC2479371B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B63E3-2048-2079-332E-3430EA2A5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EB7F4-4895-4E55-6CF4-E1779C16C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77D1E-BD8B-9F4C-9B3E-C53AD3C3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1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ata.org/initiatives/data-skills/ddi-training-webinars/register-now-webinar-on-introduction-to-metadata-for-research-data-management-a-data-documentation-initiative-ddi-perspectiv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m.nih.gov/oet/ed/cde/tutorial/02-200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rct=j&amp;q=&amp;esrc=s&amp;source=web&amp;cd=&amp;cad=rja&amp;uact=8&amp;ved=2ahUKEwjalILdkKX_AhXGElkFHXvRB2gQFnoECA8QAQ&amp;url=https%3A%2F%2Fwww.ncbi.nlm.nih.gov%2Fmesh%2F&amp;usg=AOvVaw2YMYW_Sj_vxNkP4ABmWHER" TargetMode="External"/><Relationship Id="rId2" Type="http://schemas.openxmlformats.org/officeDocument/2006/relationships/hyperlink" Target="https://id.loc.gov/authorities/subject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lm.nih.gov/oet/ed/cde/tutorial/02-200.html" TargetMode="Externa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lm.nih.gov/oet/ed/cde/tutorial/02-200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m.nih.gov/oet/ed/cde/tutorial/02-200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m.nih.gov/oet/ed/cde/tutorial/02-200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va-bi-sdad/sdc.health" TargetMode="External"/><Relationship Id="rId2" Type="http://schemas.openxmlformats.org/officeDocument/2006/relationships/hyperlink" Target="https://uva-bi-sdad.github.io/capital_reg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va-bi-sdad.github.io/sdc.metadata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DD3AE-8625-F043-9844-7863CACE9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Metadata + Naming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F5F5C-1AB3-8FBD-32BF-A1D701E0C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JoJo</a:t>
            </a:r>
          </a:p>
          <a:p>
            <a:r>
              <a:rPr lang="en-US" dirty="0"/>
              <a:t>06-02-2023</a:t>
            </a:r>
          </a:p>
        </p:txBody>
      </p:sp>
    </p:spTree>
    <p:extLst>
      <p:ext uri="{BB962C8B-B14F-4D97-AF65-F5344CB8AC3E}">
        <p14:creationId xmlns:p14="http://schemas.microsoft.com/office/powerpoint/2010/main" val="87350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023E-2CD0-44B6-933D-E307AAD7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02A1D-8356-4407-B959-A5C667FA8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should we care so much about metadata? </a:t>
            </a:r>
          </a:p>
          <a:p>
            <a:r>
              <a:rPr lang="en-US" dirty="0"/>
              <a:t>Isn’t it just “data about data”?</a:t>
            </a:r>
          </a:p>
          <a:p>
            <a:r>
              <a:rPr lang="en-US" dirty="0"/>
              <a:t>Shouldn’t we be focused on the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30D65-C06A-418E-8678-CB506D4C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6CD5-C53D-48F4-ABFD-4356A787E2F8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DC6DE-E96B-48BA-B9F6-91241D25B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8633" y="6176963"/>
            <a:ext cx="1612900" cy="571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562533-2B2E-DC1C-D4B7-E9257C1BF114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adapted from The DDI Training Working Group, “</a:t>
            </a:r>
            <a:r>
              <a:rPr lang="en-US" dirty="0">
                <a:hlinkClick r:id="rId3"/>
              </a:rPr>
              <a:t>Introduction to Metadata for Research Data management: The DDI Perspective</a:t>
            </a:r>
            <a:r>
              <a:rPr lang="en-US" dirty="0"/>
              <a:t>,” presented on April 29, 2021</a:t>
            </a:r>
          </a:p>
        </p:txBody>
      </p:sp>
    </p:spTree>
    <p:extLst>
      <p:ext uri="{BB962C8B-B14F-4D97-AF65-F5344CB8AC3E}">
        <p14:creationId xmlns:p14="http://schemas.microsoft.com/office/powerpoint/2010/main" val="210740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19C56-5310-4061-99BA-2F86FD711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Metadata is what allows people to discover, assess, and navigate through collections of data</a:t>
            </a:r>
          </a:p>
          <a:p>
            <a:r>
              <a:rPr lang="en-US" dirty="0"/>
              <a:t>Metadata is what allows people to understand data</a:t>
            </a:r>
          </a:p>
          <a:p>
            <a:r>
              <a:rPr lang="en-US" dirty="0"/>
              <a:t>Metadata is what allows machines to process and manage data</a:t>
            </a:r>
          </a:p>
          <a:p>
            <a:r>
              <a:rPr lang="en-US" dirty="0"/>
              <a:t>Metadata is what allows people to harmonize, integrate, and reuse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want FAIR data, you need </a:t>
            </a:r>
            <a:r>
              <a:rPr lang="en-US" i="1" dirty="0"/>
              <a:t>metadata</a:t>
            </a:r>
            <a:r>
              <a:rPr lang="en-US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2329A-C8DF-4658-8653-51DFFFBC9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6CD5-C53D-48F4-ABFD-4356A787E2F8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1573F-3471-45EA-850D-4B2C07790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8613" y="6070600"/>
            <a:ext cx="1612900" cy="57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ACDC94-A02C-7F23-A1A3-1FD0E29ABCDC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091E60-0706-9D8B-3411-C33E85F78C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64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</a:p>
          <a:p>
            <a:r>
              <a:rPr lang="en-US" sz="4000" dirty="0"/>
              <a:t>If You Care about Data, You Care about Metadata!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6472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2A90-79BE-46AB-9924-592E3CBF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is metadata?</a:t>
            </a:r>
            <a:br>
              <a:rPr lang="en-US" sz="4000" dirty="0"/>
            </a:br>
            <a:r>
              <a:rPr lang="en-US" sz="4000" dirty="0"/>
              <a:t>Metadata is the Limiting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5658B-82DD-4C5A-9B1E-0D6F26F5D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Your data is only as good as the metadata which describes it</a:t>
            </a:r>
          </a:p>
          <a:p>
            <a:r>
              <a:rPr lang="en-US" dirty="0"/>
              <a:t>Traditionally, research has focused on data supporting specific research</a:t>
            </a:r>
          </a:p>
          <a:p>
            <a:r>
              <a:rPr lang="en-US" dirty="0"/>
              <a:t>Now, the demand for larger, cross-cutting research projects places an emphasis on better data management</a:t>
            </a:r>
          </a:p>
          <a:p>
            <a:r>
              <a:rPr lang="en-US" dirty="0"/>
              <a:t>The answer to providing this is to have good, well-managed metadata!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A0F79-15E6-40FD-A4CE-064A5B4E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6CD5-C53D-48F4-ABFD-4356A787E2F8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44442-40FA-41F5-8946-DB06A5117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38593" y="6149975"/>
            <a:ext cx="1612900" cy="57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1A09B-89D0-1A6D-1C2D-AB1B2BA49E93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adapted from The DDI Training Working Group, “Introduction to Metadata for Research Data management: The DDI Perspective,” presented on April 29, 2021</a:t>
            </a:r>
          </a:p>
        </p:txBody>
      </p:sp>
    </p:spTree>
    <p:extLst>
      <p:ext uri="{BB962C8B-B14F-4D97-AF65-F5344CB8AC3E}">
        <p14:creationId xmlns:p14="http://schemas.microsoft.com/office/powerpoint/2010/main" val="251751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6D688D-2345-4E67-BF60-B8B896E8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17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What is in this can?</a:t>
            </a:r>
          </a:p>
        </p:txBody>
      </p:sp>
      <p:pic>
        <p:nvPicPr>
          <p:cNvPr id="1026" name="Picture 2" descr="Unlabelled Tin Can On A White Background Stock Photo - Image of container,  metallic: 159452534">
            <a:extLst>
              <a:ext uri="{FF2B5EF4-FFF2-40B4-BE49-F238E27FC236}">
                <a16:creationId xmlns:a16="http://schemas.microsoft.com/office/drawing/2014/main" id="{BDC93DB7-815A-4CE9-8509-94EB2839B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287" y="1268760"/>
            <a:ext cx="4149427" cy="493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E6707273-5A0B-4507-9878-9658178C7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7399" y="6203758"/>
            <a:ext cx="1612900" cy="571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92F159-6E89-24A6-7073-0751B9EEE588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10FC013-6FA3-FF48-8C4A-E716A2492093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84855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41D8-2602-4C04-B229-338E3C9F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Now you know!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73905-D194-4CD4-A61F-C47FB1E5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18" y="1374719"/>
            <a:ext cx="3374132" cy="4701291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F7E3615-1170-447C-9144-1E3BF2F5A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009" y="6076010"/>
            <a:ext cx="1612900" cy="57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316" y="1802955"/>
            <a:ext cx="3660749" cy="38448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F528F4-A14A-08F4-A2FB-FB1A7883029E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381A11-0D3C-9297-88B2-4CF3163CC8C2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5558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42FE-5B47-4F57-B15D-A09722F1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do the numbers in this table mean?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44D701-66BB-4D68-874D-09AFA4E7F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08" y="2419845"/>
            <a:ext cx="8838992" cy="2823567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522DA69-4FC2-4A43-BC29-47D067E2E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6108" y="6207125"/>
            <a:ext cx="1612900" cy="571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95E62-A84A-7F4A-12AD-462F4B05939E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391E06-C4A4-1A8B-1E23-B3B6F672D2C9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9636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62EF-F9CC-40E0-8B3F-0D719455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Metadata tells us!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BD122C-D242-46AE-8553-62CA75738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79" y="2086248"/>
            <a:ext cx="8680441" cy="3992819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AE7CA920-934F-48F7-A325-2242C5865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2879" y="6188877"/>
            <a:ext cx="1612900" cy="571500"/>
          </a:xfrm>
          <a:prstGeom prst="rect">
            <a:avLst/>
          </a:prstGeom>
        </p:spPr>
      </p:pic>
      <p:sp>
        <p:nvSpPr>
          <p:cNvPr id="3" name="Right Brace 2"/>
          <p:cNvSpPr/>
          <p:nvPr/>
        </p:nvSpPr>
        <p:spPr>
          <a:xfrm>
            <a:off x="5959149" y="4614334"/>
            <a:ext cx="457200" cy="1363134"/>
          </a:xfrm>
          <a:prstGeom prst="rightBrace">
            <a:avLst>
              <a:gd name="adj1" fmla="val 8333"/>
              <a:gd name="adj2" fmla="val 5198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756398" y="5065068"/>
            <a:ext cx="1405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Metadata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H="1" flipV="1">
            <a:off x="3531290" y="2652068"/>
            <a:ext cx="3927842" cy="2413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0"/>
          </p:cNvCxnSpPr>
          <p:nvPr/>
        </p:nvCxnSpPr>
        <p:spPr>
          <a:xfrm flipH="1" flipV="1">
            <a:off x="5301514" y="2662704"/>
            <a:ext cx="2157618" cy="24023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0"/>
          </p:cNvCxnSpPr>
          <p:nvPr/>
        </p:nvCxnSpPr>
        <p:spPr>
          <a:xfrm flipH="1" flipV="1">
            <a:off x="7181808" y="2652069"/>
            <a:ext cx="277324" cy="24129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0"/>
          </p:cNvCxnSpPr>
          <p:nvPr/>
        </p:nvCxnSpPr>
        <p:spPr>
          <a:xfrm flipV="1">
            <a:off x="7459132" y="2662705"/>
            <a:ext cx="1278468" cy="24023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92ADAD-88A2-61AB-8FC6-D4194026B5E8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754B2C1-EBD9-45E1-7943-1E662FF5C097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459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Arial"/>
                <a:cs typeface="Arial"/>
              </a:rPr>
              <a:t>What Does “Meta” Mean, Anyway?</a:t>
            </a:r>
            <a:endParaRPr lang="en-US" dirty="0"/>
          </a:p>
        </p:txBody>
      </p:sp>
      <p:sp>
        <p:nvSpPr>
          <p:cNvPr id="6" name="Rectangle 3"/>
          <p:cNvSpPr/>
          <p:nvPr/>
        </p:nvSpPr>
        <p:spPr bwMode="auto">
          <a:xfrm>
            <a:off x="6006913" y="3290500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sz="1350"/>
              <a:t> </a:t>
            </a:r>
            <a:endParaRPr sz="1350"/>
          </a:p>
        </p:txBody>
      </p:sp>
      <p:sp>
        <p:nvSpPr>
          <p:cNvPr id="7" name="Rectangle 4"/>
          <p:cNvSpPr/>
          <p:nvPr/>
        </p:nvSpPr>
        <p:spPr bwMode="auto">
          <a:xfrm>
            <a:off x="6006913" y="3290500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sz="1350"/>
              <a:t> </a:t>
            </a:r>
            <a:endParaRPr sz="135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2428" y="6072295"/>
            <a:ext cx="1612900" cy="5715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33FBCE-69E3-42E6-9525-229738CF21E2}"/>
              </a:ext>
            </a:extLst>
          </p:cNvPr>
          <p:cNvSpPr txBox="1">
            <a:spLocks/>
          </p:cNvSpPr>
          <p:nvPr/>
        </p:nvSpPr>
        <p:spPr bwMode="auto">
          <a:xfrm>
            <a:off x="838199" y="2011892"/>
            <a:ext cx="9482667" cy="3639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000"/>
              <a:defRPr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Metadata are descriptions or information about some thing(s)</a:t>
            </a:r>
          </a:p>
          <a:p>
            <a:pPr>
              <a:spcBef>
                <a:spcPts val="0"/>
              </a:spcBef>
              <a:buSzPts val="2000"/>
              <a:defRPr/>
            </a:pPr>
            <a:endParaRPr lang="en-GB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SzPts val="2000"/>
              <a:defRPr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Greek</a:t>
            </a:r>
            <a:r>
              <a:rPr lang="en-GB" sz="28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l-GR" sz="2800" dirty="0">
                <a:solidFill>
                  <a:srgbClr val="202122"/>
                </a:solidFill>
                <a:latin typeface="Arial" panose="020B0604020202020204" pitchFamily="34" charset="0"/>
              </a:rPr>
              <a:t> μετά</a:t>
            </a:r>
            <a:r>
              <a:rPr lang="en-GB" sz="2800" i="1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GB" sz="2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prefix meaning</a:t>
            </a:r>
          </a:p>
          <a:p>
            <a:pPr lvl="2">
              <a:spcBef>
                <a:spcPts val="0"/>
              </a:spcBef>
              <a:buSzPts val="2000"/>
              <a:defRPr/>
            </a:pPr>
            <a:endParaRPr lang="en-GB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Bef>
                <a:spcPts val="0"/>
              </a:spcBef>
              <a:buSzPts val="2000"/>
              <a:defRPr/>
            </a:pPr>
            <a:r>
              <a:rPr lang="en-GB" sz="24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</a:t>
            </a:r>
          </a:p>
          <a:p>
            <a:pPr lvl="2">
              <a:spcBef>
                <a:spcPts val="0"/>
              </a:spcBef>
              <a:buSzPts val="2000"/>
              <a:defRPr/>
            </a:pPr>
            <a:r>
              <a:rPr lang="en-GB" sz="24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</a:p>
          <a:p>
            <a:pPr lvl="2">
              <a:spcBef>
                <a:spcPts val="0"/>
              </a:spcBef>
              <a:buSzPts val="2000"/>
              <a:defRPr/>
            </a:pPr>
            <a:r>
              <a:rPr lang="en-GB" sz="24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Transcending</a:t>
            </a:r>
          </a:p>
          <a:p>
            <a:pPr lvl="2">
              <a:spcBef>
                <a:spcPts val="0"/>
              </a:spcBef>
              <a:buSzPts val="2000"/>
              <a:defRPr/>
            </a:pPr>
            <a:endParaRPr lang="en-GB" sz="28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SzPts val="2000"/>
              <a:defRPr/>
            </a:pPr>
            <a:r>
              <a:rPr lang="en-GB" sz="2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Literally – metadata are </a:t>
            </a:r>
            <a:r>
              <a:rPr lang="en-GB" sz="2800" u="sng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</a:t>
            </a:r>
            <a:r>
              <a:rPr lang="en-GB" sz="2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thing(s) being described</a:t>
            </a:r>
          </a:p>
          <a:p>
            <a:pPr marL="0" indent="0">
              <a:spcBef>
                <a:spcPts val="0"/>
              </a:spcBef>
              <a:buSzPts val="2000"/>
              <a:buNone/>
              <a:defRPr/>
            </a:pPr>
            <a:endParaRPr lang="en-GB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8552FA-8D04-BACA-38ED-C9249A2937A0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34502C-8016-2E72-8704-ABCE94E502F7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6361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Arial"/>
                <a:cs typeface="Arial"/>
              </a:rPr>
              <a:t>Metadata Clarification</a:t>
            </a:r>
            <a:endParaRPr dirty="0"/>
          </a:p>
        </p:txBody>
      </p:sp>
      <p:sp>
        <p:nvSpPr>
          <p:cNvPr id="6" name="Rectangle 3"/>
          <p:cNvSpPr/>
          <p:nvPr/>
        </p:nvSpPr>
        <p:spPr bwMode="auto">
          <a:xfrm>
            <a:off x="6006913" y="3290500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sz="1350"/>
              <a:t> </a:t>
            </a:r>
            <a:endParaRPr sz="1350"/>
          </a:p>
        </p:txBody>
      </p:sp>
      <p:sp>
        <p:nvSpPr>
          <p:cNvPr id="7" name="Rectangle 4"/>
          <p:cNvSpPr/>
          <p:nvPr/>
        </p:nvSpPr>
        <p:spPr bwMode="auto">
          <a:xfrm>
            <a:off x="6006913" y="3290500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sz="1350"/>
              <a:t> </a:t>
            </a:r>
            <a:endParaRPr sz="1350"/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2428" y="6027324"/>
            <a:ext cx="1612900" cy="5715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33FBCE-69E3-42E6-9525-229738CF21E2}"/>
              </a:ext>
            </a:extLst>
          </p:cNvPr>
          <p:cNvSpPr txBox="1">
            <a:spLocks/>
          </p:cNvSpPr>
          <p:nvPr/>
        </p:nvSpPr>
        <p:spPr bwMode="auto">
          <a:xfrm>
            <a:off x="838200" y="1425343"/>
            <a:ext cx="9922934" cy="460198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71450" indent="-171450" algn="l" defTabSz="685800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2000"/>
              <a:defRPr/>
            </a:pPr>
            <a:endParaRPr lang="en-GB" sz="24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3800" u="sng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numeric table</a:t>
            </a: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Metadata are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Headings for the columns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Descriptions of the values in each column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describe the table and the data in the cells</a:t>
            </a:r>
          </a:p>
          <a:p>
            <a:pPr>
              <a:lnSpc>
                <a:spcPct val="120000"/>
              </a:lnSpc>
              <a:spcBef>
                <a:spcPts val="0"/>
              </a:spcBef>
              <a:buSzPts val="2000"/>
              <a:defRPr/>
            </a:pPr>
            <a:endParaRPr lang="en-GB" sz="3800" u="sng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define it as “data about data”, but…</a:t>
            </a:r>
          </a:p>
          <a:p>
            <a:pPr>
              <a:lnSpc>
                <a:spcPct val="120000"/>
              </a:lnSpc>
              <a:spcBef>
                <a:spcPts val="0"/>
              </a:spcBef>
              <a:buSzPts val="2000"/>
              <a:defRPr/>
            </a:pPr>
            <a:endParaRPr lang="en-GB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3800" u="sng" dirty="0">
                <a:latin typeface="Arial" panose="020B0604020202020204" pitchFamily="34" charset="0"/>
                <a:cs typeface="Arial" panose="020B0604020202020204" pitchFamily="34" charset="0"/>
              </a:rPr>
              <a:t>food can</a:t>
            </a: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Metadata are what is written in the label on the can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describe the contents of the can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  <a:defRPr/>
            </a:pPr>
            <a:endParaRPr lang="en-GB" sz="38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SzPts val="2000"/>
              <a:defRPr/>
            </a:pPr>
            <a:r>
              <a:rPr lang="en-GB" sz="38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look at this in more detail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BCDFC5-6189-38B5-16FB-EAEC85BBF59A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ACD22B-B3E9-97F5-6671-50526B7E9E68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8814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versus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075"/>
            <a:ext cx="10515600" cy="4767888"/>
          </a:xfrm>
        </p:spPr>
        <p:txBody>
          <a:bodyPr>
            <a:normAutofit/>
          </a:bodyPr>
          <a:lstStyle/>
          <a:p>
            <a:r>
              <a:rPr lang="en-US" dirty="0"/>
              <a:t>Consider microdata or administrative data</a:t>
            </a:r>
          </a:p>
          <a:p>
            <a:pPr lvl="1"/>
            <a:r>
              <a:rPr lang="en-US" dirty="0"/>
              <a:t>Microdata – </a:t>
            </a:r>
          </a:p>
          <a:p>
            <a:pPr lvl="2"/>
            <a:r>
              <a:rPr lang="en-US" dirty="0"/>
              <a:t>data collected from respondents in a statistical survey</a:t>
            </a:r>
          </a:p>
          <a:p>
            <a:pPr lvl="2"/>
            <a:r>
              <a:rPr lang="en-US" dirty="0"/>
              <a:t>collected data are a description of each respondent</a:t>
            </a:r>
          </a:p>
          <a:p>
            <a:pPr lvl="1"/>
            <a:r>
              <a:rPr lang="en-US" dirty="0"/>
              <a:t>Administrative data –</a:t>
            </a:r>
          </a:p>
          <a:p>
            <a:pPr lvl="2"/>
            <a:r>
              <a:rPr lang="en-US" dirty="0"/>
              <a:t>data acquired as a result of managing some social program</a:t>
            </a:r>
          </a:p>
          <a:p>
            <a:pPr lvl="2"/>
            <a:r>
              <a:rPr lang="en-US" dirty="0"/>
              <a:t>managed data are a description of each program participant</a:t>
            </a:r>
          </a:p>
          <a:p>
            <a:r>
              <a:rPr lang="en-US" dirty="0"/>
              <a:t>Why aren’t these metadata?</a:t>
            </a:r>
          </a:p>
          <a:p>
            <a:pPr lvl="1"/>
            <a:r>
              <a:rPr lang="en-US" dirty="0"/>
              <a:t>In each case, data describe some things, but…</a:t>
            </a:r>
          </a:p>
          <a:p>
            <a:pPr lvl="2"/>
            <a:r>
              <a:rPr lang="en-US" dirty="0"/>
              <a:t>Survey responses are used to </a:t>
            </a:r>
            <a:r>
              <a:rPr lang="en-US" i="1" dirty="0"/>
              <a:t>measure</a:t>
            </a:r>
            <a:r>
              <a:rPr lang="en-US" dirty="0"/>
              <a:t> characteristics of a population</a:t>
            </a:r>
          </a:p>
          <a:p>
            <a:pPr lvl="2"/>
            <a:r>
              <a:rPr lang="en-US" dirty="0"/>
              <a:t>Administrative data are used to </a:t>
            </a:r>
            <a:r>
              <a:rPr lang="en-US" i="1" dirty="0"/>
              <a:t>measure</a:t>
            </a:r>
            <a:r>
              <a:rPr lang="en-US" dirty="0"/>
              <a:t> characteristics of the program participants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6CD5-C53D-48F4-ABFD-4356A787E2F8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2FF36-0887-498C-894E-A428C4262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8633" y="6149975"/>
            <a:ext cx="1612900" cy="57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B84884-E9C7-B10A-31EA-B9B85C1B4B9A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00D482-EC68-F068-FE9C-E65B40B0535F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7251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– A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Metadata is a </a:t>
            </a:r>
            <a:r>
              <a:rPr lang="en-US" u="sng" dirty="0"/>
              <a:t>role</a:t>
            </a:r>
            <a:r>
              <a:rPr lang="en-US" dirty="0"/>
              <a:t> for data</a:t>
            </a:r>
          </a:p>
          <a:p>
            <a:r>
              <a:rPr lang="en-US" dirty="0"/>
              <a:t>No data are always metadata</a:t>
            </a:r>
          </a:p>
          <a:p>
            <a:pPr lvl="1"/>
            <a:r>
              <a:rPr lang="en-US" dirty="0"/>
              <a:t>Data are metadata when they are used that way</a:t>
            </a:r>
          </a:p>
          <a:p>
            <a:r>
              <a:rPr lang="en-US" dirty="0"/>
              <a:t>Most (if not all) data can be used as metadata</a:t>
            </a:r>
          </a:p>
          <a:p>
            <a:r>
              <a:rPr lang="en-US" dirty="0"/>
              <a:t>Sometimes, data could be both metadata and data</a:t>
            </a:r>
          </a:p>
          <a:p>
            <a:pPr lvl="1"/>
            <a:r>
              <a:rPr lang="en-US" dirty="0"/>
              <a:t>Depends on usage</a:t>
            </a:r>
          </a:p>
          <a:p>
            <a:pPr lvl="1"/>
            <a:r>
              <a:rPr lang="en-US" dirty="0"/>
              <a:t>Same data, different perspective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6CD5-C53D-48F4-ABFD-4356A787E2F8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6605E8-D266-4ABB-96F7-D9B16CCE0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8633" y="6145680"/>
            <a:ext cx="1612900" cy="57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EC6CD7-7CF2-886C-8034-E934CFC8BB68}"/>
              </a:ext>
            </a:extLst>
          </p:cNvPr>
          <p:cNvSpPr txBox="1"/>
          <p:nvPr/>
        </p:nvSpPr>
        <p:spPr>
          <a:xfrm>
            <a:off x="1791533" y="6145680"/>
            <a:ext cx="908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courtesy of The DDI Training Working Group, “Introduction to Metadata for Research Data management: The DDI Perspective,” presented on April 29, 2021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0E6454-CBCA-9E3B-0B6B-3DF2E211100E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What is metadata?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66103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3719-BC57-9400-1754-49B23459F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486" y="1064712"/>
            <a:ext cx="6796314" cy="511225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Findable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Accessible</a:t>
            </a:r>
            <a:endParaRPr lang="en-US" dirty="0">
              <a:solidFill>
                <a:srgbClr val="212529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Interoperable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Reusable</a:t>
            </a:r>
            <a:endParaRPr lang="en-US" b="0" i="0" dirty="0">
              <a:solidFill>
                <a:srgbClr val="212529"/>
              </a:solidFill>
              <a:effectLst/>
            </a:endParaRPr>
          </a:p>
        </p:txBody>
      </p:sp>
      <p:pic>
        <p:nvPicPr>
          <p:cNvPr id="1026" name="Picture 2" descr="Image of FAIR acronymn with FAIR = Findable, Accessible, Interoperable, Reusable">
            <a:extLst>
              <a:ext uri="{FF2B5EF4-FFF2-40B4-BE49-F238E27FC236}">
                <a16:creationId xmlns:a16="http://schemas.microsoft.com/office/drawing/2014/main" id="{97B1E120-2ED0-4AC8-D9E2-C7AA6C25F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3" t="6310" r="7601" b="7924"/>
          <a:stretch/>
        </p:blipFill>
        <p:spPr bwMode="auto">
          <a:xfrm>
            <a:off x="320657" y="1169867"/>
            <a:ext cx="423682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AD175-08DE-2889-F8DF-45F27A9C14EE}"/>
              </a:ext>
            </a:extLst>
          </p:cNvPr>
          <p:cNvSpPr txBox="1"/>
          <p:nvPr/>
        </p:nvSpPr>
        <p:spPr>
          <a:xfrm>
            <a:off x="101600" y="6145680"/>
            <a:ext cx="1209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courtesy of the National Institutes of Health, “</a:t>
            </a:r>
            <a:r>
              <a:rPr lang="en-US" dirty="0">
                <a:hlinkClick r:id="rId3"/>
              </a:rPr>
              <a:t>Common Data Elements: Standardizing Data Collection</a:t>
            </a:r>
            <a:r>
              <a:rPr lang="en-US" dirty="0"/>
              <a:t>” Online Training, accessed May 30, 2023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FA8D8D-B189-F372-677C-2D40C31B7A9F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046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Why metadata?</a:t>
            </a:r>
          </a:p>
          <a:p>
            <a:r>
              <a:rPr lang="en-US" sz="4300" dirty="0"/>
              <a:t>The importance of FAIR data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3385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3719-BC57-9400-1754-49B23459F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486" y="1064712"/>
            <a:ext cx="6796314" cy="511225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Findable</a:t>
            </a:r>
            <a:r>
              <a:rPr lang="en-US" b="0" i="0" dirty="0">
                <a:solidFill>
                  <a:srgbClr val="212529"/>
                </a:solidFill>
                <a:effectLst/>
              </a:rPr>
              <a:t>: For data to be findable there must be sufficient metadata; there must be a unique and persistent identifier; and the data must be registered or indexed in a searchable resource.</a:t>
            </a:r>
          </a:p>
          <a:p>
            <a:pPr lvl="1"/>
            <a:r>
              <a:rPr lang="en-US" dirty="0">
                <a:solidFill>
                  <a:srgbClr val="212529"/>
                </a:solidFill>
              </a:rPr>
              <a:t>Using Subject Headings like the </a:t>
            </a:r>
            <a:r>
              <a:rPr lang="en-US" dirty="0">
                <a:solidFill>
                  <a:srgbClr val="212529"/>
                </a:solidFill>
                <a:hlinkClick r:id="rId2"/>
              </a:rPr>
              <a:t>Library of Congress Subject Headings (LCSH)</a:t>
            </a:r>
            <a:r>
              <a:rPr lang="en-US" dirty="0">
                <a:solidFill>
                  <a:srgbClr val="212529"/>
                </a:solidFill>
              </a:rPr>
              <a:t>, </a:t>
            </a:r>
            <a:r>
              <a:rPr lang="en-US" dirty="0">
                <a:solidFill>
                  <a:srgbClr val="212529"/>
                </a:solidFill>
                <a:hlinkClick r:id="rId3"/>
              </a:rPr>
              <a:t>Medical Subject Headings (</a:t>
            </a:r>
            <a:r>
              <a:rPr lang="en-US" dirty="0" err="1">
                <a:solidFill>
                  <a:srgbClr val="212529"/>
                </a:solidFill>
                <a:hlinkClick r:id="rId3"/>
              </a:rPr>
              <a:t>MeSH</a:t>
            </a:r>
            <a:r>
              <a:rPr lang="en-US" dirty="0">
                <a:solidFill>
                  <a:srgbClr val="212529"/>
                </a:solidFill>
                <a:hlinkClick r:id="rId3"/>
              </a:rPr>
              <a:t>)</a:t>
            </a:r>
            <a:endParaRPr lang="en-US" b="0" i="0" dirty="0">
              <a:solidFill>
                <a:srgbClr val="212529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Accessible</a:t>
            </a:r>
            <a:endParaRPr lang="en-US" dirty="0">
              <a:solidFill>
                <a:srgbClr val="212529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Interoperable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Reusable</a:t>
            </a:r>
            <a:endParaRPr lang="en-US" b="0" i="0" dirty="0">
              <a:solidFill>
                <a:srgbClr val="212529"/>
              </a:solidFill>
              <a:effectLst/>
            </a:endParaRPr>
          </a:p>
        </p:txBody>
      </p:sp>
      <p:pic>
        <p:nvPicPr>
          <p:cNvPr id="1026" name="Picture 2" descr="Image of FAIR acronymn with FAIR = Findable, Accessible, Interoperable, Reusable">
            <a:extLst>
              <a:ext uri="{FF2B5EF4-FFF2-40B4-BE49-F238E27FC236}">
                <a16:creationId xmlns:a16="http://schemas.microsoft.com/office/drawing/2014/main" id="{97B1E120-2ED0-4AC8-D9E2-C7AA6C25F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3" t="6310" r="7601" b="7924"/>
          <a:stretch/>
        </p:blipFill>
        <p:spPr bwMode="auto">
          <a:xfrm>
            <a:off x="320657" y="1169867"/>
            <a:ext cx="423682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AD175-08DE-2889-F8DF-45F27A9C14EE}"/>
              </a:ext>
            </a:extLst>
          </p:cNvPr>
          <p:cNvSpPr txBox="1"/>
          <p:nvPr/>
        </p:nvSpPr>
        <p:spPr>
          <a:xfrm>
            <a:off x="101600" y="6145680"/>
            <a:ext cx="1209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courtesy of the National Institutes of Health, “</a:t>
            </a:r>
            <a:r>
              <a:rPr lang="en-US" dirty="0">
                <a:hlinkClick r:id="rId5"/>
              </a:rPr>
              <a:t>Common Data Elements: Standardizing Data Collection</a:t>
            </a:r>
            <a:r>
              <a:rPr lang="en-US" dirty="0"/>
              <a:t>” Online Training, accessed May 30, 2023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FA8D8D-B189-F372-677C-2D40C31B7A9F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046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Why metadata?</a:t>
            </a:r>
          </a:p>
          <a:p>
            <a:r>
              <a:rPr lang="en-US" sz="4300" dirty="0"/>
              <a:t>The importance of FAIR data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98401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3719-BC57-9400-1754-49B23459F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486" y="1064712"/>
            <a:ext cx="6796314" cy="511225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Findable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Accessible</a:t>
            </a:r>
            <a:r>
              <a:rPr lang="en-US" b="0" i="0" dirty="0">
                <a:solidFill>
                  <a:srgbClr val="212529"/>
                </a:solidFill>
                <a:effectLst/>
              </a:rPr>
              <a:t>: To be accessible, metadata and data should be readable by humans and by machines, and it must reside in a trusted repository.</a:t>
            </a:r>
          </a:p>
          <a:p>
            <a:pPr lvl="1"/>
            <a:r>
              <a:rPr lang="en-US" b="0" i="0" dirty="0">
                <a:solidFill>
                  <a:srgbClr val="212529"/>
                </a:solidFill>
                <a:effectLst/>
              </a:rPr>
              <a:t>Inter-university Consortium for Political Science Research (ICPSR), </a:t>
            </a:r>
            <a:r>
              <a:rPr lang="en-US" b="0" i="0" dirty="0" err="1">
                <a:solidFill>
                  <a:srgbClr val="212529"/>
                </a:solidFill>
                <a:effectLst/>
              </a:rPr>
              <a:t>Dataverse</a:t>
            </a:r>
            <a:r>
              <a:rPr lang="en-US" b="0" i="0" dirty="0">
                <a:solidFill>
                  <a:srgbClr val="212529"/>
                </a:solidFill>
                <a:effectLst/>
              </a:rPr>
              <a:t>, GitHub (?)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Interoperable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Reusable</a:t>
            </a:r>
            <a:endParaRPr lang="en-US" b="0" i="0" dirty="0">
              <a:solidFill>
                <a:srgbClr val="212529"/>
              </a:solidFill>
              <a:effectLst/>
            </a:endParaRPr>
          </a:p>
        </p:txBody>
      </p:sp>
      <p:pic>
        <p:nvPicPr>
          <p:cNvPr id="1026" name="Picture 2" descr="Image of FAIR acronymn with FAIR = Findable, Accessible, Interoperable, Reusable">
            <a:extLst>
              <a:ext uri="{FF2B5EF4-FFF2-40B4-BE49-F238E27FC236}">
                <a16:creationId xmlns:a16="http://schemas.microsoft.com/office/drawing/2014/main" id="{97B1E120-2ED0-4AC8-D9E2-C7AA6C25F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3" t="6310" r="7601" b="7924"/>
          <a:stretch/>
        </p:blipFill>
        <p:spPr bwMode="auto">
          <a:xfrm>
            <a:off x="320657" y="1169867"/>
            <a:ext cx="423682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AD175-08DE-2889-F8DF-45F27A9C14EE}"/>
              </a:ext>
            </a:extLst>
          </p:cNvPr>
          <p:cNvSpPr txBox="1"/>
          <p:nvPr/>
        </p:nvSpPr>
        <p:spPr>
          <a:xfrm>
            <a:off x="101600" y="6145680"/>
            <a:ext cx="1209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courtesy of the National Institutes of Health, “</a:t>
            </a:r>
            <a:r>
              <a:rPr lang="en-US" dirty="0">
                <a:hlinkClick r:id="rId4"/>
              </a:rPr>
              <a:t>Common Data Elements: Standardizing Data Collection</a:t>
            </a:r>
            <a:r>
              <a:rPr lang="en-US" dirty="0"/>
              <a:t>” Online Training, accessed May 30, 2023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FA8D8D-B189-F372-677C-2D40C31B7A9F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046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Why metadata?</a:t>
            </a:r>
          </a:p>
          <a:p>
            <a:r>
              <a:rPr lang="en-US" sz="4300" dirty="0"/>
              <a:t>The importance of FAIR data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82362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3719-BC57-9400-1754-49B23459F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486" y="1064712"/>
            <a:ext cx="6796314" cy="511225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Findable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Accessible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Interoperable</a:t>
            </a:r>
            <a:r>
              <a:rPr lang="en-US" b="0" i="0" dirty="0">
                <a:solidFill>
                  <a:srgbClr val="212529"/>
                </a:solidFill>
                <a:effectLst/>
              </a:rPr>
              <a:t>: Data must share a common structure, and metadata must use recognized, formal terminologies for description.</a:t>
            </a:r>
          </a:p>
          <a:p>
            <a:pPr lvl="1"/>
            <a:r>
              <a:rPr lang="en-US" dirty="0" err="1">
                <a:solidFill>
                  <a:srgbClr val="212529"/>
                </a:solidFill>
              </a:rPr>
              <a:t>m</a:t>
            </a:r>
            <a:r>
              <a:rPr lang="en-US" b="0" i="0" dirty="0" err="1">
                <a:solidFill>
                  <a:srgbClr val="212529"/>
                </a:solidFill>
                <a:effectLst/>
              </a:rPr>
              <a:t>easure_info.json</a:t>
            </a:r>
            <a:endParaRPr lang="en-US" b="0" i="0" dirty="0">
              <a:solidFill>
                <a:srgbClr val="212529"/>
              </a:solidFill>
              <a:effectLst/>
            </a:endParaRPr>
          </a:p>
          <a:p>
            <a:pPr lvl="1"/>
            <a:r>
              <a:rPr lang="en-US" b="0" i="0" dirty="0">
                <a:solidFill>
                  <a:srgbClr val="212529"/>
                </a:solidFill>
                <a:effectLst/>
              </a:rPr>
              <a:t>Metadata schemas such as Data Documentation Initiative (DDI), Dublin Core (DC), Metadata Object Description Schema (MODS</a:t>
            </a:r>
            <a:r>
              <a:rPr lang="en-US" dirty="0">
                <a:solidFill>
                  <a:srgbClr val="212529"/>
                </a:solidFill>
              </a:rPr>
              <a:t>)</a:t>
            </a:r>
            <a:r>
              <a:rPr lang="en-US" b="0" i="0" dirty="0">
                <a:solidFill>
                  <a:srgbClr val="212529"/>
                </a:solidFill>
                <a:effectLst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Reusable</a:t>
            </a:r>
          </a:p>
        </p:txBody>
      </p:sp>
      <p:pic>
        <p:nvPicPr>
          <p:cNvPr id="1026" name="Picture 2" descr="Image of FAIR acronymn with FAIR = Findable, Accessible, Interoperable, Reusable">
            <a:extLst>
              <a:ext uri="{FF2B5EF4-FFF2-40B4-BE49-F238E27FC236}">
                <a16:creationId xmlns:a16="http://schemas.microsoft.com/office/drawing/2014/main" id="{97B1E120-2ED0-4AC8-D9E2-C7AA6C25F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3" t="6310" r="7601" b="7924"/>
          <a:stretch/>
        </p:blipFill>
        <p:spPr bwMode="auto">
          <a:xfrm>
            <a:off x="320657" y="1169867"/>
            <a:ext cx="423682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AD175-08DE-2889-F8DF-45F27A9C14EE}"/>
              </a:ext>
            </a:extLst>
          </p:cNvPr>
          <p:cNvSpPr txBox="1"/>
          <p:nvPr/>
        </p:nvSpPr>
        <p:spPr>
          <a:xfrm>
            <a:off x="101600" y="6145680"/>
            <a:ext cx="1209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courtesy of the National Institutes of Health, “</a:t>
            </a:r>
            <a:r>
              <a:rPr lang="en-US" dirty="0">
                <a:hlinkClick r:id="rId3"/>
              </a:rPr>
              <a:t>Common Data Elements: Standardizing Data Collection</a:t>
            </a:r>
            <a:r>
              <a:rPr lang="en-US" dirty="0"/>
              <a:t>” Online Training, accessed May 30, 2023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FA8D8D-B189-F372-677C-2D40C31B7A9F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046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Why metadata?</a:t>
            </a:r>
          </a:p>
          <a:p>
            <a:r>
              <a:rPr lang="en-US" sz="4300" dirty="0"/>
              <a:t>The importance of FAIR data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76799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3719-BC57-9400-1754-49B23459F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486" y="1064712"/>
            <a:ext cx="6796314" cy="511225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Findable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Accessible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Interoperable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</a:rPr>
              <a:t>Reusable</a:t>
            </a:r>
            <a:r>
              <a:rPr lang="en-US" b="0" i="0" dirty="0">
                <a:solidFill>
                  <a:srgbClr val="212529"/>
                </a:solidFill>
                <a:effectLst/>
              </a:rPr>
              <a:t>: Data and collections must have clear usage licenses and clear provenance and meet relevant community standards for the domain.</a:t>
            </a:r>
          </a:p>
          <a:p>
            <a:pPr lvl="1"/>
            <a:r>
              <a:rPr lang="en-US" dirty="0">
                <a:solidFill>
                  <a:srgbClr val="212529"/>
                </a:solidFill>
              </a:rPr>
              <a:t>Clearly stating the permissions of use and reuse, where the data comes from</a:t>
            </a:r>
            <a:endParaRPr lang="en-US" b="0" i="0" dirty="0">
              <a:solidFill>
                <a:srgbClr val="212529"/>
              </a:solidFill>
              <a:effectLst/>
            </a:endParaRPr>
          </a:p>
        </p:txBody>
      </p:sp>
      <p:pic>
        <p:nvPicPr>
          <p:cNvPr id="1026" name="Picture 2" descr="Image of FAIR acronymn with FAIR = Findable, Accessible, Interoperable, Reusable">
            <a:extLst>
              <a:ext uri="{FF2B5EF4-FFF2-40B4-BE49-F238E27FC236}">
                <a16:creationId xmlns:a16="http://schemas.microsoft.com/office/drawing/2014/main" id="{97B1E120-2ED0-4AC8-D9E2-C7AA6C25F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3" t="6310" r="7601" b="7924"/>
          <a:stretch/>
        </p:blipFill>
        <p:spPr bwMode="auto">
          <a:xfrm>
            <a:off x="320657" y="1169867"/>
            <a:ext cx="423682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AD175-08DE-2889-F8DF-45F27A9C14EE}"/>
              </a:ext>
            </a:extLst>
          </p:cNvPr>
          <p:cNvSpPr txBox="1"/>
          <p:nvPr/>
        </p:nvSpPr>
        <p:spPr>
          <a:xfrm>
            <a:off x="101600" y="6145680"/>
            <a:ext cx="1209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courtesy of the National Institutes of Health, “</a:t>
            </a:r>
            <a:r>
              <a:rPr lang="en-US" dirty="0">
                <a:hlinkClick r:id="rId3"/>
              </a:rPr>
              <a:t>Common Data Elements: Standardizing Data Collection</a:t>
            </a:r>
            <a:r>
              <a:rPr lang="en-US" dirty="0"/>
              <a:t>” Online Training, accessed May 30, 2023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FA8D8D-B189-F372-677C-2D40C31B7A9F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046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Why metadata?</a:t>
            </a:r>
          </a:p>
          <a:p>
            <a:r>
              <a:rPr lang="en-US" sz="4300" dirty="0"/>
              <a:t>The importance of FAIR data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81024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723EB-D86F-EFC2-F42C-9ED6FBFE6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Why is metadata necessary for the Data Commons project?</a:t>
            </a:r>
          </a:p>
          <a:p>
            <a:pPr lvl="1"/>
            <a:r>
              <a:rPr lang="en-US" dirty="0"/>
              <a:t>Being an academic research </a:t>
            </a:r>
            <a:r>
              <a:rPr lang="en-US"/>
              <a:t>project aside…</a:t>
            </a:r>
            <a:endParaRPr lang="en-US" dirty="0"/>
          </a:p>
          <a:p>
            <a:pPr lvl="1"/>
            <a:r>
              <a:rPr lang="en-US" dirty="0"/>
              <a:t>There is an external need (stakeholders, data users)</a:t>
            </a:r>
          </a:p>
          <a:p>
            <a:pPr lvl="1"/>
            <a:r>
              <a:rPr lang="en-US" dirty="0"/>
              <a:t>There is an internal need (interoperable systems)</a:t>
            </a:r>
          </a:p>
          <a:p>
            <a:r>
              <a:rPr lang="en-US" sz="2400" dirty="0"/>
              <a:t>How are we implementing metadata best-practices?</a:t>
            </a:r>
          </a:p>
          <a:p>
            <a:pPr lvl="1"/>
            <a:r>
              <a:rPr lang="en-US" sz="2000" dirty="0">
                <a:hlinkClick r:id="rId2"/>
              </a:rPr>
              <a:t>On the dashboard </a:t>
            </a:r>
            <a:endParaRPr lang="en-US" sz="2000" dirty="0"/>
          </a:p>
          <a:p>
            <a:pPr lvl="1"/>
            <a:r>
              <a:rPr lang="en-US" sz="2000" dirty="0">
                <a:hlinkClick r:id="rId3"/>
              </a:rPr>
              <a:t>In the data repositories</a:t>
            </a:r>
            <a:endParaRPr lang="en-US" sz="2000" dirty="0"/>
          </a:p>
          <a:p>
            <a:pPr lvl="1"/>
            <a:r>
              <a:rPr lang="en-US" sz="2000" dirty="0">
                <a:hlinkClick r:id="rId4"/>
              </a:rPr>
              <a:t>Metadata website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4C4ECB-B325-CAB0-0A25-3B5A2C65D96F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046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Metadata in action</a:t>
            </a:r>
          </a:p>
          <a:p>
            <a:r>
              <a:rPr lang="en-US" sz="4300" dirty="0"/>
              <a:t>The SDAD Data Commons project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67348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16A9E-429C-507E-E39B-4CF3293DF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As much as possible, try to implement best-practices within your team</a:t>
            </a:r>
          </a:p>
          <a:p>
            <a:pPr lvl="1"/>
            <a:r>
              <a:rPr lang="en-US" dirty="0"/>
              <a:t>When sharing data internally, empathize with an outside user of the data. What information would they need to accurately find, access, use, and reuse the data?</a:t>
            </a:r>
          </a:p>
          <a:p>
            <a:r>
              <a:rPr lang="en-US" sz="2400" dirty="0"/>
              <a:t>You have implicit knowledge of data</a:t>
            </a:r>
          </a:p>
          <a:p>
            <a:pPr lvl="1"/>
            <a:r>
              <a:rPr lang="en-US" dirty="0"/>
              <a:t>How will you codify implicit knowledge?</a:t>
            </a:r>
          </a:p>
          <a:p>
            <a:r>
              <a:rPr lang="en-US" sz="2400" dirty="0"/>
              <a:t>At the end of the summer, you will have a research product</a:t>
            </a:r>
          </a:p>
          <a:p>
            <a:pPr lvl="1"/>
            <a:r>
              <a:rPr lang="en-US" dirty="0"/>
              <a:t>What are the standards we hold research products to?</a:t>
            </a:r>
          </a:p>
          <a:p>
            <a:pPr lvl="1"/>
            <a:r>
              <a:rPr lang="en-US" dirty="0"/>
              <a:t>What can you do today to make your future </a:t>
            </a:r>
            <a:r>
              <a:rPr lang="en-US" dirty="0" err="1"/>
              <a:t>you’s</a:t>
            </a:r>
            <a:r>
              <a:rPr lang="en-US" dirty="0"/>
              <a:t> life easier?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56C569-2C5D-4448-D6AF-161E6B5AB59A}"/>
              </a:ext>
            </a:extLst>
          </p:cNvPr>
          <p:cNvSpPr txBox="1">
            <a:spLocks/>
          </p:cNvSpPr>
          <p:nvPr/>
        </p:nvSpPr>
        <p:spPr bwMode="auto">
          <a:xfrm>
            <a:off x="0" y="18255"/>
            <a:ext cx="10515600" cy="1046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Metadata in action</a:t>
            </a:r>
          </a:p>
          <a:p>
            <a:r>
              <a:rPr lang="en-US" sz="4300" dirty="0"/>
              <a:t>Important things for </a:t>
            </a:r>
            <a:r>
              <a:rPr lang="en-US" sz="4300" dirty="0" err="1"/>
              <a:t>DSPGers</a:t>
            </a:r>
            <a:r>
              <a:rPr lang="en-US" sz="4300" dirty="0"/>
              <a:t> to consider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7857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8D9B254-41EE-4DD5-9BA8-F47034D6D4EA}"/>
</file>

<file path=customXml/itemProps2.xml><?xml version="1.0" encoding="utf-8"?>
<ds:datastoreItem xmlns:ds="http://schemas.openxmlformats.org/officeDocument/2006/customXml" ds:itemID="{D4966252-3514-4C71-B762-2AEEA866552F}"/>
</file>

<file path=customXml/itemProps3.xml><?xml version="1.0" encoding="utf-8"?>
<ds:datastoreItem xmlns:ds="http://schemas.openxmlformats.org/officeDocument/2006/customXml" ds:itemID="{45F4F955-873D-4838-A134-1CA25A9950BC}"/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1331</Words>
  <Application>Microsoft Macintosh PowerPoint</Application>
  <PresentationFormat>Widescreen</PresentationFormat>
  <Paragraphs>159</Paragraphs>
  <Slides>19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Metadata + Naming Things</vt:lpstr>
      <vt:lpstr>What is metadata? </vt:lpstr>
      <vt:lpstr>PowerPoint Presentation</vt:lpstr>
      <vt:lpstr>What is metadata? Metadata is the Limiting Factor</vt:lpstr>
      <vt:lpstr>What is in this can?</vt:lpstr>
      <vt:lpstr>Now you know!</vt:lpstr>
      <vt:lpstr>What do the numbers in this table mean?</vt:lpstr>
      <vt:lpstr>Metadata tells us!</vt:lpstr>
      <vt:lpstr>What Does “Meta” Mean, Anyway?</vt:lpstr>
      <vt:lpstr>Metadata Clarification</vt:lpstr>
      <vt:lpstr>Metadata versus Data</vt:lpstr>
      <vt:lpstr>Metadata – A Role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Schroeder, Joanna (js2mr)</dc:creator>
  <cp:lastModifiedBy>Schroeder, Joanna (js2mr)</cp:lastModifiedBy>
  <cp:revision>1</cp:revision>
  <dcterms:created xsi:type="dcterms:W3CDTF">2023-05-30T17:15:43Z</dcterms:created>
  <dcterms:modified xsi:type="dcterms:W3CDTF">2023-06-02T17:43:15Z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