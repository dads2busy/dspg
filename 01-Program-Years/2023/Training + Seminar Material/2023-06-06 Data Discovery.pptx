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revisionInfo.xml" ContentType="application/vnd.ms-powerpoint.revisioninfo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1487" r:id="rId3"/>
    <p:sldId id="1481" r:id="rId4"/>
    <p:sldId id="257" r:id="rId5"/>
    <p:sldId id="1482" r:id="rId6"/>
    <p:sldId id="1486" r:id="rId7"/>
    <p:sldId id="1489" r:id="rId8"/>
    <p:sldId id="1490" r:id="rId9"/>
    <p:sldId id="1485" r:id="rId10"/>
    <p:sldId id="148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9C0583-708C-CE41-AC53-90D0F1D79D2F}" v="18" dt="2023-06-06T16:02:20.9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09"/>
    <p:restoredTop sz="96327"/>
  </p:normalViewPr>
  <p:slideViewPr>
    <p:cSldViewPr snapToGrid="0">
      <p:cViewPr varScale="1">
        <p:scale>
          <a:sx n="108" d="100"/>
          <a:sy n="108" d="100"/>
        </p:scale>
        <p:origin x="5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A074E-22D6-FF67-D5FC-B74AD5FBAA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5376D1-0AF6-CE32-463C-60A297DBA9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2EE32-1BF5-BFAB-D5C1-6A2535928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0EEC7-613A-854B-A307-8AC3D264FBF2}" type="datetimeFigureOut">
              <a:rPr lang="en-US" smtClean="0"/>
              <a:t>6/6/23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F2469-DD2F-E967-F8E3-96844947D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12BD9-C4B6-7D65-C78C-E2633B67D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A7435-737F-2C46-96D7-1DB18B4E8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184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9EDC0-86E1-7754-8DB4-F84788A18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91745-79C9-40A6-DC1B-18549EDD5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B420B-9EC1-3BBF-1C37-66D2BE22C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0EEC7-613A-854B-A307-8AC3D264FBF2}" type="datetimeFigureOut">
              <a:rPr lang="en-US" smtClean="0"/>
              <a:t>6/6/23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74ACE2-4C14-5FE6-E557-40965363A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14A23-4ED2-2C65-96AF-4F996587B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A7435-737F-2C46-96D7-1DB18B4E8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291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D50A5-D740-5AEB-34D3-FE2927EA1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CED192-8297-EF0F-5DDA-C1073BCC8C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E460A-69F8-9EB7-3F31-35D786F64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0EEC7-613A-854B-A307-8AC3D264FBF2}" type="datetimeFigureOut">
              <a:rPr lang="en-US" smtClean="0"/>
              <a:t>6/6/23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3C957-FADB-E9B1-831E-91D44D6A6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3E6D4-33F5-7C40-3945-7BC771619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A7435-737F-2C46-96D7-1DB18B4E8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341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C0C02-370D-9FCE-F685-BEBA2568F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234CF-163B-D62A-FC94-D3802FFFB5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349C4A-2245-7F52-7931-D32340B1DB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936B7A-44B8-95E3-2DD8-BE32EE6DF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0EEC7-613A-854B-A307-8AC3D264FBF2}" type="datetimeFigureOut">
              <a:rPr lang="en-US" smtClean="0"/>
              <a:t>6/6/23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6FF759-F25D-73E4-762F-9A2210557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95F8DA-7200-78A9-E9B5-D6148F79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A7435-737F-2C46-96D7-1DB18B4E8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688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CC870-D5EA-D74B-40D7-ADDCA1065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7AEF51-89F5-139F-FDC5-A11E96FE6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DD7170-CA20-30F5-A964-A2D3B994BA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208265-C39F-B9D6-60E1-45FF9EDFDC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89FD77-FD32-79BC-C05B-6AC69B7C29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F15521-156D-EA96-0286-CA366A5C3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0EEC7-613A-854B-A307-8AC3D264FBF2}" type="datetimeFigureOut">
              <a:rPr lang="en-US" smtClean="0"/>
              <a:t>6/6/23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69D6BA-861A-0A85-9612-8E7F3C964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854A7D-D15C-DBAB-DF47-E16AE1BB1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A7435-737F-2C46-96D7-1DB18B4E8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537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30870-5915-3E59-E90F-5877943FA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BB04BC-B281-05E3-9FE0-39F5C88E7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0EEC7-613A-854B-A307-8AC3D264FBF2}" type="datetimeFigureOut">
              <a:rPr lang="en-US" smtClean="0"/>
              <a:t>6/6/23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D0E576-FD5A-885F-8FA3-F0909DA93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ECC657-EC6C-0958-20BE-6A01FE90E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A7435-737F-2C46-96D7-1DB18B4E8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207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CB4CAA-5213-7138-30DE-46D34C0E5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0EEC7-613A-854B-A307-8AC3D264FBF2}" type="datetimeFigureOut">
              <a:rPr lang="en-US" smtClean="0"/>
              <a:t>6/6/23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1965D6-2C32-B98F-3B8D-FD1B207A8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B60CF5-E768-515C-815E-212035683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A7435-737F-2C46-96D7-1DB18B4E8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684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28FE4-A721-0048-F4FB-E22B2362C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96A06-C334-AF77-885A-2CB95D10B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DE4731-B26B-DF5F-52F4-1A95A27CE2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3A6C65-3687-3519-A13D-D85D3A2CD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0EEC7-613A-854B-A307-8AC3D264FBF2}" type="datetimeFigureOut">
              <a:rPr lang="en-US" smtClean="0"/>
              <a:t>6/6/23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FE9E2B-E362-5D9A-4A83-F639344CF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06E8DD-51DB-0B4B-9578-CCD963C0A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A7435-737F-2C46-96D7-1DB18B4E8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668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41F47-06D7-41FC-631A-4387F54C0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B863D3-2CCA-061B-42AD-9F870B583A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BEE2BA-017B-E0B2-1740-FB0E5D1D4C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AC4B30-6FEB-85FC-B4D2-C8BA1C528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0EEC7-613A-854B-A307-8AC3D264FBF2}" type="datetimeFigureOut">
              <a:rPr lang="en-US" smtClean="0"/>
              <a:t>6/6/23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E8C623-ADB1-9498-64DE-8CEDD06B0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040C41-9B49-F644-E7FF-53EE72B59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A7435-737F-2C46-96D7-1DB18B4E8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951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AAA9A-701B-F0F4-3D0A-8964D4859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C046B3-797E-54BF-A944-DBE4345BCD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C6A4B-BE8E-BDDB-6310-32261B254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0EEC7-613A-854B-A307-8AC3D264FBF2}" type="datetimeFigureOut">
              <a:rPr lang="en-US" smtClean="0"/>
              <a:t>6/6/23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34715-B42B-5D0D-3CE7-EAED39A79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E9355-7521-C3A3-AB25-1026B3BC0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A7435-737F-2C46-96D7-1DB18B4E8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66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BD2702-05A8-0D93-F606-C0C0ADB02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07EEA6-64AB-D311-F167-AC69B0EB1C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2AAB9-6F27-7FF4-9322-8C7FD790A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0EEC7-613A-854B-A307-8AC3D264FBF2}" type="datetimeFigureOut">
              <a:rPr lang="en-US" smtClean="0"/>
              <a:t>6/6/23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AB889-5A67-AA15-B9F2-FFDC4E65E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0A1D0-67B4-C011-2B58-AF13AF9D4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A7435-737F-2C46-96D7-1DB18B4E8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666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C524FB-3C29-C153-9BA4-828517251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D59F68-EAB4-9F33-EF63-F116130BF7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23D82-6D44-E60F-F4BD-F9E3C28245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A0EEC7-613A-854B-A307-8AC3D264FBF2}" type="datetimeFigureOut">
              <a:rPr lang="en-US" smtClean="0"/>
              <a:t>6/6/23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BC5B2-6B93-4238-21B7-9C15E293D4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8F22D-125E-BA03-222F-69AB521E7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DA7435-737F-2C46-96D7-1DB18B4E8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70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uides.lib.virginia.edu/c.php?g=1257003&amp;p=9210710" TargetMode="External"/><Relationship Id="rId2" Type="http://schemas.openxmlformats.org/officeDocument/2006/relationships/hyperlink" Target="https://github.blog/2023-02-06-the-technology-behind-githubs-new-code-search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haring.nih.gov/data-management-and-sharing-policy/sharing-scientific-data/repositories-for-sharing-scientific-data" TargetMode="External"/><Relationship Id="rId4" Type="http://schemas.openxmlformats.org/officeDocument/2006/relationships/hyperlink" Target="https://www.freecodecamp.org/news/how-to-google-like-a-pro-10-tips-for-effective-googling/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world/misohungry/austin-animal-shelter-intakes" TargetMode="External"/><Relationship Id="rId2" Type="http://schemas.openxmlformats.org/officeDocument/2006/relationships/hyperlink" Target="https://data.arlingtonva.us/dataset/31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data.world/the-pudding/adoptable-dogs-on-petfinder-in-the-us" TargetMode="External"/><Relationship Id="rId5" Type="http://schemas.openxmlformats.org/officeDocument/2006/relationships/hyperlink" Target="https://data.world/shauneislers/south-australian-pet-ownership-data" TargetMode="External"/><Relationship Id="rId4" Type="http://schemas.openxmlformats.org/officeDocument/2006/relationships/hyperlink" Target="https://data.cityofnewyork.us/Health/NYC-Dog-Licensing-Dataset/nu7n-tubp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EBD35-3B0D-EE12-087F-C28ECD73AC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Discovery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BC272A-D5AB-F91C-6622-3E6010C593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06-06-2023</a:t>
            </a:r>
          </a:p>
        </p:txBody>
      </p:sp>
    </p:spTree>
    <p:extLst>
      <p:ext uri="{BB962C8B-B14F-4D97-AF65-F5344CB8AC3E}">
        <p14:creationId xmlns:p14="http://schemas.microsoft.com/office/powerpoint/2010/main" val="126195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9DE26-AB91-CBF5-0EAE-2D8899D5A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data discovery journey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781FC-6C7E-D11C-0CC1-23F3AC1A3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Theory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Technical implementation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Applied practice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746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ata Science Framework Graphic">
            <a:extLst>
              <a:ext uri="{FF2B5EF4-FFF2-40B4-BE49-F238E27FC236}">
                <a16:creationId xmlns:a16="http://schemas.microsoft.com/office/drawing/2014/main" id="{97BD43C8-DC73-1571-3288-E30FA7ED29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82088" y="5436"/>
            <a:ext cx="11827823" cy="6852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1AE7862-9699-A07C-C21C-30132E11E00F}"/>
              </a:ext>
            </a:extLst>
          </p:cNvPr>
          <p:cNvSpPr txBox="1"/>
          <p:nvPr/>
        </p:nvSpPr>
        <p:spPr>
          <a:xfrm rot="5400000">
            <a:off x="8295593" y="3138245"/>
            <a:ext cx="6852563" cy="576072"/>
          </a:xfrm>
          <a:prstGeom prst="rect">
            <a:avLst/>
          </a:prstGeom>
          <a:solidFill>
            <a:srgbClr val="A0BF7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Ethics &amp; Equity Review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8CA57F-C01B-FDEA-6C1A-1D01A4545EE9}"/>
              </a:ext>
            </a:extLst>
          </p:cNvPr>
          <p:cNvSpPr/>
          <p:nvPr/>
        </p:nvSpPr>
        <p:spPr>
          <a:xfrm>
            <a:off x="914400" y="833377"/>
            <a:ext cx="10405641" cy="752355"/>
          </a:xfrm>
          <a:prstGeom prst="rect">
            <a:avLst/>
          </a:prstGeom>
          <a:noFill/>
          <a:ln w="762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54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0E674-0FF9-3983-1A19-CB8902BC3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discovery filter</a:t>
            </a:r>
          </a:p>
        </p:txBody>
      </p:sp>
      <p:pic>
        <p:nvPicPr>
          <p:cNvPr id="5" name="Content Placeholder 4" descr="A diagram of data processing&#10;&#10;Description automatically generated with medium confidence">
            <a:extLst>
              <a:ext uri="{FF2B5EF4-FFF2-40B4-BE49-F238E27FC236}">
                <a16:creationId xmlns:a16="http://schemas.microsoft.com/office/drawing/2014/main" id="{477CB3AF-ADF5-D26E-022D-2C105ED2B5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37055"/>
            <a:ext cx="3739355" cy="435133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0F254F5-474D-0DF0-B2C7-96FCE4C128F8}"/>
              </a:ext>
            </a:extLst>
          </p:cNvPr>
          <p:cNvSpPr txBox="1"/>
          <p:nvPr/>
        </p:nvSpPr>
        <p:spPr>
          <a:xfrm>
            <a:off x="5223654" y="1690688"/>
            <a:ext cx="6281582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Open-ended and continuous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Data discovery </a:t>
            </a:r>
            <a:r>
              <a:rPr lang="en-US" sz="2000" dirty="0"/>
              <a:t>is the open-ended and continuous process whereby candidate data sources are identified.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Data inventory </a:t>
            </a:r>
            <a:r>
              <a:rPr lang="en-US" sz="2000" dirty="0"/>
              <a:t>refers to the broadest, most far-reaching ‘wish list’ of information pertaining to the research questions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Data screening </a:t>
            </a:r>
            <a:r>
              <a:rPr lang="en-US" sz="2000" dirty="0"/>
              <a:t>is an evaluative process by which eligible data sets are sifted from the larger pool of candidate data 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Data acquisition </a:t>
            </a:r>
            <a:r>
              <a:rPr lang="en-US" sz="2000" dirty="0"/>
              <a:t>is the process of acquiring the data from a sponsor, purchasing it, downloading it using an application programming interface (API), or scraping the web.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8DFB94-C41C-371C-EB5A-61F88480617A}"/>
              </a:ext>
            </a:extLst>
          </p:cNvPr>
          <p:cNvSpPr txBox="1"/>
          <p:nvPr/>
        </p:nvSpPr>
        <p:spPr>
          <a:xfrm>
            <a:off x="0" y="6253905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effectLst/>
              </a:rPr>
              <a:t>Keller, S. A., Shipp, S. S., Schroeder, A. D., &amp; Korkmaz, G. (2020). Doing Data Science: A Framework and Case Study. </a:t>
            </a:r>
            <a:r>
              <a:rPr lang="en-US" i="1" dirty="0">
                <a:effectLst/>
              </a:rPr>
              <a:t>Harvard Data Science Review</a:t>
            </a:r>
            <a:r>
              <a:rPr lang="en-US" dirty="0">
                <a:effectLst/>
              </a:rPr>
              <a:t>, </a:t>
            </a:r>
            <a:r>
              <a:rPr lang="en-US" i="1" dirty="0">
                <a:effectLst/>
              </a:rPr>
              <a:t>2</a:t>
            </a:r>
            <a:r>
              <a:rPr lang="en-US" dirty="0">
                <a:effectLst/>
              </a:rPr>
              <a:t>(1). https://</a:t>
            </a:r>
            <a:r>
              <a:rPr lang="en-US" dirty="0" err="1">
                <a:effectLst/>
              </a:rPr>
              <a:t>doi.org</a:t>
            </a:r>
            <a:r>
              <a:rPr lang="en-US" dirty="0">
                <a:effectLst/>
              </a:rPr>
              <a:t>/10.1162/99608f92.2d83f7f5</a:t>
            </a:r>
          </a:p>
        </p:txBody>
      </p:sp>
    </p:spTree>
    <p:extLst>
      <p:ext uri="{BB962C8B-B14F-4D97-AF65-F5344CB8AC3E}">
        <p14:creationId xmlns:p14="http://schemas.microsoft.com/office/powerpoint/2010/main" val="1359496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screenshot, circle, font&#10;&#10;Description automatically generated">
            <a:extLst>
              <a:ext uri="{FF2B5EF4-FFF2-40B4-BE49-F238E27FC236}">
                <a16:creationId xmlns:a16="http://schemas.microsoft.com/office/drawing/2014/main" id="{35DFACF9-C01A-F9A5-9CAE-CE106EB27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3623" y="703227"/>
            <a:ext cx="7184753" cy="545154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62A592E-843B-069E-EA88-7FED391961C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Example Data Map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4A170F-6473-1664-3DB6-F92214852A92}"/>
              </a:ext>
            </a:extLst>
          </p:cNvPr>
          <p:cNvSpPr txBox="1"/>
          <p:nvPr/>
        </p:nvSpPr>
        <p:spPr>
          <a:xfrm>
            <a:off x="0" y="6253905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effectLst/>
              </a:rPr>
              <a:t>Keller, S. A., Shipp, S. S., Schroeder, A. D., &amp; Korkmaz, G. (2020). Doing Data Science: A Framework and Case Study. </a:t>
            </a:r>
            <a:r>
              <a:rPr lang="en-US" i="1" dirty="0">
                <a:effectLst/>
              </a:rPr>
              <a:t>Harvard Data Science Review</a:t>
            </a:r>
            <a:r>
              <a:rPr lang="en-US" dirty="0">
                <a:effectLst/>
              </a:rPr>
              <a:t>, </a:t>
            </a:r>
            <a:r>
              <a:rPr lang="en-US" i="1" dirty="0">
                <a:effectLst/>
              </a:rPr>
              <a:t>2</a:t>
            </a:r>
            <a:r>
              <a:rPr lang="en-US" dirty="0">
                <a:effectLst/>
              </a:rPr>
              <a:t>(1). https://</a:t>
            </a:r>
            <a:r>
              <a:rPr lang="en-US" dirty="0" err="1">
                <a:effectLst/>
              </a:rPr>
              <a:t>doi.org</a:t>
            </a:r>
            <a:r>
              <a:rPr lang="en-US" dirty="0">
                <a:effectLst/>
              </a:rPr>
              <a:t>/10.1162/99608f92.2d83f7f5</a:t>
            </a:r>
          </a:p>
        </p:txBody>
      </p:sp>
    </p:spTree>
    <p:extLst>
      <p:ext uri="{BB962C8B-B14F-4D97-AF65-F5344CB8AC3E}">
        <p14:creationId xmlns:p14="http://schemas.microsoft.com/office/powerpoint/2010/main" val="3050909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46E4B-5127-D50E-827B-A4EFF9DD7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Effective Searching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66987-FD53-BC8B-8188-07A9EEA3B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Indexing algorithms</a:t>
            </a:r>
          </a:p>
          <a:p>
            <a:pPr lvl="1"/>
            <a:r>
              <a:rPr lang="en-US" dirty="0"/>
              <a:t>e.g. </a:t>
            </a:r>
            <a:r>
              <a:rPr lang="en-US" dirty="0">
                <a:hlinkClick r:id="rId2"/>
              </a:rPr>
              <a:t>GitHub’s code search</a:t>
            </a:r>
            <a:endParaRPr lang="en-US" dirty="0"/>
          </a:p>
          <a:p>
            <a:r>
              <a:rPr lang="en-US" dirty="0"/>
              <a:t>Scholarly databases</a:t>
            </a:r>
          </a:p>
          <a:p>
            <a:pPr lvl="1"/>
            <a:r>
              <a:rPr lang="en-US" dirty="0">
                <a:hlinkClick r:id="rId3"/>
              </a:rPr>
              <a:t>Searching with Virgo</a:t>
            </a:r>
            <a:endParaRPr lang="en-US" dirty="0"/>
          </a:p>
          <a:p>
            <a:r>
              <a:rPr lang="en-US" dirty="0">
                <a:hlinkClick r:id="rId4"/>
              </a:rPr>
              <a:t>Advanced Googling</a:t>
            </a:r>
            <a:endParaRPr lang="en-US" dirty="0"/>
          </a:p>
          <a:p>
            <a:r>
              <a:rPr lang="en-US" dirty="0"/>
              <a:t>Subject-specific databases</a:t>
            </a:r>
          </a:p>
          <a:p>
            <a:pPr lvl="1"/>
            <a:r>
              <a:rPr lang="en-US" dirty="0"/>
              <a:t>Federal sources</a:t>
            </a:r>
          </a:p>
          <a:p>
            <a:pPr lvl="1"/>
            <a:r>
              <a:rPr lang="en-US" dirty="0" err="1"/>
              <a:t>data.gov</a:t>
            </a:r>
            <a:endParaRPr lang="en-US" dirty="0"/>
          </a:p>
          <a:p>
            <a:pPr lvl="1"/>
            <a:r>
              <a:rPr lang="en-US" dirty="0">
                <a:hlinkClick r:id="rId5"/>
              </a:rPr>
              <a:t>NIH repositories</a:t>
            </a: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340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354F3-3217-D71A-A3E6-AB883317B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DB77C-B8CB-E06D-B2B1-12DEEB2AD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is the relationship between income and dog ownership, specifically by dog breed?</a:t>
            </a:r>
          </a:p>
        </p:txBody>
      </p:sp>
    </p:spTree>
    <p:extLst>
      <p:ext uri="{BB962C8B-B14F-4D97-AF65-F5344CB8AC3E}">
        <p14:creationId xmlns:p14="http://schemas.microsoft.com/office/powerpoint/2010/main" val="3001276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354F3-3217-D71A-A3E6-AB883317B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DB77C-B8CB-E06D-B2B1-12DEEB2AD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is the relationship between </a:t>
            </a:r>
            <a:r>
              <a:rPr lang="en-US" b="1" dirty="0"/>
              <a:t>income</a:t>
            </a:r>
            <a:r>
              <a:rPr lang="en-US" dirty="0"/>
              <a:t> and </a:t>
            </a:r>
            <a:r>
              <a:rPr lang="en-US" b="1" dirty="0"/>
              <a:t>dog ownership</a:t>
            </a:r>
            <a:r>
              <a:rPr lang="en-US" dirty="0"/>
              <a:t>, specifically by </a:t>
            </a:r>
            <a:r>
              <a:rPr lang="en-US" b="1" dirty="0"/>
              <a:t>dog breed</a:t>
            </a:r>
            <a:r>
              <a:rPr lang="en-US" dirty="0"/>
              <a:t>?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8ADCCD9-7A5E-D475-6239-D5BADAE698EA}"/>
              </a:ext>
            </a:extLst>
          </p:cNvPr>
          <p:cNvCxnSpPr>
            <a:cxnSpLocks/>
          </p:cNvCxnSpPr>
          <p:nvPr/>
        </p:nvCxnSpPr>
        <p:spPr>
          <a:xfrm>
            <a:off x="6273478" y="2338086"/>
            <a:ext cx="0" cy="1574157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50A41D0-5CFE-2439-4591-7F87049F2081}"/>
              </a:ext>
            </a:extLst>
          </p:cNvPr>
          <p:cNvSpPr txBox="1"/>
          <p:nvPr/>
        </p:nvSpPr>
        <p:spPr>
          <a:xfrm>
            <a:off x="5660019" y="3963039"/>
            <a:ext cx="12269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location</a:t>
            </a:r>
          </a:p>
        </p:txBody>
      </p:sp>
    </p:spTree>
    <p:extLst>
      <p:ext uri="{BB962C8B-B14F-4D97-AF65-F5344CB8AC3E}">
        <p14:creationId xmlns:p14="http://schemas.microsoft.com/office/powerpoint/2010/main" val="3976705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B5144-200F-2E15-3E1C-6B366FF91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43052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/>
              <a:t>DATA INVENTORY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0EAD88C0-9F87-4DA8-541B-F3CE390BE2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4792032"/>
              </p:ext>
            </p:extLst>
          </p:nvPr>
        </p:nvGraphicFramePr>
        <p:xfrm>
          <a:off x="128650" y="430522"/>
          <a:ext cx="11908581" cy="63608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4957">
                  <a:extLst>
                    <a:ext uri="{9D8B030D-6E8A-4147-A177-3AD203B41FA5}">
                      <a16:colId xmlns:a16="http://schemas.microsoft.com/office/drawing/2014/main" val="632808517"/>
                    </a:ext>
                  </a:extLst>
                </a:gridCol>
                <a:gridCol w="1859619">
                  <a:extLst>
                    <a:ext uri="{9D8B030D-6E8A-4147-A177-3AD203B41FA5}">
                      <a16:colId xmlns:a16="http://schemas.microsoft.com/office/drawing/2014/main" val="693253224"/>
                    </a:ext>
                  </a:extLst>
                </a:gridCol>
                <a:gridCol w="1040820">
                  <a:extLst>
                    <a:ext uri="{9D8B030D-6E8A-4147-A177-3AD203B41FA5}">
                      <a16:colId xmlns:a16="http://schemas.microsoft.com/office/drawing/2014/main" val="100304086"/>
                    </a:ext>
                  </a:extLst>
                </a:gridCol>
                <a:gridCol w="2214432">
                  <a:extLst>
                    <a:ext uri="{9D8B030D-6E8A-4147-A177-3AD203B41FA5}">
                      <a16:colId xmlns:a16="http://schemas.microsoft.com/office/drawing/2014/main" val="2553594047"/>
                    </a:ext>
                  </a:extLst>
                </a:gridCol>
                <a:gridCol w="1704957">
                  <a:extLst>
                    <a:ext uri="{9D8B030D-6E8A-4147-A177-3AD203B41FA5}">
                      <a16:colId xmlns:a16="http://schemas.microsoft.com/office/drawing/2014/main" val="654058739"/>
                    </a:ext>
                  </a:extLst>
                </a:gridCol>
                <a:gridCol w="1830260">
                  <a:extLst>
                    <a:ext uri="{9D8B030D-6E8A-4147-A177-3AD203B41FA5}">
                      <a16:colId xmlns:a16="http://schemas.microsoft.com/office/drawing/2014/main" val="2027572828"/>
                    </a:ext>
                  </a:extLst>
                </a:gridCol>
                <a:gridCol w="1553536">
                  <a:extLst>
                    <a:ext uri="{9D8B030D-6E8A-4147-A177-3AD203B41FA5}">
                      <a16:colId xmlns:a16="http://schemas.microsoft.com/office/drawing/2014/main" val="3642575583"/>
                    </a:ext>
                  </a:extLst>
                </a:gridCol>
              </a:tblGrid>
              <a:tr h="447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GEO COVERAGE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GEO RESOLUTION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VARIABLES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1125765"/>
                  </a:ext>
                </a:extLst>
              </a:tr>
              <a:tr h="115845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hlinkClick r:id="rId2"/>
                        </a:rPr>
                        <a:t>Active Dog Licenses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Arlington Virginia via </a:t>
                      </a:r>
                      <a:r>
                        <a:rPr lang="en-US" sz="1600" dirty="0" err="1"/>
                        <a:t>data.arlingtonva.us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-2023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Arlington County, 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currentDogLicenseKey</a:t>
                      </a:r>
                      <a:endParaRPr lang="en-US" sz="1200" dirty="0"/>
                    </a:p>
                    <a:p>
                      <a:pPr algn="ctr"/>
                      <a:r>
                        <a:rPr lang="en-US" sz="1200" dirty="0" err="1">
                          <a:highlight>
                            <a:srgbClr val="FFFF00"/>
                          </a:highlight>
                        </a:rPr>
                        <a:t>ownerAddressText</a:t>
                      </a:r>
                      <a:endParaRPr lang="en-US" sz="1200" dirty="0">
                        <a:highlight>
                          <a:srgbClr val="FFFF00"/>
                        </a:highlight>
                      </a:endParaRPr>
                    </a:p>
                    <a:p>
                      <a:pPr algn="ctr"/>
                      <a:r>
                        <a:rPr lang="en-US" sz="1200" dirty="0" err="1"/>
                        <a:t>dogTagNbr</a:t>
                      </a:r>
                      <a:endParaRPr lang="en-US" sz="1200" dirty="0"/>
                    </a:p>
                    <a:p>
                      <a:pPr algn="ctr"/>
                      <a:r>
                        <a:rPr lang="en-US" sz="1200" dirty="0" err="1"/>
                        <a:t>dogSexCode</a:t>
                      </a:r>
                      <a:endParaRPr lang="en-US" sz="1200" dirty="0"/>
                    </a:p>
                    <a:p>
                      <a:pPr algn="ctr"/>
                      <a:r>
                        <a:rPr lang="en-US" sz="1200" dirty="0" err="1"/>
                        <a:t>spayedNeuteredInd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API available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1662072"/>
                  </a:ext>
                </a:extLst>
              </a:tr>
              <a:tr h="115845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hlinkClick r:id="rId3"/>
                        </a:rPr>
                        <a:t>Austin Animal Shelter Intakes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Unknown via </a:t>
                      </a:r>
                      <a:r>
                        <a:rPr lang="en-US" sz="1600" dirty="0" err="1"/>
                        <a:t>data.world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2013-2016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Austin, TX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Unstructured “Found location”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Animal_id</a:t>
                      </a:r>
                      <a:endParaRPr lang="en-US" sz="1200" dirty="0"/>
                    </a:p>
                    <a:p>
                      <a:pPr algn="ctr"/>
                      <a:r>
                        <a:rPr lang="en-US" sz="1200" dirty="0"/>
                        <a:t>Datetime</a:t>
                      </a:r>
                    </a:p>
                    <a:p>
                      <a:pPr algn="ctr"/>
                      <a:r>
                        <a:rPr lang="en-US" sz="1200" dirty="0" err="1">
                          <a:highlight>
                            <a:srgbClr val="FFFF00"/>
                          </a:highlight>
                        </a:rPr>
                        <a:t>Found_location</a:t>
                      </a:r>
                      <a:endParaRPr lang="en-US" sz="1200" dirty="0">
                        <a:highlight>
                          <a:srgbClr val="FFFF00"/>
                        </a:highlight>
                      </a:endParaRPr>
                    </a:p>
                    <a:p>
                      <a:pPr algn="ctr"/>
                      <a:r>
                        <a:rPr lang="en-US" sz="1200" dirty="0" err="1"/>
                        <a:t>Animal_type</a:t>
                      </a:r>
                      <a:endParaRPr lang="en-US" sz="1200" dirty="0"/>
                    </a:p>
                    <a:p>
                      <a:pPr algn="ctr"/>
                      <a:r>
                        <a:rPr lang="en-US" sz="1200" b="0" dirty="0">
                          <a:highlight>
                            <a:srgbClr val="00FFFF"/>
                          </a:highlight>
                        </a:rPr>
                        <a:t>breed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API available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4035031"/>
                  </a:ext>
                </a:extLst>
              </a:tr>
              <a:tr h="9450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NYC Dog Licensing Dataset</a:t>
                      </a: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City of New York via NYC Open Data</a:t>
                      </a:r>
                    </a:p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-2022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New York City, 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22207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AnimalName</a:t>
                      </a:r>
                      <a:endParaRPr lang="en-US" sz="1200" dirty="0"/>
                    </a:p>
                    <a:p>
                      <a:pPr algn="ctr"/>
                      <a:r>
                        <a:rPr lang="en-US" sz="1200" dirty="0" err="1">
                          <a:highlight>
                            <a:srgbClr val="00FFFF"/>
                          </a:highlight>
                        </a:rPr>
                        <a:t>BreedName</a:t>
                      </a:r>
                      <a:endParaRPr lang="en-US" sz="1200" dirty="0">
                        <a:highlight>
                          <a:srgbClr val="00FFFF"/>
                        </a:highlight>
                      </a:endParaRPr>
                    </a:p>
                    <a:p>
                      <a:pPr algn="ctr"/>
                      <a:r>
                        <a:rPr lang="en-US" sz="1200" dirty="0" err="1">
                          <a:highlight>
                            <a:srgbClr val="FFFF00"/>
                          </a:highlight>
                        </a:rPr>
                        <a:t>ZipCode</a:t>
                      </a:r>
                      <a:endParaRPr lang="en-US" sz="1200" dirty="0">
                        <a:highlight>
                          <a:srgbClr val="FFFF00"/>
                        </a:highlight>
                      </a:endParaRPr>
                    </a:p>
                    <a:p>
                      <a:pPr algn="ctr"/>
                      <a:r>
                        <a:rPr lang="en-US" sz="1200" dirty="0" err="1"/>
                        <a:t>LicenseIssuedDate</a:t>
                      </a:r>
                      <a:endParaRPr lang="en-US" sz="1200" dirty="0"/>
                    </a:p>
                    <a:p>
                      <a:pPr algn="ctr"/>
                      <a:r>
                        <a:rPr lang="en-US" sz="1200" dirty="0" err="1"/>
                        <a:t>LicenseExpiredDate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API available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8932803"/>
                  </a:ext>
                </a:extLst>
              </a:tr>
              <a:tr h="158525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hlinkClick r:id="rId5"/>
                        </a:rPr>
                        <a:t>South Australian Pet Ownership Data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Unknown via </a:t>
                      </a:r>
                      <a:r>
                        <a:rPr lang="en-US" sz="1600" dirty="0" err="1"/>
                        <a:t>data.world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2015-2016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South Australia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State, Region, 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Animal_type</a:t>
                      </a:r>
                      <a:endParaRPr lang="en-US" sz="1200" dirty="0"/>
                    </a:p>
                    <a:p>
                      <a:pPr algn="ctr"/>
                      <a:r>
                        <a:rPr lang="en-US" sz="1200" dirty="0" err="1">
                          <a:highlight>
                            <a:srgbClr val="00FFFF"/>
                          </a:highlight>
                        </a:rPr>
                        <a:t>Breed_description</a:t>
                      </a:r>
                      <a:endParaRPr lang="en-US" sz="1200" dirty="0">
                        <a:highlight>
                          <a:srgbClr val="00FFFF"/>
                        </a:highlight>
                      </a:endParaRPr>
                    </a:p>
                    <a:p>
                      <a:pPr algn="ctr"/>
                      <a:r>
                        <a:rPr lang="en-US" sz="1200" dirty="0">
                          <a:highlight>
                            <a:srgbClr val="FFFF00"/>
                          </a:highlight>
                        </a:rPr>
                        <a:t>State</a:t>
                      </a:r>
                    </a:p>
                    <a:p>
                      <a:pPr algn="ctr"/>
                      <a:r>
                        <a:rPr lang="en-US" sz="1200" dirty="0">
                          <a:highlight>
                            <a:srgbClr val="FFFF00"/>
                          </a:highlight>
                        </a:rPr>
                        <a:t>Region</a:t>
                      </a:r>
                    </a:p>
                    <a:p>
                      <a:pPr algn="ctr"/>
                      <a:r>
                        <a:rPr lang="en-US" sz="1200" dirty="0">
                          <a:highlight>
                            <a:srgbClr val="FFFF00"/>
                          </a:highlight>
                        </a:rPr>
                        <a:t>City</a:t>
                      </a:r>
                    </a:p>
                    <a:p>
                      <a:pPr algn="ctr"/>
                      <a:r>
                        <a:rPr lang="en-US" sz="1200" dirty="0"/>
                        <a:t>Latitude</a:t>
                      </a:r>
                    </a:p>
                    <a:p>
                      <a:pPr algn="ctr"/>
                      <a:r>
                        <a:rPr lang="en-US" sz="1200" dirty="0"/>
                        <a:t>Longitude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API available</a:t>
                      </a:r>
                    </a:p>
                    <a:p>
                      <a:pPr algn="ctr"/>
                      <a:r>
                        <a:rPr lang="en-US" sz="1600" dirty="0"/>
                        <a:t>Lat and long appear to map to city centroids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8492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hlinkClick r:id="rId6"/>
                        </a:rPr>
                        <a:t>Petfinder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- 2023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Zipcode</a:t>
                      </a:r>
                      <a:r>
                        <a:rPr lang="en-US" sz="1600" dirty="0"/>
                        <a:t>, Address?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species</a:t>
                      </a:r>
                    </a:p>
                    <a:p>
                      <a:pPr algn="ctr"/>
                      <a:r>
                        <a:rPr lang="en-US" sz="1200" dirty="0" err="1">
                          <a:highlight>
                            <a:srgbClr val="FFFF00"/>
                          </a:highlight>
                        </a:rPr>
                        <a:t>Zipcode</a:t>
                      </a:r>
                      <a:endParaRPr lang="en-US" sz="1200" dirty="0">
                        <a:highlight>
                          <a:srgbClr val="FFFF00"/>
                        </a:highlight>
                      </a:endParaRPr>
                    </a:p>
                    <a:p>
                      <a:pPr algn="ctr"/>
                      <a:r>
                        <a:rPr lang="en-US" sz="1200" dirty="0">
                          <a:highlight>
                            <a:srgbClr val="FFFF00"/>
                          </a:highlight>
                        </a:rPr>
                        <a:t>Address?</a:t>
                      </a:r>
                    </a:p>
                    <a:p>
                      <a:pPr algn="ctr"/>
                      <a:r>
                        <a:rPr lang="en-US" sz="1200" dirty="0" err="1">
                          <a:highlight>
                            <a:srgbClr val="00FFFF"/>
                          </a:highlight>
                        </a:rPr>
                        <a:t>breed_primary</a:t>
                      </a:r>
                      <a:endParaRPr lang="en-US" sz="1200" dirty="0">
                        <a:highlight>
                          <a:srgbClr val="00FFFF"/>
                        </a:highlight>
                      </a:endParaRPr>
                    </a:p>
                    <a:p>
                      <a:pPr algn="ctr"/>
                      <a:r>
                        <a:rPr lang="en-US" sz="1200" dirty="0" err="1">
                          <a:highlight>
                            <a:srgbClr val="00FFFF"/>
                          </a:highlight>
                        </a:rPr>
                        <a:t>breed_secondary</a:t>
                      </a:r>
                      <a:endParaRPr lang="en-US" sz="1200" dirty="0">
                        <a:highlight>
                          <a:srgbClr val="00FFFF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API available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50928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8112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6596A-988A-A67C-3876-368DE9750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YOUR TURN</a:t>
            </a:r>
          </a:p>
        </p:txBody>
      </p:sp>
    </p:spTree>
    <p:extLst>
      <p:ext uri="{BB962C8B-B14F-4D97-AF65-F5344CB8AC3E}">
        <p14:creationId xmlns:p14="http://schemas.microsoft.com/office/powerpoint/2010/main" val="2398377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8" ma:contentTypeDescription="Create a new document." ma:contentTypeScope="" ma:versionID="15adbd330118f8d06bc6615d15ac85a9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6a41e235a72bf34fead84cba91ed4b2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Props1.xml><?xml version="1.0" encoding="utf-8"?>
<ds:datastoreItem xmlns:ds="http://schemas.openxmlformats.org/officeDocument/2006/customXml" ds:itemID="{EA271377-6201-4F36-8DB8-A6F9D3B8A6D1}"/>
</file>

<file path=customXml/itemProps2.xml><?xml version="1.0" encoding="utf-8"?>
<ds:datastoreItem xmlns:ds="http://schemas.openxmlformats.org/officeDocument/2006/customXml" ds:itemID="{362D81FC-C5F9-4252-9B97-782D55600232}"/>
</file>

<file path=customXml/itemProps3.xml><?xml version="1.0" encoding="utf-8"?>
<ds:datastoreItem xmlns:ds="http://schemas.openxmlformats.org/officeDocument/2006/customXml" ds:itemID="{EBC0E7D1-C143-43B9-9626-9ADB1C63B5AF}"/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430</Words>
  <Application>Microsoft Macintosh PowerPoint</Application>
  <PresentationFormat>Widescreen</PresentationFormat>
  <Paragraphs>97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Data Discovery</vt:lpstr>
      <vt:lpstr>Our data discovery journey</vt:lpstr>
      <vt:lpstr>PowerPoint Presentation</vt:lpstr>
      <vt:lpstr>Data discovery filter</vt:lpstr>
      <vt:lpstr>PowerPoint Presentation</vt:lpstr>
      <vt:lpstr>Effective Searching</vt:lpstr>
      <vt:lpstr>Example</vt:lpstr>
      <vt:lpstr>Example</vt:lpstr>
      <vt:lpstr>DATA INVENTORY</vt:lpstr>
      <vt:lpstr>YOUR TURN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Discovery</dc:title>
  <dc:creator>Schroeder, Joanna (js2mr)</dc:creator>
  <cp:lastModifiedBy>Schroeder, Joanna (js2mr)</cp:lastModifiedBy>
  <cp:revision>2</cp:revision>
  <dcterms:created xsi:type="dcterms:W3CDTF">2023-05-30T19:12:07Z</dcterms:created>
  <dcterms:modified xsi:type="dcterms:W3CDTF">2023-06-06T17:10:05Z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</Properties>
</file>