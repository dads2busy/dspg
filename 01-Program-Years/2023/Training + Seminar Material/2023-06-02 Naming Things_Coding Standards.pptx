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8"/>
  </p:notesMasterIdLst>
  <p:sldIdLst>
    <p:sldId id="256" r:id="rId2"/>
    <p:sldId id="316" r:id="rId3"/>
    <p:sldId id="317" r:id="rId4"/>
    <p:sldId id="264" r:id="rId5"/>
    <p:sldId id="329" r:id="rId6"/>
    <p:sldId id="270" r:id="rId7"/>
    <p:sldId id="267" r:id="rId8"/>
    <p:sldId id="278" r:id="rId9"/>
    <p:sldId id="318" r:id="rId10"/>
    <p:sldId id="319" r:id="rId11"/>
    <p:sldId id="272" r:id="rId12"/>
    <p:sldId id="330" r:id="rId13"/>
    <p:sldId id="275" r:id="rId14"/>
    <p:sldId id="277" r:id="rId15"/>
    <p:sldId id="279" r:id="rId16"/>
    <p:sldId id="281" r:id="rId17"/>
    <p:sldId id="282" r:id="rId18"/>
    <p:sldId id="321" r:id="rId19"/>
    <p:sldId id="320" r:id="rId20"/>
    <p:sldId id="283" r:id="rId21"/>
    <p:sldId id="284" r:id="rId22"/>
    <p:sldId id="285" r:id="rId23"/>
    <p:sldId id="286" r:id="rId24"/>
    <p:sldId id="322" r:id="rId25"/>
    <p:sldId id="287" r:id="rId26"/>
    <p:sldId id="323" r:id="rId27"/>
    <p:sldId id="289" r:id="rId28"/>
    <p:sldId id="288" r:id="rId29"/>
    <p:sldId id="290" r:id="rId30"/>
    <p:sldId id="291" r:id="rId31"/>
    <p:sldId id="292" r:id="rId32"/>
    <p:sldId id="293" r:id="rId33"/>
    <p:sldId id="331" r:id="rId34"/>
    <p:sldId id="332" r:id="rId35"/>
    <p:sldId id="298" r:id="rId36"/>
    <p:sldId id="297" r:id="rId37"/>
    <p:sldId id="333" r:id="rId38"/>
    <p:sldId id="300" r:id="rId39"/>
    <p:sldId id="326" r:id="rId40"/>
    <p:sldId id="325" r:id="rId41"/>
    <p:sldId id="327" r:id="rId42"/>
    <p:sldId id="302" r:id="rId43"/>
    <p:sldId id="303" r:id="rId44"/>
    <p:sldId id="305" r:id="rId45"/>
    <p:sldId id="306" r:id="rId46"/>
    <p:sldId id="307" r:id="rId47"/>
    <p:sldId id="308" r:id="rId48"/>
    <p:sldId id="315" r:id="rId49"/>
    <p:sldId id="309" r:id="rId50"/>
    <p:sldId id="310" r:id="rId51"/>
    <p:sldId id="312" r:id="rId52"/>
    <p:sldId id="311" r:id="rId53"/>
    <p:sldId id="313" r:id="rId54"/>
    <p:sldId id="314" r:id="rId55"/>
    <p:sldId id="328" r:id="rId56"/>
    <p:sldId id="334" r:id="rId5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0847" autoAdjust="0"/>
  </p:normalViewPr>
  <p:slideViewPr>
    <p:cSldViewPr snapToGrid="0">
      <p:cViewPr varScale="1">
        <p:scale>
          <a:sx n="86" d="100"/>
          <a:sy n="86" d="100"/>
        </p:scale>
        <p:origin x="48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customXml" Target="../customXml/item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customXml" Target="../customXml/item2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65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A10FF8-8E09-4379-9224-BD68FDB80A16}" type="datetimeFigureOut">
              <a:rPr lang="en-US" smtClean="0"/>
              <a:t>6/2/2023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91E5D7-6B71-42D0-80AB-F29DFE50D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436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91E5D7-6B71-42D0-80AB-F29DFE50D8B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4039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91E5D7-6B71-42D0-80AB-F29DFE50D8B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1580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12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*.txt </a:t>
            </a:r>
            <a:r>
              <a:rPr lang="en-US" altLang="en-US" sz="1200" dirty="0">
                <a:ea typeface="Times New Roman" panose="02020603050405020304" pitchFamily="18" charset="0"/>
                <a:cs typeface="Courier New" panose="02070309020205020404" pitchFamily="49" charset="0"/>
                <a:sym typeface="Wingdings" panose="05000000000000000000" pitchFamily="2" charset="2"/>
              </a:rPr>
              <a:t> </a:t>
            </a:r>
            <a:r>
              <a:rPr lang="en-US" altLang="en-US" sz="1200" dirty="0">
                <a:ea typeface="Times New Roman" panose="02020603050405020304" pitchFamily="18" charset="0"/>
                <a:cs typeface="Courier New" panose="02070309020205020404" pitchFamily="49" charset="0"/>
              </a:rPr>
              <a:t>find </a:t>
            </a:r>
            <a:r>
              <a:rPr lang="en-US" altLang="en-US" sz="1200" dirty="0">
                <a:ea typeface="Times New Roman" panose="02020603050405020304" pitchFamily="18" charset="0"/>
                <a:cs typeface="Arial" panose="020B0604020202020204" pitchFamily="34" charset="0"/>
              </a:rPr>
              <a:t>all files with names ending in </a:t>
            </a:r>
            <a:r>
              <a:rPr lang="en-US" altLang="en-US" sz="1200" dirty="0">
                <a:ea typeface="Times New Roman" panose="02020603050405020304" pitchFamily="18" charset="0"/>
                <a:cs typeface="Courier New" panose="02070309020205020404" pitchFamily="49" charset="0"/>
              </a:rPr>
              <a:t>.txt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91E5D7-6B71-42D0-80AB-F29DFE50D8B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0536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12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*.txt </a:t>
            </a:r>
            <a:r>
              <a:rPr lang="en-US" altLang="en-US" sz="1200" dirty="0">
                <a:ea typeface="Times New Roman" panose="02020603050405020304" pitchFamily="18" charset="0"/>
                <a:cs typeface="Courier New" panose="02070309020205020404" pitchFamily="49" charset="0"/>
                <a:sym typeface="Wingdings" panose="05000000000000000000" pitchFamily="2" charset="2"/>
              </a:rPr>
              <a:t> </a:t>
            </a:r>
            <a:r>
              <a:rPr lang="en-US" altLang="en-US" sz="1200" dirty="0">
                <a:ea typeface="Times New Roman" panose="02020603050405020304" pitchFamily="18" charset="0"/>
                <a:cs typeface="Courier New" panose="02070309020205020404" pitchFamily="49" charset="0"/>
              </a:rPr>
              <a:t>find </a:t>
            </a:r>
            <a:r>
              <a:rPr lang="en-US" altLang="en-US" sz="1200" dirty="0">
                <a:ea typeface="Times New Roman" panose="02020603050405020304" pitchFamily="18" charset="0"/>
                <a:cs typeface="Arial" panose="020B0604020202020204" pitchFamily="34" charset="0"/>
              </a:rPr>
              <a:t>all files with names ending in </a:t>
            </a:r>
            <a:r>
              <a:rPr lang="en-US" altLang="en-US" sz="1200" dirty="0">
                <a:ea typeface="Times New Roman" panose="02020603050405020304" pitchFamily="18" charset="0"/>
                <a:cs typeface="Courier New" panose="02070309020205020404" pitchFamily="49" charset="0"/>
              </a:rPr>
              <a:t>.txt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91E5D7-6B71-42D0-80AB-F29DFE50D8B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5059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91E5D7-6B71-42D0-80AB-F29DFE50D8B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0217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91E5D7-6B71-42D0-80AB-F29DFE50D8B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4417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12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*.txt </a:t>
            </a:r>
            <a:r>
              <a:rPr lang="en-US" altLang="en-US" sz="1200" dirty="0">
                <a:ea typeface="Times New Roman" panose="02020603050405020304" pitchFamily="18" charset="0"/>
                <a:cs typeface="Courier New" panose="02070309020205020404" pitchFamily="49" charset="0"/>
                <a:sym typeface="Wingdings" panose="05000000000000000000" pitchFamily="2" charset="2"/>
              </a:rPr>
              <a:t> </a:t>
            </a:r>
            <a:r>
              <a:rPr lang="en-US" altLang="en-US" sz="1200" dirty="0">
                <a:ea typeface="Times New Roman" panose="02020603050405020304" pitchFamily="18" charset="0"/>
                <a:cs typeface="Courier New" panose="02070309020205020404" pitchFamily="49" charset="0"/>
              </a:rPr>
              <a:t>find </a:t>
            </a:r>
            <a:r>
              <a:rPr lang="en-US" altLang="en-US" sz="1200" dirty="0">
                <a:ea typeface="Times New Roman" panose="02020603050405020304" pitchFamily="18" charset="0"/>
                <a:cs typeface="Arial" panose="020B0604020202020204" pitchFamily="34" charset="0"/>
              </a:rPr>
              <a:t>all files with names ending in </a:t>
            </a:r>
            <a:r>
              <a:rPr lang="en-US" altLang="en-US" sz="1200" dirty="0">
                <a:ea typeface="Times New Roman" panose="02020603050405020304" pitchFamily="18" charset="0"/>
                <a:cs typeface="Courier New" panose="02070309020205020404" pitchFamily="49" charset="0"/>
              </a:rPr>
              <a:t>.txt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91E5D7-6B71-42D0-80AB-F29DFE50D8BE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4099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12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*.txt </a:t>
            </a:r>
            <a:r>
              <a:rPr lang="en-US" altLang="en-US" sz="1200" dirty="0">
                <a:ea typeface="Times New Roman" panose="02020603050405020304" pitchFamily="18" charset="0"/>
                <a:cs typeface="Courier New" panose="02070309020205020404" pitchFamily="49" charset="0"/>
                <a:sym typeface="Wingdings" panose="05000000000000000000" pitchFamily="2" charset="2"/>
              </a:rPr>
              <a:t> </a:t>
            </a:r>
            <a:r>
              <a:rPr lang="en-US" altLang="en-US" sz="1200" dirty="0">
                <a:ea typeface="Times New Roman" panose="02020603050405020304" pitchFamily="18" charset="0"/>
                <a:cs typeface="Courier New" panose="02070309020205020404" pitchFamily="49" charset="0"/>
              </a:rPr>
              <a:t>find </a:t>
            </a:r>
            <a:r>
              <a:rPr lang="en-US" altLang="en-US" sz="1200" dirty="0">
                <a:ea typeface="Times New Roman" panose="02020603050405020304" pitchFamily="18" charset="0"/>
                <a:cs typeface="Arial" panose="020B0604020202020204" pitchFamily="34" charset="0"/>
              </a:rPr>
              <a:t>all files with names ending in </a:t>
            </a:r>
            <a:r>
              <a:rPr lang="en-US" altLang="en-US" sz="1200" dirty="0">
                <a:ea typeface="Times New Roman" panose="02020603050405020304" pitchFamily="18" charset="0"/>
                <a:cs typeface="Courier New" panose="02070309020205020404" pitchFamily="49" charset="0"/>
              </a:rPr>
              <a:t>.txt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91E5D7-6B71-42D0-80AB-F29DFE50D8BE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9936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91E5D7-6B71-42D0-80AB-F29DFE50D8BE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5978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91E5D7-6B71-42D0-80AB-F29DFE50D8BE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6622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91E5D7-6B71-42D0-80AB-F29DFE50D8BE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3292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91E5D7-6B71-42D0-80AB-F29DFE50D8BE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9250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91E5D7-6B71-42D0-80AB-F29DFE50D8BE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0522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91E5D7-6B71-42D0-80AB-F29DFE50D8BE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8878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91E5D7-6B71-42D0-80AB-F29DFE50D8BE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451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BA45A-DD2B-44DE-8BD0-82E1855D452D}" type="datetimeFigureOut">
              <a:rPr lang="en-US" smtClean="0"/>
              <a:t>6/2/2023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2BAC8-41AE-443C-ADDA-BA6AD5563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693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BA45A-DD2B-44DE-8BD0-82E1855D452D}" type="datetimeFigureOut">
              <a:rPr lang="en-US" smtClean="0"/>
              <a:t>6/2/2023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2BAC8-41AE-443C-ADDA-BA6AD5563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910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BA45A-DD2B-44DE-8BD0-82E1855D452D}" type="datetimeFigureOut">
              <a:rPr lang="en-US" smtClean="0"/>
              <a:t>6/2/2023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2BAC8-41AE-443C-ADDA-BA6AD5563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013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BA45A-DD2B-44DE-8BD0-82E1855D452D}" type="datetimeFigureOut">
              <a:rPr lang="en-US" smtClean="0"/>
              <a:t>6/2/2023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2BAC8-41AE-443C-ADDA-BA6AD5563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421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BA45A-DD2B-44DE-8BD0-82E1855D452D}" type="datetimeFigureOut">
              <a:rPr lang="en-US" smtClean="0"/>
              <a:t>6/2/2023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2BAC8-41AE-443C-ADDA-BA6AD5563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442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BA45A-DD2B-44DE-8BD0-82E1855D452D}" type="datetimeFigureOut">
              <a:rPr lang="en-US" smtClean="0"/>
              <a:t>6/2/2023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2BAC8-41AE-443C-ADDA-BA6AD5563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528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BA45A-DD2B-44DE-8BD0-82E1855D452D}" type="datetimeFigureOut">
              <a:rPr lang="en-US" smtClean="0"/>
              <a:t>6/2/2023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2BAC8-41AE-443C-ADDA-BA6AD5563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602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BA45A-DD2B-44DE-8BD0-82E1855D452D}" type="datetimeFigureOut">
              <a:rPr lang="en-US" smtClean="0"/>
              <a:t>6/2/2023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2BAC8-41AE-443C-ADDA-BA6AD5563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919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BA45A-DD2B-44DE-8BD0-82E1855D452D}" type="datetimeFigureOut">
              <a:rPr lang="en-US" smtClean="0"/>
              <a:t>6/2/2023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2BAC8-41AE-443C-ADDA-BA6AD5563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270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BA45A-DD2B-44DE-8BD0-82E1855D452D}" type="datetimeFigureOut">
              <a:rPr lang="en-US" smtClean="0"/>
              <a:t>6/2/2023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2BAC8-41AE-443C-ADDA-BA6AD5563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599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BA45A-DD2B-44DE-8BD0-82E1855D452D}" type="datetimeFigureOut">
              <a:rPr lang="en-US" smtClean="0"/>
              <a:t>6/2/2023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2BAC8-41AE-443C-ADDA-BA6AD5563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102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6BA45A-DD2B-44DE-8BD0-82E1855D452D}" type="datetimeFigureOut">
              <a:rPr lang="en-US" smtClean="0"/>
              <a:t>6/2/2023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E2BAC8-41AE-443C-ADDA-BA6AD5563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785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e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://en.wikipedia.org/wiki/Semantic_URL" TargetMode="Externa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hyperlink" Target="https://style.tidyverse.org/" TargetMode="Externa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48862" y="484748"/>
            <a:ext cx="1089427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b="1" dirty="0">
                <a:latin typeface="GillSans"/>
              </a:rPr>
              <a:t>naming things</a:t>
            </a:r>
          </a:p>
          <a:p>
            <a:pPr algn="r"/>
            <a:r>
              <a:rPr lang="en-US" sz="5400" b="1" dirty="0">
                <a:latin typeface="GillSans"/>
              </a:rPr>
              <a:t>coding standards</a:t>
            </a:r>
          </a:p>
        </p:txBody>
      </p:sp>
    </p:spTree>
    <p:extLst>
      <p:ext uri="{BB962C8B-B14F-4D97-AF65-F5344CB8AC3E}">
        <p14:creationId xmlns:p14="http://schemas.microsoft.com/office/powerpoint/2010/main" val="2193092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48862" y="484748"/>
            <a:ext cx="10894277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b="1" dirty="0">
                <a:latin typeface="GillSans"/>
              </a:rPr>
              <a:t>naming things</a:t>
            </a:r>
          </a:p>
          <a:p>
            <a:endParaRPr lang="en-US" sz="5400" b="1" dirty="0">
              <a:latin typeface="GillSans"/>
            </a:endParaRPr>
          </a:p>
          <a:p>
            <a:r>
              <a:rPr lang="en-US" sz="2000" dirty="0">
                <a:latin typeface="GillSans"/>
              </a:rPr>
              <a:t>based on a presentation</a:t>
            </a:r>
          </a:p>
          <a:p>
            <a:r>
              <a:rPr lang="en-US" sz="2000" dirty="0">
                <a:latin typeface="GillSans"/>
              </a:rPr>
              <a:t>by Jenny Bryan</a:t>
            </a:r>
          </a:p>
          <a:p>
            <a:r>
              <a:rPr lang="en-US" sz="2000" dirty="0">
                <a:latin typeface="GillSans"/>
              </a:rPr>
              <a:t>for Reproducible Science Workshop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54030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48862" y="484748"/>
            <a:ext cx="1089427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b="1" dirty="0">
                <a:latin typeface="GillSans"/>
              </a:rPr>
              <a:t>names matter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87689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15080" y="484748"/>
            <a:ext cx="1136184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dirty="0">
                <a:latin typeface="GillSans"/>
              </a:rPr>
              <a:t>you </a:t>
            </a:r>
            <a:r>
              <a:rPr lang="en-US" sz="4400" b="1" dirty="0">
                <a:latin typeface="GillSans"/>
              </a:rPr>
              <a:t>can </a:t>
            </a:r>
            <a:r>
              <a:rPr lang="en-US" sz="4400" dirty="0">
                <a:latin typeface="GillSans"/>
              </a:rPr>
              <a:t>name your files whatever you want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366927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15080" y="484748"/>
            <a:ext cx="11361841" cy="70480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dirty="0">
                <a:latin typeface="GillSans"/>
              </a:rPr>
              <a:t>but that doesn’t mean you should</a:t>
            </a:r>
          </a:p>
          <a:p>
            <a:endParaRPr lang="en-US" sz="4400" dirty="0">
              <a:latin typeface="GillSans"/>
            </a:endParaRPr>
          </a:p>
          <a:p>
            <a:endParaRPr lang="en-US" sz="4400" dirty="0">
              <a:latin typeface="GillSans"/>
            </a:endParaRPr>
          </a:p>
          <a:p>
            <a:endParaRPr lang="en-US" sz="4400" dirty="0">
              <a:latin typeface="GillSans"/>
            </a:endParaRPr>
          </a:p>
          <a:p>
            <a:endParaRPr lang="en-US" sz="4400" dirty="0">
              <a:latin typeface="GillSans"/>
            </a:endParaRPr>
          </a:p>
          <a:p>
            <a:endParaRPr lang="en-US" sz="4400" dirty="0">
              <a:latin typeface="GillSans"/>
            </a:endParaRPr>
          </a:p>
          <a:p>
            <a:endParaRPr lang="en-US" sz="4400" dirty="0">
              <a:latin typeface="GillSans"/>
            </a:endParaRPr>
          </a:p>
          <a:p>
            <a:pPr algn="r"/>
            <a:endParaRPr lang="en-US" sz="4400" dirty="0">
              <a:latin typeface="GillSans"/>
            </a:endParaRPr>
          </a:p>
          <a:p>
            <a:pPr algn="r"/>
            <a:r>
              <a:rPr lang="en-US" sz="4400" dirty="0">
                <a:latin typeface="GillSans"/>
              </a:rPr>
              <a:t>but “Why?”</a:t>
            </a:r>
          </a:p>
          <a:p>
            <a:pPr algn="r"/>
            <a:r>
              <a:rPr lang="en-US" sz="1200" dirty="0">
                <a:latin typeface="GillSans"/>
              </a:rPr>
              <a:t>asked every five-year old ever</a:t>
            </a:r>
          </a:p>
          <a:p>
            <a:endParaRPr lang="en-US" sz="4400" dirty="0">
              <a:latin typeface="GillSan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0074" y="1513463"/>
            <a:ext cx="5551853" cy="4192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746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15080" y="484748"/>
            <a:ext cx="11361841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dirty="0">
                <a:latin typeface="GillSans"/>
              </a:rPr>
              <a:t>because the larger context</a:t>
            </a:r>
          </a:p>
          <a:p>
            <a:endParaRPr lang="en-US" sz="4400" dirty="0">
              <a:latin typeface="GillSans"/>
            </a:endParaRPr>
          </a:p>
          <a:p>
            <a:endParaRPr lang="en-US" sz="4400" dirty="0">
              <a:latin typeface="GillSans"/>
            </a:endParaRPr>
          </a:p>
          <a:p>
            <a:endParaRPr lang="en-US" sz="4400" dirty="0">
              <a:latin typeface="GillSans"/>
            </a:endParaRPr>
          </a:p>
          <a:p>
            <a:endParaRPr lang="en-US" sz="4400" dirty="0">
              <a:latin typeface="GillSans"/>
            </a:endParaRPr>
          </a:p>
          <a:p>
            <a:pPr algn="r"/>
            <a:r>
              <a:rPr lang="en-US" sz="4400" dirty="0">
                <a:latin typeface="GillSans"/>
              </a:rPr>
              <a:t>you're not in this alone</a:t>
            </a:r>
          </a:p>
          <a:p>
            <a:pPr algn="r"/>
            <a:r>
              <a:rPr lang="en-US" sz="1200" dirty="0">
                <a:latin typeface="GillSans"/>
              </a:rPr>
              <a:t>It's dangerous to go alone!</a:t>
            </a:r>
          </a:p>
          <a:p>
            <a:pPr algn="r"/>
            <a:endParaRPr lang="en-US" sz="1200" dirty="0">
              <a:latin typeface="GillSans"/>
            </a:endParaRPr>
          </a:p>
          <a:p>
            <a:pPr algn="r"/>
            <a:r>
              <a:rPr lang="en-US" sz="4400" dirty="0">
                <a:latin typeface="GillSans"/>
              </a:rPr>
              <a:t>we‘re doing the team science</a:t>
            </a:r>
          </a:p>
          <a:p>
            <a:pPr algn="r"/>
            <a:endParaRPr lang="en-US" sz="1200" dirty="0">
              <a:latin typeface="GillSans"/>
            </a:endParaRPr>
          </a:p>
          <a:p>
            <a:pPr algn="r"/>
            <a:r>
              <a:rPr lang="en-US" sz="4400" dirty="0">
                <a:latin typeface="GillSans"/>
              </a:rPr>
              <a:t>and what you do impacts your team</a:t>
            </a:r>
          </a:p>
          <a:p>
            <a:pPr algn="r"/>
            <a:r>
              <a:rPr lang="en-US" sz="1200" dirty="0">
                <a:latin typeface="GillSans"/>
              </a:rPr>
              <a:t>or your kid if you name them X Æ A-12</a:t>
            </a:r>
          </a:p>
        </p:txBody>
      </p:sp>
    </p:spTree>
    <p:extLst>
      <p:ext uri="{BB962C8B-B14F-4D97-AF65-F5344CB8AC3E}">
        <p14:creationId xmlns:p14="http://schemas.microsoft.com/office/powerpoint/2010/main" val="3019120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>
          <a:xfrm>
            <a:off x="624150" y="484748"/>
            <a:ext cx="109437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dirty="0">
                <a:latin typeface="GillSans"/>
              </a:rPr>
              <a:t>you </a:t>
            </a:r>
            <a:r>
              <a:rPr lang="en-US" sz="4400" dirty="0">
                <a:latin typeface="GillSans"/>
                <a:sym typeface="Wingdings" panose="05000000000000000000" pitchFamily="2" charset="2"/>
              </a:rPr>
              <a:t>      </a:t>
            </a:r>
            <a:r>
              <a:rPr lang="en-US" sz="4400" dirty="0">
                <a:latin typeface="GillSans"/>
              </a:rPr>
              <a:t>naming the files after your favorite band’s discography…</a:t>
            </a:r>
            <a:endParaRPr lang="en-US" sz="4400" dirty="0"/>
          </a:p>
          <a:p>
            <a:endParaRPr lang="en-US" sz="1200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0829" y="484748"/>
            <a:ext cx="682530" cy="775457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>
            <a:off x="380999" y="2072640"/>
            <a:ext cx="11180257" cy="4765263"/>
            <a:chOff x="380999" y="2072640"/>
            <a:chExt cx="11180257" cy="4765263"/>
          </a:xfrm>
        </p:grpSpPr>
        <p:pic>
          <p:nvPicPr>
            <p:cNvPr id="1028" name="Picture 4" descr="https://external-content.duckduckgo.com/iu/?u=https%3A%2F%2Fimages.idgesg.net%2Fimages%2Farticle%2F2018%2F09%2Fmacos-high-sierra-folder-icon-100773103-large.jpg&amp;f=1&amp;nofb=1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577" t="1400" r="11372" b="49339"/>
            <a:stretch/>
          </p:blipFill>
          <p:spPr bwMode="auto">
            <a:xfrm>
              <a:off x="380999" y="2072640"/>
              <a:ext cx="11180257" cy="47652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TextBox 1"/>
            <p:cNvSpPr txBox="1"/>
            <p:nvPr/>
          </p:nvSpPr>
          <p:spPr>
            <a:xfrm>
              <a:off x="960120" y="2346960"/>
              <a:ext cx="5669280" cy="40010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/>
                <a:t>This DSPG Project</a:t>
              </a:r>
            </a:p>
            <a:p>
              <a:r>
                <a:rPr lang="en-US" sz="2800" b="1" dirty="0"/>
                <a:t>is Metal!</a:t>
              </a:r>
            </a:p>
            <a:p>
              <a:endParaRPr lang="en-US" dirty="0"/>
            </a:p>
            <a:p>
              <a:endParaRPr lang="en-US" dirty="0"/>
            </a:p>
            <a:p>
              <a:r>
                <a:rPr lang="en-US" dirty="0" err="1"/>
                <a:t>Infernus</a:t>
              </a:r>
              <a:r>
                <a:rPr lang="en-US" dirty="0"/>
                <a:t> Ad Astra.docx</a:t>
              </a:r>
            </a:p>
            <a:p>
              <a:r>
                <a:rPr lang="en-US" dirty="0"/>
                <a:t>Rise of the Chaos Wizards.png</a:t>
              </a:r>
            </a:p>
            <a:p>
              <a:r>
                <a:rPr lang="en-US" dirty="0"/>
                <a:t>Legend of the Astral Hammer.png</a:t>
              </a:r>
            </a:p>
            <a:p>
              <a:r>
                <a:rPr lang="en-US" dirty="0"/>
                <a:t>Goblin King of the </a:t>
              </a:r>
              <a:r>
                <a:rPr lang="en-US" dirty="0" err="1"/>
                <a:t>Darkstorm</a:t>
              </a:r>
              <a:r>
                <a:rPr lang="en-US" dirty="0"/>
                <a:t> </a:t>
              </a:r>
              <a:r>
                <a:rPr lang="en-US" dirty="0" err="1"/>
                <a:t>Galaxy.xl</a:t>
              </a:r>
              <a:endParaRPr lang="en-US" dirty="0"/>
            </a:p>
            <a:p>
              <a:r>
                <a:rPr lang="en-US" dirty="0"/>
                <a:t>The Hollywood Hootsman.docx</a:t>
              </a:r>
            </a:p>
            <a:p>
              <a:r>
                <a:rPr lang="en-US" dirty="0"/>
                <a:t>Victorious Eagle </a:t>
              </a:r>
              <a:r>
                <a:rPr lang="en-US" dirty="0" err="1"/>
                <a:t>Warfare.sav</a:t>
              </a:r>
              <a:endParaRPr lang="en-US" dirty="0"/>
            </a:p>
            <a:p>
              <a:r>
                <a:rPr lang="en-US" dirty="0" err="1"/>
                <a:t>Questlords</a:t>
              </a:r>
              <a:r>
                <a:rPr lang="en-US" dirty="0"/>
                <a:t> of Inverness, Ride to the Galactic Fortress!.txt</a:t>
              </a:r>
            </a:p>
            <a:p>
              <a:r>
                <a:rPr lang="en-US" dirty="0"/>
                <a:t>Universe on Fire.txt</a:t>
              </a:r>
            </a:p>
            <a:p>
              <a:r>
                <a:rPr lang="en-US" dirty="0"/>
                <a:t>Heroes (of Dundee).txt</a:t>
              </a:r>
              <a:endParaRPr 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1582292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456235" y="2437248"/>
            <a:ext cx="11180257" cy="4415728"/>
            <a:chOff x="380999" y="2072640"/>
            <a:chExt cx="11180257" cy="4415728"/>
          </a:xfrm>
        </p:grpSpPr>
        <p:pic>
          <p:nvPicPr>
            <p:cNvPr id="13" name="Picture 4" descr="https://external-content.duckduckgo.com/iu/?u=https%3A%2F%2Fimages.idgesg.net%2Fimages%2Farticle%2F2018%2F09%2Fmacos-high-sierra-folder-icon-100773103-large.jpg&amp;f=1&amp;nofb=1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577" t="1400" r="11372" b="52953"/>
            <a:stretch/>
          </p:blipFill>
          <p:spPr bwMode="auto">
            <a:xfrm>
              <a:off x="380999" y="2072640"/>
              <a:ext cx="11180257" cy="44157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TextBox 13"/>
            <p:cNvSpPr txBox="1"/>
            <p:nvPr/>
          </p:nvSpPr>
          <p:spPr>
            <a:xfrm>
              <a:off x="960120" y="2346960"/>
              <a:ext cx="5669280" cy="40010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/>
                <a:t>This DSPG Project</a:t>
              </a:r>
            </a:p>
            <a:p>
              <a:r>
                <a:rPr lang="en-US" sz="2800" b="1" dirty="0"/>
                <a:t>is Metal!</a:t>
              </a:r>
              <a:endParaRPr lang="en-US" b="1" dirty="0"/>
            </a:p>
            <a:p>
              <a:endParaRPr lang="en-US" dirty="0"/>
            </a:p>
            <a:p>
              <a:endParaRPr lang="en-US" dirty="0"/>
            </a:p>
            <a:p>
              <a:r>
                <a:rPr lang="en-US" dirty="0" err="1"/>
                <a:t>Infernus</a:t>
              </a:r>
              <a:r>
                <a:rPr lang="en-US" dirty="0"/>
                <a:t> Ad Astra.docx</a:t>
              </a:r>
            </a:p>
            <a:p>
              <a:r>
                <a:rPr lang="en-US" dirty="0"/>
                <a:t>Rise of the Chaos Wizards.png</a:t>
              </a:r>
            </a:p>
            <a:p>
              <a:r>
                <a:rPr lang="en-US" dirty="0"/>
                <a:t>Legend of the Astral Hammer.png</a:t>
              </a:r>
            </a:p>
            <a:p>
              <a:r>
                <a:rPr lang="en-US" dirty="0"/>
                <a:t>Goblin King of the </a:t>
              </a:r>
              <a:r>
                <a:rPr lang="en-US" dirty="0" err="1"/>
                <a:t>Darkstorm</a:t>
              </a:r>
              <a:r>
                <a:rPr lang="en-US" dirty="0"/>
                <a:t> </a:t>
              </a:r>
              <a:r>
                <a:rPr lang="en-US" dirty="0" err="1"/>
                <a:t>Galaxy.xl</a:t>
              </a:r>
              <a:endParaRPr lang="en-US" dirty="0"/>
            </a:p>
            <a:p>
              <a:r>
                <a:rPr lang="en-US" dirty="0"/>
                <a:t>The Hollywood Hootsman.docx</a:t>
              </a:r>
            </a:p>
            <a:p>
              <a:r>
                <a:rPr lang="en-US" dirty="0"/>
                <a:t>Victorious Eagle </a:t>
              </a:r>
              <a:r>
                <a:rPr lang="en-US" dirty="0" err="1"/>
                <a:t>Warfare.sav</a:t>
              </a:r>
              <a:endParaRPr lang="en-US" dirty="0"/>
            </a:p>
            <a:p>
              <a:r>
                <a:rPr lang="en-US" dirty="0" err="1"/>
                <a:t>Questlords</a:t>
              </a:r>
              <a:r>
                <a:rPr lang="en-US" dirty="0"/>
                <a:t> of Inverness, Ride to the Galactic Fortress!.txt</a:t>
              </a:r>
            </a:p>
            <a:p>
              <a:r>
                <a:rPr lang="en-US" dirty="0"/>
                <a:t>Universe on Fire.txt</a:t>
              </a:r>
            </a:p>
            <a:p>
              <a:r>
                <a:rPr lang="en-US" dirty="0"/>
                <a:t>Heroes (of Dundee).txt</a:t>
              </a:r>
              <a:endParaRPr lang="en-US" sz="1100" dirty="0"/>
            </a:p>
          </p:txBody>
        </p:sp>
      </p:grpSp>
      <p:sp>
        <p:nvSpPr>
          <p:cNvPr id="21" name="Rectangle 20"/>
          <p:cNvSpPr/>
          <p:nvPr/>
        </p:nvSpPr>
        <p:spPr>
          <a:xfrm>
            <a:off x="618363" y="484748"/>
            <a:ext cx="1094370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dirty="0">
                <a:latin typeface="GillSans"/>
              </a:rPr>
              <a:t>the rest of your team </a:t>
            </a:r>
            <a:r>
              <a:rPr lang="en-US" sz="4400" dirty="0">
                <a:latin typeface="GillSans"/>
                <a:sym typeface="Wingdings" panose="05000000000000000000" pitchFamily="2" charset="2"/>
              </a:rPr>
              <a:t></a:t>
            </a:r>
          </a:p>
          <a:p>
            <a:r>
              <a:rPr lang="en-US" sz="4400" dirty="0">
                <a:latin typeface="GillSans"/>
              </a:rPr>
              <a:t>discovering that you named the files after your favorite band’s discography</a:t>
            </a:r>
            <a:endParaRPr lang="en-US" sz="4400" dirty="0"/>
          </a:p>
        </p:txBody>
      </p:sp>
      <p:grpSp>
        <p:nvGrpSpPr>
          <p:cNvPr id="2" name="Group 1"/>
          <p:cNvGrpSpPr/>
          <p:nvPr/>
        </p:nvGrpSpPr>
        <p:grpSpPr>
          <a:xfrm>
            <a:off x="6660250" y="424457"/>
            <a:ext cx="3563948" cy="830572"/>
            <a:chOff x="6690283" y="0"/>
            <a:chExt cx="3918599" cy="954640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90283" y="64636"/>
              <a:ext cx="857621" cy="890004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10609" y="41356"/>
              <a:ext cx="857621" cy="890004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30935" y="39746"/>
              <a:ext cx="857621" cy="890004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751261" y="0"/>
              <a:ext cx="857621" cy="89000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82477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15080" y="484748"/>
            <a:ext cx="11361841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dirty="0">
                <a:latin typeface="GillSans"/>
              </a:rPr>
              <a:t>will be used for other things by other people</a:t>
            </a:r>
          </a:p>
          <a:p>
            <a:endParaRPr lang="en-US" sz="1200" dirty="0">
              <a:latin typeface="GillSans"/>
            </a:endParaRPr>
          </a:p>
          <a:p>
            <a:r>
              <a:rPr lang="en-US" sz="4400" dirty="0">
                <a:latin typeface="GillSans"/>
              </a:rPr>
              <a:t>will be imported, transformed, analyzed</a:t>
            </a:r>
            <a:endParaRPr lang="en-US" sz="1200" dirty="0">
              <a:latin typeface="GillSans"/>
            </a:endParaRPr>
          </a:p>
          <a:p>
            <a:endParaRPr lang="en-US" sz="1200" dirty="0">
              <a:latin typeface="GillSans"/>
            </a:endParaRPr>
          </a:p>
          <a:p>
            <a:r>
              <a:rPr lang="en-US" sz="4400" dirty="0">
                <a:latin typeface="GillSans"/>
              </a:rPr>
              <a:t>possibly long after you’re gone</a:t>
            </a:r>
          </a:p>
          <a:p>
            <a:r>
              <a:rPr lang="en-US" sz="1200" dirty="0">
                <a:latin typeface="GillSans"/>
              </a:rPr>
              <a:t>having moved on to bigger and better things, obviously</a:t>
            </a:r>
          </a:p>
          <a:p>
            <a:endParaRPr lang="en-US" sz="4400" dirty="0">
              <a:latin typeface="GillSans"/>
            </a:endParaRPr>
          </a:p>
          <a:p>
            <a:endParaRPr lang="en-US" sz="4400" dirty="0">
              <a:latin typeface="GillSans"/>
            </a:endParaRPr>
          </a:p>
          <a:p>
            <a:endParaRPr lang="en-US" sz="4400" dirty="0">
              <a:latin typeface="GillSans"/>
            </a:endParaRPr>
          </a:p>
          <a:p>
            <a:endParaRPr lang="en-US" sz="4400" dirty="0">
              <a:latin typeface="GillSans"/>
            </a:endParaRPr>
          </a:p>
          <a:p>
            <a:pPr algn="r"/>
            <a:r>
              <a:rPr lang="en-US" sz="4400" dirty="0">
                <a:latin typeface="GillSans"/>
              </a:rPr>
              <a:t>name stuff with these uses in mind</a:t>
            </a:r>
          </a:p>
          <a:p>
            <a:pPr algn="r"/>
            <a:r>
              <a:rPr lang="en-US" sz="1200" dirty="0">
                <a:latin typeface="GillSans"/>
              </a:rPr>
              <a:t>i.e., fun and profit public good</a:t>
            </a:r>
          </a:p>
        </p:txBody>
      </p:sp>
      <p:sp>
        <p:nvSpPr>
          <p:cNvPr id="3" name="TextBox 2"/>
          <p:cNvSpPr txBox="1"/>
          <p:nvPr/>
        </p:nvSpPr>
        <p:spPr>
          <a:xfrm rot="5400000">
            <a:off x="10577512" y="6292426"/>
            <a:ext cx="2714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C00000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1697544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15080" y="484748"/>
            <a:ext cx="11361841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dirty="0">
                <a:latin typeface="GillSans"/>
              </a:rPr>
              <a:t>think about the needs of your project</a:t>
            </a:r>
          </a:p>
          <a:p>
            <a:r>
              <a:rPr lang="en-US" sz="4400" dirty="0">
                <a:latin typeface="GillSans"/>
              </a:rPr>
              <a:t>work with your team to get on the same page</a:t>
            </a:r>
          </a:p>
          <a:p>
            <a:endParaRPr lang="en-US" sz="4400" dirty="0">
              <a:latin typeface="GillSans"/>
            </a:endParaRPr>
          </a:p>
          <a:p>
            <a:endParaRPr lang="en-US" sz="4400" dirty="0">
              <a:latin typeface="GillSans"/>
            </a:endParaRPr>
          </a:p>
          <a:p>
            <a:endParaRPr lang="en-US" sz="4400" dirty="0">
              <a:latin typeface="GillSans"/>
            </a:endParaRPr>
          </a:p>
          <a:p>
            <a:endParaRPr lang="en-US" sz="4400" dirty="0">
              <a:latin typeface="GillSans"/>
            </a:endParaRPr>
          </a:p>
          <a:p>
            <a:endParaRPr lang="en-US" sz="4400" dirty="0">
              <a:latin typeface="GillSans"/>
            </a:endParaRPr>
          </a:p>
          <a:p>
            <a:pPr algn="r"/>
            <a:r>
              <a:rPr lang="en-US" sz="4400" dirty="0">
                <a:latin typeface="GillSans"/>
              </a:rPr>
              <a:t>this will save you time down the road</a:t>
            </a:r>
          </a:p>
        </p:txBody>
      </p:sp>
    </p:spTree>
    <p:extLst>
      <p:ext uri="{BB962C8B-B14F-4D97-AF65-F5344CB8AC3E}">
        <p14:creationId xmlns:p14="http://schemas.microsoft.com/office/powerpoint/2010/main" val="40694481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67803" y="484748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5400" b="1" dirty="0">
                <a:latin typeface="GillSans"/>
              </a:rPr>
              <a:t>how to name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106348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67802" y="484748"/>
            <a:ext cx="11115225" cy="56630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b="1" dirty="0">
                <a:latin typeface="GillSans"/>
              </a:rPr>
              <a:t>how to name</a:t>
            </a:r>
            <a:endParaRPr lang="en-US" sz="4400" b="1" dirty="0">
              <a:latin typeface="GillSans"/>
            </a:endParaRPr>
          </a:p>
          <a:p>
            <a:endParaRPr lang="en-US" sz="4400" b="1" dirty="0">
              <a:latin typeface="GillSans"/>
            </a:endParaRPr>
          </a:p>
          <a:p>
            <a:endParaRPr lang="en-US" sz="4400" b="1" dirty="0">
              <a:latin typeface="GillSans"/>
            </a:endParaRPr>
          </a:p>
          <a:p>
            <a:endParaRPr lang="en-US" sz="4400" b="1" dirty="0">
              <a:latin typeface="GillSans"/>
            </a:endParaRPr>
          </a:p>
          <a:p>
            <a:endParaRPr lang="en-US" sz="4400" b="1" dirty="0">
              <a:latin typeface="GillSans"/>
            </a:endParaRPr>
          </a:p>
          <a:p>
            <a:pPr algn="r"/>
            <a:r>
              <a:rPr lang="en-US" sz="4400" dirty="0">
                <a:latin typeface="GillSans"/>
              </a:rPr>
              <a:t>thoughtful skull     says,</a:t>
            </a:r>
          </a:p>
          <a:p>
            <a:pPr algn="r"/>
            <a:r>
              <a:rPr lang="en-US" sz="4400" dirty="0">
                <a:latin typeface="GillSans"/>
              </a:rPr>
              <a:t>recommendations not rules</a:t>
            </a:r>
          </a:p>
          <a:p>
            <a:pPr algn="r"/>
            <a:r>
              <a:rPr lang="en-US" sz="4400" dirty="0">
                <a:latin typeface="GillSans"/>
              </a:rPr>
              <a:t>remember context of your project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7652" y="4023719"/>
            <a:ext cx="527901" cy="678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8135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464319" y="127583"/>
            <a:ext cx="9388500" cy="6432530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US" sz="4400" b="1" dirty="0"/>
              <a:t>NOT GOOD</a:t>
            </a:r>
          </a:p>
          <a:p>
            <a:r>
              <a:rPr lang="en-US" sz="2800" dirty="0"/>
              <a:t>myabstract.docx</a:t>
            </a:r>
          </a:p>
          <a:p>
            <a:r>
              <a:rPr lang="en-US" sz="2800" dirty="0"/>
              <a:t>Joe’s Filenames Use Spaces and Punctuation.xlsx</a:t>
            </a:r>
          </a:p>
          <a:p>
            <a:r>
              <a:rPr lang="en-US" sz="2800" dirty="0"/>
              <a:t>figure 1.png</a:t>
            </a:r>
          </a:p>
          <a:p>
            <a:r>
              <a:rPr lang="en-US" sz="2800" dirty="0"/>
              <a:t>fig 2.png</a:t>
            </a:r>
          </a:p>
          <a:p>
            <a:r>
              <a:rPr lang="en-US" sz="2800" dirty="0"/>
              <a:t>JWdl7^(2sl@deletethisandyourcareerisoverWx2*.txt</a:t>
            </a:r>
          </a:p>
          <a:p>
            <a:endParaRPr lang="en-US" sz="4400" b="1" dirty="0"/>
          </a:p>
          <a:p>
            <a:r>
              <a:rPr lang="en-US" sz="4400" b="1" dirty="0"/>
              <a:t>BETTER</a:t>
            </a:r>
          </a:p>
          <a:p>
            <a:r>
              <a:rPr lang="en-US" sz="2800" dirty="0"/>
              <a:t>2014-06-08_abstract-for-sla.docx</a:t>
            </a:r>
          </a:p>
          <a:p>
            <a:r>
              <a:rPr lang="en-US" sz="2800" dirty="0"/>
              <a:t>joes-filenames-are-getting-better.xlsx</a:t>
            </a:r>
          </a:p>
          <a:p>
            <a:r>
              <a:rPr lang="en-US" sz="2800" dirty="0"/>
              <a:t>fig01_scatterplot-talk-length-vs-interest.png</a:t>
            </a:r>
          </a:p>
          <a:p>
            <a:r>
              <a:rPr lang="en-US" sz="2800" dirty="0"/>
              <a:t>fig02_histogram-talk-attendance.png</a:t>
            </a:r>
          </a:p>
          <a:p>
            <a:r>
              <a:rPr lang="en-US" sz="2800" dirty="0"/>
              <a:t>1986-01-28_raw-data-from-challenger-o-rings.txt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3234" y="3733441"/>
            <a:ext cx="591803" cy="67237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595" y="268485"/>
            <a:ext cx="621083" cy="644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0019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95814" y="622597"/>
            <a:ext cx="11118309" cy="4985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b="1" dirty="0">
                <a:latin typeface="GillSans"/>
              </a:rPr>
              <a:t>three principles for (file) names</a:t>
            </a:r>
          </a:p>
          <a:p>
            <a:endParaRPr lang="en-US" sz="4400" dirty="0">
              <a:latin typeface="GillSans"/>
            </a:endParaRPr>
          </a:p>
          <a:p>
            <a:pPr lvl="1"/>
            <a:r>
              <a:rPr lang="en-US" sz="4400" dirty="0">
                <a:latin typeface="GillSans"/>
              </a:rPr>
              <a:t>machine readable</a:t>
            </a:r>
          </a:p>
          <a:p>
            <a:pPr lvl="1"/>
            <a:endParaRPr lang="en-US" sz="4400" dirty="0">
              <a:latin typeface="GillSans"/>
            </a:endParaRPr>
          </a:p>
          <a:p>
            <a:pPr lvl="1"/>
            <a:r>
              <a:rPr lang="en-US" sz="4400" dirty="0">
                <a:latin typeface="GillSans"/>
              </a:rPr>
              <a:t>human readable</a:t>
            </a:r>
          </a:p>
          <a:p>
            <a:pPr lvl="1"/>
            <a:endParaRPr lang="en-US" sz="4400" dirty="0">
              <a:latin typeface="GillSans"/>
            </a:endParaRPr>
          </a:p>
          <a:p>
            <a:pPr lvl="1"/>
            <a:r>
              <a:rPr lang="en-US" sz="4400" dirty="0">
                <a:latin typeface="GillSans"/>
              </a:rPr>
              <a:t>plays well with default ordering</a:t>
            </a:r>
          </a:p>
        </p:txBody>
      </p:sp>
    </p:spTree>
    <p:extLst>
      <p:ext uri="{BB962C8B-B14F-4D97-AF65-F5344CB8AC3E}">
        <p14:creationId xmlns:p14="http://schemas.microsoft.com/office/powerpoint/2010/main" val="28818038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95814" y="622597"/>
            <a:ext cx="11118309" cy="56630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b="1" dirty="0">
                <a:latin typeface="GillSans"/>
              </a:rPr>
              <a:t>machine readable</a:t>
            </a:r>
          </a:p>
          <a:p>
            <a:endParaRPr lang="en-US" sz="4400" dirty="0"/>
          </a:p>
          <a:p>
            <a:pPr lvl="1"/>
            <a:r>
              <a:rPr lang="en-US" sz="4400" b="1" dirty="0" err="1"/>
              <a:t>globbing</a:t>
            </a:r>
            <a:r>
              <a:rPr lang="en-US" sz="4400" b="1" dirty="0"/>
              <a:t> and regular expression friendly</a:t>
            </a:r>
          </a:p>
          <a:p>
            <a:pPr lvl="2"/>
            <a:r>
              <a:rPr lang="en-US" sz="4400" dirty="0"/>
              <a:t>avoid spaces, punctuation, accented characters, case sensitivity</a:t>
            </a:r>
          </a:p>
          <a:p>
            <a:pPr lvl="1"/>
            <a:endParaRPr lang="en-US" sz="4400" dirty="0"/>
          </a:p>
          <a:p>
            <a:pPr lvl="1"/>
            <a:r>
              <a:rPr lang="en-US" sz="4400" b="1" dirty="0"/>
              <a:t>easy to compute on</a:t>
            </a:r>
          </a:p>
          <a:p>
            <a:pPr lvl="2"/>
            <a:r>
              <a:rPr lang="en-US" sz="4400" dirty="0"/>
              <a:t>deliberate use of delimiters</a:t>
            </a:r>
          </a:p>
        </p:txBody>
      </p:sp>
    </p:spTree>
    <p:extLst>
      <p:ext uri="{BB962C8B-B14F-4D97-AF65-F5344CB8AC3E}">
        <p14:creationId xmlns:p14="http://schemas.microsoft.com/office/powerpoint/2010/main" val="30359962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00296" y="618115"/>
            <a:ext cx="11118309" cy="4985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5400" b="1" dirty="0">
                <a:latin typeface="GillSans"/>
                <a:ea typeface="Times New Roman" panose="02020603050405020304" pitchFamily="18" charset="0"/>
                <a:cs typeface="Arial" panose="020B0604020202020204" pitchFamily="34" charset="0"/>
              </a:rPr>
              <a:t>glob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4400" dirty="0">
                <a:ea typeface="Times New Roman" panose="02020603050405020304" pitchFamily="18" charset="0"/>
                <a:cs typeface="Arial" panose="020B0604020202020204" pitchFamily="34" charset="0"/>
              </a:rPr>
              <a:t>glob patterns specify sets of filenames with wildcard characters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4400" dirty="0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4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*</a:t>
            </a:r>
            <a:r>
              <a:rPr lang="en-US" altLang="en-US" sz="4400" dirty="0">
                <a:ea typeface="Times New Roman" panose="02020603050405020304" pitchFamily="18" charset="0"/>
                <a:cs typeface="Arial" panose="020B0604020202020204" pitchFamily="34" charset="0"/>
              </a:rPr>
              <a:t> wildcard for </a:t>
            </a:r>
            <a:r>
              <a:rPr lang="en-US" altLang="en-US" sz="4400" b="1" dirty="0">
                <a:ea typeface="Times New Roman" panose="02020603050405020304" pitchFamily="18" charset="0"/>
                <a:cs typeface="Arial" panose="020B0604020202020204" pitchFamily="34" charset="0"/>
              </a:rPr>
              <a:t>any string of characters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4400" dirty="0"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4400" dirty="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?</a:t>
            </a:r>
            <a:r>
              <a:rPr lang="en-US" altLang="en-US" sz="4400" dirty="0">
                <a:ea typeface="Times New Roman" panose="02020603050405020304" pitchFamily="18" charset="0"/>
                <a:cs typeface="Courier New" panose="02070309020205020404" pitchFamily="49" charset="0"/>
              </a:rPr>
              <a:t> wildcard for </a:t>
            </a:r>
            <a:r>
              <a:rPr lang="en-US" altLang="en-US" sz="4400" b="1" dirty="0">
                <a:ea typeface="Times New Roman" panose="02020603050405020304" pitchFamily="18" charset="0"/>
                <a:cs typeface="Arial" panose="020B0604020202020204" pitchFamily="34" charset="0"/>
              </a:rPr>
              <a:t>one character</a:t>
            </a:r>
            <a:endParaRPr lang="en-US" altLang="en-US" sz="4400" b="1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92107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00296" y="618115"/>
            <a:ext cx="11118309" cy="4985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5400" b="1" dirty="0">
                <a:latin typeface="GillSans"/>
                <a:ea typeface="Times New Roman" panose="02020603050405020304" pitchFamily="18" charset="0"/>
                <a:cs typeface="Arial" panose="020B0604020202020204" pitchFamily="34" charset="0"/>
              </a:rPr>
              <a:t>regular expression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4400" dirty="0">
                <a:ea typeface="Times New Roman" panose="02020603050405020304" pitchFamily="18" charset="0"/>
                <a:cs typeface="Courier New" panose="02070309020205020404" pitchFamily="49" charset="0"/>
              </a:rPr>
              <a:t>(aka </a:t>
            </a:r>
            <a:r>
              <a:rPr lang="en-US" altLang="en-US" sz="4400" b="1" dirty="0">
                <a:ea typeface="Times New Roman" panose="02020603050405020304" pitchFamily="18" charset="0"/>
                <a:cs typeface="Courier New" panose="02070309020205020404" pitchFamily="49" charset="0"/>
              </a:rPr>
              <a:t>regex</a:t>
            </a:r>
            <a:r>
              <a:rPr lang="en-US" altLang="en-US" sz="4400" dirty="0">
                <a:ea typeface="Times New Roman" panose="02020603050405020304" pitchFamily="18" charset="0"/>
                <a:cs typeface="Courier New" panose="02070309020205020404" pitchFamily="49" charset="0"/>
              </a:rPr>
              <a:t> aka </a:t>
            </a:r>
            <a:r>
              <a:rPr lang="en-US" altLang="en-US" sz="4400" b="1" dirty="0" err="1">
                <a:ea typeface="Times New Roman" panose="02020603050405020304" pitchFamily="18" charset="0"/>
                <a:cs typeface="Courier New" panose="02070309020205020404" pitchFamily="49" charset="0"/>
              </a:rPr>
              <a:t>regexp</a:t>
            </a:r>
            <a:r>
              <a:rPr lang="en-US" altLang="en-US" sz="4400" dirty="0">
                <a:ea typeface="Times New Roman" panose="02020603050405020304" pitchFamily="18" charset="0"/>
                <a:cs typeface="Courier New" panose="02070309020205020404" pitchFamily="49" charset="0"/>
              </a:rPr>
              <a:t> aka </a:t>
            </a:r>
            <a:r>
              <a:rPr lang="en-US" altLang="en-US" sz="4400" b="1" dirty="0">
                <a:ea typeface="Times New Roman" panose="02020603050405020304" pitchFamily="18" charset="0"/>
                <a:cs typeface="Courier New" panose="02070309020205020404" pitchFamily="49" charset="0"/>
              </a:rPr>
              <a:t>rational expression</a:t>
            </a:r>
            <a:r>
              <a:rPr lang="en-US" altLang="en-US" sz="4400" dirty="0"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4400" dirty="0"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4400" dirty="0">
                <a:ea typeface="Times New Roman" panose="02020603050405020304" pitchFamily="18" charset="0"/>
                <a:cs typeface="Courier New" panose="02070309020205020404" pitchFamily="49" charset="0"/>
              </a:rPr>
              <a:t>sequence of characters that define a search pattern used for things like "find" or "find and replace" operations by search algorithms</a:t>
            </a:r>
          </a:p>
        </p:txBody>
      </p:sp>
    </p:spTree>
    <p:extLst>
      <p:ext uri="{BB962C8B-B14F-4D97-AF65-F5344CB8AC3E}">
        <p14:creationId xmlns:p14="http://schemas.microsoft.com/office/powerpoint/2010/main" val="20354179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36846" y="322877"/>
            <a:ext cx="11118309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dirty="0"/>
              <a:t>excerpt of complete file listing</a:t>
            </a:r>
          </a:p>
          <a:p>
            <a:pPr lvl="1"/>
            <a:endParaRPr lang="en-US" sz="4400" dirty="0"/>
          </a:p>
          <a:p>
            <a:endParaRPr lang="en-US" sz="4400" b="1" dirty="0"/>
          </a:p>
          <a:p>
            <a:endParaRPr lang="en-US" sz="4400" b="1" dirty="0"/>
          </a:p>
          <a:p>
            <a:endParaRPr lang="en-US" sz="4000" dirty="0"/>
          </a:p>
          <a:p>
            <a:endParaRPr lang="en-US" sz="4000" dirty="0"/>
          </a:p>
          <a:p>
            <a:endParaRPr lang="en-US" sz="4000" dirty="0"/>
          </a:p>
          <a:p>
            <a:r>
              <a:rPr lang="en-US" sz="4000" dirty="0"/>
              <a:t>example of </a:t>
            </a:r>
            <a:r>
              <a:rPr lang="en-US" sz="4000" b="1" dirty="0" err="1"/>
              <a:t>globbing</a:t>
            </a:r>
            <a:r>
              <a:rPr lang="en-US" sz="4000" dirty="0"/>
              <a:t> to narrow file listing</a:t>
            </a:r>
            <a:endParaRPr lang="en-US" sz="4400" dirty="0"/>
          </a:p>
          <a:p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Jennifers-MacBook-Pro-3:2014-03-21 jenny$ </a:t>
            </a:r>
            <a:r>
              <a:rPr lang="en-US" sz="2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ls *Plasmid*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6151" r="6483"/>
          <a:stretch/>
        </p:blipFill>
        <p:spPr>
          <a:xfrm>
            <a:off x="536846" y="1142014"/>
            <a:ext cx="8546113" cy="2441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9890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36846" y="322877"/>
            <a:ext cx="11118309" cy="60631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dirty="0"/>
              <a:t>example of </a:t>
            </a:r>
            <a:r>
              <a:rPr lang="en-US" sz="4000" b="1" dirty="0" err="1"/>
              <a:t>globbing</a:t>
            </a:r>
            <a:r>
              <a:rPr lang="en-US" sz="4000" dirty="0"/>
              <a:t> to narrow file listing</a:t>
            </a:r>
            <a:endParaRPr lang="en-US" sz="4400" dirty="0"/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Jennifers-MacBook-Pro-3:2014-03-21 jenny$ </a:t>
            </a:r>
            <a:r>
              <a:rPr lang="en-US" sz="2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ls *Plasmid*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2013-06-26_BRAFWTNEGASSAY_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Plasmid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-Cellline-100-1MutantFraction_A01.csv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2013-06-26_BRAFWTNEGASSAY_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Plasmid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-Cellline-100-1MutantFraction_A02.csv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2013-06-26_BRAFWTNEGASSAY_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Plasmid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-Cellline-100-1MutantFraction_A03.csv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2013-06-26_BRAFWTNEGASSAY_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Plasmid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-Cellline-100-1MutantFraction_B01.csv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2013-06-26_BRAFWTNEGASSAY_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Plasmid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-Cellline-100-1MutantFraction_H03.csv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2013-06-26_BRAFWTNEGASSAY_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Plasmid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-Cellline-100-1MutantFraction_platefile.csv</a:t>
            </a:r>
            <a:endParaRPr lang="en-US" sz="4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6151" r="6483"/>
          <a:stretch/>
        </p:blipFill>
        <p:spPr>
          <a:xfrm>
            <a:off x="3537403" y="1740669"/>
            <a:ext cx="5117194" cy="1462002"/>
          </a:xfrm>
          <a:prstGeom prst="rect">
            <a:avLst/>
          </a:prstGeom>
        </p:spPr>
      </p:pic>
      <p:sp>
        <p:nvSpPr>
          <p:cNvPr id="3" name="Right Arrow 2"/>
          <p:cNvSpPr/>
          <p:nvPr/>
        </p:nvSpPr>
        <p:spPr>
          <a:xfrm rot="5400000">
            <a:off x="5201920" y="3322294"/>
            <a:ext cx="817880" cy="882244"/>
          </a:xfrm>
          <a:prstGeom prst="rightArrow">
            <a:avLst/>
          </a:prstGeom>
          <a:solidFill>
            <a:srgbClr val="FF0000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9137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00296" y="618115"/>
            <a:ext cx="1111830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4000" dirty="0">
                <a:ea typeface="Times New Roman" panose="02020603050405020304" pitchFamily="18" charset="0"/>
                <a:cs typeface="Arial" panose="020B0604020202020204" pitchFamily="34" charset="0"/>
              </a:rPr>
              <a:t>same using Mac OS Finder search</a:t>
            </a:r>
            <a:endParaRPr lang="en-US" altLang="en-US" sz="4000" dirty="0">
              <a:ea typeface="Times New Roman" panose="02020603050405020304" pitchFamily="18" charset="0"/>
              <a:cs typeface="Courier New" panose="02070309020205020404" pitchFamily="49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l="21792" b="20018"/>
          <a:stretch/>
        </p:blipFill>
        <p:spPr>
          <a:xfrm>
            <a:off x="1970161" y="1326001"/>
            <a:ext cx="8251679" cy="553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9338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00296" y="618115"/>
            <a:ext cx="11118309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4000" dirty="0">
                <a:ea typeface="Times New Roman" panose="02020603050405020304" pitchFamily="18" charset="0"/>
                <a:cs typeface="Arial" panose="020B0604020202020204" pitchFamily="34" charset="0"/>
              </a:rPr>
              <a:t>same using R’s ability to narrow file list by regex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4000" dirty="0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list.files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(pattern = "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Plasmid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") %&gt;% head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[1] "2013-06-26_BRAFWTNEGASSAY_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Plasmid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-Cellline-100-1MutantFraction_A01.csv"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[2] "2013-06-26_BRAFWTNEGASSAY_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Plasmid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-Cellline-100-1MutantFraction_A02.csv"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[3] "2013-06-26_BRAFWTNEGASSAY_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Plasmid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-Cellline-100-1MutantFraction_A03.csv"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[4] "2013-06-26_BRAFWTNEGASSAY_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Plasmid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-Cellline-100-1MutantFraction_B01.csv"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[5] "2013-06-26_BRAFWTNEGASSAY_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Plasmid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-Cellline-100-1MutantFraction_B02.csv"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[6] "2013-06-26_BRAFWTNEGASSAY_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Plasmid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-Cellline-100-1MutantFraction_B03.csv"</a:t>
            </a:r>
            <a:endParaRPr lang="en-US" altLang="en-US" sz="4000" b="1" dirty="0"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2584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00296" y="618115"/>
            <a:ext cx="11118309" cy="52937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4000" dirty="0">
                <a:ea typeface="Times New Roman" panose="02020603050405020304" pitchFamily="18" charset="0"/>
                <a:cs typeface="Arial" panose="020B0604020202020204" pitchFamily="34" charset="0"/>
              </a:rPr>
              <a:t>Deliberate use of “_” and “-” allows us to recover metadata from the filenames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4000" dirty="0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4000" dirty="0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4000" dirty="0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4000" dirty="0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4000" dirty="0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flist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list.files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(pattern = "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Plasmid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") %&gt;% head</a:t>
            </a:r>
          </a:p>
          <a:p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stringr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str_split_fixed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flist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"[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\\.]", 5)</a:t>
            </a:r>
            <a:endParaRPr lang="en-US" altLang="en-US" sz="4400" b="1" dirty="0"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099" y="2085226"/>
            <a:ext cx="10002449" cy="2496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9479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36846" y="808284"/>
            <a:ext cx="11118309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flist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list.files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(pattern = "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Plasmid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") %&gt;% head</a:t>
            </a:r>
          </a:p>
          <a:p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stringr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str_split_fixed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flist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"[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\\.]", 5)</a:t>
            </a:r>
          </a:p>
          <a:p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t="1231"/>
          <a:stretch/>
        </p:blipFill>
        <p:spPr>
          <a:xfrm>
            <a:off x="149095" y="2964264"/>
            <a:ext cx="11893811" cy="2628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1618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36846" y="518724"/>
            <a:ext cx="11118309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dirty="0"/>
              <a:t>Examples happen to be R but also possible in the shell, Python, etc.</a:t>
            </a:r>
            <a:endParaRPr lang="en-US" altLang="en-US" sz="4400" b="1" dirty="0"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40295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80966" y="386536"/>
            <a:ext cx="1111830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/>
              <a:t>“_” underscore used to delimit units of meta-data</a:t>
            </a:r>
          </a:p>
          <a:p>
            <a:endParaRPr lang="en-US" sz="1200" dirty="0"/>
          </a:p>
          <a:p>
            <a:endParaRPr lang="en-US" sz="1200" dirty="0"/>
          </a:p>
          <a:p>
            <a:r>
              <a:rPr lang="en-US" sz="3600" dirty="0"/>
              <a:t>“-” hyphen used to delimit words so eyes don’t bleed</a:t>
            </a:r>
            <a:endParaRPr lang="en-US" altLang="en-US" sz="6600" b="1" dirty="0"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159252" y="2942921"/>
            <a:ext cx="11893811" cy="3615801"/>
            <a:chOff x="154172" y="2434921"/>
            <a:chExt cx="11893811" cy="3615801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 rotWithShape="1">
            <a:blip r:embed="rId3"/>
            <a:srcRect b="26887"/>
            <a:stretch/>
          </p:blipFill>
          <p:spPr>
            <a:xfrm>
              <a:off x="154172" y="4104751"/>
              <a:ext cx="11893811" cy="1945971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4"/>
            <a:srcRect l="5709" r="11280" b="61903"/>
            <a:stretch/>
          </p:blipFill>
          <p:spPr>
            <a:xfrm>
              <a:off x="187955" y="2434921"/>
              <a:ext cx="11826247" cy="1354759"/>
            </a:xfrm>
            <a:prstGeom prst="rect">
              <a:avLst/>
            </a:prstGeom>
          </p:spPr>
        </p:pic>
        <p:sp>
          <p:nvSpPr>
            <p:cNvPr id="6" name="Right Arrow 5"/>
            <p:cNvSpPr/>
            <p:nvPr/>
          </p:nvSpPr>
          <p:spPr>
            <a:xfrm rot="5400000">
              <a:off x="5692138" y="3555974"/>
              <a:ext cx="817880" cy="882244"/>
            </a:xfrm>
            <a:prstGeom prst="rightArrow">
              <a:avLst/>
            </a:prstGeom>
            <a:solidFill>
              <a:srgbClr val="FF0000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201748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95814" y="622597"/>
            <a:ext cx="11118309" cy="4985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b="1" dirty="0"/>
              <a:t>machine readable</a:t>
            </a:r>
          </a:p>
          <a:p>
            <a:pPr lvl="1">
              <a:lnSpc>
                <a:spcPct val="150000"/>
              </a:lnSpc>
            </a:pPr>
            <a:r>
              <a:rPr lang="en-US" sz="4400" dirty="0"/>
              <a:t>easy to search for files later</a:t>
            </a:r>
          </a:p>
          <a:p>
            <a:pPr lvl="1">
              <a:lnSpc>
                <a:spcPct val="150000"/>
              </a:lnSpc>
            </a:pPr>
            <a:r>
              <a:rPr lang="en-US" sz="4400" dirty="0"/>
              <a:t>easy to narrow file lists based on names</a:t>
            </a:r>
          </a:p>
          <a:p>
            <a:pPr lvl="1">
              <a:lnSpc>
                <a:spcPct val="150000"/>
              </a:lnSpc>
            </a:pPr>
            <a:r>
              <a:rPr lang="en-US" sz="4400" dirty="0"/>
              <a:t>easy to extract info from file names, e.g. by splitting</a:t>
            </a:r>
          </a:p>
        </p:txBody>
      </p:sp>
    </p:spTree>
    <p:extLst>
      <p:ext uri="{BB962C8B-B14F-4D97-AF65-F5344CB8AC3E}">
        <p14:creationId xmlns:p14="http://schemas.microsoft.com/office/powerpoint/2010/main" val="10187483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7999" y="4678532"/>
            <a:ext cx="2753901" cy="217946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95814" y="622597"/>
            <a:ext cx="11118309" cy="56117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b="1" dirty="0"/>
              <a:t>machine readable</a:t>
            </a:r>
          </a:p>
          <a:p>
            <a:pPr lvl="1"/>
            <a:r>
              <a:rPr lang="en-US" sz="4400" dirty="0"/>
              <a:t>new to regular expressions and </a:t>
            </a:r>
            <a:r>
              <a:rPr lang="en-US" sz="4400" dirty="0" err="1"/>
              <a:t>globbing</a:t>
            </a:r>
            <a:r>
              <a:rPr lang="en-US" sz="4400" dirty="0"/>
              <a:t>?</a:t>
            </a:r>
          </a:p>
          <a:p>
            <a:pPr lvl="1"/>
            <a:r>
              <a:rPr lang="en-US" sz="4400" dirty="0"/>
              <a:t>be kind to yourself and avoid:</a:t>
            </a:r>
          </a:p>
          <a:p>
            <a:pPr lvl="2">
              <a:lnSpc>
                <a:spcPts val="6500"/>
              </a:lnSpc>
            </a:pPr>
            <a:r>
              <a:rPr lang="en-US" sz="4400" dirty="0"/>
              <a:t>spaces   in  file  names</a:t>
            </a:r>
          </a:p>
          <a:p>
            <a:pPr lvl="2">
              <a:lnSpc>
                <a:spcPts val="6500"/>
              </a:lnSpc>
            </a:pPr>
            <a:r>
              <a:rPr lang="en-US" sz="4400" dirty="0"/>
              <a:t>punctuation!</a:t>
            </a:r>
          </a:p>
          <a:p>
            <a:pPr lvl="2">
              <a:lnSpc>
                <a:spcPts val="6500"/>
              </a:lnSpc>
            </a:pPr>
            <a:r>
              <a:rPr lang="en-US" sz="4400" dirty="0" err="1"/>
              <a:t>áccëntêd</a:t>
            </a:r>
            <a:r>
              <a:rPr lang="en-US" sz="4400" dirty="0"/>
              <a:t> </a:t>
            </a:r>
            <a:r>
              <a:rPr lang="en-US" sz="4400" dirty="0" err="1"/>
              <a:t>chåráctërs</a:t>
            </a:r>
            <a:endParaRPr lang="en-US" sz="4400" dirty="0"/>
          </a:p>
          <a:p>
            <a:pPr lvl="2">
              <a:lnSpc>
                <a:spcPts val="6500"/>
              </a:lnSpc>
            </a:pPr>
            <a:r>
              <a:rPr lang="en-US" sz="4400" dirty="0"/>
              <a:t>different files named “foo” and “Foo”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0752158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95814" y="622597"/>
            <a:ext cx="11118309" cy="64017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b="1" dirty="0"/>
              <a:t>human readable</a:t>
            </a:r>
          </a:p>
          <a:p>
            <a:pPr lvl="1"/>
            <a:endParaRPr lang="en-US" sz="4400" dirty="0"/>
          </a:p>
          <a:p>
            <a:pPr lvl="1"/>
            <a:r>
              <a:rPr lang="en-US" sz="4400" dirty="0"/>
              <a:t>name contains info on </a:t>
            </a:r>
            <a:r>
              <a:rPr lang="en-US" sz="4400" b="1" dirty="0"/>
              <a:t>content </a:t>
            </a:r>
            <a:r>
              <a:rPr lang="en-US" sz="4400" dirty="0">
                <a:sym typeface="Wingdings" panose="05000000000000000000" pitchFamily="2" charset="2"/>
              </a:rPr>
              <a:t> </a:t>
            </a:r>
            <a:r>
              <a:rPr lang="en-US" sz="4400" dirty="0"/>
              <a:t>easy to figure out what the heck something is, based on its name</a:t>
            </a:r>
          </a:p>
          <a:p>
            <a:pPr lvl="1"/>
            <a:endParaRPr lang="en-US" sz="4400" dirty="0"/>
          </a:p>
          <a:p>
            <a:pPr lvl="1"/>
            <a:r>
              <a:rPr lang="en-US" sz="4400" dirty="0"/>
              <a:t>connects to concept of a </a:t>
            </a:r>
            <a:r>
              <a:rPr lang="en-US" sz="4400" b="1" dirty="0">
                <a:hlinkClick r:id="rId2"/>
              </a:rPr>
              <a:t>slug</a:t>
            </a:r>
            <a:r>
              <a:rPr lang="en-US" sz="4400" dirty="0">
                <a:hlinkClick r:id="rId2"/>
              </a:rPr>
              <a:t> from semantic URLs</a:t>
            </a:r>
            <a:endParaRPr lang="en-US" sz="4400" dirty="0"/>
          </a:p>
          <a:p>
            <a:pPr lvl="1"/>
            <a:endParaRPr lang="en-US" sz="1200" dirty="0"/>
          </a:p>
          <a:p>
            <a:pPr lvl="1"/>
            <a:endParaRPr lang="en-US" sz="1200" dirty="0"/>
          </a:p>
          <a:p>
            <a:pPr lvl="1" algn="r"/>
            <a:r>
              <a:rPr lang="en-US" sz="1200" dirty="0"/>
              <a:t>CW: slug pictures incoming</a:t>
            </a:r>
          </a:p>
        </p:txBody>
      </p:sp>
    </p:spTree>
    <p:extLst>
      <p:ext uri="{BB962C8B-B14F-4D97-AF65-F5344CB8AC3E}">
        <p14:creationId xmlns:p14="http://schemas.microsoft.com/office/powerpoint/2010/main" val="10131971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95814" y="622597"/>
            <a:ext cx="11118309" cy="615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b="1" dirty="0"/>
              <a:t>slug</a:t>
            </a:r>
          </a:p>
          <a:p>
            <a:pPr lvl="1"/>
            <a:r>
              <a:rPr lang="en-US" sz="4000" dirty="0"/>
              <a:t>part of a URL that identifies a page in </a:t>
            </a:r>
            <a:r>
              <a:rPr lang="en-US" sz="4000" b="1" dirty="0"/>
              <a:t>human-readable</a:t>
            </a:r>
            <a:r>
              <a:rPr lang="en-US" sz="4000" dirty="0"/>
              <a:t> keywords. Usually the end part of the URL, which can be interpreted as the name of the resource, similar to the </a:t>
            </a:r>
            <a:r>
              <a:rPr lang="en-US" sz="4000" dirty="0" err="1"/>
              <a:t>basename</a:t>
            </a:r>
            <a:r>
              <a:rPr lang="en-US" sz="4000" dirty="0"/>
              <a:t> in a filename or the title of a page. Based on the use of the word slug in news media to indicate a short name given to an article for internal use.</a:t>
            </a:r>
            <a:endParaRPr lang="en-US" sz="8000" dirty="0"/>
          </a:p>
          <a:p>
            <a:pPr lvl="1" algn="r"/>
            <a:endParaRPr lang="en-US" sz="1200" dirty="0"/>
          </a:p>
          <a:p>
            <a:pPr lvl="1" algn="r"/>
            <a:endParaRPr lang="en-US" sz="1200" dirty="0"/>
          </a:p>
          <a:p>
            <a:pPr lvl="1" algn="r"/>
            <a:endParaRPr lang="en-US" sz="1200" dirty="0"/>
          </a:p>
          <a:p>
            <a:pPr lvl="1" algn="r"/>
            <a:endParaRPr lang="en-US" sz="1200" dirty="0"/>
          </a:p>
          <a:p>
            <a:pPr lvl="1" algn="r"/>
            <a:r>
              <a:rPr lang="en-US" sz="1200" dirty="0"/>
              <a:t>slug pictures will be showing up, I assure you, just not right right now</a:t>
            </a:r>
          </a:p>
        </p:txBody>
      </p:sp>
    </p:spTree>
    <p:extLst>
      <p:ext uri="{BB962C8B-B14F-4D97-AF65-F5344CB8AC3E}">
        <p14:creationId xmlns:p14="http://schemas.microsoft.com/office/powerpoint/2010/main" val="20024981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95814" y="165394"/>
            <a:ext cx="11118309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dirty="0"/>
              <a:t>Which set of file(name)s do you want to double check at 2 a.m. before a 6 a.m. deadline when you haven’t worked on the files in over a month or year?</a:t>
            </a:r>
            <a:endParaRPr lang="en-US" sz="8000" dirty="0"/>
          </a:p>
          <a:p>
            <a:pPr lvl="1" algn="r"/>
            <a:endParaRPr lang="en-US" sz="1200" dirty="0"/>
          </a:p>
          <a:p>
            <a:pPr lvl="1" algn="r"/>
            <a:endParaRPr lang="en-US" sz="1200" dirty="0"/>
          </a:p>
          <a:p>
            <a:pPr lvl="1" algn="r"/>
            <a:endParaRPr lang="en-US" sz="1200" dirty="0"/>
          </a:p>
          <a:p>
            <a:pPr lvl="1" algn="r"/>
            <a:endParaRPr lang="en-US" sz="1200" dirty="0"/>
          </a:p>
          <a:p>
            <a:pPr lvl="1" algn="r"/>
            <a:endParaRPr lang="en-US" sz="1200" dirty="0"/>
          </a:p>
          <a:p>
            <a:pPr lvl="1" algn="r"/>
            <a:endParaRPr lang="en-US" sz="1200" dirty="0"/>
          </a:p>
          <a:p>
            <a:pPr lvl="1" algn="r"/>
            <a:endParaRPr lang="en-US" sz="1200" dirty="0"/>
          </a:p>
          <a:p>
            <a:pPr lvl="1" algn="r"/>
            <a:endParaRPr lang="en-US" sz="1200" dirty="0"/>
          </a:p>
          <a:p>
            <a:pPr lvl="1" algn="r"/>
            <a:endParaRPr lang="en-US" sz="1200" dirty="0"/>
          </a:p>
          <a:p>
            <a:pPr lvl="1" algn="r"/>
            <a:endParaRPr lang="en-US" sz="1200" dirty="0"/>
          </a:p>
          <a:p>
            <a:pPr lvl="1" algn="r"/>
            <a:endParaRPr lang="en-US" sz="1200" dirty="0"/>
          </a:p>
          <a:p>
            <a:pPr lvl="1" algn="r"/>
            <a:endParaRPr lang="en-US" sz="1200" dirty="0"/>
          </a:p>
          <a:p>
            <a:pPr lvl="1" algn="r"/>
            <a:endParaRPr lang="en-US" sz="1200" dirty="0"/>
          </a:p>
          <a:p>
            <a:pPr lvl="1" algn="r"/>
            <a:endParaRPr lang="en-US" sz="1200" dirty="0"/>
          </a:p>
          <a:p>
            <a:pPr lvl="1" algn="r"/>
            <a:endParaRPr lang="en-US" sz="1200" dirty="0"/>
          </a:p>
          <a:p>
            <a:pPr lvl="1" algn="r"/>
            <a:endParaRPr lang="en-US" sz="1200" dirty="0"/>
          </a:p>
          <a:p>
            <a:pPr lvl="1" algn="r"/>
            <a:endParaRPr lang="en-US" sz="1200" dirty="0"/>
          </a:p>
          <a:p>
            <a:pPr lvl="1" algn="r"/>
            <a:endParaRPr lang="en-US" sz="1200" dirty="0"/>
          </a:p>
          <a:p>
            <a:pPr lvl="1" algn="r"/>
            <a:endParaRPr lang="en-US" sz="1200" dirty="0"/>
          </a:p>
          <a:p>
            <a:pPr lvl="1" algn="r"/>
            <a:endParaRPr lang="en-US" sz="1200" dirty="0"/>
          </a:p>
          <a:p>
            <a:pPr lvl="1" algn="r"/>
            <a:endParaRPr lang="en-US" sz="1200" dirty="0"/>
          </a:p>
          <a:p>
            <a:pPr lvl="1" algn="r"/>
            <a:endParaRPr lang="en-US" sz="1200" dirty="0"/>
          </a:p>
          <a:p>
            <a:pPr lvl="1" algn="r"/>
            <a:endParaRPr lang="en-US" sz="1200" dirty="0"/>
          </a:p>
          <a:p>
            <a:pPr lvl="1" algn="r"/>
            <a:endParaRPr lang="en-US" sz="1200" dirty="0"/>
          </a:p>
          <a:p>
            <a:pPr lvl="1" algn="r"/>
            <a:endParaRPr lang="en-US" sz="1200" dirty="0"/>
          </a:p>
          <a:p>
            <a:pPr lvl="1" algn="r"/>
            <a:r>
              <a:rPr lang="en-US" sz="1200" dirty="0"/>
              <a:t>not </a:t>
            </a:r>
            <a:r>
              <a:rPr lang="en-US" sz="1200" i="1" dirty="0"/>
              <a:t>right </a:t>
            </a:r>
            <a:r>
              <a:rPr lang="en-US" sz="1200" dirty="0" err="1"/>
              <a:t>right</a:t>
            </a:r>
            <a:r>
              <a:rPr lang="en-US" sz="1200" dirty="0"/>
              <a:t> now, but very soon, I promise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10813"/>
          <a:stretch/>
        </p:blipFill>
        <p:spPr>
          <a:xfrm>
            <a:off x="2129493" y="2159000"/>
            <a:ext cx="7933014" cy="4248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3805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https://external-content.duckduckgo.com/iu/?u=https%3A%2F%2Fwww.nydailynews.com%2Fresizer%2Fw6fitUitQ1gAG1uma4z14xG1I70%3D%2F1400x0%2Fwww.trbimg.com%2Fimg-5be0a49a%2Fturbine%2Fny-1541448849-qbisglhis0-snap-image&amp;f=1&amp;nofb=1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29" t="17644" r="18772" b="28668"/>
          <a:stretch/>
        </p:blipFill>
        <p:spPr bwMode="auto">
          <a:xfrm rot="16200000">
            <a:off x="8957018" y="555727"/>
            <a:ext cx="3790710" cy="2679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536846" y="622597"/>
            <a:ext cx="11570273" cy="615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/>
              <a:t>human readable </a:t>
            </a:r>
            <a:r>
              <a:rPr lang="en-US" sz="5400" dirty="0">
                <a:sym typeface="Wingdings" panose="05000000000000000000" pitchFamily="2" charset="2"/>
              </a:rPr>
              <a:t> embrace the </a:t>
            </a:r>
            <a:r>
              <a:rPr lang="en-US" sz="5400" b="1" dirty="0">
                <a:sym typeface="Wingdings" panose="05000000000000000000" pitchFamily="2" charset="2"/>
              </a:rPr>
              <a:t>slug</a:t>
            </a:r>
            <a:endParaRPr lang="en-US" sz="5400" b="1" dirty="0"/>
          </a:p>
          <a:p>
            <a:pPr lvl="1"/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01_marshal-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.r</a:t>
            </a:r>
          </a:p>
          <a:p>
            <a:pPr lvl="1"/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02_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pre-dea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-filtering.r</a:t>
            </a:r>
          </a:p>
          <a:p>
            <a:pPr lvl="1"/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03_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dea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-with-limma-voom.r</a:t>
            </a:r>
          </a:p>
          <a:p>
            <a:pPr lvl="1"/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04_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explore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-dea-results.r</a:t>
            </a:r>
          </a:p>
          <a:p>
            <a:pPr lvl="1"/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90_limma-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model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-term-name-fiasco.r</a:t>
            </a:r>
          </a:p>
          <a:p>
            <a:pPr lvl="1"/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helper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01_load-counts.r</a:t>
            </a:r>
          </a:p>
          <a:p>
            <a:pPr lvl="1"/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helper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02_load-exp-des.r</a:t>
            </a:r>
          </a:p>
          <a:p>
            <a:pPr lvl="1"/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helper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03_load-focus-statinf.r</a:t>
            </a:r>
          </a:p>
          <a:p>
            <a:pPr lvl="1"/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helper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04_extract-and-tidy.r</a:t>
            </a:r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pPr lvl="1"/>
            <a:endParaRPr lang="en-US" sz="1200" dirty="0"/>
          </a:p>
          <a:p>
            <a:pPr lvl="1" algn="r"/>
            <a:r>
              <a:rPr lang="en-US" sz="1200" dirty="0"/>
              <a:t>I did warn you, like multiple times, so if you’re grossed out, you really have no one to blame but yourself at this point</a:t>
            </a:r>
          </a:p>
        </p:txBody>
      </p:sp>
    </p:spTree>
    <p:extLst>
      <p:ext uri="{BB962C8B-B14F-4D97-AF65-F5344CB8AC3E}">
        <p14:creationId xmlns:p14="http://schemas.microsoft.com/office/powerpoint/2010/main" val="11030355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95814" y="622597"/>
            <a:ext cx="11118309" cy="60939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b="1" dirty="0"/>
              <a:t>plays well with default ordering</a:t>
            </a:r>
            <a:endParaRPr lang="en-US" sz="6600" dirty="0"/>
          </a:p>
          <a:p>
            <a:pPr lvl="1"/>
            <a:endParaRPr lang="en-US" sz="4400" dirty="0"/>
          </a:p>
          <a:p>
            <a:pPr lvl="1"/>
            <a:r>
              <a:rPr lang="en-US" sz="4400" dirty="0"/>
              <a:t>use the ISO 8601 standard for dates</a:t>
            </a:r>
          </a:p>
          <a:p>
            <a:pPr lvl="1"/>
            <a:endParaRPr lang="en-US" sz="4400" dirty="0"/>
          </a:p>
          <a:p>
            <a:pPr lvl="1"/>
            <a:r>
              <a:rPr lang="en-US" sz="4400" dirty="0"/>
              <a:t>left pad other numbers with zeros</a:t>
            </a:r>
          </a:p>
          <a:p>
            <a:pPr lvl="1"/>
            <a:endParaRPr lang="en-US" sz="4400" dirty="0"/>
          </a:p>
          <a:p>
            <a:pPr lvl="1"/>
            <a:r>
              <a:rPr lang="en-US" sz="4400" dirty="0"/>
              <a:t>put something numeric first?</a:t>
            </a:r>
          </a:p>
          <a:p>
            <a:pPr lvl="1" algn="r"/>
            <a:endParaRPr lang="en-US" sz="1200" dirty="0"/>
          </a:p>
          <a:p>
            <a:pPr lvl="1" algn="r"/>
            <a:endParaRPr lang="en-US" sz="1200" dirty="0"/>
          </a:p>
          <a:p>
            <a:pPr lvl="1" algn="r"/>
            <a:endParaRPr lang="en-US" sz="1200" dirty="0"/>
          </a:p>
          <a:p>
            <a:pPr lvl="1" algn="r"/>
            <a:r>
              <a:rPr lang="en-US" sz="1200" dirty="0"/>
              <a:t>probably the most context dependent</a:t>
            </a:r>
          </a:p>
          <a:p>
            <a:pPr lvl="1" algn="r"/>
            <a:r>
              <a:rPr lang="en-US" sz="1200" dirty="0"/>
              <a:t>also, CW: cartoony skulls</a:t>
            </a:r>
          </a:p>
          <a:p>
            <a:pPr lvl="1" algn="r"/>
            <a:r>
              <a:rPr lang="en-US" sz="1200" dirty="0"/>
              <a:t>I’m probably a little late with that one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2079" y="4872860"/>
            <a:ext cx="193128" cy="24830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6796" y="6039492"/>
            <a:ext cx="193128" cy="248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5258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36846" y="622597"/>
            <a:ext cx="11570273" cy="615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/>
              <a:t>default ordering </a:t>
            </a:r>
            <a:r>
              <a:rPr lang="en-US" sz="5400" dirty="0">
                <a:sym typeface="Wingdings" panose="05000000000000000000" pitchFamily="2" charset="2"/>
              </a:rPr>
              <a:t> logical</a:t>
            </a:r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algn="r"/>
            <a:endParaRPr lang="en-US" sz="4000" dirty="0"/>
          </a:p>
          <a:p>
            <a:pPr lvl="1" algn="r"/>
            <a:endParaRPr lang="en-US" sz="4000" dirty="0"/>
          </a:p>
          <a:p>
            <a:pPr lvl="1" algn="r"/>
            <a:r>
              <a:rPr lang="en-US" sz="4000" dirty="0"/>
              <a:t>something numeric is (kind of) first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t="50005" r="29623"/>
          <a:stretch/>
        </p:blipFill>
        <p:spPr>
          <a:xfrm>
            <a:off x="2481487" y="1971942"/>
            <a:ext cx="7229026" cy="3701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4487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36846" y="622597"/>
            <a:ext cx="11570273" cy="5847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/>
              <a:t>default ordering </a:t>
            </a:r>
            <a:r>
              <a:rPr lang="en-US" sz="5400" dirty="0">
                <a:sym typeface="Wingdings" panose="05000000000000000000" pitchFamily="2" charset="2"/>
              </a:rPr>
              <a:t> chronological</a:t>
            </a:r>
          </a:p>
          <a:p>
            <a:pPr algn="r"/>
            <a:endParaRPr lang="en-US" sz="4000" b="1" dirty="0">
              <a:latin typeface="Courier New" panose="02070309020205020404" pitchFamily="49" charset="0"/>
              <a:cs typeface="Courier New" panose="02070309020205020404" pitchFamily="49" charset="0"/>
              <a:sym typeface="Wingdings" panose="05000000000000000000" pitchFamily="2" charset="2"/>
            </a:endParaRPr>
          </a:p>
          <a:p>
            <a:pPr algn="r"/>
            <a:endParaRPr lang="en-US" sz="4000" b="1" dirty="0">
              <a:latin typeface="Courier New" panose="02070309020205020404" pitchFamily="49" charset="0"/>
              <a:cs typeface="Courier New" panose="02070309020205020404" pitchFamily="49" charset="0"/>
              <a:sym typeface="Wingdings" panose="05000000000000000000" pitchFamily="2" charset="2"/>
            </a:endParaRPr>
          </a:p>
          <a:p>
            <a:pPr algn="r"/>
            <a:endParaRPr lang="en-US" sz="4000" b="1" dirty="0">
              <a:latin typeface="Courier New" panose="02070309020205020404" pitchFamily="49" charset="0"/>
              <a:cs typeface="Courier New" panose="02070309020205020404" pitchFamily="49" charset="0"/>
              <a:sym typeface="Wingdings" panose="05000000000000000000" pitchFamily="2" charset="2"/>
            </a:endParaRPr>
          </a:p>
          <a:p>
            <a:pPr algn="r"/>
            <a:endParaRPr lang="en-US" sz="4000" b="1" dirty="0">
              <a:latin typeface="Courier New" panose="02070309020205020404" pitchFamily="49" charset="0"/>
              <a:cs typeface="Courier New" panose="02070309020205020404" pitchFamily="49" charset="0"/>
              <a:sym typeface="Wingdings" panose="05000000000000000000" pitchFamily="2" charset="2"/>
            </a:endParaRPr>
          </a:p>
          <a:p>
            <a:pPr algn="r"/>
            <a:endParaRPr lang="en-US" sz="4000" b="1" dirty="0">
              <a:latin typeface="Courier New" panose="02070309020205020404" pitchFamily="49" charset="0"/>
              <a:cs typeface="Courier New" panose="02070309020205020404" pitchFamily="49" charset="0"/>
              <a:sym typeface="Wingdings" panose="05000000000000000000" pitchFamily="2" charset="2"/>
            </a:endParaRPr>
          </a:p>
          <a:p>
            <a:pPr algn="r"/>
            <a:endParaRPr lang="en-US" sz="4000" b="1" dirty="0">
              <a:latin typeface="Courier New" panose="02070309020205020404" pitchFamily="49" charset="0"/>
              <a:cs typeface="Courier New" panose="02070309020205020404" pitchFamily="49" charset="0"/>
              <a:sym typeface="Wingdings" panose="05000000000000000000" pitchFamily="2" charset="2"/>
            </a:endParaRPr>
          </a:p>
          <a:p>
            <a:pPr algn="r"/>
            <a:endParaRPr lang="en-US" sz="4000" b="1" dirty="0">
              <a:latin typeface="Courier New" panose="02070309020205020404" pitchFamily="49" charset="0"/>
              <a:cs typeface="Courier New" panose="02070309020205020404" pitchFamily="49" charset="0"/>
              <a:sym typeface="Wingdings" panose="05000000000000000000" pitchFamily="2" charset="2"/>
            </a:endParaRPr>
          </a:p>
          <a:p>
            <a:pPr algn="r"/>
            <a:r>
              <a:rPr lang="en-US" sz="4000" dirty="0"/>
              <a:t>use the ISO 8601 standard for dates: </a:t>
            </a:r>
            <a:r>
              <a:rPr lang="en-US" sz="4000" b="1" dirty="0"/>
              <a:t>YYYY-MM-DD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57059"/>
          <a:stretch/>
        </p:blipFill>
        <p:spPr>
          <a:xfrm>
            <a:off x="877454" y="1813956"/>
            <a:ext cx="10437093" cy="3230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7089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8372" y="85873"/>
            <a:ext cx="5735256" cy="668625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433107" y="6260860"/>
            <a:ext cx="23604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Helvetica" panose="020B0604020202020204" pitchFamily="34" charset="0"/>
              </a:rPr>
              <a:t>http://xkcd.com/1179/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88982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536846" y="113010"/>
            <a:ext cx="11118309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dirty="0"/>
              <a:t>Comprehensive map of all countries in the</a:t>
            </a:r>
          </a:p>
          <a:p>
            <a:pPr algn="ctr"/>
            <a:endParaRPr lang="en-US" sz="4000" dirty="0"/>
          </a:p>
          <a:p>
            <a:pPr algn="ctr"/>
            <a:endParaRPr lang="en-US" sz="4000" dirty="0"/>
          </a:p>
          <a:p>
            <a:pPr algn="ctr"/>
            <a:endParaRPr lang="en-US" sz="4000" dirty="0"/>
          </a:p>
          <a:p>
            <a:pPr algn="ctr"/>
            <a:endParaRPr lang="en-US" sz="4000" dirty="0"/>
          </a:p>
          <a:p>
            <a:pPr algn="ctr"/>
            <a:endParaRPr lang="en-US" sz="4000" dirty="0"/>
          </a:p>
          <a:p>
            <a:pPr algn="ctr"/>
            <a:endParaRPr lang="en-US" sz="4000" dirty="0"/>
          </a:p>
          <a:p>
            <a:pPr algn="ctr"/>
            <a:endParaRPr lang="en-US" sz="4000" dirty="0"/>
          </a:p>
          <a:p>
            <a:pPr algn="ctr"/>
            <a:endParaRPr lang="en-US" sz="4000" dirty="0"/>
          </a:p>
          <a:p>
            <a:pPr algn="ctr"/>
            <a:r>
              <a:rPr lang="en-US" sz="4000" dirty="0"/>
              <a:t>world that use the MM-DD-YYYY format</a:t>
            </a:r>
            <a:endParaRPr lang="en-US" sz="8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3904" y="775252"/>
            <a:ext cx="8104192" cy="482544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293044" y="6488668"/>
            <a:ext cx="59768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GillSans"/>
              </a:rPr>
              <a:t>https://twitter.com/donohoe/status/597876118688026624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71770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36846" y="622597"/>
            <a:ext cx="11570273" cy="615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/>
              <a:t>default ordering </a:t>
            </a:r>
            <a:r>
              <a:rPr lang="en-US" sz="5400" dirty="0">
                <a:sym typeface="Wingdings" panose="05000000000000000000" pitchFamily="2" charset="2"/>
              </a:rPr>
              <a:t> logical</a:t>
            </a:r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algn="r"/>
            <a:endParaRPr lang="en-US" sz="4000" dirty="0"/>
          </a:p>
          <a:p>
            <a:pPr lvl="1" algn="r"/>
            <a:endParaRPr lang="en-US" sz="4000" dirty="0"/>
          </a:p>
          <a:p>
            <a:pPr lvl="1" algn="r"/>
            <a:r>
              <a:rPr lang="en-US" sz="4000" dirty="0"/>
              <a:t>left pad other numbers with zeros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t="50005" r="29623"/>
          <a:stretch/>
        </p:blipFill>
        <p:spPr>
          <a:xfrm>
            <a:off x="2481487" y="1971942"/>
            <a:ext cx="7229026" cy="3701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0270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95814" y="622597"/>
            <a:ext cx="11118309" cy="60939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dirty="0"/>
              <a:t>Otherwise, thanks to new password sharing policies, you may end up watching all those television shows you “found online” like this…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E10_Season-Finale-Part-Two_Watching-this-too-early-would-really-ruin-a-ton-of-suprises-that-come-later E1_Pilot_You-need-to-see-this-first-for-everything-else-you-watch-to-make-sense</a:t>
            </a:r>
          </a:p>
          <a:p>
            <a:pPr lvl="1"/>
            <a:r>
              <a:rPr lang="en-US" dirty="0"/>
              <a:t>E2_Episode-Two_Building-on-stuff-from-the-Pilot</a:t>
            </a:r>
          </a:p>
          <a:p>
            <a:pPr lvl="1"/>
            <a:r>
              <a:rPr lang="en-US" dirty="0"/>
              <a:t>E3_Episode-Three_Advancing-story-from-Episode-2</a:t>
            </a:r>
          </a:p>
          <a:p>
            <a:pPr lvl="1"/>
            <a:r>
              <a:rPr lang="en-US" dirty="0"/>
              <a:t>E4_Episode-Four_Advancing-story-from-Episode-3</a:t>
            </a:r>
          </a:p>
          <a:p>
            <a:pPr lvl="1"/>
            <a:r>
              <a:rPr lang="en-US" dirty="0"/>
              <a:t>E5_Episode-Three_Advancing-story-from-Episode-4</a:t>
            </a:r>
          </a:p>
          <a:p>
            <a:pPr lvl="1"/>
            <a:r>
              <a:rPr lang="en-US" dirty="0"/>
              <a:t>E6_Episode-Six_Advancing-story-from-Episode-5</a:t>
            </a:r>
          </a:p>
          <a:p>
            <a:pPr lvl="1"/>
            <a:r>
              <a:rPr lang="en-US" dirty="0"/>
              <a:t>E7_Episode-Seven_Advancing-story-from-Episode-6</a:t>
            </a:r>
          </a:p>
          <a:p>
            <a:pPr lvl="1"/>
            <a:r>
              <a:rPr lang="en-US" dirty="0"/>
              <a:t>E8_Episodie-Eight_Advancing-story-from-Episode-7</a:t>
            </a:r>
          </a:p>
          <a:p>
            <a:pPr lvl="1"/>
            <a:r>
              <a:rPr lang="en-US" dirty="0"/>
              <a:t>E9_Season-Finale-Part-One_Watching-this-too-early-would-really-ruin-a-ton-of-suprises-that-come-later</a:t>
            </a:r>
          </a:p>
          <a:p>
            <a:pPr lvl="1"/>
            <a:endParaRPr lang="en-US" dirty="0"/>
          </a:p>
          <a:p>
            <a:pPr algn="r"/>
            <a:r>
              <a:rPr lang="en-US" sz="3600" dirty="0"/>
              <a:t>and that means *spoilers*</a:t>
            </a:r>
          </a:p>
        </p:txBody>
      </p:sp>
    </p:spTree>
    <p:extLst>
      <p:ext uri="{BB962C8B-B14F-4D97-AF65-F5344CB8AC3E}">
        <p14:creationId xmlns:p14="http://schemas.microsoft.com/office/powerpoint/2010/main" val="26501006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95814" y="622597"/>
            <a:ext cx="1111830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b="1" dirty="0"/>
              <a:t>some final (</a:t>
            </a:r>
            <a:r>
              <a:rPr lang="en-US" sz="5400" b="1" dirty="0" err="1"/>
              <a:t>joel</a:t>
            </a:r>
            <a:r>
              <a:rPr lang="en-US" sz="5400" b="1" dirty="0"/>
              <a:t>) recommendations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40937551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95814" y="622597"/>
            <a:ext cx="11118309" cy="615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/>
              <a:t>build in flexibility/room to grow</a:t>
            </a:r>
            <a:endParaRPr lang="en-US" sz="4400" dirty="0"/>
          </a:p>
          <a:p>
            <a:pPr lvl="2"/>
            <a:endParaRPr lang="en-US" sz="1400" dirty="0"/>
          </a:p>
          <a:p>
            <a:pPr lvl="2"/>
            <a:r>
              <a:rPr lang="en-US" sz="4400" dirty="0"/>
              <a:t>if you start with…</a:t>
            </a:r>
          </a:p>
          <a:p>
            <a:pPr lvl="3"/>
            <a:r>
              <a:rPr lang="en-US" sz="2800" dirty="0"/>
              <a:t>01_literature-review</a:t>
            </a:r>
          </a:p>
          <a:p>
            <a:pPr lvl="3"/>
            <a:r>
              <a:rPr lang="en-US" sz="2800" dirty="0"/>
              <a:t>03_data-sources</a:t>
            </a:r>
          </a:p>
          <a:p>
            <a:pPr lvl="3"/>
            <a:r>
              <a:rPr lang="en-US" sz="2800" dirty="0"/>
              <a:t>05_analysis</a:t>
            </a:r>
          </a:p>
          <a:p>
            <a:pPr lvl="2"/>
            <a:endParaRPr lang="en-US" sz="2800" dirty="0"/>
          </a:p>
          <a:p>
            <a:pPr lvl="2"/>
            <a:r>
              <a:rPr lang="en-US" sz="4400" dirty="0"/>
              <a:t>you can add more later without renaming</a:t>
            </a:r>
          </a:p>
          <a:p>
            <a:pPr lvl="3"/>
            <a:r>
              <a:rPr lang="en-US" sz="2800" dirty="0"/>
              <a:t>01_literature-review</a:t>
            </a:r>
          </a:p>
          <a:p>
            <a:pPr lvl="3"/>
            <a:r>
              <a:rPr lang="en-US" sz="2800" dirty="0"/>
              <a:t>02_that-thing-you-found-later</a:t>
            </a:r>
          </a:p>
          <a:p>
            <a:pPr lvl="3"/>
            <a:r>
              <a:rPr lang="en-US" sz="2800" dirty="0"/>
              <a:t>03_data-sources</a:t>
            </a:r>
          </a:p>
          <a:p>
            <a:pPr lvl="3"/>
            <a:r>
              <a:rPr lang="en-US" sz="2800" dirty="0"/>
              <a:t>05_analysis</a:t>
            </a:r>
          </a:p>
        </p:txBody>
      </p:sp>
    </p:spTree>
    <p:extLst>
      <p:ext uri="{BB962C8B-B14F-4D97-AF65-F5344CB8AC3E}">
        <p14:creationId xmlns:p14="http://schemas.microsoft.com/office/powerpoint/2010/main" val="21109860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95814" y="622597"/>
            <a:ext cx="11118309" cy="63401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>
                <a:latin typeface="GillSans"/>
              </a:rPr>
              <a:t>version control on the right</a:t>
            </a:r>
            <a:endParaRPr lang="en-US" sz="4400" dirty="0">
              <a:latin typeface="GillSans"/>
            </a:endParaRPr>
          </a:p>
          <a:p>
            <a:pPr lvl="1"/>
            <a:endParaRPr lang="en-US" sz="2800" dirty="0">
              <a:latin typeface="GillSans"/>
            </a:endParaRPr>
          </a:p>
          <a:p>
            <a:pPr lvl="1"/>
            <a:r>
              <a:rPr lang="en-US" sz="4400" dirty="0">
                <a:latin typeface="GillSans"/>
              </a:rPr>
              <a:t>   </a:t>
            </a:r>
            <a:r>
              <a:rPr lang="en-US" sz="4400" b="1" dirty="0">
                <a:latin typeface="GillSans"/>
              </a:rPr>
              <a:t>GOOD</a:t>
            </a:r>
          </a:p>
          <a:p>
            <a:pPr lvl="2"/>
            <a:r>
              <a:rPr lang="en-US" sz="2800" dirty="0">
                <a:latin typeface="GillSans"/>
              </a:rPr>
              <a:t>thing-that-does-the-thing_v01</a:t>
            </a:r>
          </a:p>
          <a:p>
            <a:pPr lvl="2"/>
            <a:r>
              <a:rPr lang="en-US" sz="2800" dirty="0">
                <a:latin typeface="GillSans"/>
              </a:rPr>
              <a:t>thing-that-does-the-thing_v02</a:t>
            </a:r>
          </a:p>
          <a:p>
            <a:pPr lvl="2"/>
            <a:r>
              <a:rPr lang="en-US" sz="2800" dirty="0">
                <a:latin typeface="GillSans"/>
              </a:rPr>
              <a:t>code-to-do-the-other-thing_v01</a:t>
            </a:r>
          </a:p>
          <a:p>
            <a:pPr lvl="1"/>
            <a:endParaRPr lang="en-US" sz="4400" dirty="0">
              <a:latin typeface="GillSans"/>
            </a:endParaRPr>
          </a:p>
          <a:p>
            <a:pPr lvl="1"/>
            <a:r>
              <a:rPr lang="en-US" sz="4400" dirty="0">
                <a:latin typeface="GillSans"/>
              </a:rPr>
              <a:t>   </a:t>
            </a:r>
            <a:r>
              <a:rPr lang="en-US" sz="4400" b="1" dirty="0">
                <a:latin typeface="GillSans"/>
              </a:rPr>
              <a:t>NOT GOOD</a:t>
            </a:r>
          </a:p>
          <a:p>
            <a:pPr lvl="2"/>
            <a:r>
              <a:rPr lang="en-US" sz="2800" dirty="0">
                <a:latin typeface="GillSans"/>
              </a:rPr>
              <a:t>v1_thing-that-does-the-thing</a:t>
            </a:r>
          </a:p>
          <a:p>
            <a:pPr lvl="2"/>
            <a:r>
              <a:rPr lang="en-US" sz="2800" dirty="0">
                <a:latin typeface="GillSans"/>
              </a:rPr>
              <a:t>v1_code-to-do-the-other-thing</a:t>
            </a:r>
          </a:p>
          <a:p>
            <a:pPr lvl="2"/>
            <a:r>
              <a:rPr lang="en-US" sz="2800" dirty="0">
                <a:latin typeface="GillSans"/>
              </a:rPr>
              <a:t>v2_thing-that-does-the-thing</a:t>
            </a:r>
          </a:p>
          <a:p>
            <a:pPr lvl="2"/>
            <a:endParaRPr lang="en-US" sz="2800" dirty="0">
              <a:latin typeface="GillSan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078" y="1979370"/>
            <a:ext cx="591803" cy="67237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078" y="4552873"/>
            <a:ext cx="621083" cy="644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535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95814" y="622597"/>
            <a:ext cx="11118309" cy="4985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b="1" dirty="0"/>
              <a:t>three principles for (file) names</a:t>
            </a:r>
          </a:p>
          <a:p>
            <a:endParaRPr lang="en-US" sz="4400" dirty="0"/>
          </a:p>
          <a:p>
            <a:pPr lvl="1"/>
            <a:r>
              <a:rPr lang="en-US" sz="4400" dirty="0"/>
              <a:t>machine readable</a:t>
            </a:r>
          </a:p>
          <a:p>
            <a:pPr lvl="1"/>
            <a:endParaRPr lang="en-US" sz="4400" dirty="0"/>
          </a:p>
          <a:p>
            <a:pPr lvl="1"/>
            <a:r>
              <a:rPr lang="en-US" sz="4400" dirty="0"/>
              <a:t>human readable</a:t>
            </a:r>
          </a:p>
          <a:p>
            <a:pPr lvl="1"/>
            <a:endParaRPr lang="en-US" sz="4400" dirty="0"/>
          </a:p>
          <a:p>
            <a:pPr lvl="1"/>
            <a:r>
              <a:rPr lang="en-US" sz="4400" dirty="0"/>
              <a:t>plays well with default ordering</a:t>
            </a:r>
          </a:p>
        </p:txBody>
      </p:sp>
    </p:spTree>
    <p:extLst>
      <p:ext uri="{BB962C8B-B14F-4D97-AF65-F5344CB8AC3E}">
        <p14:creationId xmlns:p14="http://schemas.microsoft.com/office/powerpoint/2010/main" val="15144896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95814" y="622597"/>
            <a:ext cx="11118309" cy="43088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b="1" dirty="0"/>
              <a:t>three principles for (file) names</a:t>
            </a:r>
          </a:p>
          <a:p>
            <a:endParaRPr lang="en-US" sz="4400" dirty="0"/>
          </a:p>
          <a:p>
            <a:pPr lvl="1"/>
            <a:r>
              <a:rPr lang="en-US" sz="4400" dirty="0"/>
              <a:t>easy to implement NOW</a:t>
            </a:r>
          </a:p>
          <a:p>
            <a:pPr lvl="1"/>
            <a:endParaRPr lang="en-US" sz="4400" dirty="0"/>
          </a:p>
          <a:p>
            <a:pPr lvl="1"/>
            <a:r>
              <a:rPr lang="en-US" sz="4400" dirty="0"/>
              <a:t>payoffs accumulate as your skills evolve</a:t>
            </a:r>
          </a:p>
          <a:p>
            <a:pPr lvl="1"/>
            <a:r>
              <a:rPr lang="en-US" sz="4400" dirty="0"/>
              <a:t>and projects get more complex</a:t>
            </a:r>
          </a:p>
        </p:txBody>
      </p:sp>
    </p:spTree>
    <p:extLst>
      <p:ext uri="{BB962C8B-B14F-4D97-AF65-F5344CB8AC3E}">
        <p14:creationId xmlns:p14="http://schemas.microsoft.com/office/powerpoint/2010/main" val="6854210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67803" y="484748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5400" b="1" dirty="0">
                <a:latin typeface="GillSans"/>
              </a:rPr>
              <a:t>coding standards</a:t>
            </a:r>
          </a:p>
          <a:p>
            <a:endParaRPr lang="en-US" sz="5400" dirty="0">
              <a:latin typeface="GillSans"/>
            </a:endParaRPr>
          </a:p>
          <a:p>
            <a:r>
              <a:rPr lang="en-US" dirty="0">
                <a:latin typeface="GillSans"/>
              </a:rPr>
              <a:t>based on the </a:t>
            </a:r>
            <a:r>
              <a:rPr lang="pt-BR" dirty="0">
                <a:latin typeface="GillSans"/>
              </a:rPr>
              <a:t>tidyverse style guide</a:t>
            </a:r>
          </a:p>
          <a:p>
            <a:r>
              <a:rPr lang="pt-BR" dirty="0">
                <a:latin typeface="GillSans"/>
                <a:hlinkClick r:id="rId2"/>
              </a:rPr>
              <a:t>https://style.tidyverse.org/</a:t>
            </a:r>
            <a:endParaRPr lang="pt-BR" dirty="0">
              <a:latin typeface="GillSans"/>
            </a:endParaRPr>
          </a:p>
          <a:p>
            <a:r>
              <a:rPr lang="en-US" dirty="0">
                <a:latin typeface="GillSans"/>
              </a:rPr>
              <a:t>by Hadley Wickham</a:t>
            </a:r>
          </a:p>
        </p:txBody>
      </p:sp>
    </p:spTree>
    <p:extLst>
      <p:ext uri="{BB962C8B-B14F-4D97-AF65-F5344CB8AC3E}">
        <p14:creationId xmlns:p14="http://schemas.microsoft.com/office/powerpoint/2010/main" val="348846016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67803" y="484748"/>
            <a:ext cx="10912922" cy="60939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b="1" dirty="0">
                <a:latin typeface="GillSans"/>
              </a:rPr>
              <a:t>you should read it</a:t>
            </a:r>
          </a:p>
          <a:p>
            <a:pPr algn="r"/>
            <a:endParaRPr lang="en-US" sz="1200" dirty="0">
              <a:latin typeface="GillSans"/>
            </a:endParaRPr>
          </a:p>
          <a:p>
            <a:pPr algn="r"/>
            <a:endParaRPr lang="en-US" sz="1200" dirty="0">
              <a:latin typeface="GillSans"/>
            </a:endParaRPr>
          </a:p>
          <a:p>
            <a:pPr algn="r"/>
            <a:endParaRPr lang="en-US" sz="1200" dirty="0">
              <a:latin typeface="GillSans"/>
            </a:endParaRPr>
          </a:p>
          <a:p>
            <a:pPr algn="r"/>
            <a:endParaRPr lang="en-US" sz="1200" dirty="0">
              <a:latin typeface="GillSans"/>
            </a:endParaRPr>
          </a:p>
          <a:p>
            <a:pPr algn="r"/>
            <a:endParaRPr lang="en-US" sz="1200" dirty="0">
              <a:latin typeface="GillSans"/>
            </a:endParaRPr>
          </a:p>
          <a:p>
            <a:pPr algn="r"/>
            <a:endParaRPr lang="en-US" sz="1200" dirty="0">
              <a:latin typeface="GillSans"/>
            </a:endParaRPr>
          </a:p>
          <a:p>
            <a:pPr algn="r"/>
            <a:endParaRPr lang="en-US" sz="1200" dirty="0">
              <a:latin typeface="GillSans"/>
            </a:endParaRPr>
          </a:p>
          <a:p>
            <a:pPr algn="r"/>
            <a:endParaRPr lang="en-US" sz="1200" dirty="0">
              <a:latin typeface="GillSans"/>
            </a:endParaRPr>
          </a:p>
          <a:p>
            <a:pPr algn="r"/>
            <a:endParaRPr lang="en-US" sz="1200" dirty="0">
              <a:latin typeface="GillSans"/>
            </a:endParaRPr>
          </a:p>
          <a:p>
            <a:pPr algn="r"/>
            <a:endParaRPr lang="en-US" sz="1200" dirty="0">
              <a:latin typeface="GillSans"/>
            </a:endParaRPr>
          </a:p>
          <a:p>
            <a:pPr algn="r"/>
            <a:endParaRPr lang="en-US" sz="1200" dirty="0">
              <a:latin typeface="GillSans"/>
            </a:endParaRPr>
          </a:p>
          <a:p>
            <a:pPr algn="r"/>
            <a:endParaRPr lang="en-US" sz="1200" dirty="0">
              <a:latin typeface="GillSans"/>
            </a:endParaRPr>
          </a:p>
          <a:p>
            <a:pPr algn="r"/>
            <a:endParaRPr lang="en-US" sz="1200" dirty="0">
              <a:latin typeface="GillSans"/>
            </a:endParaRPr>
          </a:p>
          <a:p>
            <a:pPr algn="r"/>
            <a:endParaRPr lang="en-US" sz="1200" dirty="0">
              <a:latin typeface="GillSans"/>
            </a:endParaRPr>
          </a:p>
          <a:p>
            <a:pPr algn="r"/>
            <a:endParaRPr lang="en-US" sz="1200" dirty="0">
              <a:latin typeface="GillSans"/>
            </a:endParaRPr>
          </a:p>
          <a:p>
            <a:pPr algn="r"/>
            <a:endParaRPr lang="en-US" sz="1200" dirty="0">
              <a:latin typeface="GillSans"/>
            </a:endParaRPr>
          </a:p>
          <a:p>
            <a:pPr algn="r"/>
            <a:endParaRPr lang="en-US" sz="1200" dirty="0">
              <a:latin typeface="GillSans"/>
            </a:endParaRPr>
          </a:p>
          <a:p>
            <a:pPr algn="r"/>
            <a:endParaRPr lang="en-US" sz="1200" dirty="0">
              <a:latin typeface="GillSans"/>
            </a:endParaRPr>
          </a:p>
          <a:p>
            <a:pPr algn="r"/>
            <a:endParaRPr lang="en-US" sz="1200" dirty="0">
              <a:latin typeface="GillSans"/>
            </a:endParaRPr>
          </a:p>
          <a:p>
            <a:pPr algn="r"/>
            <a:endParaRPr lang="en-US" sz="1200" dirty="0">
              <a:latin typeface="GillSans"/>
            </a:endParaRPr>
          </a:p>
          <a:p>
            <a:pPr algn="r"/>
            <a:endParaRPr lang="en-US" sz="1200" dirty="0">
              <a:latin typeface="GillSans"/>
            </a:endParaRPr>
          </a:p>
          <a:p>
            <a:pPr algn="r"/>
            <a:endParaRPr lang="en-US" sz="1200" dirty="0">
              <a:latin typeface="GillSans"/>
            </a:endParaRPr>
          </a:p>
          <a:p>
            <a:pPr algn="r"/>
            <a:endParaRPr lang="en-US" sz="1200" dirty="0">
              <a:latin typeface="GillSans"/>
            </a:endParaRPr>
          </a:p>
          <a:p>
            <a:pPr algn="r"/>
            <a:endParaRPr lang="en-US" sz="1200" dirty="0">
              <a:latin typeface="GillSans"/>
            </a:endParaRPr>
          </a:p>
          <a:p>
            <a:pPr algn="r"/>
            <a:endParaRPr lang="en-US" sz="1200" dirty="0">
              <a:latin typeface="GillSans"/>
            </a:endParaRPr>
          </a:p>
          <a:p>
            <a:pPr algn="r"/>
            <a:r>
              <a:rPr lang="en-US" sz="1200" dirty="0">
                <a:latin typeface="GillSans"/>
              </a:rPr>
              <a:t>so... you basically lifted all this information from other people?</a:t>
            </a:r>
          </a:p>
          <a:p>
            <a:pPr algn="r"/>
            <a:r>
              <a:rPr lang="en-US" sz="1200" dirty="0">
                <a:latin typeface="GillSans"/>
              </a:rPr>
              <a:t>good question, </a:t>
            </a:r>
            <a:r>
              <a:rPr lang="en-US" sz="1200" dirty="0" err="1">
                <a:latin typeface="GillSans"/>
              </a:rPr>
              <a:t>metacommentary</a:t>
            </a:r>
            <a:r>
              <a:rPr lang="en-US" sz="1200" dirty="0">
                <a:latin typeface="GillSans"/>
              </a:rPr>
              <a:t> text, and the truth is, if there’s good stuff out there already, then we might as well use that</a:t>
            </a:r>
          </a:p>
          <a:p>
            <a:pPr algn="r"/>
            <a:r>
              <a:rPr lang="en-US" sz="1200" dirty="0">
                <a:latin typeface="GillSans"/>
              </a:rPr>
              <a:t>now never question my methods again or from here on out you’re all wingdings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0111283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67802" y="484748"/>
            <a:ext cx="11361841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dirty="0">
                <a:latin typeface="GillSans"/>
              </a:rPr>
              <a:t>we‘re going to highlight some stuff</a:t>
            </a:r>
          </a:p>
          <a:p>
            <a:r>
              <a:rPr lang="en-US" sz="4400" dirty="0">
                <a:latin typeface="GillSans"/>
              </a:rPr>
              <a:t>as it relates to naming things</a:t>
            </a:r>
          </a:p>
          <a:p>
            <a:pPr algn="r"/>
            <a:endParaRPr lang="en-US" sz="4400" dirty="0">
              <a:latin typeface="GillSans"/>
            </a:endParaRPr>
          </a:p>
          <a:p>
            <a:pPr algn="r"/>
            <a:endParaRPr lang="en-US" sz="4400" dirty="0">
              <a:latin typeface="GillSans"/>
            </a:endParaRPr>
          </a:p>
          <a:p>
            <a:pPr algn="r"/>
            <a:endParaRPr lang="en-US" sz="4400" dirty="0">
              <a:latin typeface="GillSans"/>
            </a:endParaRPr>
          </a:p>
          <a:p>
            <a:pPr algn="r"/>
            <a:endParaRPr lang="en-US" sz="4400" dirty="0">
              <a:latin typeface="GillSans"/>
            </a:endParaRPr>
          </a:p>
          <a:p>
            <a:pPr algn="r"/>
            <a:endParaRPr lang="en-US" sz="4400" dirty="0">
              <a:latin typeface="GillSans"/>
            </a:endParaRPr>
          </a:p>
          <a:p>
            <a:pPr algn="r"/>
            <a:r>
              <a:rPr lang="en-US" sz="4400" dirty="0">
                <a:latin typeface="GillSans"/>
              </a:rPr>
              <a:t>but there’s more stuff in</a:t>
            </a:r>
          </a:p>
          <a:p>
            <a:pPr algn="r"/>
            <a:r>
              <a:rPr lang="en-US" sz="4400" dirty="0">
                <a:latin typeface="GillSans"/>
              </a:rPr>
              <a:t>there you should know</a:t>
            </a:r>
          </a:p>
          <a:p>
            <a:pPr algn="r"/>
            <a:r>
              <a:rPr lang="en-US" sz="1200" dirty="0">
                <a:latin typeface="Wingdings" panose="05000000000000000000" pitchFamily="2" charset="2"/>
              </a:rPr>
              <a:t>what did I tell you?!</a:t>
            </a:r>
          </a:p>
        </p:txBody>
      </p:sp>
    </p:spTree>
    <p:extLst>
      <p:ext uri="{BB962C8B-B14F-4D97-AF65-F5344CB8AC3E}">
        <p14:creationId xmlns:p14="http://schemas.microsoft.com/office/powerpoint/2010/main" val="21578370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67802" y="484748"/>
            <a:ext cx="11361841" cy="60631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dirty="0">
                <a:latin typeface="GillSans"/>
              </a:rPr>
              <a:t>Hadley’s welcome</a:t>
            </a:r>
          </a:p>
          <a:p>
            <a:pPr lvl="1"/>
            <a:endParaRPr lang="en-US" sz="3200" dirty="0">
              <a:latin typeface="GillSans"/>
            </a:endParaRPr>
          </a:p>
          <a:p>
            <a:pPr lvl="1"/>
            <a:r>
              <a:rPr lang="en-US" sz="2800" dirty="0">
                <a:latin typeface="GillSans"/>
              </a:rPr>
              <a:t>“Good coding style is like correct punctuation: you can manage without it, </a:t>
            </a:r>
            <a:r>
              <a:rPr lang="en-US" sz="2800" dirty="0" err="1">
                <a:latin typeface="GillSans"/>
              </a:rPr>
              <a:t>butitsuremakesthingseasiertoread</a:t>
            </a:r>
            <a:r>
              <a:rPr lang="en-US" sz="2800" dirty="0">
                <a:latin typeface="GillSans"/>
              </a:rPr>
              <a:t>…</a:t>
            </a:r>
          </a:p>
          <a:p>
            <a:pPr lvl="1"/>
            <a:endParaRPr lang="en-US" sz="2800" dirty="0">
              <a:latin typeface="GillSans"/>
            </a:endParaRPr>
          </a:p>
          <a:p>
            <a:pPr lvl="1"/>
            <a:r>
              <a:rPr lang="en-US" sz="2800" dirty="0">
                <a:latin typeface="GillSans"/>
              </a:rPr>
              <a:t>All style guides are </a:t>
            </a:r>
            <a:r>
              <a:rPr lang="en-US" sz="2800" b="1" dirty="0">
                <a:latin typeface="GillSans"/>
              </a:rPr>
              <a:t>fundamentally opinionated</a:t>
            </a:r>
            <a:r>
              <a:rPr lang="en-US" sz="2800" dirty="0">
                <a:latin typeface="GillSans"/>
              </a:rPr>
              <a:t>. Some decisions genuinely do make code easier to use (especially matching indenting to programming structure), but many decisions are arbitrary. The most important thing about a style guide is that it provides </a:t>
            </a:r>
            <a:r>
              <a:rPr lang="en-US" sz="2800" b="1" dirty="0">
                <a:latin typeface="GillSans"/>
              </a:rPr>
              <a:t>consistency</a:t>
            </a:r>
            <a:r>
              <a:rPr lang="en-US" sz="2800" dirty="0">
                <a:latin typeface="GillSans"/>
              </a:rPr>
              <a:t>, making code </a:t>
            </a:r>
            <a:r>
              <a:rPr lang="en-US" sz="2800" b="1" dirty="0">
                <a:latin typeface="GillSans"/>
              </a:rPr>
              <a:t>easier to write</a:t>
            </a:r>
            <a:r>
              <a:rPr lang="en-US" sz="2800" dirty="0">
                <a:latin typeface="GillSans"/>
              </a:rPr>
              <a:t> because you need to </a:t>
            </a:r>
            <a:r>
              <a:rPr lang="en-US" sz="2800" b="1" dirty="0">
                <a:latin typeface="GillSans"/>
              </a:rPr>
              <a:t>make fewer decisions</a:t>
            </a:r>
            <a:r>
              <a:rPr lang="en-US" sz="2800" dirty="0">
                <a:latin typeface="GillSans"/>
              </a:rPr>
              <a:t>.”</a:t>
            </a:r>
          </a:p>
          <a:p>
            <a:pPr lvl="1" algn="r"/>
            <a:endParaRPr lang="en-US" sz="1200" dirty="0">
              <a:latin typeface="GillSans"/>
            </a:endParaRPr>
          </a:p>
          <a:p>
            <a:pPr lvl="1" algn="r"/>
            <a:endParaRPr lang="en-US" sz="1200" dirty="0">
              <a:latin typeface="GillSans"/>
            </a:endParaRPr>
          </a:p>
          <a:p>
            <a:pPr lvl="1" algn="r"/>
            <a:endParaRPr lang="en-US" sz="1200" dirty="0">
              <a:latin typeface="GillSans"/>
            </a:endParaRPr>
          </a:p>
          <a:p>
            <a:pPr lvl="1" algn="r"/>
            <a:endParaRPr lang="en-US" sz="1200" dirty="0">
              <a:latin typeface="GillSans"/>
            </a:endParaRPr>
          </a:p>
          <a:p>
            <a:pPr lvl="1" algn="r"/>
            <a:r>
              <a:rPr lang="en-US" sz="1200" dirty="0">
                <a:latin typeface="GillSans"/>
              </a:rPr>
              <a:t>emphasis added to add emphasis</a:t>
            </a:r>
            <a:endParaRPr lang="en-US" sz="3200" dirty="0">
              <a:latin typeface="GillSans"/>
            </a:endParaRPr>
          </a:p>
        </p:txBody>
      </p:sp>
    </p:spTree>
    <p:extLst>
      <p:ext uri="{BB962C8B-B14F-4D97-AF65-F5344CB8AC3E}">
        <p14:creationId xmlns:p14="http://schemas.microsoft.com/office/powerpoint/2010/main" val="192490788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95814" y="622597"/>
            <a:ext cx="11118309" cy="56117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b="1" dirty="0"/>
              <a:t>1 Files</a:t>
            </a:r>
          </a:p>
          <a:p>
            <a:pPr lvl="1"/>
            <a:r>
              <a:rPr lang="en-US" sz="4400" dirty="0"/>
              <a:t>1.1. Names </a:t>
            </a:r>
            <a:r>
              <a:rPr lang="en-US" sz="4400" dirty="0">
                <a:sym typeface="Wingdings" panose="05000000000000000000" pitchFamily="2" charset="2"/>
              </a:rPr>
              <a:t> Similar advice to </a:t>
            </a:r>
            <a:r>
              <a:rPr lang="en-US" sz="4400" dirty="0"/>
              <a:t>what we already covered</a:t>
            </a:r>
          </a:p>
          <a:p>
            <a:pPr lvl="2">
              <a:lnSpc>
                <a:spcPts val="6500"/>
              </a:lnSpc>
            </a:pPr>
            <a:r>
              <a:rPr lang="en-US" sz="4400" dirty="0"/>
              <a:t>Be meaningful</a:t>
            </a:r>
          </a:p>
          <a:p>
            <a:pPr lvl="2">
              <a:lnSpc>
                <a:spcPts val="6500"/>
              </a:lnSpc>
            </a:pPr>
            <a:r>
              <a:rPr lang="en-US" sz="4400" dirty="0"/>
              <a:t>Avoid non-alphanumeric characters</a:t>
            </a:r>
          </a:p>
          <a:p>
            <a:pPr lvl="2">
              <a:lnSpc>
                <a:spcPts val="6500"/>
              </a:lnSpc>
            </a:pPr>
            <a:r>
              <a:rPr lang="en-US" sz="4400" dirty="0"/>
              <a:t>Lead with numbers, pad with zero</a:t>
            </a:r>
          </a:p>
          <a:p>
            <a:pPr lvl="2">
              <a:lnSpc>
                <a:spcPts val="6500"/>
              </a:lnSpc>
            </a:pPr>
            <a:r>
              <a:rPr lang="en-US" sz="4400" dirty="0"/>
              <a:t>Pay attention to capitalization</a:t>
            </a:r>
          </a:p>
        </p:txBody>
      </p:sp>
    </p:spTree>
    <p:extLst>
      <p:ext uri="{BB962C8B-B14F-4D97-AF65-F5344CB8AC3E}">
        <p14:creationId xmlns:p14="http://schemas.microsoft.com/office/powerpoint/2010/main" val="250380514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95814" y="622597"/>
            <a:ext cx="11118309" cy="60939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b="1" dirty="0"/>
              <a:t>1 Files</a:t>
            </a:r>
          </a:p>
          <a:p>
            <a:pPr lvl="1"/>
            <a:r>
              <a:rPr lang="en-US" sz="4400" dirty="0"/>
              <a:t>1.1. Names</a:t>
            </a:r>
          </a:p>
          <a:p>
            <a:pPr lvl="1"/>
            <a:endParaRPr lang="en-US" sz="4400" dirty="0"/>
          </a:p>
          <a:p>
            <a:pPr lvl="2"/>
            <a:r>
              <a:rPr lang="en-US" sz="4400" dirty="0"/>
              <a:t>If you make a mistake, don’t give into temptation to use </a:t>
            </a:r>
            <a:r>
              <a:rPr lang="en-US" sz="4400" dirty="0">
                <a:latin typeface="Courier New" panose="02070309020205020404" pitchFamily="49" charset="0"/>
                <a:cs typeface="Courier New" panose="02070309020205020404" pitchFamily="49" charset="0"/>
              </a:rPr>
              <a:t>02a</a:t>
            </a:r>
            <a:r>
              <a:rPr lang="en-US" sz="4400" dirty="0"/>
              <a:t>, </a:t>
            </a:r>
            <a:r>
              <a:rPr lang="en-US" sz="4400" dirty="0">
                <a:latin typeface="Courier New" panose="02070309020205020404" pitchFamily="49" charset="0"/>
                <a:cs typeface="Courier New" panose="02070309020205020404" pitchFamily="49" charset="0"/>
              </a:rPr>
              <a:t>02b</a:t>
            </a:r>
            <a:r>
              <a:rPr lang="en-US" sz="4400" dirty="0"/>
              <a:t>, etc.</a:t>
            </a:r>
          </a:p>
          <a:p>
            <a:pPr lvl="2"/>
            <a:endParaRPr lang="en-US" sz="4400" dirty="0"/>
          </a:p>
          <a:p>
            <a:pPr lvl="2"/>
            <a:r>
              <a:rPr lang="en-US" sz="4400" dirty="0"/>
              <a:t>“Bite the bullet” </a:t>
            </a:r>
            <a:r>
              <a:rPr lang="en-US" sz="4400" dirty="0">
                <a:sym typeface="Wingdings" panose="05000000000000000000" pitchFamily="2" charset="2"/>
              </a:rPr>
              <a:t> </a:t>
            </a:r>
            <a:r>
              <a:rPr lang="en-US" sz="4400" dirty="0"/>
              <a:t>rename all files</a:t>
            </a:r>
          </a:p>
          <a:p>
            <a:pPr lvl="2" algn="r"/>
            <a:endParaRPr lang="en-US" sz="1200" dirty="0"/>
          </a:p>
          <a:p>
            <a:pPr lvl="2" algn="r"/>
            <a:endParaRPr lang="en-US" sz="1200" dirty="0"/>
          </a:p>
          <a:p>
            <a:pPr lvl="2" algn="r"/>
            <a:endParaRPr lang="en-US" sz="1200" dirty="0"/>
          </a:p>
          <a:p>
            <a:pPr lvl="2" algn="r"/>
            <a:endParaRPr lang="en-US" sz="1200" dirty="0"/>
          </a:p>
          <a:p>
            <a:pPr lvl="2" algn="r"/>
            <a:endParaRPr lang="en-US" sz="1200" dirty="0"/>
          </a:p>
          <a:p>
            <a:pPr lvl="2" algn="r"/>
            <a:r>
              <a:rPr lang="en-US" sz="1200" dirty="0"/>
              <a:t>it’s a little tough love from Hadley as long as we’re throwing in the kitchen sink of colloquialisms</a:t>
            </a:r>
          </a:p>
        </p:txBody>
      </p:sp>
    </p:spTree>
    <p:extLst>
      <p:ext uri="{BB962C8B-B14F-4D97-AF65-F5344CB8AC3E}">
        <p14:creationId xmlns:p14="http://schemas.microsoft.com/office/powerpoint/2010/main" val="164994157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95814" y="622597"/>
            <a:ext cx="11118309" cy="60324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b="1" dirty="0"/>
              <a:t>1 Files</a:t>
            </a:r>
          </a:p>
          <a:p>
            <a:pPr lvl="1"/>
            <a:r>
              <a:rPr lang="en-US" sz="4400" dirty="0"/>
              <a:t>1.2. </a:t>
            </a:r>
            <a:r>
              <a:rPr lang="en-US" sz="4400" dirty="0" err="1"/>
              <a:t>Organisation</a:t>
            </a:r>
            <a:r>
              <a:rPr lang="en-US" sz="4400" dirty="0"/>
              <a:t>: “It’s hard to describe exactly how you should </a:t>
            </a:r>
            <a:r>
              <a:rPr lang="en-US" sz="4400" dirty="0" err="1"/>
              <a:t>organise</a:t>
            </a:r>
            <a:r>
              <a:rPr lang="en-US" sz="4400" dirty="0"/>
              <a:t> your code across multiple files. I think the best rule of thumb is that if you can give a file a concise name that still evokes its contents, you’ve arrived at a good </a:t>
            </a:r>
            <a:r>
              <a:rPr lang="en-US" sz="4400" dirty="0" err="1"/>
              <a:t>organisation</a:t>
            </a:r>
            <a:r>
              <a:rPr lang="en-US" sz="4400" dirty="0"/>
              <a:t>. But getting to that point is hard.”</a:t>
            </a:r>
            <a:endParaRPr lang="en-US" sz="1200" dirty="0"/>
          </a:p>
          <a:p>
            <a:pPr lvl="1" algn="r"/>
            <a:endParaRPr lang="en-US" sz="1200" dirty="0"/>
          </a:p>
          <a:p>
            <a:pPr lvl="1" algn="r"/>
            <a:r>
              <a:rPr lang="en-US" sz="1200" dirty="0"/>
              <a:t>this also applies to how you </a:t>
            </a:r>
            <a:r>
              <a:rPr lang="en-US" sz="1200" i="1" dirty="0"/>
              <a:t>organize</a:t>
            </a:r>
            <a:r>
              <a:rPr lang="en-US" sz="1200" dirty="0"/>
              <a:t> things</a:t>
            </a:r>
            <a:endParaRPr lang="en-US" sz="4400" i="1" dirty="0"/>
          </a:p>
        </p:txBody>
      </p:sp>
    </p:spTree>
    <p:extLst>
      <p:ext uri="{BB962C8B-B14F-4D97-AF65-F5344CB8AC3E}">
        <p14:creationId xmlns:p14="http://schemas.microsoft.com/office/powerpoint/2010/main" val="220003044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95814" y="622597"/>
            <a:ext cx="11118309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b="1" dirty="0"/>
              <a:t>2 Syntax</a:t>
            </a:r>
          </a:p>
          <a:p>
            <a:pPr lvl="1"/>
            <a:r>
              <a:rPr lang="en-US" sz="4400" dirty="0"/>
              <a:t>2.1 Object names</a:t>
            </a:r>
          </a:p>
          <a:p>
            <a:pPr lvl="2"/>
            <a:r>
              <a:rPr lang="en-US" sz="3600" dirty="0"/>
              <a:t>Variable and function names should use only lowercase letters, numbers, and _.</a:t>
            </a:r>
          </a:p>
          <a:p>
            <a:pPr lvl="2"/>
            <a:endParaRPr lang="en-US" sz="3600" dirty="0"/>
          </a:p>
          <a:p>
            <a:pPr lvl="2"/>
            <a:r>
              <a:rPr lang="en-US" sz="3600" dirty="0"/>
              <a:t>Use underscores (_) to separate words within a name.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b="50928"/>
          <a:stretch/>
        </p:blipFill>
        <p:spPr>
          <a:xfrm>
            <a:off x="1992652" y="4400414"/>
            <a:ext cx="4983297" cy="211223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t="50986" b="1"/>
          <a:stretch/>
        </p:blipFill>
        <p:spPr>
          <a:xfrm>
            <a:off x="5118970" y="4400414"/>
            <a:ext cx="4983296" cy="2109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8971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95814" y="622597"/>
            <a:ext cx="11118309" cy="547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b="1" dirty="0"/>
              <a:t>2 Syntax</a:t>
            </a:r>
          </a:p>
          <a:p>
            <a:pPr lvl="1"/>
            <a:r>
              <a:rPr lang="en-US" sz="4400" dirty="0"/>
              <a:t>2.1 Object names</a:t>
            </a:r>
          </a:p>
          <a:p>
            <a:pPr lvl="2"/>
            <a:r>
              <a:rPr lang="en-US" sz="3600" dirty="0"/>
              <a:t>If you find yourself attempting to cram data into variable names (e.g. model_2018, model_2019), consider using a list or data frame instead.</a:t>
            </a:r>
          </a:p>
          <a:p>
            <a:pPr lvl="2"/>
            <a:endParaRPr lang="en-US" sz="3600" dirty="0"/>
          </a:p>
          <a:p>
            <a:pPr lvl="2"/>
            <a:r>
              <a:rPr lang="en-US" sz="3600" dirty="0"/>
              <a:t>Variable names should be nouns</a:t>
            </a:r>
          </a:p>
          <a:p>
            <a:pPr lvl="2"/>
            <a:r>
              <a:rPr lang="en-US" sz="3600" dirty="0"/>
              <a:t>Function names should be verbs</a:t>
            </a:r>
          </a:p>
          <a:p>
            <a:pPr lvl="2"/>
            <a:r>
              <a:rPr lang="en-US" sz="3600" dirty="0"/>
              <a:t>Strive to be concise and meaningful</a:t>
            </a:r>
          </a:p>
        </p:txBody>
      </p:sp>
    </p:spTree>
    <p:extLst>
      <p:ext uri="{BB962C8B-B14F-4D97-AF65-F5344CB8AC3E}">
        <p14:creationId xmlns:p14="http://schemas.microsoft.com/office/powerpoint/2010/main" val="169363142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95814" y="622597"/>
            <a:ext cx="11118309" cy="21544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b="1" dirty="0"/>
              <a:t>2 Syntax</a:t>
            </a:r>
          </a:p>
          <a:p>
            <a:pPr lvl="1"/>
            <a:r>
              <a:rPr lang="en-US" sz="4400" dirty="0"/>
              <a:t>2.1 Object names</a:t>
            </a:r>
          </a:p>
          <a:p>
            <a:pPr lvl="2"/>
            <a:r>
              <a:rPr lang="en-US" sz="3600" dirty="0"/>
              <a:t>Avoid re-using common function and variable names.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9493" y="2777032"/>
            <a:ext cx="6539188" cy="2431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70264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95814" y="622597"/>
            <a:ext cx="11118309" cy="32624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b="1" dirty="0"/>
              <a:t>3 Functions</a:t>
            </a:r>
          </a:p>
          <a:p>
            <a:pPr lvl="1"/>
            <a:r>
              <a:rPr lang="en-US" sz="4400" dirty="0"/>
              <a:t>3.1 Naming</a:t>
            </a:r>
          </a:p>
          <a:p>
            <a:pPr lvl="2"/>
            <a:r>
              <a:rPr lang="en-US" sz="3600" dirty="0"/>
              <a:t>Follow the general advice for object names (i.e., </a:t>
            </a:r>
            <a:r>
              <a:rPr lang="en-US" sz="3600" dirty="0">
                <a:sym typeface="Wingdings" panose="05000000000000000000" pitchFamily="2" charset="2"/>
              </a:rPr>
              <a:t>be</a:t>
            </a:r>
            <a:r>
              <a:rPr lang="en-US" sz="3600" dirty="0"/>
              <a:t> concise and meaningful) and use verbs for function names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b="53533"/>
          <a:stretch/>
        </p:blipFill>
        <p:spPr>
          <a:xfrm>
            <a:off x="1530875" y="3895775"/>
            <a:ext cx="6571725" cy="241417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t="53151" b="687"/>
          <a:stretch/>
        </p:blipFill>
        <p:spPr>
          <a:xfrm>
            <a:off x="5025915" y="3895775"/>
            <a:ext cx="6571725" cy="2398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35595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95814" y="622597"/>
            <a:ext cx="11118309" cy="43704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b="1" dirty="0"/>
              <a:t>6 Files (from packages)</a:t>
            </a:r>
          </a:p>
          <a:p>
            <a:pPr lvl="2"/>
            <a:r>
              <a:rPr lang="en-US" sz="4400" dirty="0"/>
              <a:t>6.1 Names</a:t>
            </a:r>
          </a:p>
          <a:p>
            <a:pPr lvl="3"/>
            <a:r>
              <a:rPr lang="en-US" sz="3600" dirty="0"/>
              <a:t>If a file contains a single function, give the file the same name as the function.</a:t>
            </a:r>
          </a:p>
          <a:p>
            <a:pPr lvl="3"/>
            <a:endParaRPr lang="en-US" sz="3600" dirty="0"/>
          </a:p>
          <a:p>
            <a:pPr lvl="3"/>
            <a:r>
              <a:rPr lang="en-US" sz="3600" dirty="0"/>
              <a:t>If a file contains multiple related functions, give it a concise, but evocative name.</a:t>
            </a:r>
          </a:p>
        </p:txBody>
      </p:sp>
    </p:spTree>
    <p:extLst>
      <p:ext uri="{BB962C8B-B14F-4D97-AF65-F5344CB8AC3E}">
        <p14:creationId xmlns:p14="http://schemas.microsoft.com/office/powerpoint/2010/main" val="57375618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95814" y="622597"/>
            <a:ext cx="11118309" cy="60939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b="1" dirty="0"/>
              <a:t>And that’s it</a:t>
            </a:r>
          </a:p>
          <a:p>
            <a:pPr algn="r"/>
            <a:endParaRPr lang="en-US" sz="5400" dirty="0"/>
          </a:p>
          <a:p>
            <a:pPr algn="r"/>
            <a:endParaRPr lang="en-US" sz="5400" dirty="0"/>
          </a:p>
          <a:p>
            <a:pPr algn="ctr"/>
            <a:r>
              <a:rPr lang="en-US" sz="5400" dirty="0"/>
              <a:t>Questions?</a:t>
            </a:r>
          </a:p>
          <a:p>
            <a:pPr algn="r"/>
            <a:endParaRPr lang="en-US" sz="5400" dirty="0"/>
          </a:p>
          <a:p>
            <a:pPr algn="r"/>
            <a:endParaRPr lang="en-US" sz="5400" dirty="0"/>
          </a:p>
          <a:p>
            <a:pPr algn="r"/>
            <a:endParaRPr lang="en-US" sz="5400" dirty="0"/>
          </a:p>
          <a:p>
            <a:pPr algn="r"/>
            <a:r>
              <a:rPr lang="en-US" sz="1200" dirty="0"/>
              <a:t>I hope this helps and that the commentary wasn’t too distracting…</a:t>
            </a:r>
          </a:p>
        </p:txBody>
      </p:sp>
    </p:spTree>
    <p:extLst>
      <p:ext uri="{BB962C8B-B14F-4D97-AF65-F5344CB8AC3E}">
        <p14:creationId xmlns:p14="http://schemas.microsoft.com/office/powerpoint/2010/main" val="38276615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5AE3D1135F4E41AB498540A40487BD" ma:contentTypeVersion="18" ma:contentTypeDescription="Create a new document." ma:contentTypeScope="" ma:versionID="15adbd330118f8d06bc6615d15ac85a9">
  <xsd:schema xmlns:xsd="http://www.w3.org/2001/XMLSchema" xmlns:xs="http://www.w3.org/2001/XMLSchema" xmlns:p="http://schemas.microsoft.com/office/2006/metadata/properties" xmlns:ns2="7a2657dd-b8a5-4c99-8d51-b0b9d254c989" xmlns:ns3="5ba80a41-9917-4a22-8f13-cb051ddce64c" targetNamespace="http://schemas.microsoft.com/office/2006/metadata/properties" ma:root="true" ma:fieldsID="f6a41e235a72bf34fead84cba91ed4b2" ns2:_="" ns3:_="">
    <xsd:import namespace="7a2657dd-b8a5-4c99-8d51-b0b9d254c989"/>
    <xsd:import namespace="5ba80a41-9917-4a22-8f13-cb051ddce6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657dd-b8a5-4c99-8d51-b0b9d254c9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d038b50-52dc-447d-ac2e-a29bd036c4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a80a41-9917-4a22-8f13-cb051ddce64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ceef030-0fd2-4c4f-af00-feafa4f18198}" ma:internalName="TaxCatchAll" ma:showField="CatchAllData" ma:web="5ba80a41-9917-4a22-8f13-cb051ddce6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a2657dd-b8a5-4c99-8d51-b0b9d254c989">
      <Terms xmlns="http://schemas.microsoft.com/office/infopath/2007/PartnerControls"/>
    </lcf76f155ced4ddcb4097134ff3c332f>
    <TaxCatchAll xmlns="5ba80a41-9917-4a22-8f13-cb051ddce64c" xsi:nil="true"/>
  </documentManagement>
</p:properties>
</file>

<file path=customXml/itemProps1.xml><?xml version="1.0" encoding="utf-8"?>
<ds:datastoreItem xmlns:ds="http://schemas.openxmlformats.org/officeDocument/2006/customXml" ds:itemID="{6F303AAF-C0B2-45D4-84AD-45A56149F8AA}"/>
</file>

<file path=customXml/itemProps2.xml><?xml version="1.0" encoding="utf-8"?>
<ds:datastoreItem xmlns:ds="http://schemas.openxmlformats.org/officeDocument/2006/customXml" ds:itemID="{0B885DBA-40A2-4BB2-9CC9-85D8B5CDEC1C}"/>
</file>

<file path=customXml/itemProps3.xml><?xml version="1.0" encoding="utf-8"?>
<ds:datastoreItem xmlns:ds="http://schemas.openxmlformats.org/officeDocument/2006/customXml" ds:itemID="{D6A74A5B-DCD9-41C3-BC82-5C4725FAF3BD}"/>
</file>

<file path=docProps/app.xml><?xml version="1.0" encoding="utf-8"?>
<Properties xmlns="http://schemas.openxmlformats.org/officeDocument/2006/extended-properties" xmlns:vt="http://schemas.openxmlformats.org/officeDocument/2006/docPropsVTypes">
  <TotalTime>1149</TotalTime>
  <Words>1984</Words>
  <Application>Microsoft Office PowerPoint</Application>
  <PresentationFormat>Widescreen</PresentationFormat>
  <Paragraphs>495</Paragraphs>
  <Slides>56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4" baseType="lpstr">
      <vt:lpstr>Arial</vt:lpstr>
      <vt:lpstr>Calibri</vt:lpstr>
      <vt:lpstr>Calibri Light</vt:lpstr>
      <vt:lpstr>Courier New</vt:lpstr>
      <vt:lpstr>GillSans</vt:lpstr>
      <vt:lpstr>Helvetica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Thurston, Joel (jt9sz)</dc:creator>
  <cp:lastModifiedBy>Thurston, Joel (jt9sz)</cp:lastModifiedBy>
  <cp:revision>69</cp:revision>
  <cp:lastPrinted>2021-06-03T17:53:03Z</cp:lastPrinted>
  <dcterms:created xsi:type="dcterms:W3CDTF">2020-05-29T18:09:32Z</dcterms:created>
  <dcterms:modified xsi:type="dcterms:W3CDTF">2023-06-02T21:48:51Z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0x010100D45AE3D1135F4E41AB498540A40487BD</vt:lpwstr>
  </property>
</Properties>
</file>