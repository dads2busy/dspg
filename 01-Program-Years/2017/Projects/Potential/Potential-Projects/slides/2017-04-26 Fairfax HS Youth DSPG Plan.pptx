
<file path=[Content_Types].xml><?xml version="1.0" encoding="utf-8"?>
<Types xmlns="http://schemas.openxmlformats.org/package/2006/content-types">
  <Default Extension="xml" ContentType="application/xml"/>
  <Default Extension="jpeg" ContentType="image/jpeg"/>
  <Default Extension="jpg" ContentType="image/jpeg"/>
  <Default Extension="emf" ContentType="image/x-emf"/>
  <Default Extension="rels" ContentType="application/vnd.openxmlformats-package.relationships+xml"/>
  <Default Extension="bin" ContentType="application/vnd.openxmlformats-officedocument.presentationml.printerSettings"/>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8" r:id="rId2"/>
  </p:sldMasterIdLst>
  <p:notesMasterIdLst>
    <p:notesMasterId r:id="rId8"/>
  </p:notesMasterIdLst>
  <p:sldIdLst>
    <p:sldId id="270" r:id="rId3"/>
    <p:sldId id="262" r:id="rId4"/>
    <p:sldId id="264" r:id="rId5"/>
    <p:sldId id="271" r:id="rId6"/>
    <p:sldId id="269" r:id="rId7"/>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 uri="{2D200454-40CA-4A62-9FC3-DE9A4176ACB9}">
      <p15:notesGuideLst xmlns=""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88834" autoAdjust="0"/>
  </p:normalViewPr>
  <p:slideViewPr>
    <p:cSldViewPr snapToGrid="0" snapToObjects="1">
      <p:cViewPr varScale="1">
        <p:scale>
          <a:sx n="129" d="100"/>
          <a:sy n="129" d="100"/>
        </p:scale>
        <p:origin x="-112" y="-344"/>
      </p:cViewPr>
      <p:guideLst>
        <p:guide orient="horz" pos="1620"/>
        <p:guide pos="2880"/>
      </p:guideLst>
    </p:cSldViewPr>
  </p:slideViewPr>
  <p:notesTextViewPr>
    <p:cViewPr>
      <p:scale>
        <a:sx n="100" d="100"/>
        <a:sy n="100" d="100"/>
      </p:scale>
      <p:origin x="0" y="0"/>
    </p:cViewPr>
  </p:notesTextViewPr>
  <p:notesViewPr>
    <p:cSldViewPr snapToGrid="0" snapToObjects="1">
      <p:cViewPr>
        <p:scale>
          <a:sx n="100" d="100"/>
          <a:sy n="100" d="100"/>
        </p:scale>
        <p:origin x="-2424" y="46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notesMaster" Target="notesMasters/notesMaster1.xml"/><Relationship Id="rId9" Type="http://schemas.openxmlformats.org/officeDocument/2006/relationships/printerSettings" Target="printerSettings/printerSettings1.bin"/><Relationship Id="rId1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6A58F89-D9CA-5A46-9085-5F48D4737AB8}" type="datetimeFigureOut">
              <a:rPr lang="en-US" smtClean="0"/>
              <a:t>5/20/17</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B48C23F-8EC5-FE4D-B937-073094629BBD}" type="slidenum">
              <a:rPr lang="en-US" smtClean="0"/>
              <a:t>‹#›</a:t>
            </a:fld>
            <a:endParaRPr lang="en-US"/>
          </a:p>
        </p:txBody>
      </p:sp>
    </p:spTree>
    <p:extLst>
      <p:ext uri="{BB962C8B-B14F-4D97-AF65-F5344CB8AC3E}">
        <p14:creationId xmlns:p14="http://schemas.microsoft.com/office/powerpoint/2010/main" val="2128285256"/>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endParaRPr lang="en-US" b="1" dirty="0" smtClean="0"/>
          </a:p>
          <a:p>
            <a:pPr>
              <a:defRPr/>
            </a:pPr>
            <a:endParaRPr lang="en-US" b="1" dirty="0" smtClean="0"/>
          </a:p>
        </p:txBody>
      </p:sp>
      <p:sp>
        <p:nvSpPr>
          <p:cNvPr id="4" name="Slide Number Placeholder 3"/>
          <p:cNvSpPr>
            <a:spLocks noGrp="1"/>
          </p:cNvSpPr>
          <p:nvPr>
            <p:ph type="sldNum" sz="quarter" idx="10"/>
          </p:nvPr>
        </p:nvSpPr>
        <p:spPr/>
        <p:txBody>
          <a:bodyPr/>
          <a:lstStyle/>
          <a:p>
            <a:fld id="{242E9DFA-E443-A146-AAB3-1F418BB1A2E6}" type="slidenum">
              <a:rPr lang="en-US" smtClean="0"/>
              <a:t>1</a:t>
            </a:fld>
            <a:endParaRPr lang="en-US"/>
          </a:p>
        </p:txBody>
      </p:sp>
    </p:spTree>
    <p:extLst>
      <p:ext uri="{BB962C8B-B14F-4D97-AF65-F5344CB8AC3E}">
        <p14:creationId xmlns:p14="http://schemas.microsoft.com/office/powerpoint/2010/main" val="16530366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381000" y="4343399"/>
            <a:ext cx="6096000" cy="4799013"/>
          </a:xfrm>
        </p:spPr>
        <p:txBody>
          <a:bodyPr/>
          <a:lstStyle/>
          <a:p>
            <a:endParaRPr lang="en-US" sz="1200" b="1"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242E9DFA-E443-A146-AAB3-1F418BB1A2E6}" type="slidenum">
              <a:rPr lang="en-US" smtClean="0"/>
              <a:t>2</a:t>
            </a:fld>
            <a:endParaRPr lang="en-US"/>
          </a:p>
        </p:txBody>
      </p:sp>
    </p:spTree>
    <p:extLst>
      <p:ext uri="{BB962C8B-B14F-4D97-AF65-F5344CB8AC3E}">
        <p14:creationId xmlns:p14="http://schemas.microsoft.com/office/powerpoint/2010/main" val="35154553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381000" y="4330699"/>
            <a:ext cx="6096000" cy="4341813"/>
          </a:xfrm>
        </p:spPr>
        <p:txBody>
          <a:bodyPr/>
          <a:lstStyle/>
          <a:p>
            <a:pPr marL="342900" indent="-342900">
              <a:buFont typeface="Arial"/>
              <a:buChar char="•"/>
            </a:pPr>
            <a:endParaRPr lang="en-US" sz="1400" dirty="0" smtClean="0">
              <a:solidFill>
                <a:srgbClr val="000000"/>
              </a:solidFill>
              <a:latin typeface="Garamond"/>
              <a:cs typeface="Garamond"/>
            </a:endParaRPr>
          </a:p>
        </p:txBody>
      </p:sp>
      <p:sp>
        <p:nvSpPr>
          <p:cNvPr id="4" name="Slide Number Placeholder 3"/>
          <p:cNvSpPr>
            <a:spLocks noGrp="1"/>
          </p:cNvSpPr>
          <p:nvPr>
            <p:ph type="sldNum" sz="quarter" idx="10"/>
          </p:nvPr>
        </p:nvSpPr>
        <p:spPr/>
        <p:txBody>
          <a:bodyPr/>
          <a:lstStyle/>
          <a:p>
            <a:fld id="{5B48C23F-8EC5-FE4D-B937-073094629BBD}" type="slidenum">
              <a:rPr lang="en-US" smtClean="0"/>
              <a:t>3</a:t>
            </a:fld>
            <a:endParaRPr lang="en-US"/>
          </a:p>
        </p:txBody>
      </p:sp>
    </p:spTree>
    <p:extLst>
      <p:ext uri="{BB962C8B-B14F-4D97-AF65-F5344CB8AC3E}">
        <p14:creationId xmlns:p14="http://schemas.microsoft.com/office/powerpoint/2010/main" val="6363538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B48C23F-8EC5-FE4D-B937-073094629BBD}" type="slidenum">
              <a:rPr lang="en-US" smtClean="0"/>
              <a:t>4</a:t>
            </a:fld>
            <a:endParaRPr lang="en-US"/>
          </a:p>
        </p:txBody>
      </p:sp>
    </p:spTree>
    <p:extLst>
      <p:ext uri="{BB962C8B-B14F-4D97-AF65-F5344CB8AC3E}">
        <p14:creationId xmlns:p14="http://schemas.microsoft.com/office/powerpoint/2010/main" val="3580742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381000" y="4343400"/>
            <a:ext cx="6096000" cy="4114800"/>
          </a:xfrm>
        </p:spPr>
        <p:txBody>
          <a:bodyPr/>
          <a:lstStyle/>
          <a:p>
            <a:endParaRPr lang="en-US" sz="1200" b="0" kern="1200" baseline="0" dirty="0" smtClean="0">
              <a:solidFill>
                <a:schemeClr val="tx1"/>
              </a:solidFill>
              <a:effectLst/>
              <a:latin typeface="Garamond"/>
              <a:ea typeface="+mn-ea"/>
              <a:cs typeface="Garamond"/>
            </a:endParaRPr>
          </a:p>
          <a:p>
            <a:r>
              <a:rPr lang="en-US" sz="1200" b="0" kern="1200" baseline="0" dirty="0" smtClean="0">
                <a:solidFill>
                  <a:schemeClr val="tx1"/>
                </a:solidFill>
                <a:effectLst/>
                <a:latin typeface="Garamond"/>
                <a:ea typeface="+mn-ea"/>
                <a:cs typeface="Garamond"/>
              </a:rPr>
              <a:t>The Data Model consists of the following high-level steps:</a:t>
            </a:r>
          </a:p>
          <a:p>
            <a:pPr marL="228600" indent="-228600">
              <a:buAutoNum type="arabicPeriod"/>
            </a:pPr>
            <a:r>
              <a:rPr lang="en-US" sz="1200" b="0" kern="1200" baseline="0" dirty="0" smtClean="0">
                <a:solidFill>
                  <a:schemeClr val="tx1"/>
                </a:solidFill>
                <a:effectLst/>
                <a:latin typeface="Garamond"/>
                <a:ea typeface="+mn-ea"/>
                <a:cs typeface="Garamond"/>
              </a:rPr>
              <a:t>Data source discovery and acquisition, primarily identifying and obtaining internal data for use in the modeling.</a:t>
            </a:r>
          </a:p>
          <a:p>
            <a:pPr marL="228600" indent="-228600">
              <a:buAutoNum type="arabicPeriod"/>
            </a:pPr>
            <a:r>
              <a:rPr lang="en-US" sz="1200" b="0" kern="1200" baseline="0" dirty="0" smtClean="0">
                <a:solidFill>
                  <a:schemeClr val="tx1"/>
                </a:solidFill>
                <a:effectLst/>
                <a:latin typeface="Garamond"/>
                <a:ea typeface="+mn-ea"/>
                <a:cs typeface="Garamond"/>
              </a:rPr>
              <a:t>Data profiling to understand and describe the data.</a:t>
            </a:r>
          </a:p>
          <a:p>
            <a:pPr marL="228600" indent="-228600">
              <a:buAutoNum type="arabicPeriod"/>
            </a:pPr>
            <a:r>
              <a:rPr lang="en-US" sz="1200" b="0" kern="1200" baseline="0" dirty="0" smtClean="0">
                <a:solidFill>
                  <a:schemeClr val="tx1"/>
                </a:solidFill>
                <a:effectLst/>
                <a:latin typeface="Garamond"/>
                <a:ea typeface="+mn-ea"/>
                <a:cs typeface="Garamond"/>
              </a:rPr>
              <a:t>Data cleaning and restructuring for analysis.</a:t>
            </a:r>
          </a:p>
          <a:p>
            <a:pPr marL="228600" indent="-228600">
              <a:buAutoNum type="arabicPeriod"/>
            </a:pPr>
            <a:r>
              <a:rPr lang="en-US" sz="1200" b="0" kern="1200" baseline="0" dirty="0" smtClean="0">
                <a:solidFill>
                  <a:schemeClr val="tx1"/>
                </a:solidFill>
                <a:effectLst/>
                <a:latin typeface="Garamond"/>
                <a:ea typeface="+mn-ea"/>
                <a:cs typeface="Garamond"/>
              </a:rPr>
              <a:t>Data linkages to understand the relationships between variables and tables.</a:t>
            </a:r>
          </a:p>
          <a:p>
            <a:pPr marL="228600" indent="-228600">
              <a:buAutoNum type="arabicPeriod"/>
            </a:pPr>
            <a:r>
              <a:rPr lang="en-US" sz="1200" b="0" kern="1200" baseline="0" dirty="0" smtClean="0">
                <a:solidFill>
                  <a:schemeClr val="tx1"/>
                </a:solidFill>
                <a:effectLst/>
                <a:latin typeface="Garamond"/>
                <a:ea typeface="+mn-ea"/>
                <a:cs typeface="Garamond"/>
              </a:rPr>
              <a:t>Data Exploration including visualization, generation of descriptive statistics, and analysis of patterns and inconsistencies in the </a:t>
            </a:r>
            <a:r>
              <a:rPr lang="en-US" sz="1200" b="0" kern="1200" baseline="0" dirty="0" smtClean="0">
                <a:solidFill>
                  <a:schemeClr val="tx1"/>
                </a:solidFill>
                <a:effectLst/>
                <a:latin typeface="Garamond"/>
                <a:ea typeface="+mn-ea"/>
                <a:cs typeface="Garamond"/>
              </a:rPr>
              <a:t>data.</a:t>
            </a:r>
          </a:p>
          <a:p>
            <a:pPr marL="228600" indent="-228600">
              <a:buAutoNum type="arabicPeriod"/>
            </a:pPr>
            <a:r>
              <a:rPr lang="en-US" sz="1200" kern="1200" dirty="0" smtClean="0">
                <a:solidFill>
                  <a:schemeClr val="tx1"/>
                </a:solidFill>
                <a:effectLst/>
                <a:latin typeface="+mn-lt"/>
                <a:ea typeface="+mn-ea"/>
                <a:cs typeface="+mn-cs"/>
              </a:rPr>
              <a:t>The </a:t>
            </a:r>
            <a:r>
              <a:rPr lang="en-US" sz="1200" b="1" kern="1200" dirty="0" smtClean="0">
                <a:solidFill>
                  <a:schemeClr val="tx1"/>
                </a:solidFill>
                <a:effectLst/>
                <a:latin typeface="+mn-lt"/>
                <a:ea typeface="+mn-ea"/>
                <a:cs typeface="+mn-cs"/>
              </a:rPr>
              <a:t>data fitness assessment</a:t>
            </a:r>
            <a:r>
              <a:rPr lang="en-US" sz="1200" kern="1200" dirty="0" smtClean="0">
                <a:solidFill>
                  <a:schemeClr val="tx1"/>
                </a:solidFill>
                <a:effectLst/>
                <a:latin typeface="+mn-lt"/>
                <a:ea typeface="+mn-ea"/>
                <a:cs typeface="+mn-cs"/>
              </a:rPr>
              <a:t> will evaluate available data sources for issues of completeness, value validity, consistency, uniqueness, duplication, as well as issues of data structure. The results of these analyses will help determine what necessary transformations/cleaning might be needed as well as the fitness of the data for use in further analysis.</a:t>
            </a:r>
          </a:p>
          <a:p>
            <a:pPr marL="228600" indent="-228600">
              <a:buAutoNum type="arabicPeriod"/>
            </a:pPr>
            <a:r>
              <a:rPr lang="en-US" sz="1200" kern="1200" dirty="0" smtClean="0">
                <a:solidFill>
                  <a:schemeClr val="tx1"/>
                </a:solidFill>
                <a:effectLst/>
                <a:latin typeface="+mn-lt"/>
                <a:ea typeface="+mn-ea"/>
                <a:cs typeface="+mn-cs"/>
              </a:rPr>
              <a:t>The </a:t>
            </a:r>
            <a:r>
              <a:rPr lang="en-US" sz="1200" b="1" kern="1200" dirty="0" smtClean="0">
                <a:solidFill>
                  <a:schemeClr val="tx1"/>
                </a:solidFill>
                <a:effectLst/>
                <a:latin typeface="+mn-lt"/>
                <a:ea typeface="+mn-ea"/>
                <a:cs typeface="+mn-cs"/>
              </a:rPr>
              <a:t>data integration and statistical analysis</a:t>
            </a:r>
            <a:r>
              <a:rPr lang="en-US" sz="1200" kern="1200" dirty="0" smtClean="0">
                <a:solidFill>
                  <a:schemeClr val="tx1"/>
                </a:solidFill>
                <a:effectLst/>
                <a:latin typeface="+mn-lt"/>
                <a:ea typeface="+mn-ea"/>
                <a:cs typeface="+mn-cs"/>
              </a:rPr>
              <a:t> will produce longitudinal profiles of the county by relevant geographic areas (e.g., high-school boundaries, supervisor areas) and relevant to the research questions. These findings will inform the construction of forecast models.</a:t>
            </a:r>
          </a:p>
          <a:p>
            <a:pPr marL="228600" indent="-228600">
              <a:buAutoNum type="arabicPeriod"/>
            </a:pPr>
            <a:endParaRPr lang="en-US" sz="1200" b="0" kern="1200" baseline="0" dirty="0" smtClean="0">
              <a:solidFill>
                <a:schemeClr val="tx1"/>
              </a:solidFill>
              <a:effectLst/>
              <a:latin typeface="Garamond"/>
              <a:ea typeface="+mn-ea"/>
              <a:cs typeface="Garamond"/>
            </a:endParaRPr>
          </a:p>
          <a:p>
            <a:pPr marL="228600" indent="-228600">
              <a:buAutoNum type="arabicPeriod"/>
            </a:pPr>
            <a:endParaRPr lang="en-US" dirty="0">
              <a:latin typeface="Garamond"/>
              <a:cs typeface="Garamond"/>
            </a:endParaRPr>
          </a:p>
          <a:p>
            <a:pPr marL="228600" indent="-228600">
              <a:buAutoNum type="arabicPeriod"/>
            </a:pPr>
            <a:endParaRPr lang="en-US" sz="1200" b="0" kern="1200" baseline="0" dirty="0" smtClean="0">
              <a:solidFill>
                <a:schemeClr val="tx1"/>
              </a:solidFill>
              <a:effectLst/>
              <a:latin typeface="Garamond"/>
              <a:ea typeface="+mn-ea"/>
              <a:cs typeface="Garamond"/>
            </a:endParaRPr>
          </a:p>
        </p:txBody>
      </p:sp>
      <p:sp>
        <p:nvSpPr>
          <p:cNvPr id="4" name="Slide Number Placeholder 3"/>
          <p:cNvSpPr>
            <a:spLocks noGrp="1"/>
          </p:cNvSpPr>
          <p:nvPr>
            <p:ph type="sldNum" sz="quarter" idx="10"/>
          </p:nvPr>
        </p:nvSpPr>
        <p:spPr/>
        <p:txBody>
          <a:bodyPr/>
          <a:lstStyle/>
          <a:p>
            <a:fld id="{5B48C23F-8EC5-FE4D-B937-073094629BBD}" type="slidenum">
              <a:rPr lang="en-US" smtClean="0"/>
              <a:t>5</a:t>
            </a:fld>
            <a:endParaRPr lang="en-US"/>
          </a:p>
        </p:txBody>
      </p:sp>
    </p:spTree>
    <p:extLst>
      <p:ext uri="{BB962C8B-B14F-4D97-AF65-F5344CB8AC3E}">
        <p14:creationId xmlns:p14="http://schemas.microsoft.com/office/powerpoint/2010/main" val="3218254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32"/>
            <a:ext cx="7772400" cy="1102519"/>
          </a:xfrm>
        </p:spPr>
        <p:txBody>
          <a:bodyPr/>
          <a:lstStyle>
            <a:lvl1pPr algn="ctr">
              <a:defRPr>
                <a:latin typeface="Gill Sans"/>
                <a:cs typeface="Gill Sans"/>
              </a:defRPr>
            </a:lvl1pPr>
          </a:lstStyle>
          <a:p>
            <a:r>
              <a:rPr lang="en-US" smtClean="0"/>
              <a:t>Click to edit Master title style</a:t>
            </a:r>
            <a:endParaRPr lang="en-US" dirty="0"/>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latin typeface="Gill Sans Light"/>
                <a:cs typeface="Gill Sans Ligh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5" name="Footer Placeholder 4"/>
          <p:cNvSpPr>
            <a:spLocks noGrp="1"/>
          </p:cNvSpPr>
          <p:nvPr>
            <p:ph type="ftr" sz="quarter" idx="11"/>
          </p:nvPr>
        </p:nvSpPr>
        <p:spPr/>
        <p:txBody>
          <a:bodyPr/>
          <a:lstStyle>
            <a:lvl1pPr>
              <a:defRPr>
                <a:latin typeface="Arial Narrow"/>
                <a:cs typeface="Arial Narrow"/>
              </a:defRPr>
            </a:lvl1pPr>
          </a:lstStyle>
          <a:p>
            <a:endParaRPr lang="en-US" dirty="0"/>
          </a:p>
        </p:txBody>
      </p:sp>
    </p:spTree>
    <p:extLst>
      <p:ext uri="{BB962C8B-B14F-4D97-AF65-F5344CB8AC3E}">
        <p14:creationId xmlns:p14="http://schemas.microsoft.com/office/powerpoint/2010/main" val="10870581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Footer Placeholder 4"/>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40509110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normAutofit/>
          </a:bodyPr>
          <a:lstStyle>
            <a:lvl1pPr algn="l">
              <a:defRPr sz="3200" b="1" cap="all"/>
            </a:lvl1pPr>
          </a:lstStyle>
          <a:p>
            <a:r>
              <a:rPr lang="en-US" smtClean="0"/>
              <a:t>Click to edit Master title style</a:t>
            </a:r>
            <a:endParaRPr lang="en-US" dirty="0"/>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5" name="Footer Placeholder 4"/>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7853889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Gill Sans  "/>
                <a:cs typeface="Gill Sans  "/>
              </a:defRPr>
            </a:lvl1pPr>
          </a:lstStyle>
          <a:p>
            <a:r>
              <a:rPr lang="en-US" smtClean="0"/>
              <a:t>Click to edit Master title style</a:t>
            </a:r>
            <a:endParaRPr lang="en-US"/>
          </a:p>
        </p:txBody>
      </p:sp>
      <p:sp>
        <p:nvSpPr>
          <p:cNvPr id="3" name="Content Placeholder 2"/>
          <p:cNvSpPr>
            <a:spLocks noGrp="1"/>
          </p:cNvSpPr>
          <p:nvPr>
            <p:ph sz="half" idx="1"/>
          </p:nvPr>
        </p:nvSpPr>
        <p:spPr>
          <a:xfrm>
            <a:off x="457200" y="1006078"/>
            <a:ext cx="4038600" cy="3394472"/>
          </a:xfrm>
        </p:spPr>
        <p:txBody>
          <a:bodyPr/>
          <a:lstStyle>
            <a:lvl1pPr>
              <a:defRPr sz="2800">
                <a:latin typeface="Gill Sans Light"/>
                <a:cs typeface="Gill Sans Light"/>
              </a:defRPr>
            </a:lvl1pPr>
            <a:lvl2pPr>
              <a:defRPr sz="2400">
                <a:latin typeface="Gill Sans Light"/>
                <a:cs typeface="Gill Sans Light"/>
              </a:defRPr>
            </a:lvl2pPr>
            <a:lvl3pPr>
              <a:defRPr sz="2000">
                <a:latin typeface="Gill Sans Light"/>
                <a:cs typeface="Gill Sans Light"/>
              </a:defRPr>
            </a:lvl3pPr>
            <a:lvl4pPr>
              <a:defRPr sz="1800">
                <a:latin typeface="Gill Sans Light"/>
                <a:cs typeface="Gill Sans Light"/>
              </a:defRPr>
            </a:lvl4pPr>
            <a:lvl5pPr>
              <a:defRPr sz="1800">
                <a:latin typeface="Gill Sans Light"/>
                <a:cs typeface="Gill Sans Light"/>
              </a:defRPr>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006078"/>
            <a:ext cx="4038600" cy="3394472"/>
          </a:xfrm>
        </p:spPr>
        <p:txBody>
          <a:bodyPr/>
          <a:lstStyle>
            <a:lvl1pPr>
              <a:defRPr sz="2800">
                <a:latin typeface="Gill Sans Light"/>
                <a:cs typeface="Gill Sans Light"/>
              </a:defRPr>
            </a:lvl1pPr>
            <a:lvl2pPr>
              <a:defRPr sz="2400">
                <a:latin typeface="Gill Sans Light"/>
                <a:cs typeface="Gill Sans Light"/>
              </a:defRPr>
            </a:lvl2pPr>
            <a:lvl3pPr>
              <a:defRPr sz="2000">
                <a:latin typeface="Gill Sans Light"/>
                <a:cs typeface="Gill Sans Light"/>
              </a:defRPr>
            </a:lvl3pPr>
            <a:lvl4pPr>
              <a:defRPr sz="1800">
                <a:latin typeface="Gill Sans Light"/>
                <a:cs typeface="Gill Sans Light"/>
              </a:defRPr>
            </a:lvl4pPr>
            <a:lvl5pPr>
              <a:defRPr sz="1800">
                <a:latin typeface="Gill Sans Light"/>
                <a:cs typeface="Gill Sans Light"/>
              </a:defRPr>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11"/>
          </p:nvPr>
        </p:nvSpPr>
        <p:spPr/>
        <p:txBody>
          <a:bodyPr/>
          <a:lstStyle>
            <a:lvl1pPr>
              <a:defRPr>
                <a:latin typeface="Gill Sans Light"/>
                <a:cs typeface="Gill Sans Light"/>
              </a:defRPr>
            </a:lvl1pPr>
          </a:lstStyle>
          <a:p>
            <a:endParaRPr lang="en-US" dirty="0"/>
          </a:p>
        </p:txBody>
      </p:sp>
    </p:spTree>
    <p:extLst>
      <p:ext uri="{BB962C8B-B14F-4D97-AF65-F5344CB8AC3E}">
        <p14:creationId xmlns:p14="http://schemas.microsoft.com/office/powerpoint/2010/main" val="34727220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Gill Sans  "/>
                <a:cs typeface="Gill Sans  "/>
              </a:defRPr>
            </a:lvl1pPr>
          </a:lstStyle>
          <a:p>
            <a:r>
              <a:rPr lang="en-US" smtClean="0"/>
              <a:t>Click to edit Master title style</a:t>
            </a:r>
            <a:endParaRPr lang="en-US"/>
          </a:p>
        </p:txBody>
      </p:sp>
      <p:sp>
        <p:nvSpPr>
          <p:cNvPr id="3" name="Text Placeholder 2"/>
          <p:cNvSpPr>
            <a:spLocks noGrp="1"/>
          </p:cNvSpPr>
          <p:nvPr>
            <p:ph type="body" idx="1"/>
          </p:nvPr>
        </p:nvSpPr>
        <p:spPr>
          <a:xfrm>
            <a:off x="457200" y="1033465"/>
            <a:ext cx="4040188" cy="479822"/>
          </a:xfrm>
        </p:spPr>
        <p:txBody>
          <a:bodyPr anchor="b">
            <a:noAutofit/>
          </a:bodyPr>
          <a:lstStyle>
            <a:lvl1pPr marL="0" indent="0">
              <a:buNone/>
              <a:defRPr sz="2800" b="1">
                <a:latin typeface="Gill Sans Light"/>
                <a:cs typeface="Gill Sans Ligh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1513284"/>
            <a:ext cx="4040188" cy="2963466"/>
          </a:xfrm>
        </p:spPr>
        <p:txBody>
          <a:bodyPr/>
          <a:lstStyle>
            <a:lvl1pPr>
              <a:defRPr sz="2400">
                <a:latin typeface="Gill Sans Light"/>
                <a:cs typeface="Gill Sans Light"/>
              </a:defRPr>
            </a:lvl1pPr>
            <a:lvl2pPr>
              <a:defRPr sz="2000">
                <a:latin typeface="Gill Sans Light"/>
                <a:cs typeface="Gill Sans Light"/>
              </a:defRPr>
            </a:lvl2pPr>
            <a:lvl3pPr>
              <a:defRPr sz="1800">
                <a:latin typeface="Gill Sans Light"/>
                <a:cs typeface="Gill Sans Light"/>
              </a:defRPr>
            </a:lvl3pPr>
            <a:lvl4pPr>
              <a:defRPr sz="1600">
                <a:latin typeface="Gill Sans Light"/>
                <a:cs typeface="Gill Sans Light"/>
              </a:defRPr>
            </a:lvl4pPr>
            <a:lvl5pPr>
              <a:defRPr sz="1600">
                <a:latin typeface="Gill Sans Light"/>
                <a:cs typeface="Gill Sans Light"/>
              </a:defRPr>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33" y="1033465"/>
            <a:ext cx="4041775" cy="479822"/>
          </a:xfrm>
        </p:spPr>
        <p:txBody>
          <a:bodyPr anchor="b">
            <a:noAutofit/>
          </a:bodyPr>
          <a:lstStyle>
            <a:lvl1pPr marL="0" indent="0">
              <a:buNone/>
              <a:defRPr sz="2800" b="1">
                <a:latin typeface="Gill Sans Light"/>
                <a:cs typeface="Gill Sans Ligh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33" y="1513284"/>
            <a:ext cx="4041775" cy="2963466"/>
          </a:xfrm>
        </p:spPr>
        <p:txBody>
          <a:bodyPr/>
          <a:lstStyle>
            <a:lvl1pPr>
              <a:defRPr sz="2400">
                <a:latin typeface="Gill Sans Light"/>
                <a:cs typeface="Gill Sans Light"/>
              </a:defRPr>
            </a:lvl1pPr>
            <a:lvl2pPr>
              <a:defRPr sz="2000">
                <a:latin typeface="Gill Sans Light"/>
                <a:cs typeface="Gill Sans Light"/>
              </a:defRPr>
            </a:lvl2pPr>
            <a:lvl3pPr>
              <a:defRPr sz="1800">
                <a:latin typeface="Gill Sans Light"/>
                <a:cs typeface="Gill Sans Light"/>
              </a:defRPr>
            </a:lvl3pPr>
            <a:lvl4pPr>
              <a:defRPr sz="1600">
                <a:latin typeface="Gill Sans Light"/>
                <a:cs typeface="Gill Sans Light"/>
              </a:defRPr>
            </a:lvl4pPr>
            <a:lvl5pPr>
              <a:defRPr sz="1600">
                <a:latin typeface="Gill Sans Light"/>
                <a:cs typeface="Gill Sans Light"/>
              </a:defRPr>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Footer Placeholder 7"/>
          <p:cNvSpPr>
            <a:spLocks noGrp="1"/>
          </p:cNvSpPr>
          <p:nvPr>
            <p:ph type="ftr" sz="quarter" idx="11"/>
          </p:nvPr>
        </p:nvSpPr>
        <p:spPr/>
        <p:txBody>
          <a:bodyPr/>
          <a:lstStyle>
            <a:lvl1pPr>
              <a:defRPr>
                <a:latin typeface="Gill Sans Light"/>
                <a:cs typeface="Gill Sans Light"/>
              </a:defRPr>
            </a:lvl1pPr>
          </a:lstStyle>
          <a:p>
            <a:endParaRPr lang="en-US" dirty="0"/>
          </a:p>
        </p:txBody>
      </p:sp>
    </p:spTree>
    <p:extLst>
      <p:ext uri="{BB962C8B-B14F-4D97-AF65-F5344CB8AC3E}">
        <p14:creationId xmlns:p14="http://schemas.microsoft.com/office/powerpoint/2010/main" val="38457438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4" name="Footer Placeholder 3"/>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6218326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22287834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19" y="204787"/>
            <a:ext cx="3008313" cy="871538"/>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04801"/>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19" y="1076328"/>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4767264"/>
            <a:ext cx="2133600" cy="273844"/>
          </a:xfrm>
          <a:prstGeom prst="rect">
            <a:avLst/>
          </a:prstGeom>
        </p:spPr>
        <p:txBody>
          <a:bodyPr/>
          <a:lstStyle/>
          <a:p>
            <a:fld id="{F32AA7FB-7229-D24E-A73A-6CD4FE8F258D}" type="datetimeFigureOut">
              <a:rPr lang="en-US" smtClean="0"/>
              <a:t>5/20/17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6553200" y="4767264"/>
            <a:ext cx="2133600" cy="273844"/>
          </a:xfrm>
          <a:prstGeom prst="rect">
            <a:avLst/>
          </a:prstGeom>
        </p:spPr>
        <p:txBody>
          <a:bodyPr/>
          <a:lstStyle/>
          <a:p>
            <a:fld id="{79F6C386-95F0-3641-A343-1ED97B1ADEC6}" type="slidenum">
              <a:rPr lang="en-US" smtClean="0"/>
              <a:t>‹#›</a:t>
            </a:fld>
            <a:endParaRPr lang="en-US" dirty="0"/>
          </a:p>
        </p:txBody>
      </p:sp>
    </p:spTree>
    <p:extLst>
      <p:ext uri="{BB962C8B-B14F-4D97-AF65-F5344CB8AC3E}">
        <p14:creationId xmlns:p14="http://schemas.microsoft.com/office/powerpoint/2010/main" val="25272709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97869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4767264"/>
            <a:ext cx="2133600" cy="273844"/>
          </a:xfrm>
          <a:prstGeom prst="rect">
            <a:avLst/>
          </a:prstGeom>
        </p:spPr>
        <p:txBody>
          <a:bodyPr/>
          <a:lstStyle/>
          <a:p>
            <a:fld id="{F32AA7FB-7229-D24E-A73A-6CD4FE8F258D}" type="datetimeFigureOut">
              <a:rPr lang="en-US" smtClean="0"/>
              <a:t>5/20/17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6553200" y="4767264"/>
            <a:ext cx="2133600" cy="273844"/>
          </a:xfrm>
          <a:prstGeom prst="rect">
            <a:avLst/>
          </a:prstGeom>
        </p:spPr>
        <p:txBody>
          <a:bodyPr/>
          <a:lstStyle/>
          <a:p>
            <a:fld id="{79F6C386-95F0-3641-A343-1ED97B1ADEC6}" type="slidenum">
              <a:rPr lang="en-US" smtClean="0"/>
              <a:t>‹#›</a:t>
            </a:fld>
            <a:endParaRPr lang="en-US" dirty="0"/>
          </a:p>
        </p:txBody>
      </p:sp>
    </p:spTree>
    <p:extLst>
      <p:ext uri="{BB962C8B-B14F-4D97-AF65-F5344CB8AC3E}">
        <p14:creationId xmlns:p14="http://schemas.microsoft.com/office/powerpoint/2010/main" val="4544682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0"/>
            <a:ext cx="2057400" cy="4388644"/>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05980"/>
            <a:ext cx="6019800" cy="438864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4767264"/>
            <a:ext cx="2133600" cy="273844"/>
          </a:xfrm>
          <a:prstGeom prst="rect">
            <a:avLst/>
          </a:prstGeom>
        </p:spPr>
        <p:txBody>
          <a:bodyPr/>
          <a:lstStyle/>
          <a:p>
            <a:fld id="{F32AA7FB-7229-D24E-A73A-6CD4FE8F258D}" type="datetimeFigureOut">
              <a:rPr lang="en-US" smtClean="0"/>
              <a:t>5/20/17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6553200" y="4767264"/>
            <a:ext cx="2133600" cy="273844"/>
          </a:xfrm>
          <a:prstGeom prst="rect">
            <a:avLst/>
          </a:prstGeom>
        </p:spPr>
        <p:txBody>
          <a:bodyPr/>
          <a:lstStyle/>
          <a:p>
            <a:fld id="{79F6C386-95F0-3641-A343-1ED97B1ADEC6}" type="slidenum">
              <a:rPr lang="en-US" smtClean="0"/>
              <a:t>‹#›</a:t>
            </a:fld>
            <a:endParaRPr lang="en-US" dirty="0"/>
          </a:p>
        </p:txBody>
      </p:sp>
    </p:spTree>
    <p:extLst>
      <p:ext uri="{BB962C8B-B14F-4D97-AF65-F5344CB8AC3E}">
        <p14:creationId xmlns:p14="http://schemas.microsoft.com/office/powerpoint/2010/main" val="39112839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Blank">
    <p:spTree>
      <p:nvGrpSpPr>
        <p:cNvPr id="1" name=""/>
        <p:cNvGrpSpPr/>
        <p:nvPr/>
      </p:nvGrpSpPr>
      <p:grpSpPr>
        <a:xfrm>
          <a:off x="0" y="0"/>
          <a:ext cx="0" cy="0"/>
          <a:chOff x="0" y="0"/>
          <a:chExt cx="0" cy="0"/>
        </a:xfrm>
      </p:grpSpPr>
      <p:pic>
        <p:nvPicPr>
          <p:cNvPr id="2" name="Picture 1" descr="Biocomplexity-PP-SectionTitle10-SDAL-BKGD-Light_2015-11.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0"/>
            <a:ext cx="9119681" cy="5143500"/>
          </a:xfrm>
          <a:prstGeom prst="rect">
            <a:avLst/>
          </a:prstGeom>
        </p:spPr>
      </p:pic>
      <p:sp>
        <p:nvSpPr>
          <p:cNvPr id="3" name="Title 1"/>
          <p:cNvSpPr>
            <a:spLocks noGrp="1"/>
          </p:cNvSpPr>
          <p:nvPr>
            <p:ph type="title"/>
          </p:nvPr>
        </p:nvSpPr>
        <p:spPr>
          <a:xfrm>
            <a:off x="457200" y="205979"/>
            <a:ext cx="8229600" cy="857250"/>
          </a:xfrm>
        </p:spPr>
        <p:txBody>
          <a:bodyPr/>
          <a:lstStyle>
            <a:lvl1pPr>
              <a:defRPr b="0" i="0">
                <a:latin typeface="Helvetica"/>
                <a:cs typeface="Helvetica"/>
              </a:defRPr>
            </a:lvl1pPr>
          </a:lstStyle>
          <a:p>
            <a:r>
              <a:rPr lang="en-US" smtClean="0"/>
              <a:t>Click to edit Master title style</a:t>
            </a:r>
            <a:endParaRPr lang="en-US" dirty="0"/>
          </a:p>
        </p:txBody>
      </p:sp>
    </p:spTree>
    <p:extLst>
      <p:ext uri="{BB962C8B-B14F-4D97-AF65-F5344CB8AC3E}">
        <p14:creationId xmlns:p14="http://schemas.microsoft.com/office/powerpoint/2010/main" val="3016090980"/>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4"/>
            <a:ext cx="7772400" cy="1102519"/>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E717C6D-883D-844F-9246-6C48CD679585}" type="datetimeFigureOut">
              <a:rPr lang="en-US" smtClean="0"/>
              <a:t>5/20/17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A5DF18-8519-FC43-AA94-CBF4177941FF}" type="slidenum">
              <a:rPr lang="en-US" smtClean="0"/>
              <a:t>‹#›</a:t>
            </a:fld>
            <a:endParaRPr lang="en-US"/>
          </a:p>
        </p:txBody>
      </p:sp>
    </p:spTree>
    <p:extLst>
      <p:ext uri="{BB962C8B-B14F-4D97-AF65-F5344CB8AC3E}">
        <p14:creationId xmlns:p14="http://schemas.microsoft.com/office/powerpoint/2010/main" val="20350544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E717C6D-883D-844F-9246-6C48CD679585}" type="datetimeFigureOut">
              <a:rPr lang="en-US" smtClean="0"/>
              <a:t>5/20/17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A5DF18-8519-FC43-AA94-CBF4177941FF}" type="slidenum">
              <a:rPr lang="en-US" smtClean="0"/>
              <a:t>‹#›</a:t>
            </a:fld>
            <a:endParaRPr lang="en-US"/>
          </a:p>
        </p:txBody>
      </p:sp>
    </p:spTree>
    <p:extLst>
      <p:ext uri="{BB962C8B-B14F-4D97-AF65-F5344CB8AC3E}">
        <p14:creationId xmlns:p14="http://schemas.microsoft.com/office/powerpoint/2010/main" val="33257033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E717C6D-883D-844F-9246-6C48CD679585}" type="datetimeFigureOut">
              <a:rPr lang="en-US" smtClean="0"/>
              <a:t>5/20/17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A5DF18-8519-FC43-AA94-CBF4177941FF}" type="slidenum">
              <a:rPr lang="en-US" smtClean="0"/>
              <a:t>‹#›</a:t>
            </a:fld>
            <a:endParaRPr lang="en-US"/>
          </a:p>
        </p:txBody>
      </p:sp>
    </p:spTree>
    <p:extLst>
      <p:ext uri="{BB962C8B-B14F-4D97-AF65-F5344CB8AC3E}">
        <p14:creationId xmlns:p14="http://schemas.microsoft.com/office/powerpoint/2010/main" val="25323239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E717C6D-883D-844F-9246-6C48CD679585}" type="datetimeFigureOut">
              <a:rPr lang="en-US" smtClean="0"/>
              <a:t>5/20/17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A5DF18-8519-FC43-AA94-CBF4177941FF}" type="slidenum">
              <a:rPr lang="en-US" smtClean="0"/>
              <a:t>‹#›</a:t>
            </a:fld>
            <a:endParaRPr lang="en-US"/>
          </a:p>
        </p:txBody>
      </p:sp>
    </p:spTree>
    <p:extLst>
      <p:ext uri="{BB962C8B-B14F-4D97-AF65-F5344CB8AC3E}">
        <p14:creationId xmlns:p14="http://schemas.microsoft.com/office/powerpoint/2010/main" val="8852875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33"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33"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E717C6D-883D-844F-9246-6C48CD679585}" type="datetimeFigureOut">
              <a:rPr lang="en-US" smtClean="0"/>
              <a:t>5/20/17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2A5DF18-8519-FC43-AA94-CBF4177941FF}" type="slidenum">
              <a:rPr lang="en-US" smtClean="0"/>
              <a:t>‹#›</a:t>
            </a:fld>
            <a:endParaRPr lang="en-US"/>
          </a:p>
        </p:txBody>
      </p:sp>
    </p:spTree>
    <p:extLst>
      <p:ext uri="{BB962C8B-B14F-4D97-AF65-F5344CB8AC3E}">
        <p14:creationId xmlns:p14="http://schemas.microsoft.com/office/powerpoint/2010/main" val="300959788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E717C6D-883D-844F-9246-6C48CD679585}" type="datetimeFigureOut">
              <a:rPr lang="en-US" smtClean="0"/>
              <a:t>5/20/17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2A5DF18-8519-FC43-AA94-CBF4177941FF}" type="slidenum">
              <a:rPr lang="en-US" smtClean="0"/>
              <a:t>‹#›</a:t>
            </a:fld>
            <a:endParaRPr lang="en-US"/>
          </a:p>
        </p:txBody>
      </p:sp>
    </p:spTree>
    <p:extLst>
      <p:ext uri="{BB962C8B-B14F-4D97-AF65-F5344CB8AC3E}">
        <p14:creationId xmlns:p14="http://schemas.microsoft.com/office/powerpoint/2010/main" val="41690565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E717C6D-883D-844F-9246-6C48CD679585}" type="datetimeFigureOut">
              <a:rPr lang="en-US" smtClean="0"/>
              <a:t>5/20/17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2A5DF18-8519-FC43-AA94-CBF4177941FF}" type="slidenum">
              <a:rPr lang="en-US" smtClean="0"/>
              <a:t>‹#›</a:t>
            </a:fld>
            <a:endParaRPr lang="en-US"/>
          </a:p>
        </p:txBody>
      </p:sp>
    </p:spTree>
    <p:extLst>
      <p:ext uri="{BB962C8B-B14F-4D97-AF65-F5344CB8AC3E}">
        <p14:creationId xmlns:p14="http://schemas.microsoft.com/office/powerpoint/2010/main" val="176950560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11" y="204787"/>
            <a:ext cx="3008313" cy="871538"/>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04793"/>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11" y="1076328"/>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E717C6D-883D-844F-9246-6C48CD679585}" type="datetimeFigureOut">
              <a:rPr lang="en-US" smtClean="0"/>
              <a:t>5/20/17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A5DF18-8519-FC43-AA94-CBF4177941FF}" type="slidenum">
              <a:rPr lang="en-US" smtClean="0"/>
              <a:t>‹#›</a:t>
            </a:fld>
            <a:endParaRPr lang="en-US"/>
          </a:p>
        </p:txBody>
      </p:sp>
    </p:spTree>
    <p:extLst>
      <p:ext uri="{BB962C8B-B14F-4D97-AF65-F5344CB8AC3E}">
        <p14:creationId xmlns:p14="http://schemas.microsoft.com/office/powerpoint/2010/main" val="5835214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8"/>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E717C6D-883D-844F-9246-6C48CD679585}" type="datetimeFigureOut">
              <a:rPr lang="en-US" smtClean="0"/>
              <a:t>5/20/17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A5DF18-8519-FC43-AA94-CBF4177941FF}" type="slidenum">
              <a:rPr lang="en-US" smtClean="0"/>
              <a:t>‹#›</a:t>
            </a:fld>
            <a:endParaRPr lang="en-US"/>
          </a:p>
        </p:txBody>
      </p:sp>
    </p:spTree>
    <p:extLst>
      <p:ext uri="{BB962C8B-B14F-4D97-AF65-F5344CB8AC3E}">
        <p14:creationId xmlns:p14="http://schemas.microsoft.com/office/powerpoint/2010/main" val="207863223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E717C6D-883D-844F-9246-6C48CD679585}" type="datetimeFigureOut">
              <a:rPr lang="en-US" smtClean="0"/>
              <a:t>5/20/17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A5DF18-8519-FC43-AA94-CBF4177941FF}" type="slidenum">
              <a:rPr lang="en-US" smtClean="0"/>
              <a:t>‹#›</a:t>
            </a:fld>
            <a:endParaRPr lang="en-US"/>
          </a:p>
        </p:txBody>
      </p:sp>
    </p:spTree>
    <p:extLst>
      <p:ext uri="{BB962C8B-B14F-4D97-AF65-F5344CB8AC3E}">
        <p14:creationId xmlns:p14="http://schemas.microsoft.com/office/powerpoint/2010/main" val="320040901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0"/>
            <a:ext cx="2057400" cy="4388644"/>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05980"/>
            <a:ext cx="6019800" cy="438864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E717C6D-883D-844F-9246-6C48CD679585}" type="datetimeFigureOut">
              <a:rPr lang="en-US" smtClean="0"/>
              <a:t>5/20/17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A5DF18-8519-FC43-AA94-CBF4177941FF}" type="slidenum">
              <a:rPr lang="en-US" smtClean="0"/>
              <a:t>‹#›</a:t>
            </a:fld>
            <a:endParaRPr lang="en-US"/>
          </a:p>
        </p:txBody>
      </p:sp>
    </p:spTree>
    <p:extLst>
      <p:ext uri="{BB962C8B-B14F-4D97-AF65-F5344CB8AC3E}">
        <p14:creationId xmlns:p14="http://schemas.microsoft.com/office/powerpoint/2010/main" val="2468301158"/>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jp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2" Type="http://schemas.openxmlformats.org/officeDocument/2006/relationships/theme" Target="../theme/theme2.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006078"/>
            <a:ext cx="8229600" cy="3394472"/>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latin typeface="Arial Narrow"/>
                <a:cs typeface="Arial Narrow"/>
              </a:defRPr>
            </a:lvl1pPr>
          </a:lstStyle>
          <a:p>
            <a:endParaRPr lang="en-US" dirty="0"/>
          </a:p>
        </p:txBody>
      </p:sp>
    </p:spTree>
    <p:extLst>
      <p:ext uri="{BB962C8B-B14F-4D97-AF65-F5344CB8AC3E}">
        <p14:creationId xmlns:p14="http://schemas.microsoft.com/office/powerpoint/2010/main" val="42797848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80" r:id="rId12"/>
  </p:sldLayoutIdLst>
  <p:txStyles>
    <p:titleStyle>
      <a:lvl1pPr algn="r" defTabSz="457200" rtl="0" eaLnBrk="1" latinLnBrk="0" hangingPunct="1">
        <a:spcBef>
          <a:spcPct val="0"/>
        </a:spcBef>
        <a:buNone/>
        <a:defRPr sz="3200" b="0" kern="1200">
          <a:solidFill>
            <a:schemeClr val="tx1"/>
          </a:solidFill>
          <a:latin typeface="Gill Sans"/>
          <a:ea typeface="+mj-ea"/>
          <a:cs typeface="Gill Sans"/>
        </a:defRPr>
      </a:lvl1pPr>
    </p:titleStyle>
    <p:bodyStyle>
      <a:lvl1pPr marL="681038" indent="-342900" algn="l" defTabSz="457200" rtl="0" eaLnBrk="1" latinLnBrk="0" hangingPunct="1">
        <a:spcBef>
          <a:spcPct val="20000"/>
        </a:spcBef>
        <a:buFont typeface="Arial"/>
        <a:buChar char="•"/>
        <a:defRPr sz="2800" kern="1200">
          <a:solidFill>
            <a:schemeClr val="tx1"/>
          </a:solidFill>
          <a:latin typeface="Gill Sans Light"/>
          <a:ea typeface="+mn-ea"/>
          <a:cs typeface="Gill Sans Light"/>
        </a:defRPr>
      </a:lvl1pPr>
      <a:lvl2pPr marL="1028700" indent="-285750" algn="l" defTabSz="457200" rtl="0" eaLnBrk="1" latinLnBrk="0" hangingPunct="1">
        <a:spcBef>
          <a:spcPct val="20000"/>
        </a:spcBef>
        <a:buFont typeface="Arial"/>
        <a:buChar char="–"/>
        <a:defRPr sz="2400" kern="1200">
          <a:solidFill>
            <a:schemeClr val="tx1"/>
          </a:solidFill>
          <a:latin typeface="Gill Sans Light"/>
          <a:ea typeface="+mn-ea"/>
          <a:cs typeface="Gill Sans Light"/>
        </a:defRPr>
      </a:lvl2pPr>
      <a:lvl3pPr marL="1373188" indent="-225425" algn="l" defTabSz="457200" rtl="0" eaLnBrk="1" latinLnBrk="0" hangingPunct="1">
        <a:spcBef>
          <a:spcPct val="20000"/>
        </a:spcBef>
        <a:buFont typeface="Arial"/>
        <a:buChar char="•"/>
        <a:defRPr sz="2000" kern="1200">
          <a:solidFill>
            <a:schemeClr val="tx1"/>
          </a:solidFill>
          <a:latin typeface="Gill Sans Light"/>
          <a:ea typeface="+mn-ea"/>
          <a:cs typeface="Gill Sans Light"/>
        </a:defRPr>
      </a:lvl3pPr>
      <a:lvl4pPr marL="1833563" indent="-228600" algn="l" defTabSz="457200" rtl="0" eaLnBrk="1" latinLnBrk="0" hangingPunct="1">
        <a:spcBef>
          <a:spcPct val="20000"/>
        </a:spcBef>
        <a:buFont typeface="Arial"/>
        <a:buChar char="–"/>
        <a:defRPr sz="2000" kern="1200">
          <a:solidFill>
            <a:schemeClr val="tx1"/>
          </a:solidFill>
          <a:latin typeface="Gill Sans Light"/>
          <a:ea typeface="+mn-ea"/>
          <a:cs typeface="Gill Sans Light"/>
        </a:defRPr>
      </a:lvl4pPr>
      <a:lvl5pPr marL="2278063" indent="-228600" algn="l" defTabSz="457200" rtl="0" eaLnBrk="1" latinLnBrk="0" hangingPunct="1">
        <a:spcBef>
          <a:spcPct val="20000"/>
        </a:spcBef>
        <a:buFont typeface="Arial"/>
        <a:buChar char="»"/>
        <a:defRPr sz="2000" kern="1200">
          <a:solidFill>
            <a:schemeClr val="tx1"/>
          </a:solidFill>
          <a:latin typeface="Gill Sans Light"/>
          <a:ea typeface="+mn-ea"/>
          <a:cs typeface="Gill Sans Light"/>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9E717C6D-883D-844F-9246-6C48CD679585}" type="datetimeFigureOut">
              <a:rPr lang="en-US" smtClean="0"/>
              <a:t>5/20/17</a:t>
            </a:fld>
            <a:endParaRPr lang="en-US"/>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C2A5DF18-8519-FC43-AA94-CBF4177941FF}" type="slidenum">
              <a:rPr lang="en-US" smtClean="0"/>
              <a:t>‹#›</a:t>
            </a:fld>
            <a:endParaRPr lang="en-US"/>
          </a:p>
        </p:txBody>
      </p:sp>
    </p:spTree>
    <p:extLst>
      <p:ext uri="{BB962C8B-B14F-4D97-AF65-F5344CB8AC3E}">
        <p14:creationId xmlns:p14="http://schemas.microsoft.com/office/powerpoint/2010/main" val="2833570243"/>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hyperlink" Target="mailto:Sophia.Dutton@fairfaxcounty.gov" TargetMode="External"/><Relationship Id="rId4" Type="http://schemas.openxmlformats.org/officeDocument/2006/relationships/hyperlink" Target="mailto:Linda.Hoffman@fairfaxcounty.gov" TargetMode="External"/><Relationship Id="rId5" Type="http://schemas.openxmlformats.org/officeDocument/2006/relationships/image" Target="../media/image4.png"/><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6.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 y="1276350"/>
            <a:ext cx="6997700" cy="1524000"/>
          </a:xfrm>
        </p:spPr>
        <p:txBody>
          <a:bodyPr>
            <a:noAutofit/>
          </a:bodyPr>
          <a:lstStyle/>
          <a:p>
            <a:pPr>
              <a:lnSpc>
                <a:spcPct val="90000"/>
              </a:lnSpc>
            </a:pPr>
            <a:r>
              <a:rPr lang="en-US" sz="2800" b="1" dirty="0" smtClean="0">
                <a:latin typeface="Raleway Light "/>
                <a:cs typeface="Raleway Light "/>
              </a:rPr>
              <a:t>Identifying </a:t>
            </a:r>
            <a:r>
              <a:rPr lang="en-US" sz="2800" b="1" dirty="0">
                <a:latin typeface="Raleway Light "/>
                <a:cs typeface="Raleway Light "/>
              </a:rPr>
              <a:t>and Predicting Effects </a:t>
            </a:r>
            <a:r>
              <a:rPr lang="en-US" sz="2800" b="1" dirty="0" smtClean="0">
                <a:latin typeface="Raleway Light "/>
                <a:cs typeface="Raleway Light "/>
              </a:rPr>
              <a:t/>
            </a:r>
            <a:br>
              <a:rPr lang="en-US" sz="2800" b="1" dirty="0" smtClean="0">
                <a:latin typeface="Raleway Light "/>
                <a:cs typeface="Raleway Light "/>
              </a:rPr>
            </a:br>
            <a:r>
              <a:rPr lang="en-US" sz="2800" b="1" dirty="0" smtClean="0">
                <a:latin typeface="Raleway Light "/>
                <a:cs typeface="Raleway Light "/>
              </a:rPr>
              <a:t>of </a:t>
            </a:r>
            <a:r>
              <a:rPr lang="en-US" sz="2800" b="1" dirty="0">
                <a:latin typeface="Raleway Light "/>
                <a:cs typeface="Raleway Light "/>
              </a:rPr>
              <a:t>Trends on Youth Population in Fairfax County</a:t>
            </a:r>
            <a:endParaRPr lang="en-US" sz="2000" b="1" i="1" dirty="0">
              <a:latin typeface="Raleway Light "/>
              <a:cs typeface="Raleway Light "/>
            </a:endParaRPr>
          </a:p>
        </p:txBody>
      </p:sp>
      <p:sp>
        <p:nvSpPr>
          <p:cNvPr id="6" name="Subtitle 2"/>
          <p:cNvSpPr>
            <a:spLocks noGrp="1"/>
          </p:cNvSpPr>
          <p:nvPr>
            <p:ph type="subTitle" idx="1"/>
          </p:nvPr>
        </p:nvSpPr>
        <p:spPr>
          <a:xfrm>
            <a:off x="609600" y="2645858"/>
            <a:ext cx="6400800" cy="1830892"/>
          </a:xfrm>
        </p:spPr>
        <p:txBody>
          <a:bodyPr>
            <a:noAutofit/>
          </a:bodyPr>
          <a:lstStyle/>
          <a:p>
            <a:pPr>
              <a:spcBef>
                <a:spcPts val="0"/>
              </a:spcBef>
            </a:pPr>
            <a:endParaRPr lang="en-US" sz="1100" dirty="0" smtClean="0">
              <a:solidFill>
                <a:schemeClr val="tx1"/>
              </a:solidFill>
              <a:latin typeface="Helvetica Light"/>
              <a:cs typeface="Helvetica Light"/>
            </a:endParaRPr>
          </a:p>
          <a:p>
            <a:pPr>
              <a:lnSpc>
                <a:spcPct val="80000"/>
              </a:lnSpc>
              <a:spcBef>
                <a:spcPts val="0"/>
              </a:spcBef>
            </a:pPr>
            <a:r>
              <a:rPr lang="en-US" sz="2400" b="1" dirty="0">
                <a:solidFill>
                  <a:srgbClr val="4775A4"/>
                </a:solidFill>
                <a:effectLst>
                  <a:outerShdw blurRad="50800" dist="38100" dir="2700000" algn="tl" rotWithShape="0">
                    <a:srgbClr val="000000">
                      <a:alpha val="43000"/>
                    </a:srgbClr>
                  </a:outerShdw>
                </a:effectLst>
                <a:latin typeface="Helvetica Light"/>
                <a:cs typeface="Helvetica Light"/>
              </a:rPr>
              <a:t>Stephanie </a:t>
            </a:r>
            <a:r>
              <a:rPr lang="en-US" sz="2400" b="1" dirty="0" smtClean="0">
                <a:solidFill>
                  <a:srgbClr val="4775A4"/>
                </a:solidFill>
                <a:effectLst>
                  <a:outerShdw blurRad="50800" dist="38100" dir="2700000" algn="tl" rotWithShape="0">
                    <a:srgbClr val="000000">
                      <a:alpha val="43000"/>
                    </a:srgbClr>
                  </a:outerShdw>
                </a:effectLst>
                <a:latin typeface="Helvetica Light"/>
                <a:cs typeface="Helvetica Light"/>
              </a:rPr>
              <a:t>Shipp, </a:t>
            </a:r>
            <a:r>
              <a:rPr lang="en-US" sz="2400" b="1" dirty="0" smtClean="0">
                <a:solidFill>
                  <a:srgbClr val="4775A4"/>
                </a:solidFill>
                <a:effectLst>
                  <a:outerShdw blurRad="50800" dist="38100" dir="2700000" algn="tl" rotWithShape="0">
                    <a:srgbClr val="000000">
                      <a:alpha val="43000"/>
                    </a:srgbClr>
                  </a:outerShdw>
                </a:effectLst>
                <a:latin typeface="Helvetica Light"/>
                <a:cs typeface="Helvetica Light"/>
              </a:rPr>
              <a:t>Vicki Lancaster, </a:t>
            </a:r>
            <a:br>
              <a:rPr lang="en-US" sz="2400" b="1" dirty="0" smtClean="0">
                <a:solidFill>
                  <a:srgbClr val="4775A4"/>
                </a:solidFill>
                <a:effectLst>
                  <a:outerShdw blurRad="50800" dist="38100" dir="2700000" algn="tl" rotWithShape="0">
                    <a:srgbClr val="000000">
                      <a:alpha val="43000"/>
                    </a:srgbClr>
                  </a:outerShdw>
                </a:effectLst>
                <a:latin typeface="Helvetica Light"/>
                <a:cs typeface="Helvetica Light"/>
              </a:rPr>
            </a:br>
            <a:r>
              <a:rPr lang="en-US" sz="2400" b="1" dirty="0" smtClean="0">
                <a:solidFill>
                  <a:srgbClr val="4775A4"/>
                </a:solidFill>
                <a:effectLst>
                  <a:outerShdw blurRad="50800" dist="38100" dir="2700000" algn="tl" rotWithShape="0">
                    <a:srgbClr val="000000">
                      <a:alpha val="43000"/>
                    </a:srgbClr>
                  </a:outerShdw>
                </a:effectLst>
                <a:latin typeface="Helvetica Light"/>
                <a:cs typeface="Helvetica Light"/>
              </a:rPr>
              <a:t>Aaron Schroeder</a:t>
            </a:r>
            <a:endParaRPr lang="en-US" sz="2400" b="1" dirty="0">
              <a:solidFill>
                <a:srgbClr val="4775A4"/>
              </a:solidFill>
              <a:effectLst>
                <a:outerShdw blurRad="50800" dist="38100" dir="2700000" algn="tl" rotWithShape="0">
                  <a:srgbClr val="000000">
                    <a:alpha val="43000"/>
                  </a:srgbClr>
                </a:outerShdw>
              </a:effectLst>
              <a:latin typeface="Helvetica Light"/>
              <a:cs typeface="Helvetica Light"/>
            </a:endParaRPr>
          </a:p>
          <a:p>
            <a:pPr>
              <a:spcBef>
                <a:spcPts val="0"/>
              </a:spcBef>
            </a:pPr>
            <a:r>
              <a:rPr lang="en-US" sz="600" dirty="0" smtClean="0">
                <a:solidFill>
                  <a:schemeClr val="tx1"/>
                </a:solidFill>
                <a:latin typeface="Helvetica Light"/>
                <a:cs typeface="Helvetica Light"/>
              </a:rPr>
              <a:t> </a:t>
            </a:r>
            <a:endParaRPr lang="en-US" sz="1600" b="1" dirty="0" smtClean="0">
              <a:solidFill>
                <a:srgbClr val="770E2F"/>
              </a:solidFill>
              <a:effectLst>
                <a:outerShdw blurRad="50800" dist="38100" dir="2700000" algn="tl" rotWithShape="0">
                  <a:srgbClr val="000000">
                    <a:alpha val="43000"/>
                  </a:srgbClr>
                </a:outerShdw>
              </a:effectLst>
              <a:latin typeface="Helvetica Light"/>
              <a:cs typeface="Helvetica Light"/>
            </a:endParaRPr>
          </a:p>
          <a:p>
            <a:pPr>
              <a:spcBef>
                <a:spcPts val="0"/>
              </a:spcBef>
            </a:pPr>
            <a:r>
              <a:rPr lang="en-US" sz="2000" b="1" dirty="0" smtClean="0">
                <a:solidFill>
                  <a:schemeClr val="tx1"/>
                </a:solidFill>
                <a:latin typeface="Helvetica Light"/>
                <a:cs typeface="Helvetica Light"/>
              </a:rPr>
              <a:t> May </a:t>
            </a:r>
            <a:r>
              <a:rPr lang="en-US" sz="2000" b="1" dirty="0" smtClean="0">
                <a:solidFill>
                  <a:schemeClr val="tx1"/>
                </a:solidFill>
                <a:latin typeface="Helvetica Light"/>
                <a:cs typeface="Helvetica Light"/>
              </a:rPr>
              <a:t>23, </a:t>
            </a:r>
            <a:r>
              <a:rPr lang="en-US" sz="2000" b="1" dirty="0" smtClean="0">
                <a:solidFill>
                  <a:schemeClr val="tx1"/>
                </a:solidFill>
                <a:latin typeface="Helvetica Light"/>
                <a:cs typeface="Helvetica Light"/>
              </a:rPr>
              <a:t>2017</a:t>
            </a:r>
            <a:endParaRPr lang="en-US" sz="2000" b="1" dirty="0" smtClean="0">
              <a:solidFill>
                <a:srgbClr val="898989"/>
              </a:solidFill>
              <a:latin typeface="Helvetica Light"/>
              <a:cs typeface="Helvetica Light"/>
            </a:endParaRPr>
          </a:p>
        </p:txBody>
      </p:sp>
      <p:sp>
        <p:nvSpPr>
          <p:cNvPr id="3" name="TextBox 2"/>
          <p:cNvSpPr txBox="1"/>
          <p:nvPr/>
        </p:nvSpPr>
        <p:spPr>
          <a:xfrm>
            <a:off x="115911" y="4726546"/>
            <a:ext cx="476518" cy="296215"/>
          </a:xfrm>
          <a:prstGeom prst="rect">
            <a:avLst/>
          </a:prstGeom>
          <a:solidFill>
            <a:schemeClr val="bg1"/>
          </a:solidFill>
        </p:spPr>
        <p:txBody>
          <a:bodyPr wrap="square" rtlCol="0">
            <a:spAutoFit/>
          </a:bodyPr>
          <a:lstStyle/>
          <a:p>
            <a:pPr marL="0"/>
            <a:endParaRPr lang="en-US" sz="2000" dirty="0">
              <a:solidFill>
                <a:schemeClr val="bg1"/>
              </a:solidFill>
              <a:latin typeface="Gill Sans Light"/>
              <a:cs typeface="Gill Sans Light"/>
            </a:endParaRPr>
          </a:p>
        </p:txBody>
      </p:sp>
    </p:spTree>
    <p:extLst>
      <p:ext uri="{BB962C8B-B14F-4D97-AF65-F5344CB8AC3E}">
        <p14:creationId xmlns:p14="http://schemas.microsoft.com/office/powerpoint/2010/main" val="1112044081"/>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33" y="83677"/>
            <a:ext cx="9144000" cy="857250"/>
          </a:xfrm>
        </p:spPr>
        <p:txBody>
          <a:bodyPr>
            <a:noAutofit/>
          </a:bodyPr>
          <a:lstStyle/>
          <a:p>
            <a:pPr algn="ctr">
              <a:lnSpc>
                <a:spcPct val="90000"/>
              </a:lnSpc>
            </a:pPr>
            <a:r>
              <a:rPr lang="en-US" dirty="0" smtClean="0">
                <a:ea typeface="Helvetica" charset="0"/>
              </a:rPr>
              <a:t>Team and Research Questions</a:t>
            </a:r>
            <a:endParaRPr lang="en-US" dirty="0">
              <a:ea typeface="Helvetica" charset="0"/>
            </a:endParaRPr>
          </a:p>
        </p:txBody>
      </p:sp>
      <p:sp>
        <p:nvSpPr>
          <p:cNvPr id="3" name="Content Placeholder 2"/>
          <p:cNvSpPr>
            <a:spLocks noGrp="1"/>
          </p:cNvSpPr>
          <p:nvPr>
            <p:ph idx="1"/>
          </p:nvPr>
        </p:nvSpPr>
        <p:spPr>
          <a:xfrm>
            <a:off x="194917" y="940927"/>
            <a:ext cx="8491883" cy="3808414"/>
          </a:xfrm>
        </p:spPr>
        <p:txBody>
          <a:bodyPr>
            <a:noAutofit/>
          </a:bodyPr>
          <a:lstStyle/>
          <a:p>
            <a:pPr marL="0" lvl="1" indent="0" algn="ctr">
              <a:buNone/>
            </a:pPr>
            <a:r>
              <a:rPr lang="en-US" b="1" dirty="0" smtClean="0">
                <a:solidFill>
                  <a:srgbClr val="95A945"/>
                </a:solidFill>
                <a:effectLst>
                  <a:outerShdw blurRad="50800" dist="38100" dir="2700000" algn="tl" rotWithShape="0">
                    <a:srgbClr val="000000">
                      <a:alpha val="43000"/>
                    </a:srgbClr>
                  </a:outerShdw>
                </a:effectLst>
              </a:rPr>
              <a:t>Sponsor / Team</a:t>
            </a:r>
          </a:p>
          <a:p>
            <a:pPr marL="0" lvl="1" indent="0" algn="ctr">
              <a:buNone/>
            </a:pPr>
            <a:r>
              <a:rPr lang="en-US" sz="2000" dirty="0" smtClean="0"/>
              <a:t>Sponsor - Fairfax </a:t>
            </a:r>
            <a:r>
              <a:rPr lang="en-US" sz="2000" dirty="0"/>
              <a:t>County Division for Countywide Service Integration and Planning Management (CSPIM), Neighborhood and Community Services (NCS), within Health and Human Services (HHS) </a:t>
            </a:r>
            <a:endParaRPr lang="en-US" b="1" dirty="0">
              <a:solidFill>
                <a:srgbClr val="95A945"/>
              </a:solidFill>
              <a:effectLst>
                <a:outerShdw blurRad="50800" dist="38100" dir="2700000" algn="tl" rotWithShape="0">
                  <a:srgbClr val="000000">
                    <a:alpha val="43000"/>
                  </a:srgbClr>
                </a:outerShdw>
              </a:effectLst>
            </a:endParaRPr>
          </a:p>
          <a:p>
            <a:pPr marL="0" lvl="1" indent="0" algn="r">
              <a:buNone/>
            </a:pPr>
            <a:endParaRPr lang="en-US" b="1" dirty="0">
              <a:solidFill>
                <a:srgbClr val="95A945"/>
              </a:solidFill>
              <a:effectLst>
                <a:outerShdw blurRad="50800" dist="38100" dir="2700000" algn="tl" rotWithShape="0">
                  <a:srgbClr val="000000">
                    <a:alpha val="43000"/>
                  </a:srgbClr>
                </a:outerShdw>
              </a:effectLst>
            </a:endParaRPr>
          </a:p>
          <a:p>
            <a:pPr marL="0" lvl="1" indent="0">
              <a:buNone/>
            </a:pPr>
            <a:r>
              <a:rPr lang="en-US" sz="1800" dirty="0" smtClean="0"/>
              <a:t>SDAL </a:t>
            </a:r>
            <a:r>
              <a:rPr lang="en-US" sz="1800" dirty="0"/>
              <a:t>– Stephanie Shipp, Vicki Lancaster, Aaron Schroeder</a:t>
            </a:r>
          </a:p>
          <a:p>
            <a:pPr marL="0" lvl="1" indent="0">
              <a:buNone/>
            </a:pPr>
            <a:r>
              <a:rPr lang="en-US" sz="1800" dirty="0"/>
              <a:t>Fairfax - Sophia Dutton </a:t>
            </a:r>
            <a:r>
              <a:rPr lang="en-US" sz="1800" dirty="0">
                <a:hlinkClick r:id="rId3"/>
              </a:rPr>
              <a:t>Sophia.Dutton@</a:t>
            </a:r>
            <a:r>
              <a:rPr lang="en-US" sz="1800" dirty="0" smtClean="0">
                <a:hlinkClick r:id="rId3"/>
              </a:rPr>
              <a:t>fairfaxcounty.gov</a:t>
            </a:r>
            <a:endParaRPr lang="en-US" sz="1800" dirty="0" smtClean="0"/>
          </a:p>
          <a:p>
            <a:pPr marL="0" lvl="1" indent="0">
              <a:buNone/>
            </a:pPr>
            <a:r>
              <a:rPr lang="en-US" sz="1800" dirty="0"/>
              <a:t> </a:t>
            </a:r>
            <a:r>
              <a:rPr lang="en-US" sz="1800" dirty="0" smtClean="0"/>
              <a:t>           Hoffman</a:t>
            </a:r>
            <a:r>
              <a:rPr lang="en-US" sz="1800" dirty="0"/>
              <a:t>, Linda </a:t>
            </a:r>
            <a:r>
              <a:rPr lang="en-US" sz="1800" dirty="0">
                <a:hlinkClick r:id="rId4"/>
              </a:rPr>
              <a:t>Linda.Hoffman@</a:t>
            </a:r>
            <a:r>
              <a:rPr lang="en-US" sz="1800" dirty="0" smtClean="0">
                <a:hlinkClick r:id="rId4"/>
              </a:rPr>
              <a:t>fairfaxcounty.gov</a:t>
            </a:r>
            <a:endParaRPr lang="en-US" sz="1800" dirty="0" smtClean="0"/>
          </a:p>
          <a:p>
            <a:pPr marL="0" lvl="1" indent="0">
              <a:buNone/>
            </a:pPr>
            <a:r>
              <a:rPr lang="en-US" sz="1800" dirty="0" smtClean="0"/>
              <a:t>DSPG </a:t>
            </a:r>
            <a:r>
              <a:rPr lang="en-US" sz="1800" dirty="0"/>
              <a:t>students: 2 graduate students with at least one in statistics and 2 undergraduates</a:t>
            </a:r>
          </a:p>
          <a:p>
            <a:pPr marL="0" lvl="1" indent="0" algn="ctr">
              <a:buNone/>
            </a:pPr>
            <a:endParaRPr lang="en-US" b="1" dirty="0">
              <a:solidFill>
                <a:srgbClr val="95A945"/>
              </a:solidFill>
              <a:effectLst>
                <a:outerShdw blurRad="50800" dist="38100" dir="2700000" algn="tl" rotWithShape="0">
                  <a:srgbClr val="000000">
                    <a:alpha val="43000"/>
                  </a:srgbClr>
                </a:outerShdw>
              </a:effectLst>
            </a:endParaRPr>
          </a:p>
          <a:p>
            <a:pPr marL="0" lvl="1" indent="0" algn="ctr">
              <a:buNone/>
            </a:pPr>
            <a:endParaRPr lang="en-US" dirty="0" smtClean="0"/>
          </a:p>
          <a:p>
            <a:pPr marL="0" lvl="1" indent="0" algn="ctr">
              <a:buNone/>
            </a:pPr>
            <a:endParaRPr lang="en-US" dirty="0" smtClean="0"/>
          </a:p>
          <a:p>
            <a:pPr marL="0" lvl="1" indent="0" algn="ctr">
              <a:buNone/>
            </a:pPr>
            <a:endParaRPr lang="en-US" dirty="0"/>
          </a:p>
        </p:txBody>
      </p:sp>
      <p:pic>
        <p:nvPicPr>
          <p:cNvPr id="5" name="Picture 4" descr="Screen Shot 2016-12-02 at 5.24.03 AM.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56549" y="2590343"/>
            <a:ext cx="3130251" cy="1136650"/>
          </a:xfrm>
          <a:prstGeom prst="rect">
            <a:avLst/>
          </a:prstGeom>
        </p:spPr>
      </p:pic>
    </p:spTree>
    <p:extLst>
      <p:ext uri="{BB962C8B-B14F-4D97-AF65-F5344CB8AC3E}">
        <p14:creationId xmlns:p14="http://schemas.microsoft.com/office/powerpoint/2010/main" val="3911027986"/>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Research Questions</a:t>
            </a:r>
            <a:endParaRPr lang="en-US" dirty="0"/>
          </a:p>
        </p:txBody>
      </p:sp>
      <p:sp>
        <p:nvSpPr>
          <p:cNvPr id="3" name="Content Placeholder 2"/>
          <p:cNvSpPr>
            <a:spLocks noGrp="1"/>
          </p:cNvSpPr>
          <p:nvPr>
            <p:ph sz="half" idx="1"/>
          </p:nvPr>
        </p:nvSpPr>
        <p:spPr>
          <a:xfrm>
            <a:off x="277367" y="1006078"/>
            <a:ext cx="4218433" cy="3606468"/>
          </a:xfrm>
        </p:spPr>
        <p:txBody>
          <a:bodyPr>
            <a:noAutofit/>
          </a:bodyPr>
          <a:lstStyle/>
          <a:p>
            <a:pPr marL="285750" indent="-285750"/>
            <a:r>
              <a:rPr lang="en-US" sz="1800" dirty="0" smtClean="0"/>
              <a:t>Which </a:t>
            </a:r>
            <a:r>
              <a:rPr lang="en-US" sz="1800" dirty="0"/>
              <a:t>HHS programs and services may be affected by changes in population size, behaviors, and demographic makeup?</a:t>
            </a:r>
          </a:p>
          <a:p>
            <a:pPr marL="285750" indent="-285750"/>
            <a:r>
              <a:rPr lang="en-US" sz="1800" dirty="0"/>
              <a:t>What </a:t>
            </a:r>
            <a:r>
              <a:rPr lang="en-US" sz="1800" b="1" dirty="0">
                <a:solidFill>
                  <a:srgbClr val="95A945"/>
                </a:solidFill>
                <a:effectLst>
                  <a:outerShdw blurRad="50800" dist="38100" dir="2700000" algn="tl" rotWithShape="0">
                    <a:srgbClr val="000000">
                      <a:alpha val="43000"/>
                    </a:srgbClr>
                  </a:outerShdw>
                </a:effectLst>
              </a:rPr>
              <a:t>current and future trends </a:t>
            </a:r>
            <a:r>
              <a:rPr lang="en-US" sz="1800" dirty="0"/>
              <a:t>in demographics, housing, and other factors would inform the models to predict changes in their programs? </a:t>
            </a:r>
          </a:p>
          <a:p>
            <a:pPr marL="285750" indent="-285750"/>
            <a:r>
              <a:rPr lang="en-US" sz="1800" dirty="0"/>
              <a:t>What are trends in the data that warrant more investigation? e.g., </a:t>
            </a:r>
            <a:r>
              <a:rPr lang="en-US" sz="1800" dirty="0" smtClean="0"/>
              <a:t>why </a:t>
            </a:r>
            <a:r>
              <a:rPr lang="en-US" sz="1800" dirty="0"/>
              <a:t>are kids engaging in less and less physical activity? </a:t>
            </a:r>
            <a:endParaRPr lang="en-US" sz="1800" b="1" dirty="0">
              <a:solidFill>
                <a:srgbClr val="95A945"/>
              </a:solidFill>
              <a:effectLst>
                <a:outerShdw blurRad="50800" dist="38100" dir="2700000" algn="tl" rotWithShape="0">
                  <a:srgbClr val="000000">
                    <a:alpha val="43000"/>
                  </a:srgbClr>
                </a:outerShdw>
              </a:effectLst>
            </a:endParaRPr>
          </a:p>
          <a:p>
            <a:endParaRPr lang="en-US" sz="2000" b="1" dirty="0">
              <a:solidFill>
                <a:srgbClr val="95A945"/>
              </a:solidFill>
              <a:effectLst>
                <a:outerShdw blurRad="50800" dist="38100" dir="2700000" algn="tl" rotWithShape="0">
                  <a:srgbClr val="000000">
                    <a:alpha val="43000"/>
                  </a:srgbClr>
                </a:outerShdw>
              </a:effectLst>
            </a:endParaRPr>
          </a:p>
        </p:txBody>
      </p:sp>
      <p:pic>
        <p:nvPicPr>
          <p:cNvPr id="5" name="Content Placeholder 4"/>
          <p:cNvPicPr>
            <a:picLocks noGrp="1" noChangeAspect="1"/>
          </p:cNvPicPr>
          <p:nvPr>
            <p:ph sz="half" idx="2"/>
          </p:nvPr>
        </p:nvPicPr>
        <p:blipFill rotWithShape="1">
          <a:blip r:embed="rId3">
            <a:extLst>
              <a:ext uri="{28A0092B-C50C-407E-A947-70E740481C1C}">
                <a14:useLocalDpi xmlns:a14="http://schemas.microsoft.com/office/drawing/2010/main"/>
              </a:ext>
            </a:extLst>
          </a:blip>
          <a:srcRect l="12001" r="12001"/>
          <a:stretch/>
        </p:blipFill>
        <p:spPr>
          <a:prstGeom prst="rect">
            <a:avLst/>
          </a:prstGeom>
          <a:ln w="12700">
            <a:solidFill>
              <a:schemeClr val="tx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001177136"/>
      </p:ext>
    </p:extLst>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Expected Project Outputs</a:t>
            </a:r>
            <a:endParaRPr lang="en-US" dirty="0"/>
          </a:p>
        </p:txBody>
      </p:sp>
      <p:sp>
        <p:nvSpPr>
          <p:cNvPr id="3" name="Content Placeholder 2"/>
          <p:cNvSpPr>
            <a:spLocks noGrp="1"/>
          </p:cNvSpPr>
          <p:nvPr>
            <p:ph idx="1"/>
          </p:nvPr>
        </p:nvSpPr>
        <p:spPr>
          <a:xfrm>
            <a:off x="1" y="1006078"/>
            <a:ext cx="8802764" cy="3591872"/>
          </a:xfrm>
        </p:spPr>
        <p:txBody>
          <a:bodyPr>
            <a:noAutofit/>
          </a:bodyPr>
          <a:lstStyle/>
          <a:p>
            <a:pPr lvl="0"/>
            <a:r>
              <a:rPr lang="en-US" sz="1800" dirty="0"/>
              <a:t>Document work on wiki and in short 2-3 page write-ups summarizing </a:t>
            </a:r>
            <a:r>
              <a:rPr lang="en-US" sz="1800" dirty="0" smtClean="0"/>
              <a:t>results for each activity. </a:t>
            </a:r>
            <a:endParaRPr lang="en-US" sz="1800" dirty="0"/>
          </a:p>
          <a:p>
            <a:pPr lvl="1"/>
            <a:r>
              <a:rPr lang="en-US" sz="1800" dirty="0"/>
              <a:t>Literature review on youth behaviors under consideration.</a:t>
            </a:r>
          </a:p>
          <a:p>
            <a:pPr lvl="1"/>
            <a:r>
              <a:rPr lang="en-US" sz="1800" dirty="0"/>
              <a:t>Execution of the SDAL data framework to discover, profile, clean, and transform data sets in preparation for data analysis.</a:t>
            </a:r>
          </a:p>
          <a:p>
            <a:pPr lvl="1"/>
            <a:r>
              <a:rPr lang="en-US" sz="1800" dirty="0"/>
              <a:t>Catalog of available data sources that include: source of the data, a list of variables, observational unit(s), geographic area covered, how often the data are updated, etc.</a:t>
            </a:r>
          </a:p>
          <a:p>
            <a:pPr lvl="1"/>
            <a:r>
              <a:rPr lang="en-US" sz="1800" dirty="0"/>
              <a:t>Project findings and the analyses to support the findings.</a:t>
            </a:r>
          </a:p>
          <a:p>
            <a:pPr lvl="1"/>
            <a:r>
              <a:rPr lang="en-US" sz="1800" dirty="0"/>
              <a:t>Outline of future steps to strengthen insights and capabilities for a broader set of population and economic forecasts for Fairfax County HHS programs and activities.</a:t>
            </a:r>
          </a:p>
          <a:p>
            <a:pPr lvl="1"/>
            <a:r>
              <a:rPr lang="en-US" sz="1800" dirty="0"/>
              <a:t>Poster and presentation summarizing the above </a:t>
            </a:r>
            <a:r>
              <a:rPr lang="en-US" sz="1800" dirty="0" smtClean="0"/>
              <a:t>outputs</a:t>
            </a:r>
            <a:endParaRPr lang="en-US" sz="1800" dirty="0"/>
          </a:p>
        </p:txBody>
      </p:sp>
    </p:spTree>
    <p:extLst>
      <p:ext uri="{BB962C8B-B14F-4D97-AF65-F5344CB8AC3E}">
        <p14:creationId xmlns:p14="http://schemas.microsoft.com/office/powerpoint/2010/main" val="41851837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0" y="38100"/>
            <a:ext cx="9144000" cy="857250"/>
          </a:xfrm>
        </p:spPr>
        <p:txBody>
          <a:bodyPr>
            <a:normAutofit/>
          </a:bodyPr>
          <a:lstStyle/>
          <a:p>
            <a:pPr algn="ctr"/>
            <a:r>
              <a:rPr lang="en-US" b="1" dirty="0" smtClean="0">
                <a:latin typeface="Raleway"/>
                <a:ea typeface="Eurostile" charset="0"/>
                <a:cs typeface="Raleway"/>
              </a:rPr>
              <a:t>SDAL Data Framework</a:t>
            </a:r>
            <a:endParaRPr lang="en-US" b="1" dirty="0">
              <a:latin typeface="Raleway"/>
              <a:cs typeface="Raleway"/>
            </a:endParaRPr>
          </a:p>
        </p:txBody>
      </p:sp>
      <p:sp>
        <p:nvSpPr>
          <p:cNvPr id="2" name="TextBox 1"/>
          <p:cNvSpPr txBox="1"/>
          <p:nvPr/>
        </p:nvSpPr>
        <p:spPr>
          <a:xfrm>
            <a:off x="381000" y="895350"/>
            <a:ext cx="184731" cy="523220"/>
          </a:xfrm>
          <a:prstGeom prst="rect">
            <a:avLst/>
          </a:prstGeom>
          <a:noFill/>
        </p:spPr>
        <p:txBody>
          <a:bodyPr wrap="none" rtlCol="0">
            <a:spAutoFit/>
          </a:bodyPr>
          <a:lstStyle/>
          <a:p>
            <a:pPr>
              <a:buClr>
                <a:schemeClr val="tx1"/>
              </a:buClr>
            </a:pPr>
            <a:endParaRPr lang="en-US" sz="2800" dirty="0">
              <a:latin typeface="Arial Narrow" charset="0"/>
              <a:ea typeface="Arial Narrow" charset="0"/>
              <a:cs typeface="Arial Narrow" charset="0"/>
            </a:endParaRPr>
          </a:p>
        </p:txBody>
      </p:sp>
      <p:pic>
        <p:nvPicPr>
          <p:cNvPr id="24" name="Picture 23"/>
          <p:cNvPicPr>
            <a:picLocks noChangeAspect="1"/>
          </p:cNvPicPr>
          <p:nvPr/>
        </p:nvPicPr>
        <p:blipFill rotWithShape="1">
          <a:blip r:embed="rId3">
            <a:extLst>
              <a:ext uri="{28A0092B-C50C-407E-A947-70E740481C1C}">
                <a14:useLocalDpi xmlns:a14="http://schemas.microsoft.com/office/drawing/2010/main" val="0"/>
              </a:ext>
            </a:extLst>
          </a:blip>
          <a:srcRect l="778" t="841" b="865"/>
          <a:stretch/>
        </p:blipFill>
        <p:spPr>
          <a:xfrm>
            <a:off x="1239012" y="895350"/>
            <a:ext cx="6665976" cy="4069080"/>
          </a:xfrm>
          <a:prstGeom prst="rect">
            <a:avLst/>
          </a:prstGeom>
          <a:ln w="28575">
            <a:solidFill>
              <a:schemeClr val="tx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314374009"/>
      </p:ext>
    </p:extLst>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SDAL_Biocomplexity">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marL="0">
          <a:defRPr sz="2000" dirty="0">
            <a:latin typeface="Gill Sans Light"/>
            <a:cs typeface="Gill Sans Light"/>
          </a:defRPr>
        </a:defPPr>
      </a:lstStyle>
    </a:txDef>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SDAL_Biocomplexity.potx</Template>
  <TotalTime>3643</TotalTime>
  <Words>485</Words>
  <Application>Microsoft Macintosh PowerPoint</Application>
  <PresentationFormat>On-screen Show (16:9)</PresentationFormat>
  <Paragraphs>43</Paragraphs>
  <Slides>5</Slides>
  <Notes>5</Notes>
  <HiddenSlides>0</HiddenSlides>
  <MMClips>0</MMClips>
  <ScaleCrop>false</ScaleCrop>
  <HeadingPairs>
    <vt:vector size="4" baseType="variant">
      <vt:variant>
        <vt:lpstr>Theme</vt:lpstr>
      </vt:variant>
      <vt:variant>
        <vt:i4>2</vt:i4>
      </vt:variant>
      <vt:variant>
        <vt:lpstr>Slide Titles</vt:lpstr>
      </vt:variant>
      <vt:variant>
        <vt:i4>5</vt:i4>
      </vt:variant>
    </vt:vector>
  </HeadingPairs>
  <TitlesOfParts>
    <vt:vector size="7" baseType="lpstr">
      <vt:lpstr>SDAL_Biocomplexity</vt:lpstr>
      <vt:lpstr>1_Office Theme</vt:lpstr>
      <vt:lpstr>Identifying and Predicting Effects  of Trends on Youth Population in Fairfax County</vt:lpstr>
      <vt:lpstr>Team and Research Questions</vt:lpstr>
      <vt:lpstr>Research Questions</vt:lpstr>
      <vt:lpstr>Expected Project Outputs</vt:lpstr>
      <vt:lpstr>SDAL Data Framework</vt:lpstr>
    </vt:vector>
  </TitlesOfParts>
  <Company>Virginia Bioinformatics Institute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Rachel Robinson</dc:creator>
  <cp:lastModifiedBy>Stephanie Shipp</cp:lastModifiedBy>
  <cp:revision>64</cp:revision>
  <cp:lastPrinted>2016-11-21T22:20:06Z</cp:lastPrinted>
  <dcterms:created xsi:type="dcterms:W3CDTF">2015-12-08T18:38:51Z</dcterms:created>
  <dcterms:modified xsi:type="dcterms:W3CDTF">2017-05-20T14:30:02Z</dcterms:modified>
</cp:coreProperties>
</file>