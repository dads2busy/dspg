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
  </p:notesMasterIdLst>
  <p:sldIdLst>
    <p:sldId id="257" r:id="rId2"/>
    <p:sldId id="258" r:id="rId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10" autoAdjust="0"/>
    <p:restoredTop sz="94660"/>
  </p:normalViewPr>
  <p:slideViewPr>
    <p:cSldViewPr>
      <p:cViewPr varScale="1">
        <p:scale>
          <a:sx n="106" d="100"/>
          <a:sy n="106" d="100"/>
        </p:scale>
        <p:origin x="108" y="12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9"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AE797BA-023C-434D-945E-EF683B2D958C}" type="datetimeFigureOut">
              <a:rPr lang="en-US" smtClean="0"/>
              <a:t>5/22/2017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A301764-95EA-4C95-BB44-E07EBF9AE255}" type="slidenum">
              <a:rPr lang="en-US" smtClean="0"/>
              <a:t>‹#›</a:t>
            </a:fld>
            <a:endParaRPr lang="en-US"/>
          </a:p>
        </p:txBody>
      </p:sp>
    </p:spTree>
    <p:extLst>
      <p:ext uri="{BB962C8B-B14F-4D97-AF65-F5344CB8AC3E}">
        <p14:creationId xmlns:p14="http://schemas.microsoft.com/office/powerpoint/2010/main" val="3135255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userDrawn="1"/>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000" b="1" i="0" baseline="0">
                <a:solidFill>
                  <a:srgbClr val="FFFFFF"/>
                </a:solidFill>
                <a:latin typeface="Arial"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baseline="0">
                <a:solidFill>
                  <a:srgbClr val="FFFFFF"/>
                </a:solidFill>
                <a:latin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7" name="Text Box 5"/>
          <p:cNvSpPr txBox="1">
            <a:spLocks noChangeArrowheads="1"/>
          </p:cNvSpPr>
          <p:nvPr userDrawn="1"/>
        </p:nvSpPr>
        <p:spPr bwMode="auto">
          <a:xfrm>
            <a:off x="0" y="426243"/>
            <a:ext cx="9144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baseline="0" dirty="0">
                <a:solidFill>
                  <a:schemeClr val="bg1"/>
                </a:solidFill>
                <a:latin typeface="Arial" pitchFamily="34" charset="0"/>
              </a:rPr>
              <a:t>City of Alexandria, Virginia</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219200" y="5542543"/>
            <a:ext cx="1143000" cy="11430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274320" indent="-274320">
              <a:buFont typeface="Wingdings" pitchFamily="2" charset="2"/>
              <a:buChar char="§"/>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6"/>
          <p:cNvSpPr>
            <a:spLocks noGrp="1"/>
          </p:cNvSpPr>
          <p:nvPr>
            <p:ph type="title"/>
          </p:nvPr>
        </p:nvSpPr>
        <p:spPr/>
        <p:txBody>
          <a:bodyPr/>
          <a:lstStyle/>
          <a:p>
            <a:r>
              <a:rPr lang="en-US"/>
              <a:t>Click to edit Master title style</a:t>
            </a:r>
          </a:p>
        </p:txBody>
      </p:sp>
      <p:sp>
        <p:nvSpPr>
          <p:cNvPr id="6" name="Slide Number Placeholder 5"/>
          <p:cNvSpPr>
            <a:spLocks noGrp="1"/>
          </p:cNvSpPr>
          <p:nvPr>
            <p:ph type="sldNum" sz="quarter" idx="12"/>
          </p:nvPr>
        </p:nvSpPr>
        <p:spPr/>
        <p:txBody>
          <a:bodyPr/>
          <a:lstStyle/>
          <a:p>
            <a:fld id="{2DF49EE0-C840-4BBB-A8DF-E9D2197043BD}"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6" name="Slide Number Placeholder 5"/>
          <p:cNvSpPr>
            <a:spLocks noGrp="1"/>
          </p:cNvSpPr>
          <p:nvPr>
            <p:ph type="sldNum" sz="quarter" idx="12"/>
          </p:nvPr>
        </p:nvSpPr>
        <p:spPr/>
        <p:txBody>
          <a:bodyPr/>
          <a:lstStyle/>
          <a:p>
            <a:fld id="{2DF49EE0-C840-4BBB-A8DF-E9D2197043BD}"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7239000" cy="12618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baseline="0">
                <a:solidFill>
                  <a:schemeClr val="tx2"/>
                </a:solidFill>
                <a:latin typeface="Arial" pitchFamily="34" charset="0"/>
              </a:defRPr>
            </a:lvl1pPr>
          </a:lstStyle>
          <a:p>
            <a:fld id="{2DF49EE0-C840-4BBB-A8DF-E9D2197043BD}" type="slidenum">
              <a:rPr lang="en-US" smtClean="0"/>
              <a:pPr/>
              <a:t>‹#›</a:t>
            </a:fld>
            <a:endParaRPr lang="en-US" dirty="0"/>
          </a:p>
        </p:txBody>
      </p:sp>
      <p:pic>
        <p:nvPicPr>
          <p:cNvPr id="12" name="Picture 11"/>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867021" y="533400"/>
            <a:ext cx="782057" cy="782057"/>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hdr="0" ftr="0" dt="0"/>
  <p:txStyles>
    <p:titleStyle>
      <a:lvl1pPr algn="ctr" defTabSz="914400" rtl="0" eaLnBrk="1" latinLnBrk="0" hangingPunct="1">
        <a:spcBef>
          <a:spcPct val="0"/>
        </a:spcBef>
        <a:buNone/>
        <a:defRPr sz="3600" b="1" i="0" kern="1200" baseline="0">
          <a:solidFill>
            <a:srgbClr val="FFFFFF"/>
          </a:solidFill>
          <a:latin typeface="Arial"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Wingdings" pitchFamily="2" charset="2"/>
        <a:buChar char="§"/>
        <a:defRPr sz="2400" kern="1200" baseline="0">
          <a:solidFill>
            <a:schemeClr val="tx2"/>
          </a:solidFill>
          <a:latin typeface="Arial" pitchFamily="34" charset="0"/>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baseline="0">
          <a:solidFill>
            <a:schemeClr val="tx2"/>
          </a:solidFill>
          <a:latin typeface="Arial" pitchFamily="34" charset="0"/>
          <a:ea typeface="+mn-ea"/>
          <a:cs typeface="+mn-cs"/>
        </a:defRPr>
      </a:lvl2pPr>
      <a:lvl3pPr marL="855663" indent="-228600" algn="l" defTabSz="914400" rtl="0" eaLnBrk="1" latinLnBrk="0" hangingPunct="1">
        <a:spcBef>
          <a:spcPct val="20000"/>
        </a:spcBef>
        <a:buClr>
          <a:schemeClr val="accent1"/>
        </a:buClr>
        <a:buSzPct val="100000"/>
        <a:buFont typeface="Wingdings" pitchFamily="2" charset="2"/>
        <a:buChar char="§"/>
        <a:defRPr sz="2000" kern="1200" baseline="0">
          <a:solidFill>
            <a:schemeClr val="tx2"/>
          </a:solidFill>
          <a:latin typeface="Arial" pitchFamily="34" charset="0"/>
          <a:ea typeface="+mn-ea"/>
          <a:cs typeface="+mn-cs"/>
        </a:defRPr>
      </a:lvl3pPr>
      <a:lvl4pPr marL="1143000" indent="-228600" algn="l" defTabSz="914400" rtl="0" eaLnBrk="1" latinLnBrk="0" hangingPunct="1">
        <a:spcBef>
          <a:spcPct val="20000"/>
        </a:spcBef>
        <a:buClr>
          <a:schemeClr val="accent1"/>
        </a:buClr>
        <a:buSzPct val="100000"/>
        <a:buFont typeface="Arial" pitchFamily="34" charset="0"/>
        <a:buChar char="•"/>
        <a:defRPr sz="1800" kern="1200" baseline="0">
          <a:solidFill>
            <a:schemeClr val="tx2"/>
          </a:solidFill>
          <a:latin typeface="Arial" pitchFamily="34" charset="0"/>
          <a:ea typeface="+mn-ea"/>
          <a:cs typeface="+mn-cs"/>
        </a:defRPr>
      </a:lvl4pPr>
      <a:lvl5pPr marL="1463040" indent="-228600" algn="l" defTabSz="914400" rtl="0" eaLnBrk="1" latinLnBrk="0" hangingPunct="1">
        <a:spcBef>
          <a:spcPct val="20000"/>
        </a:spcBef>
        <a:buClr>
          <a:schemeClr val="accent1"/>
        </a:buClr>
        <a:buSzPct val="100000"/>
        <a:buFont typeface="Courier New" pitchFamily="49" charset="0"/>
        <a:buChar char="o"/>
        <a:defRPr sz="1600" kern="1200" baseline="0">
          <a:solidFill>
            <a:schemeClr val="tx2"/>
          </a:solidFill>
          <a:latin typeface="Arial" pitchFamily="34" charset="0"/>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dirty="0"/>
              <a:t>Equity enables everyone to have access to the opportunities necessary to fulfill essential needs, attain full potential, and no one is disadvantaged from achieving this potential due to race or social position.</a:t>
            </a:r>
          </a:p>
          <a:p>
            <a:endParaRPr lang="en-US" dirty="0"/>
          </a:p>
          <a:p>
            <a:r>
              <a:rPr lang="en-US" i="1" dirty="0"/>
              <a:t>What is the state of racial equity in Alexandria?</a:t>
            </a:r>
          </a:p>
          <a:p>
            <a:endParaRPr lang="en-US" i="1" dirty="0"/>
          </a:p>
          <a:p>
            <a:r>
              <a:rPr lang="en-US" dirty="0"/>
              <a:t>This information has been requested by the Equity in Alexandria committee as they coordinate in creating a report on how the City can advance equity.</a:t>
            </a:r>
            <a:endParaRPr lang="en-US" i="1" dirty="0"/>
          </a:p>
          <a:p>
            <a:endParaRPr lang="en-US" dirty="0"/>
          </a:p>
        </p:txBody>
      </p:sp>
      <p:sp>
        <p:nvSpPr>
          <p:cNvPr id="3" name="Title 2"/>
          <p:cNvSpPr>
            <a:spLocks noGrp="1"/>
          </p:cNvSpPr>
          <p:nvPr>
            <p:ph type="title"/>
          </p:nvPr>
        </p:nvSpPr>
        <p:spPr/>
        <p:txBody>
          <a:bodyPr/>
          <a:lstStyle/>
          <a:p>
            <a:r>
              <a:rPr lang="en-US" dirty="0"/>
              <a:t>Equity in Alexandria</a:t>
            </a:r>
          </a:p>
        </p:txBody>
      </p:sp>
      <p:sp>
        <p:nvSpPr>
          <p:cNvPr id="4" name="Slide Number Placeholder 3"/>
          <p:cNvSpPr>
            <a:spLocks noGrp="1"/>
          </p:cNvSpPr>
          <p:nvPr>
            <p:ph type="sldNum" sz="quarter" idx="12"/>
          </p:nvPr>
        </p:nvSpPr>
        <p:spPr/>
        <p:txBody>
          <a:bodyPr/>
          <a:lstStyle/>
          <a:p>
            <a:fld id="{2DF49EE0-C840-4BBB-A8DF-E9D2197043BD}" type="slidenum">
              <a:rPr lang="en-US" smtClean="0"/>
              <a:t>1</a:t>
            </a:fld>
            <a:endParaRPr lang="en-US" dirty="0"/>
          </a:p>
        </p:txBody>
      </p:sp>
    </p:spTree>
    <p:extLst>
      <p:ext uri="{BB962C8B-B14F-4D97-AF65-F5344CB8AC3E}">
        <p14:creationId xmlns:p14="http://schemas.microsoft.com/office/powerpoint/2010/main" val="18527961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lvl="0"/>
            <a:r>
              <a:rPr lang="en-US" dirty="0"/>
              <a:t>Paint the picture of the racial equity landscape in Alexandria </a:t>
            </a:r>
          </a:p>
          <a:p>
            <a:pPr lvl="1"/>
            <a:r>
              <a:rPr lang="en-US" sz="2400" dirty="0"/>
              <a:t>Data discovery process to find external data that captures relevant information (e.g., Census, HUD, Commonwealth of Virginia)</a:t>
            </a:r>
          </a:p>
          <a:p>
            <a:pPr lvl="1"/>
            <a:r>
              <a:rPr lang="en-US" sz="2400" dirty="0"/>
              <a:t>Connect with internal data, such as service data and disparity indicators</a:t>
            </a:r>
          </a:p>
          <a:p>
            <a:r>
              <a:rPr lang="en-US" dirty="0"/>
              <a:t>Deliverables: a memorandum, equity dashboard, in-person presentation to the Equity in Alexandria Committee</a:t>
            </a:r>
          </a:p>
        </p:txBody>
      </p:sp>
      <p:sp>
        <p:nvSpPr>
          <p:cNvPr id="3" name="Title 2"/>
          <p:cNvSpPr>
            <a:spLocks noGrp="1"/>
          </p:cNvSpPr>
          <p:nvPr>
            <p:ph type="title"/>
          </p:nvPr>
        </p:nvSpPr>
        <p:spPr/>
        <p:txBody>
          <a:bodyPr/>
          <a:lstStyle/>
          <a:p>
            <a:r>
              <a:rPr lang="en-US" dirty="0"/>
              <a:t>Project Details</a:t>
            </a:r>
          </a:p>
        </p:txBody>
      </p:sp>
      <p:sp>
        <p:nvSpPr>
          <p:cNvPr id="4" name="Slide Number Placeholder 3"/>
          <p:cNvSpPr>
            <a:spLocks noGrp="1"/>
          </p:cNvSpPr>
          <p:nvPr>
            <p:ph type="sldNum" sz="quarter" idx="12"/>
          </p:nvPr>
        </p:nvSpPr>
        <p:spPr/>
        <p:txBody>
          <a:bodyPr/>
          <a:lstStyle/>
          <a:p>
            <a:fld id="{2DF49EE0-C840-4BBB-A8DF-E9D2197043BD}" type="slidenum">
              <a:rPr lang="en-US" smtClean="0"/>
              <a:t>2</a:t>
            </a:fld>
            <a:endParaRPr lang="en-US" dirty="0"/>
          </a:p>
        </p:txBody>
      </p:sp>
    </p:spTree>
    <p:extLst>
      <p:ext uri="{BB962C8B-B14F-4D97-AF65-F5344CB8AC3E}">
        <p14:creationId xmlns:p14="http://schemas.microsoft.com/office/powerpoint/2010/main" val="122183885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ower Point Template 1">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Power Point Template 1</Template>
  <TotalTime>24</TotalTime>
  <Words>140</Words>
  <Application>Microsoft Office PowerPoint</Application>
  <PresentationFormat>On-screen Show (4:3)</PresentationFormat>
  <Paragraphs>13</Paragraphs>
  <Slides>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vt:i4>
      </vt:variant>
    </vt:vector>
  </HeadingPairs>
  <TitlesOfParts>
    <vt:vector size="9" baseType="lpstr">
      <vt:lpstr>Arial</vt:lpstr>
      <vt:lpstr>Calibri</vt:lpstr>
      <vt:lpstr>Candara</vt:lpstr>
      <vt:lpstr>Courier New</vt:lpstr>
      <vt:lpstr>Symbol</vt:lpstr>
      <vt:lpstr>Wingdings</vt:lpstr>
      <vt:lpstr>Power Point Template 1</vt:lpstr>
      <vt:lpstr>Equity in Alexandria</vt:lpstr>
      <vt:lpstr>Project Details</vt:lpstr>
    </vt:vector>
  </TitlesOfParts>
  <Company>City of Alexandria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Equity in Alexandria</dc:title>
  <dc:creator>Emily Molfino</dc:creator>
  <cp:lastModifiedBy>Emily Molfino</cp:lastModifiedBy>
  <cp:revision>4</cp:revision>
  <dcterms:created xsi:type="dcterms:W3CDTF">2017-05-22T12:01:15Z</dcterms:created>
  <dcterms:modified xsi:type="dcterms:W3CDTF">2017-05-22T12:26:03Z</dcterms:modified>
</cp:coreProperties>
</file>