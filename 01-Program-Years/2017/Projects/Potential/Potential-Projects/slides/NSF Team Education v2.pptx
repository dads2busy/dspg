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8" r:id="rId3"/>
  </p:sldMasterIdLst>
  <p:notesMasterIdLst>
    <p:notesMasterId r:id="rId8"/>
  </p:notesMasterIdLst>
  <p:sldIdLst>
    <p:sldId id="258" r:id="rId4"/>
    <p:sldId id="260" r:id="rId5"/>
    <p:sldId id="259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95"/>
    <p:restoredTop sz="74602"/>
  </p:normalViewPr>
  <p:slideViewPr>
    <p:cSldViewPr snapToGrid="0" snapToObjects="1">
      <p:cViewPr varScale="1">
        <p:scale>
          <a:sx n="105" d="100"/>
          <a:sy n="105" d="100"/>
        </p:scale>
        <p:origin x="1440" y="18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6AA07-FD81-2746-A3DE-93CB9365935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B8463-146A-BE43-8FEE-AE8FE5F02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7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STEM fields include</a:t>
            </a:r>
            <a:r>
              <a:rPr lang="en-US" baseline="0" dirty="0" smtClean="0"/>
              <a:t> computer science, engineering, math and statistics, as well as psychology and the social sciences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5B8463-146A-BE43-8FEE-AE8FE5F02A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5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 smtClean="0"/>
              <a:t>How do STEM professionals represent themselves? (e.g., when an individual calls himself or herself a Data Scientist, what STEM education, training, and skill sets does that represent?) </a:t>
            </a:r>
          </a:p>
          <a:p>
            <a:pPr lvl="1"/>
            <a:r>
              <a:rPr lang="en-US" dirty="0" smtClean="0"/>
              <a:t>How do employers represent their skill set needs?</a:t>
            </a:r>
          </a:p>
          <a:p>
            <a:pPr lvl="1"/>
            <a:r>
              <a:rPr lang="en-US" dirty="0" smtClean="0"/>
              <a:t>Is it possible to quantify a job improvement through promotion?</a:t>
            </a:r>
          </a:p>
          <a:p>
            <a:pPr lvl="1"/>
            <a:r>
              <a:rPr lang="en-US" dirty="0" smtClean="0"/>
              <a:t>Do non-survey data sources exist to measure STEM pathways, e.g., scraping websites, administrative data, other.</a:t>
            </a:r>
          </a:p>
          <a:p>
            <a:pPr lvl="1"/>
            <a:r>
              <a:rPr lang="en-US" dirty="0" smtClean="0"/>
              <a:t>Are there untapped surveys that exist to measure STEM pathways?, e.g. IPEDs?</a:t>
            </a:r>
            <a:r>
              <a:rPr lang="en-US" b="1" dirty="0" smtClean="0"/>
              <a:t> 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5B8463-146A-BE43-8FEE-AE8FE5F02A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6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2"/>
            <a:ext cx="7772400" cy="1102519"/>
          </a:xfrm>
        </p:spPr>
        <p:txBody>
          <a:bodyPr/>
          <a:lstStyle>
            <a:lvl1pPr algn="ctr">
              <a:defRPr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5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1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8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6078"/>
            <a:ext cx="4038600" cy="3394472"/>
          </a:xfrm>
        </p:spPr>
        <p:txBody>
          <a:bodyPr/>
          <a:lstStyle>
            <a:lvl1pPr>
              <a:defRPr sz="2800">
                <a:latin typeface="Gill Sans Light"/>
                <a:cs typeface="Gill Sans Light"/>
              </a:defRPr>
            </a:lvl1pPr>
            <a:lvl2pPr>
              <a:defRPr sz="2400">
                <a:latin typeface="Gill Sans Light"/>
                <a:cs typeface="Gill Sans Light"/>
              </a:defRPr>
            </a:lvl2pPr>
            <a:lvl3pPr>
              <a:defRPr sz="2000">
                <a:latin typeface="Gill Sans Light"/>
                <a:cs typeface="Gill Sans Light"/>
              </a:defRPr>
            </a:lvl3pPr>
            <a:lvl4pPr>
              <a:defRPr sz="1800">
                <a:latin typeface="Gill Sans Light"/>
                <a:cs typeface="Gill Sans Light"/>
              </a:defRPr>
            </a:lvl4pPr>
            <a:lvl5pPr>
              <a:defRPr sz="1800"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Light"/>
                <a:cs typeface="Gill Sans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2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 "/>
                <a:cs typeface="Gill Sans  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46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Gill Sans Light"/>
                <a:cs typeface="Gill Sans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13284"/>
            <a:ext cx="4040188" cy="2963466"/>
          </a:xfrm>
        </p:spPr>
        <p:txBody>
          <a:bodyPr/>
          <a:lstStyle>
            <a:lvl1pPr>
              <a:defRPr sz="2400">
                <a:latin typeface="Gill Sans Light"/>
                <a:cs typeface="Gill Sans Light"/>
              </a:defRPr>
            </a:lvl1pPr>
            <a:lvl2pPr>
              <a:defRPr sz="2000">
                <a:latin typeface="Gill Sans Light"/>
                <a:cs typeface="Gill Sans Light"/>
              </a:defRPr>
            </a:lvl2pPr>
            <a:lvl3pPr>
              <a:defRPr sz="1800">
                <a:latin typeface="Gill Sans Light"/>
                <a:cs typeface="Gill Sans Light"/>
              </a:defRPr>
            </a:lvl3pPr>
            <a:lvl4pPr>
              <a:defRPr sz="1600">
                <a:latin typeface="Gill Sans Light"/>
                <a:cs typeface="Gill Sans Light"/>
              </a:defRPr>
            </a:lvl4pPr>
            <a:lvl5pPr>
              <a:defRPr sz="1600"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03346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latin typeface="Gill Sans Light"/>
                <a:cs typeface="Gill Sans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513284"/>
            <a:ext cx="4041775" cy="2963466"/>
          </a:xfrm>
        </p:spPr>
        <p:txBody>
          <a:bodyPr/>
          <a:lstStyle>
            <a:lvl1pPr>
              <a:defRPr sz="2400">
                <a:latin typeface="Gill Sans Light"/>
                <a:cs typeface="Gill Sans Light"/>
              </a:defRPr>
            </a:lvl1pPr>
            <a:lvl2pPr>
              <a:defRPr sz="2000">
                <a:latin typeface="Gill Sans Light"/>
                <a:cs typeface="Gill Sans Light"/>
              </a:defRPr>
            </a:lvl2pPr>
            <a:lvl3pPr>
              <a:defRPr sz="1800">
                <a:latin typeface="Gill Sans Light"/>
                <a:cs typeface="Gill Sans Light"/>
              </a:defRPr>
            </a:lvl3pPr>
            <a:lvl4pPr>
              <a:defRPr sz="1600">
                <a:latin typeface="Gill Sans Light"/>
                <a:cs typeface="Gill Sans Light"/>
              </a:defRPr>
            </a:lvl4pPr>
            <a:lvl5pPr>
              <a:defRPr sz="1600"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Light"/>
                <a:cs typeface="Gill Sans Ligh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74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3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8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0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32AA7FB-7229-D24E-A73A-6CD4FE8F258D}" type="datetimeFigureOut">
              <a:rPr lang="en-US" smtClean="0"/>
              <a:t>5/22/17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9F6C386-95F0-3641-A343-1ED97B1ADE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270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78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32AA7FB-7229-D24E-A73A-6CD4FE8F258D}" type="datetimeFigureOut">
              <a:rPr lang="en-US" smtClean="0"/>
              <a:t>5/22/17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9F6C386-95F0-3641-A343-1ED97B1ADE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6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F32AA7FB-7229-D24E-A73A-6CD4FE8F258D}" type="datetimeFigureOut">
              <a:rPr lang="en-US" smtClean="0"/>
              <a:t>5/22/17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9F6C386-95F0-3641-A343-1ED97B1ADE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283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3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B4FF"/>
                </a:solidFill>
                <a:latin typeface="Gill Sans SemiBold"/>
                <a:cs typeface="Gill Sans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957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00000"/>
                </a:solidFill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241347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1pPr>
            <a:lvl2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2pPr>
            <a:lvl3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3pPr>
            <a:lvl4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4pPr>
            <a:lvl5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87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ctr">
              <a:defRPr sz="3200" b="0" i="0" cap="all">
                <a:solidFill>
                  <a:srgbClr val="27B5FF"/>
                </a:solidFill>
                <a:latin typeface="Gill Sans SemiBold"/>
                <a:cs typeface="Gill Sans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Gill Sans Light"/>
                <a:cs typeface="Gill Sans Ligh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519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27B5FF"/>
                </a:solidFill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2"/>
            <a:ext cx="4038600" cy="3201867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1pPr>
            <a:lvl2pPr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2pPr>
            <a:lvl3pP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3pPr>
            <a:lvl4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4pPr>
            <a:lvl5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2"/>
            <a:ext cx="4038600" cy="3201867"/>
          </a:xfrm>
          <a:prstGeom prst="rect">
            <a:avLst/>
          </a:prstGeom>
        </p:spPr>
        <p:txBody>
          <a:bodyPr/>
          <a:lstStyle>
            <a:lvl1pPr>
              <a:defRPr sz="2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1pPr>
            <a:lvl2pPr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2pPr>
            <a:lvl3pPr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3pPr>
            <a:lvl4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4pPr>
            <a:lvl5pPr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ill Sans Light"/>
                <a:cs typeface="Gill Sans Ligh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464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27B5FF"/>
                </a:solidFill>
                <a:latin typeface="Gill Sans"/>
                <a:cs typeface="Gill San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404040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9"/>
            <a:ext cx="4040188" cy="2790601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rgbClr val="404040"/>
                </a:solidFill>
                <a:latin typeface="Gill Sans Light"/>
                <a:cs typeface="Gill Sans Light"/>
              </a:defRPr>
            </a:lvl1pPr>
            <a:lvl2pPr>
              <a:defRPr sz="2000" b="0" i="0">
                <a:solidFill>
                  <a:srgbClr val="404040"/>
                </a:solidFill>
                <a:latin typeface="Gill Sans Light"/>
                <a:cs typeface="Gill Sans Light"/>
              </a:defRPr>
            </a:lvl2pPr>
            <a:lvl3pPr>
              <a:defRPr sz="1800" b="0" i="0">
                <a:solidFill>
                  <a:srgbClr val="404040"/>
                </a:solidFill>
                <a:latin typeface="Gill Sans Light"/>
                <a:cs typeface="Gill Sans Light"/>
              </a:defRPr>
            </a:lvl3pPr>
            <a:lvl4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4pPr>
            <a:lvl5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i="0">
                <a:solidFill>
                  <a:srgbClr val="404040"/>
                </a:solidFill>
                <a:latin typeface="Gill Sans"/>
                <a:cs typeface="Gill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9"/>
            <a:ext cx="4041775" cy="2790601"/>
          </a:xfrm>
          <a:prstGeom prst="rect">
            <a:avLst/>
          </a:prstGeom>
        </p:spPr>
        <p:txBody>
          <a:bodyPr/>
          <a:lstStyle>
            <a:lvl1pPr>
              <a:defRPr sz="2400" b="0" i="0">
                <a:solidFill>
                  <a:srgbClr val="404040"/>
                </a:solidFill>
                <a:latin typeface="Gill Sans Light"/>
                <a:cs typeface="Gill Sans Light"/>
              </a:defRPr>
            </a:lvl1pPr>
            <a:lvl2pPr>
              <a:defRPr sz="2000" b="0" i="0">
                <a:solidFill>
                  <a:srgbClr val="404040"/>
                </a:solidFill>
                <a:latin typeface="Gill Sans Light"/>
                <a:cs typeface="Gill Sans Light"/>
              </a:defRPr>
            </a:lvl2pPr>
            <a:lvl3pPr>
              <a:defRPr sz="1800" b="0" i="0">
                <a:solidFill>
                  <a:srgbClr val="404040"/>
                </a:solidFill>
                <a:latin typeface="Gill Sans Light"/>
                <a:cs typeface="Gill Sans Light"/>
              </a:defRPr>
            </a:lvl3pPr>
            <a:lvl4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4pPr>
            <a:lvl5pPr>
              <a:defRPr sz="1600" b="0" i="0">
                <a:solidFill>
                  <a:srgbClr val="404040"/>
                </a:solidFill>
                <a:latin typeface="Gill Sans Light"/>
                <a:cs typeface="Gill Sans Ligh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2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rgbClr val="000000"/>
                </a:solidFill>
                <a:latin typeface="Gill Sans SemiBold"/>
                <a:cs typeface="Gill Sans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3430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918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4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54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03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239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87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97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565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056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3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1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21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22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90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0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2.xml"/><Relationship Id="rId9" Type="http://schemas.openxmlformats.org/officeDocument/2006/relationships/image" Target="../media/image3.emf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06078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8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Gill Sans"/>
          <a:ea typeface="+mj-ea"/>
          <a:cs typeface="Gill Sans"/>
        </a:defRPr>
      </a:lvl1pPr>
    </p:titleStyle>
    <p:bodyStyle>
      <a:lvl1pPr marL="681038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Gill Sans Light"/>
          <a:ea typeface="+mn-ea"/>
          <a:cs typeface="Gill Sans Light"/>
        </a:defRPr>
      </a:lvl1pPr>
      <a:lvl2pPr marL="102870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1373188" indent="-225425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833563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2278063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"/>
            <a:ext cx="2279316" cy="7352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79316" y="1"/>
            <a:ext cx="2279316" cy="73526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58632" y="1"/>
            <a:ext cx="2279316" cy="73526"/>
          </a:xfrm>
          <a:prstGeom prst="rect">
            <a:avLst/>
          </a:prstGeom>
          <a:solidFill>
            <a:srgbClr val="653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37948" y="1"/>
            <a:ext cx="2306052" cy="73526"/>
          </a:xfrm>
          <a:prstGeom prst="rect">
            <a:avLst/>
          </a:prstGeom>
          <a:solidFill>
            <a:srgbClr val="DD1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VBI_logo_gray.pdf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7" t="28047" r="12236" b="25465"/>
          <a:stretch/>
        </p:blipFill>
        <p:spPr>
          <a:xfrm>
            <a:off x="7388194" y="4703102"/>
            <a:ext cx="1523100" cy="2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6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17C6D-883D-844F-9246-6C48CD679585}" type="datetimeFigureOut">
              <a:rPr lang="en-US" smtClean="0"/>
              <a:t>5/22/17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5DF18-8519-FC43-AA94-CBF417794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NCSES </a:t>
            </a:r>
            <a:r>
              <a:rPr lang="en-US" dirty="0"/>
              <a:t>(Science Technology Engineering Math) reporting </a:t>
            </a:r>
            <a:r>
              <a:rPr lang="en-US" dirty="0"/>
              <a:t>does not fully capture the full set of diverse pathways, steps, and outcomes an individual can take to be trained for and enter the STEM </a:t>
            </a:r>
            <a:r>
              <a:rPr lang="en-US" dirty="0" smtClean="0"/>
              <a:t>workforce</a:t>
            </a:r>
          </a:p>
          <a:p>
            <a:r>
              <a:rPr lang="en-US" dirty="0" smtClean="0"/>
              <a:t>The </a:t>
            </a:r>
            <a:r>
              <a:rPr lang="en-US" dirty="0"/>
              <a:t>goal for this project is to identify pathways and data sources to fill in these </a:t>
            </a:r>
            <a:r>
              <a:rPr lang="en-US" dirty="0" smtClean="0"/>
              <a:t>gaps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23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6077"/>
            <a:ext cx="8229600" cy="370160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Gill Sans Light" charset="0"/>
                <a:ea typeface="Gill Sans Light" charset="0"/>
                <a:cs typeface="Gill Sans Light" charset="0"/>
              </a:rPr>
              <a:t>What </a:t>
            </a:r>
            <a:r>
              <a:rPr lang="en-US" dirty="0">
                <a:latin typeface="Gill Sans Light" charset="0"/>
                <a:ea typeface="Gill Sans Light" charset="0"/>
                <a:cs typeface="Gill Sans Light" charset="0"/>
              </a:rPr>
              <a:t>are the education and workforce pathways that lead to a STEM-enabled occupation?, e.g. </a:t>
            </a:r>
            <a:r>
              <a:rPr lang="en-US" dirty="0"/>
              <a:t>degrees (AA/BS-BA/MS-MA/PhD/other), online training, certificates, worker training, vocational / apprenticeship training etc. </a:t>
            </a:r>
          </a:p>
          <a:p>
            <a:r>
              <a:rPr lang="en-US" b="1" dirty="0" smtClean="0">
                <a:latin typeface="Gill Sans SemiBold" charset="0"/>
                <a:ea typeface="Gill Sans SemiBold" charset="0"/>
                <a:cs typeface="Gill Sans SemiBold" charset="0"/>
              </a:rPr>
              <a:t>Other </a:t>
            </a:r>
            <a:r>
              <a:rPr lang="en-US" b="1" dirty="0">
                <a:latin typeface="Gill Sans SemiBold" charset="0"/>
                <a:ea typeface="Gill Sans SemiBold" charset="0"/>
                <a:cs typeface="Gill Sans SemiBold" charset="0"/>
              </a:rPr>
              <a:t>questions of interest </a:t>
            </a:r>
          </a:p>
          <a:p>
            <a:pPr lvl="1"/>
            <a:r>
              <a:rPr lang="en-US" dirty="0">
                <a:latin typeface="Gill Sans Light" charset="0"/>
                <a:ea typeface="Gill Sans Light" charset="0"/>
                <a:cs typeface="Gill Sans Light" charset="0"/>
              </a:rPr>
              <a:t>What are STEM pathways for sub-baccalaureate populations? e.g. high school and community college graduates, vocational / apprenticeship training, other.</a:t>
            </a:r>
          </a:p>
          <a:p>
            <a:pPr lvl="1"/>
            <a:r>
              <a:rPr lang="en-US" dirty="0">
                <a:latin typeface="Gill Sans Light" charset="0"/>
                <a:ea typeface="Gill Sans Light" charset="0"/>
                <a:cs typeface="Gill Sans Light" charset="0"/>
              </a:rPr>
              <a:t>What are STEM pathways for women and minorities? Where along the pathway do they leave</a:t>
            </a:r>
            <a:r>
              <a:rPr lang="en-US" dirty="0" smtClean="0">
                <a:latin typeface="Gill Sans Light" charset="0"/>
                <a:ea typeface="Gill Sans Light" charset="0"/>
                <a:cs typeface="Gill Sans Light" charset="0"/>
              </a:rPr>
              <a:t>?</a:t>
            </a:r>
            <a:endParaRPr lang="en-US" dirty="0">
              <a:latin typeface="Gill Sans Light" charset="0"/>
              <a:ea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872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Pathways to STEM Workforce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7" y="1195256"/>
            <a:ext cx="4124157" cy="3447538"/>
          </a:xfrm>
          <a:solidFill>
            <a:schemeClr val="bg1"/>
          </a:solidFill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42739"/>
            <a:ext cx="3715577" cy="2999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2994" y="4425678"/>
            <a:ext cx="4976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ill Sans Light"/>
                <a:cs typeface="Gill Sans Light"/>
              </a:rPr>
              <a:t>https://</a:t>
            </a:r>
            <a:r>
              <a:rPr lang="en-US" sz="1400" dirty="0" err="1">
                <a:latin typeface="Gill Sans Light"/>
                <a:cs typeface="Gill Sans Light"/>
              </a:rPr>
              <a:t>www.census.gov</a:t>
            </a:r>
            <a:r>
              <a:rPr lang="en-US" sz="1400" dirty="0">
                <a:latin typeface="Gill Sans Light"/>
                <a:cs typeface="Gill Sans Light"/>
              </a:rPr>
              <a:t>/</a:t>
            </a:r>
            <a:r>
              <a:rPr lang="en-US" sz="1400" dirty="0" err="1">
                <a:latin typeface="Gill Sans Light"/>
                <a:cs typeface="Gill Sans Light"/>
              </a:rPr>
              <a:t>dataviz</a:t>
            </a:r>
            <a:r>
              <a:rPr lang="en-US" sz="1400" dirty="0">
                <a:latin typeface="Gill Sans Light"/>
                <a:cs typeface="Gill Sans Light"/>
              </a:rPr>
              <a:t>/visualizations/stem/stem-html/</a:t>
            </a:r>
          </a:p>
        </p:txBody>
      </p:sp>
    </p:spTree>
    <p:extLst>
      <p:ext uri="{BB962C8B-B14F-4D97-AF65-F5344CB8AC3E}">
        <p14:creationId xmlns:p14="http://schemas.microsoft.com/office/powerpoint/2010/main" val="28846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Expectations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Conduct literature review on pathways to STEM occupations and how STEM needs are characterized both by the workers and employers </a:t>
            </a:r>
            <a:endParaRPr lang="en-US" dirty="0" smtClean="0"/>
          </a:p>
          <a:p>
            <a:r>
              <a:rPr lang="en-US" dirty="0"/>
              <a:t>Develop pathways diagram(s) from Education to STEM workforce </a:t>
            </a:r>
            <a:r>
              <a:rPr lang="en-US" dirty="0" smtClean="0"/>
              <a:t>for </a:t>
            </a:r>
            <a:r>
              <a:rPr lang="en-US" dirty="0"/>
              <a:t>2-3 examples </a:t>
            </a:r>
            <a:endParaRPr lang="en-US" dirty="0" smtClean="0"/>
          </a:p>
          <a:p>
            <a:r>
              <a:rPr lang="en-US" dirty="0"/>
              <a:t>Conduct data discovery process related to the pathways </a:t>
            </a:r>
            <a:endParaRPr lang="en-US" dirty="0" smtClean="0"/>
          </a:p>
          <a:p>
            <a:r>
              <a:rPr lang="en-US" dirty="0"/>
              <a:t>Conduct data screening and inventory for discovered data </a:t>
            </a:r>
            <a:endParaRPr lang="en-US" dirty="0" smtClean="0"/>
          </a:p>
          <a:p>
            <a:r>
              <a:rPr lang="en-US" dirty="0"/>
              <a:t>Use data in analysis to demonstrate STEM pathways for </a:t>
            </a:r>
            <a:r>
              <a:rPr lang="en-US" dirty="0" smtClean="0"/>
              <a:t>the 2-3 examples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8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SDAL DEC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>
          <a:defRPr sz="2000" dirty="0">
            <a:latin typeface="Gill Sans Light"/>
            <a:cs typeface="Gill Sans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NDSS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Gill Sans Light"/>
            <a:cs typeface="Gill Sans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SDAL_Biocomplexity</Template>
  <TotalTime>121</TotalTime>
  <Words>319</Words>
  <Application>Microsoft Macintosh PowerPoint</Application>
  <PresentationFormat>On-screen Show (16:9)</PresentationFormat>
  <Paragraphs>24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 Narrow</vt:lpstr>
      <vt:lpstr>Calibri</vt:lpstr>
      <vt:lpstr>Gill Sans</vt:lpstr>
      <vt:lpstr>Gill Sans  </vt:lpstr>
      <vt:lpstr>Gill Sans Light</vt:lpstr>
      <vt:lpstr>Gill Sans SemiBold</vt:lpstr>
      <vt:lpstr>Arial</vt:lpstr>
      <vt:lpstr>SDAL DEC 2015</vt:lpstr>
      <vt:lpstr>NDSSL</vt:lpstr>
      <vt:lpstr>1_Office Theme</vt:lpstr>
      <vt:lpstr>Project Overview</vt:lpstr>
      <vt:lpstr>Research Questions</vt:lpstr>
      <vt:lpstr>Example Pathways to STEM Workforce</vt:lpstr>
      <vt:lpstr>Project Expectations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All (Traditional and Non-traditional) STEM Pathways</dc:title>
  <dc:creator>Microsoft Office User</dc:creator>
  <cp:lastModifiedBy>Microsoft Office User</cp:lastModifiedBy>
  <cp:revision>11</cp:revision>
  <dcterms:created xsi:type="dcterms:W3CDTF">2017-05-22T15:43:01Z</dcterms:created>
  <dcterms:modified xsi:type="dcterms:W3CDTF">2017-05-22T22:14:34Z</dcterms:modified>
</cp:coreProperties>
</file>