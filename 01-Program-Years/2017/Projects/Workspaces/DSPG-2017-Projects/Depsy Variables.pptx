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5143500" cx="9144000"/>
  <p:notesSz cx="6858000" cy="9144000"/>
  <p:embeddedFontLst>
    <p:embeddedFont>
      <p:font typeface="Raleway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1E1351B-D6CB-46A7-A05E-E95FE15EBDD1}">
  <a:tblStyle styleId="{91E1351B-D6CB-46A7-A05E-E95FE15EBD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Raleway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aleway-italic.fntdata"/><Relationship Id="rId70" Type="http://schemas.openxmlformats.org/officeDocument/2006/relationships/font" Target="fonts/Raleway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aleway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92cbb2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92cbb2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92cbb2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92cbb2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92cbb2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92cbb2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92cbb2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92cbb2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92cbb29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92cbb29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92cbb29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492cbb2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92cbb2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92cbb2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92cbb29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92cbb29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92cbb2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92cbb2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92cbb2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92cbb2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92cbb29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492cbb29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92cbb29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92cbb29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92cbb29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92cbb29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92cbb29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92cbb29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92cbb29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92cbb29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492cbb29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492cbb29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92cbb29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92cbb2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92cbb29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92cbb29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492cbb29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492cbb29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492cbb29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492cbb29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92cbb29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492cbb29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492cbb29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492cbb29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92cbb29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492cbb29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92cbb29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92cbb29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92cbb29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492cbb29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92cbb29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92cbb29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92cbb29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92cbb29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92cbb29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492cbb29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92cbb29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492cbb29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92cbb29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492cbb29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492cbb29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492cbb29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92cbb29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492cbb29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92cbb29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492cbb29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492cbb29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492cbb29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492cbb29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492cbb29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492cbb29e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492cbb29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492cbb29e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492cbb29e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492cbb29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492cbb29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492cbb29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492cbb29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92cbb29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492cbb29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92cbb29e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92cbb29e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49cd776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49cd776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9cd776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49cd776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49cd776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49cd776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9cd776d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49cd776d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49cd776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49cd776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9cd776d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49cd776d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49cd776d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49cd776d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49cd776d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49cd776d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49cd776d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49cd776d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49cd776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49cd776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49cd776d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49cd776d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49cd776d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49cd776d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49cd776d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49cd776d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49cd776d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49cd776d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49cd776d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49cd776d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49cd776d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49cd776d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49cd776d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49cd776d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492cbb29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492cbb29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492cbb29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492cbb29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492cbb29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492cbb29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492cbb29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492cbb29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Depsy Variables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Matrix Variables - ID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of the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0% missing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100% unique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Citations_harv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14950"/>
            <a:ext cx="8520600" cy="31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Number of times cited in Harvard literature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packages were cited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Citations_pmc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times cited in Europe PMC, an archive of life science journal literature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200" y="1759123"/>
            <a:ext cx="3808365" cy="30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Git_owner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 user who owns the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9810 packages, only 1283 distinct owners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Git_repo_name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of the repository for given project, in this case usually the same as package 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9810 packages, only 2295 distinct repo names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that supports and hosts given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9810 hosted by CRAN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entirely sure how it’s calculated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175" y="1552673"/>
            <a:ext cx="3957200" cy="31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Impact_percentile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Somehow ties back to impact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325" y="1687473"/>
            <a:ext cx="4042676" cy="32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Indegree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200" y="1300499"/>
            <a:ext cx="4472900" cy="36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Is_academic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Boolean determining whether package is meant for academia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single package is TRUE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are written in 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Neighborhood_size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packages depends 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650" y="1533574"/>
            <a:ext cx="42428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Authors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authors for a given package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950" y="1563573"/>
            <a:ext cx="4134331" cy="3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Commits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is when someone makes changes to Github code and submits it back to the repository on Github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350" y="1944522"/>
            <a:ext cx="3613025" cy="29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Committers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Committer is someone that commits to a given project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675" y="1597273"/>
            <a:ext cx="4033100" cy="32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Contributors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900" y="1428373"/>
            <a:ext cx="3957200" cy="31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Stars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Scrapes the number of stars from corresponding Git repository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175" y="1784473"/>
            <a:ext cx="3956625" cy="31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Downloads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075" y="1352098"/>
            <a:ext cx="3994875" cy="32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Downloads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200" y="1063513"/>
            <a:ext cx="474345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Citations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 of PMC and Harvard citations</a:t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188" y="1720877"/>
            <a:ext cx="3379625" cy="27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Cited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625" y="1372523"/>
            <a:ext cx="3861025" cy="31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Depsy Rank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650" y="1376248"/>
            <a:ext cx="3880150" cy="31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Depsy Rank</a:t>
            </a:r>
            <a:endParaRPr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950" y="1491422"/>
            <a:ext cx="3725226" cy="29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	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every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package had a summary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Contributor Matrix Variables - OSS Names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24,000 entries in contributor matrix, only 8,900 unique OSS names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Contributors</a:t>
            </a:r>
            <a:endParaRPr/>
          </a:p>
        </p:txBody>
      </p:sp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24,000 entries, 14,000 unique contributors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Logins</a:t>
            </a:r>
            <a:endParaRPr/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65% missing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43% of the git logins are unique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ID’s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100% complete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65% of the ID’s are unique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Score</a:t>
            </a:r>
            <a:endParaRPr/>
          </a:p>
        </p:txBody>
      </p:sp>
      <p:sp>
        <p:nvSpPr>
          <p:cNvPr id="245" name="Google Shape;24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525" y="1196148"/>
            <a:ext cx="4134331" cy="3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Percentile</a:t>
            </a:r>
            <a:endParaRPr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375" y="1275385"/>
            <a:ext cx="3937500" cy="31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Organization</a:t>
            </a:r>
            <a:endParaRPr/>
          </a:p>
        </p:txBody>
      </p:sp>
      <p:sp>
        <p:nvSpPr>
          <p:cNvPr id="259" name="Google Shape;25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Boolean determining whether contributor is in an organization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Overwhelmingly false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Language</a:t>
            </a:r>
            <a:endParaRPr/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77% written in R, 23% written in Python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Name</a:t>
            </a:r>
            <a:endParaRPr/>
          </a:p>
        </p:txBody>
      </p:sp>
      <p:sp>
        <p:nvSpPr>
          <p:cNvPr id="271" name="Google Shape;27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5% missing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58% of the names are unique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277" name="Google Shape;277;p47"/>
          <p:cNvSpPr txBox="1"/>
          <p:nvPr>
            <p:ph idx="1" type="body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1020 unique roles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70% of roles were “author(TRUE)”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Downloads</a:t>
            </a:r>
            <a:endParaRPr/>
          </a:p>
        </p:txBody>
      </p:sp>
      <p:sp>
        <p:nvSpPr>
          <p:cNvPr id="283" name="Google Shape;28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250" y="1236898"/>
            <a:ext cx="4033100" cy="32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Package Credential</a:t>
            </a:r>
            <a:endParaRPr/>
          </a:p>
        </p:txBody>
      </p:sp>
      <p:sp>
        <p:nvSpPr>
          <p:cNvPr id="290" name="Google Shape;29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725" y="1263835"/>
            <a:ext cx="3966200" cy="31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Download</a:t>
            </a:r>
            <a:endParaRPr/>
          </a:p>
        </p:txBody>
      </p:sp>
      <p:sp>
        <p:nvSpPr>
          <p:cNvPr id="297" name="Google Shape;29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175" y="1196148"/>
            <a:ext cx="4134331" cy="3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Depsy Page Rank</a:t>
            </a:r>
            <a:endParaRPr/>
          </a:p>
        </p:txBody>
      </p:sp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963" y="1175324"/>
            <a:ext cx="4186075" cy="33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Percentile Depsy Page Rank</a:t>
            </a:r>
            <a:endParaRPr/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825" y="1196148"/>
            <a:ext cx="4134331" cy="3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Citations</a:t>
            </a:r>
            <a:endParaRPr/>
          </a:p>
        </p:txBody>
      </p:sp>
      <p:sp>
        <p:nvSpPr>
          <p:cNvPr id="318" name="Google Shape;31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65% of the contributors had zero citations</a:t>
            </a:r>
            <a:endParaRPr/>
          </a:p>
        </p:txBody>
      </p:sp>
      <p:pic>
        <p:nvPicPr>
          <p:cNvPr id="319" name="Google Shape;3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175" y="1548925"/>
            <a:ext cx="3926925" cy="3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Citations</a:t>
            </a:r>
            <a:endParaRPr/>
          </a:p>
        </p:txBody>
      </p:sp>
      <p:sp>
        <p:nvSpPr>
          <p:cNvPr id="325" name="Google Shape;32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missing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65% values are zeros </a:t>
            </a:r>
            <a:endParaRPr/>
          </a:p>
        </p:txBody>
      </p:sp>
      <p:pic>
        <p:nvPicPr>
          <p:cNvPr id="326" name="Google Shape;3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325" y="1755198"/>
            <a:ext cx="3813225" cy="30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Depsy Dependency Network Nodes Variables - ID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100% complete and unique entries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and Timeset</a:t>
            </a:r>
            <a:endParaRPr/>
          </a:p>
        </p:txBody>
      </p:sp>
      <p:sp>
        <p:nvSpPr>
          <p:cNvPr id="338" name="Google Shape;33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variables are completely missing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Indegree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75" y="1218573"/>
            <a:ext cx="4052225" cy="32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 Degree</a:t>
            </a:r>
            <a:endParaRPr/>
          </a:p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75" y="1065126"/>
            <a:ext cx="424280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</a:t>
            </a:r>
            <a:endParaRPr/>
          </a:p>
        </p:txBody>
      </p:sp>
      <p:sp>
        <p:nvSpPr>
          <p:cNvPr id="358" name="Google Shape;35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 of indegree and outdegree</a:t>
            </a:r>
            <a:endParaRPr/>
          </a:p>
        </p:txBody>
      </p:sp>
      <p:pic>
        <p:nvPicPr>
          <p:cNvPr id="359" name="Google Shape;35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175" y="1648299"/>
            <a:ext cx="42428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Eccentricity</a:t>
            </a:r>
            <a:endParaRPr/>
          </a:p>
        </p:txBody>
      </p:sp>
      <p:sp>
        <p:nvSpPr>
          <p:cNvPr id="365" name="Google Shape;36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262" y="1399350"/>
            <a:ext cx="3851475" cy="31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Closeness Centrality</a:t>
            </a:r>
            <a:endParaRPr/>
          </a:p>
        </p:txBody>
      </p:sp>
      <p:sp>
        <p:nvSpPr>
          <p:cNvPr id="372" name="Google Shape;37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400" y="1189886"/>
            <a:ext cx="4149875" cy="33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Harmonic Closeness Centrality</a:t>
            </a:r>
            <a:endParaRPr/>
          </a:p>
        </p:txBody>
      </p:sp>
      <p:sp>
        <p:nvSpPr>
          <p:cNvPr id="379" name="Google Shape;37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825" y="1375550"/>
            <a:ext cx="3916650" cy="31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Centrality</a:t>
            </a:r>
            <a:endParaRPr/>
          </a:p>
        </p:txBody>
      </p:sp>
      <p:sp>
        <p:nvSpPr>
          <p:cNvPr id="386" name="Google Shape;386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75" y="1152473"/>
            <a:ext cx="4134331" cy="3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</a:t>
            </a:r>
            <a:endParaRPr/>
          </a:p>
        </p:txBody>
      </p:sp>
      <p:sp>
        <p:nvSpPr>
          <p:cNvPr id="393" name="Google Shape;393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788" y="1248448"/>
            <a:ext cx="4004425" cy="32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</a:t>
            </a:r>
            <a:endParaRPr/>
          </a:p>
        </p:txBody>
      </p:sp>
      <p:sp>
        <p:nvSpPr>
          <p:cNvPr id="400" name="Google Shape;400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537" y="1511122"/>
            <a:ext cx="3688925" cy="2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Modularity Class</a:t>
            </a:r>
            <a:endParaRPr/>
          </a:p>
        </p:txBody>
      </p:sp>
      <p:sp>
        <p:nvSpPr>
          <p:cNvPr id="407" name="Google Shape;407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388" y="1372798"/>
            <a:ext cx="3813225" cy="30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Pagerank</a:t>
            </a:r>
            <a:endParaRPr/>
          </a:p>
        </p:txBody>
      </p:sp>
      <p:sp>
        <p:nvSpPr>
          <p:cNvPr id="414" name="Google Shape;41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450" y="1236898"/>
            <a:ext cx="4033100" cy="32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Number</a:t>
            </a:r>
            <a:endParaRPr/>
          </a:p>
        </p:txBody>
      </p:sp>
      <p:sp>
        <p:nvSpPr>
          <p:cNvPr id="421" name="Google Shape;421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98% of the entries were zero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Component Number</a:t>
            </a:r>
            <a:endParaRPr/>
          </a:p>
        </p:txBody>
      </p:sp>
      <p:sp>
        <p:nvSpPr>
          <p:cNvPr id="427" name="Google Shape;4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Could not find a good place to filter it</a:t>
            </a:r>
            <a:endParaRPr/>
          </a:p>
        </p:txBody>
      </p:sp>
      <p:pic>
        <p:nvPicPr>
          <p:cNvPr id="428" name="Google Shape;42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825" y="1703423"/>
            <a:ext cx="3841899" cy="30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434" name="Google Shape;43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825" y="1290523"/>
            <a:ext cx="4071350" cy="32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Eigencentrality</a:t>
            </a:r>
            <a:endParaRPr/>
          </a:p>
        </p:txBody>
      </p:sp>
      <p:sp>
        <p:nvSpPr>
          <p:cNvPr id="441" name="Google Shape;441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250" y="1621547"/>
            <a:ext cx="3660250" cy="29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 Matrix</a:t>
            </a:r>
            <a:endParaRPr/>
          </a:p>
        </p:txBody>
      </p:sp>
      <p:sp>
        <p:nvSpPr>
          <p:cNvPr id="448" name="Google Shape;448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number of tags per package - 1.3 (34 total)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number of packages per tag - 90.8 (2429 total)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25% are represented in this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50" y="2218797"/>
            <a:ext cx="3632151" cy="29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275" y="2122992"/>
            <a:ext cx="3632151" cy="2924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3"/>
          <p:cNvSpPr txBox="1"/>
          <p:nvPr>
            <p:ph type="title"/>
          </p:nvPr>
        </p:nvSpPr>
        <p:spPr>
          <a:xfrm>
            <a:off x="269475" y="18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4546A"/>
                </a:solidFill>
                <a:latin typeface="Raleway"/>
                <a:ea typeface="Raleway"/>
                <a:cs typeface="Raleway"/>
                <a:sym typeface="Raleway"/>
              </a:rPr>
              <a:t>Data Completeness Tables for Contributor and Package Matrices</a:t>
            </a:r>
            <a:endParaRPr b="1" sz="2400">
              <a:solidFill>
                <a:srgbClr val="44546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57" name="Google Shape;45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75" y="1152476"/>
            <a:ext cx="3267963" cy="3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125" y="811100"/>
            <a:ext cx="2597775" cy="40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4"/>
          <p:cNvSpPr txBox="1"/>
          <p:nvPr>
            <p:ph type="title"/>
          </p:nvPr>
        </p:nvSpPr>
        <p:spPr>
          <a:xfrm>
            <a:off x="269475" y="18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4546A"/>
                </a:solidFill>
                <a:latin typeface="Raleway"/>
                <a:ea typeface="Raleway"/>
                <a:cs typeface="Raleway"/>
                <a:sym typeface="Raleway"/>
              </a:rPr>
              <a:t>Data Completeness Tables for Contributor and Package Matrices</a:t>
            </a:r>
            <a:endParaRPr b="1" sz="2400">
              <a:solidFill>
                <a:srgbClr val="44546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65" name="Google Shape;46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75" y="1152476"/>
            <a:ext cx="3267963" cy="3539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6" name="Google Shape;466;p74"/>
          <p:cNvGraphicFramePr/>
          <p:nvPr/>
        </p:nvGraphicFramePr>
        <p:xfrm>
          <a:off x="56992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{91E1351B-D6CB-46A7-A05E-E95FE15EBDD1}</a:tableStyleId>
              </a:tblPr>
              <a:tblGrid>
                <a:gridCol w="1246125"/>
                <a:gridCol w="1246125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Tags by Frequency</a:t>
            </a:r>
            <a:endParaRPr/>
          </a:p>
        </p:txBody>
      </p:sp>
      <p:sp>
        <p:nvSpPr>
          <p:cNvPr id="472" name="Google Shape;472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50" y="1098956"/>
            <a:ext cx="6880275" cy="55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