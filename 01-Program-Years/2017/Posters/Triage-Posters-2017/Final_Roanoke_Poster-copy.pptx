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42062400" cx="36576000"/>
  <p:notesSz cx="6858000" cy="9144000"/>
  <p:embeddedFontLst>
    <p:embeddedFont>
      <p:font typeface="Raleway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font" Target="fonts/Raleway-regular.fntdata"/><Relationship Id="rId7" Type="http://schemas.openxmlformats.org/officeDocument/2006/relationships/font" Target="fonts/Raleway-bold.fntdata"/><Relationship Id="rId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have moved this to the final folder!</a:t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Title Slide">
  <p:cSld name="1_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6576001" cy="4206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2743200" y="6883826"/>
            <a:ext cx="31089601" cy="1464394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572000" y="22092500"/>
            <a:ext cx="27432000" cy="101553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8288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6576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4864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3152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91440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9728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8016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4630400" marR="0" rt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2514600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2514600" y="11197167"/>
            <a:ext cx="31546801" cy="266882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2495552" y="10486402"/>
            <a:ext cx="31546801" cy="1749678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2495552" y="28148716"/>
            <a:ext cx="31546801" cy="92011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Arial"/>
              <a:buNone/>
              <a:defRPr b="0" i="0" sz="8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8000"/>
              <a:buFont typeface="Arial"/>
              <a:buNone/>
              <a:defRPr b="0" i="0" sz="7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Font typeface="Arial"/>
              <a:buNone/>
              <a:defRPr b="0" i="0" sz="6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2514600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2514600" y="11197167"/>
            <a:ext cx="15544800" cy="266882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18516600" y="11197167"/>
            <a:ext cx="15544800" cy="266882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2519364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519368" y="10311133"/>
            <a:ext cx="15473361" cy="50533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1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2519368" y="15364459"/>
            <a:ext cx="15473361" cy="22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3" type="body"/>
          </p:nvPr>
        </p:nvSpPr>
        <p:spPr>
          <a:xfrm>
            <a:off x="18516602" y="10311133"/>
            <a:ext cx="15549564" cy="50533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1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1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1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4" type="body"/>
          </p:nvPr>
        </p:nvSpPr>
        <p:spPr>
          <a:xfrm>
            <a:off x="18516602" y="15364459"/>
            <a:ext cx="15549564" cy="22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2514600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2519364" y="2804160"/>
            <a:ext cx="11796712" cy="9814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15549564" y="6056216"/>
            <a:ext cx="18516601" cy="298915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14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Arial"/>
              <a:buChar char="•"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398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36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36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36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36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36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36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2519364" y="12618720"/>
            <a:ext cx="11796712" cy="233777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2519364" y="2804160"/>
            <a:ext cx="11796712" cy="9814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15549564" y="6056216"/>
            <a:ext cx="18516601" cy="298915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5486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7315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9144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972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80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463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2519364" y="12618720"/>
            <a:ext cx="11796712" cy="233777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None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2514600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4943897" y="8767870"/>
            <a:ext cx="26688206" cy="31546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 rot="5400000">
            <a:off x="12295083" y="16119053"/>
            <a:ext cx="3564594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 rot="5400000">
            <a:off x="-3706919" y="8460953"/>
            <a:ext cx="35645940" cy="232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14600" y="2239442"/>
            <a:ext cx="31546801" cy="813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14600" y="11197167"/>
            <a:ext cx="31546801" cy="266882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146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2115800" y="38985622"/>
            <a:ext cx="123444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25831800" y="38985622"/>
            <a:ext cx="8229600" cy="223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3.png"/><Relationship Id="rId13" Type="http://schemas.openxmlformats.org/officeDocument/2006/relationships/image" Target="../media/image13.jp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9" Type="http://schemas.openxmlformats.org/officeDocument/2006/relationships/image" Target="../media/image5.png"/><Relationship Id="rId15" Type="http://schemas.openxmlformats.org/officeDocument/2006/relationships/image" Target="../media/image8.png"/><Relationship Id="rId14" Type="http://schemas.openxmlformats.org/officeDocument/2006/relationships/image" Target="../media/image10.png"/><Relationship Id="rId17" Type="http://schemas.openxmlformats.org/officeDocument/2006/relationships/image" Target="../media/image12.png"/><Relationship Id="rId16" Type="http://schemas.openxmlformats.org/officeDocument/2006/relationships/image" Target="../media/image4.png"/><Relationship Id="rId5" Type="http://schemas.openxmlformats.org/officeDocument/2006/relationships/image" Target="../media/image6.png"/><Relationship Id="rId19" Type="http://schemas.openxmlformats.org/officeDocument/2006/relationships/image" Target="../media/image11.png"/><Relationship Id="rId6" Type="http://schemas.openxmlformats.org/officeDocument/2006/relationships/image" Target="../media/image14.png"/><Relationship Id="rId18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nt_by_source.png" id="86" name="Google Shape;86;p14"/>
          <p:cNvPicPr preferRelativeResize="0"/>
          <p:nvPr/>
        </p:nvPicPr>
        <p:blipFill rotWithShape="1">
          <a:blip r:embed="rId3">
            <a:alphaModFix/>
          </a:blip>
          <a:srcRect b="16541" l="0" r="0" t="0"/>
          <a:stretch/>
        </p:blipFill>
        <p:spPr>
          <a:xfrm>
            <a:off x="27766431" y="9043175"/>
            <a:ext cx="7245169" cy="604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/>
          <p:cNvPicPr preferRelativeResize="0"/>
          <p:nvPr/>
        </p:nvPicPr>
        <p:blipFill rotWithShape="1">
          <a:blip r:embed="rId4">
            <a:alphaModFix/>
          </a:blip>
          <a:srcRect b="2760" l="-2840" r="2839" t="22416"/>
          <a:stretch/>
        </p:blipFill>
        <p:spPr>
          <a:xfrm>
            <a:off x="28676275" y="4195956"/>
            <a:ext cx="5504600" cy="2471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/>
          <p:cNvPicPr preferRelativeResize="0"/>
          <p:nvPr/>
        </p:nvPicPr>
        <p:blipFill rotWithShape="1">
          <a:blip r:embed="rId5">
            <a:alphaModFix/>
          </a:blip>
          <a:srcRect b="-411" l="0" r="0" t="0"/>
          <a:stretch/>
        </p:blipFill>
        <p:spPr>
          <a:xfrm>
            <a:off x="1760525" y="10776825"/>
            <a:ext cx="16752299" cy="283478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/>
          <p:nvPr/>
        </p:nvSpPr>
        <p:spPr>
          <a:xfrm>
            <a:off x="1942000" y="35392475"/>
            <a:ext cx="6622800" cy="333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45217" y="26367161"/>
            <a:ext cx="16489200" cy="19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669017" y="7714336"/>
            <a:ext cx="16489200" cy="19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821417" y="34459073"/>
            <a:ext cx="16489200" cy="19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968" y="6033584"/>
            <a:ext cx="34233300" cy="197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fugee_Indicators_Map_final.jpg" id="94" name="Google Shape;94;p14"/>
          <p:cNvPicPr preferRelativeResize="0"/>
          <p:nvPr/>
        </p:nvPicPr>
        <p:blipFill rotWithShape="1">
          <a:blip r:embed="rId8">
            <a:alphaModFix/>
          </a:blip>
          <a:srcRect b="0" l="228" r="238" t="0"/>
          <a:stretch/>
        </p:blipFill>
        <p:spPr>
          <a:xfrm>
            <a:off x="1931844" y="25071750"/>
            <a:ext cx="6622794" cy="499038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769991" y="6072416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Project Overview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712850" y="7096475"/>
            <a:ext cx="325407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Partners: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School for Public and International Affairs (SPIA), Global Forum on Urban and Regional Resilience, other international groups at Virginia Tech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9316700" y="35634900"/>
            <a:ext cx="161613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Add or remove variables from Refugee and Socioeconomic Indices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an Index of Economic Status and compare it to Roanoke averages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Analyze the text of the articles and comments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Use Amazon Mechanical Turk to validate sentiment analysis findings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Continue to develop and refine economic findings using additional data sources and methods</a:t>
            </a:r>
            <a:endParaRPr sz="360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295900" y="4397975"/>
            <a:ext cx="16752300" cy="19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757070"/>
                </a:solidFill>
              </a:rPr>
              <a:t>Claire Kelling (PSU), Kyle Morgan (VT), Craig Morton (VT), Hannah Brinkley (VT), Adrienne Rogers (VT), with Mark Orr, Stephanie Shipp, and Bianica Pires (SDAL)</a:t>
            </a:r>
            <a:endParaRPr sz="3600">
              <a:solidFill>
                <a:srgbClr val="75707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7F7F7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147100" y="1694575"/>
            <a:ext cx="230667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200">
                <a:solidFill>
                  <a:schemeClr val="dk1"/>
                </a:solidFill>
              </a:rPr>
              <a:t>Analyzing the Economic Impact and Social Integration of Refugees in Roanoke, Virginia</a:t>
            </a:r>
            <a:endParaRPr sz="7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9487741" y="26519555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Economic Impact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9385816" y="7845117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Social Integration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7845563" y="15859500"/>
            <a:ext cx="7391700" cy="3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r>
              <a:rPr b="1" lang="en-US" sz="2400">
                <a:solidFill>
                  <a:schemeClr val="accent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Mayor Bowers was thinking of the welfare and security of all Roanoker's...he is also concerned with what would happen if the group of refugees were possibly infiltrated by a terrorist that, like the Paris attacks, would only be hours away from the Nation's Capitol and seemingly in a nice quiet place where havoc and widespread destruction could be planned.”</a:t>
            </a:r>
            <a:endParaRPr b="1" sz="24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age_dist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4525"/>
          <a:stretch/>
        </p:blipFill>
        <p:spPr>
          <a:xfrm>
            <a:off x="12589525" y="12097949"/>
            <a:ext cx="6192950" cy="5499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untry_origin.png" id="104" name="Google Shape;104;p14"/>
          <p:cNvPicPr preferRelativeResize="0"/>
          <p:nvPr/>
        </p:nvPicPr>
        <p:blipFill rotWithShape="1">
          <a:blip r:embed="rId10">
            <a:alphaModFix/>
          </a:blip>
          <a:srcRect b="0" l="0" r="0" t="7373"/>
          <a:stretch/>
        </p:blipFill>
        <p:spPr>
          <a:xfrm>
            <a:off x="11931675" y="18127182"/>
            <a:ext cx="6885900" cy="5932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nt_over_time.png" id="105" name="Google Shape;105;p14"/>
          <p:cNvPicPr preferRelativeResize="0"/>
          <p:nvPr/>
        </p:nvPicPr>
        <p:blipFill rotWithShape="1">
          <a:blip r:embed="rId11">
            <a:alphaModFix/>
          </a:blip>
          <a:srcRect b="0" l="0" r="0" t="93976"/>
          <a:stretch/>
        </p:blipFill>
        <p:spPr>
          <a:xfrm>
            <a:off x="28541200" y="15059549"/>
            <a:ext cx="6622799" cy="3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998602" y="10588325"/>
            <a:ext cx="14423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9716341" y="34637680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Next Steps</a:t>
            </a:r>
            <a:endParaRPr b="0" i="0" sz="480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836725" y="12404500"/>
            <a:ext cx="10946400" cy="118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Goal: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Understand social and economic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demographics of refugees moving to Roanoke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over time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Data Sources: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Virginia Department of Health (VDH),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Virginia Newcomer Information System (VNIS)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Findings:</a:t>
            </a:r>
            <a:endParaRPr b="1"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Virginia Department of Health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Most refugees are young </a:t>
            </a: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(Figure 1)</a:t>
            </a:r>
            <a:endParaRPr b="1"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Most refugees are from Afghanistan, Democratic Republic of the Congo (DRC), and Bhutan, with recent increases from Syria </a:t>
            </a: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(Figure 2)</a:t>
            </a:r>
            <a:endParaRPr b="1"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Virginia Newcomer Information System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Entering employment within 90 days of entry: 51% (state average: 48%)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Employed full time: 73%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(state average: 68%)</a:t>
            </a:r>
            <a:endParaRPr b="1"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8578575" y="24562650"/>
            <a:ext cx="10050900" cy="139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Goal: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Use publically available U.S. Census and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API data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to create demographic and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socio-economic indices to estimate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neighborhoods in Roanoke most likely to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contain larger proportions of refugees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Refugee Index: 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(top-left)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Variables: 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number of bus stops, i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ndividuals who are non-citizen and foreign born, are from countries that the US accepts refugees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from, have little to no English proficiency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Socio-economic Index: 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(middle-left)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Variables: households that received food stamps, have no vehicle, have income below poverty line, spend more than 50% of income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on rent/mortgage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(bottom-left)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While both visually show areas of potential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interest, the two indices are not well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correlated.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There are some specific Census Tracts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that we can suggest that with some probability have higher refugee counts than others.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991016" y="2906239"/>
            <a:ext cx="1723175" cy="172315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659350" y="35482500"/>
            <a:ext cx="3336900" cy="30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Correlation: 0.5561</a:t>
            </a:r>
            <a:endParaRPr sz="30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Regression r</a:t>
            </a:r>
            <a:r>
              <a:rPr baseline="30000"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: 0.2935</a:t>
            </a:r>
            <a:endParaRPr sz="3000"/>
          </a:p>
        </p:txBody>
      </p:sp>
      <p:sp>
        <p:nvSpPr>
          <p:cNvPr id="112" name="Google Shape;112;p14"/>
          <p:cNvSpPr txBox="1"/>
          <p:nvPr/>
        </p:nvSpPr>
        <p:spPr>
          <a:xfrm>
            <a:off x="19020300" y="8989300"/>
            <a:ext cx="8951700" cy="173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Goal: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Assess the level of social integration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and community acceptance of refugees in Roanoke from local news Facebook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pages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Sources: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The Roanoke Times, WSLS 10,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WFXR News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12 articles, 3,329 comments</a:t>
            </a:r>
            <a:endParaRPr b="1"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Key Events:</a:t>
            </a:r>
            <a:endParaRPr b="1"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November, 2015: Mayor David Bowers requested that the City of Roanoke </a:t>
            </a:r>
            <a:b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suspend assistance to Syrian refugees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First half of 2017: Coverage of recent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presidential policies on immigration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Categorizing these comments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into positive/negative was not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effective due to the wide variety of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sentiments present </a:t>
            </a: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(Figure 3)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Used Latent Dirichlet Allocation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(LDA), a generative, unsupervised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statistical model that allows a set of text observations to be clustered into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groups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Findings: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Chose four themed categories,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with the top words per categories shown </a:t>
            </a: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(Figure 4)</a:t>
            </a:r>
            <a:endParaRPr b="1"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Possible themes: Mayor Bowers, welcome, nationalism, security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9325100" y="27376850"/>
            <a:ext cx="160263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Goal: 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Calculate the economic benefit/cost of refugee populations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Preliminary Step: 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Examine the economic conditions of the Census Tracts that refugees are most likely to reside in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Roanoke by Census Tracts Socio-Economic Vulnerability Map-2.jpg" id="114" name="Google Shape;114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893175" y="30206375"/>
            <a:ext cx="6622803" cy="496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untry_of_origin.png" id="115" name="Google Shape;115;p14"/>
          <p:cNvPicPr preferRelativeResize="0"/>
          <p:nvPr/>
        </p:nvPicPr>
        <p:blipFill rotWithShape="1">
          <a:blip r:embed="rId14">
            <a:alphaModFix/>
          </a:blip>
          <a:srcRect b="96408" l="6803" r="0" t="0"/>
          <a:stretch/>
        </p:blipFill>
        <p:spPr>
          <a:xfrm>
            <a:off x="12575850" y="17918850"/>
            <a:ext cx="5597551" cy="2083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ge_dist.png" id="116" name="Google Shape;116;p14"/>
          <p:cNvPicPr preferRelativeResize="0"/>
          <p:nvPr/>
        </p:nvPicPr>
        <p:blipFill rotWithShape="1">
          <a:blip r:embed="rId15">
            <a:alphaModFix/>
          </a:blip>
          <a:srcRect b="96134" l="0" r="29537" t="0"/>
          <a:stretch/>
        </p:blipFill>
        <p:spPr>
          <a:xfrm>
            <a:off x="12735300" y="11986725"/>
            <a:ext cx="4215650" cy="23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9085437" y="29165044"/>
            <a:ext cx="4716775" cy="544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9187125" y="29383150"/>
            <a:ext cx="9225527" cy="518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942000" y="35589275"/>
            <a:ext cx="4089926" cy="28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1712850" y="7858475"/>
            <a:ext cx="169167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Purpose: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Expand capacity at Virginia Tech for understanding refugees and answer the following two questions: 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1) How can we measure the </a:t>
            </a: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 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of refugees into host communities?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2) How can we measure the </a:t>
            </a:r>
            <a:r>
              <a:rPr b="1"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economic impact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of refugees on host communities?</a:t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roa_lda2.png" id="121" name="Google Shape;121;p1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7305217" y="20007800"/>
            <a:ext cx="7969982" cy="65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