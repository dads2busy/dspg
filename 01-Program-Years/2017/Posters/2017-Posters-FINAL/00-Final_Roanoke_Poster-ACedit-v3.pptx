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6576000" cy="42062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F22"/>
    <a:srgbClr val="5B8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98"/>
    <p:restoredTop sz="94580"/>
  </p:normalViewPr>
  <p:slideViewPr>
    <p:cSldViewPr snapToGrid="0" snapToObjects="1">
      <p:cViewPr varScale="1">
        <p:scale>
          <a:sx n="29" d="100"/>
          <a:sy n="29" d="100"/>
        </p:scale>
        <p:origin x="444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028036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I have moved this to the final folder!</a:t>
            </a:r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1938338" y="685800"/>
            <a:ext cx="29813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604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1" cy="4206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2743200" y="6883825"/>
            <a:ext cx="31089600" cy="146439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2495551" y="10486402"/>
            <a:ext cx="31546800" cy="174967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2495551" y="28148715"/>
            <a:ext cx="31546800" cy="92011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8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7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15544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18516600" y="11197167"/>
            <a:ext cx="15544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2519364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2519367" y="10311132"/>
            <a:ext cx="15473360" cy="50533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2519367" y="15364459"/>
            <a:ext cx="15473360" cy="225988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3"/>
          </p:nvPr>
        </p:nvSpPr>
        <p:spPr>
          <a:xfrm>
            <a:off x="18516601" y="10311132"/>
            <a:ext cx="15549563" cy="50533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4"/>
          </p:nvPr>
        </p:nvSpPr>
        <p:spPr>
          <a:xfrm>
            <a:off x="18516601" y="15364459"/>
            <a:ext cx="15549563" cy="225988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2519364" y="2804159"/>
            <a:ext cx="11796712" cy="98145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15549564" y="6056216"/>
            <a:ext cx="18516600" cy="298915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1016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203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2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2519364" y="2804159"/>
            <a:ext cx="11796712" cy="98145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pic" idx="2"/>
          </p:nvPr>
        </p:nvSpPr>
        <p:spPr>
          <a:xfrm>
            <a:off x="15549564" y="6056216"/>
            <a:ext cx="18516600" cy="298915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 rot="5400000">
            <a:off x="4943896" y="8767869"/>
            <a:ext cx="26688205" cy="3154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 rot="5400000">
            <a:off x="12295083" y="16119052"/>
            <a:ext cx="35645939" cy="788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 rot="5400000">
            <a:off x="-3706918" y="8460952"/>
            <a:ext cx="35645939" cy="232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9" cy="22394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5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spcBef>
                <a:spcPts val="0"/>
              </a:spcBef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g"/><Relationship Id="rId20" Type="http://schemas.openxmlformats.org/officeDocument/2006/relationships/image" Target="../media/image19.jp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jp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emf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Shape 121" descr="roa_lda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5846" y="20007800"/>
            <a:ext cx="7969981" cy="65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Shape 86" descr="sent_by_source.png"/>
          <p:cNvPicPr preferRelativeResize="0"/>
          <p:nvPr/>
        </p:nvPicPr>
        <p:blipFill rotWithShape="1">
          <a:blip r:embed="rId4">
            <a:alphaModFix/>
          </a:blip>
          <a:srcRect b="16541"/>
          <a:stretch/>
        </p:blipFill>
        <p:spPr>
          <a:xfrm>
            <a:off x="27766431" y="9043175"/>
            <a:ext cx="7245169" cy="60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Shape 87"/>
          <p:cNvPicPr preferRelativeResize="0"/>
          <p:nvPr/>
        </p:nvPicPr>
        <p:blipFill rotWithShape="1">
          <a:blip r:embed="rId5">
            <a:alphaModFix/>
          </a:blip>
          <a:srcRect l="-2840" t="22416" r="2839" b="2760"/>
          <a:stretch/>
        </p:blipFill>
        <p:spPr>
          <a:xfrm>
            <a:off x="18173400" y="39220768"/>
            <a:ext cx="5504600" cy="247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/>
          <p:cNvPicPr preferRelativeResize="0"/>
          <p:nvPr/>
        </p:nvPicPr>
        <p:blipFill rotWithShape="1">
          <a:blip r:embed="rId6">
            <a:alphaModFix/>
          </a:blip>
          <a:srcRect b="-411"/>
          <a:stretch/>
        </p:blipFill>
        <p:spPr>
          <a:xfrm>
            <a:off x="1760524" y="10776825"/>
            <a:ext cx="16752299" cy="283478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/>
          <p:nvPr/>
        </p:nvSpPr>
        <p:spPr>
          <a:xfrm>
            <a:off x="1942000" y="35392475"/>
            <a:ext cx="6622800" cy="3336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90" name="Shape 9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5311" y="26367160"/>
            <a:ext cx="1648901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Shape 91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9111" y="7714335"/>
            <a:ext cx="1648901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Shape 92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511" y="34459073"/>
            <a:ext cx="16489010" cy="19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Shape 93"/>
          <p:cNvPicPr preferRelativeResize="0"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7" y="6033602"/>
            <a:ext cx="34233300" cy="19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Shape 94" descr="Refugee_Indicators_Map_final.jpg"/>
          <p:cNvPicPr preferRelativeResize="0"/>
          <p:nvPr/>
        </p:nvPicPr>
        <p:blipFill rotWithShape="1">
          <a:blip r:embed="rId9">
            <a:alphaModFix/>
          </a:blip>
          <a:srcRect l="228" r="238"/>
          <a:stretch/>
        </p:blipFill>
        <p:spPr>
          <a:xfrm>
            <a:off x="1931844" y="25071750"/>
            <a:ext cx="6622794" cy="499038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/>
          <p:nvPr/>
        </p:nvSpPr>
        <p:spPr>
          <a:xfrm>
            <a:off x="1769991" y="6072415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712850" y="7096475"/>
            <a:ext cx="32540700" cy="716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Partners: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School for Public and International Affairs (SPIA), Global Forum on Urban and Regional </a:t>
            </a: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Resilience, and 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other international groups at Virginia Tech</a:t>
            </a:r>
          </a:p>
          <a:p>
            <a:pPr lvl="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Font typeface="Arial"/>
              <a:buNone/>
            </a:pPr>
            <a:endParaRPr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69850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Font typeface="Arial"/>
              <a:buNone/>
            </a:pPr>
            <a:endParaRPr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19316700" y="35634900"/>
            <a:ext cx="14841421" cy="309447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572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Add or remove variables from Refugee and Socioeconomic 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Indices</a:t>
            </a:r>
          </a:p>
          <a:p>
            <a:pPr marL="4572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r>
              <a:rPr lang="en-US" sz="30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reate </a:t>
            </a: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 Index of Economic Status and compare it to Roanoke averages </a:t>
            </a:r>
          </a:p>
          <a:p>
            <a:pPr marL="4572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the text of the articles and comments</a:t>
            </a:r>
          </a:p>
          <a:p>
            <a:pPr marL="4572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Use Amazon Mechanical Turk to validate sentiment analysis findings</a:t>
            </a:r>
          </a:p>
          <a:p>
            <a:pPr marL="4572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 to develop and refine economic findings using additional data sources and methods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11219699" y="4816470"/>
            <a:ext cx="21612975" cy="177693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 dirty="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Claire </a:t>
            </a:r>
            <a:r>
              <a:rPr lang="en-US" sz="3600" dirty="0" err="1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Kelling</a:t>
            </a:r>
            <a:r>
              <a:rPr lang="en-US" sz="3600" dirty="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 (PSU), Kyle Morgan (VT), Craig Morton (VT), Hannah Brinkley (VT), Adrienne Rogers (</a:t>
            </a:r>
            <a:r>
              <a:rPr lang="en-US" sz="360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VT</a:t>
            </a:r>
            <a:r>
              <a:rPr lang="en-US" sz="3600" smtClean="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) </a:t>
            </a:r>
            <a:r>
              <a:rPr lang="en-US" sz="3600" dirty="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with Mark Orr, Stephanie Shipp, and </a:t>
            </a:r>
            <a:r>
              <a:rPr lang="en-US" sz="3600" dirty="0" err="1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Bianica</a:t>
            </a:r>
            <a:r>
              <a:rPr lang="en-US" sz="3600" dirty="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3600" dirty="0" err="1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Pires</a:t>
            </a:r>
            <a:r>
              <a:rPr lang="en-US" sz="3600" dirty="0">
                <a:solidFill>
                  <a:srgbClr val="757070"/>
                </a:solidFill>
                <a:latin typeface="Raleway" charset="0"/>
                <a:ea typeface="Raleway" charset="0"/>
                <a:cs typeface="Raleway" charset="0"/>
              </a:rPr>
              <a:t> (SDAL)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4000" dirty="0">
              <a:solidFill>
                <a:srgbClr val="7F7F7F"/>
              </a:solidFill>
              <a:latin typeface="Raleway" charset="0"/>
              <a:ea typeface="Raleway" charset="0"/>
              <a:cs typeface="Raleway" charset="0"/>
              <a:sym typeface="Raleway"/>
            </a:endParaRPr>
          </a:p>
        </p:txBody>
      </p:sp>
      <p:sp>
        <p:nvSpPr>
          <p:cNvPr id="99" name="Shape 99"/>
          <p:cNvSpPr txBox="1"/>
          <p:nvPr/>
        </p:nvSpPr>
        <p:spPr>
          <a:xfrm>
            <a:off x="11147100" y="1104175"/>
            <a:ext cx="23066700" cy="1446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-US" sz="15000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Analyzing the Economic Impact and </a:t>
            </a:r>
            <a:r>
              <a:rPr lang="en-US" sz="1500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Social</a:t>
            </a:r>
            <a:endParaRPr lang="en-US" sz="1500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100" name="Shape 100"/>
          <p:cNvSpPr txBox="1"/>
          <p:nvPr/>
        </p:nvSpPr>
        <p:spPr>
          <a:xfrm>
            <a:off x="19487740" y="26519554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Economic Impact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19385815" y="7845117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Social Integration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27845562" y="15859500"/>
            <a:ext cx="7391700" cy="360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50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r>
              <a:rPr lang="en-US" sz="2400" b="1" dirty="0">
                <a:solidFill>
                  <a:schemeClr val="accent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Mayor Bowers was thinking of the welfare and security of all </a:t>
            </a:r>
            <a:r>
              <a:rPr lang="en-US" sz="2400" b="1" dirty="0" err="1">
                <a:solidFill>
                  <a:schemeClr val="accent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Roanoker's</a:t>
            </a:r>
            <a:r>
              <a:rPr lang="en-US" sz="2400" b="1" dirty="0">
                <a:solidFill>
                  <a:schemeClr val="accent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...he is also concerned with what would happen if the group of refugees were possibly infiltrated by a terrorist that, like the Paris attacks, would only be hours away from the Nation's Capitol and seemingly in a nice quiet place where havoc and widespread destruction could be planned.”</a:t>
            </a:r>
          </a:p>
        </p:txBody>
      </p:sp>
      <p:pic>
        <p:nvPicPr>
          <p:cNvPr id="103" name="Shape 103" descr="age_dist.png"/>
          <p:cNvPicPr preferRelativeResize="0"/>
          <p:nvPr/>
        </p:nvPicPr>
        <p:blipFill rotWithShape="1">
          <a:blip r:embed="rId10">
            <a:alphaModFix/>
          </a:blip>
          <a:srcRect t="4525"/>
          <a:stretch/>
        </p:blipFill>
        <p:spPr>
          <a:xfrm>
            <a:off x="12589525" y="12097949"/>
            <a:ext cx="6192950" cy="54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Shape 104" descr="country_origin.png"/>
          <p:cNvPicPr preferRelativeResize="0"/>
          <p:nvPr/>
        </p:nvPicPr>
        <p:blipFill rotWithShape="1">
          <a:blip r:embed="rId11">
            <a:alphaModFix/>
          </a:blip>
          <a:srcRect t="7373"/>
          <a:stretch/>
        </p:blipFill>
        <p:spPr>
          <a:xfrm>
            <a:off x="11931675" y="18127182"/>
            <a:ext cx="6885900" cy="5932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 descr="sent_over_time.png"/>
          <p:cNvPicPr preferRelativeResize="0"/>
          <p:nvPr/>
        </p:nvPicPr>
        <p:blipFill rotWithShape="1">
          <a:blip r:embed="rId12">
            <a:alphaModFix/>
          </a:blip>
          <a:srcRect t="93976"/>
          <a:stretch/>
        </p:blipFill>
        <p:spPr>
          <a:xfrm>
            <a:off x="28541200" y="15059549"/>
            <a:ext cx="6622799" cy="3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 txBox="1"/>
          <p:nvPr/>
        </p:nvSpPr>
        <p:spPr>
          <a:xfrm>
            <a:off x="1998601" y="10588325"/>
            <a:ext cx="144231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4800" b="0" i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19716340" y="34637679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800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Next Steps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1836725" y="12404500"/>
            <a:ext cx="10946400" cy="1188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50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Understand social and economic </a:t>
            </a:r>
          </a:p>
          <a:p>
            <a:pPr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demographics of refugees moving to Roanoke </a:t>
            </a:r>
          </a:p>
          <a:p>
            <a:pPr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over </a:t>
            </a: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time</a:t>
            </a:r>
          </a:p>
          <a:p>
            <a:pPr lvl="0" indent="457200" rtl="0">
              <a:lnSpc>
                <a:spcPts val="2620"/>
              </a:lnSpc>
              <a:spcBef>
                <a:spcPts val="50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Data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Sources: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Virginia Department of Health (VDH), </a:t>
            </a:r>
          </a:p>
          <a:p>
            <a:pPr lvl="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Newcomer Information System (VNIS)</a:t>
            </a:r>
          </a:p>
          <a:p>
            <a:pPr lvl="0" algn="ctr" rtl="0">
              <a:spcBef>
                <a:spcPts val="50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500"/>
              </a:spcBef>
              <a:buNone/>
            </a:pP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</a:p>
          <a:p>
            <a:pPr lvl="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Department of Health</a:t>
            </a:r>
          </a:p>
          <a:p>
            <a:pPr marL="9144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Most refugees are young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1)</a:t>
            </a:r>
          </a:p>
          <a:p>
            <a:pPr marL="9144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Most refugees are from Afghanistan, Democratic Republic of the Congo (DRC), and Bhutan, with recent increases from Syria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2</a:t>
            </a: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</a:p>
          <a:p>
            <a:pPr lvl="0" rtl="0">
              <a:lnSpc>
                <a:spcPts val="2620"/>
              </a:lnSpc>
              <a:spcBef>
                <a:spcPts val="50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500"/>
              </a:spcBef>
              <a:buNone/>
            </a:pP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Newcomer Information System</a:t>
            </a:r>
          </a:p>
          <a:p>
            <a:pPr marL="9144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Entering employment within 90 days of entry: 51% (state average: 48%)</a:t>
            </a:r>
          </a:p>
          <a:p>
            <a:pPr marL="9144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Employed full time: 73% </a:t>
            </a:r>
          </a:p>
          <a:p>
            <a:pPr marL="457200"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(state average: 68%)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8578575" y="24562650"/>
            <a:ext cx="10050900" cy="13912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Use publically available U.S. Census and 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API data to create demographic and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socio-economic indices to estimate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neighborhoods in Roanoke most likely to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contain larger proportions of refugees </a:t>
            </a:r>
            <a:endParaRPr lang="en-US" sz="3600" dirty="0" smtClean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0" rtl="0">
              <a:lnSpc>
                <a:spcPts val="3020"/>
              </a:lnSpc>
              <a:spcBef>
                <a:spcPts val="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Refugee Index: 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(top-left)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Variables: number of bus stops, individuals who are non-citizen and foreign born, are from countries that the US accepts refugees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from, have little to no English </a:t>
            </a: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proficiency</a:t>
            </a:r>
          </a:p>
          <a:p>
            <a:pPr marL="457200" lvl="0" indent="0" rtl="0">
              <a:lnSpc>
                <a:spcPts val="3020"/>
              </a:lnSpc>
              <a:spcBef>
                <a:spcPts val="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Socio-economic Index: 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(middle-left)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Variables: households that received food stamps, have no vehicle, have income below poverty line, spend more than 50% of income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rent/mortgage</a:t>
            </a:r>
          </a:p>
          <a:p>
            <a:pPr marL="457200" lvl="0" indent="0" rtl="0">
              <a:lnSpc>
                <a:spcPts val="3020"/>
              </a:lnSpc>
              <a:spcBef>
                <a:spcPts val="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(bottom-left)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While both visually show areas of potential 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interest, the two indices are not well 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correlated</a:t>
            </a: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lvl="0" indent="457200" rtl="0">
              <a:lnSpc>
                <a:spcPts val="3020"/>
              </a:lnSpc>
              <a:spcBef>
                <a:spcPts val="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There are some specific Census Tracts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that we can suggest that with some probability have higher refugee counts than others.</a:t>
            </a:r>
          </a:p>
        </p:txBody>
      </p:sp>
      <p:pic>
        <p:nvPicPr>
          <p:cNvPr id="110" name="Shape 1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957810" y="39629823"/>
            <a:ext cx="1723174" cy="172315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Shape 111"/>
          <p:cNvSpPr txBox="1"/>
          <p:nvPr/>
        </p:nvSpPr>
        <p:spPr>
          <a:xfrm>
            <a:off x="5659350" y="35482500"/>
            <a:ext cx="3336900" cy="3085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500"/>
              </a:spcBef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Correlation: 0.5561</a:t>
            </a:r>
          </a:p>
          <a:p>
            <a:pPr lvl="0" algn="ctr" rtl="0">
              <a:spcBef>
                <a:spcPts val="500"/>
              </a:spcBef>
              <a:buNone/>
            </a:pP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 r</a:t>
            </a:r>
            <a:r>
              <a:rPr lang="en-US" sz="3000" baseline="30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30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 0.2935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19325100" y="27376850"/>
            <a:ext cx="16026300" cy="1446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500"/>
              </a:spcBef>
              <a:buNone/>
            </a:pPr>
            <a:r>
              <a:rPr lang="en-US" sz="3600" b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Calculate the economic benefit/cost of refugee populations </a:t>
            </a:r>
          </a:p>
          <a:p>
            <a:pPr lvl="0" rtl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3600" b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Preliminary Step: </a:t>
            </a:r>
            <a:r>
              <a:rPr lang="en-US" sz="36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Examine the economic conditions of the Census Tracts that refugees are most likely to reside in</a:t>
            </a:r>
          </a:p>
        </p:txBody>
      </p:sp>
      <p:pic>
        <p:nvPicPr>
          <p:cNvPr id="114" name="Shape 114" descr="Roanoke by Census Tracts Socio-Economic Vulnerability Map-2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93175" y="30206374"/>
            <a:ext cx="6622803" cy="49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Shape 115" descr="country_of_origin.png"/>
          <p:cNvPicPr preferRelativeResize="0"/>
          <p:nvPr/>
        </p:nvPicPr>
        <p:blipFill rotWithShape="1">
          <a:blip r:embed="rId15">
            <a:alphaModFix/>
          </a:blip>
          <a:srcRect l="6803" b="96408"/>
          <a:stretch/>
        </p:blipFill>
        <p:spPr>
          <a:xfrm>
            <a:off x="12575850" y="17918849"/>
            <a:ext cx="5597550" cy="20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Shape 116" descr="age_dist.png"/>
          <p:cNvPicPr preferRelativeResize="0"/>
          <p:nvPr/>
        </p:nvPicPr>
        <p:blipFill rotWithShape="1">
          <a:blip r:embed="rId16">
            <a:alphaModFix/>
          </a:blip>
          <a:srcRect r="29537" b="96134"/>
          <a:stretch/>
        </p:blipFill>
        <p:spPr>
          <a:xfrm>
            <a:off x="12735300" y="11986725"/>
            <a:ext cx="4215650" cy="231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Shape 11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9085437" y="29165044"/>
            <a:ext cx="4716775" cy="544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Shape 11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9187125" y="29383149"/>
            <a:ext cx="9225527" cy="51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Shape 11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941999" y="35589275"/>
            <a:ext cx="4089925" cy="28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Shape 120"/>
          <p:cNvSpPr txBox="1"/>
          <p:nvPr/>
        </p:nvSpPr>
        <p:spPr>
          <a:xfrm>
            <a:off x="1712850" y="7858475"/>
            <a:ext cx="16916700" cy="2871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lvl="0" indent="-69850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Purpose: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Expand capacity at Virginia Tech for understanding refugees and answer the following two questions: </a:t>
            </a:r>
          </a:p>
          <a:p>
            <a:pPr marL="0" lvl="0" indent="-6985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1) How can we measure the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of refugees into host communities?</a:t>
            </a:r>
          </a:p>
          <a:p>
            <a:pPr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2) How can we measure the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economic impact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of refugees on host communities?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endParaRPr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" name="Shape 99"/>
          <p:cNvSpPr txBox="1"/>
          <p:nvPr/>
        </p:nvSpPr>
        <p:spPr>
          <a:xfrm>
            <a:off x="11147100" y="2454603"/>
            <a:ext cx="23066700" cy="1446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ct val="25000"/>
            </a:pPr>
            <a:r>
              <a:rPr lang="en-US" sz="15000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Integration of Refugees in Roanoke, Virginia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4969" y="39582281"/>
            <a:ext cx="3621185" cy="1589639"/>
          </a:xfrm>
          <a:prstGeom prst="rect">
            <a:avLst/>
          </a:prstGeom>
        </p:spPr>
      </p:pic>
      <p:sp>
        <p:nvSpPr>
          <p:cNvPr id="112" name="Shape 112"/>
          <p:cNvSpPr txBox="1"/>
          <p:nvPr/>
        </p:nvSpPr>
        <p:spPr>
          <a:xfrm>
            <a:off x="19020300" y="8902214"/>
            <a:ext cx="8951700" cy="17377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Assess the level of social integration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and community acceptance of refugees in Roanoke from local news Facebook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Pages</a:t>
            </a:r>
          </a:p>
          <a:p>
            <a:pPr marL="457200" lvl="0" indent="0" rtl="0">
              <a:lnSpc>
                <a:spcPts val="2020"/>
              </a:lnSpc>
              <a:spcBef>
                <a:spcPts val="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50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Sources: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The Roanoke Times, WSLS 10, </a:t>
            </a:r>
          </a:p>
          <a:p>
            <a:pPr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WFXR News </a:t>
            </a:r>
          </a:p>
          <a:p>
            <a:pPr lvl="0" indent="457200" algn="ctr" rtl="0">
              <a:spcBef>
                <a:spcPts val="500"/>
              </a:spcBef>
              <a:buNone/>
            </a:pP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12 articles, 3,329 comments</a:t>
            </a:r>
          </a:p>
          <a:p>
            <a:pPr lvl="0" rtl="0">
              <a:lnSpc>
                <a:spcPts val="2020"/>
              </a:lnSpc>
              <a:spcBef>
                <a:spcPts val="500"/>
              </a:spcBef>
              <a:buNone/>
            </a:pPr>
            <a:endParaRPr lang="en-US" sz="36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500"/>
              </a:spcBef>
              <a:buNone/>
            </a:pP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Key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Events:</a:t>
            </a:r>
          </a:p>
          <a:p>
            <a:pPr marL="457200" lvl="0" indent="-457200" rt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November, 2015: Mayor David Bowers requested that the City of Roanoke </a:t>
            </a:r>
            <a:b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suspend assistance to Syrian refugees </a:t>
            </a:r>
            <a:endParaRPr lang="en-US" sz="3600" dirty="0" smtClean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457200" rtl="0">
              <a:spcBef>
                <a:spcPts val="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First 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half of 2017: Coverage of recent</a:t>
            </a:r>
          </a:p>
          <a:p>
            <a:pPr lvl="0" indent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presidential policies on immigration</a:t>
            </a:r>
          </a:p>
          <a:p>
            <a:pPr lvl="0" rtl="0">
              <a:lnSpc>
                <a:spcPts val="2020"/>
              </a:lnSpc>
              <a:spcBef>
                <a:spcPts val="500"/>
              </a:spcBef>
              <a:buNone/>
            </a:pPr>
            <a:endParaRPr lang="en-US" sz="3600" b="1" dirty="0" smtClean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500"/>
              </a:spcBef>
              <a:buNone/>
            </a:pP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Categorizing these comments </a:t>
            </a:r>
          </a:p>
          <a:p>
            <a:pPr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into positive/negative was not </a:t>
            </a:r>
          </a:p>
          <a:p>
            <a:pPr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effective due to the wide variety of </a:t>
            </a:r>
          </a:p>
          <a:p>
            <a:pPr lvl="0" indent="457200" rtl="0">
              <a:spcBef>
                <a:spcPts val="50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sentiments present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3)</a:t>
            </a:r>
          </a:p>
          <a:p>
            <a:pPr lvl="0" rtl="0">
              <a:lnSpc>
                <a:spcPts val="2020"/>
              </a:lnSpc>
              <a:spcBef>
                <a:spcPts val="0"/>
              </a:spcBef>
              <a:buNone/>
            </a:pPr>
            <a:endParaRPr lang="en-US" sz="3600" b="1" dirty="0" smtClean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Used Latent </a:t>
            </a:r>
            <a:r>
              <a:rPr lang="en-US" sz="3600" dirty="0" err="1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Dirichlet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Allocation </a:t>
            </a:r>
          </a:p>
          <a:p>
            <a:pPr lvl="0" indent="45720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(LDA), a generative, unsupervised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model that allows a set of text observations to be clustered into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groups</a:t>
            </a:r>
          </a:p>
          <a:p>
            <a:pPr lvl="0" rtl="0">
              <a:lnSpc>
                <a:spcPts val="2020"/>
              </a:lnSpc>
              <a:spcBef>
                <a:spcPts val="0"/>
              </a:spcBef>
              <a:buNone/>
            </a:pPr>
            <a:endParaRPr lang="en-US" sz="3600" b="1" dirty="0" smtClean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600" b="1" dirty="0" smtClean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Chose four themed categories, 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with the top words per categories shown </a:t>
            </a:r>
            <a:r>
              <a:rPr lang="en-US" sz="36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(Figure 4)</a:t>
            </a:r>
          </a:p>
          <a:p>
            <a:pPr marL="457200" lvl="0" indent="-457200" rtl="0">
              <a:spcBef>
                <a:spcPts val="500"/>
              </a:spcBef>
              <a:buClr>
                <a:schemeClr val="dk2"/>
              </a:buClr>
              <a:buSzPct val="100000"/>
              <a:buFont typeface="Trebuchet MS"/>
              <a:buChar char="●"/>
            </a:pPr>
            <a:r>
              <a:rPr lang="en-US" sz="36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Possible themes: Mayor Bowers, welcome, nationalism,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592</Words>
  <Application>Microsoft Macintosh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Blanch Caps</vt:lpstr>
      <vt:lpstr>Calibri</vt:lpstr>
      <vt:lpstr>Trebuchet MS</vt:lpstr>
      <vt:lpstr>Arial</vt:lpstr>
      <vt:lpstr>Raleway</vt:lpstr>
      <vt:lpstr>Office Theme</vt:lpstr>
      <vt:lpstr>PowerPoint Presentation</vt:lpstr>
    </vt:vector>
  </TitlesOfParts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Gizem Korkmaz</cp:lastModifiedBy>
  <cp:revision>12</cp:revision>
  <cp:lastPrinted>2017-07-20T13:54:32Z</cp:lastPrinted>
  <dcterms:modified xsi:type="dcterms:W3CDTF">2017-07-26T16:05:25Z</dcterms:modified>
</cp:coreProperties>
</file>