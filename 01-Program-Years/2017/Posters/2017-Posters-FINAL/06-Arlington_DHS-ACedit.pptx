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6576000" cy="42062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4B9452-01D2-46C0-877C-A0FE18BB17F9}">
  <a:tblStyle styleId="{0F4B9452-01D2-46C0-877C-A0FE18BB17F9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034"/>
    <p:restoredTop sz="94728"/>
  </p:normalViewPr>
  <p:slideViewPr>
    <p:cSldViewPr snapToGrid="0" snapToObjects="1">
      <p:cViewPr>
        <p:scale>
          <a:sx n="40" d="100"/>
          <a:sy n="40" d="100"/>
        </p:scale>
        <p:origin x="26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43932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1938338" y="685800"/>
            <a:ext cx="29813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876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1" cy="4206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2743200" y="6883825"/>
            <a:ext cx="31089600" cy="146439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4572000" y="22092500"/>
            <a:ext cx="27432000" cy="101553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2495551" y="10486402"/>
            <a:ext cx="31546800" cy="174967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2495551" y="28148715"/>
            <a:ext cx="31546800" cy="92011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8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7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15544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18516600" y="11197167"/>
            <a:ext cx="15544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2519364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2519367" y="10311132"/>
            <a:ext cx="15473360" cy="505332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2519367" y="15364459"/>
            <a:ext cx="15473360" cy="225988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3"/>
          </p:nvPr>
        </p:nvSpPr>
        <p:spPr>
          <a:xfrm>
            <a:off x="18516601" y="10311132"/>
            <a:ext cx="15549563" cy="505332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4"/>
          </p:nvPr>
        </p:nvSpPr>
        <p:spPr>
          <a:xfrm>
            <a:off x="18516601" y="15364459"/>
            <a:ext cx="15549563" cy="225988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2519364" y="2804159"/>
            <a:ext cx="11796712" cy="98145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15549564" y="6056216"/>
            <a:ext cx="18516600" cy="298915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1016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203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2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2519364" y="2804159"/>
            <a:ext cx="11796712" cy="98145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5" name="Shape 65"/>
          <p:cNvSpPr>
            <a:spLocks noGrp="1"/>
          </p:cNvSpPr>
          <p:nvPr>
            <p:ph type="pic" idx="2"/>
          </p:nvPr>
        </p:nvSpPr>
        <p:spPr>
          <a:xfrm>
            <a:off x="15549564" y="6056216"/>
            <a:ext cx="18516600" cy="298915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 rot="5400000">
            <a:off x="4943896" y="8767869"/>
            <a:ext cx="26688205" cy="3154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 rot="5400000">
            <a:off x="12295083" y="16119052"/>
            <a:ext cx="35645939" cy="788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 rot="5400000">
            <a:off x="-3706918" y="8460952"/>
            <a:ext cx="35645939" cy="232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Shape 116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56" y="21349788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Shape 117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56" y="31484384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Shape 115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56" y="12369071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Shape 118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0756" y="12175403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Shape 86" descr="schema_part_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44037" y="13800044"/>
            <a:ext cx="17542476" cy="731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Shape 8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385" y="6227680"/>
            <a:ext cx="33546600" cy="18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Shape 88"/>
          <p:cNvSpPr txBox="1"/>
          <p:nvPr/>
        </p:nvSpPr>
        <p:spPr>
          <a:xfrm>
            <a:off x="11187046" y="1453037"/>
            <a:ext cx="23349300" cy="195005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US" sz="20000" dirty="0">
                <a:latin typeface="Blanch Caps" charset="0"/>
                <a:ea typeface="Blanch Caps" charset="0"/>
                <a:cs typeface="Blanch Caps" charset="0"/>
              </a:rPr>
              <a:t>HOW MANY CLIENTS DO WE </a:t>
            </a:r>
            <a:r>
              <a:rPr lang="en-US" sz="20000">
                <a:latin typeface="Blanch Caps" charset="0"/>
                <a:ea typeface="Blanch Caps" charset="0"/>
                <a:cs typeface="Blanch Caps" charset="0"/>
              </a:rPr>
              <a:t>SERVE</a:t>
            </a:r>
            <a:r>
              <a:rPr lang="en-US" sz="20000" smtClean="0">
                <a:latin typeface="Blanch Caps" charset="0"/>
                <a:ea typeface="Blanch Caps" charset="0"/>
                <a:cs typeface="Blanch Caps" charset="0"/>
              </a:rPr>
              <a:t>?</a:t>
            </a:r>
            <a:endParaRPr lang="en-US" sz="20000" dirty="0"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89" name="Shape 89"/>
          <p:cNvSpPr txBox="1"/>
          <p:nvPr/>
        </p:nvSpPr>
        <p:spPr>
          <a:xfrm>
            <a:off x="1849241" y="12369052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 smtClean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Problem Statement </a:t>
            </a:r>
            <a:endParaRPr lang="en-US" sz="4800" dirty="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Shape 90"/>
          <p:cNvSpPr txBox="1"/>
          <p:nvPr/>
        </p:nvSpPr>
        <p:spPr>
          <a:xfrm>
            <a:off x="1922399" y="13431962"/>
            <a:ext cx="16456038" cy="7062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609600" lvl="0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Each day, multiple clients utilize services offered by DHS</a:t>
            </a:r>
          </a:p>
          <a:p>
            <a:pPr marL="609600" lvl="0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 client may use more than one service on a given day, creating multiple records</a:t>
            </a:r>
          </a:p>
          <a:p>
            <a:pPr marL="609600" lvl="0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Arlington DHS client data 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are:</a:t>
            </a:r>
            <a:endParaRPr lang="en-US" sz="30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Stored across nine different systems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Operated by various service providers, from in-house to State and Federal contractors</a:t>
            </a:r>
          </a:p>
          <a:p>
            <a:pPr marL="609600" lvl="0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An individual appearing twice in a single system, or in multiple systems, may or may not have the same ID and demographics, due to clerical error</a:t>
            </a:r>
          </a:p>
          <a:p>
            <a:pPr marL="609600" lvl="0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To answer important questions below, we must identify unique clients: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On a given day, how many citizens 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does 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the DHS serve?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What are the demographics of the clients they are serving?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Could DHS be missing eligible individuals they can serve?</a:t>
            </a:r>
          </a:p>
          <a:p>
            <a:pPr marL="609600" lvl="0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Three systems for testing the method: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Web Vision : Behavioral Health for Children and Aging Population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ETO : Economic Independence Data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Anasazi : Community Service</a:t>
            </a:r>
          </a:p>
        </p:txBody>
      </p:sp>
      <p:sp>
        <p:nvSpPr>
          <p:cNvPr id="91" name="Shape 91"/>
          <p:cNvSpPr txBox="1"/>
          <p:nvPr/>
        </p:nvSpPr>
        <p:spPr>
          <a:xfrm>
            <a:off x="2074790" y="6318003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 smtClean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Motivation</a:t>
            </a:r>
            <a:endParaRPr lang="en-US" sz="4800" dirty="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" name="Shape 92"/>
          <p:cNvSpPr txBox="1"/>
          <p:nvPr/>
        </p:nvSpPr>
        <p:spPr>
          <a:xfrm>
            <a:off x="20147155" y="12104319"/>
            <a:ext cx="149571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 smtClean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Schematic for Merging the Three Systems</a:t>
            </a:r>
            <a:endParaRPr lang="en-US" sz="4800" dirty="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" name="Shape 93"/>
          <p:cNvSpPr txBox="1"/>
          <p:nvPr/>
        </p:nvSpPr>
        <p:spPr>
          <a:xfrm>
            <a:off x="1922392" y="23199944"/>
            <a:ext cx="12362700" cy="6186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600" b="0" i="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Shape 94"/>
          <p:cNvSpPr txBox="1"/>
          <p:nvPr/>
        </p:nvSpPr>
        <p:spPr>
          <a:xfrm>
            <a:off x="1918441" y="31552100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 smtClean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lang="en-US" sz="4800" dirty="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2046175" y="32689800"/>
            <a:ext cx="8570834" cy="5965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Trebuchet MS"/>
              <a:buNone/>
            </a:pPr>
            <a:r>
              <a:rPr lang="en-US" sz="28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from an </a:t>
            </a:r>
            <a:r>
              <a:rPr lang="en-US" sz="2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 run on Web Vision </a:t>
            </a:r>
            <a:r>
              <a:rPr lang="en-US" sz="28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with our </a:t>
            </a:r>
            <a:r>
              <a:rPr lang="en-US" sz="2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weights and </a:t>
            </a:r>
            <a:r>
              <a:rPr lang="en-US" sz="28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thresholds:</a:t>
            </a:r>
            <a:endParaRPr lang="en-US" sz="28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endParaRPr sz="28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Trebuchet MS"/>
              <a:buNone/>
            </a:pPr>
            <a:r>
              <a:rPr lang="en-US" sz="2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Out of ~64,000 administrative records: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endParaRPr sz="2800" b="1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2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25,745 have repeated system IDs</a:t>
            </a:r>
          </a:p>
          <a:p>
            <a:pPr marL="914400" marR="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2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reduced to 18,222, removing 7,523 duplicated rows, and merged demographic variables</a:t>
            </a: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2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105 instances of different system IDs pairs</a:t>
            </a:r>
          </a:p>
          <a:p>
            <a:pPr marL="914400" marR="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2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reduced to 70, removing 35 duplicated system IDs</a:t>
            </a: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28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Clerical review on those below threshold score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20161690" y="31015631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 smtClean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Next Steps</a:t>
            </a:r>
            <a:endParaRPr lang="en-US" sz="4800" dirty="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20068650" y="32183694"/>
            <a:ext cx="12362700" cy="4878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914400" marR="0" lvl="0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Running deduplication process on Anasazi and ETO systems</a:t>
            </a:r>
          </a:p>
          <a:p>
            <a:pPr marL="914400" marR="0" lvl="0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Finalizing weights that work for all three systems</a:t>
            </a:r>
          </a:p>
          <a:p>
            <a:pPr marL="914400" marR="0" lvl="0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Calculating weights for additional social service systems</a:t>
            </a:r>
          </a:p>
          <a:p>
            <a:pPr marL="914400" marR="0" lvl="0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Testing automated weight calculation</a:t>
            </a:r>
          </a:p>
          <a:p>
            <a:pPr marL="1371600" marR="0" lvl="1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Epiweights</a:t>
            </a:r>
            <a:endParaRPr lang="en-US" sz="30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371600" marR="0" lvl="1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EM algorithm</a:t>
            </a:r>
          </a:p>
          <a:p>
            <a:pPr marL="914400" marR="0" lvl="0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Testing automated thresholding</a:t>
            </a:r>
          </a:p>
          <a:p>
            <a:pPr marL="1371600" marR="0" lvl="1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○"/>
            </a:pPr>
            <a:r>
              <a:rPr lang="en-US" sz="30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Epiweights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marL="914400" marR="0" lvl="0" indent="-51206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Comparing automated results with manual inspection</a:t>
            </a:r>
          </a:p>
        </p:txBody>
      </p:sp>
      <p:sp>
        <p:nvSpPr>
          <p:cNvPr id="99" name="Shape 99"/>
          <p:cNvSpPr txBox="1"/>
          <p:nvPr/>
        </p:nvSpPr>
        <p:spPr>
          <a:xfrm>
            <a:off x="11187032" y="4854826"/>
            <a:ext cx="23349314" cy="14452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dirty="0" err="1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Zarni</a:t>
            </a:r>
            <a:r>
              <a:rPr lang="en-US" sz="3200" dirty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200" dirty="0" err="1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Htet</a:t>
            </a:r>
            <a:r>
              <a:rPr lang="en-US" sz="3200" dirty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(NYU) and Sayali Phadke (PSU) with Aaron Schroeder (SDAL</a:t>
            </a:r>
            <a:r>
              <a:rPr lang="en-US" sz="3200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),</a:t>
            </a:r>
          </a:p>
          <a:p>
            <a:pPr>
              <a:buSzPct val="25000"/>
            </a:pPr>
            <a:r>
              <a:rPr lang="en-US" sz="3200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Anita Friedman, Martha Coelho, Michael-Dharma Irwin, </a:t>
            </a:r>
            <a:r>
              <a:rPr lang="en-US" sz="3200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Biljana</a:t>
            </a:r>
            <a:r>
              <a:rPr lang="en-US" sz="3200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200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Culibrk</a:t>
            </a:r>
            <a:r>
              <a:rPr lang="en-US" sz="3200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, and </a:t>
            </a:r>
            <a:r>
              <a:rPr lang="en-US" sz="3200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Meheret</a:t>
            </a:r>
            <a:r>
              <a:rPr lang="en-US" sz="3200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200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Asfaw</a:t>
            </a:r>
            <a:r>
              <a:rPr lang="en-US" sz="3200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(Arlington DHS)</a:t>
            </a:r>
            <a:endParaRPr lang="en-US" sz="3200" dirty="0"/>
          </a:p>
          <a:p>
            <a:pPr>
              <a:buSzPct val="25000"/>
            </a:pPr>
            <a:endParaRPr lang="en-US" sz="3200" dirty="0">
              <a:solidFill>
                <a:srgbClr val="7F7F7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100" name="Shape 100"/>
          <p:cNvGraphicFramePr/>
          <p:nvPr>
            <p:extLst>
              <p:ext uri="{D42A27DB-BD31-4B8C-83A1-F6EECF244321}">
                <p14:modId xmlns:p14="http://schemas.microsoft.com/office/powerpoint/2010/main" val="1409670704"/>
              </p:ext>
            </p:extLst>
          </p:nvPr>
        </p:nvGraphicFramePr>
        <p:xfrm>
          <a:off x="18639693" y="7709767"/>
          <a:ext cx="10118775" cy="3825700"/>
        </p:xfrm>
        <a:graphic>
          <a:graphicData uri="http://schemas.openxmlformats.org/drawingml/2006/table">
            <a:tbl>
              <a:tblPr>
                <a:noFill/>
                <a:tableStyleId>{0F4B9452-01D2-46C0-877C-A0FE18BB17F9}</a:tableStyleId>
              </a:tblPr>
              <a:tblGrid>
                <a:gridCol w="3243725"/>
                <a:gridCol w="3082650"/>
                <a:gridCol w="2213075"/>
                <a:gridCol w="1579325"/>
              </a:tblGrid>
              <a:tr h="7760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Name (Sys1)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SSN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DOB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Gender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7760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Sayali Phadke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123-45-6789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10/19/1990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0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Zarni Htet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456-78-8901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05/25/1991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</a:tr>
              <a:tr h="81445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Aaron Schroedner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789-01-2345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03/07/1975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0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Zarni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rgbClr val="000000"/>
                        </a:buClr>
                        <a:buSzPct val="39285"/>
                        <a:buFont typeface="Arial"/>
                        <a:buNone/>
                      </a:pPr>
                      <a:r>
                        <a:rPr lang="en-US" sz="28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456-78-8901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rgbClr val="000000"/>
                        </a:buClr>
                        <a:buSzPct val="39285"/>
                        <a:buFont typeface="Arial"/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05/25/1991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" name="Shape 101"/>
          <p:cNvGraphicFramePr/>
          <p:nvPr>
            <p:extLst>
              <p:ext uri="{D42A27DB-BD31-4B8C-83A1-F6EECF244321}">
                <p14:modId xmlns:p14="http://schemas.microsoft.com/office/powerpoint/2010/main" val="1507635075"/>
              </p:ext>
            </p:extLst>
          </p:nvPr>
        </p:nvGraphicFramePr>
        <p:xfrm>
          <a:off x="2415533" y="7632894"/>
          <a:ext cx="9956200" cy="2945420"/>
        </p:xfrm>
        <a:graphic>
          <a:graphicData uri="http://schemas.openxmlformats.org/drawingml/2006/table">
            <a:tbl>
              <a:tblPr>
                <a:noFill/>
                <a:tableStyleId>{0F4B9452-01D2-46C0-877C-A0FE18BB17F9}</a:tableStyleId>
              </a:tblPr>
              <a:tblGrid>
                <a:gridCol w="2403500"/>
                <a:gridCol w="2113650"/>
                <a:gridCol w="2210250"/>
                <a:gridCol w="1566125"/>
                <a:gridCol w="1662675"/>
              </a:tblGrid>
              <a:tr h="479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Name (Sys2)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SSN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DOB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Gender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b="1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Zipcode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7583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Lata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NA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rgbClr val="000000"/>
                        </a:buClr>
                        <a:buSzPct val="39285"/>
                        <a:buFont typeface="Arial"/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10/19/1990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22203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0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Htet Zarni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NA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05/27/1991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22202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</a:tr>
              <a:tr h="7955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Claire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789013445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--/07/1975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2800" dirty="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22203</a:t>
                      </a:r>
                    </a:p>
                  </a:txBody>
                  <a:tcPr marL="121900" marR="121900" marT="121900" marB="121900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" name="Shape 102"/>
          <p:cNvSpPr txBox="1"/>
          <p:nvPr/>
        </p:nvSpPr>
        <p:spPr>
          <a:xfrm>
            <a:off x="2046165" y="21445371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 smtClean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Methodology</a:t>
            </a:r>
            <a:endParaRPr lang="en-US" sz="4800" dirty="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" name="Shape 103"/>
          <p:cNvSpPr txBox="1"/>
          <p:nvPr/>
        </p:nvSpPr>
        <p:spPr>
          <a:xfrm>
            <a:off x="2415524" y="10802060"/>
            <a:ext cx="16462876" cy="1573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539750" lvl="0" indent="-476250" rt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 a single system, clerical errors and misspellings result 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 duplicates</a:t>
            </a:r>
          </a:p>
          <a:p>
            <a:pPr marL="539750" lvl="0" indent="-476250" rt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Across systems, field requirements and conventions are different; shared IDs do not exist</a:t>
            </a:r>
            <a:endParaRPr lang="en-US" sz="30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28593925" y="9465332"/>
            <a:ext cx="1884600" cy="19863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5" name="Shape 105"/>
          <p:cNvSpPr txBox="1"/>
          <p:nvPr/>
        </p:nvSpPr>
        <p:spPr>
          <a:xfrm>
            <a:off x="10143425" y="33615025"/>
            <a:ext cx="5434500" cy="3170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2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Shape 106"/>
          <p:cNvSpPr txBox="1"/>
          <p:nvPr/>
        </p:nvSpPr>
        <p:spPr>
          <a:xfrm>
            <a:off x="28863005" y="7709757"/>
            <a:ext cx="5606236" cy="1754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Is this the same “</a:t>
            </a:r>
            <a:r>
              <a:rPr lang="en-US" sz="30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Zarni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”? If so, how would we determine it?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12505575" y="7673532"/>
            <a:ext cx="5768400" cy="244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If records do not have unique IDs and exact matching fails, how do we link across multiple systems to find records for the same person?</a:t>
            </a:r>
          </a:p>
        </p:txBody>
      </p:sp>
      <p:sp>
        <p:nvSpPr>
          <p:cNvPr id="108" name="Shape 108"/>
          <p:cNvSpPr/>
          <p:nvPr/>
        </p:nvSpPr>
        <p:spPr>
          <a:xfrm>
            <a:off x="14050812" y="10002219"/>
            <a:ext cx="3011700" cy="111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18878400" y="19496894"/>
            <a:ext cx="2373000" cy="1429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Master demographic table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19678675" y="14591694"/>
            <a:ext cx="2475300" cy="186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Demographic tables contain new ID paired with old IDs</a:t>
            </a:r>
          </a:p>
        </p:txBody>
      </p:sp>
      <p:sp>
        <p:nvSpPr>
          <p:cNvPr id="111" name="Shape 111"/>
          <p:cNvSpPr txBox="1"/>
          <p:nvPr/>
        </p:nvSpPr>
        <p:spPr>
          <a:xfrm>
            <a:off x="5583500" y="28712579"/>
            <a:ext cx="5957100" cy="70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2800">
              <a:solidFill>
                <a:srgbClr val="FF0000"/>
              </a:solidFill>
            </a:endParaRPr>
          </a:p>
        </p:txBody>
      </p:sp>
      <p:sp>
        <p:nvSpPr>
          <p:cNvPr id="112" name="Shape 112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13" name="Shape 113"/>
          <p:cNvSpPr txBox="1"/>
          <p:nvPr/>
        </p:nvSpPr>
        <p:spPr>
          <a:xfrm>
            <a:off x="20340932" y="37762631"/>
            <a:ext cx="15810525" cy="98751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b="1" dirty="0">
                <a:latin typeface="Trebuchet MS"/>
                <a:ea typeface="Trebuchet MS"/>
                <a:cs typeface="Trebuchet MS"/>
                <a:sym typeface="Trebuchet MS"/>
              </a:rPr>
              <a:t>Citations:</a:t>
            </a:r>
          </a:p>
          <a:p>
            <a:pPr marL="457200" lvl="0" indent="-342900" rtl="0">
              <a:spcBef>
                <a:spcPts val="0"/>
              </a:spcBef>
              <a:buSzPct val="100000"/>
              <a:buFont typeface="Trebuchet MS"/>
              <a:buAutoNum type="arabicPeriod"/>
            </a:pPr>
            <a:r>
              <a:rPr lang="en-US" sz="1800" dirty="0" err="1">
                <a:latin typeface="Trebuchet MS"/>
                <a:ea typeface="Trebuchet MS"/>
                <a:cs typeface="Trebuchet MS"/>
                <a:sym typeface="Trebuchet MS"/>
              </a:rPr>
              <a:t>Fellegi</a:t>
            </a:r>
            <a:r>
              <a:rPr lang="en-US" sz="1800" dirty="0">
                <a:latin typeface="Trebuchet MS"/>
                <a:ea typeface="Trebuchet MS"/>
                <a:cs typeface="Trebuchet MS"/>
                <a:sym typeface="Trebuchet MS"/>
              </a:rPr>
              <a:t>, I. P., &amp; </a:t>
            </a:r>
            <a:r>
              <a:rPr lang="en-US" sz="1800" dirty="0" err="1">
                <a:latin typeface="Trebuchet MS"/>
                <a:ea typeface="Trebuchet MS"/>
                <a:cs typeface="Trebuchet MS"/>
                <a:sym typeface="Trebuchet MS"/>
              </a:rPr>
              <a:t>Sunter</a:t>
            </a:r>
            <a:r>
              <a:rPr lang="en-US" sz="1800" dirty="0">
                <a:latin typeface="Trebuchet MS"/>
                <a:ea typeface="Trebuchet MS"/>
                <a:cs typeface="Trebuchet MS"/>
                <a:sym typeface="Trebuchet MS"/>
              </a:rPr>
              <a:t>, A. B. (1969). A theory for record linkage. Journal of the American Statistical Association, 64(328), 1183-1210.</a:t>
            </a:r>
          </a:p>
        </p:txBody>
      </p:sp>
      <p:pic>
        <p:nvPicPr>
          <p:cNvPr id="119" name="Shape 119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0756" y="30996803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Shape 120" descr="schema_part_tw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53400" y="21552716"/>
            <a:ext cx="10642781" cy="48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Shape 121" descr="schema_part_thre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872475" y="26952856"/>
            <a:ext cx="13506450" cy="3838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Shape 122"/>
          <p:cNvCxnSpPr/>
          <p:nvPr/>
        </p:nvCxnSpPr>
        <p:spPr>
          <a:xfrm flipH="1">
            <a:off x="25090990" y="21171716"/>
            <a:ext cx="1555200" cy="14697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123" name="Shape 123" descr="Screen Shot 2017-07-19 at 9.15.48 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0208" y="28728369"/>
            <a:ext cx="8907158" cy="2744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Shape 124"/>
          <p:cNvSpPr txBox="1"/>
          <p:nvPr/>
        </p:nvSpPr>
        <p:spPr>
          <a:xfrm>
            <a:off x="18383325" y="29592644"/>
            <a:ext cx="347400" cy="328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25" name="Shape 125" descr="Screen Shot 2017-07-19 at 9.26.48 PM.png"/>
          <p:cNvPicPr preferRelativeResize="0"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59051" y="28879735"/>
            <a:ext cx="12524013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Shape 114" descr="ggfinals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281647" y="31330024"/>
            <a:ext cx="7432722" cy="742012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Shape 98"/>
          <p:cNvSpPr txBox="1"/>
          <p:nvPr/>
        </p:nvSpPr>
        <p:spPr>
          <a:xfrm>
            <a:off x="1849249" y="22590380"/>
            <a:ext cx="17453296" cy="588128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609600" lvl="0" indent="-495300" rtl="0">
              <a:lnSpc>
                <a:spcPct val="114000"/>
              </a:lnSpc>
              <a:buClr>
                <a:schemeClr val="dk2"/>
              </a:buClr>
              <a:buSzPct val="100000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Probabilistic Linkage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 method to determine whether two items are the same, even if they do not match exactly due to different specification, or spelling error etc.</a:t>
            </a:r>
          </a:p>
          <a:p>
            <a:pPr marL="609600" lvl="0" indent="-495300" rtl="0">
              <a:lnSpc>
                <a:spcPct val="114000"/>
              </a:lnSpc>
              <a:buClr>
                <a:schemeClr val="dk2"/>
              </a:buClr>
              <a:buSzPct val="100000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Each column is given two weights: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 probability (quality/reliability) </a:t>
            </a:r>
          </a:p>
          <a:p>
            <a:pPr marL="1828800" lvl="2" indent="-495300" rtl="0">
              <a:lnSpc>
                <a:spcPct val="114000"/>
              </a:lnSpc>
              <a:buClr>
                <a:schemeClr val="dk2"/>
              </a:buClr>
              <a:buSzPct val="100000"/>
              <a:buChar char="■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Determines how well a record has been documented</a:t>
            </a:r>
          </a:p>
          <a:p>
            <a:pPr marL="1219200" lvl="1" indent="-495300" rtl="0">
              <a:lnSpc>
                <a:spcPct val="114000"/>
              </a:lnSpc>
              <a:buClr>
                <a:schemeClr val="dk2"/>
              </a:buClr>
              <a:buSzPct val="100000"/>
              <a:buChar char="○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U probability (commonness)</a:t>
            </a:r>
          </a:p>
          <a:p>
            <a:pPr marL="1828800" lvl="2" indent="-495300" rtl="0">
              <a:lnSpc>
                <a:spcPct val="114000"/>
              </a:lnSpc>
              <a:buClr>
                <a:schemeClr val="dk2"/>
              </a:buClr>
              <a:buSzPct val="100000"/>
              <a:buChar char="■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Determines the commonness of a 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column</a:t>
            </a:r>
          </a:p>
          <a:p>
            <a:pPr marL="609600" indent="-495300">
              <a:lnSpc>
                <a:spcPct val="114000"/>
              </a:lnSpc>
              <a:buClr>
                <a:schemeClr val="dk2"/>
              </a:buClr>
              <a:buSzPct val="100000"/>
              <a:buFontTx/>
              <a:buChar char="●"/>
            </a:pP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Composite 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Weight 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Scores</a:t>
            </a:r>
          </a:p>
          <a:p>
            <a:pPr marL="1219200" lvl="1" indent="-495300">
              <a:lnSpc>
                <a:spcPct val="114000"/>
              </a:lnSpc>
              <a:buClr>
                <a:schemeClr val="dk2"/>
              </a:buClr>
              <a:buSzPct val="100000"/>
              <a:buChar char="○"/>
            </a:pP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Agreement on 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 given column calculated using </a:t>
            </a:r>
            <a:r>
              <a:rPr lang="en-US" sz="30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Jaro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Winkler distance between 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strings</a:t>
            </a:r>
          </a:p>
          <a:p>
            <a:pPr marL="1219200" lvl="1" indent="-495300">
              <a:lnSpc>
                <a:spcPct val="114000"/>
              </a:lnSpc>
              <a:buClr>
                <a:schemeClr val="dk2"/>
              </a:buClr>
              <a:buSzPct val="100000"/>
              <a:buChar char="○"/>
            </a:pP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Weights are aggregated using probability of linkage formula below (</a:t>
            </a:r>
            <a:r>
              <a:rPr lang="en-US" sz="3000" dirty="0" err="1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Fellegi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lang="en-US" sz="3000" dirty="0" err="1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Sunter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, 1969)</a:t>
            </a:r>
            <a:endParaRPr sz="2800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rtl="0">
              <a:lnSpc>
                <a:spcPct val="114000"/>
              </a:lnSpc>
              <a:buNone/>
            </a:pPr>
            <a:endParaRPr sz="2800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Shape 88"/>
          <p:cNvSpPr txBox="1"/>
          <p:nvPr/>
        </p:nvSpPr>
        <p:spPr>
          <a:xfrm>
            <a:off x="11187046" y="3150424"/>
            <a:ext cx="23349300" cy="195005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lnSpc>
                <a:spcPct val="70000"/>
              </a:lnSpc>
              <a:buSzPct val="25000"/>
            </a:pPr>
            <a:r>
              <a:rPr lang="en-US" sz="14000" dirty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Arlington Department of Human Services (DHS)</a:t>
            </a:r>
            <a:endParaRPr lang="en-US" sz="1400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545" y="39582281"/>
            <a:ext cx="3621185" cy="15896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579</Words>
  <Application>Microsoft Macintosh PowerPoint</Application>
  <PresentationFormat>Custom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Blanch Caps</vt:lpstr>
      <vt:lpstr>Calibri</vt:lpstr>
      <vt:lpstr>Trebuchet MS</vt:lpstr>
      <vt:lpstr>Arial</vt:lpstr>
      <vt:lpstr>Raleway</vt:lpstr>
      <vt:lpstr>Office Theme</vt:lpstr>
      <vt:lpstr>PowerPoint Presentation</vt:lpstr>
    </vt:vector>
  </TitlesOfParts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xandershanks@yahoo.com</cp:lastModifiedBy>
  <cp:revision>12</cp:revision>
  <cp:lastPrinted>2017-07-20T15:13:39Z</cp:lastPrinted>
  <dcterms:modified xsi:type="dcterms:W3CDTF">2017-07-21T14:42:34Z</dcterms:modified>
</cp:coreProperties>
</file>