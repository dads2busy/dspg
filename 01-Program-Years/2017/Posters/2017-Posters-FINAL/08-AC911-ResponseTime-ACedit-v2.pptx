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emf" ContentType="image/x-emf"/>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36576000" cy="42062400"/>
  <p:notesSz cx="6858000" cy="9144000"/>
  <p:defaultTextStyle>
    <a:defPPr>
      <a:defRPr lang="en-US"/>
    </a:defPPr>
    <a:lvl1pPr marL="0" algn="l" defTabSz="3774643" rtl="0" eaLnBrk="1" latinLnBrk="0" hangingPunct="1">
      <a:defRPr sz="7430" kern="1200">
        <a:solidFill>
          <a:schemeClr val="tx1"/>
        </a:solidFill>
        <a:latin typeface="+mn-lt"/>
        <a:ea typeface="+mn-ea"/>
        <a:cs typeface="+mn-cs"/>
      </a:defRPr>
    </a:lvl1pPr>
    <a:lvl2pPr marL="1887322" algn="l" defTabSz="3774643" rtl="0" eaLnBrk="1" latinLnBrk="0" hangingPunct="1">
      <a:defRPr sz="7430" kern="1200">
        <a:solidFill>
          <a:schemeClr val="tx1"/>
        </a:solidFill>
        <a:latin typeface="+mn-lt"/>
        <a:ea typeface="+mn-ea"/>
        <a:cs typeface="+mn-cs"/>
      </a:defRPr>
    </a:lvl2pPr>
    <a:lvl3pPr marL="3774643" algn="l" defTabSz="3774643" rtl="0" eaLnBrk="1" latinLnBrk="0" hangingPunct="1">
      <a:defRPr sz="7430" kern="1200">
        <a:solidFill>
          <a:schemeClr val="tx1"/>
        </a:solidFill>
        <a:latin typeface="+mn-lt"/>
        <a:ea typeface="+mn-ea"/>
        <a:cs typeface="+mn-cs"/>
      </a:defRPr>
    </a:lvl3pPr>
    <a:lvl4pPr marL="5661965" algn="l" defTabSz="3774643" rtl="0" eaLnBrk="1" latinLnBrk="0" hangingPunct="1">
      <a:defRPr sz="7430" kern="1200">
        <a:solidFill>
          <a:schemeClr val="tx1"/>
        </a:solidFill>
        <a:latin typeface="+mn-lt"/>
        <a:ea typeface="+mn-ea"/>
        <a:cs typeface="+mn-cs"/>
      </a:defRPr>
    </a:lvl4pPr>
    <a:lvl5pPr marL="7549286" algn="l" defTabSz="3774643" rtl="0" eaLnBrk="1" latinLnBrk="0" hangingPunct="1">
      <a:defRPr sz="7430" kern="1200">
        <a:solidFill>
          <a:schemeClr val="tx1"/>
        </a:solidFill>
        <a:latin typeface="+mn-lt"/>
        <a:ea typeface="+mn-ea"/>
        <a:cs typeface="+mn-cs"/>
      </a:defRPr>
    </a:lvl5pPr>
    <a:lvl6pPr marL="9436608" algn="l" defTabSz="3774643" rtl="0" eaLnBrk="1" latinLnBrk="0" hangingPunct="1">
      <a:defRPr sz="7430" kern="1200">
        <a:solidFill>
          <a:schemeClr val="tx1"/>
        </a:solidFill>
        <a:latin typeface="+mn-lt"/>
        <a:ea typeface="+mn-ea"/>
        <a:cs typeface="+mn-cs"/>
      </a:defRPr>
    </a:lvl6pPr>
    <a:lvl7pPr marL="11323930" algn="l" defTabSz="3774643" rtl="0" eaLnBrk="1" latinLnBrk="0" hangingPunct="1">
      <a:defRPr sz="7430" kern="1200">
        <a:solidFill>
          <a:schemeClr val="tx1"/>
        </a:solidFill>
        <a:latin typeface="+mn-lt"/>
        <a:ea typeface="+mn-ea"/>
        <a:cs typeface="+mn-cs"/>
      </a:defRPr>
    </a:lvl7pPr>
    <a:lvl8pPr marL="13211251" algn="l" defTabSz="3774643" rtl="0" eaLnBrk="1" latinLnBrk="0" hangingPunct="1">
      <a:defRPr sz="7430" kern="1200">
        <a:solidFill>
          <a:schemeClr val="tx1"/>
        </a:solidFill>
        <a:latin typeface="+mn-lt"/>
        <a:ea typeface="+mn-ea"/>
        <a:cs typeface="+mn-cs"/>
      </a:defRPr>
    </a:lvl8pPr>
    <a:lvl9pPr marL="15098573" algn="l" defTabSz="3774643" rtl="0" eaLnBrk="1" latinLnBrk="0" hangingPunct="1">
      <a:defRPr sz="743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1F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6432"/>
    <p:restoredTop sz="92920"/>
  </p:normalViewPr>
  <p:slideViewPr>
    <p:cSldViewPr snapToGrid="0" snapToObjects="1">
      <p:cViewPr>
        <p:scale>
          <a:sx n="35" d="100"/>
          <a:sy n="35" d="100"/>
        </p:scale>
        <p:origin x="1640" y="-4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08AAF-6C4E-224A-9B9C-5DFF6E95C89D}" type="datetimeFigureOut">
              <a:rPr lang="en-US" smtClean="0"/>
              <a:t>7/21/17</a:t>
            </a:fld>
            <a:endParaRPr lang="en-US"/>
          </a:p>
        </p:txBody>
      </p:sp>
      <p:sp>
        <p:nvSpPr>
          <p:cNvPr id="4" name="Slide Image Placeholder 3"/>
          <p:cNvSpPr>
            <a:spLocks noGrp="1" noRot="1" noChangeAspect="1"/>
          </p:cNvSpPr>
          <p:nvPr>
            <p:ph type="sldImg" idx="2"/>
          </p:nvPr>
        </p:nvSpPr>
        <p:spPr>
          <a:xfrm>
            <a:off x="2087563" y="1143000"/>
            <a:ext cx="26828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49A7E8-E5C7-404B-803E-D183888F4333}" type="slidenum">
              <a:rPr lang="en-US" smtClean="0"/>
              <a:t>‹#›</a:t>
            </a:fld>
            <a:endParaRPr lang="en-US"/>
          </a:p>
        </p:txBody>
      </p:sp>
    </p:spTree>
    <p:extLst>
      <p:ext uri="{BB962C8B-B14F-4D97-AF65-F5344CB8AC3E}">
        <p14:creationId xmlns:p14="http://schemas.microsoft.com/office/powerpoint/2010/main" val="667731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charset="0"/>
              <a:buNone/>
            </a:pPr>
            <a:r>
              <a:rPr lang="en-US" dirty="0" smtClean="0"/>
              <a:t>INTRO</a:t>
            </a:r>
          </a:p>
          <a:p>
            <a:pPr marL="171450" indent="-171450">
              <a:buFont typeface="Arial" charset="0"/>
              <a:buChar char="•"/>
            </a:pPr>
            <a:r>
              <a:rPr lang="en-US" dirty="0" smtClean="0"/>
              <a:t>Turnout</a:t>
            </a:r>
            <a:r>
              <a:rPr lang="en-US" baseline="0" dirty="0" smtClean="0"/>
              <a:t> objectives:</a:t>
            </a:r>
          </a:p>
          <a:p>
            <a:pPr marL="628650" lvl="1" indent="-171450">
              <a:buFont typeface="Arial" charset="0"/>
              <a:buChar char="•"/>
            </a:pPr>
            <a:r>
              <a:rPr lang="en-US" baseline="0" dirty="0" smtClean="0"/>
              <a:t>80 seconds for fire response</a:t>
            </a:r>
          </a:p>
          <a:p>
            <a:pPr marL="628650" lvl="1" indent="-171450">
              <a:buFont typeface="Arial" charset="0"/>
              <a:buChar char="•"/>
            </a:pPr>
            <a:r>
              <a:rPr lang="en-US" baseline="0" dirty="0" smtClean="0"/>
              <a:t>60 seconds for EMS response</a:t>
            </a:r>
          </a:p>
          <a:p>
            <a:pPr marL="171450" lvl="0" indent="-171450">
              <a:buFont typeface="Arial" charset="0"/>
              <a:buChar char="•"/>
            </a:pPr>
            <a:r>
              <a:rPr lang="en-US" baseline="0" dirty="0" smtClean="0"/>
              <a:t>Travel objectives:</a:t>
            </a:r>
          </a:p>
          <a:p>
            <a:pPr marL="628650" lvl="1" indent="-171450">
              <a:buFont typeface="Arial" charset="0"/>
              <a:buChar char="•"/>
            </a:pPr>
            <a:r>
              <a:rPr lang="en-US" baseline="0" dirty="0" smtClean="0"/>
              <a:t>240 seconds for arrival of first-arriving engine at </a:t>
            </a:r>
            <a:r>
              <a:rPr lang="en-US" baseline="0" smtClean="0"/>
              <a:t>fire incident (4 minutes)</a:t>
            </a:r>
            <a:endParaRPr lang="en-US" baseline="0" dirty="0" smtClean="0"/>
          </a:p>
          <a:p>
            <a:pPr marL="628650" lvl="1" indent="-171450">
              <a:buFont typeface="Arial" charset="0"/>
              <a:buChar char="•"/>
            </a:pPr>
            <a:r>
              <a:rPr lang="en-US" baseline="0" dirty="0" smtClean="0"/>
              <a:t>480 seconds for everyone at fire incident (non-high rise)</a:t>
            </a:r>
          </a:p>
          <a:p>
            <a:pPr marL="628650" lvl="1" indent="-171450">
              <a:buFont typeface="Arial" charset="0"/>
              <a:buChar char="•"/>
            </a:pPr>
            <a:r>
              <a:rPr lang="en-US" baseline="0" dirty="0" smtClean="0"/>
              <a:t>610 seconds for everyone at fire incident (high rise)</a:t>
            </a:r>
          </a:p>
          <a:p>
            <a:pPr marL="628650" lvl="1" indent="-171450">
              <a:buFont typeface="Arial" charset="0"/>
              <a:buChar char="•"/>
            </a:pPr>
            <a:r>
              <a:rPr lang="en-US" baseline="0" dirty="0" smtClean="0"/>
              <a:t>240 seconds for arrival of unit with automatic external defibrillator (AED) or higher capability at emergency medical incident</a:t>
            </a:r>
          </a:p>
          <a:p>
            <a:pPr marL="628650" lvl="1" indent="-171450">
              <a:buFont typeface="Arial" charset="0"/>
              <a:buChar char="•"/>
            </a:pPr>
            <a:r>
              <a:rPr lang="en-US" baseline="0" dirty="0" smtClean="0"/>
              <a:t>480 seconds for arrival of advanced life support (ALS) unit at emergency medical incident</a:t>
            </a:r>
          </a:p>
          <a:p>
            <a:pPr marL="171450" indent="-171450">
              <a:buFont typeface="Arial" charset="0"/>
              <a:buChar char="•"/>
            </a:pPr>
            <a:endParaRPr lang="en-US" baseline="0" dirty="0" smtClean="0"/>
          </a:p>
          <a:p>
            <a:pPr marL="0" indent="0">
              <a:buFont typeface="Arial" charset="0"/>
              <a:buNone/>
            </a:pPr>
            <a:r>
              <a:rPr lang="en-US" baseline="0" dirty="0" smtClean="0"/>
              <a:t>DATA</a:t>
            </a:r>
          </a:p>
          <a:p>
            <a:pPr marL="171450" indent="-171450">
              <a:buFont typeface="Arial" charset="0"/>
              <a:buChar char="•"/>
              <a:defRPr/>
            </a:pPr>
            <a:r>
              <a:rPr lang="en-US" sz="1200" dirty="0" smtClean="0">
                <a:solidFill>
                  <a:srgbClr val="141F22"/>
                </a:solidFill>
                <a:latin typeface="Trebuchet MS" charset="0"/>
                <a:ea typeface="Trebuchet MS" charset="0"/>
                <a:cs typeface="Trebuchet MS" charset="0"/>
              </a:rPr>
              <a:t>The model excludes non-SF CAD call types and </a:t>
            </a:r>
          </a:p>
          <a:p>
            <a:pPr marL="171450" indent="-171450">
              <a:buFont typeface="Arial" charset="0"/>
              <a:buChar char="•"/>
              <a:defRPr/>
            </a:pPr>
            <a:r>
              <a:rPr lang="en-US" sz="1200" dirty="0" smtClean="0">
                <a:solidFill>
                  <a:srgbClr val="141F22"/>
                </a:solidFill>
                <a:latin typeface="Trebuchet MS" charset="0"/>
                <a:ea typeface="Trebuchet MS" charset="0"/>
                <a:cs typeface="Trebuchet MS" charset="0"/>
              </a:rPr>
              <a:t>turnout times longer than 10 minutes (only 0.13% of the data).</a:t>
            </a:r>
          </a:p>
          <a:p>
            <a:pPr marL="171450" indent="-171450">
              <a:buFont typeface="Arial" charset="0"/>
              <a:buChar char="•"/>
              <a:defRPr/>
            </a:pPr>
            <a:endParaRPr lang="en-US" sz="1200" dirty="0" smtClean="0">
              <a:solidFill>
                <a:srgbClr val="141F22"/>
              </a:solidFill>
              <a:latin typeface="Trebuchet MS" charset="0"/>
              <a:ea typeface="Trebuchet MS" charset="0"/>
              <a:cs typeface="Trebuchet MS" charset="0"/>
            </a:endParaRPr>
          </a:p>
          <a:p>
            <a:pPr marL="0" indent="0">
              <a:buFont typeface="Arial" charset="0"/>
              <a:buNone/>
              <a:defRPr/>
            </a:pPr>
            <a:r>
              <a:rPr lang="en-US" sz="1200" dirty="0" smtClean="0">
                <a:solidFill>
                  <a:srgbClr val="141F22"/>
                </a:solidFill>
                <a:latin typeface="Trebuchet MS" charset="0"/>
                <a:ea typeface="Trebuchet MS" charset="0"/>
                <a:cs typeface="Trebuchet MS" charset="0"/>
              </a:rPr>
              <a:t>DESCRIPTIVE</a:t>
            </a:r>
            <a:r>
              <a:rPr lang="en-US" sz="1200" baseline="0" dirty="0" smtClean="0">
                <a:solidFill>
                  <a:srgbClr val="141F22"/>
                </a:solidFill>
                <a:latin typeface="Trebuchet MS" charset="0"/>
                <a:ea typeface="Trebuchet MS" charset="0"/>
                <a:cs typeface="Trebuchet MS" charset="0"/>
              </a:rPr>
              <a:t> ANALYSIS</a:t>
            </a:r>
          </a:p>
          <a:p>
            <a:pPr marL="171450" indent="-171450">
              <a:buFont typeface="Arial" charset="0"/>
              <a:buChar char="•"/>
              <a:defRPr/>
            </a:pPr>
            <a:endParaRPr lang="en-US" sz="1200" dirty="0" smtClean="0">
              <a:solidFill>
                <a:srgbClr val="141F22"/>
              </a:solidFill>
              <a:latin typeface="Trebuchet MS" charset="0"/>
              <a:ea typeface="Trebuchet MS" charset="0"/>
              <a:cs typeface="Trebuchet MS" charset="0"/>
            </a:endParaRPr>
          </a:p>
          <a:p>
            <a:pPr marL="171450" indent="-171450">
              <a:buFont typeface="Arial" charset="0"/>
              <a:buChar char="•"/>
              <a:defRPr/>
            </a:pPr>
            <a:endParaRPr lang="en-US" sz="1200" dirty="0" smtClean="0">
              <a:solidFill>
                <a:srgbClr val="141F22"/>
              </a:solidFill>
              <a:latin typeface="Trebuchet MS" charset="0"/>
              <a:ea typeface="Trebuchet MS" charset="0"/>
              <a:cs typeface="Trebuchet MS" charset="0"/>
            </a:endParaRPr>
          </a:p>
          <a:p>
            <a:pPr marL="0" indent="0">
              <a:buFont typeface="Arial" charset="0"/>
              <a:buNone/>
              <a:defRPr/>
            </a:pPr>
            <a:r>
              <a:rPr lang="en-US" sz="1200" dirty="0" smtClean="0">
                <a:solidFill>
                  <a:srgbClr val="141F22"/>
                </a:solidFill>
                <a:latin typeface="Trebuchet MS" charset="0"/>
                <a:ea typeface="Trebuchet MS" charset="0"/>
                <a:cs typeface="Trebuchet MS" charset="0"/>
              </a:rPr>
              <a:t>TURNOUT</a:t>
            </a:r>
            <a:r>
              <a:rPr lang="en-US" sz="1200" baseline="0" dirty="0" smtClean="0">
                <a:solidFill>
                  <a:srgbClr val="141F22"/>
                </a:solidFill>
                <a:latin typeface="Trebuchet MS" charset="0"/>
                <a:ea typeface="Trebuchet MS" charset="0"/>
                <a:cs typeface="Trebuchet MS" charset="0"/>
              </a:rPr>
              <a:t> TIME MODEL</a:t>
            </a:r>
          </a:p>
          <a:p>
            <a:pPr marL="0" indent="0">
              <a:buFont typeface="Arial" charset="0"/>
              <a:buNone/>
              <a:defRPr/>
            </a:pPr>
            <a:r>
              <a:rPr lang="en-US" sz="1200" baseline="0" dirty="0" smtClean="0">
                <a:solidFill>
                  <a:srgbClr val="141F22"/>
                </a:solidFill>
                <a:latin typeface="Trebuchet MS" charset="0"/>
                <a:ea typeface="Trebuchet MS" charset="0"/>
                <a:cs typeface="Trebuchet MS" charset="0"/>
              </a:rPr>
              <a:t>lm7 &lt;- lm(data=turnout, (</a:t>
            </a:r>
            <a:r>
              <a:rPr lang="en-US" sz="1200" baseline="0" dirty="0" err="1" smtClean="0">
                <a:solidFill>
                  <a:srgbClr val="141F22"/>
                </a:solidFill>
                <a:latin typeface="Trebuchet MS" charset="0"/>
                <a:ea typeface="Trebuchet MS" charset="0"/>
                <a:cs typeface="Trebuchet MS" charset="0"/>
              </a:rPr>
              <a:t>turnouttimeVT</a:t>
            </a:r>
            <a:r>
              <a:rPr lang="en-US" sz="1200" baseline="0" dirty="0" smtClean="0">
                <a:solidFill>
                  <a:srgbClr val="141F22"/>
                </a:solidFill>
                <a:latin typeface="Trebuchet MS" charset="0"/>
                <a:ea typeface="Trebuchet MS" charset="0"/>
                <a:cs typeface="Trebuchet MS" charset="0"/>
              </a:rPr>
              <a:t>)^(1/3) ~            </a:t>
            </a:r>
            <a:r>
              <a:rPr lang="en-US" sz="1200" baseline="0" dirty="0" err="1" smtClean="0">
                <a:solidFill>
                  <a:srgbClr val="141F22"/>
                </a:solidFill>
                <a:latin typeface="Trebuchet MS" charset="0"/>
                <a:ea typeface="Trebuchet MS" charset="0"/>
                <a:cs typeface="Trebuchet MS" charset="0"/>
              </a:rPr>
              <a:t>bs</a:t>
            </a:r>
            <a:r>
              <a:rPr lang="en-US" sz="1200" baseline="0" dirty="0" smtClean="0">
                <a:solidFill>
                  <a:srgbClr val="141F22"/>
                </a:solidFill>
                <a:latin typeface="Trebuchet MS" charset="0"/>
                <a:ea typeface="Trebuchet MS" charset="0"/>
                <a:cs typeface="Trebuchet MS" charset="0"/>
              </a:rPr>
              <a:t>(</a:t>
            </a:r>
            <a:r>
              <a:rPr lang="en-US" sz="1200" baseline="0" dirty="0" err="1" smtClean="0">
                <a:solidFill>
                  <a:srgbClr val="141F22"/>
                </a:solidFill>
                <a:latin typeface="Trebuchet MS" charset="0"/>
                <a:ea typeface="Trebuchet MS" charset="0"/>
                <a:cs typeface="Trebuchet MS" charset="0"/>
              </a:rPr>
              <a:t>hour_frac</a:t>
            </a:r>
            <a:r>
              <a:rPr lang="en-US" sz="1200" baseline="0" dirty="0" smtClean="0">
                <a:solidFill>
                  <a:srgbClr val="141F22"/>
                </a:solidFill>
                <a:latin typeface="Trebuchet MS" charset="0"/>
                <a:ea typeface="Trebuchet MS" charset="0"/>
                <a:cs typeface="Trebuchet MS" charset="0"/>
              </a:rPr>
              <a:t>, degree = 3, </a:t>
            </a:r>
            <a:r>
              <a:rPr lang="en-US" sz="1200" baseline="0" dirty="0" err="1" smtClean="0">
                <a:solidFill>
                  <a:srgbClr val="141F22"/>
                </a:solidFill>
                <a:latin typeface="Trebuchet MS" charset="0"/>
                <a:ea typeface="Trebuchet MS" charset="0"/>
                <a:cs typeface="Trebuchet MS" charset="0"/>
              </a:rPr>
              <a:t>df</a:t>
            </a:r>
            <a:r>
              <a:rPr lang="en-US" sz="1200" baseline="0" dirty="0" smtClean="0">
                <a:solidFill>
                  <a:srgbClr val="141F22"/>
                </a:solidFill>
                <a:latin typeface="Trebuchet MS" charset="0"/>
                <a:ea typeface="Trebuchet MS" charset="0"/>
                <a:cs typeface="Trebuchet MS" charset="0"/>
              </a:rPr>
              <a:t> = 5) +            </a:t>
            </a:r>
            <a:r>
              <a:rPr lang="en-US" sz="1200" baseline="0" dirty="0" err="1" smtClean="0">
                <a:solidFill>
                  <a:srgbClr val="141F22"/>
                </a:solidFill>
                <a:latin typeface="Trebuchet MS" charset="0"/>
                <a:ea typeface="Trebuchet MS" charset="0"/>
                <a:cs typeface="Trebuchet MS" charset="0"/>
              </a:rPr>
              <a:t>bs</a:t>
            </a:r>
            <a:r>
              <a:rPr lang="en-US" sz="1200" baseline="0" dirty="0" smtClean="0">
                <a:solidFill>
                  <a:srgbClr val="141F22"/>
                </a:solidFill>
                <a:latin typeface="Trebuchet MS" charset="0"/>
                <a:ea typeface="Trebuchet MS" charset="0"/>
                <a:cs typeface="Trebuchet MS" charset="0"/>
              </a:rPr>
              <a:t>(</a:t>
            </a:r>
            <a:r>
              <a:rPr lang="en-US" sz="1200" baseline="0" dirty="0" err="1" smtClean="0">
                <a:solidFill>
                  <a:srgbClr val="141F22"/>
                </a:solidFill>
                <a:latin typeface="Trebuchet MS" charset="0"/>
                <a:ea typeface="Trebuchet MS" charset="0"/>
                <a:cs typeface="Trebuchet MS" charset="0"/>
              </a:rPr>
              <a:t>year_frac</a:t>
            </a:r>
            <a:r>
              <a:rPr lang="en-US" sz="1200" baseline="0" dirty="0" smtClean="0">
                <a:solidFill>
                  <a:srgbClr val="141F22"/>
                </a:solidFill>
                <a:latin typeface="Trebuchet MS" charset="0"/>
                <a:ea typeface="Trebuchet MS" charset="0"/>
                <a:cs typeface="Trebuchet MS" charset="0"/>
              </a:rPr>
              <a:t>, degree = 3, </a:t>
            </a:r>
            <a:r>
              <a:rPr lang="en-US" sz="1200" baseline="0" dirty="0" err="1" smtClean="0">
                <a:solidFill>
                  <a:srgbClr val="141F22"/>
                </a:solidFill>
                <a:latin typeface="Trebuchet MS" charset="0"/>
                <a:ea typeface="Trebuchet MS" charset="0"/>
                <a:cs typeface="Trebuchet MS" charset="0"/>
              </a:rPr>
              <a:t>df</a:t>
            </a:r>
            <a:r>
              <a:rPr lang="en-US" sz="1200" baseline="0" dirty="0" smtClean="0">
                <a:solidFill>
                  <a:srgbClr val="141F22"/>
                </a:solidFill>
                <a:latin typeface="Trebuchet MS" charset="0"/>
                <a:ea typeface="Trebuchet MS" charset="0"/>
                <a:cs typeface="Trebuchet MS" charset="0"/>
              </a:rPr>
              <a:t> = 7) +            </a:t>
            </a:r>
            <a:r>
              <a:rPr lang="en-US" sz="1200" baseline="0" dirty="0" err="1" smtClean="0">
                <a:solidFill>
                  <a:srgbClr val="141F22"/>
                </a:solidFill>
                <a:latin typeface="Trebuchet MS" charset="0"/>
                <a:ea typeface="Trebuchet MS" charset="0"/>
                <a:cs typeface="Trebuchet MS" charset="0"/>
              </a:rPr>
              <a:t>bs</a:t>
            </a:r>
            <a:r>
              <a:rPr lang="en-US" sz="1200" baseline="0" dirty="0" smtClean="0">
                <a:solidFill>
                  <a:srgbClr val="141F22"/>
                </a:solidFill>
                <a:latin typeface="Trebuchet MS" charset="0"/>
                <a:ea typeface="Trebuchet MS" charset="0"/>
                <a:cs typeface="Trebuchet MS" charset="0"/>
              </a:rPr>
              <a:t>(</a:t>
            </a:r>
            <a:r>
              <a:rPr lang="en-US" sz="1200" baseline="0" dirty="0" err="1" smtClean="0">
                <a:solidFill>
                  <a:srgbClr val="141F22"/>
                </a:solidFill>
                <a:latin typeface="Trebuchet MS" charset="0"/>
                <a:ea typeface="Trebuchet MS" charset="0"/>
                <a:cs typeface="Trebuchet MS" charset="0"/>
              </a:rPr>
              <a:t>monthVT</a:t>
            </a:r>
            <a:r>
              <a:rPr lang="en-US" sz="1200" baseline="0" dirty="0" smtClean="0">
                <a:solidFill>
                  <a:srgbClr val="141F22"/>
                </a:solidFill>
                <a:latin typeface="Trebuchet MS" charset="0"/>
                <a:ea typeface="Trebuchet MS" charset="0"/>
                <a:cs typeface="Trebuchet MS" charset="0"/>
              </a:rPr>
              <a:t>, degree = 3, </a:t>
            </a:r>
            <a:r>
              <a:rPr lang="en-US" sz="1200" baseline="0" dirty="0" err="1" smtClean="0">
                <a:solidFill>
                  <a:srgbClr val="141F22"/>
                </a:solidFill>
                <a:latin typeface="Trebuchet MS" charset="0"/>
                <a:ea typeface="Trebuchet MS" charset="0"/>
                <a:cs typeface="Trebuchet MS" charset="0"/>
              </a:rPr>
              <a:t>df</a:t>
            </a:r>
            <a:r>
              <a:rPr lang="en-US" sz="1200" baseline="0" dirty="0" smtClean="0">
                <a:solidFill>
                  <a:srgbClr val="141F22"/>
                </a:solidFill>
                <a:latin typeface="Trebuchet MS" charset="0"/>
                <a:ea typeface="Trebuchet MS" charset="0"/>
                <a:cs typeface="Trebuchet MS" charset="0"/>
              </a:rPr>
              <a:t> = 7) +            </a:t>
            </a:r>
            <a:r>
              <a:rPr lang="en-US" sz="1200" baseline="0" dirty="0" err="1" smtClean="0">
                <a:solidFill>
                  <a:srgbClr val="141F22"/>
                </a:solidFill>
                <a:latin typeface="Trebuchet MS" charset="0"/>
                <a:ea typeface="Trebuchet MS" charset="0"/>
                <a:cs typeface="Trebuchet MS" charset="0"/>
              </a:rPr>
              <a:t>fapparatus</a:t>
            </a:r>
            <a:r>
              <a:rPr lang="en-US" sz="1200" baseline="0" dirty="0" smtClean="0">
                <a:solidFill>
                  <a:srgbClr val="141F22"/>
                </a:solidFill>
                <a:latin typeface="Trebuchet MS" charset="0"/>
                <a:ea typeface="Trebuchet MS" charset="0"/>
                <a:cs typeface="Trebuchet MS" charset="0"/>
              </a:rPr>
              <a:t> +            </a:t>
            </a:r>
            <a:r>
              <a:rPr lang="en-US" sz="1200" baseline="0" dirty="0" err="1" smtClean="0">
                <a:solidFill>
                  <a:srgbClr val="141F22"/>
                </a:solidFill>
                <a:latin typeface="Trebuchet MS" charset="0"/>
                <a:ea typeface="Trebuchet MS" charset="0"/>
                <a:cs typeface="Trebuchet MS" charset="0"/>
              </a:rPr>
              <a:t>fstation</a:t>
            </a:r>
            <a:r>
              <a:rPr lang="en-US" sz="1200" baseline="0" dirty="0" smtClean="0">
                <a:solidFill>
                  <a:srgbClr val="141F22"/>
                </a:solidFill>
                <a:latin typeface="Trebuchet MS" charset="0"/>
                <a:ea typeface="Trebuchet MS" charset="0"/>
                <a:cs typeface="Trebuchet MS" charset="0"/>
              </a:rPr>
              <a:t>)</a:t>
            </a:r>
          </a:p>
          <a:p>
            <a:pPr marL="171450" indent="-171450">
              <a:buFont typeface="Arial" charset="0"/>
              <a:buChar char="•"/>
              <a:defRPr/>
            </a:pPr>
            <a:endParaRPr lang="en-US" sz="1200" dirty="0">
              <a:solidFill>
                <a:srgbClr val="141F22"/>
              </a:solidFill>
              <a:latin typeface="Trebuchet MS" charset="0"/>
              <a:ea typeface="Trebuchet MS" charset="0"/>
              <a:cs typeface="Trebuchet MS" charset="0"/>
            </a:endParaRPr>
          </a:p>
        </p:txBody>
      </p:sp>
      <p:sp>
        <p:nvSpPr>
          <p:cNvPr id="4" name="Slide Number Placeholder 3"/>
          <p:cNvSpPr>
            <a:spLocks noGrp="1"/>
          </p:cNvSpPr>
          <p:nvPr>
            <p:ph type="sldNum" sz="quarter" idx="10"/>
          </p:nvPr>
        </p:nvSpPr>
        <p:spPr/>
        <p:txBody>
          <a:bodyPr/>
          <a:lstStyle/>
          <a:p>
            <a:fld id="{2C49A7E8-E5C7-404B-803E-D183888F4333}" type="slidenum">
              <a:rPr lang="en-US" smtClean="0"/>
              <a:t>1</a:t>
            </a:fld>
            <a:endParaRPr lang="en-US"/>
          </a:p>
        </p:txBody>
      </p:sp>
    </p:spTree>
    <p:extLst>
      <p:ext uri="{BB962C8B-B14F-4D97-AF65-F5344CB8AC3E}">
        <p14:creationId xmlns:p14="http://schemas.microsoft.com/office/powerpoint/2010/main" val="1965937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6883826"/>
            <a:ext cx="31089600" cy="14643947"/>
          </a:xfrm>
        </p:spPr>
        <p:txBody>
          <a:bodyPr anchor="b"/>
          <a:lstStyle>
            <a:lvl1pPr algn="ctr">
              <a:defRPr sz="24000"/>
            </a:lvl1pPr>
          </a:lstStyle>
          <a:p>
            <a:r>
              <a:rPr lang="en-US" smtClean="0"/>
              <a:t>Click to edit Master title style</a:t>
            </a:r>
            <a:endParaRPr lang="en-US" dirty="0"/>
          </a:p>
        </p:txBody>
      </p:sp>
      <p:sp>
        <p:nvSpPr>
          <p:cNvPr id="3" name="Subtitle 2"/>
          <p:cNvSpPr>
            <a:spLocks noGrp="1"/>
          </p:cNvSpPr>
          <p:nvPr>
            <p:ph type="subTitle" idx="1"/>
          </p:nvPr>
        </p:nvSpPr>
        <p:spPr>
          <a:xfrm>
            <a:off x="4572000" y="22092500"/>
            <a:ext cx="27432000" cy="10155340"/>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64064C1-B353-8145-9E0D-8C1E1A5522AC}" type="datetimeFigureOut">
              <a:rPr lang="en-US" smtClean="0"/>
              <a:t>7/21/17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78CD70-5C8C-C840-A212-0CD80A20E3F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64064C1-B353-8145-9E0D-8C1E1A5522AC}" type="datetimeFigureOut">
              <a:rPr lang="en-US" smtClean="0"/>
              <a:t>7/21/17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78CD70-5C8C-C840-A212-0CD80A20E3F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10486402"/>
            <a:ext cx="31546800" cy="17496787"/>
          </a:xfrm>
        </p:spPr>
        <p:txBody>
          <a:bodyPr anchor="b"/>
          <a:lstStyle>
            <a:lvl1pPr>
              <a:defRPr sz="24000"/>
            </a:lvl1pPr>
          </a:lstStyle>
          <a:p>
            <a:r>
              <a:rPr lang="en-US" smtClean="0"/>
              <a:t>Click to edit Master title style</a:t>
            </a:r>
            <a:endParaRPr lang="en-US" dirty="0"/>
          </a:p>
        </p:txBody>
      </p:sp>
      <p:sp>
        <p:nvSpPr>
          <p:cNvPr id="3" name="Text Placeholder 2"/>
          <p:cNvSpPr>
            <a:spLocks noGrp="1"/>
          </p:cNvSpPr>
          <p:nvPr>
            <p:ph type="body" idx="1"/>
          </p:nvPr>
        </p:nvSpPr>
        <p:spPr>
          <a:xfrm>
            <a:off x="2495552" y="28148716"/>
            <a:ext cx="31546800" cy="9201147"/>
          </a:xfrm>
        </p:spPr>
        <p:txBody>
          <a:bodyPr/>
          <a:lstStyle>
            <a:lvl1pPr marL="0" indent="0">
              <a:buNone/>
              <a:defRPr sz="9600">
                <a:solidFill>
                  <a:schemeClr val="tx1"/>
                </a:solidFill>
              </a:defRPr>
            </a:lvl1pPr>
            <a:lvl2pPr marL="1828800" indent="0">
              <a:buNone/>
              <a:defRPr sz="8000">
                <a:solidFill>
                  <a:schemeClr val="tx1">
                    <a:tint val="75000"/>
                  </a:schemeClr>
                </a:solidFill>
              </a:defRPr>
            </a:lvl2pPr>
            <a:lvl3pPr marL="3657600" indent="0">
              <a:buNone/>
              <a:defRPr sz="7200">
                <a:solidFill>
                  <a:schemeClr val="tx1">
                    <a:tint val="75000"/>
                  </a:schemeClr>
                </a:solidFill>
              </a:defRPr>
            </a:lvl3pPr>
            <a:lvl4pPr marL="5486400" indent="0">
              <a:buNone/>
              <a:defRPr sz="6400">
                <a:solidFill>
                  <a:schemeClr val="tx1">
                    <a:tint val="75000"/>
                  </a:schemeClr>
                </a:solidFill>
              </a:defRPr>
            </a:lvl4pPr>
            <a:lvl5pPr marL="7315200" indent="0">
              <a:buNone/>
              <a:defRPr sz="6400">
                <a:solidFill>
                  <a:schemeClr val="tx1">
                    <a:tint val="75000"/>
                  </a:schemeClr>
                </a:solidFill>
              </a:defRPr>
            </a:lvl5pPr>
            <a:lvl6pPr marL="9144000" indent="0">
              <a:buNone/>
              <a:defRPr sz="6400">
                <a:solidFill>
                  <a:schemeClr val="tx1">
                    <a:tint val="75000"/>
                  </a:schemeClr>
                </a:solidFill>
              </a:defRPr>
            </a:lvl6pPr>
            <a:lvl7pPr marL="10972800" indent="0">
              <a:buNone/>
              <a:defRPr sz="6400">
                <a:solidFill>
                  <a:schemeClr val="tx1">
                    <a:tint val="75000"/>
                  </a:schemeClr>
                </a:solidFill>
              </a:defRPr>
            </a:lvl7pPr>
            <a:lvl8pPr marL="12801600" indent="0">
              <a:buNone/>
              <a:defRPr sz="6400">
                <a:solidFill>
                  <a:schemeClr val="tx1">
                    <a:tint val="75000"/>
                  </a:schemeClr>
                </a:solidFill>
              </a:defRPr>
            </a:lvl8pPr>
            <a:lvl9pPr marL="14630400" indent="0">
              <a:buNone/>
              <a:defRPr sz="6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64064C1-B353-8145-9E0D-8C1E1A5522AC}" type="datetimeFigureOut">
              <a:rPr lang="en-US" smtClean="0"/>
              <a:t>7/21/17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78CD70-5C8C-C840-A212-0CD80A20E3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14600" y="11197167"/>
            <a:ext cx="15544800" cy="266882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18516600" y="11197167"/>
            <a:ext cx="15544800" cy="266882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64064C1-B353-8145-9E0D-8C1E1A5522AC}" type="datetimeFigureOut">
              <a:rPr lang="en-US" smtClean="0"/>
              <a:t>7/21/17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78CD70-5C8C-C840-A212-0CD80A20E3F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239442"/>
            <a:ext cx="31546800" cy="8130120"/>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519368" y="10311133"/>
            <a:ext cx="15473360" cy="5053327"/>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smtClean="0"/>
              <a:t>Click to edit Master text styles</a:t>
            </a:r>
          </a:p>
        </p:txBody>
      </p:sp>
      <p:sp>
        <p:nvSpPr>
          <p:cNvPr id="4" name="Content Placeholder 3"/>
          <p:cNvSpPr>
            <a:spLocks noGrp="1"/>
          </p:cNvSpPr>
          <p:nvPr>
            <p:ph sz="half" idx="2"/>
          </p:nvPr>
        </p:nvSpPr>
        <p:spPr>
          <a:xfrm>
            <a:off x="2519368" y="15364460"/>
            <a:ext cx="15473360" cy="225988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8516602" y="10311133"/>
            <a:ext cx="15549564" cy="5053327"/>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smtClean="0"/>
              <a:t>Click to edit Master text styles</a:t>
            </a:r>
          </a:p>
        </p:txBody>
      </p:sp>
      <p:sp>
        <p:nvSpPr>
          <p:cNvPr id="6" name="Content Placeholder 5"/>
          <p:cNvSpPr>
            <a:spLocks noGrp="1"/>
          </p:cNvSpPr>
          <p:nvPr>
            <p:ph sz="quarter" idx="4"/>
          </p:nvPr>
        </p:nvSpPr>
        <p:spPr>
          <a:xfrm>
            <a:off x="18516602" y="15364460"/>
            <a:ext cx="15549564" cy="225988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64064C1-B353-8145-9E0D-8C1E1A5522AC}" type="datetimeFigureOut">
              <a:rPr lang="en-US" smtClean="0"/>
              <a:t>7/21/17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78CD70-5C8C-C840-A212-0CD80A20E3F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64064C1-B353-8145-9E0D-8C1E1A5522AC}" type="datetimeFigureOut">
              <a:rPr lang="en-US" smtClean="0"/>
              <a:t>7/21/17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78CD70-5C8C-C840-A212-0CD80A20E3F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4064C1-B353-8145-9E0D-8C1E1A5522AC}" type="datetimeFigureOut">
              <a:rPr lang="en-US" smtClean="0"/>
              <a:t>7/21/17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78CD70-5C8C-C840-A212-0CD80A20E3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804160"/>
            <a:ext cx="11796712" cy="9814560"/>
          </a:xfrm>
        </p:spPr>
        <p:txBody>
          <a:bodyPr anchor="b"/>
          <a:lstStyle>
            <a:lvl1pPr>
              <a:defRPr sz="12800"/>
            </a:lvl1pPr>
          </a:lstStyle>
          <a:p>
            <a:r>
              <a:rPr lang="en-US" smtClean="0"/>
              <a:t>Click to edit Master title style</a:t>
            </a:r>
            <a:endParaRPr lang="en-US" dirty="0"/>
          </a:p>
        </p:txBody>
      </p:sp>
      <p:sp>
        <p:nvSpPr>
          <p:cNvPr id="3" name="Content Placeholder 2"/>
          <p:cNvSpPr>
            <a:spLocks noGrp="1"/>
          </p:cNvSpPr>
          <p:nvPr>
            <p:ph idx="1"/>
          </p:nvPr>
        </p:nvSpPr>
        <p:spPr>
          <a:xfrm>
            <a:off x="15549564" y="6056216"/>
            <a:ext cx="18516600" cy="29891567"/>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19364" y="12618720"/>
            <a:ext cx="11796712" cy="23377740"/>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4064C1-B353-8145-9E0D-8C1E1A5522AC}" type="datetimeFigureOut">
              <a:rPr lang="en-US" smtClean="0"/>
              <a:t>7/21/17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78CD70-5C8C-C840-A212-0CD80A20E3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804160"/>
            <a:ext cx="11796712" cy="9814560"/>
          </a:xfrm>
        </p:spPr>
        <p:txBody>
          <a:bodyPr anchor="b"/>
          <a:lstStyle>
            <a:lvl1pPr>
              <a:defRPr sz="1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549564" y="6056216"/>
            <a:ext cx="18516600" cy="29891567"/>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2519364" y="12618720"/>
            <a:ext cx="11796712" cy="23377740"/>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4064C1-B353-8145-9E0D-8C1E1A5522AC}" type="datetimeFigureOut">
              <a:rPr lang="en-US" smtClean="0"/>
              <a:t>7/21/17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78CD70-5C8C-C840-A212-0CD80A20E3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64064C1-B353-8145-9E0D-8C1E1A5522AC}" type="datetimeFigureOut">
              <a:rPr lang="en-US" smtClean="0"/>
              <a:t>7/21/17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78CD70-5C8C-C840-A212-0CD80A20E3F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2239433"/>
            <a:ext cx="7886700" cy="3564594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14602" y="2239433"/>
            <a:ext cx="23202900" cy="3564594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64064C1-B353-8145-9E0D-8C1E1A5522AC}" type="datetimeFigureOut">
              <a:rPr lang="en-US" smtClean="0"/>
              <a:t>7/21/17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78CD70-5C8C-C840-A212-0CD80A20E3F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42062400"/>
          </a:xfrm>
          <a:prstGeom prst="rect">
            <a:avLst/>
          </a:prstGeom>
        </p:spPr>
      </p:pic>
    </p:spTree>
    <p:extLst>
      <p:ext uri="{BB962C8B-B14F-4D97-AF65-F5344CB8AC3E}">
        <p14:creationId xmlns:p14="http://schemas.microsoft.com/office/powerpoint/2010/main" val="152137066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2239442"/>
            <a:ext cx="31546800" cy="813012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14600" y="11197167"/>
            <a:ext cx="31546800" cy="2668820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514600" y="38985623"/>
            <a:ext cx="8229600" cy="2239433"/>
          </a:xfrm>
          <a:prstGeom prst="rect">
            <a:avLst/>
          </a:prstGeom>
        </p:spPr>
        <p:txBody>
          <a:bodyPr vert="horz" lIns="91440" tIns="45720" rIns="91440" bIns="45720" rtlCol="0" anchor="ctr"/>
          <a:lstStyle>
            <a:lvl1pPr algn="l">
              <a:defRPr sz="4800">
                <a:solidFill>
                  <a:schemeClr val="tx1">
                    <a:tint val="75000"/>
                  </a:schemeClr>
                </a:solidFill>
              </a:defRPr>
            </a:lvl1pPr>
          </a:lstStyle>
          <a:p>
            <a:fld id="{264064C1-B353-8145-9E0D-8C1E1A5522AC}" type="datetimeFigureOut">
              <a:rPr lang="en-US" smtClean="0"/>
              <a:t>7/21/17</a:t>
            </a:fld>
            <a:endParaRPr lang="en-US"/>
          </a:p>
        </p:txBody>
      </p:sp>
      <p:sp>
        <p:nvSpPr>
          <p:cNvPr id="5" name="Footer Placeholder 4"/>
          <p:cNvSpPr>
            <a:spLocks noGrp="1"/>
          </p:cNvSpPr>
          <p:nvPr>
            <p:ph type="ftr" sz="quarter" idx="3"/>
          </p:nvPr>
        </p:nvSpPr>
        <p:spPr>
          <a:xfrm>
            <a:off x="12115800" y="38985623"/>
            <a:ext cx="12344400" cy="2239433"/>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8985623"/>
            <a:ext cx="8229600" cy="2239433"/>
          </a:xfrm>
          <a:prstGeom prst="rect">
            <a:avLst/>
          </a:prstGeom>
        </p:spPr>
        <p:txBody>
          <a:bodyPr vert="horz" lIns="91440" tIns="45720" rIns="91440" bIns="45720" rtlCol="0" anchor="ctr"/>
          <a:lstStyle>
            <a:lvl1pPr algn="r">
              <a:defRPr sz="4800">
                <a:solidFill>
                  <a:schemeClr val="tx1">
                    <a:tint val="75000"/>
                  </a:schemeClr>
                </a:solidFill>
              </a:defRPr>
            </a:lvl1pPr>
          </a:lstStyle>
          <a:p>
            <a:fld id="{F378CD70-5C8C-C840-A212-0CD80A20E3F7}" type="slidenum">
              <a:rPr lang="en-US" smtClean="0"/>
              <a:t>‹#›</a:t>
            </a:fld>
            <a:endParaRPr lang="en-US"/>
          </a:p>
        </p:txBody>
      </p:sp>
    </p:spTree>
    <p:extLst>
      <p:ext uri="{BB962C8B-B14F-4D97-AF65-F5344CB8AC3E}">
        <p14:creationId xmlns:p14="http://schemas.microsoft.com/office/powerpoint/2010/main" val="13115543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jp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emf"/><Relationship Id="rId8" Type="http://schemas.openxmlformats.org/officeDocument/2006/relationships/image" Target="../media/image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3">
            <a:extLst>
              <a:ext uri="{28A0092B-C50C-407E-A947-70E740481C1C}">
                <a14:useLocalDpi xmlns:a14="http://schemas.microsoft.com/office/drawing/2010/main" val="0"/>
              </a:ext>
            </a:extLst>
          </a:blip>
          <a:srcRect b="6476"/>
          <a:stretch/>
        </p:blipFill>
        <p:spPr>
          <a:xfrm>
            <a:off x="16902907" y="9952116"/>
            <a:ext cx="8966280" cy="424541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81134" y="14209571"/>
            <a:ext cx="6635289" cy="5537723"/>
          </a:xfrm>
          <a:prstGeom prst="rect">
            <a:avLst/>
          </a:prstGeom>
        </p:spPr>
      </p:pic>
      <p:sp>
        <p:nvSpPr>
          <p:cNvPr id="56" name="TextBox 55"/>
          <p:cNvSpPr txBox="1"/>
          <p:nvPr/>
        </p:nvSpPr>
        <p:spPr>
          <a:xfrm>
            <a:off x="20541628" y="14150786"/>
            <a:ext cx="1576846" cy="461665"/>
          </a:xfrm>
          <a:prstGeom prst="rect">
            <a:avLst/>
          </a:prstGeom>
          <a:solidFill>
            <a:schemeClr val="bg1"/>
          </a:solidFill>
        </p:spPr>
        <p:txBody>
          <a:bodyPr wrap="square" rtlCol="0">
            <a:spAutoFit/>
          </a:bodyPr>
          <a:lstStyle/>
          <a:p>
            <a:pPr algn="ctr">
              <a:spcAft>
                <a:spcPts val="1000"/>
              </a:spcAft>
            </a:pPr>
            <a:r>
              <a:rPr lang="en-US" sz="2400" dirty="0" smtClean="0">
                <a:latin typeface="Trebuchet MS" charset="0"/>
                <a:ea typeface="Trebuchet MS" charset="0"/>
                <a:cs typeface="Trebuchet MS" charset="0"/>
              </a:rPr>
              <a:t>Hour</a:t>
            </a:r>
            <a:endParaRPr lang="en-US" sz="2400" dirty="0">
              <a:latin typeface="Trebuchet MS" charset="0"/>
              <a:ea typeface="Trebuchet MS" charset="0"/>
              <a:cs typeface="Trebuchet MS" charset="0"/>
            </a:endParaRPr>
          </a:p>
        </p:txBody>
      </p:sp>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6799474" y="14689976"/>
            <a:ext cx="8854288" cy="448911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rotWithShape="1">
          <a:blip r:embed="rId6">
            <a:extLst>
              <a:ext uri="{28A0092B-C50C-407E-A947-70E740481C1C}">
                <a14:useLocalDpi xmlns:a14="http://schemas.microsoft.com/office/drawing/2010/main" val="0"/>
              </a:ext>
            </a:extLst>
          </a:blip>
          <a:srcRect r="822"/>
          <a:stretch/>
        </p:blipFill>
        <p:spPr>
          <a:xfrm>
            <a:off x="17567198" y="23308936"/>
            <a:ext cx="17617100" cy="5645064"/>
          </a:xfrm>
          <a:prstGeom prst="rect">
            <a:avLst/>
          </a:prstGeom>
        </p:spPr>
      </p:pic>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793" y="6026926"/>
            <a:ext cx="34233346" cy="1977865"/>
          </a:xfrm>
          <a:prstGeom prst="rect">
            <a:avLst/>
          </a:prstGeom>
        </p:spPr>
      </p:pic>
      <p:pic>
        <p:nvPicPr>
          <p:cNvPr id="16" name="Picture 1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81670" y="16323647"/>
            <a:ext cx="16489266" cy="1986330"/>
          </a:xfrm>
          <a:prstGeom prst="rect">
            <a:avLst/>
          </a:prstGeom>
        </p:spPr>
      </p:pic>
      <p:sp>
        <p:nvSpPr>
          <p:cNvPr id="11" name="TextBox 10"/>
          <p:cNvSpPr txBox="1"/>
          <p:nvPr/>
        </p:nvSpPr>
        <p:spPr>
          <a:xfrm>
            <a:off x="1849240" y="6195735"/>
            <a:ext cx="12362688" cy="830997"/>
          </a:xfrm>
          <a:prstGeom prst="rect">
            <a:avLst/>
          </a:prstGeom>
          <a:noFill/>
        </p:spPr>
        <p:txBody>
          <a:bodyPr wrap="square" rtlCol="0">
            <a:spAutoFit/>
          </a:bodyPr>
          <a:lstStyle/>
          <a:p>
            <a:r>
              <a:rPr lang="en-US" sz="4800" dirty="0" smtClean="0">
                <a:solidFill>
                  <a:srgbClr val="141F22"/>
                </a:solidFill>
                <a:latin typeface="Raleway" charset="0"/>
                <a:ea typeface="Raleway" charset="0"/>
                <a:cs typeface="Raleway" charset="0"/>
              </a:rPr>
              <a:t>Project Description</a:t>
            </a:r>
            <a:endParaRPr lang="en-US" sz="4800" b="0" i="0" dirty="0">
              <a:solidFill>
                <a:srgbClr val="141F22"/>
              </a:solidFill>
              <a:latin typeface="Raleway" charset="0"/>
              <a:ea typeface="Raleway" charset="0"/>
              <a:cs typeface="Raleway" charset="0"/>
            </a:endParaRPr>
          </a:p>
        </p:txBody>
      </p:sp>
      <p:sp>
        <p:nvSpPr>
          <p:cNvPr id="17" name="TextBox 16"/>
          <p:cNvSpPr txBox="1"/>
          <p:nvPr/>
        </p:nvSpPr>
        <p:spPr>
          <a:xfrm>
            <a:off x="1902817" y="16428543"/>
            <a:ext cx="12362688" cy="830997"/>
          </a:xfrm>
          <a:prstGeom prst="rect">
            <a:avLst/>
          </a:prstGeom>
          <a:noFill/>
        </p:spPr>
        <p:txBody>
          <a:bodyPr wrap="square" rtlCol="0">
            <a:spAutoFit/>
          </a:bodyPr>
          <a:lstStyle/>
          <a:p>
            <a:r>
              <a:rPr lang="en-US" sz="4800" b="0" i="0" dirty="0" smtClean="0">
                <a:solidFill>
                  <a:srgbClr val="141F22"/>
                </a:solidFill>
                <a:latin typeface="Raleway" charset="0"/>
                <a:ea typeface="Raleway" charset="0"/>
                <a:cs typeface="Raleway" charset="0"/>
              </a:rPr>
              <a:t>The Model</a:t>
            </a:r>
            <a:endParaRPr lang="en-US" sz="4800" b="0" i="0" dirty="0">
              <a:solidFill>
                <a:srgbClr val="141F22"/>
              </a:solidFill>
              <a:latin typeface="Raleway" charset="0"/>
              <a:ea typeface="Raleway" charset="0"/>
              <a:cs typeface="Raleway" charset="0"/>
            </a:endParaRPr>
          </a:p>
        </p:txBody>
      </p:sp>
      <mc:AlternateContent xmlns:mc="http://schemas.openxmlformats.org/markup-compatibility/2006">
        <mc:Choice xmlns:a14="http://schemas.microsoft.com/office/drawing/2010/main" Requires="a14">
          <p:sp>
            <p:nvSpPr>
              <p:cNvPr id="18" name="TextBox 17"/>
              <p:cNvSpPr txBox="1"/>
              <p:nvPr/>
            </p:nvSpPr>
            <p:spPr>
              <a:xfrm>
                <a:off x="1963271" y="17462532"/>
                <a:ext cx="14079608" cy="1615827"/>
              </a:xfrm>
              <a:prstGeom prst="rect">
                <a:avLst/>
              </a:prstGeom>
              <a:noFill/>
            </p:spPr>
            <p:txBody>
              <a:bodyPr wrap="square" rtlCol="0">
                <a:spAutoFit/>
              </a:bodyPr>
              <a:lstStyle/>
              <a:p>
                <a:pPr>
                  <a:defRPr/>
                </a:pPr>
                <a:r>
                  <a:rPr lang="en-US" sz="3300" b="1" dirty="0" smtClean="0">
                    <a:solidFill>
                      <a:srgbClr val="C00000"/>
                    </a:solidFill>
                    <a:latin typeface="Trebuchet MS" charset="0"/>
                    <a:ea typeface="Trebuchet MS" charset="0"/>
                    <a:cs typeface="Trebuchet MS" charset="0"/>
                  </a:rPr>
                  <a:t>Turnout Time: </a:t>
                </a:r>
                <a:r>
                  <a:rPr lang="en-US" sz="3300" dirty="0" smtClean="0">
                    <a:solidFill>
                      <a:srgbClr val="141F22"/>
                    </a:solidFill>
                    <a:latin typeface="Trebuchet MS" charset="0"/>
                    <a:ea typeface="Trebuchet MS" charset="0"/>
                    <a:cs typeface="Trebuchet MS" charset="0"/>
                  </a:rPr>
                  <a:t>We </a:t>
                </a:r>
                <a:r>
                  <a:rPr lang="en-US" sz="3300" dirty="0">
                    <a:solidFill>
                      <a:srgbClr val="141F22"/>
                    </a:solidFill>
                    <a:latin typeface="Trebuchet MS" charset="0"/>
                    <a:ea typeface="Trebuchet MS" charset="0"/>
                    <a:cs typeface="Trebuchet MS" charset="0"/>
                  </a:rPr>
                  <a:t>use a linear model </a:t>
                </a:r>
                <a:r>
                  <a:rPr lang="en-US" sz="3300" dirty="0" smtClean="0">
                    <a:solidFill>
                      <a:srgbClr val="141F22"/>
                    </a:solidFill>
                    <a:latin typeface="Trebuchet MS" charset="0"/>
                    <a:ea typeface="Trebuchet MS" charset="0"/>
                    <a:cs typeface="Trebuchet MS" charset="0"/>
                  </a:rPr>
                  <a:t>to </a:t>
                </a:r>
                <a:r>
                  <a:rPr lang="en-US" sz="3300" dirty="0">
                    <a:solidFill>
                      <a:srgbClr val="141F22"/>
                    </a:solidFill>
                    <a:latin typeface="Trebuchet MS" charset="0"/>
                    <a:ea typeface="Trebuchet MS" charset="0"/>
                    <a:cs typeface="Trebuchet MS" charset="0"/>
                  </a:rPr>
                  <a:t>analyze the effect of various </a:t>
                </a:r>
                <a:r>
                  <a:rPr lang="en-US" sz="3300" dirty="0" smtClean="0">
                    <a:solidFill>
                      <a:srgbClr val="141F22"/>
                    </a:solidFill>
                    <a:latin typeface="Trebuchet MS" charset="0"/>
                    <a:ea typeface="Trebuchet MS" charset="0"/>
                    <a:cs typeface="Trebuchet MS" charset="0"/>
                  </a:rPr>
                  <a:t>predictors, including hour of the day, station, year, month, and apparatus type, on </a:t>
                </a:r>
                <a:r>
                  <a:rPr lang="en-US" sz="3300" dirty="0">
                    <a:solidFill>
                      <a:srgbClr val="141F22"/>
                    </a:solidFill>
                    <a:latin typeface="Trebuchet MS" charset="0"/>
                    <a:ea typeface="Trebuchet MS" charset="0"/>
                    <a:cs typeface="Trebuchet MS" charset="0"/>
                  </a:rPr>
                  <a:t>turnout time </a:t>
                </a:r>
                <a14:m>
                  <m:oMath xmlns:m="http://schemas.openxmlformats.org/officeDocument/2006/math">
                    <m:r>
                      <a:rPr lang="en-US" sz="3300" i="1">
                        <a:latin typeface="Cambria Math" charset="0"/>
                      </a:rPr>
                      <m:t>𝑦</m:t>
                    </m:r>
                    <m:r>
                      <a:rPr lang="en-US" sz="3300" i="1">
                        <a:latin typeface="Cambria Math" charset="0"/>
                      </a:rPr>
                      <m:t> </m:t>
                    </m:r>
                  </m:oMath>
                </a14:m>
                <a:r>
                  <a:rPr lang="en-US" sz="3300" dirty="0">
                    <a:solidFill>
                      <a:srgbClr val="141F22"/>
                    </a:solidFill>
                    <a:latin typeface="Trebuchet MS" charset="0"/>
                    <a:ea typeface="Trebuchet MS" charset="0"/>
                    <a:cs typeface="Trebuchet MS" charset="0"/>
                  </a:rPr>
                  <a:t>to an incident. </a:t>
                </a:r>
              </a:p>
            </p:txBody>
          </p:sp>
        </mc:Choice>
        <mc:Fallback>
          <p:sp>
            <p:nvSpPr>
              <p:cNvPr id="18" name="TextBox 17"/>
              <p:cNvSpPr txBox="1">
                <a:spLocks noRot="1" noChangeAspect="1" noMove="1" noResize="1" noEditPoints="1" noAdjustHandles="1" noChangeArrowheads="1" noChangeShapeType="1" noTextEdit="1"/>
              </p:cNvSpPr>
              <p:nvPr/>
            </p:nvSpPr>
            <p:spPr>
              <a:xfrm>
                <a:off x="1963271" y="17462532"/>
                <a:ext cx="14079608" cy="1615827"/>
              </a:xfrm>
              <a:prstGeom prst="rect">
                <a:avLst/>
              </a:prstGeom>
              <a:blipFill rotWithShape="0">
                <a:blip r:embed="rId9"/>
                <a:stretch>
                  <a:fillRect l="-1169" t="-5283" b="-12075"/>
                </a:stretch>
              </a:blipFill>
            </p:spPr>
            <p:txBody>
              <a:bodyPr/>
              <a:lstStyle/>
              <a:p>
                <a:r>
                  <a:rPr lang="en-US">
                    <a:noFill/>
                  </a:rPr>
                  <a:t> </a:t>
                </a:r>
              </a:p>
            </p:txBody>
          </p:sp>
        </mc:Fallback>
      </mc:AlternateContent>
      <p:sp>
        <p:nvSpPr>
          <p:cNvPr id="20" name="TextBox 19"/>
          <p:cNvSpPr txBox="1"/>
          <p:nvPr/>
        </p:nvSpPr>
        <p:spPr>
          <a:xfrm>
            <a:off x="18714819" y="20014508"/>
            <a:ext cx="13285107" cy="830997"/>
          </a:xfrm>
          <a:prstGeom prst="rect">
            <a:avLst/>
          </a:prstGeom>
          <a:noFill/>
        </p:spPr>
        <p:txBody>
          <a:bodyPr wrap="square" rtlCol="0">
            <a:spAutoFit/>
          </a:bodyPr>
          <a:lstStyle/>
          <a:p>
            <a:r>
              <a:rPr lang="en-US" sz="4800" b="0" i="0" dirty="0" smtClean="0">
                <a:solidFill>
                  <a:srgbClr val="141F22"/>
                </a:solidFill>
                <a:latin typeface="Raleway" charset="0"/>
                <a:ea typeface="Raleway" charset="0"/>
                <a:cs typeface="Raleway" charset="0"/>
              </a:rPr>
              <a:t>Findings: Turnout Time</a:t>
            </a:r>
            <a:endParaRPr lang="en-US" sz="4800" b="0" i="0" dirty="0">
              <a:solidFill>
                <a:srgbClr val="141F22"/>
              </a:solidFill>
              <a:latin typeface="Raleway" charset="0"/>
              <a:ea typeface="Raleway" charset="0"/>
              <a:cs typeface="Raleway" charset="0"/>
            </a:endParaRPr>
          </a:p>
        </p:txBody>
      </p:sp>
      <mc:AlternateContent xmlns:mc="http://schemas.openxmlformats.org/markup-compatibility/2006">
        <mc:Choice xmlns:a14="http://schemas.microsoft.com/office/drawing/2010/main" Requires="a14">
          <p:sp>
            <p:nvSpPr>
              <p:cNvPr id="21" name="TextBox 20"/>
              <p:cNvSpPr txBox="1"/>
              <p:nvPr/>
            </p:nvSpPr>
            <p:spPr>
              <a:xfrm>
                <a:off x="1922392" y="21646042"/>
                <a:ext cx="14980515" cy="3139321"/>
              </a:xfrm>
              <a:prstGeom prst="rect">
                <a:avLst/>
              </a:prstGeom>
              <a:noFill/>
            </p:spPr>
            <p:txBody>
              <a:bodyPr wrap="square" rtlCol="0">
                <a:spAutoFit/>
              </a:bodyPr>
              <a:lstStyle/>
              <a:p>
                <a:pPr>
                  <a:defRPr/>
                </a:pPr>
                <a:r>
                  <a:rPr lang="en-US" sz="3300" b="1" dirty="0" smtClean="0">
                    <a:solidFill>
                      <a:srgbClr val="C00000"/>
                    </a:solidFill>
                    <a:latin typeface="Trebuchet MS" charset="0"/>
                    <a:ea typeface="Trebuchet MS" charset="0"/>
                    <a:cs typeface="Trebuchet MS" charset="0"/>
                  </a:rPr>
                  <a:t>Travel Time: </a:t>
                </a:r>
                <a:r>
                  <a:rPr lang="en-US" sz="3300" dirty="0" smtClean="0">
                    <a:solidFill>
                      <a:srgbClr val="141F22"/>
                    </a:solidFill>
                    <a:latin typeface="Trebuchet MS" charset="0"/>
                    <a:ea typeface="Trebuchet MS" charset="0"/>
                    <a:cs typeface="Trebuchet MS" charset="0"/>
                  </a:rPr>
                  <a:t>We </a:t>
                </a:r>
                <a:r>
                  <a:rPr lang="en-US" sz="3300" dirty="0">
                    <a:solidFill>
                      <a:srgbClr val="141F22"/>
                    </a:solidFill>
                    <a:latin typeface="Trebuchet MS" charset="0"/>
                    <a:ea typeface="Trebuchet MS" charset="0"/>
                    <a:cs typeface="Trebuchet MS" charset="0"/>
                  </a:rPr>
                  <a:t>fit a spatial Gaussian Process </a:t>
                </a:r>
                <a:r>
                  <a:rPr lang="en-US" sz="3300" dirty="0" smtClean="0">
                    <a:solidFill>
                      <a:srgbClr val="141F22"/>
                    </a:solidFill>
                    <a:latin typeface="Trebuchet MS" charset="0"/>
                    <a:ea typeface="Trebuchet MS" charset="0"/>
                    <a:cs typeface="Trebuchet MS" charset="0"/>
                  </a:rPr>
                  <a:t>model</a:t>
                </a:r>
                <a:r>
                  <a:rPr lang="en-US" sz="3300" baseline="30000" dirty="0" smtClean="0">
                    <a:solidFill>
                      <a:srgbClr val="141F22"/>
                    </a:solidFill>
                    <a:latin typeface="Trebuchet MS" charset="0"/>
                    <a:ea typeface="Trebuchet MS" charset="0"/>
                    <a:cs typeface="Trebuchet MS" charset="0"/>
                  </a:rPr>
                  <a:t>1</a:t>
                </a:r>
                <a:r>
                  <a:rPr lang="en-US" sz="3300" dirty="0" smtClean="0">
                    <a:solidFill>
                      <a:srgbClr val="141F22"/>
                    </a:solidFill>
                    <a:latin typeface="Trebuchet MS" charset="0"/>
                    <a:ea typeface="Trebuchet MS" charset="0"/>
                    <a:cs typeface="Trebuchet MS" charset="0"/>
                  </a:rPr>
                  <a:t> that </a:t>
                </a:r>
                <a:r>
                  <a:rPr lang="en-US" sz="3300" dirty="0">
                    <a:solidFill>
                      <a:srgbClr val="141F22"/>
                    </a:solidFill>
                    <a:latin typeface="Trebuchet MS" charset="0"/>
                    <a:ea typeface="Trebuchet MS" charset="0"/>
                    <a:cs typeface="Trebuchet MS" charset="0"/>
                  </a:rPr>
                  <a:t>captures the spatial dependence in </a:t>
                </a:r>
                <a:r>
                  <a:rPr lang="en-US" sz="3300" dirty="0" smtClean="0">
                    <a:solidFill>
                      <a:srgbClr val="141F22"/>
                    </a:solidFill>
                    <a:latin typeface="Trebuchet MS" charset="0"/>
                    <a:ea typeface="Trebuchet MS" charset="0"/>
                    <a:cs typeface="Trebuchet MS" charset="0"/>
                  </a:rPr>
                  <a:t>travel time </a:t>
                </a:r>
                <a:r>
                  <a:rPr lang="en-US" sz="3300" dirty="0">
                    <a:solidFill>
                      <a:srgbClr val="141F22"/>
                    </a:solidFill>
                    <a:latin typeface="Trebuchet MS" charset="0"/>
                    <a:ea typeface="Trebuchet MS" charset="0"/>
                    <a:cs typeface="Trebuchet MS" charset="0"/>
                  </a:rPr>
                  <a:t>to locations that are </a:t>
                </a:r>
                <a:r>
                  <a:rPr lang="en-US" sz="3300" dirty="0" smtClean="0">
                    <a:solidFill>
                      <a:srgbClr val="141F22"/>
                    </a:solidFill>
                    <a:latin typeface="Trebuchet MS" charset="0"/>
                    <a:ea typeface="Trebuchet MS" charset="0"/>
                    <a:cs typeface="Trebuchet MS" charset="0"/>
                  </a:rPr>
                  <a:t>closer. </a:t>
                </a:r>
                <a:r>
                  <a:rPr lang="en-US" sz="3300" dirty="0">
                    <a:solidFill>
                      <a:srgbClr val="141F22"/>
                    </a:solidFill>
                    <a:latin typeface="Trebuchet MS" charset="0"/>
                    <a:ea typeface="Trebuchet MS" charset="0"/>
                    <a:cs typeface="Trebuchet MS" charset="0"/>
                  </a:rPr>
                  <a:t>We </a:t>
                </a:r>
                <a:r>
                  <a:rPr lang="en-US" sz="3300" dirty="0" smtClean="0">
                    <a:solidFill>
                      <a:srgbClr val="141F22"/>
                    </a:solidFill>
                    <a:latin typeface="Trebuchet MS" charset="0"/>
                    <a:ea typeface="Trebuchet MS" charset="0"/>
                    <a:cs typeface="Trebuchet MS" charset="0"/>
                  </a:rPr>
                  <a:t>apply </a:t>
                </a:r>
                <a:r>
                  <a:rPr lang="en-US" sz="3300" dirty="0">
                    <a:solidFill>
                      <a:srgbClr val="141F22"/>
                    </a:solidFill>
                    <a:latin typeface="Trebuchet MS" charset="0"/>
                    <a:ea typeface="Trebuchet MS" charset="0"/>
                    <a:cs typeface="Trebuchet MS" charset="0"/>
                  </a:rPr>
                  <a:t>a power </a:t>
                </a:r>
                <a:r>
                  <a:rPr lang="en-US" sz="3300" dirty="0" smtClean="0">
                    <a:solidFill>
                      <a:srgbClr val="141F22"/>
                    </a:solidFill>
                    <a:latin typeface="Trebuchet MS" charset="0"/>
                    <a:ea typeface="Trebuchet MS" charset="0"/>
                    <a:cs typeface="Trebuchet MS" charset="0"/>
                  </a:rPr>
                  <a:t>law transformation </a:t>
                </a:r>
                <a:r>
                  <a:rPr lang="en-US" sz="3300" dirty="0">
                    <a:solidFill>
                      <a:srgbClr val="141F22"/>
                    </a:solidFill>
                    <a:latin typeface="Trebuchet MS" charset="0"/>
                    <a:ea typeface="Trebuchet MS" charset="0"/>
                    <a:cs typeface="Trebuchet MS" charset="0"/>
                  </a:rPr>
                  <a:t>to travel time </a:t>
                </a:r>
                <a:r>
                  <a:rPr lang="en-US" sz="3300" dirty="0" smtClean="0">
                    <a:solidFill>
                      <a:srgbClr val="141F22"/>
                    </a:solidFill>
                    <a:latin typeface="Trebuchet MS" charset="0"/>
                    <a:ea typeface="Trebuchet MS" charset="0"/>
                    <a:cs typeface="Trebuchet MS" charset="0"/>
                  </a:rPr>
                  <a:t>as </a:t>
                </a:r>
                <a:r>
                  <a:rPr lang="en-US" sz="3300" dirty="0">
                    <a:solidFill>
                      <a:srgbClr val="141F22"/>
                    </a:solidFill>
                    <a:latin typeface="Trebuchet MS" charset="0"/>
                    <a:ea typeface="Trebuchet MS" charset="0"/>
                    <a:cs typeface="Trebuchet MS" charset="0"/>
                  </a:rPr>
                  <a:t>it has a </a:t>
                </a:r>
                <a:r>
                  <a:rPr lang="en-US" sz="3300" dirty="0" smtClean="0">
                    <a:solidFill>
                      <a:srgbClr val="141F22"/>
                    </a:solidFill>
                    <a:latin typeface="Trebuchet MS" charset="0"/>
                    <a:ea typeface="Trebuchet MS" charset="0"/>
                    <a:cs typeface="Trebuchet MS" charset="0"/>
                  </a:rPr>
                  <a:t>right-skewed </a:t>
                </a:r>
                <a:r>
                  <a:rPr lang="en-US" sz="3300" dirty="0">
                    <a:solidFill>
                      <a:srgbClr val="141F22"/>
                    </a:solidFill>
                    <a:latin typeface="Trebuchet MS" charset="0"/>
                    <a:ea typeface="Trebuchet MS" charset="0"/>
                    <a:cs typeface="Trebuchet MS" charset="0"/>
                  </a:rPr>
                  <a:t>distribution. The travel time </a:t>
                </a:r>
                <a14:m>
                  <m:oMath xmlns:m="http://schemas.openxmlformats.org/officeDocument/2006/math">
                    <m:r>
                      <a:rPr lang="en-US" sz="3300" i="1">
                        <a:latin typeface="Cambria Math" charset="0"/>
                      </a:rPr>
                      <m:t>𝑦</m:t>
                    </m:r>
                  </m:oMath>
                </a14:m>
                <a:r>
                  <a:rPr lang="en-US" sz="3300" dirty="0">
                    <a:solidFill>
                      <a:srgbClr val="141F22"/>
                    </a:solidFill>
                    <a:latin typeface="Trebuchet MS" charset="0"/>
                    <a:ea typeface="Trebuchet MS" charset="0"/>
                    <a:cs typeface="Trebuchet MS" charset="0"/>
                  </a:rPr>
                  <a:t> at a location </a:t>
                </a:r>
                <a14:m>
                  <m:oMath xmlns:m="http://schemas.openxmlformats.org/officeDocument/2006/math">
                    <m:r>
                      <a:rPr lang="en-US" sz="3300" i="1">
                        <a:latin typeface="Cambria Math" charset="0"/>
                      </a:rPr>
                      <m:t>𝑠</m:t>
                    </m:r>
                    <m:r>
                      <a:rPr lang="en-US" sz="3300" i="1" baseline="-25000">
                        <a:latin typeface="Cambria Math" charset="0"/>
                        <a:ea typeface="Cambria Math" charset="0"/>
                        <a:cs typeface="Cambria Math" charset="0"/>
                      </a:rPr>
                      <m:t>𝜊</m:t>
                    </m:r>
                  </m:oMath>
                </a14:m>
                <a:r>
                  <a:rPr lang="en-US" sz="3300" dirty="0">
                    <a:solidFill>
                      <a:srgbClr val="141F22"/>
                    </a:solidFill>
                    <a:latin typeface="Trebuchet MS" charset="0"/>
                    <a:ea typeface="Trebuchet MS" charset="0"/>
                    <a:cs typeface="Trebuchet MS" charset="0"/>
                  </a:rPr>
                  <a:t> is given by</a:t>
                </a:r>
                <a:endParaRPr lang="en-US" sz="3300" dirty="0" smtClean="0">
                  <a:solidFill>
                    <a:srgbClr val="141F22"/>
                  </a:solidFill>
                  <a:latin typeface="Trebuchet MS" charset="0"/>
                  <a:ea typeface="Trebuchet MS" charset="0"/>
                  <a:cs typeface="Trebuchet MS" charset="0"/>
                </a:endParaRPr>
              </a:p>
              <a:p>
                <a:pPr>
                  <a:defRPr/>
                </a:pPr>
                <a:endParaRPr lang="en-US" sz="3300" dirty="0" smtClean="0">
                  <a:solidFill>
                    <a:srgbClr val="141F22"/>
                  </a:solidFill>
                  <a:latin typeface="Trebuchet MS" charset="0"/>
                  <a:ea typeface="Trebuchet MS" charset="0"/>
                  <a:cs typeface="Trebuchet MS" charset="0"/>
                </a:endParaRPr>
              </a:p>
              <a:p>
                <a:pPr>
                  <a:defRPr/>
                </a:pPr>
                <a:endParaRPr lang="en-US" sz="3300" dirty="0">
                  <a:solidFill>
                    <a:srgbClr val="141F22"/>
                  </a:solidFill>
                  <a:latin typeface="Trebuchet MS" charset="0"/>
                  <a:ea typeface="Trebuchet MS" charset="0"/>
                  <a:cs typeface="Trebuchet MS" charset="0"/>
                </a:endParaRPr>
              </a:p>
            </p:txBody>
          </p:sp>
        </mc:Choice>
        <mc:Fallback>
          <p:sp>
            <p:nvSpPr>
              <p:cNvPr id="21" name="TextBox 20"/>
              <p:cNvSpPr txBox="1">
                <a:spLocks noRot="1" noChangeAspect="1" noMove="1" noResize="1" noEditPoints="1" noAdjustHandles="1" noChangeArrowheads="1" noChangeShapeType="1" noTextEdit="1"/>
              </p:cNvSpPr>
              <p:nvPr/>
            </p:nvSpPr>
            <p:spPr>
              <a:xfrm>
                <a:off x="1922392" y="21646042"/>
                <a:ext cx="14980515" cy="3139321"/>
              </a:xfrm>
              <a:prstGeom prst="rect">
                <a:avLst/>
              </a:prstGeom>
              <a:blipFill rotWithShape="0">
                <a:blip r:embed="rId10"/>
                <a:stretch>
                  <a:fillRect l="-1098" t="-2718" r="-936"/>
                </a:stretch>
              </a:blipFill>
            </p:spPr>
            <p:txBody>
              <a:bodyPr/>
              <a:lstStyle/>
              <a:p>
                <a:r>
                  <a:rPr lang="en-US">
                    <a:noFill/>
                  </a:rPr>
                  <a:t> </a:t>
                </a:r>
              </a:p>
            </p:txBody>
          </p:sp>
        </mc:Fallback>
      </mc:AlternateContent>
      <p:sp>
        <p:nvSpPr>
          <p:cNvPr id="29" name="TextBox 28"/>
          <p:cNvSpPr txBox="1"/>
          <p:nvPr/>
        </p:nvSpPr>
        <p:spPr>
          <a:xfrm>
            <a:off x="1922392" y="7120142"/>
            <a:ext cx="33096606" cy="1107996"/>
          </a:xfrm>
          <a:prstGeom prst="rect">
            <a:avLst/>
          </a:prstGeom>
          <a:noFill/>
        </p:spPr>
        <p:txBody>
          <a:bodyPr wrap="square" rtlCol="0">
            <a:spAutoFit/>
          </a:bodyPr>
          <a:lstStyle/>
          <a:p>
            <a:pPr>
              <a:defRPr/>
            </a:pPr>
            <a:r>
              <a:rPr lang="en-US" sz="3300" dirty="0">
                <a:solidFill>
                  <a:srgbClr val="141F22"/>
                </a:solidFill>
                <a:latin typeface="Trebuchet MS" charset="0"/>
                <a:ea typeface="Trebuchet MS" charset="0"/>
                <a:cs typeface="Trebuchet MS" charset="0"/>
              </a:rPr>
              <a:t>In order to improve the general safety of Arlington County </a:t>
            </a:r>
            <a:r>
              <a:rPr lang="en-US" sz="3300" dirty="0" smtClean="0">
                <a:solidFill>
                  <a:srgbClr val="141F22"/>
                </a:solidFill>
                <a:latin typeface="Trebuchet MS" charset="0"/>
                <a:ea typeface="Trebuchet MS" charset="0"/>
                <a:cs typeface="Trebuchet MS" charset="0"/>
              </a:rPr>
              <a:t>residents by making the </a:t>
            </a:r>
            <a:r>
              <a:rPr lang="en-US" sz="3300" dirty="0">
                <a:solidFill>
                  <a:srgbClr val="141F22"/>
                </a:solidFill>
                <a:latin typeface="Trebuchet MS" charset="0"/>
                <a:ea typeface="Trebuchet MS" charset="0"/>
                <a:cs typeface="Trebuchet MS" charset="0"/>
              </a:rPr>
              <a:t>allocation of emergency resources more </a:t>
            </a:r>
            <a:r>
              <a:rPr lang="en-US" sz="3300" dirty="0" smtClean="0">
                <a:solidFill>
                  <a:srgbClr val="141F22"/>
                </a:solidFill>
                <a:latin typeface="Trebuchet MS" charset="0"/>
                <a:ea typeface="Trebuchet MS" charset="0"/>
                <a:cs typeface="Trebuchet MS" charset="0"/>
              </a:rPr>
              <a:t>efficient, </a:t>
            </a:r>
            <a:r>
              <a:rPr lang="en-US" sz="3300" dirty="0">
                <a:solidFill>
                  <a:srgbClr val="141F22"/>
                </a:solidFill>
                <a:latin typeface="Trebuchet MS" charset="0"/>
                <a:ea typeface="Trebuchet MS" charset="0"/>
                <a:cs typeface="Trebuchet MS" charset="0"/>
              </a:rPr>
              <a:t>it </a:t>
            </a:r>
            <a:r>
              <a:rPr lang="en-US" sz="3300" dirty="0" smtClean="0">
                <a:solidFill>
                  <a:srgbClr val="141F22"/>
                </a:solidFill>
                <a:latin typeface="Trebuchet MS" charset="0"/>
                <a:ea typeface="Trebuchet MS" charset="0"/>
                <a:cs typeface="Trebuchet MS" charset="0"/>
              </a:rPr>
              <a:t>is important </a:t>
            </a:r>
            <a:r>
              <a:rPr lang="en-US" sz="3300" dirty="0">
                <a:solidFill>
                  <a:srgbClr val="141F22"/>
                </a:solidFill>
                <a:latin typeface="Trebuchet MS" charset="0"/>
                <a:ea typeface="Trebuchet MS" charset="0"/>
                <a:cs typeface="Trebuchet MS" charset="0"/>
              </a:rPr>
              <a:t>to reduce the response time to incidents. This project aims to identify the factors affecting these response times for </a:t>
            </a:r>
            <a:r>
              <a:rPr lang="en-US" sz="3300" dirty="0" smtClean="0">
                <a:solidFill>
                  <a:srgbClr val="141F22"/>
                </a:solidFill>
                <a:latin typeface="Trebuchet MS" charset="0"/>
                <a:ea typeface="Trebuchet MS" charset="0"/>
                <a:cs typeface="Trebuchet MS" charset="0"/>
              </a:rPr>
              <a:t>Structure Fires </a:t>
            </a:r>
            <a:r>
              <a:rPr lang="en-US" sz="3300" dirty="0">
                <a:solidFill>
                  <a:srgbClr val="141F22"/>
                </a:solidFill>
                <a:latin typeface="Trebuchet MS" charset="0"/>
                <a:ea typeface="Trebuchet MS" charset="0"/>
                <a:cs typeface="Trebuchet MS" charset="0"/>
              </a:rPr>
              <a:t>(SF</a:t>
            </a:r>
            <a:r>
              <a:rPr lang="en-US" sz="3300" dirty="0" smtClean="0">
                <a:solidFill>
                  <a:srgbClr val="141F22"/>
                </a:solidFill>
                <a:latin typeface="Trebuchet MS" charset="0"/>
                <a:ea typeface="Trebuchet MS" charset="0"/>
                <a:cs typeface="Trebuchet MS" charset="0"/>
              </a:rPr>
              <a:t>) in Arlington County, VA.</a:t>
            </a:r>
          </a:p>
        </p:txBody>
      </p:sp>
      <p:sp>
        <p:nvSpPr>
          <p:cNvPr id="30" name="TextBox 29"/>
          <p:cNvSpPr txBox="1"/>
          <p:nvPr/>
        </p:nvSpPr>
        <p:spPr>
          <a:xfrm>
            <a:off x="1958820" y="8543150"/>
            <a:ext cx="12362688" cy="830997"/>
          </a:xfrm>
          <a:prstGeom prst="rect">
            <a:avLst/>
          </a:prstGeom>
          <a:noFill/>
        </p:spPr>
        <p:txBody>
          <a:bodyPr wrap="square" rtlCol="0">
            <a:spAutoFit/>
          </a:bodyPr>
          <a:lstStyle/>
          <a:p>
            <a:r>
              <a:rPr lang="en-US" sz="4800" b="0" i="0" dirty="0" smtClean="0">
                <a:solidFill>
                  <a:srgbClr val="141F22"/>
                </a:solidFill>
                <a:latin typeface="Raleway" charset="0"/>
                <a:ea typeface="Raleway" charset="0"/>
                <a:cs typeface="Raleway" charset="0"/>
              </a:rPr>
              <a:t>Data</a:t>
            </a:r>
            <a:endParaRPr lang="en-US" sz="4800" b="0" i="0" dirty="0">
              <a:solidFill>
                <a:srgbClr val="141F22"/>
              </a:solidFill>
              <a:latin typeface="Raleway" charset="0"/>
              <a:ea typeface="Raleway" charset="0"/>
              <a:cs typeface="Raleway" charset="0"/>
            </a:endParaRPr>
          </a:p>
        </p:txBody>
      </p:sp>
      <p:pic>
        <p:nvPicPr>
          <p:cNvPr id="1032" name="Picture 8" descr="https://lh5.googleusercontent.com/RgeDSGE7UUdCHQOMHnpubBuGfGAjqw4Qtovixg0roXFDzSsOhPeZ4faSeW_BpYWRTxT_sBbyDYTILUq7YyE8JaGUrhVWc9lU29UPrNRJIvv7uIHMoCOAJNYKsfnypzQg67DpmYI-p-U"/>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123604" y="11936358"/>
            <a:ext cx="2176647" cy="2148994"/>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40"/>
          <p:cNvSpPr txBox="1"/>
          <p:nvPr/>
        </p:nvSpPr>
        <p:spPr>
          <a:xfrm>
            <a:off x="26373980" y="9798201"/>
            <a:ext cx="8100159" cy="3647152"/>
          </a:xfrm>
          <a:prstGeom prst="rect">
            <a:avLst/>
          </a:prstGeom>
          <a:noFill/>
        </p:spPr>
        <p:txBody>
          <a:bodyPr wrap="square" rtlCol="0">
            <a:spAutoFit/>
          </a:bodyPr>
          <a:lstStyle/>
          <a:p>
            <a:pPr>
              <a:defRPr/>
            </a:pPr>
            <a:r>
              <a:rPr lang="en-US" sz="3300" dirty="0" smtClean="0">
                <a:solidFill>
                  <a:srgbClr val="141F22"/>
                </a:solidFill>
                <a:latin typeface="Trebuchet MS" charset="0"/>
                <a:ea typeface="Trebuchet MS" charset="0"/>
                <a:cs typeface="Trebuchet MS" charset="0"/>
              </a:rPr>
              <a:t>The exploratory analysis reveals that structure </a:t>
            </a:r>
            <a:r>
              <a:rPr lang="en-US" sz="3300" dirty="0">
                <a:solidFill>
                  <a:srgbClr val="141F22"/>
                </a:solidFill>
                <a:latin typeface="Trebuchet MS" charset="0"/>
                <a:ea typeface="Trebuchet MS" charset="0"/>
                <a:cs typeface="Trebuchet MS" charset="0"/>
              </a:rPr>
              <a:t>f</a:t>
            </a:r>
            <a:r>
              <a:rPr lang="en-US" sz="3300" dirty="0" smtClean="0">
                <a:solidFill>
                  <a:srgbClr val="141F22"/>
                </a:solidFill>
                <a:latin typeface="Trebuchet MS" charset="0"/>
                <a:ea typeface="Trebuchet MS" charset="0"/>
                <a:cs typeface="Trebuchet MS" charset="0"/>
              </a:rPr>
              <a:t>ires have decreased in 2014 and 2015. Travel times are longer than turnout times on average and have much greater variability. They are longer in north Arlington. These findings are corroborated by our model results.</a:t>
            </a:r>
            <a:endParaRPr lang="en-US" sz="3300" dirty="0">
              <a:solidFill>
                <a:srgbClr val="141F22"/>
              </a:solidFill>
              <a:latin typeface="Trebuchet MS" charset="0"/>
              <a:ea typeface="Trebuchet MS" charset="0"/>
              <a:cs typeface="Trebuchet MS" charset="0"/>
            </a:endParaRPr>
          </a:p>
        </p:txBody>
      </p:sp>
      <p:sp>
        <p:nvSpPr>
          <p:cNvPr id="46" name="TextBox 45"/>
          <p:cNvSpPr txBox="1"/>
          <p:nvPr/>
        </p:nvSpPr>
        <p:spPr>
          <a:xfrm>
            <a:off x="18789499" y="21146086"/>
            <a:ext cx="16229499" cy="2631490"/>
          </a:xfrm>
          <a:prstGeom prst="rect">
            <a:avLst/>
          </a:prstGeom>
          <a:noFill/>
        </p:spPr>
        <p:txBody>
          <a:bodyPr wrap="square" rtlCol="0">
            <a:spAutoFit/>
          </a:bodyPr>
          <a:lstStyle/>
          <a:p>
            <a:pPr>
              <a:defRPr/>
            </a:pPr>
            <a:r>
              <a:rPr lang="en-US" sz="3300" dirty="0" smtClean="0">
                <a:solidFill>
                  <a:srgbClr val="141F22"/>
                </a:solidFill>
                <a:latin typeface="Trebuchet MS" charset="0"/>
                <a:ea typeface="Trebuchet MS" charset="0"/>
                <a:cs typeface="Trebuchet MS" charset="0"/>
              </a:rPr>
              <a:t>Stations 104</a:t>
            </a:r>
            <a:r>
              <a:rPr lang="en-US" sz="3300" dirty="0">
                <a:solidFill>
                  <a:srgbClr val="141F22"/>
                </a:solidFill>
                <a:latin typeface="Trebuchet MS" charset="0"/>
                <a:ea typeface="Trebuchet MS" charset="0"/>
                <a:cs typeface="Trebuchet MS" charset="0"/>
              </a:rPr>
              <a:t>, 105, 110 </a:t>
            </a:r>
            <a:r>
              <a:rPr lang="en-US" sz="3300" dirty="0" smtClean="0">
                <a:solidFill>
                  <a:srgbClr val="141F22"/>
                </a:solidFill>
                <a:latin typeface="Trebuchet MS" charset="0"/>
                <a:ea typeface="Trebuchet MS" charset="0"/>
                <a:cs typeface="Trebuchet MS" charset="0"/>
              </a:rPr>
              <a:t>have significantly lower turn out times, while turnout times for stations 106, 107, and 109 are significantly longer. </a:t>
            </a:r>
            <a:r>
              <a:rPr lang="en-US" sz="3300" dirty="0">
                <a:latin typeface="Trebuchet MS" charset="0"/>
                <a:ea typeface="Trebuchet MS" charset="0"/>
                <a:cs typeface="Trebuchet MS" charset="0"/>
              </a:rPr>
              <a:t>A</a:t>
            </a:r>
            <a:r>
              <a:rPr lang="en-US" sz="3300" dirty="0" smtClean="0">
                <a:latin typeface="Trebuchet MS" charset="0"/>
                <a:ea typeface="Trebuchet MS" charset="0"/>
                <a:cs typeface="Trebuchet MS" charset="0"/>
              </a:rPr>
              <a:t>ll </a:t>
            </a:r>
            <a:r>
              <a:rPr lang="en-US" sz="3300" dirty="0">
                <a:latin typeface="Trebuchet MS" charset="0"/>
                <a:ea typeface="Trebuchet MS" charset="0"/>
                <a:cs typeface="Trebuchet MS" charset="0"/>
              </a:rPr>
              <a:t>apparatus types </a:t>
            </a:r>
            <a:r>
              <a:rPr lang="en-US" sz="3300" dirty="0" smtClean="0">
                <a:latin typeface="Trebuchet MS" charset="0"/>
                <a:ea typeface="Trebuchet MS" charset="0"/>
                <a:cs typeface="Trebuchet MS" charset="0"/>
              </a:rPr>
              <a:t>have significantly lower turnout times than apparatus in the "Other</a:t>
            </a:r>
            <a:r>
              <a:rPr lang="en-US" sz="3300" dirty="0">
                <a:latin typeface="Trebuchet MS" charset="0"/>
                <a:ea typeface="Trebuchet MS" charset="0"/>
                <a:cs typeface="Trebuchet MS" charset="0"/>
              </a:rPr>
              <a:t>" </a:t>
            </a:r>
            <a:r>
              <a:rPr lang="en-US" sz="3300" dirty="0" smtClean="0">
                <a:latin typeface="Trebuchet MS" charset="0"/>
                <a:ea typeface="Trebuchet MS" charset="0"/>
                <a:cs typeface="Trebuchet MS" charset="0"/>
              </a:rPr>
              <a:t>category, with </a:t>
            </a:r>
            <a:r>
              <a:rPr lang="en-US" sz="3300" dirty="0">
                <a:latin typeface="Trebuchet MS" charset="0"/>
                <a:ea typeface="Trebuchet MS" charset="0"/>
                <a:cs typeface="Trebuchet MS" charset="0"/>
              </a:rPr>
              <a:t>Fire Engines </a:t>
            </a:r>
            <a:r>
              <a:rPr lang="en-US" sz="3300" dirty="0" smtClean="0">
                <a:latin typeface="Trebuchet MS" charset="0"/>
                <a:ea typeface="Trebuchet MS" charset="0"/>
                <a:cs typeface="Trebuchet MS" charset="0"/>
              </a:rPr>
              <a:t>and Advanced Life Support (ALS) Units showing the </a:t>
            </a:r>
            <a:r>
              <a:rPr lang="en-US" sz="3300" dirty="0">
                <a:latin typeface="Trebuchet MS" charset="0"/>
                <a:ea typeface="Trebuchet MS" charset="0"/>
                <a:cs typeface="Trebuchet MS" charset="0"/>
              </a:rPr>
              <a:t>strongest negative </a:t>
            </a:r>
            <a:r>
              <a:rPr lang="en-US" sz="3300" dirty="0" smtClean="0">
                <a:latin typeface="Trebuchet MS" charset="0"/>
                <a:ea typeface="Trebuchet MS" charset="0"/>
                <a:cs typeface="Trebuchet MS" charset="0"/>
              </a:rPr>
              <a:t>effects.</a:t>
            </a:r>
            <a:endParaRPr lang="en-US" sz="3300" dirty="0">
              <a:solidFill>
                <a:srgbClr val="141F22"/>
              </a:solidFill>
              <a:latin typeface="Trebuchet MS" charset="0"/>
              <a:ea typeface="Trebuchet MS" charset="0"/>
              <a:cs typeface="Trebuchet MS" charset="0"/>
            </a:endParaRPr>
          </a:p>
        </p:txBody>
      </p:sp>
      <p:pic>
        <p:nvPicPr>
          <p:cNvPr id="47" name="Picture 4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2077" y="27973177"/>
            <a:ext cx="16489266" cy="1986330"/>
          </a:xfrm>
          <a:prstGeom prst="rect">
            <a:avLst/>
          </a:prstGeom>
        </p:spPr>
      </p:pic>
      <p:sp>
        <p:nvSpPr>
          <p:cNvPr id="48" name="TextBox 47"/>
          <p:cNvSpPr txBox="1"/>
          <p:nvPr/>
        </p:nvSpPr>
        <p:spPr>
          <a:xfrm>
            <a:off x="2260526" y="28012626"/>
            <a:ext cx="12362688" cy="830997"/>
          </a:xfrm>
          <a:prstGeom prst="rect">
            <a:avLst/>
          </a:prstGeom>
          <a:noFill/>
        </p:spPr>
        <p:txBody>
          <a:bodyPr wrap="square" rtlCol="0">
            <a:spAutoFit/>
          </a:bodyPr>
          <a:lstStyle/>
          <a:p>
            <a:r>
              <a:rPr lang="en-US" sz="4800" b="0" i="0" dirty="0" smtClean="0">
                <a:solidFill>
                  <a:srgbClr val="141F22"/>
                </a:solidFill>
                <a:latin typeface="Raleway" charset="0"/>
                <a:ea typeface="Raleway" charset="0"/>
                <a:cs typeface="Raleway" charset="0"/>
              </a:rPr>
              <a:t>Findings: Travel Time </a:t>
            </a:r>
            <a:endParaRPr lang="en-US" sz="4800" b="0" i="0" dirty="0">
              <a:solidFill>
                <a:srgbClr val="141F22"/>
              </a:solidFill>
              <a:latin typeface="Raleway" charset="0"/>
              <a:ea typeface="Raleway" charset="0"/>
              <a:cs typeface="Raleway" charset="0"/>
            </a:endParaRPr>
          </a:p>
        </p:txBody>
      </p:sp>
      <p:pic>
        <p:nvPicPr>
          <p:cNvPr id="13" name="Picture 1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654083" y="8439605"/>
            <a:ext cx="16489266" cy="1986330"/>
          </a:xfrm>
          <a:prstGeom prst="rect">
            <a:avLst/>
          </a:prstGeom>
        </p:spPr>
      </p:pic>
      <p:sp>
        <p:nvSpPr>
          <p:cNvPr id="14" name="TextBox 13"/>
          <p:cNvSpPr txBox="1"/>
          <p:nvPr/>
        </p:nvSpPr>
        <p:spPr>
          <a:xfrm>
            <a:off x="18358166" y="8534395"/>
            <a:ext cx="12362688" cy="830997"/>
          </a:xfrm>
          <a:prstGeom prst="rect">
            <a:avLst/>
          </a:prstGeom>
          <a:noFill/>
        </p:spPr>
        <p:txBody>
          <a:bodyPr wrap="square" rtlCol="0">
            <a:spAutoFit/>
          </a:bodyPr>
          <a:lstStyle/>
          <a:p>
            <a:r>
              <a:rPr lang="en-US" sz="4800" b="0" i="0" dirty="0" smtClean="0">
                <a:solidFill>
                  <a:srgbClr val="141F22"/>
                </a:solidFill>
                <a:latin typeface="Raleway" charset="0"/>
                <a:ea typeface="Raleway" charset="0"/>
                <a:cs typeface="Raleway" charset="0"/>
              </a:rPr>
              <a:t>Descriptive Analysis</a:t>
            </a:r>
            <a:endParaRPr lang="en-US" sz="4800" b="0" i="0" dirty="0">
              <a:solidFill>
                <a:srgbClr val="141F22"/>
              </a:solidFill>
              <a:latin typeface="Raleway" charset="0"/>
              <a:ea typeface="Raleway" charset="0"/>
              <a:cs typeface="Raleway" charset="0"/>
            </a:endParaRPr>
          </a:p>
        </p:txBody>
      </p:sp>
      <p:pic>
        <p:nvPicPr>
          <p:cNvPr id="7" name="Picture 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4097" y="8375185"/>
            <a:ext cx="16489266" cy="1986330"/>
          </a:xfrm>
          <a:prstGeom prst="rect">
            <a:avLst/>
          </a:prstGeom>
        </p:spPr>
      </p:pic>
      <p:sp>
        <p:nvSpPr>
          <p:cNvPr id="15" name="TextBox 14"/>
          <p:cNvSpPr txBox="1"/>
          <p:nvPr/>
        </p:nvSpPr>
        <p:spPr>
          <a:xfrm>
            <a:off x="23738012" y="15501938"/>
            <a:ext cx="2570069" cy="836126"/>
          </a:xfrm>
          <a:prstGeom prst="rect">
            <a:avLst/>
          </a:prstGeom>
          <a:noFill/>
        </p:spPr>
        <p:txBody>
          <a:bodyPr wrap="square" rtlCol="0">
            <a:spAutoFit/>
          </a:bodyPr>
          <a:lstStyle/>
          <a:p>
            <a:pPr>
              <a:spcAft>
                <a:spcPts val="1000"/>
              </a:spcAft>
            </a:pPr>
            <a:r>
              <a:rPr lang="en-US" sz="2000" dirty="0" smtClean="0">
                <a:latin typeface="Trebuchet MS" charset="0"/>
                <a:ea typeface="Trebuchet MS" charset="0"/>
                <a:cs typeface="Trebuchet MS" charset="0"/>
              </a:rPr>
              <a:t>Turnout time</a:t>
            </a:r>
          </a:p>
          <a:p>
            <a:pPr>
              <a:spcAft>
                <a:spcPts val="1000"/>
              </a:spcAft>
            </a:pPr>
            <a:r>
              <a:rPr lang="en-US" sz="2000" dirty="0" smtClean="0">
                <a:latin typeface="Trebuchet MS" charset="0"/>
                <a:ea typeface="Trebuchet MS" charset="0"/>
                <a:cs typeface="Trebuchet MS" charset="0"/>
              </a:rPr>
              <a:t>Travel time</a:t>
            </a:r>
            <a:endParaRPr lang="en-US" sz="2000" dirty="0">
              <a:latin typeface="Trebuchet MS" charset="0"/>
              <a:ea typeface="Trebuchet MS" charset="0"/>
              <a:cs typeface="Trebuchet MS" charset="0"/>
            </a:endParaRPr>
          </a:p>
        </p:txBody>
      </p:sp>
      <p:pic>
        <p:nvPicPr>
          <p:cNvPr id="22" name="Picture 2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3500340" y="16033918"/>
            <a:ext cx="231701" cy="231701"/>
          </a:xfrm>
          <a:prstGeom prst="rect">
            <a:avLst/>
          </a:prstGeom>
        </p:spPr>
      </p:pic>
      <p:pic>
        <p:nvPicPr>
          <p:cNvPr id="23" name="Picture 2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flipH="1" flipV="1">
            <a:off x="23503652" y="15626788"/>
            <a:ext cx="228389" cy="228389"/>
          </a:xfrm>
          <a:prstGeom prst="rect">
            <a:avLst/>
          </a:prstGeom>
        </p:spPr>
      </p:pic>
      <p:sp>
        <p:nvSpPr>
          <p:cNvPr id="54" name="TextBox 53"/>
          <p:cNvSpPr txBox="1"/>
          <p:nvPr/>
        </p:nvSpPr>
        <p:spPr>
          <a:xfrm>
            <a:off x="2364563" y="29103155"/>
            <a:ext cx="14956451" cy="2631490"/>
          </a:xfrm>
          <a:prstGeom prst="rect">
            <a:avLst/>
          </a:prstGeom>
          <a:noFill/>
        </p:spPr>
        <p:txBody>
          <a:bodyPr wrap="square" rtlCol="0">
            <a:spAutoFit/>
          </a:bodyPr>
          <a:lstStyle/>
          <a:p>
            <a:pPr>
              <a:defRPr/>
            </a:pPr>
            <a:r>
              <a:rPr lang="en-US" sz="3300" dirty="0" smtClean="0">
                <a:solidFill>
                  <a:srgbClr val="141F22"/>
                </a:solidFill>
                <a:latin typeface="Trebuchet MS" charset="0"/>
                <a:ea typeface="Trebuchet MS" charset="0"/>
                <a:cs typeface="Trebuchet MS" charset="0"/>
              </a:rPr>
              <a:t>The model </a:t>
            </a:r>
            <a:r>
              <a:rPr lang="en-US" sz="3300" dirty="0">
                <a:solidFill>
                  <a:srgbClr val="141F22"/>
                </a:solidFill>
                <a:latin typeface="Trebuchet MS" charset="0"/>
                <a:ea typeface="Trebuchet MS" charset="0"/>
                <a:cs typeface="Trebuchet MS" charset="0"/>
              </a:rPr>
              <a:t>reveals some locations in Arlington where the estimated travel time is </a:t>
            </a:r>
            <a:r>
              <a:rPr lang="en-US" sz="3300" dirty="0" smtClean="0">
                <a:solidFill>
                  <a:srgbClr val="141F22"/>
                </a:solidFill>
                <a:latin typeface="Trebuchet MS" charset="0"/>
                <a:ea typeface="Trebuchet MS" charset="0"/>
                <a:cs typeface="Trebuchet MS" charset="0"/>
              </a:rPr>
              <a:t>the longest (esp. in </a:t>
            </a:r>
            <a:r>
              <a:rPr lang="en-US" sz="3300" dirty="0">
                <a:solidFill>
                  <a:srgbClr val="141F22"/>
                </a:solidFill>
                <a:latin typeface="Trebuchet MS" charset="0"/>
                <a:ea typeface="Trebuchet MS" charset="0"/>
                <a:cs typeface="Trebuchet MS" charset="0"/>
              </a:rPr>
              <a:t>north </a:t>
            </a:r>
            <a:r>
              <a:rPr lang="en-US" sz="3300" dirty="0" smtClean="0">
                <a:solidFill>
                  <a:srgbClr val="141F22"/>
                </a:solidFill>
                <a:latin typeface="Trebuchet MS" charset="0"/>
                <a:ea typeface="Trebuchet MS" charset="0"/>
                <a:cs typeface="Trebuchet MS" charset="0"/>
              </a:rPr>
              <a:t>Arlington). Travel </a:t>
            </a:r>
            <a:r>
              <a:rPr lang="en-US" sz="3300" dirty="0">
                <a:solidFill>
                  <a:srgbClr val="141F22"/>
                </a:solidFill>
                <a:latin typeface="Trebuchet MS" charset="0"/>
                <a:ea typeface="Trebuchet MS" charset="0"/>
                <a:cs typeface="Trebuchet MS" charset="0"/>
              </a:rPr>
              <a:t>time, as expected, </a:t>
            </a:r>
            <a:r>
              <a:rPr lang="en-US" sz="3300" dirty="0" smtClean="0">
                <a:solidFill>
                  <a:srgbClr val="141F22"/>
                </a:solidFill>
                <a:latin typeface="Trebuchet MS" charset="0"/>
                <a:ea typeface="Trebuchet MS" charset="0"/>
                <a:cs typeface="Trebuchet MS" charset="0"/>
              </a:rPr>
              <a:t>is </a:t>
            </a:r>
            <a:r>
              <a:rPr lang="en-US" sz="3300" dirty="0">
                <a:solidFill>
                  <a:srgbClr val="141F22"/>
                </a:solidFill>
                <a:latin typeface="Trebuchet MS" charset="0"/>
                <a:ea typeface="Trebuchet MS" charset="0"/>
                <a:cs typeface="Trebuchet MS" charset="0"/>
              </a:rPr>
              <a:t>significantly longer the more distance </a:t>
            </a:r>
            <a:r>
              <a:rPr lang="en-US" sz="3300" dirty="0" smtClean="0">
                <a:solidFill>
                  <a:srgbClr val="141F22"/>
                </a:solidFill>
                <a:latin typeface="Trebuchet MS" charset="0"/>
                <a:ea typeface="Trebuchet MS" charset="0"/>
                <a:cs typeface="Trebuchet MS" charset="0"/>
              </a:rPr>
              <a:t>traveled. The model shows that travel time has much greater variability than turnout time. </a:t>
            </a:r>
            <a:r>
              <a:rPr lang="en-US" sz="3300" dirty="0">
                <a:latin typeface="Trebuchet MS" charset="0"/>
                <a:ea typeface="Trebuchet MS" charset="0"/>
                <a:cs typeface="Trebuchet MS" charset="0"/>
              </a:rPr>
              <a:t>Advanced Life Support (ALS) units </a:t>
            </a:r>
            <a:r>
              <a:rPr lang="en-US" sz="3300" dirty="0" smtClean="0">
                <a:latin typeface="Trebuchet MS" charset="0"/>
                <a:ea typeface="Trebuchet MS" charset="0"/>
                <a:cs typeface="Trebuchet MS" charset="0"/>
              </a:rPr>
              <a:t>have </a:t>
            </a:r>
            <a:r>
              <a:rPr lang="en-US" sz="3300" dirty="0">
                <a:latin typeface="Trebuchet MS" charset="0"/>
                <a:ea typeface="Trebuchet MS" charset="0"/>
                <a:cs typeface="Trebuchet MS" charset="0"/>
              </a:rPr>
              <a:t>the shortest travel </a:t>
            </a:r>
            <a:r>
              <a:rPr lang="en-US" sz="3300" dirty="0" smtClean="0">
                <a:latin typeface="Trebuchet MS" charset="0"/>
                <a:ea typeface="Trebuchet MS" charset="0"/>
                <a:cs typeface="Trebuchet MS" charset="0"/>
              </a:rPr>
              <a:t>times</a:t>
            </a:r>
            <a:r>
              <a:rPr lang="en-US" sz="3300" dirty="0" smtClean="0">
                <a:solidFill>
                  <a:srgbClr val="141F22"/>
                </a:solidFill>
                <a:latin typeface="Trebuchet MS" charset="0"/>
                <a:ea typeface="Trebuchet MS" charset="0"/>
                <a:cs typeface="Trebuchet MS" charset="0"/>
              </a:rPr>
              <a:t>.</a:t>
            </a:r>
            <a:endParaRPr lang="en-US" sz="3300" dirty="0">
              <a:solidFill>
                <a:srgbClr val="141F22"/>
              </a:solidFill>
              <a:latin typeface="Trebuchet MS" charset="0"/>
              <a:ea typeface="Trebuchet MS" charset="0"/>
              <a:cs typeface="Trebuchet MS" charset="0"/>
            </a:endParaRPr>
          </a:p>
        </p:txBody>
      </p:sp>
      <mc:AlternateContent xmlns:mc="http://schemas.openxmlformats.org/markup-compatibility/2006">
        <mc:Choice xmlns:a14="http://schemas.microsoft.com/office/drawing/2010/main" Requires="a14">
          <p:sp>
            <p:nvSpPr>
              <p:cNvPr id="42" name="TextBox 41"/>
              <p:cNvSpPr txBox="1"/>
              <p:nvPr/>
            </p:nvSpPr>
            <p:spPr>
              <a:xfrm>
                <a:off x="1872673" y="23918736"/>
                <a:ext cx="13666382" cy="1399742"/>
              </a:xfrm>
              <a:prstGeom prst="rect">
                <a:avLst/>
              </a:prstGeom>
              <a:noFill/>
            </p:spPr>
            <p:txBody>
              <a:bodyPr wrap="square" lIns="0" tIns="0" rIns="0" bIns="0" rtlCol="0">
                <a:spAutoFit/>
              </a:bodyPr>
              <a:lstStyle/>
              <a:p>
                <a:pPr algn="ctr">
                  <a:lnSpc>
                    <a:spcPct val="150000"/>
                  </a:lnSpc>
                </a:pPr>
                <a14:m>
                  <m:oMathPara xmlns:m="http://schemas.openxmlformats.org/officeDocument/2006/math">
                    <m:oMathParaPr>
                      <m:jc m:val="centerGroup"/>
                    </m:oMathParaPr>
                    <m:oMath xmlns:m="http://schemas.openxmlformats.org/officeDocument/2006/math">
                      <m:d>
                        <m:dPr>
                          <m:begChr m:val="["/>
                          <m:endChr m:val="]"/>
                          <m:ctrlPr>
                            <a:rPr lang="en-US" sz="3200" b="0" i="1" smtClean="0">
                              <a:latin typeface="Cambria Math" charset="0"/>
                            </a:rPr>
                          </m:ctrlPr>
                        </m:dPr>
                        <m:e>
                          <m:r>
                            <a:rPr lang="en-US" sz="3200" b="0" i="1" smtClean="0">
                              <a:latin typeface="Cambria Math" charset="0"/>
                            </a:rPr>
                            <m:t>𝑦</m:t>
                          </m:r>
                          <m:d>
                            <m:dPr>
                              <m:ctrlPr>
                                <a:rPr lang="en-US" sz="3200" b="0" i="1" smtClean="0">
                                  <a:latin typeface="Cambria Math" charset="0"/>
                                </a:rPr>
                              </m:ctrlPr>
                            </m:dPr>
                            <m:e>
                              <m:r>
                                <a:rPr lang="en-US" sz="3200" b="0" i="1" smtClean="0">
                                  <a:latin typeface="Cambria Math" charset="0"/>
                                </a:rPr>
                                <m:t>𝑠</m:t>
                              </m:r>
                              <m:r>
                                <a:rPr lang="en-US" sz="3200" b="0" i="1" baseline="-25000" smtClean="0">
                                  <a:latin typeface="Cambria Math" charset="0"/>
                                  <a:ea typeface="Cambria Math" charset="0"/>
                                  <a:cs typeface="Cambria Math" charset="0"/>
                                </a:rPr>
                                <m:t>𝜊</m:t>
                              </m:r>
                            </m:e>
                          </m:d>
                        </m:e>
                      </m:d>
                      <m:r>
                        <m:rPr>
                          <m:nor/>
                        </m:rPr>
                        <a:rPr lang="en-US" sz="3200" b="0" i="0" baseline="30000" smtClean="0">
                          <a:latin typeface="Cambria Math" charset="0"/>
                          <a:ea typeface="Cambria Math" charset="0"/>
                          <a:cs typeface="Cambria Math" charset="0"/>
                        </a:rPr>
                        <m:t>(1/3)</m:t>
                      </m:r>
                      <m:r>
                        <a:rPr lang="en-US" sz="3200" b="0" i="1" smtClean="0">
                          <a:latin typeface="Cambria Math" charset="0"/>
                          <a:ea typeface="Cambria Math" charset="0"/>
                          <a:cs typeface="Cambria Math" charset="0"/>
                        </a:rPr>
                        <m:t>= </m:t>
                      </m:r>
                      <m:r>
                        <a:rPr lang="en-US" sz="3200" b="0" i="1" smtClean="0">
                          <a:latin typeface="Cambria Math" charset="0"/>
                          <a:ea typeface="Cambria Math" charset="0"/>
                          <a:cs typeface="Cambria Math" charset="0"/>
                        </a:rPr>
                        <m:t>𝜒</m:t>
                      </m:r>
                      <m:r>
                        <m:rPr>
                          <m:sty m:val="p"/>
                        </m:rPr>
                        <a:rPr lang="el-GR" sz="3200" b="0" i="1" baseline="30000" smtClean="0">
                          <a:latin typeface="Cambria Math" charset="0"/>
                          <a:ea typeface="Cambria Math" charset="0"/>
                          <a:cs typeface="Cambria Math" charset="0"/>
                        </a:rPr>
                        <m:t>Τ</m:t>
                      </m:r>
                      <m:r>
                        <a:rPr lang="el-GR" sz="3200" b="0" i="1" smtClean="0">
                          <a:latin typeface="Cambria Math" charset="0"/>
                          <a:ea typeface="Cambria Math" charset="0"/>
                          <a:cs typeface="Cambria Math" charset="0"/>
                        </a:rPr>
                        <m:t>𝛽</m:t>
                      </m:r>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𝑤</m:t>
                      </m:r>
                      <m:d>
                        <m:dPr>
                          <m:ctrlPr>
                            <a:rPr lang="en-US" sz="3200" b="0" i="1" smtClean="0">
                              <a:latin typeface="Cambria Math" charset="0"/>
                              <a:ea typeface="Cambria Math" charset="0"/>
                              <a:cs typeface="Cambria Math" charset="0"/>
                            </a:rPr>
                          </m:ctrlPr>
                        </m:dPr>
                        <m:e>
                          <m:r>
                            <a:rPr lang="en-US" sz="3200" b="0" i="1" smtClean="0">
                              <a:latin typeface="Cambria Math" charset="0"/>
                              <a:ea typeface="Cambria Math" charset="0"/>
                              <a:cs typeface="Cambria Math" charset="0"/>
                            </a:rPr>
                            <m:t>𝑠</m:t>
                          </m:r>
                          <m:r>
                            <a:rPr lang="en-US" sz="3200" b="0" i="1" baseline="-25000" smtClean="0">
                              <a:latin typeface="Cambria Math" charset="0"/>
                              <a:ea typeface="Cambria Math" charset="0"/>
                              <a:cs typeface="Cambria Math" charset="0"/>
                            </a:rPr>
                            <m:t>𝜊</m:t>
                          </m:r>
                        </m:e>
                      </m:d>
                      <m:r>
                        <a:rPr lang="en-US" sz="3200" b="0" i="1" smtClean="0">
                          <a:latin typeface="Cambria Math" charset="0"/>
                          <a:ea typeface="Cambria Math" charset="0"/>
                          <a:cs typeface="Cambria Math" charset="0"/>
                        </a:rPr>
                        <m:t>+ </m:t>
                      </m:r>
                      <m:r>
                        <a:rPr lang="en-US" sz="3200" b="0" i="1" smtClean="0">
                          <a:latin typeface="Cambria Math" charset="0"/>
                          <a:ea typeface="Cambria Math" charset="0"/>
                          <a:cs typeface="Cambria Math" charset="0"/>
                        </a:rPr>
                        <m:t>𝜖</m:t>
                      </m:r>
                      <m:d>
                        <m:dPr>
                          <m:ctrlPr>
                            <a:rPr lang="en-US" sz="3200" b="0" i="1" smtClean="0">
                              <a:latin typeface="Cambria Math" charset="0"/>
                              <a:ea typeface="Cambria Math" charset="0"/>
                              <a:cs typeface="Cambria Math" charset="0"/>
                            </a:rPr>
                          </m:ctrlPr>
                        </m:dPr>
                        <m:e>
                          <m:r>
                            <a:rPr lang="en-US" sz="3200" b="0" i="1" smtClean="0">
                              <a:latin typeface="Cambria Math" charset="0"/>
                              <a:ea typeface="Cambria Math" charset="0"/>
                              <a:cs typeface="Cambria Math" charset="0"/>
                            </a:rPr>
                            <m:t>𝑠</m:t>
                          </m:r>
                          <m:r>
                            <a:rPr lang="en-US" sz="3200" b="0" i="1" baseline="-25000" smtClean="0">
                              <a:latin typeface="Cambria Math" charset="0"/>
                              <a:ea typeface="Cambria Math" charset="0"/>
                              <a:cs typeface="Cambria Math" charset="0"/>
                            </a:rPr>
                            <m:t>𝜊</m:t>
                          </m:r>
                        </m:e>
                      </m:d>
                    </m:oMath>
                  </m:oMathPara>
                </a14:m>
                <a:endParaRPr lang="en-US" sz="3200" b="0" dirty="0" smtClean="0">
                  <a:ea typeface="Cambria Math" charset="0"/>
                  <a:cs typeface="Cambria Math" charset="0"/>
                </a:endParaRPr>
              </a:p>
              <a:p>
                <a:pPr algn="ctr">
                  <a:lnSpc>
                    <a:spcPct val="150000"/>
                  </a:lnSpc>
                </a:pPr>
                <a:r>
                  <a:rPr lang="en-US" sz="3200" dirty="0"/>
                  <a:t>w</a:t>
                </a:r>
                <a:r>
                  <a:rPr lang="en-US" sz="3200" dirty="0" smtClean="0"/>
                  <a:t>here </a:t>
                </a:r>
                <a14:m>
                  <m:oMath xmlns:m="http://schemas.openxmlformats.org/officeDocument/2006/math">
                    <m:r>
                      <a:rPr lang="en-US" sz="3200" i="1" smtClean="0">
                        <a:latin typeface="Cambria Math" charset="0"/>
                        <a:ea typeface="Cambria Math" charset="0"/>
                        <a:cs typeface="Cambria Math" charset="0"/>
                      </a:rPr>
                      <m:t>𝜖</m:t>
                    </m:r>
                    <m:d>
                      <m:dPr>
                        <m:ctrlPr>
                          <a:rPr lang="en-US" sz="3200" b="0" i="1" smtClean="0">
                            <a:latin typeface="Cambria Math" charset="0"/>
                            <a:ea typeface="Cambria Math" charset="0"/>
                            <a:cs typeface="Cambria Math" charset="0"/>
                          </a:rPr>
                        </m:ctrlPr>
                      </m:dPr>
                      <m:e>
                        <m:r>
                          <a:rPr lang="en-US" sz="3200" b="0" i="1" smtClean="0">
                            <a:latin typeface="Cambria Math" charset="0"/>
                            <a:ea typeface="Cambria Math" charset="0"/>
                            <a:cs typeface="Cambria Math" charset="0"/>
                          </a:rPr>
                          <m:t>𝑠</m:t>
                        </m:r>
                      </m:e>
                    </m:d>
                    <m:r>
                      <a:rPr lang="en-US" sz="3200" b="0" i="1" smtClean="0">
                        <a:latin typeface="Cambria Math" charset="0"/>
                        <a:ea typeface="Cambria Math" charset="0"/>
                        <a:cs typeface="Cambria Math" charset="0"/>
                      </a:rPr>
                      <m:t>~ </m:t>
                    </m:r>
                    <m:r>
                      <a:rPr lang="en-US" sz="3200" b="0" i="1" smtClean="0">
                        <a:latin typeface="Cambria Math" charset="0"/>
                        <a:ea typeface="Cambria Math" charset="0"/>
                        <a:cs typeface="Cambria Math" charset="0"/>
                      </a:rPr>
                      <m:t>𝑁</m:t>
                    </m:r>
                    <m:d>
                      <m:dPr>
                        <m:ctrlPr>
                          <a:rPr lang="en-US" sz="3200" b="0" i="1" smtClean="0">
                            <a:latin typeface="Cambria Math" charset="0"/>
                            <a:ea typeface="Cambria Math" charset="0"/>
                            <a:cs typeface="Cambria Math" charset="0"/>
                          </a:rPr>
                        </m:ctrlPr>
                      </m:dPr>
                      <m:e>
                        <m:r>
                          <a:rPr lang="en-US" sz="3200" b="0" i="1" smtClean="0">
                            <a:latin typeface="Cambria Math" charset="0"/>
                            <a:ea typeface="Cambria Math" charset="0"/>
                            <a:cs typeface="Cambria Math" charset="0"/>
                          </a:rPr>
                          <m:t>0, </m:t>
                        </m:r>
                        <m:r>
                          <a:rPr lang="en-US" sz="3200" b="0" i="1" smtClean="0">
                            <a:latin typeface="Cambria Math" charset="0"/>
                            <a:ea typeface="Cambria Math" charset="0"/>
                            <a:cs typeface="Cambria Math" charset="0"/>
                          </a:rPr>
                          <m:t>𝜏</m:t>
                        </m:r>
                        <m:r>
                          <a:rPr lang="en-US" sz="3200" b="0" i="1" baseline="30000" smtClean="0">
                            <a:latin typeface="Cambria Math" charset="0"/>
                            <a:ea typeface="Cambria Math" charset="0"/>
                            <a:cs typeface="Cambria Math" charset="0"/>
                          </a:rPr>
                          <m:t>2</m:t>
                        </m:r>
                      </m:e>
                    </m:d>
                    <m:r>
                      <a:rPr lang="en-US" sz="3200" b="0" i="1" smtClean="0">
                        <a:latin typeface="Cambria Math" charset="0"/>
                        <a:ea typeface="Cambria Math" charset="0"/>
                        <a:cs typeface="Cambria Math" charset="0"/>
                      </a:rPr>
                      <m:t> </m:t>
                    </m:r>
                  </m:oMath>
                </a14:m>
                <a:r>
                  <a:rPr lang="en-US" sz="3200" dirty="0" smtClean="0"/>
                  <a:t>and </a:t>
                </a:r>
                <a14:m>
                  <m:oMath xmlns:m="http://schemas.openxmlformats.org/officeDocument/2006/math">
                    <m:r>
                      <a:rPr lang="en-US" sz="3200" b="0" i="1" smtClean="0">
                        <a:latin typeface="Cambria Math" charset="0"/>
                      </a:rPr>
                      <m:t>𝑤</m:t>
                    </m:r>
                    <m:d>
                      <m:dPr>
                        <m:ctrlPr>
                          <a:rPr lang="en-US" sz="3200" b="0" i="1" smtClean="0">
                            <a:latin typeface="Cambria Math" charset="0"/>
                          </a:rPr>
                        </m:ctrlPr>
                      </m:dPr>
                      <m:e>
                        <m:r>
                          <a:rPr lang="en-US" sz="3200" b="0" i="1" smtClean="0">
                            <a:latin typeface="Cambria Math" charset="0"/>
                          </a:rPr>
                          <m:t>𝑠</m:t>
                        </m:r>
                      </m:e>
                    </m:d>
                    <m:r>
                      <a:rPr lang="en-US" sz="3200" b="0" i="1" smtClean="0">
                        <a:latin typeface="Cambria Math" charset="0"/>
                      </a:rPr>
                      <m:t> ~ </m:t>
                    </m:r>
                    <m:r>
                      <a:rPr lang="en-US" sz="3200" b="0" i="1" smtClean="0">
                        <a:latin typeface="Cambria Math" charset="0"/>
                      </a:rPr>
                      <m:t>𝐺𝑃</m:t>
                    </m:r>
                    <m:r>
                      <a:rPr lang="en-US" sz="3200" b="0" i="1" smtClean="0">
                        <a:latin typeface="Cambria Math" charset="0"/>
                      </a:rPr>
                      <m:t>(0, </m:t>
                    </m:r>
                    <m:r>
                      <a:rPr lang="en-US" sz="3200" b="0" i="1" smtClean="0">
                        <a:latin typeface="Cambria Math" charset="0"/>
                      </a:rPr>
                      <m:t>𝐾</m:t>
                    </m:r>
                    <m:d>
                      <m:dPr>
                        <m:ctrlPr>
                          <a:rPr lang="en-US" sz="3200" b="0" i="1" smtClean="0">
                            <a:latin typeface="Cambria Math" charset="0"/>
                          </a:rPr>
                        </m:ctrlPr>
                      </m:dPr>
                      <m:e>
                        <m:r>
                          <a:rPr lang="en-US" sz="3200" b="0" i="1" smtClean="0">
                            <a:latin typeface="Cambria Math" charset="0"/>
                            <a:ea typeface="Cambria Math" charset="0"/>
                            <a:cs typeface="Cambria Math" charset="0"/>
                          </a:rPr>
                          <m:t>∙</m:t>
                        </m:r>
                      </m:e>
                    </m:d>
                    <m:r>
                      <a:rPr lang="en-US" sz="3200" b="0" i="1" smtClean="0">
                        <a:latin typeface="Cambria Math" charset="0"/>
                        <a:ea typeface="Cambria Math" charset="0"/>
                        <a:cs typeface="Cambria Math" charset="0"/>
                      </a:rPr>
                      <m:t>)</m:t>
                    </m:r>
                  </m:oMath>
                </a14:m>
                <a:endParaRPr lang="en-US" sz="3200" dirty="0" smtClean="0"/>
              </a:p>
            </p:txBody>
          </p:sp>
        </mc:Choice>
        <mc:Fallback>
          <p:sp>
            <p:nvSpPr>
              <p:cNvPr id="42" name="TextBox 41"/>
              <p:cNvSpPr txBox="1">
                <a:spLocks noRot="1" noChangeAspect="1" noMove="1" noResize="1" noEditPoints="1" noAdjustHandles="1" noChangeArrowheads="1" noChangeShapeType="1" noTextEdit="1"/>
              </p:cNvSpPr>
              <p:nvPr/>
            </p:nvSpPr>
            <p:spPr>
              <a:xfrm>
                <a:off x="1872673" y="23918736"/>
                <a:ext cx="13666382" cy="1399742"/>
              </a:xfrm>
              <a:prstGeom prst="rect">
                <a:avLst/>
              </a:prstGeom>
              <a:blipFill rotWithShape="0">
                <a:blip r:embed="rId14"/>
                <a:stretch>
                  <a:fillRect b="-17031"/>
                </a:stretch>
              </a:blipFill>
            </p:spPr>
            <p:txBody>
              <a:bodyPr/>
              <a:lstStyle/>
              <a:p>
                <a:r>
                  <a:rPr lang="en-US">
                    <a:noFill/>
                  </a:rPr>
                  <a:t> </a:t>
                </a:r>
              </a:p>
            </p:txBody>
          </p:sp>
        </mc:Fallback>
      </mc:AlternateContent>
      <p:pic>
        <p:nvPicPr>
          <p:cNvPr id="36" name="Picture 35"/>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426861" y="32048826"/>
            <a:ext cx="8334054" cy="6323101"/>
          </a:xfrm>
          <a:prstGeom prst="rect">
            <a:avLst/>
          </a:prstGeom>
        </p:spPr>
      </p:pic>
      <p:pic>
        <p:nvPicPr>
          <p:cNvPr id="33" name="Picture 32"/>
          <p:cNvPicPr>
            <a:picLocks noChangeAspect="1"/>
          </p:cNvPicPr>
          <p:nvPr/>
        </p:nvPicPr>
        <p:blipFill rotWithShape="1">
          <a:blip r:embed="rId16">
            <a:extLst>
              <a:ext uri="{28A0092B-C50C-407E-A947-70E740481C1C}">
                <a14:useLocalDpi xmlns:a14="http://schemas.microsoft.com/office/drawing/2010/main" val="0"/>
              </a:ext>
            </a:extLst>
          </a:blip>
          <a:srcRect l="49273" r="-49273"/>
          <a:stretch/>
        </p:blipFill>
        <p:spPr>
          <a:xfrm>
            <a:off x="17768867" y="28959011"/>
            <a:ext cx="14468198" cy="5907363"/>
          </a:xfrm>
          <a:prstGeom prst="rect">
            <a:avLst/>
          </a:prstGeom>
        </p:spPr>
      </p:pic>
      <p:pic>
        <p:nvPicPr>
          <p:cNvPr id="38" name="Picture 37"/>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2653182" y="37864819"/>
            <a:ext cx="2401098" cy="623210"/>
          </a:xfrm>
          <a:prstGeom prst="rect">
            <a:avLst/>
          </a:prstGeom>
        </p:spPr>
      </p:pic>
      <p:grpSp>
        <p:nvGrpSpPr>
          <p:cNvPr id="25" name="Group 24"/>
          <p:cNvGrpSpPr/>
          <p:nvPr/>
        </p:nvGrpSpPr>
        <p:grpSpPr>
          <a:xfrm>
            <a:off x="11388439" y="32067975"/>
            <a:ext cx="6024824" cy="6453052"/>
            <a:chOff x="2450259" y="32317423"/>
            <a:chExt cx="6024824" cy="6453052"/>
          </a:xfrm>
        </p:grpSpPr>
        <p:pic>
          <p:nvPicPr>
            <p:cNvPr id="35" name="Picture 34"/>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450259" y="32317423"/>
              <a:ext cx="6024824" cy="6345293"/>
            </a:xfrm>
            <a:prstGeom prst="rect">
              <a:avLst/>
            </a:prstGeom>
          </p:spPr>
        </p:pic>
        <p:pic>
          <p:nvPicPr>
            <p:cNvPr id="34" name="Picture 33"/>
            <p:cNvPicPr>
              <a:picLocks noChangeAspect="1"/>
            </p:cNvPicPr>
            <p:nvPr/>
          </p:nvPicPr>
          <p:blipFill rotWithShape="1">
            <a:blip r:embed="rId19">
              <a:extLst>
                <a:ext uri="{28A0092B-C50C-407E-A947-70E740481C1C}">
                  <a14:useLocalDpi xmlns:a14="http://schemas.microsoft.com/office/drawing/2010/main" val="0"/>
                </a:ext>
              </a:extLst>
            </a:blip>
            <a:srcRect t="1" b="80362"/>
            <a:stretch/>
          </p:blipFill>
          <p:spPr>
            <a:xfrm>
              <a:off x="2556356" y="36948755"/>
              <a:ext cx="2300921" cy="385848"/>
            </a:xfrm>
            <a:prstGeom prst="rect">
              <a:avLst/>
            </a:prstGeom>
          </p:spPr>
        </p:pic>
        <p:pic>
          <p:nvPicPr>
            <p:cNvPr id="49" name="Picture 48"/>
            <p:cNvPicPr>
              <a:picLocks noChangeAspect="1"/>
            </p:cNvPicPr>
            <p:nvPr/>
          </p:nvPicPr>
          <p:blipFill rotWithShape="1">
            <a:blip r:embed="rId19">
              <a:extLst>
                <a:ext uri="{28A0092B-C50C-407E-A947-70E740481C1C}">
                  <a14:useLocalDpi xmlns:a14="http://schemas.microsoft.com/office/drawing/2010/main" val="0"/>
                </a:ext>
              </a:extLst>
            </a:blip>
            <a:srcRect t="16103" r="70380"/>
            <a:stretch/>
          </p:blipFill>
          <p:spPr>
            <a:xfrm>
              <a:off x="2610752" y="37270673"/>
              <a:ext cx="620091" cy="1499802"/>
            </a:xfrm>
            <a:prstGeom prst="rect">
              <a:avLst/>
            </a:prstGeom>
          </p:spPr>
        </p:pic>
      </p:grpSp>
      <p:sp>
        <p:nvSpPr>
          <p:cNvPr id="43" name="TextBox 42"/>
          <p:cNvSpPr txBox="1"/>
          <p:nvPr/>
        </p:nvSpPr>
        <p:spPr>
          <a:xfrm>
            <a:off x="16255835" y="14716497"/>
            <a:ext cx="9810954" cy="461665"/>
          </a:xfrm>
          <a:prstGeom prst="rect">
            <a:avLst/>
          </a:prstGeom>
          <a:solidFill>
            <a:schemeClr val="bg1"/>
          </a:solidFill>
        </p:spPr>
        <p:txBody>
          <a:bodyPr wrap="square" rtlCol="0">
            <a:spAutoFit/>
          </a:bodyPr>
          <a:lstStyle/>
          <a:p>
            <a:pPr algn="ctr">
              <a:spcAft>
                <a:spcPts val="1000"/>
              </a:spcAft>
            </a:pPr>
            <a:r>
              <a:rPr lang="en-US" sz="2400" dirty="0" smtClean="0">
                <a:latin typeface="Trebuchet MS" charset="0"/>
                <a:ea typeface="Trebuchet MS" charset="0"/>
                <a:cs typeface="Trebuchet MS" charset="0"/>
              </a:rPr>
              <a:t>Density Plot of Response Times</a:t>
            </a:r>
            <a:endParaRPr lang="en-US" sz="2400" dirty="0">
              <a:latin typeface="Trebuchet MS" charset="0"/>
              <a:ea typeface="Trebuchet MS" charset="0"/>
              <a:cs typeface="Trebuchet MS" charset="0"/>
            </a:endParaRPr>
          </a:p>
        </p:txBody>
      </p:sp>
      <p:sp>
        <p:nvSpPr>
          <p:cNvPr id="50" name="TextBox 49"/>
          <p:cNvSpPr txBox="1"/>
          <p:nvPr/>
        </p:nvSpPr>
        <p:spPr>
          <a:xfrm>
            <a:off x="16630199" y="19336202"/>
            <a:ext cx="9304830" cy="461665"/>
          </a:xfrm>
          <a:prstGeom prst="rect">
            <a:avLst/>
          </a:prstGeom>
          <a:solidFill>
            <a:schemeClr val="bg1"/>
          </a:solidFill>
        </p:spPr>
        <p:txBody>
          <a:bodyPr wrap="square" rtlCol="0">
            <a:spAutoFit/>
          </a:bodyPr>
          <a:lstStyle/>
          <a:p>
            <a:pPr algn="ctr">
              <a:spcAft>
                <a:spcPts val="1000"/>
              </a:spcAft>
            </a:pPr>
            <a:r>
              <a:rPr lang="en-US" sz="2400" dirty="0" smtClean="0">
                <a:latin typeface="Trebuchet MS" charset="0"/>
                <a:ea typeface="Trebuchet MS" charset="0"/>
                <a:cs typeface="Trebuchet MS" charset="0"/>
              </a:rPr>
              <a:t>Time (sec)</a:t>
            </a:r>
            <a:endParaRPr lang="en-US" sz="2400" dirty="0">
              <a:latin typeface="Trebuchet MS" charset="0"/>
              <a:ea typeface="Trebuchet MS" charset="0"/>
              <a:cs typeface="Trebuchet MS" charset="0"/>
            </a:endParaRPr>
          </a:p>
        </p:txBody>
      </p:sp>
      <p:sp>
        <p:nvSpPr>
          <p:cNvPr id="52" name="TextBox 51"/>
          <p:cNvSpPr txBox="1"/>
          <p:nvPr/>
        </p:nvSpPr>
        <p:spPr>
          <a:xfrm>
            <a:off x="26413066" y="14196760"/>
            <a:ext cx="7366325" cy="461665"/>
          </a:xfrm>
          <a:prstGeom prst="rect">
            <a:avLst/>
          </a:prstGeom>
          <a:solidFill>
            <a:schemeClr val="bg1"/>
          </a:solidFill>
        </p:spPr>
        <p:txBody>
          <a:bodyPr wrap="square" rtlCol="0">
            <a:spAutoFit/>
          </a:bodyPr>
          <a:lstStyle/>
          <a:p>
            <a:pPr algn="ctr">
              <a:spcAft>
                <a:spcPts val="1000"/>
              </a:spcAft>
            </a:pPr>
            <a:r>
              <a:rPr lang="en-US" sz="2400" dirty="0" smtClean="0">
                <a:latin typeface="Trebuchet MS" charset="0"/>
                <a:ea typeface="Trebuchet MS" charset="0"/>
                <a:cs typeface="Trebuchet MS" charset="0"/>
              </a:rPr>
              <a:t>Median Travel Time by Firebox</a:t>
            </a:r>
            <a:endParaRPr lang="en-US" sz="2400" dirty="0">
              <a:latin typeface="Trebuchet MS" charset="0"/>
              <a:ea typeface="Trebuchet MS" charset="0"/>
              <a:cs typeface="Trebuchet MS" charset="0"/>
            </a:endParaRPr>
          </a:p>
        </p:txBody>
      </p:sp>
      <p:sp>
        <p:nvSpPr>
          <p:cNvPr id="53" name="TextBox 52"/>
          <p:cNvSpPr txBox="1"/>
          <p:nvPr/>
        </p:nvSpPr>
        <p:spPr>
          <a:xfrm rot="5400000">
            <a:off x="31378570" y="16925417"/>
            <a:ext cx="4654223" cy="461665"/>
          </a:xfrm>
          <a:prstGeom prst="rect">
            <a:avLst/>
          </a:prstGeom>
          <a:solidFill>
            <a:schemeClr val="bg1"/>
          </a:solidFill>
        </p:spPr>
        <p:txBody>
          <a:bodyPr wrap="square" rtlCol="0">
            <a:spAutoFit/>
          </a:bodyPr>
          <a:lstStyle/>
          <a:p>
            <a:pPr algn="ctr">
              <a:spcAft>
                <a:spcPts val="1000"/>
              </a:spcAft>
            </a:pPr>
            <a:r>
              <a:rPr lang="en-US" sz="2400" dirty="0" smtClean="0">
                <a:latin typeface="Trebuchet MS" charset="0"/>
                <a:ea typeface="Trebuchet MS" charset="0"/>
                <a:cs typeface="Trebuchet MS" charset="0"/>
              </a:rPr>
              <a:t>Time (sec)</a:t>
            </a:r>
            <a:endParaRPr lang="en-US" sz="2400" dirty="0">
              <a:latin typeface="Trebuchet MS" charset="0"/>
              <a:ea typeface="Trebuchet MS" charset="0"/>
              <a:cs typeface="Trebuchet MS" charset="0"/>
            </a:endParaRPr>
          </a:p>
        </p:txBody>
      </p:sp>
      <p:sp>
        <p:nvSpPr>
          <p:cNvPr id="55" name="TextBox 54"/>
          <p:cNvSpPr txBox="1"/>
          <p:nvPr/>
        </p:nvSpPr>
        <p:spPr>
          <a:xfrm>
            <a:off x="17413263" y="9956117"/>
            <a:ext cx="6919272" cy="461665"/>
          </a:xfrm>
          <a:prstGeom prst="rect">
            <a:avLst/>
          </a:prstGeom>
          <a:solidFill>
            <a:schemeClr val="bg1"/>
          </a:solidFill>
        </p:spPr>
        <p:txBody>
          <a:bodyPr wrap="square" rtlCol="0">
            <a:spAutoFit/>
          </a:bodyPr>
          <a:lstStyle/>
          <a:p>
            <a:pPr algn="r">
              <a:spcAft>
                <a:spcPts val="1000"/>
              </a:spcAft>
            </a:pPr>
            <a:r>
              <a:rPr lang="en-US" sz="2400" dirty="0" smtClean="0">
                <a:latin typeface="Trebuchet MS" charset="0"/>
                <a:ea typeface="Trebuchet MS" charset="0"/>
                <a:cs typeface="Trebuchet MS" charset="0"/>
              </a:rPr>
              <a:t>Structure Fire CAD Call Counts by Hour and Year</a:t>
            </a:r>
            <a:endParaRPr lang="en-US" sz="2400" dirty="0">
              <a:latin typeface="Trebuchet MS" charset="0"/>
              <a:ea typeface="Trebuchet MS" charset="0"/>
              <a:cs typeface="Trebuchet MS" charset="0"/>
            </a:endParaRPr>
          </a:p>
        </p:txBody>
      </p:sp>
      <p:sp>
        <p:nvSpPr>
          <p:cNvPr id="57" name="TextBox 56"/>
          <p:cNvSpPr txBox="1"/>
          <p:nvPr/>
        </p:nvSpPr>
        <p:spPr>
          <a:xfrm>
            <a:off x="24568950" y="10806943"/>
            <a:ext cx="1576846" cy="461665"/>
          </a:xfrm>
          <a:prstGeom prst="rect">
            <a:avLst/>
          </a:prstGeom>
          <a:solidFill>
            <a:schemeClr val="bg1"/>
          </a:solidFill>
        </p:spPr>
        <p:txBody>
          <a:bodyPr wrap="square" rtlCol="0">
            <a:spAutoFit/>
          </a:bodyPr>
          <a:lstStyle/>
          <a:p>
            <a:pPr algn="ctr">
              <a:spcAft>
                <a:spcPts val="1000"/>
              </a:spcAft>
            </a:pPr>
            <a:r>
              <a:rPr lang="en-US" sz="2400" dirty="0" smtClean="0">
                <a:latin typeface="Trebuchet MS" charset="0"/>
                <a:ea typeface="Trebuchet MS" charset="0"/>
                <a:cs typeface="Trebuchet MS" charset="0"/>
              </a:rPr>
              <a:t>Year</a:t>
            </a:r>
            <a:endParaRPr lang="en-US" sz="2400" dirty="0">
              <a:latin typeface="Trebuchet MS" charset="0"/>
              <a:ea typeface="Trebuchet MS" charset="0"/>
              <a:cs typeface="Trebuchet MS" charset="0"/>
            </a:endParaRPr>
          </a:p>
        </p:txBody>
      </p:sp>
      <p:sp>
        <p:nvSpPr>
          <p:cNvPr id="58" name="TextBox 57"/>
          <p:cNvSpPr txBox="1"/>
          <p:nvPr/>
        </p:nvSpPr>
        <p:spPr>
          <a:xfrm>
            <a:off x="11448287" y="5123579"/>
            <a:ext cx="24597725" cy="1200329"/>
          </a:xfrm>
          <a:prstGeom prst="rect">
            <a:avLst/>
          </a:prstGeom>
          <a:noFill/>
        </p:spPr>
        <p:txBody>
          <a:bodyPr wrap="square" rtlCol="0">
            <a:spAutoFit/>
          </a:bodyPr>
          <a:lstStyle/>
          <a:p>
            <a:r>
              <a:rPr lang="en-US" sz="3600" b="0" i="0" dirty="0" smtClean="0">
                <a:solidFill>
                  <a:schemeClr val="tx1">
                    <a:lumMod val="50000"/>
                    <a:lumOff val="50000"/>
                  </a:schemeClr>
                </a:solidFill>
                <a:latin typeface="Raleway" charset="0"/>
                <a:ea typeface="Raleway" charset="0"/>
                <a:cs typeface="Raleway" charset="0"/>
              </a:rPr>
              <a:t>Madison Arnsbarger (VT) and Claire </a:t>
            </a:r>
            <a:r>
              <a:rPr lang="en-US" sz="3600" b="0" i="0" dirty="0" err="1" smtClean="0">
                <a:solidFill>
                  <a:schemeClr val="tx1">
                    <a:lumMod val="50000"/>
                    <a:lumOff val="50000"/>
                  </a:schemeClr>
                </a:solidFill>
                <a:latin typeface="Raleway" charset="0"/>
                <a:ea typeface="Raleway" charset="0"/>
                <a:cs typeface="Raleway" charset="0"/>
              </a:rPr>
              <a:t>Kelling</a:t>
            </a:r>
            <a:r>
              <a:rPr lang="en-US" sz="3600" b="0" i="0" dirty="0" smtClean="0">
                <a:solidFill>
                  <a:schemeClr val="tx1">
                    <a:lumMod val="50000"/>
                    <a:lumOff val="50000"/>
                  </a:schemeClr>
                </a:solidFill>
                <a:latin typeface="Raleway" charset="0"/>
                <a:ea typeface="Raleway" charset="0"/>
                <a:cs typeface="Raleway" charset="0"/>
              </a:rPr>
              <a:t> (Penn State) </a:t>
            </a:r>
            <a:r>
              <a:rPr lang="en-US" sz="3600" dirty="0" smtClean="0">
                <a:solidFill>
                  <a:schemeClr val="tx1">
                    <a:lumMod val="50000"/>
                    <a:lumOff val="50000"/>
                  </a:schemeClr>
                </a:solidFill>
                <a:latin typeface="Raleway" charset="0"/>
                <a:ea typeface="Raleway" charset="0"/>
                <a:cs typeface="Raleway" charset="0"/>
              </a:rPr>
              <a:t>with Joshua Goldstein and Gizem Korkmaz (SDAL)</a:t>
            </a:r>
          </a:p>
          <a:p>
            <a:r>
              <a:rPr lang="en-US" sz="3600" b="0" i="0" dirty="0" smtClean="0">
                <a:solidFill>
                  <a:schemeClr val="tx1">
                    <a:lumMod val="50000"/>
                    <a:lumOff val="50000"/>
                  </a:schemeClr>
                </a:solidFill>
                <a:latin typeface="Raleway" charset="0"/>
                <a:ea typeface="Raleway" charset="0"/>
                <a:cs typeface="Raleway" charset="0"/>
              </a:rPr>
              <a:t>Sponsor: Battalion Chief Mike </a:t>
            </a:r>
            <a:r>
              <a:rPr lang="en-US" sz="3600" b="0" i="0" dirty="0" err="1" smtClean="0">
                <a:solidFill>
                  <a:schemeClr val="tx1">
                    <a:lumMod val="50000"/>
                    <a:lumOff val="50000"/>
                  </a:schemeClr>
                </a:solidFill>
                <a:latin typeface="Raleway" charset="0"/>
                <a:ea typeface="Raleway" charset="0"/>
                <a:cs typeface="Raleway" charset="0"/>
              </a:rPr>
              <a:t>Gowen</a:t>
            </a:r>
            <a:r>
              <a:rPr lang="en-US" sz="3600" b="0" i="0" dirty="0" smtClean="0">
                <a:solidFill>
                  <a:schemeClr val="tx1">
                    <a:lumMod val="50000"/>
                    <a:lumOff val="50000"/>
                  </a:schemeClr>
                </a:solidFill>
                <a:latin typeface="Raleway" charset="0"/>
                <a:ea typeface="Raleway" charset="0"/>
                <a:cs typeface="Raleway" charset="0"/>
              </a:rPr>
              <a:t>, Arlington County Fire Department</a:t>
            </a:r>
            <a:endParaRPr lang="en-US" sz="3600" b="0" i="0" dirty="0">
              <a:solidFill>
                <a:schemeClr val="tx1">
                  <a:lumMod val="50000"/>
                  <a:lumOff val="50000"/>
                </a:schemeClr>
              </a:solidFill>
              <a:latin typeface="Raleway" charset="0"/>
              <a:ea typeface="Raleway" charset="0"/>
              <a:cs typeface="Raleway" charset="0"/>
            </a:endParaRPr>
          </a:p>
        </p:txBody>
      </p:sp>
      <p:sp>
        <p:nvSpPr>
          <p:cNvPr id="59" name="TextBox 58"/>
          <p:cNvSpPr txBox="1"/>
          <p:nvPr/>
        </p:nvSpPr>
        <p:spPr>
          <a:xfrm>
            <a:off x="11448287" y="658368"/>
            <a:ext cx="25127713" cy="3170099"/>
          </a:xfrm>
          <a:prstGeom prst="rect">
            <a:avLst/>
          </a:prstGeom>
          <a:noFill/>
        </p:spPr>
        <p:txBody>
          <a:bodyPr wrap="square" rtlCol="0">
            <a:spAutoFit/>
          </a:bodyPr>
          <a:lstStyle/>
          <a:p>
            <a:r>
              <a:rPr lang="en-US" sz="20000" dirty="0" smtClean="0">
                <a:solidFill>
                  <a:srgbClr val="141F22"/>
                </a:solidFill>
                <a:latin typeface="Blanch Caps" charset="0"/>
                <a:ea typeface="Blanch Caps" charset="0"/>
                <a:cs typeface="Blanch Caps" charset="0"/>
              </a:rPr>
              <a:t>MODELING </a:t>
            </a:r>
            <a:r>
              <a:rPr lang="en-US" sz="20000" dirty="0" err="1" smtClean="0">
                <a:solidFill>
                  <a:srgbClr val="141F22"/>
                </a:solidFill>
                <a:latin typeface="Blanch Caps" charset="0"/>
                <a:ea typeface="Blanch Caps" charset="0"/>
                <a:cs typeface="Blanch Caps" charset="0"/>
              </a:rPr>
              <a:t>REsPONSE</a:t>
            </a:r>
            <a:r>
              <a:rPr lang="en-US" sz="20000" dirty="0" smtClean="0">
                <a:solidFill>
                  <a:srgbClr val="141F22"/>
                </a:solidFill>
                <a:latin typeface="Blanch Caps" charset="0"/>
                <a:ea typeface="Blanch Caps" charset="0"/>
                <a:cs typeface="Blanch Caps" charset="0"/>
              </a:rPr>
              <a:t> TIME FOR </a:t>
            </a:r>
            <a:endParaRPr lang="en-US" sz="20000" b="0" i="0" dirty="0">
              <a:solidFill>
                <a:srgbClr val="141F22"/>
              </a:solidFill>
              <a:latin typeface="Blanch Caps" charset="0"/>
              <a:ea typeface="Blanch Caps" charset="0"/>
              <a:cs typeface="Blanch Caps" charset="0"/>
            </a:endParaRPr>
          </a:p>
        </p:txBody>
      </p:sp>
      <p:sp>
        <p:nvSpPr>
          <p:cNvPr id="60" name="TextBox 59"/>
          <p:cNvSpPr txBox="1"/>
          <p:nvPr/>
        </p:nvSpPr>
        <p:spPr>
          <a:xfrm>
            <a:off x="11448288" y="2212469"/>
            <a:ext cx="19751040" cy="3170099"/>
          </a:xfrm>
          <a:prstGeom prst="rect">
            <a:avLst/>
          </a:prstGeom>
          <a:noFill/>
        </p:spPr>
        <p:txBody>
          <a:bodyPr wrap="square" rtlCol="0">
            <a:spAutoFit/>
          </a:bodyPr>
          <a:lstStyle/>
          <a:p>
            <a:r>
              <a:rPr lang="en-US" sz="20000" dirty="0" smtClean="0">
                <a:solidFill>
                  <a:srgbClr val="141F22"/>
                </a:solidFill>
                <a:latin typeface="Blanch Caps" charset="0"/>
                <a:ea typeface="Blanch Caps" charset="0"/>
                <a:cs typeface="Blanch Caps" charset="0"/>
              </a:rPr>
              <a:t>STRUCTURE FIRES</a:t>
            </a:r>
            <a:endParaRPr lang="en-US" sz="20000" b="0" i="0" dirty="0">
              <a:solidFill>
                <a:srgbClr val="141F22"/>
              </a:solidFill>
              <a:latin typeface="Blanch Caps" charset="0"/>
              <a:ea typeface="Blanch Caps" charset="0"/>
              <a:cs typeface="Blanch Caps" charset="0"/>
            </a:endParaRPr>
          </a:p>
        </p:txBody>
      </p:sp>
      <p:sp>
        <p:nvSpPr>
          <p:cNvPr id="62" name="TextBox 61"/>
          <p:cNvSpPr txBox="1"/>
          <p:nvPr/>
        </p:nvSpPr>
        <p:spPr>
          <a:xfrm>
            <a:off x="1922392" y="9601062"/>
            <a:ext cx="14980515" cy="3647152"/>
          </a:xfrm>
          <a:prstGeom prst="rect">
            <a:avLst/>
          </a:prstGeom>
          <a:noFill/>
        </p:spPr>
        <p:txBody>
          <a:bodyPr wrap="square" rtlCol="0">
            <a:spAutoFit/>
          </a:bodyPr>
          <a:lstStyle/>
          <a:p>
            <a:r>
              <a:rPr lang="en-US" sz="3300" dirty="0" smtClean="0">
                <a:latin typeface="Trebuchet MS" charset="0"/>
                <a:ea typeface="Trebuchet MS" charset="0"/>
                <a:cs typeface="Trebuchet MS" charset="0"/>
              </a:rPr>
              <a:t>Fire &amp; Emergency Data from Arlington County Fire Department (ACFD)</a:t>
            </a:r>
          </a:p>
          <a:p>
            <a:pPr marL="571500" indent="-571500" fontAlgn="base">
              <a:buFont typeface="Arial" charset="0"/>
              <a:buChar char="•"/>
            </a:pPr>
            <a:r>
              <a:rPr lang="en-US" sz="3300" dirty="0">
                <a:latin typeface="Trebuchet MS" charset="0"/>
                <a:ea typeface="Trebuchet MS" charset="0"/>
                <a:cs typeface="Trebuchet MS" charset="0"/>
              </a:rPr>
              <a:t>399,158 observations, 68 </a:t>
            </a:r>
            <a:r>
              <a:rPr lang="en-US" sz="3300" dirty="0" smtClean="0">
                <a:latin typeface="Trebuchet MS" charset="0"/>
                <a:ea typeface="Trebuchet MS" charset="0"/>
                <a:cs typeface="Trebuchet MS" charset="0"/>
              </a:rPr>
              <a:t>variables including the location and the time of the incident, CAD </a:t>
            </a:r>
            <a:r>
              <a:rPr lang="en-US" sz="3300" dirty="0">
                <a:latin typeface="Trebuchet MS" charset="0"/>
                <a:ea typeface="Trebuchet MS" charset="0"/>
                <a:cs typeface="Trebuchet MS" charset="0"/>
              </a:rPr>
              <a:t>(computer-aided dispatch) call </a:t>
            </a:r>
            <a:r>
              <a:rPr lang="en-US" sz="3300" dirty="0" smtClean="0">
                <a:latin typeface="Trebuchet MS" charset="0"/>
                <a:ea typeface="Trebuchet MS" charset="0"/>
                <a:cs typeface="Trebuchet MS" charset="0"/>
              </a:rPr>
              <a:t>types, </a:t>
            </a:r>
            <a:r>
              <a:rPr lang="en-US" sz="3300" dirty="0">
                <a:latin typeface="Trebuchet MS" charset="0"/>
                <a:ea typeface="Trebuchet MS" charset="0"/>
                <a:cs typeface="Trebuchet MS" charset="0"/>
              </a:rPr>
              <a:t>fire </a:t>
            </a:r>
            <a:r>
              <a:rPr lang="en-US" sz="3300" dirty="0" smtClean="0">
                <a:latin typeface="Trebuchet MS" charset="0"/>
                <a:ea typeface="Trebuchet MS" charset="0"/>
                <a:cs typeface="Trebuchet MS" charset="0"/>
              </a:rPr>
              <a:t>stations, responding units</a:t>
            </a:r>
          </a:p>
          <a:p>
            <a:pPr marL="571500" indent="-571500" fontAlgn="base">
              <a:buFont typeface="Arial" charset="0"/>
              <a:buChar char="•"/>
            </a:pPr>
            <a:r>
              <a:rPr lang="en-US" sz="3300" dirty="0">
                <a:latin typeface="Trebuchet MS" charset="0"/>
                <a:ea typeface="Trebuchet MS" charset="0"/>
                <a:cs typeface="Trebuchet MS" charset="0"/>
              </a:rPr>
              <a:t>Years </a:t>
            </a:r>
            <a:r>
              <a:rPr lang="en-US" sz="3300" dirty="0" smtClean="0">
                <a:latin typeface="Trebuchet MS" charset="0"/>
                <a:ea typeface="Trebuchet MS" charset="0"/>
                <a:cs typeface="Trebuchet MS" charset="0"/>
              </a:rPr>
              <a:t>2010-2015</a:t>
            </a:r>
          </a:p>
          <a:p>
            <a:pPr marL="571500" lvl="1" indent="-571500">
              <a:buFont typeface="Arial" charset="0"/>
              <a:buChar char="•"/>
            </a:pPr>
            <a:r>
              <a:rPr lang="en-US" sz="3300" dirty="0" smtClean="0">
                <a:latin typeface="Trebuchet MS" charset="0"/>
                <a:ea typeface="Trebuchet MS" charset="0"/>
                <a:cs typeface="Trebuchet MS" charset="0"/>
              </a:rPr>
              <a:t>ACFD has 10 </a:t>
            </a:r>
            <a:r>
              <a:rPr lang="en-US" sz="3300" dirty="0">
                <a:latin typeface="Trebuchet MS" charset="0"/>
                <a:ea typeface="Trebuchet MS" charset="0"/>
                <a:cs typeface="Trebuchet MS" charset="0"/>
              </a:rPr>
              <a:t>fire </a:t>
            </a:r>
            <a:r>
              <a:rPr lang="en-US" sz="3300" dirty="0" smtClean="0">
                <a:latin typeface="Trebuchet MS" charset="0"/>
                <a:ea typeface="Trebuchet MS" charset="0"/>
                <a:cs typeface="Trebuchet MS" charset="0"/>
              </a:rPr>
              <a:t>stations and 30 apparatus types</a:t>
            </a:r>
          </a:p>
          <a:p>
            <a:pPr marL="571500" lvl="1" indent="-571500">
              <a:buFont typeface="Arial" charset="0"/>
              <a:buChar char="•"/>
            </a:pPr>
            <a:r>
              <a:rPr lang="en-US" sz="3300" dirty="0" smtClean="0">
                <a:latin typeface="Trebuchet MS" charset="0"/>
                <a:ea typeface="Trebuchet MS" charset="0"/>
                <a:cs typeface="Trebuchet MS" charset="0"/>
              </a:rPr>
              <a:t>We focus on CAD calls coded as </a:t>
            </a:r>
            <a:r>
              <a:rPr lang="en-US" sz="3300" dirty="0" smtClean="0">
                <a:latin typeface="Trebuchet MS" charset="0"/>
                <a:ea typeface="Trebuchet MS" charset="0"/>
                <a:cs typeface="Trebuchet MS" charset="0"/>
              </a:rPr>
              <a:t>Structure Fire (SF)</a:t>
            </a:r>
            <a:endParaRPr lang="en-US" sz="3300" dirty="0" smtClean="0">
              <a:latin typeface="Trebuchet MS" charset="0"/>
              <a:ea typeface="Trebuchet MS" charset="0"/>
              <a:cs typeface="Trebuchet MS" charset="0"/>
            </a:endParaRPr>
          </a:p>
        </p:txBody>
      </p:sp>
      <p:sp>
        <p:nvSpPr>
          <p:cNvPr id="8" name="Rectangle 7"/>
          <p:cNvSpPr/>
          <p:nvPr/>
        </p:nvSpPr>
        <p:spPr>
          <a:xfrm>
            <a:off x="1922967" y="13166573"/>
            <a:ext cx="14025696" cy="2631490"/>
          </a:xfrm>
          <a:prstGeom prst="rect">
            <a:avLst/>
          </a:prstGeom>
        </p:spPr>
        <p:txBody>
          <a:bodyPr wrap="square">
            <a:spAutoFit/>
          </a:bodyPr>
          <a:lstStyle/>
          <a:p>
            <a:pPr marL="571500" indent="-571500">
              <a:buFont typeface="Arial" charset="0"/>
              <a:buChar char="•"/>
              <a:defRPr/>
            </a:pPr>
            <a:r>
              <a:rPr lang="en-US" sz="3300" dirty="0" smtClean="0">
                <a:latin typeface="Trebuchet MS" charset="0"/>
                <a:ea typeface="Trebuchet MS" charset="0"/>
                <a:cs typeface="Trebuchet MS" charset="0"/>
              </a:rPr>
              <a:t>We use two definitions of response time:</a:t>
            </a:r>
          </a:p>
          <a:p>
            <a:pPr marL="1474788" lvl="1" indent="-655638">
              <a:buFont typeface="Arial" charset="0"/>
              <a:buChar char="•"/>
              <a:defRPr/>
            </a:pPr>
            <a:r>
              <a:rPr lang="en-US" sz="3300" dirty="0" smtClean="0">
                <a:latin typeface="Trebuchet MS" charset="0"/>
                <a:ea typeface="Trebuchet MS" charset="0"/>
                <a:cs typeface="Trebuchet MS" charset="0"/>
              </a:rPr>
              <a:t>turnout time = </a:t>
            </a:r>
            <a:r>
              <a:rPr lang="en-US" sz="3300" dirty="0" err="1" smtClean="0">
                <a:latin typeface="Trebuchet MS" charset="0"/>
                <a:ea typeface="Trebuchet MS" charset="0"/>
                <a:cs typeface="Trebuchet MS" charset="0"/>
              </a:rPr>
              <a:t>en</a:t>
            </a:r>
            <a:r>
              <a:rPr lang="en-US" sz="3300" dirty="0" smtClean="0">
                <a:latin typeface="Trebuchet MS" charset="0"/>
                <a:ea typeface="Trebuchet MS" charset="0"/>
                <a:cs typeface="Trebuchet MS" charset="0"/>
              </a:rPr>
              <a:t> </a:t>
            </a:r>
            <a:r>
              <a:rPr lang="en-US" sz="3300" dirty="0">
                <a:latin typeface="Trebuchet MS" charset="0"/>
                <a:ea typeface="Trebuchet MS" charset="0"/>
                <a:cs typeface="Trebuchet MS" charset="0"/>
              </a:rPr>
              <a:t>route time – dispatch </a:t>
            </a:r>
            <a:r>
              <a:rPr lang="en-US" sz="3300" dirty="0" smtClean="0">
                <a:latin typeface="Trebuchet MS" charset="0"/>
                <a:ea typeface="Trebuchet MS" charset="0"/>
                <a:cs typeface="Trebuchet MS" charset="0"/>
              </a:rPr>
              <a:t>time</a:t>
            </a:r>
          </a:p>
          <a:p>
            <a:pPr marL="1474788" lvl="1" indent="-655638">
              <a:buFont typeface="Arial" charset="0"/>
              <a:buChar char="•"/>
              <a:defRPr/>
            </a:pPr>
            <a:r>
              <a:rPr lang="en-US" sz="3300" dirty="0" smtClean="0">
                <a:latin typeface="Trebuchet MS" charset="0"/>
                <a:ea typeface="Trebuchet MS" charset="0"/>
                <a:cs typeface="Trebuchet MS" charset="0"/>
              </a:rPr>
              <a:t>travel time = arrival </a:t>
            </a:r>
            <a:r>
              <a:rPr lang="en-US" sz="3300" dirty="0">
                <a:latin typeface="Trebuchet MS" charset="0"/>
                <a:ea typeface="Trebuchet MS" charset="0"/>
                <a:cs typeface="Trebuchet MS" charset="0"/>
              </a:rPr>
              <a:t>time – </a:t>
            </a:r>
            <a:r>
              <a:rPr lang="en-US" sz="3300" dirty="0" err="1">
                <a:latin typeface="Trebuchet MS" charset="0"/>
                <a:ea typeface="Trebuchet MS" charset="0"/>
                <a:cs typeface="Trebuchet MS" charset="0"/>
              </a:rPr>
              <a:t>en</a:t>
            </a:r>
            <a:r>
              <a:rPr lang="en-US" sz="3300" dirty="0">
                <a:latin typeface="Trebuchet MS" charset="0"/>
                <a:ea typeface="Trebuchet MS" charset="0"/>
                <a:cs typeface="Trebuchet MS" charset="0"/>
              </a:rPr>
              <a:t> route time</a:t>
            </a:r>
            <a:endParaRPr lang="en-US" sz="3300" dirty="0" smtClean="0">
              <a:latin typeface="Trebuchet MS" charset="0"/>
              <a:ea typeface="Trebuchet MS" charset="0"/>
              <a:cs typeface="Trebuchet MS" charset="0"/>
            </a:endParaRPr>
          </a:p>
          <a:p>
            <a:pPr marL="571500" indent="-571500">
              <a:buFont typeface="Arial" charset="0"/>
              <a:buChar char="•"/>
              <a:defRPr/>
            </a:pPr>
            <a:r>
              <a:rPr lang="en-US" sz="3300" dirty="0" smtClean="0">
                <a:latin typeface="Trebuchet MS" charset="0"/>
                <a:ea typeface="Trebuchet MS" charset="0"/>
                <a:cs typeface="Trebuchet MS" charset="0"/>
              </a:rPr>
              <a:t>Standards </a:t>
            </a:r>
            <a:r>
              <a:rPr lang="en-US" sz="3300" dirty="0">
                <a:latin typeface="Trebuchet MS" charset="0"/>
                <a:ea typeface="Trebuchet MS" charset="0"/>
                <a:cs typeface="Trebuchet MS" charset="0"/>
              </a:rPr>
              <a:t>of the National Fire Protection Agency (NFPA):</a:t>
            </a:r>
          </a:p>
          <a:p>
            <a:pPr marL="1433513" lvl="1" indent="-614363">
              <a:buFont typeface="Arial" charset="0"/>
              <a:buChar char="•"/>
              <a:defRPr/>
            </a:pPr>
            <a:r>
              <a:rPr lang="en-US" sz="3300" dirty="0">
                <a:latin typeface="Trebuchet MS" charset="0"/>
                <a:ea typeface="Trebuchet MS" charset="0"/>
                <a:cs typeface="Trebuchet MS" charset="0"/>
              </a:rPr>
              <a:t>80 seconds for turnout </a:t>
            </a:r>
            <a:r>
              <a:rPr lang="en-US" sz="3300" dirty="0" smtClean="0">
                <a:latin typeface="Trebuchet MS" charset="0"/>
                <a:ea typeface="Trebuchet MS" charset="0"/>
                <a:cs typeface="Trebuchet MS" charset="0"/>
              </a:rPr>
              <a:t>time, 240 seconds for travel time</a:t>
            </a:r>
            <a:endParaRPr lang="en-US" sz="3300" dirty="0">
              <a:latin typeface="Trebuchet MS" charset="0"/>
              <a:ea typeface="Trebuchet MS" charset="0"/>
              <a:cs typeface="Trebuchet MS" charset="0"/>
            </a:endParaRPr>
          </a:p>
        </p:txBody>
      </p:sp>
      <mc:AlternateContent xmlns:mc="http://schemas.openxmlformats.org/markup-compatibility/2006">
        <mc:Choice xmlns:a14="http://schemas.microsoft.com/office/drawing/2010/main" Requires="a14">
          <p:sp>
            <p:nvSpPr>
              <p:cNvPr id="63" name="TextBox 62"/>
              <p:cNvSpPr txBox="1"/>
              <p:nvPr/>
            </p:nvSpPr>
            <p:spPr>
              <a:xfrm>
                <a:off x="1973155" y="25548965"/>
                <a:ext cx="14707807" cy="2123658"/>
              </a:xfrm>
              <a:prstGeom prst="rect">
                <a:avLst/>
              </a:prstGeom>
              <a:noFill/>
            </p:spPr>
            <p:txBody>
              <a:bodyPr wrap="square" rtlCol="0">
                <a:spAutoFit/>
              </a:bodyPr>
              <a:lstStyle/>
              <a:p>
                <a:pPr>
                  <a:defRPr/>
                </a:pPr>
                <a:r>
                  <a:rPr lang="en-US" sz="3300" dirty="0" smtClean="0">
                    <a:solidFill>
                      <a:srgbClr val="141F22"/>
                    </a:solidFill>
                    <a:latin typeface="Trebuchet MS" charset="0"/>
                    <a:ea typeface="Trebuchet MS" charset="0"/>
                    <a:cs typeface="Trebuchet MS" charset="0"/>
                  </a:rPr>
                  <a:t>K</a:t>
                </a:r>
                <a:r>
                  <a:rPr lang="en-US" sz="3300" dirty="0">
                    <a:solidFill>
                      <a:srgbClr val="141F22"/>
                    </a:solidFill>
                    <a:latin typeface="Trebuchet MS" charset="0"/>
                    <a:ea typeface="Trebuchet MS" charset="0"/>
                    <a:cs typeface="Trebuchet MS" charset="0"/>
                  </a:rPr>
                  <a:t>(·) has </a:t>
                </a:r>
                <a:r>
                  <a:rPr lang="en-US" sz="3300" dirty="0" err="1" smtClean="0">
                    <a:solidFill>
                      <a:srgbClr val="141F22"/>
                    </a:solidFill>
                    <a:latin typeface="Trebuchet MS" charset="0"/>
                    <a:ea typeface="Trebuchet MS" charset="0"/>
                    <a:cs typeface="Trebuchet MS" charset="0"/>
                  </a:rPr>
                  <a:t>Mat</a:t>
                </a:r>
                <a:r>
                  <a:rPr lang="en-US" sz="3300" dirty="0" err="1">
                    <a:latin typeface="Trebuchet MS" charset="0"/>
                    <a:ea typeface="Trebuchet MS" charset="0"/>
                    <a:cs typeface="Trebuchet MS" charset="0"/>
                  </a:rPr>
                  <a:t>é</a:t>
                </a:r>
                <a:r>
                  <a:rPr lang="en-US" sz="3300" dirty="0" err="1" smtClean="0">
                    <a:solidFill>
                      <a:srgbClr val="141F22"/>
                    </a:solidFill>
                    <a:latin typeface="Trebuchet MS" charset="0"/>
                    <a:ea typeface="Trebuchet MS" charset="0"/>
                    <a:cs typeface="Trebuchet MS" charset="0"/>
                  </a:rPr>
                  <a:t>rn</a:t>
                </a:r>
                <a:r>
                  <a:rPr lang="en-US" sz="3300" dirty="0" smtClean="0">
                    <a:solidFill>
                      <a:srgbClr val="141F22"/>
                    </a:solidFill>
                    <a:latin typeface="Trebuchet MS" charset="0"/>
                    <a:ea typeface="Trebuchet MS" charset="0"/>
                    <a:cs typeface="Trebuchet MS" charset="0"/>
                  </a:rPr>
                  <a:t> </a:t>
                </a:r>
                <a:r>
                  <a:rPr lang="en-US" sz="3300" dirty="0">
                    <a:solidFill>
                      <a:srgbClr val="141F22"/>
                    </a:solidFill>
                    <a:latin typeface="Trebuchet MS" charset="0"/>
                    <a:ea typeface="Trebuchet MS" charset="0"/>
                    <a:cs typeface="Trebuchet MS" charset="0"/>
                  </a:rPr>
                  <a:t>covariance with smoothness </a:t>
                </a:r>
                <a14:m>
                  <m:oMath xmlns:m="http://schemas.openxmlformats.org/officeDocument/2006/math">
                    <m:r>
                      <a:rPr lang="en-US" sz="3300" i="1" smtClean="0">
                        <a:solidFill>
                          <a:srgbClr val="141F22"/>
                        </a:solidFill>
                        <a:latin typeface="Cambria Math" charset="0"/>
                        <a:ea typeface="Cambria Math" charset="0"/>
                        <a:cs typeface="Cambria Math" charset="0"/>
                      </a:rPr>
                      <m:t>𝜐</m:t>
                    </m:r>
                  </m:oMath>
                </a14:m>
                <a:r>
                  <a:rPr lang="en-US" sz="3300" dirty="0" smtClean="0">
                    <a:solidFill>
                      <a:srgbClr val="141F22"/>
                    </a:solidFill>
                    <a:latin typeface="Trebuchet MS" charset="0"/>
                    <a:ea typeface="Trebuchet MS" charset="0"/>
                    <a:cs typeface="Trebuchet MS" charset="0"/>
                  </a:rPr>
                  <a:t>, </a:t>
                </a:r>
                <a:r>
                  <a:rPr lang="en-US" sz="3300" dirty="0">
                    <a:solidFill>
                      <a:srgbClr val="141F22"/>
                    </a:solidFill>
                    <a:latin typeface="Trebuchet MS" charset="0"/>
                    <a:ea typeface="Trebuchet MS" charset="0"/>
                    <a:cs typeface="Trebuchet MS" charset="0"/>
                  </a:rPr>
                  <a:t>range </a:t>
                </a:r>
                <a14:m>
                  <m:oMath xmlns:m="http://schemas.openxmlformats.org/officeDocument/2006/math">
                    <m:r>
                      <a:rPr lang="en-US" sz="3300" i="1" smtClean="0">
                        <a:solidFill>
                          <a:srgbClr val="141F22"/>
                        </a:solidFill>
                        <a:latin typeface="Cambria Math" charset="0"/>
                        <a:ea typeface="Cambria Math" charset="0"/>
                        <a:cs typeface="Cambria Math" charset="0"/>
                      </a:rPr>
                      <m:t>𝜑</m:t>
                    </m:r>
                  </m:oMath>
                </a14:m>
                <a:r>
                  <a:rPr lang="en-US" sz="3300" dirty="0" smtClean="0">
                    <a:solidFill>
                      <a:srgbClr val="141F22"/>
                    </a:solidFill>
                    <a:latin typeface="Trebuchet MS" charset="0"/>
                    <a:ea typeface="Trebuchet MS" charset="0"/>
                    <a:cs typeface="Trebuchet MS" charset="0"/>
                  </a:rPr>
                  <a:t>, and partial </a:t>
                </a:r>
                <a:r>
                  <a:rPr lang="en-US" sz="3300" dirty="0">
                    <a:solidFill>
                      <a:srgbClr val="141F22"/>
                    </a:solidFill>
                    <a:latin typeface="Trebuchet MS" charset="0"/>
                    <a:ea typeface="Trebuchet MS" charset="0"/>
                    <a:cs typeface="Trebuchet MS" charset="0"/>
                  </a:rPr>
                  <a:t>sill </a:t>
                </a:r>
                <a14:m>
                  <m:oMath xmlns:m="http://schemas.openxmlformats.org/officeDocument/2006/math">
                    <m:r>
                      <a:rPr lang="en-US" sz="3300" i="1">
                        <a:latin typeface="Cambria Math" charset="0"/>
                        <a:ea typeface="Cambria Math" charset="0"/>
                        <a:cs typeface="Cambria Math" charset="0"/>
                      </a:rPr>
                      <m:t>𝜎</m:t>
                    </m:r>
                    <m:r>
                      <a:rPr lang="en-US" sz="3300" i="1" baseline="30000">
                        <a:latin typeface="Cambria Math" charset="0"/>
                        <a:ea typeface="Cambria Math" charset="0"/>
                        <a:cs typeface="Cambria Math" charset="0"/>
                      </a:rPr>
                      <m:t>2</m:t>
                    </m:r>
                  </m:oMath>
                </a14:m>
                <a:r>
                  <a:rPr lang="en-US" sz="3300" dirty="0">
                    <a:solidFill>
                      <a:srgbClr val="141F22"/>
                    </a:solidFill>
                    <a:latin typeface="Trebuchet MS" charset="0"/>
                    <a:ea typeface="Trebuchet MS" charset="0"/>
                    <a:cs typeface="Trebuchet MS" charset="0"/>
                  </a:rPr>
                  <a:t>. Estimation is done via Markov Chain Monte </a:t>
                </a:r>
                <a:r>
                  <a:rPr lang="en-US" sz="3300" dirty="0" smtClean="0">
                    <a:solidFill>
                      <a:srgbClr val="141F22"/>
                    </a:solidFill>
                    <a:latin typeface="Trebuchet MS" charset="0"/>
                    <a:ea typeface="Trebuchet MS" charset="0"/>
                    <a:cs typeface="Trebuchet MS" charset="0"/>
                  </a:rPr>
                  <a:t>Carlo using </a:t>
                </a:r>
                <a:r>
                  <a:rPr lang="en-US" sz="3300" dirty="0">
                    <a:solidFill>
                      <a:srgbClr val="141F22"/>
                    </a:solidFill>
                    <a:latin typeface="Trebuchet MS" charset="0"/>
                    <a:ea typeface="Trebuchet MS" charset="0"/>
                    <a:cs typeface="Trebuchet MS" charset="0"/>
                  </a:rPr>
                  <a:t>R package </a:t>
                </a:r>
                <a:r>
                  <a:rPr lang="en-US" sz="3300" dirty="0" err="1" smtClean="0">
                    <a:solidFill>
                      <a:srgbClr val="141F22"/>
                    </a:solidFill>
                    <a:latin typeface="Trebuchet MS" charset="0"/>
                    <a:ea typeface="Trebuchet MS" charset="0"/>
                    <a:cs typeface="Trebuchet MS" charset="0"/>
                  </a:rPr>
                  <a:t>spBayes</a:t>
                </a:r>
                <a:r>
                  <a:rPr lang="en-US" sz="3300" dirty="0">
                    <a:solidFill>
                      <a:srgbClr val="141F22"/>
                    </a:solidFill>
                    <a:latin typeface="Trebuchet MS" charset="0"/>
                    <a:ea typeface="Trebuchet MS" charset="0"/>
                    <a:cs typeface="Trebuchet MS" charset="0"/>
                  </a:rPr>
                  <a:t>. Covariates include effects for distance</a:t>
                </a:r>
                <a:r>
                  <a:rPr lang="en-US" sz="3300" dirty="0" smtClean="0">
                    <a:solidFill>
                      <a:srgbClr val="141F22"/>
                    </a:solidFill>
                    <a:latin typeface="Trebuchet MS" charset="0"/>
                    <a:ea typeface="Trebuchet MS" charset="0"/>
                    <a:cs typeface="Trebuchet MS" charset="0"/>
                  </a:rPr>
                  <a:t>, year</a:t>
                </a:r>
                <a:r>
                  <a:rPr lang="en-US" sz="3300" dirty="0">
                    <a:solidFill>
                      <a:srgbClr val="141F22"/>
                    </a:solidFill>
                    <a:latin typeface="Trebuchet MS" charset="0"/>
                    <a:ea typeface="Trebuchet MS" charset="0"/>
                    <a:cs typeface="Trebuchet MS" charset="0"/>
                  </a:rPr>
                  <a:t>, month of the year, hour of the day, apparatus type, </a:t>
                </a:r>
                <a:r>
                  <a:rPr lang="en-US" sz="3300" dirty="0" smtClean="0">
                    <a:solidFill>
                      <a:srgbClr val="141F22"/>
                    </a:solidFill>
                    <a:latin typeface="Trebuchet MS" charset="0"/>
                    <a:ea typeface="Trebuchet MS" charset="0"/>
                    <a:cs typeface="Trebuchet MS" charset="0"/>
                  </a:rPr>
                  <a:t>and station.</a:t>
                </a:r>
              </a:p>
            </p:txBody>
          </p:sp>
        </mc:Choice>
        <mc:Fallback>
          <p:sp>
            <p:nvSpPr>
              <p:cNvPr id="63" name="TextBox 62"/>
              <p:cNvSpPr txBox="1">
                <a:spLocks noRot="1" noChangeAspect="1" noMove="1" noResize="1" noEditPoints="1" noAdjustHandles="1" noChangeArrowheads="1" noChangeShapeType="1" noTextEdit="1"/>
              </p:cNvSpPr>
              <p:nvPr/>
            </p:nvSpPr>
            <p:spPr>
              <a:xfrm>
                <a:off x="1973155" y="25548965"/>
                <a:ext cx="14707807" cy="2123658"/>
              </a:xfrm>
              <a:prstGeom prst="rect">
                <a:avLst/>
              </a:prstGeom>
              <a:blipFill rotWithShape="0">
                <a:blip r:embed="rId20"/>
                <a:stretch>
                  <a:fillRect l="-1119" t="-4023" r="-705" b="-9195"/>
                </a:stretch>
              </a:blipFill>
            </p:spPr>
            <p:txBody>
              <a:bodyPr/>
              <a:lstStyle/>
              <a:p>
                <a:r>
                  <a:rPr lang="en-US">
                    <a:noFill/>
                  </a:rPr>
                  <a:t> </a:t>
                </a:r>
              </a:p>
            </p:txBody>
          </p:sp>
        </mc:Fallback>
      </mc:AlternateContent>
      <p:sp>
        <p:nvSpPr>
          <p:cNvPr id="64" name="TextBox 63"/>
          <p:cNvSpPr txBox="1"/>
          <p:nvPr/>
        </p:nvSpPr>
        <p:spPr>
          <a:xfrm>
            <a:off x="18826815" y="35239687"/>
            <a:ext cx="13285107" cy="830997"/>
          </a:xfrm>
          <a:prstGeom prst="rect">
            <a:avLst/>
          </a:prstGeom>
          <a:noFill/>
        </p:spPr>
        <p:txBody>
          <a:bodyPr wrap="square" rtlCol="0">
            <a:spAutoFit/>
          </a:bodyPr>
          <a:lstStyle/>
          <a:p>
            <a:r>
              <a:rPr lang="en-US" sz="4800" dirty="0" smtClean="0">
                <a:solidFill>
                  <a:srgbClr val="141F22"/>
                </a:solidFill>
                <a:latin typeface="Raleway" charset="0"/>
                <a:ea typeface="Raleway" charset="0"/>
                <a:cs typeface="Raleway" charset="0"/>
              </a:rPr>
              <a:t>Future Work</a:t>
            </a:r>
            <a:endParaRPr lang="en-US" sz="4800" b="0" i="0" dirty="0">
              <a:solidFill>
                <a:srgbClr val="141F22"/>
              </a:solidFill>
              <a:latin typeface="Raleway" charset="0"/>
              <a:ea typeface="Raleway" charset="0"/>
              <a:cs typeface="Raleway" charset="0"/>
            </a:endParaRPr>
          </a:p>
        </p:txBody>
      </p:sp>
      <p:pic>
        <p:nvPicPr>
          <p:cNvPr id="68" name="Picture 6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003002" y="19966352"/>
            <a:ext cx="16489266" cy="1986330"/>
          </a:xfrm>
          <a:prstGeom prst="rect">
            <a:avLst/>
          </a:prstGeom>
        </p:spPr>
      </p:pic>
      <p:pic>
        <p:nvPicPr>
          <p:cNvPr id="69" name="Picture 6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35315" y="35098825"/>
            <a:ext cx="16489266" cy="1986330"/>
          </a:xfrm>
          <a:prstGeom prst="rect">
            <a:avLst/>
          </a:prstGeom>
        </p:spPr>
      </p:pic>
      <p:sp>
        <p:nvSpPr>
          <p:cNvPr id="70" name="TextBox 69"/>
          <p:cNvSpPr txBox="1"/>
          <p:nvPr/>
        </p:nvSpPr>
        <p:spPr>
          <a:xfrm>
            <a:off x="18579459" y="36229036"/>
            <a:ext cx="16765620" cy="1615827"/>
          </a:xfrm>
          <a:prstGeom prst="rect">
            <a:avLst/>
          </a:prstGeom>
          <a:noFill/>
        </p:spPr>
        <p:txBody>
          <a:bodyPr wrap="square" rtlCol="0">
            <a:spAutoFit/>
          </a:bodyPr>
          <a:lstStyle/>
          <a:p>
            <a:pPr marL="273050" indent="-273050">
              <a:buFont typeface="Arial" charset="0"/>
              <a:buChar char="•"/>
              <a:defRPr/>
            </a:pPr>
            <a:r>
              <a:rPr lang="en-US" sz="3300" dirty="0" smtClean="0">
                <a:solidFill>
                  <a:srgbClr val="141F22"/>
                </a:solidFill>
                <a:latin typeface="Trebuchet MS" charset="0"/>
                <a:ea typeface="Trebuchet MS" charset="0"/>
                <a:cs typeface="Trebuchet MS" charset="0"/>
              </a:rPr>
              <a:t>Include fire station resources in the models.</a:t>
            </a:r>
          </a:p>
          <a:p>
            <a:pPr marL="273050" indent="-273050">
              <a:buFont typeface="Arial" charset="0"/>
              <a:buChar char="•"/>
              <a:defRPr/>
            </a:pPr>
            <a:r>
              <a:rPr lang="en-US" sz="3300" dirty="0" smtClean="0">
                <a:solidFill>
                  <a:srgbClr val="141F22"/>
                </a:solidFill>
                <a:latin typeface="Trebuchet MS" charset="0"/>
                <a:ea typeface="Trebuchet MS" charset="0"/>
                <a:cs typeface="Trebuchet MS" charset="0"/>
              </a:rPr>
              <a:t>Study other types of incidents besides structure fires.</a:t>
            </a:r>
          </a:p>
          <a:p>
            <a:pPr marL="273050" indent="-273050">
              <a:buFont typeface="Arial" charset="0"/>
              <a:buChar char="•"/>
              <a:defRPr/>
            </a:pPr>
            <a:r>
              <a:rPr lang="en-US" sz="3300" dirty="0" smtClean="0">
                <a:solidFill>
                  <a:srgbClr val="141F22"/>
                </a:solidFill>
                <a:latin typeface="Trebuchet MS" charset="0"/>
                <a:ea typeface="Trebuchet MS" charset="0"/>
                <a:cs typeface="Trebuchet MS" charset="0"/>
              </a:rPr>
              <a:t>Improve the models using other data sources such as housing, traffic, weather.</a:t>
            </a:r>
            <a:endParaRPr lang="en-US" sz="3300" dirty="0">
              <a:solidFill>
                <a:srgbClr val="141F22"/>
              </a:solidFill>
              <a:latin typeface="Trebuchet MS" charset="0"/>
              <a:ea typeface="Trebuchet MS" charset="0"/>
              <a:cs typeface="Trebuchet MS" charset="0"/>
            </a:endParaRPr>
          </a:p>
        </p:txBody>
      </p:sp>
      <p:sp>
        <p:nvSpPr>
          <p:cNvPr id="24" name="Rectangle 23"/>
          <p:cNvSpPr/>
          <p:nvPr/>
        </p:nvSpPr>
        <p:spPr>
          <a:xfrm>
            <a:off x="17897422" y="38202029"/>
            <a:ext cx="17286876" cy="584775"/>
          </a:xfrm>
          <a:prstGeom prst="rect">
            <a:avLst/>
          </a:prstGeom>
        </p:spPr>
        <p:txBody>
          <a:bodyPr wrap="square">
            <a:spAutoFit/>
          </a:bodyPr>
          <a:lstStyle/>
          <a:p>
            <a:r>
              <a:rPr lang="en-US" sz="1600" dirty="0" smtClean="0">
                <a:solidFill>
                  <a:srgbClr val="141F22"/>
                </a:solidFill>
                <a:latin typeface="Trebuchet MS" charset="0"/>
                <a:ea typeface="Trebuchet MS" charset="0"/>
                <a:cs typeface="Trebuchet MS" charset="0"/>
              </a:rPr>
              <a:t>[1] Lindgren</a:t>
            </a:r>
            <a:r>
              <a:rPr lang="en-US" sz="1600" dirty="0">
                <a:solidFill>
                  <a:srgbClr val="141F22"/>
                </a:solidFill>
                <a:latin typeface="Trebuchet MS" charset="0"/>
                <a:ea typeface="Trebuchet MS" charset="0"/>
                <a:cs typeface="Trebuchet MS" charset="0"/>
              </a:rPr>
              <a:t>, Finn, </a:t>
            </a:r>
            <a:r>
              <a:rPr lang="en-US" sz="1600" dirty="0" err="1">
                <a:solidFill>
                  <a:srgbClr val="141F22"/>
                </a:solidFill>
                <a:latin typeface="Trebuchet MS" charset="0"/>
                <a:ea typeface="Trebuchet MS" charset="0"/>
                <a:cs typeface="Trebuchet MS" charset="0"/>
              </a:rPr>
              <a:t>Håvard</a:t>
            </a:r>
            <a:r>
              <a:rPr lang="en-US" sz="1600" dirty="0">
                <a:solidFill>
                  <a:srgbClr val="141F22"/>
                </a:solidFill>
                <a:latin typeface="Trebuchet MS" charset="0"/>
                <a:ea typeface="Trebuchet MS" charset="0"/>
                <a:cs typeface="Trebuchet MS" charset="0"/>
              </a:rPr>
              <a:t> Rue, and Johan </a:t>
            </a:r>
            <a:r>
              <a:rPr lang="en-US" sz="1600" dirty="0" err="1">
                <a:solidFill>
                  <a:srgbClr val="141F22"/>
                </a:solidFill>
                <a:latin typeface="Trebuchet MS" charset="0"/>
                <a:ea typeface="Trebuchet MS" charset="0"/>
                <a:cs typeface="Trebuchet MS" charset="0"/>
              </a:rPr>
              <a:t>Lindström</a:t>
            </a:r>
            <a:r>
              <a:rPr lang="en-US" sz="1600" dirty="0">
                <a:solidFill>
                  <a:srgbClr val="141F22"/>
                </a:solidFill>
                <a:latin typeface="Trebuchet MS" charset="0"/>
                <a:ea typeface="Trebuchet MS" charset="0"/>
                <a:cs typeface="Trebuchet MS" charset="0"/>
              </a:rPr>
              <a:t>. "An explicit link between Gaussian fields and Gaussian Markov random fields: the stochastic partial differential equation approach." Journal of the Royal Statistical Society: Series B (Statistical Methodology) 73.4 (2011): 423-498.</a:t>
            </a:r>
          </a:p>
        </p:txBody>
      </p:sp>
      <mc:AlternateContent xmlns:mc="http://schemas.openxmlformats.org/markup-compatibility/2006">
        <mc:Choice xmlns:a14="http://schemas.microsoft.com/office/drawing/2010/main" Requires="a14">
          <p:sp>
            <p:nvSpPr>
              <p:cNvPr id="4" name="TextBox 3"/>
              <p:cNvSpPr txBox="1"/>
              <p:nvPr/>
            </p:nvSpPr>
            <p:spPr>
              <a:xfrm>
                <a:off x="1806106" y="19149186"/>
                <a:ext cx="14559306" cy="2205219"/>
              </a:xfrm>
              <a:prstGeom prst="rect">
                <a:avLst/>
              </a:prstGeom>
              <a:noFill/>
            </p:spPr>
            <p:txBody>
              <a:bodyPr wrap="none" lIns="0" tIns="0" rIns="0" bIns="0" rtlCol="0">
                <a:spAutoFit/>
              </a:bodyPr>
              <a:lstStyle/>
              <a:p>
                <a:pPr algn="ctr">
                  <a:lnSpc>
                    <a:spcPct val="150000"/>
                  </a:lnSpc>
                </a:pPr>
                <a14:m>
                  <m:oMathPara xmlns:m="http://schemas.openxmlformats.org/officeDocument/2006/math">
                    <m:oMathParaPr>
                      <m:jc m:val="centerGroup"/>
                    </m:oMathParaPr>
                    <m:oMath xmlns:m="http://schemas.openxmlformats.org/officeDocument/2006/math">
                      <m:d>
                        <m:dPr>
                          <m:ctrlPr>
                            <a:rPr lang="en-US" sz="3200" b="0" i="1" smtClean="0">
                              <a:latin typeface="Cambria Math" charset="0"/>
                            </a:rPr>
                          </m:ctrlPr>
                        </m:dPr>
                        <m:e>
                          <m:r>
                            <a:rPr lang="en-US" sz="3200" i="1">
                              <a:latin typeface="Cambria Math" charset="0"/>
                            </a:rPr>
                            <m:t>𝑦</m:t>
                          </m:r>
                        </m:e>
                      </m:d>
                      <m:r>
                        <m:rPr>
                          <m:nor/>
                        </m:rPr>
                        <a:rPr lang="en-US" sz="3200" baseline="30000">
                          <a:latin typeface="Cambria Math" charset="0"/>
                          <a:ea typeface="Cambria Math" charset="0"/>
                          <a:cs typeface="Cambria Math" charset="0"/>
                        </a:rPr>
                        <m:t>(1/3)</m:t>
                      </m:r>
                      <m:r>
                        <a:rPr lang="en-US" sz="3200" b="0" i="1" smtClean="0">
                          <a:latin typeface="Cambria Math" charset="0"/>
                        </a:rPr>
                        <m:t>=</m:t>
                      </m:r>
                      <m:r>
                        <a:rPr lang="en-US" sz="3200" b="0" i="1" smtClean="0">
                          <a:latin typeface="Cambria Math" charset="0"/>
                          <a:ea typeface="Cambria Math" charset="0"/>
                          <a:cs typeface="Cambria Math" charset="0"/>
                        </a:rPr>
                        <m:t>𝛽</m:t>
                      </m:r>
                      <m:r>
                        <a:rPr lang="en-US" sz="3200" b="0" i="1" baseline="-25000" smtClean="0">
                          <a:latin typeface="Cambria Math" charset="0"/>
                          <a:ea typeface="Cambria Math" charset="0"/>
                          <a:cs typeface="Cambria Math" charset="0"/>
                        </a:rPr>
                        <m:t>𝜊</m:t>
                      </m:r>
                      <m:r>
                        <a:rPr lang="en-US" sz="3200" b="0" i="1" smtClean="0">
                          <a:latin typeface="Cambria Math" charset="0"/>
                          <a:ea typeface="Cambria Math" charset="0"/>
                          <a:cs typeface="Cambria Math" charset="0"/>
                        </a:rPr>
                        <m:t>+ </m:t>
                      </m:r>
                      <m:r>
                        <a:rPr lang="en-US" sz="3200" b="0" i="1" smtClean="0">
                          <a:latin typeface="Cambria Math" charset="0"/>
                          <a:ea typeface="Cambria Math" charset="0"/>
                          <a:cs typeface="Cambria Math" charset="0"/>
                        </a:rPr>
                        <m:t>𝛽</m:t>
                      </m:r>
                      <m:r>
                        <a:rPr lang="en-US" sz="3200" b="0" i="1" baseline="-25000" smtClean="0">
                          <a:latin typeface="Cambria Math" charset="0"/>
                          <a:ea typeface="Cambria Math" charset="0"/>
                          <a:cs typeface="Cambria Math" charset="0"/>
                        </a:rPr>
                        <m:t>1</m:t>
                      </m:r>
                      <m:r>
                        <m:rPr>
                          <m:nor/>
                        </m:rPr>
                        <a:rPr lang="en-US" sz="3200" b="0" i="0" smtClean="0">
                          <a:latin typeface="Cambria Math" charset="0"/>
                          <a:ea typeface="Cambria Math" charset="0"/>
                          <a:cs typeface="Cambria Math" charset="0"/>
                        </a:rPr>
                        <m:t>apparatus</m:t>
                      </m:r>
                      <m:r>
                        <a:rPr lang="en-US" sz="3200" b="0" i="1" smtClean="0">
                          <a:latin typeface="Cambria Math" charset="0"/>
                          <a:ea typeface="Cambria Math" charset="0"/>
                          <a:cs typeface="Cambria Math" charset="0"/>
                        </a:rPr>
                        <m:t>+ </m:t>
                      </m:r>
                      <m:r>
                        <a:rPr lang="en-US" sz="3200" b="0" i="1" smtClean="0">
                          <a:latin typeface="Cambria Math" charset="0"/>
                          <a:ea typeface="Cambria Math" charset="0"/>
                          <a:cs typeface="Cambria Math" charset="0"/>
                        </a:rPr>
                        <m:t>𝛽</m:t>
                      </m:r>
                      <m:r>
                        <a:rPr lang="en-US" sz="3200" b="0" i="1" baseline="-25000" smtClean="0">
                          <a:latin typeface="Cambria Math" charset="0"/>
                          <a:ea typeface="Cambria Math" charset="0"/>
                          <a:cs typeface="Cambria Math" charset="0"/>
                        </a:rPr>
                        <m:t>2</m:t>
                      </m:r>
                      <m:r>
                        <m:rPr>
                          <m:nor/>
                        </m:rPr>
                        <a:rPr lang="en-US" sz="3200" b="0" i="0" smtClean="0">
                          <a:latin typeface="Cambria Math" charset="0"/>
                          <a:ea typeface="Cambria Math" charset="0"/>
                          <a:cs typeface="Cambria Math" charset="0"/>
                        </a:rPr>
                        <m:t>station</m:t>
                      </m:r>
                      <m:r>
                        <a:rPr lang="en-US" sz="3200" b="0" i="1" smtClean="0">
                          <a:latin typeface="Cambria Math" charset="0"/>
                          <a:ea typeface="Cambria Math" charset="0"/>
                          <a:cs typeface="Cambria Math" charset="0"/>
                        </a:rPr>
                        <m:t>+ </m:t>
                      </m:r>
                      <m:r>
                        <a:rPr lang="en-US" sz="3200" b="0" i="1" smtClean="0">
                          <a:latin typeface="Cambria Math" charset="0"/>
                          <a:ea typeface="Cambria Math" charset="0"/>
                          <a:cs typeface="Cambria Math" charset="0"/>
                        </a:rPr>
                        <m:t>𝑔</m:t>
                      </m:r>
                      <m:d>
                        <m:dPr>
                          <m:ctrlPr>
                            <a:rPr lang="en-US" sz="3200" b="0" i="1" smtClean="0">
                              <a:latin typeface="Cambria Math" charset="0"/>
                              <a:ea typeface="Cambria Math" charset="0"/>
                              <a:cs typeface="Cambria Math" charset="0"/>
                            </a:rPr>
                          </m:ctrlPr>
                        </m:dPr>
                        <m:e>
                          <m:r>
                            <m:rPr>
                              <m:nor/>
                            </m:rPr>
                            <a:rPr lang="en-US" sz="3200" b="0" i="0" smtClean="0">
                              <a:latin typeface="Cambria Math" charset="0"/>
                              <a:ea typeface="Cambria Math" charset="0"/>
                              <a:cs typeface="Cambria Math" charset="0"/>
                            </a:rPr>
                            <m:t>month</m:t>
                          </m:r>
                        </m:e>
                      </m:d>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𝑔</m:t>
                      </m:r>
                      <m:d>
                        <m:dPr>
                          <m:ctrlPr>
                            <a:rPr lang="en-US" sz="3200" b="0" i="1" smtClean="0">
                              <a:latin typeface="Cambria Math" charset="0"/>
                              <a:ea typeface="Cambria Math" charset="0"/>
                              <a:cs typeface="Cambria Math" charset="0"/>
                            </a:rPr>
                          </m:ctrlPr>
                        </m:dPr>
                        <m:e>
                          <m:r>
                            <m:rPr>
                              <m:nor/>
                            </m:rPr>
                            <a:rPr lang="en-US" sz="3200" b="0" i="0" smtClean="0">
                              <a:latin typeface="Cambria Math" charset="0"/>
                              <a:ea typeface="Cambria Math" charset="0"/>
                              <a:cs typeface="Cambria Math" charset="0"/>
                            </a:rPr>
                            <m:t>year</m:t>
                          </m:r>
                        </m:e>
                      </m:d>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𝑔</m:t>
                      </m:r>
                      <m:d>
                        <m:dPr>
                          <m:ctrlPr>
                            <a:rPr lang="en-US" sz="3200" b="0" i="1" smtClean="0">
                              <a:latin typeface="Cambria Math" charset="0"/>
                              <a:ea typeface="Cambria Math" charset="0"/>
                              <a:cs typeface="Cambria Math" charset="0"/>
                            </a:rPr>
                          </m:ctrlPr>
                        </m:dPr>
                        <m:e>
                          <m:r>
                            <m:rPr>
                              <m:nor/>
                            </m:rPr>
                            <a:rPr lang="en-US" sz="3200" b="0" i="0" smtClean="0">
                              <a:latin typeface="Cambria Math" charset="0"/>
                              <a:ea typeface="Cambria Math" charset="0"/>
                              <a:cs typeface="Cambria Math" charset="0"/>
                            </a:rPr>
                            <m:t>hour</m:t>
                          </m:r>
                        </m:e>
                      </m:d>
                      <m:r>
                        <a:rPr lang="en-US" sz="3200" b="0" i="1" smtClean="0">
                          <a:latin typeface="Cambria Math" charset="0"/>
                          <a:ea typeface="Cambria Math" charset="0"/>
                          <a:cs typeface="Cambria Math" charset="0"/>
                        </a:rPr>
                        <m:t>+ </m:t>
                      </m:r>
                      <m:r>
                        <a:rPr lang="en-US" sz="3200" b="0" i="1" smtClean="0">
                          <a:latin typeface="Cambria Math" charset="0"/>
                          <a:ea typeface="Cambria Math" charset="0"/>
                          <a:cs typeface="Cambria Math" charset="0"/>
                        </a:rPr>
                        <m:t>𝜖</m:t>
                      </m:r>
                    </m:oMath>
                  </m:oMathPara>
                </a14:m>
                <a:endParaRPr lang="en-US" sz="3200" b="0" dirty="0" smtClean="0">
                  <a:ea typeface="Cambria Math" charset="0"/>
                  <a:cs typeface="Cambria Math" charset="0"/>
                </a:endParaRPr>
              </a:p>
              <a:p>
                <a:pPr algn="ctr">
                  <a:lnSpc>
                    <a:spcPct val="150000"/>
                  </a:lnSpc>
                </a:pPr>
                <a:r>
                  <a:rPr lang="en-US" sz="3200" dirty="0"/>
                  <a:t>w</a:t>
                </a:r>
                <a:r>
                  <a:rPr lang="en-US" sz="3200" dirty="0" smtClean="0"/>
                  <a:t>here </a:t>
                </a:r>
                <a14:m>
                  <m:oMath xmlns:m="http://schemas.openxmlformats.org/officeDocument/2006/math">
                    <m:r>
                      <m:rPr>
                        <m:sty m:val="p"/>
                      </m:rPr>
                      <a:rPr lang="en-US" sz="3200" i="1" smtClean="0">
                        <a:latin typeface="Cambria Math" charset="0"/>
                        <a:ea typeface="Cambria Math" charset="0"/>
                        <a:cs typeface="Cambria Math" charset="0"/>
                      </a:rPr>
                      <m:t>ϵ</m:t>
                    </m:r>
                    <m:r>
                      <a:rPr lang="en-US" sz="3200" b="0" i="1" baseline="-25000" smtClean="0">
                        <a:latin typeface="Cambria Math" charset="0"/>
                        <a:ea typeface="Cambria Math" charset="0"/>
                        <a:cs typeface="Cambria Math" charset="0"/>
                      </a:rPr>
                      <m:t>𝑖</m:t>
                    </m:r>
                    <m:r>
                      <a:rPr lang="en-US" sz="3200" b="0" i="1" smtClean="0">
                        <a:latin typeface="Cambria Math" charset="0"/>
                        <a:ea typeface="Cambria Math" charset="0"/>
                        <a:cs typeface="Cambria Math" charset="0"/>
                      </a:rPr>
                      <m:t> ~ </m:t>
                    </m:r>
                    <m:r>
                      <a:rPr lang="en-US" sz="3200" b="0" i="1" smtClean="0">
                        <a:latin typeface="Cambria Math" charset="0"/>
                        <a:ea typeface="Cambria Math" charset="0"/>
                        <a:cs typeface="Cambria Math" charset="0"/>
                      </a:rPr>
                      <m:t>𝑁</m:t>
                    </m:r>
                    <m:d>
                      <m:dPr>
                        <m:ctrlPr>
                          <a:rPr lang="en-US" sz="3200" b="0" i="1" smtClean="0">
                            <a:latin typeface="Cambria Math" charset="0"/>
                            <a:ea typeface="Cambria Math" charset="0"/>
                            <a:cs typeface="Cambria Math" charset="0"/>
                          </a:rPr>
                        </m:ctrlPr>
                      </m:dPr>
                      <m:e>
                        <m:r>
                          <a:rPr lang="en-US" sz="3200" b="0" i="1" smtClean="0">
                            <a:latin typeface="Cambria Math" charset="0"/>
                            <a:ea typeface="Cambria Math" charset="0"/>
                            <a:cs typeface="Cambria Math" charset="0"/>
                          </a:rPr>
                          <m:t>0, </m:t>
                        </m:r>
                        <m:r>
                          <a:rPr lang="en-US" sz="3200" b="0" i="1" smtClean="0">
                            <a:latin typeface="Cambria Math" charset="0"/>
                            <a:ea typeface="Cambria Math" charset="0"/>
                            <a:cs typeface="Cambria Math" charset="0"/>
                          </a:rPr>
                          <m:t>𝜎</m:t>
                        </m:r>
                        <m:r>
                          <a:rPr lang="en-US" sz="3200" b="0" i="1" baseline="30000" smtClean="0">
                            <a:latin typeface="Cambria Math" charset="0"/>
                            <a:ea typeface="Cambria Math" charset="0"/>
                            <a:cs typeface="Cambria Math" charset="0"/>
                          </a:rPr>
                          <m:t>2</m:t>
                        </m:r>
                      </m:e>
                    </m:d>
                    <m:r>
                      <a:rPr lang="en-US" sz="3200" b="0" i="1" smtClean="0">
                        <a:latin typeface="Cambria Math" charset="0"/>
                        <a:ea typeface="Cambria Math" charset="0"/>
                        <a:cs typeface="Cambria Math" charset="0"/>
                      </a:rPr>
                      <m:t> </m:t>
                    </m:r>
                  </m:oMath>
                </a14:m>
                <a:endParaRPr lang="en-US" sz="3200" b="0" dirty="0" smtClean="0">
                  <a:ea typeface="Cambria Math" charset="0"/>
                  <a:cs typeface="Cambria Math" charset="0"/>
                </a:endParaRPr>
              </a:p>
              <a:p>
                <a:pPr algn="ctr">
                  <a:lnSpc>
                    <a:spcPct val="150000"/>
                  </a:lnSpc>
                </a:pPr>
                <a14:m>
                  <m:oMath xmlns:m="http://schemas.openxmlformats.org/officeDocument/2006/math">
                    <m:r>
                      <a:rPr lang="en-US" sz="3200" i="1">
                        <a:latin typeface="Cambria Math" charset="0"/>
                        <a:ea typeface="Cambria Math" charset="0"/>
                        <a:cs typeface="Cambria Math" charset="0"/>
                      </a:rPr>
                      <m:t>𝑔</m:t>
                    </m:r>
                    <m:r>
                      <a:rPr lang="en-US" sz="3200" b="0" i="1" smtClean="0">
                        <a:latin typeface="Cambria Math" charset="0"/>
                        <a:ea typeface="Cambria Math" charset="0"/>
                        <a:cs typeface="Cambria Math" charset="0"/>
                      </a:rPr>
                      <m:t>()</m:t>
                    </m:r>
                  </m:oMath>
                </a14:m>
                <a:r>
                  <a:rPr lang="en-US" sz="3200" dirty="0" smtClean="0"/>
                  <a:t> is a spline effect</a:t>
                </a:r>
                <a:endParaRPr lang="en-US" sz="3200" dirty="0"/>
              </a:p>
            </p:txBody>
          </p:sp>
        </mc:Choice>
        <mc:Fallback>
          <p:sp>
            <p:nvSpPr>
              <p:cNvPr id="4" name="TextBox 3"/>
              <p:cNvSpPr txBox="1">
                <a:spLocks noRot="1" noChangeAspect="1" noMove="1" noResize="1" noEditPoints="1" noAdjustHandles="1" noChangeArrowheads="1" noChangeShapeType="1" noTextEdit="1"/>
              </p:cNvSpPr>
              <p:nvPr/>
            </p:nvSpPr>
            <p:spPr>
              <a:xfrm>
                <a:off x="1806106" y="19149186"/>
                <a:ext cx="14559306" cy="2205219"/>
              </a:xfrm>
              <a:prstGeom prst="rect">
                <a:avLst/>
              </a:prstGeom>
              <a:blipFill rotWithShape="0">
                <a:blip r:embed="rId21"/>
                <a:stretch>
                  <a:fillRect b="-7459"/>
                </a:stretch>
              </a:blipFill>
            </p:spPr>
            <p:txBody>
              <a:bodyPr/>
              <a:lstStyle/>
              <a:p>
                <a:r>
                  <a:rPr lang="en-US">
                    <a:noFill/>
                  </a:rPr>
                  <a:t> </a:t>
                </a:r>
              </a:p>
            </p:txBody>
          </p:sp>
        </mc:Fallback>
      </mc:AlternateContent>
      <p:pic>
        <p:nvPicPr>
          <p:cNvPr id="71" name="Picture 70"/>
          <p:cNvPicPr>
            <a:picLocks noChangeAspect="1"/>
          </p:cNvPicPr>
          <p:nvPr/>
        </p:nvPicPr>
        <p:blipFill rotWithShape="1">
          <a:blip r:embed="rId16">
            <a:extLst>
              <a:ext uri="{28A0092B-C50C-407E-A947-70E740481C1C}">
                <a14:useLocalDpi xmlns:a14="http://schemas.microsoft.com/office/drawing/2010/main" val="0"/>
              </a:ext>
            </a:extLst>
          </a:blip>
          <a:srcRect l="-50757" r="50757"/>
          <a:stretch/>
        </p:blipFill>
        <p:spPr>
          <a:xfrm>
            <a:off x="18077554" y="28989447"/>
            <a:ext cx="14468198" cy="5907363"/>
          </a:xfrm>
          <a:prstGeom prst="rect">
            <a:avLst/>
          </a:prstGeom>
        </p:spPr>
      </p:pic>
      <p:pic>
        <p:nvPicPr>
          <p:cNvPr id="61" name="Picture 60"/>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7413263" y="39582281"/>
            <a:ext cx="3621185" cy="1589639"/>
          </a:xfrm>
          <a:prstGeom prst="rect">
            <a:avLst/>
          </a:prstGeom>
        </p:spPr>
      </p:pic>
    </p:spTree>
    <p:extLst>
      <p:ext uri="{BB962C8B-B14F-4D97-AF65-F5344CB8AC3E}">
        <p14:creationId xmlns:p14="http://schemas.microsoft.com/office/powerpoint/2010/main" val="769146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1826</TotalTime>
  <Words>800</Words>
  <Application>Microsoft Macintosh PowerPoint</Application>
  <PresentationFormat>Custom</PresentationFormat>
  <Paragraphs>67</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Blanch Caps</vt:lpstr>
      <vt:lpstr>Calibri</vt:lpstr>
      <vt:lpstr>Calibri Light</vt:lpstr>
      <vt:lpstr>Cambria Math</vt:lpstr>
      <vt:lpstr>Raleway</vt:lpstr>
      <vt:lpstr>Trebuchet MS</vt:lpstr>
      <vt:lpstr>Arial</vt:lpstr>
      <vt:lpstr>Office Theme</vt:lpstr>
      <vt:lpstr>PowerPoint Presentation</vt:lpstr>
    </vt:vector>
  </TitlesOfParts>
  <Company/>
  <LinksUpToDate>false</LinksUpToDate>
  <SharedDoc>false</SharedDoc>
  <HyperlinksChanged>false</HyperlinksChanged>
  <AppVersion>15.0025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xandershanks@yahoo.com</dc:creator>
  <cp:lastModifiedBy>Gizem Korkmaz</cp:lastModifiedBy>
  <cp:revision>111</cp:revision>
  <cp:lastPrinted>2017-07-20T17:08:30Z</cp:lastPrinted>
  <dcterms:created xsi:type="dcterms:W3CDTF">2017-07-12T21:21:51Z</dcterms:created>
  <dcterms:modified xsi:type="dcterms:W3CDTF">2017-07-21T20:20:51Z</dcterms:modified>
</cp:coreProperties>
</file>