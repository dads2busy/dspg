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36576000" cy="42062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6013"/>
    <p:restoredTop sz="97729"/>
  </p:normalViewPr>
  <p:slideViewPr>
    <p:cSldViewPr snapToGrid="0" snapToObjects="1">
      <p:cViewPr>
        <p:scale>
          <a:sx n="40" d="100"/>
          <a:sy n="40" d="100"/>
        </p:scale>
        <p:origin x="2672" y="-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210337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that might be helpful:</a:t>
            </a:r>
          </a:p>
          <a:p>
            <a:pPr marL="4572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-"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1640 CBG in APC data with 71% of back door entries for CBG are 0</a:t>
            </a:r>
          </a:p>
          <a:p>
            <a:pPr marL="4572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-"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1614 CBG in FB data with 40% of 8key presses for CBG are 0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Isolate the story of why the fare evasion might be happening. If not tied to economic vulnerability, it might be an attitude of fare evading is okay.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 by trips!!!!!!!!!</a:t>
            </a:r>
          </a:p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cbg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number of stops and number of fare evaders</a:t>
            </a:r>
          </a:p>
        </p:txBody>
      </p:sp>
      <p:sp>
        <p:nvSpPr>
          <p:cNvPr id="84" name="Shape 84"/>
          <p:cNvSpPr>
            <a:spLocks noGrp="1" noRot="1" noChangeAspect="1"/>
          </p:cNvSpPr>
          <p:nvPr>
            <p:ph type="sldImg" idx="2"/>
          </p:nvPr>
        </p:nvSpPr>
        <p:spPr>
          <a:xfrm>
            <a:off x="1938338" y="685800"/>
            <a:ext cx="29813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53227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hape 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1" cy="42062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2743200" y="6883825"/>
            <a:ext cx="31089600" cy="1464394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2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Font typeface="Arial"/>
              <a:buNone/>
              <a:defRPr sz="1800"/>
            </a:lvl2pPr>
            <a:lvl3pPr lvl="2" indent="0">
              <a:spcBef>
                <a:spcPts val="0"/>
              </a:spcBef>
              <a:buFont typeface="Arial"/>
              <a:buNone/>
              <a:defRPr sz="1800"/>
            </a:lvl3pPr>
            <a:lvl4pPr lvl="3" indent="0">
              <a:spcBef>
                <a:spcPts val="0"/>
              </a:spcBef>
              <a:buFont typeface="Arial"/>
              <a:buNone/>
              <a:defRPr sz="1800"/>
            </a:lvl4pPr>
            <a:lvl5pPr lvl="4" indent="0">
              <a:spcBef>
                <a:spcPts val="0"/>
              </a:spcBef>
              <a:buFont typeface="Arial"/>
              <a:buNone/>
              <a:defRPr sz="1800"/>
            </a:lvl5pPr>
            <a:lvl6pPr lvl="5" indent="0">
              <a:spcBef>
                <a:spcPts val="0"/>
              </a:spcBef>
              <a:buFont typeface="Arial"/>
              <a:buNone/>
              <a:defRPr sz="1800"/>
            </a:lvl6pPr>
            <a:lvl7pPr lvl="6" indent="0">
              <a:spcBef>
                <a:spcPts val="0"/>
              </a:spcBef>
              <a:buFont typeface="Arial"/>
              <a:buNone/>
              <a:defRPr sz="1800"/>
            </a:lvl7pPr>
            <a:lvl8pPr lvl="7" indent="0">
              <a:spcBef>
                <a:spcPts val="0"/>
              </a:spcBef>
              <a:buFont typeface="Arial"/>
              <a:buNone/>
              <a:defRPr sz="1800"/>
            </a:lvl8pPr>
            <a:lvl9pPr lvl="8" indent="0">
              <a:spcBef>
                <a:spcPts val="0"/>
              </a:spcBef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4572000" y="22092500"/>
            <a:ext cx="27432000" cy="1015533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ctr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ctr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ctr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ctr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ctr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ctr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ctr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ctr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8" cy="22394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lang="en-US"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2514600" y="2239441"/>
            <a:ext cx="31546800" cy="81301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Font typeface="Arial"/>
              <a:buNone/>
              <a:defRPr sz="1800"/>
            </a:lvl2pPr>
            <a:lvl3pPr lvl="2" indent="0">
              <a:spcBef>
                <a:spcPts val="0"/>
              </a:spcBef>
              <a:buFont typeface="Arial"/>
              <a:buNone/>
              <a:defRPr sz="1800"/>
            </a:lvl3pPr>
            <a:lvl4pPr lvl="3" indent="0">
              <a:spcBef>
                <a:spcPts val="0"/>
              </a:spcBef>
              <a:buFont typeface="Arial"/>
              <a:buNone/>
              <a:defRPr sz="1800"/>
            </a:lvl4pPr>
            <a:lvl5pPr lvl="4" indent="0">
              <a:spcBef>
                <a:spcPts val="0"/>
              </a:spcBef>
              <a:buFont typeface="Arial"/>
              <a:buNone/>
              <a:defRPr sz="1800"/>
            </a:lvl5pPr>
            <a:lvl6pPr lvl="5" indent="0">
              <a:spcBef>
                <a:spcPts val="0"/>
              </a:spcBef>
              <a:buFont typeface="Arial"/>
              <a:buNone/>
              <a:defRPr sz="1800"/>
            </a:lvl6pPr>
            <a:lvl7pPr lvl="6" indent="0">
              <a:spcBef>
                <a:spcPts val="0"/>
              </a:spcBef>
              <a:buFont typeface="Arial"/>
              <a:buNone/>
              <a:defRPr sz="1800"/>
            </a:lvl7pPr>
            <a:lvl8pPr lvl="7" indent="0">
              <a:spcBef>
                <a:spcPts val="0"/>
              </a:spcBef>
              <a:buFont typeface="Arial"/>
              <a:buNone/>
              <a:defRPr sz="1800"/>
            </a:lvl8pPr>
            <a:lvl9pPr lvl="8" indent="0">
              <a:spcBef>
                <a:spcPts val="0"/>
              </a:spcBef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2514600" y="11197167"/>
            <a:ext cx="31546800" cy="26688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508000" algn="l" rtl="0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3048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101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8" cy="22394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lang="en-US"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2495550" y="10486402"/>
            <a:ext cx="31546800" cy="174967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2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Font typeface="Arial"/>
              <a:buNone/>
              <a:defRPr sz="1800"/>
            </a:lvl2pPr>
            <a:lvl3pPr lvl="2" indent="0">
              <a:spcBef>
                <a:spcPts val="0"/>
              </a:spcBef>
              <a:buFont typeface="Arial"/>
              <a:buNone/>
              <a:defRPr sz="1800"/>
            </a:lvl3pPr>
            <a:lvl4pPr lvl="3" indent="0">
              <a:spcBef>
                <a:spcPts val="0"/>
              </a:spcBef>
              <a:buFont typeface="Arial"/>
              <a:buNone/>
              <a:defRPr sz="1800"/>
            </a:lvl4pPr>
            <a:lvl5pPr lvl="4" indent="0">
              <a:spcBef>
                <a:spcPts val="0"/>
              </a:spcBef>
              <a:buFont typeface="Arial"/>
              <a:buNone/>
              <a:defRPr sz="1800"/>
            </a:lvl5pPr>
            <a:lvl6pPr lvl="5" indent="0">
              <a:spcBef>
                <a:spcPts val="0"/>
              </a:spcBef>
              <a:buFont typeface="Arial"/>
              <a:buNone/>
              <a:defRPr sz="1800"/>
            </a:lvl6pPr>
            <a:lvl7pPr lvl="6" indent="0">
              <a:spcBef>
                <a:spcPts val="0"/>
              </a:spcBef>
              <a:buFont typeface="Arial"/>
              <a:buNone/>
              <a:defRPr sz="1800"/>
            </a:lvl7pPr>
            <a:lvl8pPr lvl="7" indent="0">
              <a:spcBef>
                <a:spcPts val="0"/>
              </a:spcBef>
              <a:buFont typeface="Arial"/>
              <a:buNone/>
              <a:defRPr sz="1800"/>
            </a:lvl8pPr>
            <a:lvl9pPr lvl="8" indent="0">
              <a:spcBef>
                <a:spcPts val="0"/>
              </a:spcBef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2495550" y="28148715"/>
            <a:ext cx="31546800" cy="920114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8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7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6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8" cy="22394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lang="en-US"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2514600" y="2239441"/>
            <a:ext cx="31546800" cy="81301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Font typeface="Arial"/>
              <a:buNone/>
              <a:defRPr sz="1800"/>
            </a:lvl2pPr>
            <a:lvl3pPr lvl="2" indent="0">
              <a:spcBef>
                <a:spcPts val="0"/>
              </a:spcBef>
              <a:buFont typeface="Arial"/>
              <a:buNone/>
              <a:defRPr sz="1800"/>
            </a:lvl3pPr>
            <a:lvl4pPr lvl="3" indent="0">
              <a:spcBef>
                <a:spcPts val="0"/>
              </a:spcBef>
              <a:buFont typeface="Arial"/>
              <a:buNone/>
              <a:defRPr sz="1800"/>
            </a:lvl4pPr>
            <a:lvl5pPr lvl="4" indent="0">
              <a:spcBef>
                <a:spcPts val="0"/>
              </a:spcBef>
              <a:buFont typeface="Arial"/>
              <a:buNone/>
              <a:defRPr sz="1800"/>
            </a:lvl5pPr>
            <a:lvl6pPr lvl="5" indent="0">
              <a:spcBef>
                <a:spcPts val="0"/>
              </a:spcBef>
              <a:buFont typeface="Arial"/>
              <a:buNone/>
              <a:defRPr sz="1800"/>
            </a:lvl6pPr>
            <a:lvl7pPr lvl="6" indent="0">
              <a:spcBef>
                <a:spcPts val="0"/>
              </a:spcBef>
              <a:buFont typeface="Arial"/>
              <a:buNone/>
              <a:defRPr sz="1800"/>
            </a:lvl7pPr>
            <a:lvl8pPr lvl="7" indent="0">
              <a:spcBef>
                <a:spcPts val="0"/>
              </a:spcBef>
              <a:buFont typeface="Arial"/>
              <a:buNone/>
              <a:defRPr sz="1800"/>
            </a:lvl8pPr>
            <a:lvl9pPr lvl="8" indent="0">
              <a:spcBef>
                <a:spcPts val="0"/>
              </a:spcBef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2514600" y="11197167"/>
            <a:ext cx="15544800" cy="26688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508000" algn="l" rtl="0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3048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101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2"/>
          </p:nvPr>
        </p:nvSpPr>
        <p:spPr>
          <a:xfrm>
            <a:off x="18516600" y="11197167"/>
            <a:ext cx="15544800" cy="26688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508000" algn="l" rtl="0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3048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101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8" cy="22394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lang="en-US"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2519364" y="2239441"/>
            <a:ext cx="31546800" cy="81301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Font typeface="Arial"/>
              <a:buNone/>
              <a:defRPr sz="1800"/>
            </a:lvl2pPr>
            <a:lvl3pPr lvl="2" indent="0">
              <a:spcBef>
                <a:spcPts val="0"/>
              </a:spcBef>
              <a:buFont typeface="Arial"/>
              <a:buNone/>
              <a:defRPr sz="1800"/>
            </a:lvl3pPr>
            <a:lvl4pPr lvl="3" indent="0">
              <a:spcBef>
                <a:spcPts val="0"/>
              </a:spcBef>
              <a:buFont typeface="Arial"/>
              <a:buNone/>
              <a:defRPr sz="1800"/>
            </a:lvl4pPr>
            <a:lvl5pPr lvl="4" indent="0">
              <a:spcBef>
                <a:spcPts val="0"/>
              </a:spcBef>
              <a:buFont typeface="Arial"/>
              <a:buNone/>
              <a:defRPr sz="1800"/>
            </a:lvl5pPr>
            <a:lvl6pPr lvl="5" indent="0">
              <a:spcBef>
                <a:spcPts val="0"/>
              </a:spcBef>
              <a:buFont typeface="Arial"/>
              <a:buNone/>
              <a:defRPr sz="1800"/>
            </a:lvl6pPr>
            <a:lvl7pPr lvl="6" indent="0">
              <a:spcBef>
                <a:spcPts val="0"/>
              </a:spcBef>
              <a:buFont typeface="Arial"/>
              <a:buNone/>
              <a:defRPr sz="1800"/>
            </a:lvl7pPr>
            <a:lvl8pPr lvl="7" indent="0">
              <a:spcBef>
                <a:spcPts val="0"/>
              </a:spcBef>
              <a:buFont typeface="Arial"/>
              <a:buNone/>
              <a:defRPr sz="1800"/>
            </a:lvl8pPr>
            <a:lvl9pPr lvl="8" indent="0">
              <a:spcBef>
                <a:spcPts val="0"/>
              </a:spcBef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2519366" y="10311132"/>
            <a:ext cx="15473360" cy="505332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9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8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7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2"/>
          </p:nvPr>
        </p:nvSpPr>
        <p:spPr>
          <a:xfrm>
            <a:off x="2519366" y="15364459"/>
            <a:ext cx="15473360" cy="225988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508000" algn="l" rtl="0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3048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101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body" idx="3"/>
          </p:nvPr>
        </p:nvSpPr>
        <p:spPr>
          <a:xfrm>
            <a:off x="18516601" y="10311132"/>
            <a:ext cx="15549562" cy="505332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9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8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7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6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4"/>
          </p:nvPr>
        </p:nvSpPr>
        <p:spPr>
          <a:xfrm>
            <a:off x="18516601" y="15364459"/>
            <a:ext cx="15549562" cy="225988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508000" algn="l" rtl="0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3048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101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8" cy="22394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lang="en-US"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title"/>
          </p:nvPr>
        </p:nvSpPr>
        <p:spPr>
          <a:xfrm>
            <a:off x="2514600" y="2239441"/>
            <a:ext cx="31546800" cy="81301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Font typeface="Arial"/>
              <a:buNone/>
              <a:defRPr sz="1800"/>
            </a:lvl2pPr>
            <a:lvl3pPr lvl="2" indent="0">
              <a:spcBef>
                <a:spcPts val="0"/>
              </a:spcBef>
              <a:buFont typeface="Arial"/>
              <a:buNone/>
              <a:defRPr sz="1800"/>
            </a:lvl3pPr>
            <a:lvl4pPr lvl="3" indent="0">
              <a:spcBef>
                <a:spcPts val="0"/>
              </a:spcBef>
              <a:buFont typeface="Arial"/>
              <a:buNone/>
              <a:defRPr sz="1800"/>
            </a:lvl4pPr>
            <a:lvl5pPr lvl="4" indent="0">
              <a:spcBef>
                <a:spcPts val="0"/>
              </a:spcBef>
              <a:buFont typeface="Arial"/>
              <a:buNone/>
              <a:defRPr sz="1800"/>
            </a:lvl5pPr>
            <a:lvl6pPr lvl="5" indent="0">
              <a:spcBef>
                <a:spcPts val="0"/>
              </a:spcBef>
              <a:buFont typeface="Arial"/>
              <a:buNone/>
              <a:defRPr sz="1800"/>
            </a:lvl6pPr>
            <a:lvl7pPr lvl="6" indent="0">
              <a:spcBef>
                <a:spcPts val="0"/>
              </a:spcBef>
              <a:buFont typeface="Arial"/>
              <a:buNone/>
              <a:defRPr sz="1800"/>
            </a:lvl7pPr>
            <a:lvl8pPr lvl="7" indent="0">
              <a:spcBef>
                <a:spcPts val="0"/>
              </a:spcBef>
              <a:buFont typeface="Arial"/>
              <a:buNone/>
              <a:defRPr sz="1800"/>
            </a:lvl8pPr>
            <a:lvl9pPr lvl="8" indent="0">
              <a:spcBef>
                <a:spcPts val="0"/>
              </a:spcBef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8" cy="22394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lang="en-US"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8" cy="22394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lang="en-US"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2519364" y="2804158"/>
            <a:ext cx="11796712" cy="981455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Font typeface="Arial"/>
              <a:buNone/>
              <a:defRPr sz="1800"/>
            </a:lvl2pPr>
            <a:lvl3pPr lvl="2" indent="0">
              <a:spcBef>
                <a:spcPts val="0"/>
              </a:spcBef>
              <a:buFont typeface="Arial"/>
              <a:buNone/>
              <a:defRPr sz="1800"/>
            </a:lvl3pPr>
            <a:lvl4pPr lvl="3" indent="0">
              <a:spcBef>
                <a:spcPts val="0"/>
              </a:spcBef>
              <a:buFont typeface="Arial"/>
              <a:buNone/>
              <a:defRPr sz="1800"/>
            </a:lvl4pPr>
            <a:lvl5pPr lvl="4" indent="0">
              <a:spcBef>
                <a:spcPts val="0"/>
              </a:spcBef>
              <a:buFont typeface="Arial"/>
              <a:buNone/>
              <a:defRPr sz="1800"/>
            </a:lvl5pPr>
            <a:lvl6pPr lvl="5" indent="0">
              <a:spcBef>
                <a:spcPts val="0"/>
              </a:spcBef>
              <a:buFont typeface="Arial"/>
              <a:buNone/>
              <a:defRPr sz="1800"/>
            </a:lvl6pPr>
            <a:lvl7pPr lvl="6" indent="0">
              <a:spcBef>
                <a:spcPts val="0"/>
              </a:spcBef>
              <a:buFont typeface="Arial"/>
              <a:buNone/>
              <a:defRPr sz="1800"/>
            </a:lvl7pPr>
            <a:lvl8pPr lvl="7" indent="0">
              <a:spcBef>
                <a:spcPts val="0"/>
              </a:spcBef>
              <a:buFont typeface="Arial"/>
              <a:buNone/>
              <a:defRPr sz="1800"/>
            </a:lvl8pPr>
            <a:lvl9pPr lvl="8" indent="0">
              <a:spcBef>
                <a:spcPts val="0"/>
              </a:spcBef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15549564" y="6056216"/>
            <a:ext cx="18516600" cy="2989156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711200" algn="l" rtl="0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5080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3048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101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101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101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101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101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101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body" idx="2"/>
          </p:nvPr>
        </p:nvSpPr>
        <p:spPr>
          <a:xfrm>
            <a:off x="2519364" y="12618720"/>
            <a:ext cx="11796712" cy="2337774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8" cy="22394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Shape 62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lang="en-US"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>
            <a:spLocks noGrp="1"/>
          </p:cNvSpPr>
          <p:nvPr>
            <p:ph type="title"/>
          </p:nvPr>
        </p:nvSpPr>
        <p:spPr>
          <a:xfrm>
            <a:off x="2519364" y="2804158"/>
            <a:ext cx="11796712" cy="981455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Font typeface="Arial"/>
              <a:buNone/>
              <a:defRPr sz="1800"/>
            </a:lvl2pPr>
            <a:lvl3pPr lvl="2" indent="0">
              <a:spcBef>
                <a:spcPts val="0"/>
              </a:spcBef>
              <a:buFont typeface="Arial"/>
              <a:buNone/>
              <a:defRPr sz="1800"/>
            </a:lvl3pPr>
            <a:lvl4pPr lvl="3" indent="0">
              <a:spcBef>
                <a:spcPts val="0"/>
              </a:spcBef>
              <a:buFont typeface="Arial"/>
              <a:buNone/>
              <a:defRPr sz="1800"/>
            </a:lvl4pPr>
            <a:lvl5pPr lvl="4" indent="0">
              <a:spcBef>
                <a:spcPts val="0"/>
              </a:spcBef>
              <a:buFont typeface="Arial"/>
              <a:buNone/>
              <a:defRPr sz="1800"/>
            </a:lvl5pPr>
            <a:lvl6pPr lvl="5" indent="0">
              <a:spcBef>
                <a:spcPts val="0"/>
              </a:spcBef>
              <a:buFont typeface="Arial"/>
              <a:buNone/>
              <a:defRPr sz="1800"/>
            </a:lvl6pPr>
            <a:lvl7pPr lvl="6" indent="0">
              <a:spcBef>
                <a:spcPts val="0"/>
              </a:spcBef>
              <a:buFont typeface="Arial"/>
              <a:buNone/>
              <a:defRPr sz="1800"/>
            </a:lvl7pPr>
            <a:lvl8pPr lvl="7" indent="0">
              <a:spcBef>
                <a:spcPts val="0"/>
              </a:spcBef>
              <a:buFont typeface="Arial"/>
              <a:buNone/>
              <a:defRPr sz="1800"/>
            </a:lvl8pPr>
            <a:lvl9pPr lvl="8" indent="0">
              <a:spcBef>
                <a:spcPts val="0"/>
              </a:spcBef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65" name="Shape 65"/>
          <p:cNvSpPr>
            <a:spLocks noGrp="1"/>
          </p:cNvSpPr>
          <p:nvPr>
            <p:ph type="pic" idx="2"/>
          </p:nvPr>
        </p:nvSpPr>
        <p:spPr>
          <a:xfrm>
            <a:off x="15549564" y="6056216"/>
            <a:ext cx="18516600" cy="2989156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2519364" y="12618720"/>
            <a:ext cx="11796712" cy="2337774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marR="0" lvl="1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657600" marR="0" lvl="2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486400" marR="0" lvl="3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315200" marR="0" lvl="4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144000" marR="0" lvl="5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0972800" marR="0" lvl="6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801600" marR="0" lvl="7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4630400" marR="0" lvl="8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8" cy="22394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lang="en-US"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title"/>
          </p:nvPr>
        </p:nvSpPr>
        <p:spPr>
          <a:xfrm>
            <a:off x="2514600" y="2239441"/>
            <a:ext cx="31546800" cy="81301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Font typeface="Arial"/>
              <a:buNone/>
              <a:defRPr sz="1800"/>
            </a:lvl2pPr>
            <a:lvl3pPr lvl="2" indent="0">
              <a:spcBef>
                <a:spcPts val="0"/>
              </a:spcBef>
              <a:buFont typeface="Arial"/>
              <a:buNone/>
              <a:defRPr sz="1800"/>
            </a:lvl3pPr>
            <a:lvl4pPr lvl="3" indent="0">
              <a:spcBef>
                <a:spcPts val="0"/>
              </a:spcBef>
              <a:buFont typeface="Arial"/>
              <a:buNone/>
              <a:defRPr sz="1800"/>
            </a:lvl4pPr>
            <a:lvl5pPr lvl="4" indent="0">
              <a:spcBef>
                <a:spcPts val="0"/>
              </a:spcBef>
              <a:buFont typeface="Arial"/>
              <a:buNone/>
              <a:defRPr sz="1800"/>
            </a:lvl5pPr>
            <a:lvl6pPr lvl="5" indent="0">
              <a:spcBef>
                <a:spcPts val="0"/>
              </a:spcBef>
              <a:buFont typeface="Arial"/>
              <a:buNone/>
              <a:defRPr sz="1800"/>
            </a:lvl6pPr>
            <a:lvl7pPr lvl="6" indent="0">
              <a:spcBef>
                <a:spcPts val="0"/>
              </a:spcBef>
              <a:buFont typeface="Arial"/>
              <a:buNone/>
              <a:defRPr sz="1800"/>
            </a:lvl7pPr>
            <a:lvl8pPr lvl="7" indent="0">
              <a:spcBef>
                <a:spcPts val="0"/>
              </a:spcBef>
              <a:buFont typeface="Arial"/>
              <a:buNone/>
              <a:defRPr sz="1800"/>
            </a:lvl8pPr>
            <a:lvl9pPr lvl="8" indent="0">
              <a:spcBef>
                <a:spcPts val="0"/>
              </a:spcBef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 rot="5400000">
            <a:off x="4943896" y="8767868"/>
            <a:ext cx="26688205" cy="3154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508000" algn="l" rtl="0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3048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101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8" cy="22394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lang="en-US"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 txBox="1">
            <a:spLocks noGrp="1"/>
          </p:cNvSpPr>
          <p:nvPr>
            <p:ph type="title"/>
          </p:nvPr>
        </p:nvSpPr>
        <p:spPr>
          <a:xfrm rot="5400000">
            <a:off x="12295083" y="16119052"/>
            <a:ext cx="35645939" cy="7886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Font typeface="Arial"/>
              <a:buNone/>
              <a:defRPr sz="1800"/>
            </a:lvl2pPr>
            <a:lvl3pPr lvl="2" indent="0">
              <a:spcBef>
                <a:spcPts val="0"/>
              </a:spcBef>
              <a:buFont typeface="Arial"/>
              <a:buNone/>
              <a:defRPr sz="1800"/>
            </a:lvl3pPr>
            <a:lvl4pPr lvl="3" indent="0">
              <a:spcBef>
                <a:spcPts val="0"/>
              </a:spcBef>
              <a:buFont typeface="Arial"/>
              <a:buNone/>
              <a:defRPr sz="1800"/>
            </a:lvl4pPr>
            <a:lvl5pPr lvl="4" indent="0">
              <a:spcBef>
                <a:spcPts val="0"/>
              </a:spcBef>
              <a:buFont typeface="Arial"/>
              <a:buNone/>
              <a:defRPr sz="1800"/>
            </a:lvl5pPr>
            <a:lvl6pPr lvl="5" indent="0">
              <a:spcBef>
                <a:spcPts val="0"/>
              </a:spcBef>
              <a:buFont typeface="Arial"/>
              <a:buNone/>
              <a:defRPr sz="1800"/>
            </a:lvl6pPr>
            <a:lvl7pPr lvl="6" indent="0">
              <a:spcBef>
                <a:spcPts val="0"/>
              </a:spcBef>
              <a:buFont typeface="Arial"/>
              <a:buNone/>
              <a:defRPr sz="1800"/>
            </a:lvl7pPr>
            <a:lvl8pPr lvl="7" indent="0">
              <a:spcBef>
                <a:spcPts val="0"/>
              </a:spcBef>
              <a:buFont typeface="Arial"/>
              <a:buNone/>
              <a:defRPr sz="1800"/>
            </a:lvl8pPr>
            <a:lvl9pPr lvl="8" indent="0">
              <a:spcBef>
                <a:spcPts val="0"/>
              </a:spcBef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 rot="5400000">
            <a:off x="-3706918" y="8460952"/>
            <a:ext cx="35645939" cy="2320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508000" algn="l" rtl="0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3048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101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8" cy="22394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lang="en-US"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2514600" y="2239441"/>
            <a:ext cx="31546800" cy="81301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7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Font typeface="Arial"/>
              <a:buNone/>
              <a:defRPr sz="1800"/>
            </a:lvl2pPr>
            <a:lvl3pPr lvl="2" indent="0">
              <a:spcBef>
                <a:spcPts val="0"/>
              </a:spcBef>
              <a:buFont typeface="Arial"/>
              <a:buNone/>
              <a:defRPr sz="1800"/>
            </a:lvl3pPr>
            <a:lvl4pPr lvl="3" indent="0">
              <a:spcBef>
                <a:spcPts val="0"/>
              </a:spcBef>
              <a:buFont typeface="Arial"/>
              <a:buNone/>
              <a:defRPr sz="1800"/>
            </a:lvl4pPr>
            <a:lvl5pPr lvl="4" indent="0">
              <a:spcBef>
                <a:spcPts val="0"/>
              </a:spcBef>
              <a:buFont typeface="Arial"/>
              <a:buNone/>
              <a:defRPr sz="1800"/>
            </a:lvl5pPr>
            <a:lvl6pPr lvl="5" indent="0">
              <a:spcBef>
                <a:spcPts val="0"/>
              </a:spcBef>
              <a:buFont typeface="Arial"/>
              <a:buNone/>
              <a:defRPr sz="1800"/>
            </a:lvl6pPr>
            <a:lvl7pPr lvl="6" indent="0">
              <a:spcBef>
                <a:spcPts val="0"/>
              </a:spcBef>
              <a:buFont typeface="Arial"/>
              <a:buNone/>
              <a:defRPr sz="1800"/>
            </a:lvl7pPr>
            <a:lvl8pPr lvl="7" indent="0">
              <a:spcBef>
                <a:spcPts val="0"/>
              </a:spcBef>
              <a:buFont typeface="Arial"/>
              <a:buNone/>
              <a:defRPr sz="1800"/>
            </a:lvl8pPr>
            <a:lvl9pPr lvl="8" indent="0">
              <a:spcBef>
                <a:spcPts val="0"/>
              </a:spcBef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2514600" y="11197167"/>
            <a:ext cx="31546800" cy="26688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914400" marR="0" lvl="0" indent="508000" algn="l" rtl="0">
              <a:lnSpc>
                <a:spcPct val="90000"/>
              </a:lnSpc>
              <a:spcBef>
                <a:spcPts val="4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743200" marR="0" lvl="1" indent="3048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0" marR="0" lvl="2" indent="101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400800" marR="0" lvl="3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8229600" marR="0" lvl="4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0058400" marR="0" lvl="5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887200" marR="0" lvl="6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0" marR="0" lvl="7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544800" marR="0" lvl="8" indent="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dt" idx="10"/>
          </p:nvPr>
        </p:nvSpPr>
        <p:spPr>
          <a:xfrm>
            <a:off x="2514600" y="38985621"/>
            <a:ext cx="8229600" cy="22394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ftr" idx="11"/>
          </p:nvPr>
        </p:nvSpPr>
        <p:spPr>
          <a:xfrm>
            <a:off x="12115800" y="38985621"/>
            <a:ext cx="12344398" cy="22394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87322" marR="0" lvl="1" indent="-77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774642" marR="0" lvl="2" indent="-27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661965" marR="0" lvl="3" indent="-10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549285" marR="0" lvl="4" indent="-548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436608" marR="0" lvl="5" indent="-50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323930" marR="0" lvl="6" indent="-82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211251" marR="0" lvl="7" indent="-3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5098573" marR="0" lvl="8" indent="-109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743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Shape 10"/>
          <p:cNvSpPr txBox="1">
            <a:spLocks noGrp="1"/>
          </p:cNvSpPr>
          <p:nvPr>
            <p:ph type="sldNum" idx="12"/>
          </p:nvPr>
        </p:nvSpPr>
        <p:spPr>
          <a:xfrm>
            <a:off x="25831800" y="38985621"/>
            <a:ext cx="8229600" cy="22394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Calibri"/>
              <a:buNone/>
            </a:pPr>
            <a:fld id="{00000000-1234-1234-1234-123412341234}" type="slidenum">
              <a:rPr lang="en-US" sz="4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48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9.png"/><Relationship Id="rId12" Type="http://schemas.openxmlformats.org/officeDocument/2006/relationships/image" Target="../media/image10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hyperlink" Target="https://www.wmata.com/" TargetMode="External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Shape 117" descr="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875" y="36452343"/>
            <a:ext cx="16026250" cy="1876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Shape 108" descr="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86181" y="8972371"/>
            <a:ext cx="16026250" cy="192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Shape 114" descr="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86181" y="15963005"/>
            <a:ext cx="16026250" cy="192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Shape 114" descr="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875" y="15735332"/>
            <a:ext cx="16026250" cy="192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Shape 117" descr="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875" y="24333076"/>
            <a:ext cx="16026250" cy="1876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Shape 105" descr="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" y="5917921"/>
            <a:ext cx="16026250" cy="192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Shape 109" descr="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" y="9103396"/>
            <a:ext cx="16026250" cy="192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Shape 115" descr="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86181" y="12670865"/>
            <a:ext cx="16026250" cy="19231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Shape 86"/>
          <p:cNvSpPr txBox="1"/>
          <p:nvPr/>
        </p:nvSpPr>
        <p:spPr>
          <a:xfrm>
            <a:off x="11317672" y="904781"/>
            <a:ext cx="23576582" cy="31700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ct val="25000"/>
              <a:buFont typeface="Arial"/>
              <a:buNone/>
            </a:pPr>
            <a:r>
              <a:rPr lang="en-US" sz="20000" dirty="0" smtClean="0">
                <a:solidFill>
                  <a:srgbClr val="141F22"/>
                </a:solidFill>
                <a:latin typeface="Blanch Caps" charset="0"/>
                <a:ea typeface="Blanch Caps" charset="0"/>
                <a:cs typeface="Blanch Caps" charset="0"/>
              </a:rPr>
              <a:t>A STUDY ON</a:t>
            </a:r>
            <a:r>
              <a:rPr lang="en-US" sz="20000" u="none" strike="noStrike" cap="none" dirty="0" smtClean="0">
                <a:solidFill>
                  <a:srgbClr val="141F22"/>
                </a:solidFill>
                <a:latin typeface="Blanch Caps" charset="0"/>
                <a:ea typeface="Blanch Caps" charset="0"/>
                <a:cs typeface="Blanch Caps" charset="0"/>
                <a:sym typeface="Arial"/>
              </a:rPr>
              <a:t> WMATA Bus </a:t>
            </a:r>
            <a:r>
              <a:rPr lang="en-US" sz="20000" u="none" strike="noStrike" cap="none" dirty="0">
                <a:solidFill>
                  <a:srgbClr val="141F22"/>
                </a:solidFill>
                <a:latin typeface="Blanch Caps" charset="0"/>
                <a:ea typeface="Blanch Caps" charset="0"/>
                <a:cs typeface="Blanch Caps" charset="0"/>
                <a:sym typeface="Arial"/>
              </a:rPr>
              <a:t>Fare Evasion</a:t>
            </a:r>
          </a:p>
        </p:txBody>
      </p:sp>
      <p:sp>
        <p:nvSpPr>
          <p:cNvPr id="87" name="Shape 87"/>
          <p:cNvSpPr txBox="1"/>
          <p:nvPr/>
        </p:nvSpPr>
        <p:spPr>
          <a:xfrm>
            <a:off x="11308870" y="4020675"/>
            <a:ext cx="24233140" cy="14156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25000"/>
              <a:buFont typeface="Raleway"/>
              <a:buNone/>
            </a:pPr>
            <a:r>
              <a:rPr lang="en-US" sz="3600" b="0" i="0" u="none" strike="noStrike" cap="none" dirty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David </a:t>
            </a:r>
            <a:r>
              <a:rPr lang="en-US" sz="3600" b="0" i="0" u="none" strike="noStrike" cap="none" dirty="0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Hinkle (VT), </a:t>
            </a:r>
            <a:r>
              <a:rPr lang="en-US" sz="3600" b="0" i="0" u="none" strike="noStrike" cap="none" dirty="0" err="1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Eirik</a:t>
            </a:r>
            <a:r>
              <a:rPr lang="en-US" sz="3600" b="0" i="0" u="none" strike="noStrike" cap="none" dirty="0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00" b="0" i="0" u="none" strike="noStrike" cap="none" dirty="0" err="1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Iversen</a:t>
            </a:r>
            <a:r>
              <a:rPr lang="en-US" sz="3600" b="0" i="0" u="none" strike="noStrike" cap="none" dirty="0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 (VT), </a:t>
            </a:r>
            <a:r>
              <a:rPr lang="en-US" sz="3600" b="0" i="0" u="none" strike="noStrike" cap="none" dirty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Craig </a:t>
            </a:r>
            <a:r>
              <a:rPr lang="en-US" sz="3600" b="0" i="0" u="none" strike="noStrike" cap="none" dirty="0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Morton (VT), </a:t>
            </a:r>
            <a:r>
              <a:rPr lang="en-US" sz="3600" b="0" i="0" u="none" strike="noStrike" cap="none" dirty="0" err="1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Simmu</a:t>
            </a:r>
            <a:r>
              <a:rPr lang="en-US" sz="3600" b="0" i="0" u="none" strike="noStrike" cap="none" dirty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00" b="0" i="0" u="none" strike="noStrike" cap="none" dirty="0" err="1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Phander</a:t>
            </a:r>
            <a:r>
              <a:rPr lang="en-US" sz="3600" b="0" i="0" u="none" strike="noStrike" cap="none" dirty="0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 (VT)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25000"/>
              <a:buFont typeface="Raleway"/>
              <a:buNone/>
            </a:pPr>
            <a:r>
              <a:rPr lang="en-US" sz="3600" b="0" i="0" u="none" strike="noStrike" cap="none" dirty="0" err="1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Lata</a:t>
            </a:r>
            <a:r>
              <a:rPr lang="en-US" sz="3600" b="0" i="0" u="none" strike="noStrike" cap="none" dirty="0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00" b="0" i="0" u="none" strike="noStrike" cap="none" dirty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Kodali (</a:t>
            </a:r>
            <a:r>
              <a:rPr lang="en-US" sz="3600" b="0" i="0" u="none" strike="noStrike" cap="none" dirty="0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VT), </a:t>
            </a:r>
            <a:r>
              <a:rPr lang="en-US" sz="3600" b="0" i="0" u="none" strike="noStrike" cap="none" dirty="0" err="1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Zarni</a:t>
            </a:r>
            <a:r>
              <a:rPr lang="en-US" sz="3600" b="0" i="0" u="none" strike="noStrike" cap="none" dirty="0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00" b="0" i="0" u="none" strike="noStrike" cap="none" dirty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Htet (NYU) with Vicki Lancaster and Aaron </a:t>
            </a:r>
            <a:r>
              <a:rPr lang="en-US" sz="3600" b="0" i="0" u="none" strike="noStrike" cap="none" dirty="0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Schroeder </a:t>
            </a:r>
            <a:r>
              <a:rPr lang="en-US" sz="3600" b="0" i="0" u="none" strike="noStrike" cap="none" dirty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(SDAL)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25000"/>
              <a:buFont typeface="Raleway"/>
              <a:buNone/>
            </a:pPr>
            <a:r>
              <a:rPr lang="en-US" sz="3600" b="0" i="0" u="none" strike="noStrike" cap="none" dirty="0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Sponsor: Jayme M. Johnson, Catherine </a:t>
            </a:r>
            <a:r>
              <a:rPr lang="en-US" sz="3600" b="0" i="0" u="none" strike="noStrike" cap="none" dirty="0" err="1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Vanderwaart</a:t>
            </a:r>
            <a:r>
              <a:rPr lang="en-US" sz="3600" b="0" i="0" u="none" strike="noStrike" cap="none" dirty="0" smtClean="0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rPr>
              <a:t>, Washington Metropolitan Area Transit Authority</a:t>
            </a:r>
            <a:endParaRPr lang="en-US" sz="3600" b="0" i="0" u="none" strike="noStrike" cap="none" dirty="0">
              <a:solidFill>
                <a:srgbClr val="7F7F7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8" name="Shape 88" descr="Screen Shot 2017-07-12 at 10.27.00 AM.png"/>
          <p:cNvPicPr preferRelativeResize="0"/>
          <p:nvPr/>
        </p:nvPicPr>
        <p:blipFill rotWithShape="1">
          <a:blip r:embed="rId4">
            <a:alphaModFix/>
          </a:blip>
          <a:srcRect l="20823" t="13770" r="21056" b="11305"/>
          <a:stretch/>
        </p:blipFill>
        <p:spPr>
          <a:xfrm>
            <a:off x="32414441" y="6460632"/>
            <a:ext cx="1646960" cy="182409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Shape 89"/>
          <p:cNvSpPr txBox="1"/>
          <p:nvPr/>
        </p:nvSpPr>
        <p:spPr>
          <a:xfrm>
            <a:off x="1627816" y="6177360"/>
            <a:ext cx="12362700" cy="83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ct val="25000"/>
              <a:buFont typeface="Raleway"/>
              <a:buNone/>
            </a:pPr>
            <a:r>
              <a:rPr lang="en-US" sz="4000" i="0" u="none" strike="noStrike" cap="none" dirty="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Introduction</a:t>
            </a:r>
          </a:p>
        </p:txBody>
      </p:sp>
      <p:sp>
        <p:nvSpPr>
          <p:cNvPr id="90" name="Shape 90"/>
          <p:cNvSpPr txBox="1"/>
          <p:nvPr/>
        </p:nvSpPr>
        <p:spPr>
          <a:xfrm>
            <a:off x="1627816" y="9308435"/>
            <a:ext cx="12362700" cy="83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ct val="25000"/>
              <a:buFont typeface="Raleway"/>
              <a:buNone/>
            </a:pPr>
            <a:r>
              <a:rPr lang="en-US" sz="4000" i="0" u="none" strike="noStrike" cap="none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Literature Review:  General Observations </a:t>
            </a:r>
          </a:p>
        </p:txBody>
      </p:sp>
      <p:sp>
        <p:nvSpPr>
          <p:cNvPr id="91" name="Shape 91"/>
          <p:cNvSpPr txBox="1"/>
          <p:nvPr/>
        </p:nvSpPr>
        <p:spPr>
          <a:xfrm>
            <a:off x="18349790" y="12810100"/>
            <a:ext cx="12362700" cy="70448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ct val="25000"/>
              <a:buFont typeface="Raleway"/>
              <a:buNone/>
            </a:pPr>
            <a:r>
              <a:rPr lang="en-US" sz="4000" i="0" u="none" strike="noStrike" cap="none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Data Processing</a:t>
            </a:r>
          </a:p>
        </p:txBody>
      </p:sp>
      <p:sp>
        <p:nvSpPr>
          <p:cNvPr id="92" name="Shape 92"/>
          <p:cNvSpPr txBox="1"/>
          <p:nvPr/>
        </p:nvSpPr>
        <p:spPr>
          <a:xfrm>
            <a:off x="1627817" y="16048174"/>
            <a:ext cx="12362699" cy="83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ct val="25000"/>
              <a:buFont typeface="Raleway"/>
              <a:buNone/>
            </a:pPr>
            <a:r>
              <a:rPr lang="en-US" sz="4000" i="0" u="none" strike="noStrike" cap="none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WMATA Jurisdiction:  Bus</a:t>
            </a:r>
          </a:p>
        </p:txBody>
      </p:sp>
      <p:sp>
        <p:nvSpPr>
          <p:cNvPr id="94" name="Shape 94"/>
          <p:cNvSpPr txBox="1"/>
          <p:nvPr/>
        </p:nvSpPr>
        <p:spPr>
          <a:xfrm>
            <a:off x="1827175" y="36652626"/>
            <a:ext cx="12362700" cy="83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ct val="25000"/>
              <a:buFont typeface="Raleway"/>
              <a:buNone/>
            </a:pPr>
            <a:r>
              <a:rPr lang="en-US" sz="4000" i="0" u="none" strike="noStrike" cap="none" dirty="0" smtClean="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Next </a:t>
            </a:r>
            <a:r>
              <a:rPr lang="en-US" sz="4000" i="0" u="none" strike="noStrike" cap="none" dirty="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Steps</a:t>
            </a:r>
          </a:p>
        </p:txBody>
      </p:sp>
      <p:sp>
        <p:nvSpPr>
          <p:cNvPr id="95" name="Shape 95"/>
          <p:cNvSpPr txBox="1"/>
          <p:nvPr/>
        </p:nvSpPr>
        <p:spPr>
          <a:xfrm>
            <a:off x="18349793" y="9145925"/>
            <a:ext cx="4907099" cy="83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ct val="25000"/>
              <a:buFont typeface="Raleway"/>
              <a:buNone/>
            </a:pPr>
            <a:r>
              <a:rPr lang="en-US" sz="4000" i="0" u="none" strike="noStrike" cap="none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Data</a:t>
            </a:r>
          </a:p>
        </p:txBody>
      </p:sp>
      <p:sp>
        <p:nvSpPr>
          <p:cNvPr id="96" name="Shape 96"/>
          <p:cNvSpPr txBox="1"/>
          <p:nvPr/>
        </p:nvSpPr>
        <p:spPr>
          <a:xfrm>
            <a:off x="1662941" y="7067215"/>
            <a:ext cx="33420829" cy="183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rebuchet MS"/>
              <a:buNone/>
            </a:pPr>
            <a:r>
              <a:rPr lang="en-US" sz="3600" b="1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Problem: </a:t>
            </a:r>
            <a:r>
              <a:rPr lang="en-US" sz="36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WMATA loses approximately 10-20 million dollars a year due to bus fare evasion (passenger pays no fare) on its 1300-1500 daily trips.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rebuchet MS"/>
              <a:buNone/>
            </a:pPr>
            <a:r>
              <a:rPr lang="en-US" sz="3600" b="1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Research Goal: </a:t>
            </a:r>
            <a:r>
              <a:rPr lang="en-US" sz="36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Provide insights into the problem of bus fare evasion that can be used to guide fare evasion interventions.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rebuchet MS"/>
              <a:buNone/>
            </a:pPr>
            <a:r>
              <a:rPr lang="en-US" sz="3600" b="1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Plan: </a:t>
            </a:r>
            <a:r>
              <a:rPr lang="en-US" sz="36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Use WMATA administrative data to locate where fare evaders live and the American Community Survey to tell their story at the census block group level.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3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Shape 97"/>
          <p:cNvSpPr txBox="1"/>
          <p:nvPr/>
        </p:nvSpPr>
        <p:spPr>
          <a:xfrm>
            <a:off x="18349790" y="9859200"/>
            <a:ext cx="16664099" cy="2692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ct val="25000"/>
              <a:buFont typeface="Trebuchet MS"/>
              <a:buNone/>
            </a:pPr>
            <a:r>
              <a:rPr lang="en-US" sz="36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WMATA administrative data sources for </a:t>
            </a:r>
            <a:r>
              <a:rPr lang="en-US" sz="3600" b="0" i="1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first week of May (5/1</a:t>
            </a:r>
            <a:r>
              <a:rPr lang="mr-IN" sz="3600" b="0" i="1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–</a:t>
            </a:r>
            <a:r>
              <a:rPr lang="en-US" sz="3600" b="0" i="1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5/7):</a:t>
            </a:r>
          </a:p>
        </p:txBody>
      </p:sp>
      <p:sp>
        <p:nvSpPr>
          <p:cNvPr id="98" name="Shape 98"/>
          <p:cNvSpPr/>
          <p:nvPr/>
        </p:nvSpPr>
        <p:spPr>
          <a:xfrm>
            <a:off x="18486025" y="10557860"/>
            <a:ext cx="4114800" cy="2167127"/>
          </a:xfrm>
          <a:prstGeom prst="flowChartAlternateProcess">
            <a:avLst/>
          </a:prstGeom>
          <a:solidFill>
            <a:schemeClr val="lt2"/>
          </a:solidFill>
          <a:ln w="19050" cap="flat" cmpd="sng">
            <a:solidFill>
              <a:srgbClr val="5B9BD5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ct val="25000"/>
              <a:buFont typeface="Trebuchet MS"/>
              <a:buNone/>
            </a:pPr>
            <a:r>
              <a:rPr lang="en-US" sz="3000" b="1" i="0" u="none" strike="noStrike" cap="none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Bus Stops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ct val="25000"/>
              <a:buFont typeface="Trebuchet MS"/>
              <a:buNone/>
            </a:pPr>
            <a:r>
              <a:rPr lang="en-US" sz="2500" b="0" i="0" u="none" strike="noStrike" cap="none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Bus stop ID, stop description, latitude, and longitude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ct val="25000"/>
              <a:buFont typeface="Trebuchet MS"/>
              <a:buNone/>
            </a:pPr>
            <a:r>
              <a:rPr lang="en-US" sz="2500" b="0" i="1" u="none" strike="noStrike" cap="none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(10,988 observations)</a:t>
            </a:r>
          </a:p>
        </p:txBody>
      </p:sp>
      <p:sp>
        <p:nvSpPr>
          <p:cNvPr id="99" name="Shape 99"/>
          <p:cNvSpPr/>
          <p:nvPr/>
        </p:nvSpPr>
        <p:spPr>
          <a:xfrm>
            <a:off x="22841398" y="10613179"/>
            <a:ext cx="6858000" cy="2170199"/>
          </a:xfrm>
          <a:prstGeom prst="flowChartAlternateProcess">
            <a:avLst/>
          </a:prstGeom>
          <a:solidFill>
            <a:schemeClr val="lt2"/>
          </a:solidFill>
          <a:ln w="19050" cap="flat" cmpd="sng">
            <a:solidFill>
              <a:srgbClr val="5B9BD5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Approximate Person Counter (APC)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Trebuchet MS"/>
              <a:buNone/>
            </a:pPr>
            <a:r>
              <a:rPr lang="en-US" sz="2500" b="0" i="0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Front and back door entries and exits for each bus, route, and bus stop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5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2500" b="0" i="1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2400" b="0" i="1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3,779,527 </a:t>
            </a:r>
            <a:r>
              <a:rPr lang="en-US" sz="2500" b="0" i="1" u="none" strike="noStrike" cap="none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observations)</a:t>
            </a:r>
          </a:p>
        </p:txBody>
      </p:sp>
      <p:sp>
        <p:nvSpPr>
          <p:cNvPr id="100" name="Shape 100"/>
          <p:cNvSpPr/>
          <p:nvPr/>
        </p:nvSpPr>
        <p:spPr>
          <a:xfrm>
            <a:off x="29939971" y="10642971"/>
            <a:ext cx="5143799" cy="2167127"/>
          </a:xfrm>
          <a:prstGeom prst="flowChartAlternateProcess">
            <a:avLst/>
          </a:prstGeom>
          <a:solidFill>
            <a:schemeClr val="lt2"/>
          </a:solidFill>
          <a:ln w="19050" cap="flat" cmpd="sng">
            <a:solidFill>
              <a:srgbClr val="5B9BD5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3000" b="1" i="0" u="none" strike="noStrike" cap="none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Farebox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ct val="25000"/>
              <a:buFont typeface="Trebuchet MS"/>
              <a:buNone/>
            </a:pPr>
            <a:r>
              <a:rPr lang="en-US" sz="2500" b="0" i="0" u="none" strike="noStrike" cap="none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Cash and Smartrip transactions for each bus, trip number, and bus stop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2500" b="0" i="1" u="none" strike="noStrike" cap="none">
                <a:solidFill>
                  <a:srgbClr val="141F22"/>
                </a:solidFill>
                <a:latin typeface="Trebuchet MS"/>
                <a:ea typeface="Trebuchet MS"/>
                <a:cs typeface="Trebuchet MS"/>
                <a:sym typeface="Trebuchet MS"/>
              </a:rPr>
              <a:t>(2,729,668 observations)</a:t>
            </a:r>
          </a:p>
        </p:txBody>
      </p:sp>
      <p:sp>
        <p:nvSpPr>
          <p:cNvPr id="101" name="Shape 101"/>
          <p:cNvSpPr txBox="1"/>
          <p:nvPr/>
        </p:nvSpPr>
        <p:spPr>
          <a:xfrm>
            <a:off x="18486025" y="13759535"/>
            <a:ext cx="16820250" cy="29353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>
              <a:buClr>
                <a:srgbClr val="000000"/>
              </a:buClr>
              <a:buSzPct val="100000"/>
              <a:buFont typeface="Trebuchet MS"/>
              <a:buChar char="●"/>
            </a:pPr>
            <a:r>
              <a:rPr lang="en-US" sz="3000" dirty="0">
                <a:latin typeface="Trebuchet MS"/>
                <a:ea typeface="Trebuchet MS"/>
                <a:cs typeface="Trebuchet MS"/>
                <a:sym typeface="Trebuchet MS"/>
              </a:rPr>
              <a:t>APC and </a:t>
            </a:r>
            <a:r>
              <a:rPr lang="en-US" sz="3000" dirty="0" err="1">
                <a:latin typeface="Trebuchet MS"/>
                <a:ea typeface="Trebuchet MS"/>
                <a:cs typeface="Trebuchet MS"/>
                <a:sym typeface="Trebuchet MS"/>
              </a:rPr>
              <a:t>Farebox</a:t>
            </a:r>
            <a:r>
              <a:rPr lang="en-US" sz="3000" dirty="0">
                <a:latin typeface="Trebuchet MS"/>
                <a:ea typeface="Trebuchet MS"/>
                <a:cs typeface="Trebuchet MS"/>
                <a:sym typeface="Trebuchet MS"/>
              </a:rPr>
              <a:t> data are mismatched in number of routes, trips, bus stops, and buses.</a:t>
            </a:r>
          </a:p>
          <a:p>
            <a:pPr marL="457200" lvl="0" indent="-419100">
              <a:buClr>
                <a:srgbClr val="000000"/>
              </a:buClr>
              <a:buSzPct val="100000"/>
              <a:buFont typeface="Trebuchet MS"/>
              <a:buChar char="●"/>
            </a:pPr>
            <a:r>
              <a:rPr lang="en-US" sz="3000" dirty="0">
                <a:latin typeface="Trebuchet MS"/>
                <a:ea typeface="Trebuchet MS"/>
                <a:cs typeface="Trebuchet MS"/>
                <a:sym typeface="Trebuchet MS"/>
              </a:rPr>
              <a:t>Cleaning the data included discovering the number of mislabeled or missing bus stops, missing trips, missing transaction information, and imprecise latitude and longitude coordinates. </a:t>
            </a:r>
          </a:p>
          <a:p>
            <a:pPr marL="457200" lvl="0" indent="-419100">
              <a:buClr>
                <a:srgbClr val="000000"/>
              </a:buClr>
              <a:buSzPct val="100000"/>
              <a:buFont typeface="Trebuchet MS"/>
              <a:buChar char="●"/>
            </a:pPr>
            <a:r>
              <a:rPr lang="en-US" sz="30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After cleaning, created a dataset </a:t>
            </a:r>
            <a:r>
              <a:rPr lang="en-US" sz="3000" dirty="0">
                <a:latin typeface="Trebuchet MS"/>
                <a:ea typeface="Trebuchet MS"/>
                <a:cs typeface="Trebuchet MS"/>
                <a:sym typeface="Trebuchet MS"/>
              </a:rPr>
              <a:t>aggregated </a:t>
            </a:r>
            <a:r>
              <a:rPr lang="en-US" sz="30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at the Census </a:t>
            </a:r>
            <a:r>
              <a:rPr lang="en-US" sz="3000" dirty="0">
                <a:latin typeface="Trebuchet MS"/>
                <a:ea typeface="Trebuchet MS"/>
                <a:cs typeface="Trebuchet MS"/>
                <a:sym typeface="Trebuchet MS"/>
              </a:rPr>
              <a:t>B</a:t>
            </a:r>
            <a:r>
              <a:rPr lang="en-US" sz="30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lock </a:t>
            </a:r>
            <a:r>
              <a:rPr lang="en-US" sz="3000" dirty="0">
                <a:latin typeface="Trebuchet MS"/>
                <a:ea typeface="Trebuchet MS"/>
                <a:cs typeface="Trebuchet MS"/>
                <a:sym typeface="Trebuchet MS"/>
              </a:rPr>
              <a:t>G</a:t>
            </a:r>
            <a:r>
              <a:rPr lang="en-US" sz="30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roup (CBG) level using </a:t>
            </a:r>
            <a:r>
              <a:rPr lang="en-US" sz="3000" dirty="0">
                <a:latin typeface="Trebuchet MS"/>
                <a:ea typeface="Trebuchet MS"/>
                <a:cs typeface="Trebuchet MS"/>
                <a:sym typeface="Trebuchet MS"/>
              </a:rPr>
              <a:t>both the</a:t>
            </a:r>
            <a:r>
              <a:rPr lang="en-US" sz="30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 APC and Farebox rush hour data (</a:t>
            </a:r>
            <a:r>
              <a:rPr lang="en-US" sz="3000" dirty="0">
                <a:latin typeface="Trebuchet MS"/>
                <a:ea typeface="Trebuchet MS"/>
                <a:cs typeface="Trebuchet MS"/>
                <a:sym typeface="Trebuchet MS"/>
              </a:rPr>
              <a:t>Monday-Friday between 5:00-10:00 AM)</a:t>
            </a:r>
            <a:r>
              <a:rPr lang="en-US" sz="30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.</a:t>
            </a: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Trebuchet MS"/>
              <a:buNone/>
            </a:pPr>
            <a:endParaRPr sz="30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3000" b="0" i="0" u="none" strike="noStrike" cap="none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30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2" name="Shape 102"/>
          <p:cNvSpPr txBox="1"/>
          <p:nvPr/>
        </p:nvSpPr>
        <p:spPr>
          <a:xfrm>
            <a:off x="1112800" y="10322912"/>
            <a:ext cx="16393500" cy="5428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457200" marR="0" lvl="0" indent="-438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rebuchet MS"/>
              <a:buChar char="●"/>
            </a:pPr>
            <a:r>
              <a:rPr lang="en-US" sz="3300" dirty="0">
                <a:latin typeface="Trebuchet MS"/>
                <a:ea typeface="Trebuchet MS"/>
                <a:cs typeface="Trebuchet MS"/>
                <a:sym typeface="Trebuchet MS"/>
              </a:rPr>
              <a:t>Fare evasion is an endemic international problem.</a:t>
            </a:r>
          </a:p>
          <a:p>
            <a:pPr marL="457200" marR="0" lvl="0" indent="-438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rebuchet MS"/>
              <a:buChar char="●"/>
            </a:pPr>
            <a:r>
              <a:rPr lang="en-US" sz="3300" dirty="0">
                <a:latin typeface="Trebuchet MS"/>
                <a:ea typeface="Trebuchet MS"/>
                <a:cs typeface="Trebuchet MS"/>
                <a:sym typeface="Trebuchet MS"/>
              </a:rPr>
              <a:t>Fare evasion is estimated using observer surveys, not administrative data.</a:t>
            </a:r>
          </a:p>
          <a:p>
            <a:pPr marL="457200" marR="0" lvl="0" indent="-438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rebuchet MS"/>
              <a:buChar char="●"/>
            </a:pPr>
            <a:r>
              <a:rPr lang="en-US" sz="3300" dirty="0">
                <a:latin typeface="Trebuchet MS"/>
                <a:ea typeface="Trebuchet MS"/>
                <a:cs typeface="Trebuchet MS"/>
                <a:sym typeface="Trebuchet MS"/>
              </a:rPr>
              <a:t>Issues inherent in observer surveys include: high costs, missed assignments, difficulty processing large passenger volumes, data interpretation issues, data entry and analysis costs, and data collection inconsistencies between observers.</a:t>
            </a:r>
          </a:p>
          <a:p>
            <a:pPr marL="457200" marR="0" lvl="0" indent="-438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rebuchet MS"/>
              <a:buChar char="●"/>
            </a:pPr>
            <a:r>
              <a:rPr lang="en-US" sz="3300" dirty="0">
                <a:latin typeface="Trebuchet MS"/>
                <a:ea typeface="Trebuchet MS"/>
                <a:cs typeface="Trebuchet MS"/>
                <a:sym typeface="Trebuchet MS"/>
              </a:rPr>
              <a:t>Observer surveys found that passenger entry rates, time and day of the week, fare control equipment configuration, neighborhood income correlate with fare evasion rates.</a:t>
            </a:r>
          </a:p>
          <a:p>
            <a:pPr marL="457200" marR="0" lvl="0" indent="-438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rebuchet MS"/>
              <a:buChar char="●"/>
            </a:pPr>
            <a:r>
              <a:rPr lang="en-US" sz="3300" dirty="0">
                <a:latin typeface="Trebuchet MS"/>
                <a:ea typeface="Trebuchet MS"/>
                <a:cs typeface="Trebuchet MS"/>
                <a:sym typeface="Trebuchet MS"/>
              </a:rPr>
              <a:t>The majority of interventions involve increased inspections.</a:t>
            </a:r>
          </a:p>
          <a:p>
            <a:pPr marL="457200" marR="0" lvl="0" indent="-438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rebuchet MS"/>
              <a:buChar char="●"/>
            </a:pPr>
            <a:r>
              <a:rPr lang="en-US" sz="3300" dirty="0">
                <a:latin typeface="Trebuchet MS"/>
                <a:ea typeface="Trebuchet MS"/>
                <a:cs typeface="Trebuchet MS"/>
                <a:sym typeface="Trebuchet MS"/>
              </a:rPr>
              <a:t>Most fare evasion interventions cited in the literature are not evaluated for efficacy.</a:t>
            </a:r>
          </a:p>
        </p:txBody>
      </p:sp>
      <p:sp>
        <p:nvSpPr>
          <p:cNvPr id="103" name="Shape 103"/>
          <p:cNvSpPr txBox="1"/>
          <p:nvPr/>
        </p:nvSpPr>
        <p:spPr>
          <a:xfrm>
            <a:off x="1872143" y="24414664"/>
            <a:ext cx="15383139" cy="83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Clr>
                <a:srgbClr val="141F22"/>
              </a:buClr>
              <a:buSzPct val="25000"/>
            </a:pPr>
            <a:r>
              <a:rPr lang="en-US" sz="4000" i="0" u="none" strike="noStrike" cap="none" dirty="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Fare Evasion Estimates by Census Block </a:t>
            </a:r>
            <a:r>
              <a:rPr lang="en-US" sz="4000" u="none" strike="noStrike" cap="none" dirty="0" smtClean="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Group</a:t>
            </a:r>
            <a:r>
              <a:rPr lang="en-US" sz="4000" dirty="0"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4000" dirty="0" smtClean="0"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lang="en-US" sz="4000" dirty="0">
                <a:latin typeface="Trebuchet MS"/>
                <a:ea typeface="Trebuchet MS"/>
                <a:cs typeface="Trebuchet MS"/>
                <a:sym typeface="Trebuchet MS"/>
              </a:rPr>
              <a:t>5/1</a:t>
            </a:r>
            <a:r>
              <a:rPr lang="mr-IN" sz="4000" dirty="0">
                <a:latin typeface="Trebuchet MS"/>
                <a:ea typeface="Trebuchet MS"/>
                <a:cs typeface="Trebuchet MS"/>
                <a:sym typeface="Trebuchet MS"/>
              </a:rPr>
              <a:t>–</a:t>
            </a:r>
            <a:r>
              <a:rPr lang="en-US" sz="4000" dirty="0">
                <a:latin typeface="Trebuchet MS"/>
                <a:ea typeface="Trebuchet MS"/>
                <a:cs typeface="Trebuchet MS"/>
                <a:sym typeface="Trebuchet MS"/>
              </a:rPr>
              <a:t>5/7</a:t>
            </a:r>
            <a:r>
              <a:rPr lang="en-US" sz="4000" dirty="0" smtClean="0"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lang="en-US" sz="4000" u="none" strike="noStrike" cap="none" dirty="0">
              <a:solidFill>
                <a:srgbClr val="141F2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4" name="Shape 104"/>
          <p:cNvPicPr preferRelativeResize="0"/>
          <p:nvPr/>
        </p:nvPicPr>
        <p:blipFill rotWithShape="1">
          <a:blip r:embed="rId5">
            <a:alphaModFix/>
          </a:blip>
          <a:srcRect l="30972" t="31321" b="20169"/>
          <a:stretch/>
        </p:blipFill>
        <p:spPr>
          <a:xfrm>
            <a:off x="16129371" y="17117652"/>
            <a:ext cx="12940500" cy="10324200"/>
          </a:xfrm>
          <a:prstGeom prst="rect">
            <a:avLst/>
          </a:prstGeom>
          <a:noFill/>
          <a:ln w="38100" cap="flat" cmpd="sng">
            <a:solidFill>
              <a:srgbClr val="666666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110" name="Shape 110" descr="WMATA route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36249" y="16860746"/>
            <a:ext cx="6156852" cy="5979675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11" name="Shape 111"/>
          <p:cNvSpPr txBox="1"/>
          <p:nvPr/>
        </p:nvSpPr>
        <p:spPr>
          <a:xfrm>
            <a:off x="18373355" y="16211479"/>
            <a:ext cx="16956478" cy="831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ct val="25000"/>
              <a:buFont typeface="Raleway"/>
              <a:buNone/>
            </a:pPr>
            <a:r>
              <a:rPr lang="en-US" sz="4000" dirty="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Economic Vulnerability Index by Census </a:t>
            </a:r>
            <a:r>
              <a:rPr lang="en-US" sz="4000">
                <a:solidFill>
                  <a:srgbClr val="141F22"/>
                </a:solidFill>
                <a:latin typeface="Raleway"/>
                <a:ea typeface="Raleway"/>
                <a:cs typeface="Raleway"/>
                <a:sym typeface="Raleway"/>
              </a:rPr>
              <a:t>Block Group</a:t>
            </a:r>
          </a:p>
        </p:txBody>
      </p:sp>
      <p:sp>
        <p:nvSpPr>
          <p:cNvPr id="112" name="Shape 112"/>
          <p:cNvSpPr txBox="1"/>
          <p:nvPr/>
        </p:nvSpPr>
        <p:spPr>
          <a:xfrm>
            <a:off x="1875001" y="23123962"/>
            <a:ext cx="6218100" cy="10611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3000" b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Transit System Map for WMATA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-US" sz="3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Red indicates Metrobus routes.</a:t>
            </a:r>
          </a:p>
        </p:txBody>
      </p:sp>
      <p:sp>
        <p:nvSpPr>
          <p:cNvPr id="113" name="Shape 113"/>
          <p:cNvSpPr txBox="1"/>
          <p:nvPr/>
        </p:nvSpPr>
        <p:spPr>
          <a:xfrm>
            <a:off x="8561448" y="16921646"/>
            <a:ext cx="7494268" cy="737499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3300" b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WMATA Jurisdictions for Bus:</a:t>
            </a:r>
          </a:p>
          <a:p>
            <a:pPr marL="457200" lvl="0" indent="-438150" rt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Char char="●"/>
            </a:pPr>
            <a:r>
              <a:rPr lang="en-US" sz="33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DC</a:t>
            </a:r>
          </a:p>
          <a:p>
            <a:pPr marL="457200" lvl="0" indent="-438150" rt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Char char="●"/>
            </a:pPr>
            <a:r>
              <a:rPr lang="en-US" sz="33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VA cities: Alexandria, Falls Church, Fairfax</a:t>
            </a:r>
          </a:p>
          <a:p>
            <a:pPr marL="457200" lvl="0" indent="-438150" rt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Char char="●"/>
            </a:pPr>
            <a:r>
              <a:rPr lang="en-US" sz="33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VA counties: Arlington, Fairfax, Loudoun</a:t>
            </a:r>
          </a:p>
          <a:p>
            <a:pPr marL="457200" lvl="0" indent="-438150" rt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Char char="●"/>
            </a:pPr>
            <a:r>
              <a:rPr lang="en-US" sz="33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MD counties: Montgomery, Prince George’s</a:t>
            </a:r>
            <a:endParaRPr sz="33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3300" b="1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Metrobus Information:</a:t>
            </a:r>
          </a:p>
          <a:p>
            <a:pPr marL="457200" lvl="0" indent="-438150" rt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Char char="●"/>
            </a:pPr>
            <a:r>
              <a:rPr lang="en-US" sz="33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11,129 bus stops</a:t>
            </a:r>
          </a:p>
          <a:p>
            <a:pPr marL="457200" lvl="0" indent="-438150" rt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Char char="●"/>
            </a:pPr>
            <a:r>
              <a:rPr lang="en-US" sz="33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269 routes on 170 lines</a:t>
            </a:r>
          </a:p>
          <a:p>
            <a:pPr marL="457200" lvl="0" indent="-438150" rt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Char char="●"/>
            </a:pPr>
            <a:r>
              <a:rPr lang="en-US" sz="33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8 types of buses</a:t>
            </a:r>
          </a:p>
          <a:p>
            <a:pPr marL="457200" lvl="0" indent="-438150" rt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Char char="●"/>
            </a:pPr>
            <a:endParaRPr lang="en-US" sz="33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9050" lvl="0">
              <a:buClr>
                <a:schemeClr val="dk1"/>
              </a:buClr>
              <a:buSzPct val="100000"/>
            </a:pPr>
            <a:r>
              <a:rPr lang="en-US" sz="33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Source: </a:t>
            </a:r>
            <a:r>
              <a:rPr lang="en-US" sz="33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  <a:hlinkClick r:id="rId7"/>
              </a:rPr>
              <a:t>https://www.wmata.com/</a:t>
            </a:r>
            <a:endParaRPr lang="en-US" sz="33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9050" lvl="0">
              <a:buClr>
                <a:schemeClr val="dk1"/>
              </a:buClr>
              <a:buSzPct val="100000"/>
            </a:pPr>
            <a:endParaRPr lang="en-US" sz="33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9050" lvl="0" rtl="0">
              <a:spcBef>
                <a:spcPts val="0"/>
              </a:spcBef>
              <a:buClr>
                <a:schemeClr val="dk1"/>
              </a:buClr>
              <a:buSzPct val="100000"/>
            </a:pPr>
            <a:endParaRPr lang="en-US" sz="3300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4544421" y="16915065"/>
            <a:ext cx="10605704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" algn="just">
              <a:buClr>
                <a:schemeClr val="dk2"/>
              </a:buClr>
              <a:buSzPct val="100000"/>
            </a:pPr>
            <a:r>
              <a:rPr lang="en-US" sz="3000" dirty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  <a:sym typeface="Trebuchet MS"/>
              </a:rPr>
              <a:t>To begin to tell the story of the fare evader, 2015 American Community Survey data were used to </a:t>
            </a:r>
            <a:r>
              <a:rPr lang="en-US" sz="3000" dirty="0">
                <a:solidFill>
                  <a:schemeClr val="tx1"/>
                </a:solidFill>
                <a:latin typeface="Trebuchet MS" charset="0"/>
                <a:ea typeface="Trebuchet MS" charset="0"/>
                <a:cs typeface="Trebuchet MS" charset="0"/>
              </a:rPr>
              <a:t>create an index of economic vulnerability at the Census Block Group level. The higher the index (orange) the larger the percentage of vulnerable households (HHs) within the Census Block Group.</a:t>
            </a:r>
            <a:endParaRPr lang="en-US" sz="3000" dirty="0">
              <a:solidFill>
                <a:schemeClr val="dk2"/>
              </a:solidFill>
              <a:latin typeface="Trebuchet MS" charset="0"/>
              <a:ea typeface="Trebuchet MS" charset="0"/>
              <a:cs typeface="Trebuchet MS" charset="0"/>
              <a:sym typeface="Trebuchet M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9435103" y="19494481"/>
            <a:ext cx="557878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" algn="just">
              <a:buClr>
                <a:schemeClr val="dk2"/>
              </a:buClr>
              <a:buSzPct val="100000"/>
            </a:pPr>
            <a:r>
              <a:rPr lang="en-US" sz="30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lang="en-US" sz="3000" b="1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economic vulnerability index</a:t>
            </a:r>
            <a:r>
              <a:rPr lang="en-US" sz="30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000" dirty="0" smtClean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(EVI) is </a:t>
            </a:r>
            <a:r>
              <a:rPr lang="en-US" sz="30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a composite indicator based on:</a:t>
            </a:r>
          </a:p>
          <a:p>
            <a:pPr marL="457200" indent="-438150">
              <a:buClr>
                <a:srgbClr val="000000"/>
              </a:buClr>
              <a:buSzPct val="100000"/>
              <a:buFont typeface="Trebuchet MS"/>
              <a:buChar char="●"/>
            </a:pPr>
            <a:r>
              <a:rPr lang="en-US" sz="30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%HHs &lt; federal poverty level</a:t>
            </a:r>
          </a:p>
          <a:p>
            <a:pPr marL="457200" indent="-438150">
              <a:buClr>
                <a:srgbClr val="000000"/>
              </a:buClr>
              <a:buSzPct val="100000"/>
              <a:buFont typeface="Trebuchet MS"/>
              <a:buChar char="●"/>
            </a:pPr>
            <a:r>
              <a:rPr lang="en-US" sz="30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%HHs with no vehicle</a:t>
            </a:r>
          </a:p>
          <a:p>
            <a:pPr marL="457200" indent="-438150">
              <a:buClr>
                <a:srgbClr val="000000"/>
              </a:buClr>
              <a:buSzPct val="100000"/>
              <a:buFont typeface="Trebuchet MS"/>
              <a:buChar char="●"/>
            </a:pPr>
            <a:r>
              <a:rPr lang="en-US" sz="30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%HHs receiving SNAP</a:t>
            </a:r>
          </a:p>
          <a:p>
            <a:pPr marL="457200" indent="-438150">
              <a:buClr>
                <a:srgbClr val="000000"/>
              </a:buClr>
              <a:buSzPct val="100000"/>
              <a:buFont typeface="Trebuchet MS"/>
              <a:buChar char="●"/>
            </a:pPr>
            <a:r>
              <a:rPr lang="en-US" sz="30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%HHs with a HH burden &gt; 50%.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486970" y="23337606"/>
            <a:ext cx="85968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" algn="just">
              <a:buClr>
                <a:schemeClr val="dk2"/>
              </a:buClr>
              <a:buSzPct val="100000"/>
            </a:pPr>
            <a:r>
              <a:rPr lang="en-US" sz="30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The index also provided us with a way to tie fare evasion to neighborhood incomes and evaluate the assertion in the literature that fare evasion correlates with income. </a:t>
            </a:r>
            <a:endParaRPr lang="en-US" sz="3000" dirty="0" smtClean="0">
              <a:solidFill>
                <a:schemeClr val="tx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8100" algn="just">
              <a:buClr>
                <a:schemeClr val="dk2"/>
              </a:buClr>
              <a:buSzPct val="100000"/>
            </a:pPr>
            <a:endParaRPr lang="en-US" sz="3000" dirty="0" smtClean="0">
              <a:solidFill>
                <a:schemeClr val="tx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8100" algn="just">
              <a:buClr>
                <a:schemeClr val="dk2"/>
              </a:buClr>
              <a:buSzPct val="100000"/>
            </a:pPr>
            <a:r>
              <a:rPr lang="en-US" sz="30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The index is on a scale from 1-5 with 1 being least vulnerable and 5 being most vulnerable</a:t>
            </a:r>
            <a:r>
              <a:rPr lang="en-US" sz="3000" dirty="0" smtClean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</a:p>
          <a:p>
            <a:pPr marL="38100" algn="just">
              <a:buClr>
                <a:schemeClr val="dk2"/>
              </a:buClr>
              <a:buSzPct val="100000"/>
            </a:pPr>
            <a:endParaRPr lang="en-US" sz="3000" dirty="0">
              <a:solidFill>
                <a:schemeClr val="tx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8100" algn="just">
              <a:buClr>
                <a:schemeClr val="dk2"/>
              </a:buClr>
              <a:buSzPct val="100000"/>
            </a:pPr>
            <a:r>
              <a:rPr lang="en-US" sz="3000" dirty="0" smtClean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The EVI was calculated for only those CBGs (1,640) containing WMATA bus stops.</a:t>
            </a:r>
            <a:endParaRPr lang="en-US" sz="3000" dirty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" name="Shape 117"/>
          <p:cNvSpPr txBox="1"/>
          <p:nvPr/>
        </p:nvSpPr>
        <p:spPr>
          <a:xfrm>
            <a:off x="1875000" y="37548960"/>
            <a:ext cx="33947193" cy="172434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438150" rt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Char char="●"/>
            </a:pPr>
            <a:r>
              <a:rPr lang="en-US" sz="33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</a:t>
            </a:r>
            <a:r>
              <a:rPr lang="en-US" sz="3300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urther </a:t>
            </a:r>
            <a:r>
              <a:rPr lang="en-US" sz="33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investigate overcrowding on the bus and the effect on fare evasion and the differences between APC and Farebox datasets by the routes, trips, buses, and bus stops.</a:t>
            </a:r>
          </a:p>
          <a:p>
            <a:pPr marL="457200" lvl="0" indent="-438150" rtl="0">
              <a:spcBef>
                <a:spcPts val="0"/>
              </a:spcBef>
              <a:buClr>
                <a:schemeClr val="dk1"/>
              </a:buClr>
              <a:buSzPct val="100000"/>
              <a:buFont typeface="Trebuchet MS"/>
              <a:buChar char="●"/>
            </a:pPr>
            <a:r>
              <a:rPr lang="en-US" sz="33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Once we determine the variability between APC and Farebox for fare </a:t>
            </a:r>
            <a:r>
              <a:rPr lang="en-US" sz="3300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evasion and relationship with EVI, </a:t>
            </a:r>
            <a:r>
              <a:rPr lang="en-US" sz="33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 will tie appropriate interventions from the literature review.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752237" y="35627442"/>
            <a:ext cx="714201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600" b="1" dirty="0">
                <a:latin typeface="Trebuchet MS" charset="0"/>
                <a:ea typeface="Trebuchet MS" charset="0"/>
                <a:cs typeface="Trebuchet MS" charset="0"/>
              </a:rPr>
              <a:t>Fare evasion key </a:t>
            </a:r>
            <a:r>
              <a:rPr lang="en-US" sz="2600" b="1" dirty="0" smtClean="0">
                <a:latin typeface="Trebuchet MS" charset="0"/>
                <a:ea typeface="Trebuchet MS" charset="0"/>
                <a:cs typeface="Trebuchet MS" charset="0"/>
              </a:rPr>
              <a:t>presses:</a:t>
            </a:r>
            <a:r>
              <a:rPr lang="en-US" sz="2600" dirty="0" smtClean="0">
                <a:latin typeface="Trebuchet MS" charset="0"/>
                <a:ea typeface="Trebuchet MS" charset="0"/>
                <a:cs typeface="Trebuchet MS" charset="0"/>
              </a:rPr>
              <a:t> The top </a:t>
            </a:r>
            <a:r>
              <a:rPr lang="en-US" sz="2600" dirty="0">
                <a:latin typeface="Trebuchet MS" charset="0"/>
                <a:ea typeface="Trebuchet MS" charset="0"/>
                <a:cs typeface="Trebuchet MS" charset="0"/>
              </a:rPr>
              <a:t>15 </a:t>
            </a:r>
            <a:r>
              <a:rPr lang="en-US" sz="2600" dirty="0" smtClean="0">
                <a:latin typeface="Trebuchet MS" charset="0"/>
                <a:ea typeface="Trebuchet MS" charset="0"/>
                <a:cs typeface="Trebuchet MS" charset="0"/>
              </a:rPr>
              <a:t>CBGs with the highest fare evasion counts are   </a:t>
            </a:r>
            <a:r>
              <a:rPr lang="en-US" sz="2600" dirty="0">
                <a:latin typeface="Trebuchet MS" charset="0"/>
                <a:ea typeface="Trebuchet MS" charset="0"/>
                <a:cs typeface="Trebuchet MS" charset="0"/>
              </a:rPr>
              <a:t>concentrated in Southeast D.C</a:t>
            </a:r>
            <a:r>
              <a:rPr lang="en-US" sz="2600" dirty="0" smtClean="0">
                <a:latin typeface="Trebuchet MS" charset="0"/>
                <a:ea typeface="Trebuchet MS" charset="0"/>
                <a:cs typeface="Trebuchet MS" charset="0"/>
              </a:rPr>
              <a:t>. White shaded CBGs contain no WMATA bus stops.</a:t>
            </a:r>
            <a:endParaRPr lang="en-US" sz="2600" b="1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080824" y="35627442"/>
            <a:ext cx="751115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600" b="1" dirty="0">
                <a:latin typeface="Trebuchet MS" charset="0"/>
                <a:ea typeface="Trebuchet MS" charset="0"/>
                <a:cs typeface="Trebuchet MS" charset="0"/>
              </a:rPr>
              <a:t>Back door </a:t>
            </a:r>
            <a:r>
              <a:rPr lang="en-US" sz="2600" b="1" dirty="0" smtClean="0">
                <a:latin typeface="Trebuchet MS" charset="0"/>
                <a:ea typeface="Trebuchet MS" charset="0"/>
                <a:cs typeface="Trebuchet MS" charset="0"/>
              </a:rPr>
              <a:t>entries:</a:t>
            </a:r>
            <a:r>
              <a:rPr lang="en-US" sz="2600" dirty="0" smtClean="0">
                <a:latin typeface="Trebuchet MS" charset="0"/>
                <a:ea typeface="Trebuchet MS" charset="0"/>
                <a:cs typeface="Trebuchet MS" charset="0"/>
              </a:rPr>
              <a:t> The top </a:t>
            </a:r>
            <a:r>
              <a:rPr lang="en-US" sz="2600" dirty="0">
                <a:latin typeface="Trebuchet MS" charset="0"/>
                <a:ea typeface="Trebuchet MS" charset="0"/>
                <a:cs typeface="Trebuchet MS" charset="0"/>
              </a:rPr>
              <a:t>15 </a:t>
            </a:r>
            <a:r>
              <a:rPr lang="en-US" sz="2600" dirty="0" smtClean="0">
                <a:latin typeface="Trebuchet MS" charset="0"/>
                <a:ea typeface="Trebuchet MS" charset="0"/>
                <a:cs typeface="Trebuchet MS" charset="0"/>
              </a:rPr>
              <a:t>CBGs </a:t>
            </a:r>
            <a:r>
              <a:rPr lang="en-US" sz="2600" dirty="0">
                <a:latin typeface="Trebuchet MS" charset="0"/>
                <a:ea typeface="Trebuchet MS" charset="0"/>
                <a:cs typeface="Trebuchet MS" charset="0"/>
              </a:rPr>
              <a:t>with </a:t>
            </a:r>
            <a:r>
              <a:rPr lang="en-US" sz="2600" dirty="0" smtClean="0">
                <a:latin typeface="Trebuchet MS" charset="0"/>
                <a:ea typeface="Trebuchet MS" charset="0"/>
                <a:cs typeface="Trebuchet MS" charset="0"/>
              </a:rPr>
              <a:t>the highest number of backdoor entries are concentrated in Central D.C. near GWU</a:t>
            </a:r>
            <a:r>
              <a:rPr lang="en-US" sz="2600" dirty="0">
                <a:latin typeface="Trebuchet MS" charset="0"/>
                <a:ea typeface="Trebuchet MS" charset="0"/>
                <a:cs typeface="Trebuchet MS" charset="0"/>
              </a:rPr>
              <a:t>. White </a:t>
            </a:r>
            <a:r>
              <a:rPr lang="en-US" sz="2600" dirty="0" smtClean="0">
                <a:latin typeface="Trebuchet MS" charset="0"/>
                <a:ea typeface="Trebuchet MS" charset="0"/>
                <a:cs typeface="Trebuchet MS" charset="0"/>
              </a:rPr>
              <a:t>shaded CBGs </a:t>
            </a:r>
            <a:r>
              <a:rPr lang="en-US" sz="2600" dirty="0">
                <a:latin typeface="Trebuchet MS" charset="0"/>
                <a:ea typeface="Trebuchet MS" charset="0"/>
                <a:cs typeface="Trebuchet MS" charset="0"/>
              </a:rPr>
              <a:t>contain no WMATA bus stops.</a:t>
            </a:r>
            <a:endParaRPr lang="en-US" sz="2600" b="1" dirty="0">
              <a:latin typeface="Trebuchet MS" charset="0"/>
              <a:ea typeface="Trebuchet MS" charset="0"/>
              <a:cs typeface="Trebuchet MS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32299" y="28423164"/>
            <a:ext cx="7359681" cy="720575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847858" y="28486715"/>
            <a:ext cx="7046396" cy="71407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854254" y="28486715"/>
            <a:ext cx="2157911" cy="192893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232299" y="28423164"/>
            <a:ext cx="3062374" cy="188559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3" name="TextBox 42"/>
          <p:cNvSpPr txBox="1"/>
          <p:nvPr/>
        </p:nvSpPr>
        <p:spPr>
          <a:xfrm>
            <a:off x="1875000" y="25360037"/>
            <a:ext cx="156313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rebuchet MS" charset="0"/>
                <a:ea typeface="Trebuchet MS" charset="0"/>
                <a:cs typeface="Trebuchet MS" charset="0"/>
              </a:rPr>
              <a:t>Two types of fare evasion considered:</a:t>
            </a:r>
          </a:p>
          <a:p>
            <a:pPr marL="457200" lvl="0" indent="-438150">
              <a:buClr>
                <a:srgbClr val="000000"/>
              </a:buClr>
              <a:buSzPct val="100000"/>
              <a:buFont typeface="Trebuchet MS"/>
              <a:buChar char="●"/>
            </a:pPr>
            <a:r>
              <a:rPr lang="en-US" sz="3200" b="1" dirty="0" smtClean="0">
                <a:latin typeface="Trebuchet MS" charset="0"/>
                <a:ea typeface="Trebuchet MS" charset="0"/>
                <a:cs typeface="Trebuchet MS" charset="0"/>
                <a:sym typeface="Trebuchet MS"/>
              </a:rPr>
              <a:t>APC back door entries </a:t>
            </a:r>
            <a:r>
              <a:rPr lang="en-US" sz="3200" dirty="0" smtClean="0">
                <a:latin typeface="Trebuchet MS" charset="0"/>
                <a:ea typeface="Trebuchet MS" charset="0"/>
                <a:cs typeface="Trebuchet MS" charset="0"/>
                <a:sym typeface="Trebuchet MS"/>
              </a:rPr>
              <a:t>(</a:t>
            </a:r>
            <a:r>
              <a:rPr lang="en-US" sz="3200" dirty="0" smtClean="0">
                <a:latin typeface="Trebuchet MS" charset="0"/>
                <a:ea typeface="Trebuchet MS" charset="0"/>
                <a:cs typeface="Trebuchet MS" charset="0"/>
              </a:rPr>
              <a:t>San </a:t>
            </a:r>
            <a:r>
              <a:rPr lang="en-US" sz="3200" dirty="0">
                <a:latin typeface="Trebuchet MS" charset="0"/>
                <a:ea typeface="Trebuchet MS" charset="0"/>
                <a:cs typeface="Trebuchet MS" charset="0"/>
              </a:rPr>
              <a:t>Francisco Transportation Agency </a:t>
            </a:r>
            <a:r>
              <a:rPr lang="en-US" sz="3200" dirty="0" smtClean="0">
                <a:latin typeface="Trebuchet MS" charset="0"/>
                <a:ea typeface="Trebuchet MS" charset="0"/>
                <a:cs typeface="Trebuchet MS" charset="0"/>
              </a:rPr>
              <a:t>found </a:t>
            </a:r>
            <a:r>
              <a:rPr lang="en-US" sz="3200" dirty="0" smtClean="0">
                <a:latin typeface="Trebuchet MS" charset="0"/>
                <a:ea typeface="Trebuchet MS" charset="0"/>
                <a:cs typeface="Trebuchet MS" charset="0"/>
                <a:sym typeface="Trebuchet MS"/>
              </a:rPr>
              <a:t>55% of passengers entering from the back door do not pay, </a:t>
            </a:r>
            <a:r>
              <a:rPr lang="en-US" sz="3200" dirty="0" smtClean="0">
                <a:latin typeface="Trebuchet MS" charset="0"/>
                <a:ea typeface="Trebuchet MS" charset="0"/>
                <a:cs typeface="Trebuchet MS" charset="0"/>
              </a:rPr>
              <a:t>Lee (2011)) </a:t>
            </a:r>
            <a:endParaRPr lang="en-US" sz="3200" dirty="0" smtClean="0">
              <a:latin typeface="Trebuchet MS" charset="0"/>
              <a:ea typeface="Trebuchet MS" charset="0"/>
              <a:cs typeface="Trebuchet MS" charset="0"/>
              <a:sym typeface="Trebuchet MS"/>
            </a:endParaRPr>
          </a:p>
          <a:p>
            <a:pPr marL="457200" lvl="0" indent="-438150">
              <a:buClr>
                <a:srgbClr val="000000"/>
              </a:buClr>
              <a:buSzPct val="100000"/>
              <a:buFont typeface="Trebuchet MS"/>
              <a:buChar char="●"/>
            </a:pPr>
            <a:r>
              <a:rPr lang="en-US" sz="3200" b="1" dirty="0" err="1" smtClean="0">
                <a:latin typeface="Trebuchet MS" charset="0"/>
                <a:ea typeface="Trebuchet MS" charset="0"/>
                <a:cs typeface="Trebuchet MS" charset="0"/>
                <a:sym typeface="Trebuchet MS"/>
              </a:rPr>
              <a:t>Farebox</a:t>
            </a:r>
            <a:r>
              <a:rPr lang="en-US" sz="3200" b="1" dirty="0" smtClean="0">
                <a:latin typeface="Trebuchet MS" charset="0"/>
                <a:ea typeface="Trebuchet MS" charset="0"/>
                <a:cs typeface="Trebuchet MS" charset="0"/>
                <a:sym typeface="Trebuchet MS"/>
              </a:rPr>
              <a:t> data key presses </a:t>
            </a:r>
            <a:r>
              <a:rPr lang="en-US" sz="3200" dirty="0" smtClean="0">
                <a:latin typeface="Trebuchet MS" charset="0"/>
                <a:ea typeface="Trebuchet MS" charset="0"/>
                <a:cs typeface="Trebuchet MS" charset="0"/>
                <a:sym typeface="Trebuchet MS"/>
              </a:rPr>
              <a:t>(bus driver record of fare evasion).</a:t>
            </a:r>
            <a:endParaRPr lang="en-US" sz="3200" dirty="0">
              <a:latin typeface="Trebuchet MS" charset="0"/>
              <a:ea typeface="Trebuchet MS" charset="0"/>
              <a:cs typeface="Trebuchet MS" charset="0"/>
              <a:sym typeface="Trebuchet MS"/>
            </a:endParaRPr>
          </a:p>
        </p:txBody>
      </p:sp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622906"/>
              </p:ext>
            </p:extLst>
          </p:nvPr>
        </p:nvGraphicFramePr>
        <p:xfrm>
          <a:off x="2043897" y="27720804"/>
          <a:ext cx="16668646" cy="5040122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099757"/>
                <a:gridCol w="4167729"/>
                <a:gridCol w="873879"/>
                <a:gridCol w="1656909"/>
                <a:gridCol w="2122715"/>
                <a:gridCol w="1502228"/>
                <a:gridCol w="1469572"/>
                <a:gridCol w="1338943"/>
                <a:gridCol w="1436914"/>
              </a:tblGrid>
              <a:tr h="699024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Top 2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CBG and Neighborhood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EVI 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Fare</a:t>
                      </a:r>
                    </a:p>
                    <a:p>
                      <a:pPr algn="ctr"/>
                      <a:r>
                        <a:rPr lang="en-US" sz="3000" dirty="0" smtClean="0"/>
                        <a:t>Evasion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Riders Entry/Exit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Routes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Trips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Stops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Buses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9024">
                <a:tc rowSpan="2"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Back Door Entry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110010107001</a:t>
                      </a:r>
                      <a:endParaRPr lang="en-US" sz="3000" dirty="0"/>
                    </a:p>
                    <a:p>
                      <a:pPr algn="ctr"/>
                      <a:r>
                        <a:rPr lang="en-US" sz="3000" dirty="0" smtClean="0"/>
                        <a:t>Ward 2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4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113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>
                          <a:latin typeface="Trebuchet MS" charset="0"/>
                          <a:ea typeface="Trebuchet MS" charset="0"/>
                          <a:cs typeface="Trebuchet MS" charset="0"/>
                        </a:rPr>
                        <a:t>11555/</a:t>
                      </a:r>
                    </a:p>
                    <a:p>
                      <a:pPr algn="ctr"/>
                      <a:r>
                        <a:rPr lang="en-US" sz="3000" dirty="0" smtClean="0">
                          <a:latin typeface="Trebuchet MS" charset="0"/>
                          <a:ea typeface="Trebuchet MS" charset="0"/>
                          <a:cs typeface="Trebuchet MS" charset="0"/>
                        </a:rPr>
                        <a:t>24222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>
                          <a:latin typeface="Trebuchet MS" charset="0"/>
                          <a:ea typeface="Trebuchet MS" charset="0"/>
                          <a:cs typeface="Trebuchet MS" charset="0"/>
                        </a:rPr>
                        <a:t>30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>
                          <a:latin typeface="Trebuchet MS" charset="0"/>
                          <a:ea typeface="Trebuchet MS" charset="0"/>
                          <a:cs typeface="Trebuchet MS" charset="0"/>
                        </a:rPr>
                        <a:t>968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>
                          <a:latin typeface="Trebuchet MS" charset="0"/>
                          <a:ea typeface="Trebuchet MS" charset="0"/>
                          <a:cs typeface="Trebuchet MS" charset="0"/>
                        </a:rPr>
                        <a:t>35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>
                          <a:latin typeface="Trebuchet MS" charset="0"/>
                          <a:ea typeface="Trebuchet MS" charset="0"/>
                          <a:cs typeface="Trebuchet MS" charset="0"/>
                        </a:rPr>
                        <a:t>511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99024">
                <a:tc vMerge="1">
                  <a:txBody>
                    <a:bodyPr/>
                    <a:lstStyle/>
                    <a:p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110010108002</a:t>
                      </a:r>
                      <a:endParaRPr lang="en-US" sz="3000" dirty="0"/>
                    </a:p>
                    <a:p>
                      <a:pPr algn="ctr"/>
                      <a:r>
                        <a:rPr lang="en-US" sz="3000" dirty="0" smtClean="0"/>
                        <a:t>Ward 2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5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88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>
                          <a:latin typeface="Trebuchet MS" charset="0"/>
                          <a:ea typeface="Trebuchet MS" charset="0"/>
                          <a:cs typeface="Trebuchet MS" charset="0"/>
                        </a:rPr>
                        <a:t>1733/</a:t>
                      </a:r>
                    </a:p>
                    <a:p>
                      <a:pPr algn="ctr"/>
                      <a:r>
                        <a:rPr lang="en-US" sz="3000" dirty="0" smtClean="0">
                          <a:latin typeface="Trebuchet MS" charset="0"/>
                          <a:ea typeface="Trebuchet MS" charset="0"/>
                          <a:cs typeface="Trebuchet MS" charset="0"/>
                        </a:rPr>
                        <a:t>6451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>
                          <a:latin typeface="Trebuchet MS" charset="0"/>
                          <a:ea typeface="Trebuchet MS" charset="0"/>
                          <a:cs typeface="Trebuchet MS" charset="0"/>
                        </a:rPr>
                        <a:t>9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>
                          <a:latin typeface="Trebuchet MS" charset="0"/>
                          <a:ea typeface="Trebuchet MS" charset="0"/>
                          <a:cs typeface="Trebuchet MS" charset="0"/>
                        </a:rPr>
                        <a:t>174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>
                          <a:latin typeface="Trebuchet MS" charset="0"/>
                          <a:ea typeface="Trebuchet MS" charset="0"/>
                          <a:cs typeface="Trebuchet MS" charset="0"/>
                        </a:rPr>
                        <a:t>12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>
                          <a:latin typeface="Trebuchet MS" charset="0"/>
                          <a:ea typeface="Trebuchet MS" charset="0"/>
                          <a:cs typeface="Trebuchet MS" charset="0"/>
                        </a:rPr>
                        <a:t>176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16762">
                <a:tc rowSpan="2"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Fare</a:t>
                      </a:r>
                      <a:r>
                        <a:rPr lang="en-US" sz="3000" baseline="0" dirty="0" smtClean="0"/>
                        <a:t> Evasion Key Presses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110010074011</a:t>
                      </a:r>
                      <a:endParaRPr lang="en-US" sz="3000" dirty="0"/>
                    </a:p>
                    <a:p>
                      <a:pPr algn="ctr"/>
                      <a:r>
                        <a:rPr lang="en-US" sz="3000" dirty="0" smtClean="0"/>
                        <a:t>Ward 8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5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1000</a:t>
                      </a:r>
                      <a:r>
                        <a:rPr lang="en-US" sz="3000" baseline="0" dirty="0" smtClean="0"/>
                        <a:t> 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>
                          <a:latin typeface="Trebuchet MS" charset="0"/>
                          <a:ea typeface="Trebuchet MS" charset="0"/>
                          <a:cs typeface="Trebuchet MS" charset="0"/>
                        </a:rPr>
                        <a:t>15649/</a:t>
                      </a:r>
                    </a:p>
                    <a:p>
                      <a:pPr algn="ctr"/>
                      <a:r>
                        <a:rPr lang="en-US" sz="3000" dirty="0" smtClean="0">
                          <a:latin typeface="Trebuchet MS" charset="0"/>
                          <a:ea typeface="Trebuchet MS" charset="0"/>
                          <a:cs typeface="Trebuchet MS" charset="0"/>
                        </a:rPr>
                        <a:t>17243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>
                          <a:latin typeface="Trebuchet MS" charset="0"/>
                          <a:ea typeface="Trebuchet MS" charset="0"/>
                          <a:cs typeface="Trebuchet MS" charset="0"/>
                        </a:rPr>
                        <a:t>20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>
                          <a:latin typeface="Trebuchet MS" charset="0"/>
                          <a:ea typeface="Trebuchet MS" charset="0"/>
                          <a:cs typeface="Trebuchet MS" charset="0"/>
                        </a:rPr>
                        <a:t>760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>
                          <a:latin typeface="Trebuchet MS" charset="0"/>
                          <a:ea typeface="Trebuchet MS" charset="0"/>
                          <a:cs typeface="Trebuchet MS" charset="0"/>
                        </a:rPr>
                        <a:t>23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>
                          <a:latin typeface="Trebuchet MS" charset="0"/>
                          <a:ea typeface="Trebuchet MS" charset="0"/>
                          <a:cs typeface="Trebuchet MS" charset="0"/>
                        </a:rPr>
                        <a:t>248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9024">
                <a:tc vMerge="1">
                  <a:txBody>
                    <a:bodyPr/>
                    <a:lstStyle/>
                    <a:p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110010078031</a:t>
                      </a:r>
                      <a:endParaRPr lang="en-US" sz="3000" dirty="0"/>
                    </a:p>
                    <a:p>
                      <a:pPr algn="ctr"/>
                      <a:r>
                        <a:rPr lang="en-US" sz="3000" dirty="0" smtClean="0"/>
                        <a:t>Ward 7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5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/>
                        <a:t>911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>
                          <a:latin typeface="Trebuchet MS" charset="0"/>
                          <a:ea typeface="Trebuchet MS" charset="0"/>
                          <a:cs typeface="Trebuchet MS" charset="0"/>
                        </a:rPr>
                        <a:t>10934/</a:t>
                      </a:r>
                    </a:p>
                    <a:p>
                      <a:pPr algn="ctr"/>
                      <a:r>
                        <a:rPr lang="en-US" sz="3000" dirty="0" smtClean="0">
                          <a:latin typeface="Trebuchet MS" charset="0"/>
                          <a:ea typeface="Trebuchet MS" charset="0"/>
                          <a:cs typeface="Trebuchet MS" charset="0"/>
                        </a:rPr>
                        <a:t>10047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>
                          <a:latin typeface="Trebuchet MS" charset="0"/>
                          <a:ea typeface="Trebuchet MS" charset="0"/>
                          <a:cs typeface="Trebuchet MS" charset="0"/>
                        </a:rPr>
                        <a:t>14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>
                          <a:latin typeface="Trebuchet MS" charset="0"/>
                          <a:ea typeface="Trebuchet MS" charset="0"/>
                          <a:cs typeface="Trebuchet MS" charset="0"/>
                        </a:rPr>
                        <a:t>532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>
                          <a:latin typeface="Trebuchet MS" charset="0"/>
                          <a:ea typeface="Trebuchet MS" charset="0"/>
                          <a:cs typeface="Trebuchet MS" charset="0"/>
                        </a:rPr>
                        <a:t>22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 smtClean="0">
                          <a:latin typeface="Trebuchet MS" charset="0"/>
                          <a:ea typeface="Trebuchet MS" charset="0"/>
                          <a:cs typeface="Trebuchet MS" charset="0"/>
                        </a:rPr>
                        <a:t>159</a:t>
                      </a:r>
                      <a:endParaRPr lang="en-US" sz="3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827176" y="32941197"/>
            <a:ext cx="16983338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38150">
              <a:buClr>
                <a:srgbClr val="000000"/>
              </a:buClr>
              <a:buSzPct val="100000"/>
              <a:buFont typeface="Trebuchet MS"/>
              <a:buChar char="●"/>
            </a:pPr>
            <a:r>
              <a:rPr lang="en-US" sz="3300" dirty="0" smtClean="0">
                <a:latin typeface="Trebuchet MS"/>
                <a:ea typeface="Trebuchet MS"/>
                <a:cs typeface="Trebuchet MS"/>
                <a:sym typeface="Trebuchet MS"/>
              </a:rPr>
              <a:t>Table </a:t>
            </a:r>
            <a:r>
              <a:rPr lang="en-US" sz="3300" dirty="0">
                <a:latin typeface="Trebuchet MS"/>
                <a:ea typeface="Trebuchet MS"/>
                <a:cs typeface="Trebuchet MS"/>
                <a:sym typeface="Trebuchet MS"/>
              </a:rPr>
              <a:t>summarizes the information across APC and </a:t>
            </a:r>
            <a:r>
              <a:rPr lang="en-US" sz="3300" dirty="0" err="1">
                <a:latin typeface="Trebuchet MS"/>
                <a:ea typeface="Trebuchet MS"/>
                <a:cs typeface="Trebuchet MS"/>
                <a:sym typeface="Trebuchet MS"/>
              </a:rPr>
              <a:t>Farebox</a:t>
            </a:r>
            <a:r>
              <a:rPr lang="en-US" sz="3300" dirty="0">
                <a:latin typeface="Trebuchet MS"/>
                <a:ea typeface="Trebuchet MS"/>
                <a:cs typeface="Trebuchet MS"/>
                <a:sym typeface="Trebuchet MS"/>
              </a:rPr>
              <a:t> data for the top 2 in back door entry and fare evasion key </a:t>
            </a:r>
            <a:r>
              <a:rPr lang="en-US" sz="3300" dirty="0" smtClean="0">
                <a:latin typeface="Trebuchet MS"/>
                <a:ea typeface="Trebuchet MS"/>
                <a:cs typeface="Trebuchet MS"/>
                <a:sym typeface="Trebuchet MS"/>
              </a:rPr>
              <a:t>presses aggregated by CBG for first week of May. </a:t>
            </a:r>
            <a:r>
              <a:rPr lang="en-US" sz="3300" dirty="0">
                <a:latin typeface="Trebuchet MS"/>
                <a:ea typeface="Trebuchet MS"/>
                <a:cs typeface="Trebuchet MS"/>
                <a:sym typeface="Trebuchet MS"/>
              </a:rPr>
              <a:t>Fare evasion is counts of back door entry or key presses for that CBG. The count of routes, trips, stops, and buses are averaged between APC and </a:t>
            </a:r>
            <a:r>
              <a:rPr lang="en-US" sz="3300" dirty="0" err="1">
                <a:latin typeface="Trebuchet MS"/>
                <a:ea typeface="Trebuchet MS"/>
                <a:cs typeface="Trebuchet MS"/>
                <a:sym typeface="Trebuchet MS"/>
              </a:rPr>
              <a:t>Farebox</a:t>
            </a:r>
            <a:r>
              <a:rPr lang="en-US" sz="3300" dirty="0">
                <a:latin typeface="Trebuchet MS"/>
                <a:ea typeface="Trebuchet MS"/>
                <a:cs typeface="Trebuchet MS"/>
                <a:sym typeface="Trebuchet MS"/>
              </a:rPr>
              <a:t> data since they are </a:t>
            </a:r>
            <a:r>
              <a:rPr lang="en-US" sz="3300" dirty="0" smtClean="0">
                <a:latin typeface="Trebuchet MS"/>
                <a:ea typeface="Trebuchet MS"/>
                <a:cs typeface="Trebuchet MS"/>
                <a:sym typeface="Trebuchet MS"/>
              </a:rPr>
              <a:t>mismatched.</a:t>
            </a:r>
          </a:p>
          <a:p>
            <a:pPr marL="457200" lvl="0" indent="-438150">
              <a:buClr>
                <a:srgbClr val="000000"/>
              </a:buClr>
              <a:buSzPct val="100000"/>
              <a:buFont typeface="Trebuchet MS"/>
              <a:buChar char="●"/>
            </a:pPr>
            <a:r>
              <a:rPr lang="en-US" sz="3300" dirty="0" smtClean="0"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-US" sz="3300" dirty="0">
                <a:latin typeface="Trebuchet MS"/>
                <a:ea typeface="Trebuchet MS"/>
                <a:cs typeface="Trebuchet MS"/>
                <a:sym typeface="Trebuchet MS"/>
              </a:rPr>
              <a:t>fare </a:t>
            </a:r>
            <a:r>
              <a:rPr lang="en-US" sz="3300" dirty="0" smtClean="0">
                <a:latin typeface="Trebuchet MS"/>
                <a:ea typeface="Trebuchet MS"/>
                <a:cs typeface="Trebuchet MS"/>
                <a:sym typeface="Trebuchet MS"/>
              </a:rPr>
              <a:t>evasion (out of 1,640 CBGs), </a:t>
            </a:r>
            <a:r>
              <a:rPr lang="en-US" sz="3300" dirty="0">
                <a:latin typeface="Trebuchet MS"/>
                <a:ea typeface="Trebuchet MS"/>
                <a:cs typeface="Trebuchet MS"/>
                <a:sym typeface="Trebuchet MS"/>
              </a:rPr>
              <a:t>32% of back door entries and 60% of key presses are greater than 0. Back door entries and key presses have a correlation of about 40%.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992629" y="3069771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2893" y="39582281"/>
            <a:ext cx="3621185" cy="15896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1078</Words>
  <Application>Microsoft Macintosh PowerPoint</Application>
  <PresentationFormat>Custom</PresentationFormat>
  <Paragraphs>128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Blanch Caps</vt:lpstr>
      <vt:lpstr>Calibri</vt:lpstr>
      <vt:lpstr>Raleway</vt:lpstr>
      <vt:lpstr>Trebuchet MS</vt:lpstr>
      <vt:lpstr>Office Theme</vt:lpstr>
      <vt:lpstr>PowerPoint Presentation</vt:lpstr>
    </vt:vector>
  </TitlesOfParts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eirik_000</dc:creator>
  <cp:lastModifiedBy>xandershanks@yahoo.com</cp:lastModifiedBy>
  <cp:revision>44</cp:revision>
  <dcterms:modified xsi:type="dcterms:W3CDTF">2017-07-24T13:23:45Z</dcterms:modified>
</cp:coreProperties>
</file>