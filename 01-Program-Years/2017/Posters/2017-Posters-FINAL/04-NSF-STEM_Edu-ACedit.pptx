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tiff" ContentType="image/tiff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576000" cy="42062400"/>
  <p:notesSz cx="6858000" cy="9144000"/>
  <p:defaultTextStyle>
    <a:defPPr>
      <a:defRPr lang="en-US"/>
    </a:defPPr>
    <a:lvl1pPr marL="0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1pPr>
    <a:lvl2pPr marL="1887322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2pPr>
    <a:lvl3pPr marL="3774643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3pPr>
    <a:lvl4pPr marL="5661965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4pPr>
    <a:lvl5pPr marL="7549286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5pPr>
    <a:lvl6pPr marL="9436608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6pPr>
    <a:lvl7pPr marL="11323930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7pPr>
    <a:lvl8pPr marL="13211251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8pPr>
    <a:lvl9pPr marL="15098573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48" userDrawn="1">
          <p15:clr>
            <a:srgbClr val="A4A3A4"/>
          </p15:clr>
        </p15:guide>
        <p15:guide id="2" pos="11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Microsoft Office User" initials="Office [7]" lastIdx="1" clrIdx="6">
    <p:extLst/>
  </p:cmAuthor>
  <p:cmAuthor id="1" name="Microsoft Office User" initials="Office" lastIdx="1" clrIdx="0">
    <p:extLst/>
  </p:cmAuthor>
  <p:cmAuthor id="8" name="Microsoft Office User" initials="Office [8]" lastIdx="1" clrIdx="7">
    <p:extLst/>
  </p:cmAuthor>
  <p:cmAuthor id="2" name="Microsoft Office User" initials="Office [2]" lastIdx="1" clrIdx="1">
    <p:extLst/>
  </p:cmAuthor>
  <p:cmAuthor id="9" name="Microsoft Office User" initials="Office [9]" lastIdx="1" clrIdx="8">
    <p:extLst/>
  </p:cmAuthor>
  <p:cmAuthor id="3" name="Microsoft Office User" initials="Office [3]" lastIdx="1" clrIdx="2">
    <p:extLst/>
  </p:cmAuthor>
  <p:cmAuthor id="10" name="Microsoft Office User" initials="Office [10]" lastIdx="1" clrIdx="9">
    <p:extLst/>
  </p:cmAuthor>
  <p:cmAuthor id="4" name="Microsoft Office User" initials="Office [4]" lastIdx="1" clrIdx="3">
    <p:extLst/>
  </p:cmAuthor>
  <p:cmAuthor id="11" name="Microsoft Office User" initials="Office [11]" lastIdx="1" clrIdx="10">
    <p:extLst/>
  </p:cmAuthor>
  <p:cmAuthor id="5" name="Microsoft Office User" initials="Office [5]" lastIdx="1" clrIdx="4">
    <p:extLst/>
  </p:cmAuthor>
  <p:cmAuthor id="12" name="Microsoft Office User" initials="Office [12]" lastIdx="1" clrIdx="11">
    <p:extLst/>
  </p:cmAuthor>
  <p:cmAuthor id="6" name="Microsoft Office User" initials="Office [6]" lastIdx="1" clrIdx="5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432"/>
    <p:restoredTop sz="96756"/>
  </p:normalViewPr>
  <p:slideViewPr>
    <p:cSldViewPr snapToGrid="0" snapToObjects="1">
      <p:cViewPr>
        <p:scale>
          <a:sx n="35" d="100"/>
          <a:sy n="35" d="100"/>
        </p:scale>
        <p:origin x="3112" y="328"/>
      </p:cViewPr>
      <p:guideLst>
        <p:guide orient="horz" pos="13248"/>
        <p:guide pos="11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6883826"/>
            <a:ext cx="31089600" cy="14643947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2092500"/>
            <a:ext cx="27432000" cy="10155340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10486402"/>
            <a:ext cx="31546800" cy="17496787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8148716"/>
            <a:ext cx="31546800" cy="9201147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11197167"/>
            <a:ext cx="15544800" cy="266882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11197167"/>
            <a:ext cx="15544800" cy="266882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239442"/>
            <a:ext cx="31546800" cy="8130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10311133"/>
            <a:ext cx="15473360" cy="5053327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5364460"/>
            <a:ext cx="15473360" cy="22598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10311133"/>
            <a:ext cx="15549564" cy="5053327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5364460"/>
            <a:ext cx="15549564" cy="22598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804160"/>
            <a:ext cx="11796712" cy="981456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6056216"/>
            <a:ext cx="18516600" cy="29891567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618720"/>
            <a:ext cx="11796712" cy="23377740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804160"/>
            <a:ext cx="11796712" cy="981456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6056216"/>
            <a:ext cx="18516600" cy="29891567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618720"/>
            <a:ext cx="11796712" cy="23377740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2239433"/>
            <a:ext cx="7886700" cy="3564594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2239433"/>
            <a:ext cx="23202900" cy="3564594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420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70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2239442"/>
            <a:ext cx="31546800" cy="813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11197167"/>
            <a:ext cx="31546800" cy="26688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38985623"/>
            <a:ext cx="82296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064C1-B353-8145-9E0D-8C1E1A5522AC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38985623"/>
            <a:ext cx="123444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8985623"/>
            <a:ext cx="82296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5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tiff"/><Relationship Id="rId14" Type="http://schemas.openxmlformats.org/officeDocument/2006/relationships/image" Target="../media/image14.jpg"/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emf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emf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4958"/>
          <a:stretch/>
        </p:blipFill>
        <p:spPr>
          <a:xfrm>
            <a:off x="573018" y="34497697"/>
            <a:ext cx="32092900" cy="185420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807" y="12709765"/>
            <a:ext cx="11150778" cy="6520923"/>
          </a:xfrm>
          <a:prstGeom prst="rect">
            <a:avLst/>
          </a:prstGeom>
        </p:spPr>
      </p:pic>
      <p:pic>
        <p:nvPicPr>
          <p:cNvPr id="1025" name="Picture 10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208" y="28698140"/>
            <a:ext cx="10393472" cy="56838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02" y="11440130"/>
            <a:ext cx="32092900" cy="1854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7660" y="1132297"/>
            <a:ext cx="2334941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0" i="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STEM Education PATHWAYS</a:t>
            </a:r>
            <a:endParaRPr lang="en-US" sz="20000" b="0" i="0" dirty="0">
              <a:solidFill>
                <a:srgbClr val="141F22"/>
              </a:solidFill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74826" y="6044188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Project Objective and Motivation</a:t>
            </a:r>
            <a:r>
              <a:rPr lang="en-US" sz="4800" b="1" i="0" baseline="3000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1</a:t>
            </a:r>
            <a:endParaRPr lang="en-US" sz="4800" b="1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6256" y="11495453"/>
            <a:ext cx="22815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Exploring Education and Workforce Data by STEM Degrees and Occupations</a:t>
            </a:r>
            <a:endParaRPr lang="en-US" sz="4800" b="1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35432" y="34541891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Next Steps</a:t>
            </a:r>
            <a:endParaRPr lang="en-US" sz="4800" b="1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03325" y="35672686"/>
            <a:ext cx="2151387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indent="-57150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Create pathway map to explore patterns within race/ethnicity</a:t>
            </a:r>
            <a:endParaRPr lang="en-US" sz="32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  <a:p>
            <a:pPr marL="571500" marR="0" indent="-57150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Explore additional longitudinal surveys (e.g., Early Childhood Longitudinal Study-Kindergarten, Baccalaureate and Beyond:2008) that may contain </a:t>
            </a:r>
            <a:r>
              <a:rPr lang="en-US" sz="32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more information for </a:t>
            </a:r>
            <a:r>
              <a:rPr lang="en-US" sz="32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pathway maps</a:t>
            </a:r>
          </a:p>
          <a:p>
            <a:pPr marL="571500" marR="0" indent="-57150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Web-scrape content to explore the connection between educational objectives and O*NET cognitive competencies</a:t>
            </a:r>
          </a:p>
          <a:p>
            <a:pPr marL="571500" marR="0" indent="-57150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Develop a quantitative definition of STEM occupation levels and extend the definition to academic awards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7660" y="4431318"/>
            <a:ext cx="208003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Madison </a:t>
            </a:r>
            <a:r>
              <a:rPr lang="en-US" sz="3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Arnsbarger</a:t>
            </a:r>
            <a:r>
              <a:rPr lang="en-US" sz="3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, </a:t>
            </a:r>
            <a:r>
              <a:rPr lang="en-US" sz="3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Chanida</a:t>
            </a:r>
            <a:r>
              <a:rPr lang="en-US" sz="3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</a:t>
            </a:r>
            <a:r>
              <a:rPr lang="en-US" sz="3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Lerdritsomboon</a:t>
            </a:r>
            <a:r>
              <a:rPr lang="en-US" sz="3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, Hannah Brinkley, Ben </a:t>
            </a:r>
            <a:r>
              <a:rPr lang="en-US" sz="3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Swartz </a:t>
            </a: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with </a:t>
            </a:r>
            <a:r>
              <a:rPr lang="en-US" sz="3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Bianica</a:t>
            </a: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Pires</a:t>
            </a: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and Stephanie Shipp (</a:t>
            </a: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SDAL) Sponsor</a:t>
            </a: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: Pat </a:t>
            </a:r>
            <a:r>
              <a:rPr lang="en-US" sz="3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Ruggles</a:t>
            </a: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, The 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National Center for Science </a:t>
            </a:r>
            <a:r>
              <a:rPr lang="en-US" sz="3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&amp; 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Engineering Statistics at NSF</a:t>
            </a: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727833" y="34369408"/>
            <a:ext cx="5092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rebuchet MS" panose="020B0603020202020204" pitchFamily="34" charset="0"/>
              </a:rPr>
              <a:t>Data Source: Integrated Public Use Microdata Series (IPUMS)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354" y="12676186"/>
            <a:ext cx="9270865" cy="703426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2396022" y="26305596"/>
            <a:ext cx="2072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rebuchet MS" panose="020B0603020202020204" pitchFamily="34" charset="0"/>
              </a:rPr>
              <a:t>Data Source: coursera.com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396023" y="19192341"/>
            <a:ext cx="1962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rebuchet MS" panose="020B0603020202020204" pitchFamily="34" charset="0"/>
              </a:rPr>
              <a:t>Data Source: indeed.com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029" name="TextBox 1028"/>
          <p:cNvSpPr txBox="1"/>
          <p:nvPr/>
        </p:nvSpPr>
        <p:spPr>
          <a:xfrm>
            <a:off x="8887301" y="27779863"/>
            <a:ext cx="1065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rebuchet MS" panose="020B0603020202020204" pitchFamily="34" charset="0"/>
              </a:rPr>
              <a:t>STEM Occupation Category of Women by Education Level</a:t>
            </a:r>
            <a:endParaRPr lang="en-US" sz="3200" dirty="0">
              <a:latin typeface="Trebuchet MS" panose="020B0603020202020204" pitchFamily="34" charset="0"/>
            </a:endParaRPr>
          </a:p>
        </p:txBody>
      </p:sp>
      <p:pic>
        <p:nvPicPr>
          <p:cNvPr id="1034" name="Picture 103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1063" y="20147452"/>
            <a:ext cx="9019436" cy="5719415"/>
          </a:xfrm>
          <a:prstGeom prst="rect">
            <a:avLst/>
          </a:prstGeom>
          <a:ln w="31750"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314665" y="19732204"/>
            <a:ext cx="11167354" cy="1345241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50" y="28219325"/>
            <a:ext cx="8333453" cy="1003864"/>
          </a:xfrm>
          <a:prstGeom prst="rect">
            <a:avLst/>
          </a:prstGeom>
        </p:spPr>
      </p:pic>
      <p:pic>
        <p:nvPicPr>
          <p:cNvPr id="1036" name="Picture 10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48629" y="27124280"/>
            <a:ext cx="6994800" cy="7039915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4248" y="26205229"/>
            <a:ext cx="10729753" cy="1208359"/>
          </a:xfrm>
          <a:prstGeom prst="rect">
            <a:avLst/>
          </a:prstGeom>
        </p:spPr>
      </p:pic>
      <p:sp>
        <p:nvSpPr>
          <p:cNvPr id="1038" name="TextBox 1037"/>
          <p:cNvSpPr txBox="1"/>
          <p:nvPr/>
        </p:nvSpPr>
        <p:spPr>
          <a:xfrm>
            <a:off x="19629434" y="26838716"/>
            <a:ext cx="5188636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Employers expect workers to have certain knowledge, skills, and abilities (KSAs)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Employees earn credentials that are a proxy for KSAs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Cognitive competencies like abilities are clustered lists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Certifications are branched pathways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9885565" y="26110583"/>
            <a:ext cx="10198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Trebuchet MS" panose="020B0603020202020204" pitchFamily="34" charset="0"/>
              </a:rPr>
              <a:t>Mind Map of Environmental Engineer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9578908" y="12649857"/>
            <a:ext cx="9809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Trebuchet MS" panose="020B0603020202020204" pitchFamily="34" charset="0"/>
              </a:rPr>
              <a:t>Skills Assessment </a:t>
            </a:r>
          </a:p>
          <a:p>
            <a:r>
              <a:rPr lang="en-US" sz="3600" dirty="0" smtClean="0">
                <a:latin typeface="Trebuchet MS" panose="020B0603020202020204" pitchFamily="34" charset="0"/>
              </a:rPr>
              <a:t>of Software Developers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9316257" y="14030737"/>
            <a:ext cx="658820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Employee skills sought by employers can be compared to skills taught in STEM classes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Programming languages taught in online computer science courses may not align with programming languages in demand by employers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43861" y="12855382"/>
            <a:ext cx="7704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Trebuchet MS" panose="020B0603020202020204" pitchFamily="34" charset="0"/>
              </a:rPr>
              <a:t>Trends in STEM Degrees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298512" y="27518192"/>
            <a:ext cx="7947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Trebuchet MS" panose="020B0603020202020204" pitchFamily="34" charset="0"/>
              </a:rPr>
              <a:t>Educational Pathways of Women to STEM Occupation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461997" y="19686638"/>
            <a:ext cx="10448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Trebuchet MS" panose="020B0603020202020204" pitchFamily="34" charset="0"/>
              </a:rPr>
              <a:t>Company Ratings by Employees on Work Values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32532" y="13635880"/>
            <a:ext cx="68518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rebuchet MS" panose="020B0603020202020204" pitchFamily="34" charset="0"/>
              </a:rPr>
              <a:t>A</a:t>
            </a:r>
            <a:r>
              <a:rPr lang="en-US" sz="3600" dirty="0" smtClean="0">
                <a:latin typeface="Trebuchet MS" panose="020B0603020202020204" pitchFamily="34" charset="0"/>
              </a:rPr>
              <a:t>n increasing number of STEM degrees were awarded from 2010 – 2015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The increase was more pronounced in the black and Hispanic/</a:t>
            </a:r>
            <a:r>
              <a:rPr lang="en-US" sz="3600" dirty="0">
                <a:latin typeface="Trebuchet MS" panose="020B0603020202020204" pitchFamily="34" charset="0"/>
              </a:rPr>
              <a:t>L</a:t>
            </a:r>
            <a:r>
              <a:rPr lang="en-US" sz="3600" dirty="0" smtClean="0">
                <a:latin typeface="Trebuchet MS" panose="020B0603020202020204" pitchFamily="34" charset="0"/>
              </a:rPr>
              <a:t>atino populations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The proportion of the Nonresident </a:t>
            </a:r>
            <a:r>
              <a:rPr lang="en-US" sz="3600" dirty="0">
                <a:latin typeface="Trebuchet MS" panose="020B0603020202020204" pitchFamily="34" charset="0"/>
              </a:rPr>
              <a:t>Alien population </a:t>
            </a:r>
            <a:r>
              <a:rPr lang="en-US" sz="3600" dirty="0" smtClean="0">
                <a:latin typeface="Trebuchet MS" panose="020B0603020202020204" pitchFamily="34" charset="0"/>
              </a:rPr>
              <a:t>earning sub-baccalaureate degrees is small (not shown)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79280" y="28895865"/>
            <a:ext cx="814825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rebuchet MS" panose="020B0603020202020204" pitchFamily="34" charset="0"/>
              </a:rPr>
              <a:t>Majority of </a:t>
            </a:r>
            <a:r>
              <a:rPr lang="en-US" sz="3600" dirty="0" smtClean="0">
                <a:latin typeface="Trebuchet MS" panose="020B0603020202020204" pitchFamily="34" charset="0"/>
              </a:rPr>
              <a:t>female STEM employees have less </a:t>
            </a:r>
            <a:r>
              <a:rPr lang="en-US" sz="3600" dirty="0">
                <a:latin typeface="Trebuchet MS" panose="020B0603020202020204" pitchFamily="34" charset="0"/>
              </a:rPr>
              <a:t>than a bachelor’s </a:t>
            </a:r>
            <a:r>
              <a:rPr lang="en-US" sz="3600" dirty="0" smtClean="0">
                <a:latin typeface="Trebuchet MS" panose="020B0603020202020204" pitchFamily="34" charset="0"/>
              </a:rPr>
              <a:t>degree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“Other STEM” contains jobs classified by Bureau of Labor Statistics as STEM but that do not have a high STEM knowledge score from Occupational Information Network (O*NET)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Calculation of High-STEM and Super-STEM from Rothwell (2013)</a:t>
            </a:r>
            <a:r>
              <a:rPr lang="en-US" sz="3600" baseline="30000" dirty="0" smtClean="0">
                <a:latin typeface="Trebuchet MS" panose="020B0603020202020204" pitchFamily="34" charset="0"/>
              </a:rPr>
              <a:t>1</a:t>
            </a:r>
            <a:endParaRPr lang="en-US" sz="36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350400" y="25276629"/>
            <a:ext cx="45719" cy="1235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31136833" y="37120427"/>
            <a:ext cx="5092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rebuchet MS" panose="020B0603020202020204" pitchFamily="34" charset="0"/>
              </a:rPr>
              <a:t>Data Source: O*NET Online U.S. Department of Labor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622332" y="11576728"/>
            <a:ext cx="637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rebuchet MS" panose="020B0603020202020204" pitchFamily="34" charset="0"/>
              </a:rPr>
              <a:t>Source: U.S. Census Bureau,</a:t>
            </a:r>
            <a:r>
              <a:rPr lang="en-US" sz="1200" dirty="0"/>
              <a:t> https://www.census.gov/dataviz/visualizations/stem/stem-html</a:t>
            </a:r>
            <a:r>
              <a:rPr lang="en-US" sz="1200" dirty="0" smtClean="0"/>
              <a:t>/</a:t>
            </a:r>
            <a:r>
              <a:rPr lang="en-US" sz="1200" dirty="0"/>
              <a:t/>
            </a:r>
            <a:br>
              <a:rPr lang="en-US" sz="1200" dirty="0"/>
            </a:br>
            <a:endParaRPr lang="en-US" sz="1200" dirty="0">
              <a:latin typeface="Trebuchet MS" panose="020B0603020202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354" y="19497772"/>
            <a:ext cx="9270865" cy="731274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47616" y="27053738"/>
            <a:ext cx="3723416" cy="1006668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758951" y="7398910"/>
            <a:ext cx="221905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rebuchet MS" panose="020B0603020202020204" pitchFamily="34" charset="0"/>
              </a:rPr>
              <a:t>Data on traditional STEM </a:t>
            </a:r>
            <a:r>
              <a:rPr lang="en-US" sz="3600" dirty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(Science, Technology, Engineering, and Mathematics</a:t>
            </a:r>
            <a:r>
              <a:rPr lang="en-US" sz="36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) </a:t>
            </a:r>
            <a:r>
              <a:rPr lang="en-US" sz="3600" dirty="0" smtClean="0">
                <a:latin typeface="Trebuchet MS" panose="020B0603020202020204" pitchFamily="34" charset="0"/>
              </a:rPr>
              <a:t>pathways are </a:t>
            </a:r>
            <a:r>
              <a:rPr lang="en-US" sz="3600" dirty="0">
                <a:latin typeface="Trebuchet MS" panose="020B0603020202020204" pitchFamily="34" charset="0"/>
              </a:rPr>
              <a:t>well-documented and explored. The Census Bureau, for example, provides an interactive pathway map of bachelor's degrees to occupation on its website. However, half of STEM occupations do not require a bachelor’s </a:t>
            </a:r>
            <a:r>
              <a:rPr lang="en-US" sz="3600" dirty="0" smtClean="0">
                <a:latin typeface="Trebuchet MS" panose="020B0603020202020204" pitchFamily="34" charset="0"/>
              </a:rPr>
              <a:t>degree. </a:t>
            </a:r>
            <a:r>
              <a:rPr lang="en-US" sz="3600" dirty="0">
                <a:latin typeface="Trebuchet MS" panose="020B0603020202020204" pitchFamily="34" charset="0"/>
              </a:rPr>
              <a:t>Additionally, women and minorities shift to non-STEM fields more on </a:t>
            </a:r>
            <a:r>
              <a:rPr lang="en-US" sz="3600" dirty="0" smtClean="0">
                <a:latin typeface="Trebuchet MS" panose="020B0603020202020204" pitchFamily="34" charset="0"/>
              </a:rPr>
              <a:t>average. </a:t>
            </a:r>
            <a:r>
              <a:rPr lang="en-US" sz="3600" dirty="0">
                <a:latin typeface="Trebuchet MS" panose="020B0603020202020204" pitchFamily="34" charset="0"/>
              </a:rPr>
              <a:t>We aim to understand STEM pathways, particularly non-traditional pathways with a focus on women and minorities as they enter and leave the STEM field, as well as employer expectations of the STEM workforce.</a:t>
            </a:r>
          </a:p>
        </p:txBody>
      </p:sp>
      <p:pic>
        <p:nvPicPr>
          <p:cNvPr id="1026" name="Picture 2" descr="Screen Shot 2017-07-11 at 11.21.35 AM.png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" t="4420" r="2448" b="2182"/>
          <a:stretch/>
        </p:blipFill>
        <p:spPr bwMode="auto">
          <a:xfrm>
            <a:off x="27173816" y="6146227"/>
            <a:ext cx="6678522" cy="5358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5408" y="20544408"/>
            <a:ext cx="8870684" cy="665301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41890" y="26929577"/>
            <a:ext cx="5092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rebuchet MS" panose="020B0603020202020204" pitchFamily="34" charset="0"/>
              </a:rPr>
              <a:t>Data Source: indeed.com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35" name="AutoShape 12" descr="http://lightfoot.vbi.vt.edu:8788/files/git/stem_edu/output/coReviews_dentalHygienist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9237278" y="20668750"/>
            <a:ext cx="575278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Work values and work interests are individual preferences that enhance retention and persistence in an occupation</a:t>
            </a:r>
            <a:r>
              <a:rPr lang="en-US" sz="3600" baseline="30000" dirty="0" smtClean="0">
                <a:latin typeface="Trebuchet MS" panose="020B0603020202020204" pitchFamily="34" charset="0"/>
              </a:rPr>
              <a:t>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rebuchet MS" panose="020B0603020202020204" pitchFamily="34" charset="0"/>
              </a:rPr>
              <a:t>Employees at dentists’ offices rate their employers lowest on Job Security and Advancement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976385" y="37480277"/>
            <a:ext cx="7291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Sources</a:t>
            </a:r>
          </a:p>
          <a:p>
            <a:pPr marL="514350" marR="0" indent="-51435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24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Rothwell (2013) “The Hidden STEM Economy”</a:t>
            </a:r>
          </a:p>
          <a:p>
            <a:pPr marL="514350" marR="0" indent="-51435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2400" dirty="0" err="1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Carnevale</a:t>
            </a:r>
            <a:r>
              <a:rPr lang="en-US" sz="240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 (2011) “STEM”</a:t>
            </a:r>
            <a:endParaRPr lang="en-US" sz="24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62" y="13485119"/>
            <a:ext cx="7618267" cy="917711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59" y="13071836"/>
            <a:ext cx="7890657" cy="950524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6882183" y="28324476"/>
            <a:ext cx="2577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 smtClean="0">
                <a:latin typeface="Trebuchet MS" panose="020B0603020202020204" pitchFamily="34" charset="0"/>
              </a:rPr>
              <a:t>Occupation Type</a:t>
            </a:r>
            <a:endParaRPr lang="en-US" sz="2400" u="sng" dirty="0">
              <a:latin typeface="Trebuchet MS" panose="020B060302020202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963509" y="28316847"/>
            <a:ext cx="5417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 smtClean="0">
                <a:latin typeface="Trebuchet MS" panose="020B0603020202020204" pitchFamily="34" charset="0"/>
              </a:rPr>
              <a:t>Highest Degree Held</a:t>
            </a:r>
            <a:endParaRPr lang="en-US" sz="2400" u="sng" dirty="0">
              <a:latin typeface="Trebuchet MS" panose="020B0603020202020204" pitchFamily="34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978828" y="19054864"/>
            <a:ext cx="5092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rebuchet MS" panose="020B0603020202020204" pitchFamily="34" charset="0"/>
              </a:rPr>
              <a:t>Data Source: Integrated Postsecondary Educational Data System (IPEDS)</a:t>
            </a:r>
          </a:p>
          <a:p>
            <a:r>
              <a:rPr lang="en-US" sz="1200" dirty="0" smtClean="0">
                <a:latin typeface="Trebuchet MS" panose="020B0603020202020204" pitchFamily="34" charset="0"/>
              </a:rPr>
              <a:t>Note: Two or More Races and Unknown Race/Ethnicity were removed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48916" y="6105507"/>
            <a:ext cx="24677255" cy="1854879"/>
            <a:chOff x="548916" y="6065433"/>
            <a:chExt cx="24677255" cy="1854879"/>
          </a:xfrm>
        </p:grpSpPr>
        <p:pic>
          <p:nvPicPr>
            <p:cNvPr id="64" name="Picture 63"/>
            <p:cNvPicPr preferRelativeResize="0"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617"/>
            <a:stretch/>
          </p:blipFill>
          <p:spPr>
            <a:xfrm>
              <a:off x="548916" y="6066112"/>
              <a:ext cx="23871583" cy="1854200"/>
            </a:xfrm>
            <a:prstGeom prst="rect">
              <a:avLst/>
            </a:prstGeom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308"/>
            <a:stretch/>
          </p:blipFill>
          <p:spPr>
            <a:xfrm>
              <a:off x="24362112" y="6065433"/>
              <a:ext cx="864059" cy="1854200"/>
            </a:xfrm>
            <a:prstGeom prst="rect">
              <a:avLst/>
            </a:prstGeom>
          </p:spPr>
        </p:pic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85564" y="39430785"/>
            <a:ext cx="1852069" cy="1863226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8531" y="39582281"/>
            <a:ext cx="3621185" cy="158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1079</TotalTime>
  <Words>530</Words>
  <Application>Microsoft Macintosh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Blanch Caps</vt:lpstr>
      <vt:lpstr>Calibri</vt:lpstr>
      <vt:lpstr>Calibri Light</vt:lpstr>
      <vt:lpstr>Trebuchet MS</vt:lpstr>
      <vt:lpstr>Arial</vt:lpstr>
      <vt:lpstr>Raleway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xandershanks@yahoo.com</dc:creator>
  <cp:lastModifiedBy>xandershanks@yahoo.com</cp:lastModifiedBy>
  <cp:revision>77</cp:revision>
  <cp:lastPrinted>2017-07-20T14:51:53Z</cp:lastPrinted>
  <dcterms:created xsi:type="dcterms:W3CDTF">2017-07-12T21:21:51Z</dcterms:created>
  <dcterms:modified xsi:type="dcterms:W3CDTF">2017-07-21T14:27:14Z</dcterms:modified>
</cp:coreProperties>
</file>