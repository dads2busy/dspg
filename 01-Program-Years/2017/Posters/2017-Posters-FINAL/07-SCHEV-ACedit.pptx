
<file path=[Content_Types].xml><?xml version="1.0" encoding="utf-8"?>
<Types xmlns="http://schemas.openxmlformats.org/package/2006/content-types">
  <Default Extension="xml" ContentType="application/xml"/>
  <Default Extension="png" ContentType="image/png"/>
  <Default Extension="jpg" ContentType="image/jpeg"/>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
  </p:notesMasterIdLst>
  <p:sldIdLst>
    <p:sldId id="256" r:id="rId2"/>
  </p:sldIdLst>
  <p:sldSz cx="36576000" cy="42062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248">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F3CA88C-3313-456D-9B1B-8100429236B9}">
  <a:tblStyle styleId="{2F3CA88C-3313-456D-9B1B-8100429236B9}"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103"/>
    <p:restoredTop sz="94647"/>
  </p:normalViewPr>
  <p:slideViewPr>
    <p:cSldViewPr snapToGrid="0" snapToObjects="1">
      <p:cViewPr>
        <p:scale>
          <a:sx n="45" d="100"/>
          <a:sy n="45" d="100"/>
        </p:scale>
        <p:origin x="2032" y="-2584"/>
      </p:cViewPr>
      <p:guideLst>
        <p:guide orient="horz" pos="13248"/>
        <p:guide pos="115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696599008"/>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Shape 8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4" name="Shape 84"/>
          <p:cNvSpPr>
            <a:spLocks noGrp="1" noRot="1" noChangeAspect="1"/>
          </p:cNvSpPr>
          <p:nvPr>
            <p:ph type="sldImg" idx="2"/>
          </p:nvPr>
        </p:nvSpPr>
        <p:spPr>
          <a:xfrm>
            <a:off x="1938338" y="685800"/>
            <a:ext cx="29813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1662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Title Slide">
    <p:spTree>
      <p:nvGrpSpPr>
        <p:cNvPr id="1" name="Shape 11"/>
        <p:cNvGrpSpPr/>
        <p:nvPr/>
      </p:nvGrpSpPr>
      <p:grpSpPr>
        <a:xfrm>
          <a:off x="0" y="0"/>
          <a:ext cx="0" cy="0"/>
          <a:chOff x="0" y="0"/>
          <a:chExt cx="0" cy="0"/>
        </a:xfrm>
      </p:grpSpPr>
      <p:pic>
        <p:nvPicPr>
          <p:cNvPr id="12" name="Shape 12"/>
          <p:cNvPicPr preferRelativeResize="0"/>
          <p:nvPr/>
        </p:nvPicPr>
        <p:blipFill rotWithShape="1">
          <a:blip r:embed="rId2">
            <a:alphaModFix/>
          </a:blip>
          <a:srcRect/>
          <a:stretch/>
        </p:blipFill>
        <p:spPr>
          <a:xfrm>
            <a:off x="0" y="0"/>
            <a:ext cx="36576001" cy="4206239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3"/>
        <p:cNvGrpSpPr/>
        <p:nvPr/>
      </p:nvGrpSpPr>
      <p:grpSpPr>
        <a:xfrm>
          <a:off x="0" y="0"/>
          <a:ext cx="0" cy="0"/>
          <a:chOff x="0" y="0"/>
          <a:chExt cx="0" cy="0"/>
        </a:xfrm>
      </p:grpSpPr>
      <p:sp>
        <p:nvSpPr>
          <p:cNvPr id="14" name="Shape 14"/>
          <p:cNvSpPr txBox="1">
            <a:spLocks noGrp="1"/>
          </p:cNvSpPr>
          <p:nvPr>
            <p:ph type="ctrTitle"/>
          </p:nvPr>
        </p:nvSpPr>
        <p:spPr>
          <a:xfrm>
            <a:off x="2743200" y="6883825"/>
            <a:ext cx="31089600" cy="14643947"/>
          </a:xfrm>
          <a:prstGeom prst="rect">
            <a:avLst/>
          </a:prstGeom>
          <a:noFill/>
          <a:ln>
            <a:noFill/>
          </a:ln>
        </p:spPr>
        <p:txBody>
          <a:bodyPr lIns="91425" tIns="91425" rIns="91425" bIns="91425" anchor="b" anchorCtr="0"/>
          <a:lstStyle>
            <a:lvl1pPr marL="0" marR="0" lvl="0" indent="0" algn="ctr" rtl="0">
              <a:lnSpc>
                <a:spcPct val="90000"/>
              </a:lnSpc>
              <a:spcBef>
                <a:spcPts val="0"/>
              </a:spcBef>
              <a:buClr>
                <a:schemeClr val="dk1"/>
              </a:buClr>
              <a:buFont typeface="Calibri"/>
              <a:buNone/>
              <a:defRPr sz="24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5" name="Shape 15"/>
          <p:cNvSpPr txBox="1">
            <a:spLocks noGrp="1"/>
          </p:cNvSpPr>
          <p:nvPr>
            <p:ph type="subTitle" idx="1"/>
          </p:nvPr>
        </p:nvSpPr>
        <p:spPr>
          <a:xfrm>
            <a:off x="4572000" y="22092500"/>
            <a:ext cx="27432000" cy="10155339"/>
          </a:xfrm>
          <a:prstGeom prst="rect">
            <a:avLst/>
          </a:prstGeom>
          <a:noFill/>
          <a:ln>
            <a:noFill/>
          </a:ln>
        </p:spPr>
        <p:txBody>
          <a:bodyPr lIns="91425" tIns="91425" rIns="91425" bIns="91425" anchor="t" anchorCtr="0"/>
          <a:lstStyle>
            <a:lvl1pPr marL="0" marR="0" lvl="0" indent="0" algn="ctr" rtl="0">
              <a:lnSpc>
                <a:spcPct val="90000"/>
              </a:lnSpc>
              <a:spcBef>
                <a:spcPts val="4000"/>
              </a:spcBef>
              <a:buClr>
                <a:schemeClr val="dk1"/>
              </a:buClr>
              <a:buFont typeface="Arial"/>
              <a:buNone/>
              <a:defRPr sz="9600" b="0" i="0" u="none" strike="noStrike" cap="none">
                <a:solidFill>
                  <a:schemeClr val="dk1"/>
                </a:solidFill>
                <a:latin typeface="Calibri"/>
                <a:ea typeface="Calibri"/>
                <a:cs typeface="Calibri"/>
                <a:sym typeface="Calibri"/>
              </a:defRPr>
            </a:lvl1pPr>
            <a:lvl2pPr marL="1828800" marR="0" lvl="1" indent="0" algn="ctr"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2pPr>
            <a:lvl3pPr marL="3657600" marR="0" lvl="2" indent="0" algn="ctr" rtl="0">
              <a:lnSpc>
                <a:spcPct val="90000"/>
              </a:lnSpc>
              <a:spcBef>
                <a:spcPts val="2000"/>
              </a:spcBef>
              <a:buClr>
                <a:schemeClr val="dk1"/>
              </a:buClr>
              <a:buFont typeface="Arial"/>
              <a:buNone/>
              <a:defRPr sz="7200" b="0" i="0" u="none" strike="noStrike" cap="none">
                <a:solidFill>
                  <a:schemeClr val="dk1"/>
                </a:solidFill>
                <a:latin typeface="Calibri"/>
                <a:ea typeface="Calibri"/>
                <a:cs typeface="Calibri"/>
                <a:sym typeface="Calibri"/>
              </a:defRPr>
            </a:lvl3pPr>
            <a:lvl4pPr marL="5486400" marR="0" lvl="3"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4pPr>
            <a:lvl5pPr marL="7315200" marR="0" lvl="4"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5pPr>
            <a:lvl6pPr marL="9144000" marR="0" lvl="5"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6pPr>
            <a:lvl7pPr marL="10972800" marR="0" lvl="6"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7pPr>
            <a:lvl8pPr marL="12801600" marR="0" lvl="7"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8pPr>
            <a:lvl9pPr marL="14630400" marR="0" lvl="8"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9pPr>
          </a:lstStyle>
          <a:p>
            <a:endParaRPr/>
          </a:p>
        </p:txBody>
      </p:sp>
      <p:sp>
        <p:nvSpPr>
          <p:cNvPr id="16" name="Shape 16"/>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7" name="Shape 17"/>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8" name="Shape 18"/>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9"/>
        <p:cNvGrpSpPr/>
        <p:nvPr/>
      </p:nvGrpSpPr>
      <p:grpSpPr>
        <a:xfrm>
          <a:off x="0" y="0"/>
          <a:ext cx="0" cy="0"/>
          <a:chOff x="0" y="0"/>
          <a:chExt cx="0" cy="0"/>
        </a:xfrm>
      </p:grpSpPr>
      <p:sp>
        <p:nvSpPr>
          <p:cNvPr id="20" name="Shape 20"/>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1" name="Shape 21"/>
          <p:cNvSpPr txBox="1">
            <a:spLocks noGrp="1"/>
          </p:cNvSpPr>
          <p:nvPr>
            <p:ph type="body" idx="1"/>
          </p:nvPr>
        </p:nvSpPr>
        <p:spPr>
          <a:xfrm>
            <a:off x="2514600" y="11197167"/>
            <a:ext cx="31546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22" name="Shape 22"/>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23" name="Shape 23"/>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24" name="Shape 24"/>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2495551" y="10486402"/>
            <a:ext cx="31546800" cy="17496787"/>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24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7" name="Shape 27"/>
          <p:cNvSpPr txBox="1">
            <a:spLocks noGrp="1"/>
          </p:cNvSpPr>
          <p:nvPr>
            <p:ph type="body" idx="1"/>
          </p:nvPr>
        </p:nvSpPr>
        <p:spPr>
          <a:xfrm>
            <a:off x="2495551" y="28148715"/>
            <a:ext cx="31546800" cy="9201147"/>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96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rgbClr val="888888"/>
              </a:buClr>
              <a:buFont typeface="Arial"/>
              <a:buNone/>
              <a:defRPr sz="8000" b="0" i="0" u="none" strike="noStrike" cap="none">
                <a:solidFill>
                  <a:srgbClr val="888888"/>
                </a:solidFill>
                <a:latin typeface="Calibri"/>
                <a:ea typeface="Calibri"/>
                <a:cs typeface="Calibri"/>
                <a:sym typeface="Calibri"/>
              </a:defRPr>
            </a:lvl2pPr>
            <a:lvl3pPr marL="3657600" marR="0" lvl="2" indent="0" algn="l" rtl="0">
              <a:lnSpc>
                <a:spcPct val="90000"/>
              </a:lnSpc>
              <a:spcBef>
                <a:spcPts val="2000"/>
              </a:spcBef>
              <a:buClr>
                <a:srgbClr val="888888"/>
              </a:buClr>
              <a:buFont typeface="Arial"/>
              <a:buNone/>
              <a:defRPr sz="7200" b="0" i="0" u="none" strike="noStrike" cap="none">
                <a:solidFill>
                  <a:srgbClr val="888888"/>
                </a:solidFill>
                <a:latin typeface="Calibri"/>
                <a:ea typeface="Calibri"/>
                <a:cs typeface="Calibri"/>
                <a:sym typeface="Calibri"/>
              </a:defRPr>
            </a:lvl3pPr>
            <a:lvl4pPr marL="5486400" marR="0" lvl="3"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4pPr>
            <a:lvl5pPr marL="7315200" marR="0" lvl="4"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5pPr>
            <a:lvl6pPr marL="9144000" marR="0" lvl="5"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6pPr>
            <a:lvl7pPr marL="10972800" marR="0" lvl="6"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7pPr>
            <a:lvl8pPr marL="12801600" marR="0" lvl="7"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8pPr>
            <a:lvl9pPr marL="14630400" marR="0" lvl="8"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9pPr>
          </a:lstStyle>
          <a:p>
            <a:endParaRPr/>
          </a:p>
        </p:txBody>
      </p:sp>
      <p:sp>
        <p:nvSpPr>
          <p:cNvPr id="28" name="Shape 28"/>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29" name="Shape 29"/>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0" name="Shape 30"/>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3" name="Shape 33"/>
          <p:cNvSpPr txBox="1">
            <a:spLocks noGrp="1"/>
          </p:cNvSpPr>
          <p:nvPr>
            <p:ph type="body" idx="1"/>
          </p:nvPr>
        </p:nvSpPr>
        <p:spPr>
          <a:xfrm>
            <a:off x="2514600" y="11197167"/>
            <a:ext cx="15544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34" name="Shape 34"/>
          <p:cNvSpPr txBox="1">
            <a:spLocks noGrp="1"/>
          </p:cNvSpPr>
          <p:nvPr>
            <p:ph type="body" idx="2"/>
          </p:nvPr>
        </p:nvSpPr>
        <p:spPr>
          <a:xfrm>
            <a:off x="18516600" y="11197167"/>
            <a:ext cx="15544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35" name="Shape 35"/>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6" name="Shape 36"/>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7" name="Shape 37"/>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2519364"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0" name="Shape 40"/>
          <p:cNvSpPr txBox="1">
            <a:spLocks noGrp="1"/>
          </p:cNvSpPr>
          <p:nvPr>
            <p:ph type="body" idx="1"/>
          </p:nvPr>
        </p:nvSpPr>
        <p:spPr>
          <a:xfrm>
            <a:off x="2519367" y="10311132"/>
            <a:ext cx="15473360" cy="5053326"/>
          </a:xfrm>
          <a:prstGeom prst="rect">
            <a:avLst/>
          </a:prstGeom>
          <a:noFill/>
          <a:ln>
            <a:noFill/>
          </a:ln>
        </p:spPr>
        <p:txBody>
          <a:bodyPr lIns="91425" tIns="91425" rIns="91425" bIns="91425" anchor="b" anchorCtr="0"/>
          <a:lstStyle>
            <a:lvl1pPr marL="0" marR="0" lvl="0" indent="0" algn="l" rtl="0">
              <a:lnSpc>
                <a:spcPct val="90000"/>
              </a:lnSpc>
              <a:spcBef>
                <a:spcPts val="4000"/>
              </a:spcBef>
              <a:buClr>
                <a:schemeClr val="dk1"/>
              </a:buClr>
              <a:buFont typeface="Arial"/>
              <a:buNone/>
              <a:defRPr sz="9600" b="1"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8000" b="1"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7200" b="1"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9pPr>
          </a:lstStyle>
          <a:p>
            <a:endParaRPr/>
          </a:p>
        </p:txBody>
      </p:sp>
      <p:sp>
        <p:nvSpPr>
          <p:cNvPr id="41" name="Shape 41"/>
          <p:cNvSpPr txBox="1">
            <a:spLocks noGrp="1"/>
          </p:cNvSpPr>
          <p:nvPr>
            <p:ph type="body" idx="2"/>
          </p:nvPr>
        </p:nvSpPr>
        <p:spPr>
          <a:xfrm>
            <a:off x="2519367" y="15364459"/>
            <a:ext cx="15473360" cy="225988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42" name="Shape 42"/>
          <p:cNvSpPr txBox="1">
            <a:spLocks noGrp="1"/>
          </p:cNvSpPr>
          <p:nvPr>
            <p:ph type="body" idx="3"/>
          </p:nvPr>
        </p:nvSpPr>
        <p:spPr>
          <a:xfrm>
            <a:off x="18516601" y="10311132"/>
            <a:ext cx="15549563" cy="5053326"/>
          </a:xfrm>
          <a:prstGeom prst="rect">
            <a:avLst/>
          </a:prstGeom>
          <a:noFill/>
          <a:ln>
            <a:noFill/>
          </a:ln>
        </p:spPr>
        <p:txBody>
          <a:bodyPr lIns="91425" tIns="91425" rIns="91425" bIns="91425" anchor="b" anchorCtr="0"/>
          <a:lstStyle>
            <a:lvl1pPr marL="0" marR="0" lvl="0" indent="0" algn="l" rtl="0">
              <a:lnSpc>
                <a:spcPct val="90000"/>
              </a:lnSpc>
              <a:spcBef>
                <a:spcPts val="4000"/>
              </a:spcBef>
              <a:buClr>
                <a:schemeClr val="dk1"/>
              </a:buClr>
              <a:buFont typeface="Arial"/>
              <a:buNone/>
              <a:defRPr sz="9600" b="1"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8000" b="1"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7200" b="1"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9pPr>
          </a:lstStyle>
          <a:p>
            <a:endParaRPr/>
          </a:p>
        </p:txBody>
      </p:sp>
      <p:sp>
        <p:nvSpPr>
          <p:cNvPr id="43" name="Shape 43"/>
          <p:cNvSpPr txBox="1">
            <a:spLocks noGrp="1"/>
          </p:cNvSpPr>
          <p:nvPr>
            <p:ph type="body" idx="4"/>
          </p:nvPr>
        </p:nvSpPr>
        <p:spPr>
          <a:xfrm>
            <a:off x="18516601" y="15364459"/>
            <a:ext cx="15549563" cy="225988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44" name="Shape 44"/>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45" name="Shape 45"/>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46" name="Shape 46"/>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0" name="Shape 50"/>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1" name="Shape 51"/>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2"/>
        <p:cNvGrpSpPr/>
        <p:nvPr/>
      </p:nvGrpSpPr>
      <p:grpSpPr>
        <a:xfrm>
          <a:off x="0" y="0"/>
          <a:ext cx="0" cy="0"/>
          <a:chOff x="0" y="0"/>
          <a:chExt cx="0" cy="0"/>
        </a:xfrm>
      </p:grpSpPr>
      <p:sp>
        <p:nvSpPr>
          <p:cNvPr id="53" name="Shape 53"/>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4" name="Shape 54"/>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5" name="Shape 55"/>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6"/>
        <p:cNvGrpSpPr/>
        <p:nvPr/>
      </p:nvGrpSpPr>
      <p:grpSpPr>
        <a:xfrm>
          <a:off x="0" y="0"/>
          <a:ext cx="0" cy="0"/>
          <a:chOff x="0" y="0"/>
          <a:chExt cx="0" cy="0"/>
        </a:xfrm>
      </p:grpSpPr>
      <p:sp>
        <p:nvSpPr>
          <p:cNvPr id="57" name="Shape 57"/>
          <p:cNvSpPr txBox="1">
            <a:spLocks noGrp="1"/>
          </p:cNvSpPr>
          <p:nvPr>
            <p:ph type="title"/>
          </p:nvPr>
        </p:nvSpPr>
        <p:spPr>
          <a:xfrm>
            <a:off x="2519364" y="2804159"/>
            <a:ext cx="11796712" cy="981455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128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8" name="Shape 58"/>
          <p:cNvSpPr txBox="1">
            <a:spLocks noGrp="1"/>
          </p:cNvSpPr>
          <p:nvPr>
            <p:ph type="body" idx="1"/>
          </p:nvPr>
        </p:nvSpPr>
        <p:spPr>
          <a:xfrm>
            <a:off x="15549564" y="6056216"/>
            <a:ext cx="18516600" cy="29891567"/>
          </a:xfrm>
          <a:prstGeom prst="rect">
            <a:avLst/>
          </a:prstGeom>
          <a:noFill/>
          <a:ln>
            <a:noFill/>
          </a:ln>
        </p:spPr>
        <p:txBody>
          <a:bodyPr lIns="91425" tIns="91425" rIns="91425" bIns="91425" anchor="t" anchorCtr="0"/>
          <a:lstStyle>
            <a:lvl1pPr marL="914400" marR="0" lvl="0" indent="-101600" algn="l" rtl="0">
              <a:lnSpc>
                <a:spcPct val="90000"/>
              </a:lnSpc>
              <a:spcBef>
                <a:spcPts val="4000"/>
              </a:spcBef>
              <a:buClr>
                <a:schemeClr val="dk1"/>
              </a:buClr>
              <a:buSzPct val="100000"/>
              <a:buFont typeface="Arial"/>
              <a:buChar char="•"/>
              <a:defRPr sz="12800" b="0" i="0" u="none" strike="noStrike" cap="none">
                <a:solidFill>
                  <a:schemeClr val="dk1"/>
                </a:solidFill>
                <a:latin typeface="Calibri"/>
                <a:ea typeface="Calibri"/>
                <a:cs typeface="Calibri"/>
                <a:sym typeface="Calibri"/>
              </a:defRPr>
            </a:lvl1pPr>
            <a:lvl2pPr marL="2743200" marR="0" lvl="1" indent="-203200" algn="l" rtl="0">
              <a:lnSpc>
                <a:spcPct val="90000"/>
              </a:lnSpc>
              <a:spcBef>
                <a:spcPts val="2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2pPr>
            <a:lvl3pPr marL="4572000" marR="0" lvl="2"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3pPr>
            <a:lvl4pPr marL="6400800" marR="0" lvl="3"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4pPr>
            <a:lvl5pPr marL="8229600" marR="0" lvl="4"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5pPr>
            <a:lvl6pPr marL="10058400" marR="0" lvl="5"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6pPr>
            <a:lvl7pPr marL="11887200" marR="0" lvl="6"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7pPr>
            <a:lvl8pPr marL="13716000" marR="0" lvl="7"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8pPr>
            <a:lvl9pPr marL="15544800" marR="0" lvl="8"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9pPr>
          </a:lstStyle>
          <a:p>
            <a:endParaRPr/>
          </a:p>
        </p:txBody>
      </p:sp>
      <p:sp>
        <p:nvSpPr>
          <p:cNvPr id="59" name="Shape 59"/>
          <p:cNvSpPr txBox="1">
            <a:spLocks noGrp="1"/>
          </p:cNvSpPr>
          <p:nvPr>
            <p:ph type="body" idx="2"/>
          </p:nvPr>
        </p:nvSpPr>
        <p:spPr>
          <a:xfrm>
            <a:off x="2519364" y="12618720"/>
            <a:ext cx="11796712" cy="23377740"/>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64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56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48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60" name="Shape 60"/>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1" name="Shape 61"/>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2" name="Shape 62"/>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3"/>
        <p:cNvGrpSpPr/>
        <p:nvPr/>
      </p:nvGrpSpPr>
      <p:grpSpPr>
        <a:xfrm>
          <a:off x="0" y="0"/>
          <a:ext cx="0" cy="0"/>
          <a:chOff x="0" y="0"/>
          <a:chExt cx="0" cy="0"/>
        </a:xfrm>
      </p:grpSpPr>
      <p:sp>
        <p:nvSpPr>
          <p:cNvPr id="64" name="Shape 64"/>
          <p:cNvSpPr txBox="1">
            <a:spLocks noGrp="1"/>
          </p:cNvSpPr>
          <p:nvPr>
            <p:ph type="title"/>
          </p:nvPr>
        </p:nvSpPr>
        <p:spPr>
          <a:xfrm>
            <a:off x="2519364" y="2804159"/>
            <a:ext cx="11796712" cy="981455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128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5" name="Shape 65"/>
          <p:cNvSpPr>
            <a:spLocks noGrp="1"/>
          </p:cNvSpPr>
          <p:nvPr>
            <p:ph type="pic" idx="2"/>
          </p:nvPr>
        </p:nvSpPr>
        <p:spPr>
          <a:xfrm>
            <a:off x="15549564" y="6056216"/>
            <a:ext cx="18516600" cy="29891567"/>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128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112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96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9pPr>
          </a:lstStyle>
          <a:p>
            <a:endParaRPr/>
          </a:p>
        </p:txBody>
      </p:sp>
      <p:sp>
        <p:nvSpPr>
          <p:cNvPr id="66" name="Shape 66"/>
          <p:cNvSpPr txBox="1">
            <a:spLocks noGrp="1"/>
          </p:cNvSpPr>
          <p:nvPr>
            <p:ph type="body" idx="1"/>
          </p:nvPr>
        </p:nvSpPr>
        <p:spPr>
          <a:xfrm>
            <a:off x="2519364" y="12618720"/>
            <a:ext cx="11796712" cy="23377740"/>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64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56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48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67" name="Shape 67"/>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8" name="Shape 68"/>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9" name="Shape 69"/>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2" name="Shape 72"/>
          <p:cNvSpPr txBox="1">
            <a:spLocks noGrp="1"/>
          </p:cNvSpPr>
          <p:nvPr>
            <p:ph type="body" idx="1"/>
          </p:nvPr>
        </p:nvSpPr>
        <p:spPr>
          <a:xfrm rot="5400000">
            <a:off x="4943896" y="8767869"/>
            <a:ext cx="26688205" cy="31546800"/>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73" name="Shape 73"/>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74" name="Shape 74"/>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75" name="Shape 75"/>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6"/>
        <p:cNvGrpSpPr/>
        <p:nvPr/>
      </p:nvGrpSpPr>
      <p:grpSpPr>
        <a:xfrm>
          <a:off x="0" y="0"/>
          <a:ext cx="0" cy="0"/>
          <a:chOff x="0" y="0"/>
          <a:chExt cx="0" cy="0"/>
        </a:xfrm>
      </p:grpSpPr>
      <p:sp>
        <p:nvSpPr>
          <p:cNvPr id="77" name="Shape 77"/>
          <p:cNvSpPr txBox="1">
            <a:spLocks noGrp="1"/>
          </p:cNvSpPr>
          <p:nvPr>
            <p:ph type="title"/>
          </p:nvPr>
        </p:nvSpPr>
        <p:spPr>
          <a:xfrm rot="5400000">
            <a:off x="12295083" y="16119052"/>
            <a:ext cx="35645939" cy="788670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8" name="Shape 78"/>
          <p:cNvSpPr txBox="1">
            <a:spLocks noGrp="1"/>
          </p:cNvSpPr>
          <p:nvPr>
            <p:ph type="body" idx="1"/>
          </p:nvPr>
        </p:nvSpPr>
        <p:spPr>
          <a:xfrm rot="5400000">
            <a:off x="-3706918" y="8460952"/>
            <a:ext cx="35645939" cy="23202900"/>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79" name="Shape 79"/>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80" name="Shape 80"/>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81" name="Shape 81"/>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 name="Shape 7"/>
          <p:cNvSpPr txBox="1">
            <a:spLocks noGrp="1"/>
          </p:cNvSpPr>
          <p:nvPr>
            <p:ph type="body" idx="1"/>
          </p:nvPr>
        </p:nvSpPr>
        <p:spPr>
          <a:xfrm>
            <a:off x="2514600" y="11197167"/>
            <a:ext cx="31546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b="0" i="0" u="none" strike="noStrike" cap="none">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9" name="Shape 9"/>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b="0" i="0" u="none" strike="noStrike" cap="none">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0" name="Shape 10"/>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b="0" i="0" u="none" strike="noStrike" cap="none">
                <a:solidFill>
                  <a:srgbClr val="888888"/>
                </a:solidFill>
                <a:latin typeface="Calibri"/>
                <a:ea typeface="Calibri"/>
                <a:cs typeface="Calibri"/>
                <a:sym typeface="Calibri"/>
              </a:rPr>
              <a:t>‹#›</a:t>
            </a:fld>
            <a:endParaRPr lang="en-US" sz="48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8.png"/><Relationship Id="rId20" Type="http://schemas.openxmlformats.org/officeDocument/2006/relationships/image" Target="../media/image19.jp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jpg"/><Relationship Id="rId17" Type="http://schemas.openxmlformats.org/officeDocument/2006/relationships/image" Target="../media/image16.png"/><Relationship Id="rId18" Type="http://schemas.openxmlformats.org/officeDocument/2006/relationships/image" Target="../media/image17.jpg"/><Relationship Id="rId19" Type="http://schemas.openxmlformats.org/officeDocument/2006/relationships/image" Target="../media/image18.tiff"/><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Shape 86" descr="transparent.png"/>
          <p:cNvPicPr preferRelativeResize="0"/>
          <p:nvPr/>
        </p:nvPicPr>
        <p:blipFill>
          <a:blip r:embed="rId3">
            <a:alphaModFix/>
          </a:blip>
          <a:stretch>
            <a:fillRect/>
          </a:stretch>
        </p:blipFill>
        <p:spPr>
          <a:xfrm>
            <a:off x="18065181" y="35121009"/>
            <a:ext cx="16026250" cy="1923150"/>
          </a:xfrm>
          <a:prstGeom prst="rect">
            <a:avLst/>
          </a:prstGeom>
          <a:noFill/>
          <a:ln>
            <a:noFill/>
          </a:ln>
        </p:spPr>
      </p:pic>
      <p:pic>
        <p:nvPicPr>
          <p:cNvPr id="87" name="Shape 87" descr="transparent.png"/>
          <p:cNvPicPr preferRelativeResize="0"/>
          <p:nvPr/>
        </p:nvPicPr>
        <p:blipFill>
          <a:blip r:embed="rId3">
            <a:alphaModFix/>
          </a:blip>
          <a:stretch>
            <a:fillRect/>
          </a:stretch>
        </p:blipFill>
        <p:spPr>
          <a:xfrm>
            <a:off x="16753906" y="19157734"/>
            <a:ext cx="16026250" cy="1923150"/>
          </a:xfrm>
          <a:prstGeom prst="rect">
            <a:avLst/>
          </a:prstGeom>
          <a:noFill/>
          <a:ln>
            <a:noFill/>
          </a:ln>
        </p:spPr>
      </p:pic>
      <p:pic>
        <p:nvPicPr>
          <p:cNvPr id="88" name="Shape 88" descr="transparent.png"/>
          <p:cNvPicPr preferRelativeResize="0"/>
          <p:nvPr/>
        </p:nvPicPr>
        <p:blipFill>
          <a:blip r:embed="rId3">
            <a:alphaModFix/>
          </a:blip>
          <a:stretch>
            <a:fillRect/>
          </a:stretch>
        </p:blipFill>
        <p:spPr>
          <a:xfrm>
            <a:off x="16753906" y="6480171"/>
            <a:ext cx="16026250" cy="1923150"/>
          </a:xfrm>
          <a:prstGeom prst="rect">
            <a:avLst/>
          </a:prstGeom>
          <a:noFill/>
          <a:ln>
            <a:noFill/>
          </a:ln>
        </p:spPr>
      </p:pic>
      <p:pic>
        <p:nvPicPr>
          <p:cNvPr id="89" name="Shape 89" descr="transparent.png"/>
          <p:cNvPicPr preferRelativeResize="0"/>
          <p:nvPr/>
        </p:nvPicPr>
        <p:blipFill>
          <a:blip r:embed="rId3">
            <a:alphaModFix/>
          </a:blip>
          <a:stretch>
            <a:fillRect/>
          </a:stretch>
        </p:blipFill>
        <p:spPr>
          <a:xfrm>
            <a:off x="-172193" y="24187384"/>
            <a:ext cx="16026250" cy="1923150"/>
          </a:xfrm>
          <a:prstGeom prst="rect">
            <a:avLst/>
          </a:prstGeom>
          <a:noFill/>
          <a:ln>
            <a:noFill/>
          </a:ln>
        </p:spPr>
      </p:pic>
      <p:pic>
        <p:nvPicPr>
          <p:cNvPr id="90" name="Shape 90" descr="transparent.png"/>
          <p:cNvPicPr preferRelativeResize="0"/>
          <p:nvPr/>
        </p:nvPicPr>
        <p:blipFill>
          <a:blip r:embed="rId3">
            <a:alphaModFix/>
          </a:blip>
          <a:stretch>
            <a:fillRect/>
          </a:stretch>
        </p:blipFill>
        <p:spPr>
          <a:xfrm>
            <a:off x="6" y="12442459"/>
            <a:ext cx="16026250" cy="1923150"/>
          </a:xfrm>
          <a:prstGeom prst="rect">
            <a:avLst/>
          </a:prstGeom>
          <a:noFill/>
          <a:ln>
            <a:noFill/>
          </a:ln>
        </p:spPr>
      </p:pic>
      <p:pic>
        <p:nvPicPr>
          <p:cNvPr id="91" name="Shape 91" descr="transparent.png"/>
          <p:cNvPicPr preferRelativeResize="0"/>
          <p:nvPr/>
        </p:nvPicPr>
        <p:blipFill>
          <a:blip r:embed="rId3">
            <a:alphaModFix/>
          </a:blip>
          <a:stretch>
            <a:fillRect/>
          </a:stretch>
        </p:blipFill>
        <p:spPr>
          <a:xfrm>
            <a:off x="6" y="6480171"/>
            <a:ext cx="16026250" cy="1923150"/>
          </a:xfrm>
          <a:prstGeom prst="rect">
            <a:avLst/>
          </a:prstGeom>
          <a:noFill/>
          <a:ln>
            <a:noFill/>
          </a:ln>
        </p:spPr>
      </p:pic>
      <p:sp>
        <p:nvSpPr>
          <p:cNvPr id="92" name="Shape 92"/>
          <p:cNvSpPr txBox="1"/>
          <p:nvPr/>
        </p:nvSpPr>
        <p:spPr>
          <a:xfrm>
            <a:off x="17822500" y="8616950"/>
            <a:ext cx="7935600" cy="10207500"/>
          </a:xfrm>
          <a:prstGeom prst="rect">
            <a:avLst/>
          </a:prstGeom>
          <a:noFill/>
          <a:ln>
            <a:noFill/>
          </a:ln>
        </p:spPr>
        <p:txBody>
          <a:bodyPr lIns="91425" tIns="91425" rIns="91425" bIns="91425" anchor="t" anchorCtr="0">
            <a:noAutofit/>
          </a:bodyPr>
          <a:lstStyle/>
          <a:p>
            <a:pPr lvl="0">
              <a:spcBef>
                <a:spcPts val="0"/>
              </a:spcBef>
              <a:buNone/>
            </a:pPr>
            <a:r>
              <a:rPr lang="en-US" sz="3000">
                <a:latin typeface="Trebuchet MS"/>
                <a:ea typeface="Trebuchet MS"/>
                <a:cs typeface="Trebuchet MS"/>
                <a:sym typeface="Trebuchet MS"/>
              </a:rPr>
              <a:t>PAM Clustering with Gower Distances finds natural splits in a dataset using character and numeric variables as split criteria.</a:t>
            </a:r>
          </a:p>
          <a:p>
            <a:pPr lvl="0">
              <a:spcBef>
                <a:spcPts val="0"/>
              </a:spcBef>
              <a:buNone/>
            </a:pPr>
            <a:endParaRPr sz="3000">
              <a:latin typeface="Trebuchet MS"/>
              <a:ea typeface="Trebuchet MS"/>
              <a:cs typeface="Trebuchet MS"/>
              <a:sym typeface="Trebuchet MS"/>
            </a:endParaRPr>
          </a:p>
          <a:p>
            <a:pPr lvl="0">
              <a:spcBef>
                <a:spcPts val="0"/>
              </a:spcBef>
              <a:buNone/>
            </a:pPr>
            <a:r>
              <a:rPr lang="en-US" sz="3000" b="1">
                <a:latin typeface="Trebuchet MS"/>
                <a:ea typeface="Trebuchet MS"/>
                <a:cs typeface="Trebuchet MS"/>
                <a:sym typeface="Trebuchet MS"/>
              </a:rPr>
              <a:t>Hypothesis: </a:t>
            </a:r>
            <a:r>
              <a:rPr lang="en-US" sz="3000">
                <a:latin typeface="Trebuchet MS"/>
                <a:ea typeface="Trebuchet MS"/>
                <a:cs typeface="Trebuchet MS"/>
                <a:sym typeface="Trebuchet MS"/>
              </a:rPr>
              <a:t>if the statistical properties of a dataset are preserved in a synthetic dataset, both datasets will exhibit similar clusters.</a:t>
            </a:r>
          </a:p>
          <a:p>
            <a:pPr lvl="0">
              <a:spcBef>
                <a:spcPts val="0"/>
              </a:spcBef>
              <a:buNone/>
            </a:pPr>
            <a:endParaRPr sz="3000">
              <a:latin typeface="Trebuchet MS"/>
              <a:ea typeface="Trebuchet MS"/>
              <a:cs typeface="Trebuchet MS"/>
              <a:sym typeface="Trebuchet MS"/>
            </a:endParaRPr>
          </a:p>
          <a:p>
            <a:pPr lvl="0">
              <a:spcBef>
                <a:spcPts val="0"/>
              </a:spcBef>
              <a:buNone/>
            </a:pPr>
            <a:r>
              <a:rPr lang="en-US" sz="3000">
                <a:latin typeface="Trebuchet MS"/>
                <a:ea typeface="Trebuchet MS"/>
                <a:cs typeface="Trebuchet MS"/>
                <a:sym typeface="Trebuchet MS"/>
              </a:rPr>
              <a:t>Fit with 3 clusters. </a:t>
            </a:r>
            <a:r>
              <a:rPr lang="en-US" sz="3000" b="1">
                <a:solidFill>
                  <a:schemeClr val="dk1"/>
                </a:solidFill>
                <a:latin typeface="Trebuchet MS"/>
                <a:ea typeface="Trebuchet MS"/>
                <a:cs typeface="Trebuchet MS"/>
                <a:sym typeface="Trebuchet MS"/>
              </a:rPr>
              <a:t>Plot1 (Top Right)</a:t>
            </a:r>
            <a:r>
              <a:rPr lang="en-US" sz="3000">
                <a:solidFill>
                  <a:schemeClr val="dk1"/>
                </a:solidFill>
                <a:latin typeface="Trebuchet MS"/>
                <a:ea typeface="Trebuchet MS"/>
                <a:cs typeface="Trebuchet MS"/>
                <a:sym typeface="Trebuchet MS"/>
              </a:rPr>
              <a:t> reduces the clusters to 2 dimensions.</a:t>
            </a:r>
            <a:r>
              <a:rPr lang="en-US" sz="3000">
                <a:latin typeface="Trebuchet MS"/>
                <a:ea typeface="Trebuchet MS"/>
                <a:cs typeface="Trebuchet MS"/>
                <a:sym typeface="Trebuchet MS"/>
              </a:rPr>
              <a:t> </a:t>
            </a:r>
            <a:r>
              <a:rPr lang="en-US" sz="3000">
                <a:solidFill>
                  <a:schemeClr val="dk1"/>
                </a:solidFill>
                <a:latin typeface="Trebuchet MS"/>
                <a:ea typeface="Trebuchet MS"/>
                <a:cs typeface="Trebuchet MS"/>
                <a:sym typeface="Trebuchet MS"/>
              </a:rPr>
              <a:t>The Proper Ctree clusters best mirror the original clusters because their points are the most dispersed.</a:t>
            </a:r>
          </a:p>
          <a:p>
            <a:pPr lvl="0">
              <a:spcBef>
                <a:spcPts val="0"/>
              </a:spcBef>
              <a:buNone/>
            </a:pPr>
            <a:endParaRPr sz="3000">
              <a:latin typeface="Trebuchet MS"/>
              <a:ea typeface="Trebuchet MS"/>
              <a:cs typeface="Trebuchet MS"/>
              <a:sym typeface="Trebuchet MS"/>
            </a:endParaRPr>
          </a:p>
          <a:p>
            <a:pPr lvl="0">
              <a:spcBef>
                <a:spcPts val="0"/>
              </a:spcBef>
              <a:buNone/>
            </a:pPr>
            <a:r>
              <a:rPr lang="en-US" sz="3000" b="1">
                <a:latin typeface="Trebuchet MS"/>
                <a:ea typeface="Trebuchet MS"/>
                <a:cs typeface="Trebuchet MS"/>
                <a:sym typeface="Trebuchet MS"/>
              </a:rPr>
              <a:t>Plot2 (Bottom Right)</a:t>
            </a:r>
            <a:r>
              <a:rPr lang="en-US" sz="3000">
                <a:latin typeface="Trebuchet MS"/>
                <a:ea typeface="Trebuchet MS"/>
                <a:cs typeface="Trebuchet MS"/>
                <a:sym typeface="Trebuchet MS"/>
              </a:rPr>
              <a:t> plots the relationship between the days students did not attend school (points colored by cluster). Proper Cart seems to capture this relationship best as it assigns all but 1 student to two clusters when they are absent more than roughly 60 days. Additionally, all of the non-cart  plots  slope upward, which is not desirable.</a:t>
            </a:r>
          </a:p>
          <a:p>
            <a:pPr lvl="0">
              <a:spcBef>
                <a:spcPts val="0"/>
              </a:spcBef>
              <a:buNone/>
            </a:pPr>
            <a:endParaRPr sz="3000">
              <a:latin typeface="Trebuchet MS"/>
              <a:ea typeface="Trebuchet MS"/>
              <a:cs typeface="Trebuchet MS"/>
              <a:sym typeface="Trebuchet MS"/>
            </a:endParaRPr>
          </a:p>
          <a:p>
            <a:pPr lvl="0">
              <a:spcBef>
                <a:spcPts val="0"/>
              </a:spcBef>
              <a:buNone/>
            </a:pPr>
            <a:endParaRPr sz="3000">
              <a:latin typeface="Trebuchet MS"/>
              <a:ea typeface="Trebuchet MS"/>
              <a:cs typeface="Trebuchet MS"/>
              <a:sym typeface="Trebuchet MS"/>
            </a:endParaRPr>
          </a:p>
          <a:p>
            <a:pPr lvl="0">
              <a:spcBef>
                <a:spcPts val="0"/>
              </a:spcBef>
              <a:buNone/>
            </a:pPr>
            <a:endParaRPr sz="3000">
              <a:latin typeface="Trebuchet MS"/>
              <a:ea typeface="Trebuchet MS"/>
              <a:cs typeface="Trebuchet MS"/>
              <a:sym typeface="Trebuchet MS"/>
            </a:endParaRPr>
          </a:p>
          <a:p>
            <a:pPr lvl="0">
              <a:spcBef>
                <a:spcPts val="0"/>
              </a:spcBef>
              <a:buNone/>
            </a:pPr>
            <a:endParaRPr sz="3000">
              <a:latin typeface="Trebuchet MS"/>
              <a:ea typeface="Trebuchet MS"/>
              <a:cs typeface="Trebuchet MS"/>
              <a:sym typeface="Trebuchet MS"/>
            </a:endParaRPr>
          </a:p>
          <a:p>
            <a:pPr lvl="0">
              <a:spcBef>
                <a:spcPts val="0"/>
              </a:spcBef>
              <a:buNone/>
            </a:pPr>
            <a:endParaRPr sz="3000"/>
          </a:p>
          <a:p>
            <a:pPr lvl="0">
              <a:spcBef>
                <a:spcPts val="0"/>
              </a:spcBef>
              <a:buNone/>
            </a:pPr>
            <a:endParaRPr sz="3000"/>
          </a:p>
        </p:txBody>
      </p:sp>
      <p:sp>
        <p:nvSpPr>
          <p:cNvPr id="93" name="Shape 93"/>
          <p:cNvSpPr txBox="1"/>
          <p:nvPr/>
        </p:nvSpPr>
        <p:spPr>
          <a:xfrm>
            <a:off x="11446713" y="675433"/>
            <a:ext cx="23171099" cy="31701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20000" kern="1200" dirty="0" err="1" smtClean="0">
                <a:solidFill>
                  <a:srgbClr val="141F22"/>
                </a:solidFill>
                <a:latin typeface="Blanch Caps" charset="0"/>
                <a:ea typeface="Blanch Caps" charset="0"/>
                <a:cs typeface="Blanch Caps" charset="0"/>
              </a:rPr>
              <a:t>CreatING</a:t>
            </a:r>
            <a:r>
              <a:rPr lang="en-US" sz="20000" kern="1200" dirty="0" smtClean="0">
                <a:solidFill>
                  <a:srgbClr val="141F22"/>
                </a:solidFill>
                <a:latin typeface="Blanch Caps" charset="0"/>
                <a:ea typeface="Blanch Caps" charset="0"/>
                <a:cs typeface="Blanch Caps" charset="0"/>
              </a:rPr>
              <a:t> Synthetic Data for</a:t>
            </a:r>
            <a:endParaRPr lang="en-US" sz="20000" kern="1200" dirty="0">
              <a:solidFill>
                <a:srgbClr val="141F22"/>
              </a:solidFill>
              <a:latin typeface="Blanch Caps" charset="0"/>
              <a:ea typeface="Blanch Caps" charset="0"/>
              <a:cs typeface="Blanch Caps" charset="0"/>
            </a:endParaRPr>
          </a:p>
        </p:txBody>
      </p:sp>
      <p:sp>
        <p:nvSpPr>
          <p:cNvPr id="94" name="Shape 94"/>
          <p:cNvSpPr txBox="1"/>
          <p:nvPr/>
        </p:nvSpPr>
        <p:spPr>
          <a:xfrm>
            <a:off x="11494296" y="5065567"/>
            <a:ext cx="23171100" cy="708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000" dirty="0">
                <a:solidFill>
                  <a:srgbClr val="7F7F7F"/>
                </a:solidFill>
                <a:latin typeface="Raleway"/>
                <a:ea typeface="Raleway"/>
                <a:cs typeface="Raleway"/>
                <a:sym typeface="Raleway"/>
              </a:rPr>
              <a:t>Sean Pili, Kyle Morgan, Ronnie </a:t>
            </a:r>
            <a:r>
              <a:rPr lang="en-US" sz="4000" dirty="0" err="1">
                <a:solidFill>
                  <a:srgbClr val="7F7F7F"/>
                </a:solidFill>
                <a:latin typeface="Raleway"/>
                <a:ea typeface="Raleway"/>
                <a:cs typeface="Raleway"/>
                <a:sym typeface="Raleway"/>
              </a:rPr>
              <a:t>Fesco</a:t>
            </a:r>
            <a:r>
              <a:rPr lang="en-US" sz="4000" dirty="0">
                <a:solidFill>
                  <a:srgbClr val="7F7F7F"/>
                </a:solidFill>
                <a:latin typeface="Raleway"/>
                <a:ea typeface="Raleway"/>
                <a:cs typeface="Raleway"/>
                <a:sym typeface="Raleway"/>
              </a:rPr>
              <a:t>, and </a:t>
            </a:r>
            <a:r>
              <a:rPr lang="en-US" sz="4000" dirty="0" err="1">
                <a:solidFill>
                  <a:srgbClr val="7F7F7F"/>
                </a:solidFill>
                <a:latin typeface="Raleway"/>
                <a:ea typeface="Raleway"/>
                <a:cs typeface="Raleway"/>
                <a:sym typeface="Raleway"/>
              </a:rPr>
              <a:t>Lata</a:t>
            </a:r>
            <a:r>
              <a:rPr lang="en-US" sz="4000" dirty="0">
                <a:solidFill>
                  <a:srgbClr val="7F7F7F"/>
                </a:solidFill>
                <a:latin typeface="Raleway"/>
                <a:ea typeface="Raleway"/>
                <a:cs typeface="Raleway"/>
                <a:sym typeface="Raleway"/>
              </a:rPr>
              <a:t> </a:t>
            </a:r>
            <a:r>
              <a:rPr lang="en-US" sz="4000" dirty="0" err="1">
                <a:solidFill>
                  <a:srgbClr val="7F7F7F"/>
                </a:solidFill>
                <a:latin typeface="Raleway"/>
                <a:ea typeface="Raleway"/>
                <a:cs typeface="Raleway"/>
                <a:sym typeface="Raleway"/>
              </a:rPr>
              <a:t>Kodali</a:t>
            </a:r>
            <a:r>
              <a:rPr lang="en-US" sz="4000" dirty="0">
                <a:solidFill>
                  <a:srgbClr val="7F7F7F"/>
                </a:solidFill>
                <a:latin typeface="Raleway"/>
                <a:ea typeface="Raleway"/>
                <a:cs typeface="Raleway"/>
                <a:sym typeface="Raleway"/>
              </a:rPr>
              <a:t> (Virginia Tech) with Aaron </a:t>
            </a:r>
            <a:r>
              <a:rPr lang="en-US" sz="4000" dirty="0" smtClean="0">
                <a:solidFill>
                  <a:srgbClr val="7F7F7F"/>
                </a:solidFill>
                <a:latin typeface="Raleway"/>
                <a:ea typeface="Raleway"/>
                <a:cs typeface="Raleway"/>
                <a:sym typeface="Raleway"/>
              </a:rPr>
              <a:t>Schroeder (SDAL) Sponsor: </a:t>
            </a:r>
            <a:r>
              <a:rPr lang="en-US" sz="4000" dirty="0">
                <a:solidFill>
                  <a:srgbClr val="7F7F7F"/>
                </a:solidFill>
                <a:latin typeface="Raleway"/>
                <a:ea typeface="Raleway"/>
                <a:cs typeface="Raleway"/>
                <a:sym typeface="Raleway"/>
              </a:rPr>
              <a:t>Tod Massa (</a:t>
            </a:r>
            <a:r>
              <a:rPr lang="en-US" sz="4000" dirty="0" smtClean="0">
                <a:solidFill>
                  <a:srgbClr val="7F7F7F"/>
                </a:solidFill>
                <a:latin typeface="Raleway"/>
                <a:ea typeface="Raleway"/>
                <a:cs typeface="Raleway"/>
                <a:sym typeface="Raleway"/>
              </a:rPr>
              <a:t>SCHEV – State Council for Higher Education in Virginia)</a:t>
            </a:r>
            <a:endParaRPr lang="en-US" sz="4000" dirty="0">
              <a:solidFill>
                <a:srgbClr val="7F7F7F"/>
              </a:solidFill>
              <a:latin typeface="Raleway"/>
              <a:ea typeface="Raleway"/>
              <a:cs typeface="Raleway"/>
              <a:sym typeface="Raleway"/>
            </a:endParaRPr>
          </a:p>
        </p:txBody>
      </p:sp>
      <p:sp>
        <p:nvSpPr>
          <p:cNvPr id="95" name="Shape 95"/>
          <p:cNvSpPr txBox="1"/>
          <p:nvPr/>
        </p:nvSpPr>
        <p:spPr>
          <a:xfrm>
            <a:off x="1659566" y="6610646"/>
            <a:ext cx="12362700"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b="1" dirty="0">
                <a:solidFill>
                  <a:srgbClr val="141F22"/>
                </a:solidFill>
                <a:latin typeface="Raleway"/>
                <a:ea typeface="Raleway"/>
                <a:cs typeface="Raleway"/>
                <a:sym typeface="Raleway"/>
              </a:rPr>
              <a:t>Introduction</a:t>
            </a:r>
          </a:p>
        </p:txBody>
      </p:sp>
      <p:sp>
        <p:nvSpPr>
          <p:cNvPr id="96" name="Shape 96"/>
          <p:cNvSpPr txBox="1"/>
          <p:nvPr/>
        </p:nvSpPr>
        <p:spPr>
          <a:xfrm>
            <a:off x="1659566" y="12544833"/>
            <a:ext cx="12362700" cy="83099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b="1" dirty="0">
                <a:solidFill>
                  <a:srgbClr val="141F22"/>
                </a:solidFill>
                <a:latin typeface="Raleway"/>
                <a:ea typeface="Raleway"/>
                <a:cs typeface="Raleway"/>
                <a:sym typeface="Raleway"/>
              </a:rPr>
              <a:t>Methods for Synthetic Generation</a:t>
            </a:r>
          </a:p>
        </p:txBody>
      </p:sp>
      <p:sp>
        <p:nvSpPr>
          <p:cNvPr id="97" name="Shape 97"/>
          <p:cNvSpPr txBox="1"/>
          <p:nvPr/>
        </p:nvSpPr>
        <p:spPr>
          <a:xfrm>
            <a:off x="1397051" y="24230450"/>
            <a:ext cx="14457000"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b="1">
                <a:solidFill>
                  <a:srgbClr val="141F22"/>
                </a:solidFill>
                <a:latin typeface="Raleway"/>
                <a:ea typeface="Raleway"/>
                <a:cs typeface="Raleway"/>
                <a:sym typeface="Raleway"/>
              </a:rPr>
              <a:t>Usability Analysis with Regression Models</a:t>
            </a:r>
          </a:p>
        </p:txBody>
      </p:sp>
      <p:sp>
        <p:nvSpPr>
          <p:cNvPr id="98" name="Shape 98"/>
          <p:cNvSpPr txBox="1"/>
          <p:nvPr/>
        </p:nvSpPr>
        <p:spPr>
          <a:xfrm>
            <a:off x="1151350" y="26059812"/>
            <a:ext cx="12684899"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3600">
                <a:solidFill>
                  <a:srgbClr val="141F22"/>
                </a:solidFill>
                <a:latin typeface="Raleway"/>
                <a:ea typeface="Raleway"/>
                <a:cs typeface="Raleway"/>
                <a:sym typeface="Raleway"/>
              </a:rPr>
              <a:t>Regression Model Comparisons on Original vs Synthetic:</a:t>
            </a:r>
          </a:p>
        </p:txBody>
      </p:sp>
      <p:sp>
        <p:nvSpPr>
          <p:cNvPr id="99" name="Shape 99"/>
          <p:cNvSpPr txBox="1"/>
          <p:nvPr/>
        </p:nvSpPr>
        <p:spPr>
          <a:xfrm>
            <a:off x="18585675" y="7894600"/>
            <a:ext cx="16653000" cy="708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3600">
                <a:solidFill>
                  <a:srgbClr val="141F22"/>
                </a:solidFill>
                <a:latin typeface="Raleway"/>
                <a:ea typeface="Raleway"/>
                <a:cs typeface="Raleway"/>
                <a:sym typeface="Raleway"/>
              </a:rPr>
              <a:t>ML Comparison using Partitioning Around Medoid (PAM) Clustering:</a:t>
            </a:r>
          </a:p>
        </p:txBody>
      </p:sp>
      <p:sp>
        <p:nvSpPr>
          <p:cNvPr id="100" name="Shape 100"/>
          <p:cNvSpPr txBox="1"/>
          <p:nvPr/>
        </p:nvSpPr>
        <p:spPr>
          <a:xfrm>
            <a:off x="18396816" y="19258283"/>
            <a:ext cx="12362700"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b="1">
                <a:solidFill>
                  <a:srgbClr val="141F22"/>
                </a:solidFill>
                <a:latin typeface="Raleway"/>
                <a:ea typeface="Raleway"/>
                <a:cs typeface="Raleway"/>
                <a:sym typeface="Raleway"/>
              </a:rPr>
              <a:t>Privacy Options</a:t>
            </a:r>
          </a:p>
        </p:txBody>
      </p:sp>
      <p:sp>
        <p:nvSpPr>
          <p:cNvPr id="101" name="Shape 101"/>
          <p:cNvSpPr txBox="1"/>
          <p:nvPr/>
        </p:nvSpPr>
        <p:spPr>
          <a:xfrm>
            <a:off x="19818916" y="35281071"/>
            <a:ext cx="12362700"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b="1">
                <a:solidFill>
                  <a:srgbClr val="141F22"/>
                </a:solidFill>
                <a:latin typeface="Raleway"/>
                <a:ea typeface="Raleway"/>
                <a:cs typeface="Raleway"/>
                <a:sym typeface="Raleway"/>
              </a:rPr>
              <a:t>Future Work</a:t>
            </a:r>
          </a:p>
        </p:txBody>
      </p:sp>
      <p:sp>
        <p:nvSpPr>
          <p:cNvPr id="102" name="Shape 102"/>
          <p:cNvSpPr txBox="1"/>
          <p:nvPr/>
        </p:nvSpPr>
        <p:spPr>
          <a:xfrm>
            <a:off x="1630287" y="7709150"/>
            <a:ext cx="15554700" cy="1768800"/>
          </a:xfrm>
          <a:prstGeom prst="rect">
            <a:avLst/>
          </a:prstGeom>
          <a:noFill/>
          <a:ln>
            <a:noFill/>
          </a:ln>
        </p:spPr>
        <p:txBody>
          <a:bodyPr lIns="91425" tIns="91425" rIns="91425" bIns="91425" anchor="t" anchorCtr="0">
            <a:noAutofit/>
          </a:bodyPr>
          <a:lstStyle/>
          <a:p>
            <a:pPr marL="457200" lvl="0" indent="-419100" rtl="0">
              <a:spcBef>
                <a:spcPts val="0"/>
              </a:spcBef>
              <a:buSzPct val="100000"/>
              <a:buFont typeface="Trebuchet MS"/>
              <a:buChar char="●"/>
            </a:pPr>
            <a:r>
              <a:rPr lang="en-US" sz="3000" dirty="0">
                <a:latin typeface="Trebuchet MS"/>
                <a:ea typeface="Trebuchet MS"/>
                <a:cs typeface="Trebuchet MS"/>
                <a:sym typeface="Trebuchet MS"/>
              </a:rPr>
              <a:t>Virginia Longitudinal Data System (VLDS) has sensitive information that cannot be released to the public.</a:t>
            </a:r>
          </a:p>
          <a:p>
            <a:pPr marL="457200" lvl="0" indent="-419100" rtl="0">
              <a:spcBef>
                <a:spcPts val="0"/>
              </a:spcBef>
              <a:buSzPct val="100000"/>
              <a:buFont typeface="Trebuchet MS"/>
              <a:buChar char="●"/>
            </a:pPr>
            <a:r>
              <a:rPr lang="en-US" sz="3000" dirty="0">
                <a:latin typeface="Trebuchet MS"/>
                <a:ea typeface="Trebuchet MS"/>
                <a:cs typeface="Trebuchet MS"/>
                <a:sym typeface="Trebuchet MS"/>
              </a:rPr>
              <a:t>Third parties try accessing the data by guessing which variables they need, which leads to error. </a:t>
            </a:r>
          </a:p>
          <a:p>
            <a:pPr marL="457200" lvl="0" indent="-419100" rtl="0">
              <a:spcBef>
                <a:spcPts val="0"/>
              </a:spcBef>
              <a:buSzPct val="100000"/>
              <a:buFont typeface="Trebuchet MS"/>
              <a:buChar char="●"/>
            </a:pPr>
            <a:r>
              <a:rPr lang="en-US" sz="3000" dirty="0">
                <a:latin typeface="Trebuchet MS"/>
                <a:ea typeface="Trebuchet MS"/>
                <a:cs typeface="Trebuchet MS"/>
                <a:sym typeface="Trebuchet MS"/>
              </a:rPr>
              <a:t>Machine learning (ML) methods can determine which variables are important, but third parties cannot access the whole data set</a:t>
            </a:r>
          </a:p>
          <a:p>
            <a:pPr lvl="0" rtl="0">
              <a:spcBef>
                <a:spcPts val="0"/>
              </a:spcBef>
              <a:buNone/>
            </a:pPr>
            <a:endParaRPr sz="3600" dirty="0">
              <a:latin typeface="Trebuchet MS"/>
              <a:ea typeface="Trebuchet MS"/>
              <a:cs typeface="Trebuchet MS"/>
              <a:sym typeface="Trebuchet MS"/>
            </a:endParaRPr>
          </a:p>
        </p:txBody>
      </p:sp>
      <p:sp>
        <p:nvSpPr>
          <p:cNvPr id="103" name="Shape 103"/>
          <p:cNvSpPr txBox="1"/>
          <p:nvPr/>
        </p:nvSpPr>
        <p:spPr>
          <a:xfrm>
            <a:off x="1545675" y="25325450"/>
            <a:ext cx="15033300" cy="663600"/>
          </a:xfrm>
          <a:prstGeom prst="rect">
            <a:avLst/>
          </a:prstGeom>
          <a:noFill/>
          <a:ln>
            <a:noFill/>
          </a:ln>
        </p:spPr>
        <p:txBody>
          <a:bodyPr lIns="91425" tIns="91425" rIns="91425" bIns="91425" anchor="t" anchorCtr="0">
            <a:noAutofit/>
          </a:bodyPr>
          <a:lstStyle/>
          <a:p>
            <a:pPr lvl="0" rtl="0">
              <a:spcBef>
                <a:spcPts val="0"/>
              </a:spcBef>
              <a:buClr>
                <a:srgbClr val="141F22"/>
              </a:buClr>
              <a:buSzPct val="25000"/>
              <a:buFont typeface="Trebuchet MS"/>
              <a:buNone/>
            </a:pPr>
            <a:r>
              <a:rPr lang="en-US" sz="3000" b="1">
                <a:solidFill>
                  <a:srgbClr val="141F22"/>
                </a:solidFill>
                <a:latin typeface="Trebuchet MS"/>
                <a:ea typeface="Trebuchet MS"/>
                <a:cs typeface="Trebuchet MS"/>
                <a:sym typeface="Trebuchet MS"/>
              </a:rPr>
              <a:t>Question: </a:t>
            </a:r>
            <a:r>
              <a:rPr lang="en-US" sz="3000">
                <a:solidFill>
                  <a:srgbClr val="141F22"/>
                </a:solidFill>
                <a:latin typeface="Trebuchet MS"/>
                <a:ea typeface="Trebuchet MS"/>
                <a:cs typeface="Trebuchet MS"/>
                <a:sym typeface="Trebuchet MS"/>
              </a:rPr>
              <a:t>Which relationships are preserved between original and synthetic datasets?</a:t>
            </a:r>
          </a:p>
        </p:txBody>
      </p:sp>
      <p:sp>
        <p:nvSpPr>
          <p:cNvPr id="104" name="Shape 104"/>
          <p:cNvSpPr/>
          <p:nvPr/>
        </p:nvSpPr>
        <p:spPr>
          <a:xfrm>
            <a:off x="967125" y="10783837"/>
            <a:ext cx="16190400" cy="1421100"/>
          </a:xfrm>
          <a:prstGeom prst="roundRect">
            <a:avLst>
              <a:gd name="adj" fmla="val 16667"/>
            </a:avLst>
          </a:prstGeom>
          <a:solidFill>
            <a:srgbClr val="F3F3F3"/>
          </a:solidFill>
          <a:ln w="28575" cap="flat" cmpd="sng">
            <a:solidFill>
              <a:schemeClr val="accent5"/>
            </a:solidFill>
            <a:prstDash val="solid"/>
            <a:round/>
            <a:headEnd type="none" w="med" len="med"/>
            <a:tailEnd type="none" w="med" len="med"/>
          </a:ln>
        </p:spPr>
        <p:txBody>
          <a:bodyPr lIns="91425" tIns="91425" rIns="91425" bIns="91425" anchor="ctr" anchorCtr="0">
            <a:noAutofit/>
          </a:bodyPr>
          <a:lstStyle/>
          <a:p>
            <a:pPr lvl="0">
              <a:spcBef>
                <a:spcPts val="0"/>
              </a:spcBef>
              <a:buClr>
                <a:schemeClr val="dk1"/>
              </a:buClr>
              <a:buSzPct val="33333"/>
              <a:buFont typeface="Arial"/>
              <a:buNone/>
            </a:pPr>
            <a:r>
              <a:rPr lang="en-US" sz="3300" b="1">
                <a:solidFill>
                  <a:schemeClr val="dk1"/>
                </a:solidFill>
                <a:latin typeface="Trebuchet MS"/>
                <a:ea typeface="Trebuchet MS"/>
                <a:cs typeface="Trebuchet MS"/>
                <a:sym typeface="Trebuchet MS"/>
              </a:rPr>
              <a:t>Research Goal: </a:t>
            </a:r>
            <a:r>
              <a:rPr lang="en-US" sz="3300">
                <a:solidFill>
                  <a:schemeClr val="dk1"/>
                </a:solidFill>
                <a:latin typeface="Trebuchet MS"/>
                <a:ea typeface="Trebuchet MS"/>
                <a:cs typeface="Trebuchet MS"/>
                <a:sym typeface="Trebuchet MS"/>
              </a:rPr>
              <a:t>Create a synthetic dataset that is both usable for machine learning purposes and sufficiently privatized.</a:t>
            </a:r>
          </a:p>
          <a:p>
            <a:pPr lvl="0">
              <a:spcBef>
                <a:spcPts val="0"/>
              </a:spcBef>
              <a:buNone/>
            </a:pPr>
            <a:endParaRPr/>
          </a:p>
        </p:txBody>
      </p:sp>
      <p:sp>
        <p:nvSpPr>
          <p:cNvPr id="105" name="Shape 105"/>
          <p:cNvSpPr txBox="1"/>
          <p:nvPr/>
        </p:nvSpPr>
        <p:spPr>
          <a:xfrm>
            <a:off x="1710150" y="13510850"/>
            <a:ext cx="14919300" cy="663600"/>
          </a:xfrm>
          <a:prstGeom prst="rect">
            <a:avLst/>
          </a:prstGeom>
          <a:noFill/>
          <a:ln>
            <a:noFill/>
          </a:ln>
        </p:spPr>
        <p:txBody>
          <a:bodyPr lIns="91425" tIns="91425" rIns="91425" bIns="91425" anchor="t" anchorCtr="0">
            <a:noAutofit/>
          </a:bodyPr>
          <a:lstStyle/>
          <a:p>
            <a:pPr lvl="0" rtl="0">
              <a:spcBef>
                <a:spcPts val="0"/>
              </a:spcBef>
              <a:buClr>
                <a:srgbClr val="141F22"/>
              </a:buClr>
              <a:buSzPct val="25000"/>
              <a:buFont typeface="Trebuchet MS"/>
              <a:buNone/>
            </a:pPr>
            <a:r>
              <a:rPr lang="en-US" sz="3000">
                <a:solidFill>
                  <a:srgbClr val="141F22"/>
                </a:solidFill>
                <a:latin typeface="Trebuchet MS"/>
                <a:ea typeface="Trebuchet MS"/>
                <a:cs typeface="Trebuchet MS"/>
                <a:sym typeface="Trebuchet MS"/>
              </a:rPr>
              <a:t>The most widely used and modern techniques have now been condensed into an R package called Synthpop. We determine the best method for synthetic generation by comparing the following methods:</a:t>
            </a:r>
          </a:p>
        </p:txBody>
      </p:sp>
      <p:graphicFrame>
        <p:nvGraphicFramePr>
          <p:cNvPr id="106" name="Shape 106"/>
          <p:cNvGraphicFramePr/>
          <p:nvPr/>
        </p:nvGraphicFramePr>
        <p:xfrm>
          <a:off x="1290862" y="26727750"/>
          <a:ext cx="16233550" cy="1219995"/>
        </p:xfrm>
        <a:graphic>
          <a:graphicData uri="http://schemas.openxmlformats.org/drawingml/2006/table">
            <a:tbl>
              <a:tblPr>
                <a:noFill/>
                <a:tableStyleId>{2F3CA88C-3313-456D-9B1B-8100429236B9}</a:tableStyleId>
              </a:tblPr>
              <a:tblGrid>
                <a:gridCol w="4506050"/>
                <a:gridCol w="8614250"/>
                <a:gridCol w="3113250"/>
              </a:tblGrid>
              <a:tr h="489750">
                <a:tc>
                  <a:txBody>
                    <a:bodyPr/>
                    <a:lstStyle/>
                    <a:p>
                      <a:pPr lvl="0" rtl="0">
                        <a:spcBef>
                          <a:spcPts val="0"/>
                        </a:spcBef>
                        <a:buClr>
                          <a:srgbClr val="141F22"/>
                        </a:buClr>
                        <a:buSzPct val="25000"/>
                        <a:buFont typeface="Trebuchet MS"/>
                        <a:buNone/>
                      </a:pPr>
                      <a:r>
                        <a:rPr lang="en-US" sz="2800" b="1">
                          <a:solidFill>
                            <a:srgbClr val="141F22"/>
                          </a:solidFill>
                          <a:latin typeface="Trebuchet MS"/>
                          <a:ea typeface="Trebuchet MS"/>
                          <a:cs typeface="Trebuchet MS"/>
                          <a:sym typeface="Trebuchet MS"/>
                        </a:rPr>
                        <a:t>Response</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rtl="0">
                        <a:spcBef>
                          <a:spcPts val="0"/>
                        </a:spcBef>
                        <a:buClr>
                          <a:srgbClr val="141F22"/>
                        </a:buClr>
                        <a:buSzPct val="25000"/>
                        <a:buFont typeface="Trebuchet MS"/>
                        <a:buNone/>
                      </a:pPr>
                      <a:r>
                        <a:rPr lang="en-US" sz="2800" b="1">
                          <a:solidFill>
                            <a:srgbClr val="141F22"/>
                          </a:solidFill>
                          <a:latin typeface="Trebuchet MS"/>
                          <a:ea typeface="Trebuchet MS"/>
                          <a:cs typeface="Trebuchet MS"/>
                          <a:sym typeface="Trebuchet MS"/>
                        </a:rPr>
                        <a:t>Predictors</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rtl="0">
                        <a:spcBef>
                          <a:spcPts val="0"/>
                        </a:spcBef>
                        <a:buClr>
                          <a:srgbClr val="141F22"/>
                        </a:buClr>
                        <a:buSzPct val="25000"/>
                        <a:buFont typeface="Trebuchet MS"/>
                        <a:buNone/>
                      </a:pPr>
                      <a:r>
                        <a:rPr lang="en-US" sz="2800" b="1">
                          <a:solidFill>
                            <a:srgbClr val="141F22"/>
                          </a:solidFill>
                          <a:latin typeface="Trebuchet MS"/>
                          <a:ea typeface="Trebuchet MS"/>
                          <a:cs typeface="Trebuchet MS"/>
                          <a:sym typeface="Trebuchet MS"/>
                        </a:rPr>
                        <a:t>Model</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r>
              <a:tr h="610425">
                <a:tc>
                  <a:txBody>
                    <a:bodyPr/>
                    <a:lstStyle/>
                    <a:p>
                      <a:pPr lvl="0" rtl="0">
                        <a:spcBef>
                          <a:spcPts val="0"/>
                        </a:spcBef>
                        <a:buClr>
                          <a:srgbClr val="141F22"/>
                        </a:buClr>
                        <a:buSzPct val="25000"/>
                        <a:buFont typeface="Trebuchet MS"/>
                        <a:buNone/>
                      </a:pPr>
                      <a:r>
                        <a:rPr lang="en-US" sz="2800">
                          <a:solidFill>
                            <a:srgbClr val="141F22"/>
                          </a:solidFill>
                          <a:latin typeface="Trebuchet MS"/>
                          <a:ea typeface="Trebuchet MS"/>
                          <a:cs typeface="Trebuchet MS"/>
                          <a:sym typeface="Trebuchet MS"/>
                        </a:rPr>
                        <a:t>aggregate days present</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rtl="0">
                        <a:spcBef>
                          <a:spcPts val="0"/>
                        </a:spcBef>
                        <a:buClr>
                          <a:srgbClr val="141F22"/>
                        </a:buClr>
                        <a:buSzPct val="25000"/>
                        <a:buFont typeface="Trebuchet MS"/>
                        <a:buNone/>
                      </a:pPr>
                      <a:r>
                        <a:rPr lang="en-US" sz="2800">
                          <a:solidFill>
                            <a:srgbClr val="141F22"/>
                          </a:solidFill>
                          <a:latin typeface="Trebuchet MS"/>
                          <a:ea typeface="Trebuchet MS"/>
                          <a:cs typeface="Trebuchet MS"/>
                          <a:sym typeface="Trebuchet MS"/>
                        </a:rPr>
                        <a:t>gender, race type, birth year, disadvantaged status</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rtl="0">
                        <a:spcBef>
                          <a:spcPts val="0"/>
                        </a:spcBef>
                        <a:buClr>
                          <a:srgbClr val="141F22"/>
                        </a:buClr>
                        <a:buSzPct val="25000"/>
                        <a:buFont typeface="Trebuchet MS"/>
                        <a:buNone/>
                      </a:pPr>
                      <a:r>
                        <a:rPr lang="en-US" sz="2800">
                          <a:solidFill>
                            <a:srgbClr val="141F22"/>
                          </a:solidFill>
                          <a:latin typeface="Trebuchet MS"/>
                          <a:ea typeface="Trebuchet MS"/>
                          <a:cs typeface="Trebuchet MS"/>
                          <a:sym typeface="Trebuchet MS"/>
                        </a:rPr>
                        <a:t>GLM with log link</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r>
            </a:tbl>
          </a:graphicData>
        </a:graphic>
      </p:graphicFrame>
      <p:sp>
        <p:nvSpPr>
          <p:cNvPr id="107" name="Shape 107"/>
          <p:cNvSpPr txBox="1"/>
          <p:nvPr/>
        </p:nvSpPr>
        <p:spPr>
          <a:xfrm>
            <a:off x="1241187" y="18203137"/>
            <a:ext cx="16332900" cy="511200"/>
          </a:xfrm>
          <a:prstGeom prst="rect">
            <a:avLst/>
          </a:prstGeom>
          <a:noFill/>
          <a:ln>
            <a:noFill/>
          </a:ln>
        </p:spPr>
        <p:txBody>
          <a:bodyPr lIns="91425" tIns="91425" rIns="91425" bIns="91425" anchor="t" anchorCtr="0">
            <a:noAutofit/>
          </a:bodyPr>
          <a:lstStyle/>
          <a:p>
            <a:pPr lvl="0" rtl="0">
              <a:spcBef>
                <a:spcPts val="0"/>
              </a:spcBef>
              <a:buClr>
                <a:srgbClr val="141F22"/>
              </a:buClr>
              <a:buSzPct val="25000"/>
              <a:buFont typeface="Trebuchet MS"/>
              <a:buNone/>
            </a:pPr>
            <a:r>
              <a:rPr lang="en-US" sz="3000">
                <a:solidFill>
                  <a:srgbClr val="141F22"/>
                </a:solidFill>
                <a:latin typeface="Trebuchet MS"/>
                <a:ea typeface="Trebuchet MS"/>
                <a:cs typeface="Trebuchet MS"/>
                <a:sym typeface="Trebuchet MS"/>
              </a:rPr>
              <a:t>Comparing race type variable across all 6 methods to original:</a:t>
            </a:r>
          </a:p>
        </p:txBody>
      </p:sp>
      <p:pic>
        <p:nvPicPr>
          <p:cNvPr id="108" name="Shape 108" descr="race_type_all.png"/>
          <p:cNvPicPr preferRelativeResize="0"/>
          <p:nvPr/>
        </p:nvPicPr>
        <p:blipFill>
          <a:blip r:embed="rId4">
            <a:alphaModFix/>
          </a:blip>
          <a:stretch>
            <a:fillRect/>
          </a:stretch>
        </p:blipFill>
        <p:spPr>
          <a:xfrm>
            <a:off x="1299787" y="18824412"/>
            <a:ext cx="11442574" cy="5423125"/>
          </a:xfrm>
          <a:prstGeom prst="rect">
            <a:avLst/>
          </a:prstGeom>
          <a:noFill/>
          <a:ln>
            <a:noFill/>
          </a:ln>
        </p:spPr>
      </p:pic>
      <p:sp>
        <p:nvSpPr>
          <p:cNvPr id="109" name="Shape 109"/>
          <p:cNvSpPr txBox="1"/>
          <p:nvPr/>
        </p:nvSpPr>
        <p:spPr>
          <a:xfrm>
            <a:off x="13202425" y="19167075"/>
            <a:ext cx="3859500" cy="4065000"/>
          </a:xfrm>
          <a:prstGeom prst="rect">
            <a:avLst/>
          </a:prstGeom>
          <a:noFill/>
          <a:ln>
            <a:noFill/>
          </a:ln>
        </p:spPr>
        <p:txBody>
          <a:bodyPr lIns="91425" tIns="91425" rIns="91425" bIns="91425" anchor="t" anchorCtr="0">
            <a:noAutofit/>
          </a:bodyPr>
          <a:lstStyle/>
          <a:p>
            <a:pPr lvl="0" algn="ctr" rtl="0">
              <a:spcBef>
                <a:spcPts val="0"/>
              </a:spcBef>
              <a:buNone/>
            </a:pPr>
            <a:r>
              <a:rPr lang="en-US" sz="3000" b="1">
                <a:solidFill>
                  <a:srgbClr val="141F22"/>
                </a:solidFill>
                <a:latin typeface="Trebuchet MS"/>
                <a:ea typeface="Trebuchet MS"/>
                <a:cs typeface="Trebuchet MS"/>
                <a:sym typeface="Trebuchet MS"/>
              </a:rPr>
              <a:t>Race Type Comparison Plot:</a:t>
            </a:r>
          </a:p>
          <a:p>
            <a:pPr lvl="0" algn="ctr" rtl="0">
              <a:spcBef>
                <a:spcPts val="0"/>
              </a:spcBef>
              <a:buClr>
                <a:srgbClr val="141F22"/>
              </a:buClr>
              <a:buSzPct val="25000"/>
              <a:buFont typeface="Trebuchet MS"/>
              <a:buNone/>
            </a:pPr>
            <a:r>
              <a:rPr lang="en-US" sz="3000">
                <a:solidFill>
                  <a:srgbClr val="141F22"/>
                </a:solidFill>
                <a:latin typeface="Trebuchet MS"/>
                <a:ea typeface="Trebuchet MS"/>
                <a:cs typeface="Trebuchet MS"/>
                <a:sym typeface="Trebuchet MS"/>
              </a:rPr>
              <a:t>Each method has a trade-off between preserving the original frequencies of the variable race-type.</a:t>
            </a:r>
          </a:p>
        </p:txBody>
      </p:sp>
      <p:graphicFrame>
        <p:nvGraphicFramePr>
          <p:cNvPr id="110" name="Shape 110"/>
          <p:cNvGraphicFramePr/>
          <p:nvPr/>
        </p:nvGraphicFramePr>
        <p:xfrm>
          <a:off x="1349275" y="15076475"/>
          <a:ext cx="16116725" cy="2956500"/>
        </p:xfrm>
        <a:graphic>
          <a:graphicData uri="http://schemas.openxmlformats.org/drawingml/2006/table">
            <a:tbl>
              <a:tblPr>
                <a:noFill/>
                <a:tableStyleId>{2F3CA88C-3313-456D-9B1B-8100429236B9}</a:tableStyleId>
              </a:tblPr>
              <a:tblGrid>
                <a:gridCol w="2315400"/>
                <a:gridCol w="3014475"/>
                <a:gridCol w="3075225"/>
                <a:gridCol w="2163400"/>
                <a:gridCol w="1646825"/>
                <a:gridCol w="1646825"/>
                <a:gridCol w="2254575"/>
              </a:tblGrid>
              <a:tr h="381000">
                <a:tc>
                  <a:txBody>
                    <a:bodyPr/>
                    <a:lstStyle/>
                    <a:p>
                      <a:pPr lvl="0" algn="ctr" rtl="0">
                        <a:spcBef>
                          <a:spcPts val="0"/>
                        </a:spcBef>
                        <a:buClr>
                          <a:schemeClr val="dk1"/>
                        </a:buClr>
                        <a:buSzPct val="36666"/>
                        <a:buFont typeface="Arial"/>
                        <a:buNone/>
                      </a:pPr>
                      <a:r>
                        <a:rPr lang="en-US" sz="3000" b="1">
                          <a:solidFill>
                            <a:srgbClr val="141F22"/>
                          </a:solidFill>
                          <a:latin typeface="Trebuchet MS"/>
                          <a:ea typeface="Trebuchet MS"/>
                          <a:cs typeface="Trebuchet MS"/>
                          <a:sym typeface="Trebuchet MS"/>
                        </a:rPr>
                        <a:t>Methods:</a:t>
                      </a:r>
                    </a:p>
                    <a:p>
                      <a:pPr lvl="0" algn="ctr">
                        <a:spcBef>
                          <a:spcPts val="0"/>
                        </a:spcBef>
                        <a:buNone/>
                      </a:pPr>
                      <a:endParaRP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6666"/>
                        <a:buFont typeface="Arial"/>
                        <a:buNone/>
                      </a:pPr>
                      <a:r>
                        <a:rPr lang="en-US" sz="3000" b="1">
                          <a:solidFill>
                            <a:srgbClr val="141F22"/>
                          </a:solidFill>
                          <a:latin typeface="Trebuchet MS"/>
                          <a:ea typeface="Trebuchet MS"/>
                          <a:cs typeface="Trebuchet MS"/>
                          <a:sym typeface="Trebuchet MS"/>
                        </a:rPr>
                        <a:t>Cart</a:t>
                      </a:r>
                    </a:p>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(Classification and Reg Trees)</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6666"/>
                        <a:buFont typeface="Arial"/>
                        <a:buNone/>
                      </a:pPr>
                      <a:r>
                        <a:rPr lang="en-US" sz="3000" b="1">
                          <a:solidFill>
                            <a:srgbClr val="141F22"/>
                          </a:solidFill>
                          <a:latin typeface="Trebuchet MS"/>
                          <a:ea typeface="Trebuchet MS"/>
                          <a:cs typeface="Trebuchet MS"/>
                          <a:sym typeface="Trebuchet MS"/>
                        </a:rPr>
                        <a:t>Ctree</a:t>
                      </a:r>
                    </a:p>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(Conditional </a:t>
                      </a:r>
                    </a:p>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Inference Trees)</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6666"/>
                        <a:buFont typeface="Arial"/>
                        <a:buNone/>
                      </a:pPr>
                      <a:r>
                        <a:rPr lang="en-US" sz="3000" b="1">
                          <a:solidFill>
                            <a:srgbClr val="141F22"/>
                          </a:solidFill>
                          <a:latin typeface="Trebuchet MS"/>
                          <a:ea typeface="Trebuchet MS"/>
                          <a:cs typeface="Trebuchet MS"/>
                          <a:sym typeface="Trebuchet MS"/>
                        </a:rPr>
                        <a:t>Parametric</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6666"/>
                        <a:buFont typeface="Arial"/>
                        <a:buNone/>
                      </a:pPr>
                      <a:r>
                        <a:rPr lang="en-US" sz="3000" b="1">
                          <a:solidFill>
                            <a:srgbClr val="141F22"/>
                          </a:solidFill>
                          <a:latin typeface="Trebuchet MS"/>
                          <a:ea typeface="Trebuchet MS"/>
                          <a:cs typeface="Trebuchet MS"/>
                          <a:sym typeface="Trebuchet MS"/>
                        </a:rPr>
                        <a:t>Proper* Cart</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6666"/>
                        <a:buFont typeface="Arial"/>
                        <a:buNone/>
                      </a:pPr>
                      <a:r>
                        <a:rPr lang="en-US" sz="3000" b="1">
                          <a:solidFill>
                            <a:srgbClr val="141F22"/>
                          </a:solidFill>
                          <a:latin typeface="Trebuchet MS"/>
                          <a:ea typeface="Trebuchet MS"/>
                          <a:cs typeface="Trebuchet MS"/>
                          <a:sym typeface="Trebuchet MS"/>
                        </a:rPr>
                        <a:t>Proper* Ctree</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6666"/>
                        <a:buFont typeface="Arial"/>
                        <a:buNone/>
                      </a:pPr>
                      <a:r>
                        <a:rPr lang="en-US" sz="3000" b="1">
                          <a:solidFill>
                            <a:srgbClr val="141F22"/>
                          </a:solidFill>
                          <a:latin typeface="Trebuchet MS"/>
                          <a:ea typeface="Trebuchet MS"/>
                          <a:cs typeface="Trebuchet MS"/>
                          <a:sym typeface="Trebuchet MS"/>
                        </a:rPr>
                        <a:t>Proper* Parametric</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r>
              <a:tr h="381000">
                <a:tc>
                  <a:txBody>
                    <a:bodyPr/>
                    <a:lstStyle/>
                    <a:p>
                      <a:pPr lvl="0" algn="ctr" rtl="0">
                        <a:spcBef>
                          <a:spcPts val="0"/>
                        </a:spcBef>
                        <a:buNone/>
                      </a:pPr>
                      <a:r>
                        <a:rPr lang="en-US" sz="3000" b="1">
                          <a:solidFill>
                            <a:srgbClr val="141F22"/>
                          </a:solidFill>
                          <a:latin typeface="Trebuchet MS"/>
                          <a:ea typeface="Trebuchet MS"/>
                          <a:cs typeface="Trebuchet MS"/>
                          <a:sym typeface="Trebuchet MS"/>
                        </a:rPr>
                        <a:t>Quick</a:t>
                      </a:r>
                    </a:p>
                    <a:p>
                      <a:pPr lvl="0" algn="ctr" rtl="0">
                        <a:spcBef>
                          <a:spcPts val="0"/>
                        </a:spcBef>
                        <a:buClr>
                          <a:schemeClr val="dk1"/>
                        </a:buClr>
                        <a:buSzPct val="36666"/>
                        <a:buFont typeface="Arial"/>
                        <a:buNone/>
                      </a:pPr>
                      <a:r>
                        <a:rPr lang="en-US" sz="3000" b="1">
                          <a:solidFill>
                            <a:srgbClr val="141F22"/>
                          </a:solidFill>
                          <a:latin typeface="Trebuchet MS"/>
                          <a:ea typeface="Trebuchet MS"/>
                          <a:cs typeface="Trebuchet MS"/>
                          <a:sym typeface="Trebuchet MS"/>
                        </a:rPr>
                        <a:t>Description</a:t>
                      </a:r>
                    </a:p>
                    <a:p>
                      <a:pPr lvl="0">
                        <a:spcBef>
                          <a:spcPts val="0"/>
                        </a:spcBef>
                        <a:buNone/>
                      </a:pPr>
                      <a:endParaRP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9285"/>
                        <a:buFont typeface="Arial"/>
                        <a:buNone/>
                      </a:pPr>
                      <a:r>
                        <a:rPr lang="en-US" sz="2800">
                          <a:solidFill>
                            <a:srgbClr val="141F22"/>
                          </a:solidFill>
                          <a:latin typeface="Trebuchet MS"/>
                          <a:ea typeface="Trebuchet MS"/>
                          <a:cs typeface="Trebuchet MS"/>
                          <a:sym typeface="Trebuchet MS"/>
                        </a:rPr>
                        <a:t>Diagram based off decision splits</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a:spcBef>
                          <a:spcPts val="0"/>
                        </a:spcBef>
                        <a:buNone/>
                      </a:pPr>
                      <a:r>
                        <a:rPr lang="en-US" sz="2800">
                          <a:solidFill>
                            <a:srgbClr val="141F22"/>
                          </a:solidFill>
                          <a:latin typeface="Trebuchet MS"/>
                          <a:ea typeface="Trebuchet MS"/>
                          <a:cs typeface="Trebuchet MS"/>
                          <a:sym typeface="Trebuchet MS"/>
                        </a:rPr>
                        <a:t>Reduces selection bias in Cart</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rtl="0">
                        <a:spcBef>
                          <a:spcPts val="0"/>
                        </a:spcBef>
                        <a:buNone/>
                      </a:pPr>
                      <a:r>
                        <a:rPr lang="en-US" sz="2800">
                          <a:solidFill>
                            <a:srgbClr val="141F22"/>
                          </a:solidFill>
                          <a:latin typeface="Trebuchet MS"/>
                          <a:ea typeface="Trebuchet MS"/>
                          <a:cs typeface="Trebuchet MS"/>
                          <a:sym typeface="Trebuchet MS"/>
                        </a:rPr>
                        <a:t>Uses reg models</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gridSpan="3">
                  <a:txBody>
                    <a:bodyPr/>
                    <a:lstStyle/>
                    <a:p>
                      <a:pPr lvl="0" algn="ctr" rtl="0">
                        <a:spcBef>
                          <a:spcPts val="0"/>
                        </a:spcBef>
                        <a:buNone/>
                      </a:pPr>
                      <a:r>
                        <a:rPr lang="en-US" sz="2800">
                          <a:solidFill>
                            <a:srgbClr val="141F22"/>
                          </a:solidFill>
                          <a:latin typeface="Trebuchet MS"/>
                          <a:ea typeface="Trebuchet MS"/>
                          <a:cs typeface="Trebuchet MS"/>
                          <a:sym typeface="Trebuchet MS"/>
                        </a:rPr>
                        <a:t>*Proper means joint distribution over all variables in dataset is stable.</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pic>
        <p:nvPicPr>
          <p:cNvPr id="111" name="Shape 111" descr="cart reg.png"/>
          <p:cNvPicPr preferRelativeResize="0"/>
          <p:nvPr/>
        </p:nvPicPr>
        <p:blipFill rotWithShape="1">
          <a:blip r:embed="rId5">
            <a:alphaModFix/>
          </a:blip>
          <a:srcRect b="7484"/>
          <a:stretch/>
        </p:blipFill>
        <p:spPr>
          <a:xfrm>
            <a:off x="1000825" y="28082425"/>
            <a:ext cx="6471375" cy="2864124"/>
          </a:xfrm>
          <a:prstGeom prst="rect">
            <a:avLst/>
          </a:prstGeom>
          <a:noFill/>
          <a:ln>
            <a:noFill/>
          </a:ln>
        </p:spPr>
      </p:pic>
      <p:pic>
        <p:nvPicPr>
          <p:cNvPr id="112" name="Shape 112" descr="pcart reg.png"/>
          <p:cNvPicPr preferRelativeResize="0"/>
          <p:nvPr/>
        </p:nvPicPr>
        <p:blipFill rotWithShape="1">
          <a:blip r:embed="rId6">
            <a:alphaModFix/>
          </a:blip>
          <a:srcRect b="7484"/>
          <a:stretch/>
        </p:blipFill>
        <p:spPr>
          <a:xfrm>
            <a:off x="7472200" y="28082425"/>
            <a:ext cx="4638649" cy="2864124"/>
          </a:xfrm>
          <a:prstGeom prst="rect">
            <a:avLst/>
          </a:prstGeom>
          <a:noFill/>
          <a:ln>
            <a:noFill/>
          </a:ln>
        </p:spPr>
      </p:pic>
      <p:pic>
        <p:nvPicPr>
          <p:cNvPr id="113" name="Shape 113" descr="ctree reg.png"/>
          <p:cNvPicPr preferRelativeResize="0"/>
          <p:nvPr/>
        </p:nvPicPr>
        <p:blipFill rotWithShape="1">
          <a:blip r:embed="rId7">
            <a:alphaModFix/>
          </a:blip>
          <a:srcRect b="7986"/>
          <a:stretch/>
        </p:blipFill>
        <p:spPr>
          <a:xfrm>
            <a:off x="713525" y="31078275"/>
            <a:ext cx="6626475" cy="2864125"/>
          </a:xfrm>
          <a:prstGeom prst="rect">
            <a:avLst/>
          </a:prstGeom>
          <a:noFill/>
          <a:ln>
            <a:noFill/>
          </a:ln>
        </p:spPr>
      </p:pic>
      <p:pic>
        <p:nvPicPr>
          <p:cNvPr id="114" name="Shape 114" descr="PCtree reg.png"/>
          <p:cNvPicPr preferRelativeResize="0"/>
          <p:nvPr/>
        </p:nvPicPr>
        <p:blipFill rotWithShape="1">
          <a:blip r:embed="rId8">
            <a:alphaModFix/>
          </a:blip>
          <a:srcRect b="6437"/>
          <a:stretch/>
        </p:blipFill>
        <p:spPr>
          <a:xfrm>
            <a:off x="7408375" y="31078275"/>
            <a:ext cx="4836874" cy="2966024"/>
          </a:xfrm>
          <a:prstGeom prst="rect">
            <a:avLst/>
          </a:prstGeom>
          <a:noFill/>
          <a:ln>
            <a:noFill/>
          </a:ln>
        </p:spPr>
      </p:pic>
      <p:pic>
        <p:nvPicPr>
          <p:cNvPr id="115" name="Shape 115" descr="para reg.png"/>
          <p:cNvPicPr preferRelativeResize="0"/>
          <p:nvPr/>
        </p:nvPicPr>
        <p:blipFill>
          <a:blip r:embed="rId9">
            <a:alphaModFix/>
          </a:blip>
          <a:stretch>
            <a:fillRect/>
          </a:stretch>
        </p:blipFill>
        <p:spPr>
          <a:xfrm>
            <a:off x="852512" y="34023175"/>
            <a:ext cx="6348490" cy="2966025"/>
          </a:xfrm>
          <a:prstGeom prst="rect">
            <a:avLst/>
          </a:prstGeom>
          <a:noFill/>
          <a:ln>
            <a:noFill/>
          </a:ln>
        </p:spPr>
      </p:pic>
      <p:pic>
        <p:nvPicPr>
          <p:cNvPr id="116" name="Shape 116" descr="ppara reg.png"/>
          <p:cNvPicPr preferRelativeResize="0"/>
          <p:nvPr/>
        </p:nvPicPr>
        <p:blipFill>
          <a:blip r:embed="rId10">
            <a:alphaModFix/>
          </a:blip>
          <a:stretch>
            <a:fillRect/>
          </a:stretch>
        </p:blipFill>
        <p:spPr>
          <a:xfrm>
            <a:off x="7408362" y="34125075"/>
            <a:ext cx="4385073" cy="2864124"/>
          </a:xfrm>
          <a:prstGeom prst="rect">
            <a:avLst/>
          </a:prstGeom>
          <a:noFill/>
          <a:ln>
            <a:noFill/>
          </a:ln>
        </p:spPr>
      </p:pic>
      <p:pic>
        <p:nvPicPr>
          <p:cNvPr id="117" name="Shape 117" descr="Screen Shot 2017-07-19 at 1.28.00 AM.png"/>
          <p:cNvPicPr preferRelativeResize="0"/>
          <p:nvPr/>
        </p:nvPicPr>
        <p:blipFill>
          <a:blip r:embed="rId11">
            <a:alphaModFix/>
          </a:blip>
          <a:stretch>
            <a:fillRect/>
          </a:stretch>
        </p:blipFill>
        <p:spPr>
          <a:xfrm>
            <a:off x="5311962" y="37044499"/>
            <a:ext cx="3981374" cy="342650"/>
          </a:xfrm>
          <a:prstGeom prst="rect">
            <a:avLst/>
          </a:prstGeom>
          <a:noFill/>
          <a:ln>
            <a:noFill/>
          </a:ln>
        </p:spPr>
      </p:pic>
      <p:sp>
        <p:nvSpPr>
          <p:cNvPr id="118" name="Shape 118"/>
          <p:cNvSpPr txBox="1"/>
          <p:nvPr/>
        </p:nvSpPr>
        <p:spPr>
          <a:xfrm>
            <a:off x="1697725" y="37442450"/>
            <a:ext cx="10646700" cy="831000"/>
          </a:xfrm>
          <a:prstGeom prst="rect">
            <a:avLst/>
          </a:prstGeom>
          <a:noFill/>
          <a:ln>
            <a:noFill/>
          </a:ln>
        </p:spPr>
        <p:txBody>
          <a:bodyPr lIns="91425" tIns="91425" rIns="91425" bIns="91425" anchor="t" anchorCtr="0">
            <a:noAutofit/>
          </a:bodyPr>
          <a:lstStyle/>
          <a:p>
            <a:pPr lvl="0" algn="ctr" rtl="0">
              <a:spcBef>
                <a:spcPts val="0"/>
              </a:spcBef>
              <a:buClr>
                <a:schemeClr val="dk1"/>
              </a:buClr>
              <a:buSzPct val="36666"/>
              <a:buFont typeface="Arial"/>
              <a:buNone/>
            </a:pPr>
            <a:r>
              <a:rPr lang="en-US" sz="3000" b="1">
                <a:solidFill>
                  <a:srgbClr val="141F22"/>
                </a:solidFill>
                <a:latin typeface="Trebuchet MS"/>
                <a:ea typeface="Trebuchet MS"/>
                <a:cs typeface="Trebuchet MS"/>
                <a:sym typeface="Trebuchet MS"/>
              </a:rPr>
              <a:t>GLM comparisons plot:</a:t>
            </a:r>
            <a:r>
              <a:rPr lang="en-US" sz="3000">
                <a:solidFill>
                  <a:srgbClr val="141F22"/>
                </a:solidFill>
                <a:latin typeface="Trebuchet MS"/>
                <a:ea typeface="Trebuchet MS"/>
                <a:cs typeface="Trebuchet MS"/>
                <a:sym typeface="Trebuchet MS"/>
              </a:rPr>
              <a:t> Shows model effects for all chosen methods. Some effects are close between original and synthetic, but some are off.</a:t>
            </a:r>
          </a:p>
          <a:p>
            <a:pPr lvl="0">
              <a:spcBef>
                <a:spcPts val="0"/>
              </a:spcBef>
              <a:buNone/>
            </a:pPr>
            <a:endParaRPr/>
          </a:p>
        </p:txBody>
      </p:sp>
      <p:pic>
        <p:nvPicPr>
          <p:cNvPr id="119" name="Shape 119" descr="unproper fit.png"/>
          <p:cNvPicPr preferRelativeResize="0"/>
          <p:nvPr/>
        </p:nvPicPr>
        <p:blipFill>
          <a:blip r:embed="rId12">
            <a:alphaModFix/>
          </a:blip>
          <a:stretch>
            <a:fillRect/>
          </a:stretch>
        </p:blipFill>
        <p:spPr>
          <a:xfrm>
            <a:off x="12237200" y="28385403"/>
            <a:ext cx="6348475" cy="3751371"/>
          </a:xfrm>
          <a:prstGeom prst="rect">
            <a:avLst/>
          </a:prstGeom>
          <a:noFill/>
          <a:ln w="19050" cap="flat" cmpd="sng">
            <a:solidFill>
              <a:schemeClr val="accent5"/>
            </a:solidFill>
            <a:prstDash val="solid"/>
            <a:round/>
            <a:headEnd type="none" w="med" len="med"/>
            <a:tailEnd type="none" w="med" len="med"/>
          </a:ln>
        </p:spPr>
      </p:pic>
      <p:pic>
        <p:nvPicPr>
          <p:cNvPr id="120" name="Shape 120" descr="proper fit.png"/>
          <p:cNvPicPr preferRelativeResize="0"/>
          <p:nvPr/>
        </p:nvPicPr>
        <p:blipFill>
          <a:blip r:embed="rId13">
            <a:alphaModFix/>
          </a:blip>
          <a:stretch>
            <a:fillRect/>
          </a:stretch>
        </p:blipFill>
        <p:spPr>
          <a:xfrm>
            <a:off x="12237200" y="32255425"/>
            <a:ext cx="6348474" cy="3772421"/>
          </a:xfrm>
          <a:prstGeom prst="rect">
            <a:avLst/>
          </a:prstGeom>
          <a:noFill/>
          <a:ln w="19050" cap="flat" cmpd="sng">
            <a:solidFill>
              <a:schemeClr val="accent5"/>
            </a:solidFill>
            <a:prstDash val="solid"/>
            <a:round/>
            <a:headEnd type="none" w="med" len="med"/>
            <a:tailEnd type="none" w="med" len="med"/>
          </a:ln>
        </p:spPr>
      </p:pic>
      <p:sp>
        <p:nvSpPr>
          <p:cNvPr id="121" name="Shape 121"/>
          <p:cNvSpPr txBox="1"/>
          <p:nvPr/>
        </p:nvSpPr>
        <p:spPr>
          <a:xfrm>
            <a:off x="12297250" y="36403175"/>
            <a:ext cx="6234900" cy="2400300"/>
          </a:xfrm>
          <a:prstGeom prst="rect">
            <a:avLst/>
          </a:prstGeom>
          <a:noFill/>
          <a:ln w="19050" cap="flat" cmpd="sng">
            <a:solidFill>
              <a:schemeClr val="accent5"/>
            </a:solidFill>
            <a:prstDash val="solid"/>
            <a:round/>
            <a:headEnd type="none" w="med" len="med"/>
            <a:tailEnd type="none" w="med" len="med"/>
          </a:ln>
        </p:spPr>
        <p:txBody>
          <a:bodyPr lIns="91425" tIns="91425" rIns="91425" bIns="91425" anchor="t" anchorCtr="0">
            <a:noAutofit/>
          </a:bodyPr>
          <a:lstStyle/>
          <a:p>
            <a:pPr lvl="0" algn="ctr" rtl="0">
              <a:spcBef>
                <a:spcPts val="0"/>
              </a:spcBef>
              <a:buClr>
                <a:schemeClr val="dk1"/>
              </a:buClr>
              <a:buSzPct val="36666"/>
              <a:buFont typeface="Arial"/>
              <a:buNone/>
            </a:pPr>
            <a:r>
              <a:rPr lang="en-US" sz="3000" b="1">
                <a:solidFill>
                  <a:srgbClr val="141F22"/>
                </a:solidFill>
                <a:latin typeface="Trebuchet MS"/>
                <a:ea typeface="Trebuchet MS"/>
                <a:cs typeface="Trebuchet MS"/>
                <a:sym typeface="Trebuchet MS"/>
              </a:rPr>
              <a:t>Fitted values plot:</a:t>
            </a:r>
            <a:r>
              <a:rPr lang="en-US" sz="3000">
                <a:solidFill>
                  <a:srgbClr val="141F22"/>
                </a:solidFill>
                <a:latin typeface="Trebuchet MS"/>
                <a:ea typeface="Trebuchet MS"/>
                <a:cs typeface="Trebuchet MS"/>
                <a:sym typeface="Trebuchet MS"/>
              </a:rPr>
              <a:t> Shows fitted values for all chosen methods. Methods such as Proper Cart and Proper Ctree seem to preserve structure of original fitted values.</a:t>
            </a:r>
          </a:p>
        </p:txBody>
      </p:sp>
      <p:sp>
        <p:nvSpPr>
          <p:cNvPr id="122" name="Shape 122"/>
          <p:cNvSpPr txBox="1"/>
          <p:nvPr/>
        </p:nvSpPr>
        <p:spPr>
          <a:xfrm>
            <a:off x="18396826" y="6610650"/>
            <a:ext cx="14456999"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b="1" dirty="0">
                <a:solidFill>
                  <a:srgbClr val="141F22"/>
                </a:solidFill>
                <a:latin typeface="Raleway"/>
                <a:ea typeface="Raleway"/>
                <a:cs typeface="Raleway"/>
                <a:sym typeface="Raleway"/>
              </a:rPr>
              <a:t>Usability Analysis with Machine Learning</a:t>
            </a:r>
          </a:p>
        </p:txBody>
      </p:sp>
      <p:sp>
        <p:nvSpPr>
          <p:cNvPr id="123" name="Shape 123"/>
          <p:cNvSpPr txBox="1"/>
          <p:nvPr/>
        </p:nvSpPr>
        <p:spPr>
          <a:xfrm>
            <a:off x="18488000" y="7413150"/>
            <a:ext cx="16456200" cy="511200"/>
          </a:xfrm>
          <a:prstGeom prst="rect">
            <a:avLst/>
          </a:prstGeom>
          <a:noFill/>
          <a:ln>
            <a:noFill/>
          </a:ln>
        </p:spPr>
        <p:txBody>
          <a:bodyPr lIns="91425" tIns="91425" rIns="91425" bIns="91425" anchor="ctr" anchorCtr="0">
            <a:noAutofit/>
          </a:bodyPr>
          <a:lstStyle/>
          <a:p>
            <a:pPr lvl="0" rtl="0">
              <a:spcBef>
                <a:spcPts val="0"/>
              </a:spcBef>
              <a:buNone/>
            </a:pPr>
            <a:r>
              <a:rPr lang="en-US" sz="3000" b="1">
                <a:solidFill>
                  <a:srgbClr val="141F22"/>
                </a:solidFill>
                <a:latin typeface="Trebuchet MS"/>
                <a:ea typeface="Trebuchet MS"/>
                <a:cs typeface="Trebuchet MS"/>
                <a:sym typeface="Trebuchet MS"/>
              </a:rPr>
              <a:t>Question: </a:t>
            </a:r>
            <a:r>
              <a:rPr lang="en-US" sz="3000">
                <a:solidFill>
                  <a:srgbClr val="141F22"/>
                </a:solidFill>
                <a:latin typeface="Trebuchet MS"/>
                <a:ea typeface="Trebuchet MS"/>
                <a:cs typeface="Trebuchet MS"/>
                <a:sym typeface="Trebuchet MS"/>
              </a:rPr>
              <a:t>Which clusters are preserved between original and synthetic datasets?</a:t>
            </a:r>
          </a:p>
        </p:txBody>
      </p:sp>
      <p:graphicFrame>
        <p:nvGraphicFramePr>
          <p:cNvPr id="124" name="Shape 124"/>
          <p:cNvGraphicFramePr/>
          <p:nvPr/>
        </p:nvGraphicFramePr>
        <p:xfrm>
          <a:off x="19029337" y="29527712"/>
          <a:ext cx="16116725" cy="3535590"/>
        </p:xfrm>
        <a:graphic>
          <a:graphicData uri="http://schemas.openxmlformats.org/drawingml/2006/table">
            <a:tbl>
              <a:tblPr>
                <a:noFill/>
                <a:tableStyleId>{2F3CA88C-3313-456D-9B1B-8100429236B9}</a:tableStyleId>
              </a:tblPr>
              <a:tblGrid>
                <a:gridCol w="5970550"/>
                <a:gridCol w="1170150"/>
                <a:gridCol w="1264400"/>
                <a:gridCol w="2163400"/>
                <a:gridCol w="1646825"/>
                <a:gridCol w="1646825"/>
                <a:gridCol w="2254575"/>
              </a:tblGrid>
              <a:tr h="381000">
                <a:tc>
                  <a:txBody>
                    <a:bodyPr/>
                    <a:lstStyle/>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Methods:</a:t>
                      </a:r>
                    </a:p>
                    <a:p>
                      <a:pPr lvl="0" algn="ctr" rtl="0">
                        <a:spcBef>
                          <a:spcPts val="0"/>
                        </a:spcBef>
                        <a:buNone/>
                      </a:pPr>
                      <a:endParaRPr sz="2800"/>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Cart</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Ctree</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Parametric</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Proper Cart</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Proper Ctree</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Proper Parametric</a:t>
                      </a:r>
                    </a:p>
                  </a:txBody>
                  <a:tcPr marL="91425" marR="91425" marT="91425" marB="91425" anchor="ctr">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r>
              <a:tr h="860900">
                <a:tc>
                  <a:txBody>
                    <a:bodyPr/>
                    <a:lstStyle/>
                    <a:p>
                      <a:pPr lvl="0" algn="ctr" rtl="0">
                        <a:spcBef>
                          <a:spcPts val="0"/>
                        </a:spcBef>
                        <a:buClr>
                          <a:schemeClr val="dk1"/>
                        </a:buClr>
                        <a:buSzPct val="39285"/>
                        <a:buFont typeface="Arial"/>
                        <a:buNone/>
                      </a:pPr>
                      <a:r>
                        <a:rPr lang="en-US" sz="2800" b="1">
                          <a:solidFill>
                            <a:srgbClr val="141F22"/>
                          </a:solidFill>
                          <a:latin typeface="Trebuchet MS"/>
                          <a:ea typeface="Trebuchet MS"/>
                          <a:cs typeface="Trebuchet MS"/>
                          <a:sym typeface="Trebuchet MS"/>
                        </a:rPr>
                        <a:t>Average # of Synthetic Rows that exactly match original rows</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Clr>
                          <a:schemeClr val="dk1"/>
                        </a:buClr>
                        <a:buSzPct val="36666"/>
                        <a:buFont typeface="Arial"/>
                        <a:buNone/>
                      </a:pPr>
                      <a:r>
                        <a:rPr lang="en-US" sz="3000">
                          <a:latin typeface="Trebuchet MS"/>
                          <a:ea typeface="Trebuchet MS"/>
                          <a:cs typeface="Trebuchet MS"/>
                          <a:sym typeface="Trebuchet MS"/>
                        </a:rPr>
                        <a:t>48.02</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rtl="0">
                        <a:spcBef>
                          <a:spcPts val="0"/>
                        </a:spcBef>
                        <a:buNone/>
                      </a:pPr>
                      <a:r>
                        <a:rPr lang="en-US" sz="3000">
                          <a:latin typeface="Trebuchet MS"/>
                          <a:ea typeface="Trebuchet MS"/>
                          <a:cs typeface="Trebuchet MS"/>
                          <a:sym typeface="Trebuchet MS"/>
                        </a:rPr>
                        <a:t>8.7</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rtl="0">
                        <a:spcBef>
                          <a:spcPts val="0"/>
                        </a:spcBef>
                        <a:buNone/>
                      </a:pPr>
                      <a:r>
                        <a:rPr lang="en-US" sz="3000">
                          <a:latin typeface="Trebuchet MS"/>
                          <a:ea typeface="Trebuchet MS"/>
                          <a:cs typeface="Trebuchet MS"/>
                          <a:sym typeface="Trebuchet MS"/>
                        </a:rPr>
                        <a:t>1.8</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rtl="0">
                        <a:spcBef>
                          <a:spcPts val="0"/>
                        </a:spcBef>
                        <a:buNone/>
                      </a:pPr>
                      <a:r>
                        <a:rPr lang="en-US" sz="3000">
                          <a:latin typeface="Trebuchet MS"/>
                          <a:ea typeface="Trebuchet MS"/>
                          <a:cs typeface="Trebuchet MS"/>
                          <a:sym typeface="Trebuchet MS"/>
                        </a:rPr>
                        <a:t>46.99</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a:spcBef>
                          <a:spcPts val="0"/>
                        </a:spcBef>
                        <a:buNone/>
                      </a:pPr>
                      <a:r>
                        <a:rPr lang="en-US" sz="3000">
                          <a:latin typeface="Trebuchet MS"/>
                          <a:ea typeface="Trebuchet MS"/>
                          <a:cs typeface="Trebuchet MS"/>
                          <a:sym typeface="Trebuchet MS"/>
                        </a:rPr>
                        <a:t>9.78</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a:spcBef>
                          <a:spcPts val="0"/>
                        </a:spcBef>
                        <a:buNone/>
                      </a:pPr>
                      <a:r>
                        <a:rPr lang="en-US" sz="3000">
                          <a:latin typeface="Trebuchet MS"/>
                          <a:ea typeface="Trebuchet MS"/>
                          <a:cs typeface="Trebuchet MS"/>
                          <a:sym typeface="Trebuchet MS"/>
                        </a:rPr>
                        <a:t>1.42</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r>
              <a:tr h="381000">
                <a:tc>
                  <a:txBody>
                    <a:bodyPr/>
                    <a:lstStyle/>
                    <a:p>
                      <a:pPr lvl="0" algn="ctr" rtl="0">
                        <a:spcBef>
                          <a:spcPts val="0"/>
                        </a:spcBef>
                        <a:buNone/>
                      </a:pPr>
                      <a:r>
                        <a:rPr lang="en-US" sz="2800" b="1">
                          <a:solidFill>
                            <a:srgbClr val="141F22"/>
                          </a:solidFill>
                          <a:latin typeface="Trebuchet MS"/>
                          <a:ea typeface="Trebuchet MS"/>
                          <a:cs typeface="Trebuchet MS"/>
                          <a:sym typeface="Trebuchet MS"/>
                        </a:rPr>
                        <a:t>Maximum # of times (out of 100) any one row exactly matched an original row</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solidFill>
                      <a:srgbClr val="D9D9D9"/>
                    </a:solidFill>
                  </a:tcPr>
                </a:tc>
                <a:tc>
                  <a:txBody>
                    <a:bodyPr/>
                    <a:lstStyle/>
                    <a:p>
                      <a:pPr lvl="0" algn="ctr" rtl="0">
                        <a:spcBef>
                          <a:spcPts val="0"/>
                        </a:spcBef>
                        <a:buNone/>
                      </a:pPr>
                      <a:r>
                        <a:rPr lang="en-US" sz="3000">
                          <a:solidFill>
                            <a:srgbClr val="141F22"/>
                          </a:solidFill>
                          <a:latin typeface="Trebuchet MS"/>
                          <a:ea typeface="Trebuchet MS"/>
                          <a:cs typeface="Trebuchet MS"/>
                          <a:sym typeface="Trebuchet MS"/>
                        </a:rPr>
                        <a:t>32</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rtl="0">
                        <a:spcBef>
                          <a:spcPts val="0"/>
                        </a:spcBef>
                        <a:buNone/>
                      </a:pPr>
                      <a:r>
                        <a:rPr lang="en-US" sz="3000">
                          <a:solidFill>
                            <a:srgbClr val="141F22"/>
                          </a:solidFill>
                          <a:latin typeface="Trebuchet MS"/>
                          <a:ea typeface="Trebuchet MS"/>
                          <a:cs typeface="Trebuchet MS"/>
                          <a:sym typeface="Trebuchet MS"/>
                        </a:rPr>
                        <a:t>14</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rtl="0">
                        <a:spcBef>
                          <a:spcPts val="0"/>
                        </a:spcBef>
                        <a:buNone/>
                      </a:pPr>
                      <a:r>
                        <a:rPr lang="en-US" sz="3000">
                          <a:solidFill>
                            <a:srgbClr val="141F22"/>
                          </a:solidFill>
                          <a:latin typeface="Trebuchet MS"/>
                          <a:ea typeface="Trebuchet MS"/>
                          <a:cs typeface="Trebuchet MS"/>
                          <a:sym typeface="Trebuchet MS"/>
                        </a:rPr>
                        <a:t>4</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rtl="0">
                        <a:spcBef>
                          <a:spcPts val="0"/>
                        </a:spcBef>
                        <a:buNone/>
                      </a:pPr>
                      <a:r>
                        <a:rPr lang="en-US" sz="3000">
                          <a:solidFill>
                            <a:srgbClr val="141F22"/>
                          </a:solidFill>
                          <a:latin typeface="Trebuchet MS"/>
                          <a:ea typeface="Trebuchet MS"/>
                          <a:cs typeface="Trebuchet MS"/>
                          <a:sym typeface="Trebuchet MS"/>
                        </a:rPr>
                        <a:t>12</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a:spcBef>
                          <a:spcPts val="0"/>
                        </a:spcBef>
                        <a:buNone/>
                      </a:pPr>
                      <a:r>
                        <a:rPr lang="en-US" sz="3000">
                          <a:latin typeface="Trebuchet MS"/>
                          <a:ea typeface="Trebuchet MS"/>
                          <a:cs typeface="Trebuchet MS"/>
                          <a:sym typeface="Trebuchet MS"/>
                        </a:rPr>
                        <a:t>11</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c>
                  <a:txBody>
                    <a:bodyPr/>
                    <a:lstStyle/>
                    <a:p>
                      <a:pPr lvl="0" algn="ctr">
                        <a:spcBef>
                          <a:spcPts val="0"/>
                        </a:spcBef>
                        <a:buNone/>
                      </a:pPr>
                      <a:r>
                        <a:rPr lang="en-US" sz="3000">
                          <a:latin typeface="Trebuchet MS"/>
                          <a:ea typeface="Trebuchet MS"/>
                          <a:cs typeface="Trebuchet MS"/>
                          <a:sym typeface="Trebuchet MS"/>
                        </a:rPr>
                        <a:t>5</a:t>
                      </a:r>
                    </a:p>
                  </a:txBody>
                  <a:tcPr marL="91425" marR="91425" marT="91425" marB="91425">
                    <a:lnL w="19050" cap="flat" cmpd="sng">
                      <a:solidFill>
                        <a:schemeClr val="accent5"/>
                      </a:solidFill>
                      <a:prstDash val="solid"/>
                      <a:round/>
                      <a:headEnd type="none" w="med" len="med"/>
                      <a:tailEnd type="none" w="med" len="med"/>
                    </a:lnL>
                    <a:lnR w="19050" cap="flat" cmpd="sng">
                      <a:solidFill>
                        <a:schemeClr val="accent5"/>
                      </a:solidFill>
                      <a:prstDash val="solid"/>
                      <a:round/>
                      <a:headEnd type="none" w="med" len="med"/>
                      <a:tailEnd type="none" w="med" len="med"/>
                    </a:lnR>
                    <a:lnT w="19050" cap="flat" cmpd="sng">
                      <a:solidFill>
                        <a:schemeClr val="accent5"/>
                      </a:solidFill>
                      <a:prstDash val="solid"/>
                      <a:round/>
                      <a:headEnd type="none" w="med" len="med"/>
                      <a:tailEnd type="none" w="med" len="med"/>
                    </a:lnT>
                    <a:lnB w="19050" cap="flat" cmpd="sng">
                      <a:solidFill>
                        <a:schemeClr val="accent5"/>
                      </a:solidFill>
                      <a:prstDash val="solid"/>
                      <a:round/>
                      <a:headEnd type="none" w="med" len="med"/>
                      <a:tailEnd type="none" w="med" len="med"/>
                    </a:lnB>
                  </a:tcPr>
                </a:tc>
              </a:tr>
            </a:tbl>
          </a:graphicData>
        </a:graphic>
      </p:graphicFrame>
      <p:sp>
        <p:nvSpPr>
          <p:cNvPr id="125" name="Shape 125"/>
          <p:cNvSpPr txBox="1"/>
          <p:nvPr/>
        </p:nvSpPr>
        <p:spPr>
          <a:xfrm>
            <a:off x="19029400" y="28946475"/>
            <a:ext cx="16116600" cy="511200"/>
          </a:xfrm>
          <a:prstGeom prst="rect">
            <a:avLst/>
          </a:prstGeom>
          <a:noFill/>
          <a:ln>
            <a:noFill/>
          </a:ln>
        </p:spPr>
        <p:txBody>
          <a:bodyPr lIns="91425" tIns="91425" rIns="91425" bIns="91425" anchor="t" anchorCtr="0">
            <a:noAutofit/>
          </a:bodyPr>
          <a:lstStyle/>
          <a:p>
            <a:pPr lvl="0">
              <a:spcBef>
                <a:spcPts val="0"/>
              </a:spcBef>
              <a:buNone/>
            </a:pPr>
            <a:r>
              <a:rPr lang="en-US" sz="3000" b="1">
                <a:latin typeface="Trebuchet MS"/>
                <a:ea typeface="Trebuchet MS"/>
                <a:cs typeface="Trebuchet MS"/>
                <a:sym typeface="Trebuchet MS"/>
              </a:rPr>
              <a:t>Table 1 (below): </a:t>
            </a:r>
            <a:r>
              <a:rPr lang="en-US" sz="3000">
                <a:latin typeface="Trebuchet MS"/>
                <a:ea typeface="Trebuchet MS"/>
                <a:cs typeface="Trebuchet MS"/>
                <a:sym typeface="Trebuchet MS"/>
              </a:rPr>
              <a:t>A comparison of how well each method protects private information</a:t>
            </a:r>
          </a:p>
        </p:txBody>
      </p:sp>
      <p:pic>
        <p:nvPicPr>
          <p:cNvPr id="126" name="Shape 126" descr="final_three_clusters_no_legend.png"/>
          <p:cNvPicPr preferRelativeResize="0"/>
          <p:nvPr/>
        </p:nvPicPr>
        <p:blipFill>
          <a:blip r:embed="rId14">
            <a:alphaModFix/>
          </a:blip>
          <a:stretch>
            <a:fillRect/>
          </a:stretch>
        </p:blipFill>
        <p:spPr>
          <a:xfrm>
            <a:off x="25652076" y="8529049"/>
            <a:ext cx="9704924" cy="5172125"/>
          </a:xfrm>
          <a:prstGeom prst="rect">
            <a:avLst/>
          </a:prstGeom>
          <a:noFill/>
          <a:ln>
            <a:noFill/>
          </a:ln>
        </p:spPr>
      </p:pic>
      <p:sp>
        <p:nvSpPr>
          <p:cNvPr id="127" name="Shape 127"/>
          <p:cNvSpPr txBox="1"/>
          <p:nvPr/>
        </p:nvSpPr>
        <p:spPr>
          <a:xfrm>
            <a:off x="19566700" y="36171275"/>
            <a:ext cx="16026300" cy="2864100"/>
          </a:xfrm>
          <a:prstGeom prst="rect">
            <a:avLst/>
          </a:prstGeom>
          <a:noFill/>
          <a:ln>
            <a:noFill/>
          </a:ln>
        </p:spPr>
        <p:txBody>
          <a:bodyPr lIns="91425" tIns="91425" rIns="91425" bIns="91425" anchor="t" anchorCtr="0">
            <a:noAutofit/>
          </a:bodyPr>
          <a:lstStyle/>
          <a:p>
            <a:pPr lvl="0">
              <a:spcBef>
                <a:spcPts val="0"/>
              </a:spcBef>
              <a:buNone/>
            </a:pPr>
            <a:r>
              <a:rPr lang="en-US" sz="3000" b="1" dirty="0">
                <a:latin typeface="Trebuchet MS"/>
                <a:ea typeface="Trebuchet MS"/>
                <a:cs typeface="Trebuchet MS"/>
                <a:sym typeface="Trebuchet MS"/>
              </a:rPr>
              <a:t>Summary: </a:t>
            </a:r>
            <a:r>
              <a:rPr lang="en-US" sz="3000" dirty="0">
                <a:latin typeface="Trebuchet MS"/>
                <a:ea typeface="Trebuchet MS"/>
                <a:cs typeface="Trebuchet MS"/>
                <a:sym typeface="Trebuchet MS"/>
              </a:rPr>
              <a:t>Different methods will preserve different features of the original data. Based </a:t>
            </a:r>
          </a:p>
          <a:p>
            <a:pPr lvl="0">
              <a:spcBef>
                <a:spcPts val="0"/>
              </a:spcBef>
              <a:buNone/>
            </a:pPr>
            <a:r>
              <a:rPr lang="en-US" sz="3000" dirty="0" smtClean="0">
                <a:latin typeface="Trebuchet MS"/>
                <a:ea typeface="Trebuchet MS"/>
                <a:cs typeface="Trebuchet MS"/>
                <a:sym typeface="Trebuchet MS"/>
              </a:rPr>
              <a:t>on </a:t>
            </a:r>
            <a:r>
              <a:rPr lang="en-US" sz="3000" dirty="0">
                <a:latin typeface="Trebuchet MS"/>
                <a:ea typeface="Trebuchet MS"/>
                <a:cs typeface="Trebuchet MS"/>
                <a:sym typeface="Trebuchet MS"/>
              </a:rPr>
              <a:t>preliminary analysis, proper </a:t>
            </a:r>
            <a:r>
              <a:rPr lang="en-US" sz="3000" dirty="0" err="1">
                <a:latin typeface="Trebuchet MS"/>
                <a:ea typeface="Trebuchet MS"/>
                <a:cs typeface="Trebuchet MS"/>
                <a:sym typeface="Trebuchet MS"/>
              </a:rPr>
              <a:t>ctree</a:t>
            </a:r>
            <a:r>
              <a:rPr lang="en-US" sz="3000" dirty="0">
                <a:latin typeface="Trebuchet MS"/>
                <a:ea typeface="Trebuchet MS"/>
                <a:cs typeface="Trebuchet MS"/>
                <a:sym typeface="Trebuchet MS"/>
              </a:rPr>
              <a:t> is a method that works well.</a:t>
            </a:r>
          </a:p>
          <a:p>
            <a:pPr lvl="0">
              <a:spcBef>
                <a:spcPts val="0"/>
              </a:spcBef>
              <a:buNone/>
            </a:pPr>
            <a:r>
              <a:rPr lang="en-US" sz="3000" b="1" dirty="0">
                <a:latin typeface="Trebuchet MS"/>
                <a:ea typeface="Trebuchet MS"/>
                <a:cs typeface="Trebuchet MS"/>
                <a:sym typeface="Trebuchet MS"/>
              </a:rPr>
              <a:t>For Machine Learning:</a:t>
            </a:r>
            <a:r>
              <a:rPr lang="en-US" sz="3000" dirty="0">
                <a:latin typeface="Trebuchet MS"/>
                <a:ea typeface="Trebuchet MS"/>
                <a:cs typeface="Trebuchet MS"/>
                <a:sym typeface="Trebuchet MS"/>
              </a:rPr>
              <a:t>  Extend the number of clusters and re-examine their demographics.</a:t>
            </a:r>
          </a:p>
          <a:p>
            <a:pPr lvl="0">
              <a:spcBef>
                <a:spcPts val="0"/>
              </a:spcBef>
              <a:buNone/>
            </a:pPr>
            <a:r>
              <a:rPr lang="en-US" sz="3000" b="1" dirty="0">
                <a:latin typeface="Trebuchet MS"/>
                <a:ea typeface="Trebuchet MS"/>
                <a:cs typeface="Trebuchet MS"/>
                <a:sym typeface="Trebuchet MS"/>
              </a:rPr>
              <a:t>For Data Privacy: </a:t>
            </a:r>
            <a:r>
              <a:rPr lang="en-US" sz="3000" dirty="0">
                <a:latin typeface="Trebuchet MS"/>
                <a:ea typeface="Trebuchet MS"/>
                <a:cs typeface="Trebuchet MS"/>
                <a:sym typeface="Trebuchet MS"/>
              </a:rPr>
              <a:t>Evaluate the effectiveness of top and bottom coding for protecting entries with unique attributes, and evaluate whether smoothing is more effective when dealing with numerical variables. Lastly, ensure anonymity for release to public.</a:t>
            </a:r>
          </a:p>
        </p:txBody>
      </p:sp>
      <p:sp>
        <p:nvSpPr>
          <p:cNvPr id="128" name="Shape 128"/>
          <p:cNvSpPr txBox="1"/>
          <p:nvPr/>
        </p:nvSpPr>
        <p:spPr>
          <a:xfrm>
            <a:off x="19029450" y="32972600"/>
            <a:ext cx="16116600" cy="2400300"/>
          </a:xfrm>
          <a:prstGeom prst="rect">
            <a:avLst/>
          </a:prstGeom>
          <a:noFill/>
          <a:ln>
            <a:noFill/>
          </a:ln>
        </p:spPr>
        <p:txBody>
          <a:bodyPr lIns="91425" tIns="91425" rIns="91425" bIns="91425" anchor="t" anchorCtr="0">
            <a:noAutofit/>
          </a:bodyPr>
          <a:lstStyle/>
          <a:p>
            <a:pPr lvl="0">
              <a:spcBef>
                <a:spcPts val="0"/>
              </a:spcBef>
              <a:buNone/>
            </a:pPr>
            <a:r>
              <a:rPr lang="en-US" sz="3000">
                <a:latin typeface="Trebuchet MS"/>
                <a:ea typeface="Trebuchet MS"/>
                <a:cs typeface="Trebuchet MS"/>
                <a:sym typeface="Trebuchet MS"/>
              </a:rPr>
              <a:t>The first row shows the average number of rows that each method exactly copies from the original dataset (the idea is to minimize this number). The second row represents the maximum number of times that any individual row is exactly copied in 100 iterations, which indicates whether the method is specifically more likely to give away the information of individuals with certain characteristics.</a:t>
            </a:r>
          </a:p>
        </p:txBody>
      </p:sp>
      <p:pic>
        <p:nvPicPr>
          <p:cNvPr id="129" name="Shape 129"/>
          <p:cNvPicPr preferRelativeResize="0"/>
          <p:nvPr/>
        </p:nvPicPr>
        <p:blipFill>
          <a:blip r:embed="rId15">
            <a:alphaModFix/>
          </a:blip>
          <a:stretch>
            <a:fillRect/>
          </a:stretch>
        </p:blipFill>
        <p:spPr>
          <a:xfrm>
            <a:off x="23240825" y="23675325"/>
            <a:ext cx="11997849" cy="5423125"/>
          </a:xfrm>
          <a:prstGeom prst="rect">
            <a:avLst/>
          </a:prstGeom>
          <a:noFill/>
          <a:ln>
            <a:noFill/>
          </a:ln>
        </p:spPr>
      </p:pic>
      <p:sp>
        <p:nvSpPr>
          <p:cNvPr id="130" name="Shape 130"/>
          <p:cNvSpPr txBox="1"/>
          <p:nvPr/>
        </p:nvSpPr>
        <p:spPr>
          <a:xfrm>
            <a:off x="18330225" y="24383225"/>
            <a:ext cx="4836900" cy="2864100"/>
          </a:xfrm>
          <a:prstGeom prst="rect">
            <a:avLst/>
          </a:prstGeom>
          <a:noFill/>
          <a:ln>
            <a:noFill/>
          </a:ln>
        </p:spPr>
        <p:txBody>
          <a:bodyPr lIns="91425" tIns="91425" rIns="91425" bIns="91425" anchor="t" anchorCtr="0">
            <a:noAutofit/>
          </a:bodyPr>
          <a:lstStyle/>
          <a:p>
            <a:pPr lvl="0">
              <a:spcBef>
                <a:spcPts val="0"/>
              </a:spcBef>
              <a:buClr>
                <a:schemeClr val="dk1"/>
              </a:buClr>
              <a:buSzPct val="36666"/>
              <a:buFont typeface="Arial"/>
              <a:buNone/>
            </a:pPr>
            <a:r>
              <a:rPr lang="en-US" sz="3000" b="1">
                <a:solidFill>
                  <a:schemeClr val="dk1"/>
                </a:solidFill>
                <a:latin typeface="Trebuchet MS"/>
                <a:ea typeface="Trebuchet MS"/>
                <a:cs typeface="Trebuchet MS"/>
                <a:sym typeface="Trebuchet MS"/>
              </a:rPr>
              <a:t>Plot 4 (Right): </a:t>
            </a:r>
            <a:r>
              <a:rPr lang="en-US" sz="3000">
                <a:solidFill>
                  <a:schemeClr val="dk1"/>
                </a:solidFill>
                <a:latin typeface="Trebuchet MS"/>
                <a:ea typeface="Trebuchet MS"/>
                <a:cs typeface="Trebuchet MS"/>
                <a:sym typeface="Trebuchet MS"/>
              </a:rPr>
              <a:t>How many times, in 100 runs, each unique row showed up unchanged in the synthetic data.  In this instance, the Proper Ctree method is used as an example.</a:t>
            </a:r>
          </a:p>
          <a:p>
            <a:pPr lvl="0">
              <a:spcBef>
                <a:spcPts val="0"/>
              </a:spcBef>
              <a:buNone/>
            </a:pPr>
            <a:endParaRPr/>
          </a:p>
        </p:txBody>
      </p:sp>
      <p:pic>
        <p:nvPicPr>
          <p:cNvPr id="131" name="Shape 131" descr="horizontal_cluster_scale.JPG"/>
          <p:cNvPicPr preferRelativeResize="0"/>
          <p:nvPr/>
        </p:nvPicPr>
        <p:blipFill>
          <a:blip r:embed="rId16">
            <a:alphaModFix/>
          </a:blip>
          <a:stretch>
            <a:fillRect/>
          </a:stretch>
        </p:blipFill>
        <p:spPr>
          <a:xfrm>
            <a:off x="29122565" y="13609197"/>
            <a:ext cx="2763935" cy="342649"/>
          </a:xfrm>
          <a:prstGeom prst="rect">
            <a:avLst/>
          </a:prstGeom>
          <a:noFill/>
          <a:ln>
            <a:noFill/>
          </a:ln>
        </p:spPr>
      </p:pic>
      <p:pic>
        <p:nvPicPr>
          <p:cNvPr id="132" name="Shape 132" descr="final_scatterplots_no_legend.png"/>
          <p:cNvPicPr preferRelativeResize="0"/>
          <p:nvPr/>
        </p:nvPicPr>
        <p:blipFill>
          <a:blip r:embed="rId17">
            <a:alphaModFix/>
          </a:blip>
          <a:stretch>
            <a:fillRect/>
          </a:stretch>
        </p:blipFill>
        <p:spPr>
          <a:xfrm>
            <a:off x="25652073" y="14313225"/>
            <a:ext cx="9704825" cy="5172125"/>
          </a:xfrm>
          <a:prstGeom prst="rect">
            <a:avLst/>
          </a:prstGeom>
          <a:noFill/>
          <a:ln>
            <a:noFill/>
          </a:ln>
        </p:spPr>
      </p:pic>
      <p:pic>
        <p:nvPicPr>
          <p:cNvPr id="133" name="Shape 133" descr="scatterplot_scale.JPG"/>
          <p:cNvPicPr preferRelativeResize="0"/>
          <p:nvPr/>
        </p:nvPicPr>
        <p:blipFill>
          <a:blip r:embed="rId18">
            <a:alphaModFix/>
          </a:blip>
          <a:stretch>
            <a:fillRect/>
          </a:stretch>
        </p:blipFill>
        <p:spPr>
          <a:xfrm>
            <a:off x="34342399" y="14254512"/>
            <a:ext cx="601799" cy="1043100"/>
          </a:xfrm>
          <a:prstGeom prst="rect">
            <a:avLst/>
          </a:prstGeom>
          <a:noFill/>
          <a:ln>
            <a:noFill/>
          </a:ln>
        </p:spPr>
      </p:pic>
      <p:sp>
        <p:nvSpPr>
          <p:cNvPr id="134" name="Shape 134"/>
          <p:cNvSpPr txBox="1"/>
          <p:nvPr/>
        </p:nvSpPr>
        <p:spPr>
          <a:xfrm>
            <a:off x="18221325" y="20356637"/>
            <a:ext cx="16456200" cy="511200"/>
          </a:xfrm>
          <a:prstGeom prst="rect">
            <a:avLst/>
          </a:prstGeom>
          <a:noFill/>
          <a:ln>
            <a:noFill/>
          </a:ln>
        </p:spPr>
        <p:txBody>
          <a:bodyPr lIns="91425" tIns="91425" rIns="91425" bIns="91425" anchor="t" anchorCtr="0">
            <a:noAutofit/>
          </a:bodyPr>
          <a:lstStyle/>
          <a:p>
            <a:pPr lvl="0">
              <a:spcBef>
                <a:spcPts val="0"/>
              </a:spcBef>
              <a:buClr>
                <a:schemeClr val="dk1"/>
              </a:buClr>
              <a:buSzPct val="36666"/>
              <a:buFont typeface="Arial"/>
              <a:buNone/>
            </a:pPr>
            <a:r>
              <a:rPr lang="en-US" sz="3000" b="1">
                <a:solidFill>
                  <a:schemeClr val="dk1"/>
                </a:solidFill>
                <a:latin typeface="Trebuchet MS"/>
                <a:ea typeface="Trebuchet MS"/>
                <a:cs typeface="Trebuchet MS"/>
                <a:sym typeface="Trebuchet MS"/>
              </a:rPr>
              <a:t>Goal:</a:t>
            </a:r>
            <a:r>
              <a:rPr lang="en-US" sz="3000">
                <a:solidFill>
                  <a:schemeClr val="dk1"/>
                </a:solidFill>
                <a:latin typeface="Trebuchet MS"/>
                <a:ea typeface="Trebuchet MS"/>
                <a:cs typeface="Trebuchet MS"/>
                <a:sym typeface="Trebuchet MS"/>
              </a:rPr>
              <a:t> Determine how well the synthetic data protects sensitive information.</a:t>
            </a:r>
          </a:p>
        </p:txBody>
      </p:sp>
      <p:sp>
        <p:nvSpPr>
          <p:cNvPr id="135" name="Shape 135"/>
          <p:cNvSpPr txBox="1"/>
          <p:nvPr/>
        </p:nvSpPr>
        <p:spPr>
          <a:xfrm>
            <a:off x="18065175" y="20949525"/>
            <a:ext cx="17080800" cy="663600"/>
          </a:xfrm>
          <a:prstGeom prst="rect">
            <a:avLst/>
          </a:prstGeom>
          <a:noFill/>
          <a:ln>
            <a:noFill/>
          </a:ln>
        </p:spPr>
        <p:txBody>
          <a:bodyPr lIns="91425" tIns="91425" rIns="91425" bIns="91425" anchor="t" anchorCtr="0">
            <a:noAutofit/>
          </a:bodyPr>
          <a:lstStyle/>
          <a:p>
            <a:pPr lvl="0">
              <a:spcBef>
                <a:spcPts val="0"/>
              </a:spcBef>
              <a:buClr>
                <a:schemeClr val="dk1"/>
              </a:buClr>
              <a:buSzPct val="36666"/>
              <a:buFont typeface="Arial"/>
              <a:buNone/>
            </a:pPr>
            <a:r>
              <a:rPr lang="en-US" sz="3000" b="1">
                <a:solidFill>
                  <a:schemeClr val="dk1"/>
                </a:solidFill>
                <a:latin typeface="Trebuchet MS"/>
                <a:ea typeface="Trebuchet MS"/>
                <a:cs typeface="Trebuchet MS"/>
                <a:sym typeface="Trebuchet MS"/>
              </a:rPr>
              <a:t>Method: </a:t>
            </a:r>
            <a:r>
              <a:rPr lang="en-US" sz="3000">
                <a:solidFill>
                  <a:schemeClr val="dk1"/>
                </a:solidFill>
                <a:latin typeface="Trebuchet MS"/>
                <a:ea typeface="Trebuchet MS"/>
                <a:cs typeface="Trebuchet MS"/>
                <a:sym typeface="Trebuchet MS"/>
              </a:rPr>
              <a:t>Use the SDC function in R to detect how many times a row in the synthetic data exactly matches a row in the original data, and determine whether this happens infrequently enough to remove exact-copy rows when they happen. Repeat 100 times to ensure accuracy.</a:t>
            </a:r>
          </a:p>
        </p:txBody>
      </p:sp>
      <p:sp>
        <p:nvSpPr>
          <p:cNvPr id="136" name="Shape 136"/>
          <p:cNvSpPr txBox="1"/>
          <p:nvPr/>
        </p:nvSpPr>
        <p:spPr>
          <a:xfrm>
            <a:off x="18131925" y="22632225"/>
            <a:ext cx="16653000" cy="1043100"/>
          </a:xfrm>
          <a:prstGeom prst="rect">
            <a:avLst/>
          </a:prstGeom>
          <a:noFill/>
          <a:ln>
            <a:noFill/>
          </a:ln>
        </p:spPr>
        <p:txBody>
          <a:bodyPr lIns="91425" tIns="91425" rIns="91425" bIns="91425" anchor="t" anchorCtr="0">
            <a:noAutofit/>
          </a:bodyPr>
          <a:lstStyle/>
          <a:p>
            <a:pPr lvl="0">
              <a:spcBef>
                <a:spcPts val="0"/>
              </a:spcBef>
              <a:buClr>
                <a:schemeClr val="dk1"/>
              </a:buClr>
              <a:buSzPct val="36666"/>
              <a:buFont typeface="Arial"/>
              <a:buNone/>
            </a:pPr>
            <a:r>
              <a:rPr lang="en-US" sz="3000" b="1">
                <a:solidFill>
                  <a:schemeClr val="dk1"/>
                </a:solidFill>
                <a:latin typeface="Trebuchet MS"/>
                <a:ea typeface="Trebuchet MS"/>
                <a:cs typeface="Trebuchet MS"/>
                <a:sym typeface="Trebuchet MS"/>
              </a:rPr>
              <a:t>Plot 3 (Below): </a:t>
            </a:r>
            <a:r>
              <a:rPr lang="en-US" sz="3000">
                <a:solidFill>
                  <a:schemeClr val="dk1"/>
                </a:solidFill>
                <a:latin typeface="Trebuchet MS"/>
                <a:ea typeface="Trebuchet MS"/>
                <a:cs typeface="Trebuchet MS"/>
                <a:sym typeface="Trebuchet MS"/>
              </a:rPr>
              <a:t>How many rows, out of 10,000, showed up unchanged in the synthetic data for each run of syn().  In this instance, the Proper Ctree method is used as an example.</a:t>
            </a:r>
          </a:p>
        </p:txBody>
      </p:sp>
      <p:sp>
        <p:nvSpPr>
          <p:cNvPr id="53" name="Shape 93"/>
          <p:cNvSpPr txBox="1"/>
          <p:nvPr/>
        </p:nvSpPr>
        <p:spPr>
          <a:xfrm>
            <a:off x="11466228" y="2211786"/>
            <a:ext cx="23171099" cy="31701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20000" kern="1200" dirty="0" smtClean="0">
                <a:solidFill>
                  <a:srgbClr val="141F22"/>
                </a:solidFill>
                <a:latin typeface="Blanch Caps" charset="0"/>
                <a:ea typeface="Blanch Caps" charset="0"/>
                <a:cs typeface="Blanch Caps" charset="0"/>
              </a:rPr>
              <a:t>VIRGINIA LONGITUDINAL DATA SYSTEM</a:t>
            </a:r>
            <a:endParaRPr lang="en-US" sz="20000" kern="1200" dirty="0">
              <a:solidFill>
                <a:srgbClr val="141F22"/>
              </a:solidFill>
              <a:latin typeface="Blanch Caps" charset="0"/>
              <a:ea typeface="Blanch Caps" charset="0"/>
              <a:cs typeface="Blanch Caps" charset="0"/>
            </a:endParaRPr>
          </a:p>
        </p:txBody>
      </p:sp>
      <p:pic>
        <p:nvPicPr>
          <p:cNvPr id="2" name="Picture 1"/>
          <p:cNvPicPr>
            <a:picLocks noChangeAspect="1"/>
          </p:cNvPicPr>
          <p:nvPr/>
        </p:nvPicPr>
        <p:blipFill>
          <a:blip r:embed="rId19"/>
          <a:stretch>
            <a:fillRect/>
          </a:stretch>
        </p:blipFill>
        <p:spPr>
          <a:xfrm>
            <a:off x="18404359" y="39259622"/>
            <a:ext cx="2234955" cy="2234955"/>
          </a:xfrm>
          <a:prstGeom prst="rect">
            <a:avLst/>
          </a:prstGeom>
        </p:spPr>
      </p:pic>
      <p:pic>
        <p:nvPicPr>
          <p:cNvPr id="55" name="Picture 54"/>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0956981" y="39582281"/>
            <a:ext cx="3621185" cy="158963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871</Words>
  <Application>Microsoft Macintosh PowerPoint</Application>
  <PresentationFormat>Custom</PresentationFormat>
  <Paragraphs>87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Blanch Caps</vt:lpstr>
      <vt:lpstr>Calibri</vt:lpstr>
      <vt:lpstr>Trebuchet MS</vt:lpstr>
      <vt:lpstr>Arial</vt:lpstr>
      <vt:lpstr>Raleway</vt:lpstr>
      <vt:lpstr>Office Theme</vt:lpstr>
      <vt:lpstr>PowerPoint Presentation</vt:lpstr>
    </vt:vector>
  </TitlesOfParts>
  <LinksUpToDate>false</LinksUpToDate>
  <SharedDoc>false</SharedDoc>
  <HyperlinksChanged>false</HyperlinksChanged>
  <AppVersion>15.0030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Kyle Morgan</dc:creator>
  <cp:lastModifiedBy>xandershanks@yahoo.com</cp:lastModifiedBy>
  <cp:revision>10</cp:revision>
  <dcterms:modified xsi:type="dcterms:W3CDTF">2017-07-21T15:03:40Z</dcterms:modified>
</cp:coreProperties>
</file>