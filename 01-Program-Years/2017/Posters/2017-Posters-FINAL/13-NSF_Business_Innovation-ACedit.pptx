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png" ContentType="image/png"/>
  <Default Extension="jpg" ContentType="image/jpeg"/>
  <Default Extension="emf" ContentType="image/x-emf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</p:sldIdLst>
  <p:sldSz cx="36576000" cy="42062400"/>
  <p:notesSz cx="6858000" cy="9144000"/>
  <p:defaultTextStyle>
    <a:defPPr>
      <a:defRPr lang="en-US"/>
    </a:defPPr>
    <a:lvl1pPr marL="0" algn="l" defTabSz="3774643" rtl="0" eaLnBrk="1" latinLnBrk="0" hangingPunct="1">
      <a:defRPr sz="7430" kern="1200">
        <a:solidFill>
          <a:schemeClr val="tx1"/>
        </a:solidFill>
        <a:latin typeface="+mn-lt"/>
        <a:ea typeface="+mn-ea"/>
        <a:cs typeface="+mn-cs"/>
      </a:defRPr>
    </a:lvl1pPr>
    <a:lvl2pPr marL="1887322" algn="l" defTabSz="3774643" rtl="0" eaLnBrk="1" latinLnBrk="0" hangingPunct="1">
      <a:defRPr sz="7430" kern="1200">
        <a:solidFill>
          <a:schemeClr val="tx1"/>
        </a:solidFill>
        <a:latin typeface="+mn-lt"/>
        <a:ea typeface="+mn-ea"/>
        <a:cs typeface="+mn-cs"/>
      </a:defRPr>
    </a:lvl2pPr>
    <a:lvl3pPr marL="3774643" algn="l" defTabSz="3774643" rtl="0" eaLnBrk="1" latinLnBrk="0" hangingPunct="1">
      <a:defRPr sz="7430" kern="1200">
        <a:solidFill>
          <a:schemeClr val="tx1"/>
        </a:solidFill>
        <a:latin typeface="+mn-lt"/>
        <a:ea typeface="+mn-ea"/>
        <a:cs typeface="+mn-cs"/>
      </a:defRPr>
    </a:lvl3pPr>
    <a:lvl4pPr marL="5661965" algn="l" defTabSz="3774643" rtl="0" eaLnBrk="1" latinLnBrk="0" hangingPunct="1">
      <a:defRPr sz="7430" kern="1200">
        <a:solidFill>
          <a:schemeClr val="tx1"/>
        </a:solidFill>
        <a:latin typeface="+mn-lt"/>
        <a:ea typeface="+mn-ea"/>
        <a:cs typeface="+mn-cs"/>
      </a:defRPr>
    </a:lvl4pPr>
    <a:lvl5pPr marL="7549286" algn="l" defTabSz="3774643" rtl="0" eaLnBrk="1" latinLnBrk="0" hangingPunct="1">
      <a:defRPr sz="7430" kern="1200">
        <a:solidFill>
          <a:schemeClr val="tx1"/>
        </a:solidFill>
        <a:latin typeface="+mn-lt"/>
        <a:ea typeface="+mn-ea"/>
        <a:cs typeface="+mn-cs"/>
      </a:defRPr>
    </a:lvl5pPr>
    <a:lvl6pPr marL="9436608" algn="l" defTabSz="3774643" rtl="0" eaLnBrk="1" latinLnBrk="0" hangingPunct="1">
      <a:defRPr sz="7430" kern="1200">
        <a:solidFill>
          <a:schemeClr val="tx1"/>
        </a:solidFill>
        <a:latin typeface="+mn-lt"/>
        <a:ea typeface="+mn-ea"/>
        <a:cs typeface="+mn-cs"/>
      </a:defRPr>
    </a:lvl6pPr>
    <a:lvl7pPr marL="11323930" algn="l" defTabSz="3774643" rtl="0" eaLnBrk="1" latinLnBrk="0" hangingPunct="1">
      <a:defRPr sz="7430" kern="1200">
        <a:solidFill>
          <a:schemeClr val="tx1"/>
        </a:solidFill>
        <a:latin typeface="+mn-lt"/>
        <a:ea typeface="+mn-ea"/>
        <a:cs typeface="+mn-cs"/>
      </a:defRPr>
    </a:lvl7pPr>
    <a:lvl8pPr marL="13211251" algn="l" defTabSz="3774643" rtl="0" eaLnBrk="1" latinLnBrk="0" hangingPunct="1">
      <a:defRPr sz="7430" kern="1200">
        <a:solidFill>
          <a:schemeClr val="tx1"/>
        </a:solidFill>
        <a:latin typeface="+mn-lt"/>
        <a:ea typeface="+mn-ea"/>
        <a:cs typeface="+mn-cs"/>
      </a:defRPr>
    </a:lvl8pPr>
    <a:lvl9pPr marL="15098573" algn="l" defTabSz="3774643" rtl="0" eaLnBrk="1" latinLnBrk="0" hangingPunct="1">
      <a:defRPr sz="743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3248">
          <p15:clr>
            <a:srgbClr val="A4A3A4"/>
          </p15:clr>
        </p15:guide>
        <p15:guide id="2" pos="1152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clrMru>
    <a:srgbClr val="9BBEEE"/>
    <a:srgbClr val="A2C4C9"/>
    <a:srgbClr val="141F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 horzBarState="maximized">
    <p:restoredLeft sz="6432"/>
    <p:restoredTop sz="96756"/>
  </p:normalViewPr>
  <p:slideViewPr>
    <p:cSldViewPr snapToGrid="0" snapToObjects="1">
      <p:cViewPr>
        <p:scale>
          <a:sx n="36" d="100"/>
          <a:sy n="36" d="100"/>
        </p:scale>
        <p:origin x="3152" y="328"/>
      </p:cViewPr>
      <p:guideLst>
        <p:guide orient="horz" pos="13248"/>
        <p:guide pos="1152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743200" y="6883826"/>
            <a:ext cx="31089600" cy="14643947"/>
          </a:xfrm>
        </p:spPr>
        <p:txBody>
          <a:bodyPr anchor="b"/>
          <a:lstStyle>
            <a:lvl1pPr algn="ctr">
              <a:defRPr sz="24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2000" y="22092500"/>
            <a:ext cx="27432000" cy="10155340"/>
          </a:xfrm>
        </p:spPr>
        <p:txBody>
          <a:bodyPr/>
          <a:lstStyle>
            <a:lvl1pPr marL="0" indent="0" algn="ctr">
              <a:buNone/>
              <a:defRPr sz="9600"/>
            </a:lvl1pPr>
            <a:lvl2pPr marL="1828800" indent="0" algn="ctr">
              <a:buNone/>
              <a:defRPr sz="8000"/>
            </a:lvl2pPr>
            <a:lvl3pPr marL="3657600" indent="0" algn="ctr">
              <a:buNone/>
              <a:defRPr sz="7200"/>
            </a:lvl3pPr>
            <a:lvl4pPr marL="5486400" indent="0" algn="ctr">
              <a:buNone/>
              <a:defRPr sz="6400"/>
            </a:lvl4pPr>
            <a:lvl5pPr marL="7315200" indent="0" algn="ctr">
              <a:buNone/>
              <a:defRPr sz="6400"/>
            </a:lvl5pPr>
            <a:lvl6pPr marL="9144000" indent="0" algn="ctr">
              <a:buNone/>
              <a:defRPr sz="6400"/>
            </a:lvl6pPr>
            <a:lvl7pPr marL="10972800" indent="0" algn="ctr">
              <a:buNone/>
              <a:defRPr sz="6400"/>
            </a:lvl7pPr>
            <a:lvl8pPr marL="12801600" indent="0" algn="ctr">
              <a:buNone/>
              <a:defRPr sz="6400"/>
            </a:lvl8pPr>
            <a:lvl9pPr marL="14630400" indent="0" algn="ctr">
              <a:buNone/>
              <a:defRPr sz="64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4064C1-B353-8145-9E0D-8C1E1A5522AC}" type="datetimeFigureOut">
              <a:rPr lang="en-US" smtClean="0"/>
              <a:t>7/24/17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78CD70-5C8C-C840-A212-0CD80A20E3F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4064C1-B353-8145-9E0D-8C1E1A5522AC}" type="datetimeFigureOut">
              <a:rPr lang="en-US" smtClean="0"/>
              <a:t>7/24/17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78CD70-5C8C-C840-A212-0CD80A20E3F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95552" y="10486402"/>
            <a:ext cx="31546800" cy="17496787"/>
          </a:xfrm>
        </p:spPr>
        <p:txBody>
          <a:bodyPr anchor="b"/>
          <a:lstStyle>
            <a:lvl1pPr>
              <a:defRPr sz="24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95552" y="28148716"/>
            <a:ext cx="31546800" cy="9201147"/>
          </a:xfrm>
        </p:spPr>
        <p:txBody>
          <a:bodyPr/>
          <a:lstStyle>
            <a:lvl1pPr marL="0" indent="0">
              <a:buNone/>
              <a:defRPr sz="9600">
                <a:solidFill>
                  <a:schemeClr val="tx1"/>
                </a:solidFill>
              </a:defRPr>
            </a:lvl1pPr>
            <a:lvl2pPr marL="1828800" indent="0">
              <a:buNone/>
              <a:defRPr sz="8000">
                <a:solidFill>
                  <a:schemeClr val="tx1">
                    <a:tint val="75000"/>
                  </a:schemeClr>
                </a:solidFill>
              </a:defRPr>
            </a:lvl2pPr>
            <a:lvl3pPr marL="3657600" indent="0">
              <a:buNone/>
              <a:defRPr sz="7200">
                <a:solidFill>
                  <a:schemeClr val="tx1">
                    <a:tint val="75000"/>
                  </a:schemeClr>
                </a:solidFill>
              </a:defRPr>
            </a:lvl3pPr>
            <a:lvl4pPr marL="5486400" indent="0">
              <a:buNone/>
              <a:defRPr sz="6400">
                <a:solidFill>
                  <a:schemeClr val="tx1">
                    <a:tint val="75000"/>
                  </a:schemeClr>
                </a:solidFill>
              </a:defRPr>
            </a:lvl4pPr>
            <a:lvl5pPr marL="7315200" indent="0">
              <a:buNone/>
              <a:defRPr sz="6400">
                <a:solidFill>
                  <a:schemeClr val="tx1">
                    <a:tint val="75000"/>
                  </a:schemeClr>
                </a:solidFill>
              </a:defRPr>
            </a:lvl5pPr>
            <a:lvl6pPr marL="9144000" indent="0">
              <a:buNone/>
              <a:defRPr sz="6400">
                <a:solidFill>
                  <a:schemeClr val="tx1">
                    <a:tint val="75000"/>
                  </a:schemeClr>
                </a:solidFill>
              </a:defRPr>
            </a:lvl6pPr>
            <a:lvl7pPr marL="10972800" indent="0">
              <a:buNone/>
              <a:defRPr sz="6400">
                <a:solidFill>
                  <a:schemeClr val="tx1">
                    <a:tint val="75000"/>
                  </a:schemeClr>
                </a:solidFill>
              </a:defRPr>
            </a:lvl7pPr>
            <a:lvl8pPr marL="12801600" indent="0">
              <a:buNone/>
              <a:defRPr sz="6400">
                <a:solidFill>
                  <a:schemeClr val="tx1">
                    <a:tint val="75000"/>
                  </a:schemeClr>
                </a:solidFill>
              </a:defRPr>
            </a:lvl8pPr>
            <a:lvl9pPr marL="14630400" indent="0">
              <a:buNone/>
              <a:defRPr sz="6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4064C1-B353-8145-9E0D-8C1E1A5522AC}" type="datetimeFigureOut">
              <a:rPr lang="en-US" smtClean="0"/>
              <a:t>7/24/17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78CD70-5C8C-C840-A212-0CD80A20E3F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14600" y="11197167"/>
            <a:ext cx="15544800" cy="26688206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8516600" y="11197167"/>
            <a:ext cx="15544800" cy="26688206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4064C1-B353-8145-9E0D-8C1E1A5522AC}" type="datetimeFigureOut">
              <a:rPr lang="en-US" smtClean="0"/>
              <a:t>7/24/17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78CD70-5C8C-C840-A212-0CD80A20E3F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9364" y="2239442"/>
            <a:ext cx="31546800" cy="813012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19368" y="10311133"/>
            <a:ext cx="15473360" cy="5053327"/>
          </a:xfrm>
        </p:spPr>
        <p:txBody>
          <a:bodyPr anchor="b"/>
          <a:lstStyle>
            <a:lvl1pPr marL="0" indent="0">
              <a:buNone/>
              <a:defRPr sz="9600" b="1"/>
            </a:lvl1pPr>
            <a:lvl2pPr marL="1828800" indent="0">
              <a:buNone/>
              <a:defRPr sz="8000" b="1"/>
            </a:lvl2pPr>
            <a:lvl3pPr marL="3657600" indent="0">
              <a:buNone/>
              <a:defRPr sz="7200" b="1"/>
            </a:lvl3pPr>
            <a:lvl4pPr marL="5486400" indent="0">
              <a:buNone/>
              <a:defRPr sz="6400" b="1"/>
            </a:lvl4pPr>
            <a:lvl5pPr marL="7315200" indent="0">
              <a:buNone/>
              <a:defRPr sz="6400" b="1"/>
            </a:lvl5pPr>
            <a:lvl6pPr marL="9144000" indent="0">
              <a:buNone/>
              <a:defRPr sz="6400" b="1"/>
            </a:lvl6pPr>
            <a:lvl7pPr marL="10972800" indent="0">
              <a:buNone/>
              <a:defRPr sz="6400" b="1"/>
            </a:lvl7pPr>
            <a:lvl8pPr marL="12801600" indent="0">
              <a:buNone/>
              <a:defRPr sz="6400" b="1"/>
            </a:lvl8pPr>
            <a:lvl9pPr marL="14630400" indent="0">
              <a:buNone/>
              <a:defRPr sz="64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19368" y="15364460"/>
            <a:ext cx="15473360" cy="22598806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8516602" y="10311133"/>
            <a:ext cx="15549564" cy="5053327"/>
          </a:xfrm>
        </p:spPr>
        <p:txBody>
          <a:bodyPr anchor="b"/>
          <a:lstStyle>
            <a:lvl1pPr marL="0" indent="0">
              <a:buNone/>
              <a:defRPr sz="9600" b="1"/>
            </a:lvl1pPr>
            <a:lvl2pPr marL="1828800" indent="0">
              <a:buNone/>
              <a:defRPr sz="8000" b="1"/>
            </a:lvl2pPr>
            <a:lvl3pPr marL="3657600" indent="0">
              <a:buNone/>
              <a:defRPr sz="7200" b="1"/>
            </a:lvl3pPr>
            <a:lvl4pPr marL="5486400" indent="0">
              <a:buNone/>
              <a:defRPr sz="6400" b="1"/>
            </a:lvl4pPr>
            <a:lvl5pPr marL="7315200" indent="0">
              <a:buNone/>
              <a:defRPr sz="6400" b="1"/>
            </a:lvl5pPr>
            <a:lvl6pPr marL="9144000" indent="0">
              <a:buNone/>
              <a:defRPr sz="6400" b="1"/>
            </a:lvl6pPr>
            <a:lvl7pPr marL="10972800" indent="0">
              <a:buNone/>
              <a:defRPr sz="6400" b="1"/>
            </a:lvl7pPr>
            <a:lvl8pPr marL="12801600" indent="0">
              <a:buNone/>
              <a:defRPr sz="6400" b="1"/>
            </a:lvl8pPr>
            <a:lvl9pPr marL="14630400" indent="0">
              <a:buNone/>
              <a:defRPr sz="64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8516602" y="15364460"/>
            <a:ext cx="15549564" cy="22598806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4064C1-B353-8145-9E0D-8C1E1A5522AC}" type="datetimeFigureOut">
              <a:rPr lang="en-US" smtClean="0"/>
              <a:t>7/24/17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78CD70-5C8C-C840-A212-0CD80A20E3F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4064C1-B353-8145-9E0D-8C1E1A5522AC}" type="datetimeFigureOut">
              <a:rPr lang="en-US" smtClean="0"/>
              <a:t>7/24/17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78CD70-5C8C-C840-A212-0CD80A20E3F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4064C1-B353-8145-9E0D-8C1E1A5522AC}" type="datetimeFigureOut">
              <a:rPr lang="en-US" smtClean="0"/>
              <a:t>7/24/17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78CD70-5C8C-C840-A212-0CD80A20E3F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9364" y="2804160"/>
            <a:ext cx="11796712" cy="9814560"/>
          </a:xfrm>
        </p:spPr>
        <p:txBody>
          <a:bodyPr anchor="b"/>
          <a:lstStyle>
            <a:lvl1pPr>
              <a:defRPr sz="12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549564" y="6056216"/>
            <a:ext cx="18516600" cy="29891567"/>
          </a:xfrm>
        </p:spPr>
        <p:txBody>
          <a:bodyPr/>
          <a:lstStyle>
            <a:lvl1pPr>
              <a:defRPr sz="12800"/>
            </a:lvl1pPr>
            <a:lvl2pPr>
              <a:defRPr sz="11200"/>
            </a:lvl2pPr>
            <a:lvl3pPr>
              <a:defRPr sz="9600"/>
            </a:lvl3pPr>
            <a:lvl4pPr>
              <a:defRPr sz="8000"/>
            </a:lvl4pPr>
            <a:lvl5pPr>
              <a:defRPr sz="8000"/>
            </a:lvl5pPr>
            <a:lvl6pPr>
              <a:defRPr sz="8000"/>
            </a:lvl6pPr>
            <a:lvl7pPr>
              <a:defRPr sz="8000"/>
            </a:lvl7pPr>
            <a:lvl8pPr>
              <a:defRPr sz="8000"/>
            </a:lvl8pPr>
            <a:lvl9pPr>
              <a:defRPr sz="8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19364" y="12618720"/>
            <a:ext cx="11796712" cy="23377740"/>
          </a:xfrm>
        </p:spPr>
        <p:txBody>
          <a:bodyPr/>
          <a:lstStyle>
            <a:lvl1pPr marL="0" indent="0">
              <a:buNone/>
              <a:defRPr sz="6400"/>
            </a:lvl1pPr>
            <a:lvl2pPr marL="1828800" indent="0">
              <a:buNone/>
              <a:defRPr sz="5600"/>
            </a:lvl2pPr>
            <a:lvl3pPr marL="3657600" indent="0">
              <a:buNone/>
              <a:defRPr sz="4800"/>
            </a:lvl3pPr>
            <a:lvl4pPr marL="5486400" indent="0">
              <a:buNone/>
              <a:defRPr sz="4000"/>
            </a:lvl4pPr>
            <a:lvl5pPr marL="7315200" indent="0">
              <a:buNone/>
              <a:defRPr sz="4000"/>
            </a:lvl5pPr>
            <a:lvl6pPr marL="9144000" indent="0">
              <a:buNone/>
              <a:defRPr sz="4000"/>
            </a:lvl6pPr>
            <a:lvl7pPr marL="10972800" indent="0">
              <a:buNone/>
              <a:defRPr sz="4000"/>
            </a:lvl7pPr>
            <a:lvl8pPr marL="12801600" indent="0">
              <a:buNone/>
              <a:defRPr sz="4000"/>
            </a:lvl8pPr>
            <a:lvl9pPr marL="14630400" indent="0">
              <a:buNone/>
              <a:defRPr sz="4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4064C1-B353-8145-9E0D-8C1E1A5522AC}" type="datetimeFigureOut">
              <a:rPr lang="en-US" smtClean="0"/>
              <a:t>7/24/17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78CD70-5C8C-C840-A212-0CD80A20E3F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9364" y="2804160"/>
            <a:ext cx="11796712" cy="9814560"/>
          </a:xfrm>
        </p:spPr>
        <p:txBody>
          <a:bodyPr anchor="b"/>
          <a:lstStyle>
            <a:lvl1pPr>
              <a:defRPr sz="12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549564" y="6056216"/>
            <a:ext cx="18516600" cy="29891567"/>
          </a:xfrm>
        </p:spPr>
        <p:txBody>
          <a:bodyPr anchor="t"/>
          <a:lstStyle>
            <a:lvl1pPr marL="0" indent="0">
              <a:buNone/>
              <a:defRPr sz="12800"/>
            </a:lvl1pPr>
            <a:lvl2pPr marL="1828800" indent="0">
              <a:buNone/>
              <a:defRPr sz="11200"/>
            </a:lvl2pPr>
            <a:lvl3pPr marL="3657600" indent="0">
              <a:buNone/>
              <a:defRPr sz="9600"/>
            </a:lvl3pPr>
            <a:lvl4pPr marL="5486400" indent="0">
              <a:buNone/>
              <a:defRPr sz="8000"/>
            </a:lvl4pPr>
            <a:lvl5pPr marL="7315200" indent="0">
              <a:buNone/>
              <a:defRPr sz="8000"/>
            </a:lvl5pPr>
            <a:lvl6pPr marL="9144000" indent="0">
              <a:buNone/>
              <a:defRPr sz="8000"/>
            </a:lvl6pPr>
            <a:lvl7pPr marL="10972800" indent="0">
              <a:buNone/>
              <a:defRPr sz="8000"/>
            </a:lvl7pPr>
            <a:lvl8pPr marL="12801600" indent="0">
              <a:buNone/>
              <a:defRPr sz="8000"/>
            </a:lvl8pPr>
            <a:lvl9pPr marL="14630400" indent="0">
              <a:buNone/>
              <a:defRPr sz="8000"/>
            </a:lvl9pPr>
          </a:lstStyle>
          <a:p>
            <a:r>
              <a:rPr lang="en-US" smtClean="0"/>
              <a:t>Drag picture to placeholder or click icon to add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19364" y="12618720"/>
            <a:ext cx="11796712" cy="23377740"/>
          </a:xfrm>
        </p:spPr>
        <p:txBody>
          <a:bodyPr/>
          <a:lstStyle>
            <a:lvl1pPr marL="0" indent="0">
              <a:buNone/>
              <a:defRPr sz="6400"/>
            </a:lvl1pPr>
            <a:lvl2pPr marL="1828800" indent="0">
              <a:buNone/>
              <a:defRPr sz="5600"/>
            </a:lvl2pPr>
            <a:lvl3pPr marL="3657600" indent="0">
              <a:buNone/>
              <a:defRPr sz="4800"/>
            </a:lvl3pPr>
            <a:lvl4pPr marL="5486400" indent="0">
              <a:buNone/>
              <a:defRPr sz="4000"/>
            </a:lvl4pPr>
            <a:lvl5pPr marL="7315200" indent="0">
              <a:buNone/>
              <a:defRPr sz="4000"/>
            </a:lvl5pPr>
            <a:lvl6pPr marL="9144000" indent="0">
              <a:buNone/>
              <a:defRPr sz="4000"/>
            </a:lvl6pPr>
            <a:lvl7pPr marL="10972800" indent="0">
              <a:buNone/>
              <a:defRPr sz="4000"/>
            </a:lvl7pPr>
            <a:lvl8pPr marL="12801600" indent="0">
              <a:buNone/>
              <a:defRPr sz="4000"/>
            </a:lvl8pPr>
            <a:lvl9pPr marL="14630400" indent="0">
              <a:buNone/>
              <a:defRPr sz="4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4064C1-B353-8145-9E0D-8C1E1A5522AC}" type="datetimeFigureOut">
              <a:rPr lang="en-US" smtClean="0"/>
              <a:t>7/24/17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78CD70-5C8C-C840-A212-0CD80A20E3F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4064C1-B353-8145-9E0D-8C1E1A5522AC}" type="datetimeFigureOut">
              <a:rPr lang="en-US" smtClean="0"/>
              <a:t>7/24/17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78CD70-5C8C-C840-A212-0CD80A20E3F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6174702" y="2239433"/>
            <a:ext cx="7886700" cy="3564594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14602" y="2239433"/>
            <a:ext cx="23202900" cy="3564594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4064C1-B353-8145-9E0D-8C1E1A5522AC}" type="datetimeFigureOut">
              <a:rPr lang="en-US" smtClean="0"/>
              <a:t>7/24/17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78CD70-5C8C-C840-A212-0CD80A20E3F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6576000" cy="4206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13706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14600" y="2239442"/>
            <a:ext cx="31546800" cy="81301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14600" y="11197167"/>
            <a:ext cx="31546800" cy="266882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514600" y="38985623"/>
            <a:ext cx="8229600" cy="22394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4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4064C1-B353-8145-9E0D-8C1E1A5522AC}" type="datetimeFigureOut">
              <a:rPr lang="en-US" smtClean="0"/>
              <a:t>7/24/17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115800" y="38985623"/>
            <a:ext cx="12344400" cy="22394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4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5831800" y="38985623"/>
            <a:ext cx="8229600" cy="22394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4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78CD70-5C8C-C840-A212-0CD80A20E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15543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3657600" rtl="0" eaLnBrk="1" latinLnBrk="0" hangingPunct="1">
        <a:lnSpc>
          <a:spcPct val="90000"/>
        </a:lnSpc>
        <a:spcBef>
          <a:spcPct val="0"/>
        </a:spcBef>
        <a:buNone/>
        <a:defRPr sz="17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914400" indent="-914400" algn="l" defTabSz="3657600" rtl="0" eaLnBrk="1" latinLnBrk="0" hangingPunct="1">
        <a:lnSpc>
          <a:spcPct val="90000"/>
        </a:lnSpc>
        <a:spcBef>
          <a:spcPts val="4000"/>
        </a:spcBef>
        <a:buFont typeface="Arial" panose="020B0604020202020204" pitchFamily="34" charset="0"/>
        <a:buChar char="•"/>
        <a:defRPr sz="11200" kern="1200">
          <a:solidFill>
            <a:schemeClr val="tx1"/>
          </a:solidFill>
          <a:latin typeface="+mn-lt"/>
          <a:ea typeface="+mn-ea"/>
          <a:cs typeface="+mn-cs"/>
        </a:defRPr>
      </a:lvl1pPr>
      <a:lvl2pPr marL="2743200" indent="-914400" algn="l" defTabSz="3657600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960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0" indent="-914400" algn="l" defTabSz="3657600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8000" kern="1200">
          <a:solidFill>
            <a:schemeClr val="tx1"/>
          </a:solidFill>
          <a:latin typeface="+mn-lt"/>
          <a:ea typeface="+mn-ea"/>
          <a:cs typeface="+mn-cs"/>
        </a:defRPr>
      </a:lvl3pPr>
      <a:lvl4pPr marL="6400800" indent="-914400" algn="l" defTabSz="3657600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7200" kern="1200">
          <a:solidFill>
            <a:schemeClr val="tx1"/>
          </a:solidFill>
          <a:latin typeface="+mn-lt"/>
          <a:ea typeface="+mn-ea"/>
          <a:cs typeface="+mn-cs"/>
        </a:defRPr>
      </a:lvl4pPr>
      <a:lvl5pPr marL="8229600" indent="-914400" algn="l" defTabSz="3657600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7200" kern="1200">
          <a:solidFill>
            <a:schemeClr val="tx1"/>
          </a:solidFill>
          <a:latin typeface="+mn-lt"/>
          <a:ea typeface="+mn-ea"/>
          <a:cs typeface="+mn-cs"/>
        </a:defRPr>
      </a:lvl5pPr>
      <a:lvl6pPr marL="10058400" indent="-914400" algn="l" defTabSz="3657600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7200" kern="1200">
          <a:solidFill>
            <a:schemeClr val="tx1"/>
          </a:solidFill>
          <a:latin typeface="+mn-lt"/>
          <a:ea typeface="+mn-ea"/>
          <a:cs typeface="+mn-cs"/>
        </a:defRPr>
      </a:lvl6pPr>
      <a:lvl7pPr marL="11887200" indent="-914400" algn="l" defTabSz="3657600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7200" kern="1200">
          <a:solidFill>
            <a:schemeClr val="tx1"/>
          </a:solidFill>
          <a:latin typeface="+mn-lt"/>
          <a:ea typeface="+mn-ea"/>
          <a:cs typeface="+mn-cs"/>
        </a:defRPr>
      </a:lvl7pPr>
      <a:lvl8pPr marL="13716000" indent="-914400" algn="l" defTabSz="3657600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7200" kern="1200">
          <a:solidFill>
            <a:schemeClr val="tx1"/>
          </a:solidFill>
          <a:latin typeface="+mn-lt"/>
          <a:ea typeface="+mn-ea"/>
          <a:cs typeface="+mn-cs"/>
        </a:defRPr>
      </a:lvl8pPr>
      <a:lvl9pPr marL="15544800" indent="-914400" algn="l" defTabSz="3657600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7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657600" rtl="0" eaLnBrk="1" latinLnBrk="0" hangingPunct="1">
        <a:defRPr sz="7200" kern="1200">
          <a:solidFill>
            <a:schemeClr val="tx1"/>
          </a:solidFill>
          <a:latin typeface="+mn-lt"/>
          <a:ea typeface="+mn-ea"/>
          <a:cs typeface="+mn-cs"/>
        </a:defRPr>
      </a:lvl1pPr>
      <a:lvl2pPr marL="1828800" algn="l" defTabSz="3657600" rtl="0" eaLnBrk="1" latinLnBrk="0" hangingPunct="1">
        <a:defRPr sz="7200" kern="1200">
          <a:solidFill>
            <a:schemeClr val="tx1"/>
          </a:solidFill>
          <a:latin typeface="+mn-lt"/>
          <a:ea typeface="+mn-ea"/>
          <a:cs typeface="+mn-cs"/>
        </a:defRPr>
      </a:lvl2pPr>
      <a:lvl3pPr marL="3657600" algn="l" defTabSz="3657600" rtl="0" eaLnBrk="1" latinLnBrk="0" hangingPunct="1">
        <a:defRPr sz="7200" kern="1200">
          <a:solidFill>
            <a:schemeClr val="tx1"/>
          </a:solidFill>
          <a:latin typeface="+mn-lt"/>
          <a:ea typeface="+mn-ea"/>
          <a:cs typeface="+mn-cs"/>
        </a:defRPr>
      </a:lvl3pPr>
      <a:lvl4pPr marL="5486400" algn="l" defTabSz="3657600" rtl="0" eaLnBrk="1" latinLnBrk="0" hangingPunct="1">
        <a:defRPr sz="7200" kern="1200">
          <a:solidFill>
            <a:schemeClr val="tx1"/>
          </a:solidFill>
          <a:latin typeface="+mn-lt"/>
          <a:ea typeface="+mn-ea"/>
          <a:cs typeface="+mn-cs"/>
        </a:defRPr>
      </a:lvl4pPr>
      <a:lvl5pPr marL="7315200" algn="l" defTabSz="3657600" rtl="0" eaLnBrk="1" latinLnBrk="0" hangingPunct="1">
        <a:defRPr sz="72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0" algn="l" defTabSz="3657600" rtl="0" eaLnBrk="1" latinLnBrk="0" hangingPunct="1">
        <a:defRPr sz="7200" kern="1200">
          <a:solidFill>
            <a:schemeClr val="tx1"/>
          </a:solidFill>
          <a:latin typeface="+mn-lt"/>
          <a:ea typeface="+mn-ea"/>
          <a:cs typeface="+mn-cs"/>
        </a:defRPr>
      </a:lvl6pPr>
      <a:lvl7pPr marL="10972800" algn="l" defTabSz="3657600" rtl="0" eaLnBrk="1" latinLnBrk="0" hangingPunct="1">
        <a:defRPr sz="7200" kern="1200">
          <a:solidFill>
            <a:schemeClr val="tx1"/>
          </a:solidFill>
          <a:latin typeface="+mn-lt"/>
          <a:ea typeface="+mn-ea"/>
          <a:cs typeface="+mn-cs"/>
        </a:defRPr>
      </a:lvl7pPr>
      <a:lvl8pPr marL="12801600" algn="l" defTabSz="3657600" rtl="0" eaLnBrk="1" latinLnBrk="0" hangingPunct="1">
        <a:defRPr sz="7200" kern="1200">
          <a:solidFill>
            <a:schemeClr val="tx1"/>
          </a:solidFill>
          <a:latin typeface="+mn-lt"/>
          <a:ea typeface="+mn-ea"/>
          <a:cs typeface="+mn-cs"/>
        </a:defRPr>
      </a:lvl8pPr>
      <a:lvl9pPr marL="14630400" algn="l" defTabSz="3657600" rtl="0" eaLnBrk="1" latinLnBrk="0" hangingPunct="1">
        <a:defRPr sz="72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1" Type="http://schemas.openxmlformats.org/officeDocument/2006/relationships/image" Target="../media/image11.png"/><Relationship Id="rId12" Type="http://schemas.openxmlformats.org/officeDocument/2006/relationships/image" Target="../media/image12.png"/><Relationship Id="rId13" Type="http://schemas.openxmlformats.org/officeDocument/2006/relationships/image" Target="../media/image13.png"/><Relationship Id="rId14" Type="http://schemas.openxmlformats.org/officeDocument/2006/relationships/image" Target="../media/image14.jpg"/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2.emf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image" Target="../media/image8.png"/><Relationship Id="rId9" Type="http://schemas.openxmlformats.org/officeDocument/2006/relationships/image" Target="../media/image9.png"/><Relationship Id="rId10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Shape 89"/>
          <p:cNvSpPr/>
          <p:nvPr/>
        </p:nvSpPr>
        <p:spPr>
          <a:xfrm rot="10800000" flipH="1">
            <a:off x="16387621" y="14248364"/>
            <a:ext cx="4394190" cy="11160251"/>
          </a:xfrm>
          <a:prstGeom prst="triangle">
            <a:avLst>
              <a:gd name="adj" fmla="val 50042"/>
            </a:avLst>
          </a:prstGeom>
          <a:solidFill>
            <a:srgbClr val="FFD966"/>
          </a:solidFill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 dirty="0"/>
          </a:p>
        </p:txBody>
      </p:sp>
      <p:sp>
        <p:nvSpPr>
          <p:cNvPr id="70" name="Shape 93"/>
          <p:cNvSpPr/>
          <p:nvPr/>
        </p:nvSpPr>
        <p:spPr>
          <a:xfrm rot="6592297">
            <a:off x="17843613" y="19775539"/>
            <a:ext cx="6751939" cy="5060175"/>
          </a:xfrm>
          <a:prstGeom prst="chevron">
            <a:avLst>
              <a:gd name="adj" fmla="val 50000"/>
            </a:avLst>
          </a:prstGeom>
          <a:solidFill>
            <a:srgbClr val="A2C4C9"/>
          </a:solidFill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endParaRPr sz="36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69" name="Shape 93"/>
          <p:cNvSpPr/>
          <p:nvPr/>
        </p:nvSpPr>
        <p:spPr>
          <a:xfrm rot="6592297">
            <a:off x="19343321" y="15637268"/>
            <a:ext cx="6751939" cy="5060175"/>
          </a:xfrm>
          <a:prstGeom prst="chevron">
            <a:avLst>
              <a:gd name="adj" fmla="val 50000"/>
            </a:avLst>
          </a:prstGeom>
          <a:solidFill>
            <a:srgbClr val="A2C4C9"/>
          </a:solidFill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endParaRPr sz="36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027" name="Pentagon 1026"/>
          <p:cNvSpPr/>
          <p:nvPr/>
        </p:nvSpPr>
        <p:spPr>
          <a:xfrm rot="5400000">
            <a:off x="17265685" y="22472871"/>
            <a:ext cx="2813346" cy="9307668"/>
          </a:xfrm>
          <a:prstGeom prst="homePlate">
            <a:avLst>
              <a:gd name="adj" fmla="val 47350"/>
            </a:avLst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4" name="Pentagon 1023"/>
          <p:cNvSpPr/>
          <p:nvPr/>
        </p:nvSpPr>
        <p:spPr>
          <a:xfrm rot="10800000">
            <a:off x="23463968" y="24325486"/>
            <a:ext cx="11679098" cy="3956460"/>
          </a:xfrm>
          <a:prstGeom prst="homePlate">
            <a:avLst/>
          </a:prstGeom>
          <a:solidFill>
            <a:schemeClr val="accent6">
              <a:lumMod val="40000"/>
              <a:lumOff val="60000"/>
            </a:schemeClr>
          </a:solidFill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endParaRPr lang="en-US" sz="3600">
              <a:solidFill>
                <a:schemeClr val="tx1"/>
              </a:solidFill>
              <a:latin typeface="Trebuchet MS"/>
              <a:ea typeface="Trebuchet MS"/>
              <a:cs typeface="Trebuchet MS"/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368" y="10745130"/>
            <a:ext cx="34233346" cy="197786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448287" y="658368"/>
            <a:ext cx="29575021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0" dirty="0">
                <a:solidFill>
                  <a:srgbClr val="141F22"/>
                </a:solidFill>
                <a:latin typeface="Blanch Caps" charset="0"/>
                <a:ea typeface="Blanch Caps" charset="0"/>
                <a:cs typeface="Blanch Caps" charset="0"/>
              </a:rPr>
              <a:t>Discovering NON-TRADITIONAL </a:t>
            </a:r>
            <a:r>
              <a:rPr lang="en-US" sz="20000" dirty="0" smtClean="0">
                <a:solidFill>
                  <a:srgbClr val="141F22"/>
                </a:solidFill>
                <a:latin typeface="Blanch Caps" charset="0"/>
                <a:ea typeface="Blanch Caps" charset="0"/>
                <a:cs typeface="Blanch Caps" charset="0"/>
              </a:rPr>
              <a:t>DATA</a:t>
            </a:r>
            <a:endParaRPr lang="en-US" sz="20000" b="0" i="0" dirty="0">
              <a:solidFill>
                <a:srgbClr val="141F22"/>
              </a:solidFill>
              <a:latin typeface="Blanch Caps" charset="0"/>
              <a:ea typeface="Blanch Caps" charset="0"/>
              <a:cs typeface="Blanch Caps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461954" y="2237491"/>
            <a:ext cx="23672985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0" b="0" i="0" dirty="0" smtClean="0">
                <a:solidFill>
                  <a:srgbClr val="141F22"/>
                </a:solidFill>
                <a:latin typeface="Blanch Caps" charset="0"/>
                <a:ea typeface="Blanch Caps" charset="0"/>
                <a:cs typeface="Blanch Caps" charset="0"/>
              </a:rPr>
              <a:t>SOURCES FOR Business innovation </a:t>
            </a:r>
            <a:endParaRPr lang="en-US" sz="20000" b="0" i="0" dirty="0">
              <a:solidFill>
                <a:srgbClr val="141F22"/>
              </a:solidFill>
              <a:latin typeface="Blanch Caps" charset="0"/>
              <a:ea typeface="Blanch Caps" charset="0"/>
              <a:cs typeface="Blanch Caps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855641" y="6920241"/>
            <a:ext cx="1236268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 smtClean="0">
                <a:solidFill>
                  <a:srgbClr val="141F22"/>
                </a:solidFill>
                <a:latin typeface="Raleway" charset="0"/>
                <a:ea typeface="Raleway" charset="0"/>
                <a:cs typeface="Raleway" charset="0"/>
              </a:rPr>
              <a:t>Project Description</a:t>
            </a:r>
            <a:endParaRPr lang="en-US" sz="4800" b="0" i="0" dirty="0">
              <a:solidFill>
                <a:srgbClr val="141F22"/>
              </a:solidFill>
              <a:latin typeface="Raleway" charset="0"/>
              <a:ea typeface="Raleway" charset="0"/>
              <a:cs typeface="Raleway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5153269" y="13352501"/>
            <a:ext cx="737754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 smtClean="0">
                <a:solidFill>
                  <a:srgbClr val="141F22"/>
                </a:solidFill>
                <a:latin typeface="Raleway" charset="0"/>
                <a:ea typeface="Raleway" charset="0"/>
                <a:cs typeface="Raleway" charset="0"/>
              </a:rPr>
              <a:t>Data Discovery Process</a:t>
            </a:r>
            <a:endParaRPr lang="en-US" sz="4800" b="1" i="0" dirty="0">
              <a:solidFill>
                <a:srgbClr val="141F22"/>
              </a:solidFill>
              <a:latin typeface="Raleway" charset="0"/>
              <a:ea typeface="Raleway" charset="0"/>
              <a:cs typeface="Raleway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922393" y="7924845"/>
            <a:ext cx="32041036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Arial" charset="0"/>
              <a:buChar char="•"/>
            </a:pPr>
            <a:r>
              <a:rPr lang="en-US" sz="3000" dirty="0" smtClean="0">
                <a:solidFill>
                  <a:srgbClr val="141F22"/>
                </a:solidFill>
                <a:latin typeface="Trebuchet MS" charset="0"/>
                <a:ea typeface="Trebuchet MS" charset="0"/>
                <a:cs typeface="Trebuchet MS" charset="0"/>
              </a:rPr>
              <a:t>The National </a:t>
            </a:r>
            <a:r>
              <a:rPr lang="en-US" sz="3000" dirty="0">
                <a:solidFill>
                  <a:srgbClr val="141F22"/>
                </a:solidFill>
                <a:latin typeface="Trebuchet MS" charset="0"/>
                <a:ea typeface="Trebuchet MS" charset="0"/>
                <a:cs typeface="Trebuchet MS" charset="0"/>
              </a:rPr>
              <a:t>Center </a:t>
            </a:r>
            <a:r>
              <a:rPr lang="en-US" sz="3000" dirty="0" smtClean="0">
                <a:solidFill>
                  <a:srgbClr val="141F22"/>
                </a:solidFill>
                <a:latin typeface="Trebuchet MS" charset="0"/>
                <a:ea typeface="Trebuchet MS" charset="0"/>
                <a:cs typeface="Trebuchet MS" charset="0"/>
              </a:rPr>
              <a:t>for </a:t>
            </a:r>
            <a:r>
              <a:rPr lang="en-US" sz="3000" dirty="0">
                <a:solidFill>
                  <a:srgbClr val="141F22"/>
                </a:solidFill>
                <a:latin typeface="Trebuchet MS" charset="0"/>
                <a:ea typeface="Trebuchet MS" charset="0"/>
                <a:cs typeface="Trebuchet MS" charset="0"/>
              </a:rPr>
              <a:t>Science &amp;</a:t>
            </a:r>
            <a:r>
              <a:rPr lang="en-US" sz="3000" dirty="0" smtClean="0">
                <a:solidFill>
                  <a:srgbClr val="141F22"/>
                </a:solidFill>
                <a:latin typeface="Trebuchet MS" charset="0"/>
                <a:ea typeface="Trebuchet MS" charset="0"/>
                <a:cs typeface="Trebuchet MS" charset="0"/>
              </a:rPr>
              <a:t> </a:t>
            </a:r>
            <a:r>
              <a:rPr lang="en-US" sz="3000" dirty="0">
                <a:solidFill>
                  <a:srgbClr val="141F22"/>
                </a:solidFill>
                <a:latin typeface="Trebuchet MS" charset="0"/>
                <a:ea typeface="Trebuchet MS" charset="0"/>
                <a:cs typeface="Trebuchet MS" charset="0"/>
              </a:rPr>
              <a:t>Engineering </a:t>
            </a:r>
            <a:r>
              <a:rPr lang="en-US" sz="3000" dirty="0" smtClean="0">
                <a:solidFill>
                  <a:srgbClr val="141F22"/>
                </a:solidFill>
                <a:latin typeface="Trebuchet MS" charset="0"/>
                <a:ea typeface="Trebuchet MS" charset="0"/>
                <a:cs typeface="Trebuchet MS" charset="0"/>
              </a:rPr>
              <a:t>Statistics at NSF traditionally </a:t>
            </a:r>
            <a:r>
              <a:rPr lang="en-US" sz="3000" dirty="0">
                <a:solidFill>
                  <a:srgbClr val="141F22"/>
                </a:solidFill>
                <a:latin typeface="Trebuchet MS" charset="0"/>
                <a:ea typeface="Trebuchet MS" charset="0"/>
                <a:cs typeface="Trebuchet MS" charset="0"/>
              </a:rPr>
              <a:t>measures innovation through </a:t>
            </a:r>
            <a:r>
              <a:rPr lang="en-US" sz="3000" dirty="0" smtClean="0">
                <a:solidFill>
                  <a:srgbClr val="141F22"/>
                </a:solidFill>
                <a:latin typeface="Trebuchet MS" charset="0"/>
                <a:ea typeface="Trebuchet MS" charset="0"/>
                <a:cs typeface="Trebuchet MS" charset="0"/>
              </a:rPr>
              <a:t>surveys of selected companies (e.g., Business R&amp;D and Innovation Survey (BRDIS)). </a:t>
            </a:r>
            <a:r>
              <a:rPr lang="en-US" sz="3000" dirty="0" smtClean="0">
                <a:latin typeface="Trebuchet MS"/>
                <a:ea typeface="Trebuchet MS"/>
                <a:cs typeface="Trebuchet MS"/>
              </a:rPr>
              <a:t>While </a:t>
            </a:r>
            <a:r>
              <a:rPr lang="en-US" sz="3000" dirty="0">
                <a:latin typeface="Trebuchet MS"/>
                <a:ea typeface="Trebuchet MS"/>
                <a:cs typeface="Trebuchet MS"/>
              </a:rPr>
              <a:t>BRDIS measures innovation incidence, i.e., the number of innovating firms, </a:t>
            </a:r>
            <a:r>
              <a:rPr lang="en-US" sz="3000" dirty="0" smtClean="0">
                <a:latin typeface="Trebuchet MS"/>
                <a:ea typeface="Trebuchet MS"/>
                <a:cs typeface="Trebuchet MS"/>
              </a:rPr>
              <a:t>NCSES </a:t>
            </a:r>
            <a:r>
              <a:rPr lang="en-US" sz="3000" dirty="0">
                <a:latin typeface="Trebuchet MS"/>
                <a:ea typeface="Trebuchet MS"/>
                <a:cs typeface="Trebuchet MS"/>
              </a:rPr>
              <a:t>is interested in exploring the possibility of using non-traditional data to richer and complementary innovation measures.</a:t>
            </a:r>
            <a:endParaRPr lang="en-US" sz="3000" dirty="0">
              <a:latin typeface="Trebuchet MS"/>
              <a:ea typeface="Trebuchet MS"/>
              <a:cs typeface="Trebuchet MS"/>
              <a:sym typeface="Trebuchet MS"/>
            </a:endParaRPr>
          </a:p>
          <a:p>
            <a:pPr marL="571500" indent="-571500">
              <a:buFont typeface="Arial" charset="0"/>
              <a:buChar char="•"/>
            </a:pPr>
            <a:r>
              <a:rPr lang="en-US" sz="3000" dirty="0">
                <a:solidFill>
                  <a:srgbClr val="141F22"/>
                </a:solidFill>
                <a:latin typeface="Trebuchet MS" charset="0"/>
                <a:ea typeface="Trebuchet MS" charset="0"/>
                <a:cs typeface="Trebuchet MS" charset="0"/>
              </a:rPr>
              <a:t>This project focuses </a:t>
            </a:r>
            <a:r>
              <a:rPr lang="en-US" sz="3000" dirty="0">
                <a:latin typeface="Trebuchet MS" charset="0"/>
                <a:ea typeface="Trebuchet MS" charset="0"/>
                <a:cs typeface="Trebuchet MS" charset="0"/>
              </a:rPr>
              <a:t>on </a:t>
            </a:r>
            <a:r>
              <a:rPr lang="en-US" sz="3000" dirty="0" smtClean="0">
                <a:latin typeface="Trebuchet MS" charset="0"/>
                <a:ea typeface="Trebuchet MS" charset="0"/>
                <a:cs typeface="Trebuchet MS" charset="0"/>
              </a:rPr>
              <a:t>identifying non-traditional data sources to measure product in</a:t>
            </a:r>
            <a:r>
              <a:rPr lang="en-US" sz="3000" dirty="0" smtClean="0">
                <a:solidFill>
                  <a:srgbClr val="141F22"/>
                </a:solidFill>
                <a:latin typeface="Trebuchet MS" charset="0"/>
                <a:ea typeface="Trebuchet MS" charset="0"/>
                <a:cs typeface="Trebuchet MS" charset="0"/>
              </a:rPr>
              <a:t>novation. Non</a:t>
            </a:r>
            <a:r>
              <a:rPr lang="en-US" sz="3000" dirty="0">
                <a:solidFill>
                  <a:srgbClr val="141F22"/>
                </a:solidFill>
                <a:latin typeface="Trebuchet MS" charset="0"/>
                <a:ea typeface="Trebuchet MS" charset="0"/>
                <a:cs typeface="Trebuchet MS" charset="0"/>
              </a:rPr>
              <a:t>-traditional data sources </a:t>
            </a:r>
            <a:r>
              <a:rPr lang="en-US" sz="3000" dirty="0" smtClean="0">
                <a:solidFill>
                  <a:srgbClr val="141F22"/>
                </a:solidFill>
                <a:latin typeface="Trebuchet MS" charset="0"/>
                <a:ea typeface="Trebuchet MS" charset="0"/>
                <a:cs typeface="Trebuchet MS" charset="0"/>
              </a:rPr>
              <a:t>include </a:t>
            </a:r>
            <a:r>
              <a:rPr lang="en-US" sz="3000" dirty="0">
                <a:solidFill>
                  <a:srgbClr val="141F22"/>
                </a:solidFill>
                <a:latin typeface="Trebuchet MS" charset="0"/>
                <a:ea typeface="Trebuchet MS" charset="0"/>
                <a:cs typeface="Trebuchet MS" charset="0"/>
              </a:rPr>
              <a:t>administrative and opportunity data (e.g., product announcements, press releases, social media) that are obtained through </a:t>
            </a:r>
            <a:r>
              <a:rPr lang="en-US" sz="3000" dirty="0" smtClean="0">
                <a:solidFill>
                  <a:srgbClr val="141F22"/>
                </a:solidFill>
                <a:latin typeface="Trebuchet MS" charset="0"/>
                <a:ea typeface="Trebuchet MS" charset="0"/>
                <a:cs typeface="Trebuchet MS" charset="0"/>
              </a:rPr>
              <a:t>databases, web-scraping </a:t>
            </a:r>
            <a:r>
              <a:rPr lang="en-US" sz="3000" dirty="0">
                <a:solidFill>
                  <a:srgbClr val="141F22"/>
                </a:solidFill>
                <a:latin typeface="Trebuchet MS" charset="0"/>
                <a:ea typeface="Trebuchet MS" charset="0"/>
                <a:cs typeface="Trebuchet MS" charset="0"/>
              </a:rPr>
              <a:t>or queries of selected </a:t>
            </a:r>
            <a:r>
              <a:rPr lang="en-US" sz="3000" dirty="0" smtClean="0">
                <a:solidFill>
                  <a:srgbClr val="141F22"/>
                </a:solidFill>
                <a:latin typeface="Trebuchet MS" charset="0"/>
                <a:ea typeface="Trebuchet MS" charset="0"/>
                <a:cs typeface="Trebuchet MS" charset="0"/>
              </a:rPr>
              <a:t>company websites</a:t>
            </a:r>
            <a:r>
              <a:rPr lang="en-US" sz="3000" dirty="0" smtClean="0">
                <a:latin typeface="Trebuchet MS" charset="0"/>
                <a:ea typeface="Trebuchet MS" charset="0"/>
                <a:cs typeface="Trebuchet MS" charset="0"/>
              </a:rPr>
              <a:t>. The goal is to assess the feasibility of using these data sources and </a:t>
            </a:r>
            <a:r>
              <a:rPr lang="en-US" sz="3000" dirty="0">
                <a:latin typeface="Trebuchet MS" charset="0"/>
                <a:ea typeface="Trebuchet MS" charset="0"/>
                <a:cs typeface="Trebuchet MS" charset="0"/>
              </a:rPr>
              <a:t>to develop methods to measure business </a:t>
            </a:r>
            <a:r>
              <a:rPr lang="en-US" sz="3000" dirty="0" smtClean="0">
                <a:latin typeface="Trebuchet MS" charset="0"/>
                <a:ea typeface="Trebuchet MS" charset="0"/>
                <a:cs typeface="Trebuchet MS" charset="0"/>
              </a:rPr>
              <a:t>innovation.</a:t>
            </a:r>
            <a:endParaRPr lang="en-US" sz="3000" dirty="0">
              <a:latin typeface="Trebuchet MS" charset="0"/>
              <a:ea typeface="Trebuchet MS" charset="0"/>
              <a:cs typeface="Trebuchet MS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448287" y="5019205"/>
            <a:ext cx="23952055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0" i="0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Raleway" charset="0"/>
                <a:ea typeface="Raleway" charset="0"/>
                <a:cs typeface="Raleway" charset="0"/>
              </a:rPr>
              <a:t>Harsimrat</a:t>
            </a:r>
            <a:r>
              <a:rPr lang="en-US" sz="4000" b="0" i="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Raleway" charset="0"/>
                <a:ea typeface="Raleway" charset="0"/>
                <a:cs typeface="Raleway" charset="0"/>
              </a:rPr>
              <a:t> </a:t>
            </a:r>
            <a:r>
              <a:rPr lang="en-US" sz="4000" b="0" i="0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Raleway" charset="0"/>
                <a:ea typeface="Raleway" charset="0"/>
                <a:cs typeface="Raleway" charset="0"/>
              </a:rPr>
              <a:t>Pandher</a:t>
            </a:r>
            <a:r>
              <a:rPr lang="en-US" sz="4000" b="0" i="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Raleway" charset="0"/>
                <a:ea typeface="Raleway" charset="0"/>
                <a:cs typeface="Raleway" charset="0"/>
              </a:rPr>
              <a:t> (VT), </a:t>
            </a:r>
            <a:r>
              <a:rPr lang="en-US" sz="40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Raleway" charset="0"/>
                <a:ea typeface="Raleway" charset="0"/>
                <a:cs typeface="Raleway" charset="0"/>
              </a:rPr>
              <a:t>David </a:t>
            </a:r>
            <a:r>
              <a:rPr lang="en-US" sz="4000" b="0" i="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Raleway" charset="0"/>
                <a:ea typeface="Raleway" charset="0"/>
                <a:cs typeface="Raleway" charset="0"/>
              </a:rPr>
              <a:t>Park (VT), Daniel Wilkin (VT), </a:t>
            </a:r>
            <a:r>
              <a:rPr lang="en-US" sz="4000" dirty="0">
                <a:solidFill>
                  <a:schemeClr val="tx1">
                    <a:lumMod val="50000"/>
                    <a:lumOff val="50000"/>
                  </a:schemeClr>
                </a:solidFill>
                <a:latin typeface="Raleway" charset="0"/>
                <a:ea typeface="Raleway" charset="0"/>
                <a:cs typeface="Raleway" charset="0"/>
              </a:rPr>
              <a:t>Joseph Kim (VT</a:t>
            </a:r>
            <a:r>
              <a:rPr lang="en-US" sz="40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Raleway" charset="0"/>
                <a:ea typeface="Raleway" charset="0"/>
                <a:cs typeface="Raleway" charset="0"/>
              </a:rPr>
              <a:t>)</a:t>
            </a:r>
            <a:r>
              <a:rPr lang="en-US" sz="4000" b="0" i="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Raleway" charset="0"/>
                <a:ea typeface="Raleway" charset="0"/>
                <a:cs typeface="Raleway" charset="0"/>
              </a:rPr>
              <a:t> </a:t>
            </a:r>
          </a:p>
          <a:p>
            <a:r>
              <a:rPr lang="en-US" sz="4000" b="0" i="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Raleway" charset="0"/>
                <a:ea typeface="Raleway" charset="0"/>
                <a:cs typeface="Raleway" charset="0"/>
              </a:rPr>
              <a:t>Claire </a:t>
            </a:r>
            <a:r>
              <a:rPr lang="en-US" sz="4000" b="0" i="0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Raleway" charset="0"/>
                <a:ea typeface="Raleway" charset="0"/>
                <a:cs typeface="Raleway" charset="0"/>
              </a:rPr>
              <a:t>Kelling</a:t>
            </a:r>
            <a:r>
              <a:rPr lang="en-US" sz="4000" b="0" i="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Raleway" charset="0"/>
                <a:ea typeface="Raleway" charset="0"/>
                <a:cs typeface="Raleway" charset="0"/>
              </a:rPr>
              <a:t> (PSU)</a:t>
            </a:r>
            <a:r>
              <a:rPr lang="en-US" sz="4000" dirty="0">
                <a:solidFill>
                  <a:schemeClr val="tx1">
                    <a:lumMod val="50000"/>
                    <a:lumOff val="50000"/>
                  </a:schemeClr>
                </a:solidFill>
                <a:latin typeface="Raleway" charset="0"/>
                <a:ea typeface="Raleway" charset="0"/>
                <a:cs typeface="Raleway" charset="0"/>
              </a:rPr>
              <a:t> </a:t>
            </a:r>
            <a:r>
              <a:rPr lang="en-US" sz="40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Raleway" charset="0"/>
                <a:ea typeface="Raleway" charset="0"/>
                <a:cs typeface="Raleway" charset="0"/>
              </a:rPr>
              <a:t>with Gizem Korkmaz and Stephanie Shipp (SDAL)</a:t>
            </a:r>
          </a:p>
          <a:p>
            <a:r>
              <a:rPr lang="en-US" sz="4000" b="0" i="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Raleway" charset="0"/>
                <a:ea typeface="Raleway" charset="0"/>
                <a:cs typeface="Raleway" charset="0"/>
              </a:rPr>
              <a:t>Sponsor: Gary Anderson, The National Center for Science &amp; Engineering Statistics at NSF</a:t>
            </a:r>
            <a:endParaRPr lang="en-US" sz="4000" b="0" i="0" dirty="0">
              <a:solidFill>
                <a:schemeClr val="tx1">
                  <a:lumMod val="50000"/>
                  <a:lumOff val="50000"/>
                </a:schemeClr>
              </a:solidFill>
              <a:latin typeface="Raleway" charset="0"/>
              <a:ea typeface="Raleway" charset="0"/>
              <a:cs typeface="Raleway" charset="0"/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18088266" y="20174720"/>
            <a:ext cx="399468" cy="123572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sk-SK" dirty="0"/>
              <a:t> </a:t>
            </a:r>
            <a:endParaRPr lang="en-US" dirty="0"/>
          </a:p>
        </p:txBody>
      </p:sp>
      <p:pic>
        <p:nvPicPr>
          <p:cNvPr id="41" name="Picture 4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368" y="6812137"/>
            <a:ext cx="34233346" cy="1977865"/>
          </a:xfrm>
          <a:prstGeom prst="rect">
            <a:avLst/>
          </a:prstGeom>
        </p:spPr>
      </p:pic>
      <p:sp>
        <p:nvSpPr>
          <p:cNvPr id="44" name="Shape 88"/>
          <p:cNvSpPr/>
          <p:nvPr/>
        </p:nvSpPr>
        <p:spPr>
          <a:xfrm rot="16200000">
            <a:off x="19520904" y="22326136"/>
            <a:ext cx="9456338" cy="2209027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graphicFrame>
        <p:nvGraphicFramePr>
          <p:cNvPr id="64" name="Shape 122"/>
          <p:cNvGraphicFramePr/>
          <p:nvPr>
            <p:extLst>
              <p:ext uri="{D42A27DB-BD31-4B8C-83A1-F6EECF244321}">
                <p14:modId xmlns:p14="http://schemas.microsoft.com/office/powerpoint/2010/main" val="820917881"/>
              </p:ext>
            </p:extLst>
          </p:nvPr>
        </p:nvGraphicFramePr>
        <p:xfrm>
          <a:off x="23372233" y="28706323"/>
          <a:ext cx="11541788" cy="9204778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621024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7920764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662366">
                <a:tc>
                  <a:txBody>
                    <a:bodyPr/>
                    <a:lstStyle/>
                    <a:p>
                      <a:pPr lvl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sz="3200" b="1" dirty="0" smtClean="0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DATABASES</a:t>
                      </a:r>
                      <a:endParaRPr lang="en-US" sz="3200" b="1" dirty="0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L="28575" marR="28575" marT="19050" marB="19050" anchor="b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sz="3200" b="1" dirty="0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Information Provided</a:t>
                      </a:r>
                    </a:p>
                  </a:txBody>
                  <a:tcPr marL="28575" marR="28575" marT="19050" marB="19050" anchor="b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1287012">
                <a:tc>
                  <a:txBody>
                    <a:bodyPr/>
                    <a:lstStyle/>
                    <a:p>
                      <a:pPr lvl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sz="3200" dirty="0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CrunchBase</a:t>
                      </a:r>
                    </a:p>
                  </a:txBody>
                  <a:tcPr marL="28575" marR="28575" marT="19050" marB="19050" anchor="ctr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sz="3200" dirty="0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Company </a:t>
                      </a:r>
                      <a:r>
                        <a:rPr lang="en-US" sz="3200" dirty="0" smtClean="0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Information, </a:t>
                      </a:r>
                      <a:r>
                        <a:rPr lang="en-US" sz="3200" dirty="0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News, Social Media Links, Product Releases</a:t>
                      </a:r>
                    </a:p>
                  </a:txBody>
                  <a:tcPr marL="28575" marR="28575" marT="19050" marB="19050" anchor="ctr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1287012">
                <a:tc>
                  <a:txBody>
                    <a:bodyPr/>
                    <a:lstStyle/>
                    <a:p>
                      <a:pPr lvl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sz="3200" dirty="0" err="1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AngelList</a:t>
                      </a:r>
                      <a:endParaRPr lang="en-US" sz="3200" dirty="0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L="28575" marR="28575" marT="19050" marB="19050" anchor="ctr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sz="3200" dirty="0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Company </a:t>
                      </a:r>
                      <a:r>
                        <a:rPr lang="en-US" sz="3200" dirty="0" smtClean="0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Info, </a:t>
                      </a:r>
                      <a:r>
                        <a:rPr lang="en-US" sz="3200" dirty="0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News, Social Media Links, Product Releases</a:t>
                      </a:r>
                    </a:p>
                  </a:txBody>
                  <a:tcPr marL="28575" marR="28575" marT="19050" marB="19050" anchor="ctr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671654">
                <a:tc>
                  <a:txBody>
                    <a:bodyPr/>
                    <a:lstStyle/>
                    <a:p>
                      <a:pPr lvl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sz="3200" dirty="0" err="1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Owler</a:t>
                      </a:r>
                      <a:endParaRPr lang="en-US" sz="3200" dirty="0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L="28575" marR="28575" marT="19050" marB="19050" anchor="ctr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sz="3200" dirty="0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Company Information &amp; Analysis, News</a:t>
                      </a:r>
                    </a:p>
                  </a:txBody>
                  <a:tcPr marL="28575" marR="28575" marT="19050" marB="19050" anchor="ctr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671654">
                <a:tc>
                  <a:txBody>
                    <a:bodyPr/>
                    <a:lstStyle/>
                    <a:p>
                      <a:pPr lvl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sz="3200" dirty="0" err="1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VentureBeat</a:t>
                      </a:r>
                      <a:endParaRPr lang="en-US" sz="3200" dirty="0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L="28575" marR="28575" marT="19050" marB="19050" anchor="ctr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sz="3200" dirty="0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Technology Innovation, News Reports</a:t>
                      </a:r>
                    </a:p>
                  </a:txBody>
                  <a:tcPr marL="28575" marR="28575" marT="19050" marB="19050" anchor="ctr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671654">
                <a:tc>
                  <a:txBody>
                    <a:bodyPr/>
                    <a:lstStyle/>
                    <a:p>
                      <a:pPr lvl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sz="3200" dirty="0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F6S</a:t>
                      </a:r>
                    </a:p>
                  </a:txBody>
                  <a:tcPr marL="28575" marR="28575" marT="19050" marB="19050" anchor="ctr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sz="3200" dirty="0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Startups, Contests, Investment </a:t>
                      </a:r>
                      <a:r>
                        <a:rPr lang="en-US" sz="3200" dirty="0" smtClean="0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Info.</a:t>
                      </a:r>
                      <a:endParaRPr lang="en-US" sz="3200" dirty="0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L="28575" marR="28575" marT="19050" marB="19050" anchor="ctr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671654">
                <a:tc>
                  <a:txBody>
                    <a:bodyPr/>
                    <a:lstStyle/>
                    <a:p>
                      <a:pPr lvl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sz="3200" dirty="0" err="1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Mattermark</a:t>
                      </a:r>
                      <a:endParaRPr lang="en-US" sz="3200" dirty="0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L="28575" marR="28575" marT="19050" marB="19050" anchor="ctr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sz="3200" dirty="0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Company Information &amp; Analysis</a:t>
                      </a:r>
                    </a:p>
                  </a:txBody>
                  <a:tcPr marL="28575" marR="28575" marT="19050" marB="19050" anchor="ctr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1305059">
                <a:tc>
                  <a:txBody>
                    <a:bodyPr/>
                    <a:lstStyle/>
                    <a:p>
                      <a:pPr lvl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sz="3200" dirty="0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Dow Jones VentureSource</a:t>
                      </a:r>
                    </a:p>
                  </a:txBody>
                  <a:tcPr marL="28575" marR="28575" marT="19050" marB="19050" anchor="ctr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sz="3200" dirty="0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Company Analysis, Investor </a:t>
                      </a:r>
                      <a:r>
                        <a:rPr lang="en-US" sz="3200" dirty="0" smtClean="0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Info.</a:t>
                      </a:r>
                      <a:endParaRPr lang="en-US" sz="3200" dirty="0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L="28575" marR="28575" marT="19050" marB="19050" anchor="ctr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  <a:tr h="1305059">
                <a:tc>
                  <a:txBody>
                    <a:bodyPr/>
                    <a:lstStyle/>
                    <a:p>
                      <a:pPr lvl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sz="3200" dirty="0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CB Insights</a:t>
                      </a:r>
                    </a:p>
                  </a:txBody>
                  <a:tcPr marL="28575" marR="28575" marT="19050" marB="19050" anchor="ctr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sz="3200" dirty="0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Company Analysis, Patents, Startups, Investor </a:t>
                      </a:r>
                      <a:r>
                        <a:rPr lang="en-US" sz="3200" dirty="0" smtClean="0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Info., </a:t>
                      </a:r>
                      <a:r>
                        <a:rPr lang="en-US" sz="3200" dirty="0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News, Social Media</a:t>
                      </a:r>
                    </a:p>
                  </a:txBody>
                  <a:tcPr marL="28575" marR="28575" marT="19050" marB="19050" anchor="ctr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8"/>
                  </a:ext>
                </a:extLst>
              </a:tr>
              <a:tr h="671654">
                <a:tc>
                  <a:txBody>
                    <a:bodyPr/>
                    <a:lstStyle/>
                    <a:p>
                      <a:pPr lvl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sz="3200" dirty="0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Gust</a:t>
                      </a:r>
                    </a:p>
                  </a:txBody>
                  <a:tcPr marL="28575" marR="28575" marT="19050" marB="19050" anchor="ctr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sz="3200" dirty="0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Early-Stage Investments, </a:t>
                      </a:r>
                      <a:r>
                        <a:rPr lang="en-US" sz="3200" dirty="0" smtClean="0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Company</a:t>
                      </a:r>
                      <a:r>
                        <a:rPr lang="en-US" sz="3200" baseline="0" dirty="0" smtClean="0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 Info.</a:t>
                      </a:r>
                      <a:endParaRPr lang="en-US" sz="3200" dirty="0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L="28575" marR="28575" marT="19050" marB="19050" anchor="ctr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9"/>
                  </a:ext>
                </a:extLst>
              </a:tr>
            </a:tbl>
          </a:graphicData>
        </a:graphic>
      </p:graphicFrame>
      <p:graphicFrame>
        <p:nvGraphicFramePr>
          <p:cNvPr id="65" name="Shape 123"/>
          <p:cNvGraphicFramePr/>
          <p:nvPr>
            <p:extLst>
              <p:ext uri="{D42A27DB-BD31-4B8C-83A1-F6EECF244321}">
                <p14:modId xmlns:p14="http://schemas.microsoft.com/office/powerpoint/2010/main" val="1045022281"/>
              </p:ext>
            </p:extLst>
          </p:nvPr>
        </p:nvGraphicFramePr>
        <p:xfrm>
          <a:off x="13895505" y="28751638"/>
          <a:ext cx="9154343" cy="9162246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4791456"/>
                <a:gridCol w="4362887"/>
              </a:tblGrid>
              <a:tr h="687354">
                <a:tc>
                  <a:txBody>
                    <a:bodyPr/>
                    <a:lstStyle/>
                    <a:p>
                      <a:pPr lvl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sz="3200" b="1" dirty="0" smtClean="0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SELECTED WEBSITES</a:t>
                      </a:r>
                      <a:endParaRPr lang="en-US" sz="3200" b="1" dirty="0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L="28575" marR="28575" marT="19050" marB="19050" anchor="b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sz="3200" b="1" dirty="0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Industry</a:t>
                      </a:r>
                    </a:p>
                  </a:txBody>
                  <a:tcPr marL="28575" marR="28575" marT="19050" marB="19050" anchor="b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1281353">
                <a:tc>
                  <a:txBody>
                    <a:bodyPr/>
                    <a:lstStyle/>
                    <a:p>
                      <a:pPr lvl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sz="3200" dirty="0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Mass Device, Medical Design &amp; Outsourcing</a:t>
                      </a:r>
                    </a:p>
                  </a:txBody>
                  <a:tcPr marL="28575" marR="28575" marT="19050" marB="1905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sz="3200" dirty="0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Medical</a:t>
                      </a:r>
                    </a:p>
                  </a:txBody>
                  <a:tcPr marL="28575" marR="28575" marT="19050" marB="1905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1281353">
                <a:tc>
                  <a:txBody>
                    <a:bodyPr/>
                    <a:lstStyle/>
                    <a:p>
                      <a:pPr lvl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sz="3200" dirty="0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Food Business News, Food Processing</a:t>
                      </a:r>
                    </a:p>
                  </a:txBody>
                  <a:tcPr marL="28575" marR="28575" marT="19050" marB="1905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sz="3200" dirty="0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Food</a:t>
                      </a:r>
                    </a:p>
                  </a:txBody>
                  <a:tcPr marL="28575" marR="28575" marT="19050" marB="1905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2631988">
                <a:tc>
                  <a:txBody>
                    <a:bodyPr/>
                    <a:lstStyle/>
                    <a:p>
                      <a:pPr lvl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sz="3200" dirty="0" err="1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Ars</a:t>
                      </a:r>
                      <a:r>
                        <a:rPr lang="en-US" sz="3200" dirty="0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 </a:t>
                      </a:r>
                      <a:r>
                        <a:rPr lang="en-US" sz="3200" dirty="0" err="1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Technica</a:t>
                      </a:r>
                      <a:r>
                        <a:rPr lang="en-US" sz="3200" dirty="0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, The Verge, Inc., Digital Trends, </a:t>
                      </a:r>
                      <a:r>
                        <a:rPr lang="en-US" sz="3200" dirty="0" err="1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Engadget</a:t>
                      </a:r>
                      <a:r>
                        <a:rPr lang="en-US" sz="3200" dirty="0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, Mashable, </a:t>
                      </a:r>
                      <a:endParaRPr lang="en-US" sz="3200" dirty="0" smtClean="0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  <a:p>
                      <a:pPr lvl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sz="3200" dirty="0" smtClean="0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The Next Web</a:t>
                      </a:r>
                      <a:endParaRPr lang="en-US" sz="3200" dirty="0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L="28575" marR="28575" marT="19050" marB="1905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sz="3200" dirty="0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Science &amp; Technology</a:t>
                      </a:r>
                    </a:p>
                  </a:txBody>
                  <a:tcPr marL="28575" marR="28575" marT="19050" marB="1905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3280198">
                <a:tc>
                  <a:txBody>
                    <a:bodyPr/>
                    <a:lstStyle/>
                    <a:p>
                      <a:pPr lvl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sz="3200" dirty="0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Business Wire, Business Insider, Wall Street Journal, Media Post</a:t>
                      </a:r>
                      <a:r>
                        <a:rPr lang="en-US" sz="3200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, </a:t>
                      </a:r>
                      <a:r>
                        <a:rPr lang="en-US" sz="3200" smtClean="0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    PR </a:t>
                      </a:r>
                      <a:r>
                        <a:rPr lang="en-US" sz="3200" dirty="0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Newswire, Kickstarter, Product Hunt, Reuters</a:t>
                      </a:r>
                    </a:p>
                  </a:txBody>
                  <a:tcPr marL="28575" marR="28575" marT="19050" marB="1905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sz="3200" dirty="0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Many Industries</a:t>
                      </a:r>
                    </a:p>
                  </a:txBody>
                  <a:tcPr marL="28575" marR="28575" marT="19050" marB="1905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</a:tbl>
          </a:graphicData>
        </a:graphic>
      </p:graphicFrame>
      <p:sp>
        <p:nvSpPr>
          <p:cNvPr id="93" name="Shape 93"/>
          <p:cNvSpPr/>
          <p:nvPr/>
        </p:nvSpPr>
        <p:spPr>
          <a:xfrm rot="4278784">
            <a:off x="11107899" y="15574211"/>
            <a:ext cx="6751939" cy="5060175"/>
          </a:xfrm>
          <a:prstGeom prst="chevron">
            <a:avLst>
              <a:gd name="adj" fmla="val 50000"/>
            </a:avLst>
          </a:prstGeom>
          <a:solidFill>
            <a:srgbClr val="DD7E6B"/>
          </a:solidFill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 sz="36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96" name="Shape 94"/>
          <p:cNvSpPr/>
          <p:nvPr/>
        </p:nvSpPr>
        <p:spPr>
          <a:xfrm>
            <a:off x="2113908" y="13966286"/>
            <a:ext cx="9107400" cy="831000"/>
          </a:xfrm>
          <a:prstGeom prst="roundRect">
            <a:avLst>
              <a:gd name="adj" fmla="val 16667"/>
            </a:avLst>
          </a:prstGeom>
          <a:solidFill>
            <a:srgbClr val="DD7E6B"/>
          </a:solidFill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98" name="Shape 115"/>
          <p:cNvSpPr txBox="1"/>
          <p:nvPr/>
        </p:nvSpPr>
        <p:spPr>
          <a:xfrm>
            <a:off x="2433593" y="13969016"/>
            <a:ext cx="7951500" cy="8310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buSzPct val="25000"/>
              <a:buNone/>
            </a:pPr>
            <a:r>
              <a:rPr lang="en-US" sz="4800" b="1">
                <a:solidFill>
                  <a:srgbClr val="141F22"/>
                </a:solidFill>
                <a:latin typeface="Raleway"/>
                <a:ea typeface="Raleway"/>
                <a:cs typeface="Raleway"/>
                <a:sym typeface="Raleway"/>
              </a:rPr>
              <a:t>Company Deep Dives</a:t>
            </a:r>
          </a:p>
        </p:txBody>
      </p:sp>
      <p:grpSp>
        <p:nvGrpSpPr>
          <p:cNvPr id="99" name="Group 98">
            <a:extLst>
              <a:ext uri="{FF2B5EF4-FFF2-40B4-BE49-F238E27FC236}">
                <a16:creationId xmlns:a16="http://schemas.microsoft.com/office/drawing/2014/main" xmlns="" id="{4F648E89-A05C-4AB7-9721-45E9EC3E4644}"/>
              </a:ext>
            </a:extLst>
          </p:cNvPr>
          <p:cNvGrpSpPr/>
          <p:nvPr/>
        </p:nvGrpSpPr>
        <p:grpSpPr>
          <a:xfrm>
            <a:off x="5010414" y="32907081"/>
            <a:ext cx="7477686" cy="3965454"/>
            <a:chOff x="5207540" y="31895760"/>
            <a:chExt cx="5834793" cy="2991077"/>
          </a:xfrm>
        </p:grpSpPr>
        <p:grpSp>
          <p:nvGrpSpPr>
            <p:cNvPr id="100" name="Group 99">
              <a:extLst>
                <a:ext uri="{FF2B5EF4-FFF2-40B4-BE49-F238E27FC236}">
                  <a16:creationId xmlns:a16="http://schemas.microsoft.com/office/drawing/2014/main" xmlns="" id="{60A8A85D-4F99-4BBA-BD72-B24CDE7B181B}"/>
                </a:ext>
              </a:extLst>
            </p:cNvPr>
            <p:cNvGrpSpPr/>
            <p:nvPr/>
          </p:nvGrpSpPr>
          <p:grpSpPr>
            <a:xfrm>
              <a:off x="5207540" y="31895760"/>
              <a:ext cx="5834793" cy="2991077"/>
              <a:chOff x="6883597" y="31372226"/>
              <a:chExt cx="4431290" cy="2080053"/>
            </a:xfrm>
          </p:grpSpPr>
          <p:pic>
            <p:nvPicPr>
              <p:cNvPr id="102" name="Picture 101">
                <a:extLst>
                  <a:ext uri="{FF2B5EF4-FFF2-40B4-BE49-F238E27FC236}">
                    <a16:creationId xmlns:a16="http://schemas.microsoft.com/office/drawing/2014/main" xmlns="" id="{9F92D3D0-C649-4825-A8C4-22F15491011E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b="93787"/>
              <a:stretch/>
            </p:blipFill>
            <p:spPr>
              <a:xfrm>
                <a:off x="6883597" y="31372226"/>
                <a:ext cx="4431290" cy="261718"/>
              </a:xfrm>
              <a:prstGeom prst="rect">
                <a:avLst/>
              </a:prstGeom>
            </p:spPr>
          </p:pic>
          <p:pic>
            <p:nvPicPr>
              <p:cNvPr id="103" name="Picture 102">
                <a:extLst>
                  <a:ext uri="{FF2B5EF4-FFF2-40B4-BE49-F238E27FC236}">
                    <a16:creationId xmlns:a16="http://schemas.microsoft.com/office/drawing/2014/main" xmlns="" id="{88F167D8-28A8-49EA-946F-0C54F9427445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t="58282"/>
              <a:stretch/>
            </p:blipFill>
            <p:spPr>
              <a:xfrm>
                <a:off x="6883597" y="31695053"/>
                <a:ext cx="4431290" cy="1757226"/>
              </a:xfrm>
              <a:prstGeom prst="rect">
                <a:avLst/>
              </a:prstGeom>
            </p:spPr>
          </p:pic>
        </p:grpSp>
        <p:sp>
          <p:nvSpPr>
            <p:cNvPr id="101" name="Oval 100">
              <a:extLst>
                <a:ext uri="{FF2B5EF4-FFF2-40B4-BE49-F238E27FC236}">
                  <a16:creationId xmlns:a16="http://schemas.microsoft.com/office/drawing/2014/main" xmlns="" id="{FDE87757-2040-440B-9ADD-06D7D89F969D}"/>
                </a:ext>
              </a:extLst>
            </p:cNvPr>
            <p:cNvSpPr/>
            <p:nvPr/>
          </p:nvSpPr>
          <p:spPr>
            <a:xfrm>
              <a:off x="6631892" y="32191368"/>
              <a:ext cx="3651647" cy="2501958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04" name="Group 103">
            <a:extLst>
              <a:ext uri="{FF2B5EF4-FFF2-40B4-BE49-F238E27FC236}">
                <a16:creationId xmlns:a16="http://schemas.microsoft.com/office/drawing/2014/main" xmlns="" id="{1A25C9BF-D4F3-498A-BB1A-239C6D2757ED}"/>
              </a:ext>
            </a:extLst>
          </p:cNvPr>
          <p:cNvGrpSpPr/>
          <p:nvPr/>
        </p:nvGrpSpPr>
        <p:grpSpPr>
          <a:xfrm>
            <a:off x="1869074" y="20413945"/>
            <a:ext cx="8650096" cy="3468118"/>
            <a:chOff x="3027637" y="19862794"/>
            <a:chExt cx="6427711" cy="2526030"/>
          </a:xfrm>
        </p:grpSpPr>
        <p:pic>
          <p:nvPicPr>
            <p:cNvPr id="105" name="Picture 104">
              <a:extLst>
                <a:ext uri="{FF2B5EF4-FFF2-40B4-BE49-F238E27FC236}">
                  <a16:creationId xmlns:a16="http://schemas.microsoft.com/office/drawing/2014/main" xmlns="" id="{F9B83E4A-EB26-4CCD-946D-FEF477D1A84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b="81771"/>
            <a:stretch/>
          </p:blipFill>
          <p:spPr>
            <a:xfrm>
              <a:off x="3027637" y="19862794"/>
              <a:ext cx="6427711" cy="869105"/>
            </a:xfrm>
            <a:prstGeom prst="rect">
              <a:avLst/>
            </a:prstGeom>
          </p:spPr>
        </p:pic>
        <p:pic>
          <p:nvPicPr>
            <p:cNvPr id="106" name="Picture 105">
              <a:extLst>
                <a:ext uri="{FF2B5EF4-FFF2-40B4-BE49-F238E27FC236}">
                  <a16:creationId xmlns:a16="http://schemas.microsoft.com/office/drawing/2014/main" xmlns="" id="{302369D8-97E9-4A13-9DEE-4A3BBAA91C5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t="65309"/>
            <a:stretch/>
          </p:blipFill>
          <p:spPr>
            <a:xfrm>
              <a:off x="3027637" y="20734839"/>
              <a:ext cx="6427711" cy="1653985"/>
            </a:xfrm>
            <a:prstGeom prst="rect">
              <a:avLst/>
            </a:prstGeom>
          </p:spPr>
        </p:pic>
      </p:grpSp>
      <p:sp>
        <p:nvSpPr>
          <p:cNvPr id="107" name="Oval 106">
            <a:extLst>
              <a:ext uri="{FF2B5EF4-FFF2-40B4-BE49-F238E27FC236}">
                <a16:creationId xmlns:a16="http://schemas.microsoft.com/office/drawing/2014/main" xmlns="" id="{352F0433-D89F-47BC-8878-C7FF95B66FBE}"/>
              </a:ext>
            </a:extLst>
          </p:cNvPr>
          <p:cNvSpPr/>
          <p:nvPr/>
        </p:nvSpPr>
        <p:spPr>
          <a:xfrm>
            <a:off x="1737693" y="21456421"/>
            <a:ext cx="2594747" cy="229309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8" name="Picture 107">
            <a:extLst>
              <a:ext uri="{FF2B5EF4-FFF2-40B4-BE49-F238E27FC236}">
                <a16:creationId xmlns:a16="http://schemas.microsoft.com/office/drawing/2014/main" xmlns="" id="{24A3C5CA-16F1-4574-B60A-3A39B02B9A3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22204" y="21744949"/>
            <a:ext cx="8019515" cy="2392666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09" name="Picture 108">
            <a:extLst>
              <a:ext uri="{FF2B5EF4-FFF2-40B4-BE49-F238E27FC236}">
                <a16:creationId xmlns:a16="http://schemas.microsoft.com/office/drawing/2014/main" xmlns="" id="{02E8358A-E293-498A-9FC3-CEF51FE84DA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9577" y="33308712"/>
            <a:ext cx="5436215" cy="2197704"/>
          </a:xfrm>
          <a:prstGeom prst="rect">
            <a:avLst/>
          </a:prstGeom>
        </p:spPr>
      </p:pic>
      <p:grpSp>
        <p:nvGrpSpPr>
          <p:cNvPr id="110" name="Group 109">
            <a:extLst>
              <a:ext uri="{FF2B5EF4-FFF2-40B4-BE49-F238E27FC236}">
                <a16:creationId xmlns:a16="http://schemas.microsoft.com/office/drawing/2014/main" xmlns="" id="{5ED5CE65-2F2D-4A5D-B4B7-E6B42D883CAA}"/>
              </a:ext>
            </a:extLst>
          </p:cNvPr>
          <p:cNvGrpSpPr/>
          <p:nvPr/>
        </p:nvGrpSpPr>
        <p:grpSpPr>
          <a:xfrm>
            <a:off x="1274079" y="26659260"/>
            <a:ext cx="9149072" cy="3817762"/>
            <a:chOff x="84983" y="26512523"/>
            <a:chExt cx="13817616" cy="5352932"/>
          </a:xfrm>
        </p:grpSpPr>
        <p:pic>
          <p:nvPicPr>
            <p:cNvPr id="111" name="Picture 110">
              <a:extLst>
                <a:ext uri="{FF2B5EF4-FFF2-40B4-BE49-F238E27FC236}">
                  <a16:creationId xmlns:a16="http://schemas.microsoft.com/office/drawing/2014/main" xmlns="" id="{650DC8BF-3348-4269-AD68-70C87F557376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29302" y="26512523"/>
              <a:ext cx="13773150" cy="3876675"/>
            </a:xfrm>
            <a:prstGeom prst="rect">
              <a:avLst/>
            </a:prstGeom>
          </p:spPr>
        </p:pic>
        <p:pic>
          <p:nvPicPr>
            <p:cNvPr id="112" name="Picture 111">
              <a:extLst>
                <a:ext uri="{FF2B5EF4-FFF2-40B4-BE49-F238E27FC236}">
                  <a16:creationId xmlns:a16="http://schemas.microsoft.com/office/drawing/2014/main" xmlns="" id="{21EFA17F-FE37-433E-9C8E-F537AE684755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84983" y="30287426"/>
              <a:ext cx="13817616" cy="1578029"/>
            </a:xfrm>
            <a:prstGeom prst="rect">
              <a:avLst/>
            </a:prstGeom>
          </p:spPr>
        </p:pic>
      </p:grpSp>
      <p:pic>
        <p:nvPicPr>
          <p:cNvPr id="113" name="Picture 112">
            <a:extLst>
              <a:ext uri="{FF2B5EF4-FFF2-40B4-BE49-F238E27FC236}">
                <a16:creationId xmlns:a16="http://schemas.microsoft.com/office/drawing/2014/main" xmlns="" id="{7807D52E-37A4-4CAB-BF72-DEED11A4967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946248" y="27516486"/>
            <a:ext cx="6708733" cy="297985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114" name="Shape 120"/>
          <p:cNvSpPr txBox="1"/>
          <p:nvPr/>
        </p:nvSpPr>
        <p:spPr>
          <a:xfrm rot="-909907">
            <a:off x="12320806" y="17373968"/>
            <a:ext cx="4941482" cy="3243483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 sz="3200" b="1" dirty="0">
                <a:latin typeface="Trebuchet MS"/>
                <a:ea typeface="Trebuchet MS"/>
                <a:cs typeface="Trebuchet MS"/>
                <a:sym typeface="Trebuchet MS"/>
              </a:rPr>
              <a:t>Company Deep Dives:</a:t>
            </a:r>
          </a:p>
          <a:p>
            <a:pPr lvl="0" algn="ctr" rtl="0">
              <a:spcBef>
                <a:spcPts val="0"/>
              </a:spcBef>
              <a:buClr>
                <a:schemeClr val="dk1"/>
              </a:buClr>
              <a:buSzPct val="30555"/>
              <a:buFont typeface="Arial"/>
              <a:buNone/>
            </a:pPr>
            <a:r>
              <a:rPr lang="en-US" sz="3200" dirty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Procter &amp; Gamble</a:t>
            </a:r>
          </a:p>
          <a:p>
            <a:pPr lvl="0" algn="ctr" rtl="0">
              <a:spcBef>
                <a:spcPts val="0"/>
              </a:spcBef>
              <a:buClr>
                <a:schemeClr val="dk1"/>
              </a:buClr>
              <a:buSzPct val="30555"/>
              <a:buFont typeface="Arial"/>
              <a:buNone/>
            </a:pPr>
            <a:r>
              <a:rPr lang="en-US" sz="3200" dirty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Capital One</a:t>
            </a:r>
          </a:p>
          <a:p>
            <a:pPr lvl="0" algn="ctr" rtl="0">
              <a:spcBef>
                <a:spcPts val="0"/>
              </a:spcBef>
              <a:buClr>
                <a:schemeClr val="dk1"/>
              </a:buClr>
              <a:buSzPct val="30555"/>
              <a:buFont typeface="Arial"/>
              <a:buNone/>
            </a:pPr>
            <a:r>
              <a:rPr lang="en-US" sz="3200" dirty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Luna Innovations</a:t>
            </a:r>
          </a:p>
        </p:txBody>
      </p:sp>
      <p:sp>
        <p:nvSpPr>
          <p:cNvPr id="115" name="Shape 116"/>
          <p:cNvSpPr/>
          <p:nvPr/>
        </p:nvSpPr>
        <p:spPr>
          <a:xfrm>
            <a:off x="16582209" y="14523287"/>
            <a:ext cx="3885300" cy="3649358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 sz="3200" b="1" dirty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Literature </a:t>
            </a:r>
            <a:r>
              <a:rPr lang="en-US" sz="3200" b="1" dirty="0" smtClean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&amp; </a:t>
            </a:r>
            <a:r>
              <a:rPr lang="en-US" sz="3200" b="1" dirty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Business </a:t>
            </a:r>
            <a:r>
              <a:rPr lang="en-US" sz="3200" b="1" dirty="0" smtClean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Reports </a:t>
            </a:r>
            <a:r>
              <a:rPr lang="en-US" sz="3200" dirty="0" smtClean="0">
                <a:latin typeface="Trebuchet MS"/>
                <a:ea typeface="Trebuchet MS"/>
                <a:cs typeface="Trebuchet MS"/>
                <a:sym typeface="Trebuchet MS"/>
              </a:rPr>
              <a:t>e.g., BCG, McKinsey</a:t>
            </a:r>
            <a:r>
              <a:rPr lang="en-US" sz="3200" smtClean="0">
                <a:latin typeface="Trebuchet MS"/>
                <a:ea typeface="Trebuchet MS"/>
                <a:cs typeface="Trebuchet MS"/>
                <a:sym typeface="Trebuchet MS"/>
              </a:rPr>
              <a:t>, </a:t>
            </a:r>
          </a:p>
          <a:p>
            <a:pPr lvl="0" algn="ctr" rtl="0">
              <a:spcBef>
                <a:spcPts val="0"/>
              </a:spcBef>
              <a:buNone/>
            </a:pPr>
            <a:r>
              <a:rPr lang="en-US" sz="3200" dirty="0" smtClean="0">
                <a:latin typeface="Trebuchet MS"/>
                <a:ea typeface="Trebuchet MS"/>
                <a:cs typeface="Trebuchet MS"/>
                <a:sym typeface="Trebuchet MS"/>
              </a:rPr>
              <a:t>InfoWorld</a:t>
            </a:r>
            <a:endParaRPr lang="en-US" sz="3200" dirty="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16" name="Shape 118"/>
          <p:cNvSpPr txBox="1"/>
          <p:nvPr/>
        </p:nvSpPr>
        <p:spPr>
          <a:xfrm rot="1230090">
            <a:off x="20786718" y="17557632"/>
            <a:ext cx="3467415" cy="1721773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 sz="3200" b="1" dirty="0">
                <a:latin typeface="Trebuchet MS"/>
                <a:ea typeface="Trebuchet MS"/>
                <a:cs typeface="Trebuchet MS"/>
                <a:sym typeface="Trebuchet MS"/>
              </a:rPr>
              <a:t>Innovation Awards</a:t>
            </a:r>
            <a:endParaRPr lang="en-US" sz="3200" dirty="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17" name="Shape 132"/>
          <p:cNvSpPr txBox="1"/>
          <p:nvPr/>
        </p:nvSpPr>
        <p:spPr>
          <a:xfrm rot="1224172">
            <a:off x="18612015" y="21683125"/>
            <a:ext cx="5125733" cy="1721767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 sz="3100" dirty="0">
                <a:latin typeface="Trebuchet MS"/>
                <a:ea typeface="Trebuchet MS"/>
                <a:cs typeface="Trebuchet MS"/>
                <a:sym typeface="Trebuchet MS"/>
              </a:rPr>
              <a:t>Nielsen</a:t>
            </a:r>
          </a:p>
          <a:p>
            <a:pPr lvl="0" algn="ctr" rtl="0">
              <a:spcBef>
                <a:spcPts val="0"/>
              </a:spcBef>
              <a:buNone/>
            </a:pPr>
            <a:r>
              <a:rPr lang="en-US" sz="3100" dirty="0">
                <a:latin typeface="Trebuchet MS"/>
                <a:ea typeface="Trebuchet MS"/>
                <a:cs typeface="Trebuchet MS"/>
                <a:sym typeface="Trebuchet MS"/>
              </a:rPr>
              <a:t>InfoWorld</a:t>
            </a:r>
          </a:p>
          <a:p>
            <a:pPr lvl="0" algn="ctr" rtl="0">
              <a:spcBef>
                <a:spcPts val="0"/>
              </a:spcBef>
              <a:buNone/>
            </a:pPr>
            <a:r>
              <a:rPr lang="en-US" sz="3100" dirty="0">
                <a:latin typeface="Trebuchet MS"/>
                <a:ea typeface="Trebuchet MS"/>
                <a:cs typeface="Trebuchet MS"/>
                <a:sym typeface="Trebuchet MS"/>
              </a:rPr>
              <a:t>Consumer Technology Association</a:t>
            </a:r>
          </a:p>
        </p:txBody>
      </p:sp>
      <p:grpSp>
        <p:nvGrpSpPr>
          <p:cNvPr id="38" name="Group 37"/>
          <p:cNvGrpSpPr/>
          <p:nvPr/>
        </p:nvGrpSpPr>
        <p:grpSpPr>
          <a:xfrm>
            <a:off x="13362225" y="18877345"/>
            <a:ext cx="5060175" cy="6751939"/>
            <a:chOff x="11931837" y="17672380"/>
            <a:chExt cx="5060175" cy="6751939"/>
          </a:xfrm>
        </p:grpSpPr>
        <p:sp>
          <p:nvSpPr>
            <p:cNvPr id="95" name="Shape 92"/>
            <p:cNvSpPr/>
            <p:nvPr/>
          </p:nvSpPr>
          <p:spPr>
            <a:xfrm rot="4278784">
              <a:off x="11085955" y="18518262"/>
              <a:ext cx="6751939" cy="5060175"/>
            </a:xfrm>
            <a:prstGeom prst="chevron">
              <a:avLst>
                <a:gd name="adj" fmla="val 50000"/>
              </a:avLst>
            </a:prstGeom>
            <a:solidFill>
              <a:srgbClr val="DD7E6B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 rtl="0">
                <a:spcBef>
                  <a:spcPts val="0"/>
                </a:spcBef>
                <a:buNone/>
              </a:pPr>
              <a:endParaRPr sz="3600"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118" name="Shape 119"/>
            <p:cNvSpPr txBox="1"/>
            <p:nvPr/>
          </p:nvSpPr>
          <p:spPr>
            <a:xfrm rot="-909874">
              <a:off x="12438950" y="20204266"/>
              <a:ext cx="4112503" cy="1800332"/>
            </a:xfrm>
            <a:prstGeom prst="rect">
              <a:avLst/>
            </a:prstGeom>
            <a:noFill/>
            <a:ln>
              <a:noFill/>
            </a:ln>
          </p:spPr>
          <p:txBody>
            <a:bodyPr lIns="91425" tIns="91425" rIns="91425" bIns="91425" anchor="t" anchorCtr="0">
              <a:noAutofit/>
            </a:bodyPr>
            <a:lstStyle/>
            <a:p>
              <a:pPr algn="ctr"/>
              <a:r>
                <a:rPr lang="en-US" sz="3200" dirty="0">
                  <a:latin typeface="Trebuchet MS"/>
                  <a:ea typeface="Trebuchet MS"/>
                  <a:cs typeface="Trebuchet MS"/>
                  <a:sym typeface="Trebuchet MS"/>
                </a:rPr>
                <a:t>Internal Sources</a:t>
              </a:r>
            </a:p>
            <a:p>
              <a:pPr lvl="0" algn="ctr" rtl="0">
                <a:spcBef>
                  <a:spcPts val="0"/>
                </a:spcBef>
                <a:buNone/>
              </a:pPr>
              <a:r>
                <a:rPr lang="en-US" sz="3200" dirty="0" smtClean="0">
                  <a:latin typeface="Trebuchet MS"/>
                  <a:ea typeface="Trebuchet MS"/>
                  <a:cs typeface="Trebuchet MS"/>
                  <a:sym typeface="Trebuchet MS"/>
                </a:rPr>
                <a:t>Company Websites</a:t>
              </a:r>
            </a:p>
            <a:p>
              <a:pPr lvl="0" algn="ctr" rtl="0">
                <a:spcBef>
                  <a:spcPts val="0"/>
                </a:spcBef>
                <a:buNone/>
              </a:pPr>
              <a:r>
                <a:rPr lang="en-US" sz="3200" dirty="0" smtClean="0">
                  <a:latin typeface="Trebuchet MS"/>
                  <a:ea typeface="Trebuchet MS"/>
                  <a:cs typeface="Trebuchet MS"/>
                  <a:sym typeface="Trebuchet MS"/>
                </a:rPr>
                <a:t>News Releases</a:t>
              </a:r>
              <a:endParaRPr lang="en-US" sz="3200" dirty="0">
                <a:latin typeface="Trebuchet MS"/>
                <a:ea typeface="Trebuchet MS"/>
                <a:cs typeface="Trebuchet MS"/>
                <a:sym typeface="Trebuchet MS"/>
              </a:endParaRPr>
            </a:p>
            <a:p>
              <a:pPr lvl="0" algn="ctr" rtl="0">
                <a:spcBef>
                  <a:spcPts val="0"/>
                </a:spcBef>
                <a:buNone/>
              </a:pPr>
              <a:r>
                <a:rPr lang="en-US" sz="3200" dirty="0">
                  <a:latin typeface="Trebuchet MS"/>
                  <a:ea typeface="Trebuchet MS"/>
                  <a:cs typeface="Trebuchet MS"/>
                  <a:sym typeface="Trebuchet MS"/>
                </a:rPr>
                <a:t>Social </a:t>
              </a:r>
              <a:r>
                <a:rPr lang="en-US" sz="3200" dirty="0" smtClean="0">
                  <a:latin typeface="Trebuchet MS"/>
                  <a:ea typeface="Trebuchet MS"/>
                  <a:cs typeface="Trebuchet MS"/>
                  <a:sym typeface="Trebuchet MS"/>
                </a:rPr>
                <a:t>Media</a:t>
              </a:r>
              <a:endParaRPr lang="en-US" sz="3200" dirty="0"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</p:grpSp>
      <p:pic>
        <p:nvPicPr>
          <p:cNvPr id="119" name="Picture 118">
            <a:extLst>
              <a:ext uri="{FF2B5EF4-FFF2-40B4-BE49-F238E27FC236}">
                <a16:creationId xmlns:a16="http://schemas.microsoft.com/office/drawing/2014/main" xmlns="" id="{412EFFA0-4811-4E20-98D0-5617452FBAB7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928793" y="35398197"/>
            <a:ext cx="6058377" cy="2167800"/>
          </a:xfrm>
          <a:prstGeom prst="rect">
            <a:avLst/>
          </a:prstGeom>
        </p:spPr>
      </p:pic>
      <p:sp>
        <p:nvSpPr>
          <p:cNvPr id="121" name="Shape 86"/>
          <p:cNvSpPr/>
          <p:nvPr/>
        </p:nvSpPr>
        <p:spPr>
          <a:xfrm>
            <a:off x="26134764" y="13988317"/>
            <a:ext cx="9107400" cy="831000"/>
          </a:xfrm>
          <a:prstGeom prst="roundRect">
            <a:avLst>
              <a:gd name="adj" fmla="val 16667"/>
            </a:avLst>
          </a:prstGeom>
          <a:solidFill>
            <a:srgbClr val="A2C4C9"/>
          </a:solidFill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endParaRPr sz="3600">
              <a:latin typeface="Trebuchet MS"/>
              <a:ea typeface="Trebuchet MS"/>
              <a:cs typeface="Trebuchet MS"/>
            </a:endParaRPr>
          </a:p>
        </p:txBody>
      </p:sp>
      <p:sp>
        <p:nvSpPr>
          <p:cNvPr id="123" name="Shape 117"/>
          <p:cNvSpPr txBox="1"/>
          <p:nvPr/>
        </p:nvSpPr>
        <p:spPr>
          <a:xfrm>
            <a:off x="27535245" y="14056627"/>
            <a:ext cx="5994000" cy="8310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 sz="4800" b="1" dirty="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Innovation Awards</a:t>
            </a:r>
          </a:p>
        </p:txBody>
      </p:sp>
      <p:sp>
        <p:nvSpPr>
          <p:cNvPr id="124" name="Shape 134"/>
          <p:cNvSpPr txBox="1"/>
          <p:nvPr/>
        </p:nvSpPr>
        <p:spPr>
          <a:xfrm>
            <a:off x="25532861" y="24288910"/>
            <a:ext cx="10163985" cy="3971086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 rtl="0">
              <a:spcBef>
                <a:spcPts val="500"/>
              </a:spcBef>
              <a:buNone/>
            </a:pPr>
            <a:r>
              <a:rPr lang="en-US" sz="3200" b="1" dirty="0">
                <a:solidFill>
                  <a:srgbClr val="141F22"/>
                </a:solidFill>
                <a:latin typeface="Trebuchet MS"/>
                <a:ea typeface="Trebuchet MS"/>
                <a:cs typeface="Trebuchet MS"/>
                <a:sym typeface="Trebuchet MS"/>
              </a:rPr>
              <a:t>Criteria used to rate websites/databases:</a:t>
            </a:r>
          </a:p>
          <a:p>
            <a:pPr marL="914400" lvl="0" indent="-457200" rtl="0">
              <a:spcBef>
                <a:spcPts val="500"/>
              </a:spcBef>
              <a:buClr>
                <a:srgbClr val="141F22"/>
              </a:buClr>
              <a:buSzPct val="100000"/>
              <a:buFont typeface="Trebuchet MS"/>
              <a:buChar char="●"/>
            </a:pPr>
            <a:r>
              <a:rPr lang="en-US" sz="3200" dirty="0">
                <a:solidFill>
                  <a:srgbClr val="141F22"/>
                </a:solidFill>
                <a:latin typeface="Trebuchet MS"/>
                <a:ea typeface="Trebuchet MS"/>
                <a:cs typeface="Trebuchet MS"/>
                <a:sym typeface="Trebuchet MS"/>
              </a:rPr>
              <a:t>Does it mention a launch?</a:t>
            </a:r>
          </a:p>
          <a:p>
            <a:pPr marL="914400" lvl="0" indent="-457200" rtl="0">
              <a:spcBef>
                <a:spcPts val="500"/>
              </a:spcBef>
              <a:buClr>
                <a:srgbClr val="141F22"/>
              </a:buClr>
              <a:buSzPct val="100000"/>
              <a:buFont typeface="Trebuchet MS"/>
              <a:buChar char="●"/>
            </a:pPr>
            <a:r>
              <a:rPr lang="en-US" sz="3200" dirty="0">
                <a:solidFill>
                  <a:srgbClr val="141F22"/>
                </a:solidFill>
                <a:latin typeface="Trebuchet MS"/>
                <a:ea typeface="Trebuchet MS"/>
                <a:cs typeface="Trebuchet MS"/>
                <a:sym typeface="Trebuchet MS"/>
              </a:rPr>
              <a:t>Does it have a specific launch date?</a:t>
            </a:r>
          </a:p>
          <a:p>
            <a:pPr marL="914400" lvl="0" indent="-457200" rtl="0">
              <a:spcBef>
                <a:spcPts val="500"/>
              </a:spcBef>
              <a:buClr>
                <a:srgbClr val="141F22"/>
              </a:buClr>
              <a:buSzPct val="100000"/>
              <a:buFont typeface="Trebuchet MS"/>
              <a:buChar char="●"/>
            </a:pPr>
            <a:r>
              <a:rPr lang="en-US" sz="3200" dirty="0">
                <a:solidFill>
                  <a:srgbClr val="141F22"/>
                </a:solidFill>
                <a:latin typeface="Trebuchet MS"/>
                <a:ea typeface="Trebuchet MS"/>
                <a:cs typeface="Trebuchet MS"/>
                <a:sym typeface="Trebuchet MS"/>
              </a:rPr>
              <a:t>Was </a:t>
            </a:r>
            <a:r>
              <a:rPr lang="en-US" sz="3200" dirty="0" smtClean="0">
                <a:solidFill>
                  <a:srgbClr val="141F22"/>
                </a:solidFill>
                <a:latin typeface="Trebuchet MS"/>
                <a:ea typeface="Trebuchet MS"/>
                <a:cs typeface="Trebuchet MS"/>
                <a:sym typeface="Trebuchet MS"/>
              </a:rPr>
              <a:t>it released </a:t>
            </a:r>
            <a:r>
              <a:rPr lang="en-US" sz="3200" dirty="0">
                <a:solidFill>
                  <a:srgbClr val="141F22"/>
                </a:solidFill>
                <a:latin typeface="Trebuchet MS"/>
                <a:ea typeface="Trebuchet MS"/>
                <a:cs typeface="Trebuchet MS"/>
                <a:sym typeface="Trebuchet MS"/>
              </a:rPr>
              <a:t>at the time of the launch?</a:t>
            </a:r>
          </a:p>
          <a:p>
            <a:pPr marL="914400" lvl="0" indent="-457200" rtl="0">
              <a:spcBef>
                <a:spcPts val="500"/>
              </a:spcBef>
              <a:buClr>
                <a:srgbClr val="141F22"/>
              </a:buClr>
              <a:buSzPct val="100000"/>
              <a:buFont typeface="Trebuchet MS"/>
              <a:buChar char="●"/>
            </a:pPr>
            <a:r>
              <a:rPr lang="en-US" sz="3200" dirty="0">
                <a:solidFill>
                  <a:srgbClr val="141F22"/>
                </a:solidFill>
                <a:latin typeface="Trebuchet MS"/>
                <a:ea typeface="Trebuchet MS"/>
                <a:cs typeface="Trebuchet MS"/>
                <a:sym typeface="Trebuchet MS"/>
              </a:rPr>
              <a:t>Can the previous criteria be applied to other </a:t>
            </a:r>
            <a:r>
              <a:rPr lang="en-US" sz="3200" dirty="0" smtClean="0">
                <a:solidFill>
                  <a:srgbClr val="141F22"/>
                </a:solidFill>
                <a:latin typeface="Trebuchet MS"/>
                <a:ea typeface="Trebuchet MS"/>
                <a:cs typeface="Trebuchet MS"/>
                <a:sym typeface="Trebuchet MS"/>
              </a:rPr>
              <a:t>products (scalability)?</a:t>
            </a:r>
            <a:endParaRPr lang="en-US" sz="3200" dirty="0">
              <a:solidFill>
                <a:srgbClr val="141F22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914400" lvl="0" indent="-457200" rtl="0">
              <a:spcBef>
                <a:spcPts val="500"/>
              </a:spcBef>
              <a:buClr>
                <a:srgbClr val="141F22"/>
              </a:buClr>
              <a:buSzPct val="100000"/>
              <a:buFont typeface="Trebuchet MS"/>
              <a:buChar char="●"/>
            </a:pPr>
            <a:r>
              <a:rPr lang="en-US" sz="3200" dirty="0">
                <a:solidFill>
                  <a:srgbClr val="141F22"/>
                </a:solidFill>
                <a:latin typeface="Trebuchet MS"/>
                <a:ea typeface="Trebuchet MS"/>
                <a:cs typeface="Trebuchet MS"/>
                <a:sym typeface="Trebuchet MS"/>
              </a:rPr>
              <a:t>How accessible is it</a:t>
            </a:r>
            <a:r>
              <a:rPr lang="en-US" sz="3200" dirty="0" smtClean="0">
                <a:solidFill>
                  <a:srgbClr val="141F22"/>
                </a:solidFill>
                <a:latin typeface="Trebuchet MS"/>
                <a:ea typeface="Trebuchet MS"/>
                <a:cs typeface="Trebuchet MS"/>
                <a:sym typeface="Trebuchet MS"/>
              </a:rPr>
              <a:t>? </a:t>
            </a:r>
            <a:endParaRPr lang="en-US" sz="3200" dirty="0">
              <a:solidFill>
                <a:srgbClr val="FF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graphicFrame>
        <p:nvGraphicFramePr>
          <p:cNvPr id="126" name="Table 125">
            <a:extLst>
              <a:ext uri="{FF2B5EF4-FFF2-40B4-BE49-F238E27FC236}">
                <a16:creationId xmlns:a16="http://schemas.microsoft.com/office/drawing/2014/main" xmlns="" id="{D2D75A93-80C7-4FE8-8318-CA7971E706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30873114"/>
              </p:ext>
            </p:extLst>
          </p:nvPr>
        </p:nvGraphicFramePr>
        <p:xfrm>
          <a:off x="25659276" y="15001539"/>
          <a:ext cx="9741067" cy="5913120"/>
        </p:xfrm>
        <a:graphic>
          <a:graphicData uri="http://schemas.openxmlformats.org/drawingml/2006/table">
            <a:tbl>
              <a:tblPr firstRow="1" bandRow="1"/>
              <a:tblGrid>
                <a:gridCol w="2295238">
                  <a:extLst>
                    <a:ext uri="{9D8B030D-6E8A-4147-A177-3AD203B41FA5}">
                      <a16:colId xmlns:a16="http://schemas.microsoft.com/office/drawing/2014/main" xmlns="" val="456321409"/>
                    </a:ext>
                  </a:extLst>
                </a:gridCol>
                <a:gridCol w="2743200"/>
                <a:gridCol w="2481943">
                  <a:extLst>
                    <a:ext uri="{9D8B030D-6E8A-4147-A177-3AD203B41FA5}">
                      <a16:colId xmlns:a16="http://schemas.microsoft.com/office/drawing/2014/main" xmlns="" val="425878639"/>
                    </a:ext>
                  </a:extLst>
                </a:gridCol>
                <a:gridCol w="2220686">
                  <a:extLst>
                    <a:ext uri="{9D8B030D-6E8A-4147-A177-3AD203B41FA5}">
                      <a16:colId xmlns:a16="http://schemas.microsoft.com/office/drawing/2014/main" xmlns="" val="412701793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 smtClean="0">
                          <a:latin typeface="Trebuchet MS" panose="020B0603020202020204" pitchFamily="34" charset="0"/>
                        </a:rPr>
                        <a:t>Selected Awards</a:t>
                      </a:r>
                      <a:endParaRPr lang="en-US" sz="3200" b="1" dirty="0">
                        <a:latin typeface="Trebuchet MS" panose="020B0603020202020204" pitchFamily="34" charset="0"/>
                      </a:endParaRPr>
                    </a:p>
                  </a:txBody>
                  <a:tcPr anchor="ctr">
                    <a:solidFill>
                      <a:srgbClr val="A2C4C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 smtClean="0">
                          <a:latin typeface="Trebuchet MS" panose="020B0603020202020204" pitchFamily="34" charset="0"/>
                        </a:rPr>
                        <a:t>Product</a:t>
                      </a:r>
                    </a:p>
                    <a:p>
                      <a:pPr algn="ctr"/>
                      <a:r>
                        <a:rPr lang="en-US" sz="3200" b="1" dirty="0" smtClean="0">
                          <a:latin typeface="Trebuchet MS" panose="020B0603020202020204" pitchFamily="34" charset="0"/>
                        </a:rPr>
                        <a:t>Awarded</a:t>
                      </a:r>
                      <a:endParaRPr lang="en-US" sz="3200" b="1" dirty="0">
                        <a:latin typeface="Trebuchet MS" panose="020B0603020202020204" pitchFamily="34" charset="0"/>
                      </a:endParaRPr>
                    </a:p>
                  </a:txBody>
                  <a:tcPr anchor="ctr">
                    <a:solidFill>
                      <a:srgbClr val="A2C4C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 smtClean="0">
                          <a:latin typeface="Trebuchet MS" panose="020B0603020202020204" pitchFamily="34" charset="0"/>
                        </a:rPr>
                        <a:t>Company</a:t>
                      </a:r>
                      <a:endParaRPr lang="en-US" sz="3200" b="1" dirty="0">
                        <a:latin typeface="Trebuchet MS" panose="020B0603020202020204" pitchFamily="34" charset="0"/>
                      </a:endParaRPr>
                    </a:p>
                  </a:txBody>
                  <a:tcPr anchor="ctr">
                    <a:solidFill>
                      <a:srgbClr val="A2C4C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>
                          <a:latin typeface="Trebuchet MS" panose="020B0603020202020204" pitchFamily="34" charset="0"/>
                        </a:rPr>
                        <a:t>Industry</a:t>
                      </a:r>
                    </a:p>
                  </a:txBody>
                  <a:tcPr anchor="ctr">
                    <a:solidFill>
                      <a:srgbClr val="A2C4C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4216007674"/>
                  </a:ext>
                </a:extLst>
              </a:tr>
              <a:tr h="370840">
                <a:tc rowSpan="2">
                  <a:txBody>
                    <a:bodyPr/>
                    <a:lstStyle/>
                    <a:p>
                      <a:pPr algn="ctr"/>
                      <a:r>
                        <a:rPr lang="en-US" sz="3200" dirty="0" smtClean="0">
                          <a:latin typeface="Trebuchet MS" panose="020B0603020202020204" pitchFamily="34" charset="0"/>
                        </a:rPr>
                        <a:t>Nielsen</a:t>
                      </a:r>
                      <a:endParaRPr lang="en-US" sz="3200" dirty="0">
                        <a:latin typeface="Trebuchet MS" panose="020B0603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>
                          <a:latin typeface="Trebuchet MS" panose="020B0603020202020204" pitchFamily="34" charset="0"/>
                        </a:rPr>
                        <a:t>Arm &amp; Hammer Clump &amp; Seal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>
                          <a:latin typeface="Trebuchet MS" panose="020B0603020202020204" pitchFamily="34" charset="0"/>
                        </a:rPr>
                        <a:t>Church &amp; Dwight Co.</a:t>
                      </a:r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sz="3200" dirty="0">
                          <a:latin typeface="Trebuchet MS" panose="020B0603020202020204" pitchFamily="34" charset="0"/>
                        </a:rPr>
                        <a:t>Consumer </a:t>
                      </a:r>
                      <a:r>
                        <a:rPr lang="en-US" sz="3200" dirty="0" smtClean="0">
                          <a:latin typeface="Trebuchet MS" panose="020B0603020202020204" pitchFamily="34" charset="0"/>
                        </a:rPr>
                        <a:t>Goods</a:t>
                      </a:r>
                      <a:endParaRPr lang="en-US" sz="3200" dirty="0">
                        <a:latin typeface="Trebuchet MS" panose="020B0603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3221430038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ctr"/>
                      <a:endParaRPr lang="en-US" sz="3200" dirty="0">
                        <a:latin typeface="Trebuchet MS" panose="020B0603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>
                          <a:latin typeface="Trebuchet MS" panose="020B0603020202020204" pitchFamily="34" charset="0"/>
                        </a:rPr>
                        <a:t>Bai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>
                          <a:latin typeface="Trebuchet MS" panose="020B0603020202020204" pitchFamily="34" charset="0"/>
                        </a:rPr>
                        <a:t>Bai</a:t>
                      </a: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en-US" sz="3200" dirty="0">
                        <a:latin typeface="Trebuchet MS" panose="020B0603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618964354"/>
                  </a:ext>
                </a:extLst>
              </a:tr>
              <a:tr h="370840">
                <a:tc rowSpan="2">
                  <a:txBody>
                    <a:bodyPr/>
                    <a:lstStyle/>
                    <a:p>
                      <a:pPr algn="ctr"/>
                      <a:r>
                        <a:rPr lang="en-US" sz="3200" dirty="0" smtClean="0">
                          <a:latin typeface="Trebuchet MS" panose="020B0603020202020204" pitchFamily="34" charset="0"/>
                        </a:rPr>
                        <a:t>InfoWorld</a:t>
                      </a:r>
                      <a:endParaRPr lang="en-US" sz="3200" dirty="0">
                        <a:latin typeface="Trebuchet MS" panose="020B0603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>
                          <a:latin typeface="Trebuchet MS" panose="020B0603020202020204" pitchFamily="34" charset="0"/>
                        </a:rPr>
                        <a:t>Amazon Alexa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>
                          <a:latin typeface="Trebuchet MS" panose="020B0603020202020204" pitchFamily="34" charset="0"/>
                        </a:rPr>
                        <a:t>Amazon</a:t>
                      </a:r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sz="3200" dirty="0">
                          <a:latin typeface="Trebuchet MS" panose="020B0603020202020204" pitchFamily="34" charset="0"/>
                        </a:rPr>
                        <a:t>Technology</a:t>
                      </a:r>
                    </a:p>
                    <a:p>
                      <a:pPr algn="ctr"/>
                      <a:endParaRPr lang="en-US" sz="3200" dirty="0">
                        <a:latin typeface="Trebuchet MS" panose="020B0603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4243483474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ctr"/>
                      <a:endParaRPr lang="en-US" sz="3200" dirty="0">
                        <a:latin typeface="Trebuchet MS" panose="020B0603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 err="1">
                          <a:latin typeface="Trebuchet MS" panose="020B0603020202020204" pitchFamily="34" charset="0"/>
                        </a:rPr>
                        <a:t>TensorFlow</a:t>
                      </a:r>
                      <a:endParaRPr lang="en-US" sz="3200" dirty="0">
                        <a:latin typeface="Trebuchet MS" panose="020B0603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 err="1">
                          <a:latin typeface="Trebuchet MS" panose="020B0603020202020204" pitchFamily="34" charset="0"/>
                        </a:rPr>
                        <a:t>TensorFlow</a:t>
                      </a:r>
                      <a:endParaRPr lang="en-US" sz="3200" dirty="0">
                        <a:latin typeface="Trebuchet MS" panose="020B0603020202020204" pitchFamily="34" charset="0"/>
                      </a:endParaRP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en-US" sz="3200" dirty="0">
                        <a:latin typeface="Trebuchet MS" panose="020B0603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664124309"/>
                  </a:ext>
                </a:extLst>
              </a:tr>
              <a:tr h="777240">
                <a:tc rowSpan="2">
                  <a:txBody>
                    <a:bodyPr/>
                    <a:lstStyle/>
                    <a:p>
                      <a:pPr algn="ctr"/>
                      <a:r>
                        <a:rPr lang="en-US" sz="3200" dirty="0">
                          <a:latin typeface="Trebuchet MS" panose="020B0603020202020204" pitchFamily="34" charset="0"/>
                        </a:rPr>
                        <a:t>Consumer Technology </a:t>
                      </a:r>
                      <a:r>
                        <a:rPr lang="en-US" sz="3200" dirty="0" smtClean="0">
                          <a:latin typeface="Trebuchet MS" panose="020B0603020202020204" pitchFamily="34" charset="0"/>
                        </a:rPr>
                        <a:t>Association</a:t>
                      </a:r>
                      <a:endParaRPr lang="en-US" sz="3200" dirty="0">
                        <a:latin typeface="Trebuchet MS" panose="020B0603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 err="1">
                          <a:latin typeface="Trebuchet MS" panose="020B0603020202020204" pitchFamily="34" charset="0"/>
                        </a:rPr>
                        <a:t>Aipoly</a:t>
                      </a:r>
                      <a:r>
                        <a:rPr lang="en-US" sz="3200" dirty="0">
                          <a:latin typeface="Trebuchet MS" panose="020B0603020202020204" pitchFamily="34" charset="0"/>
                        </a:rPr>
                        <a:t> Vision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 err="1">
                          <a:latin typeface="Trebuchet MS" panose="020B0603020202020204" pitchFamily="34" charset="0"/>
                        </a:rPr>
                        <a:t>Aipoly</a:t>
                      </a:r>
                      <a:endParaRPr lang="en-US" sz="3200" dirty="0">
                        <a:latin typeface="Trebuchet MS" panose="020B0603020202020204" pitchFamily="34" charset="0"/>
                      </a:endParaRPr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sz="3200" dirty="0">
                          <a:latin typeface="Trebuchet MS" panose="020B0603020202020204" pitchFamily="34" charset="0"/>
                        </a:rPr>
                        <a:t>Technology</a:t>
                      </a:r>
                    </a:p>
                    <a:p>
                      <a:pPr algn="ctr"/>
                      <a:endParaRPr lang="en-US" sz="3200" dirty="0">
                        <a:latin typeface="Trebuchet MS" panose="020B0603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3788616973"/>
                  </a:ext>
                </a:extLst>
              </a:tr>
              <a:tr h="777240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3200" dirty="0">
                        <a:latin typeface="Trebuchet MS" panose="020B0603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>
                          <a:latin typeface="Trebuchet MS" panose="020B0603020202020204" pitchFamily="34" charset="0"/>
                        </a:rPr>
                        <a:t>Cota Tile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 err="1">
                          <a:latin typeface="Trebuchet MS" panose="020B0603020202020204" pitchFamily="34" charset="0"/>
                        </a:rPr>
                        <a:t>Ossia</a:t>
                      </a:r>
                      <a:r>
                        <a:rPr lang="en-US" sz="3200" dirty="0">
                          <a:latin typeface="Trebuchet MS" panose="020B0603020202020204" pitchFamily="34" charset="0"/>
                        </a:rPr>
                        <a:t> </a:t>
                      </a: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en-US" sz="3200" dirty="0">
                        <a:latin typeface="Trebuchet MS" panose="020B0603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689888609"/>
                  </a:ext>
                </a:extLst>
              </a:tr>
            </a:tbl>
          </a:graphicData>
        </a:graphic>
      </p:graphicFrame>
      <p:grpSp>
        <p:nvGrpSpPr>
          <p:cNvPr id="128" name="Group 127">
            <a:extLst>
              <a:ext uri="{FF2B5EF4-FFF2-40B4-BE49-F238E27FC236}">
                <a16:creationId xmlns:a16="http://schemas.microsoft.com/office/drawing/2014/main" xmlns="" id="{DA6E5119-3C8B-4AB5-B27B-26175DC64D3E}"/>
              </a:ext>
            </a:extLst>
          </p:cNvPr>
          <p:cNvGrpSpPr/>
          <p:nvPr/>
        </p:nvGrpSpPr>
        <p:grpSpPr>
          <a:xfrm>
            <a:off x="24615080" y="21172088"/>
            <a:ext cx="3011717" cy="2603358"/>
            <a:chOff x="38085141" y="9446137"/>
            <a:chExt cx="11389735" cy="10246754"/>
          </a:xfrm>
        </p:grpSpPr>
        <p:pic>
          <p:nvPicPr>
            <p:cNvPr id="129" name="Shape 131"/>
            <p:cNvPicPr preferRelativeResize="0"/>
            <p:nvPr/>
          </p:nvPicPr>
          <p:blipFill>
            <a:blip r:embed="rId11">
              <a:alphaModFix/>
            </a:blip>
            <a:stretch>
              <a:fillRect/>
            </a:stretch>
          </p:blipFill>
          <p:spPr>
            <a:xfrm>
              <a:off x="38085141" y="9446150"/>
              <a:ext cx="11389735" cy="10246741"/>
            </a:xfrm>
            <a:prstGeom prst="rect">
              <a:avLst/>
            </a:prstGeom>
            <a:ln w="38100" cap="sq">
              <a:solidFill>
                <a:srgbClr val="000000"/>
              </a:solidFill>
              <a:prstDash val="solid"/>
              <a:miter lim="800000"/>
            </a:ln>
            <a:effectLst>
              <a:outerShdw blurRad="50800" dist="38100" dir="2700000" algn="tl" rotWithShape="0">
                <a:srgbClr val="000000">
                  <a:alpha val="43000"/>
                </a:srgbClr>
              </a:outerShdw>
            </a:effectLst>
          </p:spPr>
        </p:pic>
        <p:pic>
          <p:nvPicPr>
            <p:cNvPr id="130" name="Picture 4" descr="Nielsen Logo">
              <a:extLst>
                <a:ext uri="{FF2B5EF4-FFF2-40B4-BE49-F238E27FC236}">
                  <a16:creationId xmlns:a16="http://schemas.microsoft.com/office/drawing/2014/main" xmlns="" id="{F6135C43-D722-4030-BA65-E4B19D48DAC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8778579" y="9446137"/>
              <a:ext cx="857250" cy="123825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127" name="Picture 126">
            <a:extLst>
              <a:ext uri="{FF2B5EF4-FFF2-40B4-BE49-F238E27FC236}">
                <a16:creationId xmlns:a16="http://schemas.microsoft.com/office/drawing/2014/main" xmlns="" id="{E4A66F56-7896-4F0D-8E4D-C95D7EBEB10C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8627661" y="21386945"/>
            <a:ext cx="6725631" cy="2027343"/>
          </a:xfrm>
          <a:prstGeom prst="rect">
            <a:avLst/>
          </a:prstGeom>
        </p:spPr>
      </p:pic>
      <p:sp>
        <p:nvSpPr>
          <p:cNvPr id="136" name="Shape 120"/>
          <p:cNvSpPr txBox="1"/>
          <p:nvPr/>
        </p:nvSpPr>
        <p:spPr>
          <a:xfrm>
            <a:off x="15533216" y="25934195"/>
            <a:ext cx="6339909" cy="1789857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 sz="3200" b="1" dirty="0" smtClean="0">
                <a:latin typeface="Trebuchet MS"/>
                <a:ea typeface="Trebuchet MS"/>
                <a:cs typeface="Trebuchet MS"/>
                <a:sym typeface="Trebuchet MS"/>
              </a:rPr>
              <a:t>External Data Sources:</a:t>
            </a:r>
            <a:endParaRPr lang="en-US" sz="3200" b="1" dirty="0">
              <a:latin typeface="Trebuchet MS"/>
              <a:ea typeface="Trebuchet MS"/>
              <a:cs typeface="Trebuchet MS"/>
              <a:sym typeface="Trebuchet MS"/>
            </a:endParaRPr>
          </a:p>
          <a:p>
            <a:pPr lvl="0" algn="ctr" rtl="0">
              <a:spcBef>
                <a:spcPts val="0"/>
              </a:spcBef>
              <a:buClr>
                <a:schemeClr val="dk1"/>
              </a:buClr>
              <a:buSzPct val="30555"/>
              <a:buFont typeface="Arial"/>
              <a:buNone/>
            </a:pPr>
            <a:r>
              <a:rPr lang="en-US" sz="3200" dirty="0" smtClean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Websites &amp; News Sources</a:t>
            </a:r>
          </a:p>
          <a:p>
            <a:pPr lvl="0" algn="ctr" rtl="0">
              <a:spcBef>
                <a:spcPts val="0"/>
              </a:spcBef>
              <a:buClr>
                <a:schemeClr val="dk1"/>
              </a:buClr>
              <a:buSzPct val="30555"/>
              <a:buFont typeface="Arial"/>
              <a:buNone/>
            </a:pPr>
            <a:r>
              <a:rPr lang="en-US" sz="3200" dirty="0" smtClean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Product/Company Databases</a:t>
            </a:r>
            <a:endParaRPr lang="en-US" sz="3200" dirty="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97" name="Shape 106"/>
          <p:cNvSpPr txBox="1"/>
          <p:nvPr/>
        </p:nvSpPr>
        <p:spPr>
          <a:xfrm>
            <a:off x="1636184" y="14453557"/>
            <a:ext cx="9783783" cy="1444603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Calibri"/>
              <a:buNone/>
            </a:pPr>
            <a:endParaRPr lang="en-US" sz="3000" dirty="0" smtClean="0">
              <a:solidFill>
                <a:srgbClr val="141F22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lvl="0">
              <a:buClr>
                <a:schemeClr val="dk1"/>
              </a:buClr>
              <a:buSzPct val="25000"/>
            </a:pPr>
            <a:r>
              <a:rPr lang="en-US" sz="3000" dirty="0" smtClean="0">
                <a:solidFill>
                  <a:srgbClr val="141F22"/>
                </a:solidFill>
                <a:latin typeface="Trebuchet MS"/>
                <a:ea typeface="Trebuchet MS"/>
                <a:cs typeface="Trebuchet MS"/>
              </a:rPr>
              <a:t>Company </a:t>
            </a:r>
            <a:r>
              <a:rPr lang="en-US" sz="3000" dirty="0">
                <a:solidFill>
                  <a:srgbClr val="141F22"/>
                </a:solidFill>
                <a:latin typeface="Trebuchet MS"/>
                <a:ea typeface="Trebuchet MS"/>
                <a:cs typeface="Trebuchet MS"/>
              </a:rPr>
              <a:t>deep dives thoroughly examine </a:t>
            </a:r>
            <a:r>
              <a:rPr lang="en-US" sz="3000" i="1" dirty="0">
                <a:solidFill>
                  <a:srgbClr val="141F22"/>
                </a:solidFill>
                <a:latin typeface="Trebuchet MS"/>
                <a:ea typeface="Trebuchet MS"/>
                <a:cs typeface="Trebuchet MS"/>
              </a:rPr>
              <a:t>public sources of data </a:t>
            </a:r>
            <a:r>
              <a:rPr lang="en-US" sz="3000" dirty="0">
                <a:solidFill>
                  <a:srgbClr val="141F22"/>
                </a:solidFill>
                <a:latin typeface="Trebuchet MS"/>
                <a:ea typeface="Trebuchet MS"/>
                <a:cs typeface="Trebuchet MS"/>
              </a:rPr>
              <a:t>to identify particular innovations and identify data sources that might be used to identify initial market entry of those innovations.</a:t>
            </a:r>
            <a:endParaRPr lang="en-US" sz="3000" dirty="0">
              <a:solidFill>
                <a:srgbClr val="141F22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Calibri"/>
              <a:buNone/>
            </a:pPr>
            <a:r>
              <a:rPr lang="en-US" sz="3000" b="1" dirty="0">
                <a:solidFill>
                  <a:srgbClr val="141F22"/>
                </a:solidFill>
                <a:latin typeface="Trebuchet MS"/>
                <a:ea typeface="Trebuchet MS"/>
                <a:cs typeface="Trebuchet MS"/>
                <a:sym typeface="Trebuchet MS"/>
              </a:rPr>
              <a:t>Criteria for choosing companies:</a:t>
            </a:r>
          </a:p>
          <a:p>
            <a:pPr marL="387350" marR="0" lvl="0" indent="-35242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F22"/>
              </a:buClr>
              <a:buSzPct val="100000"/>
              <a:buFont typeface="Trebuchet MS"/>
              <a:buChar char="●"/>
            </a:pPr>
            <a:r>
              <a:rPr lang="en-US" sz="3000" dirty="0" smtClean="0">
                <a:solidFill>
                  <a:srgbClr val="141F22"/>
                </a:solidFill>
                <a:latin typeface="Trebuchet MS"/>
                <a:ea typeface="Trebuchet MS"/>
                <a:cs typeface="Trebuchet MS"/>
                <a:sym typeface="Trebuchet MS"/>
              </a:rPr>
              <a:t>Size</a:t>
            </a:r>
          </a:p>
          <a:p>
            <a:pPr marL="387350" marR="0" lvl="0" indent="-35242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F22"/>
              </a:buClr>
              <a:buSzPct val="100000"/>
              <a:buFont typeface="Trebuchet MS"/>
              <a:buChar char="●"/>
            </a:pPr>
            <a:endParaRPr lang="en-US" sz="3000" b="1" dirty="0" smtClean="0">
              <a:solidFill>
                <a:srgbClr val="141F22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Calibri"/>
              <a:buNone/>
            </a:pPr>
            <a:r>
              <a:rPr lang="en-US" sz="3000" b="1" dirty="0" smtClean="0">
                <a:solidFill>
                  <a:srgbClr val="C00000"/>
                </a:solidFill>
                <a:latin typeface="Trebuchet MS"/>
                <a:ea typeface="Trebuchet MS"/>
                <a:cs typeface="Trebuchet MS"/>
                <a:sym typeface="Trebuchet MS"/>
              </a:rPr>
              <a:t>PROCTER &amp; GAMBLE: </a:t>
            </a:r>
          </a:p>
          <a:p>
            <a:pPr marL="387350" marR="0" lvl="0" indent="-35242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F22"/>
              </a:buClr>
              <a:buSzPct val="100000"/>
              <a:buFont typeface="Trebuchet MS"/>
              <a:buChar char="●"/>
            </a:pPr>
            <a:r>
              <a:rPr lang="en-US" sz="3000" dirty="0" smtClean="0">
                <a:solidFill>
                  <a:srgbClr val="141F22"/>
                </a:solidFill>
                <a:latin typeface="Trebuchet MS"/>
                <a:ea typeface="Trebuchet MS"/>
                <a:cs typeface="Trebuchet MS"/>
                <a:sym typeface="Trebuchet MS"/>
              </a:rPr>
              <a:t>“Innovation starts with the consumer”</a:t>
            </a:r>
          </a:p>
          <a:p>
            <a:pPr marL="422275" marR="0" lvl="0" indent="-387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F22"/>
              </a:buClr>
              <a:buSzPct val="100000"/>
              <a:buFont typeface="Trebuchet MS"/>
              <a:buChar char="●"/>
            </a:pPr>
            <a:r>
              <a:rPr lang="en-US" sz="3000" dirty="0" smtClean="0">
                <a:solidFill>
                  <a:srgbClr val="141F22"/>
                </a:solidFill>
                <a:latin typeface="Trebuchet MS"/>
                <a:ea typeface="Trebuchet MS"/>
                <a:cs typeface="Trebuchet MS"/>
                <a:sym typeface="Trebuchet MS"/>
              </a:rPr>
              <a:t>Open Innovation: Connect + Develop</a:t>
            </a:r>
          </a:p>
          <a:p>
            <a:pPr marL="387350" marR="0" lvl="0" indent="-35242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F22"/>
              </a:buClr>
              <a:buSzPct val="100000"/>
              <a:buFont typeface="Trebuchet MS"/>
              <a:buChar char="●"/>
            </a:pPr>
            <a:r>
              <a:rPr lang="en-US" sz="3000" dirty="0" smtClean="0">
                <a:solidFill>
                  <a:srgbClr val="141F22"/>
                </a:solidFill>
                <a:latin typeface="Trebuchet MS"/>
                <a:ea typeface="Trebuchet MS"/>
                <a:cs typeface="Trebuchet MS"/>
                <a:sym typeface="Trebuchet MS"/>
              </a:rPr>
              <a:t>Product &amp; Marketing Innovation (</a:t>
            </a:r>
            <a:r>
              <a:rPr lang="en-US" sz="3000" dirty="0" err="1" smtClean="0">
                <a:solidFill>
                  <a:srgbClr val="141F22"/>
                </a:solidFill>
                <a:latin typeface="Trebuchet MS"/>
                <a:ea typeface="Trebuchet MS"/>
                <a:cs typeface="Trebuchet MS"/>
                <a:sym typeface="Trebuchet MS"/>
              </a:rPr>
              <a:t>e.g.,Tide</a:t>
            </a:r>
            <a:r>
              <a:rPr lang="en-US" sz="3000" dirty="0" smtClean="0">
                <a:solidFill>
                  <a:srgbClr val="141F22"/>
                </a:solidFill>
                <a:latin typeface="Trebuchet MS"/>
                <a:ea typeface="Trebuchet MS"/>
                <a:cs typeface="Trebuchet MS"/>
                <a:sym typeface="Trebuchet MS"/>
              </a:rPr>
              <a:t> Pods)</a:t>
            </a:r>
            <a:endParaRPr lang="en-US" sz="3000" dirty="0">
              <a:solidFill>
                <a:srgbClr val="141F22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9" name="Right Arrow 38"/>
          <p:cNvSpPr/>
          <p:nvPr/>
        </p:nvSpPr>
        <p:spPr>
          <a:xfrm>
            <a:off x="27626797" y="22256330"/>
            <a:ext cx="941781" cy="21743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3" name="TextBox 142"/>
          <p:cNvSpPr txBox="1"/>
          <p:nvPr/>
        </p:nvSpPr>
        <p:spPr>
          <a:xfrm>
            <a:off x="1780282" y="38062866"/>
            <a:ext cx="3210778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b="1" dirty="0" smtClean="0">
                <a:solidFill>
                  <a:srgbClr val="141F22"/>
                </a:solidFill>
                <a:latin typeface="Trebuchet MS" charset="0"/>
                <a:ea typeface="Trebuchet MS" charset="0"/>
                <a:cs typeface="Trebuchet MS" charset="0"/>
              </a:rPr>
              <a:t>Future work involves:  </a:t>
            </a:r>
          </a:p>
          <a:p>
            <a:pPr marL="571500" indent="-571500">
              <a:buFont typeface="Arial" charset="0"/>
              <a:buChar char="•"/>
            </a:pPr>
            <a:r>
              <a:rPr lang="en-US" sz="3000" dirty="0" smtClean="0">
                <a:solidFill>
                  <a:srgbClr val="141F22"/>
                </a:solidFill>
                <a:latin typeface="Trebuchet MS" charset="0"/>
                <a:ea typeface="Trebuchet MS" charset="0"/>
                <a:cs typeface="Trebuchet MS" charset="0"/>
              </a:rPr>
              <a:t>conducting company interviews to identify data sources and validate findings with follow up interviews</a:t>
            </a:r>
            <a:endParaRPr lang="en-US" sz="3000" dirty="0">
              <a:solidFill>
                <a:srgbClr val="141F22"/>
              </a:solidFill>
              <a:latin typeface="Trebuchet MS" charset="0"/>
              <a:ea typeface="Trebuchet MS" charset="0"/>
              <a:cs typeface="Trebuchet MS" charset="0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1945354" y="11876524"/>
            <a:ext cx="32821321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Arial" charset="0"/>
              <a:buChar char="•"/>
            </a:pPr>
            <a:r>
              <a:rPr lang="en-US" sz="3000" dirty="0">
                <a:latin typeface="Trebuchet MS" charset="0"/>
                <a:ea typeface="Trebuchet MS" charset="0"/>
                <a:cs typeface="Trebuchet MS" charset="0"/>
              </a:rPr>
              <a:t>The data discovery process aims to identify particular innovations, and where those innovations have left behind observable and traceable evidence that can then be captured </a:t>
            </a:r>
            <a:r>
              <a:rPr lang="en-US" sz="3000" dirty="0" smtClean="0">
                <a:latin typeface="Trebuchet MS" charset="0"/>
                <a:ea typeface="Trebuchet MS" charset="0"/>
                <a:cs typeface="Trebuchet MS" charset="0"/>
              </a:rPr>
              <a:t>with techniques such as web-scraping and text mining. </a:t>
            </a:r>
          </a:p>
          <a:p>
            <a:pPr marL="571500" indent="-571500">
              <a:buFont typeface="Arial" charset="0"/>
              <a:buChar char="•"/>
            </a:pPr>
            <a:r>
              <a:rPr lang="en-US" sz="3000" dirty="0" smtClean="0">
                <a:latin typeface="Trebuchet MS" charset="0"/>
                <a:ea typeface="Trebuchet MS" charset="0"/>
                <a:cs typeface="Trebuchet MS" charset="0"/>
              </a:rPr>
              <a:t>We </a:t>
            </a:r>
            <a:r>
              <a:rPr lang="en-US" sz="3000" dirty="0">
                <a:latin typeface="Trebuchet MS" charset="0"/>
                <a:ea typeface="Trebuchet MS" charset="0"/>
                <a:cs typeface="Trebuchet MS" charset="0"/>
              </a:rPr>
              <a:t>identify innovations using two approaches: (</a:t>
            </a:r>
            <a:r>
              <a:rPr lang="en-US" sz="3000" dirty="0" err="1">
                <a:latin typeface="Trebuchet MS" charset="0"/>
                <a:ea typeface="Trebuchet MS" charset="0"/>
                <a:cs typeface="Trebuchet MS" charset="0"/>
              </a:rPr>
              <a:t>i</a:t>
            </a:r>
            <a:r>
              <a:rPr lang="en-US" sz="3000" dirty="0">
                <a:latin typeface="Trebuchet MS" charset="0"/>
                <a:ea typeface="Trebuchet MS" charset="0"/>
                <a:cs typeface="Trebuchet MS" charset="0"/>
              </a:rPr>
              <a:t>) awards offered to particular innovations, and (ii) company deep dives. Additionally, we conduct a literature review to identify data sources prior researchers have employed.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945354" y="10910632"/>
            <a:ext cx="1236268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 smtClean="0">
                <a:solidFill>
                  <a:srgbClr val="141F22"/>
                </a:solidFill>
                <a:latin typeface="Raleway" charset="0"/>
                <a:ea typeface="Raleway" charset="0"/>
                <a:cs typeface="Raleway" charset="0"/>
              </a:rPr>
              <a:t>Data Discovery</a:t>
            </a:r>
            <a:endParaRPr lang="en-US" sz="4800" b="0" i="0" dirty="0">
              <a:solidFill>
                <a:srgbClr val="141F22"/>
              </a:solidFill>
              <a:latin typeface="Raleway" charset="0"/>
              <a:ea typeface="Raleway" charset="0"/>
              <a:cs typeface="Raleway" charset="0"/>
            </a:endParaRPr>
          </a:p>
        </p:txBody>
      </p:sp>
      <p:sp>
        <p:nvSpPr>
          <p:cNvPr id="60" name="Shape 106"/>
          <p:cNvSpPr txBox="1"/>
          <p:nvPr/>
        </p:nvSpPr>
        <p:spPr>
          <a:xfrm>
            <a:off x="1698428" y="24183545"/>
            <a:ext cx="10620508" cy="2373431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dirty="0" smtClean="0">
                <a:solidFill>
                  <a:srgbClr val="C00000"/>
                </a:solidFill>
                <a:latin typeface="Trebuchet MS"/>
                <a:ea typeface="Trebuchet MS"/>
                <a:cs typeface="Trebuchet MS"/>
                <a:sym typeface="Trebuchet MS"/>
              </a:rPr>
              <a:t>CAPITAL ONE:</a:t>
            </a:r>
            <a:endParaRPr lang="en-US" sz="3000" b="1" dirty="0">
              <a:solidFill>
                <a:srgbClr val="C0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280988" marR="0" lvl="0" indent="-24606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F22"/>
              </a:buClr>
              <a:buSzPct val="100000"/>
              <a:buFont typeface="Trebuchet MS"/>
              <a:buChar char="●"/>
            </a:pPr>
            <a:r>
              <a:rPr lang="en-US" sz="3000" dirty="0" smtClean="0">
                <a:solidFill>
                  <a:srgbClr val="141F22"/>
                </a:solidFill>
                <a:latin typeface="Trebuchet MS"/>
                <a:ea typeface="Trebuchet MS"/>
                <a:cs typeface="Trebuchet MS"/>
                <a:sym typeface="Trebuchet MS"/>
              </a:rPr>
              <a:t> “</a:t>
            </a:r>
            <a:r>
              <a:rPr lang="en-US" sz="3000" dirty="0">
                <a:solidFill>
                  <a:srgbClr val="141F22"/>
                </a:solidFill>
                <a:latin typeface="Trebuchet MS"/>
                <a:ea typeface="Trebuchet MS"/>
                <a:cs typeface="Trebuchet MS"/>
                <a:sym typeface="Trebuchet MS"/>
              </a:rPr>
              <a:t>To design new experiences that empower customers to better manage their finances”</a:t>
            </a:r>
          </a:p>
          <a:p>
            <a:pPr marL="352425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F22"/>
              </a:buClr>
              <a:buSzPct val="100000"/>
              <a:buFont typeface="Trebuchet MS"/>
              <a:buChar char="●"/>
            </a:pPr>
            <a:r>
              <a:rPr lang="en-US" sz="3000" dirty="0" smtClean="0">
                <a:solidFill>
                  <a:srgbClr val="141F22"/>
                </a:solidFill>
                <a:latin typeface="Trebuchet MS"/>
                <a:ea typeface="Trebuchet MS"/>
                <a:cs typeface="Trebuchet MS"/>
                <a:sym typeface="Trebuchet MS"/>
              </a:rPr>
              <a:t> ENO </a:t>
            </a:r>
            <a:r>
              <a:rPr lang="en-US" sz="3000" dirty="0">
                <a:solidFill>
                  <a:srgbClr val="141F22"/>
                </a:solidFill>
                <a:latin typeface="Trebuchet MS"/>
                <a:ea typeface="Trebuchet MS"/>
                <a:cs typeface="Trebuchet MS"/>
                <a:sym typeface="Trebuchet MS"/>
              </a:rPr>
              <a:t>- Capital One assistant text message</a:t>
            </a:r>
          </a:p>
          <a:p>
            <a:pPr marL="493713" marR="0" lvl="0" indent="-45878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F22"/>
              </a:buClr>
              <a:buSzPct val="100000"/>
              <a:buFont typeface="Trebuchet MS"/>
              <a:buChar char="●"/>
            </a:pPr>
            <a:r>
              <a:rPr lang="en-US" sz="3000" dirty="0">
                <a:solidFill>
                  <a:srgbClr val="141F22"/>
                </a:solidFill>
                <a:latin typeface="Trebuchet MS"/>
                <a:ea typeface="Trebuchet MS"/>
                <a:cs typeface="Trebuchet MS"/>
                <a:sym typeface="Trebuchet MS"/>
              </a:rPr>
              <a:t>Capital One Labs </a:t>
            </a:r>
            <a:r>
              <a:rPr lang="en-US" sz="3000" dirty="0" smtClean="0">
                <a:solidFill>
                  <a:srgbClr val="141F22"/>
                </a:solidFill>
                <a:latin typeface="Trebuchet MS"/>
                <a:ea typeface="Trebuchet MS"/>
                <a:cs typeface="Trebuchet MS"/>
                <a:sym typeface="Trebuchet MS"/>
              </a:rPr>
              <a:t>- towards </a:t>
            </a:r>
            <a:r>
              <a:rPr lang="en-US" sz="3000" dirty="0">
                <a:solidFill>
                  <a:srgbClr val="141F22"/>
                </a:solidFill>
                <a:latin typeface="Trebuchet MS"/>
                <a:ea typeface="Trebuchet MS"/>
                <a:cs typeface="Trebuchet MS"/>
                <a:sym typeface="Trebuchet MS"/>
              </a:rPr>
              <a:t>the digital </a:t>
            </a:r>
            <a:r>
              <a:rPr lang="en-US" sz="3000" dirty="0" smtClean="0">
                <a:solidFill>
                  <a:srgbClr val="141F22"/>
                </a:solidFill>
                <a:latin typeface="Trebuchet MS"/>
                <a:ea typeface="Trebuchet MS"/>
                <a:cs typeface="Trebuchet MS"/>
                <a:sym typeface="Trebuchet MS"/>
              </a:rPr>
              <a:t>banking</a:t>
            </a:r>
            <a:endParaRPr lang="en-US" sz="3000" dirty="0">
              <a:solidFill>
                <a:srgbClr val="141F22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61" name="Shape 106"/>
          <p:cNvSpPr txBox="1"/>
          <p:nvPr/>
        </p:nvSpPr>
        <p:spPr>
          <a:xfrm>
            <a:off x="1638992" y="30724588"/>
            <a:ext cx="10739379" cy="2612457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lvl="0" rtl="0">
              <a:spcBef>
                <a:spcPts val="0"/>
              </a:spcBef>
              <a:buClr>
                <a:schemeClr val="dk1"/>
              </a:buClr>
              <a:buSzPct val="30555"/>
              <a:buFont typeface="Arial"/>
              <a:buNone/>
            </a:pPr>
            <a:r>
              <a:rPr lang="en-US" sz="3000" b="1" dirty="0" smtClean="0">
                <a:solidFill>
                  <a:srgbClr val="C00000"/>
                </a:solidFill>
                <a:latin typeface="Trebuchet MS"/>
                <a:ea typeface="Trebuchet MS"/>
                <a:cs typeface="Trebuchet MS"/>
                <a:sym typeface="Trebuchet MS"/>
              </a:rPr>
              <a:t>LUNA INNOVATIONS: </a:t>
            </a:r>
            <a:endParaRPr lang="en-US" sz="3000" b="1" dirty="0">
              <a:solidFill>
                <a:srgbClr val="C0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422275" indent="-387350">
              <a:buClr>
                <a:srgbClr val="141F22"/>
              </a:buClr>
              <a:buSzPct val="100000"/>
              <a:buFont typeface="Trebuchet MS"/>
              <a:buChar char="●"/>
            </a:pPr>
            <a:r>
              <a:rPr lang="en-US" sz="3000" dirty="0" smtClean="0">
                <a:solidFill>
                  <a:srgbClr val="141F22"/>
                </a:solidFill>
                <a:latin typeface="Trebuchet MS"/>
                <a:ea typeface="Trebuchet MS"/>
                <a:cs typeface="Trebuchet MS"/>
                <a:sym typeface="Trebuchet MS"/>
              </a:rPr>
              <a:t>“Research </a:t>
            </a:r>
            <a:r>
              <a:rPr lang="en-US" sz="3000" dirty="0">
                <a:solidFill>
                  <a:srgbClr val="141F22"/>
                </a:solidFill>
                <a:latin typeface="Trebuchet MS"/>
                <a:ea typeface="Trebuchet MS"/>
                <a:cs typeface="Trebuchet MS"/>
                <a:sym typeface="Trebuchet MS"/>
              </a:rPr>
              <a:t>+ </a:t>
            </a:r>
            <a:r>
              <a:rPr lang="en-US" sz="3000" dirty="0" smtClean="0">
                <a:solidFill>
                  <a:srgbClr val="141F22"/>
                </a:solidFill>
                <a:latin typeface="Trebuchet MS"/>
                <a:ea typeface="Trebuchet MS"/>
                <a:cs typeface="Trebuchet MS"/>
                <a:sym typeface="Trebuchet MS"/>
              </a:rPr>
              <a:t>Development”</a:t>
            </a:r>
          </a:p>
          <a:p>
            <a:pPr marL="493713" lvl="0" indent="-458788" rtl="0">
              <a:spcBef>
                <a:spcPts val="0"/>
              </a:spcBef>
              <a:buClr>
                <a:srgbClr val="141F22"/>
              </a:buClr>
              <a:buSzPct val="100000"/>
              <a:buFont typeface="Trebuchet MS"/>
              <a:buChar char="●"/>
            </a:pPr>
            <a:r>
              <a:rPr lang="en-US" sz="3000" dirty="0">
                <a:solidFill>
                  <a:srgbClr val="141F22"/>
                </a:solidFill>
                <a:latin typeface="Trebuchet MS"/>
                <a:ea typeface="Trebuchet MS"/>
                <a:cs typeface="Trebuchet MS"/>
                <a:sym typeface="Trebuchet MS"/>
              </a:rPr>
              <a:t>P</a:t>
            </a:r>
            <a:r>
              <a:rPr lang="en-US" sz="3000" dirty="0" smtClean="0">
                <a:solidFill>
                  <a:srgbClr val="141F22"/>
                </a:solidFill>
                <a:latin typeface="Trebuchet MS"/>
                <a:ea typeface="Trebuchet MS"/>
                <a:cs typeface="Trebuchet MS"/>
                <a:sym typeface="Trebuchet MS"/>
              </a:rPr>
              <a:t>roduct Development (e.g., </a:t>
            </a:r>
            <a:r>
              <a:rPr lang="en-US" sz="3000" dirty="0">
                <a:solidFill>
                  <a:srgbClr val="141F22"/>
                </a:solidFill>
                <a:latin typeface="Trebuchet MS"/>
                <a:ea typeface="Trebuchet MS"/>
                <a:cs typeface="Trebuchet MS"/>
                <a:sym typeface="Trebuchet MS"/>
              </a:rPr>
              <a:t>Fiber Optic </a:t>
            </a:r>
            <a:r>
              <a:rPr lang="en-US" sz="3000" dirty="0" smtClean="0">
                <a:solidFill>
                  <a:srgbClr val="141F22"/>
                </a:solidFill>
                <a:latin typeface="Trebuchet MS"/>
                <a:ea typeface="Trebuchet MS"/>
                <a:cs typeface="Trebuchet MS"/>
                <a:sym typeface="Trebuchet MS"/>
              </a:rPr>
              <a:t>Sensor)</a:t>
            </a:r>
            <a:endParaRPr lang="en-US" sz="3000" dirty="0">
              <a:solidFill>
                <a:srgbClr val="141F22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457200" lvl="0" indent="-422275" rtl="0">
              <a:spcBef>
                <a:spcPts val="0"/>
              </a:spcBef>
              <a:buClr>
                <a:srgbClr val="141F22"/>
              </a:buClr>
              <a:buSzPct val="100000"/>
              <a:buFont typeface="Trebuchet MS"/>
              <a:buChar char="●"/>
            </a:pPr>
            <a:r>
              <a:rPr lang="en-US" sz="3000" dirty="0">
                <a:solidFill>
                  <a:srgbClr val="141F22"/>
                </a:solidFill>
                <a:latin typeface="Trebuchet MS"/>
                <a:ea typeface="Trebuchet MS"/>
                <a:cs typeface="Trebuchet MS"/>
                <a:sym typeface="Trebuchet MS"/>
              </a:rPr>
              <a:t>Create subsidiaries for some successful </a:t>
            </a:r>
            <a:r>
              <a:rPr lang="en-US" sz="3000" dirty="0" smtClean="0">
                <a:solidFill>
                  <a:srgbClr val="141F22"/>
                </a:solidFill>
                <a:latin typeface="Trebuchet MS"/>
                <a:ea typeface="Trebuchet MS"/>
                <a:cs typeface="Trebuchet MS"/>
                <a:sym typeface="Trebuchet MS"/>
              </a:rPr>
              <a:t>products </a:t>
            </a:r>
            <a:r>
              <a:rPr lang="en-US" sz="3000" dirty="0">
                <a:solidFill>
                  <a:srgbClr val="141F22"/>
                </a:solidFill>
                <a:latin typeface="Trebuchet MS"/>
                <a:ea typeface="Trebuchet MS"/>
                <a:cs typeface="Trebuchet MS"/>
                <a:sym typeface="Trebuchet MS"/>
              </a:rPr>
              <a:t>they offer</a:t>
            </a:r>
          </a:p>
        </p:txBody>
      </p:sp>
      <p:sp>
        <p:nvSpPr>
          <p:cNvPr id="63" name="Shape 106"/>
          <p:cNvSpPr txBox="1"/>
          <p:nvPr/>
        </p:nvSpPr>
        <p:spPr>
          <a:xfrm>
            <a:off x="4437691" y="17172708"/>
            <a:ext cx="7209861" cy="717811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914400" lvl="0" indent="-457200">
              <a:buClr>
                <a:srgbClr val="141F22"/>
              </a:buClr>
              <a:buSzPct val="100000"/>
              <a:buFont typeface="Trebuchet MS"/>
              <a:buChar char="●"/>
            </a:pPr>
            <a:r>
              <a:rPr lang="en-US" sz="3000" dirty="0" smtClean="0">
                <a:solidFill>
                  <a:srgbClr val="141F22"/>
                </a:solidFill>
                <a:latin typeface="Trebuchet MS"/>
                <a:ea typeface="Trebuchet MS"/>
                <a:cs typeface="Trebuchet MS"/>
                <a:sym typeface="Trebuchet MS"/>
              </a:rPr>
              <a:t>Connections </a:t>
            </a:r>
            <a:r>
              <a:rPr lang="en-US" sz="3000" dirty="0">
                <a:solidFill>
                  <a:srgbClr val="141F22"/>
                </a:solidFill>
                <a:latin typeface="Trebuchet MS"/>
                <a:ea typeface="Trebuchet MS"/>
                <a:cs typeface="Trebuchet MS"/>
                <a:sym typeface="Trebuchet MS"/>
              </a:rPr>
              <a:t>(for future interviews</a:t>
            </a:r>
            <a:r>
              <a:rPr lang="en-US" sz="3000" dirty="0" smtClean="0">
                <a:solidFill>
                  <a:srgbClr val="141F22"/>
                </a:solidFill>
                <a:latin typeface="Trebuchet MS"/>
                <a:ea typeface="Trebuchet MS"/>
                <a:cs typeface="Trebuchet MS"/>
                <a:sym typeface="Trebuchet MS"/>
              </a:rPr>
              <a:t>)</a:t>
            </a:r>
            <a:endParaRPr lang="en-US" sz="3000" dirty="0">
              <a:solidFill>
                <a:srgbClr val="141F22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66" name="Shape 106"/>
          <p:cNvSpPr txBox="1"/>
          <p:nvPr/>
        </p:nvSpPr>
        <p:spPr>
          <a:xfrm>
            <a:off x="2440793" y="17145772"/>
            <a:ext cx="3115360" cy="533386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914400" lvl="0" indent="-457200">
              <a:buClr>
                <a:srgbClr val="141F22"/>
              </a:buClr>
              <a:buSzPct val="100000"/>
              <a:buFont typeface="Trebuchet MS"/>
              <a:buChar char="●"/>
            </a:pPr>
            <a:r>
              <a:rPr lang="en-US" sz="3000" smtClean="0">
                <a:solidFill>
                  <a:srgbClr val="141F22"/>
                </a:solidFill>
                <a:latin typeface="Trebuchet MS"/>
                <a:ea typeface="Trebuchet MS"/>
                <a:cs typeface="Trebuchet MS"/>
                <a:sym typeface="Trebuchet MS"/>
              </a:rPr>
              <a:t>Industry</a:t>
            </a:r>
            <a:endParaRPr lang="en-US" sz="3000" dirty="0">
              <a:solidFill>
                <a:srgbClr val="141F22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" name="Rounded Rectangle 1"/>
          <p:cNvSpPr/>
          <p:nvPr/>
        </p:nvSpPr>
        <p:spPr>
          <a:xfrm>
            <a:off x="772735" y="14655007"/>
            <a:ext cx="11821548" cy="23154071"/>
          </a:xfrm>
          <a:prstGeom prst="roundRect">
            <a:avLst/>
          </a:prstGeom>
          <a:solidFill>
            <a:srgbClr val="DD7E6B">
              <a:alpha val="14000"/>
            </a:srgbClr>
          </a:solidFill>
          <a:ln w="9525" cap="flat" cmpd="sng">
            <a:noFill/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endParaRPr lang="en-US" sz="3600">
              <a:solidFill>
                <a:schemeClr val="tx1"/>
              </a:solidFill>
              <a:latin typeface="Trebuchet MS"/>
              <a:ea typeface="Trebuchet MS"/>
              <a:cs typeface="Trebuchet MS"/>
            </a:endParaRPr>
          </a:p>
        </p:txBody>
      </p:sp>
      <p:sp>
        <p:nvSpPr>
          <p:cNvPr id="71" name="TextBox 70"/>
          <p:cNvSpPr txBox="1"/>
          <p:nvPr/>
        </p:nvSpPr>
        <p:spPr>
          <a:xfrm>
            <a:off x="5794650" y="38064690"/>
            <a:ext cx="783766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87350" indent="-387350">
              <a:buFont typeface="Arial" charset="0"/>
              <a:buChar char="•"/>
            </a:pPr>
            <a:r>
              <a:rPr lang="en-US" sz="3000" dirty="0" smtClean="0">
                <a:solidFill>
                  <a:srgbClr val="141F22"/>
                </a:solidFill>
                <a:latin typeface="Trebuchet MS" charset="0"/>
                <a:ea typeface="Trebuchet MS" charset="0"/>
                <a:cs typeface="Trebuchet MS" charset="0"/>
              </a:rPr>
              <a:t>identifying more websites and databases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3472885" y="38037322"/>
            <a:ext cx="12858657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52425" indent="-352425">
              <a:buFont typeface="Arial" charset="0"/>
              <a:buChar char="•"/>
            </a:pPr>
            <a:r>
              <a:rPr lang="en-US" sz="3000" dirty="0" smtClean="0">
                <a:solidFill>
                  <a:srgbClr val="141F22"/>
                </a:solidFill>
                <a:latin typeface="Trebuchet MS" charset="0"/>
                <a:ea typeface="Trebuchet MS" charset="0"/>
                <a:cs typeface="Trebuchet MS" charset="0"/>
              </a:rPr>
              <a:t>capturing other data sources such as trade magazines, SEC filings</a:t>
            </a:r>
            <a:endParaRPr lang="en-US" sz="3000" dirty="0">
              <a:solidFill>
                <a:srgbClr val="141F22"/>
              </a:solidFill>
              <a:latin typeface="Trebuchet MS" charset="0"/>
              <a:ea typeface="Trebuchet MS" charset="0"/>
              <a:cs typeface="Trebuchet MS" charset="0"/>
            </a:endParaRPr>
          </a:p>
        </p:txBody>
      </p:sp>
      <p:pic>
        <p:nvPicPr>
          <p:cNvPr id="67" name="Picture 66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356014" y="39582281"/>
            <a:ext cx="3621185" cy="1589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9146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6377</TotalTime>
  <Words>716</Words>
  <Application>Microsoft Macintosh PowerPoint</Application>
  <PresentationFormat>Custom</PresentationFormat>
  <Paragraphs>115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Arial</vt:lpstr>
      <vt:lpstr>Blanch Caps</vt:lpstr>
      <vt:lpstr>Calibri</vt:lpstr>
      <vt:lpstr>Calibri Light</vt:lpstr>
      <vt:lpstr>Raleway</vt:lpstr>
      <vt:lpstr>Trebuchet MS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15.0030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xandershanks@yahoo.com</dc:creator>
  <cp:lastModifiedBy>xandershanks@yahoo.com</cp:lastModifiedBy>
  <cp:revision>54</cp:revision>
  <cp:lastPrinted>2017-07-21T20:57:45Z</cp:lastPrinted>
  <dcterms:created xsi:type="dcterms:W3CDTF">2017-07-12T21:21:51Z</dcterms:created>
  <dcterms:modified xsi:type="dcterms:W3CDTF">2017-07-24T13:27:23Z</dcterms:modified>
</cp:coreProperties>
</file>