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  <p:sldId id="257" r:id="rId6"/>
    <p:sldId id="260" r:id="rId7"/>
    <p:sldId id="258" r:id="rId8"/>
    <p:sldId id="259" r:id="rId9"/>
    <p:sldId id="261" r:id="rId10"/>
    <p:sldId id="263" r:id="rId11"/>
    <p:sldId id="264" r:id="rId12"/>
    <p:sldId id="26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E8ECF-C416-4E0D-A49F-A141DEA29205}" v="1" dt="2022-06-22T03:14:30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822"/>
  </p:normalViewPr>
  <p:slideViewPr>
    <p:cSldViewPr snapToGrid="0" snapToObjects="1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lvo, Cesar P (cpm9w)" userId="S::cpm9w@virginia.edu::0ce3372b-42c1-4f52-b82a-75d41fa137b1" providerId="AD" clId="Web-{087E8ECF-C416-4E0D-A49F-A141DEA29205}"/>
    <pc:docChg chg="modSld">
      <pc:chgData name="Montalvo, Cesar P (cpm9w)" userId="S::cpm9w@virginia.edu::0ce3372b-42c1-4f52-b82a-75d41fa137b1" providerId="AD" clId="Web-{087E8ECF-C416-4E0D-A49F-A141DEA29205}" dt="2022-06-22T03:14:30.946" v="0" actId="1076"/>
      <pc:docMkLst>
        <pc:docMk/>
      </pc:docMkLst>
      <pc:sldChg chg="modSp">
        <pc:chgData name="Montalvo, Cesar P (cpm9w)" userId="S::cpm9w@virginia.edu::0ce3372b-42c1-4f52-b82a-75d41fa137b1" providerId="AD" clId="Web-{087E8ECF-C416-4E0D-A49F-A141DEA29205}" dt="2022-06-22T03:14:30.946" v="0" actId="1076"/>
        <pc:sldMkLst>
          <pc:docMk/>
          <pc:sldMk cId="488805196" sldId="262"/>
        </pc:sldMkLst>
        <pc:picChg chg="mod">
          <ac:chgData name="Montalvo, Cesar P (cpm9w)" userId="S::cpm9w@virginia.edu::0ce3372b-42c1-4f52-b82a-75d41fa137b1" providerId="AD" clId="Web-{087E8ECF-C416-4E0D-A49F-A141DEA29205}" dt="2022-06-22T03:14:30.946" v="0" actId="1076"/>
          <ac:picMkLst>
            <pc:docMk/>
            <pc:sldMk cId="488805196" sldId="262"/>
            <ac:picMk id="10" creationId="{E79A227A-9541-A1CE-10E4-7C37412F9E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F4BC-C609-6EF7-3B0E-6BA7E6A37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53647-33DA-A557-F127-359C020C5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BD488-9C9F-ED71-0E9A-CD282D26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814FD-E132-A058-E6DD-098E7834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9D306-22C1-DA59-152D-0CFB7C86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6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481-5790-DF1F-7F06-F4D6E288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A6660-DCFB-B59A-5A0D-1FA24AFD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33F05-6444-8536-B608-FD45FB87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38C92-7AFF-787B-4A0B-4B800AA3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7A133-B103-10CE-9BD5-859245F9F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21D4-A9E1-07BD-38E5-082CED08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592D-BA87-3BF4-61DF-30CC2A2C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A78D-177D-46D5-6BDC-B41AC31E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8414C-C738-EF31-E055-62B647B6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CCF8-EDE9-57E7-0533-2D007417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9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18CE-F232-1E13-EEF8-F6E8E7D9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0146-EAD5-C081-6769-D81A47297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8D189-6468-9849-8F5F-5B97B6D15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2C547-FAEB-6AEC-0ADE-530BCD61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AFA2B-1E35-5A27-B8F1-B1C3C01E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9196D-E4F7-B5C9-4B48-ADF7FDA5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6D72-D992-9D3D-FF54-95AAD3EB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D7820-EB73-E82C-F919-65F4E4BDD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13426-4160-C524-074A-CC5DA93F5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95920-4734-CF6F-2634-265E6BC0C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CD4CF-A1B7-BA8F-E5C6-0C823D09B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DB86A-2637-1DFE-ECDC-961E4704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6D119-BC6D-17F5-7071-B4822305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15B74-6179-AF97-4F2B-9B3E9FF1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5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B7CF-47C2-5819-2235-B100BB88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D4391-FDDA-117A-344D-EC0F11AF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3DF18-0539-0016-1B7A-C44E787C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82596-B853-0B06-7721-AADEE59C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5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DFAB1-1779-9A5E-1051-E211934B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A81BF-8D7A-8229-A90A-8614B6D8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ED203-D383-D272-E09D-0331DED3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CE88-4CD1-3993-8862-FA8E5F5A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53DD-59C3-E556-7D57-4D686B783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181C3-94B2-7484-D5C7-6383C85A4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5F7E3-FADF-9573-027A-3EDC2DDA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29C7C-F8EE-D144-6B6A-ECCBC77D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EDE50-4BCF-61D8-1123-DC85E066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7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08E0-F640-1718-E117-C69F2592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E366F-86B6-0B75-D369-1FE9BC0C0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F436C-60B3-551C-8ED5-08493D3D6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AE3CE-6883-A71E-BD23-1EA42A70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863C4-84A4-EF31-10C5-D5F7B505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9512F-081F-A024-D33A-211C0761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0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AF37-FCE1-5802-728B-2F33C0F1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8D545-27F5-430D-1AA6-89DDCD54C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E8C61-BB7F-C416-6E4D-3523C46A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F49CA-6FD4-AF7A-F7F1-345F2D94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7F40-605C-84B1-BED1-D870B770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4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E0C89-1161-6BDD-CC2C-3698446BF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B36C5-9334-4E8D-6FBA-705CC4381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6A22-B5AA-3349-4C2B-1A2EA41E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DE87F-63D2-C94A-B508-58F6A2EF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FF208-E2EF-E7A6-DBB1-AFC952A6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6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3FBFF-F985-206F-D6B5-A5F1FD21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80993-6D5E-81B4-5885-A80CFA9A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CECD-0FAF-F8E0-CF2A-7002309EF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45BC-FC00-E045-A8F4-2F332722A29D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5AC98-442A-9657-4B30-A2B32DCA9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CE05A-518E-058D-32EA-D8EB1B854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597AD-D718-CD4B-B7FA-B410B3AF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hu2bk@virginia.edu" TargetMode="External"/><Relationship Id="rId2" Type="http://schemas.openxmlformats.org/officeDocument/2006/relationships/hyperlink" Target="mailto:hc2cc@virginia.edu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js2mr@virginia.edu" TargetMode="External"/><Relationship Id="rId4" Type="http://schemas.openxmlformats.org/officeDocument/2006/relationships/hyperlink" Target="mailto:cpm9w@virginia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census.gov/data/key_signup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ensusreporter.org/" TargetMode="External"/><Relationship Id="rId2" Type="http://schemas.openxmlformats.org/officeDocument/2006/relationships/hyperlink" Target="https://data.census.gov/cedsci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ensusreporter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916C-2254-E527-95C1-68EE51521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Census ACS and Decennial Survey through API in R: Q&amp;A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060AA-6F20-858A-E6C8-63858C080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30283"/>
          </a:xfrm>
        </p:spPr>
        <p:txBody>
          <a:bodyPr>
            <a:normAutofit/>
          </a:bodyPr>
          <a:lstStyle/>
          <a:p>
            <a:r>
              <a:rPr lang="en-US" dirty="0"/>
              <a:t>DSPG 2022</a:t>
            </a:r>
          </a:p>
          <a:p>
            <a:r>
              <a:rPr lang="en-US" dirty="0"/>
              <a:t>UVA BII Social Decision and Analytics </a:t>
            </a:r>
            <a:r>
              <a:rPr lang="en-US" dirty="0" err="1"/>
              <a:t>Divison</a:t>
            </a:r>
            <a:endParaRPr lang="en-US" dirty="0"/>
          </a:p>
          <a:p>
            <a:r>
              <a:rPr lang="en-US" sz="1800" dirty="0"/>
              <a:t>Hanna </a:t>
            </a:r>
            <a:r>
              <a:rPr lang="en-US" sz="1800" dirty="0" err="1"/>
              <a:t>Charankevich</a:t>
            </a:r>
            <a:r>
              <a:rPr lang="en-US" sz="1800" dirty="0"/>
              <a:t> </a:t>
            </a:r>
            <a:r>
              <a:rPr lang="en-US" sz="1800" dirty="0">
                <a:hlinkClick r:id="rId2"/>
              </a:rPr>
              <a:t>hc2cc@virginia.edu</a:t>
            </a:r>
            <a:endParaRPr lang="en-US" sz="1800" dirty="0"/>
          </a:p>
          <a:p>
            <a:r>
              <a:rPr lang="en-US" sz="1800" dirty="0"/>
              <a:t>Leonel G. SIWE </a:t>
            </a:r>
            <a:r>
              <a:rPr lang="en-US" sz="1800" dirty="0">
                <a:hlinkClick r:id="rId3"/>
              </a:rPr>
              <a:t>yhu2bk@virginia.edu</a:t>
            </a:r>
            <a:endParaRPr lang="en-US" sz="1800" dirty="0"/>
          </a:p>
          <a:p>
            <a:r>
              <a:rPr lang="en-US" sz="1800" dirty="0"/>
              <a:t>Cesar P. Montalvo* </a:t>
            </a:r>
            <a:r>
              <a:rPr lang="en-US" sz="1800" dirty="0">
                <a:hlinkClick r:id="rId4"/>
              </a:rPr>
              <a:t>cpm9w@virginia.edu</a:t>
            </a:r>
            <a:endParaRPr lang="en-US" sz="1800" dirty="0"/>
          </a:p>
          <a:p>
            <a:r>
              <a:rPr lang="en-US" sz="1800" dirty="0"/>
              <a:t>Joanna Schroeder* </a:t>
            </a:r>
            <a:r>
              <a:rPr lang="en-US" sz="1800" dirty="0">
                <a:hlinkClick r:id="rId5"/>
              </a:rPr>
              <a:t>js2mr@virginia.edu</a:t>
            </a:r>
            <a:endParaRPr lang="en-US" sz="1800" dirty="0"/>
          </a:p>
          <a:p>
            <a:endParaRPr lang="en-US" sz="1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CB550C-D92E-695A-28B3-4CB96C012BC1}"/>
              </a:ext>
            </a:extLst>
          </p:cNvPr>
          <p:cNvCxnSpPr/>
          <p:nvPr/>
        </p:nvCxnSpPr>
        <p:spPr>
          <a:xfrm>
            <a:off x="1072978" y="3567497"/>
            <a:ext cx="10046044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00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2D10F-7B16-5BF6-BDB9-371500DE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780503"/>
          </a:xfrm>
        </p:spPr>
        <p:txBody>
          <a:bodyPr>
            <a:normAutofit/>
          </a:bodyPr>
          <a:lstStyle/>
          <a:p>
            <a:r>
              <a:rPr lang="en-US" dirty="0"/>
              <a:t>Get Census API Key</a:t>
            </a:r>
          </a:p>
        </p:txBody>
      </p:sp>
      <p:pic>
        <p:nvPicPr>
          <p:cNvPr id="5" name="Picture 4" descr="Hand holding keys">
            <a:extLst>
              <a:ext uri="{FF2B5EF4-FFF2-40B4-BE49-F238E27FC236}">
                <a16:creationId xmlns:a16="http://schemas.microsoft.com/office/drawing/2014/main" id="{5B64CFC7-1266-B782-D430-651E956457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02" r="11264" b="-1"/>
          <a:stretch/>
        </p:blipFill>
        <p:spPr>
          <a:xfrm>
            <a:off x="21" y="10"/>
            <a:ext cx="5782942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6087-7958-D649-2A10-82A4FA5BE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297" y="966952"/>
            <a:ext cx="6184608" cy="5118538"/>
          </a:xfrm>
        </p:spPr>
        <p:txBody>
          <a:bodyPr>
            <a:normAutofit/>
          </a:bodyPr>
          <a:lstStyle/>
          <a:p>
            <a:r>
              <a:rPr lang="en-US" sz="2000" dirty="0"/>
              <a:t>Sign up for Census API key: </a:t>
            </a:r>
            <a:r>
              <a:rPr lang="en-US" sz="2000" dirty="0">
                <a:hlinkClick r:id="rId3"/>
              </a:rPr>
              <a:t>https://api.census.gov/data/key_signup.html</a:t>
            </a:r>
            <a:endParaRPr lang="en-US" sz="2000" dirty="0"/>
          </a:p>
          <a:p>
            <a:pPr lvl="1"/>
            <a:r>
              <a:rPr lang="en-US" sz="1600" dirty="0"/>
              <a:t>Example key: 593093e879f40e5da694bc35fe319cadc7823796</a:t>
            </a:r>
          </a:p>
          <a:p>
            <a:pPr lvl="1"/>
            <a:endParaRPr lang="en-US" sz="1600" dirty="0"/>
          </a:p>
          <a:p>
            <a:r>
              <a:rPr lang="en-US" sz="2000" dirty="0"/>
              <a:t>Set .</a:t>
            </a:r>
            <a:r>
              <a:rPr lang="en-US" sz="2000" dirty="0" err="1"/>
              <a:t>Renviron</a:t>
            </a:r>
            <a:r>
              <a:rPr lang="en-US" sz="2000" dirty="0"/>
              <a:t> file</a:t>
            </a:r>
          </a:p>
          <a:p>
            <a:pPr lvl="1"/>
            <a:r>
              <a:rPr lang="en-US" sz="1600" dirty="0"/>
              <a:t>Start R session</a:t>
            </a:r>
          </a:p>
          <a:p>
            <a:pPr lvl="1"/>
            <a:r>
              <a:rPr lang="en-US" sz="1600" dirty="0"/>
              <a:t>In your Home directory find and open .</a:t>
            </a:r>
            <a:r>
              <a:rPr lang="en-US" sz="1600" dirty="0" err="1"/>
              <a:t>Reviron</a:t>
            </a:r>
            <a:r>
              <a:rPr lang="en-US" sz="1600" dirty="0"/>
              <a:t> file</a:t>
            </a:r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endParaRPr lang="en-US" sz="2000" dirty="0"/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65853F9-296F-A509-A697-2D81E0C14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3160291"/>
            <a:ext cx="5259322" cy="356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0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D10F-7B16-5BF6-BDB9-371500DE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780503"/>
          </a:xfrm>
        </p:spPr>
        <p:txBody>
          <a:bodyPr>
            <a:normAutofit/>
          </a:bodyPr>
          <a:lstStyle/>
          <a:p>
            <a:r>
              <a:rPr lang="en-US" dirty="0"/>
              <a:t>Get Census API Key</a:t>
            </a:r>
          </a:p>
        </p:txBody>
      </p:sp>
      <p:pic>
        <p:nvPicPr>
          <p:cNvPr id="5" name="Picture 4" descr="Hand holding keys">
            <a:extLst>
              <a:ext uri="{FF2B5EF4-FFF2-40B4-BE49-F238E27FC236}">
                <a16:creationId xmlns:a16="http://schemas.microsoft.com/office/drawing/2014/main" id="{5B64CFC7-1266-B782-D430-651E956457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02" r="11264" b="-1"/>
          <a:stretch/>
        </p:blipFill>
        <p:spPr>
          <a:xfrm>
            <a:off x="21" y="10"/>
            <a:ext cx="5782942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6087-7958-D649-2A10-82A4FA5BE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297" y="755376"/>
            <a:ext cx="6184608" cy="51185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600" dirty="0"/>
          </a:p>
          <a:p>
            <a:r>
              <a:rPr lang="en-US" sz="2000" dirty="0"/>
              <a:t>Set .</a:t>
            </a:r>
            <a:r>
              <a:rPr lang="en-US" sz="2000" dirty="0" err="1"/>
              <a:t>Renviron</a:t>
            </a:r>
            <a:r>
              <a:rPr lang="en-US" sz="2000" dirty="0"/>
              <a:t> file</a:t>
            </a:r>
          </a:p>
          <a:p>
            <a:pPr lvl="1"/>
            <a:r>
              <a:rPr lang="en-US" sz="1600" dirty="0"/>
              <a:t>Start R session</a:t>
            </a:r>
          </a:p>
          <a:p>
            <a:pPr lvl="1"/>
            <a:r>
              <a:rPr lang="en-US" sz="1600" dirty="0"/>
              <a:t>In your Home directory find and open .</a:t>
            </a:r>
            <a:r>
              <a:rPr lang="en-US" sz="1600" dirty="0" err="1"/>
              <a:t>Reviron</a:t>
            </a:r>
            <a:r>
              <a:rPr lang="en-US" sz="1600" dirty="0"/>
              <a:t> file</a:t>
            </a:r>
          </a:p>
          <a:p>
            <a:pPr lvl="1"/>
            <a:r>
              <a:rPr lang="en-US" sz="1600" dirty="0"/>
              <a:t>Copy paste the Census API key from your email into .</a:t>
            </a:r>
            <a:r>
              <a:rPr lang="en-US" sz="1600" dirty="0" err="1"/>
              <a:t>Reviron</a:t>
            </a:r>
            <a:r>
              <a:rPr lang="en-US" sz="1600" dirty="0"/>
              <a:t> and save! </a:t>
            </a:r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endParaRPr lang="en-US" sz="2000" dirty="0"/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F74F297-79B9-4FB5-ABFB-7F8CCDA18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963" y="2576383"/>
            <a:ext cx="5547130" cy="418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1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74F10-1410-9618-7747-DDE0E1CC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More Resources to Explore Census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E7CF-2D03-D727-A0CD-757DF585E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Census Exploration tool: </a:t>
            </a:r>
          </a:p>
          <a:p>
            <a:pPr marL="0" indent="0">
              <a:buNone/>
            </a:pPr>
            <a:r>
              <a:rPr lang="en-US" sz="2200" dirty="0">
                <a:hlinkClick r:id="rId2"/>
              </a:rPr>
              <a:t>https://data.census.gov/cedsci/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Census Reporter</a:t>
            </a:r>
          </a:p>
          <a:p>
            <a:pPr marL="0" indent="0">
              <a:buNone/>
            </a:pPr>
            <a:r>
              <a:rPr lang="en-US" sz="2200" dirty="0">
                <a:hlinkClick r:id="rId3"/>
              </a:rPr>
              <a:t>https://censusreporter.org/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In R ‘</a:t>
            </a:r>
            <a:r>
              <a:rPr lang="en-US" sz="2200" dirty="0" err="1"/>
              <a:t>tidycensus</a:t>
            </a:r>
            <a:r>
              <a:rPr lang="en-US" sz="2200" dirty="0"/>
              <a:t>’ package functionality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8855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3EE38-51B1-D843-1CEF-78DE6E76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Start: R packages</a:t>
            </a:r>
            <a:endParaRPr lang="en-US" sz="5400" dirty="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D9C6-06C6-D023-1FF0-5F1300B35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2"/>
            <a:ext cx="6224335" cy="92333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Load packages (assuming they are installed!)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B2BA9-1026-78A7-E58D-21D622907C2E}"/>
              </a:ext>
            </a:extLst>
          </p:cNvPr>
          <p:cNvSpPr/>
          <p:nvPr/>
        </p:nvSpPr>
        <p:spPr>
          <a:xfrm>
            <a:off x="5039328" y="100864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 packages </a:t>
            </a:r>
          </a:p>
          <a:p>
            <a:r>
              <a:rPr lang="en-US" dirty="0"/>
              <a:t>library(</a:t>
            </a:r>
            <a:r>
              <a:rPr lang="en-US" dirty="0" err="1"/>
              <a:t>tidycensus</a:t>
            </a:r>
            <a:r>
              <a:rPr lang="en-US" dirty="0"/>
              <a:t>)</a:t>
            </a:r>
          </a:p>
          <a:p>
            <a:r>
              <a:rPr lang="en-US" dirty="0"/>
              <a:t>library(</a:t>
            </a:r>
            <a:r>
              <a:rPr lang="en-US" dirty="0" err="1"/>
              <a:t>dplyr</a:t>
            </a:r>
            <a:r>
              <a:rPr lang="en-US" dirty="0"/>
              <a:t>)</a:t>
            </a:r>
          </a:p>
          <a:p>
            <a:r>
              <a:rPr lang="en-US" dirty="0"/>
              <a:t>library(ggplot2)</a:t>
            </a:r>
          </a:p>
          <a:p>
            <a:r>
              <a:rPr lang="en-US" dirty="0"/>
              <a:t>library(</a:t>
            </a:r>
            <a:r>
              <a:rPr lang="en-US" dirty="0" err="1"/>
              <a:t>viridis</a:t>
            </a:r>
            <a:r>
              <a:rPr lang="en-US" dirty="0"/>
              <a:t>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6D45185-175D-8064-2950-28E5D6088A0F}"/>
              </a:ext>
            </a:extLst>
          </p:cNvPr>
          <p:cNvSpPr txBox="1">
            <a:spLocks/>
          </p:cNvSpPr>
          <p:nvPr/>
        </p:nvSpPr>
        <p:spPr>
          <a:xfrm>
            <a:off x="5039328" y="2187155"/>
            <a:ext cx="6224335" cy="92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ADE7D96-F432-D2FB-A206-155BDAAC5D8C}"/>
              </a:ext>
            </a:extLst>
          </p:cNvPr>
          <p:cNvSpPr txBox="1">
            <a:spLocks/>
          </p:cNvSpPr>
          <p:nvPr/>
        </p:nvSpPr>
        <p:spPr>
          <a:xfrm>
            <a:off x="5203362" y="2419925"/>
            <a:ext cx="6224335" cy="92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Load the installed API key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5E6FC0-FABC-B6A0-716F-EFF90C38924D}"/>
              </a:ext>
            </a:extLst>
          </p:cNvPr>
          <p:cNvSpPr/>
          <p:nvPr/>
        </p:nvSpPr>
        <p:spPr>
          <a:xfrm>
            <a:off x="5039328" y="28423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 installed Census API key</a:t>
            </a:r>
          </a:p>
          <a:p>
            <a:r>
              <a:rPr lang="en-US" dirty="0" err="1"/>
              <a:t>readRenviron</a:t>
            </a:r>
            <a:r>
              <a:rPr lang="en-US" dirty="0"/>
              <a:t>("~/.</a:t>
            </a:r>
            <a:r>
              <a:rPr lang="en-US" dirty="0" err="1"/>
              <a:t>Renviron</a:t>
            </a:r>
            <a:r>
              <a:rPr lang="en-US" dirty="0"/>
              <a:t>")</a:t>
            </a:r>
          </a:p>
          <a:p>
            <a:r>
              <a:rPr lang="en-US" dirty="0" err="1"/>
              <a:t>Sys.getenv</a:t>
            </a:r>
            <a:r>
              <a:rPr lang="en-US" dirty="0"/>
              <a:t>("CENSUS_API_KEY")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DCE10-1373-6FFA-4708-AF40082C89CF}"/>
              </a:ext>
            </a:extLst>
          </p:cNvPr>
          <p:cNvSpPr/>
          <p:nvPr/>
        </p:nvSpPr>
        <p:spPr>
          <a:xfrm>
            <a:off x="5039328" y="38763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 if not using the environment file</a:t>
            </a:r>
          </a:p>
          <a:p>
            <a:r>
              <a:rPr lang="en-US" dirty="0" err="1"/>
              <a:t>census_api_key</a:t>
            </a:r>
            <a:r>
              <a:rPr lang="en-US" dirty="0"/>
              <a:t>("PASTE_YOUR_KEY_HERE", install=TRUE)</a:t>
            </a:r>
          </a:p>
        </p:txBody>
      </p:sp>
    </p:spTree>
    <p:extLst>
      <p:ext uri="{BB962C8B-B14F-4D97-AF65-F5344CB8AC3E}">
        <p14:creationId xmlns:p14="http://schemas.microsoft.com/office/powerpoint/2010/main" val="347355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AA0D4-9B54-FF42-E87D-5D0662B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Demo: Find proportion of female population over 65 years old for all counties in VA in 2015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5D90-5739-47E3-74C6-D443E86E7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en-US" sz="2200" dirty="0"/>
              <a:t>Determine which variables to query: </a:t>
            </a:r>
          </a:p>
          <a:p>
            <a:pPr marL="457200" lvl="1" indent="0">
              <a:buNone/>
            </a:pPr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03A3C96-5DF1-8403-175F-675227E14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174" y="1390368"/>
            <a:ext cx="5594403" cy="3644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E7E01-F00A-582B-D23D-776EF2793AC2}"/>
              </a:ext>
            </a:extLst>
          </p:cNvPr>
          <p:cNvSpPr txBox="1"/>
          <p:nvPr/>
        </p:nvSpPr>
        <p:spPr>
          <a:xfrm>
            <a:off x="470800" y="4928340"/>
            <a:ext cx="5285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 to Census Reporter: </a:t>
            </a:r>
            <a:r>
              <a:rPr lang="en-US" dirty="0">
                <a:hlinkClick r:id="rId3"/>
              </a:rPr>
              <a:t>https://censusreporter.org/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population: B010010_01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Females 65+: B010010_44:49</a:t>
            </a:r>
          </a:p>
        </p:txBody>
      </p:sp>
    </p:spTree>
    <p:extLst>
      <p:ext uri="{BB962C8B-B14F-4D97-AF65-F5344CB8AC3E}">
        <p14:creationId xmlns:p14="http://schemas.microsoft.com/office/powerpoint/2010/main" val="9288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AA0D4-9B54-FF42-E87D-5D0662B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2600"/>
              <a:t>Demo: Find proportion of female population over 65 years old for all counties in VA in 2015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5D90-5739-47E3-74C6-D443E86E7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9761097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Decide on selection parameters for </a:t>
            </a:r>
            <a:r>
              <a:rPr lang="en-US" sz="2200" i="1" dirty="0" err="1"/>
              <a:t>get_acs</a:t>
            </a:r>
            <a:r>
              <a:rPr lang="en-US" sz="2200" i="1" dirty="0"/>
              <a:t> () / </a:t>
            </a:r>
            <a:r>
              <a:rPr lang="en-US" sz="2200" i="1" dirty="0" err="1"/>
              <a:t>get_decennial</a:t>
            </a:r>
            <a:r>
              <a:rPr lang="en-US" sz="2200" i="1" dirty="0"/>
              <a:t>()</a:t>
            </a:r>
            <a:r>
              <a:rPr lang="en-US" sz="2200" dirty="0"/>
              <a:t>:</a:t>
            </a:r>
            <a:endParaRPr lang="en-US" sz="2200" i="1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0E9B2-C9F0-AB22-0751-DB4D37A26291}"/>
              </a:ext>
            </a:extLst>
          </p:cNvPr>
          <p:cNvSpPr/>
          <p:nvPr/>
        </p:nvSpPr>
        <p:spPr>
          <a:xfrm>
            <a:off x="1519881" y="3355598"/>
            <a:ext cx="98483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acs_data</a:t>
            </a:r>
            <a:r>
              <a:rPr lang="en-US" dirty="0"/>
              <a:t> &lt;- </a:t>
            </a:r>
            <a:r>
              <a:rPr lang="en-US" dirty="0" err="1"/>
              <a:t>get_acs</a:t>
            </a:r>
            <a:r>
              <a:rPr lang="en-US" dirty="0"/>
              <a:t>(geography = "county",   # &lt;-------- what geography? </a:t>
            </a:r>
          </a:p>
          <a:p>
            <a:r>
              <a:rPr lang="en-US" dirty="0"/>
              <a:t>                      state = 51,           		         # &lt;-------- in which state?</a:t>
            </a:r>
          </a:p>
          <a:p>
            <a:r>
              <a:rPr lang="en-US" dirty="0"/>
              <a:t>                      #county = 013,</a:t>
            </a:r>
          </a:p>
          <a:p>
            <a:r>
              <a:rPr lang="en-US" dirty="0"/>
              <a:t>                      variables = </a:t>
            </a:r>
            <a:r>
              <a:rPr lang="en-US" dirty="0" err="1"/>
              <a:t>acs_vars</a:t>
            </a:r>
            <a:r>
              <a:rPr lang="en-US" dirty="0"/>
              <a:t>, 	         # &lt;-------- what variables?</a:t>
            </a:r>
          </a:p>
          <a:p>
            <a:r>
              <a:rPr lang="en-US" dirty="0"/>
              <a:t>                      year = 2015,          	         # &lt;-------- in what year?</a:t>
            </a:r>
          </a:p>
          <a:p>
            <a:r>
              <a:rPr lang="en-US" dirty="0"/>
              <a:t>                      survey = "acs5",      	         # &lt;-------- which survey?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cache_table</a:t>
            </a:r>
            <a:r>
              <a:rPr lang="en-US" dirty="0"/>
              <a:t> = TRUE,                     # &lt;-------- cache the selected data for future faster access?</a:t>
            </a:r>
          </a:p>
          <a:p>
            <a:r>
              <a:rPr lang="en-US" dirty="0"/>
              <a:t>                      output = "wide",                           # &lt;-------- variables as columns or rows? </a:t>
            </a:r>
          </a:p>
          <a:p>
            <a:r>
              <a:rPr lang="en-US" dirty="0"/>
              <a:t>                      geometry = TRUE,      	         # &lt;-------- include geography geometry? 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keep_geo_vars</a:t>
            </a:r>
            <a:r>
              <a:rPr lang="en-US" dirty="0"/>
              <a:t> = FALSE)</a:t>
            </a:r>
          </a:p>
        </p:txBody>
      </p:sp>
    </p:spTree>
    <p:extLst>
      <p:ext uri="{BB962C8B-B14F-4D97-AF65-F5344CB8AC3E}">
        <p14:creationId xmlns:p14="http://schemas.microsoft.com/office/powerpoint/2010/main" val="852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A0D4-9B54-FF42-E87D-5D0662B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2600" dirty="0"/>
              <a:t>Demo: Find proportion of female population over 65 years old for all counties in VA in 2015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5D90-5739-47E3-74C6-D443E86E7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8825886" cy="659812"/>
          </a:xfrm>
        </p:spPr>
        <p:txBody>
          <a:bodyPr anchor="t">
            <a:normAutofit/>
          </a:bodyPr>
          <a:lstStyle/>
          <a:p>
            <a:r>
              <a:rPr lang="en-US" sz="2200" dirty="0"/>
              <a:t>Do any calculations and transformations with data: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6E4E2-67EC-F467-6E70-96D1E351E802}"/>
              </a:ext>
            </a:extLst>
          </p:cNvPr>
          <p:cNvSpPr/>
          <p:nvPr/>
        </p:nvSpPr>
        <p:spPr>
          <a:xfrm>
            <a:off x="1074821" y="3824117"/>
            <a:ext cx="104273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get the proportion of females 65+</a:t>
            </a:r>
          </a:p>
          <a:p>
            <a:endParaRPr lang="en-US" dirty="0"/>
          </a:p>
          <a:p>
            <a:r>
              <a:rPr lang="en-US" dirty="0"/>
              <a:t>females_65plus &lt;- </a:t>
            </a:r>
            <a:r>
              <a:rPr lang="en-US" dirty="0" err="1"/>
              <a:t>acs_data</a:t>
            </a:r>
            <a:r>
              <a:rPr lang="en-US" dirty="0"/>
              <a:t> %&gt;% transmute(</a:t>
            </a:r>
          </a:p>
          <a:p>
            <a:r>
              <a:rPr lang="en-US" dirty="0"/>
              <a:t>    county = NAME,</a:t>
            </a:r>
          </a:p>
          <a:p>
            <a:r>
              <a:rPr lang="en-US" dirty="0"/>
              <a:t>    geometry = geometry,</a:t>
            </a:r>
          </a:p>
          <a:p>
            <a:r>
              <a:rPr lang="en-US" dirty="0"/>
              <a:t>    female65plus = (B01001_044E+B01001_045E+B01001_046E+B01001_047E+B01001_048E+B01001_049E)</a:t>
            </a:r>
          </a:p>
          <a:p>
            <a:r>
              <a:rPr lang="en-US" dirty="0"/>
              <a:t>    / B01003_001E * 100)</a:t>
            </a:r>
          </a:p>
        </p:txBody>
      </p:sp>
    </p:spTree>
    <p:extLst>
      <p:ext uri="{BB962C8B-B14F-4D97-AF65-F5344CB8AC3E}">
        <p14:creationId xmlns:p14="http://schemas.microsoft.com/office/powerpoint/2010/main" val="39198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891E-EC7F-C6EE-9C44-978F9D54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31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Demo: Find proportion of female population over 65 years old for all counties in VA in 2015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5503AFA-4E56-9985-CCC5-A01C1193413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414463"/>
            <a:ext cx="105156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Visualize: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 descr="Chart, surface chart&#10;&#10;Description automatically generated">
            <a:extLst>
              <a:ext uri="{FF2B5EF4-FFF2-40B4-BE49-F238E27FC236}">
                <a16:creationId xmlns:a16="http://schemas.microsoft.com/office/drawing/2014/main" id="{E79A227A-9541-A1CE-10E4-7C37412F9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292" y="632518"/>
            <a:ext cx="8719835" cy="596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05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2EE47-D061-4EED-166A-00C579CC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Exercise: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2805-FDFE-AC33-62B2-CEA79643D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700213"/>
            <a:ext cx="6906491" cy="4476750"/>
          </a:xfrm>
        </p:spPr>
        <p:txBody>
          <a:bodyPr anchor="ctr">
            <a:normAutofit/>
          </a:bodyPr>
          <a:lstStyle/>
          <a:p>
            <a:r>
              <a:rPr lang="en-US" dirty="0"/>
              <a:t>Odd exercise:</a:t>
            </a:r>
          </a:p>
          <a:p>
            <a:pPr marL="0" indent="0">
              <a:buNone/>
            </a:pPr>
            <a:r>
              <a:rPr lang="en-US" dirty="0"/>
              <a:t>Find how many single women with kids were receiving SNAP benefits in Fairfax, VA in 2019 by census tract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Even exercise:</a:t>
            </a:r>
          </a:p>
          <a:p>
            <a:pPr marL="0" indent="0">
              <a:buNone/>
            </a:pPr>
            <a:r>
              <a:rPr lang="en-US" dirty="0"/>
              <a:t>Find number of individuals with income to poverty line ratio below 50% in Arlington, VA in 2018 by block group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6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3B886F42-5151-4E2B-9BA5-0C6687170F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68A02B-6456-4C98-9CB7-C582025BF6E1}"/>
</file>

<file path=customXml/itemProps3.xml><?xml version="1.0" encoding="utf-8"?>
<ds:datastoreItem xmlns:ds="http://schemas.openxmlformats.org/officeDocument/2006/customXml" ds:itemID="{DA1F5303-EBE1-4AAD-8623-CAB01CC7D12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607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Accessing Census ACS and Decennial Survey through API in R: Q&amp;A </vt:lpstr>
      <vt:lpstr>Get Census API Key</vt:lpstr>
      <vt:lpstr>Get Census API Key</vt:lpstr>
      <vt:lpstr>More Resources to Explore Census</vt:lpstr>
      <vt:lpstr>Start: R packages</vt:lpstr>
      <vt:lpstr>Demo: Find proportion of female population over 65 years old for all counties in VA in 2015</vt:lpstr>
      <vt:lpstr>Demo: Find proportion of female population over 65 years old for all counties in VA in 2015</vt:lpstr>
      <vt:lpstr>Demo: Find proportion of female population over 65 years old for all counties in VA in 2015</vt:lpstr>
      <vt:lpstr>Demo: Find proportion of female population over 65 years old for all counties in VA in 2015</vt:lpstr>
      <vt:lpstr>Group Exercise: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Accessing Census ACS and Decennial Survey through API in R: Q&amp;A </dc:title>
  <dc:creator>Charankevich, Hanna (hc2cc)</dc:creator>
  <cp:lastModifiedBy>Charankevich, Hanna (hc2cc)</cp:lastModifiedBy>
  <cp:revision>8</cp:revision>
  <dcterms:created xsi:type="dcterms:W3CDTF">2022-06-10T14:46:03Z</dcterms:created>
  <dcterms:modified xsi:type="dcterms:W3CDTF">2022-06-22T03:14:31Z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